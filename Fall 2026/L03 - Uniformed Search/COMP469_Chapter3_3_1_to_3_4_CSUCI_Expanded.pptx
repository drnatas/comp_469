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94" r:id="rId45"/>
    <p:sldId id="259" r:id="rId5"/>
    <p:sldId id="260" r:id="rId6"/>
    <p:sldId id="261" r:id="rId7"/>
    <p:sldId id="262" r:id="rId8"/>
    <p:sldId id="263" r:id="rId9"/>
    <p:sldId id="264" r:id="rId10"/>
    <p:sldId id="265" r:id="rId11"/>
    <p:sldId id="295" r:id="rId46"/>
    <p:sldId id="296" r:id="rId47"/>
    <p:sldId id="297" r:id="rId48"/>
    <p:sldId id="266" r:id="rId12"/>
    <p:sldId id="267" r:id="rId13"/>
    <p:sldId id="298" r:id="rId49"/>
    <p:sldId id="299" r:id="rId50"/>
    <p:sldId id="300" r:id="rId51"/>
    <p:sldId id="301" r:id="rId52"/>
    <p:sldId id="268" r:id="rId14"/>
    <p:sldId id="269" r:id="rId15"/>
    <p:sldId id="270" r:id="rId16"/>
    <p:sldId id="271" r:id="rId17"/>
    <p:sldId id="272" r:id="rId18"/>
    <p:sldId id="302" r:id="rId53"/>
    <p:sldId id="273" r:id="rId19"/>
    <p:sldId id="303" r:id="rId54"/>
    <p:sldId id="304" r:id="rId55"/>
    <p:sldId id="274" r:id="rId20"/>
    <p:sldId id="275" r:id="rId21"/>
    <p:sldId id="276" r:id="rId22"/>
    <p:sldId id="305" r:id="rId56"/>
    <p:sldId id="277" r:id="rId23"/>
    <p:sldId id="306" r:id="rId57"/>
    <p:sldId id="278" r:id="rId24"/>
    <p:sldId id="279" r:id="rId25"/>
    <p:sldId id="280" r:id="rId26"/>
    <p:sldId id="281" r:id="rId27"/>
    <p:sldId id="282" r:id="rId28"/>
    <p:sldId id="283" r:id="rId29"/>
    <p:sldId id="307" r:id="rId58"/>
    <p:sldId id="284" r:id="rId30"/>
    <p:sldId id="285" r:id="rId31"/>
    <p:sldId id="308" r:id="rId59"/>
    <p:sldId id="309" r:id="rId60"/>
    <p:sldId id="286" r:id="rId32"/>
    <p:sldId id="310" r:id="rId61"/>
    <p:sldId id="287" r:id="rId33"/>
    <p:sldId id="288" r:id="rId34"/>
    <p:sldId id="289" r:id="rId35"/>
    <p:sldId id="311" r:id="rId62"/>
    <p:sldId id="290" r:id="rId36"/>
    <p:sldId id="312" r:id="rId63"/>
    <p:sldId id="291" r:id="rId37"/>
    <p:sldId id="313" r:id="rId64"/>
    <p:sldId id="292" r:id="rId38"/>
    <p:sldId id="293" r:id="rId39"/>
    <p:sldId id="314" r:id="rId65"/>
  </p:sldIdLst>
  <p:notesMasterIdLst>
    <p:notesMasterId r:id="rId4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script: Today we are covering Chapter 3, Sections 3.1 through 3.4 only. The theme is that when the right next action is not obvious, an intelligent agent can look ahead. It formulates a goal, builds an abstract model of the problem, searches through possible action sequences, and executes a solution. We are not yet using heuristics or A star. Those belong to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sets the boundaries. Section 3.1 gives the problem-solving agent process. Section 3.2 gives examples. Section 3.3 explains the search tree, frontier, and reached table. Section 3.4 compares uninformed strategies. Keep students from jumping to A star; that is deliberately outside today’s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connect Chapter 2 and Chapter 3. A simple reflex agent reacts to the current percept. A problem-solving agent looks ahead. It simulates action sequences, checks whether they reach a goal, and returns a plan. Search is the computational process of exploring those possible action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process slowly. First, formulate a goal. Second, formulate a search problem by choosing the right abstraction. Third, search inside the model before acting in the real world. Fourth, execute the returned action sequence. The Romania route problem is the canonical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part of the chapter, AIMA assumes relatively simple environments: fully observable, deterministic, known, static, discrete, and single-agent. Under these assumptions a solution is a fixed action sequence. This is an open-loop plan. If those assumptions fail, the agent should monitor percepts and replan or use a branching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search problem has six parts: state space, initial state, goal test, actions, transition model, and action cost. Keep this as the checklist for every example. If a student cannot identify these six items, the problem is not yet formulated as a search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Romania route problem to instantiate the formal definition. Cities are states. Roads are actions. The transition model follows roads to adjacent cities. The cost can be distance, time, fuel, or another performance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search problem is a model, not the real world. A good abstraction removes irrelevant details while preserving the ability to turn the abstract solution into a real action sequence. If the abstraction is too detailed, search is impossible. If it is too coarse, the plan may not be executable.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CS188 idea expressed in CSUCI form: search operates over models. The agent does not actually drive every road or move every tile in the physical world. It simulates possible actions inside an abstraction. The usefulness of the search algorithm depends on whether the model captures the facts relevant to the goal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shows that the same search vocabulary applies across many domains. Standardized problems are concise and useful for comparing algorithms. Real-world problems are more idiosyncratic because sensors, actuators, constraints, and costs vary.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vacuum world to make combinatorial growth concrete. The two-cell world has eight states. In general, an n-cell vacuum world has n times two to the n states. The key lesson is that every additional state variable multiplies the search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state contains everything. A search state keeps only what is needed for planning. The same physical game can require different search states depending on the task. Pathing needs position only. Eating all dots requires dot status. Safe passage requires timers and power-pellet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moves from formulation to algorithms. The most important conceptual distinction is state-space graph versus search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state-space graph describes the world. The search tree describes paths through that world. Each node in the search tree corresponds to an entire path in the state-space graph, even if the same state is reached multiple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Click-through build slide. Start with the state-space graph. Emphasize that each state appears once. The graph is useful conceptually but often too large or implicit to construct.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show the search tree. The root is the initial state. Children are the outcomes of applicable actions. The frontier is the set of leaf nodes waiting to be explored.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students often get confused. In the graph, a state exists once. In the search tree, the same state can appear multiple times when reached by different paths. This causes redundancy and motivates reached tables and cycle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frontier is the boundary of the search tree: generated but unexpanded nodes. Expansion removes one frontier node, applies the actions, and creates successors. The reached table prevents repeated work by remembering states already generated.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borrows the one-queue teaching idea but presents it in CSUCI form. The same loop can implement multiple algorithms. BFS, UCS, and DFS differ mostly in which frontier node is popped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search node is not just a state. It includes the parent, the action that produced it, and the path cost. Parent pointers are how the algorithm reconstructs the solution after reaching a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search tree can be much larger than the state space because of repeated states and cycles. A reached table can eliminate redundant paths if memory allows. Cycle checking is a cheaper compromise, especially for depth-first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search algorithm should be evaluated by completeness, cost optimality, time complexity, and space complexity. In AI we often use b, d, and m because the full graph is implicit rather than stored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Uninformed search has no estimate of distance to the goal. It knows the problem definition but has no heuristic guidance. The algorithms differ in frontier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BFS expands all depth 0 nodes, then all depth 1 nodes, then depth 2, and so on. A FIFO queue gives this behavior. BFS is complete and finds the fewest-action solution. It is cost-optimal only when action costs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slide one: the frontier initially contains only the start node. Ask students which node expands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slide two: after expanding S, the frontier contains d, e, and p. Because BFS uses FIFO, all depth-one nodes must be handled before depth-two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slide three: BFS expands by tiers. This makes BFS systematic, but it stores an entire layer of frontier nodes. That is why memory usually fails before CPU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BFS generates exponentially many nodes. With branching factor b and shallowest solution depth d, time and space are both O(b to the d). The important practical point from the text is that memory is often the bigger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Uniform-cost search is best-first search where f(n) equals g(n), the path cost. It is the correct uninformed method when action costs differ. It expands outward in increasing path-cost contours, not depth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textbook example. Bucharest is generated through Fagaras with cost 310. Do not stop there. A cheaper route through Rimnicu Vilcea and Pitesti reaches Bucharest with cost 278. UCS performs the goal test when the lowest-cost node is selected for expansion.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UCS complexity is controlled by the optimal path cost and the minimum positive step cost. The positive-cost assumption prevents infinite sequences of zero-cost or tiny-cost steps from dominating the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DFS goes deep immediately. Its main advantage is memory. It does not necessarily find the shallowest or cheapest solution. It is attractive when memory is the limiting resource and the search space behaves like a finite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click-through explanation slide. DFS follows one path downward. If that path fails, it backs up to the most recent node with unexpanded successors. This is why DFS is memory efficient but not complete in infinite or cyclic spaces.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DFS can fail badly in cyclic or infinite spaces. Cycle checking helps. Backtracking is a memory-efficient variant that appears later in constraint satisfaction and other AI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Depth-limited search prevents DFS from going infinitely deep by imposing a limit. Iterative deepening solves the problem of choosing the limit by trying 0, 1, 2, and so on. Most work is at the deepest level, so the repetition is not usually a major asymptotic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Bidirectional search runs one search forward from the initial state and another backward from the goal. The payoff can be large because two searches to half-depth are much smaller than one search to full depth. It requires backward reasoning and a way to detect frontier collisions.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decision aid. BFS is complete and unit-cost optimal but memory heavy. UCS is cost-optimal for positive costs. DFS uses little memory but is unreliable in infinite or cyclic spaces. IDS is often the preferred uninformed method when solution depth is unknown and memory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main logic. First formulate the problem. Then understand that the search tree is a tree of paths, not merely the state graph. Then choose the frontier strategy. Uninformed search can be complete and sometimes optimal, but it grows quickly because it has no heuristic estimate. The next lecture improves this by adding heuristics.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Chapter 2 and Chapter 3, using the CS188 reflex-versus-planning contrast. A reflex agent maps the current percept to an action. A planning agent simulates action sequences and evaluates their outcomes before acting. The one-line summary students should remember: a reflex agent considers how the world IS; a planning agent considers how the world WOULD BE. Also flag the representation point from the chapter opener: Chapter 3 uses atomic states, so the algorithms never look inside a state. Use the discussion question to draw out that a reflex agent can be rational when the environment is simple enough that the right action is a function of the current percept alone.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worlds are the workhorse of Section 3.2.1 and the family most of the programming assignments come from. The point worth slowing down for is the action vocabulary. Absolute actions keep the state small because orientation never enters it. Egocentric actions need a facing in the state, which multiplies the space by four, but they are what a real robot actually executes. That is a formulation decision, not a fact about the world, and it is exactly the kind of choice students have to start making deliberately. Sokoban then shows how fast the space grows once the state has to track movable objects rather than just the agent.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3.2 is where students should practice the six-part formulation until it is automatic. Walk the 8-puzzle down the same checklist used for Romania. Two points worth dwelling on. First, the action is described as moving the blank, not moving a tile, because that gives four actions instead of eight and is far simpler to implement. Second, the parity property: any given goal is reachable from exactly half of the possible initial states, which is why the count is 9!/2 rather than 9!. Close on the abstraction point from 3.1.2 - the formulation already threw away the physical sliding motion and every illegal physical manipulation.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standardized problem students most often skip, and it is the one that matters most for the theory. It is the counterexample that shows a search can avoid every repeated state and still be incomplete. The shortest path from 4 to 5 goes through 4 factorial factorial, which is roughly six times ten to the twenty-third. Set this slide up as the motivation for the systematic-search discussion later in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CS188 state-space-sizing exercise, and it is the fastest way to make the earlier vacuum-world arithmetic concrete. Work the multiplication out loud. Then make the key move: the same maze gives three completely different state spaces depending on which problem you are solving. Pathing needs 120 states. Eat-all-dots needs 120 times two to the thirtieth. Safe passage adds power-pellet booleans and a scared timer. Ask the class which variables they could drop for each task, and why the answer depends entirely on what the goal test reads.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best real-world example in Section 3.2.2 because it breaks a assumption students have quietly been making, namely that a state is just a snapshot of where you are. In airline planning the fare for a segment depends on which segments you already flew and on their fare bases, so a state that records only the airport and the time is not Markovian with respect to the cost function. The state has to absorb enough history to make the cost well defined. State this as a general test and connect it back to the Pac-Man slide: a variable belongs in the state exactly when the goal test or the cost function reads it. Close by noting that a genuinely good travel system also needs contingency plans, which is closed-loop behaviour and belongs to Chapter 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five-minute paired exercise, ideally right after the airline slide while the state-design lesson is fresh. Do not let pairs debate the action set before they have written something in all six boxes; the discipline of filling the whole checklist is the skill being practised. Circulate and look for two failure modes. The first is students who put the target amount, 4, into the state. The second is students who track how much water has been poured in total, or elapsed time, neither of which the goal test or the unit cost function ever reads. Both are productive mistakes to surface out loud before you reveal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one row at a time if you can, and take answers before each. The state is just the ordered pair of jug contents, which gives four times six equals twenty-four states, though not all are reachable. There are six actions and the shortest solution takes six of them: fill the five, pour into the three, empty the three, pour the remaining two into the three, fill the five again, then top up the three, which leaves exactly four in the five-litre jug. The teaching point is the second band. Students who tracked total water poured or elapsed time built a larger state space for no benefit, because neither the goal test nor the unit cost function ever reads those variables. Also note that the target value 4 lives in the goal test, not in the state.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cold-call quiz before revealing the right half. Most students guess a number in the low dozens. The answer is infinite, and the reason is the two-way edge between a and b. Tie it directly back to the previous slides: the state space has four vertices, but the search tree has one node per path, and there are infinitely many paths. This is the cleanest possible motivation for the reached table, and it sets up the redundant-paths discussion in Section 3.3.3.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Figure 3.6 in the text and it is worth a full minute. The frontier is not just a queue; it is a separating boundary in the state-space graph. Interior states are expanded, exterior states are unreached, and nothing gets from one to the other without passing through the frontier. Two consequences to state explicitly. First, the size of the frontier is the space complexity of the algorithm, which is why BFS runs out of memory and DFS does not. Second, reached and frontier are different things: reached includes everything already expanded plus everything on the frontier.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Section 3.3.1 and it is the organizing idea of the whole chapter in the fourth edition. Present best-first search as the general algorithm and every uninformed strategy as a choice of evaluation function. Walk the pseudocode line by line, then point at the three mappings on the right. Emphasise the re-add condition: if a child reaches a state already in reached but with a lower path cost, the old entry is replaced and the child goes back on the frontier. That single line is what makes uniform-cost search optimal. Tell students the next lecture only changes 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two terms explicitly, because the textbook uses them precisely and exam questions depend on the distinction. A graph search checks for redundant paths; a tree-like search does not. The best-first algorithm on the previous slide is a graph search, and deleting every reference to reached turns it into a tree-like search. The grid numbers are the persuasive part: 100 cells, all reachable in at most nine moves, but nearly eight to the ninth paths of length nine. That is over a million redundant paths per cell. Finish with the warning about Figure 3.15: those complexity entries are for tree-like versions, and graph search changes several of them, most notably making DFS complete on finite state spaces.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routinely assume that a reached table plus cycle checking equals completeness. It does not, once the state space is infinite. Both examples on this slide generate a fresh state at every step and never revisit anything, and both are incomplete because they leave most of the space untouched. The property that is actually required is systematicity: the search order must guarantee that any connected state is eventually reached. Breadth-first search has this property, which is why the text calls it complete even on infinite state spaces, and depth-first search does not. Close on the uncomfortable corollary about non-termination.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is easy to state and easy to get wrong on an exam. Breadth-first search is allowed the early goal test because depth is monotone along a path: once BFS reaches a state, no later path to it can be shorter in number of actions. Uniform-cost search has no such guarantee, because a cheap route can be discovered after an expensive one. Use the Sibiu to Bucharest numbers as the concrete proof. This slide is best delivered right after the BFS complexity slide and just before uniform-cost search, so the contrast is fresh when the UCS walkthrough begins.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four or five minutes on this in pairs. The graph is deliberately built so that the goal is generated early on an expensive path and again later on a cheap one, which is the same shape as the Sibiu to Bucharest example but small enough to trace exhaustively. Ask them to write the whole frontier after each pop, including path costs, not just the node they popped. The two things you are testing are whether they resist returning G the moment it appears on the frontier, and whether they replace the expensive G entry when the cheaper path turns up. Both were stated on earlier slides; this is where you find out whether it stuck.</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table row by row rather than showing it all at once. The two moments that matter are pop two and pop four. On pop two, expanding A generates G at cost nine, and a student running breadth-first instincts stops there and returns a path fifty percent worse than optimal. On pop four, expanding C generates G at cost six, which is cheaper than the G already in reached, so the entry is replaced and the node goes back on the frontier. That is precisely the re-add condition from the best-first search pseudocode, and this is the first time in the lecture students see it change an answer. Finish by naming the single cause: the goal test happens on expansion.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CS188 contour picture and it is the single best setup for the next lecture. Uniform-cost search spreads in waves of uniform path cost, so the region it has expanded is roughly a ball around the start rather than a corridor toward the goal. Draw the contrast with the previous slides: UCS is complete and optimal, and those are real guarantees, but it buys them by looking everywhere. Then pose the question the next lecture answers: what would it take to make the search lean toward the goal, and what would we have to give up to get it? The answer is a heuristic, and the price is that the guarantees now depend on admissibility.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as a two-minute think-pair-share before the comparison table. The goal is not for students to recall the table but to derive it. Push them toward the frontier as the explanation for every entry: BFS pops the oldest node, so it holds a whole tier and pays exponential memory; DFS pops the newest, so it holds one root-to-leaf path plus siblings and pays only b times m. Completeness, optimality, and both complexities all follow from that one design choice. Good follow-up question: what happens to each answer if the state space contains a cycle and you are not keeping a reached table?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almost always object that iterative deepening throws away work, so meet the objection with the arithmetic. For branching factor ten and depth five, IDS generates 123,450 nodes against 111,110 for BFS: about eleven percent more, for a memory reduction from exponential to linear. The reason is that the node count is dominated by the bottom tier, which IDS generates exactly once. The right-hand column answers the other natural question, which is how to pick the limit in the first place. Introduce the diameter of the state-space graph here, using Romania: nineteen is a safe limit, nine is the good one, and in general you do not know the diameter until you have solved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Bidirectional search is the last uninformed strategy and the one with the biggest gap between its headline number and its practicality. Lead with the payoff, because b to the d over two, twice, really is dramatically smaller than b to the d. Then spend most of the time on the preconditions, because that is where the method breaks down: you need to reason backward from the goal, which means you need an explicit goal state rather than a goal property, and you need the inverse of the transition model. Note the subtlety in the termination test: the first collision is not necessarily optimal for a general evaluation function, so the algorithm keeps a best solution so far. When f is the path cost, no node costing more than C star over two is expanded.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slide and keep it short. The point is to leave students with a precise sense of what is broken rather than a summary they have already heard. Everything in Sections 3.1 through 3.4 reasons backward: g(n) measures the path already travelled. Nothing so far looks forward. That is exactly why uniform-cost search expands a ball around the start instead of a corridor toward the goal, and why the b to the d bill is unavoidable. Then make the promise concrete: the algorithm does not change next lecture, only the evaluation function does. Add a second term h(n) that estimates the remaining cost and the same loop becomes A*. The cost of that is a new question, which is what admissibility and consistency are for.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EEF5F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E5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12E5C"/>
          </a:solidFill>
          <a:ln w="12700">
            <a:solidFill>
              <a:srgbClr val="112E5C"/>
            </a:solidFill>
            <a:prstDash val="solid"/>
          </a:ln>
        </p:spPr>
      </p:sp>
      <p:sp>
        <p:nvSpPr>
          <p:cNvPr id="3" name="Shape 1"/>
          <p:cNvSpPr/>
          <p:nvPr/>
        </p:nvSpPr>
        <p:spPr>
          <a:xfrm>
            <a:off x="0" y="5897880"/>
            <a:ext cx="12191695" cy="109728"/>
          </a:xfrm>
          <a:prstGeom prst="rect">
            <a:avLst/>
          </a:prstGeom>
          <a:solidFill>
            <a:srgbClr val="F6A01A"/>
          </a:solidFill>
          <a:ln w="12700">
            <a:solidFill>
              <a:srgbClr val="F6A01A"/>
            </a:solidFill>
            <a:prstDash val="solid"/>
          </a:ln>
        </p:spPr>
      </p:sp>
      <p:sp>
        <p:nvSpPr>
          <p:cNvPr id="4" name="Text 2"/>
          <p:cNvSpPr/>
          <p:nvPr/>
        </p:nvSpPr>
        <p:spPr>
          <a:xfrm>
            <a:off x="640080" y="777240"/>
            <a:ext cx="10972800" cy="365760"/>
          </a:xfrm>
          <a:prstGeom prst="rect">
            <a:avLst/>
          </a:prstGeom>
          <a:noFill/>
          <a:ln/>
        </p:spPr>
        <p:txBody>
          <a:bodyPr wrap="square" lIns="762" tIns="762" rIns="762" bIns="762" rtlCol="0" anchor="ctr">
            <a:normAutofit/>
          </a:bodyPr>
          <a:lstStyle/>
          <a:p>
            <a:pPr algn="ctr" indent="0" marL="0">
              <a:buNone/>
            </a:pPr>
            <a:r>
              <a:rPr lang="en-US" sz="2000" b="1" dirty="0">
                <a:solidFill>
                  <a:srgbClr val="DCE8FF"/>
                </a:solidFill>
              </a:rPr>
              <a:t>COMP 469</a:t>
            </a:r>
            <a:endParaRPr lang="en-US" sz="2000" dirty="0"/>
          </a:p>
        </p:txBody>
      </p:sp>
      <p:sp>
        <p:nvSpPr>
          <p:cNvPr id="5" name="Text 3"/>
          <p:cNvSpPr/>
          <p:nvPr/>
        </p:nvSpPr>
        <p:spPr>
          <a:xfrm>
            <a:off x="640080" y="1417320"/>
            <a:ext cx="10972800" cy="594360"/>
          </a:xfrm>
          <a:prstGeom prst="rect">
            <a:avLst/>
          </a:prstGeom>
          <a:noFill/>
          <a:ln/>
        </p:spPr>
        <p:txBody>
          <a:bodyPr wrap="square" lIns="762" tIns="762" rIns="762" bIns="762" rtlCol="0" anchor="ctr">
            <a:normAutofit/>
          </a:bodyPr>
          <a:lstStyle/>
          <a:p>
            <a:pPr algn="ctr" indent="0" marL="0">
              <a:buNone/>
            </a:pPr>
            <a:r>
              <a:rPr lang="en-US" sz="3400" b="1" dirty="0">
                <a:solidFill>
                  <a:srgbClr val="FFFFFF"/>
                </a:solidFill>
              </a:rPr>
              <a:t>Chapter 3: Solving Problems by Searching</a:t>
            </a:r>
            <a:endParaRPr lang="en-US" sz="3400" dirty="0"/>
          </a:p>
        </p:txBody>
      </p:sp>
      <p:sp>
        <p:nvSpPr>
          <p:cNvPr id="6" name="Text 4"/>
          <p:cNvSpPr/>
          <p:nvPr/>
        </p:nvSpPr>
        <p:spPr>
          <a:xfrm>
            <a:off x="1051560" y="2148840"/>
            <a:ext cx="10058400" cy="384048"/>
          </a:xfrm>
          <a:prstGeom prst="rect">
            <a:avLst/>
          </a:prstGeom>
          <a:noFill/>
          <a:ln/>
        </p:spPr>
        <p:txBody>
          <a:bodyPr wrap="square" lIns="762" tIns="762" rIns="762" bIns="762" rtlCol="0" anchor="ctr">
            <a:normAutofit/>
          </a:bodyPr>
          <a:lstStyle/>
          <a:p>
            <a:pPr algn="ctr" indent="0" marL="0">
              <a:buNone/>
            </a:pPr>
            <a:r>
              <a:rPr lang="en-US" sz="1600" dirty="0">
                <a:solidFill>
                  <a:srgbClr val="DCE8FF"/>
                </a:solidFill>
              </a:rPr>
              <a:t>Sections 3.1-3.4 · Problem-solving agents, search problems, search algorithms, and uninformed search</a:t>
            </a:r>
            <a:endParaRPr lang="en-US" sz="1600" dirty="0"/>
          </a:p>
        </p:txBody>
      </p:sp>
      <p:sp>
        <p:nvSpPr>
          <p:cNvPr id="7" name="Text 5"/>
          <p:cNvSpPr/>
          <p:nvPr/>
        </p:nvSpPr>
        <p:spPr>
          <a:xfrm>
            <a:off x="1280160" y="3657600"/>
            <a:ext cx="1234440" cy="594360"/>
          </a:xfrm>
          <a:prstGeom prst="roundRect">
            <a:avLst>
              <a:gd name="adj" fmla="val 12308"/>
            </a:avLst>
          </a:prstGeom>
          <a:solidFill>
            <a:srgbClr val="D9E9FF"/>
          </a:solidFill>
          <a:ln w="15240">
            <a:solidFill>
              <a:srgbClr val="FFFFFF"/>
            </a:solidFill>
          </a:ln>
        </p:spPr>
        <p:txBody>
          <a:bodyPr wrap="square" lIns="508" tIns="508" rIns="508" bIns="508" rtlCol="0" anchor="ctr">
            <a:normAutofit/>
          </a:bodyPr>
          <a:lstStyle/>
          <a:p>
            <a:pPr algn="ctr" indent="0" marL="0">
              <a:buNone/>
            </a:pPr>
            <a:r>
              <a:rPr lang="en-US" sz="1500" b="1" dirty="0">
                <a:solidFill>
                  <a:srgbClr val="112E5C"/>
                </a:solidFill>
              </a:rPr>
              <a:t>Goal</a:t>
            </a:r>
            <a:endParaRPr lang="en-US" sz="1500" dirty="0"/>
          </a:p>
        </p:txBody>
      </p:sp>
      <p:sp>
        <p:nvSpPr>
          <p:cNvPr id="8" name="Shape 6"/>
          <p:cNvSpPr/>
          <p:nvPr/>
        </p:nvSpPr>
        <p:spPr>
          <a:xfrm>
            <a:off x="2514600" y="3950208"/>
            <a:ext cx="548640" cy="0"/>
          </a:xfrm>
          <a:prstGeom prst="line">
            <a:avLst/>
          </a:prstGeom>
          <a:solidFill>
            <a:srgbClr val="FFFFFF">
              <a:alpha val="0"/>
            </a:srgbClr>
          </a:solidFill>
          <a:ln w="31750">
            <a:solidFill>
              <a:srgbClr val="F6A01A"/>
            </a:solidFill>
            <a:prstDash val="solid"/>
            <a:tailEnd type="triangle"/>
          </a:ln>
        </p:spPr>
      </p:sp>
      <p:sp>
        <p:nvSpPr>
          <p:cNvPr id="9" name="Text 7"/>
          <p:cNvSpPr/>
          <p:nvPr/>
        </p:nvSpPr>
        <p:spPr>
          <a:xfrm>
            <a:off x="3063240" y="3657600"/>
            <a:ext cx="1234440" cy="594360"/>
          </a:xfrm>
          <a:prstGeom prst="roundRect">
            <a:avLst>
              <a:gd name="adj" fmla="val 12308"/>
            </a:avLst>
          </a:prstGeom>
          <a:solidFill>
            <a:srgbClr val="D9E9FF"/>
          </a:solidFill>
          <a:ln w="15240">
            <a:solidFill>
              <a:srgbClr val="FFFFFF"/>
            </a:solidFill>
          </a:ln>
        </p:spPr>
        <p:txBody>
          <a:bodyPr wrap="square" lIns="508" tIns="508" rIns="508" bIns="508" rtlCol="0" anchor="ctr">
            <a:normAutofit/>
          </a:bodyPr>
          <a:lstStyle/>
          <a:p>
            <a:pPr algn="ctr" indent="0" marL="0">
              <a:buNone/>
            </a:pPr>
            <a:r>
              <a:rPr lang="en-US" sz="1500" b="1" dirty="0">
                <a:solidFill>
                  <a:srgbClr val="112E5C"/>
                </a:solidFill>
              </a:rPr>
              <a:t>Problem</a:t>
            </a:r>
            <a:endParaRPr lang="en-US" sz="1500" dirty="0"/>
          </a:p>
        </p:txBody>
      </p:sp>
      <p:sp>
        <p:nvSpPr>
          <p:cNvPr id="10" name="Shape 8"/>
          <p:cNvSpPr/>
          <p:nvPr/>
        </p:nvSpPr>
        <p:spPr>
          <a:xfrm>
            <a:off x="4297680" y="3950208"/>
            <a:ext cx="777240" cy="0"/>
          </a:xfrm>
          <a:prstGeom prst="line">
            <a:avLst/>
          </a:prstGeom>
          <a:solidFill>
            <a:srgbClr val="FFFFFF">
              <a:alpha val="0"/>
            </a:srgbClr>
          </a:solidFill>
          <a:ln w="31750">
            <a:solidFill>
              <a:srgbClr val="F6A01A"/>
            </a:solidFill>
            <a:prstDash val="solid"/>
            <a:tailEnd type="triangle"/>
          </a:ln>
        </p:spPr>
      </p:sp>
      <p:sp>
        <p:nvSpPr>
          <p:cNvPr id="11" name="Text 9"/>
          <p:cNvSpPr/>
          <p:nvPr/>
        </p:nvSpPr>
        <p:spPr>
          <a:xfrm>
            <a:off x="5074920" y="3657600"/>
            <a:ext cx="1234440" cy="594360"/>
          </a:xfrm>
          <a:prstGeom prst="roundRect">
            <a:avLst>
              <a:gd name="adj" fmla="val 12308"/>
            </a:avLst>
          </a:prstGeom>
          <a:solidFill>
            <a:srgbClr val="D9E9FF"/>
          </a:solidFill>
          <a:ln w="15240">
            <a:solidFill>
              <a:srgbClr val="FFFFFF"/>
            </a:solidFill>
          </a:ln>
        </p:spPr>
        <p:txBody>
          <a:bodyPr wrap="square" lIns="508" tIns="508" rIns="508" bIns="508" rtlCol="0" anchor="ctr">
            <a:normAutofit/>
          </a:bodyPr>
          <a:lstStyle/>
          <a:p>
            <a:pPr algn="ctr" indent="0" marL="0">
              <a:buNone/>
            </a:pPr>
            <a:r>
              <a:rPr lang="en-US" sz="1500" b="1" dirty="0">
                <a:solidFill>
                  <a:srgbClr val="112E5C"/>
                </a:solidFill>
              </a:rPr>
              <a:t>Search</a:t>
            </a:r>
            <a:endParaRPr lang="en-US" sz="1500" dirty="0"/>
          </a:p>
        </p:txBody>
      </p:sp>
      <p:sp>
        <p:nvSpPr>
          <p:cNvPr id="12" name="Shape 10"/>
          <p:cNvSpPr/>
          <p:nvPr/>
        </p:nvSpPr>
        <p:spPr>
          <a:xfrm>
            <a:off x="6309360" y="3950208"/>
            <a:ext cx="777240" cy="0"/>
          </a:xfrm>
          <a:prstGeom prst="line">
            <a:avLst/>
          </a:prstGeom>
          <a:solidFill>
            <a:srgbClr val="FFFFFF">
              <a:alpha val="0"/>
            </a:srgbClr>
          </a:solidFill>
          <a:ln w="31750">
            <a:solidFill>
              <a:srgbClr val="F6A01A"/>
            </a:solidFill>
            <a:prstDash val="solid"/>
            <a:tailEnd type="triangle"/>
          </a:ln>
        </p:spPr>
      </p:sp>
      <p:sp>
        <p:nvSpPr>
          <p:cNvPr id="13" name="Text 11"/>
          <p:cNvSpPr/>
          <p:nvPr/>
        </p:nvSpPr>
        <p:spPr>
          <a:xfrm>
            <a:off x="7086600" y="3657600"/>
            <a:ext cx="1234440" cy="594360"/>
          </a:xfrm>
          <a:prstGeom prst="roundRect">
            <a:avLst>
              <a:gd name="adj" fmla="val 12308"/>
            </a:avLst>
          </a:prstGeom>
          <a:solidFill>
            <a:srgbClr val="D9E9FF"/>
          </a:solidFill>
          <a:ln w="15240">
            <a:solidFill>
              <a:srgbClr val="FFFFFF"/>
            </a:solidFill>
          </a:ln>
        </p:spPr>
        <p:txBody>
          <a:bodyPr wrap="square" lIns="508" tIns="508" rIns="508" bIns="508" rtlCol="0" anchor="ctr">
            <a:normAutofit/>
          </a:bodyPr>
          <a:lstStyle/>
          <a:p>
            <a:pPr algn="ctr" indent="0" marL="0">
              <a:buNone/>
            </a:pPr>
            <a:r>
              <a:rPr lang="en-US" sz="1500" b="1" dirty="0">
                <a:solidFill>
                  <a:srgbClr val="112E5C"/>
                </a:solidFill>
              </a:rPr>
              <a:t>Solution</a:t>
            </a:r>
            <a:endParaRPr lang="en-US" sz="1500" dirty="0"/>
          </a:p>
        </p:txBody>
      </p:sp>
      <p:sp>
        <p:nvSpPr>
          <p:cNvPr id="14" name="Shape 12"/>
          <p:cNvSpPr/>
          <p:nvPr/>
        </p:nvSpPr>
        <p:spPr>
          <a:xfrm>
            <a:off x="8321040" y="3950208"/>
            <a:ext cx="777240" cy="0"/>
          </a:xfrm>
          <a:prstGeom prst="line">
            <a:avLst/>
          </a:prstGeom>
          <a:solidFill>
            <a:srgbClr val="FFFFFF">
              <a:alpha val="0"/>
            </a:srgbClr>
          </a:solidFill>
          <a:ln w="31750">
            <a:solidFill>
              <a:srgbClr val="F6A01A"/>
            </a:solidFill>
            <a:prstDash val="solid"/>
            <a:tailEnd type="triangle"/>
          </a:ln>
        </p:spPr>
      </p:sp>
      <p:sp>
        <p:nvSpPr>
          <p:cNvPr id="15" name="Text 13"/>
          <p:cNvSpPr/>
          <p:nvPr/>
        </p:nvSpPr>
        <p:spPr>
          <a:xfrm>
            <a:off x="9098280" y="3657600"/>
            <a:ext cx="1234440" cy="594360"/>
          </a:xfrm>
          <a:prstGeom prst="roundRect">
            <a:avLst>
              <a:gd name="adj" fmla="val 12308"/>
            </a:avLst>
          </a:prstGeom>
          <a:solidFill>
            <a:srgbClr val="D9E9FF"/>
          </a:solidFill>
          <a:ln w="15240">
            <a:solidFill>
              <a:srgbClr val="FFFFFF"/>
            </a:solidFill>
          </a:ln>
        </p:spPr>
        <p:txBody>
          <a:bodyPr wrap="square" lIns="508" tIns="508" rIns="508" bIns="508" rtlCol="0" anchor="ctr">
            <a:normAutofit/>
          </a:bodyPr>
          <a:lstStyle/>
          <a:p>
            <a:pPr algn="ctr" indent="0" marL="0">
              <a:buNone/>
            </a:pPr>
            <a:r>
              <a:rPr lang="en-US" sz="1500" b="1" dirty="0">
                <a:solidFill>
                  <a:srgbClr val="112E5C"/>
                </a:solidFill>
              </a:rPr>
              <a:t>Execute</a:t>
            </a:r>
            <a:endParaRPr lang="en-US" sz="1500" dirty="0"/>
          </a:p>
        </p:txBody>
      </p:sp>
      <p:sp>
        <p:nvSpPr>
          <p:cNvPr id="16" name="Text 14"/>
          <p:cNvSpPr/>
          <p:nvPr/>
        </p:nvSpPr>
        <p:spPr>
          <a:xfrm>
            <a:off x="640080" y="6263640"/>
            <a:ext cx="10972800" cy="228600"/>
          </a:xfrm>
          <a:prstGeom prst="rect">
            <a:avLst/>
          </a:prstGeom>
          <a:noFill/>
          <a:ln/>
        </p:spPr>
        <p:txBody>
          <a:bodyPr wrap="square" lIns="762" tIns="762" rIns="762" bIns="762" rtlCol="0" anchor="ctr">
            <a:normAutofit/>
          </a:bodyPr>
          <a:lstStyle/>
          <a:p>
            <a:pPr algn="ctr" indent="0" marL="0">
              <a:buNone/>
            </a:pPr>
            <a:r>
              <a:rPr lang="en-US" sz="1100" dirty="0">
                <a:solidFill>
                  <a:srgbClr val="DCE8FF"/>
                </a:solidFill>
              </a:rPr>
              <a:t>CSU Channel Islands · Department of Computer Science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Scope and Learning Targets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777240" y="1417320"/>
            <a:ext cx="960120" cy="502920"/>
          </a:xfrm>
          <a:prstGeom prst="roundRect">
            <a:avLst>
              <a:gd name="adj" fmla="val 14545"/>
            </a:avLst>
          </a:prstGeom>
          <a:solidFill>
            <a:srgbClr val="2F7FD5"/>
          </a:solidFill>
          <a:ln w="15240">
            <a:solidFill>
              <a:srgbClr val="2F7FD5"/>
            </a:solidFill>
          </a:ln>
        </p:spPr>
        <p:txBody>
          <a:bodyPr wrap="square" lIns="508" tIns="508" rIns="508" bIns="508" rtlCol="0" anchor="ctr">
            <a:normAutofit/>
          </a:bodyPr>
          <a:lstStyle/>
          <a:p>
            <a:pPr algn="ctr" indent="0" marL="0">
              <a:buNone/>
            </a:pPr>
            <a:r>
              <a:rPr lang="en-US" sz="1500" b="1" dirty="0">
                <a:solidFill>
                  <a:srgbClr val="FFFFFF"/>
                </a:solidFill>
              </a:rPr>
              <a:t>3.1</a:t>
            </a:r>
            <a:endParaRPr lang="en-US" sz="1500" dirty="0"/>
          </a:p>
        </p:txBody>
      </p:sp>
      <p:sp>
        <p:nvSpPr>
          <p:cNvPr id="8" name="Text 6"/>
          <p:cNvSpPr/>
          <p:nvPr/>
        </p:nvSpPr>
        <p:spPr>
          <a:xfrm>
            <a:off x="1965960" y="1399032"/>
            <a:ext cx="2743200" cy="256032"/>
          </a:xfrm>
          <a:prstGeom prst="rect">
            <a:avLst/>
          </a:prstGeom>
          <a:noFill/>
          <a:ln/>
        </p:spPr>
        <p:txBody>
          <a:bodyPr wrap="square" lIns="762" tIns="762" rIns="762" bIns="762" rtlCol="0" anchor="ctr">
            <a:normAutofit/>
          </a:bodyPr>
          <a:lstStyle/>
          <a:p>
            <a:pPr algn="l" indent="0" marL="0">
              <a:buNone/>
            </a:pPr>
            <a:r>
              <a:rPr lang="en-US" sz="1800" b="1" dirty="0">
                <a:solidFill>
                  <a:srgbClr val="102A4C"/>
                </a:solidFill>
              </a:rPr>
              <a:t>Problem-solving agents</a:t>
            </a:r>
            <a:endParaRPr lang="en-US" sz="1800" dirty="0"/>
          </a:p>
        </p:txBody>
      </p:sp>
      <p:sp>
        <p:nvSpPr>
          <p:cNvPr id="9" name="Text 7"/>
          <p:cNvSpPr/>
          <p:nvPr/>
        </p:nvSpPr>
        <p:spPr>
          <a:xfrm>
            <a:off x="1965960" y="1709928"/>
            <a:ext cx="8092440" cy="228600"/>
          </a:xfrm>
          <a:prstGeom prst="rect">
            <a:avLst/>
          </a:prstGeom>
          <a:noFill/>
          <a:ln/>
        </p:spPr>
        <p:txBody>
          <a:bodyPr wrap="square" lIns="762" tIns="762" rIns="762" bIns="762" rtlCol="0" anchor="ctr">
            <a:normAutofit/>
          </a:bodyPr>
          <a:lstStyle/>
          <a:p>
            <a:pPr algn="l" indent="0" marL="0">
              <a:buNone/>
            </a:pPr>
            <a:r>
              <a:rPr lang="en-US" sz="1350" dirty="0">
                <a:solidFill>
                  <a:srgbClr val="5C6B80"/>
                </a:solidFill>
              </a:rPr>
              <a:t>goal formulation, problem formulation, search, execution</a:t>
            </a:r>
            <a:endParaRPr lang="en-US" sz="1350" dirty="0"/>
          </a:p>
        </p:txBody>
      </p:sp>
      <p:sp>
        <p:nvSpPr>
          <p:cNvPr id="10" name="Text 8"/>
          <p:cNvSpPr/>
          <p:nvPr/>
        </p:nvSpPr>
        <p:spPr>
          <a:xfrm>
            <a:off x="777240" y="2468880"/>
            <a:ext cx="960120" cy="502920"/>
          </a:xfrm>
          <a:prstGeom prst="roundRect">
            <a:avLst>
              <a:gd name="adj" fmla="val 14545"/>
            </a:avLst>
          </a:prstGeom>
          <a:solidFill>
            <a:srgbClr val="177245"/>
          </a:solidFill>
          <a:ln w="15240">
            <a:solidFill>
              <a:srgbClr val="177245"/>
            </a:solidFill>
          </a:ln>
        </p:spPr>
        <p:txBody>
          <a:bodyPr wrap="square" lIns="508" tIns="508" rIns="508" bIns="508" rtlCol="0" anchor="ctr">
            <a:normAutofit/>
          </a:bodyPr>
          <a:lstStyle/>
          <a:p>
            <a:pPr algn="ctr" indent="0" marL="0">
              <a:buNone/>
            </a:pPr>
            <a:r>
              <a:rPr lang="en-US" sz="1500" b="1" dirty="0">
                <a:solidFill>
                  <a:srgbClr val="FFFFFF"/>
                </a:solidFill>
              </a:rPr>
              <a:t>3.2</a:t>
            </a:r>
            <a:endParaRPr lang="en-US" sz="1500" dirty="0"/>
          </a:p>
        </p:txBody>
      </p:sp>
      <p:sp>
        <p:nvSpPr>
          <p:cNvPr id="11" name="Text 9"/>
          <p:cNvSpPr/>
          <p:nvPr/>
        </p:nvSpPr>
        <p:spPr>
          <a:xfrm>
            <a:off x="1965960" y="2450592"/>
            <a:ext cx="2743200" cy="256032"/>
          </a:xfrm>
          <a:prstGeom prst="rect">
            <a:avLst/>
          </a:prstGeom>
          <a:noFill/>
          <a:ln/>
        </p:spPr>
        <p:txBody>
          <a:bodyPr wrap="square" lIns="762" tIns="762" rIns="762" bIns="762" rtlCol="0" anchor="ctr">
            <a:normAutofit/>
          </a:bodyPr>
          <a:lstStyle/>
          <a:p>
            <a:pPr algn="l" indent="0" marL="0">
              <a:buNone/>
            </a:pPr>
            <a:r>
              <a:rPr lang="en-US" sz="1800" b="1" dirty="0">
                <a:solidFill>
                  <a:srgbClr val="102A4C"/>
                </a:solidFill>
              </a:rPr>
              <a:t>Example problems</a:t>
            </a:r>
            <a:endParaRPr lang="en-US" sz="1800" dirty="0"/>
          </a:p>
        </p:txBody>
      </p:sp>
      <p:sp>
        <p:nvSpPr>
          <p:cNvPr id="12" name="Text 10"/>
          <p:cNvSpPr/>
          <p:nvPr/>
        </p:nvSpPr>
        <p:spPr>
          <a:xfrm>
            <a:off x="1965960" y="2761488"/>
            <a:ext cx="8092440" cy="228600"/>
          </a:xfrm>
          <a:prstGeom prst="rect">
            <a:avLst/>
          </a:prstGeom>
          <a:noFill/>
          <a:ln/>
        </p:spPr>
        <p:txBody>
          <a:bodyPr wrap="square" lIns="762" tIns="762" rIns="762" bIns="762" rtlCol="0" anchor="ctr">
            <a:normAutofit/>
          </a:bodyPr>
          <a:lstStyle/>
          <a:p>
            <a:pPr algn="l" indent="0" marL="0">
              <a:buNone/>
            </a:pPr>
            <a:r>
              <a:rPr lang="en-US" sz="1350" dirty="0">
                <a:solidFill>
                  <a:srgbClr val="5C6B80"/>
                </a:solidFill>
              </a:rPr>
              <a:t>grid worlds, puzzles, route-finding, TSP, VLSI, robot navigation</a:t>
            </a:r>
            <a:endParaRPr lang="en-US" sz="1350" dirty="0"/>
          </a:p>
        </p:txBody>
      </p:sp>
      <p:sp>
        <p:nvSpPr>
          <p:cNvPr id="13" name="Text 11"/>
          <p:cNvSpPr/>
          <p:nvPr/>
        </p:nvSpPr>
        <p:spPr>
          <a:xfrm>
            <a:off x="777240" y="3520440"/>
            <a:ext cx="960120" cy="502920"/>
          </a:xfrm>
          <a:prstGeom prst="roundRect">
            <a:avLst>
              <a:gd name="adj" fmla="val 14545"/>
            </a:avLst>
          </a:prstGeom>
          <a:solidFill>
            <a:srgbClr val="743A6D"/>
          </a:solidFill>
          <a:ln w="15240">
            <a:solidFill>
              <a:srgbClr val="743A6D"/>
            </a:solidFill>
          </a:ln>
        </p:spPr>
        <p:txBody>
          <a:bodyPr wrap="square" lIns="508" tIns="508" rIns="508" bIns="508" rtlCol="0" anchor="ctr">
            <a:normAutofit/>
          </a:bodyPr>
          <a:lstStyle/>
          <a:p>
            <a:pPr algn="ctr" indent="0" marL="0">
              <a:buNone/>
            </a:pPr>
            <a:r>
              <a:rPr lang="en-US" sz="1500" b="1" dirty="0">
                <a:solidFill>
                  <a:srgbClr val="FFFFFF"/>
                </a:solidFill>
              </a:rPr>
              <a:t>3.3</a:t>
            </a:r>
            <a:endParaRPr lang="en-US" sz="1500" dirty="0"/>
          </a:p>
        </p:txBody>
      </p:sp>
      <p:sp>
        <p:nvSpPr>
          <p:cNvPr id="14" name="Text 12"/>
          <p:cNvSpPr/>
          <p:nvPr/>
        </p:nvSpPr>
        <p:spPr>
          <a:xfrm>
            <a:off x="1965960" y="3502152"/>
            <a:ext cx="2743200" cy="256032"/>
          </a:xfrm>
          <a:prstGeom prst="rect">
            <a:avLst/>
          </a:prstGeom>
          <a:noFill/>
          <a:ln/>
        </p:spPr>
        <p:txBody>
          <a:bodyPr wrap="square" lIns="762" tIns="762" rIns="762" bIns="762" rtlCol="0" anchor="ctr">
            <a:normAutofit/>
          </a:bodyPr>
          <a:lstStyle/>
          <a:p>
            <a:pPr algn="l" indent="0" marL="0">
              <a:buNone/>
            </a:pPr>
            <a:r>
              <a:rPr lang="en-US" sz="1800" b="1" dirty="0">
                <a:solidFill>
                  <a:srgbClr val="102A4C"/>
                </a:solidFill>
              </a:rPr>
              <a:t>Search algorithms</a:t>
            </a:r>
            <a:endParaRPr lang="en-US" sz="1800" dirty="0"/>
          </a:p>
        </p:txBody>
      </p:sp>
      <p:sp>
        <p:nvSpPr>
          <p:cNvPr id="15" name="Text 13"/>
          <p:cNvSpPr/>
          <p:nvPr/>
        </p:nvSpPr>
        <p:spPr>
          <a:xfrm>
            <a:off x="1965960" y="3813048"/>
            <a:ext cx="8092440" cy="228600"/>
          </a:xfrm>
          <a:prstGeom prst="rect">
            <a:avLst/>
          </a:prstGeom>
          <a:noFill/>
          <a:ln/>
        </p:spPr>
        <p:txBody>
          <a:bodyPr wrap="square" lIns="762" tIns="762" rIns="762" bIns="762" rtlCol="0" anchor="ctr">
            <a:normAutofit/>
          </a:bodyPr>
          <a:lstStyle/>
          <a:p>
            <a:pPr algn="l" indent="0" marL="0">
              <a:buNone/>
            </a:pPr>
            <a:r>
              <a:rPr lang="en-US" sz="1350" dirty="0">
                <a:solidFill>
                  <a:srgbClr val="5C6B80"/>
                </a:solidFill>
              </a:rPr>
              <a:t>state-space graph, search tree, frontier, reached table</a:t>
            </a:r>
            <a:endParaRPr lang="en-US" sz="1350" dirty="0"/>
          </a:p>
        </p:txBody>
      </p:sp>
      <p:sp>
        <p:nvSpPr>
          <p:cNvPr id="16" name="Text 14"/>
          <p:cNvSpPr/>
          <p:nvPr/>
        </p:nvSpPr>
        <p:spPr>
          <a:xfrm>
            <a:off x="777240" y="4572000"/>
            <a:ext cx="960120" cy="502920"/>
          </a:xfrm>
          <a:prstGeom prst="roundRect">
            <a:avLst>
              <a:gd name="adj" fmla="val 14545"/>
            </a:avLst>
          </a:prstGeom>
          <a:solidFill>
            <a:srgbClr val="9B1C1C"/>
          </a:solidFill>
          <a:ln w="15240">
            <a:solidFill>
              <a:srgbClr val="9B1C1C"/>
            </a:solidFill>
          </a:ln>
        </p:spPr>
        <p:txBody>
          <a:bodyPr wrap="square" lIns="508" tIns="508" rIns="508" bIns="508" rtlCol="0" anchor="ctr">
            <a:normAutofit/>
          </a:bodyPr>
          <a:lstStyle/>
          <a:p>
            <a:pPr algn="ctr" indent="0" marL="0">
              <a:buNone/>
            </a:pPr>
            <a:r>
              <a:rPr lang="en-US" sz="1500" b="1" dirty="0">
                <a:solidFill>
                  <a:srgbClr val="FFFFFF"/>
                </a:solidFill>
              </a:rPr>
              <a:t>3.4</a:t>
            </a:r>
            <a:endParaRPr lang="en-US" sz="1500" dirty="0"/>
          </a:p>
        </p:txBody>
      </p:sp>
      <p:sp>
        <p:nvSpPr>
          <p:cNvPr id="17" name="Text 15"/>
          <p:cNvSpPr/>
          <p:nvPr/>
        </p:nvSpPr>
        <p:spPr>
          <a:xfrm>
            <a:off x="1965960" y="4553712"/>
            <a:ext cx="2743200" cy="256032"/>
          </a:xfrm>
          <a:prstGeom prst="rect">
            <a:avLst/>
          </a:prstGeom>
          <a:noFill/>
          <a:ln/>
        </p:spPr>
        <p:txBody>
          <a:bodyPr wrap="square" lIns="762" tIns="762" rIns="762" bIns="762" rtlCol="0" anchor="ctr">
            <a:normAutofit/>
          </a:bodyPr>
          <a:lstStyle/>
          <a:p>
            <a:pPr algn="l" indent="0" marL="0">
              <a:buNone/>
            </a:pPr>
            <a:r>
              <a:rPr lang="en-US" sz="1800" b="1" dirty="0">
                <a:solidFill>
                  <a:srgbClr val="102A4C"/>
                </a:solidFill>
              </a:rPr>
              <a:t>Uninformed search</a:t>
            </a:r>
            <a:endParaRPr lang="en-US" sz="1800" dirty="0"/>
          </a:p>
        </p:txBody>
      </p:sp>
      <p:sp>
        <p:nvSpPr>
          <p:cNvPr id="18" name="Text 16"/>
          <p:cNvSpPr/>
          <p:nvPr/>
        </p:nvSpPr>
        <p:spPr>
          <a:xfrm>
            <a:off x="1965960" y="4864608"/>
            <a:ext cx="8092440" cy="228600"/>
          </a:xfrm>
          <a:prstGeom prst="rect">
            <a:avLst/>
          </a:prstGeom>
          <a:noFill/>
          <a:ln/>
        </p:spPr>
        <p:txBody>
          <a:bodyPr wrap="square" lIns="762" tIns="762" rIns="762" bIns="762" rtlCol="0" anchor="ctr">
            <a:normAutofit/>
          </a:bodyPr>
          <a:lstStyle/>
          <a:p>
            <a:pPr algn="l" indent="0" marL="0">
              <a:buNone/>
            </a:pPr>
            <a:r>
              <a:rPr lang="en-US" sz="1350" dirty="0">
                <a:solidFill>
                  <a:srgbClr val="5C6B80"/>
                </a:solidFill>
              </a:rPr>
              <a:t>BFS, UCS, DFS, depth-limited, IDS, bidirectional search</a:t>
            </a:r>
            <a:endParaRPr lang="en-US" sz="1350" dirty="0"/>
          </a:p>
        </p:txBody>
      </p:sp>
      <p:sp>
        <p:nvSpPr>
          <p:cNvPr id="19" name="Text 17"/>
          <p:cNvSpPr/>
          <p:nvPr/>
        </p:nvSpPr>
        <p:spPr>
          <a:xfrm>
            <a:off x="1005840" y="5623560"/>
            <a:ext cx="10058400" cy="320040"/>
          </a:xfrm>
          <a:prstGeom prst="rect">
            <a:avLst/>
          </a:prstGeom>
          <a:noFill/>
          <a:ln/>
        </p:spPr>
        <p:txBody>
          <a:bodyPr wrap="square" lIns="762" tIns="762" rIns="762" bIns="762" rtlCol="0" anchor="ctr">
            <a:normAutofit/>
          </a:bodyPr>
          <a:lstStyle/>
          <a:p>
            <a:pPr algn="ctr" indent="0" marL="0">
              <a:buNone/>
            </a:pPr>
            <a:r>
              <a:rPr lang="en-US" sz="1600" b="1" dirty="0">
                <a:solidFill>
                  <a:srgbClr val="9B1C1C"/>
                </a:solidFill>
              </a:rPr>
              <a:t>Not today: heuristics, greedy best-first search, A*, consistency, admissibility.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Why Search? Agents That Look Ahead</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325880"/>
            <a:ext cx="10241280" cy="502920"/>
          </a:xfrm>
          <a:prstGeom prst="rect">
            <a:avLst/>
          </a:prstGeom>
          <a:noFill/>
          <a:ln/>
        </p:spPr>
        <p:txBody>
          <a:bodyPr wrap="square" lIns="762" tIns="762" rIns="762" bIns="762" rtlCol="0" anchor="ctr">
            <a:normAutofit/>
          </a:bodyPr>
          <a:lstStyle/>
          <a:p>
            <a:pPr algn="ctr" indent="0" marL="0">
              <a:buNone/>
            </a:pPr>
            <a:r>
              <a:rPr lang="en-US" sz="2100" b="1" dirty="0">
                <a:solidFill>
                  <a:srgbClr val="102A4C"/>
                </a:solidFill>
              </a:rPr>
              <a:t>A problem-solving agent is a goal-based agent that searches for a sequence of actions before acting.</a:t>
            </a:r>
            <a:endParaRPr lang="en-US" sz="2100" dirty="0"/>
          </a:p>
        </p:txBody>
      </p:sp>
      <p:sp>
        <p:nvSpPr>
          <p:cNvPr id="8" name="Text 6"/>
          <p:cNvSpPr/>
          <p:nvPr/>
        </p:nvSpPr>
        <p:spPr>
          <a:xfrm>
            <a:off x="685800" y="2377440"/>
            <a:ext cx="132588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Current state</a:t>
            </a:r>
            <a:endParaRPr lang="en-US" sz="1400" dirty="0"/>
          </a:p>
        </p:txBody>
      </p:sp>
      <p:sp>
        <p:nvSpPr>
          <p:cNvPr id="9" name="Text 7"/>
          <p:cNvSpPr/>
          <p:nvPr/>
        </p:nvSpPr>
        <p:spPr>
          <a:xfrm>
            <a:off x="612648" y="2971800"/>
            <a:ext cx="1463040" cy="320040"/>
          </a:xfrm>
          <a:prstGeom prst="rect">
            <a:avLst/>
          </a:prstGeom>
          <a:noFill/>
          <a:ln/>
        </p:spPr>
        <p:txBody>
          <a:bodyPr wrap="square" lIns="762" tIns="762" rIns="762" bIns="762" rtlCol="0" anchor="ctr">
            <a:normAutofit/>
          </a:bodyPr>
          <a:lstStyle/>
          <a:p>
            <a:pPr algn="ctr" indent="0" marL="0">
              <a:buNone/>
            </a:pPr>
            <a:r>
              <a:rPr lang="en-US" sz="1120" dirty="0">
                <a:solidFill>
                  <a:srgbClr val="5C6B80"/>
                </a:solidFill>
              </a:rPr>
              <a:t>What is true now?</a:t>
            </a:r>
            <a:endParaRPr lang="en-US" sz="1120" dirty="0"/>
          </a:p>
        </p:txBody>
      </p:sp>
      <p:sp>
        <p:nvSpPr>
          <p:cNvPr id="10" name="Shape 8"/>
          <p:cNvSpPr/>
          <p:nvPr/>
        </p:nvSpPr>
        <p:spPr>
          <a:xfrm>
            <a:off x="2011680" y="2633472"/>
            <a:ext cx="941832" cy="0"/>
          </a:xfrm>
          <a:prstGeom prst="line">
            <a:avLst/>
          </a:prstGeom>
          <a:solidFill>
            <a:srgbClr val="FFFFFF">
              <a:alpha val="0"/>
            </a:srgbClr>
          </a:solidFill>
          <a:ln w="27940">
            <a:solidFill>
              <a:srgbClr val="F6A01A"/>
            </a:solidFill>
            <a:prstDash val="solid"/>
            <a:tailEnd type="triangle"/>
          </a:ln>
        </p:spPr>
      </p:sp>
      <p:sp>
        <p:nvSpPr>
          <p:cNvPr id="11" name="Text 9"/>
          <p:cNvSpPr/>
          <p:nvPr/>
        </p:nvSpPr>
        <p:spPr>
          <a:xfrm>
            <a:off x="2953512" y="2377440"/>
            <a:ext cx="1325880" cy="502920"/>
          </a:xfrm>
          <a:prstGeom prst="roundRect">
            <a:avLst>
              <a:gd name="adj" fmla="val 14545"/>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Actions</a:t>
            </a:r>
            <a:endParaRPr lang="en-US" sz="1400" dirty="0"/>
          </a:p>
        </p:txBody>
      </p:sp>
      <p:sp>
        <p:nvSpPr>
          <p:cNvPr id="12" name="Text 10"/>
          <p:cNvSpPr/>
          <p:nvPr/>
        </p:nvSpPr>
        <p:spPr>
          <a:xfrm>
            <a:off x="2880360" y="2971800"/>
            <a:ext cx="1463040" cy="320040"/>
          </a:xfrm>
          <a:prstGeom prst="rect">
            <a:avLst/>
          </a:prstGeom>
          <a:noFill/>
          <a:ln/>
        </p:spPr>
        <p:txBody>
          <a:bodyPr wrap="square" lIns="762" tIns="762" rIns="762" bIns="762" rtlCol="0" anchor="ctr">
            <a:normAutofit/>
          </a:bodyPr>
          <a:lstStyle/>
          <a:p>
            <a:pPr algn="ctr" indent="0" marL="0">
              <a:buNone/>
            </a:pPr>
            <a:r>
              <a:rPr lang="en-US" sz="1120" dirty="0">
                <a:solidFill>
                  <a:srgbClr val="5C6B80"/>
                </a:solidFill>
              </a:rPr>
              <a:t>What can I do?</a:t>
            </a:r>
            <a:endParaRPr lang="en-US" sz="1120" dirty="0"/>
          </a:p>
        </p:txBody>
      </p:sp>
      <p:sp>
        <p:nvSpPr>
          <p:cNvPr id="13" name="Shape 11"/>
          <p:cNvSpPr/>
          <p:nvPr/>
        </p:nvSpPr>
        <p:spPr>
          <a:xfrm>
            <a:off x="4279392" y="2633472"/>
            <a:ext cx="941832" cy="0"/>
          </a:xfrm>
          <a:prstGeom prst="line">
            <a:avLst/>
          </a:prstGeom>
          <a:solidFill>
            <a:srgbClr val="FFFFFF">
              <a:alpha val="0"/>
            </a:srgbClr>
          </a:solidFill>
          <a:ln w="27940">
            <a:solidFill>
              <a:srgbClr val="F6A01A"/>
            </a:solidFill>
            <a:prstDash val="solid"/>
            <a:tailEnd type="triangle"/>
          </a:ln>
        </p:spPr>
      </p:sp>
      <p:sp>
        <p:nvSpPr>
          <p:cNvPr id="14" name="Text 12"/>
          <p:cNvSpPr/>
          <p:nvPr/>
        </p:nvSpPr>
        <p:spPr>
          <a:xfrm>
            <a:off x="5221224" y="2377440"/>
            <a:ext cx="1325880" cy="502920"/>
          </a:xfrm>
          <a:prstGeom prst="roundRect">
            <a:avLst>
              <a:gd name="adj" fmla="val 14545"/>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Futures</a:t>
            </a:r>
            <a:endParaRPr lang="en-US" sz="1400" dirty="0"/>
          </a:p>
        </p:txBody>
      </p:sp>
      <p:sp>
        <p:nvSpPr>
          <p:cNvPr id="15" name="Text 13"/>
          <p:cNvSpPr/>
          <p:nvPr/>
        </p:nvSpPr>
        <p:spPr>
          <a:xfrm>
            <a:off x="5148072" y="2971800"/>
            <a:ext cx="1463040" cy="320040"/>
          </a:xfrm>
          <a:prstGeom prst="rect">
            <a:avLst/>
          </a:prstGeom>
          <a:noFill/>
          <a:ln/>
        </p:spPr>
        <p:txBody>
          <a:bodyPr wrap="square" lIns="762" tIns="762" rIns="762" bIns="762" rtlCol="0" anchor="ctr">
            <a:normAutofit/>
          </a:bodyPr>
          <a:lstStyle/>
          <a:p>
            <a:pPr algn="ctr" indent="0" marL="0">
              <a:buNone/>
            </a:pPr>
            <a:r>
              <a:rPr lang="en-US" sz="1120" dirty="0">
                <a:solidFill>
                  <a:srgbClr val="5C6B80"/>
                </a:solidFill>
              </a:rPr>
              <a:t>What would happen?</a:t>
            </a:r>
            <a:endParaRPr lang="en-US" sz="1120" dirty="0"/>
          </a:p>
        </p:txBody>
      </p:sp>
      <p:sp>
        <p:nvSpPr>
          <p:cNvPr id="16" name="Shape 14"/>
          <p:cNvSpPr/>
          <p:nvPr/>
        </p:nvSpPr>
        <p:spPr>
          <a:xfrm>
            <a:off x="6547104" y="2633472"/>
            <a:ext cx="941832" cy="0"/>
          </a:xfrm>
          <a:prstGeom prst="line">
            <a:avLst/>
          </a:prstGeom>
          <a:solidFill>
            <a:srgbClr val="FFFFFF">
              <a:alpha val="0"/>
            </a:srgbClr>
          </a:solidFill>
          <a:ln w="27940">
            <a:solidFill>
              <a:srgbClr val="F6A01A"/>
            </a:solidFill>
            <a:prstDash val="solid"/>
            <a:tailEnd type="triangle"/>
          </a:ln>
        </p:spPr>
      </p:sp>
      <p:sp>
        <p:nvSpPr>
          <p:cNvPr id="17" name="Text 15"/>
          <p:cNvSpPr/>
          <p:nvPr/>
        </p:nvSpPr>
        <p:spPr>
          <a:xfrm>
            <a:off x="7488936" y="2377440"/>
            <a:ext cx="1325880" cy="502920"/>
          </a:xfrm>
          <a:prstGeom prst="roundRect">
            <a:avLst>
              <a:gd name="adj" fmla="val 14545"/>
            </a:avLst>
          </a:prstGeom>
          <a:solidFill>
            <a:srgbClr val="DBF1E3"/>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Goal</a:t>
            </a:r>
            <a:endParaRPr lang="en-US" sz="1400" dirty="0"/>
          </a:p>
        </p:txBody>
      </p:sp>
      <p:sp>
        <p:nvSpPr>
          <p:cNvPr id="18" name="Text 16"/>
          <p:cNvSpPr/>
          <p:nvPr/>
        </p:nvSpPr>
        <p:spPr>
          <a:xfrm>
            <a:off x="7415784" y="2971800"/>
            <a:ext cx="1463040" cy="320040"/>
          </a:xfrm>
          <a:prstGeom prst="rect">
            <a:avLst/>
          </a:prstGeom>
          <a:noFill/>
          <a:ln/>
        </p:spPr>
        <p:txBody>
          <a:bodyPr wrap="square" lIns="762" tIns="762" rIns="762" bIns="762" rtlCol="0" anchor="ctr">
            <a:normAutofit/>
          </a:bodyPr>
          <a:lstStyle/>
          <a:p>
            <a:pPr algn="ctr" indent="0" marL="0">
              <a:buNone/>
            </a:pPr>
            <a:r>
              <a:rPr lang="en-US" sz="1120" dirty="0">
                <a:solidFill>
                  <a:srgbClr val="5C6B80"/>
                </a:solidFill>
              </a:rPr>
              <a:t>Did I get there?</a:t>
            </a:r>
            <a:endParaRPr lang="en-US" sz="1120" dirty="0"/>
          </a:p>
        </p:txBody>
      </p:sp>
      <p:sp>
        <p:nvSpPr>
          <p:cNvPr id="19" name="Shape 17"/>
          <p:cNvSpPr/>
          <p:nvPr/>
        </p:nvSpPr>
        <p:spPr>
          <a:xfrm>
            <a:off x="8814816" y="2633472"/>
            <a:ext cx="941832" cy="0"/>
          </a:xfrm>
          <a:prstGeom prst="line">
            <a:avLst/>
          </a:prstGeom>
          <a:solidFill>
            <a:srgbClr val="FFFFFF">
              <a:alpha val="0"/>
            </a:srgbClr>
          </a:solidFill>
          <a:ln w="27940">
            <a:solidFill>
              <a:srgbClr val="F6A01A"/>
            </a:solidFill>
            <a:prstDash val="solid"/>
            <a:tailEnd type="triangle"/>
          </a:ln>
        </p:spPr>
      </p:sp>
      <p:sp>
        <p:nvSpPr>
          <p:cNvPr id="20" name="Text 18"/>
          <p:cNvSpPr/>
          <p:nvPr/>
        </p:nvSpPr>
        <p:spPr>
          <a:xfrm>
            <a:off x="9756648" y="2377440"/>
            <a:ext cx="1325880" cy="502920"/>
          </a:xfrm>
          <a:prstGeom prst="roundRect">
            <a:avLst>
              <a:gd name="adj" fmla="val 14545"/>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Plan</a:t>
            </a:r>
            <a:endParaRPr lang="en-US" sz="1400" dirty="0"/>
          </a:p>
        </p:txBody>
      </p:sp>
      <p:sp>
        <p:nvSpPr>
          <p:cNvPr id="21" name="Text 19"/>
          <p:cNvSpPr/>
          <p:nvPr/>
        </p:nvSpPr>
        <p:spPr>
          <a:xfrm>
            <a:off x="9683496" y="2971800"/>
            <a:ext cx="1463040" cy="320040"/>
          </a:xfrm>
          <a:prstGeom prst="rect">
            <a:avLst/>
          </a:prstGeom>
          <a:noFill/>
          <a:ln/>
        </p:spPr>
        <p:txBody>
          <a:bodyPr wrap="square" lIns="762" tIns="762" rIns="762" bIns="762" rtlCol="0" anchor="ctr">
            <a:normAutofit/>
          </a:bodyPr>
          <a:lstStyle/>
          <a:p>
            <a:pPr algn="ctr" indent="0" marL="0">
              <a:buNone/>
            </a:pPr>
            <a:r>
              <a:rPr lang="en-US" sz="1120" dirty="0">
                <a:solidFill>
                  <a:srgbClr val="5C6B80"/>
                </a:solidFill>
              </a:rPr>
              <a:t>What sequence works?</a:t>
            </a:r>
            <a:endParaRPr lang="en-US" sz="1120" dirty="0"/>
          </a:p>
        </p:txBody>
      </p:sp>
      <p:sp>
        <p:nvSpPr>
          <p:cNvPr id="22" name="Text 20"/>
          <p:cNvSpPr/>
          <p:nvPr/>
        </p:nvSpPr>
        <p:spPr>
          <a:xfrm>
            <a:off x="1097280" y="4251960"/>
            <a:ext cx="9875520" cy="411480"/>
          </a:xfrm>
          <a:prstGeom prst="rect">
            <a:avLst/>
          </a:prstGeom>
          <a:noFill/>
          <a:ln/>
        </p:spPr>
        <p:txBody>
          <a:bodyPr wrap="square" lIns="762" tIns="762" rIns="762" bIns="762" rtlCol="0" anchor="ctr">
            <a:normAutofit/>
          </a:bodyPr>
          <a:lstStyle/>
          <a:p>
            <a:pPr algn="ctr" indent="0" marL="0">
              <a:buNone/>
            </a:pPr>
            <a:r>
              <a:rPr lang="en-US" sz="1900" b="1" dirty="0">
                <a:solidFill>
                  <a:srgbClr val="112E5C"/>
                </a:solidFill>
              </a:rPr>
              <a:t>Search happens in the model, not by physically trying every action in the real world.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The Four-Phase Problem-Solving Process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685800" y="1417320"/>
            <a:ext cx="548640" cy="548640"/>
          </a:xfrm>
          <a:prstGeom prst="roundRect">
            <a:avLst>
              <a:gd name="adj" fmla="val 13333"/>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1</a:t>
            </a:r>
            <a:endParaRPr lang="en-US" sz="1800" dirty="0"/>
          </a:p>
        </p:txBody>
      </p:sp>
      <p:sp>
        <p:nvSpPr>
          <p:cNvPr id="8" name="Text 6"/>
          <p:cNvSpPr/>
          <p:nvPr/>
        </p:nvSpPr>
        <p:spPr>
          <a:xfrm>
            <a:off x="1371600" y="1417320"/>
            <a:ext cx="1920240" cy="256032"/>
          </a:xfrm>
          <a:prstGeom prst="rect">
            <a:avLst/>
          </a:prstGeom>
          <a:noFill/>
          <a:ln/>
        </p:spPr>
        <p:txBody>
          <a:bodyPr wrap="square" lIns="762" tIns="762" rIns="762" bIns="762" rtlCol="0" anchor="ctr">
            <a:normAutofit/>
          </a:bodyPr>
          <a:lstStyle/>
          <a:p>
            <a:pPr algn="l" indent="0" marL="0">
              <a:buNone/>
            </a:pPr>
            <a:r>
              <a:rPr lang="en-US" sz="1600" b="1" dirty="0">
                <a:solidFill>
                  <a:srgbClr val="102A4C"/>
                </a:solidFill>
              </a:rPr>
              <a:t>Goal formulation</a:t>
            </a:r>
            <a:endParaRPr lang="en-US" sz="1600" dirty="0"/>
          </a:p>
        </p:txBody>
      </p:sp>
      <p:sp>
        <p:nvSpPr>
          <p:cNvPr id="9" name="Text 7"/>
          <p:cNvSpPr/>
          <p:nvPr/>
        </p:nvSpPr>
        <p:spPr>
          <a:xfrm>
            <a:off x="777240" y="1965960"/>
            <a:ext cx="2514600" cy="1005840"/>
          </a:xfrm>
          <a:prstGeom prst="rect">
            <a:avLst/>
          </a:prstGeom>
          <a:noFill/>
          <a:ln/>
        </p:spPr>
        <p:txBody>
          <a:bodyPr wrap="square" lIns="762" tIns="762" rIns="762" bIns="762" rtlCol="0" anchor="ctr">
            <a:normAutofit/>
          </a:bodyPr>
          <a:lstStyle/>
          <a:p>
            <a:pPr algn="l" indent="0" marL="0">
              <a:buNone/>
            </a:pPr>
            <a:r>
              <a:rPr lang="en-US" sz="1350" dirty="0">
                <a:solidFill>
                  <a:srgbClr val="102A4C"/>
                </a:solidFill>
              </a:rPr>
              <a:t>Adopt a goal such as reaching Bucharest.</a:t>
            </a:r>
            <a:endParaRPr lang="en-US" sz="1350" dirty="0"/>
          </a:p>
        </p:txBody>
      </p:sp>
      <p:sp>
        <p:nvSpPr>
          <p:cNvPr id="10" name="Shape 8"/>
          <p:cNvSpPr/>
          <p:nvPr/>
        </p:nvSpPr>
        <p:spPr>
          <a:xfrm>
            <a:off x="3291840" y="1700784"/>
            <a:ext cx="246888" cy="0"/>
          </a:xfrm>
          <a:prstGeom prst="line">
            <a:avLst/>
          </a:prstGeom>
          <a:solidFill>
            <a:srgbClr val="FFFFFF">
              <a:alpha val="0"/>
            </a:srgbClr>
          </a:solidFill>
          <a:ln w="22860">
            <a:solidFill>
              <a:srgbClr val="5C6B80"/>
            </a:solidFill>
            <a:prstDash val="solid"/>
            <a:tailEnd type="triangle"/>
          </a:ln>
        </p:spPr>
      </p:sp>
      <p:sp>
        <p:nvSpPr>
          <p:cNvPr id="11" name="Text 9"/>
          <p:cNvSpPr/>
          <p:nvPr/>
        </p:nvSpPr>
        <p:spPr>
          <a:xfrm>
            <a:off x="3566160" y="1417320"/>
            <a:ext cx="548640" cy="548640"/>
          </a:xfrm>
          <a:prstGeom prst="roundRect">
            <a:avLst>
              <a:gd name="adj" fmla="val 13333"/>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2</a:t>
            </a:r>
            <a:endParaRPr lang="en-US" sz="1800" dirty="0"/>
          </a:p>
        </p:txBody>
      </p:sp>
      <p:sp>
        <p:nvSpPr>
          <p:cNvPr id="12" name="Text 10"/>
          <p:cNvSpPr/>
          <p:nvPr/>
        </p:nvSpPr>
        <p:spPr>
          <a:xfrm>
            <a:off x="4251960" y="1417320"/>
            <a:ext cx="1920240" cy="256032"/>
          </a:xfrm>
          <a:prstGeom prst="rect">
            <a:avLst/>
          </a:prstGeom>
          <a:noFill/>
          <a:ln/>
        </p:spPr>
        <p:txBody>
          <a:bodyPr wrap="square" lIns="762" tIns="762" rIns="762" bIns="762" rtlCol="0" anchor="ctr">
            <a:normAutofit/>
          </a:bodyPr>
          <a:lstStyle/>
          <a:p>
            <a:pPr algn="l" indent="0" marL="0">
              <a:buNone/>
            </a:pPr>
            <a:r>
              <a:rPr lang="en-US" sz="1600" b="1" dirty="0">
                <a:solidFill>
                  <a:srgbClr val="102A4C"/>
                </a:solidFill>
              </a:rPr>
              <a:t>Problem formulation</a:t>
            </a:r>
            <a:endParaRPr lang="en-US" sz="1600" dirty="0"/>
          </a:p>
        </p:txBody>
      </p:sp>
      <p:sp>
        <p:nvSpPr>
          <p:cNvPr id="13" name="Text 11"/>
          <p:cNvSpPr/>
          <p:nvPr/>
        </p:nvSpPr>
        <p:spPr>
          <a:xfrm>
            <a:off x="3657600" y="1965960"/>
            <a:ext cx="2514600" cy="1005840"/>
          </a:xfrm>
          <a:prstGeom prst="rect">
            <a:avLst/>
          </a:prstGeom>
          <a:noFill/>
          <a:ln/>
        </p:spPr>
        <p:txBody>
          <a:bodyPr wrap="square" lIns="762" tIns="762" rIns="762" bIns="762" rtlCol="0" anchor="ctr">
            <a:normAutofit/>
          </a:bodyPr>
          <a:lstStyle/>
          <a:p>
            <a:pPr algn="l" indent="0" marL="0">
              <a:buNone/>
            </a:pPr>
            <a:r>
              <a:rPr lang="en-US" sz="1350" dirty="0">
                <a:solidFill>
                  <a:srgbClr val="102A4C"/>
                </a:solidFill>
              </a:rPr>
              <a:t>Build an abstract model of states, actions, transitions, goals, and costs.</a:t>
            </a:r>
            <a:endParaRPr lang="en-US" sz="1350" dirty="0"/>
          </a:p>
        </p:txBody>
      </p:sp>
      <p:sp>
        <p:nvSpPr>
          <p:cNvPr id="14" name="Shape 12"/>
          <p:cNvSpPr/>
          <p:nvPr/>
        </p:nvSpPr>
        <p:spPr>
          <a:xfrm>
            <a:off x="6172200" y="1700784"/>
            <a:ext cx="246888" cy="0"/>
          </a:xfrm>
          <a:prstGeom prst="line">
            <a:avLst/>
          </a:prstGeom>
          <a:solidFill>
            <a:srgbClr val="FFFFFF">
              <a:alpha val="0"/>
            </a:srgbClr>
          </a:solidFill>
          <a:ln w="22860">
            <a:solidFill>
              <a:srgbClr val="5C6B80"/>
            </a:solidFill>
            <a:prstDash val="solid"/>
            <a:tailEnd type="triangle"/>
          </a:ln>
        </p:spPr>
      </p:sp>
      <p:sp>
        <p:nvSpPr>
          <p:cNvPr id="15" name="Text 13"/>
          <p:cNvSpPr/>
          <p:nvPr/>
        </p:nvSpPr>
        <p:spPr>
          <a:xfrm>
            <a:off x="6446520" y="1417320"/>
            <a:ext cx="548640" cy="548640"/>
          </a:xfrm>
          <a:prstGeom prst="roundRect">
            <a:avLst>
              <a:gd name="adj" fmla="val 13333"/>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3</a:t>
            </a:r>
            <a:endParaRPr lang="en-US" sz="1800" dirty="0"/>
          </a:p>
        </p:txBody>
      </p:sp>
      <p:sp>
        <p:nvSpPr>
          <p:cNvPr id="16" name="Text 14"/>
          <p:cNvSpPr/>
          <p:nvPr/>
        </p:nvSpPr>
        <p:spPr>
          <a:xfrm>
            <a:off x="7132320" y="1417320"/>
            <a:ext cx="1920240" cy="256032"/>
          </a:xfrm>
          <a:prstGeom prst="rect">
            <a:avLst/>
          </a:prstGeom>
          <a:noFill/>
          <a:ln/>
        </p:spPr>
        <p:txBody>
          <a:bodyPr wrap="square" lIns="762" tIns="762" rIns="762" bIns="762" rtlCol="0" anchor="ctr">
            <a:normAutofit/>
          </a:bodyPr>
          <a:lstStyle/>
          <a:p>
            <a:pPr algn="l" indent="0" marL="0">
              <a:buNone/>
            </a:pPr>
            <a:r>
              <a:rPr lang="en-US" sz="1600" b="1" dirty="0">
                <a:solidFill>
                  <a:srgbClr val="102A4C"/>
                </a:solidFill>
              </a:rPr>
              <a:t>Search</a:t>
            </a:r>
            <a:endParaRPr lang="en-US" sz="1600" dirty="0"/>
          </a:p>
        </p:txBody>
      </p:sp>
      <p:sp>
        <p:nvSpPr>
          <p:cNvPr id="17" name="Text 15"/>
          <p:cNvSpPr/>
          <p:nvPr/>
        </p:nvSpPr>
        <p:spPr>
          <a:xfrm>
            <a:off x="6537960" y="1965960"/>
            <a:ext cx="2514600" cy="1005840"/>
          </a:xfrm>
          <a:prstGeom prst="rect">
            <a:avLst/>
          </a:prstGeom>
          <a:noFill/>
          <a:ln/>
        </p:spPr>
        <p:txBody>
          <a:bodyPr wrap="square" lIns="762" tIns="762" rIns="762" bIns="762" rtlCol="0" anchor="ctr">
            <a:normAutofit/>
          </a:bodyPr>
          <a:lstStyle/>
          <a:p>
            <a:pPr algn="l" indent="0" marL="0">
              <a:buNone/>
            </a:pPr>
            <a:r>
              <a:rPr lang="en-US" sz="1350" dirty="0">
                <a:solidFill>
                  <a:srgbClr val="102A4C"/>
                </a:solidFill>
              </a:rPr>
              <a:t>Simulate action sequences until one reaches a goal or failure is proven.</a:t>
            </a:r>
            <a:endParaRPr lang="en-US" sz="1350" dirty="0"/>
          </a:p>
        </p:txBody>
      </p:sp>
      <p:sp>
        <p:nvSpPr>
          <p:cNvPr id="18" name="Shape 16"/>
          <p:cNvSpPr/>
          <p:nvPr/>
        </p:nvSpPr>
        <p:spPr>
          <a:xfrm>
            <a:off x="9052560" y="1700784"/>
            <a:ext cx="246888" cy="0"/>
          </a:xfrm>
          <a:prstGeom prst="line">
            <a:avLst/>
          </a:prstGeom>
          <a:solidFill>
            <a:srgbClr val="FFFFFF">
              <a:alpha val="0"/>
            </a:srgbClr>
          </a:solidFill>
          <a:ln w="22860">
            <a:solidFill>
              <a:srgbClr val="5C6B80"/>
            </a:solidFill>
            <a:prstDash val="solid"/>
            <a:tailEnd type="triangle"/>
          </a:ln>
        </p:spPr>
      </p:sp>
      <p:sp>
        <p:nvSpPr>
          <p:cNvPr id="19" name="Text 17"/>
          <p:cNvSpPr/>
          <p:nvPr/>
        </p:nvSpPr>
        <p:spPr>
          <a:xfrm>
            <a:off x="9326880" y="1417320"/>
            <a:ext cx="548640" cy="548640"/>
          </a:xfrm>
          <a:prstGeom prst="roundRect">
            <a:avLst>
              <a:gd name="adj" fmla="val 13333"/>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4</a:t>
            </a:r>
            <a:endParaRPr lang="en-US" sz="1800" dirty="0"/>
          </a:p>
        </p:txBody>
      </p:sp>
      <p:sp>
        <p:nvSpPr>
          <p:cNvPr id="20" name="Text 18"/>
          <p:cNvSpPr/>
          <p:nvPr/>
        </p:nvSpPr>
        <p:spPr>
          <a:xfrm>
            <a:off x="10012680" y="1417320"/>
            <a:ext cx="1920240" cy="256032"/>
          </a:xfrm>
          <a:prstGeom prst="rect">
            <a:avLst/>
          </a:prstGeom>
          <a:noFill/>
          <a:ln/>
        </p:spPr>
        <p:txBody>
          <a:bodyPr wrap="square" lIns="762" tIns="762" rIns="762" bIns="762" rtlCol="0" anchor="ctr">
            <a:normAutofit/>
          </a:bodyPr>
          <a:lstStyle/>
          <a:p>
            <a:pPr algn="l" indent="0" marL="0">
              <a:buNone/>
            </a:pPr>
            <a:r>
              <a:rPr lang="en-US" sz="1600" b="1" dirty="0">
                <a:solidFill>
                  <a:srgbClr val="102A4C"/>
                </a:solidFill>
              </a:rPr>
              <a:t>Execution</a:t>
            </a:r>
            <a:endParaRPr lang="en-US" sz="1600" dirty="0"/>
          </a:p>
        </p:txBody>
      </p:sp>
      <p:sp>
        <p:nvSpPr>
          <p:cNvPr id="21" name="Text 19"/>
          <p:cNvSpPr/>
          <p:nvPr/>
        </p:nvSpPr>
        <p:spPr>
          <a:xfrm>
            <a:off x="9418320" y="1965960"/>
            <a:ext cx="2514600" cy="1005840"/>
          </a:xfrm>
          <a:prstGeom prst="rect">
            <a:avLst/>
          </a:prstGeom>
          <a:noFill/>
          <a:ln/>
        </p:spPr>
        <p:txBody>
          <a:bodyPr wrap="square" lIns="762" tIns="762" rIns="762" bIns="762" rtlCol="0" anchor="ctr">
            <a:normAutofit/>
          </a:bodyPr>
          <a:lstStyle/>
          <a:p>
            <a:pPr algn="l" indent="0" marL="0">
              <a:buNone/>
            </a:pPr>
            <a:r>
              <a:rPr lang="en-US" sz="1350" dirty="0">
                <a:solidFill>
                  <a:srgbClr val="102A4C"/>
                </a:solidFill>
              </a:rPr>
              <a:t>Carry out the solution actions in the real environment.</a:t>
            </a:r>
            <a:endParaRPr lang="en-US" sz="1350" dirty="0"/>
          </a:p>
        </p:txBody>
      </p:sp>
      <p:sp>
        <p:nvSpPr>
          <p:cNvPr id="22" name="Text 20"/>
          <p:cNvSpPr/>
          <p:nvPr/>
        </p:nvSpPr>
        <p:spPr>
          <a:xfrm>
            <a:off x="2194560" y="4343400"/>
            <a:ext cx="7772400" cy="594360"/>
          </a:xfrm>
          <a:prstGeom prst="roundRect">
            <a:avLst>
              <a:gd name="adj" fmla="val 12308"/>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800" b="1" dirty="0">
                <a:solidFill>
                  <a:srgbClr val="112E5C"/>
                </a:solidFill>
              </a:rPr>
              <a:t>Example path: Arad → Sibiu → Făgăraș → Bucharest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Environment Assumptions: When a Fixed Plan Works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777240" y="1417320"/>
            <a:ext cx="3063240" cy="475488"/>
          </a:xfrm>
          <a:prstGeom prst="roundRect">
            <a:avLst>
              <a:gd name="adj" fmla="val 1538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Fully observable</a:t>
            </a:r>
            <a:endParaRPr lang="en-US" sz="1500" dirty="0"/>
          </a:p>
        </p:txBody>
      </p:sp>
      <p:sp>
        <p:nvSpPr>
          <p:cNvPr id="8" name="Text 6"/>
          <p:cNvSpPr/>
          <p:nvPr/>
        </p:nvSpPr>
        <p:spPr>
          <a:xfrm>
            <a:off x="941832" y="1984248"/>
            <a:ext cx="2743200" cy="228600"/>
          </a:xfrm>
          <a:prstGeom prst="rect">
            <a:avLst/>
          </a:prstGeom>
          <a:noFill/>
          <a:ln/>
        </p:spPr>
        <p:txBody>
          <a:bodyPr wrap="square" lIns="762" tIns="762" rIns="762" bIns="762" rtlCol="0" anchor="ctr">
            <a:normAutofit/>
          </a:bodyPr>
          <a:lstStyle/>
          <a:p>
            <a:pPr algn="ctr" indent="0" marL="0">
              <a:buNone/>
            </a:pPr>
            <a:r>
              <a:rPr lang="en-US" sz="1250" dirty="0">
                <a:solidFill>
                  <a:srgbClr val="5C6B80"/>
                </a:solidFill>
              </a:rPr>
              <a:t>relevant state is known</a:t>
            </a:r>
            <a:endParaRPr lang="en-US" sz="1250" dirty="0"/>
          </a:p>
        </p:txBody>
      </p:sp>
      <p:sp>
        <p:nvSpPr>
          <p:cNvPr id="9" name="Text 7"/>
          <p:cNvSpPr/>
          <p:nvPr/>
        </p:nvSpPr>
        <p:spPr>
          <a:xfrm>
            <a:off x="4434840" y="1417320"/>
            <a:ext cx="3063240" cy="475488"/>
          </a:xfrm>
          <a:prstGeom prst="roundRect">
            <a:avLst>
              <a:gd name="adj" fmla="val 15385"/>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Deterministic</a:t>
            </a:r>
            <a:endParaRPr lang="en-US" sz="1500" dirty="0"/>
          </a:p>
        </p:txBody>
      </p:sp>
      <p:sp>
        <p:nvSpPr>
          <p:cNvPr id="10" name="Text 8"/>
          <p:cNvSpPr/>
          <p:nvPr/>
        </p:nvSpPr>
        <p:spPr>
          <a:xfrm>
            <a:off x="4599432" y="1984248"/>
            <a:ext cx="2743200" cy="228600"/>
          </a:xfrm>
          <a:prstGeom prst="rect">
            <a:avLst/>
          </a:prstGeom>
          <a:noFill/>
          <a:ln/>
        </p:spPr>
        <p:txBody>
          <a:bodyPr wrap="square" lIns="762" tIns="762" rIns="762" bIns="762" rtlCol="0" anchor="ctr">
            <a:normAutofit/>
          </a:bodyPr>
          <a:lstStyle/>
          <a:p>
            <a:pPr algn="ctr" indent="0" marL="0">
              <a:buNone/>
            </a:pPr>
            <a:r>
              <a:rPr lang="en-US" sz="1250" dirty="0">
                <a:solidFill>
                  <a:srgbClr val="5C6B80"/>
                </a:solidFill>
              </a:rPr>
              <a:t>actions have predictable results</a:t>
            </a:r>
            <a:endParaRPr lang="en-US" sz="1250" dirty="0"/>
          </a:p>
        </p:txBody>
      </p:sp>
      <p:sp>
        <p:nvSpPr>
          <p:cNvPr id="11" name="Text 9"/>
          <p:cNvSpPr/>
          <p:nvPr/>
        </p:nvSpPr>
        <p:spPr>
          <a:xfrm>
            <a:off x="8092440" y="1417320"/>
            <a:ext cx="3063240" cy="475488"/>
          </a:xfrm>
          <a:prstGeom prst="roundRect">
            <a:avLst>
              <a:gd name="adj" fmla="val 1538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Known</a:t>
            </a:r>
            <a:endParaRPr lang="en-US" sz="1500" dirty="0"/>
          </a:p>
        </p:txBody>
      </p:sp>
      <p:sp>
        <p:nvSpPr>
          <p:cNvPr id="12" name="Text 10"/>
          <p:cNvSpPr/>
          <p:nvPr/>
        </p:nvSpPr>
        <p:spPr>
          <a:xfrm>
            <a:off x="8257032" y="1984248"/>
            <a:ext cx="2743200" cy="228600"/>
          </a:xfrm>
          <a:prstGeom prst="rect">
            <a:avLst/>
          </a:prstGeom>
          <a:noFill/>
          <a:ln/>
        </p:spPr>
        <p:txBody>
          <a:bodyPr wrap="square" lIns="762" tIns="762" rIns="762" bIns="762" rtlCol="0" anchor="ctr">
            <a:normAutofit/>
          </a:bodyPr>
          <a:lstStyle/>
          <a:p>
            <a:pPr algn="ctr" indent="0" marL="0">
              <a:buNone/>
            </a:pPr>
            <a:r>
              <a:rPr lang="en-US" sz="1250" dirty="0">
                <a:solidFill>
                  <a:srgbClr val="5C6B80"/>
                </a:solidFill>
              </a:rPr>
              <a:t>map/model is available</a:t>
            </a:r>
            <a:endParaRPr lang="en-US" sz="1250" dirty="0"/>
          </a:p>
        </p:txBody>
      </p:sp>
      <p:sp>
        <p:nvSpPr>
          <p:cNvPr id="13" name="Text 11"/>
          <p:cNvSpPr/>
          <p:nvPr/>
        </p:nvSpPr>
        <p:spPr>
          <a:xfrm>
            <a:off x="777240" y="2651760"/>
            <a:ext cx="3063240" cy="475488"/>
          </a:xfrm>
          <a:prstGeom prst="roundRect">
            <a:avLst>
              <a:gd name="adj" fmla="val 15385"/>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Static</a:t>
            </a:r>
            <a:endParaRPr lang="en-US" sz="1500" dirty="0"/>
          </a:p>
        </p:txBody>
      </p:sp>
      <p:sp>
        <p:nvSpPr>
          <p:cNvPr id="14" name="Text 12"/>
          <p:cNvSpPr/>
          <p:nvPr/>
        </p:nvSpPr>
        <p:spPr>
          <a:xfrm>
            <a:off x="941832" y="3218688"/>
            <a:ext cx="2743200" cy="228600"/>
          </a:xfrm>
          <a:prstGeom prst="rect">
            <a:avLst/>
          </a:prstGeom>
          <a:noFill/>
          <a:ln/>
        </p:spPr>
        <p:txBody>
          <a:bodyPr wrap="square" lIns="762" tIns="762" rIns="762" bIns="762" rtlCol="0" anchor="ctr">
            <a:normAutofit/>
          </a:bodyPr>
          <a:lstStyle/>
          <a:p>
            <a:pPr algn="ctr" indent="0" marL="0">
              <a:buNone/>
            </a:pPr>
            <a:r>
              <a:rPr lang="en-US" sz="1250" dirty="0">
                <a:solidFill>
                  <a:srgbClr val="5C6B80"/>
                </a:solidFill>
              </a:rPr>
              <a:t>world does not change during search</a:t>
            </a:r>
            <a:endParaRPr lang="en-US" sz="1250" dirty="0"/>
          </a:p>
        </p:txBody>
      </p:sp>
      <p:sp>
        <p:nvSpPr>
          <p:cNvPr id="15" name="Text 13"/>
          <p:cNvSpPr/>
          <p:nvPr/>
        </p:nvSpPr>
        <p:spPr>
          <a:xfrm>
            <a:off x="4434840" y="2651760"/>
            <a:ext cx="3063240" cy="475488"/>
          </a:xfrm>
          <a:prstGeom prst="roundRect">
            <a:avLst>
              <a:gd name="adj" fmla="val 1538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Discrete</a:t>
            </a:r>
            <a:endParaRPr lang="en-US" sz="1500" dirty="0"/>
          </a:p>
        </p:txBody>
      </p:sp>
      <p:sp>
        <p:nvSpPr>
          <p:cNvPr id="16" name="Text 14"/>
          <p:cNvSpPr/>
          <p:nvPr/>
        </p:nvSpPr>
        <p:spPr>
          <a:xfrm>
            <a:off x="4599432" y="3218688"/>
            <a:ext cx="2743200" cy="228600"/>
          </a:xfrm>
          <a:prstGeom prst="rect">
            <a:avLst/>
          </a:prstGeom>
          <a:noFill/>
          <a:ln/>
        </p:spPr>
        <p:txBody>
          <a:bodyPr wrap="square" lIns="762" tIns="762" rIns="762" bIns="762" rtlCol="0" anchor="ctr">
            <a:normAutofit/>
          </a:bodyPr>
          <a:lstStyle/>
          <a:p>
            <a:pPr algn="ctr" indent="0" marL="0">
              <a:buNone/>
            </a:pPr>
            <a:r>
              <a:rPr lang="en-US" sz="1250" dirty="0">
                <a:solidFill>
                  <a:srgbClr val="5C6B80"/>
                </a:solidFill>
              </a:rPr>
              <a:t>states/actions can be enumerated</a:t>
            </a:r>
            <a:endParaRPr lang="en-US" sz="1250" dirty="0"/>
          </a:p>
        </p:txBody>
      </p:sp>
      <p:sp>
        <p:nvSpPr>
          <p:cNvPr id="17" name="Text 15"/>
          <p:cNvSpPr/>
          <p:nvPr/>
        </p:nvSpPr>
        <p:spPr>
          <a:xfrm>
            <a:off x="8092440" y="2651760"/>
            <a:ext cx="3063240" cy="475488"/>
          </a:xfrm>
          <a:prstGeom prst="roundRect">
            <a:avLst>
              <a:gd name="adj" fmla="val 15385"/>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Single-agent</a:t>
            </a:r>
            <a:endParaRPr lang="en-US" sz="1500" dirty="0"/>
          </a:p>
        </p:txBody>
      </p:sp>
      <p:sp>
        <p:nvSpPr>
          <p:cNvPr id="18" name="Text 16"/>
          <p:cNvSpPr/>
          <p:nvPr/>
        </p:nvSpPr>
        <p:spPr>
          <a:xfrm>
            <a:off x="8257032" y="3218688"/>
            <a:ext cx="2743200" cy="228600"/>
          </a:xfrm>
          <a:prstGeom prst="rect">
            <a:avLst/>
          </a:prstGeom>
          <a:noFill/>
          <a:ln/>
        </p:spPr>
        <p:txBody>
          <a:bodyPr wrap="square" lIns="762" tIns="762" rIns="762" bIns="762" rtlCol="0" anchor="ctr">
            <a:normAutofit/>
          </a:bodyPr>
          <a:lstStyle/>
          <a:p>
            <a:pPr algn="ctr" indent="0" marL="0">
              <a:buNone/>
            </a:pPr>
            <a:r>
              <a:rPr lang="en-US" sz="1250" dirty="0">
                <a:solidFill>
                  <a:srgbClr val="5C6B80"/>
                </a:solidFill>
              </a:rPr>
              <a:t>no adversary changes the state</a:t>
            </a:r>
            <a:endParaRPr lang="en-US" sz="1250" dirty="0"/>
          </a:p>
        </p:txBody>
      </p:sp>
      <p:sp>
        <p:nvSpPr>
          <p:cNvPr id="19" name="Text 17"/>
          <p:cNvSpPr/>
          <p:nvPr/>
        </p:nvSpPr>
        <p:spPr>
          <a:xfrm>
            <a:off x="914400" y="4617720"/>
            <a:ext cx="10424160" cy="329184"/>
          </a:xfrm>
          <a:prstGeom prst="rect">
            <a:avLst/>
          </a:prstGeom>
          <a:noFill/>
          <a:ln/>
        </p:spPr>
        <p:txBody>
          <a:bodyPr wrap="square" lIns="762" tIns="762" rIns="762" bIns="762" rtlCol="0" anchor="ctr">
            <a:normAutofit/>
          </a:bodyPr>
          <a:lstStyle/>
          <a:p>
            <a:pPr algn="ctr" indent="0" marL="0">
              <a:buNone/>
            </a:pPr>
            <a:r>
              <a:rPr lang="en-US" sz="1700" b="1" dirty="0">
                <a:solidFill>
                  <a:srgbClr val="102A4C"/>
                </a:solidFill>
              </a:rPr>
              <a:t>Open-loop execution: if the model is correct, execute the fixed sequence without checking percepts.</a:t>
            </a:r>
            <a:endParaRPr lang="en-US" sz="1700" dirty="0"/>
          </a:p>
        </p:txBody>
      </p:sp>
      <p:sp>
        <p:nvSpPr>
          <p:cNvPr id="20" name="Text 18"/>
          <p:cNvSpPr/>
          <p:nvPr/>
        </p:nvSpPr>
        <p:spPr>
          <a:xfrm>
            <a:off x="914400" y="5166360"/>
            <a:ext cx="10424160" cy="329184"/>
          </a:xfrm>
          <a:prstGeom prst="rect">
            <a:avLst/>
          </a:prstGeom>
          <a:noFill/>
          <a:ln/>
        </p:spPr>
        <p:txBody>
          <a:bodyPr wrap="square" lIns="762" tIns="762" rIns="762" bIns="762" rtlCol="0" anchor="ctr">
            <a:normAutofit/>
          </a:bodyPr>
          <a:lstStyle/>
          <a:p>
            <a:pPr algn="ctr" indent="0" marL="0">
              <a:buNone/>
            </a:pPr>
            <a:r>
              <a:rPr lang="en-US" sz="1550" dirty="0">
                <a:solidFill>
                  <a:srgbClr val="9B1C1C"/>
                </a:solidFill>
              </a:rPr>
              <a:t>If the model may be wrong or the world changes, use closed-loop monitoring, contingency plans, or replanning.</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Formal Definition of a Search Problem</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777240" y="1417320"/>
            <a:ext cx="228600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State space</a:t>
            </a:r>
            <a:endParaRPr lang="en-US" sz="1400" dirty="0"/>
          </a:p>
        </p:txBody>
      </p:sp>
      <p:sp>
        <p:nvSpPr>
          <p:cNvPr id="8" name="Text 6"/>
          <p:cNvSpPr/>
          <p:nvPr/>
        </p:nvSpPr>
        <p:spPr>
          <a:xfrm>
            <a:off x="3246120" y="1444752"/>
            <a:ext cx="2834640" cy="4114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Set of possible states</a:t>
            </a:r>
            <a:endParaRPr lang="en-US" sz="1400" dirty="0"/>
          </a:p>
        </p:txBody>
      </p:sp>
      <p:sp>
        <p:nvSpPr>
          <p:cNvPr id="9" name="Text 7"/>
          <p:cNvSpPr/>
          <p:nvPr/>
        </p:nvSpPr>
        <p:spPr>
          <a:xfrm>
            <a:off x="777240" y="2651760"/>
            <a:ext cx="228600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Initial state</a:t>
            </a:r>
            <a:endParaRPr lang="en-US" sz="1400" dirty="0"/>
          </a:p>
        </p:txBody>
      </p:sp>
      <p:sp>
        <p:nvSpPr>
          <p:cNvPr id="10" name="Text 8"/>
          <p:cNvSpPr/>
          <p:nvPr/>
        </p:nvSpPr>
        <p:spPr>
          <a:xfrm>
            <a:off x="3246120" y="2679192"/>
            <a:ext cx="2834640" cy="4114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Where the agent starts</a:t>
            </a:r>
            <a:endParaRPr lang="en-US" sz="1400" dirty="0"/>
          </a:p>
        </p:txBody>
      </p:sp>
      <p:sp>
        <p:nvSpPr>
          <p:cNvPr id="11" name="Text 9"/>
          <p:cNvSpPr/>
          <p:nvPr/>
        </p:nvSpPr>
        <p:spPr>
          <a:xfrm>
            <a:off x="777240" y="3886200"/>
            <a:ext cx="228600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Goal test</a:t>
            </a:r>
            <a:endParaRPr lang="en-US" sz="1400" dirty="0"/>
          </a:p>
        </p:txBody>
      </p:sp>
      <p:sp>
        <p:nvSpPr>
          <p:cNvPr id="12" name="Text 10"/>
          <p:cNvSpPr/>
          <p:nvPr/>
        </p:nvSpPr>
        <p:spPr>
          <a:xfrm>
            <a:off x="3246120" y="3913632"/>
            <a:ext cx="2834640" cy="4114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Is-Goal(s): property or set of goal states</a:t>
            </a:r>
            <a:endParaRPr lang="en-US" sz="1400" dirty="0"/>
          </a:p>
        </p:txBody>
      </p:sp>
      <p:sp>
        <p:nvSpPr>
          <p:cNvPr id="13" name="Text 11"/>
          <p:cNvSpPr/>
          <p:nvPr/>
        </p:nvSpPr>
        <p:spPr>
          <a:xfrm>
            <a:off x="6172200" y="1417320"/>
            <a:ext cx="228600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Actions</a:t>
            </a:r>
            <a:endParaRPr lang="en-US" sz="1400" dirty="0"/>
          </a:p>
        </p:txBody>
      </p:sp>
      <p:sp>
        <p:nvSpPr>
          <p:cNvPr id="14" name="Text 12"/>
          <p:cNvSpPr/>
          <p:nvPr/>
        </p:nvSpPr>
        <p:spPr>
          <a:xfrm>
            <a:off x="8641080" y="1444752"/>
            <a:ext cx="2834640" cy="4114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ACTIONS(s): actions applicable in state s</a:t>
            </a:r>
            <a:endParaRPr lang="en-US" sz="1400" dirty="0"/>
          </a:p>
        </p:txBody>
      </p:sp>
      <p:sp>
        <p:nvSpPr>
          <p:cNvPr id="15" name="Text 13"/>
          <p:cNvSpPr/>
          <p:nvPr/>
        </p:nvSpPr>
        <p:spPr>
          <a:xfrm>
            <a:off x="6172200" y="2651760"/>
            <a:ext cx="228600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Transition model</a:t>
            </a:r>
            <a:endParaRPr lang="en-US" sz="1400" dirty="0"/>
          </a:p>
        </p:txBody>
      </p:sp>
      <p:sp>
        <p:nvSpPr>
          <p:cNvPr id="16" name="Text 14"/>
          <p:cNvSpPr/>
          <p:nvPr/>
        </p:nvSpPr>
        <p:spPr>
          <a:xfrm>
            <a:off x="8641080" y="2679192"/>
            <a:ext cx="2834640" cy="4114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RESULT(s,a): state reached after action a</a:t>
            </a:r>
            <a:endParaRPr lang="en-US" sz="1400" dirty="0"/>
          </a:p>
        </p:txBody>
      </p:sp>
      <p:sp>
        <p:nvSpPr>
          <p:cNvPr id="17" name="Text 15"/>
          <p:cNvSpPr/>
          <p:nvPr/>
        </p:nvSpPr>
        <p:spPr>
          <a:xfrm>
            <a:off x="6172200" y="3886200"/>
            <a:ext cx="228600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400" b="1" dirty="0">
                <a:solidFill>
                  <a:srgbClr val="112E5C"/>
                </a:solidFill>
              </a:rPr>
              <a:t>Action cost</a:t>
            </a:r>
            <a:endParaRPr lang="en-US" sz="1400" dirty="0"/>
          </a:p>
        </p:txBody>
      </p:sp>
      <p:sp>
        <p:nvSpPr>
          <p:cNvPr id="18" name="Text 16"/>
          <p:cNvSpPr/>
          <p:nvPr/>
        </p:nvSpPr>
        <p:spPr>
          <a:xfrm>
            <a:off x="8641080" y="3913632"/>
            <a:ext cx="2834640" cy="4114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c(s,a,s′): numeric cost of applying an action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Romania Route-Finding Example</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1005840" y="3017520"/>
            <a:ext cx="2011680" cy="-914400"/>
          </a:xfrm>
          <a:prstGeom prst="line">
            <a:avLst/>
          </a:prstGeom>
          <a:solidFill>
            <a:srgbClr val="FFFFFF">
              <a:alpha val="0"/>
            </a:srgbClr>
          </a:solidFill>
          <a:ln w="16510">
            <a:solidFill>
              <a:srgbClr val="5C6B80"/>
            </a:solidFill>
            <a:prstDash val="solid"/>
            <a:tailEnd type="triangle"/>
          </a:ln>
        </p:spPr>
      </p:sp>
      <p:sp>
        <p:nvSpPr>
          <p:cNvPr id="8" name="Text 6"/>
          <p:cNvSpPr/>
          <p:nvPr/>
        </p:nvSpPr>
        <p:spPr>
          <a:xfrm>
            <a:off x="1847088" y="243230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140</a:t>
            </a:r>
            <a:endParaRPr lang="en-US" sz="850" dirty="0"/>
          </a:p>
        </p:txBody>
      </p:sp>
      <p:sp>
        <p:nvSpPr>
          <p:cNvPr id="9" name="Shape 7"/>
          <p:cNvSpPr/>
          <p:nvPr/>
        </p:nvSpPr>
        <p:spPr>
          <a:xfrm>
            <a:off x="1005840" y="3017520"/>
            <a:ext cx="2011680" cy="0"/>
          </a:xfrm>
          <a:prstGeom prst="line">
            <a:avLst/>
          </a:prstGeom>
          <a:solidFill>
            <a:srgbClr val="FFFFFF">
              <a:alpha val="0"/>
            </a:srgbClr>
          </a:solidFill>
          <a:ln w="16510">
            <a:solidFill>
              <a:srgbClr val="5C6B80"/>
            </a:solidFill>
            <a:prstDash val="solid"/>
            <a:tailEnd type="triangle"/>
          </a:ln>
        </p:spPr>
      </p:sp>
      <p:sp>
        <p:nvSpPr>
          <p:cNvPr id="10" name="Text 8"/>
          <p:cNvSpPr/>
          <p:nvPr/>
        </p:nvSpPr>
        <p:spPr>
          <a:xfrm>
            <a:off x="1847088" y="288950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118</a:t>
            </a:r>
            <a:endParaRPr lang="en-US" sz="850" dirty="0"/>
          </a:p>
        </p:txBody>
      </p:sp>
      <p:sp>
        <p:nvSpPr>
          <p:cNvPr id="11" name="Shape 9"/>
          <p:cNvSpPr/>
          <p:nvPr/>
        </p:nvSpPr>
        <p:spPr>
          <a:xfrm>
            <a:off x="1005840" y="3017520"/>
            <a:ext cx="2011680" cy="914400"/>
          </a:xfrm>
          <a:prstGeom prst="line">
            <a:avLst/>
          </a:prstGeom>
          <a:solidFill>
            <a:srgbClr val="FFFFFF">
              <a:alpha val="0"/>
            </a:srgbClr>
          </a:solidFill>
          <a:ln w="16510">
            <a:solidFill>
              <a:srgbClr val="5C6B80"/>
            </a:solidFill>
            <a:prstDash val="solid"/>
            <a:tailEnd type="triangle"/>
          </a:ln>
        </p:spPr>
      </p:sp>
      <p:sp>
        <p:nvSpPr>
          <p:cNvPr id="12" name="Text 10"/>
          <p:cNvSpPr/>
          <p:nvPr/>
        </p:nvSpPr>
        <p:spPr>
          <a:xfrm>
            <a:off x="1847088" y="334670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75</a:t>
            </a:r>
            <a:endParaRPr lang="en-US" sz="850" dirty="0"/>
          </a:p>
        </p:txBody>
      </p:sp>
      <p:sp>
        <p:nvSpPr>
          <p:cNvPr id="13" name="Shape 11"/>
          <p:cNvSpPr/>
          <p:nvPr/>
        </p:nvSpPr>
        <p:spPr>
          <a:xfrm>
            <a:off x="3017520" y="2103120"/>
            <a:ext cx="2057400" cy="-274320"/>
          </a:xfrm>
          <a:prstGeom prst="line">
            <a:avLst/>
          </a:prstGeom>
          <a:solidFill>
            <a:srgbClr val="FFFFFF">
              <a:alpha val="0"/>
            </a:srgbClr>
          </a:solidFill>
          <a:ln w="16510">
            <a:solidFill>
              <a:srgbClr val="5C6B80"/>
            </a:solidFill>
            <a:prstDash val="solid"/>
            <a:tailEnd type="triangle"/>
          </a:ln>
        </p:spPr>
      </p:sp>
      <p:sp>
        <p:nvSpPr>
          <p:cNvPr id="14" name="Text 12"/>
          <p:cNvSpPr/>
          <p:nvPr/>
        </p:nvSpPr>
        <p:spPr>
          <a:xfrm>
            <a:off x="3881628" y="183794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99</a:t>
            </a:r>
            <a:endParaRPr lang="en-US" sz="850" dirty="0"/>
          </a:p>
        </p:txBody>
      </p:sp>
      <p:sp>
        <p:nvSpPr>
          <p:cNvPr id="15" name="Shape 13"/>
          <p:cNvSpPr/>
          <p:nvPr/>
        </p:nvSpPr>
        <p:spPr>
          <a:xfrm>
            <a:off x="3017520" y="2103120"/>
            <a:ext cx="2057400" cy="640080"/>
          </a:xfrm>
          <a:prstGeom prst="line">
            <a:avLst/>
          </a:prstGeom>
          <a:solidFill>
            <a:srgbClr val="FFFFFF">
              <a:alpha val="0"/>
            </a:srgbClr>
          </a:solidFill>
          <a:ln w="16510">
            <a:solidFill>
              <a:srgbClr val="5C6B80"/>
            </a:solidFill>
            <a:prstDash val="solid"/>
            <a:tailEnd type="triangle"/>
          </a:ln>
        </p:spPr>
      </p:sp>
      <p:sp>
        <p:nvSpPr>
          <p:cNvPr id="16" name="Text 14"/>
          <p:cNvSpPr/>
          <p:nvPr/>
        </p:nvSpPr>
        <p:spPr>
          <a:xfrm>
            <a:off x="3881628" y="229514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80</a:t>
            </a:r>
            <a:endParaRPr lang="en-US" sz="850" dirty="0"/>
          </a:p>
        </p:txBody>
      </p:sp>
      <p:sp>
        <p:nvSpPr>
          <p:cNvPr id="17" name="Shape 15"/>
          <p:cNvSpPr/>
          <p:nvPr/>
        </p:nvSpPr>
        <p:spPr>
          <a:xfrm>
            <a:off x="5074920" y="2743200"/>
            <a:ext cx="1920240" cy="0"/>
          </a:xfrm>
          <a:prstGeom prst="line">
            <a:avLst/>
          </a:prstGeom>
          <a:solidFill>
            <a:srgbClr val="FFFFFF">
              <a:alpha val="0"/>
            </a:srgbClr>
          </a:solidFill>
          <a:ln w="16510">
            <a:solidFill>
              <a:srgbClr val="5C6B80"/>
            </a:solidFill>
            <a:prstDash val="solid"/>
            <a:tailEnd type="triangle"/>
          </a:ln>
        </p:spPr>
      </p:sp>
      <p:sp>
        <p:nvSpPr>
          <p:cNvPr id="18" name="Text 16"/>
          <p:cNvSpPr/>
          <p:nvPr/>
        </p:nvSpPr>
        <p:spPr>
          <a:xfrm>
            <a:off x="5870448" y="261518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97</a:t>
            </a:r>
            <a:endParaRPr lang="en-US" sz="850" dirty="0"/>
          </a:p>
        </p:txBody>
      </p:sp>
      <p:sp>
        <p:nvSpPr>
          <p:cNvPr id="19" name="Shape 17"/>
          <p:cNvSpPr/>
          <p:nvPr/>
        </p:nvSpPr>
        <p:spPr>
          <a:xfrm>
            <a:off x="6995160" y="2743200"/>
            <a:ext cx="2011680" cy="-502920"/>
          </a:xfrm>
          <a:prstGeom prst="line">
            <a:avLst/>
          </a:prstGeom>
          <a:solidFill>
            <a:srgbClr val="FFFFFF">
              <a:alpha val="0"/>
            </a:srgbClr>
          </a:solidFill>
          <a:ln w="16510">
            <a:solidFill>
              <a:srgbClr val="5C6B80"/>
            </a:solidFill>
            <a:prstDash val="solid"/>
            <a:tailEnd type="triangle"/>
          </a:ln>
        </p:spPr>
      </p:sp>
      <p:sp>
        <p:nvSpPr>
          <p:cNvPr id="20" name="Text 18"/>
          <p:cNvSpPr/>
          <p:nvPr/>
        </p:nvSpPr>
        <p:spPr>
          <a:xfrm>
            <a:off x="7836408" y="236372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101</a:t>
            </a:r>
            <a:endParaRPr lang="en-US" sz="850" dirty="0"/>
          </a:p>
        </p:txBody>
      </p:sp>
      <p:sp>
        <p:nvSpPr>
          <p:cNvPr id="21" name="Shape 19"/>
          <p:cNvSpPr/>
          <p:nvPr/>
        </p:nvSpPr>
        <p:spPr>
          <a:xfrm>
            <a:off x="5074920" y="1828800"/>
            <a:ext cx="3931920" cy="411480"/>
          </a:xfrm>
          <a:prstGeom prst="line">
            <a:avLst/>
          </a:prstGeom>
          <a:solidFill>
            <a:srgbClr val="FFFFFF">
              <a:alpha val="0"/>
            </a:srgbClr>
          </a:solidFill>
          <a:ln w="16510">
            <a:solidFill>
              <a:srgbClr val="5C6B80"/>
            </a:solidFill>
            <a:prstDash val="solid"/>
            <a:tailEnd type="triangle"/>
          </a:ln>
        </p:spPr>
      </p:sp>
      <p:sp>
        <p:nvSpPr>
          <p:cNvPr id="22" name="Text 20"/>
          <p:cNvSpPr/>
          <p:nvPr/>
        </p:nvSpPr>
        <p:spPr>
          <a:xfrm>
            <a:off x="6876288" y="1906524"/>
            <a:ext cx="329184" cy="164592"/>
          </a:xfrm>
          <a:prstGeom prst="rect">
            <a:avLst/>
          </a:prstGeom>
          <a:noFill/>
          <a:ln/>
        </p:spPr>
        <p:txBody>
          <a:bodyPr wrap="square" lIns="0" tIns="0" rIns="0" bIns="0" rtlCol="0" anchor="ctr">
            <a:normAutofit/>
          </a:bodyPr>
          <a:lstStyle/>
          <a:p>
            <a:pPr algn="ctr" indent="0" marL="0">
              <a:buNone/>
            </a:pPr>
            <a:r>
              <a:rPr lang="en-US" sz="850" dirty="0">
                <a:solidFill>
                  <a:srgbClr val="5C6B80"/>
                </a:solidFill>
              </a:rPr>
              <a:t>211</a:t>
            </a:r>
            <a:endParaRPr lang="en-US" sz="850" dirty="0"/>
          </a:p>
        </p:txBody>
      </p:sp>
      <p:sp>
        <p:nvSpPr>
          <p:cNvPr id="23" name="Text 21"/>
          <p:cNvSpPr/>
          <p:nvPr/>
        </p:nvSpPr>
        <p:spPr>
          <a:xfrm>
            <a:off x="841248" y="2852928"/>
            <a:ext cx="329184" cy="329184"/>
          </a:xfrm>
          <a:prstGeom prst="ellipse">
            <a:avLst/>
          </a:prstGeom>
          <a:solidFill>
            <a:srgbClr val="FFE5B6"/>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24" name="Text 22"/>
          <p:cNvSpPr/>
          <p:nvPr/>
        </p:nvSpPr>
        <p:spPr>
          <a:xfrm>
            <a:off x="530352" y="324612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Arad</a:t>
            </a:r>
            <a:endParaRPr lang="en-US" sz="850" dirty="0"/>
          </a:p>
        </p:txBody>
      </p:sp>
      <p:sp>
        <p:nvSpPr>
          <p:cNvPr id="25" name="Text 23"/>
          <p:cNvSpPr/>
          <p:nvPr/>
        </p:nvSpPr>
        <p:spPr>
          <a:xfrm>
            <a:off x="2852928" y="1938528"/>
            <a:ext cx="329184" cy="329184"/>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26" name="Text 24"/>
          <p:cNvSpPr/>
          <p:nvPr/>
        </p:nvSpPr>
        <p:spPr>
          <a:xfrm>
            <a:off x="2542032" y="233172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Sibiu</a:t>
            </a:r>
            <a:endParaRPr lang="en-US" sz="850" dirty="0"/>
          </a:p>
        </p:txBody>
      </p:sp>
      <p:sp>
        <p:nvSpPr>
          <p:cNvPr id="27" name="Text 25"/>
          <p:cNvSpPr/>
          <p:nvPr/>
        </p:nvSpPr>
        <p:spPr>
          <a:xfrm>
            <a:off x="2852928" y="2852928"/>
            <a:ext cx="329184" cy="329184"/>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T</a:t>
            </a:r>
            <a:endParaRPr lang="en-US" sz="900" dirty="0"/>
          </a:p>
        </p:txBody>
      </p:sp>
      <p:sp>
        <p:nvSpPr>
          <p:cNvPr id="28" name="Text 26"/>
          <p:cNvSpPr/>
          <p:nvPr/>
        </p:nvSpPr>
        <p:spPr>
          <a:xfrm>
            <a:off x="2542032" y="324612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Timisoara</a:t>
            </a:r>
            <a:endParaRPr lang="en-US" sz="850" dirty="0"/>
          </a:p>
        </p:txBody>
      </p:sp>
      <p:sp>
        <p:nvSpPr>
          <p:cNvPr id="29" name="Text 27"/>
          <p:cNvSpPr/>
          <p:nvPr/>
        </p:nvSpPr>
        <p:spPr>
          <a:xfrm>
            <a:off x="2852928" y="3767328"/>
            <a:ext cx="329184" cy="329184"/>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Z</a:t>
            </a:r>
            <a:endParaRPr lang="en-US" sz="900" dirty="0"/>
          </a:p>
        </p:txBody>
      </p:sp>
      <p:sp>
        <p:nvSpPr>
          <p:cNvPr id="30" name="Text 28"/>
          <p:cNvSpPr/>
          <p:nvPr/>
        </p:nvSpPr>
        <p:spPr>
          <a:xfrm>
            <a:off x="2542032" y="416052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Zerind</a:t>
            </a:r>
            <a:endParaRPr lang="en-US" sz="850" dirty="0"/>
          </a:p>
        </p:txBody>
      </p:sp>
      <p:sp>
        <p:nvSpPr>
          <p:cNvPr id="31" name="Text 29"/>
          <p:cNvSpPr/>
          <p:nvPr/>
        </p:nvSpPr>
        <p:spPr>
          <a:xfrm>
            <a:off x="4910328" y="1664208"/>
            <a:ext cx="329184" cy="329184"/>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32" name="Text 30"/>
          <p:cNvSpPr/>
          <p:nvPr/>
        </p:nvSpPr>
        <p:spPr>
          <a:xfrm>
            <a:off x="4599432" y="205740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Fagaras</a:t>
            </a:r>
            <a:endParaRPr lang="en-US" sz="850" dirty="0"/>
          </a:p>
        </p:txBody>
      </p:sp>
      <p:sp>
        <p:nvSpPr>
          <p:cNvPr id="33" name="Text 31"/>
          <p:cNvSpPr/>
          <p:nvPr/>
        </p:nvSpPr>
        <p:spPr>
          <a:xfrm>
            <a:off x="4910328" y="2578608"/>
            <a:ext cx="329184" cy="329184"/>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34" name="Text 32"/>
          <p:cNvSpPr/>
          <p:nvPr/>
        </p:nvSpPr>
        <p:spPr>
          <a:xfrm>
            <a:off x="4599432" y="297180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Rimnicu</a:t>
            </a:r>
            <a:endParaRPr lang="en-US" sz="850" dirty="0"/>
          </a:p>
        </p:txBody>
      </p:sp>
      <p:sp>
        <p:nvSpPr>
          <p:cNvPr id="35" name="Text 33"/>
          <p:cNvSpPr/>
          <p:nvPr/>
        </p:nvSpPr>
        <p:spPr>
          <a:xfrm>
            <a:off x="6830568" y="2578608"/>
            <a:ext cx="329184" cy="329184"/>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36" name="Text 34"/>
          <p:cNvSpPr/>
          <p:nvPr/>
        </p:nvSpPr>
        <p:spPr>
          <a:xfrm>
            <a:off x="6519672" y="297180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Pitesti</a:t>
            </a:r>
            <a:endParaRPr lang="en-US" sz="850" dirty="0"/>
          </a:p>
        </p:txBody>
      </p:sp>
      <p:sp>
        <p:nvSpPr>
          <p:cNvPr id="37" name="Text 35"/>
          <p:cNvSpPr/>
          <p:nvPr/>
        </p:nvSpPr>
        <p:spPr>
          <a:xfrm>
            <a:off x="8842248" y="2075688"/>
            <a:ext cx="329184" cy="329184"/>
          </a:xfrm>
          <a:prstGeom prst="ellipse">
            <a:avLst/>
          </a:prstGeom>
          <a:solidFill>
            <a:srgbClr val="DBF1E3"/>
          </a:solidFill>
          <a:ln w="15240">
            <a:solidFill>
              <a:srgbClr val="177245"/>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38" name="Text 36"/>
          <p:cNvSpPr/>
          <p:nvPr/>
        </p:nvSpPr>
        <p:spPr>
          <a:xfrm>
            <a:off x="8531352" y="2468880"/>
            <a:ext cx="950976" cy="182880"/>
          </a:xfrm>
          <a:prstGeom prst="rect">
            <a:avLst/>
          </a:prstGeom>
          <a:noFill/>
          <a:ln/>
        </p:spPr>
        <p:txBody>
          <a:bodyPr wrap="square" lIns="0" tIns="0" rIns="0" bIns="0" rtlCol="0" anchor="ctr">
            <a:normAutofit/>
          </a:bodyPr>
          <a:lstStyle/>
          <a:p>
            <a:pPr algn="ctr" indent="0" marL="0">
              <a:buNone/>
            </a:pPr>
            <a:r>
              <a:rPr lang="en-US" sz="850" dirty="0">
                <a:solidFill>
                  <a:srgbClr val="102A4C"/>
                </a:solidFill>
              </a:rPr>
              <a:t>Bucharest</a:t>
            </a:r>
            <a:endParaRPr lang="en-US" sz="850" dirty="0"/>
          </a:p>
        </p:txBody>
      </p:sp>
      <p:sp>
        <p:nvSpPr>
          <p:cNvPr id="39" name="Text 37"/>
          <p:cNvSpPr/>
          <p:nvPr/>
        </p:nvSpPr>
        <p:spPr>
          <a:xfrm>
            <a:off x="822960" y="4709160"/>
            <a:ext cx="10332720" cy="914400"/>
          </a:xfrm>
          <a:prstGeom prst="rect">
            <a:avLst/>
          </a:prstGeom>
          <a:noFill/>
          <a:ln/>
        </p:spPr>
        <p:txBody>
          <a:bodyPr wrap="square" lIns="635" tIns="635" rIns="635" bIns="635" rtlCol="0" anchor="ctr">
            <a:normAutofit/>
          </a:bodyPr>
          <a:lstStyle/>
          <a:p>
            <a:r>
              <a:rPr lang="en-US" sz="1350" dirty="0">
                <a:solidFill>
                  <a:srgbClr val="102A4C"/>
                </a:solidFill>
              </a:rPr>
              <a:t>State space: cities</a:t>
            </a:r>
            <a:endParaRPr lang="en-US" sz="1350" dirty="0"/>
          </a:p>
          <a:p>
            <a:r>
              <a:rPr lang="en-US" sz="1350" dirty="0">
                <a:solidFill>
                  <a:srgbClr val="102A4C"/>
                </a:solidFill>
              </a:rPr>
              <a:t>Initial state: Arad</a:t>
            </a:r>
            <a:endParaRPr lang="en-US" sz="1350" dirty="0"/>
          </a:p>
          <a:p>
            <a:r>
              <a:rPr lang="en-US" sz="1350" dirty="0">
                <a:solidFill>
                  <a:srgbClr val="102A4C"/>
                </a:solidFill>
              </a:rPr>
              <a:t>Goal test: current city is Bucharest</a:t>
            </a:r>
            <a:endParaRPr lang="en-US" sz="1350" dirty="0"/>
          </a:p>
          <a:p>
            <a:r>
              <a:rPr lang="en-US" sz="1350" dirty="0">
                <a:solidFill>
                  <a:srgbClr val="102A4C"/>
                </a:solidFill>
              </a:rPr>
              <a:t>Actions: drive to adjacent city</a:t>
            </a:r>
            <a:endParaRPr lang="en-US" sz="1350" dirty="0"/>
          </a:p>
          <a:p>
            <a:r>
              <a:rPr lang="en-US" sz="1350" dirty="0">
                <a:solidFill>
                  <a:srgbClr val="102A4C"/>
                </a:solidFill>
              </a:rPr>
              <a:t>Cost: road distance, time, or fuel</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Abstraction: Keep What Matters, Drop What Does Not</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68680" y="1417320"/>
            <a:ext cx="3017520" cy="502920"/>
          </a:xfrm>
          <a:prstGeom prst="roundRect">
            <a:avLst>
              <a:gd name="adj" fmla="val 14545"/>
            </a:avLst>
          </a:prstGeom>
          <a:solidFill>
            <a:srgbClr val="F7D7D7"/>
          </a:solidFill>
          <a:ln w="15240">
            <a:solidFill>
              <a:srgbClr val="9B1C1C"/>
            </a:solidFill>
          </a:ln>
        </p:spPr>
        <p:txBody>
          <a:bodyPr wrap="square" lIns="508" tIns="508" rIns="508" bIns="508" rtlCol="0" anchor="ctr">
            <a:normAutofit/>
          </a:bodyPr>
          <a:lstStyle/>
          <a:p>
            <a:pPr algn="ctr" indent="0" marL="0">
              <a:buNone/>
            </a:pPr>
            <a:r>
              <a:rPr lang="en-US" sz="1600" b="1" dirty="0">
                <a:solidFill>
                  <a:srgbClr val="9B1C1C"/>
                </a:solidFill>
              </a:rPr>
              <a:t>Too detailed</a:t>
            </a:r>
            <a:endParaRPr lang="en-US" sz="1600" dirty="0"/>
          </a:p>
        </p:txBody>
      </p:sp>
      <p:sp>
        <p:nvSpPr>
          <p:cNvPr id="8" name="Text 6"/>
          <p:cNvSpPr/>
          <p:nvPr/>
        </p:nvSpPr>
        <p:spPr>
          <a:xfrm>
            <a:off x="868680" y="2029968"/>
            <a:ext cx="3017520" cy="10972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Move right foot forward one centimeter; turn steering wheel one degree; track radio station and scenery.</a:t>
            </a:r>
            <a:endParaRPr lang="en-US" sz="1400" dirty="0"/>
          </a:p>
        </p:txBody>
      </p:sp>
      <p:sp>
        <p:nvSpPr>
          <p:cNvPr id="9" name="Text 7"/>
          <p:cNvSpPr/>
          <p:nvPr/>
        </p:nvSpPr>
        <p:spPr>
          <a:xfrm>
            <a:off x="4572000" y="1417320"/>
            <a:ext cx="301752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600" b="1" dirty="0">
                <a:solidFill>
                  <a:srgbClr val="177245"/>
                </a:solidFill>
              </a:rPr>
              <a:t>Useful abstraction</a:t>
            </a:r>
            <a:endParaRPr lang="en-US" sz="1600" dirty="0"/>
          </a:p>
        </p:txBody>
      </p:sp>
      <p:sp>
        <p:nvSpPr>
          <p:cNvPr id="10" name="Text 8"/>
          <p:cNvSpPr/>
          <p:nvPr/>
        </p:nvSpPr>
        <p:spPr>
          <a:xfrm>
            <a:off x="4572000" y="2029968"/>
            <a:ext cx="3017520" cy="1097280"/>
          </a:xfrm>
          <a:prstGeom prst="rect">
            <a:avLst/>
          </a:prstGeom>
          <a:noFill/>
          <a:ln/>
        </p:spPr>
        <p:txBody>
          <a:bodyPr wrap="square" lIns="762" tIns="762" rIns="762" bIns="762" rtlCol="0" anchor="ctr">
            <a:normAutofit/>
          </a:bodyPr>
          <a:lstStyle/>
          <a:p>
            <a:pPr algn="l" indent="0" marL="0">
              <a:buNone/>
            </a:pPr>
            <a:r>
              <a:rPr lang="en-US" sz="1400" dirty="0">
                <a:solidFill>
                  <a:srgbClr val="102A4C"/>
                </a:solidFill>
              </a:rPr>
              <a:t>Drive from Arad to Sibiu. The action is detailed enough to plan with and simple enough to execute.</a:t>
            </a:r>
            <a:endParaRPr lang="en-US" sz="1400" dirty="0"/>
          </a:p>
        </p:txBody>
      </p:sp>
      <p:sp>
        <p:nvSpPr>
          <p:cNvPr id="11" name="Text 9"/>
          <p:cNvSpPr/>
          <p:nvPr/>
        </p:nvSpPr>
        <p:spPr>
          <a:xfrm>
            <a:off x="8275320" y="1417320"/>
            <a:ext cx="301752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600" b="1" dirty="0">
                <a:solidFill>
                  <a:srgbClr val="112E5C"/>
                </a:solidFill>
              </a:rPr>
              <a:t>Good formulation</a:t>
            </a:r>
            <a:endParaRPr lang="en-US" sz="1600" dirty="0"/>
          </a:p>
        </p:txBody>
      </p:sp>
      <p:sp>
        <p:nvSpPr>
          <p:cNvPr id="12" name="Text 10"/>
          <p:cNvSpPr/>
          <p:nvPr/>
        </p:nvSpPr>
        <p:spPr>
          <a:xfrm>
            <a:off x="8275320" y="1965960"/>
            <a:ext cx="3063240" cy="1371600"/>
          </a:xfrm>
          <a:prstGeom prst="rect">
            <a:avLst/>
          </a:prstGeom>
          <a:noFill/>
          <a:ln/>
        </p:spPr>
        <p:txBody>
          <a:bodyPr wrap="square" lIns="635" tIns="635" rIns="635" bIns="635" rtlCol="0" anchor="ctr">
            <a:normAutofit/>
          </a:bodyPr>
          <a:lstStyle/>
          <a:p>
            <a:r>
              <a:rPr lang="en-US" sz="1350" dirty="0">
                <a:solidFill>
                  <a:srgbClr val="102A4C"/>
                </a:solidFill>
              </a:rPr>
              <a:t>Valid: abstract solution can be elaborated into a real solution</a:t>
            </a:r>
            <a:endParaRPr lang="en-US" sz="1350" dirty="0"/>
          </a:p>
          <a:p>
            <a:r>
              <a:rPr lang="en-US" sz="1350" dirty="0">
                <a:solidFill>
                  <a:srgbClr val="102A4C"/>
                </a:solidFill>
              </a:rPr>
              <a:t>Useful: each abstract action is easier than solving the original problem</a:t>
            </a:r>
            <a:endParaRPr lang="en-US" sz="1350" dirty="0"/>
          </a:p>
        </p:txBody>
      </p:sp>
      <p:sp>
        <p:nvSpPr>
          <p:cNvPr id="13" name="Text 11"/>
          <p:cNvSpPr/>
          <p:nvPr/>
        </p:nvSpPr>
        <p:spPr>
          <a:xfrm>
            <a:off x="1097280" y="4617720"/>
            <a:ext cx="9966960" cy="502920"/>
          </a:xfrm>
          <a:prstGeom prst="rect">
            <a:avLst/>
          </a:prstGeom>
          <a:noFill/>
          <a:ln/>
        </p:spPr>
        <p:txBody>
          <a:bodyPr wrap="square" lIns="762" tIns="762" rIns="762" bIns="762" rtlCol="0" anchor="ctr">
            <a:normAutofit/>
          </a:bodyPr>
          <a:lstStyle/>
          <a:p>
            <a:pPr algn="ctr" indent="0" marL="0">
              <a:buNone/>
            </a:pPr>
            <a:r>
              <a:rPr lang="en-US" sz="2000" b="1" dirty="0">
                <a:solidFill>
                  <a:srgbClr val="112E5C"/>
                </a:solidFill>
              </a:rPr>
              <a:t>Remove as much detail as possible while preserving validity and executable actions.</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Search Problems Are Models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463040"/>
            <a:ext cx="5029200" cy="365760"/>
          </a:xfrm>
          <a:prstGeom prst="rect">
            <a:avLst/>
          </a:prstGeom>
          <a:noFill/>
          <a:ln/>
        </p:spPr>
        <p:txBody>
          <a:bodyPr wrap="square" lIns="762" tIns="762" rIns="762" bIns="762" rtlCol="0" anchor="ctr">
            <a:normAutofit/>
          </a:bodyPr>
          <a:lstStyle/>
          <a:p>
            <a:pPr algn="l" indent="0" marL="0">
              <a:buNone/>
            </a:pPr>
            <a:r>
              <a:rPr lang="en-US" sz="2100" b="1" dirty="0">
                <a:solidFill>
                  <a:srgbClr val="102A4C"/>
                </a:solidFill>
              </a:rPr>
              <a:t>The agent does not try every plan in the real world.</a:t>
            </a:r>
            <a:endParaRPr lang="en-US" sz="2100" dirty="0"/>
          </a:p>
        </p:txBody>
      </p:sp>
      <p:sp>
        <p:nvSpPr>
          <p:cNvPr id="8" name="Text 6"/>
          <p:cNvSpPr/>
          <p:nvPr/>
        </p:nvSpPr>
        <p:spPr>
          <a:xfrm>
            <a:off x="914400" y="2148840"/>
            <a:ext cx="5029200" cy="2743200"/>
          </a:xfrm>
          <a:prstGeom prst="rect">
            <a:avLst/>
          </a:prstGeom>
          <a:noFill/>
          <a:ln/>
        </p:spPr>
        <p:txBody>
          <a:bodyPr wrap="square" lIns="635" tIns="635" rIns="635" bIns="635" rtlCol="0" anchor="ctr">
            <a:normAutofit/>
          </a:bodyPr>
          <a:lstStyle/>
          <a:p>
            <a:r>
              <a:rPr lang="en-US" sz="1600" dirty="0">
                <a:solidFill>
                  <a:srgbClr val="102A4C"/>
                </a:solidFill>
              </a:rPr>
              <a:t>The search problem is an abstract model of the environment.</a:t>
            </a:r>
            <a:endParaRPr lang="en-US" sz="1600" dirty="0"/>
          </a:p>
          <a:p>
            <a:r>
              <a:rPr lang="en-US" sz="1600" dirty="0">
                <a:solidFill>
                  <a:srgbClr val="102A4C"/>
                </a:solidFill>
              </a:rPr>
              <a:t>Planning happens “in simulation.”</a:t>
            </a:r>
            <a:endParaRPr lang="en-US" sz="1600" dirty="0"/>
          </a:p>
          <a:p>
            <a:r>
              <a:rPr lang="en-US" sz="1600" dirty="0">
                <a:solidFill>
                  <a:srgbClr val="102A4C"/>
                </a:solidFill>
              </a:rPr>
              <a:t>Your search is only as good as your model.</a:t>
            </a:r>
            <a:endParaRPr lang="en-US" sz="1600" dirty="0"/>
          </a:p>
          <a:p>
            <a:r>
              <a:rPr lang="en-US" sz="1600" dirty="0">
                <a:solidFill>
                  <a:srgbClr val="102A4C"/>
                </a:solidFill>
              </a:rPr>
              <a:t>Bad state/action/cost choices can produce bad behavior.</a:t>
            </a:r>
            <a:endParaRPr lang="en-US" sz="1600" dirty="0"/>
          </a:p>
        </p:txBody>
      </p:sp>
      <p:sp>
        <p:nvSpPr>
          <p:cNvPr id="9" name="Text 7"/>
          <p:cNvSpPr/>
          <p:nvPr/>
        </p:nvSpPr>
        <p:spPr>
          <a:xfrm>
            <a:off x="6629400" y="1645920"/>
            <a:ext cx="1920240" cy="502920"/>
          </a:xfrm>
          <a:prstGeom prst="roundRect">
            <a:avLst>
              <a:gd name="adj" fmla="val 14545"/>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Real world</a:t>
            </a:r>
            <a:endParaRPr lang="en-US" sz="1500" dirty="0"/>
          </a:p>
        </p:txBody>
      </p:sp>
      <p:sp>
        <p:nvSpPr>
          <p:cNvPr id="10" name="Text 8"/>
          <p:cNvSpPr/>
          <p:nvPr/>
        </p:nvSpPr>
        <p:spPr>
          <a:xfrm>
            <a:off x="9326880" y="1645920"/>
            <a:ext cx="192024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500" b="1" dirty="0">
                <a:solidFill>
                  <a:srgbClr val="2F7FD5"/>
                </a:solidFill>
              </a:rPr>
              <a:t>Search model</a:t>
            </a:r>
            <a:endParaRPr lang="en-US" sz="1500" dirty="0"/>
          </a:p>
        </p:txBody>
      </p:sp>
      <p:sp>
        <p:nvSpPr>
          <p:cNvPr id="11" name="Shape 9"/>
          <p:cNvSpPr/>
          <p:nvPr/>
        </p:nvSpPr>
        <p:spPr>
          <a:xfrm>
            <a:off x="8549640" y="1892808"/>
            <a:ext cx="777240" cy="0"/>
          </a:xfrm>
          <a:prstGeom prst="line">
            <a:avLst/>
          </a:prstGeom>
          <a:solidFill>
            <a:srgbClr val="FFFFFF">
              <a:alpha val="0"/>
            </a:srgbClr>
          </a:solidFill>
          <a:ln w="25400">
            <a:solidFill>
              <a:srgbClr val="F6A01A"/>
            </a:solidFill>
            <a:prstDash val="solid"/>
            <a:tailEnd type="triangle"/>
          </a:ln>
        </p:spPr>
      </p:sp>
      <p:sp>
        <p:nvSpPr>
          <p:cNvPr id="12" name="Text 10"/>
          <p:cNvSpPr/>
          <p:nvPr/>
        </p:nvSpPr>
        <p:spPr>
          <a:xfrm>
            <a:off x="6711696" y="245973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13" name="Text 11"/>
          <p:cNvSpPr/>
          <p:nvPr/>
        </p:nvSpPr>
        <p:spPr>
          <a:xfrm>
            <a:off x="7123176" y="245973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14" name="Text 12"/>
          <p:cNvSpPr/>
          <p:nvPr/>
        </p:nvSpPr>
        <p:spPr>
          <a:xfrm>
            <a:off x="7534656" y="245973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15" name="Text 13"/>
          <p:cNvSpPr/>
          <p:nvPr/>
        </p:nvSpPr>
        <p:spPr>
          <a:xfrm>
            <a:off x="7946136" y="245973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16" name="Text 14"/>
          <p:cNvSpPr/>
          <p:nvPr/>
        </p:nvSpPr>
        <p:spPr>
          <a:xfrm>
            <a:off x="6711696" y="296265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17" name="Text 15"/>
          <p:cNvSpPr/>
          <p:nvPr/>
        </p:nvSpPr>
        <p:spPr>
          <a:xfrm>
            <a:off x="7123176" y="296265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18" name="Text 16"/>
          <p:cNvSpPr/>
          <p:nvPr/>
        </p:nvSpPr>
        <p:spPr>
          <a:xfrm>
            <a:off x="7534656" y="296265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19" name="Text 17"/>
          <p:cNvSpPr/>
          <p:nvPr/>
        </p:nvSpPr>
        <p:spPr>
          <a:xfrm>
            <a:off x="7946136" y="2962656"/>
            <a:ext cx="292608" cy="292608"/>
          </a:xfrm>
          <a:prstGeom prst="ellipse">
            <a:avLst/>
          </a:prstGeom>
          <a:solidFill>
            <a:srgbClr val="FFFFFF"/>
          </a:solidFill>
          <a:ln w="15240">
            <a:solidFill>
              <a:srgbClr val="D8DEE8"/>
            </a:solidFill>
          </a:ln>
        </p:spPr>
        <p:txBody>
          <a:bodyPr wrap="square" lIns="0" tIns="0" rIns="0" bIns="0" rtlCol="0" anchor="ctr">
            <a:normAutofit/>
          </a:bodyPr>
          <a:lstStyle/>
          <a:p>
            <a:pPr algn="ctr" indent="0" marL="0">
              <a:buNone/>
            </a:pPr>
            <a:endParaRPr lang="en-US" sz="900" dirty="0"/>
          </a:p>
        </p:txBody>
      </p:sp>
      <p:sp>
        <p:nvSpPr>
          <p:cNvPr id="20" name="Text 18"/>
          <p:cNvSpPr/>
          <p:nvPr/>
        </p:nvSpPr>
        <p:spPr>
          <a:xfrm>
            <a:off x="9409176" y="2734056"/>
            <a:ext cx="292608" cy="292608"/>
          </a:xfrm>
          <a:prstGeom prst="ellipse">
            <a:avLst/>
          </a:prstGeom>
          <a:solidFill>
            <a:srgbClr val="DBF1E3"/>
          </a:solidFill>
          <a:ln w="15240">
            <a:solidFill>
              <a:srgbClr val="177245"/>
            </a:solidFill>
          </a:ln>
        </p:spPr>
        <p:txBody>
          <a:bodyPr wrap="square" lIns="0" tIns="0" rIns="0" bIns="0" rtlCol="0" anchor="ctr">
            <a:normAutofit/>
          </a:bodyPr>
          <a:lstStyle/>
          <a:p>
            <a:pPr algn="ctr" indent="0" marL="0">
              <a:buNone/>
            </a:pPr>
            <a:r>
              <a:rPr lang="en-US" sz="800" b="1" dirty="0">
                <a:solidFill>
                  <a:srgbClr val="102A4C"/>
                </a:solidFill>
              </a:rPr>
              <a:t>A</a:t>
            </a:r>
            <a:endParaRPr lang="en-US" sz="800" dirty="0"/>
          </a:p>
        </p:txBody>
      </p:sp>
      <p:sp>
        <p:nvSpPr>
          <p:cNvPr id="21" name="Shape 19"/>
          <p:cNvSpPr/>
          <p:nvPr/>
        </p:nvSpPr>
        <p:spPr>
          <a:xfrm>
            <a:off x="9555480" y="2880360"/>
            <a:ext cx="365760" cy="0"/>
          </a:xfrm>
          <a:prstGeom prst="line">
            <a:avLst/>
          </a:prstGeom>
          <a:solidFill>
            <a:srgbClr val="FFFFFF">
              <a:alpha val="0"/>
            </a:srgbClr>
          </a:solidFill>
          <a:ln w="15240">
            <a:solidFill>
              <a:srgbClr val="177245"/>
            </a:solidFill>
            <a:prstDash val="solid"/>
            <a:tailEnd type="triangle"/>
          </a:ln>
        </p:spPr>
      </p:sp>
      <p:sp>
        <p:nvSpPr>
          <p:cNvPr id="22" name="Text 20"/>
          <p:cNvSpPr/>
          <p:nvPr/>
        </p:nvSpPr>
        <p:spPr>
          <a:xfrm>
            <a:off x="9774936" y="2734056"/>
            <a:ext cx="292608" cy="292608"/>
          </a:xfrm>
          <a:prstGeom prst="ellipse">
            <a:avLst/>
          </a:prstGeom>
          <a:solidFill>
            <a:srgbClr val="DBF1E3"/>
          </a:solidFill>
          <a:ln w="15240">
            <a:solidFill>
              <a:srgbClr val="177245"/>
            </a:solidFill>
          </a:ln>
        </p:spPr>
        <p:txBody>
          <a:bodyPr wrap="square" lIns="0" tIns="0" rIns="0" bIns="0" rtlCol="0" anchor="ctr">
            <a:normAutofit/>
          </a:bodyPr>
          <a:lstStyle/>
          <a:p>
            <a:pPr algn="ctr" indent="0" marL="0">
              <a:buNone/>
            </a:pPr>
            <a:r>
              <a:rPr lang="en-US" sz="800" b="1" dirty="0">
                <a:solidFill>
                  <a:srgbClr val="102A4C"/>
                </a:solidFill>
              </a:rPr>
              <a:t>B</a:t>
            </a:r>
            <a:endParaRPr lang="en-US" sz="800" dirty="0"/>
          </a:p>
        </p:txBody>
      </p:sp>
      <p:sp>
        <p:nvSpPr>
          <p:cNvPr id="23" name="Shape 21"/>
          <p:cNvSpPr/>
          <p:nvPr/>
        </p:nvSpPr>
        <p:spPr>
          <a:xfrm>
            <a:off x="9921240" y="2880360"/>
            <a:ext cx="365760" cy="0"/>
          </a:xfrm>
          <a:prstGeom prst="line">
            <a:avLst/>
          </a:prstGeom>
          <a:solidFill>
            <a:srgbClr val="FFFFFF">
              <a:alpha val="0"/>
            </a:srgbClr>
          </a:solidFill>
          <a:ln w="15240">
            <a:solidFill>
              <a:srgbClr val="177245"/>
            </a:solidFill>
            <a:prstDash val="solid"/>
            <a:tailEnd type="triangle"/>
          </a:ln>
        </p:spPr>
      </p:sp>
      <p:sp>
        <p:nvSpPr>
          <p:cNvPr id="24" name="Text 22"/>
          <p:cNvSpPr/>
          <p:nvPr/>
        </p:nvSpPr>
        <p:spPr>
          <a:xfrm>
            <a:off x="10140696" y="2734056"/>
            <a:ext cx="292608" cy="292608"/>
          </a:xfrm>
          <a:prstGeom prst="ellipse">
            <a:avLst/>
          </a:prstGeom>
          <a:solidFill>
            <a:srgbClr val="DBF1E3"/>
          </a:solidFill>
          <a:ln w="15240">
            <a:solidFill>
              <a:srgbClr val="177245"/>
            </a:solidFill>
          </a:ln>
        </p:spPr>
        <p:txBody>
          <a:bodyPr wrap="square" lIns="0" tIns="0" rIns="0" bIns="0" rtlCol="0" anchor="ctr">
            <a:normAutofit/>
          </a:bodyPr>
          <a:lstStyle/>
          <a:p>
            <a:pPr algn="ctr" indent="0" marL="0">
              <a:buNone/>
            </a:pPr>
            <a:r>
              <a:rPr lang="en-US" sz="800" b="1" dirty="0">
                <a:solidFill>
                  <a:srgbClr val="102A4C"/>
                </a:solidFill>
              </a:rPr>
              <a:t>C</a:t>
            </a:r>
            <a:endParaRPr lang="en-US" sz="800" dirty="0"/>
          </a:p>
        </p:txBody>
      </p:sp>
      <p:sp>
        <p:nvSpPr>
          <p:cNvPr id="25" name="Shape 23"/>
          <p:cNvSpPr/>
          <p:nvPr/>
        </p:nvSpPr>
        <p:spPr>
          <a:xfrm>
            <a:off x="10287000" y="2880360"/>
            <a:ext cx="365760" cy="0"/>
          </a:xfrm>
          <a:prstGeom prst="line">
            <a:avLst/>
          </a:prstGeom>
          <a:solidFill>
            <a:srgbClr val="FFFFFF">
              <a:alpha val="0"/>
            </a:srgbClr>
          </a:solidFill>
          <a:ln w="15240">
            <a:solidFill>
              <a:srgbClr val="177245"/>
            </a:solidFill>
            <a:prstDash val="solid"/>
            <a:tailEnd type="triangle"/>
          </a:ln>
        </p:spPr>
      </p:sp>
      <p:sp>
        <p:nvSpPr>
          <p:cNvPr id="26" name="Text 24"/>
          <p:cNvSpPr/>
          <p:nvPr/>
        </p:nvSpPr>
        <p:spPr>
          <a:xfrm>
            <a:off x="10506456" y="2734056"/>
            <a:ext cx="292608" cy="292608"/>
          </a:xfrm>
          <a:prstGeom prst="ellipse">
            <a:avLst/>
          </a:prstGeom>
          <a:solidFill>
            <a:srgbClr val="DBF1E3"/>
          </a:solidFill>
          <a:ln w="15240">
            <a:solidFill>
              <a:srgbClr val="177245"/>
            </a:solidFill>
          </a:ln>
        </p:spPr>
        <p:txBody>
          <a:bodyPr wrap="square" lIns="0" tIns="0" rIns="0" bIns="0" rtlCol="0" anchor="ctr">
            <a:normAutofit/>
          </a:bodyPr>
          <a:lstStyle/>
          <a:p>
            <a:pPr algn="ctr" indent="0" marL="0">
              <a:buNone/>
            </a:pPr>
            <a:r>
              <a:rPr lang="en-US" sz="800" b="1" dirty="0">
                <a:solidFill>
                  <a:srgbClr val="102A4C"/>
                </a:solidFill>
              </a:rPr>
              <a:t>D</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Section 3.2: Example Search Problems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508760"/>
            <a:ext cx="5029200" cy="530352"/>
          </a:xfrm>
          <a:prstGeom prst="roundRect">
            <a:avLst>
              <a:gd name="adj" fmla="val 13793"/>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700" b="1" dirty="0">
                <a:solidFill>
                  <a:srgbClr val="2F7FD5"/>
                </a:solidFill>
              </a:rPr>
              <a:t>Standardized problems</a:t>
            </a:r>
            <a:endParaRPr lang="en-US" sz="1700" dirty="0"/>
          </a:p>
        </p:txBody>
      </p:sp>
      <p:sp>
        <p:nvSpPr>
          <p:cNvPr id="8" name="Text 6"/>
          <p:cNvSpPr/>
          <p:nvPr/>
        </p:nvSpPr>
        <p:spPr>
          <a:xfrm>
            <a:off x="1051560" y="2331720"/>
            <a:ext cx="4572000" cy="91440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Grid worlds, vacuum world, Sokoban, sliding-tile puzzles, Knuth’s 4 problem</a:t>
            </a:r>
            <a:endParaRPr lang="en-US" sz="1600" dirty="0"/>
          </a:p>
        </p:txBody>
      </p:sp>
      <p:sp>
        <p:nvSpPr>
          <p:cNvPr id="9" name="Text 7"/>
          <p:cNvSpPr/>
          <p:nvPr/>
        </p:nvSpPr>
        <p:spPr>
          <a:xfrm>
            <a:off x="1051560" y="3657600"/>
            <a:ext cx="4572000" cy="594360"/>
          </a:xfrm>
          <a:prstGeom prst="rect">
            <a:avLst/>
          </a:prstGeom>
          <a:noFill/>
          <a:ln/>
        </p:spPr>
        <p:txBody>
          <a:bodyPr wrap="square" lIns="762" tIns="762" rIns="762" bIns="762" rtlCol="0" anchor="ctr">
            <a:normAutofit/>
          </a:bodyPr>
          <a:lstStyle/>
          <a:p>
            <a:pPr algn="ctr" indent="0" marL="0">
              <a:buNone/>
            </a:pPr>
            <a:r>
              <a:rPr lang="en-US" sz="1400" dirty="0">
                <a:solidFill>
                  <a:srgbClr val="5C6B80"/>
                </a:solidFill>
              </a:rPr>
              <a:t>designed for precise algorithm comparison</a:t>
            </a:r>
            <a:endParaRPr lang="en-US" sz="1400" dirty="0"/>
          </a:p>
        </p:txBody>
      </p:sp>
      <p:sp>
        <p:nvSpPr>
          <p:cNvPr id="10" name="Text 8"/>
          <p:cNvSpPr/>
          <p:nvPr/>
        </p:nvSpPr>
        <p:spPr>
          <a:xfrm>
            <a:off x="6400800" y="1508760"/>
            <a:ext cx="5029200" cy="530352"/>
          </a:xfrm>
          <a:prstGeom prst="roundRect">
            <a:avLst>
              <a:gd name="adj" fmla="val 13793"/>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700" b="1" dirty="0">
                <a:solidFill>
                  <a:srgbClr val="177245"/>
                </a:solidFill>
              </a:rPr>
              <a:t>Real-world problems</a:t>
            </a:r>
            <a:endParaRPr lang="en-US" sz="1700" dirty="0"/>
          </a:p>
        </p:txBody>
      </p:sp>
      <p:sp>
        <p:nvSpPr>
          <p:cNvPr id="11" name="Text 9"/>
          <p:cNvSpPr/>
          <p:nvPr/>
        </p:nvSpPr>
        <p:spPr>
          <a:xfrm>
            <a:off x="6629400" y="2331720"/>
            <a:ext cx="4572000" cy="91440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Route finding, airline planning, TSP, VLSI layout, robot navigation, assembly sequencing</a:t>
            </a:r>
            <a:endParaRPr lang="en-US" sz="1600" dirty="0"/>
          </a:p>
        </p:txBody>
      </p:sp>
      <p:sp>
        <p:nvSpPr>
          <p:cNvPr id="12" name="Text 10"/>
          <p:cNvSpPr/>
          <p:nvPr/>
        </p:nvSpPr>
        <p:spPr>
          <a:xfrm>
            <a:off x="6629400" y="3657600"/>
            <a:ext cx="4572000" cy="594360"/>
          </a:xfrm>
          <a:prstGeom prst="rect">
            <a:avLst/>
          </a:prstGeom>
          <a:noFill/>
          <a:ln/>
        </p:spPr>
        <p:txBody>
          <a:bodyPr wrap="square" lIns="762" tIns="762" rIns="762" bIns="762" rtlCol="0" anchor="ctr">
            <a:normAutofit/>
          </a:bodyPr>
          <a:lstStyle/>
          <a:p>
            <a:pPr algn="ctr" indent="0" marL="0">
              <a:buNone/>
            </a:pPr>
            <a:r>
              <a:rPr lang="en-US" sz="1400" dirty="0">
                <a:solidFill>
                  <a:srgbClr val="5C6B80"/>
                </a:solidFill>
              </a:rPr>
              <a:t>messy sensors, constraints, costs, and failure modes</a:t>
            </a:r>
            <a:endParaRPr lang="en-US" sz="1400" dirty="0"/>
          </a:p>
        </p:txBody>
      </p:sp>
      <p:sp>
        <p:nvSpPr>
          <p:cNvPr id="13" name="Text 11"/>
          <p:cNvSpPr/>
          <p:nvPr/>
        </p:nvSpPr>
        <p:spPr>
          <a:xfrm>
            <a:off x="914400" y="5166360"/>
            <a:ext cx="10332720" cy="384048"/>
          </a:xfrm>
          <a:prstGeom prst="rect">
            <a:avLst/>
          </a:prstGeom>
          <a:noFill/>
          <a:ln/>
        </p:spPr>
        <p:txBody>
          <a:bodyPr wrap="square" lIns="762" tIns="762" rIns="762" bIns="762" rtlCol="0" anchor="ctr">
            <a:normAutofit/>
          </a:bodyPr>
          <a:lstStyle/>
          <a:p>
            <a:pPr algn="ctr" indent="0" marL="0">
              <a:buNone/>
            </a:pPr>
            <a:r>
              <a:rPr lang="en-US" sz="1800" b="1" dirty="0">
                <a:solidFill>
                  <a:srgbClr val="112E5C"/>
                </a:solidFill>
              </a:rPr>
              <a:t>Benchmarking teaches algorithms; formulation determines whether algorithms help in practice.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State Space Size: Small Rules, Large Spaces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68680" y="1417320"/>
            <a:ext cx="3291840" cy="502920"/>
          </a:xfrm>
          <a:prstGeom prst="roundRect">
            <a:avLst>
              <a:gd name="adj" fmla="val 14545"/>
            </a:avLst>
          </a:prstGeom>
          <a:solidFill>
            <a:srgbClr val="D9E9FF"/>
          </a:solidFill>
          <a:ln w="15240">
            <a:solidFill>
              <a:srgbClr val="112E5C"/>
            </a:solidFill>
          </a:ln>
        </p:spPr>
        <p:txBody>
          <a:bodyPr wrap="square" lIns="508" tIns="508" rIns="508" bIns="508" rtlCol="0" anchor="ctr">
            <a:normAutofit/>
          </a:bodyPr>
          <a:lstStyle/>
          <a:p>
            <a:pPr algn="ctr" indent="0" marL="0">
              <a:buNone/>
            </a:pPr>
            <a:r>
              <a:rPr lang="en-US" sz="1600" b="1" dirty="0">
                <a:solidFill>
                  <a:srgbClr val="112E5C"/>
                </a:solidFill>
              </a:rPr>
              <a:t>Two-cell vacuum world</a:t>
            </a:r>
            <a:endParaRPr lang="en-US" sz="1600" dirty="0"/>
          </a:p>
        </p:txBody>
      </p:sp>
      <p:sp>
        <p:nvSpPr>
          <p:cNvPr id="8" name="Text 6"/>
          <p:cNvSpPr/>
          <p:nvPr/>
        </p:nvSpPr>
        <p:spPr>
          <a:xfrm>
            <a:off x="868680" y="2011680"/>
            <a:ext cx="3291840" cy="777240"/>
          </a:xfrm>
          <a:prstGeom prst="rect">
            <a:avLst/>
          </a:prstGeom>
          <a:noFill/>
          <a:ln/>
        </p:spPr>
        <p:txBody>
          <a:bodyPr wrap="square" lIns="762" tIns="762" rIns="762" bIns="762" rtlCol="0" anchor="ctr">
            <a:normAutofit/>
          </a:bodyPr>
          <a:lstStyle/>
          <a:p>
            <a:pPr algn="ctr" indent="0" marL="0">
              <a:buNone/>
            </a:pPr>
            <a:r>
              <a:rPr lang="en-US" sz="1700" b="1" dirty="0">
                <a:solidFill>
                  <a:srgbClr val="102A4C"/>
                </a:solidFill>
              </a:rPr>
              <a:t>2 locations × dirt in A × dirt in B = 2 × 2 × 2 = 8 states</a:t>
            </a:r>
            <a:endParaRPr lang="en-US" sz="1700" dirty="0"/>
          </a:p>
        </p:txBody>
      </p:sp>
      <p:sp>
        <p:nvSpPr>
          <p:cNvPr id="9" name="Text 7"/>
          <p:cNvSpPr/>
          <p:nvPr/>
        </p:nvSpPr>
        <p:spPr>
          <a:xfrm>
            <a:off x="4480560" y="1417320"/>
            <a:ext cx="329184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600" b="1" dirty="0">
                <a:solidFill>
                  <a:srgbClr val="177245"/>
                </a:solidFill>
              </a:rPr>
              <a:t>n-cell vacuum world</a:t>
            </a:r>
            <a:endParaRPr lang="en-US" sz="1600" dirty="0"/>
          </a:p>
        </p:txBody>
      </p:sp>
      <p:sp>
        <p:nvSpPr>
          <p:cNvPr id="10" name="Text 8"/>
          <p:cNvSpPr/>
          <p:nvPr/>
        </p:nvSpPr>
        <p:spPr>
          <a:xfrm>
            <a:off x="4480560" y="2011680"/>
            <a:ext cx="3291840" cy="777240"/>
          </a:xfrm>
          <a:prstGeom prst="rect">
            <a:avLst/>
          </a:prstGeom>
          <a:noFill/>
          <a:ln/>
        </p:spPr>
        <p:txBody>
          <a:bodyPr wrap="square" lIns="762" tIns="762" rIns="762" bIns="762" rtlCol="0" anchor="ctr">
            <a:normAutofit/>
          </a:bodyPr>
          <a:lstStyle/>
          <a:p>
            <a:pPr algn="ctr" indent="0" marL="0">
              <a:buNone/>
            </a:pPr>
            <a:r>
              <a:rPr lang="en-US" sz="1700" b="1" dirty="0">
                <a:solidFill>
                  <a:srgbClr val="102A4C"/>
                </a:solidFill>
              </a:rPr>
              <a:t>n possible locations × 2ⁿ dirt configurations = n·2ⁿ states</a:t>
            </a:r>
            <a:endParaRPr lang="en-US" sz="1700" dirty="0"/>
          </a:p>
        </p:txBody>
      </p:sp>
      <p:sp>
        <p:nvSpPr>
          <p:cNvPr id="11" name="Text 9"/>
          <p:cNvSpPr/>
          <p:nvPr/>
        </p:nvSpPr>
        <p:spPr>
          <a:xfrm>
            <a:off x="8092440" y="1417320"/>
            <a:ext cx="3291840" cy="502920"/>
          </a:xfrm>
          <a:prstGeom prst="roundRect">
            <a:avLst>
              <a:gd name="adj" fmla="val 14545"/>
            </a:avLst>
          </a:prstGeom>
          <a:solidFill>
            <a:srgbClr val="FFE5B6"/>
          </a:solidFill>
          <a:ln w="15240">
            <a:solidFill>
              <a:srgbClr val="F6A01A"/>
            </a:solidFill>
          </a:ln>
        </p:spPr>
        <p:txBody>
          <a:bodyPr wrap="square" lIns="508" tIns="508" rIns="508" bIns="508" rtlCol="0" anchor="ctr">
            <a:normAutofit/>
          </a:bodyPr>
          <a:lstStyle/>
          <a:p>
            <a:pPr algn="ctr" indent="0" marL="0">
              <a:buNone/>
            </a:pPr>
            <a:r>
              <a:rPr lang="en-US" sz="1600" b="1" dirty="0">
                <a:solidFill>
                  <a:srgbClr val="112E5C"/>
                </a:solidFill>
              </a:rPr>
              <a:t>Search design lesson</a:t>
            </a:r>
            <a:endParaRPr lang="en-US" sz="1600" dirty="0"/>
          </a:p>
        </p:txBody>
      </p:sp>
      <p:sp>
        <p:nvSpPr>
          <p:cNvPr id="12" name="Text 10"/>
          <p:cNvSpPr/>
          <p:nvPr/>
        </p:nvSpPr>
        <p:spPr>
          <a:xfrm>
            <a:off x="8092440" y="2011680"/>
            <a:ext cx="3291840" cy="777240"/>
          </a:xfrm>
          <a:prstGeom prst="rect">
            <a:avLst/>
          </a:prstGeom>
          <a:noFill/>
          <a:ln/>
        </p:spPr>
        <p:txBody>
          <a:bodyPr wrap="square" lIns="762" tIns="762" rIns="762" bIns="762" rtlCol="0" anchor="ctr">
            <a:normAutofit/>
          </a:bodyPr>
          <a:lstStyle/>
          <a:p>
            <a:pPr algn="ctr" indent="0" marL="0">
              <a:buNone/>
            </a:pPr>
            <a:r>
              <a:rPr lang="en-US" sz="1600" b="1" dirty="0">
                <a:solidFill>
                  <a:srgbClr val="102A4C"/>
                </a:solidFill>
              </a:rPr>
              <a:t>Include only state variables needed for planning. Extra variables multiply the state space.</a:t>
            </a:r>
            <a:endParaRPr lang="en-US" sz="1600" dirty="0"/>
          </a:p>
        </p:txBody>
      </p:sp>
      <p:sp>
        <p:nvSpPr>
          <p:cNvPr id="13" name="Text 11"/>
          <p:cNvSpPr/>
          <p:nvPr/>
        </p:nvSpPr>
        <p:spPr>
          <a:xfrm>
            <a:off x="914400" y="4343400"/>
            <a:ext cx="10241280" cy="457200"/>
          </a:xfrm>
          <a:prstGeom prst="rect">
            <a:avLst/>
          </a:prstGeom>
          <a:noFill/>
          <a:ln/>
        </p:spPr>
        <p:txBody>
          <a:bodyPr wrap="square" lIns="762" tIns="762" rIns="762" bIns="762" rtlCol="0" anchor="ctr">
            <a:normAutofit/>
          </a:bodyPr>
          <a:lstStyle/>
          <a:p>
            <a:pPr algn="ctr" indent="0" marL="0">
              <a:buNone/>
            </a:pPr>
            <a:r>
              <a:rPr lang="en-US" sz="2000" b="1" dirty="0">
                <a:solidFill>
                  <a:srgbClr val="112E5C"/>
                </a:solidFill>
              </a:rPr>
              <a:t>Even simple environments grow quickly once location and object configurations are included.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What Goes Into the Search State?</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68680" y="1417320"/>
            <a:ext cx="4389120" cy="530352"/>
          </a:xfrm>
          <a:prstGeom prst="roundRect">
            <a:avLst>
              <a:gd name="adj" fmla="val 13793"/>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800" b="1" dirty="0">
                <a:solidFill>
                  <a:srgbClr val="2F7FD5"/>
                </a:solidFill>
              </a:rPr>
              <a:t>World state</a:t>
            </a:r>
            <a:endParaRPr lang="en-US" sz="1800" dirty="0"/>
          </a:p>
        </p:txBody>
      </p:sp>
      <p:sp>
        <p:nvSpPr>
          <p:cNvPr id="8" name="Text 6"/>
          <p:cNvSpPr/>
          <p:nvPr/>
        </p:nvSpPr>
        <p:spPr>
          <a:xfrm>
            <a:off x="1005840" y="2148840"/>
            <a:ext cx="4114800" cy="141732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Every last detail of the environment: agent location, dot status, ghost locations, orientation, timers, hidden variables, and irrelevant facts.</a:t>
            </a:r>
            <a:endParaRPr lang="en-US" sz="1600" dirty="0"/>
          </a:p>
        </p:txBody>
      </p:sp>
      <p:sp>
        <p:nvSpPr>
          <p:cNvPr id="9" name="Text 7"/>
          <p:cNvSpPr/>
          <p:nvPr/>
        </p:nvSpPr>
        <p:spPr>
          <a:xfrm>
            <a:off x="6903720" y="1417320"/>
            <a:ext cx="4389120" cy="530352"/>
          </a:xfrm>
          <a:prstGeom prst="roundRect">
            <a:avLst>
              <a:gd name="adj" fmla="val 13793"/>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800" b="1" dirty="0">
                <a:solidFill>
                  <a:srgbClr val="177245"/>
                </a:solidFill>
              </a:rPr>
              <a:t>Search state</a:t>
            </a:r>
            <a:endParaRPr lang="en-US" sz="1800" dirty="0"/>
          </a:p>
        </p:txBody>
      </p:sp>
      <p:sp>
        <p:nvSpPr>
          <p:cNvPr id="10" name="Text 8"/>
          <p:cNvSpPr/>
          <p:nvPr/>
        </p:nvSpPr>
        <p:spPr>
          <a:xfrm>
            <a:off x="7040880" y="2148840"/>
            <a:ext cx="4114800" cy="141732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Only the details needed for planning. Abstraction makes search possible by removing irrelevant detail.</a:t>
            </a:r>
            <a:endParaRPr lang="en-US" sz="1600" dirty="0"/>
          </a:p>
        </p:txBody>
      </p:sp>
      <p:sp>
        <p:nvSpPr>
          <p:cNvPr id="11" name="Shape 9"/>
          <p:cNvSpPr/>
          <p:nvPr/>
        </p:nvSpPr>
        <p:spPr>
          <a:xfrm>
            <a:off x="5440680" y="2468880"/>
            <a:ext cx="1280160" cy="0"/>
          </a:xfrm>
          <a:prstGeom prst="line">
            <a:avLst/>
          </a:prstGeom>
          <a:solidFill>
            <a:srgbClr val="FFFFFF">
              <a:alpha val="0"/>
            </a:srgbClr>
          </a:solidFill>
          <a:ln w="31750">
            <a:solidFill>
              <a:srgbClr val="F6A01A"/>
            </a:solidFill>
            <a:prstDash val="solid"/>
            <a:tailEnd type="triangle"/>
          </a:ln>
        </p:spPr>
      </p:sp>
      <p:sp>
        <p:nvSpPr>
          <p:cNvPr id="12" name="Text 10"/>
          <p:cNvSpPr/>
          <p:nvPr/>
        </p:nvSpPr>
        <p:spPr>
          <a:xfrm>
            <a:off x="960120" y="4251960"/>
            <a:ext cx="2834640" cy="457200"/>
          </a:xfrm>
          <a:prstGeom prst="roundRect">
            <a:avLst>
              <a:gd name="adj" fmla="val 16000"/>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Pathing</a:t>
            </a:r>
            <a:endParaRPr lang="en-US" sz="1500" dirty="0"/>
          </a:p>
        </p:txBody>
      </p:sp>
      <p:sp>
        <p:nvSpPr>
          <p:cNvPr id="13" name="Text 11"/>
          <p:cNvSpPr/>
          <p:nvPr/>
        </p:nvSpPr>
        <p:spPr>
          <a:xfrm>
            <a:off x="1143000" y="4800600"/>
            <a:ext cx="2468880" cy="411480"/>
          </a:xfrm>
          <a:prstGeom prst="rect">
            <a:avLst/>
          </a:prstGeom>
          <a:noFill/>
          <a:ln/>
        </p:spPr>
        <p:txBody>
          <a:bodyPr wrap="square" lIns="762" tIns="762" rIns="762" bIns="762" rtlCol="0" anchor="ctr">
            <a:normAutofit/>
          </a:bodyPr>
          <a:lstStyle/>
          <a:p>
            <a:pPr algn="ctr" indent="0" marL="0">
              <a:buNone/>
            </a:pPr>
            <a:r>
              <a:rPr lang="en-US" sz="1350" dirty="0">
                <a:solidFill>
                  <a:srgbClr val="5C6B80"/>
                </a:solidFill>
              </a:rPr>
              <a:t>position only</a:t>
            </a:r>
            <a:endParaRPr lang="en-US" sz="1350" dirty="0"/>
          </a:p>
        </p:txBody>
      </p:sp>
      <p:sp>
        <p:nvSpPr>
          <p:cNvPr id="14" name="Text 12"/>
          <p:cNvSpPr/>
          <p:nvPr/>
        </p:nvSpPr>
        <p:spPr>
          <a:xfrm>
            <a:off x="4663440" y="4251960"/>
            <a:ext cx="2834640" cy="457200"/>
          </a:xfrm>
          <a:prstGeom prst="roundRect">
            <a:avLst>
              <a:gd name="adj" fmla="val 16000"/>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Eat-all-dots</a:t>
            </a:r>
            <a:endParaRPr lang="en-US" sz="1500" dirty="0"/>
          </a:p>
        </p:txBody>
      </p:sp>
      <p:sp>
        <p:nvSpPr>
          <p:cNvPr id="15" name="Text 13"/>
          <p:cNvSpPr/>
          <p:nvPr/>
        </p:nvSpPr>
        <p:spPr>
          <a:xfrm>
            <a:off x="4846320" y="4800600"/>
            <a:ext cx="2468880" cy="411480"/>
          </a:xfrm>
          <a:prstGeom prst="rect">
            <a:avLst/>
          </a:prstGeom>
          <a:noFill/>
          <a:ln/>
        </p:spPr>
        <p:txBody>
          <a:bodyPr wrap="square" lIns="762" tIns="762" rIns="762" bIns="762" rtlCol="0" anchor="ctr">
            <a:normAutofit/>
          </a:bodyPr>
          <a:lstStyle/>
          <a:p>
            <a:pPr algn="ctr" indent="0" marL="0">
              <a:buNone/>
            </a:pPr>
            <a:r>
              <a:rPr lang="en-US" sz="1350" dirty="0">
                <a:solidFill>
                  <a:srgbClr val="5C6B80"/>
                </a:solidFill>
              </a:rPr>
              <a:t>position + dot booleans</a:t>
            </a:r>
            <a:endParaRPr lang="en-US" sz="1350" dirty="0"/>
          </a:p>
        </p:txBody>
      </p:sp>
      <p:sp>
        <p:nvSpPr>
          <p:cNvPr id="16" name="Text 14"/>
          <p:cNvSpPr/>
          <p:nvPr/>
        </p:nvSpPr>
        <p:spPr>
          <a:xfrm>
            <a:off x="8366760" y="4251960"/>
            <a:ext cx="2834640" cy="457200"/>
          </a:xfrm>
          <a:prstGeom prst="roundRect">
            <a:avLst>
              <a:gd name="adj" fmla="val 16000"/>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500" b="1" dirty="0">
                <a:solidFill>
                  <a:srgbClr val="112E5C"/>
                </a:solidFill>
              </a:rPr>
              <a:t>Safe passage</a:t>
            </a:r>
            <a:endParaRPr lang="en-US" sz="1500" dirty="0"/>
          </a:p>
        </p:txBody>
      </p:sp>
      <p:sp>
        <p:nvSpPr>
          <p:cNvPr id="17" name="Text 15"/>
          <p:cNvSpPr/>
          <p:nvPr/>
        </p:nvSpPr>
        <p:spPr>
          <a:xfrm>
            <a:off x="8549640" y="4800600"/>
            <a:ext cx="2468880" cy="411480"/>
          </a:xfrm>
          <a:prstGeom prst="rect">
            <a:avLst/>
          </a:prstGeom>
          <a:noFill/>
          <a:ln/>
        </p:spPr>
        <p:txBody>
          <a:bodyPr wrap="square" lIns="762" tIns="762" rIns="762" bIns="762" rtlCol="0" anchor="ctr">
            <a:normAutofit/>
          </a:bodyPr>
          <a:lstStyle/>
          <a:p>
            <a:pPr algn="ctr" indent="0" marL="0">
              <a:buNone/>
            </a:pPr>
            <a:r>
              <a:rPr lang="en-US" sz="1350" dirty="0">
                <a:solidFill>
                  <a:srgbClr val="5C6B80"/>
                </a:solidFill>
              </a:rPr>
              <a:t>position + dots + power pellets + scared timer</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2E5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12E5C"/>
          </a:solidFill>
          <a:ln w="12700">
            <a:solidFill>
              <a:srgbClr val="112E5C"/>
            </a:solidFill>
            <a:prstDash val="solid"/>
          </a:ln>
        </p:spPr>
      </p:sp>
      <p:sp>
        <p:nvSpPr>
          <p:cNvPr id="3" name="Shape 1"/>
          <p:cNvSpPr/>
          <p:nvPr/>
        </p:nvSpPr>
        <p:spPr>
          <a:xfrm>
            <a:off x="0" y="5440680"/>
            <a:ext cx="12191695" cy="109728"/>
          </a:xfrm>
          <a:prstGeom prst="rect">
            <a:avLst/>
          </a:prstGeom>
          <a:solidFill>
            <a:srgbClr val="F6A01A"/>
          </a:solidFill>
          <a:ln w="12700">
            <a:solidFill>
              <a:srgbClr val="F6A01A"/>
            </a:solidFill>
            <a:prstDash val="solid"/>
          </a:ln>
        </p:spPr>
      </p:sp>
      <p:sp>
        <p:nvSpPr>
          <p:cNvPr id="4" name="Text 2"/>
          <p:cNvSpPr/>
          <p:nvPr/>
        </p:nvSpPr>
        <p:spPr>
          <a:xfrm>
            <a:off x="914400" y="2240280"/>
            <a:ext cx="10332720" cy="502920"/>
          </a:xfrm>
          <a:prstGeom prst="rect">
            <a:avLst/>
          </a:prstGeom>
          <a:noFill/>
          <a:ln/>
        </p:spPr>
        <p:txBody>
          <a:bodyPr wrap="square" lIns="762" tIns="762" rIns="762" bIns="762" rtlCol="0" anchor="ctr">
            <a:normAutofit/>
          </a:bodyPr>
          <a:lstStyle/>
          <a:p>
            <a:pPr algn="ctr" indent="0" marL="0">
              <a:buNone/>
            </a:pPr>
            <a:r>
              <a:rPr lang="en-US" sz="3600" b="1" dirty="0">
                <a:solidFill>
                  <a:srgbClr val="FFFFFF"/>
                </a:solidFill>
              </a:rPr>
              <a:t>Section 3.3</a:t>
            </a:r>
            <a:endParaRPr lang="en-US" sz="3600" dirty="0"/>
          </a:p>
        </p:txBody>
      </p:sp>
      <p:sp>
        <p:nvSpPr>
          <p:cNvPr id="5" name="Text 3"/>
          <p:cNvSpPr/>
          <p:nvPr/>
        </p:nvSpPr>
        <p:spPr>
          <a:xfrm>
            <a:off x="914400" y="2971800"/>
            <a:ext cx="10332720" cy="365760"/>
          </a:xfrm>
          <a:prstGeom prst="rect">
            <a:avLst/>
          </a:prstGeom>
          <a:noFill/>
          <a:ln/>
        </p:spPr>
        <p:txBody>
          <a:bodyPr wrap="square" lIns="762" tIns="762" rIns="762" bIns="762" rtlCol="0" anchor="ctr">
            <a:normAutofit/>
          </a:bodyPr>
          <a:lstStyle/>
          <a:p>
            <a:pPr algn="ctr" indent="0" marL="0">
              <a:buNone/>
            </a:pPr>
            <a:r>
              <a:rPr lang="en-US" sz="1700" dirty="0">
                <a:solidFill>
                  <a:srgbClr val="DCE8FF"/>
                </a:solidFill>
              </a:rPr>
              <a:t>Search Algorithms: state space, search tree, frontier, reached table</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State Space Graph vs. Search Tree</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777240" y="1325880"/>
            <a:ext cx="402336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700" b="1" dirty="0">
                <a:solidFill>
                  <a:srgbClr val="2F7FD5"/>
                </a:solidFill>
              </a:rPr>
              <a:t>State space graph</a:t>
            </a:r>
            <a:endParaRPr lang="en-US" sz="1700" dirty="0"/>
          </a:p>
        </p:txBody>
      </p:sp>
      <p:sp>
        <p:nvSpPr>
          <p:cNvPr id="8" name="Text 6"/>
          <p:cNvSpPr/>
          <p:nvPr/>
        </p:nvSpPr>
        <p:spPr>
          <a:xfrm>
            <a:off x="914400" y="1965960"/>
            <a:ext cx="3749040" cy="2377440"/>
          </a:xfrm>
          <a:prstGeom prst="rect">
            <a:avLst/>
          </a:prstGeom>
          <a:noFill/>
          <a:ln/>
        </p:spPr>
        <p:txBody>
          <a:bodyPr wrap="square" lIns="635" tIns="635" rIns="635" bIns="635" rtlCol="0" anchor="ctr">
            <a:normAutofit/>
          </a:bodyPr>
          <a:lstStyle/>
          <a:p>
            <a:r>
              <a:rPr lang="en-US" sz="1500" dirty="0">
                <a:solidFill>
                  <a:srgbClr val="102A4C"/>
                </a:solidFill>
              </a:rPr>
              <a:t>States are vertices</a:t>
            </a:r>
            <a:endParaRPr lang="en-US" sz="1500" dirty="0"/>
          </a:p>
          <a:p>
            <a:r>
              <a:rPr lang="en-US" sz="1500" dirty="0">
                <a:solidFill>
                  <a:srgbClr val="102A4C"/>
                </a:solidFill>
              </a:rPr>
              <a:t>Actions are directed edges</a:t>
            </a:r>
            <a:endParaRPr lang="en-US" sz="1500" dirty="0"/>
          </a:p>
          <a:p>
            <a:r>
              <a:rPr lang="en-US" sz="1500" dirty="0">
                <a:solidFill>
                  <a:srgbClr val="102A4C"/>
                </a:solidFill>
              </a:rPr>
              <a:t>Each state appears once</a:t>
            </a:r>
            <a:endParaRPr lang="en-US" sz="1500" dirty="0"/>
          </a:p>
          <a:p>
            <a:r>
              <a:rPr lang="en-US" sz="1500" dirty="0">
                <a:solidFill>
                  <a:srgbClr val="102A4C"/>
                </a:solidFill>
              </a:rPr>
              <a:t>Usually too large to build fully</a:t>
            </a:r>
            <a:endParaRPr lang="en-US" sz="1500" dirty="0"/>
          </a:p>
        </p:txBody>
      </p:sp>
      <p:sp>
        <p:nvSpPr>
          <p:cNvPr id="9" name="Text 7"/>
          <p:cNvSpPr/>
          <p:nvPr/>
        </p:nvSpPr>
        <p:spPr>
          <a:xfrm>
            <a:off x="7406640" y="1325880"/>
            <a:ext cx="4023360" cy="502920"/>
          </a:xfrm>
          <a:prstGeom prst="roundRect">
            <a:avLst>
              <a:gd name="adj" fmla="val 14545"/>
            </a:avLst>
          </a:prstGeom>
          <a:solidFill>
            <a:srgbClr val="FFE5B6"/>
          </a:solidFill>
          <a:ln w="15240">
            <a:solidFill>
              <a:srgbClr val="F6A01A"/>
            </a:solidFill>
          </a:ln>
        </p:spPr>
        <p:txBody>
          <a:bodyPr wrap="square" lIns="508" tIns="508" rIns="508" bIns="508" rtlCol="0" anchor="ctr">
            <a:normAutofit/>
          </a:bodyPr>
          <a:lstStyle/>
          <a:p>
            <a:pPr algn="ctr" indent="0" marL="0">
              <a:buNone/>
            </a:pPr>
            <a:r>
              <a:rPr lang="en-US" sz="1700" b="1" dirty="0">
                <a:solidFill>
                  <a:srgbClr val="112E5C"/>
                </a:solidFill>
              </a:rPr>
              <a:t>Search tree</a:t>
            </a:r>
            <a:endParaRPr lang="en-US" sz="1700" dirty="0"/>
          </a:p>
        </p:txBody>
      </p:sp>
      <p:sp>
        <p:nvSpPr>
          <p:cNvPr id="10" name="Text 8"/>
          <p:cNvSpPr/>
          <p:nvPr/>
        </p:nvSpPr>
        <p:spPr>
          <a:xfrm>
            <a:off x="7543800" y="1965960"/>
            <a:ext cx="3749040" cy="2377440"/>
          </a:xfrm>
          <a:prstGeom prst="rect">
            <a:avLst/>
          </a:prstGeom>
          <a:noFill/>
          <a:ln/>
        </p:spPr>
        <p:txBody>
          <a:bodyPr wrap="square" lIns="635" tIns="635" rIns="635" bIns="635" rtlCol="0" anchor="ctr">
            <a:normAutofit/>
          </a:bodyPr>
          <a:lstStyle/>
          <a:p>
            <a:r>
              <a:rPr lang="en-US" sz="1500" dirty="0">
                <a:solidFill>
                  <a:srgbClr val="102A4C"/>
                </a:solidFill>
              </a:rPr>
              <a:t>Nodes represent paths</a:t>
            </a:r>
            <a:endParaRPr lang="en-US" sz="1500" dirty="0"/>
          </a:p>
          <a:p>
            <a:r>
              <a:rPr lang="en-US" sz="1500" dirty="0">
                <a:solidFill>
                  <a:srgbClr val="102A4C"/>
                </a:solidFill>
              </a:rPr>
              <a:t>Root is the initial state</a:t>
            </a:r>
            <a:endParaRPr lang="en-US" sz="1500" dirty="0"/>
          </a:p>
          <a:p>
            <a:r>
              <a:rPr lang="en-US" sz="1500" dirty="0">
                <a:solidFill>
                  <a:srgbClr val="102A4C"/>
                </a:solidFill>
              </a:rPr>
              <a:t>Children are successors</a:t>
            </a:r>
            <a:endParaRPr lang="en-US" sz="1500" dirty="0"/>
          </a:p>
          <a:p>
            <a:r>
              <a:rPr lang="en-US" sz="1500" dirty="0">
                <a:solidFill>
                  <a:srgbClr val="102A4C"/>
                </a:solidFill>
              </a:rPr>
              <a:t>Same state can appear many times</a:t>
            </a:r>
            <a:endParaRPr lang="en-US" sz="1500" dirty="0"/>
          </a:p>
        </p:txBody>
      </p:sp>
      <p:sp>
        <p:nvSpPr>
          <p:cNvPr id="11" name="Shape 9"/>
          <p:cNvSpPr/>
          <p:nvPr/>
        </p:nvSpPr>
        <p:spPr>
          <a:xfrm>
            <a:off x="5074920" y="2743200"/>
            <a:ext cx="2011680" cy="0"/>
          </a:xfrm>
          <a:prstGeom prst="line">
            <a:avLst/>
          </a:prstGeom>
          <a:solidFill>
            <a:srgbClr val="FFFFFF">
              <a:alpha val="0"/>
            </a:srgbClr>
          </a:solidFill>
          <a:ln w="25400">
            <a:solidFill>
              <a:srgbClr val="5C6B80"/>
            </a:solidFill>
            <a:prstDash val="solid"/>
            <a:tailEnd type="triangle"/>
          </a:ln>
        </p:spPr>
      </p:sp>
      <p:sp>
        <p:nvSpPr>
          <p:cNvPr id="12" name="Text 10"/>
          <p:cNvSpPr/>
          <p:nvPr/>
        </p:nvSpPr>
        <p:spPr>
          <a:xfrm>
            <a:off x="2743200" y="4846320"/>
            <a:ext cx="6766560" cy="502920"/>
          </a:xfrm>
          <a:prstGeom prst="rect">
            <a:avLst/>
          </a:prstGeom>
          <a:noFill/>
          <a:ln/>
        </p:spPr>
        <p:txBody>
          <a:bodyPr wrap="square" lIns="762" tIns="762" rIns="762" bIns="762" rtlCol="0" anchor="ctr">
            <a:normAutofit/>
          </a:bodyPr>
          <a:lstStyle/>
          <a:p>
            <a:pPr algn="ctr" indent="0" marL="0">
              <a:buNone/>
            </a:pPr>
            <a:r>
              <a:rPr lang="en-US" sz="1900" b="1" dirty="0">
                <a:solidFill>
                  <a:srgbClr val="112E5C"/>
                </a:solidFill>
              </a:rPr>
              <a:t>Search overlays a tree of possible plans on top of the state-space graph.</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Build: State Space Graph</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1411834" y="2746858"/>
            <a:ext cx="746150" cy="-435254"/>
          </a:xfrm>
          <a:prstGeom prst="line">
            <a:avLst/>
          </a:prstGeom>
          <a:solidFill>
            <a:srgbClr val="FFFFFF">
              <a:alpha val="0"/>
            </a:srgbClr>
          </a:solidFill>
          <a:ln w="13970">
            <a:solidFill>
              <a:srgbClr val="5C6B80"/>
            </a:solidFill>
            <a:prstDash val="solid"/>
            <a:tailEnd type="triangle"/>
          </a:ln>
        </p:spPr>
      </p:sp>
      <p:sp>
        <p:nvSpPr>
          <p:cNvPr id="8" name="Shape 6"/>
          <p:cNvSpPr/>
          <p:nvPr/>
        </p:nvSpPr>
        <p:spPr>
          <a:xfrm>
            <a:off x="1411834" y="2746858"/>
            <a:ext cx="746150" cy="497434"/>
          </a:xfrm>
          <a:prstGeom prst="line">
            <a:avLst/>
          </a:prstGeom>
          <a:solidFill>
            <a:srgbClr val="FFFFFF">
              <a:alpha val="0"/>
            </a:srgbClr>
          </a:solidFill>
          <a:ln w="13970">
            <a:solidFill>
              <a:srgbClr val="5C6B80"/>
            </a:solidFill>
            <a:prstDash val="solid"/>
            <a:tailEnd type="triangle"/>
          </a:ln>
        </p:spPr>
      </p:sp>
      <p:sp>
        <p:nvSpPr>
          <p:cNvPr id="9" name="Shape 7"/>
          <p:cNvSpPr/>
          <p:nvPr/>
        </p:nvSpPr>
        <p:spPr>
          <a:xfrm>
            <a:off x="2157984" y="2311603"/>
            <a:ext cx="652882" cy="-341986"/>
          </a:xfrm>
          <a:prstGeom prst="line">
            <a:avLst/>
          </a:prstGeom>
          <a:solidFill>
            <a:srgbClr val="FFFFFF">
              <a:alpha val="0"/>
            </a:srgbClr>
          </a:solidFill>
          <a:ln w="13970">
            <a:solidFill>
              <a:srgbClr val="5C6B80"/>
            </a:solidFill>
            <a:prstDash val="solid"/>
            <a:tailEnd type="triangle"/>
          </a:ln>
        </p:spPr>
      </p:sp>
      <p:sp>
        <p:nvSpPr>
          <p:cNvPr id="10" name="Shape 8"/>
          <p:cNvSpPr/>
          <p:nvPr/>
        </p:nvSpPr>
        <p:spPr>
          <a:xfrm>
            <a:off x="2157984" y="2311603"/>
            <a:ext cx="808330" cy="404165"/>
          </a:xfrm>
          <a:prstGeom prst="line">
            <a:avLst/>
          </a:prstGeom>
          <a:solidFill>
            <a:srgbClr val="FFFFFF">
              <a:alpha val="0"/>
            </a:srgbClr>
          </a:solidFill>
          <a:ln w="13970">
            <a:solidFill>
              <a:srgbClr val="5C6B80"/>
            </a:solidFill>
            <a:prstDash val="solid"/>
            <a:tailEnd type="triangle"/>
          </a:ln>
        </p:spPr>
      </p:sp>
      <p:sp>
        <p:nvSpPr>
          <p:cNvPr id="11" name="Shape 9"/>
          <p:cNvSpPr/>
          <p:nvPr/>
        </p:nvSpPr>
        <p:spPr>
          <a:xfrm>
            <a:off x="2157984" y="2311603"/>
            <a:ext cx="1585570" cy="279806"/>
          </a:xfrm>
          <a:prstGeom prst="line">
            <a:avLst/>
          </a:prstGeom>
          <a:solidFill>
            <a:srgbClr val="FFFFFF">
              <a:alpha val="0"/>
            </a:srgbClr>
          </a:solidFill>
          <a:ln w="13970">
            <a:solidFill>
              <a:srgbClr val="5C6B80"/>
            </a:solidFill>
            <a:prstDash val="solid"/>
            <a:tailEnd type="triangle"/>
          </a:ln>
        </p:spPr>
      </p:sp>
      <p:sp>
        <p:nvSpPr>
          <p:cNvPr id="12" name="Shape 10"/>
          <p:cNvSpPr/>
          <p:nvPr/>
        </p:nvSpPr>
        <p:spPr>
          <a:xfrm>
            <a:off x="2810866" y="1969618"/>
            <a:ext cx="683971" cy="-217627"/>
          </a:xfrm>
          <a:prstGeom prst="line">
            <a:avLst/>
          </a:prstGeom>
          <a:solidFill>
            <a:srgbClr val="FFFFFF">
              <a:alpha val="0"/>
            </a:srgbClr>
          </a:solidFill>
          <a:ln w="13970">
            <a:solidFill>
              <a:srgbClr val="5C6B80"/>
            </a:solidFill>
            <a:prstDash val="solid"/>
            <a:tailEnd type="triangle"/>
          </a:ln>
        </p:spPr>
      </p:sp>
      <p:sp>
        <p:nvSpPr>
          <p:cNvPr id="13" name="Shape 11"/>
          <p:cNvSpPr/>
          <p:nvPr/>
        </p:nvSpPr>
        <p:spPr>
          <a:xfrm>
            <a:off x="3494837" y="1751990"/>
            <a:ext cx="-528523" cy="963778"/>
          </a:xfrm>
          <a:prstGeom prst="line">
            <a:avLst/>
          </a:prstGeom>
          <a:solidFill>
            <a:srgbClr val="FFFFFF">
              <a:alpha val="0"/>
            </a:srgbClr>
          </a:solidFill>
          <a:ln w="13970">
            <a:solidFill>
              <a:srgbClr val="5C6B80"/>
            </a:solidFill>
            <a:prstDash val="solid"/>
            <a:tailEnd type="triangle"/>
          </a:ln>
        </p:spPr>
      </p:sp>
      <p:sp>
        <p:nvSpPr>
          <p:cNvPr id="14" name="Shape 12"/>
          <p:cNvSpPr/>
          <p:nvPr/>
        </p:nvSpPr>
        <p:spPr>
          <a:xfrm>
            <a:off x="2966314" y="2715768"/>
            <a:ext cx="528523" cy="-963778"/>
          </a:xfrm>
          <a:prstGeom prst="line">
            <a:avLst/>
          </a:prstGeom>
          <a:solidFill>
            <a:srgbClr val="FFFFFF">
              <a:alpha val="0"/>
            </a:srgbClr>
          </a:solidFill>
          <a:ln w="13970">
            <a:solidFill>
              <a:srgbClr val="5C6B80"/>
            </a:solidFill>
            <a:prstDash val="solid"/>
            <a:tailEnd type="triangle"/>
          </a:ln>
        </p:spPr>
      </p:sp>
      <p:sp>
        <p:nvSpPr>
          <p:cNvPr id="15" name="Shape 13"/>
          <p:cNvSpPr/>
          <p:nvPr/>
        </p:nvSpPr>
        <p:spPr>
          <a:xfrm>
            <a:off x="2966314" y="2715768"/>
            <a:ext cx="777240" cy="-124358"/>
          </a:xfrm>
          <a:prstGeom prst="line">
            <a:avLst/>
          </a:prstGeom>
          <a:solidFill>
            <a:srgbClr val="FFFFFF">
              <a:alpha val="0"/>
            </a:srgbClr>
          </a:solidFill>
          <a:ln w="13970">
            <a:solidFill>
              <a:srgbClr val="5C6B80"/>
            </a:solidFill>
            <a:prstDash val="solid"/>
            <a:tailEnd type="triangle"/>
          </a:ln>
        </p:spPr>
      </p:sp>
      <p:sp>
        <p:nvSpPr>
          <p:cNvPr id="16" name="Shape 14"/>
          <p:cNvSpPr/>
          <p:nvPr/>
        </p:nvSpPr>
        <p:spPr>
          <a:xfrm>
            <a:off x="3743554" y="2591410"/>
            <a:ext cx="-279806" cy="683971"/>
          </a:xfrm>
          <a:prstGeom prst="line">
            <a:avLst/>
          </a:prstGeom>
          <a:solidFill>
            <a:srgbClr val="FFFFFF">
              <a:alpha val="0"/>
            </a:srgbClr>
          </a:solidFill>
          <a:ln w="13970">
            <a:solidFill>
              <a:srgbClr val="5C6B80"/>
            </a:solidFill>
            <a:prstDash val="solid"/>
            <a:tailEnd type="triangle"/>
          </a:ln>
        </p:spPr>
      </p:sp>
      <p:sp>
        <p:nvSpPr>
          <p:cNvPr id="17" name="Shape 15"/>
          <p:cNvSpPr/>
          <p:nvPr/>
        </p:nvSpPr>
        <p:spPr>
          <a:xfrm>
            <a:off x="3463747" y="3275381"/>
            <a:ext cx="-1305763" cy="-31090"/>
          </a:xfrm>
          <a:prstGeom prst="line">
            <a:avLst/>
          </a:prstGeom>
          <a:solidFill>
            <a:srgbClr val="FFFFFF">
              <a:alpha val="0"/>
            </a:srgbClr>
          </a:solidFill>
          <a:ln w="13970">
            <a:solidFill>
              <a:srgbClr val="5C6B80"/>
            </a:solidFill>
            <a:prstDash val="solid"/>
            <a:tailEnd type="triangle"/>
          </a:ln>
        </p:spPr>
      </p:sp>
      <p:sp>
        <p:nvSpPr>
          <p:cNvPr id="18" name="Shape 16"/>
          <p:cNvSpPr/>
          <p:nvPr/>
        </p:nvSpPr>
        <p:spPr>
          <a:xfrm>
            <a:off x="2157984" y="3244291"/>
            <a:ext cx="683971" cy="528523"/>
          </a:xfrm>
          <a:prstGeom prst="line">
            <a:avLst/>
          </a:prstGeom>
          <a:solidFill>
            <a:srgbClr val="FFFFFF">
              <a:alpha val="0"/>
            </a:srgbClr>
          </a:solidFill>
          <a:ln w="13970">
            <a:solidFill>
              <a:srgbClr val="5C6B80"/>
            </a:solidFill>
            <a:prstDash val="solid"/>
            <a:tailEnd type="triangle"/>
          </a:ln>
        </p:spPr>
      </p:sp>
      <p:sp>
        <p:nvSpPr>
          <p:cNvPr id="19" name="Shape 17"/>
          <p:cNvSpPr/>
          <p:nvPr/>
        </p:nvSpPr>
        <p:spPr>
          <a:xfrm>
            <a:off x="2841955" y="3772814"/>
            <a:ext cx="621792" cy="-497434"/>
          </a:xfrm>
          <a:prstGeom prst="line">
            <a:avLst/>
          </a:prstGeom>
          <a:solidFill>
            <a:srgbClr val="FFFFFF">
              <a:alpha val="0"/>
            </a:srgbClr>
          </a:solidFill>
          <a:ln w="13970">
            <a:solidFill>
              <a:srgbClr val="5C6B80"/>
            </a:solidFill>
            <a:prstDash val="solid"/>
            <a:tailEnd type="triangle"/>
          </a:ln>
        </p:spPr>
      </p:sp>
      <p:sp>
        <p:nvSpPr>
          <p:cNvPr id="20" name="Shape 18"/>
          <p:cNvSpPr/>
          <p:nvPr/>
        </p:nvSpPr>
        <p:spPr>
          <a:xfrm>
            <a:off x="3743554" y="2591410"/>
            <a:ext cx="683971" cy="715061"/>
          </a:xfrm>
          <a:prstGeom prst="line">
            <a:avLst/>
          </a:prstGeom>
          <a:solidFill>
            <a:srgbClr val="FFFFFF">
              <a:alpha val="0"/>
            </a:srgbClr>
          </a:solidFill>
          <a:ln w="13970">
            <a:solidFill>
              <a:srgbClr val="5C6B80"/>
            </a:solidFill>
            <a:prstDash val="solid"/>
            <a:tailEnd type="triangle"/>
          </a:ln>
        </p:spPr>
      </p:sp>
      <p:sp>
        <p:nvSpPr>
          <p:cNvPr id="21" name="Shape 19"/>
          <p:cNvSpPr/>
          <p:nvPr/>
        </p:nvSpPr>
        <p:spPr>
          <a:xfrm>
            <a:off x="4427525" y="3306470"/>
            <a:ext cx="590702" cy="-435254"/>
          </a:xfrm>
          <a:prstGeom prst="line">
            <a:avLst/>
          </a:prstGeom>
          <a:solidFill>
            <a:srgbClr val="FFFFFF">
              <a:alpha val="0"/>
            </a:srgbClr>
          </a:solidFill>
          <a:ln w="13970">
            <a:solidFill>
              <a:srgbClr val="5C6B80"/>
            </a:solidFill>
            <a:prstDash val="solid"/>
            <a:tailEnd type="triangle"/>
          </a:ln>
        </p:spPr>
      </p:sp>
      <p:sp>
        <p:nvSpPr>
          <p:cNvPr id="22" name="Shape 20"/>
          <p:cNvSpPr/>
          <p:nvPr/>
        </p:nvSpPr>
        <p:spPr>
          <a:xfrm>
            <a:off x="5018227" y="2871216"/>
            <a:ext cx="-2051914" cy="-155448"/>
          </a:xfrm>
          <a:prstGeom prst="line">
            <a:avLst/>
          </a:prstGeom>
          <a:solidFill>
            <a:srgbClr val="FFFFFF">
              <a:alpha val="0"/>
            </a:srgbClr>
          </a:solidFill>
          <a:ln w="13970">
            <a:solidFill>
              <a:srgbClr val="5C6B80"/>
            </a:solidFill>
            <a:prstDash val="solid"/>
            <a:tailEnd type="triangle"/>
          </a:ln>
        </p:spPr>
      </p:sp>
      <p:sp>
        <p:nvSpPr>
          <p:cNvPr id="23" name="Shape 21"/>
          <p:cNvSpPr/>
          <p:nvPr/>
        </p:nvSpPr>
        <p:spPr>
          <a:xfrm>
            <a:off x="5018227" y="2871216"/>
            <a:ext cx="528523" cy="-652882"/>
          </a:xfrm>
          <a:prstGeom prst="line">
            <a:avLst/>
          </a:prstGeom>
          <a:solidFill>
            <a:srgbClr val="FFFFFF">
              <a:alpha val="0"/>
            </a:srgbClr>
          </a:solidFill>
          <a:ln w="13970">
            <a:solidFill>
              <a:srgbClr val="5C6B80"/>
            </a:solidFill>
            <a:prstDash val="solid"/>
            <a:tailEnd type="triangle"/>
          </a:ln>
        </p:spPr>
      </p:sp>
      <p:sp>
        <p:nvSpPr>
          <p:cNvPr id="24" name="Text 22"/>
          <p:cNvSpPr/>
          <p:nvPr/>
        </p:nvSpPr>
        <p:spPr>
          <a:xfrm>
            <a:off x="1265530" y="2600554"/>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25" name="Text 23"/>
          <p:cNvSpPr/>
          <p:nvPr/>
        </p:nvSpPr>
        <p:spPr>
          <a:xfrm>
            <a:off x="2011680" y="2165299"/>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26" name="Text 24"/>
          <p:cNvSpPr/>
          <p:nvPr/>
        </p:nvSpPr>
        <p:spPr>
          <a:xfrm>
            <a:off x="2011680" y="3097987"/>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27" name="Text 25"/>
          <p:cNvSpPr/>
          <p:nvPr/>
        </p:nvSpPr>
        <p:spPr>
          <a:xfrm>
            <a:off x="2664562" y="1823314"/>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28" name="Text 26"/>
          <p:cNvSpPr/>
          <p:nvPr/>
        </p:nvSpPr>
        <p:spPr>
          <a:xfrm>
            <a:off x="2820010" y="2569464"/>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29" name="Text 27"/>
          <p:cNvSpPr/>
          <p:nvPr/>
        </p:nvSpPr>
        <p:spPr>
          <a:xfrm>
            <a:off x="3597250" y="244510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0" name="Text 28"/>
          <p:cNvSpPr/>
          <p:nvPr/>
        </p:nvSpPr>
        <p:spPr>
          <a:xfrm>
            <a:off x="3317443" y="3129077"/>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1" name="Text 29"/>
          <p:cNvSpPr/>
          <p:nvPr/>
        </p:nvSpPr>
        <p:spPr>
          <a:xfrm>
            <a:off x="2695651" y="36265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32" name="Text 30"/>
          <p:cNvSpPr/>
          <p:nvPr/>
        </p:nvSpPr>
        <p:spPr>
          <a:xfrm>
            <a:off x="3348533" y="160568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33" name="Text 31"/>
          <p:cNvSpPr/>
          <p:nvPr/>
        </p:nvSpPr>
        <p:spPr>
          <a:xfrm>
            <a:off x="4281221" y="316016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34" name="Text 32"/>
          <p:cNvSpPr/>
          <p:nvPr/>
        </p:nvSpPr>
        <p:spPr>
          <a:xfrm>
            <a:off x="4871923" y="272491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35" name="Text 33"/>
          <p:cNvSpPr/>
          <p:nvPr/>
        </p:nvSpPr>
        <p:spPr>
          <a:xfrm>
            <a:off x="5400446" y="207203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36" name="Text 34"/>
          <p:cNvSpPr/>
          <p:nvPr/>
        </p:nvSpPr>
        <p:spPr>
          <a:xfrm>
            <a:off x="6858000" y="1828800"/>
            <a:ext cx="4389120" cy="822960"/>
          </a:xfrm>
          <a:prstGeom prst="rect">
            <a:avLst/>
          </a:prstGeom>
          <a:noFill/>
          <a:ln/>
        </p:spPr>
        <p:txBody>
          <a:bodyPr wrap="square" lIns="762" tIns="762" rIns="762" bIns="762" rtlCol="0" anchor="ctr">
            <a:normAutofit/>
          </a:bodyPr>
          <a:lstStyle/>
          <a:p>
            <a:pPr algn="ctr" indent="0" marL="0">
              <a:buNone/>
            </a:pPr>
            <a:r>
              <a:rPr lang="en-US" sz="2000" b="1" dirty="0">
                <a:solidFill>
                  <a:srgbClr val="102A4C"/>
                </a:solidFill>
              </a:rPr>
              <a:t>Graph view: one node per abstract state, arcs represent action results.</a:t>
            </a:r>
            <a:endParaRPr lang="en-US" sz="2000" dirty="0"/>
          </a:p>
        </p:txBody>
      </p:sp>
      <p:sp>
        <p:nvSpPr>
          <p:cNvPr id="37" name="Text 35"/>
          <p:cNvSpPr/>
          <p:nvPr/>
        </p:nvSpPr>
        <p:spPr>
          <a:xfrm>
            <a:off x="6903720" y="3017520"/>
            <a:ext cx="4297680" cy="1097280"/>
          </a:xfrm>
          <a:prstGeom prst="rect">
            <a:avLst/>
          </a:prstGeom>
          <a:noFill/>
          <a:ln/>
        </p:spPr>
        <p:txBody>
          <a:bodyPr wrap="square" lIns="762" tIns="762" rIns="762" bIns="762" rtlCol="0" anchor="ctr">
            <a:normAutofit/>
          </a:bodyPr>
          <a:lstStyle/>
          <a:p>
            <a:pPr algn="ctr" indent="0" marL="0">
              <a:buNone/>
            </a:pPr>
            <a:r>
              <a:rPr lang="en-US" sz="1600" dirty="0">
                <a:solidFill>
                  <a:srgbClr val="5C6B80"/>
                </a:solidFill>
              </a:rPr>
              <a:t>This graph is a mathematical representation of the problem. We rarely store the whole thing in memory.</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Build: Search Tree Root and First Frontier</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1080821" y="2388413"/>
            <a:ext cx="592531" cy="-345643"/>
          </a:xfrm>
          <a:prstGeom prst="line">
            <a:avLst/>
          </a:prstGeom>
          <a:solidFill>
            <a:srgbClr val="FFFFFF">
              <a:alpha val="0"/>
            </a:srgbClr>
          </a:solidFill>
          <a:ln w="13970">
            <a:solidFill>
              <a:srgbClr val="5C6B80"/>
            </a:solidFill>
            <a:prstDash val="solid"/>
            <a:tailEnd type="triangle"/>
          </a:ln>
        </p:spPr>
      </p:sp>
      <p:sp>
        <p:nvSpPr>
          <p:cNvPr id="8" name="Shape 6"/>
          <p:cNvSpPr/>
          <p:nvPr/>
        </p:nvSpPr>
        <p:spPr>
          <a:xfrm>
            <a:off x="1080821" y="2388413"/>
            <a:ext cx="592531" cy="395021"/>
          </a:xfrm>
          <a:prstGeom prst="line">
            <a:avLst/>
          </a:prstGeom>
          <a:solidFill>
            <a:srgbClr val="FFFFFF">
              <a:alpha val="0"/>
            </a:srgbClr>
          </a:solidFill>
          <a:ln w="13970">
            <a:solidFill>
              <a:srgbClr val="5C6B80"/>
            </a:solidFill>
            <a:prstDash val="solid"/>
            <a:tailEnd type="triangle"/>
          </a:ln>
        </p:spPr>
      </p:sp>
      <p:sp>
        <p:nvSpPr>
          <p:cNvPr id="9" name="Shape 7"/>
          <p:cNvSpPr/>
          <p:nvPr/>
        </p:nvSpPr>
        <p:spPr>
          <a:xfrm>
            <a:off x="1673352" y="2042770"/>
            <a:ext cx="518465" cy="-271577"/>
          </a:xfrm>
          <a:prstGeom prst="line">
            <a:avLst/>
          </a:prstGeom>
          <a:solidFill>
            <a:srgbClr val="FFFFFF">
              <a:alpha val="0"/>
            </a:srgbClr>
          </a:solidFill>
          <a:ln w="13970">
            <a:solidFill>
              <a:srgbClr val="5C6B80"/>
            </a:solidFill>
            <a:prstDash val="solid"/>
            <a:tailEnd type="triangle"/>
          </a:ln>
        </p:spPr>
      </p:sp>
      <p:sp>
        <p:nvSpPr>
          <p:cNvPr id="10" name="Shape 8"/>
          <p:cNvSpPr/>
          <p:nvPr/>
        </p:nvSpPr>
        <p:spPr>
          <a:xfrm>
            <a:off x="1673352" y="2042770"/>
            <a:ext cx="641909" cy="320954"/>
          </a:xfrm>
          <a:prstGeom prst="line">
            <a:avLst/>
          </a:prstGeom>
          <a:solidFill>
            <a:srgbClr val="FFFFFF">
              <a:alpha val="0"/>
            </a:srgbClr>
          </a:solidFill>
          <a:ln w="13970">
            <a:solidFill>
              <a:srgbClr val="5C6B80"/>
            </a:solidFill>
            <a:prstDash val="solid"/>
            <a:tailEnd type="triangle"/>
          </a:ln>
        </p:spPr>
      </p:sp>
      <p:sp>
        <p:nvSpPr>
          <p:cNvPr id="11" name="Shape 9"/>
          <p:cNvSpPr/>
          <p:nvPr/>
        </p:nvSpPr>
        <p:spPr>
          <a:xfrm>
            <a:off x="1673352" y="2042770"/>
            <a:ext cx="1259129" cy="222199"/>
          </a:xfrm>
          <a:prstGeom prst="line">
            <a:avLst/>
          </a:prstGeom>
          <a:solidFill>
            <a:srgbClr val="FFFFFF">
              <a:alpha val="0"/>
            </a:srgbClr>
          </a:solidFill>
          <a:ln w="13970">
            <a:solidFill>
              <a:srgbClr val="5C6B80"/>
            </a:solidFill>
            <a:prstDash val="solid"/>
            <a:tailEnd type="triangle"/>
          </a:ln>
        </p:spPr>
      </p:sp>
      <p:sp>
        <p:nvSpPr>
          <p:cNvPr id="12" name="Shape 10"/>
          <p:cNvSpPr/>
          <p:nvPr/>
        </p:nvSpPr>
        <p:spPr>
          <a:xfrm>
            <a:off x="2191817" y="1771193"/>
            <a:ext cx="543154" cy="-172822"/>
          </a:xfrm>
          <a:prstGeom prst="line">
            <a:avLst/>
          </a:prstGeom>
          <a:solidFill>
            <a:srgbClr val="FFFFFF">
              <a:alpha val="0"/>
            </a:srgbClr>
          </a:solidFill>
          <a:ln w="13970">
            <a:solidFill>
              <a:srgbClr val="5C6B80"/>
            </a:solidFill>
            <a:prstDash val="solid"/>
            <a:tailEnd type="triangle"/>
          </a:ln>
        </p:spPr>
      </p:sp>
      <p:sp>
        <p:nvSpPr>
          <p:cNvPr id="13" name="Shape 11"/>
          <p:cNvSpPr/>
          <p:nvPr/>
        </p:nvSpPr>
        <p:spPr>
          <a:xfrm>
            <a:off x="2734970" y="1598371"/>
            <a:ext cx="-419710" cy="765353"/>
          </a:xfrm>
          <a:prstGeom prst="line">
            <a:avLst/>
          </a:prstGeom>
          <a:solidFill>
            <a:srgbClr val="FFFFFF">
              <a:alpha val="0"/>
            </a:srgbClr>
          </a:solidFill>
          <a:ln w="13970">
            <a:solidFill>
              <a:srgbClr val="5C6B80"/>
            </a:solidFill>
            <a:prstDash val="solid"/>
            <a:tailEnd type="triangle"/>
          </a:ln>
        </p:spPr>
      </p:sp>
      <p:sp>
        <p:nvSpPr>
          <p:cNvPr id="14" name="Shape 12"/>
          <p:cNvSpPr/>
          <p:nvPr/>
        </p:nvSpPr>
        <p:spPr>
          <a:xfrm>
            <a:off x="2315261" y="2363724"/>
            <a:ext cx="419710" cy="-765353"/>
          </a:xfrm>
          <a:prstGeom prst="line">
            <a:avLst/>
          </a:prstGeom>
          <a:solidFill>
            <a:srgbClr val="FFFFFF">
              <a:alpha val="0"/>
            </a:srgbClr>
          </a:solidFill>
          <a:ln w="13970">
            <a:solidFill>
              <a:srgbClr val="5C6B80"/>
            </a:solidFill>
            <a:prstDash val="solid"/>
            <a:tailEnd type="triangle"/>
          </a:ln>
        </p:spPr>
      </p:sp>
      <p:sp>
        <p:nvSpPr>
          <p:cNvPr id="15" name="Shape 13"/>
          <p:cNvSpPr/>
          <p:nvPr/>
        </p:nvSpPr>
        <p:spPr>
          <a:xfrm>
            <a:off x="2315261" y="2363724"/>
            <a:ext cx="617220" cy="-98755"/>
          </a:xfrm>
          <a:prstGeom prst="line">
            <a:avLst/>
          </a:prstGeom>
          <a:solidFill>
            <a:srgbClr val="FFFFFF">
              <a:alpha val="0"/>
            </a:srgbClr>
          </a:solidFill>
          <a:ln w="13970">
            <a:solidFill>
              <a:srgbClr val="5C6B80"/>
            </a:solidFill>
            <a:prstDash val="solid"/>
            <a:tailEnd type="triangle"/>
          </a:ln>
        </p:spPr>
      </p:sp>
      <p:sp>
        <p:nvSpPr>
          <p:cNvPr id="16" name="Shape 14"/>
          <p:cNvSpPr/>
          <p:nvPr/>
        </p:nvSpPr>
        <p:spPr>
          <a:xfrm>
            <a:off x="2932481" y="2264969"/>
            <a:ext cx="-222199" cy="543154"/>
          </a:xfrm>
          <a:prstGeom prst="line">
            <a:avLst/>
          </a:prstGeom>
          <a:solidFill>
            <a:srgbClr val="FFFFFF">
              <a:alpha val="0"/>
            </a:srgbClr>
          </a:solidFill>
          <a:ln w="13970">
            <a:solidFill>
              <a:srgbClr val="5C6B80"/>
            </a:solidFill>
            <a:prstDash val="solid"/>
            <a:tailEnd type="triangle"/>
          </a:ln>
        </p:spPr>
      </p:sp>
      <p:sp>
        <p:nvSpPr>
          <p:cNvPr id="17" name="Shape 15"/>
          <p:cNvSpPr/>
          <p:nvPr/>
        </p:nvSpPr>
        <p:spPr>
          <a:xfrm>
            <a:off x="2710282" y="2808122"/>
            <a:ext cx="-1036930" cy="-24689"/>
          </a:xfrm>
          <a:prstGeom prst="line">
            <a:avLst/>
          </a:prstGeom>
          <a:solidFill>
            <a:srgbClr val="FFFFFF">
              <a:alpha val="0"/>
            </a:srgbClr>
          </a:solidFill>
          <a:ln w="13970">
            <a:solidFill>
              <a:srgbClr val="5C6B80"/>
            </a:solidFill>
            <a:prstDash val="solid"/>
            <a:tailEnd type="triangle"/>
          </a:ln>
        </p:spPr>
      </p:sp>
      <p:sp>
        <p:nvSpPr>
          <p:cNvPr id="18" name="Shape 16"/>
          <p:cNvSpPr/>
          <p:nvPr/>
        </p:nvSpPr>
        <p:spPr>
          <a:xfrm>
            <a:off x="1673352" y="2783434"/>
            <a:ext cx="543154" cy="419710"/>
          </a:xfrm>
          <a:prstGeom prst="line">
            <a:avLst/>
          </a:prstGeom>
          <a:solidFill>
            <a:srgbClr val="FFFFFF">
              <a:alpha val="0"/>
            </a:srgbClr>
          </a:solidFill>
          <a:ln w="13970">
            <a:solidFill>
              <a:srgbClr val="5C6B80"/>
            </a:solidFill>
            <a:prstDash val="solid"/>
            <a:tailEnd type="triangle"/>
          </a:ln>
        </p:spPr>
      </p:sp>
      <p:sp>
        <p:nvSpPr>
          <p:cNvPr id="19" name="Shape 17"/>
          <p:cNvSpPr/>
          <p:nvPr/>
        </p:nvSpPr>
        <p:spPr>
          <a:xfrm>
            <a:off x="2216506" y="3203143"/>
            <a:ext cx="493776" cy="-395021"/>
          </a:xfrm>
          <a:prstGeom prst="line">
            <a:avLst/>
          </a:prstGeom>
          <a:solidFill>
            <a:srgbClr val="FFFFFF">
              <a:alpha val="0"/>
            </a:srgbClr>
          </a:solidFill>
          <a:ln w="13970">
            <a:solidFill>
              <a:srgbClr val="5C6B80"/>
            </a:solidFill>
            <a:prstDash val="solid"/>
            <a:tailEnd type="triangle"/>
          </a:ln>
        </p:spPr>
      </p:sp>
      <p:sp>
        <p:nvSpPr>
          <p:cNvPr id="20" name="Shape 18"/>
          <p:cNvSpPr/>
          <p:nvPr/>
        </p:nvSpPr>
        <p:spPr>
          <a:xfrm>
            <a:off x="2932481" y="2264969"/>
            <a:ext cx="543154" cy="567842"/>
          </a:xfrm>
          <a:prstGeom prst="line">
            <a:avLst/>
          </a:prstGeom>
          <a:solidFill>
            <a:srgbClr val="FFFFFF">
              <a:alpha val="0"/>
            </a:srgbClr>
          </a:solidFill>
          <a:ln w="13970">
            <a:solidFill>
              <a:srgbClr val="5C6B80"/>
            </a:solidFill>
            <a:prstDash val="solid"/>
            <a:tailEnd type="triangle"/>
          </a:ln>
        </p:spPr>
      </p:sp>
      <p:sp>
        <p:nvSpPr>
          <p:cNvPr id="21" name="Shape 19"/>
          <p:cNvSpPr/>
          <p:nvPr/>
        </p:nvSpPr>
        <p:spPr>
          <a:xfrm>
            <a:off x="3475634" y="2832811"/>
            <a:ext cx="469087" cy="-345643"/>
          </a:xfrm>
          <a:prstGeom prst="line">
            <a:avLst/>
          </a:prstGeom>
          <a:solidFill>
            <a:srgbClr val="FFFFFF">
              <a:alpha val="0"/>
            </a:srgbClr>
          </a:solidFill>
          <a:ln w="13970">
            <a:solidFill>
              <a:srgbClr val="5C6B80"/>
            </a:solidFill>
            <a:prstDash val="solid"/>
            <a:tailEnd type="triangle"/>
          </a:ln>
        </p:spPr>
      </p:sp>
      <p:sp>
        <p:nvSpPr>
          <p:cNvPr id="22" name="Shape 20"/>
          <p:cNvSpPr/>
          <p:nvPr/>
        </p:nvSpPr>
        <p:spPr>
          <a:xfrm>
            <a:off x="3944722" y="2487168"/>
            <a:ext cx="-1629461" cy="-123444"/>
          </a:xfrm>
          <a:prstGeom prst="line">
            <a:avLst/>
          </a:prstGeom>
          <a:solidFill>
            <a:srgbClr val="FFFFFF">
              <a:alpha val="0"/>
            </a:srgbClr>
          </a:solidFill>
          <a:ln w="13970">
            <a:solidFill>
              <a:srgbClr val="5C6B80"/>
            </a:solidFill>
            <a:prstDash val="solid"/>
            <a:tailEnd type="triangle"/>
          </a:ln>
        </p:spPr>
      </p:sp>
      <p:sp>
        <p:nvSpPr>
          <p:cNvPr id="23" name="Shape 21"/>
          <p:cNvSpPr/>
          <p:nvPr/>
        </p:nvSpPr>
        <p:spPr>
          <a:xfrm>
            <a:off x="3944722" y="2487168"/>
            <a:ext cx="419710" cy="-518465"/>
          </a:xfrm>
          <a:prstGeom prst="line">
            <a:avLst/>
          </a:prstGeom>
          <a:solidFill>
            <a:srgbClr val="FFFFFF">
              <a:alpha val="0"/>
            </a:srgbClr>
          </a:solidFill>
          <a:ln w="13970">
            <a:solidFill>
              <a:srgbClr val="5C6B80"/>
            </a:solidFill>
            <a:prstDash val="solid"/>
            <a:tailEnd type="triangle"/>
          </a:ln>
        </p:spPr>
      </p:sp>
      <p:sp>
        <p:nvSpPr>
          <p:cNvPr id="24" name="Text 22"/>
          <p:cNvSpPr/>
          <p:nvPr/>
        </p:nvSpPr>
        <p:spPr>
          <a:xfrm>
            <a:off x="934517" y="2242109"/>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25" name="Text 23"/>
          <p:cNvSpPr/>
          <p:nvPr/>
        </p:nvSpPr>
        <p:spPr>
          <a:xfrm>
            <a:off x="1527048" y="189646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26" name="Text 24"/>
          <p:cNvSpPr/>
          <p:nvPr/>
        </p:nvSpPr>
        <p:spPr>
          <a:xfrm>
            <a:off x="1527048" y="263713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27" name="Text 25"/>
          <p:cNvSpPr/>
          <p:nvPr/>
        </p:nvSpPr>
        <p:spPr>
          <a:xfrm>
            <a:off x="2045513" y="1624889"/>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28" name="Text 26"/>
          <p:cNvSpPr/>
          <p:nvPr/>
        </p:nvSpPr>
        <p:spPr>
          <a:xfrm>
            <a:off x="2168957" y="221742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29" name="Text 27"/>
          <p:cNvSpPr/>
          <p:nvPr/>
        </p:nvSpPr>
        <p:spPr>
          <a:xfrm>
            <a:off x="2786177" y="211866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0" name="Text 28"/>
          <p:cNvSpPr/>
          <p:nvPr/>
        </p:nvSpPr>
        <p:spPr>
          <a:xfrm>
            <a:off x="2563978" y="26618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1" name="Text 29"/>
          <p:cNvSpPr/>
          <p:nvPr/>
        </p:nvSpPr>
        <p:spPr>
          <a:xfrm>
            <a:off x="2070202" y="3056839"/>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32" name="Text 30"/>
          <p:cNvSpPr/>
          <p:nvPr/>
        </p:nvSpPr>
        <p:spPr>
          <a:xfrm>
            <a:off x="2588666" y="1452067"/>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33" name="Text 31"/>
          <p:cNvSpPr/>
          <p:nvPr/>
        </p:nvSpPr>
        <p:spPr>
          <a:xfrm>
            <a:off x="3329330" y="2686507"/>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34" name="Text 32"/>
          <p:cNvSpPr/>
          <p:nvPr/>
        </p:nvSpPr>
        <p:spPr>
          <a:xfrm>
            <a:off x="3798418" y="2340864"/>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35" name="Text 33"/>
          <p:cNvSpPr/>
          <p:nvPr/>
        </p:nvSpPr>
        <p:spPr>
          <a:xfrm>
            <a:off x="4218127" y="1822399"/>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36" name="Shape 34"/>
          <p:cNvSpPr/>
          <p:nvPr/>
        </p:nvSpPr>
        <p:spPr>
          <a:xfrm>
            <a:off x="9467698" y="1881835"/>
            <a:ext cx="-1355141" cy="641909"/>
          </a:xfrm>
          <a:prstGeom prst="line">
            <a:avLst/>
          </a:prstGeom>
          <a:solidFill>
            <a:srgbClr val="FFFFFF">
              <a:alpha val="0"/>
            </a:srgbClr>
          </a:solidFill>
          <a:ln w="13970">
            <a:solidFill>
              <a:srgbClr val="D8DEE8"/>
            </a:solidFill>
            <a:prstDash val="solid"/>
            <a:tailEnd type="none"/>
          </a:ln>
        </p:spPr>
      </p:sp>
      <p:sp>
        <p:nvSpPr>
          <p:cNvPr id="37" name="Shape 35"/>
          <p:cNvSpPr/>
          <p:nvPr/>
        </p:nvSpPr>
        <p:spPr>
          <a:xfrm>
            <a:off x="9467698" y="1881835"/>
            <a:ext cx="0" cy="641909"/>
          </a:xfrm>
          <a:prstGeom prst="line">
            <a:avLst/>
          </a:prstGeom>
          <a:solidFill>
            <a:srgbClr val="FFFFFF">
              <a:alpha val="0"/>
            </a:srgbClr>
          </a:solidFill>
          <a:ln w="13970">
            <a:solidFill>
              <a:srgbClr val="D8DEE8"/>
            </a:solidFill>
            <a:prstDash val="solid"/>
            <a:tailEnd type="none"/>
          </a:ln>
        </p:spPr>
      </p:sp>
      <p:sp>
        <p:nvSpPr>
          <p:cNvPr id="38" name="Shape 36"/>
          <p:cNvSpPr/>
          <p:nvPr/>
        </p:nvSpPr>
        <p:spPr>
          <a:xfrm>
            <a:off x="9467698" y="1881835"/>
            <a:ext cx="1355141" cy="641909"/>
          </a:xfrm>
          <a:prstGeom prst="line">
            <a:avLst/>
          </a:prstGeom>
          <a:solidFill>
            <a:srgbClr val="FFFFFF">
              <a:alpha val="0"/>
            </a:srgbClr>
          </a:solidFill>
          <a:ln w="13970">
            <a:solidFill>
              <a:srgbClr val="D8DEE8"/>
            </a:solidFill>
            <a:prstDash val="solid"/>
            <a:tailEnd type="none"/>
          </a:ln>
        </p:spPr>
      </p:sp>
      <p:sp>
        <p:nvSpPr>
          <p:cNvPr id="39" name="Text 37"/>
          <p:cNvSpPr/>
          <p:nvPr/>
        </p:nvSpPr>
        <p:spPr>
          <a:xfrm>
            <a:off x="9321394" y="1735531"/>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40" name="Text 38"/>
          <p:cNvSpPr/>
          <p:nvPr/>
        </p:nvSpPr>
        <p:spPr>
          <a:xfrm>
            <a:off x="7966253" y="237744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41" name="Text 39"/>
          <p:cNvSpPr/>
          <p:nvPr/>
        </p:nvSpPr>
        <p:spPr>
          <a:xfrm>
            <a:off x="9321394" y="237744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42" name="Text 40"/>
          <p:cNvSpPr/>
          <p:nvPr/>
        </p:nvSpPr>
        <p:spPr>
          <a:xfrm>
            <a:off x="10676534" y="237744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43" name="Text 41"/>
          <p:cNvSpPr/>
          <p:nvPr/>
        </p:nvSpPr>
        <p:spPr>
          <a:xfrm>
            <a:off x="960120" y="5166360"/>
            <a:ext cx="10058400" cy="411480"/>
          </a:xfrm>
          <a:prstGeom prst="rect">
            <a:avLst/>
          </a:prstGeom>
          <a:noFill/>
          <a:ln/>
        </p:spPr>
        <p:txBody>
          <a:bodyPr wrap="square" lIns="762" tIns="762" rIns="762" bIns="762" rtlCol="0" anchor="ctr">
            <a:normAutofit/>
          </a:bodyPr>
          <a:lstStyle/>
          <a:p>
            <a:pPr algn="ctr" indent="0" marL="0">
              <a:buNone/>
            </a:pPr>
            <a:r>
              <a:rPr lang="en-US" sz="1800" b="1" dirty="0">
                <a:solidFill>
                  <a:srgbClr val="112E5C"/>
                </a:solidFill>
              </a:rPr>
              <a:t>The root node is the initial state. Expanding it generates children and creates the frontier.</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Build: Repeated States in the Search Tree</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1066190" y="2291486"/>
            <a:ext cx="570586" cy="-332842"/>
          </a:xfrm>
          <a:prstGeom prst="line">
            <a:avLst/>
          </a:prstGeom>
          <a:solidFill>
            <a:srgbClr val="FFFFFF">
              <a:alpha val="0"/>
            </a:srgbClr>
          </a:solidFill>
          <a:ln w="34290">
            <a:solidFill>
              <a:srgbClr val="9B1C1C"/>
            </a:solidFill>
            <a:prstDash val="solid"/>
            <a:tailEnd type="triangle"/>
          </a:ln>
        </p:spPr>
      </p:sp>
      <p:sp>
        <p:nvSpPr>
          <p:cNvPr id="8" name="Shape 6"/>
          <p:cNvSpPr/>
          <p:nvPr/>
        </p:nvSpPr>
        <p:spPr>
          <a:xfrm>
            <a:off x="1066190" y="2291486"/>
            <a:ext cx="570586" cy="380390"/>
          </a:xfrm>
          <a:prstGeom prst="line">
            <a:avLst/>
          </a:prstGeom>
          <a:solidFill>
            <a:srgbClr val="FFFFFF">
              <a:alpha val="0"/>
            </a:srgbClr>
          </a:solidFill>
          <a:ln w="13970">
            <a:solidFill>
              <a:srgbClr val="5C6B80"/>
            </a:solidFill>
            <a:prstDash val="solid"/>
            <a:tailEnd type="triangle"/>
          </a:ln>
        </p:spPr>
      </p:sp>
      <p:sp>
        <p:nvSpPr>
          <p:cNvPr id="9" name="Shape 7"/>
          <p:cNvSpPr/>
          <p:nvPr/>
        </p:nvSpPr>
        <p:spPr>
          <a:xfrm>
            <a:off x="1636776" y="1958645"/>
            <a:ext cx="499262" cy="-261518"/>
          </a:xfrm>
          <a:prstGeom prst="line">
            <a:avLst/>
          </a:prstGeom>
          <a:solidFill>
            <a:srgbClr val="FFFFFF">
              <a:alpha val="0"/>
            </a:srgbClr>
          </a:solidFill>
          <a:ln w="13970">
            <a:solidFill>
              <a:srgbClr val="5C6B80"/>
            </a:solidFill>
            <a:prstDash val="solid"/>
            <a:tailEnd type="triangle"/>
          </a:ln>
        </p:spPr>
      </p:sp>
      <p:sp>
        <p:nvSpPr>
          <p:cNvPr id="10" name="Shape 8"/>
          <p:cNvSpPr/>
          <p:nvPr/>
        </p:nvSpPr>
        <p:spPr>
          <a:xfrm>
            <a:off x="1636776" y="1958645"/>
            <a:ext cx="618134" cy="309067"/>
          </a:xfrm>
          <a:prstGeom prst="line">
            <a:avLst/>
          </a:prstGeom>
          <a:solidFill>
            <a:srgbClr val="FFFFFF">
              <a:alpha val="0"/>
            </a:srgbClr>
          </a:solidFill>
          <a:ln w="13970">
            <a:solidFill>
              <a:srgbClr val="5C6B80"/>
            </a:solidFill>
            <a:prstDash val="solid"/>
            <a:tailEnd type="triangle"/>
          </a:ln>
        </p:spPr>
      </p:sp>
      <p:sp>
        <p:nvSpPr>
          <p:cNvPr id="11" name="Shape 9"/>
          <p:cNvSpPr/>
          <p:nvPr/>
        </p:nvSpPr>
        <p:spPr>
          <a:xfrm>
            <a:off x="1636776" y="1958645"/>
            <a:ext cx="1212494" cy="213970"/>
          </a:xfrm>
          <a:prstGeom prst="line">
            <a:avLst/>
          </a:prstGeom>
          <a:solidFill>
            <a:srgbClr val="FFFFFF">
              <a:alpha val="0"/>
            </a:srgbClr>
          </a:solidFill>
          <a:ln w="34290">
            <a:solidFill>
              <a:srgbClr val="9B1C1C"/>
            </a:solidFill>
            <a:prstDash val="solid"/>
            <a:tailEnd type="triangle"/>
          </a:ln>
        </p:spPr>
      </p:sp>
      <p:sp>
        <p:nvSpPr>
          <p:cNvPr id="12" name="Shape 10"/>
          <p:cNvSpPr/>
          <p:nvPr/>
        </p:nvSpPr>
        <p:spPr>
          <a:xfrm>
            <a:off x="2136038" y="1697126"/>
            <a:ext cx="523037" cy="-166421"/>
          </a:xfrm>
          <a:prstGeom prst="line">
            <a:avLst/>
          </a:prstGeom>
          <a:solidFill>
            <a:srgbClr val="FFFFFF">
              <a:alpha val="0"/>
            </a:srgbClr>
          </a:solidFill>
          <a:ln w="13970">
            <a:solidFill>
              <a:srgbClr val="5C6B80"/>
            </a:solidFill>
            <a:prstDash val="solid"/>
            <a:tailEnd type="triangle"/>
          </a:ln>
        </p:spPr>
      </p:sp>
      <p:sp>
        <p:nvSpPr>
          <p:cNvPr id="13" name="Shape 11"/>
          <p:cNvSpPr/>
          <p:nvPr/>
        </p:nvSpPr>
        <p:spPr>
          <a:xfrm>
            <a:off x="2659075" y="1530706"/>
            <a:ext cx="-404165" cy="737006"/>
          </a:xfrm>
          <a:prstGeom prst="line">
            <a:avLst/>
          </a:prstGeom>
          <a:solidFill>
            <a:srgbClr val="FFFFFF">
              <a:alpha val="0"/>
            </a:srgbClr>
          </a:solidFill>
          <a:ln w="13970">
            <a:solidFill>
              <a:srgbClr val="5C6B80"/>
            </a:solidFill>
            <a:prstDash val="solid"/>
            <a:tailEnd type="triangle"/>
          </a:ln>
        </p:spPr>
      </p:sp>
      <p:sp>
        <p:nvSpPr>
          <p:cNvPr id="14" name="Shape 12"/>
          <p:cNvSpPr/>
          <p:nvPr/>
        </p:nvSpPr>
        <p:spPr>
          <a:xfrm>
            <a:off x="2254910" y="2267712"/>
            <a:ext cx="404165" cy="-737006"/>
          </a:xfrm>
          <a:prstGeom prst="line">
            <a:avLst/>
          </a:prstGeom>
          <a:solidFill>
            <a:srgbClr val="FFFFFF">
              <a:alpha val="0"/>
            </a:srgbClr>
          </a:solidFill>
          <a:ln w="13970">
            <a:solidFill>
              <a:srgbClr val="5C6B80"/>
            </a:solidFill>
            <a:prstDash val="solid"/>
            <a:tailEnd type="triangle"/>
          </a:ln>
        </p:spPr>
      </p:sp>
      <p:sp>
        <p:nvSpPr>
          <p:cNvPr id="15" name="Shape 13"/>
          <p:cNvSpPr/>
          <p:nvPr/>
        </p:nvSpPr>
        <p:spPr>
          <a:xfrm>
            <a:off x="2254910" y="2267712"/>
            <a:ext cx="594360" cy="-95098"/>
          </a:xfrm>
          <a:prstGeom prst="line">
            <a:avLst/>
          </a:prstGeom>
          <a:solidFill>
            <a:srgbClr val="FFFFFF">
              <a:alpha val="0"/>
            </a:srgbClr>
          </a:solidFill>
          <a:ln w="13970">
            <a:solidFill>
              <a:srgbClr val="5C6B80"/>
            </a:solidFill>
            <a:prstDash val="solid"/>
            <a:tailEnd type="triangle"/>
          </a:ln>
        </p:spPr>
      </p:sp>
      <p:sp>
        <p:nvSpPr>
          <p:cNvPr id="16" name="Shape 14"/>
          <p:cNvSpPr/>
          <p:nvPr/>
        </p:nvSpPr>
        <p:spPr>
          <a:xfrm>
            <a:off x="2849270" y="2172614"/>
            <a:ext cx="-213970" cy="523037"/>
          </a:xfrm>
          <a:prstGeom prst="line">
            <a:avLst/>
          </a:prstGeom>
          <a:solidFill>
            <a:srgbClr val="FFFFFF">
              <a:alpha val="0"/>
            </a:srgbClr>
          </a:solidFill>
          <a:ln w="13970">
            <a:solidFill>
              <a:srgbClr val="5C6B80"/>
            </a:solidFill>
            <a:prstDash val="solid"/>
            <a:tailEnd type="triangle"/>
          </a:ln>
        </p:spPr>
      </p:sp>
      <p:sp>
        <p:nvSpPr>
          <p:cNvPr id="17" name="Shape 15"/>
          <p:cNvSpPr/>
          <p:nvPr/>
        </p:nvSpPr>
        <p:spPr>
          <a:xfrm>
            <a:off x="2635301" y="2695651"/>
            <a:ext cx="-998525" cy="-23774"/>
          </a:xfrm>
          <a:prstGeom prst="line">
            <a:avLst/>
          </a:prstGeom>
          <a:solidFill>
            <a:srgbClr val="FFFFFF">
              <a:alpha val="0"/>
            </a:srgbClr>
          </a:solidFill>
          <a:ln w="13970">
            <a:solidFill>
              <a:srgbClr val="5C6B80"/>
            </a:solidFill>
            <a:prstDash val="solid"/>
            <a:tailEnd type="triangle"/>
          </a:ln>
        </p:spPr>
      </p:sp>
      <p:sp>
        <p:nvSpPr>
          <p:cNvPr id="18" name="Shape 16"/>
          <p:cNvSpPr/>
          <p:nvPr/>
        </p:nvSpPr>
        <p:spPr>
          <a:xfrm>
            <a:off x="1636776" y="2671877"/>
            <a:ext cx="523037" cy="404165"/>
          </a:xfrm>
          <a:prstGeom prst="line">
            <a:avLst/>
          </a:prstGeom>
          <a:solidFill>
            <a:srgbClr val="FFFFFF">
              <a:alpha val="0"/>
            </a:srgbClr>
          </a:solidFill>
          <a:ln w="13970">
            <a:solidFill>
              <a:srgbClr val="5C6B80"/>
            </a:solidFill>
            <a:prstDash val="solid"/>
            <a:tailEnd type="triangle"/>
          </a:ln>
        </p:spPr>
      </p:sp>
      <p:sp>
        <p:nvSpPr>
          <p:cNvPr id="19" name="Shape 17"/>
          <p:cNvSpPr/>
          <p:nvPr/>
        </p:nvSpPr>
        <p:spPr>
          <a:xfrm>
            <a:off x="2159813" y="3076042"/>
            <a:ext cx="475488" cy="-380390"/>
          </a:xfrm>
          <a:prstGeom prst="line">
            <a:avLst/>
          </a:prstGeom>
          <a:solidFill>
            <a:srgbClr val="FFFFFF">
              <a:alpha val="0"/>
            </a:srgbClr>
          </a:solidFill>
          <a:ln w="13970">
            <a:solidFill>
              <a:srgbClr val="5C6B80"/>
            </a:solidFill>
            <a:prstDash val="solid"/>
            <a:tailEnd type="triangle"/>
          </a:ln>
        </p:spPr>
      </p:sp>
      <p:sp>
        <p:nvSpPr>
          <p:cNvPr id="20" name="Shape 18"/>
          <p:cNvSpPr/>
          <p:nvPr/>
        </p:nvSpPr>
        <p:spPr>
          <a:xfrm>
            <a:off x="2849270" y="2172614"/>
            <a:ext cx="523037" cy="546811"/>
          </a:xfrm>
          <a:prstGeom prst="line">
            <a:avLst/>
          </a:prstGeom>
          <a:solidFill>
            <a:srgbClr val="FFFFFF">
              <a:alpha val="0"/>
            </a:srgbClr>
          </a:solidFill>
          <a:ln w="13970">
            <a:solidFill>
              <a:srgbClr val="5C6B80"/>
            </a:solidFill>
            <a:prstDash val="solid"/>
            <a:tailEnd type="triangle"/>
          </a:ln>
        </p:spPr>
      </p:sp>
      <p:sp>
        <p:nvSpPr>
          <p:cNvPr id="21" name="Shape 19"/>
          <p:cNvSpPr/>
          <p:nvPr/>
        </p:nvSpPr>
        <p:spPr>
          <a:xfrm>
            <a:off x="3372307" y="2719426"/>
            <a:ext cx="451714" cy="-332842"/>
          </a:xfrm>
          <a:prstGeom prst="line">
            <a:avLst/>
          </a:prstGeom>
          <a:solidFill>
            <a:srgbClr val="FFFFFF">
              <a:alpha val="0"/>
            </a:srgbClr>
          </a:solidFill>
          <a:ln w="13970">
            <a:solidFill>
              <a:srgbClr val="5C6B80"/>
            </a:solidFill>
            <a:prstDash val="solid"/>
            <a:tailEnd type="triangle"/>
          </a:ln>
        </p:spPr>
      </p:sp>
      <p:sp>
        <p:nvSpPr>
          <p:cNvPr id="22" name="Shape 20"/>
          <p:cNvSpPr/>
          <p:nvPr/>
        </p:nvSpPr>
        <p:spPr>
          <a:xfrm>
            <a:off x="3824021" y="2386584"/>
            <a:ext cx="-1569110" cy="-118872"/>
          </a:xfrm>
          <a:prstGeom prst="line">
            <a:avLst/>
          </a:prstGeom>
          <a:solidFill>
            <a:srgbClr val="FFFFFF">
              <a:alpha val="0"/>
            </a:srgbClr>
          </a:solidFill>
          <a:ln w="13970">
            <a:solidFill>
              <a:srgbClr val="5C6B80"/>
            </a:solidFill>
            <a:prstDash val="solid"/>
            <a:tailEnd type="triangle"/>
          </a:ln>
        </p:spPr>
      </p:sp>
      <p:sp>
        <p:nvSpPr>
          <p:cNvPr id="23" name="Shape 21"/>
          <p:cNvSpPr/>
          <p:nvPr/>
        </p:nvSpPr>
        <p:spPr>
          <a:xfrm>
            <a:off x="3824021" y="2386584"/>
            <a:ext cx="404165" cy="-499262"/>
          </a:xfrm>
          <a:prstGeom prst="line">
            <a:avLst/>
          </a:prstGeom>
          <a:solidFill>
            <a:srgbClr val="FFFFFF">
              <a:alpha val="0"/>
            </a:srgbClr>
          </a:solidFill>
          <a:ln w="13970">
            <a:solidFill>
              <a:srgbClr val="5C6B80"/>
            </a:solidFill>
            <a:prstDash val="solid"/>
            <a:tailEnd type="triangle"/>
          </a:ln>
        </p:spPr>
      </p:sp>
      <p:sp>
        <p:nvSpPr>
          <p:cNvPr id="24" name="Text 22"/>
          <p:cNvSpPr/>
          <p:nvPr/>
        </p:nvSpPr>
        <p:spPr>
          <a:xfrm>
            <a:off x="919886" y="2145182"/>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25" name="Text 23"/>
          <p:cNvSpPr/>
          <p:nvPr/>
        </p:nvSpPr>
        <p:spPr>
          <a:xfrm>
            <a:off x="1490472" y="1812341"/>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26" name="Text 24"/>
          <p:cNvSpPr/>
          <p:nvPr/>
        </p:nvSpPr>
        <p:spPr>
          <a:xfrm>
            <a:off x="1490472" y="2525573"/>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27" name="Text 25"/>
          <p:cNvSpPr/>
          <p:nvPr/>
        </p:nvSpPr>
        <p:spPr>
          <a:xfrm>
            <a:off x="1989734" y="155082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28" name="Text 26"/>
          <p:cNvSpPr/>
          <p:nvPr/>
        </p:nvSpPr>
        <p:spPr>
          <a:xfrm>
            <a:off x="2108606" y="212140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29" name="Text 27"/>
          <p:cNvSpPr/>
          <p:nvPr/>
        </p:nvSpPr>
        <p:spPr>
          <a:xfrm>
            <a:off x="2702966" y="20263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0" name="Text 28"/>
          <p:cNvSpPr/>
          <p:nvPr/>
        </p:nvSpPr>
        <p:spPr>
          <a:xfrm>
            <a:off x="2488997" y="2549347"/>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1" name="Text 29"/>
          <p:cNvSpPr/>
          <p:nvPr/>
        </p:nvSpPr>
        <p:spPr>
          <a:xfrm>
            <a:off x="2013509" y="292973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32" name="Text 30"/>
          <p:cNvSpPr/>
          <p:nvPr/>
        </p:nvSpPr>
        <p:spPr>
          <a:xfrm>
            <a:off x="2512771" y="138440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33" name="Text 31"/>
          <p:cNvSpPr/>
          <p:nvPr/>
        </p:nvSpPr>
        <p:spPr>
          <a:xfrm>
            <a:off x="3226003" y="257312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34" name="Text 32"/>
          <p:cNvSpPr/>
          <p:nvPr/>
        </p:nvSpPr>
        <p:spPr>
          <a:xfrm>
            <a:off x="3677717" y="224028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35" name="Text 33"/>
          <p:cNvSpPr/>
          <p:nvPr/>
        </p:nvSpPr>
        <p:spPr>
          <a:xfrm>
            <a:off x="4081882" y="17410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36" name="Shape 34"/>
          <p:cNvSpPr/>
          <p:nvPr/>
        </p:nvSpPr>
        <p:spPr>
          <a:xfrm>
            <a:off x="9467698" y="1698955"/>
            <a:ext cx="-1355141" cy="641909"/>
          </a:xfrm>
          <a:prstGeom prst="line">
            <a:avLst/>
          </a:prstGeom>
          <a:solidFill>
            <a:srgbClr val="FFFFFF">
              <a:alpha val="0"/>
            </a:srgbClr>
          </a:solidFill>
          <a:ln w="31750">
            <a:solidFill>
              <a:srgbClr val="9B1C1C"/>
            </a:solidFill>
            <a:prstDash val="solid"/>
            <a:tailEnd type="none"/>
          </a:ln>
        </p:spPr>
      </p:sp>
      <p:sp>
        <p:nvSpPr>
          <p:cNvPr id="37" name="Shape 35"/>
          <p:cNvSpPr/>
          <p:nvPr/>
        </p:nvSpPr>
        <p:spPr>
          <a:xfrm>
            <a:off x="9467698" y="1698955"/>
            <a:ext cx="0" cy="641909"/>
          </a:xfrm>
          <a:prstGeom prst="line">
            <a:avLst/>
          </a:prstGeom>
          <a:solidFill>
            <a:srgbClr val="FFFFFF">
              <a:alpha val="0"/>
            </a:srgbClr>
          </a:solidFill>
          <a:ln w="13970">
            <a:solidFill>
              <a:srgbClr val="D8DEE8"/>
            </a:solidFill>
            <a:prstDash val="solid"/>
            <a:tailEnd type="none"/>
          </a:ln>
        </p:spPr>
      </p:sp>
      <p:sp>
        <p:nvSpPr>
          <p:cNvPr id="38" name="Shape 36"/>
          <p:cNvSpPr/>
          <p:nvPr/>
        </p:nvSpPr>
        <p:spPr>
          <a:xfrm>
            <a:off x="9467698" y="1698955"/>
            <a:ext cx="1355141" cy="641909"/>
          </a:xfrm>
          <a:prstGeom prst="line">
            <a:avLst/>
          </a:prstGeom>
          <a:solidFill>
            <a:srgbClr val="FFFFFF">
              <a:alpha val="0"/>
            </a:srgbClr>
          </a:solidFill>
          <a:ln w="13970">
            <a:solidFill>
              <a:srgbClr val="D8DEE8"/>
            </a:solidFill>
            <a:prstDash val="solid"/>
            <a:tailEnd type="none"/>
          </a:ln>
        </p:spPr>
      </p:sp>
      <p:sp>
        <p:nvSpPr>
          <p:cNvPr id="39" name="Shape 37"/>
          <p:cNvSpPr/>
          <p:nvPr/>
        </p:nvSpPr>
        <p:spPr>
          <a:xfrm>
            <a:off x="8112557" y="2340864"/>
            <a:ext cx="-606247" cy="677570"/>
          </a:xfrm>
          <a:prstGeom prst="line">
            <a:avLst/>
          </a:prstGeom>
          <a:solidFill>
            <a:srgbClr val="FFFFFF">
              <a:alpha val="0"/>
            </a:srgbClr>
          </a:solidFill>
          <a:ln w="13970">
            <a:solidFill>
              <a:srgbClr val="D8DEE8"/>
            </a:solidFill>
            <a:prstDash val="solid"/>
            <a:tailEnd type="none"/>
          </a:ln>
        </p:spPr>
      </p:sp>
      <p:sp>
        <p:nvSpPr>
          <p:cNvPr id="40" name="Shape 38"/>
          <p:cNvSpPr/>
          <p:nvPr/>
        </p:nvSpPr>
        <p:spPr>
          <a:xfrm>
            <a:off x="8112557" y="2340864"/>
            <a:ext cx="0" cy="677570"/>
          </a:xfrm>
          <a:prstGeom prst="line">
            <a:avLst/>
          </a:prstGeom>
          <a:solidFill>
            <a:srgbClr val="FFFFFF">
              <a:alpha val="0"/>
            </a:srgbClr>
          </a:solidFill>
          <a:ln w="13970">
            <a:solidFill>
              <a:srgbClr val="D8DEE8"/>
            </a:solidFill>
            <a:prstDash val="solid"/>
            <a:tailEnd type="none"/>
          </a:ln>
        </p:spPr>
      </p:sp>
      <p:sp>
        <p:nvSpPr>
          <p:cNvPr id="41" name="Shape 39"/>
          <p:cNvSpPr/>
          <p:nvPr/>
        </p:nvSpPr>
        <p:spPr>
          <a:xfrm>
            <a:off x="8112557" y="2340864"/>
            <a:ext cx="606247" cy="677570"/>
          </a:xfrm>
          <a:prstGeom prst="line">
            <a:avLst/>
          </a:prstGeom>
          <a:solidFill>
            <a:srgbClr val="FFFFFF">
              <a:alpha val="0"/>
            </a:srgbClr>
          </a:solidFill>
          <a:ln w="31750">
            <a:solidFill>
              <a:srgbClr val="9B1C1C"/>
            </a:solidFill>
            <a:prstDash val="solid"/>
            <a:tailEnd type="none"/>
          </a:ln>
        </p:spPr>
      </p:sp>
      <p:sp>
        <p:nvSpPr>
          <p:cNvPr id="42" name="Shape 40"/>
          <p:cNvSpPr/>
          <p:nvPr/>
        </p:nvSpPr>
        <p:spPr>
          <a:xfrm>
            <a:off x="9467698" y="2340864"/>
            <a:ext cx="-392278" cy="677570"/>
          </a:xfrm>
          <a:prstGeom prst="line">
            <a:avLst/>
          </a:prstGeom>
          <a:solidFill>
            <a:srgbClr val="FFFFFF">
              <a:alpha val="0"/>
            </a:srgbClr>
          </a:solidFill>
          <a:ln w="13970">
            <a:solidFill>
              <a:srgbClr val="D8DEE8"/>
            </a:solidFill>
            <a:prstDash val="solid"/>
            <a:tailEnd type="none"/>
          </a:ln>
        </p:spPr>
      </p:sp>
      <p:sp>
        <p:nvSpPr>
          <p:cNvPr id="43" name="Shape 41"/>
          <p:cNvSpPr/>
          <p:nvPr/>
        </p:nvSpPr>
        <p:spPr>
          <a:xfrm>
            <a:off x="9467698" y="2340864"/>
            <a:ext cx="392278" cy="677570"/>
          </a:xfrm>
          <a:prstGeom prst="line">
            <a:avLst/>
          </a:prstGeom>
          <a:solidFill>
            <a:srgbClr val="FFFFFF">
              <a:alpha val="0"/>
            </a:srgbClr>
          </a:solidFill>
          <a:ln w="13970">
            <a:solidFill>
              <a:srgbClr val="D8DEE8"/>
            </a:solidFill>
            <a:prstDash val="solid"/>
            <a:tailEnd type="none"/>
          </a:ln>
        </p:spPr>
      </p:sp>
      <p:sp>
        <p:nvSpPr>
          <p:cNvPr id="44" name="Shape 42"/>
          <p:cNvSpPr/>
          <p:nvPr/>
        </p:nvSpPr>
        <p:spPr>
          <a:xfrm>
            <a:off x="10822838" y="2340864"/>
            <a:ext cx="0" cy="677570"/>
          </a:xfrm>
          <a:prstGeom prst="line">
            <a:avLst/>
          </a:prstGeom>
          <a:solidFill>
            <a:srgbClr val="FFFFFF">
              <a:alpha val="0"/>
            </a:srgbClr>
          </a:solidFill>
          <a:ln w="13970">
            <a:solidFill>
              <a:srgbClr val="D8DEE8"/>
            </a:solidFill>
            <a:prstDash val="solid"/>
            <a:tailEnd type="none"/>
          </a:ln>
        </p:spPr>
      </p:sp>
      <p:sp>
        <p:nvSpPr>
          <p:cNvPr id="45" name="Shape 43"/>
          <p:cNvSpPr/>
          <p:nvPr/>
        </p:nvSpPr>
        <p:spPr>
          <a:xfrm>
            <a:off x="7506310" y="3018434"/>
            <a:ext cx="-213970" cy="606247"/>
          </a:xfrm>
          <a:prstGeom prst="line">
            <a:avLst/>
          </a:prstGeom>
          <a:solidFill>
            <a:srgbClr val="FFFFFF">
              <a:alpha val="0"/>
            </a:srgbClr>
          </a:solidFill>
          <a:ln w="13970">
            <a:solidFill>
              <a:srgbClr val="D8DEE8"/>
            </a:solidFill>
            <a:prstDash val="solid"/>
            <a:tailEnd type="none"/>
          </a:ln>
        </p:spPr>
      </p:sp>
      <p:sp>
        <p:nvSpPr>
          <p:cNvPr id="46" name="Shape 44"/>
          <p:cNvSpPr/>
          <p:nvPr/>
        </p:nvSpPr>
        <p:spPr>
          <a:xfrm>
            <a:off x="8112557" y="3018434"/>
            <a:ext cx="-213970" cy="606247"/>
          </a:xfrm>
          <a:prstGeom prst="line">
            <a:avLst/>
          </a:prstGeom>
          <a:solidFill>
            <a:srgbClr val="FFFFFF">
              <a:alpha val="0"/>
            </a:srgbClr>
          </a:solidFill>
          <a:ln w="13970">
            <a:solidFill>
              <a:srgbClr val="D8DEE8"/>
            </a:solidFill>
            <a:prstDash val="solid"/>
            <a:tailEnd type="none"/>
          </a:ln>
        </p:spPr>
      </p:sp>
      <p:sp>
        <p:nvSpPr>
          <p:cNvPr id="47" name="Shape 45"/>
          <p:cNvSpPr/>
          <p:nvPr/>
        </p:nvSpPr>
        <p:spPr>
          <a:xfrm>
            <a:off x="8718804" y="3018434"/>
            <a:ext cx="-213970" cy="606247"/>
          </a:xfrm>
          <a:prstGeom prst="line">
            <a:avLst/>
          </a:prstGeom>
          <a:solidFill>
            <a:srgbClr val="FFFFFF">
              <a:alpha val="0"/>
            </a:srgbClr>
          </a:solidFill>
          <a:ln w="13970">
            <a:solidFill>
              <a:srgbClr val="D8DEE8"/>
            </a:solidFill>
            <a:prstDash val="solid"/>
            <a:tailEnd type="none"/>
          </a:ln>
        </p:spPr>
      </p:sp>
      <p:sp>
        <p:nvSpPr>
          <p:cNvPr id="48" name="Shape 46"/>
          <p:cNvSpPr/>
          <p:nvPr/>
        </p:nvSpPr>
        <p:spPr>
          <a:xfrm>
            <a:off x="8718804" y="3018434"/>
            <a:ext cx="392278" cy="606247"/>
          </a:xfrm>
          <a:prstGeom prst="line">
            <a:avLst/>
          </a:prstGeom>
          <a:solidFill>
            <a:srgbClr val="FFFFFF">
              <a:alpha val="0"/>
            </a:srgbClr>
          </a:solidFill>
          <a:ln w="13970">
            <a:solidFill>
              <a:srgbClr val="D8DEE8"/>
            </a:solidFill>
            <a:prstDash val="solid"/>
            <a:tailEnd type="none"/>
          </a:ln>
        </p:spPr>
      </p:sp>
      <p:sp>
        <p:nvSpPr>
          <p:cNvPr id="49" name="Shape 47"/>
          <p:cNvSpPr/>
          <p:nvPr/>
        </p:nvSpPr>
        <p:spPr>
          <a:xfrm>
            <a:off x="9075420" y="3018434"/>
            <a:ext cx="499262" cy="606247"/>
          </a:xfrm>
          <a:prstGeom prst="line">
            <a:avLst/>
          </a:prstGeom>
          <a:solidFill>
            <a:srgbClr val="FFFFFF">
              <a:alpha val="0"/>
            </a:srgbClr>
          </a:solidFill>
          <a:ln w="13970">
            <a:solidFill>
              <a:srgbClr val="D8DEE8"/>
            </a:solidFill>
            <a:prstDash val="solid"/>
            <a:tailEnd type="none"/>
          </a:ln>
        </p:spPr>
      </p:sp>
      <p:sp>
        <p:nvSpPr>
          <p:cNvPr id="50" name="Shape 48"/>
          <p:cNvSpPr/>
          <p:nvPr/>
        </p:nvSpPr>
        <p:spPr>
          <a:xfrm>
            <a:off x="9075420" y="3018434"/>
            <a:ext cx="927202" cy="606247"/>
          </a:xfrm>
          <a:prstGeom prst="line">
            <a:avLst/>
          </a:prstGeom>
          <a:solidFill>
            <a:srgbClr val="FFFFFF">
              <a:alpha val="0"/>
            </a:srgbClr>
          </a:solidFill>
          <a:ln w="13970">
            <a:solidFill>
              <a:srgbClr val="D8DEE8"/>
            </a:solidFill>
            <a:prstDash val="solid"/>
            <a:tailEnd type="none"/>
          </a:ln>
        </p:spPr>
      </p:sp>
      <p:sp>
        <p:nvSpPr>
          <p:cNvPr id="51" name="Shape 49"/>
          <p:cNvSpPr/>
          <p:nvPr/>
        </p:nvSpPr>
        <p:spPr>
          <a:xfrm>
            <a:off x="9859975" y="3018434"/>
            <a:ext cx="570586" cy="606247"/>
          </a:xfrm>
          <a:prstGeom prst="line">
            <a:avLst/>
          </a:prstGeom>
          <a:solidFill>
            <a:srgbClr val="FFFFFF">
              <a:alpha val="0"/>
            </a:srgbClr>
          </a:solidFill>
          <a:ln w="13970">
            <a:solidFill>
              <a:srgbClr val="D8DEE8"/>
            </a:solidFill>
            <a:prstDash val="solid"/>
            <a:tailEnd type="none"/>
          </a:ln>
        </p:spPr>
      </p:sp>
      <p:sp>
        <p:nvSpPr>
          <p:cNvPr id="52" name="Shape 50"/>
          <p:cNvSpPr/>
          <p:nvPr/>
        </p:nvSpPr>
        <p:spPr>
          <a:xfrm>
            <a:off x="10430561" y="3624682"/>
            <a:ext cx="-213970" cy="606247"/>
          </a:xfrm>
          <a:prstGeom prst="line">
            <a:avLst/>
          </a:prstGeom>
          <a:solidFill>
            <a:srgbClr val="FFFFFF">
              <a:alpha val="0"/>
            </a:srgbClr>
          </a:solidFill>
          <a:ln w="13970">
            <a:solidFill>
              <a:srgbClr val="D8DEE8"/>
            </a:solidFill>
            <a:prstDash val="solid"/>
            <a:tailEnd type="none"/>
          </a:ln>
        </p:spPr>
      </p:sp>
      <p:sp>
        <p:nvSpPr>
          <p:cNvPr id="53" name="Shape 51"/>
          <p:cNvSpPr/>
          <p:nvPr/>
        </p:nvSpPr>
        <p:spPr>
          <a:xfrm>
            <a:off x="10430561" y="3624682"/>
            <a:ext cx="285293" cy="606247"/>
          </a:xfrm>
          <a:prstGeom prst="line">
            <a:avLst/>
          </a:prstGeom>
          <a:solidFill>
            <a:srgbClr val="FFFFFF">
              <a:alpha val="0"/>
            </a:srgbClr>
          </a:solidFill>
          <a:ln w="13970">
            <a:solidFill>
              <a:srgbClr val="D8DEE8"/>
            </a:solidFill>
            <a:prstDash val="solid"/>
            <a:tailEnd type="none"/>
          </a:ln>
        </p:spPr>
      </p:sp>
      <p:sp>
        <p:nvSpPr>
          <p:cNvPr id="54" name="Text 52"/>
          <p:cNvSpPr/>
          <p:nvPr/>
        </p:nvSpPr>
        <p:spPr>
          <a:xfrm>
            <a:off x="9321394" y="1552651"/>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55" name="Text 53"/>
          <p:cNvSpPr/>
          <p:nvPr/>
        </p:nvSpPr>
        <p:spPr>
          <a:xfrm>
            <a:off x="7966253" y="219456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56" name="Text 54"/>
          <p:cNvSpPr/>
          <p:nvPr/>
        </p:nvSpPr>
        <p:spPr>
          <a:xfrm>
            <a:off x="9321394" y="219456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57" name="Text 55"/>
          <p:cNvSpPr/>
          <p:nvPr/>
        </p:nvSpPr>
        <p:spPr>
          <a:xfrm>
            <a:off x="10676534" y="219456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58" name="Text 56"/>
          <p:cNvSpPr/>
          <p:nvPr/>
        </p:nvSpPr>
        <p:spPr>
          <a:xfrm>
            <a:off x="7360006" y="287213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59" name="Text 57"/>
          <p:cNvSpPr/>
          <p:nvPr/>
        </p:nvSpPr>
        <p:spPr>
          <a:xfrm>
            <a:off x="7966253" y="287213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60" name="Text 58"/>
          <p:cNvSpPr/>
          <p:nvPr/>
        </p:nvSpPr>
        <p:spPr>
          <a:xfrm>
            <a:off x="8572500" y="287213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61" name="Text 59"/>
          <p:cNvSpPr/>
          <p:nvPr/>
        </p:nvSpPr>
        <p:spPr>
          <a:xfrm>
            <a:off x="8929116" y="287213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62" name="Text 60"/>
          <p:cNvSpPr/>
          <p:nvPr/>
        </p:nvSpPr>
        <p:spPr>
          <a:xfrm>
            <a:off x="9713671" y="287213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63" name="Text 61"/>
          <p:cNvSpPr/>
          <p:nvPr/>
        </p:nvSpPr>
        <p:spPr>
          <a:xfrm>
            <a:off x="10676534" y="287213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64" name="Text 62"/>
          <p:cNvSpPr/>
          <p:nvPr/>
        </p:nvSpPr>
        <p:spPr>
          <a:xfrm>
            <a:off x="7146036" y="347837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65" name="Text 63"/>
          <p:cNvSpPr/>
          <p:nvPr/>
        </p:nvSpPr>
        <p:spPr>
          <a:xfrm>
            <a:off x="7752283" y="347837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66" name="Text 64"/>
          <p:cNvSpPr/>
          <p:nvPr/>
        </p:nvSpPr>
        <p:spPr>
          <a:xfrm>
            <a:off x="8358530" y="347837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67" name="Text 65"/>
          <p:cNvSpPr/>
          <p:nvPr/>
        </p:nvSpPr>
        <p:spPr>
          <a:xfrm>
            <a:off x="8964778" y="347837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68" name="Text 66"/>
          <p:cNvSpPr/>
          <p:nvPr/>
        </p:nvSpPr>
        <p:spPr>
          <a:xfrm>
            <a:off x="9428378" y="347837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69" name="Text 67"/>
          <p:cNvSpPr/>
          <p:nvPr/>
        </p:nvSpPr>
        <p:spPr>
          <a:xfrm>
            <a:off x="9856318" y="347837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70" name="Text 68"/>
          <p:cNvSpPr/>
          <p:nvPr/>
        </p:nvSpPr>
        <p:spPr>
          <a:xfrm>
            <a:off x="10284257" y="347837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71" name="Text 69"/>
          <p:cNvSpPr/>
          <p:nvPr/>
        </p:nvSpPr>
        <p:spPr>
          <a:xfrm>
            <a:off x="10070287" y="408462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72" name="Text 70"/>
          <p:cNvSpPr/>
          <p:nvPr/>
        </p:nvSpPr>
        <p:spPr>
          <a:xfrm>
            <a:off x="10569550" y="408462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73" name="Text 71"/>
          <p:cNvSpPr/>
          <p:nvPr/>
        </p:nvSpPr>
        <p:spPr>
          <a:xfrm>
            <a:off x="868680" y="5303520"/>
            <a:ext cx="10424160" cy="457200"/>
          </a:xfrm>
          <a:prstGeom prst="rect">
            <a:avLst/>
          </a:prstGeom>
          <a:noFill/>
          <a:ln/>
        </p:spPr>
        <p:txBody>
          <a:bodyPr wrap="square" lIns="762" tIns="762" rIns="762" bIns="762" rtlCol="0" anchor="ctr">
            <a:normAutofit/>
          </a:bodyPr>
          <a:lstStyle/>
          <a:p>
            <a:pPr algn="ctr" indent="0" marL="0">
              <a:buNone/>
            </a:pPr>
            <a:r>
              <a:rPr lang="en-US" sz="1800" b="1" dirty="0">
                <a:solidFill>
                  <a:srgbClr val="9B1C1C"/>
                </a:solidFill>
              </a:rPr>
              <a:t>Same state can appear in multiple search-tree nodes because each tree node is a different path.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Frontier, Reached, and Expansion</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777240" y="1463040"/>
            <a:ext cx="502920" cy="502920"/>
          </a:xfrm>
          <a:prstGeom prst="roundRect">
            <a:avLst>
              <a:gd name="adj" fmla="val 14545"/>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1</a:t>
            </a:r>
            <a:endParaRPr lang="en-US" sz="1800" dirty="0"/>
          </a:p>
        </p:txBody>
      </p:sp>
      <p:sp>
        <p:nvSpPr>
          <p:cNvPr id="8" name="Text 6"/>
          <p:cNvSpPr/>
          <p:nvPr/>
        </p:nvSpPr>
        <p:spPr>
          <a:xfrm>
            <a:off x="1417320" y="1508760"/>
            <a:ext cx="1920240" cy="320040"/>
          </a:xfrm>
          <a:prstGeom prst="rect">
            <a:avLst/>
          </a:prstGeom>
          <a:noFill/>
          <a:ln/>
        </p:spPr>
        <p:txBody>
          <a:bodyPr wrap="square" lIns="762" tIns="762" rIns="762" bIns="762" rtlCol="0" anchor="ctr">
            <a:normAutofit/>
          </a:bodyPr>
          <a:lstStyle/>
          <a:p>
            <a:pPr algn="l" indent="0" marL="0">
              <a:buNone/>
            </a:pPr>
            <a:r>
              <a:rPr lang="en-US" sz="1550" b="1" dirty="0">
                <a:solidFill>
                  <a:srgbClr val="102A4C"/>
                </a:solidFill>
              </a:rPr>
              <a:t>POP a frontier node</a:t>
            </a:r>
            <a:endParaRPr lang="en-US" sz="1550" dirty="0"/>
          </a:p>
        </p:txBody>
      </p:sp>
      <p:sp>
        <p:nvSpPr>
          <p:cNvPr id="9" name="Shape 7"/>
          <p:cNvSpPr/>
          <p:nvPr/>
        </p:nvSpPr>
        <p:spPr>
          <a:xfrm>
            <a:off x="3291840" y="1719072"/>
            <a:ext cx="274320" cy="0"/>
          </a:xfrm>
          <a:prstGeom prst="line">
            <a:avLst/>
          </a:prstGeom>
          <a:solidFill>
            <a:srgbClr val="FFFFFF">
              <a:alpha val="0"/>
            </a:srgbClr>
          </a:solidFill>
          <a:ln w="22860">
            <a:solidFill>
              <a:srgbClr val="5C6B80"/>
            </a:solidFill>
            <a:prstDash val="solid"/>
            <a:tailEnd type="triangle"/>
          </a:ln>
        </p:spPr>
      </p:sp>
      <p:sp>
        <p:nvSpPr>
          <p:cNvPr id="10" name="Text 8"/>
          <p:cNvSpPr/>
          <p:nvPr/>
        </p:nvSpPr>
        <p:spPr>
          <a:xfrm>
            <a:off x="3611880" y="1463040"/>
            <a:ext cx="502920" cy="502920"/>
          </a:xfrm>
          <a:prstGeom prst="roundRect">
            <a:avLst>
              <a:gd name="adj" fmla="val 14545"/>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2</a:t>
            </a:r>
            <a:endParaRPr lang="en-US" sz="1800" dirty="0"/>
          </a:p>
        </p:txBody>
      </p:sp>
      <p:sp>
        <p:nvSpPr>
          <p:cNvPr id="11" name="Text 9"/>
          <p:cNvSpPr/>
          <p:nvPr/>
        </p:nvSpPr>
        <p:spPr>
          <a:xfrm>
            <a:off x="4251960" y="1508760"/>
            <a:ext cx="1920240" cy="320040"/>
          </a:xfrm>
          <a:prstGeom prst="rect">
            <a:avLst/>
          </a:prstGeom>
          <a:noFill/>
          <a:ln/>
        </p:spPr>
        <p:txBody>
          <a:bodyPr wrap="square" lIns="762" tIns="762" rIns="762" bIns="762" rtlCol="0" anchor="ctr">
            <a:normAutofit/>
          </a:bodyPr>
          <a:lstStyle/>
          <a:p>
            <a:pPr algn="l" indent="0" marL="0">
              <a:buNone/>
            </a:pPr>
            <a:r>
              <a:rPr lang="en-US" sz="1550" b="1" dirty="0">
                <a:solidFill>
                  <a:srgbClr val="102A4C"/>
                </a:solidFill>
              </a:rPr>
              <a:t>Goal-test the node</a:t>
            </a:r>
            <a:endParaRPr lang="en-US" sz="1550" dirty="0"/>
          </a:p>
        </p:txBody>
      </p:sp>
      <p:sp>
        <p:nvSpPr>
          <p:cNvPr id="12" name="Shape 10"/>
          <p:cNvSpPr/>
          <p:nvPr/>
        </p:nvSpPr>
        <p:spPr>
          <a:xfrm>
            <a:off x="6126480" y="1719072"/>
            <a:ext cx="274320" cy="0"/>
          </a:xfrm>
          <a:prstGeom prst="line">
            <a:avLst/>
          </a:prstGeom>
          <a:solidFill>
            <a:srgbClr val="FFFFFF">
              <a:alpha val="0"/>
            </a:srgbClr>
          </a:solidFill>
          <a:ln w="22860">
            <a:solidFill>
              <a:srgbClr val="5C6B80"/>
            </a:solidFill>
            <a:prstDash val="solid"/>
            <a:tailEnd type="triangle"/>
          </a:ln>
        </p:spPr>
      </p:sp>
      <p:sp>
        <p:nvSpPr>
          <p:cNvPr id="13" name="Text 11"/>
          <p:cNvSpPr/>
          <p:nvPr/>
        </p:nvSpPr>
        <p:spPr>
          <a:xfrm>
            <a:off x="6446520" y="1463040"/>
            <a:ext cx="502920" cy="502920"/>
          </a:xfrm>
          <a:prstGeom prst="roundRect">
            <a:avLst>
              <a:gd name="adj" fmla="val 14545"/>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3</a:t>
            </a:r>
            <a:endParaRPr lang="en-US" sz="1800" dirty="0"/>
          </a:p>
        </p:txBody>
      </p:sp>
      <p:sp>
        <p:nvSpPr>
          <p:cNvPr id="14" name="Text 12"/>
          <p:cNvSpPr/>
          <p:nvPr/>
        </p:nvSpPr>
        <p:spPr>
          <a:xfrm>
            <a:off x="7086600" y="1508760"/>
            <a:ext cx="1920240" cy="320040"/>
          </a:xfrm>
          <a:prstGeom prst="rect">
            <a:avLst/>
          </a:prstGeom>
          <a:noFill/>
          <a:ln/>
        </p:spPr>
        <p:txBody>
          <a:bodyPr wrap="square" lIns="762" tIns="762" rIns="762" bIns="762" rtlCol="0" anchor="ctr">
            <a:normAutofit/>
          </a:bodyPr>
          <a:lstStyle/>
          <a:p>
            <a:pPr algn="l" indent="0" marL="0">
              <a:buNone/>
            </a:pPr>
            <a:r>
              <a:rPr lang="en-US" sz="1550" b="1" dirty="0">
                <a:solidFill>
                  <a:srgbClr val="102A4C"/>
                </a:solidFill>
              </a:rPr>
              <a:t>EXPAND successors</a:t>
            </a:r>
            <a:endParaRPr lang="en-US" sz="1550" dirty="0"/>
          </a:p>
        </p:txBody>
      </p:sp>
      <p:sp>
        <p:nvSpPr>
          <p:cNvPr id="15" name="Shape 13"/>
          <p:cNvSpPr/>
          <p:nvPr/>
        </p:nvSpPr>
        <p:spPr>
          <a:xfrm>
            <a:off x="8961120" y="1719072"/>
            <a:ext cx="274320" cy="0"/>
          </a:xfrm>
          <a:prstGeom prst="line">
            <a:avLst/>
          </a:prstGeom>
          <a:solidFill>
            <a:srgbClr val="FFFFFF">
              <a:alpha val="0"/>
            </a:srgbClr>
          </a:solidFill>
          <a:ln w="22860">
            <a:solidFill>
              <a:srgbClr val="5C6B80"/>
            </a:solidFill>
            <a:prstDash val="solid"/>
            <a:tailEnd type="triangle"/>
          </a:ln>
        </p:spPr>
      </p:sp>
      <p:sp>
        <p:nvSpPr>
          <p:cNvPr id="16" name="Text 14"/>
          <p:cNvSpPr/>
          <p:nvPr/>
        </p:nvSpPr>
        <p:spPr>
          <a:xfrm>
            <a:off x="9281160" y="1463040"/>
            <a:ext cx="502920" cy="502920"/>
          </a:xfrm>
          <a:prstGeom prst="roundRect">
            <a:avLst>
              <a:gd name="adj" fmla="val 14545"/>
            </a:avLst>
          </a:prstGeom>
          <a:solidFill>
            <a:srgbClr val="F6A01A"/>
          </a:solidFill>
          <a:ln w="15240">
            <a:solidFill>
              <a:srgbClr val="F6A01A"/>
            </a:solidFill>
          </a:ln>
        </p:spPr>
        <p:txBody>
          <a:bodyPr wrap="square" lIns="508" tIns="508" rIns="508" bIns="508" rtlCol="0" anchor="ctr">
            <a:normAutofit/>
          </a:bodyPr>
          <a:lstStyle/>
          <a:p>
            <a:pPr algn="ctr" indent="0" marL="0">
              <a:buNone/>
            </a:pPr>
            <a:r>
              <a:rPr lang="en-US" sz="1800" b="1" dirty="0">
                <a:solidFill>
                  <a:srgbClr val="112E5C"/>
                </a:solidFill>
              </a:rPr>
              <a:t>4</a:t>
            </a:r>
            <a:endParaRPr lang="en-US" sz="1800" dirty="0"/>
          </a:p>
        </p:txBody>
      </p:sp>
      <p:sp>
        <p:nvSpPr>
          <p:cNvPr id="17" name="Text 15"/>
          <p:cNvSpPr/>
          <p:nvPr/>
        </p:nvSpPr>
        <p:spPr>
          <a:xfrm>
            <a:off x="9921240" y="1508760"/>
            <a:ext cx="1920240" cy="320040"/>
          </a:xfrm>
          <a:prstGeom prst="rect">
            <a:avLst/>
          </a:prstGeom>
          <a:noFill/>
          <a:ln/>
        </p:spPr>
        <p:txBody>
          <a:bodyPr wrap="square" lIns="762" tIns="762" rIns="762" bIns="762" rtlCol="0" anchor="ctr">
            <a:normAutofit/>
          </a:bodyPr>
          <a:lstStyle/>
          <a:p>
            <a:pPr algn="l" indent="0" marL="0">
              <a:buNone/>
            </a:pPr>
            <a:r>
              <a:rPr lang="en-US" sz="1550" b="1" dirty="0">
                <a:solidFill>
                  <a:srgbClr val="102A4C"/>
                </a:solidFill>
              </a:rPr>
              <a:t>Update frontier and reached</a:t>
            </a:r>
            <a:endParaRPr lang="en-US" sz="1550" dirty="0"/>
          </a:p>
        </p:txBody>
      </p:sp>
      <p:sp>
        <p:nvSpPr>
          <p:cNvPr id="18" name="Text 16"/>
          <p:cNvSpPr/>
          <p:nvPr/>
        </p:nvSpPr>
        <p:spPr>
          <a:xfrm>
            <a:off x="1188720" y="2971800"/>
            <a:ext cx="219456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700" b="1" dirty="0">
                <a:solidFill>
                  <a:srgbClr val="2F7FD5"/>
                </a:solidFill>
              </a:rPr>
              <a:t>Frontier</a:t>
            </a:r>
            <a:endParaRPr lang="en-US" sz="1700" dirty="0"/>
          </a:p>
        </p:txBody>
      </p:sp>
      <p:sp>
        <p:nvSpPr>
          <p:cNvPr id="19" name="Text 17"/>
          <p:cNvSpPr/>
          <p:nvPr/>
        </p:nvSpPr>
        <p:spPr>
          <a:xfrm>
            <a:off x="960120" y="3611880"/>
            <a:ext cx="2651760" cy="548640"/>
          </a:xfrm>
          <a:prstGeom prst="rect">
            <a:avLst/>
          </a:prstGeom>
          <a:noFill/>
          <a:ln/>
        </p:spPr>
        <p:txBody>
          <a:bodyPr wrap="square" lIns="762" tIns="762" rIns="762" bIns="762" rtlCol="0" anchor="ctr">
            <a:normAutofit/>
          </a:bodyPr>
          <a:lstStyle/>
          <a:p>
            <a:pPr algn="ctr" indent="0" marL="0">
              <a:buNone/>
            </a:pPr>
            <a:r>
              <a:rPr lang="en-US" sz="1400" dirty="0">
                <a:solidFill>
                  <a:srgbClr val="102A4C"/>
                </a:solidFill>
              </a:rPr>
              <a:t>Generated but unexpanded leaf nodes.</a:t>
            </a:r>
            <a:endParaRPr lang="en-US" sz="1400" dirty="0"/>
          </a:p>
        </p:txBody>
      </p:sp>
      <p:sp>
        <p:nvSpPr>
          <p:cNvPr id="20" name="Text 18"/>
          <p:cNvSpPr/>
          <p:nvPr/>
        </p:nvSpPr>
        <p:spPr>
          <a:xfrm>
            <a:off x="5029200" y="2971800"/>
            <a:ext cx="219456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700" b="1" dirty="0">
                <a:solidFill>
                  <a:srgbClr val="177245"/>
                </a:solidFill>
              </a:rPr>
              <a:t>Reached table</a:t>
            </a:r>
            <a:endParaRPr lang="en-US" sz="1700" dirty="0"/>
          </a:p>
        </p:txBody>
      </p:sp>
      <p:sp>
        <p:nvSpPr>
          <p:cNvPr id="21" name="Text 19"/>
          <p:cNvSpPr/>
          <p:nvPr/>
        </p:nvSpPr>
        <p:spPr>
          <a:xfrm>
            <a:off x="4572000" y="3611880"/>
            <a:ext cx="3108960" cy="685800"/>
          </a:xfrm>
          <a:prstGeom prst="rect">
            <a:avLst/>
          </a:prstGeom>
          <a:noFill/>
          <a:ln/>
        </p:spPr>
        <p:txBody>
          <a:bodyPr wrap="square" lIns="762" tIns="762" rIns="762" bIns="762" rtlCol="0" anchor="ctr">
            <a:normAutofit/>
          </a:bodyPr>
          <a:lstStyle/>
          <a:p>
            <a:pPr algn="ctr" indent="0" marL="0">
              <a:buNone/>
            </a:pPr>
            <a:r>
              <a:rPr lang="en-US" sz="1400" dirty="0">
                <a:solidFill>
                  <a:srgbClr val="102A4C"/>
                </a:solidFill>
              </a:rPr>
              <a:t>States already generated; often stores best node so far.</a:t>
            </a:r>
            <a:endParaRPr lang="en-US" sz="1400" dirty="0"/>
          </a:p>
        </p:txBody>
      </p:sp>
      <p:sp>
        <p:nvSpPr>
          <p:cNvPr id="22" name="Text 20"/>
          <p:cNvSpPr/>
          <p:nvPr/>
        </p:nvSpPr>
        <p:spPr>
          <a:xfrm>
            <a:off x="8869680" y="2971800"/>
            <a:ext cx="2194560" cy="502920"/>
          </a:xfrm>
          <a:prstGeom prst="roundRect">
            <a:avLst>
              <a:gd name="adj" fmla="val 14545"/>
            </a:avLst>
          </a:prstGeom>
          <a:solidFill>
            <a:srgbClr val="FFE5B6"/>
          </a:solidFill>
          <a:ln w="15240">
            <a:solidFill>
              <a:srgbClr val="F6A01A"/>
            </a:solidFill>
          </a:ln>
        </p:spPr>
        <p:txBody>
          <a:bodyPr wrap="square" lIns="508" tIns="508" rIns="508" bIns="508" rtlCol="0" anchor="ctr">
            <a:normAutofit/>
          </a:bodyPr>
          <a:lstStyle/>
          <a:p>
            <a:pPr algn="ctr" indent="0" marL="0">
              <a:buNone/>
            </a:pPr>
            <a:r>
              <a:rPr lang="en-US" sz="1700" b="1" dirty="0">
                <a:solidFill>
                  <a:srgbClr val="112E5C"/>
                </a:solidFill>
              </a:rPr>
              <a:t>Strategy</a:t>
            </a:r>
            <a:endParaRPr lang="en-US" sz="1700" dirty="0"/>
          </a:p>
        </p:txBody>
      </p:sp>
      <p:sp>
        <p:nvSpPr>
          <p:cNvPr id="23" name="Text 21"/>
          <p:cNvSpPr/>
          <p:nvPr/>
        </p:nvSpPr>
        <p:spPr>
          <a:xfrm>
            <a:off x="8458200" y="3611880"/>
            <a:ext cx="3017520" cy="685800"/>
          </a:xfrm>
          <a:prstGeom prst="rect">
            <a:avLst/>
          </a:prstGeom>
          <a:noFill/>
          <a:ln/>
        </p:spPr>
        <p:txBody>
          <a:bodyPr wrap="square" lIns="762" tIns="762" rIns="762" bIns="762" rtlCol="0" anchor="ctr">
            <a:normAutofit/>
          </a:bodyPr>
          <a:lstStyle/>
          <a:p>
            <a:pPr algn="ctr" indent="0" marL="0">
              <a:buNone/>
            </a:pPr>
            <a:r>
              <a:rPr lang="en-US" sz="1400" dirty="0">
                <a:solidFill>
                  <a:srgbClr val="102A4C"/>
                </a:solidFill>
              </a:rPr>
              <a:t>Rule for choosing which frontier node to expand next.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One Search Engine, Different Frontier Rules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777240" y="1417320"/>
            <a:ext cx="5303520" cy="3931920"/>
          </a:xfrm>
          <a:prstGeom prst="roundRect">
            <a:avLst>
              <a:gd name="adj" fmla="val 1163"/>
            </a:avLst>
          </a:prstGeom>
          <a:solidFill>
            <a:srgbClr val="0B1020"/>
          </a:solidFill>
          <a:ln w="12700">
            <a:solidFill>
              <a:srgbClr val="26344D"/>
            </a:solidFill>
            <a:prstDash val="solid"/>
          </a:ln>
        </p:spPr>
      </p:sp>
      <p:sp>
        <p:nvSpPr>
          <p:cNvPr id="8" name="Text 6"/>
          <p:cNvSpPr/>
          <p:nvPr/>
        </p:nvSpPr>
        <p:spPr>
          <a:xfrm>
            <a:off x="941832" y="1554480"/>
            <a:ext cx="4974336" cy="3657600"/>
          </a:xfrm>
          <a:prstGeom prst="rect">
            <a:avLst/>
          </a:prstGeom>
          <a:noFill/>
          <a:ln/>
        </p:spPr>
        <p:txBody>
          <a:bodyPr wrap="square" lIns="254" tIns="254" rIns="254" bIns="254" rtlCol="0" anchor="ctr">
            <a:normAutofit/>
          </a:bodyPr>
          <a:lstStyle/>
          <a:p>
            <a:pPr indent="0" marL="0">
              <a:buNone/>
            </a:pPr>
            <a:r>
              <a:rPr lang="en-US" sz="1120" dirty="0">
                <a:solidFill>
                  <a:srgbClr val="EAF2FF"/>
                </a:solidFill>
                <a:latin typeface="Consolas" pitchFamily="34" charset="0"/>
                <a:ea typeface="Consolas" pitchFamily="34" charset="-122"/>
                <a:cs typeface="Consolas" pitchFamily="34" charset="-120"/>
              </a:rPr>
              <a:t>frontier.add(start)</a:t>
            </a:r>
            <a:endParaRPr lang="en-US" sz="1120" dirty="0"/>
          </a:p>
          <a:p>
            <a:pPr indent="0" marL="0">
              <a:buNone/>
            </a:pPr>
            <a:r>
              <a:rPr lang="en-US" sz="1120" dirty="0">
                <a:solidFill>
                  <a:srgbClr val="EAF2FF"/>
                </a:solidFill>
                <a:latin typeface="Consolas" pitchFamily="34" charset="0"/>
                <a:ea typeface="Consolas" pitchFamily="34" charset="-122"/>
                <a:cs typeface="Consolas" pitchFamily="34" charset="-120"/>
              </a:rPr>
              <a:t>while frontier not empty:</a:t>
            </a:r>
            <a:endParaRPr lang="en-US" sz="1120" dirty="0"/>
          </a:p>
          <a:p>
            <a:pPr indent="0" marL="0">
              <a:buNone/>
            </a:pPr>
            <a:r>
              <a:rPr lang="en-US" sz="1120" dirty="0">
                <a:solidFill>
                  <a:srgbClr val="EAF2FF"/>
                </a:solidFill>
                <a:latin typeface="Consolas" pitchFamily="34" charset="0"/>
                <a:ea typeface="Consolas" pitchFamily="34" charset="-122"/>
                <a:cs typeface="Consolas" pitchFamily="34" charset="-120"/>
              </a:rPr>
              <a:t>    node = frontier.pop(strategy)</a:t>
            </a:r>
            <a:endParaRPr lang="en-US" sz="1120" dirty="0"/>
          </a:p>
          <a:p>
            <a:pPr indent="0" marL="0">
              <a:buNone/>
            </a:pPr>
            <a:r>
              <a:rPr lang="en-US" sz="1120" dirty="0">
                <a:solidFill>
                  <a:srgbClr val="EAF2FF"/>
                </a:solidFill>
                <a:latin typeface="Consolas" pitchFamily="34" charset="0"/>
                <a:ea typeface="Consolas" pitchFamily="34" charset="-122"/>
                <a:cs typeface="Consolas" pitchFamily="34" charset="-120"/>
              </a:rPr>
              <a:t>    if is_goal(node.state):</a:t>
            </a:r>
            <a:endParaRPr lang="en-US" sz="1120" dirty="0"/>
          </a:p>
          <a:p>
            <a:pPr indent="0" marL="0">
              <a:buNone/>
            </a:pPr>
            <a:r>
              <a:rPr lang="en-US" sz="1120" dirty="0">
                <a:solidFill>
                  <a:srgbClr val="EAF2FF"/>
                </a:solidFill>
                <a:latin typeface="Consolas" pitchFamily="34" charset="0"/>
                <a:ea typeface="Consolas" pitchFamily="34" charset="-122"/>
                <a:cs typeface="Consolas" pitchFamily="34" charset="-120"/>
              </a:rPr>
              <a:t>        return solution(node)</a:t>
            </a:r>
            <a:endParaRPr lang="en-US" sz="1120" dirty="0"/>
          </a:p>
          <a:p>
            <a:pPr indent="0" marL="0">
              <a:buNone/>
            </a:pPr>
            <a:r>
              <a:rPr lang="en-US" sz="1120" dirty="0">
                <a:solidFill>
                  <a:srgbClr val="EAF2FF"/>
                </a:solidFill>
                <a:latin typeface="Consolas" pitchFamily="34" charset="0"/>
                <a:ea typeface="Consolas" pitchFamily="34" charset="-122"/>
                <a:cs typeface="Consolas" pitchFamily="34" charset="-120"/>
              </a:rPr>
              <a:t>    for child in expand(node):</a:t>
            </a:r>
            <a:endParaRPr lang="en-US" sz="1120" dirty="0"/>
          </a:p>
          <a:p>
            <a:pPr indent="0" marL="0">
              <a:buNone/>
            </a:pPr>
            <a:r>
              <a:rPr lang="en-US" sz="1120" dirty="0">
                <a:solidFill>
                  <a:srgbClr val="EAF2FF"/>
                </a:solidFill>
                <a:latin typeface="Consolas" pitchFamily="34" charset="0"/>
                <a:ea typeface="Consolas" pitchFamily="34" charset="-122"/>
                <a:cs typeface="Consolas" pitchFamily="34" charset="-120"/>
              </a:rPr>
              <a:t>        frontier.add(child)</a:t>
            </a:r>
            <a:endParaRPr lang="en-US" sz="1120" dirty="0"/>
          </a:p>
        </p:txBody>
      </p:sp>
      <p:sp>
        <p:nvSpPr>
          <p:cNvPr id="9" name="Text 7"/>
          <p:cNvSpPr/>
          <p:nvPr/>
        </p:nvSpPr>
        <p:spPr>
          <a:xfrm>
            <a:off x="6720840" y="1691640"/>
            <a:ext cx="1143000" cy="457200"/>
          </a:xfrm>
          <a:prstGeom prst="roundRect">
            <a:avLst>
              <a:gd name="adj" fmla="val 16000"/>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500" b="1" dirty="0">
                <a:solidFill>
                  <a:srgbClr val="2F7FD5"/>
                </a:solidFill>
              </a:rPr>
              <a:t>BFS</a:t>
            </a:r>
            <a:endParaRPr lang="en-US" sz="1500" dirty="0"/>
          </a:p>
        </p:txBody>
      </p:sp>
      <p:sp>
        <p:nvSpPr>
          <p:cNvPr id="10" name="Text 8"/>
          <p:cNvSpPr/>
          <p:nvPr/>
        </p:nvSpPr>
        <p:spPr>
          <a:xfrm>
            <a:off x="8092440" y="1691640"/>
            <a:ext cx="2011680" cy="219456"/>
          </a:xfrm>
          <a:prstGeom prst="rect">
            <a:avLst/>
          </a:prstGeom>
          <a:noFill/>
          <a:ln/>
        </p:spPr>
        <p:txBody>
          <a:bodyPr wrap="square" lIns="762" tIns="762" rIns="762" bIns="762" rtlCol="0" anchor="ctr">
            <a:normAutofit/>
          </a:bodyPr>
          <a:lstStyle/>
          <a:p>
            <a:pPr algn="l" indent="0" marL="0">
              <a:buNone/>
            </a:pPr>
            <a:r>
              <a:rPr lang="en-US" sz="1500" b="1" dirty="0">
                <a:solidFill>
                  <a:srgbClr val="102A4C"/>
                </a:solidFill>
              </a:rPr>
              <a:t>FIFO queue</a:t>
            </a:r>
            <a:endParaRPr lang="en-US" sz="1500" dirty="0"/>
          </a:p>
        </p:txBody>
      </p:sp>
      <p:sp>
        <p:nvSpPr>
          <p:cNvPr id="11" name="Text 9"/>
          <p:cNvSpPr/>
          <p:nvPr/>
        </p:nvSpPr>
        <p:spPr>
          <a:xfrm>
            <a:off x="8092440" y="1984248"/>
            <a:ext cx="2834640" cy="201168"/>
          </a:xfrm>
          <a:prstGeom prst="rect">
            <a:avLst/>
          </a:prstGeom>
          <a:noFill/>
          <a:ln/>
        </p:spPr>
        <p:txBody>
          <a:bodyPr wrap="square" lIns="762" tIns="762" rIns="762" bIns="762" rtlCol="0" anchor="ctr">
            <a:normAutofit/>
          </a:bodyPr>
          <a:lstStyle/>
          <a:p>
            <a:pPr algn="l" indent="0" marL="0">
              <a:buNone/>
            </a:pPr>
            <a:r>
              <a:rPr lang="en-US" sz="1250" dirty="0">
                <a:solidFill>
                  <a:srgbClr val="5C6B80"/>
                </a:solidFill>
              </a:rPr>
              <a:t>shallowest first</a:t>
            </a:r>
            <a:endParaRPr lang="en-US" sz="1250" dirty="0"/>
          </a:p>
        </p:txBody>
      </p:sp>
      <p:sp>
        <p:nvSpPr>
          <p:cNvPr id="12" name="Text 10"/>
          <p:cNvSpPr/>
          <p:nvPr/>
        </p:nvSpPr>
        <p:spPr>
          <a:xfrm>
            <a:off x="6720840" y="2862072"/>
            <a:ext cx="1143000" cy="457200"/>
          </a:xfrm>
          <a:prstGeom prst="roundRect">
            <a:avLst>
              <a:gd name="adj" fmla="val 16000"/>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500" b="1" dirty="0">
                <a:solidFill>
                  <a:srgbClr val="177245"/>
                </a:solidFill>
              </a:rPr>
              <a:t>UCS</a:t>
            </a:r>
            <a:endParaRPr lang="en-US" sz="1500" dirty="0"/>
          </a:p>
        </p:txBody>
      </p:sp>
      <p:sp>
        <p:nvSpPr>
          <p:cNvPr id="13" name="Text 11"/>
          <p:cNvSpPr/>
          <p:nvPr/>
        </p:nvSpPr>
        <p:spPr>
          <a:xfrm>
            <a:off x="8092440" y="2862072"/>
            <a:ext cx="2011680" cy="219456"/>
          </a:xfrm>
          <a:prstGeom prst="rect">
            <a:avLst/>
          </a:prstGeom>
          <a:noFill/>
          <a:ln/>
        </p:spPr>
        <p:txBody>
          <a:bodyPr wrap="square" lIns="762" tIns="762" rIns="762" bIns="762" rtlCol="0" anchor="ctr">
            <a:normAutofit/>
          </a:bodyPr>
          <a:lstStyle/>
          <a:p>
            <a:pPr algn="l" indent="0" marL="0">
              <a:buNone/>
            </a:pPr>
            <a:r>
              <a:rPr lang="en-US" sz="1500" b="1" dirty="0">
                <a:solidFill>
                  <a:srgbClr val="102A4C"/>
                </a:solidFill>
              </a:rPr>
              <a:t>priority by g(n)</a:t>
            </a:r>
            <a:endParaRPr lang="en-US" sz="1500" dirty="0"/>
          </a:p>
        </p:txBody>
      </p:sp>
      <p:sp>
        <p:nvSpPr>
          <p:cNvPr id="14" name="Text 12"/>
          <p:cNvSpPr/>
          <p:nvPr/>
        </p:nvSpPr>
        <p:spPr>
          <a:xfrm>
            <a:off x="8092440" y="3154680"/>
            <a:ext cx="2834640" cy="201168"/>
          </a:xfrm>
          <a:prstGeom prst="rect">
            <a:avLst/>
          </a:prstGeom>
          <a:noFill/>
          <a:ln/>
        </p:spPr>
        <p:txBody>
          <a:bodyPr wrap="square" lIns="762" tIns="762" rIns="762" bIns="762" rtlCol="0" anchor="ctr">
            <a:normAutofit/>
          </a:bodyPr>
          <a:lstStyle/>
          <a:p>
            <a:pPr algn="l" indent="0" marL="0">
              <a:buNone/>
            </a:pPr>
            <a:r>
              <a:rPr lang="en-US" sz="1250" dirty="0">
                <a:solidFill>
                  <a:srgbClr val="5C6B80"/>
                </a:solidFill>
              </a:rPr>
              <a:t>cheapest path first</a:t>
            </a:r>
            <a:endParaRPr lang="en-US" sz="1250" dirty="0"/>
          </a:p>
        </p:txBody>
      </p:sp>
      <p:sp>
        <p:nvSpPr>
          <p:cNvPr id="15" name="Text 13"/>
          <p:cNvSpPr/>
          <p:nvPr/>
        </p:nvSpPr>
        <p:spPr>
          <a:xfrm>
            <a:off x="6720840" y="4032504"/>
            <a:ext cx="1143000" cy="457200"/>
          </a:xfrm>
          <a:prstGeom prst="roundRect">
            <a:avLst>
              <a:gd name="adj" fmla="val 16000"/>
            </a:avLst>
          </a:prstGeom>
          <a:solidFill>
            <a:srgbClr val="FFE5B6"/>
          </a:solidFill>
          <a:ln w="15240">
            <a:solidFill>
              <a:srgbClr val="F6A01A"/>
            </a:solidFill>
          </a:ln>
        </p:spPr>
        <p:txBody>
          <a:bodyPr wrap="square" lIns="508" tIns="508" rIns="508" bIns="508" rtlCol="0" anchor="ctr">
            <a:normAutofit/>
          </a:bodyPr>
          <a:lstStyle/>
          <a:p>
            <a:pPr algn="ctr" indent="0" marL="0">
              <a:buNone/>
            </a:pPr>
            <a:r>
              <a:rPr lang="en-US" sz="1500" b="1" dirty="0">
                <a:solidFill>
                  <a:srgbClr val="112E5C"/>
                </a:solidFill>
              </a:rPr>
              <a:t>DFS</a:t>
            </a:r>
            <a:endParaRPr lang="en-US" sz="1500" dirty="0"/>
          </a:p>
        </p:txBody>
      </p:sp>
      <p:sp>
        <p:nvSpPr>
          <p:cNvPr id="16" name="Text 14"/>
          <p:cNvSpPr/>
          <p:nvPr/>
        </p:nvSpPr>
        <p:spPr>
          <a:xfrm>
            <a:off x="8092440" y="4032504"/>
            <a:ext cx="2011680" cy="219456"/>
          </a:xfrm>
          <a:prstGeom prst="rect">
            <a:avLst/>
          </a:prstGeom>
          <a:noFill/>
          <a:ln/>
        </p:spPr>
        <p:txBody>
          <a:bodyPr wrap="square" lIns="762" tIns="762" rIns="762" bIns="762" rtlCol="0" anchor="ctr">
            <a:normAutofit/>
          </a:bodyPr>
          <a:lstStyle/>
          <a:p>
            <a:pPr algn="l" indent="0" marL="0">
              <a:buNone/>
            </a:pPr>
            <a:r>
              <a:rPr lang="en-US" sz="1500" b="1" dirty="0">
                <a:solidFill>
                  <a:srgbClr val="102A4C"/>
                </a:solidFill>
              </a:rPr>
              <a:t>LIFO stack</a:t>
            </a:r>
            <a:endParaRPr lang="en-US" sz="1500" dirty="0"/>
          </a:p>
        </p:txBody>
      </p:sp>
      <p:sp>
        <p:nvSpPr>
          <p:cNvPr id="17" name="Text 15"/>
          <p:cNvSpPr/>
          <p:nvPr/>
        </p:nvSpPr>
        <p:spPr>
          <a:xfrm>
            <a:off x="8092440" y="4325112"/>
            <a:ext cx="2834640" cy="201168"/>
          </a:xfrm>
          <a:prstGeom prst="rect">
            <a:avLst/>
          </a:prstGeom>
          <a:noFill/>
          <a:ln/>
        </p:spPr>
        <p:txBody>
          <a:bodyPr wrap="square" lIns="762" tIns="762" rIns="762" bIns="762" rtlCol="0" anchor="ctr">
            <a:normAutofit/>
          </a:bodyPr>
          <a:lstStyle/>
          <a:p>
            <a:pPr algn="l" indent="0" marL="0">
              <a:buNone/>
            </a:pPr>
            <a:r>
              <a:rPr lang="en-US" sz="1250" dirty="0">
                <a:solidFill>
                  <a:srgbClr val="5C6B80"/>
                </a:solidFill>
              </a:rPr>
              <a:t>deepest first</a:t>
            </a:r>
            <a:endParaRPr lang="en-US" sz="1250" dirty="0"/>
          </a:p>
        </p:txBody>
      </p:sp>
      <p:sp>
        <p:nvSpPr>
          <p:cNvPr id="18" name="Text 16"/>
          <p:cNvSpPr/>
          <p:nvPr/>
        </p:nvSpPr>
        <p:spPr>
          <a:xfrm>
            <a:off x="6583680" y="5257800"/>
            <a:ext cx="4709160" cy="411480"/>
          </a:xfrm>
          <a:prstGeom prst="rect">
            <a:avLst/>
          </a:prstGeom>
          <a:noFill/>
          <a:ln/>
        </p:spPr>
        <p:txBody>
          <a:bodyPr wrap="square" lIns="762" tIns="762" rIns="762" bIns="762" rtlCol="0" anchor="ctr">
            <a:normAutofit/>
          </a:bodyPr>
          <a:lstStyle/>
          <a:p>
            <a:pPr algn="ctr" indent="0" marL="0">
              <a:buNone/>
            </a:pPr>
            <a:r>
              <a:rPr lang="en-US" sz="1700" b="1" dirty="0">
                <a:solidFill>
                  <a:srgbClr val="112E5C"/>
                </a:solidFill>
              </a:rPr>
              <a:t>The algorithm changes mainly by changing how the frontier is ordered.</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Search Data Structures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325880"/>
            <a:ext cx="5760720" cy="4754880"/>
          </a:xfrm>
          <a:prstGeom prst="rect">
            <a:avLst/>
          </a:prstGeom>
          <a:noFill/>
          <a:ln/>
        </p:spPr>
        <p:txBody>
          <a:bodyPr wrap="square" lIns="635" tIns="635" rIns="635" bIns="635" rtlCol="0" anchor="ctr">
            <a:normAutofit/>
          </a:bodyPr>
          <a:lstStyle/>
          <a:p>
            <a:r>
              <a:rPr lang="en-US" sz="1500" b="1" dirty="0">
                <a:solidFill>
                  <a:srgbClr val="112E5C"/>
                </a:solidFill>
              </a:rPr>
              <a:t>Search node fields</a:t>
            </a:r>
            <a:endParaRPr lang="en-US" sz="1500" dirty="0"/>
          </a:p>
          <a:p>
            <a:r>
              <a:rPr lang="en-US" sz="1500" dirty="0">
                <a:solidFill>
                  <a:srgbClr val="102A4C"/>
                </a:solidFill>
              </a:rPr>
              <a:t>node.STATE</a:t>
            </a:r>
            <a:endParaRPr lang="en-US" sz="1500" dirty="0"/>
          </a:p>
          <a:p>
            <a:r>
              <a:rPr lang="en-US" sz="1500" dirty="0">
                <a:solidFill>
                  <a:srgbClr val="102A4C"/>
                </a:solidFill>
              </a:rPr>
              <a:t>node.PARENT</a:t>
            </a:r>
            <a:endParaRPr lang="en-US" sz="1500" dirty="0"/>
          </a:p>
          <a:p>
            <a:r>
              <a:rPr lang="en-US" sz="1500" dirty="0">
                <a:solidFill>
                  <a:srgbClr val="102A4C"/>
                </a:solidFill>
              </a:rPr>
              <a:t>node.ACTION</a:t>
            </a:r>
            <a:endParaRPr lang="en-US" sz="1500" dirty="0"/>
          </a:p>
          <a:p>
            <a:r>
              <a:rPr lang="en-US" sz="1500" dirty="0">
                <a:solidFill>
                  <a:srgbClr val="102A4C"/>
                </a:solidFill>
              </a:rPr>
              <a:t>node.PATH-COST, also written g(node)</a:t>
            </a:r>
            <a:endParaRPr lang="en-US" sz="1500" dirty="0"/>
          </a:p>
          <a:p>
            <a:r>
              <a:rPr lang="en-US" sz="1500" b="1" dirty="0">
                <a:solidFill>
                  <a:srgbClr val="177245"/>
                </a:solidFill>
              </a:rPr>
              <a:t>Frontier operations</a:t>
            </a:r>
            <a:endParaRPr lang="en-US" sz="1500" dirty="0"/>
          </a:p>
          <a:p>
            <a:r>
              <a:rPr lang="en-US" sz="1500" dirty="0">
                <a:solidFill>
                  <a:srgbClr val="102A4C"/>
                </a:solidFill>
              </a:rPr>
              <a:t>IS-EMPTY(frontier), POP(frontier), TOP(frontier), ADD(node, frontier)</a:t>
            </a:r>
            <a:endParaRPr lang="en-US" sz="1500" dirty="0"/>
          </a:p>
          <a:p>
            <a:r>
              <a:rPr lang="en-US" sz="1500" b="1" dirty="0">
                <a:solidFill>
                  <a:srgbClr val="743A6D"/>
                </a:solidFill>
              </a:rPr>
              <a:t>Queues</a:t>
            </a:r>
            <a:endParaRPr lang="en-US" sz="1500" dirty="0"/>
          </a:p>
          <a:p>
            <a:r>
              <a:rPr lang="en-US" sz="1500" dirty="0">
                <a:solidFill>
                  <a:srgbClr val="102A4C"/>
                </a:solidFill>
              </a:rPr>
              <a:t>Priority queue for best-first/UCS; FIFO for BFS; LIFO stack for DFS</a:t>
            </a:r>
            <a:endParaRPr lang="en-US" sz="1500" dirty="0"/>
          </a:p>
        </p:txBody>
      </p:sp>
      <p:sp>
        <p:nvSpPr>
          <p:cNvPr id="8" name="Text 6"/>
          <p:cNvSpPr/>
          <p:nvPr/>
        </p:nvSpPr>
        <p:spPr>
          <a:xfrm>
            <a:off x="7406640" y="1508760"/>
            <a:ext cx="292608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700" b="1" dirty="0">
                <a:solidFill>
                  <a:srgbClr val="2F7FD5"/>
                </a:solidFill>
              </a:rPr>
              <a:t>Node</a:t>
            </a:r>
            <a:endParaRPr lang="en-US" sz="1700" dirty="0"/>
          </a:p>
        </p:txBody>
      </p:sp>
      <p:sp>
        <p:nvSpPr>
          <p:cNvPr id="9" name="Text 7"/>
          <p:cNvSpPr/>
          <p:nvPr/>
        </p:nvSpPr>
        <p:spPr>
          <a:xfrm>
            <a:off x="7726680" y="2286000"/>
            <a:ext cx="2286000" cy="384048"/>
          </a:xfrm>
          <a:prstGeom prst="roundRect">
            <a:avLst>
              <a:gd name="adj" fmla="val 19048"/>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200" b="1" dirty="0">
                <a:solidFill>
                  <a:srgbClr val="112E5C"/>
                </a:solidFill>
              </a:rPr>
              <a:t>STATE</a:t>
            </a:r>
            <a:endParaRPr lang="en-US" sz="1200" dirty="0"/>
          </a:p>
        </p:txBody>
      </p:sp>
      <p:sp>
        <p:nvSpPr>
          <p:cNvPr id="10" name="Text 8"/>
          <p:cNvSpPr/>
          <p:nvPr/>
        </p:nvSpPr>
        <p:spPr>
          <a:xfrm>
            <a:off x="7726680" y="2852928"/>
            <a:ext cx="2286000" cy="384048"/>
          </a:xfrm>
          <a:prstGeom prst="roundRect">
            <a:avLst>
              <a:gd name="adj" fmla="val 19048"/>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200" b="1" dirty="0">
                <a:solidFill>
                  <a:srgbClr val="112E5C"/>
                </a:solidFill>
              </a:rPr>
              <a:t>PARENT</a:t>
            </a:r>
            <a:endParaRPr lang="en-US" sz="1200" dirty="0"/>
          </a:p>
        </p:txBody>
      </p:sp>
      <p:sp>
        <p:nvSpPr>
          <p:cNvPr id="11" name="Text 9"/>
          <p:cNvSpPr/>
          <p:nvPr/>
        </p:nvSpPr>
        <p:spPr>
          <a:xfrm>
            <a:off x="7726680" y="3419856"/>
            <a:ext cx="2286000" cy="384048"/>
          </a:xfrm>
          <a:prstGeom prst="roundRect">
            <a:avLst>
              <a:gd name="adj" fmla="val 19048"/>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200" b="1" dirty="0">
                <a:solidFill>
                  <a:srgbClr val="112E5C"/>
                </a:solidFill>
              </a:rPr>
              <a:t>ACTION</a:t>
            </a:r>
            <a:endParaRPr lang="en-US" sz="1200" dirty="0"/>
          </a:p>
        </p:txBody>
      </p:sp>
      <p:sp>
        <p:nvSpPr>
          <p:cNvPr id="12" name="Text 10"/>
          <p:cNvSpPr/>
          <p:nvPr/>
        </p:nvSpPr>
        <p:spPr>
          <a:xfrm>
            <a:off x="7726680" y="3986784"/>
            <a:ext cx="2286000" cy="384048"/>
          </a:xfrm>
          <a:prstGeom prst="roundRect">
            <a:avLst>
              <a:gd name="adj" fmla="val 19048"/>
            </a:avLst>
          </a:prstGeom>
          <a:solidFill>
            <a:srgbClr val="FFFFFF"/>
          </a:solidFill>
          <a:ln w="15240">
            <a:solidFill>
              <a:srgbClr val="112E5C"/>
            </a:solidFill>
          </a:ln>
        </p:spPr>
        <p:txBody>
          <a:bodyPr wrap="square" lIns="508" tIns="508" rIns="508" bIns="508" rtlCol="0" anchor="ctr">
            <a:normAutofit/>
          </a:bodyPr>
          <a:lstStyle/>
          <a:p>
            <a:pPr algn="ctr" indent="0" marL="0">
              <a:buNone/>
            </a:pPr>
            <a:r>
              <a:rPr lang="en-US" sz="1200" b="1" dirty="0">
                <a:solidFill>
                  <a:srgbClr val="112E5C"/>
                </a:solidFill>
              </a:rPr>
              <a:t>PATH-COST</a:t>
            </a:r>
            <a:endParaRPr lang="en-US" sz="1200" dirty="0"/>
          </a:p>
        </p:txBody>
      </p:sp>
      <p:sp>
        <p:nvSpPr>
          <p:cNvPr id="13" name="Text 11"/>
          <p:cNvSpPr/>
          <p:nvPr/>
        </p:nvSpPr>
        <p:spPr>
          <a:xfrm>
            <a:off x="6903720" y="4892040"/>
            <a:ext cx="4023360" cy="411480"/>
          </a:xfrm>
          <a:prstGeom prst="rect">
            <a:avLst/>
          </a:prstGeom>
          <a:noFill/>
          <a:ln/>
        </p:spPr>
        <p:txBody>
          <a:bodyPr wrap="square" lIns="762" tIns="762" rIns="762" bIns="762" rtlCol="0" anchor="ctr">
            <a:normAutofit/>
          </a:bodyPr>
          <a:lstStyle/>
          <a:p>
            <a:pPr algn="ctr" indent="0" marL="0">
              <a:buNone/>
            </a:pPr>
            <a:r>
              <a:rPr lang="en-US" sz="1600" b="1" dirty="0">
                <a:solidFill>
                  <a:srgbClr val="112E5C"/>
                </a:solidFill>
              </a:rPr>
              <a:t>Parent pointers recover the final solution path.</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Redundant Paths and Cycles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1064362" y="2490826"/>
            <a:ext cx="636422" cy="-371246"/>
          </a:xfrm>
          <a:prstGeom prst="line">
            <a:avLst/>
          </a:prstGeom>
          <a:solidFill>
            <a:srgbClr val="FFFFFF">
              <a:alpha val="0"/>
            </a:srgbClr>
          </a:solidFill>
          <a:ln w="13970">
            <a:solidFill>
              <a:srgbClr val="5C6B80"/>
            </a:solidFill>
            <a:prstDash val="solid"/>
            <a:tailEnd type="triangle"/>
          </a:ln>
        </p:spPr>
      </p:sp>
      <p:sp>
        <p:nvSpPr>
          <p:cNvPr id="8" name="Shape 6"/>
          <p:cNvSpPr/>
          <p:nvPr/>
        </p:nvSpPr>
        <p:spPr>
          <a:xfrm>
            <a:off x="1064362" y="2490826"/>
            <a:ext cx="636422" cy="424282"/>
          </a:xfrm>
          <a:prstGeom prst="line">
            <a:avLst/>
          </a:prstGeom>
          <a:solidFill>
            <a:srgbClr val="FFFFFF">
              <a:alpha val="0"/>
            </a:srgbClr>
          </a:solidFill>
          <a:ln w="13970">
            <a:solidFill>
              <a:srgbClr val="5C6B80"/>
            </a:solidFill>
            <a:prstDash val="solid"/>
            <a:tailEnd type="triangle"/>
          </a:ln>
        </p:spPr>
      </p:sp>
      <p:sp>
        <p:nvSpPr>
          <p:cNvPr id="9" name="Shape 7"/>
          <p:cNvSpPr/>
          <p:nvPr/>
        </p:nvSpPr>
        <p:spPr>
          <a:xfrm>
            <a:off x="1700784" y="2119579"/>
            <a:ext cx="556870" cy="-291694"/>
          </a:xfrm>
          <a:prstGeom prst="line">
            <a:avLst/>
          </a:prstGeom>
          <a:solidFill>
            <a:srgbClr val="FFFFFF">
              <a:alpha val="0"/>
            </a:srgbClr>
          </a:solidFill>
          <a:ln w="13970">
            <a:solidFill>
              <a:srgbClr val="5C6B80"/>
            </a:solidFill>
            <a:prstDash val="solid"/>
            <a:tailEnd type="triangle"/>
          </a:ln>
        </p:spPr>
      </p:sp>
      <p:sp>
        <p:nvSpPr>
          <p:cNvPr id="10" name="Shape 8"/>
          <p:cNvSpPr/>
          <p:nvPr/>
        </p:nvSpPr>
        <p:spPr>
          <a:xfrm>
            <a:off x="1700784" y="2119579"/>
            <a:ext cx="689458" cy="344729"/>
          </a:xfrm>
          <a:prstGeom prst="line">
            <a:avLst/>
          </a:prstGeom>
          <a:solidFill>
            <a:srgbClr val="FFFFFF">
              <a:alpha val="0"/>
            </a:srgbClr>
          </a:solidFill>
          <a:ln w="13970">
            <a:solidFill>
              <a:srgbClr val="5C6B80"/>
            </a:solidFill>
            <a:prstDash val="solid"/>
            <a:tailEnd type="triangle"/>
          </a:ln>
        </p:spPr>
      </p:sp>
      <p:sp>
        <p:nvSpPr>
          <p:cNvPr id="11" name="Shape 9"/>
          <p:cNvSpPr/>
          <p:nvPr/>
        </p:nvSpPr>
        <p:spPr>
          <a:xfrm>
            <a:off x="1700784" y="2119579"/>
            <a:ext cx="1352398" cy="238658"/>
          </a:xfrm>
          <a:prstGeom prst="line">
            <a:avLst/>
          </a:prstGeom>
          <a:solidFill>
            <a:srgbClr val="FFFFFF">
              <a:alpha val="0"/>
            </a:srgbClr>
          </a:solidFill>
          <a:ln w="13970">
            <a:solidFill>
              <a:srgbClr val="5C6B80"/>
            </a:solidFill>
            <a:prstDash val="solid"/>
            <a:tailEnd type="triangle"/>
          </a:ln>
        </p:spPr>
      </p:sp>
      <p:sp>
        <p:nvSpPr>
          <p:cNvPr id="12" name="Shape 10"/>
          <p:cNvSpPr/>
          <p:nvPr/>
        </p:nvSpPr>
        <p:spPr>
          <a:xfrm>
            <a:off x="2257654" y="1827886"/>
            <a:ext cx="583387" cy="-185623"/>
          </a:xfrm>
          <a:prstGeom prst="line">
            <a:avLst/>
          </a:prstGeom>
          <a:solidFill>
            <a:srgbClr val="FFFFFF">
              <a:alpha val="0"/>
            </a:srgbClr>
          </a:solidFill>
          <a:ln w="13970">
            <a:solidFill>
              <a:srgbClr val="5C6B80"/>
            </a:solidFill>
            <a:prstDash val="solid"/>
            <a:tailEnd type="triangle"/>
          </a:ln>
        </p:spPr>
      </p:sp>
      <p:sp>
        <p:nvSpPr>
          <p:cNvPr id="13" name="Shape 11"/>
          <p:cNvSpPr/>
          <p:nvPr/>
        </p:nvSpPr>
        <p:spPr>
          <a:xfrm>
            <a:off x="2841041" y="1642262"/>
            <a:ext cx="-450799" cy="822046"/>
          </a:xfrm>
          <a:prstGeom prst="line">
            <a:avLst/>
          </a:prstGeom>
          <a:solidFill>
            <a:srgbClr val="FFFFFF">
              <a:alpha val="0"/>
            </a:srgbClr>
          </a:solidFill>
          <a:ln w="13970">
            <a:solidFill>
              <a:srgbClr val="5C6B80"/>
            </a:solidFill>
            <a:prstDash val="solid"/>
            <a:tailEnd type="triangle"/>
          </a:ln>
        </p:spPr>
      </p:sp>
      <p:sp>
        <p:nvSpPr>
          <p:cNvPr id="14" name="Shape 12"/>
          <p:cNvSpPr/>
          <p:nvPr/>
        </p:nvSpPr>
        <p:spPr>
          <a:xfrm>
            <a:off x="2390242" y="2464308"/>
            <a:ext cx="450799" cy="-822046"/>
          </a:xfrm>
          <a:prstGeom prst="line">
            <a:avLst/>
          </a:prstGeom>
          <a:solidFill>
            <a:srgbClr val="FFFFFF">
              <a:alpha val="0"/>
            </a:srgbClr>
          </a:solidFill>
          <a:ln w="13970">
            <a:solidFill>
              <a:srgbClr val="5C6B80"/>
            </a:solidFill>
            <a:prstDash val="solid"/>
            <a:tailEnd type="triangle"/>
          </a:ln>
        </p:spPr>
      </p:sp>
      <p:sp>
        <p:nvSpPr>
          <p:cNvPr id="15" name="Shape 13"/>
          <p:cNvSpPr/>
          <p:nvPr/>
        </p:nvSpPr>
        <p:spPr>
          <a:xfrm>
            <a:off x="2390242" y="2464308"/>
            <a:ext cx="662940" cy="-106070"/>
          </a:xfrm>
          <a:prstGeom prst="line">
            <a:avLst/>
          </a:prstGeom>
          <a:solidFill>
            <a:srgbClr val="FFFFFF">
              <a:alpha val="0"/>
            </a:srgbClr>
          </a:solidFill>
          <a:ln w="13970">
            <a:solidFill>
              <a:srgbClr val="5C6B80"/>
            </a:solidFill>
            <a:prstDash val="solid"/>
            <a:tailEnd type="triangle"/>
          </a:ln>
        </p:spPr>
      </p:sp>
      <p:sp>
        <p:nvSpPr>
          <p:cNvPr id="16" name="Shape 14"/>
          <p:cNvSpPr/>
          <p:nvPr/>
        </p:nvSpPr>
        <p:spPr>
          <a:xfrm>
            <a:off x="3053182" y="2358238"/>
            <a:ext cx="-238658" cy="583387"/>
          </a:xfrm>
          <a:prstGeom prst="line">
            <a:avLst/>
          </a:prstGeom>
          <a:solidFill>
            <a:srgbClr val="FFFFFF">
              <a:alpha val="0"/>
            </a:srgbClr>
          </a:solidFill>
          <a:ln w="13970">
            <a:solidFill>
              <a:srgbClr val="5C6B80"/>
            </a:solidFill>
            <a:prstDash val="solid"/>
            <a:tailEnd type="triangle"/>
          </a:ln>
        </p:spPr>
      </p:sp>
      <p:sp>
        <p:nvSpPr>
          <p:cNvPr id="17" name="Shape 15"/>
          <p:cNvSpPr/>
          <p:nvPr/>
        </p:nvSpPr>
        <p:spPr>
          <a:xfrm>
            <a:off x="2814523" y="2941625"/>
            <a:ext cx="-1113739" cy="-26518"/>
          </a:xfrm>
          <a:prstGeom prst="line">
            <a:avLst/>
          </a:prstGeom>
          <a:solidFill>
            <a:srgbClr val="FFFFFF">
              <a:alpha val="0"/>
            </a:srgbClr>
          </a:solidFill>
          <a:ln w="13970">
            <a:solidFill>
              <a:srgbClr val="5C6B80"/>
            </a:solidFill>
            <a:prstDash val="solid"/>
            <a:tailEnd type="triangle"/>
          </a:ln>
        </p:spPr>
      </p:sp>
      <p:sp>
        <p:nvSpPr>
          <p:cNvPr id="18" name="Shape 16"/>
          <p:cNvSpPr/>
          <p:nvPr/>
        </p:nvSpPr>
        <p:spPr>
          <a:xfrm>
            <a:off x="1700784" y="2915107"/>
            <a:ext cx="583387" cy="450799"/>
          </a:xfrm>
          <a:prstGeom prst="line">
            <a:avLst/>
          </a:prstGeom>
          <a:solidFill>
            <a:srgbClr val="FFFFFF">
              <a:alpha val="0"/>
            </a:srgbClr>
          </a:solidFill>
          <a:ln w="13970">
            <a:solidFill>
              <a:srgbClr val="5C6B80"/>
            </a:solidFill>
            <a:prstDash val="solid"/>
            <a:tailEnd type="triangle"/>
          </a:ln>
        </p:spPr>
      </p:sp>
      <p:sp>
        <p:nvSpPr>
          <p:cNvPr id="19" name="Shape 17"/>
          <p:cNvSpPr/>
          <p:nvPr/>
        </p:nvSpPr>
        <p:spPr>
          <a:xfrm>
            <a:off x="2284171" y="3365906"/>
            <a:ext cx="530352" cy="-424282"/>
          </a:xfrm>
          <a:prstGeom prst="line">
            <a:avLst/>
          </a:prstGeom>
          <a:solidFill>
            <a:srgbClr val="FFFFFF">
              <a:alpha val="0"/>
            </a:srgbClr>
          </a:solidFill>
          <a:ln w="13970">
            <a:solidFill>
              <a:srgbClr val="5C6B80"/>
            </a:solidFill>
            <a:prstDash val="solid"/>
            <a:tailEnd type="triangle"/>
          </a:ln>
        </p:spPr>
      </p:sp>
      <p:sp>
        <p:nvSpPr>
          <p:cNvPr id="20" name="Shape 18"/>
          <p:cNvSpPr/>
          <p:nvPr/>
        </p:nvSpPr>
        <p:spPr>
          <a:xfrm>
            <a:off x="3053182" y="2358238"/>
            <a:ext cx="583387" cy="609905"/>
          </a:xfrm>
          <a:prstGeom prst="line">
            <a:avLst/>
          </a:prstGeom>
          <a:solidFill>
            <a:srgbClr val="FFFFFF">
              <a:alpha val="0"/>
            </a:srgbClr>
          </a:solidFill>
          <a:ln w="13970">
            <a:solidFill>
              <a:srgbClr val="5C6B80"/>
            </a:solidFill>
            <a:prstDash val="solid"/>
            <a:tailEnd type="triangle"/>
          </a:ln>
        </p:spPr>
      </p:sp>
      <p:sp>
        <p:nvSpPr>
          <p:cNvPr id="21" name="Shape 19"/>
          <p:cNvSpPr/>
          <p:nvPr/>
        </p:nvSpPr>
        <p:spPr>
          <a:xfrm>
            <a:off x="3636569" y="2968142"/>
            <a:ext cx="503834" cy="-371246"/>
          </a:xfrm>
          <a:prstGeom prst="line">
            <a:avLst/>
          </a:prstGeom>
          <a:solidFill>
            <a:srgbClr val="FFFFFF">
              <a:alpha val="0"/>
            </a:srgbClr>
          </a:solidFill>
          <a:ln w="13970">
            <a:solidFill>
              <a:srgbClr val="5C6B80"/>
            </a:solidFill>
            <a:prstDash val="solid"/>
            <a:tailEnd type="triangle"/>
          </a:ln>
        </p:spPr>
      </p:sp>
      <p:sp>
        <p:nvSpPr>
          <p:cNvPr id="22" name="Shape 20"/>
          <p:cNvSpPr/>
          <p:nvPr/>
        </p:nvSpPr>
        <p:spPr>
          <a:xfrm>
            <a:off x="4140403" y="2596896"/>
            <a:ext cx="-1750162" cy="-132588"/>
          </a:xfrm>
          <a:prstGeom prst="line">
            <a:avLst/>
          </a:prstGeom>
          <a:solidFill>
            <a:srgbClr val="FFFFFF">
              <a:alpha val="0"/>
            </a:srgbClr>
          </a:solidFill>
          <a:ln w="13970">
            <a:solidFill>
              <a:srgbClr val="5C6B80"/>
            </a:solidFill>
            <a:prstDash val="solid"/>
            <a:tailEnd type="triangle"/>
          </a:ln>
        </p:spPr>
      </p:sp>
      <p:sp>
        <p:nvSpPr>
          <p:cNvPr id="23" name="Shape 21"/>
          <p:cNvSpPr/>
          <p:nvPr/>
        </p:nvSpPr>
        <p:spPr>
          <a:xfrm>
            <a:off x="4140403" y="2596896"/>
            <a:ext cx="450799" cy="-556870"/>
          </a:xfrm>
          <a:prstGeom prst="line">
            <a:avLst/>
          </a:prstGeom>
          <a:solidFill>
            <a:srgbClr val="FFFFFF">
              <a:alpha val="0"/>
            </a:srgbClr>
          </a:solidFill>
          <a:ln w="13970">
            <a:solidFill>
              <a:srgbClr val="5C6B80"/>
            </a:solidFill>
            <a:prstDash val="solid"/>
            <a:tailEnd type="triangle"/>
          </a:ln>
        </p:spPr>
      </p:sp>
      <p:sp>
        <p:nvSpPr>
          <p:cNvPr id="24" name="Text 22"/>
          <p:cNvSpPr/>
          <p:nvPr/>
        </p:nvSpPr>
        <p:spPr>
          <a:xfrm>
            <a:off x="918058" y="234452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25" name="Text 23"/>
          <p:cNvSpPr/>
          <p:nvPr/>
        </p:nvSpPr>
        <p:spPr>
          <a:xfrm>
            <a:off x="1554480" y="197327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26" name="Text 24"/>
          <p:cNvSpPr/>
          <p:nvPr/>
        </p:nvSpPr>
        <p:spPr>
          <a:xfrm>
            <a:off x="1554480" y="2768803"/>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27" name="Text 25"/>
          <p:cNvSpPr/>
          <p:nvPr/>
        </p:nvSpPr>
        <p:spPr>
          <a:xfrm>
            <a:off x="2111350" y="168158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28" name="Text 26"/>
          <p:cNvSpPr/>
          <p:nvPr/>
        </p:nvSpPr>
        <p:spPr>
          <a:xfrm>
            <a:off x="2243938" y="2318004"/>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29" name="Text 27"/>
          <p:cNvSpPr/>
          <p:nvPr/>
        </p:nvSpPr>
        <p:spPr>
          <a:xfrm>
            <a:off x="2906878" y="2211934"/>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0" name="Text 28"/>
          <p:cNvSpPr/>
          <p:nvPr/>
        </p:nvSpPr>
        <p:spPr>
          <a:xfrm>
            <a:off x="2668219" y="2795321"/>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1" name="Text 29"/>
          <p:cNvSpPr/>
          <p:nvPr/>
        </p:nvSpPr>
        <p:spPr>
          <a:xfrm>
            <a:off x="2137867" y="321960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32" name="Text 30"/>
          <p:cNvSpPr/>
          <p:nvPr/>
        </p:nvSpPr>
        <p:spPr>
          <a:xfrm>
            <a:off x="2694737" y="14959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33" name="Text 31"/>
          <p:cNvSpPr/>
          <p:nvPr/>
        </p:nvSpPr>
        <p:spPr>
          <a:xfrm>
            <a:off x="3490265" y="282183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34" name="Text 32"/>
          <p:cNvSpPr/>
          <p:nvPr/>
        </p:nvSpPr>
        <p:spPr>
          <a:xfrm>
            <a:off x="3994099" y="245059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35" name="Text 33"/>
          <p:cNvSpPr/>
          <p:nvPr/>
        </p:nvSpPr>
        <p:spPr>
          <a:xfrm>
            <a:off x="4444898" y="1893722"/>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36" name="Text 34"/>
          <p:cNvSpPr/>
          <p:nvPr/>
        </p:nvSpPr>
        <p:spPr>
          <a:xfrm>
            <a:off x="6675120" y="1417320"/>
            <a:ext cx="4663440" cy="4023360"/>
          </a:xfrm>
          <a:prstGeom prst="rect">
            <a:avLst/>
          </a:prstGeom>
          <a:noFill/>
          <a:ln/>
        </p:spPr>
        <p:txBody>
          <a:bodyPr wrap="square" lIns="635" tIns="635" rIns="635" bIns="635" rtlCol="0" anchor="ctr">
            <a:normAutofit/>
          </a:bodyPr>
          <a:lstStyle/>
          <a:p>
            <a:r>
              <a:rPr lang="en-US" sz="1500" b="1" dirty="0">
                <a:solidFill>
                  <a:srgbClr val="112E5C"/>
                </a:solidFill>
              </a:rPr>
              <a:t>Repeated state</a:t>
            </a:r>
            <a:endParaRPr lang="en-US" sz="1500" dirty="0"/>
          </a:p>
          <a:p>
            <a:r>
              <a:rPr lang="en-US" sz="1500" dirty="0">
                <a:solidFill>
                  <a:srgbClr val="102A4C"/>
                </a:solidFill>
              </a:rPr>
              <a:t>same state reached by different paths</a:t>
            </a:r>
            <a:endParaRPr lang="en-US" sz="1500" dirty="0"/>
          </a:p>
          <a:p>
            <a:r>
              <a:rPr lang="en-US" sz="1500" b="1" dirty="0">
                <a:solidFill>
                  <a:srgbClr val="9B1C1C"/>
                </a:solidFill>
              </a:rPr>
              <a:t>Cycle</a:t>
            </a:r>
            <a:endParaRPr lang="en-US" sz="1500" dirty="0"/>
          </a:p>
          <a:p>
            <a:r>
              <a:rPr lang="en-US" sz="1500" dirty="0">
                <a:solidFill>
                  <a:srgbClr val="102A4C"/>
                </a:solidFill>
              </a:rPr>
              <a:t>path returns to a state already on the same path</a:t>
            </a:r>
            <a:endParaRPr lang="en-US" sz="1500" dirty="0"/>
          </a:p>
          <a:p>
            <a:r>
              <a:rPr lang="en-US" sz="1500" b="1" dirty="0">
                <a:solidFill>
                  <a:srgbClr val="177245"/>
                </a:solidFill>
              </a:rPr>
              <a:t>Options</a:t>
            </a:r>
            <a:endParaRPr lang="en-US" sz="1500" dirty="0"/>
          </a:p>
          <a:p>
            <a:r>
              <a:rPr lang="en-US" sz="1500" dirty="0">
                <a:solidFill>
                  <a:srgbClr val="102A4C"/>
                </a:solidFill>
              </a:rPr>
              <a:t>remember all reached states</a:t>
            </a:r>
            <a:endParaRPr lang="en-US" sz="1500" dirty="0"/>
          </a:p>
          <a:p>
            <a:r>
              <a:rPr lang="en-US" sz="1500" dirty="0">
                <a:solidFill>
                  <a:srgbClr val="102A4C"/>
                </a:solidFill>
              </a:rPr>
              <a:t>ignore repeats to save memory</a:t>
            </a:r>
            <a:endParaRPr lang="en-US" sz="1500" dirty="0"/>
          </a:p>
          <a:p>
            <a:r>
              <a:rPr lang="en-US" sz="1500" dirty="0">
                <a:solidFill>
                  <a:srgbClr val="102A4C"/>
                </a:solidFill>
              </a:rPr>
              <a:t>check only cycles as a compromise</a:t>
            </a:r>
            <a:endParaRPr lang="en-US" sz="1500" dirty="0"/>
          </a:p>
        </p:txBody>
      </p:sp>
      <p:sp>
        <p:nvSpPr>
          <p:cNvPr id="37" name="Text 35"/>
          <p:cNvSpPr/>
          <p:nvPr/>
        </p:nvSpPr>
        <p:spPr>
          <a:xfrm>
            <a:off x="1005840" y="5669280"/>
            <a:ext cx="10241280" cy="365760"/>
          </a:xfrm>
          <a:prstGeom prst="rect">
            <a:avLst/>
          </a:prstGeom>
          <a:noFill/>
          <a:ln/>
        </p:spPr>
        <p:txBody>
          <a:bodyPr wrap="square" lIns="762" tIns="762" rIns="762" bIns="762" rtlCol="0" anchor="ctr">
            <a:normAutofit/>
          </a:bodyPr>
          <a:lstStyle/>
          <a:p>
            <a:pPr algn="ctr" indent="0" marL="0">
              <a:buNone/>
            </a:pPr>
            <a:r>
              <a:rPr lang="en-US" sz="1800" b="1" dirty="0">
                <a:solidFill>
                  <a:srgbClr val="9B1C1C"/>
                </a:solidFill>
              </a:rPr>
              <a:t>Without memory, search may repeat itself indefinitely or waste massive work.</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How We Evaluate Search Algorithms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68680" y="1508760"/>
            <a:ext cx="219456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600" b="1" dirty="0">
                <a:solidFill>
                  <a:srgbClr val="2F7FD5"/>
                </a:solidFill>
              </a:rPr>
              <a:t>Complete?</a:t>
            </a:r>
            <a:endParaRPr lang="en-US" sz="1600" dirty="0"/>
          </a:p>
        </p:txBody>
      </p:sp>
      <p:sp>
        <p:nvSpPr>
          <p:cNvPr id="8" name="Text 6"/>
          <p:cNvSpPr/>
          <p:nvPr/>
        </p:nvSpPr>
        <p:spPr>
          <a:xfrm>
            <a:off x="3291840" y="1563624"/>
            <a:ext cx="2651760" cy="384048"/>
          </a:xfrm>
          <a:prstGeom prst="rect">
            <a:avLst/>
          </a:prstGeom>
          <a:noFill/>
          <a:ln/>
        </p:spPr>
        <p:txBody>
          <a:bodyPr wrap="square" lIns="762" tIns="762" rIns="762" bIns="762" rtlCol="0" anchor="ctr">
            <a:normAutofit/>
          </a:bodyPr>
          <a:lstStyle/>
          <a:p>
            <a:pPr algn="l" indent="0" marL="0">
              <a:buNone/>
            </a:pPr>
            <a:r>
              <a:rPr lang="en-US" sz="1450" dirty="0">
                <a:solidFill>
                  <a:srgbClr val="102A4C"/>
                </a:solidFill>
              </a:rPr>
              <a:t>Guaranteed to find a solution if one exists.</a:t>
            </a:r>
            <a:endParaRPr lang="en-US" sz="1450" dirty="0"/>
          </a:p>
        </p:txBody>
      </p:sp>
      <p:sp>
        <p:nvSpPr>
          <p:cNvPr id="9" name="Text 7"/>
          <p:cNvSpPr/>
          <p:nvPr/>
        </p:nvSpPr>
        <p:spPr>
          <a:xfrm>
            <a:off x="6355080" y="1508760"/>
            <a:ext cx="219456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600" b="1" dirty="0">
                <a:solidFill>
                  <a:srgbClr val="2F7FD5"/>
                </a:solidFill>
              </a:rPr>
              <a:t>Cost-optimal?</a:t>
            </a:r>
            <a:endParaRPr lang="en-US" sz="1600" dirty="0"/>
          </a:p>
        </p:txBody>
      </p:sp>
      <p:sp>
        <p:nvSpPr>
          <p:cNvPr id="10" name="Text 8"/>
          <p:cNvSpPr/>
          <p:nvPr/>
        </p:nvSpPr>
        <p:spPr>
          <a:xfrm>
            <a:off x="8778240" y="1563624"/>
            <a:ext cx="2651760" cy="384048"/>
          </a:xfrm>
          <a:prstGeom prst="rect">
            <a:avLst/>
          </a:prstGeom>
          <a:noFill/>
          <a:ln/>
        </p:spPr>
        <p:txBody>
          <a:bodyPr wrap="square" lIns="762" tIns="762" rIns="762" bIns="762" rtlCol="0" anchor="ctr">
            <a:normAutofit/>
          </a:bodyPr>
          <a:lstStyle/>
          <a:p>
            <a:pPr algn="l" indent="0" marL="0">
              <a:buNone/>
            </a:pPr>
            <a:r>
              <a:rPr lang="en-US" sz="1450" dirty="0">
                <a:solidFill>
                  <a:srgbClr val="102A4C"/>
                </a:solidFill>
              </a:rPr>
              <a:t>Guaranteed to find the least-cost solution.</a:t>
            </a:r>
            <a:endParaRPr lang="en-US" sz="1450" dirty="0"/>
          </a:p>
        </p:txBody>
      </p:sp>
      <p:sp>
        <p:nvSpPr>
          <p:cNvPr id="11" name="Text 9"/>
          <p:cNvSpPr/>
          <p:nvPr/>
        </p:nvSpPr>
        <p:spPr>
          <a:xfrm>
            <a:off x="868680" y="3063240"/>
            <a:ext cx="219456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600" b="1" dirty="0">
                <a:solidFill>
                  <a:srgbClr val="177245"/>
                </a:solidFill>
              </a:rPr>
              <a:t>Time complexity</a:t>
            </a:r>
            <a:endParaRPr lang="en-US" sz="1600" dirty="0"/>
          </a:p>
        </p:txBody>
      </p:sp>
      <p:sp>
        <p:nvSpPr>
          <p:cNvPr id="12" name="Text 10"/>
          <p:cNvSpPr/>
          <p:nvPr/>
        </p:nvSpPr>
        <p:spPr>
          <a:xfrm>
            <a:off x="3291840" y="3118104"/>
            <a:ext cx="2651760" cy="384048"/>
          </a:xfrm>
          <a:prstGeom prst="rect">
            <a:avLst/>
          </a:prstGeom>
          <a:noFill/>
          <a:ln/>
        </p:spPr>
        <p:txBody>
          <a:bodyPr wrap="square" lIns="762" tIns="762" rIns="762" bIns="762" rtlCol="0" anchor="ctr">
            <a:normAutofit/>
          </a:bodyPr>
          <a:lstStyle/>
          <a:p>
            <a:pPr algn="l" indent="0" marL="0">
              <a:buNone/>
            </a:pPr>
            <a:r>
              <a:rPr lang="en-US" sz="1450" dirty="0">
                <a:solidFill>
                  <a:srgbClr val="102A4C"/>
                </a:solidFill>
              </a:rPr>
              <a:t>How many states/actions are considered.</a:t>
            </a:r>
            <a:endParaRPr lang="en-US" sz="1450" dirty="0"/>
          </a:p>
        </p:txBody>
      </p:sp>
      <p:sp>
        <p:nvSpPr>
          <p:cNvPr id="13" name="Text 11"/>
          <p:cNvSpPr/>
          <p:nvPr/>
        </p:nvSpPr>
        <p:spPr>
          <a:xfrm>
            <a:off x="6355080" y="3063240"/>
            <a:ext cx="219456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600" b="1" dirty="0">
                <a:solidFill>
                  <a:srgbClr val="177245"/>
                </a:solidFill>
              </a:rPr>
              <a:t>Space complexity</a:t>
            </a:r>
            <a:endParaRPr lang="en-US" sz="1600" dirty="0"/>
          </a:p>
        </p:txBody>
      </p:sp>
      <p:sp>
        <p:nvSpPr>
          <p:cNvPr id="14" name="Text 12"/>
          <p:cNvSpPr/>
          <p:nvPr/>
        </p:nvSpPr>
        <p:spPr>
          <a:xfrm>
            <a:off x="8778240" y="3118104"/>
            <a:ext cx="2651760" cy="384048"/>
          </a:xfrm>
          <a:prstGeom prst="rect">
            <a:avLst/>
          </a:prstGeom>
          <a:noFill/>
          <a:ln/>
        </p:spPr>
        <p:txBody>
          <a:bodyPr wrap="square" lIns="762" tIns="762" rIns="762" bIns="762" rtlCol="0" anchor="ctr">
            <a:normAutofit/>
          </a:bodyPr>
          <a:lstStyle/>
          <a:p>
            <a:pPr algn="l" indent="0" marL="0">
              <a:buNone/>
            </a:pPr>
            <a:r>
              <a:rPr lang="en-US" sz="1450" dirty="0">
                <a:solidFill>
                  <a:srgbClr val="102A4C"/>
                </a:solidFill>
              </a:rPr>
              <a:t>How much memory is required.</a:t>
            </a:r>
            <a:endParaRPr lang="en-US" sz="1450" dirty="0"/>
          </a:p>
        </p:txBody>
      </p:sp>
      <p:sp>
        <p:nvSpPr>
          <p:cNvPr id="15" name="Text 13"/>
          <p:cNvSpPr/>
          <p:nvPr/>
        </p:nvSpPr>
        <p:spPr>
          <a:xfrm>
            <a:off x="914400" y="5074920"/>
            <a:ext cx="10241280" cy="411480"/>
          </a:xfrm>
          <a:prstGeom prst="rect">
            <a:avLst/>
          </a:prstGeom>
          <a:noFill/>
          <a:ln/>
        </p:spPr>
        <p:txBody>
          <a:bodyPr wrap="square" lIns="762" tIns="762" rIns="762" bIns="762" rtlCol="0" anchor="ctr">
            <a:normAutofit/>
          </a:bodyPr>
          <a:lstStyle/>
          <a:p>
            <a:pPr algn="ctr" indent="0" marL="0">
              <a:buNone/>
            </a:pPr>
            <a:r>
              <a:rPr lang="en-US" sz="1700" b="1" dirty="0">
                <a:solidFill>
                  <a:srgbClr val="112E5C"/>
                </a:solidFill>
              </a:rPr>
              <a:t>Implicit problem parameters: b = branching factor, d = shallowest solution depth, m = maximum path depth.</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2E5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12E5C"/>
          </a:solidFill>
          <a:ln w="12700">
            <a:solidFill>
              <a:srgbClr val="112E5C"/>
            </a:solidFill>
            <a:prstDash val="solid"/>
          </a:ln>
        </p:spPr>
      </p:sp>
      <p:sp>
        <p:nvSpPr>
          <p:cNvPr id="3" name="Shape 1"/>
          <p:cNvSpPr/>
          <p:nvPr/>
        </p:nvSpPr>
        <p:spPr>
          <a:xfrm>
            <a:off x="0" y="5440680"/>
            <a:ext cx="12191695" cy="109728"/>
          </a:xfrm>
          <a:prstGeom prst="rect">
            <a:avLst/>
          </a:prstGeom>
          <a:solidFill>
            <a:srgbClr val="F6A01A"/>
          </a:solidFill>
          <a:ln w="12700">
            <a:solidFill>
              <a:srgbClr val="F6A01A"/>
            </a:solidFill>
            <a:prstDash val="solid"/>
          </a:ln>
        </p:spPr>
      </p:sp>
      <p:sp>
        <p:nvSpPr>
          <p:cNvPr id="4" name="Text 2"/>
          <p:cNvSpPr/>
          <p:nvPr/>
        </p:nvSpPr>
        <p:spPr>
          <a:xfrm>
            <a:off x="914400" y="2240280"/>
            <a:ext cx="10332720" cy="502920"/>
          </a:xfrm>
          <a:prstGeom prst="rect">
            <a:avLst/>
          </a:prstGeom>
          <a:noFill/>
          <a:ln/>
        </p:spPr>
        <p:txBody>
          <a:bodyPr wrap="square" lIns="762" tIns="762" rIns="762" bIns="762" rtlCol="0" anchor="ctr">
            <a:normAutofit/>
          </a:bodyPr>
          <a:lstStyle/>
          <a:p>
            <a:pPr algn="ctr" indent="0" marL="0">
              <a:buNone/>
            </a:pPr>
            <a:r>
              <a:rPr lang="en-US" sz="3600" b="1" dirty="0">
                <a:solidFill>
                  <a:srgbClr val="FFFFFF"/>
                </a:solidFill>
              </a:rPr>
              <a:t>Section 3.4</a:t>
            </a:r>
            <a:endParaRPr lang="en-US" sz="3600" dirty="0"/>
          </a:p>
        </p:txBody>
      </p:sp>
      <p:sp>
        <p:nvSpPr>
          <p:cNvPr id="5" name="Text 3"/>
          <p:cNvSpPr/>
          <p:nvPr/>
        </p:nvSpPr>
        <p:spPr>
          <a:xfrm>
            <a:off x="914400" y="2971800"/>
            <a:ext cx="10332720" cy="365760"/>
          </a:xfrm>
          <a:prstGeom prst="rect">
            <a:avLst/>
          </a:prstGeom>
          <a:noFill/>
          <a:ln/>
        </p:spPr>
        <p:txBody>
          <a:bodyPr wrap="square" lIns="762" tIns="762" rIns="762" bIns="762" rtlCol="0" anchor="ctr">
            <a:normAutofit/>
          </a:bodyPr>
          <a:lstStyle/>
          <a:p>
            <a:pPr algn="ctr" indent="0" marL="0">
              <a:buNone/>
            </a:pPr>
            <a:r>
              <a:rPr lang="en-US" sz="1900" dirty="0">
                <a:solidFill>
                  <a:srgbClr val="DCE8FF"/>
                </a:solidFill>
              </a:rPr>
              <a:t>Uninformed Search Strategies</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Breadth-First Search (BFS)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417320"/>
            <a:ext cx="182880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600" b="1" dirty="0">
                <a:solidFill>
                  <a:srgbClr val="2F7FD5"/>
                </a:solidFill>
              </a:rPr>
              <a:t>Strategy</a:t>
            </a:r>
            <a:endParaRPr lang="en-US" sz="1600" dirty="0"/>
          </a:p>
        </p:txBody>
      </p:sp>
      <p:sp>
        <p:nvSpPr>
          <p:cNvPr id="8" name="Text 6"/>
          <p:cNvSpPr/>
          <p:nvPr/>
        </p:nvSpPr>
        <p:spPr>
          <a:xfrm>
            <a:off x="2880360" y="1463040"/>
            <a:ext cx="4206240" cy="320040"/>
          </a:xfrm>
          <a:prstGeom prst="rect">
            <a:avLst/>
          </a:prstGeom>
          <a:noFill/>
          <a:ln/>
        </p:spPr>
        <p:txBody>
          <a:bodyPr wrap="square" lIns="762" tIns="762" rIns="762" bIns="762" rtlCol="0" anchor="ctr">
            <a:normAutofit/>
          </a:bodyPr>
          <a:lstStyle/>
          <a:p>
            <a:pPr algn="l" indent="0" marL="0">
              <a:buNone/>
            </a:pPr>
            <a:r>
              <a:rPr lang="en-US" sz="1700" b="1" dirty="0">
                <a:solidFill>
                  <a:srgbClr val="102A4C"/>
                </a:solidFill>
              </a:rPr>
              <a:t>Expand the shallowest node first.</a:t>
            </a:r>
            <a:endParaRPr lang="en-US" sz="1700" dirty="0"/>
          </a:p>
        </p:txBody>
      </p:sp>
      <p:sp>
        <p:nvSpPr>
          <p:cNvPr id="9" name="Text 7"/>
          <p:cNvSpPr/>
          <p:nvPr/>
        </p:nvSpPr>
        <p:spPr>
          <a:xfrm>
            <a:off x="822960" y="2240280"/>
            <a:ext cx="182880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600" b="1" dirty="0">
                <a:solidFill>
                  <a:srgbClr val="177245"/>
                </a:solidFill>
              </a:rPr>
              <a:t>Implementation</a:t>
            </a:r>
            <a:endParaRPr lang="en-US" sz="1600" dirty="0"/>
          </a:p>
        </p:txBody>
      </p:sp>
      <p:sp>
        <p:nvSpPr>
          <p:cNvPr id="10" name="Text 8"/>
          <p:cNvSpPr/>
          <p:nvPr/>
        </p:nvSpPr>
        <p:spPr>
          <a:xfrm>
            <a:off x="2880360" y="2286000"/>
            <a:ext cx="4389120" cy="320040"/>
          </a:xfrm>
          <a:prstGeom prst="rect">
            <a:avLst/>
          </a:prstGeom>
          <a:noFill/>
          <a:ln/>
        </p:spPr>
        <p:txBody>
          <a:bodyPr wrap="square" lIns="762" tIns="762" rIns="762" bIns="762" rtlCol="0" anchor="ctr">
            <a:normAutofit/>
          </a:bodyPr>
          <a:lstStyle/>
          <a:p>
            <a:pPr algn="l" indent="0" marL="0">
              <a:buNone/>
            </a:pPr>
            <a:r>
              <a:rPr lang="en-US" sz="1600" dirty="0">
                <a:solidFill>
                  <a:srgbClr val="102A4C"/>
                </a:solidFill>
              </a:rPr>
              <a:t>FIFO queue: oldest generated nodes expand first.</a:t>
            </a:r>
            <a:endParaRPr lang="en-US" sz="1600" dirty="0"/>
          </a:p>
        </p:txBody>
      </p:sp>
      <p:sp>
        <p:nvSpPr>
          <p:cNvPr id="11" name="Text 9"/>
          <p:cNvSpPr/>
          <p:nvPr/>
        </p:nvSpPr>
        <p:spPr>
          <a:xfrm>
            <a:off x="822960" y="3063240"/>
            <a:ext cx="1828800" cy="502920"/>
          </a:xfrm>
          <a:prstGeom prst="roundRect">
            <a:avLst>
              <a:gd name="adj" fmla="val 14545"/>
            </a:avLst>
          </a:prstGeom>
          <a:solidFill>
            <a:srgbClr val="FFE5B6"/>
          </a:solidFill>
          <a:ln w="15240">
            <a:solidFill>
              <a:srgbClr val="F6A01A"/>
            </a:solidFill>
          </a:ln>
        </p:spPr>
        <p:txBody>
          <a:bodyPr wrap="square" lIns="508" tIns="508" rIns="508" bIns="508" rtlCol="0" anchor="ctr">
            <a:normAutofit/>
          </a:bodyPr>
          <a:lstStyle/>
          <a:p>
            <a:pPr algn="ctr" indent="0" marL="0">
              <a:buNone/>
            </a:pPr>
            <a:r>
              <a:rPr lang="en-US" sz="1600" b="1" dirty="0">
                <a:solidFill>
                  <a:srgbClr val="112E5C"/>
                </a:solidFill>
              </a:rPr>
              <a:t>Guarantees</a:t>
            </a:r>
            <a:endParaRPr lang="en-US" sz="1600" dirty="0"/>
          </a:p>
        </p:txBody>
      </p:sp>
      <p:sp>
        <p:nvSpPr>
          <p:cNvPr id="12" name="Text 10"/>
          <p:cNvSpPr/>
          <p:nvPr/>
        </p:nvSpPr>
        <p:spPr>
          <a:xfrm>
            <a:off x="2880360" y="3108960"/>
            <a:ext cx="5029200" cy="320040"/>
          </a:xfrm>
          <a:prstGeom prst="rect">
            <a:avLst/>
          </a:prstGeom>
          <a:noFill/>
          <a:ln/>
        </p:spPr>
        <p:txBody>
          <a:bodyPr wrap="square" lIns="762" tIns="762" rIns="762" bIns="762" rtlCol="0" anchor="ctr">
            <a:normAutofit/>
          </a:bodyPr>
          <a:lstStyle/>
          <a:p>
            <a:pPr algn="l" indent="0" marL="0">
              <a:buNone/>
            </a:pPr>
            <a:r>
              <a:rPr lang="en-US" sz="1600" dirty="0">
                <a:solidFill>
                  <a:srgbClr val="102A4C"/>
                </a:solidFill>
              </a:rPr>
              <a:t>Complete; cost-optimal only when all actions have equal cost.</a:t>
            </a:r>
            <a:endParaRPr lang="en-US" sz="1600" dirty="0"/>
          </a:p>
        </p:txBody>
      </p:sp>
      <p:sp>
        <p:nvSpPr>
          <p:cNvPr id="13" name="Shape 11"/>
          <p:cNvSpPr/>
          <p:nvPr/>
        </p:nvSpPr>
        <p:spPr>
          <a:xfrm>
            <a:off x="10564978" y="1881835"/>
            <a:ext cx="-1355141" cy="641909"/>
          </a:xfrm>
          <a:prstGeom prst="line">
            <a:avLst/>
          </a:prstGeom>
          <a:solidFill>
            <a:srgbClr val="FFFFFF">
              <a:alpha val="0"/>
            </a:srgbClr>
          </a:solidFill>
          <a:ln w="13970">
            <a:solidFill>
              <a:srgbClr val="D8DEE8"/>
            </a:solidFill>
            <a:prstDash val="solid"/>
            <a:tailEnd type="none"/>
          </a:ln>
        </p:spPr>
      </p:sp>
      <p:sp>
        <p:nvSpPr>
          <p:cNvPr id="14" name="Shape 12"/>
          <p:cNvSpPr/>
          <p:nvPr/>
        </p:nvSpPr>
        <p:spPr>
          <a:xfrm>
            <a:off x="10564978" y="1881835"/>
            <a:ext cx="0" cy="641909"/>
          </a:xfrm>
          <a:prstGeom prst="line">
            <a:avLst/>
          </a:prstGeom>
          <a:solidFill>
            <a:srgbClr val="FFFFFF">
              <a:alpha val="0"/>
            </a:srgbClr>
          </a:solidFill>
          <a:ln w="13970">
            <a:solidFill>
              <a:srgbClr val="D8DEE8"/>
            </a:solidFill>
            <a:prstDash val="solid"/>
            <a:tailEnd type="none"/>
          </a:ln>
        </p:spPr>
      </p:sp>
      <p:sp>
        <p:nvSpPr>
          <p:cNvPr id="15" name="Shape 13"/>
          <p:cNvSpPr/>
          <p:nvPr/>
        </p:nvSpPr>
        <p:spPr>
          <a:xfrm>
            <a:off x="10564978" y="1881835"/>
            <a:ext cx="1355141" cy="641909"/>
          </a:xfrm>
          <a:prstGeom prst="line">
            <a:avLst/>
          </a:prstGeom>
          <a:solidFill>
            <a:srgbClr val="FFFFFF">
              <a:alpha val="0"/>
            </a:srgbClr>
          </a:solidFill>
          <a:ln w="13970">
            <a:solidFill>
              <a:srgbClr val="D8DEE8"/>
            </a:solidFill>
            <a:prstDash val="solid"/>
            <a:tailEnd type="none"/>
          </a:ln>
        </p:spPr>
      </p:sp>
      <p:sp>
        <p:nvSpPr>
          <p:cNvPr id="16" name="Shape 14"/>
          <p:cNvSpPr/>
          <p:nvPr/>
        </p:nvSpPr>
        <p:spPr>
          <a:xfrm>
            <a:off x="9209837" y="2523744"/>
            <a:ext cx="-606247" cy="677570"/>
          </a:xfrm>
          <a:prstGeom prst="line">
            <a:avLst/>
          </a:prstGeom>
          <a:solidFill>
            <a:srgbClr val="FFFFFF">
              <a:alpha val="0"/>
            </a:srgbClr>
          </a:solidFill>
          <a:ln w="13970">
            <a:solidFill>
              <a:srgbClr val="D8DEE8"/>
            </a:solidFill>
            <a:prstDash val="solid"/>
            <a:tailEnd type="none"/>
          </a:ln>
        </p:spPr>
      </p:sp>
      <p:sp>
        <p:nvSpPr>
          <p:cNvPr id="17" name="Shape 15"/>
          <p:cNvSpPr/>
          <p:nvPr/>
        </p:nvSpPr>
        <p:spPr>
          <a:xfrm>
            <a:off x="9209837" y="2523744"/>
            <a:ext cx="0" cy="677570"/>
          </a:xfrm>
          <a:prstGeom prst="line">
            <a:avLst/>
          </a:prstGeom>
          <a:solidFill>
            <a:srgbClr val="FFFFFF">
              <a:alpha val="0"/>
            </a:srgbClr>
          </a:solidFill>
          <a:ln w="13970">
            <a:solidFill>
              <a:srgbClr val="D8DEE8"/>
            </a:solidFill>
            <a:prstDash val="solid"/>
            <a:tailEnd type="none"/>
          </a:ln>
        </p:spPr>
      </p:sp>
      <p:sp>
        <p:nvSpPr>
          <p:cNvPr id="18" name="Shape 16"/>
          <p:cNvSpPr/>
          <p:nvPr/>
        </p:nvSpPr>
        <p:spPr>
          <a:xfrm>
            <a:off x="9209837" y="2523744"/>
            <a:ext cx="606247" cy="677570"/>
          </a:xfrm>
          <a:prstGeom prst="line">
            <a:avLst/>
          </a:prstGeom>
          <a:solidFill>
            <a:srgbClr val="FFFFFF">
              <a:alpha val="0"/>
            </a:srgbClr>
          </a:solidFill>
          <a:ln w="13970">
            <a:solidFill>
              <a:srgbClr val="D8DEE8"/>
            </a:solidFill>
            <a:prstDash val="solid"/>
            <a:tailEnd type="none"/>
          </a:ln>
        </p:spPr>
      </p:sp>
      <p:sp>
        <p:nvSpPr>
          <p:cNvPr id="19" name="Shape 17"/>
          <p:cNvSpPr/>
          <p:nvPr/>
        </p:nvSpPr>
        <p:spPr>
          <a:xfrm>
            <a:off x="10564978" y="2523744"/>
            <a:ext cx="-392278" cy="677570"/>
          </a:xfrm>
          <a:prstGeom prst="line">
            <a:avLst/>
          </a:prstGeom>
          <a:solidFill>
            <a:srgbClr val="FFFFFF">
              <a:alpha val="0"/>
            </a:srgbClr>
          </a:solidFill>
          <a:ln w="13970">
            <a:solidFill>
              <a:srgbClr val="D8DEE8"/>
            </a:solidFill>
            <a:prstDash val="solid"/>
            <a:tailEnd type="none"/>
          </a:ln>
        </p:spPr>
      </p:sp>
      <p:sp>
        <p:nvSpPr>
          <p:cNvPr id="20" name="Shape 18"/>
          <p:cNvSpPr/>
          <p:nvPr/>
        </p:nvSpPr>
        <p:spPr>
          <a:xfrm>
            <a:off x="10564978" y="2523744"/>
            <a:ext cx="392278" cy="677570"/>
          </a:xfrm>
          <a:prstGeom prst="line">
            <a:avLst/>
          </a:prstGeom>
          <a:solidFill>
            <a:srgbClr val="FFFFFF">
              <a:alpha val="0"/>
            </a:srgbClr>
          </a:solidFill>
          <a:ln w="13970">
            <a:solidFill>
              <a:srgbClr val="D8DEE8"/>
            </a:solidFill>
            <a:prstDash val="solid"/>
            <a:tailEnd type="none"/>
          </a:ln>
        </p:spPr>
      </p:sp>
      <p:sp>
        <p:nvSpPr>
          <p:cNvPr id="21" name="Shape 19"/>
          <p:cNvSpPr/>
          <p:nvPr/>
        </p:nvSpPr>
        <p:spPr>
          <a:xfrm>
            <a:off x="11920118" y="2523744"/>
            <a:ext cx="0" cy="677570"/>
          </a:xfrm>
          <a:prstGeom prst="line">
            <a:avLst/>
          </a:prstGeom>
          <a:solidFill>
            <a:srgbClr val="FFFFFF">
              <a:alpha val="0"/>
            </a:srgbClr>
          </a:solidFill>
          <a:ln w="13970">
            <a:solidFill>
              <a:srgbClr val="D8DEE8"/>
            </a:solidFill>
            <a:prstDash val="solid"/>
            <a:tailEnd type="none"/>
          </a:ln>
        </p:spPr>
      </p:sp>
      <p:sp>
        <p:nvSpPr>
          <p:cNvPr id="22" name="Shape 20"/>
          <p:cNvSpPr/>
          <p:nvPr/>
        </p:nvSpPr>
        <p:spPr>
          <a:xfrm>
            <a:off x="8603590" y="3201314"/>
            <a:ext cx="-213970" cy="606247"/>
          </a:xfrm>
          <a:prstGeom prst="line">
            <a:avLst/>
          </a:prstGeom>
          <a:solidFill>
            <a:srgbClr val="FFFFFF">
              <a:alpha val="0"/>
            </a:srgbClr>
          </a:solidFill>
          <a:ln w="13970">
            <a:solidFill>
              <a:srgbClr val="D8DEE8"/>
            </a:solidFill>
            <a:prstDash val="solid"/>
            <a:tailEnd type="none"/>
          </a:ln>
        </p:spPr>
      </p:sp>
      <p:sp>
        <p:nvSpPr>
          <p:cNvPr id="23" name="Shape 21"/>
          <p:cNvSpPr/>
          <p:nvPr/>
        </p:nvSpPr>
        <p:spPr>
          <a:xfrm>
            <a:off x="9209837" y="3201314"/>
            <a:ext cx="-213970" cy="606247"/>
          </a:xfrm>
          <a:prstGeom prst="line">
            <a:avLst/>
          </a:prstGeom>
          <a:solidFill>
            <a:srgbClr val="FFFFFF">
              <a:alpha val="0"/>
            </a:srgbClr>
          </a:solidFill>
          <a:ln w="13970">
            <a:solidFill>
              <a:srgbClr val="D8DEE8"/>
            </a:solidFill>
            <a:prstDash val="solid"/>
            <a:tailEnd type="none"/>
          </a:ln>
        </p:spPr>
      </p:sp>
      <p:sp>
        <p:nvSpPr>
          <p:cNvPr id="24" name="Shape 22"/>
          <p:cNvSpPr/>
          <p:nvPr/>
        </p:nvSpPr>
        <p:spPr>
          <a:xfrm>
            <a:off x="9816084" y="3201314"/>
            <a:ext cx="-213970" cy="606247"/>
          </a:xfrm>
          <a:prstGeom prst="line">
            <a:avLst/>
          </a:prstGeom>
          <a:solidFill>
            <a:srgbClr val="FFFFFF">
              <a:alpha val="0"/>
            </a:srgbClr>
          </a:solidFill>
          <a:ln w="13970">
            <a:solidFill>
              <a:srgbClr val="D8DEE8"/>
            </a:solidFill>
            <a:prstDash val="solid"/>
            <a:tailEnd type="none"/>
          </a:ln>
        </p:spPr>
      </p:sp>
      <p:sp>
        <p:nvSpPr>
          <p:cNvPr id="25" name="Shape 23"/>
          <p:cNvSpPr/>
          <p:nvPr/>
        </p:nvSpPr>
        <p:spPr>
          <a:xfrm>
            <a:off x="9816084" y="3201314"/>
            <a:ext cx="392278" cy="606247"/>
          </a:xfrm>
          <a:prstGeom prst="line">
            <a:avLst/>
          </a:prstGeom>
          <a:solidFill>
            <a:srgbClr val="FFFFFF">
              <a:alpha val="0"/>
            </a:srgbClr>
          </a:solidFill>
          <a:ln w="13970">
            <a:solidFill>
              <a:srgbClr val="D8DEE8"/>
            </a:solidFill>
            <a:prstDash val="solid"/>
            <a:tailEnd type="none"/>
          </a:ln>
        </p:spPr>
      </p:sp>
      <p:sp>
        <p:nvSpPr>
          <p:cNvPr id="26" name="Shape 24"/>
          <p:cNvSpPr/>
          <p:nvPr/>
        </p:nvSpPr>
        <p:spPr>
          <a:xfrm>
            <a:off x="10172700" y="3201314"/>
            <a:ext cx="499262" cy="606247"/>
          </a:xfrm>
          <a:prstGeom prst="line">
            <a:avLst/>
          </a:prstGeom>
          <a:solidFill>
            <a:srgbClr val="FFFFFF">
              <a:alpha val="0"/>
            </a:srgbClr>
          </a:solidFill>
          <a:ln w="13970">
            <a:solidFill>
              <a:srgbClr val="D8DEE8"/>
            </a:solidFill>
            <a:prstDash val="solid"/>
            <a:tailEnd type="none"/>
          </a:ln>
        </p:spPr>
      </p:sp>
      <p:sp>
        <p:nvSpPr>
          <p:cNvPr id="27" name="Shape 25"/>
          <p:cNvSpPr/>
          <p:nvPr/>
        </p:nvSpPr>
        <p:spPr>
          <a:xfrm>
            <a:off x="10172700" y="3201314"/>
            <a:ext cx="927202" cy="606247"/>
          </a:xfrm>
          <a:prstGeom prst="line">
            <a:avLst/>
          </a:prstGeom>
          <a:solidFill>
            <a:srgbClr val="FFFFFF">
              <a:alpha val="0"/>
            </a:srgbClr>
          </a:solidFill>
          <a:ln w="13970">
            <a:solidFill>
              <a:srgbClr val="D8DEE8"/>
            </a:solidFill>
            <a:prstDash val="solid"/>
            <a:tailEnd type="none"/>
          </a:ln>
        </p:spPr>
      </p:sp>
      <p:sp>
        <p:nvSpPr>
          <p:cNvPr id="28" name="Shape 26"/>
          <p:cNvSpPr/>
          <p:nvPr/>
        </p:nvSpPr>
        <p:spPr>
          <a:xfrm>
            <a:off x="10957255" y="3201314"/>
            <a:ext cx="570586" cy="606247"/>
          </a:xfrm>
          <a:prstGeom prst="line">
            <a:avLst/>
          </a:prstGeom>
          <a:solidFill>
            <a:srgbClr val="FFFFFF">
              <a:alpha val="0"/>
            </a:srgbClr>
          </a:solidFill>
          <a:ln w="13970">
            <a:solidFill>
              <a:srgbClr val="D8DEE8"/>
            </a:solidFill>
            <a:prstDash val="solid"/>
            <a:tailEnd type="none"/>
          </a:ln>
        </p:spPr>
      </p:sp>
      <p:sp>
        <p:nvSpPr>
          <p:cNvPr id="29" name="Shape 27"/>
          <p:cNvSpPr/>
          <p:nvPr/>
        </p:nvSpPr>
        <p:spPr>
          <a:xfrm>
            <a:off x="11527841" y="3807562"/>
            <a:ext cx="-213970" cy="606247"/>
          </a:xfrm>
          <a:prstGeom prst="line">
            <a:avLst/>
          </a:prstGeom>
          <a:solidFill>
            <a:srgbClr val="FFFFFF">
              <a:alpha val="0"/>
            </a:srgbClr>
          </a:solidFill>
          <a:ln w="13970">
            <a:solidFill>
              <a:srgbClr val="D8DEE8"/>
            </a:solidFill>
            <a:prstDash val="solid"/>
            <a:tailEnd type="none"/>
          </a:ln>
        </p:spPr>
      </p:sp>
      <p:sp>
        <p:nvSpPr>
          <p:cNvPr id="30" name="Shape 28"/>
          <p:cNvSpPr/>
          <p:nvPr/>
        </p:nvSpPr>
        <p:spPr>
          <a:xfrm>
            <a:off x="11527841" y="3807562"/>
            <a:ext cx="285293" cy="606247"/>
          </a:xfrm>
          <a:prstGeom prst="line">
            <a:avLst/>
          </a:prstGeom>
          <a:solidFill>
            <a:srgbClr val="FFFFFF">
              <a:alpha val="0"/>
            </a:srgbClr>
          </a:solidFill>
          <a:ln w="13970">
            <a:solidFill>
              <a:srgbClr val="D8DEE8"/>
            </a:solidFill>
            <a:prstDash val="solid"/>
            <a:tailEnd type="none"/>
          </a:ln>
        </p:spPr>
      </p:sp>
      <p:sp>
        <p:nvSpPr>
          <p:cNvPr id="31" name="Text 29"/>
          <p:cNvSpPr/>
          <p:nvPr/>
        </p:nvSpPr>
        <p:spPr>
          <a:xfrm>
            <a:off x="10418674" y="1735531"/>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32" name="Text 30"/>
          <p:cNvSpPr/>
          <p:nvPr/>
        </p:nvSpPr>
        <p:spPr>
          <a:xfrm>
            <a:off x="9063533" y="23774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33" name="Text 31"/>
          <p:cNvSpPr/>
          <p:nvPr/>
        </p:nvSpPr>
        <p:spPr>
          <a:xfrm>
            <a:off x="10418674" y="23774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4" name="Text 32"/>
          <p:cNvSpPr/>
          <p:nvPr/>
        </p:nvSpPr>
        <p:spPr>
          <a:xfrm>
            <a:off x="11773814" y="23774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35" name="Text 33"/>
          <p:cNvSpPr/>
          <p:nvPr/>
        </p:nvSpPr>
        <p:spPr>
          <a:xfrm>
            <a:off x="8457286" y="30550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36" name="Text 34"/>
          <p:cNvSpPr/>
          <p:nvPr/>
        </p:nvSpPr>
        <p:spPr>
          <a:xfrm>
            <a:off x="9063533" y="30550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37" name="Text 35"/>
          <p:cNvSpPr/>
          <p:nvPr/>
        </p:nvSpPr>
        <p:spPr>
          <a:xfrm>
            <a:off x="9669780" y="30550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8" name="Text 36"/>
          <p:cNvSpPr/>
          <p:nvPr/>
        </p:nvSpPr>
        <p:spPr>
          <a:xfrm>
            <a:off x="10026396" y="30550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9" name="Text 37"/>
          <p:cNvSpPr/>
          <p:nvPr/>
        </p:nvSpPr>
        <p:spPr>
          <a:xfrm>
            <a:off x="10810951" y="30550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40" name="Text 38"/>
          <p:cNvSpPr/>
          <p:nvPr/>
        </p:nvSpPr>
        <p:spPr>
          <a:xfrm>
            <a:off x="11773814" y="30550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41" name="Text 39"/>
          <p:cNvSpPr/>
          <p:nvPr/>
        </p:nvSpPr>
        <p:spPr>
          <a:xfrm>
            <a:off x="8243316" y="36612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42" name="Text 40"/>
          <p:cNvSpPr/>
          <p:nvPr/>
        </p:nvSpPr>
        <p:spPr>
          <a:xfrm>
            <a:off x="8849563" y="36612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43" name="Text 41"/>
          <p:cNvSpPr/>
          <p:nvPr/>
        </p:nvSpPr>
        <p:spPr>
          <a:xfrm>
            <a:off x="9455810" y="36612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44" name="Text 42"/>
          <p:cNvSpPr/>
          <p:nvPr/>
        </p:nvSpPr>
        <p:spPr>
          <a:xfrm>
            <a:off x="10062058" y="36612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45" name="Text 43"/>
          <p:cNvSpPr/>
          <p:nvPr/>
        </p:nvSpPr>
        <p:spPr>
          <a:xfrm>
            <a:off x="10525658" y="36612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46" name="Text 44"/>
          <p:cNvSpPr/>
          <p:nvPr/>
        </p:nvSpPr>
        <p:spPr>
          <a:xfrm>
            <a:off x="10953598" y="36612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47" name="Text 45"/>
          <p:cNvSpPr/>
          <p:nvPr/>
        </p:nvSpPr>
        <p:spPr>
          <a:xfrm>
            <a:off x="11381537" y="36612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48" name="Text 46"/>
          <p:cNvSpPr/>
          <p:nvPr/>
        </p:nvSpPr>
        <p:spPr>
          <a:xfrm>
            <a:off x="11167567" y="426750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49" name="Text 47"/>
          <p:cNvSpPr/>
          <p:nvPr/>
        </p:nvSpPr>
        <p:spPr>
          <a:xfrm>
            <a:off x="11666830" y="426750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50" name="Text 48"/>
          <p:cNvSpPr/>
          <p:nvPr/>
        </p:nvSpPr>
        <p:spPr>
          <a:xfrm>
            <a:off x="7909560" y="5074920"/>
            <a:ext cx="2743200" cy="320040"/>
          </a:xfrm>
          <a:prstGeom prst="rect">
            <a:avLst/>
          </a:prstGeom>
          <a:noFill/>
          <a:ln/>
        </p:spPr>
        <p:txBody>
          <a:bodyPr wrap="square" lIns="762" tIns="762" rIns="762" bIns="762" rtlCol="0" anchor="ctr">
            <a:normAutofit/>
          </a:bodyPr>
          <a:lstStyle/>
          <a:p>
            <a:pPr algn="ctr" indent="0" marL="0">
              <a:buNone/>
            </a:pPr>
            <a:r>
              <a:rPr lang="en-US" sz="1600" b="1" dirty="0">
                <a:solidFill>
                  <a:srgbClr val="112E5C"/>
                </a:solidFill>
              </a:rPr>
              <a:t>Layer by layer</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BFS Build 1: Start at Depth 0</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4749394" y="1552651"/>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8" name="Text 6"/>
          <p:cNvSpPr/>
          <p:nvPr/>
        </p:nvSpPr>
        <p:spPr>
          <a:xfrm>
            <a:off x="7315200" y="2057400"/>
            <a:ext cx="3291840" cy="548640"/>
          </a:xfrm>
          <a:prstGeom prst="roundRect">
            <a:avLst>
              <a:gd name="adj" fmla="val 13333"/>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800" b="1" dirty="0">
                <a:solidFill>
                  <a:srgbClr val="2F7FD5"/>
                </a:solidFill>
              </a:rPr>
              <a:t>Frontier = [S]</a:t>
            </a:r>
            <a:endParaRPr lang="en-US" sz="1800" dirty="0"/>
          </a:p>
        </p:txBody>
      </p:sp>
      <p:sp>
        <p:nvSpPr>
          <p:cNvPr id="9" name="Text 7"/>
          <p:cNvSpPr/>
          <p:nvPr/>
        </p:nvSpPr>
        <p:spPr>
          <a:xfrm>
            <a:off x="7315200" y="2971800"/>
            <a:ext cx="3291840" cy="41148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BFS starts with the root node.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BFS Build 2: Expand Depth 1</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4895698" y="1698955"/>
            <a:ext cx="-1355141" cy="641909"/>
          </a:xfrm>
          <a:prstGeom prst="line">
            <a:avLst/>
          </a:prstGeom>
          <a:solidFill>
            <a:srgbClr val="FFFFFF">
              <a:alpha val="0"/>
            </a:srgbClr>
          </a:solidFill>
          <a:ln w="13970">
            <a:solidFill>
              <a:srgbClr val="D8DEE8"/>
            </a:solidFill>
            <a:prstDash val="solid"/>
            <a:tailEnd type="none"/>
          </a:ln>
        </p:spPr>
      </p:sp>
      <p:sp>
        <p:nvSpPr>
          <p:cNvPr id="8" name="Shape 6"/>
          <p:cNvSpPr/>
          <p:nvPr/>
        </p:nvSpPr>
        <p:spPr>
          <a:xfrm>
            <a:off x="4895698" y="1698955"/>
            <a:ext cx="0" cy="641909"/>
          </a:xfrm>
          <a:prstGeom prst="line">
            <a:avLst/>
          </a:prstGeom>
          <a:solidFill>
            <a:srgbClr val="FFFFFF">
              <a:alpha val="0"/>
            </a:srgbClr>
          </a:solidFill>
          <a:ln w="13970">
            <a:solidFill>
              <a:srgbClr val="D8DEE8"/>
            </a:solidFill>
            <a:prstDash val="solid"/>
            <a:tailEnd type="none"/>
          </a:ln>
        </p:spPr>
      </p:sp>
      <p:sp>
        <p:nvSpPr>
          <p:cNvPr id="9" name="Shape 7"/>
          <p:cNvSpPr/>
          <p:nvPr/>
        </p:nvSpPr>
        <p:spPr>
          <a:xfrm>
            <a:off x="4895698" y="1698955"/>
            <a:ext cx="1355141" cy="641909"/>
          </a:xfrm>
          <a:prstGeom prst="line">
            <a:avLst/>
          </a:prstGeom>
          <a:solidFill>
            <a:srgbClr val="FFFFFF">
              <a:alpha val="0"/>
            </a:srgbClr>
          </a:solidFill>
          <a:ln w="13970">
            <a:solidFill>
              <a:srgbClr val="D8DEE8"/>
            </a:solidFill>
            <a:prstDash val="solid"/>
            <a:tailEnd type="none"/>
          </a:ln>
        </p:spPr>
      </p:sp>
      <p:sp>
        <p:nvSpPr>
          <p:cNvPr id="10" name="Text 8"/>
          <p:cNvSpPr/>
          <p:nvPr/>
        </p:nvSpPr>
        <p:spPr>
          <a:xfrm>
            <a:off x="4749394" y="1552651"/>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11" name="Text 9"/>
          <p:cNvSpPr/>
          <p:nvPr/>
        </p:nvSpPr>
        <p:spPr>
          <a:xfrm>
            <a:off x="3394253" y="219456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12" name="Text 10"/>
          <p:cNvSpPr/>
          <p:nvPr/>
        </p:nvSpPr>
        <p:spPr>
          <a:xfrm>
            <a:off x="4749394" y="219456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13" name="Text 11"/>
          <p:cNvSpPr/>
          <p:nvPr/>
        </p:nvSpPr>
        <p:spPr>
          <a:xfrm>
            <a:off x="6104534" y="219456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14" name="Text 12"/>
          <p:cNvSpPr/>
          <p:nvPr/>
        </p:nvSpPr>
        <p:spPr>
          <a:xfrm>
            <a:off x="7132320" y="1920240"/>
            <a:ext cx="3657600" cy="548640"/>
          </a:xfrm>
          <a:prstGeom prst="roundRect">
            <a:avLst>
              <a:gd name="adj" fmla="val 13333"/>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800" b="1" dirty="0">
                <a:solidFill>
                  <a:srgbClr val="2F7FD5"/>
                </a:solidFill>
              </a:rPr>
              <a:t>Frontier = [d, e, p]</a:t>
            </a:r>
            <a:endParaRPr lang="en-US" sz="1800" dirty="0"/>
          </a:p>
        </p:txBody>
      </p:sp>
      <p:sp>
        <p:nvSpPr>
          <p:cNvPr id="15" name="Text 13"/>
          <p:cNvSpPr/>
          <p:nvPr/>
        </p:nvSpPr>
        <p:spPr>
          <a:xfrm>
            <a:off x="7086600" y="2880360"/>
            <a:ext cx="3749040" cy="73152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The children of S are added to the back of the FIFO queue.</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BFS Build 3: Expand by Tiers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4895698" y="1653235"/>
            <a:ext cx="-1355141" cy="641909"/>
          </a:xfrm>
          <a:prstGeom prst="line">
            <a:avLst/>
          </a:prstGeom>
          <a:solidFill>
            <a:srgbClr val="FFFFFF">
              <a:alpha val="0"/>
            </a:srgbClr>
          </a:solidFill>
          <a:ln w="13970">
            <a:solidFill>
              <a:srgbClr val="D8DEE8"/>
            </a:solidFill>
            <a:prstDash val="solid"/>
            <a:tailEnd type="none"/>
          </a:ln>
        </p:spPr>
      </p:sp>
      <p:sp>
        <p:nvSpPr>
          <p:cNvPr id="8" name="Shape 6"/>
          <p:cNvSpPr/>
          <p:nvPr/>
        </p:nvSpPr>
        <p:spPr>
          <a:xfrm>
            <a:off x="4895698" y="1653235"/>
            <a:ext cx="0" cy="641909"/>
          </a:xfrm>
          <a:prstGeom prst="line">
            <a:avLst/>
          </a:prstGeom>
          <a:solidFill>
            <a:srgbClr val="FFFFFF">
              <a:alpha val="0"/>
            </a:srgbClr>
          </a:solidFill>
          <a:ln w="13970">
            <a:solidFill>
              <a:srgbClr val="D8DEE8"/>
            </a:solidFill>
            <a:prstDash val="solid"/>
            <a:tailEnd type="none"/>
          </a:ln>
        </p:spPr>
      </p:sp>
      <p:sp>
        <p:nvSpPr>
          <p:cNvPr id="9" name="Shape 7"/>
          <p:cNvSpPr/>
          <p:nvPr/>
        </p:nvSpPr>
        <p:spPr>
          <a:xfrm>
            <a:off x="4895698" y="1653235"/>
            <a:ext cx="1355141" cy="641909"/>
          </a:xfrm>
          <a:prstGeom prst="line">
            <a:avLst/>
          </a:prstGeom>
          <a:solidFill>
            <a:srgbClr val="FFFFFF">
              <a:alpha val="0"/>
            </a:srgbClr>
          </a:solidFill>
          <a:ln w="13970">
            <a:solidFill>
              <a:srgbClr val="D8DEE8"/>
            </a:solidFill>
            <a:prstDash val="solid"/>
            <a:tailEnd type="none"/>
          </a:ln>
        </p:spPr>
      </p:sp>
      <p:sp>
        <p:nvSpPr>
          <p:cNvPr id="10" name="Shape 8"/>
          <p:cNvSpPr/>
          <p:nvPr/>
        </p:nvSpPr>
        <p:spPr>
          <a:xfrm>
            <a:off x="3540557" y="2295144"/>
            <a:ext cx="-606247" cy="677570"/>
          </a:xfrm>
          <a:prstGeom prst="line">
            <a:avLst/>
          </a:prstGeom>
          <a:solidFill>
            <a:srgbClr val="FFFFFF">
              <a:alpha val="0"/>
            </a:srgbClr>
          </a:solidFill>
          <a:ln w="13970">
            <a:solidFill>
              <a:srgbClr val="D8DEE8"/>
            </a:solidFill>
            <a:prstDash val="solid"/>
            <a:tailEnd type="none"/>
          </a:ln>
        </p:spPr>
      </p:sp>
      <p:sp>
        <p:nvSpPr>
          <p:cNvPr id="11" name="Shape 9"/>
          <p:cNvSpPr/>
          <p:nvPr/>
        </p:nvSpPr>
        <p:spPr>
          <a:xfrm>
            <a:off x="3540557" y="2295144"/>
            <a:ext cx="0" cy="677570"/>
          </a:xfrm>
          <a:prstGeom prst="line">
            <a:avLst/>
          </a:prstGeom>
          <a:solidFill>
            <a:srgbClr val="FFFFFF">
              <a:alpha val="0"/>
            </a:srgbClr>
          </a:solidFill>
          <a:ln w="13970">
            <a:solidFill>
              <a:srgbClr val="D8DEE8"/>
            </a:solidFill>
            <a:prstDash val="solid"/>
            <a:tailEnd type="none"/>
          </a:ln>
        </p:spPr>
      </p:sp>
      <p:sp>
        <p:nvSpPr>
          <p:cNvPr id="12" name="Shape 10"/>
          <p:cNvSpPr/>
          <p:nvPr/>
        </p:nvSpPr>
        <p:spPr>
          <a:xfrm>
            <a:off x="3540557" y="2295144"/>
            <a:ext cx="606247" cy="677570"/>
          </a:xfrm>
          <a:prstGeom prst="line">
            <a:avLst/>
          </a:prstGeom>
          <a:solidFill>
            <a:srgbClr val="FFFFFF">
              <a:alpha val="0"/>
            </a:srgbClr>
          </a:solidFill>
          <a:ln w="13970">
            <a:solidFill>
              <a:srgbClr val="D8DEE8"/>
            </a:solidFill>
            <a:prstDash val="solid"/>
            <a:tailEnd type="none"/>
          </a:ln>
        </p:spPr>
      </p:sp>
      <p:sp>
        <p:nvSpPr>
          <p:cNvPr id="13" name="Shape 11"/>
          <p:cNvSpPr/>
          <p:nvPr/>
        </p:nvSpPr>
        <p:spPr>
          <a:xfrm>
            <a:off x="4895698" y="2295144"/>
            <a:ext cx="-392278" cy="677570"/>
          </a:xfrm>
          <a:prstGeom prst="line">
            <a:avLst/>
          </a:prstGeom>
          <a:solidFill>
            <a:srgbClr val="FFFFFF">
              <a:alpha val="0"/>
            </a:srgbClr>
          </a:solidFill>
          <a:ln w="13970">
            <a:solidFill>
              <a:srgbClr val="D8DEE8"/>
            </a:solidFill>
            <a:prstDash val="solid"/>
            <a:tailEnd type="none"/>
          </a:ln>
        </p:spPr>
      </p:sp>
      <p:sp>
        <p:nvSpPr>
          <p:cNvPr id="14" name="Shape 12"/>
          <p:cNvSpPr/>
          <p:nvPr/>
        </p:nvSpPr>
        <p:spPr>
          <a:xfrm>
            <a:off x="4895698" y="2295144"/>
            <a:ext cx="392278" cy="677570"/>
          </a:xfrm>
          <a:prstGeom prst="line">
            <a:avLst/>
          </a:prstGeom>
          <a:solidFill>
            <a:srgbClr val="FFFFFF">
              <a:alpha val="0"/>
            </a:srgbClr>
          </a:solidFill>
          <a:ln w="13970">
            <a:solidFill>
              <a:srgbClr val="D8DEE8"/>
            </a:solidFill>
            <a:prstDash val="solid"/>
            <a:tailEnd type="none"/>
          </a:ln>
        </p:spPr>
      </p:sp>
      <p:sp>
        <p:nvSpPr>
          <p:cNvPr id="15" name="Shape 13"/>
          <p:cNvSpPr/>
          <p:nvPr/>
        </p:nvSpPr>
        <p:spPr>
          <a:xfrm>
            <a:off x="6250838" y="2295144"/>
            <a:ext cx="0" cy="677570"/>
          </a:xfrm>
          <a:prstGeom prst="line">
            <a:avLst/>
          </a:prstGeom>
          <a:solidFill>
            <a:srgbClr val="FFFFFF">
              <a:alpha val="0"/>
            </a:srgbClr>
          </a:solidFill>
          <a:ln w="13970">
            <a:solidFill>
              <a:srgbClr val="D8DEE8"/>
            </a:solidFill>
            <a:prstDash val="solid"/>
            <a:tailEnd type="none"/>
          </a:ln>
        </p:spPr>
      </p:sp>
      <p:sp>
        <p:nvSpPr>
          <p:cNvPr id="16" name="Text 14"/>
          <p:cNvSpPr/>
          <p:nvPr/>
        </p:nvSpPr>
        <p:spPr>
          <a:xfrm>
            <a:off x="4749394" y="1506931"/>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17" name="Text 15"/>
          <p:cNvSpPr/>
          <p:nvPr/>
        </p:nvSpPr>
        <p:spPr>
          <a:xfrm>
            <a:off x="3394253" y="21488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18" name="Text 16"/>
          <p:cNvSpPr/>
          <p:nvPr/>
        </p:nvSpPr>
        <p:spPr>
          <a:xfrm>
            <a:off x="4749394" y="21488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19" name="Text 17"/>
          <p:cNvSpPr/>
          <p:nvPr/>
        </p:nvSpPr>
        <p:spPr>
          <a:xfrm>
            <a:off x="6104534" y="21488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20" name="Text 18"/>
          <p:cNvSpPr/>
          <p:nvPr/>
        </p:nvSpPr>
        <p:spPr>
          <a:xfrm>
            <a:off x="2788006" y="28264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21" name="Text 19"/>
          <p:cNvSpPr/>
          <p:nvPr/>
        </p:nvSpPr>
        <p:spPr>
          <a:xfrm>
            <a:off x="3394253" y="28264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22" name="Text 20"/>
          <p:cNvSpPr/>
          <p:nvPr/>
        </p:nvSpPr>
        <p:spPr>
          <a:xfrm>
            <a:off x="4000500" y="28264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23" name="Text 21"/>
          <p:cNvSpPr/>
          <p:nvPr/>
        </p:nvSpPr>
        <p:spPr>
          <a:xfrm>
            <a:off x="4357116" y="28264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24" name="Text 22"/>
          <p:cNvSpPr/>
          <p:nvPr/>
        </p:nvSpPr>
        <p:spPr>
          <a:xfrm>
            <a:off x="5141671" y="28264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25" name="Text 23"/>
          <p:cNvSpPr/>
          <p:nvPr/>
        </p:nvSpPr>
        <p:spPr>
          <a:xfrm>
            <a:off x="6104534" y="28264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26" name="Text 24"/>
          <p:cNvSpPr/>
          <p:nvPr/>
        </p:nvSpPr>
        <p:spPr>
          <a:xfrm>
            <a:off x="7040880" y="2011680"/>
            <a:ext cx="3840480" cy="594360"/>
          </a:xfrm>
          <a:prstGeom prst="rect">
            <a:avLst/>
          </a:prstGeom>
          <a:noFill/>
          <a:ln/>
        </p:spPr>
        <p:txBody>
          <a:bodyPr wrap="square" lIns="762" tIns="762" rIns="762" bIns="762" rtlCol="0" anchor="ctr">
            <a:normAutofit/>
          </a:bodyPr>
          <a:lstStyle/>
          <a:p>
            <a:pPr algn="ctr" indent="0" marL="0">
              <a:buNone/>
            </a:pPr>
            <a:r>
              <a:rPr lang="en-US" sz="2000" b="1" dirty="0">
                <a:solidFill>
                  <a:srgbClr val="112E5C"/>
                </a:solidFill>
              </a:rPr>
              <a:t>BFS finishes one entire tier before moving deeper.</a:t>
            </a:r>
            <a:endParaRPr lang="en-US" sz="2000" dirty="0"/>
          </a:p>
        </p:txBody>
      </p:sp>
      <p:sp>
        <p:nvSpPr>
          <p:cNvPr id="27" name="Text 25"/>
          <p:cNvSpPr/>
          <p:nvPr/>
        </p:nvSpPr>
        <p:spPr>
          <a:xfrm>
            <a:off x="7040880" y="2971800"/>
            <a:ext cx="3886200" cy="91440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This gives completeness and fewest-action optimality, but the frontier can become extremely large.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BFS Complexity: Exponential Memory Growth</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68680" y="1508760"/>
            <a:ext cx="3108960" cy="457200"/>
          </a:xfrm>
          <a:prstGeom prst="rect">
            <a:avLst/>
          </a:prstGeom>
          <a:noFill/>
          <a:ln/>
        </p:spPr>
        <p:txBody>
          <a:bodyPr wrap="square" lIns="762" tIns="762" rIns="762" bIns="762" rtlCol="0" anchor="ctr">
            <a:normAutofit/>
          </a:bodyPr>
          <a:lstStyle/>
          <a:p>
            <a:pPr algn="ctr" indent="0" marL="0">
              <a:buNone/>
            </a:pPr>
            <a:r>
              <a:rPr lang="en-US" sz="2400" b="1" dirty="0">
                <a:solidFill>
                  <a:srgbClr val="112E5C"/>
                </a:solidFill>
              </a:rPr>
              <a:t>Time: O(b^d)</a:t>
            </a:r>
            <a:endParaRPr lang="en-US" sz="2400" dirty="0"/>
          </a:p>
        </p:txBody>
      </p:sp>
      <p:sp>
        <p:nvSpPr>
          <p:cNvPr id="8" name="Text 6"/>
          <p:cNvSpPr/>
          <p:nvPr/>
        </p:nvSpPr>
        <p:spPr>
          <a:xfrm>
            <a:off x="4526280" y="1508760"/>
            <a:ext cx="3108960" cy="457200"/>
          </a:xfrm>
          <a:prstGeom prst="rect">
            <a:avLst/>
          </a:prstGeom>
          <a:noFill/>
          <a:ln/>
        </p:spPr>
        <p:txBody>
          <a:bodyPr wrap="square" lIns="762" tIns="762" rIns="762" bIns="762" rtlCol="0" anchor="ctr">
            <a:normAutofit/>
          </a:bodyPr>
          <a:lstStyle/>
          <a:p>
            <a:pPr algn="ctr" indent="0" marL="0">
              <a:buNone/>
            </a:pPr>
            <a:r>
              <a:rPr lang="en-US" sz="2400" b="1" dirty="0">
                <a:solidFill>
                  <a:srgbClr val="9B1C1C"/>
                </a:solidFill>
              </a:rPr>
              <a:t>Space: O(b^d)</a:t>
            </a:r>
            <a:endParaRPr lang="en-US" sz="2400" dirty="0"/>
          </a:p>
        </p:txBody>
      </p:sp>
      <p:sp>
        <p:nvSpPr>
          <p:cNvPr id="9" name="Text 7"/>
          <p:cNvSpPr/>
          <p:nvPr/>
        </p:nvSpPr>
        <p:spPr>
          <a:xfrm>
            <a:off x="1005840" y="2514600"/>
            <a:ext cx="10058400" cy="411480"/>
          </a:xfrm>
          <a:prstGeom prst="rect">
            <a:avLst/>
          </a:prstGeom>
          <a:noFill/>
          <a:ln/>
        </p:spPr>
        <p:txBody>
          <a:bodyPr wrap="square" lIns="762" tIns="762" rIns="762" bIns="762" rtlCol="0" anchor="ctr">
            <a:normAutofit/>
          </a:bodyPr>
          <a:lstStyle/>
          <a:p>
            <a:pPr algn="ctr" indent="0" marL="0">
              <a:buNone/>
            </a:pPr>
            <a:r>
              <a:rPr lang="en-US" sz="2000" b="1" dirty="0">
                <a:solidFill>
                  <a:srgbClr val="102A4C"/>
                </a:solidFill>
              </a:rPr>
              <a:t>Nodes up to depth d: 1 + b + b² + … + bᵈ = O(bᵈ)</a:t>
            </a:r>
            <a:endParaRPr lang="en-US" sz="2000" dirty="0"/>
          </a:p>
        </p:txBody>
      </p:sp>
      <p:sp>
        <p:nvSpPr>
          <p:cNvPr id="10" name="Text 8"/>
          <p:cNvSpPr/>
          <p:nvPr/>
        </p:nvSpPr>
        <p:spPr>
          <a:xfrm>
            <a:off x="1005840" y="3794760"/>
            <a:ext cx="10058400" cy="384048"/>
          </a:xfrm>
          <a:prstGeom prst="rect">
            <a:avLst/>
          </a:prstGeom>
          <a:noFill/>
          <a:ln/>
        </p:spPr>
        <p:txBody>
          <a:bodyPr wrap="square" lIns="762" tIns="762" rIns="762" bIns="762" rtlCol="0" anchor="ctr">
            <a:normAutofit/>
          </a:bodyPr>
          <a:lstStyle/>
          <a:p>
            <a:pPr algn="ctr" indent="0" marL="0">
              <a:buNone/>
            </a:pPr>
            <a:r>
              <a:rPr lang="en-US" sz="1800" b="1" dirty="0">
                <a:solidFill>
                  <a:srgbClr val="9B1C1C"/>
                </a:solidFill>
              </a:rPr>
              <a:t>Example: b = 10, d = 10, 1 KB/node → roughly 10 TB of memory.</a:t>
            </a:r>
            <a:endParaRPr lang="en-US" sz="1800" dirty="0"/>
          </a:p>
        </p:txBody>
      </p:sp>
      <p:sp>
        <p:nvSpPr>
          <p:cNvPr id="11" name="Text 9"/>
          <p:cNvSpPr/>
          <p:nvPr/>
        </p:nvSpPr>
        <p:spPr>
          <a:xfrm>
            <a:off x="1005840" y="4709160"/>
            <a:ext cx="10058400" cy="384048"/>
          </a:xfrm>
          <a:prstGeom prst="rect">
            <a:avLst/>
          </a:prstGeom>
          <a:noFill/>
          <a:ln/>
        </p:spPr>
        <p:txBody>
          <a:bodyPr wrap="square" lIns="762" tIns="762" rIns="762" bIns="762" rtlCol="0" anchor="ctr">
            <a:normAutofit/>
          </a:bodyPr>
          <a:lstStyle/>
          <a:p>
            <a:pPr algn="ctr" indent="0" marL="0">
              <a:buNone/>
            </a:pPr>
            <a:r>
              <a:rPr lang="en-US" sz="1800" dirty="0">
                <a:solidFill>
                  <a:srgbClr val="112E5C"/>
                </a:solidFill>
              </a:rPr>
              <a:t>BFS is simple and reliable, but not scalable for large uninformed search spaces.</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Uniform-Cost Search (UCS) / Dijkstra</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417320"/>
            <a:ext cx="182880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600" b="1" dirty="0">
                <a:solidFill>
                  <a:srgbClr val="2F7FD5"/>
                </a:solidFill>
              </a:rPr>
              <a:t>Strategy</a:t>
            </a:r>
            <a:endParaRPr lang="en-US" sz="1600" dirty="0"/>
          </a:p>
        </p:txBody>
      </p:sp>
      <p:sp>
        <p:nvSpPr>
          <p:cNvPr id="8" name="Text 6"/>
          <p:cNvSpPr/>
          <p:nvPr/>
        </p:nvSpPr>
        <p:spPr>
          <a:xfrm>
            <a:off x="2880360" y="1463040"/>
            <a:ext cx="5669280" cy="320040"/>
          </a:xfrm>
          <a:prstGeom prst="rect">
            <a:avLst/>
          </a:prstGeom>
          <a:noFill/>
          <a:ln/>
        </p:spPr>
        <p:txBody>
          <a:bodyPr wrap="square" lIns="762" tIns="762" rIns="762" bIns="762" rtlCol="0" anchor="ctr">
            <a:normAutofit/>
          </a:bodyPr>
          <a:lstStyle/>
          <a:p>
            <a:pPr algn="l" indent="0" marL="0">
              <a:buNone/>
            </a:pPr>
            <a:r>
              <a:rPr lang="en-US" sz="1650" b="1" dirty="0">
                <a:solidFill>
                  <a:srgbClr val="102A4C"/>
                </a:solidFill>
              </a:rPr>
              <a:t>Expand the frontier node with the lowest cumulative path cost g(n).</a:t>
            </a:r>
            <a:endParaRPr lang="en-US" sz="1650" dirty="0"/>
          </a:p>
        </p:txBody>
      </p:sp>
      <p:sp>
        <p:nvSpPr>
          <p:cNvPr id="9" name="Text 7"/>
          <p:cNvSpPr/>
          <p:nvPr/>
        </p:nvSpPr>
        <p:spPr>
          <a:xfrm>
            <a:off x="822960" y="2240280"/>
            <a:ext cx="182880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600" b="1" dirty="0">
                <a:solidFill>
                  <a:srgbClr val="177245"/>
                </a:solidFill>
              </a:rPr>
              <a:t>Implementation</a:t>
            </a:r>
            <a:endParaRPr lang="en-US" sz="1600" dirty="0"/>
          </a:p>
        </p:txBody>
      </p:sp>
      <p:sp>
        <p:nvSpPr>
          <p:cNvPr id="10" name="Text 8"/>
          <p:cNvSpPr/>
          <p:nvPr/>
        </p:nvSpPr>
        <p:spPr>
          <a:xfrm>
            <a:off x="2880360" y="2286000"/>
            <a:ext cx="5029200" cy="320040"/>
          </a:xfrm>
          <a:prstGeom prst="rect">
            <a:avLst/>
          </a:prstGeom>
          <a:noFill/>
          <a:ln/>
        </p:spPr>
        <p:txBody>
          <a:bodyPr wrap="square" lIns="762" tIns="762" rIns="762" bIns="762" rtlCol="0" anchor="ctr">
            <a:normAutofit/>
          </a:bodyPr>
          <a:lstStyle/>
          <a:p>
            <a:pPr algn="l" indent="0" marL="0">
              <a:buNone/>
            </a:pPr>
            <a:r>
              <a:rPr lang="en-US" sz="1600" dirty="0">
                <a:solidFill>
                  <a:srgbClr val="102A4C"/>
                </a:solidFill>
              </a:rPr>
              <a:t>Priority queue ordered by path cost from the start.</a:t>
            </a:r>
            <a:endParaRPr lang="en-US" sz="1600" dirty="0"/>
          </a:p>
        </p:txBody>
      </p:sp>
      <p:sp>
        <p:nvSpPr>
          <p:cNvPr id="11" name="Text 9"/>
          <p:cNvSpPr/>
          <p:nvPr/>
        </p:nvSpPr>
        <p:spPr>
          <a:xfrm>
            <a:off x="822960" y="3063240"/>
            <a:ext cx="1828800" cy="502920"/>
          </a:xfrm>
          <a:prstGeom prst="roundRect">
            <a:avLst>
              <a:gd name="adj" fmla="val 14545"/>
            </a:avLst>
          </a:prstGeom>
          <a:solidFill>
            <a:srgbClr val="FFE5B6"/>
          </a:solidFill>
          <a:ln w="15240">
            <a:solidFill>
              <a:srgbClr val="F6A01A"/>
            </a:solidFill>
          </a:ln>
        </p:spPr>
        <p:txBody>
          <a:bodyPr wrap="square" lIns="508" tIns="508" rIns="508" bIns="508" rtlCol="0" anchor="ctr">
            <a:normAutofit/>
          </a:bodyPr>
          <a:lstStyle/>
          <a:p>
            <a:pPr algn="ctr" indent="0" marL="0">
              <a:buNone/>
            </a:pPr>
            <a:r>
              <a:rPr lang="en-US" sz="1600" b="1" dirty="0">
                <a:solidFill>
                  <a:srgbClr val="112E5C"/>
                </a:solidFill>
              </a:rPr>
              <a:t>Guarantee</a:t>
            </a:r>
            <a:endParaRPr lang="en-US" sz="1600" dirty="0"/>
          </a:p>
        </p:txBody>
      </p:sp>
      <p:sp>
        <p:nvSpPr>
          <p:cNvPr id="12" name="Text 10"/>
          <p:cNvSpPr/>
          <p:nvPr/>
        </p:nvSpPr>
        <p:spPr>
          <a:xfrm>
            <a:off x="2880360" y="3108960"/>
            <a:ext cx="5577840" cy="320040"/>
          </a:xfrm>
          <a:prstGeom prst="rect">
            <a:avLst/>
          </a:prstGeom>
          <a:noFill/>
          <a:ln/>
        </p:spPr>
        <p:txBody>
          <a:bodyPr wrap="square" lIns="762" tIns="762" rIns="762" bIns="762" rtlCol="0" anchor="ctr">
            <a:normAutofit/>
          </a:bodyPr>
          <a:lstStyle/>
          <a:p>
            <a:pPr algn="l" indent="0" marL="0">
              <a:buNone/>
            </a:pPr>
            <a:r>
              <a:rPr lang="en-US" sz="1600" dirty="0">
                <a:solidFill>
                  <a:srgbClr val="102A4C"/>
                </a:solidFill>
              </a:rPr>
              <a:t>Complete and cost-optimal when every action cost is at least ε &gt; 0.</a:t>
            </a:r>
            <a:endParaRPr lang="en-US" sz="1600" dirty="0"/>
          </a:p>
        </p:txBody>
      </p:sp>
      <p:sp>
        <p:nvSpPr>
          <p:cNvPr id="13" name="Text 11"/>
          <p:cNvSpPr/>
          <p:nvPr/>
        </p:nvSpPr>
        <p:spPr>
          <a:xfrm>
            <a:off x="1005840" y="4800600"/>
            <a:ext cx="9875520" cy="384048"/>
          </a:xfrm>
          <a:prstGeom prst="rect">
            <a:avLst/>
          </a:prstGeom>
          <a:noFill/>
          <a:ln/>
        </p:spPr>
        <p:txBody>
          <a:bodyPr wrap="square" lIns="762" tIns="762" rIns="762" bIns="762" rtlCol="0" anchor="ctr">
            <a:normAutofit/>
          </a:bodyPr>
          <a:lstStyle/>
          <a:p>
            <a:pPr algn="ctr" indent="0" marL="0">
              <a:buNone/>
            </a:pPr>
            <a:r>
              <a:rPr lang="en-US" sz="2000" b="1" dirty="0">
                <a:solidFill>
                  <a:srgbClr val="112E5C"/>
                </a:solidFill>
              </a:rPr>
              <a:t>BFS spreads by depth. UCS spreads by cost contours.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UCS Build: Do Not Stop When a Goal Is Generated</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1097280" y="2194560"/>
            <a:ext cx="1828800" cy="914400"/>
          </a:xfrm>
          <a:prstGeom prst="line">
            <a:avLst/>
          </a:prstGeom>
          <a:solidFill>
            <a:srgbClr val="FFFFFF">
              <a:alpha val="0"/>
            </a:srgbClr>
          </a:solidFill>
          <a:ln w="20320">
            <a:solidFill>
              <a:srgbClr val="5C6B80"/>
            </a:solidFill>
            <a:prstDash val="solid"/>
            <a:tailEnd type="triangle"/>
          </a:ln>
        </p:spPr>
      </p:sp>
      <p:sp>
        <p:nvSpPr>
          <p:cNvPr id="8" name="Text 6"/>
          <p:cNvSpPr/>
          <p:nvPr/>
        </p:nvSpPr>
        <p:spPr>
          <a:xfrm>
            <a:off x="1874520" y="2514600"/>
            <a:ext cx="274320" cy="182880"/>
          </a:xfrm>
          <a:prstGeom prst="rect">
            <a:avLst/>
          </a:prstGeom>
          <a:noFill/>
          <a:ln/>
        </p:spPr>
        <p:txBody>
          <a:bodyPr wrap="square" lIns="0" tIns="0" rIns="0" bIns="0" rtlCol="0" anchor="ctr">
            <a:normAutofit/>
          </a:bodyPr>
          <a:lstStyle/>
          <a:p>
            <a:pPr algn="ctr" indent="0" marL="0">
              <a:buNone/>
            </a:pPr>
            <a:r>
              <a:rPr lang="en-US" sz="900" dirty="0">
                <a:solidFill>
                  <a:srgbClr val="5C6B80"/>
                </a:solidFill>
              </a:rPr>
              <a:t>80</a:t>
            </a:r>
            <a:endParaRPr lang="en-US" sz="900" dirty="0"/>
          </a:p>
        </p:txBody>
      </p:sp>
      <p:sp>
        <p:nvSpPr>
          <p:cNvPr id="9" name="Shape 7"/>
          <p:cNvSpPr/>
          <p:nvPr/>
        </p:nvSpPr>
        <p:spPr>
          <a:xfrm>
            <a:off x="1097280" y="2194560"/>
            <a:ext cx="1828800" cy="-731520"/>
          </a:xfrm>
          <a:prstGeom prst="line">
            <a:avLst/>
          </a:prstGeom>
          <a:solidFill>
            <a:srgbClr val="FFFFFF">
              <a:alpha val="0"/>
            </a:srgbClr>
          </a:solidFill>
          <a:ln w="20320">
            <a:solidFill>
              <a:srgbClr val="5C6B80"/>
            </a:solidFill>
            <a:prstDash val="solid"/>
            <a:tailEnd type="triangle"/>
          </a:ln>
        </p:spPr>
      </p:sp>
      <p:sp>
        <p:nvSpPr>
          <p:cNvPr id="10" name="Text 8"/>
          <p:cNvSpPr/>
          <p:nvPr/>
        </p:nvSpPr>
        <p:spPr>
          <a:xfrm>
            <a:off x="1874520" y="1691640"/>
            <a:ext cx="274320" cy="182880"/>
          </a:xfrm>
          <a:prstGeom prst="rect">
            <a:avLst/>
          </a:prstGeom>
          <a:noFill/>
          <a:ln/>
        </p:spPr>
        <p:txBody>
          <a:bodyPr wrap="square" lIns="0" tIns="0" rIns="0" bIns="0" rtlCol="0" anchor="ctr">
            <a:normAutofit/>
          </a:bodyPr>
          <a:lstStyle/>
          <a:p>
            <a:pPr algn="ctr" indent="0" marL="0">
              <a:buNone/>
            </a:pPr>
            <a:r>
              <a:rPr lang="en-US" sz="900" dirty="0">
                <a:solidFill>
                  <a:srgbClr val="5C6B80"/>
                </a:solidFill>
              </a:rPr>
              <a:t>99</a:t>
            </a:r>
            <a:endParaRPr lang="en-US" sz="900" dirty="0"/>
          </a:p>
        </p:txBody>
      </p:sp>
      <p:sp>
        <p:nvSpPr>
          <p:cNvPr id="11" name="Shape 9"/>
          <p:cNvSpPr/>
          <p:nvPr/>
        </p:nvSpPr>
        <p:spPr>
          <a:xfrm>
            <a:off x="2926080" y="3108960"/>
            <a:ext cx="1965960" cy="0"/>
          </a:xfrm>
          <a:prstGeom prst="line">
            <a:avLst/>
          </a:prstGeom>
          <a:solidFill>
            <a:srgbClr val="FFFFFF">
              <a:alpha val="0"/>
            </a:srgbClr>
          </a:solidFill>
          <a:ln w="20320">
            <a:solidFill>
              <a:srgbClr val="5C6B80"/>
            </a:solidFill>
            <a:prstDash val="solid"/>
            <a:tailEnd type="triangle"/>
          </a:ln>
        </p:spPr>
      </p:sp>
      <p:sp>
        <p:nvSpPr>
          <p:cNvPr id="12" name="Text 10"/>
          <p:cNvSpPr/>
          <p:nvPr/>
        </p:nvSpPr>
        <p:spPr>
          <a:xfrm>
            <a:off x="3771900" y="2971800"/>
            <a:ext cx="274320" cy="182880"/>
          </a:xfrm>
          <a:prstGeom prst="rect">
            <a:avLst/>
          </a:prstGeom>
          <a:noFill/>
          <a:ln/>
        </p:spPr>
        <p:txBody>
          <a:bodyPr wrap="square" lIns="0" tIns="0" rIns="0" bIns="0" rtlCol="0" anchor="ctr">
            <a:normAutofit/>
          </a:bodyPr>
          <a:lstStyle/>
          <a:p>
            <a:pPr algn="ctr" indent="0" marL="0">
              <a:buNone/>
            </a:pPr>
            <a:r>
              <a:rPr lang="en-US" sz="900" dirty="0">
                <a:solidFill>
                  <a:srgbClr val="5C6B80"/>
                </a:solidFill>
              </a:rPr>
              <a:t>97</a:t>
            </a:r>
            <a:endParaRPr lang="en-US" sz="900" dirty="0"/>
          </a:p>
        </p:txBody>
      </p:sp>
      <p:sp>
        <p:nvSpPr>
          <p:cNvPr id="13" name="Shape 11"/>
          <p:cNvSpPr/>
          <p:nvPr/>
        </p:nvSpPr>
        <p:spPr>
          <a:xfrm>
            <a:off x="4892040" y="3108960"/>
            <a:ext cx="1874520" cy="-914400"/>
          </a:xfrm>
          <a:prstGeom prst="line">
            <a:avLst/>
          </a:prstGeom>
          <a:solidFill>
            <a:srgbClr val="FFFFFF">
              <a:alpha val="0"/>
            </a:srgbClr>
          </a:solidFill>
          <a:ln w="20320">
            <a:solidFill>
              <a:srgbClr val="5C6B80"/>
            </a:solidFill>
            <a:prstDash val="solid"/>
            <a:tailEnd type="triangle"/>
          </a:ln>
        </p:spPr>
      </p:sp>
      <p:sp>
        <p:nvSpPr>
          <p:cNvPr id="14" name="Text 12"/>
          <p:cNvSpPr/>
          <p:nvPr/>
        </p:nvSpPr>
        <p:spPr>
          <a:xfrm>
            <a:off x="5692140" y="2514600"/>
            <a:ext cx="274320" cy="182880"/>
          </a:xfrm>
          <a:prstGeom prst="rect">
            <a:avLst/>
          </a:prstGeom>
          <a:noFill/>
          <a:ln/>
        </p:spPr>
        <p:txBody>
          <a:bodyPr wrap="square" lIns="0" tIns="0" rIns="0" bIns="0" rtlCol="0" anchor="ctr">
            <a:normAutofit/>
          </a:bodyPr>
          <a:lstStyle/>
          <a:p>
            <a:pPr algn="ctr" indent="0" marL="0">
              <a:buNone/>
            </a:pPr>
            <a:r>
              <a:rPr lang="en-US" sz="900" dirty="0">
                <a:solidFill>
                  <a:srgbClr val="5C6B80"/>
                </a:solidFill>
              </a:rPr>
              <a:t>101</a:t>
            </a:r>
            <a:endParaRPr lang="en-US" sz="900" dirty="0"/>
          </a:p>
        </p:txBody>
      </p:sp>
      <p:sp>
        <p:nvSpPr>
          <p:cNvPr id="15" name="Shape 13"/>
          <p:cNvSpPr/>
          <p:nvPr/>
        </p:nvSpPr>
        <p:spPr>
          <a:xfrm>
            <a:off x="2926080" y="1463040"/>
            <a:ext cx="3840480" cy="731520"/>
          </a:xfrm>
          <a:prstGeom prst="line">
            <a:avLst/>
          </a:prstGeom>
          <a:solidFill>
            <a:srgbClr val="FFFFFF">
              <a:alpha val="0"/>
            </a:srgbClr>
          </a:solidFill>
          <a:ln w="20320">
            <a:solidFill>
              <a:srgbClr val="5C6B80"/>
            </a:solidFill>
            <a:prstDash val="solid"/>
            <a:tailEnd type="triangle"/>
          </a:ln>
        </p:spPr>
      </p:sp>
      <p:sp>
        <p:nvSpPr>
          <p:cNvPr id="16" name="Text 14"/>
          <p:cNvSpPr/>
          <p:nvPr/>
        </p:nvSpPr>
        <p:spPr>
          <a:xfrm>
            <a:off x="4709160" y="1691640"/>
            <a:ext cx="274320" cy="182880"/>
          </a:xfrm>
          <a:prstGeom prst="rect">
            <a:avLst/>
          </a:prstGeom>
          <a:noFill/>
          <a:ln/>
        </p:spPr>
        <p:txBody>
          <a:bodyPr wrap="square" lIns="0" tIns="0" rIns="0" bIns="0" rtlCol="0" anchor="ctr">
            <a:normAutofit/>
          </a:bodyPr>
          <a:lstStyle/>
          <a:p>
            <a:pPr algn="ctr" indent="0" marL="0">
              <a:buNone/>
            </a:pPr>
            <a:r>
              <a:rPr lang="en-US" sz="900" dirty="0">
                <a:solidFill>
                  <a:srgbClr val="5C6B80"/>
                </a:solidFill>
              </a:rPr>
              <a:t>211</a:t>
            </a:r>
            <a:endParaRPr lang="en-US" sz="900" dirty="0"/>
          </a:p>
        </p:txBody>
      </p:sp>
      <p:sp>
        <p:nvSpPr>
          <p:cNvPr id="17" name="Text 15"/>
          <p:cNvSpPr/>
          <p:nvPr/>
        </p:nvSpPr>
        <p:spPr>
          <a:xfrm>
            <a:off x="950976" y="2048256"/>
            <a:ext cx="292608" cy="292608"/>
          </a:xfrm>
          <a:prstGeom prst="ellipse">
            <a:avLst/>
          </a:prstGeom>
          <a:solidFill>
            <a:srgbClr val="FFE5B6"/>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18" name="Text 16"/>
          <p:cNvSpPr/>
          <p:nvPr/>
        </p:nvSpPr>
        <p:spPr>
          <a:xfrm>
            <a:off x="594360" y="2450592"/>
            <a:ext cx="1005840" cy="182880"/>
          </a:xfrm>
          <a:prstGeom prst="rect">
            <a:avLst/>
          </a:prstGeom>
          <a:noFill/>
          <a:ln/>
        </p:spPr>
        <p:txBody>
          <a:bodyPr wrap="square" lIns="0" tIns="0" rIns="0" bIns="0" rtlCol="0" anchor="ctr">
            <a:normAutofit/>
          </a:bodyPr>
          <a:lstStyle/>
          <a:p>
            <a:pPr algn="ctr" indent="0" marL="0">
              <a:buNone/>
            </a:pPr>
            <a:r>
              <a:rPr lang="en-US" sz="900" dirty="0">
                <a:solidFill>
                  <a:srgbClr val="102A4C"/>
                </a:solidFill>
              </a:rPr>
              <a:t>Sibiu</a:t>
            </a:r>
            <a:endParaRPr lang="en-US" sz="900" dirty="0"/>
          </a:p>
        </p:txBody>
      </p:sp>
      <p:sp>
        <p:nvSpPr>
          <p:cNvPr id="19" name="Text 17"/>
          <p:cNvSpPr/>
          <p:nvPr/>
        </p:nvSpPr>
        <p:spPr>
          <a:xfrm>
            <a:off x="2779776" y="296265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20" name="Text 18"/>
          <p:cNvSpPr/>
          <p:nvPr/>
        </p:nvSpPr>
        <p:spPr>
          <a:xfrm>
            <a:off x="2423160" y="3364992"/>
            <a:ext cx="1005840" cy="182880"/>
          </a:xfrm>
          <a:prstGeom prst="rect">
            <a:avLst/>
          </a:prstGeom>
          <a:noFill/>
          <a:ln/>
        </p:spPr>
        <p:txBody>
          <a:bodyPr wrap="square" lIns="0" tIns="0" rIns="0" bIns="0" rtlCol="0" anchor="ctr">
            <a:normAutofit/>
          </a:bodyPr>
          <a:lstStyle/>
          <a:p>
            <a:pPr algn="ctr" indent="0" marL="0">
              <a:buNone/>
            </a:pPr>
            <a:r>
              <a:rPr lang="en-US" sz="900" dirty="0">
                <a:solidFill>
                  <a:srgbClr val="102A4C"/>
                </a:solidFill>
              </a:rPr>
              <a:t>Rimnicu</a:t>
            </a:r>
            <a:endParaRPr lang="en-US" sz="900" dirty="0"/>
          </a:p>
        </p:txBody>
      </p:sp>
      <p:sp>
        <p:nvSpPr>
          <p:cNvPr id="21" name="Text 19"/>
          <p:cNvSpPr/>
          <p:nvPr/>
        </p:nvSpPr>
        <p:spPr>
          <a:xfrm>
            <a:off x="2779776" y="131673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22" name="Text 20"/>
          <p:cNvSpPr/>
          <p:nvPr/>
        </p:nvSpPr>
        <p:spPr>
          <a:xfrm>
            <a:off x="2423160" y="1719072"/>
            <a:ext cx="1005840" cy="182880"/>
          </a:xfrm>
          <a:prstGeom prst="rect">
            <a:avLst/>
          </a:prstGeom>
          <a:noFill/>
          <a:ln/>
        </p:spPr>
        <p:txBody>
          <a:bodyPr wrap="square" lIns="0" tIns="0" rIns="0" bIns="0" rtlCol="0" anchor="ctr">
            <a:normAutofit/>
          </a:bodyPr>
          <a:lstStyle/>
          <a:p>
            <a:pPr algn="ctr" indent="0" marL="0">
              <a:buNone/>
            </a:pPr>
            <a:r>
              <a:rPr lang="en-US" sz="900" dirty="0">
                <a:solidFill>
                  <a:srgbClr val="102A4C"/>
                </a:solidFill>
              </a:rPr>
              <a:t>Fagaras</a:t>
            </a:r>
            <a:endParaRPr lang="en-US" sz="900" dirty="0"/>
          </a:p>
        </p:txBody>
      </p:sp>
      <p:sp>
        <p:nvSpPr>
          <p:cNvPr id="23" name="Text 21"/>
          <p:cNvSpPr/>
          <p:nvPr/>
        </p:nvSpPr>
        <p:spPr>
          <a:xfrm>
            <a:off x="4745736" y="296265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24" name="Text 22"/>
          <p:cNvSpPr/>
          <p:nvPr/>
        </p:nvSpPr>
        <p:spPr>
          <a:xfrm>
            <a:off x="4389120" y="3364992"/>
            <a:ext cx="1005840" cy="182880"/>
          </a:xfrm>
          <a:prstGeom prst="rect">
            <a:avLst/>
          </a:prstGeom>
          <a:noFill/>
          <a:ln/>
        </p:spPr>
        <p:txBody>
          <a:bodyPr wrap="square" lIns="0" tIns="0" rIns="0" bIns="0" rtlCol="0" anchor="ctr">
            <a:normAutofit/>
          </a:bodyPr>
          <a:lstStyle/>
          <a:p>
            <a:pPr algn="ctr" indent="0" marL="0">
              <a:buNone/>
            </a:pPr>
            <a:r>
              <a:rPr lang="en-US" sz="900" dirty="0">
                <a:solidFill>
                  <a:srgbClr val="102A4C"/>
                </a:solidFill>
              </a:rPr>
              <a:t>Pitesti</a:t>
            </a:r>
            <a:endParaRPr lang="en-US" sz="900" dirty="0"/>
          </a:p>
        </p:txBody>
      </p:sp>
      <p:sp>
        <p:nvSpPr>
          <p:cNvPr id="25" name="Text 23"/>
          <p:cNvSpPr/>
          <p:nvPr/>
        </p:nvSpPr>
        <p:spPr>
          <a:xfrm>
            <a:off x="6620256" y="2048256"/>
            <a:ext cx="292608" cy="292608"/>
          </a:xfrm>
          <a:prstGeom prst="ellipse">
            <a:avLst/>
          </a:prstGeom>
          <a:solidFill>
            <a:srgbClr val="DBF1E3"/>
          </a:solidFill>
          <a:ln w="15240">
            <a:solidFill>
              <a:srgbClr val="177245"/>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26" name="Text 24"/>
          <p:cNvSpPr/>
          <p:nvPr/>
        </p:nvSpPr>
        <p:spPr>
          <a:xfrm>
            <a:off x="6263640" y="2450592"/>
            <a:ext cx="1005840" cy="182880"/>
          </a:xfrm>
          <a:prstGeom prst="rect">
            <a:avLst/>
          </a:prstGeom>
          <a:noFill/>
          <a:ln/>
        </p:spPr>
        <p:txBody>
          <a:bodyPr wrap="square" lIns="0" tIns="0" rIns="0" bIns="0" rtlCol="0" anchor="ctr">
            <a:normAutofit/>
          </a:bodyPr>
          <a:lstStyle/>
          <a:p>
            <a:pPr algn="ctr" indent="0" marL="0">
              <a:buNone/>
            </a:pPr>
            <a:r>
              <a:rPr lang="en-US" sz="900" dirty="0">
                <a:solidFill>
                  <a:srgbClr val="102A4C"/>
                </a:solidFill>
              </a:rPr>
              <a:t>Bucharest</a:t>
            </a:r>
            <a:endParaRPr lang="en-US" sz="900" dirty="0"/>
          </a:p>
        </p:txBody>
      </p:sp>
      <p:sp>
        <p:nvSpPr>
          <p:cNvPr id="27" name="Text 25"/>
          <p:cNvSpPr/>
          <p:nvPr/>
        </p:nvSpPr>
        <p:spPr>
          <a:xfrm>
            <a:off x="7635240" y="1417320"/>
            <a:ext cx="3749040" cy="4023360"/>
          </a:xfrm>
          <a:prstGeom prst="rect">
            <a:avLst/>
          </a:prstGeom>
          <a:noFill/>
          <a:ln/>
        </p:spPr>
        <p:txBody>
          <a:bodyPr wrap="square" lIns="635" tIns="635" rIns="635" bIns="635" rtlCol="0" anchor="ctr">
            <a:normAutofit/>
          </a:bodyPr>
          <a:lstStyle/>
          <a:p>
            <a:r>
              <a:rPr lang="en-US" sz="1450" dirty="0">
                <a:solidFill>
                  <a:srgbClr val="102A4C"/>
                </a:solidFill>
              </a:rPr>
              <a:t>From Sibiu: Rimnicu = 80; Fagaras = 99</a:t>
            </a:r>
            <a:endParaRPr lang="en-US" sz="1450" dirty="0"/>
          </a:p>
          <a:p>
            <a:r>
              <a:rPr lang="en-US" sz="1450" dirty="0">
                <a:solidFill>
                  <a:srgbClr val="102A4C"/>
                </a:solidFill>
              </a:rPr>
              <a:t>Expand Rimnicu first, then Fagaras</a:t>
            </a:r>
            <a:endParaRPr lang="en-US" sz="1450" dirty="0"/>
          </a:p>
          <a:p>
            <a:r>
              <a:rPr lang="en-US" sz="1450" dirty="0">
                <a:solidFill>
                  <a:srgbClr val="102A4C"/>
                </a:solidFill>
              </a:rPr>
              <a:t>Fagaras generates Bucharest with cost 310</a:t>
            </a:r>
            <a:endParaRPr lang="en-US" sz="1450" dirty="0"/>
          </a:p>
          <a:p>
            <a:r>
              <a:rPr lang="en-US" sz="1450" dirty="0">
                <a:solidFill>
                  <a:srgbClr val="102A4C"/>
                </a:solidFill>
              </a:rPr>
              <a:t>But Pitesti later generates Bucharest with cost 278</a:t>
            </a:r>
            <a:endParaRPr lang="en-US" sz="1450" dirty="0"/>
          </a:p>
          <a:p>
            <a:r>
              <a:rPr lang="en-US" sz="1450" dirty="0">
                <a:solidFill>
                  <a:srgbClr val="102A4C"/>
                </a:solidFill>
              </a:rPr>
              <a:t>Stop only when the lowest-cost selected node is a goal</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UCS Complexity and the Positive-Cost Assumption</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68680" y="1417320"/>
            <a:ext cx="3657600" cy="347472"/>
          </a:xfrm>
          <a:prstGeom prst="rect">
            <a:avLst/>
          </a:prstGeom>
          <a:noFill/>
          <a:ln/>
        </p:spPr>
        <p:txBody>
          <a:bodyPr wrap="square" lIns="762" tIns="762" rIns="762" bIns="762" rtlCol="0" anchor="ctr">
            <a:normAutofit/>
          </a:bodyPr>
          <a:lstStyle/>
          <a:p>
            <a:pPr algn="l" indent="0" marL="0">
              <a:buNone/>
            </a:pPr>
            <a:r>
              <a:rPr lang="en-US" sz="1800" b="1" dirty="0">
                <a:solidFill>
                  <a:srgbClr val="112E5C"/>
                </a:solidFill>
              </a:rPr>
              <a:t>C* = optimal solution cost</a:t>
            </a:r>
            <a:endParaRPr lang="en-US" sz="1800" dirty="0"/>
          </a:p>
        </p:txBody>
      </p:sp>
      <p:sp>
        <p:nvSpPr>
          <p:cNvPr id="8" name="Text 6"/>
          <p:cNvSpPr/>
          <p:nvPr/>
        </p:nvSpPr>
        <p:spPr>
          <a:xfrm>
            <a:off x="868680" y="1874520"/>
            <a:ext cx="4114800" cy="347472"/>
          </a:xfrm>
          <a:prstGeom prst="rect">
            <a:avLst/>
          </a:prstGeom>
          <a:noFill/>
          <a:ln/>
        </p:spPr>
        <p:txBody>
          <a:bodyPr wrap="square" lIns="762" tIns="762" rIns="762" bIns="762" rtlCol="0" anchor="ctr">
            <a:normAutofit/>
          </a:bodyPr>
          <a:lstStyle/>
          <a:p>
            <a:pPr algn="l" indent="0" marL="0">
              <a:buNone/>
            </a:pPr>
            <a:r>
              <a:rPr lang="en-US" sz="1800" b="1" dirty="0">
                <a:solidFill>
                  <a:srgbClr val="112E5C"/>
                </a:solidFill>
              </a:rPr>
              <a:t>ε = positive lower bound on action costs</a:t>
            </a:r>
            <a:endParaRPr lang="en-US" sz="1800" dirty="0"/>
          </a:p>
        </p:txBody>
      </p:sp>
      <p:sp>
        <p:nvSpPr>
          <p:cNvPr id="9" name="Text 7"/>
          <p:cNvSpPr/>
          <p:nvPr/>
        </p:nvSpPr>
        <p:spPr>
          <a:xfrm>
            <a:off x="914400" y="2880360"/>
            <a:ext cx="10058400" cy="502920"/>
          </a:xfrm>
          <a:prstGeom prst="rect">
            <a:avLst/>
          </a:prstGeom>
          <a:noFill/>
          <a:ln/>
        </p:spPr>
        <p:txBody>
          <a:bodyPr wrap="square" lIns="762" tIns="762" rIns="762" bIns="762" rtlCol="0" anchor="ctr">
            <a:normAutofit/>
          </a:bodyPr>
          <a:lstStyle/>
          <a:p>
            <a:pPr algn="ctr" indent="0" marL="0">
              <a:buNone/>
            </a:pPr>
            <a:r>
              <a:rPr lang="en-US" sz="2600" b="1" dirty="0">
                <a:solidFill>
                  <a:srgbClr val="9B1C1C"/>
                </a:solidFill>
              </a:rPr>
              <a:t>Time and space: O(b^(1 + ⌊C*/ε⌋))</a:t>
            </a:r>
            <a:endParaRPr lang="en-US" sz="2600" dirty="0"/>
          </a:p>
        </p:txBody>
      </p:sp>
      <p:sp>
        <p:nvSpPr>
          <p:cNvPr id="10" name="Text 8"/>
          <p:cNvSpPr/>
          <p:nvPr/>
        </p:nvSpPr>
        <p:spPr>
          <a:xfrm>
            <a:off x="1097280" y="4069080"/>
            <a:ext cx="9875520" cy="411480"/>
          </a:xfrm>
          <a:prstGeom prst="rect">
            <a:avLst/>
          </a:prstGeom>
          <a:noFill/>
          <a:ln/>
        </p:spPr>
        <p:txBody>
          <a:bodyPr wrap="square" lIns="762" tIns="762" rIns="762" bIns="762" rtlCol="0" anchor="ctr">
            <a:normAutofit/>
          </a:bodyPr>
          <a:lstStyle/>
          <a:p>
            <a:pPr algn="ctr" indent="0" marL="0">
              <a:buNone/>
            </a:pPr>
            <a:r>
              <a:rPr lang="en-US" sz="1800" dirty="0">
                <a:solidFill>
                  <a:srgbClr val="102A4C"/>
                </a:solidFill>
              </a:rPr>
              <a:t>UCS may explore many cheap but unhelpful actions before taking a costly useful action.</a:t>
            </a:r>
            <a:endParaRPr lang="en-US" sz="1800" dirty="0"/>
          </a:p>
        </p:txBody>
      </p:sp>
      <p:sp>
        <p:nvSpPr>
          <p:cNvPr id="11" name="Text 9"/>
          <p:cNvSpPr/>
          <p:nvPr/>
        </p:nvSpPr>
        <p:spPr>
          <a:xfrm>
            <a:off x="1097280" y="4800600"/>
            <a:ext cx="9875520" cy="411480"/>
          </a:xfrm>
          <a:prstGeom prst="rect">
            <a:avLst/>
          </a:prstGeom>
          <a:noFill/>
          <a:ln/>
        </p:spPr>
        <p:txBody>
          <a:bodyPr wrap="square" lIns="762" tIns="762" rIns="762" bIns="762" rtlCol="0" anchor="ctr">
            <a:normAutofit/>
          </a:bodyPr>
          <a:lstStyle/>
          <a:p>
            <a:pPr algn="ctr" indent="0" marL="0">
              <a:buNone/>
            </a:pPr>
            <a:r>
              <a:rPr lang="en-US" sz="1800" b="1" dirty="0">
                <a:solidFill>
                  <a:srgbClr val="177245"/>
                </a:solidFill>
              </a:rPr>
              <a:t>Complete and optimal if costs are positive and the best solution has finite cost.</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Depth-First Search (DFS)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417320"/>
            <a:ext cx="182880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600" b="1" dirty="0">
                <a:solidFill>
                  <a:srgbClr val="2F7FD5"/>
                </a:solidFill>
              </a:rPr>
              <a:t>Strategy</a:t>
            </a:r>
            <a:endParaRPr lang="en-US" sz="1600" dirty="0"/>
          </a:p>
        </p:txBody>
      </p:sp>
      <p:sp>
        <p:nvSpPr>
          <p:cNvPr id="8" name="Text 6"/>
          <p:cNvSpPr/>
          <p:nvPr/>
        </p:nvSpPr>
        <p:spPr>
          <a:xfrm>
            <a:off x="2880360" y="1463040"/>
            <a:ext cx="4754880" cy="320040"/>
          </a:xfrm>
          <a:prstGeom prst="rect">
            <a:avLst/>
          </a:prstGeom>
          <a:noFill/>
          <a:ln/>
        </p:spPr>
        <p:txBody>
          <a:bodyPr wrap="square" lIns="762" tIns="762" rIns="762" bIns="762" rtlCol="0" anchor="ctr">
            <a:normAutofit/>
          </a:bodyPr>
          <a:lstStyle/>
          <a:p>
            <a:pPr algn="l" indent="0" marL="0">
              <a:buNone/>
            </a:pPr>
            <a:r>
              <a:rPr lang="en-US" sz="1700" b="1" dirty="0">
                <a:solidFill>
                  <a:srgbClr val="102A4C"/>
                </a:solidFill>
              </a:rPr>
              <a:t>Expand the deepest node in the frontier first.</a:t>
            </a:r>
            <a:endParaRPr lang="en-US" sz="1700" dirty="0"/>
          </a:p>
        </p:txBody>
      </p:sp>
      <p:sp>
        <p:nvSpPr>
          <p:cNvPr id="9" name="Text 7"/>
          <p:cNvSpPr/>
          <p:nvPr/>
        </p:nvSpPr>
        <p:spPr>
          <a:xfrm>
            <a:off x="822960" y="2240280"/>
            <a:ext cx="182880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600" b="1" dirty="0">
                <a:solidFill>
                  <a:srgbClr val="177245"/>
                </a:solidFill>
              </a:rPr>
              <a:t>Implementation</a:t>
            </a:r>
            <a:endParaRPr lang="en-US" sz="1600" dirty="0"/>
          </a:p>
        </p:txBody>
      </p:sp>
      <p:sp>
        <p:nvSpPr>
          <p:cNvPr id="10" name="Text 8"/>
          <p:cNvSpPr/>
          <p:nvPr/>
        </p:nvSpPr>
        <p:spPr>
          <a:xfrm>
            <a:off x="2880360" y="2286000"/>
            <a:ext cx="4114800" cy="320040"/>
          </a:xfrm>
          <a:prstGeom prst="rect">
            <a:avLst/>
          </a:prstGeom>
          <a:noFill/>
          <a:ln/>
        </p:spPr>
        <p:txBody>
          <a:bodyPr wrap="square" lIns="762" tIns="762" rIns="762" bIns="762" rtlCol="0" anchor="ctr">
            <a:normAutofit/>
          </a:bodyPr>
          <a:lstStyle/>
          <a:p>
            <a:pPr algn="l" indent="0" marL="0">
              <a:buNone/>
            </a:pPr>
            <a:r>
              <a:rPr lang="en-US" sz="1600" dirty="0">
                <a:solidFill>
                  <a:srgbClr val="102A4C"/>
                </a:solidFill>
              </a:rPr>
              <a:t>LIFO stack or recursive tree-like search.</a:t>
            </a:r>
            <a:endParaRPr lang="en-US" sz="1600" dirty="0"/>
          </a:p>
        </p:txBody>
      </p:sp>
      <p:sp>
        <p:nvSpPr>
          <p:cNvPr id="11" name="Text 9"/>
          <p:cNvSpPr/>
          <p:nvPr/>
        </p:nvSpPr>
        <p:spPr>
          <a:xfrm>
            <a:off x="822960" y="3063240"/>
            <a:ext cx="1828800" cy="502920"/>
          </a:xfrm>
          <a:prstGeom prst="roundRect">
            <a:avLst>
              <a:gd name="adj" fmla="val 14545"/>
            </a:avLst>
          </a:prstGeom>
          <a:solidFill>
            <a:srgbClr val="FFE5B6"/>
          </a:solidFill>
          <a:ln w="15240">
            <a:solidFill>
              <a:srgbClr val="F6A01A"/>
            </a:solidFill>
          </a:ln>
        </p:spPr>
        <p:txBody>
          <a:bodyPr wrap="square" lIns="508" tIns="508" rIns="508" bIns="508" rtlCol="0" anchor="ctr">
            <a:normAutofit/>
          </a:bodyPr>
          <a:lstStyle/>
          <a:p>
            <a:pPr algn="ctr" indent="0" marL="0">
              <a:buNone/>
            </a:pPr>
            <a:r>
              <a:rPr lang="en-US" sz="1600" b="1" dirty="0">
                <a:solidFill>
                  <a:srgbClr val="112E5C"/>
                </a:solidFill>
              </a:rPr>
              <a:t>Main appeal</a:t>
            </a:r>
            <a:endParaRPr lang="en-US" sz="1600" dirty="0"/>
          </a:p>
        </p:txBody>
      </p:sp>
      <p:sp>
        <p:nvSpPr>
          <p:cNvPr id="12" name="Text 10"/>
          <p:cNvSpPr/>
          <p:nvPr/>
        </p:nvSpPr>
        <p:spPr>
          <a:xfrm>
            <a:off x="2880360" y="3108960"/>
            <a:ext cx="4846320" cy="320040"/>
          </a:xfrm>
          <a:prstGeom prst="rect">
            <a:avLst/>
          </a:prstGeom>
          <a:noFill/>
          <a:ln/>
        </p:spPr>
        <p:txBody>
          <a:bodyPr wrap="square" lIns="762" tIns="762" rIns="762" bIns="762" rtlCol="0" anchor="ctr">
            <a:normAutofit/>
          </a:bodyPr>
          <a:lstStyle/>
          <a:p>
            <a:pPr algn="l" indent="0" marL="0">
              <a:buNone/>
            </a:pPr>
            <a:r>
              <a:rPr lang="en-US" sz="1600" dirty="0">
                <a:solidFill>
                  <a:srgbClr val="102A4C"/>
                </a:solidFill>
              </a:rPr>
              <a:t>Low memory: stores a path and siblings, not entire layers.</a:t>
            </a:r>
            <a:endParaRPr lang="en-US" sz="1600" dirty="0"/>
          </a:p>
        </p:txBody>
      </p:sp>
      <p:sp>
        <p:nvSpPr>
          <p:cNvPr id="13" name="Shape 11"/>
          <p:cNvSpPr/>
          <p:nvPr/>
        </p:nvSpPr>
        <p:spPr>
          <a:xfrm>
            <a:off x="10564978" y="1790395"/>
            <a:ext cx="-1355141" cy="641909"/>
          </a:xfrm>
          <a:prstGeom prst="line">
            <a:avLst/>
          </a:prstGeom>
          <a:solidFill>
            <a:srgbClr val="FFFFFF">
              <a:alpha val="0"/>
            </a:srgbClr>
          </a:solidFill>
          <a:ln w="31750">
            <a:solidFill>
              <a:srgbClr val="9B1C1C"/>
            </a:solidFill>
            <a:prstDash val="solid"/>
            <a:tailEnd type="none"/>
          </a:ln>
        </p:spPr>
      </p:sp>
      <p:sp>
        <p:nvSpPr>
          <p:cNvPr id="14" name="Shape 12"/>
          <p:cNvSpPr/>
          <p:nvPr/>
        </p:nvSpPr>
        <p:spPr>
          <a:xfrm>
            <a:off x="10564978" y="1790395"/>
            <a:ext cx="0" cy="641909"/>
          </a:xfrm>
          <a:prstGeom prst="line">
            <a:avLst/>
          </a:prstGeom>
          <a:solidFill>
            <a:srgbClr val="FFFFFF">
              <a:alpha val="0"/>
            </a:srgbClr>
          </a:solidFill>
          <a:ln w="13970">
            <a:solidFill>
              <a:srgbClr val="D8DEE8"/>
            </a:solidFill>
            <a:prstDash val="solid"/>
            <a:tailEnd type="none"/>
          </a:ln>
        </p:spPr>
      </p:sp>
      <p:sp>
        <p:nvSpPr>
          <p:cNvPr id="15" name="Shape 13"/>
          <p:cNvSpPr/>
          <p:nvPr/>
        </p:nvSpPr>
        <p:spPr>
          <a:xfrm>
            <a:off x="10564978" y="1790395"/>
            <a:ext cx="1355141" cy="641909"/>
          </a:xfrm>
          <a:prstGeom prst="line">
            <a:avLst/>
          </a:prstGeom>
          <a:solidFill>
            <a:srgbClr val="FFFFFF">
              <a:alpha val="0"/>
            </a:srgbClr>
          </a:solidFill>
          <a:ln w="13970">
            <a:solidFill>
              <a:srgbClr val="D8DEE8"/>
            </a:solidFill>
            <a:prstDash val="solid"/>
            <a:tailEnd type="none"/>
          </a:ln>
        </p:spPr>
      </p:sp>
      <p:sp>
        <p:nvSpPr>
          <p:cNvPr id="16" name="Shape 14"/>
          <p:cNvSpPr/>
          <p:nvPr/>
        </p:nvSpPr>
        <p:spPr>
          <a:xfrm>
            <a:off x="9209837" y="2432304"/>
            <a:ext cx="-606247" cy="677570"/>
          </a:xfrm>
          <a:prstGeom prst="line">
            <a:avLst/>
          </a:prstGeom>
          <a:solidFill>
            <a:srgbClr val="FFFFFF">
              <a:alpha val="0"/>
            </a:srgbClr>
          </a:solidFill>
          <a:ln w="31750">
            <a:solidFill>
              <a:srgbClr val="9B1C1C"/>
            </a:solidFill>
            <a:prstDash val="solid"/>
            <a:tailEnd type="none"/>
          </a:ln>
        </p:spPr>
      </p:sp>
      <p:sp>
        <p:nvSpPr>
          <p:cNvPr id="17" name="Shape 15"/>
          <p:cNvSpPr/>
          <p:nvPr/>
        </p:nvSpPr>
        <p:spPr>
          <a:xfrm>
            <a:off x="9209837" y="2432304"/>
            <a:ext cx="0" cy="677570"/>
          </a:xfrm>
          <a:prstGeom prst="line">
            <a:avLst/>
          </a:prstGeom>
          <a:solidFill>
            <a:srgbClr val="FFFFFF">
              <a:alpha val="0"/>
            </a:srgbClr>
          </a:solidFill>
          <a:ln w="13970">
            <a:solidFill>
              <a:srgbClr val="D8DEE8"/>
            </a:solidFill>
            <a:prstDash val="solid"/>
            <a:tailEnd type="none"/>
          </a:ln>
        </p:spPr>
      </p:sp>
      <p:sp>
        <p:nvSpPr>
          <p:cNvPr id="18" name="Shape 16"/>
          <p:cNvSpPr/>
          <p:nvPr/>
        </p:nvSpPr>
        <p:spPr>
          <a:xfrm>
            <a:off x="9209837" y="2432304"/>
            <a:ext cx="606247" cy="677570"/>
          </a:xfrm>
          <a:prstGeom prst="line">
            <a:avLst/>
          </a:prstGeom>
          <a:solidFill>
            <a:srgbClr val="FFFFFF">
              <a:alpha val="0"/>
            </a:srgbClr>
          </a:solidFill>
          <a:ln w="13970">
            <a:solidFill>
              <a:srgbClr val="D8DEE8"/>
            </a:solidFill>
            <a:prstDash val="solid"/>
            <a:tailEnd type="none"/>
          </a:ln>
        </p:spPr>
      </p:sp>
      <p:sp>
        <p:nvSpPr>
          <p:cNvPr id="19" name="Shape 17"/>
          <p:cNvSpPr/>
          <p:nvPr/>
        </p:nvSpPr>
        <p:spPr>
          <a:xfrm>
            <a:off x="10564978" y="2432304"/>
            <a:ext cx="-392278" cy="677570"/>
          </a:xfrm>
          <a:prstGeom prst="line">
            <a:avLst/>
          </a:prstGeom>
          <a:solidFill>
            <a:srgbClr val="FFFFFF">
              <a:alpha val="0"/>
            </a:srgbClr>
          </a:solidFill>
          <a:ln w="13970">
            <a:solidFill>
              <a:srgbClr val="D8DEE8"/>
            </a:solidFill>
            <a:prstDash val="solid"/>
            <a:tailEnd type="none"/>
          </a:ln>
        </p:spPr>
      </p:sp>
      <p:sp>
        <p:nvSpPr>
          <p:cNvPr id="20" name="Shape 18"/>
          <p:cNvSpPr/>
          <p:nvPr/>
        </p:nvSpPr>
        <p:spPr>
          <a:xfrm>
            <a:off x="10564978" y="2432304"/>
            <a:ext cx="392278" cy="677570"/>
          </a:xfrm>
          <a:prstGeom prst="line">
            <a:avLst/>
          </a:prstGeom>
          <a:solidFill>
            <a:srgbClr val="FFFFFF">
              <a:alpha val="0"/>
            </a:srgbClr>
          </a:solidFill>
          <a:ln w="13970">
            <a:solidFill>
              <a:srgbClr val="D8DEE8"/>
            </a:solidFill>
            <a:prstDash val="solid"/>
            <a:tailEnd type="none"/>
          </a:ln>
        </p:spPr>
      </p:sp>
      <p:sp>
        <p:nvSpPr>
          <p:cNvPr id="21" name="Shape 19"/>
          <p:cNvSpPr/>
          <p:nvPr/>
        </p:nvSpPr>
        <p:spPr>
          <a:xfrm>
            <a:off x="11920118" y="2432304"/>
            <a:ext cx="0" cy="677570"/>
          </a:xfrm>
          <a:prstGeom prst="line">
            <a:avLst/>
          </a:prstGeom>
          <a:solidFill>
            <a:srgbClr val="FFFFFF">
              <a:alpha val="0"/>
            </a:srgbClr>
          </a:solidFill>
          <a:ln w="13970">
            <a:solidFill>
              <a:srgbClr val="D8DEE8"/>
            </a:solidFill>
            <a:prstDash val="solid"/>
            <a:tailEnd type="none"/>
          </a:ln>
        </p:spPr>
      </p:sp>
      <p:sp>
        <p:nvSpPr>
          <p:cNvPr id="22" name="Shape 20"/>
          <p:cNvSpPr/>
          <p:nvPr/>
        </p:nvSpPr>
        <p:spPr>
          <a:xfrm>
            <a:off x="8603590" y="3109874"/>
            <a:ext cx="-213970" cy="606247"/>
          </a:xfrm>
          <a:prstGeom prst="line">
            <a:avLst/>
          </a:prstGeom>
          <a:solidFill>
            <a:srgbClr val="FFFFFF">
              <a:alpha val="0"/>
            </a:srgbClr>
          </a:solidFill>
          <a:ln w="31750">
            <a:solidFill>
              <a:srgbClr val="9B1C1C"/>
            </a:solidFill>
            <a:prstDash val="solid"/>
            <a:tailEnd type="none"/>
          </a:ln>
        </p:spPr>
      </p:sp>
      <p:sp>
        <p:nvSpPr>
          <p:cNvPr id="23" name="Shape 21"/>
          <p:cNvSpPr/>
          <p:nvPr/>
        </p:nvSpPr>
        <p:spPr>
          <a:xfrm>
            <a:off x="9209837" y="3109874"/>
            <a:ext cx="-213970" cy="606247"/>
          </a:xfrm>
          <a:prstGeom prst="line">
            <a:avLst/>
          </a:prstGeom>
          <a:solidFill>
            <a:srgbClr val="FFFFFF">
              <a:alpha val="0"/>
            </a:srgbClr>
          </a:solidFill>
          <a:ln w="13970">
            <a:solidFill>
              <a:srgbClr val="D8DEE8"/>
            </a:solidFill>
            <a:prstDash val="solid"/>
            <a:tailEnd type="none"/>
          </a:ln>
        </p:spPr>
      </p:sp>
      <p:sp>
        <p:nvSpPr>
          <p:cNvPr id="24" name="Shape 22"/>
          <p:cNvSpPr/>
          <p:nvPr/>
        </p:nvSpPr>
        <p:spPr>
          <a:xfrm>
            <a:off x="9816084" y="3109874"/>
            <a:ext cx="-213970" cy="606247"/>
          </a:xfrm>
          <a:prstGeom prst="line">
            <a:avLst/>
          </a:prstGeom>
          <a:solidFill>
            <a:srgbClr val="FFFFFF">
              <a:alpha val="0"/>
            </a:srgbClr>
          </a:solidFill>
          <a:ln w="13970">
            <a:solidFill>
              <a:srgbClr val="D8DEE8"/>
            </a:solidFill>
            <a:prstDash val="solid"/>
            <a:tailEnd type="none"/>
          </a:ln>
        </p:spPr>
      </p:sp>
      <p:sp>
        <p:nvSpPr>
          <p:cNvPr id="25" name="Shape 23"/>
          <p:cNvSpPr/>
          <p:nvPr/>
        </p:nvSpPr>
        <p:spPr>
          <a:xfrm>
            <a:off x="9816084" y="3109874"/>
            <a:ext cx="392278" cy="606247"/>
          </a:xfrm>
          <a:prstGeom prst="line">
            <a:avLst/>
          </a:prstGeom>
          <a:solidFill>
            <a:srgbClr val="FFFFFF">
              <a:alpha val="0"/>
            </a:srgbClr>
          </a:solidFill>
          <a:ln w="13970">
            <a:solidFill>
              <a:srgbClr val="D8DEE8"/>
            </a:solidFill>
            <a:prstDash val="solid"/>
            <a:tailEnd type="none"/>
          </a:ln>
        </p:spPr>
      </p:sp>
      <p:sp>
        <p:nvSpPr>
          <p:cNvPr id="26" name="Shape 24"/>
          <p:cNvSpPr/>
          <p:nvPr/>
        </p:nvSpPr>
        <p:spPr>
          <a:xfrm>
            <a:off x="10172700" y="3109874"/>
            <a:ext cx="499262" cy="606247"/>
          </a:xfrm>
          <a:prstGeom prst="line">
            <a:avLst/>
          </a:prstGeom>
          <a:solidFill>
            <a:srgbClr val="FFFFFF">
              <a:alpha val="0"/>
            </a:srgbClr>
          </a:solidFill>
          <a:ln w="13970">
            <a:solidFill>
              <a:srgbClr val="D8DEE8"/>
            </a:solidFill>
            <a:prstDash val="solid"/>
            <a:tailEnd type="none"/>
          </a:ln>
        </p:spPr>
      </p:sp>
      <p:sp>
        <p:nvSpPr>
          <p:cNvPr id="27" name="Shape 25"/>
          <p:cNvSpPr/>
          <p:nvPr/>
        </p:nvSpPr>
        <p:spPr>
          <a:xfrm>
            <a:off x="10172700" y="3109874"/>
            <a:ext cx="927202" cy="606247"/>
          </a:xfrm>
          <a:prstGeom prst="line">
            <a:avLst/>
          </a:prstGeom>
          <a:solidFill>
            <a:srgbClr val="FFFFFF">
              <a:alpha val="0"/>
            </a:srgbClr>
          </a:solidFill>
          <a:ln w="13970">
            <a:solidFill>
              <a:srgbClr val="D8DEE8"/>
            </a:solidFill>
            <a:prstDash val="solid"/>
            <a:tailEnd type="none"/>
          </a:ln>
        </p:spPr>
      </p:sp>
      <p:sp>
        <p:nvSpPr>
          <p:cNvPr id="28" name="Shape 26"/>
          <p:cNvSpPr/>
          <p:nvPr/>
        </p:nvSpPr>
        <p:spPr>
          <a:xfrm>
            <a:off x="10957255" y="3109874"/>
            <a:ext cx="570586" cy="606247"/>
          </a:xfrm>
          <a:prstGeom prst="line">
            <a:avLst/>
          </a:prstGeom>
          <a:solidFill>
            <a:srgbClr val="FFFFFF">
              <a:alpha val="0"/>
            </a:srgbClr>
          </a:solidFill>
          <a:ln w="13970">
            <a:solidFill>
              <a:srgbClr val="D8DEE8"/>
            </a:solidFill>
            <a:prstDash val="solid"/>
            <a:tailEnd type="none"/>
          </a:ln>
        </p:spPr>
      </p:sp>
      <p:sp>
        <p:nvSpPr>
          <p:cNvPr id="29" name="Shape 27"/>
          <p:cNvSpPr/>
          <p:nvPr/>
        </p:nvSpPr>
        <p:spPr>
          <a:xfrm>
            <a:off x="11527841" y="3716122"/>
            <a:ext cx="-213970" cy="606247"/>
          </a:xfrm>
          <a:prstGeom prst="line">
            <a:avLst/>
          </a:prstGeom>
          <a:solidFill>
            <a:srgbClr val="FFFFFF">
              <a:alpha val="0"/>
            </a:srgbClr>
          </a:solidFill>
          <a:ln w="13970">
            <a:solidFill>
              <a:srgbClr val="D8DEE8"/>
            </a:solidFill>
            <a:prstDash val="solid"/>
            <a:tailEnd type="none"/>
          </a:ln>
        </p:spPr>
      </p:sp>
      <p:sp>
        <p:nvSpPr>
          <p:cNvPr id="30" name="Shape 28"/>
          <p:cNvSpPr/>
          <p:nvPr/>
        </p:nvSpPr>
        <p:spPr>
          <a:xfrm>
            <a:off x="11527841" y="3716122"/>
            <a:ext cx="285293" cy="606247"/>
          </a:xfrm>
          <a:prstGeom prst="line">
            <a:avLst/>
          </a:prstGeom>
          <a:solidFill>
            <a:srgbClr val="FFFFFF">
              <a:alpha val="0"/>
            </a:srgbClr>
          </a:solidFill>
          <a:ln w="13970">
            <a:solidFill>
              <a:srgbClr val="D8DEE8"/>
            </a:solidFill>
            <a:prstDash val="solid"/>
            <a:tailEnd type="none"/>
          </a:ln>
        </p:spPr>
      </p:sp>
      <p:sp>
        <p:nvSpPr>
          <p:cNvPr id="31" name="Text 29"/>
          <p:cNvSpPr/>
          <p:nvPr/>
        </p:nvSpPr>
        <p:spPr>
          <a:xfrm>
            <a:off x="10418674" y="1644091"/>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32" name="Text 30"/>
          <p:cNvSpPr/>
          <p:nvPr/>
        </p:nvSpPr>
        <p:spPr>
          <a:xfrm>
            <a:off x="9063533" y="228600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33" name="Text 31"/>
          <p:cNvSpPr/>
          <p:nvPr/>
        </p:nvSpPr>
        <p:spPr>
          <a:xfrm>
            <a:off x="10418674" y="228600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4" name="Text 32"/>
          <p:cNvSpPr/>
          <p:nvPr/>
        </p:nvSpPr>
        <p:spPr>
          <a:xfrm>
            <a:off x="11773814" y="228600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35" name="Text 33"/>
          <p:cNvSpPr/>
          <p:nvPr/>
        </p:nvSpPr>
        <p:spPr>
          <a:xfrm>
            <a:off x="8457286" y="296357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36" name="Text 34"/>
          <p:cNvSpPr/>
          <p:nvPr/>
        </p:nvSpPr>
        <p:spPr>
          <a:xfrm>
            <a:off x="9063533" y="296357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37" name="Text 35"/>
          <p:cNvSpPr/>
          <p:nvPr/>
        </p:nvSpPr>
        <p:spPr>
          <a:xfrm>
            <a:off x="9669780" y="296357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8" name="Text 36"/>
          <p:cNvSpPr/>
          <p:nvPr/>
        </p:nvSpPr>
        <p:spPr>
          <a:xfrm>
            <a:off x="10026396" y="296357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9" name="Text 37"/>
          <p:cNvSpPr/>
          <p:nvPr/>
        </p:nvSpPr>
        <p:spPr>
          <a:xfrm>
            <a:off x="10810951" y="296357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40" name="Text 38"/>
          <p:cNvSpPr/>
          <p:nvPr/>
        </p:nvSpPr>
        <p:spPr>
          <a:xfrm>
            <a:off x="11773814" y="296357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41" name="Text 39"/>
          <p:cNvSpPr/>
          <p:nvPr/>
        </p:nvSpPr>
        <p:spPr>
          <a:xfrm>
            <a:off x="8243316" y="3569818"/>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42" name="Text 40"/>
          <p:cNvSpPr/>
          <p:nvPr/>
        </p:nvSpPr>
        <p:spPr>
          <a:xfrm>
            <a:off x="8849563" y="35698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43" name="Text 41"/>
          <p:cNvSpPr/>
          <p:nvPr/>
        </p:nvSpPr>
        <p:spPr>
          <a:xfrm>
            <a:off x="9455810" y="35698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44" name="Text 42"/>
          <p:cNvSpPr/>
          <p:nvPr/>
        </p:nvSpPr>
        <p:spPr>
          <a:xfrm>
            <a:off x="10062058" y="35698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45" name="Text 43"/>
          <p:cNvSpPr/>
          <p:nvPr/>
        </p:nvSpPr>
        <p:spPr>
          <a:xfrm>
            <a:off x="10525658" y="35698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46" name="Text 44"/>
          <p:cNvSpPr/>
          <p:nvPr/>
        </p:nvSpPr>
        <p:spPr>
          <a:xfrm>
            <a:off x="10953598" y="35698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47" name="Text 45"/>
          <p:cNvSpPr/>
          <p:nvPr/>
        </p:nvSpPr>
        <p:spPr>
          <a:xfrm>
            <a:off x="11381537" y="356981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48" name="Text 46"/>
          <p:cNvSpPr/>
          <p:nvPr/>
        </p:nvSpPr>
        <p:spPr>
          <a:xfrm>
            <a:off x="11167567" y="417606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49" name="Text 47"/>
          <p:cNvSpPr/>
          <p:nvPr/>
        </p:nvSpPr>
        <p:spPr>
          <a:xfrm>
            <a:off x="11666830" y="417606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DFS Build: Follow One Branch Deep</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4987138" y="1653235"/>
            <a:ext cx="-1355141" cy="641909"/>
          </a:xfrm>
          <a:prstGeom prst="line">
            <a:avLst/>
          </a:prstGeom>
          <a:solidFill>
            <a:srgbClr val="FFFFFF">
              <a:alpha val="0"/>
            </a:srgbClr>
          </a:solidFill>
          <a:ln w="31750">
            <a:solidFill>
              <a:srgbClr val="9B1C1C"/>
            </a:solidFill>
            <a:prstDash val="solid"/>
            <a:tailEnd type="none"/>
          </a:ln>
        </p:spPr>
      </p:sp>
      <p:sp>
        <p:nvSpPr>
          <p:cNvPr id="8" name="Shape 6"/>
          <p:cNvSpPr/>
          <p:nvPr/>
        </p:nvSpPr>
        <p:spPr>
          <a:xfrm>
            <a:off x="4987138" y="1653235"/>
            <a:ext cx="0" cy="641909"/>
          </a:xfrm>
          <a:prstGeom prst="line">
            <a:avLst/>
          </a:prstGeom>
          <a:solidFill>
            <a:srgbClr val="FFFFFF">
              <a:alpha val="0"/>
            </a:srgbClr>
          </a:solidFill>
          <a:ln w="13970">
            <a:solidFill>
              <a:srgbClr val="D8DEE8"/>
            </a:solidFill>
            <a:prstDash val="solid"/>
            <a:tailEnd type="none"/>
          </a:ln>
        </p:spPr>
      </p:sp>
      <p:sp>
        <p:nvSpPr>
          <p:cNvPr id="9" name="Shape 7"/>
          <p:cNvSpPr/>
          <p:nvPr/>
        </p:nvSpPr>
        <p:spPr>
          <a:xfrm>
            <a:off x="4987138" y="1653235"/>
            <a:ext cx="1355141" cy="641909"/>
          </a:xfrm>
          <a:prstGeom prst="line">
            <a:avLst/>
          </a:prstGeom>
          <a:solidFill>
            <a:srgbClr val="FFFFFF">
              <a:alpha val="0"/>
            </a:srgbClr>
          </a:solidFill>
          <a:ln w="13970">
            <a:solidFill>
              <a:srgbClr val="D8DEE8"/>
            </a:solidFill>
            <a:prstDash val="solid"/>
            <a:tailEnd type="none"/>
          </a:ln>
        </p:spPr>
      </p:sp>
      <p:sp>
        <p:nvSpPr>
          <p:cNvPr id="10" name="Shape 8"/>
          <p:cNvSpPr/>
          <p:nvPr/>
        </p:nvSpPr>
        <p:spPr>
          <a:xfrm>
            <a:off x="3631997" y="2295144"/>
            <a:ext cx="-606247" cy="677570"/>
          </a:xfrm>
          <a:prstGeom prst="line">
            <a:avLst/>
          </a:prstGeom>
          <a:solidFill>
            <a:srgbClr val="FFFFFF">
              <a:alpha val="0"/>
            </a:srgbClr>
          </a:solidFill>
          <a:ln w="31750">
            <a:solidFill>
              <a:srgbClr val="9B1C1C"/>
            </a:solidFill>
            <a:prstDash val="solid"/>
            <a:tailEnd type="none"/>
          </a:ln>
        </p:spPr>
      </p:sp>
      <p:sp>
        <p:nvSpPr>
          <p:cNvPr id="11" name="Shape 9"/>
          <p:cNvSpPr/>
          <p:nvPr/>
        </p:nvSpPr>
        <p:spPr>
          <a:xfrm>
            <a:off x="3631997" y="2295144"/>
            <a:ext cx="0" cy="677570"/>
          </a:xfrm>
          <a:prstGeom prst="line">
            <a:avLst/>
          </a:prstGeom>
          <a:solidFill>
            <a:srgbClr val="FFFFFF">
              <a:alpha val="0"/>
            </a:srgbClr>
          </a:solidFill>
          <a:ln w="13970">
            <a:solidFill>
              <a:srgbClr val="D8DEE8"/>
            </a:solidFill>
            <a:prstDash val="solid"/>
            <a:tailEnd type="none"/>
          </a:ln>
        </p:spPr>
      </p:sp>
      <p:sp>
        <p:nvSpPr>
          <p:cNvPr id="12" name="Shape 10"/>
          <p:cNvSpPr/>
          <p:nvPr/>
        </p:nvSpPr>
        <p:spPr>
          <a:xfrm>
            <a:off x="3631997" y="2295144"/>
            <a:ext cx="606247" cy="677570"/>
          </a:xfrm>
          <a:prstGeom prst="line">
            <a:avLst/>
          </a:prstGeom>
          <a:solidFill>
            <a:srgbClr val="FFFFFF">
              <a:alpha val="0"/>
            </a:srgbClr>
          </a:solidFill>
          <a:ln w="13970">
            <a:solidFill>
              <a:srgbClr val="D8DEE8"/>
            </a:solidFill>
            <a:prstDash val="solid"/>
            <a:tailEnd type="none"/>
          </a:ln>
        </p:spPr>
      </p:sp>
      <p:sp>
        <p:nvSpPr>
          <p:cNvPr id="13" name="Shape 11"/>
          <p:cNvSpPr/>
          <p:nvPr/>
        </p:nvSpPr>
        <p:spPr>
          <a:xfrm>
            <a:off x="4987138" y="2295144"/>
            <a:ext cx="-392278" cy="677570"/>
          </a:xfrm>
          <a:prstGeom prst="line">
            <a:avLst/>
          </a:prstGeom>
          <a:solidFill>
            <a:srgbClr val="FFFFFF">
              <a:alpha val="0"/>
            </a:srgbClr>
          </a:solidFill>
          <a:ln w="13970">
            <a:solidFill>
              <a:srgbClr val="D8DEE8"/>
            </a:solidFill>
            <a:prstDash val="solid"/>
            <a:tailEnd type="none"/>
          </a:ln>
        </p:spPr>
      </p:sp>
      <p:sp>
        <p:nvSpPr>
          <p:cNvPr id="14" name="Shape 12"/>
          <p:cNvSpPr/>
          <p:nvPr/>
        </p:nvSpPr>
        <p:spPr>
          <a:xfrm>
            <a:off x="4987138" y="2295144"/>
            <a:ext cx="392278" cy="677570"/>
          </a:xfrm>
          <a:prstGeom prst="line">
            <a:avLst/>
          </a:prstGeom>
          <a:solidFill>
            <a:srgbClr val="FFFFFF">
              <a:alpha val="0"/>
            </a:srgbClr>
          </a:solidFill>
          <a:ln w="13970">
            <a:solidFill>
              <a:srgbClr val="D8DEE8"/>
            </a:solidFill>
            <a:prstDash val="solid"/>
            <a:tailEnd type="none"/>
          </a:ln>
        </p:spPr>
      </p:sp>
      <p:sp>
        <p:nvSpPr>
          <p:cNvPr id="15" name="Shape 13"/>
          <p:cNvSpPr/>
          <p:nvPr/>
        </p:nvSpPr>
        <p:spPr>
          <a:xfrm>
            <a:off x="6342278" y="2295144"/>
            <a:ext cx="0" cy="677570"/>
          </a:xfrm>
          <a:prstGeom prst="line">
            <a:avLst/>
          </a:prstGeom>
          <a:solidFill>
            <a:srgbClr val="FFFFFF">
              <a:alpha val="0"/>
            </a:srgbClr>
          </a:solidFill>
          <a:ln w="13970">
            <a:solidFill>
              <a:srgbClr val="D8DEE8"/>
            </a:solidFill>
            <a:prstDash val="solid"/>
            <a:tailEnd type="none"/>
          </a:ln>
        </p:spPr>
      </p:sp>
      <p:sp>
        <p:nvSpPr>
          <p:cNvPr id="16" name="Shape 14"/>
          <p:cNvSpPr/>
          <p:nvPr/>
        </p:nvSpPr>
        <p:spPr>
          <a:xfrm>
            <a:off x="3025750" y="2972714"/>
            <a:ext cx="-213970" cy="606247"/>
          </a:xfrm>
          <a:prstGeom prst="line">
            <a:avLst/>
          </a:prstGeom>
          <a:solidFill>
            <a:srgbClr val="FFFFFF">
              <a:alpha val="0"/>
            </a:srgbClr>
          </a:solidFill>
          <a:ln w="31750">
            <a:solidFill>
              <a:srgbClr val="9B1C1C"/>
            </a:solidFill>
            <a:prstDash val="solid"/>
            <a:tailEnd type="none"/>
          </a:ln>
        </p:spPr>
      </p:sp>
      <p:sp>
        <p:nvSpPr>
          <p:cNvPr id="17" name="Shape 15"/>
          <p:cNvSpPr/>
          <p:nvPr/>
        </p:nvSpPr>
        <p:spPr>
          <a:xfrm>
            <a:off x="3631997" y="2972714"/>
            <a:ext cx="-213970" cy="606247"/>
          </a:xfrm>
          <a:prstGeom prst="line">
            <a:avLst/>
          </a:prstGeom>
          <a:solidFill>
            <a:srgbClr val="FFFFFF">
              <a:alpha val="0"/>
            </a:srgbClr>
          </a:solidFill>
          <a:ln w="13970">
            <a:solidFill>
              <a:srgbClr val="D8DEE8"/>
            </a:solidFill>
            <a:prstDash val="solid"/>
            <a:tailEnd type="none"/>
          </a:ln>
        </p:spPr>
      </p:sp>
      <p:sp>
        <p:nvSpPr>
          <p:cNvPr id="18" name="Shape 16"/>
          <p:cNvSpPr/>
          <p:nvPr/>
        </p:nvSpPr>
        <p:spPr>
          <a:xfrm>
            <a:off x="4238244" y="2972714"/>
            <a:ext cx="-213970" cy="606247"/>
          </a:xfrm>
          <a:prstGeom prst="line">
            <a:avLst/>
          </a:prstGeom>
          <a:solidFill>
            <a:srgbClr val="FFFFFF">
              <a:alpha val="0"/>
            </a:srgbClr>
          </a:solidFill>
          <a:ln w="13970">
            <a:solidFill>
              <a:srgbClr val="D8DEE8"/>
            </a:solidFill>
            <a:prstDash val="solid"/>
            <a:tailEnd type="none"/>
          </a:ln>
        </p:spPr>
      </p:sp>
      <p:sp>
        <p:nvSpPr>
          <p:cNvPr id="19" name="Shape 17"/>
          <p:cNvSpPr/>
          <p:nvPr/>
        </p:nvSpPr>
        <p:spPr>
          <a:xfrm>
            <a:off x="4238244" y="2972714"/>
            <a:ext cx="392278" cy="606247"/>
          </a:xfrm>
          <a:prstGeom prst="line">
            <a:avLst/>
          </a:prstGeom>
          <a:solidFill>
            <a:srgbClr val="FFFFFF">
              <a:alpha val="0"/>
            </a:srgbClr>
          </a:solidFill>
          <a:ln w="13970">
            <a:solidFill>
              <a:srgbClr val="D8DEE8"/>
            </a:solidFill>
            <a:prstDash val="solid"/>
            <a:tailEnd type="none"/>
          </a:ln>
        </p:spPr>
      </p:sp>
      <p:sp>
        <p:nvSpPr>
          <p:cNvPr id="20" name="Shape 18"/>
          <p:cNvSpPr/>
          <p:nvPr/>
        </p:nvSpPr>
        <p:spPr>
          <a:xfrm>
            <a:off x="4594860" y="2972714"/>
            <a:ext cx="499262" cy="606247"/>
          </a:xfrm>
          <a:prstGeom prst="line">
            <a:avLst/>
          </a:prstGeom>
          <a:solidFill>
            <a:srgbClr val="FFFFFF">
              <a:alpha val="0"/>
            </a:srgbClr>
          </a:solidFill>
          <a:ln w="13970">
            <a:solidFill>
              <a:srgbClr val="D8DEE8"/>
            </a:solidFill>
            <a:prstDash val="solid"/>
            <a:tailEnd type="none"/>
          </a:ln>
        </p:spPr>
      </p:sp>
      <p:sp>
        <p:nvSpPr>
          <p:cNvPr id="21" name="Shape 19"/>
          <p:cNvSpPr/>
          <p:nvPr/>
        </p:nvSpPr>
        <p:spPr>
          <a:xfrm>
            <a:off x="4594860" y="2972714"/>
            <a:ext cx="927202" cy="606247"/>
          </a:xfrm>
          <a:prstGeom prst="line">
            <a:avLst/>
          </a:prstGeom>
          <a:solidFill>
            <a:srgbClr val="FFFFFF">
              <a:alpha val="0"/>
            </a:srgbClr>
          </a:solidFill>
          <a:ln w="13970">
            <a:solidFill>
              <a:srgbClr val="D8DEE8"/>
            </a:solidFill>
            <a:prstDash val="solid"/>
            <a:tailEnd type="none"/>
          </a:ln>
        </p:spPr>
      </p:sp>
      <p:sp>
        <p:nvSpPr>
          <p:cNvPr id="22" name="Shape 20"/>
          <p:cNvSpPr/>
          <p:nvPr/>
        </p:nvSpPr>
        <p:spPr>
          <a:xfrm>
            <a:off x="5379415" y="2972714"/>
            <a:ext cx="570586" cy="606247"/>
          </a:xfrm>
          <a:prstGeom prst="line">
            <a:avLst/>
          </a:prstGeom>
          <a:solidFill>
            <a:srgbClr val="FFFFFF">
              <a:alpha val="0"/>
            </a:srgbClr>
          </a:solidFill>
          <a:ln w="13970">
            <a:solidFill>
              <a:srgbClr val="D8DEE8"/>
            </a:solidFill>
            <a:prstDash val="solid"/>
            <a:tailEnd type="none"/>
          </a:ln>
        </p:spPr>
      </p:sp>
      <p:sp>
        <p:nvSpPr>
          <p:cNvPr id="23" name="Shape 21"/>
          <p:cNvSpPr/>
          <p:nvPr/>
        </p:nvSpPr>
        <p:spPr>
          <a:xfrm>
            <a:off x="5950001" y="3578962"/>
            <a:ext cx="-213970" cy="606247"/>
          </a:xfrm>
          <a:prstGeom prst="line">
            <a:avLst/>
          </a:prstGeom>
          <a:solidFill>
            <a:srgbClr val="FFFFFF">
              <a:alpha val="0"/>
            </a:srgbClr>
          </a:solidFill>
          <a:ln w="13970">
            <a:solidFill>
              <a:srgbClr val="D8DEE8"/>
            </a:solidFill>
            <a:prstDash val="solid"/>
            <a:tailEnd type="none"/>
          </a:ln>
        </p:spPr>
      </p:sp>
      <p:sp>
        <p:nvSpPr>
          <p:cNvPr id="24" name="Shape 22"/>
          <p:cNvSpPr/>
          <p:nvPr/>
        </p:nvSpPr>
        <p:spPr>
          <a:xfrm>
            <a:off x="5950001" y="3578962"/>
            <a:ext cx="285293" cy="606247"/>
          </a:xfrm>
          <a:prstGeom prst="line">
            <a:avLst/>
          </a:prstGeom>
          <a:solidFill>
            <a:srgbClr val="FFFFFF">
              <a:alpha val="0"/>
            </a:srgbClr>
          </a:solidFill>
          <a:ln w="13970">
            <a:solidFill>
              <a:srgbClr val="D8DEE8"/>
            </a:solidFill>
            <a:prstDash val="solid"/>
            <a:tailEnd type="none"/>
          </a:ln>
        </p:spPr>
      </p:sp>
      <p:sp>
        <p:nvSpPr>
          <p:cNvPr id="25" name="Text 23"/>
          <p:cNvSpPr/>
          <p:nvPr/>
        </p:nvSpPr>
        <p:spPr>
          <a:xfrm>
            <a:off x="4840834" y="1506931"/>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26" name="Text 24"/>
          <p:cNvSpPr/>
          <p:nvPr/>
        </p:nvSpPr>
        <p:spPr>
          <a:xfrm>
            <a:off x="3485693" y="214884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d</a:t>
            </a:r>
            <a:endParaRPr lang="en-US" sz="900" dirty="0"/>
          </a:p>
        </p:txBody>
      </p:sp>
      <p:sp>
        <p:nvSpPr>
          <p:cNvPr id="27" name="Text 25"/>
          <p:cNvSpPr/>
          <p:nvPr/>
        </p:nvSpPr>
        <p:spPr>
          <a:xfrm>
            <a:off x="4840834" y="21488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28" name="Text 26"/>
          <p:cNvSpPr/>
          <p:nvPr/>
        </p:nvSpPr>
        <p:spPr>
          <a:xfrm>
            <a:off x="6195974" y="214884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29" name="Text 27"/>
          <p:cNvSpPr/>
          <p:nvPr/>
        </p:nvSpPr>
        <p:spPr>
          <a:xfrm>
            <a:off x="2879446" y="2826410"/>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30" name="Text 28"/>
          <p:cNvSpPr/>
          <p:nvPr/>
        </p:nvSpPr>
        <p:spPr>
          <a:xfrm>
            <a:off x="3485693" y="28264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31" name="Text 29"/>
          <p:cNvSpPr/>
          <p:nvPr/>
        </p:nvSpPr>
        <p:spPr>
          <a:xfrm>
            <a:off x="4091940" y="28264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e</a:t>
            </a:r>
            <a:endParaRPr lang="en-US" sz="900" dirty="0"/>
          </a:p>
        </p:txBody>
      </p:sp>
      <p:sp>
        <p:nvSpPr>
          <p:cNvPr id="32" name="Text 30"/>
          <p:cNvSpPr/>
          <p:nvPr/>
        </p:nvSpPr>
        <p:spPr>
          <a:xfrm>
            <a:off x="4448556" y="28264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3" name="Text 31"/>
          <p:cNvSpPr/>
          <p:nvPr/>
        </p:nvSpPr>
        <p:spPr>
          <a:xfrm>
            <a:off x="5233111" y="28264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34" name="Text 32"/>
          <p:cNvSpPr/>
          <p:nvPr/>
        </p:nvSpPr>
        <p:spPr>
          <a:xfrm>
            <a:off x="6195974" y="2826410"/>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35" name="Text 33"/>
          <p:cNvSpPr/>
          <p:nvPr/>
        </p:nvSpPr>
        <p:spPr>
          <a:xfrm>
            <a:off x="2665476" y="3432658"/>
            <a:ext cx="292608" cy="292608"/>
          </a:xfrm>
          <a:prstGeom prst="ellipse">
            <a:avLst/>
          </a:prstGeom>
          <a:solidFill>
            <a:srgbClr val="FFE5B6"/>
          </a:solidFill>
          <a:ln w="15240">
            <a:solidFill>
              <a:srgbClr val="9B1C1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36" name="Text 34"/>
          <p:cNvSpPr/>
          <p:nvPr/>
        </p:nvSpPr>
        <p:spPr>
          <a:xfrm>
            <a:off x="3271723" y="34326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37" name="Text 35"/>
          <p:cNvSpPr/>
          <p:nvPr/>
        </p:nvSpPr>
        <p:spPr>
          <a:xfrm>
            <a:off x="3877970" y="34326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h</a:t>
            </a:r>
            <a:endParaRPr lang="en-US" sz="900" dirty="0"/>
          </a:p>
        </p:txBody>
      </p:sp>
      <p:sp>
        <p:nvSpPr>
          <p:cNvPr id="38" name="Text 36"/>
          <p:cNvSpPr/>
          <p:nvPr/>
        </p:nvSpPr>
        <p:spPr>
          <a:xfrm>
            <a:off x="4484218" y="34326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r</a:t>
            </a:r>
            <a:endParaRPr lang="en-US" sz="900" dirty="0"/>
          </a:p>
        </p:txBody>
      </p:sp>
      <p:sp>
        <p:nvSpPr>
          <p:cNvPr id="39" name="Text 37"/>
          <p:cNvSpPr/>
          <p:nvPr/>
        </p:nvSpPr>
        <p:spPr>
          <a:xfrm>
            <a:off x="4947818" y="34326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p</a:t>
            </a:r>
            <a:endParaRPr lang="en-US" sz="900" dirty="0"/>
          </a:p>
        </p:txBody>
      </p:sp>
      <p:sp>
        <p:nvSpPr>
          <p:cNvPr id="40" name="Text 38"/>
          <p:cNvSpPr/>
          <p:nvPr/>
        </p:nvSpPr>
        <p:spPr>
          <a:xfrm>
            <a:off x="5375758" y="34326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q</a:t>
            </a:r>
            <a:endParaRPr lang="en-US" sz="900" dirty="0"/>
          </a:p>
        </p:txBody>
      </p:sp>
      <p:sp>
        <p:nvSpPr>
          <p:cNvPr id="41" name="Text 39"/>
          <p:cNvSpPr/>
          <p:nvPr/>
        </p:nvSpPr>
        <p:spPr>
          <a:xfrm>
            <a:off x="5803697" y="3432658"/>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f</a:t>
            </a:r>
            <a:endParaRPr lang="en-US" sz="900" dirty="0"/>
          </a:p>
        </p:txBody>
      </p:sp>
      <p:sp>
        <p:nvSpPr>
          <p:cNvPr id="42" name="Text 40"/>
          <p:cNvSpPr/>
          <p:nvPr/>
        </p:nvSpPr>
        <p:spPr>
          <a:xfrm>
            <a:off x="5589727" y="403890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43" name="Text 41"/>
          <p:cNvSpPr/>
          <p:nvPr/>
        </p:nvSpPr>
        <p:spPr>
          <a:xfrm>
            <a:off x="6088990" y="4038905"/>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44" name="Text 42"/>
          <p:cNvSpPr/>
          <p:nvPr/>
        </p:nvSpPr>
        <p:spPr>
          <a:xfrm>
            <a:off x="7040880" y="1828800"/>
            <a:ext cx="3840480" cy="685800"/>
          </a:xfrm>
          <a:prstGeom prst="rect">
            <a:avLst/>
          </a:prstGeom>
          <a:noFill/>
          <a:ln/>
        </p:spPr>
        <p:txBody>
          <a:bodyPr wrap="square" lIns="762" tIns="762" rIns="762" bIns="762" rtlCol="0" anchor="ctr">
            <a:normAutofit/>
          </a:bodyPr>
          <a:lstStyle/>
          <a:p>
            <a:pPr algn="ctr" indent="0" marL="0">
              <a:buNone/>
            </a:pPr>
            <a:r>
              <a:rPr lang="en-US" sz="2100" b="1" dirty="0">
                <a:solidFill>
                  <a:srgbClr val="112E5C"/>
                </a:solidFill>
              </a:rPr>
              <a:t>DFS follows one branch as far as possible, then backtracks.</a:t>
            </a:r>
            <a:endParaRPr lang="en-US" sz="2100" dirty="0"/>
          </a:p>
        </p:txBody>
      </p:sp>
      <p:sp>
        <p:nvSpPr>
          <p:cNvPr id="45" name="Text 43"/>
          <p:cNvSpPr/>
          <p:nvPr/>
        </p:nvSpPr>
        <p:spPr>
          <a:xfrm>
            <a:off x="7040880" y="2971800"/>
            <a:ext cx="3840480" cy="914400"/>
          </a:xfrm>
          <a:prstGeom prst="rect">
            <a:avLst/>
          </a:prstGeom>
          <a:noFill/>
          <a:ln/>
        </p:spPr>
        <p:txBody>
          <a:bodyPr wrap="square" lIns="762" tIns="762" rIns="762" bIns="762" rtlCol="0" anchor="ctr">
            <a:normAutofit/>
          </a:bodyPr>
          <a:lstStyle/>
          <a:p>
            <a:pPr algn="ctr" indent="0" marL="0">
              <a:buNone/>
            </a:pPr>
            <a:r>
              <a:rPr lang="en-US" sz="1600" dirty="0">
                <a:solidFill>
                  <a:srgbClr val="102A4C"/>
                </a:solidFill>
              </a:rPr>
              <a:t>Good: small fringe. Bad: may miss a shallow solution while exploring a deep branch.</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DFS Failure Modes and Backtracking</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417320"/>
            <a:ext cx="5669280" cy="4206240"/>
          </a:xfrm>
          <a:prstGeom prst="rect">
            <a:avLst/>
          </a:prstGeom>
          <a:noFill/>
          <a:ln/>
        </p:spPr>
        <p:txBody>
          <a:bodyPr wrap="square" lIns="635" tIns="635" rIns="635" bIns="635" rtlCol="0" anchor="ctr">
            <a:normAutofit/>
          </a:bodyPr>
          <a:lstStyle/>
          <a:p>
            <a:r>
              <a:rPr lang="en-US" sz="1550" b="1" dirty="0">
                <a:solidFill>
                  <a:srgbClr val="9B1C1C"/>
                </a:solidFill>
              </a:rPr>
              <a:t>Cyclic spaces</a:t>
            </a:r>
            <a:endParaRPr lang="en-US" sz="1550" dirty="0"/>
          </a:p>
          <a:p>
            <a:r>
              <a:rPr lang="en-US" sz="1550" dirty="0">
                <a:solidFill>
                  <a:srgbClr val="102A4C"/>
                </a:solidFill>
              </a:rPr>
              <a:t>DFS can loop forever without cycle checks</a:t>
            </a:r>
            <a:endParaRPr lang="en-US" sz="1550" dirty="0"/>
          </a:p>
          <a:p>
            <a:r>
              <a:rPr lang="en-US" sz="1550" b="1" dirty="0">
                <a:solidFill>
                  <a:srgbClr val="9B1C1C"/>
                </a:solidFill>
              </a:rPr>
              <a:t>Infinite spaces</a:t>
            </a:r>
            <a:endParaRPr lang="en-US" sz="1550" dirty="0"/>
          </a:p>
          <a:p>
            <a:r>
              <a:rPr lang="en-US" sz="1550" dirty="0">
                <a:solidFill>
                  <a:srgbClr val="102A4C"/>
                </a:solidFill>
              </a:rPr>
              <a:t>DFS can follow one infinite path and never return</a:t>
            </a:r>
            <a:endParaRPr lang="en-US" sz="1550" dirty="0"/>
          </a:p>
          <a:p>
            <a:r>
              <a:rPr lang="en-US" sz="1550" b="1" dirty="0">
                <a:solidFill>
                  <a:srgbClr val="9B1C1C"/>
                </a:solidFill>
              </a:rPr>
              <a:t>Repeated states</a:t>
            </a:r>
            <a:endParaRPr lang="en-US" sz="1550" dirty="0"/>
          </a:p>
          <a:p>
            <a:r>
              <a:rPr lang="en-US" sz="1550" dirty="0">
                <a:solidFill>
                  <a:srgbClr val="102A4C"/>
                </a:solidFill>
              </a:rPr>
              <a:t>DFS can revisit the same state many times</a:t>
            </a:r>
            <a:endParaRPr lang="en-US" sz="1550" dirty="0"/>
          </a:p>
          <a:p>
            <a:r>
              <a:rPr lang="en-US" sz="1550" b="1" dirty="0">
                <a:solidFill>
                  <a:srgbClr val="177245"/>
                </a:solidFill>
              </a:rPr>
              <a:t>Backtracking search</a:t>
            </a:r>
            <a:endParaRPr lang="en-US" sz="1550" dirty="0"/>
          </a:p>
          <a:p>
            <a:r>
              <a:rPr lang="en-US" sz="1550" dirty="0">
                <a:solidFill>
                  <a:srgbClr val="102A4C"/>
                </a:solidFill>
              </a:rPr>
              <a:t>generates one successor at a time and undoes actions to reduce memory</a:t>
            </a:r>
            <a:endParaRPr lang="en-US" sz="1550" dirty="0"/>
          </a:p>
        </p:txBody>
      </p:sp>
      <p:sp>
        <p:nvSpPr>
          <p:cNvPr id="8" name="Text 6"/>
          <p:cNvSpPr/>
          <p:nvPr/>
        </p:nvSpPr>
        <p:spPr>
          <a:xfrm>
            <a:off x="7168896" y="1408176"/>
            <a:ext cx="292608" cy="292608"/>
          </a:xfrm>
          <a:prstGeom prst="ellipse">
            <a:avLst/>
          </a:prstGeom>
          <a:solidFill>
            <a:srgbClr val="FFE5B6"/>
          </a:solidFill>
          <a:ln w="15240">
            <a:solidFill>
              <a:srgbClr val="F6A01A"/>
            </a:solidFill>
          </a:ln>
        </p:spPr>
        <p:txBody>
          <a:bodyPr wrap="square" lIns="0" tIns="0" rIns="0" bIns="0" rtlCol="0" anchor="ctr">
            <a:normAutofit/>
          </a:bodyPr>
          <a:lstStyle/>
          <a:p>
            <a:pPr algn="ctr" indent="0" marL="0">
              <a:buNone/>
            </a:pPr>
            <a:r>
              <a:rPr lang="en-US" sz="900" b="1" dirty="0">
                <a:solidFill>
                  <a:srgbClr val="102A4C"/>
                </a:solidFill>
              </a:rPr>
              <a:t>A</a:t>
            </a:r>
            <a:endParaRPr lang="en-US" sz="900" dirty="0"/>
          </a:p>
        </p:txBody>
      </p:sp>
      <p:sp>
        <p:nvSpPr>
          <p:cNvPr id="9" name="Text 7"/>
          <p:cNvSpPr/>
          <p:nvPr/>
        </p:nvSpPr>
        <p:spPr>
          <a:xfrm>
            <a:off x="8357616" y="213969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B</a:t>
            </a:r>
            <a:endParaRPr lang="en-US" sz="900" dirty="0"/>
          </a:p>
        </p:txBody>
      </p:sp>
      <p:sp>
        <p:nvSpPr>
          <p:cNvPr id="10" name="Text 8"/>
          <p:cNvSpPr/>
          <p:nvPr/>
        </p:nvSpPr>
        <p:spPr>
          <a:xfrm>
            <a:off x="7168896" y="2871216"/>
            <a:ext cx="292608" cy="292608"/>
          </a:xfrm>
          <a:prstGeom prst="ellipse">
            <a:avLst/>
          </a:prstGeom>
          <a:solidFill>
            <a:srgbClr val="FFFFFF"/>
          </a:solidFill>
          <a:ln w="15240">
            <a:solidFill>
              <a:srgbClr val="112E5C"/>
            </a:solidFill>
          </a:ln>
        </p:spPr>
        <p:txBody>
          <a:bodyPr wrap="square" lIns="0" tIns="0" rIns="0" bIns="0" rtlCol="0" anchor="ctr">
            <a:normAutofit/>
          </a:bodyPr>
          <a:lstStyle/>
          <a:p>
            <a:pPr algn="ctr" indent="0" marL="0">
              <a:buNone/>
            </a:pPr>
            <a:r>
              <a:rPr lang="en-US" sz="900" b="1" dirty="0">
                <a:solidFill>
                  <a:srgbClr val="102A4C"/>
                </a:solidFill>
              </a:rPr>
              <a:t>C</a:t>
            </a:r>
            <a:endParaRPr lang="en-US" sz="900" dirty="0"/>
          </a:p>
        </p:txBody>
      </p:sp>
      <p:sp>
        <p:nvSpPr>
          <p:cNvPr id="11" name="Shape 9"/>
          <p:cNvSpPr/>
          <p:nvPr/>
        </p:nvSpPr>
        <p:spPr>
          <a:xfrm>
            <a:off x="7315200" y="1554480"/>
            <a:ext cx="1188720" cy="731520"/>
          </a:xfrm>
          <a:prstGeom prst="line">
            <a:avLst/>
          </a:prstGeom>
          <a:solidFill>
            <a:srgbClr val="FFFFFF">
              <a:alpha val="0"/>
            </a:srgbClr>
          </a:solidFill>
          <a:ln w="19050">
            <a:solidFill>
              <a:srgbClr val="5C6B80"/>
            </a:solidFill>
            <a:prstDash val="solid"/>
            <a:tailEnd type="triangle"/>
          </a:ln>
        </p:spPr>
      </p:sp>
      <p:sp>
        <p:nvSpPr>
          <p:cNvPr id="12" name="Shape 10"/>
          <p:cNvSpPr/>
          <p:nvPr/>
        </p:nvSpPr>
        <p:spPr>
          <a:xfrm>
            <a:off x="8503920" y="2286000"/>
            <a:ext cx="-1188720" cy="731520"/>
          </a:xfrm>
          <a:prstGeom prst="line">
            <a:avLst/>
          </a:prstGeom>
          <a:solidFill>
            <a:srgbClr val="FFFFFF">
              <a:alpha val="0"/>
            </a:srgbClr>
          </a:solidFill>
          <a:ln w="19050">
            <a:solidFill>
              <a:srgbClr val="5C6B80"/>
            </a:solidFill>
            <a:prstDash val="solid"/>
            <a:tailEnd type="triangle"/>
          </a:ln>
        </p:spPr>
      </p:sp>
      <p:sp>
        <p:nvSpPr>
          <p:cNvPr id="13" name="Shape 11"/>
          <p:cNvSpPr/>
          <p:nvPr/>
        </p:nvSpPr>
        <p:spPr>
          <a:xfrm>
            <a:off x="7315200" y="3017520"/>
            <a:ext cx="0" cy="-1463040"/>
          </a:xfrm>
          <a:prstGeom prst="line">
            <a:avLst/>
          </a:prstGeom>
          <a:solidFill>
            <a:srgbClr val="FFFFFF">
              <a:alpha val="0"/>
            </a:srgbClr>
          </a:solidFill>
          <a:ln w="25400">
            <a:solidFill>
              <a:srgbClr val="9B1C1C"/>
            </a:solidFill>
            <a:prstDash val="solid"/>
            <a:tailEnd type="triangle"/>
          </a:ln>
        </p:spPr>
      </p:sp>
      <p:sp>
        <p:nvSpPr>
          <p:cNvPr id="14" name="Text 12"/>
          <p:cNvSpPr/>
          <p:nvPr/>
        </p:nvSpPr>
        <p:spPr>
          <a:xfrm>
            <a:off x="7726680" y="2514600"/>
            <a:ext cx="1097280" cy="274320"/>
          </a:xfrm>
          <a:prstGeom prst="rect">
            <a:avLst/>
          </a:prstGeom>
          <a:noFill/>
          <a:ln/>
        </p:spPr>
        <p:txBody>
          <a:bodyPr wrap="square" lIns="762" tIns="762" rIns="762" bIns="762" rtlCol="0" anchor="ctr">
            <a:normAutofit/>
          </a:bodyPr>
          <a:lstStyle/>
          <a:p>
            <a:pPr algn="ctr" indent="0" marL="0">
              <a:buNone/>
            </a:pPr>
            <a:r>
              <a:rPr lang="en-US" sz="1500" b="1" dirty="0">
                <a:solidFill>
                  <a:srgbClr val="9B1C1C"/>
                </a:solidFill>
              </a:rPr>
              <a:t>Cycle</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Depth-Limited and Iterative Deepening Search</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822960" y="1417320"/>
            <a:ext cx="4114800" cy="502920"/>
          </a:xfrm>
          <a:prstGeom prst="roundRect">
            <a:avLst>
              <a:gd name="adj" fmla="val 14545"/>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700" b="1" dirty="0">
                <a:solidFill>
                  <a:srgbClr val="2F7FD5"/>
                </a:solidFill>
              </a:rPr>
              <a:t>Depth-limited search</a:t>
            </a:r>
            <a:endParaRPr lang="en-US" sz="1700" dirty="0"/>
          </a:p>
        </p:txBody>
      </p:sp>
      <p:sp>
        <p:nvSpPr>
          <p:cNvPr id="8" name="Text 6"/>
          <p:cNvSpPr/>
          <p:nvPr/>
        </p:nvSpPr>
        <p:spPr>
          <a:xfrm>
            <a:off x="914400" y="2057400"/>
            <a:ext cx="4023360" cy="914400"/>
          </a:xfrm>
          <a:prstGeom prst="rect">
            <a:avLst/>
          </a:prstGeom>
          <a:noFill/>
          <a:ln/>
        </p:spPr>
        <p:txBody>
          <a:bodyPr wrap="square" lIns="762" tIns="762" rIns="762" bIns="762" rtlCol="0" anchor="ctr">
            <a:normAutofit/>
          </a:bodyPr>
          <a:lstStyle/>
          <a:p>
            <a:pPr algn="ctr" indent="0" marL="0">
              <a:buNone/>
            </a:pPr>
            <a:r>
              <a:rPr lang="en-US" sz="1500" dirty="0">
                <a:solidFill>
                  <a:srgbClr val="102A4C"/>
                </a:solidFill>
              </a:rPr>
              <a:t>Set a depth limit ℓ. Nodes at depth ℓ are treated as if they have no successors.</a:t>
            </a:r>
            <a:endParaRPr lang="en-US" sz="1500" dirty="0"/>
          </a:p>
        </p:txBody>
      </p:sp>
      <p:sp>
        <p:nvSpPr>
          <p:cNvPr id="9" name="Text 7"/>
          <p:cNvSpPr/>
          <p:nvPr/>
        </p:nvSpPr>
        <p:spPr>
          <a:xfrm>
            <a:off x="6400800" y="1417320"/>
            <a:ext cx="4297680" cy="502920"/>
          </a:xfrm>
          <a:prstGeom prst="roundRect">
            <a:avLst>
              <a:gd name="adj" fmla="val 14545"/>
            </a:avLst>
          </a:prstGeom>
          <a:solidFill>
            <a:srgbClr val="DBF1E3"/>
          </a:solidFill>
          <a:ln w="15240">
            <a:solidFill>
              <a:srgbClr val="177245"/>
            </a:solidFill>
          </a:ln>
        </p:spPr>
        <p:txBody>
          <a:bodyPr wrap="square" lIns="508" tIns="508" rIns="508" bIns="508" rtlCol="0" anchor="ctr">
            <a:normAutofit/>
          </a:bodyPr>
          <a:lstStyle/>
          <a:p>
            <a:pPr algn="ctr" indent="0" marL="0">
              <a:buNone/>
            </a:pPr>
            <a:r>
              <a:rPr lang="en-US" sz="1700" b="1" dirty="0">
                <a:solidFill>
                  <a:srgbClr val="177245"/>
                </a:solidFill>
              </a:rPr>
              <a:t>Iterative deepening search</a:t>
            </a:r>
            <a:endParaRPr lang="en-US" sz="1700" dirty="0"/>
          </a:p>
        </p:txBody>
      </p:sp>
      <p:sp>
        <p:nvSpPr>
          <p:cNvPr id="10" name="Text 8"/>
          <p:cNvSpPr/>
          <p:nvPr/>
        </p:nvSpPr>
        <p:spPr>
          <a:xfrm>
            <a:off x="6492240" y="2057400"/>
            <a:ext cx="4114800" cy="914400"/>
          </a:xfrm>
          <a:prstGeom prst="rect">
            <a:avLst/>
          </a:prstGeom>
          <a:noFill/>
          <a:ln/>
        </p:spPr>
        <p:txBody>
          <a:bodyPr wrap="square" lIns="762" tIns="762" rIns="762" bIns="762" rtlCol="0" anchor="ctr">
            <a:normAutofit/>
          </a:bodyPr>
          <a:lstStyle/>
          <a:p>
            <a:pPr algn="ctr" indent="0" marL="0">
              <a:buNone/>
            </a:pPr>
            <a:r>
              <a:rPr lang="en-US" sz="1500" dirty="0">
                <a:solidFill>
                  <a:srgbClr val="102A4C"/>
                </a:solidFill>
              </a:rPr>
              <a:t>Run depth-limited search with limits 0, 1, 2, … until a solution is found.</a:t>
            </a:r>
            <a:endParaRPr lang="en-US" sz="1500" dirty="0"/>
          </a:p>
        </p:txBody>
      </p:sp>
      <p:sp>
        <p:nvSpPr>
          <p:cNvPr id="11" name="Text 9"/>
          <p:cNvSpPr/>
          <p:nvPr/>
        </p:nvSpPr>
        <p:spPr>
          <a:xfrm>
            <a:off x="1097280" y="4069080"/>
            <a:ext cx="9875520" cy="457200"/>
          </a:xfrm>
          <a:prstGeom prst="rect">
            <a:avLst/>
          </a:prstGeom>
          <a:noFill/>
          <a:ln/>
        </p:spPr>
        <p:txBody>
          <a:bodyPr wrap="square" lIns="762" tIns="762" rIns="762" bIns="762" rtlCol="0" anchor="ctr">
            <a:normAutofit/>
          </a:bodyPr>
          <a:lstStyle/>
          <a:p>
            <a:pPr algn="ctr" indent="0" marL="0">
              <a:buNone/>
            </a:pPr>
            <a:r>
              <a:rPr lang="en-US" sz="2000" b="1" dirty="0">
                <a:solidFill>
                  <a:srgbClr val="112E5C"/>
                </a:solidFill>
              </a:rPr>
              <a:t>IDS combines DFS-like memory with BFS-like shallow-solution behavior.</a:t>
            </a:r>
            <a:endParaRPr lang="en-US" sz="2000" dirty="0"/>
          </a:p>
        </p:txBody>
      </p:sp>
      <p:sp>
        <p:nvSpPr>
          <p:cNvPr id="12" name="Text 10"/>
          <p:cNvSpPr/>
          <p:nvPr/>
        </p:nvSpPr>
        <p:spPr>
          <a:xfrm>
            <a:off x="1097280" y="4800600"/>
            <a:ext cx="9875520" cy="411480"/>
          </a:xfrm>
          <a:prstGeom prst="rect">
            <a:avLst/>
          </a:prstGeom>
          <a:noFill/>
          <a:ln/>
        </p:spPr>
        <p:txBody>
          <a:bodyPr wrap="square" lIns="762" tIns="762" rIns="762" bIns="762" rtlCol="0" anchor="ctr">
            <a:normAutofit/>
          </a:bodyPr>
          <a:lstStyle/>
          <a:p>
            <a:pPr algn="ctr" indent="0" marL="0">
              <a:buNone/>
            </a:pPr>
            <a:r>
              <a:rPr lang="en-US" sz="1700" dirty="0">
                <a:solidFill>
                  <a:srgbClr val="102A4C"/>
                </a:solidFill>
              </a:rPr>
              <a:t>IDS time: O(b^d). IDS memory: O(bd). Preferred when depth is unknown and memory is limited.</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Bidirectional Search</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1179576" y="2779776"/>
            <a:ext cx="292608" cy="292608"/>
          </a:xfrm>
          <a:prstGeom prst="ellipse">
            <a:avLst/>
          </a:prstGeom>
          <a:solidFill>
            <a:srgbClr val="FFE5B6"/>
          </a:solidFill>
          <a:ln w="15240">
            <a:solidFill>
              <a:srgbClr val="F6A01A"/>
            </a:solidFill>
          </a:ln>
        </p:spPr>
        <p:txBody>
          <a:bodyPr wrap="square" lIns="0" tIns="0" rIns="0" bIns="0" rtlCol="0" anchor="ctr">
            <a:normAutofit/>
          </a:bodyPr>
          <a:lstStyle/>
          <a:p>
            <a:pPr algn="ctr" indent="0" marL="0">
              <a:buNone/>
            </a:pPr>
            <a:r>
              <a:rPr lang="en-US" sz="900" b="1" dirty="0">
                <a:solidFill>
                  <a:srgbClr val="102A4C"/>
                </a:solidFill>
              </a:rPr>
              <a:t>S</a:t>
            </a:r>
            <a:endParaRPr lang="en-US" sz="900" dirty="0"/>
          </a:p>
        </p:txBody>
      </p:sp>
      <p:sp>
        <p:nvSpPr>
          <p:cNvPr id="8" name="Text 6"/>
          <p:cNvSpPr/>
          <p:nvPr/>
        </p:nvSpPr>
        <p:spPr>
          <a:xfrm>
            <a:off x="10506456" y="2779776"/>
            <a:ext cx="292608" cy="292608"/>
          </a:xfrm>
          <a:prstGeom prst="ellipse">
            <a:avLst/>
          </a:prstGeom>
          <a:solidFill>
            <a:srgbClr val="DBF1E3"/>
          </a:solidFill>
          <a:ln w="15240">
            <a:solidFill>
              <a:srgbClr val="177245"/>
            </a:solidFill>
          </a:ln>
        </p:spPr>
        <p:txBody>
          <a:bodyPr wrap="square" lIns="0" tIns="0" rIns="0" bIns="0" rtlCol="0" anchor="ctr">
            <a:normAutofit/>
          </a:bodyPr>
          <a:lstStyle/>
          <a:p>
            <a:pPr algn="ctr" indent="0" marL="0">
              <a:buNone/>
            </a:pPr>
            <a:r>
              <a:rPr lang="en-US" sz="900" b="1" dirty="0">
                <a:solidFill>
                  <a:srgbClr val="102A4C"/>
                </a:solidFill>
              </a:rPr>
              <a:t>G</a:t>
            </a:r>
            <a:endParaRPr lang="en-US" sz="900" dirty="0"/>
          </a:p>
        </p:txBody>
      </p:sp>
      <p:sp>
        <p:nvSpPr>
          <p:cNvPr id="9" name="Shape 7"/>
          <p:cNvSpPr/>
          <p:nvPr/>
        </p:nvSpPr>
        <p:spPr>
          <a:xfrm>
            <a:off x="896112" y="2578608"/>
            <a:ext cx="859536" cy="694944"/>
          </a:xfrm>
          <a:prstGeom prst="ellipse">
            <a:avLst/>
          </a:prstGeom>
          <a:solidFill>
            <a:srgbClr val="FFFFFF">
              <a:alpha val="0"/>
            </a:srgbClr>
          </a:solidFill>
          <a:ln w="15240">
            <a:solidFill>
              <a:srgbClr val="F6A01A"/>
            </a:solidFill>
            <a:prstDash val="solid"/>
          </a:ln>
        </p:spPr>
      </p:sp>
      <p:sp>
        <p:nvSpPr>
          <p:cNvPr id="10" name="Shape 8"/>
          <p:cNvSpPr/>
          <p:nvPr/>
        </p:nvSpPr>
        <p:spPr>
          <a:xfrm>
            <a:off x="10222992" y="2578608"/>
            <a:ext cx="859536" cy="694944"/>
          </a:xfrm>
          <a:prstGeom prst="ellipse">
            <a:avLst/>
          </a:prstGeom>
          <a:solidFill>
            <a:srgbClr val="FFFFFF">
              <a:alpha val="0"/>
            </a:srgbClr>
          </a:solidFill>
          <a:ln w="15240">
            <a:solidFill>
              <a:srgbClr val="177245"/>
            </a:solidFill>
            <a:prstDash val="solid"/>
          </a:ln>
        </p:spPr>
      </p:sp>
      <p:sp>
        <p:nvSpPr>
          <p:cNvPr id="11" name="Shape 9"/>
          <p:cNvSpPr/>
          <p:nvPr/>
        </p:nvSpPr>
        <p:spPr>
          <a:xfrm>
            <a:off x="466344" y="2231136"/>
            <a:ext cx="1719072" cy="1389888"/>
          </a:xfrm>
          <a:prstGeom prst="ellipse">
            <a:avLst/>
          </a:prstGeom>
          <a:solidFill>
            <a:srgbClr val="FFFFFF">
              <a:alpha val="0"/>
            </a:srgbClr>
          </a:solidFill>
          <a:ln w="15240">
            <a:solidFill>
              <a:srgbClr val="F6A01A"/>
            </a:solidFill>
            <a:prstDash val="solid"/>
          </a:ln>
        </p:spPr>
      </p:sp>
      <p:sp>
        <p:nvSpPr>
          <p:cNvPr id="12" name="Shape 10"/>
          <p:cNvSpPr/>
          <p:nvPr/>
        </p:nvSpPr>
        <p:spPr>
          <a:xfrm>
            <a:off x="9793224" y="2231136"/>
            <a:ext cx="1719072" cy="1389888"/>
          </a:xfrm>
          <a:prstGeom prst="ellipse">
            <a:avLst/>
          </a:prstGeom>
          <a:solidFill>
            <a:srgbClr val="FFFFFF">
              <a:alpha val="0"/>
            </a:srgbClr>
          </a:solidFill>
          <a:ln w="15240">
            <a:solidFill>
              <a:srgbClr val="177245"/>
            </a:solidFill>
            <a:prstDash val="solid"/>
          </a:ln>
        </p:spPr>
      </p:sp>
      <p:sp>
        <p:nvSpPr>
          <p:cNvPr id="13" name="Shape 11"/>
          <p:cNvSpPr/>
          <p:nvPr/>
        </p:nvSpPr>
        <p:spPr>
          <a:xfrm>
            <a:off x="36576" y="1883664"/>
            <a:ext cx="2578608" cy="2084832"/>
          </a:xfrm>
          <a:prstGeom prst="ellipse">
            <a:avLst/>
          </a:prstGeom>
          <a:solidFill>
            <a:srgbClr val="FFFFFF">
              <a:alpha val="0"/>
            </a:srgbClr>
          </a:solidFill>
          <a:ln w="15240">
            <a:solidFill>
              <a:srgbClr val="F6A01A"/>
            </a:solidFill>
            <a:prstDash val="solid"/>
          </a:ln>
        </p:spPr>
      </p:sp>
      <p:sp>
        <p:nvSpPr>
          <p:cNvPr id="14" name="Shape 12"/>
          <p:cNvSpPr/>
          <p:nvPr/>
        </p:nvSpPr>
        <p:spPr>
          <a:xfrm>
            <a:off x="9363456" y="1883664"/>
            <a:ext cx="2578608" cy="2084832"/>
          </a:xfrm>
          <a:prstGeom prst="ellipse">
            <a:avLst/>
          </a:prstGeom>
          <a:solidFill>
            <a:srgbClr val="FFFFFF">
              <a:alpha val="0"/>
            </a:srgbClr>
          </a:solidFill>
          <a:ln w="15240">
            <a:solidFill>
              <a:srgbClr val="177245"/>
            </a:solidFill>
            <a:prstDash val="solid"/>
          </a:ln>
        </p:spPr>
      </p:sp>
      <p:sp>
        <p:nvSpPr>
          <p:cNvPr id="15" name="Shape 13"/>
          <p:cNvSpPr/>
          <p:nvPr/>
        </p:nvSpPr>
        <p:spPr>
          <a:xfrm>
            <a:off x="2651760" y="2926080"/>
            <a:ext cx="6675120" cy="0"/>
          </a:xfrm>
          <a:prstGeom prst="line">
            <a:avLst/>
          </a:prstGeom>
          <a:solidFill>
            <a:srgbClr val="FFFFFF">
              <a:alpha val="0"/>
            </a:srgbClr>
          </a:solidFill>
          <a:ln w="19050">
            <a:solidFill>
              <a:srgbClr val="5C6B80"/>
            </a:solidFill>
            <a:prstDash val="solid"/>
            <a:tailEnd type="none"/>
          </a:ln>
        </p:spPr>
      </p:sp>
      <p:sp>
        <p:nvSpPr>
          <p:cNvPr id="16" name="Text 14"/>
          <p:cNvSpPr/>
          <p:nvPr/>
        </p:nvSpPr>
        <p:spPr>
          <a:xfrm>
            <a:off x="4983480" y="2606040"/>
            <a:ext cx="2148840" cy="548640"/>
          </a:xfrm>
          <a:prstGeom prst="roundRect">
            <a:avLst>
              <a:gd name="adj" fmla="val 13333"/>
            </a:avLst>
          </a:prstGeom>
          <a:solidFill>
            <a:srgbClr val="D9E9FF"/>
          </a:solidFill>
          <a:ln w="15240">
            <a:solidFill>
              <a:srgbClr val="2F7FD5"/>
            </a:solidFill>
          </a:ln>
        </p:spPr>
        <p:txBody>
          <a:bodyPr wrap="square" lIns="508" tIns="508" rIns="508" bIns="508" rtlCol="0" anchor="ctr">
            <a:normAutofit/>
          </a:bodyPr>
          <a:lstStyle/>
          <a:p>
            <a:pPr algn="ctr" indent="0" marL="0">
              <a:buNone/>
            </a:pPr>
            <a:r>
              <a:rPr lang="en-US" sz="1600" b="1" dirty="0">
                <a:solidFill>
                  <a:srgbClr val="2F7FD5"/>
                </a:solidFill>
              </a:rPr>
              <a:t>frontiers meet</a:t>
            </a:r>
            <a:endParaRPr lang="en-US" sz="1600" dirty="0"/>
          </a:p>
        </p:txBody>
      </p:sp>
      <p:sp>
        <p:nvSpPr>
          <p:cNvPr id="17" name="Text 15"/>
          <p:cNvSpPr/>
          <p:nvPr/>
        </p:nvSpPr>
        <p:spPr>
          <a:xfrm>
            <a:off x="1097280" y="4663440"/>
            <a:ext cx="9875520" cy="384048"/>
          </a:xfrm>
          <a:prstGeom prst="rect">
            <a:avLst/>
          </a:prstGeom>
          <a:noFill/>
          <a:ln/>
        </p:spPr>
        <p:txBody>
          <a:bodyPr wrap="square" lIns="762" tIns="762" rIns="762" bIns="762" rtlCol="0" anchor="ctr">
            <a:normAutofit/>
          </a:bodyPr>
          <a:lstStyle/>
          <a:p>
            <a:pPr algn="ctr" indent="0" marL="0">
              <a:buNone/>
            </a:pPr>
            <a:r>
              <a:rPr lang="en-US" sz="1800" b="1" dirty="0">
                <a:solidFill>
                  <a:srgbClr val="112E5C"/>
                </a:solidFill>
              </a:rPr>
              <a:t>Motivation: b^(d/2) + b^(d/2) is much smaller than b^d.</a:t>
            </a:r>
            <a:endParaRPr lang="en-US" sz="1800" dirty="0"/>
          </a:p>
        </p:txBody>
      </p:sp>
      <p:sp>
        <p:nvSpPr>
          <p:cNvPr id="18" name="Text 16"/>
          <p:cNvSpPr/>
          <p:nvPr/>
        </p:nvSpPr>
        <p:spPr>
          <a:xfrm>
            <a:off x="1097280" y="5257800"/>
            <a:ext cx="9875520" cy="347472"/>
          </a:xfrm>
          <a:prstGeom prst="rect">
            <a:avLst/>
          </a:prstGeom>
          <a:noFill/>
          <a:ln/>
        </p:spPr>
        <p:txBody>
          <a:bodyPr wrap="square" lIns="762" tIns="762" rIns="762" bIns="762" rtlCol="0" anchor="ctr">
            <a:normAutofit/>
          </a:bodyPr>
          <a:lstStyle/>
          <a:p>
            <a:pPr algn="ctr" indent="0" marL="0">
              <a:buNone/>
            </a:pPr>
            <a:r>
              <a:rPr lang="en-US" sz="1600" dirty="0">
                <a:solidFill>
                  <a:srgbClr val="9B1C1C"/>
                </a:solidFill>
              </a:rPr>
              <a:t>Challenge: backward actions and specific goal descriptions must be available.</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Comparing Uninformed Search Algorithms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Shape 5"/>
          <p:cNvSpPr/>
          <p:nvPr/>
        </p:nvSpPr>
        <p:spPr>
          <a:xfrm>
            <a:off x="685800" y="1325880"/>
            <a:ext cx="2011680" cy="530352"/>
          </a:xfrm>
          <a:prstGeom prst="rect">
            <a:avLst/>
          </a:prstGeom>
          <a:solidFill>
            <a:srgbClr val="112E5C"/>
          </a:solidFill>
          <a:ln w="6350">
            <a:solidFill>
              <a:srgbClr val="FFFFFF"/>
            </a:solidFill>
            <a:prstDash val="solid"/>
          </a:ln>
        </p:spPr>
      </p:sp>
      <p:sp>
        <p:nvSpPr>
          <p:cNvPr id="8" name="Text 6"/>
          <p:cNvSpPr/>
          <p:nvPr/>
        </p:nvSpPr>
        <p:spPr>
          <a:xfrm>
            <a:off x="731520" y="1435608"/>
            <a:ext cx="1920240" cy="22860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rPr>
              <a:t>Algorithm</a:t>
            </a:r>
            <a:endParaRPr lang="en-US" sz="1300" dirty="0"/>
          </a:p>
        </p:txBody>
      </p:sp>
      <p:sp>
        <p:nvSpPr>
          <p:cNvPr id="9" name="Shape 7"/>
          <p:cNvSpPr/>
          <p:nvPr/>
        </p:nvSpPr>
        <p:spPr>
          <a:xfrm>
            <a:off x="2697480" y="1325880"/>
            <a:ext cx="2926080" cy="530352"/>
          </a:xfrm>
          <a:prstGeom prst="rect">
            <a:avLst/>
          </a:prstGeom>
          <a:solidFill>
            <a:srgbClr val="112E5C"/>
          </a:solidFill>
          <a:ln w="6350">
            <a:solidFill>
              <a:srgbClr val="FFFFFF"/>
            </a:solidFill>
            <a:prstDash val="solid"/>
          </a:ln>
        </p:spPr>
      </p:sp>
      <p:sp>
        <p:nvSpPr>
          <p:cNvPr id="10" name="Text 8"/>
          <p:cNvSpPr/>
          <p:nvPr/>
        </p:nvSpPr>
        <p:spPr>
          <a:xfrm>
            <a:off x="2743200" y="1435608"/>
            <a:ext cx="2834640" cy="22860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rPr>
              <a:t>Complete?</a:t>
            </a:r>
            <a:endParaRPr lang="en-US" sz="1300" dirty="0"/>
          </a:p>
        </p:txBody>
      </p:sp>
      <p:sp>
        <p:nvSpPr>
          <p:cNvPr id="11" name="Shape 9"/>
          <p:cNvSpPr/>
          <p:nvPr/>
        </p:nvSpPr>
        <p:spPr>
          <a:xfrm>
            <a:off x="5623560" y="1325880"/>
            <a:ext cx="2560320" cy="530352"/>
          </a:xfrm>
          <a:prstGeom prst="rect">
            <a:avLst/>
          </a:prstGeom>
          <a:solidFill>
            <a:srgbClr val="112E5C"/>
          </a:solidFill>
          <a:ln w="6350">
            <a:solidFill>
              <a:srgbClr val="FFFFFF"/>
            </a:solidFill>
            <a:prstDash val="solid"/>
          </a:ln>
        </p:spPr>
      </p:sp>
      <p:sp>
        <p:nvSpPr>
          <p:cNvPr id="12" name="Text 10"/>
          <p:cNvSpPr/>
          <p:nvPr/>
        </p:nvSpPr>
        <p:spPr>
          <a:xfrm>
            <a:off x="5669280" y="1435608"/>
            <a:ext cx="2468880" cy="22860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rPr>
              <a:t>Optimal?</a:t>
            </a:r>
            <a:endParaRPr lang="en-US" sz="1300" dirty="0"/>
          </a:p>
        </p:txBody>
      </p:sp>
      <p:sp>
        <p:nvSpPr>
          <p:cNvPr id="13" name="Shape 11"/>
          <p:cNvSpPr/>
          <p:nvPr/>
        </p:nvSpPr>
        <p:spPr>
          <a:xfrm>
            <a:off x="8183880" y="1325880"/>
            <a:ext cx="2834640" cy="530352"/>
          </a:xfrm>
          <a:prstGeom prst="rect">
            <a:avLst/>
          </a:prstGeom>
          <a:solidFill>
            <a:srgbClr val="112E5C"/>
          </a:solidFill>
          <a:ln w="6350">
            <a:solidFill>
              <a:srgbClr val="FFFFFF"/>
            </a:solidFill>
            <a:prstDash val="solid"/>
          </a:ln>
        </p:spPr>
      </p:sp>
      <p:sp>
        <p:nvSpPr>
          <p:cNvPr id="14" name="Text 12"/>
          <p:cNvSpPr/>
          <p:nvPr/>
        </p:nvSpPr>
        <p:spPr>
          <a:xfrm>
            <a:off x="8229600" y="1435608"/>
            <a:ext cx="2743200" cy="22860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rPr>
              <a:t>Memory</a:t>
            </a:r>
            <a:endParaRPr lang="en-US" sz="1300" dirty="0"/>
          </a:p>
        </p:txBody>
      </p:sp>
      <p:sp>
        <p:nvSpPr>
          <p:cNvPr id="15" name="Shape 13"/>
          <p:cNvSpPr/>
          <p:nvPr/>
        </p:nvSpPr>
        <p:spPr>
          <a:xfrm>
            <a:off x="685800" y="1856232"/>
            <a:ext cx="2011680" cy="530352"/>
          </a:xfrm>
          <a:prstGeom prst="rect">
            <a:avLst/>
          </a:prstGeom>
          <a:solidFill>
            <a:srgbClr val="F7F9FC"/>
          </a:solidFill>
          <a:ln w="6350">
            <a:solidFill>
              <a:srgbClr val="D8DEE8"/>
            </a:solidFill>
            <a:prstDash val="solid"/>
          </a:ln>
        </p:spPr>
      </p:sp>
      <p:sp>
        <p:nvSpPr>
          <p:cNvPr id="16" name="Text 14"/>
          <p:cNvSpPr/>
          <p:nvPr/>
        </p:nvSpPr>
        <p:spPr>
          <a:xfrm>
            <a:off x="731520" y="1975104"/>
            <a:ext cx="1920240" cy="201168"/>
          </a:xfrm>
          <a:prstGeom prst="rect">
            <a:avLst/>
          </a:prstGeom>
          <a:noFill/>
          <a:ln/>
        </p:spPr>
        <p:txBody>
          <a:bodyPr wrap="square" lIns="0" tIns="0" rIns="0" bIns="0" rtlCol="0" anchor="ctr">
            <a:normAutofit/>
          </a:bodyPr>
          <a:lstStyle/>
          <a:p>
            <a:pPr algn="ctr" indent="0" marL="0">
              <a:buNone/>
            </a:pPr>
            <a:r>
              <a:rPr lang="en-US" sz="1150" b="1" dirty="0">
                <a:solidFill>
                  <a:srgbClr val="112E5C"/>
                </a:solidFill>
              </a:rPr>
              <a:t>BFS</a:t>
            </a:r>
            <a:endParaRPr lang="en-US" sz="1150" dirty="0"/>
          </a:p>
        </p:txBody>
      </p:sp>
      <p:sp>
        <p:nvSpPr>
          <p:cNvPr id="17" name="Shape 15"/>
          <p:cNvSpPr/>
          <p:nvPr/>
        </p:nvSpPr>
        <p:spPr>
          <a:xfrm>
            <a:off x="2697480" y="1856232"/>
            <a:ext cx="2926080" cy="530352"/>
          </a:xfrm>
          <a:prstGeom prst="rect">
            <a:avLst/>
          </a:prstGeom>
          <a:solidFill>
            <a:srgbClr val="F7F9FC"/>
          </a:solidFill>
          <a:ln w="6350">
            <a:solidFill>
              <a:srgbClr val="D8DEE8"/>
            </a:solidFill>
            <a:prstDash val="solid"/>
          </a:ln>
        </p:spPr>
      </p:sp>
      <p:sp>
        <p:nvSpPr>
          <p:cNvPr id="18" name="Text 16"/>
          <p:cNvSpPr/>
          <p:nvPr/>
        </p:nvSpPr>
        <p:spPr>
          <a:xfrm>
            <a:off x="2743200" y="1975104"/>
            <a:ext cx="283464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Yes</a:t>
            </a:r>
            <a:endParaRPr lang="en-US" sz="1150" dirty="0"/>
          </a:p>
        </p:txBody>
      </p:sp>
      <p:sp>
        <p:nvSpPr>
          <p:cNvPr id="19" name="Shape 17"/>
          <p:cNvSpPr/>
          <p:nvPr/>
        </p:nvSpPr>
        <p:spPr>
          <a:xfrm>
            <a:off x="5623560" y="1856232"/>
            <a:ext cx="2560320" cy="530352"/>
          </a:xfrm>
          <a:prstGeom prst="rect">
            <a:avLst/>
          </a:prstGeom>
          <a:solidFill>
            <a:srgbClr val="F7F9FC"/>
          </a:solidFill>
          <a:ln w="6350">
            <a:solidFill>
              <a:srgbClr val="D8DEE8"/>
            </a:solidFill>
            <a:prstDash val="solid"/>
          </a:ln>
        </p:spPr>
      </p:sp>
      <p:sp>
        <p:nvSpPr>
          <p:cNvPr id="20" name="Text 18"/>
          <p:cNvSpPr/>
          <p:nvPr/>
        </p:nvSpPr>
        <p:spPr>
          <a:xfrm>
            <a:off x="5669280" y="1975104"/>
            <a:ext cx="246888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Unit costs</a:t>
            </a:r>
            <a:endParaRPr lang="en-US" sz="1150" dirty="0"/>
          </a:p>
        </p:txBody>
      </p:sp>
      <p:sp>
        <p:nvSpPr>
          <p:cNvPr id="21" name="Shape 19"/>
          <p:cNvSpPr/>
          <p:nvPr/>
        </p:nvSpPr>
        <p:spPr>
          <a:xfrm>
            <a:off x="8183880" y="1856232"/>
            <a:ext cx="2834640" cy="530352"/>
          </a:xfrm>
          <a:prstGeom prst="rect">
            <a:avLst/>
          </a:prstGeom>
          <a:solidFill>
            <a:srgbClr val="F7F9FC"/>
          </a:solidFill>
          <a:ln w="6350">
            <a:solidFill>
              <a:srgbClr val="D8DEE8"/>
            </a:solidFill>
            <a:prstDash val="solid"/>
          </a:ln>
        </p:spPr>
      </p:sp>
      <p:sp>
        <p:nvSpPr>
          <p:cNvPr id="22" name="Text 20"/>
          <p:cNvSpPr/>
          <p:nvPr/>
        </p:nvSpPr>
        <p:spPr>
          <a:xfrm>
            <a:off x="8229600" y="1975104"/>
            <a:ext cx="274320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O(b^d)</a:t>
            </a:r>
            <a:endParaRPr lang="en-US" sz="1150" dirty="0"/>
          </a:p>
        </p:txBody>
      </p:sp>
      <p:sp>
        <p:nvSpPr>
          <p:cNvPr id="23" name="Shape 21"/>
          <p:cNvSpPr/>
          <p:nvPr/>
        </p:nvSpPr>
        <p:spPr>
          <a:xfrm>
            <a:off x="685800" y="2386584"/>
            <a:ext cx="2011680" cy="530352"/>
          </a:xfrm>
          <a:prstGeom prst="rect">
            <a:avLst/>
          </a:prstGeom>
          <a:solidFill>
            <a:srgbClr val="FFFFFF"/>
          </a:solidFill>
          <a:ln w="6350">
            <a:solidFill>
              <a:srgbClr val="D8DEE8"/>
            </a:solidFill>
            <a:prstDash val="solid"/>
          </a:ln>
        </p:spPr>
      </p:sp>
      <p:sp>
        <p:nvSpPr>
          <p:cNvPr id="24" name="Text 22"/>
          <p:cNvSpPr/>
          <p:nvPr/>
        </p:nvSpPr>
        <p:spPr>
          <a:xfrm>
            <a:off x="731520" y="2505456"/>
            <a:ext cx="1920240" cy="201168"/>
          </a:xfrm>
          <a:prstGeom prst="rect">
            <a:avLst/>
          </a:prstGeom>
          <a:noFill/>
          <a:ln/>
        </p:spPr>
        <p:txBody>
          <a:bodyPr wrap="square" lIns="0" tIns="0" rIns="0" bIns="0" rtlCol="0" anchor="ctr">
            <a:normAutofit/>
          </a:bodyPr>
          <a:lstStyle/>
          <a:p>
            <a:pPr algn="ctr" indent="0" marL="0">
              <a:buNone/>
            </a:pPr>
            <a:r>
              <a:rPr lang="en-US" sz="1150" b="1" dirty="0">
                <a:solidFill>
                  <a:srgbClr val="112E5C"/>
                </a:solidFill>
              </a:rPr>
              <a:t>UCS</a:t>
            </a:r>
            <a:endParaRPr lang="en-US" sz="1150" dirty="0"/>
          </a:p>
        </p:txBody>
      </p:sp>
      <p:sp>
        <p:nvSpPr>
          <p:cNvPr id="25" name="Shape 23"/>
          <p:cNvSpPr/>
          <p:nvPr/>
        </p:nvSpPr>
        <p:spPr>
          <a:xfrm>
            <a:off x="2697480" y="2386584"/>
            <a:ext cx="2926080" cy="530352"/>
          </a:xfrm>
          <a:prstGeom prst="rect">
            <a:avLst/>
          </a:prstGeom>
          <a:solidFill>
            <a:srgbClr val="FFFFFF"/>
          </a:solidFill>
          <a:ln w="6350">
            <a:solidFill>
              <a:srgbClr val="D8DEE8"/>
            </a:solidFill>
            <a:prstDash val="solid"/>
          </a:ln>
        </p:spPr>
      </p:sp>
      <p:sp>
        <p:nvSpPr>
          <p:cNvPr id="26" name="Text 24"/>
          <p:cNvSpPr/>
          <p:nvPr/>
        </p:nvSpPr>
        <p:spPr>
          <a:xfrm>
            <a:off x="2743200" y="2505456"/>
            <a:ext cx="283464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Yes, ε&gt;0</a:t>
            </a:r>
            <a:endParaRPr lang="en-US" sz="1150" dirty="0"/>
          </a:p>
        </p:txBody>
      </p:sp>
      <p:sp>
        <p:nvSpPr>
          <p:cNvPr id="27" name="Shape 25"/>
          <p:cNvSpPr/>
          <p:nvPr/>
        </p:nvSpPr>
        <p:spPr>
          <a:xfrm>
            <a:off x="5623560" y="2386584"/>
            <a:ext cx="2560320" cy="530352"/>
          </a:xfrm>
          <a:prstGeom prst="rect">
            <a:avLst/>
          </a:prstGeom>
          <a:solidFill>
            <a:srgbClr val="FFFFFF"/>
          </a:solidFill>
          <a:ln w="6350">
            <a:solidFill>
              <a:srgbClr val="D8DEE8"/>
            </a:solidFill>
            <a:prstDash val="solid"/>
          </a:ln>
        </p:spPr>
      </p:sp>
      <p:sp>
        <p:nvSpPr>
          <p:cNvPr id="28" name="Text 26"/>
          <p:cNvSpPr/>
          <p:nvPr/>
        </p:nvSpPr>
        <p:spPr>
          <a:xfrm>
            <a:off x="5669280" y="2505456"/>
            <a:ext cx="246888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Yes</a:t>
            </a:r>
            <a:endParaRPr lang="en-US" sz="1150" dirty="0"/>
          </a:p>
        </p:txBody>
      </p:sp>
      <p:sp>
        <p:nvSpPr>
          <p:cNvPr id="29" name="Shape 27"/>
          <p:cNvSpPr/>
          <p:nvPr/>
        </p:nvSpPr>
        <p:spPr>
          <a:xfrm>
            <a:off x="8183880" y="2386584"/>
            <a:ext cx="2834640" cy="530352"/>
          </a:xfrm>
          <a:prstGeom prst="rect">
            <a:avLst/>
          </a:prstGeom>
          <a:solidFill>
            <a:srgbClr val="FFFFFF"/>
          </a:solidFill>
          <a:ln w="6350">
            <a:solidFill>
              <a:srgbClr val="D8DEE8"/>
            </a:solidFill>
            <a:prstDash val="solid"/>
          </a:ln>
        </p:spPr>
      </p:sp>
      <p:sp>
        <p:nvSpPr>
          <p:cNvPr id="30" name="Text 28"/>
          <p:cNvSpPr/>
          <p:nvPr/>
        </p:nvSpPr>
        <p:spPr>
          <a:xfrm>
            <a:off x="8229600" y="2505456"/>
            <a:ext cx="274320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O(b^(1+C*/ε))</a:t>
            </a:r>
            <a:endParaRPr lang="en-US" sz="1150" dirty="0"/>
          </a:p>
        </p:txBody>
      </p:sp>
      <p:sp>
        <p:nvSpPr>
          <p:cNvPr id="31" name="Shape 29"/>
          <p:cNvSpPr/>
          <p:nvPr/>
        </p:nvSpPr>
        <p:spPr>
          <a:xfrm>
            <a:off x="685800" y="2916936"/>
            <a:ext cx="2011680" cy="530352"/>
          </a:xfrm>
          <a:prstGeom prst="rect">
            <a:avLst/>
          </a:prstGeom>
          <a:solidFill>
            <a:srgbClr val="F7F9FC"/>
          </a:solidFill>
          <a:ln w="6350">
            <a:solidFill>
              <a:srgbClr val="D8DEE8"/>
            </a:solidFill>
            <a:prstDash val="solid"/>
          </a:ln>
        </p:spPr>
      </p:sp>
      <p:sp>
        <p:nvSpPr>
          <p:cNvPr id="32" name="Text 30"/>
          <p:cNvSpPr/>
          <p:nvPr/>
        </p:nvSpPr>
        <p:spPr>
          <a:xfrm>
            <a:off x="731520" y="3035808"/>
            <a:ext cx="1920240" cy="201168"/>
          </a:xfrm>
          <a:prstGeom prst="rect">
            <a:avLst/>
          </a:prstGeom>
          <a:noFill/>
          <a:ln/>
        </p:spPr>
        <p:txBody>
          <a:bodyPr wrap="square" lIns="0" tIns="0" rIns="0" bIns="0" rtlCol="0" anchor="ctr">
            <a:normAutofit/>
          </a:bodyPr>
          <a:lstStyle/>
          <a:p>
            <a:pPr algn="ctr" indent="0" marL="0">
              <a:buNone/>
            </a:pPr>
            <a:r>
              <a:rPr lang="en-US" sz="1150" b="1" dirty="0">
                <a:solidFill>
                  <a:srgbClr val="112E5C"/>
                </a:solidFill>
              </a:rPr>
              <a:t>DFS</a:t>
            </a:r>
            <a:endParaRPr lang="en-US" sz="1150" dirty="0"/>
          </a:p>
        </p:txBody>
      </p:sp>
      <p:sp>
        <p:nvSpPr>
          <p:cNvPr id="33" name="Shape 31"/>
          <p:cNvSpPr/>
          <p:nvPr/>
        </p:nvSpPr>
        <p:spPr>
          <a:xfrm>
            <a:off x="2697480" y="2916936"/>
            <a:ext cx="2926080" cy="530352"/>
          </a:xfrm>
          <a:prstGeom prst="rect">
            <a:avLst/>
          </a:prstGeom>
          <a:solidFill>
            <a:srgbClr val="F7F9FC"/>
          </a:solidFill>
          <a:ln w="6350">
            <a:solidFill>
              <a:srgbClr val="D8DEE8"/>
            </a:solidFill>
            <a:prstDash val="solid"/>
          </a:ln>
        </p:spPr>
      </p:sp>
      <p:sp>
        <p:nvSpPr>
          <p:cNvPr id="34" name="Text 32"/>
          <p:cNvSpPr/>
          <p:nvPr/>
        </p:nvSpPr>
        <p:spPr>
          <a:xfrm>
            <a:off x="2743200" y="3035808"/>
            <a:ext cx="283464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No in infinite/cyclic</a:t>
            </a:r>
            <a:endParaRPr lang="en-US" sz="1150" dirty="0"/>
          </a:p>
        </p:txBody>
      </p:sp>
      <p:sp>
        <p:nvSpPr>
          <p:cNvPr id="35" name="Shape 33"/>
          <p:cNvSpPr/>
          <p:nvPr/>
        </p:nvSpPr>
        <p:spPr>
          <a:xfrm>
            <a:off x="5623560" y="2916936"/>
            <a:ext cx="2560320" cy="530352"/>
          </a:xfrm>
          <a:prstGeom prst="rect">
            <a:avLst/>
          </a:prstGeom>
          <a:solidFill>
            <a:srgbClr val="F7F9FC"/>
          </a:solidFill>
          <a:ln w="6350">
            <a:solidFill>
              <a:srgbClr val="D8DEE8"/>
            </a:solidFill>
            <a:prstDash val="solid"/>
          </a:ln>
        </p:spPr>
      </p:sp>
      <p:sp>
        <p:nvSpPr>
          <p:cNvPr id="36" name="Text 34"/>
          <p:cNvSpPr/>
          <p:nvPr/>
        </p:nvSpPr>
        <p:spPr>
          <a:xfrm>
            <a:off x="5669280" y="3035808"/>
            <a:ext cx="246888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No</a:t>
            </a:r>
            <a:endParaRPr lang="en-US" sz="1150" dirty="0"/>
          </a:p>
        </p:txBody>
      </p:sp>
      <p:sp>
        <p:nvSpPr>
          <p:cNvPr id="37" name="Shape 35"/>
          <p:cNvSpPr/>
          <p:nvPr/>
        </p:nvSpPr>
        <p:spPr>
          <a:xfrm>
            <a:off x="8183880" y="2916936"/>
            <a:ext cx="2834640" cy="530352"/>
          </a:xfrm>
          <a:prstGeom prst="rect">
            <a:avLst/>
          </a:prstGeom>
          <a:solidFill>
            <a:srgbClr val="F7F9FC"/>
          </a:solidFill>
          <a:ln w="6350">
            <a:solidFill>
              <a:srgbClr val="D8DEE8"/>
            </a:solidFill>
            <a:prstDash val="solid"/>
          </a:ln>
        </p:spPr>
      </p:sp>
      <p:sp>
        <p:nvSpPr>
          <p:cNvPr id="38" name="Text 36"/>
          <p:cNvSpPr/>
          <p:nvPr/>
        </p:nvSpPr>
        <p:spPr>
          <a:xfrm>
            <a:off x="8229600" y="3035808"/>
            <a:ext cx="274320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O(bm)</a:t>
            </a:r>
            <a:endParaRPr lang="en-US" sz="1150" dirty="0"/>
          </a:p>
        </p:txBody>
      </p:sp>
      <p:sp>
        <p:nvSpPr>
          <p:cNvPr id="39" name="Shape 37"/>
          <p:cNvSpPr/>
          <p:nvPr/>
        </p:nvSpPr>
        <p:spPr>
          <a:xfrm>
            <a:off x="685800" y="3447288"/>
            <a:ext cx="2011680" cy="530352"/>
          </a:xfrm>
          <a:prstGeom prst="rect">
            <a:avLst/>
          </a:prstGeom>
          <a:solidFill>
            <a:srgbClr val="FFFFFF"/>
          </a:solidFill>
          <a:ln w="6350">
            <a:solidFill>
              <a:srgbClr val="D8DEE8"/>
            </a:solidFill>
            <a:prstDash val="solid"/>
          </a:ln>
        </p:spPr>
      </p:sp>
      <p:sp>
        <p:nvSpPr>
          <p:cNvPr id="40" name="Text 38"/>
          <p:cNvSpPr/>
          <p:nvPr/>
        </p:nvSpPr>
        <p:spPr>
          <a:xfrm>
            <a:off x="731520" y="3566160"/>
            <a:ext cx="1920240" cy="201168"/>
          </a:xfrm>
          <a:prstGeom prst="rect">
            <a:avLst/>
          </a:prstGeom>
          <a:noFill/>
          <a:ln/>
        </p:spPr>
        <p:txBody>
          <a:bodyPr wrap="square" lIns="0" tIns="0" rIns="0" bIns="0" rtlCol="0" anchor="ctr">
            <a:normAutofit/>
          </a:bodyPr>
          <a:lstStyle/>
          <a:p>
            <a:pPr algn="ctr" indent="0" marL="0">
              <a:buNone/>
            </a:pPr>
            <a:r>
              <a:rPr lang="en-US" sz="1150" b="1" dirty="0">
                <a:solidFill>
                  <a:srgbClr val="112E5C"/>
                </a:solidFill>
              </a:rPr>
              <a:t>DLS</a:t>
            </a:r>
            <a:endParaRPr lang="en-US" sz="1150" dirty="0"/>
          </a:p>
        </p:txBody>
      </p:sp>
      <p:sp>
        <p:nvSpPr>
          <p:cNvPr id="41" name="Shape 39"/>
          <p:cNvSpPr/>
          <p:nvPr/>
        </p:nvSpPr>
        <p:spPr>
          <a:xfrm>
            <a:off x="2697480" y="3447288"/>
            <a:ext cx="2926080" cy="530352"/>
          </a:xfrm>
          <a:prstGeom prst="rect">
            <a:avLst/>
          </a:prstGeom>
          <a:solidFill>
            <a:srgbClr val="FFFFFF"/>
          </a:solidFill>
          <a:ln w="6350">
            <a:solidFill>
              <a:srgbClr val="D8DEE8"/>
            </a:solidFill>
            <a:prstDash val="solid"/>
          </a:ln>
        </p:spPr>
      </p:sp>
      <p:sp>
        <p:nvSpPr>
          <p:cNvPr id="42" name="Text 40"/>
          <p:cNvSpPr/>
          <p:nvPr/>
        </p:nvSpPr>
        <p:spPr>
          <a:xfrm>
            <a:off x="2743200" y="3566160"/>
            <a:ext cx="283464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If limit adequate</a:t>
            </a:r>
            <a:endParaRPr lang="en-US" sz="1150" dirty="0"/>
          </a:p>
        </p:txBody>
      </p:sp>
      <p:sp>
        <p:nvSpPr>
          <p:cNvPr id="43" name="Shape 41"/>
          <p:cNvSpPr/>
          <p:nvPr/>
        </p:nvSpPr>
        <p:spPr>
          <a:xfrm>
            <a:off x="5623560" y="3447288"/>
            <a:ext cx="2560320" cy="530352"/>
          </a:xfrm>
          <a:prstGeom prst="rect">
            <a:avLst/>
          </a:prstGeom>
          <a:solidFill>
            <a:srgbClr val="FFFFFF"/>
          </a:solidFill>
          <a:ln w="6350">
            <a:solidFill>
              <a:srgbClr val="D8DEE8"/>
            </a:solidFill>
            <a:prstDash val="solid"/>
          </a:ln>
        </p:spPr>
      </p:sp>
      <p:sp>
        <p:nvSpPr>
          <p:cNvPr id="44" name="Text 42"/>
          <p:cNvSpPr/>
          <p:nvPr/>
        </p:nvSpPr>
        <p:spPr>
          <a:xfrm>
            <a:off x="5669280" y="3566160"/>
            <a:ext cx="246888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No</a:t>
            </a:r>
            <a:endParaRPr lang="en-US" sz="1150" dirty="0"/>
          </a:p>
        </p:txBody>
      </p:sp>
      <p:sp>
        <p:nvSpPr>
          <p:cNvPr id="45" name="Shape 43"/>
          <p:cNvSpPr/>
          <p:nvPr/>
        </p:nvSpPr>
        <p:spPr>
          <a:xfrm>
            <a:off x="8183880" y="3447288"/>
            <a:ext cx="2834640" cy="530352"/>
          </a:xfrm>
          <a:prstGeom prst="rect">
            <a:avLst/>
          </a:prstGeom>
          <a:solidFill>
            <a:srgbClr val="FFFFFF"/>
          </a:solidFill>
          <a:ln w="6350">
            <a:solidFill>
              <a:srgbClr val="D8DEE8"/>
            </a:solidFill>
            <a:prstDash val="solid"/>
          </a:ln>
        </p:spPr>
      </p:sp>
      <p:sp>
        <p:nvSpPr>
          <p:cNvPr id="46" name="Text 44"/>
          <p:cNvSpPr/>
          <p:nvPr/>
        </p:nvSpPr>
        <p:spPr>
          <a:xfrm>
            <a:off x="8229600" y="3566160"/>
            <a:ext cx="274320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O(bℓ)</a:t>
            </a:r>
            <a:endParaRPr lang="en-US" sz="1150" dirty="0"/>
          </a:p>
        </p:txBody>
      </p:sp>
      <p:sp>
        <p:nvSpPr>
          <p:cNvPr id="47" name="Shape 45"/>
          <p:cNvSpPr/>
          <p:nvPr/>
        </p:nvSpPr>
        <p:spPr>
          <a:xfrm>
            <a:off x="685800" y="3977640"/>
            <a:ext cx="2011680" cy="530352"/>
          </a:xfrm>
          <a:prstGeom prst="rect">
            <a:avLst/>
          </a:prstGeom>
          <a:solidFill>
            <a:srgbClr val="F7F9FC"/>
          </a:solidFill>
          <a:ln w="6350">
            <a:solidFill>
              <a:srgbClr val="D8DEE8"/>
            </a:solidFill>
            <a:prstDash val="solid"/>
          </a:ln>
        </p:spPr>
      </p:sp>
      <p:sp>
        <p:nvSpPr>
          <p:cNvPr id="48" name="Text 46"/>
          <p:cNvSpPr/>
          <p:nvPr/>
        </p:nvSpPr>
        <p:spPr>
          <a:xfrm>
            <a:off x="731520" y="4096512"/>
            <a:ext cx="1920240" cy="201168"/>
          </a:xfrm>
          <a:prstGeom prst="rect">
            <a:avLst/>
          </a:prstGeom>
          <a:noFill/>
          <a:ln/>
        </p:spPr>
        <p:txBody>
          <a:bodyPr wrap="square" lIns="0" tIns="0" rIns="0" bIns="0" rtlCol="0" anchor="ctr">
            <a:normAutofit/>
          </a:bodyPr>
          <a:lstStyle/>
          <a:p>
            <a:pPr algn="ctr" indent="0" marL="0">
              <a:buNone/>
            </a:pPr>
            <a:r>
              <a:rPr lang="en-US" sz="1150" b="1" dirty="0">
                <a:solidFill>
                  <a:srgbClr val="112E5C"/>
                </a:solidFill>
              </a:rPr>
              <a:t>IDS</a:t>
            </a:r>
            <a:endParaRPr lang="en-US" sz="1150" dirty="0"/>
          </a:p>
        </p:txBody>
      </p:sp>
      <p:sp>
        <p:nvSpPr>
          <p:cNvPr id="49" name="Shape 47"/>
          <p:cNvSpPr/>
          <p:nvPr/>
        </p:nvSpPr>
        <p:spPr>
          <a:xfrm>
            <a:off x="2697480" y="3977640"/>
            <a:ext cx="2926080" cy="530352"/>
          </a:xfrm>
          <a:prstGeom prst="rect">
            <a:avLst/>
          </a:prstGeom>
          <a:solidFill>
            <a:srgbClr val="F7F9FC"/>
          </a:solidFill>
          <a:ln w="6350">
            <a:solidFill>
              <a:srgbClr val="D8DEE8"/>
            </a:solidFill>
            <a:prstDash val="solid"/>
          </a:ln>
        </p:spPr>
      </p:sp>
      <p:sp>
        <p:nvSpPr>
          <p:cNvPr id="50" name="Text 48"/>
          <p:cNvSpPr/>
          <p:nvPr/>
        </p:nvSpPr>
        <p:spPr>
          <a:xfrm>
            <a:off x="2743200" y="4096512"/>
            <a:ext cx="283464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Yes in many finite cases</a:t>
            </a:r>
            <a:endParaRPr lang="en-US" sz="1150" dirty="0"/>
          </a:p>
        </p:txBody>
      </p:sp>
      <p:sp>
        <p:nvSpPr>
          <p:cNvPr id="51" name="Shape 49"/>
          <p:cNvSpPr/>
          <p:nvPr/>
        </p:nvSpPr>
        <p:spPr>
          <a:xfrm>
            <a:off x="5623560" y="3977640"/>
            <a:ext cx="2560320" cy="530352"/>
          </a:xfrm>
          <a:prstGeom prst="rect">
            <a:avLst/>
          </a:prstGeom>
          <a:solidFill>
            <a:srgbClr val="F7F9FC"/>
          </a:solidFill>
          <a:ln w="6350">
            <a:solidFill>
              <a:srgbClr val="D8DEE8"/>
            </a:solidFill>
            <a:prstDash val="solid"/>
          </a:ln>
        </p:spPr>
      </p:sp>
      <p:sp>
        <p:nvSpPr>
          <p:cNvPr id="52" name="Text 50"/>
          <p:cNvSpPr/>
          <p:nvPr/>
        </p:nvSpPr>
        <p:spPr>
          <a:xfrm>
            <a:off x="5669280" y="4096512"/>
            <a:ext cx="246888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Unit costs</a:t>
            </a:r>
            <a:endParaRPr lang="en-US" sz="1150" dirty="0"/>
          </a:p>
        </p:txBody>
      </p:sp>
      <p:sp>
        <p:nvSpPr>
          <p:cNvPr id="53" name="Shape 51"/>
          <p:cNvSpPr/>
          <p:nvPr/>
        </p:nvSpPr>
        <p:spPr>
          <a:xfrm>
            <a:off x="8183880" y="3977640"/>
            <a:ext cx="2834640" cy="530352"/>
          </a:xfrm>
          <a:prstGeom prst="rect">
            <a:avLst/>
          </a:prstGeom>
          <a:solidFill>
            <a:srgbClr val="F7F9FC"/>
          </a:solidFill>
          <a:ln w="6350">
            <a:solidFill>
              <a:srgbClr val="D8DEE8"/>
            </a:solidFill>
            <a:prstDash val="solid"/>
          </a:ln>
        </p:spPr>
      </p:sp>
      <p:sp>
        <p:nvSpPr>
          <p:cNvPr id="54" name="Text 52"/>
          <p:cNvSpPr/>
          <p:nvPr/>
        </p:nvSpPr>
        <p:spPr>
          <a:xfrm>
            <a:off x="8229600" y="4096512"/>
            <a:ext cx="274320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O(bd)</a:t>
            </a:r>
            <a:endParaRPr lang="en-US" sz="1150" dirty="0"/>
          </a:p>
        </p:txBody>
      </p:sp>
      <p:sp>
        <p:nvSpPr>
          <p:cNvPr id="55" name="Shape 53"/>
          <p:cNvSpPr/>
          <p:nvPr/>
        </p:nvSpPr>
        <p:spPr>
          <a:xfrm>
            <a:off x="685800" y="4507992"/>
            <a:ext cx="2011680" cy="530352"/>
          </a:xfrm>
          <a:prstGeom prst="rect">
            <a:avLst/>
          </a:prstGeom>
          <a:solidFill>
            <a:srgbClr val="FFFFFF"/>
          </a:solidFill>
          <a:ln w="6350">
            <a:solidFill>
              <a:srgbClr val="D8DEE8"/>
            </a:solidFill>
            <a:prstDash val="solid"/>
          </a:ln>
        </p:spPr>
      </p:sp>
      <p:sp>
        <p:nvSpPr>
          <p:cNvPr id="56" name="Text 54"/>
          <p:cNvSpPr/>
          <p:nvPr/>
        </p:nvSpPr>
        <p:spPr>
          <a:xfrm>
            <a:off x="731520" y="4626864"/>
            <a:ext cx="1920240" cy="201168"/>
          </a:xfrm>
          <a:prstGeom prst="rect">
            <a:avLst/>
          </a:prstGeom>
          <a:noFill/>
          <a:ln/>
        </p:spPr>
        <p:txBody>
          <a:bodyPr wrap="square" lIns="0" tIns="0" rIns="0" bIns="0" rtlCol="0" anchor="ctr">
            <a:normAutofit/>
          </a:bodyPr>
          <a:lstStyle/>
          <a:p>
            <a:pPr algn="ctr" indent="0" marL="0">
              <a:buNone/>
            </a:pPr>
            <a:r>
              <a:rPr lang="en-US" sz="1150" b="1" dirty="0">
                <a:solidFill>
                  <a:srgbClr val="112E5C"/>
                </a:solidFill>
              </a:rPr>
              <a:t>Bidirectional</a:t>
            </a:r>
            <a:endParaRPr lang="en-US" sz="1150" dirty="0"/>
          </a:p>
        </p:txBody>
      </p:sp>
      <p:sp>
        <p:nvSpPr>
          <p:cNvPr id="57" name="Shape 55"/>
          <p:cNvSpPr/>
          <p:nvPr/>
        </p:nvSpPr>
        <p:spPr>
          <a:xfrm>
            <a:off x="2697480" y="4507992"/>
            <a:ext cx="2926080" cy="530352"/>
          </a:xfrm>
          <a:prstGeom prst="rect">
            <a:avLst/>
          </a:prstGeom>
          <a:solidFill>
            <a:srgbClr val="FFFFFF"/>
          </a:solidFill>
          <a:ln w="6350">
            <a:solidFill>
              <a:srgbClr val="D8DEE8"/>
            </a:solidFill>
            <a:prstDash val="solid"/>
          </a:ln>
        </p:spPr>
      </p:sp>
      <p:sp>
        <p:nvSpPr>
          <p:cNvPr id="58" name="Text 56"/>
          <p:cNvSpPr/>
          <p:nvPr/>
        </p:nvSpPr>
        <p:spPr>
          <a:xfrm>
            <a:off x="2743200" y="4626864"/>
            <a:ext cx="283464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Depends</a:t>
            </a:r>
            <a:endParaRPr lang="en-US" sz="1150" dirty="0"/>
          </a:p>
        </p:txBody>
      </p:sp>
      <p:sp>
        <p:nvSpPr>
          <p:cNvPr id="59" name="Shape 57"/>
          <p:cNvSpPr/>
          <p:nvPr/>
        </p:nvSpPr>
        <p:spPr>
          <a:xfrm>
            <a:off x="5623560" y="4507992"/>
            <a:ext cx="2560320" cy="530352"/>
          </a:xfrm>
          <a:prstGeom prst="rect">
            <a:avLst/>
          </a:prstGeom>
          <a:solidFill>
            <a:srgbClr val="FFFFFF"/>
          </a:solidFill>
          <a:ln w="6350">
            <a:solidFill>
              <a:srgbClr val="D8DEE8"/>
            </a:solidFill>
            <a:prstDash val="solid"/>
          </a:ln>
        </p:spPr>
      </p:sp>
      <p:sp>
        <p:nvSpPr>
          <p:cNvPr id="60" name="Text 58"/>
          <p:cNvSpPr/>
          <p:nvPr/>
        </p:nvSpPr>
        <p:spPr>
          <a:xfrm>
            <a:off x="5669280" y="4626864"/>
            <a:ext cx="246888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Depends</a:t>
            </a:r>
            <a:endParaRPr lang="en-US" sz="1150" dirty="0"/>
          </a:p>
        </p:txBody>
      </p:sp>
      <p:sp>
        <p:nvSpPr>
          <p:cNvPr id="61" name="Shape 59"/>
          <p:cNvSpPr/>
          <p:nvPr/>
        </p:nvSpPr>
        <p:spPr>
          <a:xfrm>
            <a:off x="8183880" y="4507992"/>
            <a:ext cx="2834640" cy="530352"/>
          </a:xfrm>
          <a:prstGeom prst="rect">
            <a:avLst/>
          </a:prstGeom>
          <a:solidFill>
            <a:srgbClr val="FFFFFF"/>
          </a:solidFill>
          <a:ln w="6350">
            <a:solidFill>
              <a:srgbClr val="D8DEE8"/>
            </a:solidFill>
            <a:prstDash val="solid"/>
          </a:ln>
        </p:spPr>
      </p:sp>
      <p:sp>
        <p:nvSpPr>
          <p:cNvPr id="62" name="Text 60"/>
          <p:cNvSpPr/>
          <p:nvPr/>
        </p:nvSpPr>
        <p:spPr>
          <a:xfrm>
            <a:off x="8229600" y="4626864"/>
            <a:ext cx="2743200" cy="201168"/>
          </a:xfrm>
          <a:prstGeom prst="rect">
            <a:avLst/>
          </a:prstGeom>
          <a:noFill/>
          <a:ln/>
        </p:spPr>
        <p:txBody>
          <a:bodyPr wrap="square" lIns="0" tIns="0" rIns="0" bIns="0" rtlCol="0" anchor="ctr">
            <a:normAutofit/>
          </a:bodyPr>
          <a:lstStyle/>
          <a:p>
            <a:pPr algn="ctr" indent="0" marL="0">
              <a:buNone/>
            </a:pPr>
            <a:r>
              <a:rPr lang="en-US" sz="1150" dirty="0">
                <a:solidFill>
                  <a:srgbClr val="102A4C"/>
                </a:solidFill>
              </a:rPr>
              <a:t>often lower</a:t>
            </a:r>
            <a:endParaRPr lang="en-US" sz="1150" dirty="0"/>
          </a:p>
        </p:txBody>
      </p:sp>
      <p:sp>
        <p:nvSpPr>
          <p:cNvPr id="63" name="Text 61"/>
          <p:cNvSpPr/>
          <p:nvPr/>
        </p:nvSpPr>
        <p:spPr>
          <a:xfrm>
            <a:off x="914400" y="5715000"/>
            <a:ext cx="10058400" cy="347472"/>
          </a:xfrm>
          <a:prstGeom prst="rect">
            <a:avLst/>
          </a:prstGeom>
          <a:noFill/>
          <a:ln/>
        </p:spPr>
        <p:txBody>
          <a:bodyPr wrap="square" lIns="762" tIns="762" rIns="762" bIns="762" rtlCol="0" anchor="ctr">
            <a:normAutofit/>
          </a:bodyPr>
          <a:lstStyle/>
          <a:p>
            <a:pPr algn="ctr" indent="0" marL="0">
              <a:buNone/>
            </a:pPr>
            <a:r>
              <a:rPr lang="en-US" sz="1700" b="1" dirty="0">
                <a:solidFill>
                  <a:srgbClr val="112E5C"/>
                </a:solidFill>
              </a:rPr>
              <a:t>Reason from the frontier rule; do not memorize without understanding.</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EF5F8"/>
        </a:solidFill>
      </p:bgPr>
    </p:bg>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12E5C"/>
          </a:solidFill>
          <a:ln w="12700">
            <a:solidFill>
              <a:srgbClr val="112E5C"/>
            </a:solidFill>
            <a:prstDash val="solid"/>
          </a:ln>
        </p:spPr>
      </p:sp>
      <p:sp>
        <p:nvSpPr>
          <p:cNvPr id="3" name="Shape 1"/>
          <p:cNvSpPr/>
          <p:nvPr/>
        </p:nvSpPr>
        <p:spPr>
          <a:xfrm>
            <a:off x="228600" y="978408"/>
            <a:ext cx="11750040" cy="64008"/>
          </a:xfrm>
          <a:prstGeom prst="rect">
            <a:avLst/>
          </a:prstGeom>
          <a:solidFill>
            <a:srgbClr val="F6A01A"/>
          </a:solidFill>
          <a:ln w="12700">
            <a:solidFill>
              <a:srgbClr val="F6A01A"/>
            </a:solidFill>
            <a:prstDash val="solid"/>
          </a:ln>
        </p:spPr>
      </p:sp>
      <p:sp>
        <p:nvSpPr>
          <p:cNvPr id="4" name="Text 2"/>
          <p:cNvSpPr/>
          <p:nvPr/>
        </p:nvSpPr>
        <p:spPr>
          <a:xfrm>
            <a:off x="502920" y="393192"/>
            <a:ext cx="10789920" cy="347472"/>
          </a:xfrm>
          <a:prstGeom prst="rect">
            <a:avLst/>
          </a:prstGeom>
          <a:noFill/>
          <a:ln/>
        </p:spPr>
        <p:txBody>
          <a:bodyPr wrap="square" lIns="0" tIns="0" rIns="0" bIns="0" rtlCol="0" anchor="ctr">
            <a:normAutofit/>
          </a:bodyPr>
          <a:lstStyle/>
          <a:p>
            <a:pPr indent="0" marL="0">
              <a:buNone/>
            </a:pPr>
            <a:r>
              <a:rPr lang="en-US" sz="2600" b="1" dirty="0">
                <a:solidFill>
                  <a:srgbClr val="FFFFFF"/>
                </a:solidFill>
              </a:rPr>
              <a:t>Chapter 3.1-3.4 Takeaways</a:t>
            </a:r>
            <a:endParaRPr lang="en-US" sz="2600" dirty="0"/>
          </a:p>
        </p:txBody>
      </p:sp>
      <p:sp>
        <p:nvSpPr>
          <p:cNvPr id="5" name="Text 3"/>
          <p:cNvSpPr/>
          <p:nvPr/>
        </p:nvSpPr>
        <p:spPr>
          <a:xfrm>
            <a:off x="8869680" y="6510528"/>
            <a:ext cx="2788920" cy="210312"/>
          </a:xfrm>
          <a:prstGeom prst="rect">
            <a:avLst/>
          </a:prstGeom>
          <a:noFill/>
          <a:ln/>
        </p:spPr>
        <p:txBody>
          <a:bodyPr wrap="square" lIns="0" tIns="0" rIns="0" bIns="0" rtlCol="0" anchor="ctr"/>
          <a:lstStyle/>
          <a:p>
            <a:pPr algn="r" indent="0" marL="0">
              <a:buNone/>
            </a:pPr>
            <a:r>
              <a:rPr lang="en-US" sz="850" dirty="0">
                <a:solidFill>
                  <a:srgbClr val="5C6B80"/>
                </a:solidFill>
              </a:rPr>
              <a:t>COMP 469 · Chapter 3 · Sections 3.1-3.4</a:t>
            </a:r>
            <a:endParaRPr lang="en-US" sz="850" dirty="0"/>
          </a:p>
        </p:txBody>
      </p:sp>
      <p:sp>
        <p:nvSpPr>
          <p:cNvPr id="6" name="Text 4"/>
          <p:cNvSpPr/>
          <p:nvPr/>
        </p:nvSpPr>
        <p:spPr>
          <a:xfrm>
            <a:off x="502920" y="6510528"/>
            <a:ext cx="4663440" cy="210312"/>
          </a:xfrm>
          <a:prstGeom prst="rect">
            <a:avLst/>
          </a:prstGeom>
          <a:noFill/>
          <a:ln/>
        </p:spPr>
        <p:txBody>
          <a:bodyPr wrap="square" lIns="0" tIns="0" rIns="0" bIns="0" rtlCol="0" anchor="ctr"/>
          <a:lstStyle/>
          <a:p>
            <a:pPr indent="0" marL="0">
              <a:buNone/>
            </a:pPr>
            <a:r>
              <a:rPr lang="en-US" sz="850" dirty="0">
                <a:solidFill>
                  <a:srgbClr val="5C6B80"/>
                </a:solidFill>
              </a:rPr>
              <a:t>CSU Channel Islands · Department of Computer Science</a:t>
            </a:r>
            <a:endParaRPr lang="en-US" sz="850" dirty="0"/>
          </a:p>
        </p:txBody>
      </p:sp>
      <p:sp>
        <p:nvSpPr>
          <p:cNvPr id="7" name="Text 5"/>
          <p:cNvSpPr/>
          <p:nvPr/>
        </p:nvSpPr>
        <p:spPr>
          <a:xfrm>
            <a:off x="914400" y="1325880"/>
            <a:ext cx="9966960" cy="4846320"/>
          </a:xfrm>
          <a:prstGeom prst="rect">
            <a:avLst/>
          </a:prstGeom>
          <a:noFill/>
          <a:ln/>
        </p:spPr>
        <p:txBody>
          <a:bodyPr wrap="square" lIns="635" tIns="635" rIns="635" bIns="635" rtlCol="0" anchor="ctr">
            <a:normAutofit/>
          </a:bodyPr>
          <a:lstStyle/>
          <a:p>
            <a:r>
              <a:rPr lang="en-US" sz="1550" b="1" dirty="0">
                <a:solidFill>
                  <a:srgbClr val="112E5C"/>
                </a:solidFill>
              </a:rPr>
              <a:t>Formulation comes first</a:t>
            </a:r>
            <a:endParaRPr lang="en-US" sz="1550" dirty="0"/>
          </a:p>
          <a:p>
            <a:r>
              <a:rPr lang="en-US" sz="1550" dirty="0">
                <a:solidFill>
                  <a:srgbClr val="102A4C"/>
                </a:solidFill>
              </a:rPr>
              <a:t>define states, initial state, actions, result, goal test, and costs</a:t>
            </a:r>
            <a:endParaRPr lang="en-US" sz="1550" dirty="0"/>
          </a:p>
          <a:p>
            <a:r>
              <a:rPr lang="en-US" sz="1550" b="1" dirty="0">
                <a:solidFill>
                  <a:srgbClr val="112E5C"/>
                </a:solidFill>
              </a:rPr>
              <a:t>Search trees are paths</a:t>
            </a:r>
            <a:endParaRPr lang="en-US" sz="1550" dirty="0"/>
          </a:p>
          <a:p>
            <a:r>
              <a:rPr lang="en-US" sz="1550" dirty="0">
                <a:solidFill>
                  <a:srgbClr val="102A4C"/>
                </a:solidFill>
              </a:rPr>
              <a:t>the same state can appear many times through different paths</a:t>
            </a:r>
            <a:endParaRPr lang="en-US" sz="1550" dirty="0"/>
          </a:p>
          <a:p>
            <a:r>
              <a:rPr lang="en-US" sz="1550" b="1" dirty="0">
                <a:solidFill>
                  <a:srgbClr val="112E5C"/>
                </a:solidFill>
              </a:rPr>
              <a:t>Frontier strategy matters</a:t>
            </a:r>
            <a:endParaRPr lang="en-US" sz="1550" dirty="0"/>
          </a:p>
          <a:p>
            <a:r>
              <a:rPr lang="en-US" sz="1550" dirty="0">
                <a:solidFill>
                  <a:srgbClr val="102A4C"/>
                </a:solidFill>
              </a:rPr>
              <a:t>BFS, UCS, and DFS mainly differ in which node is expanded next</a:t>
            </a:r>
            <a:endParaRPr lang="en-US" sz="1550" dirty="0"/>
          </a:p>
          <a:p>
            <a:r>
              <a:rPr lang="en-US" sz="1550" b="1" dirty="0">
                <a:solidFill>
                  <a:srgbClr val="9B1C1C"/>
                </a:solidFill>
              </a:rPr>
              <a:t>Uninformed search is expensive</a:t>
            </a:r>
            <a:endParaRPr lang="en-US" sz="1550" dirty="0"/>
          </a:p>
          <a:p>
            <a:r>
              <a:rPr lang="en-US" sz="1550" dirty="0">
                <a:solidFill>
                  <a:srgbClr val="102A4C"/>
                </a:solidFill>
              </a:rPr>
              <a:t>without a goal-distance estimate, exponential growth dominates</a:t>
            </a:r>
            <a:endParaRPr lang="en-US" sz="1550" dirty="0"/>
          </a:p>
          <a:p>
            <a:r>
              <a:rPr lang="en-US" sz="1550" b="1" dirty="0">
                <a:solidFill>
                  <a:srgbClr val="177245"/>
                </a:solidFill>
              </a:rPr>
              <a:t>Tradeoffs are unavoidable</a:t>
            </a:r>
            <a:endParaRPr lang="en-US" sz="1550" dirty="0"/>
          </a:p>
          <a:p>
            <a:r>
              <a:rPr lang="en-US" sz="1550" dirty="0">
                <a:solidFill>
                  <a:srgbClr val="102A4C"/>
                </a:solidFill>
              </a:rPr>
              <a:t>completeness, optimality, time, and memory determine the right strategy</a:t>
            </a:r>
            <a:endParaRPr lang="en-US" sz="155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Reflex Agents vs. Planning Agents</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475488"/>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500" b="1" i="0">
                <a:solidFill>
                  <a:srgbClr val="112E5C"/>
                </a:solidFill>
              </a:rPr>
              <a:t>Reflex agent</a:t>
            </a:r>
          </a:p>
        </p:txBody>
      </p:sp>
      <p:sp>
        <p:nvSpPr>
          <p:cNvPr id="8" name="Rounded Rectangle 7"/>
          <p:cNvSpPr/>
          <p:nvPr/>
        </p:nvSpPr>
        <p:spPr>
          <a:xfrm>
            <a:off x="6385560" y="1417320"/>
            <a:ext cx="5029200" cy="475488"/>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500" b="1" i="0">
                <a:solidFill>
                  <a:srgbClr val="112E5C"/>
                </a:solidFill>
              </a:rPr>
              <a:t>Planning agent</a:t>
            </a:r>
          </a:p>
        </p:txBody>
      </p:sp>
      <p:sp>
        <p:nvSpPr>
          <p:cNvPr id="9" name="Rounded Rectangle 8"/>
          <p:cNvSpPr/>
          <p:nvPr/>
        </p:nvSpPr>
        <p:spPr>
          <a:xfrm>
            <a:off x="777240" y="2011680"/>
            <a:ext cx="5029200" cy="187452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0" name="Rounded Rectangle 9"/>
          <p:cNvSpPr/>
          <p:nvPr/>
        </p:nvSpPr>
        <p:spPr>
          <a:xfrm>
            <a:off x="6385560" y="2011680"/>
            <a:ext cx="5029200" cy="187452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1" name="Rectangle 10"/>
          <p:cNvSpPr/>
          <p:nvPr/>
        </p:nvSpPr>
        <p:spPr>
          <a:xfrm>
            <a:off x="1005840" y="2194560"/>
            <a:ext cx="45720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700"/>
              </a:spcAft>
            </a:pPr>
            <a:r>
              <a:rPr sz="1350" b="0" i="0">
                <a:solidFill>
                  <a:srgbClr val="102A4C"/>
                </a:solidFill>
              </a:rPr>
              <a:t>•  Selects an action from the current percept, plus memory at most</a:t>
            </a:r>
          </a:p>
          <a:p>
            <a:pPr algn="l">
              <a:spcAft>
                <a:spcPts val="700"/>
              </a:spcAft>
            </a:pPr>
            <a:r>
              <a:rPr sz="1350" b="0" i="0">
                <a:solidFill>
                  <a:srgbClr val="102A4C"/>
                </a:solidFill>
              </a:rPr>
              <a:t>•  May hold a model of the world's current state</a:t>
            </a:r>
          </a:p>
          <a:p>
            <a:pPr algn="l">
              <a:spcAft>
                <a:spcPts val="700"/>
              </a:spcAft>
            </a:pPr>
            <a:r>
              <a:rPr sz="1350" b="0" i="0">
                <a:solidFill>
                  <a:srgbClr val="102A4C"/>
                </a:solidFill>
              </a:rPr>
              <a:t>•  Does not evaluate the consequences of its actions</a:t>
            </a:r>
          </a:p>
          <a:p>
            <a:pPr algn="l">
              <a:spcAft>
                <a:spcPts val="700"/>
              </a:spcAft>
            </a:pPr>
            <a:r>
              <a:rPr sz="1350" b="0" i="0">
                <a:solidFill>
                  <a:srgbClr val="102A4C"/>
                </a:solidFill>
              </a:rPr>
              <a:t>•  Fast, shallow, and easy to fool</a:t>
            </a:r>
          </a:p>
        </p:txBody>
      </p:sp>
      <p:sp>
        <p:nvSpPr>
          <p:cNvPr id="12" name="Rectangle 11"/>
          <p:cNvSpPr/>
          <p:nvPr/>
        </p:nvSpPr>
        <p:spPr>
          <a:xfrm>
            <a:off x="6614160" y="2194560"/>
            <a:ext cx="45720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700"/>
              </a:spcAft>
            </a:pPr>
            <a:r>
              <a:rPr sz="1350" b="0" i="0">
                <a:solidFill>
                  <a:srgbClr val="102A4C"/>
                </a:solidFill>
              </a:rPr>
              <a:t>•  Asks “what if” before committing to anything</a:t>
            </a:r>
          </a:p>
          <a:p>
            <a:pPr algn="l">
              <a:spcAft>
                <a:spcPts val="700"/>
              </a:spcAft>
            </a:pPr>
            <a:r>
              <a:rPr sz="1350" b="0" i="0">
                <a:solidFill>
                  <a:srgbClr val="102A4C"/>
                </a:solidFill>
              </a:rPr>
              <a:t>•  Decides from the hypothesized consequences of action sequences</a:t>
            </a:r>
          </a:p>
          <a:p>
            <a:pPr algn="l">
              <a:spcAft>
                <a:spcPts val="700"/>
              </a:spcAft>
            </a:pPr>
            <a:r>
              <a:rPr sz="1350" b="0" i="0">
                <a:solidFill>
                  <a:srgbClr val="102A4C"/>
                </a:solidFill>
              </a:rPr>
              <a:t>•  Requires a transition model and an explicit goal test</a:t>
            </a:r>
          </a:p>
          <a:p>
            <a:pPr algn="l">
              <a:spcAft>
                <a:spcPts val="700"/>
              </a:spcAft>
            </a:pPr>
            <a:r>
              <a:rPr sz="1350" b="0" i="0">
                <a:solidFill>
                  <a:srgbClr val="102A4C"/>
                </a:solidFill>
              </a:rPr>
              <a:t>•  Slower, but can reason about futures it has never seen</a:t>
            </a:r>
          </a:p>
        </p:txBody>
      </p:sp>
      <p:sp>
        <p:nvSpPr>
          <p:cNvPr id="13" name="Rectangle 12"/>
          <p:cNvSpPr/>
          <p:nvPr/>
        </p:nvSpPr>
        <p:spPr>
          <a:xfrm>
            <a:off x="777240" y="4023360"/>
            <a:ext cx="502920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600" b="1" i="0">
                <a:solidFill>
                  <a:srgbClr val="9B1C1C"/>
                </a:solidFill>
              </a:rPr>
              <a:t>Considers how the world IS</a:t>
            </a:r>
          </a:p>
        </p:txBody>
      </p:sp>
      <p:sp>
        <p:nvSpPr>
          <p:cNvPr id="14" name="Rectangle 13"/>
          <p:cNvSpPr/>
          <p:nvPr/>
        </p:nvSpPr>
        <p:spPr>
          <a:xfrm>
            <a:off x="6385560" y="4023360"/>
            <a:ext cx="502920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600" b="1" i="0">
                <a:solidFill>
                  <a:srgbClr val="9B1C1C"/>
                </a:solidFill>
              </a:rPr>
              <a:t>Considers how the world WOULD BE</a:t>
            </a:r>
          </a:p>
        </p:txBody>
      </p:sp>
      <p:sp>
        <p:nvSpPr>
          <p:cNvPr id="15" name="Rectangle 14"/>
          <p:cNvSpPr/>
          <p:nvPr/>
        </p:nvSpPr>
        <p:spPr>
          <a:xfrm>
            <a:off x="914400" y="45262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Chapter 3 agents use atomic state representations: a state is a whole, with no internal structure visible to the algorithm.</a:t>
            </a:r>
          </a:p>
        </p:txBody>
      </p:sp>
      <p:sp>
        <p:nvSpPr>
          <p:cNvPr id="16" name="Rectangle 15"/>
          <p:cNvSpPr/>
          <p:nvPr/>
        </p:nvSpPr>
        <p:spPr>
          <a:xfrm>
            <a:off x="914400" y="49377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400" b="0" i="0">
                <a:solidFill>
                  <a:srgbClr val="5C6B80"/>
                </a:solidFill>
              </a:rPr>
              <a:t>Agents that use factored or structured states are planning agents (Chapters 7 and 11).</a:t>
            </a:r>
          </a:p>
        </p:txBody>
      </p:sp>
      <p:sp>
        <p:nvSpPr>
          <p:cNvPr id="17" name="Rounded Rectangle 16"/>
          <p:cNvSpPr/>
          <p:nvPr/>
        </p:nvSpPr>
        <p:spPr>
          <a:xfrm>
            <a:off x="914400" y="5486400"/>
            <a:ext cx="10424160" cy="502920"/>
          </a:xfrm>
          <a:prstGeom prst="roundRect">
            <a:avLst>
              <a:gd name="adj" fmla="val 11000"/>
            </a:avLst>
          </a:prstGeom>
          <a:solidFill>
            <a:srgbClr val="FFE5B6"/>
          </a:solidFill>
          <a:ln w="1524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500" b="1" i="0">
                <a:solidFill>
                  <a:srgbClr val="112E5C"/>
                </a:solidFill>
              </a:rPr>
              <a:t>Discussion: can a reflex agent ever be rational? Under what conditions does looking ahead buy you nothing?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Grid Worlds and Sokoban</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Grid world: the general pattern</a:t>
            </a:r>
          </a:p>
        </p:txBody>
      </p:sp>
      <p:sp>
        <p:nvSpPr>
          <p:cNvPr id="8" name="Rounded Rectangle 7"/>
          <p:cNvSpPr/>
          <p:nvPr/>
        </p:nvSpPr>
        <p:spPr>
          <a:xfrm>
            <a:off x="777240" y="1874520"/>
            <a:ext cx="502920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9" name="Rectangle 8"/>
          <p:cNvSpPr/>
          <p:nvPr/>
        </p:nvSpPr>
        <p:spPr>
          <a:xfrm>
            <a:off x="1005840" y="2011680"/>
            <a:ext cx="45720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700"/>
              </a:spcAft>
            </a:pPr>
            <a:r>
              <a:rPr sz="1300" b="0" i="0">
                <a:solidFill>
                  <a:srgbClr val="102A4C"/>
                </a:solidFill>
              </a:rPr>
              <a:t>•  A rectangular array of cells; the agent moves between obstacle-free adjacent cells</a:t>
            </a:r>
          </a:p>
          <a:p>
            <a:pPr algn="l">
              <a:spcAft>
                <a:spcPts val="700"/>
              </a:spcAft>
            </a:pPr>
            <a:r>
              <a:rPr sz="1300" b="0" i="0">
                <a:solidFill>
                  <a:srgbClr val="102A4C"/>
                </a:solidFill>
              </a:rPr>
              <a:t>•  Cells may hold objects the agent can pick up or push</a:t>
            </a:r>
          </a:p>
          <a:p>
            <a:pPr algn="l">
              <a:spcAft>
                <a:spcPts val="700"/>
              </a:spcAft>
            </a:pPr>
            <a:r>
              <a:rPr sz="1300" b="0" i="0">
                <a:solidFill>
                  <a:srgbClr val="102A4C"/>
                </a:solidFill>
              </a:rPr>
              <a:t>•  Walls and obstacles block movement entirely</a:t>
            </a:r>
          </a:p>
          <a:p>
            <a:pPr algn="l">
              <a:spcAft>
                <a:spcPts val="700"/>
              </a:spcAft>
            </a:pPr>
            <a:r>
              <a:rPr sz="1300" b="0" i="0">
                <a:solidFill>
                  <a:srgbClr val="102A4C"/>
                </a:solidFill>
              </a:rPr>
              <a:t>•  The vacuum world is a grid world: n cells gives n · 2ⁿ states</a:t>
            </a:r>
          </a:p>
        </p:txBody>
      </p:sp>
      <p:sp>
        <p:nvSpPr>
          <p:cNvPr id="10" name="Rounded Rectangle 9"/>
          <p:cNvSpPr/>
          <p:nvPr/>
        </p:nvSpPr>
        <p:spPr>
          <a:xfrm>
            <a:off x="777240" y="3703320"/>
            <a:ext cx="502920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50" b="1" i="0">
                <a:solidFill>
                  <a:srgbClr val="112E5C"/>
                </a:solidFill>
              </a:rPr>
              <a:t>A real design choice: how to name the actions</a:t>
            </a:r>
          </a:p>
        </p:txBody>
      </p:sp>
      <p:sp>
        <p:nvSpPr>
          <p:cNvPr id="11" name="Rounded Rectangle 10"/>
          <p:cNvSpPr/>
          <p:nvPr/>
        </p:nvSpPr>
        <p:spPr>
          <a:xfrm>
            <a:off x="777240" y="4160520"/>
            <a:ext cx="5029200" cy="82296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2" name="Rectangle 11"/>
          <p:cNvSpPr/>
          <p:nvPr/>
        </p:nvSpPr>
        <p:spPr>
          <a:xfrm>
            <a:off x="1005840" y="4251960"/>
            <a:ext cx="45720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250" b="0" i="0">
                <a:solidFill>
                  <a:srgbClr val="102A4C"/>
                </a:solidFill>
              </a:rPr>
              <a:t>Absolute: Up, Down, Left, Right — four actions, no orientation in the state.   Egocentric: Forward, Backward, TurnLeft, TurnRight — fewer move actions, but the state must now carry a facing.</a:t>
            </a:r>
          </a:p>
        </p:txBody>
      </p:sp>
      <p:sp>
        <p:nvSpPr>
          <p:cNvPr id="13" name="Rounded Rectangle 12"/>
          <p:cNvSpPr/>
          <p:nvPr/>
        </p:nvSpPr>
        <p:spPr>
          <a:xfrm>
            <a:off x="6385560" y="1417320"/>
            <a:ext cx="502920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Sokoban</a:t>
            </a:r>
          </a:p>
        </p:txBody>
      </p:sp>
      <p:sp>
        <p:nvSpPr>
          <p:cNvPr id="14" name="Rectangle 13"/>
          <p:cNvSpPr/>
          <p:nvPr/>
        </p:nvSpPr>
        <p:spPr>
          <a:xfrm>
            <a:off x="6705600" y="1965960"/>
            <a:ext cx="320040" cy="320040"/>
          </a:xfrm>
          <a:prstGeom prst="rect">
            <a:avLst/>
          </a:prstGeom>
          <a:solidFill>
            <a:srgbClr val="D8DEE8"/>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5" name="Rectangle 14"/>
          <p:cNvSpPr/>
          <p:nvPr/>
        </p:nvSpPr>
        <p:spPr>
          <a:xfrm>
            <a:off x="7025640" y="196596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6" name="Rectangle 15"/>
          <p:cNvSpPr/>
          <p:nvPr/>
        </p:nvSpPr>
        <p:spPr>
          <a:xfrm>
            <a:off x="7345680" y="196596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7" name="Rectangle 16"/>
          <p:cNvSpPr/>
          <p:nvPr/>
        </p:nvSpPr>
        <p:spPr>
          <a:xfrm>
            <a:off x="7665720" y="196596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8" name="Rectangle 17"/>
          <p:cNvSpPr/>
          <p:nvPr/>
        </p:nvSpPr>
        <p:spPr>
          <a:xfrm>
            <a:off x="7985760" y="196596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9" name="Rectangle 18"/>
          <p:cNvSpPr/>
          <p:nvPr/>
        </p:nvSpPr>
        <p:spPr>
          <a:xfrm>
            <a:off x="8305800" y="1965960"/>
            <a:ext cx="320040" cy="320040"/>
          </a:xfrm>
          <a:prstGeom prst="rect">
            <a:avLst/>
          </a:prstGeom>
          <a:solidFill>
            <a:srgbClr val="D8DEE8"/>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0" name="Rectangle 19"/>
          <p:cNvSpPr/>
          <p:nvPr/>
        </p:nvSpPr>
        <p:spPr>
          <a:xfrm>
            <a:off x="6705600" y="228600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1" name="Rectangle 20"/>
          <p:cNvSpPr/>
          <p:nvPr/>
        </p:nvSpPr>
        <p:spPr>
          <a:xfrm>
            <a:off x="7025640" y="228600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2" name="Rectangle 21"/>
          <p:cNvSpPr/>
          <p:nvPr/>
        </p:nvSpPr>
        <p:spPr>
          <a:xfrm>
            <a:off x="7345680" y="228600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3" name="Rectangle 22"/>
          <p:cNvSpPr/>
          <p:nvPr/>
        </p:nvSpPr>
        <p:spPr>
          <a:xfrm>
            <a:off x="7414260" y="2354580"/>
            <a:ext cx="182880" cy="182880"/>
          </a:xfrm>
          <a:prstGeom prst="rect">
            <a:avLst/>
          </a:prstGeom>
          <a:solidFill>
            <a:srgbClr val="112E5C"/>
          </a:solidFill>
          <a:ln w="9525">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4" name="Rectangle 23"/>
          <p:cNvSpPr/>
          <p:nvPr/>
        </p:nvSpPr>
        <p:spPr>
          <a:xfrm>
            <a:off x="7665720" y="228600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5" name="Rectangle 24"/>
          <p:cNvSpPr/>
          <p:nvPr/>
        </p:nvSpPr>
        <p:spPr>
          <a:xfrm>
            <a:off x="7985760" y="228600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6" name="Rectangle 25"/>
          <p:cNvSpPr/>
          <p:nvPr/>
        </p:nvSpPr>
        <p:spPr>
          <a:xfrm>
            <a:off x="8305800" y="228600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7" name="Rectangle 26"/>
          <p:cNvSpPr/>
          <p:nvPr/>
        </p:nvSpPr>
        <p:spPr>
          <a:xfrm>
            <a:off x="6705600" y="260604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8" name="Rectangle 27"/>
          <p:cNvSpPr/>
          <p:nvPr/>
        </p:nvSpPr>
        <p:spPr>
          <a:xfrm>
            <a:off x="7025640" y="260604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9" name="Oval 28"/>
          <p:cNvSpPr/>
          <p:nvPr/>
        </p:nvSpPr>
        <p:spPr>
          <a:xfrm>
            <a:off x="7082790" y="2663190"/>
            <a:ext cx="205740" cy="205740"/>
          </a:xfrm>
          <a:prstGeom prst="ellipse">
            <a:avLst/>
          </a:prstGeom>
          <a:solidFill>
            <a:srgbClr val="2F7FD5"/>
          </a:solidFill>
          <a:ln w="15240">
            <a:solidFill>
              <a:srgbClr val="2F7FD5"/>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30" name="Rectangle 29"/>
          <p:cNvSpPr/>
          <p:nvPr/>
        </p:nvSpPr>
        <p:spPr>
          <a:xfrm>
            <a:off x="7345680" y="260604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1" name="Rectangle 30"/>
          <p:cNvSpPr/>
          <p:nvPr/>
        </p:nvSpPr>
        <p:spPr>
          <a:xfrm>
            <a:off x="7665720" y="260604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2" name="Rectangle 31"/>
          <p:cNvSpPr/>
          <p:nvPr/>
        </p:nvSpPr>
        <p:spPr>
          <a:xfrm>
            <a:off x="7734300" y="2674620"/>
            <a:ext cx="182880" cy="182880"/>
          </a:xfrm>
          <a:prstGeom prst="rect">
            <a:avLst/>
          </a:prstGeom>
          <a:solidFill>
            <a:srgbClr val="112E5C"/>
          </a:solidFill>
          <a:ln w="9525">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3" name="Rectangle 32"/>
          <p:cNvSpPr/>
          <p:nvPr/>
        </p:nvSpPr>
        <p:spPr>
          <a:xfrm>
            <a:off x="7985760" y="260604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4" name="Rectangle 33"/>
          <p:cNvSpPr/>
          <p:nvPr/>
        </p:nvSpPr>
        <p:spPr>
          <a:xfrm>
            <a:off x="8305800" y="260604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5" name="Rectangle 34"/>
          <p:cNvSpPr/>
          <p:nvPr/>
        </p:nvSpPr>
        <p:spPr>
          <a:xfrm>
            <a:off x="6705600" y="292608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6" name="Rectangle 35"/>
          <p:cNvSpPr/>
          <p:nvPr/>
        </p:nvSpPr>
        <p:spPr>
          <a:xfrm>
            <a:off x="7025640" y="2926080"/>
            <a:ext cx="320040" cy="320040"/>
          </a:xfrm>
          <a:prstGeom prst="rect">
            <a:avLst/>
          </a:prstGeom>
          <a:solidFill>
            <a:srgbClr val="FFE5B6"/>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7" name="Rectangle 36"/>
          <p:cNvSpPr/>
          <p:nvPr/>
        </p:nvSpPr>
        <p:spPr>
          <a:xfrm>
            <a:off x="7345680" y="292608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8" name="Rectangle 37"/>
          <p:cNvSpPr/>
          <p:nvPr/>
        </p:nvSpPr>
        <p:spPr>
          <a:xfrm>
            <a:off x="7665720" y="292608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9" name="Rectangle 38"/>
          <p:cNvSpPr/>
          <p:nvPr/>
        </p:nvSpPr>
        <p:spPr>
          <a:xfrm>
            <a:off x="7985760" y="2926080"/>
            <a:ext cx="320040" cy="320040"/>
          </a:xfrm>
          <a:prstGeom prst="rect">
            <a:avLst/>
          </a:prstGeom>
          <a:solidFill>
            <a:srgbClr val="FFE5B6"/>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0" name="Rectangle 39"/>
          <p:cNvSpPr/>
          <p:nvPr/>
        </p:nvSpPr>
        <p:spPr>
          <a:xfrm>
            <a:off x="8305800" y="292608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1" name="Rectangle 40"/>
          <p:cNvSpPr/>
          <p:nvPr/>
        </p:nvSpPr>
        <p:spPr>
          <a:xfrm>
            <a:off x="6705600" y="3246120"/>
            <a:ext cx="320040" cy="320040"/>
          </a:xfrm>
          <a:prstGeom prst="rect">
            <a:avLst/>
          </a:prstGeom>
          <a:solidFill>
            <a:srgbClr val="D8DEE8"/>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2" name="Rectangle 41"/>
          <p:cNvSpPr/>
          <p:nvPr/>
        </p:nvSpPr>
        <p:spPr>
          <a:xfrm>
            <a:off x="7025640" y="324612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3" name="Rectangle 42"/>
          <p:cNvSpPr/>
          <p:nvPr/>
        </p:nvSpPr>
        <p:spPr>
          <a:xfrm>
            <a:off x="7345680" y="324612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4" name="Rectangle 43"/>
          <p:cNvSpPr/>
          <p:nvPr/>
        </p:nvSpPr>
        <p:spPr>
          <a:xfrm>
            <a:off x="7665720" y="324612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5" name="Rectangle 44"/>
          <p:cNvSpPr/>
          <p:nvPr/>
        </p:nvSpPr>
        <p:spPr>
          <a:xfrm>
            <a:off x="7985760" y="3246120"/>
            <a:ext cx="320040" cy="32004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6" name="Rectangle 45"/>
          <p:cNvSpPr/>
          <p:nvPr/>
        </p:nvSpPr>
        <p:spPr>
          <a:xfrm>
            <a:off x="8305800" y="3246120"/>
            <a:ext cx="320040" cy="320040"/>
          </a:xfrm>
          <a:prstGeom prst="rect">
            <a:avLst/>
          </a:prstGeom>
          <a:solidFill>
            <a:srgbClr val="D8DEE8"/>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7" name="Rectangle 46"/>
          <p:cNvSpPr/>
          <p:nvPr/>
        </p:nvSpPr>
        <p:spPr>
          <a:xfrm>
            <a:off x="6705600" y="3611880"/>
            <a:ext cx="118872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00" b="1" i="0">
                <a:solidFill>
                  <a:srgbClr val="2F7FD5"/>
                </a:solidFill>
              </a:rPr>
              <a:t>agent</a:t>
            </a:r>
          </a:p>
        </p:txBody>
      </p:sp>
      <p:sp>
        <p:nvSpPr>
          <p:cNvPr id="48" name="Rectangle 47"/>
          <p:cNvSpPr/>
          <p:nvPr/>
        </p:nvSpPr>
        <p:spPr>
          <a:xfrm>
            <a:off x="8122920" y="3611880"/>
            <a:ext cx="118872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00" b="1" i="0">
                <a:solidFill>
                  <a:srgbClr val="112E5C"/>
                </a:solidFill>
              </a:rPr>
              <a:t>box</a:t>
            </a:r>
          </a:p>
        </p:txBody>
      </p:sp>
      <p:sp>
        <p:nvSpPr>
          <p:cNvPr id="49" name="Rectangle 48"/>
          <p:cNvSpPr/>
          <p:nvPr/>
        </p:nvSpPr>
        <p:spPr>
          <a:xfrm>
            <a:off x="9585960" y="3611880"/>
            <a:ext cx="118872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00" b="1" i="0">
                <a:solidFill>
                  <a:srgbClr val="F6A01A"/>
                </a:solidFill>
              </a:rPr>
              <a:t>storage</a:t>
            </a:r>
          </a:p>
        </p:txBody>
      </p:sp>
      <p:sp>
        <p:nvSpPr>
          <p:cNvPr id="50" name="Rounded Rectangle 49"/>
          <p:cNvSpPr/>
          <p:nvPr/>
        </p:nvSpPr>
        <p:spPr>
          <a:xfrm>
            <a:off x="6385560" y="3931920"/>
            <a:ext cx="5029200" cy="105156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51" name="Rectangle 50"/>
          <p:cNvSpPr/>
          <p:nvPr/>
        </p:nvSpPr>
        <p:spPr>
          <a:xfrm>
            <a:off x="6614160" y="4023360"/>
            <a:ext cx="4572000"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500"/>
              </a:spcAft>
            </a:pPr>
            <a:r>
              <a:rPr sz="1250" b="0" i="0">
                <a:solidFill>
                  <a:srgbClr val="102A4C"/>
                </a:solidFill>
              </a:rPr>
              <a:t>•  Push a box only if the cell beyond it is empty</a:t>
            </a:r>
          </a:p>
          <a:p>
            <a:pPr algn="l">
              <a:spcAft>
                <a:spcPts val="500"/>
              </a:spcAft>
            </a:pPr>
            <a:r>
              <a:rPr sz="1250" b="0" i="0">
                <a:solidFill>
                  <a:srgbClr val="102A4C"/>
                </a:solidFill>
              </a:rPr>
              <a:t>•  At most one box per cell; no pushing a box into a box or a wall</a:t>
            </a:r>
          </a:p>
          <a:p>
            <a:pPr algn="l">
              <a:spcAft>
                <a:spcPts val="500"/>
              </a:spcAft>
            </a:pPr>
            <a:r>
              <a:rPr sz="1250" b="0" i="0">
                <a:solidFill>
                  <a:srgbClr val="102A4C"/>
                </a:solidFill>
              </a:rPr>
              <a:t>•  An 8 × 8 grid with a dozen boxes: over 200 trillion states</a:t>
            </a:r>
          </a:p>
        </p:txBody>
      </p:sp>
      <p:sp>
        <p:nvSpPr>
          <p:cNvPr id="52" name="Rectangle 51"/>
          <p:cNvSpPr/>
          <p:nvPr/>
        </p:nvSpPr>
        <p:spPr>
          <a:xfrm>
            <a:off x="914400" y="51663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Same movement rules, wildly different state spaces — because Sokoban's state must track where every box 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Worked Example: The 8-Puzzle</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ectangle 6"/>
          <p:cNvSpPr/>
          <p:nvPr/>
        </p:nvSpPr>
        <p:spPr>
          <a:xfrm>
            <a:off x="1005840" y="196596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7</a:t>
            </a:r>
          </a:p>
        </p:txBody>
      </p:sp>
      <p:sp>
        <p:nvSpPr>
          <p:cNvPr id="8" name="Rectangle 7"/>
          <p:cNvSpPr/>
          <p:nvPr/>
        </p:nvSpPr>
        <p:spPr>
          <a:xfrm>
            <a:off x="1508760" y="196596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2</a:t>
            </a:r>
          </a:p>
        </p:txBody>
      </p:sp>
      <p:sp>
        <p:nvSpPr>
          <p:cNvPr id="9" name="Rectangle 8"/>
          <p:cNvSpPr/>
          <p:nvPr/>
        </p:nvSpPr>
        <p:spPr>
          <a:xfrm>
            <a:off x="2011680" y="196596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4</a:t>
            </a:r>
          </a:p>
        </p:txBody>
      </p:sp>
      <p:sp>
        <p:nvSpPr>
          <p:cNvPr id="10" name="Rectangle 9"/>
          <p:cNvSpPr/>
          <p:nvPr/>
        </p:nvSpPr>
        <p:spPr>
          <a:xfrm>
            <a:off x="1005840" y="246888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5</a:t>
            </a:r>
          </a:p>
        </p:txBody>
      </p:sp>
      <p:sp>
        <p:nvSpPr>
          <p:cNvPr id="11" name="Rectangle 10"/>
          <p:cNvSpPr/>
          <p:nvPr/>
        </p:nvSpPr>
        <p:spPr>
          <a:xfrm>
            <a:off x="1508760" y="2468880"/>
            <a:ext cx="502920" cy="502920"/>
          </a:xfrm>
          <a:prstGeom prst="rect">
            <a:avLst/>
          </a:prstGeom>
          <a:solidFill>
            <a:srgbClr val="D9E9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2" name="Rectangle 11"/>
          <p:cNvSpPr/>
          <p:nvPr/>
        </p:nvSpPr>
        <p:spPr>
          <a:xfrm>
            <a:off x="2011680" y="246888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6</a:t>
            </a:r>
          </a:p>
        </p:txBody>
      </p:sp>
      <p:sp>
        <p:nvSpPr>
          <p:cNvPr id="13" name="Rectangle 12"/>
          <p:cNvSpPr/>
          <p:nvPr/>
        </p:nvSpPr>
        <p:spPr>
          <a:xfrm>
            <a:off x="1005840" y="297180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8</a:t>
            </a:r>
          </a:p>
        </p:txBody>
      </p:sp>
      <p:sp>
        <p:nvSpPr>
          <p:cNvPr id="14" name="Rectangle 13"/>
          <p:cNvSpPr/>
          <p:nvPr/>
        </p:nvSpPr>
        <p:spPr>
          <a:xfrm>
            <a:off x="1508760" y="297180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3</a:t>
            </a:r>
          </a:p>
        </p:txBody>
      </p:sp>
      <p:sp>
        <p:nvSpPr>
          <p:cNvPr id="15" name="Rectangle 14"/>
          <p:cNvSpPr/>
          <p:nvPr/>
        </p:nvSpPr>
        <p:spPr>
          <a:xfrm>
            <a:off x="2011680" y="297180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1</a:t>
            </a:r>
          </a:p>
        </p:txBody>
      </p:sp>
      <p:sp>
        <p:nvSpPr>
          <p:cNvPr id="16" name="Rectangle 15"/>
          <p:cNvSpPr/>
          <p:nvPr/>
        </p:nvSpPr>
        <p:spPr>
          <a:xfrm>
            <a:off x="868680" y="3566160"/>
            <a:ext cx="17830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0" i="0">
                <a:solidFill>
                  <a:srgbClr val="5C6B80"/>
                </a:solidFill>
              </a:rPr>
              <a:t>Start state</a:t>
            </a:r>
          </a:p>
        </p:txBody>
      </p:sp>
      <p:sp>
        <p:nvSpPr>
          <p:cNvPr id="17" name="Rectangle 16"/>
          <p:cNvSpPr/>
          <p:nvPr/>
        </p:nvSpPr>
        <p:spPr>
          <a:xfrm>
            <a:off x="3154680" y="1965960"/>
            <a:ext cx="502920" cy="502920"/>
          </a:xfrm>
          <a:prstGeom prst="rect">
            <a:avLst/>
          </a:prstGeom>
          <a:solidFill>
            <a:srgbClr val="D9E9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8" name="Rectangle 17"/>
          <p:cNvSpPr/>
          <p:nvPr/>
        </p:nvSpPr>
        <p:spPr>
          <a:xfrm>
            <a:off x="3657600" y="196596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1</a:t>
            </a:r>
          </a:p>
        </p:txBody>
      </p:sp>
      <p:sp>
        <p:nvSpPr>
          <p:cNvPr id="19" name="Rectangle 18"/>
          <p:cNvSpPr/>
          <p:nvPr/>
        </p:nvSpPr>
        <p:spPr>
          <a:xfrm>
            <a:off x="4160520" y="196596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2</a:t>
            </a:r>
          </a:p>
        </p:txBody>
      </p:sp>
      <p:sp>
        <p:nvSpPr>
          <p:cNvPr id="20" name="Rectangle 19"/>
          <p:cNvSpPr/>
          <p:nvPr/>
        </p:nvSpPr>
        <p:spPr>
          <a:xfrm>
            <a:off x="3154680" y="246888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3</a:t>
            </a:r>
          </a:p>
        </p:txBody>
      </p:sp>
      <p:sp>
        <p:nvSpPr>
          <p:cNvPr id="21" name="Rectangle 20"/>
          <p:cNvSpPr/>
          <p:nvPr/>
        </p:nvSpPr>
        <p:spPr>
          <a:xfrm>
            <a:off x="3657600" y="246888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4</a:t>
            </a:r>
          </a:p>
        </p:txBody>
      </p:sp>
      <p:sp>
        <p:nvSpPr>
          <p:cNvPr id="22" name="Rectangle 21"/>
          <p:cNvSpPr/>
          <p:nvPr/>
        </p:nvSpPr>
        <p:spPr>
          <a:xfrm>
            <a:off x="4160520" y="246888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5</a:t>
            </a:r>
          </a:p>
        </p:txBody>
      </p:sp>
      <p:sp>
        <p:nvSpPr>
          <p:cNvPr id="23" name="Rectangle 22"/>
          <p:cNvSpPr/>
          <p:nvPr/>
        </p:nvSpPr>
        <p:spPr>
          <a:xfrm>
            <a:off x="3154680" y="297180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6</a:t>
            </a:r>
          </a:p>
        </p:txBody>
      </p:sp>
      <p:sp>
        <p:nvSpPr>
          <p:cNvPr id="24" name="Rectangle 23"/>
          <p:cNvSpPr/>
          <p:nvPr/>
        </p:nvSpPr>
        <p:spPr>
          <a:xfrm>
            <a:off x="3657600" y="297180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7</a:t>
            </a:r>
          </a:p>
        </p:txBody>
      </p:sp>
      <p:sp>
        <p:nvSpPr>
          <p:cNvPr id="25" name="Rectangle 24"/>
          <p:cNvSpPr/>
          <p:nvPr/>
        </p:nvSpPr>
        <p:spPr>
          <a:xfrm>
            <a:off x="4160520" y="2971800"/>
            <a:ext cx="502920" cy="502920"/>
          </a:xfrm>
          <a:prstGeom prst="rect">
            <a:avLst/>
          </a:prstGeom>
          <a:solidFill>
            <a:srgbClr val="FFFF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112E5C"/>
                </a:solidFill>
              </a:rPr>
              <a:t>8</a:t>
            </a:r>
          </a:p>
        </p:txBody>
      </p:sp>
      <p:sp>
        <p:nvSpPr>
          <p:cNvPr id="26" name="Rectangle 25"/>
          <p:cNvSpPr/>
          <p:nvPr/>
        </p:nvSpPr>
        <p:spPr>
          <a:xfrm>
            <a:off x="3017520" y="3566160"/>
            <a:ext cx="17830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0" i="0">
                <a:solidFill>
                  <a:srgbClr val="5C6B80"/>
                </a:solidFill>
              </a:rPr>
              <a:t>Goal state</a:t>
            </a:r>
          </a:p>
        </p:txBody>
      </p:sp>
      <p:sp>
        <p:nvSpPr>
          <p:cNvPr id="27" name="Right Arrow 26"/>
          <p:cNvSpPr/>
          <p:nvPr/>
        </p:nvSpPr>
        <p:spPr>
          <a:xfrm>
            <a:off x="2606040" y="3017520"/>
            <a:ext cx="457200" cy="228600"/>
          </a:xfrm>
          <a:prstGeom prst="rightArrow">
            <a:avLst/>
          </a:prstGeom>
          <a:solidFill>
            <a:srgbClr val="F6A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303520" y="141732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States</a:t>
            </a:r>
          </a:p>
        </p:txBody>
      </p:sp>
      <p:sp>
        <p:nvSpPr>
          <p:cNvPr id="29" name="Rectangle 28"/>
          <p:cNvSpPr/>
          <p:nvPr/>
        </p:nvSpPr>
        <p:spPr>
          <a:xfrm>
            <a:off x="7223760" y="1417320"/>
            <a:ext cx="41910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Location of each tile and of the blank in the 3 × 3 grid</a:t>
            </a:r>
          </a:p>
        </p:txBody>
      </p:sp>
      <p:sp>
        <p:nvSpPr>
          <p:cNvPr id="30" name="Rounded Rectangle 29"/>
          <p:cNvSpPr/>
          <p:nvPr/>
        </p:nvSpPr>
        <p:spPr>
          <a:xfrm>
            <a:off x="5303520" y="196596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Initial state</a:t>
            </a:r>
          </a:p>
        </p:txBody>
      </p:sp>
      <p:sp>
        <p:nvSpPr>
          <p:cNvPr id="31" name="Rectangle 30"/>
          <p:cNvSpPr/>
          <p:nvPr/>
        </p:nvSpPr>
        <p:spPr>
          <a:xfrm>
            <a:off x="7223760" y="1965960"/>
            <a:ext cx="41910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Any configuration; a parity property makes only half reachable</a:t>
            </a:r>
          </a:p>
        </p:txBody>
      </p:sp>
      <p:sp>
        <p:nvSpPr>
          <p:cNvPr id="32" name="Rounded Rectangle 31"/>
          <p:cNvSpPr/>
          <p:nvPr/>
        </p:nvSpPr>
        <p:spPr>
          <a:xfrm>
            <a:off x="5303520" y="251460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Actions</a:t>
            </a:r>
          </a:p>
        </p:txBody>
      </p:sp>
      <p:sp>
        <p:nvSpPr>
          <p:cNvPr id="33" name="Rectangle 32"/>
          <p:cNvSpPr/>
          <p:nvPr/>
        </p:nvSpPr>
        <p:spPr>
          <a:xfrm>
            <a:off x="7223760" y="2514600"/>
            <a:ext cx="41910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Move the blank Left, Right, Up, or Down</a:t>
            </a:r>
          </a:p>
        </p:txBody>
      </p:sp>
      <p:sp>
        <p:nvSpPr>
          <p:cNvPr id="34" name="Rounded Rectangle 33"/>
          <p:cNvSpPr/>
          <p:nvPr/>
        </p:nvSpPr>
        <p:spPr>
          <a:xfrm>
            <a:off x="5303520" y="306324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Transition</a:t>
            </a:r>
          </a:p>
        </p:txBody>
      </p:sp>
      <p:sp>
        <p:nvSpPr>
          <p:cNvPr id="35" name="Rectangle 34"/>
          <p:cNvSpPr/>
          <p:nvPr/>
        </p:nvSpPr>
        <p:spPr>
          <a:xfrm>
            <a:off x="7223760" y="3063240"/>
            <a:ext cx="41910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Applying Left to the start state swaps the 5 and the blank</a:t>
            </a:r>
          </a:p>
        </p:txBody>
      </p:sp>
      <p:sp>
        <p:nvSpPr>
          <p:cNvPr id="36" name="Rounded Rectangle 35"/>
          <p:cNvSpPr/>
          <p:nvPr/>
        </p:nvSpPr>
        <p:spPr>
          <a:xfrm>
            <a:off x="5303520" y="361188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Goal state</a:t>
            </a:r>
          </a:p>
        </p:txBody>
      </p:sp>
      <p:sp>
        <p:nvSpPr>
          <p:cNvPr id="37" name="Rectangle 36"/>
          <p:cNvSpPr/>
          <p:nvPr/>
        </p:nvSpPr>
        <p:spPr>
          <a:xfrm>
            <a:off x="7223760" y="3611880"/>
            <a:ext cx="41910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Tiles in the specified order, blank in the corner</a:t>
            </a:r>
          </a:p>
        </p:txBody>
      </p:sp>
      <p:sp>
        <p:nvSpPr>
          <p:cNvPr id="38" name="Rounded Rectangle 37"/>
          <p:cNvSpPr/>
          <p:nvPr/>
        </p:nvSpPr>
        <p:spPr>
          <a:xfrm>
            <a:off x="5303520" y="416052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 cost</a:t>
            </a:r>
          </a:p>
        </p:txBody>
      </p:sp>
      <p:sp>
        <p:nvSpPr>
          <p:cNvPr id="39" name="Rectangle 38"/>
          <p:cNvSpPr/>
          <p:nvPr/>
        </p:nvSpPr>
        <p:spPr>
          <a:xfrm>
            <a:off x="7223760" y="4160520"/>
            <a:ext cx="41910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1 per move, so path cost = number of moves</a:t>
            </a:r>
          </a:p>
        </p:txBody>
      </p:sp>
      <p:sp>
        <p:nvSpPr>
          <p:cNvPr id="40" name="Rectangle 39"/>
          <p:cNvSpPr/>
          <p:nvPr/>
        </p:nvSpPr>
        <p:spPr>
          <a:xfrm>
            <a:off x="914400" y="47548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8-puzzle: 9!/2 = 181,440 reachable states.   15-puzzle: about 1.3 trillion.   24-puzzle: about 10²⁵.</a:t>
            </a:r>
          </a:p>
        </p:txBody>
      </p:sp>
      <p:sp>
        <p:nvSpPr>
          <p:cNvPr id="41" name="Rectangle 40"/>
          <p:cNvSpPr/>
          <p:nvPr/>
        </p:nvSpPr>
        <p:spPr>
          <a:xfrm>
            <a:off x="914400" y="525780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Even this is an abstraction: no sliding motion, no shaking the board, no prying tiles out with a knife.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Infinite State Spaces: Knuth's “4” Problem</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256032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8" name="Rounded Rectangle 7"/>
          <p:cNvSpPr/>
          <p:nvPr/>
        </p:nvSpPr>
        <p:spPr>
          <a:xfrm>
            <a:off x="1005840" y="1280160"/>
            <a:ext cx="20116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The formulation</a:t>
            </a:r>
          </a:p>
        </p:txBody>
      </p:sp>
      <p:sp>
        <p:nvSpPr>
          <p:cNvPr id="9" name="Rectangle 8"/>
          <p:cNvSpPr/>
          <p:nvPr/>
        </p:nvSpPr>
        <p:spPr>
          <a:xfrm>
            <a:off x="1051560" y="1920240"/>
            <a:ext cx="4480560" cy="1920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800"/>
              </a:spcAft>
            </a:pPr>
            <a:r>
              <a:rPr sz="1350" b="1" i="0">
                <a:solidFill>
                  <a:srgbClr val="112E5C"/>
                </a:solidFill>
              </a:rPr>
              <a:t>States:  </a:t>
            </a:r>
            <a:r>
              <a:rPr sz="1350" b="0" i="0">
                <a:solidFill>
                  <a:srgbClr val="102A4C"/>
                </a:solidFill>
              </a:rPr>
              <a:t>positive real numbers</a:t>
            </a:r>
          </a:p>
          <a:p>
            <a:pPr algn="l">
              <a:spcAft>
                <a:spcPts val="800"/>
              </a:spcAft>
            </a:pPr>
            <a:r>
              <a:rPr sz="1350" b="1" i="0">
                <a:solidFill>
                  <a:srgbClr val="112E5C"/>
                </a:solidFill>
              </a:rPr>
              <a:t>Initial state:  </a:t>
            </a:r>
            <a:r>
              <a:rPr sz="1350" b="0" i="0">
                <a:solidFill>
                  <a:srgbClr val="102A4C"/>
                </a:solidFill>
              </a:rPr>
              <a:t>4</a:t>
            </a:r>
          </a:p>
          <a:p>
            <a:pPr algn="l">
              <a:spcAft>
                <a:spcPts val="800"/>
              </a:spcAft>
            </a:pPr>
            <a:r>
              <a:rPr sz="1350" b="1" i="0">
                <a:solidFill>
                  <a:srgbClr val="112E5C"/>
                </a:solidFill>
              </a:rPr>
              <a:t>Actions:  </a:t>
            </a:r>
            <a:r>
              <a:rPr sz="1350" b="0" i="0">
                <a:solidFill>
                  <a:srgbClr val="102A4C"/>
                </a:solidFill>
              </a:rPr>
              <a:t>square root, floor, factorial (factorial on integers only)</a:t>
            </a:r>
          </a:p>
          <a:p>
            <a:pPr algn="l">
              <a:spcAft>
                <a:spcPts val="800"/>
              </a:spcAft>
            </a:pPr>
            <a:r>
              <a:rPr sz="1350" b="1" i="0">
                <a:solidFill>
                  <a:srgbClr val="112E5C"/>
                </a:solidFill>
              </a:rPr>
              <a:t>Transition:  </a:t>
            </a:r>
            <a:r>
              <a:rPr sz="1350" b="0" i="0">
                <a:solidFill>
                  <a:srgbClr val="102A4C"/>
                </a:solidFill>
              </a:rPr>
              <a:t>as given by the mathematical definitions</a:t>
            </a:r>
          </a:p>
          <a:p>
            <a:pPr algn="l">
              <a:spcAft>
                <a:spcPts val="800"/>
              </a:spcAft>
            </a:pPr>
            <a:r>
              <a:rPr sz="1350" b="1" i="0">
                <a:solidFill>
                  <a:srgbClr val="112E5C"/>
                </a:solidFill>
              </a:rPr>
              <a:t>Goal state:  </a:t>
            </a:r>
            <a:r>
              <a:rPr sz="1350" b="0" i="0">
                <a:solidFill>
                  <a:srgbClr val="102A4C"/>
                </a:solidFill>
              </a:rPr>
              <a:t>the desired positive integer</a:t>
            </a:r>
          </a:p>
          <a:p>
            <a:pPr algn="l">
              <a:spcAft>
                <a:spcPts val="800"/>
              </a:spcAft>
            </a:pPr>
            <a:r>
              <a:rPr sz="1350" b="1" i="0">
                <a:solidFill>
                  <a:srgbClr val="112E5C"/>
                </a:solidFill>
              </a:rPr>
              <a:t>Action cost:  </a:t>
            </a:r>
            <a:r>
              <a:rPr sz="1350" b="0" i="0">
                <a:solidFill>
                  <a:srgbClr val="102A4C"/>
                </a:solidFill>
              </a:rPr>
              <a:t>1 per operation</a:t>
            </a:r>
          </a:p>
        </p:txBody>
      </p:sp>
      <p:sp>
        <p:nvSpPr>
          <p:cNvPr id="10" name="Rectangle 9"/>
          <p:cNvSpPr/>
          <p:nvPr/>
        </p:nvSpPr>
        <p:spPr>
          <a:xfrm>
            <a:off x="6385560" y="1554480"/>
            <a:ext cx="502920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4000" b="1" i="0">
                <a:solidFill>
                  <a:srgbClr val="112E5C"/>
                </a:solidFill>
              </a:rPr>
              <a:t>(4!)!</a:t>
            </a:r>
          </a:p>
        </p:txBody>
      </p:sp>
      <p:sp>
        <p:nvSpPr>
          <p:cNvPr id="11" name="Rectangle 10"/>
          <p:cNvSpPr/>
          <p:nvPr/>
        </p:nvSpPr>
        <p:spPr>
          <a:xfrm>
            <a:off x="6385560" y="2057400"/>
            <a:ext cx="50292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the second step on the way to 5</a:t>
            </a:r>
          </a:p>
        </p:txBody>
      </p:sp>
      <p:sp>
        <p:nvSpPr>
          <p:cNvPr id="12" name="Rectangle 11"/>
          <p:cNvSpPr/>
          <p:nvPr/>
        </p:nvSpPr>
        <p:spPr>
          <a:xfrm>
            <a:off x="6385560" y="2423160"/>
            <a:ext cx="50292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700" b="1" i="0">
                <a:solidFill>
                  <a:srgbClr val="9B1C1C"/>
                </a:solidFill>
              </a:rPr>
              <a:t>620,448,401,733,239,439,360,000</a:t>
            </a:r>
          </a:p>
        </p:txBody>
      </p:sp>
      <p:sp>
        <p:nvSpPr>
          <p:cNvPr id="13" name="Rounded Rectangle 12"/>
          <p:cNvSpPr/>
          <p:nvPr/>
        </p:nvSpPr>
        <p:spPr>
          <a:xfrm>
            <a:off x="6385560" y="2971800"/>
            <a:ext cx="5029200" cy="1005840"/>
          </a:xfrm>
          <a:prstGeom prst="roundRect">
            <a:avLst>
              <a:gd name="adj" fmla="val 4500"/>
            </a:avLst>
          </a:prstGeom>
          <a:solidFill>
            <a:srgbClr val="D9E9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4" name="Rectangle 13"/>
          <p:cNvSpPr/>
          <p:nvPr/>
        </p:nvSpPr>
        <p:spPr>
          <a:xfrm>
            <a:off x="6614160" y="3063240"/>
            <a:ext cx="45720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350" b="0" i="0">
                <a:solidFill>
                  <a:srgbClr val="112E5C"/>
                </a:solidFill>
              </a:rPr>
              <a:t>Knuth conjectured that starting from 4, some sequence of square root, floor, and factorial reaches any desired positive integer.</a:t>
            </a:r>
          </a:p>
        </p:txBody>
      </p:sp>
      <p:sp>
        <p:nvSpPr>
          <p:cNvPr id="15" name="Rectangle 14"/>
          <p:cNvSpPr/>
          <p:nvPr/>
        </p:nvSpPr>
        <p:spPr>
          <a:xfrm>
            <a:off x="914400" y="43891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The state space is infinite: for any integer greater than 2, factorial always yields a larger integer.</a:t>
            </a:r>
          </a:p>
        </p:txBody>
      </p:sp>
      <p:sp>
        <p:nvSpPr>
          <p:cNvPr id="16" name="Rectangle 15"/>
          <p:cNvSpPr/>
          <p:nvPr/>
        </p:nvSpPr>
        <p:spPr>
          <a:xfrm>
            <a:off x="914400" y="49834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So an algorithm can generate a new state on every single step and still never reach most of the space. That is the completeness problem in Section 3.3.4.</a:t>
            </a:r>
          </a:p>
        </p:txBody>
      </p:sp>
      <p:sp>
        <p:nvSpPr>
          <p:cNvPr id="17" name="Rectangle 16"/>
          <p:cNvSpPr/>
          <p:nvPr/>
        </p:nvSpPr>
        <p:spPr>
          <a:xfrm>
            <a:off x="914400" y="548640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350" b="0" i="0">
                <a:solidFill>
                  <a:srgbClr val="5C6B80"/>
                </a:solidFill>
              </a:rPr>
              <a:t>Infinite state spaces arise whenever the task generates mathematical expressions, circuits, proofs, programs, or other recursively defined objects.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Counting a State Space: Pac-Man</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World state: every last detail</a:t>
            </a:r>
          </a:p>
        </p:txBody>
      </p:sp>
      <p:sp>
        <p:nvSpPr>
          <p:cNvPr id="8" name="Rounded Rectangle 7"/>
          <p:cNvSpPr/>
          <p:nvPr/>
        </p:nvSpPr>
        <p:spPr>
          <a:xfrm>
            <a:off x="777240" y="1965960"/>
            <a:ext cx="5029200" cy="50292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9" name="Rectangle 8"/>
          <p:cNvSpPr/>
          <p:nvPr/>
        </p:nvSpPr>
        <p:spPr>
          <a:xfrm>
            <a:off x="960120" y="196596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112E5C"/>
                </a:solidFill>
              </a:rPr>
              <a:t>Agent position</a:t>
            </a:r>
          </a:p>
        </p:txBody>
      </p:sp>
      <p:sp>
        <p:nvSpPr>
          <p:cNvPr id="10" name="Rectangle 9"/>
          <p:cNvSpPr/>
          <p:nvPr/>
        </p:nvSpPr>
        <p:spPr>
          <a:xfrm>
            <a:off x="2971800" y="196596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12 × 10 grid</a:t>
            </a:r>
          </a:p>
        </p:txBody>
      </p:sp>
      <p:sp>
        <p:nvSpPr>
          <p:cNvPr id="11" name="Rectangle 10"/>
          <p:cNvSpPr/>
          <p:nvPr/>
        </p:nvSpPr>
        <p:spPr>
          <a:xfrm>
            <a:off x="4983480" y="1965960"/>
            <a:ext cx="64008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500" b="1" i="0">
                <a:solidFill>
                  <a:srgbClr val="9B1C1C"/>
                </a:solidFill>
              </a:rPr>
              <a:t>120</a:t>
            </a:r>
          </a:p>
        </p:txBody>
      </p:sp>
      <p:sp>
        <p:nvSpPr>
          <p:cNvPr id="12" name="Rounded Rectangle 11"/>
          <p:cNvSpPr/>
          <p:nvPr/>
        </p:nvSpPr>
        <p:spPr>
          <a:xfrm>
            <a:off x="777240" y="2560320"/>
            <a:ext cx="5029200" cy="50292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3" name="Rectangle 12"/>
          <p:cNvSpPr/>
          <p:nvPr/>
        </p:nvSpPr>
        <p:spPr>
          <a:xfrm>
            <a:off x="960120" y="256032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112E5C"/>
                </a:solidFill>
              </a:rPr>
              <a:t>Dot status</a:t>
            </a:r>
          </a:p>
        </p:txBody>
      </p:sp>
      <p:sp>
        <p:nvSpPr>
          <p:cNvPr id="14" name="Rectangle 13"/>
          <p:cNvSpPr/>
          <p:nvPr/>
        </p:nvSpPr>
        <p:spPr>
          <a:xfrm>
            <a:off x="2971800" y="256032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30 dots, each eaten or not</a:t>
            </a:r>
          </a:p>
        </p:txBody>
      </p:sp>
      <p:sp>
        <p:nvSpPr>
          <p:cNvPr id="15" name="Rectangle 14"/>
          <p:cNvSpPr/>
          <p:nvPr/>
        </p:nvSpPr>
        <p:spPr>
          <a:xfrm>
            <a:off x="4983480" y="2560320"/>
            <a:ext cx="64008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500" b="1" i="0">
                <a:solidFill>
                  <a:srgbClr val="9B1C1C"/>
                </a:solidFill>
              </a:rPr>
              <a:t>2³⁰</a:t>
            </a:r>
          </a:p>
        </p:txBody>
      </p:sp>
      <p:sp>
        <p:nvSpPr>
          <p:cNvPr id="16" name="Rounded Rectangle 15"/>
          <p:cNvSpPr/>
          <p:nvPr/>
        </p:nvSpPr>
        <p:spPr>
          <a:xfrm>
            <a:off x="777240" y="3154680"/>
            <a:ext cx="5029200" cy="50292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7" name="Rectangle 16"/>
          <p:cNvSpPr/>
          <p:nvPr/>
        </p:nvSpPr>
        <p:spPr>
          <a:xfrm>
            <a:off x="960120" y="315468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112E5C"/>
                </a:solidFill>
              </a:rPr>
              <a:t>Ghost positions</a:t>
            </a:r>
          </a:p>
        </p:txBody>
      </p:sp>
      <p:sp>
        <p:nvSpPr>
          <p:cNvPr id="18" name="Rectangle 17"/>
          <p:cNvSpPr/>
          <p:nvPr/>
        </p:nvSpPr>
        <p:spPr>
          <a:xfrm>
            <a:off x="2971800" y="315468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two ghosts, 12 × 1 lane</a:t>
            </a:r>
          </a:p>
        </p:txBody>
      </p:sp>
      <p:sp>
        <p:nvSpPr>
          <p:cNvPr id="19" name="Rectangle 18"/>
          <p:cNvSpPr/>
          <p:nvPr/>
        </p:nvSpPr>
        <p:spPr>
          <a:xfrm>
            <a:off x="4983480" y="3154680"/>
            <a:ext cx="64008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500" b="1" i="0">
                <a:solidFill>
                  <a:srgbClr val="9B1C1C"/>
                </a:solidFill>
              </a:rPr>
              <a:t>12²</a:t>
            </a:r>
          </a:p>
        </p:txBody>
      </p:sp>
      <p:sp>
        <p:nvSpPr>
          <p:cNvPr id="20" name="Rounded Rectangle 19"/>
          <p:cNvSpPr/>
          <p:nvPr/>
        </p:nvSpPr>
        <p:spPr>
          <a:xfrm>
            <a:off x="777240" y="3749040"/>
            <a:ext cx="5029200" cy="50292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1" name="Rectangle 20"/>
          <p:cNvSpPr/>
          <p:nvPr/>
        </p:nvSpPr>
        <p:spPr>
          <a:xfrm>
            <a:off x="960120" y="374904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112E5C"/>
                </a:solidFill>
              </a:rPr>
              <a:t>Agent facing</a:t>
            </a:r>
          </a:p>
        </p:txBody>
      </p:sp>
      <p:sp>
        <p:nvSpPr>
          <p:cNvPr id="22" name="Rectangle 21"/>
          <p:cNvSpPr/>
          <p:nvPr/>
        </p:nvSpPr>
        <p:spPr>
          <a:xfrm>
            <a:off x="2971800" y="374904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N, S, E, or W</a:t>
            </a:r>
          </a:p>
        </p:txBody>
      </p:sp>
      <p:sp>
        <p:nvSpPr>
          <p:cNvPr id="23" name="Rectangle 22"/>
          <p:cNvSpPr/>
          <p:nvPr/>
        </p:nvSpPr>
        <p:spPr>
          <a:xfrm>
            <a:off x="4983480" y="3749040"/>
            <a:ext cx="64008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500" b="1" i="0">
                <a:solidFill>
                  <a:srgbClr val="9B1C1C"/>
                </a:solidFill>
              </a:rPr>
              <a:t>4</a:t>
            </a:r>
          </a:p>
        </p:txBody>
      </p:sp>
      <p:sp>
        <p:nvSpPr>
          <p:cNvPr id="24" name="Rounded Rectangle 23"/>
          <p:cNvSpPr/>
          <p:nvPr/>
        </p:nvSpPr>
        <p:spPr>
          <a:xfrm>
            <a:off x="6385560" y="1417320"/>
            <a:ext cx="502920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Search state: only what planning needs</a:t>
            </a:r>
          </a:p>
        </p:txBody>
      </p:sp>
      <p:sp>
        <p:nvSpPr>
          <p:cNvPr id="25" name="Rounded Rectangle 24"/>
          <p:cNvSpPr/>
          <p:nvPr/>
        </p:nvSpPr>
        <p:spPr>
          <a:xfrm>
            <a:off x="6385560" y="1965960"/>
            <a:ext cx="5029200" cy="68580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6" name="Rectangle 25"/>
          <p:cNvSpPr/>
          <p:nvPr/>
        </p:nvSpPr>
        <p:spPr>
          <a:xfrm>
            <a:off x="6568440" y="2057400"/>
            <a:ext cx="201168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1" i="0">
                <a:solidFill>
                  <a:srgbClr val="112E5C"/>
                </a:solidFill>
              </a:rPr>
              <a:t>Pathing</a:t>
            </a:r>
          </a:p>
        </p:txBody>
      </p:sp>
      <p:sp>
        <p:nvSpPr>
          <p:cNvPr id="27" name="Rectangle 26"/>
          <p:cNvSpPr/>
          <p:nvPr/>
        </p:nvSpPr>
        <p:spPr>
          <a:xfrm>
            <a:off x="6568440" y="2316480"/>
            <a:ext cx="32004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position only</a:t>
            </a:r>
          </a:p>
        </p:txBody>
      </p:sp>
      <p:sp>
        <p:nvSpPr>
          <p:cNvPr id="28" name="Rectangle 27"/>
          <p:cNvSpPr/>
          <p:nvPr/>
        </p:nvSpPr>
        <p:spPr>
          <a:xfrm>
            <a:off x="9768840" y="1965960"/>
            <a:ext cx="1463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400" b="1" i="0">
                <a:solidFill>
                  <a:srgbClr val="177245"/>
                </a:solidFill>
              </a:rPr>
              <a:t>120</a:t>
            </a:r>
          </a:p>
        </p:txBody>
      </p:sp>
      <p:sp>
        <p:nvSpPr>
          <p:cNvPr id="29" name="Rounded Rectangle 28"/>
          <p:cNvSpPr/>
          <p:nvPr/>
        </p:nvSpPr>
        <p:spPr>
          <a:xfrm>
            <a:off x="6385560" y="2743200"/>
            <a:ext cx="5029200" cy="68580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0" name="Rectangle 29"/>
          <p:cNvSpPr/>
          <p:nvPr/>
        </p:nvSpPr>
        <p:spPr>
          <a:xfrm>
            <a:off x="6568440" y="2834640"/>
            <a:ext cx="201168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1" i="0">
                <a:solidFill>
                  <a:srgbClr val="112E5C"/>
                </a:solidFill>
              </a:rPr>
              <a:t>Eat-all-dots</a:t>
            </a:r>
          </a:p>
        </p:txBody>
      </p:sp>
      <p:sp>
        <p:nvSpPr>
          <p:cNvPr id="31" name="Rectangle 30"/>
          <p:cNvSpPr/>
          <p:nvPr/>
        </p:nvSpPr>
        <p:spPr>
          <a:xfrm>
            <a:off x="6568440" y="3093720"/>
            <a:ext cx="32004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position + dot booleans</a:t>
            </a:r>
          </a:p>
        </p:txBody>
      </p:sp>
      <p:sp>
        <p:nvSpPr>
          <p:cNvPr id="32" name="Rectangle 31"/>
          <p:cNvSpPr/>
          <p:nvPr/>
        </p:nvSpPr>
        <p:spPr>
          <a:xfrm>
            <a:off x="9768840" y="2743200"/>
            <a:ext cx="1463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400" b="1" i="0">
                <a:solidFill>
                  <a:srgbClr val="177245"/>
                </a:solidFill>
              </a:rPr>
              <a:t>120 × 2³⁰</a:t>
            </a:r>
          </a:p>
        </p:txBody>
      </p:sp>
      <p:sp>
        <p:nvSpPr>
          <p:cNvPr id="33" name="Rounded Rectangle 32"/>
          <p:cNvSpPr/>
          <p:nvPr/>
        </p:nvSpPr>
        <p:spPr>
          <a:xfrm>
            <a:off x="6385560" y="3520440"/>
            <a:ext cx="5029200" cy="68580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4" name="Rectangle 33"/>
          <p:cNvSpPr/>
          <p:nvPr/>
        </p:nvSpPr>
        <p:spPr>
          <a:xfrm>
            <a:off x="6568440" y="3611880"/>
            <a:ext cx="201168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1" i="0">
                <a:solidFill>
                  <a:srgbClr val="112E5C"/>
                </a:solidFill>
              </a:rPr>
              <a:t>Safe passage</a:t>
            </a:r>
          </a:p>
        </p:txBody>
      </p:sp>
      <p:sp>
        <p:nvSpPr>
          <p:cNvPr id="35" name="Rectangle 34"/>
          <p:cNvSpPr/>
          <p:nvPr/>
        </p:nvSpPr>
        <p:spPr>
          <a:xfrm>
            <a:off x="6568440" y="3870960"/>
            <a:ext cx="32004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position + dots + power pellets + scared timer</a:t>
            </a:r>
          </a:p>
        </p:txBody>
      </p:sp>
      <p:sp>
        <p:nvSpPr>
          <p:cNvPr id="36" name="Rectangle 35"/>
          <p:cNvSpPr/>
          <p:nvPr/>
        </p:nvSpPr>
        <p:spPr>
          <a:xfrm>
            <a:off x="9768840" y="3520440"/>
            <a:ext cx="1463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400" b="1" i="0">
                <a:solidFill>
                  <a:srgbClr val="177245"/>
                </a:solidFill>
              </a:rPr>
              <a:t>120 × 2³⁰ × 2⁴ × t</a:t>
            </a:r>
          </a:p>
        </p:txBody>
      </p:sp>
      <p:sp>
        <p:nvSpPr>
          <p:cNvPr id="37" name="Rectangle 36"/>
          <p:cNvSpPr/>
          <p:nvPr/>
        </p:nvSpPr>
        <p:spPr>
          <a:xfrm>
            <a:off x="914400" y="4389120"/>
            <a:ext cx="104241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800" b="1" i="0">
                <a:solidFill>
                  <a:srgbClr val="112E5C"/>
                </a:solidFill>
              </a:rPr>
              <a:t>World states:  </a:t>
            </a:r>
            <a:r>
              <a:rPr sz="2200" b="1" i="0">
                <a:solidFill>
                  <a:srgbClr val="9B1C1C"/>
                </a:solidFill>
              </a:rPr>
              <a:t>120 × 2³⁰ × 12² × 4  ≈  1.9 × 10¹³</a:t>
            </a:r>
          </a:p>
        </p:txBody>
      </p:sp>
      <p:sp>
        <p:nvSpPr>
          <p:cNvPr id="38" name="Rectangle 37"/>
          <p:cNvSpPr/>
          <p:nvPr/>
        </p:nvSpPr>
        <p:spPr>
          <a:xfrm>
            <a:off x="914400" y="49834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One maze, three different problems. The state space is a consequence of the question you are asking, not of the world.</a:t>
            </a:r>
          </a:p>
        </p:txBody>
      </p:sp>
      <p:sp>
        <p:nvSpPr>
          <p:cNvPr id="39" name="Rectangle 38"/>
          <p:cNvSpPr/>
          <p:nvPr/>
        </p:nvSpPr>
        <p:spPr>
          <a:xfrm>
            <a:off x="914400" y="5440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400" b="0" i="0">
                <a:solidFill>
                  <a:srgbClr val="5C6B80"/>
                </a:solidFill>
              </a:rPr>
              <a:t>Every extra state variable multiplies the space. Drop any variable the goal test and the cost function never read.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Real-World Formulation: Airline Travel Planning</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States</a:t>
            </a:r>
          </a:p>
        </p:txBody>
      </p:sp>
      <p:sp>
        <p:nvSpPr>
          <p:cNvPr id="8" name="Rectangle 7"/>
          <p:cNvSpPr/>
          <p:nvPr/>
        </p:nvSpPr>
        <p:spPr>
          <a:xfrm>
            <a:off x="2697480" y="141732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Airport, current time, and historical information about earlier segments</a:t>
            </a:r>
          </a:p>
        </p:txBody>
      </p:sp>
      <p:sp>
        <p:nvSpPr>
          <p:cNvPr id="9" name="Rounded Rectangle 8"/>
          <p:cNvSpPr/>
          <p:nvPr/>
        </p:nvSpPr>
        <p:spPr>
          <a:xfrm>
            <a:off x="777240" y="192024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Initial state</a:t>
            </a:r>
          </a:p>
        </p:txBody>
      </p:sp>
      <p:sp>
        <p:nvSpPr>
          <p:cNvPr id="10" name="Rectangle 9"/>
          <p:cNvSpPr/>
          <p:nvPr/>
        </p:nvSpPr>
        <p:spPr>
          <a:xfrm>
            <a:off x="2697480" y="192024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The traveller's home airport</a:t>
            </a:r>
          </a:p>
        </p:txBody>
      </p:sp>
      <p:sp>
        <p:nvSpPr>
          <p:cNvPr id="11" name="Rounded Rectangle 10"/>
          <p:cNvSpPr/>
          <p:nvPr/>
        </p:nvSpPr>
        <p:spPr>
          <a:xfrm>
            <a:off x="777240" y="242316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Actions</a:t>
            </a:r>
          </a:p>
        </p:txBody>
      </p:sp>
      <p:sp>
        <p:nvSpPr>
          <p:cNvPr id="12" name="Rectangle 11"/>
          <p:cNvSpPr/>
          <p:nvPr/>
        </p:nvSpPr>
        <p:spPr>
          <a:xfrm>
            <a:off x="2697480" y="242316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Any flight leaving after the current time, in any seat class, allowing transfer time</a:t>
            </a:r>
          </a:p>
        </p:txBody>
      </p:sp>
      <p:sp>
        <p:nvSpPr>
          <p:cNvPr id="13" name="Rounded Rectangle 12"/>
          <p:cNvSpPr/>
          <p:nvPr/>
        </p:nvSpPr>
        <p:spPr>
          <a:xfrm>
            <a:off x="777240" y="292608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Transition</a:t>
            </a:r>
          </a:p>
        </p:txBody>
      </p:sp>
      <p:sp>
        <p:nvSpPr>
          <p:cNvPr id="14" name="Rectangle 13"/>
          <p:cNvSpPr/>
          <p:nvPr/>
        </p:nvSpPr>
        <p:spPr>
          <a:xfrm>
            <a:off x="2697480" y="292608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New location is the destination; new time is the arrival time</a:t>
            </a:r>
          </a:p>
        </p:txBody>
      </p:sp>
      <p:sp>
        <p:nvSpPr>
          <p:cNvPr id="15" name="Rounded Rectangle 14"/>
          <p:cNvSpPr/>
          <p:nvPr/>
        </p:nvSpPr>
        <p:spPr>
          <a:xfrm>
            <a:off x="777240" y="342900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Goal state</a:t>
            </a:r>
          </a:p>
        </p:txBody>
      </p:sp>
      <p:sp>
        <p:nvSpPr>
          <p:cNvPr id="16" name="Rectangle 15"/>
          <p:cNvSpPr/>
          <p:nvPr/>
        </p:nvSpPr>
        <p:spPr>
          <a:xfrm>
            <a:off x="2697480" y="342900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 destination city — or something richer, like arriving on a nonstop flight</a:t>
            </a:r>
          </a:p>
        </p:txBody>
      </p:sp>
      <p:sp>
        <p:nvSpPr>
          <p:cNvPr id="17" name="Rounded Rectangle 16"/>
          <p:cNvSpPr/>
          <p:nvPr/>
        </p:nvSpPr>
        <p:spPr>
          <a:xfrm>
            <a:off x="777240" y="393192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 cost</a:t>
            </a:r>
          </a:p>
        </p:txBody>
      </p:sp>
      <p:sp>
        <p:nvSpPr>
          <p:cNvPr id="18" name="Rectangle 17"/>
          <p:cNvSpPr/>
          <p:nvPr/>
        </p:nvSpPr>
        <p:spPr>
          <a:xfrm>
            <a:off x="2697480" y="393192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Money, waiting time, flight time, customs, seat quality, aircraft type, reward points</a:t>
            </a:r>
          </a:p>
        </p:txBody>
      </p:sp>
      <p:sp>
        <p:nvSpPr>
          <p:cNvPr id="19" name="Rounded Rectangle 18"/>
          <p:cNvSpPr/>
          <p:nvPr/>
        </p:nvSpPr>
        <p:spPr>
          <a:xfrm>
            <a:off x="8686800" y="1417320"/>
            <a:ext cx="2743200" cy="2011680"/>
          </a:xfrm>
          <a:prstGeom prst="roundRect">
            <a:avLst>
              <a:gd name="adj" fmla="val 4500"/>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0" name="Rectangle 19"/>
          <p:cNvSpPr/>
          <p:nvPr/>
        </p:nvSpPr>
        <p:spPr>
          <a:xfrm>
            <a:off x="8869680" y="1600200"/>
            <a:ext cx="2377440" cy="1645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FFFFFF"/>
                </a:solidFill>
              </a:rPr>
              <a:t>Why does the state carry history?
Because the cost of a flight segment depends on the fare basis of the segments already taken.</a:t>
            </a:r>
          </a:p>
        </p:txBody>
      </p:sp>
      <p:sp>
        <p:nvSpPr>
          <p:cNvPr id="21" name="Rectangle 20"/>
          <p:cNvSpPr/>
          <p:nvPr/>
        </p:nvSpPr>
        <p:spPr>
          <a:xfrm>
            <a:off x="8686800" y="3611880"/>
            <a:ext cx="274320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250" b="1" i="0">
                <a:solidFill>
                  <a:srgbClr val="9B1C1C"/>
                </a:solidFill>
              </a:rPr>
              <a:t>The cost function reads it, so it belongs in the state.</a:t>
            </a:r>
          </a:p>
        </p:txBody>
      </p:sp>
      <p:sp>
        <p:nvSpPr>
          <p:cNvPr id="22" name="Rectangle 21"/>
          <p:cNvSpPr/>
          <p:nvPr/>
        </p:nvSpPr>
        <p:spPr>
          <a:xfrm>
            <a:off x="914400" y="45262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Compare with the Pac-Man rule: drop any variable the goal test and the cost function never read.</a:t>
            </a:r>
          </a:p>
        </p:txBody>
      </p:sp>
      <p:sp>
        <p:nvSpPr>
          <p:cNvPr id="23" name="Rectangle 22"/>
          <p:cNvSpPr/>
          <p:nvPr/>
        </p:nvSpPr>
        <p:spPr>
          <a:xfrm>
            <a:off x="914400" y="49377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Here the cost function does read the past, so the past has to be part of the present state.</a:t>
            </a:r>
          </a:p>
        </p:txBody>
      </p:sp>
      <p:sp>
        <p:nvSpPr>
          <p:cNvPr id="24" name="Rectangle 23"/>
          <p:cNvSpPr/>
          <p:nvPr/>
        </p:nvSpPr>
        <p:spPr>
          <a:xfrm>
            <a:off x="914400" y="5440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350" b="0" i="0">
                <a:solidFill>
                  <a:srgbClr val="5C6B80"/>
                </a:solidFill>
              </a:rPr>
              <a:t>And any usable system needs contingency plans for delays and missed connections — which is Chapter 4, not this one.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Your Turn: Formulate a Search Problem</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10637520" cy="685800"/>
          </a:xfrm>
          <a:prstGeom prst="roundRect">
            <a:avLst>
              <a:gd name="adj" fmla="val 4500"/>
            </a:avLst>
          </a:prstGeom>
          <a:solidFill>
            <a:srgbClr val="D9E9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8" name="Rectangle 7"/>
          <p:cNvSpPr/>
          <p:nvPr/>
        </p:nvSpPr>
        <p:spPr>
          <a:xfrm>
            <a:off x="1051560" y="1508760"/>
            <a:ext cx="1008888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600" b="1" i="0">
                <a:solidFill>
                  <a:srgbClr val="112E5C"/>
                </a:solidFill>
              </a:rPr>
              <a:t>You have a 3-litre jug and a 5-litre jug, neither with any markings, and an unlimited supply of water. Measure out exactly 4 litres.</a:t>
            </a:r>
          </a:p>
        </p:txBody>
      </p:sp>
      <p:sp>
        <p:nvSpPr>
          <p:cNvPr id="9" name="Rounded Rectangle 8"/>
          <p:cNvSpPr/>
          <p:nvPr/>
        </p:nvSpPr>
        <p:spPr>
          <a:xfrm>
            <a:off x="777240" y="2286000"/>
            <a:ext cx="1783080" cy="45720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States</a:t>
            </a:r>
          </a:p>
        </p:txBody>
      </p:sp>
      <p:sp>
        <p:nvSpPr>
          <p:cNvPr id="10" name="Rounded Rectangle 9"/>
          <p:cNvSpPr/>
          <p:nvPr/>
        </p:nvSpPr>
        <p:spPr>
          <a:xfrm>
            <a:off x="2697480" y="2286000"/>
            <a:ext cx="3229920" cy="457200"/>
          </a:xfrm>
          <a:prstGeom prst="roundRect">
            <a:avLst>
              <a:gd name="adj" fmla="val 60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1" name="Rounded Rectangle 10"/>
          <p:cNvSpPr/>
          <p:nvPr/>
        </p:nvSpPr>
        <p:spPr>
          <a:xfrm>
            <a:off x="6263640" y="2286000"/>
            <a:ext cx="1783080" cy="45720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Initial state</a:t>
            </a:r>
          </a:p>
        </p:txBody>
      </p:sp>
      <p:sp>
        <p:nvSpPr>
          <p:cNvPr id="12" name="Rounded Rectangle 11"/>
          <p:cNvSpPr/>
          <p:nvPr/>
        </p:nvSpPr>
        <p:spPr>
          <a:xfrm>
            <a:off x="8183880" y="2286000"/>
            <a:ext cx="3229920" cy="457200"/>
          </a:xfrm>
          <a:prstGeom prst="roundRect">
            <a:avLst>
              <a:gd name="adj" fmla="val 60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3" name="Rounded Rectangle 12"/>
          <p:cNvSpPr/>
          <p:nvPr/>
        </p:nvSpPr>
        <p:spPr>
          <a:xfrm>
            <a:off x="777240" y="2971800"/>
            <a:ext cx="1783080" cy="45720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Actions</a:t>
            </a:r>
          </a:p>
        </p:txBody>
      </p:sp>
      <p:sp>
        <p:nvSpPr>
          <p:cNvPr id="14" name="Rounded Rectangle 13"/>
          <p:cNvSpPr/>
          <p:nvPr/>
        </p:nvSpPr>
        <p:spPr>
          <a:xfrm>
            <a:off x="2697480" y="2971800"/>
            <a:ext cx="3229920" cy="457200"/>
          </a:xfrm>
          <a:prstGeom prst="roundRect">
            <a:avLst>
              <a:gd name="adj" fmla="val 60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5" name="Rounded Rectangle 14"/>
          <p:cNvSpPr/>
          <p:nvPr/>
        </p:nvSpPr>
        <p:spPr>
          <a:xfrm>
            <a:off x="6263640" y="2971800"/>
            <a:ext cx="1783080" cy="45720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Transition model</a:t>
            </a:r>
          </a:p>
        </p:txBody>
      </p:sp>
      <p:sp>
        <p:nvSpPr>
          <p:cNvPr id="16" name="Rounded Rectangle 15"/>
          <p:cNvSpPr/>
          <p:nvPr/>
        </p:nvSpPr>
        <p:spPr>
          <a:xfrm>
            <a:off x="8183880" y="2971800"/>
            <a:ext cx="3229920" cy="457200"/>
          </a:xfrm>
          <a:prstGeom prst="roundRect">
            <a:avLst>
              <a:gd name="adj" fmla="val 60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7" name="Rounded Rectangle 16"/>
          <p:cNvSpPr/>
          <p:nvPr/>
        </p:nvSpPr>
        <p:spPr>
          <a:xfrm>
            <a:off x="777240" y="3657600"/>
            <a:ext cx="1783080" cy="45720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Goal test</a:t>
            </a:r>
          </a:p>
        </p:txBody>
      </p:sp>
      <p:sp>
        <p:nvSpPr>
          <p:cNvPr id="18" name="Rounded Rectangle 17"/>
          <p:cNvSpPr/>
          <p:nvPr/>
        </p:nvSpPr>
        <p:spPr>
          <a:xfrm>
            <a:off x="2697480" y="3657600"/>
            <a:ext cx="3229920" cy="457200"/>
          </a:xfrm>
          <a:prstGeom prst="roundRect">
            <a:avLst>
              <a:gd name="adj" fmla="val 60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9" name="Rounded Rectangle 18"/>
          <p:cNvSpPr/>
          <p:nvPr/>
        </p:nvSpPr>
        <p:spPr>
          <a:xfrm>
            <a:off x="6263640" y="3657600"/>
            <a:ext cx="1783080" cy="45720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 cost</a:t>
            </a:r>
          </a:p>
        </p:txBody>
      </p:sp>
      <p:sp>
        <p:nvSpPr>
          <p:cNvPr id="20" name="Rounded Rectangle 19"/>
          <p:cNvSpPr/>
          <p:nvPr/>
        </p:nvSpPr>
        <p:spPr>
          <a:xfrm>
            <a:off x="8183880" y="3657600"/>
            <a:ext cx="3229920" cy="457200"/>
          </a:xfrm>
          <a:prstGeom prst="roundRect">
            <a:avLst>
              <a:gd name="adj" fmla="val 60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1" name="Rectangle 20"/>
          <p:cNvSpPr/>
          <p:nvPr/>
        </p:nvSpPr>
        <p:spPr>
          <a:xfrm>
            <a:off x="914400" y="45262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Work in pairs. Five minutes. Write all six parts before you argue about any of them.</a:t>
            </a:r>
          </a:p>
        </p:txBody>
      </p:sp>
      <p:sp>
        <p:nvSpPr>
          <p:cNvPr id="22" name="Rounded Rectangle 21"/>
          <p:cNvSpPr/>
          <p:nvPr/>
        </p:nvSpPr>
        <p:spPr>
          <a:xfrm>
            <a:off x="914400" y="4983480"/>
            <a:ext cx="10424160" cy="64008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3" name="Rectangle 22"/>
          <p:cNvSpPr/>
          <p:nvPr/>
        </p:nvSpPr>
        <p:spPr>
          <a:xfrm>
            <a:off x="1097280" y="5074920"/>
            <a:ext cx="100584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400" b="1" i="0">
                <a:solidFill>
                  <a:srgbClr val="9B1C1C"/>
                </a:solidFill>
              </a:rPr>
              <a:t>Watch for the trap: at least one variable you are tempted to include is never read by the goal test or the cost function.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Your Turn: One Correct Formulation</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17830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States</a:t>
            </a:r>
          </a:p>
        </p:txBody>
      </p:sp>
      <p:sp>
        <p:nvSpPr>
          <p:cNvPr id="8" name="Rectangle 7"/>
          <p:cNvSpPr/>
          <p:nvPr/>
        </p:nvSpPr>
        <p:spPr>
          <a:xfrm>
            <a:off x="2697480" y="141732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 b) where a is the content of the 3-litre jug and b of the 5-litre jug</a:t>
            </a:r>
          </a:p>
        </p:txBody>
      </p:sp>
      <p:sp>
        <p:nvSpPr>
          <p:cNvPr id="9" name="Rounded Rectangle 8"/>
          <p:cNvSpPr/>
          <p:nvPr/>
        </p:nvSpPr>
        <p:spPr>
          <a:xfrm>
            <a:off x="777240" y="1920240"/>
            <a:ext cx="17830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Initial state</a:t>
            </a:r>
          </a:p>
        </p:txBody>
      </p:sp>
      <p:sp>
        <p:nvSpPr>
          <p:cNvPr id="10" name="Rectangle 9"/>
          <p:cNvSpPr/>
          <p:nvPr/>
        </p:nvSpPr>
        <p:spPr>
          <a:xfrm>
            <a:off x="2697480" y="192024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(0, 0)</a:t>
            </a:r>
          </a:p>
        </p:txBody>
      </p:sp>
      <p:sp>
        <p:nvSpPr>
          <p:cNvPr id="11" name="Rounded Rectangle 10"/>
          <p:cNvSpPr/>
          <p:nvPr/>
        </p:nvSpPr>
        <p:spPr>
          <a:xfrm>
            <a:off x="777240" y="2423160"/>
            <a:ext cx="17830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Actions</a:t>
            </a:r>
          </a:p>
        </p:txBody>
      </p:sp>
      <p:sp>
        <p:nvSpPr>
          <p:cNvPr id="12" name="Rectangle 11"/>
          <p:cNvSpPr/>
          <p:nvPr/>
        </p:nvSpPr>
        <p:spPr>
          <a:xfrm>
            <a:off x="2697480" y="242316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Fill A, Fill B, Empty A, Empty B, Pour A→B, Pour B→A</a:t>
            </a:r>
          </a:p>
        </p:txBody>
      </p:sp>
      <p:sp>
        <p:nvSpPr>
          <p:cNvPr id="13" name="Rounded Rectangle 12"/>
          <p:cNvSpPr/>
          <p:nvPr/>
        </p:nvSpPr>
        <p:spPr>
          <a:xfrm>
            <a:off x="777240" y="2926080"/>
            <a:ext cx="17830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Transition</a:t>
            </a:r>
          </a:p>
        </p:txBody>
      </p:sp>
      <p:sp>
        <p:nvSpPr>
          <p:cNvPr id="14" name="Rectangle 13"/>
          <p:cNvSpPr/>
          <p:nvPr/>
        </p:nvSpPr>
        <p:spPr>
          <a:xfrm>
            <a:off x="2697480" y="292608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 pour transfers min(source, capacity of destination − destination)</a:t>
            </a:r>
          </a:p>
        </p:txBody>
      </p:sp>
      <p:sp>
        <p:nvSpPr>
          <p:cNvPr id="15" name="Rounded Rectangle 14"/>
          <p:cNvSpPr/>
          <p:nvPr/>
        </p:nvSpPr>
        <p:spPr>
          <a:xfrm>
            <a:off x="777240" y="3429000"/>
            <a:ext cx="17830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Goal test</a:t>
            </a:r>
          </a:p>
        </p:txBody>
      </p:sp>
      <p:sp>
        <p:nvSpPr>
          <p:cNvPr id="16" name="Rectangle 15"/>
          <p:cNvSpPr/>
          <p:nvPr/>
        </p:nvSpPr>
        <p:spPr>
          <a:xfrm>
            <a:off x="2697480" y="342900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a = 4 or b = 4</a:t>
            </a:r>
          </a:p>
        </p:txBody>
      </p:sp>
      <p:sp>
        <p:nvSpPr>
          <p:cNvPr id="17" name="Rounded Rectangle 16"/>
          <p:cNvSpPr/>
          <p:nvPr/>
        </p:nvSpPr>
        <p:spPr>
          <a:xfrm>
            <a:off x="777240" y="3931920"/>
            <a:ext cx="17830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112E5C"/>
                </a:solidFill>
              </a:rPr>
              <a:t>Action cost</a:t>
            </a:r>
          </a:p>
        </p:txBody>
      </p:sp>
      <p:sp>
        <p:nvSpPr>
          <p:cNvPr id="18" name="Rectangle 17"/>
          <p:cNvSpPr/>
          <p:nvPr/>
        </p:nvSpPr>
        <p:spPr>
          <a:xfrm>
            <a:off x="2697480" y="3931920"/>
            <a:ext cx="59436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1 per action, so path cost is the number of actions</a:t>
            </a:r>
          </a:p>
        </p:txBody>
      </p:sp>
      <p:sp>
        <p:nvSpPr>
          <p:cNvPr id="19" name="Rectangle 18"/>
          <p:cNvSpPr/>
          <p:nvPr/>
        </p:nvSpPr>
        <p:spPr>
          <a:xfrm>
            <a:off x="8686800" y="1417320"/>
            <a:ext cx="274320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2600" b="1" i="0">
                <a:solidFill>
                  <a:srgbClr val="112E5C"/>
                </a:solidFill>
              </a:rPr>
              <a:t>24</a:t>
            </a:r>
          </a:p>
        </p:txBody>
      </p:sp>
      <p:sp>
        <p:nvSpPr>
          <p:cNvPr id="20" name="Rectangle 19"/>
          <p:cNvSpPr/>
          <p:nvPr/>
        </p:nvSpPr>
        <p:spPr>
          <a:xfrm>
            <a:off x="8686800" y="1920240"/>
            <a:ext cx="27432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states: 4 × 6</a:t>
            </a:r>
          </a:p>
        </p:txBody>
      </p:sp>
      <p:sp>
        <p:nvSpPr>
          <p:cNvPr id="21" name="Rectangle 20"/>
          <p:cNvSpPr/>
          <p:nvPr/>
        </p:nvSpPr>
        <p:spPr>
          <a:xfrm>
            <a:off x="8686800" y="2240280"/>
            <a:ext cx="274320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2600" b="1" i="0">
                <a:solidFill>
                  <a:srgbClr val="112E5C"/>
                </a:solidFill>
              </a:rPr>
              <a:t>6</a:t>
            </a:r>
          </a:p>
        </p:txBody>
      </p:sp>
      <p:sp>
        <p:nvSpPr>
          <p:cNvPr id="22" name="Rectangle 21"/>
          <p:cNvSpPr/>
          <p:nvPr/>
        </p:nvSpPr>
        <p:spPr>
          <a:xfrm>
            <a:off x="8686800" y="2743200"/>
            <a:ext cx="27432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actions</a:t>
            </a:r>
          </a:p>
        </p:txBody>
      </p:sp>
      <p:sp>
        <p:nvSpPr>
          <p:cNvPr id="23" name="Rectangle 22"/>
          <p:cNvSpPr/>
          <p:nvPr/>
        </p:nvSpPr>
        <p:spPr>
          <a:xfrm>
            <a:off x="8686800" y="3063240"/>
            <a:ext cx="274320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2600" b="1" i="0">
                <a:solidFill>
                  <a:srgbClr val="112E5C"/>
                </a:solidFill>
              </a:rPr>
              <a:t>6</a:t>
            </a:r>
          </a:p>
        </p:txBody>
      </p:sp>
      <p:sp>
        <p:nvSpPr>
          <p:cNvPr id="24" name="Rectangle 23"/>
          <p:cNvSpPr/>
          <p:nvPr/>
        </p:nvSpPr>
        <p:spPr>
          <a:xfrm>
            <a:off x="8686800" y="3566160"/>
            <a:ext cx="27432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actions in the shortest solution</a:t>
            </a:r>
          </a:p>
        </p:txBody>
      </p:sp>
      <p:sp>
        <p:nvSpPr>
          <p:cNvPr id="25" name="Rectangle 24"/>
          <p:cNvSpPr/>
          <p:nvPr/>
        </p:nvSpPr>
        <p:spPr>
          <a:xfrm>
            <a:off x="914400" y="45262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The state is exactly the pair of jug contents. Nothing else is ever consulted.</a:t>
            </a:r>
          </a:p>
        </p:txBody>
      </p:sp>
      <p:sp>
        <p:nvSpPr>
          <p:cNvPr id="26" name="Rectangle 25"/>
          <p:cNvSpPr/>
          <p:nvPr/>
        </p:nvSpPr>
        <p:spPr>
          <a:xfrm>
            <a:off x="914400" y="49377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Not in the state: how much water you have poured in total, how long it took, or the number 4 itself.</a:t>
            </a:r>
          </a:p>
        </p:txBody>
      </p:sp>
      <p:sp>
        <p:nvSpPr>
          <p:cNvPr id="27" name="Rectangle 26"/>
          <p:cNvSpPr/>
          <p:nvPr/>
        </p:nvSpPr>
        <p:spPr>
          <a:xfrm>
            <a:off x="914400" y="5440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350" b="0" i="0">
                <a:solidFill>
                  <a:srgbClr val="5C6B80"/>
                </a:solidFill>
              </a:rPr>
              <a:t>The goal is a property of a state, not a state you have to name in advance.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Quiz: How Big Is the Search Tree?</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ectangle 6"/>
          <p:cNvSpPr/>
          <p:nvPr/>
        </p:nvSpPr>
        <p:spPr>
          <a:xfrm>
            <a:off x="777240" y="1417320"/>
            <a:ext cx="4114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400" b="1" i="0">
                <a:solidFill>
                  <a:srgbClr val="112E5C"/>
                </a:solidFill>
              </a:rPr>
              <a:t>Consider this four-state graph</a:t>
            </a:r>
          </a:p>
        </p:txBody>
      </p:sp>
      <p:cxnSp>
        <p:nvCxnSpPr>
          <p:cNvPr id="8" name="Connector 7"/>
          <p:cNvCxnSpPr/>
          <p:nvPr/>
        </p:nvCxnSpPr>
        <p:spPr>
          <a:xfrm flipV="1">
            <a:off x="1371600" y="2468880"/>
            <a:ext cx="13716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71600" y="3383280"/>
            <a:ext cx="13716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743200" y="2468880"/>
            <a:ext cx="13716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743200" y="3383280"/>
            <a:ext cx="13716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743200" y="2468880"/>
            <a:ext cx="0" cy="18288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74420" y="3086100"/>
            <a:ext cx="594360" cy="594360"/>
          </a:xfrm>
          <a:prstGeom prst="ellipse">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S</a:t>
            </a:r>
          </a:p>
        </p:txBody>
      </p:sp>
      <p:sp>
        <p:nvSpPr>
          <p:cNvPr id="14" name="Oval 13"/>
          <p:cNvSpPr/>
          <p:nvPr/>
        </p:nvSpPr>
        <p:spPr>
          <a:xfrm>
            <a:off x="2446020" y="217170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a</a:t>
            </a:r>
          </a:p>
        </p:txBody>
      </p:sp>
      <p:sp>
        <p:nvSpPr>
          <p:cNvPr id="15" name="Oval 14"/>
          <p:cNvSpPr/>
          <p:nvPr/>
        </p:nvSpPr>
        <p:spPr>
          <a:xfrm>
            <a:off x="2446020" y="400050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b</a:t>
            </a:r>
          </a:p>
        </p:txBody>
      </p:sp>
      <p:sp>
        <p:nvSpPr>
          <p:cNvPr id="16" name="Oval 15"/>
          <p:cNvSpPr/>
          <p:nvPr/>
        </p:nvSpPr>
        <p:spPr>
          <a:xfrm>
            <a:off x="3817620" y="3086100"/>
            <a:ext cx="594360" cy="594360"/>
          </a:xfrm>
          <a:prstGeom prst="ellipse">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G</a:t>
            </a:r>
          </a:p>
        </p:txBody>
      </p:sp>
      <p:sp>
        <p:nvSpPr>
          <p:cNvPr id="17" name="Rectangle 16"/>
          <p:cNvSpPr/>
          <p:nvPr/>
        </p:nvSpPr>
        <p:spPr>
          <a:xfrm>
            <a:off x="777240" y="4663440"/>
            <a:ext cx="4114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200" b="0" i="0">
                <a:solidFill>
                  <a:srgbClr val="5C6B80"/>
                </a:solidFill>
              </a:rPr>
              <a:t>a and b are connected in both directions</a:t>
            </a:r>
          </a:p>
        </p:txBody>
      </p:sp>
      <p:sp>
        <p:nvSpPr>
          <p:cNvPr id="18" name="Rectangle 17"/>
          <p:cNvSpPr/>
          <p:nvPr/>
        </p:nvSpPr>
        <p:spPr>
          <a:xfrm>
            <a:off x="6385560" y="1417320"/>
            <a:ext cx="50292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400" b="1" i="0">
                <a:solidFill>
                  <a:srgbClr val="112E5C"/>
                </a:solidFill>
              </a:rPr>
              <a:t>How big is its search tree, rooted at S?</a:t>
            </a:r>
          </a:p>
        </p:txBody>
      </p:sp>
      <p:cxnSp>
        <p:nvCxnSpPr>
          <p:cNvPr id="19" name="Connector 18"/>
          <p:cNvCxnSpPr/>
          <p:nvPr/>
        </p:nvCxnSpPr>
        <p:spPr>
          <a:xfrm flipH="1">
            <a:off x="7315200" y="1965960"/>
            <a:ext cx="1066800" cy="777240"/>
          </a:xfrm>
          <a:prstGeom prst="line">
            <a:avLst/>
          </a:prstGeom>
          <a:ln w="1524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382000" y="1965960"/>
            <a:ext cx="1066800" cy="777240"/>
          </a:xfrm>
          <a:prstGeom prst="line">
            <a:avLst/>
          </a:prstGeom>
          <a:ln w="1524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629400" y="2743200"/>
            <a:ext cx="685800" cy="777240"/>
          </a:xfrm>
          <a:prstGeom prst="line">
            <a:avLst/>
          </a:prstGeom>
          <a:ln w="1524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15200" y="2743200"/>
            <a:ext cx="685800" cy="777240"/>
          </a:xfrm>
          <a:prstGeom prst="line">
            <a:avLst/>
          </a:prstGeom>
          <a:ln w="1524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8763000" y="2743200"/>
            <a:ext cx="685800" cy="777240"/>
          </a:xfrm>
          <a:prstGeom prst="line">
            <a:avLst/>
          </a:prstGeom>
          <a:ln w="1524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448800" y="2743200"/>
            <a:ext cx="685800" cy="777240"/>
          </a:xfrm>
          <a:prstGeom prst="line">
            <a:avLst/>
          </a:prstGeom>
          <a:ln w="15240">
            <a:solidFill>
              <a:srgbClr val="5C6B8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263640" y="3520440"/>
            <a:ext cx="365760" cy="640080"/>
          </a:xfrm>
          <a:prstGeom prst="line">
            <a:avLst/>
          </a:prstGeom>
          <a:ln w="15240">
            <a:solidFill>
              <a:srgbClr val="5C6B80"/>
            </a:solidFill>
            <a:prstDash val="sys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629400" y="3520440"/>
            <a:ext cx="365760" cy="640080"/>
          </a:xfrm>
          <a:prstGeom prst="line">
            <a:avLst/>
          </a:prstGeom>
          <a:ln w="15240">
            <a:solidFill>
              <a:srgbClr val="5C6B80"/>
            </a:solidFill>
            <a:prstDash val="sys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8397240" y="3520440"/>
            <a:ext cx="365760" cy="640080"/>
          </a:xfrm>
          <a:prstGeom prst="line">
            <a:avLst/>
          </a:prstGeom>
          <a:ln w="15240">
            <a:solidFill>
              <a:srgbClr val="5C6B80"/>
            </a:solidFill>
            <a:prstDash val="sysDash"/>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763000" y="3520440"/>
            <a:ext cx="365760" cy="640080"/>
          </a:xfrm>
          <a:prstGeom prst="line">
            <a:avLst/>
          </a:prstGeom>
          <a:ln w="15240">
            <a:solidFill>
              <a:srgbClr val="5C6B80"/>
            </a:solidFill>
            <a:prstDash val="sysDash"/>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8153400" y="1737360"/>
            <a:ext cx="457200" cy="45720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112E5C"/>
                </a:solidFill>
              </a:rPr>
              <a:t>s</a:t>
            </a:r>
          </a:p>
        </p:txBody>
      </p:sp>
      <p:sp>
        <p:nvSpPr>
          <p:cNvPr id="30" name="Oval 29"/>
          <p:cNvSpPr/>
          <p:nvPr/>
        </p:nvSpPr>
        <p:spPr>
          <a:xfrm>
            <a:off x="7086600" y="2514600"/>
            <a:ext cx="457200" cy="45720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112E5C"/>
                </a:solidFill>
              </a:rPr>
              <a:t>a</a:t>
            </a:r>
          </a:p>
        </p:txBody>
      </p:sp>
      <p:sp>
        <p:nvSpPr>
          <p:cNvPr id="31" name="Oval 30"/>
          <p:cNvSpPr/>
          <p:nvPr/>
        </p:nvSpPr>
        <p:spPr>
          <a:xfrm>
            <a:off x="9220200" y="2514600"/>
            <a:ext cx="457200" cy="45720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112E5C"/>
                </a:solidFill>
              </a:rPr>
              <a:t>b</a:t>
            </a:r>
          </a:p>
        </p:txBody>
      </p:sp>
      <p:sp>
        <p:nvSpPr>
          <p:cNvPr id="32" name="Oval 31"/>
          <p:cNvSpPr/>
          <p:nvPr/>
        </p:nvSpPr>
        <p:spPr>
          <a:xfrm>
            <a:off x="6400800" y="3291840"/>
            <a:ext cx="457200" cy="45720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112E5C"/>
                </a:solidFill>
              </a:rPr>
              <a:t>b</a:t>
            </a:r>
          </a:p>
        </p:txBody>
      </p:sp>
      <p:sp>
        <p:nvSpPr>
          <p:cNvPr id="33" name="Oval 32"/>
          <p:cNvSpPr/>
          <p:nvPr/>
        </p:nvSpPr>
        <p:spPr>
          <a:xfrm>
            <a:off x="7772400" y="3291840"/>
            <a:ext cx="457200" cy="45720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112E5C"/>
                </a:solidFill>
              </a:rPr>
              <a:t>G</a:t>
            </a:r>
          </a:p>
        </p:txBody>
      </p:sp>
      <p:sp>
        <p:nvSpPr>
          <p:cNvPr id="34" name="Oval 33"/>
          <p:cNvSpPr/>
          <p:nvPr/>
        </p:nvSpPr>
        <p:spPr>
          <a:xfrm>
            <a:off x="8534400" y="3291840"/>
            <a:ext cx="457200" cy="45720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112E5C"/>
                </a:solidFill>
              </a:rPr>
              <a:t>a</a:t>
            </a:r>
          </a:p>
        </p:txBody>
      </p:sp>
      <p:sp>
        <p:nvSpPr>
          <p:cNvPr id="35" name="Oval 34"/>
          <p:cNvSpPr/>
          <p:nvPr/>
        </p:nvSpPr>
        <p:spPr>
          <a:xfrm>
            <a:off x="9906000" y="3291840"/>
            <a:ext cx="457200" cy="45720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i="0">
                <a:solidFill>
                  <a:srgbClr val="112E5C"/>
                </a:solidFill>
              </a:rPr>
              <a:t>G</a:t>
            </a:r>
          </a:p>
        </p:txBody>
      </p:sp>
      <p:sp>
        <p:nvSpPr>
          <p:cNvPr id="36" name="Rectangle 35"/>
          <p:cNvSpPr/>
          <p:nvPr/>
        </p:nvSpPr>
        <p:spPr>
          <a:xfrm>
            <a:off x="6080760" y="4297680"/>
            <a:ext cx="10972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800" b="0" i="0">
                <a:solidFill>
                  <a:srgbClr val="5C6B80"/>
                </a:solidFill>
              </a:rPr>
              <a:t>…</a:t>
            </a:r>
          </a:p>
        </p:txBody>
      </p:sp>
      <p:sp>
        <p:nvSpPr>
          <p:cNvPr id="37" name="Rectangle 36"/>
          <p:cNvSpPr/>
          <p:nvPr/>
        </p:nvSpPr>
        <p:spPr>
          <a:xfrm>
            <a:off x="8214360" y="4297680"/>
            <a:ext cx="10972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800" b="0" i="0">
                <a:solidFill>
                  <a:srgbClr val="5C6B80"/>
                </a:solidFill>
              </a:rPr>
              <a:t>…</a:t>
            </a:r>
          </a:p>
        </p:txBody>
      </p:sp>
      <p:sp>
        <p:nvSpPr>
          <p:cNvPr id="38" name="Rectangle 37"/>
          <p:cNvSpPr/>
          <p:nvPr/>
        </p:nvSpPr>
        <p:spPr>
          <a:xfrm>
            <a:off x="10515600" y="4114800"/>
            <a:ext cx="899160" cy="5943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4400" b="1" i="0">
                <a:solidFill>
                  <a:srgbClr val="9B1C1C"/>
                </a:solidFill>
              </a:rPr>
              <a:t>∞</a:t>
            </a:r>
          </a:p>
        </p:txBody>
      </p:sp>
      <p:sp>
        <p:nvSpPr>
          <p:cNvPr id="39" name="Rectangle 38"/>
          <p:cNvSpPr/>
          <p:nvPr/>
        </p:nvSpPr>
        <p:spPr>
          <a:xfrm>
            <a:off x="914400" y="502920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Four states. An infinite search tree, because a ↔ b can be traversed forever.</a:t>
            </a:r>
          </a:p>
        </p:txBody>
      </p:sp>
      <p:sp>
        <p:nvSpPr>
          <p:cNvPr id="40" name="Rectangle 39"/>
          <p:cNvSpPr/>
          <p:nvPr/>
        </p:nvSpPr>
        <p:spPr>
          <a:xfrm>
            <a:off x="914400" y="5440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The repeated structure in the tree is the entire motivation for the reached table and for cycle checking.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The Frontier Separates Two Regions</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Oval 6"/>
          <p:cNvSpPr/>
          <p:nvPr/>
        </p:nvSpPr>
        <p:spPr>
          <a:xfrm>
            <a:off x="7025640" y="1463040"/>
            <a:ext cx="3474720" cy="3474720"/>
          </a:xfrm>
          <a:prstGeom prst="ellipse">
            <a:avLst/>
          </a:prstGeom>
          <a:solidFill>
            <a:srgbClr val="FFFFFF"/>
          </a:solidFill>
          <a:ln w="1524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8" name="Oval 7"/>
          <p:cNvSpPr/>
          <p:nvPr/>
        </p:nvSpPr>
        <p:spPr>
          <a:xfrm>
            <a:off x="7574280" y="2011680"/>
            <a:ext cx="2377440" cy="2377440"/>
          </a:xfrm>
          <a:prstGeom prst="ellipse">
            <a:avLst/>
          </a:prstGeom>
          <a:solidFill>
            <a:srgbClr val="FFE5B6"/>
          </a:solidFill>
          <a:ln w="1524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9" name="Oval 8"/>
          <p:cNvSpPr/>
          <p:nvPr/>
        </p:nvSpPr>
        <p:spPr>
          <a:xfrm>
            <a:off x="8077200" y="2514600"/>
            <a:ext cx="1371600" cy="1371600"/>
          </a:xfrm>
          <a:prstGeom prst="ellipse">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0" name="Rectangle 9"/>
          <p:cNvSpPr/>
          <p:nvPr/>
        </p:nvSpPr>
        <p:spPr>
          <a:xfrm>
            <a:off x="8077200" y="3063240"/>
            <a:ext cx="1371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1" i="0">
                <a:solidFill>
                  <a:srgbClr val="112E5C"/>
                </a:solidFill>
              </a:rPr>
              <a:t>expanded</a:t>
            </a:r>
          </a:p>
        </p:txBody>
      </p:sp>
      <p:sp>
        <p:nvSpPr>
          <p:cNvPr id="11" name="Rectangle 10"/>
          <p:cNvSpPr/>
          <p:nvPr/>
        </p:nvSpPr>
        <p:spPr>
          <a:xfrm>
            <a:off x="8077200" y="1965960"/>
            <a:ext cx="13716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1" i="0">
                <a:solidFill>
                  <a:srgbClr val="112E5C"/>
                </a:solidFill>
              </a:rPr>
              <a:t>frontier</a:t>
            </a:r>
          </a:p>
        </p:txBody>
      </p:sp>
      <p:sp>
        <p:nvSpPr>
          <p:cNvPr id="12" name="Rectangle 11"/>
          <p:cNvSpPr/>
          <p:nvPr/>
        </p:nvSpPr>
        <p:spPr>
          <a:xfrm>
            <a:off x="7574280" y="1417320"/>
            <a:ext cx="237744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0" i="0">
                <a:solidFill>
                  <a:srgbClr val="5C6B80"/>
                </a:solidFill>
              </a:rPr>
              <a:t>not yet reached</a:t>
            </a:r>
          </a:p>
        </p:txBody>
      </p:sp>
      <p:sp>
        <p:nvSpPr>
          <p:cNvPr id="13" name="Rounded Rectangle 12"/>
          <p:cNvSpPr/>
          <p:nvPr/>
        </p:nvSpPr>
        <p:spPr>
          <a:xfrm>
            <a:off x="777240" y="1554480"/>
            <a:ext cx="17830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50" b="1" i="0">
                <a:solidFill>
                  <a:srgbClr val="112E5C"/>
                </a:solidFill>
              </a:rPr>
              <a:t>Interior</a:t>
            </a:r>
          </a:p>
        </p:txBody>
      </p:sp>
      <p:sp>
        <p:nvSpPr>
          <p:cNvPr id="14" name="Rectangle 13"/>
          <p:cNvSpPr/>
          <p:nvPr/>
        </p:nvSpPr>
        <p:spPr>
          <a:xfrm>
            <a:off x="2697480" y="1554480"/>
            <a:ext cx="32004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Every state here has already been expanded.</a:t>
            </a:r>
          </a:p>
        </p:txBody>
      </p:sp>
      <p:sp>
        <p:nvSpPr>
          <p:cNvPr id="15" name="Rounded Rectangle 14"/>
          <p:cNvSpPr/>
          <p:nvPr/>
        </p:nvSpPr>
        <p:spPr>
          <a:xfrm>
            <a:off x="777240" y="2286000"/>
            <a:ext cx="178308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50" b="1" i="0">
                <a:solidFill>
                  <a:srgbClr val="112E5C"/>
                </a:solidFill>
              </a:rPr>
              <a:t>Frontier</a:t>
            </a:r>
          </a:p>
        </p:txBody>
      </p:sp>
      <p:sp>
        <p:nvSpPr>
          <p:cNvPr id="16" name="Rectangle 15"/>
          <p:cNvSpPr/>
          <p:nvPr/>
        </p:nvSpPr>
        <p:spPr>
          <a:xfrm>
            <a:off x="2697480" y="2286000"/>
            <a:ext cx="32004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Generated but not yet expanded. The boundary itself.</a:t>
            </a:r>
          </a:p>
        </p:txBody>
      </p:sp>
      <p:sp>
        <p:nvSpPr>
          <p:cNvPr id="17" name="Rounded Rectangle 16"/>
          <p:cNvSpPr/>
          <p:nvPr/>
        </p:nvSpPr>
        <p:spPr>
          <a:xfrm>
            <a:off x="777240" y="3017520"/>
            <a:ext cx="1783080" cy="411480"/>
          </a:xfrm>
          <a:prstGeom prst="roundRect">
            <a:avLst>
              <a:gd name="adj" fmla="val 15384"/>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50" b="1" i="0">
                <a:solidFill>
                  <a:srgbClr val="112E5C"/>
                </a:solidFill>
              </a:rPr>
              <a:t>Exterior</a:t>
            </a:r>
          </a:p>
        </p:txBody>
      </p:sp>
      <p:sp>
        <p:nvSpPr>
          <p:cNvPr id="18" name="Rectangle 17"/>
          <p:cNvSpPr/>
          <p:nvPr/>
        </p:nvSpPr>
        <p:spPr>
          <a:xfrm>
            <a:off x="2697480" y="3017520"/>
            <a:ext cx="32004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Not yet reached. No node has been generated for it.</a:t>
            </a:r>
          </a:p>
        </p:txBody>
      </p:sp>
      <p:sp>
        <p:nvSpPr>
          <p:cNvPr id="19" name="Rectangle 18"/>
          <p:cNvSpPr/>
          <p:nvPr/>
        </p:nvSpPr>
        <p:spPr>
          <a:xfrm>
            <a:off x="914400" y="4297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Every path from an expanded state to an unreached state must cross the frontier.</a:t>
            </a:r>
          </a:p>
        </p:txBody>
      </p:sp>
      <p:sp>
        <p:nvSpPr>
          <p:cNvPr id="20" name="Rectangle 19"/>
          <p:cNvSpPr/>
          <p:nvPr/>
        </p:nvSpPr>
        <p:spPr>
          <a:xfrm>
            <a:off x="914400" y="47548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That is why the frontier is the only thing the algorithm has to hold on to — and why its size is the space complexity of the search.</a:t>
            </a:r>
          </a:p>
        </p:txBody>
      </p:sp>
      <p:sp>
        <p:nvSpPr>
          <p:cNvPr id="21" name="Rectangle 20"/>
          <p:cNvSpPr/>
          <p:nvPr/>
        </p:nvSpPr>
        <p:spPr>
          <a:xfrm>
            <a:off x="914400" y="53035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350" b="0" i="0">
                <a:solidFill>
                  <a:srgbClr val="5C6B80"/>
                </a:solidFill>
              </a:rPr>
              <a:t>Reached is a separate structure: the set of states any node has been generated for, whether or not that node has been expanded.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Best-First Search: One Algorithm, Many Instances</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760720" cy="2926080"/>
          </a:xfrm>
          <a:prstGeom prst="roundRect">
            <a:avLst>
              <a:gd name="adj" fmla="val 4500"/>
            </a:avLst>
          </a:prstGeom>
          <a:solidFill>
            <a:srgbClr val="0B1020"/>
          </a:solidFill>
          <a:ln w="12700">
            <a:solidFill>
              <a:srgbClr val="0B1020"/>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8" name="Rectangle 7"/>
          <p:cNvSpPr/>
          <p:nvPr/>
        </p:nvSpPr>
        <p:spPr>
          <a:xfrm>
            <a:off x="941832" y="1554480"/>
            <a:ext cx="5431536" cy="2651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150"/>
              </a:spcAft>
            </a:pPr>
            <a:r>
              <a:rPr sz="1100" b="0" i="0">
                <a:solidFill>
                  <a:srgbClr val="EAF2FF"/>
                </a:solidFill>
                <a:latin typeface="Consolas"/>
              </a:rPr>
              <a:t>function BEST-FIRST-SEARCH(problem, f) returns a node or failure</a:t>
            </a:r>
          </a:p>
          <a:p>
            <a:pPr algn="l">
              <a:spcAft>
                <a:spcPts val="150"/>
              </a:spcAft>
            </a:pPr>
            <a:r>
              <a:rPr sz="1100" b="0" i="0">
                <a:solidFill>
                  <a:srgbClr val="EAF2FF"/>
                </a:solidFill>
                <a:latin typeface="Consolas"/>
              </a:rPr>
              <a:t/>
            </a:r>
          </a:p>
          <a:p>
            <a:pPr algn="l">
              <a:spcAft>
                <a:spcPts val="150"/>
              </a:spcAft>
            </a:pPr>
            <a:r>
              <a:rPr sz="1100" b="0" i="0">
                <a:solidFill>
                  <a:srgbClr val="EAF2FF"/>
                </a:solidFill>
                <a:latin typeface="Consolas"/>
              </a:rPr>
              <a:t>    node ← NODE(STATE = problem.INITIAL)</a:t>
            </a:r>
          </a:p>
          <a:p>
            <a:pPr algn="l">
              <a:spcAft>
                <a:spcPts val="150"/>
              </a:spcAft>
            </a:pPr>
            <a:r>
              <a:rPr sz="1100" b="0" i="0">
                <a:solidFill>
                  <a:srgbClr val="EAF2FF"/>
                </a:solidFill>
                <a:latin typeface="Consolas"/>
              </a:rPr>
              <a:t>    frontier ← priority queue ordered by f, containing node</a:t>
            </a:r>
          </a:p>
          <a:p>
            <a:pPr algn="l">
              <a:spcAft>
                <a:spcPts val="150"/>
              </a:spcAft>
            </a:pPr>
            <a:r>
              <a:rPr sz="1100" b="0" i="0">
                <a:solidFill>
                  <a:srgbClr val="EAF2FF"/>
                </a:solidFill>
                <a:latin typeface="Consolas"/>
              </a:rPr>
              <a:t>    reached ← lookup table {problem.INITIAL : node}</a:t>
            </a:r>
          </a:p>
          <a:p>
            <a:pPr algn="l">
              <a:spcAft>
                <a:spcPts val="150"/>
              </a:spcAft>
            </a:pPr>
            <a:r>
              <a:rPr sz="1100" b="0" i="0">
                <a:solidFill>
                  <a:srgbClr val="EAF2FF"/>
                </a:solidFill>
                <a:latin typeface="Consolas"/>
              </a:rPr>
              <a:t/>
            </a:r>
          </a:p>
          <a:p>
            <a:pPr algn="l">
              <a:spcAft>
                <a:spcPts val="150"/>
              </a:spcAft>
            </a:pPr>
            <a:r>
              <a:rPr sz="1100" b="0" i="0">
                <a:solidFill>
                  <a:srgbClr val="EAF2FF"/>
                </a:solidFill>
                <a:latin typeface="Consolas"/>
              </a:rPr>
              <a:t>    while not IS-EMPTY(frontier) do</a:t>
            </a:r>
          </a:p>
          <a:p>
            <a:pPr algn="l">
              <a:spcAft>
                <a:spcPts val="150"/>
              </a:spcAft>
            </a:pPr>
            <a:r>
              <a:rPr sz="1100" b="0" i="0">
                <a:solidFill>
                  <a:srgbClr val="EAF2FF"/>
                </a:solidFill>
                <a:latin typeface="Consolas"/>
              </a:rPr>
              <a:t>        node ← POP(frontier)</a:t>
            </a:r>
          </a:p>
          <a:p>
            <a:pPr algn="l">
              <a:spcAft>
                <a:spcPts val="150"/>
              </a:spcAft>
            </a:pPr>
            <a:r>
              <a:rPr sz="1100" b="0" i="0">
                <a:solidFill>
                  <a:srgbClr val="EAF2FF"/>
                </a:solidFill>
                <a:latin typeface="Consolas"/>
              </a:rPr>
              <a:t>        if problem.IS-GOAL(node.STATE) then return node</a:t>
            </a:r>
          </a:p>
          <a:p>
            <a:pPr algn="l">
              <a:spcAft>
                <a:spcPts val="150"/>
              </a:spcAft>
            </a:pPr>
            <a:r>
              <a:rPr sz="1100" b="0" i="0">
                <a:solidFill>
                  <a:srgbClr val="EAF2FF"/>
                </a:solidFill>
                <a:latin typeface="Consolas"/>
              </a:rPr>
              <a:t>        for each child in EXPAND(problem, node) do</a:t>
            </a:r>
          </a:p>
          <a:p>
            <a:pPr algn="l">
              <a:spcAft>
                <a:spcPts val="150"/>
              </a:spcAft>
            </a:pPr>
            <a:r>
              <a:rPr sz="1100" b="0" i="0">
                <a:solidFill>
                  <a:srgbClr val="EAF2FF"/>
                </a:solidFill>
                <a:latin typeface="Consolas"/>
              </a:rPr>
              <a:t>            s ← child.STATE</a:t>
            </a:r>
          </a:p>
          <a:p>
            <a:pPr algn="l">
              <a:spcAft>
                <a:spcPts val="150"/>
              </a:spcAft>
            </a:pPr>
            <a:r>
              <a:rPr sz="1100" b="0" i="0">
                <a:solidFill>
                  <a:srgbClr val="EAF2FF"/>
                </a:solidFill>
                <a:latin typeface="Consolas"/>
              </a:rPr>
              <a:t>            if s not in reached or</a:t>
            </a:r>
          </a:p>
          <a:p>
            <a:pPr algn="l">
              <a:spcAft>
                <a:spcPts val="150"/>
              </a:spcAft>
            </a:pPr>
            <a:r>
              <a:rPr sz="1100" b="0" i="0">
                <a:solidFill>
                  <a:srgbClr val="EAF2FF"/>
                </a:solidFill>
                <a:latin typeface="Consolas"/>
              </a:rPr>
              <a:t>               child.PATH-COST &lt; reached[s].PATH-COST then</a:t>
            </a:r>
          </a:p>
          <a:p>
            <a:pPr algn="l">
              <a:spcAft>
                <a:spcPts val="150"/>
              </a:spcAft>
            </a:pPr>
            <a:r>
              <a:rPr sz="1100" b="0" i="0">
                <a:solidFill>
                  <a:srgbClr val="EAF2FF"/>
                </a:solidFill>
                <a:latin typeface="Consolas"/>
              </a:rPr>
              <a:t>                reached[s] ← child</a:t>
            </a:r>
          </a:p>
          <a:p>
            <a:pPr algn="l">
              <a:spcAft>
                <a:spcPts val="150"/>
              </a:spcAft>
            </a:pPr>
            <a:r>
              <a:rPr sz="1100" b="0" i="0">
                <a:solidFill>
                  <a:srgbClr val="EAF2FF"/>
                </a:solidFill>
                <a:latin typeface="Consolas"/>
              </a:rPr>
              <a:t>                ADD(child, frontier)</a:t>
            </a:r>
          </a:p>
          <a:p>
            <a:pPr algn="l">
              <a:spcAft>
                <a:spcPts val="150"/>
              </a:spcAft>
            </a:pPr>
            <a:r>
              <a:rPr sz="1100" b="0" i="0">
                <a:solidFill>
                  <a:srgbClr val="EAF2FF"/>
                </a:solidFill>
                <a:latin typeface="Consolas"/>
              </a:rPr>
              <a:t>    return failure</a:t>
            </a:r>
          </a:p>
        </p:txBody>
      </p:sp>
      <p:sp>
        <p:nvSpPr>
          <p:cNvPr id="9" name="Rounded Rectangle 8"/>
          <p:cNvSpPr/>
          <p:nvPr/>
        </p:nvSpPr>
        <p:spPr>
          <a:xfrm>
            <a:off x="6659880" y="1417320"/>
            <a:ext cx="4754880" cy="502920"/>
          </a:xfrm>
          <a:prstGeom prst="roundRect">
            <a:avLst>
              <a:gd name="adj" fmla="val 11000"/>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0" i="0">
                <a:solidFill>
                  <a:srgbClr val="FFFFFF"/>
                </a:solidFill>
              </a:rPr>
              <a:t>Pop the frontier node with minimum  </a:t>
            </a:r>
            <a:r>
              <a:rPr sz="1700" b="1" i="0">
                <a:solidFill>
                  <a:srgbClr val="FFFFFF"/>
                </a:solidFill>
              </a:rPr>
              <a:t>f(n)</a:t>
            </a:r>
          </a:p>
        </p:txBody>
      </p:sp>
      <p:sp>
        <p:nvSpPr>
          <p:cNvPr id="10" name="Rounded Rectangle 9"/>
          <p:cNvSpPr/>
          <p:nvPr/>
        </p:nvSpPr>
        <p:spPr>
          <a:xfrm>
            <a:off x="6659880" y="2103120"/>
            <a:ext cx="10972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BFS</a:t>
            </a:r>
          </a:p>
        </p:txBody>
      </p:sp>
      <p:sp>
        <p:nvSpPr>
          <p:cNvPr id="11" name="Rectangle 10"/>
          <p:cNvSpPr/>
          <p:nvPr/>
        </p:nvSpPr>
        <p:spPr>
          <a:xfrm>
            <a:off x="7894320" y="2103120"/>
            <a:ext cx="3520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400" b="1" i="0">
                <a:solidFill>
                  <a:srgbClr val="102A4C"/>
                </a:solidFill>
              </a:rPr>
              <a:t>f(n) = depth(n)</a:t>
            </a:r>
          </a:p>
        </p:txBody>
      </p:sp>
      <p:sp>
        <p:nvSpPr>
          <p:cNvPr id="12" name="Rounded Rectangle 11"/>
          <p:cNvSpPr/>
          <p:nvPr/>
        </p:nvSpPr>
        <p:spPr>
          <a:xfrm>
            <a:off x="6659880" y="2697480"/>
            <a:ext cx="10972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UCS</a:t>
            </a:r>
          </a:p>
        </p:txBody>
      </p:sp>
      <p:sp>
        <p:nvSpPr>
          <p:cNvPr id="13" name="Rectangle 12"/>
          <p:cNvSpPr/>
          <p:nvPr/>
        </p:nvSpPr>
        <p:spPr>
          <a:xfrm>
            <a:off x="7894320" y="2697480"/>
            <a:ext cx="3520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400" b="1" i="0">
                <a:solidFill>
                  <a:srgbClr val="102A4C"/>
                </a:solidFill>
              </a:rPr>
              <a:t>f(n) = g(n), the path cost</a:t>
            </a:r>
          </a:p>
        </p:txBody>
      </p:sp>
      <p:sp>
        <p:nvSpPr>
          <p:cNvPr id="14" name="Rounded Rectangle 13"/>
          <p:cNvSpPr/>
          <p:nvPr/>
        </p:nvSpPr>
        <p:spPr>
          <a:xfrm>
            <a:off x="6659880" y="3291840"/>
            <a:ext cx="109728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DFS</a:t>
            </a:r>
          </a:p>
        </p:txBody>
      </p:sp>
      <p:sp>
        <p:nvSpPr>
          <p:cNvPr id="15" name="Rectangle 14"/>
          <p:cNvSpPr/>
          <p:nvPr/>
        </p:nvSpPr>
        <p:spPr>
          <a:xfrm>
            <a:off x="7894320" y="3291840"/>
            <a:ext cx="3520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400" b="1" i="0">
                <a:solidFill>
                  <a:srgbClr val="102A4C"/>
                </a:solidFill>
              </a:rPr>
              <a:t>f(n) = −depth(n)</a:t>
            </a:r>
          </a:p>
        </p:txBody>
      </p:sp>
      <p:sp>
        <p:nvSpPr>
          <p:cNvPr id="16" name="Rounded Rectangle 15"/>
          <p:cNvSpPr/>
          <p:nvPr/>
        </p:nvSpPr>
        <p:spPr>
          <a:xfrm>
            <a:off x="6659880" y="3977640"/>
            <a:ext cx="4754880" cy="82296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7" name="Rectangle 16"/>
          <p:cNvSpPr/>
          <p:nvPr/>
        </p:nvSpPr>
        <p:spPr>
          <a:xfrm>
            <a:off x="6842760" y="4069080"/>
            <a:ext cx="438912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0" i="0">
                <a:solidFill>
                  <a:srgbClr val="112E5C"/>
                </a:solidFill>
              </a:rPr>
              <a:t>Next lecture adds f(n) = h(n) for greedy best-first, and f(n) = g(n) + h(n) for A*. Same loop, different f.</a:t>
            </a:r>
          </a:p>
        </p:txBody>
      </p:sp>
      <p:sp>
        <p:nvSpPr>
          <p:cNvPr id="18" name="Rectangle 17"/>
          <p:cNvSpPr/>
          <p:nvPr/>
        </p:nvSpPr>
        <p:spPr>
          <a:xfrm>
            <a:off x="914400" y="49377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Change f and you change the algorithm. Everything in Section 3.4 is this loop with a different priority.</a:t>
            </a:r>
          </a:p>
        </p:txBody>
      </p:sp>
      <p:sp>
        <p:nvSpPr>
          <p:cNvPr id="19" name="Rectangle 18"/>
          <p:cNvSpPr/>
          <p:nvPr/>
        </p:nvSpPr>
        <p:spPr>
          <a:xfrm>
            <a:off x="914400" y="55321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400" b="1" i="0">
                <a:solidFill>
                  <a:srgbClr val="9B1C1C"/>
                </a:solidFill>
              </a:rPr>
              <a:t>Note the re-add rule: a node already in reached is replaced when a cheaper path to the same state turns up.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Graph Search vs. Tree-Like Search</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3383280" cy="41148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50" b="1" i="0">
                <a:solidFill>
                  <a:srgbClr val="112E5C"/>
                </a:solidFill>
              </a:rPr>
              <a:t>Graph search</a:t>
            </a:r>
          </a:p>
        </p:txBody>
      </p:sp>
      <p:sp>
        <p:nvSpPr>
          <p:cNvPr id="8" name="Rectangle 7"/>
          <p:cNvSpPr/>
          <p:nvPr/>
        </p:nvSpPr>
        <p:spPr>
          <a:xfrm>
            <a:off x="777240" y="1874520"/>
            <a:ext cx="33832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0" i="0">
                <a:solidFill>
                  <a:srgbClr val="5C6B80"/>
                </a:solidFill>
              </a:rPr>
              <a:t>Remembers every reached state</a:t>
            </a:r>
          </a:p>
        </p:txBody>
      </p:sp>
      <p:sp>
        <p:nvSpPr>
          <p:cNvPr id="9" name="Rounded Rectangle 8"/>
          <p:cNvSpPr/>
          <p:nvPr/>
        </p:nvSpPr>
        <p:spPr>
          <a:xfrm>
            <a:off x="777240" y="2194560"/>
            <a:ext cx="338328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0" name="Rectangle 9"/>
          <p:cNvSpPr/>
          <p:nvPr/>
        </p:nvSpPr>
        <p:spPr>
          <a:xfrm>
            <a:off x="960120" y="2331720"/>
            <a:ext cx="301752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600"/>
              </a:spcAft>
            </a:pPr>
            <a:r>
              <a:rPr sz="1250" b="0" i="0">
                <a:solidFill>
                  <a:srgbClr val="102A4C"/>
                </a:solidFill>
              </a:rPr>
              <a:t>•  Keeps the full reached table</a:t>
            </a:r>
          </a:p>
          <a:p>
            <a:pPr algn="l">
              <a:spcAft>
                <a:spcPts val="600"/>
              </a:spcAft>
            </a:pPr>
            <a:r>
              <a:rPr sz="1250" b="0" i="0">
                <a:solidFill>
                  <a:srgbClr val="102A4C"/>
                </a:solidFill>
              </a:rPr>
              <a:t>•  Detects all redundant paths</a:t>
            </a:r>
          </a:p>
          <a:p>
            <a:pPr algn="l">
              <a:spcAft>
                <a:spcPts val="600"/>
              </a:spcAft>
            </a:pPr>
            <a:r>
              <a:rPr sz="1250" b="0" i="0">
                <a:solidFill>
                  <a:srgbClr val="102A4C"/>
                </a:solidFill>
              </a:rPr>
              <a:t>•  Keeps only the best path to each state</a:t>
            </a:r>
          </a:p>
          <a:p>
            <a:pPr algn="l">
              <a:spcAft>
                <a:spcPts val="600"/>
              </a:spcAft>
            </a:pPr>
            <a:r>
              <a:rPr sz="1250" b="0" i="0">
                <a:solidFill>
                  <a:srgbClr val="102A4C"/>
                </a:solidFill>
              </a:rPr>
              <a:t>•  Preferred whenever the table fits in memory</a:t>
            </a:r>
          </a:p>
        </p:txBody>
      </p:sp>
      <p:sp>
        <p:nvSpPr>
          <p:cNvPr id="11" name="Rounded Rectangle 10"/>
          <p:cNvSpPr/>
          <p:nvPr/>
        </p:nvSpPr>
        <p:spPr>
          <a:xfrm>
            <a:off x="4404360" y="1417320"/>
            <a:ext cx="338328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50" b="1" i="0">
                <a:solidFill>
                  <a:srgbClr val="112E5C"/>
                </a:solidFill>
              </a:rPr>
              <a:t>Cycle checking</a:t>
            </a:r>
          </a:p>
        </p:txBody>
      </p:sp>
      <p:sp>
        <p:nvSpPr>
          <p:cNvPr id="12" name="Rectangle 11"/>
          <p:cNvSpPr/>
          <p:nvPr/>
        </p:nvSpPr>
        <p:spPr>
          <a:xfrm>
            <a:off x="4404360" y="1874520"/>
            <a:ext cx="33832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0" i="0">
                <a:solidFill>
                  <a:srgbClr val="5C6B80"/>
                </a:solidFill>
              </a:rPr>
              <a:t>The middle option</a:t>
            </a:r>
          </a:p>
        </p:txBody>
      </p:sp>
      <p:sp>
        <p:nvSpPr>
          <p:cNvPr id="13" name="Rounded Rectangle 12"/>
          <p:cNvSpPr/>
          <p:nvPr/>
        </p:nvSpPr>
        <p:spPr>
          <a:xfrm>
            <a:off x="4404360" y="2194560"/>
            <a:ext cx="338328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4" name="Rectangle 13"/>
          <p:cNvSpPr/>
          <p:nvPr/>
        </p:nvSpPr>
        <p:spPr>
          <a:xfrm>
            <a:off x="4587240" y="2331720"/>
            <a:ext cx="301752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600"/>
              </a:spcAft>
            </a:pPr>
            <a:r>
              <a:rPr sz="1250" b="0" i="0">
                <a:solidFill>
                  <a:srgbClr val="102A4C"/>
                </a:solidFill>
              </a:rPr>
              <a:t>•  Walks up the parent chain from a node</a:t>
            </a:r>
          </a:p>
          <a:p>
            <a:pPr algn="l">
              <a:spcAft>
                <a:spcPts val="600"/>
              </a:spcAft>
            </a:pPr>
            <a:r>
              <a:rPr sz="1250" b="0" i="0">
                <a:solidFill>
                  <a:srgbClr val="102A4C"/>
                </a:solidFill>
              </a:rPr>
              <a:t>•  Needs no additional memory at all</a:t>
            </a:r>
          </a:p>
          <a:p>
            <a:pPr algn="l">
              <a:spcAft>
                <a:spcPts val="600"/>
              </a:spcAft>
            </a:pPr>
            <a:r>
              <a:rPr sz="1250" b="0" i="0">
                <a:solidFill>
                  <a:srgbClr val="102A4C"/>
                </a:solidFill>
              </a:rPr>
              <a:t>•  Check all the way up, or only a few links</a:t>
            </a:r>
          </a:p>
          <a:p>
            <a:pPr algn="l">
              <a:spcAft>
                <a:spcPts val="600"/>
              </a:spcAft>
            </a:pPr>
            <a:r>
              <a:rPr sz="1250" b="0" i="0">
                <a:solidFill>
                  <a:srgbClr val="102A4C"/>
                </a:solidFill>
              </a:rPr>
              <a:t>•  Catches loops, misses general redundancy</a:t>
            </a:r>
          </a:p>
        </p:txBody>
      </p:sp>
      <p:sp>
        <p:nvSpPr>
          <p:cNvPr id="15" name="Rounded Rectangle 14"/>
          <p:cNvSpPr/>
          <p:nvPr/>
        </p:nvSpPr>
        <p:spPr>
          <a:xfrm>
            <a:off x="8031480" y="1417320"/>
            <a:ext cx="338328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50" b="1" i="0">
                <a:solidFill>
                  <a:srgbClr val="112E5C"/>
                </a:solidFill>
              </a:rPr>
              <a:t>Tree-like search</a:t>
            </a:r>
          </a:p>
        </p:txBody>
      </p:sp>
      <p:sp>
        <p:nvSpPr>
          <p:cNvPr id="16" name="Rectangle 15"/>
          <p:cNvSpPr/>
          <p:nvPr/>
        </p:nvSpPr>
        <p:spPr>
          <a:xfrm>
            <a:off x="8031480" y="1874520"/>
            <a:ext cx="338328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0" i="0">
                <a:solidFill>
                  <a:srgbClr val="5C6B80"/>
                </a:solidFill>
              </a:rPr>
              <a:t>Does not check at all</a:t>
            </a:r>
          </a:p>
        </p:txBody>
      </p:sp>
      <p:sp>
        <p:nvSpPr>
          <p:cNvPr id="17" name="Rounded Rectangle 16"/>
          <p:cNvSpPr/>
          <p:nvPr/>
        </p:nvSpPr>
        <p:spPr>
          <a:xfrm>
            <a:off x="8031480" y="2194560"/>
            <a:ext cx="338328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8" name="Rectangle 17"/>
          <p:cNvSpPr/>
          <p:nvPr/>
        </p:nvSpPr>
        <p:spPr>
          <a:xfrm>
            <a:off x="8214360" y="2331720"/>
            <a:ext cx="301752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600"/>
              </a:spcAft>
            </a:pPr>
            <a:r>
              <a:rPr sz="1250" b="0" i="0">
                <a:solidFill>
                  <a:srgbClr val="102A4C"/>
                </a:solidFill>
              </a:rPr>
              <a:t>•  No reached table is kept</a:t>
            </a:r>
          </a:p>
          <a:p>
            <a:pPr algn="l">
              <a:spcAft>
                <a:spcPts val="600"/>
              </a:spcAft>
            </a:pPr>
            <a:r>
              <a:rPr sz="1250" b="0" i="0">
                <a:solidFill>
                  <a:srgbClr val="102A4C"/>
                </a:solidFill>
              </a:rPr>
              <a:t>•  Much smaller memory footprint</a:t>
            </a:r>
          </a:p>
          <a:p>
            <a:pPr algn="l">
              <a:spcAft>
                <a:spcPts val="600"/>
              </a:spcAft>
            </a:pPr>
            <a:r>
              <a:rPr sz="1250" b="0" i="0">
                <a:solidFill>
                  <a:srgbClr val="102A4C"/>
                </a:solidFill>
              </a:rPr>
              <a:t>•  Re-examines the same state via many paths</a:t>
            </a:r>
          </a:p>
          <a:p>
            <a:pPr algn="l">
              <a:spcAft>
                <a:spcPts val="600"/>
              </a:spcAft>
            </a:pPr>
            <a:r>
              <a:rPr sz="1250" b="0" i="0">
                <a:solidFill>
                  <a:srgbClr val="102A4C"/>
                </a:solidFill>
              </a:rPr>
              <a:t>•  Fine when two paths rarely meet</a:t>
            </a:r>
          </a:p>
        </p:txBody>
      </p:sp>
      <p:sp>
        <p:nvSpPr>
          <p:cNvPr id="19" name="Rounded Rectangle 18"/>
          <p:cNvSpPr/>
          <p:nvPr/>
        </p:nvSpPr>
        <p:spPr>
          <a:xfrm>
            <a:off x="914400" y="4114800"/>
            <a:ext cx="10424160" cy="59436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0" name="Rectangle 19"/>
          <p:cNvSpPr/>
          <p:nvPr/>
        </p:nvSpPr>
        <p:spPr>
          <a:xfrm>
            <a:off x="1097280" y="4160520"/>
            <a:ext cx="118872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2400" b="1" i="0">
                <a:solidFill>
                  <a:srgbClr val="9B1C1C"/>
                </a:solidFill>
              </a:rPr>
              <a:t>100</a:t>
            </a:r>
          </a:p>
        </p:txBody>
      </p:sp>
      <p:sp>
        <p:nvSpPr>
          <p:cNvPr id="21" name="Rectangle 20"/>
          <p:cNvSpPr/>
          <p:nvPr/>
        </p:nvSpPr>
        <p:spPr>
          <a:xfrm>
            <a:off x="2377440" y="416052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200" b="0" i="0">
                <a:solidFill>
                  <a:srgbClr val="5C6B80"/>
                </a:solidFill>
              </a:rPr>
              <a:t>cells in a 10 × 10 grid world</a:t>
            </a:r>
          </a:p>
        </p:txBody>
      </p:sp>
      <p:sp>
        <p:nvSpPr>
          <p:cNvPr id="22" name="Rectangle 21"/>
          <p:cNvSpPr/>
          <p:nvPr/>
        </p:nvSpPr>
        <p:spPr>
          <a:xfrm>
            <a:off x="4480560" y="4160520"/>
            <a:ext cx="118872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2400" b="1" i="0">
                <a:solidFill>
                  <a:srgbClr val="9B1C1C"/>
                </a:solidFill>
              </a:rPr>
              <a:t>≤ 9</a:t>
            </a:r>
          </a:p>
        </p:txBody>
      </p:sp>
      <p:sp>
        <p:nvSpPr>
          <p:cNvPr id="23" name="Rectangle 22"/>
          <p:cNvSpPr/>
          <p:nvPr/>
        </p:nvSpPr>
        <p:spPr>
          <a:xfrm>
            <a:off x="5760720" y="416052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200" b="0" i="0">
                <a:solidFill>
                  <a:srgbClr val="5C6B80"/>
                </a:solidFill>
              </a:rPr>
              <a:t>moves to reach any of them</a:t>
            </a:r>
          </a:p>
        </p:txBody>
      </p:sp>
      <p:sp>
        <p:nvSpPr>
          <p:cNvPr id="24" name="Rectangle 23"/>
          <p:cNvSpPr/>
          <p:nvPr/>
        </p:nvSpPr>
        <p:spPr>
          <a:xfrm>
            <a:off x="7863840" y="4160520"/>
            <a:ext cx="118872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2400" b="1" i="0">
                <a:solidFill>
                  <a:srgbClr val="9B1C1C"/>
                </a:solidFill>
              </a:rPr>
              <a:t>≈ 8⁹</a:t>
            </a:r>
          </a:p>
        </p:txBody>
      </p:sp>
      <p:sp>
        <p:nvSpPr>
          <p:cNvPr id="25" name="Rectangle 24"/>
          <p:cNvSpPr/>
          <p:nvPr/>
        </p:nvSpPr>
        <p:spPr>
          <a:xfrm>
            <a:off x="9144000" y="4160520"/>
            <a:ext cx="19202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200" b="0" i="0">
                <a:solidFill>
                  <a:srgbClr val="5C6B80"/>
                </a:solidFill>
              </a:rPr>
              <a:t>paths of length 9 — over 100 million</a:t>
            </a:r>
          </a:p>
        </p:txBody>
      </p:sp>
      <p:sp>
        <p:nvSpPr>
          <p:cNvPr id="26" name="Rectangle 25"/>
          <p:cNvSpPr/>
          <p:nvPr/>
        </p:nvSpPr>
        <p:spPr>
          <a:xfrm>
            <a:off x="914400" y="49377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Eliminate redundant paths and this search finishes roughly a million times faster.</a:t>
            </a:r>
          </a:p>
        </p:txBody>
      </p:sp>
      <p:sp>
        <p:nvSpPr>
          <p:cNvPr id="27" name="Rectangle 26"/>
          <p:cNvSpPr/>
          <p:nvPr/>
        </p:nvSpPr>
        <p:spPr>
          <a:xfrm>
            <a:off x="914400" y="534924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Algorithms that cannot remember the past are doomed to repeat it. Caution: the Figure 3.15 comparison table assumes the tree-like versions.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Completeness Is Harder Than “Never Repeat a State”</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50" b="1" i="0">
                <a:solidFill>
                  <a:srgbClr val="112E5C"/>
                </a:solidFill>
              </a:rPr>
              <a:t>Finite state spaces</a:t>
            </a:r>
          </a:p>
        </p:txBody>
      </p:sp>
      <p:sp>
        <p:nvSpPr>
          <p:cNvPr id="8" name="Rounded Rectangle 7"/>
          <p:cNvSpPr/>
          <p:nvPr/>
        </p:nvSpPr>
        <p:spPr>
          <a:xfrm>
            <a:off x="777240" y="1874520"/>
            <a:ext cx="5029200" cy="100584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9" name="Rectangle 8"/>
          <p:cNvSpPr/>
          <p:nvPr/>
        </p:nvSpPr>
        <p:spPr>
          <a:xfrm>
            <a:off x="1005840" y="1965960"/>
            <a:ext cx="45720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0" i="0">
                <a:solidFill>
                  <a:srgbClr val="102A4C"/>
                </a:solidFill>
              </a:rPr>
              <a:t>Track paths, cut off cycles, and you will eventually reach every state reachable from the initial state. Completeness is straightforward.</a:t>
            </a:r>
          </a:p>
        </p:txBody>
      </p:sp>
      <p:sp>
        <p:nvSpPr>
          <p:cNvPr id="10" name="Rounded Rectangle 9"/>
          <p:cNvSpPr/>
          <p:nvPr/>
        </p:nvSpPr>
        <p:spPr>
          <a:xfrm>
            <a:off x="6385560" y="1417320"/>
            <a:ext cx="502920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50" b="1" i="0">
                <a:solidFill>
                  <a:srgbClr val="112E5C"/>
                </a:solidFill>
              </a:rPr>
              <a:t>Infinite state spaces</a:t>
            </a:r>
          </a:p>
        </p:txBody>
      </p:sp>
      <p:sp>
        <p:nvSpPr>
          <p:cNvPr id="11" name="Rounded Rectangle 10"/>
          <p:cNvSpPr/>
          <p:nvPr/>
        </p:nvSpPr>
        <p:spPr>
          <a:xfrm>
            <a:off x="6385560" y="1874520"/>
            <a:ext cx="5029200" cy="100584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2" name="Rectangle 11"/>
          <p:cNvSpPr/>
          <p:nvPr/>
        </p:nvSpPr>
        <p:spPr>
          <a:xfrm>
            <a:off x="6614160" y="1965960"/>
            <a:ext cx="45720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0" i="0">
                <a:solidFill>
                  <a:srgbClr val="102A4C"/>
                </a:solidFill>
              </a:rPr>
              <a:t>An algorithm can generate a brand-new state on every step and still be incomplete, because whole regions are never reached.</a:t>
            </a:r>
          </a:p>
        </p:txBody>
      </p:sp>
      <p:sp>
        <p:nvSpPr>
          <p:cNvPr id="13" name="Rounded Rectangle 12"/>
          <p:cNvSpPr/>
          <p:nvPr/>
        </p:nvSpPr>
        <p:spPr>
          <a:xfrm>
            <a:off x="777240" y="3063240"/>
            <a:ext cx="10637520" cy="45720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4" name="Rectangle 13"/>
          <p:cNvSpPr/>
          <p:nvPr/>
        </p:nvSpPr>
        <p:spPr>
          <a:xfrm>
            <a:off x="960120" y="3063240"/>
            <a:ext cx="201168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9B1C1C"/>
                </a:solidFill>
              </a:rPr>
              <a:t>Knuth's “4”</a:t>
            </a:r>
          </a:p>
        </p:txBody>
      </p:sp>
      <p:sp>
        <p:nvSpPr>
          <p:cNvPr id="15" name="Rectangle 14"/>
          <p:cNvSpPr/>
          <p:nvPr/>
        </p:nvSpPr>
        <p:spPr>
          <a:xfrm>
            <a:off x="3063240" y="3063240"/>
            <a:ext cx="81381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4 → 4! → (4!)! → … every state is new, and almost nothing is ever reached</a:t>
            </a:r>
          </a:p>
        </p:txBody>
      </p:sp>
      <p:sp>
        <p:nvSpPr>
          <p:cNvPr id="16" name="Rounded Rectangle 15"/>
          <p:cNvSpPr/>
          <p:nvPr/>
        </p:nvSpPr>
        <p:spPr>
          <a:xfrm>
            <a:off x="777240" y="3611880"/>
            <a:ext cx="10637520" cy="45720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7" name="Rectangle 16"/>
          <p:cNvSpPr/>
          <p:nvPr/>
        </p:nvSpPr>
        <p:spPr>
          <a:xfrm>
            <a:off x="960120" y="3611880"/>
            <a:ext cx="201168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9B1C1C"/>
                </a:solidFill>
              </a:rPr>
              <a:t>Infinite grid</a:t>
            </a:r>
          </a:p>
        </p:txBody>
      </p:sp>
      <p:sp>
        <p:nvSpPr>
          <p:cNvPr id="18" name="Rectangle 17"/>
          <p:cNvSpPr/>
          <p:nvPr/>
        </p:nvSpPr>
        <p:spPr>
          <a:xfrm>
            <a:off x="3063240" y="3611880"/>
            <a:ext cx="81381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0" i="0">
                <a:solidFill>
                  <a:srgbClr val="102A4C"/>
                </a:solidFill>
              </a:rPr>
              <a:t>walk north forever: no repeats, no cycles, no coverage</a:t>
            </a:r>
          </a:p>
        </p:txBody>
      </p:sp>
      <p:sp>
        <p:nvSpPr>
          <p:cNvPr id="19" name="Rectangle 18"/>
          <p:cNvSpPr/>
          <p:nvPr/>
        </p:nvSpPr>
        <p:spPr>
          <a:xfrm>
            <a:off x="914400" y="4297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To be complete, a search must be systematic: it must eventually reach any state connected to the initial state.</a:t>
            </a:r>
          </a:p>
        </p:txBody>
      </p:sp>
      <p:sp>
        <p:nvSpPr>
          <p:cNvPr id="20" name="Rectangle 19"/>
          <p:cNvSpPr/>
          <p:nvPr/>
        </p:nvSpPr>
        <p:spPr>
          <a:xfrm>
            <a:off x="914400" y="489204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450" b="0" i="0">
                <a:solidFill>
                  <a:srgbClr val="5C6B80"/>
                </a:solidFill>
              </a:rPr>
              <a:t>On an infinite grid, one systematic order is an outward spiral — cover every cell s steps away before moving to s + 1.</a:t>
            </a:r>
          </a:p>
        </p:txBody>
      </p:sp>
      <p:sp>
        <p:nvSpPr>
          <p:cNvPr id="21" name="Rectangle 20"/>
          <p:cNvSpPr/>
          <p:nvPr/>
        </p:nvSpPr>
        <p:spPr>
          <a:xfrm>
            <a:off x="914400" y="5440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And in an infinite space with no solution, a sound algorithm can never terminate: it cannot rule out that the next state is a goal.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Early Goal Test vs. Late Goal Test</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475488"/>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Early: test when a node is generated</a:t>
            </a:r>
          </a:p>
        </p:txBody>
      </p:sp>
      <p:sp>
        <p:nvSpPr>
          <p:cNvPr id="8" name="Rounded Rectangle 7"/>
          <p:cNvSpPr/>
          <p:nvPr/>
        </p:nvSpPr>
        <p:spPr>
          <a:xfrm>
            <a:off x="777240" y="2011680"/>
            <a:ext cx="502920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9" name="Rectangle 8"/>
          <p:cNvSpPr/>
          <p:nvPr/>
        </p:nvSpPr>
        <p:spPr>
          <a:xfrm>
            <a:off x="1005840" y="2148840"/>
            <a:ext cx="45720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700"/>
              </a:spcAft>
            </a:pPr>
            <a:r>
              <a:rPr sz="1300" b="0" i="0">
                <a:solidFill>
                  <a:srgbClr val="102A4C"/>
                </a:solidFill>
              </a:rPr>
              <a:t>•  Used by breadth-first search</a:t>
            </a:r>
          </a:p>
          <a:p>
            <a:pPr algn="l">
              <a:spcAft>
                <a:spcPts val="700"/>
              </a:spcAft>
            </a:pPr>
            <a:r>
              <a:rPr sz="1300" b="0" i="0">
                <a:solidFill>
                  <a:srgbClr val="102A4C"/>
                </a:solidFill>
              </a:rPr>
              <a:t>•  Safe there, because BFS can never later find a better path to a state it has already reached</a:t>
            </a:r>
          </a:p>
          <a:p>
            <a:pPr algn="l">
              <a:spcAft>
                <a:spcPts val="700"/>
              </a:spcAft>
            </a:pPr>
            <a:r>
              <a:rPr sz="1300" b="0" i="0">
                <a:solidFill>
                  <a:srgbClr val="102A4C"/>
                </a:solidFill>
              </a:rPr>
              <a:t>•  Saves expanding an entire final tier</a:t>
            </a:r>
          </a:p>
          <a:p>
            <a:pPr algn="l">
              <a:spcAft>
                <a:spcPts val="700"/>
              </a:spcAft>
            </a:pPr>
            <a:r>
              <a:rPr sz="1300" b="0" i="0">
                <a:solidFill>
                  <a:srgbClr val="102A4C"/>
                </a:solidFill>
              </a:rPr>
              <a:t>•  Lets reached be a plain set of states, not a state → node map</a:t>
            </a:r>
          </a:p>
        </p:txBody>
      </p:sp>
      <p:sp>
        <p:nvSpPr>
          <p:cNvPr id="10" name="Rounded Rectangle 9"/>
          <p:cNvSpPr/>
          <p:nvPr/>
        </p:nvSpPr>
        <p:spPr>
          <a:xfrm>
            <a:off x="6385560" y="1417320"/>
            <a:ext cx="5029200" cy="475488"/>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Late: test when a node is popped</a:t>
            </a:r>
          </a:p>
        </p:txBody>
      </p:sp>
      <p:sp>
        <p:nvSpPr>
          <p:cNvPr id="11" name="Rounded Rectangle 10"/>
          <p:cNvSpPr/>
          <p:nvPr/>
        </p:nvSpPr>
        <p:spPr>
          <a:xfrm>
            <a:off x="6385560" y="2011680"/>
            <a:ext cx="502920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2" name="Rectangle 11"/>
          <p:cNvSpPr/>
          <p:nvPr/>
        </p:nvSpPr>
        <p:spPr>
          <a:xfrm>
            <a:off x="6614160" y="2148840"/>
            <a:ext cx="45720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700"/>
              </a:spcAft>
            </a:pPr>
            <a:r>
              <a:rPr sz="1300" b="0" i="0">
                <a:solidFill>
                  <a:srgbClr val="102A4C"/>
                </a:solidFill>
              </a:rPr>
              <a:t>•  Used by best-first search and uniform-cost search</a:t>
            </a:r>
          </a:p>
          <a:p>
            <a:pPr algn="l">
              <a:spcAft>
                <a:spcPts val="700"/>
              </a:spcAft>
            </a:pPr>
            <a:r>
              <a:rPr sz="1300" b="0" i="0">
                <a:solidFill>
                  <a:srgbClr val="102A4C"/>
                </a:solidFill>
              </a:rPr>
              <a:t>•  Required, not optional: a goal can be generated on an expensive path before a cheaper path to it is found</a:t>
            </a:r>
          </a:p>
          <a:p>
            <a:pPr algn="l">
              <a:spcAft>
                <a:spcPts val="700"/>
              </a:spcAft>
            </a:pPr>
            <a:r>
              <a:rPr sz="1300" b="0" i="0">
                <a:solidFill>
                  <a:srgbClr val="102A4C"/>
                </a:solidFill>
              </a:rPr>
              <a:t>•  The goal is returned only when it is the cheapest thing on the frontier</a:t>
            </a:r>
          </a:p>
          <a:p>
            <a:pPr algn="l">
              <a:spcAft>
                <a:spcPts val="700"/>
              </a:spcAft>
            </a:pPr>
            <a:r>
              <a:rPr sz="1300" b="0" i="0">
                <a:solidFill>
                  <a:srgbClr val="102A4C"/>
                </a:solidFill>
              </a:rPr>
              <a:t>•  This is exactly what makes UCS cost-optimal</a:t>
            </a:r>
          </a:p>
        </p:txBody>
      </p:sp>
      <p:sp>
        <p:nvSpPr>
          <p:cNvPr id="13" name="Rounded Rectangle 12"/>
          <p:cNvSpPr/>
          <p:nvPr/>
        </p:nvSpPr>
        <p:spPr>
          <a:xfrm>
            <a:off x="914400" y="3931920"/>
            <a:ext cx="10424160" cy="68580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4" name="Rectangle 13"/>
          <p:cNvSpPr/>
          <p:nvPr/>
        </p:nvSpPr>
        <p:spPr>
          <a:xfrm>
            <a:off x="1097280" y="4023360"/>
            <a:ext cx="1005840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500" b="1" i="0">
                <a:solidFill>
                  <a:srgbClr val="112E5C"/>
                </a:solidFill>
              </a:rPr>
              <a:t>Sibiu → Bucharest:  Fagaras generates Bucharest at 310.  Pitesti later generates Bucharest at 278.</a:t>
            </a:r>
          </a:p>
        </p:txBody>
      </p:sp>
      <p:sp>
        <p:nvSpPr>
          <p:cNvPr id="15" name="Rectangle 14"/>
          <p:cNvSpPr/>
          <p:nvPr/>
        </p:nvSpPr>
        <p:spPr>
          <a:xfrm>
            <a:off x="914400" y="48463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Test on generation here and UCS returns 310. Test on expansion and it returns 278.</a:t>
            </a:r>
          </a:p>
        </p:txBody>
      </p:sp>
      <p:sp>
        <p:nvSpPr>
          <p:cNvPr id="16" name="Rectangle 15"/>
          <p:cNvSpPr/>
          <p:nvPr/>
        </p:nvSpPr>
        <p:spPr>
          <a:xfrm>
            <a:off x="914400" y="53035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One line of the algorithm, and the difference between correct and merely plausible.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Your Turn: Trace Uniform-Cost Search</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cxnSp>
        <p:nvCxnSpPr>
          <p:cNvPr id="7" name="Connector 6"/>
          <p:cNvCxnSpPr/>
          <p:nvPr/>
        </p:nvCxnSpPr>
        <p:spPr>
          <a:xfrm flipV="1">
            <a:off x="1371600" y="2286000"/>
            <a:ext cx="16002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943100" y="25374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1</a:t>
            </a:r>
          </a:p>
        </p:txBody>
      </p:sp>
      <p:cxnSp>
        <p:nvCxnSpPr>
          <p:cNvPr id="9" name="Connector 8"/>
          <p:cNvCxnSpPr/>
          <p:nvPr/>
        </p:nvCxnSpPr>
        <p:spPr>
          <a:xfrm>
            <a:off x="1371600" y="3200400"/>
            <a:ext cx="16002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943100" y="34518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2</a:t>
            </a:r>
          </a:p>
        </p:txBody>
      </p:sp>
      <p:cxnSp>
        <p:nvCxnSpPr>
          <p:cNvPr id="11" name="Connector 10"/>
          <p:cNvCxnSpPr/>
          <p:nvPr/>
        </p:nvCxnSpPr>
        <p:spPr>
          <a:xfrm>
            <a:off x="2971800" y="2286000"/>
            <a:ext cx="25146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000500" y="25374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8</a:t>
            </a:r>
          </a:p>
        </p:txBody>
      </p:sp>
      <p:cxnSp>
        <p:nvCxnSpPr>
          <p:cNvPr id="13" name="Connector 12"/>
          <p:cNvCxnSpPr/>
          <p:nvPr/>
        </p:nvCxnSpPr>
        <p:spPr>
          <a:xfrm>
            <a:off x="2971800" y="4114800"/>
            <a:ext cx="1371600" cy="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3429000" y="39090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1</a:t>
            </a:r>
          </a:p>
        </p:txBody>
      </p:sp>
      <p:cxnSp>
        <p:nvCxnSpPr>
          <p:cNvPr id="15" name="Connector 14"/>
          <p:cNvCxnSpPr/>
          <p:nvPr/>
        </p:nvCxnSpPr>
        <p:spPr>
          <a:xfrm flipV="1">
            <a:off x="4343400" y="3200400"/>
            <a:ext cx="11430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4686300" y="34518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3</a:t>
            </a:r>
          </a:p>
        </p:txBody>
      </p:sp>
      <p:sp>
        <p:nvSpPr>
          <p:cNvPr id="17" name="Oval 16"/>
          <p:cNvSpPr/>
          <p:nvPr/>
        </p:nvSpPr>
        <p:spPr>
          <a:xfrm>
            <a:off x="1074420" y="2903220"/>
            <a:ext cx="594360" cy="594360"/>
          </a:xfrm>
          <a:prstGeom prst="ellipse">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S</a:t>
            </a:r>
          </a:p>
        </p:txBody>
      </p:sp>
      <p:sp>
        <p:nvSpPr>
          <p:cNvPr id="18" name="Oval 17"/>
          <p:cNvSpPr/>
          <p:nvPr/>
        </p:nvSpPr>
        <p:spPr>
          <a:xfrm>
            <a:off x="2674620" y="198882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A</a:t>
            </a:r>
          </a:p>
        </p:txBody>
      </p:sp>
      <p:sp>
        <p:nvSpPr>
          <p:cNvPr id="19" name="Oval 18"/>
          <p:cNvSpPr/>
          <p:nvPr/>
        </p:nvSpPr>
        <p:spPr>
          <a:xfrm>
            <a:off x="2674620" y="381762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B</a:t>
            </a:r>
          </a:p>
        </p:txBody>
      </p:sp>
      <p:sp>
        <p:nvSpPr>
          <p:cNvPr id="20" name="Oval 19"/>
          <p:cNvSpPr/>
          <p:nvPr/>
        </p:nvSpPr>
        <p:spPr>
          <a:xfrm>
            <a:off x="4046220" y="381762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C</a:t>
            </a:r>
          </a:p>
        </p:txBody>
      </p:sp>
      <p:sp>
        <p:nvSpPr>
          <p:cNvPr id="21" name="Oval 20"/>
          <p:cNvSpPr/>
          <p:nvPr/>
        </p:nvSpPr>
        <p:spPr>
          <a:xfrm>
            <a:off x="5189220" y="2903220"/>
            <a:ext cx="594360" cy="594360"/>
          </a:xfrm>
          <a:prstGeom prst="ellipse">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G</a:t>
            </a:r>
          </a:p>
        </p:txBody>
      </p:sp>
      <p:sp>
        <p:nvSpPr>
          <p:cNvPr id="22" name="Rectangle 21"/>
          <p:cNvSpPr/>
          <p:nvPr/>
        </p:nvSpPr>
        <p:spPr>
          <a:xfrm>
            <a:off x="777240" y="4846320"/>
            <a:ext cx="4800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200" b="0" i="0">
                <a:solidFill>
                  <a:srgbClr val="5C6B80"/>
                </a:solidFill>
              </a:rPr>
              <a:t>Edge labels are action costs. Start at S, goal is G.</a:t>
            </a:r>
          </a:p>
        </p:txBody>
      </p:sp>
      <p:sp>
        <p:nvSpPr>
          <p:cNvPr id="23" name="Rectangle 22"/>
          <p:cNvSpPr/>
          <p:nvPr/>
        </p:nvSpPr>
        <p:spPr>
          <a:xfrm>
            <a:off x="6385560" y="1417320"/>
            <a:ext cx="640080" cy="365760"/>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1" i="0">
                <a:solidFill>
                  <a:srgbClr val="FFFFFF"/>
                </a:solidFill>
              </a:rPr>
              <a:t>Pop #</a:t>
            </a:r>
          </a:p>
        </p:txBody>
      </p:sp>
      <p:sp>
        <p:nvSpPr>
          <p:cNvPr id="24" name="Rectangle 23"/>
          <p:cNvSpPr/>
          <p:nvPr/>
        </p:nvSpPr>
        <p:spPr>
          <a:xfrm>
            <a:off x="7025640" y="1417320"/>
            <a:ext cx="1554480" cy="365760"/>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1" i="0">
                <a:solidFill>
                  <a:srgbClr val="FFFFFF"/>
                </a:solidFill>
              </a:rPr>
              <a:t>Node popped (g)</a:t>
            </a:r>
          </a:p>
        </p:txBody>
      </p:sp>
      <p:sp>
        <p:nvSpPr>
          <p:cNvPr id="25" name="Rectangle 24"/>
          <p:cNvSpPr/>
          <p:nvPr/>
        </p:nvSpPr>
        <p:spPr>
          <a:xfrm>
            <a:off x="8580120" y="1417320"/>
            <a:ext cx="2834640" cy="365760"/>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1" i="0">
                <a:solidFill>
                  <a:srgbClr val="FFFFFF"/>
                </a:solidFill>
              </a:rPr>
              <a:t>Frontier afterwards</a:t>
            </a:r>
          </a:p>
        </p:txBody>
      </p:sp>
      <p:sp>
        <p:nvSpPr>
          <p:cNvPr id="26" name="Rectangle 25"/>
          <p:cNvSpPr/>
          <p:nvPr/>
        </p:nvSpPr>
        <p:spPr>
          <a:xfrm>
            <a:off x="6385560" y="178308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1</a:t>
            </a:r>
          </a:p>
        </p:txBody>
      </p:sp>
      <p:sp>
        <p:nvSpPr>
          <p:cNvPr id="27" name="Rectangle 26"/>
          <p:cNvSpPr/>
          <p:nvPr/>
        </p:nvSpPr>
        <p:spPr>
          <a:xfrm>
            <a:off x="7025640" y="178308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8" name="Rectangle 27"/>
          <p:cNvSpPr/>
          <p:nvPr/>
        </p:nvSpPr>
        <p:spPr>
          <a:xfrm>
            <a:off x="8580120" y="178308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9" name="Rectangle 28"/>
          <p:cNvSpPr/>
          <p:nvPr/>
        </p:nvSpPr>
        <p:spPr>
          <a:xfrm>
            <a:off x="6385560" y="219456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2</a:t>
            </a:r>
          </a:p>
        </p:txBody>
      </p:sp>
      <p:sp>
        <p:nvSpPr>
          <p:cNvPr id="30" name="Rectangle 29"/>
          <p:cNvSpPr/>
          <p:nvPr/>
        </p:nvSpPr>
        <p:spPr>
          <a:xfrm>
            <a:off x="7025640" y="219456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1" name="Rectangle 30"/>
          <p:cNvSpPr/>
          <p:nvPr/>
        </p:nvSpPr>
        <p:spPr>
          <a:xfrm>
            <a:off x="8580120" y="219456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2" name="Rectangle 31"/>
          <p:cNvSpPr/>
          <p:nvPr/>
        </p:nvSpPr>
        <p:spPr>
          <a:xfrm>
            <a:off x="6385560" y="260604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3</a:t>
            </a:r>
          </a:p>
        </p:txBody>
      </p:sp>
      <p:sp>
        <p:nvSpPr>
          <p:cNvPr id="33" name="Rectangle 32"/>
          <p:cNvSpPr/>
          <p:nvPr/>
        </p:nvSpPr>
        <p:spPr>
          <a:xfrm>
            <a:off x="7025640" y="260604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4" name="Rectangle 33"/>
          <p:cNvSpPr/>
          <p:nvPr/>
        </p:nvSpPr>
        <p:spPr>
          <a:xfrm>
            <a:off x="8580120" y="260604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5" name="Rectangle 34"/>
          <p:cNvSpPr/>
          <p:nvPr/>
        </p:nvSpPr>
        <p:spPr>
          <a:xfrm>
            <a:off x="6385560" y="301752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4</a:t>
            </a:r>
          </a:p>
        </p:txBody>
      </p:sp>
      <p:sp>
        <p:nvSpPr>
          <p:cNvPr id="36" name="Rectangle 35"/>
          <p:cNvSpPr/>
          <p:nvPr/>
        </p:nvSpPr>
        <p:spPr>
          <a:xfrm>
            <a:off x="7025640" y="301752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7" name="Rectangle 36"/>
          <p:cNvSpPr/>
          <p:nvPr/>
        </p:nvSpPr>
        <p:spPr>
          <a:xfrm>
            <a:off x="8580120" y="301752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8" name="Rectangle 37"/>
          <p:cNvSpPr/>
          <p:nvPr/>
        </p:nvSpPr>
        <p:spPr>
          <a:xfrm>
            <a:off x="6385560" y="342900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5C6B80"/>
                </a:solidFill>
              </a:rPr>
              <a:t>5</a:t>
            </a:r>
          </a:p>
        </p:txBody>
      </p:sp>
      <p:sp>
        <p:nvSpPr>
          <p:cNvPr id="39" name="Rectangle 38"/>
          <p:cNvSpPr/>
          <p:nvPr/>
        </p:nvSpPr>
        <p:spPr>
          <a:xfrm>
            <a:off x="7025640" y="342900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0" name="Rectangle 39"/>
          <p:cNvSpPr/>
          <p:nvPr/>
        </p:nvSpPr>
        <p:spPr>
          <a:xfrm>
            <a:off x="8580120" y="342900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1" name="Rectangle 40"/>
          <p:cNvSpPr/>
          <p:nvPr/>
        </p:nvSpPr>
        <p:spPr>
          <a:xfrm>
            <a:off x="6385560" y="3703320"/>
            <a:ext cx="50292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350" b="1" i="0">
                <a:solidFill>
                  <a:srgbClr val="112E5C"/>
                </a:solidFill>
              </a:rPr>
              <a:t>Which node is returned, at what cost, and on which pop?</a:t>
            </a:r>
          </a:p>
        </p:txBody>
      </p:sp>
      <p:sp>
        <p:nvSpPr>
          <p:cNvPr id="42" name="Rectangle 41"/>
          <p:cNvSpPr/>
          <p:nvPr/>
        </p:nvSpPr>
        <p:spPr>
          <a:xfrm>
            <a:off x="914400" y="525780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Remember: the goal test happens when a node is popped, not when it is generated.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Your Turn: The Trace, Worked</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cxnSp>
        <p:nvCxnSpPr>
          <p:cNvPr id="7" name="Connector 6"/>
          <p:cNvCxnSpPr/>
          <p:nvPr/>
        </p:nvCxnSpPr>
        <p:spPr>
          <a:xfrm flipV="1">
            <a:off x="1371600" y="2286000"/>
            <a:ext cx="16002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943100" y="25374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1</a:t>
            </a:r>
          </a:p>
        </p:txBody>
      </p:sp>
      <p:cxnSp>
        <p:nvCxnSpPr>
          <p:cNvPr id="9" name="Connector 8"/>
          <p:cNvCxnSpPr/>
          <p:nvPr/>
        </p:nvCxnSpPr>
        <p:spPr>
          <a:xfrm>
            <a:off x="1371600" y="3200400"/>
            <a:ext cx="16002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943100" y="34518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2</a:t>
            </a:r>
          </a:p>
        </p:txBody>
      </p:sp>
      <p:cxnSp>
        <p:nvCxnSpPr>
          <p:cNvPr id="11" name="Connector 10"/>
          <p:cNvCxnSpPr/>
          <p:nvPr/>
        </p:nvCxnSpPr>
        <p:spPr>
          <a:xfrm>
            <a:off x="2971800" y="2286000"/>
            <a:ext cx="25146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000500" y="25374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8</a:t>
            </a:r>
          </a:p>
        </p:txBody>
      </p:sp>
      <p:cxnSp>
        <p:nvCxnSpPr>
          <p:cNvPr id="13" name="Connector 12"/>
          <p:cNvCxnSpPr/>
          <p:nvPr/>
        </p:nvCxnSpPr>
        <p:spPr>
          <a:xfrm>
            <a:off x="2971800" y="4114800"/>
            <a:ext cx="1371600" cy="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3429000" y="39090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1</a:t>
            </a:r>
          </a:p>
        </p:txBody>
      </p:sp>
      <p:cxnSp>
        <p:nvCxnSpPr>
          <p:cNvPr id="15" name="Connector 14"/>
          <p:cNvCxnSpPr/>
          <p:nvPr/>
        </p:nvCxnSpPr>
        <p:spPr>
          <a:xfrm flipV="1">
            <a:off x="4343400" y="3200400"/>
            <a:ext cx="1143000" cy="914400"/>
          </a:xfrm>
          <a:prstGeom prst="line">
            <a:avLst/>
          </a:prstGeom>
          <a:ln w="19050">
            <a:solidFill>
              <a:srgbClr val="5C6B80"/>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4686300" y="3451860"/>
            <a:ext cx="457200" cy="274320"/>
          </a:xfrm>
          <a:prstGeom prst="rect">
            <a:avLst/>
          </a:prstGeom>
          <a:solidFill>
            <a:srgbClr val="EE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300" b="1" i="0">
                <a:solidFill>
                  <a:srgbClr val="9B1C1C"/>
                </a:solidFill>
              </a:rPr>
              <a:t>3</a:t>
            </a:r>
          </a:p>
        </p:txBody>
      </p:sp>
      <p:sp>
        <p:nvSpPr>
          <p:cNvPr id="17" name="Oval 16"/>
          <p:cNvSpPr/>
          <p:nvPr/>
        </p:nvSpPr>
        <p:spPr>
          <a:xfrm>
            <a:off x="1074420" y="2903220"/>
            <a:ext cx="594360" cy="594360"/>
          </a:xfrm>
          <a:prstGeom prst="ellipse">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S</a:t>
            </a:r>
          </a:p>
        </p:txBody>
      </p:sp>
      <p:sp>
        <p:nvSpPr>
          <p:cNvPr id="18" name="Oval 17"/>
          <p:cNvSpPr/>
          <p:nvPr/>
        </p:nvSpPr>
        <p:spPr>
          <a:xfrm>
            <a:off x="2674620" y="198882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A</a:t>
            </a:r>
          </a:p>
        </p:txBody>
      </p:sp>
      <p:sp>
        <p:nvSpPr>
          <p:cNvPr id="19" name="Oval 18"/>
          <p:cNvSpPr/>
          <p:nvPr/>
        </p:nvSpPr>
        <p:spPr>
          <a:xfrm>
            <a:off x="2674620" y="381762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B</a:t>
            </a:r>
          </a:p>
        </p:txBody>
      </p:sp>
      <p:sp>
        <p:nvSpPr>
          <p:cNvPr id="20" name="Oval 19"/>
          <p:cNvSpPr/>
          <p:nvPr/>
        </p:nvSpPr>
        <p:spPr>
          <a:xfrm>
            <a:off x="4046220" y="3817620"/>
            <a:ext cx="594360" cy="594360"/>
          </a:xfrm>
          <a:prstGeom prst="ellipse">
            <a:avLst/>
          </a:prstGeom>
          <a:solidFill>
            <a:srgbClr val="FFFF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C</a:t>
            </a:r>
          </a:p>
        </p:txBody>
      </p:sp>
      <p:sp>
        <p:nvSpPr>
          <p:cNvPr id="21" name="Oval 20"/>
          <p:cNvSpPr/>
          <p:nvPr/>
        </p:nvSpPr>
        <p:spPr>
          <a:xfrm>
            <a:off x="5189220" y="2903220"/>
            <a:ext cx="594360" cy="594360"/>
          </a:xfrm>
          <a:prstGeom prst="ellipse">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i="0">
                <a:solidFill>
                  <a:srgbClr val="112E5C"/>
                </a:solidFill>
              </a:rPr>
              <a:t>G</a:t>
            </a:r>
          </a:p>
        </p:txBody>
      </p:sp>
      <p:sp>
        <p:nvSpPr>
          <p:cNvPr id="22" name="Rectangle 21"/>
          <p:cNvSpPr/>
          <p:nvPr/>
        </p:nvSpPr>
        <p:spPr>
          <a:xfrm>
            <a:off x="6385560" y="1417320"/>
            <a:ext cx="640080" cy="365760"/>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1" i="0">
                <a:solidFill>
                  <a:srgbClr val="FFFFFF"/>
                </a:solidFill>
              </a:rPr>
              <a:t>Pop #</a:t>
            </a:r>
          </a:p>
        </p:txBody>
      </p:sp>
      <p:sp>
        <p:nvSpPr>
          <p:cNvPr id="23" name="Rectangle 22"/>
          <p:cNvSpPr/>
          <p:nvPr/>
        </p:nvSpPr>
        <p:spPr>
          <a:xfrm>
            <a:off x="7025640" y="1417320"/>
            <a:ext cx="1554480" cy="365760"/>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1" i="0">
                <a:solidFill>
                  <a:srgbClr val="FFFFFF"/>
                </a:solidFill>
              </a:rPr>
              <a:t>Node popped (g)</a:t>
            </a:r>
          </a:p>
        </p:txBody>
      </p:sp>
      <p:sp>
        <p:nvSpPr>
          <p:cNvPr id="24" name="Rectangle 23"/>
          <p:cNvSpPr/>
          <p:nvPr/>
        </p:nvSpPr>
        <p:spPr>
          <a:xfrm>
            <a:off x="8580120" y="1417320"/>
            <a:ext cx="2834640" cy="365760"/>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1" i="0">
                <a:solidFill>
                  <a:srgbClr val="FFFFFF"/>
                </a:solidFill>
              </a:rPr>
              <a:t>Frontier afterwards</a:t>
            </a:r>
          </a:p>
        </p:txBody>
      </p:sp>
      <p:sp>
        <p:nvSpPr>
          <p:cNvPr id="25" name="Rectangle 24"/>
          <p:cNvSpPr/>
          <p:nvPr/>
        </p:nvSpPr>
        <p:spPr>
          <a:xfrm>
            <a:off x="6385560" y="178308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102A4C"/>
                </a:solidFill>
              </a:rPr>
              <a:t>1</a:t>
            </a:r>
          </a:p>
        </p:txBody>
      </p:sp>
      <p:sp>
        <p:nvSpPr>
          <p:cNvPr id="26" name="Rectangle 25"/>
          <p:cNvSpPr/>
          <p:nvPr/>
        </p:nvSpPr>
        <p:spPr>
          <a:xfrm>
            <a:off x="7025640" y="178308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S (0)</a:t>
            </a:r>
          </a:p>
        </p:txBody>
      </p:sp>
      <p:sp>
        <p:nvSpPr>
          <p:cNvPr id="27" name="Rectangle 26"/>
          <p:cNvSpPr/>
          <p:nvPr/>
        </p:nvSpPr>
        <p:spPr>
          <a:xfrm>
            <a:off x="8580120" y="178308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A(1), B(2)</a:t>
            </a:r>
          </a:p>
        </p:txBody>
      </p:sp>
      <p:sp>
        <p:nvSpPr>
          <p:cNvPr id="28" name="Rectangle 27"/>
          <p:cNvSpPr/>
          <p:nvPr/>
        </p:nvSpPr>
        <p:spPr>
          <a:xfrm>
            <a:off x="6385560" y="219456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102A4C"/>
                </a:solidFill>
              </a:rPr>
              <a:t>2</a:t>
            </a:r>
          </a:p>
        </p:txBody>
      </p:sp>
      <p:sp>
        <p:nvSpPr>
          <p:cNvPr id="29" name="Rectangle 28"/>
          <p:cNvSpPr/>
          <p:nvPr/>
        </p:nvSpPr>
        <p:spPr>
          <a:xfrm>
            <a:off x="7025640" y="219456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A (1)</a:t>
            </a:r>
          </a:p>
        </p:txBody>
      </p:sp>
      <p:sp>
        <p:nvSpPr>
          <p:cNvPr id="30" name="Rectangle 29"/>
          <p:cNvSpPr/>
          <p:nvPr/>
        </p:nvSpPr>
        <p:spPr>
          <a:xfrm>
            <a:off x="8580120" y="219456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B(2), G(9)</a:t>
            </a:r>
          </a:p>
        </p:txBody>
      </p:sp>
      <p:sp>
        <p:nvSpPr>
          <p:cNvPr id="31" name="Rectangle 30"/>
          <p:cNvSpPr/>
          <p:nvPr/>
        </p:nvSpPr>
        <p:spPr>
          <a:xfrm>
            <a:off x="6385560" y="260604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102A4C"/>
                </a:solidFill>
              </a:rPr>
              <a:t>3</a:t>
            </a:r>
          </a:p>
        </p:txBody>
      </p:sp>
      <p:sp>
        <p:nvSpPr>
          <p:cNvPr id="32" name="Rectangle 31"/>
          <p:cNvSpPr/>
          <p:nvPr/>
        </p:nvSpPr>
        <p:spPr>
          <a:xfrm>
            <a:off x="7025640" y="260604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B (2)</a:t>
            </a:r>
          </a:p>
        </p:txBody>
      </p:sp>
      <p:sp>
        <p:nvSpPr>
          <p:cNvPr id="33" name="Rectangle 32"/>
          <p:cNvSpPr/>
          <p:nvPr/>
        </p:nvSpPr>
        <p:spPr>
          <a:xfrm>
            <a:off x="8580120" y="260604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C(3), G(9)</a:t>
            </a:r>
          </a:p>
        </p:txBody>
      </p:sp>
      <p:sp>
        <p:nvSpPr>
          <p:cNvPr id="34" name="Rectangle 33"/>
          <p:cNvSpPr/>
          <p:nvPr/>
        </p:nvSpPr>
        <p:spPr>
          <a:xfrm>
            <a:off x="6385560" y="3017520"/>
            <a:ext cx="6400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0" i="0">
                <a:solidFill>
                  <a:srgbClr val="102A4C"/>
                </a:solidFill>
              </a:rPr>
              <a:t>4</a:t>
            </a:r>
          </a:p>
        </p:txBody>
      </p:sp>
      <p:sp>
        <p:nvSpPr>
          <p:cNvPr id="35" name="Rectangle 34"/>
          <p:cNvSpPr/>
          <p:nvPr/>
        </p:nvSpPr>
        <p:spPr>
          <a:xfrm>
            <a:off x="7025640" y="3017520"/>
            <a:ext cx="155448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C (3)</a:t>
            </a:r>
          </a:p>
        </p:txBody>
      </p:sp>
      <p:sp>
        <p:nvSpPr>
          <p:cNvPr id="36" name="Rectangle 35"/>
          <p:cNvSpPr/>
          <p:nvPr/>
        </p:nvSpPr>
        <p:spPr>
          <a:xfrm>
            <a:off x="8580120" y="3017520"/>
            <a:ext cx="2834640" cy="411480"/>
          </a:xfrm>
          <a:prstGeom prst="rect">
            <a:avLst/>
          </a:prstGeom>
          <a:solidFill>
            <a:srgbClr val="FFFFFF"/>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0" i="0">
                <a:solidFill>
                  <a:srgbClr val="102A4C"/>
                </a:solidFill>
              </a:rPr>
              <a:t>G(6)</a:t>
            </a:r>
          </a:p>
        </p:txBody>
      </p:sp>
      <p:sp>
        <p:nvSpPr>
          <p:cNvPr id="37" name="Rectangle 36"/>
          <p:cNvSpPr/>
          <p:nvPr/>
        </p:nvSpPr>
        <p:spPr>
          <a:xfrm>
            <a:off x="6385560" y="3429000"/>
            <a:ext cx="640080" cy="411480"/>
          </a:xfrm>
          <a:prstGeom prst="rect">
            <a:avLst/>
          </a:prstGeom>
          <a:solidFill>
            <a:srgbClr val="DBF1E3"/>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200" b="1" i="0">
                <a:solidFill>
                  <a:srgbClr val="177245"/>
                </a:solidFill>
              </a:rPr>
              <a:t>5</a:t>
            </a:r>
          </a:p>
        </p:txBody>
      </p:sp>
      <p:sp>
        <p:nvSpPr>
          <p:cNvPr id="38" name="Rectangle 37"/>
          <p:cNvSpPr/>
          <p:nvPr/>
        </p:nvSpPr>
        <p:spPr>
          <a:xfrm>
            <a:off x="7025640" y="3429000"/>
            <a:ext cx="1554480" cy="411480"/>
          </a:xfrm>
          <a:prstGeom prst="rect">
            <a:avLst/>
          </a:prstGeom>
          <a:solidFill>
            <a:srgbClr val="DBF1E3"/>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1" i="0">
                <a:solidFill>
                  <a:srgbClr val="177245"/>
                </a:solidFill>
              </a:rPr>
              <a:t>G (6)</a:t>
            </a:r>
          </a:p>
        </p:txBody>
      </p:sp>
      <p:sp>
        <p:nvSpPr>
          <p:cNvPr id="39" name="Rectangle 38"/>
          <p:cNvSpPr/>
          <p:nvPr/>
        </p:nvSpPr>
        <p:spPr>
          <a:xfrm>
            <a:off x="8580120" y="3429000"/>
            <a:ext cx="2834640" cy="411480"/>
          </a:xfrm>
          <a:prstGeom prst="rect">
            <a:avLst/>
          </a:prstGeom>
          <a:solidFill>
            <a:srgbClr val="DBF1E3"/>
          </a:solidFill>
          <a:ln w="9525">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1200" b="1" i="0">
                <a:solidFill>
                  <a:srgbClr val="177245"/>
                </a:solidFill>
              </a:rPr>
              <a:t>goal test passes — return</a:t>
            </a:r>
          </a:p>
        </p:txBody>
      </p:sp>
      <p:sp>
        <p:nvSpPr>
          <p:cNvPr id="40" name="Rectangle 39"/>
          <p:cNvSpPr/>
          <p:nvPr/>
        </p:nvSpPr>
        <p:spPr>
          <a:xfrm>
            <a:off x="6385560" y="3703320"/>
            <a:ext cx="502920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400" b="1" i="0">
                <a:solidFill>
                  <a:srgbClr val="112E5C"/>
                </a:solidFill>
              </a:rPr>
              <a:t>Returned: S → B → C → G, cost 6, on the fifth pop.</a:t>
            </a:r>
          </a:p>
        </p:txBody>
      </p:sp>
      <p:sp>
        <p:nvSpPr>
          <p:cNvPr id="41" name="Rectangle 40"/>
          <p:cNvSpPr/>
          <p:nvPr/>
        </p:nvSpPr>
        <p:spPr>
          <a:xfrm>
            <a:off x="914400" y="47548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G was generated on pop 2 at cost 9. Returning it there would have cost you 50 percent more than the optimum.</a:t>
            </a:r>
          </a:p>
        </p:txBody>
      </p:sp>
      <p:sp>
        <p:nvSpPr>
          <p:cNvPr id="42" name="Rectangle 41"/>
          <p:cNvSpPr/>
          <p:nvPr/>
        </p:nvSpPr>
        <p:spPr>
          <a:xfrm>
            <a:off x="914400" y="53035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On pop 4 the cheaper G(6) replaced G(9) in reached — the re-add rule from the best-first slide, doing real work.</a:t>
            </a:r>
          </a:p>
        </p:txBody>
      </p:sp>
      <p:sp>
        <p:nvSpPr>
          <p:cNvPr id="43" name="Rectangle 42"/>
          <p:cNvSpPr/>
          <p:nvPr/>
        </p:nvSpPr>
        <p:spPr>
          <a:xfrm>
            <a:off x="914400" y="580644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350" b="0" i="0">
                <a:solidFill>
                  <a:srgbClr val="5C6B80"/>
                </a:solidFill>
              </a:rPr>
              <a:t>Both behaviours come from a single design decision: test on expansion, not on generation.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UCS Explores Cost Contours — In Every Direction</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Oval 6"/>
          <p:cNvSpPr/>
          <p:nvPr/>
        </p:nvSpPr>
        <p:spPr>
          <a:xfrm>
            <a:off x="6705600" y="1371600"/>
            <a:ext cx="3657600" cy="3657600"/>
          </a:xfrm>
          <a:prstGeom prst="ellipse">
            <a:avLst/>
          </a:prstGeom>
          <a:solidFill>
            <a:srgbClr val="FFFFFF"/>
          </a:solidFill>
          <a:ln w="1524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8" name="Rectangle 7"/>
          <p:cNvSpPr/>
          <p:nvPr/>
        </p:nvSpPr>
        <p:spPr>
          <a:xfrm>
            <a:off x="8077200" y="1485900"/>
            <a:ext cx="9144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050" b="0" i="0">
                <a:solidFill>
                  <a:srgbClr val="5C6B80"/>
                </a:solidFill>
              </a:rPr>
              <a:t>c ≤ 3</a:t>
            </a:r>
          </a:p>
        </p:txBody>
      </p:sp>
      <p:sp>
        <p:nvSpPr>
          <p:cNvPr id="9" name="Oval 8"/>
          <p:cNvSpPr/>
          <p:nvPr/>
        </p:nvSpPr>
        <p:spPr>
          <a:xfrm>
            <a:off x="7254240" y="1920240"/>
            <a:ext cx="2560320" cy="2560320"/>
          </a:xfrm>
          <a:prstGeom prst="ellipse">
            <a:avLst/>
          </a:prstGeom>
          <a:solidFill>
            <a:srgbClr val="F7F9FC"/>
          </a:solidFill>
          <a:ln w="1524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0" name="Rectangle 9"/>
          <p:cNvSpPr/>
          <p:nvPr/>
        </p:nvSpPr>
        <p:spPr>
          <a:xfrm>
            <a:off x="8077200" y="2034540"/>
            <a:ext cx="9144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050" b="0" i="0">
                <a:solidFill>
                  <a:srgbClr val="5C6B80"/>
                </a:solidFill>
              </a:rPr>
              <a:t>c ≤ 2</a:t>
            </a:r>
          </a:p>
        </p:txBody>
      </p:sp>
      <p:sp>
        <p:nvSpPr>
          <p:cNvPr id="11" name="Oval 10"/>
          <p:cNvSpPr/>
          <p:nvPr/>
        </p:nvSpPr>
        <p:spPr>
          <a:xfrm>
            <a:off x="7802880" y="2468880"/>
            <a:ext cx="1463040" cy="1463040"/>
          </a:xfrm>
          <a:prstGeom prst="ellipse">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2" name="Rectangle 11"/>
          <p:cNvSpPr/>
          <p:nvPr/>
        </p:nvSpPr>
        <p:spPr>
          <a:xfrm>
            <a:off x="8077200" y="2583180"/>
            <a:ext cx="9144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050" b="0" i="0">
                <a:solidFill>
                  <a:srgbClr val="5C6B80"/>
                </a:solidFill>
              </a:rPr>
              <a:t>c ≤ 1</a:t>
            </a:r>
          </a:p>
        </p:txBody>
      </p:sp>
      <p:sp>
        <p:nvSpPr>
          <p:cNvPr id="13" name="Oval 12"/>
          <p:cNvSpPr/>
          <p:nvPr/>
        </p:nvSpPr>
        <p:spPr>
          <a:xfrm>
            <a:off x="8351520" y="3017520"/>
            <a:ext cx="365760" cy="365760"/>
          </a:xfrm>
          <a:prstGeom prst="ellipse">
            <a:avLst/>
          </a:prstGeom>
          <a:solidFill>
            <a:srgbClr val="112E5C"/>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4" name="Rectangle 13"/>
          <p:cNvSpPr/>
          <p:nvPr/>
        </p:nvSpPr>
        <p:spPr>
          <a:xfrm>
            <a:off x="7848600" y="3429000"/>
            <a:ext cx="13716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00" b="1" i="0">
                <a:solidFill>
                  <a:srgbClr val="112E5C"/>
                </a:solidFill>
              </a:rPr>
              <a:t>start</a:t>
            </a:r>
          </a:p>
        </p:txBody>
      </p:sp>
      <p:sp>
        <p:nvSpPr>
          <p:cNvPr id="15" name="Rectangle 14"/>
          <p:cNvSpPr/>
          <p:nvPr/>
        </p:nvSpPr>
        <p:spPr>
          <a:xfrm>
            <a:off x="10927080" y="3063240"/>
            <a:ext cx="411480" cy="274320"/>
          </a:xfrm>
          <a:prstGeom prst="rect">
            <a:avLst/>
          </a:prstGeom>
          <a:solidFill>
            <a:srgbClr val="9B1C1C"/>
          </a:solidFill>
          <a:ln w="12700">
            <a:solidFill>
              <a:srgbClr val="9B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6" name="Rectangle 15"/>
          <p:cNvSpPr/>
          <p:nvPr/>
        </p:nvSpPr>
        <p:spPr>
          <a:xfrm>
            <a:off x="10606920" y="3383280"/>
            <a:ext cx="105156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00" b="1" i="0">
                <a:solidFill>
                  <a:srgbClr val="9B1C1C"/>
                </a:solidFill>
              </a:rPr>
              <a:t>goal</a:t>
            </a:r>
          </a:p>
        </p:txBody>
      </p:sp>
      <p:sp>
        <p:nvSpPr>
          <p:cNvPr id="17" name="Rounded Rectangle 16"/>
          <p:cNvSpPr/>
          <p:nvPr/>
        </p:nvSpPr>
        <p:spPr>
          <a:xfrm>
            <a:off x="777240" y="1417320"/>
            <a:ext cx="457200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The good</a:t>
            </a:r>
          </a:p>
        </p:txBody>
      </p:sp>
      <p:sp>
        <p:nvSpPr>
          <p:cNvPr id="18" name="Rounded Rectangle 17"/>
          <p:cNvSpPr/>
          <p:nvPr/>
        </p:nvSpPr>
        <p:spPr>
          <a:xfrm>
            <a:off x="777240" y="1874520"/>
            <a:ext cx="4572000" cy="91440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9" name="Rectangle 18"/>
          <p:cNvSpPr/>
          <p:nvPr/>
        </p:nvSpPr>
        <p:spPr>
          <a:xfrm>
            <a:off x="960120" y="1965960"/>
            <a:ext cx="420624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0" i="0">
                <a:solidFill>
                  <a:srgbClr val="102A4C"/>
                </a:solidFill>
              </a:rPr>
              <a:t>Complete and cost-optimal whenever every action costs at least ε &gt; 0.</a:t>
            </a:r>
          </a:p>
        </p:txBody>
      </p:sp>
      <p:sp>
        <p:nvSpPr>
          <p:cNvPr id="20" name="Rounded Rectangle 19"/>
          <p:cNvSpPr/>
          <p:nvPr/>
        </p:nvSpPr>
        <p:spPr>
          <a:xfrm>
            <a:off x="777240" y="2971800"/>
            <a:ext cx="457200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The bad</a:t>
            </a:r>
          </a:p>
        </p:txBody>
      </p:sp>
      <p:sp>
        <p:nvSpPr>
          <p:cNvPr id="21" name="Rounded Rectangle 20"/>
          <p:cNvSpPr/>
          <p:nvPr/>
        </p:nvSpPr>
        <p:spPr>
          <a:xfrm>
            <a:off x="777240" y="3429000"/>
            <a:ext cx="4572000" cy="118872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2" name="Rectangle 21"/>
          <p:cNvSpPr/>
          <p:nvPr/>
        </p:nvSpPr>
        <p:spPr>
          <a:xfrm>
            <a:off x="960120" y="3520440"/>
            <a:ext cx="420624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500"/>
              </a:spcAft>
            </a:pPr>
            <a:r>
              <a:rPr sz="1250" b="0" i="0">
                <a:solidFill>
                  <a:srgbClr val="102A4C"/>
                </a:solidFill>
              </a:rPr>
              <a:t>•  Expands outward in every direction equally</a:t>
            </a:r>
          </a:p>
          <a:p>
            <a:pPr algn="l">
              <a:spcAft>
                <a:spcPts val="500"/>
              </a:spcAft>
            </a:pPr>
            <a:r>
              <a:rPr sz="1250" b="0" i="0">
                <a:solidFill>
                  <a:srgbClr val="102A4C"/>
                </a:solidFill>
              </a:rPr>
              <a:t>•  Has no information about where the goal is</a:t>
            </a:r>
          </a:p>
          <a:p>
            <a:pPr algn="l">
              <a:spcAft>
                <a:spcPts val="500"/>
              </a:spcAft>
            </a:pPr>
            <a:r>
              <a:rPr sz="1250" b="0" i="0">
                <a:solidFill>
                  <a:srgbClr val="102A4C"/>
                </a:solidFill>
              </a:rPr>
              <a:t>•  Spends effort behind it as readily as in front</a:t>
            </a:r>
          </a:p>
        </p:txBody>
      </p:sp>
      <p:sp>
        <p:nvSpPr>
          <p:cNvPr id="23" name="Rectangle 22"/>
          <p:cNvSpPr/>
          <p:nvPr/>
        </p:nvSpPr>
        <p:spPr>
          <a:xfrm>
            <a:off x="914400" y="48463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Uniform-cost search is blind. It knows the cost of the past and nothing about the future.</a:t>
            </a:r>
          </a:p>
        </p:txBody>
      </p:sp>
      <p:sp>
        <p:nvSpPr>
          <p:cNvPr id="24" name="Rectangle 23"/>
          <p:cNvSpPr/>
          <p:nvPr/>
        </p:nvSpPr>
        <p:spPr>
          <a:xfrm>
            <a:off x="914400" y="54406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Section 3.5 adds a heuristic h(n), and the contours stretch toward the goal instead of surrounding the start.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Quiz: When Does Each Strategy Win?</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502920"/>
          </a:xfrm>
          <a:prstGeom prst="roundRect">
            <a:avLst>
              <a:gd name="adj" fmla="val 15384"/>
            </a:avLst>
          </a:prstGeom>
          <a:solidFill>
            <a:srgbClr val="D9E9FF"/>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550" b="1" i="0">
                <a:solidFill>
                  <a:srgbClr val="112E5C"/>
                </a:solidFill>
              </a:rPr>
              <a:t>When will BFS outperform DFS?</a:t>
            </a:r>
          </a:p>
        </p:txBody>
      </p:sp>
      <p:sp>
        <p:nvSpPr>
          <p:cNvPr id="8" name="Rounded Rectangle 7"/>
          <p:cNvSpPr/>
          <p:nvPr/>
        </p:nvSpPr>
        <p:spPr>
          <a:xfrm>
            <a:off x="777240" y="2103120"/>
            <a:ext cx="5029200" cy="201168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9" name="Rectangle 8"/>
          <p:cNvSpPr/>
          <p:nvPr/>
        </p:nvSpPr>
        <p:spPr>
          <a:xfrm>
            <a:off x="1005840" y="2194560"/>
            <a:ext cx="45720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200" b="1" i="0">
                <a:solidFill>
                  <a:srgbClr val="5C6B80"/>
                </a:solidFill>
              </a:rPr>
              <a:t>Look for:</a:t>
            </a:r>
          </a:p>
        </p:txBody>
      </p:sp>
      <p:sp>
        <p:nvSpPr>
          <p:cNvPr id="10" name="Rectangle 9"/>
          <p:cNvSpPr/>
          <p:nvPr/>
        </p:nvSpPr>
        <p:spPr>
          <a:xfrm>
            <a:off x="1005840" y="2514600"/>
            <a:ext cx="4572000" cy="1508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800"/>
              </a:spcAft>
            </a:pPr>
            <a:r>
              <a:rPr sz="1350" b="0" i="0">
                <a:solidFill>
                  <a:srgbClr val="102A4C"/>
                </a:solidFill>
              </a:rPr>
              <a:t>•  The solution is shallow relative to the tree</a:t>
            </a:r>
          </a:p>
          <a:p>
            <a:pPr algn="l">
              <a:spcAft>
                <a:spcPts val="800"/>
              </a:spcAft>
            </a:pPr>
            <a:r>
              <a:rPr sz="1350" b="0" i="0">
                <a:solidFill>
                  <a:srgbClr val="102A4C"/>
                </a:solidFill>
              </a:rPr>
              <a:t>•  Branches are deep, cyclic, or infinite</a:t>
            </a:r>
          </a:p>
          <a:p>
            <a:pPr algn="l">
              <a:spcAft>
                <a:spcPts val="800"/>
              </a:spcAft>
            </a:pPr>
            <a:r>
              <a:rPr sz="1350" b="0" i="0">
                <a:solidFill>
                  <a:srgbClr val="102A4C"/>
                </a:solidFill>
              </a:rPr>
              <a:t>•  You need the fewest-action solution</a:t>
            </a:r>
          </a:p>
          <a:p>
            <a:pPr algn="l">
              <a:spcAft>
                <a:spcPts val="800"/>
              </a:spcAft>
            </a:pPr>
            <a:r>
              <a:rPr sz="1350" b="0" i="0">
                <a:solidFill>
                  <a:srgbClr val="102A4C"/>
                </a:solidFill>
              </a:rPr>
              <a:t>•  Memory is available and the tier fits</a:t>
            </a:r>
          </a:p>
        </p:txBody>
      </p:sp>
      <p:sp>
        <p:nvSpPr>
          <p:cNvPr id="11" name="Rounded Rectangle 10"/>
          <p:cNvSpPr/>
          <p:nvPr/>
        </p:nvSpPr>
        <p:spPr>
          <a:xfrm>
            <a:off x="6385560" y="1417320"/>
            <a:ext cx="5029200" cy="50292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550" b="1" i="0">
                <a:solidFill>
                  <a:srgbClr val="112E5C"/>
                </a:solidFill>
              </a:rPr>
              <a:t>When will DFS outperform BFS?</a:t>
            </a:r>
          </a:p>
        </p:txBody>
      </p:sp>
      <p:sp>
        <p:nvSpPr>
          <p:cNvPr id="12" name="Rounded Rectangle 11"/>
          <p:cNvSpPr/>
          <p:nvPr/>
        </p:nvSpPr>
        <p:spPr>
          <a:xfrm>
            <a:off x="6385560" y="2103120"/>
            <a:ext cx="5029200" cy="201168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3" name="Rectangle 12"/>
          <p:cNvSpPr/>
          <p:nvPr/>
        </p:nvSpPr>
        <p:spPr>
          <a:xfrm>
            <a:off x="6614160" y="2194560"/>
            <a:ext cx="4572000" cy="2468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200" b="1" i="0">
                <a:solidFill>
                  <a:srgbClr val="5C6B80"/>
                </a:solidFill>
              </a:rPr>
              <a:t>Look for:</a:t>
            </a:r>
          </a:p>
        </p:txBody>
      </p:sp>
      <p:sp>
        <p:nvSpPr>
          <p:cNvPr id="14" name="Rectangle 13"/>
          <p:cNvSpPr/>
          <p:nvPr/>
        </p:nvSpPr>
        <p:spPr>
          <a:xfrm>
            <a:off x="6614160" y="2514600"/>
            <a:ext cx="4572000" cy="1508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800"/>
              </a:spcAft>
            </a:pPr>
            <a:r>
              <a:rPr sz="1350" b="0" i="0">
                <a:solidFill>
                  <a:srgbClr val="102A4C"/>
                </a:solidFill>
              </a:rPr>
              <a:t>•  Solutions are dense and lie deep</a:t>
            </a:r>
          </a:p>
          <a:p>
            <a:pPr algn="l">
              <a:spcAft>
                <a:spcPts val="800"/>
              </a:spcAft>
            </a:pPr>
            <a:r>
              <a:rPr sz="1350" b="0" i="0">
                <a:solidFill>
                  <a:srgbClr val="102A4C"/>
                </a:solidFill>
              </a:rPr>
              <a:t>•  The space is a finite tree with no cycles</a:t>
            </a:r>
          </a:p>
          <a:p>
            <a:pPr algn="l">
              <a:spcAft>
                <a:spcPts val="800"/>
              </a:spcAft>
            </a:pPr>
            <a:r>
              <a:rPr sz="1350" b="0" i="0">
                <a:solidFill>
                  <a:srgbClr val="102A4C"/>
                </a:solidFill>
              </a:rPr>
              <a:t>•  Memory is the binding constraint</a:t>
            </a:r>
          </a:p>
          <a:p>
            <a:pPr algn="l">
              <a:spcAft>
                <a:spcPts val="800"/>
              </a:spcAft>
            </a:pPr>
            <a:r>
              <a:rPr sz="1350" b="0" i="0">
                <a:solidFill>
                  <a:srgbClr val="102A4C"/>
                </a:solidFill>
              </a:rPr>
              <a:t>•  Any solution will do; cost is not the point</a:t>
            </a:r>
          </a:p>
        </p:txBody>
      </p:sp>
      <p:sp>
        <p:nvSpPr>
          <p:cNvPr id="15" name="Rectangle 14"/>
          <p:cNvSpPr/>
          <p:nvPr/>
        </p:nvSpPr>
        <p:spPr>
          <a:xfrm>
            <a:off x="914400" y="43891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Reason from the frontier, do not memorise the table.</a:t>
            </a:r>
          </a:p>
        </p:txBody>
      </p:sp>
      <p:sp>
        <p:nvSpPr>
          <p:cNvPr id="16" name="Rounded Rectangle 15"/>
          <p:cNvSpPr/>
          <p:nvPr/>
        </p:nvSpPr>
        <p:spPr>
          <a:xfrm>
            <a:off x="914400" y="4754880"/>
            <a:ext cx="10424160" cy="59436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7" name="Rectangle 16"/>
          <p:cNvSpPr/>
          <p:nvPr/>
        </p:nvSpPr>
        <p:spPr>
          <a:xfrm>
            <a:off x="1097280" y="4800600"/>
            <a:ext cx="1005840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500" b="1" i="0">
                <a:solidFill>
                  <a:srgbClr val="112E5C"/>
                </a:solidFill>
              </a:rPr>
              <a:t>BFS holds an entire tier: </a:t>
            </a:r>
            <a:r>
              <a:rPr sz="1800" b="1" i="0">
                <a:solidFill>
                  <a:srgbClr val="9B1C1C"/>
                </a:solidFill>
              </a:rPr>
              <a:t>O(bᵈ)</a:t>
            </a:r>
            <a:r>
              <a:rPr sz="1500" b="1" i="0">
                <a:solidFill>
                  <a:srgbClr val="112E5C"/>
                </a:solidFill>
              </a:rPr>
              <a:t>     DFS holds one path and its siblings: </a:t>
            </a:r>
            <a:r>
              <a:rPr sz="1800" b="1" i="0">
                <a:solidFill>
                  <a:srgbClr val="177245"/>
                </a:solidFill>
              </a:rPr>
              <a:t>O(bm)</a:t>
            </a:r>
          </a:p>
        </p:txBody>
      </p:sp>
      <p:sp>
        <p:nvSpPr>
          <p:cNvPr id="18" name="Rectangle 17"/>
          <p:cNvSpPr/>
          <p:nvPr/>
        </p:nvSpPr>
        <p:spPr>
          <a:xfrm>
            <a:off x="914400" y="548640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350" b="0" i="0">
                <a:solidFill>
                  <a:srgbClr val="5C6B80"/>
                </a:solidFill>
              </a:rPr>
              <a:t>Every property on the comparison table falls out of which node the frontier hands back next.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Is Iterative Deepening Wasteful?</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ectangle 6"/>
          <p:cNvSpPr/>
          <p:nvPr/>
        </p:nvSpPr>
        <p:spPr>
          <a:xfrm>
            <a:off x="777240" y="1417320"/>
            <a:ext cx="50292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1" i="0">
                <a:solidFill>
                  <a:srgbClr val="112E5C"/>
                </a:solidFill>
              </a:rPr>
              <a:t>Nodes generated for b = 10, d = 5</a:t>
            </a:r>
          </a:p>
        </p:txBody>
      </p:sp>
      <p:sp>
        <p:nvSpPr>
          <p:cNvPr id="8" name="Rounded Rectangle 7"/>
          <p:cNvSpPr/>
          <p:nvPr/>
        </p:nvSpPr>
        <p:spPr>
          <a:xfrm>
            <a:off x="777240" y="1783080"/>
            <a:ext cx="5029200" cy="173736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9" name="Rectangle 8"/>
          <p:cNvSpPr/>
          <p:nvPr/>
        </p:nvSpPr>
        <p:spPr>
          <a:xfrm>
            <a:off x="960120" y="1920240"/>
            <a:ext cx="914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112E5C"/>
                </a:solidFill>
              </a:rPr>
              <a:t>N(IDS)</a:t>
            </a:r>
          </a:p>
        </p:txBody>
      </p:sp>
      <p:sp>
        <p:nvSpPr>
          <p:cNvPr id="10" name="Rectangle 9"/>
          <p:cNvSpPr/>
          <p:nvPr/>
        </p:nvSpPr>
        <p:spPr>
          <a:xfrm>
            <a:off x="1965960" y="1920240"/>
            <a:ext cx="23774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50 + 400 + 3,000 + 20,000 + 100,000</a:t>
            </a:r>
          </a:p>
        </p:txBody>
      </p:sp>
      <p:sp>
        <p:nvSpPr>
          <p:cNvPr id="11" name="Rectangle 10"/>
          <p:cNvSpPr/>
          <p:nvPr/>
        </p:nvSpPr>
        <p:spPr>
          <a:xfrm>
            <a:off x="4434840" y="1920240"/>
            <a:ext cx="11887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500" b="1" i="0">
                <a:solidFill>
                  <a:srgbClr val="9B1C1C"/>
                </a:solidFill>
              </a:rPr>
              <a:t>123,450</a:t>
            </a:r>
          </a:p>
        </p:txBody>
      </p:sp>
      <p:sp>
        <p:nvSpPr>
          <p:cNvPr id="12" name="Rectangle 11"/>
          <p:cNvSpPr/>
          <p:nvPr/>
        </p:nvSpPr>
        <p:spPr>
          <a:xfrm>
            <a:off x="960120" y="2377440"/>
            <a:ext cx="9144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00" b="1" i="0">
                <a:solidFill>
                  <a:srgbClr val="112E5C"/>
                </a:solidFill>
              </a:rPr>
              <a:t>N(BFS)</a:t>
            </a:r>
          </a:p>
        </p:txBody>
      </p:sp>
      <p:sp>
        <p:nvSpPr>
          <p:cNvPr id="13" name="Rectangle 12"/>
          <p:cNvSpPr/>
          <p:nvPr/>
        </p:nvSpPr>
        <p:spPr>
          <a:xfrm>
            <a:off x="1965960" y="2377440"/>
            <a:ext cx="23774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150" b="0" i="0">
                <a:solidFill>
                  <a:srgbClr val="5C6B80"/>
                </a:solidFill>
              </a:rPr>
              <a:t>10 + 100 + 1,000 + 10,000 + 100,000</a:t>
            </a:r>
          </a:p>
        </p:txBody>
      </p:sp>
      <p:sp>
        <p:nvSpPr>
          <p:cNvPr id="14" name="Rectangle 13"/>
          <p:cNvSpPr/>
          <p:nvPr/>
        </p:nvSpPr>
        <p:spPr>
          <a:xfrm>
            <a:off x="4434840" y="2377440"/>
            <a:ext cx="11887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r">
              <a:spcAft>
                <a:spcPts val="400"/>
              </a:spcAft>
            </a:pPr>
            <a:r>
              <a:rPr sz="1500" b="1" i="0">
                <a:solidFill>
                  <a:srgbClr val="177245"/>
                </a:solidFill>
              </a:rPr>
              <a:t>111,110</a:t>
            </a:r>
          </a:p>
        </p:txBody>
      </p:sp>
      <p:cxnSp>
        <p:nvCxnSpPr>
          <p:cNvPr id="15" name="Connector 14"/>
          <p:cNvCxnSpPr/>
          <p:nvPr/>
        </p:nvCxnSpPr>
        <p:spPr>
          <a:xfrm>
            <a:off x="960120" y="2880360"/>
            <a:ext cx="4663440" cy="0"/>
          </a:xfrm>
          <a:prstGeom prst="line">
            <a:avLst/>
          </a:prstGeom>
          <a:ln w="12700">
            <a:solidFill>
              <a:srgbClr val="D8DEE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960120" y="2971800"/>
            <a:ext cx="4663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400" b="1" i="0">
                <a:solidFill>
                  <a:srgbClr val="112E5C"/>
                </a:solidFill>
              </a:rPr>
              <a:t>Overhead: about 11 percent, and asymptotically O(bᵈ) either way.</a:t>
            </a:r>
          </a:p>
        </p:txBody>
      </p:sp>
      <p:sp>
        <p:nvSpPr>
          <p:cNvPr id="17" name="Rectangle 16"/>
          <p:cNvSpPr/>
          <p:nvPr/>
        </p:nvSpPr>
        <p:spPr>
          <a:xfrm>
            <a:off x="6385560" y="1417320"/>
            <a:ext cx="50292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l">
              <a:spcAft>
                <a:spcPts val="400"/>
              </a:spcAft>
            </a:pPr>
            <a:r>
              <a:rPr sz="1350" b="1" i="0">
                <a:solidFill>
                  <a:srgbClr val="112E5C"/>
                </a:solidFill>
              </a:rPr>
              <a:t>Choosing the depth limit ℓ</a:t>
            </a:r>
          </a:p>
        </p:txBody>
      </p:sp>
      <p:sp>
        <p:nvSpPr>
          <p:cNvPr id="18" name="Rounded Rectangle 17"/>
          <p:cNvSpPr/>
          <p:nvPr/>
        </p:nvSpPr>
        <p:spPr>
          <a:xfrm>
            <a:off x="6385560" y="1783080"/>
            <a:ext cx="5029200" cy="173736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9" name="Rectangle 18"/>
          <p:cNvSpPr/>
          <p:nvPr/>
        </p:nvSpPr>
        <p:spPr>
          <a:xfrm>
            <a:off x="6568440" y="1920240"/>
            <a:ext cx="4663440" cy="1508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600"/>
              </a:spcAft>
            </a:pPr>
            <a:r>
              <a:rPr sz="1250" b="0" i="0">
                <a:solidFill>
                  <a:srgbClr val="102A4C"/>
                </a:solidFill>
              </a:rPr>
              <a:t>•  Romania has 20 cities, so ℓ = 19 is always valid</a:t>
            </a:r>
          </a:p>
          <a:p>
            <a:pPr algn="l">
              <a:spcAft>
                <a:spcPts val="600"/>
              </a:spcAft>
            </a:pPr>
            <a:r>
              <a:rPr sz="1250" b="0" i="0">
                <a:solidFill>
                  <a:srgbClr val="102A4C"/>
                </a:solidFill>
              </a:rPr>
              <a:t>•  But any city is reachable from any other in at most 9 actions</a:t>
            </a:r>
          </a:p>
          <a:p>
            <a:pPr algn="l">
              <a:spcAft>
                <a:spcPts val="600"/>
              </a:spcAft>
            </a:pPr>
            <a:r>
              <a:rPr sz="1250" b="0" i="0">
                <a:solidFill>
                  <a:srgbClr val="102A4C"/>
                </a:solidFill>
              </a:rPr>
              <a:t>•  That number is the diameter of the state-space graph, and it gives a far better limit</a:t>
            </a:r>
          </a:p>
          <a:p>
            <a:pPr algn="l">
              <a:spcAft>
                <a:spcPts val="600"/>
              </a:spcAft>
            </a:pPr>
            <a:r>
              <a:rPr sz="1250" b="0" i="0">
                <a:solidFill>
                  <a:srgbClr val="102A4C"/>
                </a:solidFill>
              </a:rPr>
              <a:t>•  For most problems the diameter is unknown until the problem is solved</a:t>
            </a:r>
          </a:p>
        </p:txBody>
      </p:sp>
      <p:sp>
        <p:nvSpPr>
          <p:cNvPr id="20" name="Rectangle 19"/>
          <p:cNvSpPr/>
          <p:nvPr/>
        </p:nvSpPr>
        <p:spPr>
          <a:xfrm>
            <a:off x="914400" y="374904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Most of the nodes are in the bottom tier, so re-generating the upper tiers costs almost nothing.</a:t>
            </a:r>
          </a:p>
        </p:txBody>
      </p:sp>
      <p:sp>
        <p:nvSpPr>
          <p:cNvPr id="21" name="Rectangle 20"/>
          <p:cNvSpPr/>
          <p:nvPr/>
        </p:nvSpPr>
        <p:spPr>
          <a:xfrm>
            <a:off x="914400" y="42519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400" b="0" i="0">
                <a:solidFill>
                  <a:srgbClr val="5C6B80"/>
                </a:solidFill>
              </a:rPr>
              <a:t>The children of the root are generated d times; the bottom level exactly once.</a:t>
            </a:r>
          </a:p>
        </p:txBody>
      </p:sp>
      <p:sp>
        <p:nvSpPr>
          <p:cNvPr id="22" name="Rounded Rectangle 21"/>
          <p:cNvSpPr/>
          <p:nvPr/>
        </p:nvSpPr>
        <p:spPr>
          <a:xfrm>
            <a:off x="914400" y="4617720"/>
            <a:ext cx="10424160" cy="731520"/>
          </a:xfrm>
          <a:prstGeom prst="roundRect">
            <a:avLst>
              <a:gd name="adj" fmla="val 4500"/>
            </a:avLst>
          </a:prstGeom>
          <a:solidFill>
            <a:srgbClr val="D9E9FF"/>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3" name="Rectangle 22"/>
          <p:cNvSpPr/>
          <p:nvPr/>
        </p:nvSpPr>
        <p:spPr>
          <a:xfrm>
            <a:off x="1097280" y="4709160"/>
            <a:ext cx="1005840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400" b="1" i="0">
                <a:solidFill>
                  <a:srgbClr val="112E5C"/>
                </a:solidFill>
              </a:rPr>
              <a:t>Hybrid worth mentioning: run BFS until memory is nearly exhausted, then run iterative deepening from every node left on the frontier.</a:t>
            </a:r>
          </a:p>
        </p:txBody>
      </p:sp>
      <p:sp>
        <p:nvSpPr>
          <p:cNvPr id="24" name="Rectangle 23"/>
          <p:cNvSpPr/>
          <p:nvPr/>
        </p:nvSpPr>
        <p:spPr>
          <a:xfrm>
            <a:off x="914400" y="553212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IDS is the preferred uninformed method when the state space exceeds memory and the solution depth is unknown.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Bidirectional Search: Mechanics and Cautions</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Oval 6"/>
          <p:cNvSpPr/>
          <p:nvPr/>
        </p:nvSpPr>
        <p:spPr>
          <a:xfrm>
            <a:off x="2057400" y="2148840"/>
            <a:ext cx="457200" cy="457200"/>
          </a:xfrm>
          <a:prstGeom prst="ellipse">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112E5C"/>
                </a:solidFill>
              </a:rPr>
              <a:t>S</a:t>
            </a:r>
          </a:p>
        </p:txBody>
      </p:sp>
      <p:sp>
        <p:nvSpPr>
          <p:cNvPr id="8" name="Oval 7"/>
          <p:cNvSpPr/>
          <p:nvPr/>
        </p:nvSpPr>
        <p:spPr>
          <a:xfrm>
            <a:off x="9677400" y="2148840"/>
            <a:ext cx="457200" cy="457200"/>
          </a:xfrm>
          <a:prstGeom prst="ellipse">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i="0">
                <a:solidFill>
                  <a:srgbClr val="112E5C"/>
                </a:solidFill>
              </a:rPr>
              <a:t>G</a:t>
            </a:r>
          </a:p>
        </p:txBody>
      </p:sp>
      <p:sp>
        <p:nvSpPr>
          <p:cNvPr id="9" name="Oval 8"/>
          <p:cNvSpPr/>
          <p:nvPr/>
        </p:nvSpPr>
        <p:spPr>
          <a:xfrm>
            <a:off x="3017520" y="2194560"/>
            <a:ext cx="365760" cy="365760"/>
          </a:xfrm>
          <a:prstGeom prst="ellipse">
            <a:avLst/>
          </a:prstGeom>
          <a:solidFill>
            <a:srgbClr val="FFFFFF"/>
          </a:solidFill>
          <a:ln w="15240">
            <a:solidFill>
              <a:srgbClr val="2F7FD5"/>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0" name="Oval 9"/>
          <p:cNvSpPr/>
          <p:nvPr/>
        </p:nvSpPr>
        <p:spPr>
          <a:xfrm>
            <a:off x="3886200" y="2148840"/>
            <a:ext cx="457200" cy="457200"/>
          </a:xfrm>
          <a:prstGeom prst="ellipse">
            <a:avLst/>
          </a:prstGeom>
          <a:solidFill>
            <a:srgbClr val="FFFFFF"/>
          </a:solidFill>
          <a:ln w="15240">
            <a:solidFill>
              <a:srgbClr val="2F7FD5"/>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1" name="Oval 10"/>
          <p:cNvSpPr/>
          <p:nvPr/>
        </p:nvSpPr>
        <p:spPr>
          <a:xfrm>
            <a:off x="4754880" y="2103120"/>
            <a:ext cx="548640" cy="548640"/>
          </a:xfrm>
          <a:prstGeom prst="ellipse">
            <a:avLst/>
          </a:prstGeom>
          <a:solidFill>
            <a:srgbClr val="FFFFFF"/>
          </a:solidFill>
          <a:ln w="15240">
            <a:solidFill>
              <a:srgbClr val="2F7FD5"/>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2" name="Oval 11"/>
          <p:cNvSpPr/>
          <p:nvPr/>
        </p:nvSpPr>
        <p:spPr>
          <a:xfrm>
            <a:off x="5394960" y="2057400"/>
            <a:ext cx="640080" cy="640080"/>
          </a:xfrm>
          <a:prstGeom prst="ellipse">
            <a:avLst/>
          </a:prstGeom>
          <a:solidFill>
            <a:srgbClr val="FFFFFF"/>
          </a:solidFill>
          <a:ln w="15240">
            <a:solidFill>
              <a:srgbClr val="2F7FD5"/>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3" name="Oval 12"/>
          <p:cNvSpPr/>
          <p:nvPr/>
        </p:nvSpPr>
        <p:spPr>
          <a:xfrm>
            <a:off x="8808720" y="2194560"/>
            <a:ext cx="365760" cy="365760"/>
          </a:xfrm>
          <a:prstGeom prst="ellipse">
            <a:avLst/>
          </a:prstGeom>
          <a:solidFill>
            <a:srgbClr val="FFFFFF"/>
          </a:solidFill>
          <a:ln w="15240">
            <a:solidFill>
              <a:srgbClr val="9B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4" name="Oval 13"/>
          <p:cNvSpPr/>
          <p:nvPr/>
        </p:nvSpPr>
        <p:spPr>
          <a:xfrm>
            <a:off x="7848600" y="2148840"/>
            <a:ext cx="457200" cy="457200"/>
          </a:xfrm>
          <a:prstGeom prst="ellipse">
            <a:avLst/>
          </a:prstGeom>
          <a:solidFill>
            <a:srgbClr val="FFFFFF"/>
          </a:solidFill>
          <a:ln w="15240">
            <a:solidFill>
              <a:srgbClr val="9B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5" name="Oval 14"/>
          <p:cNvSpPr/>
          <p:nvPr/>
        </p:nvSpPr>
        <p:spPr>
          <a:xfrm>
            <a:off x="6888480" y="2103120"/>
            <a:ext cx="548640" cy="548640"/>
          </a:xfrm>
          <a:prstGeom prst="ellipse">
            <a:avLst/>
          </a:prstGeom>
          <a:solidFill>
            <a:srgbClr val="FFFFFF"/>
          </a:solidFill>
          <a:ln w="15240">
            <a:solidFill>
              <a:srgbClr val="9B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sp>
        <p:nvSpPr>
          <p:cNvPr id="16" name="Oval 15"/>
          <p:cNvSpPr/>
          <p:nvPr/>
        </p:nvSpPr>
        <p:spPr>
          <a:xfrm>
            <a:off x="6156960" y="2057400"/>
            <a:ext cx="640080" cy="640080"/>
          </a:xfrm>
          <a:prstGeom prst="ellipse">
            <a:avLst/>
          </a:prstGeom>
          <a:solidFill>
            <a:srgbClr val="FFFFFF"/>
          </a:solidFill>
          <a:ln w="15240">
            <a:solidFill>
              <a:srgbClr val="9B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50" b="1" i="0">
                <a:solidFill>
                  <a:srgbClr val="112E5C"/>
                </a:solidFill>
              </a:rPr>
              <a:t/>
            </a:r>
          </a:p>
        </p:txBody>
      </p:sp>
      <p:cxnSp>
        <p:nvCxnSpPr>
          <p:cNvPr id="17" name="Connector 16"/>
          <p:cNvCxnSpPr/>
          <p:nvPr/>
        </p:nvCxnSpPr>
        <p:spPr>
          <a:xfrm>
            <a:off x="6095847" y="1691640"/>
            <a:ext cx="0" cy="1371600"/>
          </a:xfrm>
          <a:prstGeom prst="line">
            <a:avLst/>
          </a:prstGeom>
          <a:ln w="28575">
            <a:solidFill>
              <a:srgbClr val="F6A01A"/>
            </a:solidFill>
            <a:prstDash val="sysDash"/>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5181447" y="3108960"/>
            <a:ext cx="18288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50" b="1" i="0">
                <a:solidFill>
                  <a:srgbClr val="112E5C"/>
                </a:solidFill>
              </a:rPr>
              <a:t>frontiers collide</a:t>
            </a:r>
          </a:p>
        </p:txBody>
      </p:sp>
      <p:sp>
        <p:nvSpPr>
          <p:cNvPr id="19" name="Rectangle 18"/>
          <p:cNvSpPr/>
          <p:nvPr/>
        </p:nvSpPr>
        <p:spPr>
          <a:xfrm>
            <a:off x="2286000" y="1554480"/>
            <a:ext cx="13716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00" b="1" i="0">
                <a:solidFill>
                  <a:srgbClr val="2F7FD5"/>
                </a:solidFill>
              </a:rPr>
              <a:t>forward</a:t>
            </a:r>
          </a:p>
        </p:txBody>
      </p:sp>
      <p:sp>
        <p:nvSpPr>
          <p:cNvPr id="20" name="Rectangle 19"/>
          <p:cNvSpPr/>
          <p:nvPr/>
        </p:nvSpPr>
        <p:spPr>
          <a:xfrm>
            <a:off x="9220200" y="1554480"/>
            <a:ext cx="1371600" cy="21945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spcAft>
                <a:spcPts val="400"/>
              </a:spcAft>
            </a:pPr>
            <a:r>
              <a:rPr sz="1100" b="1" i="0">
                <a:solidFill>
                  <a:srgbClr val="9B1C1C"/>
                </a:solidFill>
              </a:rPr>
              <a:t>backward</a:t>
            </a:r>
          </a:p>
        </p:txBody>
      </p:sp>
      <p:sp>
        <p:nvSpPr>
          <p:cNvPr id="21" name="Rounded Rectangle 20"/>
          <p:cNvSpPr/>
          <p:nvPr/>
        </p:nvSpPr>
        <p:spPr>
          <a:xfrm>
            <a:off x="777240" y="3200400"/>
            <a:ext cx="5029200" cy="411480"/>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What it requires</a:t>
            </a:r>
          </a:p>
        </p:txBody>
      </p:sp>
      <p:sp>
        <p:nvSpPr>
          <p:cNvPr id="22" name="Rounded Rectangle 21"/>
          <p:cNvSpPr/>
          <p:nvPr/>
        </p:nvSpPr>
        <p:spPr>
          <a:xfrm>
            <a:off x="777240" y="3657600"/>
            <a:ext cx="5029200" cy="155448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3" name="Rectangle 22"/>
          <p:cNvSpPr/>
          <p:nvPr/>
        </p:nvSpPr>
        <p:spPr>
          <a:xfrm>
            <a:off x="960120" y="3749040"/>
            <a:ext cx="4663440" cy="1371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600"/>
              </a:spcAft>
            </a:pPr>
            <a:r>
              <a:rPr sz="1250" b="0" i="0">
                <a:solidFill>
                  <a:srgbClr val="102A4C"/>
                </a:solidFill>
              </a:rPr>
              <a:t>•  Two frontiers and two reached tables</a:t>
            </a:r>
          </a:p>
          <a:p>
            <a:pPr algn="l">
              <a:spcAft>
                <a:spcPts val="600"/>
              </a:spcAft>
            </a:pPr>
            <a:r>
              <a:rPr sz="1250" b="0" i="0">
                <a:solidFill>
                  <a:srgbClr val="102A4C"/>
                </a:solidFill>
              </a:rPr>
              <a:t>•  Reversible reasoning: if s′ follows s forward, s must follow s′ backward</a:t>
            </a:r>
          </a:p>
          <a:p>
            <a:pPr algn="l">
              <a:spcAft>
                <a:spcPts val="600"/>
              </a:spcAft>
            </a:pPr>
            <a:r>
              <a:rPr sz="1250" b="0" i="0">
                <a:solidFill>
                  <a:srgbClr val="102A4C"/>
                </a:solidFill>
              </a:rPr>
              <a:t>•  An explicit goal state, not merely a goal property</a:t>
            </a:r>
          </a:p>
          <a:p>
            <a:pPr algn="l">
              <a:spcAft>
                <a:spcPts val="600"/>
              </a:spcAft>
            </a:pPr>
            <a:r>
              <a:rPr sz="1250" b="0" i="0">
                <a:solidFill>
                  <a:srgbClr val="102A4C"/>
                </a:solidFill>
              </a:rPr>
              <a:t>•  A collision test, plus a best-solution-so-far until Terminated proves nothing better remains</a:t>
            </a:r>
          </a:p>
        </p:txBody>
      </p:sp>
      <p:sp>
        <p:nvSpPr>
          <p:cNvPr id="24" name="Rounded Rectangle 23"/>
          <p:cNvSpPr/>
          <p:nvPr/>
        </p:nvSpPr>
        <p:spPr>
          <a:xfrm>
            <a:off x="6385560" y="3200400"/>
            <a:ext cx="5029200" cy="411480"/>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00" b="1" i="0">
                <a:solidFill>
                  <a:srgbClr val="112E5C"/>
                </a:solidFill>
              </a:rPr>
              <a:t>What it buys</a:t>
            </a:r>
          </a:p>
        </p:txBody>
      </p:sp>
      <p:sp>
        <p:nvSpPr>
          <p:cNvPr id="25" name="Rounded Rectangle 24"/>
          <p:cNvSpPr/>
          <p:nvPr/>
        </p:nvSpPr>
        <p:spPr>
          <a:xfrm>
            <a:off x="6385560" y="3657600"/>
            <a:ext cx="5029200" cy="1554480"/>
          </a:xfrm>
          <a:prstGeom prst="roundRect">
            <a:avLst>
              <a:gd name="adj" fmla="val 4500"/>
            </a:avLst>
          </a:prstGeom>
          <a:solidFill>
            <a:srgbClr val="F7F9FC"/>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26" name="Rectangle 25"/>
          <p:cNvSpPr/>
          <p:nvPr/>
        </p:nvSpPr>
        <p:spPr>
          <a:xfrm>
            <a:off x="6568440" y="3749040"/>
            <a:ext cx="4663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2400" b="1" i="0">
                <a:solidFill>
                  <a:srgbClr val="112E5C"/>
                </a:solidFill>
              </a:rPr>
              <a:t>b</a:t>
            </a:r>
            <a:r>
              <a:rPr sz="1400" b="1" i="0">
                <a:solidFill>
                  <a:srgbClr val="112E5C"/>
                </a:solidFill>
              </a:rPr>
              <a:t>d/2</a:t>
            </a:r>
            <a:r>
              <a:rPr sz="2000" b="1" i="0">
                <a:solidFill>
                  <a:srgbClr val="5C6B80"/>
                </a:solidFill>
              </a:rPr>
              <a:t>  +  </a:t>
            </a:r>
            <a:r>
              <a:rPr sz="2400" b="1" i="0">
                <a:solidFill>
                  <a:srgbClr val="112E5C"/>
                </a:solidFill>
              </a:rPr>
              <a:t>b</a:t>
            </a:r>
            <a:r>
              <a:rPr sz="1400" b="1" i="0">
                <a:solidFill>
                  <a:srgbClr val="112E5C"/>
                </a:solidFill>
              </a:rPr>
              <a:t>d/2</a:t>
            </a:r>
            <a:r>
              <a:rPr sz="2000" b="1" i="0">
                <a:solidFill>
                  <a:srgbClr val="5C6B80"/>
                </a:solidFill>
              </a:rPr>
              <a:t>   ≪   </a:t>
            </a:r>
            <a:r>
              <a:rPr sz="2400" b="1" i="0">
                <a:solidFill>
                  <a:srgbClr val="9B1C1C"/>
                </a:solidFill>
              </a:rPr>
              <a:t>b</a:t>
            </a:r>
            <a:r>
              <a:rPr sz="1400" b="1" i="0">
                <a:solidFill>
                  <a:srgbClr val="9B1C1C"/>
                </a:solidFill>
              </a:rPr>
              <a:t>d</a:t>
            </a:r>
          </a:p>
        </p:txBody>
      </p:sp>
      <p:sp>
        <p:nvSpPr>
          <p:cNvPr id="27" name="Rectangle 26"/>
          <p:cNvSpPr/>
          <p:nvPr/>
        </p:nvSpPr>
        <p:spPr>
          <a:xfrm>
            <a:off x="6568440" y="4297680"/>
            <a:ext cx="466344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600"/>
              </a:spcAft>
            </a:pPr>
            <a:r>
              <a:rPr sz="1250" b="0" i="0">
                <a:solidFill>
                  <a:srgbClr val="102A4C"/>
                </a:solidFill>
              </a:rPr>
              <a:t>•  About 50,000 times fewer nodes when b = d = 10</a:t>
            </a:r>
          </a:p>
          <a:p>
            <a:pPr algn="l">
              <a:spcAft>
                <a:spcPts val="600"/>
              </a:spcAft>
            </a:pPr>
            <a:r>
              <a:rPr sz="1250" b="0" i="0">
                <a:solidFill>
                  <a:srgbClr val="102A4C"/>
                </a:solidFill>
              </a:rPr>
              <a:t>•  With f = path cost, no node above C* / 2 is ever expanded</a:t>
            </a:r>
          </a:p>
        </p:txBody>
      </p:sp>
      <p:sp>
        <p:nvSpPr>
          <p:cNvPr id="28" name="Rectangle 27"/>
          <p:cNvSpPr/>
          <p:nvPr/>
        </p:nvSpPr>
        <p:spPr>
          <a:xfrm>
            <a:off x="914400" y="534924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The expansion rule is global: expand the minimum-f node across either frontier, not one from each in turn.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EF5F8"/>
        </a:solidFill>
        <a:effectLst/>
      </p:bgPr>
    </p:bg>
    <p:spTree>
      <p:nvGrpSpPr>
        <p:cNvPr id="1" name=""/>
        <p:cNvGrpSpPr/>
        <p:nvPr/>
      </p:nvGrpSpPr>
      <p:grpSpPr/>
      <p:sp>
        <p:nvSpPr>
          <p:cNvPr id="2" name="Rectangle 1"/>
          <p:cNvSpPr/>
          <p:nvPr/>
        </p:nvSpPr>
        <p:spPr>
          <a:xfrm>
            <a:off x="228600" y="228600"/>
            <a:ext cx="11750040" cy="749808"/>
          </a:xfrm>
          <a:prstGeom prst="rect">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3" name="Rectangle 2"/>
          <p:cNvSpPr/>
          <p:nvPr/>
        </p:nvSpPr>
        <p:spPr>
          <a:xfrm>
            <a:off x="228600" y="978408"/>
            <a:ext cx="11750040" cy="64008"/>
          </a:xfrm>
          <a:prstGeom prst="rect">
            <a:avLst/>
          </a:prstGeom>
          <a:solidFill>
            <a:srgbClr val="F6A01A"/>
          </a:solidFill>
          <a:ln w="12700">
            <a:solidFill>
              <a:srgbClr val="F6A01A"/>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4" name="Rectangle 3"/>
          <p:cNvSpPr/>
          <p:nvPr/>
        </p:nvSpPr>
        <p:spPr>
          <a:xfrm>
            <a:off x="502920" y="393192"/>
            <a:ext cx="1078992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2600" b="1" i="0">
                <a:solidFill>
                  <a:srgbClr val="FFFFFF"/>
                </a:solidFill>
              </a:rPr>
              <a:t>What Uninformed Search Cannot Do</a:t>
            </a:r>
          </a:p>
        </p:txBody>
      </p:sp>
      <p:sp>
        <p:nvSpPr>
          <p:cNvPr id="5" name="Rectangle 4"/>
          <p:cNvSpPr/>
          <p:nvPr/>
        </p:nvSpPr>
        <p:spPr>
          <a:xfrm>
            <a:off x="502920" y="6510528"/>
            <a:ext cx="466344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l"/>
            <a:r>
              <a:rPr sz="850" b="0" i="0">
                <a:solidFill>
                  <a:srgbClr val="5C6B80"/>
                </a:solidFill>
              </a:rPr>
              <a:t>CSU Channel Islands · Department of Computer Science</a:t>
            </a:r>
          </a:p>
        </p:txBody>
      </p:sp>
      <p:sp>
        <p:nvSpPr>
          <p:cNvPr id="6" name="Rectangle 5"/>
          <p:cNvSpPr/>
          <p:nvPr/>
        </p:nvSpPr>
        <p:spPr>
          <a:xfrm>
            <a:off x="8869680" y="6510528"/>
            <a:ext cx="2788920" cy="21031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r"/>
            <a:r>
              <a:rPr sz="850" b="0" i="0">
                <a:solidFill>
                  <a:srgbClr val="5C6B80"/>
                </a:solidFill>
              </a:rPr>
              <a:t>COMP 469 · Chapter 3 · Sections 3.1-3.4</a:t>
            </a:r>
          </a:p>
        </p:txBody>
      </p:sp>
      <p:sp>
        <p:nvSpPr>
          <p:cNvPr id="7" name="Rounded Rectangle 6"/>
          <p:cNvSpPr/>
          <p:nvPr/>
        </p:nvSpPr>
        <p:spPr>
          <a:xfrm>
            <a:off x="777240" y="1417320"/>
            <a:ext cx="5029200" cy="475488"/>
          </a:xfrm>
          <a:prstGeom prst="roundRect">
            <a:avLst>
              <a:gd name="adj" fmla="val 15384"/>
            </a:avLst>
          </a:prstGeom>
          <a:solidFill>
            <a:srgbClr val="DBF1E3"/>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50" b="1" i="0">
                <a:solidFill>
                  <a:srgbClr val="112E5C"/>
                </a:solidFill>
              </a:rPr>
              <a:t>What we have after 3.1-3.4</a:t>
            </a:r>
          </a:p>
        </p:txBody>
      </p:sp>
      <p:sp>
        <p:nvSpPr>
          <p:cNvPr id="8" name="Rounded Rectangle 7"/>
          <p:cNvSpPr/>
          <p:nvPr/>
        </p:nvSpPr>
        <p:spPr>
          <a:xfrm>
            <a:off x="777240" y="2011680"/>
            <a:ext cx="502920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9" name="Rectangle 8"/>
          <p:cNvSpPr/>
          <p:nvPr/>
        </p:nvSpPr>
        <p:spPr>
          <a:xfrm>
            <a:off x="1005840" y="2148840"/>
            <a:ext cx="45720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700"/>
              </a:spcAft>
            </a:pPr>
            <a:r>
              <a:rPr sz="1300" b="0" i="0">
                <a:solidFill>
                  <a:srgbClr val="102A4C"/>
                </a:solidFill>
              </a:rPr>
              <a:t>•  A formulation discipline: six parts, every time</a:t>
            </a:r>
          </a:p>
          <a:p>
            <a:pPr algn="l">
              <a:spcAft>
                <a:spcPts val="700"/>
              </a:spcAft>
            </a:pPr>
            <a:r>
              <a:rPr sz="1300" b="0" i="0">
                <a:solidFill>
                  <a:srgbClr val="102A4C"/>
                </a:solidFill>
              </a:rPr>
              <a:t>•  One algorithm, best-first search, with a swappable f(n)</a:t>
            </a:r>
          </a:p>
          <a:p>
            <a:pPr algn="l">
              <a:spcAft>
                <a:spcPts val="700"/>
              </a:spcAft>
            </a:pPr>
            <a:r>
              <a:rPr sz="1300" b="0" i="0">
                <a:solidFill>
                  <a:srgbClr val="102A4C"/>
                </a:solidFill>
              </a:rPr>
              <a:t>•  Completeness and cost-optimality we can actually argue for</a:t>
            </a:r>
          </a:p>
          <a:p>
            <a:pPr algn="l">
              <a:spcAft>
                <a:spcPts val="700"/>
              </a:spcAft>
            </a:pPr>
            <a:r>
              <a:rPr sz="1300" b="0" i="0">
                <a:solidFill>
                  <a:srgbClr val="102A4C"/>
                </a:solidFill>
              </a:rPr>
              <a:t>•  And an exponential bill we cannot pay</a:t>
            </a:r>
          </a:p>
        </p:txBody>
      </p:sp>
      <p:sp>
        <p:nvSpPr>
          <p:cNvPr id="10" name="Rounded Rectangle 9"/>
          <p:cNvSpPr/>
          <p:nvPr/>
        </p:nvSpPr>
        <p:spPr>
          <a:xfrm>
            <a:off x="6385560" y="1417320"/>
            <a:ext cx="5029200" cy="475488"/>
          </a:xfrm>
          <a:prstGeom prst="roundRect">
            <a:avLst>
              <a:gd name="adj" fmla="val 15384"/>
            </a:avLst>
          </a:prstGeom>
          <a:solidFill>
            <a:srgbClr val="FFE5B6"/>
          </a:solidFill>
          <a:ln w="1524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450" b="1" i="0">
                <a:solidFill>
                  <a:srgbClr val="112E5C"/>
                </a:solidFill>
              </a:rPr>
              <a:t>What is still missing</a:t>
            </a:r>
          </a:p>
        </p:txBody>
      </p:sp>
      <p:sp>
        <p:nvSpPr>
          <p:cNvPr id="11" name="Rounded Rectangle 10"/>
          <p:cNvSpPr/>
          <p:nvPr/>
        </p:nvSpPr>
        <p:spPr>
          <a:xfrm>
            <a:off x="6385560" y="2011680"/>
            <a:ext cx="5029200" cy="1691640"/>
          </a:xfrm>
          <a:prstGeom prst="roundRect">
            <a:avLst>
              <a:gd name="adj" fmla="val 4500"/>
            </a:avLst>
          </a:prstGeom>
          <a:solidFill>
            <a:srgbClr val="FFFFFF"/>
          </a:solidFill>
          <a:ln w="12700">
            <a:solidFill>
              <a:srgbClr val="D8DE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p>
        </p:txBody>
      </p:sp>
      <p:sp>
        <p:nvSpPr>
          <p:cNvPr id="12" name="Rectangle 11"/>
          <p:cNvSpPr/>
          <p:nvPr/>
        </p:nvSpPr>
        <p:spPr>
          <a:xfrm>
            <a:off x="6614160" y="2148840"/>
            <a:ext cx="4572000" cy="1417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0" rIns="0" tIns="0" bIns="0"/>
          <a:lstStyle/>
          <a:p>
            <a:pPr algn="l">
              <a:spcAft>
                <a:spcPts val="700"/>
              </a:spcAft>
            </a:pPr>
            <a:r>
              <a:rPr sz="1300" b="0" i="0">
                <a:solidFill>
                  <a:srgbClr val="102A4C"/>
                </a:solidFill>
              </a:rPr>
              <a:t>•  Every strategy so far knows only where it has been</a:t>
            </a:r>
          </a:p>
          <a:p>
            <a:pPr algn="l">
              <a:spcAft>
                <a:spcPts val="700"/>
              </a:spcAft>
            </a:pPr>
            <a:r>
              <a:rPr sz="1300" b="0" i="0">
                <a:solidFill>
                  <a:srgbClr val="102A4C"/>
                </a:solidFill>
              </a:rPr>
              <a:t>•  None of them has any estimate of how far the goal still is</a:t>
            </a:r>
          </a:p>
          <a:p>
            <a:pPr algn="l">
              <a:spcAft>
                <a:spcPts val="700"/>
              </a:spcAft>
            </a:pPr>
            <a:r>
              <a:rPr sz="1300" b="0" i="0">
                <a:solidFill>
                  <a:srgbClr val="102A4C"/>
                </a:solidFill>
              </a:rPr>
              <a:t>•  So the search spreads in all directions equally</a:t>
            </a:r>
          </a:p>
          <a:p>
            <a:pPr algn="l">
              <a:spcAft>
                <a:spcPts val="700"/>
              </a:spcAft>
            </a:pPr>
            <a:r>
              <a:rPr sz="1300" b="0" i="0">
                <a:solidFill>
                  <a:srgbClr val="102A4C"/>
                </a:solidFill>
              </a:rPr>
              <a:t>•  b = 10, d = 14: three and a half years, with infinite memory</a:t>
            </a:r>
          </a:p>
        </p:txBody>
      </p:sp>
      <p:sp>
        <p:nvSpPr>
          <p:cNvPr id="13" name="Rounded Rectangle 12"/>
          <p:cNvSpPr/>
          <p:nvPr/>
        </p:nvSpPr>
        <p:spPr>
          <a:xfrm>
            <a:off x="914400" y="3977640"/>
            <a:ext cx="10424160" cy="594360"/>
          </a:xfrm>
          <a:prstGeom prst="roundRect">
            <a:avLst>
              <a:gd name="adj" fmla="val 11000"/>
            </a:avLst>
          </a:prstGeom>
          <a:solidFill>
            <a:srgbClr val="112E5C"/>
          </a:solidFill>
          <a:ln w="12700">
            <a:solidFill>
              <a:srgbClr val="112E5C"/>
            </a:solidFill>
          </a:ln>
          <a:effectLst/>
        </p:spPr>
        <p:style>
          <a:lnRef idx="1">
            <a:schemeClr val="accent1"/>
          </a:lnRef>
          <a:fillRef idx="3">
            <a:schemeClr val="accent1"/>
          </a:fillRef>
          <a:effectRef idx="2">
            <a:schemeClr val="accent1"/>
          </a:effectRef>
          <a:fontRef idx="minor">
            <a:schemeClr val="lt1"/>
          </a:fontRef>
        </p:style>
        <p:txBody>
          <a:bodyPr rtlCol="0" anchor="ctr" wrap="square" lIns="508" rIns="508" tIns="508" bIns="508"/>
          <a:lstStyle/>
          <a:p>
            <a:pPr algn="ctr"/>
            <a:r>
              <a:rPr sz="1500" b="0" i="0">
                <a:solidFill>
                  <a:srgbClr val="FFFFFF"/>
                </a:solidFill>
              </a:rPr>
              <a:t>Next lecture, one change:  </a:t>
            </a:r>
            <a:r>
              <a:rPr sz="2200" b="1" i="0">
                <a:solidFill>
                  <a:srgbClr val="FFFFFF"/>
                </a:solidFill>
              </a:rPr>
              <a:t>f(n) = g(n) + h(n)</a:t>
            </a:r>
          </a:p>
        </p:txBody>
      </p:sp>
      <p:sp>
        <p:nvSpPr>
          <p:cNvPr id="14" name="Rectangle 13"/>
          <p:cNvSpPr/>
          <p:nvPr/>
        </p:nvSpPr>
        <p:spPr>
          <a:xfrm>
            <a:off x="914400" y="47548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700" b="1" i="0">
                <a:solidFill>
                  <a:srgbClr val="102A4C"/>
                </a:solidFill>
              </a:rPr>
              <a:t>g(n) is the cost already paid. h(n) is an estimate of the cost still to come.</a:t>
            </a:r>
          </a:p>
        </p:txBody>
      </p:sp>
      <p:sp>
        <p:nvSpPr>
          <p:cNvPr id="15" name="Rectangle 14"/>
          <p:cNvSpPr/>
          <p:nvPr/>
        </p:nvSpPr>
        <p:spPr>
          <a:xfrm>
            <a:off x="914400" y="516636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500" b="1" i="0">
                <a:solidFill>
                  <a:srgbClr val="9B1C1C"/>
                </a:solidFill>
              </a:rPr>
              <a:t>Same loop, same frontier — the contours stop surrounding the start and reach for the goal.</a:t>
            </a:r>
          </a:p>
        </p:txBody>
      </p:sp>
      <p:sp>
        <p:nvSpPr>
          <p:cNvPr id="16" name="Rectangle 15"/>
          <p:cNvSpPr/>
          <p:nvPr/>
        </p:nvSpPr>
        <p:spPr>
          <a:xfrm>
            <a:off x="914400" y="5669280"/>
            <a:ext cx="1042416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 rIns="762" tIns="762" bIns="762"/>
          <a:lstStyle/>
          <a:p>
            <a:pPr algn="ctr"/>
            <a:r>
              <a:rPr sz="1350" b="0" i="0">
                <a:solidFill>
                  <a:srgbClr val="5C6B80"/>
                </a:solidFill>
              </a:rPr>
              <a:t>Section 3.5: greedy best-first search, A*, admissibility, and consistency.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3 Solving Problems by Searching - CSUCI Clean Enhanced</dc:title>
  <dc:subject>AIMA Chapter 3 Sections 3.1-3.4</dc:subject>
  <dc:creator>COMP 469</dc:creator>
  <cp:lastModifiedBy>COMP 469</cp:lastModifiedBy>
  <cp:revision>1</cp:revision>
  <dcterms:created xsi:type="dcterms:W3CDTF">2026-08-01T09:17:29Z</dcterms:created>
  <dcterms:modified xsi:type="dcterms:W3CDTF">2026-08-01T09:17:29Z</dcterms:modified>
</cp:coreProperties>
</file>