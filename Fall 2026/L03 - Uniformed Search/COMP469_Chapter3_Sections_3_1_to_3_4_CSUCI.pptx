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Lst>
  <p:notesMasterIdLst>
    <p:notesMasterId r:id="rId38"/>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notesMaster" Target="notesMasters/notesMaster1.xml"/><Relationship Id="rId39" Type="http://schemas.openxmlformats.org/officeDocument/2006/relationships/presProps" Target="presProps.xml"/><Relationship Id="rId40" Type="http://schemas.openxmlformats.org/officeDocument/2006/relationships/viewProps" Target="viewProps.xml"/><Relationship Id="rId41" Type="http://schemas.openxmlformats.org/officeDocument/2006/relationships/theme" Target="theme/theme1.xml"/><Relationship Id="rId4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 — COMP 469 Chapter 3: Solving Problems by Searching
Teaching purpose: Open the lecture, state the scope, and separate this lecture from informed search.
Read-aloud teaching script:
Today we are covering Chapter 3, Sections 3.1 through 3.4 only. The theme is simple: when the next action is not obvious, an intelligent agent can look ahead. It can formulate a goal, build an abstract problem, search through possible action sequences, and then execute the solution. We are not yet using heuristics or A star. Those belong to informed search in the next lecture. Today we establish the formal search framework and the major uninformed strategies.
Teaching cue: Emphasize “3.1 to 3.4 only.” Students often jump straight to A star because they have heard of it; frame that as a later improvement.
Transition: We start by stating the specific learning outcomes for this lecture.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2 — Scope and Learning Targets
Teaching purpose: Clarify the chapter boundaries and the expected student takeaways.
Read-aloud teaching script:
This lecture is bounded intentionally. Section 3.1 gives us problem-solving agents and the formal definition of a search problem. Section 3.2 shows how that definition applies to benchmark problems and real-world problems. Section 3.3 explains search trees, frontiers, reached states, and the general best-first framework. Section 3.4 then compares uninformed search strategies. By the end, students should be able to formulate a problem, identify the data structures used by a search algorithm, and choose among breadth-first, uniform-cost, depth-first, depth-limited, iterative deepening, and bidirectional search.
Teaching cue: Point out that the existing deck previously emphasized informed search. This revised deck replaces that with the correct Chapter 3.1–3.4 scope.
Transition: Now we connect search back to Chapter 2’s goal-based agents.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3 — Why Search? Agents That Look Ahead
Teaching purpose: Explain why search is the next topic after intelligent agents.
Read-aloud teaching script:
A simple reflex agent reacts to the current percept. That is useful in some environments, but it fails when the agent must consider consequences. A problem-solving agent looks ahead. It imagines possible sequences of actions, checks whether any sequence reaches a goal, and then executes the solution. This is exactly the bridge from Chapter 2 to Chapter 3: a goal-based agent needs a way to choose the actions that achieve its goal. Search is that mechanism.
Teaching cue: Ask: “What is a task where one-step reaction is not enough?” Examples: route planning, puzzle solving, scheduling, circuit layout.
Transition: The chapter organizes this behavior into four phases.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4 — The Four-Phase Problem-Solving Process
Teaching purpose: Present the major process from Section 3.1.
Read-aloud teaching script:
The chapter describes a four-phase process. First, the agent formulates a goal. In the Romania example, the goal is to reach Bucharest. Second, it formulates a problem by creating an abstract description of states and actions. Third, it searches in that model before acting in the real world. Fourth, it executes the actions in the solution one at a time. The important point is that search happens in a model. The agent does not have to physically try every road; it can simulate possible routes first.
Teaching cue: Pause on problem formulation: this is where bad abstractions make search impossible or useless.
Transition: The reliability of a fixed solution depends on the environment assumptions.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5 — Environment Assumptions: When a Fixed Plan Works
Teaching purpose: Explain the simplifying assumptions of Sections 3.1–3.4 and the open-loop idea.
Read-aloud teaching script:
For Sections 3.1 through 3.4, the chapter assumes relatively simple environments: fully observable, deterministic, known, static, discrete, and single-agent. Under those assumptions, a solution can be a fixed sequence of actions. Once the agent finds the route Arad to Sibiu to Fagaras to Bucharest, it can execute that route as an open-loop plan. If the model might be wrong, or if the world is nondeterministic, open-loop execution becomes risky. Then the agent needs a closed-loop strategy that checks percepts and replans or branches.
Teaching cue: Connect this back to Chapter 2 environment properties.
Transition: Next we define the formal pieces of a search problem.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6 — Section 3.1: Problem-Solving Agents
Teaching purpose: Mark the beginning of Section 3.1.
Read-aloud teaching script:
We now begin Section 3.1. This section gives the formal vocabulary for problem-solving agents and search problems. The vocabulary matters because every algorithm in the rest of the chapter uses these same components.
Teaching cue: Use this as a brief reset slide.
Transition: The first formal object is the search problem.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7 — Formal Definition of a Search Problem
Teaching purpose: Define the six components of a search problem.
Read-aloud teaching script:
A search problem is not just a story. It has a formal structure. We need a state space, an initial state, a goal test, a set of available actions, a transition model, and an action cost function. In the Romania example, the state space is the set of cities, the initial state might be Arad, the goal test checks whether the state is Bucharest, actions are roads to adjacent cities, the transition model tells us which city the action leads to, and the action cost can be distance or time.
Teaching cue: Emphasize that Is-Goal can describe a property, not just one named state.
Transition: Once we have this definition, we can talk about paths and optimality.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8 — Paths, Solutions, and Optimality
Teaching purpose: Clarify path cost and optimality using correct mathematical notation.
Read-aloud teaching script:
A sequence of actions forms a path. A solution is a path that starts at the initial state and reaches a goal state. An optimal solution is the solution with the lowest path cost. In this chapter, the path cost is additive, so the total cost is the sum of the individual action costs along the path. The positive-cost assumption is important because zero-cost or negative-cost loops would create complications for the algorithms and their optimality claims.
Teaching cue: This slide fixes the formulas by showing them as equations rather than raw text.
Transition: Now we apply those definitions to the Romania map.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9 — Romania Route-Finding Example
Teaching purpose: Use the canonical map example to ground the formal search definition.
Read-aloud teaching script:
The Romania example is useful because the state space is easy to see. Each city is a state, and each road gives two possible actions, one in each direction. A route is a path through the graph. For example, Arad to Sibiu to Rimnicu Vilcea to Pitesti to Bucharest is a path. If the cost function is road distance, we can compare route costs and ask which solution is optimal.
Teaching cue: Point to the map while naming Arad, Sibiu, Fagaras, Pitesti, and Bucharest.
Transition: The map is already an abstraction; the next slide explains why abstraction matters.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10 — Abstraction: Keep What Matters, Drop What Does Not
Teaching purpose: Explain problem formulation as abstraction.
Read-aloud teaching script:
A search problem is an abstraction of the real world. In route planning, the state may be just the current city, not the weather, the radio station, the seat position, or the scenery. A good abstraction keeps the details that affect the solution and removes details that do not. The abstraction must be valid, meaning an abstract solution can be turned into a real solution. It must also be useful, meaning each abstract action is manageable without doing the entire search again.
Teaching cue: Ask: “What details would you omit from a campus pathfinding model?”
Transition: Section 3.2 shows examples of problems that can be formulated this way.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11 — Section 3.2: Example Problems
Teaching purpose: Transition to standardized and real-world search problems.
Read-aloud teaching script:
Section 3.2 shows that the same formal search vocabulary applies to many different domains. Some examples are standardized benchmarks. Others are real-world problems with messy specifications. The goal is for students to see that search is not only a map algorithm; it is a general way of representing a problem as states, actions, transitions, goals, and costs.
Transition: We start with the distinction between benchmark problems and real-world problems.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12 — Standardized vs. Real-World Problems
Teaching purpose: Distinguish classroom benchmarks from operational search applications.
Read-aloud teaching script:
The chapter separates standardized problems from real-world problems. Standardized problems are useful because they are precise, compact, and comparable. Researchers can test algorithms on the same problem definition. Real-world problems are messier. The formulation depends on the sensors, actuators, constraints, costs, and risks of the system. In practice, much of the work is not only choosing a search algorithm; it is deciding what should count as a state, an action, a goal, and a cost.
Transition: Next we look at grid worlds and the vacuum world because they make state-space growth visible.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13 — Grid Worlds and the Vacuum World
Teaching purpose: Show the state-space count formulas correctly and explain combinatorial growth.
Read-aloud teaching script:
In a grid world, the agent moves through cells and interacts with objects in cells. The two-cell vacuum world is a small example: the agent can be in either location, and each location can be clean or dirty. That gives two times two times two, or eight states. More generally, an n-cell vacuum world has n possible agent locations and two-to-the-n possible dirt configurations, for n times two-to-the-n states. This formula is small enough to understand but large enough to show why search complexity matters.
Teaching cue: Call attention to the equations; these are intentionally rendered as math, not raw LaTeX.
Transition: Other standardized problems grow even faster.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14 — Other Standardized Problems
Teaching purpose: Extend standardized examples and preserve formulas from the ODT.
Read-aloud teaching script:
Sokoban, the 8-puzzle, and Knuth’s 4 problem show different types of difficulty. The 8-puzzle is discrete and finite, but the parity property means only half the initial states can reach a fixed goal. Sokoban is a grid world, but box positions cause an enormous state space. Knuth’s problem shows that state spaces can be infinite. The shortest path to five from four passes through a very large factorial expression.
Teaching cue: The formula on the slide is rendered as math so students see the correct combinatorial expression.
Transition: Now we shift to real-world examples.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15 — Real-World Problems
Teaching purpose: Show that the search model applies beyond textbook puzzles.
Read-aloud teaching script:
Real-world search problems use the same formal pieces, but their formulation is more complicated. Airline planning states include not only location but also time and fare history. Touring problems require visiting multiple locations. VLSI layout involves millions of components and constraints. Robot navigation may require discretizing a continuous physical space. Assembly sequencing requires checking whether parts can actually be added in a proposed order. The theme is the same: define states, actions, goals, transition model, and cost carefully.
Transition: The next section explains how algorithms search over those problem formulations.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16 — Section 3.3: Search Algorithms
Teaching purpose: Transition from problem formulation to the mechanics of search.
Read-aloud teaching script:
Section 3.3 explains how algorithms operate once a problem has been formulated. The core structure is a search tree superimposed on a state-space graph. Students need to distinguish those two objects before comparing algorithms.
Transition: We begin by contrasting the state space with the search tree.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17 — State Space vs. Search Tree
Teaching purpose: Explain the distinction between states and search-tree nodes.
Read-aloud teaching script:
The state space graph describes the world: states and transitions. The search tree describes paths through that world. This distinction is essential. One city, such as Sibiu, can appear once in the state space but many times in the search tree if there are multiple routes to reach it. Search algorithms do not simply walk around the map; they build and manage a tree of possible paths.
Teaching cue: Use the figure to point out repeated states in the tree.
Transition: The set of waiting nodes is called the frontier.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18 — Frontier, Reached, and Expansion
Teaching purpose: Define the dynamic data structures used by search algorithms.
Read-aloud teaching script:
The frontier is the set of generated but unexpanded nodes. The algorithm repeatedly chooses a node from the frontier, tests or expands it, and adds successors. The reached table records which states have already been generated, usually with the best node found so far for each state. Different search algorithms mostly differ in how they choose the next frontier node.
Teaching cue: Point out that “frontier” is not the same as “unvisited states”; it is the boundary of the search tree.
Transition: The most general version in this chapter is best-first search.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19 — Best-First Search: One Engine, Many Strategies
Teaching purpose: Introduce best-first search and f(n) without moving into informed search.
Read-aloud teaching script:
Best-first search is a general framework. It keeps a frontier and chooses a node with minimum value according to an evaluation function f of n. Different choices of f produce different algorithms. Uniform-cost search uses path cost. Greedy search and A star also fit this framework, but those are outside today’s scope because they require heuristic estimates. In this lecture we will use the framework mainly to understand breadth-first search, uniform-cost search, and the role of queues.
Teaching cue: Call attention to f(n) as a general priority function, not yet A star.
Transition: Search algorithms need concrete data structures.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20 — Search Data Structures
Teaching purpose: Define nodes, frontier operations, and queue types.
Read-aloud teaching script:
A search node stores the current state, the parent node, the action that produced it, and the path cost from the initial state. The parent pointers let us reconstruct the solution path when a goal is found. The frontier is stored as a queue-like data structure. A priority queue pops the minimum-priority node. A FIFO queue pops the oldest node. A LIFO stack pops the newest node. Much of uninformed search is just changing this data structure and priority rule.
Transition: Redundant paths are the reason reached states matter.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21 — Redundant Paths and Cycles
Teaching purpose: Explain why algorithms need reached tables or cycle checks.
Read-aloud teaching script:
The search tree can be much larger than the state space. A repeated state occurs when two different paths reach the same state. A cycle occurs when a path loops back to a state already on that path. The chapter gives the 10 by 10 grid example: there are only 100 cells, but there can be more than 100 million paths of length nine. If we remember reached states, we can eliminate redundant work. If we do not, the algorithm may repeat itself extensively.
Teaching cue: Use the phrase from the chapter: algorithms that cannot remember the past are doomed to repeat it.
Transition: Now we need criteria to compare algorithms.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22 — How We Evaluate Search Algorithms
Teaching purpose: Introduce the four evaluation criteria and complexity parameters.
Read-aloud teaching script:
We compare search algorithms using completeness, cost optimality, time complexity, and space complexity. Completeness asks whether the algorithm is guaranteed to find a solution when one exists. Cost optimality asks whether it finds the cheapest solution. Time complexity measures how long it takes, often in generated or expanded nodes. Space complexity measures memory requirements. For explicit graphs, complexity may be described with the number of vertices and edges. For implicit AI problems, we often use b for branching factor, d for solution depth, and m for maximum path depth.
Transition: Now we move to Section 3.4: uninformed search.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23 — Section 3.4: Uninformed Search Strategies
Teaching purpose: Transition into BFS, UCS, DFS, depth-limited, iterative deepening, and bidirectional search.
Read-aloud teaching script:
An uninformed search algorithm has no estimate of how close a state is to the goal. It knows the states it has reached, the actions available, the transition model, the costs, and the goal test. It does not know whether one unexpanded state is geographically or semantically closer to the goal unless that information is already encoded in path cost.
Transition: The first uninformed strategy is breadth-first search.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24 — Breadth-First Search
Teaching purpose: Explain BFS strategy, queue implementation, and guarantees.
Read-aloud teaching script:
Breadth-first search expands the root, then all nodes at depth one, then all nodes at depth two, and so on. A FIFO queue gives exactly this behavior because older, shallower nodes are popped before newer, deeper nodes. BFS is complete. It finds a solution with the fewest actions, and it is cost-optimal when every action has the same cost. If action costs differ, fewest actions is not necessarily cheapest.
Teaching cue: Ask students to predict which layer expands next.
Transition: The main weakness of BFS is memory.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25 — BFS Complexity
Teaching purpose: Show the correct BFS growth formula and stress the memory bottleneck.
Read-aloud teaching script:
For branching factor b and solution depth d, the number of generated nodes grows as one plus b plus b squared and so on up to b to the d. This is O of b to the d. The same exponential growth applies to space because BFS keeps all generated frontier nodes in memory. The text gives a practical example: at branching factor ten and depth ten, memory can already reach roughly ten terabytes if each node takes one kilobyte. This is why BFS is simple and reliable but not scalable for large problems.
Transition: If action costs vary, we need uniform-cost search.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26 — Uniform-Cost Search
Teaching purpose: Explain UCS as path-cost best-first search.
Read-aloud teaching script:
Uniform-cost search is best-first search where the evaluation function is the path cost from the root to the node. In AI this is called uniform-cost search; in theoretical computer science it is associated with Dijkstra’s algorithm. It expands in waves of increasing path cost rather than increasing depth. This is the correct method when actions have different costs. The algorithm is complete and cost-optimal as long as every action cost is bounded below by some positive epsilon.
Teaching cue: Stress that UCS tests for goal when the node is selected for expansion, not merely when generated.
Transition: The next slide shows why that goal-test timing matters.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27 — UCS Example: Sibiu to Bucharest
Teaching purpose: Walk through the textbook route-cost example and the late goal test.
Read-aloud teaching script:
From Sibiu, Rimnicu Vilcea has cost 80 and Fagaras has cost 99. UCS expands Rimnicu Vilcea first because 80 is cheaper. Later, a path through Fagaras generates Bucharest with cost 310. But the algorithm should not stop there, because a cheaper path may still be waiting. It later finds Bucharest via Rimnicu Vilcea and Pitesti at cost 278. The correct stopping rule is to stop when the lowest-cost node selected for expansion is a goal, not when a goal first appears.
Teaching cue: Have students compare 310 and 278 explicitly.
Transition: Now we state the UCS complexity formula.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28 — UCS Complexity and the Positive-Cost Assumption
Teaching purpose: Display the UCS complexity formula correctly and explain its meaning.
Read-aloud teaching script:
Uniform-cost search complexity is characterized by the branching factor b, the optimal solution cost C star, and epsilon, the minimum positive action cost. The worst-case time and space are on the order of b raised to one plus the floor of C star divided by epsilon. This can be much greater than b to the d when many cheap actions exist. If all actions have the same cost, UCS behaves similarly to breadth-first search.
Teaching cue: This formula is one of the places where corrected math display matters.
Transition: Next we study depth-first search, which trades optimality for memory.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29 — Depth-First Search
Teaching purpose: Explain DFS and its memory advantage.
Read-aloud teaching script:
Depth-first search expands the deepest node first, usually using a LIFO stack or recursion. It is not cost-optimal because it returns the first solution it encounters. Its main advantage is memory. For a finite tree-shaped state space, DFS memory can be O of b times m rather than exponential in the solution depth. That memory advantage is why depth-first style search appears in many AI areas.
Teaching cue: Contrast the BFS frontier as a surface with the DFS frontier as a narrow path.
Transition: The memory advantage comes with failure modes.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30 — DFS Failure Modes and Backtracking
Teaching purpose: Explain why DFS is not generally complete and introduce backtracking.
Read-aloud teaching script:
DFS can be efficient in memory, but it is risky. In cyclic state spaces it can loop forever. In infinite spaces it can go down one infinite branch and never return. In acyclic finite spaces it can still revisit the same state by different paths. Backtracking search is a memory-efficient variant that generates one successor at a time and undoes actions when it backs up. This is important in later AI topics such as constraint satisfaction and logic programming.
Transition: Depth-limited search is one way to control DFS.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31 — Depth-Limited Search and Iterative Deepening
Teaching purpose: Present DLS and IDS formulas correctly.
Read-aloud teaching script:
Depth-limited search modifies depth-first search by imposing a limit ell. Nodes at depth ell are treated as if they have no successors. This prevents the algorithm from wandering forever, but if the limit is too small the algorithm misses the solution. Iterative deepening solves the problem of choosing ell by trying limits 0, 1, 2, and so on. It combines the memory advantage of DFS with the level-by-level discovery behavior of BFS.
Teaching cue: Use the Greek letter ell deliberately; students often confuse it with the number one.
Transition: The next slide shows why repeated work in IDS is acceptable.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32 — IDS Repetition
Teaching purpose: Show the IDS node-count formula and the b=10, d=5 comparison.
Read-aloud teaching script:
Iterative deepening repeats the upper levels of the tree, so it looks wasteful. But most nodes are at the deepest level. The exact formula weights shallow levels by how many times they are regenerated. In the example with b equals ten and d equals five, IDS generates 123,450 nodes while BFS generates 111,110. That is more work, but not dramatically more, and IDS uses far less memory. For large state spaces where memory is the limiting factor and the solution depth is unknown, IDS is often the preferred uninformed method.
Teaching cue: This slide uses the formulas from the ODT in clean mathematical form.
Transition: The final uninformed strategy in Section 3.4 is bidirectional search.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33 — Bidirectional Search
Teaching purpose: Explain the motivation and constraints of bidirectional search.
Read-aloud teaching script:
Bidirectional search searches forward from the initial state and backward from the goal, hoping the two searches meet. The motivation is mathematical. Two searches to depth d over two are much smaller than one search to depth d. However, bidirectional search requires the ability to reason backward from the goal and to detect when the frontiers meet. It is more straightforward when the goal is a specific state and actions are reversible or can be inverted.
Teaching cue: Use the equation to emphasize why the strategy can be powerful.
Transition: We finish by comparing the uninformed strategies.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34 — Comparing Uninformed Search Algorithms
Teaching purpose: Summarize the tradeoffs in Section 3.4.
Read-aloud teaching script:
This comparison slide is the decision aid. Breadth-first search is complete and optimal for unit costs, but memory-expensive. Uniform-cost search is cost-optimal with positive costs but can be expensive. Depth-first search uses little memory but is not reliable in cyclic or infinite spaces. Depth-limited search controls DFS with a limit but depends on choosing a good limit. Iterative deepening combines the memory advantage of DFS with the level-order benefits of BFS and is often preferred when the depth is unknown. Bidirectional search can reduce depth dramatically when the problem permits backward search.
Teaching cue: Do not ask students to memorize every cell first; ask them to reason from the strategy and data structure.
Transition: The next slide gives a classroom demonstration plan.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35 — Class Demonstration: One Search Engine, Different Queues
Teaching purpose: Provide a concrete live-demo plan tied to the deck.
Read-aloud teaching script:
For the live demonstration, use one small problem and keep the problem formulation fixed. The point is to change only the frontier behavior. With FIFO, the algorithm behaves like breadth-first search. With a priority queue ordered by g of n, it behaves like uniform-cost search. With LIFO, it behaves like depth-first search. Ask students to predict which node expands next and whether the first solution found is guaranteed to be optimal.
Teaching cue: If you have code available, show the one shared loop and swap the queue discipline.
Transition: Now we close with the main takeaways.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36 — Chapter 3.1–3.4 Takeaways
Teaching purpose: Close the lecture and bridge to informed search.
Read-aloud teaching script:
The main takeaways are these. First, problem formulation comes before algorithm selection. Second, a search tree represents paths, not merely states. Third, the frontier strategy determines the search behavior. Fourth, uninformed search can be complete and sometimes optimal, but it grows rapidly because it has no estimate of goal direction. Fifth, the appropriate algorithm depends on completeness, cost optimality, time, and space. In the next lecture, informed search adds heuristics so the agent can estimate which states appear closer to the goal.
Teaching cue: End with one check-for-understanding question: “When would UCS be better than BFS?”
Transition: End of lecture.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svg"/><Relationship Id="rId3" Type="http://schemas.openxmlformats.org/officeDocument/2006/relationships/image" Target="../media/image-1-3.png"/><Relationship Id="rId4" Type="http://schemas.openxmlformats.org/officeDocument/2006/relationships/slideLayout" Target="../slideLayouts/slideLayout1.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svg"/><Relationship Id="rId3" Type="http://schemas.openxmlformats.org/officeDocument/2006/relationships/image" Target="../media/image-7-3.png"/><Relationship Id="rId4" Type="http://schemas.openxmlformats.org/officeDocument/2006/relationships/image" Target="../media/image-7-4.svg"/><Relationship Id="rId5" Type="http://schemas.openxmlformats.org/officeDocument/2006/relationships/slideLayout" Target="../slideLayouts/slideLayout1.xml"/><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sv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svg"/><Relationship Id="rId4" Type="http://schemas.openxmlformats.org/officeDocument/2006/relationships/image" Target="../media/image-13-4.png"/><Relationship Id="rId5" Type="http://schemas.openxmlformats.org/officeDocument/2006/relationships/image" Target="../media/image-13-5.svg"/><Relationship Id="rId6" Type="http://schemas.openxmlformats.org/officeDocument/2006/relationships/slideLayout" Target="../slideLayouts/slideLayout1.xml"/><Relationship Id="rId7"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svg"/><Relationship Id="rId4" Type="http://schemas.openxmlformats.org/officeDocument/2006/relationships/image" Target="../media/image-14-4.png"/><Relationship Id="rId5" Type="http://schemas.openxmlformats.org/officeDocument/2006/relationships/slideLayout" Target="../slideLayouts/slideLayout1.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svg"/><Relationship Id="rId4" Type="http://schemas.openxmlformats.org/officeDocument/2006/relationships/slideLayout" Target="../slideLayouts/slideLayout1.xml"/><Relationship Id="rId5"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svg"/><Relationship Id="rId3" Type="http://schemas.openxmlformats.org/officeDocument/2006/relationships/slideLayout" Target="../slideLayouts/slideLayout1.xml"/><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svg"/><Relationship Id="rId3" Type="http://schemas.openxmlformats.org/officeDocument/2006/relationships/image" Target="../media/image-22-3.png"/><Relationship Id="rId4" Type="http://schemas.openxmlformats.org/officeDocument/2006/relationships/image" Target="../media/image-22-4.svg"/><Relationship Id="rId5" Type="http://schemas.openxmlformats.org/officeDocument/2006/relationships/slideLayout" Target="../slideLayouts/slideLayout1.xml"/><Relationship Id="rId6"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svg"/><Relationship Id="rId3" Type="http://schemas.openxmlformats.org/officeDocument/2006/relationships/slideLayout" Target="../slideLayouts/slideLayout1.xml"/><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svg"/><Relationship Id="rId3" Type="http://schemas.openxmlformats.org/officeDocument/2006/relationships/image" Target="../media/image-26-3.png"/><Relationship Id="rId4" Type="http://schemas.openxmlformats.org/officeDocument/2006/relationships/slideLayout" Target="../slideLayouts/slideLayout1.xml"/><Relationship Id="rId5"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image" Target="../media/image-27-2.png"/><Relationship Id="rId3" Type="http://schemas.openxmlformats.org/officeDocument/2006/relationships/image" Target="../media/image-27-3.svg"/><Relationship Id="rId4" Type="http://schemas.openxmlformats.org/officeDocument/2006/relationships/image" Target="../media/image-27-4.png"/><Relationship Id="rId5" Type="http://schemas.openxmlformats.org/officeDocument/2006/relationships/image" Target="../media/image-27-5.svg"/><Relationship Id="rId6" Type="http://schemas.openxmlformats.org/officeDocument/2006/relationships/image" Target="../media/image-27-6.png"/><Relationship Id="rId7" Type="http://schemas.openxmlformats.org/officeDocument/2006/relationships/image" Target="../media/image-27-7.svg"/><Relationship Id="rId8" Type="http://schemas.openxmlformats.org/officeDocument/2006/relationships/slideLayout" Target="../slideLayouts/slideLayout1.xml"/><Relationship Id="rId9"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image" Target="../media/image-28-2.svg"/><Relationship Id="rId3" Type="http://schemas.openxmlformats.org/officeDocument/2006/relationships/image" Target="../media/image-28-3.png"/><Relationship Id="rId4" Type="http://schemas.openxmlformats.org/officeDocument/2006/relationships/image" Target="../media/image-28-4.svg"/><Relationship Id="rId5" Type="http://schemas.openxmlformats.org/officeDocument/2006/relationships/slideLayout" Target="../slideLayouts/slideLayout1.xml"/><Relationship Id="rId6"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image" Target="../media/image-29-2.svg"/><Relationship Id="rId3" Type="http://schemas.openxmlformats.org/officeDocument/2006/relationships/slideLayout" Target="../slideLayouts/slideLayout1.xml"/><Relationship Id="rId4"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image" Target="../media/image-30-2.svg"/><Relationship Id="rId3" Type="http://schemas.openxmlformats.org/officeDocument/2006/relationships/slideLayout" Target="../slideLayouts/slideLayout1.xml"/><Relationship Id="rId4"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image" Target="../media/image-31-2.svg"/><Relationship Id="rId3" Type="http://schemas.openxmlformats.org/officeDocument/2006/relationships/image" Target="../media/image-31-3.png"/><Relationship Id="rId4" Type="http://schemas.openxmlformats.org/officeDocument/2006/relationships/image" Target="../media/image-31-4.svg"/><Relationship Id="rId5" Type="http://schemas.openxmlformats.org/officeDocument/2006/relationships/image" Target="../media/image-31-5.png"/><Relationship Id="rId6" Type="http://schemas.openxmlformats.org/officeDocument/2006/relationships/slideLayout" Target="../slideLayouts/slideLayout1.xml"/><Relationship Id="rId7"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image" Target="../media/image-32-2.svg"/><Relationship Id="rId3" Type="http://schemas.openxmlformats.org/officeDocument/2006/relationships/image" Target="../media/image-32-3.png"/><Relationship Id="rId4" Type="http://schemas.openxmlformats.org/officeDocument/2006/relationships/image" Target="../media/image-32-4.svg"/><Relationship Id="rId5" Type="http://schemas.openxmlformats.org/officeDocument/2006/relationships/image" Target="../media/image-32-5.png"/><Relationship Id="rId6" Type="http://schemas.openxmlformats.org/officeDocument/2006/relationships/image" Target="../media/image-32-6.svg"/><Relationship Id="rId7" Type="http://schemas.openxmlformats.org/officeDocument/2006/relationships/slideLayout" Target="../slideLayouts/slideLayout1.xml"/><Relationship Id="rId8"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image" Target="../media/image-33-2.svg"/><Relationship Id="rId3" Type="http://schemas.openxmlformats.org/officeDocument/2006/relationships/slideLayout" Target="../slideLayouts/slideLayout1.xml"/><Relationship Id="rId4"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5F7FB"/>
        </a:solidFill>
      </p:bgPr>
    </p:bg>
    <p:spTree>
      <p:nvGrpSpPr>
        <p:cNvPr id="1" name=""/>
        <p:cNvGrpSpPr/>
        <p:nvPr/>
      </p:nvGrpSpPr>
      <p:grpSpPr>
        <a:xfrm>
          <a:off x="0" y="0"/>
          <a:ext cx="0" cy="0"/>
          <a:chOff x="0" y="0"/>
          <a:chExt cx="0" cy="0"/>
        </a:xfrm>
      </p:grpSpPr>
      <p:sp>
        <p:nvSpPr>
          <p:cNvPr id="2" name="Shape 0"/>
          <p:cNvSpPr/>
          <p:nvPr/>
        </p:nvSpPr>
        <p:spPr>
          <a:xfrm>
            <a:off x="0" y="0"/>
            <a:ext cx="12191695" cy="1005840"/>
          </a:xfrm>
          <a:prstGeom prst="rect">
            <a:avLst/>
          </a:prstGeom>
          <a:solidFill>
            <a:srgbClr val="13386B"/>
          </a:solidFill>
          <a:ln w="12700">
            <a:solidFill>
              <a:srgbClr val="13386B"/>
            </a:solidFill>
            <a:prstDash val="solid"/>
          </a:ln>
        </p:spPr>
      </p:sp>
      <p:sp>
        <p:nvSpPr>
          <p:cNvPr id="3" name="Shape 1"/>
          <p:cNvSpPr/>
          <p:nvPr/>
        </p:nvSpPr>
        <p:spPr>
          <a:xfrm>
            <a:off x="0" y="1005840"/>
            <a:ext cx="12191695" cy="109728"/>
          </a:xfrm>
          <a:prstGeom prst="rect">
            <a:avLst/>
          </a:prstGeom>
          <a:solidFill>
            <a:srgbClr val="F5A11A"/>
          </a:solidFill>
          <a:ln w="12700">
            <a:solidFill>
              <a:srgbClr val="F5A11A"/>
            </a:solidFill>
            <a:prstDash val="solid"/>
          </a:ln>
        </p:spPr>
      </p:sp>
      <p:sp>
        <p:nvSpPr>
          <p:cNvPr id="4" name="Text 2"/>
          <p:cNvSpPr/>
          <p:nvPr/>
        </p:nvSpPr>
        <p:spPr>
          <a:xfrm>
            <a:off x="548640" y="237744"/>
            <a:ext cx="2011680" cy="320040"/>
          </a:xfrm>
          <a:prstGeom prst="rect">
            <a:avLst/>
          </a:prstGeom>
          <a:noFill/>
          <a:ln/>
        </p:spPr>
        <p:txBody>
          <a:bodyPr wrap="square" lIns="0" tIns="0" rIns="0" bIns="0" rtlCol="0" anchor="t">
            <a:normAutofit/>
          </a:bodyPr>
          <a:lstStyle/>
          <a:p>
            <a:pPr algn="l" indent="0" marL="0">
              <a:buNone/>
            </a:pPr>
            <a:r>
              <a:rPr lang="en-US" sz="1800" b="1" dirty="0">
                <a:solidFill>
                  <a:srgbClr val="FFFFFF"/>
                </a:solidFill>
                <a:latin typeface="Aptos" pitchFamily="34" charset="0"/>
                <a:ea typeface="Aptos" pitchFamily="34" charset="-122"/>
                <a:cs typeface="Aptos" pitchFamily="34" charset="-120"/>
              </a:rPr>
              <a:t>COMP 469</a:t>
            </a:r>
            <a:endParaRPr lang="en-US" sz="1800" dirty="0"/>
          </a:p>
        </p:txBody>
      </p:sp>
      <p:sp>
        <p:nvSpPr>
          <p:cNvPr id="5" name="Text 3"/>
          <p:cNvSpPr/>
          <p:nvPr/>
        </p:nvSpPr>
        <p:spPr>
          <a:xfrm>
            <a:off x="548640" y="1508760"/>
            <a:ext cx="7132320" cy="502920"/>
          </a:xfrm>
          <a:prstGeom prst="rect">
            <a:avLst/>
          </a:prstGeom>
          <a:noFill/>
          <a:ln/>
        </p:spPr>
        <p:txBody>
          <a:bodyPr wrap="square" lIns="0" tIns="0" rIns="0" bIns="0" rtlCol="0" anchor="t">
            <a:normAutofit/>
          </a:bodyPr>
          <a:lstStyle/>
          <a:p>
            <a:pPr algn="l" indent="0" marL="0">
              <a:buNone/>
            </a:pPr>
            <a:r>
              <a:rPr lang="en-US" sz="3000" b="1" dirty="0">
                <a:solidFill>
                  <a:srgbClr val="13386B"/>
                </a:solidFill>
                <a:latin typeface="Aptos" pitchFamily="34" charset="0"/>
                <a:ea typeface="Aptos" pitchFamily="34" charset="-122"/>
                <a:cs typeface="Aptos" pitchFamily="34" charset="-120"/>
              </a:rPr>
              <a:t>Chapter 3: Solving Problems by Searching</a:t>
            </a:r>
            <a:endParaRPr lang="en-US" sz="3000" dirty="0"/>
          </a:p>
        </p:txBody>
      </p:sp>
      <p:sp>
        <p:nvSpPr>
          <p:cNvPr id="6" name="Text 4"/>
          <p:cNvSpPr/>
          <p:nvPr/>
        </p:nvSpPr>
        <p:spPr>
          <a:xfrm>
            <a:off x="566928" y="2075688"/>
            <a:ext cx="7955280" cy="402336"/>
          </a:xfrm>
          <a:prstGeom prst="rect">
            <a:avLst/>
          </a:prstGeom>
          <a:noFill/>
          <a:ln/>
        </p:spPr>
        <p:txBody>
          <a:bodyPr wrap="square" lIns="0" tIns="0" rIns="0" bIns="0" rtlCol="0" anchor="t">
            <a:normAutofit/>
          </a:bodyPr>
          <a:lstStyle/>
          <a:p>
            <a:pPr algn="l" indent="0" marL="0">
              <a:buNone/>
            </a:pPr>
            <a:r>
              <a:rPr lang="en-US" sz="1500" dirty="0">
                <a:solidFill>
                  <a:srgbClr val="111827"/>
                </a:solidFill>
                <a:latin typeface="Aptos" pitchFamily="34" charset="0"/>
                <a:ea typeface="Aptos" pitchFamily="34" charset="-122"/>
                <a:cs typeface="Aptos" pitchFamily="34" charset="-120"/>
              </a:rPr>
              <a:t>Sections 3.1–3.4 · Problem-solving agents, search problems, search algorithms, and uninformed search</a:t>
            </a:r>
            <a:endParaRPr lang="en-US" sz="1500" dirty="0"/>
          </a:p>
        </p:txBody>
      </p:sp>
      <p:pic>
        <p:nvPicPr>
          <p:cNvPr id="7" name="Image 0" descr="preencoded.pn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640080" y="2788920"/>
            <a:ext cx="6995160" cy="658368"/>
          </a:xfrm>
          <a:prstGeom prst="rect">
            <a:avLst/>
          </a:prstGeom>
        </p:spPr>
      </p:pic>
      <p:pic>
        <p:nvPicPr>
          <p:cNvPr id="8" name="Image 1" descr="/mnt/data/a_clean_cartoon_style_digital_illustration_featur.png">    </p:cNvPr>
          <p:cNvPicPr>
            <a:picLocks noChangeAspect="1"/>
          </p:cNvPicPr>
          <p:nvPr/>
        </p:nvPicPr>
        <p:blipFill>
          <a:blip r:embed="rId3"/>
          <a:stretch>
            <a:fillRect/>
          </a:stretch>
        </p:blipFill>
        <p:spPr>
          <a:xfrm>
            <a:off x="8915400" y="1417320"/>
            <a:ext cx="2606040" cy="2926080"/>
          </a:xfrm>
          <a:prstGeom prst="rect">
            <a:avLst/>
          </a:prstGeom>
        </p:spPr>
      </p:pic>
      <p:sp>
        <p:nvSpPr>
          <p:cNvPr id="9" name="Text 5"/>
          <p:cNvSpPr/>
          <p:nvPr/>
        </p:nvSpPr>
        <p:spPr>
          <a:xfrm>
            <a:off x="566928" y="5897880"/>
            <a:ext cx="4663440" cy="228600"/>
          </a:xfrm>
          <a:prstGeom prst="rect">
            <a:avLst/>
          </a:prstGeom>
          <a:noFill/>
          <a:ln/>
        </p:spPr>
        <p:txBody>
          <a:bodyPr wrap="square" lIns="0" tIns="0" rIns="0" bIns="0" rtlCol="0" anchor="t">
            <a:normAutofit/>
          </a:bodyPr>
          <a:lstStyle/>
          <a:p>
            <a:pPr algn="l" indent="0" marL="0">
              <a:buNone/>
            </a:pPr>
            <a:r>
              <a:rPr lang="en-US" sz="1100" dirty="0">
                <a:solidFill>
                  <a:srgbClr val="6B7280"/>
                </a:solidFill>
                <a:latin typeface="Aptos" pitchFamily="34" charset="0"/>
                <a:ea typeface="Aptos" pitchFamily="34" charset="-122"/>
                <a:cs typeface="Aptos" pitchFamily="34" charset="-120"/>
              </a:rPr>
              <a:t>CSU Channel Islands · Department of Computer Science</a:t>
            </a:r>
            <a:endParaRPr lang="en-US" sz="1100" dirty="0"/>
          </a:p>
        </p:txBody>
      </p:sp>
      <p:sp>
        <p:nvSpPr>
          <p:cNvPr id="10" name="Text 6"/>
          <p:cNvSpPr/>
          <p:nvPr/>
        </p:nvSpPr>
        <p:spPr>
          <a:xfrm>
            <a:off x="11475720" y="6510528"/>
            <a:ext cx="320040" cy="164592"/>
          </a:xfrm>
          <a:prstGeom prst="rect">
            <a:avLst/>
          </a:prstGeom>
          <a:noFill/>
          <a:ln/>
        </p:spPr>
        <p:txBody>
          <a:bodyPr wrap="square" lIns="0" tIns="0" rIns="0" bIns="0" rtlCol="0" anchor="ctr"/>
          <a:lstStyle/>
          <a:p>
            <a:pPr algn="r" indent="0" marL="0">
              <a:buNone/>
            </a:pPr>
            <a:r>
              <a:rPr lang="en-US" sz="800" dirty="0">
                <a:solidFill>
                  <a:srgbClr val="6B7280"/>
                </a:solidFill>
              </a:rPr>
              <a:t>1</a:t>
            </a:r>
            <a:endParaRPr lang="en-US" sz="800" dirty="0"/>
          </a:p>
        </p:txBody>
      </p:sp>
      <p:sp>
        <p:nvSpPr>
          <p:cNvPr id="11" name="Text 7"/>
          <p:cNvSpPr/>
          <p:nvPr/>
        </p:nvSpPr>
        <p:spPr>
          <a:xfrm>
            <a:off x="411480" y="6510528"/>
            <a:ext cx="3200400" cy="164592"/>
          </a:xfrm>
          <a:prstGeom prst="rect">
            <a:avLst/>
          </a:prstGeom>
          <a:noFill/>
          <a:ln/>
        </p:spPr>
        <p:txBody>
          <a:bodyPr wrap="square" lIns="0" tIns="0" rIns="0" bIns="0" rtlCol="0" anchor="ctr"/>
          <a:lstStyle/>
          <a:p>
            <a:pPr indent="0" marL="0">
              <a:buNone/>
            </a:pPr>
            <a:r>
              <a:rPr lang="en-US" sz="750" dirty="0">
                <a:solidFill>
                  <a:srgbClr val="6B7280"/>
                </a:solidFill>
              </a:rPr>
              <a:t>CSU Channel Islands · COMP 469</a:t>
            </a:r>
            <a:endParaRPr lang="en-US" sz="7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7FB"/>
        </a:solidFill>
      </p:bgPr>
    </p:bg>
    <p:spTree>
      <p:nvGrpSpPr>
        <p:cNvPr id="1" name=""/>
        <p:cNvGrpSpPr/>
        <p:nvPr/>
      </p:nvGrpSpPr>
      <p:grpSpPr>
        <a:xfrm>
          <a:off x="0" y="0"/>
          <a:ext cx="0" cy="0"/>
          <a:chOff x="0" y="0"/>
          <a:chExt cx="0" cy="0"/>
        </a:xfrm>
      </p:grpSpPr>
      <p:sp>
        <p:nvSpPr>
          <p:cNvPr id="2" name="Shape 0"/>
          <p:cNvSpPr/>
          <p:nvPr/>
        </p:nvSpPr>
        <p:spPr>
          <a:xfrm>
            <a:off x="0" y="0"/>
            <a:ext cx="12191695" cy="640080"/>
          </a:xfrm>
          <a:prstGeom prst="rect">
            <a:avLst/>
          </a:prstGeom>
          <a:solidFill>
            <a:srgbClr val="13386B"/>
          </a:solidFill>
          <a:ln w="12700">
            <a:solidFill>
              <a:srgbClr val="13386B"/>
            </a:solidFill>
            <a:prstDash val="solid"/>
          </a:ln>
        </p:spPr>
      </p:sp>
      <p:sp>
        <p:nvSpPr>
          <p:cNvPr id="3" name="Shape 1"/>
          <p:cNvSpPr/>
          <p:nvPr/>
        </p:nvSpPr>
        <p:spPr>
          <a:xfrm>
            <a:off x="0" y="640080"/>
            <a:ext cx="12191695" cy="68580"/>
          </a:xfrm>
          <a:prstGeom prst="rect">
            <a:avLst/>
          </a:prstGeom>
          <a:solidFill>
            <a:srgbClr val="F5A11A"/>
          </a:solidFill>
          <a:ln w="12700">
            <a:solidFill>
              <a:srgbClr val="F5A11A"/>
            </a:solidFill>
            <a:prstDash val="solid"/>
          </a:ln>
        </p:spPr>
      </p:sp>
      <p:sp>
        <p:nvSpPr>
          <p:cNvPr id="4" name="Text 2"/>
          <p:cNvSpPr/>
          <p:nvPr/>
        </p:nvSpPr>
        <p:spPr>
          <a:xfrm>
            <a:off x="411480" y="155448"/>
            <a:ext cx="7818120" cy="320040"/>
          </a:xfrm>
          <a:prstGeom prst="rect">
            <a:avLst/>
          </a:prstGeom>
          <a:noFill/>
          <a:ln/>
        </p:spPr>
        <p:txBody>
          <a:bodyPr wrap="square" lIns="0" tIns="0" rIns="0" bIns="0" rtlCol="0" anchor="ctr"/>
          <a:lstStyle/>
          <a:p>
            <a:pPr indent="0" marL="0">
              <a:buNone/>
            </a:pPr>
            <a:r>
              <a:rPr lang="en-US" sz="2200" b="1" dirty="0">
                <a:solidFill>
                  <a:srgbClr val="FFFFFF"/>
                </a:solidFill>
                <a:latin typeface="Aptos Display" pitchFamily="34" charset="0"/>
                <a:ea typeface="Aptos Display" pitchFamily="34" charset="-122"/>
                <a:cs typeface="Aptos Display" pitchFamily="34" charset="-120"/>
              </a:rPr>
              <a:t>Scope and Learning Targets</a:t>
            </a:r>
            <a:endParaRPr lang="en-US" sz="2200" dirty="0"/>
          </a:p>
        </p:txBody>
      </p:sp>
      <p:sp>
        <p:nvSpPr>
          <p:cNvPr id="5" name="Text 3"/>
          <p:cNvSpPr/>
          <p:nvPr/>
        </p:nvSpPr>
        <p:spPr>
          <a:xfrm>
            <a:off x="9253728" y="210312"/>
            <a:ext cx="2487168" cy="256032"/>
          </a:xfrm>
          <a:prstGeom prst="rect">
            <a:avLst/>
          </a:prstGeom>
          <a:noFill/>
          <a:ln/>
        </p:spPr>
        <p:txBody>
          <a:bodyPr wrap="square" lIns="0" tIns="0" rIns="0" bIns="0" rtlCol="0" anchor="ctr"/>
          <a:lstStyle/>
          <a:p>
            <a:pPr algn="r" indent="0" marL="0">
              <a:buNone/>
            </a:pPr>
            <a:r>
              <a:rPr lang="en-US" sz="850" dirty="0">
                <a:solidFill>
                  <a:srgbClr val="D9E5F2"/>
                </a:solidFill>
              </a:rPr>
              <a:t>COMP 469 · Chapter 3 · Sections 3.1–3.4</a:t>
            </a:r>
            <a:endParaRPr lang="en-US" sz="850" dirty="0"/>
          </a:p>
        </p:txBody>
      </p:sp>
      <p:sp>
        <p:nvSpPr>
          <p:cNvPr id="6" name="Shape 4"/>
          <p:cNvSpPr/>
          <p:nvPr/>
        </p:nvSpPr>
        <p:spPr>
          <a:xfrm>
            <a:off x="640080" y="1097280"/>
            <a:ext cx="10881360" cy="841248"/>
          </a:xfrm>
          <a:prstGeom prst="roundRect">
            <a:avLst>
              <a:gd name="adj" fmla="val 6522"/>
            </a:avLst>
          </a:prstGeom>
          <a:solidFill>
            <a:srgbClr val="FFFFFF"/>
          </a:solidFill>
          <a:ln w="12700">
            <a:solidFill>
              <a:srgbClr val="D5DCE8"/>
            </a:solidFill>
            <a:prstDash val="solid"/>
          </a:ln>
        </p:spPr>
      </p:sp>
      <p:sp>
        <p:nvSpPr>
          <p:cNvPr id="7" name="Text 5"/>
          <p:cNvSpPr/>
          <p:nvPr/>
        </p:nvSpPr>
        <p:spPr>
          <a:xfrm>
            <a:off x="804672" y="1261872"/>
            <a:ext cx="10552176" cy="310896"/>
          </a:xfrm>
          <a:prstGeom prst="rect">
            <a:avLst/>
          </a:prstGeom>
          <a:noFill/>
          <a:ln/>
        </p:spPr>
        <p:txBody>
          <a:bodyPr wrap="square" lIns="762" tIns="762" rIns="762" bIns="762" rtlCol="0" anchor="t">
            <a:normAutofit/>
          </a:bodyPr>
          <a:lstStyle/>
          <a:p>
            <a:pPr algn="l" indent="0" marL="0">
              <a:buNone/>
            </a:pPr>
            <a:r>
              <a:rPr lang="en-US" sz="1400" b="1" dirty="0">
                <a:solidFill>
                  <a:srgbClr val="13386B"/>
                </a:solidFill>
                <a:latin typeface="Aptos" pitchFamily="34" charset="0"/>
                <a:ea typeface="Aptos" pitchFamily="34" charset="-122"/>
                <a:cs typeface="Aptos" pitchFamily="34" charset="-120"/>
              </a:rPr>
              <a:t>3.1 Problem-solving agents</a:t>
            </a:r>
            <a:endParaRPr lang="en-US" sz="1400" dirty="0"/>
          </a:p>
        </p:txBody>
      </p:sp>
      <p:sp>
        <p:nvSpPr>
          <p:cNvPr id="8" name="Text 6"/>
          <p:cNvSpPr/>
          <p:nvPr/>
        </p:nvSpPr>
        <p:spPr>
          <a:xfrm>
            <a:off x="804672" y="1627632"/>
            <a:ext cx="10552176" cy="182880"/>
          </a:xfrm>
          <a:prstGeom prst="rect">
            <a:avLst/>
          </a:prstGeom>
          <a:noFill/>
          <a:ln/>
        </p:spPr>
        <p:txBody>
          <a:bodyPr wrap="square" lIns="762" tIns="762" rIns="762" bIns="762" rtlCol="0" anchor="t">
            <a:normAutofit/>
          </a:bodyPr>
          <a:lstStyle/>
          <a:p>
            <a:pPr algn="l" indent="0" marL="0">
              <a:buNone/>
            </a:pPr>
            <a:r>
              <a:rPr lang="en-US" sz="1250" dirty="0">
                <a:solidFill>
                  <a:srgbClr val="111827"/>
                </a:solidFill>
                <a:latin typeface="Aptos" pitchFamily="34" charset="0"/>
                <a:ea typeface="Aptos" pitchFamily="34" charset="-122"/>
                <a:cs typeface="Aptos" pitchFamily="34" charset="-120"/>
              </a:rPr>
              <a:t>Goal formulation, problem formulation, search, execution</a:t>
            </a:r>
            <a:endParaRPr lang="en-US" sz="1250" dirty="0"/>
          </a:p>
        </p:txBody>
      </p:sp>
      <p:sp>
        <p:nvSpPr>
          <p:cNvPr id="9" name="Shape 7"/>
          <p:cNvSpPr/>
          <p:nvPr/>
        </p:nvSpPr>
        <p:spPr>
          <a:xfrm>
            <a:off x="640080" y="2240280"/>
            <a:ext cx="10881360" cy="841248"/>
          </a:xfrm>
          <a:prstGeom prst="roundRect">
            <a:avLst>
              <a:gd name="adj" fmla="val 6522"/>
            </a:avLst>
          </a:prstGeom>
          <a:solidFill>
            <a:srgbClr val="FFFFFF"/>
          </a:solidFill>
          <a:ln w="12700">
            <a:solidFill>
              <a:srgbClr val="D5DCE8"/>
            </a:solidFill>
            <a:prstDash val="solid"/>
          </a:ln>
        </p:spPr>
      </p:sp>
      <p:sp>
        <p:nvSpPr>
          <p:cNvPr id="10" name="Text 8"/>
          <p:cNvSpPr/>
          <p:nvPr/>
        </p:nvSpPr>
        <p:spPr>
          <a:xfrm>
            <a:off x="804672" y="2404872"/>
            <a:ext cx="10552176" cy="310896"/>
          </a:xfrm>
          <a:prstGeom prst="rect">
            <a:avLst/>
          </a:prstGeom>
          <a:noFill/>
          <a:ln/>
        </p:spPr>
        <p:txBody>
          <a:bodyPr wrap="square" lIns="762" tIns="762" rIns="762" bIns="762" rtlCol="0" anchor="t">
            <a:normAutofit/>
          </a:bodyPr>
          <a:lstStyle/>
          <a:p>
            <a:pPr algn="l" indent="0" marL="0">
              <a:buNone/>
            </a:pPr>
            <a:r>
              <a:rPr lang="en-US" sz="1400" b="1" dirty="0">
                <a:solidFill>
                  <a:srgbClr val="0F8B8D"/>
                </a:solidFill>
                <a:latin typeface="Aptos" pitchFamily="34" charset="0"/>
                <a:ea typeface="Aptos" pitchFamily="34" charset="-122"/>
                <a:cs typeface="Aptos" pitchFamily="34" charset="-120"/>
              </a:rPr>
              <a:t>3.2 Example problems</a:t>
            </a:r>
            <a:endParaRPr lang="en-US" sz="1400" dirty="0"/>
          </a:p>
        </p:txBody>
      </p:sp>
      <p:sp>
        <p:nvSpPr>
          <p:cNvPr id="11" name="Text 9"/>
          <p:cNvSpPr/>
          <p:nvPr/>
        </p:nvSpPr>
        <p:spPr>
          <a:xfrm>
            <a:off x="804672" y="2770632"/>
            <a:ext cx="10552176" cy="182880"/>
          </a:xfrm>
          <a:prstGeom prst="rect">
            <a:avLst/>
          </a:prstGeom>
          <a:noFill/>
          <a:ln/>
        </p:spPr>
        <p:txBody>
          <a:bodyPr wrap="square" lIns="762" tIns="762" rIns="762" bIns="762" rtlCol="0" anchor="t">
            <a:normAutofit/>
          </a:bodyPr>
          <a:lstStyle/>
          <a:p>
            <a:pPr algn="l" indent="0" marL="0">
              <a:buNone/>
            </a:pPr>
            <a:r>
              <a:rPr lang="en-US" sz="1250" dirty="0">
                <a:solidFill>
                  <a:srgbClr val="111827"/>
                </a:solidFill>
                <a:latin typeface="Aptos" pitchFamily="34" charset="0"/>
                <a:ea typeface="Aptos" pitchFamily="34" charset="-122"/>
                <a:cs typeface="Aptos" pitchFamily="34" charset="-120"/>
              </a:rPr>
              <a:t>Grid worlds, 8-puzzle, Knuth problem, route-finding, TSP, VLSI, robot navigation</a:t>
            </a:r>
            <a:endParaRPr lang="en-US" sz="1250" dirty="0"/>
          </a:p>
        </p:txBody>
      </p:sp>
      <p:sp>
        <p:nvSpPr>
          <p:cNvPr id="12" name="Shape 10"/>
          <p:cNvSpPr/>
          <p:nvPr/>
        </p:nvSpPr>
        <p:spPr>
          <a:xfrm>
            <a:off x="640080" y="3383280"/>
            <a:ext cx="10881360" cy="841248"/>
          </a:xfrm>
          <a:prstGeom prst="roundRect">
            <a:avLst>
              <a:gd name="adj" fmla="val 6522"/>
            </a:avLst>
          </a:prstGeom>
          <a:solidFill>
            <a:srgbClr val="FFFFFF"/>
          </a:solidFill>
          <a:ln w="12700">
            <a:solidFill>
              <a:srgbClr val="D5DCE8"/>
            </a:solidFill>
            <a:prstDash val="solid"/>
          </a:ln>
        </p:spPr>
      </p:sp>
      <p:sp>
        <p:nvSpPr>
          <p:cNvPr id="13" name="Text 11"/>
          <p:cNvSpPr/>
          <p:nvPr/>
        </p:nvSpPr>
        <p:spPr>
          <a:xfrm>
            <a:off x="804672" y="3547872"/>
            <a:ext cx="10552176" cy="310896"/>
          </a:xfrm>
          <a:prstGeom prst="rect">
            <a:avLst/>
          </a:prstGeom>
          <a:noFill/>
          <a:ln/>
        </p:spPr>
        <p:txBody>
          <a:bodyPr wrap="square" lIns="762" tIns="762" rIns="762" bIns="762" rtlCol="0" anchor="t">
            <a:normAutofit/>
          </a:bodyPr>
          <a:lstStyle/>
          <a:p>
            <a:pPr algn="l" indent="0" marL="0">
              <a:buNone/>
            </a:pPr>
            <a:r>
              <a:rPr lang="en-US" sz="1400" b="1" dirty="0">
                <a:solidFill>
                  <a:srgbClr val="13386B"/>
                </a:solidFill>
                <a:latin typeface="Aptos" pitchFamily="34" charset="0"/>
                <a:ea typeface="Aptos" pitchFamily="34" charset="-122"/>
                <a:cs typeface="Aptos" pitchFamily="34" charset="-120"/>
              </a:rPr>
              <a:t>3.3 Search algorithms</a:t>
            </a:r>
            <a:endParaRPr lang="en-US" sz="1400" dirty="0"/>
          </a:p>
        </p:txBody>
      </p:sp>
      <p:sp>
        <p:nvSpPr>
          <p:cNvPr id="14" name="Text 12"/>
          <p:cNvSpPr/>
          <p:nvPr/>
        </p:nvSpPr>
        <p:spPr>
          <a:xfrm>
            <a:off x="804672" y="3913632"/>
            <a:ext cx="10552176" cy="182880"/>
          </a:xfrm>
          <a:prstGeom prst="rect">
            <a:avLst/>
          </a:prstGeom>
          <a:noFill/>
          <a:ln/>
        </p:spPr>
        <p:txBody>
          <a:bodyPr wrap="square" lIns="762" tIns="762" rIns="762" bIns="762" rtlCol="0" anchor="t">
            <a:normAutofit/>
          </a:bodyPr>
          <a:lstStyle/>
          <a:p>
            <a:pPr algn="l" indent="0" marL="0">
              <a:buNone/>
            </a:pPr>
            <a:r>
              <a:rPr lang="en-US" sz="1250" dirty="0">
                <a:solidFill>
                  <a:srgbClr val="111827"/>
                </a:solidFill>
                <a:latin typeface="Aptos" pitchFamily="34" charset="0"/>
                <a:ea typeface="Aptos" pitchFamily="34" charset="-122"/>
                <a:cs typeface="Aptos" pitchFamily="34" charset="-120"/>
              </a:rPr>
              <a:t>State space vs. search tree, frontier, reached, best-first framework</a:t>
            </a:r>
            <a:endParaRPr lang="en-US" sz="1250" dirty="0"/>
          </a:p>
        </p:txBody>
      </p:sp>
      <p:sp>
        <p:nvSpPr>
          <p:cNvPr id="15" name="Shape 13"/>
          <p:cNvSpPr/>
          <p:nvPr/>
        </p:nvSpPr>
        <p:spPr>
          <a:xfrm>
            <a:off x="640080" y="4526280"/>
            <a:ext cx="10881360" cy="841248"/>
          </a:xfrm>
          <a:prstGeom prst="roundRect">
            <a:avLst>
              <a:gd name="adj" fmla="val 6522"/>
            </a:avLst>
          </a:prstGeom>
          <a:solidFill>
            <a:srgbClr val="FFFFFF"/>
          </a:solidFill>
          <a:ln w="12700">
            <a:solidFill>
              <a:srgbClr val="D5DCE8"/>
            </a:solidFill>
            <a:prstDash val="solid"/>
          </a:ln>
        </p:spPr>
      </p:sp>
      <p:sp>
        <p:nvSpPr>
          <p:cNvPr id="16" name="Text 14"/>
          <p:cNvSpPr/>
          <p:nvPr/>
        </p:nvSpPr>
        <p:spPr>
          <a:xfrm>
            <a:off x="804672" y="4690872"/>
            <a:ext cx="10552176" cy="310896"/>
          </a:xfrm>
          <a:prstGeom prst="rect">
            <a:avLst/>
          </a:prstGeom>
          <a:noFill/>
          <a:ln/>
        </p:spPr>
        <p:txBody>
          <a:bodyPr wrap="square" lIns="762" tIns="762" rIns="762" bIns="762" rtlCol="0" anchor="t">
            <a:normAutofit/>
          </a:bodyPr>
          <a:lstStyle/>
          <a:p>
            <a:pPr algn="l" indent="0" marL="0">
              <a:buNone/>
            </a:pPr>
            <a:r>
              <a:rPr lang="en-US" sz="1400" b="1" dirty="0">
                <a:solidFill>
                  <a:srgbClr val="0F8B8D"/>
                </a:solidFill>
                <a:latin typeface="Aptos" pitchFamily="34" charset="0"/>
                <a:ea typeface="Aptos" pitchFamily="34" charset="-122"/>
                <a:cs typeface="Aptos" pitchFamily="34" charset="-120"/>
              </a:rPr>
              <a:t>3.4 Uninformed search</a:t>
            </a:r>
            <a:endParaRPr lang="en-US" sz="1400" dirty="0"/>
          </a:p>
        </p:txBody>
      </p:sp>
      <p:sp>
        <p:nvSpPr>
          <p:cNvPr id="17" name="Text 15"/>
          <p:cNvSpPr/>
          <p:nvPr/>
        </p:nvSpPr>
        <p:spPr>
          <a:xfrm>
            <a:off x="804672" y="5056632"/>
            <a:ext cx="10552176" cy="182880"/>
          </a:xfrm>
          <a:prstGeom prst="rect">
            <a:avLst/>
          </a:prstGeom>
          <a:noFill/>
          <a:ln/>
        </p:spPr>
        <p:txBody>
          <a:bodyPr wrap="square" lIns="762" tIns="762" rIns="762" bIns="762" rtlCol="0" anchor="t">
            <a:normAutofit/>
          </a:bodyPr>
          <a:lstStyle/>
          <a:p>
            <a:pPr algn="l" indent="0" marL="0">
              <a:buNone/>
            </a:pPr>
            <a:r>
              <a:rPr lang="en-US" sz="1250" dirty="0">
                <a:solidFill>
                  <a:srgbClr val="111827"/>
                </a:solidFill>
                <a:latin typeface="Aptos" pitchFamily="34" charset="0"/>
                <a:ea typeface="Aptos" pitchFamily="34" charset="-122"/>
                <a:cs typeface="Aptos" pitchFamily="34" charset="-120"/>
              </a:rPr>
              <a:t>BFS, UCS, DFS, depth-limited, IDS, bidirectional, comparison</a:t>
            </a:r>
            <a:endParaRPr lang="en-US" sz="1250" dirty="0"/>
          </a:p>
        </p:txBody>
      </p:sp>
      <p:sp>
        <p:nvSpPr>
          <p:cNvPr id="18" name="Shape 16"/>
          <p:cNvSpPr/>
          <p:nvPr/>
        </p:nvSpPr>
        <p:spPr>
          <a:xfrm>
            <a:off x="2331720" y="5897880"/>
            <a:ext cx="7498080" cy="329184"/>
          </a:xfrm>
          <a:prstGeom prst="roundRect">
            <a:avLst>
              <a:gd name="adj" fmla="val 19444"/>
            </a:avLst>
          </a:prstGeom>
          <a:solidFill>
            <a:srgbClr val="7A2E54"/>
          </a:solidFill>
          <a:ln w="12700">
            <a:solidFill>
              <a:srgbClr val="7A2E54"/>
            </a:solidFill>
            <a:prstDash val="solid"/>
          </a:ln>
        </p:spPr>
      </p:sp>
      <p:sp>
        <p:nvSpPr>
          <p:cNvPr id="19" name="Text 17"/>
          <p:cNvSpPr/>
          <p:nvPr/>
        </p:nvSpPr>
        <p:spPr>
          <a:xfrm>
            <a:off x="2404872" y="5952744"/>
            <a:ext cx="7351776" cy="237744"/>
          </a:xfrm>
          <a:prstGeom prst="rect">
            <a:avLst/>
          </a:prstGeom>
          <a:noFill/>
          <a:ln/>
        </p:spPr>
        <p:txBody>
          <a:bodyPr wrap="square" lIns="0" tIns="0" rIns="0" bIns="0" rtlCol="0" anchor="ctr"/>
          <a:lstStyle/>
          <a:p>
            <a:pPr algn="ctr" indent="0" marL="0">
              <a:buNone/>
            </a:pPr>
            <a:r>
              <a:rPr lang="en-US" sz="1200" b="1" dirty="0">
                <a:solidFill>
                  <a:srgbClr val="FFFFFF"/>
                </a:solidFill>
              </a:rPr>
              <a:t>Not today: heuristics, greedy search, A*, graph-search consistency</a:t>
            </a:r>
            <a:endParaRPr lang="en-US" sz="1200" dirty="0"/>
          </a:p>
        </p:txBody>
      </p:sp>
      <p:sp>
        <p:nvSpPr>
          <p:cNvPr id="20" name="Text 18"/>
          <p:cNvSpPr/>
          <p:nvPr/>
        </p:nvSpPr>
        <p:spPr>
          <a:xfrm>
            <a:off x="11475720" y="6510528"/>
            <a:ext cx="320040" cy="164592"/>
          </a:xfrm>
          <a:prstGeom prst="rect">
            <a:avLst/>
          </a:prstGeom>
          <a:noFill/>
          <a:ln/>
        </p:spPr>
        <p:txBody>
          <a:bodyPr wrap="square" lIns="0" tIns="0" rIns="0" bIns="0" rtlCol="0" anchor="ctr"/>
          <a:lstStyle/>
          <a:p>
            <a:pPr algn="r" indent="0" marL="0">
              <a:buNone/>
            </a:pPr>
            <a:r>
              <a:rPr lang="en-US" sz="800" dirty="0">
                <a:solidFill>
                  <a:srgbClr val="6B7280"/>
                </a:solidFill>
              </a:rPr>
              <a:t>2</a:t>
            </a:r>
            <a:endParaRPr lang="en-US" sz="800" dirty="0"/>
          </a:p>
        </p:txBody>
      </p:sp>
      <p:sp>
        <p:nvSpPr>
          <p:cNvPr id="21" name="Text 19"/>
          <p:cNvSpPr/>
          <p:nvPr/>
        </p:nvSpPr>
        <p:spPr>
          <a:xfrm>
            <a:off x="411480" y="6510528"/>
            <a:ext cx="3200400" cy="164592"/>
          </a:xfrm>
          <a:prstGeom prst="rect">
            <a:avLst/>
          </a:prstGeom>
          <a:noFill/>
          <a:ln/>
        </p:spPr>
        <p:txBody>
          <a:bodyPr wrap="square" lIns="0" tIns="0" rIns="0" bIns="0" rtlCol="0" anchor="ctr"/>
          <a:lstStyle/>
          <a:p>
            <a:pPr indent="0" marL="0">
              <a:buNone/>
            </a:pPr>
            <a:r>
              <a:rPr lang="en-US" sz="750" dirty="0">
                <a:solidFill>
                  <a:srgbClr val="6B7280"/>
                </a:solidFill>
              </a:rPr>
              <a:t>CSU Channel Islands · COMP 469</a:t>
            </a:r>
            <a:endParaRPr lang="en-US" sz="7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5F7FB"/>
        </a:solidFill>
      </p:bgPr>
    </p:bg>
    <p:spTree>
      <p:nvGrpSpPr>
        <p:cNvPr id="1" name=""/>
        <p:cNvGrpSpPr/>
        <p:nvPr/>
      </p:nvGrpSpPr>
      <p:grpSpPr>
        <a:xfrm>
          <a:off x="0" y="0"/>
          <a:ext cx="0" cy="0"/>
          <a:chOff x="0" y="0"/>
          <a:chExt cx="0" cy="0"/>
        </a:xfrm>
      </p:grpSpPr>
      <p:sp>
        <p:nvSpPr>
          <p:cNvPr id="2" name="Shape 0"/>
          <p:cNvSpPr/>
          <p:nvPr/>
        </p:nvSpPr>
        <p:spPr>
          <a:xfrm>
            <a:off x="0" y="0"/>
            <a:ext cx="12191695" cy="640080"/>
          </a:xfrm>
          <a:prstGeom prst="rect">
            <a:avLst/>
          </a:prstGeom>
          <a:solidFill>
            <a:srgbClr val="13386B"/>
          </a:solidFill>
          <a:ln w="12700">
            <a:solidFill>
              <a:srgbClr val="13386B"/>
            </a:solidFill>
            <a:prstDash val="solid"/>
          </a:ln>
        </p:spPr>
      </p:sp>
      <p:sp>
        <p:nvSpPr>
          <p:cNvPr id="3" name="Shape 1"/>
          <p:cNvSpPr/>
          <p:nvPr/>
        </p:nvSpPr>
        <p:spPr>
          <a:xfrm>
            <a:off x="0" y="640080"/>
            <a:ext cx="12191695" cy="68580"/>
          </a:xfrm>
          <a:prstGeom prst="rect">
            <a:avLst/>
          </a:prstGeom>
          <a:solidFill>
            <a:srgbClr val="F5A11A"/>
          </a:solidFill>
          <a:ln w="12700">
            <a:solidFill>
              <a:srgbClr val="F5A11A"/>
            </a:solidFill>
            <a:prstDash val="solid"/>
          </a:ln>
        </p:spPr>
      </p:sp>
      <p:sp>
        <p:nvSpPr>
          <p:cNvPr id="4" name="Text 2"/>
          <p:cNvSpPr/>
          <p:nvPr/>
        </p:nvSpPr>
        <p:spPr>
          <a:xfrm>
            <a:off x="411480" y="155448"/>
            <a:ext cx="7818120" cy="320040"/>
          </a:xfrm>
          <a:prstGeom prst="rect">
            <a:avLst/>
          </a:prstGeom>
          <a:noFill/>
          <a:ln/>
        </p:spPr>
        <p:txBody>
          <a:bodyPr wrap="square" lIns="0" tIns="0" rIns="0" bIns="0" rtlCol="0" anchor="ctr"/>
          <a:lstStyle/>
          <a:p>
            <a:pPr indent="0" marL="0">
              <a:buNone/>
            </a:pPr>
            <a:r>
              <a:rPr lang="en-US" sz="2200" b="1" dirty="0">
                <a:solidFill>
                  <a:srgbClr val="FFFFFF"/>
                </a:solidFill>
                <a:latin typeface="Aptos Display" pitchFamily="34" charset="0"/>
                <a:ea typeface="Aptos Display" pitchFamily="34" charset="-122"/>
                <a:cs typeface="Aptos Display" pitchFamily="34" charset="-120"/>
              </a:rPr>
              <a:t>Why Search? Agents That Look Ahead</a:t>
            </a:r>
            <a:endParaRPr lang="en-US" sz="2200" dirty="0"/>
          </a:p>
        </p:txBody>
      </p:sp>
      <p:sp>
        <p:nvSpPr>
          <p:cNvPr id="5" name="Text 3"/>
          <p:cNvSpPr/>
          <p:nvPr/>
        </p:nvSpPr>
        <p:spPr>
          <a:xfrm>
            <a:off x="9253728" y="210312"/>
            <a:ext cx="2487168" cy="256032"/>
          </a:xfrm>
          <a:prstGeom prst="rect">
            <a:avLst/>
          </a:prstGeom>
          <a:noFill/>
          <a:ln/>
        </p:spPr>
        <p:txBody>
          <a:bodyPr wrap="square" lIns="0" tIns="0" rIns="0" bIns="0" rtlCol="0" anchor="ctr"/>
          <a:lstStyle/>
          <a:p>
            <a:pPr algn="r" indent="0" marL="0">
              <a:buNone/>
            </a:pPr>
            <a:r>
              <a:rPr lang="en-US" sz="850" dirty="0">
                <a:solidFill>
                  <a:srgbClr val="D9E5F2"/>
                </a:solidFill>
              </a:rPr>
              <a:t>COMP 469 · Chapter 3 · Sections 3.1–3.4</a:t>
            </a:r>
            <a:endParaRPr lang="en-US" sz="850" dirty="0"/>
          </a:p>
        </p:txBody>
      </p:sp>
      <p:sp>
        <p:nvSpPr>
          <p:cNvPr id="6" name="Text 4"/>
          <p:cNvSpPr/>
          <p:nvPr/>
        </p:nvSpPr>
        <p:spPr>
          <a:xfrm>
            <a:off x="685800" y="960120"/>
            <a:ext cx="10515600" cy="411480"/>
          </a:xfrm>
          <a:prstGeom prst="rect">
            <a:avLst/>
          </a:prstGeom>
          <a:noFill/>
          <a:ln/>
        </p:spPr>
        <p:txBody>
          <a:bodyPr wrap="square" lIns="0" tIns="0" rIns="0" bIns="0" rtlCol="0" anchor="t">
            <a:normAutofit/>
          </a:bodyPr>
          <a:lstStyle/>
          <a:p>
            <a:pPr algn="l" indent="0" marL="0">
              <a:buNone/>
            </a:pPr>
            <a:r>
              <a:rPr lang="en-US" sz="2100" b="1" dirty="0">
                <a:solidFill>
                  <a:srgbClr val="13386B"/>
                </a:solidFill>
                <a:latin typeface="Aptos" pitchFamily="34" charset="0"/>
                <a:ea typeface="Aptos" pitchFamily="34" charset="-122"/>
                <a:cs typeface="Aptos" pitchFamily="34" charset="-120"/>
              </a:rPr>
              <a:t>When the correct next action is not immediately obvious, the agent considers a sequence of future actions.</a:t>
            </a:r>
            <a:endParaRPr lang="en-US" sz="2100" dirty="0"/>
          </a:p>
        </p:txBody>
      </p:sp>
      <p:sp>
        <p:nvSpPr>
          <p:cNvPr id="7" name="Shape 5"/>
          <p:cNvSpPr/>
          <p:nvPr/>
        </p:nvSpPr>
        <p:spPr>
          <a:xfrm>
            <a:off x="822960" y="2194560"/>
            <a:ext cx="1143000" cy="1143000"/>
          </a:xfrm>
          <a:prstGeom prst="ellipse">
            <a:avLst/>
          </a:prstGeom>
          <a:solidFill>
            <a:srgbClr val="F5A11A"/>
          </a:solidFill>
          <a:ln w="12700">
            <a:solidFill>
              <a:srgbClr val="FFFFFF"/>
            </a:solidFill>
            <a:prstDash val="solid"/>
          </a:ln>
        </p:spPr>
      </p:sp>
      <p:sp>
        <p:nvSpPr>
          <p:cNvPr id="8" name="Text 6"/>
          <p:cNvSpPr/>
          <p:nvPr/>
        </p:nvSpPr>
        <p:spPr>
          <a:xfrm>
            <a:off x="548640" y="3493008"/>
            <a:ext cx="1691640" cy="365760"/>
          </a:xfrm>
          <a:prstGeom prst="rect">
            <a:avLst/>
          </a:prstGeom>
          <a:noFill/>
          <a:ln/>
        </p:spPr>
        <p:txBody>
          <a:bodyPr wrap="square" lIns="762" tIns="762" rIns="762" bIns="762" rtlCol="0" anchor="t">
            <a:normAutofit/>
          </a:bodyPr>
          <a:lstStyle/>
          <a:p>
            <a:pPr algn="ctr" indent="0" marL="0">
              <a:buNone/>
            </a:pPr>
            <a:r>
              <a:rPr lang="en-US" sz="1200" b="1" dirty="0">
                <a:solidFill>
                  <a:srgbClr val="111827"/>
                </a:solidFill>
                <a:latin typeface="Aptos" pitchFamily="34" charset="0"/>
                <a:ea typeface="Aptos" pitchFamily="34" charset="-122"/>
                <a:cs typeface="Aptos" pitchFamily="34" charset="-120"/>
              </a:rPr>
              <a:t>Current state</a:t>
            </a:r>
            <a:endParaRPr lang="en-US" sz="1200" dirty="0"/>
          </a:p>
        </p:txBody>
      </p:sp>
      <p:sp>
        <p:nvSpPr>
          <p:cNvPr id="9" name="Shape 7"/>
          <p:cNvSpPr/>
          <p:nvPr/>
        </p:nvSpPr>
        <p:spPr>
          <a:xfrm>
            <a:off x="2148840" y="2468880"/>
            <a:ext cx="548640" cy="548640"/>
          </a:xfrm>
          <a:prstGeom prst="chevron">
            <a:avLst/>
          </a:prstGeom>
          <a:solidFill>
            <a:srgbClr val="CBD5E1"/>
          </a:solidFill>
          <a:ln w="12700">
            <a:solidFill>
              <a:srgbClr val="CBD5E1"/>
            </a:solidFill>
            <a:prstDash val="solid"/>
          </a:ln>
        </p:spPr>
      </p:sp>
      <p:sp>
        <p:nvSpPr>
          <p:cNvPr id="10" name="Shape 8"/>
          <p:cNvSpPr/>
          <p:nvPr/>
        </p:nvSpPr>
        <p:spPr>
          <a:xfrm>
            <a:off x="3108960" y="2194560"/>
            <a:ext cx="1143000" cy="1143000"/>
          </a:xfrm>
          <a:prstGeom prst="ellipse">
            <a:avLst/>
          </a:prstGeom>
          <a:solidFill>
            <a:srgbClr val="2F75B5"/>
          </a:solidFill>
          <a:ln w="12700">
            <a:solidFill>
              <a:srgbClr val="FFFFFF"/>
            </a:solidFill>
            <a:prstDash val="solid"/>
          </a:ln>
        </p:spPr>
      </p:sp>
      <p:sp>
        <p:nvSpPr>
          <p:cNvPr id="11" name="Text 9"/>
          <p:cNvSpPr/>
          <p:nvPr/>
        </p:nvSpPr>
        <p:spPr>
          <a:xfrm>
            <a:off x="2834640" y="3493008"/>
            <a:ext cx="1691640" cy="365760"/>
          </a:xfrm>
          <a:prstGeom prst="rect">
            <a:avLst/>
          </a:prstGeom>
          <a:noFill/>
          <a:ln/>
        </p:spPr>
        <p:txBody>
          <a:bodyPr wrap="square" lIns="762" tIns="762" rIns="762" bIns="762" rtlCol="0" anchor="t">
            <a:normAutofit/>
          </a:bodyPr>
          <a:lstStyle/>
          <a:p>
            <a:pPr algn="ctr" indent="0" marL="0">
              <a:buNone/>
            </a:pPr>
            <a:r>
              <a:rPr lang="en-US" sz="1200" b="1" dirty="0">
                <a:solidFill>
                  <a:srgbClr val="111827"/>
                </a:solidFill>
                <a:latin typeface="Aptos" pitchFamily="34" charset="0"/>
                <a:ea typeface="Aptos" pitchFamily="34" charset="-122"/>
                <a:cs typeface="Aptos" pitchFamily="34" charset="-120"/>
              </a:rPr>
              <a:t>Possible actions</a:t>
            </a:r>
            <a:endParaRPr lang="en-US" sz="1200" dirty="0"/>
          </a:p>
        </p:txBody>
      </p:sp>
      <p:sp>
        <p:nvSpPr>
          <p:cNvPr id="12" name="Shape 10"/>
          <p:cNvSpPr/>
          <p:nvPr/>
        </p:nvSpPr>
        <p:spPr>
          <a:xfrm>
            <a:off x="4434840" y="2468880"/>
            <a:ext cx="548640" cy="548640"/>
          </a:xfrm>
          <a:prstGeom prst="chevron">
            <a:avLst/>
          </a:prstGeom>
          <a:solidFill>
            <a:srgbClr val="CBD5E1"/>
          </a:solidFill>
          <a:ln w="12700">
            <a:solidFill>
              <a:srgbClr val="CBD5E1"/>
            </a:solidFill>
            <a:prstDash val="solid"/>
          </a:ln>
        </p:spPr>
      </p:sp>
      <p:sp>
        <p:nvSpPr>
          <p:cNvPr id="13" name="Shape 11"/>
          <p:cNvSpPr/>
          <p:nvPr/>
        </p:nvSpPr>
        <p:spPr>
          <a:xfrm>
            <a:off x="5394960" y="2194560"/>
            <a:ext cx="1143000" cy="1143000"/>
          </a:xfrm>
          <a:prstGeom prst="ellipse">
            <a:avLst/>
          </a:prstGeom>
          <a:solidFill>
            <a:srgbClr val="2F75B5"/>
          </a:solidFill>
          <a:ln w="12700">
            <a:solidFill>
              <a:srgbClr val="FFFFFF"/>
            </a:solidFill>
            <a:prstDash val="solid"/>
          </a:ln>
        </p:spPr>
      </p:sp>
      <p:sp>
        <p:nvSpPr>
          <p:cNvPr id="14" name="Text 12"/>
          <p:cNvSpPr/>
          <p:nvPr/>
        </p:nvSpPr>
        <p:spPr>
          <a:xfrm>
            <a:off x="5120640" y="3493008"/>
            <a:ext cx="1691640" cy="365760"/>
          </a:xfrm>
          <a:prstGeom prst="rect">
            <a:avLst/>
          </a:prstGeom>
          <a:noFill/>
          <a:ln/>
        </p:spPr>
        <p:txBody>
          <a:bodyPr wrap="square" lIns="762" tIns="762" rIns="762" bIns="762" rtlCol="0" anchor="t">
            <a:normAutofit/>
          </a:bodyPr>
          <a:lstStyle/>
          <a:p>
            <a:pPr algn="ctr" indent="0" marL="0">
              <a:buNone/>
            </a:pPr>
            <a:r>
              <a:rPr lang="en-US" sz="1200" b="1" dirty="0">
                <a:solidFill>
                  <a:srgbClr val="111827"/>
                </a:solidFill>
                <a:latin typeface="Aptos" pitchFamily="34" charset="0"/>
                <a:ea typeface="Aptos" pitchFamily="34" charset="-122"/>
                <a:cs typeface="Aptos" pitchFamily="34" charset="-120"/>
              </a:rPr>
              <a:t>Simulated paths</a:t>
            </a:r>
            <a:endParaRPr lang="en-US" sz="1200" dirty="0"/>
          </a:p>
        </p:txBody>
      </p:sp>
      <p:sp>
        <p:nvSpPr>
          <p:cNvPr id="15" name="Shape 13"/>
          <p:cNvSpPr/>
          <p:nvPr/>
        </p:nvSpPr>
        <p:spPr>
          <a:xfrm>
            <a:off x="6720840" y="2468880"/>
            <a:ext cx="548640" cy="548640"/>
          </a:xfrm>
          <a:prstGeom prst="chevron">
            <a:avLst/>
          </a:prstGeom>
          <a:solidFill>
            <a:srgbClr val="CBD5E1"/>
          </a:solidFill>
          <a:ln w="12700">
            <a:solidFill>
              <a:srgbClr val="CBD5E1"/>
            </a:solidFill>
            <a:prstDash val="solid"/>
          </a:ln>
        </p:spPr>
      </p:sp>
      <p:sp>
        <p:nvSpPr>
          <p:cNvPr id="16" name="Shape 14"/>
          <p:cNvSpPr/>
          <p:nvPr/>
        </p:nvSpPr>
        <p:spPr>
          <a:xfrm>
            <a:off x="7680960" y="2194560"/>
            <a:ext cx="1143000" cy="1143000"/>
          </a:xfrm>
          <a:prstGeom prst="ellipse">
            <a:avLst/>
          </a:prstGeom>
          <a:solidFill>
            <a:srgbClr val="1F7A3D"/>
          </a:solidFill>
          <a:ln w="12700">
            <a:solidFill>
              <a:srgbClr val="FFFFFF"/>
            </a:solidFill>
            <a:prstDash val="solid"/>
          </a:ln>
        </p:spPr>
      </p:sp>
      <p:sp>
        <p:nvSpPr>
          <p:cNvPr id="17" name="Text 15"/>
          <p:cNvSpPr/>
          <p:nvPr/>
        </p:nvSpPr>
        <p:spPr>
          <a:xfrm>
            <a:off x="7406640" y="3493008"/>
            <a:ext cx="1691640" cy="365760"/>
          </a:xfrm>
          <a:prstGeom prst="rect">
            <a:avLst/>
          </a:prstGeom>
          <a:noFill/>
          <a:ln/>
        </p:spPr>
        <p:txBody>
          <a:bodyPr wrap="square" lIns="762" tIns="762" rIns="762" bIns="762" rtlCol="0" anchor="t">
            <a:normAutofit/>
          </a:bodyPr>
          <a:lstStyle/>
          <a:p>
            <a:pPr algn="ctr" indent="0" marL="0">
              <a:buNone/>
            </a:pPr>
            <a:r>
              <a:rPr lang="en-US" sz="1200" b="1" dirty="0">
                <a:solidFill>
                  <a:srgbClr val="111827"/>
                </a:solidFill>
                <a:latin typeface="Aptos" pitchFamily="34" charset="0"/>
                <a:ea typeface="Aptos" pitchFamily="34" charset="-122"/>
                <a:cs typeface="Aptos" pitchFamily="34" charset="-120"/>
              </a:rPr>
              <a:t>Goal state</a:t>
            </a:r>
            <a:endParaRPr lang="en-US" sz="1200" dirty="0"/>
          </a:p>
        </p:txBody>
      </p:sp>
      <p:sp>
        <p:nvSpPr>
          <p:cNvPr id="18" name="Shape 16"/>
          <p:cNvSpPr/>
          <p:nvPr/>
        </p:nvSpPr>
        <p:spPr>
          <a:xfrm>
            <a:off x="9006840" y="2468880"/>
            <a:ext cx="548640" cy="548640"/>
          </a:xfrm>
          <a:prstGeom prst="chevron">
            <a:avLst/>
          </a:prstGeom>
          <a:solidFill>
            <a:srgbClr val="CBD5E1"/>
          </a:solidFill>
          <a:ln w="12700">
            <a:solidFill>
              <a:srgbClr val="CBD5E1"/>
            </a:solidFill>
            <a:prstDash val="solid"/>
          </a:ln>
        </p:spPr>
      </p:sp>
      <p:sp>
        <p:nvSpPr>
          <p:cNvPr id="19" name="Shape 17"/>
          <p:cNvSpPr/>
          <p:nvPr/>
        </p:nvSpPr>
        <p:spPr>
          <a:xfrm>
            <a:off x="9966960" y="2194560"/>
            <a:ext cx="1143000" cy="1143000"/>
          </a:xfrm>
          <a:prstGeom prst="ellipse">
            <a:avLst/>
          </a:prstGeom>
          <a:solidFill>
            <a:srgbClr val="2F75B5"/>
          </a:solidFill>
          <a:ln w="12700">
            <a:solidFill>
              <a:srgbClr val="FFFFFF"/>
            </a:solidFill>
            <a:prstDash val="solid"/>
          </a:ln>
        </p:spPr>
      </p:sp>
      <p:sp>
        <p:nvSpPr>
          <p:cNvPr id="20" name="Text 18"/>
          <p:cNvSpPr/>
          <p:nvPr/>
        </p:nvSpPr>
        <p:spPr>
          <a:xfrm>
            <a:off x="9692640" y="3493008"/>
            <a:ext cx="1691640" cy="365760"/>
          </a:xfrm>
          <a:prstGeom prst="rect">
            <a:avLst/>
          </a:prstGeom>
          <a:noFill/>
          <a:ln/>
        </p:spPr>
        <p:txBody>
          <a:bodyPr wrap="square" lIns="762" tIns="762" rIns="762" bIns="762" rtlCol="0" anchor="t">
            <a:normAutofit/>
          </a:bodyPr>
          <a:lstStyle/>
          <a:p>
            <a:pPr algn="ctr" indent="0" marL="0">
              <a:buNone/>
            </a:pPr>
            <a:r>
              <a:rPr lang="en-US" sz="1200" b="1" dirty="0">
                <a:solidFill>
                  <a:srgbClr val="111827"/>
                </a:solidFill>
                <a:latin typeface="Aptos" pitchFamily="34" charset="0"/>
                <a:ea typeface="Aptos" pitchFamily="34" charset="-122"/>
                <a:cs typeface="Aptos" pitchFamily="34" charset="-120"/>
              </a:rPr>
              <a:t>Solution</a:t>
            </a:r>
            <a:endParaRPr lang="en-US" sz="1200" dirty="0"/>
          </a:p>
        </p:txBody>
      </p:sp>
      <p:sp>
        <p:nvSpPr>
          <p:cNvPr id="21" name="Shape 19"/>
          <p:cNvSpPr/>
          <p:nvPr/>
        </p:nvSpPr>
        <p:spPr>
          <a:xfrm>
            <a:off x="731520" y="4572000"/>
            <a:ext cx="3474720" cy="1051560"/>
          </a:xfrm>
          <a:prstGeom prst="roundRect">
            <a:avLst>
              <a:gd name="adj" fmla="val 5217"/>
            </a:avLst>
          </a:prstGeom>
          <a:solidFill>
            <a:srgbClr val="FFFFFF"/>
          </a:solidFill>
          <a:ln w="12700">
            <a:solidFill>
              <a:srgbClr val="D5DCE8"/>
            </a:solidFill>
            <a:prstDash val="solid"/>
          </a:ln>
        </p:spPr>
      </p:sp>
      <p:sp>
        <p:nvSpPr>
          <p:cNvPr id="22" name="Text 20"/>
          <p:cNvSpPr/>
          <p:nvPr/>
        </p:nvSpPr>
        <p:spPr>
          <a:xfrm>
            <a:off x="896112" y="4736592"/>
            <a:ext cx="3145536" cy="310896"/>
          </a:xfrm>
          <a:prstGeom prst="rect">
            <a:avLst/>
          </a:prstGeom>
          <a:noFill/>
          <a:ln/>
        </p:spPr>
        <p:txBody>
          <a:bodyPr wrap="square" lIns="762" tIns="762" rIns="762" bIns="762" rtlCol="0" anchor="t">
            <a:normAutofit/>
          </a:bodyPr>
          <a:lstStyle/>
          <a:p>
            <a:pPr algn="l" indent="0" marL="0">
              <a:buNone/>
            </a:pPr>
            <a:r>
              <a:rPr lang="en-US" sz="1400" b="1" dirty="0">
                <a:solidFill>
                  <a:srgbClr val="13386B"/>
                </a:solidFill>
                <a:latin typeface="Aptos" pitchFamily="34" charset="0"/>
                <a:ea typeface="Aptos" pitchFamily="34" charset="-122"/>
                <a:cs typeface="Aptos" pitchFamily="34" charset="-120"/>
              </a:rPr>
              <a:t>Problem-solving agent</a:t>
            </a:r>
            <a:endParaRPr lang="en-US" sz="1400" dirty="0"/>
          </a:p>
        </p:txBody>
      </p:sp>
      <p:sp>
        <p:nvSpPr>
          <p:cNvPr id="23" name="Text 21"/>
          <p:cNvSpPr/>
          <p:nvPr/>
        </p:nvSpPr>
        <p:spPr>
          <a:xfrm>
            <a:off x="896112" y="5102352"/>
            <a:ext cx="3145536" cy="393192"/>
          </a:xfrm>
          <a:prstGeom prst="rect">
            <a:avLst/>
          </a:prstGeom>
          <a:noFill/>
          <a:ln/>
        </p:spPr>
        <p:txBody>
          <a:bodyPr wrap="square" lIns="762" tIns="762" rIns="762" bIns="762" rtlCol="0" anchor="t">
            <a:normAutofit/>
          </a:bodyPr>
          <a:lstStyle/>
          <a:p>
            <a:pPr algn="l" indent="0" marL="0">
              <a:buNone/>
            </a:pPr>
            <a:r>
              <a:rPr lang="en-US" sz="1250" dirty="0">
                <a:solidFill>
                  <a:srgbClr val="111827"/>
                </a:solidFill>
                <a:latin typeface="Aptos" pitchFamily="34" charset="0"/>
                <a:ea typeface="Aptos" pitchFamily="34" charset="-122"/>
                <a:cs typeface="Aptos" pitchFamily="34" charset="-120"/>
              </a:rPr>
              <a:t>A goal-based agent that searches for a sequence of actions before acting.</a:t>
            </a:r>
            <a:endParaRPr lang="en-US" sz="1250" dirty="0"/>
          </a:p>
        </p:txBody>
      </p:sp>
      <p:sp>
        <p:nvSpPr>
          <p:cNvPr id="24" name="Shape 22"/>
          <p:cNvSpPr/>
          <p:nvPr/>
        </p:nvSpPr>
        <p:spPr>
          <a:xfrm>
            <a:off x="4343400" y="4572000"/>
            <a:ext cx="3474720" cy="1051560"/>
          </a:xfrm>
          <a:prstGeom prst="roundRect">
            <a:avLst>
              <a:gd name="adj" fmla="val 5217"/>
            </a:avLst>
          </a:prstGeom>
          <a:solidFill>
            <a:srgbClr val="FFFFFF"/>
          </a:solidFill>
          <a:ln w="12700">
            <a:solidFill>
              <a:srgbClr val="D5DCE8"/>
            </a:solidFill>
            <a:prstDash val="solid"/>
          </a:ln>
        </p:spPr>
      </p:sp>
      <p:sp>
        <p:nvSpPr>
          <p:cNvPr id="25" name="Text 23"/>
          <p:cNvSpPr/>
          <p:nvPr/>
        </p:nvSpPr>
        <p:spPr>
          <a:xfrm>
            <a:off x="4507992" y="4736592"/>
            <a:ext cx="3145536" cy="310896"/>
          </a:xfrm>
          <a:prstGeom prst="rect">
            <a:avLst/>
          </a:prstGeom>
          <a:noFill/>
          <a:ln/>
        </p:spPr>
        <p:txBody>
          <a:bodyPr wrap="square" lIns="762" tIns="762" rIns="762" bIns="762" rtlCol="0" anchor="t">
            <a:normAutofit/>
          </a:bodyPr>
          <a:lstStyle/>
          <a:p>
            <a:pPr algn="l" indent="0" marL="0">
              <a:buNone/>
            </a:pPr>
            <a:r>
              <a:rPr lang="en-US" sz="1400" b="1" dirty="0">
                <a:solidFill>
                  <a:srgbClr val="0F8B8D"/>
                </a:solidFill>
                <a:latin typeface="Aptos" pitchFamily="34" charset="0"/>
                <a:ea typeface="Aptos" pitchFamily="34" charset="-122"/>
                <a:cs typeface="Aptos" pitchFamily="34" charset="-120"/>
              </a:rPr>
              <a:t>Search</a:t>
            </a:r>
            <a:endParaRPr lang="en-US" sz="1400" dirty="0"/>
          </a:p>
        </p:txBody>
      </p:sp>
      <p:sp>
        <p:nvSpPr>
          <p:cNvPr id="26" name="Text 24"/>
          <p:cNvSpPr/>
          <p:nvPr/>
        </p:nvSpPr>
        <p:spPr>
          <a:xfrm>
            <a:off x="4507992" y="5102352"/>
            <a:ext cx="3145536" cy="393192"/>
          </a:xfrm>
          <a:prstGeom prst="rect">
            <a:avLst/>
          </a:prstGeom>
          <a:noFill/>
          <a:ln/>
        </p:spPr>
        <p:txBody>
          <a:bodyPr wrap="square" lIns="762" tIns="762" rIns="762" bIns="762" rtlCol="0" anchor="t">
            <a:normAutofit/>
          </a:bodyPr>
          <a:lstStyle/>
          <a:p>
            <a:pPr algn="l" indent="0" marL="0">
              <a:buNone/>
            </a:pPr>
            <a:r>
              <a:rPr lang="en-US" sz="1250" dirty="0">
                <a:solidFill>
                  <a:srgbClr val="111827"/>
                </a:solidFill>
                <a:latin typeface="Aptos" pitchFamily="34" charset="0"/>
                <a:ea typeface="Aptos" pitchFamily="34" charset="-122"/>
                <a:cs typeface="Aptos" pitchFamily="34" charset="-120"/>
              </a:rPr>
              <a:t>The computational process of exploring possible action sequences.</a:t>
            </a:r>
            <a:endParaRPr lang="en-US" sz="1250" dirty="0"/>
          </a:p>
        </p:txBody>
      </p:sp>
      <p:sp>
        <p:nvSpPr>
          <p:cNvPr id="27" name="Shape 25"/>
          <p:cNvSpPr/>
          <p:nvPr/>
        </p:nvSpPr>
        <p:spPr>
          <a:xfrm>
            <a:off x="7955280" y="4572000"/>
            <a:ext cx="3474720" cy="1051560"/>
          </a:xfrm>
          <a:prstGeom prst="roundRect">
            <a:avLst>
              <a:gd name="adj" fmla="val 5217"/>
            </a:avLst>
          </a:prstGeom>
          <a:solidFill>
            <a:srgbClr val="FFFFFF"/>
          </a:solidFill>
          <a:ln w="12700">
            <a:solidFill>
              <a:srgbClr val="D5DCE8"/>
            </a:solidFill>
            <a:prstDash val="solid"/>
          </a:ln>
        </p:spPr>
      </p:sp>
      <p:sp>
        <p:nvSpPr>
          <p:cNvPr id="28" name="Text 26"/>
          <p:cNvSpPr/>
          <p:nvPr/>
        </p:nvSpPr>
        <p:spPr>
          <a:xfrm>
            <a:off x="8119872" y="4736592"/>
            <a:ext cx="3145536" cy="310896"/>
          </a:xfrm>
          <a:prstGeom prst="rect">
            <a:avLst/>
          </a:prstGeom>
          <a:noFill/>
          <a:ln/>
        </p:spPr>
        <p:txBody>
          <a:bodyPr wrap="square" lIns="762" tIns="762" rIns="762" bIns="762" rtlCol="0" anchor="t">
            <a:normAutofit/>
          </a:bodyPr>
          <a:lstStyle/>
          <a:p>
            <a:pPr algn="l" indent="0" marL="0">
              <a:buNone/>
            </a:pPr>
            <a:r>
              <a:rPr lang="en-US" sz="1400" b="1" dirty="0">
                <a:solidFill>
                  <a:srgbClr val="1F7A3D"/>
                </a:solidFill>
                <a:latin typeface="Aptos" pitchFamily="34" charset="0"/>
                <a:ea typeface="Aptos" pitchFamily="34" charset="-122"/>
                <a:cs typeface="Aptos" pitchFamily="34" charset="-120"/>
              </a:rPr>
              <a:t>Solution</a:t>
            </a:r>
            <a:endParaRPr lang="en-US" sz="1400" dirty="0"/>
          </a:p>
        </p:txBody>
      </p:sp>
      <p:sp>
        <p:nvSpPr>
          <p:cNvPr id="29" name="Text 27"/>
          <p:cNvSpPr/>
          <p:nvPr/>
        </p:nvSpPr>
        <p:spPr>
          <a:xfrm>
            <a:off x="8119872" y="5102352"/>
            <a:ext cx="3145536" cy="393192"/>
          </a:xfrm>
          <a:prstGeom prst="rect">
            <a:avLst/>
          </a:prstGeom>
          <a:noFill/>
          <a:ln/>
        </p:spPr>
        <p:txBody>
          <a:bodyPr wrap="square" lIns="762" tIns="762" rIns="762" bIns="762" rtlCol="0" anchor="t">
            <a:normAutofit/>
          </a:bodyPr>
          <a:lstStyle/>
          <a:p>
            <a:pPr algn="l" indent="0" marL="0">
              <a:buNone/>
            </a:pPr>
            <a:r>
              <a:rPr lang="en-US" sz="1250" dirty="0">
                <a:solidFill>
                  <a:srgbClr val="111827"/>
                </a:solidFill>
                <a:latin typeface="Aptos" pitchFamily="34" charset="0"/>
                <a:ea typeface="Aptos" pitchFamily="34" charset="-122"/>
                <a:cs typeface="Aptos" pitchFamily="34" charset="-120"/>
              </a:rPr>
              <a:t>A path from the initial state to a goal state.</a:t>
            </a:r>
            <a:endParaRPr lang="en-US" sz="1250" dirty="0"/>
          </a:p>
        </p:txBody>
      </p:sp>
      <p:sp>
        <p:nvSpPr>
          <p:cNvPr id="30" name="Text 28"/>
          <p:cNvSpPr/>
          <p:nvPr/>
        </p:nvSpPr>
        <p:spPr>
          <a:xfrm>
            <a:off x="11475720" y="6510528"/>
            <a:ext cx="320040" cy="164592"/>
          </a:xfrm>
          <a:prstGeom prst="rect">
            <a:avLst/>
          </a:prstGeom>
          <a:noFill/>
          <a:ln/>
        </p:spPr>
        <p:txBody>
          <a:bodyPr wrap="square" lIns="0" tIns="0" rIns="0" bIns="0" rtlCol="0" anchor="ctr"/>
          <a:lstStyle/>
          <a:p>
            <a:pPr algn="r" indent="0" marL="0">
              <a:buNone/>
            </a:pPr>
            <a:r>
              <a:rPr lang="en-US" sz="800" dirty="0">
                <a:solidFill>
                  <a:srgbClr val="6B7280"/>
                </a:solidFill>
              </a:rPr>
              <a:t>3</a:t>
            </a:r>
            <a:endParaRPr lang="en-US" sz="800" dirty="0"/>
          </a:p>
        </p:txBody>
      </p:sp>
      <p:sp>
        <p:nvSpPr>
          <p:cNvPr id="31" name="Text 29"/>
          <p:cNvSpPr/>
          <p:nvPr/>
        </p:nvSpPr>
        <p:spPr>
          <a:xfrm>
            <a:off x="411480" y="6510528"/>
            <a:ext cx="3200400" cy="164592"/>
          </a:xfrm>
          <a:prstGeom prst="rect">
            <a:avLst/>
          </a:prstGeom>
          <a:noFill/>
          <a:ln/>
        </p:spPr>
        <p:txBody>
          <a:bodyPr wrap="square" lIns="0" tIns="0" rIns="0" bIns="0" rtlCol="0" anchor="ctr"/>
          <a:lstStyle/>
          <a:p>
            <a:pPr indent="0" marL="0">
              <a:buNone/>
            </a:pPr>
            <a:r>
              <a:rPr lang="en-US" sz="750" dirty="0">
                <a:solidFill>
                  <a:srgbClr val="6B7280"/>
                </a:solidFill>
              </a:rPr>
              <a:t>CSU Channel Islands · COMP 469</a:t>
            </a:r>
            <a:endParaRPr lang="en-US" sz="7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F7FB"/>
        </a:solidFill>
      </p:bgPr>
    </p:bg>
    <p:spTree>
      <p:nvGrpSpPr>
        <p:cNvPr id="1" name=""/>
        <p:cNvGrpSpPr/>
        <p:nvPr/>
      </p:nvGrpSpPr>
      <p:grpSpPr>
        <a:xfrm>
          <a:off x="0" y="0"/>
          <a:ext cx="0" cy="0"/>
          <a:chOff x="0" y="0"/>
          <a:chExt cx="0" cy="0"/>
        </a:xfrm>
      </p:grpSpPr>
      <p:sp>
        <p:nvSpPr>
          <p:cNvPr id="2" name="Shape 0"/>
          <p:cNvSpPr/>
          <p:nvPr/>
        </p:nvSpPr>
        <p:spPr>
          <a:xfrm>
            <a:off x="0" y="0"/>
            <a:ext cx="12191695" cy="640080"/>
          </a:xfrm>
          <a:prstGeom prst="rect">
            <a:avLst/>
          </a:prstGeom>
          <a:solidFill>
            <a:srgbClr val="13386B"/>
          </a:solidFill>
          <a:ln w="12700">
            <a:solidFill>
              <a:srgbClr val="13386B"/>
            </a:solidFill>
            <a:prstDash val="solid"/>
          </a:ln>
        </p:spPr>
      </p:sp>
      <p:sp>
        <p:nvSpPr>
          <p:cNvPr id="3" name="Shape 1"/>
          <p:cNvSpPr/>
          <p:nvPr/>
        </p:nvSpPr>
        <p:spPr>
          <a:xfrm>
            <a:off x="0" y="640080"/>
            <a:ext cx="12191695" cy="68580"/>
          </a:xfrm>
          <a:prstGeom prst="rect">
            <a:avLst/>
          </a:prstGeom>
          <a:solidFill>
            <a:srgbClr val="F5A11A"/>
          </a:solidFill>
          <a:ln w="12700">
            <a:solidFill>
              <a:srgbClr val="F5A11A"/>
            </a:solidFill>
            <a:prstDash val="solid"/>
          </a:ln>
        </p:spPr>
      </p:sp>
      <p:sp>
        <p:nvSpPr>
          <p:cNvPr id="4" name="Text 2"/>
          <p:cNvSpPr/>
          <p:nvPr/>
        </p:nvSpPr>
        <p:spPr>
          <a:xfrm>
            <a:off x="411480" y="155448"/>
            <a:ext cx="7818120" cy="320040"/>
          </a:xfrm>
          <a:prstGeom prst="rect">
            <a:avLst/>
          </a:prstGeom>
          <a:noFill/>
          <a:ln/>
        </p:spPr>
        <p:txBody>
          <a:bodyPr wrap="square" lIns="0" tIns="0" rIns="0" bIns="0" rtlCol="0" anchor="ctr"/>
          <a:lstStyle/>
          <a:p>
            <a:pPr indent="0" marL="0">
              <a:buNone/>
            </a:pPr>
            <a:r>
              <a:rPr lang="en-US" sz="2200" b="1" dirty="0">
                <a:solidFill>
                  <a:srgbClr val="FFFFFF"/>
                </a:solidFill>
                <a:latin typeface="Aptos Display" pitchFamily="34" charset="0"/>
                <a:ea typeface="Aptos Display" pitchFamily="34" charset="-122"/>
                <a:cs typeface="Aptos Display" pitchFamily="34" charset="-120"/>
              </a:rPr>
              <a:t>The Four-Phase Problem-Solving Process</a:t>
            </a:r>
            <a:endParaRPr lang="en-US" sz="2200" dirty="0"/>
          </a:p>
        </p:txBody>
      </p:sp>
      <p:sp>
        <p:nvSpPr>
          <p:cNvPr id="5" name="Text 3"/>
          <p:cNvSpPr/>
          <p:nvPr/>
        </p:nvSpPr>
        <p:spPr>
          <a:xfrm>
            <a:off x="9253728" y="210312"/>
            <a:ext cx="2487168" cy="256032"/>
          </a:xfrm>
          <a:prstGeom prst="rect">
            <a:avLst/>
          </a:prstGeom>
          <a:noFill/>
          <a:ln/>
        </p:spPr>
        <p:txBody>
          <a:bodyPr wrap="square" lIns="0" tIns="0" rIns="0" bIns="0" rtlCol="0" anchor="ctr"/>
          <a:lstStyle/>
          <a:p>
            <a:pPr algn="r" indent="0" marL="0">
              <a:buNone/>
            </a:pPr>
            <a:r>
              <a:rPr lang="en-US" sz="850" dirty="0">
                <a:solidFill>
                  <a:srgbClr val="D9E5F2"/>
                </a:solidFill>
              </a:rPr>
              <a:t>COMP 469 · Chapter 3 · Sections 3.1–3.4</a:t>
            </a:r>
            <a:endParaRPr lang="en-US" sz="850" dirty="0"/>
          </a:p>
        </p:txBody>
      </p:sp>
      <p:sp>
        <p:nvSpPr>
          <p:cNvPr id="6" name="Shape 4"/>
          <p:cNvSpPr/>
          <p:nvPr/>
        </p:nvSpPr>
        <p:spPr>
          <a:xfrm>
            <a:off x="594360" y="1234440"/>
            <a:ext cx="2514600" cy="4297680"/>
          </a:xfrm>
          <a:prstGeom prst="roundRect">
            <a:avLst>
              <a:gd name="adj" fmla="val 2909"/>
            </a:avLst>
          </a:prstGeom>
          <a:solidFill>
            <a:srgbClr val="EAF4FF"/>
          </a:solidFill>
          <a:ln w="12700">
            <a:solidFill>
              <a:srgbClr val="CBD5E1"/>
            </a:solidFill>
            <a:prstDash val="solid"/>
          </a:ln>
        </p:spPr>
      </p:sp>
      <p:sp>
        <p:nvSpPr>
          <p:cNvPr id="7" name="Shape 5"/>
          <p:cNvSpPr/>
          <p:nvPr/>
        </p:nvSpPr>
        <p:spPr>
          <a:xfrm>
            <a:off x="1463040" y="1481328"/>
            <a:ext cx="685800" cy="685800"/>
          </a:xfrm>
          <a:prstGeom prst="ellipse">
            <a:avLst/>
          </a:prstGeom>
          <a:solidFill>
            <a:srgbClr val="13386B"/>
          </a:solidFill>
          <a:ln w="12700">
            <a:solidFill>
              <a:srgbClr val="FFFFFF"/>
            </a:solidFill>
            <a:prstDash val="solid"/>
          </a:ln>
        </p:spPr>
      </p:sp>
      <p:sp>
        <p:nvSpPr>
          <p:cNvPr id="8" name="Text 6"/>
          <p:cNvSpPr/>
          <p:nvPr/>
        </p:nvSpPr>
        <p:spPr>
          <a:xfrm>
            <a:off x="1673352" y="1636776"/>
            <a:ext cx="228600" cy="182880"/>
          </a:xfrm>
          <a:prstGeom prst="rect">
            <a:avLst/>
          </a:prstGeom>
          <a:noFill/>
          <a:ln/>
        </p:spPr>
        <p:txBody>
          <a:bodyPr wrap="square" lIns="762" tIns="762" rIns="762" bIns="762" rtlCol="0" anchor="t">
            <a:normAutofit/>
          </a:bodyPr>
          <a:lstStyle/>
          <a:p>
            <a:pPr algn="ctr" indent="0" marL="0">
              <a:buNone/>
            </a:pPr>
            <a:r>
              <a:rPr lang="en-US" sz="1400" b="1" dirty="0">
                <a:solidFill>
                  <a:srgbClr val="FFFFFF"/>
                </a:solidFill>
                <a:latin typeface="Aptos" pitchFamily="34" charset="0"/>
                <a:ea typeface="Aptos" pitchFamily="34" charset="-122"/>
                <a:cs typeface="Aptos" pitchFamily="34" charset="-120"/>
              </a:rPr>
              <a:t>1</a:t>
            </a:r>
            <a:endParaRPr lang="en-US" sz="1400" dirty="0"/>
          </a:p>
        </p:txBody>
      </p:sp>
      <p:sp>
        <p:nvSpPr>
          <p:cNvPr id="9" name="Text 7"/>
          <p:cNvSpPr/>
          <p:nvPr/>
        </p:nvSpPr>
        <p:spPr>
          <a:xfrm>
            <a:off x="758952" y="2395728"/>
            <a:ext cx="2194560" cy="320040"/>
          </a:xfrm>
          <a:prstGeom prst="rect">
            <a:avLst/>
          </a:prstGeom>
          <a:noFill/>
          <a:ln/>
        </p:spPr>
        <p:txBody>
          <a:bodyPr wrap="square" lIns="762" tIns="762" rIns="762" bIns="762" rtlCol="0" anchor="t">
            <a:normAutofit/>
          </a:bodyPr>
          <a:lstStyle/>
          <a:p>
            <a:pPr algn="ctr" indent="0" marL="0">
              <a:buNone/>
            </a:pPr>
            <a:r>
              <a:rPr lang="en-US" sz="1500" b="1" dirty="0">
                <a:solidFill>
                  <a:srgbClr val="13386B"/>
                </a:solidFill>
                <a:latin typeface="Aptos" pitchFamily="34" charset="0"/>
                <a:ea typeface="Aptos" pitchFamily="34" charset="-122"/>
                <a:cs typeface="Aptos" pitchFamily="34" charset="-120"/>
              </a:rPr>
              <a:t>Goal formulation</a:t>
            </a:r>
            <a:endParaRPr lang="en-US" sz="1500" dirty="0"/>
          </a:p>
        </p:txBody>
      </p:sp>
      <p:sp>
        <p:nvSpPr>
          <p:cNvPr id="10" name="Text 8"/>
          <p:cNvSpPr/>
          <p:nvPr/>
        </p:nvSpPr>
        <p:spPr>
          <a:xfrm>
            <a:off x="804672" y="2926080"/>
            <a:ext cx="2057400" cy="749808"/>
          </a:xfrm>
          <a:prstGeom prst="rect">
            <a:avLst/>
          </a:prstGeom>
          <a:noFill/>
          <a:ln/>
        </p:spPr>
        <p:txBody>
          <a:bodyPr wrap="square" lIns="762" tIns="762" rIns="762" bIns="762" rtlCol="0" anchor="t">
            <a:normAutofit/>
          </a:bodyPr>
          <a:lstStyle/>
          <a:p>
            <a:pPr algn="ctr" indent="0" marL="0">
              <a:buNone/>
            </a:pPr>
            <a:r>
              <a:rPr lang="en-US" sz="1250" dirty="0">
                <a:solidFill>
                  <a:srgbClr val="111827"/>
                </a:solidFill>
                <a:latin typeface="Aptos" pitchFamily="34" charset="0"/>
                <a:ea typeface="Aptos" pitchFamily="34" charset="-122"/>
                <a:cs typeface="Aptos" pitchFamily="34" charset="-120"/>
              </a:rPr>
              <a:t>Adopt a goal, such as reaching Bucharest.</a:t>
            </a:r>
            <a:endParaRPr lang="en-US" sz="1250" dirty="0"/>
          </a:p>
        </p:txBody>
      </p:sp>
      <p:sp>
        <p:nvSpPr>
          <p:cNvPr id="11" name="Text 9"/>
          <p:cNvSpPr/>
          <p:nvPr/>
        </p:nvSpPr>
        <p:spPr>
          <a:xfrm>
            <a:off x="804672" y="4160520"/>
            <a:ext cx="2057400" cy="777240"/>
          </a:xfrm>
          <a:prstGeom prst="rect">
            <a:avLst/>
          </a:prstGeom>
          <a:noFill/>
          <a:ln/>
        </p:spPr>
        <p:txBody>
          <a:bodyPr wrap="square" lIns="762" tIns="762" rIns="762" bIns="762" rtlCol="0" anchor="t">
            <a:normAutofit/>
          </a:bodyPr>
          <a:lstStyle/>
          <a:p>
            <a:pPr algn="ctr" indent="0" marL="0">
              <a:buNone/>
            </a:pPr>
            <a:r>
              <a:rPr lang="en-US" sz="1150" dirty="0">
                <a:solidFill>
                  <a:srgbClr val="6B7280"/>
                </a:solidFill>
                <a:latin typeface="Aptos" pitchFamily="34" charset="0"/>
                <a:ea typeface="Aptos" pitchFamily="34" charset="-122"/>
                <a:cs typeface="Aptos" pitchFamily="34" charset="-120"/>
              </a:rPr>
              <a:t>Limits the objectives and actions to consider.</a:t>
            </a:r>
            <a:endParaRPr lang="en-US" sz="1150" dirty="0"/>
          </a:p>
        </p:txBody>
      </p:sp>
      <p:sp>
        <p:nvSpPr>
          <p:cNvPr id="12" name="Shape 10"/>
          <p:cNvSpPr/>
          <p:nvPr/>
        </p:nvSpPr>
        <p:spPr>
          <a:xfrm>
            <a:off x="3474720" y="1234440"/>
            <a:ext cx="2514600" cy="4297680"/>
          </a:xfrm>
          <a:prstGeom prst="roundRect">
            <a:avLst>
              <a:gd name="adj" fmla="val 2909"/>
            </a:avLst>
          </a:prstGeom>
          <a:solidFill>
            <a:srgbClr val="FFFFFF"/>
          </a:solidFill>
          <a:ln w="12700">
            <a:solidFill>
              <a:srgbClr val="CBD5E1"/>
            </a:solidFill>
            <a:prstDash val="solid"/>
          </a:ln>
        </p:spPr>
      </p:sp>
      <p:sp>
        <p:nvSpPr>
          <p:cNvPr id="13" name="Shape 11"/>
          <p:cNvSpPr/>
          <p:nvPr/>
        </p:nvSpPr>
        <p:spPr>
          <a:xfrm>
            <a:off x="4343400" y="1481328"/>
            <a:ext cx="685800" cy="685800"/>
          </a:xfrm>
          <a:prstGeom prst="ellipse">
            <a:avLst/>
          </a:prstGeom>
          <a:solidFill>
            <a:srgbClr val="0F8B8D"/>
          </a:solidFill>
          <a:ln w="12700">
            <a:solidFill>
              <a:srgbClr val="FFFFFF"/>
            </a:solidFill>
            <a:prstDash val="solid"/>
          </a:ln>
        </p:spPr>
      </p:sp>
      <p:sp>
        <p:nvSpPr>
          <p:cNvPr id="14" name="Text 12"/>
          <p:cNvSpPr/>
          <p:nvPr/>
        </p:nvSpPr>
        <p:spPr>
          <a:xfrm>
            <a:off x="4553712" y="1636776"/>
            <a:ext cx="228600" cy="182880"/>
          </a:xfrm>
          <a:prstGeom prst="rect">
            <a:avLst/>
          </a:prstGeom>
          <a:noFill/>
          <a:ln/>
        </p:spPr>
        <p:txBody>
          <a:bodyPr wrap="square" lIns="762" tIns="762" rIns="762" bIns="762" rtlCol="0" anchor="t">
            <a:normAutofit/>
          </a:bodyPr>
          <a:lstStyle/>
          <a:p>
            <a:pPr algn="ctr" indent="0" marL="0">
              <a:buNone/>
            </a:pPr>
            <a:r>
              <a:rPr lang="en-US" sz="1400" b="1" dirty="0">
                <a:solidFill>
                  <a:srgbClr val="FFFFFF"/>
                </a:solidFill>
                <a:latin typeface="Aptos" pitchFamily="34" charset="0"/>
                <a:ea typeface="Aptos" pitchFamily="34" charset="-122"/>
                <a:cs typeface="Aptos" pitchFamily="34" charset="-120"/>
              </a:rPr>
              <a:t>2</a:t>
            </a:r>
            <a:endParaRPr lang="en-US" sz="1400" dirty="0"/>
          </a:p>
        </p:txBody>
      </p:sp>
      <p:sp>
        <p:nvSpPr>
          <p:cNvPr id="15" name="Text 13"/>
          <p:cNvSpPr/>
          <p:nvPr/>
        </p:nvSpPr>
        <p:spPr>
          <a:xfrm>
            <a:off x="3639312" y="2395728"/>
            <a:ext cx="2194560" cy="320040"/>
          </a:xfrm>
          <a:prstGeom prst="rect">
            <a:avLst/>
          </a:prstGeom>
          <a:noFill/>
          <a:ln/>
        </p:spPr>
        <p:txBody>
          <a:bodyPr wrap="square" lIns="762" tIns="762" rIns="762" bIns="762" rtlCol="0" anchor="t">
            <a:normAutofit/>
          </a:bodyPr>
          <a:lstStyle/>
          <a:p>
            <a:pPr algn="ctr" indent="0" marL="0">
              <a:buNone/>
            </a:pPr>
            <a:r>
              <a:rPr lang="en-US" sz="1500" b="1" dirty="0">
                <a:solidFill>
                  <a:srgbClr val="13386B"/>
                </a:solidFill>
                <a:latin typeface="Aptos" pitchFamily="34" charset="0"/>
                <a:ea typeface="Aptos" pitchFamily="34" charset="-122"/>
                <a:cs typeface="Aptos" pitchFamily="34" charset="-120"/>
              </a:rPr>
              <a:t>Problem formulation</a:t>
            </a:r>
            <a:endParaRPr lang="en-US" sz="1500" dirty="0"/>
          </a:p>
        </p:txBody>
      </p:sp>
      <p:sp>
        <p:nvSpPr>
          <p:cNvPr id="16" name="Text 14"/>
          <p:cNvSpPr/>
          <p:nvPr/>
        </p:nvSpPr>
        <p:spPr>
          <a:xfrm>
            <a:off x="3685032" y="2926080"/>
            <a:ext cx="2057400" cy="749808"/>
          </a:xfrm>
          <a:prstGeom prst="rect">
            <a:avLst/>
          </a:prstGeom>
          <a:noFill/>
          <a:ln/>
        </p:spPr>
        <p:txBody>
          <a:bodyPr wrap="square" lIns="762" tIns="762" rIns="762" bIns="762" rtlCol="0" anchor="t">
            <a:normAutofit/>
          </a:bodyPr>
          <a:lstStyle/>
          <a:p>
            <a:pPr algn="ctr" indent="0" marL="0">
              <a:buNone/>
            </a:pPr>
            <a:r>
              <a:rPr lang="en-US" sz="1250" dirty="0">
                <a:solidFill>
                  <a:srgbClr val="111827"/>
                </a:solidFill>
                <a:latin typeface="Aptos" pitchFamily="34" charset="0"/>
                <a:ea typeface="Aptos" pitchFamily="34" charset="-122"/>
                <a:cs typeface="Aptos" pitchFamily="34" charset="-120"/>
              </a:rPr>
              <a:t>Build an abstract model of states, actions, results, and costs.</a:t>
            </a:r>
            <a:endParaRPr lang="en-US" sz="1250" dirty="0"/>
          </a:p>
        </p:txBody>
      </p:sp>
      <p:sp>
        <p:nvSpPr>
          <p:cNvPr id="17" name="Text 15"/>
          <p:cNvSpPr/>
          <p:nvPr/>
        </p:nvSpPr>
        <p:spPr>
          <a:xfrm>
            <a:off x="3685032" y="4160520"/>
            <a:ext cx="2057400" cy="777240"/>
          </a:xfrm>
          <a:prstGeom prst="rect">
            <a:avLst/>
          </a:prstGeom>
          <a:noFill/>
          <a:ln/>
        </p:spPr>
        <p:txBody>
          <a:bodyPr wrap="square" lIns="762" tIns="762" rIns="762" bIns="762" rtlCol="0" anchor="t">
            <a:normAutofit/>
          </a:bodyPr>
          <a:lstStyle/>
          <a:p>
            <a:pPr algn="ctr" indent="0" marL="0">
              <a:buNone/>
            </a:pPr>
            <a:r>
              <a:rPr lang="en-US" sz="1150" dirty="0">
                <a:solidFill>
                  <a:srgbClr val="6B7280"/>
                </a:solidFill>
                <a:latin typeface="Aptos" pitchFamily="34" charset="0"/>
                <a:ea typeface="Aptos" pitchFamily="34" charset="-122"/>
                <a:cs typeface="Aptos" pitchFamily="34" charset="-120"/>
              </a:rPr>
              <a:t>Keeps only the details relevant to the goal.</a:t>
            </a:r>
            <a:endParaRPr lang="en-US" sz="1150" dirty="0"/>
          </a:p>
        </p:txBody>
      </p:sp>
      <p:sp>
        <p:nvSpPr>
          <p:cNvPr id="18" name="Shape 16"/>
          <p:cNvSpPr/>
          <p:nvPr/>
        </p:nvSpPr>
        <p:spPr>
          <a:xfrm>
            <a:off x="6355080" y="1234440"/>
            <a:ext cx="2514600" cy="4297680"/>
          </a:xfrm>
          <a:prstGeom prst="roundRect">
            <a:avLst>
              <a:gd name="adj" fmla="val 2909"/>
            </a:avLst>
          </a:prstGeom>
          <a:solidFill>
            <a:srgbClr val="EAF4FF"/>
          </a:solidFill>
          <a:ln w="12700">
            <a:solidFill>
              <a:srgbClr val="CBD5E1"/>
            </a:solidFill>
            <a:prstDash val="solid"/>
          </a:ln>
        </p:spPr>
      </p:sp>
      <p:sp>
        <p:nvSpPr>
          <p:cNvPr id="19" name="Shape 17"/>
          <p:cNvSpPr/>
          <p:nvPr/>
        </p:nvSpPr>
        <p:spPr>
          <a:xfrm>
            <a:off x="7223760" y="1481328"/>
            <a:ext cx="685800" cy="685800"/>
          </a:xfrm>
          <a:prstGeom prst="ellipse">
            <a:avLst/>
          </a:prstGeom>
          <a:solidFill>
            <a:srgbClr val="F5A11A"/>
          </a:solidFill>
          <a:ln w="12700">
            <a:solidFill>
              <a:srgbClr val="FFFFFF"/>
            </a:solidFill>
            <a:prstDash val="solid"/>
          </a:ln>
        </p:spPr>
      </p:sp>
      <p:sp>
        <p:nvSpPr>
          <p:cNvPr id="20" name="Text 18"/>
          <p:cNvSpPr/>
          <p:nvPr/>
        </p:nvSpPr>
        <p:spPr>
          <a:xfrm>
            <a:off x="7434072" y="1636776"/>
            <a:ext cx="228600" cy="182880"/>
          </a:xfrm>
          <a:prstGeom prst="rect">
            <a:avLst/>
          </a:prstGeom>
          <a:noFill/>
          <a:ln/>
        </p:spPr>
        <p:txBody>
          <a:bodyPr wrap="square" lIns="762" tIns="762" rIns="762" bIns="762" rtlCol="0" anchor="t">
            <a:normAutofit/>
          </a:bodyPr>
          <a:lstStyle/>
          <a:p>
            <a:pPr algn="ctr" indent="0" marL="0">
              <a:buNone/>
            </a:pPr>
            <a:r>
              <a:rPr lang="en-US" sz="1400" b="1" dirty="0">
                <a:solidFill>
                  <a:srgbClr val="FFFFFF"/>
                </a:solidFill>
                <a:latin typeface="Aptos" pitchFamily="34" charset="0"/>
                <a:ea typeface="Aptos" pitchFamily="34" charset="-122"/>
                <a:cs typeface="Aptos" pitchFamily="34" charset="-120"/>
              </a:rPr>
              <a:t>3</a:t>
            </a:r>
            <a:endParaRPr lang="en-US" sz="1400" dirty="0"/>
          </a:p>
        </p:txBody>
      </p:sp>
      <p:sp>
        <p:nvSpPr>
          <p:cNvPr id="21" name="Text 19"/>
          <p:cNvSpPr/>
          <p:nvPr/>
        </p:nvSpPr>
        <p:spPr>
          <a:xfrm>
            <a:off x="6519672" y="2395728"/>
            <a:ext cx="2194560" cy="320040"/>
          </a:xfrm>
          <a:prstGeom prst="rect">
            <a:avLst/>
          </a:prstGeom>
          <a:noFill/>
          <a:ln/>
        </p:spPr>
        <p:txBody>
          <a:bodyPr wrap="square" lIns="762" tIns="762" rIns="762" bIns="762" rtlCol="0" anchor="t">
            <a:normAutofit/>
          </a:bodyPr>
          <a:lstStyle/>
          <a:p>
            <a:pPr algn="ctr" indent="0" marL="0">
              <a:buNone/>
            </a:pPr>
            <a:r>
              <a:rPr lang="en-US" sz="1500" b="1" dirty="0">
                <a:solidFill>
                  <a:srgbClr val="13386B"/>
                </a:solidFill>
                <a:latin typeface="Aptos" pitchFamily="34" charset="0"/>
                <a:ea typeface="Aptos" pitchFamily="34" charset="-122"/>
                <a:cs typeface="Aptos" pitchFamily="34" charset="-120"/>
              </a:rPr>
              <a:t>Search</a:t>
            </a:r>
            <a:endParaRPr lang="en-US" sz="1500" dirty="0"/>
          </a:p>
        </p:txBody>
      </p:sp>
      <p:sp>
        <p:nvSpPr>
          <p:cNvPr id="22" name="Text 20"/>
          <p:cNvSpPr/>
          <p:nvPr/>
        </p:nvSpPr>
        <p:spPr>
          <a:xfrm>
            <a:off x="6565392" y="2926080"/>
            <a:ext cx="2057400" cy="749808"/>
          </a:xfrm>
          <a:prstGeom prst="rect">
            <a:avLst/>
          </a:prstGeom>
          <a:noFill/>
          <a:ln/>
        </p:spPr>
        <p:txBody>
          <a:bodyPr wrap="square" lIns="762" tIns="762" rIns="762" bIns="762" rtlCol="0" anchor="t">
            <a:normAutofit/>
          </a:bodyPr>
          <a:lstStyle/>
          <a:p>
            <a:pPr algn="ctr" indent="0" marL="0">
              <a:buNone/>
            </a:pPr>
            <a:r>
              <a:rPr lang="en-US" sz="1250" dirty="0">
                <a:solidFill>
                  <a:srgbClr val="111827"/>
                </a:solidFill>
                <a:latin typeface="Aptos" pitchFamily="34" charset="0"/>
                <a:ea typeface="Aptos" pitchFamily="34" charset="-122"/>
                <a:cs typeface="Aptos" pitchFamily="34" charset="-120"/>
              </a:rPr>
              <a:t>Simulate action sequences until one reaches a goal.</a:t>
            </a:r>
            <a:endParaRPr lang="en-US" sz="1250" dirty="0"/>
          </a:p>
        </p:txBody>
      </p:sp>
      <p:sp>
        <p:nvSpPr>
          <p:cNvPr id="23" name="Text 21"/>
          <p:cNvSpPr/>
          <p:nvPr/>
        </p:nvSpPr>
        <p:spPr>
          <a:xfrm>
            <a:off x="6565392" y="4160520"/>
            <a:ext cx="2057400" cy="777240"/>
          </a:xfrm>
          <a:prstGeom prst="rect">
            <a:avLst/>
          </a:prstGeom>
          <a:noFill/>
          <a:ln/>
        </p:spPr>
        <p:txBody>
          <a:bodyPr wrap="square" lIns="762" tIns="762" rIns="762" bIns="762" rtlCol="0" anchor="t">
            <a:normAutofit/>
          </a:bodyPr>
          <a:lstStyle/>
          <a:p>
            <a:pPr algn="ctr" indent="0" marL="0">
              <a:buNone/>
            </a:pPr>
            <a:r>
              <a:rPr lang="en-US" sz="1150" dirty="0">
                <a:solidFill>
                  <a:srgbClr val="6B7280"/>
                </a:solidFill>
                <a:latin typeface="Aptos" pitchFamily="34" charset="0"/>
                <a:ea typeface="Aptos" pitchFamily="34" charset="-122"/>
                <a:cs typeface="Aptos" pitchFamily="34" charset="-120"/>
              </a:rPr>
              <a:t>Returns a solution or failure.</a:t>
            </a:r>
            <a:endParaRPr lang="en-US" sz="1150" dirty="0"/>
          </a:p>
        </p:txBody>
      </p:sp>
      <p:sp>
        <p:nvSpPr>
          <p:cNvPr id="24" name="Shape 22"/>
          <p:cNvSpPr/>
          <p:nvPr/>
        </p:nvSpPr>
        <p:spPr>
          <a:xfrm>
            <a:off x="9235440" y="1234440"/>
            <a:ext cx="2514600" cy="4297680"/>
          </a:xfrm>
          <a:prstGeom prst="roundRect">
            <a:avLst>
              <a:gd name="adj" fmla="val 2909"/>
            </a:avLst>
          </a:prstGeom>
          <a:solidFill>
            <a:srgbClr val="FFFFFF"/>
          </a:solidFill>
          <a:ln w="12700">
            <a:solidFill>
              <a:srgbClr val="CBD5E1"/>
            </a:solidFill>
            <a:prstDash val="solid"/>
          </a:ln>
        </p:spPr>
      </p:sp>
      <p:sp>
        <p:nvSpPr>
          <p:cNvPr id="25" name="Shape 23"/>
          <p:cNvSpPr/>
          <p:nvPr/>
        </p:nvSpPr>
        <p:spPr>
          <a:xfrm>
            <a:off x="10104120" y="1481328"/>
            <a:ext cx="685800" cy="685800"/>
          </a:xfrm>
          <a:prstGeom prst="ellipse">
            <a:avLst/>
          </a:prstGeom>
          <a:solidFill>
            <a:srgbClr val="1F7A3D"/>
          </a:solidFill>
          <a:ln w="12700">
            <a:solidFill>
              <a:srgbClr val="FFFFFF"/>
            </a:solidFill>
            <a:prstDash val="solid"/>
          </a:ln>
        </p:spPr>
      </p:sp>
      <p:sp>
        <p:nvSpPr>
          <p:cNvPr id="26" name="Text 24"/>
          <p:cNvSpPr/>
          <p:nvPr/>
        </p:nvSpPr>
        <p:spPr>
          <a:xfrm>
            <a:off x="10314432" y="1636776"/>
            <a:ext cx="228600" cy="182880"/>
          </a:xfrm>
          <a:prstGeom prst="rect">
            <a:avLst/>
          </a:prstGeom>
          <a:noFill/>
          <a:ln/>
        </p:spPr>
        <p:txBody>
          <a:bodyPr wrap="square" lIns="762" tIns="762" rIns="762" bIns="762" rtlCol="0" anchor="t">
            <a:normAutofit/>
          </a:bodyPr>
          <a:lstStyle/>
          <a:p>
            <a:pPr algn="ctr" indent="0" marL="0">
              <a:buNone/>
            </a:pPr>
            <a:r>
              <a:rPr lang="en-US" sz="1400" b="1" dirty="0">
                <a:solidFill>
                  <a:srgbClr val="FFFFFF"/>
                </a:solidFill>
                <a:latin typeface="Aptos" pitchFamily="34" charset="0"/>
                <a:ea typeface="Aptos" pitchFamily="34" charset="-122"/>
                <a:cs typeface="Aptos" pitchFamily="34" charset="-120"/>
              </a:rPr>
              <a:t>4</a:t>
            </a:r>
            <a:endParaRPr lang="en-US" sz="1400" dirty="0"/>
          </a:p>
        </p:txBody>
      </p:sp>
      <p:sp>
        <p:nvSpPr>
          <p:cNvPr id="27" name="Text 25"/>
          <p:cNvSpPr/>
          <p:nvPr/>
        </p:nvSpPr>
        <p:spPr>
          <a:xfrm>
            <a:off x="9400032" y="2395728"/>
            <a:ext cx="2194560" cy="320040"/>
          </a:xfrm>
          <a:prstGeom prst="rect">
            <a:avLst/>
          </a:prstGeom>
          <a:noFill/>
          <a:ln/>
        </p:spPr>
        <p:txBody>
          <a:bodyPr wrap="square" lIns="762" tIns="762" rIns="762" bIns="762" rtlCol="0" anchor="t">
            <a:normAutofit/>
          </a:bodyPr>
          <a:lstStyle/>
          <a:p>
            <a:pPr algn="ctr" indent="0" marL="0">
              <a:buNone/>
            </a:pPr>
            <a:r>
              <a:rPr lang="en-US" sz="1500" b="1" dirty="0">
                <a:solidFill>
                  <a:srgbClr val="13386B"/>
                </a:solidFill>
                <a:latin typeface="Aptos" pitchFamily="34" charset="0"/>
                <a:ea typeface="Aptos" pitchFamily="34" charset="-122"/>
                <a:cs typeface="Aptos" pitchFamily="34" charset="-120"/>
              </a:rPr>
              <a:t>Execution</a:t>
            </a:r>
            <a:endParaRPr lang="en-US" sz="1500" dirty="0"/>
          </a:p>
        </p:txBody>
      </p:sp>
      <p:sp>
        <p:nvSpPr>
          <p:cNvPr id="28" name="Text 26"/>
          <p:cNvSpPr/>
          <p:nvPr/>
        </p:nvSpPr>
        <p:spPr>
          <a:xfrm>
            <a:off x="9445752" y="2926080"/>
            <a:ext cx="2057400" cy="749808"/>
          </a:xfrm>
          <a:prstGeom prst="rect">
            <a:avLst/>
          </a:prstGeom>
          <a:noFill/>
          <a:ln/>
        </p:spPr>
        <p:txBody>
          <a:bodyPr wrap="square" lIns="762" tIns="762" rIns="762" bIns="762" rtlCol="0" anchor="t">
            <a:normAutofit/>
          </a:bodyPr>
          <a:lstStyle/>
          <a:p>
            <a:pPr algn="ctr" indent="0" marL="0">
              <a:buNone/>
            </a:pPr>
            <a:r>
              <a:rPr lang="en-US" sz="1250" dirty="0">
                <a:solidFill>
                  <a:srgbClr val="111827"/>
                </a:solidFill>
                <a:latin typeface="Aptos" pitchFamily="34" charset="0"/>
                <a:ea typeface="Aptos" pitchFamily="34" charset="-122"/>
                <a:cs typeface="Aptos" pitchFamily="34" charset="-120"/>
              </a:rPr>
              <a:t>Carry out the solution actions in the real world.</a:t>
            </a:r>
            <a:endParaRPr lang="en-US" sz="1250" dirty="0"/>
          </a:p>
        </p:txBody>
      </p:sp>
      <p:sp>
        <p:nvSpPr>
          <p:cNvPr id="29" name="Text 27"/>
          <p:cNvSpPr/>
          <p:nvPr/>
        </p:nvSpPr>
        <p:spPr>
          <a:xfrm>
            <a:off x="9445752" y="4160520"/>
            <a:ext cx="2057400" cy="777240"/>
          </a:xfrm>
          <a:prstGeom prst="rect">
            <a:avLst/>
          </a:prstGeom>
          <a:noFill/>
          <a:ln/>
        </p:spPr>
        <p:txBody>
          <a:bodyPr wrap="square" lIns="762" tIns="762" rIns="762" bIns="762" rtlCol="0" anchor="t">
            <a:normAutofit/>
          </a:bodyPr>
          <a:lstStyle/>
          <a:p>
            <a:pPr algn="ctr" indent="0" marL="0">
              <a:buNone/>
            </a:pPr>
            <a:r>
              <a:rPr lang="en-US" sz="1150" dirty="0">
                <a:solidFill>
                  <a:srgbClr val="6B7280"/>
                </a:solidFill>
                <a:latin typeface="Aptos" pitchFamily="34" charset="0"/>
                <a:ea typeface="Aptos" pitchFamily="34" charset="-122"/>
                <a:cs typeface="Aptos" pitchFamily="34" charset="-120"/>
              </a:rPr>
              <a:t>The plan becomes behavior.</a:t>
            </a:r>
            <a:endParaRPr lang="en-US" sz="1150" dirty="0"/>
          </a:p>
        </p:txBody>
      </p:sp>
      <p:sp>
        <p:nvSpPr>
          <p:cNvPr id="30" name="Text 28"/>
          <p:cNvSpPr/>
          <p:nvPr/>
        </p:nvSpPr>
        <p:spPr>
          <a:xfrm>
            <a:off x="2560320" y="5852160"/>
            <a:ext cx="7223760" cy="256032"/>
          </a:xfrm>
          <a:prstGeom prst="rect">
            <a:avLst/>
          </a:prstGeom>
          <a:noFill/>
          <a:ln/>
        </p:spPr>
        <p:txBody>
          <a:bodyPr wrap="square" lIns="0" tIns="0" rIns="0" bIns="0" rtlCol="0" anchor="t">
            <a:normAutofit/>
          </a:bodyPr>
          <a:lstStyle/>
          <a:p>
            <a:pPr algn="ctr" indent="0" marL="0">
              <a:buNone/>
            </a:pPr>
            <a:r>
              <a:rPr lang="en-US" sz="1500" b="1" dirty="0">
                <a:solidFill>
                  <a:srgbClr val="13386B"/>
                </a:solidFill>
                <a:latin typeface="Aptos" pitchFamily="34" charset="0"/>
                <a:ea typeface="Aptos" pitchFamily="34" charset="-122"/>
                <a:cs typeface="Aptos" pitchFamily="34" charset="-120"/>
              </a:rPr>
              <a:t>Romania example: Arad → Sibiu → Făgăraș → Bucharest</a:t>
            </a:r>
            <a:endParaRPr lang="en-US" sz="1500" dirty="0"/>
          </a:p>
        </p:txBody>
      </p:sp>
      <p:sp>
        <p:nvSpPr>
          <p:cNvPr id="31" name="Text 29"/>
          <p:cNvSpPr/>
          <p:nvPr/>
        </p:nvSpPr>
        <p:spPr>
          <a:xfrm>
            <a:off x="11475720" y="6510528"/>
            <a:ext cx="320040" cy="164592"/>
          </a:xfrm>
          <a:prstGeom prst="rect">
            <a:avLst/>
          </a:prstGeom>
          <a:noFill/>
          <a:ln/>
        </p:spPr>
        <p:txBody>
          <a:bodyPr wrap="square" lIns="0" tIns="0" rIns="0" bIns="0" rtlCol="0" anchor="ctr"/>
          <a:lstStyle/>
          <a:p>
            <a:pPr algn="r" indent="0" marL="0">
              <a:buNone/>
            </a:pPr>
            <a:r>
              <a:rPr lang="en-US" sz="800" dirty="0">
                <a:solidFill>
                  <a:srgbClr val="6B7280"/>
                </a:solidFill>
              </a:rPr>
              <a:t>4</a:t>
            </a:r>
            <a:endParaRPr lang="en-US" sz="800" dirty="0"/>
          </a:p>
        </p:txBody>
      </p:sp>
      <p:sp>
        <p:nvSpPr>
          <p:cNvPr id="32" name="Text 30"/>
          <p:cNvSpPr/>
          <p:nvPr/>
        </p:nvSpPr>
        <p:spPr>
          <a:xfrm>
            <a:off x="411480" y="6510528"/>
            <a:ext cx="3200400" cy="164592"/>
          </a:xfrm>
          <a:prstGeom prst="rect">
            <a:avLst/>
          </a:prstGeom>
          <a:noFill/>
          <a:ln/>
        </p:spPr>
        <p:txBody>
          <a:bodyPr wrap="square" lIns="0" tIns="0" rIns="0" bIns="0" rtlCol="0" anchor="ctr"/>
          <a:lstStyle/>
          <a:p>
            <a:pPr indent="0" marL="0">
              <a:buNone/>
            </a:pPr>
            <a:r>
              <a:rPr lang="en-US" sz="750" dirty="0">
                <a:solidFill>
                  <a:srgbClr val="6B7280"/>
                </a:solidFill>
              </a:rPr>
              <a:t>CSU Channel Islands · COMP 469</a:t>
            </a:r>
            <a:endParaRPr lang="en-US" sz="7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7FB"/>
        </a:solidFill>
      </p:bgPr>
    </p:bg>
    <p:spTree>
      <p:nvGrpSpPr>
        <p:cNvPr id="1" name=""/>
        <p:cNvGrpSpPr/>
        <p:nvPr/>
      </p:nvGrpSpPr>
      <p:grpSpPr>
        <a:xfrm>
          <a:off x="0" y="0"/>
          <a:ext cx="0" cy="0"/>
          <a:chOff x="0" y="0"/>
          <a:chExt cx="0" cy="0"/>
        </a:xfrm>
      </p:grpSpPr>
      <p:sp>
        <p:nvSpPr>
          <p:cNvPr id="2" name="Shape 0"/>
          <p:cNvSpPr/>
          <p:nvPr/>
        </p:nvSpPr>
        <p:spPr>
          <a:xfrm>
            <a:off x="0" y="0"/>
            <a:ext cx="12191695" cy="640080"/>
          </a:xfrm>
          <a:prstGeom prst="rect">
            <a:avLst/>
          </a:prstGeom>
          <a:solidFill>
            <a:srgbClr val="13386B"/>
          </a:solidFill>
          <a:ln w="12700">
            <a:solidFill>
              <a:srgbClr val="13386B"/>
            </a:solidFill>
            <a:prstDash val="solid"/>
          </a:ln>
        </p:spPr>
      </p:sp>
      <p:sp>
        <p:nvSpPr>
          <p:cNvPr id="3" name="Shape 1"/>
          <p:cNvSpPr/>
          <p:nvPr/>
        </p:nvSpPr>
        <p:spPr>
          <a:xfrm>
            <a:off x="0" y="640080"/>
            <a:ext cx="12191695" cy="68580"/>
          </a:xfrm>
          <a:prstGeom prst="rect">
            <a:avLst/>
          </a:prstGeom>
          <a:solidFill>
            <a:srgbClr val="F5A11A"/>
          </a:solidFill>
          <a:ln w="12700">
            <a:solidFill>
              <a:srgbClr val="F5A11A"/>
            </a:solidFill>
            <a:prstDash val="solid"/>
          </a:ln>
        </p:spPr>
      </p:sp>
      <p:sp>
        <p:nvSpPr>
          <p:cNvPr id="4" name="Text 2"/>
          <p:cNvSpPr/>
          <p:nvPr/>
        </p:nvSpPr>
        <p:spPr>
          <a:xfrm>
            <a:off x="411480" y="155448"/>
            <a:ext cx="7818120" cy="320040"/>
          </a:xfrm>
          <a:prstGeom prst="rect">
            <a:avLst/>
          </a:prstGeom>
          <a:noFill/>
          <a:ln/>
        </p:spPr>
        <p:txBody>
          <a:bodyPr wrap="square" lIns="0" tIns="0" rIns="0" bIns="0" rtlCol="0" anchor="ctr"/>
          <a:lstStyle/>
          <a:p>
            <a:pPr indent="0" marL="0">
              <a:buNone/>
            </a:pPr>
            <a:r>
              <a:rPr lang="en-US" sz="2200" b="1" dirty="0">
                <a:solidFill>
                  <a:srgbClr val="FFFFFF"/>
                </a:solidFill>
                <a:latin typeface="Aptos Display" pitchFamily="34" charset="0"/>
                <a:ea typeface="Aptos Display" pitchFamily="34" charset="-122"/>
                <a:cs typeface="Aptos Display" pitchFamily="34" charset="-120"/>
              </a:rPr>
              <a:t>Environment Assumptions: When a Fixed Plan Works</a:t>
            </a:r>
            <a:endParaRPr lang="en-US" sz="2200" dirty="0"/>
          </a:p>
        </p:txBody>
      </p:sp>
      <p:sp>
        <p:nvSpPr>
          <p:cNvPr id="5" name="Text 3"/>
          <p:cNvSpPr/>
          <p:nvPr/>
        </p:nvSpPr>
        <p:spPr>
          <a:xfrm>
            <a:off x="9253728" y="210312"/>
            <a:ext cx="2487168" cy="256032"/>
          </a:xfrm>
          <a:prstGeom prst="rect">
            <a:avLst/>
          </a:prstGeom>
          <a:noFill/>
          <a:ln/>
        </p:spPr>
        <p:txBody>
          <a:bodyPr wrap="square" lIns="0" tIns="0" rIns="0" bIns="0" rtlCol="0" anchor="ctr"/>
          <a:lstStyle/>
          <a:p>
            <a:pPr algn="r" indent="0" marL="0">
              <a:buNone/>
            </a:pPr>
            <a:r>
              <a:rPr lang="en-US" sz="850" dirty="0">
                <a:solidFill>
                  <a:srgbClr val="D9E5F2"/>
                </a:solidFill>
              </a:rPr>
              <a:t>COMP 469 · Chapter 3 · Sections 3.1–3.4</a:t>
            </a:r>
            <a:endParaRPr lang="en-US" sz="850" dirty="0"/>
          </a:p>
        </p:txBody>
      </p:sp>
      <p:sp>
        <p:nvSpPr>
          <p:cNvPr id="6" name="Shape 4"/>
          <p:cNvSpPr/>
          <p:nvPr/>
        </p:nvSpPr>
        <p:spPr>
          <a:xfrm>
            <a:off x="731520" y="1143000"/>
            <a:ext cx="3246120" cy="914400"/>
          </a:xfrm>
          <a:prstGeom prst="roundRect">
            <a:avLst>
              <a:gd name="adj" fmla="val 6000"/>
            </a:avLst>
          </a:prstGeom>
          <a:solidFill>
            <a:srgbClr val="FFFFFF"/>
          </a:solidFill>
          <a:ln w="12700">
            <a:solidFill>
              <a:srgbClr val="D5DCE8"/>
            </a:solidFill>
            <a:prstDash val="solid"/>
          </a:ln>
        </p:spPr>
      </p:sp>
      <p:sp>
        <p:nvSpPr>
          <p:cNvPr id="7" name="Text 5"/>
          <p:cNvSpPr/>
          <p:nvPr/>
        </p:nvSpPr>
        <p:spPr>
          <a:xfrm>
            <a:off x="896112" y="1307592"/>
            <a:ext cx="2916936" cy="310896"/>
          </a:xfrm>
          <a:prstGeom prst="rect">
            <a:avLst/>
          </a:prstGeom>
          <a:noFill/>
          <a:ln/>
        </p:spPr>
        <p:txBody>
          <a:bodyPr wrap="square" lIns="762" tIns="762" rIns="762" bIns="762" rtlCol="0" anchor="t">
            <a:normAutofit/>
          </a:bodyPr>
          <a:lstStyle/>
          <a:p>
            <a:pPr algn="l" indent="0" marL="0">
              <a:buNone/>
            </a:pPr>
            <a:r>
              <a:rPr lang="en-US" sz="1400" b="1" dirty="0">
                <a:solidFill>
                  <a:srgbClr val="13386B"/>
                </a:solidFill>
                <a:latin typeface="Aptos" pitchFamily="34" charset="0"/>
                <a:ea typeface="Aptos" pitchFamily="34" charset="-122"/>
                <a:cs typeface="Aptos" pitchFamily="34" charset="-120"/>
              </a:rPr>
              <a:t>Fully observable</a:t>
            </a:r>
            <a:endParaRPr lang="en-US" sz="1400" dirty="0"/>
          </a:p>
        </p:txBody>
      </p:sp>
      <p:sp>
        <p:nvSpPr>
          <p:cNvPr id="8" name="Text 6"/>
          <p:cNvSpPr/>
          <p:nvPr/>
        </p:nvSpPr>
        <p:spPr>
          <a:xfrm>
            <a:off x="896112" y="1673352"/>
            <a:ext cx="2916936" cy="256032"/>
          </a:xfrm>
          <a:prstGeom prst="rect">
            <a:avLst/>
          </a:prstGeom>
          <a:noFill/>
          <a:ln/>
        </p:spPr>
        <p:txBody>
          <a:bodyPr wrap="square" lIns="762" tIns="762" rIns="762" bIns="762" rtlCol="0" anchor="t">
            <a:normAutofit/>
          </a:bodyPr>
          <a:lstStyle/>
          <a:p>
            <a:pPr algn="l" indent="0" marL="0">
              <a:buNone/>
            </a:pPr>
            <a:r>
              <a:rPr lang="en-US" sz="1250" dirty="0">
                <a:solidFill>
                  <a:srgbClr val="111827"/>
                </a:solidFill>
                <a:latin typeface="Aptos" pitchFamily="34" charset="0"/>
                <a:ea typeface="Aptos" pitchFamily="34" charset="-122"/>
                <a:cs typeface="Aptos" pitchFamily="34" charset="-120"/>
              </a:rPr>
              <a:t>The agent knows the relevant current state.</a:t>
            </a:r>
            <a:endParaRPr lang="en-US" sz="1250" dirty="0"/>
          </a:p>
        </p:txBody>
      </p:sp>
      <p:sp>
        <p:nvSpPr>
          <p:cNvPr id="9" name="Shape 7"/>
          <p:cNvSpPr/>
          <p:nvPr/>
        </p:nvSpPr>
        <p:spPr>
          <a:xfrm>
            <a:off x="4480560" y="1143000"/>
            <a:ext cx="3246120" cy="914400"/>
          </a:xfrm>
          <a:prstGeom prst="roundRect">
            <a:avLst>
              <a:gd name="adj" fmla="val 6000"/>
            </a:avLst>
          </a:prstGeom>
          <a:solidFill>
            <a:srgbClr val="FFFFFF"/>
          </a:solidFill>
          <a:ln w="12700">
            <a:solidFill>
              <a:srgbClr val="D5DCE8"/>
            </a:solidFill>
            <a:prstDash val="solid"/>
          </a:ln>
        </p:spPr>
      </p:sp>
      <p:sp>
        <p:nvSpPr>
          <p:cNvPr id="10" name="Text 8"/>
          <p:cNvSpPr/>
          <p:nvPr/>
        </p:nvSpPr>
        <p:spPr>
          <a:xfrm>
            <a:off x="4645152" y="1307592"/>
            <a:ext cx="2916936" cy="310896"/>
          </a:xfrm>
          <a:prstGeom prst="rect">
            <a:avLst/>
          </a:prstGeom>
          <a:noFill/>
          <a:ln/>
        </p:spPr>
        <p:txBody>
          <a:bodyPr wrap="square" lIns="762" tIns="762" rIns="762" bIns="762" rtlCol="0" anchor="t">
            <a:normAutofit/>
          </a:bodyPr>
          <a:lstStyle/>
          <a:p>
            <a:pPr algn="l" indent="0" marL="0">
              <a:buNone/>
            </a:pPr>
            <a:r>
              <a:rPr lang="en-US" sz="1400" b="1" dirty="0">
                <a:solidFill>
                  <a:srgbClr val="0F8B8D"/>
                </a:solidFill>
                <a:latin typeface="Aptos" pitchFamily="34" charset="0"/>
                <a:ea typeface="Aptos" pitchFamily="34" charset="-122"/>
                <a:cs typeface="Aptos" pitchFamily="34" charset="-120"/>
              </a:rPr>
              <a:t>Deterministic</a:t>
            </a:r>
            <a:endParaRPr lang="en-US" sz="1400" dirty="0"/>
          </a:p>
        </p:txBody>
      </p:sp>
      <p:sp>
        <p:nvSpPr>
          <p:cNvPr id="11" name="Text 9"/>
          <p:cNvSpPr/>
          <p:nvPr/>
        </p:nvSpPr>
        <p:spPr>
          <a:xfrm>
            <a:off x="4645152" y="1673352"/>
            <a:ext cx="2916936" cy="256032"/>
          </a:xfrm>
          <a:prstGeom prst="rect">
            <a:avLst/>
          </a:prstGeom>
          <a:noFill/>
          <a:ln/>
        </p:spPr>
        <p:txBody>
          <a:bodyPr wrap="square" lIns="762" tIns="762" rIns="762" bIns="762" rtlCol="0" anchor="t">
            <a:normAutofit/>
          </a:bodyPr>
          <a:lstStyle/>
          <a:p>
            <a:pPr algn="l" indent="0" marL="0">
              <a:buNone/>
            </a:pPr>
            <a:r>
              <a:rPr lang="en-US" sz="1250" dirty="0">
                <a:solidFill>
                  <a:srgbClr val="111827"/>
                </a:solidFill>
                <a:latin typeface="Aptos" pitchFamily="34" charset="0"/>
                <a:ea typeface="Aptos" pitchFamily="34" charset="-122"/>
                <a:cs typeface="Aptos" pitchFamily="34" charset="-120"/>
              </a:rPr>
              <a:t>Each action has a predictable result.</a:t>
            </a:r>
            <a:endParaRPr lang="en-US" sz="1250" dirty="0"/>
          </a:p>
        </p:txBody>
      </p:sp>
      <p:sp>
        <p:nvSpPr>
          <p:cNvPr id="12" name="Shape 10"/>
          <p:cNvSpPr/>
          <p:nvPr/>
        </p:nvSpPr>
        <p:spPr>
          <a:xfrm>
            <a:off x="8229600" y="1143000"/>
            <a:ext cx="3246120" cy="914400"/>
          </a:xfrm>
          <a:prstGeom prst="roundRect">
            <a:avLst>
              <a:gd name="adj" fmla="val 6000"/>
            </a:avLst>
          </a:prstGeom>
          <a:solidFill>
            <a:srgbClr val="FFFFFF"/>
          </a:solidFill>
          <a:ln w="12700">
            <a:solidFill>
              <a:srgbClr val="D5DCE8"/>
            </a:solidFill>
            <a:prstDash val="solid"/>
          </a:ln>
        </p:spPr>
      </p:sp>
      <p:sp>
        <p:nvSpPr>
          <p:cNvPr id="13" name="Text 11"/>
          <p:cNvSpPr/>
          <p:nvPr/>
        </p:nvSpPr>
        <p:spPr>
          <a:xfrm>
            <a:off x="8394192" y="1307592"/>
            <a:ext cx="2916936" cy="310896"/>
          </a:xfrm>
          <a:prstGeom prst="rect">
            <a:avLst/>
          </a:prstGeom>
          <a:noFill/>
          <a:ln/>
        </p:spPr>
        <p:txBody>
          <a:bodyPr wrap="square" lIns="762" tIns="762" rIns="762" bIns="762" rtlCol="0" anchor="t">
            <a:normAutofit/>
          </a:bodyPr>
          <a:lstStyle/>
          <a:p>
            <a:pPr algn="l" indent="0" marL="0">
              <a:buNone/>
            </a:pPr>
            <a:r>
              <a:rPr lang="en-US" sz="1400" b="1" dirty="0">
                <a:solidFill>
                  <a:srgbClr val="1F7A3D"/>
                </a:solidFill>
                <a:latin typeface="Aptos" pitchFamily="34" charset="0"/>
                <a:ea typeface="Aptos" pitchFamily="34" charset="-122"/>
                <a:cs typeface="Aptos" pitchFamily="34" charset="-120"/>
              </a:rPr>
              <a:t>Known</a:t>
            </a:r>
            <a:endParaRPr lang="en-US" sz="1400" dirty="0"/>
          </a:p>
        </p:txBody>
      </p:sp>
      <p:sp>
        <p:nvSpPr>
          <p:cNvPr id="14" name="Text 12"/>
          <p:cNvSpPr/>
          <p:nvPr/>
        </p:nvSpPr>
        <p:spPr>
          <a:xfrm>
            <a:off x="8394192" y="1673352"/>
            <a:ext cx="2916936" cy="256032"/>
          </a:xfrm>
          <a:prstGeom prst="rect">
            <a:avLst/>
          </a:prstGeom>
          <a:noFill/>
          <a:ln/>
        </p:spPr>
        <p:txBody>
          <a:bodyPr wrap="square" lIns="762" tIns="762" rIns="762" bIns="762" rtlCol="0" anchor="t">
            <a:normAutofit/>
          </a:bodyPr>
          <a:lstStyle/>
          <a:p>
            <a:pPr algn="l" indent="0" marL="0">
              <a:buNone/>
            </a:pPr>
            <a:r>
              <a:rPr lang="en-US" sz="1250" dirty="0">
                <a:solidFill>
                  <a:srgbClr val="111827"/>
                </a:solidFill>
                <a:latin typeface="Aptos" pitchFamily="34" charset="0"/>
                <a:ea typeface="Aptos" pitchFamily="34" charset="-122"/>
                <a:cs typeface="Aptos" pitchFamily="34" charset="-120"/>
              </a:rPr>
              <a:t>The agent has the map/model it needs.</a:t>
            </a:r>
            <a:endParaRPr lang="en-US" sz="1250" dirty="0"/>
          </a:p>
        </p:txBody>
      </p:sp>
      <p:sp>
        <p:nvSpPr>
          <p:cNvPr id="15" name="Shape 13"/>
          <p:cNvSpPr/>
          <p:nvPr/>
        </p:nvSpPr>
        <p:spPr>
          <a:xfrm>
            <a:off x="731520" y="2377440"/>
            <a:ext cx="3246120" cy="914400"/>
          </a:xfrm>
          <a:prstGeom prst="roundRect">
            <a:avLst>
              <a:gd name="adj" fmla="val 6000"/>
            </a:avLst>
          </a:prstGeom>
          <a:solidFill>
            <a:srgbClr val="FFFFFF"/>
          </a:solidFill>
          <a:ln w="12700">
            <a:solidFill>
              <a:srgbClr val="D5DCE8"/>
            </a:solidFill>
            <a:prstDash val="solid"/>
          </a:ln>
        </p:spPr>
      </p:sp>
      <p:sp>
        <p:nvSpPr>
          <p:cNvPr id="16" name="Text 14"/>
          <p:cNvSpPr/>
          <p:nvPr/>
        </p:nvSpPr>
        <p:spPr>
          <a:xfrm>
            <a:off x="896112" y="2542032"/>
            <a:ext cx="2916936" cy="310896"/>
          </a:xfrm>
          <a:prstGeom prst="rect">
            <a:avLst/>
          </a:prstGeom>
          <a:noFill/>
          <a:ln/>
        </p:spPr>
        <p:txBody>
          <a:bodyPr wrap="square" lIns="762" tIns="762" rIns="762" bIns="762" rtlCol="0" anchor="t">
            <a:normAutofit/>
          </a:bodyPr>
          <a:lstStyle/>
          <a:p>
            <a:pPr algn="l" indent="0" marL="0">
              <a:buNone/>
            </a:pPr>
            <a:r>
              <a:rPr lang="en-US" sz="1400" b="1" dirty="0">
                <a:solidFill>
                  <a:srgbClr val="13386B"/>
                </a:solidFill>
                <a:latin typeface="Aptos" pitchFamily="34" charset="0"/>
                <a:ea typeface="Aptos" pitchFamily="34" charset="-122"/>
                <a:cs typeface="Aptos" pitchFamily="34" charset="-120"/>
              </a:rPr>
              <a:t>Static</a:t>
            </a:r>
            <a:endParaRPr lang="en-US" sz="1400" dirty="0"/>
          </a:p>
        </p:txBody>
      </p:sp>
      <p:sp>
        <p:nvSpPr>
          <p:cNvPr id="17" name="Text 15"/>
          <p:cNvSpPr/>
          <p:nvPr/>
        </p:nvSpPr>
        <p:spPr>
          <a:xfrm>
            <a:off x="896112" y="2907792"/>
            <a:ext cx="2916936" cy="256032"/>
          </a:xfrm>
          <a:prstGeom prst="rect">
            <a:avLst/>
          </a:prstGeom>
          <a:noFill/>
          <a:ln/>
        </p:spPr>
        <p:txBody>
          <a:bodyPr wrap="square" lIns="762" tIns="762" rIns="762" bIns="762" rtlCol="0" anchor="t">
            <a:normAutofit/>
          </a:bodyPr>
          <a:lstStyle/>
          <a:p>
            <a:pPr algn="l" indent="0" marL="0">
              <a:buNone/>
            </a:pPr>
            <a:r>
              <a:rPr lang="en-US" sz="1250" dirty="0">
                <a:solidFill>
                  <a:srgbClr val="111827"/>
                </a:solidFill>
                <a:latin typeface="Aptos" pitchFamily="34" charset="0"/>
                <a:ea typeface="Aptos" pitchFamily="34" charset="-122"/>
                <a:cs typeface="Aptos" pitchFamily="34" charset="-120"/>
              </a:rPr>
              <a:t>The world does not change while the agent deliberates.</a:t>
            </a:r>
            <a:endParaRPr lang="en-US" sz="1250" dirty="0"/>
          </a:p>
        </p:txBody>
      </p:sp>
      <p:sp>
        <p:nvSpPr>
          <p:cNvPr id="18" name="Shape 16"/>
          <p:cNvSpPr/>
          <p:nvPr/>
        </p:nvSpPr>
        <p:spPr>
          <a:xfrm>
            <a:off x="4480560" y="2377440"/>
            <a:ext cx="3246120" cy="914400"/>
          </a:xfrm>
          <a:prstGeom prst="roundRect">
            <a:avLst>
              <a:gd name="adj" fmla="val 6000"/>
            </a:avLst>
          </a:prstGeom>
          <a:solidFill>
            <a:srgbClr val="FFFFFF"/>
          </a:solidFill>
          <a:ln w="12700">
            <a:solidFill>
              <a:srgbClr val="D5DCE8"/>
            </a:solidFill>
            <a:prstDash val="solid"/>
          </a:ln>
        </p:spPr>
      </p:sp>
      <p:sp>
        <p:nvSpPr>
          <p:cNvPr id="19" name="Text 17"/>
          <p:cNvSpPr/>
          <p:nvPr/>
        </p:nvSpPr>
        <p:spPr>
          <a:xfrm>
            <a:off x="4645152" y="2542032"/>
            <a:ext cx="2916936" cy="310896"/>
          </a:xfrm>
          <a:prstGeom prst="rect">
            <a:avLst/>
          </a:prstGeom>
          <a:noFill/>
          <a:ln/>
        </p:spPr>
        <p:txBody>
          <a:bodyPr wrap="square" lIns="762" tIns="762" rIns="762" bIns="762" rtlCol="0" anchor="t">
            <a:normAutofit/>
          </a:bodyPr>
          <a:lstStyle/>
          <a:p>
            <a:pPr algn="l" indent="0" marL="0">
              <a:buNone/>
            </a:pPr>
            <a:r>
              <a:rPr lang="en-US" sz="1400" b="1" dirty="0">
                <a:solidFill>
                  <a:srgbClr val="0F8B8D"/>
                </a:solidFill>
                <a:latin typeface="Aptos" pitchFamily="34" charset="0"/>
                <a:ea typeface="Aptos" pitchFamily="34" charset="-122"/>
                <a:cs typeface="Aptos" pitchFamily="34" charset="-120"/>
              </a:rPr>
              <a:t>Discrete</a:t>
            </a:r>
            <a:endParaRPr lang="en-US" sz="1400" dirty="0"/>
          </a:p>
        </p:txBody>
      </p:sp>
      <p:sp>
        <p:nvSpPr>
          <p:cNvPr id="20" name="Text 18"/>
          <p:cNvSpPr/>
          <p:nvPr/>
        </p:nvSpPr>
        <p:spPr>
          <a:xfrm>
            <a:off x="4645152" y="2907792"/>
            <a:ext cx="2916936" cy="256032"/>
          </a:xfrm>
          <a:prstGeom prst="rect">
            <a:avLst/>
          </a:prstGeom>
          <a:noFill/>
          <a:ln/>
        </p:spPr>
        <p:txBody>
          <a:bodyPr wrap="square" lIns="762" tIns="762" rIns="762" bIns="762" rtlCol="0" anchor="t">
            <a:normAutofit/>
          </a:bodyPr>
          <a:lstStyle/>
          <a:p>
            <a:pPr algn="l" indent="0" marL="0">
              <a:buNone/>
            </a:pPr>
            <a:r>
              <a:rPr lang="en-US" sz="1250" dirty="0">
                <a:solidFill>
                  <a:srgbClr val="111827"/>
                </a:solidFill>
                <a:latin typeface="Aptos" pitchFamily="34" charset="0"/>
                <a:ea typeface="Aptos" pitchFamily="34" charset="-122"/>
                <a:cs typeface="Aptos" pitchFamily="34" charset="-120"/>
              </a:rPr>
              <a:t>States and actions can be enumerated.</a:t>
            </a:r>
            <a:endParaRPr lang="en-US" sz="1250" dirty="0"/>
          </a:p>
        </p:txBody>
      </p:sp>
      <p:sp>
        <p:nvSpPr>
          <p:cNvPr id="21" name="Shape 19"/>
          <p:cNvSpPr/>
          <p:nvPr/>
        </p:nvSpPr>
        <p:spPr>
          <a:xfrm>
            <a:off x="8229600" y="2377440"/>
            <a:ext cx="3246120" cy="914400"/>
          </a:xfrm>
          <a:prstGeom prst="roundRect">
            <a:avLst>
              <a:gd name="adj" fmla="val 6000"/>
            </a:avLst>
          </a:prstGeom>
          <a:solidFill>
            <a:srgbClr val="FFFFFF"/>
          </a:solidFill>
          <a:ln w="12700">
            <a:solidFill>
              <a:srgbClr val="D5DCE8"/>
            </a:solidFill>
            <a:prstDash val="solid"/>
          </a:ln>
        </p:spPr>
      </p:sp>
      <p:sp>
        <p:nvSpPr>
          <p:cNvPr id="22" name="Text 20"/>
          <p:cNvSpPr/>
          <p:nvPr/>
        </p:nvSpPr>
        <p:spPr>
          <a:xfrm>
            <a:off x="8394192" y="2542032"/>
            <a:ext cx="2916936" cy="310896"/>
          </a:xfrm>
          <a:prstGeom prst="rect">
            <a:avLst/>
          </a:prstGeom>
          <a:noFill/>
          <a:ln/>
        </p:spPr>
        <p:txBody>
          <a:bodyPr wrap="square" lIns="762" tIns="762" rIns="762" bIns="762" rtlCol="0" anchor="t">
            <a:normAutofit/>
          </a:bodyPr>
          <a:lstStyle/>
          <a:p>
            <a:pPr algn="l" indent="0" marL="0">
              <a:buNone/>
            </a:pPr>
            <a:r>
              <a:rPr lang="en-US" sz="1400" b="1" dirty="0">
                <a:solidFill>
                  <a:srgbClr val="1F7A3D"/>
                </a:solidFill>
                <a:latin typeface="Aptos" pitchFamily="34" charset="0"/>
                <a:ea typeface="Aptos" pitchFamily="34" charset="-122"/>
                <a:cs typeface="Aptos" pitchFamily="34" charset="-120"/>
              </a:rPr>
              <a:t>Single-agent</a:t>
            </a:r>
            <a:endParaRPr lang="en-US" sz="1400" dirty="0"/>
          </a:p>
        </p:txBody>
      </p:sp>
      <p:sp>
        <p:nvSpPr>
          <p:cNvPr id="23" name="Text 21"/>
          <p:cNvSpPr/>
          <p:nvPr/>
        </p:nvSpPr>
        <p:spPr>
          <a:xfrm>
            <a:off x="8394192" y="2907792"/>
            <a:ext cx="2916936" cy="256032"/>
          </a:xfrm>
          <a:prstGeom prst="rect">
            <a:avLst/>
          </a:prstGeom>
          <a:noFill/>
          <a:ln/>
        </p:spPr>
        <p:txBody>
          <a:bodyPr wrap="square" lIns="762" tIns="762" rIns="762" bIns="762" rtlCol="0" anchor="t">
            <a:normAutofit/>
          </a:bodyPr>
          <a:lstStyle/>
          <a:p>
            <a:pPr algn="l" indent="0" marL="0">
              <a:buNone/>
            </a:pPr>
            <a:r>
              <a:rPr lang="en-US" sz="1250" dirty="0">
                <a:solidFill>
                  <a:srgbClr val="111827"/>
                </a:solidFill>
                <a:latin typeface="Aptos" pitchFamily="34" charset="0"/>
                <a:ea typeface="Aptos" pitchFamily="34" charset="-122"/>
                <a:cs typeface="Aptos" pitchFamily="34" charset="-120"/>
              </a:rPr>
              <a:t>No adversary changes the state.</a:t>
            </a:r>
            <a:endParaRPr lang="en-US" sz="1250" dirty="0"/>
          </a:p>
        </p:txBody>
      </p:sp>
      <p:sp>
        <p:nvSpPr>
          <p:cNvPr id="24" name="Shape 22"/>
          <p:cNvSpPr/>
          <p:nvPr/>
        </p:nvSpPr>
        <p:spPr>
          <a:xfrm>
            <a:off x="914400" y="3886200"/>
            <a:ext cx="5029200" cy="1234440"/>
          </a:xfrm>
          <a:prstGeom prst="roundRect">
            <a:avLst>
              <a:gd name="adj" fmla="val 4444"/>
            </a:avLst>
          </a:prstGeom>
          <a:solidFill>
            <a:srgbClr val="FFF7E8"/>
          </a:solidFill>
          <a:ln w="12700">
            <a:solidFill>
              <a:srgbClr val="D5DCE8"/>
            </a:solidFill>
            <a:prstDash val="solid"/>
          </a:ln>
        </p:spPr>
      </p:sp>
      <p:sp>
        <p:nvSpPr>
          <p:cNvPr id="25" name="Text 23"/>
          <p:cNvSpPr/>
          <p:nvPr/>
        </p:nvSpPr>
        <p:spPr>
          <a:xfrm>
            <a:off x="1078992" y="4050792"/>
            <a:ext cx="4700016" cy="310896"/>
          </a:xfrm>
          <a:prstGeom prst="rect">
            <a:avLst/>
          </a:prstGeom>
          <a:noFill/>
          <a:ln/>
        </p:spPr>
        <p:txBody>
          <a:bodyPr wrap="square" lIns="762" tIns="762" rIns="762" bIns="762" rtlCol="0" anchor="t">
            <a:normAutofit/>
          </a:bodyPr>
          <a:lstStyle/>
          <a:p>
            <a:pPr algn="l" indent="0" marL="0">
              <a:buNone/>
            </a:pPr>
            <a:r>
              <a:rPr lang="en-US" sz="1400" b="1" dirty="0">
                <a:solidFill>
                  <a:srgbClr val="F5A11A"/>
                </a:solidFill>
                <a:latin typeface="Aptos" pitchFamily="34" charset="0"/>
                <a:ea typeface="Aptos" pitchFamily="34" charset="-122"/>
                <a:cs typeface="Aptos" pitchFamily="34" charset="-120"/>
              </a:rPr>
              <a:t>Open-loop execution</a:t>
            </a:r>
            <a:endParaRPr lang="en-US" sz="1400" dirty="0"/>
          </a:p>
        </p:txBody>
      </p:sp>
      <p:sp>
        <p:nvSpPr>
          <p:cNvPr id="26" name="Text 24"/>
          <p:cNvSpPr/>
          <p:nvPr/>
        </p:nvSpPr>
        <p:spPr>
          <a:xfrm>
            <a:off x="1078992" y="4416552"/>
            <a:ext cx="4700016" cy="576072"/>
          </a:xfrm>
          <a:prstGeom prst="rect">
            <a:avLst/>
          </a:prstGeom>
          <a:noFill/>
          <a:ln/>
        </p:spPr>
        <p:txBody>
          <a:bodyPr wrap="square" lIns="762" tIns="762" rIns="762" bIns="762" rtlCol="0" anchor="t">
            <a:normAutofit/>
          </a:bodyPr>
          <a:lstStyle/>
          <a:p>
            <a:pPr algn="l" indent="0" marL="0">
              <a:buNone/>
            </a:pPr>
            <a:r>
              <a:rPr lang="en-US" sz="1250" dirty="0">
                <a:solidFill>
                  <a:srgbClr val="111827"/>
                </a:solidFill>
                <a:latin typeface="Aptos" pitchFamily="34" charset="0"/>
                <a:ea typeface="Aptos" pitchFamily="34" charset="-122"/>
                <a:cs typeface="Aptos" pitchFamily="34" charset="-120"/>
              </a:rPr>
              <a:t>If the model is correct, the agent can execute a fixed action sequence without checking percepts.</a:t>
            </a:r>
            <a:endParaRPr lang="en-US" sz="1250" dirty="0"/>
          </a:p>
        </p:txBody>
      </p:sp>
      <p:sp>
        <p:nvSpPr>
          <p:cNvPr id="27" name="Shape 25"/>
          <p:cNvSpPr/>
          <p:nvPr/>
        </p:nvSpPr>
        <p:spPr>
          <a:xfrm>
            <a:off x="6263640" y="3886200"/>
            <a:ext cx="5029200" cy="1234440"/>
          </a:xfrm>
          <a:prstGeom prst="roundRect">
            <a:avLst>
              <a:gd name="adj" fmla="val 4444"/>
            </a:avLst>
          </a:prstGeom>
          <a:solidFill>
            <a:srgbClr val="EEF7F2"/>
          </a:solidFill>
          <a:ln w="12700">
            <a:solidFill>
              <a:srgbClr val="D5DCE8"/>
            </a:solidFill>
            <a:prstDash val="solid"/>
          </a:ln>
        </p:spPr>
      </p:sp>
      <p:sp>
        <p:nvSpPr>
          <p:cNvPr id="28" name="Text 26"/>
          <p:cNvSpPr/>
          <p:nvPr/>
        </p:nvSpPr>
        <p:spPr>
          <a:xfrm>
            <a:off x="6428232" y="4050792"/>
            <a:ext cx="4700016" cy="310896"/>
          </a:xfrm>
          <a:prstGeom prst="rect">
            <a:avLst/>
          </a:prstGeom>
          <a:noFill/>
          <a:ln/>
        </p:spPr>
        <p:txBody>
          <a:bodyPr wrap="square" lIns="762" tIns="762" rIns="762" bIns="762" rtlCol="0" anchor="t">
            <a:normAutofit/>
          </a:bodyPr>
          <a:lstStyle/>
          <a:p>
            <a:pPr algn="l" indent="0" marL="0">
              <a:buNone/>
            </a:pPr>
            <a:r>
              <a:rPr lang="en-US" sz="1400" b="1" dirty="0">
                <a:solidFill>
                  <a:srgbClr val="1F7A3D"/>
                </a:solidFill>
                <a:latin typeface="Aptos" pitchFamily="34" charset="0"/>
                <a:ea typeface="Aptos" pitchFamily="34" charset="-122"/>
                <a:cs typeface="Aptos" pitchFamily="34" charset="-120"/>
              </a:rPr>
              <a:t>Closed-loop execution</a:t>
            </a:r>
            <a:endParaRPr lang="en-US" sz="1400" dirty="0"/>
          </a:p>
        </p:txBody>
      </p:sp>
      <p:sp>
        <p:nvSpPr>
          <p:cNvPr id="29" name="Text 27"/>
          <p:cNvSpPr/>
          <p:nvPr/>
        </p:nvSpPr>
        <p:spPr>
          <a:xfrm>
            <a:off x="6428232" y="4416552"/>
            <a:ext cx="4700016" cy="576072"/>
          </a:xfrm>
          <a:prstGeom prst="rect">
            <a:avLst/>
          </a:prstGeom>
          <a:noFill/>
          <a:ln/>
        </p:spPr>
        <p:txBody>
          <a:bodyPr wrap="square" lIns="762" tIns="762" rIns="762" bIns="762" rtlCol="0" anchor="t">
            <a:normAutofit/>
          </a:bodyPr>
          <a:lstStyle/>
          <a:p>
            <a:pPr algn="l" indent="0" marL="0">
              <a:buNone/>
            </a:pPr>
            <a:r>
              <a:rPr lang="en-US" sz="1250" dirty="0">
                <a:solidFill>
                  <a:srgbClr val="111827"/>
                </a:solidFill>
                <a:latin typeface="Aptos" pitchFamily="34" charset="0"/>
                <a:ea typeface="Aptos" pitchFamily="34" charset="-122"/>
                <a:cs typeface="Aptos" pitchFamily="34" charset="-120"/>
              </a:rPr>
              <a:t>If the world is uncertain, the agent should monitor percepts and branch or replan.</a:t>
            </a:r>
            <a:endParaRPr lang="en-US" sz="1250" dirty="0"/>
          </a:p>
        </p:txBody>
      </p:sp>
      <p:sp>
        <p:nvSpPr>
          <p:cNvPr id="30" name="Text 28"/>
          <p:cNvSpPr/>
          <p:nvPr/>
        </p:nvSpPr>
        <p:spPr>
          <a:xfrm>
            <a:off x="11475720" y="6510528"/>
            <a:ext cx="320040" cy="164592"/>
          </a:xfrm>
          <a:prstGeom prst="rect">
            <a:avLst/>
          </a:prstGeom>
          <a:noFill/>
          <a:ln/>
        </p:spPr>
        <p:txBody>
          <a:bodyPr wrap="square" lIns="0" tIns="0" rIns="0" bIns="0" rtlCol="0" anchor="ctr"/>
          <a:lstStyle/>
          <a:p>
            <a:pPr algn="r" indent="0" marL="0">
              <a:buNone/>
            </a:pPr>
            <a:r>
              <a:rPr lang="en-US" sz="800" dirty="0">
                <a:solidFill>
                  <a:srgbClr val="6B7280"/>
                </a:solidFill>
              </a:rPr>
              <a:t>5</a:t>
            </a:r>
            <a:endParaRPr lang="en-US" sz="800" dirty="0"/>
          </a:p>
        </p:txBody>
      </p:sp>
      <p:sp>
        <p:nvSpPr>
          <p:cNvPr id="31" name="Text 29"/>
          <p:cNvSpPr/>
          <p:nvPr/>
        </p:nvSpPr>
        <p:spPr>
          <a:xfrm>
            <a:off x="411480" y="6510528"/>
            <a:ext cx="3200400" cy="164592"/>
          </a:xfrm>
          <a:prstGeom prst="rect">
            <a:avLst/>
          </a:prstGeom>
          <a:noFill/>
          <a:ln/>
        </p:spPr>
        <p:txBody>
          <a:bodyPr wrap="square" lIns="0" tIns="0" rIns="0" bIns="0" rtlCol="0" anchor="ctr"/>
          <a:lstStyle/>
          <a:p>
            <a:pPr indent="0" marL="0">
              <a:buNone/>
            </a:pPr>
            <a:r>
              <a:rPr lang="en-US" sz="750" dirty="0">
                <a:solidFill>
                  <a:srgbClr val="6B7280"/>
                </a:solidFill>
              </a:rPr>
              <a:t>CSU Channel Islands · COMP 469</a:t>
            </a:r>
            <a:endParaRPr lang="en-US" sz="7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3386B"/>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13386B"/>
          </a:solidFill>
          <a:ln w="12700">
            <a:solidFill>
              <a:srgbClr val="13386B"/>
            </a:solidFill>
            <a:prstDash val="solid"/>
          </a:ln>
        </p:spPr>
      </p:sp>
      <p:sp>
        <p:nvSpPr>
          <p:cNvPr id="3" name="Shape 1"/>
          <p:cNvSpPr/>
          <p:nvPr/>
        </p:nvSpPr>
        <p:spPr>
          <a:xfrm>
            <a:off x="0" y="5440680"/>
            <a:ext cx="12191695" cy="118872"/>
          </a:xfrm>
          <a:prstGeom prst="rect">
            <a:avLst/>
          </a:prstGeom>
          <a:solidFill>
            <a:srgbClr val="F5A11A"/>
          </a:solidFill>
          <a:ln w="12700">
            <a:solidFill>
              <a:srgbClr val="F5A11A"/>
            </a:solidFill>
            <a:prstDash val="solid"/>
          </a:ln>
        </p:spPr>
      </p:sp>
      <p:sp>
        <p:nvSpPr>
          <p:cNvPr id="4" name="Text 2"/>
          <p:cNvSpPr/>
          <p:nvPr/>
        </p:nvSpPr>
        <p:spPr>
          <a:xfrm>
            <a:off x="731520" y="1965960"/>
            <a:ext cx="7040880" cy="594360"/>
          </a:xfrm>
          <a:prstGeom prst="rect">
            <a:avLst/>
          </a:prstGeom>
          <a:noFill/>
          <a:ln/>
        </p:spPr>
        <p:txBody>
          <a:bodyPr wrap="square" lIns="0" tIns="0" rIns="0" bIns="0" rtlCol="0" anchor="t">
            <a:normAutofit/>
          </a:bodyPr>
          <a:lstStyle/>
          <a:p>
            <a:pPr algn="l" indent="0" marL="0">
              <a:buNone/>
            </a:pPr>
            <a:r>
              <a:rPr lang="en-US" sz="3400" b="1" dirty="0">
                <a:solidFill>
                  <a:srgbClr val="FFFFFF"/>
                </a:solidFill>
                <a:latin typeface="Aptos" pitchFamily="34" charset="0"/>
                <a:ea typeface="Aptos" pitchFamily="34" charset="-122"/>
                <a:cs typeface="Aptos" pitchFamily="34" charset="-120"/>
              </a:rPr>
              <a:t>Section 3.1</a:t>
            </a:r>
            <a:endParaRPr lang="en-US" sz="3400" dirty="0"/>
          </a:p>
        </p:txBody>
      </p:sp>
      <p:sp>
        <p:nvSpPr>
          <p:cNvPr id="5" name="Text 3"/>
          <p:cNvSpPr/>
          <p:nvPr/>
        </p:nvSpPr>
        <p:spPr>
          <a:xfrm>
            <a:off x="768096" y="2697480"/>
            <a:ext cx="7315200" cy="365760"/>
          </a:xfrm>
          <a:prstGeom prst="rect">
            <a:avLst/>
          </a:prstGeom>
          <a:noFill/>
          <a:ln/>
        </p:spPr>
        <p:txBody>
          <a:bodyPr wrap="square" lIns="0" tIns="0" rIns="0" bIns="0" rtlCol="0" anchor="t">
            <a:normAutofit/>
          </a:bodyPr>
          <a:lstStyle/>
          <a:p>
            <a:pPr algn="l" indent="0" marL="0">
              <a:buNone/>
            </a:pPr>
            <a:r>
              <a:rPr lang="en-US" sz="1700" dirty="0">
                <a:solidFill>
                  <a:srgbClr val="D8E6F6"/>
                </a:solidFill>
                <a:latin typeface="Aptos" pitchFamily="34" charset="0"/>
                <a:ea typeface="Aptos" pitchFamily="34" charset="-122"/>
                <a:cs typeface="Aptos" pitchFamily="34" charset="-120"/>
              </a:rPr>
              <a:t>Problem-Solving Agents</a:t>
            </a:r>
            <a:endParaRPr lang="en-US" sz="1700" dirty="0"/>
          </a:p>
        </p:txBody>
      </p:sp>
      <p:pic>
        <p:nvPicPr>
          <p:cNvPr id="6" name="Image 0" descr="/mnt/data/a_clean_cartoon_style_digital_illustration_featur.png">    </p:cNvPr>
          <p:cNvPicPr>
            <a:picLocks noChangeAspect="1"/>
          </p:cNvPicPr>
          <p:nvPr/>
        </p:nvPicPr>
        <p:blipFill>
          <a:blip r:embed="rId1"/>
          <a:stretch>
            <a:fillRect/>
          </a:stretch>
        </p:blipFill>
        <p:spPr>
          <a:xfrm>
            <a:off x="8869680" y="1143000"/>
            <a:ext cx="2331720" cy="3200400"/>
          </a:xfrm>
          <a:prstGeom prst="rect">
            <a:avLst/>
          </a:prstGeom>
        </p:spPr>
      </p:pic>
      <p:sp>
        <p:nvSpPr>
          <p:cNvPr id="7" name="Text 4"/>
          <p:cNvSpPr/>
          <p:nvPr/>
        </p:nvSpPr>
        <p:spPr>
          <a:xfrm>
            <a:off x="11475720" y="6510528"/>
            <a:ext cx="320040" cy="164592"/>
          </a:xfrm>
          <a:prstGeom prst="rect">
            <a:avLst/>
          </a:prstGeom>
          <a:noFill/>
          <a:ln/>
        </p:spPr>
        <p:txBody>
          <a:bodyPr wrap="square" lIns="0" tIns="0" rIns="0" bIns="0" rtlCol="0" anchor="ctr"/>
          <a:lstStyle/>
          <a:p>
            <a:pPr algn="r" indent="0" marL="0">
              <a:buNone/>
            </a:pPr>
            <a:r>
              <a:rPr lang="en-US" sz="800" dirty="0">
                <a:solidFill>
                  <a:srgbClr val="6B7280"/>
                </a:solidFill>
              </a:rPr>
              <a:t>7</a:t>
            </a:r>
            <a:endParaRPr lang="en-US" sz="800" dirty="0"/>
          </a:p>
        </p:txBody>
      </p:sp>
      <p:sp>
        <p:nvSpPr>
          <p:cNvPr id="8" name="Text 5"/>
          <p:cNvSpPr/>
          <p:nvPr/>
        </p:nvSpPr>
        <p:spPr>
          <a:xfrm>
            <a:off x="411480" y="6510528"/>
            <a:ext cx="3200400" cy="164592"/>
          </a:xfrm>
          <a:prstGeom prst="rect">
            <a:avLst/>
          </a:prstGeom>
          <a:noFill/>
          <a:ln/>
        </p:spPr>
        <p:txBody>
          <a:bodyPr wrap="square" lIns="0" tIns="0" rIns="0" bIns="0" rtlCol="0" anchor="ctr"/>
          <a:lstStyle/>
          <a:p>
            <a:pPr indent="0" marL="0">
              <a:buNone/>
            </a:pPr>
            <a:r>
              <a:rPr lang="en-US" sz="750" dirty="0">
                <a:solidFill>
                  <a:srgbClr val="6B7280"/>
                </a:solidFill>
              </a:rPr>
              <a:t>CSU Channel Islands · COMP 469</a:t>
            </a:r>
            <a:endParaRPr lang="en-US" sz="7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5F7FB"/>
        </a:solidFill>
      </p:bgPr>
    </p:bg>
    <p:spTree>
      <p:nvGrpSpPr>
        <p:cNvPr id="1" name=""/>
        <p:cNvGrpSpPr/>
        <p:nvPr/>
      </p:nvGrpSpPr>
      <p:grpSpPr>
        <a:xfrm>
          <a:off x="0" y="0"/>
          <a:ext cx="0" cy="0"/>
          <a:chOff x="0" y="0"/>
          <a:chExt cx="0" cy="0"/>
        </a:xfrm>
      </p:grpSpPr>
      <p:sp>
        <p:nvSpPr>
          <p:cNvPr id="2" name="Shape 0"/>
          <p:cNvSpPr/>
          <p:nvPr/>
        </p:nvSpPr>
        <p:spPr>
          <a:xfrm>
            <a:off x="0" y="0"/>
            <a:ext cx="12191695" cy="640080"/>
          </a:xfrm>
          <a:prstGeom prst="rect">
            <a:avLst/>
          </a:prstGeom>
          <a:solidFill>
            <a:srgbClr val="13386B"/>
          </a:solidFill>
          <a:ln w="12700">
            <a:solidFill>
              <a:srgbClr val="13386B"/>
            </a:solidFill>
            <a:prstDash val="solid"/>
          </a:ln>
        </p:spPr>
      </p:sp>
      <p:sp>
        <p:nvSpPr>
          <p:cNvPr id="3" name="Shape 1"/>
          <p:cNvSpPr/>
          <p:nvPr/>
        </p:nvSpPr>
        <p:spPr>
          <a:xfrm>
            <a:off x="0" y="640080"/>
            <a:ext cx="12191695" cy="68580"/>
          </a:xfrm>
          <a:prstGeom prst="rect">
            <a:avLst/>
          </a:prstGeom>
          <a:solidFill>
            <a:srgbClr val="F5A11A"/>
          </a:solidFill>
          <a:ln w="12700">
            <a:solidFill>
              <a:srgbClr val="F5A11A"/>
            </a:solidFill>
            <a:prstDash val="solid"/>
          </a:ln>
        </p:spPr>
      </p:sp>
      <p:sp>
        <p:nvSpPr>
          <p:cNvPr id="4" name="Text 2"/>
          <p:cNvSpPr/>
          <p:nvPr/>
        </p:nvSpPr>
        <p:spPr>
          <a:xfrm>
            <a:off x="411480" y="155448"/>
            <a:ext cx="7818120" cy="320040"/>
          </a:xfrm>
          <a:prstGeom prst="rect">
            <a:avLst/>
          </a:prstGeom>
          <a:noFill/>
          <a:ln/>
        </p:spPr>
        <p:txBody>
          <a:bodyPr wrap="square" lIns="0" tIns="0" rIns="0" bIns="0" rtlCol="0" anchor="ctr"/>
          <a:lstStyle/>
          <a:p>
            <a:pPr indent="0" marL="0">
              <a:buNone/>
            </a:pPr>
            <a:r>
              <a:rPr lang="en-US" sz="2200" b="1" dirty="0">
                <a:solidFill>
                  <a:srgbClr val="FFFFFF"/>
                </a:solidFill>
                <a:latin typeface="Aptos Display" pitchFamily="34" charset="0"/>
                <a:ea typeface="Aptos Display" pitchFamily="34" charset="-122"/>
                <a:cs typeface="Aptos Display" pitchFamily="34" charset="-120"/>
              </a:rPr>
              <a:t>Formal Definition of a Search Problem</a:t>
            </a:r>
            <a:endParaRPr lang="en-US" sz="2200" dirty="0"/>
          </a:p>
        </p:txBody>
      </p:sp>
      <p:sp>
        <p:nvSpPr>
          <p:cNvPr id="5" name="Text 3"/>
          <p:cNvSpPr/>
          <p:nvPr/>
        </p:nvSpPr>
        <p:spPr>
          <a:xfrm>
            <a:off x="9253728" y="210312"/>
            <a:ext cx="2487168" cy="256032"/>
          </a:xfrm>
          <a:prstGeom prst="rect">
            <a:avLst/>
          </a:prstGeom>
          <a:noFill/>
          <a:ln/>
        </p:spPr>
        <p:txBody>
          <a:bodyPr wrap="square" lIns="0" tIns="0" rIns="0" bIns="0" rtlCol="0" anchor="ctr"/>
          <a:lstStyle/>
          <a:p>
            <a:pPr algn="r" indent="0" marL="0">
              <a:buNone/>
            </a:pPr>
            <a:r>
              <a:rPr lang="en-US" sz="850" dirty="0">
                <a:solidFill>
                  <a:srgbClr val="D9E5F2"/>
                </a:solidFill>
              </a:rPr>
              <a:t>COMP 469 · Chapter 3 · Sections 3.1–3.4</a:t>
            </a:r>
            <a:endParaRPr lang="en-US" sz="850" dirty="0"/>
          </a:p>
        </p:txBody>
      </p:sp>
      <p:sp>
        <p:nvSpPr>
          <p:cNvPr id="6" name="Shape 4"/>
          <p:cNvSpPr/>
          <p:nvPr/>
        </p:nvSpPr>
        <p:spPr>
          <a:xfrm>
            <a:off x="594360" y="969264"/>
            <a:ext cx="5257800" cy="932688"/>
          </a:xfrm>
          <a:prstGeom prst="roundRect">
            <a:avLst>
              <a:gd name="adj" fmla="val 5882"/>
            </a:avLst>
          </a:prstGeom>
          <a:solidFill>
            <a:srgbClr val="FFFFFF"/>
          </a:solidFill>
          <a:ln w="12700">
            <a:solidFill>
              <a:srgbClr val="D5DCE8"/>
            </a:solidFill>
            <a:prstDash val="solid"/>
          </a:ln>
        </p:spPr>
      </p:sp>
      <p:sp>
        <p:nvSpPr>
          <p:cNvPr id="7" name="Text 5"/>
          <p:cNvSpPr/>
          <p:nvPr/>
        </p:nvSpPr>
        <p:spPr>
          <a:xfrm>
            <a:off x="758952" y="1133856"/>
            <a:ext cx="4928616" cy="310896"/>
          </a:xfrm>
          <a:prstGeom prst="rect">
            <a:avLst/>
          </a:prstGeom>
          <a:noFill/>
          <a:ln/>
        </p:spPr>
        <p:txBody>
          <a:bodyPr wrap="square" lIns="762" tIns="762" rIns="762" bIns="762" rtlCol="0" anchor="t">
            <a:normAutofit/>
          </a:bodyPr>
          <a:lstStyle/>
          <a:p>
            <a:pPr algn="l" indent="0" marL="0">
              <a:buNone/>
            </a:pPr>
            <a:r>
              <a:rPr lang="en-US" sz="1400" b="1" dirty="0">
                <a:solidFill>
                  <a:srgbClr val="13386B"/>
                </a:solidFill>
                <a:latin typeface="Aptos" pitchFamily="34" charset="0"/>
                <a:ea typeface="Aptos" pitchFamily="34" charset="-122"/>
                <a:cs typeface="Aptos" pitchFamily="34" charset="-120"/>
              </a:rPr>
              <a:t>State space</a:t>
            </a:r>
            <a:endParaRPr lang="en-US" sz="1400" dirty="0"/>
          </a:p>
        </p:txBody>
      </p:sp>
      <p:sp>
        <p:nvSpPr>
          <p:cNvPr id="8" name="Text 6"/>
          <p:cNvSpPr/>
          <p:nvPr/>
        </p:nvSpPr>
        <p:spPr>
          <a:xfrm>
            <a:off x="758952" y="1499616"/>
            <a:ext cx="4928616" cy="274320"/>
          </a:xfrm>
          <a:prstGeom prst="rect">
            <a:avLst/>
          </a:prstGeom>
          <a:noFill/>
          <a:ln/>
        </p:spPr>
        <p:txBody>
          <a:bodyPr wrap="square" lIns="762" tIns="762" rIns="762" bIns="762" rtlCol="0" anchor="t">
            <a:normAutofit/>
          </a:bodyPr>
          <a:lstStyle/>
          <a:p>
            <a:pPr algn="l" indent="0" marL="0">
              <a:buNone/>
            </a:pPr>
            <a:r>
              <a:rPr lang="en-US" sz="1250" dirty="0">
                <a:solidFill>
                  <a:srgbClr val="111827"/>
                </a:solidFill>
                <a:latin typeface="Aptos" pitchFamily="34" charset="0"/>
                <a:ea typeface="Aptos" pitchFamily="34" charset="-122"/>
                <a:cs typeface="Aptos" pitchFamily="34" charset="-120"/>
              </a:rPr>
              <a:t>Set of possible states.</a:t>
            </a:r>
            <a:endParaRPr lang="en-US" sz="1250" dirty="0"/>
          </a:p>
        </p:txBody>
      </p:sp>
      <p:sp>
        <p:nvSpPr>
          <p:cNvPr id="9" name="Shape 7"/>
          <p:cNvSpPr/>
          <p:nvPr/>
        </p:nvSpPr>
        <p:spPr>
          <a:xfrm>
            <a:off x="6217920" y="969264"/>
            <a:ext cx="5257800" cy="932688"/>
          </a:xfrm>
          <a:prstGeom prst="roundRect">
            <a:avLst>
              <a:gd name="adj" fmla="val 5882"/>
            </a:avLst>
          </a:prstGeom>
          <a:solidFill>
            <a:srgbClr val="FFFFFF"/>
          </a:solidFill>
          <a:ln w="12700">
            <a:solidFill>
              <a:srgbClr val="D5DCE8"/>
            </a:solidFill>
            <a:prstDash val="solid"/>
          </a:ln>
        </p:spPr>
      </p:sp>
      <p:sp>
        <p:nvSpPr>
          <p:cNvPr id="10" name="Text 8"/>
          <p:cNvSpPr/>
          <p:nvPr/>
        </p:nvSpPr>
        <p:spPr>
          <a:xfrm>
            <a:off x="6382512" y="1133856"/>
            <a:ext cx="4928616" cy="310896"/>
          </a:xfrm>
          <a:prstGeom prst="rect">
            <a:avLst/>
          </a:prstGeom>
          <a:noFill/>
          <a:ln/>
        </p:spPr>
        <p:txBody>
          <a:bodyPr wrap="square" lIns="762" tIns="762" rIns="762" bIns="762" rtlCol="0" anchor="t">
            <a:normAutofit/>
          </a:bodyPr>
          <a:lstStyle/>
          <a:p>
            <a:pPr algn="l" indent="0" marL="0">
              <a:buNone/>
            </a:pPr>
            <a:r>
              <a:rPr lang="en-US" sz="1400" b="1" dirty="0">
                <a:solidFill>
                  <a:srgbClr val="0F8B8D"/>
                </a:solidFill>
                <a:latin typeface="Aptos" pitchFamily="34" charset="0"/>
                <a:ea typeface="Aptos" pitchFamily="34" charset="-122"/>
                <a:cs typeface="Aptos" pitchFamily="34" charset="-120"/>
              </a:rPr>
              <a:t>Initial state</a:t>
            </a:r>
            <a:endParaRPr lang="en-US" sz="1400" dirty="0"/>
          </a:p>
        </p:txBody>
      </p:sp>
      <p:sp>
        <p:nvSpPr>
          <p:cNvPr id="11" name="Text 9"/>
          <p:cNvSpPr/>
          <p:nvPr/>
        </p:nvSpPr>
        <p:spPr>
          <a:xfrm>
            <a:off x="6382512" y="1499616"/>
            <a:ext cx="4928616" cy="274320"/>
          </a:xfrm>
          <a:prstGeom prst="rect">
            <a:avLst/>
          </a:prstGeom>
          <a:noFill/>
          <a:ln/>
        </p:spPr>
        <p:txBody>
          <a:bodyPr wrap="square" lIns="762" tIns="762" rIns="762" bIns="762" rtlCol="0" anchor="t">
            <a:normAutofit/>
          </a:bodyPr>
          <a:lstStyle/>
          <a:p>
            <a:pPr algn="l" indent="0" marL="0">
              <a:buNone/>
            </a:pPr>
            <a:r>
              <a:rPr lang="en-US" sz="1250" dirty="0">
                <a:solidFill>
                  <a:srgbClr val="111827"/>
                </a:solidFill>
                <a:latin typeface="Aptos" pitchFamily="34" charset="0"/>
                <a:ea typeface="Aptos" pitchFamily="34" charset="-122"/>
                <a:cs typeface="Aptos" pitchFamily="34" charset="-120"/>
              </a:rPr>
              <a:t>Where the agent starts.</a:t>
            </a:r>
            <a:endParaRPr lang="en-US" sz="1250" dirty="0"/>
          </a:p>
        </p:txBody>
      </p:sp>
      <p:sp>
        <p:nvSpPr>
          <p:cNvPr id="12" name="Shape 10"/>
          <p:cNvSpPr/>
          <p:nvPr/>
        </p:nvSpPr>
        <p:spPr>
          <a:xfrm>
            <a:off x="594360" y="2203704"/>
            <a:ext cx="5257800" cy="932688"/>
          </a:xfrm>
          <a:prstGeom prst="roundRect">
            <a:avLst>
              <a:gd name="adj" fmla="val 5882"/>
            </a:avLst>
          </a:prstGeom>
          <a:solidFill>
            <a:srgbClr val="FFFFFF"/>
          </a:solidFill>
          <a:ln w="12700">
            <a:solidFill>
              <a:srgbClr val="D5DCE8"/>
            </a:solidFill>
            <a:prstDash val="solid"/>
          </a:ln>
        </p:spPr>
      </p:sp>
      <p:sp>
        <p:nvSpPr>
          <p:cNvPr id="13" name="Text 11"/>
          <p:cNvSpPr/>
          <p:nvPr/>
        </p:nvSpPr>
        <p:spPr>
          <a:xfrm>
            <a:off x="758952" y="2368296"/>
            <a:ext cx="4928616" cy="310896"/>
          </a:xfrm>
          <a:prstGeom prst="rect">
            <a:avLst/>
          </a:prstGeom>
          <a:noFill/>
          <a:ln/>
        </p:spPr>
        <p:txBody>
          <a:bodyPr wrap="square" lIns="762" tIns="762" rIns="762" bIns="762" rtlCol="0" anchor="t">
            <a:normAutofit/>
          </a:bodyPr>
          <a:lstStyle/>
          <a:p>
            <a:pPr algn="l" indent="0" marL="0">
              <a:buNone/>
            </a:pPr>
            <a:r>
              <a:rPr lang="en-US" sz="1400" b="1" dirty="0">
                <a:solidFill>
                  <a:srgbClr val="13386B"/>
                </a:solidFill>
                <a:latin typeface="Aptos" pitchFamily="34" charset="0"/>
                <a:ea typeface="Aptos" pitchFamily="34" charset="-122"/>
                <a:cs typeface="Aptos" pitchFamily="34" charset="-120"/>
              </a:rPr>
              <a:t>Goal test</a:t>
            </a:r>
            <a:endParaRPr lang="en-US" sz="1400" dirty="0"/>
          </a:p>
        </p:txBody>
      </p:sp>
      <p:sp>
        <p:nvSpPr>
          <p:cNvPr id="14" name="Text 12"/>
          <p:cNvSpPr/>
          <p:nvPr/>
        </p:nvSpPr>
        <p:spPr>
          <a:xfrm>
            <a:off x="758952" y="2734056"/>
            <a:ext cx="4928616" cy="274320"/>
          </a:xfrm>
          <a:prstGeom prst="rect">
            <a:avLst/>
          </a:prstGeom>
          <a:noFill/>
          <a:ln/>
        </p:spPr>
        <p:txBody>
          <a:bodyPr wrap="square" lIns="762" tIns="762" rIns="762" bIns="762" rtlCol="0" anchor="t">
            <a:normAutofit/>
          </a:bodyPr>
          <a:lstStyle/>
          <a:p>
            <a:pPr algn="l" indent="0" marL="0">
              <a:buNone/>
            </a:pPr>
            <a:r>
              <a:rPr lang="en-US" sz="1250" dirty="0">
                <a:solidFill>
                  <a:srgbClr val="111827"/>
                </a:solidFill>
                <a:latin typeface="Aptos" pitchFamily="34" charset="0"/>
                <a:ea typeface="Aptos" pitchFamily="34" charset="-122"/>
                <a:cs typeface="Aptos" pitchFamily="34" charset="-120"/>
              </a:rPr>
              <a:t>Is-Goal(s), not always one fixed state.</a:t>
            </a:r>
            <a:endParaRPr lang="en-US" sz="1250" dirty="0"/>
          </a:p>
        </p:txBody>
      </p:sp>
      <p:sp>
        <p:nvSpPr>
          <p:cNvPr id="15" name="Shape 13"/>
          <p:cNvSpPr/>
          <p:nvPr/>
        </p:nvSpPr>
        <p:spPr>
          <a:xfrm>
            <a:off x="6217920" y="2203704"/>
            <a:ext cx="5257800" cy="932688"/>
          </a:xfrm>
          <a:prstGeom prst="roundRect">
            <a:avLst>
              <a:gd name="adj" fmla="val 5882"/>
            </a:avLst>
          </a:prstGeom>
          <a:solidFill>
            <a:srgbClr val="FFFFFF"/>
          </a:solidFill>
          <a:ln w="12700">
            <a:solidFill>
              <a:srgbClr val="D5DCE8"/>
            </a:solidFill>
            <a:prstDash val="solid"/>
          </a:ln>
        </p:spPr>
      </p:sp>
      <p:sp>
        <p:nvSpPr>
          <p:cNvPr id="16" name="Text 14"/>
          <p:cNvSpPr/>
          <p:nvPr/>
        </p:nvSpPr>
        <p:spPr>
          <a:xfrm>
            <a:off x="6382512" y="2368296"/>
            <a:ext cx="4928616" cy="310896"/>
          </a:xfrm>
          <a:prstGeom prst="rect">
            <a:avLst/>
          </a:prstGeom>
          <a:noFill/>
          <a:ln/>
        </p:spPr>
        <p:txBody>
          <a:bodyPr wrap="square" lIns="762" tIns="762" rIns="762" bIns="762" rtlCol="0" anchor="t">
            <a:normAutofit/>
          </a:bodyPr>
          <a:lstStyle/>
          <a:p>
            <a:pPr algn="l" indent="0" marL="0">
              <a:buNone/>
            </a:pPr>
            <a:r>
              <a:rPr lang="en-US" sz="1400" b="1" dirty="0">
                <a:solidFill>
                  <a:srgbClr val="0F8B8D"/>
                </a:solidFill>
                <a:latin typeface="Aptos" pitchFamily="34" charset="0"/>
                <a:ea typeface="Aptos" pitchFamily="34" charset="-122"/>
                <a:cs typeface="Aptos" pitchFamily="34" charset="-120"/>
              </a:rPr>
              <a:t>Actions</a:t>
            </a:r>
            <a:endParaRPr lang="en-US" sz="1400" dirty="0"/>
          </a:p>
        </p:txBody>
      </p:sp>
      <p:sp>
        <p:nvSpPr>
          <p:cNvPr id="17" name="Text 15"/>
          <p:cNvSpPr/>
          <p:nvPr/>
        </p:nvSpPr>
        <p:spPr>
          <a:xfrm>
            <a:off x="6382512" y="2734056"/>
            <a:ext cx="4928616" cy="274320"/>
          </a:xfrm>
          <a:prstGeom prst="rect">
            <a:avLst/>
          </a:prstGeom>
          <a:noFill/>
          <a:ln/>
        </p:spPr>
        <p:txBody>
          <a:bodyPr wrap="square" lIns="762" tIns="762" rIns="762" bIns="762" rtlCol="0" anchor="t">
            <a:normAutofit/>
          </a:bodyPr>
          <a:lstStyle/>
          <a:p>
            <a:pPr algn="l" indent="0" marL="0">
              <a:buNone/>
            </a:pPr>
            <a:r>
              <a:rPr lang="en-US" sz="1250" dirty="0">
                <a:solidFill>
                  <a:srgbClr val="111827"/>
                </a:solidFill>
                <a:latin typeface="Aptos" pitchFamily="34" charset="0"/>
                <a:ea typeface="Aptos" pitchFamily="34" charset="-122"/>
                <a:cs typeface="Aptos" pitchFamily="34" charset="-120"/>
              </a:rPr>
              <a:t>ACTIONS(s): applicable actions in state s.</a:t>
            </a:r>
            <a:endParaRPr lang="en-US" sz="1250" dirty="0"/>
          </a:p>
        </p:txBody>
      </p:sp>
      <p:sp>
        <p:nvSpPr>
          <p:cNvPr id="18" name="Shape 16"/>
          <p:cNvSpPr/>
          <p:nvPr/>
        </p:nvSpPr>
        <p:spPr>
          <a:xfrm>
            <a:off x="594360" y="3438144"/>
            <a:ext cx="5257800" cy="932688"/>
          </a:xfrm>
          <a:prstGeom prst="roundRect">
            <a:avLst>
              <a:gd name="adj" fmla="val 5882"/>
            </a:avLst>
          </a:prstGeom>
          <a:solidFill>
            <a:srgbClr val="FFFFFF"/>
          </a:solidFill>
          <a:ln w="12700">
            <a:solidFill>
              <a:srgbClr val="D5DCE8"/>
            </a:solidFill>
            <a:prstDash val="solid"/>
          </a:ln>
        </p:spPr>
      </p:sp>
      <p:sp>
        <p:nvSpPr>
          <p:cNvPr id="19" name="Text 17"/>
          <p:cNvSpPr/>
          <p:nvPr/>
        </p:nvSpPr>
        <p:spPr>
          <a:xfrm>
            <a:off x="758952" y="3602736"/>
            <a:ext cx="4928616" cy="310896"/>
          </a:xfrm>
          <a:prstGeom prst="rect">
            <a:avLst/>
          </a:prstGeom>
          <a:noFill/>
          <a:ln/>
        </p:spPr>
        <p:txBody>
          <a:bodyPr wrap="square" lIns="762" tIns="762" rIns="762" bIns="762" rtlCol="0" anchor="t">
            <a:normAutofit/>
          </a:bodyPr>
          <a:lstStyle/>
          <a:p>
            <a:pPr algn="l" indent="0" marL="0">
              <a:buNone/>
            </a:pPr>
            <a:r>
              <a:rPr lang="en-US" sz="1400" b="1" dirty="0">
                <a:solidFill>
                  <a:srgbClr val="13386B"/>
                </a:solidFill>
                <a:latin typeface="Aptos" pitchFamily="34" charset="0"/>
                <a:ea typeface="Aptos" pitchFamily="34" charset="-122"/>
                <a:cs typeface="Aptos" pitchFamily="34" charset="-120"/>
              </a:rPr>
              <a:t>Transition model</a:t>
            </a:r>
            <a:endParaRPr lang="en-US" sz="1400" dirty="0"/>
          </a:p>
        </p:txBody>
      </p:sp>
      <p:sp>
        <p:nvSpPr>
          <p:cNvPr id="20" name="Text 18"/>
          <p:cNvSpPr/>
          <p:nvPr/>
        </p:nvSpPr>
        <p:spPr>
          <a:xfrm>
            <a:off x="758952" y="3968496"/>
            <a:ext cx="4928616" cy="274320"/>
          </a:xfrm>
          <a:prstGeom prst="rect">
            <a:avLst/>
          </a:prstGeom>
          <a:noFill/>
          <a:ln/>
        </p:spPr>
        <p:txBody>
          <a:bodyPr wrap="square" lIns="762" tIns="762" rIns="762" bIns="762" rtlCol="0" anchor="t">
            <a:normAutofit/>
          </a:bodyPr>
          <a:lstStyle/>
          <a:p>
            <a:pPr algn="l" indent="0" marL="0">
              <a:buNone/>
            </a:pPr>
            <a:r>
              <a:rPr lang="en-US" sz="1250" dirty="0">
                <a:solidFill>
                  <a:srgbClr val="111827"/>
                </a:solidFill>
                <a:latin typeface="Aptos" pitchFamily="34" charset="0"/>
                <a:ea typeface="Aptos" pitchFamily="34" charset="-122"/>
                <a:cs typeface="Aptos" pitchFamily="34" charset="-120"/>
              </a:rPr>
              <a:t>RESULT(s,a): state reached after action a.</a:t>
            </a:r>
            <a:endParaRPr lang="en-US" sz="1250" dirty="0"/>
          </a:p>
        </p:txBody>
      </p:sp>
      <p:sp>
        <p:nvSpPr>
          <p:cNvPr id="21" name="Shape 19"/>
          <p:cNvSpPr/>
          <p:nvPr/>
        </p:nvSpPr>
        <p:spPr>
          <a:xfrm>
            <a:off x="6217920" y="3438144"/>
            <a:ext cx="5257800" cy="932688"/>
          </a:xfrm>
          <a:prstGeom prst="roundRect">
            <a:avLst>
              <a:gd name="adj" fmla="val 5882"/>
            </a:avLst>
          </a:prstGeom>
          <a:solidFill>
            <a:srgbClr val="FFFFFF"/>
          </a:solidFill>
          <a:ln w="12700">
            <a:solidFill>
              <a:srgbClr val="D5DCE8"/>
            </a:solidFill>
            <a:prstDash val="solid"/>
          </a:ln>
        </p:spPr>
      </p:sp>
      <p:sp>
        <p:nvSpPr>
          <p:cNvPr id="22" name="Text 20"/>
          <p:cNvSpPr/>
          <p:nvPr/>
        </p:nvSpPr>
        <p:spPr>
          <a:xfrm>
            <a:off x="6382512" y="3602736"/>
            <a:ext cx="4928616" cy="310896"/>
          </a:xfrm>
          <a:prstGeom prst="rect">
            <a:avLst/>
          </a:prstGeom>
          <a:noFill/>
          <a:ln/>
        </p:spPr>
        <p:txBody>
          <a:bodyPr wrap="square" lIns="762" tIns="762" rIns="762" bIns="762" rtlCol="0" anchor="t">
            <a:normAutofit/>
          </a:bodyPr>
          <a:lstStyle/>
          <a:p>
            <a:pPr algn="l" indent="0" marL="0">
              <a:buNone/>
            </a:pPr>
            <a:r>
              <a:rPr lang="en-US" sz="1400" b="1" dirty="0">
                <a:solidFill>
                  <a:srgbClr val="0F8B8D"/>
                </a:solidFill>
                <a:latin typeface="Aptos" pitchFamily="34" charset="0"/>
                <a:ea typeface="Aptos" pitchFamily="34" charset="-122"/>
                <a:cs typeface="Aptos" pitchFamily="34" charset="-120"/>
              </a:rPr>
              <a:t>Action cost</a:t>
            </a:r>
            <a:endParaRPr lang="en-US" sz="1400" dirty="0"/>
          </a:p>
        </p:txBody>
      </p:sp>
      <p:sp>
        <p:nvSpPr>
          <p:cNvPr id="23" name="Text 21"/>
          <p:cNvSpPr/>
          <p:nvPr/>
        </p:nvSpPr>
        <p:spPr>
          <a:xfrm>
            <a:off x="6382512" y="3968496"/>
            <a:ext cx="4928616" cy="274320"/>
          </a:xfrm>
          <a:prstGeom prst="rect">
            <a:avLst/>
          </a:prstGeom>
          <a:noFill/>
          <a:ln/>
        </p:spPr>
        <p:txBody>
          <a:bodyPr wrap="square" lIns="762" tIns="762" rIns="762" bIns="762" rtlCol="0" anchor="t">
            <a:normAutofit/>
          </a:bodyPr>
          <a:lstStyle/>
          <a:p>
            <a:pPr algn="l" indent="0" marL="0">
              <a:buNone/>
            </a:pPr>
            <a:r>
              <a:rPr lang="en-US" sz="1250" dirty="0">
                <a:solidFill>
                  <a:srgbClr val="111827"/>
                </a:solidFill>
                <a:latin typeface="Aptos" pitchFamily="34" charset="0"/>
                <a:ea typeface="Aptos" pitchFamily="34" charset="-122"/>
                <a:cs typeface="Aptos" pitchFamily="34" charset="-120"/>
              </a:rPr>
              <a:t>c(s,a,s"): numeric cost of applying action a.</a:t>
            </a:r>
            <a:endParaRPr lang="en-US" sz="1250" dirty="0"/>
          </a:p>
        </p:txBody>
      </p:sp>
      <p:pic>
        <p:nvPicPr>
          <p:cNvPr id="24" name="Image 0" descr="preencoded.pn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914400" y="4892040"/>
            <a:ext cx="5029200" cy="411480"/>
          </a:xfrm>
          <a:prstGeom prst="rect">
            <a:avLst/>
          </a:prstGeom>
        </p:spPr>
      </p:pic>
      <p:pic>
        <p:nvPicPr>
          <p:cNvPr id="25" name="Image 1" descr="preencoded.png">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6217920" y="4892040"/>
            <a:ext cx="4206240" cy="411480"/>
          </a:xfrm>
          <a:prstGeom prst="rect">
            <a:avLst/>
          </a:prstGeom>
        </p:spPr>
      </p:pic>
      <p:sp>
        <p:nvSpPr>
          <p:cNvPr id="26" name="Text 22"/>
          <p:cNvSpPr/>
          <p:nvPr/>
        </p:nvSpPr>
        <p:spPr>
          <a:xfrm>
            <a:off x="11475720" y="6510528"/>
            <a:ext cx="320040" cy="164592"/>
          </a:xfrm>
          <a:prstGeom prst="rect">
            <a:avLst/>
          </a:prstGeom>
          <a:noFill/>
          <a:ln/>
        </p:spPr>
        <p:txBody>
          <a:bodyPr wrap="square" lIns="0" tIns="0" rIns="0" bIns="0" rtlCol="0" anchor="ctr"/>
          <a:lstStyle/>
          <a:p>
            <a:pPr algn="r" indent="0" marL="0">
              <a:buNone/>
            </a:pPr>
            <a:r>
              <a:rPr lang="en-US" sz="800" dirty="0">
                <a:solidFill>
                  <a:srgbClr val="6B7280"/>
                </a:solidFill>
              </a:rPr>
              <a:t>7</a:t>
            </a:r>
            <a:endParaRPr lang="en-US" sz="800" dirty="0"/>
          </a:p>
        </p:txBody>
      </p:sp>
      <p:sp>
        <p:nvSpPr>
          <p:cNvPr id="27" name="Text 23"/>
          <p:cNvSpPr/>
          <p:nvPr/>
        </p:nvSpPr>
        <p:spPr>
          <a:xfrm>
            <a:off x="411480" y="6510528"/>
            <a:ext cx="3200400" cy="164592"/>
          </a:xfrm>
          <a:prstGeom prst="rect">
            <a:avLst/>
          </a:prstGeom>
          <a:noFill/>
          <a:ln/>
        </p:spPr>
        <p:txBody>
          <a:bodyPr wrap="square" lIns="0" tIns="0" rIns="0" bIns="0" rtlCol="0" anchor="ctr"/>
          <a:lstStyle/>
          <a:p>
            <a:pPr indent="0" marL="0">
              <a:buNone/>
            </a:pPr>
            <a:r>
              <a:rPr lang="en-US" sz="750" dirty="0">
                <a:solidFill>
                  <a:srgbClr val="6B7280"/>
                </a:solidFill>
              </a:rPr>
              <a:t>CSU Channel Islands · COMP 469</a:t>
            </a:r>
            <a:endParaRPr lang="en-US" sz="7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5F7FB"/>
        </a:solidFill>
      </p:bgPr>
    </p:bg>
    <p:spTree>
      <p:nvGrpSpPr>
        <p:cNvPr id="1" name=""/>
        <p:cNvGrpSpPr/>
        <p:nvPr/>
      </p:nvGrpSpPr>
      <p:grpSpPr>
        <a:xfrm>
          <a:off x="0" y="0"/>
          <a:ext cx="0" cy="0"/>
          <a:chOff x="0" y="0"/>
          <a:chExt cx="0" cy="0"/>
        </a:xfrm>
      </p:grpSpPr>
      <p:sp>
        <p:nvSpPr>
          <p:cNvPr id="2" name="Shape 0"/>
          <p:cNvSpPr/>
          <p:nvPr/>
        </p:nvSpPr>
        <p:spPr>
          <a:xfrm>
            <a:off x="0" y="0"/>
            <a:ext cx="12191695" cy="640080"/>
          </a:xfrm>
          <a:prstGeom prst="rect">
            <a:avLst/>
          </a:prstGeom>
          <a:solidFill>
            <a:srgbClr val="13386B"/>
          </a:solidFill>
          <a:ln w="12700">
            <a:solidFill>
              <a:srgbClr val="13386B"/>
            </a:solidFill>
            <a:prstDash val="solid"/>
          </a:ln>
        </p:spPr>
      </p:sp>
      <p:sp>
        <p:nvSpPr>
          <p:cNvPr id="3" name="Shape 1"/>
          <p:cNvSpPr/>
          <p:nvPr/>
        </p:nvSpPr>
        <p:spPr>
          <a:xfrm>
            <a:off x="0" y="640080"/>
            <a:ext cx="12191695" cy="68580"/>
          </a:xfrm>
          <a:prstGeom prst="rect">
            <a:avLst/>
          </a:prstGeom>
          <a:solidFill>
            <a:srgbClr val="F5A11A"/>
          </a:solidFill>
          <a:ln w="12700">
            <a:solidFill>
              <a:srgbClr val="F5A11A"/>
            </a:solidFill>
            <a:prstDash val="solid"/>
          </a:ln>
        </p:spPr>
      </p:sp>
      <p:sp>
        <p:nvSpPr>
          <p:cNvPr id="4" name="Text 2"/>
          <p:cNvSpPr/>
          <p:nvPr/>
        </p:nvSpPr>
        <p:spPr>
          <a:xfrm>
            <a:off x="411480" y="155448"/>
            <a:ext cx="7818120" cy="320040"/>
          </a:xfrm>
          <a:prstGeom prst="rect">
            <a:avLst/>
          </a:prstGeom>
          <a:noFill/>
          <a:ln/>
        </p:spPr>
        <p:txBody>
          <a:bodyPr wrap="square" lIns="0" tIns="0" rIns="0" bIns="0" rtlCol="0" anchor="ctr"/>
          <a:lstStyle/>
          <a:p>
            <a:pPr indent="0" marL="0">
              <a:buNone/>
            </a:pPr>
            <a:r>
              <a:rPr lang="en-US" sz="2200" b="1" dirty="0">
                <a:solidFill>
                  <a:srgbClr val="FFFFFF"/>
                </a:solidFill>
                <a:latin typeface="Aptos Display" pitchFamily="34" charset="0"/>
                <a:ea typeface="Aptos Display" pitchFamily="34" charset="-122"/>
                <a:cs typeface="Aptos Display" pitchFamily="34" charset="-120"/>
              </a:rPr>
              <a:t>Paths, Solutions, and Optimality</a:t>
            </a:r>
            <a:endParaRPr lang="en-US" sz="2200" dirty="0"/>
          </a:p>
        </p:txBody>
      </p:sp>
      <p:sp>
        <p:nvSpPr>
          <p:cNvPr id="5" name="Text 3"/>
          <p:cNvSpPr/>
          <p:nvPr/>
        </p:nvSpPr>
        <p:spPr>
          <a:xfrm>
            <a:off x="9253728" y="210312"/>
            <a:ext cx="2487168" cy="256032"/>
          </a:xfrm>
          <a:prstGeom prst="rect">
            <a:avLst/>
          </a:prstGeom>
          <a:noFill/>
          <a:ln/>
        </p:spPr>
        <p:txBody>
          <a:bodyPr wrap="square" lIns="0" tIns="0" rIns="0" bIns="0" rtlCol="0" anchor="ctr"/>
          <a:lstStyle/>
          <a:p>
            <a:pPr algn="r" indent="0" marL="0">
              <a:buNone/>
            </a:pPr>
            <a:r>
              <a:rPr lang="en-US" sz="850" dirty="0">
                <a:solidFill>
                  <a:srgbClr val="D9E5F2"/>
                </a:solidFill>
              </a:rPr>
              <a:t>COMP 469 · Chapter 3 · Sections 3.1–3.4</a:t>
            </a:r>
            <a:endParaRPr lang="en-US" sz="850" dirty="0"/>
          </a:p>
        </p:txBody>
      </p:sp>
      <p:sp>
        <p:nvSpPr>
          <p:cNvPr id="6" name="Shape 4"/>
          <p:cNvSpPr/>
          <p:nvPr/>
        </p:nvSpPr>
        <p:spPr>
          <a:xfrm>
            <a:off x="731520" y="1051560"/>
            <a:ext cx="3291840" cy="1097280"/>
          </a:xfrm>
          <a:prstGeom prst="roundRect">
            <a:avLst>
              <a:gd name="adj" fmla="val 5000"/>
            </a:avLst>
          </a:prstGeom>
          <a:solidFill>
            <a:srgbClr val="FFFFFF"/>
          </a:solidFill>
          <a:ln w="12700">
            <a:solidFill>
              <a:srgbClr val="D5DCE8"/>
            </a:solidFill>
            <a:prstDash val="solid"/>
          </a:ln>
        </p:spPr>
      </p:sp>
      <p:sp>
        <p:nvSpPr>
          <p:cNvPr id="7" name="Text 5"/>
          <p:cNvSpPr/>
          <p:nvPr/>
        </p:nvSpPr>
        <p:spPr>
          <a:xfrm>
            <a:off x="896112" y="1216152"/>
            <a:ext cx="2962656" cy="310896"/>
          </a:xfrm>
          <a:prstGeom prst="rect">
            <a:avLst/>
          </a:prstGeom>
          <a:noFill/>
          <a:ln/>
        </p:spPr>
        <p:txBody>
          <a:bodyPr wrap="square" lIns="762" tIns="762" rIns="762" bIns="762" rtlCol="0" anchor="t">
            <a:normAutofit/>
          </a:bodyPr>
          <a:lstStyle/>
          <a:p>
            <a:pPr algn="l" indent="0" marL="0">
              <a:buNone/>
            </a:pPr>
            <a:r>
              <a:rPr lang="en-US" sz="1400" b="1" dirty="0">
                <a:solidFill>
                  <a:srgbClr val="13386B"/>
                </a:solidFill>
                <a:latin typeface="Aptos" pitchFamily="34" charset="0"/>
                <a:ea typeface="Aptos" pitchFamily="34" charset="-122"/>
                <a:cs typeface="Aptos" pitchFamily="34" charset="-120"/>
              </a:rPr>
              <a:t>Path</a:t>
            </a:r>
            <a:endParaRPr lang="en-US" sz="1400" dirty="0"/>
          </a:p>
        </p:txBody>
      </p:sp>
      <p:sp>
        <p:nvSpPr>
          <p:cNvPr id="8" name="Text 6"/>
          <p:cNvSpPr/>
          <p:nvPr/>
        </p:nvSpPr>
        <p:spPr>
          <a:xfrm>
            <a:off x="896112" y="1581912"/>
            <a:ext cx="2962656" cy="438912"/>
          </a:xfrm>
          <a:prstGeom prst="rect">
            <a:avLst/>
          </a:prstGeom>
          <a:noFill/>
          <a:ln/>
        </p:spPr>
        <p:txBody>
          <a:bodyPr wrap="square" lIns="762" tIns="762" rIns="762" bIns="762" rtlCol="0" anchor="t">
            <a:normAutofit/>
          </a:bodyPr>
          <a:lstStyle/>
          <a:p>
            <a:pPr algn="l" indent="0" marL="0">
              <a:buNone/>
            </a:pPr>
            <a:r>
              <a:rPr lang="en-US" sz="1250" dirty="0">
                <a:solidFill>
                  <a:srgbClr val="111827"/>
                </a:solidFill>
                <a:latin typeface="Aptos" pitchFamily="34" charset="0"/>
                <a:ea typeface="Aptos" pitchFamily="34" charset="-122"/>
                <a:cs typeface="Aptos" pitchFamily="34" charset="-120"/>
              </a:rPr>
              <a:t>A sequence of actions from one state to another.</a:t>
            </a:r>
            <a:endParaRPr lang="en-US" sz="1250" dirty="0"/>
          </a:p>
        </p:txBody>
      </p:sp>
      <p:sp>
        <p:nvSpPr>
          <p:cNvPr id="9" name="Shape 7"/>
          <p:cNvSpPr/>
          <p:nvPr/>
        </p:nvSpPr>
        <p:spPr>
          <a:xfrm>
            <a:off x="4434840" y="1051560"/>
            <a:ext cx="3291840" cy="1097280"/>
          </a:xfrm>
          <a:prstGeom prst="roundRect">
            <a:avLst>
              <a:gd name="adj" fmla="val 5000"/>
            </a:avLst>
          </a:prstGeom>
          <a:solidFill>
            <a:srgbClr val="FFFFFF"/>
          </a:solidFill>
          <a:ln w="12700">
            <a:solidFill>
              <a:srgbClr val="D5DCE8"/>
            </a:solidFill>
            <a:prstDash val="solid"/>
          </a:ln>
        </p:spPr>
      </p:sp>
      <p:sp>
        <p:nvSpPr>
          <p:cNvPr id="10" name="Text 8"/>
          <p:cNvSpPr/>
          <p:nvPr/>
        </p:nvSpPr>
        <p:spPr>
          <a:xfrm>
            <a:off x="4599432" y="1216152"/>
            <a:ext cx="2962656" cy="310896"/>
          </a:xfrm>
          <a:prstGeom prst="rect">
            <a:avLst/>
          </a:prstGeom>
          <a:noFill/>
          <a:ln/>
        </p:spPr>
        <p:txBody>
          <a:bodyPr wrap="square" lIns="762" tIns="762" rIns="762" bIns="762" rtlCol="0" anchor="t">
            <a:normAutofit/>
          </a:bodyPr>
          <a:lstStyle/>
          <a:p>
            <a:pPr algn="l" indent="0" marL="0">
              <a:buNone/>
            </a:pPr>
            <a:r>
              <a:rPr lang="en-US" sz="1400" b="1" dirty="0">
                <a:solidFill>
                  <a:srgbClr val="1F7A3D"/>
                </a:solidFill>
                <a:latin typeface="Aptos" pitchFamily="34" charset="0"/>
                <a:ea typeface="Aptos" pitchFamily="34" charset="-122"/>
                <a:cs typeface="Aptos" pitchFamily="34" charset="-120"/>
              </a:rPr>
              <a:t>Solution</a:t>
            </a:r>
            <a:endParaRPr lang="en-US" sz="1400" dirty="0"/>
          </a:p>
        </p:txBody>
      </p:sp>
      <p:sp>
        <p:nvSpPr>
          <p:cNvPr id="11" name="Text 9"/>
          <p:cNvSpPr/>
          <p:nvPr/>
        </p:nvSpPr>
        <p:spPr>
          <a:xfrm>
            <a:off x="4599432" y="1581912"/>
            <a:ext cx="2962656" cy="438912"/>
          </a:xfrm>
          <a:prstGeom prst="rect">
            <a:avLst/>
          </a:prstGeom>
          <a:noFill/>
          <a:ln/>
        </p:spPr>
        <p:txBody>
          <a:bodyPr wrap="square" lIns="762" tIns="762" rIns="762" bIns="762" rtlCol="0" anchor="t">
            <a:normAutofit/>
          </a:bodyPr>
          <a:lstStyle/>
          <a:p>
            <a:pPr algn="l" indent="0" marL="0">
              <a:buNone/>
            </a:pPr>
            <a:r>
              <a:rPr lang="en-US" sz="1250" dirty="0">
                <a:solidFill>
                  <a:srgbClr val="111827"/>
                </a:solidFill>
                <a:latin typeface="Aptos" pitchFamily="34" charset="0"/>
                <a:ea typeface="Aptos" pitchFamily="34" charset="-122"/>
                <a:cs typeface="Aptos" pitchFamily="34" charset="-120"/>
              </a:rPr>
              <a:t>A path from the initial state to a goal state.</a:t>
            </a:r>
            <a:endParaRPr lang="en-US" sz="1250" dirty="0"/>
          </a:p>
        </p:txBody>
      </p:sp>
      <p:sp>
        <p:nvSpPr>
          <p:cNvPr id="12" name="Shape 10"/>
          <p:cNvSpPr/>
          <p:nvPr/>
        </p:nvSpPr>
        <p:spPr>
          <a:xfrm>
            <a:off x="8138160" y="1051560"/>
            <a:ext cx="3291840" cy="1097280"/>
          </a:xfrm>
          <a:prstGeom prst="roundRect">
            <a:avLst>
              <a:gd name="adj" fmla="val 5000"/>
            </a:avLst>
          </a:prstGeom>
          <a:solidFill>
            <a:srgbClr val="FFFFFF"/>
          </a:solidFill>
          <a:ln w="12700">
            <a:solidFill>
              <a:srgbClr val="D5DCE8"/>
            </a:solidFill>
            <a:prstDash val="solid"/>
          </a:ln>
        </p:spPr>
      </p:sp>
      <p:sp>
        <p:nvSpPr>
          <p:cNvPr id="13" name="Text 11"/>
          <p:cNvSpPr/>
          <p:nvPr/>
        </p:nvSpPr>
        <p:spPr>
          <a:xfrm>
            <a:off x="8302752" y="1216152"/>
            <a:ext cx="2962656" cy="310896"/>
          </a:xfrm>
          <a:prstGeom prst="rect">
            <a:avLst/>
          </a:prstGeom>
          <a:noFill/>
          <a:ln/>
        </p:spPr>
        <p:txBody>
          <a:bodyPr wrap="square" lIns="762" tIns="762" rIns="762" bIns="762" rtlCol="0" anchor="t">
            <a:normAutofit/>
          </a:bodyPr>
          <a:lstStyle/>
          <a:p>
            <a:pPr algn="l" indent="0" marL="0">
              <a:buNone/>
            </a:pPr>
            <a:r>
              <a:rPr lang="en-US" sz="1400" b="1" dirty="0">
                <a:solidFill>
                  <a:srgbClr val="F5A11A"/>
                </a:solidFill>
                <a:latin typeface="Aptos" pitchFamily="34" charset="0"/>
                <a:ea typeface="Aptos" pitchFamily="34" charset="-122"/>
                <a:cs typeface="Aptos" pitchFamily="34" charset="-120"/>
              </a:rPr>
              <a:t>Optimal solution</a:t>
            </a:r>
            <a:endParaRPr lang="en-US" sz="1400" dirty="0"/>
          </a:p>
        </p:txBody>
      </p:sp>
      <p:sp>
        <p:nvSpPr>
          <p:cNvPr id="14" name="Text 12"/>
          <p:cNvSpPr/>
          <p:nvPr/>
        </p:nvSpPr>
        <p:spPr>
          <a:xfrm>
            <a:off x="8302752" y="1581912"/>
            <a:ext cx="2962656" cy="438912"/>
          </a:xfrm>
          <a:prstGeom prst="rect">
            <a:avLst/>
          </a:prstGeom>
          <a:noFill/>
          <a:ln/>
        </p:spPr>
        <p:txBody>
          <a:bodyPr wrap="square" lIns="762" tIns="762" rIns="762" bIns="762" rtlCol="0" anchor="t">
            <a:normAutofit/>
          </a:bodyPr>
          <a:lstStyle/>
          <a:p>
            <a:pPr algn="l" indent="0" marL="0">
              <a:buNone/>
            </a:pPr>
            <a:r>
              <a:rPr lang="en-US" sz="1250" dirty="0">
                <a:solidFill>
                  <a:srgbClr val="111827"/>
                </a:solidFill>
                <a:latin typeface="Aptos" pitchFamily="34" charset="0"/>
                <a:ea typeface="Aptos" pitchFamily="34" charset="-122"/>
                <a:cs typeface="Aptos" pitchFamily="34" charset="-120"/>
              </a:rPr>
              <a:t>A solution with the lowest total path cost.</a:t>
            </a:r>
            <a:endParaRPr lang="en-US" sz="1250" dirty="0"/>
          </a:p>
        </p:txBody>
      </p:sp>
      <p:pic>
        <p:nvPicPr>
          <p:cNvPr id="15" name="Image 0" descr="preencoded.pn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1965960" y="2926080"/>
            <a:ext cx="8138160" cy="777240"/>
          </a:xfrm>
          <a:prstGeom prst="rect">
            <a:avLst/>
          </a:prstGeom>
        </p:spPr>
      </p:pic>
      <p:sp>
        <p:nvSpPr>
          <p:cNvPr id="16" name="Text 13"/>
          <p:cNvSpPr/>
          <p:nvPr/>
        </p:nvSpPr>
        <p:spPr>
          <a:xfrm>
            <a:off x="2971800" y="4160520"/>
            <a:ext cx="6217920" cy="274320"/>
          </a:xfrm>
          <a:prstGeom prst="rect">
            <a:avLst/>
          </a:prstGeom>
          <a:noFill/>
          <a:ln/>
        </p:spPr>
        <p:txBody>
          <a:bodyPr wrap="square" lIns="762" tIns="762" rIns="762" bIns="762" rtlCol="0" anchor="t">
            <a:normAutofit/>
          </a:bodyPr>
          <a:lstStyle/>
          <a:p>
            <a:pPr algn="ctr" indent="0" marL="0">
              <a:buNone/>
            </a:pPr>
            <a:r>
              <a:rPr lang="en-US" sz="1600" b="1" dirty="0">
                <a:solidFill>
                  <a:srgbClr val="13386B"/>
                </a:solidFill>
                <a:latin typeface="Aptos" pitchFamily="34" charset="0"/>
                <a:ea typeface="Aptos" pitchFamily="34" charset="-122"/>
                <a:cs typeface="Aptos" pitchFamily="34" charset="-120"/>
              </a:rPr>
              <a:t>Assumption for this chapter: action costs are positive.</a:t>
            </a:r>
            <a:endParaRPr lang="en-US" sz="1600" dirty="0"/>
          </a:p>
        </p:txBody>
      </p:sp>
      <p:sp>
        <p:nvSpPr>
          <p:cNvPr id="17" name="Text 14"/>
          <p:cNvSpPr/>
          <p:nvPr/>
        </p:nvSpPr>
        <p:spPr>
          <a:xfrm>
            <a:off x="2011680" y="4681728"/>
            <a:ext cx="8138160" cy="402336"/>
          </a:xfrm>
          <a:prstGeom prst="rect">
            <a:avLst/>
          </a:prstGeom>
          <a:noFill/>
          <a:ln/>
        </p:spPr>
        <p:txBody>
          <a:bodyPr wrap="square" lIns="762" tIns="762" rIns="762" bIns="762" rtlCol="0" anchor="t">
            <a:normAutofit/>
          </a:bodyPr>
          <a:lstStyle/>
          <a:p>
            <a:pPr algn="ctr" indent="0" marL="0">
              <a:buNone/>
            </a:pPr>
            <a:r>
              <a:rPr lang="en-US" sz="1300" dirty="0">
                <a:solidFill>
                  <a:srgbClr val="6B7280"/>
                </a:solidFill>
                <a:latin typeface="Aptos" pitchFamily="34" charset="0"/>
                <a:ea typeface="Aptos" pitchFamily="34" charset="-122"/>
                <a:cs typeface="Aptos" pitchFamily="34" charset="-120"/>
              </a:rPr>
              <a:t>Positive costs prevent “free” or negative-cost loops from breaking the search assumptions.</a:t>
            </a:r>
            <a:endParaRPr lang="en-US" sz="1300" dirty="0"/>
          </a:p>
        </p:txBody>
      </p:sp>
      <p:sp>
        <p:nvSpPr>
          <p:cNvPr id="18" name="Text 15"/>
          <p:cNvSpPr/>
          <p:nvPr/>
        </p:nvSpPr>
        <p:spPr>
          <a:xfrm>
            <a:off x="11475720" y="6510528"/>
            <a:ext cx="320040" cy="164592"/>
          </a:xfrm>
          <a:prstGeom prst="rect">
            <a:avLst/>
          </a:prstGeom>
          <a:noFill/>
          <a:ln/>
        </p:spPr>
        <p:txBody>
          <a:bodyPr wrap="square" lIns="0" tIns="0" rIns="0" bIns="0" rtlCol="0" anchor="ctr"/>
          <a:lstStyle/>
          <a:p>
            <a:pPr algn="r" indent="0" marL="0">
              <a:buNone/>
            </a:pPr>
            <a:r>
              <a:rPr lang="en-US" sz="800" dirty="0">
                <a:solidFill>
                  <a:srgbClr val="6B7280"/>
                </a:solidFill>
              </a:rPr>
              <a:t>8</a:t>
            </a:r>
            <a:endParaRPr lang="en-US" sz="800" dirty="0"/>
          </a:p>
        </p:txBody>
      </p:sp>
      <p:sp>
        <p:nvSpPr>
          <p:cNvPr id="19" name="Text 16"/>
          <p:cNvSpPr/>
          <p:nvPr/>
        </p:nvSpPr>
        <p:spPr>
          <a:xfrm>
            <a:off x="411480" y="6510528"/>
            <a:ext cx="3200400" cy="164592"/>
          </a:xfrm>
          <a:prstGeom prst="rect">
            <a:avLst/>
          </a:prstGeom>
          <a:noFill/>
          <a:ln/>
        </p:spPr>
        <p:txBody>
          <a:bodyPr wrap="square" lIns="0" tIns="0" rIns="0" bIns="0" rtlCol="0" anchor="ctr"/>
          <a:lstStyle/>
          <a:p>
            <a:pPr indent="0" marL="0">
              <a:buNone/>
            </a:pPr>
            <a:r>
              <a:rPr lang="en-US" sz="750" dirty="0">
                <a:solidFill>
                  <a:srgbClr val="6B7280"/>
                </a:solidFill>
              </a:rPr>
              <a:t>CSU Channel Islands · COMP 469</a:t>
            </a:r>
            <a:endParaRPr lang="en-US" sz="7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5F7FB"/>
        </a:solidFill>
      </p:bgPr>
    </p:bg>
    <p:spTree>
      <p:nvGrpSpPr>
        <p:cNvPr id="1" name=""/>
        <p:cNvGrpSpPr/>
        <p:nvPr/>
      </p:nvGrpSpPr>
      <p:grpSpPr>
        <a:xfrm>
          <a:off x="0" y="0"/>
          <a:ext cx="0" cy="0"/>
          <a:chOff x="0" y="0"/>
          <a:chExt cx="0" cy="0"/>
        </a:xfrm>
      </p:grpSpPr>
      <p:sp>
        <p:nvSpPr>
          <p:cNvPr id="2" name="Shape 0"/>
          <p:cNvSpPr/>
          <p:nvPr/>
        </p:nvSpPr>
        <p:spPr>
          <a:xfrm>
            <a:off x="0" y="0"/>
            <a:ext cx="12191695" cy="640080"/>
          </a:xfrm>
          <a:prstGeom prst="rect">
            <a:avLst/>
          </a:prstGeom>
          <a:solidFill>
            <a:srgbClr val="13386B"/>
          </a:solidFill>
          <a:ln w="12700">
            <a:solidFill>
              <a:srgbClr val="13386B"/>
            </a:solidFill>
            <a:prstDash val="solid"/>
          </a:ln>
        </p:spPr>
      </p:sp>
      <p:sp>
        <p:nvSpPr>
          <p:cNvPr id="3" name="Shape 1"/>
          <p:cNvSpPr/>
          <p:nvPr/>
        </p:nvSpPr>
        <p:spPr>
          <a:xfrm>
            <a:off x="0" y="640080"/>
            <a:ext cx="12191695" cy="68580"/>
          </a:xfrm>
          <a:prstGeom prst="rect">
            <a:avLst/>
          </a:prstGeom>
          <a:solidFill>
            <a:srgbClr val="F5A11A"/>
          </a:solidFill>
          <a:ln w="12700">
            <a:solidFill>
              <a:srgbClr val="F5A11A"/>
            </a:solidFill>
            <a:prstDash val="solid"/>
          </a:ln>
        </p:spPr>
      </p:sp>
      <p:sp>
        <p:nvSpPr>
          <p:cNvPr id="4" name="Text 2"/>
          <p:cNvSpPr/>
          <p:nvPr/>
        </p:nvSpPr>
        <p:spPr>
          <a:xfrm>
            <a:off x="411480" y="155448"/>
            <a:ext cx="7818120" cy="320040"/>
          </a:xfrm>
          <a:prstGeom prst="rect">
            <a:avLst/>
          </a:prstGeom>
          <a:noFill/>
          <a:ln/>
        </p:spPr>
        <p:txBody>
          <a:bodyPr wrap="square" lIns="0" tIns="0" rIns="0" bIns="0" rtlCol="0" anchor="ctr"/>
          <a:lstStyle/>
          <a:p>
            <a:pPr indent="0" marL="0">
              <a:buNone/>
            </a:pPr>
            <a:r>
              <a:rPr lang="en-US" sz="2200" b="1" dirty="0">
                <a:solidFill>
                  <a:srgbClr val="FFFFFF"/>
                </a:solidFill>
                <a:latin typeface="Aptos Display" pitchFamily="34" charset="0"/>
                <a:ea typeface="Aptos Display" pitchFamily="34" charset="-122"/>
                <a:cs typeface="Aptos Display" pitchFamily="34" charset="-120"/>
              </a:rPr>
              <a:t>Romania Route-Finding Example</a:t>
            </a:r>
            <a:endParaRPr lang="en-US" sz="2200" dirty="0"/>
          </a:p>
        </p:txBody>
      </p:sp>
      <p:sp>
        <p:nvSpPr>
          <p:cNvPr id="5" name="Text 3"/>
          <p:cNvSpPr/>
          <p:nvPr/>
        </p:nvSpPr>
        <p:spPr>
          <a:xfrm>
            <a:off x="9253728" y="210312"/>
            <a:ext cx="2487168" cy="256032"/>
          </a:xfrm>
          <a:prstGeom prst="rect">
            <a:avLst/>
          </a:prstGeom>
          <a:noFill/>
          <a:ln/>
        </p:spPr>
        <p:txBody>
          <a:bodyPr wrap="square" lIns="0" tIns="0" rIns="0" bIns="0" rtlCol="0" anchor="ctr"/>
          <a:lstStyle/>
          <a:p>
            <a:pPr algn="r" indent="0" marL="0">
              <a:buNone/>
            </a:pPr>
            <a:r>
              <a:rPr lang="en-US" sz="850" dirty="0">
                <a:solidFill>
                  <a:srgbClr val="D9E5F2"/>
                </a:solidFill>
              </a:rPr>
              <a:t>COMP 469 · Chapter 3 · Sections 3.1–3.4</a:t>
            </a:r>
            <a:endParaRPr lang="en-US" sz="850" dirty="0"/>
          </a:p>
        </p:txBody>
      </p:sp>
      <p:pic>
        <p:nvPicPr>
          <p:cNvPr id="6" name="Image 0" descr="/mnt/data/ch3_odt_extract/Pictures/1000000000000285000001B31891FCFF.png">    </p:cNvPr>
          <p:cNvPicPr>
            <a:picLocks noChangeAspect="1"/>
          </p:cNvPicPr>
          <p:nvPr/>
        </p:nvPicPr>
        <p:blipFill>
          <a:blip r:embed="rId1"/>
          <a:stretch>
            <a:fillRect/>
          </a:stretch>
        </p:blipFill>
        <p:spPr>
          <a:xfrm>
            <a:off x="594360" y="1005840"/>
            <a:ext cx="5669280" cy="4480560"/>
          </a:xfrm>
          <a:prstGeom prst="rect">
            <a:avLst/>
          </a:prstGeom>
        </p:spPr>
      </p:pic>
      <p:sp>
        <p:nvSpPr>
          <p:cNvPr id="7" name="Shape 4"/>
          <p:cNvSpPr/>
          <p:nvPr/>
        </p:nvSpPr>
        <p:spPr>
          <a:xfrm>
            <a:off x="6583680" y="1097280"/>
            <a:ext cx="4800600" cy="960120"/>
          </a:xfrm>
          <a:prstGeom prst="roundRect">
            <a:avLst>
              <a:gd name="adj" fmla="val 5714"/>
            </a:avLst>
          </a:prstGeom>
          <a:solidFill>
            <a:srgbClr val="FFFFFF"/>
          </a:solidFill>
          <a:ln w="12700">
            <a:solidFill>
              <a:srgbClr val="D5DCE8"/>
            </a:solidFill>
            <a:prstDash val="solid"/>
          </a:ln>
        </p:spPr>
      </p:sp>
      <p:sp>
        <p:nvSpPr>
          <p:cNvPr id="8" name="Text 5"/>
          <p:cNvSpPr/>
          <p:nvPr/>
        </p:nvSpPr>
        <p:spPr>
          <a:xfrm>
            <a:off x="6748272" y="1261872"/>
            <a:ext cx="4471416" cy="310896"/>
          </a:xfrm>
          <a:prstGeom prst="rect">
            <a:avLst/>
          </a:prstGeom>
          <a:noFill/>
          <a:ln/>
        </p:spPr>
        <p:txBody>
          <a:bodyPr wrap="square" lIns="762" tIns="762" rIns="762" bIns="762" rtlCol="0" anchor="t">
            <a:normAutofit/>
          </a:bodyPr>
          <a:lstStyle/>
          <a:p>
            <a:pPr algn="l" indent="0" marL="0">
              <a:buNone/>
            </a:pPr>
            <a:r>
              <a:rPr lang="en-US" sz="1400" b="1" dirty="0">
                <a:solidFill>
                  <a:srgbClr val="13386B"/>
                </a:solidFill>
                <a:latin typeface="Aptos" pitchFamily="34" charset="0"/>
                <a:ea typeface="Aptos" pitchFamily="34" charset="-122"/>
                <a:cs typeface="Aptos" pitchFamily="34" charset="-120"/>
              </a:rPr>
              <a:t>Initial state</a:t>
            </a:r>
            <a:endParaRPr lang="en-US" sz="1400" dirty="0"/>
          </a:p>
        </p:txBody>
      </p:sp>
      <p:sp>
        <p:nvSpPr>
          <p:cNvPr id="9" name="Text 6"/>
          <p:cNvSpPr/>
          <p:nvPr/>
        </p:nvSpPr>
        <p:spPr>
          <a:xfrm>
            <a:off x="6748272" y="1627632"/>
            <a:ext cx="4471416" cy="301752"/>
          </a:xfrm>
          <a:prstGeom prst="rect">
            <a:avLst/>
          </a:prstGeom>
          <a:noFill/>
          <a:ln/>
        </p:spPr>
        <p:txBody>
          <a:bodyPr wrap="square" lIns="762" tIns="762" rIns="762" bIns="762" rtlCol="0" anchor="t">
            <a:normAutofit/>
          </a:bodyPr>
          <a:lstStyle/>
          <a:p>
            <a:pPr algn="l" indent="0" marL="0">
              <a:buNone/>
            </a:pPr>
            <a:r>
              <a:rPr lang="en-US" sz="1250" dirty="0">
                <a:solidFill>
                  <a:srgbClr val="111827"/>
                </a:solidFill>
                <a:latin typeface="Aptos" pitchFamily="34" charset="0"/>
                <a:ea typeface="Aptos" pitchFamily="34" charset="-122"/>
                <a:cs typeface="Aptos" pitchFamily="34" charset="-120"/>
              </a:rPr>
              <a:t>Arad</a:t>
            </a:r>
            <a:endParaRPr lang="en-US" sz="1250" dirty="0"/>
          </a:p>
        </p:txBody>
      </p:sp>
      <p:sp>
        <p:nvSpPr>
          <p:cNvPr id="10" name="Shape 7"/>
          <p:cNvSpPr/>
          <p:nvPr/>
        </p:nvSpPr>
        <p:spPr>
          <a:xfrm>
            <a:off x="6583680" y="2240280"/>
            <a:ext cx="4800600" cy="960120"/>
          </a:xfrm>
          <a:prstGeom prst="roundRect">
            <a:avLst>
              <a:gd name="adj" fmla="val 5714"/>
            </a:avLst>
          </a:prstGeom>
          <a:solidFill>
            <a:srgbClr val="FFFFFF"/>
          </a:solidFill>
          <a:ln w="12700">
            <a:solidFill>
              <a:srgbClr val="D5DCE8"/>
            </a:solidFill>
            <a:prstDash val="solid"/>
          </a:ln>
        </p:spPr>
      </p:sp>
      <p:sp>
        <p:nvSpPr>
          <p:cNvPr id="11" name="Text 8"/>
          <p:cNvSpPr/>
          <p:nvPr/>
        </p:nvSpPr>
        <p:spPr>
          <a:xfrm>
            <a:off x="6748272" y="2404872"/>
            <a:ext cx="4471416" cy="310896"/>
          </a:xfrm>
          <a:prstGeom prst="rect">
            <a:avLst/>
          </a:prstGeom>
          <a:noFill/>
          <a:ln/>
        </p:spPr>
        <p:txBody>
          <a:bodyPr wrap="square" lIns="762" tIns="762" rIns="762" bIns="762" rtlCol="0" anchor="t">
            <a:normAutofit/>
          </a:bodyPr>
          <a:lstStyle/>
          <a:p>
            <a:pPr algn="l" indent="0" marL="0">
              <a:buNone/>
            </a:pPr>
            <a:r>
              <a:rPr lang="en-US" sz="1400" b="1" dirty="0">
                <a:solidFill>
                  <a:srgbClr val="1F7A3D"/>
                </a:solidFill>
                <a:latin typeface="Aptos" pitchFamily="34" charset="0"/>
                <a:ea typeface="Aptos" pitchFamily="34" charset="-122"/>
                <a:cs typeface="Aptos" pitchFamily="34" charset="-120"/>
              </a:rPr>
              <a:t>Goal test</a:t>
            </a:r>
            <a:endParaRPr lang="en-US" sz="1400" dirty="0"/>
          </a:p>
        </p:txBody>
      </p:sp>
      <p:sp>
        <p:nvSpPr>
          <p:cNvPr id="12" name="Text 9"/>
          <p:cNvSpPr/>
          <p:nvPr/>
        </p:nvSpPr>
        <p:spPr>
          <a:xfrm>
            <a:off x="6748272" y="2770632"/>
            <a:ext cx="4471416" cy="301752"/>
          </a:xfrm>
          <a:prstGeom prst="rect">
            <a:avLst/>
          </a:prstGeom>
          <a:noFill/>
          <a:ln/>
        </p:spPr>
        <p:txBody>
          <a:bodyPr wrap="square" lIns="762" tIns="762" rIns="762" bIns="762" rtlCol="0" anchor="t">
            <a:normAutofit/>
          </a:bodyPr>
          <a:lstStyle/>
          <a:p>
            <a:pPr algn="l" indent="0" marL="0">
              <a:buNone/>
            </a:pPr>
            <a:r>
              <a:rPr lang="en-US" sz="1250" dirty="0">
                <a:solidFill>
                  <a:srgbClr val="111827"/>
                </a:solidFill>
                <a:latin typeface="Aptos" pitchFamily="34" charset="0"/>
                <a:ea typeface="Aptos" pitchFamily="34" charset="-122"/>
                <a:cs typeface="Aptos" pitchFamily="34" charset="-120"/>
              </a:rPr>
              <a:t>Is the current city Bucharest?</a:t>
            </a:r>
            <a:endParaRPr lang="en-US" sz="1250" dirty="0"/>
          </a:p>
        </p:txBody>
      </p:sp>
      <p:sp>
        <p:nvSpPr>
          <p:cNvPr id="13" name="Shape 10"/>
          <p:cNvSpPr/>
          <p:nvPr/>
        </p:nvSpPr>
        <p:spPr>
          <a:xfrm>
            <a:off x="6583680" y="3383280"/>
            <a:ext cx="4800600" cy="960120"/>
          </a:xfrm>
          <a:prstGeom prst="roundRect">
            <a:avLst>
              <a:gd name="adj" fmla="val 5714"/>
            </a:avLst>
          </a:prstGeom>
          <a:solidFill>
            <a:srgbClr val="FFFFFF"/>
          </a:solidFill>
          <a:ln w="12700">
            <a:solidFill>
              <a:srgbClr val="D5DCE8"/>
            </a:solidFill>
            <a:prstDash val="solid"/>
          </a:ln>
        </p:spPr>
      </p:sp>
      <p:sp>
        <p:nvSpPr>
          <p:cNvPr id="14" name="Text 11"/>
          <p:cNvSpPr/>
          <p:nvPr/>
        </p:nvSpPr>
        <p:spPr>
          <a:xfrm>
            <a:off x="6748272" y="3547872"/>
            <a:ext cx="4471416" cy="310896"/>
          </a:xfrm>
          <a:prstGeom prst="rect">
            <a:avLst/>
          </a:prstGeom>
          <a:noFill/>
          <a:ln/>
        </p:spPr>
        <p:txBody>
          <a:bodyPr wrap="square" lIns="762" tIns="762" rIns="762" bIns="762" rtlCol="0" anchor="t">
            <a:normAutofit/>
          </a:bodyPr>
          <a:lstStyle/>
          <a:p>
            <a:pPr algn="l" indent="0" marL="0">
              <a:buNone/>
            </a:pPr>
            <a:r>
              <a:rPr lang="en-US" sz="1400" b="1" dirty="0">
                <a:solidFill>
                  <a:srgbClr val="0F8B8D"/>
                </a:solidFill>
                <a:latin typeface="Aptos" pitchFamily="34" charset="0"/>
                <a:ea typeface="Aptos" pitchFamily="34" charset="-122"/>
                <a:cs typeface="Aptos" pitchFamily="34" charset="-120"/>
              </a:rPr>
              <a:t>Actions</a:t>
            </a:r>
            <a:endParaRPr lang="en-US" sz="1400" dirty="0"/>
          </a:p>
        </p:txBody>
      </p:sp>
      <p:sp>
        <p:nvSpPr>
          <p:cNvPr id="15" name="Text 12"/>
          <p:cNvSpPr/>
          <p:nvPr/>
        </p:nvSpPr>
        <p:spPr>
          <a:xfrm>
            <a:off x="6748272" y="3913632"/>
            <a:ext cx="4471416" cy="301752"/>
          </a:xfrm>
          <a:prstGeom prst="rect">
            <a:avLst/>
          </a:prstGeom>
          <a:noFill/>
          <a:ln/>
        </p:spPr>
        <p:txBody>
          <a:bodyPr wrap="square" lIns="762" tIns="762" rIns="762" bIns="762" rtlCol="0" anchor="t">
            <a:normAutofit/>
          </a:bodyPr>
          <a:lstStyle/>
          <a:p>
            <a:pPr algn="l" indent="0" marL="0">
              <a:buNone/>
            </a:pPr>
            <a:r>
              <a:rPr lang="en-US" sz="1250" dirty="0">
                <a:solidFill>
                  <a:srgbClr val="111827"/>
                </a:solidFill>
                <a:latin typeface="Aptos" pitchFamily="34" charset="0"/>
                <a:ea typeface="Aptos" pitchFamily="34" charset="-122"/>
                <a:cs typeface="Aptos" pitchFamily="34" charset="-120"/>
              </a:rPr>
              <a:t>Drive to an adjacent city.</a:t>
            </a:r>
            <a:endParaRPr lang="en-US" sz="1250" dirty="0"/>
          </a:p>
        </p:txBody>
      </p:sp>
      <p:sp>
        <p:nvSpPr>
          <p:cNvPr id="16" name="Shape 13"/>
          <p:cNvSpPr/>
          <p:nvPr/>
        </p:nvSpPr>
        <p:spPr>
          <a:xfrm>
            <a:off x="6583680" y="4526280"/>
            <a:ext cx="4800600" cy="960120"/>
          </a:xfrm>
          <a:prstGeom prst="roundRect">
            <a:avLst>
              <a:gd name="adj" fmla="val 5714"/>
            </a:avLst>
          </a:prstGeom>
          <a:solidFill>
            <a:srgbClr val="FFFFFF"/>
          </a:solidFill>
          <a:ln w="12700">
            <a:solidFill>
              <a:srgbClr val="D5DCE8"/>
            </a:solidFill>
            <a:prstDash val="solid"/>
          </a:ln>
        </p:spPr>
      </p:sp>
      <p:sp>
        <p:nvSpPr>
          <p:cNvPr id="17" name="Text 14"/>
          <p:cNvSpPr/>
          <p:nvPr/>
        </p:nvSpPr>
        <p:spPr>
          <a:xfrm>
            <a:off x="6748272" y="4690872"/>
            <a:ext cx="4471416" cy="310896"/>
          </a:xfrm>
          <a:prstGeom prst="rect">
            <a:avLst/>
          </a:prstGeom>
          <a:noFill/>
          <a:ln/>
        </p:spPr>
        <p:txBody>
          <a:bodyPr wrap="square" lIns="762" tIns="762" rIns="762" bIns="762" rtlCol="0" anchor="t">
            <a:normAutofit/>
          </a:bodyPr>
          <a:lstStyle/>
          <a:p>
            <a:pPr algn="l" indent="0" marL="0">
              <a:buNone/>
            </a:pPr>
            <a:r>
              <a:rPr lang="en-US" sz="1400" b="1" dirty="0">
                <a:solidFill>
                  <a:srgbClr val="F5A11A"/>
                </a:solidFill>
                <a:latin typeface="Aptos" pitchFamily="34" charset="0"/>
                <a:ea typeface="Aptos" pitchFamily="34" charset="-122"/>
                <a:cs typeface="Aptos" pitchFamily="34" charset="-120"/>
              </a:rPr>
              <a:t>Cost</a:t>
            </a:r>
            <a:endParaRPr lang="en-US" sz="1400" dirty="0"/>
          </a:p>
        </p:txBody>
      </p:sp>
      <p:sp>
        <p:nvSpPr>
          <p:cNvPr id="18" name="Text 15"/>
          <p:cNvSpPr/>
          <p:nvPr/>
        </p:nvSpPr>
        <p:spPr>
          <a:xfrm>
            <a:off x="6748272" y="5056632"/>
            <a:ext cx="4471416" cy="301752"/>
          </a:xfrm>
          <a:prstGeom prst="rect">
            <a:avLst/>
          </a:prstGeom>
          <a:noFill/>
          <a:ln/>
        </p:spPr>
        <p:txBody>
          <a:bodyPr wrap="square" lIns="762" tIns="762" rIns="762" bIns="762" rtlCol="0" anchor="t">
            <a:normAutofit/>
          </a:bodyPr>
          <a:lstStyle/>
          <a:p>
            <a:pPr algn="l" indent="0" marL="0">
              <a:buNone/>
            </a:pPr>
            <a:r>
              <a:rPr lang="en-US" sz="1250" dirty="0">
                <a:solidFill>
                  <a:srgbClr val="111827"/>
                </a:solidFill>
                <a:latin typeface="Aptos" pitchFamily="34" charset="0"/>
                <a:ea typeface="Aptos" pitchFamily="34" charset="-122"/>
                <a:cs typeface="Aptos" pitchFamily="34" charset="-120"/>
              </a:rPr>
              <a:t>Road distance, time, fuel, or another performance measure.</a:t>
            </a:r>
            <a:endParaRPr lang="en-US" sz="1250" dirty="0"/>
          </a:p>
        </p:txBody>
      </p:sp>
      <p:sp>
        <p:nvSpPr>
          <p:cNvPr id="19" name="Text 16"/>
          <p:cNvSpPr/>
          <p:nvPr/>
        </p:nvSpPr>
        <p:spPr>
          <a:xfrm>
            <a:off x="11475720" y="6510528"/>
            <a:ext cx="320040" cy="164592"/>
          </a:xfrm>
          <a:prstGeom prst="rect">
            <a:avLst/>
          </a:prstGeom>
          <a:noFill/>
          <a:ln/>
        </p:spPr>
        <p:txBody>
          <a:bodyPr wrap="square" lIns="0" tIns="0" rIns="0" bIns="0" rtlCol="0" anchor="ctr"/>
          <a:lstStyle/>
          <a:p>
            <a:pPr algn="r" indent="0" marL="0">
              <a:buNone/>
            </a:pPr>
            <a:r>
              <a:rPr lang="en-US" sz="800" dirty="0">
                <a:solidFill>
                  <a:srgbClr val="6B7280"/>
                </a:solidFill>
              </a:rPr>
              <a:t>9</a:t>
            </a:r>
            <a:endParaRPr lang="en-US" sz="800" dirty="0"/>
          </a:p>
        </p:txBody>
      </p:sp>
      <p:sp>
        <p:nvSpPr>
          <p:cNvPr id="20" name="Text 17"/>
          <p:cNvSpPr/>
          <p:nvPr/>
        </p:nvSpPr>
        <p:spPr>
          <a:xfrm>
            <a:off x="411480" y="6510528"/>
            <a:ext cx="3200400" cy="164592"/>
          </a:xfrm>
          <a:prstGeom prst="rect">
            <a:avLst/>
          </a:prstGeom>
          <a:noFill/>
          <a:ln/>
        </p:spPr>
        <p:txBody>
          <a:bodyPr wrap="square" lIns="0" tIns="0" rIns="0" bIns="0" rtlCol="0" anchor="ctr"/>
          <a:lstStyle/>
          <a:p>
            <a:pPr indent="0" marL="0">
              <a:buNone/>
            </a:pPr>
            <a:r>
              <a:rPr lang="en-US" sz="750" dirty="0">
                <a:solidFill>
                  <a:srgbClr val="6B7280"/>
                </a:solidFill>
              </a:rPr>
              <a:t>CSU Channel Islands · COMP 469</a:t>
            </a:r>
            <a:endParaRPr lang="en-US" sz="7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5F7FB"/>
        </a:solidFill>
      </p:bgPr>
    </p:bg>
    <p:spTree>
      <p:nvGrpSpPr>
        <p:cNvPr id="1" name=""/>
        <p:cNvGrpSpPr/>
        <p:nvPr/>
      </p:nvGrpSpPr>
      <p:grpSpPr>
        <a:xfrm>
          <a:off x="0" y="0"/>
          <a:ext cx="0" cy="0"/>
          <a:chOff x="0" y="0"/>
          <a:chExt cx="0" cy="0"/>
        </a:xfrm>
      </p:grpSpPr>
      <p:sp>
        <p:nvSpPr>
          <p:cNvPr id="2" name="Shape 0"/>
          <p:cNvSpPr/>
          <p:nvPr/>
        </p:nvSpPr>
        <p:spPr>
          <a:xfrm>
            <a:off x="0" y="0"/>
            <a:ext cx="12191695" cy="640080"/>
          </a:xfrm>
          <a:prstGeom prst="rect">
            <a:avLst/>
          </a:prstGeom>
          <a:solidFill>
            <a:srgbClr val="13386B"/>
          </a:solidFill>
          <a:ln w="12700">
            <a:solidFill>
              <a:srgbClr val="13386B"/>
            </a:solidFill>
            <a:prstDash val="solid"/>
          </a:ln>
        </p:spPr>
      </p:sp>
      <p:sp>
        <p:nvSpPr>
          <p:cNvPr id="3" name="Shape 1"/>
          <p:cNvSpPr/>
          <p:nvPr/>
        </p:nvSpPr>
        <p:spPr>
          <a:xfrm>
            <a:off x="0" y="640080"/>
            <a:ext cx="12191695" cy="68580"/>
          </a:xfrm>
          <a:prstGeom prst="rect">
            <a:avLst/>
          </a:prstGeom>
          <a:solidFill>
            <a:srgbClr val="F5A11A"/>
          </a:solidFill>
          <a:ln w="12700">
            <a:solidFill>
              <a:srgbClr val="F5A11A"/>
            </a:solidFill>
            <a:prstDash val="solid"/>
          </a:ln>
        </p:spPr>
      </p:sp>
      <p:sp>
        <p:nvSpPr>
          <p:cNvPr id="4" name="Text 2"/>
          <p:cNvSpPr/>
          <p:nvPr/>
        </p:nvSpPr>
        <p:spPr>
          <a:xfrm>
            <a:off x="411480" y="155448"/>
            <a:ext cx="7818120" cy="320040"/>
          </a:xfrm>
          <a:prstGeom prst="rect">
            <a:avLst/>
          </a:prstGeom>
          <a:noFill/>
          <a:ln/>
        </p:spPr>
        <p:txBody>
          <a:bodyPr wrap="square" lIns="0" tIns="0" rIns="0" bIns="0" rtlCol="0" anchor="ctr"/>
          <a:lstStyle/>
          <a:p>
            <a:pPr indent="0" marL="0">
              <a:buNone/>
            </a:pPr>
            <a:r>
              <a:rPr lang="en-US" sz="2200" b="1" dirty="0">
                <a:solidFill>
                  <a:srgbClr val="FFFFFF"/>
                </a:solidFill>
                <a:latin typeface="Aptos Display" pitchFamily="34" charset="0"/>
                <a:ea typeface="Aptos Display" pitchFamily="34" charset="-122"/>
                <a:cs typeface="Aptos Display" pitchFamily="34" charset="-120"/>
              </a:rPr>
              <a:t>Abstraction: Keep What Matters, Drop What Does Not</a:t>
            </a:r>
            <a:endParaRPr lang="en-US" sz="2200" dirty="0"/>
          </a:p>
        </p:txBody>
      </p:sp>
      <p:sp>
        <p:nvSpPr>
          <p:cNvPr id="5" name="Text 3"/>
          <p:cNvSpPr/>
          <p:nvPr/>
        </p:nvSpPr>
        <p:spPr>
          <a:xfrm>
            <a:off x="9253728" y="210312"/>
            <a:ext cx="2487168" cy="256032"/>
          </a:xfrm>
          <a:prstGeom prst="rect">
            <a:avLst/>
          </a:prstGeom>
          <a:noFill/>
          <a:ln/>
        </p:spPr>
        <p:txBody>
          <a:bodyPr wrap="square" lIns="0" tIns="0" rIns="0" bIns="0" rtlCol="0" anchor="ctr"/>
          <a:lstStyle/>
          <a:p>
            <a:pPr algn="r" indent="0" marL="0">
              <a:buNone/>
            </a:pPr>
            <a:r>
              <a:rPr lang="en-US" sz="850" dirty="0">
                <a:solidFill>
                  <a:srgbClr val="D9E5F2"/>
                </a:solidFill>
              </a:rPr>
              <a:t>COMP 469 · Chapter 3 · Sections 3.1–3.4</a:t>
            </a:r>
            <a:endParaRPr lang="en-US" sz="850" dirty="0"/>
          </a:p>
        </p:txBody>
      </p:sp>
      <p:sp>
        <p:nvSpPr>
          <p:cNvPr id="6" name="Shape 4"/>
          <p:cNvSpPr/>
          <p:nvPr/>
        </p:nvSpPr>
        <p:spPr>
          <a:xfrm>
            <a:off x="777240" y="1051560"/>
            <a:ext cx="5120640" cy="1234440"/>
          </a:xfrm>
          <a:prstGeom prst="roundRect">
            <a:avLst>
              <a:gd name="adj" fmla="val 4444"/>
            </a:avLst>
          </a:prstGeom>
          <a:solidFill>
            <a:srgbClr val="FFF1F2"/>
          </a:solidFill>
          <a:ln w="12700">
            <a:solidFill>
              <a:srgbClr val="D5DCE8"/>
            </a:solidFill>
            <a:prstDash val="solid"/>
          </a:ln>
        </p:spPr>
      </p:sp>
      <p:sp>
        <p:nvSpPr>
          <p:cNvPr id="7" name="Text 5"/>
          <p:cNvSpPr/>
          <p:nvPr/>
        </p:nvSpPr>
        <p:spPr>
          <a:xfrm>
            <a:off x="941832" y="1216152"/>
            <a:ext cx="4791456" cy="310896"/>
          </a:xfrm>
          <a:prstGeom prst="rect">
            <a:avLst/>
          </a:prstGeom>
          <a:noFill/>
          <a:ln/>
        </p:spPr>
        <p:txBody>
          <a:bodyPr wrap="square" lIns="762" tIns="762" rIns="762" bIns="762" rtlCol="0" anchor="t">
            <a:normAutofit/>
          </a:bodyPr>
          <a:lstStyle/>
          <a:p>
            <a:pPr algn="l" indent="0" marL="0">
              <a:buNone/>
            </a:pPr>
            <a:r>
              <a:rPr lang="en-US" sz="1400" b="1" dirty="0">
                <a:solidFill>
                  <a:srgbClr val="A61919"/>
                </a:solidFill>
                <a:latin typeface="Aptos" pitchFamily="34" charset="0"/>
                <a:ea typeface="Aptos" pitchFamily="34" charset="-122"/>
                <a:cs typeface="Aptos" pitchFamily="34" charset="-120"/>
              </a:rPr>
              <a:t>Too detailed</a:t>
            </a:r>
            <a:endParaRPr lang="en-US" sz="1400" dirty="0"/>
          </a:p>
        </p:txBody>
      </p:sp>
      <p:sp>
        <p:nvSpPr>
          <p:cNvPr id="8" name="Text 6"/>
          <p:cNvSpPr/>
          <p:nvPr/>
        </p:nvSpPr>
        <p:spPr>
          <a:xfrm>
            <a:off x="941832" y="1581912"/>
            <a:ext cx="4791456" cy="576072"/>
          </a:xfrm>
          <a:prstGeom prst="rect">
            <a:avLst/>
          </a:prstGeom>
          <a:noFill/>
          <a:ln/>
        </p:spPr>
        <p:txBody>
          <a:bodyPr wrap="square" lIns="762" tIns="762" rIns="762" bIns="762" rtlCol="0" anchor="t">
            <a:normAutofit/>
          </a:bodyPr>
          <a:lstStyle/>
          <a:p>
            <a:pPr algn="l" indent="0" marL="0">
              <a:buNone/>
            </a:pPr>
            <a:r>
              <a:rPr lang="en-US" sz="1250" dirty="0">
                <a:solidFill>
                  <a:srgbClr val="111827"/>
                </a:solidFill>
                <a:latin typeface="Aptos" pitchFamily="34" charset="0"/>
                <a:ea typeface="Aptos" pitchFamily="34" charset="-122"/>
                <a:cs typeface="Aptos" pitchFamily="34" charset="-120"/>
              </a:rPr>
              <a:t>“Move the right foot forward one centimeter” or “turn the steering wheel one degree left.”</a:t>
            </a:r>
            <a:endParaRPr lang="en-US" sz="1250" dirty="0"/>
          </a:p>
        </p:txBody>
      </p:sp>
      <p:sp>
        <p:nvSpPr>
          <p:cNvPr id="9" name="Shape 7"/>
          <p:cNvSpPr/>
          <p:nvPr/>
        </p:nvSpPr>
        <p:spPr>
          <a:xfrm>
            <a:off x="6263640" y="1051560"/>
            <a:ext cx="5120640" cy="1234440"/>
          </a:xfrm>
          <a:prstGeom prst="roundRect">
            <a:avLst>
              <a:gd name="adj" fmla="val 4444"/>
            </a:avLst>
          </a:prstGeom>
          <a:solidFill>
            <a:srgbClr val="EEF7F2"/>
          </a:solidFill>
          <a:ln w="12700">
            <a:solidFill>
              <a:srgbClr val="D5DCE8"/>
            </a:solidFill>
            <a:prstDash val="solid"/>
          </a:ln>
        </p:spPr>
      </p:sp>
      <p:sp>
        <p:nvSpPr>
          <p:cNvPr id="10" name="Text 8"/>
          <p:cNvSpPr/>
          <p:nvPr/>
        </p:nvSpPr>
        <p:spPr>
          <a:xfrm>
            <a:off x="6428232" y="1216152"/>
            <a:ext cx="4791456" cy="310896"/>
          </a:xfrm>
          <a:prstGeom prst="rect">
            <a:avLst/>
          </a:prstGeom>
          <a:noFill/>
          <a:ln/>
        </p:spPr>
        <p:txBody>
          <a:bodyPr wrap="square" lIns="762" tIns="762" rIns="762" bIns="762" rtlCol="0" anchor="t">
            <a:normAutofit/>
          </a:bodyPr>
          <a:lstStyle/>
          <a:p>
            <a:pPr algn="l" indent="0" marL="0">
              <a:buNone/>
            </a:pPr>
            <a:r>
              <a:rPr lang="en-US" sz="1400" b="1" dirty="0">
                <a:solidFill>
                  <a:srgbClr val="1F7A3D"/>
                </a:solidFill>
                <a:latin typeface="Aptos" pitchFamily="34" charset="0"/>
                <a:ea typeface="Aptos" pitchFamily="34" charset="-122"/>
                <a:cs typeface="Aptos" pitchFamily="34" charset="-120"/>
              </a:rPr>
              <a:t>Useful abstraction</a:t>
            </a:r>
            <a:endParaRPr lang="en-US" sz="1400" dirty="0"/>
          </a:p>
        </p:txBody>
      </p:sp>
      <p:sp>
        <p:nvSpPr>
          <p:cNvPr id="11" name="Text 9"/>
          <p:cNvSpPr/>
          <p:nvPr/>
        </p:nvSpPr>
        <p:spPr>
          <a:xfrm>
            <a:off x="6428232" y="1581912"/>
            <a:ext cx="4791456" cy="576072"/>
          </a:xfrm>
          <a:prstGeom prst="rect">
            <a:avLst/>
          </a:prstGeom>
          <a:noFill/>
          <a:ln/>
        </p:spPr>
        <p:txBody>
          <a:bodyPr wrap="square" lIns="762" tIns="762" rIns="762" bIns="762" rtlCol="0" anchor="t">
            <a:normAutofit/>
          </a:bodyPr>
          <a:lstStyle/>
          <a:p>
            <a:pPr algn="l" indent="0" marL="0">
              <a:buNone/>
            </a:pPr>
            <a:r>
              <a:rPr lang="en-US" sz="1250" dirty="0">
                <a:solidFill>
                  <a:srgbClr val="111827"/>
                </a:solidFill>
                <a:latin typeface="Aptos" pitchFamily="34" charset="0"/>
                <a:ea typeface="Aptos" pitchFamily="34" charset="-122"/>
                <a:cs typeface="Aptos" pitchFamily="34" charset="-120"/>
              </a:rPr>
              <a:t>“Drive from Arad to Sibiu.” The action is easy enough to execute without another search.</a:t>
            </a:r>
            <a:endParaRPr lang="en-US" sz="1250" dirty="0"/>
          </a:p>
        </p:txBody>
      </p:sp>
      <p:sp>
        <p:nvSpPr>
          <p:cNvPr id="12" name="Text 10"/>
          <p:cNvSpPr/>
          <p:nvPr/>
        </p:nvSpPr>
        <p:spPr>
          <a:xfrm>
            <a:off x="914400" y="3108960"/>
            <a:ext cx="10332720" cy="365760"/>
          </a:xfrm>
          <a:prstGeom prst="rect">
            <a:avLst/>
          </a:prstGeom>
          <a:noFill/>
          <a:ln/>
        </p:spPr>
        <p:txBody>
          <a:bodyPr wrap="square" lIns="762" tIns="762" rIns="762" bIns="762" rtlCol="0" anchor="t">
            <a:normAutofit/>
          </a:bodyPr>
          <a:lstStyle/>
          <a:p>
            <a:pPr algn="ctr" indent="0" marL="0">
              <a:buNone/>
            </a:pPr>
            <a:r>
              <a:rPr lang="en-US" sz="2100" b="1" dirty="0">
                <a:solidFill>
                  <a:srgbClr val="13386B"/>
                </a:solidFill>
                <a:latin typeface="Aptos" pitchFamily="34" charset="0"/>
                <a:ea typeface="Aptos" pitchFamily="34" charset="-122"/>
                <a:cs typeface="Aptos" pitchFamily="34" charset="-120"/>
              </a:rPr>
              <a:t>A good formulation removes as much detail as possible while preserving validity.</a:t>
            </a:r>
            <a:endParaRPr lang="en-US" sz="2100" dirty="0"/>
          </a:p>
        </p:txBody>
      </p:sp>
      <p:sp>
        <p:nvSpPr>
          <p:cNvPr id="13" name="Shape 11"/>
          <p:cNvSpPr/>
          <p:nvPr/>
        </p:nvSpPr>
        <p:spPr>
          <a:xfrm>
            <a:off x="914400" y="3840480"/>
            <a:ext cx="4983480" cy="1234440"/>
          </a:xfrm>
          <a:prstGeom prst="roundRect">
            <a:avLst>
              <a:gd name="adj" fmla="val 4444"/>
            </a:avLst>
          </a:prstGeom>
          <a:solidFill>
            <a:srgbClr val="FFFFFF"/>
          </a:solidFill>
          <a:ln w="12700">
            <a:solidFill>
              <a:srgbClr val="D5DCE8"/>
            </a:solidFill>
            <a:prstDash val="solid"/>
          </a:ln>
        </p:spPr>
      </p:sp>
      <p:sp>
        <p:nvSpPr>
          <p:cNvPr id="14" name="Text 12"/>
          <p:cNvSpPr/>
          <p:nvPr/>
        </p:nvSpPr>
        <p:spPr>
          <a:xfrm>
            <a:off x="1078992" y="4005072"/>
            <a:ext cx="4654296" cy="310896"/>
          </a:xfrm>
          <a:prstGeom prst="rect">
            <a:avLst/>
          </a:prstGeom>
          <a:noFill/>
          <a:ln/>
        </p:spPr>
        <p:txBody>
          <a:bodyPr wrap="square" lIns="762" tIns="762" rIns="762" bIns="762" rtlCol="0" anchor="t">
            <a:normAutofit/>
          </a:bodyPr>
          <a:lstStyle/>
          <a:p>
            <a:pPr algn="l" indent="0" marL="0">
              <a:buNone/>
            </a:pPr>
            <a:r>
              <a:rPr lang="en-US" sz="1400" b="1" dirty="0">
                <a:solidFill>
                  <a:srgbClr val="13386B"/>
                </a:solidFill>
                <a:latin typeface="Aptos" pitchFamily="34" charset="0"/>
                <a:ea typeface="Aptos" pitchFamily="34" charset="-122"/>
                <a:cs typeface="Aptos" pitchFamily="34" charset="-120"/>
              </a:rPr>
              <a:t>Valid</a:t>
            </a:r>
            <a:endParaRPr lang="en-US" sz="1400" dirty="0"/>
          </a:p>
        </p:txBody>
      </p:sp>
      <p:sp>
        <p:nvSpPr>
          <p:cNvPr id="15" name="Text 13"/>
          <p:cNvSpPr/>
          <p:nvPr/>
        </p:nvSpPr>
        <p:spPr>
          <a:xfrm>
            <a:off x="1078992" y="4370832"/>
            <a:ext cx="4654296" cy="576072"/>
          </a:xfrm>
          <a:prstGeom prst="rect">
            <a:avLst/>
          </a:prstGeom>
          <a:noFill/>
          <a:ln/>
        </p:spPr>
        <p:txBody>
          <a:bodyPr wrap="square" lIns="762" tIns="762" rIns="762" bIns="762" rtlCol="0" anchor="t">
            <a:normAutofit/>
          </a:bodyPr>
          <a:lstStyle/>
          <a:p>
            <a:pPr algn="l" indent="0" marL="0">
              <a:buNone/>
            </a:pPr>
            <a:r>
              <a:rPr lang="en-US" sz="1250" dirty="0">
                <a:solidFill>
                  <a:srgbClr val="111827"/>
                </a:solidFill>
                <a:latin typeface="Aptos" pitchFamily="34" charset="0"/>
                <a:ea typeface="Aptos" pitchFamily="34" charset="-122"/>
                <a:cs typeface="Aptos" pitchFamily="34" charset="-120"/>
              </a:rPr>
              <a:t>Any abstract solution can be elaborated into a solution in the detailed world.</a:t>
            </a:r>
            <a:endParaRPr lang="en-US" sz="1250" dirty="0"/>
          </a:p>
        </p:txBody>
      </p:sp>
      <p:sp>
        <p:nvSpPr>
          <p:cNvPr id="16" name="Shape 14"/>
          <p:cNvSpPr/>
          <p:nvPr/>
        </p:nvSpPr>
        <p:spPr>
          <a:xfrm>
            <a:off x="6309360" y="3840480"/>
            <a:ext cx="4983480" cy="1234440"/>
          </a:xfrm>
          <a:prstGeom prst="roundRect">
            <a:avLst>
              <a:gd name="adj" fmla="val 4444"/>
            </a:avLst>
          </a:prstGeom>
          <a:solidFill>
            <a:srgbClr val="FFFFFF"/>
          </a:solidFill>
          <a:ln w="12700">
            <a:solidFill>
              <a:srgbClr val="D5DCE8"/>
            </a:solidFill>
            <a:prstDash val="solid"/>
          </a:ln>
        </p:spPr>
      </p:sp>
      <p:sp>
        <p:nvSpPr>
          <p:cNvPr id="17" name="Text 15"/>
          <p:cNvSpPr/>
          <p:nvPr/>
        </p:nvSpPr>
        <p:spPr>
          <a:xfrm>
            <a:off x="6473952" y="4005072"/>
            <a:ext cx="4654296" cy="310896"/>
          </a:xfrm>
          <a:prstGeom prst="rect">
            <a:avLst/>
          </a:prstGeom>
          <a:noFill/>
          <a:ln/>
        </p:spPr>
        <p:txBody>
          <a:bodyPr wrap="square" lIns="762" tIns="762" rIns="762" bIns="762" rtlCol="0" anchor="t">
            <a:normAutofit/>
          </a:bodyPr>
          <a:lstStyle/>
          <a:p>
            <a:pPr algn="l" indent="0" marL="0">
              <a:buNone/>
            </a:pPr>
            <a:r>
              <a:rPr lang="en-US" sz="1400" b="1" dirty="0">
                <a:solidFill>
                  <a:srgbClr val="0F8B8D"/>
                </a:solidFill>
                <a:latin typeface="Aptos" pitchFamily="34" charset="0"/>
                <a:ea typeface="Aptos" pitchFamily="34" charset="-122"/>
                <a:cs typeface="Aptos" pitchFamily="34" charset="-120"/>
              </a:rPr>
              <a:t>Useful</a:t>
            </a:r>
            <a:endParaRPr lang="en-US" sz="1400" dirty="0"/>
          </a:p>
        </p:txBody>
      </p:sp>
      <p:sp>
        <p:nvSpPr>
          <p:cNvPr id="18" name="Text 16"/>
          <p:cNvSpPr/>
          <p:nvPr/>
        </p:nvSpPr>
        <p:spPr>
          <a:xfrm>
            <a:off x="6473952" y="4370832"/>
            <a:ext cx="4654296" cy="576072"/>
          </a:xfrm>
          <a:prstGeom prst="rect">
            <a:avLst/>
          </a:prstGeom>
          <a:noFill/>
          <a:ln/>
        </p:spPr>
        <p:txBody>
          <a:bodyPr wrap="square" lIns="762" tIns="762" rIns="762" bIns="762" rtlCol="0" anchor="t">
            <a:normAutofit/>
          </a:bodyPr>
          <a:lstStyle/>
          <a:p>
            <a:pPr algn="l" indent="0" marL="0">
              <a:buNone/>
            </a:pPr>
            <a:r>
              <a:rPr lang="en-US" sz="1250" dirty="0">
                <a:solidFill>
                  <a:srgbClr val="111827"/>
                </a:solidFill>
                <a:latin typeface="Aptos" pitchFamily="34" charset="0"/>
                <a:ea typeface="Aptos" pitchFamily="34" charset="-122"/>
                <a:cs typeface="Aptos" pitchFamily="34" charset="-120"/>
              </a:rPr>
              <a:t>Each abstract action is easier to carry out than solving the whole original problem.</a:t>
            </a:r>
            <a:endParaRPr lang="en-US" sz="1250" dirty="0"/>
          </a:p>
        </p:txBody>
      </p:sp>
      <p:sp>
        <p:nvSpPr>
          <p:cNvPr id="19" name="Text 17"/>
          <p:cNvSpPr/>
          <p:nvPr/>
        </p:nvSpPr>
        <p:spPr>
          <a:xfrm>
            <a:off x="11475720" y="6510528"/>
            <a:ext cx="320040" cy="164592"/>
          </a:xfrm>
          <a:prstGeom prst="rect">
            <a:avLst/>
          </a:prstGeom>
          <a:noFill/>
          <a:ln/>
        </p:spPr>
        <p:txBody>
          <a:bodyPr wrap="square" lIns="0" tIns="0" rIns="0" bIns="0" rtlCol="0" anchor="ctr"/>
          <a:lstStyle/>
          <a:p>
            <a:pPr algn="r" indent="0" marL="0">
              <a:buNone/>
            </a:pPr>
            <a:r>
              <a:rPr lang="en-US" sz="800" dirty="0">
                <a:solidFill>
                  <a:srgbClr val="6B7280"/>
                </a:solidFill>
              </a:rPr>
              <a:t>10</a:t>
            </a:r>
            <a:endParaRPr lang="en-US" sz="800" dirty="0"/>
          </a:p>
        </p:txBody>
      </p:sp>
      <p:sp>
        <p:nvSpPr>
          <p:cNvPr id="20" name="Text 18"/>
          <p:cNvSpPr/>
          <p:nvPr/>
        </p:nvSpPr>
        <p:spPr>
          <a:xfrm>
            <a:off x="411480" y="6510528"/>
            <a:ext cx="3200400" cy="164592"/>
          </a:xfrm>
          <a:prstGeom prst="rect">
            <a:avLst/>
          </a:prstGeom>
          <a:noFill/>
          <a:ln/>
        </p:spPr>
        <p:txBody>
          <a:bodyPr wrap="square" lIns="0" tIns="0" rIns="0" bIns="0" rtlCol="0" anchor="ctr"/>
          <a:lstStyle/>
          <a:p>
            <a:pPr indent="0" marL="0">
              <a:buNone/>
            </a:pPr>
            <a:r>
              <a:rPr lang="en-US" sz="750" dirty="0">
                <a:solidFill>
                  <a:srgbClr val="6B7280"/>
                </a:solidFill>
              </a:rPr>
              <a:t>CSU Channel Islands · COMP 469</a:t>
            </a:r>
            <a:endParaRPr lang="en-US" sz="7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3386B"/>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13386B"/>
          </a:solidFill>
          <a:ln w="12700">
            <a:solidFill>
              <a:srgbClr val="13386B"/>
            </a:solidFill>
            <a:prstDash val="solid"/>
          </a:ln>
        </p:spPr>
      </p:sp>
      <p:sp>
        <p:nvSpPr>
          <p:cNvPr id="3" name="Shape 1"/>
          <p:cNvSpPr/>
          <p:nvPr/>
        </p:nvSpPr>
        <p:spPr>
          <a:xfrm>
            <a:off x="0" y="5440680"/>
            <a:ext cx="12191695" cy="118872"/>
          </a:xfrm>
          <a:prstGeom prst="rect">
            <a:avLst/>
          </a:prstGeom>
          <a:solidFill>
            <a:srgbClr val="F5A11A"/>
          </a:solidFill>
          <a:ln w="12700">
            <a:solidFill>
              <a:srgbClr val="F5A11A"/>
            </a:solidFill>
            <a:prstDash val="solid"/>
          </a:ln>
        </p:spPr>
      </p:sp>
      <p:sp>
        <p:nvSpPr>
          <p:cNvPr id="4" name="Text 2"/>
          <p:cNvSpPr/>
          <p:nvPr/>
        </p:nvSpPr>
        <p:spPr>
          <a:xfrm>
            <a:off x="731520" y="1965960"/>
            <a:ext cx="7040880" cy="594360"/>
          </a:xfrm>
          <a:prstGeom prst="rect">
            <a:avLst/>
          </a:prstGeom>
          <a:noFill/>
          <a:ln/>
        </p:spPr>
        <p:txBody>
          <a:bodyPr wrap="square" lIns="0" tIns="0" rIns="0" bIns="0" rtlCol="0" anchor="t">
            <a:normAutofit/>
          </a:bodyPr>
          <a:lstStyle/>
          <a:p>
            <a:pPr algn="l" indent="0" marL="0">
              <a:buNone/>
            </a:pPr>
            <a:r>
              <a:rPr lang="en-US" sz="3400" b="1" dirty="0">
                <a:solidFill>
                  <a:srgbClr val="FFFFFF"/>
                </a:solidFill>
                <a:latin typeface="Aptos" pitchFamily="34" charset="0"/>
                <a:ea typeface="Aptos" pitchFamily="34" charset="-122"/>
                <a:cs typeface="Aptos" pitchFamily="34" charset="-120"/>
              </a:rPr>
              <a:t>Section 3.2</a:t>
            </a:r>
            <a:endParaRPr lang="en-US" sz="3400" dirty="0"/>
          </a:p>
        </p:txBody>
      </p:sp>
      <p:sp>
        <p:nvSpPr>
          <p:cNvPr id="5" name="Text 3"/>
          <p:cNvSpPr/>
          <p:nvPr/>
        </p:nvSpPr>
        <p:spPr>
          <a:xfrm>
            <a:off x="768096" y="2697480"/>
            <a:ext cx="7315200" cy="365760"/>
          </a:xfrm>
          <a:prstGeom prst="rect">
            <a:avLst/>
          </a:prstGeom>
          <a:noFill/>
          <a:ln/>
        </p:spPr>
        <p:txBody>
          <a:bodyPr wrap="square" lIns="0" tIns="0" rIns="0" bIns="0" rtlCol="0" anchor="t">
            <a:normAutofit/>
          </a:bodyPr>
          <a:lstStyle/>
          <a:p>
            <a:pPr algn="l" indent="0" marL="0">
              <a:buNone/>
            </a:pPr>
            <a:r>
              <a:rPr lang="en-US" sz="1700" dirty="0">
                <a:solidFill>
                  <a:srgbClr val="D8E6F6"/>
                </a:solidFill>
                <a:latin typeface="Aptos" pitchFamily="34" charset="0"/>
                <a:ea typeface="Aptos" pitchFamily="34" charset="-122"/>
                <a:cs typeface="Aptos" pitchFamily="34" charset="-120"/>
              </a:rPr>
              <a:t>Example Problems</a:t>
            </a:r>
            <a:endParaRPr lang="en-US" sz="1700" dirty="0"/>
          </a:p>
        </p:txBody>
      </p:sp>
      <p:pic>
        <p:nvPicPr>
          <p:cNvPr id="6" name="Image 0" descr="/mnt/data/a_clean_cartoon_style_digital_illustration_featur.png">    </p:cNvPr>
          <p:cNvPicPr>
            <a:picLocks noChangeAspect="1"/>
          </p:cNvPicPr>
          <p:nvPr/>
        </p:nvPicPr>
        <p:blipFill>
          <a:blip r:embed="rId1"/>
          <a:stretch>
            <a:fillRect/>
          </a:stretch>
        </p:blipFill>
        <p:spPr>
          <a:xfrm>
            <a:off x="8869680" y="1143000"/>
            <a:ext cx="2331720" cy="3200400"/>
          </a:xfrm>
          <a:prstGeom prst="rect">
            <a:avLst/>
          </a:prstGeom>
        </p:spPr>
      </p:pic>
      <p:sp>
        <p:nvSpPr>
          <p:cNvPr id="7" name="Text 4"/>
          <p:cNvSpPr/>
          <p:nvPr/>
        </p:nvSpPr>
        <p:spPr>
          <a:xfrm>
            <a:off x="11475720" y="6510528"/>
            <a:ext cx="320040" cy="164592"/>
          </a:xfrm>
          <a:prstGeom prst="rect">
            <a:avLst/>
          </a:prstGeom>
          <a:noFill/>
          <a:ln/>
        </p:spPr>
        <p:txBody>
          <a:bodyPr wrap="square" lIns="0" tIns="0" rIns="0" bIns="0" rtlCol="0" anchor="ctr"/>
          <a:lstStyle/>
          <a:p>
            <a:pPr algn="r" indent="0" marL="0">
              <a:buNone/>
            </a:pPr>
            <a:r>
              <a:rPr lang="en-US" sz="800" dirty="0">
                <a:solidFill>
                  <a:srgbClr val="6B7280"/>
                </a:solidFill>
              </a:rPr>
              <a:t>12</a:t>
            </a:r>
            <a:endParaRPr lang="en-US" sz="800" dirty="0"/>
          </a:p>
        </p:txBody>
      </p:sp>
      <p:sp>
        <p:nvSpPr>
          <p:cNvPr id="8" name="Text 5"/>
          <p:cNvSpPr/>
          <p:nvPr/>
        </p:nvSpPr>
        <p:spPr>
          <a:xfrm>
            <a:off x="411480" y="6510528"/>
            <a:ext cx="3200400" cy="164592"/>
          </a:xfrm>
          <a:prstGeom prst="rect">
            <a:avLst/>
          </a:prstGeom>
          <a:noFill/>
          <a:ln/>
        </p:spPr>
        <p:txBody>
          <a:bodyPr wrap="square" lIns="0" tIns="0" rIns="0" bIns="0" rtlCol="0" anchor="ctr"/>
          <a:lstStyle/>
          <a:p>
            <a:pPr indent="0" marL="0">
              <a:buNone/>
            </a:pPr>
            <a:r>
              <a:rPr lang="en-US" sz="750" dirty="0">
                <a:solidFill>
                  <a:srgbClr val="6B7280"/>
                </a:solidFill>
              </a:rPr>
              <a:t>CSU Channel Islands · COMP 469</a:t>
            </a:r>
            <a:endParaRPr lang="en-US" sz="7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5F7FB"/>
        </a:solidFill>
      </p:bgPr>
    </p:bg>
    <p:spTree>
      <p:nvGrpSpPr>
        <p:cNvPr id="1" name=""/>
        <p:cNvGrpSpPr/>
        <p:nvPr/>
      </p:nvGrpSpPr>
      <p:grpSpPr>
        <a:xfrm>
          <a:off x="0" y="0"/>
          <a:ext cx="0" cy="0"/>
          <a:chOff x="0" y="0"/>
          <a:chExt cx="0" cy="0"/>
        </a:xfrm>
      </p:grpSpPr>
      <p:sp>
        <p:nvSpPr>
          <p:cNvPr id="2" name="Shape 0"/>
          <p:cNvSpPr/>
          <p:nvPr/>
        </p:nvSpPr>
        <p:spPr>
          <a:xfrm>
            <a:off x="0" y="0"/>
            <a:ext cx="12191695" cy="640080"/>
          </a:xfrm>
          <a:prstGeom prst="rect">
            <a:avLst/>
          </a:prstGeom>
          <a:solidFill>
            <a:srgbClr val="13386B"/>
          </a:solidFill>
          <a:ln w="12700">
            <a:solidFill>
              <a:srgbClr val="13386B"/>
            </a:solidFill>
            <a:prstDash val="solid"/>
          </a:ln>
        </p:spPr>
      </p:sp>
      <p:sp>
        <p:nvSpPr>
          <p:cNvPr id="3" name="Shape 1"/>
          <p:cNvSpPr/>
          <p:nvPr/>
        </p:nvSpPr>
        <p:spPr>
          <a:xfrm>
            <a:off x="0" y="640080"/>
            <a:ext cx="12191695" cy="68580"/>
          </a:xfrm>
          <a:prstGeom prst="rect">
            <a:avLst/>
          </a:prstGeom>
          <a:solidFill>
            <a:srgbClr val="F5A11A"/>
          </a:solidFill>
          <a:ln w="12700">
            <a:solidFill>
              <a:srgbClr val="F5A11A"/>
            </a:solidFill>
            <a:prstDash val="solid"/>
          </a:ln>
        </p:spPr>
      </p:sp>
      <p:sp>
        <p:nvSpPr>
          <p:cNvPr id="4" name="Text 2"/>
          <p:cNvSpPr/>
          <p:nvPr/>
        </p:nvSpPr>
        <p:spPr>
          <a:xfrm>
            <a:off x="411480" y="155448"/>
            <a:ext cx="7818120" cy="320040"/>
          </a:xfrm>
          <a:prstGeom prst="rect">
            <a:avLst/>
          </a:prstGeom>
          <a:noFill/>
          <a:ln/>
        </p:spPr>
        <p:txBody>
          <a:bodyPr wrap="square" lIns="0" tIns="0" rIns="0" bIns="0" rtlCol="0" anchor="ctr"/>
          <a:lstStyle/>
          <a:p>
            <a:pPr indent="0" marL="0">
              <a:buNone/>
            </a:pPr>
            <a:r>
              <a:rPr lang="en-US" sz="2200" b="1" dirty="0">
                <a:solidFill>
                  <a:srgbClr val="FFFFFF"/>
                </a:solidFill>
                <a:latin typeface="Aptos Display" pitchFamily="34" charset="0"/>
                <a:ea typeface="Aptos Display" pitchFamily="34" charset="-122"/>
                <a:cs typeface="Aptos Display" pitchFamily="34" charset="-120"/>
              </a:rPr>
              <a:t>Standardized vs. Real-World Problems</a:t>
            </a:r>
            <a:endParaRPr lang="en-US" sz="2200" dirty="0"/>
          </a:p>
        </p:txBody>
      </p:sp>
      <p:sp>
        <p:nvSpPr>
          <p:cNvPr id="5" name="Text 3"/>
          <p:cNvSpPr/>
          <p:nvPr/>
        </p:nvSpPr>
        <p:spPr>
          <a:xfrm>
            <a:off x="9253728" y="210312"/>
            <a:ext cx="2487168" cy="256032"/>
          </a:xfrm>
          <a:prstGeom prst="rect">
            <a:avLst/>
          </a:prstGeom>
          <a:noFill/>
          <a:ln/>
        </p:spPr>
        <p:txBody>
          <a:bodyPr wrap="square" lIns="0" tIns="0" rIns="0" bIns="0" rtlCol="0" anchor="ctr"/>
          <a:lstStyle/>
          <a:p>
            <a:pPr algn="r" indent="0" marL="0">
              <a:buNone/>
            </a:pPr>
            <a:r>
              <a:rPr lang="en-US" sz="850" dirty="0">
                <a:solidFill>
                  <a:srgbClr val="D9E5F2"/>
                </a:solidFill>
              </a:rPr>
              <a:t>COMP 469 · Chapter 3 · Sections 3.1–3.4</a:t>
            </a:r>
            <a:endParaRPr lang="en-US" sz="850" dirty="0"/>
          </a:p>
        </p:txBody>
      </p:sp>
      <p:sp>
        <p:nvSpPr>
          <p:cNvPr id="6" name="Shape 4"/>
          <p:cNvSpPr/>
          <p:nvPr/>
        </p:nvSpPr>
        <p:spPr>
          <a:xfrm>
            <a:off x="777240" y="1188720"/>
            <a:ext cx="5166360" cy="4206240"/>
          </a:xfrm>
          <a:prstGeom prst="roundRect">
            <a:avLst>
              <a:gd name="adj" fmla="val 1304"/>
            </a:avLst>
          </a:prstGeom>
          <a:solidFill>
            <a:srgbClr val="F8FAFC"/>
          </a:solidFill>
          <a:ln w="12700">
            <a:solidFill>
              <a:srgbClr val="D5DCE8"/>
            </a:solidFill>
            <a:prstDash val="solid"/>
          </a:ln>
        </p:spPr>
      </p:sp>
      <p:sp>
        <p:nvSpPr>
          <p:cNvPr id="7" name="Text 5"/>
          <p:cNvSpPr/>
          <p:nvPr/>
        </p:nvSpPr>
        <p:spPr>
          <a:xfrm>
            <a:off x="941832" y="1353312"/>
            <a:ext cx="4837176" cy="310896"/>
          </a:xfrm>
          <a:prstGeom prst="rect">
            <a:avLst/>
          </a:prstGeom>
          <a:noFill/>
          <a:ln/>
        </p:spPr>
        <p:txBody>
          <a:bodyPr wrap="square" lIns="762" tIns="762" rIns="762" bIns="762" rtlCol="0" anchor="t">
            <a:normAutofit/>
          </a:bodyPr>
          <a:lstStyle/>
          <a:p>
            <a:pPr algn="l" indent="0" marL="0">
              <a:buNone/>
            </a:pPr>
            <a:r>
              <a:rPr lang="en-US" sz="1400" b="1" dirty="0">
                <a:solidFill>
                  <a:srgbClr val="13386B"/>
                </a:solidFill>
                <a:latin typeface="Aptos" pitchFamily="34" charset="0"/>
                <a:ea typeface="Aptos" pitchFamily="34" charset="-122"/>
                <a:cs typeface="Aptos" pitchFamily="34" charset="-120"/>
              </a:rPr>
              <a:t>Standardized problems</a:t>
            </a:r>
            <a:endParaRPr lang="en-US" sz="1400" dirty="0"/>
          </a:p>
        </p:txBody>
      </p:sp>
      <p:sp>
        <p:nvSpPr>
          <p:cNvPr id="8" name="Text 6"/>
          <p:cNvSpPr/>
          <p:nvPr/>
        </p:nvSpPr>
        <p:spPr>
          <a:xfrm>
            <a:off x="941832" y="1719072"/>
            <a:ext cx="4837176" cy="3547872"/>
          </a:xfrm>
          <a:prstGeom prst="rect">
            <a:avLst/>
          </a:prstGeom>
          <a:noFill/>
          <a:ln/>
        </p:spPr>
        <p:txBody>
          <a:bodyPr wrap="square" lIns="762" tIns="762" rIns="762" bIns="762" rtlCol="0" anchor="t">
            <a:normAutofit/>
          </a:bodyPr>
          <a:lstStyle/>
          <a:p>
            <a:pPr algn="l" indent="0" marL="0">
              <a:buNone/>
            </a:pPr>
            <a:r>
              <a:rPr lang="en-US" sz="1250" dirty="0">
                <a:solidFill>
                  <a:srgbClr val="111827"/>
                </a:solidFill>
                <a:latin typeface="Aptos" pitchFamily="34" charset="0"/>
                <a:ea typeface="Aptos" pitchFamily="34" charset="-122"/>
                <a:cs typeface="Aptos" pitchFamily="34" charset="-120"/>
              </a:rPr>
              <a:t>Designed to exercise and compare algorithms. They have concise, exact descriptions. Examples include grid worlds, vacuum world, Sokoban, sliding-tile puzzles, Rush Hour, and Knuth’s 4 problem.</a:t>
            </a:r>
            <a:endParaRPr lang="en-US" sz="1250" dirty="0"/>
          </a:p>
        </p:txBody>
      </p:sp>
      <p:sp>
        <p:nvSpPr>
          <p:cNvPr id="9" name="Shape 7"/>
          <p:cNvSpPr/>
          <p:nvPr/>
        </p:nvSpPr>
        <p:spPr>
          <a:xfrm>
            <a:off x="6263640" y="1188720"/>
            <a:ext cx="5166360" cy="4206240"/>
          </a:xfrm>
          <a:prstGeom prst="roundRect">
            <a:avLst>
              <a:gd name="adj" fmla="val 1304"/>
            </a:avLst>
          </a:prstGeom>
          <a:solidFill>
            <a:srgbClr val="F8FAFC"/>
          </a:solidFill>
          <a:ln w="12700">
            <a:solidFill>
              <a:srgbClr val="D5DCE8"/>
            </a:solidFill>
            <a:prstDash val="solid"/>
          </a:ln>
        </p:spPr>
      </p:sp>
      <p:sp>
        <p:nvSpPr>
          <p:cNvPr id="10" name="Text 8"/>
          <p:cNvSpPr/>
          <p:nvPr/>
        </p:nvSpPr>
        <p:spPr>
          <a:xfrm>
            <a:off x="6428232" y="1353312"/>
            <a:ext cx="4837176" cy="310896"/>
          </a:xfrm>
          <a:prstGeom prst="rect">
            <a:avLst/>
          </a:prstGeom>
          <a:noFill/>
          <a:ln/>
        </p:spPr>
        <p:txBody>
          <a:bodyPr wrap="square" lIns="762" tIns="762" rIns="762" bIns="762" rtlCol="0" anchor="t">
            <a:normAutofit/>
          </a:bodyPr>
          <a:lstStyle/>
          <a:p>
            <a:pPr algn="l" indent="0" marL="0">
              <a:buNone/>
            </a:pPr>
            <a:r>
              <a:rPr lang="en-US" sz="1400" b="1" dirty="0">
                <a:solidFill>
                  <a:srgbClr val="1F7A3D"/>
                </a:solidFill>
                <a:latin typeface="Aptos" pitchFamily="34" charset="0"/>
                <a:ea typeface="Aptos" pitchFamily="34" charset="-122"/>
                <a:cs typeface="Aptos" pitchFamily="34" charset="-120"/>
              </a:rPr>
              <a:t>Real-world problems</a:t>
            </a:r>
            <a:endParaRPr lang="en-US" sz="1400" dirty="0"/>
          </a:p>
        </p:txBody>
      </p:sp>
      <p:sp>
        <p:nvSpPr>
          <p:cNvPr id="11" name="Text 9"/>
          <p:cNvSpPr/>
          <p:nvPr/>
        </p:nvSpPr>
        <p:spPr>
          <a:xfrm>
            <a:off x="6428232" y="1719072"/>
            <a:ext cx="4837176" cy="3547872"/>
          </a:xfrm>
          <a:prstGeom prst="rect">
            <a:avLst/>
          </a:prstGeom>
          <a:noFill/>
          <a:ln/>
        </p:spPr>
        <p:txBody>
          <a:bodyPr wrap="square" lIns="762" tIns="762" rIns="762" bIns="762" rtlCol="0" anchor="t">
            <a:normAutofit/>
          </a:bodyPr>
          <a:lstStyle/>
          <a:p>
            <a:pPr algn="l" indent="0" marL="0">
              <a:buNone/>
            </a:pPr>
            <a:r>
              <a:rPr lang="en-US" sz="1250" dirty="0">
                <a:solidFill>
                  <a:srgbClr val="111827"/>
                </a:solidFill>
                <a:latin typeface="Aptos" pitchFamily="34" charset="0"/>
                <a:ea typeface="Aptos" pitchFamily="34" charset="-122"/>
                <a:cs typeface="Aptos" pitchFamily="34" charset="-120"/>
              </a:rPr>
              <a:t>Designed for use in operational settings. They have idiosyncratic sensors, constraints, costs, and failure modes. Examples include route-finding, travel planning, TSP, VLSI layout, robot navigation, and assembly sequencing.</a:t>
            </a:r>
            <a:endParaRPr lang="en-US" sz="1250" dirty="0"/>
          </a:p>
        </p:txBody>
      </p:sp>
      <p:sp>
        <p:nvSpPr>
          <p:cNvPr id="12" name="Shape 10"/>
          <p:cNvSpPr/>
          <p:nvPr/>
        </p:nvSpPr>
        <p:spPr>
          <a:xfrm>
            <a:off x="2011680" y="5806440"/>
            <a:ext cx="8183880" cy="347472"/>
          </a:xfrm>
          <a:prstGeom prst="roundRect">
            <a:avLst>
              <a:gd name="adj" fmla="val 18421"/>
            </a:avLst>
          </a:prstGeom>
          <a:solidFill>
            <a:srgbClr val="F5A11A"/>
          </a:solidFill>
          <a:ln w="12700">
            <a:solidFill>
              <a:srgbClr val="F5A11A"/>
            </a:solidFill>
            <a:prstDash val="solid"/>
          </a:ln>
        </p:spPr>
      </p:sp>
      <p:sp>
        <p:nvSpPr>
          <p:cNvPr id="13" name="Text 11"/>
          <p:cNvSpPr/>
          <p:nvPr/>
        </p:nvSpPr>
        <p:spPr>
          <a:xfrm>
            <a:off x="2084832" y="5861304"/>
            <a:ext cx="8037576" cy="256032"/>
          </a:xfrm>
          <a:prstGeom prst="rect">
            <a:avLst/>
          </a:prstGeom>
          <a:noFill/>
          <a:ln/>
        </p:spPr>
        <p:txBody>
          <a:bodyPr wrap="square" lIns="0" tIns="0" rIns="0" bIns="0" rtlCol="0" anchor="ctr"/>
          <a:lstStyle/>
          <a:p>
            <a:pPr algn="ctr" indent="0" marL="0">
              <a:buNone/>
            </a:pPr>
            <a:r>
              <a:rPr lang="en-US" sz="1200" b="1" dirty="0">
                <a:solidFill>
                  <a:srgbClr val="13386B"/>
                </a:solidFill>
              </a:rPr>
              <a:t>Benchmarking teaches algorithms; real-world formulation determines whether they help.</a:t>
            </a:r>
            <a:endParaRPr lang="en-US" sz="1200" dirty="0"/>
          </a:p>
        </p:txBody>
      </p:sp>
      <p:sp>
        <p:nvSpPr>
          <p:cNvPr id="14" name="Text 12"/>
          <p:cNvSpPr/>
          <p:nvPr/>
        </p:nvSpPr>
        <p:spPr>
          <a:xfrm>
            <a:off x="11475720" y="6510528"/>
            <a:ext cx="320040" cy="164592"/>
          </a:xfrm>
          <a:prstGeom prst="rect">
            <a:avLst/>
          </a:prstGeom>
          <a:noFill/>
          <a:ln/>
        </p:spPr>
        <p:txBody>
          <a:bodyPr wrap="square" lIns="0" tIns="0" rIns="0" bIns="0" rtlCol="0" anchor="ctr"/>
          <a:lstStyle/>
          <a:p>
            <a:pPr algn="r" indent="0" marL="0">
              <a:buNone/>
            </a:pPr>
            <a:r>
              <a:rPr lang="en-US" sz="800" dirty="0">
                <a:solidFill>
                  <a:srgbClr val="6B7280"/>
                </a:solidFill>
              </a:rPr>
              <a:t>12</a:t>
            </a:r>
            <a:endParaRPr lang="en-US" sz="800" dirty="0"/>
          </a:p>
        </p:txBody>
      </p:sp>
      <p:sp>
        <p:nvSpPr>
          <p:cNvPr id="15" name="Text 13"/>
          <p:cNvSpPr/>
          <p:nvPr/>
        </p:nvSpPr>
        <p:spPr>
          <a:xfrm>
            <a:off x="411480" y="6510528"/>
            <a:ext cx="3200400" cy="164592"/>
          </a:xfrm>
          <a:prstGeom prst="rect">
            <a:avLst/>
          </a:prstGeom>
          <a:noFill/>
          <a:ln/>
        </p:spPr>
        <p:txBody>
          <a:bodyPr wrap="square" lIns="0" tIns="0" rIns="0" bIns="0" rtlCol="0" anchor="ctr"/>
          <a:lstStyle/>
          <a:p>
            <a:pPr indent="0" marL="0">
              <a:buNone/>
            </a:pPr>
            <a:r>
              <a:rPr lang="en-US" sz="750" dirty="0">
                <a:solidFill>
                  <a:srgbClr val="6B7280"/>
                </a:solidFill>
              </a:rPr>
              <a:t>CSU Channel Islands · COMP 469</a:t>
            </a:r>
            <a:endParaRPr lang="en-US" sz="7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5F7FB"/>
        </a:solidFill>
      </p:bgPr>
    </p:bg>
    <p:spTree>
      <p:nvGrpSpPr>
        <p:cNvPr id="1" name=""/>
        <p:cNvGrpSpPr/>
        <p:nvPr/>
      </p:nvGrpSpPr>
      <p:grpSpPr>
        <a:xfrm>
          <a:off x="0" y="0"/>
          <a:ext cx="0" cy="0"/>
          <a:chOff x="0" y="0"/>
          <a:chExt cx="0" cy="0"/>
        </a:xfrm>
      </p:grpSpPr>
      <p:sp>
        <p:nvSpPr>
          <p:cNvPr id="2" name="Shape 0"/>
          <p:cNvSpPr/>
          <p:nvPr/>
        </p:nvSpPr>
        <p:spPr>
          <a:xfrm>
            <a:off x="0" y="0"/>
            <a:ext cx="12191695" cy="640080"/>
          </a:xfrm>
          <a:prstGeom prst="rect">
            <a:avLst/>
          </a:prstGeom>
          <a:solidFill>
            <a:srgbClr val="13386B"/>
          </a:solidFill>
          <a:ln w="12700">
            <a:solidFill>
              <a:srgbClr val="13386B"/>
            </a:solidFill>
            <a:prstDash val="solid"/>
          </a:ln>
        </p:spPr>
      </p:sp>
      <p:sp>
        <p:nvSpPr>
          <p:cNvPr id="3" name="Shape 1"/>
          <p:cNvSpPr/>
          <p:nvPr/>
        </p:nvSpPr>
        <p:spPr>
          <a:xfrm>
            <a:off x="0" y="640080"/>
            <a:ext cx="12191695" cy="68580"/>
          </a:xfrm>
          <a:prstGeom prst="rect">
            <a:avLst/>
          </a:prstGeom>
          <a:solidFill>
            <a:srgbClr val="F5A11A"/>
          </a:solidFill>
          <a:ln w="12700">
            <a:solidFill>
              <a:srgbClr val="F5A11A"/>
            </a:solidFill>
            <a:prstDash val="solid"/>
          </a:ln>
        </p:spPr>
      </p:sp>
      <p:sp>
        <p:nvSpPr>
          <p:cNvPr id="4" name="Text 2"/>
          <p:cNvSpPr/>
          <p:nvPr/>
        </p:nvSpPr>
        <p:spPr>
          <a:xfrm>
            <a:off x="411480" y="155448"/>
            <a:ext cx="7818120" cy="320040"/>
          </a:xfrm>
          <a:prstGeom prst="rect">
            <a:avLst/>
          </a:prstGeom>
          <a:noFill/>
          <a:ln/>
        </p:spPr>
        <p:txBody>
          <a:bodyPr wrap="square" lIns="0" tIns="0" rIns="0" bIns="0" rtlCol="0" anchor="ctr"/>
          <a:lstStyle/>
          <a:p>
            <a:pPr indent="0" marL="0">
              <a:buNone/>
            </a:pPr>
            <a:r>
              <a:rPr lang="en-US" sz="2200" b="1" dirty="0">
                <a:solidFill>
                  <a:srgbClr val="FFFFFF"/>
                </a:solidFill>
                <a:latin typeface="Aptos Display" pitchFamily="34" charset="0"/>
                <a:ea typeface="Aptos Display" pitchFamily="34" charset="-122"/>
                <a:cs typeface="Aptos Display" pitchFamily="34" charset="-120"/>
              </a:rPr>
              <a:t>Grid Worlds and the Vacuum World</a:t>
            </a:r>
            <a:endParaRPr lang="en-US" sz="2200" dirty="0"/>
          </a:p>
        </p:txBody>
      </p:sp>
      <p:sp>
        <p:nvSpPr>
          <p:cNvPr id="5" name="Text 3"/>
          <p:cNvSpPr/>
          <p:nvPr/>
        </p:nvSpPr>
        <p:spPr>
          <a:xfrm>
            <a:off x="9253728" y="210312"/>
            <a:ext cx="2487168" cy="256032"/>
          </a:xfrm>
          <a:prstGeom prst="rect">
            <a:avLst/>
          </a:prstGeom>
          <a:noFill/>
          <a:ln/>
        </p:spPr>
        <p:txBody>
          <a:bodyPr wrap="square" lIns="0" tIns="0" rIns="0" bIns="0" rtlCol="0" anchor="ctr"/>
          <a:lstStyle/>
          <a:p>
            <a:pPr algn="r" indent="0" marL="0">
              <a:buNone/>
            </a:pPr>
            <a:r>
              <a:rPr lang="en-US" sz="850" dirty="0">
                <a:solidFill>
                  <a:srgbClr val="D9E5F2"/>
                </a:solidFill>
              </a:rPr>
              <a:t>COMP 469 · Chapter 3 · Sections 3.1–3.4</a:t>
            </a:r>
            <a:endParaRPr lang="en-US" sz="850" dirty="0"/>
          </a:p>
        </p:txBody>
      </p:sp>
      <p:pic>
        <p:nvPicPr>
          <p:cNvPr id="6" name="Image 0" descr="/mnt/data/ch3_odt_extract/Pictures/10000000000002A9000001A72B336751.png">    </p:cNvPr>
          <p:cNvPicPr>
            <a:picLocks noChangeAspect="1"/>
          </p:cNvPicPr>
          <p:nvPr/>
        </p:nvPicPr>
        <p:blipFill>
          <a:blip r:embed="rId1"/>
          <a:stretch>
            <a:fillRect/>
          </a:stretch>
        </p:blipFill>
        <p:spPr>
          <a:xfrm>
            <a:off x="640080" y="960120"/>
            <a:ext cx="5029200" cy="3337560"/>
          </a:xfrm>
          <a:prstGeom prst="rect">
            <a:avLst/>
          </a:prstGeom>
        </p:spPr>
      </p:pic>
      <p:sp>
        <p:nvSpPr>
          <p:cNvPr id="7" name="Text 4"/>
          <p:cNvSpPr/>
          <p:nvPr/>
        </p:nvSpPr>
        <p:spPr>
          <a:xfrm>
            <a:off x="5989320" y="960120"/>
            <a:ext cx="5394960" cy="731520"/>
          </a:xfrm>
          <a:prstGeom prst="rect">
            <a:avLst/>
          </a:prstGeom>
          <a:noFill/>
          <a:ln/>
        </p:spPr>
        <p:txBody>
          <a:bodyPr wrap="square" lIns="762" tIns="762" rIns="762" bIns="762" rtlCol="0" anchor="t">
            <a:normAutofit/>
          </a:bodyPr>
          <a:lstStyle/>
          <a:p>
            <a:pPr algn="l" indent="0" marL="0">
              <a:buNone/>
            </a:pPr>
            <a:r>
              <a:rPr lang="en-US" sz="1700" b="1" dirty="0">
                <a:solidFill>
                  <a:srgbClr val="13386B"/>
                </a:solidFill>
                <a:latin typeface="Aptos" pitchFamily="34" charset="0"/>
                <a:ea typeface="Aptos" pitchFamily="34" charset="-122"/>
                <a:cs typeface="Aptos" pitchFamily="34" charset="-120"/>
              </a:rPr>
              <a:t>A grid world represents location and objects in cells. Movement is usually to adjacent non-obstacle cells.</a:t>
            </a:r>
            <a:endParaRPr lang="en-US" sz="1700" dirty="0"/>
          </a:p>
        </p:txBody>
      </p:sp>
      <p:pic>
        <p:nvPicPr>
          <p:cNvPr id="8" name="Image 1" descr="preencoded.png">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172200" y="2084832"/>
            <a:ext cx="2468880" cy="457200"/>
          </a:xfrm>
          <a:prstGeom prst="rect">
            <a:avLst/>
          </a:prstGeom>
        </p:spPr>
      </p:pic>
      <p:sp>
        <p:nvSpPr>
          <p:cNvPr id="9" name="Text 5"/>
          <p:cNvSpPr/>
          <p:nvPr/>
        </p:nvSpPr>
        <p:spPr>
          <a:xfrm>
            <a:off x="8686800" y="2194560"/>
            <a:ext cx="2377440" cy="292608"/>
          </a:xfrm>
          <a:prstGeom prst="rect">
            <a:avLst/>
          </a:prstGeom>
          <a:noFill/>
          <a:ln/>
        </p:spPr>
        <p:txBody>
          <a:bodyPr wrap="square" lIns="762" tIns="762" rIns="762" bIns="762" rtlCol="0" anchor="t">
            <a:normAutofit/>
          </a:bodyPr>
          <a:lstStyle/>
          <a:p>
            <a:pPr algn="l" indent="0" marL="0">
              <a:buNone/>
            </a:pPr>
            <a:r>
              <a:rPr lang="en-US" sz="1150" dirty="0">
                <a:solidFill>
                  <a:srgbClr val="6B7280"/>
                </a:solidFill>
                <a:latin typeface="Aptos" pitchFamily="34" charset="0"/>
                <a:ea typeface="Aptos" pitchFamily="34" charset="-122"/>
                <a:cs typeface="Aptos" pitchFamily="34" charset="-120"/>
              </a:rPr>
              <a:t>two locations × dirt in A × dirt in B</a:t>
            </a:r>
            <a:endParaRPr lang="en-US" sz="1150" dirty="0"/>
          </a:p>
        </p:txBody>
      </p:sp>
      <p:pic>
        <p:nvPicPr>
          <p:cNvPr id="10" name="Image 2" descr="preencoded.png">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6172200" y="2944368"/>
            <a:ext cx="2011680" cy="457200"/>
          </a:xfrm>
          <a:prstGeom prst="rect">
            <a:avLst/>
          </a:prstGeom>
        </p:spPr>
      </p:pic>
      <p:sp>
        <p:nvSpPr>
          <p:cNvPr id="11" name="Text 6"/>
          <p:cNvSpPr/>
          <p:nvPr/>
        </p:nvSpPr>
        <p:spPr>
          <a:xfrm>
            <a:off x="8321040" y="3054096"/>
            <a:ext cx="2560320" cy="292608"/>
          </a:xfrm>
          <a:prstGeom prst="rect">
            <a:avLst/>
          </a:prstGeom>
          <a:noFill/>
          <a:ln/>
        </p:spPr>
        <p:txBody>
          <a:bodyPr wrap="square" lIns="762" tIns="762" rIns="762" bIns="762" rtlCol="0" anchor="t">
            <a:normAutofit/>
          </a:bodyPr>
          <a:lstStyle/>
          <a:p>
            <a:pPr algn="l" indent="0" marL="0">
              <a:buNone/>
            </a:pPr>
            <a:r>
              <a:rPr lang="en-US" sz="1150" dirty="0">
                <a:solidFill>
                  <a:srgbClr val="6B7280"/>
                </a:solidFill>
                <a:latin typeface="Aptos" pitchFamily="34" charset="0"/>
                <a:ea typeface="Aptos" pitchFamily="34" charset="-122"/>
                <a:cs typeface="Aptos" pitchFamily="34" charset="-120"/>
              </a:rPr>
              <a:t>general n-cell vacuum world</a:t>
            </a:r>
            <a:endParaRPr lang="en-US" sz="1150" dirty="0"/>
          </a:p>
        </p:txBody>
      </p:sp>
      <p:sp>
        <p:nvSpPr>
          <p:cNvPr id="12" name="Shape 7"/>
          <p:cNvSpPr/>
          <p:nvPr/>
        </p:nvSpPr>
        <p:spPr>
          <a:xfrm>
            <a:off x="6035040" y="3858768"/>
            <a:ext cx="5074920" cy="1143000"/>
          </a:xfrm>
          <a:prstGeom prst="roundRect">
            <a:avLst>
              <a:gd name="adj" fmla="val 4800"/>
            </a:avLst>
          </a:prstGeom>
          <a:solidFill>
            <a:srgbClr val="FFFFFF"/>
          </a:solidFill>
          <a:ln w="12700">
            <a:solidFill>
              <a:srgbClr val="D5DCE8"/>
            </a:solidFill>
            <a:prstDash val="solid"/>
          </a:ln>
        </p:spPr>
      </p:sp>
      <p:sp>
        <p:nvSpPr>
          <p:cNvPr id="13" name="Text 8"/>
          <p:cNvSpPr/>
          <p:nvPr/>
        </p:nvSpPr>
        <p:spPr>
          <a:xfrm>
            <a:off x="6199632" y="4023360"/>
            <a:ext cx="4745736" cy="310896"/>
          </a:xfrm>
          <a:prstGeom prst="rect">
            <a:avLst/>
          </a:prstGeom>
          <a:noFill/>
          <a:ln/>
        </p:spPr>
        <p:txBody>
          <a:bodyPr wrap="square" lIns="762" tIns="762" rIns="762" bIns="762" rtlCol="0" anchor="t">
            <a:normAutofit/>
          </a:bodyPr>
          <a:lstStyle/>
          <a:p>
            <a:pPr algn="l" indent="0" marL="0">
              <a:buNone/>
            </a:pPr>
            <a:r>
              <a:rPr lang="en-US" sz="1400" b="1" dirty="0">
                <a:solidFill>
                  <a:srgbClr val="F5A11A"/>
                </a:solidFill>
                <a:latin typeface="Aptos" pitchFamily="34" charset="0"/>
                <a:ea typeface="Aptos" pitchFamily="34" charset="-122"/>
                <a:cs typeface="Aptos" pitchFamily="34" charset="-120"/>
              </a:rPr>
              <a:t>Key point</a:t>
            </a:r>
            <a:endParaRPr lang="en-US" sz="1400" dirty="0"/>
          </a:p>
        </p:txBody>
      </p:sp>
      <p:sp>
        <p:nvSpPr>
          <p:cNvPr id="14" name="Text 9"/>
          <p:cNvSpPr/>
          <p:nvPr/>
        </p:nvSpPr>
        <p:spPr>
          <a:xfrm>
            <a:off x="6199632" y="4389120"/>
            <a:ext cx="4745736" cy="484632"/>
          </a:xfrm>
          <a:prstGeom prst="rect">
            <a:avLst/>
          </a:prstGeom>
          <a:noFill/>
          <a:ln/>
        </p:spPr>
        <p:txBody>
          <a:bodyPr wrap="square" lIns="762" tIns="762" rIns="762" bIns="762" rtlCol="0" anchor="t">
            <a:normAutofit/>
          </a:bodyPr>
          <a:lstStyle/>
          <a:p>
            <a:pPr algn="l" indent="0" marL="0">
              <a:buNone/>
            </a:pPr>
            <a:r>
              <a:rPr lang="en-US" sz="1250" dirty="0">
                <a:solidFill>
                  <a:srgbClr val="111827"/>
                </a:solidFill>
                <a:latin typeface="Aptos" pitchFamily="34" charset="0"/>
                <a:ea typeface="Aptos" pitchFamily="34" charset="-122"/>
                <a:cs typeface="Aptos" pitchFamily="34" charset="-120"/>
              </a:rPr>
              <a:t>Even very simple environments grow quickly once location and object configurations are included.</a:t>
            </a:r>
            <a:endParaRPr lang="en-US" sz="1250" dirty="0"/>
          </a:p>
        </p:txBody>
      </p:sp>
      <p:sp>
        <p:nvSpPr>
          <p:cNvPr id="15" name="Text 10"/>
          <p:cNvSpPr/>
          <p:nvPr/>
        </p:nvSpPr>
        <p:spPr>
          <a:xfrm>
            <a:off x="11475720" y="6510528"/>
            <a:ext cx="320040" cy="164592"/>
          </a:xfrm>
          <a:prstGeom prst="rect">
            <a:avLst/>
          </a:prstGeom>
          <a:noFill/>
          <a:ln/>
        </p:spPr>
        <p:txBody>
          <a:bodyPr wrap="square" lIns="0" tIns="0" rIns="0" bIns="0" rtlCol="0" anchor="ctr"/>
          <a:lstStyle/>
          <a:p>
            <a:pPr algn="r" indent="0" marL="0">
              <a:buNone/>
            </a:pPr>
            <a:r>
              <a:rPr lang="en-US" sz="800" dirty="0">
                <a:solidFill>
                  <a:srgbClr val="6B7280"/>
                </a:solidFill>
              </a:rPr>
              <a:t>13</a:t>
            </a:r>
            <a:endParaRPr lang="en-US" sz="800" dirty="0"/>
          </a:p>
        </p:txBody>
      </p:sp>
      <p:sp>
        <p:nvSpPr>
          <p:cNvPr id="16" name="Text 11"/>
          <p:cNvSpPr/>
          <p:nvPr/>
        </p:nvSpPr>
        <p:spPr>
          <a:xfrm>
            <a:off x="411480" y="6510528"/>
            <a:ext cx="3200400" cy="164592"/>
          </a:xfrm>
          <a:prstGeom prst="rect">
            <a:avLst/>
          </a:prstGeom>
          <a:noFill/>
          <a:ln/>
        </p:spPr>
        <p:txBody>
          <a:bodyPr wrap="square" lIns="0" tIns="0" rIns="0" bIns="0" rtlCol="0" anchor="ctr"/>
          <a:lstStyle/>
          <a:p>
            <a:pPr indent="0" marL="0">
              <a:buNone/>
            </a:pPr>
            <a:r>
              <a:rPr lang="en-US" sz="750" dirty="0">
                <a:solidFill>
                  <a:srgbClr val="6B7280"/>
                </a:solidFill>
              </a:rPr>
              <a:t>CSU Channel Islands · COMP 469</a:t>
            </a:r>
            <a:endParaRPr lang="en-US" sz="7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5F7FB"/>
        </a:solidFill>
      </p:bgPr>
    </p:bg>
    <p:spTree>
      <p:nvGrpSpPr>
        <p:cNvPr id="1" name=""/>
        <p:cNvGrpSpPr/>
        <p:nvPr/>
      </p:nvGrpSpPr>
      <p:grpSpPr>
        <a:xfrm>
          <a:off x="0" y="0"/>
          <a:ext cx="0" cy="0"/>
          <a:chOff x="0" y="0"/>
          <a:chExt cx="0" cy="0"/>
        </a:xfrm>
      </p:grpSpPr>
      <p:sp>
        <p:nvSpPr>
          <p:cNvPr id="2" name="Shape 0"/>
          <p:cNvSpPr/>
          <p:nvPr/>
        </p:nvSpPr>
        <p:spPr>
          <a:xfrm>
            <a:off x="0" y="0"/>
            <a:ext cx="12191695" cy="640080"/>
          </a:xfrm>
          <a:prstGeom prst="rect">
            <a:avLst/>
          </a:prstGeom>
          <a:solidFill>
            <a:srgbClr val="13386B"/>
          </a:solidFill>
          <a:ln w="12700">
            <a:solidFill>
              <a:srgbClr val="13386B"/>
            </a:solidFill>
            <a:prstDash val="solid"/>
          </a:ln>
        </p:spPr>
      </p:sp>
      <p:sp>
        <p:nvSpPr>
          <p:cNvPr id="3" name="Shape 1"/>
          <p:cNvSpPr/>
          <p:nvPr/>
        </p:nvSpPr>
        <p:spPr>
          <a:xfrm>
            <a:off x="0" y="640080"/>
            <a:ext cx="12191695" cy="68580"/>
          </a:xfrm>
          <a:prstGeom prst="rect">
            <a:avLst/>
          </a:prstGeom>
          <a:solidFill>
            <a:srgbClr val="F5A11A"/>
          </a:solidFill>
          <a:ln w="12700">
            <a:solidFill>
              <a:srgbClr val="F5A11A"/>
            </a:solidFill>
            <a:prstDash val="solid"/>
          </a:ln>
        </p:spPr>
      </p:sp>
      <p:sp>
        <p:nvSpPr>
          <p:cNvPr id="4" name="Text 2"/>
          <p:cNvSpPr/>
          <p:nvPr/>
        </p:nvSpPr>
        <p:spPr>
          <a:xfrm>
            <a:off x="411480" y="155448"/>
            <a:ext cx="7818120" cy="320040"/>
          </a:xfrm>
          <a:prstGeom prst="rect">
            <a:avLst/>
          </a:prstGeom>
          <a:noFill/>
          <a:ln/>
        </p:spPr>
        <p:txBody>
          <a:bodyPr wrap="square" lIns="0" tIns="0" rIns="0" bIns="0" rtlCol="0" anchor="ctr"/>
          <a:lstStyle/>
          <a:p>
            <a:pPr indent="0" marL="0">
              <a:buNone/>
            </a:pPr>
            <a:r>
              <a:rPr lang="en-US" sz="2200" b="1" dirty="0">
                <a:solidFill>
                  <a:srgbClr val="FFFFFF"/>
                </a:solidFill>
                <a:latin typeface="Aptos Display" pitchFamily="34" charset="0"/>
                <a:ea typeface="Aptos Display" pitchFamily="34" charset="-122"/>
                <a:cs typeface="Aptos Display" pitchFamily="34" charset="-120"/>
              </a:rPr>
              <a:t>Other Standardized Problems</a:t>
            </a:r>
            <a:endParaRPr lang="en-US" sz="2200" dirty="0"/>
          </a:p>
        </p:txBody>
      </p:sp>
      <p:sp>
        <p:nvSpPr>
          <p:cNvPr id="5" name="Text 3"/>
          <p:cNvSpPr/>
          <p:nvPr/>
        </p:nvSpPr>
        <p:spPr>
          <a:xfrm>
            <a:off x="9253728" y="210312"/>
            <a:ext cx="2487168" cy="256032"/>
          </a:xfrm>
          <a:prstGeom prst="rect">
            <a:avLst/>
          </a:prstGeom>
          <a:noFill/>
          <a:ln/>
        </p:spPr>
        <p:txBody>
          <a:bodyPr wrap="square" lIns="0" tIns="0" rIns="0" bIns="0" rtlCol="0" anchor="ctr"/>
          <a:lstStyle/>
          <a:p>
            <a:pPr algn="r" indent="0" marL="0">
              <a:buNone/>
            </a:pPr>
            <a:r>
              <a:rPr lang="en-US" sz="850" dirty="0">
                <a:solidFill>
                  <a:srgbClr val="D9E5F2"/>
                </a:solidFill>
              </a:rPr>
              <a:t>COMP 469 · Chapter 3 · Sections 3.1–3.4</a:t>
            </a:r>
            <a:endParaRPr lang="en-US" sz="850" dirty="0"/>
          </a:p>
        </p:txBody>
      </p:sp>
      <p:pic>
        <p:nvPicPr>
          <p:cNvPr id="6" name="Image 0" descr="/mnt/data/ch3_odt_extract/Pictures/10000000000002770000018069929F94.png">    </p:cNvPr>
          <p:cNvPicPr>
            <a:picLocks noChangeAspect="1"/>
          </p:cNvPicPr>
          <p:nvPr/>
        </p:nvPicPr>
        <p:blipFill>
          <a:blip r:embed="rId1"/>
          <a:stretch>
            <a:fillRect/>
          </a:stretch>
        </p:blipFill>
        <p:spPr>
          <a:xfrm>
            <a:off x="640080" y="1005840"/>
            <a:ext cx="3429000" cy="2148840"/>
          </a:xfrm>
          <a:prstGeom prst="rect">
            <a:avLst/>
          </a:prstGeom>
        </p:spPr>
      </p:pic>
      <p:sp>
        <p:nvSpPr>
          <p:cNvPr id="7" name="Shape 4"/>
          <p:cNvSpPr/>
          <p:nvPr/>
        </p:nvSpPr>
        <p:spPr>
          <a:xfrm>
            <a:off x="685800" y="3364992"/>
            <a:ext cx="3337560" cy="960120"/>
          </a:xfrm>
          <a:prstGeom prst="roundRect">
            <a:avLst>
              <a:gd name="adj" fmla="val 5714"/>
            </a:avLst>
          </a:prstGeom>
          <a:solidFill>
            <a:srgbClr val="FFFFFF"/>
          </a:solidFill>
          <a:ln w="12700">
            <a:solidFill>
              <a:srgbClr val="D5DCE8"/>
            </a:solidFill>
            <a:prstDash val="solid"/>
          </a:ln>
        </p:spPr>
      </p:sp>
      <p:sp>
        <p:nvSpPr>
          <p:cNvPr id="8" name="Text 5"/>
          <p:cNvSpPr/>
          <p:nvPr/>
        </p:nvSpPr>
        <p:spPr>
          <a:xfrm>
            <a:off x="850392" y="3529584"/>
            <a:ext cx="3008376" cy="310896"/>
          </a:xfrm>
          <a:prstGeom prst="rect">
            <a:avLst/>
          </a:prstGeom>
          <a:noFill/>
          <a:ln/>
        </p:spPr>
        <p:txBody>
          <a:bodyPr wrap="square" lIns="762" tIns="762" rIns="762" bIns="762" rtlCol="0" anchor="t">
            <a:normAutofit/>
          </a:bodyPr>
          <a:lstStyle/>
          <a:p>
            <a:pPr algn="l" indent="0" marL="0">
              <a:buNone/>
            </a:pPr>
            <a:r>
              <a:rPr lang="en-US" sz="1400" b="1" dirty="0">
                <a:solidFill>
                  <a:srgbClr val="13386B"/>
                </a:solidFill>
                <a:latin typeface="Aptos" pitchFamily="34" charset="0"/>
                <a:ea typeface="Aptos" pitchFamily="34" charset="-122"/>
                <a:cs typeface="Aptos" pitchFamily="34" charset="-120"/>
              </a:rPr>
              <a:t>8-puzzle</a:t>
            </a:r>
            <a:endParaRPr lang="en-US" sz="1400" dirty="0"/>
          </a:p>
        </p:txBody>
      </p:sp>
      <p:sp>
        <p:nvSpPr>
          <p:cNvPr id="9" name="Text 6"/>
          <p:cNvSpPr/>
          <p:nvPr/>
        </p:nvSpPr>
        <p:spPr>
          <a:xfrm>
            <a:off x="850392" y="3895344"/>
            <a:ext cx="3008376" cy="301752"/>
          </a:xfrm>
          <a:prstGeom prst="rect">
            <a:avLst/>
          </a:prstGeom>
          <a:noFill/>
          <a:ln/>
        </p:spPr>
        <p:txBody>
          <a:bodyPr wrap="square" lIns="762" tIns="762" rIns="762" bIns="762" rtlCol="0" anchor="t">
            <a:normAutofit/>
          </a:bodyPr>
          <a:lstStyle/>
          <a:p>
            <a:pPr algn="l" indent="0" marL="0">
              <a:buNone/>
            </a:pPr>
            <a:r>
              <a:rPr lang="en-US" sz="1250" dirty="0">
                <a:solidFill>
                  <a:srgbClr val="111827"/>
                </a:solidFill>
                <a:latin typeface="Aptos" pitchFamily="34" charset="0"/>
                <a:ea typeface="Aptos" pitchFamily="34" charset="-122"/>
                <a:cs typeface="Aptos" pitchFamily="34" charset="-120"/>
              </a:rPr>
              <a:t>State = tile locations. Actions move the blank left, right, up, or down. Only half of initial states can reach any chosen goal.</a:t>
            </a:r>
            <a:endParaRPr lang="en-US" sz="1250" dirty="0"/>
          </a:p>
        </p:txBody>
      </p:sp>
      <p:pic>
        <p:nvPicPr>
          <p:cNvPr id="10" name="Image 1" descr="preencoded.png">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4297680" y="1097280"/>
            <a:ext cx="2971800" cy="685800"/>
          </a:xfrm>
          <a:prstGeom prst="rect">
            <a:avLst/>
          </a:prstGeom>
        </p:spPr>
      </p:pic>
      <p:sp>
        <p:nvSpPr>
          <p:cNvPr id="11" name="Shape 7"/>
          <p:cNvSpPr/>
          <p:nvPr/>
        </p:nvSpPr>
        <p:spPr>
          <a:xfrm>
            <a:off x="4251960" y="2057400"/>
            <a:ext cx="3246120" cy="2267712"/>
          </a:xfrm>
          <a:prstGeom prst="roundRect">
            <a:avLst>
              <a:gd name="adj" fmla="val 2419"/>
            </a:avLst>
          </a:prstGeom>
          <a:solidFill>
            <a:srgbClr val="FFFFFF"/>
          </a:solidFill>
          <a:ln w="12700">
            <a:solidFill>
              <a:srgbClr val="D5DCE8"/>
            </a:solidFill>
            <a:prstDash val="solid"/>
          </a:ln>
        </p:spPr>
      </p:sp>
      <p:sp>
        <p:nvSpPr>
          <p:cNvPr id="12" name="Text 8"/>
          <p:cNvSpPr/>
          <p:nvPr/>
        </p:nvSpPr>
        <p:spPr>
          <a:xfrm>
            <a:off x="4416552" y="2221992"/>
            <a:ext cx="2916936" cy="310896"/>
          </a:xfrm>
          <a:prstGeom prst="rect">
            <a:avLst/>
          </a:prstGeom>
          <a:noFill/>
          <a:ln/>
        </p:spPr>
        <p:txBody>
          <a:bodyPr wrap="square" lIns="762" tIns="762" rIns="762" bIns="762" rtlCol="0" anchor="t">
            <a:normAutofit/>
          </a:bodyPr>
          <a:lstStyle/>
          <a:p>
            <a:pPr algn="l" indent="0" marL="0">
              <a:buNone/>
            </a:pPr>
            <a:r>
              <a:rPr lang="en-US" sz="1400" b="1" dirty="0">
                <a:solidFill>
                  <a:srgbClr val="7A2E54"/>
                </a:solidFill>
                <a:latin typeface="Aptos" pitchFamily="34" charset="0"/>
                <a:ea typeface="Aptos" pitchFamily="34" charset="-122"/>
                <a:cs typeface="Aptos" pitchFamily="34" charset="-120"/>
              </a:rPr>
              <a:t>Sokoban</a:t>
            </a:r>
            <a:endParaRPr lang="en-US" sz="1400" dirty="0"/>
          </a:p>
        </p:txBody>
      </p:sp>
      <p:sp>
        <p:nvSpPr>
          <p:cNvPr id="13" name="Text 9"/>
          <p:cNvSpPr/>
          <p:nvPr/>
        </p:nvSpPr>
        <p:spPr>
          <a:xfrm>
            <a:off x="4416552" y="2587752"/>
            <a:ext cx="2916936" cy="1609344"/>
          </a:xfrm>
          <a:prstGeom prst="rect">
            <a:avLst/>
          </a:prstGeom>
          <a:noFill/>
          <a:ln/>
        </p:spPr>
        <p:txBody>
          <a:bodyPr wrap="square" lIns="762" tIns="762" rIns="762" bIns="762" rtlCol="0" anchor="t">
            <a:normAutofit/>
          </a:bodyPr>
          <a:lstStyle/>
          <a:p>
            <a:pPr algn="l" indent="0" marL="0">
              <a:buNone/>
            </a:pPr>
            <a:r>
              <a:rPr lang="en-US" sz="1250" dirty="0">
                <a:solidFill>
                  <a:srgbClr val="111827"/>
                </a:solidFill>
                <a:latin typeface="Aptos" pitchFamily="34" charset="0"/>
                <a:ea typeface="Aptos" pitchFamily="34" charset="-122"/>
                <a:cs typeface="Aptos" pitchFamily="34" charset="-120"/>
              </a:rPr>
              <a:t>The agent pushes boxes to storage locations. With n non-obstacle cells and b boxes, the state count becomes enormous; the ODT formula is shown here in rendered form.</a:t>
            </a:r>
            <a:endParaRPr lang="en-US" sz="1250" dirty="0"/>
          </a:p>
        </p:txBody>
      </p:sp>
      <p:pic>
        <p:nvPicPr>
          <p:cNvPr id="14" name="Image 2" descr="/mnt/data/ch3_odt_extract/Pictures/10000000000000F2000000978F507B3D.png">    </p:cNvPr>
          <p:cNvPicPr>
            <a:picLocks noChangeAspect="1"/>
          </p:cNvPicPr>
          <p:nvPr/>
        </p:nvPicPr>
        <p:blipFill>
          <a:blip r:embed="rId4"/>
          <a:stretch>
            <a:fillRect/>
          </a:stretch>
        </p:blipFill>
        <p:spPr>
          <a:xfrm>
            <a:off x="7818120" y="1097280"/>
            <a:ext cx="3474720" cy="1463040"/>
          </a:xfrm>
          <a:prstGeom prst="rect">
            <a:avLst/>
          </a:prstGeom>
        </p:spPr>
      </p:pic>
      <p:sp>
        <p:nvSpPr>
          <p:cNvPr id="15" name="Shape 10"/>
          <p:cNvSpPr/>
          <p:nvPr/>
        </p:nvSpPr>
        <p:spPr>
          <a:xfrm>
            <a:off x="7726680" y="2834640"/>
            <a:ext cx="3611880" cy="1490472"/>
          </a:xfrm>
          <a:prstGeom prst="roundRect">
            <a:avLst>
              <a:gd name="adj" fmla="val 3681"/>
            </a:avLst>
          </a:prstGeom>
          <a:solidFill>
            <a:srgbClr val="FFFFFF"/>
          </a:solidFill>
          <a:ln w="12700">
            <a:solidFill>
              <a:srgbClr val="D5DCE8"/>
            </a:solidFill>
            <a:prstDash val="solid"/>
          </a:ln>
        </p:spPr>
      </p:sp>
      <p:sp>
        <p:nvSpPr>
          <p:cNvPr id="16" name="Text 11"/>
          <p:cNvSpPr/>
          <p:nvPr/>
        </p:nvSpPr>
        <p:spPr>
          <a:xfrm>
            <a:off x="7891272" y="2999232"/>
            <a:ext cx="3282696" cy="310896"/>
          </a:xfrm>
          <a:prstGeom prst="rect">
            <a:avLst/>
          </a:prstGeom>
          <a:noFill/>
          <a:ln/>
        </p:spPr>
        <p:txBody>
          <a:bodyPr wrap="square" lIns="762" tIns="762" rIns="762" bIns="762" rtlCol="0" anchor="t">
            <a:normAutofit/>
          </a:bodyPr>
          <a:lstStyle/>
          <a:p>
            <a:pPr algn="l" indent="0" marL="0">
              <a:buNone/>
            </a:pPr>
            <a:r>
              <a:rPr lang="en-US" sz="1400" b="1" dirty="0">
                <a:solidFill>
                  <a:srgbClr val="0F8B8D"/>
                </a:solidFill>
                <a:latin typeface="Aptos" pitchFamily="34" charset="0"/>
                <a:ea typeface="Aptos" pitchFamily="34" charset="-122"/>
                <a:cs typeface="Aptos" pitchFamily="34" charset="-120"/>
              </a:rPr>
              <a:t>Knuth’s 4 problem</a:t>
            </a:r>
            <a:endParaRPr lang="en-US" sz="1400" dirty="0"/>
          </a:p>
        </p:txBody>
      </p:sp>
      <p:sp>
        <p:nvSpPr>
          <p:cNvPr id="17" name="Text 12"/>
          <p:cNvSpPr/>
          <p:nvPr/>
        </p:nvSpPr>
        <p:spPr>
          <a:xfrm>
            <a:off x="7891272" y="3364992"/>
            <a:ext cx="3282696" cy="832104"/>
          </a:xfrm>
          <a:prstGeom prst="rect">
            <a:avLst/>
          </a:prstGeom>
          <a:noFill/>
          <a:ln/>
        </p:spPr>
        <p:txBody>
          <a:bodyPr wrap="square" lIns="762" tIns="762" rIns="762" bIns="762" rtlCol="0" anchor="t">
            <a:normAutofit/>
          </a:bodyPr>
          <a:lstStyle/>
          <a:p>
            <a:pPr algn="l" indent="0" marL="0">
              <a:buNone/>
            </a:pPr>
            <a:r>
              <a:rPr lang="en-US" sz="1250" dirty="0">
                <a:solidFill>
                  <a:srgbClr val="111827"/>
                </a:solidFill>
                <a:latin typeface="Aptos" pitchFamily="34" charset="0"/>
                <a:ea typeface="Aptos" pitchFamily="34" charset="-122"/>
                <a:cs typeface="Aptos" pitchFamily="34" charset="-120"/>
              </a:rPr>
              <a:t>States are positive real numbers; actions include square root, floor, and factorial. The state space is infinite.</a:t>
            </a:r>
            <a:endParaRPr lang="en-US" sz="1250" dirty="0"/>
          </a:p>
        </p:txBody>
      </p:sp>
      <p:sp>
        <p:nvSpPr>
          <p:cNvPr id="18" name="Text 13"/>
          <p:cNvSpPr/>
          <p:nvPr/>
        </p:nvSpPr>
        <p:spPr>
          <a:xfrm>
            <a:off x="11475720" y="6510528"/>
            <a:ext cx="320040" cy="164592"/>
          </a:xfrm>
          <a:prstGeom prst="rect">
            <a:avLst/>
          </a:prstGeom>
          <a:noFill/>
          <a:ln/>
        </p:spPr>
        <p:txBody>
          <a:bodyPr wrap="square" lIns="0" tIns="0" rIns="0" bIns="0" rtlCol="0" anchor="ctr"/>
          <a:lstStyle/>
          <a:p>
            <a:pPr algn="r" indent="0" marL="0">
              <a:buNone/>
            </a:pPr>
            <a:r>
              <a:rPr lang="en-US" sz="800" dirty="0">
                <a:solidFill>
                  <a:srgbClr val="6B7280"/>
                </a:solidFill>
              </a:rPr>
              <a:t>14</a:t>
            </a:r>
            <a:endParaRPr lang="en-US" sz="800" dirty="0"/>
          </a:p>
        </p:txBody>
      </p:sp>
      <p:sp>
        <p:nvSpPr>
          <p:cNvPr id="19" name="Text 14"/>
          <p:cNvSpPr/>
          <p:nvPr/>
        </p:nvSpPr>
        <p:spPr>
          <a:xfrm>
            <a:off x="411480" y="6510528"/>
            <a:ext cx="3200400" cy="164592"/>
          </a:xfrm>
          <a:prstGeom prst="rect">
            <a:avLst/>
          </a:prstGeom>
          <a:noFill/>
          <a:ln/>
        </p:spPr>
        <p:txBody>
          <a:bodyPr wrap="square" lIns="0" tIns="0" rIns="0" bIns="0" rtlCol="0" anchor="ctr"/>
          <a:lstStyle/>
          <a:p>
            <a:pPr indent="0" marL="0">
              <a:buNone/>
            </a:pPr>
            <a:r>
              <a:rPr lang="en-US" sz="750" dirty="0">
                <a:solidFill>
                  <a:srgbClr val="6B7280"/>
                </a:solidFill>
              </a:rPr>
              <a:t>CSU Channel Islands · COMP 469</a:t>
            </a:r>
            <a:endParaRPr lang="en-US" sz="7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5F7FB"/>
        </a:solidFill>
      </p:bgPr>
    </p:bg>
    <p:spTree>
      <p:nvGrpSpPr>
        <p:cNvPr id="1" name=""/>
        <p:cNvGrpSpPr/>
        <p:nvPr/>
      </p:nvGrpSpPr>
      <p:grpSpPr>
        <a:xfrm>
          <a:off x="0" y="0"/>
          <a:ext cx="0" cy="0"/>
          <a:chOff x="0" y="0"/>
          <a:chExt cx="0" cy="0"/>
        </a:xfrm>
      </p:grpSpPr>
      <p:sp>
        <p:nvSpPr>
          <p:cNvPr id="2" name="Shape 0"/>
          <p:cNvSpPr/>
          <p:nvPr/>
        </p:nvSpPr>
        <p:spPr>
          <a:xfrm>
            <a:off x="0" y="0"/>
            <a:ext cx="12191695" cy="640080"/>
          </a:xfrm>
          <a:prstGeom prst="rect">
            <a:avLst/>
          </a:prstGeom>
          <a:solidFill>
            <a:srgbClr val="13386B"/>
          </a:solidFill>
          <a:ln w="12700">
            <a:solidFill>
              <a:srgbClr val="13386B"/>
            </a:solidFill>
            <a:prstDash val="solid"/>
          </a:ln>
        </p:spPr>
      </p:sp>
      <p:sp>
        <p:nvSpPr>
          <p:cNvPr id="3" name="Shape 1"/>
          <p:cNvSpPr/>
          <p:nvPr/>
        </p:nvSpPr>
        <p:spPr>
          <a:xfrm>
            <a:off x="0" y="640080"/>
            <a:ext cx="12191695" cy="68580"/>
          </a:xfrm>
          <a:prstGeom prst="rect">
            <a:avLst/>
          </a:prstGeom>
          <a:solidFill>
            <a:srgbClr val="F5A11A"/>
          </a:solidFill>
          <a:ln w="12700">
            <a:solidFill>
              <a:srgbClr val="F5A11A"/>
            </a:solidFill>
            <a:prstDash val="solid"/>
          </a:ln>
        </p:spPr>
      </p:sp>
      <p:sp>
        <p:nvSpPr>
          <p:cNvPr id="4" name="Text 2"/>
          <p:cNvSpPr/>
          <p:nvPr/>
        </p:nvSpPr>
        <p:spPr>
          <a:xfrm>
            <a:off x="411480" y="155448"/>
            <a:ext cx="7818120" cy="320040"/>
          </a:xfrm>
          <a:prstGeom prst="rect">
            <a:avLst/>
          </a:prstGeom>
          <a:noFill/>
          <a:ln/>
        </p:spPr>
        <p:txBody>
          <a:bodyPr wrap="square" lIns="0" tIns="0" rIns="0" bIns="0" rtlCol="0" anchor="ctr"/>
          <a:lstStyle/>
          <a:p>
            <a:pPr indent="0" marL="0">
              <a:buNone/>
            </a:pPr>
            <a:r>
              <a:rPr lang="en-US" sz="2200" b="1" dirty="0">
                <a:solidFill>
                  <a:srgbClr val="FFFFFF"/>
                </a:solidFill>
                <a:latin typeface="Aptos Display" pitchFamily="34" charset="0"/>
                <a:ea typeface="Aptos Display" pitchFamily="34" charset="-122"/>
                <a:cs typeface="Aptos Display" pitchFamily="34" charset="-120"/>
              </a:rPr>
              <a:t>Real-World Problems: Same Formalism, Messier Details</a:t>
            </a:r>
            <a:endParaRPr lang="en-US" sz="2200" dirty="0"/>
          </a:p>
        </p:txBody>
      </p:sp>
      <p:sp>
        <p:nvSpPr>
          <p:cNvPr id="5" name="Text 3"/>
          <p:cNvSpPr/>
          <p:nvPr/>
        </p:nvSpPr>
        <p:spPr>
          <a:xfrm>
            <a:off x="9253728" y="210312"/>
            <a:ext cx="2487168" cy="256032"/>
          </a:xfrm>
          <a:prstGeom prst="rect">
            <a:avLst/>
          </a:prstGeom>
          <a:noFill/>
          <a:ln/>
        </p:spPr>
        <p:txBody>
          <a:bodyPr wrap="square" lIns="0" tIns="0" rIns="0" bIns="0" rtlCol="0" anchor="ctr"/>
          <a:lstStyle/>
          <a:p>
            <a:pPr algn="r" indent="0" marL="0">
              <a:buNone/>
            </a:pPr>
            <a:r>
              <a:rPr lang="en-US" sz="850" dirty="0">
                <a:solidFill>
                  <a:srgbClr val="D9E5F2"/>
                </a:solidFill>
              </a:rPr>
              <a:t>COMP 469 · Chapter 3 · Sections 3.1–3.4</a:t>
            </a:r>
            <a:endParaRPr lang="en-US" sz="850" dirty="0"/>
          </a:p>
        </p:txBody>
      </p:sp>
      <p:sp>
        <p:nvSpPr>
          <p:cNvPr id="6" name="Shape 4"/>
          <p:cNvSpPr/>
          <p:nvPr/>
        </p:nvSpPr>
        <p:spPr>
          <a:xfrm>
            <a:off x="685800" y="960120"/>
            <a:ext cx="5166360" cy="1069848"/>
          </a:xfrm>
          <a:prstGeom prst="roundRect">
            <a:avLst>
              <a:gd name="adj" fmla="val 5128"/>
            </a:avLst>
          </a:prstGeom>
          <a:solidFill>
            <a:srgbClr val="FFFFFF"/>
          </a:solidFill>
          <a:ln w="12700">
            <a:solidFill>
              <a:srgbClr val="D5DCE8"/>
            </a:solidFill>
            <a:prstDash val="solid"/>
          </a:ln>
        </p:spPr>
      </p:sp>
      <p:sp>
        <p:nvSpPr>
          <p:cNvPr id="7" name="Text 5"/>
          <p:cNvSpPr/>
          <p:nvPr/>
        </p:nvSpPr>
        <p:spPr>
          <a:xfrm>
            <a:off x="850392" y="1124712"/>
            <a:ext cx="4837176" cy="310896"/>
          </a:xfrm>
          <a:prstGeom prst="rect">
            <a:avLst/>
          </a:prstGeom>
          <a:noFill/>
          <a:ln/>
        </p:spPr>
        <p:txBody>
          <a:bodyPr wrap="square" lIns="762" tIns="762" rIns="762" bIns="762" rtlCol="0" anchor="t">
            <a:normAutofit/>
          </a:bodyPr>
          <a:lstStyle/>
          <a:p>
            <a:pPr algn="l" indent="0" marL="0">
              <a:buNone/>
            </a:pPr>
            <a:r>
              <a:rPr lang="en-US" sz="1400" b="1" dirty="0">
                <a:solidFill>
                  <a:srgbClr val="13386B"/>
                </a:solidFill>
                <a:latin typeface="Aptos" pitchFamily="34" charset="0"/>
                <a:ea typeface="Aptos" pitchFamily="34" charset="-122"/>
                <a:cs typeface="Aptos" pitchFamily="34" charset="-120"/>
              </a:rPr>
              <a:t>Route finding</a:t>
            </a:r>
            <a:endParaRPr lang="en-US" sz="1400" dirty="0"/>
          </a:p>
        </p:txBody>
      </p:sp>
      <p:sp>
        <p:nvSpPr>
          <p:cNvPr id="8" name="Text 6"/>
          <p:cNvSpPr/>
          <p:nvPr/>
        </p:nvSpPr>
        <p:spPr>
          <a:xfrm>
            <a:off x="850392" y="1490472"/>
            <a:ext cx="4837176" cy="411480"/>
          </a:xfrm>
          <a:prstGeom prst="rect">
            <a:avLst/>
          </a:prstGeom>
          <a:noFill/>
          <a:ln/>
        </p:spPr>
        <p:txBody>
          <a:bodyPr wrap="square" lIns="762" tIns="762" rIns="762" bIns="762" rtlCol="0" anchor="t">
            <a:normAutofit/>
          </a:bodyPr>
          <a:lstStyle/>
          <a:p>
            <a:pPr algn="l" indent="0" marL="0">
              <a:buNone/>
            </a:pPr>
            <a:r>
              <a:rPr lang="en-US" sz="1250" dirty="0">
                <a:solidFill>
                  <a:srgbClr val="111827"/>
                </a:solidFill>
                <a:latin typeface="Aptos" pitchFamily="34" charset="0"/>
                <a:ea typeface="Aptos" pitchFamily="34" charset="-122"/>
                <a:cs typeface="Aptos" pitchFamily="34" charset="-120"/>
              </a:rPr>
              <a:t>Locations and transitions; costs may include traffic, closures, fuel, or time.</a:t>
            </a:r>
            <a:endParaRPr lang="en-US" sz="1250" dirty="0"/>
          </a:p>
        </p:txBody>
      </p:sp>
      <p:sp>
        <p:nvSpPr>
          <p:cNvPr id="9" name="Shape 7"/>
          <p:cNvSpPr/>
          <p:nvPr/>
        </p:nvSpPr>
        <p:spPr>
          <a:xfrm>
            <a:off x="6217920" y="960120"/>
            <a:ext cx="5166360" cy="1069848"/>
          </a:xfrm>
          <a:prstGeom prst="roundRect">
            <a:avLst>
              <a:gd name="adj" fmla="val 5128"/>
            </a:avLst>
          </a:prstGeom>
          <a:solidFill>
            <a:srgbClr val="FFFFFF"/>
          </a:solidFill>
          <a:ln w="12700">
            <a:solidFill>
              <a:srgbClr val="D5DCE8"/>
            </a:solidFill>
            <a:prstDash val="solid"/>
          </a:ln>
        </p:spPr>
      </p:sp>
      <p:sp>
        <p:nvSpPr>
          <p:cNvPr id="10" name="Text 8"/>
          <p:cNvSpPr/>
          <p:nvPr/>
        </p:nvSpPr>
        <p:spPr>
          <a:xfrm>
            <a:off x="6382512" y="1124712"/>
            <a:ext cx="4837176" cy="310896"/>
          </a:xfrm>
          <a:prstGeom prst="rect">
            <a:avLst/>
          </a:prstGeom>
          <a:noFill/>
          <a:ln/>
        </p:spPr>
        <p:txBody>
          <a:bodyPr wrap="square" lIns="762" tIns="762" rIns="762" bIns="762" rtlCol="0" anchor="t">
            <a:normAutofit/>
          </a:bodyPr>
          <a:lstStyle/>
          <a:p>
            <a:pPr algn="l" indent="0" marL="0">
              <a:buNone/>
            </a:pPr>
            <a:r>
              <a:rPr lang="en-US" sz="1400" b="1" dirty="0">
                <a:solidFill>
                  <a:srgbClr val="0F8B8D"/>
                </a:solidFill>
                <a:latin typeface="Aptos" pitchFamily="34" charset="0"/>
                <a:ea typeface="Aptos" pitchFamily="34" charset="-122"/>
                <a:cs typeface="Aptos" pitchFamily="34" charset="-120"/>
              </a:rPr>
              <a:t>Airline planning</a:t>
            </a:r>
            <a:endParaRPr lang="en-US" sz="1400" dirty="0"/>
          </a:p>
        </p:txBody>
      </p:sp>
      <p:sp>
        <p:nvSpPr>
          <p:cNvPr id="11" name="Text 9"/>
          <p:cNvSpPr/>
          <p:nvPr/>
        </p:nvSpPr>
        <p:spPr>
          <a:xfrm>
            <a:off x="6382512" y="1490472"/>
            <a:ext cx="4837176" cy="411480"/>
          </a:xfrm>
          <a:prstGeom prst="rect">
            <a:avLst/>
          </a:prstGeom>
          <a:noFill/>
          <a:ln/>
        </p:spPr>
        <p:txBody>
          <a:bodyPr wrap="square" lIns="762" tIns="762" rIns="762" bIns="762" rtlCol="0" anchor="t">
            <a:normAutofit/>
          </a:bodyPr>
          <a:lstStyle/>
          <a:p>
            <a:pPr algn="l" indent="0" marL="0">
              <a:buNone/>
            </a:pPr>
            <a:r>
              <a:rPr lang="en-US" sz="1250" dirty="0">
                <a:solidFill>
                  <a:srgbClr val="111827"/>
                </a:solidFill>
                <a:latin typeface="Aptos" pitchFamily="34" charset="0"/>
                <a:ea typeface="Aptos" pitchFamily="34" charset="-122"/>
                <a:cs typeface="Aptos" pitchFamily="34" charset="-120"/>
              </a:rPr>
              <a:t>State includes airport, time, fares, domestic/international status, connection constraints.</a:t>
            </a:r>
            <a:endParaRPr lang="en-US" sz="1250" dirty="0"/>
          </a:p>
        </p:txBody>
      </p:sp>
      <p:sp>
        <p:nvSpPr>
          <p:cNvPr id="12" name="Shape 10"/>
          <p:cNvSpPr/>
          <p:nvPr/>
        </p:nvSpPr>
        <p:spPr>
          <a:xfrm>
            <a:off x="685800" y="2441448"/>
            <a:ext cx="5166360" cy="1069848"/>
          </a:xfrm>
          <a:prstGeom prst="roundRect">
            <a:avLst>
              <a:gd name="adj" fmla="val 5128"/>
            </a:avLst>
          </a:prstGeom>
          <a:solidFill>
            <a:srgbClr val="FFFFFF"/>
          </a:solidFill>
          <a:ln w="12700">
            <a:solidFill>
              <a:srgbClr val="D5DCE8"/>
            </a:solidFill>
            <a:prstDash val="solid"/>
          </a:ln>
        </p:spPr>
      </p:sp>
      <p:sp>
        <p:nvSpPr>
          <p:cNvPr id="13" name="Text 11"/>
          <p:cNvSpPr/>
          <p:nvPr/>
        </p:nvSpPr>
        <p:spPr>
          <a:xfrm>
            <a:off x="850392" y="2606040"/>
            <a:ext cx="4837176" cy="310896"/>
          </a:xfrm>
          <a:prstGeom prst="rect">
            <a:avLst/>
          </a:prstGeom>
          <a:noFill/>
          <a:ln/>
        </p:spPr>
        <p:txBody>
          <a:bodyPr wrap="square" lIns="762" tIns="762" rIns="762" bIns="762" rtlCol="0" anchor="t">
            <a:normAutofit/>
          </a:bodyPr>
          <a:lstStyle/>
          <a:p>
            <a:pPr algn="l" indent="0" marL="0">
              <a:buNone/>
            </a:pPr>
            <a:r>
              <a:rPr lang="en-US" sz="1400" b="1" dirty="0">
                <a:solidFill>
                  <a:srgbClr val="13386B"/>
                </a:solidFill>
                <a:latin typeface="Aptos" pitchFamily="34" charset="0"/>
                <a:ea typeface="Aptos" pitchFamily="34" charset="-122"/>
                <a:cs typeface="Aptos" pitchFamily="34" charset="-120"/>
              </a:rPr>
              <a:t>Touring / TSP</a:t>
            </a:r>
            <a:endParaRPr lang="en-US" sz="1400" dirty="0"/>
          </a:p>
        </p:txBody>
      </p:sp>
      <p:sp>
        <p:nvSpPr>
          <p:cNvPr id="14" name="Text 12"/>
          <p:cNvSpPr/>
          <p:nvPr/>
        </p:nvSpPr>
        <p:spPr>
          <a:xfrm>
            <a:off x="850392" y="2971800"/>
            <a:ext cx="4837176" cy="411480"/>
          </a:xfrm>
          <a:prstGeom prst="rect">
            <a:avLst/>
          </a:prstGeom>
          <a:noFill/>
          <a:ln/>
        </p:spPr>
        <p:txBody>
          <a:bodyPr wrap="square" lIns="762" tIns="762" rIns="762" bIns="762" rtlCol="0" anchor="t">
            <a:normAutofit/>
          </a:bodyPr>
          <a:lstStyle/>
          <a:p>
            <a:pPr algn="l" indent="0" marL="0">
              <a:buNone/>
            </a:pPr>
            <a:r>
              <a:rPr lang="en-US" sz="1250" dirty="0">
                <a:solidFill>
                  <a:srgbClr val="111827"/>
                </a:solidFill>
                <a:latin typeface="Aptos" pitchFamily="34" charset="0"/>
                <a:ea typeface="Aptos" pitchFamily="34" charset="-122"/>
                <a:cs typeface="Aptos" pitchFamily="34" charset="-120"/>
              </a:rPr>
              <a:t>Must visit a set of locations, not just one destination.</a:t>
            </a:r>
            <a:endParaRPr lang="en-US" sz="1250" dirty="0"/>
          </a:p>
        </p:txBody>
      </p:sp>
      <p:sp>
        <p:nvSpPr>
          <p:cNvPr id="15" name="Shape 13"/>
          <p:cNvSpPr/>
          <p:nvPr/>
        </p:nvSpPr>
        <p:spPr>
          <a:xfrm>
            <a:off x="6217920" y="2441448"/>
            <a:ext cx="5166360" cy="1069848"/>
          </a:xfrm>
          <a:prstGeom prst="roundRect">
            <a:avLst>
              <a:gd name="adj" fmla="val 5128"/>
            </a:avLst>
          </a:prstGeom>
          <a:solidFill>
            <a:srgbClr val="FFFFFF"/>
          </a:solidFill>
          <a:ln w="12700">
            <a:solidFill>
              <a:srgbClr val="D5DCE8"/>
            </a:solidFill>
            <a:prstDash val="solid"/>
          </a:ln>
        </p:spPr>
      </p:sp>
      <p:sp>
        <p:nvSpPr>
          <p:cNvPr id="16" name="Text 14"/>
          <p:cNvSpPr/>
          <p:nvPr/>
        </p:nvSpPr>
        <p:spPr>
          <a:xfrm>
            <a:off x="6382512" y="2606040"/>
            <a:ext cx="4837176" cy="310896"/>
          </a:xfrm>
          <a:prstGeom prst="rect">
            <a:avLst/>
          </a:prstGeom>
          <a:noFill/>
          <a:ln/>
        </p:spPr>
        <p:txBody>
          <a:bodyPr wrap="square" lIns="762" tIns="762" rIns="762" bIns="762" rtlCol="0" anchor="t">
            <a:normAutofit/>
          </a:bodyPr>
          <a:lstStyle/>
          <a:p>
            <a:pPr algn="l" indent="0" marL="0">
              <a:buNone/>
            </a:pPr>
            <a:r>
              <a:rPr lang="en-US" sz="1400" b="1" dirty="0">
                <a:solidFill>
                  <a:srgbClr val="0F8B8D"/>
                </a:solidFill>
                <a:latin typeface="Aptos" pitchFamily="34" charset="0"/>
                <a:ea typeface="Aptos" pitchFamily="34" charset="-122"/>
                <a:cs typeface="Aptos" pitchFamily="34" charset="-120"/>
              </a:rPr>
              <a:t>VLSI layout</a:t>
            </a:r>
            <a:endParaRPr lang="en-US" sz="1400" dirty="0"/>
          </a:p>
        </p:txBody>
      </p:sp>
      <p:sp>
        <p:nvSpPr>
          <p:cNvPr id="17" name="Text 15"/>
          <p:cNvSpPr/>
          <p:nvPr/>
        </p:nvSpPr>
        <p:spPr>
          <a:xfrm>
            <a:off x="6382512" y="2971800"/>
            <a:ext cx="4837176" cy="411480"/>
          </a:xfrm>
          <a:prstGeom prst="rect">
            <a:avLst/>
          </a:prstGeom>
          <a:noFill/>
          <a:ln/>
        </p:spPr>
        <p:txBody>
          <a:bodyPr wrap="square" lIns="762" tIns="762" rIns="762" bIns="762" rtlCol="0" anchor="t">
            <a:normAutofit/>
          </a:bodyPr>
          <a:lstStyle/>
          <a:p>
            <a:pPr algn="l" indent="0" marL="0">
              <a:buNone/>
            </a:pPr>
            <a:r>
              <a:rPr lang="en-US" sz="1250" dirty="0">
                <a:solidFill>
                  <a:srgbClr val="111827"/>
                </a:solidFill>
                <a:latin typeface="Aptos" pitchFamily="34" charset="0"/>
                <a:ea typeface="Aptos" pitchFamily="34" charset="-122"/>
                <a:cs typeface="Aptos" pitchFamily="34" charset="-120"/>
              </a:rPr>
              <a:t>Place components and route wires while optimizing area, delay, capacitance, yield.</a:t>
            </a:r>
            <a:endParaRPr lang="en-US" sz="1250" dirty="0"/>
          </a:p>
        </p:txBody>
      </p:sp>
      <p:sp>
        <p:nvSpPr>
          <p:cNvPr id="18" name="Shape 16"/>
          <p:cNvSpPr/>
          <p:nvPr/>
        </p:nvSpPr>
        <p:spPr>
          <a:xfrm>
            <a:off x="685800" y="3922776"/>
            <a:ext cx="5166360" cy="1069848"/>
          </a:xfrm>
          <a:prstGeom prst="roundRect">
            <a:avLst>
              <a:gd name="adj" fmla="val 5128"/>
            </a:avLst>
          </a:prstGeom>
          <a:solidFill>
            <a:srgbClr val="FFFFFF"/>
          </a:solidFill>
          <a:ln w="12700">
            <a:solidFill>
              <a:srgbClr val="D5DCE8"/>
            </a:solidFill>
            <a:prstDash val="solid"/>
          </a:ln>
        </p:spPr>
      </p:sp>
      <p:sp>
        <p:nvSpPr>
          <p:cNvPr id="19" name="Text 17"/>
          <p:cNvSpPr/>
          <p:nvPr/>
        </p:nvSpPr>
        <p:spPr>
          <a:xfrm>
            <a:off x="850392" y="4087368"/>
            <a:ext cx="4837176" cy="310896"/>
          </a:xfrm>
          <a:prstGeom prst="rect">
            <a:avLst/>
          </a:prstGeom>
          <a:noFill/>
          <a:ln/>
        </p:spPr>
        <p:txBody>
          <a:bodyPr wrap="square" lIns="762" tIns="762" rIns="762" bIns="762" rtlCol="0" anchor="t">
            <a:normAutofit/>
          </a:bodyPr>
          <a:lstStyle/>
          <a:p>
            <a:pPr algn="l" indent="0" marL="0">
              <a:buNone/>
            </a:pPr>
            <a:r>
              <a:rPr lang="en-US" sz="1400" b="1" dirty="0">
                <a:solidFill>
                  <a:srgbClr val="13386B"/>
                </a:solidFill>
                <a:latin typeface="Aptos" pitchFamily="34" charset="0"/>
                <a:ea typeface="Aptos" pitchFamily="34" charset="-122"/>
                <a:cs typeface="Aptos" pitchFamily="34" charset="-120"/>
              </a:rPr>
              <a:t>Robot navigation</a:t>
            </a:r>
            <a:endParaRPr lang="en-US" sz="1400" dirty="0"/>
          </a:p>
        </p:txBody>
      </p:sp>
      <p:sp>
        <p:nvSpPr>
          <p:cNvPr id="20" name="Text 18"/>
          <p:cNvSpPr/>
          <p:nvPr/>
        </p:nvSpPr>
        <p:spPr>
          <a:xfrm>
            <a:off x="850392" y="4453128"/>
            <a:ext cx="4837176" cy="411480"/>
          </a:xfrm>
          <a:prstGeom prst="rect">
            <a:avLst/>
          </a:prstGeom>
          <a:noFill/>
          <a:ln/>
        </p:spPr>
        <p:txBody>
          <a:bodyPr wrap="square" lIns="762" tIns="762" rIns="762" bIns="762" rtlCol="0" anchor="t">
            <a:normAutofit/>
          </a:bodyPr>
          <a:lstStyle/>
          <a:p>
            <a:pPr algn="l" indent="0" marL="0">
              <a:buNone/>
            </a:pPr>
            <a:r>
              <a:rPr lang="en-US" sz="1250" dirty="0">
                <a:solidFill>
                  <a:srgbClr val="111827"/>
                </a:solidFill>
                <a:latin typeface="Aptos" pitchFamily="34" charset="0"/>
                <a:ea typeface="Aptos" pitchFamily="34" charset="-122"/>
                <a:cs typeface="Aptos" pitchFamily="34" charset="-120"/>
              </a:rPr>
              <a:t>Continuous geometry, sensor error, motor error, obstacles, and other agents.</a:t>
            </a:r>
            <a:endParaRPr lang="en-US" sz="1250" dirty="0"/>
          </a:p>
        </p:txBody>
      </p:sp>
      <p:sp>
        <p:nvSpPr>
          <p:cNvPr id="21" name="Shape 19"/>
          <p:cNvSpPr/>
          <p:nvPr/>
        </p:nvSpPr>
        <p:spPr>
          <a:xfrm>
            <a:off x="6217920" y="3922776"/>
            <a:ext cx="5166360" cy="1069848"/>
          </a:xfrm>
          <a:prstGeom prst="roundRect">
            <a:avLst>
              <a:gd name="adj" fmla="val 5128"/>
            </a:avLst>
          </a:prstGeom>
          <a:solidFill>
            <a:srgbClr val="FFFFFF"/>
          </a:solidFill>
          <a:ln w="12700">
            <a:solidFill>
              <a:srgbClr val="D5DCE8"/>
            </a:solidFill>
            <a:prstDash val="solid"/>
          </a:ln>
        </p:spPr>
      </p:sp>
      <p:sp>
        <p:nvSpPr>
          <p:cNvPr id="22" name="Text 20"/>
          <p:cNvSpPr/>
          <p:nvPr/>
        </p:nvSpPr>
        <p:spPr>
          <a:xfrm>
            <a:off x="6382512" y="4087368"/>
            <a:ext cx="4837176" cy="310896"/>
          </a:xfrm>
          <a:prstGeom prst="rect">
            <a:avLst/>
          </a:prstGeom>
          <a:noFill/>
          <a:ln/>
        </p:spPr>
        <p:txBody>
          <a:bodyPr wrap="square" lIns="762" tIns="762" rIns="762" bIns="762" rtlCol="0" anchor="t">
            <a:normAutofit/>
          </a:bodyPr>
          <a:lstStyle/>
          <a:p>
            <a:pPr algn="l" indent="0" marL="0">
              <a:buNone/>
            </a:pPr>
            <a:r>
              <a:rPr lang="en-US" sz="1400" b="1" dirty="0">
                <a:solidFill>
                  <a:srgbClr val="0F8B8D"/>
                </a:solidFill>
                <a:latin typeface="Aptos" pitchFamily="34" charset="0"/>
                <a:ea typeface="Aptos" pitchFamily="34" charset="-122"/>
                <a:cs typeface="Aptos" pitchFamily="34" charset="-120"/>
              </a:rPr>
              <a:t>Assembly sequencing</a:t>
            </a:r>
            <a:endParaRPr lang="en-US" sz="1400" dirty="0"/>
          </a:p>
        </p:txBody>
      </p:sp>
      <p:sp>
        <p:nvSpPr>
          <p:cNvPr id="23" name="Text 21"/>
          <p:cNvSpPr/>
          <p:nvPr/>
        </p:nvSpPr>
        <p:spPr>
          <a:xfrm>
            <a:off x="6382512" y="4453128"/>
            <a:ext cx="4837176" cy="411480"/>
          </a:xfrm>
          <a:prstGeom prst="rect">
            <a:avLst/>
          </a:prstGeom>
          <a:noFill/>
          <a:ln/>
        </p:spPr>
        <p:txBody>
          <a:bodyPr wrap="square" lIns="762" tIns="762" rIns="762" bIns="762" rtlCol="0" anchor="t">
            <a:normAutofit/>
          </a:bodyPr>
          <a:lstStyle/>
          <a:p>
            <a:pPr algn="l" indent="0" marL="0">
              <a:buNone/>
            </a:pPr>
            <a:r>
              <a:rPr lang="en-US" sz="1250" dirty="0">
                <a:solidFill>
                  <a:srgbClr val="111827"/>
                </a:solidFill>
                <a:latin typeface="Aptos" pitchFamily="34" charset="0"/>
                <a:ea typeface="Aptos" pitchFamily="34" charset="-122"/>
                <a:cs typeface="Aptos" pitchFamily="34" charset="-120"/>
              </a:rPr>
              <a:t>Find a legal order for adding parts; feasibility checks can be expensive.</a:t>
            </a:r>
            <a:endParaRPr lang="en-US" sz="1250" dirty="0"/>
          </a:p>
        </p:txBody>
      </p:sp>
      <p:sp>
        <p:nvSpPr>
          <p:cNvPr id="24" name="Text 22"/>
          <p:cNvSpPr/>
          <p:nvPr/>
        </p:nvSpPr>
        <p:spPr>
          <a:xfrm>
            <a:off x="11475720" y="6510528"/>
            <a:ext cx="320040" cy="164592"/>
          </a:xfrm>
          <a:prstGeom prst="rect">
            <a:avLst/>
          </a:prstGeom>
          <a:noFill/>
          <a:ln/>
        </p:spPr>
        <p:txBody>
          <a:bodyPr wrap="square" lIns="0" tIns="0" rIns="0" bIns="0" rtlCol="0" anchor="ctr"/>
          <a:lstStyle/>
          <a:p>
            <a:pPr algn="r" indent="0" marL="0">
              <a:buNone/>
            </a:pPr>
            <a:r>
              <a:rPr lang="en-US" sz="800" dirty="0">
                <a:solidFill>
                  <a:srgbClr val="6B7280"/>
                </a:solidFill>
              </a:rPr>
              <a:t>15</a:t>
            </a:r>
            <a:endParaRPr lang="en-US" sz="800" dirty="0"/>
          </a:p>
        </p:txBody>
      </p:sp>
      <p:sp>
        <p:nvSpPr>
          <p:cNvPr id="25" name="Text 23"/>
          <p:cNvSpPr/>
          <p:nvPr/>
        </p:nvSpPr>
        <p:spPr>
          <a:xfrm>
            <a:off x="411480" y="6510528"/>
            <a:ext cx="3200400" cy="164592"/>
          </a:xfrm>
          <a:prstGeom prst="rect">
            <a:avLst/>
          </a:prstGeom>
          <a:noFill/>
          <a:ln/>
        </p:spPr>
        <p:txBody>
          <a:bodyPr wrap="square" lIns="0" tIns="0" rIns="0" bIns="0" rtlCol="0" anchor="ctr"/>
          <a:lstStyle/>
          <a:p>
            <a:pPr indent="0" marL="0">
              <a:buNone/>
            </a:pPr>
            <a:r>
              <a:rPr lang="en-US" sz="750" dirty="0">
                <a:solidFill>
                  <a:srgbClr val="6B7280"/>
                </a:solidFill>
              </a:rPr>
              <a:t>CSU Channel Islands · COMP 469</a:t>
            </a:r>
            <a:endParaRPr lang="en-US" sz="7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13386B"/>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13386B"/>
          </a:solidFill>
          <a:ln w="12700">
            <a:solidFill>
              <a:srgbClr val="13386B"/>
            </a:solidFill>
            <a:prstDash val="solid"/>
          </a:ln>
        </p:spPr>
      </p:sp>
      <p:sp>
        <p:nvSpPr>
          <p:cNvPr id="3" name="Shape 1"/>
          <p:cNvSpPr/>
          <p:nvPr/>
        </p:nvSpPr>
        <p:spPr>
          <a:xfrm>
            <a:off x="0" y="5440680"/>
            <a:ext cx="12191695" cy="118872"/>
          </a:xfrm>
          <a:prstGeom prst="rect">
            <a:avLst/>
          </a:prstGeom>
          <a:solidFill>
            <a:srgbClr val="F5A11A"/>
          </a:solidFill>
          <a:ln w="12700">
            <a:solidFill>
              <a:srgbClr val="F5A11A"/>
            </a:solidFill>
            <a:prstDash val="solid"/>
          </a:ln>
        </p:spPr>
      </p:sp>
      <p:sp>
        <p:nvSpPr>
          <p:cNvPr id="4" name="Text 2"/>
          <p:cNvSpPr/>
          <p:nvPr/>
        </p:nvSpPr>
        <p:spPr>
          <a:xfrm>
            <a:off x="731520" y="1965960"/>
            <a:ext cx="7040880" cy="594360"/>
          </a:xfrm>
          <a:prstGeom prst="rect">
            <a:avLst/>
          </a:prstGeom>
          <a:noFill/>
          <a:ln/>
        </p:spPr>
        <p:txBody>
          <a:bodyPr wrap="square" lIns="0" tIns="0" rIns="0" bIns="0" rtlCol="0" anchor="t">
            <a:normAutofit/>
          </a:bodyPr>
          <a:lstStyle/>
          <a:p>
            <a:pPr algn="l" indent="0" marL="0">
              <a:buNone/>
            </a:pPr>
            <a:r>
              <a:rPr lang="en-US" sz="3400" b="1" dirty="0">
                <a:solidFill>
                  <a:srgbClr val="FFFFFF"/>
                </a:solidFill>
                <a:latin typeface="Aptos" pitchFamily="34" charset="0"/>
                <a:ea typeface="Aptos" pitchFamily="34" charset="-122"/>
                <a:cs typeface="Aptos" pitchFamily="34" charset="-120"/>
              </a:rPr>
              <a:t>Section 3.3</a:t>
            </a:r>
            <a:endParaRPr lang="en-US" sz="3400" dirty="0"/>
          </a:p>
        </p:txBody>
      </p:sp>
      <p:sp>
        <p:nvSpPr>
          <p:cNvPr id="5" name="Text 3"/>
          <p:cNvSpPr/>
          <p:nvPr/>
        </p:nvSpPr>
        <p:spPr>
          <a:xfrm>
            <a:off x="768096" y="2697480"/>
            <a:ext cx="7315200" cy="365760"/>
          </a:xfrm>
          <a:prstGeom prst="rect">
            <a:avLst/>
          </a:prstGeom>
          <a:noFill/>
          <a:ln/>
        </p:spPr>
        <p:txBody>
          <a:bodyPr wrap="square" lIns="0" tIns="0" rIns="0" bIns="0" rtlCol="0" anchor="t">
            <a:normAutofit/>
          </a:bodyPr>
          <a:lstStyle/>
          <a:p>
            <a:pPr algn="l" indent="0" marL="0">
              <a:buNone/>
            </a:pPr>
            <a:r>
              <a:rPr lang="en-US" sz="1700" dirty="0">
                <a:solidFill>
                  <a:srgbClr val="D8E6F6"/>
                </a:solidFill>
                <a:latin typeface="Aptos" pitchFamily="34" charset="0"/>
                <a:ea typeface="Aptos" pitchFamily="34" charset="-122"/>
                <a:cs typeface="Aptos" pitchFamily="34" charset="-120"/>
              </a:rPr>
              <a:t>Search Algorithms</a:t>
            </a:r>
            <a:endParaRPr lang="en-US" sz="1700" dirty="0"/>
          </a:p>
        </p:txBody>
      </p:sp>
      <p:pic>
        <p:nvPicPr>
          <p:cNvPr id="6" name="Image 0" descr="/mnt/data/a_clean_cartoon_style_digital_illustration_featur.png">    </p:cNvPr>
          <p:cNvPicPr>
            <a:picLocks noChangeAspect="1"/>
          </p:cNvPicPr>
          <p:nvPr/>
        </p:nvPicPr>
        <p:blipFill>
          <a:blip r:embed="rId1"/>
          <a:stretch>
            <a:fillRect/>
          </a:stretch>
        </p:blipFill>
        <p:spPr>
          <a:xfrm>
            <a:off x="8869680" y="1143000"/>
            <a:ext cx="2331720" cy="3200400"/>
          </a:xfrm>
          <a:prstGeom prst="rect">
            <a:avLst/>
          </a:prstGeom>
        </p:spPr>
      </p:pic>
      <p:sp>
        <p:nvSpPr>
          <p:cNvPr id="7" name="Text 4"/>
          <p:cNvSpPr/>
          <p:nvPr/>
        </p:nvSpPr>
        <p:spPr>
          <a:xfrm>
            <a:off x="11475720" y="6510528"/>
            <a:ext cx="320040" cy="164592"/>
          </a:xfrm>
          <a:prstGeom prst="rect">
            <a:avLst/>
          </a:prstGeom>
          <a:noFill/>
          <a:ln/>
        </p:spPr>
        <p:txBody>
          <a:bodyPr wrap="square" lIns="0" tIns="0" rIns="0" bIns="0" rtlCol="0" anchor="ctr"/>
          <a:lstStyle/>
          <a:p>
            <a:pPr algn="r" indent="0" marL="0">
              <a:buNone/>
            </a:pPr>
            <a:r>
              <a:rPr lang="en-US" sz="800" dirty="0">
                <a:solidFill>
                  <a:srgbClr val="6B7280"/>
                </a:solidFill>
              </a:rPr>
              <a:t>17</a:t>
            </a:r>
            <a:endParaRPr lang="en-US" sz="800" dirty="0"/>
          </a:p>
        </p:txBody>
      </p:sp>
      <p:sp>
        <p:nvSpPr>
          <p:cNvPr id="8" name="Text 5"/>
          <p:cNvSpPr/>
          <p:nvPr/>
        </p:nvSpPr>
        <p:spPr>
          <a:xfrm>
            <a:off x="411480" y="6510528"/>
            <a:ext cx="3200400" cy="164592"/>
          </a:xfrm>
          <a:prstGeom prst="rect">
            <a:avLst/>
          </a:prstGeom>
          <a:noFill/>
          <a:ln/>
        </p:spPr>
        <p:txBody>
          <a:bodyPr wrap="square" lIns="0" tIns="0" rIns="0" bIns="0" rtlCol="0" anchor="ctr"/>
          <a:lstStyle/>
          <a:p>
            <a:pPr indent="0" marL="0">
              <a:buNone/>
            </a:pPr>
            <a:r>
              <a:rPr lang="en-US" sz="750" dirty="0">
                <a:solidFill>
                  <a:srgbClr val="6B7280"/>
                </a:solidFill>
              </a:rPr>
              <a:t>CSU Channel Islands · COMP 469</a:t>
            </a:r>
            <a:endParaRPr lang="en-US" sz="7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5F7FB"/>
        </a:solidFill>
      </p:bgPr>
    </p:bg>
    <p:spTree>
      <p:nvGrpSpPr>
        <p:cNvPr id="1" name=""/>
        <p:cNvGrpSpPr/>
        <p:nvPr/>
      </p:nvGrpSpPr>
      <p:grpSpPr>
        <a:xfrm>
          <a:off x="0" y="0"/>
          <a:ext cx="0" cy="0"/>
          <a:chOff x="0" y="0"/>
          <a:chExt cx="0" cy="0"/>
        </a:xfrm>
      </p:grpSpPr>
      <p:sp>
        <p:nvSpPr>
          <p:cNvPr id="2" name="Shape 0"/>
          <p:cNvSpPr/>
          <p:nvPr/>
        </p:nvSpPr>
        <p:spPr>
          <a:xfrm>
            <a:off x="0" y="0"/>
            <a:ext cx="12191695" cy="640080"/>
          </a:xfrm>
          <a:prstGeom prst="rect">
            <a:avLst/>
          </a:prstGeom>
          <a:solidFill>
            <a:srgbClr val="13386B"/>
          </a:solidFill>
          <a:ln w="12700">
            <a:solidFill>
              <a:srgbClr val="13386B"/>
            </a:solidFill>
            <a:prstDash val="solid"/>
          </a:ln>
        </p:spPr>
      </p:sp>
      <p:sp>
        <p:nvSpPr>
          <p:cNvPr id="3" name="Shape 1"/>
          <p:cNvSpPr/>
          <p:nvPr/>
        </p:nvSpPr>
        <p:spPr>
          <a:xfrm>
            <a:off x="0" y="640080"/>
            <a:ext cx="12191695" cy="68580"/>
          </a:xfrm>
          <a:prstGeom prst="rect">
            <a:avLst/>
          </a:prstGeom>
          <a:solidFill>
            <a:srgbClr val="F5A11A"/>
          </a:solidFill>
          <a:ln w="12700">
            <a:solidFill>
              <a:srgbClr val="F5A11A"/>
            </a:solidFill>
            <a:prstDash val="solid"/>
          </a:ln>
        </p:spPr>
      </p:sp>
      <p:sp>
        <p:nvSpPr>
          <p:cNvPr id="4" name="Text 2"/>
          <p:cNvSpPr/>
          <p:nvPr/>
        </p:nvSpPr>
        <p:spPr>
          <a:xfrm>
            <a:off x="411480" y="155448"/>
            <a:ext cx="7818120" cy="320040"/>
          </a:xfrm>
          <a:prstGeom prst="rect">
            <a:avLst/>
          </a:prstGeom>
          <a:noFill/>
          <a:ln/>
        </p:spPr>
        <p:txBody>
          <a:bodyPr wrap="square" lIns="0" tIns="0" rIns="0" bIns="0" rtlCol="0" anchor="ctr"/>
          <a:lstStyle/>
          <a:p>
            <a:pPr indent="0" marL="0">
              <a:buNone/>
            </a:pPr>
            <a:r>
              <a:rPr lang="en-US" sz="2200" b="1" dirty="0">
                <a:solidFill>
                  <a:srgbClr val="FFFFFF"/>
                </a:solidFill>
                <a:latin typeface="Aptos Display" pitchFamily="34" charset="0"/>
                <a:ea typeface="Aptos Display" pitchFamily="34" charset="-122"/>
                <a:cs typeface="Aptos Display" pitchFamily="34" charset="-120"/>
              </a:rPr>
              <a:t>State Space vs. Search Tree</a:t>
            </a:r>
            <a:endParaRPr lang="en-US" sz="2200" dirty="0"/>
          </a:p>
        </p:txBody>
      </p:sp>
      <p:sp>
        <p:nvSpPr>
          <p:cNvPr id="5" name="Text 3"/>
          <p:cNvSpPr/>
          <p:nvPr/>
        </p:nvSpPr>
        <p:spPr>
          <a:xfrm>
            <a:off x="9253728" y="210312"/>
            <a:ext cx="2487168" cy="256032"/>
          </a:xfrm>
          <a:prstGeom prst="rect">
            <a:avLst/>
          </a:prstGeom>
          <a:noFill/>
          <a:ln/>
        </p:spPr>
        <p:txBody>
          <a:bodyPr wrap="square" lIns="0" tIns="0" rIns="0" bIns="0" rtlCol="0" anchor="ctr"/>
          <a:lstStyle/>
          <a:p>
            <a:pPr algn="r" indent="0" marL="0">
              <a:buNone/>
            </a:pPr>
            <a:r>
              <a:rPr lang="en-US" sz="850" dirty="0">
                <a:solidFill>
                  <a:srgbClr val="D9E5F2"/>
                </a:solidFill>
              </a:rPr>
              <a:t>COMP 469 · Chapter 3 · Sections 3.1–3.4</a:t>
            </a:r>
            <a:endParaRPr lang="en-US" sz="850" dirty="0"/>
          </a:p>
        </p:txBody>
      </p:sp>
      <p:pic>
        <p:nvPicPr>
          <p:cNvPr id="6" name="Image 0" descr="/mnt/data/ch3_odt_extract/Pictures/100000000000027F000002BEDF4F995D.png">    </p:cNvPr>
          <p:cNvPicPr>
            <a:picLocks noChangeAspect="1"/>
          </p:cNvPicPr>
          <p:nvPr/>
        </p:nvPicPr>
        <p:blipFill>
          <a:blip r:embed="rId1"/>
          <a:stretch>
            <a:fillRect/>
          </a:stretch>
        </p:blipFill>
        <p:spPr>
          <a:xfrm>
            <a:off x="594360" y="1005840"/>
            <a:ext cx="5212080" cy="4251960"/>
          </a:xfrm>
          <a:prstGeom prst="rect">
            <a:avLst/>
          </a:prstGeom>
        </p:spPr>
      </p:pic>
      <p:sp>
        <p:nvSpPr>
          <p:cNvPr id="7" name="Shape 4"/>
          <p:cNvSpPr/>
          <p:nvPr/>
        </p:nvSpPr>
        <p:spPr>
          <a:xfrm>
            <a:off x="6172200" y="1097280"/>
            <a:ext cx="4892040" cy="1188720"/>
          </a:xfrm>
          <a:prstGeom prst="roundRect">
            <a:avLst>
              <a:gd name="adj" fmla="val 4615"/>
            </a:avLst>
          </a:prstGeom>
          <a:solidFill>
            <a:srgbClr val="FFFFFF"/>
          </a:solidFill>
          <a:ln w="12700">
            <a:solidFill>
              <a:srgbClr val="D5DCE8"/>
            </a:solidFill>
            <a:prstDash val="solid"/>
          </a:ln>
        </p:spPr>
      </p:sp>
      <p:sp>
        <p:nvSpPr>
          <p:cNvPr id="8" name="Text 5"/>
          <p:cNvSpPr/>
          <p:nvPr/>
        </p:nvSpPr>
        <p:spPr>
          <a:xfrm>
            <a:off x="6336792" y="1261872"/>
            <a:ext cx="4562856" cy="310896"/>
          </a:xfrm>
          <a:prstGeom prst="rect">
            <a:avLst/>
          </a:prstGeom>
          <a:noFill/>
          <a:ln/>
        </p:spPr>
        <p:txBody>
          <a:bodyPr wrap="square" lIns="762" tIns="762" rIns="762" bIns="762" rtlCol="0" anchor="t">
            <a:normAutofit/>
          </a:bodyPr>
          <a:lstStyle/>
          <a:p>
            <a:pPr algn="l" indent="0" marL="0">
              <a:buNone/>
            </a:pPr>
            <a:r>
              <a:rPr lang="en-US" sz="1400" b="1" dirty="0">
                <a:solidFill>
                  <a:srgbClr val="13386B"/>
                </a:solidFill>
                <a:latin typeface="Aptos" pitchFamily="34" charset="0"/>
                <a:ea typeface="Aptos" pitchFamily="34" charset="-122"/>
                <a:cs typeface="Aptos" pitchFamily="34" charset="-120"/>
              </a:rPr>
              <a:t>State space graph</a:t>
            </a:r>
            <a:endParaRPr lang="en-US" sz="1400" dirty="0"/>
          </a:p>
        </p:txBody>
      </p:sp>
      <p:sp>
        <p:nvSpPr>
          <p:cNvPr id="9" name="Text 6"/>
          <p:cNvSpPr/>
          <p:nvPr/>
        </p:nvSpPr>
        <p:spPr>
          <a:xfrm>
            <a:off x="6336792" y="1627632"/>
            <a:ext cx="4562856" cy="530352"/>
          </a:xfrm>
          <a:prstGeom prst="rect">
            <a:avLst/>
          </a:prstGeom>
          <a:noFill/>
          <a:ln/>
        </p:spPr>
        <p:txBody>
          <a:bodyPr wrap="square" lIns="762" tIns="762" rIns="762" bIns="762" rtlCol="0" anchor="t">
            <a:normAutofit/>
          </a:bodyPr>
          <a:lstStyle/>
          <a:p>
            <a:pPr algn="l" indent="0" marL="0">
              <a:buNone/>
            </a:pPr>
            <a:r>
              <a:rPr lang="en-US" sz="1250" dirty="0">
                <a:solidFill>
                  <a:srgbClr val="111827"/>
                </a:solidFill>
                <a:latin typeface="Aptos" pitchFamily="34" charset="0"/>
                <a:ea typeface="Aptos" pitchFamily="34" charset="-122"/>
                <a:cs typeface="Aptos" pitchFamily="34" charset="-120"/>
              </a:rPr>
              <a:t>States are vertices. Actions are directed edges. The same state exists once in the graph.</a:t>
            </a:r>
            <a:endParaRPr lang="en-US" sz="1250" dirty="0"/>
          </a:p>
        </p:txBody>
      </p:sp>
      <p:sp>
        <p:nvSpPr>
          <p:cNvPr id="10" name="Shape 7"/>
          <p:cNvSpPr/>
          <p:nvPr/>
        </p:nvSpPr>
        <p:spPr>
          <a:xfrm>
            <a:off x="6172200" y="2606040"/>
            <a:ext cx="4892040" cy="1188720"/>
          </a:xfrm>
          <a:prstGeom prst="roundRect">
            <a:avLst>
              <a:gd name="adj" fmla="val 4615"/>
            </a:avLst>
          </a:prstGeom>
          <a:solidFill>
            <a:srgbClr val="FFFFFF"/>
          </a:solidFill>
          <a:ln w="12700">
            <a:solidFill>
              <a:srgbClr val="D5DCE8"/>
            </a:solidFill>
            <a:prstDash val="solid"/>
          </a:ln>
        </p:spPr>
      </p:sp>
      <p:sp>
        <p:nvSpPr>
          <p:cNvPr id="11" name="Text 8"/>
          <p:cNvSpPr/>
          <p:nvPr/>
        </p:nvSpPr>
        <p:spPr>
          <a:xfrm>
            <a:off x="6336792" y="2770632"/>
            <a:ext cx="4562856" cy="310896"/>
          </a:xfrm>
          <a:prstGeom prst="rect">
            <a:avLst/>
          </a:prstGeom>
          <a:noFill/>
          <a:ln/>
        </p:spPr>
        <p:txBody>
          <a:bodyPr wrap="square" lIns="762" tIns="762" rIns="762" bIns="762" rtlCol="0" anchor="t">
            <a:normAutofit/>
          </a:bodyPr>
          <a:lstStyle/>
          <a:p>
            <a:pPr algn="l" indent="0" marL="0">
              <a:buNone/>
            </a:pPr>
            <a:r>
              <a:rPr lang="en-US" sz="1400" b="1" dirty="0">
                <a:solidFill>
                  <a:srgbClr val="0F8B8D"/>
                </a:solidFill>
                <a:latin typeface="Aptos" pitchFamily="34" charset="0"/>
                <a:ea typeface="Aptos" pitchFamily="34" charset="-122"/>
                <a:cs typeface="Aptos" pitchFamily="34" charset="-120"/>
              </a:rPr>
              <a:t>Search tree</a:t>
            </a:r>
            <a:endParaRPr lang="en-US" sz="1400" dirty="0"/>
          </a:p>
        </p:txBody>
      </p:sp>
      <p:sp>
        <p:nvSpPr>
          <p:cNvPr id="12" name="Text 9"/>
          <p:cNvSpPr/>
          <p:nvPr/>
        </p:nvSpPr>
        <p:spPr>
          <a:xfrm>
            <a:off x="6336792" y="3136392"/>
            <a:ext cx="4562856" cy="530352"/>
          </a:xfrm>
          <a:prstGeom prst="rect">
            <a:avLst/>
          </a:prstGeom>
          <a:noFill/>
          <a:ln/>
        </p:spPr>
        <p:txBody>
          <a:bodyPr wrap="square" lIns="762" tIns="762" rIns="762" bIns="762" rtlCol="0" anchor="t">
            <a:normAutofit/>
          </a:bodyPr>
          <a:lstStyle/>
          <a:p>
            <a:pPr algn="l" indent="0" marL="0">
              <a:buNone/>
            </a:pPr>
            <a:r>
              <a:rPr lang="en-US" sz="1250" dirty="0">
                <a:solidFill>
                  <a:srgbClr val="111827"/>
                </a:solidFill>
                <a:latin typeface="Aptos" pitchFamily="34" charset="0"/>
                <a:ea typeface="Aptos" pitchFamily="34" charset="-122"/>
                <a:cs typeface="Aptos" pitchFamily="34" charset="-120"/>
              </a:rPr>
              <a:t>Nodes represent paths. The same state may appear many times if reached by different paths.</a:t>
            </a:r>
            <a:endParaRPr lang="en-US" sz="1250" dirty="0"/>
          </a:p>
        </p:txBody>
      </p:sp>
      <p:sp>
        <p:nvSpPr>
          <p:cNvPr id="13" name="Shape 10"/>
          <p:cNvSpPr/>
          <p:nvPr/>
        </p:nvSpPr>
        <p:spPr>
          <a:xfrm>
            <a:off x="6172200" y="4114800"/>
            <a:ext cx="4892040" cy="1188720"/>
          </a:xfrm>
          <a:prstGeom prst="roundRect">
            <a:avLst>
              <a:gd name="adj" fmla="val 4615"/>
            </a:avLst>
          </a:prstGeom>
          <a:solidFill>
            <a:srgbClr val="FFFFFF"/>
          </a:solidFill>
          <a:ln w="12700">
            <a:solidFill>
              <a:srgbClr val="D5DCE8"/>
            </a:solidFill>
            <a:prstDash val="solid"/>
          </a:ln>
        </p:spPr>
      </p:sp>
      <p:sp>
        <p:nvSpPr>
          <p:cNvPr id="14" name="Text 11"/>
          <p:cNvSpPr/>
          <p:nvPr/>
        </p:nvSpPr>
        <p:spPr>
          <a:xfrm>
            <a:off x="6336792" y="4279392"/>
            <a:ext cx="4562856" cy="310896"/>
          </a:xfrm>
          <a:prstGeom prst="rect">
            <a:avLst/>
          </a:prstGeom>
          <a:noFill/>
          <a:ln/>
        </p:spPr>
        <p:txBody>
          <a:bodyPr wrap="square" lIns="762" tIns="762" rIns="762" bIns="762" rtlCol="0" anchor="t">
            <a:normAutofit/>
          </a:bodyPr>
          <a:lstStyle/>
          <a:p>
            <a:pPr algn="l" indent="0" marL="0">
              <a:buNone/>
            </a:pPr>
            <a:r>
              <a:rPr lang="en-US" sz="1400" b="1" dirty="0">
                <a:solidFill>
                  <a:srgbClr val="F5A11A"/>
                </a:solidFill>
                <a:latin typeface="Aptos" pitchFamily="34" charset="0"/>
                <a:ea typeface="Aptos" pitchFamily="34" charset="-122"/>
                <a:cs typeface="Aptos" pitchFamily="34" charset="-120"/>
              </a:rPr>
              <a:t>Root, child, successor</a:t>
            </a:r>
            <a:endParaRPr lang="en-US" sz="1400" dirty="0"/>
          </a:p>
        </p:txBody>
      </p:sp>
      <p:sp>
        <p:nvSpPr>
          <p:cNvPr id="15" name="Text 12"/>
          <p:cNvSpPr/>
          <p:nvPr/>
        </p:nvSpPr>
        <p:spPr>
          <a:xfrm>
            <a:off x="6336792" y="4645152"/>
            <a:ext cx="4562856" cy="530352"/>
          </a:xfrm>
          <a:prstGeom prst="rect">
            <a:avLst/>
          </a:prstGeom>
          <a:noFill/>
          <a:ln/>
        </p:spPr>
        <p:txBody>
          <a:bodyPr wrap="square" lIns="762" tIns="762" rIns="762" bIns="762" rtlCol="0" anchor="t">
            <a:normAutofit/>
          </a:bodyPr>
          <a:lstStyle/>
          <a:p>
            <a:pPr algn="l" indent="0" marL="0">
              <a:buNone/>
            </a:pPr>
            <a:r>
              <a:rPr lang="en-US" sz="1250" dirty="0">
                <a:solidFill>
                  <a:srgbClr val="111827"/>
                </a:solidFill>
                <a:latin typeface="Aptos" pitchFamily="34" charset="0"/>
                <a:ea typeface="Aptos" pitchFamily="34" charset="-122"/>
                <a:cs typeface="Aptos" pitchFamily="34" charset="-120"/>
              </a:rPr>
              <a:t>Root = initial state. Expanding a node generates child nodes from applicable actions.</a:t>
            </a:r>
            <a:endParaRPr lang="en-US" sz="1250" dirty="0"/>
          </a:p>
        </p:txBody>
      </p:sp>
      <p:sp>
        <p:nvSpPr>
          <p:cNvPr id="16" name="Text 13"/>
          <p:cNvSpPr/>
          <p:nvPr/>
        </p:nvSpPr>
        <p:spPr>
          <a:xfrm>
            <a:off x="11475720" y="6510528"/>
            <a:ext cx="320040" cy="164592"/>
          </a:xfrm>
          <a:prstGeom prst="rect">
            <a:avLst/>
          </a:prstGeom>
          <a:noFill/>
          <a:ln/>
        </p:spPr>
        <p:txBody>
          <a:bodyPr wrap="square" lIns="0" tIns="0" rIns="0" bIns="0" rtlCol="0" anchor="ctr"/>
          <a:lstStyle/>
          <a:p>
            <a:pPr algn="r" indent="0" marL="0">
              <a:buNone/>
            </a:pPr>
            <a:r>
              <a:rPr lang="en-US" sz="800" dirty="0">
                <a:solidFill>
                  <a:srgbClr val="6B7280"/>
                </a:solidFill>
              </a:rPr>
              <a:t>17</a:t>
            </a:r>
            <a:endParaRPr lang="en-US" sz="800" dirty="0"/>
          </a:p>
        </p:txBody>
      </p:sp>
      <p:sp>
        <p:nvSpPr>
          <p:cNvPr id="17" name="Text 14"/>
          <p:cNvSpPr/>
          <p:nvPr/>
        </p:nvSpPr>
        <p:spPr>
          <a:xfrm>
            <a:off x="411480" y="6510528"/>
            <a:ext cx="3200400" cy="164592"/>
          </a:xfrm>
          <a:prstGeom prst="rect">
            <a:avLst/>
          </a:prstGeom>
          <a:noFill/>
          <a:ln/>
        </p:spPr>
        <p:txBody>
          <a:bodyPr wrap="square" lIns="0" tIns="0" rIns="0" bIns="0" rtlCol="0" anchor="ctr"/>
          <a:lstStyle/>
          <a:p>
            <a:pPr indent="0" marL="0">
              <a:buNone/>
            </a:pPr>
            <a:r>
              <a:rPr lang="en-US" sz="750" dirty="0">
                <a:solidFill>
                  <a:srgbClr val="6B7280"/>
                </a:solidFill>
              </a:rPr>
              <a:t>CSU Channel Islands · COMP 469</a:t>
            </a:r>
            <a:endParaRPr lang="en-US" sz="7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5F7FB"/>
        </a:solidFill>
      </p:bgPr>
    </p:bg>
    <p:spTree>
      <p:nvGrpSpPr>
        <p:cNvPr id="1" name=""/>
        <p:cNvGrpSpPr/>
        <p:nvPr/>
      </p:nvGrpSpPr>
      <p:grpSpPr>
        <a:xfrm>
          <a:off x="0" y="0"/>
          <a:ext cx="0" cy="0"/>
          <a:chOff x="0" y="0"/>
          <a:chExt cx="0" cy="0"/>
        </a:xfrm>
      </p:grpSpPr>
      <p:sp>
        <p:nvSpPr>
          <p:cNvPr id="2" name="Shape 0"/>
          <p:cNvSpPr/>
          <p:nvPr/>
        </p:nvSpPr>
        <p:spPr>
          <a:xfrm>
            <a:off x="0" y="0"/>
            <a:ext cx="12191695" cy="640080"/>
          </a:xfrm>
          <a:prstGeom prst="rect">
            <a:avLst/>
          </a:prstGeom>
          <a:solidFill>
            <a:srgbClr val="13386B"/>
          </a:solidFill>
          <a:ln w="12700">
            <a:solidFill>
              <a:srgbClr val="13386B"/>
            </a:solidFill>
            <a:prstDash val="solid"/>
          </a:ln>
        </p:spPr>
      </p:sp>
      <p:sp>
        <p:nvSpPr>
          <p:cNvPr id="3" name="Shape 1"/>
          <p:cNvSpPr/>
          <p:nvPr/>
        </p:nvSpPr>
        <p:spPr>
          <a:xfrm>
            <a:off x="0" y="640080"/>
            <a:ext cx="12191695" cy="68580"/>
          </a:xfrm>
          <a:prstGeom prst="rect">
            <a:avLst/>
          </a:prstGeom>
          <a:solidFill>
            <a:srgbClr val="F5A11A"/>
          </a:solidFill>
          <a:ln w="12700">
            <a:solidFill>
              <a:srgbClr val="F5A11A"/>
            </a:solidFill>
            <a:prstDash val="solid"/>
          </a:ln>
        </p:spPr>
      </p:sp>
      <p:sp>
        <p:nvSpPr>
          <p:cNvPr id="4" name="Text 2"/>
          <p:cNvSpPr/>
          <p:nvPr/>
        </p:nvSpPr>
        <p:spPr>
          <a:xfrm>
            <a:off x="411480" y="155448"/>
            <a:ext cx="7818120" cy="320040"/>
          </a:xfrm>
          <a:prstGeom prst="rect">
            <a:avLst/>
          </a:prstGeom>
          <a:noFill/>
          <a:ln/>
        </p:spPr>
        <p:txBody>
          <a:bodyPr wrap="square" lIns="0" tIns="0" rIns="0" bIns="0" rtlCol="0" anchor="ctr"/>
          <a:lstStyle/>
          <a:p>
            <a:pPr indent="0" marL="0">
              <a:buNone/>
            </a:pPr>
            <a:r>
              <a:rPr lang="en-US" sz="2200" b="1" dirty="0">
                <a:solidFill>
                  <a:srgbClr val="FFFFFF"/>
                </a:solidFill>
                <a:latin typeface="Aptos Display" pitchFamily="34" charset="0"/>
                <a:ea typeface="Aptos Display" pitchFamily="34" charset="-122"/>
                <a:cs typeface="Aptos Display" pitchFamily="34" charset="-120"/>
              </a:rPr>
              <a:t>Frontier, Reached, and Expansion</a:t>
            </a:r>
            <a:endParaRPr lang="en-US" sz="2200" dirty="0"/>
          </a:p>
        </p:txBody>
      </p:sp>
      <p:sp>
        <p:nvSpPr>
          <p:cNvPr id="5" name="Text 3"/>
          <p:cNvSpPr/>
          <p:nvPr/>
        </p:nvSpPr>
        <p:spPr>
          <a:xfrm>
            <a:off x="9253728" y="210312"/>
            <a:ext cx="2487168" cy="256032"/>
          </a:xfrm>
          <a:prstGeom prst="rect">
            <a:avLst/>
          </a:prstGeom>
          <a:noFill/>
          <a:ln/>
        </p:spPr>
        <p:txBody>
          <a:bodyPr wrap="square" lIns="0" tIns="0" rIns="0" bIns="0" rtlCol="0" anchor="ctr"/>
          <a:lstStyle/>
          <a:p>
            <a:pPr algn="r" indent="0" marL="0">
              <a:buNone/>
            </a:pPr>
            <a:r>
              <a:rPr lang="en-US" sz="850" dirty="0">
                <a:solidFill>
                  <a:srgbClr val="D9E5F2"/>
                </a:solidFill>
              </a:rPr>
              <a:t>COMP 469 · Chapter 3 · Sections 3.1–3.4</a:t>
            </a:r>
            <a:endParaRPr lang="en-US" sz="850" dirty="0"/>
          </a:p>
        </p:txBody>
      </p:sp>
      <p:sp>
        <p:nvSpPr>
          <p:cNvPr id="6" name="Shape 4"/>
          <p:cNvSpPr/>
          <p:nvPr/>
        </p:nvSpPr>
        <p:spPr>
          <a:xfrm>
            <a:off x="777240" y="960120"/>
            <a:ext cx="5166360" cy="1143000"/>
          </a:xfrm>
          <a:prstGeom prst="roundRect">
            <a:avLst>
              <a:gd name="adj" fmla="val 4800"/>
            </a:avLst>
          </a:prstGeom>
          <a:solidFill>
            <a:srgbClr val="FFFFFF"/>
          </a:solidFill>
          <a:ln w="12700">
            <a:solidFill>
              <a:srgbClr val="D5DCE8"/>
            </a:solidFill>
            <a:prstDash val="solid"/>
          </a:ln>
        </p:spPr>
      </p:sp>
      <p:sp>
        <p:nvSpPr>
          <p:cNvPr id="7" name="Text 5"/>
          <p:cNvSpPr/>
          <p:nvPr/>
        </p:nvSpPr>
        <p:spPr>
          <a:xfrm>
            <a:off x="941832" y="1124712"/>
            <a:ext cx="4837176" cy="310896"/>
          </a:xfrm>
          <a:prstGeom prst="rect">
            <a:avLst/>
          </a:prstGeom>
          <a:noFill/>
          <a:ln/>
        </p:spPr>
        <p:txBody>
          <a:bodyPr wrap="square" lIns="762" tIns="762" rIns="762" bIns="762" rtlCol="0" anchor="t">
            <a:normAutofit/>
          </a:bodyPr>
          <a:lstStyle/>
          <a:p>
            <a:pPr algn="l" indent="0" marL="0">
              <a:buNone/>
            </a:pPr>
            <a:r>
              <a:rPr lang="en-US" sz="1400" b="1" dirty="0">
                <a:solidFill>
                  <a:srgbClr val="13386B"/>
                </a:solidFill>
                <a:latin typeface="Aptos" pitchFamily="34" charset="0"/>
                <a:ea typeface="Aptos" pitchFamily="34" charset="-122"/>
                <a:cs typeface="Aptos" pitchFamily="34" charset="-120"/>
              </a:rPr>
              <a:t>Expansion</a:t>
            </a:r>
            <a:endParaRPr lang="en-US" sz="1400" dirty="0"/>
          </a:p>
        </p:txBody>
      </p:sp>
      <p:sp>
        <p:nvSpPr>
          <p:cNvPr id="8" name="Text 6"/>
          <p:cNvSpPr/>
          <p:nvPr/>
        </p:nvSpPr>
        <p:spPr>
          <a:xfrm>
            <a:off x="941832" y="1490472"/>
            <a:ext cx="4837176" cy="484632"/>
          </a:xfrm>
          <a:prstGeom prst="rect">
            <a:avLst/>
          </a:prstGeom>
          <a:noFill/>
          <a:ln/>
        </p:spPr>
        <p:txBody>
          <a:bodyPr wrap="square" lIns="762" tIns="762" rIns="762" bIns="762" rtlCol="0" anchor="t">
            <a:normAutofit/>
          </a:bodyPr>
          <a:lstStyle/>
          <a:p>
            <a:pPr algn="l" indent="0" marL="0">
              <a:buNone/>
            </a:pPr>
            <a:r>
              <a:rPr lang="en-US" sz="1250" dirty="0">
                <a:solidFill>
                  <a:srgbClr val="111827"/>
                </a:solidFill>
                <a:latin typeface="Aptos" pitchFamily="34" charset="0"/>
                <a:ea typeface="Aptos" pitchFamily="34" charset="-122"/>
                <a:cs typeface="Aptos" pitchFamily="34" charset="-120"/>
              </a:rPr>
              <a:t>Remove one node from the frontier, test whether it is a goal, and generate successor nodes.</a:t>
            </a:r>
            <a:endParaRPr lang="en-US" sz="1250" dirty="0"/>
          </a:p>
        </p:txBody>
      </p:sp>
      <p:sp>
        <p:nvSpPr>
          <p:cNvPr id="9" name="Shape 7"/>
          <p:cNvSpPr/>
          <p:nvPr/>
        </p:nvSpPr>
        <p:spPr>
          <a:xfrm>
            <a:off x="6263640" y="960120"/>
            <a:ext cx="5166360" cy="1143000"/>
          </a:xfrm>
          <a:prstGeom prst="roundRect">
            <a:avLst>
              <a:gd name="adj" fmla="val 4800"/>
            </a:avLst>
          </a:prstGeom>
          <a:solidFill>
            <a:srgbClr val="FFFFFF"/>
          </a:solidFill>
          <a:ln w="12700">
            <a:solidFill>
              <a:srgbClr val="D5DCE8"/>
            </a:solidFill>
            <a:prstDash val="solid"/>
          </a:ln>
        </p:spPr>
      </p:sp>
      <p:sp>
        <p:nvSpPr>
          <p:cNvPr id="10" name="Text 8"/>
          <p:cNvSpPr/>
          <p:nvPr/>
        </p:nvSpPr>
        <p:spPr>
          <a:xfrm>
            <a:off x="6428232" y="1124712"/>
            <a:ext cx="4837176" cy="310896"/>
          </a:xfrm>
          <a:prstGeom prst="rect">
            <a:avLst/>
          </a:prstGeom>
          <a:noFill/>
          <a:ln/>
        </p:spPr>
        <p:txBody>
          <a:bodyPr wrap="square" lIns="762" tIns="762" rIns="762" bIns="762" rtlCol="0" anchor="t">
            <a:normAutofit/>
          </a:bodyPr>
          <a:lstStyle/>
          <a:p>
            <a:pPr algn="l" indent="0" marL="0">
              <a:buNone/>
            </a:pPr>
            <a:r>
              <a:rPr lang="en-US" sz="1400" b="1" dirty="0">
                <a:solidFill>
                  <a:srgbClr val="F5A11A"/>
                </a:solidFill>
                <a:latin typeface="Aptos" pitchFamily="34" charset="0"/>
                <a:ea typeface="Aptos" pitchFamily="34" charset="-122"/>
                <a:cs typeface="Aptos" pitchFamily="34" charset="-120"/>
              </a:rPr>
              <a:t>Frontier</a:t>
            </a:r>
            <a:endParaRPr lang="en-US" sz="1400" dirty="0"/>
          </a:p>
        </p:txBody>
      </p:sp>
      <p:sp>
        <p:nvSpPr>
          <p:cNvPr id="11" name="Text 9"/>
          <p:cNvSpPr/>
          <p:nvPr/>
        </p:nvSpPr>
        <p:spPr>
          <a:xfrm>
            <a:off x="6428232" y="1490472"/>
            <a:ext cx="4837176" cy="484632"/>
          </a:xfrm>
          <a:prstGeom prst="rect">
            <a:avLst/>
          </a:prstGeom>
          <a:noFill/>
          <a:ln/>
        </p:spPr>
        <p:txBody>
          <a:bodyPr wrap="square" lIns="762" tIns="762" rIns="762" bIns="762" rtlCol="0" anchor="t">
            <a:normAutofit/>
          </a:bodyPr>
          <a:lstStyle/>
          <a:p>
            <a:pPr algn="l" indent="0" marL="0">
              <a:buNone/>
            </a:pPr>
            <a:r>
              <a:rPr lang="en-US" sz="1250" dirty="0">
                <a:solidFill>
                  <a:srgbClr val="111827"/>
                </a:solidFill>
                <a:latin typeface="Aptos" pitchFamily="34" charset="0"/>
                <a:ea typeface="Aptos" pitchFamily="34" charset="-122"/>
                <a:cs typeface="Aptos" pitchFamily="34" charset="-120"/>
              </a:rPr>
              <a:t>The unexpanded leaf nodes waiting for the search strategy to choose one.</a:t>
            </a:r>
            <a:endParaRPr lang="en-US" sz="1250" dirty="0"/>
          </a:p>
        </p:txBody>
      </p:sp>
      <p:sp>
        <p:nvSpPr>
          <p:cNvPr id="12" name="Shape 10"/>
          <p:cNvSpPr/>
          <p:nvPr/>
        </p:nvSpPr>
        <p:spPr>
          <a:xfrm>
            <a:off x="777240" y="2514600"/>
            <a:ext cx="5166360" cy="1143000"/>
          </a:xfrm>
          <a:prstGeom prst="roundRect">
            <a:avLst>
              <a:gd name="adj" fmla="val 4800"/>
            </a:avLst>
          </a:prstGeom>
          <a:solidFill>
            <a:srgbClr val="FFFFFF"/>
          </a:solidFill>
          <a:ln w="12700">
            <a:solidFill>
              <a:srgbClr val="D5DCE8"/>
            </a:solidFill>
            <a:prstDash val="solid"/>
          </a:ln>
        </p:spPr>
      </p:sp>
      <p:sp>
        <p:nvSpPr>
          <p:cNvPr id="13" name="Text 11"/>
          <p:cNvSpPr/>
          <p:nvPr/>
        </p:nvSpPr>
        <p:spPr>
          <a:xfrm>
            <a:off x="941832" y="2679192"/>
            <a:ext cx="4837176" cy="310896"/>
          </a:xfrm>
          <a:prstGeom prst="rect">
            <a:avLst/>
          </a:prstGeom>
          <a:noFill/>
          <a:ln/>
        </p:spPr>
        <p:txBody>
          <a:bodyPr wrap="square" lIns="762" tIns="762" rIns="762" bIns="762" rtlCol="0" anchor="t">
            <a:normAutofit/>
          </a:bodyPr>
          <a:lstStyle/>
          <a:p>
            <a:pPr algn="l" indent="0" marL="0">
              <a:buNone/>
            </a:pPr>
            <a:r>
              <a:rPr lang="en-US" sz="1400" b="1" dirty="0">
                <a:solidFill>
                  <a:srgbClr val="0F8B8D"/>
                </a:solidFill>
                <a:latin typeface="Aptos" pitchFamily="34" charset="0"/>
                <a:ea typeface="Aptos" pitchFamily="34" charset="-122"/>
                <a:cs typeface="Aptos" pitchFamily="34" charset="-120"/>
              </a:rPr>
              <a:t>Reached table</a:t>
            </a:r>
            <a:endParaRPr lang="en-US" sz="1400" dirty="0"/>
          </a:p>
        </p:txBody>
      </p:sp>
      <p:sp>
        <p:nvSpPr>
          <p:cNvPr id="14" name="Text 12"/>
          <p:cNvSpPr/>
          <p:nvPr/>
        </p:nvSpPr>
        <p:spPr>
          <a:xfrm>
            <a:off x="941832" y="3044952"/>
            <a:ext cx="4837176" cy="484632"/>
          </a:xfrm>
          <a:prstGeom prst="rect">
            <a:avLst/>
          </a:prstGeom>
          <a:noFill/>
          <a:ln/>
        </p:spPr>
        <p:txBody>
          <a:bodyPr wrap="square" lIns="762" tIns="762" rIns="762" bIns="762" rtlCol="0" anchor="t">
            <a:normAutofit/>
          </a:bodyPr>
          <a:lstStyle/>
          <a:p>
            <a:pPr algn="l" indent="0" marL="0">
              <a:buNone/>
            </a:pPr>
            <a:r>
              <a:rPr lang="en-US" sz="1250" dirty="0">
                <a:solidFill>
                  <a:srgbClr val="111827"/>
                </a:solidFill>
                <a:latin typeface="Aptos" pitchFamily="34" charset="0"/>
                <a:ea typeface="Aptos" pitchFamily="34" charset="-122"/>
                <a:cs typeface="Aptos" pitchFamily="34" charset="-120"/>
              </a:rPr>
              <a:t>Records states that have already been generated, often with the best node found so far.</a:t>
            </a:r>
            <a:endParaRPr lang="en-US" sz="1250" dirty="0"/>
          </a:p>
        </p:txBody>
      </p:sp>
      <p:sp>
        <p:nvSpPr>
          <p:cNvPr id="15" name="Shape 13"/>
          <p:cNvSpPr/>
          <p:nvPr/>
        </p:nvSpPr>
        <p:spPr>
          <a:xfrm>
            <a:off x="6263640" y="2514600"/>
            <a:ext cx="5166360" cy="1143000"/>
          </a:xfrm>
          <a:prstGeom prst="roundRect">
            <a:avLst>
              <a:gd name="adj" fmla="val 4800"/>
            </a:avLst>
          </a:prstGeom>
          <a:solidFill>
            <a:srgbClr val="FFFFFF"/>
          </a:solidFill>
          <a:ln w="12700">
            <a:solidFill>
              <a:srgbClr val="D5DCE8"/>
            </a:solidFill>
            <a:prstDash val="solid"/>
          </a:ln>
        </p:spPr>
      </p:sp>
      <p:sp>
        <p:nvSpPr>
          <p:cNvPr id="16" name="Text 14"/>
          <p:cNvSpPr/>
          <p:nvPr/>
        </p:nvSpPr>
        <p:spPr>
          <a:xfrm>
            <a:off x="6428232" y="2679192"/>
            <a:ext cx="4837176" cy="310896"/>
          </a:xfrm>
          <a:prstGeom prst="rect">
            <a:avLst/>
          </a:prstGeom>
          <a:noFill/>
          <a:ln/>
        </p:spPr>
        <p:txBody>
          <a:bodyPr wrap="square" lIns="762" tIns="762" rIns="762" bIns="762" rtlCol="0" anchor="t">
            <a:normAutofit/>
          </a:bodyPr>
          <a:lstStyle/>
          <a:p>
            <a:pPr algn="l" indent="0" marL="0">
              <a:buNone/>
            </a:pPr>
            <a:r>
              <a:rPr lang="en-US" sz="1400" b="1" dirty="0">
                <a:solidFill>
                  <a:srgbClr val="1F7A3D"/>
                </a:solidFill>
                <a:latin typeface="Aptos" pitchFamily="34" charset="0"/>
                <a:ea typeface="Aptos" pitchFamily="34" charset="-122"/>
                <a:cs typeface="Aptos" pitchFamily="34" charset="-120"/>
              </a:rPr>
              <a:t>Strategy</a:t>
            </a:r>
            <a:endParaRPr lang="en-US" sz="1400" dirty="0"/>
          </a:p>
        </p:txBody>
      </p:sp>
      <p:sp>
        <p:nvSpPr>
          <p:cNvPr id="17" name="Text 15"/>
          <p:cNvSpPr/>
          <p:nvPr/>
        </p:nvSpPr>
        <p:spPr>
          <a:xfrm>
            <a:off x="6428232" y="3044952"/>
            <a:ext cx="4837176" cy="484632"/>
          </a:xfrm>
          <a:prstGeom prst="rect">
            <a:avLst/>
          </a:prstGeom>
          <a:noFill/>
          <a:ln/>
        </p:spPr>
        <p:txBody>
          <a:bodyPr wrap="square" lIns="762" tIns="762" rIns="762" bIns="762" rtlCol="0" anchor="t">
            <a:normAutofit/>
          </a:bodyPr>
          <a:lstStyle/>
          <a:p>
            <a:pPr algn="l" indent="0" marL="0">
              <a:buNone/>
            </a:pPr>
            <a:r>
              <a:rPr lang="en-US" sz="1250" dirty="0">
                <a:solidFill>
                  <a:srgbClr val="111827"/>
                </a:solidFill>
                <a:latin typeface="Aptos" pitchFamily="34" charset="0"/>
                <a:ea typeface="Aptos" pitchFamily="34" charset="-122"/>
                <a:cs typeface="Aptos" pitchFamily="34" charset="-120"/>
              </a:rPr>
              <a:t>The search algorithm is mostly the rule for choosing the next frontier node.</a:t>
            </a:r>
            <a:endParaRPr lang="en-US" sz="1250" dirty="0"/>
          </a:p>
        </p:txBody>
      </p:sp>
      <p:sp>
        <p:nvSpPr>
          <p:cNvPr id="18" name="Shape 16"/>
          <p:cNvSpPr/>
          <p:nvPr/>
        </p:nvSpPr>
        <p:spPr>
          <a:xfrm>
            <a:off x="1234440" y="4434840"/>
            <a:ext cx="9738360" cy="658368"/>
          </a:xfrm>
          <a:prstGeom prst="roundRect">
            <a:avLst>
              <a:gd name="adj" fmla="val 8333"/>
            </a:avLst>
          </a:prstGeom>
          <a:solidFill>
            <a:srgbClr val="EAF0F6"/>
          </a:solidFill>
          <a:ln w="12700">
            <a:solidFill>
              <a:srgbClr val="D5DCE8"/>
            </a:solidFill>
            <a:prstDash val="solid"/>
          </a:ln>
        </p:spPr>
      </p:sp>
      <p:sp>
        <p:nvSpPr>
          <p:cNvPr id="19" name="Text 17"/>
          <p:cNvSpPr/>
          <p:nvPr/>
        </p:nvSpPr>
        <p:spPr>
          <a:xfrm>
            <a:off x="1463040" y="4626864"/>
            <a:ext cx="9235440" cy="219456"/>
          </a:xfrm>
          <a:prstGeom prst="rect">
            <a:avLst/>
          </a:prstGeom>
          <a:noFill/>
          <a:ln/>
        </p:spPr>
        <p:txBody>
          <a:bodyPr wrap="square" lIns="0" tIns="0" rIns="0" bIns="0" rtlCol="0" anchor="t">
            <a:normAutofit/>
          </a:bodyPr>
          <a:lstStyle/>
          <a:p>
            <a:pPr algn="ctr" indent="0" marL="0">
              <a:buNone/>
            </a:pPr>
            <a:r>
              <a:rPr lang="en-US" sz="1800" b="1" dirty="0">
                <a:solidFill>
                  <a:srgbClr val="13386B"/>
                </a:solidFill>
                <a:latin typeface="Aptos" pitchFamily="34" charset="0"/>
                <a:ea typeface="Aptos" pitchFamily="34" charset="-122"/>
                <a:cs typeface="Aptos" pitchFamily="34" charset="-120"/>
              </a:rPr>
              <a:t>loop: pop frontier → goal test → expand → update frontier/reached</a:t>
            </a:r>
            <a:endParaRPr lang="en-US" sz="1800" dirty="0"/>
          </a:p>
        </p:txBody>
      </p:sp>
      <p:sp>
        <p:nvSpPr>
          <p:cNvPr id="20" name="Text 18"/>
          <p:cNvSpPr/>
          <p:nvPr/>
        </p:nvSpPr>
        <p:spPr>
          <a:xfrm>
            <a:off x="11475720" y="6510528"/>
            <a:ext cx="320040" cy="164592"/>
          </a:xfrm>
          <a:prstGeom prst="rect">
            <a:avLst/>
          </a:prstGeom>
          <a:noFill/>
          <a:ln/>
        </p:spPr>
        <p:txBody>
          <a:bodyPr wrap="square" lIns="0" tIns="0" rIns="0" bIns="0" rtlCol="0" anchor="ctr"/>
          <a:lstStyle/>
          <a:p>
            <a:pPr algn="r" indent="0" marL="0">
              <a:buNone/>
            </a:pPr>
            <a:r>
              <a:rPr lang="en-US" sz="800" dirty="0">
                <a:solidFill>
                  <a:srgbClr val="6B7280"/>
                </a:solidFill>
              </a:rPr>
              <a:t>18</a:t>
            </a:r>
            <a:endParaRPr lang="en-US" sz="800" dirty="0"/>
          </a:p>
        </p:txBody>
      </p:sp>
      <p:sp>
        <p:nvSpPr>
          <p:cNvPr id="21" name="Text 19"/>
          <p:cNvSpPr/>
          <p:nvPr/>
        </p:nvSpPr>
        <p:spPr>
          <a:xfrm>
            <a:off x="411480" y="6510528"/>
            <a:ext cx="3200400" cy="164592"/>
          </a:xfrm>
          <a:prstGeom prst="rect">
            <a:avLst/>
          </a:prstGeom>
          <a:noFill/>
          <a:ln/>
        </p:spPr>
        <p:txBody>
          <a:bodyPr wrap="square" lIns="0" tIns="0" rIns="0" bIns="0" rtlCol="0" anchor="ctr"/>
          <a:lstStyle/>
          <a:p>
            <a:pPr indent="0" marL="0">
              <a:buNone/>
            </a:pPr>
            <a:r>
              <a:rPr lang="en-US" sz="750" dirty="0">
                <a:solidFill>
                  <a:srgbClr val="6B7280"/>
                </a:solidFill>
              </a:rPr>
              <a:t>CSU Channel Islands · COMP 469</a:t>
            </a:r>
            <a:endParaRPr lang="en-US" sz="7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5F7FB"/>
        </a:solidFill>
      </p:bgPr>
    </p:bg>
    <p:spTree>
      <p:nvGrpSpPr>
        <p:cNvPr id="1" name=""/>
        <p:cNvGrpSpPr/>
        <p:nvPr/>
      </p:nvGrpSpPr>
      <p:grpSpPr>
        <a:xfrm>
          <a:off x="0" y="0"/>
          <a:ext cx="0" cy="0"/>
          <a:chOff x="0" y="0"/>
          <a:chExt cx="0" cy="0"/>
        </a:xfrm>
      </p:grpSpPr>
      <p:sp>
        <p:nvSpPr>
          <p:cNvPr id="2" name="Shape 0"/>
          <p:cNvSpPr/>
          <p:nvPr/>
        </p:nvSpPr>
        <p:spPr>
          <a:xfrm>
            <a:off x="0" y="0"/>
            <a:ext cx="12191695" cy="640080"/>
          </a:xfrm>
          <a:prstGeom prst="rect">
            <a:avLst/>
          </a:prstGeom>
          <a:solidFill>
            <a:srgbClr val="13386B"/>
          </a:solidFill>
          <a:ln w="12700">
            <a:solidFill>
              <a:srgbClr val="13386B"/>
            </a:solidFill>
            <a:prstDash val="solid"/>
          </a:ln>
        </p:spPr>
      </p:sp>
      <p:sp>
        <p:nvSpPr>
          <p:cNvPr id="3" name="Shape 1"/>
          <p:cNvSpPr/>
          <p:nvPr/>
        </p:nvSpPr>
        <p:spPr>
          <a:xfrm>
            <a:off x="0" y="640080"/>
            <a:ext cx="12191695" cy="68580"/>
          </a:xfrm>
          <a:prstGeom prst="rect">
            <a:avLst/>
          </a:prstGeom>
          <a:solidFill>
            <a:srgbClr val="F5A11A"/>
          </a:solidFill>
          <a:ln w="12700">
            <a:solidFill>
              <a:srgbClr val="F5A11A"/>
            </a:solidFill>
            <a:prstDash val="solid"/>
          </a:ln>
        </p:spPr>
      </p:sp>
      <p:sp>
        <p:nvSpPr>
          <p:cNvPr id="4" name="Text 2"/>
          <p:cNvSpPr/>
          <p:nvPr/>
        </p:nvSpPr>
        <p:spPr>
          <a:xfrm>
            <a:off x="411480" y="155448"/>
            <a:ext cx="7818120" cy="320040"/>
          </a:xfrm>
          <a:prstGeom prst="rect">
            <a:avLst/>
          </a:prstGeom>
          <a:noFill/>
          <a:ln/>
        </p:spPr>
        <p:txBody>
          <a:bodyPr wrap="square" lIns="0" tIns="0" rIns="0" bIns="0" rtlCol="0" anchor="ctr"/>
          <a:lstStyle/>
          <a:p>
            <a:pPr indent="0" marL="0">
              <a:buNone/>
            </a:pPr>
            <a:r>
              <a:rPr lang="en-US" sz="2200" b="1" dirty="0">
                <a:solidFill>
                  <a:srgbClr val="FFFFFF"/>
                </a:solidFill>
                <a:latin typeface="Aptos Display" pitchFamily="34" charset="0"/>
                <a:ea typeface="Aptos Display" pitchFamily="34" charset="-122"/>
                <a:cs typeface="Aptos Display" pitchFamily="34" charset="-120"/>
              </a:rPr>
              <a:t>Best-First Search: One Engine, Many Strategies</a:t>
            </a:r>
            <a:endParaRPr lang="en-US" sz="2200" dirty="0"/>
          </a:p>
        </p:txBody>
      </p:sp>
      <p:sp>
        <p:nvSpPr>
          <p:cNvPr id="5" name="Text 3"/>
          <p:cNvSpPr/>
          <p:nvPr/>
        </p:nvSpPr>
        <p:spPr>
          <a:xfrm>
            <a:off x="9253728" y="210312"/>
            <a:ext cx="2487168" cy="256032"/>
          </a:xfrm>
          <a:prstGeom prst="rect">
            <a:avLst/>
          </a:prstGeom>
          <a:noFill/>
          <a:ln/>
        </p:spPr>
        <p:txBody>
          <a:bodyPr wrap="square" lIns="0" tIns="0" rIns="0" bIns="0" rtlCol="0" anchor="ctr"/>
          <a:lstStyle/>
          <a:p>
            <a:pPr algn="r" indent="0" marL="0">
              <a:buNone/>
            </a:pPr>
            <a:r>
              <a:rPr lang="en-US" sz="850" dirty="0">
                <a:solidFill>
                  <a:srgbClr val="D9E5F2"/>
                </a:solidFill>
              </a:rPr>
              <a:t>COMP 469 · Chapter 3 · Sections 3.1–3.4</a:t>
            </a:r>
            <a:endParaRPr lang="en-US" sz="850" dirty="0"/>
          </a:p>
        </p:txBody>
      </p:sp>
      <p:pic>
        <p:nvPicPr>
          <p:cNvPr id="6" name="Image 0" descr="/mnt/data/ch3_odt_extract/Pictures/10000000000002440000025CD1B82958.png">    </p:cNvPr>
          <p:cNvPicPr>
            <a:picLocks noChangeAspect="1"/>
          </p:cNvPicPr>
          <p:nvPr/>
        </p:nvPicPr>
        <p:blipFill>
          <a:blip r:embed="rId1"/>
          <a:stretch>
            <a:fillRect/>
          </a:stretch>
        </p:blipFill>
        <p:spPr>
          <a:xfrm>
            <a:off x="502920" y="914400"/>
            <a:ext cx="4892040" cy="4526280"/>
          </a:xfrm>
          <a:prstGeom prst="rect">
            <a:avLst/>
          </a:prstGeom>
        </p:spPr>
      </p:pic>
      <p:pic>
        <p:nvPicPr>
          <p:cNvPr id="7" name="Image 1" descr="preencoded.png">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5715000" y="1188720"/>
            <a:ext cx="5212080" cy="594360"/>
          </a:xfrm>
          <a:prstGeom prst="rect">
            <a:avLst/>
          </a:prstGeom>
        </p:spPr>
      </p:pic>
      <p:sp>
        <p:nvSpPr>
          <p:cNvPr id="8" name="Shape 4"/>
          <p:cNvSpPr/>
          <p:nvPr/>
        </p:nvSpPr>
        <p:spPr>
          <a:xfrm>
            <a:off x="5897880" y="2148840"/>
            <a:ext cx="4892040" cy="1005840"/>
          </a:xfrm>
          <a:prstGeom prst="roundRect">
            <a:avLst>
              <a:gd name="adj" fmla="val 5455"/>
            </a:avLst>
          </a:prstGeom>
          <a:solidFill>
            <a:srgbClr val="FFFFFF"/>
          </a:solidFill>
          <a:ln w="12700">
            <a:solidFill>
              <a:srgbClr val="D5DCE8"/>
            </a:solidFill>
            <a:prstDash val="solid"/>
          </a:ln>
        </p:spPr>
      </p:sp>
      <p:sp>
        <p:nvSpPr>
          <p:cNvPr id="9" name="Text 5"/>
          <p:cNvSpPr/>
          <p:nvPr/>
        </p:nvSpPr>
        <p:spPr>
          <a:xfrm>
            <a:off x="6062472" y="2313432"/>
            <a:ext cx="4562856" cy="310896"/>
          </a:xfrm>
          <a:prstGeom prst="rect">
            <a:avLst/>
          </a:prstGeom>
          <a:noFill/>
          <a:ln/>
        </p:spPr>
        <p:txBody>
          <a:bodyPr wrap="square" lIns="762" tIns="762" rIns="762" bIns="762" rtlCol="0" anchor="t">
            <a:normAutofit/>
          </a:bodyPr>
          <a:lstStyle/>
          <a:p>
            <a:pPr algn="l" indent="0" marL="0">
              <a:buNone/>
            </a:pPr>
            <a:r>
              <a:rPr lang="en-US" sz="1400" b="1" dirty="0">
                <a:solidFill>
                  <a:srgbClr val="13386B"/>
                </a:solidFill>
                <a:latin typeface="Aptos" pitchFamily="34" charset="0"/>
                <a:ea typeface="Aptos" pitchFamily="34" charset="-122"/>
                <a:cs typeface="Aptos" pitchFamily="34" charset="-120"/>
              </a:rPr>
              <a:t>General idea</a:t>
            </a:r>
            <a:endParaRPr lang="en-US" sz="1400" dirty="0"/>
          </a:p>
        </p:txBody>
      </p:sp>
      <p:sp>
        <p:nvSpPr>
          <p:cNvPr id="10" name="Text 6"/>
          <p:cNvSpPr/>
          <p:nvPr/>
        </p:nvSpPr>
        <p:spPr>
          <a:xfrm>
            <a:off x="6062472" y="2679192"/>
            <a:ext cx="4562856" cy="347472"/>
          </a:xfrm>
          <a:prstGeom prst="rect">
            <a:avLst/>
          </a:prstGeom>
          <a:noFill/>
          <a:ln/>
        </p:spPr>
        <p:txBody>
          <a:bodyPr wrap="square" lIns="762" tIns="762" rIns="762" bIns="762" rtlCol="0" anchor="t">
            <a:normAutofit/>
          </a:bodyPr>
          <a:lstStyle/>
          <a:p>
            <a:pPr algn="l" indent="0" marL="0">
              <a:buNone/>
            </a:pPr>
            <a:r>
              <a:rPr lang="en-US" sz="1250" dirty="0">
                <a:solidFill>
                  <a:srgbClr val="111827"/>
                </a:solidFill>
                <a:latin typeface="Aptos" pitchFamily="34" charset="0"/>
                <a:ea typeface="Aptos" pitchFamily="34" charset="-122"/>
                <a:cs typeface="Aptos" pitchFamily="34" charset="-120"/>
              </a:rPr>
              <a:t>Use an evaluation function f(n) to decide which frontier node looks best.</a:t>
            </a:r>
            <a:endParaRPr lang="en-US" sz="1250" dirty="0"/>
          </a:p>
        </p:txBody>
      </p:sp>
      <p:sp>
        <p:nvSpPr>
          <p:cNvPr id="11" name="Shape 7"/>
          <p:cNvSpPr/>
          <p:nvPr/>
        </p:nvSpPr>
        <p:spPr>
          <a:xfrm>
            <a:off x="5897880" y="3429000"/>
            <a:ext cx="4892040" cy="1005840"/>
          </a:xfrm>
          <a:prstGeom prst="roundRect">
            <a:avLst>
              <a:gd name="adj" fmla="val 5455"/>
            </a:avLst>
          </a:prstGeom>
          <a:solidFill>
            <a:srgbClr val="FFFFFF"/>
          </a:solidFill>
          <a:ln w="12700">
            <a:solidFill>
              <a:srgbClr val="D5DCE8"/>
            </a:solidFill>
            <a:prstDash val="solid"/>
          </a:ln>
        </p:spPr>
      </p:sp>
      <p:sp>
        <p:nvSpPr>
          <p:cNvPr id="12" name="Text 8"/>
          <p:cNvSpPr/>
          <p:nvPr/>
        </p:nvSpPr>
        <p:spPr>
          <a:xfrm>
            <a:off x="6062472" y="3593592"/>
            <a:ext cx="4562856" cy="310896"/>
          </a:xfrm>
          <a:prstGeom prst="rect">
            <a:avLst/>
          </a:prstGeom>
          <a:noFill/>
          <a:ln/>
        </p:spPr>
        <p:txBody>
          <a:bodyPr wrap="square" lIns="762" tIns="762" rIns="762" bIns="762" rtlCol="0" anchor="t">
            <a:normAutofit/>
          </a:bodyPr>
          <a:lstStyle/>
          <a:p>
            <a:pPr algn="l" indent="0" marL="0">
              <a:buNone/>
            </a:pPr>
            <a:r>
              <a:rPr lang="en-US" sz="1400" b="1" dirty="0">
                <a:solidFill>
                  <a:srgbClr val="0F8B8D"/>
                </a:solidFill>
                <a:latin typeface="Aptos" pitchFamily="34" charset="0"/>
                <a:ea typeface="Aptos" pitchFamily="34" charset="-122"/>
                <a:cs typeface="Aptos" pitchFamily="34" charset="-120"/>
              </a:rPr>
              <a:t>Different f(n), different algorithm</a:t>
            </a:r>
            <a:endParaRPr lang="en-US" sz="1400" dirty="0"/>
          </a:p>
        </p:txBody>
      </p:sp>
      <p:sp>
        <p:nvSpPr>
          <p:cNvPr id="13" name="Text 9"/>
          <p:cNvSpPr/>
          <p:nvPr/>
        </p:nvSpPr>
        <p:spPr>
          <a:xfrm>
            <a:off x="6062472" y="3959352"/>
            <a:ext cx="4562856" cy="347472"/>
          </a:xfrm>
          <a:prstGeom prst="rect">
            <a:avLst/>
          </a:prstGeom>
          <a:noFill/>
          <a:ln/>
        </p:spPr>
        <p:txBody>
          <a:bodyPr wrap="square" lIns="762" tIns="762" rIns="762" bIns="762" rtlCol="0" anchor="t">
            <a:normAutofit/>
          </a:bodyPr>
          <a:lstStyle/>
          <a:p>
            <a:pPr algn="l" indent="0" marL="0">
              <a:buNone/>
            </a:pPr>
            <a:r>
              <a:rPr lang="en-US" sz="1250" dirty="0">
                <a:solidFill>
                  <a:srgbClr val="111827"/>
                </a:solidFill>
                <a:latin typeface="Aptos" pitchFamily="34" charset="0"/>
                <a:ea typeface="Aptos" pitchFamily="34" charset="-122"/>
                <a:cs typeface="Aptos" pitchFamily="34" charset="-120"/>
              </a:rPr>
              <a:t>BFS, UCS, greedy, and A* can be seen as variations on the frontier priority rule.</a:t>
            </a:r>
            <a:endParaRPr lang="en-US" sz="1250" dirty="0"/>
          </a:p>
        </p:txBody>
      </p:sp>
      <p:sp>
        <p:nvSpPr>
          <p:cNvPr id="14" name="Shape 10"/>
          <p:cNvSpPr/>
          <p:nvPr/>
        </p:nvSpPr>
        <p:spPr>
          <a:xfrm>
            <a:off x="5897880" y="4709160"/>
            <a:ext cx="4892040" cy="777240"/>
          </a:xfrm>
          <a:prstGeom prst="roundRect">
            <a:avLst>
              <a:gd name="adj" fmla="val 7059"/>
            </a:avLst>
          </a:prstGeom>
          <a:solidFill>
            <a:srgbClr val="FFFFFF"/>
          </a:solidFill>
          <a:ln w="12700">
            <a:solidFill>
              <a:srgbClr val="D5DCE8"/>
            </a:solidFill>
            <a:prstDash val="solid"/>
          </a:ln>
        </p:spPr>
      </p:sp>
      <p:sp>
        <p:nvSpPr>
          <p:cNvPr id="15" name="Text 11"/>
          <p:cNvSpPr/>
          <p:nvPr/>
        </p:nvSpPr>
        <p:spPr>
          <a:xfrm>
            <a:off x="6062472" y="4873752"/>
            <a:ext cx="4562856" cy="310896"/>
          </a:xfrm>
          <a:prstGeom prst="rect">
            <a:avLst/>
          </a:prstGeom>
          <a:noFill/>
          <a:ln/>
        </p:spPr>
        <p:txBody>
          <a:bodyPr wrap="square" lIns="762" tIns="762" rIns="762" bIns="762" rtlCol="0" anchor="t">
            <a:normAutofit/>
          </a:bodyPr>
          <a:lstStyle/>
          <a:p>
            <a:pPr algn="l" indent="0" marL="0">
              <a:buNone/>
            </a:pPr>
            <a:r>
              <a:rPr lang="en-US" sz="1400" b="1" dirty="0">
                <a:solidFill>
                  <a:srgbClr val="F5A11A"/>
                </a:solidFill>
                <a:latin typeface="Aptos" pitchFamily="34" charset="0"/>
                <a:ea typeface="Aptos" pitchFamily="34" charset="-122"/>
                <a:cs typeface="Aptos" pitchFamily="34" charset="-120"/>
              </a:rPr>
              <a:t>This lecture</a:t>
            </a:r>
            <a:endParaRPr lang="en-US" sz="1400" dirty="0"/>
          </a:p>
        </p:txBody>
      </p:sp>
      <p:sp>
        <p:nvSpPr>
          <p:cNvPr id="16" name="Text 12"/>
          <p:cNvSpPr/>
          <p:nvPr/>
        </p:nvSpPr>
        <p:spPr>
          <a:xfrm>
            <a:off x="6062472" y="5239512"/>
            <a:ext cx="4562856" cy="118872"/>
          </a:xfrm>
          <a:prstGeom prst="rect">
            <a:avLst/>
          </a:prstGeom>
          <a:noFill/>
          <a:ln/>
        </p:spPr>
        <p:txBody>
          <a:bodyPr wrap="square" lIns="762" tIns="762" rIns="762" bIns="762" rtlCol="0" anchor="t">
            <a:normAutofit/>
          </a:bodyPr>
          <a:lstStyle/>
          <a:p>
            <a:pPr algn="l" indent="0" marL="0">
              <a:buNone/>
            </a:pPr>
            <a:r>
              <a:rPr lang="en-US" sz="1250" dirty="0">
                <a:solidFill>
                  <a:srgbClr val="111827"/>
                </a:solidFill>
                <a:latin typeface="Aptos" pitchFamily="34" charset="0"/>
                <a:ea typeface="Aptos" pitchFamily="34" charset="-122"/>
                <a:cs typeface="Aptos" pitchFamily="34" charset="-120"/>
              </a:rPr>
              <a:t>Only uninformed strategies: no heuristic estimate h(n).</a:t>
            </a:r>
            <a:endParaRPr lang="en-US" sz="1250" dirty="0"/>
          </a:p>
        </p:txBody>
      </p:sp>
      <p:sp>
        <p:nvSpPr>
          <p:cNvPr id="17" name="Text 13"/>
          <p:cNvSpPr/>
          <p:nvPr/>
        </p:nvSpPr>
        <p:spPr>
          <a:xfrm>
            <a:off x="11475720" y="6510528"/>
            <a:ext cx="320040" cy="164592"/>
          </a:xfrm>
          <a:prstGeom prst="rect">
            <a:avLst/>
          </a:prstGeom>
          <a:noFill/>
          <a:ln/>
        </p:spPr>
        <p:txBody>
          <a:bodyPr wrap="square" lIns="0" tIns="0" rIns="0" bIns="0" rtlCol="0" anchor="ctr"/>
          <a:lstStyle/>
          <a:p>
            <a:pPr algn="r" indent="0" marL="0">
              <a:buNone/>
            </a:pPr>
            <a:r>
              <a:rPr lang="en-US" sz="800" dirty="0">
                <a:solidFill>
                  <a:srgbClr val="6B7280"/>
                </a:solidFill>
              </a:rPr>
              <a:t>19</a:t>
            </a:r>
            <a:endParaRPr lang="en-US" sz="800" dirty="0"/>
          </a:p>
        </p:txBody>
      </p:sp>
      <p:sp>
        <p:nvSpPr>
          <p:cNvPr id="18" name="Text 14"/>
          <p:cNvSpPr/>
          <p:nvPr/>
        </p:nvSpPr>
        <p:spPr>
          <a:xfrm>
            <a:off x="411480" y="6510528"/>
            <a:ext cx="3200400" cy="164592"/>
          </a:xfrm>
          <a:prstGeom prst="rect">
            <a:avLst/>
          </a:prstGeom>
          <a:noFill/>
          <a:ln/>
        </p:spPr>
        <p:txBody>
          <a:bodyPr wrap="square" lIns="0" tIns="0" rIns="0" bIns="0" rtlCol="0" anchor="ctr"/>
          <a:lstStyle/>
          <a:p>
            <a:pPr indent="0" marL="0">
              <a:buNone/>
            </a:pPr>
            <a:r>
              <a:rPr lang="en-US" sz="750" dirty="0">
                <a:solidFill>
                  <a:srgbClr val="6B7280"/>
                </a:solidFill>
              </a:rPr>
              <a:t>CSU Channel Islands · COMP 469</a:t>
            </a:r>
            <a:endParaRPr lang="en-US" sz="7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5F7FB"/>
        </a:solidFill>
      </p:bgPr>
    </p:bg>
    <p:spTree>
      <p:nvGrpSpPr>
        <p:cNvPr id="1" name=""/>
        <p:cNvGrpSpPr/>
        <p:nvPr/>
      </p:nvGrpSpPr>
      <p:grpSpPr>
        <a:xfrm>
          <a:off x="0" y="0"/>
          <a:ext cx="0" cy="0"/>
          <a:chOff x="0" y="0"/>
          <a:chExt cx="0" cy="0"/>
        </a:xfrm>
      </p:grpSpPr>
      <p:sp>
        <p:nvSpPr>
          <p:cNvPr id="2" name="Shape 0"/>
          <p:cNvSpPr/>
          <p:nvPr/>
        </p:nvSpPr>
        <p:spPr>
          <a:xfrm>
            <a:off x="0" y="0"/>
            <a:ext cx="12191695" cy="640080"/>
          </a:xfrm>
          <a:prstGeom prst="rect">
            <a:avLst/>
          </a:prstGeom>
          <a:solidFill>
            <a:srgbClr val="13386B"/>
          </a:solidFill>
          <a:ln w="12700">
            <a:solidFill>
              <a:srgbClr val="13386B"/>
            </a:solidFill>
            <a:prstDash val="solid"/>
          </a:ln>
        </p:spPr>
      </p:sp>
      <p:sp>
        <p:nvSpPr>
          <p:cNvPr id="3" name="Shape 1"/>
          <p:cNvSpPr/>
          <p:nvPr/>
        </p:nvSpPr>
        <p:spPr>
          <a:xfrm>
            <a:off x="0" y="640080"/>
            <a:ext cx="12191695" cy="68580"/>
          </a:xfrm>
          <a:prstGeom prst="rect">
            <a:avLst/>
          </a:prstGeom>
          <a:solidFill>
            <a:srgbClr val="F5A11A"/>
          </a:solidFill>
          <a:ln w="12700">
            <a:solidFill>
              <a:srgbClr val="F5A11A"/>
            </a:solidFill>
            <a:prstDash val="solid"/>
          </a:ln>
        </p:spPr>
      </p:sp>
      <p:sp>
        <p:nvSpPr>
          <p:cNvPr id="4" name="Text 2"/>
          <p:cNvSpPr/>
          <p:nvPr/>
        </p:nvSpPr>
        <p:spPr>
          <a:xfrm>
            <a:off x="411480" y="155448"/>
            <a:ext cx="7818120" cy="320040"/>
          </a:xfrm>
          <a:prstGeom prst="rect">
            <a:avLst/>
          </a:prstGeom>
          <a:noFill/>
          <a:ln/>
        </p:spPr>
        <p:txBody>
          <a:bodyPr wrap="square" lIns="0" tIns="0" rIns="0" bIns="0" rtlCol="0" anchor="ctr"/>
          <a:lstStyle/>
          <a:p>
            <a:pPr indent="0" marL="0">
              <a:buNone/>
            </a:pPr>
            <a:r>
              <a:rPr lang="en-US" sz="2200" b="1" dirty="0">
                <a:solidFill>
                  <a:srgbClr val="FFFFFF"/>
                </a:solidFill>
                <a:latin typeface="Aptos Display" pitchFamily="34" charset="0"/>
                <a:ea typeface="Aptos Display" pitchFamily="34" charset="-122"/>
                <a:cs typeface="Aptos Display" pitchFamily="34" charset="-120"/>
              </a:rPr>
              <a:t>Search Data Structures</a:t>
            </a:r>
            <a:endParaRPr lang="en-US" sz="2200" dirty="0"/>
          </a:p>
        </p:txBody>
      </p:sp>
      <p:sp>
        <p:nvSpPr>
          <p:cNvPr id="5" name="Text 3"/>
          <p:cNvSpPr/>
          <p:nvPr/>
        </p:nvSpPr>
        <p:spPr>
          <a:xfrm>
            <a:off x="9253728" y="210312"/>
            <a:ext cx="2487168" cy="256032"/>
          </a:xfrm>
          <a:prstGeom prst="rect">
            <a:avLst/>
          </a:prstGeom>
          <a:noFill/>
          <a:ln/>
        </p:spPr>
        <p:txBody>
          <a:bodyPr wrap="square" lIns="0" tIns="0" rIns="0" bIns="0" rtlCol="0" anchor="ctr"/>
          <a:lstStyle/>
          <a:p>
            <a:pPr algn="r" indent="0" marL="0">
              <a:buNone/>
            </a:pPr>
            <a:r>
              <a:rPr lang="en-US" sz="850" dirty="0">
                <a:solidFill>
                  <a:srgbClr val="D9E5F2"/>
                </a:solidFill>
              </a:rPr>
              <a:t>COMP 469 · Chapter 3 · Sections 3.1–3.4</a:t>
            </a:r>
            <a:endParaRPr lang="en-US" sz="850" dirty="0"/>
          </a:p>
        </p:txBody>
      </p:sp>
      <p:sp>
        <p:nvSpPr>
          <p:cNvPr id="6" name="Shape 4"/>
          <p:cNvSpPr/>
          <p:nvPr/>
        </p:nvSpPr>
        <p:spPr>
          <a:xfrm>
            <a:off x="731520" y="960120"/>
            <a:ext cx="5257800" cy="2011680"/>
          </a:xfrm>
          <a:prstGeom prst="roundRect">
            <a:avLst>
              <a:gd name="adj" fmla="val 2727"/>
            </a:avLst>
          </a:prstGeom>
          <a:solidFill>
            <a:srgbClr val="FFFFFF"/>
          </a:solidFill>
          <a:ln w="12700">
            <a:solidFill>
              <a:srgbClr val="D5DCE8"/>
            </a:solidFill>
            <a:prstDash val="solid"/>
          </a:ln>
        </p:spPr>
      </p:sp>
      <p:sp>
        <p:nvSpPr>
          <p:cNvPr id="7" name="Text 5"/>
          <p:cNvSpPr/>
          <p:nvPr/>
        </p:nvSpPr>
        <p:spPr>
          <a:xfrm>
            <a:off x="896112" y="1124712"/>
            <a:ext cx="4928616" cy="310896"/>
          </a:xfrm>
          <a:prstGeom prst="rect">
            <a:avLst/>
          </a:prstGeom>
          <a:noFill/>
          <a:ln/>
        </p:spPr>
        <p:txBody>
          <a:bodyPr wrap="square" lIns="762" tIns="762" rIns="762" bIns="762" rtlCol="0" anchor="t">
            <a:normAutofit/>
          </a:bodyPr>
          <a:lstStyle/>
          <a:p>
            <a:pPr algn="l" indent="0" marL="0">
              <a:buNone/>
            </a:pPr>
            <a:r>
              <a:rPr lang="en-US" sz="1400" b="1" dirty="0">
                <a:solidFill>
                  <a:srgbClr val="13386B"/>
                </a:solidFill>
                <a:latin typeface="Aptos" pitchFamily="34" charset="0"/>
                <a:ea typeface="Aptos" pitchFamily="34" charset="-122"/>
                <a:cs typeface="Aptos" pitchFamily="34" charset="-120"/>
              </a:rPr>
              <a:t>Node fields</a:t>
            </a:r>
            <a:endParaRPr lang="en-US" sz="1400" dirty="0"/>
          </a:p>
        </p:txBody>
      </p:sp>
      <p:sp>
        <p:nvSpPr>
          <p:cNvPr id="8" name="Text 6"/>
          <p:cNvSpPr/>
          <p:nvPr/>
        </p:nvSpPr>
        <p:spPr>
          <a:xfrm>
            <a:off x="896112" y="1490472"/>
            <a:ext cx="4928616" cy="1353312"/>
          </a:xfrm>
          <a:prstGeom prst="rect">
            <a:avLst/>
          </a:prstGeom>
          <a:noFill/>
          <a:ln/>
        </p:spPr>
        <p:txBody>
          <a:bodyPr wrap="square" lIns="762" tIns="762" rIns="762" bIns="762" rtlCol="0" anchor="t">
            <a:normAutofit/>
          </a:bodyPr>
          <a:lstStyle/>
          <a:p>
            <a:pPr algn="l" indent="0" marL="0">
              <a:buNone/>
            </a:pPr>
            <a:r>
              <a:rPr lang="en-US" sz="1250" dirty="0">
                <a:solidFill>
                  <a:srgbClr val="111827"/>
                </a:solidFill>
                <a:latin typeface="Aptos" pitchFamily="34" charset="0"/>
                <a:ea typeface="Aptos" pitchFamily="34" charset="-122"/>
                <a:cs typeface="Aptos" pitchFamily="34" charset="-120"/>
              </a:rPr>
              <a:t>node.STATE</a:t>
            </a:r>
            <a:endParaRPr lang="en-US" sz="1250" dirty="0"/>
          </a:p>
          <a:p>
            <a:pPr algn="l" indent="0" marL="0">
              <a:buNone/>
            </a:pPr>
            <a:r>
              <a:rPr lang="en-US" sz="1250" dirty="0">
                <a:solidFill>
                  <a:srgbClr val="111827"/>
                </a:solidFill>
                <a:latin typeface="Aptos" pitchFamily="34" charset="0"/>
                <a:ea typeface="Aptos" pitchFamily="34" charset="-122"/>
                <a:cs typeface="Aptos" pitchFamily="34" charset="-120"/>
              </a:rPr>
              <a:t>node.PARENT</a:t>
            </a:r>
            <a:endParaRPr lang="en-US" sz="1250" dirty="0"/>
          </a:p>
          <a:p>
            <a:pPr algn="l" indent="0" marL="0">
              <a:buNone/>
            </a:pPr>
            <a:r>
              <a:rPr lang="en-US" sz="1250" dirty="0">
                <a:solidFill>
                  <a:srgbClr val="111827"/>
                </a:solidFill>
                <a:latin typeface="Aptos" pitchFamily="34" charset="0"/>
                <a:ea typeface="Aptos" pitchFamily="34" charset="-122"/>
                <a:cs typeface="Aptos" pitchFamily="34" charset="-120"/>
              </a:rPr>
              <a:t>node.ACTION</a:t>
            </a:r>
            <a:endParaRPr lang="en-US" sz="1250" dirty="0"/>
          </a:p>
          <a:p>
            <a:pPr algn="l" indent="0" marL="0">
              <a:buNone/>
            </a:pPr>
            <a:r>
              <a:rPr lang="en-US" sz="1250" dirty="0">
                <a:solidFill>
                  <a:srgbClr val="111827"/>
                </a:solidFill>
                <a:latin typeface="Aptos" pitchFamily="34" charset="0"/>
                <a:ea typeface="Aptos" pitchFamily="34" charset="-122"/>
                <a:cs typeface="Aptos" pitchFamily="34" charset="-120"/>
              </a:rPr>
              <a:t>node.PATH-COST, also written as g(node)</a:t>
            </a:r>
            <a:endParaRPr lang="en-US" sz="1250" dirty="0"/>
          </a:p>
        </p:txBody>
      </p:sp>
      <p:sp>
        <p:nvSpPr>
          <p:cNvPr id="9" name="Shape 7"/>
          <p:cNvSpPr/>
          <p:nvPr/>
        </p:nvSpPr>
        <p:spPr>
          <a:xfrm>
            <a:off x="6217920" y="960120"/>
            <a:ext cx="5257800" cy="2011680"/>
          </a:xfrm>
          <a:prstGeom prst="roundRect">
            <a:avLst>
              <a:gd name="adj" fmla="val 2727"/>
            </a:avLst>
          </a:prstGeom>
          <a:solidFill>
            <a:srgbClr val="FFFFFF"/>
          </a:solidFill>
          <a:ln w="12700">
            <a:solidFill>
              <a:srgbClr val="D5DCE8"/>
            </a:solidFill>
            <a:prstDash val="solid"/>
          </a:ln>
        </p:spPr>
      </p:sp>
      <p:sp>
        <p:nvSpPr>
          <p:cNvPr id="10" name="Text 8"/>
          <p:cNvSpPr/>
          <p:nvPr/>
        </p:nvSpPr>
        <p:spPr>
          <a:xfrm>
            <a:off x="6382512" y="1124712"/>
            <a:ext cx="4928616" cy="310896"/>
          </a:xfrm>
          <a:prstGeom prst="rect">
            <a:avLst/>
          </a:prstGeom>
          <a:noFill/>
          <a:ln/>
        </p:spPr>
        <p:txBody>
          <a:bodyPr wrap="square" lIns="762" tIns="762" rIns="762" bIns="762" rtlCol="0" anchor="t">
            <a:normAutofit/>
          </a:bodyPr>
          <a:lstStyle/>
          <a:p>
            <a:pPr algn="l" indent="0" marL="0">
              <a:buNone/>
            </a:pPr>
            <a:r>
              <a:rPr lang="en-US" sz="1400" b="1" dirty="0">
                <a:solidFill>
                  <a:srgbClr val="0F8B8D"/>
                </a:solidFill>
                <a:latin typeface="Aptos" pitchFamily="34" charset="0"/>
                <a:ea typeface="Aptos" pitchFamily="34" charset="-122"/>
                <a:cs typeface="Aptos" pitchFamily="34" charset="-120"/>
              </a:rPr>
              <a:t>Frontier operations</a:t>
            </a:r>
            <a:endParaRPr lang="en-US" sz="1400" dirty="0"/>
          </a:p>
        </p:txBody>
      </p:sp>
      <p:sp>
        <p:nvSpPr>
          <p:cNvPr id="11" name="Text 9"/>
          <p:cNvSpPr/>
          <p:nvPr/>
        </p:nvSpPr>
        <p:spPr>
          <a:xfrm>
            <a:off x="6382512" y="1490472"/>
            <a:ext cx="4928616" cy="1353312"/>
          </a:xfrm>
          <a:prstGeom prst="rect">
            <a:avLst/>
          </a:prstGeom>
          <a:noFill/>
          <a:ln/>
        </p:spPr>
        <p:txBody>
          <a:bodyPr wrap="square" lIns="762" tIns="762" rIns="762" bIns="762" rtlCol="0" anchor="t">
            <a:normAutofit/>
          </a:bodyPr>
          <a:lstStyle/>
          <a:p>
            <a:pPr algn="l" indent="0" marL="0">
              <a:buNone/>
            </a:pPr>
            <a:r>
              <a:rPr lang="en-US" sz="1250" dirty="0">
                <a:solidFill>
                  <a:srgbClr val="111827"/>
                </a:solidFill>
                <a:latin typeface="Aptos" pitchFamily="34" charset="0"/>
                <a:ea typeface="Aptos" pitchFamily="34" charset="-122"/>
                <a:cs typeface="Aptos" pitchFamily="34" charset="-120"/>
              </a:rPr>
              <a:t>IS-EMPTY(frontier)</a:t>
            </a:r>
            <a:endParaRPr lang="en-US" sz="1250" dirty="0"/>
          </a:p>
          <a:p>
            <a:pPr algn="l" indent="0" marL="0">
              <a:buNone/>
            </a:pPr>
            <a:r>
              <a:rPr lang="en-US" sz="1250" dirty="0">
                <a:solidFill>
                  <a:srgbClr val="111827"/>
                </a:solidFill>
                <a:latin typeface="Aptos" pitchFamily="34" charset="0"/>
                <a:ea typeface="Aptos" pitchFamily="34" charset="-122"/>
                <a:cs typeface="Aptos" pitchFamily="34" charset="-120"/>
              </a:rPr>
              <a:t>POP(frontier)</a:t>
            </a:r>
            <a:endParaRPr lang="en-US" sz="1250" dirty="0"/>
          </a:p>
          <a:p>
            <a:pPr algn="l" indent="0" marL="0">
              <a:buNone/>
            </a:pPr>
            <a:r>
              <a:rPr lang="en-US" sz="1250" dirty="0">
                <a:solidFill>
                  <a:srgbClr val="111827"/>
                </a:solidFill>
                <a:latin typeface="Aptos" pitchFamily="34" charset="0"/>
                <a:ea typeface="Aptos" pitchFamily="34" charset="-122"/>
                <a:cs typeface="Aptos" pitchFamily="34" charset="-120"/>
              </a:rPr>
              <a:t>TOP(frontier)</a:t>
            </a:r>
            <a:endParaRPr lang="en-US" sz="1250" dirty="0"/>
          </a:p>
          <a:p>
            <a:pPr algn="l" indent="0" marL="0">
              <a:buNone/>
            </a:pPr>
            <a:r>
              <a:rPr lang="en-US" sz="1250" dirty="0">
                <a:solidFill>
                  <a:srgbClr val="111827"/>
                </a:solidFill>
                <a:latin typeface="Aptos" pitchFamily="34" charset="0"/>
                <a:ea typeface="Aptos" pitchFamily="34" charset="-122"/>
                <a:cs typeface="Aptos" pitchFamily="34" charset="-120"/>
              </a:rPr>
              <a:t>ADD(node, frontier)</a:t>
            </a:r>
            <a:endParaRPr lang="en-US" sz="1250" dirty="0"/>
          </a:p>
        </p:txBody>
      </p:sp>
      <p:sp>
        <p:nvSpPr>
          <p:cNvPr id="12" name="Shape 10"/>
          <p:cNvSpPr/>
          <p:nvPr/>
        </p:nvSpPr>
        <p:spPr>
          <a:xfrm>
            <a:off x="731520" y="3429000"/>
            <a:ext cx="3337560" cy="1371600"/>
          </a:xfrm>
          <a:prstGeom prst="roundRect">
            <a:avLst>
              <a:gd name="adj" fmla="val 4000"/>
            </a:avLst>
          </a:prstGeom>
          <a:solidFill>
            <a:srgbClr val="FFFFFF"/>
          </a:solidFill>
          <a:ln w="12700">
            <a:solidFill>
              <a:srgbClr val="D5DCE8"/>
            </a:solidFill>
            <a:prstDash val="solid"/>
          </a:ln>
        </p:spPr>
      </p:sp>
      <p:sp>
        <p:nvSpPr>
          <p:cNvPr id="13" name="Text 11"/>
          <p:cNvSpPr/>
          <p:nvPr/>
        </p:nvSpPr>
        <p:spPr>
          <a:xfrm>
            <a:off x="896112" y="3593592"/>
            <a:ext cx="3008376" cy="310896"/>
          </a:xfrm>
          <a:prstGeom prst="rect">
            <a:avLst/>
          </a:prstGeom>
          <a:noFill/>
          <a:ln/>
        </p:spPr>
        <p:txBody>
          <a:bodyPr wrap="square" lIns="762" tIns="762" rIns="762" bIns="762" rtlCol="0" anchor="t">
            <a:normAutofit/>
          </a:bodyPr>
          <a:lstStyle/>
          <a:p>
            <a:pPr algn="l" indent="0" marL="0">
              <a:buNone/>
            </a:pPr>
            <a:r>
              <a:rPr lang="en-US" sz="1400" b="1" dirty="0">
                <a:solidFill>
                  <a:srgbClr val="F5A11A"/>
                </a:solidFill>
                <a:latin typeface="Aptos" pitchFamily="34" charset="0"/>
                <a:ea typeface="Aptos" pitchFamily="34" charset="-122"/>
                <a:cs typeface="Aptos" pitchFamily="34" charset="-120"/>
              </a:rPr>
              <a:t>Priority queue</a:t>
            </a:r>
            <a:endParaRPr lang="en-US" sz="1400" dirty="0"/>
          </a:p>
        </p:txBody>
      </p:sp>
      <p:sp>
        <p:nvSpPr>
          <p:cNvPr id="14" name="Text 12"/>
          <p:cNvSpPr/>
          <p:nvPr/>
        </p:nvSpPr>
        <p:spPr>
          <a:xfrm>
            <a:off x="896112" y="3959352"/>
            <a:ext cx="3008376" cy="713232"/>
          </a:xfrm>
          <a:prstGeom prst="rect">
            <a:avLst/>
          </a:prstGeom>
          <a:noFill/>
          <a:ln/>
        </p:spPr>
        <p:txBody>
          <a:bodyPr wrap="square" lIns="762" tIns="762" rIns="762" bIns="762" rtlCol="0" anchor="t">
            <a:normAutofit/>
          </a:bodyPr>
          <a:lstStyle/>
          <a:p>
            <a:pPr algn="l" indent="0" marL="0">
              <a:buNone/>
            </a:pPr>
            <a:r>
              <a:rPr lang="en-US" sz="1250" dirty="0">
                <a:solidFill>
                  <a:srgbClr val="111827"/>
                </a:solidFill>
                <a:latin typeface="Aptos" pitchFamily="34" charset="0"/>
                <a:ea typeface="Aptos" pitchFamily="34" charset="-122"/>
                <a:cs typeface="Aptos" pitchFamily="34" charset="-120"/>
              </a:rPr>
              <a:t>Pops minimum f(n). Used in best-first search and UCS.</a:t>
            </a:r>
            <a:endParaRPr lang="en-US" sz="1250" dirty="0"/>
          </a:p>
        </p:txBody>
      </p:sp>
      <p:sp>
        <p:nvSpPr>
          <p:cNvPr id="15" name="Shape 13"/>
          <p:cNvSpPr/>
          <p:nvPr/>
        </p:nvSpPr>
        <p:spPr>
          <a:xfrm>
            <a:off x="4434840" y="3429000"/>
            <a:ext cx="3337560" cy="1371600"/>
          </a:xfrm>
          <a:prstGeom prst="roundRect">
            <a:avLst>
              <a:gd name="adj" fmla="val 4000"/>
            </a:avLst>
          </a:prstGeom>
          <a:solidFill>
            <a:srgbClr val="FFFFFF"/>
          </a:solidFill>
          <a:ln w="12700">
            <a:solidFill>
              <a:srgbClr val="D5DCE8"/>
            </a:solidFill>
            <a:prstDash val="solid"/>
          </a:ln>
        </p:spPr>
      </p:sp>
      <p:sp>
        <p:nvSpPr>
          <p:cNvPr id="16" name="Text 14"/>
          <p:cNvSpPr/>
          <p:nvPr/>
        </p:nvSpPr>
        <p:spPr>
          <a:xfrm>
            <a:off x="4599432" y="3593592"/>
            <a:ext cx="3008376" cy="310896"/>
          </a:xfrm>
          <a:prstGeom prst="rect">
            <a:avLst/>
          </a:prstGeom>
          <a:noFill/>
          <a:ln/>
        </p:spPr>
        <p:txBody>
          <a:bodyPr wrap="square" lIns="762" tIns="762" rIns="762" bIns="762" rtlCol="0" anchor="t">
            <a:normAutofit/>
          </a:bodyPr>
          <a:lstStyle/>
          <a:p>
            <a:pPr algn="l" indent="0" marL="0">
              <a:buNone/>
            </a:pPr>
            <a:r>
              <a:rPr lang="en-US" sz="1400" b="1" dirty="0">
                <a:solidFill>
                  <a:srgbClr val="1F7A3D"/>
                </a:solidFill>
                <a:latin typeface="Aptos" pitchFamily="34" charset="0"/>
                <a:ea typeface="Aptos" pitchFamily="34" charset="-122"/>
                <a:cs typeface="Aptos" pitchFamily="34" charset="-120"/>
              </a:rPr>
              <a:t>FIFO queue</a:t>
            </a:r>
            <a:endParaRPr lang="en-US" sz="1400" dirty="0"/>
          </a:p>
        </p:txBody>
      </p:sp>
      <p:sp>
        <p:nvSpPr>
          <p:cNvPr id="17" name="Text 15"/>
          <p:cNvSpPr/>
          <p:nvPr/>
        </p:nvSpPr>
        <p:spPr>
          <a:xfrm>
            <a:off x="4599432" y="3959352"/>
            <a:ext cx="3008376" cy="713232"/>
          </a:xfrm>
          <a:prstGeom prst="rect">
            <a:avLst/>
          </a:prstGeom>
          <a:noFill/>
          <a:ln/>
        </p:spPr>
        <p:txBody>
          <a:bodyPr wrap="square" lIns="762" tIns="762" rIns="762" bIns="762" rtlCol="0" anchor="t">
            <a:normAutofit/>
          </a:bodyPr>
          <a:lstStyle/>
          <a:p>
            <a:pPr algn="l" indent="0" marL="0">
              <a:buNone/>
            </a:pPr>
            <a:r>
              <a:rPr lang="en-US" sz="1250" dirty="0">
                <a:solidFill>
                  <a:srgbClr val="111827"/>
                </a:solidFill>
                <a:latin typeface="Aptos" pitchFamily="34" charset="0"/>
                <a:ea typeface="Aptos" pitchFamily="34" charset="-122"/>
                <a:cs typeface="Aptos" pitchFamily="34" charset="-120"/>
              </a:rPr>
              <a:t>First-in, first-out. Used in breadth-first search.</a:t>
            </a:r>
            <a:endParaRPr lang="en-US" sz="1250" dirty="0"/>
          </a:p>
        </p:txBody>
      </p:sp>
      <p:sp>
        <p:nvSpPr>
          <p:cNvPr id="18" name="Shape 16"/>
          <p:cNvSpPr/>
          <p:nvPr/>
        </p:nvSpPr>
        <p:spPr>
          <a:xfrm>
            <a:off x="8138160" y="3429000"/>
            <a:ext cx="3337560" cy="1371600"/>
          </a:xfrm>
          <a:prstGeom prst="roundRect">
            <a:avLst>
              <a:gd name="adj" fmla="val 4000"/>
            </a:avLst>
          </a:prstGeom>
          <a:solidFill>
            <a:srgbClr val="FFFFFF"/>
          </a:solidFill>
          <a:ln w="12700">
            <a:solidFill>
              <a:srgbClr val="D5DCE8"/>
            </a:solidFill>
            <a:prstDash val="solid"/>
          </a:ln>
        </p:spPr>
      </p:sp>
      <p:sp>
        <p:nvSpPr>
          <p:cNvPr id="19" name="Text 17"/>
          <p:cNvSpPr/>
          <p:nvPr/>
        </p:nvSpPr>
        <p:spPr>
          <a:xfrm>
            <a:off x="8302752" y="3593592"/>
            <a:ext cx="3008376" cy="310896"/>
          </a:xfrm>
          <a:prstGeom prst="rect">
            <a:avLst/>
          </a:prstGeom>
          <a:noFill/>
          <a:ln/>
        </p:spPr>
        <p:txBody>
          <a:bodyPr wrap="square" lIns="762" tIns="762" rIns="762" bIns="762" rtlCol="0" anchor="t">
            <a:normAutofit/>
          </a:bodyPr>
          <a:lstStyle/>
          <a:p>
            <a:pPr algn="l" indent="0" marL="0">
              <a:buNone/>
            </a:pPr>
            <a:r>
              <a:rPr lang="en-US" sz="1400" b="1" dirty="0">
                <a:solidFill>
                  <a:srgbClr val="7A2E54"/>
                </a:solidFill>
                <a:latin typeface="Aptos" pitchFamily="34" charset="0"/>
                <a:ea typeface="Aptos" pitchFamily="34" charset="-122"/>
                <a:cs typeface="Aptos" pitchFamily="34" charset="-120"/>
              </a:rPr>
              <a:t>LIFO stack</a:t>
            </a:r>
            <a:endParaRPr lang="en-US" sz="1400" dirty="0"/>
          </a:p>
        </p:txBody>
      </p:sp>
      <p:sp>
        <p:nvSpPr>
          <p:cNvPr id="20" name="Text 18"/>
          <p:cNvSpPr/>
          <p:nvPr/>
        </p:nvSpPr>
        <p:spPr>
          <a:xfrm>
            <a:off x="8302752" y="3959352"/>
            <a:ext cx="3008376" cy="713232"/>
          </a:xfrm>
          <a:prstGeom prst="rect">
            <a:avLst/>
          </a:prstGeom>
          <a:noFill/>
          <a:ln/>
        </p:spPr>
        <p:txBody>
          <a:bodyPr wrap="square" lIns="762" tIns="762" rIns="762" bIns="762" rtlCol="0" anchor="t">
            <a:normAutofit/>
          </a:bodyPr>
          <a:lstStyle/>
          <a:p>
            <a:pPr algn="l" indent="0" marL="0">
              <a:buNone/>
            </a:pPr>
            <a:r>
              <a:rPr lang="en-US" sz="1250" dirty="0">
                <a:solidFill>
                  <a:srgbClr val="111827"/>
                </a:solidFill>
                <a:latin typeface="Aptos" pitchFamily="34" charset="0"/>
                <a:ea typeface="Aptos" pitchFamily="34" charset="-122"/>
                <a:cs typeface="Aptos" pitchFamily="34" charset="-120"/>
              </a:rPr>
              <a:t>Last-in, first-out. Used in depth-first search.</a:t>
            </a:r>
            <a:endParaRPr lang="en-US" sz="1250" dirty="0"/>
          </a:p>
        </p:txBody>
      </p:sp>
      <p:sp>
        <p:nvSpPr>
          <p:cNvPr id="21" name="Shape 19"/>
          <p:cNvSpPr/>
          <p:nvPr/>
        </p:nvSpPr>
        <p:spPr>
          <a:xfrm>
            <a:off x="2377440" y="5532120"/>
            <a:ext cx="7498080" cy="329184"/>
          </a:xfrm>
          <a:prstGeom prst="roundRect">
            <a:avLst>
              <a:gd name="adj" fmla="val 19444"/>
            </a:avLst>
          </a:prstGeom>
          <a:solidFill>
            <a:srgbClr val="13386B"/>
          </a:solidFill>
          <a:ln w="12700">
            <a:solidFill>
              <a:srgbClr val="13386B"/>
            </a:solidFill>
            <a:prstDash val="solid"/>
          </a:ln>
        </p:spPr>
      </p:sp>
      <p:sp>
        <p:nvSpPr>
          <p:cNvPr id="22" name="Text 20"/>
          <p:cNvSpPr/>
          <p:nvPr/>
        </p:nvSpPr>
        <p:spPr>
          <a:xfrm>
            <a:off x="2450592" y="5586984"/>
            <a:ext cx="7351776" cy="237744"/>
          </a:xfrm>
          <a:prstGeom prst="rect">
            <a:avLst/>
          </a:prstGeom>
          <a:noFill/>
          <a:ln/>
        </p:spPr>
        <p:txBody>
          <a:bodyPr wrap="square" lIns="0" tIns="0" rIns="0" bIns="0" rtlCol="0" anchor="ctr"/>
          <a:lstStyle/>
          <a:p>
            <a:pPr algn="ctr" indent="0" marL="0">
              <a:buNone/>
            </a:pPr>
            <a:r>
              <a:rPr lang="en-US" sz="1200" b="1" dirty="0">
                <a:solidFill>
                  <a:srgbClr val="FFFFFF"/>
                </a:solidFill>
              </a:rPr>
              <a:t>PARENT pointers recover the final solution path from a goal node.</a:t>
            </a:r>
            <a:endParaRPr lang="en-US" sz="1200" dirty="0"/>
          </a:p>
        </p:txBody>
      </p:sp>
      <p:sp>
        <p:nvSpPr>
          <p:cNvPr id="23" name="Text 21"/>
          <p:cNvSpPr/>
          <p:nvPr/>
        </p:nvSpPr>
        <p:spPr>
          <a:xfrm>
            <a:off x="11475720" y="6510528"/>
            <a:ext cx="320040" cy="164592"/>
          </a:xfrm>
          <a:prstGeom prst="rect">
            <a:avLst/>
          </a:prstGeom>
          <a:noFill/>
          <a:ln/>
        </p:spPr>
        <p:txBody>
          <a:bodyPr wrap="square" lIns="0" tIns="0" rIns="0" bIns="0" rtlCol="0" anchor="ctr"/>
          <a:lstStyle/>
          <a:p>
            <a:pPr algn="r" indent="0" marL="0">
              <a:buNone/>
            </a:pPr>
            <a:r>
              <a:rPr lang="en-US" sz="800" dirty="0">
                <a:solidFill>
                  <a:srgbClr val="6B7280"/>
                </a:solidFill>
              </a:rPr>
              <a:t>20</a:t>
            </a:r>
            <a:endParaRPr lang="en-US" sz="800" dirty="0"/>
          </a:p>
        </p:txBody>
      </p:sp>
      <p:sp>
        <p:nvSpPr>
          <p:cNvPr id="24" name="Text 22"/>
          <p:cNvSpPr/>
          <p:nvPr/>
        </p:nvSpPr>
        <p:spPr>
          <a:xfrm>
            <a:off x="411480" y="6510528"/>
            <a:ext cx="3200400" cy="164592"/>
          </a:xfrm>
          <a:prstGeom prst="rect">
            <a:avLst/>
          </a:prstGeom>
          <a:noFill/>
          <a:ln/>
        </p:spPr>
        <p:txBody>
          <a:bodyPr wrap="square" lIns="0" tIns="0" rIns="0" bIns="0" rtlCol="0" anchor="ctr"/>
          <a:lstStyle/>
          <a:p>
            <a:pPr indent="0" marL="0">
              <a:buNone/>
            </a:pPr>
            <a:r>
              <a:rPr lang="en-US" sz="750" dirty="0">
                <a:solidFill>
                  <a:srgbClr val="6B7280"/>
                </a:solidFill>
              </a:rPr>
              <a:t>CSU Channel Islands · COMP 469</a:t>
            </a:r>
            <a:endParaRPr lang="en-US" sz="7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5F7FB"/>
        </a:solidFill>
      </p:bgPr>
    </p:bg>
    <p:spTree>
      <p:nvGrpSpPr>
        <p:cNvPr id="1" name=""/>
        <p:cNvGrpSpPr/>
        <p:nvPr/>
      </p:nvGrpSpPr>
      <p:grpSpPr>
        <a:xfrm>
          <a:off x="0" y="0"/>
          <a:ext cx="0" cy="0"/>
          <a:chOff x="0" y="0"/>
          <a:chExt cx="0" cy="0"/>
        </a:xfrm>
      </p:grpSpPr>
      <p:sp>
        <p:nvSpPr>
          <p:cNvPr id="2" name="Shape 0"/>
          <p:cNvSpPr/>
          <p:nvPr/>
        </p:nvSpPr>
        <p:spPr>
          <a:xfrm>
            <a:off x="0" y="0"/>
            <a:ext cx="12191695" cy="640080"/>
          </a:xfrm>
          <a:prstGeom prst="rect">
            <a:avLst/>
          </a:prstGeom>
          <a:solidFill>
            <a:srgbClr val="13386B"/>
          </a:solidFill>
          <a:ln w="12700">
            <a:solidFill>
              <a:srgbClr val="13386B"/>
            </a:solidFill>
            <a:prstDash val="solid"/>
          </a:ln>
        </p:spPr>
      </p:sp>
      <p:sp>
        <p:nvSpPr>
          <p:cNvPr id="3" name="Shape 1"/>
          <p:cNvSpPr/>
          <p:nvPr/>
        </p:nvSpPr>
        <p:spPr>
          <a:xfrm>
            <a:off x="0" y="640080"/>
            <a:ext cx="12191695" cy="68580"/>
          </a:xfrm>
          <a:prstGeom prst="rect">
            <a:avLst/>
          </a:prstGeom>
          <a:solidFill>
            <a:srgbClr val="F5A11A"/>
          </a:solidFill>
          <a:ln w="12700">
            <a:solidFill>
              <a:srgbClr val="F5A11A"/>
            </a:solidFill>
            <a:prstDash val="solid"/>
          </a:ln>
        </p:spPr>
      </p:sp>
      <p:sp>
        <p:nvSpPr>
          <p:cNvPr id="4" name="Text 2"/>
          <p:cNvSpPr/>
          <p:nvPr/>
        </p:nvSpPr>
        <p:spPr>
          <a:xfrm>
            <a:off x="411480" y="155448"/>
            <a:ext cx="7818120" cy="320040"/>
          </a:xfrm>
          <a:prstGeom prst="rect">
            <a:avLst/>
          </a:prstGeom>
          <a:noFill/>
          <a:ln/>
        </p:spPr>
        <p:txBody>
          <a:bodyPr wrap="square" lIns="0" tIns="0" rIns="0" bIns="0" rtlCol="0" anchor="ctr"/>
          <a:lstStyle/>
          <a:p>
            <a:pPr indent="0" marL="0">
              <a:buNone/>
            </a:pPr>
            <a:r>
              <a:rPr lang="en-US" sz="2200" b="1" dirty="0">
                <a:solidFill>
                  <a:srgbClr val="FFFFFF"/>
                </a:solidFill>
                <a:latin typeface="Aptos Display" pitchFamily="34" charset="0"/>
                <a:ea typeface="Aptos Display" pitchFamily="34" charset="-122"/>
                <a:cs typeface="Aptos Display" pitchFamily="34" charset="-120"/>
              </a:rPr>
              <a:t>Redundant Paths and Cycles</a:t>
            </a:r>
            <a:endParaRPr lang="en-US" sz="2200" dirty="0"/>
          </a:p>
        </p:txBody>
      </p:sp>
      <p:sp>
        <p:nvSpPr>
          <p:cNvPr id="5" name="Text 3"/>
          <p:cNvSpPr/>
          <p:nvPr/>
        </p:nvSpPr>
        <p:spPr>
          <a:xfrm>
            <a:off x="9253728" y="210312"/>
            <a:ext cx="2487168" cy="256032"/>
          </a:xfrm>
          <a:prstGeom prst="rect">
            <a:avLst/>
          </a:prstGeom>
          <a:noFill/>
          <a:ln/>
        </p:spPr>
        <p:txBody>
          <a:bodyPr wrap="square" lIns="0" tIns="0" rIns="0" bIns="0" rtlCol="0" anchor="ctr"/>
          <a:lstStyle/>
          <a:p>
            <a:pPr algn="r" indent="0" marL="0">
              <a:buNone/>
            </a:pPr>
            <a:r>
              <a:rPr lang="en-US" sz="850" dirty="0">
                <a:solidFill>
                  <a:srgbClr val="D9E5F2"/>
                </a:solidFill>
              </a:rPr>
              <a:t>COMP 469 · Chapter 3 · Sections 3.1–3.4</a:t>
            </a:r>
            <a:endParaRPr lang="en-US" sz="850" dirty="0"/>
          </a:p>
        </p:txBody>
      </p:sp>
      <p:sp>
        <p:nvSpPr>
          <p:cNvPr id="6" name="Shape 4"/>
          <p:cNvSpPr/>
          <p:nvPr/>
        </p:nvSpPr>
        <p:spPr>
          <a:xfrm>
            <a:off x="822960" y="1051560"/>
            <a:ext cx="5074920" cy="1097280"/>
          </a:xfrm>
          <a:prstGeom prst="roundRect">
            <a:avLst>
              <a:gd name="adj" fmla="val 5000"/>
            </a:avLst>
          </a:prstGeom>
          <a:solidFill>
            <a:srgbClr val="FFFFFF"/>
          </a:solidFill>
          <a:ln w="12700">
            <a:solidFill>
              <a:srgbClr val="D5DCE8"/>
            </a:solidFill>
            <a:prstDash val="solid"/>
          </a:ln>
        </p:spPr>
      </p:sp>
      <p:sp>
        <p:nvSpPr>
          <p:cNvPr id="7" name="Text 5"/>
          <p:cNvSpPr/>
          <p:nvPr/>
        </p:nvSpPr>
        <p:spPr>
          <a:xfrm>
            <a:off x="987552" y="1216152"/>
            <a:ext cx="4745736" cy="310896"/>
          </a:xfrm>
          <a:prstGeom prst="rect">
            <a:avLst/>
          </a:prstGeom>
          <a:noFill/>
          <a:ln/>
        </p:spPr>
        <p:txBody>
          <a:bodyPr wrap="square" lIns="762" tIns="762" rIns="762" bIns="762" rtlCol="0" anchor="t">
            <a:normAutofit/>
          </a:bodyPr>
          <a:lstStyle/>
          <a:p>
            <a:pPr algn="l" indent="0" marL="0">
              <a:buNone/>
            </a:pPr>
            <a:r>
              <a:rPr lang="en-US" sz="1400" b="1" dirty="0">
                <a:solidFill>
                  <a:srgbClr val="13386B"/>
                </a:solidFill>
                <a:latin typeface="Aptos" pitchFamily="34" charset="0"/>
                <a:ea typeface="Aptos" pitchFamily="34" charset="-122"/>
                <a:cs typeface="Aptos" pitchFamily="34" charset="-120"/>
              </a:rPr>
              <a:t>Repeated state</a:t>
            </a:r>
            <a:endParaRPr lang="en-US" sz="1400" dirty="0"/>
          </a:p>
        </p:txBody>
      </p:sp>
      <p:sp>
        <p:nvSpPr>
          <p:cNvPr id="8" name="Text 6"/>
          <p:cNvSpPr/>
          <p:nvPr/>
        </p:nvSpPr>
        <p:spPr>
          <a:xfrm>
            <a:off x="987552" y="1581912"/>
            <a:ext cx="4745736" cy="438912"/>
          </a:xfrm>
          <a:prstGeom prst="rect">
            <a:avLst/>
          </a:prstGeom>
          <a:noFill/>
          <a:ln/>
        </p:spPr>
        <p:txBody>
          <a:bodyPr wrap="square" lIns="762" tIns="762" rIns="762" bIns="762" rtlCol="0" anchor="t">
            <a:normAutofit/>
          </a:bodyPr>
          <a:lstStyle/>
          <a:p>
            <a:pPr algn="l" indent="0" marL="0">
              <a:buNone/>
            </a:pPr>
            <a:r>
              <a:rPr lang="en-US" sz="1250" dirty="0">
                <a:solidFill>
                  <a:srgbClr val="111827"/>
                </a:solidFill>
                <a:latin typeface="Aptos" pitchFamily="34" charset="0"/>
                <a:ea typeface="Aptos" pitchFamily="34" charset="-122"/>
                <a:cs typeface="Aptos" pitchFamily="34" charset="-120"/>
              </a:rPr>
              <a:t>A search tree can reach the same state by different paths.</a:t>
            </a:r>
            <a:endParaRPr lang="en-US" sz="1250" dirty="0"/>
          </a:p>
        </p:txBody>
      </p:sp>
      <p:sp>
        <p:nvSpPr>
          <p:cNvPr id="9" name="Shape 7"/>
          <p:cNvSpPr/>
          <p:nvPr/>
        </p:nvSpPr>
        <p:spPr>
          <a:xfrm>
            <a:off x="6263640" y="1051560"/>
            <a:ext cx="5074920" cy="1097280"/>
          </a:xfrm>
          <a:prstGeom prst="roundRect">
            <a:avLst>
              <a:gd name="adj" fmla="val 5000"/>
            </a:avLst>
          </a:prstGeom>
          <a:solidFill>
            <a:srgbClr val="FFFFFF"/>
          </a:solidFill>
          <a:ln w="12700">
            <a:solidFill>
              <a:srgbClr val="D5DCE8"/>
            </a:solidFill>
            <a:prstDash val="solid"/>
          </a:ln>
        </p:spPr>
      </p:sp>
      <p:sp>
        <p:nvSpPr>
          <p:cNvPr id="10" name="Text 8"/>
          <p:cNvSpPr/>
          <p:nvPr/>
        </p:nvSpPr>
        <p:spPr>
          <a:xfrm>
            <a:off x="6428232" y="1216152"/>
            <a:ext cx="4745736" cy="310896"/>
          </a:xfrm>
          <a:prstGeom prst="rect">
            <a:avLst/>
          </a:prstGeom>
          <a:noFill/>
          <a:ln/>
        </p:spPr>
        <p:txBody>
          <a:bodyPr wrap="square" lIns="762" tIns="762" rIns="762" bIns="762" rtlCol="0" anchor="t">
            <a:normAutofit/>
          </a:bodyPr>
          <a:lstStyle/>
          <a:p>
            <a:pPr algn="l" indent="0" marL="0">
              <a:buNone/>
            </a:pPr>
            <a:r>
              <a:rPr lang="en-US" sz="1400" b="1" dirty="0">
                <a:solidFill>
                  <a:srgbClr val="A61919"/>
                </a:solidFill>
                <a:latin typeface="Aptos" pitchFamily="34" charset="0"/>
                <a:ea typeface="Aptos" pitchFamily="34" charset="-122"/>
                <a:cs typeface="Aptos" pitchFamily="34" charset="-120"/>
              </a:rPr>
              <a:t>Cycle</a:t>
            </a:r>
            <a:endParaRPr lang="en-US" sz="1400" dirty="0"/>
          </a:p>
        </p:txBody>
      </p:sp>
      <p:sp>
        <p:nvSpPr>
          <p:cNvPr id="11" name="Text 9"/>
          <p:cNvSpPr/>
          <p:nvPr/>
        </p:nvSpPr>
        <p:spPr>
          <a:xfrm>
            <a:off x="6428232" y="1581912"/>
            <a:ext cx="4745736" cy="438912"/>
          </a:xfrm>
          <a:prstGeom prst="rect">
            <a:avLst/>
          </a:prstGeom>
          <a:noFill/>
          <a:ln/>
        </p:spPr>
        <p:txBody>
          <a:bodyPr wrap="square" lIns="762" tIns="762" rIns="762" bIns="762" rtlCol="0" anchor="t">
            <a:normAutofit/>
          </a:bodyPr>
          <a:lstStyle/>
          <a:p>
            <a:pPr algn="l" indent="0" marL="0">
              <a:buNone/>
            </a:pPr>
            <a:r>
              <a:rPr lang="en-US" sz="1250" dirty="0">
                <a:solidFill>
                  <a:srgbClr val="111827"/>
                </a:solidFill>
                <a:latin typeface="Aptos" pitchFamily="34" charset="0"/>
                <a:ea typeface="Aptos" pitchFamily="34" charset="-122"/>
                <a:cs typeface="Aptos" pitchFamily="34" charset="-120"/>
              </a:rPr>
              <a:t>A path returns to a state already on the same path.</a:t>
            </a:r>
            <a:endParaRPr lang="en-US" sz="1250" dirty="0"/>
          </a:p>
        </p:txBody>
      </p:sp>
      <p:pic>
        <p:nvPicPr>
          <p:cNvPr id="12" name="Image 0" descr="preencoded.pn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2057400" y="2743200"/>
            <a:ext cx="8046720" cy="685800"/>
          </a:xfrm>
          <a:prstGeom prst="rect">
            <a:avLst/>
          </a:prstGeom>
        </p:spPr>
      </p:pic>
      <p:sp>
        <p:nvSpPr>
          <p:cNvPr id="13" name="Text 10"/>
          <p:cNvSpPr/>
          <p:nvPr/>
        </p:nvSpPr>
        <p:spPr>
          <a:xfrm>
            <a:off x="1463040" y="3822192"/>
            <a:ext cx="9326880" cy="320040"/>
          </a:xfrm>
          <a:prstGeom prst="rect">
            <a:avLst/>
          </a:prstGeom>
          <a:noFill/>
          <a:ln/>
        </p:spPr>
        <p:txBody>
          <a:bodyPr wrap="square" lIns="762" tIns="762" rIns="762" bIns="762" rtlCol="0" anchor="t">
            <a:normAutofit/>
          </a:bodyPr>
          <a:lstStyle/>
          <a:p>
            <a:pPr algn="ctr" indent="0" marL="0">
              <a:buNone/>
            </a:pPr>
            <a:r>
              <a:rPr lang="en-US" sz="1600" b="1" dirty="0">
                <a:solidFill>
                  <a:srgbClr val="13386B"/>
                </a:solidFill>
                <a:latin typeface="Aptos" pitchFamily="34" charset="0"/>
                <a:ea typeface="Aptos" pitchFamily="34" charset="-122"/>
                <a:cs typeface="Aptos" pitchFamily="34" charset="-120"/>
              </a:rPr>
              <a:t>In a 10×10 grid with 8-direction movement, only 100 states exist — but short paths can explode.</a:t>
            </a:r>
            <a:endParaRPr lang="en-US" sz="1600" dirty="0"/>
          </a:p>
        </p:txBody>
      </p:sp>
      <p:sp>
        <p:nvSpPr>
          <p:cNvPr id="14" name="Shape 11"/>
          <p:cNvSpPr/>
          <p:nvPr/>
        </p:nvSpPr>
        <p:spPr>
          <a:xfrm>
            <a:off x="731520" y="4572000"/>
            <a:ext cx="3383280" cy="777240"/>
          </a:xfrm>
          <a:prstGeom prst="roundRect">
            <a:avLst>
              <a:gd name="adj" fmla="val 7059"/>
            </a:avLst>
          </a:prstGeom>
          <a:solidFill>
            <a:srgbClr val="FFFFFF"/>
          </a:solidFill>
          <a:ln w="12700">
            <a:solidFill>
              <a:srgbClr val="D5DCE8"/>
            </a:solidFill>
            <a:prstDash val="solid"/>
          </a:ln>
        </p:spPr>
      </p:sp>
      <p:sp>
        <p:nvSpPr>
          <p:cNvPr id="15" name="Text 12"/>
          <p:cNvSpPr/>
          <p:nvPr/>
        </p:nvSpPr>
        <p:spPr>
          <a:xfrm>
            <a:off x="896112" y="4736592"/>
            <a:ext cx="3054096" cy="310896"/>
          </a:xfrm>
          <a:prstGeom prst="rect">
            <a:avLst/>
          </a:prstGeom>
          <a:noFill/>
          <a:ln/>
        </p:spPr>
        <p:txBody>
          <a:bodyPr wrap="square" lIns="762" tIns="762" rIns="762" bIns="762" rtlCol="0" anchor="t">
            <a:normAutofit/>
          </a:bodyPr>
          <a:lstStyle/>
          <a:p>
            <a:pPr algn="l" indent="0" marL="0">
              <a:buNone/>
            </a:pPr>
            <a:r>
              <a:rPr lang="en-US" sz="1400" b="1" dirty="0">
                <a:solidFill>
                  <a:srgbClr val="1F7A3D"/>
                </a:solidFill>
                <a:latin typeface="Aptos" pitchFamily="34" charset="0"/>
                <a:ea typeface="Aptos" pitchFamily="34" charset="-122"/>
                <a:cs typeface="Aptos" pitchFamily="34" charset="-120"/>
              </a:rPr>
              <a:t>Remember reached states</a:t>
            </a:r>
            <a:endParaRPr lang="en-US" sz="1400" dirty="0"/>
          </a:p>
        </p:txBody>
      </p:sp>
      <p:sp>
        <p:nvSpPr>
          <p:cNvPr id="16" name="Text 13"/>
          <p:cNvSpPr/>
          <p:nvPr/>
        </p:nvSpPr>
        <p:spPr>
          <a:xfrm>
            <a:off x="896112" y="5102352"/>
            <a:ext cx="3054096" cy="118872"/>
          </a:xfrm>
          <a:prstGeom prst="rect">
            <a:avLst/>
          </a:prstGeom>
          <a:noFill/>
          <a:ln/>
        </p:spPr>
        <p:txBody>
          <a:bodyPr wrap="square" lIns="762" tIns="762" rIns="762" bIns="762" rtlCol="0" anchor="t">
            <a:normAutofit/>
          </a:bodyPr>
          <a:lstStyle/>
          <a:p>
            <a:pPr algn="l" indent="0" marL="0">
              <a:buNone/>
            </a:pPr>
            <a:r>
              <a:rPr lang="en-US" sz="1250" dirty="0">
                <a:solidFill>
                  <a:srgbClr val="111827"/>
                </a:solidFill>
                <a:latin typeface="Aptos" pitchFamily="34" charset="0"/>
                <a:ea typeface="Aptos" pitchFamily="34" charset="-122"/>
                <a:cs typeface="Aptos" pitchFamily="34" charset="-120"/>
              </a:rPr>
              <a:t>Eliminate redundant paths if memory allows.</a:t>
            </a:r>
            <a:endParaRPr lang="en-US" sz="1250" dirty="0"/>
          </a:p>
        </p:txBody>
      </p:sp>
      <p:sp>
        <p:nvSpPr>
          <p:cNvPr id="17" name="Shape 14"/>
          <p:cNvSpPr/>
          <p:nvPr/>
        </p:nvSpPr>
        <p:spPr>
          <a:xfrm>
            <a:off x="4389120" y="4572000"/>
            <a:ext cx="3383280" cy="777240"/>
          </a:xfrm>
          <a:prstGeom prst="roundRect">
            <a:avLst>
              <a:gd name="adj" fmla="val 7059"/>
            </a:avLst>
          </a:prstGeom>
          <a:solidFill>
            <a:srgbClr val="FFFFFF"/>
          </a:solidFill>
          <a:ln w="12700">
            <a:solidFill>
              <a:srgbClr val="D5DCE8"/>
            </a:solidFill>
            <a:prstDash val="solid"/>
          </a:ln>
        </p:spPr>
      </p:sp>
      <p:sp>
        <p:nvSpPr>
          <p:cNvPr id="18" name="Text 15"/>
          <p:cNvSpPr/>
          <p:nvPr/>
        </p:nvSpPr>
        <p:spPr>
          <a:xfrm>
            <a:off x="4553712" y="4736592"/>
            <a:ext cx="3054096" cy="310896"/>
          </a:xfrm>
          <a:prstGeom prst="rect">
            <a:avLst/>
          </a:prstGeom>
          <a:noFill/>
          <a:ln/>
        </p:spPr>
        <p:txBody>
          <a:bodyPr wrap="square" lIns="762" tIns="762" rIns="762" bIns="762" rtlCol="0" anchor="t">
            <a:normAutofit/>
          </a:bodyPr>
          <a:lstStyle/>
          <a:p>
            <a:pPr algn="l" indent="0" marL="0">
              <a:buNone/>
            </a:pPr>
            <a:r>
              <a:rPr lang="en-US" sz="1400" b="1" dirty="0">
                <a:solidFill>
                  <a:srgbClr val="F5A11A"/>
                </a:solidFill>
                <a:latin typeface="Aptos" pitchFamily="34" charset="0"/>
                <a:ea typeface="Aptos" pitchFamily="34" charset="-122"/>
                <a:cs typeface="Aptos" pitchFamily="34" charset="-120"/>
              </a:rPr>
              <a:t>Ignore repeats</a:t>
            </a:r>
            <a:endParaRPr lang="en-US" sz="1400" dirty="0"/>
          </a:p>
        </p:txBody>
      </p:sp>
      <p:sp>
        <p:nvSpPr>
          <p:cNvPr id="19" name="Text 16"/>
          <p:cNvSpPr/>
          <p:nvPr/>
        </p:nvSpPr>
        <p:spPr>
          <a:xfrm>
            <a:off x="4553712" y="5102352"/>
            <a:ext cx="3054096" cy="118872"/>
          </a:xfrm>
          <a:prstGeom prst="rect">
            <a:avLst/>
          </a:prstGeom>
          <a:noFill/>
          <a:ln/>
        </p:spPr>
        <p:txBody>
          <a:bodyPr wrap="square" lIns="762" tIns="762" rIns="762" bIns="762" rtlCol="0" anchor="t">
            <a:normAutofit/>
          </a:bodyPr>
          <a:lstStyle/>
          <a:p>
            <a:pPr algn="l" indent="0" marL="0">
              <a:buNone/>
            </a:pPr>
            <a:r>
              <a:rPr lang="en-US" sz="1250" dirty="0">
                <a:solidFill>
                  <a:srgbClr val="111827"/>
                </a:solidFill>
                <a:latin typeface="Aptos" pitchFamily="34" charset="0"/>
                <a:ea typeface="Aptos" pitchFamily="34" charset="-122"/>
                <a:cs typeface="Aptos" pitchFamily="34" charset="-120"/>
              </a:rPr>
              <a:t>Save memory, but revisit states.</a:t>
            </a:r>
            <a:endParaRPr lang="en-US" sz="1250" dirty="0"/>
          </a:p>
        </p:txBody>
      </p:sp>
      <p:sp>
        <p:nvSpPr>
          <p:cNvPr id="20" name="Shape 17"/>
          <p:cNvSpPr/>
          <p:nvPr/>
        </p:nvSpPr>
        <p:spPr>
          <a:xfrm>
            <a:off x="8046720" y="4572000"/>
            <a:ext cx="3383280" cy="777240"/>
          </a:xfrm>
          <a:prstGeom prst="roundRect">
            <a:avLst>
              <a:gd name="adj" fmla="val 7059"/>
            </a:avLst>
          </a:prstGeom>
          <a:solidFill>
            <a:srgbClr val="FFFFFF"/>
          </a:solidFill>
          <a:ln w="12700">
            <a:solidFill>
              <a:srgbClr val="D5DCE8"/>
            </a:solidFill>
            <a:prstDash val="solid"/>
          </a:ln>
        </p:spPr>
      </p:sp>
      <p:sp>
        <p:nvSpPr>
          <p:cNvPr id="21" name="Text 18"/>
          <p:cNvSpPr/>
          <p:nvPr/>
        </p:nvSpPr>
        <p:spPr>
          <a:xfrm>
            <a:off x="8211312" y="4736592"/>
            <a:ext cx="3054096" cy="310896"/>
          </a:xfrm>
          <a:prstGeom prst="rect">
            <a:avLst/>
          </a:prstGeom>
          <a:noFill/>
          <a:ln/>
        </p:spPr>
        <p:txBody>
          <a:bodyPr wrap="square" lIns="762" tIns="762" rIns="762" bIns="762" rtlCol="0" anchor="t">
            <a:normAutofit/>
          </a:bodyPr>
          <a:lstStyle/>
          <a:p>
            <a:pPr algn="l" indent="0" marL="0">
              <a:buNone/>
            </a:pPr>
            <a:r>
              <a:rPr lang="en-US" sz="1400" b="1" dirty="0">
                <a:solidFill>
                  <a:srgbClr val="0F8B8D"/>
                </a:solidFill>
                <a:latin typeface="Aptos" pitchFamily="34" charset="0"/>
                <a:ea typeface="Aptos" pitchFamily="34" charset="-122"/>
                <a:cs typeface="Aptos" pitchFamily="34" charset="-120"/>
              </a:rPr>
              <a:t>Check cycles only</a:t>
            </a:r>
            <a:endParaRPr lang="en-US" sz="1400" dirty="0"/>
          </a:p>
        </p:txBody>
      </p:sp>
      <p:sp>
        <p:nvSpPr>
          <p:cNvPr id="22" name="Text 19"/>
          <p:cNvSpPr/>
          <p:nvPr/>
        </p:nvSpPr>
        <p:spPr>
          <a:xfrm>
            <a:off x="8211312" y="5102352"/>
            <a:ext cx="3054096" cy="118872"/>
          </a:xfrm>
          <a:prstGeom prst="rect">
            <a:avLst/>
          </a:prstGeom>
          <a:noFill/>
          <a:ln/>
        </p:spPr>
        <p:txBody>
          <a:bodyPr wrap="square" lIns="762" tIns="762" rIns="762" bIns="762" rtlCol="0" anchor="t">
            <a:normAutofit/>
          </a:bodyPr>
          <a:lstStyle/>
          <a:p>
            <a:pPr algn="l" indent="0" marL="0">
              <a:buNone/>
            </a:pPr>
            <a:r>
              <a:rPr lang="en-US" sz="1250" dirty="0">
                <a:solidFill>
                  <a:srgbClr val="111827"/>
                </a:solidFill>
                <a:latin typeface="Aptos" pitchFamily="34" charset="0"/>
                <a:ea typeface="Aptos" pitchFamily="34" charset="-122"/>
                <a:cs typeface="Aptos" pitchFamily="34" charset="-120"/>
              </a:rPr>
              <a:t>Middle ground for tree-like search.</a:t>
            </a:r>
            <a:endParaRPr lang="en-US" sz="1250" dirty="0"/>
          </a:p>
        </p:txBody>
      </p:sp>
      <p:sp>
        <p:nvSpPr>
          <p:cNvPr id="23" name="Text 20"/>
          <p:cNvSpPr/>
          <p:nvPr/>
        </p:nvSpPr>
        <p:spPr>
          <a:xfrm>
            <a:off x="11475720" y="6510528"/>
            <a:ext cx="320040" cy="164592"/>
          </a:xfrm>
          <a:prstGeom prst="rect">
            <a:avLst/>
          </a:prstGeom>
          <a:noFill/>
          <a:ln/>
        </p:spPr>
        <p:txBody>
          <a:bodyPr wrap="square" lIns="0" tIns="0" rIns="0" bIns="0" rtlCol="0" anchor="ctr"/>
          <a:lstStyle/>
          <a:p>
            <a:pPr algn="r" indent="0" marL="0">
              <a:buNone/>
            </a:pPr>
            <a:r>
              <a:rPr lang="en-US" sz="800" dirty="0">
                <a:solidFill>
                  <a:srgbClr val="6B7280"/>
                </a:solidFill>
              </a:rPr>
              <a:t>21</a:t>
            </a:r>
            <a:endParaRPr lang="en-US" sz="800" dirty="0"/>
          </a:p>
        </p:txBody>
      </p:sp>
      <p:sp>
        <p:nvSpPr>
          <p:cNvPr id="24" name="Text 21"/>
          <p:cNvSpPr/>
          <p:nvPr/>
        </p:nvSpPr>
        <p:spPr>
          <a:xfrm>
            <a:off x="411480" y="6510528"/>
            <a:ext cx="3200400" cy="164592"/>
          </a:xfrm>
          <a:prstGeom prst="rect">
            <a:avLst/>
          </a:prstGeom>
          <a:noFill/>
          <a:ln/>
        </p:spPr>
        <p:txBody>
          <a:bodyPr wrap="square" lIns="0" tIns="0" rIns="0" bIns="0" rtlCol="0" anchor="ctr"/>
          <a:lstStyle/>
          <a:p>
            <a:pPr indent="0" marL="0">
              <a:buNone/>
            </a:pPr>
            <a:r>
              <a:rPr lang="en-US" sz="750" dirty="0">
                <a:solidFill>
                  <a:srgbClr val="6B7280"/>
                </a:solidFill>
              </a:rPr>
              <a:t>CSU Channel Islands · COMP 469</a:t>
            </a:r>
            <a:endParaRPr lang="en-US" sz="7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5F7FB"/>
        </a:solidFill>
      </p:bgPr>
    </p:bg>
    <p:spTree>
      <p:nvGrpSpPr>
        <p:cNvPr id="1" name=""/>
        <p:cNvGrpSpPr/>
        <p:nvPr/>
      </p:nvGrpSpPr>
      <p:grpSpPr>
        <a:xfrm>
          <a:off x="0" y="0"/>
          <a:ext cx="0" cy="0"/>
          <a:chOff x="0" y="0"/>
          <a:chExt cx="0" cy="0"/>
        </a:xfrm>
      </p:grpSpPr>
      <p:sp>
        <p:nvSpPr>
          <p:cNvPr id="2" name="Shape 0"/>
          <p:cNvSpPr/>
          <p:nvPr/>
        </p:nvSpPr>
        <p:spPr>
          <a:xfrm>
            <a:off x="0" y="0"/>
            <a:ext cx="12191695" cy="640080"/>
          </a:xfrm>
          <a:prstGeom prst="rect">
            <a:avLst/>
          </a:prstGeom>
          <a:solidFill>
            <a:srgbClr val="13386B"/>
          </a:solidFill>
          <a:ln w="12700">
            <a:solidFill>
              <a:srgbClr val="13386B"/>
            </a:solidFill>
            <a:prstDash val="solid"/>
          </a:ln>
        </p:spPr>
      </p:sp>
      <p:sp>
        <p:nvSpPr>
          <p:cNvPr id="3" name="Shape 1"/>
          <p:cNvSpPr/>
          <p:nvPr/>
        </p:nvSpPr>
        <p:spPr>
          <a:xfrm>
            <a:off x="0" y="640080"/>
            <a:ext cx="12191695" cy="68580"/>
          </a:xfrm>
          <a:prstGeom prst="rect">
            <a:avLst/>
          </a:prstGeom>
          <a:solidFill>
            <a:srgbClr val="F5A11A"/>
          </a:solidFill>
          <a:ln w="12700">
            <a:solidFill>
              <a:srgbClr val="F5A11A"/>
            </a:solidFill>
            <a:prstDash val="solid"/>
          </a:ln>
        </p:spPr>
      </p:sp>
      <p:sp>
        <p:nvSpPr>
          <p:cNvPr id="4" name="Text 2"/>
          <p:cNvSpPr/>
          <p:nvPr/>
        </p:nvSpPr>
        <p:spPr>
          <a:xfrm>
            <a:off x="411480" y="155448"/>
            <a:ext cx="7818120" cy="320040"/>
          </a:xfrm>
          <a:prstGeom prst="rect">
            <a:avLst/>
          </a:prstGeom>
          <a:noFill/>
          <a:ln/>
        </p:spPr>
        <p:txBody>
          <a:bodyPr wrap="square" lIns="0" tIns="0" rIns="0" bIns="0" rtlCol="0" anchor="ctr"/>
          <a:lstStyle/>
          <a:p>
            <a:pPr indent="0" marL="0">
              <a:buNone/>
            </a:pPr>
            <a:r>
              <a:rPr lang="en-US" sz="2200" b="1" dirty="0">
                <a:solidFill>
                  <a:srgbClr val="FFFFFF"/>
                </a:solidFill>
                <a:latin typeface="Aptos Display" pitchFamily="34" charset="0"/>
                <a:ea typeface="Aptos Display" pitchFamily="34" charset="-122"/>
                <a:cs typeface="Aptos Display" pitchFamily="34" charset="-120"/>
              </a:rPr>
              <a:t>How We Evaluate Search Algorithms</a:t>
            </a:r>
            <a:endParaRPr lang="en-US" sz="2200" dirty="0"/>
          </a:p>
        </p:txBody>
      </p:sp>
      <p:sp>
        <p:nvSpPr>
          <p:cNvPr id="5" name="Text 3"/>
          <p:cNvSpPr/>
          <p:nvPr/>
        </p:nvSpPr>
        <p:spPr>
          <a:xfrm>
            <a:off x="9253728" y="210312"/>
            <a:ext cx="2487168" cy="256032"/>
          </a:xfrm>
          <a:prstGeom prst="rect">
            <a:avLst/>
          </a:prstGeom>
          <a:noFill/>
          <a:ln/>
        </p:spPr>
        <p:txBody>
          <a:bodyPr wrap="square" lIns="0" tIns="0" rIns="0" bIns="0" rtlCol="0" anchor="ctr"/>
          <a:lstStyle/>
          <a:p>
            <a:pPr algn="r" indent="0" marL="0">
              <a:buNone/>
            </a:pPr>
            <a:r>
              <a:rPr lang="en-US" sz="850" dirty="0">
                <a:solidFill>
                  <a:srgbClr val="D9E5F2"/>
                </a:solidFill>
              </a:rPr>
              <a:t>COMP 469 · Chapter 3 · Sections 3.1–3.4</a:t>
            </a:r>
            <a:endParaRPr lang="en-US" sz="850" dirty="0"/>
          </a:p>
        </p:txBody>
      </p:sp>
      <p:sp>
        <p:nvSpPr>
          <p:cNvPr id="6" name="Shape 4"/>
          <p:cNvSpPr/>
          <p:nvPr/>
        </p:nvSpPr>
        <p:spPr>
          <a:xfrm>
            <a:off x="777240" y="1234440"/>
            <a:ext cx="4983480" cy="1143000"/>
          </a:xfrm>
          <a:prstGeom prst="roundRect">
            <a:avLst>
              <a:gd name="adj" fmla="val 4800"/>
            </a:avLst>
          </a:prstGeom>
          <a:solidFill>
            <a:srgbClr val="FFFFFF"/>
          </a:solidFill>
          <a:ln w="12700">
            <a:solidFill>
              <a:srgbClr val="D5DCE8"/>
            </a:solidFill>
            <a:prstDash val="solid"/>
          </a:ln>
        </p:spPr>
      </p:sp>
      <p:sp>
        <p:nvSpPr>
          <p:cNvPr id="7" name="Text 5"/>
          <p:cNvSpPr/>
          <p:nvPr/>
        </p:nvSpPr>
        <p:spPr>
          <a:xfrm>
            <a:off x="941832" y="1399032"/>
            <a:ext cx="4654296" cy="310896"/>
          </a:xfrm>
          <a:prstGeom prst="rect">
            <a:avLst/>
          </a:prstGeom>
          <a:noFill/>
          <a:ln/>
        </p:spPr>
        <p:txBody>
          <a:bodyPr wrap="square" lIns="762" tIns="762" rIns="762" bIns="762" rtlCol="0" anchor="t">
            <a:normAutofit/>
          </a:bodyPr>
          <a:lstStyle/>
          <a:p>
            <a:pPr algn="l" indent="0" marL="0">
              <a:buNone/>
            </a:pPr>
            <a:r>
              <a:rPr lang="en-US" sz="1400" b="1" dirty="0">
                <a:solidFill>
                  <a:srgbClr val="13386B"/>
                </a:solidFill>
                <a:latin typeface="Aptos" pitchFamily="34" charset="0"/>
                <a:ea typeface="Aptos" pitchFamily="34" charset="-122"/>
                <a:cs typeface="Aptos" pitchFamily="34" charset="-120"/>
              </a:rPr>
              <a:t>Completeness</a:t>
            </a:r>
            <a:endParaRPr lang="en-US" sz="1400" dirty="0"/>
          </a:p>
        </p:txBody>
      </p:sp>
      <p:sp>
        <p:nvSpPr>
          <p:cNvPr id="8" name="Text 6"/>
          <p:cNvSpPr/>
          <p:nvPr/>
        </p:nvSpPr>
        <p:spPr>
          <a:xfrm>
            <a:off x="941832" y="1764792"/>
            <a:ext cx="4654296" cy="484632"/>
          </a:xfrm>
          <a:prstGeom prst="rect">
            <a:avLst/>
          </a:prstGeom>
          <a:noFill/>
          <a:ln/>
        </p:spPr>
        <p:txBody>
          <a:bodyPr wrap="square" lIns="762" tIns="762" rIns="762" bIns="762" rtlCol="0" anchor="t">
            <a:normAutofit/>
          </a:bodyPr>
          <a:lstStyle/>
          <a:p>
            <a:pPr algn="l" indent="0" marL="0">
              <a:buNone/>
            </a:pPr>
            <a:r>
              <a:rPr lang="en-US" sz="1250" dirty="0">
                <a:solidFill>
                  <a:srgbClr val="111827"/>
                </a:solidFill>
                <a:latin typeface="Aptos" pitchFamily="34" charset="0"/>
                <a:ea typeface="Aptos" pitchFamily="34" charset="-122"/>
                <a:cs typeface="Aptos" pitchFamily="34" charset="-120"/>
              </a:rPr>
              <a:t>Guaranteed to find a solution if one exists?</a:t>
            </a:r>
            <a:endParaRPr lang="en-US" sz="1250" dirty="0"/>
          </a:p>
        </p:txBody>
      </p:sp>
      <p:sp>
        <p:nvSpPr>
          <p:cNvPr id="9" name="Shape 7"/>
          <p:cNvSpPr/>
          <p:nvPr/>
        </p:nvSpPr>
        <p:spPr>
          <a:xfrm>
            <a:off x="6263640" y="1234440"/>
            <a:ext cx="4983480" cy="1143000"/>
          </a:xfrm>
          <a:prstGeom prst="roundRect">
            <a:avLst>
              <a:gd name="adj" fmla="val 4800"/>
            </a:avLst>
          </a:prstGeom>
          <a:solidFill>
            <a:srgbClr val="FFFFFF"/>
          </a:solidFill>
          <a:ln w="12700">
            <a:solidFill>
              <a:srgbClr val="D5DCE8"/>
            </a:solidFill>
            <a:prstDash val="solid"/>
          </a:ln>
        </p:spPr>
      </p:sp>
      <p:sp>
        <p:nvSpPr>
          <p:cNvPr id="10" name="Text 8"/>
          <p:cNvSpPr/>
          <p:nvPr/>
        </p:nvSpPr>
        <p:spPr>
          <a:xfrm>
            <a:off x="6428232" y="1399032"/>
            <a:ext cx="4654296" cy="310896"/>
          </a:xfrm>
          <a:prstGeom prst="rect">
            <a:avLst/>
          </a:prstGeom>
          <a:noFill/>
          <a:ln/>
        </p:spPr>
        <p:txBody>
          <a:bodyPr wrap="square" lIns="762" tIns="762" rIns="762" bIns="762" rtlCol="0" anchor="t">
            <a:normAutofit/>
          </a:bodyPr>
          <a:lstStyle/>
          <a:p>
            <a:pPr algn="l" indent="0" marL="0">
              <a:buNone/>
            </a:pPr>
            <a:r>
              <a:rPr lang="en-US" sz="1400" b="1" dirty="0">
                <a:solidFill>
                  <a:srgbClr val="1F7A3D"/>
                </a:solidFill>
                <a:latin typeface="Aptos" pitchFamily="34" charset="0"/>
                <a:ea typeface="Aptos" pitchFamily="34" charset="-122"/>
                <a:cs typeface="Aptos" pitchFamily="34" charset="-120"/>
              </a:rPr>
              <a:t>Cost optimality</a:t>
            </a:r>
            <a:endParaRPr lang="en-US" sz="1400" dirty="0"/>
          </a:p>
        </p:txBody>
      </p:sp>
      <p:sp>
        <p:nvSpPr>
          <p:cNvPr id="11" name="Text 9"/>
          <p:cNvSpPr/>
          <p:nvPr/>
        </p:nvSpPr>
        <p:spPr>
          <a:xfrm>
            <a:off x="6428232" y="1764792"/>
            <a:ext cx="4654296" cy="484632"/>
          </a:xfrm>
          <a:prstGeom prst="rect">
            <a:avLst/>
          </a:prstGeom>
          <a:noFill/>
          <a:ln/>
        </p:spPr>
        <p:txBody>
          <a:bodyPr wrap="square" lIns="762" tIns="762" rIns="762" bIns="762" rtlCol="0" anchor="t">
            <a:normAutofit/>
          </a:bodyPr>
          <a:lstStyle/>
          <a:p>
            <a:pPr algn="l" indent="0" marL="0">
              <a:buNone/>
            </a:pPr>
            <a:r>
              <a:rPr lang="en-US" sz="1250" dirty="0">
                <a:solidFill>
                  <a:srgbClr val="111827"/>
                </a:solidFill>
                <a:latin typeface="Aptos" pitchFamily="34" charset="0"/>
                <a:ea typeface="Aptos" pitchFamily="34" charset="-122"/>
                <a:cs typeface="Aptos" pitchFamily="34" charset="-120"/>
              </a:rPr>
              <a:t>Finds a least-cost solution?</a:t>
            </a:r>
            <a:endParaRPr lang="en-US" sz="1250" dirty="0"/>
          </a:p>
        </p:txBody>
      </p:sp>
      <p:sp>
        <p:nvSpPr>
          <p:cNvPr id="12" name="Shape 10"/>
          <p:cNvSpPr/>
          <p:nvPr/>
        </p:nvSpPr>
        <p:spPr>
          <a:xfrm>
            <a:off x="777240" y="2880360"/>
            <a:ext cx="4983480" cy="1143000"/>
          </a:xfrm>
          <a:prstGeom prst="roundRect">
            <a:avLst>
              <a:gd name="adj" fmla="val 4800"/>
            </a:avLst>
          </a:prstGeom>
          <a:solidFill>
            <a:srgbClr val="FFFFFF"/>
          </a:solidFill>
          <a:ln w="12700">
            <a:solidFill>
              <a:srgbClr val="D5DCE8"/>
            </a:solidFill>
            <a:prstDash val="solid"/>
          </a:ln>
        </p:spPr>
      </p:sp>
      <p:sp>
        <p:nvSpPr>
          <p:cNvPr id="13" name="Text 11"/>
          <p:cNvSpPr/>
          <p:nvPr/>
        </p:nvSpPr>
        <p:spPr>
          <a:xfrm>
            <a:off x="941832" y="3044952"/>
            <a:ext cx="4654296" cy="310896"/>
          </a:xfrm>
          <a:prstGeom prst="rect">
            <a:avLst/>
          </a:prstGeom>
          <a:noFill/>
          <a:ln/>
        </p:spPr>
        <p:txBody>
          <a:bodyPr wrap="square" lIns="762" tIns="762" rIns="762" bIns="762" rtlCol="0" anchor="t">
            <a:normAutofit/>
          </a:bodyPr>
          <a:lstStyle/>
          <a:p>
            <a:pPr algn="l" indent="0" marL="0">
              <a:buNone/>
            </a:pPr>
            <a:r>
              <a:rPr lang="en-US" sz="1400" b="1" dirty="0">
                <a:solidFill>
                  <a:srgbClr val="F5A11A"/>
                </a:solidFill>
                <a:latin typeface="Aptos" pitchFamily="34" charset="0"/>
                <a:ea typeface="Aptos" pitchFamily="34" charset="-122"/>
                <a:cs typeface="Aptos" pitchFamily="34" charset="-120"/>
              </a:rPr>
              <a:t>Time complexity</a:t>
            </a:r>
            <a:endParaRPr lang="en-US" sz="1400" dirty="0"/>
          </a:p>
        </p:txBody>
      </p:sp>
      <p:sp>
        <p:nvSpPr>
          <p:cNvPr id="14" name="Text 12"/>
          <p:cNvSpPr/>
          <p:nvPr/>
        </p:nvSpPr>
        <p:spPr>
          <a:xfrm>
            <a:off x="941832" y="3410712"/>
            <a:ext cx="4654296" cy="484632"/>
          </a:xfrm>
          <a:prstGeom prst="rect">
            <a:avLst/>
          </a:prstGeom>
          <a:noFill/>
          <a:ln/>
        </p:spPr>
        <p:txBody>
          <a:bodyPr wrap="square" lIns="762" tIns="762" rIns="762" bIns="762" rtlCol="0" anchor="t">
            <a:normAutofit/>
          </a:bodyPr>
          <a:lstStyle/>
          <a:p>
            <a:pPr algn="l" indent="0" marL="0">
              <a:buNone/>
            </a:pPr>
            <a:r>
              <a:rPr lang="en-US" sz="1250" dirty="0">
                <a:solidFill>
                  <a:srgbClr val="111827"/>
                </a:solidFill>
                <a:latin typeface="Aptos" pitchFamily="34" charset="0"/>
                <a:ea typeface="Aptos" pitchFamily="34" charset="-122"/>
                <a:cs typeface="Aptos" pitchFamily="34" charset="-120"/>
              </a:rPr>
              <a:t>How many states/actions are considered?</a:t>
            </a:r>
            <a:endParaRPr lang="en-US" sz="1250" dirty="0"/>
          </a:p>
        </p:txBody>
      </p:sp>
      <p:sp>
        <p:nvSpPr>
          <p:cNvPr id="15" name="Shape 13"/>
          <p:cNvSpPr/>
          <p:nvPr/>
        </p:nvSpPr>
        <p:spPr>
          <a:xfrm>
            <a:off x="6263640" y="2880360"/>
            <a:ext cx="4983480" cy="1143000"/>
          </a:xfrm>
          <a:prstGeom prst="roundRect">
            <a:avLst>
              <a:gd name="adj" fmla="val 4800"/>
            </a:avLst>
          </a:prstGeom>
          <a:solidFill>
            <a:srgbClr val="FFFFFF"/>
          </a:solidFill>
          <a:ln w="12700">
            <a:solidFill>
              <a:srgbClr val="D5DCE8"/>
            </a:solidFill>
            <a:prstDash val="solid"/>
          </a:ln>
        </p:spPr>
      </p:sp>
      <p:sp>
        <p:nvSpPr>
          <p:cNvPr id="16" name="Text 14"/>
          <p:cNvSpPr/>
          <p:nvPr/>
        </p:nvSpPr>
        <p:spPr>
          <a:xfrm>
            <a:off x="6428232" y="3044952"/>
            <a:ext cx="4654296" cy="310896"/>
          </a:xfrm>
          <a:prstGeom prst="rect">
            <a:avLst/>
          </a:prstGeom>
          <a:noFill/>
          <a:ln/>
        </p:spPr>
        <p:txBody>
          <a:bodyPr wrap="square" lIns="762" tIns="762" rIns="762" bIns="762" rtlCol="0" anchor="t">
            <a:normAutofit/>
          </a:bodyPr>
          <a:lstStyle/>
          <a:p>
            <a:pPr algn="l" indent="0" marL="0">
              <a:buNone/>
            </a:pPr>
            <a:r>
              <a:rPr lang="en-US" sz="1400" b="1" dirty="0">
                <a:solidFill>
                  <a:srgbClr val="0F8B8D"/>
                </a:solidFill>
                <a:latin typeface="Aptos" pitchFamily="34" charset="0"/>
                <a:ea typeface="Aptos" pitchFamily="34" charset="-122"/>
                <a:cs typeface="Aptos" pitchFamily="34" charset="-120"/>
              </a:rPr>
              <a:t>Space complexity</a:t>
            </a:r>
            <a:endParaRPr lang="en-US" sz="1400" dirty="0"/>
          </a:p>
        </p:txBody>
      </p:sp>
      <p:sp>
        <p:nvSpPr>
          <p:cNvPr id="17" name="Text 15"/>
          <p:cNvSpPr/>
          <p:nvPr/>
        </p:nvSpPr>
        <p:spPr>
          <a:xfrm>
            <a:off x="6428232" y="3410712"/>
            <a:ext cx="4654296" cy="484632"/>
          </a:xfrm>
          <a:prstGeom prst="rect">
            <a:avLst/>
          </a:prstGeom>
          <a:noFill/>
          <a:ln/>
        </p:spPr>
        <p:txBody>
          <a:bodyPr wrap="square" lIns="762" tIns="762" rIns="762" bIns="762" rtlCol="0" anchor="t">
            <a:normAutofit/>
          </a:bodyPr>
          <a:lstStyle/>
          <a:p>
            <a:pPr algn="l" indent="0" marL="0">
              <a:buNone/>
            </a:pPr>
            <a:r>
              <a:rPr lang="en-US" sz="1250" dirty="0">
                <a:solidFill>
                  <a:srgbClr val="111827"/>
                </a:solidFill>
                <a:latin typeface="Aptos" pitchFamily="34" charset="0"/>
                <a:ea typeface="Aptos" pitchFamily="34" charset="-122"/>
                <a:cs typeface="Aptos" pitchFamily="34" charset="-120"/>
              </a:rPr>
              <a:t>How much memory is required?</a:t>
            </a:r>
            <a:endParaRPr lang="en-US" sz="1250" dirty="0"/>
          </a:p>
        </p:txBody>
      </p:sp>
      <p:pic>
        <p:nvPicPr>
          <p:cNvPr id="18" name="Image 0" descr="preencoded.pn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1097280" y="4800600"/>
            <a:ext cx="1143000" cy="320040"/>
          </a:xfrm>
          <a:prstGeom prst="rect">
            <a:avLst/>
          </a:prstGeom>
        </p:spPr>
      </p:pic>
      <p:sp>
        <p:nvSpPr>
          <p:cNvPr id="19" name="Text 16"/>
          <p:cNvSpPr/>
          <p:nvPr/>
        </p:nvSpPr>
        <p:spPr>
          <a:xfrm>
            <a:off x="914400" y="5321808"/>
            <a:ext cx="2103120" cy="201168"/>
          </a:xfrm>
          <a:prstGeom prst="rect">
            <a:avLst/>
          </a:prstGeom>
          <a:noFill/>
          <a:ln/>
        </p:spPr>
        <p:txBody>
          <a:bodyPr wrap="square" lIns="762" tIns="762" rIns="762" bIns="762" rtlCol="0" anchor="t">
            <a:normAutofit/>
          </a:bodyPr>
          <a:lstStyle/>
          <a:p>
            <a:pPr algn="l" indent="0" marL="0">
              <a:buNone/>
            </a:pPr>
            <a:r>
              <a:rPr lang="en-US" sz="1150" dirty="0">
                <a:solidFill>
                  <a:srgbClr val="6B7280"/>
                </a:solidFill>
                <a:latin typeface="Aptos" pitchFamily="34" charset="0"/>
                <a:ea typeface="Aptos" pitchFamily="34" charset="-122"/>
                <a:cs typeface="Aptos" pitchFamily="34" charset="-120"/>
              </a:rPr>
              <a:t>explicit graph size</a:t>
            </a:r>
            <a:endParaRPr lang="en-US" sz="1150" dirty="0"/>
          </a:p>
        </p:txBody>
      </p:sp>
      <p:pic>
        <p:nvPicPr>
          <p:cNvPr id="20" name="Image 1" descr="preencoded.png">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4709160" y="4800600"/>
            <a:ext cx="960120" cy="320040"/>
          </a:xfrm>
          <a:prstGeom prst="rect">
            <a:avLst/>
          </a:prstGeom>
        </p:spPr>
      </p:pic>
      <p:sp>
        <p:nvSpPr>
          <p:cNvPr id="21" name="Text 17"/>
          <p:cNvSpPr/>
          <p:nvPr/>
        </p:nvSpPr>
        <p:spPr>
          <a:xfrm>
            <a:off x="4251960" y="5321808"/>
            <a:ext cx="2926080" cy="201168"/>
          </a:xfrm>
          <a:prstGeom prst="rect">
            <a:avLst/>
          </a:prstGeom>
          <a:noFill/>
          <a:ln/>
        </p:spPr>
        <p:txBody>
          <a:bodyPr wrap="square" lIns="762" tIns="762" rIns="762" bIns="762" rtlCol="0" anchor="t">
            <a:normAutofit/>
          </a:bodyPr>
          <a:lstStyle/>
          <a:p>
            <a:pPr algn="l" indent="0" marL="0">
              <a:buNone/>
            </a:pPr>
            <a:r>
              <a:rPr lang="en-US" sz="1150" dirty="0">
                <a:solidFill>
                  <a:srgbClr val="6B7280"/>
                </a:solidFill>
                <a:latin typeface="Aptos" pitchFamily="34" charset="0"/>
                <a:ea typeface="Aptos" pitchFamily="34" charset="-122"/>
                <a:cs typeface="Aptos" pitchFamily="34" charset="-120"/>
              </a:rPr>
              <a:t>implicit state-space parameters</a:t>
            </a:r>
            <a:endParaRPr lang="en-US" sz="1150" dirty="0"/>
          </a:p>
        </p:txBody>
      </p:sp>
      <p:sp>
        <p:nvSpPr>
          <p:cNvPr id="22" name="Text 18"/>
          <p:cNvSpPr/>
          <p:nvPr/>
        </p:nvSpPr>
        <p:spPr>
          <a:xfrm>
            <a:off x="11475720" y="6510528"/>
            <a:ext cx="320040" cy="164592"/>
          </a:xfrm>
          <a:prstGeom prst="rect">
            <a:avLst/>
          </a:prstGeom>
          <a:noFill/>
          <a:ln/>
        </p:spPr>
        <p:txBody>
          <a:bodyPr wrap="square" lIns="0" tIns="0" rIns="0" bIns="0" rtlCol="0" anchor="ctr"/>
          <a:lstStyle/>
          <a:p>
            <a:pPr algn="r" indent="0" marL="0">
              <a:buNone/>
            </a:pPr>
            <a:r>
              <a:rPr lang="en-US" sz="800" dirty="0">
                <a:solidFill>
                  <a:srgbClr val="6B7280"/>
                </a:solidFill>
              </a:rPr>
              <a:t>22</a:t>
            </a:r>
            <a:endParaRPr lang="en-US" sz="800" dirty="0"/>
          </a:p>
        </p:txBody>
      </p:sp>
      <p:sp>
        <p:nvSpPr>
          <p:cNvPr id="23" name="Text 19"/>
          <p:cNvSpPr/>
          <p:nvPr/>
        </p:nvSpPr>
        <p:spPr>
          <a:xfrm>
            <a:off x="411480" y="6510528"/>
            <a:ext cx="3200400" cy="164592"/>
          </a:xfrm>
          <a:prstGeom prst="rect">
            <a:avLst/>
          </a:prstGeom>
          <a:noFill/>
          <a:ln/>
        </p:spPr>
        <p:txBody>
          <a:bodyPr wrap="square" lIns="0" tIns="0" rIns="0" bIns="0" rtlCol="0" anchor="ctr"/>
          <a:lstStyle/>
          <a:p>
            <a:pPr indent="0" marL="0">
              <a:buNone/>
            </a:pPr>
            <a:r>
              <a:rPr lang="en-US" sz="750" dirty="0">
                <a:solidFill>
                  <a:srgbClr val="6B7280"/>
                </a:solidFill>
              </a:rPr>
              <a:t>CSU Channel Islands · COMP 469</a:t>
            </a:r>
            <a:endParaRPr lang="en-US" sz="7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13386B"/>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13386B"/>
          </a:solidFill>
          <a:ln w="12700">
            <a:solidFill>
              <a:srgbClr val="13386B"/>
            </a:solidFill>
            <a:prstDash val="solid"/>
          </a:ln>
        </p:spPr>
      </p:sp>
      <p:sp>
        <p:nvSpPr>
          <p:cNvPr id="3" name="Shape 1"/>
          <p:cNvSpPr/>
          <p:nvPr/>
        </p:nvSpPr>
        <p:spPr>
          <a:xfrm>
            <a:off x="0" y="5440680"/>
            <a:ext cx="12191695" cy="118872"/>
          </a:xfrm>
          <a:prstGeom prst="rect">
            <a:avLst/>
          </a:prstGeom>
          <a:solidFill>
            <a:srgbClr val="F5A11A"/>
          </a:solidFill>
          <a:ln w="12700">
            <a:solidFill>
              <a:srgbClr val="F5A11A"/>
            </a:solidFill>
            <a:prstDash val="solid"/>
          </a:ln>
        </p:spPr>
      </p:sp>
      <p:sp>
        <p:nvSpPr>
          <p:cNvPr id="4" name="Text 2"/>
          <p:cNvSpPr/>
          <p:nvPr/>
        </p:nvSpPr>
        <p:spPr>
          <a:xfrm>
            <a:off x="731520" y="1965960"/>
            <a:ext cx="7040880" cy="594360"/>
          </a:xfrm>
          <a:prstGeom prst="rect">
            <a:avLst/>
          </a:prstGeom>
          <a:noFill/>
          <a:ln/>
        </p:spPr>
        <p:txBody>
          <a:bodyPr wrap="square" lIns="0" tIns="0" rIns="0" bIns="0" rtlCol="0" anchor="t">
            <a:normAutofit/>
          </a:bodyPr>
          <a:lstStyle/>
          <a:p>
            <a:pPr algn="l" indent="0" marL="0">
              <a:buNone/>
            </a:pPr>
            <a:r>
              <a:rPr lang="en-US" sz="3400" b="1" dirty="0">
                <a:solidFill>
                  <a:srgbClr val="FFFFFF"/>
                </a:solidFill>
                <a:latin typeface="Aptos" pitchFamily="34" charset="0"/>
                <a:ea typeface="Aptos" pitchFamily="34" charset="-122"/>
                <a:cs typeface="Aptos" pitchFamily="34" charset="-120"/>
              </a:rPr>
              <a:t>Section 3.4</a:t>
            </a:r>
            <a:endParaRPr lang="en-US" sz="3400" dirty="0"/>
          </a:p>
        </p:txBody>
      </p:sp>
      <p:sp>
        <p:nvSpPr>
          <p:cNvPr id="5" name="Text 3"/>
          <p:cNvSpPr/>
          <p:nvPr/>
        </p:nvSpPr>
        <p:spPr>
          <a:xfrm>
            <a:off x="768096" y="2697480"/>
            <a:ext cx="7315200" cy="365760"/>
          </a:xfrm>
          <a:prstGeom prst="rect">
            <a:avLst/>
          </a:prstGeom>
          <a:noFill/>
          <a:ln/>
        </p:spPr>
        <p:txBody>
          <a:bodyPr wrap="square" lIns="0" tIns="0" rIns="0" bIns="0" rtlCol="0" anchor="t">
            <a:normAutofit/>
          </a:bodyPr>
          <a:lstStyle/>
          <a:p>
            <a:pPr algn="l" indent="0" marL="0">
              <a:buNone/>
            </a:pPr>
            <a:r>
              <a:rPr lang="en-US" sz="1700" dirty="0">
                <a:solidFill>
                  <a:srgbClr val="D8E6F6"/>
                </a:solidFill>
                <a:latin typeface="Aptos" pitchFamily="34" charset="0"/>
                <a:ea typeface="Aptos" pitchFamily="34" charset="-122"/>
                <a:cs typeface="Aptos" pitchFamily="34" charset="-120"/>
              </a:rPr>
              <a:t>Uninformed Search Strategies</a:t>
            </a:r>
            <a:endParaRPr lang="en-US" sz="1700" dirty="0"/>
          </a:p>
        </p:txBody>
      </p:sp>
      <p:pic>
        <p:nvPicPr>
          <p:cNvPr id="6" name="Image 0" descr="/mnt/data/a_clean_cartoon_style_digital_illustration_featur.png">    </p:cNvPr>
          <p:cNvPicPr>
            <a:picLocks noChangeAspect="1"/>
          </p:cNvPicPr>
          <p:nvPr/>
        </p:nvPicPr>
        <p:blipFill>
          <a:blip r:embed="rId1"/>
          <a:stretch>
            <a:fillRect/>
          </a:stretch>
        </p:blipFill>
        <p:spPr>
          <a:xfrm>
            <a:off x="8869680" y="1143000"/>
            <a:ext cx="2331720" cy="3200400"/>
          </a:xfrm>
          <a:prstGeom prst="rect">
            <a:avLst/>
          </a:prstGeom>
        </p:spPr>
      </p:pic>
      <p:sp>
        <p:nvSpPr>
          <p:cNvPr id="7" name="Text 4"/>
          <p:cNvSpPr/>
          <p:nvPr/>
        </p:nvSpPr>
        <p:spPr>
          <a:xfrm>
            <a:off x="11475720" y="6510528"/>
            <a:ext cx="320040" cy="164592"/>
          </a:xfrm>
          <a:prstGeom prst="rect">
            <a:avLst/>
          </a:prstGeom>
          <a:noFill/>
          <a:ln/>
        </p:spPr>
        <p:txBody>
          <a:bodyPr wrap="square" lIns="0" tIns="0" rIns="0" bIns="0" rtlCol="0" anchor="ctr"/>
          <a:lstStyle/>
          <a:p>
            <a:pPr algn="r" indent="0" marL="0">
              <a:buNone/>
            </a:pPr>
            <a:r>
              <a:rPr lang="en-US" sz="800" dirty="0">
                <a:solidFill>
                  <a:srgbClr val="6B7280"/>
                </a:solidFill>
              </a:rPr>
              <a:t>24</a:t>
            </a:r>
            <a:endParaRPr lang="en-US" sz="800" dirty="0"/>
          </a:p>
        </p:txBody>
      </p:sp>
      <p:sp>
        <p:nvSpPr>
          <p:cNvPr id="8" name="Text 5"/>
          <p:cNvSpPr/>
          <p:nvPr/>
        </p:nvSpPr>
        <p:spPr>
          <a:xfrm>
            <a:off x="411480" y="6510528"/>
            <a:ext cx="3200400" cy="164592"/>
          </a:xfrm>
          <a:prstGeom prst="rect">
            <a:avLst/>
          </a:prstGeom>
          <a:noFill/>
          <a:ln/>
        </p:spPr>
        <p:txBody>
          <a:bodyPr wrap="square" lIns="0" tIns="0" rIns="0" bIns="0" rtlCol="0" anchor="ctr"/>
          <a:lstStyle/>
          <a:p>
            <a:pPr indent="0" marL="0">
              <a:buNone/>
            </a:pPr>
            <a:r>
              <a:rPr lang="en-US" sz="750" dirty="0">
                <a:solidFill>
                  <a:srgbClr val="6B7280"/>
                </a:solidFill>
              </a:rPr>
              <a:t>CSU Channel Islands · COMP 469</a:t>
            </a:r>
            <a:endParaRPr lang="en-US" sz="7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5F7FB"/>
        </a:solidFill>
      </p:bgPr>
    </p:bg>
    <p:spTree>
      <p:nvGrpSpPr>
        <p:cNvPr id="1" name=""/>
        <p:cNvGrpSpPr/>
        <p:nvPr/>
      </p:nvGrpSpPr>
      <p:grpSpPr>
        <a:xfrm>
          <a:off x="0" y="0"/>
          <a:ext cx="0" cy="0"/>
          <a:chOff x="0" y="0"/>
          <a:chExt cx="0" cy="0"/>
        </a:xfrm>
      </p:grpSpPr>
      <p:sp>
        <p:nvSpPr>
          <p:cNvPr id="2" name="Shape 0"/>
          <p:cNvSpPr/>
          <p:nvPr/>
        </p:nvSpPr>
        <p:spPr>
          <a:xfrm>
            <a:off x="0" y="0"/>
            <a:ext cx="12191695" cy="640080"/>
          </a:xfrm>
          <a:prstGeom prst="rect">
            <a:avLst/>
          </a:prstGeom>
          <a:solidFill>
            <a:srgbClr val="13386B"/>
          </a:solidFill>
          <a:ln w="12700">
            <a:solidFill>
              <a:srgbClr val="13386B"/>
            </a:solidFill>
            <a:prstDash val="solid"/>
          </a:ln>
        </p:spPr>
      </p:sp>
      <p:sp>
        <p:nvSpPr>
          <p:cNvPr id="3" name="Shape 1"/>
          <p:cNvSpPr/>
          <p:nvPr/>
        </p:nvSpPr>
        <p:spPr>
          <a:xfrm>
            <a:off x="0" y="640080"/>
            <a:ext cx="12191695" cy="68580"/>
          </a:xfrm>
          <a:prstGeom prst="rect">
            <a:avLst/>
          </a:prstGeom>
          <a:solidFill>
            <a:srgbClr val="F5A11A"/>
          </a:solidFill>
          <a:ln w="12700">
            <a:solidFill>
              <a:srgbClr val="F5A11A"/>
            </a:solidFill>
            <a:prstDash val="solid"/>
          </a:ln>
        </p:spPr>
      </p:sp>
      <p:sp>
        <p:nvSpPr>
          <p:cNvPr id="4" name="Text 2"/>
          <p:cNvSpPr/>
          <p:nvPr/>
        </p:nvSpPr>
        <p:spPr>
          <a:xfrm>
            <a:off x="411480" y="155448"/>
            <a:ext cx="7818120" cy="320040"/>
          </a:xfrm>
          <a:prstGeom prst="rect">
            <a:avLst/>
          </a:prstGeom>
          <a:noFill/>
          <a:ln/>
        </p:spPr>
        <p:txBody>
          <a:bodyPr wrap="square" lIns="0" tIns="0" rIns="0" bIns="0" rtlCol="0" anchor="ctr"/>
          <a:lstStyle/>
          <a:p>
            <a:pPr indent="0" marL="0">
              <a:buNone/>
            </a:pPr>
            <a:r>
              <a:rPr lang="en-US" sz="2200" b="1" dirty="0">
                <a:solidFill>
                  <a:srgbClr val="FFFFFF"/>
                </a:solidFill>
                <a:latin typeface="Aptos Display" pitchFamily="34" charset="0"/>
                <a:ea typeface="Aptos Display" pitchFamily="34" charset="-122"/>
                <a:cs typeface="Aptos Display" pitchFamily="34" charset="-120"/>
              </a:rPr>
              <a:t>Breadth-First Search (BFS)</a:t>
            </a:r>
            <a:endParaRPr lang="en-US" sz="2200" dirty="0"/>
          </a:p>
        </p:txBody>
      </p:sp>
      <p:sp>
        <p:nvSpPr>
          <p:cNvPr id="5" name="Text 3"/>
          <p:cNvSpPr/>
          <p:nvPr/>
        </p:nvSpPr>
        <p:spPr>
          <a:xfrm>
            <a:off x="9253728" y="210312"/>
            <a:ext cx="2487168" cy="256032"/>
          </a:xfrm>
          <a:prstGeom prst="rect">
            <a:avLst/>
          </a:prstGeom>
          <a:noFill/>
          <a:ln/>
        </p:spPr>
        <p:txBody>
          <a:bodyPr wrap="square" lIns="0" tIns="0" rIns="0" bIns="0" rtlCol="0" anchor="ctr"/>
          <a:lstStyle/>
          <a:p>
            <a:pPr algn="r" indent="0" marL="0">
              <a:buNone/>
            </a:pPr>
            <a:r>
              <a:rPr lang="en-US" sz="850" dirty="0">
                <a:solidFill>
                  <a:srgbClr val="D9E5F2"/>
                </a:solidFill>
              </a:rPr>
              <a:t>COMP 469 · Chapter 3 · Sections 3.1–3.4</a:t>
            </a:r>
            <a:endParaRPr lang="en-US" sz="850" dirty="0"/>
          </a:p>
        </p:txBody>
      </p:sp>
      <p:pic>
        <p:nvPicPr>
          <p:cNvPr id="6" name="Image 0" descr="/mnt/data/ch3_odt_extract/Pictures/100000000000023B000002607EB28EDF.png">    </p:cNvPr>
          <p:cNvPicPr>
            <a:picLocks noChangeAspect="1"/>
          </p:cNvPicPr>
          <p:nvPr/>
        </p:nvPicPr>
        <p:blipFill>
          <a:blip r:embed="rId1"/>
          <a:stretch>
            <a:fillRect/>
          </a:stretch>
        </p:blipFill>
        <p:spPr>
          <a:xfrm>
            <a:off x="594360" y="960120"/>
            <a:ext cx="4983480" cy="3931920"/>
          </a:xfrm>
          <a:prstGeom prst="rect">
            <a:avLst/>
          </a:prstGeom>
        </p:spPr>
      </p:pic>
      <p:sp>
        <p:nvSpPr>
          <p:cNvPr id="7" name="Shape 4"/>
          <p:cNvSpPr/>
          <p:nvPr/>
        </p:nvSpPr>
        <p:spPr>
          <a:xfrm>
            <a:off x="5943600" y="1097280"/>
            <a:ext cx="5166360" cy="960120"/>
          </a:xfrm>
          <a:prstGeom prst="roundRect">
            <a:avLst>
              <a:gd name="adj" fmla="val 5714"/>
            </a:avLst>
          </a:prstGeom>
          <a:solidFill>
            <a:srgbClr val="FFFFFF"/>
          </a:solidFill>
          <a:ln w="12700">
            <a:solidFill>
              <a:srgbClr val="D5DCE8"/>
            </a:solidFill>
            <a:prstDash val="solid"/>
          </a:ln>
        </p:spPr>
      </p:sp>
      <p:sp>
        <p:nvSpPr>
          <p:cNvPr id="8" name="Text 5"/>
          <p:cNvSpPr/>
          <p:nvPr/>
        </p:nvSpPr>
        <p:spPr>
          <a:xfrm>
            <a:off x="6108192" y="1261872"/>
            <a:ext cx="4837176" cy="310896"/>
          </a:xfrm>
          <a:prstGeom prst="rect">
            <a:avLst/>
          </a:prstGeom>
          <a:noFill/>
          <a:ln/>
        </p:spPr>
        <p:txBody>
          <a:bodyPr wrap="square" lIns="762" tIns="762" rIns="762" bIns="762" rtlCol="0" anchor="t">
            <a:normAutofit/>
          </a:bodyPr>
          <a:lstStyle/>
          <a:p>
            <a:pPr algn="l" indent="0" marL="0">
              <a:buNone/>
            </a:pPr>
            <a:r>
              <a:rPr lang="en-US" sz="1400" b="1" dirty="0">
                <a:solidFill>
                  <a:srgbClr val="13386B"/>
                </a:solidFill>
                <a:latin typeface="Aptos" pitchFamily="34" charset="0"/>
                <a:ea typeface="Aptos" pitchFamily="34" charset="-122"/>
                <a:cs typeface="Aptos" pitchFamily="34" charset="-120"/>
              </a:rPr>
              <a:t>Strategy</a:t>
            </a:r>
            <a:endParaRPr lang="en-US" sz="1400" dirty="0"/>
          </a:p>
        </p:txBody>
      </p:sp>
      <p:sp>
        <p:nvSpPr>
          <p:cNvPr id="9" name="Text 6"/>
          <p:cNvSpPr/>
          <p:nvPr/>
        </p:nvSpPr>
        <p:spPr>
          <a:xfrm>
            <a:off x="6108192" y="1627632"/>
            <a:ext cx="4837176" cy="301752"/>
          </a:xfrm>
          <a:prstGeom prst="rect">
            <a:avLst/>
          </a:prstGeom>
          <a:noFill/>
          <a:ln/>
        </p:spPr>
        <p:txBody>
          <a:bodyPr wrap="square" lIns="762" tIns="762" rIns="762" bIns="762" rtlCol="0" anchor="t">
            <a:normAutofit/>
          </a:bodyPr>
          <a:lstStyle/>
          <a:p>
            <a:pPr algn="l" indent="0" marL="0">
              <a:buNone/>
            </a:pPr>
            <a:r>
              <a:rPr lang="en-US" sz="1250" dirty="0">
                <a:solidFill>
                  <a:srgbClr val="111827"/>
                </a:solidFill>
                <a:latin typeface="Aptos" pitchFamily="34" charset="0"/>
                <a:ea typeface="Aptos" pitchFamily="34" charset="-122"/>
                <a:cs typeface="Aptos" pitchFamily="34" charset="-120"/>
              </a:rPr>
              <a:t>Expand the shallowest node first.</a:t>
            </a:r>
            <a:endParaRPr lang="en-US" sz="1250" dirty="0"/>
          </a:p>
        </p:txBody>
      </p:sp>
      <p:sp>
        <p:nvSpPr>
          <p:cNvPr id="10" name="Shape 7"/>
          <p:cNvSpPr/>
          <p:nvPr/>
        </p:nvSpPr>
        <p:spPr>
          <a:xfrm>
            <a:off x="5943600" y="2286000"/>
            <a:ext cx="5166360" cy="960120"/>
          </a:xfrm>
          <a:prstGeom prst="roundRect">
            <a:avLst>
              <a:gd name="adj" fmla="val 5714"/>
            </a:avLst>
          </a:prstGeom>
          <a:solidFill>
            <a:srgbClr val="FFFFFF"/>
          </a:solidFill>
          <a:ln w="12700">
            <a:solidFill>
              <a:srgbClr val="D5DCE8"/>
            </a:solidFill>
            <a:prstDash val="solid"/>
          </a:ln>
        </p:spPr>
      </p:sp>
      <p:sp>
        <p:nvSpPr>
          <p:cNvPr id="11" name="Text 8"/>
          <p:cNvSpPr/>
          <p:nvPr/>
        </p:nvSpPr>
        <p:spPr>
          <a:xfrm>
            <a:off x="6108192" y="2450592"/>
            <a:ext cx="4837176" cy="310896"/>
          </a:xfrm>
          <a:prstGeom prst="rect">
            <a:avLst/>
          </a:prstGeom>
          <a:noFill/>
          <a:ln/>
        </p:spPr>
        <p:txBody>
          <a:bodyPr wrap="square" lIns="762" tIns="762" rIns="762" bIns="762" rtlCol="0" anchor="t">
            <a:normAutofit/>
          </a:bodyPr>
          <a:lstStyle/>
          <a:p>
            <a:pPr algn="l" indent="0" marL="0">
              <a:buNone/>
            </a:pPr>
            <a:r>
              <a:rPr lang="en-US" sz="1400" b="1" dirty="0">
                <a:solidFill>
                  <a:srgbClr val="0F8B8D"/>
                </a:solidFill>
                <a:latin typeface="Aptos" pitchFamily="34" charset="0"/>
                <a:ea typeface="Aptos" pitchFamily="34" charset="-122"/>
                <a:cs typeface="Aptos" pitchFamily="34" charset="-120"/>
              </a:rPr>
              <a:t>Implementation</a:t>
            </a:r>
            <a:endParaRPr lang="en-US" sz="1400" dirty="0"/>
          </a:p>
        </p:txBody>
      </p:sp>
      <p:sp>
        <p:nvSpPr>
          <p:cNvPr id="12" name="Text 9"/>
          <p:cNvSpPr/>
          <p:nvPr/>
        </p:nvSpPr>
        <p:spPr>
          <a:xfrm>
            <a:off x="6108192" y="2816352"/>
            <a:ext cx="4837176" cy="301752"/>
          </a:xfrm>
          <a:prstGeom prst="rect">
            <a:avLst/>
          </a:prstGeom>
          <a:noFill/>
          <a:ln/>
        </p:spPr>
        <p:txBody>
          <a:bodyPr wrap="square" lIns="762" tIns="762" rIns="762" bIns="762" rtlCol="0" anchor="t">
            <a:normAutofit/>
          </a:bodyPr>
          <a:lstStyle/>
          <a:p>
            <a:pPr algn="l" indent="0" marL="0">
              <a:buNone/>
            </a:pPr>
            <a:r>
              <a:rPr lang="en-US" sz="1250" dirty="0">
                <a:solidFill>
                  <a:srgbClr val="111827"/>
                </a:solidFill>
                <a:latin typeface="Aptos" pitchFamily="34" charset="0"/>
                <a:ea typeface="Aptos" pitchFamily="34" charset="-122"/>
                <a:cs typeface="Aptos" pitchFamily="34" charset="-120"/>
              </a:rPr>
              <a:t>Use a FIFO queue. New nodes go to the back.</a:t>
            </a:r>
            <a:endParaRPr lang="en-US" sz="1250" dirty="0"/>
          </a:p>
        </p:txBody>
      </p:sp>
      <p:sp>
        <p:nvSpPr>
          <p:cNvPr id="13" name="Shape 10"/>
          <p:cNvSpPr/>
          <p:nvPr/>
        </p:nvSpPr>
        <p:spPr>
          <a:xfrm>
            <a:off x="5943600" y="3474720"/>
            <a:ext cx="5166360" cy="960120"/>
          </a:xfrm>
          <a:prstGeom prst="roundRect">
            <a:avLst>
              <a:gd name="adj" fmla="val 5714"/>
            </a:avLst>
          </a:prstGeom>
          <a:solidFill>
            <a:srgbClr val="FFFFFF"/>
          </a:solidFill>
          <a:ln w="12700">
            <a:solidFill>
              <a:srgbClr val="D5DCE8"/>
            </a:solidFill>
            <a:prstDash val="solid"/>
          </a:ln>
        </p:spPr>
      </p:sp>
      <p:sp>
        <p:nvSpPr>
          <p:cNvPr id="14" name="Text 11"/>
          <p:cNvSpPr/>
          <p:nvPr/>
        </p:nvSpPr>
        <p:spPr>
          <a:xfrm>
            <a:off x="6108192" y="3639312"/>
            <a:ext cx="4837176" cy="310896"/>
          </a:xfrm>
          <a:prstGeom prst="rect">
            <a:avLst/>
          </a:prstGeom>
          <a:noFill/>
          <a:ln/>
        </p:spPr>
        <p:txBody>
          <a:bodyPr wrap="square" lIns="762" tIns="762" rIns="762" bIns="762" rtlCol="0" anchor="t">
            <a:normAutofit/>
          </a:bodyPr>
          <a:lstStyle/>
          <a:p>
            <a:pPr algn="l" indent="0" marL="0">
              <a:buNone/>
            </a:pPr>
            <a:r>
              <a:rPr lang="en-US" sz="1400" b="1" dirty="0">
                <a:solidFill>
                  <a:srgbClr val="1F7A3D"/>
                </a:solidFill>
                <a:latin typeface="Aptos" pitchFamily="34" charset="0"/>
                <a:ea typeface="Aptos" pitchFamily="34" charset="-122"/>
                <a:cs typeface="Aptos" pitchFamily="34" charset="-120"/>
              </a:rPr>
              <a:t>Guarantees</a:t>
            </a:r>
            <a:endParaRPr lang="en-US" sz="1400" dirty="0"/>
          </a:p>
        </p:txBody>
      </p:sp>
      <p:sp>
        <p:nvSpPr>
          <p:cNvPr id="15" name="Text 12"/>
          <p:cNvSpPr/>
          <p:nvPr/>
        </p:nvSpPr>
        <p:spPr>
          <a:xfrm>
            <a:off x="6108192" y="4005072"/>
            <a:ext cx="4837176" cy="301752"/>
          </a:xfrm>
          <a:prstGeom prst="rect">
            <a:avLst/>
          </a:prstGeom>
          <a:noFill/>
          <a:ln/>
        </p:spPr>
        <p:txBody>
          <a:bodyPr wrap="square" lIns="762" tIns="762" rIns="762" bIns="762" rtlCol="0" anchor="t">
            <a:normAutofit/>
          </a:bodyPr>
          <a:lstStyle/>
          <a:p>
            <a:pPr algn="l" indent="0" marL="0">
              <a:buNone/>
            </a:pPr>
            <a:r>
              <a:rPr lang="en-US" sz="1250" dirty="0">
                <a:solidFill>
                  <a:srgbClr val="111827"/>
                </a:solidFill>
                <a:latin typeface="Aptos" pitchFamily="34" charset="0"/>
                <a:ea typeface="Aptos" pitchFamily="34" charset="-122"/>
                <a:cs typeface="Aptos" pitchFamily="34" charset="-120"/>
              </a:rPr>
              <a:t>Complete. Cost-optimal when all action costs are equal.</a:t>
            </a:r>
            <a:endParaRPr lang="en-US" sz="1250" dirty="0"/>
          </a:p>
        </p:txBody>
      </p:sp>
      <p:sp>
        <p:nvSpPr>
          <p:cNvPr id="16" name="Shape 13"/>
          <p:cNvSpPr/>
          <p:nvPr/>
        </p:nvSpPr>
        <p:spPr>
          <a:xfrm>
            <a:off x="5943600" y="4663440"/>
            <a:ext cx="5166360" cy="960120"/>
          </a:xfrm>
          <a:prstGeom prst="roundRect">
            <a:avLst>
              <a:gd name="adj" fmla="val 5714"/>
            </a:avLst>
          </a:prstGeom>
          <a:solidFill>
            <a:srgbClr val="FFFFFF"/>
          </a:solidFill>
          <a:ln w="12700">
            <a:solidFill>
              <a:srgbClr val="D5DCE8"/>
            </a:solidFill>
            <a:prstDash val="solid"/>
          </a:ln>
        </p:spPr>
      </p:sp>
      <p:sp>
        <p:nvSpPr>
          <p:cNvPr id="17" name="Text 14"/>
          <p:cNvSpPr/>
          <p:nvPr/>
        </p:nvSpPr>
        <p:spPr>
          <a:xfrm>
            <a:off x="6108192" y="4828032"/>
            <a:ext cx="4837176" cy="310896"/>
          </a:xfrm>
          <a:prstGeom prst="rect">
            <a:avLst/>
          </a:prstGeom>
          <a:noFill/>
          <a:ln/>
        </p:spPr>
        <p:txBody>
          <a:bodyPr wrap="square" lIns="762" tIns="762" rIns="762" bIns="762" rtlCol="0" anchor="t">
            <a:normAutofit/>
          </a:bodyPr>
          <a:lstStyle/>
          <a:p>
            <a:pPr algn="l" indent="0" marL="0">
              <a:buNone/>
            </a:pPr>
            <a:r>
              <a:rPr lang="en-US" sz="1400" b="1" dirty="0">
                <a:solidFill>
                  <a:srgbClr val="F5A11A"/>
                </a:solidFill>
                <a:latin typeface="Aptos" pitchFamily="34" charset="0"/>
                <a:ea typeface="Aptos" pitchFamily="34" charset="-122"/>
                <a:cs typeface="Aptos" pitchFamily="34" charset="-120"/>
              </a:rPr>
              <a:t>Early goal test</a:t>
            </a:r>
            <a:endParaRPr lang="en-US" sz="1400" dirty="0"/>
          </a:p>
        </p:txBody>
      </p:sp>
      <p:sp>
        <p:nvSpPr>
          <p:cNvPr id="18" name="Text 15"/>
          <p:cNvSpPr/>
          <p:nvPr/>
        </p:nvSpPr>
        <p:spPr>
          <a:xfrm>
            <a:off x="6108192" y="5193792"/>
            <a:ext cx="4837176" cy="301752"/>
          </a:xfrm>
          <a:prstGeom prst="rect">
            <a:avLst/>
          </a:prstGeom>
          <a:noFill/>
          <a:ln/>
        </p:spPr>
        <p:txBody>
          <a:bodyPr wrap="square" lIns="762" tIns="762" rIns="762" bIns="762" rtlCol="0" anchor="t">
            <a:normAutofit/>
          </a:bodyPr>
          <a:lstStyle/>
          <a:p>
            <a:pPr algn="l" indent="0" marL="0">
              <a:buNone/>
            </a:pPr>
            <a:r>
              <a:rPr lang="en-US" sz="1250" dirty="0">
                <a:solidFill>
                  <a:srgbClr val="111827"/>
                </a:solidFill>
                <a:latin typeface="Aptos" pitchFamily="34" charset="0"/>
                <a:ea typeface="Aptos" pitchFamily="34" charset="-122"/>
                <a:cs typeface="Aptos" pitchFamily="34" charset="-120"/>
              </a:rPr>
              <a:t>Can test for a solution when a node is generated because shallower paths are already handled.</a:t>
            </a:r>
            <a:endParaRPr lang="en-US" sz="1250" dirty="0"/>
          </a:p>
        </p:txBody>
      </p:sp>
      <p:sp>
        <p:nvSpPr>
          <p:cNvPr id="19" name="Text 16"/>
          <p:cNvSpPr/>
          <p:nvPr/>
        </p:nvSpPr>
        <p:spPr>
          <a:xfrm>
            <a:off x="11475720" y="6510528"/>
            <a:ext cx="320040" cy="164592"/>
          </a:xfrm>
          <a:prstGeom prst="rect">
            <a:avLst/>
          </a:prstGeom>
          <a:noFill/>
          <a:ln/>
        </p:spPr>
        <p:txBody>
          <a:bodyPr wrap="square" lIns="0" tIns="0" rIns="0" bIns="0" rtlCol="0" anchor="ctr"/>
          <a:lstStyle/>
          <a:p>
            <a:pPr algn="r" indent="0" marL="0">
              <a:buNone/>
            </a:pPr>
            <a:r>
              <a:rPr lang="en-US" sz="800" dirty="0">
                <a:solidFill>
                  <a:srgbClr val="6B7280"/>
                </a:solidFill>
              </a:rPr>
              <a:t>24</a:t>
            </a:r>
            <a:endParaRPr lang="en-US" sz="800" dirty="0"/>
          </a:p>
        </p:txBody>
      </p:sp>
      <p:sp>
        <p:nvSpPr>
          <p:cNvPr id="20" name="Text 17"/>
          <p:cNvSpPr/>
          <p:nvPr/>
        </p:nvSpPr>
        <p:spPr>
          <a:xfrm>
            <a:off x="411480" y="6510528"/>
            <a:ext cx="3200400" cy="164592"/>
          </a:xfrm>
          <a:prstGeom prst="rect">
            <a:avLst/>
          </a:prstGeom>
          <a:noFill/>
          <a:ln/>
        </p:spPr>
        <p:txBody>
          <a:bodyPr wrap="square" lIns="0" tIns="0" rIns="0" bIns="0" rtlCol="0" anchor="ctr"/>
          <a:lstStyle/>
          <a:p>
            <a:pPr indent="0" marL="0">
              <a:buNone/>
            </a:pPr>
            <a:r>
              <a:rPr lang="en-US" sz="750" dirty="0">
                <a:solidFill>
                  <a:srgbClr val="6B7280"/>
                </a:solidFill>
              </a:rPr>
              <a:t>CSU Channel Islands · COMP 469</a:t>
            </a:r>
            <a:endParaRPr lang="en-US" sz="7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5F7FB"/>
        </a:solidFill>
      </p:bgPr>
    </p:bg>
    <p:spTree>
      <p:nvGrpSpPr>
        <p:cNvPr id="1" name=""/>
        <p:cNvGrpSpPr/>
        <p:nvPr/>
      </p:nvGrpSpPr>
      <p:grpSpPr>
        <a:xfrm>
          <a:off x="0" y="0"/>
          <a:ext cx="0" cy="0"/>
          <a:chOff x="0" y="0"/>
          <a:chExt cx="0" cy="0"/>
        </a:xfrm>
      </p:grpSpPr>
      <p:sp>
        <p:nvSpPr>
          <p:cNvPr id="2" name="Shape 0"/>
          <p:cNvSpPr/>
          <p:nvPr/>
        </p:nvSpPr>
        <p:spPr>
          <a:xfrm>
            <a:off x="0" y="0"/>
            <a:ext cx="12191695" cy="640080"/>
          </a:xfrm>
          <a:prstGeom prst="rect">
            <a:avLst/>
          </a:prstGeom>
          <a:solidFill>
            <a:srgbClr val="13386B"/>
          </a:solidFill>
          <a:ln w="12700">
            <a:solidFill>
              <a:srgbClr val="13386B"/>
            </a:solidFill>
            <a:prstDash val="solid"/>
          </a:ln>
        </p:spPr>
      </p:sp>
      <p:sp>
        <p:nvSpPr>
          <p:cNvPr id="3" name="Shape 1"/>
          <p:cNvSpPr/>
          <p:nvPr/>
        </p:nvSpPr>
        <p:spPr>
          <a:xfrm>
            <a:off x="0" y="640080"/>
            <a:ext cx="12191695" cy="68580"/>
          </a:xfrm>
          <a:prstGeom prst="rect">
            <a:avLst/>
          </a:prstGeom>
          <a:solidFill>
            <a:srgbClr val="F5A11A"/>
          </a:solidFill>
          <a:ln w="12700">
            <a:solidFill>
              <a:srgbClr val="F5A11A"/>
            </a:solidFill>
            <a:prstDash val="solid"/>
          </a:ln>
        </p:spPr>
      </p:sp>
      <p:sp>
        <p:nvSpPr>
          <p:cNvPr id="4" name="Text 2"/>
          <p:cNvSpPr/>
          <p:nvPr/>
        </p:nvSpPr>
        <p:spPr>
          <a:xfrm>
            <a:off x="411480" y="155448"/>
            <a:ext cx="7818120" cy="320040"/>
          </a:xfrm>
          <a:prstGeom prst="rect">
            <a:avLst/>
          </a:prstGeom>
          <a:noFill/>
          <a:ln/>
        </p:spPr>
        <p:txBody>
          <a:bodyPr wrap="square" lIns="0" tIns="0" rIns="0" bIns="0" rtlCol="0" anchor="ctr"/>
          <a:lstStyle/>
          <a:p>
            <a:pPr indent="0" marL="0">
              <a:buNone/>
            </a:pPr>
            <a:r>
              <a:rPr lang="en-US" sz="2200" b="1" dirty="0">
                <a:solidFill>
                  <a:srgbClr val="FFFFFF"/>
                </a:solidFill>
                <a:latin typeface="Aptos Display" pitchFamily="34" charset="0"/>
                <a:ea typeface="Aptos Display" pitchFamily="34" charset="-122"/>
                <a:cs typeface="Aptos Display" pitchFamily="34" charset="-120"/>
              </a:rPr>
              <a:t>BFS Complexity: Exponential Memory Growth</a:t>
            </a:r>
            <a:endParaRPr lang="en-US" sz="2200" dirty="0"/>
          </a:p>
        </p:txBody>
      </p:sp>
      <p:sp>
        <p:nvSpPr>
          <p:cNvPr id="5" name="Text 3"/>
          <p:cNvSpPr/>
          <p:nvPr/>
        </p:nvSpPr>
        <p:spPr>
          <a:xfrm>
            <a:off x="9253728" y="210312"/>
            <a:ext cx="2487168" cy="256032"/>
          </a:xfrm>
          <a:prstGeom prst="rect">
            <a:avLst/>
          </a:prstGeom>
          <a:noFill/>
          <a:ln/>
        </p:spPr>
        <p:txBody>
          <a:bodyPr wrap="square" lIns="0" tIns="0" rIns="0" bIns="0" rtlCol="0" anchor="ctr"/>
          <a:lstStyle/>
          <a:p>
            <a:pPr algn="r" indent="0" marL="0">
              <a:buNone/>
            </a:pPr>
            <a:r>
              <a:rPr lang="en-US" sz="850" dirty="0">
                <a:solidFill>
                  <a:srgbClr val="D9E5F2"/>
                </a:solidFill>
              </a:rPr>
              <a:t>COMP 469 · Chapter 3 · Sections 3.1–3.4</a:t>
            </a:r>
            <a:endParaRPr lang="en-US" sz="850" dirty="0"/>
          </a:p>
        </p:txBody>
      </p:sp>
      <p:pic>
        <p:nvPicPr>
          <p:cNvPr id="6" name="Image 0" descr="preencoded.pn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914400" y="1280160"/>
            <a:ext cx="6949440" cy="731520"/>
          </a:xfrm>
          <a:prstGeom prst="rect">
            <a:avLst/>
          </a:prstGeom>
        </p:spPr>
      </p:pic>
      <p:sp>
        <p:nvSpPr>
          <p:cNvPr id="7" name="Shape 4"/>
          <p:cNvSpPr/>
          <p:nvPr/>
        </p:nvSpPr>
        <p:spPr>
          <a:xfrm>
            <a:off x="868680" y="2331720"/>
            <a:ext cx="3474720" cy="1097280"/>
          </a:xfrm>
          <a:prstGeom prst="roundRect">
            <a:avLst>
              <a:gd name="adj" fmla="val 5000"/>
            </a:avLst>
          </a:prstGeom>
          <a:solidFill>
            <a:srgbClr val="FFFFFF"/>
          </a:solidFill>
          <a:ln w="12700">
            <a:solidFill>
              <a:srgbClr val="D5DCE8"/>
            </a:solidFill>
            <a:prstDash val="solid"/>
          </a:ln>
        </p:spPr>
      </p:sp>
      <p:sp>
        <p:nvSpPr>
          <p:cNvPr id="8" name="Text 5"/>
          <p:cNvSpPr/>
          <p:nvPr/>
        </p:nvSpPr>
        <p:spPr>
          <a:xfrm>
            <a:off x="1033272" y="2496312"/>
            <a:ext cx="3145536" cy="310896"/>
          </a:xfrm>
          <a:prstGeom prst="rect">
            <a:avLst/>
          </a:prstGeom>
          <a:noFill/>
          <a:ln/>
        </p:spPr>
        <p:txBody>
          <a:bodyPr wrap="square" lIns="762" tIns="762" rIns="762" bIns="762" rtlCol="0" anchor="t">
            <a:normAutofit/>
          </a:bodyPr>
          <a:lstStyle/>
          <a:p>
            <a:pPr algn="l" indent="0" marL="0">
              <a:buNone/>
            </a:pPr>
            <a:r>
              <a:rPr lang="en-US" sz="1400" b="1" dirty="0">
                <a:solidFill>
                  <a:srgbClr val="13386B"/>
                </a:solidFill>
                <a:latin typeface="Aptos" pitchFamily="34" charset="0"/>
                <a:ea typeface="Aptos" pitchFamily="34" charset="-122"/>
                <a:cs typeface="Aptos" pitchFamily="34" charset="-120"/>
              </a:rPr>
              <a:t>Time</a:t>
            </a:r>
            <a:endParaRPr lang="en-US" sz="1400" dirty="0"/>
          </a:p>
        </p:txBody>
      </p:sp>
      <p:sp>
        <p:nvSpPr>
          <p:cNvPr id="9" name="Text 6"/>
          <p:cNvSpPr/>
          <p:nvPr/>
        </p:nvSpPr>
        <p:spPr>
          <a:xfrm>
            <a:off x="1033272" y="2862072"/>
            <a:ext cx="3145536" cy="438912"/>
          </a:xfrm>
          <a:prstGeom prst="rect">
            <a:avLst/>
          </a:prstGeom>
          <a:noFill/>
          <a:ln/>
        </p:spPr>
        <p:txBody>
          <a:bodyPr wrap="square" lIns="762" tIns="762" rIns="762" bIns="762" rtlCol="0" anchor="t">
            <a:normAutofit/>
          </a:bodyPr>
          <a:lstStyle/>
          <a:p>
            <a:pPr algn="l" indent="0" marL="0">
              <a:buNone/>
            </a:pPr>
            <a:r>
              <a:rPr lang="en-US" sz="1250" dirty="0">
                <a:solidFill>
                  <a:srgbClr val="111827"/>
                </a:solidFill>
                <a:latin typeface="Aptos" pitchFamily="34" charset="0"/>
                <a:ea typeface="Aptos" pitchFamily="34" charset="-122"/>
                <a:cs typeface="Aptos" pitchFamily="34" charset="-120"/>
              </a:rPr>
              <a:t>O(b^d): BFS may generate all nodes up to the solution depth.</a:t>
            </a:r>
            <a:endParaRPr lang="en-US" sz="1250" dirty="0"/>
          </a:p>
        </p:txBody>
      </p:sp>
      <p:sp>
        <p:nvSpPr>
          <p:cNvPr id="10" name="Shape 7"/>
          <p:cNvSpPr/>
          <p:nvPr/>
        </p:nvSpPr>
        <p:spPr>
          <a:xfrm>
            <a:off x="4572000" y="2331720"/>
            <a:ext cx="3474720" cy="1097280"/>
          </a:xfrm>
          <a:prstGeom prst="roundRect">
            <a:avLst>
              <a:gd name="adj" fmla="val 5000"/>
            </a:avLst>
          </a:prstGeom>
          <a:solidFill>
            <a:srgbClr val="FFFFFF"/>
          </a:solidFill>
          <a:ln w="12700">
            <a:solidFill>
              <a:srgbClr val="D5DCE8"/>
            </a:solidFill>
            <a:prstDash val="solid"/>
          </a:ln>
        </p:spPr>
      </p:sp>
      <p:sp>
        <p:nvSpPr>
          <p:cNvPr id="11" name="Text 8"/>
          <p:cNvSpPr/>
          <p:nvPr/>
        </p:nvSpPr>
        <p:spPr>
          <a:xfrm>
            <a:off x="4736592" y="2496312"/>
            <a:ext cx="3145536" cy="310896"/>
          </a:xfrm>
          <a:prstGeom prst="rect">
            <a:avLst/>
          </a:prstGeom>
          <a:noFill/>
          <a:ln/>
        </p:spPr>
        <p:txBody>
          <a:bodyPr wrap="square" lIns="762" tIns="762" rIns="762" bIns="762" rtlCol="0" anchor="t">
            <a:normAutofit/>
          </a:bodyPr>
          <a:lstStyle/>
          <a:p>
            <a:pPr algn="l" indent="0" marL="0">
              <a:buNone/>
            </a:pPr>
            <a:r>
              <a:rPr lang="en-US" sz="1400" b="1" dirty="0">
                <a:solidFill>
                  <a:srgbClr val="A61919"/>
                </a:solidFill>
                <a:latin typeface="Aptos" pitchFamily="34" charset="0"/>
                <a:ea typeface="Aptos" pitchFamily="34" charset="-122"/>
                <a:cs typeface="Aptos" pitchFamily="34" charset="-120"/>
              </a:rPr>
              <a:t>Space</a:t>
            </a:r>
            <a:endParaRPr lang="en-US" sz="1400" dirty="0"/>
          </a:p>
        </p:txBody>
      </p:sp>
      <p:sp>
        <p:nvSpPr>
          <p:cNvPr id="12" name="Text 9"/>
          <p:cNvSpPr/>
          <p:nvPr/>
        </p:nvSpPr>
        <p:spPr>
          <a:xfrm>
            <a:off x="4736592" y="2862072"/>
            <a:ext cx="3145536" cy="438912"/>
          </a:xfrm>
          <a:prstGeom prst="rect">
            <a:avLst/>
          </a:prstGeom>
          <a:noFill/>
          <a:ln/>
        </p:spPr>
        <p:txBody>
          <a:bodyPr wrap="square" lIns="762" tIns="762" rIns="762" bIns="762" rtlCol="0" anchor="t">
            <a:normAutofit/>
          </a:bodyPr>
          <a:lstStyle/>
          <a:p>
            <a:pPr algn="l" indent="0" marL="0">
              <a:buNone/>
            </a:pPr>
            <a:r>
              <a:rPr lang="en-US" sz="1250" dirty="0">
                <a:solidFill>
                  <a:srgbClr val="111827"/>
                </a:solidFill>
                <a:latin typeface="Aptos" pitchFamily="34" charset="0"/>
                <a:ea typeface="Aptos" pitchFamily="34" charset="-122"/>
                <a:cs typeface="Aptos" pitchFamily="34" charset="-120"/>
              </a:rPr>
              <a:t>O(b^d): all frontier nodes remain in memory.</a:t>
            </a:r>
            <a:endParaRPr lang="en-US" sz="1250" dirty="0"/>
          </a:p>
        </p:txBody>
      </p:sp>
      <p:sp>
        <p:nvSpPr>
          <p:cNvPr id="13" name="Shape 10"/>
          <p:cNvSpPr/>
          <p:nvPr/>
        </p:nvSpPr>
        <p:spPr>
          <a:xfrm>
            <a:off x="8275320" y="2331720"/>
            <a:ext cx="3017520" cy="1097280"/>
          </a:xfrm>
          <a:prstGeom prst="roundRect">
            <a:avLst>
              <a:gd name="adj" fmla="val 5000"/>
            </a:avLst>
          </a:prstGeom>
          <a:solidFill>
            <a:srgbClr val="FFFFFF"/>
          </a:solidFill>
          <a:ln w="12700">
            <a:solidFill>
              <a:srgbClr val="D5DCE8"/>
            </a:solidFill>
            <a:prstDash val="solid"/>
          </a:ln>
        </p:spPr>
      </p:sp>
      <p:sp>
        <p:nvSpPr>
          <p:cNvPr id="14" name="Text 11"/>
          <p:cNvSpPr/>
          <p:nvPr/>
        </p:nvSpPr>
        <p:spPr>
          <a:xfrm>
            <a:off x="8439912" y="2496312"/>
            <a:ext cx="2688336" cy="310896"/>
          </a:xfrm>
          <a:prstGeom prst="rect">
            <a:avLst/>
          </a:prstGeom>
          <a:noFill/>
          <a:ln/>
        </p:spPr>
        <p:txBody>
          <a:bodyPr wrap="square" lIns="762" tIns="762" rIns="762" bIns="762" rtlCol="0" anchor="t">
            <a:normAutofit/>
          </a:bodyPr>
          <a:lstStyle/>
          <a:p>
            <a:pPr algn="l" indent="0" marL="0">
              <a:buNone/>
            </a:pPr>
            <a:r>
              <a:rPr lang="en-US" sz="1400" b="1" dirty="0">
                <a:solidFill>
                  <a:srgbClr val="F5A11A"/>
                </a:solidFill>
                <a:latin typeface="Aptos" pitchFamily="34" charset="0"/>
                <a:ea typeface="Aptos" pitchFamily="34" charset="-122"/>
                <a:cs typeface="Aptos" pitchFamily="34" charset="-120"/>
              </a:rPr>
              <a:t>Key problem</a:t>
            </a:r>
            <a:endParaRPr lang="en-US" sz="1400" dirty="0"/>
          </a:p>
        </p:txBody>
      </p:sp>
      <p:sp>
        <p:nvSpPr>
          <p:cNvPr id="15" name="Text 12"/>
          <p:cNvSpPr/>
          <p:nvPr/>
        </p:nvSpPr>
        <p:spPr>
          <a:xfrm>
            <a:off x="8439912" y="2862072"/>
            <a:ext cx="2688336" cy="438912"/>
          </a:xfrm>
          <a:prstGeom prst="rect">
            <a:avLst/>
          </a:prstGeom>
          <a:noFill/>
          <a:ln/>
        </p:spPr>
        <p:txBody>
          <a:bodyPr wrap="square" lIns="762" tIns="762" rIns="762" bIns="762" rtlCol="0" anchor="t">
            <a:normAutofit/>
          </a:bodyPr>
          <a:lstStyle/>
          <a:p>
            <a:pPr algn="l" indent="0" marL="0">
              <a:buNone/>
            </a:pPr>
            <a:r>
              <a:rPr lang="en-US" sz="1250" dirty="0">
                <a:solidFill>
                  <a:srgbClr val="111827"/>
                </a:solidFill>
                <a:latin typeface="Aptos" pitchFamily="34" charset="0"/>
                <a:ea typeface="Aptos" pitchFamily="34" charset="-122"/>
                <a:cs typeface="Aptos" pitchFamily="34" charset="-120"/>
              </a:rPr>
              <a:t>Memory usually fails before CPU time.</a:t>
            </a:r>
            <a:endParaRPr lang="en-US" sz="1250" dirty="0"/>
          </a:p>
        </p:txBody>
      </p:sp>
      <p:sp>
        <p:nvSpPr>
          <p:cNvPr id="16" name="Text 13"/>
          <p:cNvSpPr/>
          <p:nvPr/>
        </p:nvSpPr>
        <p:spPr>
          <a:xfrm>
            <a:off x="1280160" y="4251960"/>
            <a:ext cx="9692640" cy="320040"/>
          </a:xfrm>
          <a:prstGeom prst="rect">
            <a:avLst/>
          </a:prstGeom>
          <a:noFill/>
          <a:ln/>
        </p:spPr>
        <p:txBody>
          <a:bodyPr wrap="square" lIns="762" tIns="762" rIns="762" bIns="762" rtlCol="0" anchor="t">
            <a:normAutofit/>
          </a:bodyPr>
          <a:lstStyle/>
          <a:p>
            <a:pPr algn="ctr" indent="0" marL="0">
              <a:buNone/>
            </a:pPr>
            <a:r>
              <a:rPr lang="en-US" sz="1700" b="1" dirty="0">
                <a:solidFill>
                  <a:srgbClr val="13386B"/>
                </a:solidFill>
                <a:latin typeface="Aptos" pitchFamily="34" charset="0"/>
                <a:ea typeface="Aptos" pitchFamily="34" charset="-122"/>
                <a:cs typeface="Aptos" pitchFamily="34" charset="-120"/>
              </a:rPr>
              <a:t>Example from the text: b=10, depth=10, 1 KB/node → roughly 10 TB of memory.</a:t>
            </a:r>
            <a:endParaRPr lang="en-US" sz="1700" dirty="0"/>
          </a:p>
        </p:txBody>
      </p:sp>
      <p:sp>
        <p:nvSpPr>
          <p:cNvPr id="17" name="Text 14"/>
          <p:cNvSpPr/>
          <p:nvPr/>
        </p:nvSpPr>
        <p:spPr>
          <a:xfrm>
            <a:off x="1965960" y="5074920"/>
            <a:ext cx="8138160" cy="292608"/>
          </a:xfrm>
          <a:prstGeom prst="rect">
            <a:avLst/>
          </a:prstGeom>
          <a:noFill/>
          <a:ln/>
        </p:spPr>
        <p:txBody>
          <a:bodyPr wrap="square" lIns="762" tIns="762" rIns="762" bIns="762" rtlCol="0" anchor="t">
            <a:normAutofit/>
          </a:bodyPr>
          <a:lstStyle/>
          <a:p>
            <a:pPr algn="ctr" indent="0" marL="0">
              <a:buNone/>
            </a:pPr>
            <a:r>
              <a:rPr lang="en-US" sz="1400" dirty="0">
                <a:solidFill>
                  <a:srgbClr val="6B7280"/>
                </a:solidFill>
                <a:latin typeface="Aptos" pitchFamily="34" charset="0"/>
                <a:ea typeface="Aptos" pitchFamily="34" charset="-122"/>
                <a:cs typeface="Aptos" pitchFamily="34" charset="-120"/>
              </a:rPr>
              <a:t>At deeper levels, uninformed exponential search becomes impractical very quickly.</a:t>
            </a:r>
            <a:endParaRPr lang="en-US" sz="1400" dirty="0"/>
          </a:p>
        </p:txBody>
      </p:sp>
      <p:sp>
        <p:nvSpPr>
          <p:cNvPr id="18" name="Text 15"/>
          <p:cNvSpPr/>
          <p:nvPr/>
        </p:nvSpPr>
        <p:spPr>
          <a:xfrm>
            <a:off x="11475720" y="6510528"/>
            <a:ext cx="320040" cy="164592"/>
          </a:xfrm>
          <a:prstGeom prst="rect">
            <a:avLst/>
          </a:prstGeom>
          <a:noFill/>
          <a:ln/>
        </p:spPr>
        <p:txBody>
          <a:bodyPr wrap="square" lIns="0" tIns="0" rIns="0" bIns="0" rtlCol="0" anchor="ctr"/>
          <a:lstStyle/>
          <a:p>
            <a:pPr algn="r" indent="0" marL="0">
              <a:buNone/>
            </a:pPr>
            <a:r>
              <a:rPr lang="en-US" sz="800" dirty="0">
                <a:solidFill>
                  <a:srgbClr val="6B7280"/>
                </a:solidFill>
              </a:rPr>
              <a:t>25</a:t>
            </a:r>
            <a:endParaRPr lang="en-US" sz="800" dirty="0"/>
          </a:p>
        </p:txBody>
      </p:sp>
      <p:sp>
        <p:nvSpPr>
          <p:cNvPr id="19" name="Text 16"/>
          <p:cNvSpPr/>
          <p:nvPr/>
        </p:nvSpPr>
        <p:spPr>
          <a:xfrm>
            <a:off x="411480" y="6510528"/>
            <a:ext cx="3200400" cy="164592"/>
          </a:xfrm>
          <a:prstGeom prst="rect">
            <a:avLst/>
          </a:prstGeom>
          <a:noFill/>
          <a:ln/>
        </p:spPr>
        <p:txBody>
          <a:bodyPr wrap="square" lIns="0" tIns="0" rIns="0" bIns="0" rtlCol="0" anchor="ctr"/>
          <a:lstStyle/>
          <a:p>
            <a:pPr indent="0" marL="0">
              <a:buNone/>
            </a:pPr>
            <a:r>
              <a:rPr lang="en-US" sz="750" dirty="0">
                <a:solidFill>
                  <a:srgbClr val="6B7280"/>
                </a:solidFill>
              </a:rPr>
              <a:t>CSU Channel Islands · COMP 469</a:t>
            </a:r>
            <a:endParaRPr lang="en-US" sz="7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5F7FB"/>
        </a:solidFill>
      </p:bgPr>
    </p:bg>
    <p:spTree>
      <p:nvGrpSpPr>
        <p:cNvPr id="1" name=""/>
        <p:cNvGrpSpPr/>
        <p:nvPr/>
      </p:nvGrpSpPr>
      <p:grpSpPr>
        <a:xfrm>
          <a:off x="0" y="0"/>
          <a:ext cx="0" cy="0"/>
          <a:chOff x="0" y="0"/>
          <a:chExt cx="0" cy="0"/>
        </a:xfrm>
      </p:grpSpPr>
      <p:sp>
        <p:nvSpPr>
          <p:cNvPr id="2" name="Shape 0"/>
          <p:cNvSpPr/>
          <p:nvPr/>
        </p:nvSpPr>
        <p:spPr>
          <a:xfrm>
            <a:off x="0" y="0"/>
            <a:ext cx="12191695" cy="640080"/>
          </a:xfrm>
          <a:prstGeom prst="rect">
            <a:avLst/>
          </a:prstGeom>
          <a:solidFill>
            <a:srgbClr val="13386B"/>
          </a:solidFill>
          <a:ln w="12700">
            <a:solidFill>
              <a:srgbClr val="13386B"/>
            </a:solidFill>
            <a:prstDash val="solid"/>
          </a:ln>
        </p:spPr>
      </p:sp>
      <p:sp>
        <p:nvSpPr>
          <p:cNvPr id="3" name="Shape 1"/>
          <p:cNvSpPr/>
          <p:nvPr/>
        </p:nvSpPr>
        <p:spPr>
          <a:xfrm>
            <a:off x="0" y="640080"/>
            <a:ext cx="12191695" cy="68580"/>
          </a:xfrm>
          <a:prstGeom prst="rect">
            <a:avLst/>
          </a:prstGeom>
          <a:solidFill>
            <a:srgbClr val="F5A11A"/>
          </a:solidFill>
          <a:ln w="12700">
            <a:solidFill>
              <a:srgbClr val="F5A11A"/>
            </a:solidFill>
            <a:prstDash val="solid"/>
          </a:ln>
        </p:spPr>
      </p:sp>
      <p:sp>
        <p:nvSpPr>
          <p:cNvPr id="4" name="Text 2"/>
          <p:cNvSpPr/>
          <p:nvPr/>
        </p:nvSpPr>
        <p:spPr>
          <a:xfrm>
            <a:off x="411480" y="155448"/>
            <a:ext cx="7818120" cy="320040"/>
          </a:xfrm>
          <a:prstGeom prst="rect">
            <a:avLst/>
          </a:prstGeom>
          <a:noFill/>
          <a:ln/>
        </p:spPr>
        <p:txBody>
          <a:bodyPr wrap="square" lIns="0" tIns="0" rIns="0" bIns="0" rtlCol="0" anchor="ctr"/>
          <a:lstStyle/>
          <a:p>
            <a:pPr indent="0" marL="0">
              <a:buNone/>
            </a:pPr>
            <a:r>
              <a:rPr lang="en-US" sz="2200" b="1" dirty="0">
                <a:solidFill>
                  <a:srgbClr val="FFFFFF"/>
                </a:solidFill>
                <a:latin typeface="Aptos Display" pitchFamily="34" charset="0"/>
                <a:ea typeface="Aptos Display" pitchFamily="34" charset="-122"/>
                <a:cs typeface="Aptos Display" pitchFamily="34" charset="-120"/>
              </a:rPr>
              <a:t>Uniform-Cost Search (UCS) / Dijkstra</a:t>
            </a:r>
            <a:endParaRPr lang="en-US" sz="2200" dirty="0"/>
          </a:p>
        </p:txBody>
      </p:sp>
      <p:sp>
        <p:nvSpPr>
          <p:cNvPr id="5" name="Text 3"/>
          <p:cNvSpPr/>
          <p:nvPr/>
        </p:nvSpPr>
        <p:spPr>
          <a:xfrm>
            <a:off x="9253728" y="210312"/>
            <a:ext cx="2487168" cy="256032"/>
          </a:xfrm>
          <a:prstGeom prst="rect">
            <a:avLst/>
          </a:prstGeom>
          <a:noFill/>
          <a:ln/>
        </p:spPr>
        <p:txBody>
          <a:bodyPr wrap="square" lIns="0" tIns="0" rIns="0" bIns="0" rtlCol="0" anchor="ctr"/>
          <a:lstStyle/>
          <a:p>
            <a:pPr algn="r" indent="0" marL="0">
              <a:buNone/>
            </a:pPr>
            <a:r>
              <a:rPr lang="en-US" sz="850" dirty="0">
                <a:solidFill>
                  <a:srgbClr val="D9E5F2"/>
                </a:solidFill>
              </a:rPr>
              <a:t>COMP 469 · Chapter 3 · Sections 3.1–3.4</a:t>
            </a:r>
            <a:endParaRPr lang="en-US" sz="850" dirty="0"/>
          </a:p>
        </p:txBody>
      </p:sp>
      <p:pic>
        <p:nvPicPr>
          <p:cNvPr id="6" name="Image 0" descr="preencoded.pn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868680" y="1051560"/>
            <a:ext cx="4480560" cy="566928"/>
          </a:xfrm>
          <a:prstGeom prst="rect">
            <a:avLst/>
          </a:prstGeom>
        </p:spPr>
      </p:pic>
      <p:sp>
        <p:nvSpPr>
          <p:cNvPr id="7" name="Shape 4"/>
          <p:cNvSpPr/>
          <p:nvPr/>
        </p:nvSpPr>
        <p:spPr>
          <a:xfrm>
            <a:off x="868680" y="1828800"/>
            <a:ext cx="4709160" cy="1097280"/>
          </a:xfrm>
          <a:prstGeom prst="roundRect">
            <a:avLst>
              <a:gd name="adj" fmla="val 5000"/>
            </a:avLst>
          </a:prstGeom>
          <a:solidFill>
            <a:srgbClr val="FFFFFF"/>
          </a:solidFill>
          <a:ln w="12700">
            <a:solidFill>
              <a:srgbClr val="D5DCE8"/>
            </a:solidFill>
            <a:prstDash val="solid"/>
          </a:ln>
        </p:spPr>
      </p:sp>
      <p:sp>
        <p:nvSpPr>
          <p:cNvPr id="8" name="Text 5"/>
          <p:cNvSpPr/>
          <p:nvPr/>
        </p:nvSpPr>
        <p:spPr>
          <a:xfrm>
            <a:off x="1033272" y="1993392"/>
            <a:ext cx="4379976" cy="310896"/>
          </a:xfrm>
          <a:prstGeom prst="rect">
            <a:avLst/>
          </a:prstGeom>
          <a:noFill/>
          <a:ln/>
        </p:spPr>
        <p:txBody>
          <a:bodyPr wrap="square" lIns="762" tIns="762" rIns="762" bIns="762" rtlCol="0" anchor="t">
            <a:normAutofit/>
          </a:bodyPr>
          <a:lstStyle/>
          <a:p>
            <a:pPr algn="l" indent="0" marL="0">
              <a:buNone/>
            </a:pPr>
            <a:r>
              <a:rPr lang="en-US" sz="1400" b="1" dirty="0">
                <a:solidFill>
                  <a:srgbClr val="13386B"/>
                </a:solidFill>
                <a:latin typeface="Aptos" pitchFamily="34" charset="0"/>
                <a:ea typeface="Aptos" pitchFamily="34" charset="-122"/>
                <a:cs typeface="Aptos" pitchFamily="34" charset="-120"/>
              </a:rPr>
              <a:t>Strategy</a:t>
            </a:r>
            <a:endParaRPr lang="en-US" sz="1400" dirty="0"/>
          </a:p>
        </p:txBody>
      </p:sp>
      <p:sp>
        <p:nvSpPr>
          <p:cNvPr id="9" name="Text 6"/>
          <p:cNvSpPr/>
          <p:nvPr/>
        </p:nvSpPr>
        <p:spPr>
          <a:xfrm>
            <a:off x="1033272" y="2359152"/>
            <a:ext cx="4379976" cy="438912"/>
          </a:xfrm>
          <a:prstGeom prst="rect">
            <a:avLst/>
          </a:prstGeom>
          <a:noFill/>
          <a:ln/>
        </p:spPr>
        <p:txBody>
          <a:bodyPr wrap="square" lIns="762" tIns="762" rIns="762" bIns="762" rtlCol="0" anchor="t">
            <a:normAutofit/>
          </a:bodyPr>
          <a:lstStyle/>
          <a:p>
            <a:pPr algn="l" indent="0" marL="0">
              <a:buNone/>
            </a:pPr>
            <a:r>
              <a:rPr lang="en-US" sz="1250" dirty="0">
                <a:solidFill>
                  <a:srgbClr val="111827"/>
                </a:solidFill>
                <a:latin typeface="Aptos" pitchFamily="34" charset="0"/>
                <a:ea typeface="Aptos" pitchFamily="34" charset="-122"/>
                <a:cs typeface="Aptos" pitchFamily="34" charset="-120"/>
              </a:rPr>
              <a:t>Expand the frontier node with the lowest path cost from the start.</a:t>
            </a:r>
            <a:endParaRPr lang="en-US" sz="1250" dirty="0"/>
          </a:p>
        </p:txBody>
      </p:sp>
      <p:sp>
        <p:nvSpPr>
          <p:cNvPr id="10" name="Shape 7"/>
          <p:cNvSpPr/>
          <p:nvPr/>
        </p:nvSpPr>
        <p:spPr>
          <a:xfrm>
            <a:off x="868680" y="3246120"/>
            <a:ext cx="4709160" cy="1097280"/>
          </a:xfrm>
          <a:prstGeom prst="roundRect">
            <a:avLst>
              <a:gd name="adj" fmla="val 5000"/>
            </a:avLst>
          </a:prstGeom>
          <a:solidFill>
            <a:srgbClr val="FFFFFF"/>
          </a:solidFill>
          <a:ln w="12700">
            <a:solidFill>
              <a:srgbClr val="D5DCE8"/>
            </a:solidFill>
            <a:prstDash val="solid"/>
          </a:ln>
        </p:spPr>
      </p:sp>
      <p:sp>
        <p:nvSpPr>
          <p:cNvPr id="11" name="Text 8"/>
          <p:cNvSpPr/>
          <p:nvPr/>
        </p:nvSpPr>
        <p:spPr>
          <a:xfrm>
            <a:off x="1033272" y="3410712"/>
            <a:ext cx="4379976" cy="310896"/>
          </a:xfrm>
          <a:prstGeom prst="rect">
            <a:avLst/>
          </a:prstGeom>
          <a:noFill/>
          <a:ln/>
        </p:spPr>
        <p:txBody>
          <a:bodyPr wrap="square" lIns="762" tIns="762" rIns="762" bIns="762" rtlCol="0" anchor="t">
            <a:normAutofit/>
          </a:bodyPr>
          <a:lstStyle/>
          <a:p>
            <a:pPr algn="l" indent="0" marL="0">
              <a:buNone/>
            </a:pPr>
            <a:r>
              <a:rPr lang="en-US" sz="1400" b="1" dirty="0">
                <a:solidFill>
                  <a:srgbClr val="0F8B8D"/>
                </a:solidFill>
                <a:latin typeface="Aptos" pitchFamily="34" charset="0"/>
                <a:ea typeface="Aptos" pitchFamily="34" charset="-122"/>
                <a:cs typeface="Aptos" pitchFamily="34" charset="-120"/>
              </a:rPr>
              <a:t>Implementation</a:t>
            </a:r>
            <a:endParaRPr lang="en-US" sz="1400" dirty="0"/>
          </a:p>
        </p:txBody>
      </p:sp>
      <p:sp>
        <p:nvSpPr>
          <p:cNvPr id="12" name="Text 9"/>
          <p:cNvSpPr/>
          <p:nvPr/>
        </p:nvSpPr>
        <p:spPr>
          <a:xfrm>
            <a:off x="1033272" y="3776472"/>
            <a:ext cx="4379976" cy="438912"/>
          </a:xfrm>
          <a:prstGeom prst="rect">
            <a:avLst/>
          </a:prstGeom>
          <a:noFill/>
          <a:ln/>
        </p:spPr>
        <p:txBody>
          <a:bodyPr wrap="square" lIns="762" tIns="762" rIns="762" bIns="762" rtlCol="0" anchor="t">
            <a:normAutofit/>
          </a:bodyPr>
          <a:lstStyle/>
          <a:p>
            <a:pPr algn="l" indent="0" marL="0">
              <a:buNone/>
            </a:pPr>
            <a:r>
              <a:rPr lang="en-US" sz="1250" dirty="0">
                <a:solidFill>
                  <a:srgbClr val="111827"/>
                </a:solidFill>
                <a:latin typeface="Aptos" pitchFamily="34" charset="0"/>
                <a:ea typeface="Aptos" pitchFamily="34" charset="-122"/>
                <a:cs typeface="Aptos" pitchFamily="34" charset="-120"/>
              </a:rPr>
              <a:t>Use a priority queue ordered by cumulative path cost.</a:t>
            </a:r>
            <a:endParaRPr lang="en-US" sz="1250" dirty="0"/>
          </a:p>
        </p:txBody>
      </p:sp>
      <p:sp>
        <p:nvSpPr>
          <p:cNvPr id="13" name="Shape 10"/>
          <p:cNvSpPr/>
          <p:nvPr/>
        </p:nvSpPr>
        <p:spPr>
          <a:xfrm>
            <a:off x="868680" y="4663440"/>
            <a:ext cx="4709160" cy="914400"/>
          </a:xfrm>
          <a:prstGeom prst="roundRect">
            <a:avLst>
              <a:gd name="adj" fmla="val 6000"/>
            </a:avLst>
          </a:prstGeom>
          <a:solidFill>
            <a:srgbClr val="FFFFFF"/>
          </a:solidFill>
          <a:ln w="12700">
            <a:solidFill>
              <a:srgbClr val="D5DCE8"/>
            </a:solidFill>
            <a:prstDash val="solid"/>
          </a:ln>
        </p:spPr>
      </p:sp>
      <p:sp>
        <p:nvSpPr>
          <p:cNvPr id="14" name="Text 11"/>
          <p:cNvSpPr/>
          <p:nvPr/>
        </p:nvSpPr>
        <p:spPr>
          <a:xfrm>
            <a:off x="1033272" y="4828032"/>
            <a:ext cx="4379976" cy="310896"/>
          </a:xfrm>
          <a:prstGeom prst="rect">
            <a:avLst/>
          </a:prstGeom>
          <a:noFill/>
          <a:ln/>
        </p:spPr>
        <p:txBody>
          <a:bodyPr wrap="square" lIns="762" tIns="762" rIns="762" bIns="762" rtlCol="0" anchor="t">
            <a:normAutofit/>
          </a:bodyPr>
          <a:lstStyle/>
          <a:p>
            <a:pPr algn="l" indent="0" marL="0">
              <a:buNone/>
            </a:pPr>
            <a:r>
              <a:rPr lang="en-US" sz="1400" b="1" dirty="0">
                <a:solidFill>
                  <a:srgbClr val="1F7A3D"/>
                </a:solidFill>
                <a:latin typeface="Aptos" pitchFamily="34" charset="0"/>
                <a:ea typeface="Aptos" pitchFamily="34" charset="-122"/>
                <a:cs typeface="Aptos" pitchFamily="34" charset="-120"/>
              </a:rPr>
              <a:t>Guarantee</a:t>
            </a:r>
            <a:endParaRPr lang="en-US" sz="1400" dirty="0"/>
          </a:p>
        </p:txBody>
      </p:sp>
      <p:sp>
        <p:nvSpPr>
          <p:cNvPr id="15" name="Text 12"/>
          <p:cNvSpPr/>
          <p:nvPr/>
        </p:nvSpPr>
        <p:spPr>
          <a:xfrm>
            <a:off x="1033272" y="5193792"/>
            <a:ext cx="4379976" cy="256032"/>
          </a:xfrm>
          <a:prstGeom prst="rect">
            <a:avLst/>
          </a:prstGeom>
          <a:noFill/>
          <a:ln/>
        </p:spPr>
        <p:txBody>
          <a:bodyPr wrap="square" lIns="762" tIns="762" rIns="762" bIns="762" rtlCol="0" anchor="t">
            <a:normAutofit/>
          </a:bodyPr>
          <a:lstStyle/>
          <a:p>
            <a:pPr algn="l" indent="0" marL="0">
              <a:buNone/>
            </a:pPr>
            <a:r>
              <a:rPr lang="en-US" sz="1250" dirty="0">
                <a:solidFill>
                  <a:srgbClr val="111827"/>
                </a:solidFill>
                <a:latin typeface="Aptos" pitchFamily="34" charset="0"/>
                <a:ea typeface="Aptos" pitchFamily="34" charset="-122"/>
                <a:cs typeface="Aptos" pitchFamily="34" charset="-120"/>
              </a:rPr>
              <a:t>Complete and cost-optimal when every action cost is at least ε &gt; 0.</a:t>
            </a:r>
            <a:endParaRPr lang="en-US" sz="1250" dirty="0"/>
          </a:p>
        </p:txBody>
      </p:sp>
      <p:pic>
        <p:nvPicPr>
          <p:cNvPr id="16" name="Image 1" descr="/mnt/data/ch3_odt_extract/Pictures/10000000000001EA000001037D197962.png">    </p:cNvPr>
          <p:cNvPicPr>
            <a:picLocks noChangeAspect="1"/>
          </p:cNvPicPr>
          <p:nvPr/>
        </p:nvPicPr>
        <p:blipFill>
          <a:blip r:embed="rId3"/>
          <a:stretch>
            <a:fillRect/>
          </a:stretch>
        </p:blipFill>
        <p:spPr>
          <a:xfrm>
            <a:off x="5989320" y="960120"/>
            <a:ext cx="5212080" cy="4480560"/>
          </a:xfrm>
          <a:prstGeom prst="rect">
            <a:avLst/>
          </a:prstGeom>
        </p:spPr>
      </p:pic>
      <p:sp>
        <p:nvSpPr>
          <p:cNvPr id="17" name="Text 13"/>
          <p:cNvSpPr/>
          <p:nvPr/>
        </p:nvSpPr>
        <p:spPr>
          <a:xfrm>
            <a:off x="11475720" y="6510528"/>
            <a:ext cx="320040" cy="164592"/>
          </a:xfrm>
          <a:prstGeom prst="rect">
            <a:avLst/>
          </a:prstGeom>
          <a:noFill/>
          <a:ln/>
        </p:spPr>
        <p:txBody>
          <a:bodyPr wrap="square" lIns="0" tIns="0" rIns="0" bIns="0" rtlCol="0" anchor="ctr"/>
          <a:lstStyle/>
          <a:p>
            <a:pPr algn="r" indent="0" marL="0">
              <a:buNone/>
            </a:pPr>
            <a:r>
              <a:rPr lang="en-US" sz="800" dirty="0">
                <a:solidFill>
                  <a:srgbClr val="6B7280"/>
                </a:solidFill>
              </a:rPr>
              <a:t>26</a:t>
            </a:r>
            <a:endParaRPr lang="en-US" sz="800" dirty="0"/>
          </a:p>
        </p:txBody>
      </p:sp>
      <p:sp>
        <p:nvSpPr>
          <p:cNvPr id="18" name="Text 14"/>
          <p:cNvSpPr/>
          <p:nvPr/>
        </p:nvSpPr>
        <p:spPr>
          <a:xfrm>
            <a:off x="411480" y="6510528"/>
            <a:ext cx="3200400" cy="164592"/>
          </a:xfrm>
          <a:prstGeom prst="rect">
            <a:avLst/>
          </a:prstGeom>
          <a:noFill/>
          <a:ln/>
        </p:spPr>
        <p:txBody>
          <a:bodyPr wrap="square" lIns="0" tIns="0" rIns="0" bIns="0" rtlCol="0" anchor="ctr"/>
          <a:lstStyle/>
          <a:p>
            <a:pPr indent="0" marL="0">
              <a:buNone/>
            </a:pPr>
            <a:r>
              <a:rPr lang="en-US" sz="750" dirty="0">
                <a:solidFill>
                  <a:srgbClr val="6B7280"/>
                </a:solidFill>
              </a:rPr>
              <a:t>CSU Channel Islands · COMP 469</a:t>
            </a:r>
            <a:endParaRPr lang="en-US" sz="7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5F7FB"/>
        </a:solidFill>
      </p:bgPr>
    </p:bg>
    <p:spTree>
      <p:nvGrpSpPr>
        <p:cNvPr id="1" name=""/>
        <p:cNvGrpSpPr/>
        <p:nvPr/>
      </p:nvGrpSpPr>
      <p:grpSpPr>
        <a:xfrm>
          <a:off x="0" y="0"/>
          <a:ext cx="0" cy="0"/>
          <a:chOff x="0" y="0"/>
          <a:chExt cx="0" cy="0"/>
        </a:xfrm>
      </p:grpSpPr>
      <p:sp>
        <p:nvSpPr>
          <p:cNvPr id="2" name="Shape 0"/>
          <p:cNvSpPr/>
          <p:nvPr/>
        </p:nvSpPr>
        <p:spPr>
          <a:xfrm>
            <a:off x="0" y="0"/>
            <a:ext cx="12191695" cy="640080"/>
          </a:xfrm>
          <a:prstGeom prst="rect">
            <a:avLst/>
          </a:prstGeom>
          <a:solidFill>
            <a:srgbClr val="13386B"/>
          </a:solidFill>
          <a:ln w="12700">
            <a:solidFill>
              <a:srgbClr val="13386B"/>
            </a:solidFill>
            <a:prstDash val="solid"/>
          </a:ln>
        </p:spPr>
      </p:sp>
      <p:sp>
        <p:nvSpPr>
          <p:cNvPr id="3" name="Shape 1"/>
          <p:cNvSpPr/>
          <p:nvPr/>
        </p:nvSpPr>
        <p:spPr>
          <a:xfrm>
            <a:off x="0" y="640080"/>
            <a:ext cx="12191695" cy="68580"/>
          </a:xfrm>
          <a:prstGeom prst="rect">
            <a:avLst/>
          </a:prstGeom>
          <a:solidFill>
            <a:srgbClr val="F5A11A"/>
          </a:solidFill>
          <a:ln w="12700">
            <a:solidFill>
              <a:srgbClr val="F5A11A"/>
            </a:solidFill>
            <a:prstDash val="solid"/>
          </a:ln>
        </p:spPr>
      </p:sp>
      <p:sp>
        <p:nvSpPr>
          <p:cNvPr id="4" name="Text 2"/>
          <p:cNvSpPr/>
          <p:nvPr/>
        </p:nvSpPr>
        <p:spPr>
          <a:xfrm>
            <a:off x="411480" y="155448"/>
            <a:ext cx="7818120" cy="320040"/>
          </a:xfrm>
          <a:prstGeom prst="rect">
            <a:avLst/>
          </a:prstGeom>
          <a:noFill/>
          <a:ln/>
        </p:spPr>
        <p:txBody>
          <a:bodyPr wrap="square" lIns="0" tIns="0" rIns="0" bIns="0" rtlCol="0" anchor="ctr"/>
          <a:lstStyle/>
          <a:p>
            <a:pPr indent="0" marL="0">
              <a:buNone/>
            </a:pPr>
            <a:r>
              <a:rPr lang="en-US" sz="2200" b="1" dirty="0">
                <a:solidFill>
                  <a:srgbClr val="FFFFFF"/>
                </a:solidFill>
                <a:latin typeface="Aptos Display" pitchFamily="34" charset="0"/>
                <a:ea typeface="Aptos Display" pitchFamily="34" charset="-122"/>
                <a:cs typeface="Aptos Display" pitchFamily="34" charset="-120"/>
              </a:rPr>
              <a:t>UCS Example: Sibiu to Bucharest</a:t>
            </a:r>
            <a:endParaRPr lang="en-US" sz="2200" dirty="0"/>
          </a:p>
        </p:txBody>
      </p:sp>
      <p:sp>
        <p:nvSpPr>
          <p:cNvPr id="5" name="Text 3"/>
          <p:cNvSpPr/>
          <p:nvPr/>
        </p:nvSpPr>
        <p:spPr>
          <a:xfrm>
            <a:off x="9253728" y="210312"/>
            <a:ext cx="2487168" cy="256032"/>
          </a:xfrm>
          <a:prstGeom prst="rect">
            <a:avLst/>
          </a:prstGeom>
          <a:noFill/>
          <a:ln/>
        </p:spPr>
        <p:txBody>
          <a:bodyPr wrap="square" lIns="0" tIns="0" rIns="0" bIns="0" rtlCol="0" anchor="ctr"/>
          <a:lstStyle/>
          <a:p>
            <a:pPr algn="r" indent="0" marL="0">
              <a:buNone/>
            </a:pPr>
            <a:r>
              <a:rPr lang="en-US" sz="850" dirty="0">
                <a:solidFill>
                  <a:srgbClr val="D9E5F2"/>
                </a:solidFill>
              </a:rPr>
              <a:t>COMP 469 · Chapter 3 · Sections 3.1–3.4</a:t>
            </a:r>
            <a:endParaRPr lang="en-US" sz="850" dirty="0"/>
          </a:p>
        </p:txBody>
      </p:sp>
      <p:pic>
        <p:nvPicPr>
          <p:cNvPr id="6" name="Image 0" descr="/mnt/data/ch3_odt_extract/Pictures/10000000000001EA000001037D197962.png">    </p:cNvPr>
          <p:cNvPicPr>
            <a:picLocks noChangeAspect="1"/>
          </p:cNvPicPr>
          <p:nvPr/>
        </p:nvPicPr>
        <p:blipFill>
          <a:blip r:embed="rId1"/>
          <a:stretch>
            <a:fillRect/>
          </a:stretch>
        </p:blipFill>
        <p:spPr>
          <a:xfrm>
            <a:off x="594360" y="960120"/>
            <a:ext cx="5029200" cy="4297680"/>
          </a:xfrm>
          <a:prstGeom prst="rect">
            <a:avLst/>
          </a:prstGeom>
        </p:spPr>
      </p:pic>
      <p:sp>
        <p:nvSpPr>
          <p:cNvPr id="7" name="Shape 4"/>
          <p:cNvSpPr/>
          <p:nvPr/>
        </p:nvSpPr>
        <p:spPr>
          <a:xfrm>
            <a:off x="6035040" y="1051560"/>
            <a:ext cx="5074920" cy="914400"/>
          </a:xfrm>
          <a:prstGeom prst="roundRect">
            <a:avLst>
              <a:gd name="adj" fmla="val 6000"/>
            </a:avLst>
          </a:prstGeom>
          <a:solidFill>
            <a:srgbClr val="FFFFFF"/>
          </a:solidFill>
          <a:ln w="12700">
            <a:solidFill>
              <a:srgbClr val="D5DCE8"/>
            </a:solidFill>
            <a:prstDash val="solid"/>
          </a:ln>
        </p:spPr>
      </p:sp>
      <p:sp>
        <p:nvSpPr>
          <p:cNvPr id="8" name="Text 5"/>
          <p:cNvSpPr/>
          <p:nvPr/>
        </p:nvSpPr>
        <p:spPr>
          <a:xfrm>
            <a:off x="6199632" y="1216152"/>
            <a:ext cx="4745736" cy="310896"/>
          </a:xfrm>
          <a:prstGeom prst="rect">
            <a:avLst/>
          </a:prstGeom>
          <a:noFill/>
          <a:ln/>
        </p:spPr>
        <p:txBody>
          <a:bodyPr wrap="square" lIns="762" tIns="762" rIns="762" bIns="762" rtlCol="0" anchor="t">
            <a:normAutofit/>
          </a:bodyPr>
          <a:lstStyle/>
          <a:p>
            <a:pPr algn="l" indent="0" marL="0">
              <a:buNone/>
            </a:pPr>
            <a:r>
              <a:rPr lang="en-US" sz="1400" b="1" dirty="0">
                <a:solidFill>
                  <a:srgbClr val="13386B"/>
                </a:solidFill>
                <a:latin typeface="Aptos" pitchFamily="34" charset="0"/>
                <a:ea typeface="Aptos" pitchFamily="34" charset="-122"/>
                <a:cs typeface="Aptos" pitchFamily="34" charset="-120"/>
              </a:rPr>
              <a:t>First choices</a:t>
            </a:r>
            <a:endParaRPr lang="en-US" sz="1400" dirty="0"/>
          </a:p>
        </p:txBody>
      </p:sp>
      <p:sp>
        <p:nvSpPr>
          <p:cNvPr id="9" name="Text 6"/>
          <p:cNvSpPr/>
          <p:nvPr/>
        </p:nvSpPr>
        <p:spPr>
          <a:xfrm>
            <a:off x="6199632" y="1581912"/>
            <a:ext cx="4745736" cy="256032"/>
          </a:xfrm>
          <a:prstGeom prst="rect">
            <a:avLst/>
          </a:prstGeom>
          <a:noFill/>
          <a:ln/>
        </p:spPr>
        <p:txBody>
          <a:bodyPr wrap="square" lIns="762" tIns="762" rIns="762" bIns="762" rtlCol="0" anchor="t">
            <a:normAutofit/>
          </a:bodyPr>
          <a:lstStyle/>
          <a:p>
            <a:pPr algn="l" indent="0" marL="0">
              <a:buNone/>
            </a:pPr>
            <a:r>
              <a:rPr lang="en-US" sz="1250" dirty="0">
                <a:solidFill>
                  <a:srgbClr val="111827"/>
                </a:solidFill>
                <a:latin typeface="Aptos" pitchFamily="34" charset="0"/>
                <a:ea typeface="Aptos" pitchFamily="34" charset="-122"/>
                <a:cs typeface="Aptos" pitchFamily="34" charset="-120"/>
              </a:rPr>
              <a:t>From Sibiu: Rimnicu Vilcea cost 80; Fagaras cost 99.</a:t>
            </a:r>
            <a:endParaRPr lang="en-US" sz="1250" dirty="0"/>
          </a:p>
        </p:txBody>
      </p:sp>
      <p:pic>
        <p:nvPicPr>
          <p:cNvPr id="10" name="Image 1" descr="preencoded.png">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446520" y="2331720"/>
            <a:ext cx="2057400" cy="347472"/>
          </a:xfrm>
          <a:prstGeom prst="rect">
            <a:avLst/>
          </a:prstGeom>
        </p:spPr>
      </p:pic>
      <p:sp>
        <p:nvSpPr>
          <p:cNvPr id="11" name="Text 7"/>
          <p:cNvSpPr/>
          <p:nvPr/>
        </p:nvSpPr>
        <p:spPr>
          <a:xfrm>
            <a:off x="8641080" y="2404872"/>
            <a:ext cx="2103120" cy="182880"/>
          </a:xfrm>
          <a:prstGeom prst="rect">
            <a:avLst/>
          </a:prstGeom>
          <a:noFill/>
          <a:ln/>
        </p:spPr>
        <p:txBody>
          <a:bodyPr wrap="square" lIns="762" tIns="762" rIns="762" bIns="762" rtlCol="0" anchor="t">
            <a:normAutofit/>
          </a:bodyPr>
          <a:lstStyle/>
          <a:p>
            <a:pPr algn="l" indent="0" marL="0">
              <a:buNone/>
            </a:pPr>
            <a:r>
              <a:rPr lang="en-US" sz="1050" dirty="0">
                <a:solidFill>
                  <a:srgbClr val="6B7280"/>
                </a:solidFill>
                <a:latin typeface="Aptos" pitchFamily="34" charset="0"/>
                <a:ea typeface="Aptos" pitchFamily="34" charset="-122"/>
                <a:cs typeface="Aptos" pitchFamily="34" charset="-120"/>
              </a:rPr>
              <a:t>Sibiu → Rimnicu Vilcea → Pitesti</a:t>
            </a:r>
            <a:endParaRPr lang="en-US" sz="1050" dirty="0"/>
          </a:p>
        </p:txBody>
      </p:sp>
      <p:pic>
        <p:nvPicPr>
          <p:cNvPr id="12" name="Image 2" descr="preencoded.png">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6446520" y="2971800"/>
            <a:ext cx="2194560" cy="347472"/>
          </a:xfrm>
          <a:prstGeom prst="rect">
            <a:avLst/>
          </a:prstGeom>
        </p:spPr>
      </p:pic>
      <p:sp>
        <p:nvSpPr>
          <p:cNvPr id="13" name="Text 8"/>
          <p:cNvSpPr/>
          <p:nvPr/>
        </p:nvSpPr>
        <p:spPr>
          <a:xfrm>
            <a:off x="8778240" y="3044952"/>
            <a:ext cx="2103120" cy="182880"/>
          </a:xfrm>
          <a:prstGeom prst="rect">
            <a:avLst/>
          </a:prstGeom>
          <a:noFill/>
          <a:ln/>
        </p:spPr>
        <p:txBody>
          <a:bodyPr wrap="square" lIns="762" tIns="762" rIns="762" bIns="762" rtlCol="0" anchor="t">
            <a:normAutofit/>
          </a:bodyPr>
          <a:lstStyle/>
          <a:p>
            <a:pPr algn="l" indent="0" marL="0">
              <a:buNone/>
            </a:pPr>
            <a:r>
              <a:rPr lang="en-US" sz="1050" dirty="0">
                <a:solidFill>
                  <a:srgbClr val="6B7280"/>
                </a:solidFill>
                <a:latin typeface="Aptos" pitchFamily="34" charset="0"/>
                <a:ea typeface="Aptos" pitchFamily="34" charset="-122"/>
                <a:cs typeface="Aptos" pitchFamily="34" charset="-120"/>
              </a:rPr>
              <a:t>Sibiu → Fagaras → Bucharest</a:t>
            </a:r>
            <a:endParaRPr lang="en-US" sz="1050" dirty="0"/>
          </a:p>
        </p:txBody>
      </p:sp>
      <p:pic>
        <p:nvPicPr>
          <p:cNvPr id="14" name="Image 3" descr="preencoded.png">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6446520" y="3611880"/>
            <a:ext cx="2743200" cy="347472"/>
          </a:xfrm>
          <a:prstGeom prst="rect">
            <a:avLst/>
          </a:prstGeom>
        </p:spPr>
      </p:pic>
      <p:sp>
        <p:nvSpPr>
          <p:cNvPr id="15" name="Text 9"/>
          <p:cNvSpPr/>
          <p:nvPr/>
        </p:nvSpPr>
        <p:spPr>
          <a:xfrm>
            <a:off x="9281160" y="3685032"/>
            <a:ext cx="1828800" cy="182880"/>
          </a:xfrm>
          <a:prstGeom prst="rect">
            <a:avLst/>
          </a:prstGeom>
          <a:noFill/>
          <a:ln/>
        </p:spPr>
        <p:txBody>
          <a:bodyPr wrap="square" lIns="762" tIns="762" rIns="762" bIns="762" rtlCol="0" anchor="t">
            <a:normAutofit/>
          </a:bodyPr>
          <a:lstStyle/>
          <a:p>
            <a:pPr algn="l" indent="0" marL="0">
              <a:buNone/>
            </a:pPr>
            <a:r>
              <a:rPr lang="en-US" sz="950" dirty="0">
                <a:solidFill>
                  <a:srgbClr val="6B7280"/>
                </a:solidFill>
                <a:latin typeface="Aptos" pitchFamily="34" charset="0"/>
                <a:ea typeface="Aptos" pitchFamily="34" charset="-122"/>
                <a:cs typeface="Aptos" pitchFamily="34" charset="-120"/>
              </a:rPr>
              <a:t>Sibiu → Rimnicu Vilcea → Pitesti → Bucharest</a:t>
            </a:r>
            <a:endParaRPr lang="en-US" sz="950" dirty="0"/>
          </a:p>
        </p:txBody>
      </p:sp>
      <p:sp>
        <p:nvSpPr>
          <p:cNvPr id="16" name="Shape 10"/>
          <p:cNvSpPr/>
          <p:nvPr/>
        </p:nvSpPr>
        <p:spPr>
          <a:xfrm>
            <a:off x="6035040" y="4434840"/>
            <a:ext cx="5074920" cy="822960"/>
          </a:xfrm>
          <a:prstGeom prst="roundRect">
            <a:avLst>
              <a:gd name="adj" fmla="val 6667"/>
            </a:avLst>
          </a:prstGeom>
          <a:solidFill>
            <a:srgbClr val="FFFFFF"/>
          </a:solidFill>
          <a:ln w="12700">
            <a:solidFill>
              <a:srgbClr val="D5DCE8"/>
            </a:solidFill>
            <a:prstDash val="solid"/>
          </a:ln>
        </p:spPr>
      </p:sp>
      <p:sp>
        <p:nvSpPr>
          <p:cNvPr id="17" name="Text 11"/>
          <p:cNvSpPr/>
          <p:nvPr/>
        </p:nvSpPr>
        <p:spPr>
          <a:xfrm>
            <a:off x="6199632" y="4599432"/>
            <a:ext cx="4745736" cy="310896"/>
          </a:xfrm>
          <a:prstGeom prst="rect">
            <a:avLst/>
          </a:prstGeom>
          <a:noFill/>
          <a:ln/>
        </p:spPr>
        <p:txBody>
          <a:bodyPr wrap="square" lIns="762" tIns="762" rIns="762" bIns="762" rtlCol="0" anchor="t">
            <a:normAutofit/>
          </a:bodyPr>
          <a:lstStyle/>
          <a:p>
            <a:pPr algn="l" indent="0" marL="0">
              <a:buNone/>
            </a:pPr>
            <a:r>
              <a:rPr lang="en-US" sz="1400" b="1" dirty="0">
                <a:solidFill>
                  <a:srgbClr val="F5A11A"/>
                </a:solidFill>
                <a:latin typeface="Aptos" pitchFamily="34" charset="0"/>
                <a:ea typeface="Aptos" pitchFamily="34" charset="-122"/>
                <a:cs typeface="Aptos" pitchFamily="34" charset="-120"/>
              </a:rPr>
              <a:t>Teaching point</a:t>
            </a:r>
            <a:endParaRPr lang="en-US" sz="1400" dirty="0"/>
          </a:p>
        </p:txBody>
      </p:sp>
      <p:sp>
        <p:nvSpPr>
          <p:cNvPr id="18" name="Text 12"/>
          <p:cNvSpPr/>
          <p:nvPr/>
        </p:nvSpPr>
        <p:spPr>
          <a:xfrm>
            <a:off x="6199632" y="4965192"/>
            <a:ext cx="4745736" cy="164592"/>
          </a:xfrm>
          <a:prstGeom prst="rect">
            <a:avLst/>
          </a:prstGeom>
          <a:noFill/>
          <a:ln/>
        </p:spPr>
        <p:txBody>
          <a:bodyPr wrap="square" lIns="762" tIns="762" rIns="762" bIns="762" rtlCol="0" anchor="t">
            <a:normAutofit/>
          </a:bodyPr>
          <a:lstStyle/>
          <a:p>
            <a:pPr algn="l" indent="0" marL="0">
              <a:buNone/>
            </a:pPr>
            <a:r>
              <a:rPr lang="en-US" sz="1250" dirty="0">
                <a:solidFill>
                  <a:srgbClr val="111827"/>
                </a:solidFill>
                <a:latin typeface="Aptos" pitchFamily="34" charset="0"/>
                <a:ea typeface="Aptos" pitchFamily="34" charset="-122"/>
                <a:cs typeface="Aptos" pitchFamily="34" charset="-120"/>
              </a:rPr>
              <a:t>Do not stop when a goal is generated. Stop when the lowest-cost frontier node selected for expansion is a goal.</a:t>
            </a:r>
            <a:endParaRPr lang="en-US" sz="1250" dirty="0"/>
          </a:p>
        </p:txBody>
      </p:sp>
      <p:sp>
        <p:nvSpPr>
          <p:cNvPr id="19" name="Text 13"/>
          <p:cNvSpPr/>
          <p:nvPr/>
        </p:nvSpPr>
        <p:spPr>
          <a:xfrm>
            <a:off x="11475720" y="6510528"/>
            <a:ext cx="320040" cy="164592"/>
          </a:xfrm>
          <a:prstGeom prst="rect">
            <a:avLst/>
          </a:prstGeom>
          <a:noFill/>
          <a:ln/>
        </p:spPr>
        <p:txBody>
          <a:bodyPr wrap="square" lIns="0" tIns="0" rIns="0" bIns="0" rtlCol="0" anchor="ctr"/>
          <a:lstStyle/>
          <a:p>
            <a:pPr algn="r" indent="0" marL="0">
              <a:buNone/>
            </a:pPr>
            <a:r>
              <a:rPr lang="en-US" sz="800" dirty="0">
                <a:solidFill>
                  <a:srgbClr val="6B7280"/>
                </a:solidFill>
              </a:rPr>
              <a:t>27</a:t>
            </a:r>
            <a:endParaRPr lang="en-US" sz="800" dirty="0"/>
          </a:p>
        </p:txBody>
      </p:sp>
      <p:sp>
        <p:nvSpPr>
          <p:cNvPr id="20" name="Text 14"/>
          <p:cNvSpPr/>
          <p:nvPr/>
        </p:nvSpPr>
        <p:spPr>
          <a:xfrm>
            <a:off x="411480" y="6510528"/>
            <a:ext cx="3200400" cy="164592"/>
          </a:xfrm>
          <a:prstGeom prst="rect">
            <a:avLst/>
          </a:prstGeom>
          <a:noFill/>
          <a:ln/>
        </p:spPr>
        <p:txBody>
          <a:bodyPr wrap="square" lIns="0" tIns="0" rIns="0" bIns="0" rtlCol="0" anchor="ctr"/>
          <a:lstStyle/>
          <a:p>
            <a:pPr indent="0" marL="0">
              <a:buNone/>
            </a:pPr>
            <a:r>
              <a:rPr lang="en-US" sz="750" dirty="0">
                <a:solidFill>
                  <a:srgbClr val="6B7280"/>
                </a:solidFill>
              </a:rPr>
              <a:t>CSU Channel Islands · COMP 469</a:t>
            </a:r>
            <a:endParaRPr lang="en-US" sz="7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5F7FB"/>
        </a:solidFill>
      </p:bgPr>
    </p:bg>
    <p:spTree>
      <p:nvGrpSpPr>
        <p:cNvPr id="1" name=""/>
        <p:cNvGrpSpPr/>
        <p:nvPr/>
      </p:nvGrpSpPr>
      <p:grpSpPr>
        <a:xfrm>
          <a:off x="0" y="0"/>
          <a:ext cx="0" cy="0"/>
          <a:chOff x="0" y="0"/>
          <a:chExt cx="0" cy="0"/>
        </a:xfrm>
      </p:grpSpPr>
      <p:sp>
        <p:nvSpPr>
          <p:cNvPr id="2" name="Shape 0"/>
          <p:cNvSpPr/>
          <p:nvPr/>
        </p:nvSpPr>
        <p:spPr>
          <a:xfrm>
            <a:off x="0" y="0"/>
            <a:ext cx="12191695" cy="640080"/>
          </a:xfrm>
          <a:prstGeom prst="rect">
            <a:avLst/>
          </a:prstGeom>
          <a:solidFill>
            <a:srgbClr val="13386B"/>
          </a:solidFill>
          <a:ln w="12700">
            <a:solidFill>
              <a:srgbClr val="13386B"/>
            </a:solidFill>
            <a:prstDash val="solid"/>
          </a:ln>
        </p:spPr>
      </p:sp>
      <p:sp>
        <p:nvSpPr>
          <p:cNvPr id="3" name="Shape 1"/>
          <p:cNvSpPr/>
          <p:nvPr/>
        </p:nvSpPr>
        <p:spPr>
          <a:xfrm>
            <a:off x="0" y="640080"/>
            <a:ext cx="12191695" cy="68580"/>
          </a:xfrm>
          <a:prstGeom prst="rect">
            <a:avLst/>
          </a:prstGeom>
          <a:solidFill>
            <a:srgbClr val="F5A11A"/>
          </a:solidFill>
          <a:ln w="12700">
            <a:solidFill>
              <a:srgbClr val="F5A11A"/>
            </a:solidFill>
            <a:prstDash val="solid"/>
          </a:ln>
        </p:spPr>
      </p:sp>
      <p:sp>
        <p:nvSpPr>
          <p:cNvPr id="4" name="Text 2"/>
          <p:cNvSpPr/>
          <p:nvPr/>
        </p:nvSpPr>
        <p:spPr>
          <a:xfrm>
            <a:off x="411480" y="155448"/>
            <a:ext cx="7818120" cy="320040"/>
          </a:xfrm>
          <a:prstGeom prst="rect">
            <a:avLst/>
          </a:prstGeom>
          <a:noFill/>
          <a:ln/>
        </p:spPr>
        <p:txBody>
          <a:bodyPr wrap="square" lIns="0" tIns="0" rIns="0" bIns="0" rtlCol="0" anchor="ctr"/>
          <a:lstStyle/>
          <a:p>
            <a:pPr indent="0" marL="0">
              <a:buNone/>
            </a:pPr>
            <a:r>
              <a:rPr lang="en-US" sz="2200" b="1" dirty="0">
                <a:solidFill>
                  <a:srgbClr val="FFFFFF"/>
                </a:solidFill>
                <a:latin typeface="Aptos Display" pitchFamily="34" charset="0"/>
                <a:ea typeface="Aptos Display" pitchFamily="34" charset="-122"/>
                <a:cs typeface="Aptos Display" pitchFamily="34" charset="-120"/>
              </a:rPr>
              <a:t>UCS Complexity and the Positive-Cost Assumption</a:t>
            </a:r>
            <a:endParaRPr lang="en-US" sz="2200" dirty="0"/>
          </a:p>
        </p:txBody>
      </p:sp>
      <p:sp>
        <p:nvSpPr>
          <p:cNvPr id="5" name="Text 3"/>
          <p:cNvSpPr/>
          <p:nvPr/>
        </p:nvSpPr>
        <p:spPr>
          <a:xfrm>
            <a:off x="9253728" y="210312"/>
            <a:ext cx="2487168" cy="256032"/>
          </a:xfrm>
          <a:prstGeom prst="rect">
            <a:avLst/>
          </a:prstGeom>
          <a:noFill/>
          <a:ln/>
        </p:spPr>
        <p:txBody>
          <a:bodyPr wrap="square" lIns="0" tIns="0" rIns="0" bIns="0" rtlCol="0" anchor="ctr"/>
          <a:lstStyle/>
          <a:p>
            <a:pPr algn="r" indent="0" marL="0">
              <a:buNone/>
            </a:pPr>
            <a:r>
              <a:rPr lang="en-US" sz="850" dirty="0">
                <a:solidFill>
                  <a:srgbClr val="D9E5F2"/>
                </a:solidFill>
              </a:rPr>
              <a:t>COMP 469 · Chapter 3 · Sections 3.1–3.4</a:t>
            </a:r>
            <a:endParaRPr lang="en-US" sz="850" dirty="0"/>
          </a:p>
        </p:txBody>
      </p:sp>
      <p:pic>
        <p:nvPicPr>
          <p:cNvPr id="6" name="Image 0" descr="preencoded.pn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868680" y="1143000"/>
            <a:ext cx="4663440" cy="731520"/>
          </a:xfrm>
          <a:prstGeom prst="rect">
            <a:avLst/>
          </a:prstGeom>
        </p:spPr>
      </p:pic>
      <p:sp>
        <p:nvSpPr>
          <p:cNvPr id="7" name="Shape 4"/>
          <p:cNvSpPr/>
          <p:nvPr/>
        </p:nvSpPr>
        <p:spPr>
          <a:xfrm>
            <a:off x="868680" y="2331720"/>
            <a:ext cx="4754880" cy="1051560"/>
          </a:xfrm>
          <a:prstGeom prst="roundRect">
            <a:avLst>
              <a:gd name="adj" fmla="val 5217"/>
            </a:avLst>
          </a:prstGeom>
          <a:solidFill>
            <a:srgbClr val="FFFFFF"/>
          </a:solidFill>
          <a:ln w="12700">
            <a:solidFill>
              <a:srgbClr val="D5DCE8"/>
            </a:solidFill>
            <a:prstDash val="solid"/>
          </a:ln>
        </p:spPr>
      </p:sp>
      <p:sp>
        <p:nvSpPr>
          <p:cNvPr id="8" name="Text 5"/>
          <p:cNvSpPr/>
          <p:nvPr/>
        </p:nvSpPr>
        <p:spPr>
          <a:xfrm>
            <a:off x="1033272" y="2496312"/>
            <a:ext cx="4425696" cy="310896"/>
          </a:xfrm>
          <a:prstGeom prst="rect">
            <a:avLst/>
          </a:prstGeom>
          <a:noFill/>
          <a:ln/>
        </p:spPr>
        <p:txBody>
          <a:bodyPr wrap="square" lIns="762" tIns="762" rIns="762" bIns="762" rtlCol="0" anchor="t">
            <a:normAutofit/>
          </a:bodyPr>
          <a:lstStyle/>
          <a:p>
            <a:pPr algn="l" indent="0" marL="0">
              <a:buNone/>
            </a:pPr>
            <a:r>
              <a:rPr lang="en-US" sz="1400" b="1" dirty="0">
                <a:solidFill>
                  <a:srgbClr val="13386B"/>
                </a:solidFill>
                <a:latin typeface="Aptos" pitchFamily="34" charset="0"/>
                <a:ea typeface="Aptos" pitchFamily="34" charset="-122"/>
                <a:cs typeface="Aptos" pitchFamily="34" charset="-120"/>
              </a:rPr>
              <a:t>Parameters</a:t>
            </a:r>
            <a:endParaRPr lang="en-US" sz="1400" dirty="0"/>
          </a:p>
        </p:txBody>
      </p:sp>
      <p:sp>
        <p:nvSpPr>
          <p:cNvPr id="9" name="Text 6"/>
          <p:cNvSpPr/>
          <p:nvPr/>
        </p:nvSpPr>
        <p:spPr>
          <a:xfrm>
            <a:off x="1033272" y="2862072"/>
            <a:ext cx="4425696" cy="393192"/>
          </a:xfrm>
          <a:prstGeom prst="rect">
            <a:avLst/>
          </a:prstGeom>
          <a:noFill/>
          <a:ln/>
        </p:spPr>
        <p:txBody>
          <a:bodyPr wrap="square" lIns="762" tIns="762" rIns="762" bIns="762" rtlCol="0" anchor="t">
            <a:normAutofit/>
          </a:bodyPr>
          <a:lstStyle/>
          <a:p>
            <a:pPr algn="l" indent="0" marL="0">
              <a:buNone/>
            </a:pPr>
            <a:r>
              <a:rPr lang="en-US" sz="1250" dirty="0">
                <a:solidFill>
                  <a:srgbClr val="111827"/>
                </a:solidFill>
                <a:latin typeface="Aptos" pitchFamily="34" charset="0"/>
                <a:ea typeface="Aptos" pitchFamily="34" charset="-122"/>
                <a:cs typeface="Aptos" pitchFamily="34" charset="-120"/>
              </a:rPr>
              <a:t>C* = cost of an optimal solution</a:t>
            </a:r>
            <a:endParaRPr lang="en-US" sz="1250" dirty="0"/>
          </a:p>
          <a:p>
            <a:pPr algn="l" indent="0" marL="0">
              <a:buNone/>
            </a:pPr>
            <a:r>
              <a:rPr lang="en-US" sz="1250" dirty="0">
                <a:solidFill>
                  <a:srgbClr val="111827"/>
                </a:solidFill>
                <a:latin typeface="Aptos" pitchFamily="34" charset="0"/>
                <a:ea typeface="Aptos" pitchFamily="34" charset="-122"/>
                <a:cs typeface="Aptos" pitchFamily="34" charset="-120"/>
              </a:rPr>
              <a:t>ε = lower bound on positive action costs</a:t>
            </a:r>
            <a:endParaRPr lang="en-US" sz="1250" dirty="0"/>
          </a:p>
        </p:txBody>
      </p:sp>
      <p:sp>
        <p:nvSpPr>
          <p:cNvPr id="10" name="Shape 7"/>
          <p:cNvSpPr/>
          <p:nvPr/>
        </p:nvSpPr>
        <p:spPr>
          <a:xfrm>
            <a:off x="868680" y="3703320"/>
            <a:ext cx="4754880" cy="1051560"/>
          </a:xfrm>
          <a:prstGeom prst="roundRect">
            <a:avLst>
              <a:gd name="adj" fmla="val 5217"/>
            </a:avLst>
          </a:prstGeom>
          <a:solidFill>
            <a:srgbClr val="FFFFFF"/>
          </a:solidFill>
          <a:ln w="12700">
            <a:solidFill>
              <a:srgbClr val="D5DCE8"/>
            </a:solidFill>
            <a:prstDash val="solid"/>
          </a:ln>
        </p:spPr>
      </p:sp>
      <p:sp>
        <p:nvSpPr>
          <p:cNvPr id="11" name="Text 8"/>
          <p:cNvSpPr/>
          <p:nvPr/>
        </p:nvSpPr>
        <p:spPr>
          <a:xfrm>
            <a:off x="1033272" y="3867912"/>
            <a:ext cx="4425696" cy="310896"/>
          </a:xfrm>
          <a:prstGeom prst="rect">
            <a:avLst/>
          </a:prstGeom>
          <a:noFill/>
          <a:ln/>
        </p:spPr>
        <p:txBody>
          <a:bodyPr wrap="square" lIns="762" tIns="762" rIns="762" bIns="762" rtlCol="0" anchor="t">
            <a:normAutofit/>
          </a:bodyPr>
          <a:lstStyle/>
          <a:p>
            <a:pPr algn="l" indent="0" marL="0">
              <a:buNone/>
            </a:pPr>
            <a:r>
              <a:rPr lang="en-US" sz="1400" b="1" dirty="0">
                <a:solidFill>
                  <a:srgbClr val="F5A11A"/>
                </a:solidFill>
                <a:latin typeface="Aptos" pitchFamily="34" charset="0"/>
                <a:ea typeface="Aptos" pitchFamily="34" charset="-122"/>
                <a:cs typeface="Aptos" pitchFamily="34" charset="-120"/>
              </a:rPr>
              <a:t>Why it can be large</a:t>
            </a:r>
            <a:endParaRPr lang="en-US" sz="1400" dirty="0"/>
          </a:p>
        </p:txBody>
      </p:sp>
      <p:sp>
        <p:nvSpPr>
          <p:cNvPr id="12" name="Text 9"/>
          <p:cNvSpPr/>
          <p:nvPr/>
        </p:nvSpPr>
        <p:spPr>
          <a:xfrm>
            <a:off x="1033272" y="4233672"/>
            <a:ext cx="4425696" cy="393192"/>
          </a:xfrm>
          <a:prstGeom prst="rect">
            <a:avLst/>
          </a:prstGeom>
          <a:noFill/>
          <a:ln/>
        </p:spPr>
        <p:txBody>
          <a:bodyPr wrap="square" lIns="762" tIns="762" rIns="762" bIns="762" rtlCol="0" anchor="t">
            <a:normAutofit/>
          </a:bodyPr>
          <a:lstStyle/>
          <a:p>
            <a:pPr algn="l" indent="0" marL="0">
              <a:buNone/>
            </a:pPr>
            <a:r>
              <a:rPr lang="en-US" sz="1250" dirty="0">
                <a:solidFill>
                  <a:srgbClr val="111827"/>
                </a:solidFill>
                <a:latin typeface="Aptos" pitchFamily="34" charset="0"/>
                <a:ea typeface="Aptos" pitchFamily="34" charset="-122"/>
                <a:cs typeface="Aptos" pitchFamily="34" charset="-120"/>
              </a:rPr>
              <a:t>UCS may explore many low-cost action sequences before one high-cost but useful action.</a:t>
            </a:r>
            <a:endParaRPr lang="en-US" sz="1250" dirty="0"/>
          </a:p>
        </p:txBody>
      </p:sp>
      <p:pic>
        <p:nvPicPr>
          <p:cNvPr id="13" name="Image 1" descr="preencoded.png">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6400800" y="1325880"/>
            <a:ext cx="4480560" cy="566928"/>
          </a:xfrm>
          <a:prstGeom prst="rect">
            <a:avLst/>
          </a:prstGeom>
        </p:spPr>
      </p:pic>
      <p:sp>
        <p:nvSpPr>
          <p:cNvPr id="14" name="Shape 10"/>
          <p:cNvSpPr/>
          <p:nvPr/>
        </p:nvSpPr>
        <p:spPr>
          <a:xfrm>
            <a:off x="6263640" y="2331720"/>
            <a:ext cx="4892040" cy="2423160"/>
          </a:xfrm>
          <a:prstGeom prst="roundRect">
            <a:avLst>
              <a:gd name="adj" fmla="val 2264"/>
            </a:avLst>
          </a:prstGeom>
          <a:solidFill>
            <a:srgbClr val="FFFFFF"/>
          </a:solidFill>
          <a:ln w="12700">
            <a:solidFill>
              <a:srgbClr val="D5DCE8"/>
            </a:solidFill>
            <a:prstDash val="solid"/>
          </a:ln>
        </p:spPr>
      </p:sp>
      <p:sp>
        <p:nvSpPr>
          <p:cNvPr id="15" name="Text 11"/>
          <p:cNvSpPr/>
          <p:nvPr/>
        </p:nvSpPr>
        <p:spPr>
          <a:xfrm>
            <a:off x="6428232" y="2496312"/>
            <a:ext cx="4562856" cy="310896"/>
          </a:xfrm>
          <a:prstGeom prst="rect">
            <a:avLst/>
          </a:prstGeom>
          <a:noFill/>
          <a:ln/>
        </p:spPr>
        <p:txBody>
          <a:bodyPr wrap="square" lIns="762" tIns="762" rIns="762" bIns="762" rtlCol="0" anchor="t">
            <a:normAutofit/>
          </a:bodyPr>
          <a:lstStyle/>
          <a:p>
            <a:pPr algn="l" indent="0" marL="0">
              <a:buNone/>
            </a:pPr>
            <a:r>
              <a:rPr lang="en-US" sz="1400" b="1" dirty="0">
                <a:solidFill>
                  <a:srgbClr val="1F7A3D"/>
                </a:solidFill>
                <a:latin typeface="Aptos" pitchFamily="34" charset="0"/>
                <a:ea typeface="Aptos" pitchFamily="34" charset="-122"/>
                <a:cs typeface="Aptos" pitchFamily="34" charset="-120"/>
              </a:rPr>
              <a:t>Completeness and optimality</a:t>
            </a:r>
            <a:endParaRPr lang="en-US" sz="1400" dirty="0"/>
          </a:p>
        </p:txBody>
      </p:sp>
      <p:sp>
        <p:nvSpPr>
          <p:cNvPr id="16" name="Text 12"/>
          <p:cNvSpPr/>
          <p:nvPr/>
        </p:nvSpPr>
        <p:spPr>
          <a:xfrm>
            <a:off x="6428232" y="2862072"/>
            <a:ext cx="4562856" cy="1764792"/>
          </a:xfrm>
          <a:prstGeom prst="rect">
            <a:avLst/>
          </a:prstGeom>
          <a:noFill/>
          <a:ln/>
        </p:spPr>
        <p:txBody>
          <a:bodyPr wrap="square" lIns="762" tIns="762" rIns="762" bIns="762" rtlCol="0" anchor="t">
            <a:normAutofit/>
          </a:bodyPr>
          <a:lstStyle/>
          <a:p>
            <a:pPr algn="l" indent="0" marL="0">
              <a:buNone/>
            </a:pPr>
            <a:r>
              <a:rPr lang="en-US" sz="1250" dirty="0">
                <a:solidFill>
                  <a:srgbClr val="111827"/>
                </a:solidFill>
                <a:latin typeface="Aptos" pitchFamily="34" charset="0"/>
                <a:ea typeface="Aptos" pitchFamily="34" charset="-122"/>
                <a:cs typeface="Aptos" pitchFamily="34" charset="-120"/>
              </a:rPr>
              <a:t>UCS is complete and cost-optimal when costs are positive. The positive lower bound prevents the algorithm from spending forever on infinitely many tiny-cost actions.</a:t>
            </a:r>
            <a:endParaRPr lang="en-US" sz="1250" dirty="0"/>
          </a:p>
        </p:txBody>
      </p:sp>
      <p:sp>
        <p:nvSpPr>
          <p:cNvPr id="17" name="Text 13"/>
          <p:cNvSpPr/>
          <p:nvPr/>
        </p:nvSpPr>
        <p:spPr>
          <a:xfrm>
            <a:off x="11475720" y="6510528"/>
            <a:ext cx="320040" cy="164592"/>
          </a:xfrm>
          <a:prstGeom prst="rect">
            <a:avLst/>
          </a:prstGeom>
          <a:noFill/>
          <a:ln/>
        </p:spPr>
        <p:txBody>
          <a:bodyPr wrap="square" lIns="0" tIns="0" rIns="0" bIns="0" rtlCol="0" anchor="ctr"/>
          <a:lstStyle/>
          <a:p>
            <a:pPr algn="r" indent="0" marL="0">
              <a:buNone/>
            </a:pPr>
            <a:r>
              <a:rPr lang="en-US" sz="800" dirty="0">
                <a:solidFill>
                  <a:srgbClr val="6B7280"/>
                </a:solidFill>
              </a:rPr>
              <a:t>28</a:t>
            </a:r>
            <a:endParaRPr lang="en-US" sz="800" dirty="0"/>
          </a:p>
        </p:txBody>
      </p:sp>
      <p:sp>
        <p:nvSpPr>
          <p:cNvPr id="18" name="Text 14"/>
          <p:cNvSpPr/>
          <p:nvPr/>
        </p:nvSpPr>
        <p:spPr>
          <a:xfrm>
            <a:off x="411480" y="6510528"/>
            <a:ext cx="3200400" cy="164592"/>
          </a:xfrm>
          <a:prstGeom prst="rect">
            <a:avLst/>
          </a:prstGeom>
          <a:noFill/>
          <a:ln/>
        </p:spPr>
        <p:txBody>
          <a:bodyPr wrap="square" lIns="0" tIns="0" rIns="0" bIns="0" rtlCol="0" anchor="ctr"/>
          <a:lstStyle/>
          <a:p>
            <a:pPr indent="0" marL="0">
              <a:buNone/>
            </a:pPr>
            <a:r>
              <a:rPr lang="en-US" sz="750" dirty="0">
                <a:solidFill>
                  <a:srgbClr val="6B7280"/>
                </a:solidFill>
              </a:rPr>
              <a:t>CSU Channel Islands · COMP 469</a:t>
            </a:r>
            <a:endParaRPr lang="en-US" sz="7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5F7FB"/>
        </a:solidFill>
      </p:bgPr>
    </p:bg>
    <p:spTree>
      <p:nvGrpSpPr>
        <p:cNvPr id="1" name=""/>
        <p:cNvGrpSpPr/>
        <p:nvPr/>
      </p:nvGrpSpPr>
      <p:grpSpPr>
        <a:xfrm>
          <a:off x="0" y="0"/>
          <a:ext cx="0" cy="0"/>
          <a:chOff x="0" y="0"/>
          <a:chExt cx="0" cy="0"/>
        </a:xfrm>
      </p:grpSpPr>
      <p:sp>
        <p:nvSpPr>
          <p:cNvPr id="2" name="Shape 0"/>
          <p:cNvSpPr/>
          <p:nvPr/>
        </p:nvSpPr>
        <p:spPr>
          <a:xfrm>
            <a:off x="0" y="0"/>
            <a:ext cx="12191695" cy="640080"/>
          </a:xfrm>
          <a:prstGeom prst="rect">
            <a:avLst/>
          </a:prstGeom>
          <a:solidFill>
            <a:srgbClr val="13386B"/>
          </a:solidFill>
          <a:ln w="12700">
            <a:solidFill>
              <a:srgbClr val="13386B"/>
            </a:solidFill>
            <a:prstDash val="solid"/>
          </a:ln>
        </p:spPr>
      </p:sp>
      <p:sp>
        <p:nvSpPr>
          <p:cNvPr id="3" name="Shape 1"/>
          <p:cNvSpPr/>
          <p:nvPr/>
        </p:nvSpPr>
        <p:spPr>
          <a:xfrm>
            <a:off x="0" y="640080"/>
            <a:ext cx="12191695" cy="68580"/>
          </a:xfrm>
          <a:prstGeom prst="rect">
            <a:avLst/>
          </a:prstGeom>
          <a:solidFill>
            <a:srgbClr val="F5A11A"/>
          </a:solidFill>
          <a:ln w="12700">
            <a:solidFill>
              <a:srgbClr val="F5A11A"/>
            </a:solidFill>
            <a:prstDash val="solid"/>
          </a:ln>
        </p:spPr>
      </p:sp>
      <p:sp>
        <p:nvSpPr>
          <p:cNvPr id="4" name="Text 2"/>
          <p:cNvSpPr/>
          <p:nvPr/>
        </p:nvSpPr>
        <p:spPr>
          <a:xfrm>
            <a:off x="411480" y="155448"/>
            <a:ext cx="7818120" cy="320040"/>
          </a:xfrm>
          <a:prstGeom prst="rect">
            <a:avLst/>
          </a:prstGeom>
          <a:noFill/>
          <a:ln/>
        </p:spPr>
        <p:txBody>
          <a:bodyPr wrap="square" lIns="0" tIns="0" rIns="0" bIns="0" rtlCol="0" anchor="ctr"/>
          <a:lstStyle/>
          <a:p>
            <a:pPr indent="0" marL="0">
              <a:buNone/>
            </a:pPr>
            <a:r>
              <a:rPr lang="en-US" sz="2200" b="1" dirty="0">
                <a:solidFill>
                  <a:srgbClr val="FFFFFF"/>
                </a:solidFill>
                <a:latin typeface="Aptos Display" pitchFamily="34" charset="0"/>
                <a:ea typeface="Aptos Display" pitchFamily="34" charset="-122"/>
                <a:cs typeface="Aptos Display" pitchFamily="34" charset="-120"/>
              </a:rPr>
              <a:t>Depth-First Search (DFS)</a:t>
            </a:r>
            <a:endParaRPr lang="en-US" sz="2200" dirty="0"/>
          </a:p>
        </p:txBody>
      </p:sp>
      <p:sp>
        <p:nvSpPr>
          <p:cNvPr id="5" name="Text 3"/>
          <p:cNvSpPr/>
          <p:nvPr/>
        </p:nvSpPr>
        <p:spPr>
          <a:xfrm>
            <a:off x="9253728" y="210312"/>
            <a:ext cx="2487168" cy="256032"/>
          </a:xfrm>
          <a:prstGeom prst="rect">
            <a:avLst/>
          </a:prstGeom>
          <a:noFill/>
          <a:ln/>
        </p:spPr>
        <p:txBody>
          <a:bodyPr wrap="square" lIns="0" tIns="0" rIns="0" bIns="0" rtlCol="0" anchor="ctr"/>
          <a:lstStyle/>
          <a:p>
            <a:pPr algn="r" indent="0" marL="0">
              <a:buNone/>
            </a:pPr>
            <a:r>
              <a:rPr lang="en-US" sz="850" dirty="0">
                <a:solidFill>
                  <a:srgbClr val="D9E5F2"/>
                </a:solidFill>
              </a:rPr>
              <a:t>COMP 469 · Chapter 3 · Sections 3.1–3.4</a:t>
            </a:r>
            <a:endParaRPr lang="en-US" sz="850" dirty="0"/>
          </a:p>
        </p:txBody>
      </p:sp>
      <p:sp>
        <p:nvSpPr>
          <p:cNvPr id="6" name="Shape 4"/>
          <p:cNvSpPr/>
          <p:nvPr/>
        </p:nvSpPr>
        <p:spPr>
          <a:xfrm>
            <a:off x="731520" y="1005840"/>
            <a:ext cx="3657600" cy="1143000"/>
          </a:xfrm>
          <a:prstGeom prst="roundRect">
            <a:avLst>
              <a:gd name="adj" fmla="val 4800"/>
            </a:avLst>
          </a:prstGeom>
          <a:solidFill>
            <a:srgbClr val="FFFFFF"/>
          </a:solidFill>
          <a:ln w="12700">
            <a:solidFill>
              <a:srgbClr val="D5DCE8"/>
            </a:solidFill>
            <a:prstDash val="solid"/>
          </a:ln>
        </p:spPr>
      </p:sp>
      <p:sp>
        <p:nvSpPr>
          <p:cNvPr id="7" name="Text 5"/>
          <p:cNvSpPr/>
          <p:nvPr/>
        </p:nvSpPr>
        <p:spPr>
          <a:xfrm>
            <a:off x="896112" y="1170432"/>
            <a:ext cx="3328416" cy="310896"/>
          </a:xfrm>
          <a:prstGeom prst="rect">
            <a:avLst/>
          </a:prstGeom>
          <a:noFill/>
          <a:ln/>
        </p:spPr>
        <p:txBody>
          <a:bodyPr wrap="square" lIns="762" tIns="762" rIns="762" bIns="762" rtlCol="0" anchor="t">
            <a:normAutofit/>
          </a:bodyPr>
          <a:lstStyle/>
          <a:p>
            <a:pPr algn="l" indent="0" marL="0">
              <a:buNone/>
            </a:pPr>
            <a:r>
              <a:rPr lang="en-US" sz="1400" b="1" dirty="0">
                <a:solidFill>
                  <a:srgbClr val="13386B"/>
                </a:solidFill>
                <a:latin typeface="Aptos" pitchFamily="34" charset="0"/>
                <a:ea typeface="Aptos" pitchFamily="34" charset="-122"/>
                <a:cs typeface="Aptos" pitchFamily="34" charset="-120"/>
              </a:rPr>
              <a:t>Strategy</a:t>
            </a:r>
            <a:endParaRPr lang="en-US" sz="1400" dirty="0"/>
          </a:p>
        </p:txBody>
      </p:sp>
      <p:sp>
        <p:nvSpPr>
          <p:cNvPr id="8" name="Text 6"/>
          <p:cNvSpPr/>
          <p:nvPr/>
        </p:nvSpPr>
        <p:spPr>
          <a:xfrm>
            <a:off x="896112" y="1536192"/>
            <a:ext cx="3328416" cy="484632"/>
          </a:xfrm>
          <a:prstGeom prst="rect">
            <a:avLst/>
          </a:prstGeom>
          <a:noFill/>
          <a:ln/>
        </p:spPr>
        <p:txBody>
          <a:bodyPr wrap="square" lIns="762" tIns="762" rIns="762" bIns="762" rtlCol="0" anchor="t">
            <a:normAutofit/>
          </a:bodyPr>
          <a:lstStyle/>
          <a:p>
            <a:pPr algn="l" indent="0" marL="0">
              <a:buNone/>
            </a:pPr>
            <a:r>
              <a:rPr lang="en-US" sz="1250" dirty="0">
                <a:solidFill>
                  <a:srgbClr val="111827"/>
                </a:solidFill>
                <a:latin typeface="Aptos" pitchFamily="34" charset="0"/>
                <a:ea typeface="Aptos" pitchFamily="34" charset="-122"/>
                <a:cs typeface="Aptos" pitchFamily="34" charset="-120"/>
              </a:rPr>
              <a:t>Expand the deepest node in the frontier first.</a:t>
            </a:r>
            <a:endParaRPr lang="en-US" sz="1250" dirty="0"/>
          </a:p>
        </p:txBody>
      </p:sp>
      <p:sp>
        <p:nvSpPr>
          <p:cNvPr id="9" name="Shape 7"/>
          <p:cNvSpPr/>
          <p:nvPr/>
        </p:nvSpPr>
        <p:spPr>
          <a:xfrm>
            <a:off x="4526280" y="1005840"/>
            <a:ext cx="3108960" cy="1143000"/>
          </a:xfrm>
          <a:prstGeom prst="roundRect">
            <a:avLst>
              <a:gd name="adj" fmla="val 4800"/>
            </a:avLst>
          </a:prstGeom>
          <a:solidFill>
            <a:srgbClr val="FFFFFF"/>
          </a:solidFill>
          <a:ln w="12700">
            <a:solidFill>
              <a:srgbClr val="D5DCE8"/>
            </a:solidFill>
            <a:prstDash val="solid"/>
          </a:ln>
        </p:spPr>
      </p:sp>
      <p:sp>
        <p:nvSpPr>
          <p:cNvPr id="10" name="Text 8"/>
          <p:cNvSpPr/>
          <p:nvPr/>
        </p:nvSpPr>
        <p:spPr>
          <a:xfrm>
            <a:off x="4690872" y="1170432"/>
            <a:ext cx="2779776" cy="310896"/>
          </a:xfrm>
          <a:prstGeom prst="rect">
            <a:avLst/>
          </a:prstGeom>
          <a:noFill/>
          <a:ln/>
        </p:spPr>
        <p:txBody>
          <a:bodyPr wrap="square" lIns="762" tIns="762" rIns="762" bIns="762" rtlCol="0" anchor="t">
            <a:normAutofit/>
          </a:bodyPr>
          <a:lstStyle/>
          <a:p>
            <a:pPr algn="l" indent="0" marL="0">
              <a:buNone/>
            </a:pPr>
            <a:r>
              <a:rPr lang="en-US" sz="1400" b="1" dirty="0">
                <a:solidFill>
                  <a:srgbClr val="0F8B8D"/>
                </a:solidFill>
                <a:latin typeface="Aptos" pitchFamily="34" charset="0"/>
                <a:ea typeface="Aptos" pitchFamily="34" charset="-122"/>
                <a:cs typeface="Aptos" pitchFamily="34" charset="-120"/>
              </a:rPr>
              <a:t>Implementation</a:t>
            </a:r>
            <a:endParaRPr lang="en-US" sz="1400" dirty="0"/>
          </a:p>
        </p:txBody>
      </p:sp>
      <p:sp>
        <p:nvSpPr>
          <p:cNvPr id="11" name="Text 9"/>
          <p:cNvSpPr/>
          <p:nvPr/>
        </p:nvSpPr>
        <p:spPr>
          <a:xfrm>
            <a:off x="4690872" y="1536192"/>
            <a:ext cx="2779776" cy="484632"/>
          </a:xfrm>
          <a:prstGeom prst="rect">
            <a:avLst/>
          </a:prstGeom>
          <a:noFill/>
          <a:ln/>
        </p:spPr>
        <p:txBody>
          <a:bodyPr wrap="square" lIns="762" tIns="762" rIns="762" bIns="762" rtlCol="0" anchor="t">
            <a:normAutofit/>
          </a:bodyPr>
          <a:lstStyle/>
          <a:p>
            <a:pPr algn="l" indent="0" marL="0">
              <a:buNone/>
            </a:pPr>
            <a:r>
              <a:rPr lang="en-US" sz="1250" dirty="0">
                <a:solidFill>
                  <a:srgbClr val="111827"/>
                </a:solidFill>
                <a:latin typeface="Aptos" pitchFamily="34" charset="0"/>
                <a:ea typeface="Aptos" pitchFamily="34" charset="-122"/>
                <a:cs typeface="Aptos" pitchFamily="34" charset="-120"/>
              </a:rPr>
              <a:t>Usually a LIFO stack or recursive tree-like search.</a:t>
            </a:r>
            <a:endParaRPr lang="en-US" sz="1250" dirty="0"/>
          </a:p>
        </p:txBody>
      </p:sp>
      <p:sp>
        <p:nvSpPr>
          <p:cNvPr id="12" name="Shape 10"/>
          <p:cNvSpPr/>
          <p:nvPr/>
        </p:nvSpPr>
        <p:spPr>
          <a:xfrm>
            <a:off x="7772400" y="1005840"/>
            <a:ext cx="3611880" cy="1143000"/>
          </a:xfrm>
          <a:prstGeom prst="roundRect">
            <a:avLst>
              <a:gd name="adj" fmla="val 4800"/>
            </a:avLst>
          </a:prstGeom>
          <a:solidFill>
            <a:srgbClr val="FFFFFF"/>
          </a:solidFill>
          <a:ln w="12700">
            <a:solidFill>
              <a:srgbClr val="D5DCE8"/>
            </a:solidFill>
            <a:prstDash val="solid"/>
          </a:ln>
        </p:spPr>
      </p:sp>
      <p:sp>
        <p:nvSpPr>
          <p:cNvPr id="13" name="Text 11"/>
          <p:cNvSpPr/>
          <p:nvPr/>
        </p:nvSpPr>
        <p:spPr>
          <a:xfrm>
            <a:off x="7936992" y="1170432"/>
            <a:ext cx="3282696" cy="310896"/>
          </a:xfrm>
          <a:prstGeom prst="rect">
            <a:avLst/>
          </a:prstGeom>
          <a:noFill/>
          <a:ln/>
        </p:spPr>
        <p:txBody>
          <a:bodyPr wrap="square" lIns="762" tIns="762" rIns="762" bIns="762" rtlCol="0" anchor="t">
            <a:normAutofit/>
          </a:bodyPr>
          <a:lstStyle/>
          <a:p>
            <a:pPr algn="l" indent="0" marL="0">
              <a:buNone/>
            </a:pPr>
            <a:r>
              <a:rPr lang="en-US" sz="1400" b="1" dirty="0">
                <a:solidFill>
                  <a:srgbClr val="F5A11A"/>
                </a:solidFill>
                <a:latin typeface="Aptos" pitchFamily="34" charset="0"/>
                <a:ea typeface="Aptos" pitchFamily="34" charset="-122"/>
                <a:cs typeface="Aptos" pitchFamily="34" charset="-120"/>
              </a:rPr>
              <a:t>What it returns</a:t>
            </a:r>
            <a:endParaRPr lang="en-US" sz="1400" dirty="0"/>
          </a:p>
        </p:txBody>
      </p:sp>
      <p:sp>
        <p:nvSpPr>
          <p:cNvPr id="14" name="Text 12"/>
          <p:cNvSpPr/>
          <p:nvPr/>
        </p:nvSpPr>
        <p:spPr>
          <a:xfrm>
            <a:off x="7936992" y="1536192"/>
            <a:ext cx="3282696" cy="484632"/>
          </a:xfrm>
          <a:prstGeom prst="rect">
            <a:avLst/>
          </a:prstGeom>
          <a:noFill/>
          <a:ln/>
        </p:spPr>
        <p:txBody>
          <a:bodyPr wrap="square" lIns="762" tIns="762" rIns="762" bIns="762" rtlCol="0" anchor="t">
            <a:normAutofit/>
          </a:bodyPr>
          <a:lstStyle/>
          <a:p>
            <a:pPr algn="l" indent="0" marL="0">
              <a:buNone/>
            </a:pPr>
            <a:r>
              <a:rPr lang="en-US" sz="1250" dirty="0">
                <a:solidFill>
                  <a:srgbClr val="111827"/>
                </a:solidFill>
                <a:latin typeface="Aptos" pitchFamily="34" charset="0"/>
                <a:ea typeface="Aptos" pitchFamily="34" charset="-122"/>
                <a:cs typeface="Aptos" pitchFamily="34" charset="-120"/>
              </a:rPr>
              <a:t>The first solution found, not necessarily the cheapest.</a:t>
            </a:r>
            <a:endParaRPr lang="en-US" sz="1250" dirty="0"/>
          </a:p>
        </p:txBody>
      </p:sp>
      <p:pic>
        <p:nvPicPr>
          <p:cNvPr id="15" name="Image 0" descr="preencoded.pn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1828800" y="3154680"/>
            <a:ext cx="3108960" cy="502920"/>
          </a:xfrm>
          <a:prstGeom prst="rect">
            <a:avLst/>
          </a:prstGeom>
        </p:spPr>
      </p:pic>
      <p:sp>
        <p:nvSpPr>
          <p:cNvPr id="16" name="Text 13"/>
          <p:cNvSpPr/>
          <p:nvPr/>
        </p:nvSpPr>
        <p:spPr>
          <a:xfrm>
            <a:off x="4983480" y="3273552"/>
            <a:ext cx="4389120" cy="219456"/>
          </a:xfrm>
          <a:prstGeom prst="rect">
            <a:avLst/>
          </a:prstGeom>
          <a:noFill/>
          <a:ln/>
        </p:spPr>
        <p:txBody>
          <a:bodyPr wrap="square" lIns="762" tIns="762" rIns="762" bIns="762" rtlCol="0" anchor="t">
            <a:normAutofit/>
          </a:bodyPr>
          <a:lstStyle/>
          <a:p>
            <a:pPr algn="l" indent="0" marL="0">
              <a:buNone/>
            </a:pPr>
            <a:r>
              <a:rPr lang="en-US" sz="1200" dirty="0">
                <a:solidFill>
                  <a:srgbClr val="6B7280"/>
                </a:solidFill>
                <a:latin typeface="Aptos" pitchFamily="34" charset="0"/>
                <a:ea typeface="Aptos" pitchFamily="34" charset="-122"/>
                <a:cs typeface="Aptos" pitchFamily="34" charset="-120"/>
              </a:rPr>
              <a:t>b = branching factor, m = maximum path depth</a:t>
            </a:r>
            <a:endParaRPr lang="en-US" sz="1200" dirty="0"/>
          </a:p>
        </p:txBody>
      </p:sp>
      <p:sp>
        <p:nvSpPr>
          <p:cNvPr id="17" name="Text 14"/>
          <p:cNvSpPr/>
          <p:nvPr/>
        </p:nvSpPr>
        <p:spPr>
          <a:xfrm>
            <a:off x="1143000" y="4526280"/>
            <a:ext cx="9875520" cy="438912"/>
          </a:xfrm>
          <a:prstGeom prst="rect">
            <a:avLst/>
          </a:prstGeom>
          <a:noFill/>
          <a:ln/>
        </p:spPr>
        <p:txBody>
          <a:bodyPr wrap="square" lIns="762" tIns="762" rIns="762" bIns="762" rtlCol="0" anchor="t">
            <a:normAutofit/>
          </a:bodyPr>
          <a:lstStyle/>
          <a:p>
            <a:pPr algn="ctr" indent="0" marL="0">
              <a:buNone/>
            </a:pPr>
            <a:r>
              <a:rPr lang="en-US" sz="1800" b="1" dirty="0">
                <a:solidFill>
                  <a:srgbClr val="13386B"/>
                </a:solidFill>
                <a:latin typeface="Aptos" pitchFamily="34" charset="0"/>
                <a:ea typeface="Aptos" pitchFamily="34" charset="-122"/>
                <a:cs typeface="Aptos" pitchFamily="34" charset="-120"/>
              </a:rPr>
              <a:t>DFS is attractive when memory is the limiting resource, but it can be incomplete in cyclic or infinite spaces.</a:t>
            </a:r>
            <a:endParaRPr lang="en-US" sz="1800" dirty="0"/>
          </a:p>
        </p:txBody>
      </p:sp>
      <p:sp>
        <p:nvSpPr>
          <p:cNvPr id="18" name="Text 15"/>
          <p:cNvSpPr/>
          <p:nvPr/>
        </p:nvSpPr>
        <p:spPr>
          <a:xfrm>
            <a:off x="11475720" y="6510528"/>
            <a:ext cx="320040" cy="164592"/>
          </a:xfrm>
          <a:prstGeom prst="rect">
            <a:avLst/>
          </a:prstGeom>
          <a:noFill/>
          <a:ln/>
        </p:spPr>
        <p:txBody>
          <a:bodyPr wrap="square" lIns="0" tIns="0" rIns="0" bIns="0" rtlCol="0" anchor="ctr"/>
          <a:lstStyle/>
          <a:p>
            <a:pPr algn="r" indent="0" marL="0">
              <a:buNone/>
            </a:pPr>
            <a:r>
              <a:rPr lang="en-US" sz="800" dirty="0">
                <a:solidFill>
                  <a:srgbClr val="6B7280"/>
                </a:solidFill>
              </a:rPr>
              <a:t>29</a:t>
            </a:r>
            <a:endParaRPr lang="en-US" sz="800" dirty="0"/>
          </a:p>
        </p:txBody>
      </p:sp>
      <p:sp>
        <p:nvSpPr>
          <p:cNvPr id="19" name="Text 16"/>
          <p:cNvSpPr/>
          <p:nvPr/>
        </p:nvSpPr>
        <p:spPr>
          <a:xfrm>
            <a:off x="411480" y="6510528"/>
            <a:ext cx="3200400" cy="164592"/>
          </a:xfrm>
          <a:prstGeom prst="rect">
            <a:avLst/>
          </a:prstGeom>
          <a:noFill/>
          <a:ln/>
        </p:spPr>
        <p:txBody>
          <a:bodyPr wrap="square" lIns="0" tIns="0" rIns="0" bIns="0" rtlCol="0" anchor="ctr"/>
          <a:lstStyle/>
          <a:p>
            <a:pPr indent="0" marL="0">
              <a:buNone/>
            </a:pPr>
            <a:r>
              <a:rPr lang="en-US" sz="750" dirty="0">
                <a:solidFill>
                  <a:srgbClr val="6B7280"/>
                </a:solidFill>
              </a:rPr>
              <a:t>CSU Channel Islands · COMP 469</a:t>
            </a:r>
            <a:endParaRPr lang="en-US" sz="7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5F7FB"/>
        </a:solidFill>
      </p:bgPr>
    </p:bg>
    <p:spTree>
      <p:nvGrpSpPr>
        <p:cNvPr id="1" name=""/>
        <p:cNvGrpSpPr/>
        <p:nvPr/>
      </p:nvGrpSpPr>
      <p:grpSpPr>
        <a:xfrm>
          <a:off x="0" y="0"/>
          <a:ext cx="0" cy="0"/>
          <a:chOff x="0" y="0"/>
          <a:chExt cx="0" cy="0"/>
        </a:xfrm>
      </p:grpSpPr>
      <p:sp>
        <p:nvSpPr>
          <p:cNvPr id="2" name="Shape 0"/>
          <p:cNvSpPr/>
          <p:nvPr/>
        </p:nvSpPr>
        <p:spPr>
          <a:xfrm>
            <a:off x="0" y="0"/>
            <a:ext cx="12191695" cy="640080"/>
          </a:xfrm>
          <a:prstGeom prst="rect">
            <a:avLst/>
          </a:prstGeom>
          <a:solidFill>
            <a:srgbClr val="13386B"/>
          </a:solidFill>
          <a:ln w="12700">
            <a:solidFill>
              <a:srgbClr val="13386B"/>
            </a:solidFill>
            <a:prstDash val="solid"/>
          </a:ln>
        </p:spPr>
      </p:sp>
      <p:sp>
        <p:nvSpPr>
          <p:cNvPr id="3" name="Shape 1"/>
          <p:cNvSpPr/>
          <p:nvPr/>
        </p:nvSpPr>
        <p:spPr>
          <a:xfrm>
            <a:off x="0" y="640080"/>
            <a:ext cx="12191695" cy="68580"/>
          </a:xfrm>
          <a:prstGeom prst="rect">
            <a:avLst/>
          </a:prstGeom>
          <a:solidFill>
            <a:srgbClr val="F5A11A"/>
          </a:solidFill>
          <a:ln w="12700">
            <a:solidFill>
              <a:srgbClr val="F5A11A"/>
            </a:solidFill>
            <a:prstDash val="solid"/>
          </a:ln>
        </p:spPr>
      </p:sp>
      <p:sp>
        <p:nvSpPr>
          <p:cNvPr id="4" name="Text 2"/>
          <p:cNvSpPr/>
          <p:nvPr/>
        </p:nvSpPr>
        <p:spPr>
          <a:xfrm>
            <a:off x="411480" y="155448"/>
            <a:ext cx="7818120" cy="320040"/>
          </a:xfrm>
          <a:prstGeom prst="rect">
            <a:avLst/>
          </a:prstGeom>
          <a:noFill/>
          <a:ln/>
        </p:spPr>
        <p:txBody>
          <a:bodyPr wrap="square" lIns="0" tIns="0" rIns="0" bIns="0" rtlCol="0" anchor="ctr"/>
          <a:lstStyle/>
          <a:p>
            <a:pPr indent="0" marL="0">
              <a:buNone/>
            </a:pPr>
            <a:r>
              <a:rPr lang="en-US" sz="2200" b="1" dirty="0">
                <a:solidFill>
                  <a:srgbClr val="FFFFFF"/>
                </a:solidFill>
                <a:latin typeface="Aptos Display" pitchFamily="34" charset="0"/>
                <a:ea typeface="Aptos Display" pitchFamily="34" charset="-122"/>
                <a:cs typeface="Aptos Display" pitchFamily="34" charset="-120"/>
              </a:rPr>
              <a:t>DFS Failure Modes and Backtracking</a:t>
            </a:r>
            <a:endParaRPr lang="en-US" sz="2200" dirty="0"/>
          </a:p>
        </p:txBody>
      </p:sp>
      <p:sp>
        <p:nvSpPr>
          <p:cNvPr id="5" name="Text 3"/>
          <p:cNvSpPr/>
          <p:nvPr/>
        </p:nvSpPr>
        <p:spPr>
          <a:xfrm>
            <a:off x="9253728" y="210312"/>
            <a:ext cx="2487168" cy="256032"/>
          </a:xfrm>
          <a:prstGeom prst="rect">
            <a:avLst/>
          </a:prstGeom>
          <a:noFill/>
          <a:ln/>
        </p:spPr>
        <p:txBody>
          <a:bodyPr wrap="square" lIns="0" tIns="0" rIns="0" bIns="0" rtlCol="0" anchor="ctr"/>
          <a:lstStyle/>
          <a:p>
            <a:pPr algn="r" indent="0" marL="0">
              <a:buNone/>
            </a:pPr>
            <a:r>
              <a:rPr lang="en-US" sz="850" dirty="0">
                <a:solidFill>
                  <a:srgbClr val="D9E5F2"/>
                </a:solidFill>
              </a:rPr>
              <a:t>COMP 469 · Chapter 3 · Sections 3.1–3.4</a:t>
            </a:r>
            <a:endParaRPr lang="en-US" sz="850" dirty="0"/>
          </a:p>
        </p:txBody>
      </p:sp>
      <p:sp>
        <p:nvSpPr>
          <p:cNvPr id="6" name="Shape 4"/>
          <p:cNvSpPr/>
          <p:nvPr/>
        </p:nvSpPr>
        <p:spPr>
          <a:xfrm>
            <a:off x="777240" y="1051560"/>
            <a:ext cx="5029200" cy="1143000"/>
          </a:xfrm>
          <a:prstGeom prst="roundRect">
            <a:avLst>
              <a:gd name="adj" fmla="val 4800"/>
            </a:avLst>
          </a:prstGeom>
          <a:solidFill>
            <a:srgbClr val="FFFFFF"/>
          </a:solidFill>
          <a:ln w="12700">
            <a:solidFill>
              <a:srgbClr val="D5DCE8"/>
            </a:solidFill>
            <a:prstDash val="solid"/>
          </a:ln>
        </p:spPr>
      </p:sp>
      <p:sp>
        <p:nvSpPr>
          <p:cNvPr id="7" name="Text 5"/>
          <p:cNvSpPr/>
          <p:nvPr/>
        </p:nvSpPr>
        <p:spPr>
          <a:xfrm>
            <a:off x="941832" y="1216152"/>
            <a:ext cx="4700016" cy="310896"/>
          </a:xfrm>
          <a:prstGeom prst="rect">
            <a:avLst/>
          </a:prstGeom>
          <a:noFill/>
          <a:ln/>
        </p:spPr>
        <p:txBody>
          <a:bodyPr wrap="square" lIns="762" tIns="762" rIns="762" bIns="762" rtlCol="0" anchor="t">
            <a:normAutofit/>
          </a:bodyPr>
          <a:lstStyle/>
          <a:p>
            <a:pPr algn="l" indent="0" marL="0">
              <a:buNone/>
            </a:pPr>
            <a:r>
              <a:rPr lang="en-US" sz="1400" b="1" dirty="0">
                <a:solidFill>
                  <a:srgbClr val="A61919"/>
                </a:solidFill>
                <a:latin typeface="Aptos" pitchFamily="34" charset="0"/>
                <a:ea typeface="Aptos" pitchFamily="34" charset="-122"/>
                <a:cs typeface="Aptos" pitchFamily="34" charset="-120"/>
              </a:rPr>
              <a:t>Cyclic spaces</a:t>
            </a:r>
            <a:endParaRPr lang="en-US" sz="1400" dirty="0"/>
          </a:p>
        </p:txBody>
      </p:sp>
      <p:sp>
        <p:nvSpPr>
          <p:cNvPr id="8" name="Text 6"/>
          <p:cNvSpPr/>
          <p:nvPr/>
        </p:nvSpPr>
        <p:spPr>
          <a:xfrm>
            <a:off x="941832" y="1581912"/>
            <a:ext cx="4700016" cy="484632"/>
          </a:xfrm>
          <a:prstGeom prst="rect">
            <a:avLst/>
          </a:prstGeom>
          <a:noFill/>
          <a:ln/>
        </p:spPr>
        <p:txBody>
          <a:bodyPr wrap="square" lIns="762" tIns="762" rIns="762" bIns="762" rtlCol="0" anchor="t">
            <a:normAutofit/>
          </a:bodyPr>
          <a:lstStyle/>
          <a:p>
            <a:pPr algn="l" indent="0" marL="0">
              <a:buNone/>
            </a:pPr>
            <a:r>
              <a:rPr lang="en-US" sz="1250" dirty="0">
                <a:solidFill>
                  <a:srgbClr val="111827"/>
                </a:solidFill>
                <a:latin typeface="Aptos" pitchFamily="34" charset="0"/>
                <a:ea typeface="Aptos" pitchFamily="34" charset="-122"/>
                <a:cs typeface="Aptos" pitchFamily="34" charset="-120"/>
              </a:rPr>
              <a:t>DFS can loop forever unless cycle checks are added.</a:t>
            </a:r>
            <a:endParaRPr lang="en-US" sz="1250" dirty="0"/>
          </a:p>
        </p:txBody>
      </p:sp>
      <p:sp>
        <p:nvSpPr>
          <p:cNvPr id="9" name="Shape 7"/>
          <p:cNvSpPr/>
          <p:nvPr/>
        </p:nvSpPr>
        <p:spPr>
          <a:xfrm>
            <a:off x="6263640" y="1051560"/>
            <a:ext cx="5029200" cy="1143000"/>
          </a:xfrm>
          <a:prstGeom prst="roundRect">
            <a:avLst>
              <a:gd name="adj" fmla="val 4800"/>
            </a:avLst>
          </a:prstGeom>
          <a:solidFill>
            <a:srgbClr val="FFFFFF"/>
          </a:solidFill>
          <a:ln w="12700">
            <a:solidFill>
              <a:srgbClr val="D5DCE8"/>
            </a:solidFill>
            <a:prstDash val="solid"/>
          </a:ln>
        </p:spPr>
      </p:sp>
      <p:sp>
        <p:nvSpPr>
          <p:cNvPr id="10" name="Text 8"/>
          <p:cNvSpPr/>
          <p:nvPr/>
        </p:nvSpPr>
        <p:spPr>
          <a:xfrm>
            <a:off x="6428232" y="1216152"/>
            <a:ext cx="4700016" cy="310896"/>
          </a:xfrm>
          <a:prstGeom prst="rect">
            <a:avLst/>
          </a:prstGeom>
          <a:noFill/>
          <a:ln/>
        </p:spPr>
        <p:txBody>
          <a:bodyPr wrap="square" lIns="762" tIns="762" rIns="762" bIns="762" rtlCol="0" anchor="t">
            <a:normAutofit/>
          </a:bodyPr>
          <a:lstStyle/>
          <a:p>
            <a:pPr algn="l" indent="0" marL="0">
              <a:buNone/>
            </a:pPr>
            <a:r>
              <a:rPr lang="en-US" sz="1400" b="1" dirty="0">
                <a:solidFill>
                  <a:srgbClr val="7A2E54"/>
                </a:solidFill>
                <a:latin typeface="Aptos" pitchFamily="34" charset="0"/>
                <a:ea typeface="Aptos" pitchFamily="34" charset="-122"/>
                <a:cs typeface="Aptos" pitchFamily="34" charset="-120"/>
              </a:rPr>
              <a:t>Infinite spaces</a:t>
            </a:r>
            <a:endParaRPr lang="en-US" sz="1400" dirty="0"/>
          </a:p>
        </p:txBody>
      </p:sp>
      <p:sp>
        <p:nvSpPr>
          <p:cNvPr id="11" name="Text 9"/>
          <p:cNvSpPr/>
          <p:nvPr/>
        </p:nvSpPr>
        <p:spPr>
          <a:xfrm>
            <a:off x="6428232" y="1581912"/>
            <a:ext cx="4700016" cy="484632"/>
          </a:xfrm>
          <a:prstGeom prst="rect">
            <a:avLst/>
          </a:prstGeom>
          <a:noFill/>
          <a:ln/>
        </p:spPr>
        <p:txBody>
          <a:bodyPr wrap="square" lIns="762" tIns="762" rIns="762" bIns="762" rtlCol="0" anchor="t">
            <a:normAutofit/>
          </a:bodyPr>
          <a:lstStyle/>
          <a:p>
            <a:pPr algn="l" indent="0" marL="0">
              <a:buNone/>
            </a:pPr>
            <a:r>
              <a:rPr lang="en-US" sz="1250" dirty="0">
                <a:solidFill>
                  <a:srgbClr val="111827"/>
                </a:solidFill>
                <a:latin typeface="Aptos" pitchFamily="34" charset="0"/>
                <a:ea typeface="Aptos" pitchFamily="34" charset="-122"/>
                <a:cs typeface="Aptos" pitchFamily="34" charset="-120"/>
              </a:rPr>
              <a:t>DFS can follow one infinite path and never find a shallow solution elsewhere.</a:t>
            </a:r>
            <a:endParaRPr lang="en-US" sz="1250" dirty="0"/>
          </a:p>
        </p:txBody>
      </p:sp>
      <p:sp>
        <p:nvSpPr>
          <p:cNvPr id="12" name="Shape 10"/>
          <p:cNvSpPr/>
          <p:nvPr/>
        </p:nvSpPr>
        <p:spPr>
          <a:xfrm>
            <a:off x="777240" y="2834640"/>
            <a:ext cx="5029200" cy="1188720"/>
          </a:xfrm>
          <a:prstGeom prst="roundRect">
            <a:avLst>
              <a:gd name="adj" fmla="val 4615"/>
            </a:avLst>
          </a:prstGeom>
          <a:solidFill>
            <a:srgbClr val="FFFFFF"/>
          </a:solidFill>
          <a:ln w="12700">
            <a:solidFill>
              <a:srgbClr val="D5DCE8"/>
            </a:solidFill>
            <a:prstDash val="solid"/>
          </a:ln>
        </p:spPr>
      </p:sp>
      <p:sp>
        <p:nvSpPr>
          <p:cNvPr id="13" name="Text 11"/>
          <p:cNvSpPr/>
          <p:nvPr/>
        </p:nvSpPr>
        <p:spPr>
          <a:xfrm>
            <a:off x="941832" y="2999232"/>
            <a:ext cx="4700016" cy="310896"/>
          </a:xfrm>
          <a:prstGeom prst="rect">
            <a:avLst/>
          </a:prstGeom>
          <a:noFill/>
          <a:ln/>
        </p:spPr>
        <p:txBody>
          <a:bodyPr wrap="square" lIns="762" tIns="762" rIns="762" bIns="762" rtlCol="0" anchor="t">
            <a:normAutofit/>
          </a:bodyPr>
          <a:lstStyle/>
          <a:p>
            <a:pPr algn="l" indent="0" marL="0">
              <a:buNone/>
            </a:pPr>
            <a:r>
              <a:rPr lang="en-US" sz="1400" b="1" dirty="0">
                <a:solidFill>
                  <a:srgbClr val="F5A11A"/>
                </a:solidFill>
                <a:latin typeface="Aptos" pitchFamily="34" charset="0"/>
                <a:ea typeface="Aptos" pitchFamily="34" charset="-122"/>
                <a:cs typeface="Aptos" pitchFamily="34" charset="-120"/>
              </a:rPr>
              <a:t>Repeated states</a:t>
            </a:r>
            <a:endParaRPr lang="en-US" sz="1400" dirty="0"/>
          </a:p>
        </p:txBody>
      </p:sp>
      <p:sp>
        <p:nvSpPr>
          <p:cNvPr id="14" name="Text 12"/>
          <p:cNvSpPr/>
          <p:nvPr/>
        </p:nvSpPr>
        <p:spPr>
          <a:xfrm>
            <a:off x="941832" y="3364992"/>
            <a:ext cx="4700016" cy="530352"/>
          </a:xfrm>
          <a:prstGeom prst="rect">
            <a:avLst/>
          </a:prstGeom>
          <a:noFill/>
          <a:ln/>
        </p:spPr>
        <p:txBody>
          <a:bodyPr wrap="square" lIns="762" tIns="762" rIns="762" bIns="762" rtlCol="0" anchor="t">
            <a:normAutofit/>
          </a:bodyPr>
          <a:lstStyle/>
          <a:p>
            <a:pPr algn="l" indent="0" marL="0">
              <a:buNone/>
            </a:pPr>
            <a:r>
              <a:rPr lang="en-US" sz="1250" dirty="0">
                <a:solidFill>
                  <a:srgbClr val="111827"/>
                </a:solidFill>
                <a:latin typeface="Aptos" pitchFamily="34" charset="0"/>
                <a:ea typeface="Aptos" pitchFamily="34" charset="-122"/>
                <a:cs typeface="Aptos" pitchFamily="34" charset="-120"/>
              </a:rPr>
              <a:t>Without a reached table, DFS may revisit the same states by many paths.</a:t>
            </a:r>
            <a:endParaRPr lang="en-US" sz="1250" dirty="0"/>
          </a:p>
        </p:txBody>
      </p:sp>
      <p:sp>
        <p:nvSpPr>
          <p:cNvPr id="15" name="Shape 13"/>
          <p:cNvSpPr/>
          <p:nvPr/>
        </p:nvSpPr>
        <p:spPr>
          <a:xfrm>
            <a:off x="6263640" y="2834640"/>
            <a:ext cx="5029200" cy="1188720"/>
          </a:xfrm>
          <a:prstGeom prst="roundRect">
            <a:avLst>
              <a:gd name="adj" fmla="val 4615"/>
            </a:avLst>
          </a:prstGeom>
          <a:solidFill>
            <a:srgbClr val="FFFFFF"/>
          </a:solidFill>
          <a:ln w="12700">
            <a:solidFill>
              <a:srgbClr val="D5DCE8"/>
            </a:solidFill>
            <a:prstDash val="solid"/>
          </a:ln>
        </p:spPr>
      </p:sp>
      <p:sp>
        <p:nvSpPr>
          <p:cNvPr id="16" name="Text 14"/>
          <p:cNvSpPr/>
          <p:nvPr/>
        </p:nvSpPr>
        <p:spPr>
          <a:xfrm>
            <a:off x="6428232" y="2999232"/>
            <a:ext cx="4700016" cy="310896"/>
          </a:xfrm>
          <a:prstGeom prst="rect">
            <a:avLst/>
          </a:prstGeom>
          <a:noFill/>
          <a:ln/>
        </p:spPr>
        <p:txBody>
          <a:bodyPr wrap="square" lIns="762" tIns="762" rIns="762" bIns="762" rtlCol="0" anchor="t">
            <a:normAutofit/>
          </a:bodyPr>
          <a:lstStyle/>
          <a:p>
            <a:pPr algn="l" indent="0" marL="0">
              <a:buNone/>
            </a:pPr>
            <a:r>
              <a:rPr lang="en-US" sz="1400" b="1" dirty="0">
                <a:solidFill>
                  <a:srgbClr val="1F7A3D"/>
                </a:solidFill>
                <a:latin typeface="Aptos" pitchFamily="34" charset="0"/>
                <a:ea typeface="Aptos" pitchFamily="34" charset="-122"/>
                <a:cs typeface="Aptos" pitchFamily="34" charset="-120"/>
              </a:rPr>
              <a:t>Backtracking search</a:t>
            </a:r>
            <a:endParaRPr lang="en-US" sz="1400" dirty="0"/>
          </a:p>
        </p:txBody>
      </p:sp>
      <p:sp>
        <p:nvSpPr>
          <p:cNvPr id="17" name="Text 15"/>
          <p:cNvSpPr/>
          <p:nvPr/>
        </p:nvSpPr>
        <p:spPr>
          <a:xfrm>
            <a:off x="6428232" y="3364992"/>
            <a:ext cx="4700016" cy="530352"/>
          </a:xfrm>
          <a:prstGeom prst="rect">
            <a:avLst/>
          </a:prstGeom>
          <a:noFill/>
          <a:ln/>
        </p:spPr>
        <p:txBody>
          <a:bodyPr wrap="square" lIns="762" tIns="762" rIns="762" bIns="762" rtlCol="0" anchor="t">
            <a:normAutofit/>
          </a:bodyPr>
          <a:lstStyle/>
          <a:p>
            <a:pPr algn="l" indent="0" marL="0">
              <a:buNone/>
            </a:pPr>
            <a:r>
              <a:rPr lang="en-US" sz="1250" dirty="0">
                <a:solidFill>
                  <a:srgbClr val="111827"/>
                </a:solidFill>
                <a:latin typeface="Aptos" pitchFamily="34" charset="0"/>
                <a:ea typeface="Aptos" pitchFamily="34" charset="-122"/>
                <a:cs typeface="Aptos" pitchFamily="34" charset="-120"/>
              </a:rPr>
              <a:t>Generates one successor at a time and undoes actions to reduce memory.</a:t>
            </a:r>
            <a:endParaRPr lang="en-US" sz="1250" dirty="0"/>
          </a:p>
        </p:txBody>
      </p:sp>
      <p:pic>
        <p:nvPicPr>
          <p:cNvPr id="18" name="Image 0" descr="preencoded.pn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2286000" y="5074920"/>
            <a:ext cx="7589520" cy="438912"/>
          </a:xfrm>
          <a:prstGeom prst="rect">
            <a:avLst/>
          </a:prstGeom>
        </p:spPr>
      </p:pic>
      <p:sp>
        <p:nvSpPr>
          <p:cNvPr id="19" name="Text 16"/>
          <p:cNvSpPr/>
          <p:nvPr/>
        </p:nvSpPr>
        <p:spPr>
          <a:xfrm>
            <a:off x="11475720" y="6510528"/>
            <a:ext cx="320040" cy="164592"/>
          </a:xfrm>
          <a:prstGeom prst="rect">
            <a:avLst/>
          </a:prstGeom>
          <a:noFill/>
          <a:ln/>
        </p:spPr>
        <p:txBody>
          <a:bodyPr wrap="square" lIns="0" tIns="0" rIns="0" bIns="0" rtlCol="0" anchor="ctr"/>
          <a:lstStyle/>
          <a:p>
            <a:pPr algn="r" indent="0" marL="0">
              <a:buNone/>
            </a:pPr>
            <a:r>
              <a:rPr lang="en-US" sz="800" dirty="0">
                <a:solidFill>
                  <a:srgbClr val="6B7280"/>
                </a:solidFill>
              </a:rPr>
              <a:t>30</a:t>
            </a:r>
            <a:endParaRPr lang="en-US" sz="800" dirty="0"/>
          </a:p>
        </p:txBody>
      </p:sp>
      <p:sp>
        <p:nvSpPr>
          <p:cNvPr id="20" name="Text 17"/>
          <p:cNvSpPr/>
          <p:nvPr/>
        </p:nvSpPr>
        <p:spPr>
          <a:xfrm>
            <a:off x="411480" y="6510528"/>
            <a:ext cx="3200400" cy="164592"/>
          </a:xfrm>
          <a:prstGeom prst="rect">
            <a:avLst/>
          </a:prstGeom>
          <a:noFill/>
          <a:ln/>
        </p:spPr>
        <p:txBody>
          <a:bodyPr wrap="square" lIns="0" tIns="0" rIns="0" bIns="0" rtlCol="0" anchor="ctr"/>
          <a:lstStyle/>
          <a:p>
            <a:pPr indent="0" marL="0">
              <a:buNone/>
            </a:pPr>
            <a:r>
              <a:rPr lang="en-US" sz="750" dirty="0">
                <a:solidFill>
                  <a:srgbClr val="6B7280"/>
                </a:solidFill>
              </a:rPr>
              <a:t>CSU Channel Islands · COMP 469</a:t>
            </a:r>
            <a:endParaRPr lang="en-US" sz="7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5F7FB"/>
        </a:solidFill>
      </p:bgPr>
    </p:bg>
    <p:spTree>
      <p:nvGrpSpPr>
        <p:cNvPr id="1" name=""/>
        <p:cNvGrpSpPr/>
        <p:nvPr/>
      </p:nvGrpSpPr>
      <p:grpSpPr>
        <a:xfrm>
          <a:off x="0" y="0"/>
          <a:ext cx="0" cy="0"/>
          <a:chOff x="0" y="0"/>
          <a:chExt cx="0" cy="0"/>
        </a:xfrm>
      </p:grpSpPr>
      <p:sp>
        <p:nvSpPr>
          <p:cNvPr id="2" name="Shape 0"/>
          <p:cNvSpPr/>
          <p:nvPr/>
        </p:nvSpPr>
        <p:spPr>
          <a:xfrm>
            <a:off x="0" y="0"/>
            <a:ext cx="12191695" cy="640080"/>
          </a:xfrm>
          <a:prstGeom prst="rect">
            <a:avLst/>
          </a:prstGeom>
          <a:solidFill>
            <a:srgbClr val="13386B"/>
          </a:solidFill>
          <a:ln w="12700">
            <a:solidFill>
              <a:srgbClr val="13386B"/>
            </a:solidFill>
            <a:prstDash val="solid"/>
          </a:ln>
        </p:spPr>
      </p:sp>
      <p:sp>
        <p:nvSpPr>
          <p:cNvPr id="3" name="Shape 1"/>
          <p:cNvSpPr/>
          <p:nvPr/>
        </p:nvSpPr>
        <p:spPr>
          <a:xfrm>
            <a:off x="0" y="640080"/>
            <a:ext cx="12191695" cy="68580"/>
          </a:xfrm>
          <a:prstGeom prst="rect">
            <a:avLst/>
          </a:prstGeom>
          <a:solidFill>
            <a:srgbClr val="F5A11A"/>
          </a:solidFill>
          <a:ln w="12700">
            <a:solidFill>
              <a:srgbClr val="F5A11A"/>
            </a:solidFill>
            <a:prstDash val="solid"/>
          </a:ln>
        </p:spPr>
      </p:sp>
      <p:sp>
        <p:nvSpPr>
          <p:cNvPr id="4" name="Text 2"/>
          <p:cNvSpPr/>
          <p:nvPr/>
        </p:nvSpPr>
        <p:spPr>
          <a:xfrm>
            <a:off x="411480" y="155448"/>
            <a:ext cx="7818120" cy="320040"/>
          </a:xfrm>
          <a:prstGeom prst="rect">
            <a:avLst/>
          </a:prstGeom>
          <a:noFill/>
          <a:ln/>
        </p:spPr>
        <p:txBody>
          <a:bodyPr wrap="square" lIns="0" tIns="0" rIns="0" bIns="0" rtlCol="0" anchor="ctr"/>
          <a:lstStyle/>
          <a:p>
            <a:pPr indent="0" marL="0">
              <a:buNone/>
            </a:pPr>
            <a:r>
              <a:rPr lang="en-US" sz="2200" b="1" dirty="0">
                <a:solidFill>
                  <a:srgbClr val="FFFFFF"/>
                </a:solidFill>
                <a:latin typeface="Aptos Display" pitchFamily="34" charset="0"/>
                <a:ea typeface="Aptos Display" pitchFamily="34" charset="-122"/>
                <a:cs typeface="Aptos Display" pitchFamily="34" charset="-120"/>
              </a:rPr>
              <a:t>Depth-Limited Search and Iterative Deepening</a:t>
            </a:r>
            <a:endParaRPr lang="en-US" sz="2200" dirty="0"/>
          </a:p>
        </p:txBody>
      </p:sp>
      <p:sp>
        <p:nvSpPr>
          <p:cNvPr id="5" name="Text 3"/>
          <p:cNvSpPr/>
          <p:nvPr/>
        </p:nvSpPr>
        <p:spPr>
          <a:xfrm>
            <a:off x="9253728" y="210312"/>
            <a:ext cx="2487168" cy="256032"/>
          </a:xfrm>
          <a:prstGeom prst="rect">
            <a:avLst/>
          </a:prstGeom>
          <a:noFill/>
          <a:ln/>
        </p:spPr>
        <p:txBody>
          <a:bodyPr wrap="square" lIns="0" tIns="0" rIns="0" bIns="0" rtlCol="0" anchor="ctr"/>
          <a:lstStyle/>
          <a:p>
            <a:pPr algn="r" indent="0" marL="0">
              <a:buNone/>
            </a:pPr>
            <a:r>
              <a:rPr lang="en-US" sz="850" dirty="0">
                <a:solidFill>
                  <a:srgbClr val="D9E5F2"/>
                </a:solidFill>
              </a:rPr>
              <a:t>COMP 469 · Chapter 3 · Sections 3.1–3.4</a:t>
            </a:r>
            <a:endParaRPr lang="en-US" sz="850" dirty="0"/>
          </a:p>
        </p:txBody>
      </p:sp>
      <p:sp>
        <p:nvSpPr>
          <p:cNvPr id="6" name="Shape 4"/>
          <p:cNvSpPr/>
          <p:nvPr/>
        </p:nvSpPr>
        <p:spPr>
          <a:xfrm>
            <a:off x="731520" y="1005840"/>
            <a:ext cx="5029200" cy="1325880"/>
          </a:xfrm>
          <a:prstGeom prst="roundRect">
            <a:avLst>
              <a:gd name="adj" fmla="val 4138"/>
            </a:avLst>
          </a:prstGeom>
          <a:solidFill>
            <a:srgbClr val="FFFFFF"/>
          </a:solidFill>
          <a:ln w="12700">
            <a:solidFill>
              <a:srgbClr val="D5DCE8"/>
            </a:solidFill>
            <a:prstDash val="solid"/>
          </a:ln>
        </p:spPr>
      </p:sp>
      <p:sp>
        <p:nvSpPr>
          <p:cNvPr id="7" name="Text 5"/>
          <p:cNvSpPr/>
          <p:nvPr/>
        </p:nvSpPr>
        <p:spPr>
          <a:xfrm>
            <a:off x="896112" y="1170432"/>
            <a:ext cx="4700016" cy="310896"/>
          </a:xfrm>
          <a:prstGeom prst="rect">
            <a:avLst/>
          </a:prstGeom>
          <a:noFill/>
          <a:ln/>
        </p:spPr>
        <p:txBody>
          <a:bodyPr wrap="square" lIns="762" tIns="762" rIns="762" bIns="762" rtlCol="0" anchor="t">
            <a:normAutofit/>
          </a:bodyPr>
          <a:lstStyle/>
          <a:p>
            <a:pPr algn="l" indent="0" marL="0">
              <a:buNone/>
            </a:pPr>
            <a:r>
              <a:rPr lang="en-US" sz="1400" b="1" dirty="0">
                <a:solidFill>
                  <a:srgbClr val="13386B"/>
                </a:solidFill>
                <a:latin typeface="Aptos" pitchFamily="34" charset="0"/>
                <a:ea typeface="Aptos" pitchFamily="34" charset="-122"/>
                <a:cs typeface="Aptos" pitchFamily="34" charset="-120"/>
              </a:rPr>
              <a:t>Depth-limited search</a:t>
            </a:r>
            <a:endParaRPr lang="en-US" sz="1400" dirty="0"/>
          </a:p>
        </p:txBody>
      </p:sp>
      <p:sp>
        <p:nvSpPr>
          <p:cNvPr id="8" name="Text 6"/>
          <p:cNvSpPr/>
          <p:nvPr/>
        </p:nvSpPr>
        <p:spPr>
          <a:xfrm>
            <a:off x="896112" y="1536192"/>
            <a:ext cx="4700016" cy="667512"/>
          </a:xfrm>
          <a:prstGeom prst="rect">
            <a:avLst/>
          </a:prstGeom>
          <a:noFill/>
          <a:ln/>
        </p:spPr>
        <p:txBody>
          <a:bodyPr wrap="square" lIns="762" tIns="762" rIns="762" bIns="762" rtlCol="0" anchor="t">
            <a:normAutofit/>
          </a:bodyPr>
          <a:lstStyle/>
          <a:p>
            <a:pPr algn="l" indent="0" marL="0">
              <a:buNone/>
            </a:pPr>
            <a:r>
              <a:rPr lang="en-US" sz="1250" dirty="0">
                <a:solidFill>
                  <a:srgbClr val="111827"/>
                </a:solidFill>
                <a:latin typeface="Aptos" pitchFamily="34" charset="0"/>
                <a:ea typeface="Aptos" pitchFamily="34" charset="-122"/>
                <a:cs typeface="Aptos" pitchFamily="34" charset="-120"/>
              </a:rPr>
              <a:t>Supply a depth limit ℓ and treat nodes at depth ℓ as if they have no successors.</a:t>
            </a:r>
            <a:endParaRPr lang="en-US" sz="1250" dirty="0"/>
          </a:p>
        </p:txBody>
      </p:sp>
      <p:pic>
        <p:nvPicPr>
          <p:cNvPr id="9" name="Image 0" descr="preencoded.pn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822960" y="2606040"/>
            <a:ext cx="5029200" cy="502920"/>
          </a:xfrm>
          <a:prstGeom prst="rect">
            <a:avLst/>
          </a:prstGeom>
        </p:spPr>
      </p:pic>
      <p:sp>
        <p:nvSpPr>
          <p:cNvPr id="10" name="Shape 7"/>
          <p:cNvSpPr/>
          <p:nvPr/>
        </p:nvSpPr>
        <p:spPr>
          <a:xfrm>
            <a:off x="6172200" y="1005840"/>
            <a:ext cx="5257800" cy="1325880"/>
          </a:xfrm>
          <a:prstGeom prst="roundRect">
            <a:avLst>
              <a:gd name="adj" fmla="val 4138"/>
            </a:avLst>
          </a:prstGeom>
          <a:solidFill>
            <a:srgbClr val="FFFFFF"/>
          </a:solidFill>
          <a:ln w="12700">
            <a:solidFill>
              <a:srgbClr val="D5DCE8"/>
            </a:solidFill>
            <a:prstDash val="solid"/>
          </a:ln>
        </p:spPr>
      </p:sp>
      <p:sp>
        <p:nvSpPr>
          <p:cNvPr id="11" name="Text 8"/>
          <p:cNvSpPr/>
          <p:nvPr/>
        </p:nvSpPr>
        <p:spPr>
          <a:xfrm>
            <a:off x="6336792" y="1170432"/>
            <a:ext cx="4928616" cy="310896"/>
          </a:xfrm>
          <a:prstGeom prst="rect">
            <a:avLst/>
          </a:prstGeom>
          <a:noFill/>
          <a:ln/>
        </p:spPr>
        <p:txBody>
          <a:bodyPr wrap="square" lIns="762" tIns="762" rIns="762" bIns="762" rtlCol="0" anchor="t">
            <a:normAutofit/>
          </a:bodyPr>
          <a:lstStyle/>
          <a:p>
            <a:pPr algn="l" indent="0" marL="0">
              <a:buNone/>
            </a:pPr>
            <a:r>
              <a:rPr lang="en-US" sz="1400" b="1" dirty="0">
                <a:solidFill>
                  <a:srgbClr val="1F7A3D"/>
                </a:solidFill>
                <a:latin typeface="Aptos" pitchFamily="34" charset="0"/>
                <a:ea typeface="Aptos" pitchFamily="34" charset="-122"/>
                <a:cs typeface="Aptos" pitchFamily="34" charset="-120"/>
              </a:rPr>
              <a:t>Iterative deepening search</a:t>
            </a:r>
            <a:endParaRPr lang="en-US" sz="1400" dirty="0"/>
          </a:p>
        </p:txBody>
      </p:sp>
      <p:sp>
        <p:nvSpPr>
          <p:cNvPr id="12" name="Text 9"/>
          <p:cNvSpPr/>
          <p:nvPr/>
        </p:nvSpPr>
        <p:spPr>
          <a:xfrm>
            <a:off x="6336792" y="1536192"/>
            <a:ext cx="4928616" cy="667512"/>
          </a:xfrm>
          <a:prstGeom prst="rect">
            <a:avLst/>
          </a:prstGeom>
          <a:noFill/>
          <a:ln/>
        </p:spPr>
        <p:txBody>
          <a:bodyPr wrap="square" lIns="762" tIns="762" rIns="762" bIns="762" rtlCol="0" anchor="t">
            <a:normAutofit/>
          </a:bodyPr>
          <a:lstStyle/>
          <a:p>
            <a:pPr algn="l" indent="0" marL="0">
              <a:buNone/>
            </a:pPr>
            <a:r>
              <a:rPr lang="en-US" sz="1250" dirty="0">
                <a:solidFill>
                  <a:srgbClr val="111827"/>
                </a:solidFill>
                <a:latin typeface="Aptos" pitchFamily="34" charset="0"/>
                <a:ea typeface="Aptos" pitchFamily="34" charset="-122"/>
                <a:cs typeface="Aptos" pitchFamily="34" charset="-120"/>
              </a:rPr>
              <a:t>Run depth-limited search with limits 0, 1, 2, … until a solution is found.</a:t>
            </a:r>
            <a:endParaRPr lang="en-US" sz="1250" dirty="0"/>
          </a:p>
        </p:txBody>
      </p:sp>
      <p:pic>
        <p:nvPicPr>
          <p:cNvPr id="13" name="Image 1" descr="preencoded.png">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6263640" y="2606040"/>
            <a:ext cx="5029200" cy="502920"/>
          </a:xfrm>
          <a:prstGeom prst="rect">
            <a:avLst/>
          </a:prstGeom>
        </p:spPr>
      </p:pic>
      <p:pic>
        <p:nvPicPr>
          <p:cNvPr id="14" name="Image 2" descr="/mnt/data/ch3_odt_extract/Pictures/100000000000027D000002075ABE8011.png">    </p:cNvPr>
          <p:cNvPicPr>
            <a:picLocks noChangeAspect="1"/>
          </p:cNvPicPr>
          <p:nvPr/>
        </p:nvPicPr>
        <p:blipFill>
          <a:blip r:embed="rId5"/>
          <a:stretch>
            <a:fillRect/>
          </a:stretch>
        </p:blipFill>
        <p:spPr>
          <a:xfrm>
            <a:off x="1143000" y="3657600"/>
            <a:ext cx="9875520" cy="1664208"/>
          </a:xfrm>
          <a:prstGeom prst="rect">
            <a:avLst/>
          </a:prstGeom>
        </p:spPr>
      </p:pic>
      <p:sp>
        <p:nvSpPr>
          <p:cNvPr id="15" name="Text 10"/>
          <p:cNvSpPr/>
          <p:nvPr/>
        </p:nvSpPr>
        <p:spPr>
          <a:xfrm>
            <a:off x="11475720" y="6510528"/>
            <a:ext cx="320040" cy="164592"/>
          </a:xfrm>
          <a:prstGeom prst="rect">
            <a:avLst/>
          </a:prstGeom>
          <a:noFill/>
          <a:ln/>
        </p:spPr>
        <p:txBody>
          <a:bodyPr wrap="square" lIns="0" tIns="0" rIns="0" bIns="0" rtlCol="0" anchor="ctr"/>
          <a:lstStyle/>
          <a:p>
            <a:pPr algn="r" indent="0" marL="0">
              <a:buNone/>
            </a:pPr>
            <a:r>
              <a:rPr lang="en-US" sz="800" dirty="0">
                <a:solidFill>
                  <a:srgbClr val="6B7280"/>
                </a:solidFill>
              </a:rPr>
              <a:t>31</a:t>
            </a:r>
            <a:endParaRPr lang="en-US" sz="800" dirty="0"/>
          </a:p>
        </p:txBody>
      </p:sp>
      <p:sp>
        <p:nvSpPr>
          <p:cNvPr id="16" name="Text 11"/>
          <p:cNvSpPr/>
          <p:nvPr/>
        </p:nvSpPr>
        <p:spPr>
          <a:xfrm>
            <a:off x="411480" y="6510528"/>
            <a:ext cx="3200400" cy="164592"/>
          </a:xfrm>
          <a:prstGeom prst="rect">
            <a:avLst/>
          </a:prstGeom>
          <a:noFill/>
          <a:ln/>
        </p:spPr>
        <p:txBody>
          <a:bodyPr wrap="square" lIns="0" tIns="0" rIns="0" bIns="0" rtlCol="0" anchor="ctr"/>
          <a:lstStyle/>
          <a:p>
            <a:pPr indent="0" marL="0">
              <a:buNone/>
            </a:pPr>
            <a:r>
              <a:rPr lang="en-US" sz="750" dirty="0">
                <a:solidFill>
                  <a:srgbClr val="6B7280"/>
                </a:solidFill>
              </a:rPr>
              <a:t>CSU Channel Islands · COMP 469</a:t>
            </a:r>
            <a:endParaRPr lang="en-US" sz="7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5F7FB"/>
        </a:solidFill>
      </p:bgPr>
    </p:bg>
    <p:spTree>
      <p:nvGrpSpPr>
        <p:cNvPr id="1" name=""/>
        <p:cNvGrpSpPr/>
        <p:nvPr/>
      </p:nvGrpSpPr>
      <p:grpSpPr>
        <a:xfrm>
          <a:off x="0" y="0"/>
          <a:ext cx="0" cy="0"/>
          <a:chOff x="0" y="0"/>
          <a:chExt cx="0" cy="0"/>
        </a:xfrm>
      </p:grpSpPr>
      <p:sp>
        <p:nvSpPr>
          <p:cNvPr id="2" name="Shape 0"/>
          <p:cNvSpPr/>
          <p:nvPr/>
        </p:nvSpPr>
        <p:spPr>
          <a:xfrm>
            <a:off x="0" y="0"/>
            <a:ext cx="12191695" cy="640080"/>
          </a:xfrm>
          <a:prstGeom prst="rect">
            <a:avLst/>
          </a:prstGeom>
          <a:solidFill>
            <a:srgbClr val="13386B"/>
          </a:solidFill>
          <a:ln w="12700">
            <a:solidFill>
              <a:srgbClr val="13386B"/>
            </a:solidFill>
            <a:prstDash val="solid"/>
          </a:ln>
        </p:spPr>
      </p:sp>
      <p:sp>
        <p:nvSpPr>
          <p:cNvPr id="3" name="Shape 1"/>
          <p:cNvSpPr/>
          <p:nvPr/>
        </p:nvSpPr>
        <p:spPr>
          <a:xfrm>
            <a:off x="0" y="640080"/>
            <a:ext cx="12191695" cy="68580"/>
          </a:xfrm>
          <a:prstGeom prst="rect">
            <a:avLst/>
          </a:prstGeom>
          <a:solidFill>
            <a:srgbClr val="F5A11A"/>
          </a:solidFill>
          <a:ln w="12700">
            <a:solidFill>
              <a:srgbClr val="F5A11A"/>
            </a:solidFill>
            <a:prstDash val="solid"/>
          </a:ln>
        </p:spPr>
      </p:sp>
      <p:sp>
        <p:nvSpPr>
          <p:cNvPr id="4" name="Text 2"/>
          <p:cNvSpPr/>
          <p:nvPr/>
        </p:nvSpPr>
        <p:spPr>
          <a:xfrm>
            <a:off x="411480" y="155448"/>
            <a:ext cx="7818120" cy="320040"/>
          </a:xfrm>
          <a:prstGeom prst="rect">
            <a:avLst/>
          </a:prstGeom>
          <a:noFill/>
          <a:ln/>
        </p:spPr>
        <p:txBody>
          <a:bodyPr wrap="square" lIns="0" tIns="0" rIns="0" bIns="0" rtlCol="0" anchor="ctr"/>
          <a:lstStyle/>
          <a:p>
            <a:pPr indent="0" marL="0">
              <a:buNone/>
            </a:pPr>
            <a:r>
              <a:rPr lang="en-US" sz="2200" b="1" dirty="0">
                <a:solidFill>
                  <a:srgbClr val="FFFFFF"/>
                </a:solidFill>
                <a:latin typeface="Aptos Display" pitchFamily="34" charset="0"/>
                <a:ea typeface="Aptos Display" pitchFamily="34" charset="-122"/>
                <a:cs typeface="Aptos Display" pitchFamily="34" charset="-120"/>
              </a:rPr>
              <a:t>IDS Repetition: Why It Is Usually Acceptable</a:t>
            </a:r>
            <a:endParaRPr lang="en-US" sz="2200" dirty="0"/>
          </a:p>
        </p:txBody>
      </p:sp>
      <p:sp>
        <p:nvSpPr>
          <p:cNvPr id="5" name="Text 3"/>
          <p:cNvSpPr/>
          <p:nvPr/>
        </p:nvSpPr>
        <p:spPr>
          <a:xfrm>
            <a:off x="9253728" y="210312"/>
            <a:ext cx="2487168" cy="256032"/>
          </a:xfrm>
          <a:prstGeom prst="rect">
            <a:avLst/>
          </a:prstGeom>
          <a:noFill/>
          <a:ln/>
        </p:spPr>
        <p:txBody>
          <a:bodyPr wrap="square" lIns="0" tIns="0" rIns="0" bIns="0" rtlCol="0" anchor="ctr"/>
          <a:lstStyle/>
          <a:p>
            <a:pPr algn="r" indent="0" marL="0">
              <a:buNone/>
            </a:pPr>
            <a:r>
              <a:rPr lang="en-US" sz="850" dirty="0">
                <a:solidFill>
                  <a:srgbClr val="D9E5F2"/>
                </a:solidFill>
              </a:rPr>
              <a:t>COMP 469 · Chapter 3 · Sections 3.1–3.4</a:t>
            </a:r>
            <a:endParaRPr lang="en-US" sz="850" dirty="0"/>
          </a:p>
        </p:txBody>
      </p:sp>
      <p:pic>
        <p:nvPicPr>
          <p:cNvPr id="6" name="Image 0" descr="preencoded.pn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731520" y="1097280"/>
            <a:ext cx="10698480" cy="658368"/>
          </a:xfrm>
          <a:prstGeom prst="rect">
            <a:avLst/>
          </a:prstGeom>
        </p:spPr>
      </p:pic>
      <p:pic>
        <p:nvPicPr>
          <p:cNvPr id="7" name="Image 1" descr="preencoded.png">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731520" y="2121408"/>
            <a:ext cx="10698480" cy="502920"/>
          </a:xfrm>
          <a:prstGeom prst="rect">
            <a:avLst/>
          </a:prstGeom>
        </p:spPr>
      </p:pic>
      <p:pic>
        <p:nvPicPr>
          <p:cNvPr id="8" name="Image 2" descr="preencoded.png">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731520" y="2852928"/>
            <a:ext cx="10698480" cy="502920"/>
          </a:xfrm>
          <a:prstGeom prst="rect">
            <a:avLst/>
          </a:prstGeom>
        </p:spPr>
      </p:pic>
      <p:sp>
        <p:nvSpPr>
          <p:cNvPr id="9" name="Shape 4"/>
          <p:cNvSpPr/>
          <p:nvPr/>
        </p:nvSpPr>
        <p:spPr>
          <a:xfrm>
            <a:off x="914400" y="3977640"/>
            <a:ext cx="5074920" cy="1143000"/>
          </a:xfrm>
          <a:prstGeom prst="roundRect">
            <a:avLst>
              <a:gd name="adj" fmla="val 4800"/>
            </a:avLst>
          </a:prstGeom>
          <a:solidFill>
            <a:srgbClr val="FFFFFF"/>
          </a:solidFill>
          <a:ln w="12700">
            <a:solidFill>
              <a:srgbClr val="D5DCE8"/>
            </a:solidFill>
            <a:prstDash val="solid"/>
          </a:ln>
        </p:spPr>
      </p:sp>
      <p:sp>
        <p:nvSpPr>
          <p:cNvPr id="10" name="Text 5"/>
          <p:cNvSpPr/>
          <p:nvPr/>
        </p:nvSpPr>
        <p:spPr>
          <a:xfrm>
            <a:off x="1078992" y="4142232"/>
            <a:ext cx="4745736" cy="310896"/>
          </a:xfrm>
          <a:prstGeom prst="rect">
            <a:avLst/>
          </a:prstGeom>
          <a:noFill/>
          <a:ln/>
        </p:spPr>
        <p:txBody>
          <a:bodyPr wrap="square" lIns="762" tIns="762" rIns="762" bIns="762" rtlCol="0" anchor="t">
            <a:normAutofit/>
          </a:bodyPr>
          <a:lstStyle/>
          <a:p>
            <a:pPr algn="l" indent="0" marL="0">
              <a:buNone/>
            </a:pPr>
            <a:r>
              <a:rPr lang="en-US" sz="1400" b="1" dirty="0">
                <a:solidFill>
                  <a:srgbClr val="13386B"/>
                </a:solidFill>
                <a:latin typeface="Aptos" pitchFamily="34" charset="0"/>
                <a:ea typeface="Aptos" pitchFamily="34" charset="-122"/>
                <a:cs typeface="Aptos" pitchFamily="34" charset="-120"/>
              </a:rPr>
              <a:t>Same asymptotic time</a:t>
            </a:r>
            <a:endParaRPr lang="en-US" sz="1400" dirty="0"/>
          </a:p>
        </p:txBody>
      </p:sp>
      <p:sp>
        <p:nvSpPr>
          <p:cNvPr id="11" name="Text 6"/>
          <p:cNvSpPr/>
          <p:nvPr/>
        </p:nvSpPr>
        <p:spPr>
          <a:xfrm>
            <a:off x="1078992" y="4507992"/>
            <a:ext cx="4745736" cy="484632"/>
          </a:xfrm>
          <a:prstGeom prst="rect">
            <a:avLst/>
          </a:prstGeom>
          <a:noFill/>
          <a:ln/>
        </p:spPr>
        <p:txBody>
          <a:bodyPr wrap="square" lIns="762" tIns="762" rIns="762" bIns="762" rtlCol="0" anchor="t">
            <a:normAutofit/>
          </a:bodyPr>
          <a:lstStyle/>
          <a:p>
            <a:pPr algn="l" indent="0" marL="0">
              <a:buNone/>
            </a:pPr>
            <a:r>
              <a:rPr lang="en-US" sz="1250" dirty="0">
                <a:solidFill>
                  <a:srgbClr val="111827"/>
                </a:solidFill>
                <a:latin typeface="Aptos" pitchFamily="34" charset="0"/>
                <a:ea typeface="Aptos" pitchFamily="34" charset="-122"/>
                <a:cs typeface="Aptos" pitchFamily="34" charset="-120"/>
              </a:rPr>
              <a:t>IDS remains O(b^d) because most nodes are in the deepest layer.</a:t>
            </a:r>
            <a:endParaRPr lang="en-US" sz="1250" dirty="0"/>
          </a:p>
        </p:txBody>
      </p:sp>
      <p:sp>
        <p:nvSpPr>
          <p:cNvPr id="12" name="Shape 7"/>
          <p:cNvSpPr/>
          <p:nvPr/>
        </p:nvSpPr>
        <p:spPr>
          <a:xfrm>
            <a:off x="6263640" y="3977640"/>
            <a:ext cx="5074920" cy="1143000"/>
          </a:xfrm>
          <a:prstGeom prst="roundRect">
            <a:avLst>
              <a:gd name="adj" fmla="val 4800"/>
            </a:avLst>
          </a:prstGeom>
          <a:solidFill>
            <a:srgbClr val="FFFFFF"/>
          </a:solidFill>
          <a:ln w="12700">
            <a:solidFill>
              <a:srgbClr val="D5DCE8"/>
            </a:solidFill>
            <a:prstDash val="solid"/>
          </a:ln>
        </p:spPr>
      </p:sp>
      <p:sp>
        <p:nvSpPr>
          <p:cNvPr id="13" name="Text 8"/>
          <p:cNvSpPr/>
          <p:nvPr/>
        </p:nvSpPr>
        <p:spPr>
          <a:xfrm>
            <a:off x="6428232" y="4142232"/>
            <a:ext cx="4745736" cy="310896"/>
          </a:xfrm>
          <a:prstGeom prst="rect">
            <a:avLst/>
          </a:prstGeom>
          <a:noFill/>
          <a:ln/>
        </p:spPr>
        <p:txBody>
          <a:bodyPr wrap="square" lIns="762" tIns="762" rIns="762" bIns="762" rtlCol="0" anchor="t">
            <a:normAutofit/>
          </a:bodyPr>
          <a:lstStyle/>
          <a:p>
            <a:pPr algn="l" indent="0" marL="0">
              <a:buNone/>
            </a:pPr>
            <a:r>
              <a:rPr lang="en-US" sz="1400" b="1" dirty="0">
                <a:solidFill>
                  <a:srgbClr val="1F7A3D"/>
                </a:solidFill>
                <a:latin typeface="Aptos" pitchFamily="34" charset="0"/>
                <a:ea typeface="Aptos" pitchFamily="34" charset="-122"/>
                <a:cs typeface="Aptos" pitchFamily="34" charset="-120"/>
              </a:rPr>
              <a:t>Much lower memory</a:t>
            </a:r>
            <a:endParaRPr lang="en-US" sz="1400" dirty="0"/>
          </a:p>
        </p:txBody>
      </p:sp>
      <p:sp>
        <p:nvSpPr>
          <p:cNvPr id="14" name="Text 9"/>
          <p:cNvSpPr/>
          <p:nvPr/>
        </p:nvSpPr>
        <p:spPr>
          <a:xfrm>
            <a:off x="6428232" y="4507992"/>
            <a:ext cx="4745736" cy="484632"/>
          </a:xfrm>
          <a:prstGeom prst="rect">
            <a:avLst/>
          </a:prstGeom>
          <a:noFill/>
          <a:ln/>
        </p:spPr>
        <p:txBody>
          <a:bodyPr wrap="square" lIns="762" tIns="762" rIns="762" bIns="762" rtlCol="0" anchor="t">
            <a:normAutofit/>
          </a:bodyPr>
          <a:lstStyle/>
          <a:p>
            <a:pPr algn="l" indent="0" marL="0">
              <a:buNone/>
            </a:pPr>
            <a:r>
              <a:rPr lang="en-US" sz="1250" dirty="0">
                <a:solidFill>
                  <a:srgbClr val="111827"/>
                </a:solidFill>
                <a:latin typeface="Aptos" pitchFamily="34" charset="0"/>
                <a:ea typeface="Aptos" pitchFamily="34" charset="-122"/>
                <a:cs typeface="Aptos" pitchFamily="34" charset="-120"/>
              </a:rPr>
              <a:t>IDS uses depth-first memory while avoiding the need to know d in advance.</a:t>
            </a:r>
            <a:endParaRPr lang="en-US" sz="1250" dirty="0"/>
          </a:p>
        </p:txBody>
      </p:sp>
      <p:sp>
        <p:nvSpPr>
          <p:cNvPr id="15" name="Text 10"/>
          <p:cNvSpPr/>
          <p:nvPr/>
        </p:nvSpPr>
        <p:spPr>
          <a:xfrm>
            <a:off x="11475720" y="6510528"/>
            <a:ext cx="320040" cy="164592"/>
          </a:xfrm>
          <a:prstGeom prst="rect">
            <a:avLst/>
          </a:prstGeom>
          <a:noFill/>
          <a:ln/>
        </p:spPr>
        <p:txBody>
          <a:bodyPr wrap="square" lIns="0" tIns="0" rIns="0" bIns="0" rtlCol="0" anchor="ctr"/>
          <a:lstStyle/>
          <a:p>
            <a:pPr algn="r" indent="0" marL="0">
              <a:buNone/>
            </a:pPr>
            <a:r>
              <a:rPr lang="en-US" sz="800" dirty="0">
                <a:solidFill>
                  <a:srgbClr val="6B7280"/>
                </a:solidFill>
              </a:rPr>
              <a:t>32</a:t>
            </a:r>
            <a:endParaRPr lang="en-US" sz="800" dirty="0"/>
          </a:p>
        </p:txBody>
      </p:sp>
      <p:sp>
        <p:nvSpPr>
          <p:cNvPr id="16" name="Text 11"/>
          <p:cNvSpPr/>
          <p:nvPr/>
        </p:nvSpPr>
        <p:spPr>
          <a:xfrm>
            <a:off x="411480" y="6510528"/>
            <a:ext cx="3200400" cy="164592"/>
          </a:xfrm>
          <a:prstGeom prst="rect">
            <a:avLst/>
          </a:prstGeom>
          <a:noFill/>
          <a:ln/>
        </p:spPr>
        <p:txBody>
          <a:bodyPr wrap="square" lIns="0" tIns="0" rIns="0" bIns="0" rtlCol="0" anchor="ctr"/>
          <a:lstStyle/>
          <a:p>
            <a:pPr indent="0" marL="0">
              <a:buNone/>
            </a:pPr>
            <a:r>
              <a:rPr lang="en-US" sz="750" dirty="0">
                <a:solidFill>
                  <a:srgbClr val="6B7280"/>
                </a:solidFill>
              </a:rPr>
              <a:t>CSU Channel Islands · COMP 469</a:t>
            </a:r>
            <a:endParaRPr lang="en-US" sz="7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5F7FB"/>
        </a:solidFill>
      </p:bgPr>
    </p:bg>
    <p:spTree>
      <p:nvGrpSpPr>
        <p:cNvPr id="1" name=""/>
        <p:cNvGrpSpPr/>
        <p:nvPr/>
      </p:nvGrpSpPr>
      <p:grpSpPr>
        <a:xfrm>
          <a:off x="0" y="0"/>
          <a:ext cx="0" cy="0"/>
          <a:chOff x="0" y="0"/>
          <a:chExt cx="0" cy="0"/>
        </a:xfrm>
      </p:grpSpPr>
      <p:sp>
        <p:nvSpPr>
          <p:cNvPr id="2" name="Shape 0"/>
          <p:cNvSpPr/>
          <p:nvPr/>
        </p:nvSpPr>
        <p:spPr>
          <a:xfrm>
            <a:off x="0" y="0"/>
            <a:ext cx="12191695" cy="640080"/>
          </a:xfrm>
          <a:prstGeom prst="rect">
            <a:avLst/>
          </a:prstGeom>
          <a:solidFill>
            <a:srgbClr val="13386B"/>
          </a:solidFill>
          <a:ln w="12700">
            <a:solidFill>
              <a:srgbClr val="13386B"/>
            </a:solidFill>
            <a:prstDash val="solid"/>
          </a:ln>
        </p:spPr>
      </p:sp>
      <p:sp>
        <p:nvSpPr>
          <p:cNvPr id="3" name="Shape 1"/>
          <p:cNvSpPr/>
          <p:nvPr/>
        </p:nvSpPr>
        <p:spPr>
          <a:xfrm>
            <a:off x="0" y="640080"/>
            <a:ext cx="12191695" cy="68580"/>
          </a:xfrm>
          <a:prstGeom prst="rect">
            <a:avLst/>
          </a:prstGeom>
          <a:solidFill>
            <a:srgbClr val="F5A11A"/>
          </a:solidFill>
          <a:ln w="12700">
            <a:solidFill>
              <a:srgbClr val="F5A11A"/>
            </a:solidFill>
            <a:prstDash val="solid"/>
          </a:ln>
        </p:spPr>
      </p:sp>
      <p:sp>
        <p:nvSpPr>
          <p:cNvPr id="4" name="Text 2"/>
          <p:cNvSpPr/>
          <p:nvPr/>
        </p:nvSpPr>
        <p:spPr>
          <a:xfrm>
            <a:off x="411480" y="155448"/>
            <a:ext cx="7818120" cy="320040"/>
          </a:xfrm>
          <a:prstGeom prst="rect">
            <a:avLst/>
          </a:prstGeom>
          <a:noFill/>
          <a:ln/>
        </p:spPr>
        <p:txBody>
          <a:bodyPr wrap="square" lIns="0" tIns="0" rIns="0" bIns="0" rtlCol="0" anchor="ctr"/>
          <a:lstStyle/>
          <a:p>
            <a:pPr indent="0" marL="0">
              <a:buNone/>
            </a:pPr>
            <a:r>
              <a:rPr lang="en-US" sz="2200" b="1" dirty="0">
                <a:solidFill>
                  <a:srgbClr val="FFFFFF"/>
                </a:solidFill>
                <a:latin typeface="Aptos Display" pitchFamily="34" charset="0"/>
                <a:ea typeface="Aptos Display" pitchFamily="34" charset="-122"/>
                <a:cs typeface="Aptos Display" pitchFamily="34" charset="-120"/>
              </a:rPr>
              <a:t>Bidirectional Search</a:t>
            </a:r>
            <a:endParaRPr lang="en-US" sz="2200" dirty="0"/>
          </a:p>
        </p:txBody>
      </p:sp>
      <p:sp>
        <p:nvSpPr>
          <p:cNvPr id="5" name="Text 3"/>
          <p:cNvSpPr/>
          <p:nvPr/>
        </p:nvSpPr>
        <p:spPr>
          <a:xfrm>
            <a:off x="9253728" y="210312"/>
            <a:ext cx="2487168" cy="256032"/>
          </a:xfrm>
          <a:prstGeom prst="rect">
            <a:avLst/>
          </a:prstGeom>
          <a:noFill/>
          <a:ln/>
        </p:spPr>
        <p:txBody>
          <a:bodyPr wrap="square" lIns="0" tIns="0" rIns="0" bIns="0" rtlCol="0" anchor="ctr"/>
          <a:lstStyle/>
          <a:p>
            <a:pPr algn="r" indent="0" marL="0">
              <a:buNone/>
            </a:pPr>
            <a:r>
              <a:rPr lang="en-US" sz="850" dirty="0">
                <a:solidFill>
                  <a:srgbClr val="D9E5F2"/>
                </a:solidFill>
              </a:rPr>
              <a:t>COMP 469 · Chapter 3 · Sections 3.1–3.4</a:t>
            </a:r>
            <a:endParaRPr lang="en-US" sz="850" dirty="0"/>
          </a:p>
        </p:txBody>
      </p:sp>
      <p:sp>
        <p:nvSpPr>
          <p:cNvPr id="6" name="Text 4"/>
          <p:cNvSpPr/>
          <p:nvPr/>
        </p:nvSpPr>
        <p:spPr>
          <a:xfrm>
            <a:off x="822960" y="1005840"/>
            <a:ext cx="10515600" cy="411480"/>
          </a:xfrm>
          <a:prstGeom prst="rect">
            <a:avLst/>
          </a:prstGeom>
          <a:noFill/>
          <a:ln/>
        </p:spPr>
        <p:txBody>
          <a:bodyPr wrap="square" lIns="762" tIns="762" rIns="762" bIns="762" rtlCol="0" anchor="t">
            <a:normAutofit/>
          </a:bodyPr>
          <a:lstStyle/>
          <a:p>
            <a:pPr algn="ctr" indent="0" marL="0">
              <a:buNone/>
            </a:pPr>
            <a:r>
              <a:rPr lang="en-US" sz="2000" b="1" dirty="0">
                <a:solidFill>
                  <a:srgbClr val="13386B"/>
                </a:solidFill>
                <a:latin typeface="Aptos" pitchFamily="34" charset="0"/>
                <a:ea typeface="Aptos" pitchFamily="34" charset="-122"/>
                <a:cs typeface="Aptos" pitchFamily="34" charset="-120"/>
              </a:rPr>
              <a:t>Search forward from the initial state and backward from the goal, hoping the frontiers meet.</a:t>
            </a:r>
            <a:endParaRPr lang="en-US" sz="2000" dirty="0"/>
          </a:p>
        </p:txBody>
      </p:sp>
      <p:pic>
        <p:nvPicPr>
          <p:cNvPr id="7" name="Image 0" descr="preencoded.pn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3154680" y="1828800"/>
            <a:ext cx="5943600" cy="822960"/>
          </a:xfrm>
          <a:prstGeom prst="rect">
            <a:avLst/>
          </a:prstGeom>
        </p:spPr>
      </p:pic>
      <p:sp>
        <p:nvSpPr>
          <p:cNvPr id="8" name="Shape 5"/>
          <p:cNvSpPr/>
          <p:nvPr/>
        </p:nvSpPr>
        <p:spPr>
          <a:xfrm>
            <a:off x="1097280" y="3246120"/>
            <a:ext cx="685800" cy="685800"/>
          </a:xfrm>
          <a:prstGeom prst="ellipse">
            <a:avLst/>
          </a:prstGeom>
          <a:solidFill>
            <a:srgbClr val="F5A11A"/>
          </a:solidFill>
          <a:ln w="12700">
            <a:solidFill>
              <a:srgbClr val="FFFFFF"/>
            </a:solidFill>
            <a:prstDash val="solid"/>
          </a:ln>
        </p:spPr>
      </p:sp>
      <p:sp>
        <p:nvSpPr>
          <p:cNvPr id="9" name="Text 6"/>
          <p:cNvSpPr/>
          <p:nvPr/>
        </p:nvSpPr>
        <p:spPr>
          <a:xfrm>
            <a:off x="1325880" y="3429000"/>
            <a:ext cx="182880" cy="182880"/>
          </a:xfrm>
          <a:prstGeom prst="rect">
            <a:avLst/>
          </a:prstGeom>
          <a:noFill/>
          <a:ln/>
        </p:spPr>
        <p:txBody>
          <a:bodyPr wrap="square" lIns="762" tIns="762" rIns="762" bIns="762" rtlCol="0" anchor="t">
            <a:normAutofit/>
          </a:bodyPr>
          <a:lstStyle/>
          <a:p>
            <a:pPr algn="ctr" indent="0" marL="0">
              <a:buNone/>
            </a:pPr>
            <a:r>
              <a:rPr lang="en-US" sz="1200" b="1" dirty="0">
                <a:solidFill>
                  <a:srgbClr val="FFFFFF"/>
                </a:solidFill>
                <a:latin typeface="Aptos" pitchFamily="34" charset="0"/>
                <a:ea typeface="Aptos" pitchFamily="34" charset="-122"/>
                <a:cs typeface="Aptos" pitchFamily="34" charset="-120"/>
              </a:rPr>
              <a:t>S</a:t>
            </a:r>
            <a:endParaRPr lang="en-US" sz="1200" dirty="0"/>
          </a:p>
        </p:txBody>
      </p:sp>
      <p:sp>
        <p:nvSpPr>
          <p:cNvPr id="10" name="Shape 7"/>
          <p:cNvSpPr/>
          <p:nvPr/>
        </p:nvSpPr>
        <p:spPr>
          <a:xfrm>
            <a:off x="10241280" y="3246120"/>
            <a:ext cx="685800" cy="685800"/>
          </a:xfrm>
          <a:prstGeom prst="ellipse">
            <a:avLst/>
          </a:prstGeom>
          <a:solidFill>
            <a:srgbClr val="1F7A3D"/>
          </a:solidFill>
          <a:ln w="12700">
            <a:solidFill>
              <a:srgbClr val="FFFFFF"/>
            </a:solidFill>
            <a:prstDash val="solid"/>
          </a:ln>
        </p:spPr>
      </p:sp>
      <p:sp>
        <p:nvSpPr>
          <p:cNvPr id="11" name="Text 8"/>
          <p:cNvSpPr/>
          <p:nvPr/>
        </p:nvSpPr>
        <p:spPr>
          <a:xfrm>
            <a:off x="10469880" y="3429000"/>
            <a:ext cx="182880" cy="182880"/>
          </a:xfrm>
          <a:prstGeom prst="rect">
            <a:avLst/>
          </a:prstGeom>
          <a:noFill/>
          <a:ln/>
        </p:spPr>
        <p:txBody>
          <a:bodyPr wrap="square" lIns="762" tIns="762" rIns="762" bIns="762" rtlCol="0" anchor="t">
            <a:normAutofit/>
          </a:bodyPr>
          <a:lstStyle/>
          <a:p>
            <a:pPr algn="ctr" indent="0" marL="0">
              <a:buNone/>
            </a:pPr>
            <a:r>
              <a:rPr lang="en-US" sz="1200" b="1" dirty="0">
                <a:solidFill>
                  <a:srgbClr val="FFFFFF"/>
                </a:solidFill>
                <a:latin typeface="Aptos" pitchFamily="34" charset="0"/>
                <a:ea typeface="Aptos" pitchFamily="34" charset="-122"/>
                <a:cs typeface="Aptos" pitchFamily="34" charset="-120"/>
              </a:rPr>
              <a:t>G</a:t>
            </a:r>
            <a:endParaRPr lang="en-US" sz="1200" dirty="0"/>
          </a:p>
        </p:txBody>
      </p:sp>
      <p:sp>
        <p:nvSpPr>
          <p:cNvPr id="12" name="Shape 9"/>
          <p:cNvSpPr/>
          <p:nvPr/>
        </p:nvSpPr>
        <p:spPr>
          <a:xfrm>
            <a:off x="1874520" y="3410712"/>
            <a:ext cx="411480" cy="365760"/>
          </a:xfrm>
          <a:prstGeom prst="chevron">
            <a:avLst/>
          </a:prstGeom>
          <a:solidFill>
            <a:srgbClr val="B7C8DC"/>
          </a:solidFill>
          <a:ln w="12700">
            <a:solidFill>
              <a:srgbClr val="B7C8DC"/>
            </a:solidFill>
            <a:prstDash val="solid"/>
          </a:ln>
        </p:spPr>
      </p:sp>
      <p:sp>
        <p:nvSpPr>
          <p:cNvPr id="13" name="Shape 10"/>
          <p:cNvSpPr/>
          <p:nvPr/>
        </p:nvSpPr>
        <p:spPr>
          <a:xfrm>
            <a:off x="2468880" y="3410712"/>
            <a:ext cx="411480" cy="365760"/>
          </a:xfrm>
          <a:prstGeom prst="chevron">
            <a:avLst/>
          </a:prstGeom>
          <a:solidFill>
            <a:srgbClr val="B7C8DC"/>
          </a:solidFill>
          <a:ln w="12700">
            <a:solidFill>
              <a:srgbClr val="B7C8DC"/>
            </a:solidFill>
            <a:prstDash val="solid"/>
          </a:ln>
        </p:spPr>
      </p:sp>
      <p:sp>
        <p:nvSpPr>
          <p:cNvPr id="14" name="Shape 11"/>
          <p:cNvSpPr/>
          <p:nvPr/>
        </p:nvSpPr>
        <p:spPr>
          <a:xfrm>
            <a:off x="3063240" y="3410712"/>
            <a:ext cx="411480" cy="365760"/>
          </a:xfrm>
          <a:prstGeom prst="chevron">
            <a:avLst/>
          </a:prstGeom>
          <a:solidFill>
            <a:srgbClr val="B7C8DC"/>
          </a:solidFill>
          <a:ln w="12700">
            <a:solidFill>
              <a:srgbClr val="B7C8DC"/>
            </a:solidFill>
            <a:prstDash val="solid"/>
          </a:ln>
        </p:spPr>
      </p:sp>
      <p:sp>
        <p:nvSpPr>
          <p:cNvPr id="15" name="Shape 12"/>
          <p:cNvSpPr/>
          <p:nvPr/>
        </p:nvSpPr>
        <p:spPr>
          <a:xfrm>
            <a:off x="3657600" y="3410712"/>
            <a:ext cx="411480" cy="365760"/>
          </a:xfrm>
          <a:prstGeom prst="chevron">
            <a:avLst/>
          </a:prstGeom>
          <a:solidFill>
            <a:srgbClr val="B7C8DC"/>
          </a:solidFill>
          <a:ln w="12700">
            <a:solidFill>
              <a:srgbClr val="B7C8DC"/>
            </a:solidFill>
            <a:prstDash val="solid"/>
          </a:ln>
        </p:spPr>
      </p:sp>
      <p:sp>
        <p:nvSpPr>
          <p:cNvPr id="16" name="Shape 13"/>
          <p:cNvSpPr/>
          <p:nvPr/>
        </p:nvSpPr>
        <p:spPr>
          <a:xfrm>
            <a:off x="4251960" y="3410712"/>
            <a:ext cx="411480" cy="365760"/>
          </a:xfrm>
          <a:prstGeom prst="chevron">
            <a:avLst/>
          </a:prstGeom>
          <a:solidFill>
            <a:srgbClr val="B7C8DC"/>
          </a:solidFill>
          <a:ln w="12700">
            <a:solidFill>
              <a:srgbClr val="B7C8DC"/>
            </a:solidFill>
            <a:prstDash val="solid"/>
          </a:ln>
        </p:spPr>
      </p:sp>
      <p:sp>
        <p:nvSpPr>
          <p:cNvPr id="17" name="Shape 14"/>
          <p:cNvSpPr/>
          <p:nvPr/>
        </p:nvSpPr>
        <p:spPr>
          <a:xfrm>
            <a:off x="4846320" y="3410712"/>
            <a:ext cx="411480" cy="365760"/>
          </a:xfrm>
          <a:prstGeom prst="chevron">
            <a:avLst/>
          </a:prstGeom>
          <a:solidFill>
            <a:srgbClr val="B7C8DC"/>
          </a:solidFill>
          <a:ln w="12700">
            <a:solidFill>
              <a:srgbClr val="B7C8DC"/>
            </a:solidFill>
            <a:prstDash val="solid"/>
          </a:ln>
        </p:spPr>
      </p:sp>
      <p:sp>
        <p:nvSpPr>
          <p:cNvPr id="18" name="Shape 15"/>
          <p:cNvSpPr/>
          <p:nvPr/>
        </p:nvSpPr>
        <p:spPr>
          <a:xfrm rot="10800000">
            <a:off x="9326880" y="3410712"/>
            <a:ext cx="411480" cy="365760"/>
          </a:xfrm>
          <a:prstGeom prst="chevron">
            <a:avLst/>
          </a:prstGeom>
          <a:solidFill>
            <a:srgbClr val="B7C8DC"/>
          </a:solidFill>
          <a:ln w="12700">
            <a:solidFill>
              <a:srgbClr val="B7C8DC"/>
            </a:solidFill>
            <a:prstDash val="solid"/>
          </a:ln>
        </p:spPr>
      </p:sp>
      <p:sp>
        <p:nvSpPr>
          <p:cNvPr id="19" name="Shape 16"/>
          <p:cNvSpPr/>
          <p:nvPr/>
        </p:nvSpPr>
        <p:spPr>
          <a:xfrm rot="10800000">
            <a:off x="8732520" y="3410712"/>
            <a:ext cx="411480" cy="365760"/>
          </a:xfrm>
          <a:prstGeom prst="chevron">
            <a:avLst/>
          </a:prstGeom>
          <a:solidFill>
            <a:srgbClr val="B7C8DC"/>
          </a:solidFill>
          <a:ln w="12700">
            <a:solidFill>
              <a:srgbClr val="B7C8DC"/>
            </a:solidFill>
            <a:prstDash val="solid"/>
          </a:ln>
        </p:spPr>
      </p:sp>
      <p:sp>
        <p:nvSpPr>
          <p:cNvPr id="20" name="Shape 17"/>
          <p:cNvSpPr/>
          <p:nvPr/>
        </p:nvSpPr>
        <p:spPr>
          <a:xfrm rot="10800000">
            <a:off x="8138160" y="3410712"/>
            <a:ext cx="411480" cy="365760"/>
          </a:xfrm>
          <a:prstGeom prst="chevron">
            <a:avLst/>
          </a:prstGeom>
          <a:solidFill>
            <a:srgbClr val="B7C8DC"/>
          </a:solidFill>
          <a:ln w="12700">
            <a:solidFill>
              <a:srgbClr val="B7C8DC"/>
            </a:solidFill>
            <a:prstDash val="solid"/>
          </a:ln>
        </p:spPr>
      </p:sp>
      <p:sp>
        <p:nvSpPr>
          <p:cNvPr id="21" name="Shape 18"/>
          <p:cNvSpPr/>
          <p:nvPr/>
        </p:nvSpPr>
        <p:spPr>
          <a:xfrm rot="10800000">
            <a:off x="7543800" y="3410712"/>
            <a:ext cx="411480" cy="365760"/>
          </a:xfrm>
          <a:prstGeom prst="chevron">
            <a:avLst/>
          </a:prstGeom>
          <a:solidFill>
            <a:srgbClr val="B7C8DC"/>
          </a:solidFill>
          <a:ln w="12700">
            <a:solidFill>
              <a:srgbClr val="B7C8DC"/>
            </a:solidFill>
            <a:prstDash val="solid"/>
          </a:ln>
        </p:spPr>
      </p:sp>
      <p:sp>
        <p:nvSpPr>
          <p:cNvPr id="22" name="Shape 19"/>
          <p:cNvSpPr/>
          <p:nvPr/>
        </p:nvSpPr>
        <p:spPr>
          <a:xfrm rot="10800000">
            <a:off x="6949440" y="3410712"/>
            <a:ext cx="411480" cy="365760"/>
          </a:xfrm>
          <a:prstGeom prst="chevron">
            <a:avLst/>
          </a:prstGeom>
          <a:solidFill>
            <a:srgbClr val="B7C8DC"/>
          </a:solidFill>
          <a:ln w="12700">
            <a:solidFill>
              <a:srgbClr val="B7C8DC"/>
            </a:solidFill>
            <a:prstDash val="solid"/>
          </a:ln>
        </p:spPr>
      </p:sp>
      <p:sp>
        <p:nvSpPr>
          <p:cNvPr id="23" name="Shape 20"/>
          <p:cNvSpPr/>
          <p:nvPr/>
        </p:nvSpPr>
        <p:spPr>
          <a:xfrm rot="10800000">
            <a:off x="6355080" y="3410712"/>
            <a:ext cx="411480" cy="365760"/>
          </a:xfrm>
          <a:prstGeom prst="chevron">
            <a:avLst/>
          </a:prstGeom>
          <a:solidFill>
            <a:srgbClr val="B7C8DC"/>
          </a:solidFill>
          <a:ln w="12700">
            <a:solidFill>
              <a:srgbClr val="B7C8DC"/>
            </a:solidFill>
            <a:prstDash val="solid"/>
          </a:ln>
        </p:spPr>
      </p:sp>
      <p:sp>
        <p:nvSpPr>
          <p:cNvPr id="24" name="Shape 21"/>
          <p:cNvSpPr/>
          <p:nvPr/>
        </p:nvSpPr>
        <p:spPr>
          <a:xfrm>
            <a:off x="2194560" y="4754880"/>
            <a:ext cx="7818120" cy="384048"/>
          </a:xfrm>
          <a:prstGeom prst="roundRect">
            <a:avLst>
              <a:gd name="adj" fmla="val 16667"/>
            </a:avLst>
          </a:prstGeom>
          <a:solidFill>
            <a:srgbClr val="7A2E54"/>
          </a:solidFill>
          <a:ln w="12700">
            <a:solidFill>
              <a:srgbClr val="7A2E54"/>
            </a:solidFill>
            <a:prstDash val="solid"/>
          </a:ln>
        </p:spPr>
      </p:sp>
      <p:sp>
        <p:nvSpPr>
          <p:cNvPr id="25" name="Text 22"/>
          <p:cNvSpPr/>
          <p:nvPr/>
        </p:nvSpPr>
        <p:spPr>
          <a:xfrm>
            <a:off x="2267712" y="4809744"/>
            <a:ext cx="7671816" cy="292608"/>
          </a:xfrm>
          <a:prstGeom prst="rect">
            <a:avLst/>
          </a:prstGeom>
          <a:noFill/>
          <a:ln/>
        </p:spPr>
        <p:txBody>
          <a:bodyPr wrap="square" lIns="0" tIns="0" rIns="0" bIns="0" rtlCol="0" anchor="ctr"/>
          <a:lstStyle/>
          <a:p>
            <a:pPr algn="ctr" indent="0" marL="0">
              <a:buNone/>
            </a:pPr>
            <a:r>
              <a:rPr lang="en-US" sz="1200" b="1" dirty="0">
                <a:solidFill>
                  <a:srgbClr val="FFFFFF"/>
                </a:solidFill>
              </a:rPr>
              <a:t>Challenge: backward actions and goal descriptions must be well-defined.</a:t>
            </a:r>
            <a:endParaRPr lang="en-US" sz="1200" dirty="0"/>
          </a:p>
        </p:txBody>
      </p:sp>
      <p:sp>
        <p:nvSpPr>
          <p:cNvPr id="26" name="Text 23"/>
          <p:cNvSpPr/>
          <p:nvPr/>
        </p:nvSpPr>
        <p:spPr>
          <a:xfrm>
            <a:off x="11475720" y="6510528"/>
            <a:ext cx="320040" cy="164592"/>
          </a:xfrm>
          <a:prstGeom prst="rect">
            <a:avLst/>
          </a:prstGeom>
          <a:noFill/>
          <a:ln/>
        </p:spPr>
        <p:txBody>
          <a:bodyPr wrap="square" lIns="0" tIns="0" rIns="0" bIns="0" rtlCol="0" anchor="ctr"/>
          <a:lstStyle/>
          <a:p>
            <a:pPr algn="r" indent="0" marL="0">
              <a:buNone/>
            </a:pPr>
            <a:r>
              <a:rPr lang="en-US" sz="800" dirty="0">
                <a:solidFill>
                  <a:srgbClr val="6B7280"/>
                </a:solidFill>
              </a:rPr>
              <a:t>33</a:t>
            </a:r>
            <a:endParaRPr lang="en-US" sz="800" dirty="0"/>
          </a:p>
        </p:txBody>
      </p:sp>
      <p:sp>
        <p:nvSpPr>
          <p:cNvPr id="27" name="Text 24"/>
          <p:cNvSpPr/>
          <p:nvPr/>
        </p:nvSpPr>
        <p:spPr>
          <a:xfrm>
            <a:off x="411480" y="6510528"/>
            <a:ext cx="3200400" cy="164592"/>
          </a:xfrm>
          <a:prstGeom prst="rect">
            <a:avLst/>
          </a:prstGeom>
          <a:noFill/>
          <a:ln/>
        </p:spPr>
        <p:txBody>
          <a:bodyPr wrap="square" lIns="0" tIns="0" rIns="0" bIns="0" rtlCol="0" anchor="ctr"/>
          <a:lstStyle/>
          <a:p>
            <a:pPr indent="0" marL="0">
              <a:buNone/>
            </a:pPr>
            <a:r>
              <a:rPr lang="en-US" sz="750" dirty="0">
                <a:solidFill>
                  <a:srgbClr val="6B7280"/>
                </a:solidFill>
              </a:rPr>
              <a:t>CSU Channel Islands · COMP 469</a:t>
            </a:r>
            <a:endParaRPr lang="en-US" sz="7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5F7FB"/>
        </a:solidFill>
      </p:bgPr>
    </p:bg>
    <p:spTree>
      <p:nvGrpSpPr>
        <p:cNvPr id="1" name=""/>
        <p:cNvGrpSpPr/>
        <p:nvPr/>
      </p:nvGrpSpPr>
      <p:grpSpPr>
        <a:xfrm>
          <a:off x="0" y="0"/>
          <a:ext cx="0" cy="0"/>
          <a:chOff x="0" y="0"/>
          <a:chExt cx="0" cy="0"/>
        </a:xfrm>
      </p:grpSpPr>
      <p:sp>
        <p:nvSpPr>
          <p:cNvPr id="2" name="Shape 0"/>
          <p:cNvSpPr/>
          <p:nvPr/>
        </p:nvSpPr>
        <p:spPr>
          <a:xfrm>
            <a:off x="0" y="0"/>
            <a:ext cx="12191695" cy="640080"/>
          </a:xfrm>
          <a:prstGeom prst="rect">
            <a:avLst/>
          </a:prstGeom>
          <a:solidFill>
            <a:srgbClr val="13386B"/>
          </a:solidFill>
          <a:ln w="12700">
            <a:solidFill>
              <a:srgbClr val="13386B"/>
            </a:solidFill>
            <a:prstDash val="solid"/>
          </a:ln>
        </p:spPr>
      </p:sp>
      <p:sp>
        <p:nvSpPr>
          <p:cNvPr id="3" name="Shape 1"/>
          <p:cNvSpPr/>
          <p:nvPr/>
        </p:nvSpPr>
        <p:spPr>
          <a:xfrm>
            <a:off x="0" y="640080"/>
            <a:ext cx="12191695" cy="68580"/>
          </a:xfrm>
          <a:prstGeom prst="rect">
            <a:avLst/>
          </a:prstGeom>
          <a:solidFill>
            <a:srgbClr val="F5A11A"/>
          </a:solidFill>
          <a:ln w="12700">
            <a:solidFill>
              <a:srgbClr val="F5A11A"/>
            </a:solidFill>
            <a:prstDash val="solid"/>
          </a:ln>
        </p:spPr>
      </p:sp>
      <p:sp>
        <p:nvSpPr>
          <p:cNvPr id="4" name="Text 2"/>
          <p:cNvSpPr/>
          <p:nvPr/>
        </p:nvSpPr>
        <p:spPr>
          <a:xfrm>
            <a:off x="411480" y="155448"/>
            <a:ext cx="7818120" cy="320040"/>
          </a:xfrm>
          <a:prstGeom prst="rect">
            <a:avLst/>
          </a:prstGeom>
          <a:noFill/>
          <a:ln/>
        </p:spPr>
        <p:txBody>
          <a:bodyPr wrap="square" lIns="0" tIns="0" rIns="0" bIns="0" rtlCol="0" anchor="ctr"/>
          <a:lstStyle/>
          <a:p>
            <a:pPr indent="0" marL="0">
              <a:buNone/>
            </a:pPr>
            <a:r>
              <a:rPr lang="en-US" sz="2200" b="1" dirty="0">
                <a:solidFill>
                  <a:srgbClr val="FFFFFF"/>
                </a:solidFill>
                <a:latin typeface="Aptos Display" pitchFamily="34" charset="0"/>
                <a:ea typeface="Aptos Display" pitchFamily="34" charset="-122"/>
                <a:cs typeface="Aptos Display" pitchFamily="34" charset="-120"/>
              </a:rPr>
              <a:t>Comparing Uninformed Search Algorithms</a:t>
            </a:r>
            <a:endParaRPr lang="en-US" sz="2200" dirty="0"/>
          </a:p>
        </p:txBody>
      </p:sp>
      <p:sp>
        <p:nvSpPr>
          <p:cNvPr id="5" name="Text 3"/>
          <p:cNvSpPr/>
          <p:nvPr/>
        </p:nvSpPr>
        <p:spPr>
          <a:xfrm>
            <a:off x="9253728" y="210312"/>
            <a:ext cx="2487168" cy="256032"/>
          </a:xfrm>
          <a:prstGeom prst="rect">
            <a:avLst/>
          </a:prstGeom>
          <a:noFill/>
          <a:ln/>
        </p:spPr>
        <p:txBody>
          <a:bodyPr wrap="square" lIns="0" tIns="0" rIns="0" bIns="0" rtlCol="0" anchor="ctr"/>
          <a:lstStyle/>
          <a:p>
            <a:pPr algn="r" indent="0" marL="0">
              <a:buNone/>
            </a:pPr>
            <a:r>
              <a:rPr lang="en-US" sz="850" dirty="0">
                <a:solidFill>
                  <a:srgbClr val="D9E5F2"/>
                </a:solidFill>
              </a:rPr>
              <a:t>COMP 469 · Chapter 3 · Sections 3.1–3.4</a:t>
            </a:r>
            <a:endParaRPr lang="en-US" sz="850" dirty="0"/>
          </a:p>
        </p:txBody>
      </p:sp>
      <p:pic>
        <p:nvPicPr>
          <p:cNvPr id="6" name="Image 0" descr="/mnt/data/ch3_odt_extract/Pictures/10000000000002650000013D2F910C4A.png">    </p:cNvPr>
          <p:cNvPicPr>
            <a:picLocks noChangeAspect="1"/>
          </p:cNvPicPr>
          <p:nvPr/>
        </p:nvPicPr>
        <p:blipFill>
          <a:blip r:embed="rId1"/>
          <a:stretch>
            <a:fillRect/>
          </a:stretch>
        </p:blipFill>
        <p:spPr>
          <a:xfrm>
            <a:off x="640080" y="914400"/>
            <a:ext cx="4846320" cy="2514600"/>
          </a:xfrm>
          <a:prstGeom prst="rect">
            <a:avLst/>
          </a:prstGeom>
        </p:spPr>
      </p:pic>
      <p:sp>
        <p:nvSpPr>
          <p:cNvPr id="7" name="Shape 4"/>
          <p:cNvSpPr/>
          <p:nvPr/>
        </p:nvSpPr>
        <p:spPr>
          <a:xfrm>
            <a:off x="5715000" y="868680"/>
            <a:ext cx="5989320" cy="658368"/>
          </a:xfrm>
          <a:prstGeom prst="rect">
            <a:avLst/>
          </a:prstGeom>
          <a:solidFill>
            <a:srgbClr val="13386B"/>
          </a:solidFill>
          <a:ln w="6350">
            <a:solidFill>
              <a:srgbClr val="D5DCE8"/>
            </a:solidFill>
            <a:prstDash val="solid"/>
          </a:ln>
        </p:spPr>
      </p:sp>
      <p:sp>
        <p:nvSpPr>
          <p:cNvPr id="8" name="Text 5"/>
          <p:cNvSpPr/>
          <p:nvPr/>
        </p:nvSpPr>
        <p:spPr>
          <a:xfrm>
            <a:off x="5760720" y="1042416"/>
            <a:ext cx="1417320" cy="201168"/>
          </a:xfrm>
          <a:prstGeom prst="rect">
            <a:avLst/>
          </a:prstGeom>
          <a:noFill/>
          <a:ln/>
        </p:spPr>
        <p:txBody>
          <a:bodyPr wrap="square" lIns="0" tIns="0" rIns="0" bIns="0" rtlCol="0" anchor="t">
            <a:normAutofit/>
          </a:bodyPr>
          <a:lstStyle/>
          <a:p>
            <a:pPr algn="ctr" indent="0" marL="0">
              <a:buNone/>
            </a:pPr>
            <a:r>
              <a:rPr lang="en-US" sz="1050" b="1" dirty="0">
                <a:solidFill>
                  <a:srgbClr val="FFFFFF"/>
                </a:solidFill>
                <a:latin typeface="Aptos" pitchFamily="34" charset="0"/>
                <a:ea typeface="Aptos" pitchFamily="34" charset="-122"/>
                <a:cs typeface="Aptos" pitchFamily="34" charset="-120"/>
              </a:rPr>
              <a:t>Algorithm</a:t>
            </a:r>
            <a:endParaRPr lang="en-US" sz="1050" dirty="0"/>
          </a:p>
        </p:txBody>
      </p:sp>
      <p:sp>
        <p:nvSpPr>
          <p:cNvPr id="9" name="Text 6"/>
          <p:cNvSpPr/>
          <p:nvPr/>
        </p:nvSpPr>
        <p:spPr>
          <a:xfrm>
            <a:off x="7269480" y="1042416"/>
            <a:ext cx="1143000" cy="201168"/>
          </a:xfrm>
          <a:prstGeom prst="rect">
            <a:avLst/>
          </a:prstGeom>
          <a:noFill/>
          <a:ln/>
        </p:spPr>
        <p:txBody>
          <a:bodyPr wrap="square" lIns="0" tIns="0" rIns="0" bIns="0" rtlCol="0" anchor="t">
            <a:normAutofit/>
          </a:bodyPr>
          <a:lstStyle/>
          <a:p>
            <a:pPr algn="ctr" indent="0" marL="0">
              <a:buNone/>
            </a:pPr>
            <a:r>
              <a:rPr lang="en-US" sz="1050" b="1" dirty="0">
                <a:solidFill>
                  <a:srgbClr val="FFFFFF"/>
                </a:solidFill>
                <a:latin typeface="Aptos" pitchFamily="34" charset="0"/>
                <a:ea typeface="Aptos" pitchFamily="34" charset="-122"/>
                <a:cs typeface="Aptos" pitchFamily="34" charset="-120"/>
              </a:rPr>
              <a:t>Complete?</a:t>
            </a:r>
            <a:endParaRPr lang="en-US" sz="1050" dirty="0"/>
          </a:p>
        </p:txBody>
      </p:sp>
      <p:sp>
        <p:nvSpPr>
          <p:cNvPr id="10" name="Text 7"/>
          <p:cNvSpPr/>
          <p:nvPr/>
        </p:nvSpPr>
        <p:spPr>
          <a:xfrm>
            <a:off x="8503920" y="1042416"/>
            <a:ext cx="1234440" cy="201168"/>
          </a:xfrm>
          <a:prstGeom prst="rect">
            <a:avLst/>
          </a:prstGeom>
          <a:noFill/>
          <a:ln/>
        </p:spPr>
        <p:txBody>
          <a:bodyPr wrap="square" lIns="0" tIns="0" rIns="0" bIns="0" rtlCol="0" anchor="t">
            <a:normAutofit/>
          </a:bodyPr>
          <a:lstStyle/>
          <a:p>
            <a:pPr algn="ctr" indent="0" marL="0">
              <a:buNone/>
            </a:pPr>
            <a:r>
              <a:rPr lang="en-US" sz="1050" b="1" dirty="0">
                <a:solidFill>
                  <a:srgbClr val="FFFFFF"/>
                </a:solidFill>
                <a:latin typeface="Aptos" pitchFamily="34" charset="0"/>
                <a:ea typeface="Aptos" pitchFamily="34" charset="-122"/>
                <a:cs typeface="Aptos" pitchFamily="34" charset="-120"/>
              </a:rPr>
              <a:t>Optimal?</a:t>
            </a:r>
            <a:endParaRPr lang="en-US" sz="1050" dirty="0"/>
          </a:p>
        </p:txBody>
      </p:sp>
      <p:sp>
        <p:nvSpPr>
          <p:cNvPr id="11" name="Text 8"/>
          <p:cNvSpPr/>
          <p:nvPr/>
        </p:nvSpPr>
        <p:spPr>
          <a:xfrm>
            <a:off x="9829800" y="1042416"/>
            <a:ext cx="1508760" cy="201168"/>
          </a:xfrm>
          <a:prstGeom prst="rect">
            <a:avLst/>
          </a:prstGeom>
          <a:noFill/>
          <a:ln/>
        </p:spPr>
        <p:txBody>
          <a:bodyPr wrap="square" lIns="0" tIns="0" rIns="0" bIns="0" rtlCol="0" anchor="t">
            <a:normAutofit/>
          </a:bodyPr>
          <a:lstStyle/>
          <a:p>
            <a:pPr algn="ctr" indent="0" marL="0">
              <a:buNone/>
            </a:pPr>
            <a:r>
              <a:rPr lang="en-US" sz="1050" b="1" dirty="0">
                <a:solidFill>
                  <a:srgbClr val="FFFFFF"/>
                </a:solidFill>
                <a:latin typeface="Aptos" pitchFamily="34" charset="0"/>
                <a:ea typeface="Aptos" pitchFamily="34" charset="-122"/>
                <a:cs typeface="Aptos" pitchFamily="34" charset="-120"/>
              </a:rPr>
              <a:t>Memory</a:t>
            </a:r>
            <a:endParaRPr lang="en-US" sz="1050" dirty="0"/>
          </a:p>
        </p:txBody>
      </p:sp>
      <p:sp>
        <p:nvSpPr>
          <p:cNvPr id="12" name="Shape 9"/>
          <p:cNvSpPr/>
          <p:nvPr/>
        </p:nvSpPr>
        <p:spPr>
          <a:xfrm>
            <a:off x="5715000" y="1527048"/>
            <a:ext cx="5989320" cy="658368"/>
          </a:xfrm>
          <a:prstGeom prst="rect">
            <a:avLst/>
          </a:prstGeom>
          <a:solidFill>
            <a:srgbClr val="FFFFFF"/>
          </a:solidFill>
          <a:ln w="6350">
            <a:solidFill>
              <a:srgbClr val="D5DCE8"/>
            </a:solidFill>
            <a:prstDash val="solid"/>
          </a:ln>
        </p:spPr>
      </p:sp>
      <p:sp>
        <p:nvSpPr>
          <p:cNvPr id="13" name="Text 10"/>
          <p:cNvSpPr/>
          <p:nvPr/>
        </p:nvSpPr>
        <p:spPr>
          <a:xfrm>
            <a:off x="5760720" y="1700784"/>
            <a:ext cx="1417320" cy="201168"/>
          </a:xfrm>
          <a:prstGeom prst="rect">
            <a:avLst/>
          </a:prstGeom>
          <a:noFill/>
          <a:ln/>
        </p:spPr>
        <p:txBody>
          <a:bodyPr wrap="square" lIns="0" tIns="0" rIns="0" bIns="0" rtlCol="0" anchor="t">
            <a:normAutofit/>
          </a:bodyPr>
          <a:lstStyle/>
          <a:p>
            <a:pPr algn="ctr" indent="0" marL="0">
              <a:buNone/>
            </a:pPr>
            <a:r>
              <a:rPr lang="en-US" sz="970" dirty="0">
                <a:solidFill>
                  <a:srgbClr val="111827"/>
                </a:solidFill>
                <a:latin typeface="Aptos" pitchFamily="34" charset="0"/>
                <a:ea typeface="Aptos" pitchFamily="34" charset="-122"/>
                <a:cs typeface="Aptos" pitchFamily="34" charset="-120"/>
              </a:rPr>
              <a:t>BFS</a:t>
            </a:r>
            <a:endParaRPr lang="en-US" sz="970" dirty="0"/>
          </a:p>
        </p:txBody>
      </p:sp>
      <p:sp>
        <p:nvSpPr>
          <p:cNvPr id="14" name="Text 11"/>
          <p:cNvSpPr/>
          <p:nvPr/>
        </p:nvSpPr>
        <p:spPr>
          <a:xfrm>
            <a:off x="7269480" y="1700784"/>
            <a:ext cx="1143000" cy="201168"/>
          </a:xfrm>
          <a:prstGeom prst="rect">
            <a:avLst/>
          </a:prstGeom>
          <a:noFill/>
          <a:ln/>
        </p:spPr>
        <p:txBody>
          <a:bodyPr wrap="square" lIns="0" tIns="0" rIns="0" bIns="0" rtlCol="0" anchor="t">
            <a:normAutofit/>
          </a:bodyPr>
          <a:lstStyle/>
          <a:p>
            <a:pPr algn="ctr" indent="0" marL="0">
              <a:buNone/>
            </a:pPr>
            <a:r>
              <a:rPr lang="en-US" sz="970" dirty="0">
                <a:solidFill>
                  <a:srgbClr val="111827"/>
                </a:solidFill>
                <a:latin typeface="Aptos" pitchFamily="34" charset="0"/>
                <a:ea typeface="Aptos" pitchFamily="34" charset="-122"/>
                <a:cs typeface="Aptos" pitchFamily="34" charset="-120"/>
              </a:rPr>
              <a:t>Yes</a:t>
            </a:r>
            <a:endParaRPr lang="en-US" sz="970" dirty="0"/>
          </a:p>
        </p:txBody>
      </p:sp>
      <p:sp>
        <p:nvSpPr>
          <p:cNvPr id="15" name="Text 12"/>
          <p:cNvSpPr/>
          <p:nvPr/>
        </p:nvSpPr>
        <p:spPr>
          <a:xfrm>
            <a:off x="8503920" y="1700784"/>
            <a:ext cx="1234440" cy="201168"/>
          </a:xfrm>
          <a:prstGeom prst="rect">
            <a:avLst/>
          </a:prstGeom>
          <a:noFill/>
          <a:ln/>
        </p:spPr>
        <p:txBody>
          <a:bodyPr wrap="square" lIns="0" tIns="0" rIns="0" bIns="0" rtlCol="0" anchor="t">
            <a:normAutofit/>
          </a:bodyPr>
          <a:lstStyle/>
          <a:p>
            <a:pPr algn="ctr" indent="0" marL="0">
              <a:buNone/>
            </a:pPr>
            <a:r>
              <a:rPr lang="en-US" sz="970" dirty="0">
                <a:solidFill>
                  <a:srgbClr val="111827"/>
                </a:solidFill>
                <a:latin typeface="Aptos" pitchFamily="34" charset="0"/>
                <a:ea typeface="Aptos" pitchFamily="34" charset="-122"/>
                <a:cs typeface="Aptos" pitchFamily="34" charset="-120"/>
              </a:rPr>
              <a:t>Unit costs</a:t>
            </a:r>
            <a:endParaRPr lang="en-US" sz="970" dirty="0"/>
          </a:p>
        </p:txBody>
      </p:sp>
      <p:sp>
        <p:nvSpPr>
          <p:cNvPr id="16" name="Text 13"/>
          <p:cNvSpPr/>
          <p:nvPr/>
        </p:nvSpPr>
        <p:spPr>
          <a:xfrm>
            <a:off x="9829800" y="1700784"/>
            <a:ext cx="1508760" cy="201168"/>
          </a:xfrm>
          <a:prstGeom prst="rect">
            <a:avLst/>
          </a:prstGeom>
          <a:noFill/>
          <a:ln/>
        </p:spPr>
        <p:txBody>
          <a:bodyPr wrap="square" lIns="0" tIns="0" rIns="0" bIns="0" rtlCol="0" anchor="t">
            <a:normAutofit/>
          </a:bodyPr>
          <a:lstStyle/>
          <a:p>
            <a:pPr algn="ctr" indent="0" marL="0">
              <a:buNone/>
            </a:pPr>
            <a:r>
              <a:rPr lang="en-US" sz="970" dirty="0">
                <a:solidFill>
                  <a:srgbClr val="111827"/>
                </a:solidFill>
                <a:latin typeface="Aptos" pitchFamily="34" charset="0"/>
                <a:ea typeface="Aptos" pitchFamily="34" charset="-122"/>
                <a:cs typeface="Aptos" pitchFamily="34" charset="-120"/>
              </a:rPr>
              <a:t>O(b^d)</a:t>
            </a:r>
            <a:endParaRPr lang="en-US" sz="970" dirty="0"/>
          </a:p>
        </p:txBody>
      </p:sp>
      <p:sp>
        <p:nvSpPr>
          <p:cNvPr id="17" name="Shape 14"/>
          <p:cNvSpPr/>
          <p:nvPr/>
        </p:nvSpPr>
        <p:spPr>
          <a:xfrm>
            <a:off x="5715000" y="2185416"/>
            <a:ext cx="5989320" cy="658368"/>
          </a:xfrm>
          <a:prstGeom prst="rect">
            <a:avLst/>
          </a:prstGeom>
          <a:solidFill>
            <a:srgbClr val="EEF3FA"/>
          </a:solidFill>
          <a:ln w="6350">
            <a:solidFill>
              <a:srgbClr val="D5DCE8"/>
            </a:solidFill>
            <a:prstDash val="solid"/>
          </a:ln>
        </p:spPr>
      </p:sp>
      <p:sp>
        <p:nvSpPr>
          <p:cNvPr id="18" name="Text 15"/>
          <p:cNvSpPr/>
          <p:nvPr/>
        </p:nvSpPr>
        <p:spPr>
          <a:xfrm>
            <a:off x="5760720" y="2359152"/>
            <a:ext cx="1417320" cy="201168"/>
          </a:xfrm>
          <a:prstGeom prst="rect">
            <a:avLst/>
          </a:prstGeom>
          <a:noFill/>
          <a:ln/>
        </p:spPr>
        <p:txBody>
          <a:bodyPr wrap="square" lIns="0" tIns="0" rIns="0" bIns="0" rtlCol="0" anchor="t">
            <a:normAutofit/>
          </a:bodyPr>
          <a:lstStyle/>
          <a:p>
            <a:pPr algn="ctr" indent="0" marL="0">
              <a:buNone/>
            </a:pPr>
            <a:r>
              <a:rPr lang="en-US" sz="970" dirty="0">
                <a:solidFill>
                  <a:srgbClr val="111827"/>
                </a:solidFill>
                <a:latin typeface="Aptos" pitchFamily="34" charset="0"/>
                <a:ea typeface="Aptos" pitchFamily="34" charset="-122"/>
                <a:cs typeface="Aptos" pitchFamily="34" charset="-120"/>
              </a:rPr>
              <a:t>UCS</a:t>
            </a:r>
            <a:endParaRPr lang="en-US" sz="970" dirty="0"/>
          </a:p>
        </p:txBody>
      </p:sp>
      <p:sp>
        <p:nvSpPr>
          <p:cNvPr id="19" name="Text 16"/>
          <p:cNvSpPr/>
          <p:nvPr/>
        </p:nvSpPr>
        <p:spPr>
          <a:xfrm>
            <a:off x="7269480" y="2359152"/>
            <a:ext cx="1143000" cy="201168"/>
          </a:xfrm>
          <a:prstGeom prst="rect">
            <a:avLst/>
          </a:prstGeom>
          <a:noFill/>
          <a:ln/>
        </p:spPr>
        <p:txBody>
          <a:bodyPr wrap="square" lIns="0" tIns="0" rIns="0" bIns="0" rtlCol="0" anchor="t">
            <a:normAutofit/>
          </a:bodyPr>
          <a:lstStyle/>
          <a:p>
            <a:pPr algn="ctr" indent="0" marL="0">
              <a:buNone/>
            </a:pPr>
            <a:r>
              <a:rPr lang="en-US" sz="970" dirty="0">
                <a:solidFill>
                  <a:srgbClr val="111827"/>
                </a:solidFill>
                <a:latin typeface="Aptos" pitchFamily="34" charset="0"/>
                <a:ea typeface="Aptos" pitchFamily="34" charset="-122"/>
                <a:cs typeface="Aptos" pitchFamily="34" charset="-120"/>
              </a:rPr>
              <a:t>Yes, ε&gt;0</a:t>
            </a:r>
            <a:endParaRPr lang="en-US" sz="970" dirty="0"/>
          </a:p>
        </p:txBody>
      </p:sp>
      <p:sp>
        <p:nvSpPr>
          <p:cNvPr id="20" name="Text 17"/>
          <p:cNvSpPr/>
          <p:nvPr/>
        </p:nvSpPr>
        <p:spPr>
          <a:xfrm>
            <a:off x="8503920" y="2359152"/>
            <a:ext cx="1234440" cy="201168"/>
          </a:xfrm>
          <a:prstGeom prst="rect">
            <a:avLst/>
          </a:prstGeom>
          <a:noFill/>
          <a:ln/>
        </p:spPr>
        <p:txBody>
          <a:bodyPr wrap="square" lIns="0" tIns="0" rIns="0" bIns="0" rtlCol="0" anchor="t">
            <a:normAutofit/>
          </a:bodyPr>
          <a:lstStyle/>
          <a:p>
            <a:pPr algn="ctr" indent="0" marL="0">
              <a:buNone/>
            </a:pPr>
            <a:r>
              <a:rPr lang="en-US" sz="970" dirty="0">
                <a:solidFill>
                  <a:srgbClr val="111827"/>
                </a:solidFill>
                <a:latin typeface="Aptos" pitchFamily="34" charset="0"/>
                <a:ea typeface="Aptos" pitchFamily="34" charset="-122"/>
                <a:cs typeface="Aptos" pitchFamily="34" charset="-120"/>
              </a:rPr>
              <a:t>Yes</a:t>
            </a:r>
            <a:endParaRPr lang="en-US" sz="970" dirty="0"/>
          </a:p>
        </p:txBody>
      </p:sp>
      <p:sp>
        <p:nvSpPr>
          <p:cNvPr id="21" name="Text 18"/>
          <p:cNvSpPr/>
          <p:nvPr/>
        </p:nvSpPr>
        <p:spPr>
          <a:xfrm>
            <a:off x="9829800" y="2359152"/>
            <a:ext cx="1508760" cy="201168"/>
          </a:xfrm>
          <a:prstGeom prst="rect">
            <a:avLst/>
          </a:prstGeom>
          <a:noFill/>
          <a:ln/>
        </p:spPr>
        <p:txBody>
          <a:bodyPr wrap="square" lIns="0" tIns="0" rIns="0" bIns="0" rtlCol="0" anchor="t">
            <a:normAutofit/>
          </a:bodyPr>
          <a:lstStyle/>
          <a:p>
            <a:pPr algn="ctr" indent="0" marL="0">
              <a:buNone/>
            </a:pPr>
            <a:r>
              <a:rPr lang="en-US" sz="970" dirty="0">
                <a:solidFill>
                  <a:srgbClr val="111827"/>
                </a:solidFill>
                <a:latin typeface="Aptos" pitchFamily="34" charset="0"/>
                <a:ea typeface="Aptos" pitchFamily="34" charset="-122"/>
                <a:cs typeface="Aptos" pitchFamily="34" charset="-120"/>
              </a:rPr>
              <a:t>O(b^(1+C*/ε))</a:t>
            </a:r>
            <a:endParaRPr lang="en-US" sz="970" dirty="0"/>
          </a:p>
        </p:txBody>
      </p:sp>
      <p:sp>
        <p:nvSpPr>
          <p:cNvPr id="22" name="Shape 19"/>
          <p:cNvSpPr/>
          <p:nvPr/>
        </p:nvSpPr>
        <p:spPr>
          <a:xfrm>
            <a:off x="5715000" y="2843784"/>
            <a:ext cx="5989320" cy="658368"/>
          </a:xfrm>
          <a:prstGeom prst="rect">
            <a:avLst/>
          </a:prstGeom>
          <a:solidFill>
            <a:srgbClr val="FFFFFF"/>
          </a:solidFill>
          <a:ln w="6350">
            <a:solidFill>
              <a:srgbClr val="D5DCE8"/>
            </a:solidFill>
            <a:prstDash val="solid"/>
          </a:ln>
        </p:spPr>
      </p:sp>
      <p:sp>
        <p:nvSpPr>
          <p:cNvPr id="23" name="Text 20"/>
          <p:cNvSpPr/>
          <p:nvPr/>
        </p:nvSpPr>
        <p:spPr>
          <a:xfrm>
            <a:off x="5760720" y="3017520"/>
            <a:ext cx="1417320" cy="201168"/>
          </a:xfrm>
          <a:prstGeom prst="rect">
            <a:avLst/>
          </a:prstGeom>
          <a:noFill/>
          <a:ln/>
        </p:spPr>
        <p:txBody>
          <a:bodyPr wrap="square" lIns="0" tIns="0" rIns="0" bIns="0" rtlCol="0" anchor="t">
            <a:normAutofit/>
          </a:bodyPr>
          <a:lstStyle/>
          <a:p>
            <a:pPr algn="ctr" indent="0" marL="0">
              <a:buNone/>
            </a:pPr>
            <a:r>
              <a:rPr lang="en-US" sz="970" dirty="0">
                <a:solidFill>
                  <a:srgbClr val="111827"/>
                </a:solidFill>
                <a:latin typeface="Aptos" pitchFamily="34" charset="0"/>
                <a:ea typeface="Aptos" pitchFamily="34" charset="-122"/>
                <a:cs typeface="Aptos" pitchFamily="34" charset="-120"/>
              </a:rPr>
              <a:t>DFS</a:t>
            </a:r>
            <a:endParaRPr lang="en-US" sz="970" dirty="0"/>
          </a:p>
        </p:txBody>
      </p:sp>
      <p:sp>
        <p:nvSpPr>
          <p:cNvPr id="24" name="Text 21"/>
          <p:cNvSpPr/>
          <p:nvPr/>
        </p:nvSpPr>
        <p:spPr>
          <a:xfrm>
            <a:off x="7269480" y="3017520"/>
            <a:ext cx="1143000" cy="201168"/>
          </a:xfrm>
          <a:prstGeom prst="rect">
            <a:avLst/>
          </a:prstGeom>
          <a:noFill/>
          <a:ln/>
        </p:spPr>
        <p:txBody>
          <a:bodyPr wrap="square" lIns="0" tIns="0" rIns="0" bIns="0" rtlCol="0" anchor="t">
            <a:normAutofit/>
          </a:bodyPr>
          <a:lstStyle/>
          <a:p>
            <a:pPr algn="ctr" indent="0" marL="0">
              <a:buNone/>
            </a:pPr>
            <a:r>
              <a:rPr lang="en-US" sz="970" dirty="0">
                <a:solidFill>
                  <a:srgbClr val="111827"/>
                </a:solidFill>
                <a:latin typeface="Aptos" pitchFamily="34" charset="0"/>
                <a:ea typeface="Aptos" pitchFamily="34" charset="-122"/>
                <a:cs typeface="Aptos" pitchFamily="34" charset="-120"/>
              </a:rPr>
              <a:t>No in infinite/cyclic</a:t>
            </a:r>
            <a:endParaRPr lang="en-US" sz="970" dirty="0"/>
          </a:p>
        </p:txBody>
      </p:sp>
      <p:sp>
        <p:nvSpPr>
          <p:cNvPr id="25" name="Text 22"/>
          <p:cNvSpPr/>
          <p:nvPr/>
        </p:nvSpPr>
        <p:spPr>
          <a:xfrm>
            <a:off x="8503920" y="3017520"/>
            <a:ext cx="1234440" cy="201168"/>
          </a:xfrm>
          <a:prstGeom prst="rect">
            <a:avLst/>
          </a:prstGeom>
          <a:noFill/>
          <a:ln/>
        </p:spPr>
        <p:txBody>
          <a:bodyPr wrap="square" lIns="0" tIns="0" rIns="0" bIns="0" rtlCol="0" anchor="t">
            <a:normAutofit/>
          </a:bodyPr>
          <a:lstStyle/>
          <a:p>
            <a:pPr algn="ctr" indent="0" marL="0">
              <a:buNone/>
            </a:pPr>
            <a:r>
              <a:rPr lang="en-US" sz="970" dirty="0">
                <a:solidFill>
                  <a:srgbClr val="111827"/>
                </a:solidFill>
                <a:latin typeface="Aptos" pitchFamily="34" charset="0"/>
                <a:ea typeface="Aptos" pitchFamily="34" charset="-122"/>
                <a:cs typeface="Aptos" pitchFamily="34" charset="-120"/>
              </a:rPr>
              <a:t>No</a:t>
            </a:r>
            <a:endParaRPr lang="en-US" sz="970" dirty="0"/>
          </a:p>
        </p:txBody>
      </p:sp>
      <p:sp>
        <p:nvSpPr>
          <p:cNvPr id="26" name="Text 23"/>
          <p:cNvSpPr/>
          <p:nvPr/>
        </p:nvSpPr>
        <p:spPr>
          <a:xfrm>
            <a:off x="9829800" y="3017520"/>
            <a:ext cx="1508760" cy="201168"/>
          </a:xfrm>
          <a:prstGeom prst="rect">
            <a:avLst/>
          </a:prstGeom>
          <a:noFill/>
          <a:ln/>
        </p:spPr>
        <p:txBody>
          <a:bodyPr wrap="square" lIns="0" tIns="0" rIns="0" bIns="0" rtlCol="0" anchor="t">
            <a:normAutofit/>
          </a:bodyPr>
          <a:lstStyle/>
          <a:p>
            <a:pPr algn="ctr" indent="0" marL="0">
              <a:buNone/>
            </a:pPr>
            <a:r>
              <a:rPr lang="en-US" sz="970" dirty="0">
                <a:solidFill>
                  <a:srgbClr val="111827"/>
                </a:solidFill>
                <a:latin typeface="Aptos" pitchFamily="34" charset="0"/>
                <a:ea typeface="Aptos" pitchFamily="34" charset="-122"/>
                <a:cs typeface="Aptos" pitchFamily="34" charset="-120"/>
              </a:rPr>
              <a:t>O(bm)</a:t>
            </a:r>
            <a:endParaRPr lang="en-US" sz="970" dirty="0"/>
          </a:p>
        </p:txBody>
      </p:sp>
      <p:sp>
        <p:nvSpPr>
          <p:cNvPr id="27" name="Shape 24"/>
          <p:cNvSpPr/>
          <p:nvPr/>
        </p:nvSpPr>
        <p:spPr>
          <a:xfrm>
            <a:off x="5715000" y="3502152"/>
            <a:ext cx="5989320" cy="658368"/>
          </a:xfrm>
          <a:prstGeom prst="rect">
            <a:avLst/>
          </a:prstGeom>
          <a:solidFill>
            <a:srgbClr val="EEF3FA"/>
          </a:solidFill>
          <a:ln w="6350">
            <a:solidFill>
              <a:srgbClr val="D5DCE8"/>
            </a:solidFill>
            <a:prstDash val="solid"/>
          </a:ln>
        </p:spPr>
      </p:sp>
      <p:sp>
        <p:nvSpPr>
          <p:cNvPr id="28" name="Text 25"/>
          <p:cNvSpPr/>
          <p:nvPr/>
        </p:nvSpPr>
        <p:spPr>
          <a:xfrm>
            <a:off x="5760720" y="3675888"/>
            <a:ext cx="1417320" cy="201168"/>
          </a:xfrm>
          <a:prstGeom prst="rect">
            <a:avLst/>
          </a:prstGeom>
          <a:noFill/>
          <a:ln/>
        </p:spPr>
        <p:txBody>
          <a:bodyPr wrap="square" lIns="0" tIns="0" rIns="0" bIns="0" rtlCol="0" anchor="t">
            <a:normAutofit/>
          </a:bodyPr>
          <a:lstStyle/>
          <a:p>
            <a:pPr algn="ctr" indent="0" marL="0">
              <a:buNone/>
            </a:pPr>
            <a:r>
              <a:rPr lang="en-US" sz="970" dirty="0">
                <a:solidFill>
                  <a:srgbClr val="111827"/>
                </a:solidFill>
                <a:latin typeface="Aptos" pitchFamily="34" charset="0"/>
                <a:ea typeface="Aptos" pitchFamily="34" charset="-122"/>
                <a:cs typeface="Aptos" pitchFamily="34" charset="-120"/>
              </a:rPr>
              <a:t>DLS</a:t>
            </a:r>
            <a:endParaRPr lang="en-US" sz="970" dirty="0"/>
          </a:p>
        </p:txBody>
      </p:sp>
      <p:sp>
        <p:nvSpPr>
          <p:cNvPr id="29" name="Text 26"/>
          <p:cNvSpPr/>
          <p:nvPr/>
        </p:nvSpPr>
        <p:spPr>
          <a:xfrm>
            <a:off x="7269480" y="3675888"/>
            <a:ext cx="1143000" cy="201168"/>
          </a:xfrm>
          <a:prstGeom prst="rect">
            <a:avLst/>
          </a:prstGeom>
          <a:noFill/>
          <a:ln/>
        </p:spPr>
        <p:txBody>
          <a:bodyPr wrap="square" lIns="0" tIns="0" rIns="0" bIns="0" rtlCol="0" anchor="t">
            <a:normAutofit/>
          </a:bodyPr>
          <a:lstStyle/>
          <a:p>
            <a:pPr algn="ctr" indent="0" marL="0">
              <a:buNone/>
            </a:pPr>
            <a:r>
              <a:rPr lang="en-US" sz="970" dirty="0">
                <a:solidFill>
                  <a:srgbClr val="111827"/>
                </a:solidFill>
                <a:latin typeface="Aptos" pitchFamily="34" charset="0"/>
                <a:ea typeface="Aptos" pitchFamily="34" charset="-122"/>
                <a:cs typeface="Aptos" pitchFamily="34" charset="-120"/>
              </a:rPr>
              <a:t>If limit adequate</a:t>
            </a:r>
            <a:endParaRPr lang="en-US" sz="970" dirty="0"/>
          </a:p>
        </p:txBody>
      </p:sp>
      <p:sp>
        <p:nvSpPr>
          <p:cNvPr id="30" name="Text 27"/>
          <p:cNvSpPr/>
          <p:nvPr/>
        </p:nvSpPr>
        <p:spPr>
          <a:xfrm>
            <a:off x="8503920" y="3675888"/>
            <a:ext cx="1234440" cy="201168"/>
          </a:xfrm>
          <a:prstGeom prst="rect">
            <a:avLst/>
          </a:prstGeom>
          <a:noFill/>
          <a:ln/>
        </p:spPr>
        <p:txBody>
          <a:bodyPr wrap="square" lIns="0" tIns="0" rIns="0" bIns="0" rtlCol="0" anchor="t">
            <a:normAutofit/>
          </a:bodyPr>
          <a:lstStyle/>
          <a:p>
            <a:pPr algn="ctr" indent="0" marL="0">
              <a:buNone/>
            </a:pPr>
            <a:r>
              <a:rPr lang="en-US" sz="970" dirty="0">
                <a:solidFill>
                  <a:srgbClr val="111827"/>
                </a:solidFill>
                <a:latin typeface="Aptos" pitchFamily="34" charset="0"/>
                <a:ea typeface="Aptos" pitchFamily="34" charset="-122"/>
                <a:cs typeface="Aptos" pitchFamily="34" charset="-120"/>
              </a:rPr>
              <a:t>No</a:t>
            </a:r>
            <a:endParaRPr lang="en-US" sz="970" dirty="0"/>
          </a:p>
        </p:txBody>
      </p:sp>
      <p:sp>
        <p:nvSpPr>
          <p:cNvPr id="31" name="Text 28"/>
          <p:cNvSpPr/>
          <p:nvPr/>
        </p:nvSpPr>
        <p:spPr>
          <a:xfrm>
            <a:off x="9829800" y="3675888"/>
            <a:ext cx="1508760" cy="201168"/>
          </a:xfrm>
          <a:prstGeom prst="rect">
            <a:avLst/>
          </a:prstGeom>
          <a:noFill/>
          <a:ln/>
        </p:spPr>
        <p:txBody>
          <a:bodyPr wrap="square" lIns="0" tIns="0" rIns="0" bIns="0" rtlCol="0" anchor="t">
            <a:normAutofit/>
          </a:bodyPr>
          <a:lstStyle/>
          <a:p>
            <a:pPr algn="ctr" indent="0" marL="0">
              <a:buNone/>
            </a:pPr>
            <a:r>
              <a:rPr lang="en-US" sz="970" dirty="0">
                <a:solidFill>
                  <a:srgbClr val="111827"/>
                </a:solidFill>
                <a:latin typeface="Aptos" pitchFamily="34" charset="0"/>
                <a:ea typeface="Aptos" pitchFamily="34" charset="-122"/>
                <a:cs typeface="Aptos" pitchFamily="34" charset="-120"/>
              </a:rPr>
              <a:t>O(bℓ)</a:t>
            </a:r>
            <a:endParaRPr lang="en-US" sz="970" dirty="0"/>
          </a:p>
        </p:txBody>
      </p:sp>
      <p:sp>
        <p:nvSpPr>
          <p:cNvPr id="32" name="Shape 29"/>
          <p:cNvSpPr/>
          <p:nvPr/>
        </p:nvSpPr>
        <p:spPr>
          <a:xfrm>
            <a:off x="5715000" y="4160520"/>
            <a:ext cx="5989320" cy="658368"/>
          </a:xfrm>
          <a:prstGeom prst="rect">
            <a:avLst/>
          </a:prstGeom>
          <a:solidFill>
            <a:srgbClr val="FFFFFF"/>
          </a:solidFill>
          <a:ln w="6350">
            <a:solidFill>
              <a:srgbClr val="D5DCE8"/>
            </a:solidFill>
            <a:prstDash val="solid"/>
          </a:ln>
        </p:spPr>
      </p:sp>
      <p:sp>
        <p:nvSpPr>
          <p:cNvPr id="33" name="Text 30"/>
          <p:cNvSpPr/>
          <p:nvPr/>
        </p:nvSpPr>
        <p:spPr>
          <a:xfrm>
            <a:off x="5760720" y="4334256"/>
            <a:ext cx="1417320" cy="201168"/>
          </a:xfrm>
          <a:prstGeom prst="rect">
            <a:avLst/>
          </a:prstGeom>
          <a:noFill/>
          <a:ln/>
        </p:spPr>
        <p:txBody>
          <a:bodyPr wrap="square" lIns="0" tIns="0" rIns="0" bIns="0" rtlCol="0" anchor="t">
            <a:normAutofit/>
          </a:bodyPr>
          <a:lstStyle/>
          <a:p>
            <a:pPr algn="ctr" indent="0" marL="0">
              <a:buNone/>
            </a:pPr>
            <a:r>
              <a:rPr lang="en-US" sz="970" dirty="0">
                <a:solidFill>
                  <a:srgbClr val="111827"/>
                </a:solidFill>
                <a:latin typeface="Aptos" pitchFamily="34" charset="0"/>
                <a:ea typeface="Aptos" pitchFamily="34" charset="-122"/>
                <a:cs typeface="Aptos" pitchFamily="34" charset="-120"/>
              </a:rPr>
              <a:t>IDS</a:t>
            </a:r>
            <a:endParaRPr lang="en-US" sz="970" dirty="0"/>
          </a:p>
        </p:txBody>
      </p:sp>
      <p:sp>
        <p:nvSpPr>
          <p:cNvPr id="34" name="Text 31"/>
          <p:cNvSpPr/>
          <p:nvPr/>
        </p:nvSpPr>
        <p:spPr>
          <a:xfrm>
            <a:off x="7269480" y="4334256"/>
            <a:ext cx="1143000" cy="201168"/>
          </a:xfrm>
          <a:prstGeom prst="rect">
            <a:avLst/>
          </a:prstGeom>
          <a:noFill/>
          <a:ln/>
        </p:spPr>
        <p:txBody>
          <a:bodyPr wrap="square" lIns="0" tIns="0" rIns="0" bIns="0" rtlCol="0" anchor="t">
            <a:normAutofit/>
          </a:bodyPr>
          <a:lstStyle/>
          <a:p>
            <a:pPr algn="ctr" indent="0" marL="0">
              <a:buNone/>
            </a:pPr>
            <a:r>
              <a:rPr lang="en-US" sz="970" dirty="0">
                <a:solidFill>
                  <a:srgbClr val="111827"/>
                </a:solidFill>
                <a:latin typeface="Aptos" pitchFamily="34" charset="0"/>
                <a:ea typeface="Aptos" pitchFamily="34" charset="-122"/>
                <a:cs typeface="Aptos" pitchFamily="34" charset="-120"/>
              </a:rPr>
              <a:t>Yes in many finite cases</a:t>
            </a:r>
            <a:endParaRPr lang="en-US" sz="970" dirty="0"/>
          </a:p>
        </p:txBody>
      </p:sp>
      <p:sp>
        <p:nvSpPr>
          <p:cNvPr id="35" name="Text 32"/>
          <p:cNvSpPr/>
          <p:nvPr/>
        </p:nvSpPr>
        <p:spPr>
          <a:xfrm>
            <a:off x="8503920" y="4334256"/>
            <a:ext cx="1234440" cy="201168"/>
          </a:xfrm>
          <a:prstGeom prst="rect">
            <a:avLst/>
          </a:prstGeom>
          <a:noFill/>
          <a:ln/>
        </p:spPr>
        <p:txBody>
          <a:bodyPr wrap="square" lIns="0" tIns="0" rIns="0" bIns="0" rtlCol="0" anchor="t">
            <a:normAutofit/>
          </a:bodyPr>
          <a:lstStyle/>
          <a:p>
            <a:pPr algn="ctr" indent="0" marL="0">
              <a:buNone/>
            </a:pPr>
            <a:r>
              <a:rPr lang="en-US" sz="970" dirty="0">
                <a:solidFill>
                  <a:srgbClr val="111827"/>
                </a:solidFill>
                <a:latin typeface="Aptos" pitchFamily="34" charset="0"/>
                <a:ea typeface="Aptos" pitchFamily="34" charset="-122"/>
                <a:cs typeface="Aptos" pitchFamily="34" charset="-120"/>
              </a:rPr>
              <a:t>Unit costs</a:t>
            </a:r>
            <a:endParaRPr lang="en-US" sz="970" dirty="0"/>
          </a:p>
        </p:txBody>
      </p:sp>
      <p:sp>
        <p:nvSpPr>
          <p:cNvPr id="36" name="Text 33"/>
          <p:cNvSpPr/>
          <p:nvPr/>
        </p:nvSpPr>
        <p:spPr>
          <a:xfrm>
            <a:off x="9829800" y="4334256"/>
            <a:ext cx="1508760" cy="201168"/>
          </a:xfrm>
          <a:prstGeom prst="rect">
            <a:avLst/>
          </a:prstGeom>
          <a:noFill/>
          <a:ln/>
        </p:spPr>
        <p:txBody>
          <a:bodyPr wrap="square" lIns="0" tIns="0" rIns="0" bIns="0" rtlCol="0" anchor="t">
            <a:normAutofit/>
          </a:bodyPr>
          <a:lstStyle/>
          <a:p>
            <a:pPr algn="ctr" indent="0" marL="0">
              <a:buNone/>
            </a:pPr>
            <a:r>
              <a:rPr lang="en-US" sz="970" dirty="0">
                <a:solidFill>
                  <a:srgbClr val="111827"/>
                </a:solidFill>
                <a:latin typeface="Aptos" pitchFamily="34" charset="0"/>
                <a:ea typeface="Aptos" pitchFamily="34" charset="-122"/>
                <a:cs typeface="Aptos" pitchFamily="34" charset="-120"/>
              </a:rPr>
              <a:t>O(bd)</a:t>
            </a:r>
            <a:endParaRPr lang="en-US" sz="970" dirty="0"/>
          </a:p>
        </p:txBody>
      </p:sp>
      <p:sp>
        <p:nvSpPr>
          <p:cNvPr id="37" name="Shape 34"/>
          <p:cNvSpPr/>
          <p:nvPr/>
        </p:nvSpPr>
        <p:spPr>
          <a:xfrm>
            <a:off x="5715000" y="4818888"/>
            <a:ext cx="5989320" cy="658368"/>
          </a:xfrm>
          <a:prstGeom prst="rect">
            <a:avLst/>
          </a:prstGeom>
          <a:solidFill>
            <a:srgbClr val="EEF3FA"/>
          </a:solidFill>
          <a:ln w="6350">
            <a:solidFill>
              <a:srgbClr val="D5DCE8"/>
            </a:solidFill>
            <a:prstDash val="solid"/>
          </a:ln>
        </p:spPr>
      </p:sp>
      <p:sp>
        <p:nvSpPr>
          <p:cNvPr id="38" name="Text 35"/>
          <p:cNvSpPr/>
          <p:nvPr/>
        </p:nvSpPr>
        <p:spPr>
          <a:xfrm>
            <a:off x="5760720" y="4992624"/>
            <a:ext cx="1417320" cy="201168"/>
          </a:xfrm>
          <a:prstGeom prst="rect">
            <a:avLst/>
          </a:prstGeom>
          <a:noFill/>
          <a:ln/>
        </p:spPr>
        <p:txBody>
          <a:bodyPr wrap="square" lIns="0" tIns="0" rIns="0" bIns="0" rtlCol="0" anchor="t">
            <a:normAutofit/>
          </a:bodyPr>
          <a:lstStyle/>
          <a:p>
            <a:pPr algn="ctr" indent="0" marL="0">
              <a:buNone/>
            </a:pPr>
            <a:r>
              <a:rPr lang="en-US" sz="970" dirty="0">
                <a:solidFill>
                  <a:srgbClr val="111827"/>
                </a:solidFill>
                <a:latin typeface="Aptos" pitchFamily="34" charset="0"/>
                <a:ea typeface="Aptos" pitchFamily="34" charset="-122"/>
                <a:cs typeface="Aptos" pitchFamily="34" charset="-120"/>
              </a:rPr>
              <a:t>Bidirectional</a:t>
            </a:r>
            <a:endParaRPr lang="en-US" sz="970" dirty="0"/>
          </a:p>
        </p:txBody>
      </p:sp>
      <p:sp>
        <p:nvSpPr>
          <p:cNvPr id="39" name="Text 36"/>
          <p:cNvSpPr/>
          <p:nvPr/>
        </p:nvSpPr>
        <p:spPr>
          <a:xfrm>
            <a:off x="7269480" y="4992624"/>
            <a:ext cx="1143000" cy="201168"/>
          </a:xfrm>
          <a:prstGeom prst="rect">
            <a:avLst/>
          </a:prstGeom>
          <a:noFill/>
          <a:ln/>
        </p:spPr>
        <p:txBody>
          <a:bodyPr wrap="square" lIns="0" tIns="0" rIns="0" bIns="0" rtlCol="0" anchor="t">
            <a:normAutofit/>
          </a:bodyPr>
          <a:lstStyle/>
          <a:p>
            <a:pPr algn="ctr" indent="0" marL="0">
              <a:buNone/>
            </a:pPr>
            <a:r>
              <a:rPr lang="en-US" sz="970" dirty="0">
                <a:solidFill>
                  <a:srgbClr val="111827"/>
                </a:solidFill>
                <a:latin typeface="Aptos" pitchFamily="34" charset="0"/>
                <a:ea typeface="Aptos" pitchFamily="34" charset="-122"/>
                <a:cs typeface="Aptos" pitchFamily="34" charset="-120"/>
              </a:rPr>
              <a:t>Depends</a:t>
            </a:r>
            <a:endParaRPr lang="en-US" sz="970" dirty="0"/>
          </a:p>
        </p:txBody>
      </p:sp>
      <p:sp>
        <p:nvSpPr>
          <p:cNvPr id="40" name="Text 37"/>
          <p:cNvSpPr/>
          <p:nvPr/>
        </p:nvSpPr>
        <p:spPr>
          <a:xfrm>
            <a:off x="8503920" y="4992624"/>
            <a:ext cx="1234440" cy="201168"/>
          </a:xfrm>
          <a:prstGeom prst="rect">
            <a:avLst/>
          </a:prstGeom>
          <a:noFill/>
          <a:ln/>
        </p:spPr>
        <p:txBody>
          <a:bodyPr wrap="square" lIns="0" tIns="0" rIns="0" bIns="0" rtlCol="0" anchor="t">
            <a:normAutofit/>
          </a:bodyPr>
          <a:lstStyle/>
          <a:p>
            <a:pPr algn="ctr" indent="0" marL="0">
              <a:buNone/>
            </a:pPr>
            <a:r>
              <a:rPr lang="en-US" sz="970" dirty="0">
                <a:solidFill>
                  <a:srgbClr val="111827"/>
                </a:solidFill>
                <a:latin typeface="Aptos" pitchFamily="34" charset="0"/>
                <a:ea typeface="Aptos" pitchFamily="34" charset="-122"/>
                <a:cs typeface="Aptos" pitchFamily="34" charset="-120"/>
              </a:rPr>
              <a:t>Depends</a:t>
            </a:r>
            <a:endParaRPr lang="en-US" sz="970" dirty="0"/>
          </a:p>
        </p:txBody>
      </p:sp>
      <p:sp>
        <p:nvSpPr>
          <p:cNvPr id="41" name="Text 38"/>
          <p:cNvSpPr/>
          <p:nvPr/>
        </p:nvSpPr>
        <p:spPr>
          <a:xfrm>
            <a:off x="9829800" y="4992624"/>
            <a:ext cx="1508760" cy="201168"/>
          </a:xfrm>
          <a:prstGeom prst="rect">
            <a:avLst/>
          </a:prstGeom>
          <a:noFill/>
          <a:ln/>
        </p:spPr>
        <p:txBody>
          <a:bodyPr wrap="square" lIns="0" tIns="0" rIns="0" bIns="0" rtlCol="0" anchor="t">
            <a:normAutofit/>
          </a:bodyPr>
          <a:lstStyle/>
          <a:p>
            <a:pPr algn="ctr" indent="0" marL="0">
              <a:buNone/>
            </a:pPr>
            <a:r>
              <a:rPr lang="en-US" sz="970" dirty="0">
                <a:solidFill>
                  <a:srgbClr val="111827"/>
                </a:solidFill>
                <a:latin typeface="Aptos" pitchFamily="34" charset="0"/>
                <a:ea typeface="Aptos" pitchFamily="34" charset="-122"/>
                <a:cs typeface="Aptos" pitchFamily="34" charset="-120"/>
              </a:rPr>
              <a:t>often lower</a:t>
            </a:r>
            <a:endParaRPr lang="en-US" sz="970" dirty="0"/>
          </a:p>
        </p:txBody>
      </p:sp>
      <p:sp>
        <p:nvSpPr>
          <p:cNvPr id="42" name="Text 39"/>
          <p:cNvSpPr/>
          <p:nvPr/>
        </p:nvSpPr>
        <p:spPr>
          <a:xfrm>
            <a:off x="11475720" y="6510528"/>
            <a:ext cx="320040" cy="164592"/>
          </a:xfrm>
          <a:prstGeom prst="rect">
            <a:avLst/>
          </a:prstGeom>
          <a:noFill/>
          <a:ln/>
        </p:spPr>
        <p:txBody>
          <a:bodyPr wrap="square" lIns="0" tIns="0" rIns="0" bIns="0" rtlCol="0" anchor="ctr"/>
          <a:lstStyle/>
          <a:p>
            <a:pPr algn="r" indent="0" marL="0">
              <a:buNone/>
            </a:pPr>
            <a:r>
              <a:rPr lang="en-US" sz="800" dirty="0">
                <a:solidFill>
                  <a:srgbClr val="6B7280"/>
                </a:solidFill>
              </a:rPr>
              <a:t>34</a:t>
            </a:r>
            <a:endParaRPr lang="en-US" sz="800" dirty="0"/>
          </a:p>
        </p:txBody>
      </p:sp>
      <p:sp>
        <p:nvSpPr>
          <p:cNvPr id="43" name="Text 40"/>
          <p:cNvSpPr/>
          <p:nvPr/>
        </p:nvSpPr>
        <p:spPr>
          <a:xfrm>
            <a:off x="411480" y="6510528"/>
            <a:ext cx="3200400" cy="164592"/>
          </a:xfrm>
          <a:prstGeom prst="rect">
            <a:avLst/>
          </a:prstGeom>
          <a:noFill/>
          <a:ln/>
        </p:spPr>
        <p:txBody>
          <a:bodyPr wrap="square" lIns="0" tIns="0" rIns="0" bIns="0" rtlCol="0" anchor="ctr"/>
          <a:lstStyle/>
          <a:p>
            <a:pPr indent="0" marL="0">
              <a:buNone/>
            </a:pPr>
            <a:r>
              <a:rPr lang="en-US" sz="750" dirty="0">
                <a:solidFill>
                  <a:srgbClr val="6B7280"/>
                </a:solidFill>
              </a:rPr>
              <a:t>CSU Channel Islands · COMP 469</a:t>
            </a:r>
            <a:endParaRPr lang="en-US" sz="7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5F7FB"/>
        </a:solidFill>
      </p:bgPr>
    </p:bg>
    <p:spTree>
      <p:nvGrpSpPr>
        <p:cNvPr id="1" name=""/>
        <p:cNvGrpSpPr/>
        <p:nvPr/>
      </p:nvGrpSpPr>
      <p:grpSpPr>
        <a:xfrm>
          <a:off x="0" y="0"/>
          <a:ext cx="0" cy="0"/>
          <a:chOff x="0" y="0"/>
          <a:chExt cx="0" cy="0"/>
        </a:xfrm>
      </p:grpSpPr>
      <p:sp>
        <p:nvSpPr>
          <p:cNvPr id="2" name="Shape 0"/>
          <p:cNvSpPr/>
          <p:nvPr/>
        </p:nvSpPr>
        <p:spPr>
          <a:xfrm>
            <a:off x="0" y="0"/>
            <a:ext cx="12191695" cy="640080"/>
          </a:xfrm>
          <a:prstGeom prst="rect">
            <a:avLst/>
          </a:prstGeom>
          <a:solidFill>
            <a:srgbClr val="13386B"/>
          </a:solidFill>
          <a:ln w="12700">
            <a:solidFill>
              <a:srgbClr val="13386B"/>
            </a:solidFill>
            <a:prstDash val="solid"/>
          </a:ln>
        </p:spPr>
      </p:sp>
      <p:sp>
        <p:nvSpPr>
          <p:cNvPr id="3" name="Shape 1"/>
          <p:cNvSpPr/>
          <p:nvPr/>
        </p:nvSpPr>
        <p:spPr>
          <a:xfrm>
            <a:off x="0" y="640080"/>
            <a:ext cx="12191695" cy="68580"/>
          </a:xfrm>
          <a:prstGeom prst="rect">
            <a:avLst/>
          </a:prstGeom>
          <a:solidFill>
            <a:srgbClr val="F5A11A"/>
          </a:solidFill>
          <a:ln w="12700">
            <a:solidFill>
              <a:srgbClr val="F5A11A"/>
            </a:solidFill>
            <a:prstDash val="solid"/>
          </a:ln>
        </p:spPr>
      </p:sp>
      <p:sp>
        <p:nvSpPr>
          <p:cNvPr id="4" name="Text 2"/>
          <p:cNvSpPr/>
          <p:nvPr/>
        </p:nvSpPr>
        <p:spPr>
          <a:xfrm>
            <a:off x="411480" y="155448"/>
            <a:ext cx="7818120" cy="320040"/>
          </a:xfrm>
          <a:prstGeom prst="rect">
            <a:avLst/>
          </a:prstGeom>
          <a:noFill/>
          <a:ln/>
        </p:spPr>
        <p:txBody>
          <a:bodyPr wrap="square" lIns="0" tIns="0" rIns="0" bIns="0" rtlCol="0" anchor="ctr"/>
          <a:lstStyle/>
          <a:p>
            <a:pPr indent="0" marL="0">
              <a:buNone/>
            </a:pPr>
            <a:r>
              <a:rPr lang="en-US" sz="2200" b="1" dirty="0">
                <a:solidFill>
                  <a:srgbClr val="FFFFFF"/>
                </a:solidFill>
                <a:latin typeface="Aptos Display" pitchFamily="34" charset="0"/>
                <a:ea typeface="Aptos Display" pitchFamily="34" charset="-122"/>
                <a:cs typeface="Aptos Display" pitchFamily="34" charset="-120"/>
              </a:rPr>
              <a:t>Class Demonstration: One Search Engine, Different Queues</a:t>
            </a:r>
            <a:endParaRPr lang="en-US" sz="2200" dirty="0"/>
          </a:p>
        </p:txBody>
      </p:sp>
      <p:sp>
        <p:nvSpPr>
          <p:cNvPr id="5" name="Text 3"/>
          <p:cNvSpPr/>
          <p:nvPr/>
        </p:nvSpPr>
        <p:spPr>
          <a:xfrm>
            <a:off x="9253728" y="210312"/>
            <a:ext cx="2487168" cy="256032"/>
          </a:xfrm>
          <a:prstGeom prst="rect">
            <a:avLst/>
          </a:prstGeom>
          <a:noFill/>
          <a:ln/>
        </p:spPr>
        <p:txBody>
          <a:bodyPr wrap="square" lIns="0" tIns="0" rIns="0" bIns="0" rtlCol="0" anchor="ctr"/>
          <a:lstStyle/>
          <a:p>
            <a:pPr algn="r" indent="0" marL="0">
              <a:buNone/>
            </a:pPr>
            <a:r>
              <a:rPr lang="en-US" sz="850" dirty="0">
                <a:solidFill>
                  <a:srgbClr val="D9E5F2"/>
                </a:solidFill>
              </a:rPr>
              <a:t>COMP 469 · Chapter 3 · Sections 3.1–3.4</a:t>
            </a:r>
            <a:endParaRPr lang="en-US" sz="850" dirty="0"/>
          </a:p>
        </p:txBody>
      </p:sp>
      <p:sp>
        <p:nvSpPr>
          <p:cNvPr id="6" name="Shape 4"/>
          <p:cNvSpPr/>
          <p:nvPr/>
        </p:nvSpPr>
        <p:spPr>
          <a:xfrm>
            <a:off x="731520" y="1051560"/>
            <a:ext cx="3337560" cy="1188720"/>
          </a:xfrm>
          <a:prstGeom prst="roundRect">
            <a:avLst>
              <a:gd name="adj" fmla="val 4615"/>
            </a:avLst>
          </a:prstGeom>
          <a:solidFill>
            <a:srgbClr val="FFFFFF"/>
          </a:solidFill>
          <a:ln w="12700">
            <a:solidFill>
              <a:srgbClr val="D5DCE8"/>
            </a:solidFill>
            <a:prstDash val="solid"/>
          </a:ln>
        </p:spPr>
      </p:sp>
      <p:sp>
        <p:nvSpPr>
          <p:cNvPr id="7" name="Text 5"/>
          <p:cNvSpPr/>
          <p:nvPr/>
        </p:nvSpPr>
        <p:spPr>
          <a:xfrm>
            <a:off x="896112" y="1216152"/>
            <a:ext cx="3008376" cy="310896"/>
          </a:xfrm>
          <a:prstGeom prst="rect">
            <a:avLst/>
          </a:prstGeom>
          <a:noFill/>
          <a:ln/>
        </p:spPr>
        <p:txBody>
          <a:bodyPr wrap="square" lIns="762" tIns="762" rIns="762" bIns="762" rtlCol="0" anchor="t">
            <a:normAutofit/>
          </a:bodyPr>
          <a:lstStyle/>
          <a:p>
            <a:pPr algn="l" indent="0" marL="0">
              <a:buNone/>
            </a:pPr>
            <a:r>
              <a:rPr lang="en-US" sz="1400" b="1" dirty="0">
                <a:solidFill>
                  <a:srgbClr val="13386B"/>
                </a:solidFill>
                <a:latin typeface="Aptos" pitchFamily="34" charset="0"/>
                <a:ea typeface="Aptos" pitchFamily="34" charset="-122"/>
                <a:cs typeface="Aptos" pitchFamily="34" charset="-120"/>
              </a:rPr>
              <a:t>Use the same problem</a:t>
            </a:r>
            <a:endParaRPr lang="en-US" sz="1400" dirty="0"/>
          </a:p>
        </p:txBody>
      </p:sp>
      <p:sp>
        <p:nvSpPr>
          <p:cNvPr id="8" name="Text 6"/>
          <p:cNvSpPr/>
          <p:nvPr/>
        </p:nvSpPr>
        <p:spPr>
          <a:xfrm>
            <a:off x="896112" y="1581912"/>
            <a:ext cx="3008376" cy="530352"/>
          </a:xfrm>
          <a:prstGeom prst="rect">
            <a:avLst/>
          </a:prstGeom>
          <a:noFill/>
          <a:ln/>
        </p:spPr>
        <p:txBody>
          <a:bodyPr wrap="square" lIns="762" tIns="762" rIns="762" bIns="762" rtlCol="0" anchor="t">
            <a:normAutofit/>
          </a:bodyPr>
          <a:lstStyle/>
          <a:p>
            <a:pPr algn="l" indent="0" marL="0">
              <a:buNone/>
            </a:pPr>
            <a:r>
              <a:rPr lang="en-US" sz="1250" dirty="0">
                <a:solidFill>
                  <a:srgbClr val="111827"/>
                </a:solidFill>
                <a:latin typeface="Aptos" pitchFamily="34" charset="0"/>
                <a:ea typeface="Aptos" pitchFamily="34" charset="-122"/>
                <a:cs typeface="Aptos" pitchFamily="34" charset="-120"/>
              </a:rPr>
              <a:t>Small Romania route or grid world. Keep states, actions, results, and costs fixed.</a:t>
            </a:r>
            <a:endParaRPr lang="en-US" sz="1250" dirty="0"/>
          </a:p>
        </p:txBody>
      </p:sp>
      <p:sp>
        <p:nvSpPr>
          <p:cNvPr id="9" name="Shape 7"/>
          <p:cNvSpPr/>
          <p:nvPr/>
        </p:nvSpPr>
        <p:spPr>
          <a:xfrm>
            <a:off x="4434840" y="1051560"/>
            <a:ext cx="3337560" cy="1188720"/>
          </a:xfrm>
          <a:prstGeom prst="roundRect">
            <a:avLst>
              <a:gd name="adj" fmla="val 4615"/>
            </a:avLst>
          </a:prstGeom>
          <a:solidFill>
            <a:srgbClr val="FFFFFF"/>
          </a:solidFill>
          <a:ln w="12700">
            <a:solidFill>
              <a:srgbClr val="D5DCE8"/>
            </a:solidFill>
            <a:prstDash val="solid"/>
          </a:ln>
        </p:spPr>
      </p:sp>
      <p:sp>
        <p:nvSpPr>
          <p:cNvPr id="10" name="Text 8"/>
          <p:cNvSpPr/>
          <p:nvPr/>
        </p:nvSpPr>
        <p:spPr>
          <a:xfrm>
            <a:off x="4599432" y="1216152"/>
            <a:ext cx="3008376" cy="310896"/>
          </a:xfrm>
          <a:prstGeom prst="rect">
            <a:avLst/>
          </a:prstGeom>
          <a:noFill/>
          <a:ln/>
        </p:spPr>
        <p:txBody>
          <a:bodyPr wrap="square" lIns="762" tIns="762" rIns="762" bIns="762" rtlCol="0" anchor="t">
            <a:normAutofit/>
          </a:bodyPr>
          <a:lstStyle/>
          <a:p>
            <a:pPr algn="l" indent="0" marL="0">
              <a:buNone/>
            </a:pPr>
            <a:r>
              <a:rPr lang="en-US" sz="1400" b="1" dirty="0">
                <a:solidFill>
                  <a:srgbClr val="0F8B8D"/>
                </a:solidFill>
                <a:latin typeface="Aptos" pitchFamily="34" charset="0"/>
                <a:ea typeface="Aptos" pitchFamily="34" charset="-122"/>
                <a:cs typeface="Aptos" pitchFamily="34" charset="-120"/>
              </a:rPr>
              <a:t>Change only the frontier</a:t>
            </a:r>
            <a:endParaRPr lang="en-US" sz="1400" dirty="0"/>
          </a:p>
        </p:txBody>
      </p:sp>
      <p:sp>
        <p:nvSpPr>
          <p:cNvPr id="11" name="Text 9"/>
          <p:cNvSpPr/>
          <p:nvPr/>
        </p:nvSpPr>
        <p:spPr>
          <a:xfrm>
            <a:off x="4599432" y="1581912"/>
            <a:ext cx="3008376" cy="530352"/>
          </a:xfrm>
          <a:prstGeom prst="rect">
            <a:avLst/>
          </a:prstGeom>
          <a:noFill/>
          <a:ln/>
        </p:spPr>
        <p:txBody>
          <a:bodyPr wrap="square" lIns="762" tIns="762" rIns="762" bIns="762" rtlCol="0" anchor="t">
            <a:normAutofit/>
          </a:bodyPr>
          <a:lstStyle/>
          <a:p>
            <a:pPr algn="l" indent="0" marL="0">
              <a:buNone/>
            </a:pPr>
            <a:r>
              <a:rPr lang="en-US" sz="1250" dirty="0">
                <a:solidFill>
                  <a:srgbClr val="111827"/>
                </a:solidFill>
                <a:latin typeface="Aptos" pitchFamily="34" charset="0"/>
                <a:ea typeface="Aptos" pitchFamily="34" charset="-122"/>
                <a:cs typeface="Aptos" pitchFamily="34" charset="-120"/>
              </a:rPr>
              <a:t>FIFO for BFS, priority by g(n) for UCS, LIFO for DFS.</a:t>
            </a:r>
            <a:endParaRPr lang="en-US" sz="1250" dirty="0"/>
          </a:p>
        </p:txBody>
      </p:sp>
      <p:sp>
        <p:nvSpPr>
          <p:cNvPr id="12" name="Shape 10"/>
          <p:cNvSpPr/>
          <p:nvPr/>
        </p:nvSpPr>
        <p:spPr>
          <a:xfrm>
            <a:off x="8138160" y="1051560"/>
            <a:ext cx="3337560" cy="1188720"/>
          </a:xfrm>
          <a:prstGeom prst="roundRect">
            <a:avLst>
              <a:gd name="adj" fmla="val 4615"/>
            </a:avLst>
          </a:prstGeom>
          <a:solidFill>
            <a:srgbClr val="FFFFFF"/>
          </a:solidFill>
          <a:ln w="12700">
            <a:solidFill>
              <a:srgbClr val="D5DCE8"/>
            </a:solidFill>
            <a:prstDash val="solid"/>
          </a:ln>
        </p:spPr>
      </p:sp>
      <p:sp>
        <p:nvSpPr>
          <p:cNvPr id="13" name="Text 11"/>
          <p:cNvSpPr/>
          <p:nvPr/>
        </p:nvSpPr>
        <p:spPr>
          <a:xfrm>
            <a:off x="8302752" y="1216152"/>
            <a:ext cx="3008376" cy="310896"/>
          </a:xfrm>
          <a:prstGeom prst="rect">
            <a:avLst/>
          </a:prstGeom>
          <a:noFill/>
          <a:ln/>
        </p:spPr>
        <p:txBody>
          <a:bodyPr wrap="square" lIns="762" tIns="762" rIns="762" bIns="762" rtlCol="0" anchor="t">
            <a:normAutofit/>
          </a:bodyPr>
          <a:lstStyle/>
          <a:p>
            <a:pPr algn="l" indent="0" marL="0">
              <a:buNone/>
            </a:pPr>
            <a:r>
              <a:rPr lang="en-US" sz="1400" b="1" dirty="0">
                <a:solidFill>
                  <a:srgbClr val="F5A11A"/>
                </a:solidFill>
                <a:latin typeface="Aptos" pitchFamily="34" charset="0"/>
                <a:ea typeface="Aptos" pitchFamily="34" charset="-122"/>
                <a:cs typeface="Aptos" pitchFamily="34" charset="-120"/>
              </a:rPr>
              <a:t>Observe behavior</a:t>
            </a:r>
            <a:endParaRPr lang="en-US" sz="1400" dirty="0"/>
          </a:p>
        </p:txBody>
      </p:sp>
      <p:sp>
        <p:nvSpPr>
          <p:cNvPr id="14" name="Text 12"/>
          <p:cNvSpPr/>
          <p:nvPr/>
        </p:nvSpPr>
        <p:spPr>
          <a:xfrm>
            <a:off x="8302752" y="1581912"/>
            <a:ext cx="3008376" cy="530352"/>
          </a:xfrm>
          <a:prstGeom prst="rect">
            <a:avLst/>
          </a:prstGeom>
          <a:noFill/>
          <a:ln/>
        </p:spPr>
        <p:txBody>
          <a:bodyPr wrap="square" lIns="762" tIns="762" rIns="762" bIns="762" rtlCol="0" anchor="t">
            <a:normAutofit/>
          </a:bodyPr>
          <a:lstStyle/>
          <a:p>
            <a:pPr algn="l" indent="0" marL="0">
              <a:buNone/>
            </a:pPr>
            <a:r>
              <a:rPr lang="en-US" sz="1250" dirty="0">
                <a:solidFill>
                  <a:srgbClr val="111827"/>
                </a:solidFill>
                <a:latin typeface="Aptos" pitchFamily="34" charset="0"/>
                <a:ea typeface="Aptos" pitchFamily="34" charset="-122"/>
                <a:cs typeface="Aptos" pitchFamily="34" charset="-120"/>
              </a:rPr>
              <a:t>Expansion order, memory use, first solution, and optimality change.</a:t>
            </a:r>
            <a:endParaRPr lang="en-US" sz="1250" dirty="0"/>
          </a:p>
        </p:txBody>
      </p:sp>
      <p:sp>
        <p:nvSpPr>
          <p:cNvPr id="15" name="Shape 13"/>
          <p:cNvSpPr/>
          <p:nvPr/>
        </p:nvSpPr>
        <p:spPr>
          <a:xfrm>
            <a:off x="1234440" y="2971800"/>
            <a:ext cx="9784080" cy="2286000"/>
          </a:xfrm>
          <a:prstGeom prst="roundRect">
            <a:avLst>
              <a:gd name="adj" fmla="val 2000"/>
            </a:avLst>
          </a:prstGeom>
          <a:solidFill>
            <a:srgbClr val="0F172A"/>
          </a:solidFill>
          <a:ln w="12700">
            <a:solidFill>
              <a:srgbClr val="0F172A"/>
            </a:solidFill>
            <a:prstDash val="solid"/>
          </a:ln>
        </p:spPr>
      </p:sp>
      <p:sp>
        <p:nvSpPr>
          <p:cNvPr id="16" name="Text 14"/>
          <p:cNvSpPr/>
          <p:nvPr/>
        </p:nvSpPr>
        <p:spPr>
          <a:xfrm>
            <a:off x="1508760" y="3246120"/>
            <a:ext cx="9281160" cy="1645920"/>
          </a:xfrm>
          <a:prstGeom prst="rect">
            <a:avLst/>
          </a:prstGeom>
          <a:noFill/>
          <a:ln/>
        </p:spPr>
        <p:txBody>
          <a:bodyPr wrap="square" lIns="635" tIns="635" rIns="635" bIns="635" rtlCol="0" anchor="t">
            <a:normAutofit/>
          </a:bodyPr>
          <a:lstStyle/>
          <a:p>
            <a:pPr algn="l" indent="0" marL="0">
              <a:buNone/>
            </a:pPr>
            <a:r>
              <a:rPr lang="en-US" sz="1700" dirty="0">
                <a:solidFill>
                  <a:srgbClr val="E2E8F0"/>
                </a:solidFill>
                <a:latin typeface="Consolas" pitchFamily="34" charset="0"/>
                <a:ea typeface="Consolas" pitchFamily="34" charset="-122"/>
                <a:cs typeface="Consolas" pitchFamily="34" charset="-120"/>
              </a:rPr>
              <a:t>frontier.add(start)</a:t>
            </a:r>
            <a:endParaRPr lang="en-US" sz="1700" dirty="0"/>
          </a:p>
          <a:p>
            <a:pPr algn="l" indent="0" marL="0">
              <a:buNone/>
            </a:pPr>
            <a:r>
              <a:rPr lang="en-US" sz="1700" dirty="0">
                <a:solidFill>
                  <a:srgbClr val="E2E8F0"/>
                </a:solidFill>
                <a:latin typeface="Consolas" pitchFamily="34" charset="0"/>
                <a:ea typeface="Consolas" pitchFamily="34" charset="-122"/>
                <a:cs typeface="Consolas" pitchFamily="34" charset="-120"/>
              </a:rPr>
              <a:t>while frontier not empty:</a:t>
            </a:r>
            <a:endParaRPr lang="en-US" sz="1700" dirty="0"/>
          </a:p>
          <a:p>
            <a:pPr algn="l" indent="0" marL="0">
              <a:buNone/>
            </a:pPr>
            <a:r>
              <a:rPr lang="en-US" sz="1700" dirty="0">
                <a:solidFill>
                  <a:srgbClr val="E2E8F0"/>
                </a:solidFill>
                <a:latin typeface="Consolas" pitchFamily="34" charset="0"/>
                <a:ea typeface="Consolas" pitchFamily="34" charset="-122"/>
                <a:cs typeface="Consolas" pitchFamily="34" charset="-120"/>
              </a:rPr>
              <a:t>    node = frontier.pop(strategy)</a:t>
            </a:r>
            <a:endParaRPr lang="en-US" sz="1700" dirty="0"/>
          </a:p>
          <a:p>
            <a:pPr algn="l" indent="0" marL="0">
              <a:buNone/>
            </a:pPr>
            <a:r>
              <a:rPr lang="en-US" sz="1700" dirty="0">
                <a:solidFill>
                  <a:srgbClr val="E2E8F0"/>
                </a:solidFill>
                <a:latin typeface="Consolas" pitchFamily="34" charset="0"/>
                <a:ea typeface="Consolas" pitchFamily="34" charset="-122"/>
                <a:cs typeface="Consolas" pitchFamily="34" charset="-120"/>
              </a:rPr>
              <a:t>    if is_goal(node.state): return solution(node)</a:t>
            </a:r>
            <a:endParaRPr lang="en-US" sz="1700" dirty="0"/>
          </a:p>
          <a:p>
            <a:pPr algn="l" indent="0" marL="0">
              <a:buNone/>
            </a:pPr>
            <a:r>
              <a:rPr lang="en-US" sz="1700" dirty="0">
                <a:solidFill>
                  <a:srgbClr val="E2E8F0"/>
                </a:solidFill>
                <a:latin typeface="Consolas" pitchFamily="34" charset="0"/>
                <a:ea typeface="Consolas" pitchFamily="34" charset="-122"/>
                <a:cs typeface="Consolas" pitchFamily="34" charset="-120"/>
              </a:rPr>
              <a:t>    for child in expand(node):</a:t>
            </a:r>
            <a:endParaRPr lang="en-US" sz="1700" dirty="0"/>
          </a:p>
          <a:p>
            <a:pPr algn="l" indent="0" marL="0">
              <a:buNone/>
            </a:pPr>
            <a:r>
              <a:rPr lang="en-US" sz="1700" dirty="0">
                <a:solidFill>
                  <a:srgbClr val="E2E8F0"/>
                </a:solidFill>
                <a:latin typeface="Consolas" pitchFamily="34" charset="0"/>
                <a:ea typeface="Consolas" pitchFamily="34" charset="-122"/>
                <a:cs typeface="Consolas" pitchFamily="34" charset="-120"/>
              </a:rPr>
              <a:t>        frontier.add(child)</a:t>
            </a:r>
            <a:endParaRPr lang="en-US" sz="1700" dirty="0"/>
          </a:p>
        </p:txBody>
      </p:sp>
      <p:sp>
        <p:nvSpPr>
          <p:cNvPr id="17" name="Shape 15"/>
          <p:cNvSpPr/>
          <p:nvPr/>
        </p:nvSpPr>
        <p:spPr>
          <a:xfrm>
            <a:off x="2331720" y="5687568"/>
            <a:ext cx="7498080" cy="365760"/>
          </a:xfrm>
          <a:prstGeom prst="roundRect">
            <a:avLst>
              <a:gd name="adj" fmla="val 17500"/>
            </a:avLst>
          </a:prstGeom>
          <a:solidFill>
            <a:srgbClr val="1F7A3D"/>
          </a:solidFill>
          <a:ln w="12700">
            <a:solidFill>
              <a:srgbClr val="1F7A3D"/>
            </a:solidFill>
            <a:prstDash val="solid"/>
          </a:ln>
        </p:spPr>
      </p:sp>
      <p:sp>
        <p:nvSpPr>
          <p:cNvPr id="18" name="Text 16"/>
          <p:cNvSpPr/>
          <p:nvPr/>
        </p:nvSpPr>
        <p:spPr>
          <a:xfrm>
            <a:off x="2404872" y="5742432"/>
            <a:ext cx="7351776" cy="274320"/>
          </a:xfrm>
          <a:prstGeom prst="rect">
            <a:avLst/>
          </a:prstGeom>
          <a:noFill/>
          <a:ln/>
        </p:spPr>
        <p:txBody>
          <a:bodyPr wrap="square" lIns="0" tIns="0" rIns="0" bIns="0" rtlCol="0" anchor="ctr"/>
          <a:lstStyle/>
          <a:p>
            <a:pPr algn="ctr" indent="0" marL="0">
              <a:buNone/>
            </a:pPr>
            <a:r>
              <a:rPr lang="en-US" sz="1200" b="1" dirty="0">
                <a:solidFill>
                  <a:srgbClr val="FFFFFF"/>
                </a:solidFill>
              </a:rPr>
              <a:t>Teaching point: the search strategy is mostly a frontier ordering rule.</a:t>
            </a:r>
            <a:endParaRPr lang="en-US" sz="1200" dirty="0"/>
          </a:p>
        </p:txBody>
      </p:sp>
      <p:sp>
        <p:nvSpPr>
          <p:cNvPr id="19" name="Text 17"/>
          <p:cNvSpPr/>
          <p:nvPr/>
        </p:nvSpPr>
        <p:spPr>
          <a:xfrm>
            <a:off x="11475720" y="6510528"/>
            <a:ext cx="320040" cy="164592"/>
          </a:xfrm>
          <a:prstGeom prst="rect">
            <a:avLst/>
          </a:prstGeom>
          <a:noFill/>
          <a:ln/>
        </p:spPr>
        <p:txBody>
          <a:bodyPr wrap="square" lIns="0" tIns="0" rIns="0" bIns="0" rtlCol="0" anchor="ctr"/>
          <a:lstStyle/>
          <a:p>
            <a:pPr algn="r" indent="0" marL="0">
              <a:buNone/>
            </a:pPr>
            <a:r>
              <a:rPr lang="en-US" sz="800" dirty="0">
                <a:solidFill>
                  <a:srgbClr val="6B7280"/>
                </a:solidFill>
              </a:rPr>
              <a:t>35</a:t>
            </a:r>
            <a:endParaRPr lang="en-US" sz="800" dirty="0"/>
          </a:p>
        </p:txBody>
      </p:sp>
      <p:sp>
        <p:nvSpPr>
          <p:cNvPr id="20" name="Text 18"/>
          <p:cNvSpPr/>
          <p:nvPr/>
        </p:nvSpPr>
        <p:spPr>
          <a:xfrm>
            <a:off x="411480" y="6510528"/>
            <a:ext cx="3200400" cy="164592"/>
          </a:xfrm>
          <a:prstGeom prst="rect">
            <a:avLst/>
          </a:prstGeom>
          <a:noFill/>
          <a:ln/>
        </p:spPr>
        <p:txBody>
          <a:bodyPr wrap="square" lIns="0" tIns="0" rIns="0" bIns="0" rtlCol="0" anchor="ctr"/>
          <a:lstStyle/>
          <a:p>
            <a:pPr indent="0" marL="0">
              <a:buNone/>
            </a:pPr>
            <a:r>
              <a:rPr lang="en-US" sz="750" dirty="0">
                <a:solidFill>
                  <a:srgbClr val="6B7280"/>
                </a:solidFill>
              </a:rPr>
              <a:t>CSU Channel Islands · COMP 469</a:t>
            </a:r>
            <a:endParaRPr lang="en-US" sz="7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5F7FB"/>
        </a:solidFill>
      </p:bgPr>
    </p:bg>
    <p:spTree>
      <p:nvGrpSpPr>
        <p:cNvPr id="1" name=""/>
        <p:cNvGrpSpPr/>
        <p:nvPr/>
      </p:nvGrpSpPr>
      <p:grpSpPr>
        <a:xfrm>
          <a:off x="0" y="0"/>
          <a:ext cx="0" cy="0"/>
          <a:chOff x="0" y="0"/>
          <a:chExt cx="0" cy="0"/>
        </a:xfrm>
      </p:grpSpPr>
      <p:sp>
        <p:nvSpPr>
          <p:cNvPr id="2" name="Shape 0"/>
          <p:cNvSpPr/>
          <p:nvPr/>
        </p:nvSpPr>
        <p:spPr>
          <a:xfrm>
            <a:off x="0" y="0"/>
            <a:ext cx="12191695" cy="640080"/>
          </a:xfrm>
          <a:prstGeom prst="rect">
            <a:avLst/>
          </a:prstGeom>
          <a:solidFill>
            <a:srgbClr val="13386B"/>
          </a:solidFill>
          <a:ln w="12700">
            <a:solidFill>
              <a:srgbClr val="13386B"/>
            </a:solidFill>
            <a:prstDash val="solid"/>
          </a:ln>
        </p:spPr>
      </p:sp>
      <p:sp>
        <p:nvSpPr>
          <p:cNvPr id="3" name="Shape 1"/>
          <p:cNvSpPr/>
          <p:nvPr/>
        </p:nvSpPr>
        <p:spPr>
          <a:xfrm>
            <a:off x="0" y="640080"/>
            <a:ext cx="12191695" cy="68580"/>
          </a:xfrm>
          <a:prstGeom prst="rect">
            <a:avLst/>
          </a:prstGeom>
          <a:solidFill>
            <a:srgbClr val="F5A11A"/>
          </a:solidFill>
          <a:ln w="12700">
            <a:solidFill>
              <a:srgbClr val="F5A11A"/>
            </a:solidFill>
            <a:prstDash val="solid"/>
          </a:ln>
        </p:spPr>
      </p:sp>
      <p:sp>
        <p:nvSpPr>
          <p:cNvPr id="4" name="Text 2"/>
          <p:cNvSpPr/>
          <p:nvPr/>
        </p:nvSpPr>
        <p:spPr>
          <a:xfrm>
            <a:off x="411480" y="155448"/>
            <a:ext cx="7818120" cy="320040"/>
          </a:xfrm>
          <a:prstGeom prst="rect">
            <a:avLst/>
          </a:prstGeom>
          <a:noFill/>
          <a:ln/>
        </p:spPr>
        <p:txBody>
          <a:bodyPr wrap="square" lIns="0" tIns="0" rIns="0" bIns="0" rtlCol="0" anchor="ctr"/>
          <a:lstStyle/>
          <a:p>
            <a:pPr indent="0" marL="0">
              <a:buNone/>
            </a:pPr>
            <a:r>
              <a:rPr lang="en-US" sz="2200" b="1" dirty="0">
                <a:solidFill>
                  <a:srgbClr val="FFFFFF"/>
                </a:solidFill>
                <a:latin typeface="Aptos Display" pitchFamily="34" charset="0"/>
                <a:ea typeface="Aptos Display" pitchFamily="34" charset="-122"/>
                <a:cs typeface="Aptos Display" pitchFamily="34" charset="-120"/>
              </a:rPr>
              <a:t>Chapter 3.1–3.4 Takeaways</a:t>
            </a:r>
            <a:endParaRPr lang="en-US" sz="2200" dirty="0"/>
          </a:p>
        </p:txBody>
      </p:sp>
      <p:sp>
        <p:nvSpPr>
          <p:cNvPr id="5" name="Text 3"/>
          <p:cNvSpPr/>
          <p:nvPr/>
        </p:nvSpPr>
        <p:spPr>
          <a:xfrm>
            <a:off x="9253728" y="210312"/>
            <a:ext cx="2487168" cy="256032"/>
          </a:xfrm>
          <a:prstGeom prst="rect">
            <a:avLst/>
          </a:prstGeom>
          <a:noFill/>
          <a:ln/>
        </p:spPr>
        <p:txBody>
          <a:bodyPr wrap="square" lIns="0" tIns="0" rIns="0" bIns="0" rtlCol="0" anchor="ctr"/>
          <a:lstStyle/>
          <a:p>
            <a:pPr algn="r" indent="0" marL="0">
              <a:buNone/>
            </a:pPr>
            <a:r>
              <a:rPr lang="en-US" sz="850" dirty="0">
                <a:solidFill>
                  <a:srgbClr val="D9E5F2"/>
                </a:solidFill>
              </a:rPr>
              <a:t>COMP 469 · Chapter 3 · Sections 3.1–3.4</a:t>
            </a:r>
            <a:endParaRPr lang="en-US" sz="850" dirty="0"/>
          </a:p>
        </p:txBody>
      </p:sp>
      <p:sp>
        <p:nvSpPr>
          <p:cNvPr id="6" name="Shape 4"/>
          <p:cNvSpPr/>
          <p:nvPr/>
        </p:nvSpPr>
        <p:spPr>
          <a:xfrm>
            <a:off x="685800" y="1005840"/>
            <a:ext cx="3429000" cy="1417320"/>
          </a:xfrm>
          <a:prstGeom prst="roundRect">
            <a:avLst>
              <a:gd name="adj" fmla="val 3871"/>
            </a:avLst>
          </a:prstGeom>
          <a:solidFill>
            <a:srgbClr val="FFFFFF"/>
          </a:solidFill>
          <a:ln w="12700">
            <a:solidFill>
              <a:srgbClr val="D5DCE8"/>
            </a:solidFill>
            <a:prstDash val="solid"/>
          </a:ln>
        </p:spPr>
      </p:sp>
      <p:sp>
        <p:nvSpPr>
          <p:cNvPr id="7" name="Text 5"/>
          <p:cNvSpPr/>
          <p:nvPr/>
        </p:nvSpPr>
        <p:spPr>
          <a:xfrm>
            <a:off x="850392" y="1170432"/>
            <a:ext cx="3099816" cy="310896"/>
          </a:xfrm>
          <a:prstGeom prst="rect">
            <a:avLst/>
          </a:prstGeom>
          <a:noFill/>
          <a:ln/>
        </p:spPr>
        <p:txBody>
          <a:bodyPr wrap="square" lIns="762" tIns="762" rIns="762" bIns="762" rtlCol="0" anchor="t">
            <a:normAutofit/>
          </a:bodyPr>
          <a:lstStyle/>
          <a:p>
            <a:pPr algn="l" indent="0" marL="0">
              <a:buNone/>
            </a:pPr>
            <a:r>
              <a:rPr lang="en-US" sz="1400" b="1" dirty="0">
                <a:solidFill>
                  <a:srgbClr val="13386B"/>
                </a:solidFill>
                <a:latin typeface="Aptos" pitchFamily="34" charset="0"/>
                <a:ea typeface="Aptos" pitchFamily="34" charset="-122"/>
                <a:cs typeface="Aptos" pitchFamily="34" charset="-120"/>
              </a:rPr>
              <a:t>1. Formulation comes first</a:t>
            </a:r>
            <a:endParaRPr lang="en-US" sz="1400" dirty="0"/>
          </a:p>
        </p:txBody>
      </p:sp>
      <p:sp>
        <p:nvSpPr>
          <p:cNvPr id="8" name="Text 6"/>
          <p:cNvSpPr/>
          <p:nvPr/>
        </p:nvSpPr>
        <p:spPr>
          <a:xfrm>
            <a:off x="850392" y="1536192"/>
            <a:ext cx="3099816" cy="758952"/>
          </a:xfrm>
          <a:prstGeom prst="rect">
            <a:avLst/>
          </a:prstGeom>
          <a:noFill/>
          <a:ln/>
        </p:spPr>
        <p:txBody>
          <a:bodyPr wrap="square" lIns="762" tIns="762" rIns="762" bIns="762" rtlCol="0" anchor="t">
            <a:normAutofit/>
          </a:bodyPr>
          <a:lstStyle/>
          <a:p>
            <a:pPr algn="l" indent="0" marL="0">
              <a:buNone/>
            </a:pPr>
            <a:r>
              <a:rPr lang="en-US" sz="1250" dirty="0">
                <a:solidFill>
                  <a:srgbClr val="111827"/>
                </a:solidFill>
                <a:latin typeface="Aptos" pitchFamily="34" charset="0"/>
                <a:ea typeface="Aptos" pitchFamily="34" charset="-122"/>
                <a:cs typeface="Aptos" pitchFamily="34" charset="-120"/>
              </a:rPr>
              <a:t>Define states, initial state, actions, result, goal test, and action costs before choosing an algorithm.</a:t>
            </a:r>
            <a:endParaRPr lang="en-US" sz="1250" dirty="0"/>
          </a:p>
        </p:txBody>
      </p:sp>
      <p:sp>
        <p:nvSpPr>
          <p:cNvPr id="9" name="Shape 7"/>
          <p:cNvSpPr/>
          <p:nvPr/>
        </p:nvSpPr>
        <p:spPr>
          <a:xfrm>
            <a:off x="4434840" y="1005840"/>
            <a:ext cx="3429000" cy="1417320"/>
          </a:xfrm>
          <a:prstGeom prst="roundRect">
            <a:avLst>
              <a:gd name="adj" fmla="val 3871"/>
            </a:avLst>
          </a:prstGeom>
          <a:solidFill>
            <a:srgbClr val="FFFFFF"/>
          </a:solidFill>
          <a:ln w="12700">
            <a:solidFill>
              <a:srgbClr val="D5DCE8"/>
            </a:solidFill>
            <a:prstDash val="solid"/>
          </a:ln>
        </p:spPr>
      </p:sp>
      <p:sp>
        <p:nvSpPr>
          <p:cNvPr id="10" name="Text 8"/>
          <p:cNvSpPr/>
          <p:nvPr/>
        </p:nvSpPr>
        <p:spPr>
          <a:xfrm>
            <a:off x="4599432" y="1170432"/>
            <a:ext cx="3099816" cy="310896"/>
          </a:xfrm>
          <a:prstGeom prst="rect">
            <a:avLst/>
          </a:prstGeom>
          <a:noFill/>
          <a:ln/>
        </p:spPr>
        <p:txBody>
          <a:bodyPr wrap="square" lIns="762" tIns="762" rIns="762" bIns="762" rtlCol="0" anchor="t">
            <a:normAutofit/>
          </a:bodyPr>
          <a:lstStyle/>
          <a:p>
            <a:pPr algn="l" indent="0" marL="0">
              <a:buNone/>
            </a:pPr>
            <a:r>
              <a:rPr lang="en-US" sz="1400" b="1" dirty="0">
                <a:solidFill>
                  <a:srgbClr val="0F8B8D"/>
                </a:solidFill>
                <a:latin typeface="Aptos" pitchFamily="34" charset="0"/>
                <a:ea typeface="Aptos" pitchFamily="34" charset="-122"/>
                <a:cs typeface="Aptos" pitchFamily="34" charset="-120"/>
              </a:rPr>
              <a:t>2. Search trees are paths</a:t>
            </a:r>
            <a:endParaRPr lang="en-US" sz="1400" dirty="0"/>
          </a:p>
        </p:txBody>
      </p:sp>
      <p:sp>
        <p:nvSpPr>
          <p:cNvPr id="11" name="Text 9"/>
          <p:cNvSpPr/>
          <p:nvPr/>
        </p:nvSpPr>
        <p:spPr>
          <a:xfrm>
            <a:off x="4599432" y="1536192"/>
            <a:ext cx="3099816" cy="758952"/>
          </a:xfrm>
          <a:prstGeom prst="rect">
            <a:avLst/>
          </a:prstGeom>
          <a:noFill/>
          <a:ln/>
        </p:spPr>
        <p:txBody>
          <a:bodyPr wrap="square" lIns="762" tIns="762" rIns="762" bIns="762" rtlCol="0" anchor="t">
            <a:normAutofit/>
          </a:bodyPr>
          <a:lstStyle/>
          <a:p>
            <a:pPr algn="l" indent="0" marL="0">
              <a:buNone/>
            </a:pPr>
            <a:r>
              <a:rPr lang="en-US" sz="1250" dirty="0">
                <a:solidFill>
                  <a:srgbClr val="111827"/>
                </a:solidFill>
                <a:latin typeface="Aptos" pitchFamily="34" charset="0"/>
                <a:ea typeface="Aptos" pitchFamily="34" charset="-122"/>
                <a:cs typeface="Aptos" pitchFamily="34" charset="-120"/>
              </a:rPr>
              <a:t>The tree can contain many nodes for the same state because each node is a path.</a:t>
            </a:r>
            <a:endParaRPr lang="en-US" sz="1250" dirty="0"/>
          </a:p>
        </p:txBody>
      </p:sp>
      <p:sp>
        <p:nvSpPr>
          <p:cNvPr id="12" name="Shape 10"/>
          <p:cNvSpPr/>
          <p:nvPr/>
        </p:nvSpPr>
        <p:spPr>
          <a:xfrm>
            <a:off x="8183880" y="1005840"/>
            <a:ext cx="3429000" cy="1417320"/>
          </a:xfrm>
          <a:prstGeom prst="roundRect">
            <a:avLst>
              <a:gd name="adj" fmla="val 3871"/>
            </a:avLst>
          </a:prstGeom>
          <a:solidFill>
            <a:srgbClr val="FFFFFF"/>
          </a:solidFill>
          <a:ln w="12700">
            <a:solidFill>
              <a:srgbClr val="D5DCE8"/>
            </a:solidFill>
            <a:prstDash val="solid"/>
          </a:ln>
        </p:spPr>
      </p:sp>
      <p:sp>
        <p:nvSpPr>
          <p:cNvPr id="13" name="Text 11"/>
          <p:cNvSpPr/>
          <p:nvPr/>
        </p:nvSpPr>
        <p:spPr>
          <a:xfrm>
            <a:off x="8348472" y="1170432"/>
            <a:ext cx="3099816" cy="310896"/>
          </a:xfrm>
          <a:prstGeom prst="rect">
            <a:avLst/>
          </a:prstGeom>
          <a:noFill/>
          <a:ln/>
        </p:spPr>
        <p:txBody>
          <a:bodyPr wrap="square" lIns="762" tIns="762" rIns="762" bIns="762" rtlCol="0" anchor="t">
            <a:normAutofit/>
          </a:bodyPr>
          <a:lstStyle/>
          <a:p>
            <a:pPr algn="l" indent="0" marL="0">
              <a:buNone/>
            </a:pPr>
            <a:r>
              <a:rPr lang="en-US" sz="1400" b="1" dirty="0">
                <a:solidFill>
                  <a:srgbClr val="F5A11A"/>
                </a:solidFill>
                <a:latin typeface="Aptos" pitchFamily="34" charset="0"/>
                <a:ea typeface="Aptos" pitchFamily="34" charset="-122"/>
                <a:cs typeface="Aptos" pitchFamily="34" charset="-120"/>
              </a:rPr>
              <a:t>3. Frontier strategy matters</a:t>
            </a:r>
            <a:endParaRPr lang="en-US" sz="1400" dirty="0"/>
          </a:p>
        </p:txBody>
      </p:sp>
      <p:sp>
        <p:nvSpPr>
          <p:cNvPr id="14" name="Text 12"/>
          <p:cNvSpPr/>
          <p:nvPr/>
        </p:nvSpPr>
        <p:spPr>
          <a:xfrm>
            <a:off x="8348472" y="1536192"/>
            <a:ext cx="3099816" cy="758952"/>
          </a:xfrm>
          <a:prstGeom prst="rect">
            <a:avLst/>
          </a:prstGeom>
          <a:noFill/>
          <a:ln/>
        </p:spPr>
        <p:txBody>
          <a:bodyPr wrap="square" lIns="762" tIns="762" rIns="762" bIns="762" rtlCol="0" anchor="t">
            <a:normAutofit/>
          </a:bodyPr>
          <a:lstStyle/>
          <a:p>
            <a:pPr algn="l" indent="0" marL="0">
              <a:buNone/>
            </a:pPr>
            <a:r>
              <a:rPr lang="en-US" sz="1250" dirty="0">
                <a:solidFill>
                  <a:srgbClr val="111827"/>
                </a:solidFill>
                <a:latin typeface="Aptos" pitchFamily="34" charset="0"/>
                <a:ea typeface="Aptos" pitchFamily="34" charset="-122"/>
                <a:cs typeface="Aptos" pitchFamily="34" charset="-120"/>
              </a:rPr>
              <a:t>BFS, UCS, and DFS mainly differ in which frontier node is expanded next.</a:t>
            </a:r>
            <a:endParaRPr lang="en-US" sz="1250" dirty="0"/>
          </a:p>
        </p:txBody>
      </p:sp>
      <p:sp>
        <p:nvSpPr>
          <p:cNvPr id="15" name="Shape 13"/>
          <p:cNvSpPr/>
          <p:nvPr/>
        </p:nvSpPr>
        <p:spPr>
          <a:xfrm>
            <a:off x="914400" y="2971800"/>
            <a:ext cx="4937760" cy="1417320"/>
          </a:xfrm>
          <a:prstGeom prst="roundRect">
            <a:avLst>
              <a:gd name="adj" fmla="val 3871"/>
            </a:avLst>
          </a:prstGeom>
          <a:solidFill>
            <a:srgbClr val="FFFFFF"/>
          </a:solidFill>
          <a:ln w="12700">
            <a:solidFill>
              <a:srgbClr val="D5DCE8"/>
            </a:solidFill>
            <a:prstDash val="solid"/>
          </a:ln>
        </p:spPr>
      </p:sp>
      <p:sp>
        <p:nvSpPr>
          <p:cNvPr id="16" name="Text 14"/>
          <p:cNvSpPr/>
          <p:nvPr/>
        </p:nvSpPr>
        <p:spPr>
          <a:xfrm>
            <a:off x="1078992" y="3136392"/>
            <a:ext cx="4608576" cy="310896"/>
          </a:xfrm>
          <a:prstGeom prst="rect">
            <a:avLst/>
          </a:prstGeom>
          <a:noFill/>
          <a:ln/>
        </p:spPr>
        <p:txBody>
          <a:bodyPr wrap="square" lIns="762" tIns="762" rIns="762" bIns="762" rtlCol="0" anchor="t">
            <a:normAutofit/>
          </a:bodyPr>
          <a:lstStyle/>
          <a:p>
            <a:pPr algn="l" indent="0" marL="0">
              <a:buNone/>
            </a:pPr>
            <a:r>
              <a:rPr lang="en-US" sz="1400" b="1" dirty="0">
                <a:solidFill>
                  <a:srgbClr val="A61919"/>
                </a:solidFill>
                <a:latin typeface="Aptos" pitchFamily="34" charset="0"/>
                <a:ea typeface="Aptos" pitchFamily="34" charset="-122"/>
                <a:cs typeface="Aptos" pitchFamily="34" charset="-120"/>
              </a:rPr>
              <a:t>4. Uninformed search is expensive</a:t>
            </a:r>
            <a:endParaRPr lang="en-US" sz="1400" dirty="0"/>
          </a:p>
        </p:txBody>
      </p:sp>
      <p:sp>
        <p:nvSpPr>
          <p:cNvPr id="17" name="Text 15"/>
          <p:cNvSpPr/>
          <p:nvPr/>
        </p:nvSpPr>
        <p:spPr>
          <a:xfrm>
            <a:off x="1078992" y="3502152"/>
            <a:ext cx="4608576" cy="758952"/>
          </a:xfrm>
          <a:prstGeom prst="rect">
            <a:avLst/>
          </a:prstGeom>
          <a:noFill/>
          <a:ln/>
        </p:spPr>
        <p:txBody>
          <a:bodyPr wrap="square" lIns="762" tIns="762" rIns="762" bIns="762" rtlCol="0" anchor="t">
            <a:normAutofit/>
          </a:bodyPr>
          <a:lstStyle/>
          <a:p>
            <a:pPr algn="l" indent="0" marL="0">
              <a:buNone/>
            </a:pPr>
            <a:r>
              <a:rPr lang="en-US" sz="1250" dirty="0">
                <a:solidFill>
                  <a:srgbClr val="111827"/>
                </a:solidFill>
                <a:latin typeface="Aptos" pitchFamily="34" charset="0"/>
                <a:ea typeface="Aptos" pitchFamily="34" charset="-122"/>
                <a:cs typeface="Aptos" pitchFamily="34" charset="-120"/>
              </a:rPr>
              <a:t>Without a goal-distance estimate, exponential growth quickly dominates.</a:t>
            </a:r>
            <a:endParaRPr lang="en-US" sz="1250" dirty="0"/>
          </a:p>
        </p:txBody>
      </p:sp>
      <p:sp>
        <p:nvSpPr>
          <p:cNvPr id="18" name="Shape 16"/>
          <p:cNvSpPr/>
          <p:nvPr/>
        </p:nvSpPr>
        <p:spPr>
          <a:xfrm>
            <a:off x="6355080" y="2971800"/>
            <a:ext cx="4937760" cy="1417320"/>
          </a:xfrm>
          <a:prstGeom prst="roundRect">
            <a:avLst>
              <a:gd name="adj" fmla="val 3871"/>
            </a:avLst>
          </a:prstGeom>
          <a:solidFill>
            <a:srgbClr val="FFFFFF"/>
          </a:solidFill>
          <a:ln w="12700">
            <a:solidFill>
              <a:srgbClr val="D5DCE8"/>
            </a:solidFill>
            <a:prstDash val="solid"/>
          </a:ln>
        </p:spPr>
      </p:sp>
      <p:sp>
        <p:nvSpPr>
          <p:cNvPr id="19" name="Text 17"/>
          <p:cNvSpPr/>
          <p:nvPr/>
        </p:nvSpPr>
        <p:spPr>
          <a:xfrm>
            <a:off x="6519672" y="3136392"/>
            <a:ext cx="4608576" cy="310896"/>
          </a:xfrm>
          <a:prstGeom prst="rect">
            <a:avLst/>
          </a:prstGeom>
          <a:noFill/>
          <a:ln/>
        </p:spPr>
        <p:txBody>
          <a:bodyPr wrap="square" lIns="762" tIns="762" rIns="762" bIns="762" rtlCol="0" anchor="t">
            <a:normAutofit/>
          </a:bodyPr>
          <a:lstStyle/>
          <a:p>
            <a:pPr algn="l" indent="0" marL="0">
              <a:buNone/>
            </a:pPr>
            <a:r>
              <a:rPr lang="en-US" sz="1400" b="1" dirty="0">
                <a:solidFill>
                  <a:srgbClr val="1F7A3D"/>
                </a:solidFill>
                <a:latin typeface="Aptos" pitchFamily="34" charset="0"/>
                <a:ea typeface="Aptos" pitchFamily="34" charset="-122"/>
                <a:cs typeface="Aptos" pitchFamily="34" charset="-120"/>
              </a:rPr>
              <a:t>5. Tradeoffs are unavoidable</a:t>
            </a:r>
            <a:endParaRPr lang="en-US" sz="1400" dirty="0"/>
          </a:p>
        </p:txBody>
      </p:sp>
      <p:sp>
        <p:nvSpPr>
          <p:cNvPr id="20" name="Text 18"/>
          <p:cNvSpPr/>
          <p:nvPr/>
        </p:nvSpPr>
        <p:spPr>
          <a:xfrm>
            <a:off x="6519672" y="3502152"/>
            <a:ext cx="4608576" cy="758952"/>
          </a:xfrm>
          <a:prstGeom prst="rect">
            <a:avLst/>
          </a:prstGeom>
          <a:noFill/>
          <a:ln/>
        </p:spPr>
        <p:txBody>
          <a:bodyPr wrap="square" lIns="762" tIns="762" rIns="762" bIns="762" rtlCol="0" anchor="t">
            <a:normAutofit/>
          </a:bodyPr>
          <a:lstStyle/>
          <a:p>
            <a:pPr algn="l" indent="0" marL="0">
              <a:buNone/>
            </a:pPr>
            <a:r>
              <a:rPr lang="en-US" sz="1250" dirty="0">
                <a:solidFill>
                  <a:srgbClr val="111827"/>
                </a:solidFill>
                <a:latin typeface="Aptos" pitchFamily="34" charset="0"/>
                <a:ea typeface="Aptos" pitchFamily="34" charset="-122"/>
                <a:cs typeface="Aptos" pitchFamily="34" charset="-120"/>
              </a:rPr>
              <a:t>Completeness, optimality, time, and memory determine the right strategy.</a:t>
            </a:r>
            <a:endParaRPr lang="en-US" sz="1250" dirty="0"/>
          </a:p>
        </p:txBody>
      </p:sp>
      <p:sp>
        <p:nvSpPr>
          <p:cNvPr id="21" name="Text 19"/>
          <p:cNvSpPr/>
          <p:nvPr/>
        </p:nvSpPr>
        <p:spPr>
          <a:xfrm>
            <a:off x="2468880" y="5321808"/>
            <a:ext cx="7223760" cy="320040"/>
          </a:xfrm>
          <a:prstGeom prst="rect">
            <a:avLst/>
          </a:prstGeom>
          <a:noFill/>
          <a:ln/>
        </p:spPr>
        <p:txBody>
          <a:bodyPr wrap="square" lIns="762" tIns="762" rIns="762" bIns="762" rtlCol="0" anchor="t">
            <a:normAutofit/>
          </a:bodyPr>
          <a:lstStyle/>
          <a:p>
            <a:pPr algn="ctr" indent="0" marL="0">
              <a:buNone/>
            </a:pPr>
            <a:r>
              <a:rPr lang="en-US" sz="1800" b="1" dirty="0">
                <a:solidFill>
                  <a:srgbClr val="13386B"/>
                </a:solidFill>
                <a:latin typeface="Aptos" pitchFamily="34" charset="0"/>
                <a:ea typeface="Aptos" pitchFamily="34" charset="-122"/>
                <a:cs typeface="Aptos" pitchFamily="34" charset="-120"/>
              </a:rPr>
              <a:t>Next lecture: informed search adds heuristics to guide expansion.</a:t>
            </a:r>
            <a:endParaRPr lang="en-US" sz="1800" dirty="0"/>
          </a:p>
        </p:txBody>
      </p:sp>
      <p:sp>
        <p:nvSpPr>
          <p:cNvPr id="22" name="Text 20"/>
          <p:cNvSpPr/>
          <p:nvPr/>
        </p:nvSpPr>
        <p:spPr>
          <a:xfrm>
            <a:off x="11475720" y="6510528"/>
            <a:ext cx="320040" cy="164592"/>
          </a:xfrm>
          <a:prstGeom prst="rect">
            <a:avLst/>
          </a:prstGeom>
          <a:noFill/>
          <a:ln/>
        </p:spPr>
        <p:txBody>
          <a:bodyPr wrap="square" lIns="0" tIns="0" rIns="0" bIns="0" rtlCol="0" anchor="ctr"/>
          <a:lstStyle/>
          <a:p>
            <a:pPr algn="r" indent="0" marL="0">
              <a:buNone/>
            </a:pPr>
            <a:r>
              <a:rPr lang="en-US" sz="800" dirty="0">
                <a:solidFill>
                  <a:srgbClr val="6B7280"/>
                </a:solidFill>
              </a:rPr>
              <a:t>36</a:t>
            </a:r>
            <a:endParaRPr lang="en-US" sz="800" dirty="0"/>
          </a:p>
        </p:txBody>
      </p:sp>
      <p:sp>
        <p:nvSpPr>
          <p:cNvPr id="23" name="Text 21"/>
          <p:cNvSpPr/>
          <p:nvPr/>
        </p:nvSpPr>
        <p:spPr>
          <a:xfrm>
            <a:off x="411480" y="6510528"/>
            <a:ext cx="3200400" cy="164592"/>
          </a:xfrm>
          <a:prstGeom prst="rect">
            <a:avLst/>
          </a:prstGeom>
          <a:noFill/>
          <a:ln/>
        </p:spPr>
        <p:txBody>
          <a:bodyPr wrap="square" lIns="0" tIns="0" rIns="0" bIns="0" rtlCol="0" anchor="ctr"/>
          <a:lstStyle/>
          <a:p>
            <a:pPr indent="0" marL="0">
              <a:buNone/>
            </a:pPr>
            <a:r>
              <a:rPr lang="en-US" sz="750" dirty="0">
                <a:solidFill>
                  <a:srgbClr val="6B7280"/>
                </a:solidFill>
              </a:rPr>
              <a:t>CSU Channel Islands · COMP 469</a:t>
            </a:r>
            <a:endParaRPr lang="en-US" sz="7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36</Slides>
  <Notes>36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36</vt:i4>
      </vt:variant>
    </vt:vector>
  </HeadingPairs>
  <TitlesOfParts>
    <vt:vector size="3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vector>
  </TitlesOfParts>
  <Company>CSU Channel Islands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COMP 469 Chapter 3 Solving Problems by Searching</dc:title>
  <dc:subject>COMP 469 Chapter 3 Sections 3.1-3.4</dc:subject>
  <dc:creator>CSU Channel Islands</dc:creator>
  <cp:lastModifiedBy>CSU Channel Islands</cp:lastModifiedBy>
  <cp:revision>1</cp:revision>
  <dcterms:created xsi:type="dcterms:W3CDTF">2026-08-01T06:37:12Z</dcterms:created>
  <dcterms:modified xsi:type="dcterms:W3CDTF">2026-08-01T06:37:12Z</dcterms:modified>
</cp:coreProperties>
</file>