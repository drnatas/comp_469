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Local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989320" cy="489204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Artificial Intelligence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Aesthetic refresh for COMP 469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234440"/>
            <a:ext cx="48006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391631"/>
            <a:ext cx="4581144" cy="25776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2560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B845"/>
                </a:solidFill>
                <a:latin typeface="Aptos"/>
              </a:rPr>
              <a:t>LOCAL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57400"/>
            <a:ext cx="3017520" cy="1463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Last Time: A*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89320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D2DCE6"/>
                </a:solidFill>
                <a:latin typeface="Aptos"/>
              </a:rPr>
              <a:t>Slide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914400"/>
            <a:ext cx="71323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461320"/>
            <a:ext cx="6912863" cy="38896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2560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B845"/>
                </a:solidFill>
                <a:latin typeface="Aptos"/>
              </a:rPr>
              <a:t>LOCAL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57400"/>
            <a:ext cx="3017520" cy="1463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Creating Heuristics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89320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D2DCE6"/>
                </a:solidFill>
                <a:latin typeface="Aptos"/>
              </a:rPr>
              <a:t>Slide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914400"/>
            <a:ext cx="71323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461320"/>
            <a:ext cx="6912863" cy="38896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Creating Admissible Heuristics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989320" cy="489204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Most of the work in solving hard search problems optimally is in coming up with admissible heuristics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Often, admissible heuristics are solutions to relaxed problems, where new actions are available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(Inadmissible heuristics are often useful too)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234440"/>
            <a:ext cx="48006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391631"/>
            <a:ext cx="4581144" cy="25776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Example: 8 Puzzle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989320" cy="489204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What are the states?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How many states?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What are the actions?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How many successors from the start state?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What should the costs be?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Any heuristics? Start State Goal State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234440"/>
            <a:ext cx="48006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391631"/>
            <a:ext cx="4581144" cy="25776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8 Puzzle 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989320" cy="489204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Heuristic: Number of tiles misplaced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Why is it admissible?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h(start) =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This is a relaxed-problem heuristic A* search nodes expanded when the optimal path has… …4 steps …8 steps …12 steps UCS 6,300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3.6 x 106 TILES Start State Goal State Statistics from Andrew Moore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234440"/>
            <a:ext cx="48006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391631"/>
            <a:ext cx="4581144" cy="25776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8 Puzzle II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989320" cy="489204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What if we had an easier 8-puzzle where any tile could slide any direction at any time, ignoring other tiles?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Total Manhattan distance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Why is it admissible?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h(start) = 3 + 1 + 2 + … = 18 Average nodes expanded when the optimal path has… …4 steps …8 steps …12 steps TILES MANHATTAN Start State Goal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234440"/>
            <a:ext cx="48006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391631"/>
            <a:ext cx="4581144" cy="25776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8 Puzzle III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989320" cy="489204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How about using the actual cost as a heuristic?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Would it be admissible?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Would we save on nodes expanded?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What’s wrong with it?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With A*: a trade-off between quality of estimate and work per node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As heuristics get closer to the true cost, you will expand fewer nodes but usually do more work per node to compute the heuristic itself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234440"/>
            <a:ext cx="48006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391631"/>
            <a:ext cx="4581144" cy="25776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2560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B845"/>
                </a:solidFill>
                <a:latin typeface="Aptos"/>
              </a:rPr>
              <a:t>LOCAL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57400"/>
            <a:ext cx="3017520" cy="1463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More Heuristic 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89320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D2DCE6"/>
                </a:solidFill>
                <a:latin typeface="Aptos"/>
              </a:rPr>
              <a:t>Slide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914400"/>
            <a:ext cx="71323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461320"/>
            <a:ext cx="6912863" cy="38896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Trivial Heuristics, Dominance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989320" cy="489204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Dominance: ha ≥ hc if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Heuristics form a semi-lattice: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Max of admissible heuristics is admissible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Trivial heuristics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Bottom of lattice is the zero heuristic (what does this give us?)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Top of lattice is the exact heuristic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234440"/>
            <a:ext cx="48006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391631"/>
            <a:ext cx="4581144" cy="25776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2560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B845"/>
                </a:solidFill>
                <a:latin typeface="Aptos"/>
              </a:rPr>
              <a:t>LOCAL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57400"/>
            <a:ext cx="3017520" cy="1463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Graph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89320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D2DCE6"/>
                </a:solidFill>
                <a:latin typeface="Aptos"/>
              </a:rPr>
              <a:t>Slide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914400"/>
            <a:ext cx="71323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461320"/>
            <a:ext cx="6912863" cy="38896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▪Failure to detect repeated states can cause exponentially more work.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989320" cy="489204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Search Tree State Graph Tree Search: Extra Work!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234440"/>
            <a:ext cx="48006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391631"/>
            <a:ext cx="4581144" cy="25776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Graph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4983480" cy="489204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In BFS, for example, we shouldn’t bother expanding the circled nodes (why?) S a b d p a c e p h f r q c G a q e p h f r q c G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34440"/>
            <a:ext cx="57607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2121517"/>
            <a:ext cx="5541263" cy="31178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Graph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989320" cy="489204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Idea: never expand a state twice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How to implement: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Tree search + set of expanded states (“closed set”)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Expand the search tree node-by-node, but…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Before expanding a node, check to make sure its state has never been expanded before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If not new, skip it, if new add to closed set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Important: store the closed set as a set, not a list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Can graph search wreck completeness?  Why/why not?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How about optimality?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234440"/>
            <a:ext cx="48006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391631"/>
            <a:ext cx="4581144" cy="25776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2560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B845"/>
                </a:solidFill>
                <a:latin typeface="Aptos"/>
              </a:rPr>
              <a:t>LOCAL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57400"/>
            <a:ext cx="3017520" cy="1463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Tree Search Pseudo-Code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89320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D2DCE6"/>
                </a:solidFill>
                <a:latin typeface="Aptos"/>
              </a:rPr>
              <a:t>Slide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914400"/>
            <a:ext cx="71323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g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461320"/>
            <a:ext cx="6912863" cy="38896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2560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B845"/>
                </a:solidFill>
                <a:latin typeface="Aptos"/>
              </a:rPr>
              <a:t>LOCAL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57400"/>
            <a:ext cx="3017520" cy="1463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Graph Search Pseudo-Code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89320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D2DCE6"/>
                </a:solidFill>
                <a:latin typeface="Aptos"/>
              </a:rPr>
              <a:t>Slide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914400"/>
            <a:ext cx="71323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g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461320"/>
            <a:ext cx="6912863" cy="38896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2560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B845"/>
                </a:solidFill>
                <a:latin typeface="Aptos"/>
              </a:rPr>
              <a:t>LOCAL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57400"/>
            <a:ext cx="3017520" cy="1463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Optimality of A* Graph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89320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D2DCE6"/>
                </a:solidFill>
                <a:latin typeface="Aptos"/>
              </a:rPr>
              <a:t>Slide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914400"/>
            <a:ext cx="71323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g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461320"/>
            <a:ext cx="6912863" cy="38896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A* Graph Search Gone Wrong?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4983480" cy="489204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 A B C G h=2 h=1 h=4 h=1 h=0 S (0+2) A (1+4) B (1+1) C (2+1) G (5+0) C (3+1) G (6+0) State space graph Search tree Simple check against expanded set blocks C Fancy check allows new C if cheaper than old but requires recalculating C’s descendants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34440"/>
            <a:ext cx="57607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2121517"/>
            <a:ext cx="5541263" cy="311788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Consistency of Heuristics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4983480" cy="489204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Main idea: estimated heuristic costs ≤ actual costs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Admissibility: heuristic cost ≤ actual cost to goal h(A) ≤ actual cost from A to G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Consistency: heuristic “arc” cost ≤ actual cost for each arc h(A) – h(C) ≤ cost(A to C)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Consequences of consistency: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The f value along a path never decreases h(A) ≤ cost(A to C) + h(C)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A* graph search is optimal A C G h=4 h=1 h=2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34440"/>
            <a:ext cx="57607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2121517"/>
            <a:ext cx="5541263" cy="311788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Optimality of A* Graph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4983480" cy="489204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Sketch: consider what A* does with a consistent heuristic: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Fact 1: In tree search, A* expands nodes in increasing total f value (f-contours)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Fact 2: For every state s, nodes that reach s optimally are expanded before nodes that reach s suboptimally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Result: A* graph search is optimal … f ≤ 3 f ≤ 2 f ≤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34440"/>
            <a:ext cx="57607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2121517"/>
            <a:ext cx="5541263" cy="311788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Optimality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989320" cy="489204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Tree search: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A* is optimal if heuristic is admissible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UCS is a special case (h = 0)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Graph search: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A* optimal if heuristic is consistent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UCS optimal (h = 0 is consistent)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Consistency implies admissibility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In general, most natural admissible heuristics tend to be consistent, especially if from relaxed problems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234440"/>
            <a:ext cx="48006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391631"/>
            <a:ext cx="4581144" cy="257765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2560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B845"/>
                </a:solidFill>
                <a:latin typeface="Aptos"/>
              </a:rPr>
              <a:t>LOCAL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57400"/>
            <a:ext cx="3017520" cy="1463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A*: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89320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D2DCE6"/>
                </a:solidFill>
                <a:latin typeface="Aptos"/>
              </a:rPr>
              <a:t>Slide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914400"/>
            <a:ext cx="71323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g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461320"/>
            <a:ext cx="6912863" cy="38896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A*: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9875520" cy="411480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2500">
                <a:solidFill>
                  <a:srgbClr val="232D37"/>
                </a:solidFill>
                <a:latin typeface="Aptos"/>
              </a:defRPr>
            </a:pPr>
            <a:r>
              <a:t>A* uses both backward costs and (estimates of) forward costs</a:t>
            </a:r>
          </a:p>
          <a:p>
            <a:pPr>
              <a:spcAft>
                <a:spcPts val="500"/>
              </a:spcAft>
              <a:defRPr sz="2500">
                <a:solidFill>
                  <a:srgbClr val="232D37"/>
                </a:solidFill>
                <a:latin typeface="Aptos"/>
              </a:defRPr>
            </a:pPr>
            <a:r>
              <a:t>A* is optimal for trees/graphs with admissible / consistent heuristics</a:t>
            </a:r>
          </a:p>
          <a:p>
            <a:pPr>
              <a:spcAft>
                <a:spcPts val="500"/>
              </a:spcAft>
              <a:defRPr sz="2500">
                <a:solidFill>
                  <a:srgbClr val="232D37"/>
                </a:solidFill>
                <a:latin typeface="Aptos"/>
              </a:defRPr>
            </a:pPr>
            <a:r>
              <a:t>Heuristic design is key: often use relaxed problems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But…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989320" cy="489204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A* keeps the entire explored region in memory</a:t>
            </a:r>
          </a:p>
          <a:p>
            <a:pPr>
              <a:spcAft>
                <a:spcPts val="5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=&gt; will run out of space before you get bored waiting for the answer</a:t>
            </a:r>
          </a:p>
          <a:p>
            <a:pPr>
              <a:spcAft>
                <a:spcPts val="5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There are variants that use less memory (Section 3.5.5):</a:t>
            </a:r>
          </a:p>
          <a:p>
            <a:pPr>
              <a:spcAft>
                <a:spcPts val="5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IDA* works like iterative deepening, except it uses an f-limit instead of a depth limit</a:t>
            </a:r>
          </a:p>
          <a:p>
            <a:pPr>
              <a:spcAft>
                <a:spcPts val="5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On each iteration, remember the smallest f-value that exceeds the current limit, use as new limit</a:t>
            </a:r>
          </a:p>
          <a:p>
            <a:pPr>
              <a:spcAft>
                <a:spcPts val="5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Very inefficient when f is real-valued and each node has a unique value</a:t>
            </a:r>
          </a:p>
          <a:p>
            <a:pPr>
              <a:spcAft>
                <a:spcPts val="5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RBFS is a recursive depth-first search that uses an f-limit = the f-value of the best alternative path available from any ancestor of the current node</a:t>
            </a:r>
          </a:p>
          <a:p>
            <a:pPr>
              <a:spcAft>
                <a:spcPts val="5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When the limit is exceeded, the recursion unwinds but remembers the best reachable f-value on that branch</a:t>
            </a:r>
          </a:p>
          <a:p>
            <a:pPr>
              <a:spcAft>
                <a:spcPts val="5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SMA* uses all available memory for the queue, minimizing thrashing</a:t>
            </a:r>
          </a:p>
          <a:p>
            <a:pPr>
              <a:spcAft>
                <a:spcPts val="5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When full, drop worst node on the queue but remember its value in the parent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234440"/>
            <a:ext cx="48006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391631"/>
            <a:ext cx="4581144" cy="257765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2560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B845"/>
                </a:solidFill>
                <a:latin typeface="Aptos"/>
              </a:rPr>
              <a:t>LOCAL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57400"/>
            <a:ext cx="3017520" cy="1463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Local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89320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D2DCE6"/>
                </a:solidFill>
                <a:latin typeface="Aptos"/>
              </a:rPr>
              <a:t>Slide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914400"/>
            <a:ext cx="71323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g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461320"/>
            <a:ext cx="6912863" cy="38896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Local search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989320" cy="489204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In many optimization problems, path is irrelevant; the goal state is the solution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Then state space = set of “complete” configurations; find configuration satisfying constraints, e.g., n-queens problem; or, find optimal configuration, e.g., travelling salesperson problem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In such cases, we can use iterative improvement algorithms: keep a single “current” state, try to improve it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Constant space, suitable for online as well as offline 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234440"/>
            <a:ext cx="48006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391631"/>
            <a:ext cx="4581144" cy="257765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Hill Climbing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989320" cy="489204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Simple, general idea: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Start wherever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Repeat: move to the best neighboring state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If no neighbors better than current, quit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234440"/>
            <a:ext cx="48006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391631"/>
            <a:ext cx="4581144" cy="257765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Heuristic for n-queens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989320" cy="489204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Goal: n queens on board with no conflicts, i.e., no queen attacking another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States: n queens on board, one per column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Actions: move a queen in its column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Heuristic value function: number of conflicts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234440"/>
            <a:ext cx="48006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391631"/>
            <a:ext cx="4581144" cy="257765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Hill-climbing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61872"/>
            <a:ext cx="6720840" cy="4526280"/>
          </a:xfrm>
          <a:prstGeom prst="roundRect">
            <a:avLst/>
          </a:prstGeom>
          <a:solidFill>
            <a:srgbClr val="121D27"/>
          </a:solidFill>
          <a:ln w="12700">
            <a:solidFill>
              <a:srgbClr val="12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26463"/>
            <a:ext cx="6318503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ascadia Mono"/>
              </a:rPr>
              <a:t>function HILL-CLIMBING(problem) returns a state
current ← make-node(problem.initial-state)
loop do
neighbor ← a highest-valued successor of current
if neighbor.value ≤ current.value then
return current.state
current ← neighbor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870448"/>
            <a:ext cx="6492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45D87"/>
                </a:solidFill>
                <a:latin typeface="Aptos"/>
              </a:rPr>
              <a:t>“Like climbing Everest in thick fog with amnesia”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325880"/>
            <a:ext cx="38404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g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408" y="2501725"/>
            <a:ext cx="3621024" cy="203742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Global and local maxima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4983480" cy="489204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Random restarts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find new optima Random sideways moves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Escape from shoulders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Loop forever on flat local maxima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34440"/>
            <a:ext cx="57607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2121517"/>
            <a:ext cx="5541263" cy="311788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Simulated Annealing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989320" cy="489204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Resembles the annealing process used to cool metals slowly to reach an ordered (low-energy) state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Basic idea: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Allow “bad” moves occasionally, depending on “temperature”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High temperature =&gt; more bad moves allowed, shake the system out of its local minimum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Gradually reduce temperature according to some schedule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Pretty sensitive to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234440"/>
            <a:ext cx="48006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391631"/>
            <a:ext cx="4581144" cy="257765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Simulated Annealing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61872"/>
            <a:ext cx="6720840" cy="4526280"/>
          </a:xfrm>
          <a:prstGeom prst="roundRect">
            <a:avLst/>
          </a:prstGeom>
          <a:solidFill>
            <a:srgbClr val="121D27"/>
          </a:solidFill>
          <a:ln w="12700">
            <a:solidFill>
              <a:srgbClr val="121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26463"/>
            <a:ext cx="6318503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ascadia Mono"/>
              </a:rPr>
              <a:t>function SIMULATED-ANNEALING(problem, schedule) returns a  state
current ← problem.initial-state
for t = 1 to ∞ do
T ←schedule(t)
if T = 0 then return current
next ← a randomly selected successor of current
∆E ← next.value – current.value
if ∆E &gt; 0 then current ← next
else current ← next only with probability e∆E/T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325880"/>
            <a:ext cx="38404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ge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408" y="2501725"/>
            <a:ext cx="3621024" cy="203742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Simulated Annealing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989320" cy="489204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Theoretical guarantee: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Stationary distribution (Boltzmann): P(x) ∝ eE(x)/T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If T decreased slowly enough, will converge to optimal state!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Proof sketch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Consider two adjacent states x, y with E(y) &gt; E(x) [high is good]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Assume x→y and y→x and outdegrees D(x) = D(y) = D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Let P(x), P(y) be the equilibrium occupancy probabilities at T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Let P(x→y) be the probability that state x transitions to state 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234440"/>
            <a:ext cx="48006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391631"/>
            <a:ext cx="4581144" cy="257765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Simulated Annealing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989320" cy="489204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Is this convergence an interesting guarantee?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Sounds like magic, but reality is reality: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The more downhill steps you need to escape a local optimum, the less likely you are to ever make them all in a row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“Slowly enough” may mean exponentially slowly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Random restart hill climbing also converges to optimal state…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Simulated annealing and its relatives are a key workhorse in VLSI layout and other optimal configuration problems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234440"/>
            <a:ext cx="48006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391631"/>
            <a:ext cx="4581144" cy="257765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Local beam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989320" cy="489204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Basic idea: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K copies of a local search algorithm, initialized randomly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For each iteration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Generate ALL successors from K current states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Choose best K of these to be the new current states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Why is this different from K local searches in parallel?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The searches “communicate”. “Come over here, the grass is greener!”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What other well-known algorithm does this remind you of?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Evolution!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234440"/>
            <a:ext cx="48006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391631"/>
            <a:ext cx="4581144" cy="257765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Genetic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9875520" cy="411480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2500">
                <a:solidFill>
                  <a:srgbClr val="232D37"/>
                </a:solidFill>
                <a:latin typeface="Aptos"/>
              </a:defRPr>
            </a:pPr>
            <a:r>
              <a:t>Genetic algorithms use a natural selection metaphor</a:t>
            </a:r>
          </a:p>
          <a:p>
            <a:pPr>
              <a:spcAft>
                <a:spcPts val="500"/>
              </a:spcAft>
              <a:defRPr sz="2500">
                <a:solidFill>
                  <a:srgbClr val="232D37"/>
                </a:solidFill>
                <a:latin typeface="Aptos"/>
              </a:defRPr>
            </a:pPr>
            <a:r>
              <a:t>Resample K individuals at each step (selection) weighted by fitness function</a:t>
            </a:r>
          </a:p>
          <a:p>
            <a:pPr>
              <a:spcAft>
                <a:spcPts val="500"/>
              </a:spcAft>
              <a:defRPr sz="2500">
                <a:solidFill>
                  <a:srgbClr val="232D37"/>
                </a:solidFill>
                <a:latin typeface="Aptos"/>
              </a:defRPr>
            </a:pPr>
            <a:r>
              <a:t>Combine by pairwise crossover operators, plus mutation to give variety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Example: N-Queens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9875520" cy="411480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2500">
                <a:solidFill>
                  <a:srgbClr val="232D37"/>
                </a:solidFill>
                <a:latin typeface="Aptos"/>
              </a:defRPr>
            </a:pPr>
            <a:r>
              <a:t>Does crossover make sense here?</a:t>
            </a:r>
          </a:p>
          <a:p>
            <a:pPr>
              <a:spcAft>
                <a:spcPts val="500"/>
              </a:spcAft>
              <a:defRPr sz="2500">
                <a:solidFill>
                  <a:srgbClr val="232D37"/>
                </a:solidFill>
                <a:latin typeface="Aptos"/>
              </a:defRPr>
            </a:pPr>
            <a:r>
              <a:t>What would mutation be?</a:t>
            </a:r>
          </a:p>
          <a:p>
            <a:pPr>
              <a:spcAft>
                <a:spcPts val="500"/>
              </a:spcAft>
              <a:defRPr sz="2500">
                <a:solidFill>
                  <a:srgbClr val="232D37"/>
                </a:solidFill>
                <a:latin typeface="Aptos"/>
              </a:defRPr>
            </a:pPr>
            <a:r>
              <a:t>What would a good fitness function be?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2560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EB845"/>
                </a:solidFill>
                <a:latin typeface="Aptos"/>
              </a:rPr>
              <a:t>LOCAL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57400"/>
            <a:ext cx="3017520" cy="1463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Local search in continuous spaces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89320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D2DCE6"/>
                </a:solidFill>
                <a:latin typeface="Aptos"/>
              </a:rPr>
              <a:t>Slide 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914400"/>
            <a:ext cx="71323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ge-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461320"/>
            <a:ext cx="6912863" cy="38896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Example: Siting airports in Romania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4983480" cy="489204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Place 3 airports to minimize the sum of squared distances from each city to its nearest airport Airport locations x = (x1,y1), (x2,y2), (x3,y3) City locations (xc,yc) Ca = cities closest to airport a Objective: minimize f(x) = Σa Σc∈Ca (xa - xc)2 + (ya - yc)2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34440"/>
            <a:ext cx="57607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-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2121517"/>
            <a:ext cx="5541263" cy="311788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Handling a continuous state/action 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989320" cy="489204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1. Discretize it!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Define a grid with increment δ , use any of the discrete algorithms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2. Choose between random perturbations to the state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Hill climbing, simulated annealing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3. Use continuous, analytic methods analytically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Compute gradients, etc. to extrapolate local curvature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234440"/>
            <a:ext cx="48006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-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391631"/>
            <a:ext cx="4581144" cy="2577657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Finding extrema in continuous 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4983480" cy="489204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Gradient vector ∇f(x) = (∂f/∂x1, ∂f/∂y1, ∂f/∂x2, …)T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For the airports, f(x) = Σa Σc∈Ca (xa - xc)2 + (ya - yc)2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∂f/∂x1 = Σc∈C1 2(x1 - xc)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At an extremum, ∇f(x) = 0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Can sometimes solve in closed form: x1 = (Σc∈C1 xc)/|C1|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Is this a local or global minimum of f?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Gradient descent: x ← x - α∇f(x)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Huge range of algorithms for finding extrema using gradients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34440"/>
            <a:ext cx="57607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-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2121517"/>
            <a:ext cx="5541263" cy="311788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91F33"/>
                </a:solidFill>
                <a:latin typeface="Aptos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59536"/>
            <a:ext cx="1005840" cy="54864"/>
          </a:xfrm>
          <a:prstGeom prst="rect">
            <a:avLst/>
          </a:prstGeom>
          <a:solidFill>
            <a:srgbClr val="EEB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3200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>
                <a:solidFill>
                  <a:srgbClr val="5E6C7A"/>
                </a:solidFill>
                <a:latin typeface="Aptos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E6C7A"/>
                </a:solidFill>
                <a:latin typeface="Aptos"/>
              </a:rPr>
              <a:t>COMP 469  •  Artificial Intelligence  •  Local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989320" cy="4892040"/>
          </a:xfrm>
          <a:prstGeom prst="rect">
            <a:avLst/>
          </a:prstGeom>
          <a:noFill/>
        </p:spPr>
        <p:txBody>
          <a:bodyPr wrap="square" rIns="45720" tIns="18288" bIns="18288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Many configuration and optimization problems can be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formulated as local search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General families of algorithms: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Hill-climbing, continuous optimization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Simulated annealing (and other stochastic methods)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Local beam search: multiple interaction searches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Genetic algorithms: break and recombine states</a:t>
            </a:r>
          </a:p>
          <a:p>
            <a:pPr>
              <a:spcAft>
                <a:spcPts val="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Many machine learning algorithms are local searches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234440"/>
            <a:ext cx="48006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-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391631"/>
            <a:ext cx="4581144" cy="25776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