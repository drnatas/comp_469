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078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Two-hour session. Frame the whole lecture in one sentence before advancing: for the last three weeks every algorithm we studied returned a PATH; today every algorithm returns a STATE. That single change buys us problems that were previously out of reach, and costs us every guarantee we had.
Coverage: 4.1 (local search and optimization: hill climbing, simulated annealing, local beam search, evolutionary algorithms) and 4.2 (continuous spaces). Sections 4.3-4.5 are next lecture.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Point out that today's relaxation is the least intuitive of the four to state but the easiest to motivate: nobody cares HOW you arrived at a valid 8-queens configuration.
If students ask why 4.1 and 4.2 are grouped: they are the same idea (find a good state, ignore the path) in discrete and continuous state spaces respectively. 4.2 is where the connection to machine learning appears.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objectives 3 and 5 aloud — those are the ones that appear on the midterm in almost exactly that form. Objective 5 in particular: students routinely memorise 'expected restarts = 1/p' and then cannot handle the follow-up about expected total steps including failed runs.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screen during the first minute and leave the break time visible. Students settle faster when they know when the break lands.
If you are running long, the compressible material is: the evolutionary algorithms design-dimension slide (49) and the schema theory slide (55). Do not compress the hill-climbing failure modes or the random-restart arithmetic; those carry the most exam weight.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4.1. Roughly 45 minutes of material, split across hill climbing, simulated annealing, beam search, and evolutionary algorithms.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rhetorical move that makes this land: ask the room whether they would accept a Sudoku solution without the order the cells were filled in. Of course they would. Then ask whether they would accept driving directions that only tell them the destination.
The textbook's phrasing is worth quoting: if you know the configuration, it is trivial to reconstruct the steps that created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straight out of 4.1 and is worth a full minute — students arrive believing search is about mazes and puzzles.
A CSUCI-flavoured example if you want one: choosing which of several thousand candidate firewall rules to keep and in what order, scored by a cost function over blocked-traffic risk and rule-evaluation latency. Nobody cares how you arrived at the rule set; they care that the rule set is good.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'not systematic' deserves emphasis. Ask: what property of Chapter 3 algorithms guaranteed completeness? Answer: the reached set plus an exhaustive frontier. Remove both and completeness goes with them.
Common student objection: 'so it might miss the answer entirely?' Yes. Random restarts recover completeness only in the probability-1 sense, which we cover in about twenty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sign point explicitly, because the textbook flips between the two conventions within a single section and students find that maddening. Section 4.1.1 maximises value; 4.1.2 switches to minimising cost for the ping-pong-ball picture; 4.2 minimises again.
Rule of thumb to give them: read the picture, not the prose. If the peaks are good, you are maximising.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 three minutes minimum. Everything downstream is a callback to this figure.
Walk the five labelled features in order: global maximum, shoulder, local maximum, flat local maximum, current state. Ask which of the five the agent can distinguish from where it stands. Answer: none of them. It knows only its own elevation and its neighbours' elevations. That is the whole difficulty.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flag early. Students who have already seen gradient descent in a stats or ML context will relax visibly once they realise this is the same thing. Students who have not will have a hook for later.
Do not let anyone leave believing hill climbing and gradient descent are different algorithms.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fill in the right-hand column for a second problem before you show it — travelling salesperson works well. States: a complete tour. Successors: swap two cities, or reverse a subsequence (2-opt). Value: negative tour length.
The 56 figure is worth deriving out loud: 8 columns times 7 other rows each. Students who miss this get the branching factor wrong on the exam.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28 minutes. The arc: algorithm, metaphor, worked example, three failure modes, three fixes, and the arithmetic of restarts.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once out loud with a volunteer state before advancing.
The subtle line is the termination test: '≤' rather than '&lt;'. With ≤, a sideways move to an equal-valued neighbour terminates the search. Change it to '&lt;' and the algorithm will happily wander a plateau forever. We come back to that choice in about ten minutes when we allow sideways moves deliberately.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enjoy this line, so use it — but immediately convert the joke into the three design consequences on the cards, otherwise it stays a joke.
Good question to pose: which of the three would you relax first if you were allowed to spend memory? Most students say amnesia (add a tabu list). That is exactly right and it is what tabu search does; mention the name in passing, it is not in 4.1 but it is the obvious next step and comes up in interviews.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intervening-piece rule is the single most common source of wrong h values on homework. Draw a column with three queens in a line on the board and count: that is three attacking pairs, not two.
8^8 is worth writing on the board: 16,777,216. Then point out that we will solve instances of it while storing exactly one 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sixty seconds to hunt for the minimum. This is the moment the algorithm becomes concrete rather than notational.
Answer on the next slide: h = 12, achieved by five different squares. Do not reveal it early. If someone shouts 12, ask them how many squares tie for it — almost nobody gets the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five-tie point matters more than it looks: the choice among the five determines whether this run ends at h = 1 stuck or at h = 0 solved. The algorithm has no principled way to choose. That is a real weakness, not a detail of the presentation.
Set up the next slide by saying: five steps from here we hit a board with h = 1 — one attacking pair, one move from perfection — and we will be completely, permanently stuck.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of the lecture — say it slowly and consider writing it on the board so it stays up for the next hour.
If you want to connect to earlier material: greedy best-first search from Chapter 3 had the same character, and A* fixed it by adding g(n). There is no equivalent fix here, because there is no path to charge a cost 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h = 1 board and let the frustration land. One pair. Fifty-six moves available. All of them worse.
The deeper point: the algorithm has no way to know the difference between this and a genuine solution, because the only signal it has is 'no neighbour is better' — and that signal is identical in both cases.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takeaway on this slide is on the card: change the successor function and the ridge disappears. If you allow diagonal moves in this landscape, the problem is trivial.
This is why the formulation step from slide 12 is not busywork. In practice, redesigning the neighbourhood structure beats redesigning the algorithm more often than students expect.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sideways-move fix two slides from now, so do not resolve the dilemma yet. Let it sit.
Good exam-style question to ask: give a policy that is guaranteed to terminate and guaranteed to escape every shoulder. There isn't one that does both without additional information. The practical compromise (cap the sideways moves) is on slide 24.</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14% land as 'hill climbing is bad'. The interesting number is the 3-4 steps. An algorithm that terminates in four steps can be run two hundred times for less than the cost of one systematic search.
That framing is what makes random restarts feel inevitable rather than like a patch.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94% from a one-line change is the single most memorable number in 4.1.1. Make sure it is written down.
The implementation detail worth stating: the counter must reset to zero on any strictly uphill move, and the limit is on CONSECUTIVE sideways moves, not total. Students get this wrong when they implement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forward reference on the dark card explicitly — it is the bridge to 4.2 and it comes back in about an hour. The other survivor is simulated annealing, for the same reason: it samples a random successor rather than enumerating.
Ask which variant you would use for a state with 10^6 successors. First-choice, obviously. Then ask about 10 successors. Steepest ascent, because enumeration is free and the extra information is worth having.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distinction between 'complete' and 'complete with probability 1' carefully — it shows up on exams as a trap. A student who writes 'random-restart hill climbing is complete' without qualification loses the point.
The geometric-distribution connection is worth 30 seconds if your students have had a probability course; skip it if they have not, and just assert 1/p.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left column on the board rather than just showing it — this exact computation, with different numbers, is a standard exam question.
The interesting comparison is that the two columns land in almost the same place, 22 vs 25 steps, by completely different routes: many cheap failures versus one expensive success. Ask which you would prefer in a setting where each restart has fixed overhead (setting up a simulation, say). Answer: the right-hand column, because restarts are not free in practice.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porcupine line is Russell and Norvig's, and it is the most useful mental image in the chapter for why benchmark results mislead. Use it verbatim.
The practical warning to give: a student who validates a local search method only on 8-queens has learned almost nothing about how it will behave on their actual problem.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printed in green under each question — hide them with a slide-show annotation, or delete the answer text boxes if you want to project this cold.
Run as a two-minute think-pair-share. Question 1 is the one that reveals whether students actually absorbed the difference between 'terminated' and 'solved'. If more than a third get it wrong, revisit slide 20 before continuing.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17 minutes. This is the most conceptually elegant algorithm in the chapter and the one most often misremembered: students recall 'accept bad moves sometimes' and forget both the exponential and the schedule.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 fixed' point is the one students miss. A 50/50 blend of hill climbing and random walk is a bad algorithm. What makes annealing work is that the blend changes over time, and the schedule that changes it is a design parameter you have to tune.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viewpoint flip out loud — the textbook switches from hill climbing to gradient descent right here and students who do not notice spend the rest of the section confused about the sign of delta-E.
The 'spend more time in deeper crevices' phrase is doing real work: it is a plain-language statement of the Boltzmann distribution we get to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two iterations by hand. Take delta-E = -2 and T = 10, then T = 0.5, and compute the two acceptance probabilities. That thirty seconds does more than any amount of explanation.
e^(-2/10) = 0.82; e^(-2/0.5) = 0.018. Same move, same badness, wildly different behaviour depending only on where you are in the schedule.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ends of the curve family on the graph as you say the last line. The T = 10 curve is nearly flat at 1 (random walk); the T = 0.3 curve collapses to zero almost immediately (hill climbing).
This is the slide that makes 'interpolation between two algorithms' concrete rather than metaphorical.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this is the least principled part of the algorithm. Students who implement annealing for a project and get poor results almost always have a schedule problem, not a code problem.
The 80%-acceptance heuristic for choosing T-zero is standard practice and is not in the textbook; it is worth giving them because it makes their projects work.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verify one cell with a calculator: e^(-5/10) = 0.607. That single check converts the formula from decoration into arithmetic they trust.
Note the bottom-right corner: at T = 0.1, even a mildly worse move is accepted about once in twenty thousand attempts. The algorithm has effectively become hill climbing, which is exactly the intent.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you have a demo handy — watching the state jump downhill early and then settle is more convincing than a static trace.
Emphasise the last bullet. A single annealing run is still a gamble. What annealing buys is a much better gamble than hill climbing offers, not a certainty.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lesson in reading theory critically, and it is worth saying so explicitly. The convergence result is genuinely true, genuinely famous, and almost entirely useless as a reason to choose the algorithm.
Good discussion prompt: what WOULD be an interesting guarantee here? Something like 'within a factor of two of optimal in polynomial time' — which for most of these problems does not exist.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of last resort' framing is honest and students appreciate it. Annealing is not the best algorithm for any specific well-structured problem; it is a reasonable algorithm for problems with no structure to exploit.
If anyone asks about quantum annealing: acknowledge it exists, note it targets the same problem class, and move on. It is well outside 4.1.2.</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Use the last minute before the break to take questions on annealing specifically — it is the topic students most often want to ask about privately.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12 minutes. Short section, but it is the conceptual bridge to evolutionary algorithms, so do not rush the 'not k parallel restarts' point.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pool is the crux. Write the pool on the board as one long list of k times b successors, then draw a line after the k-th best. Ask which original states contributed. Usually one or two.
Note for students who saw beam search in a different course: this is LOCAL beam search over states, not the beam search used for decoding sequences, though the pruning idea is the same.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most often get wrong on exams: 'local beam search is just k parallel hill climbers' is a very tempting and very wrong answer.
Make the mechanism explicit — the resource reallocation is implicit in the selection step, not in any explicit communication. That framing makes the jump to genetic algorithms feel like a small step rather than a new topic.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is the mirror image of the strength. Aggressive resource reallocation is exactly what makes the algorithm efficient, and exactly what makes it collapse.
Ask: with k = 4 and all four states on the same peak, what have you gained over hill climbing? Nothing, and you are paying four times the successor-generation cost. That sets up stochastic beam search perfectly.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reveal deliberately — pause after 'That is natural selection.' Students who see the connection themselves remember evolutionary algorithms as a special case rather than as a separate topic to memorise.
The textbook makes the same move: it defines evolutionary algorithms as variants of stochastic beam search, with the mixing number rho = 1 recovering stochastic beam search exactly.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to photograph — tell them so. It is also a good exam-review artifact.
If time is short this can be delivered in 45 seconds by reading only the 'escapes local maxima by' column top to bottom. That column is the spine of the whole section.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Resist the temptation to spend it on biology. The examinable content is the design dimensions, the 8-queens encoding, the crossover walkthrough, and the honest assessment at the end.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rust rows are what is actually new in 4.1.4. Everything above them you already know under a different name.
The rho = 1 identity is worth stating twice; it is the cleanest way to keep evolutionary algorithms from feeling like a separate universe. And note that rho &gt; 2 is possible, occurs only rarely in nature, and is easy to simulate on a computer.</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seven aloud — that is a waste of ninety seconds. Read Representation, Mixing number, and Next generation, and let them read the rest.
Elitism is the one worth a sentence of emphasis: without it, the best solution found so far can be lost, and students are always surprised by that.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on the contrast bullet. Representation engineering is the part of genetic algorithms that actually determines whether they work, and it is the part students skip.
Check understanding: what is the state space size under this encoding? 8^8, the same as before — the encoding did not change the problem, only how it is written down.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one probability on the board: 24/78 = 0.3077. Students trust the table more once one cell has been checked.
The 28 comes from 8 choose 2. Ask for it rather than stating it; it is a one-second check that reveals whether they are following.</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child digit by digit: 327 from the first parent, 48552 from the second, giving 32748552. Slow and explicit beats fast and gestural here.
The closing observation — that crossover's step size shrinks by itself as the population converges — is the most sophisticated idea in 4.1.4 and it is one sentence in the book. It is worth thirty seconds.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4.1.4 and it is the one students least expect. Genetic algorithms are not a general-purpose hammer; their advantage is contingent on a property of your encoding that you have to engineer deliberately.
Good provocation: if I randomly permute the digit positions in the 8-queens encoding, the problem is unchanged but crossover stops helping. Why? Because contiguity in the string no longer corresponds to contiguity on the board.</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unless your students have the mathematical background — the schema theorem in full has well-known limitations and modern GA theory has largely moved past it. The examinable content is the definition of a schema and the informal statement on the card.
The antenna example is the book's and it is the clearest illustration of what 'meaningful component' means.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maximum; this is context, not examinable content.
The Baldwin effect is the genuinely surprising item and the one worth a sentence: Lamarck was wrong that acquired traits are inherited, but Baldwin was right that the ABILITY to learn changes what evolution can find. A consequence is that things hard to learn end up in the genome while things easy to learn need not.
The closing point about reproduction machinery living outside the representation is the sharpest statement of where the metaphor stops.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reading the 'uncomfortable question' card verbatim — it is Russell and Norvig's own wording and it carries more weight coming from them than from you.
If a student is planning a project using a genetic algorithm, tell them to implement random-restart hill climbing first as a baseline. It takes an hour and it is the comparison a reviewer will ask for.</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one to dwell on if you have time. Students collect guarantees without interrogating them, and this pair of results is the cleanest available demonstration of why an asymptotic guarantee can be worthless in practice.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pause slide. It sets up 4.2 by making the failure concrete before offering the repair.
Call back to slide 25 where you flagged first-choice hill climbing as the survivor. Students who wrote that down get a small reward for having done so.</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Keep the calculus light: the examinable content is the four approaches (discretize, sample, gradient, Newton), the airport example, and the constrained-optimization vocabulary at the end.</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becomes possible' card is the pivot. Continuous spaces take away enumeration but hand back derivatives, and derivatives are a far more powerful source of local information than a list of neighbours.
That is the trade to keep in view for the rest of the section.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reuse of the Romania map from Chapter 3 — and that we are now using it for something completely different. In Chapter 3 the edges mattered and we searched for a path. Here the edges are irrelevant; only the city coordinates matter, and we are searching for a configuration.
That contrast is worth ten seconds because it makes the path-versus-state distinction concrete on a map they already know.</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locally-but-not-globally-correct point is subtle and important. The objective is piecewise smooth: within a region where the assignment of cities to airports is fixed, f is a clean quadratic. Cross a boundary and you are on a different quadratic.
Students who have seen k-means will recognise this immediately — it is the same structure, and the algorithm we derive in a few slides is essentially Lloyd's algorithm.</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 comes from 6 variables times 2 directions — make students derive it, it is the fastest check that they understood the state representation.
Discretization is the approach students reach for by default, and it deserves respect: it is often the right answer for low-dimensional problems with no usable derivative. It stops being the right answer as n grows, because 2n successors per step in a fine grid is a very slow way to travel.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black-box framing is what makes this approach memorable and is how it is used in practice — hyperparameter tuning, simulation optimization, and A/B-style experiments all live here.
Cost warning worth stating: a finite-difference gradient in n dimensions costs at least n+1 function evaluations per step. In high dimensions that is brutal, which is exactly why automatic differentiation matters in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one-airport case is worth doing on the board: differentiate the sum of squared distances, set to zero, and the centroid falls out in three lines. Students find it satisfying and it makes the three-airport difficulty concrete by contrast.
Why three airports is hard: C-sub-i depends on x, so f is not one smooth function but a patchwork, and the patch boundaries move as you move.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words 'learning rate' out loud. Half the room has met alpha under that name and will not otherwise connect the two.
The middle bullet is the payoff of the whole lecture: we have travelled from a 56-successor enumeration on a chessboard to the update rule at the heart of neural network training, and it is recognisably the same algorithm.</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panel is the one to point at: divergence is not a slow failure, it is an immediate and spectacular one. Students who have watched a training loss go to NaN have seen exactly this.
Line search converts a hyperparameter into a computation, at the cost of extra function evaluations per step. There are several schools of thought about how the new direction should be chosen after a line search terminates — that is the whole field of nonlinear optimization and is well beyond us here.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derive anything here. The takeaway is conceptual: gradient descent uses first-order information, Newton uses second-order information, and second-order information buys you the step size for free at a cost of n-squared.
If someone asks what the approximate versions are called: quasi-Newton methods, BFGS and L-BFGS being the famous ones. L-BFGS is what you will meet in practice.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k-means connection is not in the textbook and it is the single most valuable thing you can add to this section. Students who have taken a data course get an immediate 'oh, THAT is what k-means is' moment, and students who have not now have a hook for when they meet it.
The objective values are printed on both maps — the drop from the left panel to the right is the optimization actually happening.</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to A* heuristic quality versus per-node cost is worth making explicitly. It is the same economic structure appearing in a completely different setting, and students who see the pattern once tend to start looking for it.</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saddle-point observation is not in the textbook but it is the standard modern account and it directly answers the question a sharp student will ask: if the landscape is full of local minima, why does deep learning work at all? Answer: in very high dimensions, most critical points are saddles, and gradient methods with noise escape saddles.
Keep it to two sentences unless someone asks.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sentence is the practical rule and it deserves emphasis: convexity means there is exactly one local optimum and it is global, so every difficulty from the last two hours evaporates. Recognising convexity is worth real money.
Do not attempt to define convexity rigorously here. 'The line segment between any two points in the region stays inside the region, and the chord between any two points on the function stays above it' is enough for now.</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Photograph-worthy summary slide; tell them so. It also doubles as a project-planning aid.
If you want a discussion prompt to close on: ask which row their own semester project falls into. Most will discover they have not characterised their objective function well enough to answer, which is itself the lesson.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delivered briskly. Students take this slide seriously in a way they do not take a generic 'study hard' slide.
The branching-factor item is the highest-frequency error by a wide margin.</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that you opened on slide 11. The lecture began by claiming hill climbing and gradient descent are the same algorithm; this slide is the receipt.
If you have a minute spare, ask where a language model's training loop sits on this table. Answer: the last column, with the added twist that the gradient is estimated on a minibatch — which makes it stochastic gradient descent, a hybrid of the last column and the sampling idea in the second.</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written question is deliberately underdetermined; there is no single right answer. What you are grading is whether they reason about the evaluation budget — 180,000 evaluations is enough for a great many restarts of a cheap algorithm or a handful of runs of an expensive one, and that arithmetic is the point.
Strong answers will name random-restart hill climbing as the baseline, per slide 56.</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forward: today we removed the path from the problem. Next time we remove the certainty. The common thread across Chapter 4 is that every simplifying assumption we drop forces a change in what a 'solution' even is — a sequence, then a state, then a conditional plan, then a policy over belief states.
Take questions here.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76FCF24-1F6A-FFCD-FF72-3C14A89FA7D3}"/>
              </a:ext>
            </a:extLst>
          </p:cNvPr>
          <p:cNvPicPr>
            <a:picLocks noChangeAspect="1"/>
          </p:cNvPicPr>
          <p:nvPr/>
        </p:nvPicPr>
        <p:blipFill>
          <a:blip r:embed="rId3"/>
          <a:stretch>
            <a:fillRect/>
          </a:stretch>
        </p:blipFill>
        <p:spPr>
          <a:xfrm>
            <a:off x="3145283" y="749808"/>
            <a:ext cx="9354845" cy="6236563"/>
          </a:xfrm>
          <a:prstGeom prst="rect">
            <a:avLst/>
          </a:prstGeom>
        </p:spPr>
      </p:pic>
      <p:sp>
        <p:nvSpPr>
          <p:cNvPr id="3" name="Text 0"/>
          <p:cNvSpPr/>
          <p:nvPr/>
        </p:nvSpPr>
        <p:spPr>
          <a:xfrm>
            <a:off x="612648" y="749808"/>
            <a:ext cx="9144000" cy="274320"/>
          </a:xfrm>
          <a:prstGeom prst="rect">
            <a:avLst/>
          </a:prstGeom>
          <a:noFill/>
          <a:ln/>
        </p:spPr>
        <p:txBody>
          <a:bodyPr wrap="square" lIns="0" tIns="0" rIns="0" bIns="0" rtlCol="0" anchor="ctr"/>
          <a:lstStyle/>
          <a:p>
            <a:pPr marL="0" indent="0">
              <a:buNone/>
            </a:pPr>
            <a:r>
              <a:rPr lang="en-US" sz="1200" b="1" kern="0" spc="260" dirty="0">
                <a:solidFill>
                  <a:srgbClr val="E4D9C3"/>
                </a:solidFill>
                <a:latin typeface="Calibri" pitchFamily="34" charset="0"/>
                <a:ea typeface="Calibri" pitchFamily="34" charset="-122"/>
                <a:cs typeface="Calibri" pitchFamily="34" charset="-120"/>
              </a:rPr>
              <a:t>CALIFORNIA STATE UNIVERSITY CHANNEL ISLANDS</a:t>
            </a:r>
            <a:endParaRPr lang="en-US" sz="1200" dirty="0"/>
          </a:p>
        </p:txBody>
      </p:sp>
      <p:sp>
        <p:nvSpPr>
          <p:cNvPr id="4" name="Text 1"/>
          <p:cNvSpPr/>
          <p:nvPr/>
        </p:nvSpPr>
        <p:spPr>
          <a:xfrm>
            <a:off x="612648" y="1078992"/>
            <a:ext cx="9144000" cy="310896"/>
          </a:xfrm>
          <a:prstGeom prst="rect">
            <a:avLst/>
          </a:prstGeom>
          <a:noFill/>
          <a:ln/>
        </p:spPr>
        <p:txBody>
          <a:bodyPr wrap="square" lIns="0" tIns="0" rIns="0" bIns="0" rtlCol="0" anchor="ctr"/>
          <a:lstStyle/>
          <a:p>
            <a:pPr marL="0" indent="0">
              <a:buNone/>
            </a:pPr>
            <a:r>
              <a:rPr lang="en-US" sz="1550" dirty="0">
                <a:solidFill>
                  <a:srgbClr val="5F757F"/>
                </a:solidFill>
                <a:latin typeface="Calibri" pitchFamily="34" charset="0"/>
                <a:ea typeface="Calibri" pitchFamily="34" charset="-122"/>
                <a:cs typeface="Calibri" pitchFamily="34" charset="-120"/>
              </a:rPr>
              <a:t>COMP 469  ·  Introduction to Artificial Intelligence</a:t>
            </a:r>
            <a:endParaRPr lang="en-US" sz="1550" dirty="0"/>
          </a:p>
        </p:txBody>
      </p:sp>
      <p:sp>
        <p:nvSpPr>
          <p:cNvPr id="5" name="Text 2"/>
          <p:cNvSpPr/>
          <p:nvPr/>
        </p:nvSpPr>
        <p:spPr>
          <a:xfrm>
            <a:off x="612648" y="1874520"/>
            <a:ext cx="8595360" cy="1783080"/>
          </a:xfrm>
          <a:prstGeom prst="rect">
            <a:avLst/>
          </a:prstGeom>
          <a:noFill/>
          <a:ln/>
        </p:spPr>
        <p:txBody>
          <a:bodyPr wrap="square" lIns="0" tIns="0" rIns="0" bIns="0" rtlCol="0" anchor="ctr"/>
          <a:lstStyle/>
          <a:p>
            <a:pPr marL="0" indent="0">
              <a:lnSpc>
                <a:spcPts val="5800"/>
              </a:lnSpc>
              <a:buNone/>
            </a:pPr>
            <a:r>
              <a:rPr lang="en-US" sz="5200" b="1" dirty="0">
                <a:solidFill>
                  <a:srgbClr val="FFFFFF"/>
                </a:solidFill>
                <a:latin typeface="Cambria" pitchFamily="34" charset="0"/>
                <a:ea typeface="Cambria" pitchFamily="34" charset="-122"/>
                <a:cs typeface="Cambria" pitchFamily="34" charset="-120"/>
              </a:rPr>
              <a:t>Search in Complex</a:t>
            </a:r>
            <a:endParaRPr lang="en-US" sz="5200" dirty="0"/>
          </a:p>
          <a:p>
            <a:pPr marL="0" indent="0">
              <a:lnSpc>
                <a:spcPts val="5800"/>
              </a:lnSpc>
              <a:buNone/>
            </a:pPr>
            <a:r>
              <a:rPr lang="en-US" sz="5200" b="1" dirty="0">
                <a:solidFill>
                  <a:srgbClr val="FFFFFF"/>
                </a:solidFill>
                <a:latin typeface="Cambria" pitchFamily="34" charset="0"/>
                <a:ea typeface="Cambria" pitchFamily="34" charset="-122"/>
                <a:cs typeface="Cambria" pitchFamily="34" charset="-120"/>
              </a:rPr>
              <a:t>Environments</a:t>
            </a:r>
            <a:endParaRPr lang="en-US" sz="5200" dirty="0"/>
          </a:p>
        </p:txBody>
      </p:sp>
      <p:sp>
        <p:nvSpPr>
          <p:cNvPr id="6" name="Text 3"/>
          <p:cNvSpPr/>
          <p:nvPr/>
        </p:nvSpPr>
        <p:spPr>
          <a:xfrm>
            <a:off x="612648" y="3767328"/>
            <a:ext cx="8778240" cy="457200"/>
          </a:xfrm>
          <a:prstGeom prst="rect">
            <a:avLst/>
          </a:prstGeom>
          <a:noFill/>
          <a:ln/>
        </p:spPr>
        <p:txBody>
          <a:bodyPr wrap="square" lIns="0" tIns="0" rIns="0" bIns="0" rtlCol="0" anchor="ctr"/>
          <a:lstStyle/>
          <a:p>
            <a:pPr marL="0" indent="0">
              <a:buNone/>
            </a:pPr>
            <a:r>
              <a:rPr lang="en-US" sz="2500" i="1" dirty="0">
                <a:solidFill>
                  <a:srgbClr val="D08B6F"/>
                </a:solidFill>
                <a:latin typeface="Cambria" pitchFamily="34" charset="0"/>
                <a:ea typeface="Cambria" pitchFamily="34" charset="-122"/>
                <a:cs typeface="Cambria" pitchFamily="34" charset="-120"/>
              </a:rPr>
              <a:t>Local Search and Optimization Problems</a:t>
            </a:r>
            <a:endParaRPr lang="en-US" sz="2500" dirty="0"/>
          </a:p>
        </p:txBody>
      </p:sp>
      <p:sp>
        <p:nvSpPr>
          <p:cNvPr id="8" name="Text 5"/>
          <p:cNvSpPr/>
          <p:nvPr/>
        </p:nvSpPr>
        <p:spPr>
          <a:xfrm>
            <a:off x="612648" y="5394960"/>
            <a:ext cx="5486400" cy="292608"/>
          </a:xfrm>
          <a:prstGeom prst="rect">
            <a:avLst/>
          </a:prstGeom>
          <a:noFill/>
          <a:ln/>
        </p:spPr>
        <p:txBody>
          <a:bodyPr wrap="square" lIns="0" tIns="0" rIns="0" bIns="0" rtlCol="0" anchor="ctr"/>
          <a:lstStyle/>
          <a:p>
            <a:pPr marL="0" indent="0">
              <a:buNone/>
            </a:pPr>
            <a:r>
              <a:rPr lang="en-US" sz="1250" dirty="0">
                <a:solidFill>
                  <a:srgbClr val="5F757F"/>
                </a:solidFill>
                <a:latin typeface="Calibri" pitchFamily="34" charset="0"/>
                <a:ea typeface="Calibri" pitchFamily="34" charset="-122"/>
                <a:cs typeface="Calibri" pitchFamily="34" charset="-120"/>
              </a:rPr>
              <a:t>Two-hour lecture  ·  Lecture 04</a:t>
            </a:r>
            <a:endParaRPr lang="en-US" sz="1250" dirty="0"/>
          </a:p>
        </p:txBody>
      </p:sp>
      <p:sp>
        <p:nvSpPr>
          <p:cNvPr id="7" name="Text 4"/>
          <p:cNvSpPr/>
          <p:nvPr/>
        </p:nvSpPr>
        <p:spPr>
          <a:xfrm>
            <a:off x="612648" y="4370832"/>
            <a:ext cx="9601200" cy="310896"/>
          </a:xfrm>
          <a:prstGeom prst="rect">
            <a:avLst/>
          </a:prstGeom>
          <a:noFill/>
          <a:ln/>
        </p:spPr>
        <p:txBody>
          <a:bodyPr wrap="square" lIns="0" tIns="0" rIns="0" bIns="0" rtlCol="0" anchor="ctr"/>
          <a:lstStyle/>
          <a:p>
            <a:pPr marL="0" indent="0">
              <a:buNone/>
            </a:pPr>
            <a:r>
              <a:rPr lang="en-US" sz="1400" dirty="0">
                <a:solidFill>
                  <a:srgbClr val="E4D9C3"/>
                </a:solidFill>
                <a:latin typeface="Calibri" pitchFamily="34" charset="0"/>
                <a:ea typeface="Calibri" pitchFamily="34" charset="-122"/>
                <a:cs typeface="Calibri" pitchFamily="34" charset="-120"/>
              </a:rPr>
              <a:t>Russell &amp; Norvig, </a:t>
            </a:r>
            <a:r>
              <a:rPr lang="en-US" sz="1400" i="1" dirty="0">
                <a:solidFill>
                  <a:srgbClr val="E4D9C3"/>
                </a:solidFill>
                <a:latin typeface="Calibri" pitchFamily="34" charset="0"/>
                <a:ea typeface="Calibri" pitchFamily="34" charset="-122"/>
                <a:cs typeface="Calibri" pitchFamily="34" charset="-120"/>
              </a:rPr>
              <a:t>Artificial Intelligence: A Modern Approach</a:t>
            </a:r>
            <a:r>
              <a:rPr lang="en-US" sz="1400" dirty="0">
                <a:solidFill>
                  <a:srgbClr val="E4D9C3"/>
                </a:solidFill>
                <a:latin typeface="Calibri" pitchFamily="34" charset="0"/>
                <a:ea typeface="Calibri" pitchFamily="34" charset="-122"/>
                <a:cs typeface="Calibri" pitchFamily="34" charset="-120"/>
              </a:rPr>
              <a:t> (4th ed.)  —  Sections 4.1 and 4.2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COURSE ROADMAP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Chapter 3 solved an easy world. Chapter 4 breaks it.</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66928" y="1481328"/>
            <a:ext cx="11057839" cy="566928"/>
          </a:xfrm>
          <a:prstGeom prst="rect">
            <a:avLst/>
          </a:prstGeom>
          <a:noFill/>
          <a:ln/>
        </p:spPr>
        <p:txBody>
          <a:bodyPr wrap="square" lIns="0" tIns="0" rIns="0" bIns="0" rtlCol="0" anchor="t"/>
          <a:lstStyle/>
          <a:p>
            <a:pPr marL="0" indent="0">
              <a:lnSpc>
                <a:spcPts val="2100"/>
              </a:lnSpc>
              <a:buNone/>
            </a:pPr>
            <a:r>
              <a:rPr lang="en-US" sz="1500" dirty="0">
                <a:solidFill>
                  <a:srgbClr val="33454E"/>
                </a:solidFill>
                <a:latin typeface="Calibri" pitchFamily="34" charset="0"/>
                <a:ea typeface="Calibri" pitchFamily="34" charset="-122"/>
                <a:cs typeface="Calibri" pitchFamily="34" charset="-120"/>
              </a:rPr>
              <a:t>Chapter 3 assumed environments that were fully observable, deterministic, static, and known, and it asked for a sequence of actions. Chapter 4 relaxes those assumptions one at a time.</a:t>
            </a:r>
            <a:endParaRPr lang="en-US" sz="1500" dirty="0"/>
          </a:p>
        </p:txBody>
      </p:sp>
      <p:sp>
        <p:nvSpPr>
          <p:cNvPr id="7" name="Shape 5"/>
          <p:cNvSpPr/>
          <p:nvPr/>
        </p:nvSpPr>
        <p:spPr>
          <a:xfrm>
            <a:off x="566928" y="2286000"/>
            <a:ext cx="2606040" cy="2331720"/>
          </a:xfrm>
          <a:prstGeom prst="roundRect">
            <a:avLst>
              <a:gd name="adj" fmla="val 3529"/>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2450592"/>
            <a:ext cx="2203704" cy="329184"/>
          </a:xfrm>
          <a:prstGeom prst="rect">
            <a:avLst/>
          </a:prstGeom>
          <a:noFill/>
          <a:ln/>
        </p:spPr>
        <p:txBody>
          <a:bodyPr wrap="square" lIns="0" tIns="0" rIns="0" bIns="0" rtlCol="0" anchor="ctr"/>
          <a:lstStyle/>
          <a:p>
            <a:pPr marL="0" indent="0">
              <a:buNone/>
            </a:pPr>
            <a:r>
              <a:rPr lang="en-US" sz="1700" b="1" dirty="0">
                <a:solidFill>
                  <a:srgbClr val="D08B6F"/>
                </a:solidFill>
                <a:latin typeface="Cambria" pitchFamily="34" charset="0"/>
                <a:ea typeface="Cambria" pitchFamily="34" charset="-122"/>
                <a:cs typeface="Cambria" pitchFamily="34" charset="-120"/>
              </a:rPr>
              <a:t>4.1 – 4.2</a:t>
            </a:r>
            <a:endParaRPr lang="en-US" sz="1700" dirty="0"/>
          </a:p>
        </p:txBody>
      </p:sp>
      <p:sp>
        <p:nvSpPr>
          <p:cNvPr id="9" name="Text 7"/>
          <p:cNvSpPr/>
          <p:nvPr/>
        </p:nvSpPr>
        <p:spPr>
          <a:xfrm>
            <a:off x="768096"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FFFFFF"/>
                </a:solidFill>
                <a:latin typeface="Calibri" pitchFamily="34" charset="0"/>
                <a:ea typeface="Calibri" pitchFamily="34" charset="-122"/>
                <a:cs typeface="Calibri" pitchFamily="34" charset="-120"/>
              </a:rPr>
              <a:t>The path stops mattering</a:t>
            </a:r>
            <a:endParaRPr lang="en-US" sz="1450" dirty="0"/>
          </a:p>
        </p:txBody>
      </p:sp>
      <p:sp>
        <p:nvSpPr>
          <p:cNvPr id="10" name="Text 8"/>
          <p:cNvSpPr/>
          <p:nvPr/>
        </p:nvSpPr>
        <p:spPr>
          <a:xfrm>
            <a:off x="768096"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E4D9C3"/>
                </a:solidFill>
                <a:latin typeface="Calibri" pitchFamily="34" charset="0"/>
                <a:ea typeface="Calibri" pitchFamily="34" charset="-122"/>
                <a:cs typeface="Calibri" pitchFamily="34" charset="-120"/>
              </a:rPr>
              <a:t>We want a good final state, in discrete and then continuous spaces.</a:t>
            </a:r>
            <a:endParaRPr lang="en-US" sz="1250" dirty="0"/>
          </a:p>
        </p:txBody>
      </p:sp>
      <p:sp>
        <p:nvSpPr>
          <p:cNvPr id="11" name="Shape 9"/>
          <p:cNvSpPr/>
          <p:nvPr/>
        </p:nvSpPr>
        <p:spPr>
          <a:xfrm>
            <a:off x="3392424" y="2286000"/>
            <a:ext cx="2606040" cy="2331720"/>
          </a:xfrm>
          <a:prstGeom prst="roundRect">
            <a:avLst>
              <a:gd name="adj" fmla="val 3529"/>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3593592" y="2450592"/>
            <a:ext cx="2203704" cy="32918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4.3</a:t>
            </a:r>
            <a:endParaRPr lang="en-US" sz="1700" dirty="0"/>
          </a:p>
        </p:txBody>
      </p:sp>
      <p:sp>
        <p:nvSpPr>
          <p:cNvPr id="13" name="Text 11"/>
          <p:cNvSpPr/>
          <p:nvPr/>
        </p:nvSpPr>
        <p:spPr>
          <a:xfrm>
            <a:off x="3593592"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Determinism drops</a:t>
            </a:r>
            <a:endParaRPr lang="en-US" sz="1450" dirty="0"/>
          </a:p>
        </p:txBody>
      </p:sp>
      <p:sp>
        <p:nvSpPr>
          <p:cNvPr id="14" name="Text 12"/>
          <p:cNvSpPr/>
          <p:nvPr/>
        </p:nvSpPr>
        <p:spPr>
          <a:xfrm>
            <a:off x="3593592"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33454E"/>
                </a:solidFill>
                <a:latin typeface="Calibri" pitchFamily="34" charset="0"/>
                <a:ea typeface="Calibri" pitchFamily="34" charset="-122"/>
                <a:cs typeface="Calibri" pitchFamily="34" charset="-120"/>
              </a:rPr>
              <a:t>Actions can have several outcomes, so the solution becomes a conditional plan.</a:t>
            </a:r>
            <a:endParaRPr lang="en-US" sz="1250" dirty="0"/>
          </a:p>
        </p:txBody>
      </p:sp>
      <p:sp>
        <p:nvSpPr>
          <p:cNvPr id="15" name="Shape 13"/>
          <p:cNvSpPr/>
          <p:nvPr/>
        </p:nvSpPr>
        <p:spPr>
          <a:xfrm>
            <a:off x="6217920" y="2286000"/>
            <a:ext cx="2606040" cy="2331720"/>
          </a:xfrm>
          <a:prstGeom prst="roundRect">
            <a:avLst>
              <a:gd name="adj" fmla="val 3529"/>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6419088" y="2450592"/>
            <a:ext cx="2203704" cy="32918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4.4</a:t>
            </a:r>
            <a:endParaRPr lang="en-US" sz="1700" dirty="0"/>
          </a:p>
        </p:txBody>
      </p:sp>
      <p:sp>
        <p:nvSpPr>
          <p:cNvPr id="17" name="Text 15"/>
          <p:cNvSpPr/>
          <p:nvPr/>
        </p:nvSpPr>
        <p:spPr>
          <a:xfrm>
            <a:off x="6419088"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Observability drops</a:t>
            </a:r>
            <a:endParaRPr lang="en-US" sz="1450" dirty="0"/>
          </a:p>
        </p:txBody>
      </p:sp>
      <p:sp>
        <p:nvSpPr>
          <p:cNvPr id="18" name="Text 16"/>
          <p:cNvSpPr/>
          <p:nvPr/>
        </p:nvSpPr>
        <p:spPr>
          <a:xfrm>
            <a:off x="6419088"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33454E"/>
                </a:solidFill>
                <a:latin typeface="Calibri" pitchFamily="34" charset="0"/>
                <a:ea typeface="Calibri" pitchFamily="34" charset="-122"/>
                <a:cs typeface="Calibri" pitchFamily="34" charset="-120"/>
              </a:rPr>
              <a:t>The agent tracks a belief state: the set of states it might be in.</a:t>
            </a:r>
            <a:endParaRPr lang="en-US" sz="1250" dirty="0"/>
          </a:p>
        </p:txBody>
      </p:sp>
      <p:sp>
        <p:nvSpPr>
          <p:cNvPr id="19" name="Shape 17"/>
          <p:cNvSpPr/>
          <p:nvPr/>
        </p:nvSpPr>
        <p:spPr>
          <a:xfrm>
            <a:off x="9043416" y="2286000"/>
            <a:ext cx="2606040" cy="2331720"/>
          </a:xfrm>
          <a:prstGeom prst="roundRect">
            <a:avLst>
              <a:gd name="adj" fmla="val 3529"/>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0" name="Text 18"/>
          <p:cNvSpPr/>
          <p:nvPr/>
        </p:nvSpPr>
        <p:spPr>
          <a:xfrm>
            <a:off x="9244584" y="2450592"/>
            <a:ext cx="2203704" cy="32918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4.5</a:t>
            </a:r>
            <a:endParaRPr lang="en-US" sz="1700" dirty="0"/>
          </a:p>
        </p:txBody>
      </p:sp>
      <p:sp>
        <p:nvSpPr>
          <p:cNvPr id="21" name="Text 19"/>
          <p:cNvSpPr/>
          <p:nvPr/>
        </p:nvSpPr>
        <p:spPr>
          <a:xfrm>
            <a:off x="9244584"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The map itself is unknown</a:t>
            </a:r>
            <a:endParaRPr lang="en-US" sz="1450" dirty="0"/>
          </a:p>
        </p:txBody>
      </p:sp>
      <p:sp>
        <p:nvSpPr>
          <p:cNvPr id="22" name="Text 20"/>
          <p:cNvSpPr/>
          <p:nvPr/>
        </p:nvSpPr>
        <p:spPr>
          <a:xfrm>
            <a:off x="9244584"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33454E"/>
                </a:solidFill>
                <a:latin typeface="Calibri" pitchFamily="34" charset="0"/>
                <a:ea typeface="Calibri" pitchFamily="34" charset="-122"/>
                <a:cs typeface="Calibri" pitchFamily="34" charset="-120"/>
              </a:rPr>
              <a:t>Online search interleaves acting and learning about the space.</a:t>
            </a:r>
            <a:endParaRPr lang="en-US" sz="1250" dirty="0"/>
          </a:p>
        </p:txBody>
      </p:sp>
      <p:sp>
        <p:nvSpPr>
          <p:cNvPr id="23" name="Text 21"/>
          <p:cNvSpPr/>
          <p:nvPr/>
        </p:nvSpPr>
        <p:spPr>
          <a:xfrm>
            <a:off x="585216" y="4718304"/>
            <a:ext cx="1280160" cy="274320"/>
          </a:xfrm>
          <a:prstGeom prst="rect">
            <a:avLst/>
          </a:prstGeom>
          <a:noFill/>
          <a:ln/>
        </p:spPr>
        <p:txBody>
          <a:bodyPr wrap="square" lIns="0" tIns="0" rIns="0" bIns="0" rtlCol="0" anchor="ctr"/>
          <a:lstStyle/>
          <a:p>
            <a:pPr marL="0" indent="0">
              <a:buNone/>
            </a:pPr>
            <a:r>
              <a:rPr lang="en-US" sz="1200" b="1" kern="0" spc="140" dirty="0">
                <a:solidFill>
                  <a:srgbClr val="B5563A"/>
                </a:solidFill>
                <a:latin typeface="Calibri" pitchFamily="34" charset="0"/>
                <a:ea typeface="Calibri" pitchFamily="34" charset="-122"/>
                <a:cs typeface="Calibri" pitchFamily="34" charset="-120"/>
              </a:rPr>
              <a:t>Today</a:t>
            </a:r>
            <a:endParaRPr lang="en-US" sz="1200" dirty="0"/>
          </a:p>
        </p:txBody>
      </p:sp>
      <p:sp>
        <p:nvSpPr>
          <p:cNvPr id="24" name="Text 22"/>
          <p:cNvSpPr/>
          <p:nvPr/>
        </p:nvSpPr>
        <p:spPr>
          <a:xfrm>
            <a:off x="566928" y="5138928"/>
            <a:ext cx="11057839" cy="73152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A useful sanity check for the rest of the term: whenever you meet a new search algorithm, ask which of these four assumptions it still relies on. Almost every difficulty in the chapter traces back to one of them.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Learning objectives</a:t>
            </a:r>
            <a:endParaRPr lang="en-US" sz="3300" dirty="0"/>
          </a:p>
        </p:txBody>
      </p:sp>
      <p:sp>
        <p:nvSpPr>
          <p:cNvPr id="3" name="Text 1"/>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4" name="Text 2"/>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a:t>
            </a:r>
            <a:endParaRPr lang="en-US" sz="900" dirty="0"/>
          </a:p>
        </p:txBody>
      </p:sp>
      <p:sp>
        <p:nvSpPr>
          <p:cNvPr id="5" name="Text 3"/>
          <p:cNvSpPr/>
          <p:nvPr/>
        </p:nvSpPr>
        <p:spPr>
          <a:xfrm>
            <a:off x="566928" y="1417320"/>
            <a:ext cx="11057839" cy="310896"/>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By the end of this session you should be able to:</a:t>
            </a:r>
            <a:endParaRPr lang="en-US" sz="1500" dirty="0"/>
          </a:p>
        </p:txBody>
      </p:sp>
      <p:sp>
        <p:nvSpPr>
          <p:cNvPr id="6" name="Shape 4"/>
          <p:cNvSpPr/>
          <p:nvPr/>
        </p:nvSpPr>
        <p:spPr>
          <a:xfrm>
            <a:off x="566928" y="1984248"/>
            <a:ext cx="384048" cy="384048"/>
          </a:xfrm>
          <a:prstGeom prst="ellipse">
            <a:avLst/>
          </a:prstGeom>
          <a:solidFill>
            <a:srgbClr val="B5563A"/>
          </a:solidFill>
          <a:ln w="12700">
            <a:solidFill>
              <a:srgbClr val="B5563A"/>
            </a:solidFill>
            <a:prstDash val="solid"/>
          </a:ln>
        </p:spPr>
        <p:txBody>
          <a:bodyPr/>
          <a:lstStyle/>
          <a:p>
            <a:endParaRPr lang="en-US"/>
          </a:p>
        </p:txBody>
      </p:sp>
      <p:sp>
        <p:nvSpPr>
          <p:cNvPr id="7" name="Text 5"/>
          <p:cNvSpPr/>
          <p:nvPr/>
        </p:nvSpPr>
        <p:spPr>
          <a:xfrm>
            <a:off x="566928" y="19842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15568" y="1947672"/>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Decide</a:t>
            </a:r>
            <a:endParaRPr lang="en-US" sz="1500" dirty="0"/>
          </a:p>
        </p:txBody>
      </p:sp>
      <p:sp>
        <p:nvSpPr>
          <p:cNvPr id="9" name="Text 7"/>
          <p:cNvSpPr/>
          <p:nvPr/>
        </p:nvSpPr>
        <p:spPr>
          <a:xfrm>
            <a:off x="1115568" y="2258568"/>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Recognise when a problem is a local search problem — when the goal state is the solution and the path is irrelevant.</a:t>
            </a:r>
            <a:endParaRPr lang="en-US" sz="1300" dirty="0"/>
          </a:p>
        </p:txBody>
      </p:sp>
      <p:sp>
        <p:nvSpPr>
          <p:cNvPr id="10" name="Shape 8"/>
          <p:cNvSpPr/>
          <p:nvPr/>
        </p:nvSpPr>
        <p:spPr>
          <a:xfrm>
            <a:off x="6300216" y="1984248"/>
            <a:ext cx="384048" cy="384048"/>
          </a:xfrm>
          <a:prstGeom prst="ellipse">
            <a:avLst/>
          </a:prstGeom>
          <a:solidFill>
            <a:srgbClr val="B5563A"/>
          </a:solidFill>
          <a:ln w="12700">
            <a:solidFill>
              <a:srgbClr val="B5563A"/>
            </a:solidFill>
            <a:prstDash val="solid"/>
          </a:ln>
        </p:spPr>
        <p:txBody>
          <a:bodyPr/>
          <a:lstStyle/>
          <a:p>
            <a:endParaRPr lang="en-US"/>
          </a:p>
        </p:txBody>
      </p:sp>
      <p:sp>
        <p:nvSpPr>
          <p:cNvPr id="11" name="Text 9"/>
          <p:cNvSpPr/>
          <p:nvPr/>
        </p:nvSpPr>
        <p:spPr>
          <a:xfrm>
            <a:off x="6300216" y="19842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48856" y="1947672"/>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Formulate</a:t>
            </a:r>
            <a:endParaRPr lang="en-US" sz="1500" dirty="0"/>
          </a:p>
        </p:txBody>
      </p:sp>
      <p:sp>
        <p:nvSpPr>
          <p:cNvPr id="13" name="Text 11"/>
          <p:cNvSpPr/>
          <p:nvPr/>
        </p:nvSpPr>
        <p:spPr>
          <a:xfrm>
            <a:off x="6848856" y="2258568"/>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Write a complete-state formulation: states, successor function, and objective or heuristic value function.</a:t>
            </a:r>
            <a:endParaRPr lang="en-US" sz="1300" dirty="0"/>
          </a:p>
        </p:txBody>
      </p:sp>
      <p:sp>
        <p:nvSpPr>
          <p:cNvPr id="14" name="Shape 12"/>
          <p:cNvSpPr/>
          <p:nvPr/>
        </p:nvSpPr>
        <p:spPr>
          <a:xfrm>
            <a:off x="566928" y="3300984"/>
            <a:ext cx="384048" cy="384048"/>
          </a:xfrm>
          <a:prstGeom prst="ellipse">
            <a:avLst/>
          </a:prstGeom>
          <a:solidFill>
            <a:srgbClr val="B5563A"/>
          </a:solidFill>
          <a:ln w="12700">
            <a:solidFill>
              <a:srgbClr val="B5563A"/>
            </a:solidFill>
            <a:prstDash val="solid"/>
          </a:ln>
        </p:spPr>
        <p:txBody>
          <a:bodyPr/>
          <a:lstStyle/>
          <a:p>
            <a:endParaRPr lang="en-US"/>
          </a:p>
        </p:txBody>
      </p:sp>
      <p:sp>
        <p:nvSpPr>
          <p:cNvPr id="15" name="Text 13"/>
          <p:cNvSpPr/>
          <p:nvPr/>
        </p:nvSpPr>
        <p:spPr>
          <a:xfrm>
            <a:off x="566928"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15568" y="3264408"/>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Trace</a:t>
            </a:r>
            <a:endParaRPr lang="en-US" sz="1500" dirty="0"/>
          </a:p>
        </p:txBody>
      </p:sp>
      <p:sp>
        <p:nvSpPr>
          <p:cNvPr id="17" name="Text 15"/>
          <p:cNvSpPr/>
          <p:nvPr/>
        </p:nvSpPr>
        <p:spPr>
          <a:xfrm>
            <a:off x="1115568" y="3575304"/>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Execute hill climbing, simulated annealing, local beam search, and a genetic algorithm by hand on 8-queens.</a:t>
            </a:r>
            <a:endParaRPr lang="en-US" sz="1300" dirty="0"/>
          </a:p>
        </p:txBody>
      </p:sp>
      <p:sp>
        <p:nvSpPr>
          <p:cNvPr id="18" name="Shape 16"/>
          <p:cNvSpPr/>
          <p:nvPr/>
        </p:nvSpPr>
        <p:spPr>
          <a:xfrm>
            <a:off x="6300216" y="3300984"/>
            <a:ext cx="384048" cy="384048"/>
          </a:xfrm>
          <a:prstGeom prst="ellipse">
            <a:avLst/>
          </a:prstGeom>
          <a:solidFill>
            <a:srgbClr val="B5563A"/>
          </a:solidFill>
          <a:ln w="12700">
            <a:solidFill>
              <a:srgbClr val="B5563A"/>
            </a:solidFill>
            <a:prstDash val="solid"/>
          </a:ln>
        </p:spPr>
        <p:txBody>
          <a:bodyPr/>
          <a:lstStyle/>
          <a:p>
            <a:endParaRPr lang="en-US"/>
          </a:p>
        </p:txBody>
      </p:sp>
      <p:sp>
        <p:nvSpPr>
          <p:cNvPr id="19" name="Text 17"/>
          <p:cNvSpPr/>
          <p:nvPr/>
        </p:nvSpPr>
        <p:spPr>
          <a:xfrm>
            <a:off x="6300216"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6848856" y="3264408"/>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Diagnose</a:t>
            </a:r>
            <a:endParaRPr lang="en-US" sz="1500" dirty="0"/>
          </a:p>
        </p:txBody>
      </p:sp>
      <p:sp>
        <p:nvSpPr>
          <p:cNvPr id="21" name="Text 19"/>
          <p:cNvSpPr/>
          <p:nvPr/>
        </p:nvSpPr>
        <p:spPr>
          <a:xfrm>
            <a:off x="6848856" y="3575304"/>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Identify local maxima, ridges, and plateaus in a state-space landscape and name the countermeasure for each.</a:t>
            </a:r>
            <a:endParaRPr lang="en-US" sz="1300" dirty="0"/>
          </a:p>
        </p:txBody>
      </p:sp>
      <p:sp>
        <p:nvSpPr>
          <p:cNvPr id="22" name="Shape 20"/>
          <p:cNvSpPr/>
          <p:nvPr/>
        </p:nvSpPr>
        <p:spPr>
          <a:xfrm>
            <a:off x="566928" y="4617720"/>
            <a:ext cx="384048" cy="384048"/>
          </a:xfrm>
          <a:prstGeom prst="ellipse">
            <a:avLst/>
          </a:prstGeom>
          <a:solidFill>
            <a:srgbClr val="B5563A"/>
          </a:solidFill>
          <a:ln w="12700">
            <a:solidFill>
              <a:srgbClr val="B5563A"/>
            </a:solidFill>
            <a:prstDash val="solid"/>
          </a:ln>
        </p:spPr>
        <p:txBody>
          <a:bodyPr/>
          <a:lstStyle/>
          <a:p>
            <a:endParaRPr lang="en-US"/>
          </a:p>
        </p:txBody>
      </p:sp>
      <p:sp>
        <p:nvSpPr>
          <p:cNvPr id="23" name="Text 21"/>
          <p:cNvSpPr/>
          <p:nvPr/>
        </p:nvSpPr>
        <p:spPr>
          <a:xfrm>
            <a:off x="566928" y="4617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15568" y="4581144"/>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Analyse</a:t>
            </a:r>
            <a:endParaRPr lang="en-US" sz="1500" dirty="0"/>
          </a:p>
        </p:txBody>
      </p:sp>
      <p:sp>
        <p:nvSpPr>
          <p:cNvPr id="25" name="Text 23"/>
          <p:cNvSpPr/>
          <p:nvPr/>
        </p:nvSpPr>
        <p:spPr>
          <a:xfrm>
            <a:off x="1115568" y="4892040"/>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Compute expected restarts and expected total steps for random-restart hill climbing given a success probability.</a:t>
            </a:r>
            <a:endParaRPr lang="en-US" sz="1300" dirty="0"/>
          </a:p>
        </p:txBody>
      </p:sp>
      <p:sp>
        <p:nvSpPr>
          <p:cNvPr id="26" name="Shape 24"/>
          <p:cNvSpPr/>
          <p:nvPr/>
        </p:nvSpPr>
        <p:spPr>
          <a:xfrm>
            <a:off x="6300216" y="4617720"/>
            <a:ext cx="384048" cy="384048"/>
          </a:xfrm>
          <a:prstGeom prst="ellipse">
            <a:avLst/>
          </a:prstGeom>
          <a:solidFill>
            <a:srgbClr val="B5563A"/>
          </a:solidFill>
          <a:ln w="12700">
            <a:solidFill>
              <a:srgbClr val="B5563A"/>
            </a:solidFill>
            <a:prstDash val="solid"/>
          </a:ln>
        </p:spPr>
        <p:txBody>
          <a:bodyPr/>
          <a:lstStyle/>
          <a:p>
            <a:endParaRPr lang="en-US"/>
          </a:p>
        </p:txBody>
      </p:sp>
      <p:sp>
        <p:nvSpPr>
          <p:cNvPr id="27" name="Text 25"/>
          <p:cNvSpPr/>
          <p:nvPr/>
        </p:nvSpPr>
        <p:spPr>
          <a:xfrm>
            <a:off x="6300216" y="4617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6848856" y="4581144"/>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Extend</a:t>
            </a:r>
            <a:endParaRPr lang="en-US" sz="1500" dirty="0"/>
          </a:p>
        </p:txBody>
      </p:sp>
      <p:sp>
        <p:nvSpPr>
          <p:cNvPr id="29" name="Text 27"/>
          <p:cNvSpPr/>
          <p:nvPr/>
        </p:nvSpPr>
        <p:spPr>
          <a:xfrm>
            <a:off x="6848856" y="4892040"/>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Apply discretization, empirical gradients, gradient descent, and Newton–Raphson to a continuous state space.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How the two hours are spent</a:t>
            </a:r>
            <a:endParaRPr lang="en-US" sz="3300" dirty="0"/>
          </a:p>
        </p:txBody>
      </p:sp>
      <p:sp>
        <p:nvSpPr>
          <p:cNvPr id="3" name="Text 1"/>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4" name="Text 2"/>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66928" y="157276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6" name="Text 4"/>
          <p:cNvSpPr/>
          <p:nvPr/>
        </p:nvSpPr>
        <p:spPr>
          <a:xfrm>
            <a:off x="786384" y="1572768"/>
            <a:ext cx="1554480" cy="475488"/>
          </a:xfrm>
          <a:prstGeom prst="rect">
            <a:avLst/>
          </a:prstGeom>
          <a:noFill/>
          <a:ln/>
        </p:spPr>
        <p:txBody>
          <a:bodyPr wrap="square" lIns="0" tIns="0" rIns="0" bIns="0" rtlCol="0" anchor="ctr"/>
          <a:lstStyle/>
          <a:p>
            <a:pPr marL="0" indent="0">
              <a:buNone/>
            </a:pPr>
            <a:r>
              <a:rPr lang="en-US" sz="1350" b="1" dirty="0">
                <a:solidFill>
                  <a:srgbClr val="5F757F"/>
                </a:solidFill>
                <a:latin typeface="Courier New" pitchFamily="34" charset="0"/>
                <a:ea typeface="Courier New" pitchFamily="34" charset="-122"/>
                <a:cs typeface="Courier New" pitchFamily="34" charset="-120"/>
              </a:rPr>
              <a:t>0:00 – 0:10</a:t>
            </a:r>
            <a:endParaRPr lang="en-US" sz="1350" dirty="0"/>
          </a:p>
        </p:txBody>
      </p:sp>
      <p:sp>
        <p:nvSpPr>
          <p:cNvPr id="7" name="Text 5"/>
          <p:cNvSpPr/>
          <p:nvPr/>
        </p:nvSpPr>
        <p:spPr>
          <a:xfrm>
            <a:off x="2441448" y="157276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Framing: from paths to states</a:t>
            </a:r>
            <a:endParaRPr lang="en-US" sz="1500" dirty="0"/>
          </a:p>
        </p:txBody>
      </p:sp>
      <p:sp>
        <p:nvSpPr>
          <p:cNvPr id="8" name="Text 6"/>
          <p:cNvSpPr/>
          <p:nvPr/>
        </p:nvSpPr>
        <p:spPr>
          <a:xfrm>
            <a:off x="10161727" y="157276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 intro</a:t>
            </a:r>
            <a:endParaRPr lang="en-US" sz="1250" dirty="0"/>
          </a:p>
        </p:txBody>
      </p:sp>
      <p:sp>
        <p:nvSpPr>
          <p:cNvPr id="9" name="Shape 7"/>
          <p:cNvSpPr/>
          <p:nvPr/>
        </p:nvSpPr>
        <p:spPr>
          <a:xfrm>
            <a:off x="566928" y="212140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10" name="Text 8"/>
          <p:cNvSpPr/>
          <p:nvPr/>
        </p:nvSpPr>
        <p:spPr>
          <a:xfrm>
            <a:off x="786384" y="212140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0:10 – 0:38</a:t>
            </a:r>
            <a:endParaRPr lang="en-US" sz="1350" dirty="0"/>
          </a:p>
        </p:txBody>
      </p:sp>
      <p:sp>
        <p:nvSpPr>
          <p:cNvPr id="11" name="Text 9"/>
          <p:cNvSpPr/>
          <p:nvPr/>
        </p:nvSpPr>
        <p:spPr>
          <a:xfrm>
            <a:off x="2441448" y="212140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Hill climbing and its three failure modes</a:t>
            </a:r>
            <a:endParaRPr lang="en-US" sz="1500" dirty="0"/>
          </a:p>
        </p:txBody>
      </p:sp>
      <p:sp>
        <p:nvSpPr>
          <p:cNvPr id="12" name="Text 10"/>
          <p:cNvSpPr/>
          <p:nvPr/>
        </p:nvSpPr>
        <p:spPr>
          <a:xfrm>
            <a:off x="10161727" y="212140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4.1.1</a:t>
            </a:r>
            <a:endParaRPr lang="en-US" sz="1250" dirty="0"/>
          </a:p>
        </p:txBody>
      </p:sp>
      <p:sp>
        <p:nvSpPr>
          <p:cNvPr id="13" name="Shape 11"/>
          <p:cNvSpPr/>
          <p:nvPr/>
        </p:nvSpPr>
        <p:spPr>
          <a:xfrm>
            <a:off x="566928" y="267004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14" name="Text 12"/>
          <p:cNvSpPr/>
          <p:nvPr/>
        </p:nvSpPr>
        <p:spPr>
          <a:xfrm>
            <a:off x="786384" y="267004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0:38 – 0:55</a:t>
            </a:r>
            <a:endParaRPr lang="en-US" sz="1350" dirty="0"/>
          </a:p>
        </p:txBody>
      </p:sp>
      <p:sp>
        <p:nvSpPr>
          <p:cNvPr id="15" name="Text 13"/>
          <p:cNvSpPr/>
          <p:nvPr/>
        </p:nvSpPr>
        <p:spPr>
          <a:xfrm>
            <a:off x="2441448" y="267004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Simulated annealing</a:t>
            </a:r>
            <a:endParaRPr lang="en-US" sz="1500" dirty="0"/>
          </a:p>
        </p:txBody>
      </p:sp>
      <p:sp>
        <p:nvSpPr>
          <p:cNvPr id="16" name="Text 14"/>
          <p:cNvSpPr/>
          <p:nvPr/>
        </p:nvSpPr>
        <p:spPr>
          <a:xfrm>
            <a:off x="10161727" y="267004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4.1.2</a:t>
            </a:r>
            <a:endParaRPr lang="en-US" sz="1250" dirty="0"/>
          </a:p>
        </p:txBody>
      </p:sp>
      <p:sp>
        <p:nvSpPr>
          <p:cNvPr id="17" name="Shape 15"/>
          <p:cNvSpPr/>
          <p:nvPr/>
        </p:nvSpPr>
        <p:spPr>
          <a:xfrm>
            <a:off x="566928" y="3218688"/>
            <a:ext cx="11057839" cy="475488"/>
          </a:xfrm>
          <a:prstGeom prst="roundRect">
            <a:avLst>
              <a:gd name="adj" fmla="val 17308"/>
            </a:avLst>
          </a:prstGeom>
          <a:solidFill>
            <a:srgbClr val="F0EDE6"/>
          </a:solidFill>
          <a:ln w="12700">
            <a:solidFill>
              <a:srgbClr val="E2DED4"/>
            </a:solidFill>
            <a:prstDash val="solid"/>
          </a:ln>
        </p:spPr>
        <p:txBody>
          <a:bodyPr/>
          <a:lstStyle/>
          <a:p>
            <a:endParaRPr lang="en-US"/>
          </a:p>
        </p:txBody>
      </p:sp>
      <p:sp>
        <p:nvSpPr>
          <p:cNvPr id="18" name="Text 16"/>
          <p:cNvSpPr/>
          <p:nvPr/>
        </p:nvSpPr>
        <p:spPr>
          <a:xfrm>
            <a:off x="786384" y="3218688"/>
            <a:ext cx="1554480" cy="475488"/>
          </a:xfrm>
          <a:prstGeom prst="rect">
            <a:avLst/>
          </a:prstGeom>
          <a:noFill/>
          <a:ln/>
        </p:spPr>
        <p:txBody>
          <a:bodyPr wrap="square" lIns="0" tIns="0" rIns="0" bIns="0" rtlCol="0" anchor="ctr"/>
          <a:lstStyle/>
          <a:p>
            <a:pPr marL="0" indent="0">
              <a:buNone/>
            </a:pPr>
            <a:r>
              <a:rPr lang="en-US" sz="1350" b="1" dirty="0">
                <a:solidFill>
                  <a:srgbClr val="7A868C"/>
                </a:solidFill>
                <a:latin typeface="Courier New" pitchFamily="34" charset="0"/>
                <a:ea typeface="Courier New" pitchFamily="34" charset="-122"/>
                <a:cs typeface="Courier New" pitchFamily="34" charset="-120"/>
              </a:rPr>
              <a:t>0:55 – 1:05</a:t>
            </a:r>
            <a:endParaRPr lang="en-US" sz="1350" dirty="0"/>
          </a:p>
        </p:txBody>
      </p:sp>
      <p:sp>
        <p:nvSpPr>
          <p:cNvPr id="19" name="Text 17"/>
          <p:cNvSpPr/>
          <p:nvPr/>
        </p:nvSpPr>
        <p:spPr>
          <a:xfrm>
            <a:off x="2441448" y="3218688"/>
            <a:ext cx="7498080" cy="475488"/>
          </a:xfrm>
          <a:prstGeom prst="rect">
            <a:avLst/>
          </a:prstGeom>
          <a:noFill/>
          <a:ln/>
        </p:spPr>
        <p:txBody>
          <a:bodyPr wrap="square" lIns="0" tIns="0" rIns="0" bIns="0" rtlCol="0" anchor="ctr"/>
          <a:lstStyle/>
          <a:p>
            <a:pPr marL="0" indent="0">
              <a:buNone/>
            </a:pPr>
            <a:r>
              <a:rPr lang="en-US" sz="1500" i="1" dirty="0">
                <a:solidFill>
                  <a:srgbClr val="7A868C"/>
                </a:solidFill>
                <a:latin typeface="Calibri" pitchFamily="34" charset="0"/>
                <a:ea typeface="Calibri" pitchFamily="34" charset="-122"/>
                <a:cs typeface="Calibri" pitchFamily="34" charset="-120"/>
              </a:rPr>
              <a:t>Break</a:t>
            </a:r>
            <a:endParaRPr lang="en-US" sz="1500" dirty="0"/>
          </a:p>
        </p:txBody>
      </p:sp>
      <p:sp>
        <p:nvSpPr>
          <p:cNvPr id="20" name="Text 18"/>
          <p:cNvSpPr/>
          <p:nvPr/>
        </p:nvSpPr>
        <p:spPr>
          <a:xfrm>
            <a:off x="10161727" y="3218688"/>
            <a:ext cx="1243584" cy="475488"/>
          </a:xfrm>
          <a:prstGeom prst="rect">
            <a:avLst/>
          </a:prstGeom>
          <a:noFill/>
          <a:ln/>
        </p:spPr>
        <p:txBody>
          <a:bodyPr wrap="square" lIns="0" tIns="0" rIns="0" bIns="0" rtlCol="0" anchor="ctr"/>
          <a:lstStyle/>
          <a:p>
            <a:pPr marL="0" indent="0" algn="r">
              <a:buNone/>
            </a:pPr>
            <a:endParaRPr lang="en-US" sz="1250" dirty="0"/>
          </a:p>
        </p:txBody>
      </p:sp>
      <p:sp>
        <p:nvSpPr>
          <p:cNvPr id="21" name="Shape 19"/>
          <p:cNvSpPr/>
          <p:nvPr/>
        </p:nvSpPr>
        <p:spPr>
          <a:xfrm>
            <a:off x="566928" y="376732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22" name="Text 20"/>
          <p:cNvSpPr/>
          <p:nvPr/>
        </p:nvSpPr>
        <p:spPr>
          <a:xfrm>
            <a:off x="786384" y="376732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1:05 – 1:17</a:t>
            </a:r>
            <a:endParaRPr lang="en-US" sz="1350" dirty="0"/>
          </a:p>
        </p:txBody>
      </p:sp>
      <p:sp>
        <p:nvSpPr>
          <p:cNvPr id="23" name="Text 21"/>
          <p:cNvSpPr/>
          <p:nvPr/>
        </p:nvSpPr>
        <p:spPr>
          <a:xfrm>
            <a:off x="2441448" y="376732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Local beam search</a:t>
            </a:r>
            <a:endParaRPr lang="en-US" sz="1500" dirty="0"/>
          </a:p>
        </p:txBody>
      </p:sp>
      <p:sp>
        <p:nvSpPr>
          <p:cNvPr id="24" name="Text 22"/>
          <p:cNvSpPr/>
          <p:nvPr/>
        </p:nvSpPr>
        <p:spPr>
          <a:xfrm>
            <a:off x="10161727" y="376732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4.1.3</a:t>
            </a:r>
            <a:endParaRPr lang="en-US" sz="1250" dirty="0"/>
          </a:p>
        </p:txBody>
      </p:sp>
      <p:sp>
        <p:nvSpPr>
          <p:cNvPr id="25" name="Shape 23"/>
          <p:cNvSpPr/>
          <p:nvPr/>
        </p:nvSpPr>
        <p:spPr>
          <a:xfrm>
            <a:off x="566928" y="431596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26" name="Text 24"/>
          <p:cNvSpPr/>
          <p:nvPr/>
        </p:nvSpPr>
        <p:spPr>
          <a:xfrm>
            <a:off x="786384" y="431596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1:17 – 1:37</a:t>
            </a:r>
            <a:endParaRPr lang="en-US" sz="1350" dirty="0"/>
          </a:p>
        </p:txBody>
      </p:sp>
      <p:sp>
        <p:nvSpPr>
          <p:cNvPr id="27" name="Text 25"/>
          <p:cNvSpPr/>
          <p:nvPr/>
        </p:nvSpPr>
        <p:spPr>
          <a:xfrm>
            <a:off x="2441448" y="431596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Evolutionary algorithms</a:t>
            </a:r>
            <a:endParaRPr lang="en-US" sz="1500" dirty="0"/>
          </a:p>
        </p:txBody>
      </p:sp>
      <p:sp>
        <p:nvSpPr>
          <p:cNvPr id="28" name="Text 26"/>
          <p:cNvSpPr/>
          <p:nvPr/>
        </p:nvSpPr>
        <p:spPr>
          <a:xfrm>
            <a:off x="10161727" y="431596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4.1.4</a:t>
            </a:r>
            <a:endParaRPr lang="en-US" sz="1250" dirty="0"/>
          </a:p>
        </p:txBody>
      </p:sp>
      <p:sp>
        <p:nvSpPr>
          <p:cNvPr id="29" name="Shape 27"/>
          <p:cNvSpPr/>
          <p:nvPr/>
        </p:nvSpPr>
        <p:spPr>
          <a:xfrm>
            <a:off x="566928" y="486460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30" name="Text 28"/>
          <p:cNvSpPr/>
          <p:nvPr/>
        </p:nvSpPr>
        <p:spPr>
          <a:xfrm>
            <a:off x="786384" y="4864608"/>
            <a:ext cx="1554480" cy="475488"/>
          </a:xfrm>
          <a:prstGeom prst="rect">
            <a:avLst/>
          </a:prstGeom>
          <a:noFill/>
          <a:ln/>
        </p:spPr>
        <p:txBody>
          <a:bodyPr wrap="square" lIns="0" tIns="0" rIns="0" bIns="0" rtlCol="0" anchor="ctr"/>
          <a:lstStyle/>
          <a:p>
            <a:pPr marL="0" indent="0">
              <a:buNone/>
            </a:pPr>
            <a:r>
              <a:rPr lang="en-US" sz="1350" b="1" dirty="0">
                <a:solidFill>
                  <a:srgbClr val="47603F"/>
                </a:solidFill>
                <a:latin typeface="Courier New" pitchFamily="34" charset="0"/>
                <a:ea typeface="Courier New" pitchFamily="34" charset="-122"/>
                <a:cs typeface="Courier New" pitchFamily="34" charset="-120"/>
              </a:rPr>
              <a:t>1:37 – 1:57</a:t>
            </a:r>
            <a:endParaRPr lang="en-US" sz="1350" dirty="0"/>
          </a:p>
        </p:txBody>
      </p:sp>
      <p:sp>
        <p:nvSpPr>
          <p:cNvPr id="31" name="Text 29"/>
          <p:cNvSpPr/>
          <p:nvPr/>
        </p:nvSpPr>
        <p:spPr>
          <a:xfrm>
            <a:off x="2441448" y="486460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Local search in continuous spaces</a:t>
            </a:r>
            <a:endParaRPr lang="en-US" sz="1500" dirty="0"/>
          </a:p>
        </p:txBody>
      </p:sp>
      <p:sp>
        <p:nvSpPr>
          <p:cNvPr id="32" name="Text 30"/>
          <p:cNvSpPr/>
          <p:nvPr/>
        </p:nvSpPr>
        <p:spPr>
          <a:xfrm>
            <a:off x="10161727" y="486460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4.2</a:t>
            </a:r>
            <a:endParaRPr lang="en-US" sz="1250" dirty="0"/>
          </a:p>
        </p:txBody>
      </p:sp>
      <p:sp>
        <p:nvSpPr>
          <p:cNvPr id="33" name="Shape 31"/>
          <p:cNvSpPr/>
          <p:nvPr/>
        </p:nvSpPr>
        <p:spPr>
          <a:xfrm>
            <a:off x="566928" y="541324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34" name="Text 32"/>
          <p:cNvSpPr/>
          <p:nvPr/>
        </p:nvSpPr>
        <p:spPr>
          <a:xfrm>
            <a:off x="786384" y="5413248"/>
            <a:ext cx="1554480" cy="475488"/>
          </a:xfrm>
          <a:prstGeom prst="rect">
            <a:avLst/>
          </a:prstGeom>
          <a:noFill/>
          <a:ln/>
        </p:spPr>
        <p:txBody>
          <a:bodyPr wrap="square" lIns="0" tIns="0" rIns="0" bIns="0" rtlCol="0" anchor="ctr"/>
          <a:lstStyle/>
          <a:p>
            <a:pPr marL="0" indent="0">
              <a:buNone/>
            </a:pPr>
            <a:r>
              <a:rPr lang="en-US" sz="1350" b="1" dirty="0">
                <a:solidFill>
                  <a:srgbClr val="5F757F"/>
                </a:solidFill>
                <a:latin typeface="Courier New" pitchFamily="34" charset="0"/>
                <a:ea typeface="Courier New" pitchFamily="34" charset="-122"/>
                <a:cs typeface="Courier New" pitchFamily="34" charset="-120"/>
              </a:rPr>
              <a:t>1:57 – 2:00</a:t>
            </a:r>
            <a:endParaRPr lang="en-US" sz="1350" dirty="0"/>
          </a:p>
        </p:txBody>
      </p:sp>
      <p:sp>
        <p:nvSpPr>
          <p:cNvPr id="35" name="Text 33"/>
          <p:cNvSpPr/>
          <p:nvPr/>
        </p:nvSpPr>
        <p:spPr>
          <a:xfrm>
            <a:off x="2441448" y="541324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Wrap-up and preview of 4.3–4.4</a:t>
            </a:r>
            <a:endParaRPr lang="en-US" sz="1500" dirty="0"/>
          </a:p>
        </p:txBody>
      </p:sp>
      <p:sp>
        <p:nvSpPr>
          <p:cNvPr id="36" name="Text 34"/>
          <p:cNvSpPr/>
          <p:nvPr/>
        </p:nvSpPr>
        <p:spPr>
          <a:xfrm>
            <a:off x="10161727" y="5413248"/>
            <a:ext cx="1243584" cy="475488"/>
          </a:xfrm>
          <a:prstGeom prst="rect">
            <a:avLst/>
          </a:prstGeom>
          <a:noFill/>
          <a:ln/>
        </p:spPr>
        <p:txBody>
          <a:bodyPr wrap="square" lIns="0" tIns="0" rIns="0" bIns="0" rtlCol="0" anchor="ctr"/>
          <a:lstStyle/>
          <a:p>
            <a:pPr marL="0" indent="0" algn="r">
              <a:buNone/>
            </a:pP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01</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Local Search and</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Optimization Problems</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  Algorithms that keep one current state, move to a neighbour, and never look back — trading every guarantee we had for constant memory and the ability to work in spaces we could never enumerate.</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THE CORE DISTINCTION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Do you need the route, or just the destination?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66928" y="1554480"/>
            <a:ext cx="5349240" cy="4160520"/>
          </a:xfrm>
          <a:prstGeom prst="roundRect">
            <a:avLst>
              <a:gd name="adj" fmla="val 197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37360"/>
            <a:ext cx="4837176" cy="365760"/>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Chapter 3: the path is the answer</a:t>
            </a:r>
            <a:endParaRPr lang="en-US" sz="1700" dirty="0"/>
          </a:p>
        </p:txBody>
      </p:sp>
      <p:sp>
        <p:nvSpPr>
          <p:cNvPr id="8" name="Text 6"/>
          <p:cNvSpPr/>
          <p:nvPr/>
        </p:nvSpPr>
        <p:spPr>
          <a:xfrm>
            <a:off x="822960" y="2212848"/>
            <a:ext cx="4837176" cy="329184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Arad to Bucharest: the sequence of roads is the deliverable. A checked bag arriving in Bucharest without a route is useless.</a:t>
            </a:r>
            <a:endParaRPr lang="en-US" sz="1400" dirty="0"/>
          </a:p>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The algorithm must remember the frontier and the reached set to reconstruct that sequence.</a:t>
            </a:r>
            <a:endParaRPr lang="en-US" sz="1400" dirty="0"/>
          </a:p>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Memory grows with the region explored — which is why A* runs out of space before it runs out of patience.</a:t>
            </a:r>
            <a:endParaRPr lang="en-US" sz="1400" dirty="0"/>
          </a:p>
        </p:txBody>
      </p:sp>
      <p:sp>
        <p:nvSpPr>
          <p:cNvPr id="9" name="Shape 7"/>
          <p:cNvSpPr/>
          <p:nvPr/>
        </p:nvSpPr>
        <p:spPr>
          <a:xfrm>
            <a:off x="6300216" y="1554480"/>
            <a:ext cx="5349240" cy="4160520"/>
          </a:xfrm>
          <a:prstGeom prst="roundRect">
            <a:avLst>
              <a:gd name="adj" fmla="val 197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37360"/>
            <a:ext cx="4837176"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Section 4.1: the state is the answer</a:t>
            </a:r>
            <a:endParaRPr lang="en-US" sz="1700" dirty="0"/>
          </a:p>
        </p:txBody>
      </p:sp>
      <p:sp>
        <p:nvSpPr>
          <p:cNvPr id="11" name="Text 9"/>
          <p:cNvSpPr/>
          <p:nvPr/>
        </p:nvSpPr>
        <p:spPr>
          <a:xfrm>
            <a:off x="6556248" y="2212848"/>
            <a:ext cx="4837176" cy="329184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dirty="0">
                <a:solidFill>
                  <a:srgbClr val="E4D9C3"/>
                </a:solidFill>
                <a:latin typeface="Calibri" pitchFamily="34" charset="0"/>
                <a:ea typeface="Calibri" pitchFamily="34" charset="-122"/>
                <a:cs typeface="Calibri" pitchFamily="34" charset="-120"/>
              </a:rPr>
              <a:t>8-queens: hand me a legal board and I do not care how you built it — the configuration itself can be reconstructed trivially.</a:t>
            </a:r>
            <a:endParaRPr lang="en-US" sz="1400" dirty="0"/>
          </a:p>
          <a:p>
            <a:pPr marL="203200" indent="-203200">
              <a:lnSpc>
                <a:spcPts val="1800"/>
              </a:lnSpc>
              <a:spcAft>
                <a:spcPts val="1200"/>
              </a:spcAft>
              <a:buSzPct val="100000"/>
              <a:buChar char="•"/>
            </a:pPr>
            <a:r>
              <a:rPr lang="en-US" sz="1400" dirty="0">
                <a:solidFill>
                  <a:srgbClr val="E4D9C3"/>
                </a:solidFill>
                <a:latin typeface="Calibri" pitchFamily="34" charset="0"/>
                <a:ea typeface="Calibri" pitchFamily="34" charset="-122"/>
                <a:cs typeface="Calibri" pitchFamily="34" charset="-120"/>
              </a:rPr>
              <a:t>Nothing about the search history is part of the deliverable, so nothing about it needs to be stored.</a:t>
            </a:r>
            <a:endParaRPr lang="en-US" sz="1400" dirty="0"/>
          </a:p>
          <a:p>
            <a:pPr marL="203200" indent="-203200">
              <a:lnSpc>
                <a:spcPts val="1800"/>
              </a:lnSpc>
              <a:spcAft>
                <a:spcPts val="1200"/>
              </a:spcAft>
              <a:buSzPct val="100000"/>
              <a:buChar char="•"/>
            </a:pPr>
            <a:r>
              <a:rPr lang="en-US" sz="1400" dirty="0">
                <a:solidFill>
                  <a:srgbClr val="E4D9C3"/>
                </a:solidFill>
                <a:latin typeface="Calibri" pitchFamily="34" charset="0"/>
                <a:ea typeface="Calibri" pitchFamily="34" charset="-122"/>
                <a:cs typeface="Calibri" pitchFamily="34" charset="-120"/>
              </a:rPr>
              <a:t>This is not a small class of problems. It covers most industrial optimization.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WHY THIS MATTERS</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Where local search actually earns its keep</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66928" y="1627632"/>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755648"/>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Integrated-circuit design</a:t>
            </a:r>
            <a:endParaRPr lang="en-US" sz="1400" dirty="0"/>
          </a:p>
        </p:txBody>
      </p:sp>
      <p:sp>
        <p:nvSpPr>
          <p:cNvPr id="8" name="Text 6"/>
          <p:cNvSpPr/>
          <p:nvPr/>
        </p:nvSpPr>
        <p:spPr>
          <a:xfrm>
            <a:off x="768096" y="2084832"/>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Place and route millions of components; the layout is the answer, the placement history is not.</a:t>
            </a:r>
            <a:endParaRPr lang="en-US" sz="1250" dirty="0"/>
          </a:p>
        </p:txBody>
      </p:sp>
      <p:sp>
        <p:nvSpPr>
          <p:cNvPr id="9" name="Shape 7"/>
          <p:cNvSpPr/>
          <p:nvPr/>
        </p:nvSpPr>
        <p:spPr>
          <a:xfrm>
            <a:off x="4343400" y="1627632"/>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4544568" y="1755648"/>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Factory floor layout</a:t>
            </a:r>
            <a:endParaRPr lang="en-US" sz="1400" dirty="0"/>
          </a:p>
        </p:txBody>
      </p:sp>
      <p:sp>
        <p:nvSpPr>
          <p:cNvPr id="11" name="Text 9"/>
          <p:cNvSpPr/>
          <p:nvPr/>
        </p:nvSpPr>
        <p:spPr>
          <a:xfrm>
            <a:off x="4544568" y="2084832"/>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Position machines and material flow to minimise travel and congestion.</a:t>
            </a:r>
            <a:endParaRPr lang="en-US" sz="1250" dirty="0"/>
          </a:p>
        </p:txBody>
      </p:sp>
      <p:sp>
        <p:nvSpPr>
          <p:cNvPr id="12" name="Shape 10"/>
          <p:cNvSpPr/>
          <p:nvPr/>
        </p:nvSpPr>
        <p:spPr>
          <a:xfrm>
            <a:off x="8119872" y="1627632"/>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321040" y="1755648"/>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Job-shop scheduling</a:t>
            </a:r>
            <a:endParaRPr lang="en-US" sz="1400" dirty="0"/>
          </a:p>
        </p:txBody>
      </p:sp>
      <p:sp>
        <p:nvSpPr>
          <p:cNvPr id="14" name="Text 12"/>
          <p:cNvSpPr/>
          <p:nvPr/>
        </p:nvSpPr>
        <p:spPr>
          <a:xfrm>
            <a:off x="8321040" y="2084832"/>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Assign operations to machines and time slots subject to precedence constraints.</a:t>
            </a:r>
            <a:endParaRPr lang="en-US" sz="1250" dirty="0"/>
          </a:p>
        </p:txBody>
      </p:sp>
      <p:sp>
        <p:nvSpPr>
          <p:cNvPr id="15" name="Shape 13"/>
          <p:cNvSpPr/>
          <p:nvPr/>
        </p:nvSpPr>
        <p:spPr>
          <a:xfrm>
            <a:off x="566928" y="3621024"/>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768096" y="3749040"/>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Automatic programming</a:t>
            </a:r>
            <a:endParaRPr lang="en-US" sz="1400" dirty="0"/>
          </a:p>
        </p:txBody>
      </p:sp>
      <p:sp>
        <p:nvSpPr>
          <p:cNvPr id="17" name="Text 15"/>
          <p:cNvSpPr/>
          <p:nvPr/>
        </p:nvSpPr>
        <p:spPr>
          <a:xfrm>
            <a:off x="768096" y="4078224"/>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Search a space of programs for one that satisfies a specification.</a:t>
            </a:r>
            <a:endParaRPr lang="en-US" sz="1250" dirty="0"/>
          </a:p>
        </p:txBody>
      </p:sp>
      <p:sp>
        <p:nvSpPr>
          <p:cNvPr id="18" name="Shape 16"/>
          <p:cNvSpPr/>
          <p:nvPr/>
        </p:nvSpPr>
        <p:spPr>
          <a:xfrm>
            <a:off x="4343400" y="3621024"/>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4544568" y="3749040"/>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Telecom network optimization</a:t>
            </a:r>
            <a:endParaRPr lang="en-US" sz="1400" dirty="0"/>
          </a:p>
        </p:txBody>
      </p:sp>
      <p:sp>
        <p:nvSpPr>
          <p:cNvPr id="20" name="Text 18"/>
          <p:cNvSpPr/>
          <p:nvPr/>
        </p:nvSpPr>
        <p:spPr>
          <a:xfrm>
            <a:off x="4544568" y="4078224"/>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Choose link capacities and routing tables to minimise cost under demand.</a:t>
            </a:r>
            <a:endParaRPr lang="en-US" sz="1250" dirty="0"/>
          </a:p>
        </p:txBody>
      </p:sp>
      <p:sp>
        <p:nvSpPr>
          <p:cNvPr id="21" name="Shape 19"/>
          <p:cNvSpPr/>
          <p:nvPr/>
        </p:nvSpPr>
        <p:spPr>
          <a:xfrm>
            <a:off x="8119872" y="3621024"/>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2" name="Text 20"/>
          <p:cNvSpPr/>
          <p:nvPr/>
        </p:nvSpPr>
        <p:spPr>
          <a:xfrm>
            <a:off x="8321040" y="3749040"/>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Crop planning &amp; portfolio management</a:t>
            </a:r>
            <a:endParaRPr lang="en-US" sz="1400" dirty="0"/>
          </a:p>
        </p:txBody>
      </p:sp>
      <p:sp>
        <p:nvSpPr>
          <p:cNvPr id="23" name="Text 21"/>
          <p:cNvSpPr/>
          <p:nvPr/>
        </p:nvSpPr>
        <p:spPr>
          <a:xfrm>
            <a:off x="8321040" y="4078224"/>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Allocate a fixed resource across competing uses to maximise expected return.</a:t>
            </a:r>
            <a:endParaRPr lang="en-US" sz="1250" dirty="0"/>
          </a:p>
        </p:txBody>
      </p:sp>
      <p:sp>
        <p:nvSpPr>
          <p:cNvPr id="24" name="Text 22"/>
          <p:cNvSpPr/>
          <p:nvPr/>
        </p:nvSpPr>
        <p:spPr>
          <a:xfrm>
            <a:off x="566928" y="5440680"/>
            <a:ext cx="11057839" cy="64008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Every one of these is a configuration problem with an astronomically large state space and a scoring function that is cheap to evaluate. That combination is exactly what local search is built for.</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DEFINITION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What a local search algorithm is — and gives up</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566928" y="1517904"/>
            <a:ext cx="11057839" cy="1737360"/>
          </a:xfrm>
          <a:prstGeom prst="rect">
            <a:avLst/>
          </a:prstGeom>
          <a:noFill/>
          <a:ln/>
        </p:spPr>
        <p:txBody>
          <a:bodyPr wrap="square" lIns="0" tIns="0" rIns="0" bIns="0" rtlCol="0" anchor="t"/>
          <a:lstStyle/>
          <a:p>
            <a:pPr marL="203200" indent="-203200">
              <a:lnSpc>
                <a:spcPts val="2100"/>
              </a:lnSpc>
              <a:spcAft>
                <a:spcPts val="1200"/>
              </a:spcAft>
              <a:buSzPct val="100000"/>
              <a:buChar char="•"/>
            </a:pPr>
            <a:r>
              <a:rPr lang="en-US" sz="1600" b="1" dirty="0">
                <a:solidFill>
                  <a:srgbClr val="1B2226"/>
                </a:solidFill>
                <a:latin typeface="Calibri" pitchFamily="34" charset="0"/>
                <a:ea typeface="Calibri" pitchFamily="34" charset="-122"/>
                <a:cs typeface="Calibri" pitchFamily="34" charset="-120"/>
              </a:rPr>
              <a:t>Local search algorithms search from a start state to neighbouring states, without keeping track of the paths taken, nor of the set of states that have been reached.</a:t>
            </a:r>
            <a:endParaRPr lang="en-US" sz="1600" dirty="0"/>
          </a:p>
          <a:p>
            <a:pPr marL="203200" indent="-203200">
              <a:lnSpc>
                <a:spcPts val="2100"/>
              </a:lnSpc>
              <a:spcAft>
                <a:spcPts val="1200"/>
              </a:spcAft>
              <a:buSzPct val="100000"/>
              <a:buChar char="•"/>
            </a:pPr>
            <a:r>
              <a:rPr lang="en-US" sz="1600" dirty="0">
                <a:solidFill>
                  <a:srgbClr val="B5563A"/>
                </a:solidFill>
                <a:latin typeface="Calibri" pitchFamily="34" charset="0"/>
                <a:ea typeface="Calibri" pitchFamily="34" charset="-122"/>
                <a:cs typeface="Calibri" pitchFamily="34" charset="-120"/>
              </a:rPr>
              <a:t>Consequence: they are not systematic. There may be an entire region of the state space containing a solution that the algorithm never visits. No completeness guarantee. No optimality guarantee.</a:t>
            </a:r>
            <a:endParaRPr lang="en-US" sz="1600" dirty="0"/>
          </a:p>
        </p:txBody>
      </p:sp>
      <p:sp>
        <p:nvSpPr>
          <p:cNvPr id="7" name="Shape 5"/>
          <p:cNvSpPr/>
          <p:nvPr/>
        </p:nvSpPr>
        <p:spPr>
          <a:xfrm>
            <a:off x="566928" y="3291840"/>
            <a:ext cx="53492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419856"/>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Advantage 1 — memory</a:t>
            </a:r>
            <a:endParaRPr lang="en-US" sz="1500" dirty="0"/>
          </a:p>
        </p:txBody>
      </p:sp>
      <p:sp>
        <p:nvSpPr>
          <p:cNvPr id="9" name="Text 7"/>
          <p:cNvSpPr/>
          <p:nvPr/>
        </p:nvSpPr>
        <p:spPr>
          <a:xfrm>
            <a:off x="768096" y="3749040"/>
            <a:ext cx="4946904" cy="7498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They use very little memory, usually a constant amount: one current state and its successors. Nothing accumulates as the search runs.</a:t>
            </a:r>
            <a:endParaRPr lang="en-US" sz="1350" dirty="0"/>
          </a:p>
        </p:txBody>
      </p:sp>
      <p:sp>
        <p:nvSpPr>
          <p:cNvPr id="10" name="Shape 8"/>
          <p:cNvSpPr/>
          <p:nvPr/>
        </p:nvSpPr>
        <p:spPr>
          <a:xfrm>
            <a:off x="6300216" y="3291840"/>
            <a:ext cx="53492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01384" y="3419856"/>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Advantage 2 — reach</a:t>
            </a:r>
            <a:endParaRPr lang="en-US" sz="1500" dirty="0"/>
          </a:p>
        </p:txBody>
      </p:sp>
      <p:sp>
        <p:nvSpPr>
          <p:cNvPr id="12" name="Text 10"/>
          <p:cNvSpPr/>
          <p:nvPr/>
        </p:nvSpPr>
        <p:spPr>
          <a:xfrm>
            <a:off x="6501384" y="3749040"/>
            <a:ext cx="4946904" cy="7498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They often find reasonable solutions in large or infinite state spaces for which systematic algorithms are simply unsuitable.</a:t>
            </a:r>
            <a:endParaRPr lang="en-US" sz="1350" dirty="0"/>
          </a:p>
        </p:txBody>
      </p:sp>
      <p:sp>
        <p:nvSpPr>
          <p:cNvPr id="13" name="Shape 11"/>
          <p:cNvSpPr/>
          <p:nvPr/>
        </p:nvSpPr>
        <p:spPr>
          <a:xfrm>
            <a:off x="566928" y="4864608"/>
            <a:ext cx="11057839" cy="960120"/>
          </a:xfrm>
          <a:prstGeom prst="roundRect">
            <a:avLst>
              <a:gd name="adj" fmla="val 8571"/>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41248" y="4864608"/>
            <a:ext cx="10509199" cy="960120"/>
          </a:xfrm>
          <a:prstGeom prst="rect">
            <a:avLst/>
          </a:prstGeom>
          <a:noFill/>
          <a:ln/>
        </p:spPr>
        <p:txBody>
          <a:bodyPr wrap="square" lIns="0" tIns="0" rIns="0" bIns="0" rtlCol="0" anchor="ctr"/>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The bargain: you trade completeness and optimality for constant memory and unlimited scale. Take that bargain only when the path genuinely does not matter — and be honest with yourself about whether it does.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OPTIMIZATION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From goal tests to objective functions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566928" y="1517904"/>
            <a:ext cx="11057839" cy="1554480"/>
          </a:xfrm>
          <a:prstGeom prst="rect">
            <a:avLst/>
          </a:prstGeom>
          <a:noFill/>
          <a:ln/>
        </p:spPr>
        <p:txBody>
          <a:bodyPr wrap="square" lIns="0" tIns="0" rIns="0" bIns="0" rtlCol="0" anchor="t"/>
          <a:lstStyle/>
          <a:p>
            <a:pPr marL="203200" indent="-203200">
              <a:lnSpc>
                <a:spcPts val="2100"/>
              </a:lnSpc>
              <a:spcAft>
                <a:spcPts val="1200"/>
              </a:spcAft>
              <a:buSzPct val="100000"/>
              <a:buChar char="•"/>
            </a:pPr>
            <a:r>
              <a:rPr lang="en-US" sz="1600" b="1" dirty="0">
                <a:solidFill>
                  <a:srgbClr val="1B2226"/>
                </a:solidFill>
                <a:latin typeface="Calibri" pitchFamily="34" charset="0"/>
                <a:ea typeface="Calibri" pitchFamily="34" charset="-122"/>
                <a:cs typeface="Calibri" pitchFamily="34" charset="-120"/>
              </a:rPr>
              <a:t>Local search algorithms can also solve optimization problems, in which the aim is to find the best state according to an objective function.</a:t>
            </a:r>
            <a:endParaRPr lang="en-US" sz="1600" dirty="0"/>
          </a:p>
          <a:p>
            <a:pPr marL="203200" indent="-203200">
              <a:lnSpc>
                <a:spcPts val="2100"/>
              </a:lnSpc>
              <a:spcAft>
                <a:spcPts val="1600"/>
              </a:spcAft>
              <a:buSzPct val="100000"/>
              <a:buChar char="•"/>
            </a:pPr>
            <a:r>
              <a:rPr lang="en-US" sz="1600" dirty="0">
                <a:solidFill>
                  <a:srgbClr val="1B2226"/>
                </a:solidFill>
                <a:latin typeface="Calibri" pitchFamily="34" charset="0"/>
                <a:ea typeface="Calibri" pitchFamily="34" charset="-122"/>
                <a:cs typeface="Calibri" pitchFamily="34" charset="-120"/>
              </a:rPr>
              <a:t>That is a genuine generalisation, not a rephrasing. A goal test answers yes or no. An objective function returns a number, so every state can be compared to every other state.</a:t>
            </a:r>
            <a:endParaRPr lang="en-US" sz="1600" dirty="0"/>
          </a:p>
        </p:txBody>
      </p:sp>
      <p:sp>
        <p:nvSpPr>
          <p:cNvPr id="7" name="Shape 5"/>
          <p:cNvSpPr/>
          <p:nvPr/>
        </p:nvSpPr>
        <p:spPr>
          <a:xfrm>
            <a:off x="566928" y="3063240"/>
            <a:ext cx="35204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19125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Satisfaction problem</a:t>
            </a:r>
            <a:endParaRPr lang="en-US" sz="1450" dirty="0"/>
          </a:p>
        </p:txBody>
      </p:sp>
      <p:sp>
        <p:nvSpPr>
          <p:cNvPr id="9" name="Text 7"/>
          <p:cNvSpPr/>
          <p:nvPr/>
        </p:nvSpPr>
        <p:spPr>
          <a:xfrm>
            <a:off x="768096" y="3520440"/>
            <a:ext cx="3118104" cy="1252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Find a configuration satisfying the constraints. Example: n-queens. Any conflict-free board is equally acceptable; the search stops at h = 0.</a:t>
            </a:r>
            <a:endParaRPr lang="en-US" sz="1300" dirty="0"/>
          </a:p>
        </p:txBody>
      </p:sp>
      <p:sp>
        <p:nvSpPr>
          <p:cNvPr id="10" name="Shape 8"/>
          <p:cNvSpPr/>
          <p:nvPr/>
        </p:nvSpPr>
        <p:spPr>
          <a:xfrm>
            <a:off x="4343400" y="3063240"/>
            <a:ext cx="35204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4544568" y="319125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Optimization problem</a:t>
            </a:r>
            <a:endParaRPr lang="en-US" sz="1450" dirty="0"/>
          </a:p>
        </p:txBody>
      </p:sp>
      <p:sp>
        <p:nvSpPr>
          <p:cNvPr id="12" name="Text 10"/>
          <p:cNvSpPr/>
          <p:nvPr/>
        </p:nvSpPr>
        <p:spPr>
          <a:xfrm>
            <a:off x="4544568" y="3520440"/>
            <a:ext cx="3118104" cy="1252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Find the best configuration available. Example: the travelling salesperson problem. Every tour is legal; you are ranking them.</a:t>
            </a:r>
            <a:endParaRPr lang="en-US" sz="1300" dirty="0"/>
          </a:p>
        </p:txBody>
      </p:sp>
      <p:sp>
        <p:nvSpPr>
          <p:cNvPr id="13" name="Shape 11"/>
          <p:cNvSpPr/>
          <p:nvPr/>
        </p:nvSpPr>
        <p:spPr>
          <a:xfrm>
            <a:off x="8119872" y="3063240"/>
            <a:ext cx="35204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321040" y="319125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Cost vs. value</a:t>
            </a:r>
            <a:endParaRPr lang="en-US" sz="1450" dirty="0"/>
          </a:p>
        </p:txBody>
      </p:sp>
      <p:sp>
        <p:nvSpPr>
          <p:cNvPr id="15" name="Text 13"/>
          <p:cNvSpPr/>
          <p:nvPr/>
        </p:nvSpPr>
        <p:spPr>
          <a:xfrm>
            <a:off x="8321040" y="3520440"/>
            <a:ext cx="3118104" cy="1252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A cost function is minimised, a value function is maximised. Negate one to get the other — the algorithms are identical up to a sign.</a:t>
            </a:r>
            <a:endParaRPr lang="en-US" sz="1300" dirty="0"/>
          </a:p>
        </p:txBody>
      </p:sp>
      <p:sp>
        <p:nvSpPr>
          <p:cNvPr id="16" name="Text 14"/>
          <p:cNvSpPr/>
          <p:nvPr/>
        </p:nvSpPr>
        <p:spPr>
          <a:xfrm>
            <a:off x="566928" y="5193792"/>
            <a:ext cx="11057839" cy="658368"/>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A useful trick from the reading: use the negative of a heuristic cost function as the objective. Hill climbing then walks toward the state with the smallest estimated distance to the goal.</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THE MENTAL MODEL</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state-space landscape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10</a:t>
            </a:r>
            <a:endParaRPr lang="en-US" sz="900" dirty="0"/>
          </a:p>
        </p:txBody>
      </p:sp>
      <p:pic>
        <p:nvPicPr>
          <p:cNvPr id="6" name="Image 0" descr="img/landscape.png"/>
          <p:cNvPicPr>
            <a:picLocks noChangeAspect="1"/>
          </p:cNvPicPr>
          <p:nvPr/>
        </p:nvPicPr>
        <p:blipFill>
          <a:blip r:embed="rId3"/>
          <a:stretch>
            <a:fillRect/>
          </a:stretch>
        </p:blipFill>
        <p:spPr>
          <a:xfrm>
            <a:off x="960120" y="1463040"/>
            <a:ext cx="7406640" cy="3648456"/>
          </a:xfrm>
          <a:prstGeom prst="rect">
            <a:avLst/>
          </a:prstGeom>
        </p:spPr>
      </p:pic>
      <p:sp>
        <p:nvSpPr>
          <p:cNvPr id="7" name="Shape 4"/>
          <p:cNvSpPr/>
          <p:nvPr/>
        </p:nvSpPr>
        <p:spPr>
          <a:xfrm>
            <a:off x="8641080" y="1463040"/>
            <a:ext cx="2999232" cy="3657600"/>
          </a:xfrm>
          <a:prstGeom prst="roundRect">
            <a:avLst>
              <a:gd name="adj" fmla="val 274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8842248" y="1591056"/>
            <a:ext cx="2596896"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Read the picture this way</a:t>
            </a:r>
            <a:endParaRPr lang="en-US" sz="1400" dirty="0"/>
          </a:p>
        </p:txBody>
      </p:sp>
      <p:sp>
        <p:nvSpPr>
          <p:cNvPr id="9" name="Text 6"/>
          <p:cNvSpPr/>
          <p:nvPr/>
        </p:nvSpPr>
        <p:spPr>
          <a:xfrm>
            <a:off x="8842248" y="1920240"/>
            <a:ext cx="2596896" cy="303580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x-axis: every state in the space, laid out side by side.</a:t>
            </a:r>
            <a:endParaRPr lang="en-US" sz="1250" dirty="0"/>
          </a:p>
          <a:p>
            <a:pPr marL="0" indent="0">
              <a:lnSpc>
                <a:spcPts val="1600"/>
              </a:lnSpc>
              <a:buNone/>
            </a:pPr>
            <a:endParaRPr lang="en-US" sz="1250" dirty="0"/>
          </a:p>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y-axis: the elevation of that state — the value of the objective function.</a:t>
            </a:r>
            <a:endParaRPr lang="en-US" sz="1250" dirty="0"/>
          </a:p>
          <a:p>
            <a:pPr marL="0" indent="0">
              <a:lnSpc>
                <a:spcPts val="1600"/>
              </a:lnSpc>
              <a:buNone/>
            </a:pPr>
            <a:endParaRPr lang="en-US" sz="1250" dirty="0"/>
          </a:p>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A complete-state formulation means every x on this axis is a legal board, not a partial one.</a:t>
            </a:r>
            <a:endParaRPr lang="en-US" sz="1250" dirty="0"/>
          </a:p>
        </p:txBody>
      </p:sp>
      <p:sp>
        <p:nvSpPr>
          <p:cNvPr id="10" name="Text 7"/>
          <p:cNvSpPr/>
          <p:nvPr/>
        </p:nvSpPr>
        <p:spPr>
          <a:xfrm>
            <a:off x="566928" y="5285232"/>
            <a:ext cx="11057839" cy="731520"/>
          </a:xfrm>
          <a:prstGeom prst="rect">
            <a:avLst/>
          </a:prstGeom>
          <a:noFill/>
          <a:ln/>
        </p:spPr>
        <p:txBody>
          <a:bodyPr wrap="square" lIns="0" tIns="0" rIns="0" bIns="0" rtlCol="0" anchor="t"/>
          <a:lstStyle/>
          <a:p>
            <a:pPr marL="0" indent="0">
              <a:lnSpc>
                <a:spcPts val="2100"/>
              </a:lnSpc>
              <a:buNone/>
            </a:pPr>
            <a:r>
              <a:rPr lang="en-US" sz="1500" dirty="0">
                <a:solidFill>
                  <a:srgbClr val="33454E"/>
                </a:solidFill>
                <a:latin typeface="Calibri" pitchFamily="34" charset="0"/>
                <a:ea typeface="Calibri" pitchFamily="34" charset="-122"/>
                <a:cs typeface="Calibri" pitchFamily="34" charset="-120"/>
              </a:rPr>
              <a:t>This one picture is the entire section. Hill climbing, simulated annealing, beam search, and genetic algorithms are four different answers to the same question: given that you can only feel the ground under your feet, how do you find the highest peak?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TERMINOLOGY</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Hill climbing and gradient descent are one algorithm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37360"/>
            <a:ext cx="4837176" cy="329184"/>
          </a:xfrm>
          <a:prstGeom prst="rect">
            <a:avLst/>
          </a:prstGeom>
          <a:noFill/>
          <a:ln/>
        </p:spPr>
        <p:txBody>
          <a:bodyPr wrap="square" lIns="0" tIns="0" rIns="0" bIns="0" rtlCol="0" anchor="ctr"/>
          <a:lstStyle/>
          <a:p>
            <a:pPr marL="0" indent="0">
              <a:buNone/>
            </a:pPr>
            <a:r>
              <a:rPr lang="en-US" sz="1650" b="1" dirty="0">
                <a:solidFill>
                  <a:srgbClr val="47603F"/>
                </a:solidFill>
                <a:latin typeface="Cambria" pitchFamily="34" charset="0"/>
                <a:ea typeface="Cambria" pitchFamily="34" charset="-122"/>
                <a:cs typeface="Cambria" pitchFamily="34" charset="-120"/>
              </a:rPr>
              <a:t>Elevation = objective</a:t>
            </a:r>
            <a:endParaRPr lang="en-US" sz="1650" dirty="0"/>
          </a:p>
        </p:txBody>
      </p:sp>
      <p:sp>
        <p:nvSpPr>
          <p:cNvPr id="8" name="Text 6"/>
          <p:cNvSpPr/>
          <p:nvPr/>
        </p:nvSpPr>
        <p:spPr>
          <a:xfrm>
            <a:off x="822960" y="2139696"/>
            <a:ext cx="4837176" cy="10058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Higher is better. The aim is the highest peak — a global maximum. We call the process hill climbing.</a:t>
            </a:r>
            <a:endParaRPr lang="en-US" sz="1450" dirty="0"/>
          </a:p>
        </p:txBody>
      </p:sp>
      <p:sp>
        <p:nvSpPr>
          <p:cNvPr id="9" name="Text 7"/>
          <p:cNvSpPr/>
          <p:nvPr/>
        </p:nvSpPr>
        <p:spPr>
          <a:xfrm>
            <a:off x="822960" y="3200400"/>
            <a:ext cx="4837176" cy="365760"/>
          </a:xfrm>
          <a:prstGeom prst="rect">
            <a:avLst/>
          </a:prstGeom>
          <a:noFill/>
          <a:ln/>
        </p:spPr>
        <p:txBody>
          <a:bodyPr wrap="square" lIns="0" tIns="0" rIns="0" bIns="0" rtlCol="0" anchor="ctr"/>
          <a:lstStyle/>
          <a:p>
            <a:pPr marL="0" indent="0">
              <a:buNone/>
            </a:pPr>
            <a:r>
              <a:rPr lang="en-US" sz="1500" b="1" dirty="0">
                <a:solidFill>
                  <a:srgbClr val="1E2A2F"/>
                </a:solidFill>
                <a:latin typeface="Courier New" pitchFamily="34" charset="0"/>
                <a:ea typeface="Courier New" pitchFamily="34" charset="-122"/>
                <a:cs typeface="Courier New" pitchFamily="34" charset="-120"/>
              </a:rPr>
              <a:t>maximise  f(x)</a:t>
            </a:r>
            <a:endParaRPr lang="en-US" sz="1500" dirty="0"/>
          </a:p>
        </p:txBody>
      </p:sp>
      <p:sp>
        <p:nvSpPr>
          <p:cNvPr id="10" name="Shape 8"/>
          <p:cNvSpPr/>
          <p:nvPr/>
        </p:nvSpPr>
        <p:spPr>
          <a:xfrm>
            <a:off x="6300216"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1737360"/>
            <a:ext cx="4837176" cy="329184"/>
          </a:xfrm>
          <a:prstGeom prst="rect">
            <a:avLst/>
          </a:prstGeom>
          <a:noFill/>
          <a:ln/>
        </p:spPr>
        <p:txBody>
          <a:bodyPr wrap="square" lIns="0" tIns="0" rIns="0" bIns="0" rtlCol="0" anchor="ctr"/>
          <a:lstStyle/>
          <a:p>
            <a:pPr marL="0" indent="0">
              <a:buNone/>
            </a:pPr>
            <a:r>
              <a:rPr lang="en-US" sz="1650" b="1" dirty="0">
                <a:solidFill>
                  <a:srgbClr val="B5563A"/>
                </a:solidFill>
                <a:latin typeface="Cambria" pitchFamily="34" charset="0"/>
                <a:ea typeface="Cambria" pitchFamily="34" charset="-122"/>
                <a:cs typeface="Cambria" pitchFamily="34" charset="-120"/>
              </a:rPr>
              <a:t>Elevation = cost</a:t>
            </a:r>
            <a:endParaRPr lang="en-US" sz="1650" dirty="0"/>
          </a:p>
        </p:txBody>
      </p:sp>
      <p:sp>
        <p:nvSpPr>
          <p:cNvPr id="12" name="Text 10"/>
          <p:cNvSpPr/>
          <p:nvPr/>
        </p:nvSpPr>
        <p:spPr>
          <a:xfrm>
            <a:off x="6556248" y="2139696"/>
            <a:ext cx="4837176" cy="10058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Lower is better. The aim is the lowest valley — a global minimum. We call the process gradient descent.</a:t>
            </a:r>
            <a:endParaRPr lang="en-US" sz="1450" dirty="0"/>
          </a:p>
        </p:txBody>
      </p:sp>
      <p:sp>
        <p:nvSpPr>
          <p:cNvPr id="13" name="Text 11"/>
          <p:cNvSpPr/>
          <p:nvPr/>
        </p:nvSpPr>
        <p:spPr>
          <a:xfrm>
            <a:off x="6556248" y="3200400"/>
            <a:ext cx="4837176" cy="365760"/>
          </a:xfrm>
          <a:prstGeom prst="rect">
            <a:avLst/>
          </a:prstGeom>
          <a:noFill/>
          <a:ln/>
        </p:spPr>
        <p:txBody>
          <a:bodyPr wrap="square" lIns="0" tIns="0" rIns="0" bIns="0" rtlCol="0" anchor="ctr"/>
          <a:lstStyle/>
          <a:p>
            <a:pPr marL="0" indent="0">
              <a:buNone/>
            </a:pPr>
            <a:r>
              <a:rPr lang="en-US" sz="1500" b="1" dirty="0">
                <a:solidFill>
                  <a:srgbClr val="1E2A2F"/>
                </a:solidFill>
                <a:latin typeface="Courier New" pitchFamily="34" charset="0"/>
                <a:ea typeface="Courier New" pitchFamily="34" charset="-122"/>
                <a:cs typeface="Courier New" pitchFamily="34" charset="-120"/>
              </a:rPr>
              <a:t>minimise  f(x)  =  maximise  −f(x)</a:t>
            </a:r>
            <a:endParaRPr lang="en-US" sz="1500" dirty="0"/>
          </a:p>
        </p:txBody>
      </p:sp>
      <p:sp>
        <p:nvSpPr>
          <p:cNvPr id="14" name="Shape 12"/>
          <p:cNvSpPr/>
          <p:nvPr/>
        </p:nvSpPr>
        <p:spPr>
          <a:xfrm>
            <a:off x="566928" y="4069080"/>
            <a:ext cx="11057839" cy="1691640"/>
          </a:xfrm>
          <a:prstGeom prst="roundRect">
            <a:avLst>
              <a:gd name="adj" fmla="val 4865"/>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41248" y="4224528"/>
            <a:ext cx="10509199" cy="329184"/>
          </a:xfrm>
          <a:prstGeom prst="rect">
            <a:avLst/>
          </a:prstGeom>
          <a:noFill/>
          <a:ln/>
        </p:spPr>
        <p:txBody>
          <a:bodyPr wrap="square" lIns="0" tIns="0" rIns="0" bIns="0" rtlCol="0" anchor="ctr"/>
          <a:lstStyle/>
          <a:p>
            <a:pPr marL="0" indent="0">
              <a:buNone/>
            </a:pPr>
            <a:r>
              <a:rPr lang="en-US" sz="1550" b="1" dirty="0">
                <a:solidFill>
                  <a:srgbClr val="D08B6F"/>
                </a:solidFill>
                <a:latin typeface="Cambria" pitchFamily="34" charset="0"/>
                <a:ea typeface="Cambria" pitchFamily="34" charset="-122"/>
                <a:cs typeface="Cambria" pitchFamily="34" charset="-120"/>
              </a:rPr>
              <a:t>Why you should care about a naming convention</a:t>
            </a:r>
            <a:endParaRPr lang="en-US" sz="1550" dirty="0"/>
          </a:p>
        </p:txBody>
      </p:sp>
      <p:sp>
        <p:nvSpPr>
          <p:cNvPr id="16" name="Text 14"/>
          <p:cNvSpPr/>
          <p:nvPr/>
        </p:nvSpPr>
        <p:spPr>
          <a:xfrm>
            <a:off x="841248" y="4617720"/>
            <a:ext cx="10509199" cy="100584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Every gradient descent step you will ever write in a machine learning course is the algorithm on the left with the sign flipped. When we reach Section 4.2 you will see the update rule x ← x − α∇f(x) and it will be the same three lines of pseudocode you are about to read for hill climbing.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METHOD</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Formulating a local search problem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566928" y="1444752"/>
            <a:ext cx="11057839" cy="457200"/>
          </a:xfrm>
          <a:prstGeom prst="rect">
            <a:avLst/>
          </a:prstGeom>
          <a:noFill/>
          <a:ln/>
        </p:spPr>
        <p:txBody>
          <a:bodyPr wrap="square" lIns="0" tIns="0" rIns="0" bIns="0" rtlCol="0" anchor="t"/>
          <a:lstStyle/>
          <a:p>
            <a:pPr marL="0" indent="0">
              <a:lnSpc>
                <a:spcPts val="2000"/>
              </a:lnSpc>
              <a:buNone/>
            </a:pPr>
            <a:r>
              <a:rPr lang="en-US" sz="1500" i="1" dirty="0">
                <a:solidFill>
                  <a:srgbClr val="B5563A"/>
                </a:solidFill>
                <a:latin typeface="Calibri" pitchFamily="34" charset="0"/>
                <a:ea typeface="Calibri" pitchFamily="34" charset="-122"/>
                <a:cs typeface="Calibri" pitchFamily="34" charset="-120"/>
              </a:rPr>
              <a:t>A complete-state formulation: every state has all the components of a solution, but they might not all be in the right place.</a:t>
            </a:r>
            <a:endParaRPr lang="en-US" sz="1500" dirty="0"/>
          </a:p>
        </p:txBody>
      </p:sp>
      <p:sp>
        <p:nvSpPr>
          <p:cNvPr id="7" name="Shape 5"/>
          <p:cNvSpPr/>
          <p:nvPr/>
        </p:nvSpPr>
        <p:spPr>
          <a:xfrm>
            <a:off x="566928" y="2029968"/>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8" name="Text 6"/>
          <p:cNvSpPr/>
          <p:nvPr/>
        </p:nvSpPr>
        <p:spPr>
          <a:xfrm>
            <a:off x="804672" y="2029968"/>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States</a:t>
            </a:r>
            <a:endParaRPr lang="en-US" sz="1450" dirty="0"/>
          </a:p>
        </p:txBody>
      </p:sp>
      <p:sp>
        <p:nvSpPr>
          <p:cNvPr id="9" name="Text 7"/>
          <p:cNvSpPr/>
          <p:nvPr/>
        </p:nvSpPr>
        <p:spPr>
          <a:xfrm>
            <a:off x="2441448" y="2029968"/>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A complete configuration, never a partial one.</a:t>
            </a:r>
            <a:endParaRPr lang="en-US" sz="1350" dirty="0"/>
          </a:p>
        </p:txBody>
      </p:sp>
      <p:sp>
        <p:nvSpPr>
          <p:cNvPr id="10" name="Text 8"/>
          <p:cNvSpPr/>
          <p:nvPr/>
        </p:nvSpPr>
        <p:spPr>
          <a:xfrm>
            <a:off x="6830568" y="2029968"/>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8 queens on the board, one per column.</a:t>
            </a:r>
            <a:endParaRPr lang="en-US" sz="1350" dirty="0"/>
          </a:p>
        </p:txBody>
      </p:sp>
      <p:sp>
        <p:nvSpPr>
          <p:cNvPr id="11" name="Shape 9"/>
          <p:cNvSpPr/>
          <p:nvPr/>
        </p:nvSpPr>
        <p:spPr>
          <a:xfrm>
            <a:off x="566928" y="2834640"/>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12" name="Text 10"/>
          <p:cNvSpPr/>
          <p:nvPr/>
        </p:nvSpPr>
        <p:spPr>
          <a:xfrm>
            <a:off x="804672" y="2834640"/>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Initial state</a:t>
            </a:r>
            <a:endParaRPr lang="en-US" sz="1450" dirty="0"/>
          </a:p>
        </p:txBody>
      </p:sp>
      <p:sp>
        <p:nvSpPr>
          <p:cNvPr id="13" name="Text 11"/>
          <p:cNvSpPr/>
          <p:nvPr/>
        </p:nvSpPr>
        <p:spPr>
          <a:xfrm>
            <a:off x="2441448" y="2834640"/>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Usually chosen at random.</a:t>
            </a:r>
            <a:endParaRPr lang="en-US" sz="1350" dirty="0"/>
          </a:p>
        </p:txBody>
      </p:sp>
      <p:sp>
        <p:nvSpPr>
          <p:cNvPr id="14" name="Text 12"/>
          <p:cNvSpPr/>
          <p:nvPr/>
        </p:nvSpPr>
        <p:spPr>
          <a:xfrm>
            <a:off x="6830568" y="2834640"/>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8 random rows, one per column.</a:t>
            </a:r>
            <a:endParaRPr lang="en-US" sz="1350" dirty="0"/>
          </a:p>
        </p:txBody>
      </p:sp>
      <p:sp>
        <p:nvSpPr>
          <p:cNvPr id="15" name="Shape 13"/>
          <p:cNvSpPr/>
          <p:nvPr/>
        </p:nvSpPr>
        <p:spPr>
          <a:xfrm>
            <a:off x="566928" y="3639312"/>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16" name="Text 14"/>
          <p:cNvSpPr/>
          <p:nvPr/>
        </p:nvSpPr>
        <p:spPr>
          <a:xfrm>
            <a:off x="804672" y="3639312"/>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Successors</a:t>
            </a:r>
            <a:endParaRPr lang="en-US" sz="1450" dirty="0"/>
          </a:p>
        </p:txBody>
      </p:sp>
      <p:sp>
        <p:nvSpPr>
          <p:cNvPr id="17" name="Text 15"/>
          <p:cNvSpPr/>
          <p:nvPr/>
        </p:nvSpPr>
        <p:spPr>
          <a:xfrm>
            <a:off x="2441448" y="3639312"/>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Small local modifications of the current state.</a:t>
            </a:r>
            <a:endParaRPr lang="en-US" sz="1350" dirty="0"/>
          </a:p>
        </p:txBody>
      </p:sp>
      <p:sp>
        <p:nvSpPr>
          <p:cNvPr id="18" name="Text 16"/>
          <p:cNvSpPr/>
          <p:nvPr/>
        </p:nvSpPr>
        <p:spPr>
          <a:xfrm>
            <a:off x="6830568" y="3639312"/>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Move one queen within its column: 8 × 7 = 56 successors.</a:t>
            </a:r>
            <a:endParaRPr lang="en-US" sz="1350" dirty="0"/>
          </a:p>
        </p:txBody>
      </p:sp>
      <p:sp>
        <p:nvSpPr>
          <p:cNvPr id="19" name="Shape 17"/>
          <p:cNvSpPr/>
          <p:nvPr/>
        </p:nvSpPr>
        <p:spPr>
          <a:xfrm>
            <a:off x="566928" y="4443984"/>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0" name="Text 18"/>
          <p:cNvSpPr/>
          <p:nvPr/>
        </p:nvSpPr>
        <p:spPr>
          <a:xfrm>
            <a:off x="804672" y="4443984"/>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Value function</a:t>
            </a:r>
            <a:endParaRPr lang="en-US" sz="1450" dirty="0"/>
          </a:p>
        </p:txBody>
      </p:sp>
      <p:sp>
        <p:nvSpPr>
          <p:cNvPr id="21" name="Text 19"/>
          <p:cNvSpPr/>
          <p:nvPr/>
        </p:nvSpPr>
        <p:spPr>
          <a:xfrm>
            <a:off x="2441448" y="4443984"/>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A number scoring the state. Cheap to evaluate.</a:t>
            </a:r>
            <a:endParaRPr lang="en-US" sz="1350" dirty="0"/>
          </a:p>
        </p:txBody>
      </p:sp>
      <p:sp>
        <p:nvSpPr>
          <p:cNvPr id="22" name="Text 20"/>
          <p:cNvSpPr/>
          <p:nvPr/>
        </p:nvSpPr>
        <p:spPr>
          <a:xfrm>
            <a:off x="6830568" y="4443984"/>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h = number of pairs of queens attacking each other.</a:t>
            </a:r>
            <a:endParaRPr lang="en-US" sz="1350" dirty="0"/>
          </a:p>
        </p:txBody>
      </p:sp>
      <p:sp>
        <p:nvSpPr>
          <p:cNvPr id="23" name="Shape 21"/>
          <p:cNvSpPr/>
          <p:nvPr/>
        </p:nvSpPr>
        <p:spPr>
          <a:xfrm>
            <a:off x="566928" y="5248656"/>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4" name="Text 22"/>
          <p:cNvSpPr/>
          <p:nvPr/>
        </p:nvSpPr>
        <p:spPr>
          <a:xfrm>
            <a:off x="804672" y="5248656"/>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Termination</a:t>
            </a:r>
            <a:endParaRPr lang="en-US" sz="1450" dirty="0"/>
          </a:p>
        </p:txBody>
      </p:sp>
      <p:sp>
        <p:nvSpPr>
          <p:cNvPr id="25" name="Text 23"/>
          <p:cNvSpPr/>
          <p:nvPr/>
        </p:nvSpPr>
        <p:spPr>
          <a:xfrm>
            <a:off x="2441448" y="5248656"/>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No neighbour improves, or a threshold is met.</a:t>
            </a:r>
            <a:endParaRPr lang="en-US" sz="1350" dirty="0"/>
          </a:p>
        </p:txBody>
      </p:sp>
      <p:sp>
        <p:nvSpPr>
          <p:cNvPr id="26" name="Text 24"/>
          <p:cNvSpPr/>
          <p:nvPr/>
        </p:nvSpPr>
        <p:spPr>
          <a:xfrm>
            <a:off x="6830568" y="5248656"/>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h = 0, or no successor has lower h.</a:t>
            </a:r>
            <a:endParaRPr lang="en-US" sz="1350" dirty="0"/>
          </a:p>
        </p:txBody>
      </p:sp>
      <p:sp>
        <p:nvSpPr>
          <p:cNvPr id="27" name="Text 25"/>
          <p:cNvSpPr/>
          <p:nvPr/>
        </p:nvSpPr>
        <p:spPr>
          <a:xfrm>
            <a:off x="6830568" y="6035040"/>
            <a:ext cx="4663440" cy="274320"/>
          </a:xfrm>
          <a:prstGeom prst="rect">
            <a:avLst/>
          </a:prstGeom>
          <a:noFill/>
          <a:ln/>
        </p:spPr>
        <p:txBody>
          <a:bodyPr wrap="square" lIns="0" tIns="0" rIns="0" bIns="0" rtlCol="0" anchor="ctr"/>
          <a:lstStyle/>
          <a:p>
            <a:pPr marL="0" indent="0">
              <a:buNone/>
            </a:pPr>
            <a:r>
              <a:rPr lang="en-US" sz="1150" i="1" dirty="0">
                <a:solidFill>
                  <a:srgbClr val="7A868C"/>
                </a:solidFill>
                <a:latin typeface="Calibri" pitchFamily="34" charset="0"/>
                <a:ea typeface="Calibri" pitchFamily="34" charset="-122"/>
                <a:cs typeface="Calibri" pitchFamily="34" charset="-120"/>
              </a:rPr>
              <a:t>8-queens instantiation shown in rust.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02</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Hill-Climbing Search</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4.1.1.  Keep one current state. On every iteration, move to the neighbour with the highest value. Stop at a peak. It is three lines long, it solves 14% of 8-queens instances, and understanding exactly why it fails is the point of the next half hour.</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THE ALGORITHM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Steepest-ascent hill climbing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536192"/>
            <a:ext cx="6675120" cy="2633472"/>
          </a:xfrm>
          <a:prstGeom prst="roundRect">
            <a:avLst>
              <a:gd name="adj" fmla="val 2778"/>
            </a:avLst>
          </a:prstGeom>
          <a:solidFill>
            <a:srgbClr val="1E2A2F"/>
          </a:solidFill>
          <a:ln w="12700">
            <a:solidFill>
              <a:srgbClr val="2C3D45"/>
            </a:solidFill>
            <a:prstDash val="solid"/>
          </a:ln>
          <a:effectLst>
            <a:outerShdw blurRad="127000" dist="17780" dir="5400000" algn="bl" rotWithShape="0">
              <a:srgbClr val="8E9A9F">
                <a:alpha val="22000"/>
              </a:srgbClr>
            </a:outerShdw>
          </a:effectLst>
        </p:spPr>
        <p:txBody>
          <a:bodyPr/>
          <a:lstStyle/>
          <a:p>
            <a:endParaRPr lang="en-US"/>
          </a:p>
        </p:txBody>
      </p:sp>
      <p:sp>
        <p:nvSpPr>
          <p:cNvPr id="7" name="Text 5"/>
          <p:cNvSpPr/>
          <p:nvPr/>
        </p:nvSpPr>
        <p:spPr>
          <a:xfrm>
            <a:off x="822960" y="1737360"/>
            <a:ext cx="6217920" cy="2267712"/>
          </a:xfrm>
          <a:prstGeom prst="rect">
            <a:avLst/>
          </a:prstGeom>
          <a:noFill/>
          <a:ln/>
        </p:spPr>
        <p:txBody>
          <a:bodyPr wrap="square" lIns="0" tIns="0" rIns="0" bIns="0" rtlCol="0" anchor="t"/>
          <a:lstStyle/>
          <a:p>
            <a:pPr marL="0" indent="0">
              <a:lnSpc>
                <a:spcPts val="2100"/>
              </a:lnSpc>
              <a:buNone/>
            </a:pPr>
            <a:r>
              <a:rPr lang="en-US" sz="1350" b="1" dirty="0">
                <a:solidFill>
                  <a:srgbClr val="D08B6F"/>
                </a:solidFill>
                <a:latin typeface="Courier New" pitchFamily="34" charset="0"/>
                <a:ea typeface="Courier New" pitchFamily="34" charset="-122"/>
                <a:cs typeface="Courier New" pitchFamily="34" charset="-120"/>
              </a:rPr>
              <a:t>function HILL-CLIMBING(problem) returns a state</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current ← problem.INITIAL</a:t>
            </a:r>
            <a:endParaRPr lang="en-US" sz="1350" dirty="0"/>
          </a:p>
          <a:p>
            <a:pPr marL="0" indent="0">
              <a:lnSpc>
                <a:spcPts val="2100"/>
              </a:lnSpc>
              <a:buNone/>
            </a:pPr>
            <a:r>
              <a:rPr lang="en-US" sz="1350" dirty="0">
                <a:solidFill>
                  <a:srgbClr val="D08B6F"/>
                </a:solidFill>
                <a:latin typeface="Courier New" pitchFamily="34" charset="0"/>
                <a:ea typeface="Courier New" pitchFamily="34" charset="-122"/>
                <a:cs typeface="Courier New" pitchFamily="34" charset="-120"/>
              </a:rPr>
              <a:t>    loop do</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neighbor ← a highest-valued successor state of current</a:t>
            </a:r>
            <a:endParaRPr lang="en-US" sz="1350" dirty="0"/>
          </a:p>
          <a:p>
            <a:pPr marL="0" indent="0">
              <a:lnSpc>
                <a:spcPts val="2100"/>
              </a:lnSpc>
              <a:buNone/>
            </a:pPr>
            <a:r>
              <a:rPr lang="en-US" sz="1350" dirty="0">
                <a:solidFill>
                  <a:srgbClr val="D08B6F"/>
                </a:solidFill>
                <a:latin typeface="Courier New" pitchFamily="34" charset="0"/>
                <a:ea typeface="Courier New" pitchFamily="34" charset="-122"/>
                <a:cs typeface="Courier New" pitchFamily="34" charset="-120"/>
              </a:rPr>
              <a:t>        if VALUE(neighbor) ≤ VALUE(current) then</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return current</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current ← neighbor</a:t>
            </a:r>
            <a:endParaRPr lang="en-US" sz="1350" dirty="0"/>
          </a:p>
        </p:txBody>
      </p:sp>
      <p:sp>
        <p:nvSpPr>
          <p:cNvPr id="8" name="Shape 6"/>
          <p:cNvSpPr/>
          <p:nvPr/>
        </p:nvSpPr>
        <p:spPr>
          <a:xfrm>
            <a:off x="7571232" y="1536192"/>
            <a:ext cx="4069080" cy="4224528"/>
          </a:xfrm>
          <a:prstGeom prst="roundRect">
            <a:avLst>
              <a:gd name="adj" fmla="val 2022"/>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772400" y="1664208"/>
            <a:ext cx="366674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Three properties worth naming</a:t>
            </a:r>
            <a:endParaRPr lang="en-US" sz="1500" dirty="0"/>
          </a:p>
        </p:txBody>
      </p:sp>
      <p:sp>
        <p:nvSpPr>
          <p:cNvPr id="10" name="Text 8"/>
          <p:cNvSpPr/>
          <p:nvPr/>
        </p:nvSpPr>
        <p:spPr>
          <a:xfrm>
            <a:off x="7772400" y="1993392"/>
            <a:ext cx="3666744" cy="3602736"/>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One current state. The loop never allocates. Memory is O(1) plus whatever the successor function needs.</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No lookahead. The algorithm does not look beyond the immediate neighbours of the current state. It cannot see two moves ahead, ever.</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No history. It does not know where it has been, so it cannot detect that it is revisiting states or wandering in circles.</a:t>
            </a:r>
            <a:endParaRPr lang="en-US" sz="1320" dirty="0"/>
          </a:p>
        </p:txBody>
      </p:sp>
      <p:sp>
        <p:nvSpPr>
          <p:cNvPr id="11" name="Text 9"/>
          <p:cNvSpPr/>
          <p:nvPr/>
        </p:nvSpPr>
        <p:spPr>
          <a:xfrm>
            <a:off x="566928" y="4956048"/>
            <a:ext cx="6675120" cy="822960"/>
          </a:xfrm>
          <a:prstGeom prst="rect">
            <a:avLst/>
          </a:prstGeom>
          <a:noFill/>
          <a:ln/>
        </p:spPr>
        <p:txBody>
          <a:bodyPr wrap="square" lIns="0" tIns="0" rIns="0" bIns="0" rtlCol="0" anchor="t"/>
          <a:lstStyle/>
          <a:p>
            <a:pPr marL="0" indent="0">
              <a:lnSpc>
                <a:spcPts val="2000"/>
              </a:lnSpc>
              <a:buNone/>
            </a:pPr>
            <a:r>
              <a:rPr lang="en-US" sz="1450" i="1" dirty="0">
                <a:solidFill>
                  <a:srgbClr val="B5563A"/>
                </a:solidFill>
                <a:latin typeface="Calibri" pitchFamily="34" charset="0"/>
                <a:ea typeface="Calibri" pitchFamily="34" charset="-122"/>
                <a:cs typeface="Calibri" pitchFamily="34" charset="-120"/>
              </a:rPr>
              <a:t>Termination is where the trouble lives: the algorithm stops when no neighbour is better — which says nothing whatsoever about whether the current state is good.</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THE METAPHOR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Everest, in thick fog, with amnesia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66928" y="1554480"/>
            <a:ext cx="11057839" cy="1051560"/>
          </a:xfrm>
          <a:prstGeom prst="roundRect">
            <a:avLst>
              <a:gd name="adj" fmla="val 782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86968" y="1554480"/>
            <a:ext cx="10417759" cy="1051560"/>
          </a:xfrm>
          <a:prstGeom prst="rect">
            <a:avLst/>
          </a:prstGeom>
          <a:noFill/>
          <a:ln/>
        </p:spPr>
        <p:txBody>
          <a:bodyPr wrap="square" lIns="0" tIns="0" rIns="0" bIns="0" rtlCol="0" anchor="ctr"/>
          <a:lstStyle/>
          <a:p>
            <a:pPr marL="0" indent="0">
              <a:buNone/>
            </a:pPr>
            <a:r>
              <a:rPr lang="en-US" sz="1900" i="1" dirty="0">
                <a:solidFill>
                  <a:srgbClr val="FFFFFF"/>
                </a:solidFill>
                <a:latin typeface="Cambria" pitchFamily="34" charset="0"/>
                <a:ea typeface="Cambria" pitchFamily="34" charset="-122"/>
                <a:cs typeface="Cambria" pitchFamily="34" charset="-120"/>
              </a:rPr>
              <a:t>“This resembles trying to find the top of Mount Everest in a thick fog while suffering from amnesia.”</a:t>
            </a:r>
            <a:endParaRPr lang="en-US" sz="1900" dirty="0"/>
          </a:p>
        </p:txBody>
      </p:sp>
      <p:sp>
        <p:nvSpPr>
          <p:cNvPr id="8" name="Shape 6"/>
          <p:cNvSpPr/>
          <p:nvPr/>
        </p:nvSpPr>
        <p:spPr>
          <a:xfrm>
            <a:off x="566928" y="288036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 y="3008376"/>
            <a:ext cx="3118104" cy="310896"/>
          </a:xfrm>
          <a:prstGeom prst="rect">
            <a:avLst/>
          </a:prstGeom>
          <a:noFill/>
          <a:ln/>
        </p:spPr>
        <p:txBody>
          <a:bodyPr wrap="square" lIns="0" tIns="0" rIns="0" bIns="0" rtlCol="0" anchor="ctr"/>
          <a:lstStyle/>
          <a:p>
            <a:pPr marL="0" indent="0">
              <a:buNone/>
            </a:pPr>
            <a:r>
              <a:rPr lang="en-US" sz="1600" b="1" dirty="0">
                <a:solidFill>
                  <a:srgbClr val="B5563A"/>
                </a:solidFill>
                <a:latin typeface="Calibri" pitchFamily="34" charset="0"/>
                <a:ea typeface="Calibri" pitchFamily="34" charset="-122"/>
                <a:cs typeface="Calibri" pitchFamily="34" charset="-120"/>
              </a:rPr>
              <a:t>Everest</a:t>
            </a:r>
            <a:endParaRPr lang="en-US" sz="1600" dirty="0"/>
          </a:p>
        </p:txBody>
      </p:sp>
      <p:sp>
        <p:nvSpPr>
          <p:cNvPr id="10" name="Text 8"/>
          <p:cNvSpPr/>
          <p:nvPr/>
        </p:nvSpPr>
        <p:spPr>
          <a:xfrm>
            <a:off x="768096" y="3337560"/>
            <a:ext cx="3118104" cy="12070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 objective is real and there is a genuine highest point. The difficulty is not that the problem is ill-posed.</a:t>
            </a:r>
            <a:endParaRPr lang="en-US" sz="1350" dirty="0"/>
          </a:p>
        </p:txBody>
      </p:sp>
      <p:sp>
        <p:nvSpPr>
          <p:cNvPr id="11" name="Shape 9"/>
          <p:cNvSpPr/>
          <p:nvPr/>
        </p:nvSpPr>
        <p:spPr>
          <a:xfrm>
            <a:off x="4343400" y="288036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4544568" y="3008376"/>
            <a:ext cx="3118104" cy="310896"/>
          </a:xfrm>
          <a:prstGeom prst="rect">
            <a:avLst/>
          </a:prstGeom>
          <a:noFill/>
          <a:ln/>
        </p:spPr>
        <p:txBody>
          <a:bodyPr wrap="square" lIns="0" tIns="0" rIns="0" bIns="0" rtlCol="0" anchor="ctr"/>
          <a:lstStyle/>
          <a:p>
            <a:pPr marL="0" indent="0">
              <a:buNone/>
            </a:pPr>
            <a:r>
              <a:rPr lang="en-US" sz="1600" b="1" dirty="0">
                <a:solidFill>
                  <a:srgbClr val="B5563A"/>
                </a:solidFill>
                <a:latin typeface="Calibri" pitchFamily="34" charset="0"/>
                <a:ea typeface="Calibri" pitchFamily="34" charset="-122"/>
                <a:cs typeface="Calibri" pitchFamily="34" charset="-120"/>
              </a:rPr>
              <a:t>Thick fog</a:t>
            </a:r>
            <a:endParaRPr lang="en-US" sz="1600" dirty="0"/>
          </a:p>
        </p:txBody>
      </p:sp>
      <p:sp>
        <p:nvSpPr>
          <p:cNvPr id="13" name="Text 11"/>
          <p:cNvSpPr/>
          <p:nvPr/>
        </p:nvSpPr>
        <p:spPr>
          <a:xfrm>
            <a:off x="4544568" y="3337560"/>
            <a:ext cx="3118104" cy="12070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You can feel the slope immediately around you and nothing else. No view of the summit, no map, no lookahead.</a:t>
            </a:r>
            <a:endParaRPr lang="en-US" sz="1350" dirty="0"/>
          </a:p>
        </p:txBody>
      </p:sp>
      <p:sp>
        <p:nvSpPr>
          <p:cNvPr id="14" name="Shape 12"/>
          <p:cNvSpPr/>
          <p:nvPr/>
        </p:nvSpPr>
        <p:spPr>
          <a:xfrm>
            <a:off x="8119872" y="288036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321040" y="3008376"/>
            <a:ext cx="3118104" cy="310896"/>
          </a:xfrm>
          <a:prstGeom prst="rect">
            <a:avLst/>
          </a:prstGeom>
          <a:noFill/>
          <a:ln/>
        </p:spPr>
        <p:txBody>
          <a:bodyPr wrap="square" lIns="0" tIns="0" rIns="0" bIns="0" rtlCol="0" anchor="ctr"/>
          <a:lstStyle/>
          <a:p>
            <a:pPr marL="0" indent="0">
              <a:buNone/>
            </a:pPr>
            <a:r>
              <a:rPr lang="en-US" sz="1600" b="1" dirty="0">
                <a:solidFill>
                  <a:srgbClr val="B5563A"/>
                </a:solidFill>
                <a:latin typeface="Calibri" pitchFamily="34" charset="0"/>
                <a:ea typeface="Calibri" pitchFamily="34" charset="-122"/>
                <a:cs typeface="Calibri" pitchFamily="34" charset="-120"/>
              </a:rPr>
              <a:t>Amnesia</a:t>
            </a:r>
            <a:endParaRPr lang="en-US" sz="1600" dirty="0"/>
          </a:p>
        </p:txBody>
      </p:sp>
      <p:sp>
        <p:nvSpPr>
          <p:cNvPr id="16" name="Text 14"/>
          <p:cNvSpPr/>
          <p:nvPr/>
        </p:nvSpPr>
        <p:spPr>
          <a:xfrm>
            <a:off x="8321040" y="3337560"/>
            <a:ext cx="3118104" cy="12070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You do not remember where you have already been. No reached set, no frontier, no way to detect a loop.</a:t>
            </a:r>
            <a:endParaRPr lang="en-US" sz="1350" dirty="0"/>
          </a:p>
        </p:txBody>
      </p:sp>
      <p:sp>
        <p:nvSpPr>
          <p:cNvPr id="17" name="Text 15"/>
          <p:cNvSpPr/>
          <p:nvPr/>
        </p:nvSpPr>
        <p:spPr>
          <a:xfrm>
            <a:off x="566928" y="4956048"/>
            <a:ext cx="11057839" cy="777240"/>
          </a:xfrm>
          <a:prstGeom prst="rect">
            <a:avLst/>
          </a:prstGeom>
          <a:noFill/>
          <a:ln/>
        </p:spPr>
        <p:txBody>
          <a:bodyPr wrap="square" lIns="0" tIns="0" rIns="0" bIns="0" rtlCol="0" anchor="t"/>
          <a:lstStyle/>
          <a:p>
            <a:pPr marL="0" indent="0">
              <a:lnSpc>
                <a:spcPts val="2100"/>
              </a:lnSpc>
              <a:buNone/>
            </a:pPr>
            <a:r>
              <a:rPr lang="en-US" sz="1500" dirty="0">
                <a:solidFill>
                  <a:srgbClr val="33454E"/>
                </a:solidFill>
                <a:latin typeface="Calibri" pitchFamily="34" charset="0"/>
                <a:ea typeface="Calibri" pitchFamily="34" charset="-122"/>
                <a:cs typeface="Calibri" pitchFamily="34" charset="-120"/>
              </a:rPr>
              <a:t>Each clause of the metaphor maps onto a design decision, and each design decision is what buys the constant memory. The fog is not a bug in hill climbing — it is the price of the memory guarantee.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RUNNING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8-queens as a local search problem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16</a:t>
            </a:r>
            <a:endParaRPr lang="en-US" sz="900" dirty="0"/>
          </a:p>
        </p:txBody>
      </p:sp>
      <p:pic>
        <p:nvPicPr>
          <p:cNvPr id="6" name="Image 0" descr="img/queens0.png"/>
          <p:cNvPicPr>
            <a:picLocks noChangeAspect="1"/>
          </p:cNvPicPr>
          <p:nvPr/>
        </p:nvPicPr>
        <p:blipFill>
          <a:blip r:embed="rId3"/>
          <a:stretch>
            <a:fillRect/>
          </a:stretch>
        </p:blipFill>
        <p:spPr>
          <a:xfrm>
            <a:off x="8092440" y="1572768"/>
            <a:ext cx="3017520" cy="3300984"/>
          </a:xfrm>
          <a:prstGeom prst="rect">
            <a:avLst/>
          </a:prstGeom>
        </p:spPr>
      </p:pic>
      <p:sp>
        <p:nvSpPr>
          <p:cNvPr id="7" name="Text 4"/>
          <p:cNvSpPr/>
          <p:nvPr/>
        </p:nvSpPr>
        <p:spPr>
          <a:xfrm>
            <a:off x="8092440" y="4956048"/>
            <a:ext cx="3017520" cy="274320"/>
          </a:xfrm>
          <a:prstGeom prst="rect">
            <a:avLst/>
          </a:prstGeom>
          <a:noFill/>
          <a:ln/>
        </p:spPr>
        <p:txBody>
          <a:bodyPr wrap="square" lIns="0" tIns="0" rIns="0" bIns="0" rtlCol="0" anchor="ctr"/>
          <a:lstStyle/>
          <a:p>
            <a:pPr marL="0" indent="0" algn="ctr">
              <a:buNone/>
            </a:pPr>
            <a:r>
              <a:rPr lang="en-US" sz="1250" i="1" dirty="0">
                <a:solidFill>
                  <a:srgbClr val="7A868C"/>
                </a:solidFill>
                <a:latin typeface="Calibri" pitchFamily="34" charset="0"/>
                <a:ea typeface="Calibri" pitchFamily="34" charset="-122"/>
                <a:cs typeface="Calibri" pitchFamily="34" charset="-120"/>
              </a:rPr>
              <a:t>A goal state: h = 0</a:t>
            </a:r>
            <a:endParaRPr lang="en-US" sz="1250" dirty="0"/>
          </a:p>
        </p:txBody>
      </p:sp>
      <p:sp>
        <p:nvSpPr>
          <p:cNvPr id="8" name="Text 5"/>
          <p:cNvSpPr/>
          <p:nvPr/>
        </p:nvSpPr>
        <p:spPr>
          <a:xfrm>
            <a:off x="566928" y="1600200"/>
            <a:ext cx="7315200" cy="393192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States: every state has 8 queens on the board, one per column. A complete-state formulation.</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State space size: 8⁸ ≈ 17 million states.</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Initial state: chosen at random.</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Successors: all states generated by moving a single queen to another square in the same column.</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8 columns × 7 other squares = 56 successors per state.</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Heuristic cost function h: the number of pairs of queens that are attacking each other, directly or indirectly.</a:t>
            </a:r>
            <a:endParaRPr lang="en-US" sz="1500" dirty="0"/>
          </a:p>
          <a:p>
            <a:pPr marL="406400" lvl="1" indent="-203200">
              <a:lnSpc>
                <a:spcPts val="1700"/>
              </a:lnSpc>
              <a:spcAft>
                <a:spcPts val="500"/>
              </a:spcAft>
              <a:buSzPct val="100000"/>
              <a:buChar char="•"/>
            </a:pPr>
            <a:r>
              <a:rPr lang="en-US" sz="1300" dirty="0">
                <a:solidFill>
                  <a:srgbClr val="B5563A"/>
                </a:solidFill>
                <a:latin typeface="Calibri" pitchFamily="34" charset="0"/>
                <a:ea typeface="Calibri" pitchFamily="34" charset="-122"/>
                <a:cs typeface="Calibri" pitchFamily="34" charset="-120"/>
              </a:rPr>
              <a:t>It counts as an attack if two queens are in the same line, even if there is an intervening piece between them.</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h = 0 only for solutions, so we minimise h — hill climbing on −h.</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One state, fifty-six successors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17</a:t>
            </a:r>
            <a:endParaRPr lang="en-US" sz="900" dirty="0"/>
          </a:p>
        </p:txBody>
      </p:sp>
      <p:pic>
        <p:nvPicPr>
          <p:cNvPr id="6" name="Image 0" descr="img/queens17.png"/>
          <p:cNvPicPr>
            <a:picLocks noChangeAspect="1"/>
          </p:cNvPicPr>
          <p:nvPr/>
        </p:nvPicPr>
        <p:blipFill>
          <a:blip r:embed="rId3"/>
          <a:stretch>
            <a:fillRect/>
          </a:stretch>
        </p:blipFill>
        <p:spPr>
          <a:xfrm>
            <a:off x="914400" y="1463040"/>
            <a:ext cx="3977640" cy="4352544"/>
          </a:xfrm>
          <a:prstGeom prst="rect">
            <a:avLst/>
          </a:prstGeom>
        </p:spPr>
      </p:pic>
      <p:sp>
        <p:nvSpPr>
          <p:cNvPr id="7" name="Text 4"/>
          <p:cNvSpPr/>
          <p:nvPr/>
        </p:nvSpPr>
        <p:spPr>
          <a:xfrm>
            <a:off x="5257800" y="1572768"/>
            <a:ext cx="5806440" cy="658368"/>
          </a:xfrm>
          <a:prstGeom prst="rect">
            <a:avLst/>
          </a:prstGeom>
          <a:noFill/>
          <a:ln/>
        </p:spPr>
        <p:txBody>
          <a:bodyPr wrap="square" lIns="0" tIns="0" rIns="0" bIns="0" rtlCol="0" anchor="t"/>
          <a:lstStyle/>
          <a:p>
            <a:pPr marL="0" indent="0">
              <a:lnSpc>
                <a:spcPts val="2100"/>
              </a:lnSpc>
              <a:buNone/>
            </a:pPr>
            <a:r>
              <a:rPr lang="en-US" sz="1500" dirty="0">
                <a:solidFill>
                  <a:srgbClr val="1B2226"/>
                </a:solidFill>
                <a:latin typeface="Calibri" pitchFamily="34" charset="0"/>
                <a:ea typeface="Calibri" pitchFamily="34" charset="-122"/>
                <a:cs typeface="Calibri" pitchFamily="34" charset="-120"/>
              </a:rPr>
              <a:t>Each number is the value of h for the state you would reach by moving the queen in that column to that square.</a:t>
            </a:r>
            <a:endParaRPr lang="en-US" sz="1500" dirty="0"/>
          </a:p>
        </p:txBody>
      </p:sp>
      <p:sp>
        <p:nvSpPr>
          <p:cNvPr id="8" name="Shape 5"/>
          <p:cNvSpPr/>
          <p:nvPr/>
        </p:nvSpPr>
        <p:spPr>
          <a:xfrm>
            <a:off x="5257800" y="2377440"/>
            <a:ext cx="58064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5458968" y="2505456"/>
            <a:ext cx="5404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current state</a:t>
            </a:r>
            <a:endParaRPr lang="en-US" sz="1450" dirty="0"/>
          </a:p>
        </p:txBody>
      </p:sp>
      <p:sp>
        <p:nvSpPr>
          <p:cNvPr id="10" name="Text 7"/>
          <p:cNvSpPr/>
          <p:nvPr/>
        </p:nvSpPr>
        <p:spPr>
          <a:xfrm>
            <a:off x="5458968" y="2834640"/>
            <a:ext cx="5404104" cy="74980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h = 17. Seventeen pairs of queens are attacking each other. This board is a long way from a solution but it is a perfectly legal state — that is what complete-state formulation means.</a:t>
            </a:r>
            <a:endParaRPr lang="en-US" sz="1320" dirty="0"/>
          </a:p>
        </p:txBody>
      </p:sp>
      <p:sp>
        <p:nvSpPr>
          <p:cNvPr id="11" name="Shape 8"/>
          <p:cNvSpPr/>
          <p:nvPr/>
        </p:nvSpPr>
        <p:spPr>
          <a:xfrm>
            <a:off x="5257800" y="3877056"/>
            <a:ext cx="58064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9"/>
          <p:cNvSpPr/>
          <p:nvPr/>
        </p:nvSpPr>
        <p:spPr>
          <a:xfrm>
            <a:off x="5458968" y="4005072"/>
            <a:ext cx="5404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What steepest ascent will do</a:t>
            </a:r>
            <a:endParaRPr lang="en-US" sz="1450" dirty="0"/>
          </a:p>
        </p:txBody>
      </p:sp>
      <p:sp>
        <p:nvSpPr>
          <p:cNvPr id="13" name="Text 10"/>
          <p:cNvSpPr/>
          <p:nvPr/>
        </p:nvSpPr>
        <p:spPr>
          <a:xfrm>
            <a:off x="5458968" y="4334256"/>
            <a:ext cx="5404104" cy="74980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Scan all 56 numbers. Take the smallest. Move there. Repeat. No tie-breaking rule is specified by the algorithm, so implementations usually break ties at random.</a:t>
            </a:r>
            <a:endParaRPr lang="en-US" sz="1320" dirty="0"/>
          </a:p>
        </p:txBody>
      </p:sp>
      <p:sp>
        <p:nvSpPr>
          <p:cNvPr id="14" name="Text 11"/>
          <p:cNvSpPr/>
          <p:nvPr/>
        </p:nvSpPr>
        <p:spPr>
          <a:xfrm>
            <a:off x="5257800" y="5394960"/>
            <a:ext cx="5806440" cy="548640"/>
          </a:xfrm>
          <a:prstGeom prst="rect">
            <a:avLst/>
          </a:prstGeom>
          <a:noFill/>
          <a:ln/>
        </p:spPr>
        <p:txBody>
          <a:bodyPr wrap="square" lIns="0" tIns="0" rIns="0" bIns="0" rtlCol="0" anchor="t"/>
          <a:lstStyle/>
          <a:p>
            <a:pPr marL="0" indent="0">
              <a:lnSpc>
                <a:spcPts val="2000"/>
              </a:lnSpc>
              <a:buNone/>
            </a:pPr>
            <a:r>
              <a:rPr lang="en-US" sz="1450" b="1" i="1" dirty="0">
                <a:solidFill>
                  <a:srgbClr val="B5563A"/>
                </a:solidFill>
                <a:latin typeface="Calibri" pitchFamily="34" charset="0"/>
                <a:ea typeface="Calibri" pitchFamily="34" charset="-122"/>
                <a:cs typeface="Calibri" pitchFamily="34" charset="-120"/>
              </a:rPr>
              <a:t>Question for the room: what is the smallest number on this board, and how many squares achieve it?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Five ways to move, all equally good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18</a:t>
            </a:r>
            <a:endParaRPr lang="en-US" sz="900" dirty="0"/>
          </a:p>
        </p:txBody>
      </p:sp>
      <p:pic>
        <p:nvPicPr>
          <p:cNvPr id="6" name="Image 0" descr="img/queens17_best.png"/>
          <p:cNvPicPr>
            <a:picLocks noChangeAspect="1"/>
          </p:cNvPicPr>
          <p:nvPr/>
        </p:nvPicPr>
        <p:blipFill>
          <a:blip r:embed="rId3"/>
          <a:stretch>
            <a:fillRect/>
          </a:stretch>
        </p:blipFill>
        <p:spPr>
          <a:xfrm>
            <a:off x="914400" y="1417320"/>
            <a:ext cx="3703320" cy="4379976"/>
          </a:xfrm>
          <a:prstGeom prst="rect">
            <a:avLst/>
          </a:prstGeom>
        </p:spPr>
      </p:pic>
      <p:sp>
        <p:nvSpPr>
          <p:cNvPr id="7" name="Text 4"/>
          <p:cNvSpPr/>
          <p:nvPr/>
        </p:nvSpPr>
        <p:spPr>
          <a:xfrm>
            <a:off x="5074920" y="1572768"/>
            <a:ext cx="5989320" cy="393192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47603F"/>
                </a:solidFill>
                <a:latin typeface="Calibri" pitchFamily="34" charset="0"/>
                <a:ea typeface="Calibri" pitchFamily="34" charset="-122"/>
                <a:cs typeface="Calibri" pitchFamily="34" charset="-120"/>
              </a:rPr>
              <a:t>The best successors have h = 12, and there are five of them.</a:t>
            </a:r>
            <a:endParaRPr lang="en-US" sz="1500" dirty="0"/>
          </a:p>
          <a:p>
            <a:pPr marL="203200" indent="-203200">
              <a:lnSpc>
                <a:spcPts val="2000"/>
              </a:lnSpc>
              <a:spcAft>
                <a:spcPts val="1600"/>
              </a:spcAft>
              <a:buSzPct val="100000"/>
              <a:buChar char="•"/>
            </a:pPr>
            <a:r>
              <a:rPr lang="en-US" sz="1500" dirty="0">
                <a:solidFill>
                  <a:srgbClr val="1B2226"/>
                </a:solidFill>
                <a:latin typeface="Calibri" pitchFamily="34" charset="0"/>
                <a:ea typeface="Calibri" pitchFamily="34" charset="-122"/>
                <a:cs typeface="Calibri" pitchFamily="34" charset="-120"/>
              </a:rPr>
              <a:t>Steepest ascent takes one of the five — the algorithm does not say which, so ties are broken randomly.</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From this h = 17 state, it takes just five steps to reach a state with h = 1.</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Hill climbing makes rapid progress at the start because it is usually easy to improve a bad state. This is why greedy methods are worth taking seriously.</a:t>
            </a:r>
            <a:endParaRPr lang="en-US" sz="1500" dirty="0"/>
          </a:p>
          <a:p>
            <a:pPr marL="203200" indent="-203200">
              <a:lnSpc>
                <a:spcPts val="2000"/>
              </a:lnSpc>
              <a:spcAft>
                <a:spcPts val="1200"/>
              </a:spcAft>
              <a:buSzPct val="100000"/>
              <a:buChar char="•"/>
            </a:pPr>
            <a:r>
              <a:rPr lang="en-US" sz="1500" b="1" dirty="0">
                <a:solidFill>
                  <a:srgbClr val="B5563A"/>
                </a:solidFill>
                <a:latin typeface="Calibri" pitchFamily="34" charset="0"/>
                <a:ea typeface="Calibri" pitchFamily="34" charset="-122"/>
                <a:cs typeface="Calibri" pitchFamily="34" charset="-120"/>
              </a:rPr>
              <a:t>That h = 1 board is the trap. It is nearly a solution, and every single one of its 56 successors is worse.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INTERPRETATION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Hill climbing is greedy local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66928" y="1517904"/>
            <a:ext cx="11057839" cy="1371600"/>
          </a:xfrm>
          <a:prstGeom prst="rect">
            <a:avLst/>
          </a:prstGeom>
          <a:noFill/>
          <a:ln/>
        </p:spPr>
        <p:txBody>
          <a:bodyPr wrap="square" lIns="0" tIns="0" rIns="0" bIns="0" rtlCol="0" anchor="t"/>
          <a:lstStyle/>
          <a:p>
            <a:pPr marL="203200" indent="-203200">
              <a:lnSpc>
                <a:spcPts val="2100"/>
              </a:lnSpc>
              <a:spcAft>
                <a:spcPts val="1200"/>
              </a:spcAft>
              <a:buSzPct val="100000"/>
              <a:buChar char="•"/>
            </a:pPr>
            <a:r>
              <a:rPr lang="en-US" sz="1600" b="1" dirty="0">
                <a:solidFill>
                  <a:srgbClr val="1B2226"/>
                </a:solidFill>
                <a:latin typeface="Calibri" pitchFamily="34" charset="0"/>
                <a:ea typeface="Calibri" pitchFamily="34" charset="-122"/>
                <a:cs typeface="Calibri" pitchFamily="34" charset="-120"/>
              </a:rPr>
              <a:t>Hill climbing is sometimes called greedy local search because it grabs a good neighbour state without thinking ahead about where to go next.</a:t>
            </a:r>
            <a:endParaRPr lang="en-US" sz="1600" dirty="0"/>
          </a:p>
          <a:p>
            <a:pPr marL="203200" indent="-203200">
              <a:lnSpc>
                <a:spcPts val="2100"/>
              </a:lnSpc>
              <a:spcAft>
                <a:spcPts val="1200"/>
              </a:spcAft>
              <a:buSzPct val="100000"/>
              <a:buChar char="•"/>
            </a:pPr>
            <a:r>
              <a:rPr lang="en-US" sz="1600" i="1" dirty="0">
                <a:solidFill>
                  <a:srgbClr val="33454E"/>
                </a:solidFill>
                <a:latin typeface="Calibri" pitchFamily="34" charset="0"/>
                <a:ea typeface="Calibri" pitchFamily="34" charset="-122"/>
                <a:cs typeface="Calibri" pitchFamily="34" charset="-120"/>
              </a:rPr>
              <a:t>Although greed is considered one of the seven deadly sins, greedy algorithms often perform quite well.</a:t>
            </a:r>
            <a:endParaRPr lang="en-US" sz="1600" dirty="0"/>
          </a:p>
        </p:txBody>
      </p:sp>
      <p:sp>
        <p:nvSpPr>
          <p:cNvPr id="7" name="Shape 5"/>
          <p:cNvSpPr/>
          <p:nvPr/>
        </p:nvSpPr>
        <p:spPr>
          <a:xfrm>
            <a:off x="566928" y="2834640"/>
            <a:ext cx="5349240" cy="1417320"/>
          </a:xfrm>
          <a:prstGeom prst="roundRect">
            <a:avLst>
              <a:gd name="adj" fmla="val 580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2962656"/>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Why greed works early</a:t>
            </a:r>
            <a:endParaRPr lang="en-US" sz="1500" dirty="0"/>
          </a:p>
        </p:txBody>
      </p:sp>
      <p:sp>
        <p:nvSpPr>
          <p:cNvPr id="9" name="Text 7"/>
          <p:cNvSpPr/>
          <p:nvPr/>
        </p:nvSpPr>
        <p:spPr>
          <a:xfrm>
            <a:off x="768096" y="3291840"/>
            <a:ext cx="4946904" cy="79552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Bad states have many defects, so almost any local repair helps. Improvement is cheap and plentiful when h is large.</a:t>
            </a:r>
            <a:endParaRPr lang="en-US" sz="1350" dirty="0"/>
          </a:p>
        </p:txBody>
      </p:sp>
      <p:sp>
        <p:nvSpPr>
          <p:cNvPr id="10" name="Shape 8"/>
          <p:cNvSpPr/>
          <p:nvPr/>
        </p:nvSpPr>
        <p:spPr>
          <a:xfrm>
            <a:off x="6300216" y="2834640"/>
            <a:ext cx="5349240" cy="1417320"/>
          </a:xfrm>
          <a:prstGeom prst="roundRect">
            <a:avLst>
              <a:gd name="adj" fmla="val 580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01384" y="2962656"/>
            <a:ext cx="494690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Why greed fails late</a:t>
            </a:r>
            <a:endParaRPr lang="en-US" sz="1500" dirty="0"/>
          </a:p>
        </p:txBody>
      </p:sp>
      <p:sp>
        <p:nvSpPr>
          <p:cNvPr id="12" name="Text 10"/>
          <p:cNvSpPr/>
          <p:nvPr/>
        </p:nvSpPr>
        <p:spPr>
          <a:xfrm>
            <a:off x="6501384" y="3291840"/>
            <a:ext cx="4946904" cy="79552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Near-perfect states have one defect left, and fixing it requires temporarily creating another. Greed refuses to pay that price.</a:t>
            </a:r>
            <a:endParaRPr lang="en-US" sz="1350" dirty="0"/>
          </a:p>
        </p:txBody>
      </p:sp>
      <p:sp>
        <p:nvSpPr>
          <p:cNvPr id="13" name="Shape 11"/>
          <p:cNvSpPr/>
          <p:nvPr/>
        </p:nvSpPr>
        <p:spPr>
          <a:xfrm>
            <a:off x="566928" y="4462272"/>
            <a:ext cx="11057839" cy="1298448"/>
          </a:xfrm>
          <a:prstGeom prst="roundRect">
            <a:avLst>
              <a:gd name="adj" fmla="val 633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59536" y="4462272"/>
            <a:ext cx="10472623" cy="1298448"/>
          </a:xfrm>
          <a:prstGeom prst="rect">
            <a:avLst/>
          </a:prstGeom>
          <a:noFill/>
          <a:ln/>
        </p:spPr>
        <p:txBody>
          <a:bodyPr wrap="square" lIns="0" tIns="0" rIns="0" bIns="0" rtlCol="0" anchor="ctr"/>
          <a:lstStyle/>
          <a:p>
            <a:pPr marL="0" indent="0">
              <a:lnSpc>
                <a:spcPts val="2200"/>
              </a:lnSpc>
              <a:buNone/>
            </a:pPr>
            <a:r>
              <a:rPr lang="en-US" sz="1550" dirty="0">
                <a:solidFill>
                  <a:srgbClr val="E4D9C3"/>
                </a:solidFill>
                <a:latin typeface="Calibri" pitchFamily="34" charset="0"/>
                <a:ea typeface="Calibri" pitchFamily="34" charset="-122"/>
                <a:cs typeface="Calibri" pitchFamily="34" charset="-120"/>
              </a:rPr>
              <a:t>This asymmetry is the whole story of Section 4.1. Every algorithm after hill climbing — sideways moves, restarts, annealing, beam search, crossover — is a different scheme for buying the temporary worsening that greed will not accept.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FAILURE MODE 1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Local maxima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20</a:t>
            </a:r>
            <a:endParaRPr lang="en-US" sz="900" dirty="0"/>
          </a:p>
        </p:txBody>
      </p:sp>
      <p:pic>
        <p:nvPicPr>
          <p:cNvPr id="6" name="Image 0" descr="img/stuck.png"/>
          <p:cNvPicPr>
            <a:picLocks noChangeAspect="1"/>
          </p:cNvPicPr>
          <p:nvPr/>
        </p:nvPicPr>
        <p:blipFill>
          <a:blip r:embed="rId3"/>
          <a:stretch>
            <a:fillRect/>
          </a:stretch>
        </p:blipFill>
        <p:spPr>
          <a:xfrm>
            <a:off x="868680" y="1481328"/>
            <a:ext cx="6766560" cy="2935224"/>
          </a:xfrm>
          <a:prstGeom prst="rect">
            <a:avLst/>
          </a:prstGeom>
        </p:spPr>
      </p:pic>
      <p:sp>
        <p:nvSpPr>
          <p:cNvPr id="7" name="Shape 4"/>
          <p:cNvSpPr/>
          <p:nvPr/>
        </p:nvSpPr>
        <p:spPr>
          <a:xfrm>
            <a:off x="7863840" y="1481328"/>
            <a:ext cx="3246120" cy="2935224"/>
          </a:xfrm>
          <a:prstGeom prst="roundRect">
            <a:avLst>
              <a:gd name="adj" fmla="val 280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8065008" y="1609344"/>
            <a:ext cx="284378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Definition</a:t>
            </a:r>
            <a:endParaRPr lang="en-US" sz="1500" dirty="0"/>
          </a:p>
        </p:txBody>
      </p:sp>
      <p:sp>
        <p:nvSpPr>
          <p:cNvPr id="9" name="Text 6"/>
          <p:cNvSpPr/>
          <p:nvPr/>
        </p:nvSpPr>
        <p:spPr>
          <a:xfrm>
            <a:off x="8065008" y="1938528"/>
            <a:ext cx="2843784" cy="2313432"/>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A local maximum is a peak that is higher than each of its neighbouring states, but lower than the global maximum.</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Hill climbing is drawn upward toward the peak and then has nowhere to go. Every neighbour is worse, so the termination test fires and the algorithm reports success.</a:t>
            </a:r>
            <a:endParaRPr lang="en-US" sz="1300" dirty="0"/>
          </a:p>
        </p:txBody>
      </p:sp>
      <p:pic>
        <p:nvPicPr>
          <p:cNvPr id="10" name="Image 1" descr="img/queens1.png"/>
          <p:cNvPicPr>
            <a:picLocks noChangeAspect="1"/>
          </p:cNvPicPr>
          <p:nvPr/>
        </p:nvPicPr>
        <p:blipFill>
          <a:blip r:embed="rId4"/>
          <a:stretch>
            <a:fillRect/>
          </a:stretch>
        </p:blipFill>
        <p:spPr>
          <a:xfrm>
            <a:off x="566928" y="4572000"/>
            <a:ext cx="1280160" cy="1399032"/>
          </a:xfrm>
          <a:prstGeom prst="rect">
            <a:avLst/>
          </a:prstGeom>
        </p:spPr>
      </p:pic>
      <p:sp>
        <p:nvSpPr>
          <p:cNvPr id="11" name="Text 7"/>
          <p:cNvSpPr/>
          <p:nvPr/>
        </p:nvSpPr>
        <p:spPr>
          <a:xfrm>
            <a:off x="2048256" y="4663440"/>
            <a:ext cx="9601200" cy="1188720"/>
          </a:xfrm>
          <a:prstGeom prst="rect">
            <a:avLst/>
          </a:prstGeom>
          <a:noFill/>
          <a:ln/>
        </p:spPr>
        <p:txBody>
          <a:bodyPr wrap="square" lIns="0" tIns="0" rIns="0" bIns="0" rtlCol="0" anchor="t"/>
          <a:lstStyle/>
          <a:p>
            <a:pPr marL="0" indent="0">
              <a:lnSpc>
                <a:spcPts val="2000"/>
              </a:lnSpc>
              <a:buNone/>
            </a:pPr>
            <a:r>
              <a:rPr lang="en-US" sz="1450" b="1" dirty="0">
                <a:solidFill>
                  <a:srgbClr val="1E2A2F"/>
                </a:solidFill>
                <a:latin typeface="Calibri" pitchFamily="34" charset="0"/>
                <a:ea typeface="Calibri" pitchFamily="34" charset="-122"/>
                <a:cs typeface="Calibri" pitchFamily="34" charset="-120"/>
              </a:rPr>
              <a:t>The 8-queens instance of exactly this: </a:t>
            </a:r>
            <a:r>
              <a:rPr lang="en-US" sz="1450" dirty="0">
                <a:solidFill>
                  <a:srgbClr val="33454E"/>
                </a:solidFill>
                <a:latin typeface="Calibri" pitchFamily="34" charset="0"/>
                <a:ea typeface="Calibri" pitchFamily="34" charset="-122"/>
                <a:cs typeface="Calibri" pitchFamily="34" charset="-120"/>
              </a:rPr>
              <a:t>the board on the left has h = 1 — one attacking pair, one move from a solution — and every one of its 56 successors has h ≥ 2. It is a local minimum for the cost h, and steepest-ascent hill climbing stops there and calls it done.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FAILURE MODE 2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Ridges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21</a:t>
            </a:r>
            <a:endParaRPr lang="en-US" sz="900" dirty="0"/>
          </a:p>
        </p:txBody>
      </p:sp>
      <p:pic>
        <p:nvPicPr>
          <p:cNvPr id="6" name="Image 0" descr="img/ridge_contour.png"/>
          <p:cNvPicPr>
            <a:picLocks noChangeAspect="1"/>
          </p:cNvPicPr>
          <p:nvPr/>
        </p:nvPicPr>
        <p:blipFill>
          <a:blip r:embed="rId3"/>
          <a:stretch>
            <a:fillRect/>
          </a:stretch>
        </p:blipFill>
        <p:spPr>
          <a:xfrm>
            <a:off x="868680" y="1481328"/>
            <a:ext cx="5989320" cy="4389120"/>
          </a:xfrm>
          <a:prstGeom prst="rect">
            <a:avLst/>
          </a:prstGeom>
        </p:spPr>
      </p:pic>
      <p:sp>
        <p:nvSpPr>
          <p:cNvPr id="7" name="Text 4"/>
          <p:cNvSpPr/>
          <p:nvPr/>
        </p:nvSpPr>
        <p:spPr>
          <a:xfrm>
            <a:off x="7178040" y="1572768"/>
            <a:ext cx="3931920" cy="3108960"/>
          </a:xfrm>
          <a:prstGeom prst="rect">
            <a:avLst/>
          </a:prstGeom>
          <a:noFill/>
          <a:ln/>
        </p:spPr>
        <p:txBody>
          <a:bodyPr wrap="square" lIns="0" tIns="0" rIns="0" bIns="0" rtlCol="0" anchor="t"/>
          <a:lstStyle/>
          <a:p>
            <a:pPr marL="203200" indent="-203200">
              <a:lnSpc>
                <a:spcPts val="1900"/>
              </a:lnSpc>
              <a:spcAft>
                <a:spcPts val="1200"/>
              </a:spcAft>
              <a:buSzPct val="100000"/>
              <a:buChar char="•"/>
            </a:pPr>
            <a:r>
              <a:rPr lang="en-US" sz="1450" b="1" dirty="0">
                <a:solidFill>
                  <a:srgbClr val="1B2226"/>
                </a:solidFill>
                <a:latin typeface="Calibri" pitchFamily="34" charset="0"/>
                <a:ea typeface="Calibri" pitchFamily="34" charset="-122"/>
                <a:cs typeface="Calibri" pitchFamily="34" charset="-120"/>
              </a:rPr>
              <a:t>A ridge is a sequence of local maxima that is very difficult for greedy algorithms to navigate.</a:t>
            </a:r>
            <a:endParaRPr lang="en-US" sz="1450" dirty="0"/>
          </a:p>
          <a:p>
            <a:pPr marL="203200" indent="-203200">
              <a:lnSpc>
                <a:spcPts val="1900"/>
              </a:lnSpc>
              <a:spcAft>
                <a:spcPts val="1600"/>
              </a:spcAft>
              <a:buSzPct val="100000"/>
              <a:buChar char="•"/>
            </a:pPr>
            <a:r>
              <a:rPr lang="en-US" sz="1450" dirty="0">
                <a:solidFill>
                  <a:srgbClr val="1B2226"/>
                </a:solidFill>
                <a:latin typeface="Calibri" pitchFamily="34" charset="0"/>
                <a:ea typeface="Calibri" pitchFamily="34" charset="-122"/>
                <a:cs typeface="Calibri" pitchFamily="34" charset="-120"/>
              </a:rPr>
              <a:t>The terrain does climb toward the summit — but it climbs along a diagonal, and the successor function only offers moves along the axes.</a:t>
            </a:r>
            <a:endParaRPr lang="en-US" sz="1450" dirty="0"/>
          </a:p>
          <a:p>
            <a:pPr marL="203200" indent="-203200">
              <a:lnSpc>
                <a:spcPts val="1900"/>
              </a:lnSpc>
              <a:spcAft>
                <a:spcPts val="1600"/>
              </a:spcAft>
              <a:buSzPct val="100000"/>
              <a:buChar char="•"/>
            </a:pPr>
            <a:r>
              <a:rPr lang="en-US" sz="1450" dirty="0">
                <a:solidFill>
                  <a:srgbClr val="1B2226"/>
                </a:solidFill>
                <a:latin typeface="Calibri" pitchFamily="34" charset="0"/>
                <a:ea typeface="Calibri" pitchFamily="34" charset="-122"/>
                <a:cs typeface="Calibri" pitchFamily="34" charset="-120"/>
              </a:rPr>
              <a:t>Every available move is either slightly uphill or downhill, so the search zig-zags, taking many steps for little elevation.</a:t>
            </a:r>
            <a:endParaRPr lang="en-US" sz="1450" dirty="0"/>
          </a:p>
          <a:p>
            <a:pPr marL="203200" indent="-203200">
              <a:lnSpc>
                <a:spcPts val="1900"/>
              </a:lnSpc>
              <a:spcAft>
                <a:spcPts val="1600"/>
              </a:spcAft>
              <a:buSzPct val="100000"/>
              <a:buChar char="•"/>
            </a:pPr>
            <a:r>
              <a:rPr lang="en-US" sz="1450" dirty="0">
                <a:solidFill>
                  <a:srgbClr val="B5563A"/>
                </a:solidFill>
                <a:latin typeface="Calibri" pitchFamily="34" charset="0"/>
                <a:ea typeface="Calibri" pitchFamily="34" charset="-122"/>
                <a:cs typeface="Calibri" pitchFamily="34" charset="-120"/>
              </a:rPr>
              <a:t>Worse: the sequence of small peaks along the ridge means the algorithm can terminate at any one of them.</a:t>
            </a:r>
            <a:endParaRPr lang="en-US" sz="1450" dirty="0"/>
          </a:p>
        </p:txBody>
      </p:sp>
      <p:sp>
        <p:nvSpPr>
          <p:cNvPr id="8" name="Shape 5"/>
          <p:cNvSpPr/>
          <p:nvPr/>
        </p:nvSpPr>
        <p:spPr>
          <a:xfrm>
            <a:off x="7178040" y="4846320"/>
            <a:ext cx="3931920" cy="1005840"/>
          </a:xfrm>
          <a:prstGeom prst="roundRect">
            <a:avLst>
              <a:gd name="adj" fmla="val 8182"/>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7379208" y="4974336"/>
            <a:ext cx="3529584"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The lesson</a:t>
            </a:r>
            <a:endParaRPr lang="en-US" sz="1400" dirty="0"/>
          </a:p>
        </p:txBody>
      </p:sp>
      <p:sp>
        <p:nvSpPr>
          <p:cNvPr id="10" name="Text 7"/>
          <p:cNvSpPr/>
          <p:nvPr/>
        </p:nvSpPr>
        <p:spPr>
          <a:xfrm>
            <a:off x="7379208" y="5303520"/>
            <a:ext cx="3529584" cy="3840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Ridges are not a property of the problem. They are a property of the successor function you chose.</a:t>
            </a:r>
            <a:endParaRPr lang="en-US" sz="12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FAILURE MODE 3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Plateaus: shoulders and flat local maxima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66928" y="1463040"/>
            <a:ext cx="11057839" cy="457200"/>
          </a:xfrm>
          <a:prstGeom prst="rect">
            <a:avLst/>
          </a:prstGeom>
          <a:noFill/>
          <a:ln/>
        </p:spPr>
        <p:txBody>
          <a:bodyPr wrap="square" lIns="0" tIns="0" rIns="0" bIns="0" rtlCol="0" anchor="t"/>
          <a:lstStyle/>
          <a:p>
            <a:pPr marL="0" indent="0">
              <a:lnSpc>
                <a:spcPts val="2100"/>
              </a:lnSpc>
              <a:buNone/>
            </a:pPr>
            <a:r>
              <a:rPr lang="en-US" sz="1550" dirty="0">
                <a:solidFill>
                  <a:srgbClr val="1B2226"/>
                </a:solidFill>
                <a:latin typeface="Calibri" pitchFamily="34" charset="0"/>
                <a:ea typeface="Calibri" pitchFamily="34" charset="-122"/>
                <a:cs typeface="Calibri" pitchFamily="34" charset="-120"/>
              </a:rPr>
              <a:t>A plateau is a flat area of the state-space landscape. Crucially, there are two kinds, and from the inside they look identical.</a:t>
            </a:r>
            <a:endParaRPr lang="en-US" sz="1550" dirty="0"/>
          </a:p>
        </p:txBody>
      </p:sp>
      <p:sp>
        <p:nvSpPr>
          <p:cNvPr id="7" name="Shape 5"/>
          <p:cNvSpPr/>
          <p:nvPr/>
        </p:nvSpPr>
        <p:spPr>
          <a:xfrm>
            <a:off x="566928" y="2057400"/>
            <a:ext cx="5349240" cy="2240280"/>
          </a:xfrm>
          <a:prstGeom prst="roundRect">
            <a:avLst>
              <a:gd name="adj" fmla="val 367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2212848"/>
            <a:ext cx="4837176" cy="347472"/>
          </a:xfrm>
          <a:prstGeom prst="rect">
            <a:avLst/>
          </a:prstGeom>
          <a:noFill/>
          <a:ln/>
        </p:spPr>
        <p:txBody>
          <a:bodyPr wrap="square" lIns="0" tIns="0" rIns="0" bIns="0" rtlCol="0" anchor="ctr"/>
          <a:lstStyle/>
          <a:p>
            <a:pPr marL="0" indent="0">
              <a:buNone/>
            </a:pPr>
            <a:r>
              <a:rPr lang="en-US" sz="1700" b="1" dirty="0">
                <a:solidFill>
                  <a:srgbClr val="47603F"/>
                </a:solidFill>
                <a:latin typeface="Cambria" pitchFamily="34" charset="0"/>
                <a:ea typeface="Cambria" pitchFamily="34" charset="-122"/>
                <a:cs typeface="Cambria" pitchFamily="34" charset="-120"/>
              </a:rPr>
              <a:t>Shoulder</a:t>
            </a:r>
            <a:endParaRPr lang="en-US" sz="1700" dirty="0"/>
          </a:p>
        </p:txBody>
      </p:sp>
      <p:sp>
        <p:nvSpPr>
          <p:cNvPr id="9" name="Text 7"/>
          <p:cNvSpPr/>
          <p:nvPr/>
        </p:nvSpPr>
        <p:spPr>
          <a:xfrm>
            <a:off x="822960" y="2615184"/>
            <a:ext cx="4837176" cy="1517904"/>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 flat region from which progress is still possible — the ground rises again on the far side. If the algorithm keeps walking, it escapes and continues climbing.</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Stopping here is a wasted opportunity.</a:t>
            </a:r>
            <a:endParaRPr lang="en-US" sz="1400" dirty="0"/>
          </a:p>
        </p:txBody>
      </p:sp>
      <p:sp>
        <p:nvSpPr>
          <p:cNvPr id="10" name="Shape 8"/>
          <p:cNvSpPr/>
          <p:nvPr/>
        </p:nvSpPr>
        <p:spPr>
          <a:xfrm>
            <a:off x="6300216" y="2057400"/>
            <a:ext cx="5349240" cy="2240280"/>
          </a:xfrm>
          <a:prstGeom prst="roundRect">
            <a:avLst>
              <a:gd name="adj" fmla="val 367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2212848"/>
            <a:ext cx="4837176" cy="347472"/>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Flat local maximum</a:t>
            </a:r>
            <a:endParaRPr lang="en-US" sz="1700" dirty="0"/>
          </a:p>
        </p:txBody>
      </p:sp>
      <p:sp>
        <p:nvSpPr>
          <p:cNvPr id="12" name="Text 10"/>
          <p:cNvSpPr/>
          <p:nvPr/>
        </p:nvSpPr>
        <p:spPr>
          <a:xfrm>
            <a:off x="6556248" y="2615184"/>
            <a:ext cx="4837176" cy="1517904"/>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 flat region with no uphill exit anywhere on it. If the algorithm keeps walking, it wanders forever and never terminates.</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Walking here is a wasted eternity.</a:t>
            </a:r>
            <a:endParaRPr lang="en-US" sz="1400" dirty="0"/>
          </a:p>
        </p:txBody>
      </p:sp>
      <p:sp>
        <p:nvSpPr>
          <p:cNvPr id="13" name="Shape 11"/>
          <p:cNvSpPr/>
          <p:nvPr/>
        </p:nvSpPr>
        <p:spPr>
          <a:xfrm>
            <a:off x="566928" y="4526280"/>
            <a:ext cx="11057839" cy="1298448"/>
          </a:xfrm>
          <a:prstGeom prst="roundRect">
            <a:avLst>
              <a:gd name="adj" fmla="val 633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59536" y="4526280"/>
            <a:ext cx="10472623" cy="1298448"/>
          </a:xfrm>
          <a:prstGeom prst="rect">
            <a:avLst/>
          </a:prstGeom>
          <a:noFill/>
          <a:ln/>
        </p:spPr>
        <p:txBody>
          <a:bodyPr wrap="square" lIns="0" tIns="0" rIns="0" bIns="0" rtlCol="0" anchor="ctr"/>
          <a:lstStyle/>
          <a:p>
            <a:pPr marL="0" indent="0">
              <a:lnSpc>
                <a:spcPts val="2200"/>
              </a:lnSpc>
              <a:buNone/>
            </a:pPr>
            <a:r>
              <a:rPr lang="en-US" sz="1550" dirty="0">
                <a:solidFill>
                  <a:srgbClr val="E4D9C3"/>
                </a:solidFill>
                <a:latin typeface="Calibri" pitchFamily="34" charset="0"/>
                <a:ea typeface="Calibri" pitchFamily="34" charset="-122"/>
                <a:cs typeface="Calibri" pitchFamily="34" charset="-120"/>
              </a:rPr>
              <a:t>The dilemma: from the current state, a shoulder and a flat local maximum are indistinguishable. Both look like “all my neighbours have exactly my value.” Any policy you adopt is right on one and wrong on the other.</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EMPIRICAL PERFORMANCE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What plain hill climbing actually achieves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66928" y="1463040"/>
            <a:ext cx="11057839" cy="329184"/>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Starting from a randomly generated 8-queens state, steepest-ascent hill climbing:</a:t>
            </a:r>
            <a:endParaRPr lang="en-US" sz="1500" dirty="0"/>
          </a:p>
        </p:txBody>
      </p:sp>
      <p:sp>
        <p:nvSpPr>
          <p:cNvPr id="7" name="Shape 5"/>
          <p:cNvSpPr/>
          <p:nvPr/>
        </p:nvSpPr>
        <p:spPr>
          <a:xfrm>
            <a:off x="566928" y="1938528"/>
            <a:ext cx="26060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566928" y="2103120"/>
            <a:ext cx="2606040" cy="786384"/>
          </a:xfrm>
          <a:prstGeom prst="rect">
            <a:avLst/>
          </a:prstGeom>
          <a:noFill/>
          <a:ln/>
        </p:spPr>
        <p:txBody>
          <a:bodyPr wrap="square" lIns="0" tIns="0" rIns="0" bIns="0" rtlCol="0" anchor="ctr"/>
          <a:lstStyle/>
          <a:p>
            <a:pPr marL="0" indent="0" algn="ctr">
              <a:buNone/>
            </a:pPr>
            <a:r>
              <a:rPr lang="en-US" sz="5000" b="1" dirty="0">
                <a:solidFill>
                  <a:srgbClr val="B5563A"/>
                </a:solidFill>
                <a:latin typeface="Cambria" pitchFamily="34" charset="0"/>
                <a:ea typeface="Cambria" pitchFamily="34" charset="-122"/>
                <a:cs typeface="Cambria" pitchFamily="34" charset="-120"/>
              </a:rPr>
              <a:t>14%</a:t>
            </a:r>
            <a:endParaRPr lang="en-US" sz="5000" dirty="0"/>
          </a:p>
        </p:txBody>
      </p:sp>
      <p:sp>
        <p:nvSpPr>
          <p:cNvPr id="9" name="Text 7"/>
          <p:cNvSpPr/>
          <p:nvPr/>
        </p:nvSpPr>
        <p:spPr>
          <a:xfrm>
            <a:off x="566928"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of problem instances solved</a:t>
            </a:r>
            <a:endParaRPr lang="en-US" sz="1250" dirty="0"/>
          </a:p>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(it gets stuck 86% of the time)</a:t>
            </a:r>
            <a:endParaRPr lang="en-US" sz="1250" dirty="0"/>
          </a:p>
        </p:txBody>
      </p:sp>
      <p:sp>
        <p:nvSpPr>
          <p:cNvPr id="10" name="Shape 8"/>
          <p:cNvSpPr/>
          <p:nvPr/>
        </p:nvSpPr>
        <p:spPr>
          <a:xfrm>
            <a:off x="3392424" y="1938528"/>
            <a:ext cx="26060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3392424" y="2103120"/>
            <a:ext cx="2606040" cy="786384"/>
          </a:xfrm>
          <a:prstGeom prst="rect">
            <a:avLst/>
          </a:prstGeom>
          <a:noFill/>
          <a:ln/>
        </p:spPr>
        <p:txBody>
          <a:bodyPr wrap="square" lIns="0" tIns="0" rIns="0" bIns="0" rtlCol="0" anchor="ctr"/>
          <a:lstStyle/>
          <a:p>
            <a:pPr marL="0" indent="0" algn="ctr">
              <a:buNone/>
            </a:pPr>
            <a:r>
              <a:rPr lang="en-US" sz="5000" b="1" dirty="0">
                <a:solidFill>
                  <a:srgbClr val="47603F"/>
                </a:solidFill>
                <a:latin typeface="Cambria" pitchFamily="34" charset="0"/>
                <a:ea typeface="Cambria" pitchFamily="34" charset="-122"/>
                <a:cs typeface="Cambria" pitchFamily="34" charset="-120"/>
              </a:rPr>
              <a:t>4</a:t>
            </a:r>
            <a:endParaRPr lang="en-US" sz="5000" dirty="0"/>
          </a:p>
        </p:txBody>
      </p:sp>
      <p:sp>
        <p:nvSpPr>
          <p:cNvPr id="12" name="Text 10"/>
          <p:cNvSpPr/>
          <p:nvPr/>
        </p:nvSpPr>
        <p:spPr>
          <a:xfrm>
            <a:off x="3392424"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steps on average</a:t>
            </a:r>
            <a:endParaRPr lang="en-US" sz="1250" dirty="0"/>
          </a:p>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when it succeeds</a:t>
            </a:r>
            <a:endParaRPr lang="en-US" sz="1250" dirty="0"/>
          </a:p>
        </p:txBody>
      </p:sp>
      <p:sp>
        <p:nvSpPr>
          <p:cNvPr id="13" name="Shape 11"/>
          <p:cNvSpPr/>
          <p:nvPr/>
        </p:nvSpPr>
        <p:spPr>
          <a:xfrm>
            <a:off x="6217920" y="1938528"/>
            <a:ext cx="26060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6217920" y="2103120"/>
            <a:ext cx="2606040" cy="786384"/>
          </a:xfrm>
          <a:prstGeom prst="rect">
            <a:avLst/>
          </a:prstGeom>
          <a:noFill/>
          <a:ln/>
        </p:spPr>
        <p:txBody>
          <a:bodyPr wrap="square" lIns="0" tIns="0" rIns="0" bIns="0" rtlCol="0" anchor="ctr"/>
          <a:lstStyle/>
          <a:p>
            <a:pPr marL="0" indent="0" algn="ctr">
              <a:buNone/>
            </a:pPr>
            <a:r>
              <a:rPr lang="en-US" sz="5000" b="1" dirty="0">
                <a:solidFill>
                  <a:srgbClr val="5F757F"/>
                </a:solidFill>
                <a:latin typeface="Cambria" pitchFamily="34" charset="0"/>
                <a:ea typeface="Cambria" pitchFamily="34" charset="-122"/>
                <a:cs typeface="Cambria" pitchFamily="34" charset="-120"/>
              </a:rPr>
              <a:t>3</a:t>
            </a:r>
            <a:endParaRPr lang="en-US" sz="5000" dirty="0"/>
          </a:p>
        </p:txBody>
      </p:sp>
      <p:sp>
        <p:nvSpPr>
          <p:cNvPr id="15" name="Text 13"/>
          <p:cNvSpPr/>
          <p:nvPr/>
        </p:nvSpPr>
        <p:spPr>
          <a:xfrm>
            <a:off x="6217920"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steps on average</a:t>
            </a:r>
            <a:endParaRPr lang="en-US" sz="1250" dirty="0"/>
          </a:p>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when it gets stuck</a:t>
            </a:r>
            <a:endParaRPr lang="en-US" sz="1250" dirty="0"/>
          </a:p>
        </p:txBody>
      </p:sp>
      <p:sp>
        <p:nvSpPr>
          <p:cNvPr id="16" name="Shape 14"/>
          <p:cNvSpPr/>
          <p:nvPr/>
        </p:nvSpPr>
        <p:spPr>
          <a:xfrm>
            <a:off x="9043416" y="1938528"/>
            <a:ext cx="2606040" cy="1874520"/>
          </a:xfrm>
          <a:prstGeom prst="roundRect">
            <a:avLst>
              <a:gd name="adj" fmla="val 439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7" name="Text 15"/>
          <p:cNvSpPr/>
          <p:nvPr/>
        </p:nvSpPr>
        <p:spPr>
          <a:xfrm>
            <a:off x="9043416" y="2103120"/>
            <a:ext cx="2606040" cy="786384"/>
          </a:xfrm>
          <a:prstGeom prst="rect">
            <a:avLst/>
          </a:prstGeom>
          <a:noFill/>
          <a:ln/>
        </p:spPr>
        <p:txBody>
          <a:bodyPr wrap="square" lIns="0" tIns="0" rIns="0" bIns="0" rtlCol="0" anchor="ctr"/>
          <a:lstStyle/>
          <a:p>
            <a:pPr marL="0" indent="0" algn="ctr">
              <a:buNone/>
            </a:pPr>
            <a:r>
              <a:rPr lang="en-US" sz="3800" b="1" dirty="0">
                <a:solidFill>
                  <a:srgbClr val="D08B6F"/>
                </a:solidFill>
                <a:latin typeface="Cambria" pitchFamily="34" charset="0"/>
                <a:ea typeface="Cambria" pitchFamily="34" charset="-122"/>
                <a:cs typeface="Cambria" pitchFamily="34" charset="-120"/>
              </a:rPr>
              <a:t>8⁸ ≈ 17M</a:t>
            </a:r>
            <a:endParaRPr lang="en-US" sz="3800" dirty="0"/>
          </a:p>
        </p:txBody>
      </p:sp>
      <p:sp>
        <p:nvSpPr>
          <p:cNvPr id="18" name="Text 16"/>
          <p:cNvSpPr/>
          <p:nvPr/>
        </p:nvSpPr>
        <p:spPr>
          <a:xfrm>
            <a:off x="9043416"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E4D9C3"/>
                </a:solidFill>
                <a:latin typeface="Calibri" pitchFamily="34" charset="0"/>
                <a:ea typeface="Calibri" pitchFamily="34" charset="-122"/>
                <a:cs typeface="Calibri" pitchFamily="34" charset="-120"/>
              </a:rPr>
              <a:t>states in the space,</a:t>
            </a:r>
            <a:endParaRPr lang="en-US" sz="1250" dirty="0"/>
          </a:p>
          <a:p>
            <a:pPr marL="0" indent="0" algn="ctr">
              <a:lnSpc>
                <a:spcPts val="1600"/>
              </a:lnSpc>
              <a:buNone/>
            </a:pPr>
            <a:r>
              <a:rPr lang="en-US" sz="1250" dirty="0">
                <a:solidFill>
                  <a:srgbClr val="E4D9C3"/>
                </a:solidFill>
                <a:latin typeface="Calibri" pitchFamily="34" charset="0"/>
                <a:ea typeface="Calibri" pitchFamily="34" charset="-122"/>
                <a:cs typeface="Calibri" pitchFamily="34" charset="-120"/>
              </a:rPr>
              <a:t>and we store exactly one</a:t>
            </a:r>
            <a:endParaRPr lang="en-US" sz="1250" dirty="0"/>
          </a:p>
        </p:txBody>
      </p:sp>
      <p:sp>
        <p:nvSpPr>
          <p:cNvPr id="19" name="Text 17"/>
          <p:cNvSpPr/>
          <p:nvPr/>
        </p:nvSpPr>
        <p:spPr>
          <a:xfrm>
            <a:off x="566928" y="4069080"/>
            <a:ext cx="11057839" cy="17373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Read those numbers together, not separately. A 14% success rate sounds like a failure — until you notice the algorithm reaches its answer, right or wrong, in three or four moves through a seventeen-million-state space.</a:t>
            </a:r>
            <a:endParaRPr lang="en-US" sz="1500" dirty="0"/>
          </a:p>
          <a:p>
            <a:pPr marL="203200" indent="-203200">
              <a:lnSpc>
                <a:spcPts val="2000"/>
              </a:lnSpc>
              <a:spcAft>
                <a:spcPts val="1200"/>
              </a:spcAft>
              <a:buSzPct val="100000"/>
              <a:buChar char="•"/>
            </a:pPr>
            <a:r>
              <a:rPr lang="en-US" sz="1500" dirty="0">
                <a:solidFill>
                  <a:srgbClr val="B5563A"/>
                </a:solidFill>
                <a:latin typeface="Calibri" pitchFamily="34" charset="0"/>
                <a:ea typeface="Calibri" pitchFamily="34" charset="-122"/>
                <a:cs typeface="Calibri" pitchFamily="34" charset="-120"/>
              </a:rPr>
              <a:t>Cheap and usually wrong beats expensive and always right, provided you can afford to try again. That single observation motivates the next four slides.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FIX 1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Allow sideways moves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566928" y="1517904"/>
            <a:ext cx="11057839" cy="18288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The idea: when we reach a plateau, keep going. Allow a move to a neighbour of equal value, in the hope that the plateau is really a shoulder.</a:t>
            </a:r>
            <a:endParaRPr lang="en-US" sz="1550" dirty="0"/>
          </a:p>
          <a:p>
            <a:pPr marL="203200" indent="-203200">
              <a:lnSpc>
                <a:spcPts val="2000"/>
              </a:lnSpc>
              <a:spcAft>
                <a:spcPts val="1200"/>
              </a:spcAft>
              <a:buSzPct val="100000"/>
              <a:buChar char="•"/>
            </a:pPr>
            <a:r>
              <a:rPr lang="en-US" sz="1550" dirty="0">
                <a:solidFill>
                  <a:srgbClr val="B5563A"/>
                </a:solidFill>
                <a:latin typeface="Calibri" pitchFamily="34" charset="0"/>
                <a:ea typeface="Calibri" pitchFamily="34" charset="-122"/>
                <a:cs typeface="Calibri" pitchFamily="34" charset="-120"/>
              </a:rPr>
              <a:t>The danger: if we are actually on a flat local maximum, this wanders on the plateau forever.</a:t>
            </a:r>
            <a:endParaRPr lang="en-US" sz="1550" dirty="0"/>
          </a:p>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The compromise: limit the number of consecutive sideways moves — stopping after, say, 100.</a:t>
            </a:r>
            <a:endParaRPr lang="en-US" sz="1550" dirty="0"/>
          </a:p>
        </p:txBody>
      </p:sp>
      <p:sp>
        <p:nvSpPr>
          <p:cNvPr id="7" name="Text 5"/>
          <p:cNvSpPr/>
          <p:nvPr/>
        </p:nvSpPr>
        <p:spPr>
          <a:xfrm>
            <a:off x="6236208" y="3401568"/>
            <a:ext cx="164592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Solved</a:t>
            </a:r>
            <a:endParaRPr lang="en-US" sz="1250" dirty="0"/>
          </a:p>
        </p:txBody>
      </p:sp>
      <p:sp>
        <p:nvSpPr>
          <p:cNvPr id="8" name="Text 6"/>
          <p:cNvSpPr/>
          <p:nvPr/>
        </p:nvSpPr>
        <p:spPr>
          <a:xfrm>
            <a:off x="8019288" y="3401568"/>
            <a:ext cx="182880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Steps if solved</a:t>
            </a:r>
            <a:endParaRPr lang="en-US" sz="1250" dirty="0"/>
          </a:p>
        </p:txBody>
      </p:sp>
      <p:sp>
        <p:nvSpPr>
          <p:cNvPr id="9" name="Text 7"/>
          <p:cNvSpPr/>
          <p:nvPr/>
        </p:nvSpPr>
        <p:spPr>
          <a:xfrm>
            <a:off x="9985248" y="3401568"/>
            <a:ext cx="182880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Steps if failed</a:t>
            </a:r>
            <a:endParaRPr lang="en-US" sz="1250" dirty="0"/>
          </a:p>
        </p:txBody>
      </p:sp>
      <p:sp>
        <p:nvSpPr>
          <p:cNvPr id="10" name="Shape 8"/>
          <p:cNvSpPr/>
          <p:nvPr/>
        </p:nvSpPr>
        <p:spPr>
          <a:xfrm>
            <a:off x="566928" y="3785616"/>
            <a:ext cx="11057839" cy="694944"/>
          </a:xfrm>
          <a:prstGeom prst="roundRect">
            <a:avLst>
              <a:gd name="adj" fmla="val 11842"/>
            </a:avLst>
          </a:prstGeom>
          <a:solidFill>
            <a:srgbClr val="F5F1E8"/>
          </a:solidFill>
          <a:ln w="12700">
            <a:solidFill>
              <a:srgbClr val="E2DED4"/>
            </a:solidFill>
            <a:prstDash val="solid"/>
          </a:ln>
        </p:spPr>
        <p:txBody>
          <a:bodyPr/>
          <a:lstStyle/>
          <a:p>
            <a:endParaRPr lang="en-US"/>
          </a:p>
        </p:txBody>
      </p:sp>
      <p:sp>
        <p:nvSpPr>
          <p:cNvPr id="11" name="Text 9"/>
          <p:cNvSpPr/>
          <p:nvPr/>
        </p:nvSpPr>
        <p:spPr>
          <a:xfrm>
            <a:off x="804672" y="3785616"/>
            <a:ext cx="5212080" cy="694944"/>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Steepest ascent, no sideways moves</a:t>
            </a:r>
            <a:endParaRPr lang="en-US" sz="1450" dirty="0"/>
          </a:p>
        </p:txBody>
      </p:sp>
      <p:sp>
        <p:nvSpPr>
          <p:cNvPr id="12" name="Text 10"/>
          <p:cNvSpPr/>
          <p:nvPr/>
        </p:nvSpPr>
        <p:spPr>
          <a:xfrm>
            <a:off x="6236208" y="3785616"/>
            <a:ext cx="1645920" cy="69494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14%</a:t>
            </a:r>
            <a:endParaRPr lang="en-US" sz="1700" dirty="0"/>
          </a:p>
        </p:txBody>
      </p:sp>
      <p:sp>
        <p:nvSpPr>
          <p:cNvPr id="13" name="Text 11"/>
          <p:cNvSpPr/>
          <p:nvPr/>
        </p:nvSpPr>
        <p:spPr>
          <a:xfrm>
            <a:off x="8019288" y="3785616"/>
            <a:ext cx="1828800" cy="694944"/>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4</a:t>
            </a:r>
            <a:endParaRPr lang="en-US" sz="1500" dirty="0"/>
          </a:p>
        </p:txBody>
      </p:sp>
      <p:sp>
        <p:nvSpPr>
          <p:cNvPr id="14" name="Text 12"/>
          <p:cNvSpPr/>
          <p:nvPr/>
        </p:nvSpPr>
        <p:spPr>
          <a:xfrm>
            <a:off x="9985248" y="3785616"/>
            <a:ext cx="1828800" cy="694944"/>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3</a:t>
            </a:r>
            <a:endParaRPr lang="en-US" sz="1500" dirty="0"/>
          </a:p>
        </p:txBody>
      </p:sp>
      <p:sp>
        <p:nvSpPr>
          <p:cNvPr id="15" name="Shape 13"/>
          <p:cNvSpPr/>
          <p:nvPr/>
        </p:nvSpPr>
        <p:spPr>
          <a:xfrm>
            <a:off x="566928" y="4572000"/>
            <a:ext cx="11057839" cy="694944"/>
          </a:xfrm>
          <a:prstGeom prst="roundRect">
            <a:avLst>
              <a:gd name="adj" fmla="val 11842"/>
            </a:avLst>
          </a:prstGeom>
          <a:solidFill>
            <a:srgbClr val="1E2A2F"/>
          </a:solidFill>
          <a:ln w="12700">
            <a:solidFill>
              <a:srgbClr val="1E2A2F"/>
            </a:solidFill>
            <a:prstDash val="solid"/>
          </a:ln>
        </p:spPr>
        <p:txBody>
          <a:bodyPr/>
          <a:lstStyle/>
          <a:p>
            <a:endParaRPr lang="en-US"/>
          </a:p>
        </p:txBody>
      </p:sp>
      <p:sp>
        <p:nvSpPr>
          <p:cNvPr id="16" name="Text 14"/>
          <p:cNvSpPr/>
          <p:nvPr/>
        </p:nvSpPr>
        <p:spPr>
          <a:xfrm>
            <a:off x="804672" y="4572000"/>
            <a:ext cx="5212080" cy="69494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Sideways moves allowed (limit 100)</a:t>
            </a:r>
            <a:endParaRPr lang="en-US" sz="1450" dirty="0"/>
          </a:p>
        </p:txBody>
      </p:sp>
      <p:sp>
        <p:nvSpPr>
          <p:cNvPr id="17" name="Text 15"/>
          <p:cNvSpPr/>
          <p:nvPr/>
        </p:nvSpPr>
        <p:spPr>
          <a:xfrm>
            <a:off x="6236208" y="4572000"/>
            <a:ext cx="1645920" cy="694944"/>
          </a:xfrm>
          <a:prstGeom prst="rect">
            <a:avLst/>
          </a:prstGeom>
          <a:noFill/>
          <a:ln/>
        </p:spPr>
        <p:txBody>
          <a:bodyPr wrap="square" lIns="0" tIns="0" rIns="0" bIns="0" rtlCol="0" anchor="ctr"/>
          <a:lstStyle/>
          <a:p>
            <a:pPr marL="0" indent="0">
              <a:buNone/>
            </a:pPr>
            <a:r>
              <a:rPr lang="en-US" sz="1700" b="1" dirty="0">
                <a:solidFill>
                  <a:srgbClr val="D08B6F"/>
                </a:solidFill>
                <a:latin typeface="Cambria" pitchFamily="34" charset="0"/>
                <a:ea typeface="Cambria" pitchFamily="34" charset="-122"/>
                <a:cs typeface="Cambria" pitchFamily="34" charset="-120"/>
              </a:rPr>
              <a:t>94%</a:t>
            </a:r>
            <a:endParaRPr lang="en-US" sz="1700" dirty="0"/>
          </a:p>
        </p:txBody>
      </p:sp>
      <p:sp>
        <p:nvSpPr>
          <p:cNvPr id="18" name="Text 16"/>
          <p:cNvSpPr/>
          <p:nvPr/>
        </p:nvSpPr>
        <p:spPr>
          <a:xfrm>
            <a:off x="8019288" y="4572000"/>
            <a:ext cx="1828800" cy="694944"/>
          </a:xfrm>
          <a:prstGeom prst="rect">
            <a:avLst/>
          </a:prstGeom>
          <a:noFill/>
          <a:ln/>
        </p:spPr>
        <p:txBody>
          <a:bodyPr wrap="square" lIns="0" tIns="0" rIns="0" bIns="0" rtlCol="0" anchor="ctr"/>
          <a:lstStyle/>
          <a:p>
            <a:pPr marL="0" indent="0">
              <a:buNone/>
            </a:pPr>
            <a:r>
              <a:rPr lang="en-US" sz="1500" dirty="0">
                <a:solidFill>
                  <a:srgbClr val="E4D9C3"/>
                </a:solidFill>
                <a:latin typeface="Calibri" pitchFamily="34" charset="0"/>
                <a:ea typeface="Calibri" pitchFamily="34" charset="-122"/>
                <a:cs typeface="Calibri" pitchFamily="34" charset="-120"/>
              </a:rPr>
              <a:t>≈ 21</a:t>
            </a:r>
            <a:endParaRPr lang="en-US" sz="1500" dirty="0"/>
          </a:p>
        </p:txBody>
      </p:sp>
      <p:sp>
        <p:nvSpPr>
          <p:cNvPr id="19" name="Text 17"/>
          <p:cNvSpPr/>
          <p:nvPr/>
        </p:nvSpPr>
        <p:spPr>
          <a:xfrm>
            <a:off x="9985248" y="4572000"/>
            <a:ext cx="1828800" cy="694944"/>
          </a:xfrm>
          <a:prstGeom prst="rect">
            <a:avLst/>
          </a:prstGeom>
          <a:noFill/>
          <a:ln/>
        </p:spPr>
        <p:txBody>
          <a:bodyPr wrap="square" lIns="0" tIns="0" rIns="0" bIns="0" rtlCol="0" anchor="ctr"/>
          <a:lstStyle/>
          <a:p>
            <a:pPr marL="0" indent="0">
              <a:buNone/>
            </a:pPr>
            <a:r>
              <a:rPr lang="en-US" sz="1500" dirty="0">
                <a:solidFill>
                  <a:srgbClr val="E4D9C3"/>
                </a:solidFill>
                <a:latin typeface="Calibri" pitchFamily="34" charset="0"/>
                <a:ea typeface="Calibri" pitchFamily="34" charset="-122"/>
                <a:cs typeface="Calibri" pitchFamily="34" charset="-120"/>
              </a:rPr>
              <a:t>≈ 64</a:t>
            </a:r>
            <a:endParaRPr lang="en-US" sz="1500" dirty="0"/>
          </a:p>
        </p:txBody>
      </p:sp>
      <p:sp>
        <p:nvSpPr>
          <p:cNvPr id="20" name="Text 18"/>
          <p:cNvSpPr/>
          <p:nvPr/>
        </p:nvSpPr>
        <p:spPr>
          <a:xfrm>
            <a:off x="566928" y="5486400"/>
            <a:ext cx="11057839" cy="658368"/>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Success comes at a cost. Solving seven times as many instances costs roughly five times as many steps per success and twenty times as many per failure. That trade is almost always worth taking — but notice that it is a trade.</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FIX 2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Stochastic and first-choice hill climbing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66928" y="1554480"/>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Stochastic hill climbing</a:t>
            </a:r>
            <a:endParaRPr lang="en-US" sz="1700" dirty="0"/>
          </a:p>
        </p:txBody>
      </p:sp>
      <p:sp>
        <p:nvSpPr>
          <p:cNvPr id="8" name="Text 6"/>
          <p:cNvSpPr/>
          <p:nvPr/>
        </p:nvSpPr>
        <p:spPr>
          <a:xfrm>
            <a:off x="822960" y="2121408"/>
            <a:ext cx="4837176" cy="1572768"/>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Choose at random from among the uphill moves. The probability of selection can vary with the steepness of the move.</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Usually converges more slowly than steepest ascent — but in some landscapes it finds better solutions, because it does not always commit to the same greedy choice.</a:t>
            </a:r>
            <a:endParaRPr lang="en-US" sz="1400" dirty="0"/>
          </a:p>
        </p:txBody>
      </p:sp>
      <p:sp>
        <p:nvSpPr>
          <p:cNvPr id="9" name="Shape 7"/>
          <p:cNvSpPr/>
          <p:nvPr/>
        </p:nvSpPr>
        <p:spPr>
          <a:xfrm>
            <a:off x="6300216" y="1554480"/>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First-choice hill climbing</a:t>
            </a:r>
            <a:endParaRPr lang="en-US" sz="1700" dirty="0"/>
          </a:p>
        </p:txBody>
      </p:sp>
      <p:sp>
        <p:nvSpPr>
          <p:cNvPr id="11" name="Text 9"/>
          <p:cNvSpPr/>
          <p:nvPr/>
        </p:nvSpPr>
        <p:spPr>
          <a:xfrm>
            <a:off x="6556248" y="2121408"/>
            <a:ext cx="4837176" cy="1572768"/>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Generate successors at random, one at a time, until one is better than the current state. Take it immediately.</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 good strategy when a state has many successors — thousands, or an unbounded number. You never enumerate the neighbourhood at all.</a:t>
            </a:r>
            <a:endParaRPr lang="en-US" sz="1400" dirty="0"/>
          </a:p>
        </p:txBody>
      </p:sp>
      <p:sp>
        <p:nvSpPr>
          <p:cNvPr id="12" name="Shape 10"/>
          <p:cNvSpPr/>
          <p:nvPr/>
        </p:nvSpPr>
        <p:spPr>
          <a:xfrm>
            <a:off x="566928" y="4069080"/>
            <a:ext cx="11057839" cy="1737360"/>
          </a:xfrm>
          <a:prstGeom prst="roundRect">
            <a:avLst>
              <a:gd name="adj" fmla="val 4737"/>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59536" y="4224528"/>
            <a:ext cx="10472623" cy="329184"/>
          </a:xfrm>
          <a:prstGeom prst="rect">
            <a:avLst/>
          </a:prstGeom>
          <a:noFill/>
          <a:ln/>
        </p:spPr>
        <p:txBody>
          <a:bodyPr wrap="square" lIns="0" tIns="0" rIns="0" bIns="0" rtlCol="0" anchor="ctr"/>
          <a:lstStyle/>
          <a:p>
            <a:pPr marL="0" indent="0">
              <a:buNone/>
            </a:pPr>
            <a:r>
              <a:rPr lang="en-US" sz="1550" b="1" dirty="0">
                <a:solidFill>
                  <a:srgbClr val="D08B6F"/>
                </a:solidFill>
                <a:latin typeface="Cambria" pitchFamily="34" charset="0"/>
                <a:ea typeface="Cambria" pitchFamily="34" charset="-122"/>
                <a:cs typeface="Cambria" pitchFamily="34" charset="-120"/>
              </a:rPr>
              <a:t>Remember first-choice hill climbing</a:t>
            </a:r>
            <a:endParaRPr lang="en-US" sz="1550" dirty="0"/>
          </a:p>
        </p:txBody>
      </p:sp>
      <p:sp>
        <p:nvSpPr>
          <p:cNvPr id="14" name="Text 12"/>
          <p:cNvSpPr/>
          <p:nvPr/>
        </p:nvSpPr>
        <p:spPr>
          <a:xfrm>
            <a:off x="859536" y="4608576"/>
            <a:ext cx="10472623" cy="109728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It is one of only two algorithms in this entire chapter that survives the move to continuous state spaces in Section 4.2. Steepest ascent requires enumerating the neighbours — and in a continuous space there are infinitely many of them. First-choice hill climbing never needs the full list, so an infinite branching factor does not stop it.</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FIX 3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Random-restart hill climbing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66928" y="1517904"/>
            <a:ext cx="11057839" cy="868680"/>
          </a:xfrm>
          <a:prstGeom prst="roundRect">
            <a:avLst>
              <a:gd name="adj" fmla="val 9474"/>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59536" y="1517904"/>
            <a:ext cx="10472623" cy="86868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“If at first you don’t succeed, try, try again.”  Conduct a series of hill-climbing searches from randomly generated initial states, until a goal is found.</a:t>
            </a:r>
            <a:endParaRPr lang="en-US" sz="1600" dirty="0"/>
          </a:p>
        </p:txBody>
      </p:sp>
      <p:pic>
        <p:nvPicPr>
          <p:cNvPr id="8" name="Image 0" descr="img/restarts.png"/>
          <p:cNvPicPr>
            <a:picLocks noChangeAspect="1"/>
          </p:cNvPicPr>
          <p:nvPr/>
        </p:nvPicPr>
        <p:blipFill>
          <a:blip r:embed="rId3"/>
          <a:stretch>
            <a:fillRect/>
          </a:stretch>
        </p:blipFill>
        <p:spPr>
          <a:xfrm>
            <a:off x="6309360" y="2651760"/>
            <a:ext cx="4892040" cy="2670048"/>
          </a:xfrm>
          <a:prstGeom prst="rect">
            <a:avLst/>
          </a:prstGeom>
        </p:spPr>
      </p:pic>
      <p:sp>
        <p:nvSpPr>
          <p:cNvPr id="9" name="Text 6"/>
          <p:cNvSpPr/>
          <p:nvPr/>
        </p:nvSpPr>
        <p:spPr>
          <a:xfrm>
            <a:off x="566928" y="2633472"/>
            <a:ext cx="5669280" cy="3108960"/>
          </a:xfrm>
          <a:prstGeom prst="rect">
            <a:avLst/>
          </a:prstGeom>
          <a:noFill/>
          <a:ln/>
        </p:spPr>
        <p:txBody>
          <a:bodyPr wrap="square" lIns="0" tIns="0" rIns="0" bIns="0" rtlCol="0" anchor="t"/>
          <a:lstStyle/>
          <a:p>
            <a:pPr marL="203200" indent="-203200">
              <a:lnSpc>
                <a:spcPts val="1900"/>
              </a:lnSpc>
              <a:spcAft>
                <a:spcPts val="1200"/>
              </a:spcAft>
              <a:buSzPct val="100000"/>
              <a:buChar char="•"/>
            </a:pPr>
            <a:r>
              <a:rPr lang="en-US" sz="1450" b="1" dirty="0">
                <a:solidFill>
                  <a:srgbClr val="47603F"/>
                </a:solidFill>
                <a:latin typeface="Calibri" pitchFamily="34" charset="0"/>
                <a:ea typeface="Calibri" pitchFamily="34" charset="-122"/>
                <a:cs typeface="Calibri" pitchFamily="34" charset="-120"/>
              </a:rPr>
              <a:t>It is complete with probability 1.</a:t>
            </a:r>
            <a:endParaRPr lang="en-US" sz="1450" dirty="0"/>
          </a:p>
          <a:p>
            <a:pPr marL="406400" lvl="1" indent="-203200">
              <a:lnSpc>
                <a:spcPts val="1600"/>
              </a:lnSpc>
              <a:spcAft>
                <a:spcPts val="500"/>
              </a:spcAft>
              <a:buSzPct val="100000"/>
              <a:buChar char="•"/>
            </a:pPr>
            <a:r>
              <a:rPr lang="en-US" sz="1250" dirty="0">
                <a:solidFill>
                  <a:srgbClr val="33454E"/>
                </a:solidFill>
                <a:latin typeface="Calibri" pitchFamily="34" charset="0"/>
                <a:ea typeface="Calibri" pitchFamily="34" charset="-122"/>
                <a:cs typeface="Calibri" pitchFamily="34" charset="-120"/>
              </a:rPr>
              <a:t>Not complete in the Chapter 3 sense. The guarantee is that as the number of restarts grows without bound, the probability of having found a goal approaches 1 — because eventually a goal state gets generated as an initial state.</a:t>
            </a:r>
            <a:endParaRPr lang="en-US" sz="1450" dirty="0"/>
          </a:p>
          <a:p>
            <a:pPr marL="203200" indent="-203200">
              <a:lnSpc>
                <a:spcPts val="1900"/>
              </a:lnSpc>
              <a:spcAft>
                <a:spcPts val="1400"/>
              </a:spcAft>
              <a:buSzPct val="100000"/>
              <a:buChar char="•"/>
            </a:pPr>
            <a:r>
              <a:rPr lang="en-US" sz="1450" b="1" dirty="0">
                <a:solidFill>
                  <a:srgbClr val="1B2226"/>
                </a:solidFill>
                <a:latin typeface="Calibri" pitchFamily="34" charset="0"/>
                <a:ea typeface="Calibri" pitchFamily="34" charset="-122"/>
                <a:cs typeface="Calibri" pitchFamily="34" charset="-120"/>
              </a:rPr>
              <a:t>If each hill-climbing search has probability p of success, the expected number of restarts required is 1/p.</a:t>
            </a:r>
            <a:endParaRPr lang="en-US" sz="1450" dirty="0"/>
          </a:p>
          <a:p>
            <a:pPr marL="406400" lvl="1" indent="-203200">
              <a:lnSpc>
                <a:spcPts val="1600"/>
              </a:lnSpc>
              <a:spcAft>
                <a:spcPts val="500"/>
              </a:spcAft>
              <a:buSzPct val="100000"/>
              <a:buChar char="•"/>
            </a:pPr>
            <a:r>
              <a:rPr lang="en-US" sz="1250" dirty="0">
                <a:solidFill>
                  <a:srgbClr val="33454E"/>
                </a:solidFill>
                <a:latin typeface="Calibri" pitchFamily="34" charset="0"/>
                <a:ea typeface="Calibri" pitchFamily="34" charset="-122"/>
                <a:cs typeface="Calibri" pitchFamily="34" charset="-120"/>
              </a:rPr>
              <a:t>This is the mean of a geometric distribution. It is the one formula from this section you should be able to write down cold.</a:t>
            </a:r>
            <a:endParaRPr lang="en-US" sz="1450" dirty="0"/>
          </a:p>
          <a:p>
            <a:pPr marL="203200" indent="-203200">
              <a:lnSpc>
                <a:spcPts val="1900"/>
              </a:lnSpc>
              <a:spcAft>
                <a:spcPts val="1400"/>
              </a:spcAft>
              <a:buSzPct val="100000"/>
              <a:buChar char="•"/>
            </a:pPr>
            <a:r>
              <a:rPr lang="en-US" sz="1450" b="1" dirty="0">
                <a:solidFill>
                  <a:srgbClr val="1B2226"/>
                </a:solidFill>
                <a:latin typeface="Calibri" pitchFamily="34" charset="0"/>
                <a:ea typeface="Calibri" pitchFamily="34" charset="-122"/>
                <a:cs typeface="Calibri" pitchFamily="34" charset="-120"/>
              </a:rPr>
              <a:t>The curve on the right is P(at least one success in n restarts) = 1 − (1 − p)ⁿ.</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WORKED ARITHMETIC</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Expected cost of random restarts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66928" y="1444752"/>
            <a:ext cx="11057839" cy="475488"/>
          </a:xfrm>
          <a:prstGeom prst="rect">
            <a:avLst/>
          </a:prstGeom>
          <a:noFill/>
          <a:ln/>
        </p:spPr>
        <p:txBody>
          <a:bodyPr wrap="square" lIns="0" tIns="0" rIns="0" bIns="0" rtlCol="0" anchor="ctr"/>
          <a:lstStyle/>
          <a:p>
            <a:pPr marL="0" indent="0">
              <a:buNone/>
            </a:pPr>
            <a:r>
              <a:rPr lang="en-US" sz="1650" b="1" dirty="0">
                <a:solidFill>
                  <a:srgbClr val="1E2A2F"/>
                </a:solidFill>
                <a:latin typeface="Courier New" pitchFamily="34" charset="0"/>
                <a:ea typeface="Courier New" pitchFamily="34" charset="-122"/>
                <a:cs typeface="Courier New" pitchFamily="34" charset="-120"/>
              </a:rPr>
              <a:t>Expected total steps  =  cost of one successful run  +  (1 − p)/p  ×  cost of one failed run</a:t>
            </a:r>
            <a:endParaRPr lang="en-US" sz="1650" dirty="0"/>
          </a:p>
        </p:txBody>
      </p:sp>
      <p:sp>
        <p:nvSpPr>
          <p:cNvPr id="7" name="Text 5"/>
          <p:cNvSpPr/>
          <p:nvPr/>
        </p:nvSpPr>
        <p:spPr>
          <a:xfrm>
            <a:off x="566928" y="1920240"/>
            <a:ext cx="11057839" cy="310896"/>
          </a:xfrm>
          <a:prstGeom prst="rect">
            <a:avLst/>
          </a:prstGeom>
          <a:noFill/>
          <a:ln/>
        </p:spPr>
        <p:txBody>
          <a:bodyPr wrap="square" lIns="0" tIns="0" rIns="0" bIns="0" rtlCol="0" anchor="ctr"/>
          <a:lstStyle/>
          <a:p>
            <a:pPr marL="0" indent="0">
              <a:buNone/>
            </a:pPr>
            <a:r>
              <a:rPr lang="en-US" sz="1350" i="1" dirty="0">
                <a:solidFill>
                  <a:srgbClr val="7A868C"/>
                </a:solidFill>
                <a:latin typeface="Calibri" pitchFamily="34" charset="0"/>
                <a:ea typeface="Calibri" pitchFamily="34" charset="-122"/>
                <a:cs typeface="Calibri" pitchFamily="34" charset="-120"/>
              </a:rPr>
              <a:t>The second term is the expected number of failures before the first success, times what each failure costs you.</a:t>
            </a:r>
            <a:endParaRPr lang="en-US" sz="1350" dirty="0"/>
          </a:p>
        </p:txBody>
      </p:sp>
      <p:sp>
        <p:nvSpPr>
          <p:cNvPr id="8" name="Shape 6"/>
          <p:cNvSpPr/>
          <p:nvPr/>
        </p:nvSpPr>
        <p:spPr>
          <a:xfrm>
            <a:off x="566928" y="2359152"/>
            <a:ext cx="5349240" cy="2880360"/>
          </a:xfrm>
          <a:prstGeom prst="roundRect">
            <a:avLst>
              <a:gd name="adj" fmla="val 285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822960" y="2514600"/>
            <a:ext cx="4837176" cy="347472"/>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No sideways moves:  p ≈ 0.14</a:t>
            </a:r>
            <a:endParaRPr lang="en-US" sz="1600" dirty="0"/>
          </a:p>
        </p:txBody>
      </p:sp>
      <p:sp>
        <p:nvSpPr>
          <p:cNvPr id="10" name="Shape 8"/>
          <p:cNvSpPr/>
          <p:nvPr/>
        </p:nvSpPr>
        <p:spPr>
          <a:xfrm>
            <a:off x="822960" y="2926080"/>
            <a:ext cx="4837176" cy="2048256"/>
          </a:xfrm>
          <a:prstGeom prst="roundRect">
            <a:avLst>
              <a:gd name="adj" fmla="val 3571"/>
            </a:avLst>
          </a:prstGeom>
          <a:solidFill>
            <a:srgbClr val="FFFFFF"/>
          </a:solidFill>
          <a:ln w="12700">
            <a:solidFill>
              <a:srgbClr val="E2DED4"/>
            </a:solidFill>
            <a:prstDash val="solid"/>
          </a:ln>
          <a:effectLst>
            <a:outerShdw blurRad="127000" dist="17780" dir="5400000" algn="bl" rotWithShape="0">
              <a:srgbClr val="8E9A9F">
                <a:alpha val="22000"/>
              </a:srgbClr>
            </a:outerShdw>
          </a:effectLst>
        </p:spPr>
        <p:txBody>
          <a:bodyPr/>
          <a:lstStyle/>
          <a:p>
            <a:endParaRPr lang="en-US"/>
          </a:p>
        </p:txBody>
      </p:sp>
      <p:sp>
        <p:nvSpPr>
          <p:cNvPr id="11" name="Text 9"/>
          <p:cNvSpPr/>
          <p:nvPr/>
        </p:nvSpPr>
        <p:spPr>
          <a:xfrm>
            <a:off x="1078992" y="3127248"/>
            <a:ext cx="4379976" cy="1682496"/>
          </a:xfrm>
          <a:prstGeom prst="rect">
            <a:avLst/>
          </a:prstGeom>
          <a:noFill/>
          <a:ln/>
        </p:spPr>
        <p:txBody>
          <a:bodyPr wrap="square" lIns="0" tIns="0" rIns="0" bIns="0" rtlCol="0" anchor="t"/>
          <a:lstStyle/>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restarts   = 1 / 0.14   ≈ 7</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(6 failures + 1 success)</a:t>
            </a:r>
            <a:endParaRPr lang="en-US" sz="1250" dirty="0"/>
          </a:p>
          <a:p>
            <a:pPr marL="0" indent="0">
              <a:lnSpc>
                <a:spcPts val="1900"/>
              </a:lnSpc>
              <a:buNone/>
            </a:pP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steps      = 4  +  (0.86/0.14) × 3</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4  +  6.14 × 3</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22 steps in all</a:t>
            </a:r>
            <a:endParaRPr lang="en-US" sz="1250" dirty="0"/>
          </a:p>
        </p:txBody>
      </p:sp>
      <p:sp>
        <p:nvSpPr>
          <p:cNvPr id="12" name="Shape 10"/>
          <p:cNvSpPr/>
          <p:nvPr/>
        </p:nvSpPr>
        <p:spPr>
          <a:xfrm>
            <a:off x="6300216" y="2359152"/>
            <a:ext cx="5349240" cy="2880360"/>
          </a:xfrm>
          <a:prstGeom prst="roundRect">
            <a:avLst>
              <a:gd name="adj" fmla="val 285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6556248" y="2514600"/>
            <a:ext cx="4837176" cy="347472"/>
          </a:xfrm>
          <a:prstGeom prst="rect">
            <a:avLst/>
          </a:prstGeom>
          <a:noFill/>
          <a:ln/>
        </p:spPr>
        <p:txBody>
          <a:bodyPr wrap="square" lIns="0" tIns="0" rIns="0" bIns="0" rtlCol="0" anchor="ctr"/>
          <a:lstStyle/>
          <a:p>
            <a:pPr marL="0" indent="0">
              <a:buNone/>
            </a:pPr>
            <a:r>
              <a:rPr lang="en-US" sz="1600" b="1" dirty="0">
                <a:solidFill>
                  <a:srgbClr val="47603F"/>
                </a:solidFill>
                <a:latin typeface="Cambria" pitchFamily="34" charset="0"/>
                <a:ea typeface="Cambria" pitchFamily="34" charset="-122"/>
                <a:cs typeface="Cambria" pitchFamily="34" charset="-120"/>
              </a:rPr>
              <a:t>Sideways moves allowed:  p ≈ 0.94</a:t>
            </a:r>
            <a:endParaRPr lang="en-US" sz="1600" dirty="0"/>
          </a:p>
        </p:txBody>
      </p:sp>
      <p:sp>
        <p:nvSpPr>
          <p:cNvPr id="14" name="Shape 12"/>
          <p:cNvSpPr/>
          <p:nvPr/>
        </p:nvSpPr>
        <p:spPr>
          <a:xfrm>
            <a:off x="6556248" y="2926080"/>
            <a:ext cx="4837176" cy="2048256"/>
          </a:xfrm>
          <a:prstGeom prst="roundRect">
            <a:avLst>
              <a:gd name="adj" fmla="val 3571"/>
            </a:avLst>
          </a:prstGeom>
          <a:solidFill>
            <a:srgbClr val="FFFFFF"/>
          </a:solidFill>
          <a:ln w="12700">
            <a:solidFill>
              <a:srgbClr val="E2DED4"/>
            </a:solidFill>
            <a:prstDash val="solid"/>
          </a:ln>
          <a:effectLst>
            <a:outerShdw blurRad="127000" dist="17780" dir="5400000" algn="bl" rotWithShape="0">
              <a:srgbClr val="8E9A9F">
                <a:alpha val="22000"/>
              </a:srgbClr>
            </a:outerShdw>
          </a:effectLst>
        </p:spPr>
        <p:txBody>
          <a:bodyPr/>
          <a:lstStyle/>
          <a:p>
            <a:endParaRPr lang="en-US"/>
          </a:p>
        </p:txBody>
      </p:sp>
      <p:sp>
        <p:nvSpPr>
          <p:cNvPr id="15" name="Text 13"/>
          <p:cNvSpPr/>
          <p:nvPr/>
        </p:nvSpPr>
        <p:spPr>
          <a:xfrm>
            <a:off x="6812280" y="3127248"/>
            <a:ext cx="4379976" cy="1682496"/>
          </a:xfrm>
          <a:prstGeom prst="rect">
            <a:avLst/>
          </a:prstGeom>
          <a:noFill/>
          <a:ln/>
        </p:spPr>
        <p:txBody>
          <a:bodyPr wrap="square" lIns="0" tIns="0" rIns="0" bIns="0" rtlCol="0" anchor="t"/>
          <a:lstStyle/>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restarts   = 1 / 0.94   ≈ 1.06</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(almost never restarts)</a:t>
            </a:r>
            <a:endParaRPr lang="en-US" sz="1250" dirty="0"/>
          </a:p>
          <a:p>
            <a:pPr marL="0" indent="0">
              <a:lnSpc>
                <a:spcPts val="1900"/>
              </a:lnSpc>
              <a:buNone/>
            </a:pP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steps      = 21 +  (0.06/0.94) × 64</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21 +  0.064 × 64</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25 steps in all</a:t>
            </a:r>
            <a:endParaRPr lang="en-US" sz="1250" dirty="0"/>
          </a:p>
        </p:txBody>
      </p:sp>
      <p:sp>
        <p:nvSpPr>
          <p:cNvPr id="16" name="Text 14"/>
          <p:cNvSpPr/>
          <p:nvPr/>
        </p:nvSpPr>
        <p:spPr>
          <a:xfrm>
            <a:off x="566928" y="5394960"/>
            <a:ext cx="11057839" cy="603504"/>
          </a:xfrm>
          <a:prstGeom prst="rect">
            <a:avLst/>
          </a:prstGeom>
          <a:noFill/>
          <a:ln/>
        </p:spPr>
        <p:txBody>
          <a:bodyPr wrap="square" lIns="0" tIns="0" rIns="0" bIns="0" rtlCol="0" anchor="t"/>
          <a:lstStyle/>
          <a:p>
            <a:pPr marL="0" indent="0">
              <a:lnSpc>
                <a:spcPts val="2100"/>
              </a:lnSpc>
              <a:buNone/>
            </a:pPr>
            <a:r>
              <a:rPr lang="en-US" sz="1500" b="1" i="1" dirty="0">
                <a:solidFill>
                  <a:srgbClr val="B5563A"/>
                </a:solidFill>
                <a:latin typeface="Calibri" pitchFamily="34" charset="0"/>
                <a:ea typeface="Calibri" pitchFamily="34" charset="-122"/>
                <a:cs typeface="Calibri" pitchFamily="34" charset="-120"/>
              </a:rPr>
              <a:t>Twenty-two steps to solve a problem with seventeen million states. And for three million queens, this approach finds solutions in seconds.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THE CAVEAT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Everything depends on the shape of the landscape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28</a:t>
            </a:r>
            <a:endParaRPr lang="en-US" sz="900" dirty="0"/>
          </a:p>
        </p:txBody>
      </p:sp>
      <p:pic>
        <p:nvPicPr>
          <p:cNvPr id="6" name="Image 0" descr="img/rugged.png"/>
          <p:cNvPicPr>
            <a:picLocks noChangeAspect="1"/>
          </p:cNvPicPr>
          <p:nvPr/>
        </p:nvPicPr>
        <p:blipFill>
          <a:blip r:embed="rId3"/>
          <a:stretch>
            <a:fillRect/>
          </a:stretch>
        </p:blipFill>
        <p:spPr>
          <a:xfrm>
            <a:off x="996696" y="1517904"/>
            <a:ext cx="10195560" cy="3282696"/>
          </a:xfrm>
          <a:prstGeom prst="rect">
            <a:avLst/>
          </a:prstGeom>
        </p:spPr>
      </p:pic>
      <p:sp>
        <p:nvSpPr>
          <p:cNvPr id="7" name="Text 4"/>
          <p:cNvSpPr/>
          <p:nvPr/>
        </p:nvSpPr>
        <p:spPr>
          <a:xfrm>
            <a:off x="566928" y="4864608"/>
            <a:ext cx="11057839" cy="1325880"/>
          </a:xfrm>
          <a:prstGeom prst="rect">
            <a:avLst/>
          </a:prstGeom>
          <a:noFill/>
          <a:ln/>
        </p:spPr>
        <p:txBody>
          <a:bodyPr wrap="square" lIns="0" tIns="0" rIns="0" bIns="0" rtlCol="0" anchor="t"/>
          <a:lstStyle/>
          <a:p>
            <a:pPr marL="203200" indent="-203200">
              <a:lnSpc>
                <a:spcPts val="1700"/>
              </a:lnSpc>
              <a:spcAft>
                <a:spcPts val="1200"/>
              </a:spcAft>
              <a:buSzPct val="100000"/>
              <a:buChar char="•"/>
            </a:pPr>
            <a:r>
              <a:rPr lang="en-US" sz="1300" b="1" dirty="0">
                <a:solidFill>
                  <a:srgbClr val="1B2226"/>
                </a:solidFill>
                <a:latin typeface="Calibri" pitchFamily="34" charset="0"/>
                <a:ea typeface="Calibri" pitchFamily="34" charset="-122"/>
                <a:cs typeface="Calibri" pitchFamily="34" charset="-120"/>
              </a:rPr>
              <a:t>Few local maxima and plateaus: random-restart hill climbing finds a good solution very quickly. 8-queens is this kind of problem — which is exactly why it makes such a flattering demonstration.</a:t>
            </a:r>
            <a:endParaRPr lang="en-US" sz="1300" dirty="0"/>
          </a:p>
          <a:p>
            <a:pPr marL="203200" indent="-203200">
              <a:lnSpc>
                <a:spcPts val="1700"/>
              </a:lnSpc>
              <a:spcAft>
                <a:spcPts val="1200"/>
              </a:spcAft>
              <a:buSzPct val="100000"/>
              <a:buChar char="•"/>
            </a:pPr>
            <a:r>
              <a:rPr lang="en-US" sz="1300" dirty="0">
                <a:solidFill>
                  <a:srgbClr val="B5563A"/>
                </a:solidFill>
                <a:latin typeface="Calibri" pitchFamily="34" charset="0"/>
                <a:ea typeface="Calibri" pitchFamily="34" charset="-122"/>
                <a:cs typeface="Calibri" pitchFamily="34" charset="-120"/>
              </a:rPr>
              <a:t>Many real problems look more like a widely scattered family of balding porcupines on a flat floor, with miniature porcupines on the tip of each needle. NP-hard problems typically have an exponential number of local maxima.</a:t>
            </a:r>
            <a:endParaRPr lang="en-US" sz="1300" dirty="0"/>
          </a:p>
          <a:p>
            <a:pPr marL="203200" indent="-203200">
              <a:lnSpc>
                <a:spcPts val="1700"/>
              </a:lnSpc>
              <a:spcAft>
                <a:spcPts val="1200"/>
              </a:spcAft>
              <a:buSzPct val="100000"/>
              <a:buChar char="•"/>
            </a:pPr>
            <a:r>
              <a:rPr lang="en-US" sz="1300" dirty="0">
                <a:solidFill>
                  <a:srgbClr val="47603F"/>
                </a:solidFill>
                <a:latin typeface="Calibri" pitchFamily="34" charset="0"/>
                <a:ea typeface="Calibri" pitchFamily="34" charset="-122"/>
                <a:cs typeface="Calibri" pitchFamily="34" charset="-120"/>
              </a:rPr>
              <a:t>Even then, a reasonably good local maximum is often found after a few restarts. Good enough, fast, is frequently the right answer.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CHECKPOINT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Three questions before we move 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66928" y="1536192"/>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Shape 5"/>
          <p:cNvSpPr/>
          <p:nvPr/>
        </p:nvSpPr>
        <p:spPr>
          <a:xfrm>
            <a:off x="804672" y="1792224"/>
            <a:ext cx="402336" cy="402336"/>
          </a:xfrm>
          <a:prstGeom prst="ellipse">
            <a:avLst/>
          </a:prstGeom>
          <a:solidFill>
            <a:srgbClr val="B5563A"/>
          </a:solidFill>
          <a:ln w="12700">
            <a:solidFill>
              <a:srgbClr val="B5563A"/>
            </a:solidFill>
            <a:prstDash val="solid"/>
          </a:ln>
        </p:spPr>
        <p:txBody>
          <a:bodyPr/>
          <a:lstStyle/>
          <a:p>
            <a:endParaRPr lang="en-US"/>
          </a:p>
        </p:txBody>
      </p:sp>
      <p:sp>
        <p:nvSpPr>
          <p:cNvPr id="8" name="Text 6"/>
          <p:cNvSpPr/>
          <p:nvPr/>
        </p:nvSpPr>
        <p:spPr>
          <a:xfrm>
            <a:off x="804672" y="1792224"/>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p:nvPr/>
        </p:nvSpPr>
        <p:spPr>
          <a:xfrm>
            <a:off x="1389888" y="1700784"/>
            <a:ext cx="9960559" cy="502920"/>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A hill-climbing run terminates and reports a state with h = 3. What, precisely, does that tell you about the state?</a:t>
            </a:r>
            <a:endParaRPr lang="en-US" sz="1450" dirty="0"/>
          </a:p>
        </p:txBody>
      </p:sp>
      <p:sp>
        <p:nvSpPr>
          <p:cNvPr id="10" name="Text 8"/>
          <p:cNvSpPr/>
          <p:nvPr/>
        </p:nvSpPr>
        <p:spPr>
          <a:xfrm>
            <a:off x="1389888" y="2249424"/>
            <a:ext cx="9960559" cy="548640"/>
          </a:xfrm>
          <a:prstGeom prst="rect">
            <a:avLst/>
          </a:prstGeom>
          <a:noFill/>
          <a:ln/>
        </p:spPr>
        <p:txBody>
          <a:bodyPr wrap="square" lIns="0" tIns="0" rIns="0" bIns="0" rtlCol="0" anchor="t"/>
          <a:lstStyle/>
          <a:p>
            <a:pPr marL="0" indent="0">
              <a:lnSpc>
                <a:spcPts val="1700"/>
              </a:lnSpc>
              <a:buNone/>
            </a:pPr>
            <a:r>
              <a:rPr lang="en-US" sz="1300" i="1" dirty="0">
                <a:solidFill>
                  <a:srgbClr val="47603F"/>
                </a:solidFill>
                <a:latin typeface="Calibri" pitchFamily="34" charset="0"/>
                <a:ea typeface="Calibri" pitchFamily="34" charset="-122"/>
                <a:cs typeface="Calibri" pitchFamily="34" charset="-120"/>
              </a:rPr>
              <a:t>Only that no single-queen move improves it. Nothing about whether h = 0 is reachable, nothing about how far away it is.</a:t>
            </a:r>
            <a:endParaRPr lang="en-US" sz="1300" dirty="0"/>
          </a:p>
        </p:txBody>
      </p:sp>
      <p:sp>
        <p:nvSpPr>
          <p:cNvPr id="11" name="Shape 9"/>
          <p:cNvSpPr/>
          <p:nvPr/>
        </p:nvSpPr>
        <p:spPr>
          <a:xfrm>
            <a:off x="566928" y="3017520"/>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Shape 10"/>
          <p:cNvSpPr/>
          <p:nvPr/>
        </p:nvSpPr>
        <p:spPr>
          <a:xfrm>
            <a:off x="804672" y="3273552"/>
            <a:ext cx="402336" cy="402336"/>
          </a:xfrm>
          <a:prstGeom prst="ellipse">
            <a:avLst/>
          </a:prstGeom>
          <a:solidFill>
            <a:srgbClr val="B5563A"/>
          </a:solidFill>
          <a:ln w="12700">
            <a:solidFill>
              <a:srgbClr val="B5563A"/>
            </a:solidFill>
            <a:prstDash val="solid"/>
          </a:ln>
        </p:spPr>
        <p:txBody>
          <a:bodyPr/>
          <a:lstStyle/>
          <a:p>
            <a:endParaRPr lang="en-US"/>
          </a:p>
        </p:txBody>
      </p:sp>
      <p:sp>
        <p:nvSpPr>
          <p:cNvPr id="13" name="Text 11"/>
          <p:cNvSpPr/>
          <p:nvPr/>
        </p:nvSpPr>
        <p:spPr>
          <a:xfrm>
            <a:off x="804672" y="3273552"/>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2"/>
          <p:cNvSpPr/>
          <p:nvPr/>
        </p:nvSpPr>
        <p:spPr>
          <a:xfrm>
            <a:off x="1389888" y="3182112"/>
            <a:ext cx="9960559" cy="502920"/>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You allow sideways moves with no limit. Your program hangs. What happened, and what is the one-line fix?</a:t>
            </a:r>
            <a:endParaRPr lang="en-US" sz="1450" dirty="0"/>
          </a:p>
        </p:txBody>
      </p:sp>
      <p:sp>
        <p:nvSpPr>
          <p:cNvPr id="15" name="Text 13"/>
          <p:cNvSpPr/>
          <p:nvPr/>
        </p:nvSpPr>
        <p:spPr>
          <a:xfrm>
            <a:off x="1389888" y="3730752"/>
            <a:ext cx="9960559" cy="548640"/>
          </a:xfrm>
          <a:prstGeom prst="rect">
            <a:avLst/>
          </a:prstGeom>
          <a:noFill/>
          <a:ln/>
        </p:spPr>
        <p:txBody>
          <a:bodyPr wrap="square" lIns="0" tIns="0" rIns="0" bIns="0" rtlCol="0" anchor="t"/>
          <a:lstStyle/>
          <a:p>
            <a:pPr marL="0" indent="0">
              <a:lnSpc>
                <a:spcPts val="1700"/>
              </a:lnSpc>
              <a:buNone/>
            </a:pPr>
            <a:r>
              <a:rPr lang="en-US" sz="1300" i="1" dirty="0">
                <a:solidFill>
                  <a:srgbClr val="47603F"/>
                </a:solidFill>
                <a:latin typeface="Calibri" pitchFamily="34" charset="0"/>
                <a:ea typeface="Calibri" pitchFamily="34" charset="-122"/>
                <a:cs typeface="Calibri" pitchFamily="34" charset="-120"/>
              </a:rPr>
              <a:t>It reached a flat local maximum and is wandering it forever. Cap the number of consecutive sideways moves — reset the counter on any strictly uphill move.</a:t>
            </a:r>
            <a:endParaRPr lang="en-US" sz="1300" dirty="0"/>
          </a:p>
        </p:txBody>
      </p:sp>
      <p:sp>
        <p:nvSpPr>
          <p:cNvPr id="16" name="Shape 14"/>
          <p:cNvSpPr/>
          <p:nvPr/>
        </p:nvSpPr>
        <p:spPr>
          <a:xfrm>
            <a:off x="566928" y="4498848"/>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7" name="Shape 15"/>
          <p:cNvSpPr/>
          <p:nvPr/>
        </p:nvSpPr>
        <p:spPr>
          <a:xfrm>
            <a:off x="804672" y="4754880"/>
            <a:ext cx="402336" cy="402336"/>
          </a:xfrm>
          <a:prstGeom prst="ellipse">
            <a:avLst/>
          </a:prstGeom>
          <a:solidFill>
            <a:srgbClr val="B5563A"/>
          </a:solidFill>
          <a:ln w="12700">
            <a:solidFill>
              <a:srgbClr val="B5563A"/>
            </a:solidFill>
            <a:prstDash val="solid"/>
          </a:ln>
        </p:spPr>
        <p:txBody>
          <a:bodyPr/>
          <a:lstStyle/>
          <a:p>
            <a:endParaRPr lang="en-US"/>
          </a:p>
        </p:txBody>
      </p:sp>
      <p:sp>
        <p:nvSpPr>
          <p:cNvPr id="18" name="Text 16"/>
          <p:cNvSpPr/>
          <p:nvPr/>
        </p:nvSpPr>
        <p:spPr>
          <a:xfrm>
            <a:off x="804672" y="4754880"/>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9" name="Text 17"/>
          <p:cNvSpPr/>
          <p:nvPr/>
        </p:nvSpPr>
        <p:spPr>
          <a:xfrm>
            <a:off x="1389888" y="4663440"/>
            <a:ext cx="9960559" cy="502920"/>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Each hill-climbing run succeeds with p = 0.25, costs 10 steps when it succeeds and 4 when it fails. Expected total steps to first success?</a:t>
            </a:r>
            <a:endParaRPr lang="en-US" sz="1450" dirty="0"/>
          </a:p>
        </p:txBody>
      </p:sp>
      <p:sp>
        <p:nvSpPr>
          <p:cNvPr id="20" name="Text 18"/>
          <p:cNvSpPr/>
          <p:nvPr/>
        </p:nvSpPr>
        <p:spPr>
          <a:xfrm>
            <a:off x="1389888" y="5212080"/>
            <a:ext cx="9960559" cy="548640"/>
          </a:xfrm>
          <a:prstGeom prst="rect">
            <a:avLst/>
          </a:prstGeom>
          <a:noFill/>
          <a:ln/>
        </p:spPr>
        <p:txBody>
          <a:bodyPr wrap="square" lIns="0" tIns="0" rIns="0" bIns="0" rtlCol="0" anchor="t"/>
          <a:lstStyle/>
          <a:p>
            <a:pPr marL="0" indent="0">
              <a:lnSpc>
                <a:spcPts val="1700"/>
              </a:lnSpc>
              <a:buNone/>
            </a:pPr>
            <a:r>
              <a:rPr lang="en-US" sz="1300" i="1" dirty="0">
                <a:solidFill>
                  <a:srgbClr val="47603F"/>
                </a:solidFill>
                <a:latin typeface="Calibri" pitchFamily="34" charset="0"/>
                <a:ea typeface="Calibri" pitchFamily="34" charset="-122"/>
                <a:cs typeface="Calibri" pitchFamily="34" charset="-120"/>
              </a:rPr>
              <a:t>10 + (0.75/0.25) × 4 = 10 + 12 = 22 steps.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03</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Simulated Annealing</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4.1.2.  Hill climbing never goes downhill and gets stuck. A random walk goes anywhere and gets nowhere. Simulated annealing interpolates between the two — and the interpolation parameter is called temperature.</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MOTIVATION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Two algorithms, each broken in the opposite way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554480"/>
            <a:ext cx="5349240" cy="2423160"/>
          </a:xfrm>
          <a:prstGeom prst="roundRect">
            <a:avLst>
              <a:gd name="adj" fmla="val 339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Pure hill climbing</a:t>
            </a:r>
            <a:endParaRPr lang="en-US" sz="1700" dirty="0"/>
          </a:p>
        </p:txBody>
      </p:sp>
      <p:sp>
        <p:nvSpPr>
          <p:cNvPr id="8" name="Text 6"/>
          <p:cNvSpPr/>
          <p:nvPr/>
        </p:nvSpPr>
        <p:spPr>
          <a:xfrm>
            <a:off x="822960" y="2139696"/>
            <a:ext cx="4837176" cy="16916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Never makes a downhill move toward a state with lower value.</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Efficient: every step is progress.</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Incomplete: always vulnerable to getting stuck in a local maximum.</a:t>
            </a:r>
            <a:endParaRPr lang="en-US" sz="1450" dirty="0"/>
          </a:p>
        </p:txBody>
      </p:sp>
      <p:sp>
        <p:nvSpPr>
          <p:cNvPr id="9" name="Shape 7"/>
          <p:cNvSpPr/>
          <p:nvPr/>
        </p:nvSpPr>
        <p:spPr>
          <a:xfrm>
            <a:off x="6300216" y="1554480"/>
            <a:ext cx="5349240" cy="2423160"/>
          </a:xfrm>
          <a:prstGeom prst="roundRect">
            <a:avLst>
              <a:gd name="adj" fmla="val 339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Pure random walk</a:t>
            </a:r>
            <a:endParaRPr lang="en-US" sz="1700" dirty="0"/>
          </a:p>
        </p:txBody>
      </p:sp>
      <p:sp>
        <p:nvSpPr>
          <p:cNvPr id="11" name="Text 9"/>
          <p:cNvSpPr/>
          <p:nvPr/>
        </p:nvSpPr>
        <p:spPr>
          <a:xfrm>
            <a:off x="6556248" y="2139696"/>
            <a:ext cx="4837176" cy="16916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Moves to a successor without any concern for its value.</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Complete: will eventually stumble upon the global maximum.</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Hopeless: extremely inefficient. You will not live to see it.</a:t>
            </a:r>
            <a:endParaRPr lang="en-US" sz="1450" dirty="0"/>
          </a:p>
        </p:txBody>
      </p:sp>
      <p:sp>
        <p:nvSpPr>
          <p:cNvPr id="12" name="Shape 10"/>
          <p:cNvSpPr/>
          <p:nvPr/>
        </p:nvSpPr>
        <p:spPr>
          <a:xfrm>
            <a:off x="566928" y="4206240"/>
            <a:ext cx="11057839" cy="1600200"/>
          </a:xfrm>
          <a:prstGeom prst="roundRect">
            <a:avLst>
              <a:gd name="adj" fmla="val 5143"/>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59536" y="4370832"/>
            <a:ext cx="10472623" cy="329184"/>
          </a:xfrm>
          <a:prstGeom prst="rect">
            <a:avLst/>
          </a:prstGeom>
          <a:noFill/>
          <a:ln/>
        </p:spPr>
        <p:txBody>
          <a:bodyPr wrap="square" lIns="0" tIns="0" rIns="0" bIns="0" rtlCol="0" anchor="ctr"/>
          <a:lstStyle/>
          <a:p>
            <a:pPr marL="0" indent="0">
              <a:buNone/>
            </a:pPr>
            <a:r>
              <a:rPr lang="en-US" sz="1550" b="1" dirty="0">
                <a:solidFill>
                  <a:srgbClr val="D08B6F"/>
                </a:solidFill>
                <a:latin typeface="Cambria" pitchFamily="34" charset="0"/>
                <a:ea typeface="Cambria" pitchFamily="34" charset="-122"/>
                <a:cs typeface="Cambria" pitchFamily="34" charset="-120"/>
              </a:rPr>
              <a:t>The obvious question</a:t>
            </a:r>
            <a:endParaRPr lang="en-US" sz="1550" dirty="0"/>
          </a:p>
        </p:txBody>
      </p:sp>
      <p:sp>
        <p:nvSpPr>
          <p:cNvPr id="14" name="Text 12"/>
          <p:cNvSpPr/>
          <p:nvPr/>
        </p:nvSpPr>
        <p:spPr>
          <a:xfrm>
            <a:off x="859536" y="4754880"/>
            <a:ext cx="10472623" cy="960120"/>
          </a:xfrm>
          <a:prstGeom prst="rect">
            <a:avLst/>
          </a:prstGeom>
          <a:noFill/>
          <a:ln/>
        </p:spPr>
        <p:txBody>
          <a:bodyPr wrap="square" lIns="0" tIns="0" rIns="0" bIns="0" rtlCol="0" anchor="t"/>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Can we combine hill climbing with a random walk in a way that yields both efficiency and completeness? Simulated annealing is the answer — and the trick is that the mixture is not fixed. It starts as a random walk and finishes as hill climbing.</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 METAPHOR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Shake hard, then gently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66928" y="1554480"/>
            <a:ext cx="5349240" cy="2148840"/>
          </a:xfrm>
          <a:prstGeom prst="roundRect">
            <a:avLst>
              <a:gd name="adj" fmla="val 383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Annealing in metallurgy</a:t>
            </a:r>
            <a:endParaRPr lang="en-US" sz="1700" dirty="0"/>
          </a:p>
        </p:txBody>
      </p:sp>
      <p:sp>
        <p:nvSpPr>
          <p:cNvPr id="8" name="Text 6"/>
          <p:cNvSpPr/>
          <p:nvPr/>
        </p:nvSpPr>
        <p:spPr>
          <a:xfrm>
            <a:off x="822960" y="2121408"/>
            <a:ext cx="4837176" cy="146304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The process used to temper or harden metals and glass by heating them to a high temperature and then gradually cooling them, allowing the material to reach a low-energy crystalline state.</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Cool too fast and you freeze in defects.</a:t>
            </a:r>
            <a:endParaRPr lang="en-US" sz="1400" dirty="0"/>
          </a:p>
        </p:txBody>
      </p:sp>
      <p:sp>
        <p:nvSpPr>
          <p:cNvPr id="9" name="Shape 7"/>
          <p:cNvSpPr/>
          <p:nvPr/>
        </p:nvSpPr>
        <p:spPr>
          <a:xfrm>
            <a:off x="6300216" y="1554480"/>
            <a:ext cx="5349240" cy="2148840"/>
          </a:xfrm>
          <a:prstGeom prst="roundRect">
            <a:avLst>
              <a:gd name="adj" fmla="val 383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The ping-pong ball picture</a:t>
            </a:r>
            <a:endParaRPr lang="en-US" sz="1700" dirty="0"/>
          </a:p>
        </p:txBody>
      </p:sp>
      <p:sp>
        <p:nvSpPr>
          <p:cNvPr id="11" name="Text 9"/>
          <p:cNvSpPr/>
          <p:nvPr/>
        </p:nvSpPr>
        <p:spPr>
          <a:xfrm>
            <a:off x="6556248" y="2121408"/>
            <a:ext cx="4837176" cy="146304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Get a ball into the deepest crevice of a bumpy surface. Let it roll and it rests in a local minimum. Shake the surface and it bounces out — perhaps into a deeper crevice, where it will spend more of its time.</a:t>
            </a:r>
            <a:endParaRPr lang="en-US" sz="1400" dirty="0"/>
          </a:p>
        </p:txBody>
      </p:sp>
      <p:sp>
        <p:nvSpPr>
          <p:cNvPr id="12" name="Shape 10"/>
          <p:cNvSpPr/>
          <p:nvPr/>
        </p:nvSpPr>
        <p:spPr>
          <a:xfrm>
            <a:off x="566928" y="3931920"/>
            <a:ext cx="11057839" cy="1874520"/>
          </a:xfrm>
          <a:prstGeom prst="roundRect">
            <a:avLst>
              <a:gd name="adj" fmla="val 439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77824" y="4096512"/>
            <a:ext cx="10436047" cy="731520"/>
          </a:xfrm>
          <a:prstGeom prst="rect">
            <a:avLst/>
          </a:prstGeom>
          <a:noFill/>
          <a:ln/>
        </p:spPr>
        <p:txBody>
          <a:bodyPr wrap="square" lIns="0" tIns="0" rIns="0" bIns="0"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The trick is to shake just hard enough to bounce the ball out of local minima, but not hard enough to dislodge it from the global minimum.</a:t>
            </a:r>
            <a:endParaRPr lang="en-US" sz="1700" dirty="0"/>
          </a:p>
        </p:txBody>
      </p:sp>
      <p:sp>
        <p:nvSpPr>
          <p:cNvPr id="14" name="Text 12"/>
          <p:cNvSpPr/>
          <p:nvPr/>
        </p:nvSpPr>
        <p:spPr>
          <a:xfrm>
            <a:off x="877824" y="4864608"/>
            <a:ext cx="10436047" cy="82296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Since you cannot know in advance how hard that is, the solution is to start by shaking hard — at a high temperature — and then gradually reduce the intensity. Note the change of viewpoint: this section minimises cost rather than maximising value, so the pictures are upside down relative to hill climbing.</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 ALGORITHM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Simulated annealing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66928" y="1517904"/>
            <a:ext cx="6858000" cy="3131820"/>
          </a:xfrm>
          <a:prstGeom prst="roundRect">
            <a:avLst>
              <a:gd name="adj" fmla="val 2336"/>
            </a:avLst>
          </a:prstGeom>
          <a:solidFill>
            <a:srgbClr val="1E2A2F"/>
          </a:solidFill>
          <a:ln w="12700">
            <a:solidFill>
              <a:srgbClr val="2C3D45"/>
            </a:solidFill>
            <a:prstDash val="solid"/>
          </a:ln>
          <a:effectLst>
            <a:outerShdw blurRad="127000" dist="17780" dir="5400000" algn="bl" rotWithShape="0">
              <a:srgbClr val="8E9A9F">
                <a:alpha val="22000"/>
              </a:srgbClr>
            </a:outerShdw>
          </a:effectLst>
        </p:spPr>
        <p:txBody>
          <a:bodyPr/>
          <a:lstStyle/>
          <a:p>
            <a:endParaRPr lang="en-US"/>
          </a:p>
        </p:txBody>
      </p:sp>
      <p:sp>
        <p:nvSpPr>
          <p:cNvPr id="7" name="Text 5"/>
          <p:cNvSpPr/>
          <p:nvPr/>
        </p:nvSpPr>
        <p:spPr>
          <a:xfrm>
            <a:off x="822960" y="1719072"/>
            <a:ext cx="6400800" cy="2766060"/>
          </a:xfrm>
          <a:prstGeom prst="rect">
            <a:avLst/>
          </a:prstGeom>
          <a:noFill/>
          <a:ln/>
        </p:spPr>
        <p:txBody>
          <a:bodyPr wrap="square" lIns="0" tIns="0" rIns="0" bIns="0" rtlCol="0" anchor="t"/>
          <a:lstStyle/>
          <a:p>
            <a:pPr marL="0" indent="0">
              <a:lnSpc>
                <a:spcPts val="2000"/>
              </a:lnSpc>
              <a:buNone/>
            </a:pPr>
            <a:r>
              <a:rPr lang="en-US" sz="1280" b="1" dirty="0">
                <a:solidFill>
                  <a:srgbClr val="D08B6F"/>
                </a:solidFill>
                <a:latin typeface="Courier New" pitchFamily="34" charset="0"/>
                <a:ea typeface="Courier New" pitchFamily="34" charset="-122"/>
                <a:cs typeface="Courier New" pitchFamily="34" charset="-120"/>
              </a:rPr>
              <a:t>function SIMULATED-ANNEALING(problem, schedule) returns a state</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current ← problem.INITIAL</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for t = 1 to ∞ do</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T ← schedule(t)</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if T = 0 then return current</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next ← a randomly selected successor of current</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ΔE ← VALUE(next) − VALUE(current)</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if ΔE &gt; 0 then current ← next</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else current ← next only with probability e^(ΔE/T)</a:t>
            </a:r>
            <a:endParaRPr lang="en-US" sz="1280" dirty="0"/>
          </a:p>
        </p:txBody>
      </p:sp>
      <p:sp>
        <p:nvSpPr>
          <p:cNvPr id="8" name="Shape 6"/>
          <p:cNvSpPr/>
          <p:nvPr/>
        </p:nvSpPr>
        <p:spPr>
          <a:xfrm>
            <a:off x="7754112" y="1517904"/>
            <a:ext cx="3886200" cy="4160520"/>
          </a:xfrm>
          <a:prstGeom prst="roundRect">
            <a:avLst>
              <a:gd name="adj" fmla="val 211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955280" y="1645920"/>
            <a:ext cx="348386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Three differences from hill climbing</a:t>
            </a:r>
            <a:endParaRPr lang="en-US" sz="1450" dirty="0"/>
          </a:p>
        </p:txBody>
      </p:sp>
      <p:sp>
        <p:nvSpPr>
          <p:cNvPr id="10" name="Text 8"/>
          <p:cNvSpPr/>
          <p:nvPr/>
        </p:nvSpPr>
        <p:spPr>
          <a:xfrm>
            <a:off x="7955280" y="1975104"/>
            <a:ext cx="3483864" cy="3538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1.  It picks a RANDOM successor, not the best one. No enumeration of the neighbourhood.</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2.  An improving move (ΔE &gt; 0) is always accepted, exactly as before.</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3.  A worsening move is accepted with probability e^(ΔE/T), which is less than 1 because ΔE is negative.</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Everything else is identical. The schedule is supplied by you, not derived.</a:t>
            </a:r>
            <a:endParaRPr lang="en-US" sz="1300" dirty="0"/>
          </a:p>
        </p:txBody>
      </p:sp>
      <p:sp>
        <p:nvSpPr>
          <p:cNvPr id="11" name="Text 9"/>
          <p:cNvSpPr/>
          <p:nvPr/>
        </p:nvSpPr>
        <p:spPr>
          <a:xfrm>
            <a:off x="566928" y="5074920"/>
            <a:ext cx="6858000" cy="640080"/>
          </a:xfrm>
          <a:prstGeom prst="rect">
            <a:avLst/>
          </a:prstGeom>
          <a:noFill/>
          <a:ln/>
        </p:spPr>
        <p:txBody>
          <a:bodyPr wrap="square" lIns="0" tIns="0" rIns="0" bIns="0" rtlCol="0" anchor="t"/>
          <a:lstStyle/>
          <a:p>
            <a:pPr marL="0" indent="0">
              <a:lnSpc>
                <a:spcPts val="1900"/>
              </a:lnSpc>
              <a:buNone/>
            </a:pPr>
            <a:r>
              <a:rPr lang="en-US" sz="1400" i="1" dirty="0">
                <a:solidFill>
                  <a:srgbClr val="B5563A"/>
                </a:solidFill>
                <a:latin typeface="Calibri" pitchFamily="34" charset="0"/>
                <a:ea typeface="Calibri" pitchFamily="34" charset="-122"/>
                <a:cs typeface="Calibri" pitchFamily="34" charset="-120"/>
              </a:rPr>
              <a:t>Note the loop is over t, not over states: the algorithm is driven by the clock, and the temperature schedule decides when it stops.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 ACCEPTANCE RULE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Two things control whether a bad move is taken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34</a:t>
            </a:r>
            <a:endParaRPr lang="en-US" sz="900" dirty="0"/>
          </a:p>
        </p:txBody>
      </p:sp>
      <p:pic>
        <p:nvPicPr>
          <p:cNvPr id="6" name="Image 0" descr="img/sa_prob.png"/>
          <p:cNvPicPr>
            <a:picLocks noChangeAspect="1"/>
          </p:cNvPicPr>
          <p:nvPr/>
        </p:nvPicPr>
        <p:blipFill>
          <a:blip r:embed="rId3"/>
          <a:stretch>
            <a:fillRect/>
          </a:stretch>
        </p:blipFill>
        <p:spPr>
          <a:xfrm>
            <a:off x="777240" y="1481328"/>
            <a:ext cx="6400800" cy="3794760"/>
          </a:xfrm>
          <a:prstGeom prst="rect">
            <a:avLst/>
          </a:prstGeom>
        </p:spPr>
      </p:pic>
      <p:sp>
        <p:nvSpPr>
          <p:cNvPr id="7" name="Shape 4"/>
          <p:cNvSpPr/>
          <p:nvPr/>
        </p:nvSpPr>
        <p:spPr>
          <a:xfrm>
            <a:off x="7498080" y="1481328"/>
            <a:ext cx="3611880" cy="1920240"/>
          </a:xfrm>
          <a:prstGeom prst="roundRect">
            <a:avLst>
              <a:gd name="adj" fmla="val 42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7699248" y="1609344"/>
            <a:ext cx="320954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How bad the move is</a:t>
            </a:r>
            <a:endParaRPr lang="en-US" sz="1450" dirty="0"/>
          </a:p>
        </p:txBody>
      </p:sp>
      <p:sp>
        <p:nvSpPr>
          <p:cNvPr id="9" name="Text 6"/>
          <p:cNvSpPr/>
          <p:nvPr/>
        </p:nvSpPr>
        <p:spPr>
          <a:xfrm>
            <a:off x="7699248" y="1938528"/>
            <a:ext cx="3209544" cy="12984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probability decreases exponentially with the badness of the move — the amount ΔE by which the evaluation is worsened. Slightly bad moves are cheap; catastrophic moves are effectively forbidden.</a:t>
            </a:r>
            <a:endParaRPr lang="en-US" sz="1280" dirty="0"/>
          </a:p>
        </p:txBody>
      </p:sp>
      <p:sp>
        <p:nvSpPr>
          <p:cNvPr id="10" name="Shape 7"/>
          <p:cNvSpPr/>
          <p:nvPr/>
        </p:nvSpPr>
        <p:spPr>
          <a:xfrm>
            <a:off x="7498080" y="3566160"/>
            <a:ext cx="3611880" cy="1709928"/>
          </a:xfrm>
          <a:prstGeom prst="roundRect">
            <a:avLst>
              <a:gd name="adj" fmla="val 48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8"/>
          <p:cNvSpPr/>
          <p:nvPr/>
        </p:nvSpPr>
        <p:spPr>
          <a:xfrm>
            <a:off x="7699248" y="3694176"/>
            <a:ext cx="320954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Where you are in the schedule</a:t>
            </a:r>
            <a:endParaRPr lang="en-US" sz="1450" dirty="0"/>
          </a:p>
        </p:txBody>
      </p:sp>
      <p:sp>
        <p:nvSpPr>
          <p:cNvPr id="12" name="Text 9"/>
          <p:cNvSpPr/>
          <p:nvPr/>
        </p:nvSpPr>
        <p:spPr>
          <a:xfrm>
            <a:off x="7699248" y="4023360"/>
            <a:ext cx="3209544" cy="1088136"/>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probability also decreases as the temperature T goes down. Bad moves are likely at the start when T is high, and become unlikely as T falls.</a:t>
            </a:r>
            <a:endParaRPr lang="en-US" sz="1280" dirty="0"/>
          </a:p>
        </p:txBody>
      </p:sp>
      <p:sp>
        <p:nvSpPr>
          <p:cNvPr id="13" name="Text 10"/>
          <p:cNvSpPr/>
          <p:nvPr/>
        </p:nvSpPr>
        <p:spPr>
          <a:xfrm>
            <a:off x="566928" y="5440680"/>
            <a:ext cx="11057839" cy="658368"/>
          </a:xfrm>
          <a:prstGeom prst="rect">
            <a:avLst/>
          </a:prstGeom>
          <a:noFill/>
          <a:ln/>
        </p:spPr>
        <p:txBody>
          <a:bodyPr wrap="square" lIns="0" tIns="0" rIns="0" bIns="0" rtlCol="0" anchor="t"/>
          <a:lstStyle/>
          <a:p>
            <a:pPr marL="0" indent="0">
              <a:lnSpc>
                <a:spcPts val="2100"/>
              </a:lnSpc>
              <a:buNone/>
            </a:pPr>
            <a:r>
              <a:rPr lang="en-US" sz="1500" b="1" dirty="0">
                <a:solidFill>
                  <a:srgbClr val="1E2A2F"/>
                </a:solidFill>
                <a:latin typeface="Calibri" pitchFamily="34" charset="0"/>
                <a:ea typeface="Calibri" pitchFamily="34" charset="-122"/>
                <a:cs typeface="Calibri" pitchFamily="34" charset="-120"/>
              </a:rPr>
              <a:t>At T → ∞ every move is accepted and the algorithm is a pure random walk. At T → 0 no worsening move is ever accepted and the algorithm is stochastic hill climbing. Everything interesting happens in between.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DESIGN CHOICE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cooling schedule is yours to choose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35</a:t>
            </a:r>
            <a:endParaRPr lang="en-US" sz="900" dirty="0"/>
          </a:p>
        </p:txBody>
      </p:sp>
      <p:pic>
        <p:nvPicPr>
          <p:cNvPr id="6" name="Image 0" descr="img/sa_schedule.png"/>
          <p:cNvPicPr>
            <a:picLocks noChangeAspect="1"/>
          </p:cNvPicPr>
          <p:nvPr/>
        </p:nvPicPr>
        <p:blipFill>
          <a:blip r:embed="rId3"/>
          <a:stretch>
            <a:fillRect/>
          </a:stretch>
        </p:blipFill>
        <p:spPr>
          <a:xfrm>
            <a:off x="777240" y="1517904"/>
            <a:ext cx="6217920" cy="3383280"/>
          </a:xfrm>
          <a:prstGeom prst="rect">
            <a:avLst/>
          </a:prstGeom>
        </p:spPr>
      </p:pic>
      <p:sp>
        <p:nvSpPr>
          <p:cNvPr id="7" name="Text 4"/>
          <p:cNvSpPr/>
          <p:nvPr/>
        </p:nvSpPr>
        <p:spPr>
          <a:xfrm>
            <a:off x="7269480" y="1609344"/>
            <a:ext cx="3840480" cy="329184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schedule(t) is a parameter of the algorithm, not part of it. Nothing in the theory tells you which curve to use.</a:t>
            </a:r>
            <a:endParaRPr lang="en-US" sz="1400" dirty="0"/>
          </a:p>
          <a:p>
            <a:pPr marL="406400" lvl="1" indent="-203200">
              <a:lnSpc>
                <a:spcPts val="1600"/>
              </a:lnSpc>
              <a:spcAft>
                <a:spcPts val="500"/>
              </a:spcAft>
              <a:buSzPct val="100000"/>
              <a:buChar char="•"/>
            </a:pPr>
            <a:r>
              <a:rPr lang="en-US" sz="1200" dirty="0">
                <a:solidFill>
                  <a:srgbClr val="33454E"/>
                </a:solidFill>
                <a:latin typeface="Calibri" pitchFamily="34" charset="0"/>
                <a:ea typeface="Calibri" pitchFamily="34" charset="-122"/>
                <a:cs typeface="Calibri" pitchFamily="34" charset="-120"/>
              </a:rPr>
              <a:t>Geometric cooling, T ← αT with α near 0.95, is the default in practice.</a:t>
            </a:r>
            <a:endParaRPr lang="en-US" sz="1400" dirty="0"/>
          </a:p>
          <a:p>
            <a:pPr marL="203200" indent="-203200">
              <a:lnSpc>
                <a:spcPts val="1800"/>
              </a:lnSpc>
              <a:spcAft>
                <a:spcPts val="1400"/>
              </a:spcAft>
              <a:buSzPct val="100000"/>
              <a:buChar char="•"/>
            </a:pPr>
            <a:r>
              <a:rPr lang="en-US" sz="1400" b="1" dirty="0">
                <a:solidFill>
                  <a:srgbClr val="1B2226"/>
                </a:solidFill>
                <a:latin typeface="Calibri" pitchFamily="34" charset="0"/>
                <a:ea typeface="Calibri" pitchFamily="34" charset="-122"/>
                <a:cs typeface="Calibri" pitchFamily="34" charset="-120"/>
              </a:rPr>
              <a:t>You also choose the starting temperature, the number of moves attempted at each temperature, and the stopping rule.</a:t>
            </a:r>
            <a:endParaRPr lang="en-US" sz="1400" dirty="0"/>
          </a:p>
          <a:p>
            <a:pPr marL="203200" indent="-203200">
              <a:lnSpc>
                <a:spcPts val="1800"/>
              </a:lnSpc>
              <a:spcAft>
                <a:spcPts val="1200"/>
              </a:spcAft>
              <a:buSzPct val="100000"/>
              <a:buChar char="•"/>
            </a:pPr>
            <a:r>
              <a:rPr lang="en-US" sz="1400" b="1" dirty="0">
                <a:solidFill>
                  <a:srgbClr val="B5563A"/>
                </a:solidFill>
                <a:latin typeface="Calibri" pitchFamily="34" charset="0"/>
                <a:ea typeface="Calibri" pitchFamily="34" charset="-122"/>
                <a:cs typeface="Calibri" pitchFamily="34" charset="-120"/>
              </a:rPr>
              <a:t>Simulated annealing is pretty sensitive to details.</a:t>
            </a:r>
            <a:endParaRPr lang="en-US" sz="1400" dirty="0"/>
          </a:p>
          <a:p>
            <a:pPr marL="406400" lvl="1" indent="-203200">
              <a:lnSpc>
                <a:spcPts val="1600"/>
              </a:lnSpc>
              <a:spcAft>
                <a:spcPts val="500"/>
              </a:spcAft>
              <a:buSzPct val="100000"/>
              <a:buChar char="•"/>
            </a:pPr>
            <a:r>
              <a:rPr lang="en-US" sz="1200" dirty="0">
                <a:solidFill>
                  <a:srgbClr val="B5563A"/>
                </a:solidFill>
                <a:latin typeface="Calibri" pitchFamily="34" charset="0"/>
                <a:ea typeface="Calibri" pitchFamily="34" charset="-122"/>
                <a:cs typeface="Calibri" pitchFamily="34" charset="-120"/>
              </a:rPr>
              <a:t>The same algorithm with a badly tuned schedule is either a random walk that never converges or a hill climber that gets stuck. Budget time for tuning.</a:t>
            </a:r>
            <a:endParaRPr lang="en-US" sz="1400" dirty="0"/>
          </a:p>
        </p:txBody>
      </p:sp>
      <p:sp>
        <p:nvSpPr>
          <p:cNvPr id="8" name="Shape 5"/>
          <p:cNvSpPr/>
          <p:nvPr/>
        </p:nvSpPr>
        <p:spPr>
          <a:xfrm>
            <a:off x="566928" y="5120640"/>
            <a:ext cx="11057839" cy="868680"/>
          </a:xfrm>
          <a:prstGeom prst="roundRect">
            <a:avLst>
              <a:gd name="adj" fmla="val 947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768096" y="5248656"/>
            <a:ext cx="10655503"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A practical starting point</a:t>
            </a:r>
            <a:endParaRPr lang="en-US" sz="1400" dirty="0"/>
          </a:p>
        </p:txBody>
      </p:sp>
      <p:sp>
        <p:nvSpPr>
          <p:cNvPr id="10" name="Text 7"/>
          <p:cNvSpPr/>
          <p:nvPr/>
        </p:nvSpPr>
        <p:spPr>
          <a:xfrm>
            <a:off x="768096" y="5577840"/>
            <a:ext cx="10655503" cy="24688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Set T₀ so that roughly 80% of worsening moves are accepted at the start, then cool geometrically until the acceptance rate falls below a few percent. Tune from there.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Accept or reject? Run the numbers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36</a:t>
            </a:r>
            <a:endParaRPr lang="en-US" sz="900" dirty="0"/>
          </a:p>
        </p:txBody>
      </p:sp>
      <p:sp>
        <p:nvSpPr>
          <p:cNvPr id="6" name="Text 4"/>
          <p:cNvSpPr/>
          <p:nvPr/>
        </p:nvSpPr>
        <p:spPr>
          <a:xfrm>
            <a:off x="566928" y="1444752"/>
            <a:ext cx="11057839" cy="45720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Minimising cost. A proposed move changes the cost by the amount shown. Recall ΔE = VALUE(next) − VALUE(current), so an increase in cost gives a negative ΔE.</a:t>
            </a:r>
            <a:endParaRPr lang="en-US" sz="1450" dirty="0"/>
          </a:p>
        </p:txBody>
      </p:sp>
      <p:sp>
        <p:nvSpPr>
          <p:cNvPr id="7" name="Text 5"/>
          <p:cNvSpPr/>
          <p:nvPr/>
        </p:nvSpPr>
        <p:spPr>
          <a:xfrm>
            <a:off x="749808" y="2011680"/>
            <a:ext cx="30175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Move</a:t>
            </a:r>
            <a:endParaRPr lang="en-US" sz="1250" dirty="0"/>
          </a:p>
        </p:txBody>
      </p:sp>
      <p:sp>
        <p:nvSpPr>
          <p:cNvPr id="8" name="Text 6"/>
          <p:cNvSpPr/>
          <p:nvPr/>
        </p:nvSpPr>
        <p:spPr>
          <a:xfrm>
            <a:off x="4005072" y="2011680"/>
            <a:ext cx="100584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ΔE</a:t>
            </a:r>
            <a:endParaRPr lang="en-US" sz="1250" dirty="0"/>
          </a:p>
        </p:txBody>
      </p:sp>
      <p:sp>
        <p:nvSpPr>
          <p:cNvPr id="9" name="Text 7"/>
          <p:cNvSpPr/>
          <p:nvPr/>
        </p:nvSpPr>
        <p:spPr>
          <a:xfrm>
            <a:off x="5248656"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50</a:t>
            </a:r>
            <a:endParaRPr lang="en-US" sz="1250" dirty="0"/>
          </a:p>
        </p:txBody>
      </p:sp>
      <p:sp>
        <p:nvSpPr>
          <p:cNvPr id="10" name="Text 8"/>
          <p:cNvSpPr/>
          <p:nvPr/>
        </p:nvSpPr>
        <p:spPr>
          <a:xfrm>
            <a:off x="6903720"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10</a:t>
            </a:r>
            <a:endParaRPr lang="en-US" sz="1250" dirty="0"/>
          </a:p>
        </p:txBody>
      </p:sp>
      <p:sp>
        <p:nvSpPr>
          <p:cNvPr id="11" name="Text 9"/>
          <p:cNvSpPr/>
          <p:nvPr/>
        </p:nvSpPr>
        <p:spPr>
          <a:xfrm>
            <a:off x="8558784"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1</a:t>
            </a:r>
            <a:endParaRPr lang="en-US" sz="1250" dirty="0"/>
          </a:p>
        </p:txBody>
      </p:sp>
      <p:sp>
        <p:nvSpPr>
          <p:cNvPr id="12" name="Text 10"/>
          <p:cNvSpPr/>
          <p:nvPr/>
        </p:nvSpPr>
        <p:spPr>
          <a:xfrm>
            <a:off x="10213848"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0.1</a:t>
            </a:r>
            <a:endParaRPr lang="en-US" sz="1250" dirty="0"/>
          </a:p>
        </p:txBody>
      </p:sp>
      <p:sp>
        <p:nvSpPr>
          <p:cNvPr id="13" name="Shape 11"/>
          <p:cNvSpPr/>
          <p:nvPr/>
        </p:nvSpPr>
        <p:spPr>
          <a:xfrm>
            <a:off x="566928" y="2377440"/>
            <a:ext cx="11057839" cy="713232"/>
          </a:xfrm>
          <a:prstGeom prst="roundRect">
            <a:avLst>
              <a:gd name="adj" fmla="val 11538"/>
            </a:avLst>
          </a:prstGeom>
          <a:solidFill>
            <a:srgbClr val="EDF1E9"/>
          </a:solidFill>
          <a:ln w="12700">
            <a:solidFill>
              <a:srgbClr val="D9E2D2"/>
            </a:solidFill>
            <a:prstDash val="solid"/>
          </a:ln>
        </p:spPr>
        <p:txBody>
          <a:bodyPr/>
          <a:lstStyle/>
          <a:p>
            <a:endParaRPr lang="en-US"/>
          </a:p>
        </p:txBody>
      </p:sp>
      <p:sp>
        <p:nvSpPr>
          <p:cNvPr id="14" name="Text 12"/>
          <p:cNvSpPr/>
          <p:nvPr/>
        </p:nvSpPr>
        <p:spPr>
          <a:xfrm>
            <a:off x="749808" y="2377440"/>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Improves the state</a:t>
            </a:r>
            <a:endParaRPr lang="en-US" sz="1400" dirty="0"/>
          </a:p>
        </p:txBody>
      </p:sp>
      <p:sp>
        <p:nvSpPr>
          <p:cNvPr id="15" name="Text 13"/>
          <p:cNvSpPr/>
          <p:nvPr/>
        </p:nvSpPr>
        <p:spPr>
          <a:xfrm>
            <a:off x="4005072" y="2377440"/>
            <a:ext cx="1005840" cy="713232"/>
          </a:xfrm>
          <a:prstGeom prst="rect">
            <a:avLst/>
          </a:prstGeom>
          <a:noFill/>
          <a:ln/>
        </p:spPr>
        <p:txBody>
          <a:bodyPr wrap="square" lIns="0" tIns="0" rIns="0" bIns="0" rtlCol="0" anchor="ctr"/>
          <a:lstStyle/>
          <a:p>
            <a:pPr marL="0" indent="0">
              <a:buNone/>
            </a:pPr>
            <a:r>
              <a:rPr lang="en-US" sz="1450" b="1" dirty="0">
                <a:solidFill>
                  <a:srgbClr val="47603F"/>
                </a:solidFill>
                <a:latin typeface="Courier New" pitchFamily="34" charset="0"/>
                <a:ea typeface="Courier New" pitchFamily="34" charset="-122"/>
                <a:cs typeface="Courier New" pitchFamily="34" charset="-120"/>
              </a:rPr>
              <a:t>+3</a:t>
            </a:r>
            <a:endParaRPr lang="en-US" sz="1450" dirty="0"/>
          </a:p>
        </p:txBody>
      </p:sp>
      <p:sp>
        <p:nvSpPr>
          <p:cNvPr id="16" name="Text 14"/>
          <p:cNvSpPr/>
          <p:nvPr/>
        </p:nvSpPr>
        <p:spPr>
          <a:xfrm>
            <a:off x="5248656"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17" name="Text 15"/>
          <p:cNvSpPr/>
          <p:nvPr/>
        </p:nvSpPr>
        <p:spPr>
          <a:xfrm>
            <a:off x="6903720"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18" name="Text 16"/>
          <p:cNvSpPr/>
          <p:nvPr/>
        </p:nvSpPr>
        <p:spPr>
          <a:xfrm>
            <a:off x="8558784"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19" name="Text 17"/>
          <p:cNvSpPr/>
          <p:nvPr/>
        </p:nvSpPr>
        <p:spPr>
          <a:xfrm>
            <a:off x="10213848"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20" name="Shape 18"/>
          <p:cNvSpPr/>
          <p:nvPr/>
        </p:nvSpPr>
        <p:spPr>
          <a:xfrm>
            <a:off x="566928" y="3163824"/>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1" name="Text 19"/>
          <p:cNvSpPr/>
          <p:nvPr/>
        </p:nvSpPr>
        <p:spPr>
          <a:xfrm>
            <a:off x="749808" y="3163824"/>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Slightly worse</a:t>
            </a:r>
            <a:endParaRPr lang="en-US" sz="1400" dirty="0"/>
          </a:p>
        </p:txBody>
      </p:sp>
      <p:sp>
        <p:nvSpPr>
          <p:cNvPr id="22" name="Text 20"/>
          <p:cNvSpPr/>
          <p:nvPr/>
        </p:nvSpPr>
        <p:spPr>
          <a:xfrm>
            <a:off x="4005072" y="3163824"/>
            <a:ext cx="1005840" cy="713232"/>
          </a:xfrm>
          <a:prstGeom prst="rect">
            <a:avLst/>
          </a:prstGeom>
          <a:noFill/>
          <a:ln/>
        </p:spPr>
        <p:txBody>
          <a:bodyPr wrap="square" lIns="0" tIns="0" rIns="0" bIns="0" rtlCol="0" anchor="ctr"/>
          <a:lstStyle/>
          <a:p>
            <a:pPr marL="0" indent="0">
              <a:buNone/>
            </a:pPr>
            <a:r>
              <a:rPr lang="en-US" sz="1450" b="1" dirty="0">
                <a:solidFill>
                  <a:srgbClr val="B5563A"/>
                </a:solidFill>
                <a:latin typeface="Courier New" pitchFamily="34" charset="0"/>
                <a:ea typeface="Courier New" pitchFamily="34" charset="-122"/>
                <a:cs typeface="Courier New" pitchFamily="34" charset="-120"/>
              </a:rPr>
              <a:t>−1</a:t>
            </a:r>
            <a:endParaRPr lang="en-US" sz="1450" dirty="0"/>
          </a:p>
        </p:txBody>
      </p:sp>
      <p:sp>
        <p:nvSpPr>
          <p:cNvPr id="23" name="Text 21"/>
          <p:cNvSpPr/>
          <p:nvPr/>
        </p:nvSpPr>
        <p:spPr>
          <a:xfrm>
            <a:off x="5248656"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0.98</a:t>
            </a:r>
            <a:endParaRPr lang="en-US" sz="1350" dirty="0"/>
          </a:p>
        </p:txBody>
      </p:sp>
      <p:sp>
        <p:nvSpPr>
          <p:cNvPr id="24" name="Text 22"/>
          <p:cNvSpPr/>
          <p:nvPr/>
        </p:nvSpPr>
        <p:spPr>
          <a:xfrm>
            <a:off x="6903720"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0.90</a:t>
            </a:r>
            <a:endParaRPr lang="en-US" sz="1350" dirty="0"/>
          </a:p>
        </p:txBody>
      </p:sp>
      <p:sp>
        <p:nvSpPr>
          <p:cNvPr id="25" name="Text 23"/>
          <p:cNvSpPr/>
          <p:nvPr/>
        </p:nvSpPr>
        <p:spPr>
          <a:xfrm>
            <a:off x="8558784"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0.37</a:t>
            </a:r>
            <a:endParaRPr lang="en-US" sz="1350" dirty="0"/>
          </a:p>
        </p:txBody>
      </p:sp>
      <p:sp>
        <p:nvSpPr>
          <p:cNvPr id="26" name="Text 24"/>
          <p:cNvSpPr/>
          <p:nvPr/>
        </p:nvSpPr>
        <p:spPr>
          <a:xfrm>
            <a:off x="10213848"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0.00005</a:t>
            </a:r>
            <a:endParaRPr lang="en-US" sz="1350" dirty="0"/>
          </a:p>
        </p:txBody>
      </p:sp>
      <p:sp>
        <p:nvSpPr>
          <p:cNvPr id="27" name="Shape 25"/>
          <p:cNvSpPr/>
          <p:nvPr/>
        </p:nvSpPr>
        <p:spPr>
          <a:xfrm>
            <a:off x="566928" y="3950208"/>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8" name="Text 26"/>
          <p:cNvSpPr/>
          <p:nvPr/>
        </p:nvSpPr>
        <p:spPr>
          <a:xfrm>
            <a:off x="749808" y="3950208"/>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Clearly worse</a:t>
            </a:r>
            <a:endParaRPr lang="en-US" sz="1400" dirty="0"/>
          </a:p>
        </p:txBody>
      </p:sp>
      <p:sp>
        <p:nvSpPr>
          <p:cNvPr id="29" name="Text 27"/>
          <p:cNvSpPr/>
          <p:nvPr/>
        </p:nvSpPr>
        <p:spPr>
          <a:xfrm>
            <a:off x="4005072" y="3950208"/>
            <a:ext cx="1005840" cy="713232"/>
          </a:xfrm>
          <a:prstGeom prst="rect">
            <a:avLst/>
          </a:prstGeom>
          <a:noFill/>
          <a:ln/>
        </p:spPr>
        <p:txBody>
          <a:bodyPr wrap="square" lIns="0" tIns="0" rIns="0" bIns="0" rtlCol="0" anchor="ctr"/>
          <a:lstStyle/>
          <a:p>
            <a:pPr marL="0" indent="0">
              <a:buNone/>
            </a:pPr>
            <a:r>
              <a:rPr lang="en-US" sz="1450" b="1" dirty="0">
                <a:solidFill>
                  <a:srgbClr val="B5563A"/>
                </a:solidFill>
                <a:latin typeface="Courier New" pitchFamily="34" charset="0"/>
                <a:ea typeface="Courier New" pitchFamily="34" charset="-122"/>
                <a:cs typeface="Courier New" pitchFamily="34" charset="-120"/>
              </a:rPr>
              <a:t>−5</a:t>
            </a:r>
            <a:endParaRPr lang="en-US" sz="1450" dirty="0"/>
          </a:p>
        </p:txBody>
      </p:sp>
      <p:sp>
        <p:nvSpPr>
          <p:cNvPr id="30" name="Text 28"/>
          <p:cNvSpPr/>
          <p:nvPr/>
        </p:nvSpPr>
        <p:spPr>
          <a:xfrm>
            <a:off x="5248656"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0.90</a:t>
            </a:r>
            <a:endParaRPr lang="en-US" sz="1350" dirty="0"/>
          </a:p>
        </p:txBody>
      </p:sp>
      <p:sp>
        <p:nvSpPr>
          <p:cNvPr id="31" name="Text 29"/>
          <p:cNvSpPr/>
          <p:nvPr/>
        </p:nvSpPr>
        <p:spPr>
          <a:xfrm>
            <a:off x="6903720"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0.61</a:t>
            </a:r>
            <a:endParaRPr lang="en-US" sz="1350" dirty="0"/>
          </a:p>
        </p:txBody>
      </p:sp>
      <p:sp>
        <p:nvSpPr>
          <p:cNvPr id="32" name="Text 30"/>
          <p:cNvSpPr/>
          <p:nvPr/>
        </p:nvSpPr>
        <p:spPr>
          <a:xfrm>
            <a:off x="8558784"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0.007</a:t>
            </a:r>
            <a:endParaRPr lang="en-US" sz="1350" dirty="0"/>
          </a:p>
        </p:txBody>
      </p:sp>
      <p:sp>
        <p:nvSpPr>
          <p:cNvPr id="33" name="Text 31"/>
          <p:cNvSpPr/>
          <p:nvPr/>
        </p:nvSpPr>
        <p:spPr>
          <a:xfrm>
            <a:off x="10213848"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 0</a:t>
            </a:r>
            <a:endParaRPr lang="en-US" sz="1350" dirty="0"/>
          </a:p>
        </p:txBody>
      </p:sp>
      <p:sp>
        <p:nvSpPr>
          <p:cNvPr id="34" name="Shape 32"/>
          <p:cNvSpPr/>
          <p:nvPr/>
        </p:nvSpPr>
        <p:spPr>
          <a:xfrm>
            <a:off x="566928" y="4736592"/>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35" name="Text 33"/>
          <p:cNvSpPr/>
          <p:nvPr/>
        </p:nvSpPr>
        <p:spPr>
          <a:xfrm>
            <a:off x="749808" y="4736592"/>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Much worse</a:t>
            </a:r>
            <a:endParaRPr lang="en-US" sz="1400" dirty="0"/>
          </a:p>
        </p:txBody>
      </p:sp>
      <p:sp>
        <p:nvSpPr>
          <p:cNvPr id="36" name="Text 34"/>
          <p:cNvSpPr/>
          <p:nvPr/>
        </p:nvSpPr>
        <p:spPr>
          <a:xfrm>
            <a:off x="4005072" y="4736592"/>
            <a:ext cx="1005840" cy="713232"/>
          </a:xfrm>
          <a:prstGeom prst="rect">
            <a:avLst/>
          </a:prstGeom>
          <a:noFill/>
          <a:ln/>
        </p:spPr>
        <p:txBody>
          <a:bodyPr wrap="square" lIns="0" tIns="0" rIns="0" bIns="0" rtlCol="0" anchor="ctr"/>
          <a:lstStyle/>
          <a:p>
            <a:pPr marL="0" indent="0">
              <a:buNone/>
            </a:pPr>
            <a:r>
              <a:rPr lang="en-US" sz="1450" b="1" dirty="0">
                <a:solidFill>
                  <a:srgbClr val="B5563A"/>
                </a:solidFill>
                <a:latin typeface="Courier New" pitchFamily="34" charset="0"/>
                <a:ea typeface="Courier New" pitchFamily="34" charset="-122"/>
                <a:cs typeface="Courier New" pitchFamily="34" charset="-120"/>
              </a:rPr>
              <a:t>−20</a:t>
            </a:r>
            <a:endParaRPr lang="en-US" sz="1450" dirty="0"/>
          </a:p>
        </p:txBody>
      </p:sp>
      <p:sp>
        <p:nvSpPr>
          <p:cNvPr id="37" name="Text 35"/>
          <p:cNvSpPr/>
          <p:nvPr/>
        </p:nvSpPr>
        <p:spPr>
          <a:xfrm>
            <a:off x="5248656"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0.67</a:t>
            </a:r>
            <a:endParaRPr lang="en-US" sz="1350" dirty="0"/>
          </a:p>
        </p:txBody>
      </p:sp>
      <p:sp>
        <p:nvSpPr>
          <p:cNvPr id="38" name="Text 36"/>
          <p:cNvSpPr/>
          <p:nvPr/>
        </p:nvSpPr>
        <p:spPr>
          <a:xfrm>
            <a:off x="6903720"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0.14</a:t>
            </a:r>
            <a:endParaRPr lang="en-US" sz="1350" dirty="0"/>
          </a:p>
        </p:txBody>
      </p:sp>
      <p:sp>
        <p:nvSpPr>
          <p:cNvPr id="39" name="Text 37"/>
          <p:cNvSpPr/>
          <p:nvPr/>
        </p:nvSpPr>
        <p:spPr>
          <a:xfrm>
            <a:off x="8558784"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2×10⁻⁹</a:t>
            </a:r>
            <a:endParaRPr lang="en-US" sz="1350" dirty="0"/>
          </a:p>
        </p:txBody>
      </p:sp>
      <p:sp>
        <p:nvSpPr>
          <p:cNvPr id="40" name="Text 38"/>
          <p:cNvSpPr/>
          <p:nvPr/>
        </p:nvSpPr>
        <p:spPr>
          <a:xfrm>
            <a:off x="10213848"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 0</a:t>
            </a:r>
            <a:endParaRPr lang="en-US" sz="1350" dirty="0"/>
          </a:p>
        </p:txBody>
      </p:sp>
      <p:sp>
        <p:nvSpPr>
          <p:cNvPr id="41" name="Text 39"/>
          <p:cNvSpPr/>
          <p:nvPr/>
        </p:nvSpPr>
        <p:spPr>
          <a:xfrm>
            <a:off x="566928" y="5623560"/>
            <a:ext cx="11057839" cy="54864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Read the table across a row: the same move goes from routine to impossible as the system cools. Read it down a column: at any fixed temperature, badness is punished exponentially. Both readings matter.</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A RUN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Annealing escaping a local maximum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37</a:t>
            </a:r>
            <a:endParaRPr lang="en-US" sz="900" dirty="0"/>
          </a:p>
        </p:txBody>
      </p:sp>
      <p:pic>
        <p:nvPicPr>
          <p:cNvPr id="6" name="Image 0" descr="img/sa_trace.png"/>
          <p:cNvPicPr>
            <a:picLocks noChangeAspect="1"/>
          </p:cNvPicPr>
          <p:nvPr/>
        </p:nvPicPr>
        <p:blipFill>
          <a:blip r:embed="rId3"/>
          <a:stretch>
            <a:fillRect/>
          </a:stretch>
        </p:blipFill>
        <p:spPr>
          <a:xfrm>
            <a:off x="1154119" y="1554480"/>
            <a:ext cx="9883456" cy="3035808"/>
          </a:xfrm>
          <a:prstGeom prst="rect">
            <a:avLst/>
          </a:prstGeom>
        </p:spPr>
      </p:pic>
      <p:sp>
        <p:nvSpPr>
          <p:cNvPr id="7" name="Text 4"/>
          <p:cNvSpPr/>
          <p:nvPr/>
        </p:nvSpPr>
        <p:spPr>
          <a:xfrm>
            <a:off x="566928" y="4773168"/>
            <a:ext cx="11057839" cy="137160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The run starts deliberately trapped, on the local maximum that defeated plain hill climbing on slide 20.</a:t>
            </a:r>
            <a:endParaRPr lang="en-US" sz="1400" dirty="0"/>
          </a:p>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Early, when T is high, the state wanders widely — including well downhill. That wandering is what carries it across the valley.</a:t>
            </a:r>
            <a:endParaRPr lang="en-US" sz="1400" dirty="0"/>
          </a:p>
          <a:p>
            <a:pPr marL="203200" indent="-203200">
              <a:lnSpc>
                <a:spcPts val="1800"/>
              </a:lnSpc>
              <a:spcAft>
                <a:spcPts val="1200"/>
              </a:spcAft>
              <a:buSzPct val="100000"/>
              <a:buChar char="•"/>
            </a:pPr>
            <a:r>
              <a:rPr lang="en-US" sz="1400" dirty="0">
                <a:solidFill>
                  <a:srgbClr val="B5563A"/>
                </a:solidFill>
                <a:latin typeface="Calibri" pitchFamily="34" charset="0"/>
                <a:ea typeface="Calibri" pitchFamily="34" charset="-122"/>
                <a:cs typeface="Calibri" pitchFamily="34" charset="-120"/>
              </a:rPr>
              <a:t>Late, when T is low, the trajectory tightens onto whichever peak it happens to be near and stays there. There is no guarantee that peak is the global one; there is only a good chance.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THEORY AND ITS FINE PRINT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convergence guarantee, honestly stated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66928" y="1517904"/>
            <a:ext cx="11057839" cy="1143000"/>
          </a:xfrm>
          <a:prstGeom prst="roundRect">
            <a:avLst>
              <a:gd name="adj" fmla="val 72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77824" y="1517904"/>
            <a:ext cx="10436047" cy="114300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If the schedule lowers T to 0 slowly enough, then a property of the Boltzmann distribution, e^(ΔE/T), is that all the probability becomes concentrated on the global maxima, which the algorithm will find with probability approaching 1.</a:t>
            </a:r>
            <a:endParaRPr lang="en-US" sz="1600" dirty="0"/>
          </a:p>
        </p:txBody>
      </p:sp>
      <p:sp>
        <p:nvSpPr>
          <p:cNvPr id="8" name="Text 6"/>
          <p:cNvSpPr/>
          <p:nvPr/>
        </p:nvSpPr>
        <p:spPr>
          <a:xfrm>
            <a:off x="566928" y="2834640"/>
            <a:ext cx="11057839" cy="365760"/>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Three reasons not to get excited</a:t>
            </a:r>
            <a:endParaRPr lang="en-US" sz="1700" dirty="0"/>
          </a:p>
        </p:txBody>
      </p:sp>
      <p:sp>
        <p:nvSpPr>
          <p:cNvPr id="9" name="Shape 7"/>
          <p:cNvSpPr/>
          <p:nvPr/>
        </p:nvSpPr>
        <p:spPr>
          <a:xfrm>
            <a:off x="566928" y="3291840"/>
            <a:ext cx="35204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768096" y="341985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“Slowly enough” may mean exponentially slowly</a:t>
            </a:r>
            <a:endParaRPr lang="en-US" sz="1350" dirty="0"/>
          </a:p>
        </p:txBody>
      </p:sp>
      <p:sp>
        <p:nvSpPr>
          <p:cNvPr id="11" name="Text 9"/>
          <p:cNvSpPr/>
          <p:nvPr/>
        </p:nvSpPr>
        <p:spPr>
          <a:xfrm>
            <a:off x="768096" y="3749040"/>
            <a:ext cx="3118104" cy="13441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The theorem is true and the schedule it requires can be slower than enumerating the entire state space. Practical schedules do not satisfy it.</a:t>
            </a:r>
            <a:endParaRPr lang="en-US" sz="1250" dirty="0"/>
          </a:p>
        </p:txBody>
      </p:sp>
      <p:sp>
        <p:nvSpPr>
          <p:cNvPr id="12" name="Shape 10"/>
          <p:cNvSpPr/>
          <p:nvPr/>
        </p:nvSpPr>
        <p:spPr>
          <a:xfrm>
            <a:off x="4343400" y="3291840"/>
            <a:ext cx="35204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4544568" y="341985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Escapes get exponentially unlikely</a:t>
            </a:r>
            <a:endParaRPr lang="en-US" sz="1350" dirty="0"/>
          </a:p>
        </p:txBody>
      </p:sp>
      <p:sp>
        <p:nvSpPr>
          <p:cNvPr id="14" name="Text 12"/>
          <p:cNvSpPr/>
          <p:nvPr/>
        </p:nvSpPr>
        <p:spPr>
          <a:xfrm>
            <a:off x="4544568" y="3749040"/>
            <a:ext cx="3118104" cy="13441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The more downhill steps you need to escape a local optimum, the less likely you are to ever make them all in a row.</a:t>
            </a:r>
            <a:endParaRPr lang="en-US" sz="1250" dirty="0"/>
          </a:p>
        </p:txBody>
      </p:sp>
      <p:sp>
        <p:nvSpPr>
          <p:cNvPr id="15" name="Shape 13"/>
          <p:cNvSpPr/>
          <p:nvPr/>
        </p:nvSpPr>
        <p:spPr>
          <a:xfrm>
            <a:off x="8119872" y="3291840"/>
            <a:ext cx="35204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8321040" y="341985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The baseline has the same guarantee</a:t>
            </a:r>
            <a:endParaRPr lang="en-US" sz="1350" dirty="0"/>
          </a:p>
        </p:txBody>
      </p:sp>
      <p:sp>
        <p:nvSpPr>
          <p:cNvPr id="17" name="Text 15"/>
          <p:cNvSpPr/>
          <p:nvPr/>
        </p:nvSpPr>
        <p:spPr>
          <a:xfrm>
            <a:off x="8321040" y="3749040"/>
            <a:ext cx="3118104" cy="13441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Random-restart hill climbing also converges to the optimal state with probability 1, and it is far simpler. The guarantee alone is not a reason to prefer annealing.</a:t>
            </a:r>
            <a:endParaRPr lang="en-US" sz="1250" dirty="0"/>
          </a:p>
        </p:txBody>
      </p:sp>
      <p:sp>
        <p:nvSpPr>
          <p:cNvPr id="18" name="Text 16"/>
          <p:cNvSpPr/>
          <p:nvPr/>
        </p:nvSpPr>
        <p:spPr>
          <a:xfrm>
            <a:off x="566928" y="5440680"/>
            <a:ext cx="11057839" cy="603504"/>
          </a:xfrm>
          <a:prstGeom prst="rect">
            <a:avLst/>
          </a:prstGeom>
          <a:noFill/>
          <a:ln/>
        </p:spPr>
        <p:txBody>
          <a:bodyPr wrap="square" lIns="0" tIns="0" rIns="0" bIns="0" rtlCol="0" anchor="t"/>
          <a:lstStyle/>
          <a:p>
            <a:pPr marL="0" indent="0">
              <a:lnSpc>
                <a:spcPts val="2100"/>
              </a:lnSpc>
              <a:buNone/>
            </a:pPr>
            <a:r>
              <a:rPr lang="en-US" sz="1500" b="1" i="1" dirty="0">
                <a:solidFill>
                  <a:srgbClr val="1E2A2F"/>
                </a:solidFill>
                <a:latin typeface="Calibri" pitchFamily="34" charset="0"/>
                <a:ea typeface="Calibri" pitchFamily="34" charset="-122"/>
                <a:cs typeface="Calibri" pitchFamily="34" charset="-120"/>
              </a:rPr>
              <a:t>So is this convergence an interesting guarantee? Not by itself. Annealing earns its place empirically — it works well on real problems — not because of the theorem.</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IN PRACTICE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Where simulated annealing is actually used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66928"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37360"/>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VLSI layout</a:t>
            </a:r>
            <a:endParaRPr lang="en-US" sz="1700" dirty="0"/>
          </a:p>
        </p:txBody>
      </p:sp>
      <p:sp>
        <p:nvSpPr>
          <p:cNvPr id="8" name="Text 6"/>
          <p:cNvSpPr/>
          <p:nvPr/>
        </p:nvSpPr>
        <p:spPr>
          <a:xfrm>
            <a:off x="822960" y="2139696"/>
            <a:ext cx="4837176" cy="160020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Simulated annealing was used to solve VLSI layout problems beginning in the 1980s, and it remains a workhorse for placement and routing.</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The fit is exact: astronomically many legal layouts, a cheap cost function, and no interest whatsoever in how the layout was found.</a:t>
            </a:r>
            <a:endParaRPr lang="en-US" sz="1400" dirty="0"/>
          </a:p>
        </p:txBody>
      </p:sp>
      <p:sp>
        <p:nvSpPr>
          <p:cNvPr id="9" name="Shape 7"/>
          <p:cNvSpPr/>
          <p:nvPr/>
        </p:nvSpPr>
        <p:spPr>
          <a:xfrm>
            <a:off x="6300216"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37360"/>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Scheduling and configuration</a:t>
            </a:r>
            <a:endParaRPr lang="en-US" sz="1700" dirty="0"/>
          </a:p>
        </p:txBody>
      </p:sp>
      <p:sp>
        <p:nvSpPr>
          <p:cNvPr id="11" name="Text 9"/>
          <p:cNvSpPr/>
          <p:nvPr/>
        </p:nvSpPr>
        <p:spPr>
          <a:xfrm>
            <a:off x="6556248" y="2139696"/>
            <a:ext cx="4837176" cy="160020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Applied widely to factory scheduling and other large-scale optimization tasks, and to any optimal-configuration problem where the constraints are messy enough that specialised solvers do not apply.</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Annealing is often the method of last resort — and last resorts get used.</a:t>
            </a:r>
            <a:endParaRPr lang="en-US" sz="1400" dirty="0"/>
          </a:p>
        </p:txBody>
      </p:sp>
      <p:sp>
        <p:nvSpPr>
          <p:cNvPr id="12" name="Shape 10"/>
          <p:cNvSpPr/>
          <p:nvPr/>
        </p:nvSpPr>
        <p:spPr>
          <a:xfrm>
            <a:off x="566928" y="4069080"/>
            <a:ext cx="11057839"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68096" y="4197096"/>
            <a:ext cx="10655503"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When to reach for it</a:t>
            </a:r>
            <a:endParaRPr lang="en-US" sz="1500" dirty="0"/>
          </a:p>
        </p:txBody>
      </p:sp>
      <p:sp>
        <p:nvSpPr>
          <p:cNvPr id="14" name="Text 12"/>
          <p:cNvSpPr/>
          <p:nvPr/>
        </p:nvSpPr>
        <p:spPr>
          <a:xfrm>
            <a:off x="768096" y="4526280"/>
            <a:ext cx="10655503" cy="111556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You have a huge configuration space, a cheap-to-evaluate cost function, no useful gradient, and no problem structure that a specialised solver could exploit. You can accept a good answer rather than a proven-optimal one, and you can afford the tuning time the schedule demands.</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If a specialised algorithm exists for your problem — a matching algorithm, a linear program, a SAT solver — use that instead. Annealing is general precisely because it assumes nothing, and assuming nothing is expensive.</a:t>
            </a:r>
            <a:endParaRPr lang="en-US" sz="13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80000"/>
          </a:blip>
          <a:stretch>
            <a:fillRect/>
          </a:stretch>
        </p:blipFill>
        <p:spPr>
          <a:xfrm>
            <a:off x="0" y="0"/>
            <a:ext cx="12191695" cy="6858000"/>
          </a:xfrm>
          <a:prstGeom prst="rect">
            <a:avLst/>
          </a:prstGeom>
        </p:spPr>
      </p:pic>
      <p:sp>
        <p:nvSpPr>
          <p:cNvPr id="3" name="Text 0"/>
          <p:cNvSpPr/>
          <p:nvPr/>
        </p:nvSpPr>
        <p:spPr>
          <a:xfrm>
            <a:off x="612648" y="2286000"/>
            <a:ext cx="73152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Break</a:t>
            </a:r>
            <a:endParaRPr lang="en-US" sz="6000" dirty="0"/>
          </a:p>
        </p:txBody>
      </p:sp>
      <p:sp>
        <p:nvSpPr>
          <p:cNvPr id="4" name="Text 1"/>
          <p:cNvSpPr/>
          <p:nvPr/>
        </p:nvSpPr>
        <p:spPr>
          <a:xfrm>
            <a:off x="612648" y="3520440"/>
            <a:ext cx="7315200" cy="457200"/>
          </a:xfrm>
          <a:prstGeom prst="rect">
            <a:avLst/>
          </a:prstGeom>
          <a:noFill/>
          <a:ln/>
        </p:spPr>
        <p:txBody>
          <a:bodyPr wrap="square" lIns="0" tIns="0" rIns="0" bIns="0" rtlCol="0" anchor="ctr"/>
          <a:lstStyle/>
          <a:p>
            <a:pPr marL="0" indent="0">
              <a:buNone/>
            </a:pPr>
            <a:r>
              <a:rPr lang="en-US" sz="2200" i="1" dirty="0">
                <a:solidFill>
                  <a:srgbClr val="D08B6F"/>
                </a:solidFill>
                <a:latin typeface="Cambria" pitchFamily="34" charset="0"/>
                <a:ea typeface="Cambria" pitchFamily="34" charset="-122"/>
                <a:cs typeface="Cambria" pitchFamily="34" charset="-120"/>
              </a:rPr>
              <a:t>Ten minutes.</a:t>
            </a:r>
            <a:endParaRPr lang="en-US" sz="2200" dirty="0"/>
          </a:p>
        </p:txBody>
      </p:sp>
      <p:sp>
        <p:nvSpPr>
          <p:cNvPr id="5" name="Text 2"/>
          <p:cNvSpPr/>
          <p:nvPr/>
        </p:nvSpPr>
        <p:spPr>
          <a:xfrm>
            <a:off x="612648" y="4206240"/>
            <a:ext cx="7863840" cy="1463040"/>
          </a:xfrm>
          <a:prstGeom prst="rect">
            <a:avLst/>
          </a:prstGeom>
          <a:noFill/>
          <a:ln/>
        </p:spPr>
        <p:txBody>
          <a:bodyPr wrap="square" lIns="0" tIns="0" rIns="0" bIns="0" rtlCol="0" anchor="t"/>
          <a:lstStyle/>
          <a:p>
            <a:pPr marL="0" indent="0">
              <a:lnSpc>
                <a:spcPts val="2300"/>
              </a:lnSpc>
              <a:buNone/>
            </a:pPr>
            <a:r>
              <a:rPr lang="en-US" sz="1500" dirty="0">
                <a:solidFill>
                  <a:srgbClr val="E4D9C3"/>
                </a:solidFill>
                <a:latin typeface="Calibri" pitchFamily="34" charset="0"/>
                <a:ea typeface="Calibri" pitchFamily="34" charset="-122"/>
                <a:cs typeface="Calibri" pitchFamily="34" charset="-120"/>
              </a:rPr>
              <a:t>So far: one current state, moved greedily (hill climbing) or stochastically with a cooling schedule (simulated annealing).</a:t>
            </a:r>
            <a:endParaRPr lang="en-US" sz="1500" dirty="0"/>
          </a:p>
          <a:p>
            <a:pPr marL="0" indent="0">
              <a:lnSpc>
                <a:spcPts val="2300"/>
              </a:lnSpc>
              <a:buNone/>
            </a:pPr>
            <a:endParaRPr lang="en-US" sz="1500" dirty="0"/>
          </a:p>
          <a:p>
            <a:pPr marL="0" indent="0">
              <a:lnSpc>
                <a:spcPts val="2300"/>
              </a:lnSpc>
              <a:buNone/>
            </a:pPr>
            <a:r>
              <a:rPr lang="en-US" sz="1500" dirty="0">
                <a:solidFill>
                  <a:srgbClr val="E4D9C3"/>
                </a:solidFill>
                <a:latin typeface="Calibri" pitchFamily="34" charset="0"/>
                <a:ea typeface="Calibri" pitchFamily="34" charset="-122"/>
                <a:cs typeface="Calibri" pitchFamily="34" charset="-120"/>
              </a:rPr>
              <a:t>After the break: what changes when you keep k states instead of one — and what happens when those k states are allowed to combine.</a:t>
            </a:r>
            <a:endParaRPr lang="en-US" sz="15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04</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Local Beam Search</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4.1.3.  Keeping one state in memory is an extreme reaction to a memory limit. Keep k instead — and then notice that the k searches, if you let them share, are no longer independent.</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THE ALGORITHM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Local beam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566928" y="1517904"/>
            <a:ext cx="6583680" cy="2322576"/>
          </a:xfrm>
          <a:prstGeom prst="roundRect">
            <a:avLst>
              <a:gd name="adj" fmla="val 3150"/>
            </a:avLst>
          </a:prstGeom>
          <a:solidFill>
            <a:srgbClr val="1E2A2F"/>
          </a:solidFill>
          <a:ln w="12700">
            <a:solidFill>
              <a:srgbClr val="2C3D45"/>
            </a:solidFill>
            <a:prstDash val="solid"/>
          </a:ln>
          <a:effectLst>
            <a:outerShdw blurRad="127000" dist="17780" dir="5400000" algn="bl" rotWithShape="0">
              <a:srgbClr val="8E9A9F">
                <a:alpha val="22000"/>
              </a:srgbClr>
            </a:outerShdw>
          </a:effectLst>
        </p:spPr>
        <p:txBody>
          <a:bodyPr/>
          <a:lstStyle/>
          <a:p>
            <a:endParaRPr lang="en-US"/>
          </a:p>
        </p:txBody>
      </p:sp>
      <p:sp>
        <p:nvSpPr>
          <p:cNvPr id="7" name="Text 5"/>
          <p:cNvSpPr/>
          <p:nvPr/>
        </p:nvSpPr>
        <p:spPr>
          <a:xfrm>
            <a:off x="822960" y="1719072"/>
            <a:ext cx="6126480" cy="1956816"/>
          </a:xfrm>
          <a:prstGeom prst="rect">
            <a:avLst/>
          </a:prstGeom>
          <a:noFill/>
          <a:ln/>
        </p:spPr>
        <p:txBody>
          <a:bodyPr wrap="square" lIns="0" tIns="0" rIns="0" bIns="0" rtlCol="0" anchor="t"/>
          <a:lstStyle/>
          <a:p>
            <a:pPr marL="0" indent="0">
              <a:lnSpc>
                <a:spcPts val="2000"/>
              </a:lnSpc>
              <a:buNone/>
            </a:pPr>
            <a:r>
              <a:rPr lang="en-US" sz="1320" b="1" dirty="0">
                <a:solidFill>
                  <a:srgbClr val="D08B6F"/>
                </a:solidFill>
                <a:latin typeface="Courier New" pitchFamily="34" charset="0"/>
                <a:ea typeface="Courier New" pitchFamily="34" charset="-122"/>
                <a:cs typeface="Courier New" pitchFamily="34" charset="-120"/>
              </a:rPr>
              <a:t>LOCAL-BEAM-SEARCH(problem, k)</a:t>
            </a:r>
            <a:endParaRPr lang="en-US" sz="1320" dirty="0"/>
          </a:p>
          <a:p>
            <a:pPr marL="0" indent="0">
              <a:lnSpc>
                <a:spcPts val="2000"/>
              </a:lnSpc>
              <a:buNone/>
            </a:pPr>
            <a:r>
              <a:rPr lang="en-US" sz="1320" dirty="0">
                <a:solidFill>
                  <a:srgbClr val="F5F1E8"/>
                </a:solidFill>
                <a:latin typeface="Courier New" pitchFamily="34" charset="0"/>
                <a:ea typeface="Courier New" pitchFamily="34" charset="-122"/>
                <a:cs typeface="Courier New" pitchFamily="34" charset="-120"/>
              </a:rPr>
              <a:t>    states ← k randomly generated states</a:t>
            </a:r>
            <a:endParaRPr lang="en-US" sz="1320" dirty="0"/>
          </a:p>
          <a:p>
            <a:pPr marL="0" indent="0">
              <a:lnSpc>
                <a:spcPts val="2000"/>
              </a:lnSpc>
              <a:buNone/>
            </a:pPr>
            <a:r>
              <a:rPr lang="en-US" sz="1320" dirty="0">
                <a:solidFill>
                  <a:srgbClr val="D08B6F"/>
                </a:solidFill>
                <a:latin typeface="Courier New" pitchFamily="34" charset="0"/>
                <a:ea typeface="Courier New" pitchFamily="34" charset="-122"/>
                <a:cs typeface="Courier New" pitchFamily="34" charset="-120"/>
              </a:rPr>
              <a:t>    loop do</a:t>
            </a:r>
            <a:endParaRPr lang="en-US" sz="1320" dirty="0"/>
          </a:p>
          <a:p>
            <a:pPr marL="0" indent="0">
              <a:lnSpc>
                <a:spcPts val="2000"/>
              </a:lnSpc>
              <a:buNone/>
            </a:pPr>
            <a:r>
              <a:rPr lang="en-US" sz="1320" dirty="0">
                <a:solidFill>
                  <a:srgbClr val="D08B6F"/>
                </a:solidFill>
                <a:latin typeface="Courier New" pitchFamily="34" charset="0"/>
                <a:ea typeface="Courier New" pitchFamily="34" charset="-122"/>
                <a:cs typeface="Courier New" pitchFamily="34" charset="-120"/>
              </a:rPr>
              <a:t>        if any state in states is a goal then return it</a:t>
            </a:r>
            <a:endParaRPr lang="en-US" sz="1320" dirty="0"/>
          </a:p>
          <a:p>
            <a:pPr marL="0" indent="0">
              <a:lnSpc>
                <a:spcPts val="2000"/>
              </a:lnSpc>
              <a:buNone/>
            </a:pPr>
            <a:r>
              <a:rPr lang="en-US" sz="1320" dirty="0">
                <a:solidFill>
                  <a:srgbClr val="F5F1E8"/>
                </a:solidFill>
                <a:latin typeface="Courier New" pitchFamily="34" charset="0"/>
                <a:ea typeface="Courier New" pitchFamily="34" charset="-122"/>
                <a:cs typeface="Courier New" pitchFamily="34" charset="-120"/>
              </a:rPr>
              <a:t>        succ ← all successors of all k states</a:t>
            </a:r>
            <a:endParaRPr lang="en-US" sz="1320" dirty="0"/>
          </a:p>
          <a:p>
            <a:pPr marL="0" indent="0">
              <a:lnSpc>
                <a:spcPts val="2000"/>
              </a:lnSpc>
              <a:buNone/>
            </a:pPr>
            <a:r>
              <a:rPr lang="en-US" sz="1320" dirty="0">
                <a:solidFill>
                  <a:srgbClr val="F5F1E8"/>
                </a:solidFill>
                <a:latin typeface="Courier New" pitchFamily="34" charset="0"/>
                <a:ea typeface="Courier New" pitchFamily="34" charset="-122"/>
                <a:cs typeface="Courier New" pitchFamily="34" charset="-120"/>
              </a:rPr>
              <a:t>        states ← the k best members of succ</a:t>
            </a:r>
            <a:endParaRPr lang="en-US" sz="1320" dirty="0"/>
          </a:p>
        </p:txBody>
      </p:sp>
      <p:sp>
        <p:nvSpPr>
          <p:cNvPr id="8" name="Shape 6"/>
          <p:cNvSpPr/>
          <p:nvPr/>
        </p:nvSpPr>
        <p:spPr>
          <a:xfrm>
            <a:off x="7479792" y="1517904"/>
            <a:ext cx="4160520" cy="4206240"/>
          </a:xfrm>
          <a:prstGeom prst="roundRect">
            <a:avLst>
              <a:gd name="adj" fmla="val 197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0" y="1645920"/>
            <a:ext cx="375818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What to notice</a:t>
            </a:r>
            <a:endParaRPr lang="en-US" sz="1500" dirty="0"/>
          </a:p>
        </p:txBody>
      </p:sp>
      <p:sp>
        <p:nvSpPr>
          <p:cNvPr id="10" name="Text 8"/>
          <p:cNvSpPr/>
          <p:nvPr/>
        </p:nvSpPr>
        <p:spPr>
          <a:xfrm>
            <a:off x="7680960" y="1975104"/>
            <a:ext cx="3758184" cy="358444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The successors of all k states go into ONE pool, and the k best are drawn from that pool.</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Nothing requires the survivors to be spread evenly across the k lineages. All k survivors may descend from a single one of the current states.</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That detail is the entire difference between beam search and running k searches side by side — and it is both the strength and the weakness of the algorithm.</a:t>
            </a:r>
            <a:endParaRPr lang="en-US" sz="1320" dirty="0"/>
          </a:p>
        </p:txBody>
      </p:sp>
      <p:sp>
        <p:nvSpPr>
          <p:cNvPr id="11" name="Text 9"/>
          <p:cNvSpPr/>
          <p:nvPr/>
        </p:nvSpPr>
        <p:spPr>
          <a:xfrm>
            <a:off x="566928" y="3703320"/>
            <a:ext cx="6583680" cy="640080"/>
          </a:xfrm>
          <a:prstGeom prst="rect">
            <a:avLst/>
          </a:prstGeom>
          <a:noFill/>
          <a:ln/>
        </p:spPr>
        <p:txBody>
          <a:bodyPr wrap="square" lIns="0" tIns="0" rIns="0" bIns="0" rtlCol="0" anchor="t"/>
          <a:lstStyle/>
          <a:p>
            <a:pPr marL="0" indent="0">
              <a:lnSpc>
                <a:spcPts val="2000"/>
              </a:lnSpc>
              <a:buNone/>
            </a:pPr>
            <a:r>
              <a:rPr lang="en-US" sz="1450" i="1" dirty="0">
                <a:solidFill>
                  <a:srgbClr val="B5563A"/>
                </a:solidFill>
                <a:latin typeface="Calibri" pitchFamily="34" charset="0"/>
                <a:ea typeface="Calibri" pitchFamily="34" charset="-122"/>
                <a:cs typeface="Calibri" pitchFamily="34" charset="-120"/>
              </a:rPr>
              <a:t>k = 1 recovers hill climbing. k = ∞ is close to breadth-first search on the value ordering. The interesting behaviour is at small k.</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THE KEY DISTINCTION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This is not k random restarts in parallel</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566928" y="1554480"/>
            <a:ext cx="5349240" cy="246888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k random restarts</a:t>
            </a:r>
            <a:endParaRPr lang="en-US" sz="1700" dirty="0"/>
          </a:p>
        </p:txBody>
      </p:sp>
      <p:sp>
        <p:nvSpPr>
          <p:cNvPr id="8" name="Text 6"/>
          <p:cNvSpPr/>
          <p:nvPr/>
        </p:nvSpPr>
        <p:spPr>
          <a:xfrm>
            <a:off x="822960"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Each search process runs independently of the others. A run that lands in a hopeless region of the space grinds on to its own local maximum regardless of what the other runs have discovered.</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All of the compute spent in that hopeless region is wasted.</a:t>
            </a:r>
            <a:endParaRPr lang="en-US" sz="1400" dirty="0"/>
          </a:p>
        </p:txBody>
      </p:sp>
      <p:sp>
        <p:nvSpPr>
          <p:cNvPr id="9" name="Shape 7"/>
          <p:cNvSpPr/>
          <p:nvPr/>
        </p:nvSpPr>
        <p:spPr>
          <a:xfrm>
            <a:off x="6300216" y="1554480"/>
            <a:ext cx="5349240" cy="2468880"/>
          </a:xfrm>
          <a:prstGeom prst="roundRect">
            <a:avLst>
              <a:gd name="adj" fmla="val 3333"/>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Local beam search</a:t>
            </a:r>
            <a:endParaRPr lang="en-US" sz="1700" dirty="0"/>
          </a:p>
        </p:txBody>
      </p:sp>
      <p:sp>
        <p:nvSpPr>
          <p:cNvPr id="11" name="Text 9"/>
          <p:cNvSpPr/>
          <p:nvPr/>
        </p:nvSpPr>
        <p:spPr>
          <a:xfrm>
            <a:off x="6556248"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Useful information is passed among the parallel search threads. The states that generate the best successors say to the others, “Come over here, the grass is greener!”</a:t>
            </a:r>
            <a:endParaRPr lang="en-US" sz="1400" dirty="0"/>
          </a:p>
          <a:p>
            <a:pPr marL="0" indent="0">
              <a:lnSpc>
                <a:spcPts val="1900"/>
              </a:lnSpc>
              <a:buNone/>
            </a:pPr>
            <a:endParaRPr lang="en-US" sz="1400" dirty="0"/>
          </a:p>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The algorithm quickly abandons unfruitful searches and moves its resources to where the most progress is being made.</a:t>
            </a:r>
            <a:endParaRPr lang="en-US" sz="1400" dirty="0"/>
          </a:p>
        </p:txBody>
      </p:sp>
      <p:sp>
        <p:nvSpPr>
          <p:cNvPr id="12" name="Shape 10"/>
          <p:cNvSpPr/>
          <p:nvPr/>
        </p:nvSpPr>
        <p:spPr>
          <a:xfrm>
            <a:off x="566928" y="4251960"/>
            <a:ext cx="11057839" cy="1554480"/>
          </a:xfrm>
          <a:prstGeom prst="roundRect">
            <a:avLst>
              <a:gd name="adj" fmla="val 529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68096" y="4379976"/>
            <a:ext cx="10655503"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Where the communication actually happens</a:t>
            </a:r>
            <a:endParaRPr lang="en-US" sz="1500" dirty="0"/>
          </a:p>
        </p:txBody>
      </p:sp>
      <p:sp>
        <p:nvSpPr>
          <p:cNvPr id="14" name="Text 12"/>
          <p:cNvSpPr/>
          <p:nvPr/>
        </p:nvSpPr>
        <p:spPr>
          <a:xfrm>
            <a:off x="768096" y="4709160"/>
            <a:ext cx="10655503" cy="93268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There is no message passing in the pseudocode. The communication is a side effect of the shared pool: a lineage that produces poor successors simply loses its slots to a lineage that produces good ones. Selection over a common pool IS the communication channel.</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Hold that thought — it is precisely the mechanism that evolutionary algorithms generalise in the next section.</a:t>
            </a:r>
            <a:endParaRPr lang="en-US" sz="13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FAILURE MODE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k states collapse into one region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44</a:t>
            </a:r>
            <a:endParaRPr lang="en-US" sz="900" dirty="0"/>
          </a:p>
        </p:txBody>
      </p:sp>
      <p:pic>
        <p:nvPicPr>
          <p:cNvPr id="6" name="Image 0" descr="img/beam.png"/>
          <p:cNvPicPr>
            <a:picLocks noChangeAspect="1"/>
          </p:cNvPicPr>
          <p:nvPr/>
        </p:nvPicPr>
        <p:blipFill>
          <a:blip r:embed="rId3"/>
          <a:stretch>
            <a:fillRect/>
          </a:stretch>
        </p:blipFill>
        <p:spPr>
          <a:xfrm>
            <a:off x="658368" y="1554480"/>
            <a:ext cx="10881360" cy="4315968"/>
          </a:xfrm>
          <a:prstGeom prst="rect">
            <a:avLst/>
          </a:prstGeom>
        </p:spPr>
      </p:pic>
      <p:sp>
        <p:nvSpPr>
          <p:cNvPr id="7" name="Text 4"/>
          <p:cNvSpPr/>
          <p:nvPr/>
        </p:nvSpPr>
        <p:spPr>
          <a:xfrm>
            <a:off x="566928" y="5212080"/>
            <a:ext cx="11057839" cy="822960"/>
          </a:xfrm>
          <a:prstGeom prst="rect">
            <a:avLst/>
          </a:prstGeom>
          <a:noFill/>
          <a:ln/>
        </p:spPr>
        <p:txBody>
          <a:bodyPr wrap="square" lIns="0" tIns="0" rIns="0" bIns="0" rtlCol="0" anchor="t"/>
          <a:lstStyle/>
          <a:p>
            <a:pPr marL="0" indent="0">
              <a:lnSpc>
                <a:spcPts val="2100"/>
              </a:lnSpc>
              <a:buNone/>
            </a:pPr>
            <a:r>
              <a:rPr lang="en-US" sz="1500" b="1" dirty="0">
                <a:solidFill>
                  <a:srgbClr val="B5563A"/>
                </a:solidFill>
                <a:latin typeface="Calibri" pitchFamily="34" charset="0"/>
                <a:ea typeface="Calibri" pitchFamily="34" charset="-122"/>
                <a:cs typeface="Calibri" pitchFamily="34" charset="-120"/>
              </a:rPr>
              <a:t>Local beam search can suffer from a lack of diversity among the k states: they become clustered in a small region of the state space, making the search little more than a k-times-slower version of hill climbing.</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THE FIX</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Stochastic beam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45</a:t>
            </a:r>
            <a:endParaRPr lang="en-US" sz="900" dirty="0"/>
          </a:p>
        </p:txBody>
      </p:sp>
      <p:sp>
        <p:nvSpPr>
          <p:cNvPr id="6" name="Text 4"/>
          <p:cNvSpPr/>
          <p:nvPr/>
        </p:nvSpPr>
        <p:spPr>
          <a:xfrm>
            <a:off x="566928" y="1517904"/>
            <a:ext cx="11057839" cy="17373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Instead of choosing the top k successors, choose successors with probability proportional to the successor’s value.</a:t>
            </a:r>
            <a:endParaRPr lang="en-US" sz="1550" dirty="0"/>
          </a:p>
          <a:p>
            <a:pPr marL="406400" lvl="1" indent="-203200">
              <a:lnSpc>
                <a:spcPts val="1800"/>
              </a:lnSpc>
              <a:spcAft>
                <a:spcPts val="500"/>
              </a:spcAft>
              <a:buSzPct val="100000"/>
              <a:buChar char="•"/>
            </a:pPr>
            <a:r>
              <a:rPr lang="en-US" sz="1350" dirty="0">
                <a:solidFill>
                  <a:srgbClr val="33454E"/>
                </a:solidFill>
                <a:latin typeface="Calibri" pitchFamily="34" charset="0"/>
                <a:ea typeface="Calibri" pitchFamily="34" charset="-122"/>
                <a:cs typeface="Calibri" pitchFamily="34" charset="-120"/>
              </a:rPr>
              <a:t>A merely-good successor in an unexplored region now has a real chance of surviving, so the population stays spread out.</a:t>
            </a:r>
            <a:endParaRPr lang="en-US" sz="1550" dirty="0"/>
          </a:p>
          <a:p>
            <a:pPr marL="203200" indent="-203200">
              <a:lnSpc>
                <a:spcPts val="2000"/>
              </a:lnSpc>
              <a:spcAft>
                <a:spcPts val="1400"/>
              </a:spcAft>
              <a:buSzPct val="100000"/>
              <a:buChar char="•"/>
            </a:pPr>
            <a:r>
              <a:rPr lang="en-US" sz="1550" dirty="0">
                <a:solidFill>
                  <a:srgbClr val="1B2226"/>
                </a:solidFill>
                <a:latin typeface="Calibri" pitchFamily="34" charset="0"/>
                <a:ea typeface="Calibri" pitchFamily="34" charset="-122"/>
                <a:cs typeface="Calibri" pitchFamily="34" charset="-120"/>
              </a:rPr>
              <a:t>This is analogous to stochastic hill climbing, and it trades a little greed for a lot of diversity.</a:t>
            </a:r>
            <a:endParaRPr lang="en-US" sz="1550" dirty="0"/>
          </a:p>
        </p:txBody>
      </p:sp>
      <p:sp>
        <p:nvSpPr>
          <p:cNvPr id="7" name="Shape 5"/>
          <p:cNvSpPr/>
          <p:nvPr/>
        </p:nvSpPr>
        <p:spPr>
          <a:xfrm>
            <a:off x="566928" y="3200400"/>
            <a:ext cx="11057839" cy="2606040"/>
          </a:xfrm>
          <a:prstGeom prst="roundRect">
            <a:avLst>
              <a:gd name="adj" fmla="val 315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77824" y="3383280"/>
            <a:ext cx="10436047" cy="365760"/>
          </a:xfrm>
          <a:prstGeom prst="rect">
            <a:avLst/>
          </a:prstGeom>
          <a:noFill/>
          <a:ln/>
        </p:spPr>
        <p:txBody>
          <a:bodyPr wrap="square" lIns="0" tIns="0" rIns="0" bIns="0" rtlCol="0" anchor="ctr"/>
          <a:lstStyle/>
          <a:p>
            <a:pPr marL="0" indent="0">
              <a:buNone/>
            </a:pPr>
            <a:r>
              <a:rPr lang="en-US" sz="1700" b="1" dirty="0">
                <a:solidFill>
                  <a:srgbClr val="D08B6F"/>
                </a:solidFill>
                <a:latin typeface="Cambria" pitchFamily="34" charset="0"/>
                <a:ea typeface="Cambria" pitchFamily="34" charset="-122"/>
                <a:cs typeface="Cambria" pitchFamily="34" charset="-120"/>
              </a:rPr>
              <a:t>Read that sentence again</a:t>
            </a:r>
            <a:endParaRPr lang="en-US" sz="1700" dirty="0"/>
          </a:p>
        </p:txBody>
      </p:sp>
      <p:sp>
        <p:nvSpPr>
          <p:cNvPr id="9" name="Text 7"/>
          <p:cNvSpPr/>
          <p:nvPr/>
        </p:nvSpPr>
        <p:spPr>
          <a:xfrm>
            <a:off x="877824" y="3794760"/>
            <a:ext cx="10436047" cy="457200"/>
          </a:xfrm>
          <a:prstGeom prst="rect">
            <a:avLst/>
          </a:prstGeom>
          <a:noFill/>
          <a:ln/>
        </p:spPr>
        <p:txBody>
          <a:bodyPr wrap="square" lIns="0" tIns="0" rIns="0" bIns="0"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A population of k individuals. Successors generated from them. Survival with probability proportional to fitness. Repeat.</a:t>
            </a:r>
            <a:endParaRPr lang="en-US" sz="1700" dirty="0"/>
          </a:p>
        </p:txBody>
      </p:sp>
      <p:sp>
        <p:nvSpPr>
          <p:cNvPr id="10" name="Text 8"/>
          <p:cNvSpPr/>
          <p:nvPr/>
        </p:nvSpPr>
        <p:spPr>
          <a:xfrm>
            <a:off x="877824" y="4370832"/>
            <a:ext cx="10436047" cy="1280160"/>
          </a:xfrm>
          <a:prstGeom prst="rect">
            <a:avLst/>
          </a:prstGeom>
          <a:noFill/>
          <a:ln/>
        </p:spPr>
        <p:txBody>
          <a:bodyPr wrap="square" lIns="0" tIns="0" rIns="0" bIns="0" rtlCol="0" anchor="t"/>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That is natural selection. Stochastic beam search is asexual evolution: each individual produces offspring on its own, and fitness decides who is represented in the next generation. Add one ingredient — offspring produced from two parents rather than one — and stochastic beam search becomes a genetic algorithm.</a:t>
            </a:r>
            <a:endParaRPr lang="en-US" sz="1500" dirty="0"/>
          </a:p>
          <a:p>
            <a:pPr marL="0" indent="0">
              <a:lnSpc>
                <a:spcPts val="2100"/>
              </a:lnSpc>
              <a:buNone/>
            </a:pPr>
            <a:endParaRPr lang="en-US" sz="1500" dirty="0"/>
          </a:p>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Section 4.1.4 is that one ingredient.</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CONSOLIDATION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Four algorithms, four positions on the same trade-off</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731520" y="1572768"/>
            <a:ext cx="242316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Algorithm</a:t>
            </a:r>
            <a:endParaRPr lang="en-US" sz="1250" dirty="0"/>
          </a:p>
        </p:txBody>
      </p:sp>
      <p:sp>
        <p:nvSpPr>
          <p:cNvPr id="7" name="Text 5"/>
          <p:cNvSpPr/>
          <p:nvPr/>
        </p:nvSpPr>
        <p:spPr>
          <a:xfrm>
            <a:off x="3392424" y="1572768"/>
            <a:ext cx="123444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States held</a:t>
            </a:r>
            <a:endParaRPr lang="en-US" sz="1250" dirty="0"/>
          </a:p>
        </p:txBody>
      </p:sp>
      <p:sp>
        <p:nvSpPr>
          <p:cNvPr id="8" name="Text 6"/>
          <p:cNvSpPr/>
          <p:nvPr/>
        </p:nvSpPr>
        <p:spPr>
          <a:xfrm>
            <a:off x="4864608" y="1572768"/>
            <a:ext cx="292608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Escapes local maxima by</a:t>
            </a:r>
            <a:endParaRPr lang="en-US" sz="1250" dirty="0"/>
          </a:p>
        </p:txBody>
      </p:sp>
      <p:sp>
        <p:nvSpPr>
          <p:cNvPr id="9" name="Text 7"/>
          <p:cNvSpPr/>
          <p:nvPr/>
        </p:nvSpPr>
        <p:spPr>
          <a:xfrm>
            <a:off x="8028432" y="1572768"/>
            <a:ext cx="141732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Diversity</a:t>
            </a:r>
            <a:endParaRPr lang="en-US" sz="1250" dirty="0"/>
          </a:p>
        </p:txBody>
      </p:sp>
      <p:sp>
        <p:nvSpPr>
          <p:cNvPr id="10" name="Text 8"/>
          <p:cNvSpPr/>
          <p:nvPr/>
        </p:nvSpPr>
        <p:spPr>
          <a:xfrm>
            <a:off x="9683496" y="1572768"/>
            <a:ext cx="214884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Main weakness</a:t>
            </a:r>
            <a:endParaRPr lang="en-US" sz="1250" dirty="0"/>
          </a:p>
        </p:txBody>
      </p:sp>
      <p:sp>
        <p:nvSpPr>
          <p:cNvPr id="11" name="Shape 9"/>
          <p:cNvSpPr/>
          <p:nvPr/>
        </p:nvSpPr>
        <p:spPr>
          <a:xfrm>
            <a:off x="566928" y="1965960"/>
            <a:ext cx="11057839" cy="640080"/>
          </a:xfrm>
          <a:prstGeom prst="roundRect">
            <a:avLst>
              <a:gd name="adj" fmla="val 12857"/>
            </a:avLst>
          </a:prstGeom>
          <a:solidFill>
            <a:srgbClr val="F5F1E8"/>
          </a:solidFill>
          <a:ln w="12700">
            <a:solidFill>
              <a:srgbClr val="E2DED4"/>
            </a:solidFill>
            <a:prstDash val="solid"/>
          </a:ln>
        </p:spPr>
        <p:txBody>
          <a:bodyPr/>
          <a:lstStyle/>
          <a:p>
            <a:endParaRPr lang="en-US"/>
          </a:p>
        </p:txBody>
      </p:sp>
      <p:sp>
        <p:nvSpPr>
          <p:cNvPr id="12" name="Text 10"/>
          <p:cNvSpPr/>
          <p:nvPr/>
        </p:nvSpPr>
        <p:spPr>
          <a:xfrm>
            <a:off x="731520" y="1965960"/>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Steepest-ascent hill climbing</a:t>
            </a:r>
            <a:endParaRPr lang="en-US" sz="1250" dirty="0"/>
          </a:p>
        </p:txBody>
      </p:sp>
      <p:sp>
        <p:nvSpPr>
          <p:cNvPr id="13" name="Text 11"/>
          <p:cNvSpPr/>
          <p:nvPr/>
        </p:nvSpPr>
        <p:spPr>
          <a:xfrm>
            <a:off x="3392424" y="1965960"/>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14" name="Text 12"/>
          <p:cNvSpPr/>
          <p:nvPr/>
        </p:nvSpPr>
        <p:spPr>
          <a:xfrm>
            <a:off x="4864608" y="1965960"/>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nothing — it does not</a:t>
            </a:r>
            <a:endParaRPr lang="en-US" sz="1200" dirty="0"/>
          </a:p>
        </p:txBody>
      </p:sp>
      <p:sp>
        <p:nvSpPr>
          <p:cNvPr id="15" name="Text 13"/>
          <p:cNvSpPr/>
          <p:nvPr/>
        </p:nvSpPr>
        <p:spPr>
          <a:xfrm>
            <a:off x="8028432" y="1965960"/>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none</a:t>
            </a:r>
            <a:endParaRPr lang="en-US" sz="1200" dirty="0"/>
          </a:p>
        </p:txBody>
      </p:sp>
      <p:sp>
        <p:nvSpPr>
          <p:cNvPr id="16" name="Text 14"/>
          <p:cNvSpPr/>
          <p:nvPr/>
        </p:nvSpPr>
        <p:spPr>
          <a:xfrm>
            <a:off x="9683496" y="1965960"/>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stops at the first local maximum</a:t>
            </a:r>
            <a:endParaRPr lang="en-US" sz="1200" dirty="0"/>
          </a:p>
        </p:txBody>
      </p:sp>
      <p:sp>
        <p:nvSpPr>
          <p:cNvPr id="17" name="Shape 15"/>
          <p:cNvSpPr/>
          <p:nvPr/>
        </p:nvSpPr>
        <p:spPr>
          <a:xfrm>
            <a:off x="566927" y="2660904"/>
            <a:ext cx="11057839" cy="640080"/>
          </a:xfrm>
          <a:prstGeom prst="roundRect">
            <a:avLst>
              <a:gd name="adj" fmla="val 12857"/>
            </a:avLst>
          </a:prstGeom>
          <a:solidFill>
            <a:srgbClr val="FFFFFF"/>
          </a:solidFill>
          <a:ln w="12700">
            <a:solidFill>
              <a:srgbClr val="E2DED4"/>
            </a:solidFill>
            <a:prstDash val="solid"/>
          </a:ln>
        </p:spPr>
        <p:txBody>
          <a:bodyPr/>
          <a:lstStyle/>
          <a:p>
            <a:endParaRPr lang="en-US"/>
          </a:p>
        </p:txBody>
      </p:sp>
      <p:sp>
        <p:nvSpPr>
          <p:cNvPr id="18" name="Text 16"/>
          <p:cNvSpPr/>
          <p:nvPr/>
        </p:nvSpPr>
        <p:spPr>
          <a:xfrm>
            <a:off x="731520" y="2660904"/>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Hill climbing + sideways moves</a:t>
            </a:r>
            <a:endParaRPr lang="en-US" sz="1250" dirty="0"/>
          </a:p>
        </p:txBody>
      </p:sp>
      <p:sp>
        <p:nvSpPr>
          <p:cNvPr id="19" name="Text 17"/>
          <p:cNvSpPr/>
          <p:nvPr/>
        </p:nvSpPr>
        <p:spPr>
          <a:xfrm>
            <a:off x="3392424" y="2660904"/>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20" name="Text 18"/>
          <p:cNvSpPr/>
          <p:nvPr/>
        </p:nvSpPr>
        <p:spPr>
          <a:xfrm>
            <a:off x="4864608" y="2660904"/>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crossing plateaus</a:t>
            </a:r>
            <a:endParaRPr lang="en-US" sz="1200" dirty="0"/>
          </a:p>
        </p:txBody>
      </p:sp>
      <p:sp>
        <p:nvSpPr>
          <p:cNvPr id="21" name="Text 19"/>
          <p:cNvSpPr/>
          <p:nvPr/>
        </p:nvSpPr>
        <p:spPr>
          <a:xfrm>
            <a:off x="8028432" y="2660904"/>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none</a:t>
            </a:r>
            <a:endParaRPr lang="en-US" sz="1200" dirty="0"/>
          </a:p>
        </p:txBody>
      </p:sp>
      <p:sp>
        <p:nvSpPr>
          <p:cNvPr id="22" name="Text 20"/>
          <p:cNvSpPr/>
          <p:nvPr/>
        </p:nvSpPr>
        <p:spPr>
          <a:xfrm>
            <a:off x="9683496" y="2660904"/>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loops on flat local maxima without a cap</a:t>
            </a:r>
            <a:endParaRPr lang="en-US" sz="1200" dirty="0"/>
          </a:p>
        </p:txBody>
      </p:sp>
      <p:sp>
        <p:nvSpPr>
          <p:cNvPr id="23" name="Shape 21"/>
          <p:cNvSpPr/>
          <p:nvPr/>
        </p:nvSpPr>
        <p:spPr>
          <a:xfrm>
            <a:off x="566928" y="3355848"/>
            <a:ext cx="11057839" cy="640080"/>
          </a:xfrm>
          <a:prstGeom prst="roundRect">
            <a:avLst>
              <a:gd name="adj" fmla="val 12857"/>
            </a:avLst>
          </a:prstGeom>
          <a:solidFill>
            <a:srgbClr val="F5F1E8"/>
          </a:solidFill>
          <a:ln w="12700">
            <a:solidFill>
              <a:srgbClr val="E2DED4"/>
            </a:solidFill>
            <a:prstDash val="solid"/>
          </a:ln>
        </p:spPr>
        <p:txBody>
          <a:bodyPr/>
          <a:lstStyle/>
          <a:p>
            <a:endParaRPr lang="en-US"/>
          </a:p>
        </p:txBody>
      </p:sp>
      <p:sp>
        <p:nvSpPr>
          <p:cNvPr id="24" name="Text 22"/>
          <p:cNvSpPr/>
          <p:nvPr/>
        </p:nvSpPr>
        <p:spPr>
          <a:xfrm>
            <a:off x="731520" y="3355848"/>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Random-restart hill climbing</a:t>
            </a:r>
            <a:endParaRPr lang="en-US" sz="1250" dirty="0"/>
          </a:p>
        </p:txBody>
      </p:sp>
      <p:sp>
        <p:nvSpPr>
          <p:cNvPr id="25" name="Text 23"/>
          <p:cNvSpPr/>
          <p:nvPr/>
        </p:nvSpPr>
        <p:spPr>
          <a:xfrm>
            <a:off x="3392424" y="3355848"/>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26" name="Text 24"/>
          <p:cNvSpPr/>
          <p:nvPr/>
        </p:nvSpPr>
        <p:spPr>
          <a:xfrm>
            <a:off x="4864608" y="3355848"/>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starting over somewhere new</a:t>
            </a:r>
            <a:endParaRPr lang="en-US" sz="1200" dirty="0"/>
          </a:p>
        </p:txBody>
      </p:sp>
      <p:sp>
        <p:nvSpPr>
          <p:cNvPr id="27" name="Text 25"/>
          <p:cNvSpPr/>
          <p:nvPr/>
        </p:nvSpPr>
        <p:spPr>
          <a:xfrm>
            <a:off x="8028432" y="3355848"/>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across runs, not within</a:t>
            </a:r>
            <a:endParaRPr lang="en-US" sz="1200" dirty="0"/>
          </a:p>
        </p:txBody>
      </p:sp>
      <p:sp>
        <p:nvSpPr>
          <p:cNvPr id="28" name="Text 26"/>
          <p:cNvSpPr/>
          <p:nvPr/>
        </p:nvSpPr>
        <p:spPr>
          <a:xfrm>
            <a:off x="9683496" y="3355848"/>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discards everything it learned each restart</a:t>
            </a:r>
            <a:endParaRPr lang="en-US" sz="1200" dirty="0"/>
          </a:p>
        </p:txBody>
      </p:sp>
      <p:sp>
        <p:nvSpPr>
          <p:cNvPr id="29" name="Shape 27"/>
          <p:cNvSpPr/>
          <p:nvPr/>
        </p:nvSpPr>
        <p:spPr>
          <a:xfrm>
            <a:off x="566928" y="4050792"/>
            <a:ext cx="11057839" cy="640080"/>
          </a:xfrm>
          <a:prstGeom prst="roundRect">
            <a:avLst>
              <a:gd name="adj" fmla="val 12857"/>
            </a:avLst>
          </a:prstGeom>
          <a:solidFill>
            <a:srgbClr val="FFFFFF"/>
          </a:solidFill>
          <a:ln w="12700">
            <a:solidFill>
              <a:srgbClr val="E2DED4"/>
            </a:solidFill>
            <a:prstDash val="solid"/>
          </a:ln>
        </p:spPr>
        <p:txBody>
          <a:bodyPr/>
          <a:lstStyle/>
          <a:p>
            <a:endParaRPr lang="en-US"/>
          </a:p>
        </p:txBody>
      </p:sp>
      <p:sp>
        <p:nvSpPr>
          <p:cNvPr id="30" name="Text 28"/>
          <p:cNvSpPr/>
          <p:nvPr/>
        </p:nvSpPr>
        <p:spPr>
          <a:xfrm>
            <a:off x="731520" y="4050792"/>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Simulated annealing</a:t>
            </a:r>
            <a:endParaRPr lang="en-US" sz="1250" dirty="0"/>
          </a:p>
        </p:txBody>
      </p:sp>
      <p:sp>
        <p:nvSpPr>
          <p:cNvPr id="31" name="Text 29"/>
          <p:cNvSpPr/>
          <p:nvPr/>
        </p:nvSpPr>
        <p:spPr>
          <a:xfrm>
            <a:off x="3392424" y="4050792"/>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32" name="Text 30"/>
          <p:cNvSpPr/>
          <p:nvPr/>
        </p:nvSpPr>
        <p:spPr>
          <a:xfrm>
            <a:off x="4864608" y="4050792"/>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accepting bad moves early</a:t>
            </a:r>
            <a:endParaRPr lang="en-US" sz="1200" dirty="0"/>
          </a:p>
        </p:txBody>
      </p:sp>
      <p:sp>
        <p:nvSpPr>
          <p:cNvPr id="33" name="Text 31"/>
          <p:cNvSpPr/>
          <p:nvPr/>
        </p:nvSpPr>
        <p:spPr>
          <a:xfrm>
            <a:off x="8028432" y="4050792"/>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over time, not space</a:t>
            </a:r>
            <a:endParaRPr lang="en-US" sz="1200" dirty="0"/>
          </a:p>
        </p:txBody>
      </p:sp>
      <p:sp>
        <p:nvSpPr>
          <p:cNvPr id="34" name="Text 32"/>
          <p:cNvSpPr/>
          <p:nvPr/>
        </p:nvSpPr>
        <p:spPr>
          <a:xfrm>
            <a:off x="9683496" y="4050792"/>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sensitive to the cooling schedule</a:t>
            </a:r>
            <a:endParaRPr lang="en-US" sz="1200" dirty="0"/>
          </a:p>
        </p:txBody>
      </p:sp>
      <p:sp>
        <p:nvSpPr>
          <p:cNvPr id="35" name="Shape 33"/>
          <p:cNvSpPr/>
          <p:nvPr/>
        </p:nvSpPr>
        <p:spPr>
          <a:xfrm>
            <a:off x="566928" y="4745736"/>
            <a:ext cx="11057839" cy="640080"/>
          </a:xfrm>
          <a:prstGeom prst="roundRect">
            <a:avLst>
              <a:gd name="adj" fmla="val 12857"/>
            </a:avLst>
          </a:prstGeom>
          <a:solidFill>
            <a:srgbClr val="F5F1E8"/>
          </a:solidFill>
          <a:ln w="12700">
            <a:solidFill>
              <a:srgbClr val="E2DED4"/>
            </a:solidFill>
            <a:prstDash val="solid"/>
          </a:ln>
        </p:spPr>
        <p:txBody>
          <a:bodyPr/>
          <a:lstStyle/>
          <a:p>
            <a:endParaRPr lang="en-US"/>
          </a:p>
        </p:txBody>
      </p:sp>
      <p:sp>
        <p:nvSpPr>
          <p:cNvPr id="36" name="Text 34"/>
          <p:cNvSpPr/>
          <p:nvPr/>
        </p:nvSpPr>
        <p:spPr>
          <a:xfrm>
            <a:off x="731520" y="4745736"/>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Local beam search</a:t>
            </a:r>
            <a:endParaRPr lang="en-US" sz="1250" dirty="0"/>
          </a:p>
        </p:txBody>
      </p:sp>
      <p:sp>
        <p:nvSpPr>
          <p:cNvPr id="37" name="Text 35"/>
          <p:cNvSpPr/>
          <p:nvPr/>
        </p:nvSpPr>
        <p:spPr>
          <a:xfrm>
            <a:off x="3392424" y="4745736"/>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k</a:t>
            </a:r>
            <a:endParaRPr lang="en-US" sz="1250" dirty="0"/>
          </a:p>
        </p:txBody>
      </p:sp>
      <p:sp>
        <p:nvSpPr>
          <p:cNvPr id="38" name="Text 36"/>
          <p:cNvSpPr/>
          <p:nvPr/>
        </p:nvSpPr>
        <p:spPr>
          <a:xfrm>
            <a:off x="4864608" y="4745736"/>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having started in k places</a:t>
            </a:r>
            <a:endParaRPr lang="en-US" sz="1200" dirty="0"/>
          </a:p>
        </p:txBody>
      </p:sp>
      <p:sp>
        <p:nvSpPr>
          <p:cNvPr id="39" name="Text 37"/>
          <p:cNvSpPr/>
          <p:nvPr/>
        </p:nvSpPr>
        <p:spPr>
          <a:xfrm>
            <a:off x="8028432" y="4745736"/>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within a generation</a:t>
            </a:r>
            <a:endParaRPr lang="en-US" sz="1200" dirty="0"/>
          </a:p>
        </p:txBody>
      </p:sp>
      <p:sp>
        <p:nvSpPr>
          <p:cNvPr id="40" name="Text 38"/>
          <p:cNvSpPr/>
          <p:nvPr/>
        </p:nvSpPr>
        <p:spPr>
          <a:xfrm>
            <a:off x="9683496" y="4745736"/>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the k states collapse together</a:t>
            </a:r>
            <a:endParaRPr lang="en-US" sz="1200" dirty="0"/>
          </a:p>
        </p:txBody>
      </p:sp>
      <p:sp>
        <p:nvSpPr>
          <p:cNvPr id="41" name="Shape 39"/>
          <p:cNvSpPr/>
          <p:nvPr/>
        </p:nvSpPr>
        <p:spPr>
          <a:xfrm>
            <a:off x="566928" y="5440680"/>
            <a:ext cx="11057839" cy="640080"/>
          </a:xfrm>
          <a:prstGeom prst="roundRect">
            <a:avLst>
              <a:gd name="adj" fmla="val 12857"/>
            </a:avLst>
          </a:prstGeom>
          <a:solidFill>
            <a:srgbClr val="FFFFFF"/>
          </a:solidFill>
          <a:ln w="12700">
            <a:solidFill>
              <a:srgbClr val="E2DED4"/>
            </a:solidFill>
            <a:prstDash val="solid"/>
          </a:ln>
        </p:spPr>
        <p:txBody>
          <a:bodyPr/>
          <a:lstStyle/>
          <a:p>
            <a:endParaRPr lang="en-US"/>
          </a:p>
        </p:txBody>
      </p:sp>
      <p:sp>
        <p:nvSpPr>
          <p:cNvPr id="42" name="Text 40"/>
          <p:cNvSpPr/>
          <p:nvPr/>
        </p:nvSpPr>
        <p:spPr>
          <a:xfrm>
            <a:off x="731520" y="5440680"/>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Stochastic beam search</a:t>
            </a:r>
            <a:endParaRPr lang="en-US" sz="1250" dirty="0"/>
          </a:p>
        </p:txBody>
      </p:sp>
      <p:sp>
        <p:nvSpPr>
          <p:cNvPr id="43" name="Text 41"/>
          <p:cNvSpPr/>
          <p:nvPr/>
        </p:nvSpPr>
        <p:spPr>
          <a:xfrm>
            <a:off x="3392424" y="5440680"/>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k</a:t>
            </a:r>
            <a:endParaRPr lang="en-US" sz="1250" dirty="0"/>
          </a:p>
        </p:txBody>
      </p:sp>
      <p:sp>
        <p:nvSpPr>
          <p:cNvPr id="44" name="Text 42"/>
          <p:cNvSpPr/>
          <p:nvPr/>
        </p:nvSpPr>
        <p:spPr>
          <a:xfrm>
            <a:off x="4864608" y="5440680"/>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probabilistic survival</a:t>
            </a:r>
            <a:endParaRPr lang="en-US" sz="1200" dirty="0"/>
          </a:p>
        </p:txBody>
      </p:sp>
      <p:sp>
        <p:nvSpPr>
          <p:cNvPr id="45" name="Text 43"/>
          <p:cNvSpPr/>
          <p:nvPr/>
        </p:nvSpPr>
        <p:spPr>
          <a:xfrm>
            <a:off x="8028432" y="5440680"/>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maintained deliberately</a:t>
            </a:r>
            <a:endParaRPr lang="en-US" sz="1200" dirty="0"/>
          </a:p>
        </p:txBody>
      </p:sp>
      <p:sp>
        <p:nvSpPr>
          <p:cNvPr id="46" name="Text 44"/>
          <p:cNvSpPr/>
          <p:nvPr/>
        </p:nvSpPr>
        <p:spPr>
          <a:xfrm>
            <a:off x="9683496" y="5440680"/>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slower to converge than plain beam</a:t>
            </a:r>
            <a:endParaRPr lang="en-US" sz="1200" dirty="0"/>
          </a:p>
        </p:txBody>
      </p:sp>
      <p:sp>
        <p:nvSpPr>
          <p:cNvPr id="47" name="Text 45"/>
          <p:cNvSpPr/>
          <p:nvPr/>
        </p:nvSpPr>
        <p:spPr>
          <a:xfrm>
            <a:off x="566928" y="5532120"/>
            <a:ext cx="11057839" cy="54864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Every row is the same trade: how much are you willing to spend, in memory or in wasted moves, to avoid committing to the first peak you find?</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05</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Evolutionary Algorithms</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4.1.4.  Variants of stochastic beam search explicitly motivated by the metaphor of natural selection: a population of individuals, in which the fittest produce offspring that populate the next generation.</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THE BRIDGE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From stochastic beam search to evolution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48</a:t>
            </a:r>
            <a:endParaRPr lang="en-US" sz="900" dirty="0"/>
          </a:p>
        </p:txBody>
      </p:sp>
      <p:sp>
        <p:nvSpPr>
          <p:cNvPr id="6" name="Shape 4"/>
          <p:cNvSpPr/>
          <p:nvPr/>
        </p:nvSpPr>
        <p:spPr>
          <a:xfrm>
            <a:off x="566928" y="1554480"/>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7" name="Text 5"/>
          <p:cNvSpPr/>
          <p:nvPr/>
        </p:nvSpPr>
        <p:spPr>
          <a:xfrm>
            <a:off x="786384" y="1554480"/>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k states</a:t>
            </a:r>
            <a:endParaRPr lang="en-US" sz="1300" dirty="0"/>
          </a:p>
        </p:txBody>
      </p:sp>
      <p:sp>
        <p:nvSpPr>
          <p:cNvPr id="8" name="Text 6"/>
          <p:cNvSpPr/>
          <p:nvPr/>
        </p:nvSpPr>
        <p:spPr>
          <a:xfrm>
            <a:off x="3675888" y="1554480"/>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4087368" y="1554480"/>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population</a:t>
            </a:r>
            <a:endParaRPr lang="en-US" sz="1400" dirty="0"/>
          </a:p>
        </p:txBody>
      </p:sp>
      <p:sp>
        <p:nvSpPr>
          <p:cNvPr id="10" name="Text 8"/>
          <p:cNvSpPr/>
          <p:nvPr/>
        </p:nvSpPr>
        <p:spPr>
          <a:xfrm>
            <a:off x="6510528" y="1554480"/>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The set of states currently held in memory.</a:t>
            </a:r>
            <a:endParaRPr lang="en-US" sz="1250" dirty="0"/>
          </a:p>
        </p:txBody>
      </p:sp>
      <p:sp>
        <p:nvSpPr>
          <p:cNvPr id="11" name="Shape 9"/>
          <p:cNvSpPr/>
          <p:nvPr/>
        </p:nvSpPr>
        <p:spPr>
          <a:xfrm>
            <a:off x="566928" y="2212848"/>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2" name="Text 10"/>
          <p:cNvSpPr/>
          <p:nvPr/>
        </p:nvSpPr>
        <p:spPr>
          <a:xfrm>
            <a:off x="786384" y="2212848"/>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state</a:t>
            </a:r>
            <a:endParaRPr lang="en-US" sz="1300" dirty="0"/>
          </a:p>
        </p:txBody>
      </p:sp>
      <p:sp>
        <p:nvSpPr>
          <p:cNvPr id="13" name="Text 11"/>
          <p:cNvSpPr/>
          <p:nvPr/>
        </p:nvSpPr>
        <p:spPr>
          <a:xfrm>
            <a:off x="3675888" y="2212848"/>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4087368" y="2212848"/>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individual</a:t>
            </a:r>
            <a:endParaRPr lang="en-US" sz="1400" dirty="0"/>
          </a:p>
        </p:txBody>
      </p:sp>
      <p:sp>
        <p:nvSpPr>
          <p:cNvPr id="15" name="Text 13"/>
          <p:cNvSpPr/>
          <p:nvPr/>
        </p:nvSpPr>
        <p:spPr>
          <a:xfrm>
            <a:off x="6510528" y="2212848"/>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One complete configuration. In genetic algorithms, a string over a finite alphabet.</a:t>
            </a:r>
            <a:endParaRPr lang="en-US" sz="1250" dirty="0"/>
          </a:p>
        </p:txBody>
      </p:sp>
      <p:sp>
        <p:nvSpPr>
          <p:cNvPr id="16" name="Shape 14"/>
          <p:cNvSpPr/>
          <p:nvPr/>
        </p:nvSpPr>
        <p:spPr>
          <a:xfrm>
            <a:off x="566928" y="2871216"/>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7" name="Text 15"/>
          <p:cNvSpPr/>
          <p:nvPr/>
        </p:nvSpPr>
        <p:spPr>
          <a:xfrm>
            <a:off x="786384" y="2871216"/>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value / objective function</a:t>
            </a:r>
            <a:endParaRPr lang="en-US" sz="1300" dirty="0"/>
          </a:p>
        </p:txBody>
      </p:sp>
      <p:sp>
        <p:nvSpPr>
          <p:cNvPr id="18" name="Text 16"/>
          <p:cNvSpPr/>
          <p:nvPr/>
        </p:nvSpPr>
        <p:spPr>
          <a:xfrm>
            <a:off x="3675888" y="2871216"/>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4087368" y="2871216"/>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fitness function</a:t>
            </a:r>
            <a:endParaRPr lang="en-US" sz="1400" dirty="0"/>
          </a:p>
        </p:txBody>
      </p:sp>
      <p:sp>
        <p:nvSpPr>
          <p:cNvPr id="20" name="Text 18"/>
          <p:cNvSpPr/>
          <p:nvPr/>
        </p:nvSpPr>
        <p:spPr>
          <a:xfrm>
            <a:off x="6510528" y="2871216"/>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Higher is better by convention, so we maximise.</a:t>
            </a:r>
            <a:endParaRPr lang="en-US" sz="1250" dirty="0"/>
          </a:p>
        </p:txBody>
      </p:sp>
      <p:sp>
        <p:nvSpPr>
          <p:cNvPr id="21" name="Shape 19"/>
          <p:cNvSpPr/>
          <p:nvPr/>
        </p:nvSpPr>
        <p:spPr>
          <a:xfrm>
            <a:off x="566928" y="3529584"/>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22" name="Text 20"/>
          <p:cNvSpPr/>
          <p:nvPr/>
        </p:nvSpPr>
        <p:spPr>
          <a:xfrm>
            <a:off x="786384" y="3529584"/>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successor generation</a:t>
            </a:r>
            <a:endParaRPr lang="en-US" sz="1300" dirty="0"/>
          </a:p>
        </p:txBody>
      </p:sp>
      <p:sp>
        <p:nvSpPr>
          <p:cNvPr id="23" name="Text 21"/>
          <p:cNvSpPr/>
          <p:nvPr/>
        </p:nvSpPr>
        <p:spPr>
          <a:xfrm>
            <a:off x="3675888" y="3529584"/>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4087368" y="3529584"/>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reproduction</a:t>
            </a:r>
            <a:endParaRPr lang="en-US" sz="1400" dirty="0"/>
          </a:p>
        </p:txBody>
      </p:sp>
      <p:sp>
        <p:nvSpPr>
          <p:cNvPr id="25" name="Text 23"/>
          <p:cNvSpPr/>
          <p:nvPr/>
        </p:nvSpPr>
        <p:spPr>
          <a:xfrm>
            <a:off x="6510528" y="3529584"/>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How new individuals are produced from old ones.</a:t>
            </a:r>
            <a:endParaRPr lang="en-US" sz="1250" dirty="0"/>
          </a:p>
        </p:txBody>
      </p:sp>
      <p:sp>
        <p:nvSpPr>
          <p:cNvPr id="26" name="Shape 24"/>
          <p:cNvSpPr/>
          <p:nvPr/>
        </p:nvSpPr>
        <p:spPr>
          <a:xfrm>
            <a:off x="566928" y="4187952"/>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27" name="Text 25"/>
          <p:cNvSpPr/>
          <p:nvPr/>
        </p:nvSpPr>
        <p:spPr>
          <a:xfrm>
            <a:off x="786384" y="4187952"/>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selecting the k best</a:t>
            </a:r>
            <a:endParaRPr lang="en-US" sz="1300" dirty="0"/>
          </a:p>
        </p:txBody>
      </p:sp>
      <p:sp>
        <p:nvSpPr>
          <p:cNvPr id="28" name="Text 26"/>
          <p:cNvSpPr/>
          <p:nvPr/>
        </p:nvSpPr>
        <p:spPr>
          <a:xfrm>
            <a:off x="3675888" y="4187952"/>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087368" y="4187952"/>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selection</a:t>
            </a:r>
            <a:endParaRPr lang="en-US" sz="1400" dirty="0"/>
          </a:p>
        </p:txBody>
      </p:sp>
      <p:sp>
        <p:nvSpPr>
          <p:cNvPr id="30" name="Text 28"/>
          <p:cNvSpPr/>
          <p:nvPr/>
        </p:nvSpPr>
        <p:spPr>
          <a:xfrm>
            <a:off x="6510528" y="4187952"/>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Who is represented in the next generation.</a:t>
            </a:r>
            <a:endParaRPr lang="en-US" sz="1250" dirty="0"/>
          </a:p>
        </p:txBody>
      </p:sp>
      <p:sp>
        <p:nvSpPr>
          <p:cNvPr id="31" name="Shape 29"/>
          <p:cNvSpPr/>
          <p:nvPr/>
        </p:nvSpPr>
        <p:spPr>
          <a:xfrm>
            <a:off x="566928" y="4846320"/>
            <a:ext cx="11057839" cy="603504"/>
          </a:xfrm>
          <a:prstGeom prst="roundRect">
            <a:avLst>
              <a:gd name="adj" fmla="val 13636"/>
            </a:avLst>
          </a:prstGeom>
          <a:solidFill>
            <a:srgbClr val="F3E7E1"/>
          </a:solidFill>
          <a:ln w="12700">
            <a:solidFill>
              <a:srgbClr val="E8D5CC"/>
            </a:solidFill>
            <a:prstDash val="solid"/>
          </a:ln>
        </p:spPr>
        <p:txBody>
          <a:bodyPr/>
          <a:lstStyle/>
          <a:p>
            <a:endParaRPr lang="en-US"/>
          </a:p>
        </p:txBody>
      </p:sp>
      <p:sp>
        <p:nvSpPr>
          <p:cNvPr id="32" name="Text 30"/>
          <p:cNvSpPr/>
          <p:nvPr/>
        </p:nvSpPr>
        <p:spPr>
          <a:xfrm>
            <a:off x="786384" y="4846320"/>
            <a:ext cx="2834640" cy="603504"/>
          </a:xfrm>
          <a:prstGeom prst="rect">
            <a:avLst/>
          </a:prstGeom>
          <a:noFill/>
          <a:ln/>
        </p:spPr>
        <p:txBody>
          <a:bodyPr wrap="square" lIns="0" tIns="0" rIns="0" bIns="0" rtlCol="0" anchor="ctr"/>
          <a:lstStyle/>
          <a:p>
            <a:pPr marL="0" indent="0">
              <a:buNone/>
            </a:pPr>
            <a:r>
              <a:rPr lang="en-US" sz="1300" i="1" dirty="0">
                <a:solidFill>
                  <a:srgbClr val="7A868C"/>
                </a:solidFill>
                <a:latin typeface="Calibri" pitchFamily="34" charset="0"/>
                <a:ea typeface="Calibri" pitchFamily="34" charset="-122"/>
                <a:cs typeface="Calibri" pitchFamily="34" charset="-120"/>
              </a:rPr>
              <a:t>— (no analogue)</a:t>
            </a:r>
            <a:endParaRPr lang="en-US" sz="1300" dirty="0"/>
          </a:p>
        </p:txBody>
      </p:sp>
      <p:sp>
        <p:nvSpPr>
          <p:cNvPr id="33" name="Text 31"/>
          <p:cNvSpPr/>
          <p:nvPr/>
        </p:nvSpPr>
        <p:spPr>
          <a:xfrm>
            <a:off x="3675888" y="4846320"/>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4087368" y="4846320"/>
            <a:ext cx="2286000" cy="603504"/>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crossover</a:t>
            </a:r>
            <a:endParaRPr lang="en-US" sz="1400" dirty="0"/>
          </a:p>
        </p:txBody>
      </p:sp>
      <p:sp>
        <p:nvSpPr>
          <p:cNvPr id="35" name="Text 33"/>
          <p:cNvSpPr/>
          <p:nvPr/>
        </p:nvSpPr>
        <p:spPr>
          <a:xfrm>
            <a:off x="6510528" y="4846320"/>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Offspring built from parts of two or more parents. This is the genuinely new ingredient.</a:t>
            </a:r>
            <a:endParaRPr lang="en-US" sz="1250" dirty="0"/>
          </a:p>
        </p:txBody>
      </p:sp>
      <p:sp>
        <p:nvSpPr>
          <p:cNvPr id="36" name="Shape 34"/>
          <p:cNvSpPr/>
          <p:nvPr/>
        </p:nvSpPr>
        <p:spPr>
          <a:xfrm>
            <a:off x="566928" y="5504688"/>
            <a:ext cx="11057839" cy="603504"/>
          </a:xfrm>
          <a:prstGeom prst="roundRect">
            <a:avLst>
              <a:gd name="adj" fmla="val 13636"/>
            </a:avLst>
          </a:prstGeom>
          <a:solidFill>
            <a:srgbClr val="F3E7E1"/>
          </a:solidFill>
          <a:ln w="12700">
            <a:solidFill>
              <a:srgbClr val="E8D5CC"/>
            </a:solidFill>
            <a:prstDash val="solid"/>
          </a:ln>
        </p:spPr>
        <p:txBody>
          <a:bodyPr/>
          <a:lstStyle/>
          <a:p>
            <a:endParaRPr lang="en-US"/>
          </a:p>
        </p:txBody>
      </p:sp>
      <p:sp>
        <p:nvSpPr>
          <p:cNvPr id="37" name="Text 35"/>
          <p:cNvSpPr/>
          <p:nvPr/>
        </p:nvSpPr>
        <p:spPr>
          <a:xfrm>
            <a:off x="786384" y="5504688"/>
            <a:ext cx="2834640" cy="603504"/>
          </a:xfrm>
          <a:prstGeom prst="rect">
            <a:avLst/>
          </a:prstGeom>
          <a:noFill/>
          <a:ln/>
        </p:spPr>
        <p:txBody>
          <a:bodyPr wrap="square" lIns="0" tIns="0" rIns="0" bIns="0" rtlCol="0" anchor="ctr"/>
          <a:lstStyle/>
          <a:p>
            <a:pPr marL="0" indent="0">
              <a:buNone/>
            </a:pPr>
            <a:r>
              <a:rPr lang="en-US" sz="1300" i="1" dirty="0">
                <a:solidFill>
                  <a:srgbClr val="7A868C"/>
                </a:solidFill>
                <a:latin typeface="Calibri" pitchFamily="34" charset="0"/>
                <a:ea typeface="Calibri" pitchFamily="34" charset="-122"/>
                <a:cs typeface="Calibri" pitchFamily="34" charset="-120"/>
              </a:rPr>
              <a:t>— (no analogue)</a:t>
            </a:r>
            <a:endParaRPr lang="en-US" sz="1300" dirty="0"/>
          </a:p>
        </p:txBody>
      </p:sp>
      <p:sp>
        <p:nvSpPr>
          <p:cNvPr id="38" name="Text 36"/>
          <p:cNvSpPr/>
          <p:nvPr/>
        </p:nvSpPr>
        <p:spPr>
          <a:xfrm>
            <a:off x="3675888" y="5504688"/>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4087368" y="5504688"/>
            <a:ext cx="2286000" cy="603504"/>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mutation</a:t>
            </a:r>
            <a:endParaRPr lang="en-US" sz="1400" dirty="0"/>
          </a:p>
        </p:txBody>
      </p:sp>
      <p:sp>
        <p:nvSpPr>
          <p:cNvPr id="40" name="Text 38"/>
          <p:cNvSpPr/>
          <p:nvPr/>
        </p:nvSpPr>
        <p:spPr>
          <a:xfrm>
            <a:off x="6510528" y="5504688"/>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Random perturbation applied after reproduction, to inject variation.</a:t>
            </a:r>
            <a:endParaRPr lang="en-US" sz="1250" dirty="0"/>
          </a:p>
        </p:txBody>
      </p:sp>
      <p:sp>
        <p:nvSpPr>
          <p:cNvPr id="41" name="Text 39"/>
          <p:cNvSpPr/>
          <p:nvPr/>
        </p:nvSpPr>
        <p:spPr>
          <a:xfrm>
            <a:off x="566928" y="5504688"/>
            <a:ext cx="11057839" cy="566928"/>
          </a:xfrm>
          <a:prstGeom prst="rect">
            <a:avLst/>
          </a:prstGeom>
          <a:noFill/>
          <a:ln/>
        </p:spPr>
        <p:txBody>
          <a:bodyPr wrap="square" lIns="0" tIns="0" rIns="0" bIns="0" rtlCol="0" anchor="t"/>
          <a:lstStyle/>
          <a:p>
            <a:pPr marL="0" indent="0">
              <a:lnSpc>
                <a:spcPts val="2000"/>
              </a:lnSpc>
              <a:buNone/>
            </a:pPr>
            <a:r>
              <a:rPr lang="en-US" sz="1450" b="1" dirty="0">
                <a:solidFill>
                  <a:srgbClr val="1E2A2F"/>
                </a:solidFill>
                <a:latin typeface="Calibri" pitchFamily="34" charset="0"/>
                <a:ea typeface="Calibri" pitchFamily="34" charset="-122"/>
                <a:cs typeface="Calibri" pitchFamily="34" charset="-120"/>
              </a:rPr>
              <a:t>The mixing number ρ is the number of parents that combine to form offspring. When ρ = 1 you have stochastic beam search — asexual reproduction. The most common case is ρ = 2.</a:t>
            </a:r>
            <a:endParaRPr lang="en-US" sz="14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DESIGN SPACE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Seven decisions define an evolutionary algorithm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49</a:t>
            </a:r>
            <a:endParaRPr lang="en-US" sz="900" dirty="0"/>
          </a:p>
        </p:txBody>
      </p:sp>
      <p:sp>
        <p:nvSpPr>
          <p:cNvPr id="6" name="Shape 4"/>
          <p:cNvSpPr/>
          <p:nvPr/>
        </p:nvSpPr>
        <p:spPr>
          <a:xfrm>
            <a:off x="566928" y="1554480"/>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68249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Population size</a:t>
            </a:r>
            <a:endParaRPr lang="en-US" sz="1350" dirty="0"/>
          </a:p>
        </p:txBody>
      </p:sp>
      <p:sp>
        <p:nvSpPr>
          <p:cNvPr id="8" name="Text 6"/>
          <p:cNvSpPr/>
          <p:nvPr/>
        </p:nvSpPr>
        <p:spPr>
          <a:xfrm>
            <a:off x="768096" y="2011680"/>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How many individuals are held at once. Too few and diversity dies; too many and each generation is costly.</a:t>
            </a:r>
            <a:endParaRPr lang="en-US" sz="1200" dirty="0"/>
          </a:p>
        </p:txBody>
      </p:sp>
      <p:sp>
        <p:nvSpPr>
          <p:cNvPr id="9" name="Shape 7"/>
          <p:cNvSpPr/>
          <p:nvPr/>
        </p:nvSpPr>
        <p:spPr>
          <a:xfrm>
            <a:off x="4343400" y="1554480"/>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4544568" y="168249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Representation</a:t>
            </a:r>
            <a:endParaRPr lang="en-US" sz="1350" dirty="0"/>
          </a:p>
        </p:txBody>
      </p:sp>
      <p:sp>
        <p:nvSpPr>
          <p:cNvPr id="11" name="Text 9"/>
          <p:cNvSpPr/>
          <p:nvPr/>
        </p:nvSpPr>
        <p:spPr>
          <a:xfrm>
            <a:off x="4544568" y="2011680"/>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GA: a string over a finite alphabet. Evolution strategies: real numbers. Genetic programming: a program.</a:t>
            </a:r>
            <a:endParaRPr lang="en-US" sz="1200" dirty="0"/>
          </a:p>
        </p:txBody>
      </p:sp>
      <p:sp>
        <p:nvSpPr>
          <p:cNvPr id="12" name="Shape 10"/>
          <p:cNvSpPr/>
          <p:nvPr/>
        </p:nvSpPr>
        <p:spPr>
          <a:xfrm>
            <a:off x="8119872" y="1554480"/>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321040" y="168249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Mixing number ρ</a:t>
            </a:r>
            <a:endParaRPr lang="en-US" sz="1350" dirty="0"/>
          </a:p>
        </p:txBody>
      </p:sp>
      <p:sp>
        <p:nvSpPr>
          <p:cNvPr id="14" name="Text 12"/>
          <p:cNvSpPr/>
          <p:nvPr/>
        </p:nvSpPr>
        <p:spPr>
          <a:xfrm>
            <a:off x="8321040" y="2011680"/>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How many parents combine. ρ = 1 is stochastic beam search; ρ = 2 is standard.</a:t>
            </a:r>
            <a:endParaRPr lang="en-US" sz="1200" dirty="0"/>
          </a:p>
        </p:txBody>
      </p:sp>
      <p:sp>
        <p:nvSpPr>
          <p:cNvPr id="15" name="Shape 13"/>
          <p:cNvSpPr/>
          <p:nvPr/>
        </p:nvSpPr>
        <p:spPr>
          <a:xfrm>
            <a:off x="566928" y="3035808"/>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768096" y="3163824"/>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Selection</a:t>
            </a:r>
            <a:endParaRPr lang="en-US" sz="1350" dirty="0"/>
          </a:p>
        </p:txBody>
      </p:sp>
      <p:sp>
        <p:nvSpPr>
          <p:cNvPr id="17" name="Text 15"/>
          <p:cNvSpPr/>
          <p:nvPr/>
        </p:nvSpPr>
        <p:spPr>
          <a:xfrm>
            <a:off x="768096" y="3493008"/>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Parents chosen with probability proportional to fitness — or n at random, keeping the ρ fittest.</a:t>
            </a:r>
            <a:endParaRPr lang="en-US" sz="1200" dirty="0"/>
          </a:p>
        </p:txBody>
      </p:sp>
      <p:sp>
        <p:nvSpPr>
          <p:cNvPr id="18" name="Shape 16"/>
          <p:cNvSpPr/>
          <p:nvPr/>
        </p:nvSpPr>
        <p:spPr>
          <a:xfrm>
            <a:off x="4343400" y="3035808"/>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4544568" y="3163824"/>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Recombination</a:t>
            </a:r>
            <a:endParaRPr lang="en-US" sz="1350" dirty="0"/>
          </a:p>
        </p:txBody>
      </p:sp>
      <p:sp>
        <p:nvSpPr>
          <p:cNvPr id="20" name="Text 18"/>
          <p:cNvSpPr/>
          <p:nvPr/>
        </p:nvSpPr>
        <p:spPr>
          <a:xfrm>
            <a:off x="4544568" y="3493008"/>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With ρ = 2: pick a crossover point, split both parents, swap the tails to make two children.</a:t>
            </a:r>
            <a:endParaRPr lang="en-US" sz="1200" dirty="0"/>
          </a:p>
        </p:txBody>
      </p:sp>
      <p:sp>
        <p:nvSpPr>
          <p:cNvPr id="21" name="Shape 19"/>
          <p:cNvSpPr/>
          <p:nvPr/>
        </p:nvSpPr>
        <p:spPr>
          <a:xfrm>
            <a:off x="8119872" y="3035808"/>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2" name="Text 20"/>
          <p:cNvSpPr/>
          <p:nvPr/>
        </p:nvSpPr>
        <p:spPr>
          <a:xfrm>
            <a:off x="8321040" y="3163824"/>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Mutation rate</a:t>
            </a:r>
            <a:endParaRPr lang="en-US" sz="1350" dirty="0"/>
          </a:p>
        </p:txBody>
      </p:sp>
      <p:sp>
        <p:nvSpPr>
          <p:cNvPr id="23" name="Text 21"/>
          <p:cNvSpPr/>
          <p:nvPr/>
        </p:nvSpPr>
        <p:spPr>
          <a:xfrm>
            <a:off x="8321040" y="3493008"/>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After an offspring is generated, each position changes with this probability.</a:t>
            </a:r>
            <a:endParaRPr lang="en-US" sz="1200" dirty="0"/>
          </a:p>
        </p:txBody>
      </p:sp>
      <p:sp>
        <p:nvSpPr>
          <p:cNvPr id="24" name="Shape 22"/>
          <p:cNvSpPr/>
          <p:nvPr/>
        </p:nvSpPr>
        <p:spPr>
          <a:xfrm>
            <a:off x="566928" y="4517136"/>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5" name="Text 23"/>
          <p:cNvSpPr/>
          <p:nvPr/>
        </p:nvSpPr>
        <p:spPr>
          <a:xfrm>
            <a:off x="768096" y="4645152"/>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Next generation</a:t>
            </a:r>
            <a:endParaRPr lang="en-US" sz="1350" dirty="0"/>
          </a:p>
        </p:txBody>
      </p:sp>
      <p:sp>
        <p:nvSpPr>
          <p:cNvPr id="26" name="Text 24"/>
          <p:cNvSpPr/>
          <p:nvPr/>
        </p:nvSpPr>
        <p:spPr>
          <a:xfrm>
            <a:off x="768096" y="4974336"/>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Offspring only, or plus top parents (elitism, so fitness never decreases). Culling drops the worst.</a:t>
            </a:r>
            <a:endParaRPr lang="en-US" sz="1200" dirty="0"/>
          </a:p>
        </p:txBody>
      </p:sp>
      <p:sp>
        <p:nvSpPr>
          <p:cNvPr id="27" name="Text 25"/>
          <p:cNvSpPr/>
          <p:nvPr/>
        </p:nvSpPr>
        <p:spPr>
          <a:xfrm>
            <a:off x="4343400" y="4919472"/>
            <a:ext cx="7287768" cy="640080"/>
          </a:xfrm>
          <a:prstGeom prst="rect">
            <a:avLst/>
          </a:prstGeom>
          <a:noFill/>
          <a:ln/>
        </p:spPr>
        <p:txBody>
          <a:bodyPr wrap="square" lIns="0" tIns="0" rIns="0" bIns="0" rtlCol="0" anchor="ctr"/>
          <a:lstStyle/>
          <a:p>
            <a:pPr marL="0" indent="0">
              <a:lnSpc>
                <a:spcPts val="1800"/>
              </a:lnSpc>
              <a:buNone/>
            </a:pPr>
            <a:r>
              <a:rPr lang="en-US" sz="1350" i="1" dirty="0">
                <a:solidFill>
                  <a:srgbClr val="33454E"/>
                </a:solidFill>
                <a:latin typeface="Calibri" pitchFamily="34" charset="0"/>
                <a:ea typeface="Calibri" pitchFamily="34" charset="-122"/>
                <a:cs typeface="Calibri" pitchFamily="34" charset="-120"/>
              </a:rPr>
              <a:t>There are endless forms of evolutionary algorithms, and the seven choices above are why. Two papers can both claim to use “a genetic algorithm” and share almost nothing.</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Encoding 8-queens as a string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50</a:t>
            </a:r>
            <a:endParaRPr lang="en-US" sz="900" dirty="0"/>
          </a:p>
        </p:txBody>
      </p:sp>
      <p:sp>
        <p:nvSpPr>
          <p:cNvPr id="6" name="Text 4"/>
          <p:cNvSpPr/>
          <p:nvPr/>
        </p:nvSpPr>
        <p:spPr>
          <a:xfrm>
            <a:off x="566928" y="1444752"/>
            <a:ext cx="11057839" cy="420624"/>
          </a:xfrm>
          <a:prstGeom prst="rect">
            <a:avLst/>
          </a:prstGeom>
          <a:noFill/>
          <a:ln/>
        </p:spPr>
        <p:txBody>
          <a:bodyPr wrap="square" lIns="0" tIns="0" rIns="0" bIns="0" rtlCol="0" anchor="t"/>
          <a:lstStyle/>
          <a:p>
            <a:pPr marL="0" indent="0">
              <a:lnSpc>
                <a:spcPts val="2000"/>
              </a:lnSpc>
              <a:buNone/>
            </a:pPr>
            <a:r>
              <a:rPr lang="en-US" sz="1500" dirty="0">
                <a:solidFill>
                  <a:srgbClr val="1B2226"/>
                </a:solidFill>
                <a:latin typeface="Calibri" pitchFamily="34" charset="0"/>
                <a:ea typeface="Calibri" pitchFamily="34" charset="-122"/>
                <a:cs typeface="Calibri" pitchFamily="34" charset="-120"/>
              </a:rPr>
              <a:t>The c-th digit represents the row number of the queen in column c. An 8-queens state becomes an 8-digit string over the alphabet 1–8.</a:t>
            </a:r>
            <a:endParaRPr lang="en-US" sz="1500" dirty="0"/>
          </a:p>
        </p:txBody>
      </p:sp>
      <p:sp>
        <p:nvSpPr>
          <p:cNvPr id="7" name="Shape 5"/>
          <p:cNvSpPr/>
          <p:nvPr/>
        </p:nvSpPr>
        <p:spPr>
          <a:xfrm>
            <a:off x="932688"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8" name="Text 6"/>
          <p:cNvSpPr/>
          <p:nvPr/>
        </p:nvSpPr>
        <p:spPr>
          <a:xfrm>
            <a:off x="932688"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3</a:t>
            </a:r>
            <a:endParaRPr lang="en-US" sz="2600" dirty="0"/>
          </a:p>
        </p:txBody>
      </p:sp>
      <p:sp>
        <p:nvSpPr>
          <p:cNvPr id="9" name="Text 7"/>
          <p:cNvSpPr/>
          <p:nvPr/>
        </p:nvSpPr>
        <p:spPr>
          <a:xfrm>
            <a:off x="932688"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1</a:t>
            </a:r>
            <a:endParaRPr lang="en-US" sz="1050" dirty="0"/>
          </a:p>
        </p:txBody>
      </p:sp>
      <p:sp>
        <p:nvSpPr>
          <p:cNvPr id="10" name="Shape 8"/>
          <p:cNvSpPr/>
          <p:nvPr/>
        </p:nvSpPr>
        <p:spPr>
          <a:xfrm>
            <a:off x="1792224"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11" name="Text 9"/>
          <p:cNvSpPr/>
          <p:nvPr/>
        </p:nvSpPr>
        <p:spPr>
          <a:xfrm>
            <a:off x="1792224"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2</a:t>
            </a:r>
            <a:endParaRPr lang="en-US" sz="2600" dirty="0"/>
          </a:p>
        </p:txBody>
      </p:sp>
      <p:sp>
        <p:nvSpPr>
          <p:cNvPr id="12" name="Text 10"/>
          <p:cNvSpPr/>
          <p:nvPr/>
        </p:nvSpPr>
        <p:spPr>
          <a:xfrm>
            <a:off x="1792224"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2</a:t>
            </a:r>
            <a:endParaRPr lang="en-US" sz="1050" dirty="0"/>
          </a:p>
        </p:txBody>
      </p:sp>
      <p:sp>
        <p:nvSpPr>
          <p:cNvPr id="13" name="Shape 11"/>
          <p:cNvSpPr/>
          <p:nvPr/>
        </p:nvSpPr>
        <p:spPr>
          <a:xfrm>
            <a:off x="2651760"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14" name="Text 12"/>
          <p:cNvSpPr/>
          <p:nvPr/>
        </p:nvSpPr>
        <p:spPr>
          <a:xfrm>
            <a:off x="2651760"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7</a:t>
            </a:r>
            <a:endParaRPr lang="en-US" sz="2600" dirty="0"/>
          </a:p>
        </p:txBody>
      </p:sp>
      <p:sp>
        <p:nvSpPr>
          <p:cNvPr id="15" name="Text 13"/>
          <p:cNvSpPr/>
          <p:nvPr/>
        </p:nvSpPr>
        <p:spPr>
          <a:xfrm>
            <a:off x="2651760"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3</a:t>
            </a:r>
            <a:endParaRPr lang="en-US" sz="1050" dirty="0"/>
          </a:p>
        </p:txBody>
      </p:sp>
      <p:sp>
        <p:nvSpPr>
          <p:cNvPr id="16" name="Shape 14"/>
          <p:cNvSpPr/>
          <p:nvPr/>
        </p:nvSpPr>
        <p:spPr>
          <a:xfrm>
            <a:off x="3511296"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17" name="Text 15"/>
          <p:cNvSpPr/>
          <p:nvPr/>
        </p:nvSpPr>
        <p:spPr>
          <a:xfrm>
            <a:off x="3511296"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5</a:t>
            </a:r>
            <a:endParaRPr lang="en-US" sz="2600" dirty="0"/>
          </a:p>
        </p:txBody>
      </p:sp>
      <p:sp>
        <p:nvSpPr>
          <p:cNvPr id="18" name="Text 16"/>
          <p:cNvSpPr/>
          <p:nvPr/>
        </p:nvSpPr>
        <p:spPr>
          <a:xfrm>
            <a:off x="3511296"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4</a:t>
            </a:r>
            <a:endParaRPr lang="en-US" sz="1050" dirty="0"/>
          </a:p>
        </p:txBody>
      </p:sp>
      <p:sp>
        <p:nvSpPr>
          <p:cNvPr id="19" name="Shape 17"/>
          <p:cNvSpPr/>
          <p:nvPr/>
        </p:nvSpPr>
        <p:spPr>
          <a:xfrm>
            <a:off x="4370832"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0" name="Text 18"/>
          <p:cNvSpPr/>
          <p:nvPr/>
        </p:nvSpPr>
        <p:spPr>
          <a:xfrm>
            <a:off x="4370832"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2</a:t>
            </a:r>
            <a:endParaRPr lang="en-US" sz="2600" dirty="0"/>
          </a:p>
        </p:txBody>
      </p:sp>
      <p:sp>
        <p:nvSpPr>
          <p:cNvPr id="21" name="Text 19"/>
          <p:cNvSpPr/>
          <p:nvPr/>
        </p:nvSpPr>
        <p:spPr>
          <a:xfrm>
            <a:off x="4370832"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5</a:t>
            </a:r>
            <a:endParaRPr lang="en-US" sz="1050" dirty="0"/>
          </a:p>
        </p:txBody>
      </p:sp>
      <p:sp>
        <p:nvSpPr>
          <p:cNvPr id="22" name="Shape 20"/>
          <p:cNvSpPr/>
          <p:nvPr/>
        </p:nvSpPr>
        <p:spPr>
          <a:xfrm>
            <a:off x="5230368"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3" name="Text 21"/>
          <p:cNvSpPr/>
          <p:nvPr/>
        </p:nvSpPr>
        <p:spPr>
          <a:xfrm>
            <a:off x="5230368"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4</a:t>
            </a:r>
            <a:endParaRPr lang="en-US" sz="2600" dirty="0"/>
          </a:p>
        </p:txBody>
      </p:sp>
      <p:sp>
        <p:nvSpPr>
          <p:cNvPr id="24" name="Text 22"/>
          <p:cNvSpPr/>
          <p:nvPr/>
        </p:nvSpPr>
        <p:spPr>
          <a:xfrm>
            <a:off x="5230368"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6</a:t>
            </a:r>
            <a:endParaRPr lang="en-US" sz="1050" dirty="0"/>
          </a:p>
        </p:txBody>
      </p:sp>
      <p:sp>
        <p:nvSpPr>
          <p:cNvPr id="25" name="Shape 23"/>
          <p:cNvSpPr/>
          <p:nvPr/>
        </p:nvSpPr>
        <p:spPr>
          <a:xfrm>
            <a:off x="6089904"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6" name="Text 24"/>
          <p:cNvSpPr/>
          <p:nvPr/>
        </p:nvSpPr>
        <p:spPr>
          <a:xfrm>
            <a:off x="6089904"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1</a:t>
            </a:r>
            <a:endParaRPr lang="en-US" sz="2600" dirty="0"/>
          </a:p>
        </p:txBody>
      </p:sp>
      <p:sp>
        <p:nvSpPr>
          <p:cNvPr id="27" name="Text 25"/>
          <p:cNvSpPr/>
          <p:nvPr/>
        </p:nvSpPr>
        <p:spPr>
          <a:xfrm>
            <a:off x="6089904"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7</a:t>
            </a:r>
            <a:endParaRPr lang="en-US" sz="1050" dirty="0"/>
          </a:p>
        </p:txBody>
      </p:sp>
      <p:sp>
        <p:nvSpPr>
          <p:cNvPr id="28" name="Shape 26"/>
          <p:cNvSpPr/>
          <p:nvPr/>
        </p:nvSpPr>
        <p:spPr>
          <a:xfrm>
            <a:off x="6949440"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9" name="Text 27"/>
          <p:cNvSpPr/>
          <p:nvPr/>
        </p:nvSpPr>
        <p:spPr>
          <a:xfrm>
            <a:off x="6949440"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1</a:t>
            </a:r>
            <a:endParaRPr lang="en-US" sz="2600" dirty="0"/>
          </a:p>
        </p:txBody>
      </p:sp>
      <p:sp>
        <p:nvSpPr>
          <p:cNvPr id="30" name="Text 28"/>
          <p:cNvSpPr/>
          <p:nvPr/>
        </p:nvSpPr>
        <p:spPr>
          <a:xfrm>
            <a:off x="6949440"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8</a:t>
            </a:r>
            <a:endParaRPr lang="en-US" sz="1050" dirty="0"/>
          </a:p>
        </p:txBody>
      </p:sp>
      <p:sp>
        <p:nvSpPr>
          <p:cNvPr id="31" name="Shape 29"/>
          <p:cNvSpPr/>
          <p:nvPr/>
        </p:nvSpPr>
        <p:spPr>
          <a:xfrm>
            <a:off x="7991856" y="2011680"/>
            <a:ext cx="3429000" cy="1051560"/>
          </a:xfrm>
          <a:prstGeom prst="roundRect">
            <a:avLst>
              <a:gd name="adj" fmla="val 782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32" name="Text 30"/>
          <p:cNvSpPr/>
          <p:nvPr/>
        </p:nvSpPr>
        <p:spPr>
          <a:xfrm>
            <a:off x="8193024" y="2139696"/>
            <a:ext cx="302666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Why this encoding</a:t>
            </a:r>
            <a:endParaRPr lang="en-US" sz="1350" dirty="0"/>
          </a:p>
        </p:txBody>
      </p:sp>
      <p:sp>
        <p:nvSpPr>
          <p:cNvPr id="33" name="Text 31"/>
          <p:cNvSpPr/>
          <p:nvPr/>
        </p:nvSpPr>
        <p:spPr>
          <a:xfrm>
            <a:off x="8193024" y="2468880"/>
            <a:ext cx="3026664" cy="429768"/>
          </a:xfrm>
          <a:prstGeom prst="rect">
            <a:avLst/>
          </a:prstGeom>
          <a:noFill/>
          <a:ln/>
        </p:spPr>
        <p:txBody>
          <a:bodyPr wrap="square" lIns="0" tIns="0" rIns="0" bIns="0" rtlCol="0" anchor="t"/>
          <a:lstStyle/>
          <a:p>
            <a:pPr marL="0" indent="0">
              <a:lnSpc>
                <a:spcPts val="1600"/>
              </a:lnSpc>
              <a:buNone/>
            </a:pPr>
            <a:r>
              <a:rPr lang="en-US" sz="1220" dirty="0">
                <a:solidFill>
                  <a:srgbClr val="33454E"/>
                </a:solidFill>
                <a:latin typeface="Calibri" pitchFamily="34" charset="0"/>
                <a:ea typeface="Calibri" pitchFamily="34" charset="-122"/>
                <a:cs typeface="Calibri" pitchFamily="34" charset="-120"/>
              </a:rPr>
              <a:t>It builds the one-queen-per-column constraint into the representation, so every string is a legal state.</a:t>
            </a:r>
            <a:endParaRPr lang="en-US" sz="1220" dirty="0"/>
          </a:p>
        </p:txBody>
      </p:sp>
      <p:sp>
        <p:nvSpPr>
          <p:cNvPr id="34" name="Text 32"/>
          <p:cNvSpPr/>
          <p:nvPr/>
        </p:nvSpPr>
        <p:spPr>
          <a:xfrm>
            <a:off x="566928" y="3291840"/>
            <a:ext cx="11057839" cy="24688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The representation is a design decision with consequences.</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This encoding makes every string legal, so mutation and crossover can never produce an invalid individual — no repair step is needed.</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It also means adjacent digits describe adjacent columns, so a contiguous substring describes a spatially contiguous group of queens. That is what makes crossover meaningful here.</a:t>
            </a:r>
            <a:endParaRPr lang="en-US" sz="1500" dirty="0"/>
          </a:p>
          <a:p>
            <a:pPr marL="406400" lvl="1" indent="-203200">
              <a:lnSpc>
                <a:spcPts val="1700"/>
              </a:lnSpc>
              <a:spcAft>
                <a:spcPts val="500"/>
              </a:spcAft>
              <a:buSzPct val="100000"/>
              <a:buChar char="•"/>
            </a:pPr>
            <a:r>
              <a:rPr lang="en-US" sz="1300" dirty="0">
                <a:solidFill>
                  <a:srgbClr val="B5563A"/>
                </a:solidFill>
                <a:latin typeface="Calibri" pitchFamily="34" charset="0"/>
                <a:ea typeface="Calibri" pitchFamily="34" charset="-122"/>
                <a:cs typeface="Calibri" pitchFamily="34" charset="-120"/>
              </a:rPr>
              <a:t>Contrast: a 64-bit occupancy string would also encode boards, but almost every mutation would produce an illegal one, and crossover would splice together unrelated fragments.</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Fitness and selection probabilities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51</a:t>
            </a:r>
            <a:endParaRPr lang="en-US" sz="900" dirty="0"/>
          </a:p>
        </p:txBody>
      </p:sp>
      <p:sp>
        <p:nvSpPr>
          <p:cNvPr id="6" name="Text 4"/>
          <p:cNvSpPr/>
          <p:nvPr/>
        </p:nvSpPr>
        <p:spPr>
          <a:xfrm>
            <a:off x="566928" y="1481328"/>
            <a:ext cx="11057839" cy="13716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Higher fitness values are better, so for 8-queens we count the number of NON-attacking pairs of queens.</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There are 8 × 7 / 2 = 28 pairs of queens in total, so a solution has fitness 28.</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The fitness scores are then normalised to probabilities: divide each by the sum.</a:t>
            </a:r>
            <a:endParaRPr lang="en-US" sz="1500" dirty="0"/>
          </a:p>
        </p:txBody>
      </p:sp>
      <p:sp>
        <p:nvSpPr>
          <p:cNvPr id="7" name="Text 5"/>
          <p:cNvSpPr/>
          <p:nvPr/>
        </p:nvSpPr>
        <p:spPr>
          <a:xfrm>
            <a:off x="822960" y="2834640"/>
            <a:ext cx="2194560" cy="274320"/>
          </a:xfrm>
          <a:prstGeom prst="rect">
            <a:avLst/>
          </a:prstGeom>
          <a:noFill/>
          <a:ln/>
        </p:spPr>
        <p:txBody>
          <a:bodyPr wrap="square" lIns="0" tIns="0" rIns="0" bIns="0" rtlCol="0" anchor="ctr"/>
          <a:lstStyle/>
          <a:p>
            <a:pPr marL="0" indent="0">
              <a:buNone/>
            </a:pPr>
            <a:r>
              <a:rPr lang="en-US" sz="1200" b="1" dirty="0">
                <a:solidFill>
                  <a:srgbClr val="7A868C"/>
                </a:solidFill>
                <a:latin typeface="Calibri" pitchFamily="34" charset="0"/>
                <a:ea typeface="Calibri" pitchFamily="34" charset="-122"/>
                <a:cs typeface="Calibri" pitchFamily="34" charset="-120"/>
              </a:rPr>
              <a:t>Individual</a:t>
            </a:r>
            <a:endParaRPr lang="en-US" sz="1200" dirty="0"/>
          </a:p>
        </p:txBody>
      </p:sp>
      <p:sp>
        <p:nvSpPr>
          <p:cNvPr id="8" name="Text 6"/>
          <p:cNvSpPr/>
          <p:nvPr/>
        </p:nvSpPr>
        <p:spPr>
          <a:xfrm>
            <a:off x="3310128" y="2834640"/>
            <a:ext cx="1097280" cy="274320"/>
          </a:xfrm>
          <a:prstGeom prst="rect">
            <a:avLst/>
          </a:prstGeom>
          <a:noFill/>
          <a:ln/>
        </p:spPr>
        <p:txBody>
          <a:bodyPr wrap="square" lIns="0" tIns="0" rIns="0" bIns="0" rtlCol="0" anchor="ctr"/>
          <a:lstStyle/>
          <a:p>
            <a:pPr marL="0" indent="0">
              <a:buNone/>
            </a:pPr>
            <a:r>
              <a:rPr lang="en-US" sz="1200" b="1" dirty="0">
                <a:solidFill>
                  <a:srgbClr val="7A868C"/>
                </a:solidFill>
                <a:latin typeface="Calibri" pitchFamily="34" charset="0"/>
                <a:ea typeface="Calibri" pitchFamily="34" charset="-122"/>
                <a:cs typeface="Calibri" pitchFamily="34" charset="-120"/>
              </a:rPr>
              <a:t>Fitness</a:t>
            </a:r>
            <a:endParaRPr lang="en-US" sz="1200" dirty="0"/>
          </a:p>
        </p:txBody>
      </p:sp>
      <p:sp>
        <p:nvSpPr>
          <p:cNvPr id="9" name="Text 7"/>
          <p:cNvSpPr/>
          <p:nvPr/>
        </p:nvSpPr>
        <p:spPr>
          <a:xfrm>
            <a:off x="4544568" y="2834640"/>
            <a:ext cx="1371600" cy="274320"/>
          </a:xfrm>
          <a:prstGeom prst="rect">
            <a:avLst/>
          </a:prstGeom>
          <a:noFill/>
          <a:ln/>
        </p:spPr>
        <p:txBody>
          <a:bodyPr wrap="square" lIns="0" tIns="0" rIns="0" bIns="0" rtlCol="0" anchor="ctr"/>
          <a:lstStyle/>
          <a:p>
            <a:pPr marL="0" indent="0">
              <a:buNone/>
            </a:pPr>
            <a:r>
              <a:rPr lang="en-US" sz="1200" b="1" dirty="0">
                <a:solidFill>
                  <a:srgbClr val="7A868C"/>
                </a:solidFill>
                <a:latin typeface="Calibri" pitchFamily="34" charset="0"/>
                <a:ea typeface="Calibri" pitchFamily="34" charset="-122"/>
                <a:cs typeface="Calibri" pitchFamily="34" charset="-120"/>
              </a:rPr>
              <a:t>P(selected)</a:t>
            </a:r>
            <a:endParaRPr lang="en-US" sz="1200" dirty="0"/>
          </a:p>
        </p:txBody>
      </p:sp>
      <p:sp>
        <p:nvSpPr>
          <p:cNvPr id="10" name="Shape 8"/>
          <p:cNvSpPr/>
          <p:nvPr/>
        </p:nvSpPr>
        <p:spPr>
          <a:xfrm>
            <a:off x="566928" y="3163824"/>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1" name="Text 9"/>
          <p:cNvSpPr/>
          <p:nvPr/>
        </p:nvSpPr>
        <p:spPr>
          <a:xfrm>
            <a:off x="822960" y="3163824"/>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24748552</a:t>
            </a:r>
            <a:endParaRPr lang="en-US" sz="1600" dirty="0"/>
          </a:p>
        </p:txBody>
      </p:sp>
      <p:sp>
        <p:nvSpPr>
          <p:cNvPr id="12" name="Text 10"/>
          <p:cNvSpPr/>
          <p:nvPr/>
        </p:nvSpPr>
        <p:spPr>
          <a:xfrm>
            <a:off x="3310128" y="3163824"/>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24</a:t>
            </a:r>
            <a:endParaRPr lang="en-US" sz="1600" dirty="0"/>
          </a:p>
        </p:txBody>
      </p:sp>
      <p:sp>
        <p:nvSpPr>
          <p:cNvPr id="13" name="Text 11"/>
          <p:cNvSpPr/>
          <p:nvPr/>
        </p:nvSpPr>
        <p:spPr>
          <a:xfrm>
            <a:off x="4544568" y="3163824"/>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31%</a:t>
            </a:r>
            <a:endParaRPr lang="en-US" sz="1500" dirty="0"/>
          </a:p>
        </p:txBody>
      </p:sp>
      <p:sp>
        <p:nvSpPr>
          <p:cNvPr id="14" name="Shape 12"/>
          <p:cNvSpPr/>
          <p:nvPr/>
        </p:nvSpPr>
        <p:spPr>
          <a:xfrm>
            <a:off x="566928" y="3822192"/>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5" name="Text 13"/>
          <p:cNvSpPr/>
          <p:nvPr/>
        </p:nvSpPr>
        <p:spPr>
          <a:xfrm>
            <a:off x="822960" y="3822192"/>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32752411</a:t>
            </a:r>
            <a:endParaRPr lang="en-US" sz="1600" dirty="0"/>
          </a:p>
        </p:txBody>
      </p:sp>
      <p:sp>
        <p:nvSpPr>
          <p:cNvPr id="16" name="Text 14"/>
          <p:cNvSpPr/>
          <p:nvPr/>
        </p:nvSpPr>
        <p:spPr>
          <a:xfrm>
            <a:off x="3310128" y="3822192"/>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23</a:t>
            </a:r>
            <a:endParaRPr lang="en-US" sz="1600" dirty="0"/>
          </a:p>
        </p:txBody>
      </p:sp>
      <p:sp>
        <p:nvSpPr>
          <p:cNvPr id="17" name="Text 15"/>
          <p:cNvSpPr/>
          <p:nvPr/>
        </p:nvSpPr>
        <p:spPr>
          <a:xfrm>
            <a:off x="4544568" y="3822192"/>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29%</a:t>
            </a:r>
            <a:endParaRPr lang="en-US" sz="1500" dirty="0"/>
          </a:p>
        </p:txBody>
      </p:sp>
      <p:sp>
        <p:nvSpPr>
          <p:cNvPr id="18" name="Shape 16"/>
          <p:cNvSpPr/>
          <p:nvPr/>
        </p:nvSpPr>
        <p:spPr>
          <a:xfrm>
            <a:off x="566928" y="4480560"/>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9" name="Text 17"/>
          <p:cNvSpPr/>
          <p:nvPr/>
        </p:nvSpPr>
        <p:spPr>
          <a:xfrm>
            <a:off x="822960" y="4480560"/>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24415124</a:t>
            </a:r>
            <a:endParaRPr lang="en-US" sz="1600" dirty="0"/>
          </a:p>
        </p:txBody>
      </p:sp>
      <p:sp>
        <p:nvSpPr>
          <p:cNvPr id="20" name="Text 18"/>
          <p:cNvSpPr/>
          <p:nvPr/>
        </p:nvSpPr>
        <p:spPr>
          <a:xfrm>
            <a:off x="3310128" y="4480560"/>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20</a:t>
            </a:r>
            <a:endParaRPr lang="en-US" sz="1600" dirty="0"/>
          </a:p>
        </p:txBody>
      </p:sp>
      <p:sp>
        <p:nvSpPr>
          <p:cNvPr id="21" name="Text 19"/>
          <p:cNvSpPr/>
          <p:nvPr/>
        </p:nvSpPr>
        <p:spPr>
          <a:xfrm>
            <a:off x="4544568" y="4480560"/>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26%</a:t>
            </a:r>
            <a:endParaRPr lang="en-US" sz="1500" dirty="0"/>
          </a:p>
        </p:txBody>
      </p:sp>
      <p:sp>
        <p:nvSpPr>
          <p:cNvPr id="22" name="Shape 20"/>
          <p:cNvSpPr/>
          <p:nvPr/>
        </p:nvSpPr>
        <p:spPr>
          <a:xfrm>
            <a:off x="566928" y="5138928"/>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23" name="Text 21"/>
          <p:cNvSpPr/>
          <p:nvPr/>
        </p:nvSpPr>
        <p:spPr>
          <a:xfrm>
            <a:off x="822960" y="5138928"/>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32543213</a:t>
            </a:r>
            <a:endParaRPr lang="en-US" sz="1600" dirty="0"/>
          </a:p>
        </p:txBody>
      </p:sp>
      <p:sp>
        <p:nvSpPr>
          <p:cNvPr id="24" name="Text 22"/>
          <p:cNvSpPr/>
          <p:nvPr/>
        </p:nvSpPr>
        <p:spPr>
          <a:xfrm>
            <a:off x="3310128" y="5138928"/>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11</a:t>
            </a:r>
            <a:endParaRPr lang="en-US" sz="1600" dirty="0"/>
          </a:p>
        </p:txBody>
      </p:sp>
      <p:sp>
        <p:nvSpPr>
          <p:cNvPr id="25" name="Text 23"/>
          <p:cNvSpPr/>
          <p:nvPr/>
        </p:nvSpPr>
        <p:spPr>
          <a:xfrm>
            <a:off x="4544568" y="5138928"/>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14%</a:t>
            </a:r>
            <a:endParaRPr lang="en-US" sz="1500" dirty="0"/>
          </a:p>
        </p:txBody>
      </p:sp>
      <p:sp>
        <p:nvSpPr>
          <p:cNvPr id="26" name="Shape 24"/>
          <p:cNvSpPr/>
          <p:nvPr/>
        </p:nvSpPr>
        <p:spPr>
          <a:xfrm>
            <a:off x="6528816" y="2834640"/>
            <a:ext cx="5074920" cy="2926080"/>
          </a:xfrm>
          <a:prstGeom prst="roundRect">
            <a:avLst>
              <a:gd name="adj" fmla="val 28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7" name="Text 25"/>
          <p:cNvSpPr/>
          <p:nvPr/>
        </p:nvSpPr>
        <p:spPr>
          <a:xfrm>
            <a:off x="6729984" y="2962656"/>
            <a:ext cx="467258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selection does and does not guarantee</a:t>
            </a:r>
            <a:endParaRPr lang="en-US" sz="1450" dirty="0"/>
          </a:p>
        </p:txBody>
      </p:sp>
      <p:sp>
        <p:nvSpPr>
          <p:cNvPr id="28" name="Text 26"/>
          <p:cNvSpPr/>
          <p:nvPr/>
        </p:nvSpPr>
        <p:spPr>
          <a:xfrm>
            <a:off x="6729984" y="3291840"/>
            <a:ext cx="4672584" cy="230428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24 + 23 + 20 + 11 = 78, so the first individual is selected with probability 24/78 ≈ 31%.</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Selection is with replacement and probabilistic, so an individual may be chosen twice and another not at all — and that is exactly what happens in the textbook's figure.</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fittest individual is not guaranteed to survive. Only elitism guarantees that, and elitism is an optional extra, not part of the base algorithm.</a:t>
            </a:r>
            <a:endParaRPr lang="en-US" sz="12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Selection, crossover, mutation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66928" y="1554480"/>
            <a:ext cx="2606040" cy="3703320"/>
          </a:xfrm>
          <a:prstGeom prst="roundRect">
            <a:avLst>
              <a:gd name="adj" fmla="val 315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700784"/>
            <a:ext cx="2203704" cy="365760"/>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Selection</a:t>
            </a:r>
            <a:endParaRPr lang="en-US" sz="1600" dirty="0"/>
          </a:p>
        </p:txBody>
      </p:sp>
      <p:sp>
        <p:nvSpPr>
          <p:cNvPr id="8" name="Text 6"/>
          <p:cNvSpPr/>
          <p:nvPr/>
        </p:nvSpPr>
        <p:spPr>
          <a:xfrm>
            <a:off x="768096" y="2157984"/>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32752411</a:t>
            </a:r>
            <a:endParaRPr lang="en-US" sz="1550" dirty="0"/>
          </a:p>
        </p:txBody>
      </p:sp>
      <p:sp>
        <p:nvSpPr>
          <p:cNvPr id="9" name="Text 7"/>
          <p:cNvSpPr/>
          <p:nvPr/>
        </p:nvSpPr>
        <p:spPr>
          <a:xfrm>
            <a:off x="768096" y="2578608"/>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24748552</a:t>
            </a:r>
            <a:endParaRPr lang="en-US" sz="1550" dirty="0"/>
          </a:p>
        </p:txBody>
      </p:sp>
      <p:sp>
        <p:nvSpPr>
          <p:cNvPr id="10" name="Text 8"/>
          <p:cNvSpPr/>
          <p:nvPr/>
        </p:nvSpPr>
        <p:spPr>
          <a:xfrm>
            <a:off x="768096" y="2999232"/>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32752411</a:t>
            </a:r>
            <a:endParaRPr lang="en-US" sz="1550" dirty="0"/>
          </a:p>
        </p:txBody>
      </p:sp>
      <p:sp>
        <p:nvSpPr>
          <p:cNvPr id="11" name="Text 9"/>
          <p:cNvSpPr/>
          <p:nvPr/>
        </p:nvSpPr>
        <p:spPr>
          <a:xfrm>
            <a:off x="768096" y="3419856"/>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24415124</a:t>
            </a:r>
            <a:endParaRPr lang="en-US" sz="1550" dirty="0"/>
          </a:p>
        </p:txBody>
      </p:sp>
      <p:sp>
        <p:nvSpPr>
          <p:cNvPr id="12" name="Text 10"/>
          <p:cNvSpPr/>
          <p:nvPr/>
        </p:nvSpPr>
        <p:spPr>
          <a:xfrm>
            <a:off x="768096"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Two pairs of parents, drawn in accordance with the probabilities on the previous slide.</a:t>
            </a:r>
            <a:endParaRPr lang="en-US" sz="1200" dirty="0"/>
          </a:p>
        </p:txBody>
      </p:sp>
      <p:sp>
        <p:nvSpPr>
          <p:cNvPr id="13" name="Shape 11"/>
          <p:cNvSpPr/>
          <p:nvPr/>
        </p:nvSpPr>
        <p:spPr>
          <a:xfrm>
            <a:off x="3392424" y="1554480"/>
            <a:ext cx="2606040" cy="3703320"/>
          </a:xfrm>
          <a:prstGeom prst="roundRect">
            <a:avLst>
              <a:gd name="adj" fmla="val 315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3593592" y="1700784"/>
            <a:ext cx="2203704" cy="365760"/>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Crossover</a:t>
            </a:r>
            <a:endParaRPr lang="en-US" sz="1600" dirty="0"/>
          </a:p>
        </p:txBody>
      </p:sp>
      <p:sp>
        <p:nvSpPr>
          <p:cNvPr id="15" name="Text 13"/>
          <p:cNvSpPr/>
          <p:nvPr/>
        </p:nvSpPr>
        <p:spPr>
          <a:xfrm>
            <a:off x="3593592" y="2157984"/>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327|48552</a:t>
            </a:r>
            <a:endParaRPr lang="en-US" sz="1550" dirty="0"/>
          </a:p>
        </p:txBody>
      </p:sp>
      <p:sp>
        <p:nvSpPr>
          <p:cNvPr id="16" name="Text 14"/>
          <p:cNvSpPr/>
          <p:nvPr/>
        </p:nvSpPr>
        <p:spPr>
          <a:xfrm>
            <a:off x="3593592" y="2578608"/>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247|52411</a:t>
            </a:r>
            <a:endParaRPr lang="en-US" sz="1550" dirty="0"/>
          </a:p>
        </p:txBody>
      </p:sp>
      <p:sp>
        <p:nvSpPr>
          <p:cNvPr id="17" name="Text 15"/>
          <p:cNvSpPr/>
          <p:nvPr/>
        </p:nvSpPr>
        <p:spPr>
          <a:xfrm>
            <a:off x="3593592" y="2999232"/>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32752|124</a:t>
            </a:r>
            <a:endParaRPr lang="en-US" sz="1550" dirty="0"/>
          </a:p>
        </p:txBody>
      </p:sp>
      <p:sp>
        <p:nvSpPr>
          <p:cNvPr id="18" name="Text 16"/>
          <p:cNvSpPr/>
          <p:nvPr/>
        </p:nvSpPr>
        <p:spPr>
          <a:xfrm>
            <a:off x="3593592" y="3419856"/>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24415|411</a:t>
            </a:r>
            <a:endParaRPr lang="en-US" sz="1550" dirty="0"/>
          </a:p>
        </p:txBody>
      </p:sp>
      <p:sp>
        <p:nvSpPr>
          <p:cNvPr id="19" name="Text 17"/>
          <p:cNvSpPr/>
          <p:nvPr/>
        </p:nvSpPr>
        <p:spPr>
          <a:xfrm>
            <a:off x="3593592"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A crossover point is chosen at random for each pair. The tails are exchanged.</a:t>
            </a:r>
            <a:endParaRPr lang="en-US" sz="1200" dirty="0"/>
          </a:p>
        </p:txBody>
      </p:sp>
      <p:sp>
        <p:nvSpPr>
          <p:cNvPr id="20" name="Shape 18"/>
          <p:cNvSpPr/>
          <p:nvPr/>
        </p:nvSpPr>
        <p:spPr>
          <a:xfrm>
            <a:off x="6217920" y="1554480"/>
            <a:ext cx="2606040" cy="3703320"/>
          </a:xfrm>
          <a:prstGeom prst="roundRect">
            <a:avLst>
              <a:gd name="adj" fmla="val 315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1" name="Text 19"/>
          <p:cNvSpPr/>
          <p:nvPr/>
        </p:nvSpPr>
        <p:spPr>
          <a:xfrm>
            <a:off x="6419088" y="1700784"/>
            <a:ext cx="2203704" cy="365760"/>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Offspring</a:t>
            </a:r>
            <a:endParaRPr lang="en-US" sz="1600" dirty="0"/>
          </a:p>
        </p:txBody>
      </p:sp>
      <p:sp>
        <p:nvSpPr>
          <p:cNvPr id="22" name="Text 20"/>
          <p:cNvSpPr/>
          <p:nvPr/>
        </p:nvSpPr>
        <p:spPr>
          <a:xfrm>
            <a:off x="6419088" y="2157984"/>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32748552</a:t>
            </a:r>
            <a:endParaRPr lang="en-US" sz="1550" dirty="0"/>
          </a:p>
        </p:txBody>
      </p:sp>
      <p:sp>
        <p:nvSpPr>
          <p:cNvPr id="23" name="Text 21"/>
          <p:cNvSpPr/>
          <p:nvPr/>
        </p:nvSpPr>
        <p:spPr>
          <a:xfrm>
            <a:off x="6419088" y="2578608"/>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24752411</a:t>
            </a:r>
            <a:endParaRPr lang="en-US" sz="1550" dirty="0"/>
          </a:p>
        </p:txBody>
      </p:sp>
      <p:sp>
        <p:nvSpPr>
          <p:cNvPr id="24" name="Text 22"/>
          <p:cNvSpPr/>
          <p:nvPr/>
        </p:nvSpPr>
        <p:spPr>
          <a:xfrm>
            <a:off x="6419088" y="2999232"/>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32752124</a:t>
            </a:r>
            <a:endParaRPr lang="en-US" sz="1550" dirty="0"/>
          </a:p>
        </p:txBody>
      </p:sp>
      <p:sp>
        <p:nvSpPr>
          <p:cNvPr id="25" name="Text 23"/>
          <p:cNvSpPr/>
          <p:nvPr/>
        </p:nvSpPr>
        <p:spPr>
          <a:xfrm>
            <a:off x="6419088" y="3419856"/>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24415411</a:t>
            </a:r>
            <a:endParaRPr lang="en-US" sz="1550" dirty="0"/>
          </a:p>
        </p:txBody>
      </p:sp>
      <p:sp>
        <p:nvSpPr>
          <p:cNvPr id="26" name="Text 24"/>
          <p:cNvSpPr/>
          <p:nvPr/>
        </p:nvSpPr>
        <p:spPr>
          <a:xfrm>
            <a:off x="6419088"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The first child takes 327 from parent 1 and 48552 from parent 2.</a:t>
            </a:r>
            <a:endParaRPr lang="en-US" sz="1200" dirty="0"/>
          </a:p>
        </p:txBody>
      </p:sp>
      <p:sp>
        <p:nvSpPr>
          <p:cNvPr id="27" name="Shape 25"/>
          <p:cNvSpPr/>
          <p:nvPr/>
        </p:nvSpPr>
        <p:spPr>
          <a:xfrm>
            <a:off x="9043416" y="1554480"/>
            <a:ext cx="2606040" cy="3703320"/>
          </a:xfrm>
          <a:prstGeom prst="roundRect">
            <a:avLst>
              <a:gd name="adj" fmla="val 315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28" name="Text 26"/>
          <p:cNvSpPr/>
          <p:nvPr/>
        </p:nvSpPr>
        <p:spPr>
          <a:xfrm>
            <a:off x="9244584" y="1700784"/>
            <a:ext cx="2203704" cy="365760"/>
          </a:xfrm>
          <a:prstGeom prst="rect">
            <a:avLst/>
          </a:prstGeom>
          <a:noFill/>
          <a:ln/>
        </p:spPr>
        <p:txBody>
          <a:bodyPr wrap="square" lIns="0" tIns="0" rIns="0" bIns="0" rtlCol="0" anchor="ctr"/>
          <a:lstStyle/>
          <a:p>
            <a:pPr marL="0" indent="0">
              <a:buNone/>
            </a:pPr>
            <a:r>
              <a:rPr lang="en-US" sz="1600" b="1" dirty="0">
                <a:solidFill>
                  <a:srgbClr val="D08B6F"/>
                </a:solidFill>
                <a:latin typeface="Cambria" pitchFamily="34" charset="0"/>
                <a:ea typeface="Cambria" pitchFamily="34" charset="-122"/>
                <a:cs typeface="Cambria" pitchFamily="34" charset="-120"/>
              </a:rPr>
              <a:t>Mutation</a:t>
            </a:r>
            <a:endParaRPr lang="en-US" sz="1600" dirty="0"/>
          </a:p>
        </p:txBody>
      </p:sp>
      <p:sp>
        <p:nvSpPr>
          <p:cNvPr id="29" name="Text 27"/>
          <p:cNvSpPr/>
          <p:nvPr/>
        </p:nvSpPr>
        <p:spPr>
          <a:xfrm>
            <a:off x="9244584" y="2157984"/>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32748152</a:t>
            </a:r>
            <a:endParaRPr lang="en-US" sz="1550" dirty="0"/>
          </a:p>
        </p:txBody>
      </p:sp>
      <p:sp>
        <p:nvSpPr>
          <p:cNvPr id="30" name="Text 28"/>
          <p:cNvSpPr/>
          <p:nvPr/>
        </p:nvSpPr>
        <p:spPr>
          <a:xfrm>
            <a:off x="9244584" y="2578608"/>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24752411</a:t>
            </a:r>
            <a:endParaRPr lang="en-US" sz="1550" dirty="0"/>
          </a:p>
        </p:txBody>
      </p:sp>
      <p:sp>
        <p:nvSpPr>
          <p:cNvPr id="31" name="Text 29"/>
          <p:cNvSpPr/>
          <p:nvPr/>
        </p:nvSpPr>
        <p:spPr>
          <a:xfrm>
            <a:off x="9244584" y="2999232"/>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32252124</a:t>
            </a:r>
            <a:endParaRPr lang="en-US" sz="1550" dirty="0"/>
          </a:p>
        </p:txBody>
      </p:sp>
      <p:sp>
        <p:nvSpPr>
          <p:cNvPr id="32" name="Text 30"/>
          <p:cNvSpPr/>
          <p:nvPr/>
        </p:nvSpPr>
        <p:spPr>
          <a:xfrm>
            <a:off x="9244584" y="3419856"/>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24415417</a:t>
            </a:r>
            <a:endParaRPr lang="en-US" sz="1550" dirty="0"/>
          </a:p>
        </p:txBody>
      </p:sp>
      <p:sp>
        <p:nvSpPr>
          <p:cNvPr id="33" name="Text 31"/>
          <p:cNvSpPr/>
          <p:nvPr/>
        </p:nvSpPr>
        <p:spPr>
          <a:xfrm>
            <a:off x="9244584"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E4D9C3"/>
                </a:solidFill>
                <a:latin typeface="Calibri" pitchFamily="34" charset="0"/>
                <a:ea typeface="Calibri" pitchFamily="34" charset="-122"/>
                <a:cs typeface="Calibri" pitchFamily="34" charset="-120"/>
              </a:rPr>
              <a:t>Each position mutates with a small independent probability. Three digits changed here.</a:t>
            </a:r>
            <a:endParaRPr lang="en-US" sz="1200" dirty="0"/>
          </a:p>
        </p:txBody>
      </p:sp>
      <p:sp>
        <p:nvSpPr>
          <p:cNvPr id="34" name="Text 32"/>
          <p:cNvSpPr/>
          <p:nvPr/>
        </p:nvSpPr>
        <p:spPr>
          <a:xfrm>
            <a:off x="566928" y="5440680"/>
            <a:ext cx="11057839" cy="73152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Populations are diverse early on, so crossover takes large steps in the state space — much as high-temperature annealing does. After many generations of selection toward higher fitness, the population becomes less diverse and the steps become small. The step-size schedule is emergent rather than specified.</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THE ONE REAL QUESTION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Does crossover actually buy anything?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53</a:t>
            </a:r>
            <a:endParaRPr lang="en-US" sz="900" dirty="0"/>
          </a:p>
        </p:txBody>
      </p:sp>
      <p:sp>
        <p:nvSpPr>
          <p:cNvPr id="6" name="Text 4"/>
          <p:cNvSpPr/>
          <p:nvPr/>
        </p:nvSpPr>
        <p:spPr>
          <a:xfrm>
            <a:off x="566928" y="1481328"/>
            <a:ext cx="11057839" cy="8229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Genetic algorithms are similar to stochastic beam search, but with the addition of the crossover operation. So the entire case for genetic algorithms rests on whether crossover helps.</a:t>
            </a:r>
            <a:endParaRPr lang="en-US" sz="1550" dirty="0"/>
          </a:p>
        </p:txBody>
      </p:sp>
      <p:sp>
        <p:nvSpPr>
          <p:cNvPr id="7" name="Shape 5"/>
          <p:cNvSpPr/>
          <p:nvPr/>
        </p:nvSpPr>
        <p:spPr>
          <a:xfrm>
            <a:off x="566928" y="2331720"/>
            <a:ext cx="5349240" cy="1783080"/>
          </a:xfrm>
          <a:prstGeom prst="roundRect">
            <a:avLst>
              <a:gd name="adj" fmla="val 4615"/>
            </a:avLst>
          </a:prstGeom>
          <a:solidFill>
            <a:srgbClr val="EDF1E9"/>
          </a:solidFill>
          <a:ln w="12700">
            <a:solidFill>
              <a:srgbClr val="D9E2D2"/>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2487168"/>
            <a:ext cx="4837176" cy="329184"/>
          </a:xfrm>
          <a:prstGeom prst="rect">
            <a:avLst/>
          </a:prstGeom>
          <a:noFill/>
          <a:ln/>
        </p:spPr>
        <p:txBody>
          <a:bodyPr wrap="square" lIns="0" tIns="0" rIns="0" bIns="0" rtlCol="0" anchor="ctr"/>
          <a:lstStyle/>
          <a:p>
            <a:pPr marL="0" indent="0">
              <a:buNone/>
            </a:pPr>
            <a:r>
              <a:rPr lang="en-US" sz="1600" b="1" dirty="0">
                <a:solidFill>
                  <a:srgbClr val="47603F"/>
                </a:solidFill>
                <a:latin typeface="Cambria" pitchFamily="34" charset="0"/>
                <a:ea typeface="Cambria" pitchFamily="34" charset="-122"/>
                <a:cs typeface="Cambria" pitchFamily="34" charset="-120"/>
              </a:rPr>
              <a:t>When it helps</a:t>
            </a:r>
            <a:endParaRPr lang="en-US" sz="1600" dirty="0"/>
          </a:p>
        </p:txBody>
      </p:sp>
      <p:sp>
        <p:nvSpPr>
          <p:cNvPr id="9" name="Text 7"/>
          <p:cNvSpPr/>
          <p:nvPr/>
        </p:nvSpPr>
        <p:spPr>
          <a:xfrm>
            <a:off x="822960" y="2871216"/>
            <a:ext cx="4837176" cy="109728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When there are blocks that perform useful functions. Putting the first three queens in positions 2, 4 and 6 — where they do not attack each other — is a useful block that can be combined with other useful blocks found in other individuals.</a:t>
            </a:r>
            <a:endParaRPr lang="en-US" sz="1350" dirty="0"/>
          </a:p>
        </p:txBody>
      </p:sp>
      <p:sp>
        <p:nvSpPr>
          <p:cNvPr id="10" name="Shape 8"/>
          <p:cNvSpPr/>
          <p:nvPr/>
        </p:nvSpPr>
        <p:spPr>
          <a:xfrm>
            <a:off x="6300216" y="2331720"/>
            <a:ext cx="5349240" cy="1783080"/>
          </a:xfrm>
          <a:prstGeom prst="roundRect">
            <a:avLst>
              <a:gd name="adj" fmla="val 4615"/>
            </a:avLst>
          </a:prstGeom>
          <a:solidFill>
            <a:srgbClr val="F3E7E1"/>
          </a:solidFill>
          <a:ln w="12700">
            <a:solidFill>
              <a:srgbClr val="E8D5CC"/>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2487168"/>
            <a:ext cx="4837176" cy="329184"/>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When it does not</a:t>
            </a:r>
            <a:endParaRPr lang="en-US" sz="1600" dirty="0"/>
          </a:p>
        </p:txBody>
      </p:sp>
      <p:sp>
        <p:nvSpPr>
          <p:cNvPr id="12" name="Text 10"/>
          <p:cNvSpPr/>
          <p:nvPr/>
        </p:nvSpPr>
        <p:spPr>
          <a:xfrm>
            <a:off x="6556248" y="2871216"/>
            <a:ext cx="4837176" cy="109728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It can be shown mathematically that if the blocks do not serve a purpose — for example if the positions of the genetic code are randomly permuted — then crossover conveys no advantage at all. You are then paying for a fancy stochastic beam search.</a:t>
            </a:r>
            <a:endParaRPr lang="en-US" sz="1350" dirty="0"/>
          </a:p>
        </p:txBody>
      </p:sp>
      <p:sp>
        <p:nvSpPr>
          <p:cNvPr id="13" name="Shape 11"/>
          <p:cNvSpPr/>
          <p:nvPr/>
        </p:nvSpPr>
        <p:spPr>
          <a:xfrm>
            <a:off x="566928" y="4297680"/>
            <a:ext cx="11057839" cy="1508760"/>
          </a:xfrm>
          <a:prstGeom prst="roundRect">
            <a:avLst>
              <a:gd name="adj" fmla="val 5455"/>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77824" y="4297680"/>
            <a:ext cx="10436047" cy="1508760"/>
          </a:xfrm>
          <a:prstGeom prst="rect">
            <a:avLst/>
          </a:prstGeom>
          <a:noFill/>
          <a:ln/>
        </p:spPr>
        <p:txBody>
          <a:bodyPr wrap="square" lIns="0" tIns="0" rIns="0" bIns="0" rtlCol="0" anchor="ctr"/>
          <a:lstStyle/>
          <a:p>
            <a:pPr marL="0" indent="0">
              <a:lnSpc>
                <a:spcPts val="2200"/>
              </a:lnSpc>
              <a:buNone/>
            </a:pPr>
            <a:r>
              <a:rPr lang="en-US" sz="1550" dirty="0">
                <a:solidFill>
                  <a:srgbClr val="E4D9C3"/>
                </a:solidFill>
                <a:latin typeface="Calibri" pitchFamily="34" charset="0"/>
                <a:ea typeface="Calibri" pitchFamily="34" charset="-122"/>
                <a:cs typeface="Calibri" pitchFamily="34" charset="-120"/>
              </a:rPr>
              <a:t>The practical consequence: successful use of genetic algorithms requires careful engineering of the representation. If your encoding does not place related decisions near each other, crossover splices unrelated fragments and you have built an expensive random search.</a:t>
            </a:r>
            <a:endParaRPr lang="en-US" sz="15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THEORY</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Schemas: why useful blocks spread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54</a:t>
            </a:r>
            <a:endParaRPr lang="en-US" sz="900" dirty="0"/>
          </a:p>
        </p:txBody>
      </p:sp>
      <p:sp>
        <p:nvSpPr>
          <p:cNvPr id="6" name="Text 4"/>
          <p:cNvSpPr/>
          <p:nvPr/>
        </p:nvSpPr>
        <p:spPr>
          <a:xfrm>
            <a:off x="566928" y="1481328"/>
            <a:ext cx="11057839" cy="9144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A schema is a substring in which some of the positions can be left unspecified.</a:t>
            </a:r>
            <a:endParaRPr lang="en-US" sz="1550" dirty="0"/>
          </a:p>
          <a:p>
            <a:pPr marL="203200" indent="-203200">
              <a:lnSpc>
                <a:spcPts val="2000"/>
              </a:lnSpc>
              <a:spcAft>
                <a:spcPts val="1400"/>
              </a:spcAft>
              <a:buSzPct val="100000"/>
              <a:buChar char="•"/>
            </a:pPr>
            <a:r>
              <a:rPr lang="en-US" sz="1550" dirty="0">
                <a:solidFill>
                  <a:srgbClr val="1B2226"/>
                </a:solidFill>
                <a:latin typeface="Calibri" pitchFamily="34" charset="0"/>
                <a:ea typeface="Calibri" pitchFamily="34" charset="-122"/>
                <a:cs typeface="Calibri" pitchFamily="34" charset="-120"/>
              </a:rPr>
              <a:t>Strings that match a schema are called instances of that schema.</a:t>
            </a:r>
            <a:endParaRPr lang="en-US" sz="1550" dirty="0"/>
          </a:p>
        </p:txBody>
      </p:sp>
      <p:sp>
        <p:nvSpPr>
          <p:cNvPr id="7" name="Shape 5"/>
          <p:cNvSpPr/>
          <p:nvPr/>
        </p:nvSpPr>
        <p:spPr>
          <a:xfrm>
            <a:off x="566928" y="2286000"/>
            <a:ext cx="51206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2468880"/>
            <a:ext cx="4572000" cy="502920"/>
          </a:xfrm>
          <a:prstGeom prst="rect">
            <a:avLst/>
          </a:prstGeom>
          <a:noFill/>
          <a:ln/>
        </p:spPr>
        <p:txBody>
          <a:bodyPr wrap="square" lIns="0" tIns="0" rIns="0" bIns="0" rtlCol="0" anchor="ctr"/>
          <a:lstStyle/>
          <a:p>
            <a:pPr marL="0" indent="0">
              <a:buNone/>
            </a:pPr>
            <a:r>
              <a:rPr lang="en-US" sz="3000" b="1" dirty="0">
                <a:solidFill>
                  <a:srgbClr val="1E2A2F"/>
                </a:solidFill>
                <a:latin typeface="Courier New" pitchFamily="34" charset="0"/>
                <a:ea typeface="Courier New" pitchFamily="34" charset="-122"/>
                <a:cs typeface="Courier New" pitchFamily="34" charset="-120"/>
              </a:rPr>
              <a:t>246*****</a:t>
            </a:r>
            <a:endParaRPr lang="en-US" sz="3000" dirty="0"/>
          </a:p>
        </p:txBody>
      </p:sp>
      <p:sp>
        <p:nvSpPr>
          <p:cNvPr id="9" name="Text 7"/>
          <p:cNvSpPr/>
          <p:nvPr/>
        </p:nvSpPr>
        <p:spPr>
          <a:xfrm>
            <a:off x="841248" y="3017520"/>
            <a:ext cx="4572000" cy="82296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Describes all 8-queens states in which the first three queens are in rows 2, 4 and 6. The string 24613578 is an instance of it.</a:t>
            </a:r>
            <a:endParaRPr lang="en-US" sz="1350" dirty="0"/>
          </a:p>
        </p:txBody>
      </p:sp>
      <p:sp>
        <p:nvSpPr>
          <p:cNvPr id="10" name="Shape 8"/>
          <p:cNvSpPr/>
          <p:nvPr/>
        </p:nvSpPr>
        <p:spPr>
          <a:xfrm>
            <a:off x="6071616" y="2286000"/>
            <a:ext cx="5568696"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272784" y="2414016"/>
            <a:ext cx="5166360"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schema theorem, informally</a:t>
            </a:r>
            <a:endParaRPr lang="en-US" sz="1450" dirty="0"/>
          </a:p>
        </p:txBody>
      </p:sp>
      <p:sp>
        <p:nvSpPr>
          <p:cNvPr id="12" name="Text 10"/>
          <p:cNvSpPr/>
          <p:nvPr/>
        </p:nvSpPr>
        <p:spPr>
          <a:xfrm>
            <a:off x="6272784" y="2743200"/>
            <a:ext cx="5166360"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If the average fitness of the instances of a schema is above the population mean, then the number of instances of that schema will grow over time.</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Selection is therefore not just promoting good individuals — it is implicitly promoting good building blocks in parallel.</a:t>
            </a:r>
            <a:endParaRPr lang="en-US" sz="1280" dirty="0"/>
          </a:p>
        </p:txBody>
      </p:sp>
      <p:sp>
        <p:nvSpPr>
          <p:cNvPr id="13" name="Text 11"/>
          <p:cNvSpPr/>
          <p:nvPr/>
        </p:nvSpPr>
        <p:spPr>
          <a:xfrm>
            <a:off x="566928" y="4206240"/>
            <a:ext cx="11057839" cy="1737360"/>
          </a:xfrm>
          <a:prstGeom prst="rect">
            <a:avLst/>
          </a:prstGeom>
          <a:noFill/>
          <a:ln/>
        </p:spPr>
        <p:txBody>
          <a:bodyPr wrap="square" lIns="0" tIns="0" rIns="0" bIns="0" rtlCol="0" anchor="t"/>
          <a:lstStyle/>
          <a:p>
            <a:pPr marL="203200" indent="-203200">
              <a:lnSpc>
                <a:spcPts val="1900"/>
              </a:lnSpc>
              <a:spcAft>
                <a:spcPts val="1200"/>
              </a:spcAft>
              <a:buSzPct val="100000"/>
              <a:buChar char="•"/>
            </a:pPr>
            <a:r>
              <a:rPr lang="en-US" sz="1450" b="1" dirty="0">
                <a:solidFill>
                  <a:srgbClr val="47603F"/>
                </a:solidFill>
                <a:latin typeface="Calibri" pitchFamily="34" charset="0"/>
                <a:ea typeface="Calibri" pitchFamily="34" charset="-122"/>
                <a:cs typeface="Calibri" pitchFamily="34" charset="-120"/>
              </a:rPr>
              <a:t>Genetic algorithms work best when schemas correspond to meaningful components of a solution.</a:t>
            </a:r>
            <a:endParaRPr lang="en-US" sz="1450" dirty="0"/>
          </a:p>
          <a:p>
            <a:pPr marL="406400" lvl="1" indent="-203200">
              <a:lnSpc>
                <a:spcPts val="1600"/>
              </a:lnSpc>
              <a:spcAft>
                <a:spcPts val="500"/>
              </a:spcAft>
              <a:buSzPct val="100000"/>
              <a:buChar char="•"/>
            </a:pPr>
            <a:r>
              <a:rPr lang="en-US" sz="1250" dirty="0">
                <a:solidFill>
                  <a:srgbClr val="33454E"/>
                </a:solidFill>
                <a:latin typeface="Calibri" pitchFamily="34" charset="0"/>
                <a:ea typeface="Calibri" pitchFamily="34" charset="-122"/>
                <a:cs typeface="Calibri" pitchFamily="34" charset="-120"/>
              </a:rPr>
              <a:t>If the string represents an antenna, the schemas may represent components such as reflectors and deflectors. A good reflector is likely to be good across a variety of different designs — so it is worth propagating on its own.</a:t>
            </a:r>
            <a:endParaRPr lang="en-US" sz="1450" dirty="0"/>
          </a:p>
          <a:p>
            <a:pPr marL="406400" lvl="1" indent="-203200">
              <a:lnSpc>
                <a:spcPts val="1600"/>
              </a:lnSpc>
              <a:spcAft>
                <a:spcPts val="500"/>
              </a:spcAft>
              <a:buSzPct val="100000"/>
              <a:buChar char="•"/>
            </a:pPr>
            <a:r>
              <a:rPr lang="en-US" sz="1250" dirty="0">
                <a:solidFill>
                  <a:srgbClr val="B5563A"/>
                </a:solidFill>
                <a:latin typeface="Calibri" pitchFamily="34" charset="0"/>
                <a:ea typeface="Calibri" pitchFamily="34" charset="-122"/>
                <a:cs typeface="Calibri" pitchFamily="34" charset="-120"/>
              </a:rPr>
              <a:t>This effect is unlikely to be significant if adjacent positions are totally unrelated, because then there are few contiguous blocks that provide a consistent benefit.</a:t>
            </a:r>
            <a:endParaRPr lang="en-US" sz="14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SIDEBAR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Evolution and search: where the metaphor breaks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55</a:t>
            </a:r>
            <a:endParaRPr lang="en-US" sz="900" dirty="0"/>
          </a:p>
        </p:txBody>
      </p:sp>
      <p:sp>
        <p:nvSpPr>
          <p:cNvPr id="6" name="Shape 4"/>
          <p:cNvSpPr/>
          <p:nvPr/>
        </p:nvSpPr>
        <p:spPr>
          <a:xfrm>
            <a:off x="566928" y="155448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7" name="Text 5"/>
          <p:cNvSpPr/>
          <p:nvPr/>
        </p:nvSpPr>
        <p:spPr>
          <a:xfrm>
            <a:off x="804672" y="155448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1858–59</a:t>
            </a:r>
            <a:endParaRPr lang="en-US" sz="1350" dirty="0"/>
          </a:p>
        </p:txBody>
      </p:sp>
      <p:sp>
        <p:nvSpPr>
          <p:cNvPr id="8" name="Text 6"/>
          <p:cNvSpPr/>
          <p:nvPr/>
        </p:nvSpPr>
        <p:spPr>
          <a:xfrm>
            <a:off x="2304288" y="155448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Darwin &amp; Wallace</a:t>
            </a:r>
            <a:endParaRPr lang="en-US" sz="1400" dirty="0"/>
          </a:p>
        </p:txBody>
      </p:sp>
      <p:sp>
        <p:nvSpPr>
          <p:cNvPr id="9" name="Text 7"/>
          <p:cNvSpPr/>
          <p:nvPr/>
        </p:nvSpPr>
        <p:spPr>
          <a:xfrm>
            <a:off x="4956048" y="155448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Variations occur in reproduction and are preserved in proportion to their effect on reproductive fitness.</a:t>
            </a:r>
            <a:endParaRPr lang="en-US" sz="1280" dirty="0"/>
          </a:p>
        </p:txBody>
      </p:sp>
      <p:sp>
        <p:nvSpPr>
          <p:cNvPr id="10" name="Shape 8"/>
          <p:cNvSpPr/>
          <p:nvPr/>
        </p:nvSpPr>
        <p:spPr>
          <a:xfrm>
            <a:off x="566928" y="237744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11" name="Text 9"/>
          <p:cNvSpPr/>
          <p:nvPr/>
        </p:nvSpPr>
        <p:spPr>
          <a:xfrm>
            <a:off x="804672" y="237744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1866</a:t>
            </a:r>
            <a:endParaRPr lang="en-US" sz="1350" dirty="0"/>
          </a:p>
        </p:txBody>
      </p:sp>
      <p:sp>
        <p:nvSpPr>
          <p:cNvPr id="12" name="Text 10"/>
          <p:cNvSpPr/>
          <p:nvPr/>
        </p:nvSpPr>
        <p:spPr>
          <a:xfrm>
            <a:off x="2304288" y="237744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Mendel</a:t>
            </a:r>
            <a:endParaRPr lang="en-US" sz="1400" dirty="0"/>
          </a:p>
        </p:txBody>
      </p:sp>
      <p:sp>
        <p:nvSpPr>
          <p:cNvPr id="13" name="Text 11"/>
          <p:cNvSpPr/>
          <p:nvPr/>
        </p:nvSpPr>
        <p:spPr>
          <a:xfrm>
            <a:off x="4956048" y="237744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probabilistic laws of inheritance, worked out on sweet peas — with no knowledge of DNA.</a:t>
            </a:r>
            <a:endParaRPr lang="en-US" sz="1280" dirty="0"/>
          </a:p>
        </p:txBody>
      </p:sp>
      <p:sp>
        <p:nvSpPr>
          <p:cNvPr id="14" name="Shape 12"/>
          <p:cNvSpPr/>
          <p:nvPr/>
        </p:nvSpPr>
        <p:spPr>
          <a:xfrm>
            <a:off x="566928" y="320040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15" name="Text 13"/>
          <p:cNvSpPr/>
          <p:nvPr/>
        </p:nvSpPr>
        <p:spPr>
          <a:xfrm>
            <a:off x="804672" y="320040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1896 / 1987</a:t>
            </a:r>
            <a:endParaRPr lang="en-US" sz="1350" dirty="0"/>
          </a:p>
        </p:txBody>
      </p:sp>
      <p:sp>
        <p:nvSpPr>
          <p:cNvPr id="16" name="Text 14"/>
          <p:cNvSpPr/>
          <p:nvPr/>
        </p:nvSpPr>
        <p:spPr>
          <a:xfrm>
            <a:off x="2304288" y="320040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Baldwin; Hinton &amp; Nowlan</a:t>
            </a:r>
            <a:endParaRPr lang="en-US" sz="1400" dirty="0"/>
          </a:p>
        </p:txBody>
      </p:sp>
      <p:sp>
        <p:nvSpPr>
          <p:cNvPr id="17" name="Text 15"/>
          <p:cNvSpPr/>
          <p:nvPr/>
        </p:nvSpPr>
        <p:spPr>
          <a:xfrm>
            <a:off x="4956048" y="320040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Learning relaxes the fitness landscape and accelerates evolution. Simulations confirm the Baldwin effect is real.</a:t>
            </a:r>
            <a:endParaRPr lang="en-US" sz="1280" dirty="0"/>
          </a:p>
        </p:txBody>
      </p:sp>
      <p:sp>
        <p:nvSpPr>
          <p:cNvPr id="18" name="Shape 16"/>
          <p:cNvSpPr/>
          <p:nvPr/>
        </p:nvSpPr>
        <p:spPr>
          <a:xfrm>
            <a:off x="566928" y="402336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19" name="Text 17"/>
          <p:cNvSpPr/>
          <p:nvPr/>
        </p:nvSpPr>
        <p:spPr>
          <a:xfrm>
            <a:off x="804672" y="402336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1953</a:t>
            </a:r>
            <a:endParaRPr lang="en-US" sz="1350" dirty="0"/>
          </a:p>
        </p:txBody>
      </p:sp>
      <p:sp>
        <p:nvSpPr>
          <p:cNvPr id="20" name="Text 18"/>
          <p:cNvSpPr/>
          <p:nvPr/>
        </p:nvSpPr>
        <p:spPr>
          <a:xfrm>
            <a:off x="2304288" y="402336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Watson &amp; Crick</a:t>
            </a:r>
            <a:endParaRPr lang="en-US" sz="1400" dirty="0"/>
          </a:p>
        </p:txBody>
      </p:sp>
      <p:sp>
        <p:nvSpPr>
          <p:cNvPr id="21" name="Text 19"/>
          <p:cNvSpPr/>
          <p:nvPr/>
        </p:nvSpPr>
        <p:spPr>
          <a:xfrm>
            <a:off x="4956048" y="402336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structure of DNA and its alphabet AGTC. Variation by point mutation and by crossover.</a:t>
            </a:r>
            <a:endParaRPr lang="en-US" sz="1280" dirty="0"/>
          </a:p>
        </p:txBody>
      </p:sp>
      <p:sp>
        <p:nvSpPr>
          <p:cNvPr id="22" name="Shape 20"/>
          <p:cNvSpPr/>
          <p:nvPr/>
        </p:nvSpPr>
        <p:spPr>
          <a:xfrm>
            <a:off x="566928" y="4974336"/>
            <a:ext cx="11057839" cy="1207008"/>
          </a:xfrm>
          <a:prstGeom prst="roundRect">
            <a:avLst>
              <a:gd name="adj" fmla="val 681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23" name="Text 21"/>
          <p:cNvSpPr/>
          <p:nvPr/>
        </p:nvSpPr>
        <p:spPr>
          <a:xfrm>
            <a:off x="877824" y="4974336"/>
            <a:ext cx="10436047" cy="1207008"/>
          </a:xfrm>
          <a:prstGeom prst="rect">
            <a:avLst/>
          </a:prstGeom>
          <a:noFill/>
          <a:ln/>
        </p:spPr>
        <p:txBody>
          <a:bodyPr wrap="square" lIns="0" tIns="0" rIns="0" bIns="0" rtlCol="0" anchor="ctr"/>
          <a:lstStyle/>
          <a:p>
            <a:pPr marL="0" indent="0">
              <a:lnSpc>
                <a:spcPts val="1800"/>
              </a:lnSpc>
              <a:buNone/>
            </a:pPr>
            <a:r>
              <a:rPr lang="en-US" sz="1350" dirty="0">
                <a:solidFill>
                  <a:srgbClr val="E4D9C3"/>
                </a:solidFill>
                <a:latin typeface="Calibri" pitchFamily="34" charset="0"/>
                <a:ea typeface="Calibri" pitchFamily="34" charset="-122"/>
                <a:cs typeface="Calibri" pitchFamily="34" charset="-120"/>
              </a:rPr>
              <a:t>The actual mechanisms of evolution are far richer than most genetic algorithms allow: reversals, duplications, movement of large DNA chunks, viruses inserting foreign DNA, transposable genes that only copy themselves. Most importantly, the genes themselves encode the machinery of reproduction — in a genetic algorithm that machinery is a separate program, outside the strings being manipulated.</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ASSESSMENT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Do genetic algorithms deserve their reputation?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56</a:t>
            </a:r>
            <a:endParaRPr lang="en-US" sz="900" dirty="0"/>
          </a:p>
        </p:txBody>
      </p:sp>
      <p:sp>
        <p:nvSpPr>
          <p:cNvPr id="6" name="Shape 4"/>
          <p:cNvSpPr/>
          <p:nvPr/>
        </p:nvSpPr>
        <p:spPr>
          <a:xfrm>
            <a:off x="566928" y="1554480"/>
            <a:ext cx="3520440" cy="2103120"/>
          </a:xfrm>
          <a:prstGeom prst="roundRect">
            <a:avLst>
              <a:gd name="adj" fmla="val 39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682496"/>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Where they are genuinely used</a:t>
            </a:r>
            <a:endParaRPr lang="en-US" sz="1450" dirty="0"/>
          </a:p>
        </p:txBody>
      </p:sp>
      <p:sp>
        <p:nvSpPr>
          <p:cNvPr id="8" name="Text 6"/>
          <p:cNvSpPr/>
          <p:nvPr/>
        </p:nvSpPr>
        <p:spPr>
          <a:xfrm>
            <a:off x="768096" y="2011680"/>
            <a:ext cx="3118104" cy="14813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Complex structured problems: circuit layout, job-shop scheduling, and more recently evolving the architecture of deep neural networks.</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They have their place within the broad landscape of optimization methods.</a:t>
            </a:r>
            <a:endParaRPr lang="en-US" sz="1280" dirty="0"/>
          </a:p>
        </p:txBody>
      </p:sp>
      <p:sp>
        <p:nvSpPr>
          <p:cNvPr id="9" name="Shape 7"/>
          <p:cNvSpPr/>
          <p:nvPr/>
        </p:nvSpPr>
        <p:spPr>
          <a:xfrm>
            <a:off x="4343400" y="1554480"/>
            <a:ext cx="3520440" cy="2103120"/>
          </a:xfrm>
          <a:prstGeom prst="roundRect">
            <a:avLst>
              <a:gd name="adj" fmla="val 39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4544568" y="168249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Where the advantage comes from</a:t>
            </a:r>
            <a:endParaRPr lang="en-US" sz="1450" dirty="0"/>
          </a:p>
        </p:txBody>
      </p:sp>
      <p:sp>
        <p:nvSpPr>
          <p:cNvPr id="11" name="Text 9"/>
          <p:cNvSpPr/>
          <p:nvPr/>
        </p:nvSpPr>
        <p:spPr>
          <a:xfrm>
            <a:off x="4544568" y="2011680"/>
            <a:ext cx="3118104" cy="14813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Crossover, and only when the representation puts related decisions adjacent to each other so that useful blocks exist to be recombined.</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Otherwise you have a slower stochastic beam search.</a:t>
            </a:r>
            <a:endParaRPr lang="en-US" sz="1280" dirty="0"/>
          </a:p>
        </p:txBody>
      </p:sp>
      <p:sp>
        <p:nvSpPr>
          <p:cNvPr id="12" name="Shape 10"/>
          <p:cNvSpPr/>
          <p:nvPr/>
        </p:nvSpPr>
        <p:spPr>
          <a:xfrm>
            <a:off x="8119872" y="1554480"/>
            <a:ext cx="3520440" cy="2103120"/>
          </a:xfrm>
          <a:prstGeom prst="roundRect">
            <a:avLst>
              <a:gd name="adj" fmla="val 39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321040" y="168249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uncomfortable question</a:t>
            </a:r>
            <a:endParaRPr lang="en-US" sz="1450" dirty="0"/>
          </a:p>
        </p:txBody>
      </p:sp>
      <p:sp>
        <p:nvSpPr>
          <p:cNvPr id="14" name="Text 12"/>
          <p:cNvSpPr/>
          <p:nvPr/>
        </p:nvSpPr>
        <p:spPr>
          <a:xfrm>
            <a:off x="8321040" y="2011680"/>
            <a:ext cx="3118104" cy="14813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It is not clear how much of the appeal of genetic algorithms arises from their superiority on specific tasks, and how much from the appealing metaphor of evolution.</a:t>
            </a:r>
            <a:endParaRPr lang="en-US" sz="1280" dirty="0"/>
          </a:p>
        </p:txBody>
      </p:sp>
      <p:sp>
        <p:nvSpPr>
          <p:cNvPr id="15" name="Shape 13"/>
          <p:cNvSpPr/>
          <p:nvPr/>
        </p:nvSpPr>
        <p:spPr>
          <a:xfrm>
            <a:off x="566928" y="3886200"/>
            <a:ext cx="11057839" cy="1920240"/>
          </a:xfrm>
          <a:prstGeom prst="roundRect">
            <a:avLst>
              <a:gd name="adj" fmla="val 428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877824" y="4069080"/>
            <a:ext cx="10436047" cy="347472"/>
          </a:xfrm>
          <a:prstGeom prst="rect">
            <a:avLst/>
          </a:prstGeom>
          <a:noFill/>
          <a:ln/>
        </p:spPr>
        <p:txBody>
          <a:bodyPr wrap="square" lIns="0" tIns="0" rIns="0" bIns="0" rtlCol="0" anchor="ctr"/>
          <a:lstStyle/>
          <a:p>
            <a:pPr marL="0" indent="0">
              <a:buNone/>
            </a:pPr>
            <a:r>
              <a:rPr lang="en-US" sz="1600" b="1" dirty="0">
                <a:solidFill>
                  <a:srgbClr val="D08B6F"/>
                </a:solidFill>
                <a:latin typeface="Cambria" pitchFamily="34" charset="0"/>
                <a:ea typeface="Cambria" pitchFamily="34" charset="-122"/>
                <a:cs typeface="Cambria" pitchFamily="34" charset="-120"/>
              </a:rPr>
              <a:t>A habit worth forming</a:t>
            </a:r>
            <a:endParaRPr lang="en-US" sz="1600" dirty="0"/>
          </a:p>
        </p:txBody>
      </p:sp>
      <p:sp>
        <p:nvSpPr>
          <p:cNvPr id="17" name="Text 15"/>
          <p:cNvSpPr/>
          <p:nvPr/>
        </p:nvSpPr>
        <p:spPr>
          <a:xfrm>
            <a:off x="877824" y="4462272"/>
            <a:ext cx="10436047" cy="118872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That last sentence is a textbook — one of the most widely used in the field — telling you that a famous technique may be popular partly because it tells a good story. Carry that scepticism forward. When you evaluate a method, ask what it is being compared against: a genetic algorithm that beats random search has demonstrated very little, and the honest baseline is almost always random-restart hill climbing.</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CHECKPOINT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Before we leave discrete spaces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57</a:t>
            </a:r>
            <a:endParaRPr lang="en-US" sz="900" dirty="0"/>
          </a:p>
        </p:txBody>
      </p:sp>
      <p:sp>
        <p:nvSpPr>
          <p:cNvPr id="6" name="Shape 4"/>
          <p:cNvSpPr/>
          <p:nvPr/>
        </p:nvSpPr>
        <p:spPr>
          <a:xfrm>
            <a:off x="566928" y="1536192"/>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Shape 5"/>
          <p:cNvSpPr/>
          <p:nvPr/>
        </p:nvSpPr>
        <p:spPr>
          <a:xfrm>
            <a:off x="804672" y="1792224"/>
            <a:ext cx="402336" cy="402336"/>
          </a:xfrm>
          <a:prstGeom prst="ellipse">
            <a:avLst/>
          </a:prstGeom>
          <a:solidFill>
            <a:srgbClr val="B5563A"/>
          </a:solidFill>
          <a:ln w="12700">
            <a:solidFill>
              <a:srgbClr val="B5563A"/>
            </a:solidFill>
            <a:prstDash val="solid"/>
          </a:ln>
        </p:spPr>
        <p:txBody>
          <a:bodyPr/>
          <a:lstStyle/>
          <a:p>
            <a:endParaRPr lang="en-US"/>
          </a:p>
        </p:txBody>
      </p:sp>
      <p:sp>
        <p:nvSpPr>
          <p:cNvPr id="8" name="Text 6"/>
          <p:cNvSpPr/>
          <p:nvPr/>
        </p:nvSpPr>
        <p:spPr>
          <a:xfrm>
            <a:off x="804672" y="1792224"/>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p:nvPr/>
        </p:nvSpPr>
        <p:spPr>
          <a:xfrm>
            <a:off x="1389888" y="1682496"/>
            <a:ext cx="9960559" cy="530352"/>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Local beam search with k = 4 has all four states on the same peak after ten iterations. What has gone wrong, and what is the standard fix?</a:t>
            </a:r>
            <a:endParaRPr lang="en-US" sz="1450" dirty="0"/>
          </a:p>
        </p:txBody>
      </p:sp>
      <p:sp>
        <p:nvSpPr>
          <p:cNvPr id="10" name="Text 8"/>
          <p:cNvSpPr/>
          <p:nvPr/>
        </p:nvSpPr>
        <p:spPr>
          <a:xfrm>
            <a:off x="1389888" y="2249424"/>
            <a:ext cx="9960559" cy="548640"/>
          </a:xfrm>
          <a:prstGeom prst="rect">
            <a:avLst/>
          </a:prstGeom>
          <a:noFill/>
          <a:ln/>
        </p:spPr>
        <p:txBody>
          <a:bodyPr wrap="square" lIns="0" tIns="0" rIns="0" bIns="0" rtlCol="0" anchor="t"/>
          <a:lstStyle/>
          <a:p>
            <a:pPr marL="0" indent="0">
              <a:lnSpc>
                <a:spcPts val="1700"/>
              </a:lnSpc>
              <a:buNone/>
            </a:pPr>
            <a:r>
              <a:rPr lang="en-US" sz="1280" i="1" dirty="0">
                <a:solidFill>
                  <a:srgbClr val="47603F"/>
                </a:solidFill>
                <a:latin typeface="Calibri" pitchFamily="34" charset="0"/>
                <a:ea typeface="Calibri" pitchFamily="34" charset="-122"/>
                <a:cs typeface="Calibri" pitchFamily="34" charset="-120"/>
              </a:rPr>
              <a:t>Loss of diversity — selection reallocated every slot to one lineage. Fix: stochastic beam search, selecting successors with probability proportional to value.</a:t>
            </a:r>
            <a:endParaRPr lang="en-US" sz="1280" dirty="0"/>
          </a:p>
        </p:txBody>
      </p:sp>
      <p:sp>
        <p:nvSpPr>
          <p:cNvPr id="11" name="Shape 9"/>
          <p:cNvSpPr/>
          <p:nvPr/>
        </p:nvSpPr>
        <p:spPr>
          <a:xfrm>
            <a:off x="566928" y="3017520"/>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Shape 10"/>
          <p:cNvSpPr/>
          <p:nvPr/>
        </p:nvSpPr>
        <p:spPr>
          <a:xfrm>
            <a:off x="804672" y="3273552"/>
            <a:ext cx="402336" cy="402336"/>
          </a:xfrm>
          <a:prstGeom prst="ellipse">
            <a:avLst/>
          </a:prstGeom>
          <a:solidFill>
            <a:srgbClr val="B5563A"/>
          </a:solidFill>
          <a:ln w="12700">
            <a:solidFill>
              <a:srgbClr val="B5563A"/>
            </a:solidFill>
            <a:prstDash val="solid"/>
          </a:ln>
        </p:spPr>
        <p:txBody>
          <a:bodyPr/>
          <a:lstStyle/>
          <a:p>
            <a:endParaRPr lang="en-US"/>
          </a:p>
        </p:txBody>
      </p:sp>
      <p:sp>
        <p:nvSpPr>
          <p:cNvPr id="13" name="Text 11"/>
          <p:cNvSpPr/>
          <p:nvPr/>
        </p:nvSpPr>
        <p:spPr>
          <a:xfrm>
            <a:off x="804672" y="3273552"/>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2"/>
          <p:cNvSpPr/>
          <p:nvPr/>
        </p:nvSpPr>
        <p:spPr>
          <a:xfrm>
            <a:off x="1389888" y="3163824"/>
            <a:ext cx="9960559" cy="530352"/>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Under what condition does crossover give a genetic algorithm no advantage over stochastic beam search?</a:t>
            </a:r>
            <a:endParaRPr lang="en-US" sz="1450" dirty="0"/>
          </a:p>
        </p:txBody>
      </p:sp>
      <p:sp>
        <p:nvSpPr>
          <p:cNvPr id="15" name="Text 13"/>
          <p:cNvSpPr/>
          <p:nvPr/>
        </p:nvSpPr>
        <p:spPr>
          <a:xfrm>
            <a:off x="1389888" y="3730752"/>
            <a:ext cx="9960559" cy="548640"/>
          </a:xfrm>
          <a:prstGeom prst="rect">
            <a:avLst/>
          </a:prstGeom>
          <a:noFill/>
          <a:ln/>
        </p:spPr>
        <p:txBody>
          <a:bodyPr wrap="square" lIns="0" tIns="0" rIns="0" bIns="0" rtlCol="0" anchor="t"/>
          <a:lstStyle/>
          <a:p>
            <a:pPr marL="0" indent="0">
              <a:lnSpc>
                <a:spcPts val="1700"/>
              </a:lnSpc>
              <a:buNone/>
            </a:pPr>
            <a:r>
              <a:rPr lang="en-US" sz="1280" i="1" dirty="0">
                <a:solidFill>
                  <a:srgbClr val="47603F"/>
                </a:solidFill>
                <a:latin typeface="Calibri" pitchFamily="34" charset="0"/>
                <a:ea typeface="Calibri" pitchFamily="34" charset="-122"/>
                <a:cs typeface="Calibri" pitchFamily="34" charset="-120"/>
              </a:rPr>
              <a:t>When there are no meaningful blocks — for example when the positions of the encoding are randomly permuted, so contiguous substrings do not correspond to related decisions.</a:t>
            </a:r>
            <a:endParaRPr lang="en-US" sz="1280" dirty="0"/>
          </a:p>
        </p:txBody>
      </p:sp>
      <p:sp>
        <p:nvSpPr>
          <p:cNvPr id="16" name="Shape 14"/>
          <p:cNvSpPr/>
          <p:nvPr/>
        </p:nvSpPr>
        <p:spPr>
          <a:xfrm>
            <a:off x="566928" y="4498848"/>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7" name="Shape 15"/>
          <p:cNvSpPr/>
          <p:nvPr/>
        </p:nvSpPr>
        <p:spPr>
          <a:xfrm>
            <a:off x="804672" y="4754880"/>
            <a:ext cx="402336" cy="402336"/>
          </a:xfrm>
          <a:prstGeom prst="ellipse">
            <a:avLst/>
          </a:prstGeom>
          <a:solidFill>
            <a:srgbClr val="B5563A"/>
          </a:solidFill>
          <a:ln w="12700">
            <a:solidFill>
              <a:srgbClr val="B5563A"/>
            </a:solidFill>
            <a:prstDash val="solid"/>
          </a:ln>
        </p:spPr>
        <p:txBody>
          <a:bodyPr/>
          <a:lstStyle/>
          <a:p>
            <a:endParaRPr lang="en-US"/>
          </a:p>
        </p:txBody>
      </p:sp>
      <p:sp>
        <p:nvSpPr>
          <p:cNvPr id="18" name="Text 16"/>
          <p:cNvSpPr/>
          <p:nvPr/>
        </p:nvSpPr>
        <p:spPr>
          <a:xfrm>
            <a:off x="804672" y="4754880"/>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9" name="Text 17"/>
          <p:cNvSpPr/>
          <p:nvPr/>
        </p:nvSpPr>
        <p:spPr>
          <a:xfrm>
            <a:off x="1389888" y="4645152"/>
            <a:ext cx="9960559" cy="530352"/>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Simulated annealing and random-restart hill climbing both converge to the optimum with probability 1. Why is that not a reason to prefer either one?</a:t>
            </a:r>
            <a:endParaRPr lang="en-US" sz="1450" dirty="0"/>
          </a:p>
        </p:txBody>
      </p:sp>
      <p:sp>
        <p:nvSpPr>
          <p:cNvPr id="20" name="Text 18"/>
          <p:cNvSpPr/>
          <p:nvPr/>
        </p:nvSpPr>
        <p:spPr>
          <a:xfrm>
            <a:off x="1389888" y="5212080"/>
            <a:ext cx="9960559" cy="548640"/>
          </a:xfrm>
          <a:prstGeom prst="rect">
            <a:avLst/>
          </a:prstGeom>
          <a:noFill/>
          <a:ln/>
        </p:spPr>
        <p:txBody>
          <a:bodyPr wrap="square" lIns="0" tIns="0" rIns="0" bIns="0" rtlCol="0" anchor="t"/>
          <a:lstStyle/>
          <a:p>
            <a:pPr marL="0" indent="0">
              <a:lnSpc>
                <a:spcPts val="1700"/>
              </a:lnSpc>
              <a:buNone/>
            </a:pPr>
            <a:r>
              <a:rPr lang="en-US" sz="1280" i="1" dirty="0">
                <a:solidFill>
                  <a:srgbClr val="47603F"/>
                </a:solidFill>
                <a:latin typeface="Calibri" pitchFamily="34" charset="0"/>
                <a:ea typeface="Calibri" pitchFamily="34" charset="-122"/>
                <a:cs typeface="Calibri" pitchFamily="34" charset="-120"/>
              </a:rPr>
              <a:t>Because the guarantee says nothing about the rate. For annealing, 'slowly enough' may be exponentially slow. Both guarantees are asymptotic and neither describes runtime behaviour.</a:t>
            </a:r>
            <a:endParaRPr lang="en-US" sz="12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TRANSITION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Everything so far assumed you could list the neighbours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58</a:t>
            </a:r>
            <a:endParaRPr lang="en-US" sz="900" dirty="0"/>
          </a:p>
        </p:txBody>
      </p:sp>
      <p:sp>
        <p:nvSpPr>
          <p:cNvPr id="6" name="Text 4"/>
          <p:cNvSpPr/>
          <p:nvPr/>
        </p:nvSpPr>
        <p:spPr>
          <a:xfrm>
            <a:off x="566928" y="1517904"/>
            <a:ext cx="11057839" cy="192024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Steepest-ascent hill climbing enumerates all 56 successors and takes the best.</a:t>
            </a:r>
            <a:endParaRPr lang="en-US" sz="1550" dirty="0"/>
          </a:p>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Local beam search generates ALL successors of all k states, then ranks them.</a:t>
            </a:r>
            <a:endParaRPr lang="en-US" sz="1550" dirty="0"/>
          </a:p>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Genetic algorithms enumerate nothing directly, but the representation is a finite string over a finite alphabet.</a:t>
            </a:r>
            <a:endParaRPr lang="en-US" sz="1550" dirty="0"/>
          </a:p>
        </p:txBody>
      </p:sp>
      <p:sp>
        <p:nvSpPr>
          <p:cNvPr id="7" name="Shape 5"/>
          <p:cNvSpPr/>
          <p:nvPr/>
        </p:nvSpPr>
        <p:spPr>
          <a:xfrm>
            <a:off x="566928" y="3291840"/>
            <a:ext cx="11057839" cy="1325880"/>
          </a:xfrm>
          <a:prstGeom prst="roundRect">
            <a:avLst>
              <a:gd name="adj" fmla="val 6207"/>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77824" y="3291840"/>
            <a:ext cx="10436047" cy="1325880"/>
          </a:xfrm>
          <a:prstGeom prst="rect">
            <a:avLst/>
          </a:prstGeom>
          <a:noFill/>
          <a:ln/>
        </p:spPr>
        <p:txBody>
          <a:bodyPr wrap="square" lIns="0" tIns="0" rIns="0" bIns="0" rtlCol="0" anchor="ctr"/>
          <a:lstStyle/>
          <a:p>
            <a:pPr marL="0" indent="0">
              <a:buNone/>
            </a:pPr>
            <a:r>
              <a:rPr lang="en-US" sz="2100" i="1" dirty="0">
                <a:solidFill>
                  <a:srgbClr val="FFFFFF"/>
                </a:solidFill>
                <a:latin typeface="Cambria" pitchFamily="34" charset="0"/>
                <a:ea typeface="Cambria" pitchFamily="34" charset="-122"/>
                <a:cs typeface="Cambria" pitchFamily="34" charset="-120"/>
              </a:rPr>
              <a:t>Now suppose a state is a point in ℝⁿ. How many successors does it have?</a:t>
            </a:r>
            <a:endParaRPr lang="en-US" sz="2100" dirty="0"/>
          </a:p>
        </p:txBody>
      </p:sp>
      <p:sp>
        <p:nvSpPr>
          <p:cNvPr id="9" name="Text 7"/>
          <p:cNvSpPr/>
          <p:nvPr/>
        </p:nvSpPr>
        <p:spPr>
          <a:xfrm>
            <a:off x="566928" y="4800600"/>
            <a:ext cx="11057839" cy="12801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B5563A"/>
                </a:solidFill>
                <a:latin typeface="Calibri" pitchFamily="34" charset="0"/>
                <a:ea typeface="Calibri" pitchFamily="34" charset="-122"/>
                <a:cs typeface="Calibri" pitchFamily="34" charset="-120"/>
              </a:rPr>
              <a:t>Infinitely many. A continuous action space has an infinite branching factor, and thus cannot be handled by most of the algorithms we have covered so far.</a:t>
            </a:r>
            <a:endParaRPr lang="en-US" sz="1500" dirty="0"/>
          </a:p>
          <a:p>
            <a:pPr marL="203200" indent="-203200">
              <a:lnSpc>
                <a:spcPts val="2000"/>
              </a:lnSpc>
              <a:spcAft>
                <a:spcPts val="1200"/>
              </a:spcAft>
              <a:buSzPct val="100000"/>
              <a:buChar char="•"/>
            </a:pPr>
            <a:r>
              <a:rPr lang="en-US" sz="1500" dirty="0">
                <a:solidFill>
                  <a:srgbClr val="47603F"/>
                </a:solidFill>
                <a:latin typeface="Calibri" pitchFamily="34" charset="0"/>
                <a:ea typeface="Calibri" pitchFamily="34" charset="-122"/>
                <a:cs typeface="Calibri" pitchFamily="34" charset="-120"/>
              </a:rPr>
              <a:t>The two exceptions, as promised: first-choice hill climbing and simulated annealing, because both sample a random successor rather than enumerating the neighbourhood.</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06</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Local Search in</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Continuous Spaces</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4.2.  Most real-world environments are continuous. Many of the basic techniques originated in the 17th century, after the development of calculus by Newton and Leibniz — and they are the direct ancestors of every optimizer in modern machine learning.</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THE PROBLEM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An infinite branching factor breaks the machinery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60</a:t>
            </a:r>
            <a:endParaRPr lang="en-US" sz="900" dirty="0"/>
          </a:p>
        </p:txBody>
      </p:sp>
      <p:sp>
        <p:nvSpPr>
          <p:cNvPr id="6" name="Text 4"/>
          <p:cNvSpPr/>
          <p:nvPr/>
        </p:nvSpPr>
        <p:spPr>
          <a:xfrm>
            <a:off x="566928" y="1517904"/>
            <a:ext cx="11057839" cy="146304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In Chapter 2 we distinguished discrete from continuous environments, and pointed out that most real-world environments are continuous.</a:t>
            </a:r>
            <a:endParaRPr lang="en-US" sz="1550" dirty="0"/>
          </a:p>
          <a:p>
            <a:pPr marL="203200" indent="-203200">
              <a:lnSpc>
                <a:spcPts val="2000"/>
              </a:lnSpc>
              <a:spcAft>
                <a:spcPts val="1200"/>
              </a:spcAft>
              <a:buSzPct val="100000"/>
              <a:buChar char="•"/>
            </a:pPr>
            <a:r>
              <a:rPr lang="en-US" sz="1550" dirty="0">
                <a:solidFill>
                  <a:srgbClr val="B5563A"/>
                </a:solidFill>
                <a:latin typeface="Calibri" pitchFamily="34" charset="0"/>
                <a:ea typeface="Calibri" pitchFamily="34" charset="-122"/>
                <a:cs typeface="Calibri" pitchFamily="34" charset="-120"/>
              </a:rPr>
              <a:t>A continuous action space has an infinite branching factor. Every operation in our algorithms that says “generate the successors” is now undefined.</a:t>
            </a:r>
            <a:endParaRPr lang="en-US" sz="1550" dirty="0"/>
          </a:p>
        </p:txBody>
      </p:sp>
      <p:sp>
        <p:nvSpPr>
          <p:cNvPr id="7" name="Shape 5"/>
          <p:cNvSpPr/>
          <p:nvPr/>
        </p:nvSpPr>
        <p:spPr>
          <a:xfrm>
            <a:off x="566928" y="297180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09981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breaks</a:t>
            </a:r>
            <a:endParaRPr lang="en-US" sz="1450" dirty="0"/>
          </a:p>
        </p:txBody>
      </p:sp>
      <p:sp>
        <p:nvSpPr>
          <p:cNvPr id="9" name="Text 7"/>
          <p:cNvSpPr/>
          <p:nvPr/>
        </p:nvSpPr>
        <p:spPr>
          <a:xfrm>
            <a:off x="768096" y="3429000"/>
            <a:ext cx="3118104" cy="12070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Steepest-ascent hill climbing: needs the best of all successors.</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Local beam search: needs all successors of all k states.</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Genetic algorithms: need a finite alphabet to build strings over.</a:t>
            </a:r>
            <a:endParaRPr lang="en-US" sz="1280" dirty="0"/>
          </a:p>
        </p:txBody>
      </p:sp>
      <p:sp>
        <p:nvSpPr>
          <p:cNvPr id="10" name="Shape 8"/>
          <p:cNvSpPr/>
          <p:nvPr/>
        </p:nvSpPr>
        <p:spPr>
          <a:xfrm>
            <a:off x="4343400" y="297180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4544568" y="3099816"/>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What survives</a:t>
            </a:r>
            <a:endParaRPr lang="en-US" sz="1450" dirty="0"/>
          </a:p>
        </p:txBody>
      </p:sp>
      <p:sp>
        <p:nvSpPr>
          <p:cNvPr id="12" name="Text 10"/>
          <p:cNvSpPr/>
          <p:nvPr/>
        </p:nvSpPr>
        <p:spPr>
          <a:xfrm>
            <a:off x="4544568" y="3429000"/>
            <a:ext cx="3118104" cy="12070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First-choice hill climbing: samples successors at random and takes the first improvement.</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Simulated annealing: samples one random successor per iteration.</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Neither ever needed the full neighbourhood.</a:t>
            </a:r>
            <a:endParaRPr lang="en-US" sz="1280" dirty="0"/>
          </a:p>
        </p:txBody>
      </p:sp>
      <p:sp>
        <p:nvSpPr>
          <p:cNvPr id="13" name="Shape 11"/>
          <p:cNvSpPr/>
          <p:nvPr/>
        </p:nvSpPr>
        <p:spPr>
          <a:xfrm>
            <a:off x="8119872" y="297180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321040" y="309981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becomes possible</a:t>
            </a:r>
            <a:endParaRPr lang="en-US" sz="1450" dirty="0"/>
          </a:p>
        </p:txBody>
      </p:sp>
      <p:sp>
        <p:nvSpPr>
          <p:cNvPr id="15" name="Text 13"/>
          <p:cNvSpPr/>
          <p:nvPr/>
        </p:nvSpPr>
        <p:spPr>
          <a:xfrm>
            <a:off x="8321040" y="3429000"/>
            <a:ext cx="3118104" cy="12070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Something genuinely new: if the objective is expressed in a mathematical form, calculus lets us compute the direction of steepest ascent directly, instead of guessing at it.</a:t>
            </a:r>
            <a:endParaRPr lang="en-US" sz="1280" dirty="0"/>
          </a:p>
        </p:txBody>
      </p:sp>
      <p:sp>
        <p:nvSpPr>
          <p:cNvPr id="16" name="Text 14"/>
          <p:cNvSpPr/>
          <p:nvPr/>
        </p:nvSpPr>
        <p:spPr>
          <a:xfrm>
            <a:off x="566928" y="5029200"/>
            <a:ext cx="11057839" cy="685800"/>
          </a:xfrm>
          <a:prstGeom prst="rect">
            <a:avLst/>
          </a:prstGeom>
          <a:noFill/>
          <a:ln/>
        </p:spPr>
        <p:txBody>
          <a:bodyPr wrap="square" lIns="0" tIns="0" rIns="0" bIns="0" rtlCol="0" anchor="t"/>
          <a:lstStyle/>
          <a:p>
            <a:pPr marL="0" indent="0">
              <a:lnSpc>
                <a:spcPts val="2100"/>
              </a:lnSpc>
              <a:buNone/>
            </a:pPr>
            <a:r>
              <a:rPr lang="en-US" sz="1500" i="1" dirty="0">
                <a:solidFill>
                  <a:srgbClr val="33454E"/>
                </a:solidFill>
                <a:latin typeface="Calibri" pitchFamily="34" charset="0"/>
                <a:ea typeface="Calibri" pitchFamily="34" charset="-122"/>
                <a:cs typeface="Calibri" pitchFamily="34" charset="-120"/>
              </a:rPr>
              <a:t>The literature on this topic is vast. What follows is a very brief introduction — enough vocabulary that the optimization chapter of a machine learning course reads as familiar rather than foreign.</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RUNNING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Siting three airports in Romania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61</a:t>
            </a:r>
            <a:endParaRPr lang="en-US" sz="900" dirty="0"/>
          </a:p>
        </p:txBody>
      </p:sp>
      <p:pic>
        <p:nvPicPr>
          <p:cNvPr id="6" name="Image 0" descr="img/romania_plain.png"/>
          <p:cNvPicPr>
            <a:picLocks noChangeAspect="1"/>
          </p:cNvPicPr>
          <p:nvPr/>
        </p:nvPicPr>
        <p:blipFill>
          <a:blip r:embed="rId3"/>
          <a:stretch>
            <a:fillRect/>
          </a:stretch>
        </p:blipFill>
        <p:spPr>
          <a:xfrm>
            <a:off x="658368" y="1536192"/>
            <a:ext cx="6766560" cy="4480560"/>
          </a:xfrm>
          <a:prstGeom prst="rect">
            <a:avLst/>
          </a:prstGeom>
        </p:spPr>
      </p:pic>
      <p:sp>
        <p:nvSpPr>
          <p:cNvPr id="7" name="Shape 4"/>
          <p:cNvSpPr/>
          <p:nvPr/>
        </p:nvSpPr>
        <p:spPr>
          <a:xfrm>
            <a:off x="7635240" y="1536192"/>
            <a:ext cx="3438144" cy="2148840"/>
          </a:xfrm>
          <a:prstGeom prst="roundRect">
            <a:avLst>
              <a:gd name="adj" fmla="val 383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7836408" y="1664208"/>
            <a:ext cx="3035808"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task</a:t>
            </a:r>
            <a:endParaRPr lang="en-US" sz="1450" dirty="0"/>
          </a:p>
        </p:txBody>
      </p:sp>
      <p:sp>
        <p:nvSpPr>
          <p:cNvPr id="9" name="Text 6"/>
          <p:cNvSpPr/>
          <p:nvPr/>
        </p:nvSpPr>
        <p:spPr>
          <a:xfrm>
            <a:off x="7836408" y="1993392"/>
            <a:ext cx="3035808" cy="15270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Place three new airports anywhere in Romania, such that the sum of squared straight-line distances from each city on the map to its nearest airport is minimised.</a:t>
            </a:r>
            <a:endParaRPr lang="en-US" sz="1300" dirty="0"/>
          </a:p>
        </p:txBody>
      </p:sp>
      <p:sp>
        <p:nvSpPr>
          <p:cNvPr id="10" name="Shape 7"/>
          <p:cNvSpPr/>
          <p:nvPr/>
        </p:nvSpPr>
        <p:spPr>
          <a:xfrm>
            <a:off x="7635240" y="3822192"/>
            <a:ext cx="3438144" cy="2194560"/>
          </a:xfrm>
          <a:prstGeom prst="roundRect">
            <a:avLst>
              <a:gd name="adj" fmla="val 375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8"/>
          <p:cNvSpPr/>
          <p:nvPr/>
        </p:nvSpPr>
        <p:spPr>
          <a:xfrm>
            <a:off x="7836408" y="3950208"/>
            <a:ext cx="3035808"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state space</a:t>
            </a:r>
            <a:endParaRPr lang="en-US" sz="1450" dirty="0"/>
          </a:p>
        </p:txBody>
      </p:sp>
      <p:sp>
        <p:nvSpPr>
          <p:cNvPr id="12" name="Text 9"/>
          <p:cNvSpPr/>
          <p:nvPr/>
        </p:nvSpPr>
        <p:spPr>
          <a:xfrm>
            <a:off x="7836408" y="4279392"/>
            <a:ext cx="3035808" cy="1572768"/>
          </a:xfrm>
          <a:prstGeom prst="rect">
            <a:avLst/>
          </a:prstGeom>
          <a:noFill/>
          <a:ln/>
        </p:spPr>
        <p:txBody>
          <a:bodyPr wrap="square" lIns="0" tIns="0" rIns="0" bIns="0" rtlCol="0" anchor="t"/>
          <a:lstStyle/>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The coordinates of the three airports:</a:t>
            </a:r>
            <a:endParaRPr lang="en-US" sz="1260" dirty="0"/>
          </a:p>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(x₁,y₁), (x₂,y₂), (x₃,y₃).</a:t>
            </a:r>
            <a:endParaRPr lang="en-US" sz="1260" dirty="0"/>
          </a:p>
          <a:p>
            <a:pPr marL="0" indent="0">
              <a:lnSpc>
                <a:spcPts val="1600"/>
              </a:lnSpc>
              <a:buNone/>
            </a:pPr>
            <a:endParaRPr lang="en-US" sz="1260" dirty="0"/>
          </a:p>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A six-dimensional space. In general, states are defined by an n-dimensional vector of variables x.</a:t>
            </a:r>
            <a:endParaRPr lang="en-US" sz="1260" dirty="0"/>
          </a:p>
          <a:p>
            <a:pPr marL="0" indent="0">
              <a:lnSpc>
                <a:spcPts val="1600"/>
              </a:lnSpc>
              <a:buNone/>
            </a:pPr>
            <a:endParaRPr lang="en-US" sz="1260" dirty="0"/>
          </a:p>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Moving in this space means moving one or more airports on the map.</a:t>
            </a:r>
            <a:endParaRPr lang="en-US" sz="126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FORMALISING</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objective function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62</a:t>
            </a:r>
            <a:endParaRPr lang="en-US" sz="900" dirty="0"/>
          </a:p>
        </p:txBody>
      </p:sp>
      <p:sp>
        <p:nvSpPr>
          <p:cNvPr id="6" name="Text 4"/>
          <p:cNvSpPr/>
          <p:nvPr/>
        </p:nvSpPr>
        <p:spPr>
          <a:xfrm>
            <a:off x="566928" y="1463040"/>
            <a:ext cx="11057839" cy="365760"/>
          </a:xfrm>
          <a:prstGeom prst="rect">
            <a:avLst/>
          </a:prstGeom>
          <a:noFill/>
          <a:ln/>
        </p:spPr>
        <p:txBody>
          <a:bodyPr wrap="square" lIns="0" tIns="0" rIns="0" bIns="0" rtlCol="0" anchor="ctr"/>
          <a:lstStyle/>
          <a:p>
            <a:pPr marL="0" indent="0">
              <a:buNone/>
            </a:pPr>
            <a:r>
              <a:rPr lang="en-US" sz="1500" dirty="0">
                <a:solidFill>
                  <a:srgbClr val="1B2226"/>
                </a:solidFill>
                <a:latin typeface="Calibri" pitchFamily="34" charset="0"/>
                <a:ea typeface="Calibri" pitchFamily="34" charset="-122"/>
                <a:cs typeface="Calibri" pitchFamily="34" charset="-120"/>
              </a:rPr>
              <a:t>Let Cᵢ be the set of cities whose closest airport, in the state x, is airport i. Then:</a:t>
            </a:r>
            <a:endParaRPr lang="en-US" sz="1500" dirty="0"/>
          </a:p>
        </p:txBody>
      </p:sp>
      <p:sp>
        <p:nvSpPr>
          <p:cNvPr id="7" name="Shape 5"/>
          <p:cNvSpPr/>
          <p:nvPr/>
        </p:nvSpPr>
        <p:spPr>
          <a:xfrm>
            <a:off x="566928" y="1920240"/>
            <a:ext cx="11057839" cy="1051560"/>
          </a:xfrm>
          <a:prstGeom prst="roundRect">
            <a:avLst>
              <a:gd name="adj" fmla="val 782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1920240"/>
            <a:ext cx="10509199" cy="105156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f(x)  =  f(x₁, y₁, x₂, y₂, x₃, y₃)  =  Σᵢ₌₁³  Σ c∈Cᵢ   ( (xᵢ − x_c)²  +  (yᵢ − y_c)² )</a:t>
            </a:r>
            <a:endParaRPr lang="en-US" sz="1900" dirty="0"/>
          </a:p>
        </p:txBody>
      </p:sp>
      <p:sp>
        <p:nvSpPr>
          <p:cNvPr id="9" name="Text 7"/>
          <p:cNvSpPr/>
          <p:nvPr/>
        </p:nvSpPr>
        <p:spPr>
          <a:xfrm>
            <a:off x="10161727" y="3017520"/>
            <a:ext cx="1463040" cy="256032"/>
          </a:xfrm>
          <a:prstGeom prst="rect">
            <a:avLst/>
          </a:prstGeom>
          <a:noFill/>
          <a:ln/>
        </p:spPr>
        <p:txBody>
          <a:bodyPr wrap="square" lIns="0" tIns="0" rIns="0" bIns="0" rtlCol="0" anchor="ctr"/>
          <a:lstStyle/>
          <a:p>
            <a:pPr marL="0" indent="0" algn="r">
              <a:buNone/>
            </a:pPr>
            <a:r>
              <a:rPr lang="en-US" sz="1100" i="1" dirty="0">
                <a:solidFill>
                  <a:srgbClr val="7A868C"/>
                </a:solidFill>
                <a:latin typeface="Calibri" pitchFamily="34" charset="0"/>
                <a:ea typeface="Calibri" pitchFamily="34" charset="-122"/>
                <a:cs typeface="Calibri" pitchFamily="34" charset="-120"/>
              </a:rPr>
              <a:t>Equation 4.1</a:t>
            </a:r>
            <a:endParaRPr lang="en-US" sz="1100" dirty="0"/>
          </a:p>
        </p:txBody>
      </p:sp>
      <p:sp>
        <p:nvSpPr>
          <p:cNvPr id="10" name="Shape 8"/>
          <p:cNvSpPr/>
          <p:nvPr/>
        </p:nvSpPr>
        <p:spPr>
          <a:xfrm>
            <a:off x="566928"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768096" y="3557016"/>
            <a:ext cx="49469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Cheap to evaluate</a:t>
            </a:r>
            <a:endParaRPr lang="en-US" sz="1450" dirty="0"/>
          </a:p>
        </p:txBody>
      </p:sp>
      <p:sp>
        <p:nvSpPr>
          <p:cNvPr id="12" name="Text 10"/>
          <p:cNvSpPr/>
          <p:nvPr/>
        </p:nvSpPr>
        <p:spPr>
          <a:xfrm>
            <a:off x="768096"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Once you know which cities are closest to which airport, f is a sum of squared distances — a few dozen arithmetic operations.</a:t>
            </a:r>
            <a:endParaRPr lang="en-US" sz="1300" dirty="0"/>
          </a:p>
        </p:txBody>
      </p:sp>
      <p:sp>
        <p:nvSpPr>
          <p:cNvPr id="13" name="Shape 11"/>
          <p:cNvSpPr/>
          <p:nvPr/>
        </p:nvSpPr>
        <p:spPr>
          <a:xfrm>
            <a:off x="6300216"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6501384" y="355701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Squared, not plain, distance</a:t>
            </a:r>
            <a:endParaRPr lang="en-US" sz="1450" dirty="0"/>
          </a:p>
        </p:txBody>
      </p:sp>
      <p:sp>
        <p:nvSpPr>
          <p:cNvPr id="15" name="Text 13"/>
          <p:cNvSpPr/>
          <p:nvPr/>
        </p:nvSpPr>
        <p:spPr>
          <a:xfrm>
            <a:off x="6501384"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Squaring makes f differentiable everywhere and penalises one badly-served city more than several mildly-served ones. That is a modelling choice.</a:t>
            </a:r>
            <a:endParaRPr lang="en-US" sz="1300" dirty="0"/>
          </a:p>
        </p:txBody>
      </p:sp>
      <p:sp>
        <p:nvSpPr>
          <p:cNvPr id="16" name="Shape 14"/>
          <p:cNvSpPr/>
          <p:nvPr/>
        </p:nvSpPr>
        <p:spPr>
          <a:xfrm>
            <a:off x="566928" y="4864608"/>
            <a:ext cx="11057839" cy="1051560"/>
          </a:xfrm>
          <a:prstGeom prst="roundRect">
            <a:avLst>
              <a:gd name="adj" fmla="val 7826"/>
            </a:avLst>
          </a:prstGeom>
          <a:solidFill>
            <a:srgbClr val="F3E7E1"/>
          </a:solidFill>
          <a:ln w="12700">
            <a:solidFill>
              <a:srgbClr val="E8D5CC"/>
            </a:solidFill>
            <a:prstDash val="solid"/>
          </a:ln>
          <a:effectLst>
            <a:outerShdw blurRad="127000" dist="17780" dir="5400000" algn="bl" rotWithShape="0">
              <a:srgbClr val="8E9A9F">
                <a:alpha val="16000"/>
              </a:srgbClr>
            </a:outerShdw>
          </a:effectLst>
        </p:spPr>
        <p:txBody>
          <a:bodyPr/>
          <a:lstStyle/>
          <a:p>
            <a:endParaRPr lang="en-US"/>
          </a:p>
        </p:txBody>
      </p:sp>
      <p:sp>
        <p:nvSpPr>
          <p:cNvPr id="17" name="Text 15"/>
          <p:cNvSpPr/>
          <p:nvPr/>
        </p:nvSpPr>
        <p:spPr>
          <a:xfrm>
            <a:off x="859536" y="4864608"/>
            <a:ext cx="10472623" cy="1051560"/>
          </a:xfrm>
          <a:prstGeom prst="rect">
            <a:avLst/>
          </a:prstGeom>
          <a:noFill/>
          <a:ln/>
        </p:spPr>
        <p:txBody>
          <a:bodyPr wrap="square" lIns="0" tIns="0" rIns="0" bIns="0" rtlCol="0" anchor="ctr"/>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The catch that defines the rest of this section: this equation is correct for x and for states in the local neighbourhood of x — but it is not correct globally. Stray far enough and the set of closest cities for an airport changes, so Cᵢ must be recomputed and the formula is a different formula.</a:t>
            </a:r>
            <a:endParaRPr lang="en-US" sz="14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1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Discretize the space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63</a:t>
            </a:r>
            <a:endParaRPr lang="en-US" sz="900" dirty="0"/>
          </a:p>
        </p:txBody>
      </p:sp>
      <p:pic>
        <p:nvPicPr>
          <p:cNvPr id="6" name="Image 0" descr="img/discretize.png"/>
          <p:cNvPicPr>
            <a:picLocks noChangeAspect="1"/>
          </p:cNvPicPr>
          <p:nvPr/>
        </p:nvPicPr>
        <p:blipFill>
          <a:blip r:embed="rId3"/>
          <a:stretch>
            <a:fillRect/>
          </a:stretch>
        </p:blipFill>
        <p:spPr>
          <a:xfrm>
            <a:off x="731520" y="1554480"/>
            <a:ext cx="5943600" cy="4151376"/>
          </a:xfrm>
          <a:prstGeom prst="rect">
            <a:avLst/>
          </a:prstGeom>
        </p:spPr>
      </p:pic>
      <p:sp>
        <p:nvSpPr>
          <p:cNvPr id="7" name="Text 4"/>
          <p:cNvSpPr/>
          <p:nvPr/>
        </p:nvSpPr>
        <p:spPr>
          <a:xfrm>
            <a:off x="6949440" y="1645920"/>
            <a:ext cx="4114800" cy="393192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Instead of allowing (xᵢ, yᵢ) to be any point in continuous space, limit them to fixed points on a rectangular grid with spacing δ.</a:t>
            </a:r>
            <a:endParaRPr lang="en-US" sz="1400" dirty="0"/>
          </a:p>
          <a:p>
            <a:pPr marL="406400" lvl="1" indent="-203200">
              <a:lnSpc>
                <a:spcPts val="1600"/>
              </a:lnSpc>
              <a:spcAft>
                <a:spcPts val="500"/>
              </a:spcAft>
              <a:buSzPct val="100000"/>
              <a:buChar char="•"/>
            </a:pPr>
            <a:r>
              <a:rPr lang="en-US" sz="1200" dirty="0">
                <a:solidFill>
                  <a:srgbClr val="33454E"/>
                </a:solidFill>
                <a:latin typeface="Calibri" pitchFamily="34" charset="0"/>
                <a:ea typeface="Calibri" pitchFamily="34" charset="-122"/>
                <a:cs typeface="Calibri" pitchFamily="34" charset="-120"/>
              </a:rPr>
              <a:t>Each state now has 12 successors: increment or decrement one of the 6 variables by δ.</a:t>
            </a:r>
            <a:endParaRPr lang="en-US" sz="1400" dirty="0"/>
          </a:p>
          <a:p>
            <a:pPr marL="406400" lvl="1" indent="-203200">
              <a:lnSpc>
                <a:spcPts val="1600"/>
              </a:lnSpc>
              <a:spcAft>
                <a:spcPts val="500"/>
              </a:spcAft>
              <a:buSzPct val="100000"/>
              <a:buChar char="•"/>
            </a:pPr>
            <a:r>
              <a:rPr lang="en-US" sz="1200" dirty="0">
                <a:solidFill>
                  <a:srgbClr val="33454E"/>
                </a:solidFill>
                <a:latin typeface="Calibri" pitchFamily="34" charset="0"/>
                <a:ea typeface="Calibri" pitchFamily="34" charset="-122"/>
                <a:cs typeface="Calibri" pitchFamily="34" charset="-120"/>
              </a:rPr>
              <a:t>In general, 2n successors for n variables.</a:t>
            </a:r>
            <a:endParaRPr lang="en-US" sz="1400" dirty="0"/>
          </a:p>
          <a:p>
            <a:pPr marL="203200" indent="-203200">
              <a:lnSpc>
                <a:spcPts val="1800"/>
              </a:lnSpc>
              <a:spcAft>
                <a:spcPts val="1400"/>
              </a:spcAft>
              <a:buSzPct val="100000"/>
              <a:buChar char="•"/>
            </a:pPr>
            <a:r>
              <a:rPr lang="en-US" sz="1400" b="1" dirty="0">
                <a:solidFill>
                  <a:srgbClr val="47603F"/>
                </a:solidFill>
                <a:latin typeface="Calibri" pitchFamily="34" charset="0"/>
                <a:ea typeface="Calibri" pitchFamily="34" charset="-122"/>
                <a:cs typeface="Calibri" pitchFamily="34" charset="-120"/>
              </a:rPr>
              <a:t>Now apply any of the discrete algorithms unchanged — hill climbing, annealing, beam search.</a:t>
            </a:r>
            <a:endParaRPr lang="en-US" sz="1400" dirty="0"/>
          </a:p>
          <a:p>
            <a:pPr marL="203200" indent="-203200">
              <a:lnSpc>
                <a:spcPts val="1800"/>
              </a:lnSpc>
              <a:spcAft>
                <a:spcPts val="1200"/>
              </a:spcAft>
              <a:buSzPct val="100000"/>
              <a:buChar char="•"/>
            </a:pPr>
            <a:r>
              <a:rPr lang="en-US" sz="1400" b="1" dirty="0">
                <a:solidFill>
                  <a:srgbClr val="B5563A"/>
                </a:solidFill>
                <a:latin typeface="Calibri" pitchFamily="34" charset="0"/>
                <a:ea typeface="Calibri" pitchFamily="34" charset="-122"/>
                <a:cs typeface="Calibri" pitchFamily="34" charset="-120"/>
              </a:rPr>
              <a:t>The trade-off is δ. Large δ moves fast and cannot express a fine answer; small δ is precise and crawls.</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2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Sample successors, measure empirically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64</a:t>
            </a:r>
            <a:endParaRPr lang="en-US" sz="900" dirty="0"/>
          </a:p>
        </p:txBody>
      </p:sp>
      <p:sp>
        <p:nvSpPr>
          <p:cNvPr id="6" name="Text 4"/>
          <p:cNvSpPr/>
          <p:nvPr/>
        </p:nvSpPr>
        <p:spPr>
          <a:xfrm>
            <a:off x="566928" y="1517904"/>
            <a:ext cx="11057839" cy="16002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Alternatively, make the branching factor finite by sampling successor states at random: move in a random direction by a small amount δ.</a:t>
            </a:r>
            <a:endParaRPr lang="en-US" sz="1550" dirty="0"/>
          </a:p>
          <a:p>
            <a:pPr marL="203200" indent="-203200">
              <a:lnSpc>
                <a:spcPts val="2000"/>
              </a:lnSpc>
              <a:spcAft>
                <a:spcPts val="1200"/>
              </a:spcAft>
              <a:buSzPct val="100000"/>
              <a:buChar char="•"/>
            </a:pPr>
            <a:r>
              <a:rPr lang="en-US" sz="1550" b="1" dirty="0">
                <a:solidFill>
                  <a:srgbClr val="B5563A"/>
                </a:solidFill>
                <a:latin typeface="Calibri" pitchFamily="34" charset="0"/>
                <a:ea typeface="Calibri" pitchFamily="34" charset="-122"/>
                <a:cs typeface="Calibri" pitchFamily="34" charset="-120"/>
              </a:rPr>
              <a:t>Methods that measure progress by the change in the value of the objective function between two nearby points are called empirical gradient methods.</a:t>
            </a:r>
            <a:endParaRPr lang="en-US" sz="1550" dirty="0"/>
          </a:p>
        </p:txBody>
      </p:sp>
      <p:sp>
        <p:nvSpPr>
          <p:cNvPr id="7" name="Shape 5"/>
          <p:cNvSpPr/>
          <p:nvPr/>
        </p:nvSpPr>
        <p:spPr>
          <a:xfrm>
            <a:off x="566928" y="3108960"/>
            <a:ext cx="5349240" cy="1463040"/>
          </a:xfrm>
          <a:prstGeom prst="roundRect">
            <a:avLst>
              <a:gd name="adj" fmla="val 562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23697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it really is</a:t>
            </a:r>
            <a:endParaRPr lang="en-US" sz="1450" dirty="0"/>
          </a:p>
        </p:txBody>
      </p:sp>
      <p:sp>
        <p:nvSpPr>
          <p:cNvPr id="9" name="Text 7"/>
          <p:cNvSpPr/>
          <p:nvPr/>
        </p:nvSpPr>
        <p:spPr>
          <a:xfrm>
            <a:off x="768096" y="3566160"/>
            <a:ext cx="4946904" cy="8412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Empirical gradient search is the same as steepest-ascent hill climbing in a discretized version of the state space. You are estimating the slope by finite differences instead of computing it.</a:t>
            </a:r>
            <a:endParaRPr lang="en-US" sz="1300" dirty="0"/>
          </a:p>
        </p:txBody>
      </p:sp>
      <p:sp>
        <p:nvSpPr>
          <p:cNvPr id="10" name="Shape 8"/>
          <p:cNvSpPr/>
          <p:nvPr/>
        </p:nvSpPr>
        <p:spPr>
          <a:xfrm>
            <a:off x="6300216" y="3108960"/>
            <a:ext cx="5349240" cy="1463040"/>
          </a:xfrm>
          <a:prstGeom prst="roundRect">
            <a:avLst>
              <a:gd name="adj" fmla="val 562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01384" y="323697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Shrinking δ over time</a:t>
            </a:r>
            <a:endParaRPr lang="en-US" sz="1450" dirty="0"/>
          </a:p>
        </p:txBody>
      </p:sp>
      <p:sp>
        <p:nvSpPr>
          <p:cNvPr id="12" name="Text 10"/>
          <p:cNvSpPr/>
          <p:nvPr/>
        </p:nvSpPr>
        <p:spPr>
          <a:xfrm>
            <a:off x="6501384" y="3566160"/>
            <a:ext cx="4946904" cy="8412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Reducing δ as the search proceeds gives a more accurate solution — but it does not necessarily converge to a global optimum in the limit. Precision is not the same as correctness.</a:t>
            </a:r>
            <a:endParaRPr lang="en-US" sz="1300" dirty="0"/>
          </a:p>
        </p:txBody>
      </p:sp>
      <p:sp>
        <p:nvSpPr>
          <p:cNvPr id="13" name="Shape 11"/>
          <p:cNvSpPr/>
          <p:nvPr/>
        </p:nvSpPr>
        <p:spPr>
          <a:xfrm>
            <a:off x="566928" y="4754880"/>
            <a:ext cx="11057839" cy="1097280"/>
          </a:xfrm>
          <a:prstGeom prst="roundRect">
            <a:avLst>
              <a:gd name="adj" fmla="val 75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77824" y="4754880"/>
            <a:ext cx="10436047" cy="1097280"/>
          </a:xfrm>
          <a:prstGeom prst="rect">
            <a:avLst/>
          </a:prstGeom>
          <a:noFill/>
          <a:ln/>
        </p:spPr>
        <p:txBody>
          <a:bodyPr wrap="square" lIns="0" tIns="0" rIns="0" bIns="0" rtlCol="0" anchor="ctr"/>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Use this when f is available only as a black box — a simulation, a physical measurement, a piece of code you cannot differentiate. You pay for the derivative in function evaluations rather than in calculus.</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3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Use the gradient analytically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65</a:t>
            </a:r>
            <a:endParaRPr lang="en-US" sz="900" dirty="0"/>
          </a:p>
        </p:txBody>
      </p:sp>
      <p:sp>
        <p:nvSpPr>
          <p:cNvPr id="6" name="Text 4"/>
          <p:cNvSpPr/>
          <p:nvPr/>
        </p:nvSpPr>
        <p:spPr>
          <a:xfrm>
            <a:off x="566928" y="1444752"/>
            <a:ext cx="11057839" cy="402336"/>
          </a:xfrm>
          <a:prstGeom prst="rect">
            <a:avLst/>
          </a:prstGeom>
          <a:noFill/>
          <a:ln/>
        </p:spPr>
        <p:txBody>
          <a:bodyPr wrap="square" lIns="0" tIns="0" rIns="0" bIns="0" rtlCol="0" anchor="ctr"/>
          <a:lstStyle/>
          <a:p>
            <a:pPr marL="0" indent="0">
              <a:buNone/>
            </a:pPr>
            <a:r>
              <a:rPr lang="en-US" sz="1500" dirty="0">
                <a:solidFill>
                  <a:srgbClr val="1B2226"/>
                </a:solidFill>
                <a:latin typeface="Calibri" pitchFamily="34" charset="0"/>
                <a:ea typeface="Calibri" pitchFamily="34" charset="-122"/>
                <a:cs typeface="Calibri" pitchFamily="34" charset="-120"/>
              </a:rPr>
              <a:t>Often we have an objective function in a mathematical form such that we can use calculus to solve the problem analytically rather than empirically.</a:t>
            </a:r>
            <a:endParaRPr lang="en-US" sz="1500" dirty="0"/>
          </a:p>
        </p:txBody>
      </p:sp>
      <p:sp>
        <p:nvSpPr>
          <p:cNvPr id="7" name="Shape 5"/>
          <p:cNvSpPr/>
          <p:nvPr/>
        </p:nvSpPr>
        <p:spPr>
          <a:xfrm>
            <a:off x="566928" y="1920240"/>
            <a:ext cx="11057839" cy="914400"/>
          </a:xfrm>
          <a:prstGeom prst="roundRect">
            <a:avLst>
              <a:gd name="adj" fmla="val 90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1920240"/>
            <a:ext cx="10509199"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∇f  =  ( ∂f/∂x₁ ,  ∂f/∂y₁ ,  ∂f/∂x₂ ,  ∂f/∂y₂ ,  ∂f/∂x₃ ,  ∂f/∂y₃ )</a:t>
            </a:r>
            <a:endParaRPr lang="en-US" sz="1900" dirty="0"/>
          </a:p>
        </p:txBody>
      </p:sp>
      <p:sp>
        <p:nvSpPr>
          <p:cNvPr id="9" name="Text 7"/>
          <p:cNvSpPr/>
          <p:nvPr/>
        </p:nvSpPr>
        <p:spPr>
          <a:xfrm>
            <a:off x="566928" y="2926080"/>
            <a:ext cx="11057839" cy="365760"/>
          </a:xfrm>
          <a:prstGeom prst="rect">
            <a:avLst/>
          </a:prstGeom>
          <a:noFill/>
          <a:ln/>
        </p:spPr>
        <p:txBody>
          <a:bodyPr wrap="square" lIns="0" tIns="0" rIns="0" bIns="0" rtlCol="0" anchor="ctr"/>
          <a:lstStyle/>
          <a:p>
            <a:pPr marL="0" indent="0" algn="ctr">
              <a:buNone/>
            </a:pPr>
            <a:r>
              <a:rPr lang="en-US" sz="1400" i="1" dirty="0">
                <a:solidFill>
                  <a:srgbClr val="7A868C"/>
                </a:solidFill>
                <a:latin typeface="Calibri" pitchFamily="34" charset="0"/>
                <a:ea typeface="Calibri" pitchFamily="34" charset="-122"/>
                <a:cs typeface="Calibri" pitchFamily="34" charset="-120"/>
              </a:rPr>
              <a:t>The gradient of the objective function is a vector ∇f that gives the magnitude and direction of the steepest slope.</a:t>
            </a:r>
            <a:endParaRPr lang="en-US" sz="1400" dirty="0"/>
          </a:p>
        </p:txBody>
      </p:sp>
      <p:sp>
        <p:nvSpPr>
          <p:cNvPr id="10" name="Shape 8"/>
          <p:cNvSpPr/>
          <p:nvPr/>
        </p:nvSpPr>
        <p:spPr>
          <a:xfrm>
            <a:off x="566928"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768096" y="3557016"/>
            <a:ext cx="49469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In some cases: solve ∇f = 0</a:t>
            </a:r>
            <a:endParaRPr lang="en-US" sz="1450" dirty="0"/>
          </a:p>
        </p:txBody>
      </p:sp>
      <p:sp>
        <p:nvSpPr>
          <p:cNvPr id="12" name="Text 10"/>
          <p:cNvSpPr/>
          <p:nvPr/>
        </p:nvSpPr>
        <p:spPr>
          <a:xfrm>
            <a:off x="768096"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Placing a single airport, the solution is the arithmetic mean of all the cities' coordinates. Closed form, no iteration, done.</a:t>
            </a:r>
            <a:endParaRPr lang="en-US" sz="1300" dirty="0"/>
          </a:p>
        </p:txBody>
      </p:sp>
      <p:sp>
        <p:nvSpPr>
          <p:cNvPr id="13" name="Shape 11"/>
          <p:cNvSpPr/>
          <p:nvPr/>
        </p:nvSpPr>
        <p:spPr>
          <a:xfrm>
            <a:off x="6300216"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6501384" y="355701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In many cases: you cannot</a:t>
            </a:r>
            <a:endParaRPr lang="en-US" sz="1450" dirty="0"/>
          </a:p>
        </p:txBody>
      </p:sp>
      <p:sp>
        <p:nvSpPr>
          <p:cNvPr id="15" name="Text 13"/>
          <p:cNvSpPr/>
          <p:nvPr/>
        </p:nvSpPr>
        <p:spPr>
          <a:xfrm>
            <a:off x="6501384"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With three airports the expression for the gradient depends on which cities are closest to which airport in the current state. No closed form exists.</a:t>
            </a:r>
            <a:endParaRPr lang="en-US" sz="1300" dirty="0"/>
          </a:p>
        </p:txBody>
      </p:sp>
      <p:sp>
        <p:nvSpPr>
          <p:cNvPr id="16" name="Shape 14"/>
          <p:cNvSpPr/>
          <p:nvPr/>
        </p:nvSpPr>
        <p:spPr>
          <a:xfrm>
            <a:off x="566928" y="4846320"/>
            <a:ext cx="11057839" cy="1005840"/>
          </a:xfrm>
          <a:prstGeom prst="roundRect">
            <a:avLst>
              <a:gd name="adj" fmla="val 8182"/>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7" name="Text 15"/>
          <p:cNvSpPr/>
          <p:nvPr/>
        </p:nvSpPr>
        <p:spPr>
          <a:xfrm>
            <a:off x="859536" y="4846320"/>
            <a:ext cx="10472623" cy="1005840"/>
          </a:xfrm>
          <a:prstGeom prst="rect">
            <a:avLst/>
          </a:prstGeom>
          <a:noFill/>
          <a:ln/>
        </p:spPr>
        <p:txBody>
          <a:bodyPr wrap="square" lIns="0" tIns="0" rIns="0" bIns="0" rtlCol="0" anchor="ctr"/>
          <a:lstStyle/>
          <a:p>
            <a:pPr marL="0" indent="0">
              <a:lnSpc>
                <a:spcPts val="2100"/>
              </a:lnSpc>
              <a:buNone/>
            </a:pPr>
            <a:r>
              <a:rPr lang="en-US" sz="1500" b="1" dirty="0">
                <a:solidFill>
                  <a:srgbClr val="1E2A2F"/>
                </a:solidFill>
                <a:latin typeface="Calibri" pitchFamily="34" charset="0"/>
                <a:ea typeface="Calibri" pitchFamily="34" charset="-122"/>
                <a:cs typeface="Calibri" pitchFamily="34" charset="-120"/>
              </a:rPr>
              <a:t>So we compute the gradient locally rather than globally — and then iterate. That single compromise is the origin of every iterative optimizer you will ever use.</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THE UPDATE RULE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Steepest ascent in a continuous space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66</a:t>
            </a:r>
            <a:endParaRPr lang="en-US" sz="900" dirty="0"/>
          </a:p>
        </p:txBody>
      </p:sp>
      <p:sp>
        <p:nvSpPr>
          <p:cNvPr id="6" name="Text 4"/>
          <p:cNvSpPr/>
          <p:nvPr/>
        </p:nvSpPr>
        <p:spPr>
          <a:xfrm>
            <a:off x="566928" y="1444752"/>
            <a:ext cx="11057839" cy="329184"/>
          </a:xfrm>
          <a:prstGeom prst="rect">
            <a:avLst/>
          </a:prstGeom>
          <a:noFill/>
          <a:ln/>
        </p:spPr>
        <p:txBody>
          <a:bodyPr wrap="square" lIns="0" tIns="0" rIns="0" bIns="0" rtlCol="0" anchor="ctr"/>
          <a:lstStyle/>
          <a:p>
            <a:pPr marL="0" indent="0">
              <a:buNone/>
            </a:pPr>
            <a:r>
              <a:rPr lang="en-US" sz="1450" dirty="0">
                <a:solidFill>
                  <a:srgbClr val="33454E"/>
                </a:solidFill>
                <a:latin typeface="Calibri" pitchFamily="34" charset="0"/>
                <a:ea typeface="Calibri" pitchFamily="34" charset="-122"/>
                <a:cs typeface="Calibri" pitchFamily="34" charset="-120"/>
              </a:rPr>
              <a:t>The locally correct expression for one component of the gradient:</a:t>
            </a:r>
            <a:endParaRPr lang="en-US" sz="1450" dirty="0"/>
          </a:p>
        </p:txBody>
      </p:sp>
      <p:sp>
        <p:nvSpPr>
          <p:cNvPr id="7" name="Shape 5"/>
          <p:cNvSpPr/>
          <p:nvPr/>
        </p:nvSpPr>
        <p:spPr>
          <a:xfrm>
            <a:off x="566928" y="1828800"/>
            <a:ext cx="5349240" cy="868680"/>
          </a:xfrm>
          <a:prstGeom prst="roundRect">
            <a:avLst>
              <a:gd name="adj" fmla="val 947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1828800"/>
            <a:ext cx="4800600" cy="868680"/>
          </a:xfrm>
          <a:prstGeom prst="rect">
            <a:avLst/>
          </a:prstGeom>
          <a:noFill/>
          <a:ln/>
        </p:spPr>
        <p:txBody>
          <a:bodyPr wrap="square" lIns="0" tIns="0" rIns="0" bIns="0" rtlCol="0" anchor="ctr"/>
          <a:lstStyle/>
          <a:p>
            <a:pPr marL="0" indent="0" algn="ctr">
              <a:buNone/>
            </a:pPr>
            <a:r>
              <a:rPr lang="en-US" sz="1900" b="1" dirty="0">
                <a:solidFill>
                  <a:srgbClr val="1E2A2F"/>
                </a:solidFill>
                <a:latin typeface="Cambria" pitchFamily="34" charset="0"/>
                <a:ea typeface="Cambria" pitchFamily="34" charset="-122"/>
                <a:cs typeface="Cambria" pitchFamily="34" charset="-120"/>
              </a:rPr>
              <a:t>∂f/∂x₁  =  2 Σ c∈C₁ (x₁ − x_c)</a:t>
            </a:r>
            <a:endParaRPr lang="en-US" sz="1900" dirty="0"/>
          </a:p>
        </p:txBody>
      </p:sp>
      <p:sp>
        <p:nvSpPr>
          <p:cNvPr id="9" name="Text 7"/>
          <p:cNvSpPr/>
          <p:nvPr/>
        </p:nvSpPr>
        <p:spPr>
          <a:xfrm>
            <a:off x="4224528" y="2724912"/>
            <a:ext cx="1691640" cy="237744"/>
          </a:xfrm>
          <a:prstGeom prst="rect">
            <a:avLst/>
          </a:prstGeom>
          <a:noFill/>
          <a:ln/>
        </p:spPr>
        <p:txBody>
          <a:bodyPr wrap="square" lIns="0" tIns="0" rIns="0" bIns="0" rtlCol="0" anchor="ctr"/>
          <a:lstStyle/>
          <a:p>
            <a:pPr marL="0" indent="0" algn="r">
              <a:buNone/>
            </a:pPr>
            <a:r>
              <a:rPr lang="en-US" sz="1100" i="1" dirty="0">
                <a:solidFill>
                  <a:srgbClr val="7A868C"/>
                </a:solidFill>
                <a:latin typeface="Calibri" pitchFamily="34" charset="0"/>
                <a:ea typeface="Calibri" pitchFamily="34" charset="-122"/>
                <a:cs typeface="Calibri" pitchFamily="34" charset="-120"/>
              </a:rPr>
              <a:t>Equation 4.2</a:t>
            </a:r>
            <a:endParaRPr lang="en-US" sz="1100" dirty="0"/>
          </a:p>
        </p:txBody>
      </p:sp>
      <p:sp>
        <p:nvSpPr>
          <p:cNvPr id="10" name="Shape 8"/>
          <p:cNvSpPr/>
          <p:nvPr/>
        </p:nvSpPr>
        <p:spPr>
          <a:xfrm>
            <a:off x="6300216" y="1828800"/>
            <a:ext cx="5349240" cy="868680"/>
          </a:xfrm>
          <a:prstGeom prst="roundRect">
            <a:avLst>
              <a:gd name="adj" fmla="val 9474"/>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74536" y="1828800"/>
            <a:ext cx="4800600" cy="8686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x  ←  x  +  α ∇f(x)</a:t>
            </a:r>
            <a:endParaRPr lang="en-US" sz="2100" dirty="0"/>
          </a:p>
        </p:txBody>
      </p:sp>
      <p:sp>
        <p:nvSpPr>
          <p:cNvPr id="12" name="Text 10"/>
          <p:cNvSpPr/>
          <p:nvPr/>
        </p:nvSpPr>
        <p:spPr>
          <a:xfrm>
            <a:off x="6300216" y="2724912"/>
            <a:ext cx="5349240" cy="237744"/>
          </a:xfrm>
          <a:prstGeom prst="rect">
            <a:avLst/>
          </a:prstGeom>
          <a:noFill/>
          <a:ln/>
        </p:spPr>
        <p:txBody>
          <a:bodyPr wrap="square" lIns="0" tIns="0" rIns="0" bIns="0" rtlCol="0" anchor="ctr"/>
          <a:lstStyle/>
          <a:p>
            <a:pPr marL="0" indent="0" algn="ctr">
              <a:buNone/>
            </a:pPr>
            <a:r>
              <a:rPr lang="en-US" sz="1100" i="1" dirty="0">
                <a:solidFill>
                  <a:srgbClr val="7A868C"/>
                </a:solidFill>
                <a:latin typeface="Calibri" pitchFamily="34" charset="0"/>
                <a:ea typeface="Calibri" pitchFamily="34" charset="-122"/>
                <a:cs typeface="Calibri" pitchFamily="34" charset="-120"/>
              </a:rPr>
              <a:t>steepest ascent  ( use − for descent )</a:t>
            </a:r>
            <a:endParaRPr lang="en-US" sz="1100" dirty="0"/>
          </a:p>
        </p:txBody>
      </p:sp>
      <p:pic>
        <p:nvPicPr>
          <p:cNvPr id="13" name="Image 0" descr="img/gradient.png"/>
          <p:cNvPicPr>
            <a:picLocks noChangeAspect="1"/>
          </p:cNvPicPr>
          <p:nvPr/>
        </p:nvPicPr>
        <p:blipFill>
          <a:blip r:embed="rId3"/>
          <a:stretch>
            <a:fillRect/>
          </a:stretch>
        </p:blipFill>
        <p:spPr>
          <a:xfrm>
            <a:off x="1051560" y="3127248"/>
            <a:ext cx="3977640" cy="2798064"/>
          </a:xfrm>
          <a:prstGeom prst="rect">
            <a:avLst/>
          </a:prstGeom>
        </p:spPr>
      </p:pic>
      <p:sp>
        <p:nvSpPr>
          <p:cNvPr id="14" name="Text 11"/>
          <p:cNvSpPr/>
          <p:nvPr/>
        </p:nvSpPr>
        <p:spPr>
          <a:xfrm>
            <a:off x="5349240" y="3200400"/>
            <a:ext cx="5715000" cy="265176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α is a small constant, called the step size. In machine learning it is called the learning rate — same quantity, different vocabulary.</a:t>
            </a:r>
            <a:endParaRPr lang="en-US" sz="1400" dirty="0"/>
          </a:p>
          <a:p>
            <a:pPr marL="203200" indent="-203200">
              <a:lnSpc>
                <a:spcPts val="1800"/>
              </a:lnSpc>
              <a:spcAft>
                <a:spcPts val="1400"/>
              </a:spcAft>
              <a:buSzPct val="100000"/>
              <a:buChar char="•"/>
            </a:pPr>
            <a:r>
              <a:rPr lang="en-US" sz="1400" dirty="0">
                <a:solidFill>
                  <a:srgbClr val="1B2226"/>
                </a:solidFill>
                <a:latin typeface="Calibri" pitchFamily="34" charset="0"/>
                <a:ea typeface="Calibri" pitchFamily="34" charset="-122"/>
                <a:cs typeface="Calibri" pitchFamily="34" charset="-120"/>
              </a:rPr>
              <a:t>Note what the algorithm has become: pick a direction using local information, take a step, repeat until nothing improves. That is hill climbing, in a space where “the best neighbour” is now computed rather than searched for.</a:t>
            </a:r>
            <a:endParaRPr lang="en-US" sz="1400" dirty="0"/>
          </a:p>
          <a:p>
            <a:pPr marL="203200" indent="-203200">
              <a:lnSpc>
                <a:spcPts val="1800"/>
              </a:lnSpc>
              <a:spcAft>
                <a:spcPts val="1400"/>
              </a:spcAft>
              <a:buSzPct val="100000"/>
              <a:buChar char="•"/>
            </a:pPr>
            <a:r>
              <a:rPr lang="en-US" sz="1400" dirty="0">
                <a:solidFill>
                  <a:srgbClr val="B5563A"/>
                </a:solidFill>
                <a:latin typeface="Calibri" pitchFamily="34" charset="0"/>
                <a:ea typeface="Calibri" pitchFamily="34" charset="-122"/>
                <a:cs typeface="Calibri" pitchFamily="34" charset="-120"/>
              </a:rPr>
              <a:t>There exists a huge variety of methods for adjusting α, and choosing it badly is the most common way to make a working optimizer fail.</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TUNING</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step size problem, and line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67</a:t>
            </a:r>
            <a:endParaRPr lang="en-US" sz="900" dirty="0"/>
          </a:p>
        </p:txBody>
      </p:sp>
      <p:pic>
        <p:nvPicPr>
          <p:cNvPr id="6" name="Image 0" descr="img/stepsize.png"/>
          <p:cNvPicPr>
            <a:picLocks noChangeAspect="1"/>
          </p:cNvPicPr>
          <p:nvPr/>
        </p:nvPicPr>
        <p:blipFill>
          <a:blip r:embed="rId3"/>
          <a:stretch>
            <a:fillRect/>
          </a:stretch>
        </p:blipFill>
        <p:spPr>
          <a:xfrm>
            <a:off x="658368" y="1517904"/>
            <a:ext cx="10881360" cy="3447288"/>
          </a:xfrm>
          <a:prstGeom prst="rect">
            <a:avLst/>
          </a:prstGeom>
        </p:spPr>
      </p:pic>
      <p:sp>
        <p:nvSpPr>
          <p:cNvPr id="7" name="Shape 4"/>
          <p:cNvSpPr/>
          <p:nvPr/>
        </p:nvSpPr>
        <p:spPr>
          <a:xfrm>
            <a:off x="566928" y="5138928"/>
            <a:ext cx="5349240" cy="914400"/>
          </a:xfrm>
          <a:prstGeom prst="roundRect">
            <a:avLst>
              <a:gd name="adj" fmla="val 9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768096" y="5266944"/>
            <a:ext cx="49469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The basic problem</a:t>
            </a:r>
            <a:endParaRPr lang="en-US" sz="1400" dirty="0"/>
          </a:p>
        </p:txBody>
      </p:sp>
      <p:sp>
        <p:nvSpPr>
          <p:cNvPr id="9" name="Text 6"/>
          <p:cNvSpPr/>
          <p:nvPr/>
        </p:nvSpPr>
        <p:spPr>
          <a:xfrm>
            <a:off x="768096" y="5596128"/>
            <a:ext cx="4946904" cy="2926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If α is too small, too many steps are needed. If α is too large, the search could overshoot the maximum.</a:t>
            </a:r>
            <a:endParaRPr lang="en-US" sz="1280" dirty="0"/>
          </a:p>
        </p:txBody>
      </p:sp>
      <p:sp>
        <p:nvSpPr>
          <p:cNvPr id="10" name="Shape 7"/>
          <p:cNvSpPr/>
          <p:nvPr/>
        </p:nvSpPr>
        <p:spPr>
          <a:xfrm>
            <a:off x="6300216" y="5138928"/>
            <a:ext cx="5349240" cy="914400"/>
          </a:xfrm>
          <a:prstGeom prst="roundRect">
            <a:avLst>
              <a:gd name="adj" fmla="val 9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8"/>
          <p:cNvSpPr/>
          <p:nvPr/>
        </p:nvSpPr>
        <p:spPr>
          <a:xfrm>
            <a:off x="6501384" y="5266944"/>
            <a:ext cx="4946904"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Line search</a:t>
            </a:r>
            <a:endParaRPr lang="en-US" sz="1400" dirty="0"/>
          </a:p>
        </p:txBody>
      </p:sp>
      <p:sp>
        <p:nvSpPr>
          <p:cNvPr id="12" name="Text 9"/>
          <p:cNvSpPr/>
          <p:nvPr/>
        </p:nvSpPr>
        <p:spPr>
          <a:xfrm>
            <a:off x="6501384" y="5596128"/>
            <a:ext cx="4946904" cy="2926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Extend the current gradient direction — usually by repeatedly doubling α — until f starts to decrease again. That point becomes the new current state.</a:t>
            </a:r>
            <a:endParaRPr lang="en-US" sz="12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4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Newton–Raphson: use the curvature too</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68</a:t>
            </a:r>
            <a:endParaRPr lang="en-US" sz="900" dirty="0"/>
          </a:p>
        </p:txBody>
      </p:sp>
      <p:sp>
        <p:nvSpPr>
          <p:cNvPr id="6" name="Text 4"/>
          <p:cNvSpPr/>
          <p:nvPr/>
        </p:nvSpPr>
        <p:spPr>
          <a:xfrm>
            <a:off x="566928" y="1463040"/>
            <a:ext cx="11057839" cy="6858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For many problems, the most effective algorithm is the venerable Newton–Raphson method — a general technique for finding roots of functions, that is, solving g(x) = 0.</a:t>
            </a:r>
            <a:endParaRPr lang="en-US" sz="1500" dirty="0"/>
          </a:p>
        </p:txBody>
      </p:sp>
      <p:sp>
        <p:nvSpPr>
          <p:cNvPr id="7" name="Shape 5"/>
          <p:cNvSpPr/>
          <p:nvPr/>
        </p:nvSpPr>
        <p:spPr>
          <a:xfrm>
            <a:off x="566928" y="2148840"/>
            <a:ext cx="53492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2267712"/>
            <a:ext cx="4837176" cy="292608"/>
          </a:xfrm>
          <a:prstGeom prst="rect">
            <a:avLst/>
          </a:prstGeom>
          <a:noFill/>
          <a:ln/>
        </p:spPr>
        <p:txBody>
          <a:bodyPr wrap="square" lIns="0" tIns="0" rIns="0" bIns="0" rtlCol="0" anchor="ctr"/>
          <a:lstStyle/>
          <a:p>
            <a:pPr marL="0" indent="0">
              <a:buNone/>
            </a:pPr>
            <a:r>
              <a:rPr lang="en-US" sz="1350" b="1" dirty="0">
                <a:solidFill>
                  <a:srgbClr val="7A868C"/>
                </a:solidFill>
                <a:latin typeface="Calibri" pitchFamily="34" charset="0"/>
                <a:ea typeface="Calibri" pitchFamily="34" charset="-122"/>
                <a:cs typeface="Calibri" pitchFamily="34" charset="-120"/>
              </a:rPr>
              <a:t>Scalar root finding</a:t>
            </a:r>
            <a:endParaRPr lang="en-US" sz="1350" dirty="0"/>
          </a:p>
        </p:txBody>
      </p:sp>
      <p:sp>
        <p:nvSpPr>
          <p:cNvPr id="9" name="Text 7"/>
          <p:cNvSpPr/>
          <p:nvPr/>
        </p:nvSpPr>
        <p:spPr>
          <a:xfrm>
            <a:off x="822960" y="2606040"/>
            <a:ext cx="4837176" cy="777240"/>
          </a:xfrm>
          <a:prstGeom prst="rect">
            <a:avLst/>
          </a:prstGeom>
          <a:noFill/>
          <a:ln/>
        </p:spPr>
        <p:txBody>
          <a:bodyPr wrap="square" lIns="0" tIns="0" rIns="0" bIns="0" rtlCol="0" anchor="ctr"/>
          <a:lstStyle/>
          <a:p>
            <a:pPr marL="0" indent="0" algn="ctr">
              <a:buNone/>
            </a:pPr>
            <a:r>
              <a:rPr lang="en-US" sz="2100" b="1" dirty="0">
                <a:solidFill>
                  <a:srgbClr val="1E2A2F"/>
                </a:solidFill>
                <a:latin typeface="Cambria" pitchFamily="34" charset="0"/>
                <a:ea typeface="Cambria" pitchFamily="34" charset="-122"/>
                <a:cs typeface="Cambria" pitchFamily="34" charset="-120"/>
              </a:rPr>
              <a:t>x  ←  x  −  g(x) / g′(x)</a:t>
            </a:r>
            <a:endParaRPr lang="en-US" sz="2100" dirty="0"/>
          </a:p>
        </p:txBody>
      </p:sp>
      <p:sp>
        <p:nvSpPr>
          <p:cNvPr id="10" name="Shape 8"/>
          <p:cNvSpPr/>
          <p:nvPr/>
        </p:nvSpPr>
        <p:spPr>
          <a:xfrm>
            <a:off x="6300216" y="2148840"/>
            <a:ext cx="5349240" cy="1371600"/>
          </a:xfrm>
          <a:prstGeom prst="roundRect">
            <a:avLst>
              <a:gd name="adj" fmla="val 60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2267712"/>
            <a:ext cx="4837176" cy="292608"/>
          </a:xfrm>
          <a:prstGeom prst="rect">
            <a:avLst/>
          </a:prstGeom>
          <a:noFill/>
          <a:ln/>
        </p:spPr>
        <p:txBody>
          <a:bodyPr wrap="square" lIns="0" tIns="0" rIns="0" bIns="0" rtlCol="0" anchor="ctr"/>
          <a:lstStyle/>
          <a:p>
            <a:pPr marL="0" indent="0">
              <a:buNone/>
            </a:pPr>
            <a:r>
              <a:rPr lang="en-US" sz="1350" b="1" dirty="0">
                <a:solidFill>
                  <a:srgbClr val="D08B6F"/>
                </a:solidFill>
                <a:latin typeface="Calibri" pitchFamily="34" charset="0"/>
                <a:ea typeface="Calibri" pitchFamily="34" charset="-122"/>
                <a:cs typeface="Calibri" pitchFamily="34" charset="-120"/>
              </a:rPr>
              <a:t>Applied to optimization: find where ∇f(x) = 0</a:t>
            </a:r>
            <a:endParaRPr lang="en-US" sz="1350" dirty="0"/>
          </a:p>
        </p:txBody>
      </p:sp>
      <p:sp>
        <p:nvSpPr>
          <p:cNvPr id="12" name="Text 10"/>
          <p:cNvSpPr/>
          <p:nvPr/>
        </p:nvSpPr>
        <p:spPr>
          <a:xfrm>
            <a:off x="6556248" y="2606040"/>
            <a:ext cx="4837176" cy="77724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x  ←  x  −  Hᶠ⁻¹(x) ∇f(x)</a:t>
            </a:r>
            <a:endParaRPr lang="en-US" sz="2100" dirty="0"/>
          </a:p>
        </p:txBody>
      </p:sp>
      <p:sp>
        <p:nvSpPr>
          <p:cNvPr id="13" name="Text 11"/>
          <p:cNvSpPr/>
          <p:nvPr/>
        </p:nvSpPr>
        <p:spPr>
          <a:xfrm>
            <a:off x="566928" y="3657600"/>
            <a:ext cx="11057839" cy="68580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To find a maximum or minimum of f we need x such that the gradient is the zero vector, so g(x) in Newton’s formula becomes ∇f(x), and g′ becomes the Hessian matrix Hᶠ of second derivatives, with entries Hᵢⱼ = ∂²f / ∂xᵢ∂xⱼ.</a:t>
            </a:r>
            <a:endParaRPr lang="en-US" sz="1450" dirty="0"/>
          </a:p>
        </p:txBody>
      </p:sp>
      <p:sp>
        <p:nvSpPr>
          <p:cNvPr id="14" name="Shape 12"/>
          <p:cNvSpPr/>
          <p:nvPr/>
        </p:nvSpPr>
        <p:spPr>
          <a:xfrm>
            <a:off x="566928" y="4480560"/>
            <a:ext cx="5349240" cy="1325880"/>
          </a:xfrm>
          <a:prstGeom prst="roundRect">
            <a:avLst>
              <a:gd name="adj" fmla="val 620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768096" y="4608576"/>
            <a:ext cx="4946904"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Why bother</a:t>
            </a:r>
            <a:endParaRPr lang="en-US" sz="1400" dirty="0"/>
          </a:p>
        </p:txBody>
      </p:sp>
      <p:sp>
        <p:nvSpPr>
          <p:cNvPr id="16" name="Text 14"/>
          <p:cNvSpPr/>
          <p:nvPr/>
        </p:nvSpPr>
        <p:spPr>
          <a:xfrm>
            <a:off x="768096" y="4937760"/>
            <a:ext cx="4946904" cy="70408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gradient tells you which way is downhill. The Hessian tells you how the slope is changing — so Newton can compute how far to step instead of guessing. No α to tune.</a:t>
            </a:r>
            <a:endParaRPr lang="en-US" sz="1280" dirty="0"/>
          </a:p>
        </p:txBody>
      </p:sp>
      <p:sp>
        <p:nvSpPr>
          <p:cNvPr id="17" name="Shape 15"/>
          <p:cNvSpPr/>
          <p:nvPr/>
        </p:nvSpPr>
        <p:spPr>
          <a:xfrm>
            <a:off x="6300216" y="4480560"/>
            <a:ext cx="5349240" cy="1325880"/>
          </a:xfrm>
          <a:prstGeom prst="roundRect">
            <a:avLst>
              <a:gd name="adj" fmla="val 620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8" name="Text 16"/>
          <p:cNvSpPr/>
          <p:nvPr/>
        </p:nvSpPr>
        <p:spPr>
          <a:xfrm>
            <a:off x="6501384" y="4608576"/>
            <a:ext cx="49469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Why not always</a:t>
            </a:r>
            <a:endParaRPr lang="en-US" sz="1400" dirty="0"/>
          </a:p>
        </p:txBody>
      </p:sp>
      <p:sp>
        <p:nvSpPr>
          <p:cNvPr id="19" name="Text 17"/>
          <p:cNvSpPr/>
          <p:nvPr/>
        </p:nvSpPr>
        <p:spPr>
          <a:xfrm>
            <a:off x="6501384" y="4937760"/>
            <a:ext cx="4946904" cy="70408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For high-dimensional problems, computing the n² entries of the Hessian and inverting it may be expensive. Many approximate versions of Newton–Raphson have been developed for exactly this reason.</a:t>
            </a:r>
            <a:endParaRPr lang="en-US" sz="12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Newton on the airport problem: one step is a centroid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69</a:t>
            </a:r>
            <a:endParaRPr lang="en-US" sz="900" dirty="0"/>
          </a:p>
        </p:txBody>
      </p:sp>
      <p:pic>
        <p:nvPicPr>
          <p:cNvPr id="6" name="Image 0" descr="img/romania_start.png"/>
          <p:cNvPicPr>
            <a:picLocks noChangeAspect="1"/>
          </p:cNvPicPr>
          <p:nvPr/>
        </p:nvPicPr>
        <p:blipFill>
          <a:blip r:embed="rId3"/>
          <a:stretch>
            <a:fillRect/>
          </a:stretch>
        </p:blipFill>
        <p:spPr>
          <a:xfrm>
            <a:off x="777240" y="1517904"/>
            <a:ext cx="4617720" cy="3063240"/>
          </a:xfrm>
          <a:prstGeom prst="rect">
            <a:avLst/>
          </a:prstGeom>
        </p:spPr>
      </p:pic>
      <p:pic>
        <p:nvPicPr>
          <p:cNvPr id="7" name="Image 1" descr="img/romania_final.png"/>
          <p:cNvPicPr>
            <a:picLocks noChangeAspect="1"/>
          </p:cNvPicPr>
          <p:nvPr/>
        </p:nvPicPr>
        <p:blipFill>
          <a:blip r:embed="rId4"/>
          <a:stretch>
            <a:fillRect/>
          </a:stretch>
        </p:blipFill>
        <p:spPr>
          <a:xfrm>
            <a:off x="5897880" y="1517904"/>
            <a:ext cx="4617720" cy="3063240"/>
          </a:xfrm>
          <a:prstGeom prst="rect">
            <a:avLst/>
          </a:prstGeom>
        </p:spPr>
      </p:pic>
      <p:sp>
        <p:nvSpPr>
          <p:cNvPr id="8" name="Text 4"/>
          <p:cNvSpPr/>
          <p:nvPr/>
        </p:nvSpPr>
        <p:spPr>
          <a:xfrm>
            <a:off x="5422392" y="2816352"/>
            <a:ext cx="457200" cy="457200"/>
          </a:xfrm>
          <a:prstGeom prst="rect">
            <a:avLst/>
          </a:prstGeom>
          <a:noFill/>
          <a:ln/>
        </p:spPr>
        <p:txBody>
          <a:bodyPr wrap="square" lIns="0" tIns="0" rIns="0" bIns="0" rtlCol="0" anchor="ctr"/>
          <a:lstStyle/>
          <a:p>
            <a:pPr marL="0" indent="0" algn="ctr">
              <a:buNone/>
            </a:pPr>
            <a:r>
              <a:rPr lang="en-US" sz="2600" b="1" dirty="0">
                <a:solidFill>
                  <a:srgbClr val="B5563A"/>
                </a:solidFill>
                <a:latin typeface="Calibri" pitchFamily="34" charset="0"/>
                <a:ea typeface="Calibri" pitchFamily="34" charset="-122"/>
                <a:cs typeface="Calibri" pitchFamily="34" charset="-120"/>
              </a:rPr>
              <a:t>→</a:t>
            </a:r>
            <a:endParaRPr lang="en-US" sz="2600" dirty="0"/>
          </a:p>
        </p:txBody>
      </p:sp>
      <p:sp>
        <p:nvSpPr>
          <p:cNvPr id="9" name="Text 5"/>
          <p:cNvSpPr/>
          <p:nvPr/>
        </p:nvSpPr>
        <p:spPr>
          <a:xfrm>
            <a:off x="566928" y="4709160"/>
            <a:ext cx="11057839" cy="1371600"/>
          </a:xfrm>
          <a:prstGeom prst="rect">
            <a:avLst/>
          </a:prstGeom>
          <a:noFill/>
          <a:ln/>
        </p:spPr>
        <p:txBody>
          <a:bodyPr wrap="square" lIns="0" tIns="0" rIns="0" bIns="0" rtlCol="0" anchor="t"/>
          <a:lstStyle/>
          <a:p>
            <a:pPr marL="203200" indent="-203200">
              <a:lnSpc>
                <a:spcPts val="1700"/>
              </a:lnSpc>
              <a:spcAft>
                <a:spcPts val="1200"/>
              </a:spcAft>
              <a:buSzPct val="100000"/>
              <a:buChar char="•"/>
            </a:pPr>
            <a:r>
              <a:rPr lang="en-US" sz="1300" b="1" dirty="0">
                <a:solidFill>
                  <a:srgbClr val="1B2226"/>
                </a:solidFill>
                <a:latin typeface="Calibri" pitchFamily="34" charset="0"/>
                <a:ea typeface="Calibri" pitchFamily="34" charset="-122"/>
                <a:cs typeface="Calibri" pitchFamily="34" charset="-120"/>
              </a:rPr>
              <a:t>From Equation 4.2 the Hessian is particularly simple: the off-diagonal elements are zero, and the diagonal elements for airport i are just twice the number of cities in Cᵢ.</a:t>
            </a:r>
            <a:endParaRPr lang="en-US" sz="1300" dirty="0"/>
          </a:p>
          <a:p>
            <a:pPr marL="203200" indent="-203200">
              <a:lnSpc>
                <a:spcPts val="1700"/>
              </a:lnSpc>
              <a:spcAft>
                <a:spcPts val="1200"/>
              </a:spcAft>
              <a:buSzPct val="100000"/>
              <a:buChar char="•"/>
            </a:pPr>
            <a:r>
              <a:rPr lang="en-US" sz="1300" b="1" dirty="0">
                <a:solidFill>
                  <a:srgbClr val="47603F"/>
                </a:solidFill>
                <a:latin typeface="Calibri" pitchFamily="34" charset="0"/>
                <a:ea typeface="Calibri" pitchFamily="34" charset="-122"/>
                <a:cs typeface="Calibri" pitchFamily="34" charset="-120"/>
              </a:rPr>
              <a:t>A moment’s calculation shows that one step of the Newton update moves airport i directly to the centroid of Cᵢ — the minimum of the local expression for f.</a:t>
            </a:r>
            <a:endParaRPr lang="en-US" sz="1300" dirty="0"/>
          </a:p>
          <a:p>
            <a:pPr marL="203200" indent="-203200">
              <a:lnSpc>
                <a:spcPts val="1700"/>
              </a:lnSpc>
              <a:spcAft>
                <a:spcPts val="1200"/>
              </a:spcAft>
              <a:buSzPct val="100000"/>
              <a:buChar char="•"/>
            </a:pPr>
            <a:r>
              <a:rPr lang="en-US" sz="1300" dirty="0">
                <a:solidFill>
                  <a:srgbClr val="B5563A"/>
                </a:solidFill>
                <a:latin typeface="Calibri" pitchFamily="34" charset="0"/>
                <a:ea typeface="Calibri" pitchFamily="34" charset="-122"/>
                <a:cs typeface="Calibri" pitchFamily="34" charset="-120"/>
              </a:rPr>
              <a:t>So: assign each city to its nearest airport, move each airport to the centre of its cities, repeat. If that sounds like k-means clustering, it is — k-means is Newton–Raphson on this objective.</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COMPARISON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First-order and second-order convergence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70</a:t>
            </a:r>
            <a:endParaRPr lang="en-US" sz="900" dirty="0"/>
          </a:p>
        </p:txBody>
      </p:sp>
      <p:pic>
        <p:nvPicPr>
          <p:cNvPr id="6" name="Image 0" descr="img/newton.png"/>
          <p:cNvPicPr>
            <a:picLocks noChangeAspect="1"/>
          </p:cNvPicPr>
          <p:nvPr/>
        </p:nvPicPr>
        <p:blipFill>
          <a:blip r:embed="rId3"/>
          <a:stretch>
            <a:fillRect/>
          </a:stretch>
        </p:blipFill>
        <p:spPr>
          <a:xfrm>
            <a:off x="914400" y="1536192"/>
            <a:ext cx="6035040" cy="3364992"/>
          </a:xfrm>
          <a:prstGeom prst="rect">
            <a:avLst/>
          </a:prstGeom>
        </p:spPr>
      </p:pic>
      <p:sp>
        <p:nvSpPr>
          <p:cNvPr id="7" name="Text 4"/>
          <p:cNvSpPr/>
          <p:nvPr/>
        </p:nvSpPr>
        <p:spPr>
          <a:xfrm>
            <a:off x="7223760" y="1645920"/>
            <a:ext cx="3840480" cy="320040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350" b="1" dirty="0">
                <a:solidFill>
                  <a:srgbClr val="1B2226"/>
                </a:solidFill>
                <a:latin typeface="Calibri" pitchFamily="34" charset="0"/>
                <a:ea typeface="Calibri" pitchFamily="34" charset="-122"/>
                <a:cs typeface="Calibri" pitchFamily="34" charset="-120"/>
              </a:rPr>
              <a:t>Note the logarithmic vertical axis. Gradient descent takes a roughly constant proportion off the error each step; Newton roughly squares the error each step near the optimum.</a:t>
            </a:r>
            <a:endParaRPr lang="en-US" sz="1350" dirty="0"/>
          </a:p>
          <a:p>
            <a:pPr marL="203200" indent="-203200">
              <a:lnSpc>
                <a:spcPts val="1800"/>
              </a:lnSpc>
              <a:spcAft>
                <a:spcPts val="1400"/>
              </a:spcAft>
              <a:buSzPct val="100000"/>
              <a:buChar char="•"/>
            </a:pPr>
            <a:r>
              <a:rPr lang="en-US" sz="1350" dirty="0">
                <a:solidFill>
                  <a:srgbClr val="1B2226"/>
                </a:solidFill>
                <a:latin typeface="Calibri" pitchFamily="34" charset="0"/>
                <a:ea typeface="Calibri" pitchFamily="34" charset="-122"/>
                <a:cs typeface="Calibri" pitchFamily="34" charset="-120"/>
              </a:rPr>
              <a:t>Per iteration, though, Newton is far more expensive: n² second derivatives and a matrix inversion, against n first derivatives.</a:t>
            </a:r>
            <a:endParaRPr lang="en-US" sz="1350" dirty="0"/>
          </a:p>
          <a:p>
            <a:pPr marL="203200" indent="-203200">
              <a:lnSpc>
                <a:spcPts val="1800"/>
              </a:lnSpc>
              <a:spcAft>
                <a:spcPts val="1400"/>
              </a:spcAft>
              <a:buSzPct val="100000"/>
              <a:buChar char="•"/>
            </a:pPr>
            <a:r>
              <a:rPr lang="en-US" sz="1350" dirty="0">
                <a:solidFill>
                  <a:srgbClr val="B5563A"/>
                </a:solidFill>
                <a:latin typeface="Calibri" pitchFamily="34" charset="0"/>
                <a:ea typeface="Calibri" pitchFamily="34" charset="-122"/>
                <a:cs typeface="Calibri" pitchFamily="34" charset="-120"/>
              </a:rPr>
              <a:t>Which wins depends entirely on n. This is exactly why deep learning uses first-order methods: with millions of parameters, the Hessian is not merely expensive, it does not fit in memory.</a:t>
            </a:r>
            <a:endParaRPr lang="en-US" sz="1350" dirty="0"/>
          </a:p>
        </p:txBody>
      </p:sp>
      <p:sp>
        <p:nvSpPr>
          <p:cNvPr id="8" name="Shape 5"/>
          <p:cNvSpPr/>
          <p:nvPr/>
        </p:nvSpPr>
        <p:spPr>
          <a:xfrm>
            <a:off x="566928" y="5074920"/>
            <a:ext cx="11057839" cy="960120"/>
          </a:xfrm>
          <a:prstGeom prst="roundRect">
            <a:avLst>
              <a:gd name="adj" fmla="val 8571"/>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768096" y="5202936"/>
            <a:ext cx="10655503"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The general lesson</a:t>
            </a:r>
            <a:endParaRPr lang="en-US" sz="1400" dirty="0"/>
          </a:p>
        </p:txBody>
      </p:sp>
      <p:sp>
        <p:nvSpPr>
          <p:cNvPr id="10" name="Text 7"/>
          <p:cNvSpPr/>
          <p:nvPr/>
        </p:nvSpPr>
        <p:spPr>
          <a:xfrm>
            <a:off x="768096" y="5532120"/>
            <a:ext cx="10655503" cy="3383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More information per step means fewer steps and more cost per step. Discretization, empirical gradients, analytic gradients, and Newton–Raphson form a ladder of exactly that trade — the same trade you met with A* heuristics, where a better estimate expanded fewer nodes but cost more per node.</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REALITY CHECK</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Continuous does not mean easy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71</a:t>
            </a:r>
            <a:endParaRPr lang="en-US" sz="900" dirty="0"/>
          </a:p>
        </p:txBody>
      </p:sp>
      <p:sp>
        <p:nvSpPr>
          <p:cNvPr id="6" name="Shape 4"/>
          <p:cNvSpPr/>
          <p:nvPr/>
        </p:nvSpPr>
        <p:spPr>
          <a:xfrm>
            <a:off x="566928" y="1536192"/>
            <a:ext cx="11057839" cy="1051560"/>
          </a:xfrm>
          <a:prstGeom prst="roundRect">
            <a:avLst>
              <a:gd name="adj" fmla="val 782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77824" y="1536192"/>
            <a:ext cx="10436047" cy="1051560"/>
          </a:xfrm>
          <a:prstGeom prst="rect">
            <a:avLst/>
          </a:prstGeom>
          <a:noFill/>
          <a:ln/>
        </p:spPr>
        <p:txBody>
          <a:bodyPr wrap="square" lIns="0" tIns="0" rIns="0" bIns="0" rtlCol="0" anchor="ctr"/>
          <a:lstStyle/>
          <a:p>
            <a:pPr marL="0" indent="0">
              <a:buNone/>
            </a:pPr>
            <a:r>
              <a:rPr lang="en-US" sz="1800" i="1" dirty="0">
                <a:solidFill>
                  <a:srgbClr val="FFFFFF"/>
                </a:solidFill>
                <a:latin typeface="Cambria" pitchFamily="34" charset="0"/>
                <a:ea typeface="Cambria" pitchFamily="34" charset="-122"/>
                <a:cs typeface="Cambria" pitchFamily="34" charset="-120"/>
              </a:rPr>
              <a:t>Local search methods suffer from local maxima, ridges, and plateaus in continuous state spaces just as much as in discrete spaces.</a:t>
            </a:r>
            <a:endParaRPr lang="en-US" sz="1800" dirty="0"/>
          </a:p>
        </p:txBody>
      </p:sp>
      <p:sp>
        <p:nvSpPr>
          <p:cNvPr id="8" name="Shape 6"/>
          <p:cNvSpPr/>
          <p:nvPr/>
        </p:nvSpPr>
        <p:spPr>
          <a:xfrm>
            <a:off x="566928" y="2816352"/>
            <a:ext cx="35204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same three failures</a:t>
            </a:r>
            <a:endParaRPr lang="en-US" sz="1450" dirty="0"/>
          </a:p>
        </p:txBody>
      </p:sp>
      <p:sp>
        <p:nvSpPr>
          <p:cNvPr id="10" name="Text 8"/>
          <p:cNvSpPr/>
          <p:nvPr/>
        </p:nvSpPr>
        <p:spPr>
          <a:xfrm>
            <a:off x="768096" y="3273552"/>
            <a:ext cx="3118104"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A gradient of zero means a local optimum, a saddle point, or a plateau. The derivative cannot tell you which, and none of them is necessarily the answer you wanted.</a:t>
            </a:r>
            <a:endParaRPr lang="en-US" sz="1280" dirty="0"/>
          </a:p>
        </p:txBody>
      </p:sp>
      <p:sp>
        <p:nvSpPr>
          <p:cNvPr id="11" name="Shape 9"/>
          <p:cNvSpPr/>
          <p:nvPr/>
        </p:nvSpPr>
        <p:spPr>
          <a:xfrm>
            <a:off x="4343400" y="2816352"/>
            <a:ext cx="35204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4544568" y="2944368"/>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The same two remedies</a:t>
            </a:r>
            <a:endParaRPr lang="en-US" sz="1450" dirty="0"/>
          </a:p>
        </p:txBody>
      </p:sp>
      <p:sp>
        <p:nvSpPr>
          <p:cNvPr id="13" name="Text 11"/>
          <p:cNvSpPr/>
          <p:nvPr/>
        </p:nvSpPr>
        <p:spPr>
          <a:xfrm>
            <a:off x="4544568" y="3273552"/>
            <a:ext cx="3118104"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Random restarts and simulated annealing are often helpful — the discrete toolkit transfers directly, and in practice people use it.</a:t>
            </a:r>
            <a:endParaRPr lang="en-US" sz="1280" dirty="0"/>
          </a:p>
        </p:txBody>
      </p:sp>
      <p:sp>
        <p:nvSpPr>
          <p:cNvPr id="14" name="Shape 12"/>
          <p:cNvSpPr/>
          <p:nvPr/>
        </p:nvSpPr>
        <p:spPr>
          <a:xfrm>
            <a:off x="8119872" y="2816352"/>
            <a:ext cx="35204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321040"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One new difficulty</a:t>
            </a:r>
            <a:endParaRPr lang="en-US" sz="1450" dirty="0"/>
          </a:p>
        </p:txBody>
      </p:sp>
      <p:sp>
        <p:nvSpPr>
          <p:cNvPr id="16" name="Text 14"/>
          <p:cNvSpPr/>
          <p:nvPr/>
        </p:nvSpPr>
        <p:spPr>
          <a:xfrm>
            <a:off x="8321040" y="3273552"/>
            <a:ext cx="3118104"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High-dimensional continuous spaces are big places in which it is very easy to get lost. Intuition built in two dimensions is actively misleading in a thousand.</a:t>
            </a:r>
            <a:endParaRPr lang="en-US" sz="1280" dirty="0"/>
          </a:p>
        </p:txBody>
      </p:sp>
      <p:sp>
        <p:nvSpPr>
          <p:cNvPr id="17" name="Shape 15"/>
          <p:cNvSpPr/>
          <p:nvPr/>
        </p:nvSpPr>
        <p:spPr>
          <a:xfrm>
            <a:off x="566928" y="4754880"/>
            <a:ext cx="11057839" cy="1097280"/>
          </a:xfrm>
          <a:prstGeom prst="roundRect">
            <a:avLst>
              <a:gd name="adj" fmla="val 7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8" name="Text 16"/>
          <p:cNvSpPr/>
          <p:nvPr/>
        </p:nvSpPr>
        <p:spPr>
          <a:xfrm>
            <a:off x="768096" y="4882896"/>
            <a:ext cx="10655503"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Why intuition fails in high dimensions</a:t>
            </a:r>
            <a:endParaRPr lang="en-US" sz="1400" dirty="0"/>
          </a:p>
        </p:txBody>
      </p:sp>
      <p:sp>
        <p:nvSpPr>
          <p:cNvPr id="19" name="Text 17"/>
          <p:cNvSpPr/>
          <p:nvPr/>
        </p:nvSpPr>
        <p:spPr>
          <a:xfrm>
            <a:off x="768096" y="5212080"/>
            <a:ext cx="10655503" cy="47548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In two dimensions, a point where the gradient vanishes is usually a genuine peak or valley. In n dimensions it is far more likely to be a saddle — sloping down along some axes and up along others — because all n curvatures would have to agree in sign for a true optimum. This is the modern explanation for why gradient descent works better on huge models than the two-dimensional picture suggests.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FINAL TOPIC</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Constrained optimization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72</a:t>
            </a:r>
            <a:endParaRPr lang="en-US" sz="900" dirty="0"/>
          </a:p>
        </p:txBody>
      </p:sp>
      <p:sp>
        <p:nvSpPr>
          <p:cNvPr id="6" name="Text 4"/>
          <p:cNvSpPr/>
          <p:nvPr/>
        </p:nvSpPr>
        <p:spPr>
          <a:xfrm>
            <a:off x="566928" y="1517904"/>
            <a:ext cx="11057839" cy="18288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An optimization problem is constrained if solutions must satisfy hard constraints on the values of the variables.</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In the airport problem: sites must be inside Romania, and on dry land rather than in the middle of lakes. Neither constraint is expressible as a penalty in f without changing what “optimal” means.</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The difficulty depends entirely on the nature of the constraints and of the objective function.</a:t>
            </a:r>
            <a:endParaRPr lang="en-US" sz="1500" dirty="0"/>
          </a:p>
        </p:txBody>
      </p:sp>
      <p:sp>
        <p:nvSpPr>
          <p:cNvPr id="7" name="Shape 5"/>
          <p:cNvSpPr/>
          <p:nvPr/>
        </p:nvSpPr>
        <p:spPr>
          <a:xfrm>
            <a:off x="566928" y="3291840"/>
            <a:ext cx="53492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345643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Linear programming</a:t>
            </a:r>
            <a:endParaRPr lang="en-US" sz="1700" dirty="0"/>
          </a:p>
        </p:txBody>
      </p:sp>
      <p:sp>
        <p:nvSpPr>
          <p:cNvPr id="9" name="Text 7"/>
          <p:cNvSpPr/>
          <p:nvPr/>
        </p:nvSpPr>
        <p:spPr>
          <a:xfrm>
            <a:off x="822960" y="3840480"/>
            <a:ext cx="4837176" cy="118872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Constraints must be linear inequalities forming a convex set, and the objective function must also be linear.</a:t>
            </a:r>
            <a:endParaRPr lang="en-US" sz="1350" dirty="0"/>
          </a:p>
          <a:p>
            <a:pPr marL="0" indent="0">
              <a:lnSpc>
                <a:spcPts val="1800"/>
              </a:lnSpc>
              <a:buNone/>
            </a:pPr>
            <a:endParaRPr lang="en-US" sz="1350" dirty="0"/>
          </a:p>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 time complexity is polynomial in the number of variables. Probably the most widely studied and broadly useful method for optimization.</a:t>
            </a:r>
            <a:endParaRPr lang="en-US" sz="1350" dirty="0"/>
          </a:p>
        </p:txBody>
      </p:sp>
      <p:sp>
        <p:nvSpPr>
          <p:cNvPr id="10" name="Shape 8"/>
          <p:cNvSpPr/>
          <p:nvPr/>
        </p:nvSpPr>
        <p:spPr>
          <a:xfrm>
            <a:off x="6300216" y="3291840"/>
            <a:ext cx="5349240" cy="1874520"/>
          </a:xfrm>
          <a:prstGeom prst="roundRect">
            <a:avLst>
              <a:gd name="adj" fmla="val 439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3456432"/>
            <a:ext cx="483717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Convex optimization</a:t>
            </a:r>
            <a:endParaRPr lang="en-US" sz="1700" dirty="0"/>
          </a:p>
        </p:txBody>
      </p:sp>
      <p:sp>
        <p:nvSpPr>
          <p:cNvPr id="12" name="Text 10"/>
          <p:cNvSpPr/>
          <p:nvPr/>
        </p:nvSpPr>
        <p:spPr>
          <a:xfrm>
            <a:off x="6556248" y="3840480"/>
            <a:ext cx="4837176" cy="1188720"/>
          </a:xfrm>
          <a:prstGeom prst="rect">
            <a:avLst/>
          </a:prstGeom>
          <a:noFill/>
          <a:ln/>
        </p:spPr>
        <p:txBody>
          <a:bodyPr wrap="square" lIns="0" tIns="0" rIns="0" bIns="0" rtlCol="0" anchor="t"/>
          <a:lstStyle/>
          <a:p>
            <a:pPr marL="0" indent="0">
              <a:lnSpc>
                <a:spcPts val="1800"/>
              </a:lnSpc>
              <a:buNone/>
            </a:pPr>
            <a:r>
              <a:rPr lang="en-US" sz="1350" dirty="0">
                <a:solidFill>
                  <a:srgbClr val="E4D9C3"/>
                </a:solidFill>
                <a:latin typeface="Calibri" pitchFamily="34" charset="0"/>
                <a:ea typeface="Calibri" pitchFamily="34" charset="-122"/>
                <a:cs typeface="Calibri" pitchFamily="34" charset="-120"/>
              </a:rPr>
              <a:t>The general case of which linear programming is a special case: the constraint region may be any convex region and the objective any function convex within it.</a:t>
            </a:r>
            <a:endParaRPr lang="en-US" sz="1350" dirty="0"/>
          </a:p>
          <a:p>
            <a:pPr marL="0" indent="0">
              <a:lnSpc>
                <a:spcPts val="1800"/>
              </a:lnSpc>
              <a:buNone/>
            </a:pPr>
            <a:endParaRPr lang="en-US" sz="1350" dirty="0"/>
          </a:p>
          <a:p>
            <a:pPr marL="0" indent="0">
              <a:lnSpc>
                <a:spcPts val="1800"/>
              </a:lnSpc>
              <a:buNone/>
            </a:pPr>
            <a:r>
              <a:rPr lang="en-US" sz="1350" dirty="0">
                <a:solidFill>
                  <a:srgbClr val="E4D9C3"/>
                </a:solidFill>
                <a:latin typeface="Calibri" pitchFamily="34" charset="0"/>
                <a:ea typeface="Calibri" pitchFamily="34" charset="-122"/>
                <a:cs typeface="Calibri" pitchFamily="34" charset="-120"/>
              </a:rPr>
              <a:t>Also polynomially solvable under certain conditions, and feasible in practice with thousands of variables.</a:t>
            </a:r>
            <a:endParaRPr lang="en-US" sz="1350" dirty="0"/>
          </a:p>
        </p:txBody>
      </p:sp>
      <p:sp>
        <p:nvSpPr>
          <p:cNvPr id="13" name="Text 11"/>
          <p:cNvSpPr/>
          <p:nvPr/>
        </p:nvSpPr>
        <p:spPr>
          <a:xfrm>
            <a:off x="566928" y="5321808"/>
            <a:ext cx="11057839" cy="685800"/>
          </a:xfrm>
          <a:prstGeom prst="rect">
            <a:avLst/>
          </a:prstGeom>
          <a:noFill/>
          <a:ln/>
        </p:spPr>
        <p:txBody>
          <a:bodyPr wrap="square" lIns="0" tIns="0" rIns="0" bIns="0" rtlCol="0" anchor="t"/>
          <a:lstStyle/>
          <a:p>
            <a:pPr marL="0" indent="0">
              <a:lnSpc>
                <a:spcPts val="2000"/>
              </a:lnSpc>
              <a:buNone/>
            </a:pPr>
            <a:r>
              <a:rPr lang="en-US" sz="1450" b="1" i="1" dirty="0">
                <a:solidFill>
                  <a:srgbClr val="B5563A"/>
                </a:solidFill>
                <a:latin typeface="Calibri" pitchFamily="34" charset="0"/>
                <a:ea typeface="Calibri" pitchFamily="34" charset="-122"/>
                <a:cs typeface="Calibri" pitchFamily="34" charset="-120"/>
              </a:rPr>
              <a:t>Several important problems in machine learning and control theory can be formulated as convex optimization problems — we return to this in Chapter 20. When your problem is convex, do not use local search: use a convex solver and get a certificate of optimality.</a:t>
            </a:r>
            <a:endParaRPr lang="en-US" sz="14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Choosing an algorithm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73</a:t>
            </a:r>
            <a:endParaRPr lang="en-US" sz="900" dirty="0"/>
          </a:p>
        </p:txBody>
      </p:sp>
      <p:sp>
        <p:nvSpPr>
          <p:cNvPr id="6" name="Shape 4"/>
          <p:cNvSpPr/>
          <p:nvPr/>
        </p:nvSpPr>
        <p:spPr>
          <a:xfrm>
            <a:off x="566928" y="1554480"/>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7" name="Text 5"/>
          <p:cNvSpPr/>
          <p:nvPr/>
        </p:nvSpPr>
        <p:spPr>
          <a:xfrm>
            <a:off x="786384" y="1554480"/>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Your problem is convex, or your constraints are linear</a:t>
            </a:r>
            <a:endParaRPr lang="en-US" sz="1280" dirty="0"/>
          </a:p>
        </p:txBody>
      </p:sp>
      <p:sp>
        <p:nvSpPr>
          <p:cNvPr id="8" name="Text 6"/>
          <p:cNvSpPr/>
          <p:nvPr/>
        </p:nvSpPr>
        <p:spPr>
          <a:xfrm>
            <a:off x="5980176" y="1554480"/>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6373368" y="1554480"/>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Use a convex solver or a linear program. Not local search.</a:t>
            </a:r>
            <a:endParaRPr lang="en-US" sz="1280" dirty="0"/>
          </a:p>
        </p:txBody>
      </p:sp>
      <p:sp>
        <p:nvSpPr>
          <p:cNvPr id="10" name="Shape 8"/>
          <p:cNvSpPr/>
          <p:nvPr/>
        </p:nvSpPr>
        <p:spPr>
          <a:xfrm>
            <a:off x="566928" y="2231136"/>
            <a:ext cx="11057839" cy="621792"/>
          </a:xfrm>
          <a:prstGeom prst="roundRect">
            <a:avLst>
              <a:gd name="adj" fmla="val 13235"/>
            </a:avLst>
          </a:prstGeom>
          <a:solidFill>
            <a:srgbClr val="FFFFFF"/>
          </a:solidFill>
          <a:ln w="12700">
            <a:solidFill>
              <a:srgbClr val="E2DED4"/>
            </a:solidFill>
            <a:prstDash val="solid"/>
          </a:ln>
        </p:spPr>
        <p:txBody>
          <a:bodyPr/>
          <a:lstStyle/>
          <a:p>
            <a:endParaRPr lang="en-US"/>
          </a:p>
        </p:txBody>
      </p:sp>
      <p:sp>
        <p:nvSpPr>
          <p:cNvPr id="11" name="Text 9"/>
          <p:cNvSpPr/>
          <p:nvPr/>
        </p:nvSpPr>
        <p:spPr>
          <a:xfrm>
            <a:off x="786384" y="2231136"/>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Discrete, moderate branching factor, you can afford to fail and retry</a:t>
            </a:r>
            <a:endParaRPr lang="en-US" sz="1280" dirty="0"/>
          </a:p>
        </p:txBody>
      </p:sp>
      <p:sp>
        <p:nvSpPr>
          <p:cNvPr id="12" name="Text 10"/>
          <p:cNvSpPr/>
          <p:nvPr/>
        </p:nvSpPr>
        <p:spPr>
          <a:xfrm>
            <a:off x="5980176" y="2231136"/>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6373368" y="2231136"/>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Random-restart hill climbing with sideways moves. Simple, and a mandatory baseline.</a:t>
            </a:r>
            <a:endParaRPr lang="en-US" sz="1280" dirty="0"/>
          </a:p>
        </p:txBody>
      </p:sp>
      <p:sp>
        <p:nvSpPr>
          <p:cNvPr id="14" name="Shape 12"/>
          <p:cNvSpPr/>
          <p:nvPr/>
        </p:nvSpPr>
        <p:spPr>
          <a:xfrm>
            <a:off x="566928" y="2907792"/>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15" name="Text 13"/>
          <p:cNvSpPr/>
          <p:nvPr/>
        </p:nvSpPr>
        <p:spPr>
          <a:xfrm>
            <a:off x="786384" y="2907792"/>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Discrete, rugged landscape, tuning time available</a:t>
            </a:r>
            <a:endParaRPr lang="en-US" sz="1280" dirty="0"/>
          </a:p>
        </p:txBody>
      </p:sp>
      <p:sp>
        <p:nvSpPr>
          <p:cNvPr id="16" name="Text 14"/>
          <p:cNvSpPr/>
          <p:nvPr/>
        </p:nvSpPr>
        <p:spPr>
          <a:xfrm>
            <a:off x="5980176" y="2907792"/>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6373368" y="2907792"/>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Simulated annealing. Budget as much effort for the cooling schedule as for the code.</a:t>
            </a:r>
            <a:endParaRPr lang="en-US" sz="1280" dirty="0"/>
          </a:p>
        </p:txBody>
      </p:sp>
      <p:sp>
        <p:nvSpPr>
          <p:cNvPr id="18" name="Shape 16"/>
          <p:cNvSpPr/>
          <p:nvPr/>
        </p:nvSpPr>
        <p:spPr>
          <a:xfrm>
            <a:off x="566928" y="3584448"/>
            <a:ext cx="11057839" cy="621792"/>
          </a:xfrm>
          <a:prstGeom prst="roundRect">
            <a:avLst>
              <a:gd name="adj" fmla="val 13235"/>
            </a:avLst>
          </a:prstGeom>
          <a:solidFill>
            <a:srgbClr val="FFFFFF"/>
          </a:solidFill>
          <a:ln w="12700">
            <a:solidFill>
              <a:srgbClr val="E2DED4"/>
            </a:solidFill>
            <a:prstDash val="solid"/>
          </a:ln>
        </p:spPr>
        <p:txBody>
          <a:bodyPr/>
          <a:lstStyle/>
          <a:p>
            <a:endParaRPr lang="en-US"/>
          </a:p>
        </p:txBody>
      </p:sp>
      <p:sp>
        <p:nvSpPr>
          <p:cNvPr id="19" name="Text 17"/>
          <p:cNvSpPr/>
          <p:nvPr/>
        </p:nvSpPr>
        <p:spPr>
          <a:xfrm>
            <a:off x="786384" y="3584448"/>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Enormous branching factor, or successors are expensive to enumerate</a:t>
            </a:r>
            <a:endParaRPr lang="en-US" sz="1280" dirty="0"/>
          </a:p>
        </p:txBody>
      </p:sp>
      <p:sp>
        <p:nvSpPr>
          <p:cNvPr id="20" name="Text 18"/>
          <p:cNvSpPr/>
          <p:nvPr/>
        </p:nvSpPr>
        <p:spPr>
          <a:xfrm>
            <a:off x="5980176" y="3584448"/>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373368" y="3584448"/>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First-choice hill climbing, or annealing. Never steepest ascent.</a:t>
            </a:r>
            <a:endParaRPr lang="en-US" sz="1280" dirty="0"/>
          </a:p>
        </p:txBody>
      </p:sp>
      <p:sp>
        <p:nvSpPr>
          <p:cNvPr id="22" name="Shape 20"/>
          <p:cNvSpPr/>
          <p:nvPr/>
        </p:nvSpPr>
        <p:spPr>
          <a:xfrm>
            <a:off x="566928" y="4261104"/>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23" name="Text 21"/>
          <p:cNvSpPr/>
          <p:nvPr/>
        </p:nvSpPr>
        <p:spPr>
          <a:xfrm>
            <a:off x="786384" y="4261104"/>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Solutions decompose into meaningful, recombinable components</a:t>
            </a:r>
            <a:endParaRPr lang="en-US" sz="1280" dirty="0"/>
          </a:p>
        </p:txBody>
      </p:sp>
      <p:sp>
        <p:nvSpPr>
          <p:cNvPr id="24" name="Text 22"/>
          <p:cNvSpPr/>
          <p:nvPr/>
        </p:nvSpPr>
        <p:spPr>
          <a:xfrm>
            <a:off x="5980176" y="4261104"/>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373368" y="4261104"/>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A genetic algorithm — but engineer the representation first, and benchmark against restarts.</a:t>
            </a:r>
            <a:endParaRPr lang="en-US" sz="1280" dirty="0"/>
          </a:p>
        </p:txBody>
      </p:sp>
      <p:sp>
        <p:nvSpPr>
          <p:cNvPr id="26" name="Shape 24"/>
          <p:cNvSpPr/>
          <p:nvPr/>
        </p:nvSpPr>
        <p:spPr>
          <a:xfrm>
            <a:off x="566928" y="4937760"/>
            <a:ext cx="11057839" cy="621792"/>
          </a:xfrm>
          <a:prstGeom prst="roundRect">
            <a:avLst>
              <a:gd name="adj" fmla="val 13235"/>
            </a:avLst>
          </a:prstGeom>
          <a:solidFill>
            <a:srgbClr val="FFFFFF"/>
          </a:solidFill>
          <a:ln w="12700">
            <a:solidFill>
              <a:srgbClr val="E2DED4"/>
            </a:solidFill>
            <a:prstDash val="solid"/>
          </a:ln>
        </p:spPr>
        <p:txBody>
          <a:bodyPr/>
          <a:lstStyle/>
          <a:p>
            <a:endParaRPr lang="en-US"/>
          </a:p>
        </p:txBody>
      </p:sp>
      <p:sp>
        <p:nvSpPr>
          <p:cNvPr id="27" name="Text 25"/>
          <p:cNvSpPr/>
          <p:nvPr/>
        </p:nvSpPr>
        <p:spPr>
          <a:xfrm>
            <a:off x="786384" y="4937760"/>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Continuous, and you can differentiate f</a:t>
            </a:r>
            <a:endParaRPr lang="en-US" sz="1280" dirty="0"/>
          </a:p>
        </p:txBody>
      </p:sp>
      <p:sp>
        <p:nvSpPr>
          <p:cNvPr id="28" name="Text 26"/>
          <p:cNvSpPr/>
          <p:nvPr/>
        </p:nvSpPr>
        <p:spPr>
          <a:xfrm>
            <a:off x="5980176" y="4937760"/>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6373368" y="4937760"/>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Gradient descent with line search or a tuned step size; Newton or quasi-Newton if n is small.</a:t>
            </a:r>
            <a:endParaRPr lang="en-US" sz="1280" dirty="0"/>
          </a:p>
        </p:txBody>
      </p:sp>
      <p:sp>
        <p:nvSpPr>
          <p:cNvPr id="30" name="Shape 28"/>
          <p:cNvSpPr/>
          <p:nvPr/>
        </p:nvSpPr>
        <p:spPr>
          <a:xfrm>
            <a:off x="566928" y="5614416"/>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31" name="Text 29"/>
          <p:cNvSpPr/>
          <p:nvPr/>
        </p:nvSpPr>
        <p:spPr>
          <a:xfrm>
            <a:off x="786384" y="5614416"/>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Continuous, f is a black box</a:t>
            </a:r>
            <a:endParaRPr lang="en-US" sz="1280" dirty="0"/>
          </a:p>
        </p:txBody>
      </p:sp>
      <p:sp>
        <p:nvSpPr>
          <p:cNvPr id="32" name="Text 30"/>
          <p:cNvSpPr/>
          <p:nvPr/>
        </p:nvSpPr>
        <p:spPr>
          <a:xfrm>
            <a:off x="5980176" y="5614416"/>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6373368" y="5614416"/>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Empirical gradient methods, or discretize and use a discrete algorithm.</a:t>
            </a:r>
            <a:endParaRPr lang="en-US" sz="1280" dirty="0"/>
          </a:p>
        </p:txBody>
      </p:sp>
      <p:sp>
        <p:nvSpPr>
          <p:cNvPr id="34" name="Text 32"/>
          <p:cNvSpPr/>
          <p:nvPr/>
        </p:nvSpPr>
        <p:spPr>
          <a:xfrm>
            <a:off x="566928" y="5532120"/>
            <a:ext cx="11057839" cy="54864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Note that the first row sends you out of this chapter entirely. Recognising when local search is the wrong tool is as valuable as knowing how to run it.</a:t>
            </a:r>
            <a:endParaRPr lang="en-US" sz="14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Six things that cost points on the exam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74</a:t>
            </a:r>
            <a:endParaRPr lang="en-US" sz="900" dirty="0"/>
          </a:p>
        </p:txBody>
      </p:sp>
      <p:sp>
        <p:nvSpPr>
          <p:cNvPr id="6" name="Shape 4"/>
          <p:cNvSpPr/>
          <p:nvPr/>
        </p:nvSpPr>
        <p:spPr>
          <a:xfrm>
            <a:off x="566928" y="1554480"/>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86384" y="1682496"/>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“Hill climbing found a solution”</a:t>
            </a:r>
            <a:endParaRPr lang="en-US" sz="1400" dirty="0"/>
          </a:p>
        </p:txBody>
      </p:sp>
      <p:sp>
        <p:nvSpPr>
          <p:cNvPr id="8" name="Text 6"/>
          <p:cNvSpPr/>
          <p:nvPr/>
        </p:nvSpPr>
        <p:spPr>
          <a:xfrm>
            <a:off x="786384" y="2157984"/>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It found a state no neighbour improves. That is all termination means.</a:t>
            </a:r>
            <a:endParaRPr lang="en-US" sz="1280" dirty="0"/>
          </a:p>
        </p:txBody>
      </p:sp>
      <p:sp>
        <p:nvSpPr>
          <p:cNvPr id="9" name="Shape 7"/>
          <p:cNvSpPr/>
          <p:nvPr/>
        </p:nvSpPr>
        <p:spPr>
          <a:xfrm>
            <a:off x="6300216" y="1554480"/>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19672" y="1682496"/>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“Random restarts make it complete”</a:t>
            </a:r>
            <a:endParaRPr lang="en-US" sz="1400" dirty="0"/>
          </a:p>
        </p:txBody>
      </p:sp>
      <p:sp>
        <p:nvSpPr>
          <p:cNvPr id="11" name="Text 9"/>
          <p:cNvSpPr/>
          <p:nvPr/>
        </p:nvSpPr>
        <p:spPr>
          <a:xfrm>
            <a:off x="6519672" y="2157984"/>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Complete with probability 1, which is a different and weaker claim. Say the qualifier.</a:t>
            </a:r>
            <a:endParaRPr lang="en-US" sz="1280" dirty="0"/>
          </a:p>
        </p:txBody>
      </p:sp>
      <p:sp>
        <p:nvSpPr>
          <p:cNvPr id="12" name="Shape 10"/>
          <p:cNvSpPr/>
          <p:nvPr/>
        </p:nvSpPr>
        <p:spPr>
          <a:xfrm>
            <a:off x="566928" y="3035808"/>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86384" y="3163824"/>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“The 8-queens branching factor is 8”</a:t>
            </a:r>
            <a:endParaRPr lang="en-US" sz="1400" dirty="0"/>
          </a:p>
        </p:txBody>
      </p:sp>
      <p:sp>
        <p:nvSpPr>
          <p:cNvPr id="14" name="Text 12"/>
          <p:cNvSpPr/>
          <p:nvPr/>
        </p:nvSpPr>
        <p:spPr>
          <a:xfrm>
            <a:off x="786384" y="3639312"/>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It is 56: eight columns times seven alternative squares in each.</a:t>
            </a:r>
            <a:endParaRPr lang="en-US" sz="1280" dirty="0"/>
          </a:p>
        </p:txBody>
      </p:sp>
      <p:sp>
        <p:nvSpPr>
          <p:cNvPr id="15" name="Shape 13"/>
          <p:cNvSpPr/>
          <p:nvPr/>
        </p:nvSpPr>
        <p:spPr>
          <a:xfrm>
            <a:off x="6300216" y="3035808"/>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6519672" y="3163824"/>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“Simulated annealing accepts bad moves with probability T”</a:t>
            </a:r>
            <a:endParaRPr lang="en-US" sz="1400" dirty="0"/>
          </a:p>
        </p:txBody>
      </p:sp>
      <p:sp>
        <p:nvSpPr>
          <p:cNvPr id="17" name="Text 15"/>
          <p:cNvSpPr/>
          <p:nvPr/>
        </p:nvSpPr>
        <p:spPr>
          <a:xfrm>
            <a:off x="6519672" y="3639312"/>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With probability e^(ΔE/T). Both ΔE and T matter, and the dependence is exponential.</a:t>
            </a:r>
            <a:endParaRPr lang="en-US" sz="1280" dirty="0"/>
          </a:p>
        </p:txBody>
      </p:sp>
      <p:sp>
        <p:nvSpPr>
          <p:cNvPr id="18" name="Shape 16"/>
          <p:cNvSpPr/>
          <p:nvPr/>
        </p:nvSpPr>
        <p:spPr>
          <a:xfrm>
            <a:off x="566928" y="4517136"/>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786384" y="4645152"/>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“Local beam search is k hill climbers in parallel”</a:t>
            </a:r>
            <a:endParaRPr lang="en-US" sz="1400" dirty="0"/>
          </a:p>
        </p:txBody>
      </p:sp>
      <p:sp>
        <p:nvSpPr>
          <p:cNvPr id="20" name="Text 18"/>
          <p:cNvSpPr/>
          <p:nvPr/>
        </p:nvSpPr>
        <p:spPr>
          <a:xfrm>
            <a:off x="786384" y="5120640"/>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shared successor pool means lineages compete for slots. That competition is the algorithm.</a:t>
            </a:r>
            <a:endParaRPr lang="en-US" sz="1280" dirty="0"/>
          </a:p>
        </p:txBody>
      </p:sp>
      <p:sp>
        <p:nvSpPr>
          <p:cNvPr id="21" name="Shape 19"/>
          <p:cNvSpPr/>
          <p:nvPr/>
        </p:nvSpPr>
        <p:spPr>
          <a:xfrm>
            <a:off x="6300216" y="4517136"/>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2" name="Text 20"/>
          <p:cNvSpPr/>
          <p:nvPr/>
        </p:nvSpPr>
        <p:spPr>
          <a:xfrm>
            <a:off x="6519672" y="4645152"/>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“Genetic algorithms beat hill climbing”</a:t>
            </a:r>
            <a:endParaRPr lang="en-US" sz="1400" dirty="0"/>
          </a:p>
        </p:txBody>
      </p:sp>
      <p:sp>
        <p:nvSpPr>
          <p:cNvPr id="23" name="Text 21"/>
          <p:cNvSpPr/>
          <p:nvPr/>
        </p:nvSpPr>
        <p:spPr>
          <a:xfrm>
            <a:off x="6519672" y="5120640"/>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Only when the representation makes crossover meaningful. Otherwise they are slower stochastic beam search.</a:t>
            </a:r>
            <a:endParaRPr lang="en-US" sz="1280" dirty="0"/>
          </a:p>
        </p:txBody>
      </p:sp>
      <p:sp>
        <p:nvSpPr>
          <p:cNvPr id="24" name="Text 22"/>
          <p:cNvSpPr/>
          <p:nvPr/>
        </p:nvSpPr>
        <p:spPr>
          <a:xfrm>
            <a:off x="566928" y="5870448"/>
            <a:ext cx="11057839" cy="365760"/>
          </a:xfrm>
          <a:prstGeom prst="rect">
            <a:avLst/>
          </a:prstGeom>
          <a:noFill/>
          <a:ln/>
        </p:spPr>
        <p:txBody>
          <a:bodyPr wrap="square" lIns="0" tIns="0" rIns="0" bIns="0" rtlCol="0" anchor="ctr"/>
          <a:lstStyle/>
          <a:p>
            <a:pPr marL="0" indent="0">
              <a:buNone/>
            </a:pPr>
            <a:r>
              <a:rPr lang="en-US" sz="1350" i="1" dirty="0">
                <a:solidFill>
                  <a:srgbClr val="7A868C"/>
                </a:solidFill>
                <a:latin typeface="Calibri" pitchFamily="34" charset="0"/>
                <a:ea typeface="Calibri" pitchFamily="34" charset="-122"/>
                <a:cs typeface="Calibri" pitchFamily="34" charset="-120"/>
              </a:rPr>
              <a:t>Each of these is a real answer from a real exam. The pattern is the same every time: a correct-sounding sentence with the precision removed.</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One idea, in four costumes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75</a:t>
            </a:r>
            <a:endParaRPr lang="en-US" sz="900" dirty="0"/>
          </a:p>
        </p:txBody>
      </p:sp>
      <p:sp>
        <p:nvSpPr>
          <p:cNvPr id="6" name="Shape 4"/>
          <p:cNvSpPr/>
          <p:nvPr/>
        </p:nvSpPr>
        <p:spPr>
          <a:xfrm>
            <a:off x="566928" y="1645920"/>
            <a:ext cx="26060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1E2A2F"/>
                </a:solidFill>
                <a:latin typeface="Cambria" pitchFamily="34" charset="0"/>
                <a:ea typeface="Cambria" pitchFamily="34" charset="-122"/>
                <a:cs typeface="Cambria" pitchFamily="34" charset="-120"/>
              </a:rPr>
              <a:t>Hill climbing</a:t>
            </a:r>
            <a:endParaRPr lang="en-US" sz="1600" dirty="0"/>
          </a:p>
        </p:txBody>
      </p:sp>
      <p:sp>
        <p:nvSpPr>
          <p:cNvPr id="8" name="Text 6"/>
          <p:cNvSpPr/>
          <p:nvPr/>
        </p:nvSpPr>
        <p:spPr>
          <a:xfrm>
            <a:off x="768096"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33454E"/>
                </a:solidFill>
                <a:latin typeface="Calibri" pitchFamily="34" charset="0"/>
                <a:ea typeface="Calibri" pitchFamily="34" charset="-122"/>
                <a:cs typeface="Calibri" pitchFamily="34" charset="-120"/>
              </a:rPr>
              <a:t>move to the best neighbour</a:t>
            </a:r>
            <a:endParaRPr lang="en-US" sz="1300" dirty="0"/>
          </a:p>
        </p:txBody>
      </p:sp>
      <p:sp>
        <p:nvSpPr>
          <p:cNvPr id="9" name="Text 7"/>
          <p:cNvSpPr/>
          <p:nvPr/>
        </p:nvSpPr>
        <p:spPr>
          <a:xfrm>
            <a:off x="768096" y="3493008"/>
            <a:ext cx="2203704" cy="310896"/>
          </a:xfrm>
          <a:prstGeom prst="rect">
            <a:avLst/>
          </a:prstGeom>
          <a:noFill/>
          <a:ln/>
        </p:spPr>
        <p:txBody>
          <a:bodyPr wrap="square" lIns="0" tIns="0" rIns="0" bIns="0" rtlCol="0" anchor="ctr"/>
          <a:lstStyle/>
          <a:p>
            <a:pPr marL="0" indent="0">
              <a:buNone/>
            </a:pPr>
            <a:r>
              <a:rPr lang="en-US" sz="1150" i="1" dirty="0">
                <a:solidFill>
                  <a:srgbClr val="B5563A"/>
                </a:solidFill>
                <a:latin typeface="Calibri" pitchFamily="34" charset="0"/>
                <a:ea typeface="Calibri" pitchFamily="34" charset="-122"/>
                <a:cs typeface="Calibri" pitchFamily="34" charset="-120"/>
              </a:rPr>
              <a:t>discrete, enumerated</a:t>
            </a:r>
            <a:endParaRPr lang="en-US" sz="1150" dirty="0"/>
          </a:p>
        </p:txBody>
      </p:sp>
      <p:sp>
        <p:nvSpPr>
          <p:cNvPr id="10" name="Shape 8"/>
          <p:cNvSpPr/>
          <p:nvPr/>
        </p:nvSpPr>
        <p:spPr>
          <a:xfrm>
            <a:off x="3392424" y="1645920"/>
            <a:ext cx="26060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3593592"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1E2A2F"/>
                </a:solidFill>
                <a:latin typeface="Cambria" pitchFamily="34" charset="0"/>
                <a:ea typeface="Cambria" pitchFamily="34" charset="-122"/>
                <a:cs typeface="Cambria" pitchFamily="34" charset="-120"/>
              </a:rPr>
              <a:t>Simulated annealing</a:t>
            </a:r>
            <a:endParaRPr lang="en-US" sz="1600" dirty="0"/>
          </a:p>
        </p:txBody>
      </p:sp>
      <p:sp>
        <p:nvSpPr>
          <p:cNvPr id="12" name="Text 10"/>
          <p:cNvSpPr/>
          <p:nvPr/>
        </p:nvSpPr>
        <p:spPr>
          <a:xfrm>
            <a:off x="3593592"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33454E"/>
                </a:solidFill>
                <a:latin typeface="Calibri" pitchFamily="34" charset="0"/>
                <a:ea typeface="Calibri" pitchFamily="34" charset="-122"/>
                <a:cs typeface="Calibri" pitchFamily="34" charset="-120"/>
              </a:rPr>
              <a:t>move to a random neighbour, accept by temperature</a:t>
            </a:r>
            <a:endParaRPr lang="en-US" sz="1300" dirty="0"/>
          </a:p>
        </p:txBody>
      </p:sp>
      <p:sp>
        <p:nvSpPr>
          <p:cNvPr id="13" name="Text 11"/>
          <p:cNvSpPr/>
          <p:nvPr/>
        </p:nvSpPr>
        <p:spPr>
          <a:xfrm>
            <a:off x="3593592" y="3493008"/>
            <a:ext cx="2203704" cy="310896"/>
          </a:xfrm>
          <a:prstGeom prst="rect">
            <a:avLst/>
          </a:prstGeom>
          <a:noFill/>
          <a:ln/>
        </p:spPr>
        <p:txBody>
          <a:bodyPr wrap="square" lIns="0" tIns="0" rIns="0" bIns="0" rtlCol="0" anchor="ctr"/>
          <a:lstStyle/>
          <a:p>
            <a:pPr marL="0" indent="0">
              <a:buNone/>
            </a:pPr>
            <a:r>
              <a:rPr lang="en-US" sz="1150" i="1" dirty="0">
                <a:solidFill>
                  <a:srgbClr val="B5563A"/>
                </a:solidFill>
                <a:latin typeface="Calibri" pitchFamily="34" charset="0"/>
                <a:ea typeface="Calibri" pitchFamily="34" charset="-122"/>
                <a:cs typeface="Calibri" pitchFamily="34" charset="-120"/>
              </a:rPr>
              <a:t>discrete, sampled</a:t>
            </a:r>
            <a:endParaRPr lang="en-US" sz="1150" dirty="0"/>
          </a:p>
        </p:txBody>
      </p:sp>
      <p:sp>
        <p:nvSpPr>
          <p:cNvPr id="14" name="Shape 12"/>
          <p:cNvSpPr/>
          <p:nvPr/>
        </p:nvSpPr>
        <p:spPr>
          <a:xfrm>
            <a:off x="6217920" y="1645920"/>
            <a:ext cx="26060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6419088"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1E2A2F"/>
                </a:solidFill>
                <a:latin typeface="Cambria" pitchFamily="34" charset="0"/>
                <a:ea typeface="Cambria" pitchFamily="34" charset="-122"/>
                <a:cs typeface="Cambria" pitchFamily="34" charset="-120"/>
              </a:rPr>
              <a:t>Evolutionary algorithms</a:t>
            </a:r>
            <a:endParaRPr lang="en-US" sz="1600" dirty="0"/>
          </a:p>
        </p:txBody>
      </p:sp>
      <p:sp>
        <p:nvSpPr>
          <p:cNvPr id="16" name="Text 14"/>
          <p:cNvSpPr/>
          <p:nvPr/>
        </p:nvSpPr>
        <p:spPr>
          <a:xfrm>
            <a:off x="6419088"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33454E"/>
                </a:solidFill>
                <a:latin typeface="Calibri" pitchFamily="34" charset="0"/>
                <a:ea typeface="Calibri" pitchFamily="34" charset="-122"/>
                <a:cs typeface="Calibri" pitchFamily="34" charset="-120"/>
              </a:rPr>
              <a:t>recombine a population, keep the fit</a:t>
            </a:r>
            <a:endParaRPr lang="en-US" sz="1300" dirty="0"/>
          </a:p>
        </p:txBody>
      </p:sp>
      <p:sp>
        <p:nvSpPr>
          <p:cNvPr id="17" name="Text 15"/>
          <p:cNvSpPr/>
          <p:nvPr/>
        </p:nvSpPr>
        <p:spPr>
          <a:xfrm>
            <a:off x="6419088" y="3493008"/>
            <a:ext cx="2203704" cy="310896"/>
          </a:xfrm>
          <a:prstGeom prst="rect">
            <a:avLst/>
          </a:prstGeom>
          <a:noFill/>
          <a:ln/>
        </p:spPr>
        <p:txBody>
          <a:bodyPr wrap="square" lIns="0" tIns="0" rIns="0" bIns="0" rtlCol="0" anchor="ctr"/>
          <a:lstStyle/>
          <a:p>
            <a:pPr marL="0" indent="0">
              <a:buNone/>
            </a:pPr>
            <a:r>
              <a:rPr lang="en-US" sz="1150" i="1" dirty="0">
                <a:solidFill>
                  <a:srgbClr val="B5563A"/>
                </a:solidFill>
                <a:latin typeface="Calibri" pitchFamily="34" charset="0"/>
                <a:ea typeface="Calibri" pitchFamily="34" charset="-122"/>
                <a:cs typeface="Calibri" pitchFamily="34" charset="-120"/>
              </a:rPr>
              <a:t>discrete, population</a:t>
            </a:r>
            <a:endParaRPr lang="en-US" sz="1150" dirty="0"/>
          </a:p>
        </p:txBody>
      </p:sp>
      <p:sp>
        <p:nvSpPr>
          <p:cNvPr id="18" name="Shape 16"/>
          <p:cNvSpPr/>
          <p:nvPr/>
        </p:nvSpPr>
        <p:spPr>
          <a:xfrm>
            <a:off x="9043416" y="1645920"/>
            <a:ext cx="2606040" cy="2286000"/>
          </a:xfrm>
          <a:prstGeom prst="roundRect">
            <a:avLst>
              <a:gd name="adj" fmla="val 36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9244584"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FFFFFF"/>
                </a:solidFill>
                <a:latin typeface="Cambria" pitchFamily="34" charset="0"/>
                <a:ea typeface="Cambria" pitchFamily="34" charset="-122"/>
                <a:cs typeface="Cambria" pitchFamily="34" charset="-120"/>
              </a:rPr>
              <a:t>Gradient descent</a:t>
            </a:r>
            <a:endParaRPr lang="en-US" sz="1600" dirty="0"/>
          </a:p>
        </p:txBody>
      </p:sp>
      <p:sp>
        <p:nvSpPr>
          <p:cNvPr id="20" name="Text 18"/>
          <p:cNvSpPr/>
          <p:nvPr/>
        </p:nvSpPr>
        <p:spPr>
          <a:xfrm>
            <a:off x="9244584"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E4D9C3"/>
                </a:solidFill>
                <a:latin typeface="Calibri" pitchFamily="34" charset="0"/>
                <a:ea typeface="Calibri" pitchFamily="34" charset="-122"/>
                <a:cs typeface="Calibri" pitchFamily="34" charset="-120"/>
              </a:rPr>
              <a:t>move along −∇f by a step size α</a:t>
            </a:r>
            <a:endParaRPr lang="en-US" sz="1300" dirty="0"/>
          </a:p>
        </p:txBody>
      </p:sp>
      <p:sp>
        <p:nvSpPr>
          <p:cNvPr id="21" name="Text 19"/>
          <p:cNvSpPr/>
          <p:nvPr/>
        </p:nvSpPr>
        <p:spPr>
          <a:xfrm>
            <a:off x="9244584" y="3493008"/>
            <a:ext cx="2203704" cy="310896"/>
          </a:xfrm>
          <a:prstGeom prst="rect">
            <a:avLst/>
          </a:prstGeom>
          <a:noFill/>
          <a:ln/>
        </p:spPr>
        <p:txBody>
          <a:bodyPr wrap="square" lIns="0" tIns="0" rIns="0" bIns="0" rtlCol="0" anchor="ctr"/>
          <a:lstStyle/>
          <a:p>
            <a:pPr marL="0" indent="0">
              <a:buNone/>
            </a:pPr>
            <a:r>
              <a:rPr lang="en-US" sz="1150" i="1" dirty="0">
                <a:solidFill>
                  <a:srgbClr val="D08B6F"/>
                </a:solidFill>
                <a:latin typeface="Calibri" pitchFamily="34" charset="0"/>
                <a:ea typeface="Calibri" pitchFamily="34" charset="-122"/>
                <a:cs typeface="Calibri" pitchFamily="34" charset="-120"/>
              </a:rPr>
              <a:t>continuous, differentiated</a:t>
            </a:r>
            <a:endParaRPr lang="en-US" sz="1150" dirty="0"/>
          </a:p>
        </p:txBody>
      </p:sp>
      <p:sp>
        <p:nvSpPr>
          <p:cNvPr id="22" name="Shape 20"/>
          <p:cNvSpPr/>
          <p:nvPr/>
        </p:nvSpPr>
        <p:spPr>
          <a:xfrm>
            <a:off x="566928" y="4206240"/>
            <a:ext cx="11057839" cy="1600200"/>
          </a:xfrm>
          <a:prstGeom prst="roundRect">
            <a:avLst>
              <a:gd name="adj" fmla="val 5143"/>
            </a:avLst>
          </a:prstGeom>
          <a:solidFill>
            <a:srgbClr val="EDF1E9"/>
          </a:solidFill>
          <a:ln w="12700">
            <a:solidFill>
              <a:srgbClr val="D9E2D2"/>
            </a:solidFill>
            <a:prstDash val="solid"/>
          </a:ln>
          <a:effectLst>
            <a:outerShdw blurRad="127000" dist="17780" dir="5400000" algn="bl" rotWithShape="0">
              <a:srgbClr val="8E9A9F">
                <a:alpha val="16000"/>
              </a:srgbClr>
            </a:outerShdw>
          </a:effectLst>
        </p:spPr>
        <p:txBody>
          <a:bodyPr/>
          <a:lstStyle/>
          <a:p>
            <a:endParaRPr lang="en-US"/>
          </a:p>
        </p:txBody>
      </p:sp>
      <p:sp>
        <p:nvSpPr>
          <p:cNvPr id="23" name="Text 21"/>
          <p:cNvSpPr/>
          <p:nvPr/>
        </p:nvSpPr>
        <p:spPr>
          <a:xfrm>
            <a:off x="877824" y="4206240"/>
            <a:ext cx="10436047" cy="1600200"/>
          </a:xfrm>
          <a:prstGeom prst="rect">
            <a:avLst/>
          </a:prstGeom>
          <a:noFill/>
          <a:ln/>
        </p:spPr>
        <p:txBody>
          <a:bodyPr wrap="square" lIns="0" tIns="0" rIns="0" bIns="0" rtlCol="0" anchor="ctr"/>
          <a:lstStyle/>
          <a:p>
            <a:pPr marL="0" indent="0">
              <a:lnSpc>
                <a:spcPts val="2300"/>
              </a:lnSpc>
              <a:buNone/>
            </a:pPr>
            <a:r>
              <a:rPr lang="en-US" sz="1600" dirty="0">
                <a:solidFill>
                  <a:srgbClr val="1E2A2F"/>
                </a:solidFill>
                <a:latin typeface="Calibri" pitchFamily="34" charset="0"/>
                <a:ea typeface="Calibri" pitchFamily="34" charset="-122"/>
                <a:cs typeface="Calibri" pitchFamily="34" charset="-120"/>
              </a:rPr>
              <a:t>All four keep a current state, use only local information to pick a change, apply it, and repeat until nothing improves. They differ in how the candidate change is proposed and how it is judged — nothing else. If you remember one sentence from this lecture, make it that one.</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BEFORE NEXT CLASS</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Reading and practice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76</a:t>
            </a:r>
            <a:endParaRPr lang="en-US" sz="900" dirty="0"/>
          </a:p>
        </p:txBody>
      </p:sp>
      <p:sp>
        <p:nvSpPr>
          <p:cNvPr id="6" name="Shape 4"/>
          <p:cNvSpPr/>
          <p:nvPr/>
        </p:nvSpPr>
        <p:spPr>
          <a:xfrm>
            <a:off x="566928" y="1572768"/>
            <a:ext cx="53492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700784"/>
            <a:ext cx="494690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Reading</a:t>
            </a:r>
            <a:endParaRPr lang="en-US" sz="1500" dirty="0"/>
          </a:p>
        </p:txBody>
      </p:sp>
      <p:sp>
        <p:nvSpPr>
          <p:cNvPr id="8" name="Text 6"/>
          <p:cNvSpPr/>
          <p:nvPr/>
        </p:nvSpPr>
        <p:spPr>
          <a:xfrm>
            <a:off x="768096" y="2029968"/>
            <a:ext cx="4946904" cy="134416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Russell &amp; Norvig, Sections 4.1 and 4.2 in full, including the Evolution and Search sidebar.</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Then read ahead: Sections 4.3 and 4.4 on nondeterministic actions and partial observability.</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Section 4.1.5 on evolutionary algorithms in continuous spaces is optional but short.</a:t>
            </a:r>
            <a:endParaRPr lang="en-US" sz="1300" dirty="0"/>
          </a:p>
        </p:txBody>
      </p:sp>
      <p:sp>
        <p:nvSpPr>
          <p:cNvPr id="9" name="Shape 7"/>
          <p:cNvSpPr/>
          <p:nvPr/>
        </p:nvSpPr>
        <p:spPr>
          <a:xfrm>
            <a:off x="6300216" y="1572768"/>
            <a:ext cx="53492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01384" y="1700784"/>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Practice problems</a:t>
            </a:r>
            <a:endParaRPr lang="en-US" sz="1500" dirty="0"/>
          </a:p>
        </p:txBody>
      </p:sp>
      <p:sp>
        <p:nvSpPr>
          <p:cNvPr id="11" name="Text 9"/>
          <p:cNvSpPr/>
          <p:nvPr/>
        </p:nvSpPr>
        <p:spPr>
          <a:xfrm>
            <a:off x="6501384" y="2029968"/>
            <a:ext cx="4946904" cy="134416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Exercise: implement steepest-ascent hill climbing for 8-queens and reproduce the 14% success figure over 1,000 random starts.</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Then add a sideways-move cap of 100 and confirm you get close to 94%.</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Report both success rates and both average step counts.</a:t>
            </a:r>
            <a:endParaRPr lang="en-US" sz="1300" dirty="0"/>
          </a:p>
        </p:txBody>
      </p:sp>
      <p:sp>
        <p:nvSpPr>
          <p:cNvPr id="12" name="Shape 10"/>
          <p:cNvSpPr/>
          <p:nvPr/>
        </p:nvSpPr>
        <p:spPr>
          <a:xfrm>
            <a:off x="566928" y="3749040"/>
            <a:ext cx="11057839" cy="2057400"/>
          </a:xfrm>
          <a:prstGeom prst="roundRect">
            <a:avLst>
              <a:gd name="adj" fmla="val 40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77824" y="3931920"/>
            <a:ext cx="10436047" cy="347472"/>
          </a:xfrm>
          <a:prstGeom prst="rect">
            <a:avLst/>
          </a:prstGeom>
          <a:noFill/>
          <a:ln/>
        </p:spPr>
        <p:txBody>
          <a:bodyPr wrap="square" lIns="0" tIns="0" rIns="0" bIns="0" rtlCol="0" anchor="ctr"/>
          <a:lstStyle/>
          <a:p>
            <a:pPr marL="0" indent="0">
              <a:buNone/>
            </a:pPr>
            <a:r>
              <a:rPr lang="en-US" sz="1600" b="1" dirty="0">
                <a:solidFill>
                  <a:srgbClr val="D08B6F"/>
                </a:solidFill>
                <a:latin typeface="Cambria" pitchFamily="34" charset="0"/>
                <a:ea typeface="Cambria" pitchFamily="34" charset="-122"/>
                <a:cs typeface="Cambria" pitchFamily="34" charset="-120"/>
              </a:rPr>
              <a:t>Written question to bring to next class</a:t>
            </a:r>
            <a:endParaRPr lang="en-US" sz="1600" dirty="0"/>
          </a:p>
        </p:txBody>
      </p:sp>
      <p:sp>
        <p:nvSpPr>
          <p:cNvPr id="14" name="Text 12"/>
          <p:cNvSpPr/>
          <p:nvPr/>
        </p:nvSpPr>
        <p:spPr>
          <a:xfrm>
            <a:off x="877824" y="4343400"/>
            <a:ext cx="10436047" cy="132588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You are scheduling 200 jobs onto 12 machines. Each schedule takes 40 ms to evaluate. You have a two-hour compute budget, which is roughly 180,000 evaluations.</a:t>
            </a:r>
            <a:endParaRPr lang="en-US" sz="1450" dirty="0"/>
          </a:p>
          <a:p>
            <a:pPr marL="0" indent="0">
              <a:lnSpc>
                <a:spcPts val="2000"/>
              </a:lnSpc>
              <a:buNone/>
            </a:pPr>
            <a:endParaRPr lang="en-US" sz="1450" dirty="0"/>
          </a:p>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Choose one algorithm from this lecture, justify the choice in one paragraph, and state what baseline you would compare it against and why. Half a page, and be specific about how you would spend the evaluation budget.</a:t>
            </a:r>
            <a:endParaRPr lang="en-US" sz="14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82000"/>
          </a:blip>
          <a:stretch>
            <a:fillRect/>
          </a:stretch>
        </p:blipFill>
        <p:spPr>
          <a:xfrm>
            <a:off x="0" y="0"/>
            <a:ext cx="12191695" cy="6858000"/>
          </a:xfrm>
          <a:prstGeom prst="rect">
            <a:avLst/>
          </a:prstGeom>
        </p:spPr>
      </p:pic>
      <p:sp>
        <p:nvSpPr>
          <p:cNvPr id="3" name="Text 0"/>
          <p:cNvSpPr/>
          <p:nvPr/>
        </p:nvSpPr>
        <p:spPr>
          <a:xfrm>
            <a:off x="612648" y="1371600"/>
            <a:ext cx="7315200" cy="292608"/>
          </a:xfrm>
          <a:prstGeom prst="rect">
            <a:avLst/>
          </a:prstGeom>
          <a:noFill/>
          <a:ln/>
        </p:spPr>
        <p:txBody>
          <a:bodyPr wrap="square" lIns="0" tIns="0" rIns="0" bIns="0" rtlCol="0" anchor="ctr"/>
          <a:lstStyle/>
          <a:p>
            <a:pPr marL="0" indent="0">
              <a:buNone/>
            </a:pPr>
            <a:r>
              <a:rPr lang="en-US" sz="1200" b="1" kern="0" spc="240" dirty="0">
                <a:solidFill>
                  <a:srgbClr val="D08B6F"/>
                </a:solidFill>
                <a:latin typeface="Calibri" pitchFamily="34" charset="0"/>
                <a:ea typeface="Calibri" pitchFamily="34" charset="-122"/>
                <a:cs typeface="Calibri" pitchFamily="34" charset="-120"/>
              </a:rPr>
              <a:t>NEXT LECTURE</a:t>
            </a:r>
            <a:endParaRPr lang="en-US" sz="1200" dirty="0"/>
          </a:p>
        </p:txBody>
      </p:sp>
      <p:sp>
        <p:nvSpPr>
          <p:cNvPr id="4" name="Text 1"/>
          <p:cNvSpPr/>
          <p:nvPr/>
        </p:nvSpPr>
        <p:spPr>
          <a:xfrm>
            <a:off x="612648" y="1828800"/>
            <a:ext cx="9601200" cy="1554480"/>
          </a:xfrm>
          <a:prstGeom prst="rect">
            <a:avLst/>
          </a:prstGeom>
          <a:noFill/>
          <a:ln/>
        </p:spPr>
        <p:txBody>
          <a:bodyPr wrap="square" lIns="0" tIns="0" rIns="0" bIns="0" rtlCol="0" anchor="ctr"/>
          <a:lstStyle/>
          <a:p>
            <a:pPr marL="0" indent="0">
              <a:lnSpc>
                <a:spcPts val="4400"/>
              </a:lnSpc>
              <a:buNone/>
            </a:pPr>
            <a:r>
              <a:rPr lang="en-US" sz="3600" b="1" dirty="0">
                <a:solidFill>
                  <a:srgbClr val="FFFFFF"/>
                </a:solidFill>
                <a:latin typeface="Cambria" pitchFamily="34" charset="0"/>
                <a:ea typeface="Cambria" pitchFamily="34" charset="-122"/>
                <a:cs typeface="Cambria" pitchFamily="34" charset="-120"/>
              </a:rPr>
              <a:t>Search with Nondeterministic</a:t>
            </a:r>
            <a:endParaRPr lang="en-US" sz="3600" dirty="0"/>
          </a:p>
          <a:p>
            <a:pPr marL="0" indent="0">
              <a:lnSpc>
                <a:spcPts val="4400"/>
              </a:lnSpc>
              <a:buNone/>
            </a:pPr>
            <a:r>
              <a:rPr lang="en-US" sz="3600" b="1" dirty="0">
                <a:solidFill>
                  <a:srgbClr val="FFFFFF"/>
                </a:solidFill>
                <a:latin typeface="Cambria" pitchFamily="34" charset="0"/>
                <a:ea typeface="Cambria" pitchFamily="34" charset="-122"/>
                <a:cs typeface="Cambria" pitchFamily="34" charset="-120"/>
              </a:rPr>
              <a:t>Actions and Partial Observability</a:t>
            </a:r>
            <a:endParaRPr lang="en-US" sz="3600" dirty="0"/>
          </a:p>
        </p:txBody>
      </p:sp>
      <p:sp>
        <p:nvSpPr>
          <p:cNvPr id="5" name="Text 2"/>
          <p:cNvSpPr/>
          <p:nvPr/>
        </p:nvSpPr>
        <p:spPr>
          <a:xfrm>
            <a:off x="612648" y="3474720"/>
            <a:ext cx="7315200" cy="365760"/>
          </a:xfrm>
          <a:prstGeom prst="rect">
            <a:avLst/>
          </a:prstGeom>
          <a:noFill/>
          <a:ln/>
        </p:spPr>
        <p:txBody>
          <a:bodyPr wrap="square" lIns="0" tIns="0" rIns="0" bIns="0" rtlCol="0" anchor="ctr"/>
          <a:lstStyle/>
          <a:p>
            <a:pPr marL="0" indent="0">
              <a:buNone/>
            </a:pPr>
            <a:r>
              <a:rPr lang="en-US" sz="1800" i="1" dirty="0">
                <a:solidFill>
                  <a:srgbClr val="E4D9C3"/>
                </a:solidFill>
                <a:latin typeface="Cambria" pitchFamily="34" charset="0"/>
                <a:ea typeface="Cambria" pitchFamily="34" charset="-122"/>
                <a:cs typeface="Cambria" pitchFamily="34" charset="-120"/>
              </a:rPr>
              <a:t>Sections 4.3 and 4.4</a:t>
            </a:r>
            <a:endParaRPr lang="en-US" sz="1800" dirty="0"/>
          </a:p>
        </p:txBody>
      </p:sp>
      <p:sp>
        <p:nvSpPr>
          <p:cNvPr id="6" name="Text 3"/>
          <p:cNvSpPr/>
          <p:nvPr/>
        </p:nvSpPr>
        <p:spPr>
          <a:xfrm>
            <a:off x="612648" y="4160520"/>
            <a:ext cx="685800" cy="731520"/>
          </a:xfrm>
          <a:prstGeom prst="rect">
            <a:avLst/>
          </a:prstGeom>
          <a:noFill/>
          <a:ln/>
        </p:spPr>
        <p:txBody>
          <a:bodyPr wrap="square" lIns="0" tIns="0" rIns="0" bIns="0" rtlCol="0" anchor="t"/>
          <a:lstStyle/>
          <a:p>
            <a:pPr marL="0" indent="0">
              <a:buNone/>
            </a:pPr>
            <a:r>
              <a:rPr lang="en-US" sz="2000" b="1" dirty="0">
                <a:solidFill>
                  <a:srgbClr val="D08B6F"/>
                </a:solidFill>
                <a:latin typeface="Cambria" pitchFamily="34" charset="0"/>
                <a:ea typeface="Cambria" pitchFamily="34" charset="-122"/>
                <a:cs typeface="Cambria" pitchFamily="34" charset="-120"/>
              </a:rPr>
              <a:t>4.3</a:t>
            </a:r>
            <a:endParaRPr lang="en-US" sz="2000" dirty="0"/>
          </a:p>
        </p:txBody>
      </p:sp>
      <p:sp>
        <p:nvSpPr>
          <p:cNvPr id="7" name="Text 4"/>
          <p:cNvSpPr/>
          <p:nvPr/>
        </p:nvSpPr>
        <p:spPr>
          <a:xfrm>
            <a:off x="1435608" y="4160520"/>
            <a:ext cx="9692640" cy="77724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When an action can have several outcomes, a solution is no longer a sequence. It is a conditional plan — a tree with branches for what you observe.</a:t>
            </a:r>
            <a:endParaRPr lang="en-US" sz="1450" dirty="0"/>
          </a:p>
        </p:txBody>
      </p:sp>
      <p:sp>
        <p:nvSpPr>
          <p:cNvPr id="8" name="Text 5"/>
          <p:cNvSpPr/>
          <p:nvPr/>
        </p:nvSpPr>
        <p:spPr>
          <a:xfrm>
            <a:off x="612648" y="5056632"/>
            <a:ext cx="685800" cy="731520"/>
          </a:xfrm>
          <a:prstGeom prst="rect">
            <a:avLst/>
          </a:prstGeom>
          <a:noFill/>
          <a:ln/>
        </p:spPr>
        <p:txBody>
          <a:bodyPr wrap="square" lIns="0" tIns="0" rIns="0" bIns="0" rtlCol="0" anchor="t"/>
          <a:lstStyle/>
          <a:p>
            <a:pPr marL="0" indent="0">
              <a:buNone/>
            </a:pPr>
            <a:r>
              <a:rPr lang="en-US" sz="2000" b="1" dirty="0">
                <a:solidFill>
                  <a:srgbClr val="D08B6F"/>
                </a:solidFill>
                <a:latin typeface="Cambria" pitchFamily="34" charset="0"/>
                <a:ea typeface="Cambria" pitchFamily="34" charset="-122"/>
                <a:cs typeface="Cambria" pitchFamily="34" charset="-120"/>
              </a:rPr>
              <a:t>4.4</a:t>
            </a:r>
            <a:endParaRPr lang="en-US" sz="2000" dirty="0"/>
          </a:p>
        </p:txBody>
      </p:sp>
      <p:sp>
        <p:nvSpPr>
          <p:cNvPr id="9" name="Text 6"/>
          <p:cNvSpPr/>
          <p:nvPr/>
        </p:nvSpPr>
        <p:spPr>
          <a:xfrm>
            <a:off x="1435608" y="5056632"/>
            <a:ext cx="9692640" cy="77724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When you cannot see the whole state, the agent reasons about a belief state: the set of states it might currently be in.</a:t>
            </a:r>
            <a:endParaRPr lang="en-US" sz="1450" dirty="0"/>
          </a:p>
        </p:txBody>
      </p:sp>
      <p:sp>
        <p:nvSpPr>
          <p:cNvPr id="10" name="Text 7"/>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17091</Words>
  <Application>Microsoft Office PowerPoint</Application>
  <PresentationFormat>Widescreen</PresentationFormat>
  <Paragraphs>1263</Paragraphs>
  <Slides>77</Slides>
  <Notes>77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California State University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Local Search (AIMA 4.1-4.2)</dc:title>
  <dc:subject>Search in Complex Environments: Local Search and Optimization</dc:subject>
  <dc:creator>COMP 469 - CSU Channel Islands</dc:creator>
  <cp:lastModifiedBy>Rios, Juan</cp:lastModifiedBy>
  <cp:revision>2</cp:revision>
  <dcterms:created xsi:type="dcterms:W3CDTF">2026-08-02T22:40:28Z</dcterms:created>
  <dcterms:modified xsi:type="dcterms:W3CDTF">2026-08-03T02:32:54Z</dcterms:modified>
</cp:coreProperties>
</file>