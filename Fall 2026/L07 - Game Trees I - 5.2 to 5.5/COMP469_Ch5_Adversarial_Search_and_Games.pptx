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notesMasterIdLst>
    <p:notesMasterId r:id="rId7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Two-hour session. Opening frame: in Chapters 3 and 4 the world sat still while we searched. Today it does not - there is a second agent whose interests are opposed to ours and who moves in between our moves. Everything we build today follows from that single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Anchor the new material to what they already own. Emphasize that adversarial search is not a separate universe - it is DFS over a tree where alternate levels are chosen by someone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Read the objectives out loud. Tell students the alpha-beta trace is the single most commonly missed exam question and that they will practice it three times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Post the timings. Keeping Part 3 to 25 minutes is the hard constraint - the alpha-beta exercises expand to fill whatever time you give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we now name precisely which games we can attack and which we are postponing.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middle stance is the one students default to. Press on it: a Chapter 4 nondeterministic model assumes nature picks outcomes indifferently; here nature picks the outcome that is worst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solved-versus-superhuman distinction is worth a full minute. Stockfish crushes every human and still has no proof that the initial chess position is a 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Have students place four named games on the grid out loud. Poker fails two axes at once, which is why it needs its own machinery.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Insist on ply. Students who say 'search four moves ahead' when they mean four ply will misread every complexity figure in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is the conceptual pivot of the lecture. If a student remembers one sentence from Part 1, it should be 'the answer is a policy, not a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Note the naming: the players are called MAX and MIN because of what they do to this single shared number, not because of any personality.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Walk the tree top-down once. Stress that the numbers at the leaves are always from MAX's point of view, even on MIN's turn - this trips up half the class on the first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Set expectations for the arc of the lecture: exact but infeasible, then prune, then cut off and estimate, then sample. Each step trades a guarantee for tractability.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core algorithm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Everything here is Chapter 3 in new clothing. Get the 8 backed up out loud before adding the opponent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Ask the class which branch looks best before revealing. Most will point at the +8. This is the moment the adversarial idea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Write the three-case definition on the board as you show it. The single most important point: there is only one number, and it always means 'good for 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Give the class 60 seconds of silence to compute this themselves before advancing. Do not narrate over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Point at the 14 explicitly. Students want to chase it. MIN would answer with the 2 in that same subtree.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Have students note that the only difference between the two functions is the initial value and the comparator. That symmetry is what makes the alpha-beta version easy to remember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Good discussion hook: ask whether a chess engine facing a club player should play the objectively best move or the most confusing one. Both answers are defensible and both are outside minimax.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Repeat the framing: prune, cut off, or sample. Those are the only three moves available for the rest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timed] Circulate. The common error is taking the max at the MIN level. Do not give the answer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Highlight the bait leaf again. Recognizing bait is the practical skill this exercise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Catan and Diplomacy are the reference points here. The takeaway is that cooperation does not require altruism, only aligned incentives. Non-zero-sum two-player games can be fully cooperative too - if &lt;1000, 1000&gt; is available, both players race toward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minimax is correct and unusable. The first repair costs us nothing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Make the argument out loud in MAX's voice: 'I already have 3 in hand. This branch can only get worse than 2. I am done here.' That sentence is the whole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Students who distrust pruning are reassured by the algebra. Show it once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Emphasize 'or anywhere higher up the path'. Students often implement pruning that only looks one level up and then wonder why they get so few cutoffs.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mnemonic that sticks: alpha is MAX's floor, beta is MIN's ceiling. When the floor meets the ceiling there is no room left to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Walk one recursive call aloud. Then state the rule they will need on the exam: you compare against the OTHER player's bound and update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timed] Standard CS 188 quiz. Insist on left-to-right order - the answer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50 is the point of this exercise. Students who feel uneasy about ignoring a 50 have not yet internalized that MIN chooses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timed] Harder: this one has a beta cutoff at a MAX node and an alpha cutoff at a MIN node, so it exercises both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Highlight the subtree prune on the right. This is where the exponential savings actually come from - single-leaf cuts are almost decorative by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action-selection trap costs students points on the programming assignment every single semester. Say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square-root intuition is the takeaway: alpha-beta with good ordering searches twice as deep in the same time. In chess that is the difference between a club player and an expert.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Connect back to Chapter 3 graph search explicitly. Then note that even with all of this, chess and Go remain out of reach - which motivates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pruning was free. Everything from here on costs us the optimality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Make the two questions explicit and keep referring back to them; every remaining topic in Part 4 answers one or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Note that IS-CUTOFF taking the state, not just the depth, is what makes quiescence search possible later. Flag that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parenthetical about 'chances of winning' in a deterministic game is worth dwelling on: the probability is epistemic. With infinite compute it would collapse to a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ordinal-versus-cardinal point matters twice: it is a relief here, and it becomes false in Part 6 once chance nodes average the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Good place to name NNUE and AlphaZero informally as the modern instances of 'learn the weights', without going down the rabbit 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Ask the class for a seventh feature. Then ask what its sign should be. Sign errors are the most common bug in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practical advice for the assignment: get depth first, then improve features. Students almost always do it in the wrong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Recall from Chapter 3 that iterative deepening's overhead is a constant factor because the last level dominates. Here it also pays for itself through 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Draw the queen-capture example on the board if you have time. Students find the failure obvious once they see it, and never see it beforehand.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Note the uncomfortable diagnosis: the agent is not malfunctioning. It is correctly optimizing a truncated objective. Every bounded agent has this pathology in some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is the demo students remember. If the live Pac-Man demo is available, run the thrashing d=2 version and then the fixed-evaluation version back to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Type A / Type B distinction from 1950 is still the cleanest way to organize this whole chapter: alpha-beta is Type A, MCTS is Type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Retrograde analysis is worth naming as a technique in its own right: it is dynamic programming over the state space, run backwards from the terminal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Point out that the jump from 5 to 14 ply comes from techniques that cost nothing in accuracy. The jump beyond that comes from knowledge, not from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End Part 4 on metareasoning and take the second break here. Part 5 changes the paradigm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everything so far assumed we could estimate who is winning. Go breaks that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philosophical shift is worth naming: we replace a knowledge-based estimate with a statistical one. No chess knowledge required, only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Flag exploration versus exploitation as a theme that returns in force in reinforcement learning, Chapter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Walk the highlighted path. The root shows white has won 37 of 100 playouts; black selects downward. Stress that simulation moves are thrown away - only the tree nodes keep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Have a student state why white's win count did not change. If they cannot, the perspective convention has not landed and it is worth another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C = 1.4 versus C = 1.5 flip is the memorable detail. It shows how sharply the exploration constant matters when counts are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Ask why we do not just take the best average. The 2/3 example lands immediately with anyone who has looked at small-sample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Close Part 5 by noting that AlphaGo and AlphaZero are exactly this hybrid: MCTS plus a learned value function plus a learned policy for the playouts.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back to exact computation, but the tree now has a third kind of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1/36 versus 1/18 distinction is a favorite exam detail. Doubles can happen only one way; every other roll can happen two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Emphasize that MAX and MIN take extrema while chance takes an average - so the tree mixes optimization and integration. That mix is what breaks pruning and evaluation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Have the class compute both expectations before revealing. Then tell them to remember 1, 3, 3,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is the deepest idea in Part 6. Under uncertainty, an evaluation function is no longer just a ranking device - it must be a calibrated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Close the loop between Parts 5 and 6: MCTS handles chance for free, because a playout just rolls actual 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Keep this short. It exists to advertise the next unit and to explain why we skipped poker.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Read the seven aloud. If a student can reconstruct the lecture from these, they are ready for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Point out that item 3 - the action-selection trap - and item 8 - the rescaling effect - are the two that separate a B from an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Close on the through-line: every technique today was a way to put a number on a position we could not fully search. Next unit asks what that number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22960" y="1234440"/>
            <a:ext cx="9144000" cy="320040"/>
          </a:xfrm>
          <a:prstGeom prst="rect">
            <a:avLst/>
          </a:prstGeom>
          <a:noFill/>
          <a:ln/>
        </p:spPr>
        <p:txBody>
          <a:bodyPr wrap="square" lIns="0" tIns="0" rIns="0" bIns="0" rtlCol="0" anchor="ctr"/>
          <a:lstStyle/>
          <a:p>
            <a:pPr indent="0" marL="0">
              <a:buNone/>
            </a:pPr>
            <a:r>
              <a:rPr lang="en-US" sz="1400" b="1" spc="220" kern="0" dirty="0">
                <a:solidFill>
                  <a:srgbClr val="D98C1F"/>
                </a:solidFill>
                <a:latin typeface="Calibri" pitchFamily="34" charset="0"/>
                <a:ea typeface="Calibri" pitchFamily="34" charset="-122"/>
                <a:cs typeface="Calibri" pitchFamily="34" charset="-120"/>
              </a:rPr>
              <a:t>COMP 469  ·  INTRODUCTION TO ARTIFICIAL INTELLIGENCE</a:t>
            </a:r>
            <a:endParaRPr lang="en-US" sz="1400" dirty="0"/>
          </a:p>
        </p:txBody>
      </p:sp>
      <p:sp>
        <p:nvSpPr>
          <p:cNvPr id="3" name="Text 1"/>
          <p:cNvSpPr/>
          <p:nvPr/>
        </p:nvSpPr>
        <p:spPr>
          <a:xfrm>
            <a:off x="822960" y="1737360"/>
            <a:ext cx="8778240" cy="13716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Adversarial Search</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and Games</a:t>
            </a:r>
            <a:endParaRPr lang="en-US" sz="4600" dirty="0"/>
          </a:p>
        </p:txBody>
      </p:sp>
      <p:sp>
        <p:nvSpPr>
          <p:cNvPr id="4" name="Text 2"/>
          <p:cNvSpPr/>
          <p:nvPr/>
        </p:nvSpPr>
        <p:spPr>
          <a:xfrm>
            <a:off x="822960" y="3200400"/>
            <a:ext cx="8778240" cy="457200"/>
          </a:xfrm>
          <a:prstGeom prst="rect">
            <a:avLst/>
          </a:prstGeom>
          <a:noFill/>
          <a:ln/>
        </p:spPr>
        <p:txBody>
          <a:bodyPr wrap="square" lIns="0" tIns="0" rIns="0" bIns="0" rtlCol="0" anchor="ctr"/>
          <a:lstStyle/>
          <a:p>
            <a:pPr indent="0" marL="0">
              <a:buNone/>
            </a:pPr>
            <a:r>
              <a:rPr lang="en-US" sz="1900" dirty="0">
                <a:solidFill>
                  <a:srgbClr val="DCE6FA"/>
                </a:solidFill>
                <a:latin typeface="Calibri" pitchFamily="34" charset="0"/>
                <a:ea typeface="Calibri" pitchFamily="34" charset="-122"/>
                <a:cs typeface="Calibri" pitchFamily="34" charset="-120"/>
              </a:rPr>
              <a:t>Chapter 5  ·  Minimax, Pruning, Evaluation, MCTS, Chance</a:t>
            </a:r>
            <a:endParaRPr lang="en-US" sz="1900" dirty="0"/>
          </a:p>
        </p:txBody>
      </p:sp>
      <p:sp>
        <p:nvSpPr>
          <p:cNvPr id="5" name="Text 3"/>
          <p:cNvSpPr/>
          <p:nvPr/>
        </p:nvSpPr>
        <p:spPr>
          <a:xfrm>
            <a:off x="822960" y="3977640"/>
            <a:ext cx="8778240" cy="822960"/>
          </a:xfrm>
          <a:prstGeom prst="rect">
            <a:avLst/>
          </a:prstGeom>
          <a:noFill/>
          <a:ln/>
        </p:spPr>
        <p:txBody>
          <a:bodyPr wrap="square" lIns="0" tIns="0" rIns="0" bIns="0" rtlCol="0" anchor="t"/>
          <a:lstStyle/>
          <a:p>
            <a:pPr indent="0" marL="0">
              <a:lnSpc>
                <a:spcPct val="125000"/>
              </a:lnSpc>
              <a:buNone/>
            </a:pPr>
            <a:r>
              <a:rPr lang="en-US" sz="1350" dirty="0">
                <a:solidFill>
                  <a:srgbClr val="9FB0CC"/>
                </a:solidFill>
                <a:latin typeface="Calibri" pitchFamily="34" charset="0"/>
                <a:ea typeface="Calibri" pitchFamily="34" charset="-122"/>
                <a:cs typeface="Calibri" pitchFamily="34" charset="-120"/>
              </a:rPr>
              <a:t>Russell &amp; Norvig, Artificial Intelligence: A Modern Approach, 4th ed., Ch. 5</a:t>
            </a:r>
            <a:endParaRPr lang="en-US" sz="1350" dirty="0"/>
          </a:p>
          <a:p>
            <a:pPr indent="0" marL="0">
              <a:lnSpc>
                <a:spcPct val="125000"/>
              </a:lnSpc>
              <a:buNone/>
            </a:pPr>
            <a:r>
              <a:rPr lang="en-US" sz="1350" dirty="0">
                <a:solidFill>
                  <a:srgbClr val="9FB0CC"/>
                </a:solidFill>
                <a:latin typeface="Calibri" pitchFamily="34" charset="0"/>
                <a:ea typeface="Calibri" pitchFamily="34" charset="-122"/>
                <a:cs typeface="Calibri" pitchFamily="34" charset="-120"/>
              </a:rPr>
              <a:t>Cross-referenced with UC Berkeley CS 188 (Klein &amp; Abbeel), Adversarial Search</a:t>
            </a:r>
            <a:endParaRPr lang="en-US" sz="1350" dirty="0"/>
          </a:p>
          <a:p>
            <a:pPr indent="0" marL="0">
              <a:lnSpc>
                <a:spcPct val="125000"/>
              </a:lnSpc>
              <a:buNone/>
            </a:pPr>
            <a:r>
              <a:rPr lang="en-US" sz="1350" dirty="0">
                <a:solidFill>
                  <a:srgbClr val="9FB0CC"/>
                </a:solidFill>
                <a:latin typeface="Calibri" pitchFamily="34" charset="0"/>
                <a:ea typeface="Calibri" pitchFamily="34" charset="-122"/>
                <a:cs typeface="Calibri" pitchFamily="34" charset="-120"/>
              </a:rPr>
              <a:t>CSU Channel Islands  ·  Two-hour lecture</a:t>
            </a:r>
            <a:endParaRPr lang="en-US" sz="1350" dirty="0"/>
          </a:p>
        </p:txBody>
      </p:sp>
      <p:sp>
        <p:nvSpPr>
          <p:cNvPr id="6" name="Shape 4"/>
          <p:cNvSpPr/>
          <p:nvPr/>
        </p:nvSpPr>
        <p:spPr>
          <a:xfrm>
            <a:off x="9966960" y="1965960"/>
            <a:ext cx="960120" cy="777240"/>
          </a:xfrm>
          <a:prstGeom prst="triangle">
            <a:avLst/>
          </a:prstGeom>
          <a:solidFill>
            <a:srgbClr val="1F5AC4"/>
          </a:solidFill>
          <a:ln w="12700">
            <a:solidFill>
              <a:srgbClr val="1F5AC4"/>
            </a:solidFill>
            <a:prstDash val="solid"/>
          </a:ln>
        </p:spPr>
      </p:sp>
      <p:sp>
        <p:nvSpPr>
          <p:cNvPr id="7" name="Shape 5"/>
          <p:cNvSpPr/>
          <p:nvPr/>
        </p:nvSpPr>
        <p:spPr>
          <a:xfrm rot="10800000">
            <a:off x="9966960" y="2971800"/>
            <a:ext cx="960120" cy="777240"/>
          </a:xfrm>
          <a:prstGeom prst="triangle">
            <a:avLst/>
          </a:prstGeom>
          <a:solidFill>
            <a:srgbClr val="C1272D"/>
          </a:solidFill>
          <a:ln w="12700">
            <a:solidFill>
              <a:srgbClr val="C1272D"/>
            </a:solidFill>
            <a:prstDash val="solid"/>
          </a:ln>
        </p:spPr>
      </p:sp>
      <p:sp>
        <p:nvSpPr>
          <p:cNvPr id="8" name="Text 6"/>
          <p:cNvSpPr/>
          <p:nvPr/>
        </p:nvSpPr>
        <p:spPr>
          <a:xfrm>
            <a:off x="10195560" y="1627632"/>
            <a:ext cx="1280160" cy="274320"/>
          </a:xfrm>
          <a:prstGeom prst="rect">
            <a:avLst/>
          </a:prstGeom>
          <a:noFill/>
          <a:ln/>
        </p:spPr>
        <p:txBody>
          <a:bodyPr wrap="square" lIns="0" tIns="0" rIns="0" bIns="0" rtlCol="0" anchor="ctr"/>
          <a:lstStyle/>
          <a:p>
            <a:pPr indent="0" marL="0">
              <a:buNone/>
            </a:pPr>
            <a:r>
              <a:rPr lang="en-US" sz="1200" b="1" dirty="0">
                <a:solidFill>
                  <a:srgbClr val="DCE6FA"/>
                </a:solidFill>
                <a:latin typeface="Calibri" pitchFamily="34" charset="0"/>
                <a:ea typeface="Calibri" pitchFamily="34" charset="-122"/>
                <a:cs typeface="Calibri" pitchFamily="34" charset="-120"/>
              </a:rPr>
              <a:t>MAX</a:t>
            </a:r>
            <a:endParaRPr lang="en-US" sz="1200" dirty="0"/>
          </a:p>
        </p:txBody>
      </p:sp>
      <p:sp>
        <p:nvSpPr>
          <p:cNvPr id="9" name="Text 7"/>
          <p:cNvSpPr/>
          <p:nvPr/>
        </p:nvSpPr>
        <p:spPr>
          <a:xfrm>
            <a:off x="10195560" y="3803904"/>
            <a:ext cx="1280160" cy="274320"/>
          </a:xfrm>
          <a:prstGeom prst="rect">
            <a:avLst/>
          </a:prstGeom>
          <a:noFill/>
          <a:ln/>
        </p:spPr>
        <p:txBody>
          <a:bodyPr wrap="square" lIns="0" tIns="0" rIns="0" bIns="0" rtlCol="0" anchor="ctr"/>
          <a:lstStyle/>
          <a:p>
            <a:pPr indent="0" marL="0">
              <a:buNone/>
            </a:pPr>
            <a:r>
              <a:rPr lang="en-US" sz="1200" b="1" dirty="0">
                <a:solidFill>
                  <a:srgbClr val="E9AFB1"/>
                </a:solidFill>
                <a:latin typeface="Calibri" pitchFamily="34" charset="0"/>
                <a:ea typeface="Calibri" pitchFamily="34" charset="-122"/>
                <a:cs typeface="Calibri" pitchFamily="34" charset="-120"/>
              </a:rPr>
              <a:t>MIN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COURSE ROADMAP</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Where Chapter 5 Fits</a:t>
            </a:r>
            <a:endParaRPr lang="en-US" sz="2900" dirty="0"/>
          </a:p>
        </p:txBody>
      </p:sp>
      <p:sp>
        <p:nvSpPr>
          <p:cNvPr id="4" name="Shape 2"/>
          <p:cNvSpPr/>
          <p:nvPr/>
        </p:nvSpPr>
        <p:spPr>
          <a:xfrm>
            <a:off x="640080" y="1417320"/>
            <a:ext cx="3383280" cy="2377440"/>
          </a:xfrm>
          <a:prstGeom prst="roundRect">
            <a:avLst>
              <a:gd name="adj" fmla="val 3077"/>
            </a:avLst>
          </a:prstGeom>
          <a:solidFill>
            <a:srgbClr val="EFF3F9"/>
          </a:solidFill>
          <a:ln w="12700">
            <a:solidFill>
              <a:srgbClr val="EFF3F9"/>
            </a:solidFill>
            <a:prstDash val="solid"/>
          </a:ln>
        </p:spPr>
      </p:sp>
      <p:sp>
        <p:nvSpPr>
          <p:cNvPr id="5" name="Text 3"/>
          <p:cNvSpPr/>
          <p:nvPr/>
        </p:nvSpPr>
        <p:spPr>
          <a:xfrm>
            <a:off x="841248" y="1563624"/>
            <a:ext cx="298094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Ch. 3  Classical search</a:t>
            </a:r>
            <a:endParaRPr lang="en-US" sz="1500" dirty="0"/>
          </a:p>
        </p:txBody>
      </p:sp>
      <p:sp>
        <p:nvSpPr>
          <p:cNvPr id="6" name="Text 4"/>
          <p:cNvSpPr/>
          <p:nvPr/>
        </p:nvSpPr>
        <p:spPr>
          <a:xfrm>
            <a:off x="841248" y="1911096"/>
            <a:ext cx="2980944" cy="171907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One agent, deterministic, fully observable. The world waits while we plan. Output: a fixed sequence of actions from start to goal.</a:t>
            </a:r>
            <a:endParaRPr lang="en-US" sz="1300" dirty="0"/>
          </a:p>
        </p:txBody>
      </p:sp>
      <p:sp>
        <p:nvSpPr>
          <p:cNvPr id="7" name="Shape 5"/>
          <p:cNvSpPr/>
          <p:nvPr/>
        </p:nvSpPr>
        <p:spPr>
          <a:xfrm>
            <a:off x="4343400" y="1417320"/>
            <a:ext cx="3383280" cy="2377440"/>
          </a:xfrm>
          <a:prstGeom prst="roundRect">
            <a:avLst>
              <a:gd name="adj" fmla="val 3077"/>
            </a:avLst>
          </a:prstGeom>
          <a:solidFill>
            <a:srgbClr val="EFF3F9"/>
          </a:solidFill>
          <a:ln w="12700">
            <a:solidFill>
              <a:srgbClr val="EFF3F9"/>
            </a:solidFill>
            <a:prstDash val="solid"/>
          </a:ln>
        </p:spPr>
      </p:sp>
      <p:sp>
        <p:nvSpPr>
          <p:cNvPr id="8" name="Text 6"/>
          <p:cNvSpPr/>
          <p:nvPr/>
        </p:nvSpPr>
        <p:spPr>
          <a:xfrm>
            <a:off x="4544568" y="1563624"/>
            <a:ext cx="298094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Ch. 4  Beyond classical</a:t>
            </a:r>
            <a:endParaRPr lang="en-US" sz="1500" dirty="0"/>
          </a:p>
        </p:txBody>
      </p:sp>
      <p:sp>
        <p:nvSpPr>
          <p:cNvPr id="9" name="Text 7"/>
          <p:cNvSpPr/>
          <p:nvPr/>
        </p:nvSpPr>
        <p:spPr>
          <a:xfrm>
            <a:off x="4544568" y="1911096"/>
            <a:ext cx="2980944" cy="171907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Local search, nondeterminism, partial observability. AND-OR search already produced conditional plans rather than sequences.</a:t>
            </a:r>
            <a:endParaRPr lang="en-US" sz="1300" dirty="0"/>
          </a:p>
        </p:txBody>
      </p:sp>
      <p:sp>
        <p:nvSpPr>
          <p:cNvPr id="10" name="Shape 8"/>
          <p:cNvSpPr/>
          <p:nvPr/>
        </p:nvSpPr>
        <p:spPr>
          <a:xfrm>
            <a:off x="8046720" y="1417320"/>
            <a:ext cx="3474720" cy="2377440"/>
          </a:xfrm>
          <a:prstGeom prst="roundRect">
            <a:avLst>
              <a:gd name="adj" fmla="val 3077"/>
            </a:avLst>
          </a:prstGeom>
          <a:solidFill>
            <a:srgbClr val="DCE6FA"/>
          </a:solidFill>
          <a:ln w="12700">
            <a:solidFill>
              <a:srgbClr val="1F5AC4"/>
            </a:solidFill>
            <a:prstDash val="solid"/>
          </a:ln>
        </p:spPr>
      </p:sp>
      <p:sp>
        <p:nvSpPr>
          <p:cNvPr id="11" name="Text 9"/>
          <p:cNvSpPr/>
          <p:nvPr/>
        </p:nvSpPr>
        <p:spPr>
          <a:xfrm>
            <a:off x="8247888" y="1563624"/>
            <a:ext cx="307238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Ch. 5  Adversarial search</a:t>
            </a:r>
            <a:endParaRPr lang="en-US" sz="1500" dirty="0"/>
          </a:p>
        </p:txBody>
      </p:sp>
      <p:sp>
        <p:nvSpPr>
          <p:cNvPr id="12" name="Text 10"/>
          <p:cNvSpPr/>
          <p:nvPr/>
        </p:nvSpPr>
        <p:spPr>
          <a:xfrm>
            <a:off x="8247888" y="1911096"/>
            <a:ext cx="3072384" cy="171907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A second agent chooses some of the moves, and its goals conflict with ours. Output: a strategy that answers every reply the opponent can make.</a:t>
            </a:r>
            <a:endParaRPr lang="en-US" sz="1300" dirty="0"/>
          </a:p>
        </p:txBody>
      </p:sp>
      <p:sp>
        <p:nvSpPr>
          <p:cNvPr id="13" name="Text 11"/>
          <p:cNvSpPr/>
          <p:nvPr/>
        </p:nvSpPr>
        <p:spPr>
          <a:xfrm>
            <a:off x="640080" y="4114800"/>
            <a:ext cx="10881360" cy="4572000"/>
          </a:xfrm>
          <a:prstGeom prst="rect">
            <a:avLst/>
          </a:prstGeom>
          <a:noFill/>
          <a:ln/>
        </p:spPr>
        <p:txBody>
          <a:bodyPr wrap="square" lIns="0" tIns="0" rIns="0" bIns="0" rtlCol="0" anchor="t"/>
          <a:lstStyle/>
          <a:p>
            <a:pPr marL="203200" indent="-203200">
              <a:spcAft>
                <a:spcPts val="1200"/>
              </a:spcAft>
              <a:buSzPct val="100000"/>
              <a:buChar char="•"/>
            </a:pPr>
            <a:r>
              <a:rPr lang="en-US" sz="1550" b="1" dirty="0">
                <a:solidFill>
                  <a:srgbClr val="1A1A1A"/>
                </a:solidFill>
                <a:latin typeface="Calibri" pitchFamily="34" charset="0"/>
                <a:ea typeface="Calibri" pitchFamily="34" charset="-122"/>
                <a:cs typeface="Calibri" pitchFamily="34" charset="-120"/>
              </a:rPr>
              <a:t>The key structural change: the branching of the tree is no longer all under our control.</a:t>
            </a:r>
            <a:endParaRPr lang="en-US" sz="1550" dirty="0"/>
          </a:p>
          <a:p>
            <a:pPr lvl="1" marL="406400" indent="-203200">
              <a:spcAft>
                <a:spcPts val="1200"/>
              </a:spcAft>
              <a:buSzPct val="100000"/>
              <a:buChar char="•"/>
            </a:pPr>
            <a:r>
              <a:rPr lang="en-US" sz="1350" dirty="0">
                <a:solidFill>
                  <a:srgbClr val="55607A"/>
                </a:solidFill>
                <a:latin typeface="Calibri" pitchFamily="34" charset="0"/>
                <a:ea typeface="Calibri" pitchFamily="34" charset="-122"/>
                <a:cs typeface="Calibri" pitchFamily="34" charset="-120"/>
              </a:rPr>
              <a:t>Minimax is a generalization of the AND-OR search of Section 4.3 to games with numeric outcomes, not just win/lose.</a:t>
            </a:r>
            <a:endParaRPr lang="en-US" sz="1550" dirty="0"/>
          </a:p>
          <a:p>
            <a:pPr lvl="1" marL="406400" indent="-203200">
              <a:spcAft>
                <a:spcPts val="1200"/>
              </a:spcAft>
              <a:buSzPct val="100000"/>
              <a:buChar char="•"/>
            </a:pPr>
            <a:r>
              <a:rPr lang="en-US" sz="1350" dirty="0">
                <a:solidFill>
                  <a:srgbClr val="55607A"/>
                </a:solidFill>
                <a:latin typeface="Calibri" pitchFamily="34" charset="0"/>
                <a:ea typeface="Calibri" pitchFamily="34" charset="-122"/>
                <a:cs typeface="Calibri" pitchFamily="34" charset="-120"/>
              </a:rPr>
              <a:t>Everything from Chapter 3 still applies underneath: depth-first traversal, iterative deepening, heuristics, repeated-state detection.</a:t>
            </a:r>
            <a:endParaRPr lang="en-US" sz="1550" dirty="0"/>
          </a:p>
        </p:txBody>
      </p:sp>
      <p:sp>
        <p:nvSpPr>
          <p:cNvPr id="14" name="Text 12"/>
          <p:cNvSpPr/>
          <p:nvPr/>
        </p:nvSpPr>
        <p:spPr>
          <a:xfrm>
            <a:off x="566928" y="6327648"/>
            <a:ext cx="10058400" cy="274320"/>
          </a:xfrm>
          <a:prstGeom prst="rect">
            <a:avLst/>
          </a:prstGeom>
          <a:noFill/>
          <a:ln/>
        </p:spPr>
        <p:txBody>
          <a:bodyPr wrap="square" lIns="0" tIns="0" rIns="0" bIns="0" rtlCol="0" anchor="ctr"/>
          <a:lstStyle/>
          <a:p>
            <a:pPr indent="0" marL="0">
              <a:buNone/>
            </a:pPr>
            <a:r>
              <a:rPr lang="en-US" sz="1000" i="1" dirty="0">
                <a:solidFill>
                  <a:srgbClr val="55607A"/>
                </a:solidFill>
                <a:latin typeface="Calibri" pitchFamily="34" charset="0"/>
                <a:ea typeface="Calibri" pitchFamily="34" charset="-122"/>
                <a:cs typeface="Calibri" pitchFamily="34" charset="-120"/>
              </a:rPr>
              <a:t>Read the three boxes left to right: the output of search gets weaker in form and stronger in coverage at each step.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LEARNING OBJECTIVES</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What You Should Be Able to Do After Today</a:t>
            </a:r>
            <a:endParaRPr lang="en-US" sz="2900" dirty="0"/>
          </a:p>
        </p:txBody>
      </p:sp>
      <p:sp>
        <p:nvSpPr>
          <p:cNvPr id="4" name="Text 2"/>
          <p:cNvSpPr/>
          <p:nvPr/>
        </p:nvSpPr>
        <p:spPr>
          <a:xfrm>
            <a:off x="640080" y="1371600"/>
            <a:ext cx="7589520" cy="4572000"/>
          </a:xfrm>
          <a:prstGeom prst="rect">
            <a:avLst/>
          </a:prstGeom>
          <a:noFill/>
          <a:ln/>
        </p:spPr>
        <p:txBody>
          <a:bodyPr wrap="square" lIns="0" tIns="0" rIns="0" bIns="0" rtlCol="0" anchor="t"/>
          <a:lstStyle/>
          <a:p>
            <a:pPr marL="203200" indent="-203200">
              <a:spcAft>
                <a:spcPts val="1100"/>
              </a:spcAft>
              <a:buSzPct val="100000"/>
              <a:buChar char="•"/>
            </a:pPr>
            <a:r>
              <a:rPr lang="en-US" sz="1550" dirty="0">
                <a:solidFill>
                  <a:srgbClr val="1A1A1A"/>
                </a:solidFill>
                <a:latin typeface="Calibri" pitchFamily="34" charset="0"/>
                <a:ea typeface="Calibri" pitchFamily="34" charset="-122"/>
                <a:cs typeface="Calibri" pitchFamily="34" charset="-120"/>
              </a:rPr>
              <a:t>Formalize a game as a search problem: S0, TO-MOVE, ACTIONS, RESULT, IS-TERMINAL, UTILITY.</a:t>
            </a:r>
            <a:endParaRPr lang="en-US" sz="1550" dirty="0"/>
          </a:p>
          <a:p>
            <a:pPr marL="203200" indent="-203200">
              <a:spcAft>
                <a:spcPts val="1100"/>
              </a:spcAft>
              <a:buSzPct val="100000"/>
              <a:buChar char="•"/>
            </a:pPr>
            <a:r>
              <a:rPr lang="en-US" sz="1550" dirty="0">
                <a:solidFill>
                  <a:srgbClr val="1A1A1A"/>
                </a:solidFill>
                <a:latin typeface="Calibri" pitchFamily="34" charset="0"/>
                <a:ea typeface="Calibri" pitchFamily="34" charset="-122"/>
                <a:cs typeface="Calibri" pitchFamily="34" charset="-120"/>
              </a:rPr>
              <a:t>Compute minimax values by hand on a game tree and state the optimal move at the root.</a:t>
            </a:r>
            <a:endParaRPr lang="en-US" sz="1550" dirty="0"/>
          </a:p>
          <a:p>
            <a:pPr marL="203200" indent="-203200">
              <a:spcAft>
                <a:spcPts val="1100"/>
              </a:spcAft>
              <a:buSzPct val="100000"/>
              <a:buChar char="•"/>
            </a:pPr>
            <a:r>
              <a:rPr lang="en-US" sz="1550" dirty="0">
                <a:solidFill>
                  <a:srgbClr val="1A1A1A"/>
                </a:solidFill>
                <a:latin typeface="Calibri" pitchFamily="34" charset="0"/>
                <a:ea typeface="Calibri" pitchFamily="34" charset="-122"/>
                <a:cs typeface="Calibri" pitchFamily="34" charset="-120"/>
              </a:rPr>
              <a:t>Run alpha-beta pruning by hand, name the pruned nodes, and justify each cut.</a:t>
            </a:r>
            <a:endParaRPr lang="en-US" sz="1550" dirty="0"/>
          </a:p>
          <a:p>
            <a:pPr marL="203200" indent="-203200">
              <a:spcAft>
                <a:spcPts val="1100"/>
              </a:spcAft>
              <a:buSzPct val="100000"/>
              <a:buChar char="•"/>
            </a:pPr>
            <a:r>
              <a:rPr lang="en-US" sz="1550" dirty="0">
                <a:solidFill>
                  <a:srgbClr val="1A1A1A"/>
                </a:solidFill>
                <a:latin typeface="Calibri" pitchFamily="34" charset="0"/>
                <a:ea typeface="Calibri" pitchFamily="34" charset="-122"/>
                <a:cs typeface="Calibri" pitchFamily="34" charset="-120"/>
              </a:rPr>
              <a:t>Explain why move ordering changes the complexity from O(b^m) to O(b^(m/2)).</a:t>
            </a:r>
            <a:endParaRPr lang="en-US" sz="1550" dirty="0"/>
          </a:p>
          <a:p>
            <a:pPr marL="203200" indent="-203200">
              <a:spcAft>
                <a:spcPts val="1100"/>
              </a:spcAft>
              <a:buSzPct val="100000"/>
              <a:buChar char="•"/>
            </a:pPr>
            <a:r>
              <a:rPr lang="en-US" sz="1550" dirty="0">
                <a:solidFill>
                  <a:srgbClr val="1A1A1A"/>
                </a:solidFill>
                <a:latin typeface="Calibri" pitchFamily="34" charset="0"/>
                <a:ea typeface="Calibri" pitchFamily="34" charset="-122"/>
                <a:cs typeface="Calibri" pitchFamily="34" charset="-120"/>
              </a:rPr>
              <a:t>Design and critique a heuristic evaluation function for a specific game.</a:t>
            </a:r>
            <a:endParaRPr lang="en-US" sz="1550" dirty="0"/>
          </a:p>
          <a:p>
            <a:pPr marL="203200" indent="-203200">
              <a:spcAft>
                <a:spcPts val="1100"/>
              </a:spcAft>
              <a:buSzPct val="100000"/>
              <a:buChar char="•"/>
            </a:pPr>
            <a:r>
              <a:rPr lang="en-US" sz="1550" dirty="0">
                <a:solidFill>
                  <a:srgbClr val="1A1A1A"/>
                </a:solidFill>
                <a:latin typeface="Calibri" pitchFamily="34" charset="0"/>
                <a:ea typeface="Calibri" pitchFamily="34" charset="-122"/>
                <a:cs typeface="Calibri" pitchFamily="34" charset="-120"/>
              </a:rPr>
              <a:t>Explain quiescence search, the horizon effect, and singular extensions.</a:t>
            </a:r>
            <a:endParaRPr lang="en-US" sz="1550" dirty="0"/>
          </a:p>
          <a:p>
            <a:pPr marL="203200" indent="-203200">
              <a:spcAft>
                <a:spcPts val="1100"/>
              </a:spcAft>
              <a:buSzPct val="100000"/>
              <a:buChar char="•"/>
            </a:pPr>
            <a:r>
              <a:rPr lang="en-US" sz="1550" dirty="0">
                <a:solidFill>
                  <a:srgbClr val="1A1A1A"/>
                </a:solidFill>
                <a:latin typeface="Calibri" pitchFamily="34" charset="0"/>
                <a:ea typeface="Calibri" pitchFamily="34" charset="-122"/>
                <a:cs typeface="Calibri" pitchFamily="34" charset="-120"/>
              </a:rPr>
              <a:t>Trace the four steps of Monte Carlo tree search and apply the UCB1 selection rule.</a:t>
            </a:r>
            <a:endParaRPr lang="en-US" sz="1550" dirty="0"/>
          </a:p>
          <a:p>
            <a:pPr marL="203200" indent="-203200">
              <a:spcAft>
                <a:spcPts val="1100"/>
              </a:spcAft>
              <a:buSzPct val="100000"/>
              <a:buChar char="•"/>
            </a:pPr>
            <a:r>
              <a:rPr lang="en-US" sz="1550" dirty="0">
                <a:solidFill>
                  <a:srgbClr val="1A1A1A"/>
                </a:solidFill>
                <a:latin typeface="Calibri" pitchFamily="34" charset="0"/>
                <a:ea typeface="Calibri" pitchFamily="34" charset="-122"/>
                <a:cs typeface="Calibri" pitchFamily="34" charset="-120"/>
              </a:rPr>
              <a:t>Compute expectiminimax values for games containing chance nodes.</a:t>
            </a:r>
            <a:endParaRPr lang="en-US" sz="1550" dirty="0"/>
          </a:p>
        </p:txBody>
      </p:sp>
      <p:sp>
        <p:nvSpPr>
          <p:cNvPr id="5" name="Shape 3"/>
          <p:cNvSpPr/>
          <p:nvPr/>
        </p:nvSpPr>
        <p:spPr>
          <a:xfrm>
            <a:off x="8503920" y="1371600"/>
            <a:ext cx="3017520" cy="1783080"/>
          </a:xfrm>
          <a:prstGeom prst="roundRect">
            <a:avLst>
              <a:gd name="adj" fmla="val 4103"/>
            </a:avLst>
          </a:prstGeom>
          <a:solidFill>
            <a:srgbClr val="14213D"/>
          </a:solidFill>
          <a:ln w="12700">
            <a:solidFill>
              <a:srgbClr val="14213D"/>
            </a:solidFill>
            <a:prstDash val="solid"/>
          </a:ln>
        </p:spPr>
      </p:sp>
      <p:sp>
        <p:nvSpPr>
          <p:cNvPr id="6" name="Text 4"/>
          <p:cNvSpPr/>
          <p:nvPr/>
        </p:nvSpPr>
        <p:spPr>
          <a:xfrm>
            <a:off x="8705088" y="1517904"/>
            <a:ext cx="2615184" cy="310896"/>
          </a:xfrm>
          <a:prstGeom prst="rect">
            <a:avLst/>
          </a:prstGeom>
          <a:noFill/>
          <a:ln/>
        </p:spPr>
        <p:txBody>
          <a:bodyPr wrap="square" lIns="0" tIns="0" rIns="0" bIns="0" rtlCol="0" anchor="ctr"/>
          <a:lstStyle/>
          <a:p>
            <a:pPr indent="0" marL="0">
              <a:buNone/>
            </a:pPr>
            <a:r>
              <a:rPr lang="en-US" sz="1500" b="1" dirty="0">
                <a:solidFill>
                  <a:srgbClr val="D98C1F"/>
                </a:solidFill>
                <a:latin typeface="Calibri" pitchFamily="34" charset="0"/>
                <a:ea typeface="Calibri" pitchFamily="34" charset="-122"/>
                <a:cs typeface="Calibri" pitchFamily="34" charset="-120"/>
              </a:rPr>
              <a:t>Assessment note</a:t>
            </a:r>
            <a:endParaRPr lang="en-US" sz="1500" dirty="0"/>
          </a:p>
        </p:txBody>
      </p:sp>
      <p:sp>
        <p:nvSpPr>
          <p:cNvPr id="7" name="Text 5"/>
          <p:cNvSpPr/>
          <p:nvPr/>
        </p:nvSpPr>
        <p:spPr>
          <a:xfrm>
            <a:off x="8705088" y="1865376"/>
            <a:ext cx="2615184" cy="1124712"/>
          </a:xfrm>
          <a:prstGeom prst="rect">
            <a:avLst/>
          </a:prstGeom>
          <a:noFill/>
          <a:ln/>
        </p:spPr>
        <p:txBody>
          <a:bodyPr wrap="square" lIns="0" tIns="0" rIns="0" bIns="0" rtlCol="0" anchor="t"/>
          <a:lstStyle/>
          <a:p>
            <a:pPr indent="0" marL="0">
              <a:lnSpc>
                <a:spcPct val="108000"/>
              </a:lnSpc>
              <a:buNone/>
            </a:pPr>
            <a:r>
              <a:rPr lang="en-US" sz="1300" dirty="0">
                <a:solidFill>
                  <a:srgbClr val="DCE6FA"/>
                </a:solidFill>
                <a:latin typeface="Calibri" pitchFamily="34" charset="0"/>
                <a:ea typeface="Calibri" pitchFamily="34" charset="-122"/>
                <a:cs typeface="Calibri" pitchFamily="34" charset="-120"/>
              </a:rPr>
              <a:t>Hand-tracing alpha-beta and expectiminimax are standard exam items. Bring paper; we will do three timed exercises today.</a:t>
            </a:r>
            <a:endParaRPr lang="en-US" sz="1300" dirty="0"/>
          </a:p>
        </p:txBody>
      </p:sp>
      <p:sp>
        <p:nvSpPr>
          <p:cNvPr id="8" name="Shape 6"/>
          <p:cNvSpPr/>
          <p:nvPr/>
        </p:nvSpPr>
        <p:spPr>
          <a:xfrm>
            <a:off x="8503920" y="3383280"/>
            <a:ext cx="3017520" cy="1600200"/>
          </a:xfrm>
          <a:prstGeom prst="roundRect">
            <a:avLst>
              <a:gd name="adj" fmla="val 4571"/>
            </a:avLst>
          </a:prstGeom>
          <a:solidFill>
            <a:srgbClr val="EFF3F9"/>
          </a:solidFill>
          <a:ln w="12700">
            <a:solidFill>
              <a:srgbClr val="EFF3F9"/>
            </a:solidFill>
            <a:prstDash val="solid"/>
          </a:ln>
        </p:spPr>
      </p:sp>
      <p:sp>
        <p:nvSpPr>
          <p:cNvPr id="9" name="Text 7"/>
          <p:cNvSpPr/>
          <p:nvPr/>
        </p:nvSpPr>
        <p:spPr>
          <a:xfrm>
            <a:off x="8705088" y="3529584"/>
            <a:ext cx="261518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Reading</a:t>
            </a:r>
            <a:endParaRPr lang="en-US" sz="1500" dirty="0"/>
          </a:p>
        </p:txBody>
      </p:sp>
      <p:sp>
        <p:nvSpPr>
          <p:cNvPr id="10" name="Text 8"/>
          <p:cNvSpPr/>
          <p:nvPr/>
        </p:nvSpPr>
        <p:spPr>
          <a:xfrm>
            <a:off x="8705088" y="3877056"/>
            <a:ext cx="2615184" cy="94183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AIMA 4e, Sections 5.1 through 5.5. Section 5.6 (imperfect information) is previewed at the end and is optional.</a:t>
            </a:r>
            <a:endParaRPr lang="en-US" sz="1300" dirty="0"/>
          </a:p>
        </p:txBody>
      </p:sp>
      <p:sp>
        <p:nvSpPr>
          <p:cNvPr id="11" name="Shape 9"/>
          <p:cNvSpPr/>
          <p:nvPr/>
        </p:nvSpPr>
        <p:spPr>
          <a:xfrm>
            <a:off x="8503920" y="5166360"/>
            <a:ext cx="3017520" cy="1051560"/>
          </a:xfrm>
          <a:prstGeom prst="roundRect">
            <a:avLst>
              <a:gd name="adj" fmla="val 6957"/>
            </a:avLst>
          </a:prstGeom>
          <a:solidFill>
            <a:srgbClr val="DCE6FA"/>
          </a:solidFill>
          <a:ln w="12700">
            <a:solidFill>
              <a:srgbClr val="1F5AC4"/>
            </a:solidFill>
            <a:prstDash val="solid"/>
          </a:ln>
        </p:spPr>
      </p:sp>
      <p:sp>
        <p:nvSpPr>
          <p:cNvPr id="12" name="Text 10"/>
          <p:cNvSpPr/>
          <p:nvPr/>
        </p:nvSpPr>
        <p:spPr>
          <a:xfrm>
            <a:off x="8705088" y="5312664"/>
            <a:ext cx="261518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Running example</a:t>
            </a:r>
            <a:endParaRPr lang="en-US" sz="1500" dirty="0"/>
          </a:p>
        </p:txBody>
      </p:sp>
      <p:sp>
        <p:nvSpPr>
          <p:cNvPr id="13" name="Text 11"/>
          <p:cNvSpPr/>
          <p:nvPr/>
        </p:nvSpPr>
        <p:spPr>
          <a:xfrm>
            <a:off x="8705088" y="5660136"/>
            <a:ext cx="2615184" cy="39319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Chess for scale, Pac-Man for intuition.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AGENDA</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Plan for the Next Two Hours</a:t>
            </a:r>
            <a:endParaRPr lang="en-US" sz="2900" dirty="0"/>
          </a:p>
        </p:txBody>
      </p:sp>
      <p:sp>
        <p:nvSpPr>
          <p:cNvPr id="4" name="Shape 2"/>
          <p:cNvSpPr/>
          <p:nvPr/>
        </p:nvSpPr>
        <p:spPr>
          <a:xfrm>
            <a:off x="685800" y="1453896"/>
            <a:ext cx="475488" cy="475488"/>
          </a:xfrm>
          <a:prstGeom prst="ellipse">
            <a:avLst/>
          </a:prstGeom>
          <a:solidFill>
            <a:srgbClr val="1F5AC4"/>
          </a:solidFill>
          <a:ln w="12700">
            <a:solidFill>
              <a:srgbClr val="1F5AC4"/>
            </a:solidFill>
            <a:prstDash val="solid"/>
          </a:ln>
        </p:spPr>
      </p:sp>
      <p:sp>
        <p:nvSpPr>
          <p:cNvPr id="5" name="Text 3"/>
          <p:cNvSpPr/>
          <p:nvPr/>
        </p:nvSpPr>
        <p:spPr>
          <a:xfrm>
            <a:off x="685800" y="145389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417320" y="1453896"/>
            <a:ext cx="6035040" cy="475488"/>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Games as search problems</a:t>
            </a:r>
            <a:endParaRPr lang="en-US" sz="1700" dirty="0"/>
          </a:p>
        </p:txBody>
      </p:sp>
      <p:sp>
        <p:nvSpPr>
          <p:cNvPr id="7" name="Text 5"/>
          <p:cNvSpPr/>
          <p:nvPr/>
        </p:nvSpPr>
        <p:spPr>
          <a:xfrm>
            <a:off x="7543800" y="1453896"/>
            <a:ext cx="2011680" cy="475488"/>
          </a:xfrm>
          <a:prstGeom prst="rect">
            <a:avLst/>
          </a:prstGeom>
          <a:noFill/>
          <a:ln/>
        </p:spPr>
        <p:txBody>
          <a:bodyPr wrap="square" lIns="0" tIns="0" rIns="0" bIns="0" rtlCol="0" anchor="ctr"/>
          <a:lstStyle/>
          <a:p>
            <a:pPr indent="0" marL="0">
              <a:buNone/>
            </a:pPr>
            <a:r>
              <a:rPr lang="en-US" sz="1300" dirty="0">
                <a:solidFill>
                  <a:srgbClr val="55607A"/>
                </a:solidFill>
                <a:latin typeface="Calibri" pitchFamily="34" charset="0"/>
                <a:ea typeface="Calibri" pitchFamily="34" charset="-122"/>
                <a:cs typeface="Calibri" pitchFamily="34" charset="-120"/>
              </a:rPr>
              <a:t>AIMA 5.1</a:t>
            </a:r>
            <a:endParaRPr lang="en-US" sz="1300" dirty="0"/>
          </a:p>
        </p:txBody>
      </p:sp>
      <p:sp>
        <p:nvSpPr>
          <p:cNvPr id="8" name="Text 6"/>
          <p:cNvSpPr/>
          <p:nvPr/>
        </p:nvSpPr>
        <p:spPr>
          <a:xfrm>
            <a:off x="9601200" y="1453896"/>
            <a:ext cx="1371600" cy="475488"/>
          </a:xfrm>
          <a:prstGeom prst="rect">
            <a:avLst/>
          </a:prstGeom>
          <a:noFill/>
          <a:ln/>
        </p:spPr>
        <p:txBody>
          <a:bodyPr wrap="square" lIns="0" tIns="0" rIns="0" bIns="0" rtlCol="0" anchor="ctr"/>
          <a:lstStyle/>
          <a:p>
            <a:pPr algn="r" indent="0" marL="0">
              <a:buNone/>
            </a:pPr>
            <a:r>
              <a:rPr lang="en-US" sz="1300" b="1" dirty="0">
                <a:solidFill>
                  <a:srgbClr val="1F5AC4"/>
                </a:solidFill>
                <a:latin typeface="Calibri" pitchFamily="34" charset="0"/>
                <a:ea typeface="Calibri" pitchFamily="34" charset="-122"/>
                <a:cs typeface="Calibri" pitchFamily="34" charset="-120"/>
              </a:rPr>
              <a:t>15 min</a:t>
            </a:r>
            <a:endParaRPr lang="en-US" sz="1300" dirty="0"/>
          </a:p>
        </p:txBody>
      </p:sp>
      <p:sp>
        <p:nvSpPr>
          <p:cNvPr id="9" name="Shape 7"/>
          <p:cNvSpPr/>
          <p:nvPr/>
        </p:nvSpPr>
        <p:spPr>
          <a:xfrm>
            <a:off x="685800" y="2249424"/>
            <a:ext cx="475488" cy="475488"/>
          </a:xfrm>
          <a:prstGeom prst="ellipse">
            <a:avLst/>
          </a:prstGeom>
          <a:solidFill>
            <a:srgbClr val="1F5AC4"/>
          </a:solidFill>
          <a:ln w="12700">
            <a:solidFill>
              <a:srgbClr val="1F5AC4"/>
            </a:solidFill>
            <a:prstDash val="solid"/>
          </a:ln>
        </p:spPr>
      </p:sp>
      <p:sp>
        <p:nvSpPr>
          <p:cNvPr id="10" name="Text 8"/>
          <p:cNvSpPr/>
          <p:nvPr/>
        </p:nvSpPr>
        <p:spPr>
          <a:xfrm>
            <a:off x="685800" y="224942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1417320" y="2249424"/>
            <a:ext cx="6035040" cy="475488"/>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Minimax and optimal decisions</a:t>
            </a:r>
            <a:endParaRPr lang="en-US" sz="1700" dirty="0"/>
          </a:p>
        </p:txBody>
      </p:sp>
      <p:sp>
        <p:nvSpPr>
          <p:cNvPr id="12" name="Text 10"/>
          <p:cNvSpPr/>
          <p:nvPr/>
        </p:nvSpPr>
        <p:spPr>
          <a:xfrm>
            <a:off x="7543800" y="2249424"/>
            <a:ext cx="2011680" cy="475488"/>
          </a:xfrm>
          <a:prstGeom prst="rect">
            <a:avLst/>
          </a:prstGeom>
          <a:noFill/>
          <a:ln/>
        </p:spPr>
        <p:txBody>
          <a:bodyPr wrap="square" lIns="0" tIns="0" rIns="0" bIns="0" rtlCol="0" anchor="ctr"/>
          <a:lstStyle/>
          <a:p>
            <a:pPr indent="0" marL="0">
              <a:buNone/>
            </a:pPr>
            <a:r>
              <a:rPr lang="en-US" sz="1300" dirty="0">
                <a:solidFill>
                  <a:srgbClr val="55607A"/>
                </a:solidFill>
                <a:latin typeface="Calibri" pitchFamily="34" charset="0"/>
                <a:ea typeface="Calibri" pitchFamily="34" charset="-122"/>
                <a:cs typeface="Calibri" pitchFamily="34" charset="-120"/>
              </a:rPr>
              <a:t>AIMA 5.2</a:t>
            </a:r>
            <a:endParaRPr lang="en-US" sz="1300" dirty="0"/>
          </a:p>
        </p:txBody>
      </p:sp>
      <p:sp>
        <p:nvSpPr>
          <p:cNvPr id="13" name="Text 11"/>
          <p:cNvSpPr/>
          <p:nvPr/>
        </p:nvSpPr>
        <p:spPr>
          <a:xfrm>
            <a:off x="9601200" y="2249424"/>
            <a:ext cx="1371600" cy="475488"/>
          </a:xfrm>
          <a:prstGeom prst="rect">
            <a:avLst/>
          </a:prstGeom>
          <a:noFill/>
          <a:ln/>
        </p:spPr>
        <p:txBody>
          <a:bodyPr wrap="square" lIns="0" tIns="0" rIns="0" bIns="0" rtlCol="0" anchor="ctr"/>
          <a:lstStyle/>
          <a:p>
            <a:pPr algn="r" indent="0" marL="0">
              <a:buNone/>
            </a:pPr>
            <a:r>
              <a:rPr lang="en-US" sz="1300" b="1" dirty="0">
                <a:solidFill>
                  <a:srgbClr val="1F5AC4"/>
                </a:solidFill>
                <a:latin typeface="Calibri" pitchFamily="34" charset="0"/>
                <a:ea typeface="Calibri" pitchFamily="34" charset="-122"/>
                <a:cs typeface="Calibri" pitchFamily="34" charset="-120"/>
              </a:rPr>
              <a:t>25 min</a:t>
            </a:r>
            <a:endParaRPr lang="en-US" sz="1300" dirty="0"/>
          </a:p>
        </p:txBody>
      </p:sp>
      <p:sp>
        <p:nvSpPr>
          <p:cNvPr id="14" name="Shape 12"/>
          <p:cNvSpPr/>
          <p:nvPr/>
        </p:nvSpPr>
        <p:spPr>
          <a:xfrm>
            <a:off x="685800" y="3044952"/>
            <a:ext cx="475488" cy="475488"/>
          </a:xfrm>
          <a:prstGeom prst="ellipse">
            <a:avLst/>
          </a:prstGeom>
          <a:solidFill>
            <a:srgbClr val="C1272D"/>
          </a:solidFill>
          <a:ln w="12700">
            <a:solidFill>
              <a:srgbClr val="C1272D"/>
            </a:solidFill>
            <a:prstDash val="solid"/>
          </a:ln>
        </p:spPr>
      </p:sp>
      <p:sp>
        <p:nvSpPr>
          <p:cNvPr id="15" name="Text 13"/>
          <p:cNvSpPr/>
          <p:nvPr/>
        </p:nvSpPr>
        <p:spPr>
          <a:xfrm>
            <a:off x="685800" y="304495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417320" y="3044952"/>
            <a:ext cx="6035040" cy="475488"/>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Alpha-beta pruning and move ordering</a:t>
            </a:r>
            <a:endParaRPr lang="en-US" sz="1700" dirty="0"/>
          </a:p>
        </p:txBody>
      </p:sp>
      <p:sp>
        <p:nvSpPr>
          <p:cNvPr id="17" name="Text 15"/>
          <p:cNvSpPr/>
          <p:nvPr/>
        </p:nvSpPr>
        <p:spPr>
          <a:xfrm>
            <a:off x="7543800" y="3044952"/>
            <a:ext cx="2011680" cy="475488"/>
          </a:xfrm>
          <a:prstGeom prst="rect">
            <a:avLst/>
          </a:prstGeom>
          <a:noFill/>
          <a:ln/>
        </p:spPr>
        <p:txBody>
          <a:bodyPr wrap="square" lIns="0" tIns="0" rIns="0" bIns="0" rtlCol="0" anchor="ctr"/>
          <a:lstStyle/>
          <a:p>
            <a:pPr indent="0" marL="0">
              <a:buNone/>
            </a:pPr>
            <a:r>
              <a:rPr lang="en-US" sz="1300" dirty="0">
                <a:solidFill>
                  <a:srgbClr val="55607A"/>
                </a:solidFill>
                <a:latin typeface="Calibri" pitchFamily="34" charset="0"/>
                <a:ea typeface="Calibri" pitchFamily="34" charset="-122"/>
                <a:cs typeface="Calibri" pitchFamily="34" charset="-120"/>
              </a:rPr>
              <a:t>AIMA 5.2.3 - 5.2.4</a:t>
            </a:r>
            <a:endParaRPr lang="en-US" sz="1300" dirty="0"/>
          </a:p>
        </p:txBody>
      </p:sp>
      <p:sp>
        <p:nvSpPr>
          <p:cNvPr id="18" name="Text 16"/>
          <p:cNvSpPr/>
          <p:nvPr/>
        </p:nvSpPr>
        <p:spPr>
          <a:xfrm>
            <a:off x="9601200" y="3044952"/>
            <a:ext cx="1371600" cy="475488"/>
          </a:xfrm>
          <a:prstGeom prst="rect">
            <a:avLst/>
          </a:prstGeom>
          <a:noFill/>
          <a:ln/>
        </p:spPr>
        <p:txBody>
          <a:bodyPr wrap="square" lIns="0" tIns="0" rIns="0" bIns="0" rtlCol="0" anchor="ctr"/>
          <a:lstStyle/>
          <a:p>
            <a:pPr algn="r" indent="0" marL="0">
              <a:buNone/>
            </a:pPr>
            <a:r>
              <a:rPr lang="en-US" sz="1300" b="1" dirty="0">
                <a:solidFill>
                  <a:srgbClr val="C1272D"/>
                </a:solidFill>
                <a:latin typeface="Calibri" pitchFamily="34" charset="0"/>
                <a:ea typeface="Calibri" pitchFamily="34" charset="-122"/>
                <a:cs typeface="Calibri" pitchFamily="34" charset="-120"/>
              </a:rPr>
              <a:t>25 min</a:t>
            </a:r>
            <a:endParaRPr lang="en-US" sz="1300" dirty="0"/>
          </a:p>
        </p:txBody>
      </p:sp>
      <p:sp>
        <p:nvSpPr>
          <p:cNvPr id="19" name="Shape 17"/>
          <p:cNvSpPr/>
          <p:nvPr/>
        </p:nvSpPr>
        <p:spPr>
          <a:xfrm>
            <a:off x="685800" y="3840480"/>
            <a:ext cx="475488" cy="475488"/>
          </a:xfrm>
          <a:prstGeom prst="ellipse">
            <a:avLst/>
          </a:prstGeom>
          <a:solidFill>
            <a:srgbClr val="C1272D"/>
          </a:solidFill>
          <a:ln w="12700">
            <a:solidFill>
              <a:srgbClr val="C1272D"/>
            </a:solidFill>
            <a:prstDash val="solid"/>
          </a:ln>
        </p:spPr>
      </p:sp>
      <p:sp>
        <p:nvSpPr>
          <p:cNvPr id="20" name="Text 18"/>
          <p:cNvSpPr/>
          <p:nvPr/>
        </p:nvSpPr>
        <p:spPr>
          <a:xfrm>
            <a:off x="685800" y="384048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9"/>
          <p:cNvSpPr/>
          <p:nvPr/>
        </p:nvSpPr>
        <p:spPr>
          <a:xfrm>
            <a:off x="1417320" y="3840480"/>
            <a:ext cx="6035040" cy="475488"/>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Heuristic cutoff and evaluation functions</a:t>
            </a:r>
            <a:endParaRPr lang="en-US" sz="1700" dirty="0"/>
          </a:p>
        </p:txBody>
      </p:sp>
      <p:sp>
        <p:nvSpPr>
          <p:cNvPr id="22" name="Text 20"/>
          <p:cNvSpPr/>
          <p:nvPr/>
        </p:nvSpPr>
        <p:spPr>
          <a:xfrm>
            <a:off x="7543800" y="3840480"/>
            <a:ext cx="2011680" cy="475488"/>
          </a:xfrm>
          <a:prstGeom prst="rect">
            <a:avLst/>
          </a:prstGeom>
          <a:noFill/>
          <a:ln/>
        </p:spPr>
        <p:txBody>
          <a:bodyPr wrap="square" lIns="0" tIns="0" rIns="0" bIns="0" rtlCol="0" anchor="ctr"/>
          <a:lstStyle/>
          <a:p>
            <a:pPr indent="0" marL="0">
              <a:buNone/>
            </a:pPr>
            <a:r>
              <a:rPr lang="en-US" sz="1300" dirty="0">
                <a:solidFill>
                  <a:srgbClr val="55607A"/>
                </a:solidFill>
                <a:latin typeface="Calibri" pitchFamily="34" charset="0"/>
                <a:ea typeface="Calibri" pitchFamily="34" charset="-122"/>
                <a:cs typeface="Calibri" pitchFamily="34" charset="-120"/>
              </a:rPr>
              <a:t>AIMA 5.3</a:t>
            </a:r>
            <a:endParaRPr lang="en-US" sz="1300" dirty="0"/>
          </a:p>
        </p:txBody>
      </p:sp>
      <p:sp>
        <p:nvSpPr>
          <p:cNvPr id="23" name="Text 21"/>
          <p:cNvSpPr/>
          <p:nvPr/>
        </p:nvSpPr>
        <p:spPr>
          <a:xfrm>
            <a:off x="9601200" y="3840480"/>
            <a:ext cx="1371600" cy="475488"/>
          </a:xfrm>
          <a:prstGeom prst="rect">
            <a:avLst/>
          </a:prstGeom>
          <a:noFill/>
          <a:ln/>
        </p:spPr>
        <p:txBody>
          <a:bodyPr wrap="square" lIns="0" tIns="0" rIns="0" bIns="0" rtlCol="0" anchor="ctr"/>
          <a:lstStyle/>
          <a:p>
            <a:pPr algn="r" indent="0" marL="0">
              <a:buNone/>
            </a:pPr>
            <a:r>
              <a:rPr lang="en-US" sz="1300" b="1" dirty="0">
                <a:solidFill>
                  <a:srgbClr val="C1272D"/>
                </a:solidFill>
                <a:latin typeface="Calibri" pitchFamily="34" charset="0"/>
                <a:ea typeface="Calibri" pitchFamily="34" charset="-122"/>
                <a:cs typeface="Calibri" pitchFamily="34" charset="-120"/>
              </a:rPr>
              <a:t>25 min</a:t>
            </a:r>
            <a:endParaRPr lang="en-US" sz="1300" dirty="0"/>
          </a:p>
        </p:txBody>
      </p:sp>
      <p:sp>
        <p:nvSpPr>
          <p:cNvPr id="24" name="Shape 22"/>
          <p:cNvSpPr/>
          <p:nvPr/>
        </p:nvSpPr>
        <p:spPr>
          <a:xfrm>
            <a:off x="685800" y="4636008"/>
            <a:ext cx="475488" cy="475488"/>
          </a:xfrm>
          <a:prstGeom prst="ellipse">
            <a:avLst/>
          </a:prstGeom>
          <a:solidFill>
            <a:srgbClr val="1E7A4C"/>
          </a:solidFill>
          <a:ln w="12700">
            <a:solidFill>
              <a:srgbClr val="1E7A4C"/>
            </a:solidFill>
            <a:prstDash val="solid"/>
          </a:ln>
        </p:spPr>
      </p:sp>
      <p:sp>
        <p:nvSpPr>
          <p:cNvPr id="25" name="Text 23"/>
          <p:cNvSpPr/>
          <p:nvPr/>
        </p:nvSpPr>
        <p:spPr>
          <a:xfrm>
            <a:off x="685800" y="46360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6" name="Text 24"/>
          <p:cNvSpPr/>
          <p:nvPr/>
        </p:nvSpPr>
        <p:spPr>
          <a:xfrm>
            <a:off x="1417320" y="4636008"/>
            <a:ext cx="6035040" cy="475488"/>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Monte Carlo tree search</a:t>
            </a:r>
            <a:endParaRPr lang="en-US" sz="1700" dirty="0"/>
          </a:p>
        </p:txBody>
      </p:sp>
      <p:sp>
        <p:nvSpPr>
          <p:cNvPr id="27" name="Text 25"/>
          <p:cNvSpPr/>
          <p:nvPr/>
        </p:nvSpPr>
        <p:spPr>
          <a:xfrm>
            <a:off x="7543800" y="4636008"/>
            <a:ext cx="2011680" cy="475488"/>
          </a:xfrm>
          <a:prstGeom prst="rect">
            <a:avLst/>
          </a:prstGeom>
          <a:noFill/>
          <a:ln/>
        </p:spPr>
        <p:txBody>
          <a:bodyPr wrap="square" lIns="0" tIns="0" rIns="0" bIns="0" rtlCol="0" anchor="ctr"/>
          <a:lstStyle/>
          <a:p>
            <a:pPr indent="0" marL="0">
              <a:buNone/>
            </a:pPr>
            <a:r>
              <a:rPr lang="en-US" sz="1300" dirty="0">
                <a:solidFill>
                  <a:srgbClr val="55607A"/>
                </a:solidFill>
                <a:latin typeface="Calibri" pitchFamily="34" charset="0"/>
                <a:ea typeface="Calibri" pitchFamily="34" charset="-122"/>
                <a:cs typeface="Calibri" pitchFamily="34" charset="-120"/>
              </a:rPr>
              <a:t>AIMA 5.4</a:t>
            </a:r>
            <a:endParaRPr lang="en-US" sz="1300" dirty="0"/>
          </a:p>
        </p:txBody>
      </p:sp>
      <p:sp>
        <p:nvSpPr>
          <p:cNvPr id="28" name="Text 26"/>
          <p:cNvSpPr/>
          <p:nvPr/>
        </p:nvSpPr>
        <p:spPr>
          <a:xfrm>
            <a:off x="9601200" y="4636008"/>
            <a:ext cx="1371600" cy="475488"/>
          </a:xfrm>
          <a:prstGeom prst="rect">
            <a:avLst/>
          </a:prstGeom>
          <a:noFill/>
          <a:ln/>
        </p:spPr>
        <p:txBody>
          <a:bodyPr wrap="square" lIns="0" tIns="0" rIns="0" bIns="0" rtlCol="0" anchor="ctr"/>
          <a:lstStyle/>
          <a:p>
            <a:pPr algn="r" indent="0" marL="0">
              <a:buNone/>
            </a:pPr>
            <a:r>
              <a:rPr lang="en-US" sz="1300" b="1" dirty="0">
                <a:solidFill>
                  <a:srgbClr val="1E7A4C"/>
                </a:solidFill>
                <a:latin typeface="Calibri" pitchFamily="34" charset="0"/>
                <a:ea typeface="Calibri" pitchFamily="34" charset="-122"/>
                <a:cs typeface="Calibri" pitchFamily="34" charset="-120"/>
              </a:rPr>
              <a:t>15 min</a:t>
            </a:r>
            <a:endParaRPr lang="en-US" sz="1300" dirty="0"/>
          </a:p>
        </p:txBody>
      </p:sp>
      <p:sp>
        <p:nvSpPr>
          <p:cNvPr id="29" name="Shape 27"/>
          <p:cNvSpPr/>
          <p:nvPr/>
        </p:nvSpPr>
        <p:spPr>
          <a:xfrm>
            <a:off x="685800" y="5431536"/>
            <a:ext cx="475488" cy="475488"/>
          </a:xfrm>
          <a:prstGeom prst="ellipse">
            <a:avLst/>
          </a:prstGeom>
          <a:solidFill>
            <a:srgbClr val="D98C1F"/>
          </a:solidFill>
          <a:ln w="12700">
            <a:solidFill>
              <a:srgbClr val="D98C1F"/>
            </a:solidFill>
            <a:prstDash val="solid"/>
          </a:ln>
        </p:spPr>
      </p:sp>
      <p:sp>
        <p:nvSpPr>
          <p:cNvPr id="30" name="Text 28"/>
          <p:cNvSpPr/>
          <p:nvPr/>
        </p:nvSpPr>
        <p:spPr>
          <a:xfrm>
            <a:off x="685800" y="543153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1" name="Text 29"/>
          <p:cNvSpPr/>
          <p:nvPr/>
        </p:nvSpPr>
        <p:spPr>
          <a:xfrm>
            <a:off x="1417320" y="5431536"/>
            <a:ext cx="6035040" cy="475488"/>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Stochastic games and expectiminimax</a:t>
            </a:r>
            <a:endParaRPr lang="en-US" sz="1700" dirty="0"/>
          </a:p>
        </p:txBody>
      </p:sp>
      <p:sp>
        <p:nvSpPr>
          <p:cNvPr id="32" name="Text 30"/>
          <p:cNvSpPr/>
          <p:nvPr/>
        </p:nvSpPr>
        <p:spPr>
          <a:xfrm>
            <a:off x="7543800" y="5431536"/>
            <a:ext cx="2011680" cy="475488"/>
          </a:xfrm>
          <a:prstGeom prst="rect">
            <a:avLst/>
          </a:prstGeom>
          <a:noFill/>
          <a:ln/>
        </p:spPr>
        <p:txBody>
          <a:bodyPr wrap="square" lIns="0" tIns="0" rIns="0" bIns="0" rtlCol="0" anchor="ctr"/>
          <a:lstStyle/>
          <a:p>
            <a:pPr indent="0" marL="0">
              <a:buNone/>
            </a:pPr>
            <a:r>
              <a:rPr lang="en-US" sz="1300" dirty="0">
                <a:solidFill>
                  <a:srgbClr val="55607A"/>
                </a:solidFill>
                <a:latin typeface="Calibri" pitchFamily="34" charset="0"/>
                <a:ea typeface="Calibri" pitchFamily="34" charset="-122"/>
                <a:cs typeface="Calibri" pitchFamily="34" charset="-120"/>
              </a:rPr>
              <a:t>AIMA 5.5</a:t>
            </a:r>
            <a:endParaRPr lang="en-US" sz="1300" dirty="0"/>
          </a:p>
        </p:txBody>
      </p:sp>
      <p:sp>
        <p:nvSpPr>
          <p:cNvPr id="33" name="Text 31"/>
          <p:cNvSpPr/>
          <p:nvPr/>
        </p:nvSpPr>
        <p:spPr>
          <a:xfrm>
            <a:off x="9601200" y="5431536"/>
            <a:ext cx="1371600" cy="475488"/>
          </a:xfrm>
          <a:prstGeom prst="rect">
            <a:avLst/>
          </a:prstGeom>
          <a:noFill/>
          <a:ln/>
        </p:spPr>
        <p:txBody>
          <a:bodyPr wrap="square" lIns="0" tIns="0" rIns="0" bIns="0" rtlCol="0" anchor="ctr"/>
          <a:lstStyle/>
          <a:p>
            <a:pPr algn="r" indent="0" marL="0">
              <a:buNone/>
            </a:pPr>
            <a:r>
              <a:rPr lang="en-US" sz="1300" b="1" dirty="0">
                <a:solidFill>
                  <a:srgbClr val="D98C1F"/>
                </a:solidFill>
                <a:latin typeface="Calibri" pitchFamily="34" charset="0"/>
                <a:ea typeface="Calibri" pitchFamily="34" charset="-122"/>
                <a:cs typeface="Calibri" pitchFamily="34" charset="-120"/>
              </a:rPr>
              <a:t>15 min</a:t>
            </a:r>
            <a:endParaRPr lang="en-US" sz="1300" dirty="0"/>
          </a:p>
        </p:txBody>
      </p:sp>
      <p:sp>
        <p:nvSpPr>
          <p:cNvPr id="34" name="Text 32"/>
          <p:cNvSpPr/>
          <p:nvPr/>
        </p:nvSpPr>
        <p:spPr>
          <a:xfrm>
            <a:off x="566928" y="6327648"/>
            <a:ext cx="10058400" cy="274320"/>
          </a:xfrm>
          <a:prstGeom prst="rect">
            <a:avLst/>
          </a:prstGeom>
          <a:noFill/>
          <a:ln/>
        </p:spPr>
        <p:txBody>
          <a:bodyPr wrap="square" lIns="0" tIns="0" rIns="0" bIns="0" rtlCol="0" anchor="ctr"/>
          <a:lstStyle/>
          <a:p>
            <a:pPr indent="0" marL="0">
              <a:buNone/>
            </a:pPr>
            <a:r>
              <a:rPr lang="en-US" sz="1000" i="1" dirty="0">
                <a:solidFill>
                  <a:srgbClr val="55607A"/>
                </a:solidFill>
                <a:latin typeface="Calibri" pitchFamily="34" charset="0"/>
                <a:ea typeface="Calibri" pitchFamily="34" charset="-122"/>
                <a:cs typeface="Calibri" pitchFamily="34" charset="-120"/>
              </a:rPr>
              <a:t>Two short breaks: after Part 3 and after Part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331720"/>
            <a:ext cx="914400" cy="914400"/>
          </a:xfrm>
          <a:prstGeom prst="ellipse">
            <a:avLst/>
          </a:prstGeom>
          <a:solidFill>
            <a:srgbClr val="D98C1F"/>
          </a:solidFill>
          <a:ln w="12700">
            <a:solidFill>
              <a:srgbClr val="D98C1F"/>
            </a:solidFill>
            <a:prstDash val="solid"/>
          </a:ln>
        </p:spPr>
      </p:sp>
      <p:sp>
        <p:nvSpPr>
          <p:cNvPr id="3" name="Text 1"/>
          <p:cNvSpPr/>
          <p:nvPr/>
        </p:nvSpPr>
        <p:spPr>
          <a:xfrm>
            <a:off x="822960" y="2331720"/>
            <a:ext cx="914400" cy="914400"/>
          </a:xfrm>
          <a:prstGeom prst="rect">
            <a:avLst/>
          </a:prstGeom>
          <a:noFill/>
          <a:ln/>
        </p:spPr>
        <p:txBody>
          <a:bodyPr wrap="square" lIns="0" tIns="0" rIns="0" bIns="0" rtlCol="0" anchor="ctr"/>
          <a:lstStyle/>
          <a:p>
            <a:pPr algn="ctr" indent="0" marL="0">
              <a:buNone/>
            </a:pPr>
            <a:r>
              <a:rPr lang="en-US" sz="3400" b="1" dirty="0">
                <a:solidFill>
                  <a:srgbClr val="14213D"/>
                </a:solidFill>
                <a:latin typeface="Cambria" pitchFamily="34" charset="0"/>
                <a:ea typeface="Cambria" pitchFamily="34" charset="-122"/>
                <a:cs typeface="Cambria" pitchFamily="34" charset="-120"/>
              </a:rPr>
              <a:t>1</a:t>
            </a:r>
            <a:endParaRPr lang="en-US" sz="3400" dirty="0"/>
          </a:p>
        </p:txBody>
      </p:sp>
      <p:sp>
        <p:nvSpPr>
          <p:cNvPr id="4" name="Text 2"/>
          <p:cNvSpPr/>
          <p:nvPr/>
        </p:nvSpPr>
        <p:spPr>
          <a:xfrm>
            <a:off x="2057400" y="2194560"/>
            <a:ext cx="841248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Games as Search Problems</a:t>
            </a:r>
            <a:endParaRPr lang="en-US" sz="3800" dirty="0"/>
          </a:p>
        </p:txBody>
      </p:sp>
      <p:sp>
        <p:nvSpPr>
          <p:cNvPr id="5" name="Text 3"/>
          <p:cNvSpPr/>
          <p:nvPr/>
        </p:nvSpPr>
        <p:spPr>
          <a:xfrm>
            <a:off x="2103120" y="3017520"/>
            <a:ext cx="8412480" cy="822960"/>
          </a:xfrm>
          <a:prstGeom prst="rect">
            <a:avLst/>
          </a:prstGeom>
          <a:noFill/>
          <a:ln/>
        </p:spPr>
        <p:txBody>
          <a:bodyPr wrap="square" lIns="0" tIns="0" rIns="0" bIns="0" rtlCol="0" anchor="t"/>
          <a:lstStyle/>
          <a:p>
            <a:pPr indent="0" marL="0">
              <a:lnSpc>
                <a:spcPct val="120000"/>
              </a:lnSpc>
              <a:buNone/>
            </a:pPr>
            <a:r>
              <a:rPr lang="en-US" sz="1600" dirty="0">
                <a:solidFill>
                  <a:srgbClr val="DCE6FA"/>
                </a:solidFill>
                <a:latin typeface="Calibri" pitchFamily="34" charset="0"/>
                <a:ea typeface="Calibri" pitchFamily="34" charset="-122"/>
                <a:cs typeface="Calibri" pitchFamily="34" charset="-120"/>
              </a:rPr>
              <a:t>Multi-agent environments, the two-player zero-sum assumption, and the formal</a:t>
            </a:r>
            <a:endParaRPr lang="en-US" sz="1600" dirty="0"/>
          </a:p>
          <a:p>
            <a:pPr indent="0" marL="0">
              <a:lnSpc>
                <a:spcPct val="120000"/>
              </a:lnSpc>
              <a:buNone/>
            </a:pPr>
            <a:r>
              <a:rPr lang="en-US" sz="1600" dirty="0">
                <a:solidFill>
                  <a:srgbClr val="DCE6FA"/>
                </a:solidFill>
                <a:latin typeface="Calibri" pitchFamily="34" charset="0"/>
                <a:ea typeface="Calibri" pitchFamily="34" charset="-122"/>
                <a:cs typeface="Calibri" pitchFamily="34" charset="-120"/>
              </a:rPr>
              <a:t>anatomy of a game.</a:t>
            </a:r>
            <a:endParaRPr lang="en-US" sz="1600" dirty="0"/>
          </a:p>
        </p:txBody>
      </p:sp>
      <p:sp>
        <p:nvSpPr>
          <p:cNvPr id="6" name="Text 4"/>
          <p:cNvSpPr/>
          <p:nvPr/>
        </p:nvSpPr>
        <p:spPr>
          <a:xfrm>
            <a:off x="2103120" y="3977640"/>
            <a:ext cx="5486400" cy="292608"/>
          </a:xfrm>
          <a:prstGeom prst="rect">
            <a:avLst/>
          </a:prstGeom>
          <a:noFill/>
          <a:ln/>
        </p:spPr>
        <p:txBody>
          <a:bodyPr wrap="square" lIns="0" tIns="0" rIns="0" bIns="0" rtlCol="0" anchor="ctr"/>
          <a:lstStyle/>
          <a:p>
            <a:pPr indent="0" marL="0">
              <a:buNone/>
            </a:pPr>
            <a:r>
              <a:rPr lang="en-US" sz="1250" b="1" spc="120" kern="0" dirty="0">
                <a:solidFill>
                  <a:srgbClr val="D98C1F"/>
                </a:solidFill>
                <a:latin typeface="Calibri" pitchFamily="34" charset="0"/>
                <a:ea typeface="Calibri" pitchFamily="34" charset="-122"/>
                <a:cs typeface="Calibri" pitchFamily="34" charset="-120"/>
              </a:rPr>
              <a:t>AIMA 5.1  ·  ABOUT 15 MINUTES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5.1</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Three Stances Toward Other Agents</a:t>
            </a:r>
            <a:endParaRPr lang="en-US" sz="2900" dirty="0"/>
          </a:p>
        </p:txBody>
      </p:sp>
      <p:sp>
        <p:nvSpPr>
          <p:cNvPr id="4" name="Shape 2"/>
          <p:cNvSpPr/>
          <p:nvPr/>
        </p:nvSpPr>
        <p:spPr>
          <a:xfrm>
            <a:off x="640080" y="1417320"/>
            <a:ext cx="3429000" cy="2377440"/>
          </a:xfrm>
          <a:prstGeom prst="roundRect">
            <a:avLst>
              <a:gd name="adj" fmla="val 3077"/>
            </a:avLst>
          </a:prstGeom>
          <a:solidFill>
            <a:srgbClr val="EFF3F9"/>
          </a:solidFill>
          <a:ln w="12700">
            <a:solidFill>
              <a:srgbClr val="EFF3F9"/>
            </a:solidFill>
            <a:prstDash val="solid"/>
          </a:ln>
        </p:spPr>
      </p:sp>
      <p:sp>
        <p:nvSpPr>
          <p:cNvPr id="5" name="Text 3"/>
          <p:cNvSpPr/>
          <p:nvPr/>
        </p:nvSpPr>
        <p:spPr>
          <a:xfrm>
            <a:off x="841248" y="1563624"/>
            <a:ext cx="30266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Aggregate them</a:t>
            </a:r>
            <a:endParaRPr lang="en-US" sz="1500" dirty="0"/>
          </a:p>
        </p:txBody>
      </p:sp>
      <p:sp>
        <p:nvSpPr>
          <p:cNvPr id="6" name="Text 4"/>
          <p:cNvSpPr/>
          <p:nvPr/>
        </p:nvSpPr>
        <p:spPr>
          <a:xfrm>
            <a:off x="841248" y="1911096"/>
            <a:ext cx="3026664" cy="171907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With very many agents, model the crowd, not the individual. Predict that demand raises prices without predicting anyone's move.</a:t>
            </a:r>
            <a:endParaRPr lang="en-US" sz="1300" dirty="0"/>
          </a:p>
        </p:txBody>
      </p:sp>
      <p:sp>
        <p:nvSpPr>
          <p:cNvPr id="7" name="Text 5"/>
          <p:cNvSpPr/>
          <p:nvPr/>
        </p:nvSpPr>
        <p:spPr>
          <a:xfrm>
            <a:off x="841248" y="3310128"/>
            <a:ext cx="3017520" cy="292608"/>
          </a:xfrm>
          <a:prstGeom prst="rect">
            <a:avLst/>
          </a:prstGeom>
          <a:noFill/>
          <a:ln/>
        </p:spPr>
        <p:txBody>
          <a:bodyPr wrap="square" lIns="0" tIns="0" rIns="0" bIns="0" rtlCol="0" anchor="ctr"/>
          <a:lstStyle/>
          <a:p>
            <a:pPr indent="0" marL="0">
              <a:buNone/>
            </a:pPr>
            <a:r>
              <a:rPr lang="en-US" sz="1150" b="1" i="1" dirty="0">
                <a:solidFill>
                  <a:srgbClr val="D98C1F"/>
                </a:solidFill>
                <a:latin typeface="Calibri" pitchFamily="34" charset="0"/>
                <a:ea typeface="Calibri" pitchFamily="34" charset="-122"/>
                <a:cs typeface="Calibri" pitchFamily="34" charset="-120"/>
              </a:rPr>
              <a:t>Economy</a:t>
            </a:r>
            <a:endParaRPr lang="en-US" sz="1150" dirty="0"/>
          </a:p>
        </p:txBody>
      </p:sp>
      <p:sp>
        <p:nvSpPr>
          <p:cNvPr id="8" name="Shape 6"/>
          <p:cNvSpPr/>
          <p:nvPr/>
        </p:nvSpPr>
        <p:spPr>
          <a:xfrm>
            <a:off x="4343400" y="1417320"/>
            <a:ext cx="3429000" cy="2377440"/>
          </a:xfrm>
          <a:prstGeom prst="roundRect">
            <a:avLst>
              <a:gd name="adj" fmla="val 3077"/>
            </a:avLst>
          </a:prstGeom>
          <a:solidFill>
            <a:srgbClr val="EFF3F9"/>
          </a:solidFill>
          <a:ln w="12700">
            <a:solidFill>
              <a:srgbClr val="EFF3F9"/>
            </a:solidFill>
            <a:prstDash val="solid"/>
          </a:ln>
        </p:spPr>
      </p:sp>
      <p:sp>
        <p:nvSpPr>
          <p:cNvPr id="9" name="Text 7"/>
          <p:cNvSpPr/>
          <p:nvPr/>
        </p:nvSpPr>
        <p:spPr>
          <a:xfrm>
            <a:off x="4544568" y="1563624"/>
            <a:ext cx="30266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Absorb them into the environment</a:t>
            </a:r>
            <a:endParaRPr lang="en-US" sz="1500" dirty="0"/>
          </a:p>
        </p:txBody>
      </p:sp>
      <p:sp>
        <p:nvSpPr>
          <p:cNvPr id="10" name="Text 8"/>
          <p:cNvSpPr/>
          <p:nvPr/>
        </p:nvSpPr>
        <p:spPr>
          <a:xfrm>
            <a:off x="4544568" y="1911096"/>
            <a:ext cx="3026664" cy="171907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Treat the opponent like weather. Cheap, but it throws away the fact that the opponent is actively trying to defeat you.</a:t>
            </a:r>
            <a:endParaRPr lang="en-US" sz="1300" dirty="0"/>
          </a:p>
        </p:txBody>
      </p:sp>
      <p:sp>
        <p:nvSpPr>
          <p:cNvPr id="11" name="Text 9"/>
          <p:cNvSpPr/>
          <p:nvPr/>
        </p:nvSpPr>
        <p:spPr>
          <a:xfrm>
            <a:off x="4544568" y="3310128"/>
            <a:ext cx="3017520" cy="292608"/>
          </a:xfrm>
          <a:prstGeom prst="rect">
            <a:avLst/>
          </a:prstGeom>
          <a:noFill/>
          <a:ln/>
        </p:spPr>
        <p:txBody>
          <a:bodyPr wrap="square" lIns="0" tIns="0" rIns="0" bIns="0" rtlCol="0" anchor="ctr"/>
          <a:lstStyle/>
          <a:p>
            <a:pPr indent="0" marL="0">
              <a:buNone/>
            </a:pPr>
            <a:r>
              <a:rPr lang="en-US" sz="1150" b="1" i="1" dirty="0">
                <a:solidFill>
                  <a:srgbClr val="D98C1F"/>
                </a:solidFill>
                <a:latin typeface="Calibri" pitchFamily="34" charset="0"/>
                <a:ea typeface="Calibri" pitchFamily="34" charset="-122"/>
                <a:cs typeface="Calibri" pitchFamily="34" charset="-120"/>
              </a:rPr>
              <a:t>Nondeterminism</a:t>
            </a:r>
            <a:endParaRPr lang="en-US" sz="1150" dirty="0"/>
          </a:p>
        </p:txBody>
      </p:sp>
      <p:sp>
        <p:nvSpPr>
          <p:cNvPr id="12" name="Shape 10"/>
          <p:cNvSpPr/>
          <p:nvPr/>
        </p:nvSpPr>
        <p:spPr>
          <a:xfrm>
            <a:off x="8046720" y="1417320"/>
            <a:ext cx="3429000" cy="2377440"/>
          </a:xfrm>
          <a:prstGeom prst="roundRect">
            <a:avLst>
              <a:gd name="adj" fmla="val 3077"/>
            </a:avLst>
          </a:prstGeom>
          <a:solidFill>
            <a:srgbClr val="DCE6FA"/>
          </a:solidFill>
          <a:ln w="12700">
            <a:solidFill>
              <a:srgbClr val="1F5AC4"/>
            </a:solidFill>
            <a:prstDash val="solid"/>
          </a:ln>
        </p:spPr>
      </p:sp>
      <p:sp>
        <p:nvSpPr>
          <p:cNvPr id="13" name="Text 11"/>
          <p:cNvSpPr/>
          <p:nvPr/>
        </p:nvSpPr>
        <p:spPr>
          <a:xfrm>
            <a:off x="8247888" y="1563624"/>
            <a:ext cx="30266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Model them explicitly</a:t>
            </a:r>
            <a:endParaRPr lang="en-US" sz="1500" dirty="0"/>
          </a:p>
        </p:txBody>
      </p:sp>
      <p:sp>
        <p:nvSpPr>
          <p:cNvPr id="14" name="Text 12"/>
          <p:cNvSpPr/>
          <p:nvPr/>
        </p:nvSpPr>
        <p:spPr>
          <a:xfrm>
            <a:off x="8247888" y="1911096"/>
            <a:ext cx="3026664" cy="171907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Give the opponent a decision rule and search through it. This is Chapter 5, and it is what we do today.</a:t>
            </a:r>
            <a:endParaRPr lang="en-US" sz="1300" dirty="0"/>
          </a:p>
        </p:txBody>
      </p:sp>
      <p:sp>
        <p:nvSpPr>
          <p:cNvPr id="15" name="Text 13"/>
          <p:cNvSpPr/>
          <p:nvPr/>
        </p:nvSpPr>
        <p:spPr>
          <a:xfrm>
            <a:off x="8247888" y="3310128"/>
            <a:ext cx="3017520" cy="292608"/>
          </a:xfrm>
          <a:prstGeom prst="rect">
            <a:avLst/>
          </a:prstGeom>
          <a:noFill/>
          <a:ln/>
        </p:spPr>
        <p:txBody>
          <a:bodyPr wrap="square" lIns="0" tIns="0" rIns="0" bIns="0" rtlCol="0" anchor="ctr"/>
          <a:lstStyle/>
          <a:p>
            <a:pPr indent="0" marL="0">
              <a:buNone/>
            </a:pPr>
            <a:r>
              <a:rPr lang="en-US" sz="1150" b="1" i="1" dirty="0">
                <a:solidFill>
                  <a:srgbClr val="1F5AC4"/>
                </a:solidFill>
                <a:latin typeface="Calibri" pitchFamily="34" charset="0"/>
                <a:ea typeface="Calibri" pitchFamily="34" charset="-122"/>
                <a:cs typeface="Calibri" pitchFamily="34" charset="-120"/>
              </a:rPr>
              <a:t>Adversarial game-tree search</a:t>
            </a:r>
            <a:endParaRPr lang="en-US" sz="1150" dirty="0"/>
          </a:p>
        </p:txBody>
      </p:sp>
      <p:sp>
        <p:nvSpPr>
          <p:cNvPr id="16" name="Shape 14"/>
          <p:cNvSpPr/>
          <p:nvPr/>
        </p:nvSpPr>
        <p:spPr>
          <a:xfrm>
            <a:off x="640080" y="4114800"/>
            <a:ext cx="10881360" cy="914400"/>
          </a:xfrm>
          <a:prstGeom prst="roundRect">
            <a:avLst>
              <a:gd name="adj" fmla="val 6000"/>
            </a:avLst>
          </a:prstGeom>
          <a:solidFill>
            <a:srgbClr val="DCE6FA"/>
          </a:solidFill>
          <a:ln w="12700">
            <a:solidFill>
              <a:srgbClr val="DCE6FA"/>
            </a:solidFill>
            <a:prstDash val="solid"/>
          </a:ln>
        </p:spPr>
      </p:sp>
      <p:sp>
        <p:nvSpPr>
          <p:cNvPr id="17" name="Text 15"/>
          <p:cNvSpPr/>
          <p:nvPr/>
        </p:nvSpPr>
        <p:spPr>
          <a:xfrm>
            <a:off x="822960" y="4206240"/>
            <a:ext cx="10515600" cy="731520"/>
          </a:xfrm>
          <a:prstGeom prst="rect">
            <a:avLst/>
          </a:prstGeom>
          <a:noFill/>
          <a:ln/>
        </p:spPr>
        <p:txBody>
          <a:bodyPr wrap="square" lIns="0" tIns="0" rIns="0" bIns="0" rtlCol="0" anchor="ctr"/>
          <a:lstStyle/>
          <a:p>
            <a:pPr algn="ctr" indent="0" marL="0">
              <a:lnSpc>
                <a:spcPct val="115000"/>
              </a:lnSpc>
              <a:buNone/>
            </a:pPr>
            <a:r>
              <a:rPr lang="en-US" sz="1700" i="1" dirty="0">
                <a:solidFill>
                  <a:srgbClr val="14213D"/>
                </a:solidFill>
                <a:latin typeface="Cambria" pitchFamily="34" charset="0"/>
                <a:ea typeface="Cambria" pitchFamily="34" charset="-122"/>
                <a:cs typeface="Cambria" pitchFamily="34" charset="-120"/>
              </a:rPr>
              <a:t>Modeling the adversary as noise loses the crucial fact that the noise is optimizing against you.</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MOTIVATION</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Where Game-Playing AI Actually Stands</a:t>
            </a:r>
            <a:endParaRPr lang="en-US" sz="2900" dirty="0"/>
          </a:p>
        </p:txBody>
      </p:sp>
      <p:sp>
        <p:nvSpPr>
          <p:cNvPr id="4" name="Shape 2"/>
          <p:cNvSpPr/>
          <p:nvPr/>
        </p:nvSpPr>
        <p:spPr>
          <a:xfrm>
            <a:off x="640080" y="1417320"/>
            <a:ext cx="2560320" cy="2514600"/>
          </a:xfrm>
          <a:prstGeom prst="roundRect">
            <a:avLst>
              <a:gd name="adj" fmla="val 2909"/>
            </a:avLst>
          </a:prstGeom>
          <a:solidFill>
            <a:srgbClr val="EFF3F9"/>
          </a:solidFill>
          <a:ln w="12700">
            <a:solidFill>
              <a:srgbClr val="EFF3F9"/>
            </a:solidFill>
            <a:prstDash val="solid"/>
          </a:ln>
        </p:spPr>
      </p:sp>
      <p:sp>
        <p:nvSpPr>
          <p:cNvPr id="5" name="Text 3"/>
          <p:cNvSpPr/>
          <p:nvPr/>
        </p:nvSpPr>
        <p:spPr>
          <a:xfrm>
            <a:off x="841248" y="1563624"/>
            <a:ext cx="2157984" cy="310896"/>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Checkers</a:t>
            </a:r>
            <a:endParaRPr lang="en-US" sz="1700" dirty="0"/>
          </a:p>
        </p:txBody>
      </p:sp>
      <p:sp>
        <p:nvSpPr>
          <p:cNvPr id="6" name="Text 4"/>
          <p:cNvSpPr/>
          <p:nvPr/>
        </p:nvSpPr>
        <p:spPr>
          <a:xfrm>
            <a:off x="841248" y="1911096"/>
            <a:ext cx="2157984" cy="185623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1950 first program. 1994 Chinook ends Marion Tinsley's 40-year reign. 2007: solved.</a:t>
            </a:r>
            <a:endParaRPr lang="en-US" sz="1300" dirty="0"/>
          </a:p>
        </p:txBody>
      </p:sp>
      <p:sp>
        <p:nvSpPr>
          <p:cNvPr id="7" name="Shape 5"/>
          <p:cNvSpPr/>
          <p:nvPr/>
        </p:nvSpPr>
        <p:spPr>
          <a:xfrm>
            <a:off x="841248" y="3429000"/>
            <a:ext cx="1600200" cy="310896"/>
          </a:xfrm>
          <a:prstGeom prst="roundRect">
            <a:avLst>
              <a:gd name="adj" fmla="val 17647"/>
            </a:avLst>
          </a:prstGeom>
          <a:solidFill>
            <a:srgbClr val="1E7A4C"/>
          </a:solidFill>
          <a:ln w="12700">
            <a:solidFill>
              <a:srgbClr val="1E7A4C"/>
            </a:solidFill>
            <a:prstDash val="solid"/>
          </a:ln>
        </p:spPr>
      </p:sp>
      <p:sp>
        <p:nvSpPr>
          <p:cNvPr id="8" name="Text 6"/>
          <p:cNvSpPr/>
          <p:nvPr/>
        </p:nvSpPr>
        <p:spPr>
          <a:xfrm>
            <a:off x="841248" y="3429000"/>
            <a:ext cx="160020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SOLVED</a:t>
            </a:r>
            <a:endParaRPr lang="en-US" sz="1000" dirty="0"/>
          </a:p>
        </p:txBody>
      </p:sp>
      <p:sp>
        <p:nvSpPr>
          <p:cNvPr id="9" name="Shape 7"/>
          <p:cNvSpPr/>
          <p:nvPr/>
        </p:nvSpPr>
        <p:spPr>
          <a:xfrm>
            <a:off x="3429000" y="1417320"/>
            <a:ext cx="2560320" cy="2514600"/>
          </a:xfrm>
          <a:prstGeom prst="roundRect">
            <a:avLst>
              <a:gd name="adj" fmla="val 2909"/>
            </a:avLst>
          </a:prstGeom>
          <a:solidFill>
            <a:srgbClr val="EFF3F9"/>
          </a:solidFill>
          <a:ln w="12700">
            <a:solidFill>
              <a:srgbClr val="EFF3F9"/>
            </a:solidFill>
            <a:prstDash val="solid"/>
          </a:ln>
        </p:spPr>
      </p:sp>
      <p:sp>
        <p:nvSpPr>
          <p:cNvPr id="10" name="Text 8"/>
          <p:cNvSpPr/>
          <p:nvPr/>
        </p:nvSpPr>
        <p:spPr>
          <a:xfrm>
            <a:off x="3630168" y="1563624"/>
            <a:ext cx="2157984" cy="310896"/>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Chess</a:t>
            </a:r>
            <a:endParaRPr lang="en-US" sz="1700" dirty="0"/>
          </a:p>
        </p:txBody>
      </p:sp>
      <p:sp>
        <p:nvSpPr>
          <p:cNvPr id="11" name="Text 9"/>
          <p:cNvSpPr/>
          <p:nvPr/>
        </p:nvSpPr>
        <p:spPr>
          <a:xfrm>
            <a:off x="3630168" y="1911096"/>
            <a:ext cx="2157984" cy="185623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1997 Deep Blue beats Kasparov, examining 200M positions per second and extending some lines to 40 ply.</a:t>
            </a:r>
            <a:endParaRPr lang="en-US" sz="1300" dirty="0"/>
          </a:p>
        </p:txBody>
      </p:sp>
      <p:sp>
        <p:nvSpPr>
          <p:cNvPr id="12" name="Shape 10"/>
          <p:cNvSpPr/>
          <p:nvPr/>
        </p:nvSpPr>
        <p:spPr>
          <a:xfrm>
            <a:off x="3630168" y="3429000"/>
            <a:ext cx="1600200" cy="310896"/>
          </a:xfrm>
          <a:prstGeom prst="roundRect">
            <a:avLst>
              <a:gd name="adj" fmla="val 17647"/>
            </a:avLst>
          </a:prstGeom>
          <a:solidFill>
            <a:srgbClr val="1F5AC4"/>
          </a:solidFill>
          <a:ln w="12700">
            <a:solidFill>
              <a:srgbClr val="1F5AC4"/>
            </a:solidFill>
            <a:prstDash val="solid"/>
          </a:ln>
        </p:spPr>
      </p:sp>
      <p:sp>
        <p:nvSpPr>
          <p:cNvPr id="13" name="Text 11"/>
          <p:cNvSpPr/>
          <p:nvPr/>
        </p:nvSpPr>
        <p:spPr>
          <a:xfrm>
            <a:off x="3630168" y="3429000"/>
            <a:ext cx="160020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SUPERHUMAN</a:t>
            </a:r>
            <a:endParaRPr lang="en-US" sz="1000" dirty="0"/>
          </a:p>
        </p:txBody>
      </p:sp>
      <p:sp>
        <p:nvSpPr>
          <p:cNvPr id="14" name="Shape 12"/>
          <p:cNvSpPr/>
          <p:nvPr/>
        </p:nvSpPr>
        <p:spPr>
          <a:xfrm>
            <a:off x="6217920" y="1417320"/>
            <a:ext cx="2560320" cy="2514600"/>
          </a:xfrm>
          <a:prstGeom prst="roundRect">
            <a:avLst>
              <a:gd name="adj" fmla="val 2909"/>
            </a:avLst>
          </a:prstGeom>
          <a:solidFill>
            <a:srgbClr val="EFF3F9"/>
          </a:solidFill>
          <a:ln w="12700">
            <a:solidFill>
              <a:srgbClr val="EFF3F9"/>
            </a:solidFill>
            <a:prstDash val="solid"/>
          </a:ln>
        </p:spPr>
      </p:sp>
      <p:sp>
        <p:nvSpPr>
          <p:cNvPr id="15" name="Text 13"/>
          <p:cNvSpPr/>
          <p:nvPr/>
        </p:nvSpPr>
        <p:spPr>
          <a:xfrm>
            <a:off x="6419088" y="1563624"/>
            <a:ext cx="2157984" cy="310896"/>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Go</a:t>
            </a:r>
            <a:endParaRPr lang="en-US" sz="1700" dirty="0"/>
          </a:p>
        </p:txBody>
      </p:sp>
      <p:sp>
        <p:nvSpPr>
          <p:cNvPr id="16" name="Text 14"/>
          <p:cNvSpPr/>
          <p:nvPr/>
        </p:nvSpPr>
        <p:spPr>
          <a:xfrm>
            <a:off x="6419088" y="1911096"/>
            <a:ext cx="2157984" cy="185623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2016 AlphaGo beats a human champion using Monte Carlo tree search plus a learned evaluation function.</a:t>
            </a:r>
            <a:endParaRPr lang="en-US" sz="1300" dirty="0"/>
          </a:p>
        </p:txBody>
      </p:sp>
      <p:sp>
        <p:nvSpPr>
          <p:cNvPr id="17" name="Shape 15"/>
          <p:cNvSpPr/>
          <p:nvPr/>
        </p:nvSpPr>
        <p:spPr>
          <a:xfrm>
            <a:off x="6419088" y="3429000"/>
            <a:ext cx="1600200" cy="310896"/>
          </a:xfrm>
          <a:prstGeom prst="roundRect">
            <a:avLst>
              <a:gd name="adj" fmla="val 17647"/>
            </a:avLst>
          </a:prstGeom>
          <a:solidFill>
            <a:srgbClr val="1F5AC4"/>
          </a:solidFill>
          <a:ln w="12700">
            <a:solidFill>
              <a:srgbClr val="1F5AC4"/>
            </a:solidFill>
            <a:prstDash val="solid"/>
          </a:ln>
        </p:spPr>
      </p:sp>
      <p:sp>
        <p:nvSpPr>
          <p:cNvPr id="18" name="Text 16"/>
          <p:cNvSpPr/>
          <p:nvPr/>
        </p:nvSpPr>
        <p:spPr>
          <a:xfrm>
            <a:off x="6419088" y="3429000"/>
            <a:ext cx="160020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SUPERHUMAN</a:t>
            </a:r>
            <a:endParaRPr lang="en-US" sz="1000" dirty="0"/>
          </a:p>
        </p:txBody>
      </p:sp>
      <p:sp>
        <p:nvSpPr>
          <p:cNvPr id="19" name="Shape 17"/>
          <p:cNvSpPr/>
          <p:nvPr/>
        </p:nvSpPr>
        <p:spPr>
          <a:xfrm>
            <a:off x="9006840" y="1417320"/>
            <a:ext cx="2560320" cy="2514600"/>
          </a:xfrm>
          <a:prstGeom prst="roundRect">
            <a:avLst>
              <a:gd name="adj" fmla="val 2909"/>
            </a:avLst>
          </a:prstGeom>
          <a:solidFill>
            <a:srgbClr val="EFF3F9"/>
          </a:solidFill>
          <a:ln w="12700">
            <a:solidFill>
              <a:srgbClr val="EFF3F9"/>
            </a:solidFill>
            <a:prstDash val="solid"/>
          </a:ln>
        </p:spPr>
      </p:sp>
      <p:sp>
        <p:nvSpPr>
          <p:cNvPr id="20" name="Text 18"/>
          <p:cNvSpPr/>
          <p:nvPr/>
        </p:nvSpPr>
        <p:spPr>
          <a:xfrm>
            <a:off x="9208008" y="1563624"/>
            <a:ext cx="2157984" cy="310896"/>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Pac-Man</a:t>
            </a:r>
            <a:endParaRPr lang="en-US" sz="1700" dirty="0"/>
          </a:p>
        </p:txBody>
      </p:sp>
      <p:sp>
        <p:nvSpPr>
          <p:cNvPr id="21" name="Text 19"/>
          <p:cNvSpPr/>
          <p:nvPr/>
        </p:nvSpPr>
        <p:spPr>
          <a:xfrm>
            <a:off x="9208008" y="1911096"/>
            <a:ext cx="2157984" cy="185623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Small, but the ghosts make it adversarial. Our running example all semester.</a:t>
            </a:r>
            <a:endParaRPr lang="en-US" sz="1300" dirty="0"/>
          </a:p>
        </p:txBody>
      </p:sp>
      <p:sp>
        <p:nvSpPr>
          <p:cNvPr id="22" name="Shape 20"/>
          <p:cNvSpPr/>
          <p:nvPr/>
        </p:nvSpPr>
        <p:spPr>
          <a:xfrm>
            <a:off x="9208008" y="3429000"/>
            <a:ext cx="1600200" cy="310896"/>
          </a:xfrm>
          <a:prstGeom prst="roundRect">
            <a:avLst>
              <a:gd name="adj" fmla="val 17647"/>
            </a:avLst>
          </a:prstGeom>
          <a:solidFill>
            <a:srgbClr val="D98C1F"/>
          </a:solidFill>
          <a:ln w="12700">
            <a:solidFill>
              <a:srgbClr val="D98C1F"/>
            </a:solidFill>
            <a:prstDash val="solid"/>
          </a:ln>
        </p:spPr>
      </p:sp>
      <p:sp>
        <p:nvSpPr>
          <p:cNvPr id="23" name="Text 21"/>
          <p:cNvSpPr/>
          <p:nvPr/>
        </p:nvSpPr>
        <p:spPr>
          <a:xfrm>
            <a:off x="9208008" y="3429000"/>
            <a:ext cx="160020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OUR LAB</a:t>
            </a:r>
            <a:endParaRPr lang="en-US" sz="1000" dirty="0"/>
          </a:p>
        </p:txBody>
      </p:sp>
      <p:sp>
        <p:nvSpPr>
          <p:cNvPr id="24" name="Text 22"/>
          <p:cNvSpPr/>
          <p:nvPr/>
        </p:nvSpPr>
        <p:spPr>
          <a:xfrm>
            <a:off x="640080" y="4343400"/>
            <a:ext cx="10881360" cy="4572000"/>
          </a:xfrm>
          <a:prstGeom prst="rect">
            <a:avLst/>
          </a:prstGeom>
          <a:noFill/>
          <a:ln/>
        </p:spPr>
        <p:txBody>
          <a:bodyPr wrap="square" lIns="0" tIns="0" rIns="0" bIns="0" rtlCol="0" anchor="t"/>
          <a:lstStyle/>
          <a:p>
            <a:pPr marL="203200" indent="-203200">
              <a:spcAft>
                <a:spcPts val="1200"/>
              </a:spcAft>
              <a:buSzPct val="100000"/>
              <a:buChar char="•"/>
            </a:pPr>
            <a:r>
              <a:rPr lang="en-US" sz="1550" b="1" dirty="0">
                <a:solidFill>
                  <a:srgbClr val="1A1A1A"/>
                </a:solidFill>
                <a:latin typeface="Calibri" pitchFamily="34" charset="0"/>
                <a:ea typeface="Calibri" pitchFamily="34" charset="-122"/>
                <a:cs typeface="Calibri" pitchFamily="34" charset="-120"/>
              </a:rPr>
              <a:t>Beating every human is not the same as solving a game.</a:t>
            </a:r>
            <a:endParaRPr lang="en-US" sz="1550" dirty="0"/>
          </a:p>
          <a:p>
            <a:pPr lvl="1" marL="406400" indent="-203200">
              <a:spcAft>
                <a:spcPts val="1200"/>
              </a:spcAft>
              <a:buSzPct val="100000"/>
              <a:buChar char="•"/>
            </a:pPr>
            <a:r>
              <a:rPr lang="en-US" sz="1350" dirty="0">
                <a:solidFill>
                  <a:srgbClr val="55607A"/>
                </a:solidFill>
                <a:latin typeface="Calibri" pitchFamily="34" charset="0"/>
                <a:ea typeface="Calibri" pitchFamily="34" charset="-122"/>
                <a:cs typeface="Calibri" pitchFamily="34" charset="-120"/>
              </a:rPr>
              <a:t>Solved means the game-theoretic value under optimal play is mathematically established - a forced win, loss, or draw. Checkers is solved. Chess is not.</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5.1.1  ·  CS 188</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Classifying Games Along Four Axes</a:t>
            </a:r>
            <a:endParaRPr lang="en-US" sz="2900" dirty="0"/>
          </a:p>
        </p:txBody>
      </p:sp>
      <p:sp>
        <p:nvSpPr>
          <p:cNvPr id="4" name="Shape 2"/>
          <p:cNvSpPr/>
          <p:nvPr/>
        </p:nvSpPr>
        <p:spPr>
          <a:xfrm>
            <a:off x="640080" y="1417320"/>
            <a:ext cx="5257800" cy="1554480"/>
          </a:xfrm>
          <a:prstGeom prst="roundRect">
            <a:avLst>
              <a:gd name="adj" fmla="val 4706"/>
            </a:avLst>
          </a:prstGeom>
          <a:solidFill>
            <a:srgbClr val="EFF3F9"/>
          </a:solidFill>
          <a:ln w="12700">
            <a:solidFill>
              <a:srgbClr val="EFF3F9"/>
            </a:solidFill>
            <a:prstDash val="solid"/>
          </a:ln>
        </p:spPr>
      </p:sp>
      <p:sp>
        <p:nvSpPr>
          <p:cNvPr id="5" name="Text 3"/>
          <p:cNvSpPr/>
          <p:nvPr/>
        </p:nvSpPr>
        <p:spPr>
          <a:xfrm>
            <a:off x="841248" y="1563624"/>
            <a:ext cx="4855464" cy="310896"/>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Deterministic or stochastic?</a:t>
            </a:r>
            <a:endParaRPr lang="en-US" sz="1600" dirty="0"/>
          </a:p>
        </p:txBody>
      </p:sp>
      <p:sp>
        <p:nvSpPr>
          <p:cNvPr id="6" name="Text 4"/>
          <p:cNvSpPr/>
          <p:nvPr/>
        </p:nvSpPr>
        <p:spPr>
          <a:xfrm>
            <a:off x="841248" y="1911096"/>
            <a:ext cx="4855464" cy="89611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Chess and Go have no dice. Backgammon, Monopoly, and Yahtzee do.</a:t>
            </a:r>
            <a:endParaRPr lang="en-US" sz="1300" dirty="0"/>
          </a:p>
        </p:txBody>
      </p:sp>
      <p:sp>
        <p:nvSpPr>
          <p:cNvPr id="7" name="Text 5"/>
          <p:cNvSpPr/>
          <p:nvPr/>
        </p:nvSpPr>
        <p:spPr>
          <a:xfrm>
            <a:off x="841248" y="2587752"/>
            <a:ext cx="2743200" cy="274320"/>
          </a:xfrm>
          <a:prstGeom prst="rect">
            <a:avLst/>
          </a:prstGeom>
          <a:noFill/>
          <a:ln/>
        </p:spPr>
        <p:txBody>
          <a:bodyPr wrap="square" lIns="0" tIns="0" rIns="0" bIns="0" rtlCol="0" anchor="ctr"/>
          <a:lstStyle/>
          <a:p>
            <a:pPr indent="0" marL="0">
              <a:buNone/>
            </a:pPr>
            <a:r>
              <a:rPr lang="en-US" sz="1100" b="1" i="1" dirty="0">
                <a:solidFill>
                  <a:srgbClr val="D98C1F"/>
                </a:solidFill>
                <a:latin typeface="Calibri" pitchFamily="34" charset="0"/>
                <a:ea typeface="Calibri" pitchFamily="34" charset="-122"/>
                <a:cs typeface="Calibri" pitchFamily="34" charset="-120"/>
              </a:rPr>
              <a:t>Part 6 today</a:t>
            </a:r>
            <a:endParaRPr lang="en-US" sz="1100" dirty="0"/>
          </a:p>
        </p:txBody>
      </p:sp>
      <p:sp>
        <p:nvSpPr>
          <p:cNvPr id="8" name="Shape 6"/>
          <p:cNvSpPr/>
          <p:nvPr/>
        </p:nvSpPr>
        <p:spPr>
          <a:xfrm>
            <a:off x="6172200" y="1417320"/>
            <a:ext cx="5257800" cy="1554480"/>
          </a:xfrm>
          <a:prstGeom prst="roundRect">
            <a:avLst>
              <a:gd name="adj" fmla="val 4706"/>
            </a:avLst>
          </a:prstGeom>
          <a:solidFill>
            <a:srgbClr val="EFF3F9"/>
          </a:solidFill>
          <a:ln w="12700">
            <a:solidFill>
              <a:srgbClr val="EFF3F9"/>
            </a:solidFill>
            <a:prstDash val="solid"/>
          </a:ln>
        </p:spPr>
      </p:sp>
      <p:sp>
        <p:nvSpPr>
          <p:cNvPr id="9" name="Text 7"/>
          <p:cNvSpPr/>
          <p:nvPr/>
        </p:nvSpPr>
        <p:spPr>
          <a:xfrm>
            <a:off x="6373368" y="1563624"/>
            <a:ext cx="4855464" cy="310896"/>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One, two, or many players?</a:t>
            </a:r>
            <a:endParaRPr lang="en-US" sz="1600" dirty="0"/>
          </a:p>
        </p:txBody>
      </p:sp>
      <p:sp>
        <p:nvSpPr>
          <p:cNvPr id="10" name="Text 8"/>
          <p:cNvSpPr/>
          <p:nvPr/>
        </p:nvSpPr>
        <p:spPr>
          <a:xfrm>
            <a:off x="6373368" y="1911096"/>
            <a:ext cx="4855464" cy="89611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Solitaire, chess, poker. More than two players needs a vector of utilities.</a:t>
            </a:r>
            <a:endParaRPr lang="en-US" sz="1300" dirty="0"/>
          </a:p>
        </p:txBody>
      </p:sp>
      <p:sp>
        <p:nvSpPr>
          <p:cNvPr id="11" name="Text 9"/>
          <p:cNvSpPr/>
          <p:nvPr/>
        </p:nvSpPr>
        <p:spPr>
          <a:xfrm>
            <a:off x="6373368" y="2587752"/>
            <a:ext cx="2743200" cy="274320"/>
          </a:xfrm>
          <a:prstGeom prst="rect">
            <a:avLst/>
          </a:prstGeom>
          <a:noFill/>
          <a:ln/>
        </p:spPr>
        <p:txBody>
          <a:bodyPr wrap="square" lIns="0" tIns="0" rIns="0" bIns="0" rtlCol="0" anchor="ctr"/>
          <a:lstStyle/>
          <a:p>
            <a:pPr indent="0" marL="0">
              <a:buNone/>
            </a:pPr>
            <a:r>
              <a:rPr lang="en-US" sz="1100" b="1" i="1" dirty="0">
                <a:solidFill>
                  <a:srgbClr val="D98C1F"/>
                </a:solidFill>
                <a:latin typeface="Calibri" pitchFamily="34" charset="0"/>
                <a:ea typeface="Calibri" pitchFamily="34" charset="-122"/>
                <a:cs typeface="Calibri" pitchFamily="34" charset="-120"/>
              </a:rPr>
              <a:t>Part 2 today</a:t>
            </a:r>
            <a:endParaRPr lang="en-US" sz="1100" dirty="0"/>
          </a:p>
        </p:txBody>
      </p:sp>
      <p:sp>
        <p:nvSpPr>
          <p:cNvPr id="12" name="Shape 10"/>
          <p:cNvSpPr/>
          <p:nvPr/>
        </p:nvSpPr>
        <p:spPr>
          <a:xfrm>
            <a:off x="640080" y="3200400"/>
            <a:ext cx="5257800" cy="1554480"/>
          </a:xfrm>
          <a:prstGeom prst="roundRect">
            <a:avLst>
              <a:gd name="adj" fmla="val 4706"/>
            </a:avLst>
          </a:prstGeom>
          <a:solidFill>
            <a:srgbClr val="EFF3F9"/>
          </a:solidFill>
          <a:ln w="12700">
            <a:solidFill>
              <a:srgbClr val="EFF3F9"/>
            </a:solidFill>
            <a:prstDash val="solid"/>
          </a:ln>
        </p:spPr>
      </p:sp>
      <p:sp>
        <p:nvSpPr>
          <p:cNvPr id="13" name="Text 11"/>
          <p:cNvSpPr/>
          <p:nvPr/>
        </p:nvSpPr>
        <p:spPr>
          <a:xfrm>
            <a:off x="841248" y="3346704"/>
            <a:ext cx="4855464" cy="310896"/>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Zero-sum or general?</a:t>
            </a:r>
            <a:endParaRPr lang="en-US" sz="1600" dirty="0"/>
          </a:p>
        </p:txBody>
      </p:sp>
      <p:sp>
        <p:nvSpPr>
          <p:cNvPr id="14" name="Text 12"/>
          <p:cNvSpPr/>
          <p:nvPr/>
        </p:nvSpPr>
        <p:spPr>
          <a:xfrm>
            <a:off x="841248" y="3694176"/>
            <a:ext cx="4855464" cy="89611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Pure competition, or independent utilities that permit cooperation.</a:t>
            </a:r>
            <a:endParaRPr lang="en-US" sz="1300" dirty="0"/>
          </a:p>
        </p:txBody>
      </p:sp>
      <p:sp>
        <p:nvSpPr>
          <p:cNvPr id="15" name="Text 13"/>
          <p:cNvSpPr/>
          <p:nvPr/>
        </p:nvSpPr>
        <p:spPr>
          <a:xfrm>
            <a:off x="841248" y="4370832"/>
            <a:ext cx="2743200" cy="274320"/>
          </a:xfrm>
          <a:prstGeom prst="rect">
            <a:avLst/>
          </a:prstGeom>
          <a:noFill/>
          <a:ln/>
        </p:spPr>
        <p:txBody>
          <a:bodyPr wrap="square" lIns="0" tIns="0" rIns="0" bIns="0" rtlCol="0" anchor="ctr"/>
          <a:lstStyle/>
          <a:p>
            <a:pPr indent="0" marL="0">
              <a:buNone/>
            </a:pPr>
            <a:r>
              <a:rPr lang="en-US" sz="1100" b="1" i="1" dirty="0">
                <a:solidFill>
                  <a:srgbClr val="D98C1F"/>
                </a:solidFill>
                <a:latin typeface="Calibri" pitchFamily="34" charset="0"/>
                <a:ea typeface="Calibri" pitchFamily="34" charset="-122"/>
                <a:cs typeface="Calibri" pitchFamily="34" charset="-120"/>
              </a:rPr>
              <a:t>Part 1 today</a:t>
            </a:r>
            <a:endParaRPr lang="en-US" sz="1100" dirty="0"/>
          </a:p>
        </p:txBody>
      </p:sp>
      <p:sp>
        <p:nvSpPr>
          <p:cNvPr id="16" name="Shape 14"/>
          <p:cNvSpPr/>
          <p:nvPr/>
        </p:nvSpPr>
        <p:spPr>
          <a:xfrm>
            <a:off x="6172200" y="3200400"/>
            <a:ext cx="5257800" cy="1554480"/>
          </a:xfrm>
          <a:prstGeom prst="roundRect">
            <a:avLst>
              <a:gd name="adj" fmla="val 4706"/>
            </a:avLst>
          </a:prstGeom>
          <a:solidFill>
            <a:srgbClr val="EFF3F9"/>
          </a:solidFill>
          <a:ln w="12700">
            <a:solidFill>
              <a:srgbClr val="EFF3F9"/>
            </a:solidFill>
            <a:prstDash val="solid"/>
          </a:ln>
        </p:spPr>
      </p:sp>
      <p:sp>
        <p:nvSpPr>
          <p:cNvPr id="17" name="Text 15"/>
          <p:cNvSpPr/>
          <p:nvPr/>
        </p:nvSpPr>
        <p:spPr>
          <a:xfrm>
            <a:off x="6373368" y="3346704"/>
            <a:ext cx="4855464" cy="310896"/>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Perfect or imperfect information?</a:t>
            </a:r>
            <a:endParaRPr lang="en-US" sz="1600" dirty="0"/>
          </a:p>
        </p:txBody>
      </p:sp>
      <p:sp>
        <p:nvSpPr>
          <p:cNvPr id="18" name="Text 16"/>
          <p:cNvSpPr/>
          <p:nvPr/>
        </p:nvSpPr>
        <p:spPr>
          <a:xfrm>
            <a:off x="6373368" y="3694176"/>
            <a:ext cx="4855464" cy="89611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Can you see the whole state? Chess yes, poker and bridge no.</a:t>
            </a:r>
            <a:endParaRPr lang="en-US" sz="1300" dirty="0"/>
          </a:p>
        </p:txBody>
      </p:sp>
      <p:sp>
        <p:nvSpPr>
          <p:cNvPr id="19" name="Text 17"/>
          <p:cNvSpPr/>
          <p:nvPr/>
        </p:nvSpPr>
        <p:spPr>
          <a:xfrm>
            <a:off x="6373368" y="4370832"/>
            <a:ext cx="2743200" cy="274320"/>
          </a:xfrm>
          <a:prstGeom prst="rect">
            <a:avLst/>
          </a:prstGeom>
          <a:noFill/>
          <a:ln/>
        </p:spPr>
        <p:txBody>
          <a:bodyPr wrap="square" lIns="0" tIns="0" rIns="0" bIns="0" rtlCol="0" anchor="ctr"/>
          <a:lstStyle/>
          <a:p>
            <a:pPr indent="0" marL="0">
              <a:buNone/>
            </a:pPr>
            <a:r>
              <a:rPr lang="en-US" sz="1100" b="1" i="1" dirty="0">
                <a:solidFill>
                  <a:srgbClr val="D98C1F"/>
                </a:solidFill>
                <a:latin typeface="Calibri" pitchFamily="34" charset="0"/>
                <a:ea typeface="Calibri" pitchFamily="34" charset="-122"/>
                <a:cs typeface="Calibri" pitchFamily="34" charset="-120"/>
              </a:rPr>
              <a:t>Section 5.6</a:t>
            </a:r>
            <a:endParaRPr lang="en-US" sz="1100" dirty="0"/>
          </a:p>
        </p:txBody>
      </p:sp>
      <p:sp>
        <p:nvSpPr>
          <p:cNvPr id="20" name="Shape 18"/>
          <p:cNvSpPr/>
          <p:nvPr/>
        </p:nvSpPr>
        <p:spPr>
          <a:xfrm>
            <a:off x="640080" y="5166360"/>
            <a:ext cx="10744200" cy="868680"/>
          </a:xfrm>
          <a:prstGeom prst="roundRect">
            <a:avLst>
              <a:gd name="adj" fmla="val 6316"/>
            </a:avLst>
          </a:prstGeom>
          <a:solidFill>
            <a:srgbClr val="14213D"/>
          </a:solidFill>
          <a:ln w="12700">
            <a:solidFill>
              <a:srgbClr val="14213D"/>
            </a:solidFill>
            <a:prstDash val="solid"/>
          </a:ln>
        </p:spPr>
      </p:sp>
      <p:sp>
        <p:nvSpPr>
          <p:cNvPr id="21" name="Text 19"/>
          <p:cNvSpPr/>
          <p:nvPr/>
        </p:nvSpPr>
        <p:spPr>
          <a:xfrm>
            <a:off x="822960" y="5257800"/>
            <a:ext cx="10378440" cy="685800"/>
          </a:xfrm>
          <a:prstGeom prst="rect">
            <a:avLst/>
          </a:prstGeom>
          <a:noFill/>
          <a:ln/>
        </p:spPr>
        <p:txBody>
          <a:bodyPr wrap="square" lIns="0" tIns="0" rIns="0" bIns="0" rtlCol="0" anchor="ctr"/>
          <a:lstStyle/>
          <a:p>
            <a:pPr algn="ctr" indent="0" marL="0">
              <a:lnSpc>
                <a:spcPct val="115000"/>
              </a:lnSpc>
              <a:buNone/>
            </a:pPr>
            <a:r>
              <a:rPr lang="en-US" sz="1700" dirty="0">
                <a:solidFill>
                  <a:srgbClr val="FFFFFF"/>
                </a:solidFill>
                <a:latin typeface="Cambria" pitchFamily="34" charset="0"/>
                <a:ea typeface="Cambria" pitchFamily="34" charset="-122"/>
                <a:cs typeface="Cambria" pitchFamily="34" charset="-120"/>
              </a:rPr>
              <a:t>Today's default game: deterministic, two-player, turn-taking, perfect information, zero-sum.</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5.1.1</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A Game, Formally</a:t>
            </a:r>
            <a:endParaRPr lang="en-US" sz="2900" dirty="0"/>
          </a:p>
        </p:txBody>
      </p:sp>
      <p:sp>
        <p:nvSpPr>
          <p:cNvPr id="4" name="Shape 2"/>
          <p:cNvSpPr/>
          <p:nvPr/>
        </p:nvSpPr>
        <p:spPr>
          <a:xfrm>
            <a:off x="640080" y="1371600"/>
            <a:ext cx="2286000" cy="512064"/>
          </a:xfrm>
          <a:prstGeom prst="roundRect">
            <a:avLst>
              <a:gd name="adj" fmla="val 8929"/>
            </a:avLst>
          </a:prstGeom>
          <a:solidFill>
            <a:srgbClr val="14213D"/>
          </a:solidFill>
          <a:ln w="12700">
            <a:solidFill>
              <a:srgbClr val="14213D"/>
            </a:solidFill>
            <a:prstDash val="solid"/>
          </a:ln>
        </p:spPr>
      </p:sp>
      <p:sp>
        <p:nvSpPr>
          <p:cNvPr id="5" name="Text 3"/>
          <p:cNvSpPr/>
          <p:nvPr/>
        </p:nvSpPr>
        <p:spPr>
          <a:xfrm>
            <a:off x="640080" y="1371600"/>
            <a:ext cx="2286000" cy="512064"/>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S0</a:t>
            </a:r>
            <a:endParaRPr lang="en-US" sz="1350" dirty="0"/>
          </a:p>
        </p:txBody>
      </p:sp>
      <p:sp>
        <p:nvSpPr>
          <p:cNvPr id="6" name="Text 4"/>
          <p:cNvSpPr/>
          <p:nvPr/>
        </p:nvSpPr>
        <p:spPr>
          <a:xfrm>
            <a:off x="3108960" y="1371600"/>
            <a:ext cx="5029200" cy="512064"/>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The initial state - how the game is set up at the start.</a:t>
            </a:r>
            <a:endParaRPr lang="en-US" sz="1450" dirty="0"/>
          </a:p>
        </p:txBody>
      </p:sp>
      <p:sp>
        <p:nvSpPr>
          <p:cNvPr id="7" name="Shape 5"/>
          <p:cNvSpPr/>
          <p:nvPr/>
        </p:nvSpPr>
        <p:spPr>
          <a:xfrm>
            <a:off x="640080" y="2029968"/>
            <a:ext cx="2286000" cy="512064"/>
          </a:xfrm>
          <a:prstGeom prst="roundRect">
            <a:avLst>
              <a:gd name="adj" fmla="val 8929"/>
            </a:avLst>
          </a:prstGeom>
          <a:solidFill>
            <a:srgbClr val="14213D"/>
          </a:solidFill>
          <a:ln w="12700">
            <a:solidFill>
              <a:srgbClr val="14213D"/>
            </a:solidFill>
            <a:prstDash val="solid"/>
          </a:ln>
        </p:spPr>
      </p:sp>
      <p:sp>
        <p:nvSpPr>
          <p:cNvPr id="8" name="Text 6"/>
          <p:cNvSpPr/>
          <p:nvPr/>
        </p:nvSpPr>
        <p:spPr>
          <a:xfrm>
            <a:off x="640080" y="2029968"/>
            <a:ext cx="2286000" cy="512064"/>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TO-MOVE(s)</a:t>
            </a:r>
            <a:endParaRPr lang="en-US" sz="1350" dirty="0"/>
          </a:p>
        </p:txBody>
      </p:sp>
      <p:sp>
        <p:nvSpPr>
          <p:cNvPr id="9" name="Text 7"/>
          <p:cNvSpPr/>
          <p:nvPr/>
        </p:nvSpPr>
        <p:spPr>
          <a:xfrm>
            <a:off x="3108960" y="2029968"/>
            <a:ext cx="5029200" cy="512064"/>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The player whose turn it is to move in state s.</a:t>
            </a:r>
            <a:endParaRPr lang="en-US" sz="1450" dirty="0"/>
          </a:p>
        </p:txBody>
      </p:sp>
      <p:sp>
        <p:nvSpPr>
          <p:cNvPr id="10" name="Shape 8"/>
          <p:cNvSpPr/>
          <p:nvPr/>
        </p:nvSpPr>
        <p:spPr>
          <a:xfrm>
            <a:off x="640080" y="2688336"/>
            <a:ext cx="2286000" cy="512064"/>
          </a:xfrm>
          <a:prstGeom prst="roundRect">
            <a:avLst>
              <a:gd name="adj" fmla="val 8929"/>
            </a:avLst>
          </a:prstGeom>
          <a:solidFill>
            <a:srgbClr val="14213D"/>
          </a:solidFill>
          <a:ln w="12700">
            <a:solidFill>
              <a:srgbClr val="14213D"/>
            </a:solidFill>
            <a:prstDash val="solid"/>
          </a:ln>
        </p:spPr>
      </p:sp>
      <p:sp>
        <p:nvSpPr>
          <p:cNvPr id="11" name="Text 9"/>
          <p:cNvSpPr/>
          <p:nvPr/>
        </p:nvSpPr>
        <p:spPr>
          <a:xfrm>
            <a:off x="640080" y="2688336"/>
            <a:ext cx="2286000" cy="512064"/>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ACTIONS(s)</a:t>
            </a:r>
            <a:endParaRPr lang="en-US" sz="1350" dirty="0"/>
          </a:p>
        </p:txBody>
      </p:sp>
      <p:sp>
        <p:nvSpPr>
          <p:cNvPr id="12" name="Text 10"/>
          <p:cNvSpPr/>
          <p:nvPr/>
        </p:nvSpPr>
        <p:spPr>
          <a:xfrm>
            <a:off x="3108960" y="2688336"/>
            <a:ext cx="5029200" cy="512064"/>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The set of legal moves in state s.</a:t>
            </a:r>
            <a:endParaRPr lang="en-US" sz="1450" dirty="0"/>
          </a:p>
        </p:txBody>
      </p:sp>
      <p:sp>
        <p:nvSpPr>
          <p:cNvPr id="13" name="Shape 11"/>
          <p:cNvSpPr/>
          <p:nvPr/>
        </p:nvSpPr>
        <p:spPr>
          <a:xfrm>
            <a:off x="640080" y="3346704"/>
            <a:ext cx="2286000" cy="512064"/>
          </a:xfrm>
          <a:prstGeom prst="roundRect">
            <a:avLst>
              <a:gd name="adj" fmla="val 8929"/>
            </a:avLst>
          </a:prstGeom>
          <a:solidFill>
            <a:srgbClr val="14213D"/>
          </a:solidFill>
          <a:ln w="12700">
            <a:solidFill>
              <a:srgbClr val="14213D"/>
            </a:solidFill>
            <a:prstDash val="solid"/>
          </a:ln>
        </p:spPr>
      </p:sp>
      <p:sp>
        <p:nvSpPr>
          <p:cNvPr id="14" name="Text 12"/>
          <p:cNvSpPr/>
          <p:nvPr/>
        </p:nvSpPr>
        <p:spPr>
          <a:xfrm>
            <a:off x="640080" y="3346704"/>
            <a:ext cx="2286000" cy="512064"/>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RESULT(s, a)</a:t>
            </a:r>
            <a:endParaRPr lang="en-US" sz="1350" dirty="0"/>
          </a:p>
        </p:txBody>
      </p:sp>
      <p:sp>
        <p:nvSpPr>
          <p:cNvPr id="15" name="Text 13"/>
          <p:cNvSpPr/>
          <p:nvPr/>
        </p:nvSpPr>
        <p:spPr>
          <a:xfrm>
            <a:off x="3108960" y="3346704"/>
            <a:ext cx="5029200" cy="512064"/>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The transition model: the state after taking action a in state s.</a:t>
            </a:r>
            <a:endParaRPr lang="en-US" sz="1450" dirty="0"/>
          </a:p>
        </p:txBody>
      </p:sp>
      <p:sp>
        <p:nvSpPr>
          <p:cNvPr id="16" name="Shape 14"/>
          <p:cNvSpPr/>
          <p:nvPr/>
        </p:nvSpPr>
        <p:spPr>
          <a:xfrm>
            <a:off x="640080" y="4005072"/>
            <a:ext cx="2286000" cy="512064"/>
          </a:xfrm>
          <a:prstGeom prst="roundRect">
            <a:avLst>
              <a:gd name="adj" fmla="val 8929"/>
            </a:avLst>
          </a:prstGeom>
          <a:solidFill>
            <a:srgbClr val="14213D"/>
          </a:solidFill>
          <a:ln w="12700">
            <a:solidFill>
              <a:srgbClr val="14213D"/>
            </a:solidFill>
            <a:prstDash val="solid"/>
          </a:ln>
        </p:spPr>
      </p:sp>
      <p:sp>
        <p:nvSpPr>
          <p:cNvPr id="17" name="Text 15"/>
          <p:cNvSpPr/>
          <p:nvPr/>
        </p:nvSpPr>
        <p:spPr>
          <a:xfrm>
            <a:off x="640080" y="4005072"/>
            <a:ext cx="2286000" cy="512064"/>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IS-TERMINAL(s)</a:t>
            </a:r>
            <a:endParaRPr lang="en-US" sz="1350" dirty="0"/>
          </a:p>
        </p:txBody>
      </p:sp>
      <p:sp>
        <p:nvSpPr>
          <p:cNvPr id="18" name="Text 16"/>
          <p:cNvSpPr/>
          <p:nvPr/>
        </p:nvSpPr>
        <p:spPr>
          <a:xfrm>
            <a:off x="3108960" y="4005072"/>
            <a:ext cx="5029200" cy="512064"/>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The terminal test - true exactly when the game is over.</a:t>
            </a:r>
            <a:endParaRPr lang="en-US" sz="1450" dirty="0"/>
          </a:p>
        </p:txBody>
      </p:sp>
      <p:sp>
        <p:nvSpPr>
          <p:cNvPr id="19" name="Shape 17"/>
          <p:cNvSpPr/>
          <p:nvPr/>
        </p:nvSpPr>
        <p:spPr>
          <a:xfrm>
            <a:off x="640080" y="4663440"/>
            <a:ext cx="2286000" cy="512064"/>
          </a:xfrm>
          <a:prstGeom prst="roundRect">
            <a:avLst>
              <a:gd name="adj" fmla="val 8929"/>
            </a:avLst>
          </a:prstGeom>
          <a:solidFill>
            <a:srgbClr val="14213D"/>
          </a:solidFill>
          <a:ln w="12700">
            <a:solidFill>
              <a:srgbClr val="14213D"/>
            </a:solidFill>
            <a:prstDash val="solid"/>
          </a:ln>
        </p:spPr>
      </p:sp>
      <p:sp>
        <p:nvSpPr>
          <p:cNvPr id="20" name="Text 18"/>
          <p:cNvSpPr/>
          <p:nvPr/>
        </p:nvSpPr>
        <p:spPr>
          <a:xfrm>
            <a:off x="640080" y="4663440"/>
            <a:ext cx="2286000" cy="512064"/>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UTILITY(s, p)</a:t>
            </a:r>
            <a:endParaRPr lang="en-US" sz="1350" dirty="0"/>
          </a:p>
        </p:txBody>
      </p:sp>
      <p:sp>
        <p:nvSpPr>
          <p:cNvPr id="21" name="Text 19"/>
          <p:cNvSpPr/>
          <p:nvPr/>
        </p:nvSpPr>
        <p:spPr>
          <a:xfrm>
            <a:off x="3108960" y="4663440"/>
            <a:ext cx="5029200" cy="512064"/>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The final numeric payoff to player p when the game ends in terminal state s.</a:t>
            </a:r>
            <a:endParaRPr lang="en-US" sz="1450" dirty="0"/>
          </a:p>
        </p:txBody>
      </p:sp>
      <p:sp>
        <p:nvSpPr>
          <p:cNvPr id="22" name="Shape 20"/>
          <p:cNvSpPr/>
          <p:nvPr/>
        </p:nvSpPr>
        <p:spPr>
          <a:xfrm>
            <a:off x="8458200" y="1371600"/>
            <a:ext cx="3063240" cy="1920240"/>
          </a:xfrm>
          <a:prstGeom prst="roundRect">
            <a:avLst>
              <a:gd name="adj" fmla="val 3810"/>
            </a:avLst>
          </a:prstGeom>
          <a:solidFill>
            <a:srgbClr val="DCE6FA"/>
          </a:solidFill>
          <a:ln w="12700">
            <a:solidFill>
              <a:srgbClr val="1F5AC4"/>
            </a:solidFill>
            <a:prstDash val="solid"/>
          </a:ln>
        </p:spPr>
      </p:sp>
      <p:sp>
        <p:nvSpPr>
          <p:cNvPr id="23" name="Text 21"/>
          <p:cNvSpPr/>
          <p:nvPr/>
        </p:nvSpPr>
        <p:spPr>
          <a:xfrm>
            <a:off x="8659368" y="1517904"/>
            <a:ext cx="2660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Vocabulary</a:t>
            </a:r>
            <a:endParaRPr lang="en-US" sz="1500" dirty="0"/>
          </a:p>
        </p:txBody>
      </p:sp>
      <p:sp>
        <p:nvSpPr>
          <p:cNvPr id="24" name="Text 22"/>
          <p:cNvSpPr/>
          <p:nvPr/>
        </p:nvSpPr>
        <p:spPr>
          <a:xfrm>
            <a:off x="8659368" y="1865376"/>
            <a:ext cx="2660904" cy="126187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move = action.  position = state.</a:t>
            </a:r>
            <a:endParaRPr lang="en-US" sz="1300" dirty="0"/>
          </a:p>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ply = one move by one player, one level deeper in the tree. A chess 'move' is two ply.</a:t>
            </a:r>
            <a:endParaRPr lang="en-US" sz="1300" dirty="0"/>
          </a:p>
        </p:txBody>
      </p:sp>
      <p:sp>
        <p:nvSpPr>
          <p:cNvPr id="25" name="Shape 23"/>
          <p:cNvSpPr/>
          <p:nvPr/>
        </p:nvSpPr>
        <p:spPr>
          <a:xfrm>
            <a:off x="8458200" y="3474720"/>
            <a:ext cx="3063240" cy="1463040"/>
          </a:xfrm>
          <a:prstGeom prst="roundRect">
            <a:avLst>
              <a:gd name="adj" fmla="val 5000"/>
            </a:avLst>
          </a:prstGeom>
          <a:solidFill>
            <a:srgbClr val="EFF3F9"/>
          </a:solidFill>
          <a:ln w="12700">
            <a:solidFill>
              <a:srgbClr val="EFF3F9"/>
            </a:solidFill>
            <a:prstDash val="solid"/>
          </a:ln>
        </p:spPr>
      </p:sp>
      <p:sp>
        <p:nvSpPr>
          <p:cNvPr id="26" name="Text 24"/>
          <p:cNvSpPr/>
          <p:nvPr/>
        </p:nvSpPr>
        <p:spPr>
          <a:xfrm>
            <a:off x="8659368" y="3621024"/>
            <a:ext cx="2660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Chess utilities</a:t>
            </a:r>
            <a:endParaRPr lang="en-US" sz="1500" dirty="0"/>
          </a:p>
        </p:txBody>
      </p:sp>
      <p:sp>
        <p:nvSpPr>
          <p:cNvPr id="27" name="Text 25"/>
          <p:cNvSpPr/>
          <p:nvPr/>
        </p:nvSpPr>
        <p:spPr>
          <a:xfrm>
            <a:off x="8659368" y="3968496"/>
            <a:ext cx="2660904" cy="80467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Win 1, loss 0, draw 1/2. Backgammon payoffs run from 0 to 192, so utilities are not always in a tidy range.</a:t>
            </a:r>
            <a:endParaRPr lang="en-US" sz="1300" dirty="0"/>
          </a:p>
        </p:txBody>
      </p:sp>
      <p:sp>
        <p:nvSpPr>
          <p:cNvPr id="28" name="Shape 26"/>
          <p:cNvSpPr/>
          <p:nvPr/>
        </p:nvSpPr>
        <p:spPr>
          <a:xfrm>
            <a:off x="8458200" y="5120640"/>
            <a:ext cx="3063240" cy="960120"/>
          </a:xfrm>
          <a:prstGeom prst="roundRect">
            <a:avLst>
              <a:gd name="adj" fmla="val 7619"/>
            </a:avLst>
          </a:prstGeom>
          <a:solidFill>
            <a:srgbClr val="FBEFD8"/>
          </a:solidFill>
          <a:ln w="12700">
            <a:solidFill>
              <a:srgbClr val="D98C1F"/>
            </a:solidFill>
            <a:prstDash val="solid"/>
          </a:ln>
        </p:spPr>
      </p:sp>
      <p:sp>
        <p:nvSpPr>
          <p:cNvPr id="29" name="Text 27"/>
          <p:cNvSpPr/>
          <p:nvPr/>
        </p:nvSpPr>
        <p:spPr>
          <a:xfrm>
            <a:off x="8659368" y="5266944"/>
            <a:ext cx="2660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Solution</a:t>
            </a:r>
            <a:endParaRPr lang="en-US" sz="1500" dirty="0"/>
          </a:p>
        </p:txBody>
      </p:sp>
      <p:sp>
        <p:nvSpPr>
          <p:cNvPr id="30" name="Text 28"/>
          <p:cNvSpPr/>
          <p:nvPr/>
        </p:nvSpPr>
        <p:spPr>
          <a:xfrm>
            <a:off x="8659368" y="5614416"/>
            <a:ext cx="2660904" cy="301752"/>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A policy, S -&gt; A.</a:t>
            </a:r>
            <a:endParaRPr lang="en-US" sz="1300" dirty="0"/>
          </a:p>
        </p:txBody>
      </p:sp>
      <p:sp>
        <p:nvSpPr>
          <p:cNvPr id="31" name="Text 29"/>
          <p:cNvSpPr/>
          <p:nvPr/>
        </p:nvSpPr>
        <p:spPr>
          <a:xfrm>
            <a:off x="566928" y="6327648"/>
            <a:ext cx="10058400" cy="274320"/>
          </a:xfrm>
          <a:prstGeom prst="rect">
            <a:avLst/>
          </a:prstGeom>
          <a:noFill/>
          <a:ln/>
        </p:spPr>
        <p:txBody>
          <a:bodyPr wrap="square" lIns="0" tIns="0" rIns="0" bIns="0" rtlCol="0" anchor="ctr"/>
          <a:lstStyle/>
          <a:p>
            <a:pPr indent="0" marL="0">
              <a:buNone/>
            </a:pPr>
            <a:r>
              <a:rPr lang="en-US" sz="1000" i="1" dirty="0">
                <a:solidFill>
                  <a:srgbClr val="55607A"/>
                </a:solidFill>
                <a:latin typeface="Calibri" pitchFamily="34" charset="0"/>
                <a:ea typeface="Calibri" pitchFamily="34" charset="-122"/>
                <a:cs typeface="Calibri" pitchFamily="34" charset="-120"/>
              </a:rPr>
              <a:t>S0, ACTIONS and RESULT together define the state-space graph; the game tree is a search tree laid over it.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WHY GAMES ARE DIFFERENT</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Solution Is a Strategy, Not a Path</a:t>
            </a:r>
            <a:endParaRPr lang="en-US" sz="2900" dirty="0"/>
          </a:p>
        </p:txBody>
      </p:sp>
      <p:sp>
        <p:nvSpPr>
          <p:cNvPr id="4" name="Shape 2"/>
          <p:cNvSpPr/>
          <p:nvPr/>
        </p:nvSpPr>
        <p:spPr>
          <a:xfrm>
            <a:off x="640080" y="1417320"/>
            <a:ext cx="5120640" cy="2286000"/>
          </a:xfrm>
          <a:prstGeom prst="roundRect">
            <a:avLst>
              <a:gd name="adj" fmla="val 3200"/>
            </a:avLst>
          </a:prstGeom>
          <a:solidFill>
            <a:srgbClr val="EFF3F9"/>
          </a:solidFill>
          <a:ln w="12700">
            <a:solidFill>
              <a:srgbClr val="EFF3F9"/>
            </a:solidFill>
            <a:prstDash val="solid"/>
          </a:ln>
        </p:spPr>
      </p:sp>
      <p:sp>
        <p:nvSpPr>
          <p:cNvPr id="5" name="Text 3"/>
          <p:cNvSpPr/>
          <p:nvPr/>
        </p:nvSpPr>
        <p:spPr>
          <a:xfrm>
            <a:off x="841248" y="1563624"/>
            <a:ext cx="47183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Chapter 3: a plan</a:t>
            </a:r>
            <a:endParaRPr lang="en-US" sz="1500" dirty="0"/>
          </a:p>
        </p:txBody>
      </p:sp>
      <p:sp>
        <p:nvSpPr>
          <p:cNvPr id="6" name="Text 4"/>
          <p:cNvSpPr/>
          <p:nvPr/>
        </p:nvSpPr>
        <p:spPr>
          <a:xfrm>
            <a:off x="841248" y="1911096"/>
            <a:ext cx="4718304" cy="162763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A fixed sequence of actions a1, a2, a3, ... Nothing intervenes between our actions, so a sequence is enough. Execute and arrive.</a:t>
            </a:r>
            <a:endParaRPr lang="en-US" sz="1300" dirty="0"/>
          </a:p>
        </p:txBody>
      </p:sp>
      <p:sp>
        <p:nvSpPr>
          <p:cNvPr id="7" name="Shape 5"/>
          <p:cNvSpPr/>
          <p:nvPr/>
        </p:nvSpPr>
        <p:spPr>
          <a:xfrm>
            <a:off x="6355080" y="1417320"/>
            <a:ext cx="5166360" cy="2286000"/>
          </a:xfrm>
          <a:prstGeom prst="roundRect">
            <a:avLst>
              <a:gd name="adj" fmla="val 3200"/>
            </a:avLst>
          </a:prstGeom>
          <a:solidFill>
            <a:srgbClr val="DCE6FA"/>
          </a:solidFill>
          <a:ln w="12700">
            <a:solidFill>
              <a:srgbClr val="1F5AC4"/>
            </a:solidFill>
            <a:prstDash val="solid"/>
          </a:ln>
        </p:spPr>
      </p:sp>
      <p:sp>
        <p:nvSpPr>
          <p:cNvPr id="8" name="Text 6"/>
          <p:cNvSpPr/>
          <p:nvPr/>
        </p:nvSpPr>
        <p:spPr>
          <a:xfrm>
            <a:off x="6556248" y="1563624"/>
            <a:ext cx="476402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Chapter 5: a policy</a:t>
            </a:r>
            <a:endParaRPr lang="en-US" sz="1500" dirty="0"/>
          </a:p>
        </p:txBody>
      </p:sp>
      <p:sp>
        <p:nvSpPr>
          <p:cNvPr id="9" name="Text 7"/>
          <p:cNvSpPr/>
          <p:nvPr/>
        </p:nvSpPr>
        <p:spPr>
          <a:xfrm>
            <a:off x="6556248" y="1911096"/>
            <a:ext cx="4764024" cy="162763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A contingent strategy that specifies a response to every move the opponent could make. Formally a mapping from states to actions.</a:t>
            </a:r>
            <a:endParaRPr lang="en-US" sz="1300" dirty="0"/>
          </a:p>
        </p:txBody>
      </p:sp>
      <p:sp>
        <p:nvSpPr>
          <p:cNvPr id="10" name="Shape 8"/>
          <p:cNvSpPr/>
          <p:nvPr/>
        </p:nvSpPr>
        <p:spPr>
          <a:xfrm>
            <a:off x="640080" y="3886200"/>
            <a:ext cx="10881360" cy="822960"/>
          </a:xfrm>
          <a:prstGeom prst="roundRect">
            <a:avLst>
              <a:gd name="adj" fmla="val 6667"/>
            </a:avLst>
          </a:prstGeom>
          <a:solidFill>
            <a:srgbClr val="14213D"/>
          </a:solidFill>
          <a:ln w="12700">
            <a:solidFill>
              <a:srgbClr val="14213D"/>
            </a:solidFill>
            <a:prstDash val="solid"/>
          </a:ln>
        </p:spPr>
      </p:sp>
      <p:sp>
        <p:nvSpPr>
          <p:cNvPr id="11" name="Text 9"/>
          <p:cNvSpPr/>
          <p:nvPr/>
        </p:nvSpPr>
        <p:spPr>
          <a:xfrm>
            <a:off x="822960" y="3977640"/>
            <a:ext cx="10515600" cy="640080"/>
          </a:xfrm>
          <a:prstGeom prst="rect">
            <a:avLst/>
          </a:prstGeom>
          <a:noFill/>
          <a:ln/>
        </p:spPr>
        <p:txBody>
          <a:bodyPr wrap="square" lIns="0" tIns="0" rIns="0" bIns="0" rtlCol="0" anchor="ctr"/>
          <a:lstStyle/>
          <a:p>
            <a:pPr algn="ct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policy:  pi(s) = the action to take in state s        (S  -&gt;  A)</a:t>
            </a:r>
            <a:endParaRPr lang="en-US" sz="1700" dirty="0"/>
          </a:p>
        </p:txBody>
      </p:sp>
      <p:sp>
        <p:nvSpPr>
          <p:cNvPr id="12" name="Text 10"/>
          <p:cNvSpPr/>
          <p:nvPr/>
        </p:nvSpPr>
        <p:spPr>
          <a:xfrm>
            <a:off x="640080" y="4892040"/>
            <a:ext cx="10881360" cy="4572000"/>
          </a:xfrm>
          <a:prstGeom prst="rect">
            <a:avLst/>
          </a:prstGeom>
          <a:noFill/>
          <a:ln/>
        </p:spPr>
        <p:txBody>
          <a:bodyPr wrap="square" lIns="0" tIns="0" rIns="0" bIns="0" rtlCol="0" anchor="t"/>
          <a:lstStyle/>
          <a:p>
            <a:pPr marL="203200" indent="-203200">
              <a:spcAft>
                <a:spcPts val="700"/>
              </a:spcAft>
              <a:buSzPct val="100000"/>
              <a:buChar char="•"/>
            </a:pPr>
            <a:r>
              <a:rPr lang="en-US" sz="1450" dirty="0">
                <a:solidFill>
                  <a:srgbClr val="1A1A1A"/>
                </a:solidFill>
                <a:latin typeface="Calibri" pitchFamily="34" charset="0"/>
                <a:ea typeface="Calibri" pitchFamily="34" charset="-122"/>
                <a:cs typeface="Calibri" pitchFamily="34" charset="-120"/>
              </a:rPr>
              <a:t>For games with a binary outcome, a winning strategy is exactly a solution to a nondeterministic planning problem: the good outcome must be guaranteed no matter what the other side does (AND-OR search, Section 4.3).</a:t>
            </a:r>
            <a:endParaRPr lang="en-US" sz="1450" dirty="0"/>
          </a:p>
          <a:p>
            <a:pPr marL="203200" indent="-203200">
              <a:spcAft>
                <a:spcPts val="700"/>
              </a:spcAft>
              <a:buSzPct val="100000"/>
              <a:buChar char="•"/>
            </a:pPr>
            <a:r>
              <a:rPr lang="en-US" sz="1450" dirty="0">
                <a:solidFill>
                  <a:srgbClr val="1A1A1A"/>
                </a:solidFill>
                <a:latin typeface="Calibri" pitchFamily="34" charset="0"/>
                <a:ea typeface="Calibri" pitchFamily="34" charset="-122"/>
                <a:cs typeface="Calibri" pitchFamily="34" charset="-120"/>
              </a:rPr>
              <a:t>For games with a range of scores we need the more general minimax search.</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5.1.1</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Zero-Sum Games and Why They Are Convenient</a:t>
            </a:r>
            <a:endParaRPr lang="en-US" sz="2900" dirty="0"/>
          </a:p>
        </p:txBody>
      </p:sp>
      <p:sp>
        <p:nvSpPr>
          <p:cNvPr id="4" name="Shape 2"/>
          <p:cNvSpPr/>
          <p:nvPr/>
        </p:nvSpPr>
        <p:spPr>
          <a:xfrm>
            <a:off x="640080" y="1417320"/>
            <a:ext cx="5120640" cy="2834640"/>
          </a:xfrm>
          <a:prstGeom prst="roundRect">
            <a:avLst>
              <a:gd name="adj" fmla="val 2581"/>
            </a:avLst>
          </a:prstGeom>
          <a:solidFill>
            <a:srgbClr val="DCE6FA"/>
          </a:solidFill>
          <a:ln w="12700">
            <a:solidFill>
              <a:srgbClr val="1F5AC4"/>
            </a:solidFill>
            <a:prstDash val="solid"/>
          </a:ln>
        </p:spPr>
      </p:sp>
      <p:sp>
        <p:nvSpPr>
          <p:cNvPr id="5" name="Text 3"/>
          <p:cNvSpPr/>
          <p:nvPr/>
        </p:nvSpPr>
        <p:spPr>
          <a:xfrm>
            <a:off x="841248" y="1563624"/>
            <a:ext cx="47183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Zero-sum games</a:t>
            </a:r>
            <a:endParaRPr lang="en-US" sz="1500" dirty="0"/>
          </a:p>
        </p:txBody>
      </p:sp>
      <p:sp>
        <p:nvSpPr>
          <p:cNvPr id="6" name="Text 4"/>
          <p:cNvSpPr/>
          <p:nvPr/>
        </p:nvSpPr>
        <p:spPr>
          <a:xfrm>
            <a:off x="841248" y="1911096"/>
            <a:ext cx="4718304" cy="217627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Agents have exactly opposite utilities. What is good for one is just as bad for the other; there is no win-win outcome.</a:t>
            </a:r>
            <a:endParaRPr lang="en-US" sz="1300" dirty="0"/>
          </a:p>
          <a:p>
            <a:pPr indent="0" marL="0">
              <a:lnSpc>
                <a:spcPct val="108000"/>
              </a:lnSpc>
              <a:buNone/>
            </a:pPr>
            <a:endParaRPr lang="en-US" sz="1300" dirty="0"/>
          </a:p>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Consequence: one number per terminal state is enough. MAX maximizes it and MIN minimizes the very same number.</a:t>
            </a:r>
            <a:endParaRPr lang="en-US" sz="1300" dirty="0"/>
          </a:p>
          <a:p>
            <a:pPr indent="0" marL="0">
              <a:lnSpc>
                <a:spcPct val="108000"/>
              </a:lnSpc>
              <a:buNone/>
            </a:pPr>
            <a:endParaRPr lang="en-US" sz="1300" dirty="0"/>
          </a:p>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Pure competition. Chess, Go, checkers, tic-tac-toe.</a:t>
            </a:r>
            <a:endParaRPr lang="en-US" sz="1300" dirty="0"/>
          </a:p>
        </p:txBody>
      </p:sp>
      <p:sp>
        <p:nvSpPr>
          <p:cNvPr id="7" name="Shape 5"/>
          <p:cNvSpPr/>
          <p:nvPr/>
        </p:nvSpPr>
        <p:spPr>
          <a:xfrm>
            <a:off x="6355080" y="1417320"/>
            <a:ext cx="5166360" cy="2834640"/>
          </a:xfrm>
          <a:prstGeom prst="roundRect">
            <a:avLst>
              <a:gd name="adj" fmla="val 2581"/>
            </a:avLst>
          </a:prstGeom>
          <a:solidFill>
            <a:srgbClr val="EFF3F9"/>
          </a:solidFill>
          <a:ln w="12700">
            <a:solidFill>
              <a:srgbClr val="EFF3F9"/>
            </a:solidFill>
            <a:prstDash val="solid"/>
          </a:ln>
        </p:spPr>
      </p:sp>
      <p:sp>
        <p:nvSpPr>
          <p:cNvPr id="8" name="Text 6"/>
          <p:cNvSpPr/>
          <p:nvPr/>
        </p:nvSpPr>
        <p:spPr>
          <a:xfrm>
            <a:off x="6556248" y="1563624"/>
            <a:ext cx="476402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General games</a:t>
            </a:r>
            <a:endParaRPr lang="en-US" sz="1500" dirty="0"/>
          </a:p>
        </p:txBody>
      </p:sp>
      <p:sp>
        <p:nvSpPr>
          <p:cNvPr id="9" name="Text 7"/>
          <p:cNvSpPr/>
          <p:nvPr/>
        </p:nvSpPr>
        <p:spPr>
          <a:xfrm>
            <a:off x="6556248" y="1911096"/>
            <a:ext cx="4764024" cy="217627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Agents have independent utilities, so each terminal state carries a vector of values, one per player.</a:t>
            </a:r>
            <a:endParaRPr lang="en-US" sz="1300" dirty="0"/>
          </a:p>
          <a:p>
            <a:pPr indent="0" marL="0">
              <a:lnSpc>
                <a:spcPct val="108000"/>
              </a:lnSpc>
              <a:buNone/>
            </a:pPr>
            <a:endParaRPr lang="en-US" sz="1300" dirty="0"/>
          </a:p>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Cooperation, indifference, and competition are all possible outcomes of rational play.</a:t>
            </a:r>
            <a:endParaRPr lang="en-US" sz="1300" dirty="0"/>
          </a:p>
          <a:p>
            <a:pPr indent="0" marL="0">
              <a:lnSpc>
                <a:spcPct val="108000"/>
              </a:lnSpc>
              <a:buNone/>
            </a:pPr>
            <a:endParaRPr lang="en-US" sz="1300" dirty="0"/>
          </a:p>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We return to these in the multiplayer discussion and again in Chapter 18.</a:t>
            </a:r>
            <a:endParaRPr lang="en-US" sz="1300" dirty="0"/>
          </a:p>
        </p:txBody>
      </p:sp>
      <p:sp>
        <p:nvSpPr>
          <p:cNvPr id="10" name="Shape 8"/>
          <p:cNvSpPr/>
          <p:nvPr/>
        </p:nvSpPr>
        <p:spPr>
          <a:xfrm>
            <a:off x="640080" y="4480560"/>
            <a:ext cx="10881360" cy="914400"/>
          </a:xfrm>
          <a:prstGeom prst="roundRect">
            <a:avLst>
              <a:gd name="adj" fmla="val 6000"/>
            </a:avLst>
          </a:prstGeom>
          <a:solidFill>
            <a:srgbClr val="DCE6FA"/>
          </a:solidFill>
          <a:ln w="12700">
            <a:solidFill>
              <a:srgbClr val="DCE6FA"/>
            </a:solidFill>
            <a:prstDash val="solid"/>
          </a:ln>
        </p:spPr>
      </p:sp>
      <p:sp>
        <p:nvSpPr>
          <p:cNvPr id="11" name="Text 9"/>
          <p:cNvSpPr/>
          <p:nvPr/>
        </p:nvSpPr>
        <p:spPr>
          <a:xfrm>
            <a:off x="822960" y="4572000"/>
            <a:ext cx="10515600" cy="731520"/>
          </a:xfrm>
          <a:prstGeom prst="rect">
            <a:avLst/>
          </a:prstGeom>
          <a:noFill/>
          <a:ln/>
        </p:spPr>
        <p:txBody>
          <a:bodyPr wrap="square" lIns="0" tIns="0" rIns="0" bIns="0" rtlCol="0" anchor="ctr"/>
          <a:lstStyle/>
          <a:p>
            <a:pPr algn="ctr" indent="0" marL="0">
              <a:lnSpc>
                <a:spcPct val="115000"/>
              </a:lnSpc>
              <a:buNone/>
            </a:pPr>
            <a:r>
              <a:rPr lang="en-US" sz="1550" dirty="0">
                <a:solidFill>
                  <a:srgbClr val="14213D"/>
                </a:solidFill>
                <a:latin typeface="Cambria" pitchFamily="34" charset="0"/>
                <a:ea typeface="Cambria" pitchFamily="34" charset="-122"/>
                <a:cs typeface="Cambria" pitchFamily="34" charset="-120"/>
              </a:rPr>
              <a:t>If MAX's utility for an outcome is u, then MIN's utility for that same outcome is -u.</a:t>
            </a:r>
            <a:endParaRPr lang="en-US" sz="1550" dirty="0"/>
          </a:p>
          <a:p>
            <a:pPr algn="ctr" indent="0" marL="0">
              <a:lnSpc>
                <a:spcPct val="115000"/>
              </a:lnSpc>
              <a:buNone/>
            </a:pPr>
            <a:r>
              <a:rPr lang="en-US" sz="1550" dirty="0">
                <a:solidFill>
                  <a:srgbClr val="14213D"/>
                </a:solidFill>
                <a:latin typeface="Cambria" pitchFamily="34" charset="0"/>
                <a:ea typeface="Cambria" pitchFamily="34" charset="-122"/>
                <a:cs typeface="Cambria" pitchFamily="34" charset="-120"/>
              </a:rPr>
              <a:t>A rational player must therefore assume the opponent picks the move that is worst for it.</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FIGURE 5.1</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Game Tree: Tic-Tac-Toe</a:t>
            </a:r>
            <a:endParaRPr lang="en-US" sz="2900" dirty="0"/>
          </a:p>
        </p:txBody>
      </p:sp>
      <p:sp>
        <p:nvSpPr>
          <p:cNvPr id="4" name="Shape 2"/>
          <p:cNvSpPr/>
          <p:nvPr/>
        </p:nvSpPr>
        <p:spPr>
          <a:xfrm>
            <a:off x="5650992" y="1581912"/>
            <a:ext cx="402336" cy="310896"/>
          </a:xfrm>
          <a:prstGeom prst="triangle">
            <a:avLst/>
          </a:prstGeom>
          <a:solidFill>
            <a:srgbClr val="DCE6FA"/>
          </a:solidFill>
          <a:ln w="19050">
            <a:solidFill>
              <a:srgbClr val="1F5AC4"/>
            </a:solidFill>
            <a:prstDash val="solid"/>
          </a:ln>
        </p:spPr>
      </p:sp>
      <p:sp>
        <p:nvSpPr>
          <p:cNvPr id="5" name="Text 3"/>
          <p:cNvSpPr/>
          <p:nvPr/>
        </p:nvSpPr>
        <p:spPr>
          <a:xfrm>
            <a:off x="6400800" y="1609344"/>
            <a:ext cx="4023360" cy="274320"/>
          </a:xfrm>
          <a:prstGeom prst="rect">
            <a:avLst/>
          </a:prstGeom>
          <a:noFill/>
          <a:ln/>
        </p:spPr>
        <p:txBody>
          <a:bodyPr wrap="square" lIns="0" tIns="0" rIns="0" bIns="0" rtlCol="0" anchor="ctr"/>
          <a:lstStyle/>
          <a:p>
            <a:pPr indent="0" marL="0">
              <a:buNone/>
            </a:pPr>
            <a:r>
              <a:rPr lang="en-US" sz="1250" b="1" dirty="0">
                <a:solidFill>
                  <a:srgbClr val="1F5AC4"/>
                </a:solidFill>
                <a:latin typeface="Calibri" pitchFamily="34" charset="0"/>
                <a:ea typeface="Calibri" pitchFamily="34" charset="-122"/>
                <a:cs typeface="Calibri" pitchFamily="34" charset="-120"/>
              </a:rPr>
              <a:t>MAX (X) to move: 9 legal actions</a:t>
            </a:r>
            <a:endParaRPr lang="en-US" sz="1250" dirty="0"/>
          </a:p>
        </p:txBody>
      </p:sp>
      <p:sp>
        <p:nvSpPr>
          <p:cNvPr id="6" name="Shape 4"/>
          <p:cNvSpPr/>
          <p:nvPr/>
        </p:nvSpPr>
        <p:spPr>
          <a:xfrm flipH="1">
            <a:off x="3017520" y="1920240"/>
            <a:ext cx="2834640" cy="685800"/>
          </a:xfrm>
          <a:prstGeom prst="line">
            <a:avLst/>
          </a:prstGeom>
          <a:noFill/>
          <a:ln w="15875">
            <a:solidFill>
              <a:srgbClr val="55607A"/>
            </a:solidFill>
            <a:prstDash val="solid"/>
          </a:ln>
        </p:spPr>
      </p:sp>
      <p:sp>
        <p:nvSpPr>
          <p:cNvPr id="7" name="Shape 5"/>
          <p:cNvSpPr/>
          <p:nvPr/>
        </p:nvSpPr>
        <p:spPr>
          <a:xfrm rot="10800000">
            <a:off x="2816352" y="2587752"/>
            <a:ext cx="402336" cy="310896"/>
          </a:xfrm>
          <a:prstGeom prst="triangle">
            <a:avLst/>
          </a:prstGeom>
          <a:solidFill>
            <a:srgbClr val="F7DEDF"/>
          </a:solidFill>
          <a:ln w="19050">
            <a:solidFill>
              <a:srgbClr val="C1272D"/>
            </a:solidFill>
            <a:prstDash val="solid"/>
          </a:ln>
        </p:spPr>
      </p:sp>
      <p:sp>
        <p:nvSpPr>
          <p:cNvPr id="8" name="Shape 6"/>
          <p:cNvSpPr/>
          <p:nvPr/>
        </p:nvSpPr>
        <p:spPr>
          <a:xfrm flipH="1">
            <a:off x="4434840" y="1920240"/>
            <a:ext cx="1417320" cy="685800"/>
          </a:xfrm>
          <a:prstGeom prst="line">
            <a:avLst/>
          </a:prstGeom>
          <a:noFill/>
          <a:ln w="15875">
            <a:solidFill>
              <a:srgbClr val="55607A"/>
            </a:solidFill>
            <a:prstDash val="solid"/>
          </a:ln>
        </p:spPr>
      </p:sp>
      <p:sp>
        <p:nvSpPr>
          <p:cNvPr id="9" name="Shape 7"/>
          <p:cNvSpPr/>
          <p:nvPr/>
        </p:nvSpPr>
        <p:spPr>
          <a:xfrm rot="10800000">
            <a:off x="4233672" y="2587752"/>
            <a:ext cx="402336" cy="310896"/>
          </a:xfrm>
          <a:prstGeom prst="triangle">
            <a:avLst/>
          </a:prstGeom>
          <a:solidFill>
            <a:srgbClr val="F7DEDF"/>
          </a:solidFill>
          <a:ln w="19050">
            <a:solidFill>
              <a:srgbClr val="C1272D"/>
            </a:solidFill>
            <a:prstDash val="solid"/>
          </a:ln>
        </p:spPr>
      </p:sp>
      <p:sp>
        <p:nvSpPr>
          <p:cNvPr id="10" name="Shape 8"/>
          <p:cNvSpPr/>
          <p:nvPr/>
        </p:nvSpPr>
        <p:spPr>
          <a:xfrm>
            <a:off x="5852160" y="1920240"/>
            <a:ext cx="4572" cy="685800"/>
          </a:xfrm>
          <a:prstGeom prst="line">
            <a:avLst/>
          </a:prstGeom>
          <a:noFill/>
          <a:ln w="15875">
            <a:solidFill>
              <a:srgbClr val="55607A"/>
            </a:solidFill>
            <a:prstDash val="solid"/>
          </a:ln>
        </p:spPr>
      </p:sp>
      <p:sp>
        <p:nvSpPr>
          <p:cNvPr id="11" name="Shape 9"/>
          <p:cNvSpPr/>
          <p:nvPr/>
        </p:nvSpPr>
        <p:spPr>
          <a:xfrm rot="10800000">
            <a:off x="5650992" y="2587752"/>
            <a:ext cx="402336" cy="310896"/>
          </a:xfrm>
          <a:prstGeom prst="triangle">
            <a:avLst/>
          </a:prstGeom>
          <a:solidFill>
            <a:srgbClr val="F7DEDF"/>
          </a:solidFill>
          <a:ln w="19050">
            <a:solidFill>
              <a:srgbClr val="C1272D"/>
            </a:solidFill>
            <a:prstDash val="solid"/>
          </a:ln>
        </p:spPr>
      </p:sp>
      <p:sp>
        <p:nvSpPr>
          <p:cNvPr id="12" name="Shape 10"/>
          <p:cNvSpPr/>
          <p:nvPr/>
        </p:nvSpPr>
        <p:spPr>
          <a:xfrm>
            <a:off x="5852160" y="1920240"/>
            <a:ext cx="1417320" cy="685800"/>
          </a:xfrm>
          <a:prstGeom prst="line">
            <a:avLst/>
          </a:prstGeom>
          <a:noFill/>
          <a:ln w="15875">
            <a:solidFill>
              <a:srgbClr val="55607A"/>
            </a:solidFill>
            <a:prstDash val="solid"/>
          </a:ln>
        </p:spPr>
      </p:sp>
      <p:sp>
        <p:nvSpPr>
          <p:cNvPr id="13" name="Shape 11"/>
          <p:cNvSpPr/>
          <p:nvPr/>
        </p:nvSpPr>
        <p:spPr>
          <a:xfrm rot="10800000">
            <a:off x="7068312" y="2587752"/>
            <a:ext cx="402336" cy="310896"/>
          </a:xfrm>
          <a:prstGeom prst="triangle">
            <a:avLst/>
          </a:prstGeom>
          <a:solidFill>
            <a:srgbClr val="F7DEDF"/>
          </a:solidFill>
          <a:ln w="19050">
            <a:solidFill>
              <a:srgbClr val="C1272D"/>
            </a:solidFill>
            <a:prstDash val="solid"/>
          </a:ln>
        </p:spPr>
      </p:sp>
      <p:sp>
        <p:nvSpPr>
          <p:cNvPr id="14" name="Shape 12"/>
          <p:cNvSpPr/>
          <p:nvPr/>
        </p:nvSpPr>
        <p:spPr>
          <a:xfrm>
            <a:off x="5852160" y="1920240"/>
            <a:ext cx="2834640" cy="685800"/>
          </a:xfrm>
          <a:prstGeom prst="line">
            <a:avLst/>
          </a:prstGeom>
          <a:noFill/>
          <a:ln w="15875">
            <a:solidFill>
              <a:srgbClr val="55607A"/>
            </a:solidFill>
            <a:prstDash val="solid"/>
          </a:ln>
        </p:spPr>
      </p:sp>
      <p:sp>
        <p:nvSpPr>
          <p:cNvPr id="15" name="Shape 13"/>
          <p:cNvSpPr/>
          <p:nvPr/>
        </p:nvSpPr>
        <p:spPr>
          <a:xfrm rot="10800000">
            <a:off x="8485632" y="2587752"/>
            <a:ext cx="402336" cy="310896"/>
          </a:xfrm>
          <a:prstGeom prst="triangle">
            <a:avLst/>
          </a:prstGeom>
          <a:solidFill>
            <a:srgbClr val="F7DEDF"/>
          </a:solidFill>
          <a:ln w="19050">
            <a:solidFill>
              <a:srgbClr val="C1272D"/>
            </a:solidFill>
            <a:prstDash val="solid"/>
          </a:ln>
        </p:spPr>
      </p:sp>
      <p:sp>
        <p:nvSpPr>
          <p:cNvPr id="16" name="Text 14"/>
          <p:cNvSpPr/>
          <p:nvPr/>
        </p:nvSpPr>
        <p:spPr>
          <a:xfrm>
            <a:off x="9235440" y="2615184"/>
            <a:ext cx="2194560" cy="274320"/>
          </a:xfrm>
          <a:prstGeom prst="rect">
            <a:avLst/>
          </a:prstGeom>
          <a:noFill/>
          <a:ln/>
        </p:spPr>
        <p:txBody>
          <a:bodyPr wrap="square" lIns="0" tIns="0" rIns="0" bIns="0" rtlCol="0" anchor="ctr"/>
          <a:lstStyle/>
          <a:p>
            <a:pPr indent="0" marL="0">
              <a:buNone/>
            </a:pPr>
            <a:r>
              <a:rPr lang="en-US" sz="1250" b="1" dirty="0">
                <a:solidFill>
                  <a:srgbClr val="C1272D"/>
                </a:solidFill>
                <a:latin typeface="Calibri" pitchFamily="34" charset="0"/>
                <a:ea typeface="Calibri" pitchFamily="34" charset="-122"/>
                <a:cs typeface="Calibri" pitchFamily="34" charset="-120"/>
              </a:rPr>
              <a:t>MIN (O) replies</a:t>
            </a:r>
            <a:endParaRPr lang="en-US" sz="1250" dirty="0"/>
          </a:p>
        </p:txBody>
      </p:sp>
      <p:sp>
        <p:nvSpPr>
          <p:cNvPr id="17" name="Shape 15"/>
          <p:cNvSpPr/>
          <p:nvPr/>
        </p:nvSpPr>
        <p:spPr>
          <a:xfrm flipH="1">
            <a:off x="2377440" y="2926080"/>
            <a:ext cx="640080" cy="685800"/>
          </a:xfrm>
          <a:prstGeom prst="line">
            <a:avLst/>
          </a:prstGeom>
          <a:noFill/>
          <a:ln w="15875">
            <a:solidFill>
              <a:srgbClr val="55607A"/>
            </a:solidFill>
            <a:prstDash val="solid"/>
          </a:ln>
        </p:spPr>
      </p:sp>
      <p:sp>
        <p:nvSpPr>
          <p:cNvPr id="18" name="Shape 16"/>
          <p:cNvSpPr/>
          <p:nvPr/>
        </p:nvSpPr>
        <p:spPr>
          <a:xfrm>
            <a:off x="2176272" y="3593592"/>
            <a:ext cx="402336" cy="310896"/>
          </a:xfrm>
          <a:prstGeom prst="triangle">
            <a:avLst/>
          </a:prstGeom>
          <a:solidFill>
            <a:srgbClr val="DCE6FA"/>
          </a:solidFill>
          <a:ln w="19050">
            <a:solidFill>
              <a:srgbClr val="1F5AC4"/>
            </a:solidFill>
            <a:prstDash val="solid"/>
          </a:ln>
        </p:spPr>
      </p:sp>
      <p:sp>
        <p:nvSpPr>
          <p:cNvPr id="19" name="Shape 17"/>
          <p:cNvSpPr/>
          <p:nvPr/>
        </p:nvSpPr>
        <p:spPr>
          <a:xfrm>
            <a:off x="3017520" y="2926080"/>
            <a:ext cx="548640" cy="685800"/>
          </a:xfrm>
          <a:prstGeom prst="line">
            <a:avLst/>
          </a:prstGeom>
          <a:noFill/>
          <a:ln w="15875">
            <a:solidFill>
              <a:srgbClr val="55607A"/>
            </a:solidFill>
            <a:prstDash val="solid"/>
          </a:ln>
        </p:spPr>
      </p:sp>
      <p:sp>
        <p:nvSpPr>
          <p:cNvPr id="20" name="Shape 18"/>
          <p:cNvSpPr/>
          <p:nvPr/>
        </p:nvSpPr>
        <p:spPr>
          <a:xfrm>
            <a:off x="3364992" y="3593592"/>
            <a:ext cx="402336" cy="310896"/>
          </a:xfrm>
          <a:prstGeom prst="triangle">
            <a:avLst/>
          </a:prstGeom>
          <a:solidFill>
            <a:srgbClr val="DCE6FA"/>
          </a:solidFill>
          <a:ln w="19050">
            <a:solidFill>
              <a:srgbClr val="1F5AC4"/>
            </a:solidFill>
            <a:prstDash val="solid"/>
          </a:ln>
        </p:spPr>
      </p:sp>
      <p:sp>
        <p:nvSpPr>
          <p:cNvPr id="21" name="Shape 19"/>
          <p:cNvSpPr/>
          <p:nvPr/>
        </p:nvSpPr>
        <p:spPr>
          <a:xfrm>
            <a:off x="4434840" y="2926080"/>
            <a:ext cx="320040" cy="685800"/>
          </a:xfrm>
          <a:prstGeom prst="line">
            <a:avLst/>
          </a:prstGeom>
          <a:noFill/>
          <a:ln w="15875">
            <a:solidFill>
              <a:srgbClr val="55607A"/>
            </a:solidFill>
            <a:prstDash val="solid"/>
          </a:ln>
        </p:spPr>
      </p:sp>
      <p:sp>
        <p:nvSpPr>
          <p:cNvPr id="22" name="Shape 20"/>
          <p:cNvSpPr/>
          <p:nvPr/>
        </p:nvSpPr>
        <p:spPr>
          <a:xfrm>
            <a:off x="4553712" y="3593592"/>
            <a:ext cx="402336" cy="310896"/>
          </a:xfrm>
          <a:prstGeom prst="triangle">
            <a:avLst/>
          </a:prstGeom>
          <a:solidFill>
            <a:srgbClr val="DCE6FA"/>
          </a:solidFill>
          <a:ln w="19050">
            <a:solidFill>
              <a:srgbClr val="1F5AC4"/>
            </a:solidFill>
            <a:prstDash val="solid"/>
          </a:ln>
        </p:spPr>
      </p:sp>
      <p:sp>
        <p:nvSpPr>
          <p:cNvPr id="23" name="Shape 21"/>
          <p:cNvSpPr/>
          <p:nvPr/>
        </p:nvSpPr>
        <p:spPr>
          <a:xfrm>
            <a:off x="5852160" y="2926080"/>
            <a:ext cx="91440" cy="685800"/>
          </a:xfrm>
          <a:prstGeom prst="line">
            <a:avLst/>
          </a:prstGeom>
          <a:noFill/>
          <a:ln w="15875">
            <a:solidFill>
              <a:srgbClr val="55607A"/>
            </a:solidFill>
            <a:prstDash val="solid"/>
          </a:ln>
        </p:spPr>
      </p:sp>
      <p:sp>
        <p:nvSpPr>
          <p:cNvPr id="24" name="Shape 22"/>
          <p:cNvSpPr/>
          <p:nvPr/>
        </p:nvSpPr>
        <p:spPr>
          <a:xfrm>
            <a:off x="5742432" y="3593592"/>
            <a:ext cx="402336" cy="310896"/>
          </a:xfrm>
          <a:prstGeom prst="triangle">
            <a:avLst/>
          </a:prstGeom>
          <a:solidFill>
            <a:srgbClr val="DCE6FA"/>
          </a:solidFill>
          <a:ln w="19050">
            <a:solidFill>
              <a:srgbClr val="1F5AC4"/>
            </a:solidFill>
            <a:prstDash val="solid"/>
          </a:ln>
        </p:spPr>
      </p:sp>
      <p:sp>
        <p:nvSpPr>
          <p:cNvPr id="25" name="Shape 23"/>
          <p:cNvSpPr/>
          <p:nvPr/>
        </p:nvSpPr>
        <p:spPr>
          <a:xfrm flipH="1">
            <a:off x="7132320" y="2926080"/>
            <a:ext cx="137160" cy="685800"/>
          </a:xfrm>
          <a:prstGeom prst="line">
            <a:avLst/>
          </a:prstGeom>
          <a:noFill/>
          <a:ln w="15875">
            <a:solidFill>
              <a:srgbClr val="55607A"/>
            </a:solidFill>
            <a:prstDash val="solid"/>
          </a:ln>
        </p:spPr>
      </p:sp>
      <p:sp>
        <p:nvSpPr>
          <p:cNvPr id="26" name="Shape 24"/>
          <p:cNvSpPr/>
          <p:nvPr/>
        </p:nvSpPr>
        <p:spPr>
          <a:xfrm>
            <a:off x="6931152" y="3593592"/>
            <a:ext cx="402336" cy="310896"/>
          </a:xfrm>
          <a:prstGeom prst="triangle">
            <a:avLst/>
          </a:prstGeom>
          <a:solidFill>
            <a:srgbClr val="DCE6FA"/>
          </a:solidFill>
          <a:ln w="19050">
            <a:solidFill>
              <a:srgbClr val="1F5AC4"/>
            </a:solidFill>
            <a:prstDash val="solid"/>
          </a:ln>
        </p:spPr>
      </p:sp>
      <p:sp>
        <p:nvSpPr>
          <p:cNvPr id="27" name="Shape 25"/>
          <p:cNvSpPr/>
          <p:nvPr/>
        </p:nvSpPr>
        <p:spPr>
          <a:xfrm flipH="1">
            <a:off x="8321040" y="2926080"/>
            <a:ext cx="365760" cy="685800"/>
          </a:xfrm>
          <a:prstGeom prst="line">
            <a:avLst/>
          </a:prstGeom>
          <a:noFill/>
          <a:ln w="15875">
            <a:solidFill>
              <a:srgbClr val="55607A"/>
            </a:solidFill>
            <a:prstDash val="solid"/>
          </a:ln>
        </p:spPr>
      </p:sp>
      <p:sp>
        <p:nvSpPr>
          <p:cNvPr id="28" name="Shape 26"/>
          <p:cNvSpPr/>
          <p:nvPr/>
        </p:nvSpPr>
        <p:spPr>
          <a:xfrm>
            <a:off x="8119872" y="3593592"/>
            <a:ext cx="402336" cy="310896"/>
          </a:xfrm>
          <a:prstGeom prst="triangle">
            <a:avLst/>
          </a:prstGeom>
          <a:solidFill>
            <a:srgbClr val="DCE6FA"/>
          </a:solidFill>
          <a:ln w="19050">
            <a:solidFill>
              <a:srgbClr val="1F5AC4"/>
            </a:solidFill>
            <a:prstDash val="solid"/>
          </a:ln>
        </p:spPr>
      </p:sp>
      <p:sp>
        <p:nvSpPr>
          <p:cNvPr id="29" name="Text 27"/>
          <p:cNvSpPr/>
          <p:nvPr/>
        </p:nvSpPr>
        <p:spPr>
          <a:xfrm>
            <a:off x="9235440" y="3803904"/>
            <a:ext cx="2194560" cy="274320"/>
          </a:xfrm>
          <a:prstGeom prst="rect">
            <a:avLst/>
          </a:prstGeom>
          <a:noFill/>
          <a:ln/>
        </p:spPr>
        <p:txBody>
          <a:bodyPr wrap="square" lIns="0" tIns="0" rIns="0" bIns="0" rtlCol="0" anchor="ctr"/>
          <a:lstStyle/>
          <a:p>
            <a:pPr indent="0" marL="0">
              <a:buNone/>
            </a:pPr>
            <a:r>
              <a:rPr lang="en-US" sz="1200" i="1" dirty="0">
                <a:solidFill>
                  <a:srgbClr val="55607A"/>
                </a:solidFill>
                <a:latin typeface="Calibri" pitchFamily="34" charset="0"/>
                <a:ea typeface="Calibri" pitchFamily="34" charset="-122"/>
                <a:cs typeface="Calibri" pitchFamily="34" charset="-120"/>
              </a:rPr>
              <a:t>alternating ply ...</a:t>
            </a:r>
            <a:endParaRPr lang="en-US" sz="1200" dirty="0"/>
          </a:p>
        </p:txBody>
      </p:sp>
      <p:sp>
        <p:nvSpPr>
          <p:cNvPr id="30" name="Shape 28"/>
          <p:cNvSpPr/>
          <p:nvPr/>
        </p:nvSpPr>
        <p:spPr>
          <a:xfrm>
            <a:off x="2377440" y="3931920"/>
            <a:ext cx="4572" cy="685800"/>
          </a:xfrm>
          <a:prstGeom prst="line">
            <a:avLst/>
          </a:prstGeom>
          <a:noFill/>
          <a:ln w="15875">
            <a:solidFill>
              <a:srgbClr val="55607A"/>
            </a:solidFill>
            <a:prstDash val="dash"/>
          </a:ln>
        </p:spPr>
      </p:sp>
      <p:sp>
        <p:nvSpPr>
          <p:cNvPr id="31" name="Shape 29"/>
          <p:cNvSpPr/>
          <p:nvPr/>
        </p:nvSpPr>
        <p:spPr>
          <a:xfrm>
            <a:off x="2176272" y="4599432"/>
            <a:ext cx="402336" cy="310896"/>
          </a:xfrm>
          <a:prstGeom prst="roundRect">
            <a:avLst>
              <a:gd name="adj" fmla="val 14706"/>
            </a:avLst>
          </a:prstGeom>
          <a:solidFill>
            <a:srgbClr val="DCE3EE"/>
          </a:solidFill>
          <a:ln w="12700">
            <a:solidFill>
              <a:srgbClr val="55607A"/>
            </a:solidFill>
            <a:prstDash val="solid"/>
          </a:ln>
        </p:spPr>
      </p:sp>
      <p:sp>
        <p:nvSpPr>
          <p:cNvPr id="32" name="Text 30"/>
          <p:cNvSpPr/>
          <p:nvPr/>
        </p:nvSpPr>
        <p:spPr>
          <a:xfrm>
            <a:off x="1975104" y="459943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a:t>
            </a:r>
            <a:endParaRPr lang="en-US" sz="1250" dirty="0"/>
          </a:p>
        </p:txBody>
      </p:sp>
      <p:sp>
        <p:nvSpPr>
          <p:cNvPr id="33" name="Shape 31"/>
          <p:cNvSpPr/>
          <p:nvPr/>
        </p:nvSpPr>
        <p:spPr>
          <a:xfrm>
            <a:off x="3566160" y="3931920"/>
            <a:ext cx="274320" cy="685800"/>
          </a:xfrm>
          <a:prstGeom prst="line">
            <a:avLst/>
          </a:prstGeom>
          <a:noFill/>
          <a:ln w="15875">
            <a:solidFill>
              <a:srgbClr val="55607A"/>
            </a:solidFill>
            <a:prstDash val="dash"/>
          </a:ln>
        </p:spPr>
      </p:sp>
      <p:sp>
        <p:nvSpPr>
          <p:cNvPr id="34" name="Shape 32"/>
          <p:cNvSpPr/>
          <p:nvPr/>
        </p:nvSpPr>
        <p:spPr>
          <a:xfrm>
            <a:off x="3639312" y="4599432"/>
            <a:ext cx="402336" cy="310896"/>
          </a:xfrm>
          <a:prstGeom prst="roundRect">
            <a:avLst>
              <a:gd name="adj" fmla="val 14706"/>
            </a:avLst>
          </a:prstGeom>
          <a:solidFill>
            <a:srgbClr val="DCE3EE"/>
          </a:solidFill>
          <a:ln w="12700">
            <a:solidFill>
              <a:srgbClr val="55607A"/>
            </a:solidFill>
            <a:prstDash val="solid"/>
          </a:ln>
        </p:spPr>
      </p:sp>
      <p:sp>
        <p:nvSpPr>
          <p:cNvPr id="35" name="Text 33"/>
          <p:cNvSpPr/>
          <p:nvPr/>
        </p:nvSpPr>
        <p:spPr>
          <a:xfrm>
            <a:off x="3438144" y="459943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0</a:t>
            </a:r>
            <a:endParaRPr lang="en-US" sz="1250" dirty="0"/>
          </a:p>
        </p:txBody>
      </p:sp>
      <p:sp>
        <p:nvSpPr>
          <p:cNvPr id="36" name="Shape 34"/>
          <p:cNvSpPr/>
          <p:nvPr/>
        </p:nvSpPr>
        <p:spPr>
          <a:xfrm>
            <a:off x="4754880" y="3931920"/>
            <a:ext cx="365760" cy="685800"/>
          </a:xfrm>
          <a:prstGeom prst="line">
            <a:avLst/>
          </a:prstGeom>
          <a:noFill/>
          <a:ln w="15875">
            <a:solidFill>
              <a:srgbClr val="55607A"/>
            </a:solidFill>
            <a:prstDash val="dash"/>
          </a:ln>
        </p:spPr>
      </p:sp>
      <p:sp>
        <p:nvSpPr>
          <p:cNvPr id="37" name="Shape 35"/>
          <p:cNvSpPr/>
          <p:nvPr/>
        </p:nvSpPr>
        <p:spPr>
          <a:xfrm>
            <a:off x="4919472" y="4599432"/>
            <a:ext cx="402336" cy="310896"/>
          </a:xfrm>
          <a:prstGeom prst="roundRect">
            <a:avLst>
              <a:gd name="adj" fmla="val 14706"/>
            </a:avLst>
          </a:prstGeom>
          <a:solidFill>
            <a:srgbClr val="DCE3EE"/>
          </a:solidFill>
          <a:ln w="12700">
            <a:solidFill>
              <a:srgbClr val="55607A"/>
            </a:solidFill>
            <a:prstDash val="solid"/>
          </a:ln>
        </p:spPr>
      </p:sp>
      <p:sp>
        <p:nvSpPr>
          <p:cNvPr id="38" name="Text 36"/>
          <p:cNvSpPr/>
          <p:nvPr/>
        </p:nvSpPr>
        <p:spPr>
          <a:xfrm>
            <a:off x="4718304" y="459943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a:t>
            </a:r>
            <a:endParaRPr lang="en-US" sz="1250" dirty="0"/>
          </a:p>
        </p:txBody>
      </p:sp>
      <p:sp>
        <p:nvSpPr>
          <p:cNvPr id="39" name="Shape 37"/>
          <p:cNvSpPr/>
          <p:nvPr/>
        </p:nvSpPr>
        <p:spPr>
          <a:xfrm>
            <a:off x="5943600" y="3931920"/>
            <a:ext cx="365760" cy="685800"/>
          </a:xfrm>
          <a:prstGeom prst="line">
            <a:avLst/>
          </a:prstGeom>
          <a:noFill/>
          <a:ln w="15875">
            <a:solidFill>
              <a:srgbClr val="55607A"/>
            </a:solidFill>
            <a:prstDash val="dash"/>
          </a:ln>
        </p:spPr>
      </p:sp>
      <p:sp>
        <p:nvSpPr>
          <p:cNvPr id="40" name="Shape 38"/>
          <p:cNvSpPr/>
          <p:nvPr/>
        </p:nvSpPr>
        <p:spPr>
          <a:xfrm>
            <a:off x="6108192" y="4599432"/>
            <a:ext cx="402336" cy="310896"/>
          </a:xfrm>
          <a:prstGeom prst="roundRect">
            <a:avLst>
              <a:gd name="adj" fmla="val 14706"/>
            </a:avLst>
          </a:prstGeom>
          <a:solidFill>
            <a:srgbClr val="DCE3EE"/>
          </a:solidFill>
          <a:ln w="12700">
            <a:solidFill>
              <a:srgbClr val="55607A"/>
            </a:solidFill>
            <a:prstDash val="solid"/>
          </a:ln>
        </p:spPr>
      </p:sp>
      <p:sp>
        <p:nvSpPr>
          <p:cNvPr id="41" name="Text 39"/>
          <p:cNvSpPr/>
          <p:nvPr/>
        </p:nvSpPr>
        <p:spPr>
          <a:xfrm>
            <a:off x="5907024" y="459943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0</a:t>
            </a:r>
            <a:endParaRPr lang="en-US" sz="1250" dirty="0"/>
          </a:p>
        </p:txBody>
      </p:sp>
      <p:sp>
        <p:nvSpPr>
          <p:cNvPr id="42" name="Shape 40"/>
          <p:cNvSpPr/>
          <p:nvPr/>
        </p:nvSpPr>
        <p:spPr>
          <a:xfrm>
            <a:off x="7132320" y="3931920"/>
            <a:ext cx="457200" cy="685800"/>
          </a:xfrm>
          <a:prstGeom prst="line">
            <a:avLst/>
          </a:prstGeom>
          <a:noFill/>
          <a:ln w="15875">
            <a:solidFill>
              <a:srgbClr val="55607A"/>
            </a:solidFill>
            <a:prstDash val="dash"/>
          </a:ln>
        </p:spPr>
      </p:sp>
      <p:sp>
        <p:nvSpPr>
          <p:cNvPr id="43" name="Shape 41"/>
          <p:cNvSpPr/>
          <p:nvPr/>
        </p:nvSpPr>
        <p:spPr>
          <a:xfrm>
            <a:off x="7388352" y="4599432"/>
            <a:ext cx="402336" cy="310896"/>
          </a:xfrm>
          <a:prstGeom prst="roundRect">
            <a:avLst>
              <a:gd name="adj" fmla="val 14706"/>
            </a:avLst>
          </a:prstGeom>
          <a:solidFill>
            <a:srgbClr val="DCE3EE"/>
          </a:solidFill>
          <a:ln w="12700">
            <a:solidFill>
              <a:srgbClr val="55607A"/>
            </a:solidFill>
            <a:prstDash val="solid"/>
          </a:ln>
        </p:spPr>
      </p:sp>
      <p:sp>
        <p:nvSpPr>
          <p:cNvPr id="44" name="Text 42"/>
          <p:cNvSpPr/>
          <p:nvPr/>
        </p:nvSpPr>
        <p:spPr>
          <a:xfrm>
            <a:off x="7187184" y="459943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a:t>
            </a:r>
            <a:endParaRPr lang="en-US" sz="1250" dirty="0"/>
          </a:p>
        </p:txBody>
      </p:sp>
      <p:sp>
        <p:nvSpPr>
          <p:cNvPr id="45" name="Shape 43"/>
          <p:cNvSpPr/>
          <p:nvPr/>
        </p:nvSpPr>
        <p:spPr>
          <a:xfrm>
            <a:off x="8321040" y="3931920"/>
            <a:ext cx="457200" cy="685800"/>
          </a:xfrm>
          <a:prstGeom prst="line">
            <a:avLst/>
          </a:prstGeom>
          <a:noFill/>
          <a:ln w="15875">
            <a:solidFill>
              <a:srgbClr val="55607A"/>
            </a:solidFill>
            <a:prstDash val="dash"/>
          </a:ln>
        </p:spPr>
      </p:sp>
      <p:sp>
        <p:nvSpPr>
          <p:cNvPr id="46" name="Shape 44"/>
          <p:cNvSpPr/>
          <p:nvPr/>
        </p:nvSpPr>
        <p:spPr>
          <a:xfrm>
            <a:off x="8577072" y="4599432"/>
            <a:ext cx="402336" cy="310896"/>
          </a:xfrm>
          <a:prstGeom prst="roundRect">
            <a:avLst>
              <a:gd name="adj" fmla="val 14706"/>
            </a:avLst>
          </a:prstGeom>
          <a:solidFill>
            <a:srgbClr val="DCE3EE"/>
          </a:solidFill>
          <a:ln w="12700">
            <a:solidFill>
              <a:srgbClr val="55607A"/>
            </a:solidFill>
            <a:prstDash val="solid"/>
          </a:ln>
        </p:spPr>
      </p:sp>
      <p:sp>
        <p:nvSpPr>
          <p:cNvPr id="47" name="Text 45"/>
          <p:cNvSpPr/>
          <p:nvPr/>
        </p:nvSpPr>
        <p:spPr>
          <a:xfrm>
            <a:off x="8375904" y="459943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a:t>
            </a:r>
            <a:endParaRPr lang="en-US" sz="1250" dirty="0"/>
          </a:p>
        </p:txBody>
      </p:sp>
      <p:sp>
        <p:nvSpPr>
          <p:cNvPr id="48" name="Text 46"/>
          <p:cNvSpPr/>
          <p:nvPr/>
        </p:nvSpPr>
        <p:spPr>
          <a:xfrm>
            <a:off x="566928" y="4572000"/>
            <a:ext cx="1463040" cy="548640"/>
          </a:xfrm>
          <a:prstGeom prst="rect">
            <a:avLst/>
          </a:prstGeom>
          <a:noFill/>
          <a:ln/>
        </p:spPr>
        <p:txBody>
          <a:bodyPr wrap="square" lIns="0" tIns="0" rIns="0" bIns="0" rtlCol="0" anchor="ctr"/>
          <a:lstStyle/>
          <a:p>
            <a:pPr algn="r" indent="0" marL="0">
              <a:buNone/>
            </a:pPr>
            <a:r>
              <a:rPr lang="en-US" sz="1050" dirty="0">
                <a:solidFill>
                  <a:srgbClr val="55607A"/>
                </a:solidFill>
                <a:latin typeface="Calibri" pitchFamily="34" charset="0"/>
                <a:ea typeface="Calibri" pitchFamily="34" charset="-122"/>
                <a:cs typeface="Calibri" pitchFamily="34" charset="-120"/>
              </a:rPr>
              <a:t>TERMINAL</a:t>
            </a:r>
            <a:endParaRPr lang="en-US" sz="1050" dirty="0"/>
          </a:p>
          <a:p>
            <a:pPr algn="r" indent="0" marL="0">
              <a:buNone/>
            </a:pPr>
            <a:r>
              <a:rPr lang="en-US" sz="1050" dirty="0">
                <a:solidFill>
                  <a:srgbClr val="55607A"/>
                </a:solidFill>
                <a:latin typeface="Calibri" pitchFamily="34" charset="0"/>
                <a:ea typeface="Calibri" pitchFamily="34" charset="-122"/>
                <a:cs typeface="Calibri" pitchFamily="34" charset="-120"/>
              </a:rPr>
              <a:t>utility from MAX's point of view</a:t>
            </a:r>
            <a:endParaRPr lang="en-US" sz="1050" dirty="0"/>
          </a:p>
        </p:txBody>
      </p:sp>
      <p:sp>
        <p:nvSpPr>
          <p:cNvPr id="49" name="Text 47"/>
          <p:cNvSpPr/>
          <p:nvPr/>
        </p:nvSpPr>
        <p:spPr>
          <a:xfrm>
            <a:off x="640080" y="5303520"/>
            <a:ext cx="10881360" cy="45720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High values are good for MAX and bad for MIN - which is how the players got their names.</a:t>
            </a:r>
            <a:endParaRPr lang="en-US" sz="1400" dirty="0"/>
          </a:p>
          <a:p>
            <a:pPr marL="203200" indent="-2032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Tic-tac-toe has fewer than 9! = 362,880 terminal nodes and only 5,478 distinct states. Chess has over 10^40 nodes, so its complete game tree is a theoretical object we can never build.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WHY WE CANNOT JUST ENUMERATE</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Scale of the Problem</a:t>
            </a:r>
            <a:endParaRPr lang="en-US" sz="2900" dirty="0"/>
          </a:p>
        </p:txBody>
      </p:sp>
      <p:sp>
        <p:nvSpPr>
          <p:cNvPr id="4" name="Text 2"/>
          <p:cNvSpPr/>
          <p:nvPr/>
        </p:nvSpPr>
        <p:spPr>
          <a:xfrm>
            <a:off x="640080" y="1737360"/>
            <a:ext cx="2514600" cy="658368"/>
          </a:xfrm>
          <a:prstGeom prst="rect">
            <a:avLst/>
          </a:prstGeom>
          <a:noFill/>
          <a:ln/>
        </p:spPr>
        <p:txBody>
          <a:bodyPr wrap="square" lIns="0" tIns="0" rIns="0" bIns="0" rtlCol="0" anchor="ctr"/>
          <a:lstStyle/>
          <a:p>
            <a:pPr algn="ctr" indent="0" marL="0">
              <a:buNone/>
            </a:pPr>
            <a:r>
              <a:rPr lang="en-US" sz="4200" b="1" dirty="0">
                <a:solidFill>
                  <a:srgbClr val="1E7A4C"/>
                </a:solidFill>
                <a:latin typeface="Cambria" pitchFamily="34" charset="0"/>
                <a:ea typeface="Cambria" pitchFamily="34" charset="-122"/>
                <a:cs typeface="Cambria" pitchFamily="34" charset="-120"/>
              </a:rPr>
              <a:t>5,478</a:t>
            </a:r>
            <a:endParaRPr lang="en-US" sz="4200" dirty="0"/>
          </a:p>
        </p:txBody>
      </p:sp>
      <p:sp>
        <p:nvSpPr>
          <p:cNvPr id="5" name="Text 3"/>
          <p:cNvSpPr/>
          <p:nvPr/>
        </p:nvSpPr>
        <p:spPr>
          <a:xfrm>
            <a:off x="640080" y="2414016"/>
            <a:ext cx="251460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distinct tic-tac-toe states</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(fully solvable by hand)</a:t>
            </a:r>
            <a:endParaRPr lang="en-US" sz="1200" dirty="0"/>
          </a:p>
        </p:txBody>
      </p:sp>
      <p:sp>
        <p:nvSpPr>
          <p:cNvPr id="6" name="Text 4"/>
          <p:cNvSpPr/>
          <p:nvPr/>
        </p:nvSpPr>
        <p:spPr>
          <a:xfrm>
            <a:off x="3383280" y="1737360"/>
            <a:ext cx="2514600" cy="658368"/>
          </a:xfrm>
          <a:prstGeom prst="rect">
            <a:avLst/>
          </a:prstGeom>
          <a:noFill/>
          <a:ln/>
        </p:spPr>
        <p:txBody>
          <a:bodyPr wrap="square" lIns="0" tIns="0" rIns="0" bIns="0" rtlCol="0" anchor="ctr"/>
          <a:lstStyle/>
          <a:p>
            <a:pPr algn="ctr" indent="0" marL="0">
              <a:buNone/>
            </a:pPr>
            <a:r>
              <a:rPr lang="en-US" sz="4200" b="1" dirty="0">
                <a:solidFill>
                  <a:srgbClr val="1F5AC4"/>
                </a:solidFill>
                <a:latin typeface="Cambria" pitchFamily="34" charset="0"/>
                <a:ea typeface="Cambria" pitchFamily="34" charset="-122"/>
                <a:cs typeface="Cambria" pitchFamily="34" charset="-120"/>
              </a:rPr>
              <a:t>10^40</a:t>
            </a:r>
            <a:endParaRPr lang="en-US" sz="4200" dirty="0"/>
          </a:p>
        </p:txBody>
      </p:sp>
      <p:sp>
        <p:nvSpPr>
          <p:cNvPr id="7" name="Text 5"/>
          <p:cNvSpPr/>
          <p:nvPr/>
        </p:nvSpPr>
        <p:spPr>
          <a:xfrm>
            <a:off x="3383280" y="2414016"/>
            <a:ext cx="251460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nodes in the chess game tree</a:t>
            </a:r>
            <a:endParaRPr lang="en-US" sz="1200" dirty="0"/>
          </a:p>
        </p:txBody>
      </p:sp>
      <p:sp>
        <p:nvSpPr>
          <p:cNvPr id="8" name="Text 6"/>
          <p:cNvSpPr/>
          <p:nvPr/>
        </p:nvSpPr>
        <p:spPr>
          <a:xfrm>
            <a:off x="6126480" y="1737360"/>
            <a:ext cx="2514600" cy="658368"/>
          </a:xfrm>
          <a:prstGeom prst="rect">
            <a:avLst/>
          </a:prstGeom>
          <a:noFill/>
          <a:ln/>
        </p:spPr>
        <p:txBody>
          <a:bodyPr wrap="square" lIns="0" tIns="0" rIns="0" bIns="0" rtlCol="0" anchor="ctr"/>
          <a:lstStyle/>
          <a:p>
            <a:pPr algn="ctr" indent="0" marL="0">
              <a:buNone/>
            </a:pPr>
            <a:r>
              <a:rPr lang="en-US" sz="4200" b="1" dirty="0">
                <a:solidFill>
                  <a:srgbClr val="1F5AC4"/>
                </a:solidFill>
                <a:latin typeface="Cambria" pitchFamily="34" charset="0"/>
                <a:ea typeface="Cambria" pitchFamily="34" charset="-122"/>
                <a:cs typeface="Cambria" pitchFamily="34" charset="-120"/>
              </a:rPr>
              <a:t>35</a:t>
            </a:r>
            <a:endParaRPr lang="en-US" sz="4200" dirty="0"/>
          </a:p>
        </p:txBody>
      </p:sp>
      <p:sp>
        <p:nvSpPr>
          <p:cNvPr id="9" name="Text 7"/>
          <p:cNvSpPr/>
          <p:nvPr/>
        </p:nvSpPr>
        <p:spPr>
          <a:xfrm>
            <a:off x="6126480" y="2414016"/>
            <a:ext cx="251460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average branching factor</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for chess</a:t>
            </a:r>
            <a:endParaRPr lang="en-US" sz="1200" dirty="0"/>
          </a:p>
        </p:txBody>
      </p:sp>
      <p:sp>
        <p:nvSpPr>
          <p:cNvPr id="10" name="Text 8"/>
          <p:cNvSpPr/>
          <p:nvPr/>
        </p:nvSpPr>
        <p:spPr>
          <a:xfrm>
            <a:off x="8869680" y="1737360"/>
            <a:ext cx="2651760" cy="658368"/>
          </a:xfrm>
          <a:prstGeom prst="rect">
            <a:avLst/>
          </a:prstGeom>
          <a:noFill/>
          <a:ln/>
        </p:spPr>
        <p:txBody>
          <a:bodyPr wrap="square" lIns="0" tIns="0" rIns="0" bIns="0" rtlCol="0" anchor="ctr"/>
          <a:lstStyle/>
          <a:p>
            <a:pPr algn="ctr" indent="0" marL="0">
              <a:buNone/>
            </a:pPr>
            <a:r>
              <a:rPr lang="en-US" sz="4200" b="1" dirty="0">
                <a:solidFill>
                  <a:srgbClr val="C1272D"/>
                </a:solidFill>
                <a:latin typeface="Cambria" pitchFamily="34" charset="0"/>
                <a:ea typeface="Cambria" pitchFamily="34" charset="-122"/>
                <a:cs typeface="Cambria" pitchFamily="34" charset="-120"/>
              </a:rPr>
              <a:t>80 ply</a:t>
            </a:r>
            <a:endParaRPr lang="en-US" sz="4200" dirty="0"/>
          </a:p>
        </p:txBody>
      </p:sp>
      <p:sp>
        <p:nvSpPr>
          <p:cNvPr id="11" name="Text 9"/>
          <p:cNvSpPr/>
          <p:nvPr/>
        </p:nvSpPr>
        <p:spPr>
          <a:xfrm>
            <a:off x="8869680" y="2414016"/>
            <a:ext cx="265176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length of an average</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chess game</a:t>
            </a:r>
            <a:endParaRPr lang="en-US" sz="1200" dirty="0"/>
          </a:p>
        </p:txBody>
      </p:sp>
      <p:sp>
        <p:nvSpPr>
          <p:cNvPr id="12" name="Shape 10"/>
          <p:cNvSpPr/>
          <p:nvPr/>
        </p:nvSpPr>
        <p:spPr>
          <a:xfrm>
            <a:off x="640080" y="3794760"/>
            <a:ext cx="10881360" cy="914400"/>
          </a:xfrm>
          <a:prstGeom prst="roundRect">
            <a:avLst>
              <a:gd name="adj" fmla="val 6000"/>
            </a:avLst>
          </a:prstGeom>
          <a:solidFill>
            <a:srgbClr val="14213D"/>
          </a:solidFill>
          <a:ln w="12700">
            <a:solidFill>
              <a:srgbClr val="14213D"/>
            </a:solidFill>
            <a:prstDash val="solid"/>
          </a:ln>
        </p:spPr>
      </p:sp>
      <p:sp>
        <p:nvSpPr>
          <p:cNvPr id="13" name="Text 11"/>
          <p:cNvSpPr/>
          <p:nvPr/>
        </p:nvSpPr>
        <p:spPr>
          <a:xfrm>
            <a:off x="822960" y="3886200"/>
            <a:ext cx="10515600" cy="731520"/>
          </a:xfrm>
          <a:prstGeom prst="rect">
            <a:avLst/>
          </a:prstGeom>
          <a:noFill/>
          <a:ln/>
        </p:spPr>
        <p:txBody>
          <a:bodyPr wrap="square" lIns="0" tIns="0" rIns="0" bIns="0" rtlCol="0" anchor="ctr"/>
          <a:lstStyle/>
          <a:p>
            <a:pPr algn="ctr" indent="0" marL="0">
              <a:lnSpc>
                <a:spcPct val="115000"/>
              </a:lnSpc>
              <a:buNone/>
            </a:pPr>
            <a:r>
              <a:rPr lang="en-US" sz="1600" dirty="0">
                <a:solidFill>
                  <a:srgbClr val="FFFFFF"/>
                </a:solidFill>
                <a:latin typeface="Courier New" pitchFamily="34" charset="0"/>
                <a:ea typeface="Courier New" pitchFamily="34" charset="-122"/>
                <a:cs typeface="Courier New" pitchFamily="34" charset="-120"/>
              </a:rPr>
              <a:t>35^80  is roughly  10^123  states.      There are about 10^80 atoms in the observable universe.</a:t>
            </a:r>
            <a:endParaRPr lang="en-US" sz="1600" dirty="0"/>
          </a:p>
        </p:txBody>
      </p:sp>
      <p:sp>
        <p:nvSpPr>
          <p:cNvPr id="14" name="Text 12"/>
          <p:cNvSpPr/>
          <p:nvPr/>
        </p:nvSpPr>
        <p:spPr>
          <a:xfrm>
            <a:off x="640080" y="4937760"/>
            <a:ext cx="10881360" cy="457200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rgbClr val="1A1A1A"/>
                </a:solidFill>
                <a:latin typeface="Calibri" pitchFamily="34" charset="0"/>
                <a:ea typeface="Calibri" pitchFamily="34" charset="-122"/>
                <a:cs typeface="Calibri" pitchFamily="34" charset="-120"/>
              </a:rPr>
              <a:t>So the exact algorithm we are about to derive is unusable on real games - and we derive it anyway.</a:t>
            </a:r>
            <a:endParaRPr lang="en-US" sz="1500" dirty="0"/>
          </a:p>
          <a:p>
            <a:pPr lvl="1" marL="406400" indent="-203200">
              <a:spcAft>
                <a:spcPts val="900"/>
              </a:spcAft>
              <a:buSzPct val="100000"/>
              <a:buChar char="•"/>
            </a:pPr>
            <a:r>
              <a:rPr lang="en-US" sz="1300" dirty="0">
                <a:solidFill>
                  <a:srgbClr val="55607A"/>
                </a:solidFill>
                <a:latin typeface="Calibri" pitchFamily="34" charset="0"/>
                <a:ea typeface="Calibri" pitchFamily="34" charset="-122"/>
                <a:cs typeface="Calibri" pitchFamily="34" charset="-120"/>
              </a:rPr>
              <a:t>Minimax is the definition of correct play. Every practical method in the rest of this lecture is an approximation of it, and we measure each one by how much of minimax it gives up.</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331720"/>
            <a:ext cx="914400" cy="914400"/>
          </a:xfrm>
          <a:prstGeom prst="ellipse">
            <a:avLst/>
          </a:prstGeom>
          <a:solidFill>
            <a:srgbClr val="D98C1F"/>
          </a:solidFill>
          <a:ln w="12700">
            <a:solidFill>
              <a:srgbClr val="D98C1F"/>
            </a:solidFill>
            <a:prstDash val="solid"/>
          </a:ln>
        </p:spPr>
      </p:sp>
      <p:sp>
        <p:nvSpPr>
          <p:cNvPr id="3" name="Text 1"/>
          <p:cNvSpPr/>
          <p:nvPr/>
        </p:nvSpPr>
        <p:spPr>
          <a:xfrm>
            <a:off x="822960" y="2331720"/>
            <a:ext cx="914400" cy="914400"/>
          </a:xfrm>
          <a:prstGeom prst="rect">
            <a:avLst/>
          </a:prstGeom>
          <a:noFill/>
          <a:ln/>
        </p:spPr>
        <p:txBody>
          <a:bodyPr wrap="square" lIns="0" tIns="0" rIns="0" bIns="0" rtlCol="0" anchor="ctr"/>
          <a:lstStyle/>
          <a:p>
            <a:pPr algn="ctr" indent="0" marL="0">
              <a:buNone/>
            </a:pPr>
            <a:r>
              <a:rPr lang="en-US" sz="3400" b="1" dirty="0">
                <a:solidFill>
                  <a:srgbClr val="14213D"/>
                </a:solidFill>
                <a:latin typeface="Cambria" pitchFamily="34" charset="0"/>
                <a:ea typeface="Cambria" pitchFamily="34" charset="-122"/>
                <a:cs typeface="Cambria" pitchFamily="34" charset="-120"/>
              </a:rPr>
              <a:t>2</a:t>
            </a:r>
            <a:endParaRPr lang="en-US" sz="3400" dirty="0"/>
          </a:p>
        </p:txBody>
      </p:sp>
      <p:sp>
        <p:nvSpPr>
          <p:cNvPr id="4" name="Text 2"/>
          <p:cNvSpPr/>
          <p:nvPr/>
        </p:nvSpPr>
        <p:spPr>
          <a:xfrm>
            <a:off x="2057400" y="2194560"/>
            <a:ext cx="841248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Minimax and Optimal Decisions</a:t>
            </a:r>
            <a:endParaRPr lang="en-US" sz="3800" dirty="0"/>
          </a:p>
        </p:txBody>
      </p:sp>
      <p:sp>
        <p:nvSpPr>
          <p:cNvPr id="5" name="Text 3"/>
          <p:cNvSpPr/>
          <p:nvPr/>
        </p:nvSpPr>
        <p:spPr>
          <a:xfrm>
            <a:off x="2103120" y="3017520"/>
            <a:ext cx="8412480" cy="822960"/>
          </a:xfrm>
          <a:prstGeom prst="rect">
            <a:avLst/>
          </a:prstGeom>
          <a:noFill/>
          <a:ln/>
        </p:spPr>
        <p:txBody>
          <a:bodyPr wrap="square" lIns="0" tIns="0" rIns="0" bIns="0" rtlCol="0" anchor="t"/>
          <a:lstStyle/>
          <a:p>
            <a:pPr indent="0" marL="0">
              <a:lnSpc>
                <a:spcPct val="120000"/>
              </a:lnSpc>
              <a:buNone/>
            </a:pPr>
            <a:r>
              <a:rPr lang="en-US" sz="1600" dirty="0">
                <a:solidFill>
                  <a:srgbClr val="DCE6FA"/>
                </a:solidFill>
                <a:latin typeface="Calibri" pitchFamily="34" charset="0"/>
                <a:ea typeface="Calibri" pitchFamily="34" charset="-122"/>
                <a:cs typeface="Calibri" pitchFamily="34" charset="-120"/>
              </a:rPr>
              <a:t>The value of a state when someone else gets to choose half of the moves.</a:t>
            </a:r>
            <a:endParaRPr lang="en-US" sz="1600" dirty="0"/>
          </a:p>
        </p:txBody>
      </p:sp>
      <p:sp>
        <p:nvSpPr>
          <p:cNvPr id="6" name="Text 4"/>
          <p:cNvSpPr/>
          <p:nvPr/>
        </p:nvSpPr>
        <p:spPr>
          <a:xfrm>
            <a:off x="2103120" y="3977640"/>
            <a:ext cx="5486400" cy="292608"/>
          </a:xfrm>
          <a:prstGeom prst="rect">
            <a:avLst/>
          </a:prstGeom>
          <a:noFill/>
          <a:ln/>
        </p:spPr>
        <p:txBody>
          <a:bodyPr wrap="square" lIns="0" tIns="0" rIns="0" bIns="0" rtlCol="0" anchor="ctr"/>
          <a:lstStyle/>
          <a:p>
            <a:pPr indent="0" marL="0">
              <a:buNone/>
            </a:pPr>
            <a:r>
              <a:rPr lang="en-US" sz="1250" b="1" spc="120" kern="0" dirty="0">
                <a:solidFill>
                  <a:srgbClr val="D98C1F"/>
                </a:solidFill>
                <a:latin typeface="Calibri" pitchFamily="34" charset="0"/>
                <a:ea typeface="Calibri" pitchFamily="34" charset="-122"/>
                <a:cs typeface="Calibri" pitchFamily="34" charset="-120"/>
              </a:rPr>
              <a:t>AIMA 5.2  ·  ABOUT 25 MINUTES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CS 188 FRAMING</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Warm-Up: The Value of a State With One Agent</a:t>
            </a:r>
            <a:endParaRPr lang="en-US" sz="2900" dirty="0"/>
          </a:p>
        </p:txBody>
      </p:sp>
      <p:sp>
        <p:nvSpPr>
          <p:cNvPr id="4" name="Shape 2"/>
          <p:cNvSpPr/>
          <p:nvPr/>
        </p:nvSpPr>
        <p:spPr>
          <a:xfrm>
            <a:off x="5650992" y="1673352"/>
            <a:ext cx="402336" cy="310896"/>
          </a:xfrm>
          <a:prstGeom prst="triangle">
            <a:avLst/>
          </a:prstGeom>
          <a:solidFill>
            <a:srgbClr val="DCE6FA"/>
          </a:solidFill>
          <a:ln w="19050">
            <a:solidFill>
              <a:srgbClr val="1F5AC4"/>
            </a:solidFill>
            <a:prstDash val="solid"/>
          </a:ln>
        </p:spPr>
      </p:sp>
      <p:sp>
        <p:nvSpPr>
          <p:cNvPr id="5" name="Text 3"/>
          <p:cNvSpPr/>
          <p:nvPr/>
        </p:nvSpPr>
        <p:spPr>
          <a:xfrm>
            <a:off x="5394960" y="1261872"/>
            <a:ext cx="914400" cy="292608"/>
          </a:xfrm>
          <a:prstGeom prst="rect">
            <a:avLst/>
          </a:prstGeom>
          <a:noFill/>
          <a:ln/>
        </p:spPr>
        <p:txBody>
          <a:bodyPr wrap="square" lIns="0" tIns="0" rIns="0" bIns="0" rtlCol="0" anchor="ctr"/>
          <a:lstStyle/>
          <a:p>
            <a:pPr algn="ctr" indent="0" marL="0">
              <a:buNone/>
            </a:pPr>
            <a:r>
              <a:rPr lang="en-US" sz="1400" b="1" dirty="0">
                <a:solidFill>
                  <a:srgbClr val="1F5AC4"/>
                </a:solidFill>
                <a:latin typeface="Calibri" pitchFamily="34" charset="0"/>
                <a:ea typeface="Calibri" pitchFamily="34" charset="-122"/>
                <a:cs typeface="Calibri" pitchFamily="34" charset="-120"/>
              </a:rPr>
              <a:t>8</a:t>
            </a:r>
            <a:endParaRPr lang="en-US" sz="1400" dirty="0"/>
          </a:p>
        </p:txBody>
      </p:sp>
      <p:sp>
        <p:nvSpPr>
          <p:cNvPr id="6" name="Shape 4"/>
          <p:cNvSpPr/>
          <p:nvPr/>
        </p:nvSpPr>
        <p:spPr>
          <a:xfrm flipH="1">
            <a:off x="3108960" y="2011680"/>
            <a:ext cx="2743200" cy="868680"/>
          </a:xfrm>
          <a:prstGeom prst="line">
            <a:avLst/>
          </a:prstGeom>
          <a:noFill/>
          <a:ln w="15875">
            <a:solidFill>
              <a:srgbClr val="55607A"/>
            </a:solidFill>
            <a:prstDash val="solid"/>
          </a:ln>
        </p:spPr>
      </p:sp>
      <p:sp>
        <p:nvSpPr>
          <p:cNvPr id="7" name="Shape 5"/>
          <p:cNvSpPr/>
          <p:nvPr/>
        </p:nvSpPr>
        <p:spPr>
          <a:xfrm>
            <a:off x="2907792" y="2907792"/>
            <a:ext cx="402336" cy="310896"/>
          </a:xfrm>
          <a:prstGeom prst="triangle">
            <a:avLst/>
          </a:prstGeom>
          <a:solidFill>
            <a:srgbClr val="DCE6FA"/>
          </a:solidFill>
          <a:ln w="19050">
            <a:solidFill>
              <a:srgbClr val="1F5AC4"/>
            </a:solidFill>
            <a:prstDash val="solid"/>
          </a:ln>
        </p:spPr>
      </p:sp>
      <p:sp>
        <p:nvSpPr>
          <p:cNvPr id="8" name="Text 6"/>
          <p:cNvSpPr/>
          <p:nvPr/>
        </p:nvSpPr>
        <p:spPr>
          <a:xfrm>
            <a:off x="2651760" y="2496312"/>
            <a:ext cx="914400" cy="292608"/>
          </a:xfrm>
          <a:prstGeom prst="rect">
            <a:avLst/>
          </a:prstGeom>
          <a:noFill/>
          <a:ln/>
        </p:spPr>
        <p:txBody>
          <a:bodyPr wrap="square" lIns="0" tIns="0" rIns="0" bIns="0" rtlCol="0" anchor="ctr"/>
          <a:lstStyle/>
          <a:p>
            <a:pPr algn="ctr" indent="0" marL="0">
              <a:buNone/>
            </a:pPr>
            <a:r>
              <a:rPr lang="en-US" sz="1400" b="1" dirty="0">
                <a:solidFill>
                  <a:srgbClr val="1F5AC4"/>
                </a:solidFill>
                <a:latin typeface="Calibri" pitchFamily="34" charset="0"/>
                <a:ea typeface="Calibri" pitchFamily="34" charset="-122"/>
                <a:cs typeface="Calibri" pitchFamily="34" charset="-120"/>
              </a:rPr>
              <a:t>2</a:t>
            </a:r>
            <a:endParaRPr lang="en-US" sz="1400" dirty="0"/>
          </a:p>
        </p:txBody>
      </p:sp>
      <p:sp>
        <p:nvSpPr>
          <p:cNvPr id="9" name="Shape 7"/>
          <p:cNvSpPr/>
          <p:nvPr/>
        </p:nvSpPr>
        <p:spPr>
          <a:xfrm flipH="1">
            <a:off x="2468880" y="3246120"/>
            <a:ext cx="640080" cy="868680"/>
          </a:xfrm>
          <a:prstGeom prst="line">
            <a:avLst/>
          </a:prstGeom>
          <a:noFill/>
          <a:ln w="15875">
            <a:solidFill>
              <a:srgbClr val="55607A"/>
            </a:solidFill>
            <a:prstDash val="solid"/>
          </a:ln>
        </p:spPr>
      </p:sp>
      <p:sp>
        <p:nvSpPr>
          <p:cNvPr id="10" name="Shape 8"/>
          <p:cNvSpPr/>
          <p:nvPr/>
        </p:nvSpPr>
        <p:spPr>
          <a:xfrm>
            <a:off x="2267712" y="4123944"/>
            <a:ext cx="402336" cy="310896"/>
          </a:xfrm>
          <a:prstGeom prst="roundRect">
            <a:avLst>
              <a:gd name="adj" fmla="val 14706"/>
            </a:avLst>
          </a:prstGeom>
          <a:solidFill>
            <a:srgbClr val="DCE3EE"/>
          </a:solidFill>
          <a:ln w="12700">
            <a:solidFill>
              <a:srgbClr val="55607A"/>
            </a:solidFill>
            <a:prstDash val="solid"/>
          </a:ln>
        </p:spPr>
      </p:sp>
      <p:sp>
        <p:nvSpPr>
          <p:cNvPr id="11" name="Text 9"/>
          <p:cNvSpPr/>
          <p:nvPr/>
        </p:nvSpPr>
        <p:spPr>
          <a:xfrm>
            <a:off x="2066544" y="412394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2</a:t>
            </a:r>
            <a:endParaRPr lang="en-US" sz="1250" dirty="0"/>
          </a:p>
        </p:txBody>
      </p:sp>
      <p:sp>
        <p:nvSpPr>
          <p:cNvPr id="12" name="Shape 10"/>
          <p:cNvSpPr/>
          <p:nvPr/>
        </p:nvSpPr>
        <p:spPr>
          <a:xfrm>
            <a:off x="3108960" y="3246120"/>
            <a:ext cx="640080" cy="868680"/>
          </a:xfrm>
          <a:prstGeom prst="line">
            <a:avLst/>
          </a:prstGeom>
          <a:noFill/>
          <a:ln w="15875">
            <a:solidFill>
              <a:srgbClr val="55607A"/>
            </a:solidFill>
            <a:prstDash val="solid"/>
          </a:ln>
        </p:spPr>
      </p:sp>
      <p:sp>
        <p:nvSpPr>
          <p:cNvPr id="13" name="Shape 11"/>
          <p:cNvSpPr/>
          <p:nvPr/>
        </p:nvSpPr>
        <p:spPr>
          <a:xfrm>
            <a:off x="3547872" y="4123944"/>
            <a:ext cx="402336" cy="310896"/>
          </a:xfrm>
          <a:prstGeom prst="roundRect">
            <a:avLst>
              <a:gd name="adj" fmla="val 14706"/>
            </a:avLst>
          </a:prstGeom>
          <a:solidFill>
            <a:srgbClr val="DCE3EE"/>
          </a:solidFill>
          <a:ln w="12700">
            <a:solidFill>
              <a:srgbClr val="55607A"/>
            </a:solidFill>
            <a:prstDash val="solid"/>
          </a:ln>
        </p:spPr>
      </p:sp>
      <p:sp>
        <p:nvSpPr>
          <p:cNvPr id="14" name="Text 12"/>
          <p:cNvSpPr/>
          <p:nvPr/>
        </p:nvSpPr>
        <p:spPr>
          <a:xfrm>
            <a:off x="3346704" y="412394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0</a:t>
            </a:r>
            <a:endParaRPr lang="en-US" sz="1250" dirty="0"/>
          </a:p>
        </p:txBody>
      </p:sp>
      <p:sp>
        <p:nvSpPr>
          <p:cNvPr id="15" name="Shape 13"/>
          <p:cNvSpPr/>
          <p:nvPr/>
        </p:nvSpPr>
        <p:spPr>
          <a:xfrm>
            <a:off x="5852160" y="2011680"/>
            <a:ext cx="4572" cy="868680"/>
          </a:xfrm>
          <a:prstGeom prst="line">
            <a:avLst/>
          </a:prstGeom>
          <a:noFill/>
          <a:ln w="15875">
            <a:solidFill>
              <a:srgbClr val="55607A"/>
            </a:solidFill>
            <a:prstDash val="solid"/>
          </a:ln>
        </p:spPr>
      </p:sp>
      <p:sp>
        <p:nvSpPr>
          <p:cNvPr id="16" name="Shape 14"/>
          <p:cNvSpPr/>
          <p:nvPr/>
        </p:nvSpPr>
        <p:spPr>
          <a:xfrm>
            <a:off x="5650992" y="2907792"/>
            <a:ext cx="402336" cy="310896"/>
          </a:xfrm>
          <a:prstGeom prst="triangle">
            <a:avLst/>
          </a:prstGeom>
          <a:solidFill>
            <a:srgbClr val="DCE6FA"/>
          </a:solidFill>
          <a:ln w="19050">
            <a:solidFill>
              <a:srgbClr val="1F5AC4"/>
            </a:solidFill>
            <a:prstDash val="solid"/>
          </a:ln>
        </p:spPr>
      </p:sp>
      <p:sp>
        <p:nvSpPr>
          <p:cNvPr id="17" name="Text 15"/>
          <p:cNvSpPr/>
          <p:nvPr/>
        </p:nvSpPr>
        <p:spPr>
          <a:xfrm>
            <a:off x="5943600" y="2496312"/>
            <a:ext cx="914400" cy="292608"/>
          </a:xfrm>
          <a:prstGeom prst="rect">
            <a:avLst/>
          </a:prstGeom>
          <a:noFill/>
          <a:ln/>
        </p:spPr>
        <p:txBody>
          <a:bodyPr wrap="square" lIns="0" tIns="0" rIns="0" bIns="0" rtlCol="0" anchor="ctr"/>
          <a:lstStyle/>
          <a:p>
            <a:pPr algn="ctr" indent="0" marL="0">
              <a:buNone/>
            </a:pPr>
            <a:r>
              <a:rPr lang="en-US" sz="1400" b="1" dirty="0">
                <a:solidFill>
                  <a:srgbClr val="1F5AC4"/>
                </a:solidFill>
                <a:latin typeface="Calibri" pitchFamily="34" charset="0"/>
                <a:ea typeface="Calibri" pitchFamily="34" charset="-122"/>
                <a:cs typeface="Calibri" pitchFamily="34" charset="-120"/>
              </a:rPr>
              <a:t>6</a:t>
            </a:r>
            <a:endParaRPr lang="en-US" sz="1400" dirty="0"/>
          </a:p>
        </p:txBody>
      </p:sp>
      <p:sp>
        <p:nvSpPr>
          <p:cNvPr id="18" name="Shape 16"/>
          <p:cNvSpPr/>
          <p:nvPr/>
        </p:nvSpPr>
        <p:spPr>
          <a:xfrm flipH="1">
            <a:off x="5212080" y="3246120"/>
            <a:ext cx="640080" cy="868680"/>
          </a:xfrm>
          <a:prstGeom prst="line">
            <a:avLst/>
          </a:prstGeom>
          <a:noFill/>
          <a:ln w="15875">
            <a:solidFill>
              <a:srgbClr val="55607A"/>
            </a:solidFill>
            <a:prstDash val="solid"/>
          </a:ln>
        </p:spPr>
      </p:sp>
      <p:sp>
        <p:nvSpPr>
          <p:cNvPr id="19" name="Shape 17"/>
          <p:cNvSpPr/>
          <p:nvPr/>
        </p:nvSpPr>
        <p:spPr>
          <a:xfrm>
            <a:off x="5010912" y="4123944"/>
            <a:ext cx="402336" cy="310896"/>
          </a:xfrm>
          <a:prstGeom prst="roundRect">
            <a:avLst>
              <a:gd name="adj" fmla="val 14706"/>
            </a:avLst>
          </a:prstGeom>
          <a:solidFill>
            <a:srgbClr val="DCE3EE"/>
          </a:solidFill>
          <a:ln w="12700">
            <a:solidFill>
              <a:srgbClr val="55607A"/>
            </a:solidFill>
            <a:prstDash val="solid"/>
          </a:ln>
        </p:spPr>
      </p:sp>
      <p:sp>
        <p:nvSpPr>
          <p:cNvPr id="20" name="Text 18"/>
          <p:cNvSpPr/>
          <p:nvPr/>
        </p:nvSpPr>
        <p:spPr>
          <a:xfrm>
            <a:off x="4809744" y="412394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2</a:t>
            </a:r>
            <a:endParaRPr lang="en-US" sz="1250" dirty="0"/>
          </a:p>
        </p:txBody>
      </p:sp>
      <p:sp>
        <p:nvSpPr>
          <p:cNvPr id="21" name="Shape 19"/>
          <p:cNvSpPr/>
          <p:nvPr/>
        </p:nvSpPr>
        <p:spPr>
          <a:xfrm>
            <a:off x="5852160" y="3246120"/>
            <a:ext cx="640080" cy="868680"/>
          </a:xfrm>
          <a:prstGeom prst="line">
            <a:avLst/>
          </a:prstGeom>
          <a:noFill/>
          <a:ln w="15875">
            <a:solidFill>
              <a:srgbClr val="55607A"/>
            </a:solidFill>
            <a:prstDash val="solid"/>
          </a:ln>
        </p:spPr>
      </p:sp>
      <p:sp>
        <p:nvSpPr>
          <p:cNvPr id="22" name="Shape 20"/>
          <p:cNvSpPr/>
          <p:nvPr/>
        </p:nvSpPr>
        <p:spPr>
          <a:xfrm>
            <a:off x="6291072" y="4123944"/>
            <a:ext cx="402336" cy="310896"/>
          </a:xfrm>
          <a:prstGeom prst="roundRect">
            <a:avLst>
              <a:gd name="adj" fmla="val 14706"/>
            </a:avLst>
          </a:prstGeom>
          <a:solidFill>
            <a:srgbClr val="DCE3EE"/>
          </a:solidFill>
          <a:ln w="12700">
            <a:solidFill>
              <a:srgbClr val="55607A"/>
            </a:solidFill>
            <a:prstDash val="solid"/>
          </a:ln>
        </p:spPr>
      </p:sp>
      <p:sp>
        <p:nvSpPr>
          <p:cNvPr id="23" name="Text 21"/>
          <p:cNvSpPr/>
          <p:nvPr/>
        </p:nvSpPr>
        <p:spPr>
          <a:xfrm>
            <a:off x="6089904" y="412394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6</a:t>
            </a:r>
            <a:endParaRPr lang="en-US" sz="1250" dirty="0"/>
          </a:p>
        </p:txBody>
      </p:sp>
      <p:sp>
        <p:nvSpPr>
          <p:cNvPr id="24" name="Shape 22"/>
          <p:cNvSpPr/>
          <p:nvPr/>
        </p:nvSpPr>
        <p:spPr>
          <a:xfrm>
            <a:off x="5852160" y="2011680"/>
            <a:ext cx="2743200" cy="868680"/>
          </a:xfrm>
          <a:prstGeom prst="line">
            <a:avLst/>
          </a:prstGeom>
          <a:noFill/>
          <a:ln w="15875">
            <a:solidFill>
              <a:srgbClr val="55607A"/>
            </a:solidFill>
            <a:prstDash val="solid"/>
          </a:ln>
        </p:spPr>
      </p:sp>
      <p:sp>
        <p:nvSpPr>
          <p:cNvPr id="25" name="Shape 23"/>
          <p:cNvSpPr/>
          <p:nvPr/>
        </p:nvSpPr>
        <p:spPr>
          <a:xfrm>
            <a:off x="8394192" y="2907792"/>
            <a:ext cx="402336" cy="310896"/>
          </a:xfrm>
          <a:prstGeom prst="triangle">
            <a:avLst/>
          </a:prstGeom>
          <a:solidFill>
            <a:srgbClr val="DCE6FA"/>
          </a:solidFill>
          <a:ln w="19050">
            <a:solidFill>
              <a:srgbClr val="1F5AC4"/>
            </a:solidFill>
            <a:prstDash val="solid"/>
          </a:ln>
        </p:spPr>
      </p:sp>
      <p:sp>
        <p:nvSpPr>
          <p:cNvPr id="26" name="Text 24"/>
          <p:cNvSpPr/>
          <p:nvPr/>
        </p:nvSpPr>
        <p:spPr>
          <a:xfrm>
            <a:off x="8138160" y="2496312"/>
            <a:ext cx="914400" cy="292608"/>
          </a:xfrm>
          <a:prstGeom prst="rect">
            <a:avLst/>
          </a:prstGeom>
          <a:noFill/>
          <a:ln/>
        </p:spPr>
        <p:txBody>
          <a:bodyPr wrap="square" lIns="0" tIns="0" rIns="0" bIns="0" rtlCol="0" anchor="ctr"/>
          <a:lstStyle/>
          <a:p>
            <a:pPr algn="ctr" indent="0" marL="0">
              <a:buNone/>
            </a:pPr>
            <a:r>
              <a:rPr lang="en-US" sz="1400" b="1" dirty="0">
                <a:solidFill>
                  <a:srgbClr val="1F5AC4"/>
                </a:solidFill>
                <a:latin typeface="Calibri" pitchFamily="34" charset="0"/>
                <a:ea typeface="Calibri" pitchFamily="34" charset="-122"/>
                <a:cs typeface="Calibri" pitchFamily="34" charset="-120"/>
              </a:rPr>
              <a:t>8</a:t>
            </a:r>
            <a:endParaRPr lang="en-US" sz="1400" dirty="0"/>
          </a:p>
        </p:txBody>
      </p:sp>
      <p:sp>
        <p:nvSpPr>
          <p:cNvPr id="27" name="Shape 25"/>
          <p:cNvSpPr/>
          <p:nvPr/>
        </p:nvSpPr>
        <p:spPr>
          <a:xfrm flipH="1">
            <a:off x="7955280" y="3246120"/>
            <a:ext cx="640080" cy="868680"/>
          </a:xfrm>
          <a:prstGeom prst="line">
            <a:avLst/>
          </a:prstGeom>
          <a:noFill/>
          <a:ln w="15875">
            <a:solidFill>
              <a:srgbClr val="55607A"/>
            </a:solidFill>
            <a:prstDash val="solid"/>
          </a:ln>
        </p:spPr>
      </p:sp>
      <p:sp>
        <p:nvSpPr>
          <p:cNvPr id="28" name="Shape 26"/>
          <p:cNvSpPr/>
          <p:nvPr/>
        </p:nvSpPr>
        <p:spPr>
          <a:xfrm>
            <a:off x="7754112" y="4123944"/>
            <a:ext cx="402336" cy="310896"/>
          </a:xfrm>
          <a:prstGeom prst="roundRect">
            <a:avLst>
              <a:gd name="adj" fmla="val 14706"/>
            </a:avLst>
          </a:prstGeom>
          <a:solidFill>
            <a:srgbClr val="DCE3EE"/>
          </a:solidFill>
          <a:ln w="12700">
            <a:solidFill>
              <a:srgbClr val="55607A"/>
            </a:solidFill>
            <a:prstDash val="solid"/>
          </a:ln>
        </p:spPr>
      </p:sp>
      <p:sp>
        <p:nvSpPr>
          <p:cNvPr id="29" name="Text 27"/>
          <p:cNvSpPr/>
          <p:nvPr/>
        </p:nvSpPr>
        <p:spPr>
          <a:xfrm>
            <a:off x="7552944" y="412394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4</a:t>
            </a:r>
            <a:endParaRPr lang="en-US" sz="1250" dirty="0"/>
          </a:p>
        </p:txBody>
      </p:sp>
      <p:sp>
        <p:nvSpPr>
          <p:cNvPr id="30" name="Shape 28"/>
          <p:cNvSpPr/>
          <p:nvPr/>
        </p:nvSpPr>
        <p:spPr>
          <a:xfrm>
            <a:off x="8595360" y="3246120"/>
            <a:ext cx="640080" cy="868680"/>
          </a:xfrm>
          <a:prstGeom prst="line">
            <a:avLst/>
          </a:prstGeom>
          <a:noFill/>
          <a:ln w="15875">
            <a:solidFill>
              <a:srgbClr val="55607A"/>
            </a:solidFill>
            <a:prstDash val="solid"/>
          </a:ln>
        </p:spPr>
      </p:sp>
      <p:sp>
        <p:nvSpPr>
          <p:cNvPr id="31" name="Shape 29"/>
          <p:cNvSpPr/>
          <p:nvPr/>
        </p:nvSpPr>
        <p:spPr>
          <a:xfrm>
            <a:off x="9034272" y="4123944"/>
            <a:ext cx="402336" cy="310896"/>
          </a:xfrm>
          <a:prstGeom prst="roundRect">
            <a:avLst>
              <a:gd name="adj" fmla="val 14706"/>
            </a:avLst>
          </a:prstGeom>
          <a:solidFill>
            <a:srgbClr val="DCE3EE"/>
          </a:solidFill>
          <a:ln w="12700">
            <a:solidFill>
              <a:srgbClr val="55607A"/>
            </a:solidFill>
            <a:prstDash val="solid"/>
          </a:ln>
        </p:spPr>
      </p:sp>
      <p:sp>
        <p:nvSpPr>
          <p:cNvPr id="32" name="Text 30"/>
          <p:cNvSpPr/>
          <p:nvPr/>
        </p:nvSpPr>
        <p:spPr>
          <a:xfrm>
            <a:off x="8833104" y="412394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8</a:t>
            </a:r>
            <a:endParaRPr lang="en-US" sz="1250" dirty="0"/>
          </a:p>
        </p:txBody>
      </p:sp>
      <p:sp>
        <p:nvSpPr>
          <p:cNvPr id="33" name="Shape 31"/>
          <p:cNvSpPr/>
          <p:nvPr/>
        </p:nvSpPr>
        <p:spPr>
          <a:xfrm>
            <a:off x="640080" y="4846320"/>
            <a:ext cx="5303520" cy="914400"/>
          </a:xfrm>
          <a:prstGeom prst="roundRect">
            <a:avLst>
              <a:gd name="adj" fmla="val 6000"/>
            </a:avLst>
          </a:prstGeom>
          <a:solidFill>
            <a:srgbClr val="DCE6FA"/>
          </a:solidFill>
          <a:ln w="12700">
            <a:solidFill>
              <a:srgbClr val="DCE6FA"/>
            </a:solidFill>
            <a:prstDash val="solid"/>
          </a:ln>
        </p:spPr>
      </p:sp>
      <p:sp>
        <p:nvSpPr>
          <p:cNvPr id="34" name="Text 32"/>
          <p:cNvSpPr/>
          <p:nvPr/>
        </p:nvSpPr>
        <p:spPr>
          <a:xfrm>
            <a:off x="822960" y="4937760"/>
            <a:ext cx="4937760" cy="731520"/>
          </a:xfrm>
          <a:prstGeom prst="rect">
            <a:avLst/>
          </a:prstGeom>
          <a:noFill/>
          <a:ln/>
        </p:spPr>
        <p:txBody>
          <a:bodyPr wrap="square" lIns="0" tIns="0" rIns="0" bIns="0" rtlCol="0" anchor="ctr"/>
          <a:lstStyle/>
          <a:p>
            <a:pPr algn="ctr" indent="0" marL="0">
              <a:lnSpc>
                <a:spcPct val="115000"/>
              </a:lnSpc>
              <a:buNone/>
            </a:pPr>
            <a:r>
              <a:rPr lang="en-US" sz="1500" dirty="0">
                <a:solidFill>
                  <a:srgbClr val="14213D"/>
                </a:solidFill>
                <a:latin typeface="Cambria" pitchFamily="34" charset="0"/>
                <a:ea typeface="Cambria" pitchFamily="34" charset="-122"/>
                <a:cs typeface="Cambria" pitchFamily="34" charset="-120"/>
              </a:rPr>
              <a:t>V(s) = max over s' in children(s) of V(s')</a:t>
            </a:r>
            <a:endParaRPr lang="en-US" sz="1500" dirty="0"/>
          </a:p>
          <a:p>
            <a:pPr algn="ctr" indent="0" marL="0">
              <a:lnSpc>
                <a:spcPct val="115000"/>
              </a:lnSpc>
              <a:buNone/>
            </a:pPr>
            <a:r>
              <a:rPr lang="en-US" sz="1500" dirty="0">
                <a:solidFill>
                  <a:srgbClr val="14213D"/>
                </a:solidFill>
                <a:latin typeface="Cambria" pitchFamily="34" charset="0"/>
                <a:ea typeface="Cambria" pitchFamily="34" charset="-122"/>
                <a:cs typeface="Cambria" pitchFamily="34" charset="-120"/>
              </a:rPr>
              <a:t>V(s) = known,  for terminal s</a:t>
            </a:r>
            <a:endParaRPr lang="en-US" sz="1500" dirty="0"/>
          </a:p>
        </p:txBody>
      </p:sp>
      <p:sp>
        <p:nvSpPr>
          <p:cNvPr id="35" name="Shape 33"/>
          <p:cNvSpPr/>
          <p:nvPr/>
        </p:nvSpPr>
        <p:spPr>
          <a:xfrm>
            <a:off x="6263640" y="4846320"/>
            <a:ext cx="5257800" cy="914400"/>
          </a:xfrm>
          <a:prstGeom prst="roundRect">
            <a:avLst>
              <a:gd name="adj" fmla="val 8000"/>
            </a:avLst>
          </a:prstGeom>
          <a:solidFill>
            <a:srgbClr val="EFF3F9"/>
          </a:solidFill>
          <a:ln w="12700">
            <a:solidFill>
              <a:srgbClr val="EFF3F9"/>
            </a:solidFill>
            <a:prstDash val="solid"/>
          </a:ln>
        </p:spPr>
      </p:sp>
      <p:sp>
        <p:nvSpPr>
          <p:cNvPr id="36" name="Text 34"/>
          <p:cNvSpPr/>
          <p:nvPr/>
        </p:nvSpPr>
        <p:spPr>
          <a:xfrm>
            <a:off x="6464808" y="5010912"/>
            <a:ext cx="4855464" cy="585216"/>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The value of a state is the best achievable outcome (utility) from that state. With a single agent, every choice on the path is ours, so 'best achievable' means simply the maximum.</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ADVERSARIAL GAME TREES</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Now Someone Else Controls Every Other Level</a:t>
            </a:r>
            <a:endParaRPr lang="en-US" sz="2900" dirty="0"/>
          </a:p>
        </p:txBody>
      </p:sp>
      <p:sp>
        <p:nvSpPr>
          <p:cNvPr id="4" name="Shape 2"/>
          <p:cNvSpPr/>
          <p:nvPr/>
        </p:nvSpPr>
        <p:spPr>
          <a:xfrm>
            <a:off x="5650992" y="1673352"/>
            <a:ext cx="402336" cy="310896"/>
          </a:xfrm>
          <a:prstGeom prst="triangle">
            <a:avLst/>
          </a:prstGeom>
          <a:solidFill>
            <a:srgbClr val="DCE6FA"/>
          </a:solidFill>
          <a:ln w="19050">
            <a:solidFill>
              <a:srgbClr val="1F5AC4"/>
            </a:solidFill>
            <a:prstDash val="solid"/>
          </a:ln>
        </p:spPr>
      </p:sp>
      <p:sp>
        <p:nvSpPr>
          <p:cNvPr id="5" name="Shape 3"/>
          <p:cNvSpPr/>
          <p:nvPr/>
        </p:nvSpPr>
        <p:spPr>
          <a:xfrm flipH="1">
            <a:off x="3108960" y="2011680"/>
            <a:ext cx="2743200" cy="868680"/>
          </a:xfrm>
          <a:prstGeom prst="line">
            <a:avLst/>
          </a:prstGeom>
          <a:noFill/>
          <a:ln w="15875">
            <a:solidFill>
              <a:srgbClr val="1F5AC4"/>
            </a:solidFill>
            <a:prstDash val="solid"/>
          </a:ln>
        </p:spPr>
      </p:sp>
      <p:sp>
        <p:nvSpPr>
          <p:cNvPr id="6" name="Shape 4"/>
          <p:cNvSpPr/>
          <p:nvPr/>
        </p:nvSpPr>
        <p:spPr>
          <a:xfrm rot="10800000">
            <a:off x="2907792" y="2907792"/>
            <a:ext cx="402336" cy="310896"/>
          </a:xfrm>
          <a:prstGeom prst="triangle">
            <a:avLst/>
          </a:prstGeom>
          <a:solidFill>
            <a:srgbClr val="F7DEDF"/>
          </a:solidFill>
          <a:ln w="19050">
            <a:solidFill>
              <a:srgbClr val="C1272D"/>
            </a:solidFill>
            <a:prstDash val="solid"/>
          </a:ln>
        </p:spPr>
      </p:sp>
      <p:sp>
        <p:nvSpPr>
          <p:cNvPr id="7" name="Shape 5"/>
          <p:cNvSpPr/>
          <p:nvPr/>
        </p:nvSpPr>
        <p:spPr>
          <a:xfrm flipH="1">
            <a:off x="2194560" y="3246120"/>
            <a:ext cx="914400" cy="868680"/>
          </a:xfrm>
          <a:prstGeom prst="line">
            <a:avLst/>
          </a:prstGeom>
          <a:noFill/>
          <a:ln w="15875">
            <a:solidFill>
              <a:srgbClr val="C1272D"/>
            </a:solidFill>
            <a:prstDash val="solid"/>
          </a:ln>
        </p:spPr>
      </p:sp>
      <p:sp>
        <p:nvSpPr>
          <p:cNvPr id="8" name="Shape 6"/>
          <p:cNvSpPr/>
          <p:nvPr/>
        </p:nvSpPr>
        <p:spPr>
          <a:xfrm>
            <a:off x="1993392" y="4123944"/>
            <a:ext cx="402336" cy="310896"/>
          </a:xfrm>
          <a:prstGeom prst="roundRect">
            <a:avLst>
              <a:gd name="adj" fmla="val 14706"/>
            </a:avLst>
          </a:prstGeom>
          <a:solidFill>
            <a:srgbClr val="DCE3EE"/>
          </a:solidFill>
          <a:ln w="12700">
            <a:solidFill>
              <a:srgbClr val="55607A"/>
            </a:solidFill>
            <a:prstDash val="solid"/>
          </a:ln>
        </p:spPr>
      </p:sp>
      <p:sp>
        <p:nvSpPr>
          <p:cNvPr id="9" name="Text 7"/>
          <p:cNvSpPr/>
          <p:nvPr/>
        </p:nvSpPr>
        <p:spPr>
          <a:xfrm>
            <a:off x="1792224" y="412394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-8</a:t>
            </a:r>
            <a:endParaRPr lang="en-US" sz="1250" dirty="0"/>
          </a:p>
        </p:txBody>
      </p:sp>
      <p:sp>
        <p:nvSpPr>
          <p:cNvPr id="10" name="Shape 8"/>
          <p:cNvSpPr/>
          <p:nvPr/>
        </p:nvSpPr>
        <p:spPr>
          <a:xfrm>
            <a:off x="3108960" y="3246120"/>
            <a:ext cx="914400" cy="868680"/>
          </a:xfrm>
          <a:prstGeom prst="line">
            <a:avLst/>
          </a:prstGeom>
          <a:noFill/>
          <a:ln w="15875">
            <a:solidFill>
              <a:srgbClr val="C1272D"/>
            </a:solidFill>
            <a:prstDash val="solid"/>
          </a:ln>
        </p:spPr>
      </p:sp>
      <p:sp>
        <p:nvSpPr>
          <p:cNvPr id="11" name="Shape 9"/>
          <p:cNvSpPr/>
          <p:nvPr/>
        </p:nvSpPr>
        <p:spPr>
          <a:xfrm>
            <a:off x="3822192" y="4123944"/>
            <a:ext cx="402336" cy="310896"/>
          </a:xfrm>
          <a:prstGeom prst="roundRect">
            <a:avLst>
              <a:gd name="adj" fmla="val 14706"/>
            </a:avLst>
          </a:prstGeom>
          <a:solidFill>
            <a:srgbClr val="DCE3EE"/>
          </a:solidFill>
          <a:ln w="12700">
            <a:solidFill>
              <a:srgbClr val="55607A"/>
            </a:solidFill>
            <a:prstDash val="solid"/>
          </a:ln>
        </p:spPr>
      </p:sp>
      <p:sp>
        <p:nvSpPr>
          <p:cNvPr id="12" name="Text 10"/>
          <p:cNvSpPr/>
          <p:nvPr/>
        </p:nvSpPr>
        <p:spPr>
          <a:xfrm>
            <a:off x="3621024" y="412394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-5</a:t>
            </a:r>
            <a:endParaRPr lang="en-US" sz="1250" dirty="0"/>
          </a:p>
        </p:txBody>
      </p:sp>
      <p:sp>
        <p:nvSpPr>
          <p:cNvPr id="13" name="Shape 11"/>
          <p:cNvSpPr/>
          <p:nvPr/>
        </p:nvSpPr>
        <p:spPr>
          <a:xfrm>
            <a:off x="5852160" y="2011680"/>
            <a:ext cx="2743200" cy="868680"/>
          </a:xfrm>
          <a:prstGeom prst="line">
            <a:avLst/>
          </a:prstGeom>
          <a:noFill/>
          <a:ln w="15875">
            <a:solidFill>
              <a:srgbClr val="1F5AC4"/>
            </a:solidFill>
            <a:prstDash val="solid"/>
          </a:ln>
        </p:spPr>
      </p:sp>
      <p:sp>
        <p:nvSpPr>
          <p:cNvPr id="14" name="Shape 12"/>
          <p:cNvSpPr/>
          <p:nvPr/>
        </p:nvSpPr>
        <p:spPr>
          <a:xfrm rot="10800000">
            <a:off x="8394192" y="2907792"/>
            <a:ext cx="402336" cy="310896"/>
          </a:xfrm>
          <a:prstGeom prst="triangle">
            <a:avLst/>
          </a:prstGeom>
          <a:solidFill>
            <a:srgbClr val="F7DEDF"/>
          </a:solidFill>
          <a:ln w="19050">
            <a:solidFill>
              <a:srgbClr val="C1272D"/>
            </a:solidFill>
            <a:prstDash val="solid"/>
          </a:ln>
        </p:spPr>
      </p:sp>
      <p:sp>
        <p:nvSpPr>
          <p:cNvPr id="15" name="Shape 13"/>
          <p:cNvSpPr/>
          <p:nvPr/>
        </p:nvSpPr>
        <p:spPr>
          <a:xfrm flipH="1">
            <a:off x="7680960" y="3246120"/>
            <a:ext cx="914400" cy="868680"/>
          </a:xfrm>
          <a:prstGeom prst="line">
            <a:avLst/>
          </a:prstGeom>
          <a:noFill/>
          <a:ln w="15875">
            <a:solidFill>
              <a:srgbClr val="C1272D"/>
            </a:solidFill>
            <a:prstDash val="solid"/>
          </a:ln>
        </p:spPr>
      </p:sp>
      <p:sp>
        <p:nvSpPr>
          <p:cNvPr id="16" name="Shape 14"/>
          <p:cNvSpPr/>
          <p:nvPr/>
        </p:nvSpPr>
        <p:spPr>
          <a:xfrm>
            <a:off x="7479792" y="4123944"/>
            <a:ext cx="402336" cy="310896"/>
          </a:xfrm>
          <a:prstGeom prst="roundRect">
            <a:avLst>
              <a:gd name="adj" fmla="val 14706"/>
            </a:avLst>
          </a:prstGeom>
          <a:solidFill>
            <a:srgbClr val="DCE3EE"/>
          </a:solidFill>
          <a:ln w="12700">
            <a:solidFill>
              <a:srgbClr val="55607A"/>
            </a:solidFill>
            <a:prstDash val="solid"/>
          </a:ln>
        </p:spPr>
      </p:sp>
      <p:sp>
        <p:nvSpPr>
          <p:cNvPr id="17" name="Text 15"/>
          <p:cNvSpPr/>
          <p:nvPr/>
        </p:nvSpPr>
        <p:spPr>
          <a:xfrm>
            <a:off x="7278624" y="412394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-10</a:t>
            </a:r>
            <a:endParaRPr lang="en-US" sz="1250" dirty="0"/>
          </a:p>
        </p:txBody>
      </p:sp>
      <p:sp>
        <p:nvSpPr>
          <p:cNvPr id="18" name="Shape 16"/>
          <p:cNvSpPr/>
          <p:nvPr/>
        </p:nvSpPr>
        <p:spPr>
          <a:xfrm>
            <a:off x="8595360" y="3246120"/>
            <a:ext cx="914400" cy="868680"/>
          </a:xfrm>
          <a:prstGeom prst="line">
            <a:avLst/>
          </a:prstGeom>
          <a:noFill/>
          <a:ln w="15875">
            <a:solidFill>
              <a:srgbClr val="C1272D"/>
            </a:solidFill>
            <a:prstDash val="solid"/>
          </a:ln>
        </p:spPr>
      </p:sp>
      <p:sp>
        <p:nvSpPr>
          <p:cNvPr id="19" name="Shape 17"/>
          <p:cNvSpPr/>
          <p:nvPr/>
        </p:nvSpPr>
        <p:spPr>
          <a:xfrm>
            <a:off x="9308592" y="4123944"/>
            <a:ext cx="402336" cy="310896"/>
          </a:xfrm>
          <a:prstGeom prst="roundRect">
            <a:avLst>
              <a:gd name="adj" fmla="val 14706"/>
            </a:avLst>
          </a:prstGeom>
          <a:solidFill>
            <a:srgbClr val="DCE3EE"/>
          </a:solidFill>
          <a:ln w="12700">
            <a:solidFill>
              <a:srgbClr val="55607A"/>
            </a:solidFill>
            <a:prstDash val="solid"/>
          </a:ln>
        </p:spPr>
      </p:sp>
      <p:sp>
        <p:nvSpPr>
          <p:cNvPr id="20" name="Text 18"/>
          <p:cNvSpPr/>
          <p:nvPr/>
        </p:nvSpPr>
        <p:spPr>
          <a:xfrm>
            <a:off x="9107424" y="412394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8</a:t>
            </a:r>
            <a:endParaRPr lang="en-US" sz="1250" dirty="0"/>
          </a:p>
        </p:txBody>
      </p:sp>
      <p:sp>
        <p:nvSpPr>
          <p:cNvPr id="21" name="Text 19"/>
          <p:cNvSpPr/>
          <p:nvPr/>
        </p:nvSpPr>
        <p:spPr>
          <a:xfrm>
            <a:off x="6400800" y="1700784"/>
            <a:ext cx="2377440" cy="274320"/>
          </a:xfrm>
          <a:prstGeom prst="rect">
            <a:avLst/>
          </a:prstGeom>
          <a:noFill/>
          <a:ln/>
        </p:spPr>
        <p:txBody>
          <a:bodyPr wrap="square" lIns="0" tIns="0" rIns="0" bIns="0" rtlCol="0" anchor="ctr"/>
          <a:lstStyle/>
          <a:p>
            <a:pPr indent="0" marL="0">
              <a:buNone/>
            </a:pPr>
            <a:r>
              <a:rPr lang="en-US" sz="1250" b="1" dirty="0">
                <a:solidFill>
                  <a:srgbClr val="1F5AC4"/>
                </a:solidFill>
                <a:latin typeface="Calibri" pitchFamily="34" charset="0"/>
                <a:ea typeface="Calibri" pitchFamily="34" charset="-122"/>
                <a:cs typeface="Calibri" pitchFamily="34" charset="-120"/>
              </a:rPr>
              <a:t>MAX chooses here</a:t>
            </a:r>
            <a:endParaRPr lang="en-US" sz="1250" dirty="0"/>
          </a:p>
        </p:txBody>
      </p:sp>
      <p:sp>
        <p:nvSpPr>
          <p:cNvPr id="22" name="Text 20"/>
          <p:cNvSpPr/>
          <p:nvPr/>
        </p:nvSpPr>
        <p:spPr>
          <a:xfrm>
            <a:off x="4480560" y="2935224"/>
            <a:ext cx="2377440" cy="274320"/>
          </a:xfrm>
          <a:prstGeom prst="rect">
            <a:avLst/>
          </a:prstGeom>
          <a:noFill/>
          <a:ln/>
        </p:spPr>
        <p:txBody>
          <a:bodyPr wrap="square" lIns="0" tIns="0" rIns="0" bIns="0" rtlCol="0" anchor="ctr"/>
          <a:lstStyle/>
          <a:p>
            <a:pPr algn="ctr" indent="0" marL="0">
              <a:buNone/>
            </a:pPr>
            <a:r>
              <a:rPr lang="en-US" sz="1250" b="1" dirty="0">
                <a:solidFill>
                  <a:srgbClr val="C1272D"/>
                </a:solidFill>
                <a:latin typeface="Calibri" pitchFamily="34" charset="0"/>
                <a:ea typeface="Calibri" pitchFamily="34" charset="-122"/>
                <a:cs typeface="Calibri" pitchFamily="34" charset="-120"/>
              </a:rPr>
              <a:t>MIN chooses here</a:t>
            </a:r>
            <a:endParaRPr lang="en-US" sz="1250" dirty="0"/>
          </a:p>
        </p:txBody>
      </p:sp>
      <p:sp>
        <p:nvSpPr>
          <p:cNvPr id="23" name="Text 21"/>
          <p:cNvSpPr/>
          <p:nvPr/>
        </p:nvSpPr>
        <p:spPr>
          <a:xfrm>
            <a:off x="640080" y="4800600"/>
            <a:ext cx="10881360" cy="4572000"/>
          </a:xfrm>
          <a:prstGeom prst="rect">
            <a:avLst/>
          </a:prstGeom>
          <a:noFill/>
          <a:ln/>
        </p:spPr>
        <p:txBody>
          <a:bodyPr wrap="square" lIns="0" tIns="0" rIns="0" bIns="0" rtlCol="0" anchor="t"/>
          <a:lstStyle/>
          <a:p>
            <a:pPr marL="203200" indent="-203200">
              <a:spcAft>
                <a:spcPts val="700"/>
              </a:spcAft>
              <a:buSzPct val="100000"/>
              <a:buChar char="•"/>
            </a:pPr>
            <a:r>
              <a:rPr lang="en-US" sz="1500" b="1" dirty="0">
                <a:solidFill>
                  <a:srgbClr val="1A1A1A"/>
                </a:solidFill>
                <a:latin typeface="Calibri" pitchFamily="34" charset="0"/>
                <a:ea typeface="Calibri" pitchFamily="34" charset="-122"/>
                <a:cs typeface="Calibri" pitchFamily="34" charset="-120"/>
              </a:rPr>
              <a:t>MAX cannot simply walk to the +8 leaf. MIN owns the node above it and will steer to -10 instead.</a:t>
            </a:r>
            <a:endParaRPr lang="en-US" sz="1500" dirty="0"/>
          </a:p>
          <a:p>
            <a:pPr lvl="1" marL="406400" indent="-203200">
              <a:spcAft>
                <a:spcPts val="700"/>
              </a:spcAft>
              <a:buSzPct val="100000"/>
              <a:buChar char="•"/>
            </a:pPr>
            <a:r>
              <a:rPr lang="en-US" sz="1300" dirty="0">
                <a:solidFill>
                  <a:srgbClr val="55607A"/>
                </a:solidFill>
                <a:latin typeface="Calibri" pitchFamily="34" charset="0"/>
                <a:ea typeface="Calibri" pitchFamily="34" charset="-122"/>
                <a:cs typeface="Calibri" pitchFamily="34" charset="-120"/>
              </a:rPr>
              <a:t>So the value of the right branch is -10, the value of the left branch is -8, and MAX's best is -8.</a:t>
            </a:r>
            <a:endParaRPr lang="en-US" sz="1500" dirty="0"/>
          </a:p>
          <a:p>
            <a:pPr marL="203200" indent="-203200">
              <a:spcAft>
                <a:spcPts val="700"/>
              </a:spcAft>
              <a:buSzPct val="100000"/>
              <a:buChar char="•"/>
            </a:pPr>
            <a:r>
              <a:rPr lang="en-US" sz="1500" b="1" dirty="0">
                <a:solidFill>
                  <a:srgbClr val="14213D"/>
                </a:solidFill>
                <a:latin typeface="Calibri" pitchFamily="34" charset="0"/>
                <a:ea typeface="Calibri" pitchFamily="34" charset="-122"/>
                <a:cs typeface="Calibri" pitchFamily="34" charset="-120"/>
              </a:rPr>
              <a:t>MAX chooses the move whose worst case is best. That single sentence is minimax.</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5.2</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Minimax Value of a State</a:t>
            </a:r>
            <a:endParaRPr lang="en-US" sz="2900" dirty="0"/>
          </a:p>
        </p:txBody>
      </p:sp>
      <p:sp>
        <p:nvSpPr>
          <p:cNvPr id="4" name="Shape 2"/>
          <p:cNvSpPr/>
          <p:nvPr/>
        </p:nvSpPr>
        <p:spPr>
          <a:xfrm>
            <a:off x="640080" y="1371600"/>
            <a:ext cx="5486400" cy="1234440"/>
          </a:xfrm>
          <a:prstGeom prst="roundRect">
            <a:avLst>
              <a:gd name="adj" fmla="val 5926"/>
            </a:avLst>
          </a:prstGeom>
          <a:solidFill>
            <a:srgbClr val="EFF3F9"/>
          </a:solidFill>
          <a:ln w="12700">
            <a:solidFill>
              <a:srgbClr val="EFF3F9"/>
            </a:solidFill>
            <a:prstDash val="solid"/>
          </a:ln>
        </p:spPr>
      </p:sp>
      <p:sp>
        <p:nvSpPr>
          <p:cNvPr id="5" name="Text 3"/>
          <p:cNvSpPr/>
          <p:nvPr/>
        </p:nvSpPr>
        <p:spPr>
          <a:xfrm>
            <a:off x="841248" y="1536192"/>
            <a:ext cx="5084064" cy="905256"/>
          </a:xfrm>
          <a:prstGeom prst="rect">
            <a:avLst/>
          </a:prstGeom>
          <a:noFill/>
          <a:ln/>
        </p:spPr>
        <p:txBody>
          <a:bodyPr wrap="square" lIns="0" tIns="0" rIns="0" bIns="0" rtlCol="0" anchor="t"/>
          <a:lstStyle/>
          <a:p>
            <a:pPr indent="0" marL="0">
              <a:lnSpc>
                <a:spcPct val="108000"/>
              </a:lnSpc>
              <a:buNone/>
            </a:pPr>
            <a:r>
              <a:rPr lang="en-US" sz="1500" dirty="0">
                <a:solidFill>
                  <a:srgbClr val="1A1A1A"/>
                </a:solidFill>
                <a:latin typeface="Calibri" pitchFamily="34" charset="0"/>
                <a:ea typeface="Calibri" pitchFamily="34" charset="-122"/>
                <a:cs typeface="Calibri" pitchFamily="34" charset="-120"/>
              </a:rPr>
              <a:t>MINIMAX(s) is the utility, for MAX, of being in state s assuming that both players play optimally from s to the end of the game.</a:t>
            </a:r>
            <a:endParaRPr lang="en-US" sz="1500" dirty="0"/>
          </a:p>
        </p:txBody>
      </p:sp>
      <p:sp>
        <p:nvSpPr>
          <p:cNvPr id="6" name="Shape 4"/>
          <p:cNvSpPr/>
          <p:nvPr/>
        </p:nvSpPr>
        <p:spPr>
          <a:xfrm>
            <a:off x="640080" y="2788920"/>
            <a:ext cx="5486400" cy="2240280"/>
          </a:xfrm>
          <a:prstGeom prst="roundRect">
            <a:avLst>
              <a:gd name="adj" fmla="val 2449"/>
            </a:avLst>
          </a:prstGeom>
          <a:solidFill>
            <a:srgbClr val="14213D"/>
          </a:solidFill>
          <a:ln w="12700">
            <a:solidFill>
              <a:srgbClr val="14213D"/>
            </a:solidFill>
            <a:prstDash val="solid"/>
          </a:ln>
        </p:spPr>
      </p:sp>
      <p:sp>
        <p:nvSpPr>
          <p:cNvPr id="7" name="Text 5"/>
          <p:cNvSpPr/>
          <p:nvPr/>
        </p:nvSpPr>
        <p:spPr>
          <a:xfrm>
            <a:off x="841248" y="2898648"/>
            <a:ext cx="5084064" cy="274320"/>
          </a:xfrm>
          <a:prstGeom prst="rect">
            <a:avLst/>
          </a:prstGeom>
          <a:noFill/>
          <a:ln/>
        </p:spPr>
        <p:txBody>
          <a:bodyPr wrap="square" lIns="0" tIns="0" rIns="0" bIns="0" rtlCol="0" anchor="ctr"/>
          <a:lstStyle/>
          <a:p>
            <a:pPr indent="0" marL="0">
              <a:buNone/>
            </a:pPr>
            <a:r>
              <a:rPr lang="en-US" sz="1250" b="1" dirty="0">
                <a:solidFill>
                  <a:srgbClr val="D98C1F"/>
                </a:solidFill>
                <a:latin typeface="Calibri" pitchFamily="34" charset="0"/>
                <a:ea typeface="Calibri" pitchFamily="34" charset="-122"/>
                <a:cs typeface="Calibri" pitchFamily="34" charset="-120"/>
              </a:rPr>
              <a:t>Recursive definition</a:t>
            </a:r>
            <a:endParaRPr lang="en-US" sz="1250" dirty="0"/>
          </a:p>
        </p:txBody>
      </p:sp>
      <p:sp>
        <p:nvSpPr>
          <p:cNvPr id="8" name="Text 6"/>
          <p:cNvSpPr/>
          <p:nvPr/>
        </p:nvSpPr>
        <p:spPr>
          <a:xfrm>
            <a:off x="841248" y="3209544"/>
            <a:ext cx="5120640" cy="169164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MINIMAX(s) =</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D98C1F"/>
                </a:solidFill>
                <a:latin typeface="Courier New" pitchFamily="34" charset="0"/>
                <a:ea typeface="Courier New" pitchFamily="34" charset="-122"/>
                <a:cs typeface="Courier New" pitchFamily="34" charset="-120"/>
              </a:rPr>
              <a:t>  UTILITY(s, MAX)</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if IS-TERMINAL(s)</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8FB8FF"/>
                </a:solidFill>
                <a:latin typeface="Courier New" pitchFamily="34" charset="0"/>
                <a:ea typeface="Courier New" pitchFamily="34" charset="-122"/>
                <a:cs typeface="Courier New" pitchFamily="34" charset="-120"/>
              </a:rPr>
              <a:t>  max over a in ACTIONS(s) of</a:t>
            </a:r>
            <a:endParaRPr lang="en-US" sz="1250" dirty="0"/>
          </a:p>
          <a:p>
            <a:pPr indent="0" marL="0">
              <a:lnSpc>
                <a:spcPct val="105000"/>
              </a:lnSpc>
              <a:buNone/>
            </a:pPr>
            <a:r>
              <a:rPr lang="en-US" sz="1250" dirty="0">
                <a:solidFill>
                  <a:srgbClr val="8FB8FF"/>
                </a:solidFill>
                <a:latin typeface="Courier New" pitchFamily="34" charset="0"/>
                <a:ea typeface="Courier New" pitchFamily="34" charset="-122"/>
                <a:cs typeface="Courier New" pitchFamily="34" charset="-120"/>
              </a:rPr>
              <a:t>      MINIMAX(RESULT(s, a))</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if TO-MOVE(s) = MAX</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F2A0A2"/>
                </a:solidFill>
                <a:latin typeface="Courier New" pitchFamily="34" charset="0"/>
                <a:ea typeface="Courier New" pitchFamily="34" charset="-122"/>
                <a:cs typeface="Courier New" pitchFamily="34" charset="-120"/>
              </a:rPr>
              <a:t>  min over a in ACTIONS(s) of</a:t>
            </a:r>
            <a:endParaRPr lang="en-US" sz="1250" dirty="0"/>
          </a:p>
          <a:p>
            <a:pPr indent="0" marL="0">
              <a:lnSpc>
                <a:spcPct val="105000"/>
              </a:lnSpc>
              <a:buNone/>
            </a:pPr>
            <a:r>
              <a:rPr lang="en-US" sz="1250" dirty="0">
                <a:solidFill>
                  <a:srgbClr val="F2A0A2"/>
                </a:solidFill>
                <a:latin typeface="Courier New" pitchFamily="34" charset="0"/>
                <a:ea typeface="Courier New" pitchFamily="34" charset="-122"/>
                <a:cs typeface="Courier New" pitchFamily="34" charset="-120"/>
              </a:rPr>
              <a:t>      MINIMAX(RESULT(s, a))</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if TO-MOVE(s) = MIN</a:t>
            </a:r>
            <a:endParaRPr lang="en-US" sz="1250" dirty="0"/>
          </a:p>
        </p:txBody>
      </p:sp>
      <p:sp>
        <p:nvSpPr>
          <p:cNvPr id="9" name="Shape 7"/>
          <p:cNvSpPr/>
          <p:nvPr/>
        </p:nvSpPr>
        <p:spPr>
          <a:xfrm>
            <a:off x="6492240" y="1371600"/>
            <a:ext cx="5029200" cy="1691640"/>
          </a:xfrm>
          <a:prstGeom prst="roundRect">
            <a:avLst>
              <a:gd name="adj" fmla="val 4324"/>
            </a:avLst>
          </a:prstGeom>
          <a:solidFill>
            <a:srgbClr val="DCE6FA"/>
          </a:solidFill>
          <a:ln w="12700">
            <a:solidFill>
              <a:srgbClr val="1F5AC4"/>
            </a:solidFill>
            <a:prstDash val="solid"/>
          </a:ln>
        </p:spPr>
      </p:sp>
      <p:sp>
        <p:nvSpPr>
          <p:cNvPr id="10" name="Text 8"/>
          <p:cNvSpPr/>
          <p:nvPr/>
        </p:nvSpPr>
        <p:spPr>
          <a:xfrm>
            <a:off x="6693408" y="1517904"/>
            <a:ext cx="46268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At a MAX node</a:t>
            </a:r>
            <a:endParaRPr lang="en-US" sz="1500" dirty="0"/>
          </a:p>
        </p:txBody>
      </p:sp>
      <p:sp>
        <p:nvSpPr>
          <p:cNvPr id="11" name="Text 9"/>
          <p:cNvSpPr/>
          <p:nvPr/>
        </p:nvSpPr>
        <p:spPr>
          <a:xfrm>
            <a:off x="6693408" y="1865376"/>
            <a:ext cx="4626864" cy="103327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MAX prefers to move to the successor with the maximum value, because the value is measured from MAX's point of view.</a:t>
            </a:r>
            <a:endParaRPr lang="en-US" sz="1300" dirty="0"/>
          </a:p>
        </p:txBody>
      </p:sp>
      <p:sp>
        <p:nvSpPr>
          <p:cNvPr id="12" name="Shape 10"/>
          <p:cNvSpPr/>
          <p:nvPr/>
        </p:nvSpPr>
        <p:spPr>
          <a:xfrm>
            <a:off x="6492240" y="3246120"/>
            <a:ext cx="5029200" cy="1783080"/>
          </a:xfrm>
          <a:prstGeom prst="roundRect">
            <a:avLst>
              <a:gd name="adj" fmla="val 4103"/>
            </a:avLst>
          </a:prstGeom>
          <a:solidFill>
            <a:srgbClr val="F7DEDF"/>
          </a:solidFill>
          <a:ln w="12700">
            <a:solidFill>
              <a:srgbClr val="C1272D"/>
            </a:solidFill>
            <a:prstDash val="solid"/>
          </a:ln>
        </p:spPr>
      </p:sp>
      <p:sp>
        <p:nvSpPr>
          <p:cNvPr id="13" name="Text 11"/>
          <p:cNvSpPr/>
          <p:nvPr/>
        </p:nvSpPr>
        <p:spPr>
          <a:xfrm>
            <a:off x="6693408" y="3392424"/>
            <a:ext cx="46268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At a MIN node</a:t>
            </a:r>
            <a:endParaRPr lang="en-US" sz="1500" dirty="0"/>
          </a:p>
        </p:txBody>
      </p:sp>
      <p:sp>
        <p:nvSpPr>
          <p:cNvPr id="14" name="Text 12"/>
          <p:cNvSpPr/>
          <p:nvPr/>
        </p:nvSpPr>
        <p:spPr>
          <a:xfrm>
            <a:off x="6693408" y="3739896"/>
            <a:ext cx="4626864" cy="112471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MIN prefers the successor with the minimum value - minimum for MAX, and therefore maximum for MIN. Same number, opposite preference.</a:t>
            </a:r>
            <a:endParaRPr lang="en-US" sz="1300" dirty="0"/>
          </a:p>
        </p:txBody>
      </p:sp>
      <p:sp>
        <p:nvSpPr>
          <p:cNvPr id="15" name="Shape 13"/>
          <p:cNvSpPr/>
          <p:nvPr/>
        </p:nvSpPr>
        <p:spPr>
          <a:xfrm>
            <a:off x="640080" y="5257800"/>
            <a:ext cx="10881360" cy="777240"/>
          </a:xfrm>
          <a:prstGeom prst="roundRect">
            <a:avLst>
              <a:gd name="adj" fmla="val 7059"/>
            </a:avLst>
          </a:prstGeom>
          <a:solidFill>
            <a:srgbClr val="DCE6FA"/>
          </a:solidFill>
          <a:ln w="12700">
            <a:solidFill>
              <a:srgbClr val="DCE6FA"/>
            </a:solidFill>
            <a:prstDash val="solid"/>
          </a:ln>
        </p:spPr>
      </p:sp>
      <p:sp>
        <p:nvSpPr>
          <p:cNvPr id="16" name="Text 14"/>
          <p:cNvSpPr/>
          <p:nvPr/>
        </p:nvSpPr>
        <p:spPr>
          <a:xfrm>
            <a:off x="822960" y="5349240"/>
            <a:ext cx="10515600" cy="594360"/>
          </a:xfrm>
          <a:prstGeom prst="rect">
            <a:avLst/>
          </a:prstGeom>
          <a:noFill/>
          <a:ln/>
        </p:spPr>
        <p:txBody>
          <a:bodyPr wrap="square" lIns="0" tIns="0" rIns="0" bIns="0" rtlCol="0" anchor="ctr"/>
          <a:lstStyle/>
          <a:p>
            <a:pPr algn="ctr" indent="0" marL="0">
              <a:lnSpc>
                <a:spcPct val="115000"/>
              </a:lnSpc>
              <a:buNone/>
            </a:pPr>
            <a:r>
              <a:rPr lang="en-US" sz="1550" dirty="0">
                <a:solidFill>
                  <a:srgbClr val="14213D"/>
                </a:solidFill>
                <a:latin typeface="Cambria" pitchFamily="34" charset="0"/>
                <a:ea typeface="Cambria" pitchFamily="34" charset="-122"/>
                <a:cs typeface="Cambria" pitchFamily="34" charset="-120"/>
              </a:rPr>
              <a:t>The minimax value of a terminal state is just its utility. Everything else is backed up from below.</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FIGURE 5.2</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Worked Example: A Two-Ply Game Tree</a:t>
            </a:r>
            <a:endParaRPr lang="en-US" sz="2900" dirty="0"/>
          </a:p>
        </p:txBody>
      </p:sp>
      <p:sp>
        <p:nvSpPr>
          <p:cNvPr id="4" name="Shape 2"/>
          <p:cNvSpPr/>
          <p:nvPr/>
        </p:nvSpPr>
        <p:spPr>
          <a:xfrm>
            <a:off x="5650992" y="1810512"/>
            <a:ext cx="402336" cy="310896"/>
          </a:xfrm>
          <a:prstGeom prst="triangle">
            <a:avLst/>
          </a:prstGeom>
          <a:solidFill>
            <a:srgbClr val="DCE6FA"/>
          </a:solidFill>
          <a:ln w="19050">
            <a:solidFill>
              <a:srgbClr val="1F5AC4"/>
            </a:solidFill>
            <a:prstDash val="solid"/>
          </a:ln>
        </p:spPr>
      </p:sp>
      <p:sp>
        <p:nvSpPr>
          <p:cNvPr id="5" name="Text 3"/>
          <p:cNvSpPr/>
          <p:nvPr/>
        </p:nvSpPr>
        <p:spPr>
          <a:xfrm>
            <a:off x="5029200" y="1819656"/>
            <a:ext cx="457200" cy="274320"/>
          </a:xfrm>
          <a:prstGeom prst="rect">
            <a:avLst/>
          </a:prstGeom>
          <a:noFill/>
          <a:ln/>
        </p:spPr>
        <p:txBody>
          <a:bodyPr wrap="square" lIns="0" tIns="0" rIns="0" bIns="0" rtlCol="0" anchor="ctr"/>
          <a:lstStyle/>
          <a:p>
            <a:pPr algn="r" indent="0" marL="0">
              <a:buNone/>
            </a:pPr>
            <a:r>
              <a:rPr lang="en-US" sz="1200" b="1" dirty="0">
                <a:solidFill>
                  <a:srgbClr val="55607A"/>
                </a:solidFill>
                <a:latin typeface="Calibri" pitchFamily="34" charset="0"/>
                <a:ea typeface="Calibri" pitchFamily="34" charset="-122"/>
                <a:cs typeface="Calibri" pitchFamily="34" charset="-120"/>
              </a:rPr>
              <a:t>A</a:t>
            </a:r>
            <a:endParaRPr lang="en-US" sz="1200" dirty="0"/>
          </a:p>
        </p:txBody>
      </p:sp>
      <p:sp>
        <p:nvSpPr>
          <p:cNvPr id="6" name="Shape 4"/>
          <p:cNvSpPr/>
          <p:nvPr/>
        </p:nvSpPr>
        <p:spPr>
          <a:xfrm flipH="1">
            <a:off x="2651760" y="2148840"/>
            <a:ext cx="3200400" cy="868680"/>
          </a:xfrm>
          <a:prstGeom prst="line">
            <a:avLst/>
          </a:prstGeom>
          <a:noFill/>
          <a:ln w="15875">
            <a:solidFill>
              <a:srgbClr val="55607A"/>
            </a:solidFill>
            <a:prstDash val="solid"/>
          </a:ln>
        </p:spPr>
      </p:sp>
      <p:sp>
        <p:nvSpPr>
          <p:cNvPr id="7" name="Text 5"/>
          <p:cNvSpPr/>
          <p:nvPr/>
        </p:nvSpPr>
        <p:spPr>
          <a:xfrm>
            <a:off x="3931920" y="2363724"/>
            <a:ext cx="640080" cy="256032"/>
          </a:xfrm>
          <a:prstGeom prst="rect">
            <a:avLst/>
          </a:prstGeom>
          <a:noFill/>
          <a:ln/>
        </p:spPr>
        <p:txBody>
          <a:bodyPr wrap="square" lIns="0" tIns="0" rIns="0" bIns="0" rtlCol="0" anchor="ctr"/>
          <a:lstStyle/>
          <a:p>
            <a:pPr algn="ctr" indent="0" marL="0">
              <a:buNone/>
            </a:pPr>
            <a:r>
              <a:rPr lang="en-US" sz="1100" i="1" dirty="0">
                <a:solidFill>
                  <a:srgbClr val="1F5AC4"/>
                </a:solidFill>
                <a:latin typeface="Calibri" pitchFamily="34" charset="0"/>
                <a:ea typeface="Calibri" pitchFamily="34" charset="-122"/>
                <a:cs typeface="Calibri" pitchFamily="34" charset="-120"/>
              </a:rPr>
              <a:t>a1</a:t>
            </a:r>
            <a:endParaRPr lang="en-US" sz="1100" dirty="0"/>
          </a:p>
        </p:txBody>
      </p:sp>
      <p:sp>
        <p:nvSpPr>
          <p:cNvPr id="8" name="Shape 6"/>
          <p:cNvSpPr/>
          <p:nvPr/>
        </p:nvSpPr>
        <p:spPr>
          <a:xfrm rot="10800000">
            <a:off x="2450592" y="3044952"/>
            <a:ext cx="402336" cy="310896"/>
          </a:xfrm>
          <a:prstGeom prst="triangle">
            <a:avLst/>
          </a:prstGeom>
          <a:solidFill>
            <a:srgbClr val="F7DEDF"/>
          </a:solidFill>
          <a:ln w="19050">
            <a:solidFill>
              <a:srgbClr val="C1272D"/>
            </a:solidFill>
            <a:prstDash val="solid"/>
          </a:ln>
        </p:spPr>
      </p:sp>
      <p:sp>
        <p:nvSpPr>
          <p:cNvPr id="9" name="Text 7"/>
          <p:cNvSpPr/>
          <p:nvPr/>
        </p:nvSpPr>
        <p:spPr>
          <a:xfrm>
            <a:off x="1627632" y="3063240"/>
            <a:ext cx="658368" cy="274320"/>
          </a:xfrm>
          <a:prstGeom prst="rect">
            <a:avLst/>
          </a:prstGeom>
          <a:noFill/>
          <a:ln/>
        </p:spPr>
        <p:txBody>
          <a:bodyPr wrap="square" lIns="0" tIns="0" rIns="0" bIns="0" rtlCol="0" anchor="ctr"/>
          <a:lstStyle/>
          <a:p>
            <a:pPr algn="r" indent="0" marL="0">
              <a:buNone/>
            </a:pPr>
            <a:r>
              <a:rPr lang="en-US" sz="1250" b="1" dirty="0">
                <a:solidFill>
                  <a:srgbClr val="55607A"/>
                </a:solidFill>
                <a:latin typeface="Calibri" pitchFamily="34" charset="0"/>
                <a:ea typeface="Calibri" pitchFamily="34" charset="-122"/>
                <a:cs typeface="Calibri" pitchFamily="34" charset="-120"/>
              </a:rPr>
              <a:t>B</a:t>
            </a:r>
            <a:endParaRPr lang="en-US" sz="1250" dirty="0"/>
          </a:p>
        </p:txBody>
      </p:sp>
      <p:sp>
        <p:nvSpPr>
          <p:cNvPr id="10" name="Shape 8"/>
          <p:cNvSpPr/>
          <p:nvPr/>
        </p:nvSpPr>
        <p:spPr>
          <a:xfrm flipH="1">
            <a:off x="1828800" y="3383280"/>
            <a:ext cx="822960" cy="1051560"/>
          </a:xfrm>
          <a:prstGeom prst="line">
            <a:avLst/>
          </a:prstGeom>
          <a:noFill/>
          <a:ln w="15875">
            <a:solidFill>
              <a:srgbClr val="55607A"/>
            </a:solidFill>
            <a:prstDash val="solid"/>
          </a:ln>
        </p:spPr>
      </p:sp>
      <p:sp>
        <p:nvSpPr>
          <p:cNvPr id="11" name="Text 9"/>
          <p:cNvSpPr/>
          <p:nvPr/>
        </p:nvSpPr>
        <p:spPr>
          <a:xfrm>
            <a:off x="1920240" y="3726180"/>
            <a:ext cx="640080" cy="256032"/>
          </a:xfrm>
          <a:prstGeom prst="rect">
            <a:avLst/>
          </a:prstGeom>
          <a:noFill/>
          <a:ln/>
        </p:spPr>
        <p:txBody>
          <a:bodyPr wrap="square" lIns="0" tIns="0" rIns="0" bIns="0" rtlCol="0" anchor="ctr"/>
          <a:lstStyle/>
          <a:p>
            <a:pPr algn="ctr" indent="0" marL="0">
              <a:buNone/>
            </a:pPr>
            <a:r>
              <a:rPr lang="en-US" sz="1100" i="1" dirty="0">
                <a:solidFill>
                  <a:srgbClr val="C1272D"/>
                </a:solidFill>
                <a:latin typeface="Calibri" pitchFamily="34" charset="0"/>
                <a:ea typeface="Calibri" pitchFamily="34" charset="-122"/>
                <a:cs typeface="Calibri" pitchFamily="34" charset="-120"/>
              </a:rPr>
              <a:t>b1</a:t>
            </a:r>
            <a:endParaRPr lang="en-US" sz="1100" dirty="0"/>
          </a:p>
        </p:txBody>
      </p:sp>
      <p:sp>
        <p:nvSpPr>
          <p:cNvPr id="12" name="Shape 10"/>
          <p:cNvSpPr/>
          <p:nvPr/>
        </p:nvSpPr>
        <p:spPr>
          <a:xfrm>
            <a:off x="1627632" y="4462272"/>
            <a:ext cx="402336" cy="310896"/>
          </a:xfrm>
          <a:prstGeom prst="roundRect">
            <a:avLst>
              <a:gd name="adj" fmla="val 14706"/>
            </a:avLst>
          </a:prstGeom>
          <a:solidFill>
            <a:srgbClr val="DCE3EE"/>
          </a:solidFill>
          <a:ln w="12700">
            <a:solidFill>
              <a:srgbClr val="55607A"/>
            </a:solidFill>
            <a:prstDash val="solid"/>
          </a:ln>
        </p:spPr>
      </p:sp>
      <p:sp>
        <p:nvSpPr>
          <p:cNvPr id="13" name="Text 11"/>
          <p:cNvSpPr/>
          <p:nvPr/>
        </p:nvSpPr>
        <p:spPr>
          <a:xfrm>
            <a:off x="142646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3</a:t>
            </a:r>
            <a:endParaRPr lang="en-US" sz="1250" dirty="0"/>
          </a:p>
        </p:txBody>
      </p:sp>
      <p:sp>
        <p:nvSpPr>
          <p:cNvPr id="14" name="Shape 12"/>
          <p:cNvSpPr/>
          <p:nvPr/>
        </p:nvSpPr>
        <p:spPr>
          <a:xfrm>
            <a:off x="2651760" y="3383280"/>
            <a:ext cx="4572" cy="1051560"/>
          </a:xfrm>
          <a:prstGeom prst="line">
            <a:avLst/>
          </a:prstGeom>
          <a:noFill/>
          <a:ln w="15875">
            <a:solidFill>
              <a:srgbClr val="55607A"/>
            </a:solidFill>
            <a:prstDash val="solid"/>
          </a:ln>
        </p:spPr>
      </p:sp>
      <p:sp>
        <p:nvSpPr>
          <p:cNvPr id="15" name="Text 13"/>
          <p:cNvSpPr/>
          <p:nvPr/>
        </p:nvSpPr>
        <p:spPr>
          <a:xfrm>
            <a:off x="2331720" y="3726180"/>
            <a:ext cx="640080" cy="256032"/>
          </a:xfrm>
          <a:prstGeom prst="rect">
            <a:avLst/>
          </a:prstGeom>
          <a:noFill/>
          <a:ln/>
        </p:spPr>
        <p:txBody>
          <a:bodyPr wrap="square" lIns="0" tIns="0" rIns="0" bIns="0" rtlCol="0" anchor="ctr"/>
          <a:lstStyle/>
          <a:p>
            <a:pPr algn="ctr" indent="0" marL="0">
              <a:buNone/>
            </a:pPr>
            <a:r>
              <a:rPr lang="en-US" sz="1100" i="1" dirty="0">
                <a:solidFill>
                  <a:srgbClr val="C1272D"/>
                </a:solidFill>
                <a:latin typeface="Calibri" pitchFamily="34" charset="0"/>
                <a:ea typeface="Calibri" pitchFamily="34" charset="-122"/>
                <a:cs typeface="Calibri" pitchFamily="34" charset="-120"/>
              </a:rPr>
              <a:t>b2</a:t>
            </a:r>
            <a:endParaRPr lang="en-US" sz="1100" dirty="0"/>
          </a:p>
        </p:txBody>
      </p:sp>
      <p:sp>
        <p:nvSpPr>
          <p:cNvPr id="16" name="Shape 14"/>
          <p:cNvSpPr/>
          <p:nvPr/>
        </p:nvSpPr>
        <p:spPr>
          <a:xfrm>
            <a:off x="2450592" y="4462272"/>
            <a:ext cx="402336" cy="310896"/>
          </a:xfrm>
          <a:prstGeom prst="roundRect">
            <a:avLst>
              <a:gd name="adj" fmla="val 14706"/>
            </a:avLst>
          </a:prstGeom>
          <a:solidFill>
            <a:srgbClr val="DCE3EE"/>
          </a:solidFill>
          <a:ln w="12700">
            <a:solidFill>
              <a:srgbClr val="55607A"/>
            </a:solidFill>
            <a:prstDash val="solid"/>
          </a:ln>
        </p:spPr>
      </p:sp>
      <p:sp>
        <p:nvSpPr>
          <p:cNvPr id="17" name="Text 15"/>
          <p:cNvSpPr/>
          <p:nvPr/>
        </p:nvSpPr>
        <p:spPr>
          <a:xfrm>
            <a:off x="224942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12</a:t>
            </a:r>
            <a:endParaRPr lang="en-US" sz="1250" dirty="0"/>
          </a:p>
        </p:txBody>
      </p:sp>
      <p:sp>
        <p:nvSpPr>
          <p:cNvPr id="18" name="Shape 16"/>
          <p:cNvSpPr/>
          <p:nvPr/>
        </p:nvSpPr>
        <p:spPr>
          <a:xfrm>
            <a:off x="2651760" y="3383280"/>
            <a:ext cx="822960" cy="1051560"/>
          </a:xfrm>
          <a:prstGeom prst="line">
            <a:avLst/>
          </a:prstGeom>
          <a:noFill/>
          <a:ln w="15875">
            <a:solidFill>
              <a:srgbClr val="55607A"/>
            </a:solidFill>
            <a:prstDash val="solid"/>
          </a:ln>
        </p:spPr>
      </p:sp>
      <p:sp>
        <p:nvSpPr>
          <p:cNvPr id="19" name="Text 17"/>
          <p:cNvSpPr/>
          <p:nvPr/>
        </p:nvSpPr>
        <p:spPr>
          <a:xfrm>
            <a:off x="2743200" y="3726180"/>
            <a:ext cx="640080" cy="256032"/>
          </a:xfrm>
          <a:prstGeom prst="rect">
            <a:avLst/>
          </a:prstGeom>
          <a:noFill/>
          <a:ln/>
        </p:spPr>
        <p:txBody>
          <a:bodyPr wrap="square" lIns="0" tIns="0" rIns="0" bIns="0" rtlCol="0" anchor="ctr"/>
          <a:lstStyle/>
          <a:p>
            <a:pPr algn="ctr" indent="0" marL="0">
              <a:buNone/>
            </a:pPr>
            <a:r>
              <a:rPr lang="en-US" sz="1100" i="1" dirty="0">
                <a:solidFill>
                  <a:srgbClr val="C1272D"/>
                </a:solidFill>
                <a:latin typeface="Calibri" pitchFamily="34" charset="0"/>
                <a:ea typeface="Calibri" pitchFamily="34" charset="-122"/>
                <a:cs typeface="Calibri" pitchFamily="34" charset="-120"/>
              </a:rPr>
              <a:t>b3</a:t>
            </a:r>
            <a:endParaRPr lang="en-US" sz="1100" dirty="0"/>
          </a:p>
        </p:txBody>
      </p:sp>
      <p:sp>
        <p:nvSpPr>
          <p:cNvPr id="20" name="Shape 18"/>
          <p:cNvSpPr/>
          <p:nvPr/>
        </p:nvSpPr>
        <p:spPr>
          <a:xfrm>
            <a:off x="3273552" y="4462272"/>
            <a:ext cx="402336" cy="310896"/>
          </a:xfrm>
          <a:prstGeom prst="roundRect">
            <a:avLst>
              <a:gd name="adj" fmla="val 14706"/>
            </a:avLst>
          </a:prstGeom>
          <a:solidFill>
            <a:srgbClr val="DCE3EE"/>
          </a:solidFill>
          <a:ln w="12700">
            <a:solidFill>
              <a:srgbClr val="55607A"/>
            </a:solidFill>
            <a:prstDash val="solid"/>
          </a:ln>
        </p:spPr>
      </p:sp>
      <p:sp>
        <p:nvSpPr>
          <p:cNvPr id="21" name="Text 19"/>
          <p:cNvSpPr/>
          <p:nvPr/>
        </p:nvSpPr>
        <p:spPr>
          <a:xfrm>
            <a:off x="307238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8</a:t>
            </a:r>
            <a:endParaRPr lang="en-US" sz="1250" dirty="0"/>
          </a:p>
        </p:txBody>
      </p:sp>
      <p:sp>
        <p:nvSpPr>
          <p:cNvPr id="22" name="Shape 20"/>
          <p:cNvSpPr/>
          <p:nvPr/>
        </p:nvSpPr>
        <p:spPr>
          <a:xfrm>
            <a:off x="5852160" y="2148840"/>
            <a:ext cx="4572" cy="868680"/>
          </a:xfrm>
          <a:prstGeom prst="line">
            <a:avLst/>
          </a:prstGeom>
          <a:noFill/>
          <a:ln w="15875">
            <a:solidFill>
              <a:srgbClr val="55607A"/>
            </a:solidFill>
            <a:prstDash val="solid"/>
          </a:ln>
        </p:spPr>
      </p:sp>
      <p:sp>
        <p:nvSpPr>
          <p:cNvPr id="23" name="Text 21"/>
          <p:cNvSpPr/>
          <p:nvPr/>
        </p:nvSpPr>
        <p:spPr>
          <a:xfrm>
            <a:off x="5532120" y="2363724"/>
            <a:ext cx="640080" cy="256032"/>
          </a:xfrm>
          <a:prstGeom prst="rect">
            <a:avLst/>
          </a:prstGeom>
          <a:noFill/>
          <a:ln/>
        </p:spPr>
        <p:txBody>
          <a:bodyPr wrap="square" lIns="0" tIns="0" rIns="0" bIns="0" rtlCol="0" anchor="ctr"/>
          <a:lstStyle/>
          <a:p>
            <a:pPr algn="ctr" indent="0" marL="0">
              <a:buNone/>
            </a:pPr>
            <a:r>
              <a:rPr lang="en-US" sz="1100" i="1" dirty="0">
                <a:solidFill>
                  <a:srgbClr val="1F5AC4"/>
                </a:solidFill>
                <a:latin typeface="Calibri" pitchFamily="34" charset="0"/>
                <a:ea typeface="Calibri" pitchFamily="34" charset="-122"/>
                <a:cs typeface="Calibri" pitchFamily="34" charset="-120"/>
              </a:rPr>
              <a:t>a2</a:t>
            </a:r>
            <a:endParaRPr lang="en-US" sz="1100" dirty="0"/>
          </a:p>
        </p:txBody>
      </p:sp>
      <p:sp>
        <p:nvSpPr>
          <p:cNvPr id="24" name="Shape 22"/>
          <p:cNvSpPr/>
          <p:nvPr/>
        </p:nvSpPr>
        <p:spPr>
          <a:xfrm rot="10800000">
            <a:off x="5650992" y="3044952"/>
            <a:ext cx="402336" cy="310896"/>
          </a:xfrm>
          <a:prstGeom prst="triangle">
            <a:avLst/>
          </a:prstGeom>
          <a:solidFill>
            <a:srgbClr val="F7DEDF"/>
          </a:solidFill>
          <a:ln w="19050">
            <a:solidFill>
              <a:srgbClr val="C1272D"/>
            </a:solidFill>
            <a:prstDash val="solid"/>
          </a:ln>
        </p:spPr>
      </p:sp>
      <p:sp>
        <p:nvSpPr>
          <p:cNvPr id="25" name="Text 23"/>
          <p:cNvSpPr/>
          <p:nvPr/>
        </p:nvSpPr>
        <p:spPr>
          <a:xfrm>
            <a:off x="4828032" y="3063240"/>
            <a:ext cx="658368" cy="274320"/>
          </a:xfrm>
          <a:prstGeom prst="rect">
            <a:avLst/>
          </a:prstGeom>
          <a:noFill/>
          <a:ln/>
        </p:spPr>
        <p:txBody>
          <a:bodyPr wrap="square" lIns="0" tIns="0" rIns="0" bIns="0" rtlCol="0" anchor="ctr"/>
          <a:lstStyle/>
          <a:p>
            <a:pPr algn="r" indent="0" marL="0">
              <a:buNone/>
            </a:pPr>
            <a:r>
              <a:rPr lang="en-US" sz="1250" b="1" dirty="0">
                <a:solidFill>
                  <a:srgbClr val="55607A"/>
                </a:solidFill>
                <a:latin typeface="Calibri" pitchFamily="34" charset="0"/>
                <a:ea typeface="Calibri" pitchFamily="34" charset="-122"/>
                <a:cs typeface="Calibri" pitchFamily="34" charset="-120"/>
              </a:rPr>
              <a:t>C</a:t>
            </a:r>
            <a:endParaRPr lang="en-US" sz="1250" dirty="0"/>
          </a:p>
        </p:txBody>
      </p:sp>
      <p:sp>
        <p:nvSpPr>
          <p:cNvPr id="26" name="Shape 24"/>
          <p:cNvSpPr/>
          <p:nvPr/>
        </p:nvSpPr>
        <p:spPr>
          <a:xfrm flipH="1">
            <a:off x="5029200" y="3383280"/>
            <a:ext cx="822960" cy="1051560"/>
          </a:xfrm>
          <a:prstGeom prst="line">
            <a:avLst/>
          </a:prstGeom>
          <a:noFill/>
          <a:ln w="15875">
            <a:solidFill>
              <a:srgbClr val="55607A"/>
            </a:solidFill>
            <a:prstDash val="solid"/>
          </a:ln>
        </p:spPr>
      </p:sp>
      <p:sp>
        <p:nvSpPr>
          <p:cNvPr id="27" name="Shape 25"/>
          <p:cNvSpPr/>
          <p:nvPr/>
        </p:nvSpPr>
        <p:spPr>
          <a:xfrm>
            <a:off x="4828032" y="4462272"/>
            <a:ext cx="402336" cy="310896"/>
          </a:xfrm>
          <a:prstGeom prst="roundRect">
            <a:avLst>
              <a:gd name="adj" fmla="val 14706"/>
            </a:avLst>
          </a:prstGeom>
          <a:solidFill>
            <a:srgbClr val="DCE3EE"/>
          </a:solidFill>
          <a:ln w="12700">
            <a:solidFill>
              <a:srgbClr val="55607A"/>
            </a:solidFill>
            <a:prstDash val="solid"/>
          </a:ln>
        </p:spPr>
      </p:sp>
      <p:sp>
        <p:nvSpPr>
          <p:cNvPr id="28" name="Text 26"/>
          <p:cNvSpPr/>
          <p:nvPr/>
        </p:nvSpPr>
        <p:spPr>
          <a:xfrm>
            <a:off x="462686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2</a:t>
            </a:r>
            <a:endParaRPr lang="en-US" sz="1250" dirty="0"/>
          </a:p>
        </p:txBody>
      </p:sp>
      <p:sp>
        <p:nvSpPr>
          <p:cNvPr id="29" name="Shape 27"/>
          <p:cNvSpPr/>
          <p:nvPr/>
        </p:nvSpPr>
        <p:spPr>
          <a:xfrm>
            <a:off x="5852160" y="3383280"/>
            <a:ext cx="4572" cy="1051560"/>
          </a:xfrm>
          <a:prstGeom prst="line">
            <a:avLst/>
          </a:prstGeom>
          <a:noFill/>
          <a:ln w="15875">
            <a:solidFill>
              <a:srgbClr val="55607A"/>
            </a:solidFill>
            <a:prstDash val="solid"/>
          </a:ln>
        </p:spPr>
      </p:sp>
      <p:sp>
        <p:nvSpPr>
          <p:cNvPr id="30" name="Shape 28"/>
          <p:cNvSpPr/>
          <p:nvPr/>
        </p:nvSpPr>
        <p:spPr>
          <a:xfrm>
            <a:off x="5650992" y="4462272"/>
            <a:ext cx="402336" cy="310896"/>
          </a:xfrm>
          <a:prstGeom prst="roundRect">
            <a:avLst>
              <a:gd name="adj" fmla="val 14706"/>
            </a:avLst>
          </a:prstGeom>
          <a:solidFill>
            <a:srgbClr val="DCE3EE"/>
          </a:solidFill>
          <a:ln w="12700">
            <a:solidFill>
              <a:srgbClr val="55607A"/>
            </a:solidFill>
            <a:prstDash val="solid"/>
          </a:ln>
        </p:spPr>
      </p:sp>
      <p:sp>
        <p:nvSpPr>
          <p:cNvPr id="31" name="Text 29"/>
          <p:cNvSpPr/>
          <p:nvPr/>
        </p:nvSpPr>
        <p:spPr>
          <a:xfrm>
            <a:off x="544982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4</a:t>
            </a:r>
            <a:endParaRPr lang="en-US" sz="1250" dirty="0"/>
          </a:p>
        </p:txBody>
      </p:sp>
      <p:sp>
        <p:nvSpPr>
          <p:cNvPr id="32" name="Shape 30"/>
          <p:cNvSpPr/>
          <p:nvPr/>
        </p:nvSpPr>
        <p:spPr>
          <a:xfrm>
            <a:off x="5852160" y="3383280"/>
            <a:ext cx="822960" cy="1051560"/>
          </a:xfrm>
          <a:prstGeom prst="line">
            <a:avLst/>
          </a:prstGeom>
          <a:noFill/>
          <a:ln w="15875">
            <a:solidFill>
              <a:srgbClr val="55607A"/>
            </a:solidFill>
            <a:prstDash val="solid"/>
          </a:ln>
        </p:spPr>
      </p:sp>
      <p:sp>
        <p:nvSpPr>
          <p:cNvPr id="33" name="Shape 31"/>
          <p:cNvSpPr/>
          <p:nvPr/>
        </p:nvSpPr>
        <p:spPr>
          <a:xfrm>
            <a:off x="6473952" y="4462272"/>
            <a:ext cx="402336" cy="310896"/>
          </a:xfrm>
          <a:prstGeom prst="roundRect">
            <a:avLst>
              <a:gd name="adj" fmla="val 14706"/>
            </a:avLst>
          </a:prstGeom>
          <a:solidFill>
            <a:srgbClr val="DCE3EE"/>
          </a:solidFill>
          <a:ln w="12700">
            <a:solidFill>
              <a:srgbClr val="55607A"/>
            </a:solidFill>
            <a:prstDash val="solid"/>
          </a:ln>
        </p:spPr>
      </p:sp>
      <p:sp>
        <p:nvSpPr>
          <p:cNvPr id="34" name="Text 32"/>
          <p:cNvSpPr/>
          <p:nvPr/>
        </p:nvSpPr>
        <p:spPr>
          <a:xfrm>
            <a:off x="627278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6</a:t>
            </a:r>
            <a:endParaRPr lang="en-US" sz="1250" dirty="0"/>
          </a:p>
        </p:txBody>
      </p:sp>
      <p:sp>
        <p:nvSpPr>
          <p:cNvPr id="35" name="Shape 33"/>
          <p:cNvSpPr/>
          <p:nvPr/>
        </p:nvSpPr>
        <p:spPr>
          <a:xfrm>
            <a:off x="5852160" y="2148840"/>
            <a:ext cx="3200400" cy="868680"/>
          </a:xfrm>
          <a:prstGeom prst="line">
            <a:avLst/>
          </a:prstGeom>
          <a:noFill/>
          <a:ln w="15875">
            <a:solidFill>
              <a:srgbClr val="55607A"/>
            </a:solidFill>
            <a:prstDash val="solid"/>
          </a:ln>
        </p:spPr>
      </p:sp>
      <p:sp>
        <p:nvSpPr>
          <p:cNvPr id="36" name="Text 34"/>
          <p:cNvSpPr/>
          <p:nvPr/>
        </p:nvSpPr>
        <p:spPr>
          <a:xfrm>
            <a:off x="7132320" y="2363724"/>
            <a:ext cx="640080" cy="256032"/>
          </a:xfrm>
          <a:prstGeom prst="rect">
            <a:avLst/>
          </a:prstGeom>
          <a:noFill/>
          <a:ln/>
        </p:spPr>
        <p:txBody>
          <a:bodyPr wrap="square" lIns="0" tIns="0" rIns="0" bIns="0" rtlCol="0" anchor="ctr"/>
          <a:lstStyle/>
          <a:p>
            <a:pPr algn="ctr" indent="0" marL="0">
              <a:buNone/>
            </a:pPr>
            <a:r>
              <a:rPr lang="en-US" sz="1100" i="1" dirty="0">
                <a:solidFill>
                  <a:srgbClr val="1F5AC4"/>
                </a:solidFill>
                <a:latin typeface="Calibri" pitchFamily="34" charset="0"/>
                <a:ea typeface="Calibri" pitchFamily="34" charset="-122"/>
                <a:cs typeface="Calibri" pitchFamily="34" charset="-120"/>
              </a:rPr>
              <a:t>a3</a:t>
            </a:r>
            <a:endParaRPr lang="en-US" sz="1100" dirty="0"/>
          </a:p>
        </p:txBody>
      </p:sp>
      <p:sp>
        <p:nvSpPr>
          <p:cNvPr id="37" name="Shape 35"/>
          <p:cNvSpPr/>
          <p:nvPr/>
        </p:nvSpPr>
        <p:spPr>
          <a:xfrm rot="10800000">
            <a:off x="8851392" y="3044952"/>
            <a:ext cx="402336" cy="310896"/>
          </a:xfrm>
          <a:prstGeom prst="triangle">
            <a:avLst/>
          </a:prstGeom>
          <a:solidFill>
            <a:srgbClr val="F7DEDF"/>
          </a:solidFill>
          <a:ln w="19050">
            <a:solidFill>
              <a:srgbClr val="C1272D"/>
            </a:solidFill>
            <a:prstDash val="solid"/>
          </a:ln>
        </p:spPr>
      </p:sp>
      <p:sp>
        <p:nvSpPr>
          <p:cNvPr id="38" name="Text 36"/>
          <p:cNvSpPr/>
          <p:nvPr/>
        </p:nvSpPr>
        <p:spPr>
          <a:xfrm>
            <a:off x="8028432" y="3063240"/>
            <a:ext cx="658368" cy="274320"/>
          </a:xfrm>
          <a:prstGeom prst="rect">
            <a:avLst/>
          </a:prstGeom>
          <a:noFill/>
          <a:ln/>
        </p:spPr>
        <p:txBody>
          <a:bodyPr wrap="square" lIns="0" tIns="0" rIns="0" bIns="0" rtlCol="0" anchor="ctr"/>
          <a:lstStyle/>
          <a:p>
            <a:pPr algn="r" indent="0" marL="0">
              <a:buNone/>
            </a:pPr>
            <a:r>
              <a:rPr lang="en-US" sz="1250" b="1" dirty="0">
                <a:solidFill>
                  <a:srgbClr val="55607A"/>
                </a:solidFill>
                <a:latin typeface="Calibri" pitchFamily="34" charset="0"/>
                <a:ea typeface="Calibri" pitchFamily="34" charset="-122"/>
                <a:cs typeface="Calibri" pitchFamily="34" charset="-120"/>
              </a:rPr>
              <a:t>D</a:t>
            </a:r>
            <a:endParaRPr lang="en-US" sz="1250" dirty="0"/>
          </a:p>
        </p:txBody>
      </p:sp>
      <p:sp>
        <p:nvSpPr>
          <p:cNvPr id="39" name="Shape 37"/>
          <p:cNvSpPr/>
          <p:nvPr/>
        </p:nvSpPr>
        <p:spPr>
          <a:xfrm flipH="1">
            <a:off x="8229600" y="3383280"/>
            <a:ext cx="822960" cy="1051560"/>
          </a:xfrm>
          <a:prstGeom prst="line">
            <a:avLst/>
          </a:prstGeom>
          <a:noFill/>
          <a:ln w="15875">
            <a:solidFill>
              <a:srgbClr val="55607A"/>
            </a:solidFill>
            <a:prstDash val="solid"/>
          </a:ln>
        </p:spPr>
      </p:sp>
      <p:sp>
        <p:nvSpPr>
          <p:cNvPr id="40" name="Shape 38"/>
          <p:cNvSpPr/>
          <p:nvPr/>
        </p:nvSpPr>
        <p:spPr>
          <a:xfrm>
            <a:off x="8028432" y="4462272"/>
            <a:ext cx="402336" cy="310896"/>
          </a:xfrm>
          <a:prstGeom prst="roundRect">
            <a:avLst>
              <a:gd name="adj" fmla="val 14706"/>
            </a:avLst>
          </a:prstGeom>
          <a:solidFill>
            <a:srgbClr val="DCE3EE"/>
          </a:solidFill>
          <a:ln w="12700">
            <a:solidFill>
              <a:srgbClr val="55607A"/>
            </a:solidFill>
            <a:prstDash val="solid"/>
          </a:ln>
        </p:spPr>
      </p:sp>
      <p:sp>
        <p:nvSpPr>
          <p:cNvPr id="41" name="Text 39"/>
          <p:cNvSpPr/>
          <p:nvPr/>
        </p:nvSpPr>
        <p:spPr>
          <a:xfrm>
            <a:off x="782726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14</a:t>
            </a:r>
            <a:endParaRPr lang="en-US" sz="1250" dirty="0"/>
          </a:p>
        </p:txBody>
      </p:sp>
      <p:sp>
        <p:nvSpPr>
          <p:cNvPr id="42" name="Shape 40"/>
          <p:cNvSpPr/>
          <p:nvPr/>
        </p:nvSpPr>
        <p:spPr>
          <a:xfrm>
            <a:off x="9052560" y="3383280"/>
            <a:ext cx="4572" cy="1051560"/>
          </a:xfrm>
          <a:prstGeom prst="line">
            <a:avLst/>
          </a:prstGeom>
          <a:noFill/>
          <a:ln w="15875">
            <a:solidFill>
              <a:srgbClr val="55607A"/>
            </a:solidFill>
            <a:prstDash val="solid"/>
          </a:ln>
        </p:spPr>
      </p:sp>
      <p:sp>
        <p:nvSpPr>
          <p:cNvPr id="43" name="Shape 41"/>
          <p:cNvSpPr/>
          <p:nvPr/>
        </p:nvSpPr>
        <p:spPr>
          <a:xfrm>
            <a:off x="8851392" y="4462272"/>
            <a:ext cx="402336" cy="310896"/>
          </a:xfrm>
          <a:prstGeom prst="roundRect">
            <a:avLst>
              <a:gd name="adj" fmla="val 14706"/>
            </a:avLst>
          </a:prstGeom>
          <a:solidFill>
            <a:srgbClr val="DCE3EE"/>
          </a:solidFill>
          <a:ln w="12700">
            <a:solidFill>
              <a:srgbClr val="55607A"/>
            </a:solidFill>
            <a:prstDash val="solid"/>
          </a:ln>
        </p:spPr>
      </p:sp>
      <p:sp>
        <p:nvSpPr>
          <p:cNvPr id="44" name="Text 42"/>
          <p:cNvSpPr/>
          <p:nvPr/>
        </p:nvSpPr>
        <p:spPr>
          <a:xfrm>
            <a:off x="865022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5</a:t>
            </a:r>
            <a:endParaRPr lang="en-US" sz="1250" dirty="0"/>
          </a:p>
        </p:txBody>
      </p:sp>
      <p:sp>
        <p:nvSpPr>
          <p:cNvPr id="45" name="Shape 43"/>
          <p:cNvSpPr/>
          <p:nvPr/>
        </p:nvSpPr>
        <p:spPr>
          <a:xfrm>
            <a:off x="9052560" y="3383280"/>
            <a:ext cx="822960" cy="1051560"/>
          </a:xfrm>
          <a:prstGeom prst="line">
            <a:avLst/>
          </a:prstGeom>
          <a:noFill/>
          <a:ln w="15875">
            <a:solidFill>
              <a:srgbClr val="55607A"/>
            </a:solidFill>
            <a:prstDash val="solid"/>
          </a:ln>
        </p:spPr>
      </p:sp>
      <p:sp>
        <p:nvSpPr>
          <p:cNvPr id="46" name="Shape 44"/>
          <p:cNvSpPr/>
          <p:nvPr/>
        </p:nvSpPr>
        <p:spPr>
          <a:xfrm>
            <a:off x="9674352" y="4462272"/>
            <a:ext cx="402336" cy="310896"/>
          </a:xfrm>
          <a:prstGeom prst="roundRect">
            <a:avLst>
              <a:gd name="adj" fmla="val 14706"/>
            </a:avLst>
          </a:prstGeom>
          <a:solidFill>
            <a:srgbClr val="DCE3EE"/>
          </a:solidFill>
          <a:ln w="12700">
            <a:solidFill>
              <a:srgbClr val="55607A"/>
            </a:solidFill>
            <a:prstDash val="solid"/>
          </a:ln>
        </p:spPr>
      </p:sp>
      <p:sp>
        <p:nvSpPr>
          <p:cNvPr id="47" name="Text 45"/>
          <p:cNvSpPr/>
          <p:nvPr/>
        </p:nvSpPr>
        <p:spPr>
          <a:xfrm>
            <a:off x="947318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2</a:t>
            </a:r>
            <a:endParaRPr lang="en-US" sz="1250" dirty="0"/>
          </a:p>
        </p:txBody>
      </p:sp>
      <p:sp>
        <p:nvSpPr>
          <p:cNvPr id="48" name="Text 46"/>
          <p:cNvSpPr/>
          <p:nvPr/>
        </p:nvSpPr>
        <p:spPr>
          <a:xfrm>
            <a:off x="640080" y="5212080"/>
            <a:ext cx="10881360" cy="45720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MAX has three actions at the root: a1, a2, a3. MIN's replies to a1 are b1, b2, b3, and so on.</a:t>
            </a:r>
            <a:endParaRPr lang="en-US" sz="1400" dirty="0"/>
          </a:p>
          <a:p>
            <a:pPr marL="203200" indent="-2032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The game ends after one move each - two ply. The nine terminal utilities range from 2 to 14. Work out the value of every node before the next slide.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FIGURE 5.2, SOLVED</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Backing the Values Up</a:t>
            </a:r>
            <a:endParaRPr lang="en-US" sz="2900" dirty="0"/>
          </a:p>
        </p:txBody>
      </p:sp>
      <p:sp>
        <p:nvSpPr>
          <p:cNvPr id="4" name="Shape 2"/>
          <p:cNvSpPr/>
          <p:nvPr/>
        </p:nvSpPr>
        <p:spPr>
          <a:xfrm>
            <a:off x="5650992" y="1810512"/>
            <a:ext cx="402336" cy="310896"/>
          </a:xfrm>
          <a:prstGeom prst="triangle">
            <a:avLst/>
          </a:prstGeom>
          <a:solidFill>
            <a:srgbClr val="DCE6FA"/>
          </a:solidFill>
          <a:ln w="19050">
            <a:solidFill>
              <a:srgbClr val="1F5AC4"/>
            </a:solidFill>
            <a:prstDash val="solid"/>
          </a:ln>
        </p:spPr>
      </p:sp>
      <p:sp>
        <p:nvSpPr>
          <p:cNvPr id="5" name="Text 3"/>
          <p:cNvSpPr/>
          <p:nvPr/>
        </p:nvSpPr>
        <p:spPr>
          <a:xfrm>
            <a:off x="5394960" y="1399032"/>
            <a:ext cx="914400" cy="292608"/>
          </a:xfrm>
          <a:prstGeom prst="rect">
            <a:avLst/>
          </a:prstGeom>
          <a:noFill/>
          <a:ln/>
        </p:spPr>
        <p:txBody>
          <a:bodyPr wrap="square" lIns="0" tIns="0" rIns="0" bIns="0" rtlCol="0" anchor="ctr"/>
          <a:lstStyle/>
          <a:p>
            <a:pPr algn="ctr" indent="0" marL="0">
              <a:buNone/>
            </a:pPr>
            <a:r>
              <a:rPr lang="en-US" sz="1400" b="1" dirty="0">
                <a:solidFill>
                  <a:srgbClr val="1F5AC4"/>
                </a:solidFill>
                <a:latin typeface="Calibri" pitchFamily="34" charset="0"/>
                <a:ea typeface="Calibri" pitchFamily="34" charset="-122"/>
                <a:cs typeface="Calibri" pitchFamily="34" charset="-120"/>
              </a:rPr>
              <a:t>3</a:t>
            </a:r>
            <a:endParaRPr lang="en-US" sz="1400" dirty="0"/>
          </a:p>
        </p:txBody>
      </p:sp>
      <p:sp>
        <p:nvSpPr>
          <p:cNvPr id="6" name="Text 4"/>
          <p:cNvSpPr/>
          <p:nvPr/>
        </p:nvSpPr>
        <p:spPr>
          <a:xfrm>
            <a:off x="5029200" y="1819656"/>
            <a:ext cx="457200" cy="274320"/>
          </a:xfrm>
          <a:prstGeom prst="rect">
            <a:avLst/>
          </a:prstGeom>
          <a:noFill/>
          <a:ln/>
        </p:spPr>
        <p:txBody>
          <a:bodyPr wrap="square" lIns="0" tIns="0" rIns="0" bIns="0" rtlCol="0" anchor="ctr"/>
          <a:lstStyle/>
          <a:p>
            <a:pPr algn="r" indent="0" marL="0">
              <a:buNone/>
            </a:pPr>
            <a:r>
              <a:rPr lang="en-US" sz="1200" b="1" dirty="0">
                <a:solidFill>
                  <a:srgbClr val="55607A"/>
                </a:solidFill>
                <a:latin typeface="Calibri" pitchFamily="34" charset="0"/>
                <a:ea typeface="Calibri" pitchFamily="34" charset="-122"/>
                <a:cs typeface="Calibri" pitchFamily="34" charset="-120"/>
              </a:rPr>
              <a:t>A</a:t>
            </a:r>
            <a:endParaRPr lang="en-US" sz="1200" dirty="0"/>
          </a:p>
        </p:txBody>
      </p:sp>
      <p:sp>
        <p:nvSpPr>
          <p:cNvPr id="7" name="Shape 5"/>
          <p:cNvSpPr/>
          <p:nvPr/>
        </p:nvSpPr>
        <p:spPr>
          <a:xfrm flipH="1">
            <a:off x="2651760" y="2148840"/>
            <a:ext cx="3200400" cy="868680"/>
          </a:xfrm>
          <a:prstGeom prst="line">
            <a:avLst/>
          </a:prstGeom>
          <a:noFill/>
          <a:ln w="15875">
            <a:solidFill>
              <a:srgbClr val="55607A"/>
            </a:solidFill>
            <a:prstDash val="solid"/>
          </a:ln>
        </p:spPr>
      </p:sp>
      <p:sp>
        <p:nvSpPr>
          <p:cNvPr id="8" name="Shape 6"/>
          <p:cNvSpPr/>
          <p:nvPr/>
        </p:nvSpPr>
        <p:spPr>
          <a:xfrm rot="10800000">
            <a:off x="2450592" y="3044952"/>
            <a:ext cx="402336" cy="310896"/>
          </a:xfrm>
          <a:prstGeom prst="triangle">
            <a:avLst/>
          </a:prstGeom>
          <a:solidFill>
            <a:srgbClr val="F7DEDF"/>
          </a:solidFill>
          <a:ln w="19050">
            <a:solidFill>
              <a:srgbClr val="C1272D"/>
            </a:solidFill>
            <a:prstDash val="solid"/>
          </a:ln>
        </p:spPr>
      </p:sp>
      <p:sp>
        <p:nvSpPr>
          <p:cNvPr id="9" name="Text 7"/>
          <p:cNvSpPr/>
          <p:nvPr/>
        </p:nvSpPr>
        <p:spPr>
          <a:xfrm>
            <a:off x="2194560" y="2633472"/>
            <a:ext cx="914400" cy="292608"/>
          </a:xfrm>
          <a:prstGeom prst="rect">
            <a:avLst/>
          </a:prstGeom>
          <a:noFill/>
          <a:ln/>
        </p:spPr>
        <p:txBody>
          <a:bodyPr wrap="square" lIns="0" tIns="0" rIns="0" bIns="0" rtlCol="0" anchor="ctr"/>
          <a:lstStyle/>
          <a:p>
            <a:pPr algn="ctr" indent="0" marL="0">
              <a:buNone/>
            </a:pPr>
            <a:r>
              <a:rPr lang="en-US" sz="1400" b="1" dirty="0">
                <a:solidFill>
                  <a:srgbClr val="C1272D"/>
                </a:solidFill>
                <a:latin typeface="Calibri" pitchFamily="34" charset="0"/>
                <a:ea typeface="Calibri" pitchFamily="34" charset="-122"/>
                <a:cs typeface="Calibri" pitchFamily="34" charset="-120"/>
              </a:rPr>
              <a:t>3</a:t>
            </a:r>
            <a:endParaRPr lang="en-US" sz="1400" dirty="0"/>
          </a:p>
        </p:txBody>
      </p:sp>
      <p:sp>
        <p:nvSpPr>
          <p:cNvPr id="10" name="Text 8"/>
          <p:cNvSpPr/>
          <p:nvPr/>
        </p:nvSpPr>
        <p:spPr>
          <a:xfrm>
            <a:off x="1627632" y="3063240"/>
            <a:ext cx="658368" cy="274320"/>
          </a:xfrm>
          <a:prstGeom prst="rect">
            <a:avLst/>
          </a:prstGeom>
          <a:noFill/>
          <a:ln/>
        </p:spPr>
        <p:txBody>
          <a:bodyPr wrap="square" lIns="0" tIns="0" rIns="0" bIns="0" rtlCol="0" anchor="ctr"/>
          <a:lstStyle/>
          <a:p>
            <a:pPr algn="r" indent="0" marL="0">
              <a:buNone/>
            </a:pPr>
            <a:r>
              <a:rPr lang="en-US" sz="1250" b="1" dirty="0">
                <a:solidFill>
                  <a:srgbClr val="55607A"/>
                </a:solidFill>
                <a:latin typeface="Calibri" pitchFamily="34" charset="0"/>
                <a:ea typeface="Calibri" pitchFamily="34" charset="-122"/>
                <a:cs typeface="Calibri" pitchFamily="34" charset="-120"/>
              </a:rPr>
              <a:t>B</a:t>
            </a:r>
            <a:endParaRPr lang="en-US" sz="1250" dirty="0"/>
          </a:p>
        </p:txBody>
      </p:sp>
      <p:sp>
        <p:nvSpPr>
          <p:cNvPr id="11" name="Shape 9"/>
          <p:cNvSpPr/>
          <p:nvPr/>
        </p:nvSpPr>
        <p:spPr>
          <a:xfrm flipH="1">
            <a:off x="1828800" y="3383280"/>
            <a:ext cx="822960" cy="1051560"/>
          </a:xfrm>
          <a:prstGeom prst="line">
            <a:avLst/>
          </a:prstGeom>
          <a:noFill/>
          <a:ln w="15875">
            <a:solidFill>
              <a:srgbClr val="55607A"/>
            </a:solidFill>
            <a:prstDash val="solid"/>
          </a:ln>
        </p:spPr>
      </p:sp>
      <p:sp>
        <p:nvSpPr>
          <p:cNvPr id="12" name="Shape 10"/>
          <p:cNvSpPr/>
          <p:nvPr/>
        </p:nvSpPr>
        <p:spPr>
          <a:xfrm>
            <a:off x="1627632" y="4462272"/>
            <a:ext cx="402336" cy="310896"/>
          </a:xfrm>
          <a:prstGeom prst="roundRect">
            <a:avLst>
              <a:gd name="adj" fmla="val 14706"/>
            </a:avLst>
          </a:prstGeom>
          <a:solidFill>
            <a:srgbClr val="DCE3EE"/>
          </a:solidFill>
          <a:ln w="12700">
            <a:solidFill>
              <a:srgbClr val="55607A"/>
            </a:solidFill>
            <a:prstDash val="solid"/>
          </a:ln>
        </p:spPr>
      </p:sp>
      <p:sp>
        <p:nvSpPr>
          <p:cNvPr id="13" name="Text 11"/>
          <p:cNvSpPr/>
          <p:nvPr/>
        </p:nvSpPr>
        <p:spPr>
          <a:xfrm>
            <a:off x="142646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3</a:t>
            </a:r>
            <a:endParaRPr lang="en-US" sz="1250" dirty="0"/>
          </a:p>
        </p:txBody>
      </p:sp>
      <p:sp>
        <p:nvSpPr>
          <p:cNvPr id="14" name="Shape 12"/>
          <p:cNvSpPr/>
          <p:nvPr/>
        </p:nvSpPr>
        <p:spPr>
          <a:xfrm>
            <a:off x="2651760" y="3383280"/>
            <a:ext cx="4572" cy="1051560"/>
          </a:xfrm>
          <a:prstGeom prst="line">
            <a:avLst/>
          </a:prstGeom>
          <a:noFill/>
          <a:ln w="15875">
            <a:solidFill>
              <a:srgbClr val="55607A"/>
            </a:solidFill>
            <a:prstDash val="solid"/>
          </a:ln>
        </p:spPr>
      </p:sp>
      <p:sp>
        <p:nvSpPr>
          <p:cNvPr id="15" name="Shape 13"/>
          <p:cNvSpPr/>
          <p:nvPr/>
        </p:nvSpPr>
        <p:spPr>
          <a:xfrm>
            <a:off x="2450592" y="4462272"/>
            <a:ext cx="402336" cy="310896"/>
          </a:xfrm>
          <a:prstGeom prst="roundRect">
            <a:avLst>
              <a:gd name="adj" fmla="val 14706"/>
            </a:avLst>
          </a:prstGeom>
          <a:solidFill>
            <a:srgbClr val="DCE3EE"/>
          </a:solidFill>
          <a:ln w="12700">
            <a:solidFill>
              <a:srgbClr val="55607A"/>
            </a:solidFill>
            <a:prstDash val="solid"/>
          </a:ln>
        </p:spPr>
      </p:sp>
      <p:sp>
        <p:nvSpPr>
          <p:cNvPr id="16" name="Text 14"/>
          <p:cNvSpPr/>
          <p:nvPr/>
        </p:nvSpPr>
        <p:spPr>
          <a:xfrm>
            <a:off x="224942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12</a:t>
            </a:r>
            <a:endParaRPr lang="en-US" sz="1250" dirty="0"/>
          </a:p>
        </p:txBody>
      </p:sp>
      <p:sp>
        <p:nvSpPr>
          <p:cNvPr id="17" name="Shape 15"/>
          <p:cNvSpPr/>
          <p:nvPr/>
        </p:nvSpPr>
        <p:spPr>
          <a:xfrm>
            <a:off x="2651760" y="3383280"/>
            <a:ext cx="822960" cy="1051560"/>
          </a:xfrm>
          <a:prstGeom prst="line">
            <a:avLst/>
          </a:prstGeom>
          <a:noFill/>
          <a:ln w="15875">
            <a:solidFill>
              <a:srgbClr val="55607A"/>
            </a:solidFill>
            <a:prstDash val="solid"/>
          </a:ln>
        </p:spPr>
      </p:sp>
      <p:sp>
        <p:nvSpPr>
          <p:cNvPr id="18" name="Shape 16"/>
          <p:cNvSpPr/>
          <p:nvPr/>
        </p:nvSpPr>
        <p:spPr>
          <a:xfrm>
            <a:off x="3273552" y="4462272"/>
            <a:ext cx="402336" cy="310896"/>
          </a:xfrm>
          <a:prstGeom prst="roundRect">
            <a:avLst>
              <a:gd name="adj" fmla="val 14706"/>
            </a:avLst>
          </a:prstGeom>
          <a:solidFill>
            <a:srgbClr val="DCE3EE"/>
          </a:solidFill>
          <a:ln w="12700">
            <a:solidFill>
              <a:srgbClr val="55607A"/>
            </a:solidFill>
            <a:prstDash val="solid"/>
          </a:ln>
        </p:spPr>
      </p:sp>
      <p:sp>
        <p:nvSpPr>
          <p:cNvPr id="19" name="Text 17"/>
          <p:cNvSpPr/>
          <p:nvPr/>
        </p:nvSpPr>
        <p:spPr>
          <a:xfrm>
            <a:off x="307238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8</a:t>
            </a:r>
            <a:endParaRPr lang="en-US" sz="1250" dirty="0"/>
          </a:p>
        </p:txBody>
      </p:sp>
      <p:sp>
        <p:nvSpPr>
          <p:cNvPr id="20" name="Shape 18"/>
          <p:cNvSpPr/>
          <p:nvPr/>
        </p:nvSpPr>
        <p:spPr>
          <a:xfrm>
            <a:off x="5852160" y="2148840"/>
            <a:ext cx="4572" cy="868680"/>
          </a:xfrm>
          <a:prstGeom prst="line">
            <a:avLst/>
          </a:prstGeom>
          <a:noFill/>
          <a:ln w="15875">
            <a:solidFill>
              <a:srgbClr val="55607A"/>
            </a:solidFill>
            <a:prstDash val="solid"/>
          </a:ln>
        </p:spPr>
      </p:sp>
      <p:sp>
        <p:nvSpPr>
          <p:cNvPr id="21" name="Shape 19"/>
          <p:cNvSpPr/>
          <p:nvPr/>
        </p:nvSpPr>
        <p:spPr>
          <a:xfrm rot="10800000">
            <a:off x="5650992" y="3044952"/>
            <a:ext cx="402336" cy="310896"/>
          </a:xfrm>
          <a:prstGeom prst="triangle">
            <a:avLst/>
          </a:prstGeom>
          <a:solidFill>
            <a:srgbClr val="F7DEDF"/>
          </a:solidFill>
          <a:ln w="19050">
            <a:solidFill>
              <a:srgbClr val="C1272D"/>
            </a:solidFill>
            <a:prstDash val="solid"/>
          </a:ln>
        </p:spPr>
      </p:sp>
      <p:sp>
        <p:nvSpPr>
          <p:cNvPr id="22" name="Text 20"/>
          <p:cNvSpPr/>
          <p:nvPr/>
        </p:nvSpPr>
        <p:spPr>
          <a:xfrm>
            <a:off x="5943600" y="2633472"/>
            <a:ext cx="914400" cy="292608"/>
          </a:xfrm>
          <a:prstGeom prst="rect">
            <a:avLst/>
          </a:prstGeom>
          <a:noFill/>
          <a:ln/>
        </p:spPr>
        <p:txBody>
          <a:bodyPr wrap="square" lIns="0" tIns="0" rIns="0" bIns="0" rtlCol="0" anchor="ctr"/>
          <a:lstStyle/>
          <a:p>
            <a:pPr algn="ctr" indent="0" marL="0">
              <a:buNone/>
            </a:pPr>
            <a:r>
              <a:rPr lang="en-US" sz="1400" b="1" dirty="0">
                <a:solidFill>
                  <a:srgbClr val="C1272D"/>
                </a:solidFill>
                <a:latin typeface="Calibri" pitchFamily="34" charset="0"/>
                <a:ea typeface="Calibri" pitchFamily="34" charset="-122"/>
                <a:cs typeface="Calibri" pitchFamily="34" charset="-120"/>
              </a:rPr>
              <a:t>2</a:t>
            </a:r>
            <a:endParaRPr lang="en-US" sz="1400" dirty="0"/>
          </a:p>
        </p:txBody>
      </p:sp>
      <p:sp>
        <p:nvSpPr>
          <p:cNvPr id="23" name="Text 21"/>
          <p:cNvSpPr/>
          <p:nvPr/>
        </p:nvSpPr>
        <p:spPr>
          <a:xfrm>
            <a:off x="4828032" y="3063240"/>
            <a:ext cx="658368" cy="274320"/>
          </a:xfrm>
          <a:prstGeom prst="rect">
            <a:avLst/>
          </a:prstGeom>
          <a:noFill/>
          <a:ln/>
        </p:spPr>
        <p:txBody>
          <a:bodyPr wrap="square" lIns="0" tIns="0" rIns="0" bIns="0" rtlCol="0" anchor="ctr"/>
          <a:lstStyle/>
          <a:p>
            <a:pPr algn="r" indent="0" marL="0">
              <a:buNone/>
            </a:pPr>
            <a:r>
              <a:rPr lang="en-US" sz="1250" b="1" dirty="0">
                <a:solidFill>
                  <a:srgbClr val="55607A"/>
                </a:solidFill>
                <a:latin typeface="Calibri" pitchFamily="34" charset="0"/>
                <a:ea typeface="Calibri" pitchFamily="34" charset="-122"/>
                <a:cs typeface="Calibri" pitchFamily="34" charset="-120"/>
              </a:rPr>
              <a:t>C</a:t>
            </a:r>
            <a:endParaRPr lang="en-US" sz="1250" dirty="0"/>
          </a:p>
        </p:txBody>
      </p:sp>
      <p:sp>
        <p:nvSpPr>
          <p:cNvPr id="24" name="Shape 22"/>
          <p:cNvSpPr/>
          <p:nvPr/>
        </p:nvSpPr>
        <p:spPr>
          <a:xfrm flipH="1">
            <a:off x="5029200" y="3383280"/>
            <a:ext cx="822960" cy="1051560"/>
          </a:xfrm>
          <a:prstGeom prst="line">
            <a:avLst/>
          </a:prstGeom>
          <a:noFill/>
          <a:ln w="15875">
            <a:solidFill>
              <a:srgbClr val="55607A"/>
            </a:solidFill>
            <a:prstDash val="solid"/>
          </a:ln>
        </p:spPr>
      </p:sp>
      <p:sp>
        <p:nvSpPr>
          <p:cNvPr id="25" name="Shape 23"/>
          <p:cNvSpPr/>
          <p:nvPr/>
        </p:nvSpPr>
        <p:spPr>
          <a:xfrm>
            <a:off x="4828032" y="4462272"/>
            <a:ext cx="402336" cy="310896"/>
          </a:xfrm>
          <a:prstGeom prst="roundRect">
            <a:avLst>
              <a:gd name="adj" fmla="val 14706"/>
            </a:avLst>
          </a:prstGeom>
          <a:solidFill>
            <a:srgbClr val="DCE3EE"/>
          </a:solidFill>
          <a:ln w="12700">
            <a:solidFill>
              <a:srgbClr val="55607A"/>
            </a:solidFill>
            <a:prstDash val="solid"/>
          </a:ln>
        </p:spPr>
      </p:sp>
      <p:sp>
        <p:nvSpPr>
          <p:cNvPr id="26" name="Text 24"/>
          <p:cNvSpPr/>
          <p:nvPr/>
        </p:nvSpPr>
        <p:spPr>
          <a:xfrm>
            <a:off x="462686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2</a:t>
            </a:r>
            <a:endParaRPr lang="en-US" sz="1250" dirty="0"/>
          </a:p>
        </p:txBody>
      </p:sp>
      <p:sp>
        <p:nvSpPr>
          <p:cNvPr id="27" name="Shape 25"/>
          <p:cNvSpPr/>
          <p:nvPr/>
        </p:nvSpPr>
        <p:spPr>
          <a:xfrm>
            <a:off x="5852160" y="3383280"/>
            <a:ext cx="4572" cy="1051560"/>
          </a:xfrm>
          <a:prstGeom prst="line">
            <a:avLst/>
          </a:prstGeom>
          <a:noFill/>
          <a:ln w="15875">
            <a:solidFill>
              <a:srgbClr val="55607A"/>
            </a:solidFill>
            <a:prstDash val="solid"/>
          </a:ln>
        </p:spPr>
      </p:sp>
      <p:sp>
        <p:nvSpPr>
          <p:cNvPr id="28" name="Shape 26"/>
          <p:cNvSpPr/>
          <p:nvPr/>
        </p:nvSpPr>
        <p:spPr>
          <a:xfrm>
            <a:off x="5650992" y="4462272"/>
            <a:ext cx="402336" cy="310896"/>
          </a:xfrm>
          <a:prstGeom prst="roundRect">
            <a:avLst>
              <a:gd name="adj" fmla="val 14706"/>
            </a:avLst>
          </a:prstGeom>
          <a:solidFill>
            <a:srgbClr val="DCE3EE"/>
          </a:solidFill>
          <a:ln w="12700">
            <a:solidFill>
              <a:srgbClr val="55607A"/>
            </a:solidFill>
            <a:prstDash val="solid"/>
          </a:ln>
        </p:spPr>
      </p:sp>
      <p:sp>
        <p:nvSpPr>
          <p:cNvPr id="29" name="Text 27"/>
          <p:cNvSpPr/>
          <p:nvPr/>
        </p:nvSpPr>
        <p:spPr>
          <a:xfrm>
            <a:off x="544982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4</a:t>
            </a:r>
            <a:endParaRPr lang="en-US" sz="1250" dirty="0"/>
          </a:p>
        </p:txBody>
      </p:sp>
      <p:sp>
        <p:nvSpPr>
          <p:cNvPr id="30" name="Shape 28"/>
          <p:cNvSpPr/>
          <p:nvPr/>
        </p:nvSpPr>
        <p:spPr>
          <a:xfrm>
            <a:off x="5852160" y="3383280"/>
            <a:ext cx="822960" cy="1051560"/>
          </a:xfrm>
          <a:prstGeom prst="line">
            <a:avLst/>
          </a:prstGeom>
          <a:noFill/>
          <a:ln w="15875">
            <a:solidFill>
              <a:srgbClr val="55607A"/>
            </a:solidFill>
            <a:prstDash val="solid"/>
          </a:ln>
        </p:spPr>
      </p:sp>
      <p:sp>
        <p:nvSpPr>
          <p:cNvPr id="31" name="Shape 29"/>
          <p:cNvSpPr/>
          <p:nvPr/>
        </p:nvSpPr>
        <p:spPr>
          <a:xfrm>
            <a:off x="6473952" y="4462272"/>
            <a:ext cx="402336" cy="310896"/>
          </a:xfrm>
          <a:prstGeom prst="roundRect">
            <a:avLst>
              <a:gd name="adj" fmla="val 14706"/>
            </a:avLst>
          </a:prstGeom>
          <a:solidFill>
            <a:srgbClr val="DCE3EE"/>
          </a:solidFill>
          <a:ln w="12700">
            <a:solidFill>
              <a:srgbClr val="55607A"/>
            </a:solidFill>
            <a:prstDash val="solid"/>
          </a:ln>
        </p:spPr>
      </p:sp>
      <p:sp>
        <p:nvSpPr>
          <p:cNvPr id="32" name="Text 30"/>
          <p:cNvSpPr/>
          <p:nvPr/>
        </p:nvSpPr>
        <p:spPr>
          <a:xfrm>
            <a:off x="627278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6</a:t>
            </a:r>
            <a:endParaRPr lang="en-US" sz="1250" dirty="0"/>
          </a:p>
        </p:txBody>
      </p:sp>
      <p:sp>
        <p:nvSpPr>
          <p:cNvPr id="33" name="Shape 31"/>
          <p:cNvSpPr/>
          <p:nvPr/>
        </p:nvSpPr>
        <p:spPr>
          <a:xfrm>
            <a:off x="5852160" y="2148840"/>
            <a:ext cx="3200400" cy="868680"/>
          </a:xfrm>
          <a:prstGeom prst="line">
            <a:avLst/>
          </a:prstGeom>
          <a:noFill/>
          <a:ln w="15875">
            <a:solidFill>
              <a:srgbClr val="55607A"/>
            </a:solidFill>
            <a:prstDash val="solid"/>
          </a:ln>
        </p:spPr>
      </p:sp>
      <p:sp>
        <p:nvSpPr>
          <p:cNvPr id="34" name="Shape 32"/>
          <p:cNvSpPr/>
          <p:nvPr/>
        </p:nvSpPr>
        <p:spPr>
          <a:xfrm rot="10800000">
            <a:off x="8851392" y="3044952"/>
            <a:ext cx="402336" cy="310896"/>
          </a:xfrm>
          <a:prstGeom prst="triangle">
            <a:avLst/>
          </a:prstGeom>
          <a:solidFill>
            <a:srgbClr val="F7DEDF"/>
          </a:solidFill>
          <a:ln w="19050">
            <a:solidFill>
              <a:srgbClr val="C1272D"/>
            </a:solidFill>
            <a:prstDash val="solid"/>
          </a:ln>
        </p:spPr>
      </p:sp>
      <p:sp>
        <p:nvSpPr>
          <p:cNvPr id="35" name="Text 33"/>
          <p:cNvSpPr/>
          <p:nvPr/>
        </p:nvSpPr>
        <p:spPr>
          <a:xfrm>
            <a:off x="8595360" y="2633472"/>
            <a:ext cx="914400" cy="292608"/>
          </a:xfrm>
          <a:prstGeom prst="rect">
            <a:avLst/>
          </a:prstGeom>
          <a:noFill/>
          <a:ln/>
        </p:spPr>
        <p:txBody>
          <a:bodyPr wrap="square" lIns="0" tIns="0" rIns="0" bIns="0" rtlCol="0" anchor="ctr"/>
          <a:lstStyle/>
          <a:p>
            <a:pPr algn="ctr" indent="0" marL="0">
              <a:buNone/>
            </a:pPr>
            <a:r>
              <a:rPr lang="en-US" sz="1400" b="1" dirty="0">
                <a:solidFill>
                  <a:srgbClr val="C1272D"/>
                </a:solidFill>
                <a:latin typeface="Calibri" pitchFamily="34" charset="0"/>
                <a:ea typeface="Calibri" pitchFamily="34" charset="-122"/>
                <a:cs typeface="Calibri" pitchFamily="34" charset="-120"/>
              </a:rPr>
              <a:t>2</a:t>
            </a:r>
            <a:endParaRPr lang="en-US" sz="1400" dirty="0"/>
          </a:p>
        </p:txBody>
      </p:sp>
      <p:sp>
        <p:nvSpPr>
          <p:cNvPr id="36" name="Text 34"/>
          <p:cNvSpPr/>
          <p:nvPr/>
        </p:nvSpPr>
        <p:spPr>
          <a:xfrm>
            <a:off x="8028432" y="3063240"/>
            <a:ext cx="658368" cy="274320"/>
          </a:xfrm>
          <a:prstGeom prst="rect">
            <a:avLst/>
          </a:prstGeom>
          <a:noFill/>
          <a:ln/>
        </p:spPr>
        <p:txBody>
          <a:bodyPr wrap="square" lIns="0" tIns="0" rIns="0" bIns="0" rtlCol="0" anchor="ctr"/>
          <a:lstStyle/>
          <a:p>
            <a:pPr algn="r" indent="0" marL="0">
              <a:buNone/>
            </a:pPr>
            <a:r>
              <a:rPr lang="en-US" sz="1250" b="1" dirty="0">
                <a:solidFill>
                  <a:srgbClr val="55607A"/>
                </a:solidFill>
                <a:latin typeface="Calibri" pitchFamily="34" charset="0"/>
                <a:ea typeface="Calibri" pitchFamily="34" charset="-122"/>
                <a:cs typeface="Calibri" pitchFamily="34" charset="-120"/>
              </a:rPr>
              <a:t>D</a:t>
            </a:r>
            <a:endParaRPr lang="en-US" sz="1250" dirty="0"/>
          </a:p>
        </p:txBody>
      </p:sp>
      <p:sp>
        <p:nvSpPr>
          <p:cNvPr id="37" name="Shape 35"/>
          <p:cNvSpPr/>
          <p:nvPr/>
        </p:nvSpPr>
        <p:spPr>
          <a:xfrm flipH="1">
            <a:off x="8229600" y="3383280"/>
            <a:ext cx="822960" cy="1051560"/>
          </a:xfrm>
          <a:prstGeom prst="line">
            <a:avLst/>
          </a:prstGeom>
          <a:noFill/>
          <a:ln w="15875">
            <a:solidFill>
              <a:srgbClr val="55607A"/>
            </a:solidFill>
            <a:prstDash val="solid"/>
          </a:ln>
        </p:spPr>
      </p:sp>
      <p:sp>
        <p:nvSpPr>
          <p:cNvPr id="38" name="Shape 36"/>
          <p:cNvSpPr/>
          <p:nvPr/>
        </p:nvSpPr>
        <p:spPr>
          <a:xfrm>
            <a:off x="8028432" y="4462272"/>
            <a:ext cx="402336" cy="310896"/>
          </a:xfrm>
          <a:prstGeom prst="roundRect">
            <a:avLst>
              <a:gd name="adj" fmla="val 14706"/>
            </a:avLst>
          </a:prstGeom>
          <a:solidFill>
            <a:srgbClr val="DCE3EE"/>
          </a:solidFill>
          <a:ln w="12700">
            <a:solidFill>
              <a:srgbClr val="55607A"/>
            </a:solidFill>
            <a:prstDash val="solid"/>
          </a:ln>
        </p:spPr>
      </p:sp>
      <p:sp>
        <p:nvSpPr>
          <p:cNvPr id="39" name="Text 37"/>
          <p:cNvSpPr/>
          <p:nvPr/>
        </p:nvSpPr>
        <p:spPr>
          <a:xfrm>
            <a:off x="782726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14</a:t>
            </a:r>
            <a:endParaRPr lang="en-US" sz="1250" dirty="0"/>
          </a:p>
        </p:txBody>
      </p:sp>
      <p:sp>
        <p:nvSpPr>
          <p:cNvPr id="40" name="Shape 38"/>
          <p:cNvSpPr/>
          <p:nvPr/>
        </p:nvSpPr>
        <p:spPr>
          <a:xfrm>
            <a:off x="9052560" y="3383280"/>
            <a:ext cx="4572" cy="1051560"/>
          </a:xfrm>
          <a:prstGeom prst="line">
            <a:avLst/>
          </a:prstGeom>
          <a:noFill/>
          <a:ln w="15875">
            <a:solidFill>
              <a:srgbClr val="55607A"/>
            </a:solidFill>
            <a:prstDash val="solid"/>
          </a:ln>
        </p:spPr>
      </p:sp>
      <p:sp>
        <p:nvSpPr>
          <p:cNvPr id="41" name="Shape 39"/>
          <p:cNvSpPr/>
          <p:nvPr/>
        </p:nvSpPr>
        <p:spPr>
          <a:xfrm>
            <a:off x="8851392" y="4462272"/>
            <a:ext cx="402336" cy="310896"/>
          </a:xfrm>
          <a:prstGeom prst="roundRect">
            <a:avLst>
              <a:gd name="adj" fmla="val 14706"/>
            </a:avLst>
          </a:prstGeom>
          <a:solidFill>
            <a:srgbClr val="DCE3EE"/>
          </a:solidFill>
          <a:ln w="12700">
            <a:solidFill>
              <a:srgbClr val="55607A"/>
            </a:solidFill>
            <a:prstDash val="solid"/>
          </a:ln>
        </p:spPr>
      </p:sp>
      <p:sp>
        <p:nvSpPr>
          <p:cNvPr id="42" name="Text 40"/>
          <p:cNvSpPr/>
          <p:nvPr/>
        </p:nvSpPr>
        <p:spPr>
          <a:xfrm>
            <a:off x="865022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5</a:t>
            </a:r>
            <a:endParaRPr lang="en-US" sz="1250" dirty="0"/>
          </a:p>
        </p:txBody>
      </p:sp>
      <p:sp>
        <p:nvSpPr>
          <p:cNvPr id="43" name="Shape 41"/>
          <p:cNvSpPr/>
          <p:nvPr/>
        </p:nvSpPr>
        <p:spPr>
          <a:xfrm>
            <a:off x="9052560" y="3383280"/>
            <a:ext cx="822960" cy="1051560"/>
          </a:xfrm>
          <a:prstGeom prst="line">
            <a:avLst/>
          </a:prstGeom>
          <a:noFill/>
          <a:ln w="15875">
            <a:solidFill>
              <a:srgbClr val="55607A"/>
            </a:solidFill>
            <a:prstDash val="solid"/>
          </a:ln>
        </p:spPr>
      </p:sp>
      <p:sp>
        <p:nvSpPr>
          <p:cNvPr id="44" name="Shape 42"/>
          <p:cNvSpPr/>
          <p:nvPr/>
        </p:nvSpPr>
        <p:spPr>
          <a:xfrm>
            <a:off x="9674352" y="4462272"/>
            <a:ext cx="402336" cy="310896"/>
          </a:xfrm>
          <a:prstGeom prst="roundRect">
            <a:avLst>
              <a:gd name="adj" fmla="val 14706"/>
            </a:avLst>
          </a:prstGeom>
          <a:solidFill>
            <a:srgbClr val="DCE3EE"/>
          </a:solidFill>
          <a:ln w="12700">
            <a:solidFill>
              <a:srgbClr val="55607A"/>
            </a:solidFill>
            <a:prstDash val="solid"/>
          </a:ln>
        </p:spPr>
      </p:sp>
      <p:sp>
        <p:nvSpPr>
          <p:cNvPr id="45" name="Text 43"/>
          <p:cNvSpPr/>
          <p:nvPr/>
        </p:nvSpPr>
        <p:spPr>
          <a:xfrm>
            <a:off x="947318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2</a:t>
            </a:r>
            <a:endParaRPr lang="en-US" sz="1250" dirty="0"/>
          </a:p>
        </p:txBody>
      </p:sp>
      <p:sp>
        <p:nvSpPr>
          <p:cNvPr id="46" name="Text 44"/>
          <p:cNvSpPr/>
          <p:nvPr/>
        </p:nvSpPr>
        <p:spPr>
          <a:xfrm>
            <a:off x="640080" y="5166360"/>
            <a:ext cx="10881360" cy="45720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B is a MIN node over {3, 12, 8}, so MINIMAX(B) = 3. Likewise C = 2 and D = 2.</a:t>
            </a:r>
            <a:endParaRPr lang="en-US" sz="1400" dirty="0"/>
          </a:p>
          <a:p>
            <a:pPr marL="203200" indent="-203200">
              <a:spcAft>
                <a:spcPts val="400"/>
              </a:spcAft>
              <a:buSzPct val="100000"/>
              <a:buChar char="•"/>
            </a:pPr>
            <a:r>
              <a:rPr lang="en-US" sz="1400" b="1" dirty="0">
                <a:solidFill>
                  <a:srgbClr val="1A1A1A"/>
                </a:solidFill>
                <a:latin typeface="Calibri" pitchFamily="34" charset="0"/>
                <a:ea typeface="Calibri" pitchFamily="34" charset="-122"/>
                <a:cs typeface="Calibri" pitchFamily="34" charset="-120"/>
              </a:rPr>
              <a:t>The root is a MAX node over {3, 2, 2}, so MINIMAX(A) = 3, and the minimax decision is a1.</a:t>
            </a:r>
            <a:endParaRPr lang="en-US" sz="1400" dirty="0"/>
          </a:p>
          <a:p>
            <a:pPr marL="203200" indent="-2032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Note what MAX gave up: the 12 and the 14 are visible in the tree and unreachable, because MIN chooses at that level.</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FIGURE 5.3  ·  CS 188</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Minimax: The Algorithm</a:t>
            </a:r>
            <a:endParaRPr lang="en-US" sz="2900" dirty="0"/>
          </a:p>
        </p:txBody>
      </p:sp>
      <p:sp>
        <p:nvSpPr>
          <p:cNvPr id="4" name="Shape 2"/>
          <p:cNvSpPr/>
          <p:nvPr/>
        </p:nvSpPr>
        <p:spPr>
          <a:xfrm>
            <a:off x="640080" y="1371600"/>
            <a:ext cx="5349240" cy="2377440"/>
          </a:xfrm>
          <a:prstGeom prst="roundRect">
            <a:avLst>
              <a:gd name="adj" fmla="val 2308"/>
            </a:avLst>
          </a:prstGeom>
          <a:solidFill>
            <a:srgbClr val="18305C"/>
          </a:solidFill>
          <a:ln w="12700">
            <a:solidFill>
              <a:srgbClr val="18305C"/>
            </a:solidFill>
            <a:prstDash val="solid"/>
          </a:ln>
        </p:spPr>
      </p:sp>
      <p:sp>
        <p:nvSpPr>
          <p:cNvPr id="5" name="Text 3"/>
          <p:cNvSpPr/>
          <p:nvPr/>
        </p:nvSpPr>
        <p:spPr>
          <a:xfrm>
            <a:off x="841248" y="1481328"/>
            <a:ext cx="4946904" cy="274320"/>
          </a:xfrm>
          <a:prstGeom prst="rect">
            <a:avLst/>
          </a:prstGeom>
          <a:noFill/>
          <a:ln/>
        </p:spPr>
        <p:txBody>
          <a:bodyPr wrap="square" lIns="0" tIns="0" rIns="0" bIns="0" rtlCol="0" anchor="ctr"/>
          <a:lstStyle/>
          <a:p>
            <a:pPr indent="0" marL="0">
              <a:buNone/>
            </a:pPr>
            <a:r>
              <a:rPr lang="en-US" sz="1250" b="1" dirty="0">
                <a:solidFill>
                  <a:srgbClr val="D98C1F"/>
                </a:solidFill>
                <a:latin typeface="Calibri" pitchFamily="34" charset="0"/>
                <a:ea typeface="Calibri" pitchFamily="34" charset="-122"/>
                <a:cs typeface="Calibri" pitchFamily="34" charset="-120"/>
              </a:rPr>
              <a:t>MAX-VALUE</a:t>
            </a:r>
            <a:endParaRPr lang="en-US" sz="1250" dirty="0"/>
          </a:p>
        </p:txBody>
      </p:sp>
      <p:sp>
        <p:nvSpPr>
          <p:cNvPr id="6" name="Text 4"/>
          <p:cNvSpPr/>
          <p:nvPr/>
        </p:nvSpPr>
        <p:spPr>
          <a:xfrm>
            <a:off x="841248" y="1792224"/>
            <a:ext cx="4983480" cy="182880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def max-value(state):</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if TERMINAL(state):</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return UTILITY(state)</a:t>
            </a:r>
            <a:endParaRPr lang="en-US" sz="1250" dirty="0"/>
          </a:p>
          <a:p>
            <a:pPr indent="0" marL="0">
              <a:lnSpc>
                <a:spcPct val="105000"/>
              </a:lnSpc>
              <a:buNone/>
            </a:pPr>
            <a:r>
              <a:rPr lang="en-US" sz="1250" dirty="0">
                <a:solidFill>
                  <a:srgbClr val="8FB8FF"/>
                </a:solidFill>
                <a:latin typeface="Courier New" pitchFamily="34" charset="0"/>
                <a:ea typeface="Courier New" pitchFamily="34" charset="-122"/>
                <a:cs typeface="Courier New" pitchFamily="34" charset="-120"/>
              </a:rPr>
              <a:t>    v = -infinity</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for each successor of state:</a:t>
            </a:r>
            <a:endParaRPr lang="en-US" sz="1250" dirty="0"/>
          </a:p>
          <a:p>
            <a:pPr indent="0" marL="0">
              <a:lnSpc>
                <a:spcPct val="105000"/>
              </a:lnSpc>
              <a:buNone/>
            </a:pPr>
            <a:r>
              <a:rPr lang="en-US" sz="1250" dirty="0">
                <a:solidFill>
                  <a:srgbClr val="8FB8FF"/>
                </a:solidFill>
                <a:latin typeface="Courier New" pitchFamily="34" charset="0"/>
                <a:ea typeface="Courier New" pitchFamily="34" charset="-122"/>
                <a:cs typeface="Courier New" pitchFamily="34" charset="-120"/>
              </a:rPr>
              <a:t>        v = max(v, min-value(successor))</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return v</a:t>
            </a:r>
            <a:endParaRPr lang="en-US" sz="1250" dirty="0"/>
          </a:p>
        </p:txBody>
      </p:sp>
      <p:sp>
        <p:nvSpPr>
          <p:cNvPr id="7" name="Shape 5"/>
          <p:cNvSpPr/>
          <p:nvPr/>
        </p:nvSpPr>
        <p:spPr>
          <a:xfrm>
            <a:off x="6172200" y="1371600"/>
            <a:ext cx="5349240" cy="2377440"/>
          </a:xfrm>
          <a:prstGeom prst="roundRect">
            <a:avLst>
              <a:gd name="adj" fmla="val 2308"/>
            </a:avLst>
          </a:prstGeom>
          <a:solidFill>
            <a:srgbClr val="5A1C1F"/>
          </a:solidFill>
          <a:ln w="12700">
            <a:solidFill>
              <a:srgbClr val="5A1C1F"/>
            </a:solidFill>
            <a:prstDash val="solid"/>
          </a:ln>
        </p:spPr>
      </p:sp>
      <p:sp>
        <p:nvSpPr>
          <p:cNvPr id="8" name="Text 6"/>
          <p:cNvSpPr/>
          <p:nvPr/>
        </p:nvSpPr>
        <p:spPr>
          <a:xfrm>
            <a:off x="6373368" y="1481328"/>
            <a:ext cx="4946904" cy="274320"/>
          </a:xfrm>
          <a:prstGeom prst="rect">
            <a:avLst/>
          </a:prstGeom>
          <a:noFill/>
          <a:ln/>
        </p:spPr>
        <p:txBody>
          <a:bodyPr wrap="square" lIns="0" tIns="0" rIns="0" bIns="0" rtlCol="0" anchor="ctr"/>
          <a:lstStyle/>
          <a:p>
            <a:pPr indent="0" marL="0">
              <a:buNone/>
            </a:pPr>
            <a:r>
              <a:rPr lang="en-US" sz="1250" b="1" dirty="0">
                <a:solidFill>
                  <a:srgbClr val="D98C1F"/>
                </a:solidFill>
                <a:latin typeface="Calibri" pitchFamily="34" charset="0"/>
                <a:ea typeface="Calibri" pitchFamily="34" charset="-122"/>
                <a:cs typeface="Calibri" pitchFamily="34" charset="-120"/>
              </a:rPr>
              <a:t>MIN-VALUE</a:t>
            </a:r>
            <a:endParaRPr lang="en-US" sz="1250" dirty="0"/>
          </a:p>
        </p:txBody>
      </p:sp>
      <p:sp>
        <p:nvSpPr>
          <p:cNvPr id="9" name="Text 7"/>
          <p:cNvSpPr/>
          <p:nvPr/>
        </p:nvSpPr>
        <p:spPr>
          <a:xfrm>
            <a:off x="6373368" y="1792224"/>
            <a:ext cx="4983480" cy="182880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def min-value(state):</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if TERMINAL(state):</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return UTILITY(state)</a:t>
            </a:r>
            <a:endParaRPr lang="en-US" sz="1250" dirty="0"/>
          </a:p>
          <a:p>
            <a:pPr indent="0" marL="0">
              <a:lnSpc>
                <a:spcPct val="105000"/>
              </a:lnSpc>
              <a:buNone/>
            </a:pPr>
            <a:r>
              <a:rPr lang="en-US" sz="1250" dirty="0">
                <a:solidFill>
                  <a:srgbClr val="F2A0A2"/>
                </a:solidFill>
                <a:latin typeface="Courier New" pitchFamily="34" charset="0"/>
                <a:ea typeface="Courier New" pitchFamily="34" charset="-122"/>
                <a:cs typeface="Courier New" pitchFamily="34" charset="-120"/>
              </a:rPr>
              <a:t>    v = +infinity</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for each successor of state:</a:t>
            </a:r>
            <a:endParaRPr lang="en-US" sz="1250" dirty="0"/>
          </a:p>
          <a:p>
            <a:pPr indent="0" marL="0">
              <a:lnSpc>
                <a:spcPct val="105000"/>
              </a:lnSpc>
              <a:buNone/>
            </a:pPr>
            <a:r>
              <a:rPr lang="en-US" sz="1250" dirty="0">
                <a:solidFill>
                  <a:srgbClr val="F2A0A2"/>
                </a:solidFill>
                <a:latin typeface="Courier New" pitchFamily="34" charset="0"/>
                <a:ea typeface="Courier New" pitchFamily="34" charset="-122"/>
                <a:cs typeface="Courier New" pitchFamily="34" charset="-120"/>
              </a:rPr>
              <a:t>        v = min(v, max-value(successor))</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return v</a:t>
            </a:r>
            <a:endParaRPr lang="en-US" sz="1250" dirty="0"/>
          </a:p>
        </p:txBody>
      </p:sp>
      <p:sp>
        <p:nvSpPr>
          <p:cNvPr id="10" name="Shape 8"/>
          <p:cNvSpPr/>
          <p:nvPr/>
        </p:nvSpPr>
        <p:spPr>
          <a:xfrm>
            <a:off x="640080" y="3977640"/>
            <a:ext cx="5349240" cy="1691640"/>
          </a:xfrm>
          <a:prstGeom prst="roundRect">
            <a:avLst>
              <a:gd name="adj" fmla="val 3243"/>
            </a:avLst>
          </a:prstGeom>
          <a:solidFill>
            <a:srgbClr val="14213D"/>
          </a:solidFill>
          <a:ln w="12700">
            <a:solidFill>
              <a:srgbClr val="14213D"/>
            </a:solidFill>
            <a:prstDash val="solid"/>
          </a:ln>
        </p:spPr>
      </p:sp>
      <p:sp>
        <p:nvSpPr>
          <p:cNvPr id="11" name="Text 9"/>
          <p:cNvSpPr/>
          <p:nvPr/>
        </p:nvSpPr>
        <p:spPr>
          <a:xfrm>
            <a:off x="841248" y="4087368"/>
            <a:ext cx="4946904" cy="274320"/>
          </a:xfrm>
          <a:prstGeom prst="rect">
            <a:avLst/>
          </a:prstGeom>
          <a:noFill/>
          <a:ln/>
        </p:spPr>
        <p:txBody>
          <a:bodyPr wrap="square" lIns="0" tIns="0" rIns="0" bIns="0" rtlCol="0" anchor="ctr"/>
          <a:lstStyle/>
          <a:p>
            <a:pPr indent="0" marL="0">
              <a:buNone/>
            </a:pPr>
            <a:r>
              <a:rPr lang="en-US" sz="1250" b="1" dirty="0">
                <a:solidFill>
                  <a:srgbClr val="D98C1F"/>
                </a:solidFill>
                <a:latin typeface="Calibri" pitchFamily="34" charset="0"/>
                <a:ea typeface="Calibri" pitchFamily="34" charset="-122"/>
                <a:cs typeface="Calibri" pitchFamily="34" charset="-120"/>
              </a:rPr>
              <a:t>Dispatch version</a:t>
            </a:r>
            <a:endParaRPr lang="en-US" sz="1250" dirty="0"/>
          </a:p>
        </p:txBody>
      </p:sp>
      <p:sp>
        <p:nvSpPr>
          <p:cNvPr id="12" name="Text 10"/>
          <p:cNvSpPr/>
          <p:nvPr/>
        </p:nvSpPr>
        <p:spPr>
          <a:xfrm>
            <a:off x="841248" y="4398264"/>
            <a:ext cx="4983480" cy="114300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def value(state):</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if TERMINAL(state):  return UTILITY(state)</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if next agent is MAX: return max-value(state)</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if next agent is MIN: return min-value(state)</a:t>
            </a:r>
            <a:endParaRPr lang="en-US" sz="1250" dirty="0"/>
          </a:p>
        </p:txBody>
      </p:sp>
      <p:sp>
        <p:nvSpPr>
          <p:cNvPr id="13" name="Text 11"/>
          <p:cNvSpPr/>
          <p:nvPr/>
        </p:nvSpPr>
        <p:spPr>
          <a:xfrm>
            <a:off x="6172200" y="4023360"/>
            <a:ext cx="5349240" cy="45720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The two functions are mirror images and call each other. The dispatch form scales to any number of agents.</a:t>
            </a:r>
            <a:endParaRPr lang="en-US" sz="1400" dirty="0"/>
          </a:p>
          <a:p>
            <a:pPr marL="203200" indent="-2032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MINIMAX-DECISION at the root returns the action, not the value: pick the a maximizing MIN-VALUE(RESULT(s, a)).</a:t>
            </a:r>
            <a:endParaRPr lang="en-US" sz="1400" dirty="0"/>
          </a:p>
          <a:p>
            <a:pPr marL="203200" indent="-2032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It is a complete depth-first exploration: recurse to the leaves, then back values up as the recursion unwinds.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MINIMAX PROPERTIES</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What Minimax Guarantees - and What It Does Not</a:t>
            </a:r>
            <a:endParaRPr lang="en-US" sz="2900" dirty="0"/>
          </a:p>
        </p:txBody>
      </p:sp>
      <p:sp>
        <p:nvSpPr>
          <p:cNvPr id="4" name="Shape 2"/>
          <p:cNvSpPr/>
          <p:nvPr/>
        </p:nvSpPr>
        <p:spPr>
          <a:xfrm>
            <a:off x="640080" y="1371600"/>
            <a:ext cx="5349240" cy="1828800"/>
          </a:xfrm>
          <a:prstGeom prst="roundRect">
            <a:avLst>
              <a:gd name="adj" fmla="val 4000"/>
            </a:avLst>
          </a:prstGeom>
          <a:solidFill>
            <a:srgbClr val="DCE6FA"/>
          </a:solidFill>
          <a:ln w="12700">
            <a:solidFill>
              <a:srgbClr val="1F5AC4"/>
            </a:solidFill>
            <a:prstDash val="solid"/>
          </a:ln>
        </p:spPr>
      </p:sp>
      <p:sp>
        <p:nvSpPr>
          <p:cNvPr id="5" name="Text 3"/>
          <p:cNvSpPr/>
          <p:nvPr/>
        </p:nvSpPr>
        <p:spPr>
          <a:xfrm>
            <a:off x="84124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Against a perfect opponent</a:t>
            </a:r>
            <a:endParaRPr lang="en-US" sz="1500" dirty="0"/>
          </a:p>
        </p:txBody>
      </p:sp>
      <p:sp>
        <p:nvSpPr>
          <p:cNvPr id="6" name="Text 4"/>
          <p:cNvSpPr/>
          <p:nvPr/>
        </p:nvSpPr>
        <p:spPr>
          <a:xfrm>
            <a:off x="841248" y="1865376"/>
            <a:ext cx="4946904" cy="117043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Minimax play is optimal. No strategy can do better, and this holds regardless of what the opponent actually does.</a:t>
            </a:r>
            <a:endParaRPr lang="en-US" sz="1300" dirty="0"/>
          </a:p>
        </p:txBody>
      </p:sp>
      <p:sp>
        <p:nvSpPr>
          <p:cNvPr id="7" name="Shape 5"/>
          <p:cNvSpPr/>
          <p:nvPr/>
        </p:nvSpPr>
        <p:spPr>
          <a:xfrm>
            <a:off x="6172200" y="1371600"/>
            <a:ext cx="5349240" cy="1828800"/>
          </a:xfrm>
          <a:prstGeom prst="roundRect">
            <a:avLst>
              <a:gd name="adj" fmla="val 4000"/>
            </a:avLst>
          </a:prstGeom>
          <a:solidFill>
            <a:srgbClr val="EFF3F9"/>
          </a:solidFill>
          <a:ln w="12700">
            <a:solidFill>
              <a:srgbClr val="EFF3F9"/>
            </a:solidFill>
            <a:prstDash val="solid"/>
          </a:ln>
        </p:spPr>
      </p:sp>
      <p:sp>
        <p:nvSpPr>
          <p:cNvPr id="8" name="Text 6"/>
          <p:cNvSpPr/>
          <p:nvPr/>
        </p:nvSpPr>
        <p:spPr>
          <a:xfrm>
            <a:off x="637336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Against an imperfect opponent</a:t>
            </a:r>
            <a:endParaRPr lang="en-US" sz="1500" dirty="0"/>
          </a:p>
        </p:txBody>
      </p:sp>
      <p:sp>
        <p:nvSpPr>
          <p:cNvPr id="9" name="Text 7"/>
          <p:cNvSpPr/>
          <p:nvPr/>
        </p:nvSpPr>
        <p:spPr>
          <a:xfrm>
            <a:off x="6373368" y="1865376"/>
            <a:ext cx="4946904" cy="117043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MAX does at least as well as against an optimal player, possibly better. The guarantee is a floor, not a prediction.</a:t>
            </a:r>
            <a:endParaRPr lang="en-US" sz="1300" dirty="0"/>
          </a:p>
        </p:txBody>
      </p:sp>
      <p:sp>
        <p:nvSpPr>
          <p:cNvPr id="10" name="Shape 8"/>
          <p:cNvSpPr/>
          <p:nvPr/>
        </p:nvSpPr>
        <p:spPr>
          <a:xfrm>
            <a:off x="640080" y="3429000"/>
            <a:ext cx="10881360" cy="1965960"/>
          </a:xfrm>
          <a:prstGeom prst="roundRect">
            <a:avLst>
              <a:gd name="adj" fmla="val 3721"/>
            </a:avLst>
          </a:prstGeom>
          <a:solidFill>
            <a:srgbClr val="FBEFD8"/>
          </a:solidFill>
          <a:ln w="12700">
            <a:solidFill>
              <a:srgbClr val="D98C1F"/>
            </a:solidFill>
            <a:prstDash val="solid"/>
          </a:ln>
        </p:spPr>
      </p:sp>
      <p:sp>
        <p:nvSpPr>
          <p:cNvPr id="11" name="Text 9"/>
          <p:cNvSpPr/>
          <p:nvPr/>
        </p:nvSpPr>
        <p:spPr>
          <a:xfrm>
            <a:off x="841248" y="3575304"/>
            <a:ext cx="1047902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But minimax-optimal is not always the best play</a:t>
            </a:r>
            <a:endParaRPr lang="en-US" sz="1500" dirty="0"/>
          </a:p>
        </p:txBody>
      </p:sp>
      <p:sp>
        <p:nvSpPr>
          <p:cNvPr id="12" name="Text 10"/>
          <p:cNvSpPr/>
          <p:nvPr/>
        </p:nvSpPr>
        <p:spPr>
          <a:xfrm>
            <a:off x="841248" y="3922776"/>
            <a:ext cx="10479024" cy="1307592"/>
          </a:xfrm>
          <a:prstGeom prst="rect">
            <a:avLst/>
          </a:prstGeom>
          <a:noFill/>
          <a:ln/>
        </p:spPr>
        <p:txBody>
          <a:bodyPr wrap="square" lIns="0" tIns="0" rIns="0" bIns="0" rtlCol="0" anchor="t"/>
          <a:lstStyle/>
          <a:p>
            <a:pPr indent="0" marL="0">
              <a:lnSpc>
                <a:spcPct val="108000"/>
              </a:lnSpc>
              <a:buNone/>
            </a:pPr>
            <a:r>
              <a:rPr lang="en-US" sz="1350" dirty="0">
                <a:solidFill>
                  <a:srgbClr val="1A1A1A"/>
                </a:solidFill>
                <a:latin typeface="Calibri" pitchFamily="34" charset="0"/>
                <a:ea typeface="Calibri" pitchFamily="34" charset="-122"/>
                <a:cs typeface="Calibri" pitchFamily="34" charset="-120"/>
              </a:rPr>
              <a:t>Suppose optimal play by both sides leads to a draw, and MAX also has one risky move leading to a position where MIN has ten reasonable-looking replies: nine lose for MIN and one loses for MAX.</a:t>
            </a:r>
            <a:endParaRPr lang="en-US" sz="1350" dirty="0"/>
          </a:p>
          <a:p>
            <a:pPr indent="0" marL="0">
              <a:lnSpc>
                <a:spcPct val="108000"/>
              </a:lnSpc>
              <a:buNone/>
            </a:pPr>
            <a:endParaRPr lang="en-US" sz="1350" dirty="0"/>
          </a:p>
          <a:p>
            <a:pPr indent="0" marL="0">
              <a:lnSpc>
                <a:spcPct val="108000"/>
              </a:lnSpc>
              <a:buNone/>
            </a:pPr>
            <a:r>
              <a:rPr lang="en-US" sz="1350" dirty="0">
                <a:solidFill>
                  <a:srgbClr val="1A1A1A"/>
                </a:solidFill>
                <a:latin typeface="Calibri" pitchFamily="34" charset="0"/>
                <a:ea typeface="Calibri" pitchFamily="34" charset="-122"/>
                <a:cs typeface="Calibri" pitchFamily="34" charset="-120"/>
              </a:rPr>
              <a:t>If MAX believes MIN lacks the computational power to find the one correct reply, MAX may prefer the risky move. A 9-in-10 chance of winning can beat a certain draw. Minimax assumes a perfect adversary; when that assumption is wrong, minimax is conservative.</a:t>
            </a:r>
            <a:endParaRPr lang="en-US" sz="1350" dirty="0"/>
          </a:p>
        </p:txBody>
      </p:sp>
      <p:sp>
        <p:nvSpPr>
          <p:cNvPr id="13" name="Text 11"/>
          <p:cNvSpPr/>
          <p:nvPr/>
        </p:nvSpPr>
        <p:spPr>
          <a:xfrm>
            <a:off x="566928" y="6327648"/>
            <a:ext cx="10058400" cy="274320"/>
          </a:xfrm>
          <a:prstGeom prst="rect">
            <a:avLst/>
          </a:prstGeom>
          <a:noFill/>
          <a:ln/>
        </p:spPr>
        <p:txBody>
          <a:bodyPr wrap="square" lIns="0" tIns="0" rIns="0" bIns="0" rtlCol="0" anchor="ctr"/>
          <a:lstStyle/>
          <a:p>
            <a:pPr indent="0" marL="0">
              <a:buNone/>
            </a:pPr>
            <a:r>
              <a:rPr lang="en-US" sz="1000" i="1" dirty="0">
                <a:solidFill>
                  <a:srgbClr val="55607A"/>
                </a:solidFill>
                <a:latin typeface="Calibri" pitchFamily="34" charset="0"/>
                <a:ea typeface="Calibri" pitchFamily="34" charset="-122"/>
                <a:cs typeface="Calibri" pitchFamily="34" charset="-120"/>
              </a:rPr>
              <a:t>Modeling a fallible opponent explicitly is the subject of opponent modeling, and it is outside minimax.</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5.2.1</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Complexity of Minimax</a:t>
            </a:r>
            <a:endParaRPr lang="en-US" sz="2900" dirty="0"/>
          </a:p>
        </p:txBody>
      </p:sp>
      <p:sp>
        <p:nvSpPr>
          <p:cNvPr id="4" name="Text 2"/>
          <p:cNvSpPr/>
          <p:nvPr/>
        </p:nvSpPr>
        <p:spPr>
          <a:xfrm>
            <a:off x="640080" y="1554480"/>
            <a:ext cx="3291840" cy="658368"/>
          </a:xfrm>
          <a:prstGeom prst="rect">
            <a:avLst/>
          </a:prstGeom>
          <a:noFill/>
          <a:ln/>
        </p:spPr>
        <p:txBody>
          <a:bodyPr wrap="square" lIns="0" tIns="0" rIns="0" bIns="0" rtlCol="0" anchor="ctr"/>
          <a:lstStyle/>
          <a:p>
            <a:pPr algn="ctr" indent="0" marL="0">
              <a:buNone/>
            </a:pPr>
            <a:r>
              <a:rPr lang="en-US" sz="4200" b="1" dirty="0">
                <a:solidFill>
                  <a:srgbClr val="C1272D"/>
                </a:solidFill>
                <a:latin typeface="Cambria" pitchFamily="34" charset="0"/>
                <a:ea typeface="Cambria" pitchFamily="34" charset="-122"/>
                <a:cs typeface="Cambria" pitchFamily="34" charset="-120"/>
              </a:rPr>
              <a:t>O(b^m)</a:t>
            </a:r>
            <a:endParaRPr lang="en-US" sz="4200" dirty="0"/>
          </a:p>
        </p:txBody>
      </p:sp>
      <p:sp>
        <p:nvSpPr>
          <p:cNvPr id="5" name="Text 3"/>
          <p:cNvSpPr/>
          <p:nvPr/>
        </p:nvSpPr>
        <p:spPr>
          <a:xfrm>
            <a:off x="640080" y="2231136"/>
            <a:ext cx="329184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time - a complete depth-first</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exploration of the game tree</a:t>
            </a:r>
            <a:endParaRPr lang="en-US" sz="1200" dirty="0"/>
          </a:p>
        </p:txBody>
      </p:sp>
      <p:sp>
        <p:nvSpPr>
          <p:cNvPr id="6" name="Text 4"/>
          <p:cNvSpPr/>
          <p:nvPr/>
        </p:nvSpPr>
        <p:spPr>
          <a:xfrm>
            <a:off x="4206240" y="1554480"/>
            <a:ext cx="3291840" cy="658368"/>
          </a:xfrm>
          <a:prstGeom prst="rect">
            <a:avLst/>
          </a:prstGeom>
          <a:noFill/>
          <a:ln/>
        </p:spPr>
        <p:txBody>
          <a:bodyPr wrap="square" lIns="0" tIns="0" rIns="0" bIns="0" rtlCol="0" anchor="ctr"/>
          <a:lstStyle/>
          <a:p>
            <a:pPr algn="ctr" indent="0" marL="0">
              <a:buNone/>
            </a:pPr>
            <a:r>
              <a:rPr lang="en-US" sz="4200" b="1" dirty="0">
                <a:solidFill>
                  <a:srgbClr val="1F5AC4"/>
                </a:solidFill>
                <a:latin typeface="Cambria" pitchFamily="34" charset="0"/>
                <a:ea typeface="Cambria" pitchFamily="34" charset="-122"/>
                <a:cs typeface="Cambria" pitchFamily="34" charset="-120"/>
              </a:rPr>
              <a:t>O(bm)</a:t>
            </a:r>
            <a:endParaRPr lang="en-US" sz="4200" dirty="0"/>
          </a:p>
        </p:txBody>
      </p:sp>
      <p:sp>
        <p:nvSpPr>
          <p:cNvPr id="7" name="Text 5"/>
          <p:cNvSpPr/>
          <p:nvPr/>
        </p:nvSpPr>
        <p:spPr>
          <a:xfrm>
            <a:off x="4206240" y="2231136"/>
            <a:ext cx="329184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space, generating all actions at</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once; O(m) one at a time</a:t>
            </a:r>
            <a:endParaRPr lang="en-US" sz="1200" dirty="0"/>
          </a:p>
        </p:txBody>
      </p:sp>
      <p:sp>
        <p:nvSpPr>
          <p:cNvPr id="8" name="Text 6"/>
          <p:cNvSpPr/>
          <p:nvPr/>
        </p:nvSpPr>
        <p:spPr>
          <a:xfrm>
            <a:off x="7772400" y="1554480"/>
            <a:ext cx="3749040" cy="658368"/>
          </a:xfrm>
          <a:prstGeom prst="rect">
            <a:avLst/>
          </a:prstGeom>
          <a:noFill/>
          <a:ln/>
        </p:spPr>
        <p:txBody>
          <a:bodyPr wrap="square" lIns="0" tIns="0" rIns="0" bIns="0" rtlCol="0" anchor="ctr"/>
          <a:lstStyle/>
          <a:p>
            <a:pPr algn="ctr" indent="0" marL="0">
              <a:buNone/>
            </a:pPr>
            <a:r>
              <a:rPr lang="en-US" sz="4200" b="1" dirty="0">
                <a:solidFill>
                  <a:srgbClr val="C1272D"/>
                </a:solidFill>
                <a:latin typeface="Cambria" pitchFamily="34" charset="0"/>
                <a:ea typeface="Cambria" pitchFamily="34" charset="-122"/>
                <a:cs typeface="Cambria" pitchFamily="34" charset="-120"/>
              </a:rPr>
              <a:t>10^123</a:t>
            </a:r>
            <a:endParaRPr lang="en-US" sz="4200" dirty="0"/>
          </a:p>
        </p:txBody>
      </p:sp>
      <p:sp>
        <p:nvSpPr>
          <p:cNvPr id="9" name="Text 7"/>
          <p:cNvSpPr/>
          <p:nvPr/>
        </p:nvSpPr>
        <p:spPr>
          <a:xfrm>
            <a:off x="7772400" y="2231136"/>
            <a:ext cx="374904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states for chess at b = 35, m = 80</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(the whole game)</a:t>
            </a:r>
            <a:endParaRPr lang="en-US" sz="1200" dirty="0"/>
          </a:p>
        </p:txBody>
      </p:sp>
      <p:sp>
        <p:nvSpPr>
          <p:cNvPr id="10" name="Text 8"/>
          <p:cNvSpPr/>
          <p:nvPr/>
        </p:nvSpPr>
        <p:spPr>
          <a:xfrm>
            <a:off x="640080" y="3566160"/>
            <a:ext cx="10881360" cy="45720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b is the branching factor, m is the maximum depth of the tree. Same shape as DFS in Chapter 3 - because it is DFS.</a:t>
            </a:r>
            <a:endParaRPr lang="en-US" sz="1500" dirty="0"/>
          </a:p>
          <a:p>
            <a:pPr marL="203200" indent="-2032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The exponential is fatal for real games. Minimax survives as the mathematical definition of correct play and as the base that every practical algorithm approximates.</a:t>
            </a:r>
            <a:endParaRPr lang="en-US" sz="1500" dirty="0"/>
          </a:p>
          <a:p>
            <a:pPr marL="203200" indent="-203200">
              <a:spcAft>
                <a:spcPts val="800"/>
              </a:spcAft>
              <a:buSzPct val="100000"/>
              <a:buChar char="•"/>
            </a:pPr>
            <a:r>
              <a:rPr lang="en-US" sz="1500" b="1" dirty="0">
                <a:solidFill>
                  <a:srgbClr val="1A1A1A"/>
                </a:solidFill>
                <a:latin typeface="Calibri" pitchFamily="34" charset="0"/>
                <a:ea typeface="Calibri" pitchFamily="34" charset="-122"/>
                <a:cs typeface="Calibri" pitchFamily="34" charset="-120"/>
              </a:rPr>
              <a:t>Two ways out, and we will take both:</a:t>
            </a:r>
            <a:endParaRPr lang="en-US" sz="1500" dirty="0"/>
          </a:p>
          <a:p>
            <a:pPr lvl="1" marL="406400" indent="-203200">
              <a:spcAft>
                <a:spcPts val="800"/>
              </a:spcAft>
              <a:buSzPct val="100000"/>
              <a:buChar char="•"/>
            </a:pPr>
            <a:r>
              <a:rPr lang="en-US" sz="1400" dirty="0">
                <a:solidFill>
                  <a:srgbClr val="55607A"/>
                </a:solidFill>
                <a:latin typeface="Calibri" pitchFamily="34" charset="0"/>
                <a:ea typeface="Calibri" pitchFamily="34" charset="-122"/>
                <a:cs typeface="Calibri" pitchFamily="34" charset="-120"/>
              </a:rPr>
              <a:t>Prune the tree without changing the answer - alpha-beta, Part 3.</a:t>
            </a:r>
            <a:endParaRPr lang="en-US" sz="1500" dirty="0"/>
          </a:p>
          <a:p>
            <a:pPr lvl="1" marL="406400" indent="-203200">
              <a:spcAft>
                <a:spcPts val="800"/>
              </a:spcAft>
              <a:buSzPct val="100000"/>
              <a:buChar char="•"/>
            </a:pPr>
            <a:r>
              <a:rPr lang="en-US" sz="1400" dirty="0">
                <a:solidFill>
                  <a:srgbClr val="55607A"/>
                </a:solidFill>
                <a:latin typeface="Calibri" pitchFamily="34" charset="0"/>
                <a:ea typeface="Calibri" pitchFamily="34" charset="-122"/>
                <a:cs typeface="Calibri" pitchFamily="34" charset="-120"/>
              </a:rPr>
              <a:t>Stop early and estimate - heuristic cutoff and evaluation functions, Part 4. Or sample instead of enumerate - Monte Carlo tree search, Part 5.</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FF3F9"/>
        </a:solidFill>
      </p:bgPr>
    </p:bg>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WORK WITH A NEIGHBOR  ·  3 MINUTES</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Exercise 1: Compute the Minimax Value</a:t>
            </a:r>
            <a:endParaRPr lang="en-US" sz="2900" dirty="0"/>
          </a:p>
        </p:txBody>
      </p:sp>
      <p:sp>
        <p:nvSpPr>
          <p:cNvPr id="4" name="Shape 2"/>
          <p:cNvSpPr/>
          <p:nvPr/>
        </p:nvSpPr>
        <p:spPr>
          <a:xfrm>
            <a:off x="5650992" y="1764792"/>
            <a:ext cx="402336" cy="310896"/>
          </a:xfrm>
          <a:prstGeom prst="triangle">
            <a:avLst/>
          </a:prstGeom>
          <a:solidFill>
            <a:srgbClr val="DCE6FA"/>
          </a:solidFill>
          <a:ln w="19050">
            <a:solidFill>
              <a:srgbClr val="1F5AC4"/>
            </a:solidFill>
            <a:prstDash val="solid"/>
          </a:ln>
        </p:spPr>
      </p:sp>
      <p:sp>
        <p:nvSpPr>
          <p:cNvPr id="5" name="Shape 3"/>
          <p:cNvSpPr/>
          <p:nvPr/>
        </p:nvSpPr>
        <p:spPr>
          <a:xfrm flipH="1">
            <a:off x="2651760" y="2103120"/>
            <a:ext cx="3200400" cy="868680"/>
          </a:xfrm>
          <a:prstGeom prst="line">
            <a:avLst/>
          </a:prstGeom>
          <a:noFill/>
          <a:ln w="15875">
            <a:solidFill>
              <a:srgbClr val="55607A"/>
            </a:solidFill>
            <a:prstDash val="solid"/>
          </a:ln>
        </p:spPr>
      </p:sp>
      <p:sp>
        <p:nvSpPr>
          <p:cNvPr id="6" name="Shape 4"/>
          <p:cNvSpPr/>
          <p:nvPr/>
        </p:nvSpPr>
        <p:spPr>
          <a:xfrm rot="10800000">
            <a:off x="2450592" y="2999232"/>
            <a:ext cx="402336" cy="310896"/>
          </a:xfrm>
          <a:prstGeom prst="triangle">
            <a:avLst/>
          </a:prstGeom>
          <a:solidFill>
            <a:srgbClr val="F7DEDF"/>
          </a:solidFill>
          <a:ln w="19050">
            <a:solidFill>
              <a:srgbClr val="C1272D"/>
            </a:solidFill>
            <a:prstDash val="solid"/>
          </a:ln>
        </p:spPr>
      </p:sp>
      <p:sp>
        <p:nvSpPr>
          <p:cNvPr id="7" name="Shape 5"/>
          <p:cNvSpPr/>
          <p:nvPr/>
        </p:nvSpPr>
        <p:spPr>
          <a:xfrm flipH="1">
            <a:off x="1783080" y="3337560"/>
            <a:ext cx="868680" cy="868680"/>
          </a:xfrm>
          <a:prstGeom prst="line">
            <a:avLst/>
          </a:prstGeom>
          <a:noFill/>
          <a:ln w="15875">
            <a:solidFill>
              <a:srgbClr val="55607A"/>
            </a:solidFill>
            <a:prstDash val="solid"/>
          </a:ln>
        </p:spPr>
      </p:sp>
      <p:sp>
        <p:nvSpPr>
          <p:cNvPr id="8" name="Shape 6"/>
          <p:cNvSpPr/>
          <p:nvPr/>
        </p:nvSpPr>
        <p:spPr>
          <a:xfrm>
            <a:off x="1581912" y="4215384"/>
            <a:ext cx="402336" cy="310896"/>
          </a:xfrm>
          <a:prstGeom prst="roundRect">
            <a:avLst>
              <a:gd name="adj" fmla="val 14706"/>
            </a:avLst>
          </a:prstGeom>
          <a:solidFill>
            <a:srgbClr val="FFFFFF"/>
          </a:solidFill>
          <a:ln w="12700">
            <a:solidFill>
              <a:srgbClr val="55607A"/>
            </a:solidFill>
            <a:prstDash val="solid"/>
          </a:ln>
        </p:spPr>
      </p:sp>
      <p:sp>
        <p:nvSpPr>
          <p:cNvPr id="9" name="Text 7"/>
          <p:cNvSpPr/>
          <p:nvPr/>
        </p:nvSpPr>
        <p:spPr>
          <a:xfrm>
            <a:off x="138074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7</a:t>
            </a:r>
            <a:endParaRPr lang="en-US" sz="1250" dirty="0"/>
          </a:p>
        </p:txBody>
      </p:sp>
      <p:sp>
        <p:nvSpPr>
          <p:cNvPr id="10" name="Shape 8"/>
          <p:cNvSpPr/>
          <p:nvPr/>
        </p:nvSpPr>
        <p:spPr>
          <a:xfrm>
            <a:off x="2651760" y="3337560"/>
            <a:ext cx="4572" cy="868680"/>
          </a:xfrm>
          <a:prstGeom prst="line">
            <a:avLst/>
          </a:prstGeom>
          <a:noFill/>
          <a:ln w="15875">
            <a:solidFill>
              <a:srgbClr val="55607A"/>
            </a:solidFill>
            <a:prstDash val="solid"/>
          </a:ln>
        </p:spPr>
      </p:sp>
      <p:sp>
        <p:nvSpPr>
          <p:cNvPr id="11" name="Shape 9"/>
          <p:cNvSpPr/>
          <p:nvPr/>
        </p:nvSpPr>
        <p:spPr>
          <a:xfrm>
            <a:off x="2450592" y="4215384"/>
            <a:ext cx="402336" cy="310896"/>
          </a:xfrm>
          <a:prstGeom prst="roundRect">
            <a:avLst>
              <a:gd name="adj" fmla="val 14706"/>
            </a:avLst>
          </a:prstGeom>
          <a:solidFill>
            <a:srgbClr val="FFFFFF"/>
          </a:solidFill>
          <a:ln w="12700">
            <a:solidFill>
              <a:srgbClr val="55607A"/>
            </a:solidFill>
            <a:prstDash val="solid"/>
          </a:ln>
        </p:spPr>
      </p:sp>
      <p:sp>
        <p:nvSpPr>
          <p:cNvPr id="12" name="Text 10"/>
          <p:cNvSpPr/>
          <p:nvPr/>
        </p:nvSpPr>
        <p:spPr>
          <a:xfrm>
            <a:off x="224942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5</a:t>
            </a:r>
            <a:endParaRPr lang="en-US" sz="1250" dirty="0"/>
          </a:p>
        </p:txBody>
      </p:sp>
      <p:sp>
        <p:nvSpPr>
          <p:cNvPr id="13" name="Shape 11"/>
          <p:cNvSpPr/>
          <p:nvPr/>
        </p:nvSpPr>
        <p:spPr>
          <a:xfrm>
            <a:off x="2651760" y="3337560"/>
            <a:ext cx="868680" cy="868680"/>
          </a:xfrm>
          <a:prstGeom prst="line">
            <a:avLst/>
          </a:prstGeom>
          <a:noFill/>
          <a:ln w="15875">
            <a:solidFill>
              <a:srgbClr val="55607A"/>
            </a:solidFill>
            <a:prstDash val="solid"/>
          </a:ln>
        </p:spPr>
      </p:sp>
      <p:sp>
        <p:nvSpPr>
          <p:cNvPr id="14" name="Shape 12"/>
          <p:cNvSpPr/>
          <p:nvPr/>
        </p:nvSpPr>
        <p:spPr>
          <a:xfrm>
            <a:off x="3319272" y="4215384"/>
            <a:ext cx="402336" cy="310896"/>
          </a:xfrm>
          <a:prstGeom prst="roundRect">
            <a:avLst>
              <a:gd name="adj" fmla="val 14706"/>
            </a:avLst>
          </a:prstGeom>
          <a:solidFill>
            <a:srgbClr val="FFFFFF"/>
          </a:solidFill>
          <a:ln w="12700">
            <a:solidFill>
              <a:srgbClr val="55607A"/>
            </a:solidFill>
            <a:prstDash val="solid"/>
          </a:ln>
        </p:spPr>
      </p:sp>
      <p:sp>
        <p:nvSpPr>
          <p:cNvPr id="15" name="Text 13"/>
          <p:cNvSpPr/>
          <p:nvPr/>
        </p:nvSpPr>
        <p:spPr>
          <a:xfrm>
            <a:off x="311810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9</a:t>
            </a:r>
            <a:endParaRPr lang="en-US" sz="1250" dirty="0"/>
          </a:p>
        </p:txBody>
      </p:sp>
      <p:sp>
        <p:nvSpPr>
          <p:cNvPr id="16" name="Shape 14"/>
          <p:cNvSpPr/>
          <p:nvPr/>
        </p:nvSpPr>
        <p:spPr>
          <a:xfrm>
            <a:off x="5852160" y="2103120"/>
            <a:ext cx="4572" cy="868680"/>
          </a:xfrm>
          <a:prstGeom prst="line">
            <a:avLst/>
          </a:prstGeom>
          <a:noFill/>
          <a:ln w="15875">
            <a:solidFill>
              <a:srgbClr val="55607A"/>
            </a:solidFill>
            <a:prstDash val="solid"/>
          </a:ln>
        </p:spPr>
      </p:sp>
      <p:sp>
        <p:nvSpPr>
          <p:cNvPr id="17" name="Shape 15"/>
          <p:cNvSpPr/>
          <p:nvPr/>
        </p:nvSpPr>
        <p:spPr>
          <a:xfrm rot="10800000">
            <a:off x="5650992" y="2999232"/>
            <a:ext cx="402336" cy="310896"/>
          </a:xfrm>
          <a:prstGeom prst="triangle">
            <a:avLst/>
          </a:prstGeom>
          <a:solidFill>
            <a:srgbClr val="F7DEDF"/>
          </a:solidFill>
          <a:ln w="19050">
            <a:solidFill>
              <a:srgbClr val="C1272D"/>
            </a:solidFill>
            <a:prstDash val="solid"/>
          </a:ln>
        </p:spPr>
      </p:sp>
      <p:sp>
        <p:nvSpPr>
          <p:cNvPr id="18" name="Shape 16"/>
          <p:cNvSpPr/>
          <p:nvPr/>
        </p:nvSpPr>
        <p:spPr>
          <a:xfrm flipH="1">
            <a:off x="4983480" y="3337560"/>
            <a:ext cx="868680" cy="868680"/>
          </a:xfrm>
          <a:prstGeom prst="line">
            <a:avLst/>
          </a:prstGeom>
          <a:noFill/>
          <a:ln w="15875">
            <a:solidFill>
              <a:srgbClr val="55607A"/>
            </a:solidFill>
            <a:prstDash val="solid"/>
          </a:ln>
        </p:spPr>
      </p:sp>
      <p:sp>
        <p:nvSpPr>
          <p:cNvPr id="19" name="Shape 17"/>
          <p:cNvSpPr/>
          <p:nvPr/>
        </p:nvSpPr>
        <p:spPr>
          <a:xfrm>
            <a:off x="4782312" y="4215384"/>
            <a:ext cx="402336" cy="310896"/>
          </a:xfrm>
          <a:prstGeom prst="roundRect">
            <a:avLst>
              <a:gd name="adj" fmla="val 14706"/>
            </a:avLst>
          </a:prstGeom>
          <a:solidFill>
            <a:srgbClr val="FFFFFF"/>
          </a:solidFill>
          <a:ln w="12700">
            <a:solidFill>
              <a:srgbClr val="55607A"/>
            </a:solidFill>
            <a:prstDash val="solid"/>
          </a:ln>
        </p:spPr>
      </p:sp>
      <p:sp>
        <p:nvSpPr>
          <p:cNvPr id="20" name="Text 18"/>
          <p:cNvSpPr/>
          <p:nvPr/>
        </p:nvSpPr>
        <p:spPr>
          <a:xfrm>
            <a:off x="458114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6</a:t>
            </a:r>
            <a:endParaRPr lang="en-US" sz="1250" dirty="0"/>
          </a:p>
        </p:txBody>
      </p:sp>
      <p:sp>
        <p:nvSpPr>
          <p:cNvPr id="21" name="Shape 19"/>
          <p:cNvSpPr/>
          <p:nvPr/>
        </p:nvSpPr>
        <p:spPr>
          <a:xfrm>
            <a:off x="5852160" y="3337560"/>
            <a:ext cx="4572" cy="868680"/>
          </a:xfrm>
          <a:prstGeom prst="line">
            <a:avLst/>
          </a:prstGeom>
          <a:noFill/>
          <a:ln w="15875">
            <a:solidFill>
              <a:srgbClr val="55607A"/>
            </a:solidFill>
            <a:prstDash val="solid"/>
          </a:ln>
        </p:spPr>
      </p:sp>
      <p:sp>
        <p:nvSpPr>
          <p:cNvPr id="22" name="Shape 20"/>
          <p:cNvSpPr/>
          <p:nvPr/>
        </p:nvSpPr>
        <p:spPr>
          <a:xfrm>
            <a:off x="5650992" y="4215384"/>
            <a:ext cx="402336" cy="310896"/>
          </a:xfrm>
          <a:prstGeom prst="roundRect">
            <a:avLst>
              <a:gd name="adj" fmla="val 14706"/>
            </a:avLst>
          </a:prstGeom>
          <a:solidFill>
            <a:srgbClr val="FFFFFF"/>
          </a:solidFill>
          <a:ln w="12700">
            <a:solidFill>
              <a:srgbClr val="55607A"/>
            </a:solidFill>
            <a:prstDash val="solid"/>
          </a:ln>
        </p:spPr>
      </p:sp>
      <p:sp>
        <p:nvSpPr>
          <p:cNvPr id="23" name="Text 21"/>
          <p:cNvSpPr/>
          <p:nvPr/>
        </p:nvSpPr>
        <p:spPr>
          <a:xfrm>
            <a:off x="544982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8</a:t>
            </a:r>
            <a:endParaRPr lang="en-US" sz="1250" dirty="0"/>
          </a:p>
        </p:txBody>
      </p:sp>
      <p:sp>
        <p:nvSpPr>
          <p:cNvPr id="24" name="Shape 22"/>
          <p:cNvSpPr/>
          <p:nvPr/>
        </p:nvSpPr>
        <p:spPr>
          <a:xfrm>
            <a:off x="5852160" y="3337560"/>
            <a:ext cx="868680" cy="868680"/>
          </a:xfrm>
          <a:prstGeom prst="line">
            <a:avLst/>
          </a:prstGeom>
          <a:noFill/>
          <a:ln w="15875">
            <a:solidFill>
              <a:srgbClr val="55607A"/>
            </a:solidFill>
            <a:prstDash val="solid"/>
          </a:ln>
        </p:spPr>
      </p:sp>
      <p:sp>
        <p:nvSpPr>
          <p:cNvPr id="25" name="Shape 23"/>
          <p:cNvSpPr/>
          <p:nvPr/>
        </p:nvSpPr>
        <p:spPr>
          <a:xfrm>
            <a:off x="6519672" y="4215384"/>
            <a:ext cx="402336" cy="310896"/>
          </a:xfrm>
          <a:prstGeom prst="roundRect">
            <a:avLst>
              <a:gd name="adj" fmla="val 14706"/>
            </a:avLst>
          </a:prstGeom>
          <a:solidFill>
            <a:srgbClr val="FFFFFF"/>
          </a:solidFill>
          <a:ln w="12700">
            <a:solidFill>
              <a:srgbClr val="55607A"/>
            </a:solidFill>
            <a:prstDash val="solid"/>
          </a:ln>
        </p:spPr>
      </p:sp>
      <p:sp>
        <p:nvSpPr>
          <p:cNvPr id="26" name="Text 24"/>
          <p:cNvSpPr/>
          <p:nvPr/>
        </p:nvSpPr>
        <p:spPr>
          <a:xfrm>
            <a:off x="631850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9</a:t>
            </a:r>
            <a:endParaRPr lang="en-US" sz="1250" dirty="0"/>
          </a:p>
        </p:txBody>
      </p:sp>
      <p:sp>
        <p:nvSpPr>
          <p:cNvPr id="27" name="Shape 25"/>
          <p:cNvSpPr/>
          <p:nvPr/>
        </p:nvSpPr>
        <p:spPr>
          <a:xfrm>
            <a:off x="5852160" y="2103120"/>
            <a:ext cx="3200400" cy="868680"/>
          </a:xfrm>
          <a:prstGeom prst="line">
            <a:avLst/>
          </a:prstGeom>
          <a:noFill/>
          <a:ln w="15875">
            <a:solidFill>
              <a:srgbClr val="55607A"/>
            </a:solidFill>
            <a:prstDash val="solid"/>
          </a:ln>
        </p:spPr>
      </p:sp>
      <p:sp>
        <p:nvSpPr>
          <p:cNvPr id="28" name="Shape 26"/>
          <p:cNvSpPr/>
          <p:nvPr/>
        </p:nvSpPr>
        <p:spPr>
          <a:xfrm rot="10800000">
            <a:off x="8851392" y="2999232"/>
            <a:ext cx="402336" cy="310896"/>
          </a:xfrm>
          <a:prstGeom prst="triangle">
            <a:avLst/>
          </a:prstGeom>
          <a:solidFill>
            <a:srgbClr val="F7DEDF"/>
          </a:solidFill>
          <a:ln w="19050">
            <a:solidFill>
              <a:srgbClr val="C1272D"/>
            </a:solidFill>
            <a:prstDash val="solid"/>
          </a:ln>
        </p:spPr>
      </p:sp>
      <p:sp>
        <p:nvSpPr>
          <p:cNvPr id="29" name="Shape 27"/>
          <p:cNvSpPr/>
          <p:nvPr/>
        </p:nvSpPr>
        <p:spPr>
          <a:xfrm flipH="1">
            <a:off x="8183880" y="3337560"/>
            <a:ext cx="868680" cy="868680"/>
          </a:xfrm>
          <a:prstGeom prst="line">
            <a:avLst/>
          </a:prstGeom>
          <a:noFill/>
          <a:ln w="15875">
            <a:solidFill>
              <a:srgbClr val="55607A"/>
            </a:solidFill>
            <a:prstDash val="solid"/>
          </a:ln>
        </p:spPr>
      </p:sp>
      <p:sp>
        <p:nvSpPr>
          <p:cNvPr id="30" name="Shape 28"/>
          <p:cNvSpPr/>
          <p:nvPr/>
        </p:nvSpPr>
        <p:spPr>
          <a:xfrm>
            <a:off x="7982712" y="4215384"/>
            <a:ext cx="402336" cy="310896"/>
          </a:xfrm>
          <a:prstGeom prst="roundRect">
            <a:avLst>
              <a:gd name="adj" fmla="val 14706"/>
            </a:avLst>
          </a:prstGeom>
          <a:solidFill>
            <a:srgbClr val="FFFFFF"/>
          </a:solidFill>
          <a:ln w="12700">
            <a:solidFill>
              <a:srgbClr val="55607A"/>
            </a:solidFill>
            <a:prstDash val="solid"/>
          </a:ln>
        </p:spPr>
      </p:sp>
      <p:sp>
        <p:nvSpPr>
          <p:cNvPr id="31" name="Text 29"/>
          <p:cNvSpPr/>
          <p:nvPr/>
        </p:nvSpPr>
        <p:spPr>
          <a:xfrm>
            <a:off x="778154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4</a:t>
            </a:r>
            <a:endParaRPr lang="en-US" sz="1250" dirty="0"/>
          </a:p>
        </p:txBody>
      </p:sp>
      <p:sp>
        <p:nvSpPr>
          <p:cNvPr id="32" name="Shape 30"/>
          <p:cNvSpPr/>
          <p:nvPr/>
        </p:nvSpPr>
        <p:spPr>
          <a:xfrm>
            <a:off x="9052560" y="3337560"/>
            <a:ext cx="4572" cy="868680"/>
          </a:xfrm>
          <a:prstGeom prst="line">
            <a:avLst/>
          </a:prstGeom>
          <a:noFill/>
          <a:ln w="15875">
            <a:solidFill>
              <a:srgbClr val="55607A"/>
            </a:solidFill>
            <a:prstDash val="solid"/>
          </a:ln>
        </p:spPr>
      </p:sp>
      <p:sp>
        <p:nvSpPr>
          <p:cNvPr id="33" name="Shape 31"/>
          <p:cNvSpPr/>
          <p:nvPr/>
        </p:nvSpPr>
        <p:spPr>
          <a:xfrm>
            <a:off x="8851392" y="4215384"/>
            <a:ext cx="402336" cy="310896"/>
          </a:xfrm>
          <a:prstGeom prst="roundRect">
            <a:avLst>
              <a:gd name="adj" fmla="val 14706"/>
            </a:avLst>
          </a:prstGeom>
          <a:solidFill>
            <a:srgbClr val="FFFFFF"/>
          </a:solidFill>
          <a:ln w="12700">
            <a:solidFill>
              <a:srgbClr val="55607A"/>
            </a:solidFill>
            <a:prstDash val="solid"/>
          </a:ln>
        </p:spPr>
      </p:sp>
      <p:sp>
        <p:nvSpPr>
          <p:cNvPr id="34" name="Text 32"/>
          <p:cNvSpPr/>
          <p:nvPr/>
        </p:nvSpPr>
        <p:spPr>
          <a:xfrm>
            <a:off x="865022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3</a:t>
            </a:r>
            <a:endParaRPr lang="en-US" sz="1250" dirty="0"/>
          </a:p>
        </p:txBody>
      </p:sp>
      <p:sp>
        <p:nvSpPr>
          <p:cNvPr id="35" name="Shape 33"/>
          <p:cNvSpPr/>
          <p:nvPr/>
        </p:nvSpPr>
        <p:spPr>
          <a:xfrm>
            <a:off x="9052560" y="3337560"/>
            <a:ext cx="868680" cy="868680"/>
          </a:xfrm>
          <a:prstGeom prst="line">
            <a:avLst/>
          </a:prstGeom>
          <a:noFill/>
          <a:ln w="15875">
            <a:solidFill>
              <a:srgbClr val="55607A"/>
            </a:solidFill>
            <a:prstDash val="solid"/>
          </a:ln>
        </p:spPr>
      </p:sp>
      <p:sp>
        <p:nvSpPr>
          <p:cNvPr id="36" name="Shape 34"/>
          <p:cNvSpPr/>
          <p:nvPr/>
        </p:nvSpPr>
        <p:spPr>
          <a:xfrm>
            <a:off x="9720072" y="4215384"/>
            <a:ext cx="402336" cy="310896"/>
          </a:xfrm>
          <a:prstGeom prst="roundRect">
            <a:avLst>
              <a:gd name="adj" fmla="val 14706"/>
            </a:avLst>
          </a:prstGeom>
          <a:solidFill>
            <a:srgbClr val="FFFFFF"/>
          </a:solidFill>
          <a:ln w="12700">
            <a:solidFill>
              <a:srgbClr val="55607A"/>
            </a:solidFill>
            <a:prstDash val="solid"/>
          </a:ln>
        </p:spPr>
      </p:sp>
      <p:sp>
        <p:nvSpPr>
          <p:cNvPr id="37" name="Text 35"/>
          <p:cNvSpPr/>
          <p:nvPr/>
        </p:nvSpPr>
        <p:spPr>
          <a:xfrm>
            <a:off x="951890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10</a:t>
            </a:r>
            <a:endParaRPr lang="en-US" sz="1250" dirty="0"/>
          </a:p>
        </p:txBody>
      </p:sp>
      <p:sp>
        <p:nvSpPr>
          <p:cNvPr id="38" name="Shape 36"/>
          <p:cNvSpPr/>
          <p:nvPr/>
        </p:nvSpPr>
        <p:spPr>
          <a:xfrm>
            <a:off x="640080" y="4892040"/>
            <a:ext cx="10881360" cy="1234440"/>
          </a:xfrm>
          <a:prstGeom prst="roundRect">
            <a:avLst>
              <a:gd name="adj" fmla="val 5926"/>
            </a:avLst>
          </a:prstGeom>
          <a:solidFill>
            <a:srgbClr val="FFFFFF"/>
          </a:solidFill>
          <a:ln w="12700">
            <a:solidFill>
              <a:srgbClr val="DCE3EE"/>
            </a:solidFill>
            <a:prstDash val="solid"/>
          </a:ln>
        </p:spPr>
      </p:sp>
      <p:sp>
        <p:nvSpPr>
          <p:cNvPr id="39" name="Text 37"/>
          <p:cNvSpPr/>
          <p:nvPr/>
        </p:nvSpPr>
        <p:spPr>
          <a:xfrm>
            <a:off x="841248" y="5038344"/>
            <a:ext cx="1047902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Answer three things</a:t>
            </a:r>
            <a:endParaRPr lang="en-US" sz="1500" dirty="0"/>
          </a:p>
        </p:txBody>
      </p:sp>
      <p:sp>
        <p:nvSpPr>
          <p:cNvPr id="40" name="Text 38"/>
          <p:cNvSpPr/>
          <p:nvPr/>
        </p:nvSpPr>
        <p:spPr>
          <a:xfrm>
            <a:off x="841248" y="5385816"/>
            <a:ext cx="10479024" cy="576072"/>
          </a:xfrm>
          <a:prstGeom prst="rect">
            <a:avLst/>
          </a:prstGeom>
          <a:noFill/>
          <a:ln/>
        </p:spPr>
        <p:txBody>
          <a:bodyPr wrap="square" lIns="0" tIns="0" rIns="0" bIns="0" rtlCol="0" anchor="t"/>
          <a:lstStyle/>
          <a:p>
            <a:pPr indent="0" marL="0">
              <a:lnSpc>
                <a:spcPct val="108000"/>
              </a:lnSpc>
              <a:buNone/>
            </a:pPr>
            <a:r>
              <a:rPr lang="en-US" sz="1400" dirty="0">
                <a:solidFill>
                  <a:srgbClr val="1A1A1A"/>
                </a:solidFill>
                <a:latin typeface="Calibri" pitchFamily="34" charset="0"/>
                <a:ea typeface="Calibri" pitchFamily="34" charset="-122"/>
                <a:cs typeface="Calibri" pitchFamily="34" charset="-120"/>
              </a:rPr>
              <a:t>1. The minimax value of each of the three MIN nodes.     2. The minimax value of the root.     3. Which action MAX should play, counting the leftmost root edge as a1.</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FF3F9"/>
        </a:solidFill>
      </p:bgPr>
    </p:bg>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MINIMAX VALUES</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Exercise 1: Solution</a:t>
            </a:r>
            <a:endParaRPr lang="en-US" sz="2900" dirty="0"/>
          </a:p>
        </p:txBody>
      </p:sp>
      <p:sp>
        <p:nvSpPr>
          <p:cNvPr id="4" name="Shape 2"/>
          <p:cNvSpPr/>
          <p:nvPr/>
        </p:nvSpPr>
        <p:spPr>
          <a:xfrm>
            <a:off x="5650992" y="1764792"/>
            <a:ext cx="402336" cy="310896"/>
          </a:xfrm>
          <a:prstGeom prst="triangle">
            <a:avLst/>
          </a:prstGeom>
          <a:solidFill>
            <a:srgbClr val="DCE6FA"/>
          </a:solidFill>
          <a:ln w="19050">
            <a:solidFill>
              <a:srgbClr val="1F5AC4"/>
            </a:solidFill>
            <a:prstDash val="solid"/>
          </a:ln>
        </p:spPr>
      </p:sp>
      <p:sp>
        <p:nvSpPr>
          <p:cNvPr id="5" name="Text 3"/>
          <p:cNvSpPr/>
          <p:nvPr/>
        </p:nvSpPr>
        <p:spPr>
          <a:xfrm>
            <a:off x="5394960" y="1353312"/>
            <a:ext cx="914400" cy="292608"/>
          </a:xfrm>
          <a:prstGeom prst="rect">
            <a:avLst/>
          </a:prstGeom>
          <a:noFill/>
          <a:ln/>
        </p:spPr>
        <p:txBody>
          <a:bodyPr wrap="square" lIns="0" tIns="0" rIns="0" bIns="0" rtlCol="0" anchor="ctr"/>
          <a:lstStyle/>
          <a:p>
            <a:pPr algn="ctr" indent="0" marL="0">
              <a:buNone/>
            </a:pPr>
            <a:r>
              <a:rPr lang="en-US" sz="1400" b="1" dirty="0">
                <a:solidFill>
                  <a:srgbClr val="1F5AC4"/>
                </a:solidFill>
                <a:latin typeface="Calibri" pitchFamily="34" charset="0"/>
                <a:ea typeface="Calibri" pitchFamily="34" charset="-122"/>
                <a:cs typeface="Calibri" pitchFamily="34" charset="-120"/>
              </a:rPr>
              <a:t>6</a:t>
            </a:r>
            <a:endParaRPr lang="en-US" sz="1400" dirty="0"/>
          </a:p>
        </p:txBody>
      </p:sp>
      <p:sp>
        <p:nvSpPr>
          <p:cNvPr id="6" name="Shape 4"/>
          <p:cNvSpPr/>
          <p:nvPr/>
        </p:nvSpPr>
        <p:spPr>
          <a:xfrm flipH="1">
            <a:off x="2651760" y="2103120"/>
            <a:ext cx="3200400" cy="868680"/>
          </a:xfrm>
          <a:prstGeom prst="line">
            <a:avLst/>
          </a:prstGeom>
          <a:noFill/>
          <a:ln w="15875">
            <a:solidFill>
              <a:srgbClr val="55607A"/>
            </a:solidFill>
            <a:prstDash val="solid"/>
          </a:ln>
        </p:spPr>
      </p:sp>
      <p:sp>
        <p:nvSpPr>
          <p:cNvPr id="7" name="Shape 5"/>
          <p:cNvSpPr/>
          <p:nvPr/>
        </p:nvSpPr>
        <p:spPr>
          <a:xfrm rot="10800000">
            <a:off x="2450592" y="2999232"/>
            <a:ext cx="402336" cy="310896"/>
          </a:xfrm>
          <a:prstGeom prst="triangle">
            <a:avLst/>
          </a:prstGeom>
          <a:solidFill>
            <a:srgbClr val="F7DEDF"/>
          </a:solidFill>
          <a:ln w="19050">
            <a:solidFill>
              <a:srgbClr val="C1272D"/>
            </a:solidFill>
            <a:prstDash val="solid"/>
          </a:ln>
        </p:spPr>
      </p:sp>
      <p:sp>
        <p:nvSpPr>
          <p:cNvPr id="8" name="Text 6"/>
          <p:cNvSpPr/>
          <p:nvPr/>
        </p:nvSpPr>
        <p:spPr>
          <a:xfrm>
            <a:off x="2194560" y="2587752"/>
            <a:ext cx="914400" cy="292608"/>
          </a:xfrm>
          <a:prstGeom prst="rect">
            <a:avLst/>
          </a:prstGeom>
          <a:noFill/>
          <a:ln/>
        </p:spPr>
        <p:txBody>
          <a:bodyPr wrap="square" lIns="0" tIns="0" rIns="0" bIns="0" rtlCol="0" anchor="ctr"/>
          <a:lstStyle/>
          <a:p>
            <a:pPr algn="ctr" indent="0" marL="0">
              <a:buNone/>
            </a:pPr>
            <a:r>
              <a:rPr lang="en-US" sz="1400" b="1" dirty="0">
                <a:solidFill>
                  <a:srgbClr val="C1272D"/>
                </a:solidFill>
                <a:latin typeface="Calibri" pitchFamily="34" charset="0"/>
                <a:ea typeface="Calibri" pitchFamily="34" charset="-122"/>
                <a:cs typeface="Calibri" pitchFamily="34" charset="-120"/>
              </a:rPr>
              <a:t>5</a:t>
            </a:r>
            <a:endParaRPr lang="en-US" sz="1400" dirty="0"/>
          </a:p>
        </p:txBody>
      </p:sp>
      <p:sp>
        <p:nvSpPr>
          <p:cNvPr id="9" name="Shape 7"/>
          <p:cNvSpPr/>
          <p:nvPr/>
        </p:nvSpPr>
        <p:spPr>
          <a:xfrm flipH="1">
            <a:off x="1783080" y="3337560"/>
            <a:ext cx="868680" cy="868680"/>
          </a:xfrm>
          <a:prstGeom prst="line">
            <a:avLst/>
          </a:prstGeom>
          <a:noFill/>
          <a:ln w="15875">
            <a:solidFill>
              <a:srgbClr val="55607A"/>
            </a:solidFill>
            <a:prstDash val="solid"/>
          </a:ln>
        </p:spPr>
      </p:sp>
      <p:sp>
        <p:nvSpPr>
          <p:cNvPr id="10" name="Shape 8"/>
          <p:cNvSpPr/>
          <p:nvPr/>
        </p:nvSpPr>
        <p:spPr>
          <a:xfrm>
            <a:off x="1581912" y="4215384"/>
            <a:ext cx="402336" cy="310896"/>
          </a:xfrm>
          <a:prstGeom prst="roundRect">
            <a:avLst>
              <a:gd name="adj" fmla="val 14706"/>
            </a:avLst>
          </a:prstGeom>
          <a:solidFill>
            <a:srgbClr val="FFFFFF"/>
          </a:solidFill>
          <a:ln w="12700">
            <a:solidFill>
              <a:srgbClr val="55607A"/>
            </a:solidFill>
            <a:prstDash val="solid"/>
          </a:ln>
        </p:spPr>
      </p:sp>
      <p:sp>
        <p:nvSpPr>
          <p:cNvPr id="11" name="Text 9"/>
          <p:cNvSpPr/>
          <p:nvPr/>
        </p:nvSpPr>
        <p:spPr>
          <a:xfrm>
            <a:off x="138074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7</a:t>
            </a:r>
            <a:endParaRPr lang="en-US" sz="1250" dirty="0"/>
          </a:p>
        </p:txBody>
      </p:sp>
      <p:sp>
        <p:nvSpPr>
          <p:cNvPr id="12" name="Shape 10"/>
          <p:cNvSpPr/>
          <p:nvPr/>
        </p:nvSpPr>
        <p:spPr>
          <a:xfrm>
            <a:off x="2651760" y="3337560"/>
            <a:ext cx="4572" cy="868680"/>
          </a:xfrm>
          <a:prstGeom prst="line">
            <a:avLst/>
          </a:prstGeom>
          <a:noFill/>
          <a:ln w="15875">
            <a:solidFill>
              <a:srgbClr val="55607A"/>
            </a:solidFill>
            <a:prstDash val="solid"/>
          </a:ln>
        </p:spPr>
      </p:sp>
      <p:sp>
        <p:nvSpPr>
          <p:cNvPr id="13" name="Shape 11"/>
          <p:cNvSpPr/>
          <p:nvPr/>
        </p:nvSpPr>
        <p:spPr>
          <a:xfrm>
            <a:off x="2450592" y="4215384"/>
            <a:ext cx="402336" cy="310896"/>
          </a:xfrm>
          <a:prstGeom prst="roundRect">
            <a:avLst>
              <a:gd name="adj" fmla="val 14706"/>
            </a:avLst>
          </a:prstGeom>
          <a:solidFill>
            <a:srgbClr val="F7DEDF"/>
          </a:solidFill>
          <a:ln w="12700">
            <a:solidFill>
              <a:srgbClr val="55607A"/>
            </a:solidFill>
            <a:prstDash val="solid"/>
          </a:ln>
        </p:spPr>
      </p:sp>
      <p:sp>
        <p:nvSpPr>
          <p:cNvPr id="14" name="Text 12"/>
          <p:cNvSpPr/>
          <p:nvPr/>
        </p:nvSpPr>
        <p:spPr>
          <a:xfrm>
            <a:off x="2249424" y="4215384"/>
            <a:ext cx="804672" cy="310896"/>
          </a:xfrm>
          <a:prstGeom prst="rect">
            <a:avLst/>
          </a:prstGeom>
          <a:noFill/>
          <a:ln/>
        </p:spPr>
        <p:txBody>
          <a:bodyPr wrap="square" lIns="0" tIns="0" rIns="0" bIns="0" rtlCol="0" anchor="ctr"/>
          <a:lstStyle/>
          <a:p>
            <a:pPr algn="ctr" indent="0" marL="0">
              <a:buNone/>
            </a:pPr>
            <a:r>
              <a:rPr lang="en-US" sz="1250" b="1" dirty="0">
                <a:solidFill>
                  <a:srgbClr val="C1272D"/>
                </a:solidFill>
                <a:latin typeface="Calibri" pitchFamily="34" charset="0"/>
                <a:ea typeface="Calibri" pitchFamily="34" charset="-122"/>
                <a:cs typeface="Calibri" pitchFamily="34" charset="-120"/>
              </a:rPr>
              <a:t>5</a:t>
            </a:r>
            <a:endParaRPr lang="en-US" sz="1250" dirty="0"/>
          </a:p>
        </p:txBody>
      </p:sp>
      <p:sp>
        <p:nvSpPr>
          <p:cNvPr id="15" name="Shape 13"/>
          <p:cNvSpPr/>
          <p:nvPr/>
        </p:nvSpPr>
        <p:spPr>
          <a:xfrm>
            <a:off x="2651760" y="3337560"/>
            <a:ext cx="868680" cy="868680"/>
          </a:xfrm>
          <a:prstGeom prst="line">
            <a:avLst/>
          </a:prstGeom>
          <a:noFill/>
          <a:ln w="15875">
            <a:solidFill>
              <a:srgbClr val="55607A"/>
            </a:solidFill>
            <a:prstDash val="solid"/>
          </a:ln>
        </p:spPr>
      </p:sp>
      <p:sp>
        <p:nvSpPr>
          <p:cNvPr id="16" name="Shape 14"/>
          <p:cNvSpPr/>
          <p:nvPr/>
        </p:nvSpPr>
        <p:spPr>
          <a:xfrm>
            <a:off x="3319272" y="4215384"/>
            <a:ext cx="402336" cy="310896"/>
          </a:xfrm>
          <a:prstGeom prst="roundRect">
            <a:avLst>
              <a:gd name="adj" fmla="val 14706"/>
            </a:avLst>
          </a:prstGeom>
          <a:solidFill>
            <a:srgbClr val="FFFFFF"/>
          </a:solidFill>
          <a:ln w="12700">
            <a:solidFill>
              <a:srgbClr val="55607A"/>
            </a:solidFill>
            <a:prstDash val="solid"/>
          </a:ln>
        </p:spPr>
      </p:sp>
      <p:sp>
        <p:nvSpPr>
          <p:cNvPr id="17" name="Text 15"/>
          <p:cNvSpPr/>
          <p:nvPr/>
        </p:nvSpPr>
        <p:spPr>
          <a:xfrm>
            <a:off x="311810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9</a:t>
            </a:r>
            <a:endParaRPr lang="en-US" sz="1250" dirty="0"/>
          </a:p>
        </p:txBody>
      </p:sp>
      <p:sp>
        <p:nvSpPr>
          <p:cNvPr id="18" name="Shape 16"/>
          <p:cNvSpPr/>
          <p:nvPr/>
        </p:nvSpPr>
        <p:spPr>
          <a:xfrm>
            <a:off x="5852160" y="2103120"/>
            <a:ext cx="4572" cy="868680"/>
          </a:xfrm>
          <a:prstGeom prst="line">
            <a:avLst/>
          </a:prstGeom>
          <a:noFill/>
          <a:ln w="31750">
            <a:solidFill>
              <a:srgbClr val="1F5AC4"/>
            </a:solidFill>
            <a:prstDash val="solid"/>
          </a:ln>
        </p:spPr>
      </p:sp>
      <p:sp>
        <p:nvSpPr>
          <p:cNvPr id="19" name="Shape 17"/>
          <p:cNvSpPr/>
          <p:nvPr/>
        </p:nvSpPr>
        <p:spPr>
          <a:xfrm rot="10800000">
            <a:off x="5650992" y="2999232"/>
            <a:ext cx="402336" cy="310896"/>
          </a:xfrm>
          <a:prstGeom prst="triangle">
            <a:avLst/>
          </a:prstGeom>
          <a:solidFill>
            <a:srgbClr val="F7DEDF"/>
          </a:solidFill>
          <a:ln w="19050">
            <a:solidFill>
              <a:srgbClr val="C1272D"/>
            </a:solidFill>
            <a:prstDash val="solid"/>
          </a:ln>
        </p:spPr>
      </p:sp>
      <p:sp>
        <p:nvSpPr>
          <p:cNvPr id="20" name="Text 18"/>
          <p:cNvSpPr/>
          <p:nvPr/>
        </p:nvSpPr>
        <p:spPr>
          <a:xfrm>
            <a:off x="5943600" y="2587752"/>
            <a:ext cx="914400" cy="292608"/>
          </a:xfrm>
          <a:prstGeom prst="rect">
            <a:avLst/>
          </a:prstGeom>
          <a:noFill/>
          <a:ln/>
        </p:spPr>
        <p:txBody>
          <a:bodyPr wrap="square" lIns="0" tIns="0" rIns="0" bIns="0" rtlCol="0" anchor="ctr"/>
          <a:lstStyle/>
          <a:p>
            <a:pPr algn="ctr" indent="0" marL="0">
              <a:buNone/>
            </a:pPr>
            <a:r>
              <a:rPr lang="en-US" sz="1400" b="1" dirty="0">
                <a:solidFill>
                  <a:srgbClr val="C1272D"/>
                </a:solidFill>
                <a:latin typeface="Calibri" pitchFamily="34" charset="0"/>
                <a:ea typeface="Calibri" pitchFamily="34" charset="-122"/>
                <a:cs typeface="Calibri" pitchFamily="34" charset="-120"/>
              </a:rPr>
              <a:t>6</a:t>
            </a:r>
            <a:endParaRPr lang="en-US" sz="1400" dirty="0"/>
          </a:p>
        </p:txBody>
      </p:sp>
      <p:sp>
        <p:nvSpPr>
          <p:cNvPr id="21" name="Shape 19"/>
          <p:cNvSpPr/>
          <p:nvPr/>
        </p:nvSpPr>
        <p:spPr>
          <a:xfrm flipH="1">
            <a:off x="4983480" y="3337560"/>
            <a:ext cx="868680" cy="868680"/>
          </a:xfrm>
          <a:prstGeom prst="line">
            <a:avLst/>
          </a:prstGeom>
          <a:noFill/>
          <a:ln w="15875">
            <a:solidFill>
              <a:srgbClr val="55607A"/>
            </a:solidFill>
            <a:prstDash val="solid"/>
          </a:ln>
        </p:spPr>
      </p:sp>
      <p:sp>
        <p:nvSpPr>
          <p:cNvPr id="22" name="Shape 20"/>
          <p:cNvSpPr/>
          <p:nvPr/>
        </p:nvSpPr>
        <p:spPr>
          <a:xfrm>
            <a:off x="4782312" y="4215384"/>
            <a:ext cx="402336" cy="310896"/>
          </a:xfrm>
          <a:prstGeom prst="roundRect">
            <a:avLst>
              <a:gd name="adj" fmla="val 14706"/>
            </a:avLst>
          </a:prstGeom>
          <a:solidFill>
            <a:srgbClr val="F7DEDF"/>
          </a:solidFill>
          <a:ln w="12700">
            <a:solidFill>
              <a:srgbClr val="55607A"/>
            </a:solidFill>
            <a:prstDash val="solid"/>
          </a:ln>
        </p:spPr>
      </p:sp>
      <p:sp>
        <p:nvSpPr>
          <p:cNvPr id="23" name="Text 21"/>
          <p:cNvSpPr/>
          <p:nvPr/>
        </p:nvSpPr>
        <p:spPr>
          <a:xfrm>
            <a:off x="4581144" y="4215384"/>
            <a:ext cx="804672" cy="310896"/>
          </a:xfrm>
          <a:prstGeom prst="rect">
            <a:avLst/>
          </a:prstGeom>
          <a:noFill/>
          <a:ln/>
        </p:spPr>
        <p:txBody>
          <a:bodyPr wrap="square" lIns="0" tIns="0" rIns="0" bIns="0" rtlCol="0" anchor="ctr"/>
          <a:lstStyle/>
          <a:p>
            <a:pPr algn="ctr" indent="0" marL="0">
              <a:buNone/>
            </a:pPr>
            <a:r>
              <a:rPr lang="en-US" sz="1250" b="1" dirty="0">
                <a:solidFill>
                  <a:srgbClr val="C1272D"/>
                </a:solidFill>
                <a:latin typeface="Calibri" pitchFamily="34" charset="0"/>
                <a:ea typeface="Calibri" pitchFamily="34" charset="-122"/>
                <a:cs typeface="Calibri" pitchFamily="34" charset="-120"/>
              </a:rPr>
              <a:t>6</a:t>
            </a:r>
            <a:endParaRPr lang="en-US" sz="1250" dirty="0"/>
          </a:p>
        </p:txBody>
      </p:sp>
      <p:sp>
        <p:nvSpPr>
          <p:cNvPr id="24" name="Shape 22"/>
          <p:cNvSpPr/>
          <p:nvPr/>
        </p:nvSpPr>
        <p:spPr>
          <a:xfrm>
            <a:off x="5852160" y="3337560"/>
            <a:ext cx="4572" cy="868680"/>
          </a:xfrm>
          <a:prstGeom prst="line">
            <a:avLst/>
          </a:prstGeom>
          <a:noFill/>
          <a:ln w="15875">
            <a:solidFill>
              <a:srgbClr val="55607A"/>
            </a:solidFill>
            <a:prstDash val="solid"/>
          </a:ln>
        </p:spPr>
      </p:sp>
      <p:sp>
        <p:nvSpPr>
          <p:cNvPr id="25" name="Shape 23"/>
          <p:cNvSpPr/>
          <p:nvPr/>
        </p:nvSpPr>
        <p:spPr>
          <a:xfrm>
            <a:off x="5650992" y="4215384"/>
            <a:ext cx="402336" cy="310896"/>
          </a:xfrm>
          <a:prstGeom prst="roundRect">
            <a:avLst>
              <a:gd name="adj" fmla="val 14706"/>
            </a:avLst>
          </a:prstGeom>
          <a:solidFill>
            <a:srgbClr val="FFFFFF"/>
          </a:solidFill>
          <a:ln w="12700">
            <a:solidFill>
              <a:srgbClr val="55607A"/>
            </a:solidFill>
            <a:prstDash val="solid"/>
          </a:ln>
        </p:spPr>
      </p:sp>
      <p:sp>
        <p:nvSpPr>
          <p:cNvPr id="26" name="Text 24"/>
          <p:cNvSpPr/>
          <p:nvPr/>
        </p:nvSpPr>
        <p:spPr>
          <a:xfrm>
            <a:off x="544982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8</a:t>
            </a:r>
            <a:endParaRPr lang="en-US" sz="1250" dirty="0"/>
          </a:p>
        </p:txBody>
      </p:sp>
      <p:sp>
        <p:nvSpPr>
          <p:cNvPr id="27" name="Shape 25"/>
          <p:cNvSpPr/>
          <p:nvPr/>
        </p:nvSpPr>
        <p:spPr>
          <a:xfrm>
            <a:off x="5852160" y="3337560"/>
            <a:ext cx="868680" cy="868680"/>
          </a:xfrm>
          <a:prstGeom prst="line">
            <a:avLst/>
          </a:prstGeom>
          <a:noFill/>
          <a:ln w="15875">
            <a:solidFill>
              <a:srgbClr val="55607A"/>
            </a:solidFill>
            <a:prstDash val="solid"/>
          </a:ln>
        </p:spPr>
      </p:sp>
      <p:sp>
        <p:nvSpPr>
          <p:cNvPr id="28" name="Shape 26"/>
          <p:cNvSpPr/>
          <p:nvPr/>
        </p:nvSpPr>
        <p:spPr>
          <a:xfrm>
            <a:off x="6519672" y="4215384"/>
            <a:ext cx="402336" cy="310896"/>
          </a:xfrm>
          <a:prstGeom prst="roundRect">
            <a:avLst>
              <a:gd name="adj" fmla="val 14706"/>
            </a:avLst>
          </a:prstGeom>
          <a:solidFill>
            <a:srgbClr val="FFFFFF"/>
          </a:solidFill>
          <a:ln w="12700">
            <a:solidFill>
              <a:srgbClr val="55607A"/>
            </a:solidFill>
            <a:prstDash val="solid"/>
          </a:ln>
        </p:spPr>
      </p:sp>
      <p:sp>
        <p:nvSpPr>
          <p:cNvPr id="29" name="Text 27"/>
          <p:cNvSpPr/>
          <p:nvPr/>
        </p:nvSpPr>
        <p:spPr>
          <a:xfrm>
            <a:off x="631850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9</a:t>
            </a:r>
            <a:endParaRPr lang="en-US" sz="1250" dirty="0"/>
          </a:p>
        </p:txBody>
      </p:sp>
      <p:sp>
        <p:nvSpPr>
          <p:cNvPr id="30" name="Shape 28"/>
          <p:cNvSpPr/>
          <p:nvPr/>
        </p:nvSpPr>
        <p:spPr>
          <a:xfrm>
            <a:off x="5852160" y="2103120"/>
            <a:ext cx="3200400" cy="868680"/>
          </a:xfrm>
          <a:prstGeom prst="line">
            <a:avLst/>
          </a:prstGeom>
          <a:noFill/>
          <a:ln w="15875">
            <a:solidFill>
              <a:srgbClr val="55607A"/>
            </a:solidFill>
            <a:prstDash val="solid"/>
          </a:ln>
        </p:spPr>
      </p:sp>
      <p:sp>
        <p:nvSpPr>
          <p:cNvPr id="31" name="Shape 29"/>
          <p:cNvSpPr/>
          <p:nvPr/>
        </p:nvSpPr>
        <p:spPr>
          <a:xfrm rot="10800000">
            <a:off x="8851392" y="2999232"/>
            <a:ext cx="402336" cy="310896"/>
          </a:xfrm>
          <a:prstGeom prst="triangle">
            <a:avLst/>
          </a:prstGeom>
          <a:solidFill>
            <a:srgbClr val="F7DEDF"/>
          </a:solidFill>
          <a:ln w="19050">
            <a:solidFill>
              <a:srgbClr val="C1272D"/>
            </a:solidFill>
            <a:prstDash val="solid"/>
          </a:ln>
        </p:spPr>
      </p:sp>
      <p:sp>
        <p:nvSpPr>
          <p:cNvPr id="32" name="Text 30"/>
          <p:cNvSpPr/>
          <p:nvPr/>
        </p:nvSpPr>
        <p:spPr>
          <a:xfrm>
            <a:off x="8595360" y="2587752"/>
            <a:ext cx="914400" cy="292608"/>
          </a:xfrm>
          <a:prstGeom prst="rect">
            <a:avLst/>
          </a:prstGeom>
          <a:noFill/>
          <a:ln/>
        </p:spPr>
        <p:txBody>
          <a:bodyPr wrap="square" lIns="0" tIns="0" rIns="0" bIns="0" rtlCol="0" anchor="ctr"/>
          <a:lstStyle/>
          <a:p>
            <a:pPr algn="ctr" indent="0" marL="0">
              <a:buNone/>
            </a:pPr>
            <a:r>
              <a:rPr lang="en-US" sz="1400" b="1" dirty="0">
                <a:solidFill>
                  <a:srgbClr val="C1272D"/>
                </a:solidFill>
                <a:latin typeface="Calibri" pitchFamily="34" charset="0"/>
                <a:ea typeface="Calibri" pitchFamily="34" charset="-122"/>
                <a:cs typeface="Calibri" pitchFamily="34" charset="-120"/>
              </a:rPr>
              <a:t>3</a:t>
            </a:r>
            <a:endParaRPr lang="en-US" sz="1400" dirty="0"/>
          </a:p>
        </p:txBody>
      </p:sp>
      <p:sp>
        <p:nvSpPr>
          <p:cNvPr id="33" name="Shape 31"/>
          <p:cNvSpPr/>
          <p:nvPr/>
        </p:nvSpPr>
        <p:spPr>
          <a:xfrm flipH="1">
            <a:off x="8183880" y="3337560"/>
            <a:ext cx="868680" cy="868680"/>
          </a:xfrm>
          <a:prstGeom prst="line">
            <a:avLst/>
          </a:prstGeom>
          <a:noFill/>
          <a:ln w="15875">
            <a:solidFill>
              <a:srgbClr val="55607A"/>
            </a:solidFill>
            <a:prstDash val="solid"/>
          </a:ln>
        </p:spPr>
      </p:sp>
      <p:sp>
        <p:nvSpPr>
          <p:cNvPr id="34" name="Shape 32"/>
          <p:cNvSpPr/>
          <p:nvPr/>
        </p:nvSpPr>
        <p:spPr>
          <a:xfrm>
            <a:off x="7982712" y="4215384"/>
            <a:ext cx="402336" cy="310896"/>
          </a:xfrm>
          <a:prstGeom prst="roundRect">
            <a:avLst>
              <a:gd name="adj" fmla="val 14706"/>
            </a:avLst>
          </a:prstGeom>
          <a:solidFill>
            <a:srgbClr val="FFFFFF"/>
          </a:solidFill>
          <a:ln w="12700">
            <a:solidFill>
              <a:srgbClr val="55607A"/>
            </a:solidFill>
            <a:prstDash val="solid"/>
          </a:ln>
        </p:spPr>
      </p:sp>
      <p:sp>
        <p:nvSpPr>
          <p:cNvPr id="35" name="Text 33"/>
          <p:cNvSpPr/>
          <p:nvPr/>
        </p:nvSpPr>
        <p:spPr>
          <a:xfrm>
            <a:off x="778154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4</a:t>
            </a:r>
            <a:endParaRPr lang="en-US" sz="1250" dirty="0"/>
          </a:p>
        </p:txBody>
      </p:sp>
      <p:sp>
        <p:nvSpPr>
          <p:cNvPr id="36" name="Shape 34"/>
          <p:cNvSpPr/>
          <p:nvPr/>
        </p:nvSpPr>
        <p:spPr>
          <a:xfrm>
            <a:off x="9052560" y="3337560"/>
            <a:ext cx="4572" cy="868680"/>
          </a:xfrm>
          <a:prstGeom prst="line">
            <a:avLst/>
          </a:prstGeom>
          <a:noFill/>
          <a:ln w="15875">
            <a:solidFill>
              <a:srgbClr val="55607A"/>
            </a:solidFill>
            <a:prstDash val="solid"/>
          </a:ln>
        </p:spPr>
      </p:sp>
      <p:sp>
        <p:nvSpPr>
          <p:cNvPr id="37" name="Shape 35"/>
          <p:cNvSpPr/>
          <p:nvPr/>
        </p:nvSpPr>
        <p:spPr>
          <a:xfrm>
            <a:off x="8851392" y="4215384"/>
            <a:ext cx="402336" cy="310896"/>
          </a:xfrm>
          <a:prstGeom prst="roundRect">
            <a:avLst>
              <a:gd name="adj" fmla="val 14706"/>
            </a:avLst>
          </a:prstGeom>
          <a:solidFill>
            <a:srgbClr val="F7DEDF"/>
          </a:solidFill>
          <a:ln w="12700">
            <a:solidFill>
              <a:srgbClr val="55607A"/>
            </a:solidFill>
            <a:prstDash val="solid"/>
          </a:ln>
        </p:spPr>
      </p:sp>
      <p:sp>
        <p:nvSpPr>
          <p:cNvPr id="38" name="Text 36"/>
          <p:cNvSpPr/>
          <p:nvPr/>
        </p:nvSpPr>
        <p:spPr>
          <a:xfrm>
            <a:off x="8650224" y="4215384"/>
            <a:ext cx="804672" cy="310896"/>
          </a:xfrm>
          <a:prstGeom prst="rect">
            <a:avLst/>
          </a:prstGeom>
          <a:noFill/>
          <a:ln/>
        </p:spPr>
        <p:txBody>
          <a:bodyPr wrap="square" lIns="0" tIns="0" rIns="0" bIns="0" rtlCol="0" anchor="ctr"/>
          <a:lstStyle/>
          <a:p>
            <a:pPr algn="ctr" indent="0" marL="0">
              <a:buNone/>
            </a:pPr>
            <a:r>
              <a:rPr lang="en-US" sz="1250" b="1" dirty="0">
                <a:solidFill>
                  <a:srgbClr val="C1272D"/>
                </a:solidFill>
                <a:latin typeface="Calibri" pitchFamily="34" charset="0"/>
                <a:ea typeface="Calibri" pitchFamily="34" charset="-122"/>
                <a:cs typeface="Calibri" pitchFamily="34" charset="-120"/>
              </a:rPr>
              <a:t>3</a:t>
            </a:r>
            <a:endParaRPr lang="en-US" sz="1250" dirty="0"/>
          </a:p>
        </p:txBody>
      </p:sp>
      <p:sp>
        <p:nvSpPr>
          <p:cNvPr id="39" name="Shape 37"/>
          <p:cNvSpPr/>
          <p:nvPr/>
        </p:nvSpPr>
        <p:spPr>
          <a:xfrm>
            <a:off x="9052560" y="3337560"/>
            <a:ext cx="868680" cy="868680"/>
          </a:xfrm>
          <a:prstGeom prst="line">
            <a:avLst/>
          </a:prstGeom>
          <a:noFill/>
          <a:ln w="15875">
            <a:solidFill>
              <a:srgbClr val="55607A"/>
            </a:solidFill>
            <a:prstDash val="solid"/>
          </a:ln>
        </p:spPr>
      </p:sp>
      <p:sp>
        <p:nvSpPr>
          <p:cNvPr id="40" name="Shape 38"/>
          <p:cNvSpPr/>
          <p:nvPr/>
        </p:nvSpPr>
        <p:spPr>
          <a:xfrm>
            <a:off x="9720072" y="4215384"/>
            <a:ext cx="402336" cy="310896"/>
          </a:xfrm>
          <a:prstGeom prst="roundRect">
            <a:avLst>
              <a:gd name="adj" fmla="val 14706"/>
            </a:avLst>
          </a:prstGeom>
          <a:solidFill>
            <a:srgbClr val="FFFFFF"/>
          </a:solidFill>
          <a:ln w="12700">
            <a:solidFill>
              <a:srgbClr val="55607A"/>
            </a:solidFill>
            <a:prstDash val="solid"/>
          </a:ln>
        </p:spPr>
      </p:sp>
      <p:sp>
        <p:nvSpPr>
          <p:cNvPr id="41" name="Text 39"/>
          <p:cNvSpPr/>
          <p:nvPr/>
        </p:nvSpPr>
        <p:spPr>
          <a:xfrm>
            <a:off x="9518904" y="4215384"/>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10</a:t>
            </a:r>
            <a:endParaRPr lang="en-US" sz="1250" dirty="0"/>
          </a:p>
        </p:txBody>
      </p:sp>
      <p:sp>
        <p:nvSpPr>
          <p:cNvPr id="42" name="Text 40"/>
          <p:cNvSpPr/>
          <p:nvPr/>
        </p:nvSpPr>
        <p:spPr>
          <a:xfrm>
            <a:off x="640080" y="4846320"/>
            <a:ext cx="10881360" cy="4572000"/>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1A1A1A"/>
                </a:solidFill>
                <a:latin typeface="Calibri" pitchFamily="34" charset="0"/>
                <a:ea typeface="Calibri" pitchFamily="34" charset="-122"/>
                <a:cs typeface="Calibri" pitchFamily="34" charset="-120"/>
              </a:rPr>
              <a:t>MIN nodes: min(7,5,9) = 5,   min(6,8,9) = 6,   min(4,3,10) = 3.</a:t>
            </a:r>
            <a:endParaRPr lang="en-US" sz="1500" dirty="0"/>
          </a:p>
          <a:p>
            <a:pPr marL="203200" indent="-203200">
              <a:spcAft>
                <a:spcPts val="700"/>
              </a:spcAft>
              <a:buSzPct val="100000"/>
              <a:buChar char="•"/>
            </a:pPr>
            <a:r>
              <a:rPr lang="en-US" sz="1500" b="1" dirty="0">
                <a:solidFill>
                  <a:srgbClr val="1A1A1A"/>
                </a:solidFill>
                <a:latin typeface="Calibri" pitchFamily="34" charset="0"/>
                <a:ea typeface="Calibri" pitchFamily="34" charset="-122"/>
                <a:cs typeface="Calibri" pitchFamily="34" charset="-120"/>
              </a:rPr>
              <a:t>Root: max(5, 6, 3) = 6, so MAX plays a2 - the middle branch, highlighted in blue.</a:t>
            </a:r>
            <a:endParaRPr lang="en-US" sz="1500" dirty="0"/>
          </a:p>
          <a:p>
            <a:pPr marL="203200" indent="-203200">
              <a:spcAft>
                <a:spcPts val="700"/>
              </a:spcAft>
              <a:buSzPct val="100000"/>
              <a:buChar char="•"/>
            </a:pPr>
            <a:r>
              <a:rPr lang="en-US" sz="1500" dirty="0">
                <a:solidFill>
                  <a:srgbClr val="1A1A1A"/>
                </a:solidFill>
                <a:latin typeface="Calibri" pitchFamily="34" charset="0"/>
                <a:ea typeface="Calibri" pitchFamily="34" charset="-122"/>
                <a:cs typeface="Calibri" pitchFamily="34" charset="-120"/>
              </a:rPr>
              <a:t>The 10 under the third branch is bait. MIN answers it with the 3, so that whole subtree is worth 3 to MAX.</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5.2.2</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More Than Two Players: Vectors of Utilities</a:t>
            </a:r>
            <a:endParaRPr lang="en-US" sz="2900" dirty="0"/>
          </a:p>
        </p:txBody>
      </p:sp>
      <p:sp>
        <p:nvSpPr>
          <p:cNvPr id="4" name="Text 2"/>
          <p:cNvSpPr/>
          <p:nvPr/>
        </p:nvSpPr>
        <p:spPr>
          <a:xfrm>
            <a:off x="640080" y="1371600"/>
            <a:ext cx="6035040" cy="457200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rgbClr val="1A1A1A"/>
                </a:solidFill>
                <a:latin typeface="Calibri" pitchFamily="34" charset="0"/>
                <a:ea typeface="Calibri" pitchFamily="34" charset="-122"/>
                <a:cs typeface="Calibri" pitchFamily="34" charset="-120"/>
              </a:rPr>
              <a:t>Replace the single value at each node with a vector, one entry per player.</a:t>
            </a:r>
            <a:endParaRPr lang="en-US" sz="1500" dirty="0"/>
          </a:p>
          <a:p>
            <a:pPr lvl="1" marL="406400" indent="-203200">
              <a:spcAft>
                <a:spcPts val="900"/>
              </a:spcAft>
              <a:buSzPct val="100000"/>
              <a:buChar char="•"/>
            </a:pPr>
            <a:r>
              <a:rPr lang="en-US" sz="1300" dirty="0">
                <a:solidFill>
                  <a:srgbClr val="55607A"/>
                </a:solidFill>
                <a:latin typeface="Calibri" pitchFamily="34" charset="0"/>
                <a:ea typeface="Calibri" pitchFamily="34" charset="-122"/>
                <a:cs typeface="Calibri" pitchFamily="34" charset="-120"/>
              </a:rPr>
              <a:t>With players A, B, C, every node carries &lt;vA, vB, vC&gt;. At a terminal state the UTILITY function returns the whole vector.</a:t>
            </a:r>
            <a:endParaRPr lang="en-US" sz="1500" dirty="0"/>
          </a:p>
          <a:p>
            <a:pPr marL="203200" indent="-203200">
              <a:spcAft>
                <a:spcPts val="900"/>
              </a:spcAft>
              <a:buSzPct val="100000"/>
              <a:buChar char="•"/>
            </a:pPr>
            <a:r>
              <a:rPr lang="en-US" sz="1500" b="1" dirty="0">
                <a:solidFill>
                  <a:srgbClr val="1A1A1A"/>
                </a:solidFill>
                <a:latin typeface="Calibri" pitchFamily="34" charset="0"/>
                <a:ea typeface="Calibri" pitchFamily="34" charset="-122"/>
                <a:cs typeface="Calibri" pitchFamily="34" charset="-120"/>
              </a:rPr>
              <a:t>At an internal node, the backed-up value is the utility vector of the successor with the highest value for the player who moves at that node.</a:t>
            </a:r>
            <a:endParaRPr lang="en-US" sz="1500" dirty="0"/>
          </a:p>
          <a:p>
            <a:pPr lvl="1" marL="406400" indent="-203200">
              <a:spcAft>
                <a:spcPts val="900"/>
              </a:spcAft>
              <a:buSzPct val="100000"/>
              <a:buChar char="•"/>
            </a:pPr>
            <a:r>
              <a:rPr lang="en-US" sz="1300" dirty="0">
                <a:solidFill>
                  <a:srgbClr val="55607A"/>
                </a:solidFill>
                <a:latin typeface="Calibri" pitchFamily="34" charset="0"/>
                <a:ea typeface="Calibri" pitchFamily="34" charset="-122"/>
                <a:cs typeface="Calibri" pitchFamily="34" charset="-120"/>
              </a:rPr>
              <a:t>In two-player zero-sum games the two-element vector collapses to a single number, because the entries are always opposites. That collapse is exactly what buys us minimax.</a:t>
            </a:r>
            <a:endParaRPr lang="en-US" sz="1500" dirty="0"/>
          </a:p>
        </p:txBody>
      </p:sp>
      <p:sp>
        <p:nvSpPr>
          <p:cNvPr id="5" name="Shape 3"/>
          <p:cNvSpPr/>
          <p:nvPr/>
        </p:nvSpPr>
        <p:spPr>
          <a:xfrm>
            <a:off x="8851392" y="1719072"/>
            <a:ext cx="402336" cy="310896"/>
          </a:xfrm>
          <a:prstGeom prst="triangle">
            <a:avLst/>
          </a:prstGeom>
          <a:solidFill>
            <a:srgbClr val="FBEFD8"/>
          </a:solidFill>
          <a:ln w="19050">
            <a:solidFill>
              <a:srgbClr val="1F5AC4"/>
            </a:solidFill>
            <a:prstDash val="solid"/>
          </a:ln>
        </p:spPr>
      </p:sp>
      <p:sp>
        <p:nvSpPr>
          <p:cNvPr id="6" name="Text 4"/>
          <p:cNvSpPr/>
          <p:nvPr/>
        </p:nvSpPr>
        <p:spPr>
          <a:xfrm>
            <a:off x="7818120" y="1755648"/>
            <a:ext cx="1188720" cy="274320"/>
          </a:xfrm>
          <a:prstGeom prst="rect">
            <a:avLst/>
          </a:prstGeom>
          <a:noFill/>
          <a:ln/>
        </p:spPr>
        <p:txBody>
          <a:bodyPr wrap="square" lIns="0" tIns="0" rIns="0" bIns="0" rtlCol="0" anchor="ctr"/>
          <a:lstStyle/>
          <a:p>
            <a:pPr algn="r" indent="0" marL="0">
              <a:buNone/>
            </a:pPr>
            <a:r>
              <a:rPr lang="en-US" sz="1150" b="1" dirty="0">
                <a:solidFill>
                  <a:srgbClr val="D98C1F"/>
                </a:solidFill>
                <a:latin typeface="Calibri" pitchFamily="34" charset="0"/>
                <a:ea typeface="Calibri" pitchFamily="34" charset="-122"/>
                <a:cs typeface="Calibri" pitchFamily="34" charset="-120"/>
              </a:rPr>
              <a:t>C to move at X</a:t>
            </a:r>
            <a:endParaRPr lang="en-US" sz="1150" dirty="0"/>
          </a:p>
        </p:txBody>
      </p:sp>
      <p:sp>
        <p:nvSpPr>
          <p:cNvPr id="7" name="Shape 5"/>
          <p:cNvSpPr/>
          <p:nvPr/>
        </p:nvSpPr>
        <p:spPr>
          <a:xfrm flipH="1">
            <a:off x="8138160" y="2057400"/>
            <a:ext cx="914400" cy="822960"/>
          </a:xfrm>
          <a:prstGeom prst="line">
            <a:avLst/>
          </a:prstGeom>
          <a:noFill/>
          <a:ln w="15875">
            <a:solidFill>
              <a:srgbClr val="55607A"/>
            </a:solidFill>
            <a:prstDash val="solid"/>
          </a:ln>
        </p:spPr>
      </p:sp>
      <p:sp>
        <p:nvSpPr>
          <p:cNvPr id="8" name="Shape 6"/>
          <p:cNvSpPr/>
          <p:nvPr/>
        </p:nvSpPr>
        <p:spPr>
          <a:xfrm>
            <a:off x="7479792" y="2926080"/>
            <a:ext cx="1316736" cy="402336"/>
          </a:xfrm>
          <a:prstGeom prst="roundRect">
            <a:avLst>
              <a:gd name="adj" fmla="val 11364"/>
            </a:avLst>
          </a:prstGeom>
          <a:solidFill>
            <a:srgbClr val="FBEFD8"/>
          </a:solidFill>
          <a:ln w="19050">
            <a:solidFill>
              <a:srgbClr val="D98C1F"/>
            </a:solidFill>
            <a:prstDash val="solid"/>
          </a:ln>
        </p:spPr>
      </p:sp>
      <p:sp>
        <p:nvSpPr>
          <p:cNvPr id="9" name="Text 7"/>
          <p:cNvSpPr/>
          <p:nvPr/>
        </p:nvSpPr>
        <p:spPr>
          <a:xfrm>
            <a:off x="7479792" y="2926080"/>
            <a:ext cx="1316736" cy="402336"/>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&lt;1, 2, 6&gt;</a:t>
            </a:r>
            <a:endParaRPr lang="en-US" sz="1200" dirty="0"/>
          </a:p>
        </p:txBody>
      </p:sp>
      <p:sp>
        <p:nvSpPr>
          <p:cNvPr id="10" name="Shape 8"/>
          <p:cNvSpPr/>
          <p:nvPr/>
        </p:nvSpPr>
        <p:spPr>
          <a:xfrm>
            <a:off x="9052560" y="2057400"/>
            <a:ext cx="1005840" cy="822960"/>
          </a:xfrm>
          <a:prstGeom prst="line">
            <a:avLst/>
          </a:prstGeom>
          <a:noFill/>
          <a:ln w="15875">
            <a:solidFill>
              <a:srgbClr val="55607A"/>
            </a:solidFill>
            <a:prstDash val="solid"/>
          </a:ln>
        </p:spPr>
      </p:sp>
      <p:sp>
        <p:nvSpPr>
          <p:cNvPr id="11" name="Shape 9"/>
          <p:cNvSpPr/>
          <p:nvPr/>
        </p:nvSpPr>
        <p:spPr>
          <a:xfrm>
            <a:off x="9400032" y="2926080"/>
            <a:ext cx="1316736" cy="402336"/>
          </a:xfrm>
          <a:prstGeom prst="roundRect">
            <a:avLst>
              <a:gd name="adj" fmla="val 11364"/>
            </a:avLst>
          </a:prstGeom>
          <a:solidFill>
            <a:srgbClr val="DCE3EE"/>
          </a:solidFill>
          <a:ln w="12700">
            <a:solidFill>
              <a:srgbClr val="55607A"/>
            </a:solidFill>
            <a:prstDash val="solid"/>
          </a:ln>
        </p:spPr>
      </p:sp>
      <p:sp>
        <p:nvSpPr>
          <p:cNvPr id="12" name="Text 10"/>
          <p:cNvSpPr/>
          <p:nvPr/>
        </p:nvSpPr>
        <p:spPr>
          <a:xfrm>
            <a:off x="9400032" y="2926080"/>
            <a:ext cx="1316736" cy="402336"/>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&lt;4, 2, 3&gt;</a:t>
            </a:r>
            <a:endParaRPr lang="en-US" sz="1200" dirty="0"/>
          </a:p>
        </p:txBody>
      </p:sp>
      <p:sp>
        <p:nvSpPr>
          <p:cNvPr id="13" name="Shape 11"/>
          <p:cNvSpPr/>
          <p:nvPr/>
        </p:nvSpPr>
        <p:spPr>
          <a:xfrm>
            <a:off x="7178040" y="3611880"/>
            <a:ext cx="4343400" cy="1463040"/>
          </a:xfrm>
          <a:prstGeom prst="roundRect">
            <a:avLst>
              <a:gd name="adj" fmla="val 5000"/>
            </a:avLst>
          </a:prstGeom>
          <a:solidFill>
            <a:srgbClr val="EFF3F9"/>
          </a:solidFill>
          <a:ln w="12700">
            <a:solidFill>
              <a:srgbClr val="EFF3F9"/>
            </a:solidFill>
            <a:prstDash val="solid"/>
          </a:ln>
        </p:spPr>
      </p:sp>
      <p:sp>
        <p:nvSpPr>
          <p:cNvPr id="14" name="Text 12"/>
          <p:cNvSpPr/>
          <p:nvPr/>
        </p:nvSpPr>
        <p:spPr>
          <a:xfrm>
            <a:off x="7379208" y="3776472"/>
            <a:ext cx="3941064" cy="1133856"/>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C compares its own entry: 6 versus 3. It picks the left move, so X backs up &lt;1, 2, 6&gt; - even though A would much rather have the 4 on the right.</a:t>
            </a:r>
            <a:endParaRPr lang="en-US" sz="1300" dirty="0"/>
          </a:p>
        </p:txBody>
      </p:sp>
      <p:sp>
        <p:nvSpPr>
          <p:cNvPr id="15" name="Shape 13"/>
          <p:cNvSpPr/>
          <p:nvPr/>
        </p:nvSpPr>
        <p:spPr>
          <a:xfrm>
            <a:off x="640080" y="5212080"/>
            <a:ext cx="10881360" cy="822960"/>
          </a:xfrm>
          <a:prstGeom prst="roundRect">
            <a:avLst>
              <a:gd name="adj" fmla="val 6667"/>
            </a:avLst>
          </a:prstGeom>
          <a:solidFill>
            <a:srgbClr val="DCE6FA"/>
          </a:solidFill>
          <a:ln w="12700">
            <a:solidFill>
              <a:srgbClr val="DCE6FA"/>
            </a:solidFill>
            <a:prstDash val="solid"/>
          </a:ln>
        </p:spPr>
      </p:sp>
      <p:sp>
        <p:nvSpPr>
          <p:cNvPr id="16" name="Text 14"/>
          <p:cNvSpPr/>
          <p:nvPr/>
        </p:nvSpPr>
        <p:spPr>
          <a:xfrm>
            <a:off x="822960" y="5303520"/>
            <a:ext cx="10515600" cy="640080"/>
          </a:xfrm>
          <a:prstGeom prst="rect">
            <a:avLst/>
          </a:prstGeom>
          <a:noFill/>
          <a:ln/>
        </p:spPr>
        <p:txBody>
          <a:bodyPr wrap="square" lIns="0" tIns="0" rIns="0" bIns="0" rtlCol="0" anchor="ctr"/>
          <a:lstStyle/>
          <a:p>
            <a:pPr algn="ctr" indent="0" marL="0">
              <a:lnSpc>
                <a:spcPct val="115000"/>
              </a:lnSpc>
              <a:buNone/>
            </a:pPr>
            <a:r>
              <a:rPr lang="en-US" sz="1450" dirty="0">
                <a:solidFill>
                  <a:srgbClr val="14213D"/>
                </a:solidFill>
                <a:latin typeface="Cambria" pitchFamily="34" charset="0"/>
                <a:ea typeface="Cambria" pitchFamily="34" charset="-122"/>
                <a:cs typeface="Cambria" pitchFamily="34" charset="-120"/>
              </a:rPr>
              <a:t>Alliances emerge from purely selfish play: if A and B are weak and C is strong, attacking C is optimal for both -</a:t>
            </a:r>
            <a:endParaRPr lang="en-US" sz="1450" dirty="0"/>
          </a:p>
          <a:p>
            <a:pPr algn="ctr" indent="0" marL="0">
              <a:lnSpc>
                <a:spcPct val="115000"/>
              </a:lnSpc>
              <a:buNone/>
            </a:pPr>
            <a:r>
              <a:rPr lang="en-US" sz="1450" dirty="0">
                <a:solidFill>
                  <a:srgbClr val="14213D"/>
                </a:solidFill>
                <a:latin typeface="Cambria" pitchFamily="34" charset="0"/>
                <a:ea typeface="Cambria" pitchFamily="34" charset="-122"/>
                <a:cs typeface="Cambria" pitchFamily="34" charset="-120"/>
              </a:rPr>
              <a:t>until C weakens, at which point the alliance loses its value and either partner may defect.</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331720"/>
            <a:ext cx="914400" cy="914400"/>
          </a:xfrm>
          <a:prstGeom prst="ellipse">
            <a:avLst/>
          </a:prstGeom>
          <a:solidFill>
            <a:srgbClr val="D98C1F"/>
          </a:solidFill>
          <a:ln w="12700">
            <a:solidFill>
              <a:srgbClr val="D98C1F"/>
            </a:solidFill>
            <a:prstDash val="solid"/>
          </a:ln>
        </p:spPr>
      </p:sp>
      <p:sp>
        <p:nvSpPr>
          <p:cNvPr id="3" name="Text 1"/>
          <p:cNvSpPr/>
          <p:nvPr/>
        </p:nvSpPr>
        <p:spPr>
          <a:xfrm>
            <a:off x="822960" y="2331720"/>
            <a:ext cx="914400" cy="914400"/>
          </a:xfrm>
          <a:prstGeom prst="rect">
            <a:avLst/>
          </a:prstGeom>
          <a:noFill/>
          <a:ln/>
        </p:spPr>
        <p:txBody>
          <a:bodyPr wrap="square" lIns="0" tIns="0" rIns="0" bIns="0" rtlCol="0" anchor="ctr"/>
          <a:lstStyle/>
          <a:p>
            <a:pPr algn="ctr" indent="0" marL="0">
              <a:buNone/>
            </a:pPr>
            <a:r>
              <a:rPr lang="en-US" sz="3400" b="1" dirty="0">
                <a:solidFill>
                  <a:srgbClr val="14213D"/>
                </a:solidFill>
                <a:latin typeface="Cambria" pitchFamily="34" charset="0"/>
                <a:ea typeface="Cambria" pitchFamily="34" charset="-122"/>
                <a:cs typeface="Cambria" pitchFamily="34" charset="-120"/>
              </a:rPr>
              <a:t>3</a:t>
            </a:r>
            <a:endParaRPr lang="en-US" sz="3400" dirty="0"/>
          </a:p>
        </p:txBody>
      </p:sp>
      <p:sp>
        <p:nvSpPr>
          <p:cNvPr id="4" name="Text 2"/>
          <p:cNvSpPr/>
          <p:nvPr/>
        </p:nvSpPr>
        <p:spPr>
          <a:xfrm>
            <a:off x="2057400" y="2194560"/>
            <a:ext cx="841248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Alpha-Beta Pruning</a:t>
            </a:r>
            <a:endParaRPr lang="en-US" sz="3800" dirty="0"/>
          </a:p>
        </p:txBody>
      </p:sp>
      <p:sp>
        <p:nvSpPr>
          <p:cNvPr id="5" name="Text 3"/>
          <p:cNvSpPr/>
          <p:nvPr/>
        </p:nvSpPr>
        <p:spPr>
          <a:xfrm>
            <a:off x="2103120" y="3017520"/>
            <a:ext cx="8412480" cy="822960"/>
          </a:xfrm>
          <a:prstGeom prst="rect">
            <a:avLst/>
          </a:prstGeom>
          <a:noFill/>
          <a:ln/>
        </p:spPr>
        <p:txBody>
          <a:bodyPr wrap="square" lIns="0" tIns="0" rIns="0" bIns="0" rtlCol="0" anchor="t"/>
          <a:lstStyle/>
          <a:p>
            <a:pPr indent="0" marL="0">
              <a:lnSpc>
                <a:spcPct val="120000"/>
              </a:lnSpc>
              <a:buNone/>
            </a:pPr>
            <a:r>
              <a:rPr lang="en-US" sz="1600" dirty="0">
                <a:solidFill>
                  <a:srgbClr val="DCE6FA"/>
                </a:solidFill>
                <a:latin typeface="Calibri" pitchFamily="34" charset="0"/>
                <a:ea typeface="Calibri" pitchFamily="34" charset="-122"/>
                <a:cs typeface="Calibri" pitchFamily="34" charset="-120"/>
              </a:rPr>
              <a:t>Computing the correct minimax decision without looking at the whole tree.</a:t>
            </a:r>
            <a:endParaRPr lang="en-US" sz="1600" dirty="0"/>
          </a:p>
        </p:txBody>
      </p:sp>
      <p:sp>
        <p:nvSpPr>
          <p:cNvPr id="6" name="Text 4"/>
          <p:cNvSpPr/>
          <p:nvPr/>
        </p:nvSpPr>
        <p:spPr>
          <a:xfrm>
            <a:off x="2103120" y="3977640"/>
            <a:ext cx="5486400" cy="292608"/>
          </a:xfrm>
          <a:prstGeom prst="rect">
            <a:avLst/>
          </a:prstGeom>
          <a:noFill/>
          <a:ln/>
        </p:spPr>
        <p:txBody>
          <a:bodyPr wrap="square" lIns="0" tIns="0" rIns="0" bIns="0" rtlCol="0" anchor="ctr"/>
          <a:lstStyle/>
          <a:p>
            <a:pPr indent="0" marL="0">
              <a:buNone/>
            </a:pPr>
            <a:r>
              <a:rPr lang="en-US" sz="1250" b="1" spc="120" kern="0" dirty="0">
                <a:solidFill>
                  <a:srgbClr val="D98C1F"/>
                </a:solidFill>
                <a:latin typeface="Calibri" pitchFamily="34" charset="0"/>
                <a:ea typeface="Calibri" pitchFamily="34" charset="-122"/>
                <a:cs typeface="Calibri" pitchFamily="34" charset="-120"/>
              </a:rPr>
              <a:t>AIMA 5.2.3 - 5.2.4  ·  ABOUT 25 MINUTES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FIGURE 5.5</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Do We Need to Look at Every Leaf?</a:t>
            </a:r>
            <a:endParaRPr lang="en-US" sz="2900" dirty="0"/>
          </a:p>
        </p:txBody>
      </p:sp>
      <p:sp>
        <p:nvSpPr>
          <p:cNvPr id="4" name="Shape 2"/>
          <p:cNvSpPr/>
          <p:nvPr/>
        </p:nvSpPr>
        <p:spPr>
          <a:xfrm>
            <a:off x="5650992" y="1810512"/>
            <a:ext cx="402336" cy="310896"/>
          </a:xfrm>
          <a:prstGeom prst="triangle">
            <a:avLst/>
          </a:prstGeom>
          <a:solidFill>
            <a:srgbClr val="DCE6FA"/>
          </a:solidFill>
          <a:ln w="19050">
            <a:solidFill>
              <a:srgbClr val="1F5AC4"/>
            </a:solidFill>
            <a:prstDash val="solid"/>
          </a:ln>
        </p:spPr>
      </p:sp>
      <p:sp>
        <p:nvSpPr>
          <p:cNvPr id="5" name="Text 3"/>
          <p:cNvSpPr/>
          <p:nvPr/>
        </p:nvSpPr>
        <p:spPr>
          <a:xfrm>
            <a:off x="5394960" y="1399032"/>
            <a:ext cx="914400" cy="292608"/>
          </a:xfrm>
          <a:prstGeom prst="rect">
            <a:avLst/>
          </a:prstGeom>
          <a:noFill/>
          <a:ln/>
        </p:spPr>
        <p:txBody>
          <a:bodyPr wrap="square" lIns="0" tIns="0" rIns="0" bIns="0" rtlCol="0" anchor="ctr"/>
          <a:lstStyle/>
          <a:p>
            <a:pPr algn="ctr" indent="0" marL="0">
              <a:buNone/>
            </a:pPr>
            <a:r>
              <a:rPr lang="en-US" sz="1400" b="1" dirty="0">
                <a:solidFill>
                  <a:srgbClr val="1F5AC4"/>
                </a:solidFill>
                <a:latin typeface="Calibri" pitchFamily="34" charset="0"/>
                <a:ea typeface="Calibri" pitchFamily="34" charset="-122"/>
                <a:cs typeface="Calibri" pitchFamily="34" charset="-120"/>
              </a:rPr>
              <a:t>3</a:t>
            </a:r>
            <a:endParaRPr lang="en-US" sz="1400" dirty="0"/>
          </a:p>
        </p:txBody>
      </p:sp>
      <p:sp>
        <p:nvSpPr>
          <p:cNvPr id="6" name="Shape 4"/>
          <p:cNvSpPr/>
          <p:nvPr/>
        </p:nvSpPr>
        <p:spPr>
          <a:xfrm flipH="1">
            <a:off x="2651760" y="2148840"/>
            <a:ext cx="3200400" cy="868680"/>
          </a:xfrm>
          <a:prstGeom prst="line">
            <a:avLst/>
          </a:prstGeom>
          <a:noFill/>
          <a:ln w="15875">
            <a:solidFill>
              <a:srgbClr val="55607A"/>
            </a:solidFill>
            <a:prstDash val="solid"/>
          </a:ln>
        </p:spPr>
      </p:sp>
      <p:sp>
        <p:nvSpPr>
          <p:cNvPr id="7" name="Shape 5"/>
          <p:cNvSpPr/>
          <p:nvPr/>
        </p:nvSpPr>
        <p:spPr>
          <a:xfrm rot="10800000">
            <a:off x="2450592" y="3044952"/>
            <a:ext cx="402336" cy="310896"/>
          </a:xfrm>
          <a:prstGeom prst="triangle">
            <a:avLst/>
          </a:prstGeom>
          <a:solidFill>
            <a:srgbClr val="F7DEDF"/>
          </a:solidFill>
          <a:ln w="19050">
            <a:solidFill>
              <a:srgbClr val="C1272D"/>
            </a:solidFill>
            <a:prstDash val="solid"/>
          </a:ln>
        </p:spPr>
      </p:sp>
      <p:sp>
        <p:nvSpPr>
          <p:cNvPr id="8" name="Text 6"/>
          <p:cNvSpPr/>
          <p:nvPr/>
        </p:nvSpPr>
        <p:spPr>
          <a:xfrm>
            <a:off x="2194560" y="2633472"/>
            <a:ext cx="914400" cy="292608"/>
          </a:xfrm>
          <a:prstGeom prst="rect">
            <a:avLst/>
          </a:prstGeom>
          <a:noFill/>
          <a:ln/>
        </p:spPr>
        <p:txBody>
          <a:bodyPr wrap="square" lIns="0" tIns="0" rIns="0" bIns="0" rtlCol="0" anchor="ctr"/>
          <a:lstStyle/>
          <a:p>
            <a:pPr algn="ctr" indent="0" marL="0">
              <a:buNone/>
            </a:pPr>
            <a:r>
              <a:rPr lang="en-US" sz="1400" b="1" dirty="0">
                <a:solidFill>
                  <a:srgbClr val="C1272D"/>
                </a:solidFill>
                <a:latin typeface="Calibri" pitchFamily="34" charset="0"/>
                <a:ea typeface="Calibri" pitchFamily="34" charset="-122"/>
                <a:cs typeface="Calibri" pitchFamily="34" charset="-120"/>
              </a:rPr>
              <a:t>3</a:t>
            </a:r>
            <a:endParaRPr lang="en-US" sz="1400" dirty="0"/>
          </a:p>
        </p:txBody>
      </p:sp>
      <p:sp>
        <p:nvSpPr>
          <p:cNvPr id="9" name="Text 7"/>
          <p:cNvSpPr/>
          <p:nvPr/>
        </p:nvSpPr>
        <p:spPr>
          <a:xfrm>
            <a:off x="1627632" y="3063240"/>
            <a:ext cx="658368" cy="274320"/>
          </a:xfrm>
          <a:prstGeom prst="rect">
            <a:avLst/>
          </a:prstGeom>
          <a:noFill/>
          <a:ln/>
        </p:spPr>
        <p:txBody>
          <a:bodyPr wrap="square" lIns="0" tIns="0" rIns="0" bIns="0" rtlCol="0" anchor="ctr"/>
          <a:lstStyle/>
          <a:p>
            <a:pPr algn="r" indent="0" marL="0">
              <a:buNone/>
            </a:pPr>
            <a:r>
              <a:rPr lang="en-US" sz="1250" b="1" dirty="0">
                <a:solidFill>
                  <a:srgbClr val="55607A"/>
                </a:solidFill>
                <a:latin typeface="Calibri" pitchFamily="34" charset="0"/>
                <a:ea typeface="Calibri" pitchFamily="34" charset="-122"/>
                <a:cs typeface="Calibri" pitchFamily="34" charset="-120"/>
              </a:rPr>
              <a:t>B</a:t>
            </a:r>
            <a:endParaRPr lang="en-US" sz="1250" dirty="0"/>
          </a:p>
        </p:txBody>
      </p:sp>
      <p:sp>
        <p:nvSpPr>
          <p:cNvPr id="10" name="Shape 8"/>
          <p:cNvSpPr/>
          <p:nvPr/>
        </p:nvSpPr>
        <p:spPr>
          <a:xfrm flipH="1">
            <a:off x="1828800" y="3383280"/>
            <a:ext cx="822960" cy="1051560"/>
          </a:xfrm>
          <a:prstGeom prst="line">
            <a:avLst/>
          </a:prstGeom>
          <a:noFill/>
          <a:ln w="15875">
            <a:solidFill>
              <a:srgbClr val="55607A"/>
            </a:solidFill>
            <a:prstDash val="solid"/>
          </a:ln>
        </p:spPr>
      </p:sp>
      <p:sp>
        <p:nvSpPr>
          <p:cNvPr id="11" name="Shape 9"/>
          <p:cNvSpPr/>
          <p:nvPr/>
        </p:nvSpPr>
        <p:spPr>
          <a:xfrm>
            <a:off x="1627632" y="4462272"/>
            <a:ext cx="402336" cy="310896"/>
          </a:xfrm>
          <a:prstGeom prst="roundRect">
            <a:avLst>
              <a:gd name="adj" fmla="val 14706"/>
            </a:avLst>
          </a:prstGeom>
          <a:solidFill>
            <a:srgbClr val="DCE3EE"/>
          </a:solidFill>
          <a:ln w="12700">
            <a:solidFill>
              <a:srgbClr val="55607A"/>
            </a:solidFill>
            <a:prstDash val="solid"/>
          </a:ln>
        </p:spPr>
      </p:sp>
      <p:sp>
        <p:nvSpPr>
          <p:cNvPr id="12" name="Text 10"/>
          <p:cNvSpPr/>
          <p:nvPr/>
        </p:nvSpPr>
        <p:spPr>
          <a:xfrm>
            <a:off x="142646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3</a:t>
            </a:r>
            <a:endParaRPr lang="en-US" sz="1250" dirty="0"/>
          </a:p>
        </p:txBody>
      </p:sp>
      <p:sp>
        <p:nvSpPr>
          <p:cNvPr id="13" name="Shape 11"/>
          <p:cNvSpPr/>
          <p:nvPr/>
        </p:nvSpPr>
        <p:spPr>
          <a:xfrm>
            <a:off x="2651760" y="3383280"/>
            <a:ext cx="4572" cy="1051560"/>
          </a:xfrm>
          <a:prstGeom prst="line">
            <a:avLst/>
          </a:prstGeom>
          <a:noFill/>
          <a:ln w="15875">
            <a:solidFill>
              <a:srgbClr val="55607A"/>
            </a:solidFill>
            <a:prstDash val="solid"/>
          </a:ln>
        </p:spPr>
      </p:sp>
      <p:sp>
        <p:nvSpPr>
          <p:cNvPr id="14" name="Shape 12"/>
          <p:cNvSpPr/>
          <p:nvPr/>
        </p:nvSpPr>
        <p:spPr>
          <a:xfrm>
            <a:off x="2450592" y="4462272"/>
            <a:ext cx="402336" cy="310896"/>
          </a:xfrm>
          <a:prstGeom prst="roundRect">
            <a:avLst>
              <a:gd name="adj" fmla="val 14706"/>
            </a:avLst>
          </a:prstGeom>
          <a:solidFill>
            <a:srgbClr val="DCE3EE"/>
          </a:solidFill>
          <a:ln w="12700">
            <a:solidFill>
              <a:srgbClr val="55607A"/>
            </a:solidFill>
            <a:prstDash val="solid"/>
          </a:ln>
        </p:spPr>
      </p:sp>
      <p:sp>
        <p:nvSpPr>
          <p:cNvPr id="15" name="Text 13"/>
          <p:cNvSpPr/>
          <p:nvPr/>
        </p:nvSpPr>
        <p:spPr>
          <a:xfrm>
            <a:off x="224942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12</a:t>
            </a:r>
            <a:endParaRPr lang="en-US" sz="1250" dirty="0"/>
          </a:p>
        </p:txBody>
      </p:sp>
      <p:sp>
        <p:nvSpPr>
          <p:cNvPr id="16" name="Shape 14"/>
          <p:cNvSpPr/>
          <p:nvPr/>
        </p:nvSpPr>
        <p:spPr>
          <a:xfrm>
            <a:off x="2651760" y="3383280"/>
            <a:ext cx="822960" cy="1051560"/>
          </a:xfrm>
          <a:prstGeom prst="line">
            <a:avLst/>
          </a:prstGeom>
          <a:noFill/>
          <a:ln w="15875">
            <a:solidFill>
              <a:srgbClr val="55607A"/>
            </a:solidFill>
            <a:prstDash val="solid"/>
          </a:ln>
        </p:spPr>
      </p:sp>
      <p:sp>
        <p:nvSpPr>
          <p:cNvPr id="17" name="Shape 15"/>
          <p:cNvSpPr/>
          <p:nvPr/>
        </p:nvSpPr>
        <p:spPr>
          <a:xfrm>
            <a:off x="3273552" y="4462272"/>
            <a:ext cx="402336" cy="310896"/>
          </a:xfrm>
          <a:prstGeom prst="roundRect">
            <a:avLst>
              <a:gd name="adj" fmla="val 14706"/>
            </a:avLst>
          </a:prstGeom>
          <a:solidFill>
            <a:srgbClr val="DCE3EE"/>
          </a:solidFill>
          <a:ln w="12700">
            <a:solidFill>
              <a:srgbClr val="55607A"/>
            </a:solidFill>
            <a:prstDash val="solid"/>
          </a:ln>
        </p:spPr>
      </p:sp>
      <p:sp>
        <p:nvSpPr>
          <p:cNvPr id="18" name="Text 16"/>
          <p:cNvSpPr/>
          <p:nvPr/>
        </p:nvSpPr>
        <p:spPr>
          <a:xfrm>
            <a:off x="307238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8</a:t>
            </a:r>
            <a:endParaRPr lang="en-US" sz="1250" dirty="0"/>
          </a:p>
        </p:txBody>
      </p:sp>
      <p:sp>
        <p:nvSpPr>
          <p:cNvPr id="19" name="Shape 17"/>
          <p:cNvSpPr/>
          <p:nvPr/>
        </p:nvSpPr>
        <p:spPr>
          <a:xfrm>
            <a:off x="5852160" y="2148840"/>
            <a:ext cx="4572" cy="868680"/>
          </a:xfrm>
          <a:prstGeom prst="line">
            <a:avLst/>
          </a:prstGeom>
          <a:noFill/>
          <a:ln w="15875">
            <a:solidFill>
              <a:srgbClr val="55607A"/>
            </a:solidFill>
            <a:prstDash val="solid"/>
          </a:ln>
        </p:spPr>
      </p:sp>
      <p:sp>
        <p:nvSpPr>
          <p:cNvPr id="20" name="Shape 18"/>
          <p:cNvSpPr/>
          <p:nvPr/>
        </p:nvSpPr>
        <p:spPr>
          <a:xfrm rot="10800000">
            <a:off x="5650992" y="3044952"/>
            <a:ext cx="402336" cy="310896"/>
          </a:xfrm>
          <a:prstGeom prst="triangle">
            <a:avLst/>
          </a:prstGeom>
          <a:solidFill>
            <a:srgbClr val="F7DEDF"/>
          </a:solidFill>
          <a:ln w="19050">
            <a:solidFill>
              <a:srgbClr val="C1272D"/>
            </a:solidFill>
            <a:prstDash val="solid"/>
          </a:ln>
        </p:spPr>
      </p:sp>
      <p:sp>
        <p:nvSpPr>
          <p:cNvPr id="21" name="Text 19"/>
          <p:cNvSpPr/>
          <p:nvPr/>
        </p:nvSpPr>
        <p:spPr>
          <a:xfrm>
            <a:off x="5989320" y="2633472"/>
            <a:ext cx="914400" cy="292608"/>
          </a:xfrm>
          <a:prstGeom prst="rect">
            <a:avLst/>
          </a:prstGeom>
          <a:noFill/>
          <a:ln/>
        </p:spPr>
        <p:txBody>
          <a:bodyPr wrap="square" lIns="0" tIns="0" rIns="0" bIns="0" rtlCol="0" anchor="ctr"/>
          <a:lstStyle/>
          <a:p>
            <a:pPr algn="ctr" indent="0" marL="0">
              <a:buNone/>
            </a:pPr>
            <a:r>
              <a:rPr lang="en-US" sz="1400" b="1" dirty="0">
                <a:solidFill>
                  <a:srgbClr val="C1272D"/>
                </a:solidFill>
                <a:latin typeface="Calibri" pitchFamily="34" charset="0"/>
                <a:ea typeface="Calibri" pitchFamily="34" charset="-122"/>
                <a:cs typeface="Calibri" pitchFamily="34" charset="-120"/>
              </a:rPr>
              <a:t>&lt;= 2</a:t>
            </a:r>
            <a:endParaRPr lang="en-US" sz="1400" dirty="0"/>
          </a:p>
        </p:txBody>
      </p:sp>
      <p:sp>
        <p:nvSpPr>
          <p:cNvPr id="22" name="Text 20"/>
          <p:cNvSpPr/>
          <p:nvPr/>
        </p:nvSpPr>
        <p:spPr>
          <a:xfrm>
            <a:off x="4828032" y="3063240"/>
            <a:ext cx="658368" cy="274320"/>
          </a:xfrm>
          <a:prstGeom prst="rect">
            <a:avLst/>
          </a:prstGeom>
          <a:noFill/>
          <a:ln/>
        </p:spPr>
        <p:txBody>
          <a:bodyPr wrap="square" lIns="0" tIns="0" rIns="0" bIns="0" rtlCol="0" anchor="ctr"/>
          <a:lstStyle/>
          <a:p>
            <a:pPr algn="r" indent="0" marL="0">
              <a:buNone/>
            </a:pPr>
            <a:r>
              <a:rPr lang="en-US" sz="1250" b="1" dirty="0">
                <a:solidFill>
                  <a:srgbClr val="55607A"/>
                </a:solidFill>
                <a:latin typeface="Calibri" pitchFamily="34" charset="0"/>
                <a:ea typeface="Calibri" pitchFamily="34" charset="-122"/>
                <a:cs typeface="Calibri" pitchFamily="34" charset="-120"/>
              </a:rPr>
              <a:t>C</a:t>
            </a:r>
            <a:endParaRPr lang="en-US" sz="1250" dirty="0"/>
          </a:p>
        </p:txBody>
      </p:sp>
      <p:sp>
        <p:nvSpPr>
          <p:cNvPr id="23" name="Shape 21"/>
          <p:cNvSpPr/>
          <p:nvPr/>
        </p:nvSpPr>
        <p:spPr>
          <a:xfrm flipH="1">
            <a:off x="5029200" y="3383280"/>
            <a:ext cx="822960" cy="1051560"/>
          </a:xfrm>
          <a:prstGeom prst="line">
            <a:avLst/>
          </a:prstGeom>
          <a:noFill/>
          <a:ln w="15875">
            <a:solidFill>
              <a:srgbClr val="55607A"/>
            </a:solidFill>
            <a:prstDash val="solid"/>
          </a:ln>
        </p:spPr>
      </p:sp>
      <p:sp>
        <p:nvSpPr>
          <p:cNvPr id="24" name="Shape 22"/>
          <p:cNvSpPr/>
          <p:nvPr/>
        </p:nvSpPr>
        <p:spPr>
          <a:xfrm>
            <a:off x="4828032" y="4462272"/>
            <a:ext cx="402336" cy="310896"/>
          </a:xfrm>
          <a:prstGeom prst="roundRect">
            <a:avLst>
              <a:gd name="adj" fmla="val 14706"/>
            </a:avLst>
          </a:prstGeom>
          <a:solidFill>
            <a:srgbClr val="DCE3EE"/>
          </a:solidFill>
          <a:ln w="12700">
            <a:solidFill>
              <a:srgbClr val="55607A"/>
            </a:solidFill>
            <a:prstDash val="solid"/>
          </a:ln>
        </p:spPr>
      </p:sp>
      <p:sp>
        <p:nvSpPr>
          <p:cNvPr id="25" name="Text 23"/>
          <p:cNvSpPr/>
          <p:nvPr/>
        </p:nvSpPr>
        <p:spPr>
          <a:xfrm>
            <a:off x="462686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2</a:t>
            </a:r>
            <a:endParaRPr lang="en-US" sz="1250" dirty="0"/>
          </a:p>
        </p:txBody>
      </p:sp>
      <p:sp>
        <p:nvSpPr>
          <p:cNvPr id="26" name="Shape 24"/>
          <p:cNvSpPr/>
          <p:nvPr/>
        </p:nvSpPr>
        <p:spPr>
          <a:xfrm>
            <a:off x="5852160" y="3383280"/>
            <a:ext cx="4572" cy="1051560"/>
          </a:xfrm>
          <a:prstGeom prst="line">
            <a:avLst/>
          </a:prstGeom>
          <a:noFill/>
          <a:ln w="15875">
            <a:solidFill>
              <a:srgbClr val="DCE3EE"/>
            </a:solidFill>
            <a:prstDash val="dash"/>
          </a:ln>
        </p:spPr>
      </p:sp>
      <p:sp>
        <p:nvSpPr>
          <p:cNvPr id="27" name="Shape 25"/>
          <p:cNvSpPr/>
          <p:nvPr/>
        </p:nvSpPr>
        <p:spPr>
          <a:xfrm>
            <a:off x="5650992" y="4462272"/>
            <a:ext cx="402336" cy="310896"/>
          </a:xfrm>
          <a:prstGeom prst="roundRect">
            <a:avLst>
              <a:gd name="adj" fmla="val 14706"/>
            </a:avLst>
          </a:prstGeom>
          <a:solidFill>
            <a:srgbClr val="FFFFFF"/>
          </a:solidFill>
          <a:ln w="12700">
            <a:solidFill>
              <a:srgbClr val="DCE3EE"/>
            </a:solidFill>
            <a:prstDash val="solid"/>
          </a:ln>
        </p:spPr>
      </p:sp>
      <p:sp>
        <p:nvSpPr>
          <p:cNvPr id="28" name="Text 26"/>
          <p:cNvSpPr/>
          <p:nvPr/>
        </p:nvSpPr>
        <p:spPr>
          <a:xfrm>
            <a:off x="5449824" y="4462272"/>
            <a:ext cx="804672" cy="310896"/>
          </a:xfrm>
          <a:prstGeom prst="rect">
            <a:avLst/>
          </a:prstGeom>
          <a:noFill/>
          <a:ln/>
        </p:spPr>
        <p:txBody>
          <a:bodyPr wrap="square" lIns="0" tIns="0" rIns="0" bIns="0" rtlCol="0" anchor="ctr"/>
          <a:lstStyle/>
          <a:p>
            <a:pPr algn="ctr" indent="0" marL="0">
              <a:buNone/>
            </a:pPr>
            <a:r>
              <a:rPr lang="en-US" sz="1250" b="1" dirty="0">
                <a:solidFill>
                  <a:srgbClr val="C1272D"/>
                </a:solidFill>
                <a:latin typeface="Calibri" pitchFamily="34" charset="0"/>
                <a:ea typeface="Calibri" pitchFamily="34" charset="-122"/>
                <a:cs typeface="Calibri" pitchFamily="34" charset="-120"/>
              </a:rPr>
              <a:t>x</a:t>
            </a:r>
            <a:endParaRPr lang="en-US" sz="1250" dirty="0"/>
          </a:p>
        </p:txBody>
      </p:sp>
      <p:sp>
        <p:nvSpPr>
          <p:cNvPr id="29" name="Shape 27"/>
          <p:cNvSpPr/>
          <p:nvPr/>
        </p:nvSpPr>
        <p:spPr>
          <a:xfrm>
            <a:off x="5852160" y="3383280"/>
            <a:ext cx="822960" cy="1051560"/>
          </a:xfrm>
          <a:prstGeom prst="line">
            <a:avLst/>
          </a:prstGeom>
          <a:noFill/>
          <a:ln w="15875">
            <a:solidFill>
              <a:srgbClr val="DCE3EE"/>
            </a:solidFill>
            <a:prstDash val="dash"/>
          </a:ln>
        </p:spPr>
      </p:sp>
      <p:sp>
        <p:nvSpPr>
          <p:cNvPr id="30" name="Shape 28"/>
          <p:cNvSpPr/>
          <p:nvPr/>
        </p:nvSpPr>
        <p:spPr>
          <a:xfrm>
            <a:off x="6473952" y="4462272"/>
            <a:ext cx="402336" cy="310896"/>
          </a:xfrm>
          <a:prstGeom prst="roundRect">
            <a:avLst>
              <a:gd name="adj" fmla="val 14706"/>
            </a:avLst>
          </a:prstGeom>
          <a:solidFill>
            <a:srgbClr val="FFFFFF"/>
          </a:solidFill>
          <a:ln w="12700">
            <a:solidFill>
              <a:srgbClr val="DCE3EE"/>
            </a:solidFill>
            <a:prstDash val="solid"/>
          </a:ln>
        </p:spPr>
      </p:sp>
      <p:sp>
        <p:nvSpPr>
          <p:cNvPr id="31" name="Text 29"/>
          <p:cNvSpPr/>
          <p:nvPr/>
        </p:nvSpPr>
        <p:spPr>
          <a:xfrm>
            <a:off x="6272784" y="4462272"/>
            <a:ext cx="804672" cy="310896"/>
          </a:xfrm>
          <a:prstGeom prst="rect">
            <a:avLst/>
          </a:prstGeom>
          <a:noFill/>
          <a:ln/>
        </p:spPr>
        <p:txBody>
          <a:bodyPr wrap="square" lIns="0" tIns="0" rIns="0" bIns="0" rtlCol="0" anchor="ctr"/>
          <a:lstStyle/>
          <a:p>
            <a:pPr algn="ctr" indent="0" marL="0">
              <a:buNone/>
            </a:pPr>
            <a:r>
              <a:rPr lang="en-US" sz="1250" b="1" dirty="0">
                <a:solidFill>
                  <a:srgbClr val="C1272D"/>
                </a:solidFill>
                <a:latin typeface="Calibri" pitchFamily="34" charset="0"/>
                <a:ea typeface="Calibri" pitchFamily="34" charset="-122"/>
                <a:cs typeface="Calibri" pitchFamily="34" charset="-120"/>
              </a:rPr>
              <a:t>x</a:t>
            </a:r>
            <a:endParaRPr lang="en-US" sz="1250" dirty="0"/>
          </a:p>
        </p:txBody>
      </p:sp>
      <p:sp>
        <p:nvSpPr>
          <p:cNvPr id="32" name="Shape 30"/>
          <p:cNvSpPr/>
          <p:nvPr/>
        </p:nvSpPr>
        <p:spPr>
          <a:xfrm>
            <a:off x="5852160" y="2148840"/>
            <a:ext cx="3200400" cy="868680"/>
          </a:xfrm>
          <a:prstGeom prst="line">
            <a:avLst/>
          </a:prstGeom>
          <a:noFill/>
          <a:ln w="15875">
            <a:solidFill>
              <a:srgbClr val="55607A"/>
            </a:solidFill>
            <a:prstDash val="solid"/>
          </a:ln>
        </p:spPr>
      </p:sp>
      <p:sp>
        <p:nvSpPr>
          <p:cNvPr id="33" name="Shape 31"/>
          <p:cNvSpPr/>
          <p:nvPr/>
        </p:nvSpPr>
        <p:spPr>
          <a:xfrm rot="10800000">
            <a:off x="8851392" y="3044952"/>
            <a:ext cx="402336" cy="310896"/>
          </a:xfrm>
          <a:prstGeom prst="triangle">
            <a:avLst/>
          </a:prstGeom>
          <a:solidFill>
            <a:srgbClr val="F7DEDF"/>
          </a:solidFill>
          <a:ln w="19050">
            <a:solidFill>
              <a:srgbClr val="C1272D"/>
            </a:solidFill>
            <a:prstDash val="solid"/>
          </a:ln>
        </p:spPr>
      </p:sp>
      <p:sp>
        <p:nvSpPr>
          <p:cNvPr id="34" name="Text 32"/>
          <p:cNvSpPr/>
          <p:nvPr/>
        </p:nvSpPr>
        <p:spPr>
          <a:xfrm>
            <a:off x="8595360" y="2633472"/>
            <a:ext cx="914400" cy="292608"/>
          </a:xfrm>
          <a:prstGeom prst="rect">
            <a:avLst/>
          </a:prstGeom>
          <a:noFill/>
          <a:ln/>
        </p:spPr>
        <p:txBody>
          <a:bodyPr wrap="square" lIns="0" tIns="0" rIns="0" bIns="0" rtlCol="0" anchor="ctr"/>
          <a:lstStyle/>
          <a:p>
            <a:pPr algn="ctr" indent="0" marL="0">
              <a:buNone/>
            </a:pPr>
            <a:r>
              <a:rPr lang="en-US" sz="1400" b="1" dirty="0">
                <a:solidFill>
                  <a:srgbClr val="C1272D"/>
                </a:solidFill>
                <a:latin typeface="Calibri" pitchFamily="34" charset="0"/>
                <a:ea typeface="Calibri" pitchFamily="34" charset="-122"/>
                <a:cs typeface="Calibri" pitchFamily="34" charset="-120"/>
              </a:rPr>
              <a:t>2</a:t>
            </a:r>
            <a:endParaRPr lang="en-US" sz="1400" dirty="0"/>
          </a:p>
        </p:txBody>
      </p:sp>
      <p:sp>
        <p:nvSpPr>
          <p:cNvPr id="35" name="Text 33"/>
          <p:cNvSpPr/>
          <p:nvPr/>
        </p:nvSpPr>
        <p:spPr>
          <a:xfrm>
            <a:off x="8028432" y="3063240"/>
            <a:ext cx="658368" cy="274320"/>
          </a:xfrm>
          <a:prstGeom prst="rect">
            <a:avLst/>
          </a:prstGeom>
          <a:noFill/>
          <a:ln/>
        </p:spPr>
        <p:txBody>
          <a:bodyPr wrap="square" lIns="0" tIns="0" rIns="0" bIns="0" rtlCol="0" anchor="ctr"/>
          <a:lstStyle/>
          <a:p>
            <a:pPr algn="r" indent="0" marL="0">
              <a:buNone/>
            </a:pPr>
            <a:r>
              <a:rPr lang="en-US" sz="1250" b="1" dirty="0">
                <a:solidFill>
                  <a:srgbClr val="55607A"/>
                </a:solidFill>
                <a:latin typeface="Calibri" pitchFamily="34" charset="0"/>
                <a:ea typeface="Calibri" pitchFamily="34" charset="-122"/>
                <a:cs typeface="Calibri" pitchFamily="34" charset="-120"/>
              </a:rPr>
              <a:t>D</a:t>
            </a:r>
            <a:endParaRPr lang="en-US" sz="1250" dirty="0"/>
          </a:p>
        </p:txBody>
      </p:sp>
      <p:sp>
        <p:nvSpPr>
          <p:cNvPr id="36" name="Shape 34"/>
          <p:cNvSpPr/>
          <p:nvPr/>
        </p:nvSpPr>
        <p:spPr>
          <a:xfrm flipH="1">
            <a:off x="8229600" y="3383280"/>
            <a:ext cx="822960" cy="1051560"/>
          </a:xfrm>
          <a:prstGeom prst="line">
            <a:avLst/>
          </a:prstGeom>
          <a:noFill/>
          <a:ln w="15875">
            <a:solidFill>
              <a:srgbClr val="55607A"/>
            </a:solidFill>
            <a:prstDash val="solid"/>
          </a:ln>
        </p:spPr>
      </p:sp>
      <p:sp>
        <p:nvSpPr>
          <p:cNvPr id="37" name="Shape 35"/>
          <p:cNvSpPr/>
          <p:nvPr/>
        </p:nvSpPr>
        <p:spPr>
          <a:xfrm>
            <a:off x="8028432" y="4462272"/>
            <a:ext cx="402336" cy="310896"/>
          </a:xfrm>
          <a:prstGeom prst="roundRect">
            <a:avLst>
              <a:gd name="adj" fmla="val 14706"/>
            </a:avLst>
          </a:prstGeom>
          <a:solidFill>
            <a:srgbClr val="DCE3EE"/>
          </a:solidFill>
          <a:ln w="12700">
            <a:solidFill>
              <a:srgbClr val="55607A"/>
            </a:solidFill>
            <a:prstDash val="solid"/>
          </a:ln>
        </p:spPr>
      </p:sp>
      <p:sp>
        <p:nvSpPr>
          <p:cNvPr id="38" name="Text 36"/>
          <p:cNvSpPr/>
          <p:nvPr/>
        </p:nvSpPr>
        <p:spPr>
          <a:xfrm>
            <a:off x="782726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14</a:t>
            </a:r>
            <a:endParaRPr lang="en-US" sz="1250" dirty="0"/>
          </a:p>
        </p:txBody>
      </p:sp>
      <p:sp>
        <p:nvSpPr>
          <p:cNvPr id="39" name="Shape 37"/>
          <p:cNvSpPr/>
          <p:nvPr/>
        </p:nvSpPr>
        <p:spPr>
          <a:xfrm>
            <a:off x="9052560" y="3383280"/>
            <a:ext cx="4572" cy="1051560"/>
          </a:xfrm>
          <a:prstGeom prst="line">
            <a:avLst/>
          </a:prstGeom>
          <a:noFill/>
          <a:ln w="15875">
            <a:solidFill>
              <a:srgbClr val="55607A"/>
            </a:solidFill>
            <a:prstDash val="solid"/>
          </a:ln>
        </p:spPr>
      </p:sp>
      <p:sp>
        <p:nvSpPr>
          <p:cNvPr id="40" name="Shape 38"/>
          <p:cNvSpPr/>
          <p:nvPr/>
        </p:nvSpPr>
        <p:spPr>
          <a:xfrm>
            <a:off x="8851392" y="4462272"/>
            <a:ext cx="402336" cy="310896"/>
          </a:xfrm>
          <a:prstGeom prst="roundRect">
            <a:avLst>
              <a:gd name="adj" fmla="val 14706"/>
            </a:avLst>
          </a:prstGeom>
          <a:solidFill>
            <a:srgbClr val="DCE3EE"/>
          </a:solidFill>
          <a:ln w="12700">
            <a:solidFill>
              <a:srgbClr val="55607A"/>
            </a:solidFill>
            <a:prstDash val="solid"/>
          </a:ln>
        </p:spPr>
      </p:sp>
      <p:sp>
        <p:nvSpPr>
          <p:cNvPr id="41" name="Text 39"/>
          <p:cNvSpPr/>
          <p:nvPr/>
        </p:nvSpPr>
        <p:spPr>
          <a:xfrm>
            <a:off x="865022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5</a:t>
            </a:r>
            <a:endParaRPr lang="en-US" sz="1250" dirty="0"/>
          </a:p>
        </p:txBody>
      </p:sp>
      <p:sp>
        <p:nvSpPr>
          <p:cNvPr id="42" name="Shape 40"/>
          <p:cNvSpPr/>
          <p:nvPr/>
        </p:nvSpPr>
        <p:spPr>
          <a:xfrm>
            <a:off x="9052560" y="3383280"/>
            <a:ext cx="822960" cy="1051560"/>
          </a:xfrm>
          <a:prstGeom prst="line">
            <a:avLst/>
          </a:prstGeom>
          <a:noFill/>
          <a:ln w="15875">
            <a:solidFill>
              <a:srgbClr val="55607A"/>
            </a:solidFill>
            <a:prstDash val="solid"/>
          </a:ln>
        </p:spPr>
      </p:sp>
      <p:sp>
        <p:nvSpPr>
          <p:cNvPr id="43" name="Shape 41"/>
          <p:cNvSpPr/>
          <p:nvPr/>
        </p:nvSpPr>
        <p:spPr>
          <a:xfrm>
            <a:off x="9674352" y="4462272"/>
            <a:ext cx="402336" cy="310896"/>
          </a:xfrm>
          <a:prstGeom prst="roundRect">
            <a:avLst>
              <a:gd name="adj" fmla="val 14706"/>
            </a:avLst>
          </a:prstGeom>
          <a:solidFill>
            <a:srgbClr val="DCE3EE"/>
          </a:solidFill>
          <a:ln w="12700">
            <a:solidFill>
              <a:srgbClr val="55607A"/>
            </a:solidFill>
            <a:prstDash val="solid"/>
          </a:ln>
        </p:spPr>
      </p:sp>
      <p:sp>
        <p:nvSpPr>
          <p:cNvPr id="44" name="Text 42"/>
          <p:cNvSpPr/>
          <p:nvPr/>
        </p:nvSpPr>
        <p:spPr>
          <a:xfrm>
            <a:off x="9473184" y="446227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2</a:t>
            </a:r>
            <a:endParaRPr lang="en-US" sz="1250" dirty="0"/>
          </a:p>
        </p:txBody>
      </p:sp>
      <p:sp>
        <p:nvSpPr>
          <p:cNvPr id="45" name="Text 43"/>
          <p:cNvSpPr/>
          <p:nvPr/>
        </p:nvSpPr>
        <p:spPr>
          <a:xfrm>
            <a:off x="640080" y="5166360"/>
            <a:ext cx="10881360" cy="4572000"/>
          </a:xfrm>
          <a:prstGeom prst="rect">
            <a:avLst/>
          </a:prstGeom>
          <a:noFill/>
          <a:ln/>
        </p:spPr>
        <p:txBody>
          <a:bodyPr wrap="square" lIns="0" tIns="0" rIns="0" bIns="0" rtlCol="0" anchor="t"/>
          <a:lstStyle/>
          <a:p>
            <a:pPr marL="203200" indent="-203200">
              <a:spcAft>
                <a:spcPts val="400"/>
              </a:spcAft>
              <a:buSzPct val="100000"/>
              <a:buChar char="•"/>
            </a:pPr>
            <a:r>
              <a:rPr lang="en-US" sz="1450" dirty="0">
                <a:solidFill>
                  <a:srgbClr val="1A1A1A"/>
                </a:solidFill>
                <a:latin typeface="Calibri" pitchFamily="34" charset="0"/>
                <a:ea typeface="Calibri" pitchFamily="34" charset="-122"/>
                <a:cs typeface="Calibri" pitchFamily="34" charset="-120"/>
              </a:rPr>
              <a:t>After B returns 3, MAX knows it can already get 3 at the root.</a:t>
            </a:r>
            <a:endParaRPr lang="en-US" sz="1450" dirty="0"/>
          </a:p>
          <a:p>
            <a:pPr marL="203200" indent="-203200">
              <a:spcAft>
                <a:spcPts val="400"/>
              </a:spcAft>
              <a:buSzPct val="100000"/>
              <a:buChar char="•"/>
            </a:pPr>
            <a:r>
              <a:rPr lang="en-US" sz="1450" b="1" dirty="0">
                <a:solidFill>
                  <a:srgbClr val="1A1A1A"/>
                </a:solidFill>
                <a:latin typeface="Calibri" pitchFamily="34" charset="0"/>
                <a:ea typeface="Calibri" pitchFamily="34" charset="-122"/>
                <a:cs typeface="Calibri" pitchFamily="34" charset="-120"/>
              </a:rPr>
              <a:t>The first leaf under C is 2, so C - a MIN node - is worth at most 2. MAX will never choose C. The other two leaves under C cannot change the decision, so we never evaluate them.</a:t>
            </a:r>
            <a:endParaRPr lang="en-US" sz="1450" dirty="0"/>
          </a:p>
          <a:p>
            <a:pPr marL="203200" indent="-203200">
              <a:spcAft>
                <a:spcPts val="400"/>
              </a:spcAft>
              <a:buSzPct val="100000"/>
              <a:buChar char="•"/>
            </a:pPr>
            <a:r>
              <a:rPr lang="en-US" sz="1450" dirty="0">
                <a:solidFill>
                  <a:srgbClr val="1A1A1A"/>
                </a:solidFill>
                <a:latin typeface="Calibri" pitchFamily="34" charset="0"/>
                <a:ea typeface="Calibri" pitchFamily="34" charset="-122"/>
                <a:cs typeface="Calibri" pitchFamily="34" charset="-120"/>
              </a:rPr>
              <a:t>This is alpha-beta pruning: two leaves saved on a nine-leaf tree, and the root value is still exactly 3.</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WHY THE PRUNING IS PROVABLY SAFE</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Same Argument as Algebra</a:t>
            </a:r>
            <a:endParaRPr lang="en-US" sz="2900" dirty="0"/>
          </a:p>
        </p:txBody>
      </p:sp>
      <p:sp>
        <p:nvSpPr>
          <p:cNvPr id="4" name="Shape 2"/>
          <p:cNvSpPr/>
          <p:nvPr/>
        </p:nvSpPr>
        <p:spPr>
          <a:xfrm>
            <a:off x="640080" y="1417320"/>
            <a:ext cx="10881360" cy="1143000"/>
          </a:xfrm>
          <a:prstGeom prst="roundRect">
            <a:avLst>
              <a:gd name="adj" fmla="val 4800"/>
            </a:avLst>
          </a:prstGeom>
          <a:solidFill>
            <a:srgbClr val="DCE6FA"/>
          </a:solidFill>
          <a:ln w="12700">
            <a:solidFill>
              <a:srgbClr val="DCE6FA"/>
            </a:solidFill>
            <a:prstDash val="solid"/>
          </a:ln>
        </p:spPr>
      </p:sp>
      <p:sp>
        <p:nvSpPr>
          <p:cNvPr id="5" name="Text 3"/>
          <p:cNvSpPr/>
          <p:nvPr/>
        </p:nvSpPr>
        <p:spPr>
          <a:xfrm>
            <a:off x="822960" y="1508760"/>
            <a:ext cx="10515600" cy="960120"/>
          </a:xfrm>
          <a:prstGeom prst="rect">
            <a:avLst/>
          </a:prstGeom>
          <a:noFill/>
          <a:ln/>
        </p:spPr>
        <p:txBody>
          <a:bodyPr wrap="square" lIns="0" tIns="0" rIns="0" bIns="0" rtlCol="0" anchor="ctr"/>
          <a:lstStyle/>
          <a:p>
            <a:pPr algn="ctr" indent="0" marL="0">
              <a:lnSpc>
                <a:spcPct val="115000"/>
              </a:lnSpc>
              <a:buNone/>
            </a:pPr>
            <a:r>
              <a:rPr lang="en-US" sz="1600" dirty="0">
                <a:solidFill>
                  <a:srgbClr val="14213D"/>
                </a:solidFill>
                <a:latin typeface="Courier New" pitchFamily="34" charset="0"/>
                <a:ea typeface="Courier New" pitchFamily="34" charset="-122"/>
                <a:cs typeface="Courier New" pitchFamily="34" charset="-120"/>
              </a:rPr>
              <a:t>Let C's two unevaluated leaves be x and y.</a:t>
            </a:r>
            <a:endParaRPr lang="en-US" sz="1600" dirty="0"/>
          </a:p>
          <a:p>
            <a:pPr algn="ctr" indent="0" marL="0">
              <a:lnSpc>
                <a:spcPct val="115000"/>
              </a:lnSpc>
              <a:buNone/>
            </a:pPr>
            <a:endParaRPr lang="en-US" sz="1600" dirty="0"/>
          </a:p>
          <a:p>
            <a:pPr algn="ctr" indent="0" marL="0">
              <a:lnSpc>
                <a:spcPct val="115000"/>
              </a:lnSpc>
              <a:buNone/>
            </a:pPr>
            <a:r>
              <a:rPr lang="en-US" sz="1600" dirty="0">
                <a:solidFill>
                  <a:srgbClr val="14213D"/>
                </a:solidFill>
                <a:latin typeface="Courier New" pitchFamily="34" charset="0"/>
                <a:ea typeface="Courier New" pitchFamily="34" charset="-122"/>
                <a:cs typeface="Courier New" pitchFamily="34" charset="-120"/>
              </a:rPr>
              <a:t>MINIMAX(root) = max( 3,  min(2, x, y),  2 )</a:t>
            </a:r>
            <a:endParaRPr lang="en-US" sz="1600" dirty="0"/>
          </a:p>
        </p:txBody>
      </p:sp>
      <p:sp>
        <p:nvSpPr>
          <p:cNvPr id="6" name="Text 4"/>
          <p:cNvSpPr/>
          <p:nvPr/>
        </p:nvSpPr>
        <p:spPr>
          <a:xfrm>
            <a:off x="640080" y="2834640"/>
            <a:ext cx="6675120" cy="4572000"/>
          </a:xfrm>
          <a:prstGeom prst="rect">
            <a:avLst/>
          </a:prstGeom>
          <a:noFill/>
          <a:ln/>
        </p:spPr>
        <p:txBody>
          <a:bodyPr wrap="square" lIns="0" tIns="0" rIns="0" bIns="0" rtlCol="0" anchor="t"/>
          <a:lstStyle/>
          <a:p>
            <a:pPr marL="203200" indent="-203200">
              <a:spcAft>
                <a:spcPts val="1200"/>
              </a:spcAft>
              <a:buSzPct val="100000"/>
              <a:buChar char="•"/>
            </a:pPr>
            <a:r>
              <a:rPr lang="en-US" sz="1550" dirty="0">
                <a:solidFill>
                  <a:srgbClr val="1A1A1A"/>
                </a:solidFill>
                <a:latin typeface="Calibri" pitchFamily="34" charset="0"/>
                <a:ea typeface="Calibri" pitchFamily="34" charset="-122"/>
                <a:cs typeface="Calibri" pitchFamily="34" charset="-120"/>
              </a:rPr>
              <a:t>min(2, x, y) is at most 2, whatever x and y turn out to be.</a:t>
            </a:r>
            <a:endParaRPr lang="en-US" sz="1550" dirty="0"/>
          </a:p>
          <a:p>
            <a:pPr marL="203200" indent="-203200">
              <a:spcAft>
                <a:spcPts val="1200"/>
              </a:spcAft>
              <a:buSzPct val="100000"/>
              <a:buChar char="•"/>
            </a:pPr>
            <a:r>
              <a:rPr lang="en-US" sz="1550" dirty="0">
                <a:solidFill>
                  <a:srgbClr val="1A1A1A"/>
                </a:solidFill>
                <a:latin typeface="Calibri" pitchFamily="34" charset="0"/>
                <a:ea typeface="Calibri" pitchFamily="34" charset="-122"/>
                <a:cs typeface="Calibri" pitchFamily="34" charset="-120"/>
              </a:rPr>
              <a:t>max(3, something-at-most-2, 2) = 3, again whatever x and y are.</a:t>
            </a:r>
            <a:endParaRPr lang="en-US" sz="1550" dirty="0"/>
          </a:p>
          <a:p>
            <a:pPr marL="203200" indent="-203200">
              <a:spcAft>
                <a:spcPts val="1200"/>
              </a:spcAft>
              <a:buSzPct val="100000"/>
              <a:buChar char="•"/>
            </a:pPr>
            <a:r>
              <a:rPr lang="en-US" sz="1550" b="1" dirty="0">
                <a:solidFill>
                  <a:srgbClr val="14213D"/>
                </a:solidFill>
                <a:latin typeface="Calibri" pitchFamily="34" charset="0"/>
                <a:ea typeface="Calibri" pitchFamily="34" charset="-122"/>
                <a:cs typeface="Calibri" pitchFamily="34" charset="-120"/>
              </a:rPr>
              <a:t>So the root value and the minimax decision are independent of x and y. Pruning them is not an approximation - the answer is provably unchanged.</a:t>
            </a:r>
            <a:endParaRPr lang="en-US" sz="1550" dirty="0"/>
          </a:p>
        </p:txBody>
      </p:sp>
      <p:sp>
        <p:nvSpPr>
          <p:cNvPr id="7" name="Shape 5"/>
          <p:cNvSpPr/>
          <p:nvPr/>
        </p:nvSpPr>
        <p:spPr>
          <a:xfrm>
            <a:off x="7589520" y="2834640"/>
            <a:ext cx="3931920" cy="2286000"/>
          </a:xfrm>
          <a:prstGeom prst="roundRect">
            <a:avLst>
              <a:gd name="adj" fmla="val 3200"/>
            </a:avLst>
          </a:prstGeom>
          <a:solidFill>
            <a:srgbClr val="DCE6FA"/>
          </a:solidFill>
          <a:ln w="12700">
            <a:solidFill>
              <a:srgbClr val="1F5AC4"/>
            </a:solidFill>
            <a:prstDash val="solid"/>
          </a:ln>
        </p:spPr>
      </p:sp>
      <p:sp>
        <p:nvSpPr>
          <p:cNvPr id="8" name="Text 6"/>
          <p:cNvSpPr/>
          <p:nvPr/>
        </p:nvSpPr>
        <p:spPr>
          <a:xfrm>
            <a:off x="7790688" y="2980944"/>
            <a:ext cx="352958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The general rule</a:t>
            </a:r>
            <a:endParaRPr lang="en-US" sz="1500" dirty="0"/>
          </a:p>
        </p:txBody>
      </p:sp>
      <p:sp>
        <p:nvSpPr>
          <p:cNvPr id="9" name="Text 7"/>
          <p:cNvSpPr/>
          <p:nvPr/>
        </p:nvSpPr>
        <p:spPr>
          <a:xfrm>
            <a:off x="7790688" y="3328416"/>
            <a:ext cx="3529584" cy="162763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Once we know enough about a node to prove that the player above will never move there, we can stop examining it - and we can prune whole subtrees, not just leaves.</a:t>
            </a:r>
            <a:endParaRPr lang="en-US" sz="1300" dirty="0"/>
          </a:p>
        </p:txBody>
      </p:sp>
      <p:sp>
        <p:nvSpPr>
          <p:cNvPr id="10" name="Text 8"/>
          <p:cNvSpPr/>
          <p:nvPr/>
        </p:nvSpPr>
        <p:spPr>
          <a:xfrm>
            <a:off x="566928" y="6327648"/>
            <a:ext cx="10058400" cy="274320"/>
          </a:xfrm>
          <a:prstGeom prst="rect">
            <a:avLst/>
          </a:prstGeom>
          <a:noFill/>
          <a:ln/>
        </p:spPr>
        <p:txBody>
          <a:bodyPr wrap="square" lIns="0" tIns="0" rIns="0" bIns="0" rtlCol="0" anchor="ctr"/>
          <a:lstStyle/>
          <a:p>
            <a:pPr indent="0" marL="0">
              <a:buNone/>
            </a:pPr>
            <a:r>
              <a:rPr lang="en-US" sz="1000" i="1" dirty="0">
                <a:solidFill>
                  <a:srgbClr val="55607A"/>
                </a:solidFill>
                <a:latin typeface="Calibri" pitchFamily="34" charset="0"/>
                <a:ea typeface="Calibri" pitchFamily="34" charset="-122"/>
                <a:cs typeface="Calibri" pitchFamily="34" charset="-120"/>
              </a:rPr>
              <a:t>Alpha-beta returns exactly the minimax value at the root. It only declines to prove things that do not need proving.</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FIGURE 5.6</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General Configuration</a:t>
            </a:r>
            <a:endParaRPr lang="en-US" sz="2900" dirty="0"/>
          </a:p>
        </p:txBody>
      </p:sp>
      <p:sp>
        <p:nvSpPr>
          <p:cNvPr id="4" name="Shape 2"/>
          <p:cNvSpPr/>
          <p:nvPr/>
        </p:nvSpPr>
        <p:spPr>
          <a:xfrm>
            <a:off x="2724912" y="1581912"/>
            <a:ext cx="402336" cy="310896"/>
          </a:xfrm>
          <a:prstGeom prst="triangle">
            <a:avLst/>
          </a:prstGeom>
          <a:solidFill>
            <a:srgbClr val="DCE6FA"/>
          </a:solidFill>
          <a:ln w="19050">
            <a:solidFill>
              <a:srgbClr val="1F5AC4"/>
            </a:solidFill>
            <a:prstDash val="solid"/>
          </a:ln>
        </p:spPr>
      </p:sp>
      <p:sp>
        <p:nvSpPr>
          <p:cNvPr id="5" name="Shape 3"/>
          <p:cNvSpPr/>
          <p:nvPr/>
        </p:nvSpPr>
        <p:spPr>
          <a:xfrm>
            <a:off x="2926080" y="1920240"/>
            <a:ext cx="4572" cy="411480"/>
          </a:xfrm>
          <a:prstGeom prst="line">
            <a:avLst/>
          </a:prstGeom>
          <a:noFill/>
          <a:ln w="15875">
            <a:solidFill>
              <a:srgbClr val="55607A"/>
            </a:solidFill>
            <a:prstDash val="solid"/>
          </a:ln>
        </p:spPr>
      </p:sp>
      <p:sp>
        <p:nvSpPr>
          <p:cNvPr id="6" name="Shape 4"/>
          <p:cNvSpPr/>
          <p:nvPr/>
        </p:nvSpPr>
        <p:spPr>
          <a:xfrm rot="10800000">
            <a:off x="2724912" y="2359152"/>
            <a:ext cx="402336" cy="310896"/>
          </a:xfrm>
          <a:prstGeom prst="triangle">
            <a:avLst/>
          </a:prstGeom>
          <a:solidFill>
            <a:srgbClr val="F7DEDF"/>
          </a:solidFill>
          <a:ln w="19050">
            <a:solidFill>
              <a:srgbClr val="C1272D"/>
            </a:solidFill>
            <a:prstDash val="solid"/>
          </a:ln>
        </p:spPr>
      </p:sp>
      <p:sp>
        <p:nvSpPr>
          <p:cNvPr id="7" name="Shape 5"/>
          <p:cNvSpPr/>
          <p:nvPr/>
        </p:nvSpPr>
        <p:spPr>
          <a:xfrm>
            <a:off x="2926080" y="2697480"/>
            <a:ext cx="4572" cy="411480"/>
          </a:xfrm>
          <a:prstGeom prst="line">
            <a:avLst/>
          </a:prstGeom>
          <a:noFill/>
          <a:ln w="15875">
            <a:solidFill>
              <a:srgbClr val="55607A"/>
            </a:solidFill>
            <a:prstDash val="solid"/>
          </a:ln>
        </p:spPr>
      </p:sp>
      <p:sp>
        <p:nvSpPr>
          <p:cNvPr id="8" name="Shape 6"/>
          <p:cNvSpPr/>
          <p:nvPr/>
        </p:nvSpPr>
        <p:spPr>
          <a:xfrm>
            <a:off x="2724912" y="3136392"/>
            <a:ext cx="402336" cy="310896"/>
          </a:xfrm>
          <a:prstGeom prst="triangle">
            <a:avLst/>
          </a:prstGeom>
          <a:solidFill>
            <a:srgbClr val="DCE6FA"/>
          </a:solidFill>
          <a:ln w="19050">
            <a:solidFill>
              <a:srgbClr val="1F5AC4"/>
            </a:solidFill>
            <a:prstDash val="solid"/>
          </a:ln>
        </p:spPr>
      </p:sp>
      <p:sp>
        <p:nvSpPr>
          <p:cNvPr id="9" name="Shape 7"/>
          <p:cNvSpPr/>
          <p:nvPr/>
        </p:nvSpPr>
        <p:spPr>
          <a:xfrm>
            <a:off x="2926080" y="3474720"/>
            <a:ext cx="4572" cy="411480"/>
          </a:xfrm>
          <a:prstGeom prst="line">
            <a:avLst/>
          </a:prstGeom>
          <a:noFill/>
          <a:ln w="15875">
            <a:solidFill>
              <a:srgbClr val="55607A"/>
            </a:solidFill>
            <a:prstDash val="solid"/>
          </a:ln>
        </p:spPr>
      </p:sp>
      <p:sp>
        <p:nvSpPr>
          <p:cNvPr id="10" name="Shape 8"/>
          <p:cNvSpPr/>
          <p:nvPr/>
        </p:nvSpPr>
        <p:spPr>
          <a:xfrm rot="10800000">
            <a:off x="2724912" y="3913632"/>
            <a:ext cx="402336" cy="310896"/>
          </a:xfrm>
          <a:prstGeom prst="triangle">
            <a:avLst/>
          </a:prstGeom>
          <a:solidFill>
            <a:srgbClr val="F7DEDF"/>
          </a:solidFill>
          <a:ln w="19050">
            <a:solidFill>
              <a:srgbClr val="C1272D"/>
            </a:solidFill>
            <a:prstDash val="solid"/>
          </a:ln>
        </p:spPr>
      </p:sp>
      <p:sp>
        <p:nvSpPr>
          <p:cNvPr id="11" name="Shape 9"/>
          <p:cNvSpPr/>
          <p:nvPr/>
        </p:nvSpPr>
        <p:spPr>
          <a:xfrm>
            <a:off x="2926080" y="4251960"/>
            <a:ext cx="4572" cy="411480"/>
          </a:xfrm>
          <a:prstGeom prst="line">
            <a:avLst/>
          </a:prstGeom>
          <a:noFill/>
          <a:ln w="15875">
            <a:solidFill>
              <a:srgbClr val="55607A"/>
            </a:solidFill>
            <a:prstDash val="dash"/>
          </a:ln>
        </p:spPr>
      </p:sp>
      <p:sp>
        <p:nvSpPr>
          <p:cNvPr id="12" name="Shape 10"/>
          <p:cNvSpPr/>
          <p:nvPr/>
        </p:nvSpPr>
        <p:spPr>
          <a:xfrm>
            <a:off x="2724912" y="4690872"/>
            <a:ext cx="402336" cy="310896"/>
          </a:xfrm>
          <a:prstGeom prst="triangle">
            <a:avLst/>
          </a:prstGeom>
          <a:solidFill>
            <a:srgbClr val="DCE6FA"/>
          </a:solidFill>
          <a:ln w="19050">
            <a:solidFill>
              <a:srgbClr val="1F5AC4"/>
            </a:solidFill>
            <a:prstDash val="solid"/>
          </a:ln>
        </p:spPr>
      </p:sp>
      <p:sp>
        <p:nvSpPr>
          <p:cNvPr id="13" name="Text 11"/>
          <p:cNvSpPr/>
          <p:nvPr/>
        </p:nvSpPr>
        <p:spPr>
          <a:xfrm>
            <a:off x="3200400" y="4718304"/>
            <a:ext cx="457200" cy="274320"/>
          </a:xfrm>
          <a:prstGeom prst="rect">
            <a:avLst/>
          </a:prstGeom>
          <a:noFill/>
          <a:ln/>
        </p:spPr>
        <p:txBody>
          <a:bodyPr wrap="square" lIns="0" tIns="0" rIns="0" bIns="0" rtlCol="0" anchor="ctr"/>
          <a:lstStyle/>
          <a:p>
            <a:pPr indent="0" marL="0">
              <a:buNone/>
            </a:pPr>
            <a:r>
              <a:rPr lang="en-US" sz="1600" b="1" dirty="0">
                <a:solidFill>
                  <a:srgbClr val="C1272D"/>
                </a:solidFill>
                <a:latin typeface="Cambria" pitchFamily="34" charset="0"/>
                <a:ea typeface="Cambria" pitchFamily="34" charset="-122"/>
                <a:cs typeface="Cambria" pitchFamily="34" charset="-120"/>
              </a:rPr>
              <a:t>n</a:t>
            </a:r>
            <a:endParaRPr lang="en-US" sz="1600" dirty="0"/>
          </a:p>
        </p:txBody>
      </p:sp>
      <p:sp>
        <p:nvSpPr>
          <p:cNvPr id="14" name="Shape 12"/>
          <p:cNvSpPr/>
          <p:nvPr/>
        </p:nvSpPr>
        <p:spPr>
          <a:xfrm flipH="1">
            <a:off x="1828800" y="1920240"/>
            <a:ext cx="1097280" cy="411480"/>
          </a:xfrm>
          <a:prstGeom prst="line">
            <a:avLst/>
          </a:prstGeom>
          <a:noFill/>
          <a:ln w="15875">
            <a:solidFill>
              <a:srgbClr val="55607A"/>
            </a:solidFill>
            <a:prstDash val="solid"/>
          </a:ln>
        </p:spPr>
      </p:sp>
      <p:sp>
        <p:nvSpPr>
          <p:cNvPr id="15" name="Shape 13"/>
          <p:cNvSpPr/>
          <p:nvPr/>
        </p:nvSpPr>
        <p:spPr>
          <a:xfrm>
            <a:off x="1627632" y="2359152"/>
            <a:ext cx="402336" cy="310896"/>
          </a:xfrm>
          <a:prstGeom prst="roundRect">
            <a:avLst>
              <a:gd name="adj" fmla="val 14706"/>
            </a:avLst>
          </a:prstGeom>
          <a:solidFill>
            <a:srgbClr val="FBEFD8"/>
          </a:solidFill>
          <a:ln w="12700">
            <a:solidFill>
              <a:srgbClr val="D98C1F"/>
            </a:solidFill>
            <a:prstDash val="solid"/>
          </a:ln>
        </p:spPr>
      </p:sp>
      <p:sp>
        <p:nvSpPr>
          <p:cNvPr id="16" name="Text 14"/>
          <p:cNvSpPr/>
          <p:nvPr/>
        </p:nvSpPr>
        <p:spPr>
          <a:xfrm>
            <a:off x="1426464" y="2359152"/>
            <a:ext cx="804672" cy="310896"/>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m</a:t>
            </a:r>
            <a:endParaRPr lang="en-US" sz="1300" dirty="0"/>
          </a:p>
        </p:txBody>
      </p:sp>
      <p:sp>
        <p:nvSpPr>
          <p:cNvPr id="17" name="Shape 15"/>
          <p:cNvSpPr/>
          <p:nvPr/>
        </p:nvSpPr>
        <p:spPr>
          <a:xfrm flipH="1">
            <a:off x="1828800" y="3474720"/>
            <a:ext cx="1097280" cy="411480"/>
          </a:xfrm>
          <a:prstGeom prst="line">
            <a:avLst/>
          </a:prstGeom>
          <a:noFill/>
          <a:ln w="15875">
            <a:solidFill>
              <a:srgbClr val="55607A"/>
            </a:solidFill>
            <a:prstDash val="solid"/>
          </a:ln>
        </p:spPr>
      </p:sp>
      <p:sp>
        <p:nvSpPr>
          <p:cNvPr id="18" name="Shape 16"/>
          <p:cNvSpPr/>
          <p:nvPr/>
        </p:nvSpPr>
        <p:spPr>
          <a:xfrm>
            <a:off x="1627632" y="3913632"/>
            <a:ext cx="402336" cy="310896"/>
          </a:xfrm>
          <a:prstGeom prst="roundRect">
            <a:avLst>
              <a:gd name="adj" fmla="val 14706"/>
            </a:avLst>
          </a:prstGeom>
          <a:solidFill>
            <a:srgbClr val="FBEFD8"/>
          </a:solidFill>
          <a:ln w="12700">
            <a:solidFill>
              <a:srgbClr val="D98C1F"/>
            </a:solidFill>
            <a:prstDash val="solid"/>
          </a:ln>
        </p:spPr>
      </p:sp>
      <p:sp>
        <p:nvSpPr>
          <p:cNvPr id="19" name="Text 17"/>
          <p:cNvSpPr/>
          <p:nvPr/>
        </p:nvSpPr>
        <p:spPr>
          <a:xfrm>
            <a:off x="1426464" y="3913632"/>
            <a:ext cx="804672" cy="310896"/>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m'</a:t>
            </a:r>
            <a:endParaRPr lang="en-US" sz="1300" dirty="0"/>
          </a:p>
        </p:txBody>
      </p:sp>
      <p:sp>
        <p:nvSpPr>
          <p:cNvPr id="20" name="Text 18"/>
          <p:cNvSpPr/>
          <p:nvPr/>
        </p:nvSpPr>
        <p:spPr>
          <a:xfrm>
            <a:off x="4572000" y="1463040"/>
            <a:ext cx="6949440" cy="4572000"/>
          </a:xfrm>
          <a:prstGeom prst="rect">
            <a:avLst/>
          </a:prstGeom>
          <a:noFill/>
          <a:ln/>
        </p:spPr>
        <p:txBody>
          <a:bodyPr wrap="square" lIns="0" tIns="0" rIns="0" bIns="0" rtlCol="0" anchor="t"/>
          <a:lstStyle/>
          <a:p>
            <a:pPr marL="203200" indent="-203200">
              <a:spcAft>
                <a:spcPts val="1400"/>
              </a:spcAft>
              <a:buSzPct val="100000"/>
              <a:buChar char="•"/>
            </a:pPr>
            <a:r>
              <a:rPr lang="en-US" sz="1500" b="1" dirty="0">
                <a:solidFill>
                  <a:srgbClr val="1A1A1A"/>
                </a:solidFill>
                <a:latin typeface="Calibri" pitchFamily="34" charset="0"/>
                <a:ea typeface="Calibri" pitchFamily="34" charset="-122"/>
                <a:cs typeface="Calibri" pitchFamily="34" charset="-120"/>
              </a:rPr>
              <a:t>Player has a choice of moving to node n.</a:t>
            </a:r>
            <a:endParaRPr lang="en-US" sz="1500" dirty="0"/>
          </a:p>
          <a:p>
            <a:pPr marL="203200" indent="-203200">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If Player has a better choice at the same level (m') or anywhere higher up the path to the root (m), then Player will never move to n.</a:t>
            </a:r>
            <a:endParaRPr lang="en-US" sz="1500" dirty="0"/>
          </a:p>
          <a:p>
            <a:pPr marL="203200" indent="-203200">
              <a:spcAft>
                <a:spcPts val="1400"/>
              </a:spcAft>
              <a:buSzPct val="100000"/>
              <a:buChar char="•"/>
            </a:pPr>
            <a:r>
              <a:rPr lang="en-US" sz="1500" b="1" dirty="0">
                <a:solidFill>
                  <a:srgbClr val="14213D"/>
                </a:solidFill>
                <a:latin typeface="Calibri" pitchFamily="34" charset="0"/>
                <a:ea typeface="Calibri" pitchFamily="34" charset="-122"/>
                <a:cs typeface="Calibri" pitchFamily="34" charset="-120"/>
              </a:rPr>
              <a:t>So as soon as we have examined enough of n's descendants to establish that, we prune n and everything below it.</a:t>
            </a:r>
            <a:endParaRPr lang="en-US" sz="1500" dirty="0"/>
          </a:p>
          <a:p>
            <a:pPr marL="203200" indent="-203200">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Minimax is depth-first, so at any moment we only need the bounds along one root-to-node path. That is what makes two scalars enough.</a:t>
            </a:r>
            <a:endParaRPr lang="en-US" sz="1500" dirty="0"/>
          </a:p>
        </p:txBody>
      </p:sp>
      <p:sp>
        <p:nvSpPr>
          <p:cNvPr id="21" name="Shape 19"/>
          <p:cNvSpPr/>
          <p:nvPr/>
        </p:nvSpPr>
        <p:spPr>
          <a:xfrm>
            <a:off x="4572000" y="4572000"/>
            <a:ext cx="6949440" cy="1005840"/>
          </a:xfrm>
          <a:prstGeom prst="roundRect">
            <a:avLst>
              <a:gd name="adj" fmla="val 5455"/>
            </a:avLst>
          </a:prstGeom>
          <a:solidFill>
            <a:srgbClr val="EFF3F9"/>
          </a:solidFill>
          <a:ln w="12700">
            <a:solidFill>
              <a:srgbClr val="EFF3F9"/>
            </a:solidFill>
            <a:prstDash val="solid"/>
          </a:ln>
        </p:spPr>
      </p:sp>
      <p:sp>
        <p:nvSpPr>
          <p:cNvPr id="22" name="Text 20"/>
          <p:cNvSpPr/>
          <p:nvPr/>
        </p:nvSpPr>
        <p:spPr>
          <a:xfrm>
            <a:off x="4754880" y="4663440"/>
            <a:ext cx="6583680" cy="822960"/>
          </a:xfrm>
          <a:prstGeom prst="rect">
            <a:avLst/>
          </a:prstGeom>
          <a:noFill/>
          <a:ln/>
        </p:spPr>
        <p:txBody>
          <a:bodyPr wrap="square" lIns="0" tIns="0" rIns="0" bIns="0" rtlCol="0" anchor="ctr"/>
          <a:lstStyle/>
          <a:p>
            <a:pPr algn="l" indent="0" marL="0">
              <a:lnSpc>
                <a:spcPct val="115000"/>
              </a:lnSpc>
              <a:buNone/>
            </a:pPr>
            <a:r>
              <a:rPr lang="en-US" sz="1450" dirty="0">
                <a:solidFill>
                  <a:srgbClr val="1A1A1A"/>
                </a:solidFill>
                <a:latin typeface="Cambria" pitchFamily="34" charset="0"/>
                <a:ea typeface="Cambria" pitchFamily="34" charset="-122"/>
                <a:cs typeface="Cambria" pitchFamily="34" charset="-120"/>
              </a:rPr>
              <a:t>  Prune n when we can prove:  value(n) can never beat what Player already holds</a:t>
            </a:r>
            <a:endParaRPr lang="en-US" sz="1450" dirty="0"/>
          </a:p>
          <a:p>
            <a:pPr algn="l" indent="0" marL="0">
              <a:lnSpc>
                <a:spcPct val="115000"/>
              </a:lnSpc>
              <a:buNone/>
            </a:pPr>
            <a:r>
              <a:rPr lang="en-US" sz="1450" dirty="0">
                <a:solidFill>
                  <a:srgbClr val="1A1A1A"/>
                </a:solidFill>
                <a:latin typeface="Cambria" pitchFamily="34" charset="0"/>
                <a:ea typeface="Cambria" pitchFamily="34" charset="-122"/>
                <a:cs typeface="Cambria" pitchFamily="34" charset="-120"/>
              </a:rPr>
              <a:t>  at m or m'. Two scalars along the current path are enough to check that.</a:t>
            </a:r>
            <a:endParaRPr lang="en-US" sz="1450" dirty="0"/>
          </a:p>
        </p:txBody>
      </p:sp>
      <p:sp>
        <p:nvSpPr>
          <p:cNvPr id="23" name="Text 21"/>
          <p:cNvSpPr/>
          <p:nvPr/>
        </p:nvSpPr>
        <p:spPr>
          <a:xfrm>
            <a:off x="566928" y="6327648"/>
            <a:ext cx="10058400" cy="274320"/>
          </a:xfrm>
          <a:prstGeom prst="rect">
            <a:avLst/>
          </a:prstGeom>
          <a:noFill/>
          <a:ln/>
        </p:spPr>
        <p:txBody>
          <a:bodyPr wrap="square" lIns="0" tIns="0" rIns="0" bIns="0" rtlCol="0" anchor="ctr"/>
          <a:lstStyle/>
          <a:p>
            <a:pPr indent="0" marL="0">
              <a:buNone/>
            </a:pPr>
            <a:r>
              <a:rPr lang="en-US" sz="1000" i="1" dirty="0">
                <a:solidFill>
                  <a:srgbClr val="55607A"/>
                </a:solidFill>
                <a:latin typeface="Calibri" pitchFamily="34" charset="0"/>
                <a:ea typeface="Calibri" pitchFamily="34" charset="-122"/>
                <a:cs typeface="Calibri" pitchFamily="34" charset="-120"/>
              </a:rPr>
              <a:t>The MIN version is stated here; the MAX version is the exact mirror image.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TWO BOUNDS CARRIED DOWN THE PATH</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Alpha and Beta</a:t>
            </a:r>
            <a:endParaRPr lang="en-US" sz="2900" dirty="0"/>
          </a:p>
        </p:txBody>
      </p:sp>
      <p:sp>
        <p:nvSpPr>
          <p:cNvPr id="4" name="Shape 2"/>
          <p:cNvSpPr/>
          <p:nvPr/>
        </p:nvSpPr>
        <p:spPr>
          <a:xfrm>
            <a:off x="640080" y="1371600"/>
            <a:ext cx="5349240" cy="1737360"/>
          </a:xfrm>
          <a:prstGeom prst="roundRect">
            <a:avLst>
              <a:gd name="adj" fmla="val 4211"/>
            </a:avLst>
          </a:prstGeom>
          <a:solidFill>
            <a:srgbClr val="DCE6FA"/>
          </a:solidFill>
          <a:ln w="12700">
            <a:solidFill>
              <a:srgbClr val="1F5AC4"/>
            </a:solidFill>
            <a:prstDash val="solid"/>
          </a:ln>
        </p:spPr>
      </p:sp>
      <p:sp>
        <p:nvSpPr>
          <p:cNvPr id="5" name="Text 3"/>
          <p:cNvSpPr/>
          <p:nvPr/>
        </p:nvSpPr>
        <p:spPr>
          <a:xfrm>
            <a:off x="84124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alpha</a:t>
            </a:r>
            <a:endParaRPr lang="en-US" sz="1500" dirty="0"/>
          </a:p>
        </p:txBody>
      </p:sp>
      <p:sp>
        <p:nvSpPr>
          <p:cNvPr id="6" name="Text 4"/>
          <p:cNvSpPr/>
          <p:nvPr/>
        </p:nvSpPr>
        <p:spPr>
          <a:xfrm>
            <a:off x="841248" y="1865376"/>
            <a:ext cx="4946904" cy="107899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The best value MAX can guarantee so far anywhere along the current path from the root. It only ever increases.</a:t>
            </a:r>
            <a:endParaRPr lang="en-US" sz="1300" dirty="0"/>
          </a:p>
        </p:txBody>
      </p:sp>
      <p:sp>
        <p:nvSpPr>
          <p:cNvPr id="7" name="Shape 5"/>
          <p:cNvSpPr/>
          <p:nvPr/>
        </p:nvSpPr>
        <p:spPr>
          <a:xfrm>
            <a:off x="6172200" y="1371600"/>
            <a:ext cx="5349240" cy="1737360"/>
          </a:xfrm>
          <a:prstGeom prst="roundRect">
            <a:avLst>
              <a:gd name="adj" fmla="val 4211"/>
            </a:avLst>
          </a:prstGeom>
          <a:solidFill>
            <a:srgbClr val="F7DEDF"/>
          </a:solidFill>
          <a:ln w="12700">
            <a:solidFill>
              <a:srgbClr val="C1272D"/>
            </a:solidFill>
            <a:prstDash val="solid"/>
          </a:ln>
        </p:spPr>
      </p:sp>
      <p:sp>
        <p:nvSpPr>
          <p:cNvPr id="8" name="Text 6"/>
          <p:cNvSpPr/>
          <p:nvPr/>
        </p:nvSpPr>
        <p:spPr>
          <a:xfrm>
            <a:off x="637336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beta</a:t>
            </a:r>
            <a:endParaRPr lang="en-US" sz="1500" dirty="0"/>
          </a:p>
        </p:txBody>
      </p:sp>
      <p:sp>
        <p:nvSpPr>
          <p:cNvPr id="9" name="Text 7"/>
          <p:cNvSpPr/>
          <p:nvPr/>
        </p:nvSpPr>
        <p:spPr>
          <a:xfrm>
            <a:off x="6373368" y="1865376"/>
            <a:ext cx="4946904" cy="107899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The best value MIN can guarantee so far anywhere along the current path from the root. It only ever decreases.</a:t>
            </a:r>
            <a:endParaRPr lang="en-US" sz="1300" dirty="0"/>
          </a:p>
        </p:txBody>
      </p:sp>
      <p:sp>
        <p:nvSpPr>
          <p:cNvPr id="10" name="Shape 8"/>
          <p:cNvSpPr/>
          <p:nvPr/>
        </p:nvSpPr>
        <p:spPr>
          <a:xfrm>
            <a:off x="640080" y="3337560"/>
            <a:ext cx="10881360" cy="731520"/>
          </a:xfrm>
          <a:prstGeom prst="roundRect">
            <a:avLst>
              <a:gd name="adj" fmla="val 7500"/>
            </a:avLst>
          </a:prstGeom>
          <a:solidFill>
            <a:srgbClr val="DCE6FA"/>
          </a:solidFill>
          <a:ln w="12700">
            <a:solidFill>
              <a:srgbClr val="DCE6FA"/>
            </a:solidFill>
            <a:prstDash val="solid"/>
          </a:ln>
        </p:spPr>
      </p:sp>
      <p:sp>
        <p:nvSpPr>
          <p:cNvPr id="11" name="Text 9"/>
          <p:cNvSpPr/>
          <p:nvPr/>
        </p:nvSpPr>
        <p:spPr>
          <a:xfrm>
            <a:off x="822960" y="3429000"/>
            <a:ext cx="10515600" cy="548640"/>
          </a:xfrm>
          <a:prstGeom prst="rect">
            <a:avLst/>
          </a:prstGeom>
          <a:noFill/>
          <a:ln/>
        </p:spPr>
        <p:txBody>
          <a:bodyPr wrap="square" lIns="0" tIns="0" rIns="0" bIns="0" rtlCol="0" anchor="ctr"/>
          <a:lstStyle/>
          <a:p>
            <a:pPr algn="ctr" indent="0" marL="0">
              <a:lnSpc>
                <a:spcPct val="115000"/>
              </a:lnSpc>
              <a:buNone/>
            </a:pPr>
            <a:r>
              <a:rPr lang="en-US" sz="1700" dirty="0">
                <a:solidFill>
                  <a:srgbClr val="14213D"/>
                </a:solidFill>
                <a:latin typeface="Courier New" pitchFamily="34" charset="0"/>
                <a:ea typeface="Courier New" pitchFamily="34" charset="-122"/>
                <a:cs typeface="Courier New" pitchFamily="34" charset="-120"/>
              </a:rPr>
              <a:t>Initially:   alpha = -infinity,    beta = +infinity</a:t>
            </a:r>
            <a:endParaRPr lang="en-US" sz="1700" dirty="0"/>
          </a:p>
        </p:txBody>
      </p:sp>
      <p:sp>
        <p:nvSpPr>
          <p:cNvPr id="12" name="Text 10"/>
          <p:cNvSpPr/>
          <p:nvPr/>
        </p:nvSpPr>
        <p:spPr>
          <a:xfrm>
            <a:off x="640080" y="4343400"/>
            <a:ext cx="10881360" cy="4572000"/>
          </a:xfrm>
          <a:prstGeom prst="rect">
            <a:avLst/>
          </a:prstGeom>
          <a:noFill/>
          <a:ln/>
        </p:spPr>
        <p:txBody>
          <a:bodyPr wrap="square" lIns="0" tIns="0" rIns="0" bIns="0" rtlCol="0" anchor="t"/>
          <a:lstStyle/>
          <a:p>
            <a:pPr marL="203200" indent="-203200">
              <a:spcAft>
                <a:spcPts val="1100"/>
              </a:spcAft>
              <a:buSzPct val="100000"/>
              <a:buChar char="•"/>
            </a:pPr>
            <a:r>
              <a:rPr lang="en-US" sz="1500" dirty="0">
                <a:solidFill>
                  <a:srgbClr val="1A1A1A"/>
                </a:solidFill>
                <a:latin typeface="Calibri" pitchFamily="34" charset="0"/>
                <a:ea typeface="Calibri" pitchFamily="34" charset="-122"/>
                <a:cs typeface="Calibri" pitchFamily="34" charset="-120"/>
              </a:rPr>
              <a:t>At a MAX node, prune as soon as the current value is at least beta - MIN above would never allow this.</a:t>
            </a:r>
            <a:endParaRPr lang="en-US" sz="1500" dirty="0"/>
          </a:p>
          <a:p>
            <a:pPr marL="203200" indent="-203200">
              <a:spcAft>
                <a:spcPts val="1100"/>
              </a:spcAft>
              <a:buSzPct val="100000"/>
              <a:buChar char="•"/>
            </a:pPr>
            <a:r>
              <a:rPr lang="en-US" sz="1500" dirty="0">
                <a:solidFill>
                  <a:srgbClr val="1A1A1A"/>
                </a:solidFill>
                <a:latin typeface="Calibri" pitchFamily="34" charset="0"/>
                <a:ea typeface="Calibri" pitchFamily="34" charset="-122"/>
                <a:cs typeface="Calibri" pitchFamily="34" charset="-120"/>
              </a:rPr>
              <a:t>At a MIN node, prune as soon as the current value is at most alpha - MAX above would never come here.</a:t>
            </a:r>
            <a:endParaRPr lang="en-US" sz="1500" dirty="0"/>
          </a:p>
          <a:p>
            <a:pPr marL="203200" indent="-203200">
              <a:spcAft>
                <a:spcPts val="1100"/>
              </a:spcAft>
              <a:buSzPct val="100000"/>
              <a:buChar char="•"/>
            </a:pPr>
            <a:r>
              <a:rPr lang="en-US" sz="1500" b="1" dirty="0">
                <a:solidFill>
                  <a:srgbClr val="14213D"/>
                </a:solidFill>
                <a:latin typeface="Calibri" pitchFamily="34" charset="0"/>
                <a:ea typeface="Calibri" pitchFamily="34" charset="-122"/>
                <a:cs typeface="Calibri" pitchFamily="34" charset="-120"/>
              </a:rPr>
              <a:t>Equivalently, prune whenever alpha &gt;= beta: the window has closed and nothing inside it can matter.</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FIGURE 5.7  ·  CS 188</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Alpha-Beta: The Algorithm</a:t>
            </a:r>
            <a:endParaRPr lang="en-US" sz="2900" dirty="0"/>
          </a:p>
        </p:txBody>
      </p:sp>
      <p:sp>
        <p:nvSpPr>
          <p:cNvPr id="4" name="Shape 2"/>
          <p:cNvSpPr/>
          <p:nvPr/>
        </p:nvSpPr>
        <p:spPr>
          <a:xfrm>
            <a:off x="640080" y="1325880"/>
            <a:ext cx="5349240" cy="3291840"/>
          </a:xfrm>
          <a:prstGeom prst="roundRect">
            <a:avLst>
              <a:gd name="adj" fmla="val 1667"/>
            </a:avLst>
          </a:prstGeom>
          <a:solidFill>
            <a:srgbClr val="18305C"/>
          </a:solidFill>
          <a:ln w="12700">
            <a:solidFill>
              <a:srgbClr val="18305C"/>
            </a:solidFill>
            <a:prstDash val="solid"/>
          </a:ln>
        </p:spPr>
      </p:sp>
      <p:sp>
        <p:nvSpPr>
          <p:cNvPr id="5" name="Text 3"/>
          <p:cNvSpPr/>
          <p:nvPr/>
        </p:nvSpPr>
        <p:spPr>
          <a:xfrm>
            <a:off x="841248" y="1435608"/>
            <a:ext cx="4946904" cy="274320"/>
          </a:xfrm>
          <a:prstGeom prst="rect">
            <a:avLst/>
          </a:prstGeom>
          <a:noFill/>
          <a:ln/>
        </p:spPr>
        <p:txBody>
          <a:bodyPr wrap="square" lIns="0" tIns="0" rIns="0" bIns="0" rtlCol="0" anchor="ctr"/>
          <a:lstStyle/>
          <a:p>
            <a:pPr indent="0" marL="0">
              <a:buNone/>
            </a:pPr>
            <a:r>
              <a:rPr lang="en-US" sz="1250" b="1" dirty="0">
                <a:solidFill>
                  <a:srgbClr val="D98C1F"/>
                </a:solidFill>
                <a:latin typeface="Calibri" pitchFamily="34" charset="0"/>
                <a:ea typeface="Calibri" pitchFamily="34" charset="-122"/>
                <a:cs typeface="Calibri" pitchFamily="34" charset="-120"/>
              </a:rPr>
              <a:t>MAX-VALUE(state, alpha, beta)</a:t>
            </a:r>
            <a:endParaRPr lang="en-US" sz="1250" dirty="0"/>
          </a:p>
        </p:txBody>
      </p:sp>
      <p:sp>
        <p:nvSpPr>
          <p:cNvPr id="6" name="Text 4"/>
          <p:cNvSpPr/>
          <p:nvPr/>
        </p:nvSpPr>
        <p:spPr>
          <a:xfrm>
            <a:off x="841248" y="1746504"/>
            <a:ext cx="4983480" cy="2743200"/>
          </a:xfrm>
          <a:prstGeom prst="rect">
            <a:avLst/>
          </a:prstGeom>
          <a:noFill/>
          <a:ln/>
        </p:spPr>
        <p:txBody>
          <a:bodyPr wrap="square" lIns="0" tIns="0" rIns="0" bIns="0" rtlCol="0" anchor="t"/>
          <a:lstStyle/>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if TERMINAL(state):</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return UTILITY(state)</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v = -infinity</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for each action in ACTIONS(state):</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v = max(v, MIN-VALUE(</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RESULT(state, action), alpha, beta))</a:t>
            </a:r>
            <a:endParaRPr lang="en-US" sz="1200" dirty="0"/>
          </a:p>
          <a:p>
            <a:pPr indent="0" marL="0">
              <a:lnSpc>
                <a:spcPct val="105000"/>
              </a:lnSpc>
              <a:buNone/>
            </a:pPr>
            <a:r>
              <a:rPr lang="en-US" sz="1200" dirty="0">
                <a:solidFill>
                  <a:srgbClr val="F2A0A2"/>
                </a:solidFill>
                <a:latin typeface="Courier New" pitchFamily="34" charset="0"/>
                <a:ea typeface="Courier New" pitchFamily="34" charset="-122"/>
                <a:cs typeface="Courier New" pitchFamily="34" charset="-120"/>
              </a:rPr>
              <a:t>    if v &gt;= beta:  return v      # beta cutoff</a:t>
            </a:r>
            <a:endParaRPr lang="en-US" sz="1200" dirty="0"/>
          </a:p>
          <a:p>
            <a:pPr indent="0" marL="0">
              <a:lnSpc>
                <a:spcPct val="105000"/>
              </a:lnSpc>
              <a:buNone/>
            </a:pPr>
            <a:r>
              <a:rPr lang="en-US" sz="1200" dirty="0">
                <a:solidFill>
                  <a:srgbClr val="8FB8FF"/>
                </a:solidFill>
                <a:latin typeface="Courier New" pitchFamily="34" charset="0"/>
                <a:ea typeface="Courier New" pitchFamily="34" charset="-122"/>
                <a:cs typeface="Courier New" pitchFamily="34" charset="-120"/>
              </a:rPr>
              <a:t>    alpha = max(alpha, v)</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return v</a:t>
            </a:r>
            <a:endParaRPr lang="en-US" sz="1200" dirty="0"/>
          </a:p>
        </p:txBody>
      </p:sp>
      <p:sp>
        <p:nvSpPr>
          <p:cNvPr id="7" name="Shape 5"/>
          <p:cNvSpPr/>
          <p:nvPr/>
        </p:nvSpPr>
        <p:spPr>
          <a:xfrm>
            <a:off x="6172200" y="1325880"/>
            <a:ext cx="5349240" cy="3291840"/>
          </a:xfrm>
          <a:prstGeom prst="roundRect">
            <a:avLst>
              <a:gd name="adj" fmla="val 1667"/>
            </a:avLst>
          </a:prstGeom>
          <a:solidFill>
            <a:srgbClr val="5A1C1F"/>
          </a:solidFill>
          <a:ln w="12700">
            <a:solidFill>
              <a:srgbClr val="5A1C1F"/>
            </a:solidFill>
            <a:prstDash val="solid"/>
          </a:ln>
        </p:spPr>
      </p:sp>
      <p:sp>
        <p:nvSpPr>
          <p:cNvPr id="8" name="Text 6"/>
          <p:cNvSpPr/>
          <p:nvPr/>
        </p:nvSpPr>
        <p:spPr>
          <a:xfrm>
            <a:off x="6373368" y="1435608"/>
            <a:ext cx="4946904" cy="274320"/>
          </a:xfrm>
          <a:prstGeom prst="rect">
            <a:avLst/>
          </a:prstGeom>
          <a:noFill/>
          <a:ln/>
        </p:spPr>
        <p:txBody>
          <a:bodyPr wrap="square" lIns="0" tIns="0" rIns="0" bIns="0" rtlCol="0" anchor="ctr"/>
          <a:lstStyle/>
          <a:p>
            <a:pPr indent="0" marL="0">
              <a:buNone/>
            </a:pPr>
            <a:r>
              <a:rPr lang="en-US" sz="1250" b="1" dirty="0">
                <a:solidFill>
                  <a:srgbClr val="D98C1F"/>
                </a:solidFill>
                <a:latin typeface="Calibri" pitchFamily="34" charset="0"/>
                <a:ea typeface="Calibri" pitchFamily="34" charset="-122"/>
                <a:cs typeface="Calibri" pitchFamily="34" charset="-120"/>
              </a:rPr>
              <a:t>MIN-VALUE(state, alpha, beta)</a:t>
            </a:r>
            <a:endParaRPr lang="en-US" sz="1250" dirty="0"/>
          </a:p>
        </p:txBody>
      </p:sp>
      <p:sp>
        <p:nvSpPr>
          <p:cNvPr id="9" name="Text 7"/>
          <p:cNvSpPr/>
          <p:nvPr/>
        </p:nvSpPr>
        <p:spPr>
          <a:xfrm>
            <a:off x="6373368" y="1746504"/>
            <a:ext cx="4983480" cy="2743200"/>
          </a:xfrm>
          <a:prstGeom prst="rect">
            <a:avLst/>
          </a:prstGeom>
          <a:noFill/>
          <a:ln/>
        </p:spPr>
        <p:txBody>
          <a:bodyPr wrap="square" lIns="0" tIns="0" rIns="0" bIns="0" rtlCol="0" anchor="t"/>
          <a:lstStyle/>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if TERMINAL(state):</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return UTILITY(state)</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v = +infinity</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for each action in ACTIONS(state):</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v = min(v, MAX-VALUE(</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RESULT(state, action), alpha, beta))</a:t>
            </a:r>
            <a:endParaRPr lang="en-US" sz="1200" dirty="0"/>
          </a:p>
          <a:p>
            <a:pPr indent="0" marL="0">
              <a:lnSpc>
                <a:spcPct val="105000"/>
              </a:lnSpc>
              <a:buNone/>
            </a:pPr>
            <a:r>
              <a:rPr lang="en-US" sz="1200" dirty="0">
                <a:solidFill>
                  <a:srgbClr val="8FB8FF"/>
                </a:solidFill>
                <a:latin typeface="Courier New" pitchFamily="34" charset="0"/>
                <a:ea typeface="Courier New" pitchFamily="34" charset="-122"/>
                <a:cs typeface="Courier New" pitchFamily="34" charset="-120"/>
              </a:rPr>
              <a:t>    if v &lt;= alpha: return v     # alpha cutoff</a:t>
            </a:r>
            <a:endParaRPr lang="en-US" sz="1200" dirty="0"/>
          </a:p>
          <a:p>
            <a:pPr indent="0" marL="0">
              <a:lnSpc>
                <a:spcPct val="105000"/>
              </a:lnSpc>
              <a:buNone/>
            </a:pPr>
            <a:r>
              <a:rPr lang="en-US" sz="1200" dirty="0">
                <a:solidFill>
                  <a:srgbClr val="F2A0A2"/>
                </a:solidFill>
                <a:latin typeface="Courier New" pitchFamily="34" charset="0"/>
                <a:ea typeface="Courier New" pitchFamily="34" charset="-122"/>
                <a:cs typeface="Courier New" pitchFamily="34" charset="-120"/>
              </a:rPr>
              <a:t>    beta = min(beta, v)</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return v</a:t>
            </a:r>
            <a:endParaRPr lang="en-US" sz="1200" dirty="0"/>
          </a:p>
        </p:txBody>
      </p:sp>
      <p:sp>
        <p:nvSpPr>
          <p:cNvPr id="10" name="Text 8"/>
          <p:cNvSpPr/>
          <p:nvPr/>
        </p:nvSpPr>
        <p:spPr>
          <a:xfrm>
            <a:off x="640080" y="4846320"/>
            <a:ext cx="10881360" cy="457200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1A1A1A"/>
                </a:solidFill>
                <a:latin typeface="Calibri" pitchFamily="34" charset="0"/>
                <a:ea typeface="Calibri" pitchFamily="34" charset="-122"/>
                <a:cs typeface="Calibri" pitchFamily="34" charset="-120"/>
              </a:rPr>
              <a:t>Identical to MINIMAX-SEARCH except for the two bound variables and the two cutoff lines.</a:t>
            </a:r>
            <a:endParaRPr lang="en-US" sz="1500" dirty="0"/>
          </a:p>
          <a:p>
            <a:pPr marL="203200" indent="-203200">
              <a:spcAft>
                <a:spcPts val="900"/>
              </a:spcAft>
              <a:buSzPct val="100000"/>
              <a:buChar char="•"/>
            </a:pPr>
            <a:r>
              <a:rPr lang="en-US" sz="1500" b="1" dirty="0">
                <a:solidFill>
                  <a:srgbClr val="1A1A1A"/>
                </a:solidFill>
                <a:latin typeface="Calibri" pitchFamily="34" charset="0"/>
                <a:ea typeface="Calibri" pitchFamily="34" charset="-122"/>
                <a:cs typeface="Calibri" pitchFamily="34" charset="-120"/>
              </a:rPr>
              <a:t>Note the asymmetry that students get wrong: a MAX node updates alpha and tests against beta. It never updates beta.</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FF3F9"/>
        </a:solidFill>
      </p:bgPr>
    </p:bg>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LEFT TO RIGHT  ·  2 MINUTES</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Exercise 2: Which Leaves Get Pruned?</a:t>
            </a:r>
            <a:endParaRPr lang="en-US" sz="2900" dirty="0"/>
          </a:p>
        </p:txBody>
      </p:sp>
      <p:sp>
        <p:nvSpPr>
          <p:cNvPr id="4" name="Shape 2"/>
          <p:cNvSpPr/>
          <p:nvPr/>
        </p:nvSpPr>
        <p:spPr>
          <a:xfrm>
            <a:off x="5650992" y="1856232"/>
            <a:ext cx="402336" cy="310896"/>
          </a:xfrm>
          <a:prstGeom prst="triangle">
            <a:avLst/>
          </a:prstGeom>
          <a:solidFill>
            <a:srgbClr val="DCE6FA"/>
          </a:solidFill>
          <a:ln w="19050">
            <a:solidFill>
              <a:srgbClr val="1F5AC4"/>
            </a:solidFill>
            <a:prstDash val="solid"/>
          </a:ln>
        </p:spPr>
      </p:sp>
      <p:sp>
        <p:nvSpPr>
          <p:cNvPr id="5" name="Shape 3"/>
          <p:cNvSpPr/>
          <p:nvPr/>
        </p:nvSpPr>
        <p:spPr>
          <a:xfrm flipH="1">
            <a:off x="3840480" y="2194560"/>
            <a:ext cx="2011680" cy="914400"/>
          </a:xfrm>
          <a:prstGeom prst="line">
            <a:avLst/>
          </a:prstGeom>
          <a:noFill/>
          <a:ln w="15875">
            <a:solidFill>
              <a:srgbClr val="55607A"/>
            </a:solidFill>
            <a:prstDash val="solid"/>
          </a:ln>
        </p:spPr>
      </p:sp>
      <p:sp>
        <p:nvSpPr>
          <p:cNvPr id="6" name="Text 4"/>
          <p:cNvSpPr/>
          <p:nvPr/>
        </p:nvSpPr>
        <p:spPr>
          <a:xfrm>
            <a:off x="4526280" y="2478024"/>
            <a:ext cx="640080" cy="256032"/>
          </a:xfrm>
          <a:prstGeom prst="rect">
            <a:avLst/>
          </a:prstGeom>
          <a:noFill/>
          <a:ln/>
        </p:spPr>
        <p:txBody>
          <a:bodyPr wrap="square" lIns="0" tIns="0" rIns="0" bIns="0" rtlCol="0" anchor="ctr"/>
          <a:lstStyle/>
          <a:p>
            <a:pPr algn="ctr" indent="0" marL="0">
              <a:buNone/>
            </a:pPr>
            <a:r>
              <a:rPr lang="en-US" sz="1250" i="1" dirty="0">
                <a:solidFill>
                  <a:srgbClr val="1F5AC4"/>
                </a:solidFill>
                <a:latin typeface="Calibri" pitchFamily="34" charset="0"/>
                <a:ea typeface="Calibri" pitchFamily="34" charset="-122"/>
                <a:cs typeface="Calibri" pitchFamily="34" charset="-120"/>
              </a:rPr>
              <a:t>a</a:t>
            </a:r>
            <a:endParaRPr lang="en-US" sz="1250" dirty="0"/>
          </a:p>
        </p:txBody>
      </p:sp>
      <p:sp>
        <p:nvSpPr>
          <p:cNvPr id="7" name="Shape 5"/>
          <p:cNvSpPr/>
          <p:nvPr/>
        </p:nvSpPr>
        <p:spPr>
          <a:xfrm rot="10800000">
            <a:off x="3639312" y="3136392"/>
            <a:ext cx="402336" cy="310896"/>
          </a:xfrm>
          <a:prstGeom prst="triangle">
            <a:avLst/>
          </a:prstGeom>
          <a:solidFill>
            <a:srgbClr val="F7DEDF"/>
          </a:solidFill>
          <a:ln w="19050">
            <a:solidFill>
              <a:srgbClr val="C1272D"/>
            </a:solidFill>
            <a:prstDash val="solid"/>
          </a:ln>
        </p:spPr>
      </p:sp>
      <p:sp>
        <p:nvSpPr>
          <p:cNvPr id="8" name="Shape 6"/>
          <p:cNvSpPr/>
          <p:nvPr/>
        </p:nvSpPr>
        <p:spPr>
          <a:xfrm flipH="1">
            <a:off x="2926080" y="3474720"/>
            <a:ext cx="914400" cy="960120"/>
          </a:xfrm>
          <a:prstGeom prst="line">
            <a:avLst/>
          </a:prstGeom>
          <a:noFill/>
          <a:ln w="15875">
            <a:solidFill>
              <a:srgbClr val="55607A"/>
            </a:solidFill>
            <a:prstDash val="solid"/>
          </a:ln>
        </p:spPr>
      </p:sp>
      <p:sp>
        <p:nvSpPr>
          <p:cNvPr id="9" name="Text 7"/>
          <p:cNvSpPr/>
          <p:nvPr/>
        </p:nvSpPr>
        <p:spPr>
          <a:xfrm>
            <a:off x="3063240" y="3781044"/>
            <a:ext cx="640080" cy="256032"/>
          </a:xfrm>
          <a:prstGeom prst="rect">
            <a:avLst/>
          </a:prstGeom>
          <a:noFill/>
          <a:ln/>
        </p:spPr>
        <p:txBody>
          <a:bodyPr wrap="square" lIns="0" tIns="0" rIns="0" bIns="0" rtlCol="0" anchor="ctr"/>
          <a:lstStyle/>
          <a:p>
            <a:pPr algn="ctr" indent="0" marL="0">
              <a:buNone/>
            </a:pPr>
            <a:r>
              <a:rPr lang="en-US" sz="1250" i="1" dirty="0">
                <a:solidFill>
                  <a:srgbClr val="C1272D"/>
                </a:solidFill>
                <a:latin typeface="Calibri" pitchFamily="34" charset="0"/>
                <a:ea typeface="Calibri" pitchFamily="34" charset="-122"/>
                <a:cs typeface="Calibri" pitchFamily="34" charset="-120"/>
              </a:rPr>
              <a:t>b</a:t>
            </a:r>
            <a:endParaRPr lang="en-US" sz="1250" dirty="0"/>
          </a:p>
        </p:txBody>
      </p:sp>
      <p:sp>
        <p:nvSpPr>
          <p:cNvPr id="10" name="Shape 8"/>
          <p:cNvSpPr/>
          <p:nvPr/>
        </p:nvSpPr>
        <p:spPr>
          <a:xfrm>
            <a:off x="2724912" y="4462272"/>
            <a:ext cx="402336" cy="310896"/>
          </a:xfrm>
          <a:prstGeom prst="roundRect">
            <a:avLst>
              <a:gd name="adj" fmla="val 14706"/>
            </a:avLst>
          </a:prstGeom>
          <a:solidFill>
            <a:srgbClr val="DCE3EE"/>
          </a:solidFill>
          <a:ln w="12700">
            <a:solidFill>
              <a:srgbClr val="55607A"/>
            </a:solidFill>
            <a:prstDash val="solid"/>
          </a:ln>
        </p:spPr>
      </p:sp>
      <p:sp>
        <p:nvSpPr>
          <p:cNvPr id="11" name="Text 9"/>
          <p:cNvSpPr/>
          <p:nvPr/>
        </p:nvSpPr>
        <p:spPr>
          <a:xfrm>
            <a:off x="2523744" y="4462272"/>
            <a:ext cx="804672" cy="310896"/>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10</a:t>
            </a:r>
            <a:endParaRPr lang="en-US" sz="1400" dirty="0"/>
          </a:p>
        </p:txBody>
      </p:sp>
      <p:sp>
        <p:nvSpPr>
          <p:cNvPr id="12" name="Shape 10"/>
          <p:cNvSpPr/>
          <p:nvPr/>
        </p:nvSpPr>
        <p:spPr>
          <a:xfrm>
            <a:off x="3840480" y="3474720"/>
            <a:ext cx="914400" cy="960120"/>
          </a:xfrm>
          <a:prstGeom prst="line">
            <a:avLst/>
          </a:prstGeom>
          <a:noFill/>
          <a:ln w="15875">
            <a:solidFill>
              <a:srgbClr val="55607A"/>
            </a:solidFill>
            <a:prstDash val="solid"/>
          </a:ln>
        </p:spPr>
      </p:sp>
      <p:sp>
        <p:nvSpPr>
          <p:cNvPr id="13" name="Text 11"/>
          <p:cNvSpPr/>
          <p:nvPr/>
        </p:nvSpPr>
        <p:spPr>
          <a:xfrm>
            <a:off x="3977640" y="3781044"/>
            <a:ext cx="640080" cy="256032"/>
          </a:xfrm>
          <a:prstGeom prst="rect">
            <a:avLst/>
          </a:prstGeom>
          <a:noFill/>
          <a:ln/>
        </p:spPr>
        <p:txBody>
          <a:bodyPr wrap="square" lIns="0" tIns="0" rIns="0" bIns="0" rtlCol="0" anchor="ctr"/>
          <a:lstStyle/>
          <a:p>
            <a:pPr algn="ctr" indent="0" marL="0">
              <a:buNone/>
            </a:pPr>
            <a:r>
              <a:rPr lang="en-US" sz="1250" i="1" dirty="0">
                <a:solidFill>
                  <a:srgbClr val="C1272D"/>
                </a:solidFill>
                <a:latin typeface="Calibri" pitchFamily="34" charset="0"/>
                <a:ea typeface="Calibri" pitchFamily="34" charset="-122"/>
                <a:cs typeface="Calibri" pitchFamily="34" charset="-120"/>
              </a:rPr>
              <a:t>c</a:t>
            </a:r>
            <a:endParaRPr lang="en-US" sz="1250" dirty="0"/>
          </a:p>
        </p:txBody>
      </p:sp>
      <p:sp>
        <p:nvSpPr>
          <p:cNvPr id="14" name="Shape 12"/>
          <p:cNvSpPr/>
          <p:nvPr/>
        </p:nvSpPr>
        <p:spPr>
          <a:xfrm>
            <a:off x="4553712" y="4462272"/>
            <a:ext cx="402336" cy="310896"/>
          </a:xfrm>
          <a:prstGeom prst="roundRect">
            <a:avLst>
              <a:gd name="adj" fmla="val 14706"/>
            </a:avLst>
          </a:prstGeom>
          <a:solidFill>
            <a:srgbClr val="DCE3EE"/>
          </a:solidFill>
          <a:ln w="12700">
            <a:solidFill>
              <a:srgbClr val="55607A"/>
            </a:solidFill>
            <a:prstDash val="solid"/>
          </a:ln>
        </p:spPr>
      </p:sp>
      <p:sp>
        <p:nvSpPr>
          <p:cNvPr id="15" name="Text 13"/>
          <p:cNvSpPr/>
          <p:nvPr/>
        </p:nvSpPr>
        <p:spPr>
          <a:xfrm>
            <a:off x="4352544" y="4462272"/>
            <a:ext cx="804672" cy="310896"/>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8</a:t>
            </a:r>
            <a:endParaRPr lang="en-US" sz="1400" dirty="0"/>
          </a:p>
        </p:txBody>
      </p:sp>
      <p:sp>
        <p:nvSpPr>
          <p:cNvPr id="16" name="Shape 14"/>
          <p:cNvSpPr/>
          <p:nvPr/>
        </p:nvSpPr>
        <p:spPr>
          <a:xfrm>
            <a:off x="5852160" y="2194560"/>
            <a:ext cx="2011680" cy="914400"/>
          </a:xfrm>
          <a:prstGeom prst="line">
            <a:avLst/>
          </a:prstGeom>
          <a:noFill/>
          <a:ln w="15875">
            <a:solidFill>
              <a:srgbClr val="55607A"/>
            </a:solidFill>
            <a:prstDash val="solid"/>
          </a:ln>
        </p:spPr>
      </p:sp>
      <p:sp>
        <p:nvSpPr>
          <p:cNvPr id="17" name="Text 15"/>
          <p:cNvSpPr/>
          <p:nvPr/>
        </p:nvSpPr>
        <p:spPr>
          <a:xfrm>
            <a:off x="6537960" y="2478024"/>
            <a:ext cx="640080" cy="256032"/>
          </a:xfrm>
          <a:prstGeom prst="rect">
            <a:avLst/>
          </a:prstGeom>
          <a:noFill/>
          <a:ln/>
        </p:spPr>
        <p:txBody>
          <a:bodyPr wrap="square" lIns="0" tIns="0" rIns="0" bIns="0" rtlCol="0" anchor="ctr"/>
          <a:lstStyle/>
          <a:p>
            <a:pPr algn="ctr" indent="0" marL="0">
              <a:buNone/>
            </a:pPr>
            <a:r>
              <a:rPr lang="en-US" sz="1250" i="1" dirty="0">
                <a:solidFill>
                  <a:srgbClr val="1F5AC4"/>
                </a:solidFill>
                <a:latin typeface="Calibri" pitchFamily="34" charset="0"/>
                <a:ea typeface="Calibri" pitchFamily="34" charset="-122"/>
                <a:cs typeface="Calibri" pitchFamily="34" charset="-120"/>
              </a:rPr>
              <a:t>d</a:t>
            </a:r>
            <a:endParaRPr lang="en-US" sz="1250" dirty="0"/>
          </a:p>
        </p:txBody>
      </p:sp>
      <p:sp>
        <p:nvSpPr>
          <p:cNvPr id="18" name="Shape 16"/>
          <p:cNvSpPr/>
          <p:nvPr/>
        </p:nvSpPr>
        <p:spPr>
          <a:xfrm rot="10800000">
            <a:off x="7662672" y="3136392"/>
            <a:ext cx="402336" cy="310896"/>
          </a:xfrm>
          <a:prstGeom prst="triangle">
            <a:avLst/>
          </a:prstGeom>
          <a:solidFill>
            <a:srgbClr val="F7DEDF"/>
          </a:solidFill>
          <a:ln w="19050">
            <a:solidFill>
              <a:srgbClr val="C1272D"/>
            </a:solidFill>
            <a:prstDash val="solid"/>
          </a:ln>
        </p:spPr>
      </p:sp>
      <p:sp>
        <p:nvSpPr>
          <p:cNvPr id="19" name="Shape 17"/>
          <p:cNvSpPr/>
          <p:nvPr/>
        </p:nvSpPr>
        <p:spPr>
          <a:xfrm flipH="1">
            <a:off x="6949440" y="3474720"/>
            <a:ext cx="914400" cy="960120"/>
          </a:xfrm>
          <a:prstGeom prst="line">
            <a:avLst/>
          </a:prstGeom>
          <a:noFill/>
          <a:ln w="15875">
            <a:solidFill>
              <a:srgbClr val="55607A"/>
            </a:solidFill>
            <a:prstDash val="solid"/>
          </a:ln>
        </p:spPr>
      </p:sp>
      <p:sp>
        <p:nvSpPr>
          <p:cNvPr id="20" name="Text 18"/>
          <p:cNvSpPr/>
          <p:nvPr/>
        </p:nvSpPr>
        <p:spPr>
          <a:xfrm>
            <a:off x="7086600" y="3781044"/>
            <a:ext cx="640080" cy="256032"/>
          </a:xfrm>
          <a:prstGeom prst="rect">
            <a:avLst/>
          </a:prstGeom>
          <a:noFill/>
          <a:ln/>
        </p:spPr>
        <p:txBody>
          <a:bodyPr wrap="square" lIns="0" tIns="0" rIns="0" bIns="0" rtlCol="0" anchor="ctr"/>
          <a:lstStyle/>
          <a:p>
            <a:pPr algn="ctr" indent="0" marL="0">
              <a:buNone/>
            </a:pPr>
            <a:r>
              <a:rPr lang="en-US" sz="1250" i="1" dirty="0">
                <a:solidFill>
                  <a:srgbClr val="C1272D"/>
                </a:solidFill>
                <a:latin typeface="Calibri" pitchFamily="34" charset="0"/>
                <a:ea typeface="Calibri" pitchFamily="34" charset="-122"/>
                <a:cs typeface="Calibri" pitchFamily="34" charset="-120"/>
              </a:rPr>
              <a:t>e</a:t>
            </a:r>
            <a:endParaRPr lang="en-US" sz="1250" dirty="0"/>
          </a:p>
        </p:txBody>
      </p:sp>
      <p:sp>
        <p:nvSpPr>
          <p:cNvPr id="21" name="Shape 19"/>
          <p:cNvSpPr/>
          <p:nvPr/>
        </p:nvSpPr>
        <p:spPr>
          <a:xfrm>
            <a:off x="6748272" y="4462272"/>
            <a:ext cx="402336" cy="310896"/>
          </a:xfrm>
          <a:prstGeom prst="roundRect">
            <a:avLst>
              <a:gd name="adj" fmla="val 14706"/>
            </a:avLst>
          </a:prstGeom>
          <a:solidFill>
            <a:srgbClr val="DCE3EE"/>
          </a:solidFill>
          <a:ln w="12700">
            <a:solidFill>
              <a:srgbClr val="55607A"/>
            </a:solidFill>
            <a:prstDash val="solid"/>
          </a:ln>
        </p:spPr>
      </p:sp>
      <p:sp>
        <p:nvSpPr>
          <p:cNvPr id="22" name="Text 20"/>
          <p:cNvSpPr/>
          <p:nvPr/>
        </p:nvSpPr>
        <p:spPr>
          <a:xfrm>
            <a:off x="6547104" y="4462272"/>
            <a:ext cx="804672" cy="310896"/>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4</a:t>
            </a:r>
            <a:endParaRPr lang="en-US" sz="1400" dirty="0"/>
          </a:p>
        </p:txBody>
      </p:sp>
      <p:sp>
        <p:nvSpPr>
          <p:cNvPr id="23" name="Shape 21"/>
          <p:cNvSpPr/>
          <p:nvPr/>
        </p:nvSpPr>
        <p:spPr>
          <a:xfrm>
            <a:off x="7863840" y="3474720"/>
            <a:ext cx="914400" cy="960120"/>
          </a:xfrm>
          <a:prstGeom prst="line">
            <a:avLst/>
          </a:prstGeom>
          <a:noFill/>
          <a:ln w="15875">
            <a:solidFill>
              <a:srgbClr val="55607A"/>
            </a:solidFill>
            <a:prstDash val="solid"/>
          </a:ln>
        </p:spPr>
      </p:sp>
      <p:sp>
        <p:nvSpPr>
          <p:cNvPr id="24" name="Text 22"/>
          <p:cNvSpPr/>
          <p:nvPr/>
        </p:nvSpPr>
        <p:spPr>
          <a:xfrm>
            <a:off x="8001000" y="3781044"/>
            <a:ext cx="640080" cy="256032"/>
          </a:xfrm>
          <a:prstGeom prst="rect">
            <a:avLst/>
          </a:prstGeom>
          <a:noFill/>
          <a:ln/>
        </p:spPr>
        <p:txBody>
          <a:bodyPr wrap="square" lIns="0" tIns="0" rIns="0" bIns="0" rtlCol="0" anchor="ctr"/>
          <a:lstStyle/>
          <a:p>
            <a:pPr algn="ctr" indent="0" marL="0">
              <a:buNone/>
            </a:pPr>
            <a:r>
              <a:rPr lang="en-US" sz="1250" i="1" dirty="0">
                <a:solidFill>
                  <a:srgbClr val="C1272D"/>
                </a:solidFill>
                <a:latin typeface="Calibri" pitchFamily="34" charset="0"/>
                <a:ea typeface="Calibri" pitchFamily="34" charset="-122"/>
                <a:cs typeface="Calibri" pitchFamily="34" charset="-120"/>
              </a:rPr>
              <a:t>f</a:t>
            </a:r>
            <a:endParaRPr lang="en-US" sz="1250" dirty="0"/>
          </a:p>
        </p:txBody>
      </p:sp>
      <p:sp>
        <p:nvSpPr>
          <p:cNvPr id="25" name="Shape 23"/>
          <p:cNvSpPr/>
          <p:nvPr/>
        </p:nvSpPr>
        <p:spPr>
          <a:xfrm>
            <a:off x="8577072" y="4462272"/>
            <a:ext cx="402336" cy="310896"/>
          </a:xfrm>
          <a:prstGeom prst="roundRect">
            <a:avLst>
              <a:gd name="adj" fmla="val 14706"/>
            </a:avLst>
          </a:prstGeom>
          <a:solidFill>
            <a:srgbClr val="DCE3EE"/>
          </a:solidFill>
          <a:ln w="12700">
            <a:solidFill>
              <a:srgbClr val="55607A"/>
            </a:solidFill>
            <a:prstDash val="solid"/>
          </a:ln>
        </p:spPr>
      </p:sp>
      <p:sp>
        <p:nvSpPr>
          <p:cNvPr id="26" name="Text 24"/>
          <p:cNvSpPr/>
          <p:nvPr/>
        </p:nvSpPr>
        <p:spPr>
          <a:xfrm>
            <a:off x="8375904" y="4462272"/>
            <a:ext cx="804672" cy="310896"/>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50</a:t>
            </a:r>
            <a:endParaRPr lang="en-US" sz="1400" dirty="0"/>
          </a:p>
        </p:txBody>
      </p:sp>
      <p:sp>
        <p:nvSpPr>
          <p:cNvPr id="27" name="Shape 25"/>
          <p:cNvSpPr/>
          <p:nvPr/>
        </p:nvSpPr>
        <p:spPr>
          <a:xfrm>
            <a:off x="640080" y="5074920"/>
            <a:ext cx="10881360" cy="1005840"/>
          </a:xfrm>
          <a:prstGeom prst="roundRect">
            <a:avLst>
              <a:gd name="adj" fmla="val 7273"/>
            </a:avLst>
          </a:prstGeom>
          <a:solidFill>
            <a:srgbClr val="FFFFFF"/>
          </a:solidFill>
          <a:ln w="12700">
            <a:solidFill>
              <a:srgbClr val="DCE3EE"/>
            </a:solidFill>
            <a:prstDash val="solid"/>
          </a:ln>
        </p:spPr>
      </p:sp>
      <p:sp>
        <p:nvSpPr>
          <p:cNvPr id="28" name="Text 26"/>
          <p:cNvSpPr/>
          <p:nvPr/>
        </p:nvSpPr>
        <p:spPr>
          <a:xfrm>
            <a:off x="841248" y="5239512"/>
            <a:ext cx="10479024" cy="676656"/>
          </a:xfrm>
          <a:prstGeom prst="rect">
            <a:avLst/>
          </a:prstGeom>
          <a:noFill/>
          <a:ln/>
        </p:spPr>
        <p:txBody>
          <a:bodyPr wrap="square" lIns="0" tIns="0" rIns="0" bIns="0" rtlCol="0" anchor="t"/>
          <a:lstStyle/>
          <a:p>
            <a:pPr indent="0" marL="0">
              <a:lnSpc>
                <a:spcPct val="108000"/>
              </a:lnSpc>
              <a:buNone/>
            </a:pPr>
            <a:r>
              <a:rPr lang="en-US" sz="1450" dirty="0">
                <a:solidFill>
                  <a:srgbClr val="1A1A1A"/>
                </a:solidFill>
                <a:latin typeface="Calibri" pitchFamily="34" charset="0"/>
                <a:ea typeface="Calibri" pitchFamily="34" charset="-122"/>
                <a:cs typeface="Calibri" pitchFamily="34" charset="-120"/>
              </a:rPr>
              <a:t>Evaluate children left to right. Give the value returned at the root, and list every leaf that alpha-beta never evaluates. Track alpha and beta as you go.</a:t>
            </a:r>
            <a:endParaRPr lang="en-US" sz="14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FF3F9"/>
        </a:solidFill>
      </p:bgPr>
    </p:bg>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ROOT VALUE 8, LEAF F PRUNED</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Exercise 2: Solution</a:t>
            </a:r>
            <a:endParaRPr lang="en-US" sz="2900" dirty="0"/>
          </a:p>
        </p:txBody>
      </p:sp>
      <p:sp>
        <p:nvSpPr>
          <p:cNvPr id="4" name="Shape 2"/>
          <p:cNvSpPr/>
          <p:nvPr/>
        </p:nvSpPr>
        <p:spPr>
          <a:xfrm>
            <a:off x="5650992" y="1856232"/>
            <a:ext cx="402336" cy="310896"/>
          </a:xfrm>
          <a:prstGeom prst="triangle">
            <a:avLst/>
          </a:prstGeom>
          <a:solidFill>
            <a:srgbClr val="DCE6FA"/>
          </a:solidFill>
          <a:ln w="19050">
            <a:solidFill>
              <a:srgbClr val="1F5AC4"/>
            </a:solidFill>
            <a:prstDash val="solid"/>
          </a:ln>
        </p:spPr>
      </p:sp>
      <p:sp>
        <p:nvSpPr>
          <p:cNvPr id="5" name="Text 3"/>
          <p:cNvSpPr/>
          <p:nvPr/>
        </p:nvSpPr>
        <p:spPr>
          <a:xfrm>
            <a:off x="5394960" y="1444752"/>
            <a:ext cx="914400" cy="292608"/>
          </a:xfrm>
          <a:prstGeom prst="rect">
            <a:avLst/>
          </a:prstGeom>
          <a:noFill/>
          <a:ln/>
        </p:spPr>
        <p:txBody>
          <a:bodyPr wrap="square" lIns="0" tIns="0" rIns="0" bIns="0" rtlCol="0" anchor="ctr"/>
          <a:lstStyle/>
          <a:p>
            <a:pPr algn="ctr" indent="0" marL="0">
              <a:buNone/>
            </a:pPr>
            <a:r>
              <a:rPr lang="en-US" sz="1400" b="1" dirty="0">
                <a:solidFill>
                  <a:srgbClr val="1F5AC4"/>
                </a:solidFill>
                <a:latin typeface="Calibri" pitchFamily="34" charset="0"/>
                <a:ea typeface="Calibri" pitchFamily="34" charset="-122"/>
                <a:cs typeface="Calibri" pitchFamily="34" charset="-120"/>
              </a:rPr>
              <a:t>8</a:t>
            </a:r>
            <a:endParaRPr lang="en-US" sz="1400" dirty="0"/>
          </a:p>
        </p:txBody>
      </p:sp>
      <p:sp>
        <p:nvSpPr>
          <p:cNvPr id="6" name="Shape 4"/>
          <p:cNvSpPr/>
          <p:nvPr/>
        </p:nvSpPr>
        <p:spPr>
          <a:xfrm flipH="1">
            <a:off x="3840480" y="2194560"/>
            <a:ext cx="2011680" cy="914400"/>
          </a:xfrm>
          <a:prstGeom prst="line">
            <a:avLst/>
          </a:prstGeom>
          <a:noFill/>
          <a:ln w="15875">
            <a:solidFill>
              <a:srgbClr val="55607A"/>
            </a:solidFill>
            <a:prstDash val="solid"/>
          </a:ln>
        </p:spPr>
      </p:sp>
      <p:sp>
        <p:nvSpPr>
          <p:cNvPr id="7" name="Text 5"/>
          <p:cNvSpPr/>
          <p:nvPr/>
        </p:nvSpPr>
        <p:spPr>
          <a:xfrm>
            <a:off x="4526280" y="2478024"/>
            <a:ext cx="640080" cy="256032"/>
          </a:xfrm>
          <a:prstGeom prst="rect">
            <a:avLst/>
          </a:prstGeom>
          <a:noFill/>
          <a:ln/>
        </p:spPr>
        <p:txBody>
          <a:bodyPr wrap="square" lIns="0" tIns="0" rIns="0" bIns="0" rtlCol="0" anchor="ctr"/>
          <a:lstStyle/>
          <a:p>
            <a:pPr algn="ctr" indent="0" marL="0">
              <a:buNone/>
            </a:pPr>
            <a:r>
              <a:rPr lang="en-US" sz="1250" i="1" dirty="0">
                <a:solidFill>
                  <a:srgbClr val="1F5AC4"/>
                </a:solidFill>
                <a:latin typeface="Calibri" pitchFamily="34" charset="0"/>
                <a:ea typeface="Calibri" pitchFamily="34" charset="-122"/>
                <a:cs typeface="Calibri" pitchFamily="34" charset="-120"/>
              </a:rPr>
              <a:t>a</a:t>
            </a:r>
            <a:endParaRPr lang="en-US" sz="1250" dirty="0"/>
          </a:p>
        </p:txBody>
      </p:sp>
      <p:sp>
        <p:nvSpPr>
          <p:cNvPr id="8" name="Shape 6"/>
          <p:cNvSpPr/>
          <p:nvPr/>
        </p:nvSpPr>
        <p:spPr>
          <a:xfrm rot="10800000">
            <a:off x="3639312" y="3136392"/>
            <a:ext cx="402336" cy="310896"/>
          </a:xfrm>
          <a:prstGeom prst="triangle">
            <a:avLst/>
          </a:prstGeom>
          <a:solidFill>
            <a:srgbClr val="F7DEDF"/>
          </a:solidFill>
          <a:ln w="19050">
            <a:solidFill>
              <a:srgbClr val="C1272D"/>
            </a:solidFill>
            <a:prstDash val="solid"/>
          </a:ln>
        </p:spPr>
      </p:sp>
      <p:sp>
        <p:nvSpPr>
          <p:cNvPr id="9" name="Text 7"/>
          <p:cNvSpPr/>
          <p:nvPr/>
        </p:nvSpPr>
        <p:spPr>
          <a:xfrm>
            <a:off x="3383280" y="2724912"/>
            <a:ext cx="914400" cy="292608"/>
          </a:xfrm>
          <a:prstGeom prst="rect">
            <a:avLst/>
          </a:prstGeom>
          <a:noFill/>
          <a:ln/>
        </p:spPr>
        <p:txBody>
          <a:bodyPr wrap="square" lIns="0" tIns="0" rIns="0" bIns="0" rtlCol="0" anchor="ctr"/>
          <a:lstStyle/>
          <a:p>
            <a:pPr algn="ctr" indent="0" marL="0">
              <a:buNone/>
            </a:pPr>
            <a:r>
              <a:rPr lang="en-US" sz="1400" b="1" dirty="0">
                <a:solidFill>
                  <a:srgbClr val="C1272D"/>
                </a:solidFill>
                <a:latin typeface="Calibri" pitchFamily="34" charset="0"/>
                <a:ea typeface="Calibri" pitchFamily="34" charset="-122"/>
                <a:cs typeface="Calibri" pitchFamily="34" charset="-120"/>
              </a:rPr>
              <a:t>8</a:t>
            </a:r>
            <a:endParaRPr lang="en-US" sz="1400" dirty="0"/>
          </a:p>
        </p:txBody>
      </p:sp>
      <p:sp>
        <p:nvSpPr>
          <p:cNvPr id="10" name="Shape 8"/>
          <p:cNvSpPr/>
          <p:nvPr/>
        </p:nvSpPr>
        <p:spPr>
          <a:xfrm flipH="1">
            <a:off x="2926080" y="3474720"/>
            <a:ext cx="914400" cy="960120"/>
          </a:xfrm>
          <a:prstGeom prst="line">
            <a:avLst/>
          </a:prstGeom>
          <a:noFill/>
          <a:ln w="15875">
            <a:solidFill>
              <a:srgbClr val="55607A"/>
            </a:solidFill>
            <a:prstDash val="solid"/>
          </a:ln>
        </p:spPr>
      </p:sp>
      <p:sp>
        <p:nvSpPr>
          <p:cNvPr id="11" name="Text 9"/>
          <p:cNvSpPr/>
          <p:nvPr/>
        </p:nvSpPr>
        <p:spPr>
          <a:xfrm>
            <a:off x="3063240" y="3781044"/>
            <a:ext cx="640080" cy="256032"/>
          </a:xfrm>
          <a:prstGeom prst="rect">
            <a:avLst/>
          </a:prstGeom>
          <a:noFill/>
          <a:ln/>
        </p:spPr>
        <p:txBody>
          <a:bodyPr wrap="square" lIns="0" tIns="0" rIns="0" bIns="0" rtlCol="0" anchor="ctr"/>
          <a:lstStyle/>
          <a:p>
            <a:pPr algn="ctr" indent="0" marL="0">
              <a:buNone/>
            </a:pPr>
            <a:r>
              <a:rPr lang="en-US" sz="1250" i="1" dirty="0">
                <a:solidFill>
                  <a:srgbClr val="C1272D"/>
                </a:solidFill>
                <a:latin typeface="Calibri" pitchFamily="34" charset="0"/>
                <a:ea typeface="Calibri" pitchFamily="34" charset="-122"/>
                <a:cs typeface="Calibri" pitchFamily="34" charset="-120"/>
              </a:rPr>
              <a:t>b</a:t>
            </a:r>
            <a:endParaRPr lang="en-US" sz="1250" dirty="0"/>
          </a:p>
        </p:txBody>
      </p:sp>
      <p:sp>
        <p:nvSpPr>
          <p:cNvPr id="12" name="Shape 10"/>
          <p:cNvSpPr/>
          <p:nvPr/>
        </p:nvSpPr>
        <p:spPr>
          <a:xfrm>
            <a:off x="2724912" y="4462272"/>
            <a:ext cx="402336" cy="310896"/>
          </a:xfrm>
          <a:prstGeom prst="roundRect">
            <a:avLst>
              <a:gd name="adj" fmla="val 14706"/>
            </a:avLst>
          </a:prstGeom>
          <a:solidFill>
            <a:srgbClr val="DCE3EE"/>
          </a:solidFill>
          <a:ln w="12700">
            <a:solidFill>
              <a:srgbClr val="55607A"/>
            </a:solidFill>
            <a:prstDash val="solid"/>
          </a:ln>
        </p:spPr>
      </p:sp>
      <p:sp>
        <p:nvSpPr>
          <p:cNvPr id="13" name="Text 11"/>
          <p:cNvSpPr/>
          <p:nvPr/>
        </p:nvSpPr>
        <p:spPr>
          <a:xfrm>
            <a:off x="2523744" y="4462272"/>
            <a:ext cx="804672" cy="310896"/>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10</a:t>
            </a:r>
            <a:endParaRPr lang="en-US" sz="1400" dirty="0"/>
          </a:p>
        </p:txBody>
      </p:sp>
      <p:sp>
        <p:nvSpPr>
          <p:cNvPr id="14" name="Shape 12"/>
          <p:cNvSpPr/>
          <p:nvPr/>
        </p:nvSpPr>
        <p:spPr>
          <a:xfrm>
            <a:off x="3840480" y="3474720"/>
            <a:ext cx="914400" cy="960120"/>
          </a:xfrm>
          <a:prstGeom prst="line">
            <a:avLst/>
          </a:prstGeom>
          <a:noFill/>
          <a:ln w="15875">
            <a:solidFill>
              <a:srgbClr val="55607A"/>
            </a:solidFill>
            <a:prstDash val="solid"/>
          </a:ln>
        </p:spPr>
      </p:sp>
      <p:sp>
        <p:nvSpPr>
          <p:cNvPr id="15" name="Text 13"/>
          <p:cNvSpPr/>
          <p:nvPr/>
        </p:nvSpPr>
        <p:spPr>
          <a:xfrm>
            <a:off x="3977640" y="3781044"/>
            <a:ext cx="640080" cy="256032"/>
          </a:xfrm>
          <a:prstGeom prst="rect">
            <a:avLst/>
          </a:prstGeom>
          <a:noFill/>
          <a:ln/>
        </p:spPr>
        <p:txBody>
          <a:bodyPr wrap="square" lIns="0" tIns="0" rIns="0" bIns="0" rtlCol="0" anchor="ctr"/>
          <a:lstStyle/>
          <a:p>
            <a:pPr algn="ctr" indent="0" marL="0">
              <a:buNone/>
            </a:pPr>
            <a:r>
              <a:rPr lang="en-US" sz="1250" i="1" dirty="0">
                <a:solidFill>
                  <a:srgbClr val="C1272D"/>
                </a:solidFill>
                <a:latin typeface="Calibri" pitchFamily="34" charset="0"/>
                <a:ea typeface="Calibri" pitchFamily="34" charset="-122"/>
                <a:cs typeface="Calibri" pitchFamily="34" charset="-120"/>
              </a:rPr>
              <a:t>c</a:t>
            </a:r>
            <a:endParaRPr lang="en-US" sz="1250" dirty="0"/>
          </a:p>
        </p:txBody>
      </p:sp>
      <p:sp>
        <p:nvSpPr>
          <p:cNvPr id="16" name="Shape 14"/>
          <p:cNvSpPr/>
          <p:nvPr/>
        </p:nvSpPr>
        <p:spPr>
          <a:xfrm>
            <a:off x="4553712" y="4462272"/>
            <a:ext cx="402336" cy="310896"/>
          </a:xfrm>
          <a:prstGeom prst="roundRect">
            <a:avLst>
              <a:gd name="adj" fmla="val 14706"/>
            </a:avLst>
          </a:prstGeom>
          <a:solidFill>
            <a:srgbClr val="DCE3EE"/>
          </a:solidFill>
          <a:ln w="12700">
            <a:solidFill>
              <a:srgbClr val="55607A"/>
            </a:solidFill>
            <a:prstDash val="solid"/>
          </a:ln>
        </p:spPr>
      </p:sp>
      <p:sp>
        <p:nvSpPr>
          <p:cNvPr id="17" name="Text 15"/>
          <p:cNvSpPr/>
          <p:nvPr/>
        </p:nvSpPr>
        <p:spPr>
          <a:xfrm>
            <a:off x="4352544" y="4462272"/>
            <a:ext cx="804672" cy="310896"/>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8</a:t>
            </a:r>
            <a:endParaRPr lang="en-US" sz="1400" dirty="0"/>
          </a:p>
        </p:txBody>
      </p:sp>
      <p:sp>
        <p:nvSpPr>
          <p:cNvPr id="18" name="Shape 16"/>
          <p:cNvSpPr/>
          <p:nvPr/>
        </p:nvSpPr>
        <p:spPr>
          <a:xfrm>
            <a:off x="5852160" y="2194560"/>
            <a:ext cx="2011680" cy="914400"/>
          </a:xfrm>
          <a:prstGeom prst="line">
            <a:avLst/>
          </a:prstGeom>
          <a:noFill/>
          <a:ln w="15875">
            <a:solidFill>
              <a:srgbClr val="55607A"/>
            </a:solidFill>
            <a:prstDash val="solid"/>
          </a:ln>
        </p:spPr>
      </p:sp>
      <p:sp>
        <p:nvSpPr>
          <p:cNvPr id="19" name="Text 17"/>
          <p:cNvSpPr/>
          <p:nvPr/>
        </p:nvSpPr>
        <p:spPr>
          <a:xfrm>
            <a:off x="6537960" y="2478024"/>
            <a:ext cx="640080" cy="256032"/>
          </a:xfrm>
          <a:prstGeom prst="rect">
            <a:avLst/>
          </a:prstGeom>
          <a:noFill/>
          <a:ln/>
        </p:spPr>
        <p:txBody>
          <a:bodyPr wrap="square" lIns="0" tIns="0" rIns="0" bIns="0" rtlCol="0" anchor="ctr"/>
          <a:lstStyle/>
          <a:p>
            <a:pPr algn="ctr" indent="0" marL="0">
              <a:buNone/>
            </a:pPr>
            <a:r>
              <a:rPr lang="en-US" sz="1250" i="1" dirty="0">
                <a:solidFill>
                  <a:srgbClr val="1F5AC4"/>
                </a:solidFill>
                <a:latin typeface="Calibri" pitchFamily="34" charset="0"/>
                <a:ea typeface="Calibri" pitchFamily="34" charset="-122"/>
                <a:cs typeface="Calibri" pitchFamily="34" charset="-120"/>
              </a:rPr>
              <a:t>d</a:t>
            </a:r>
            <a:endParaRPr lang="en-US" sz="1250" dirty="0"/>
          </a:p>
        </p:txBody>
      </p:sp>
      <p:sp>
        <p:nvSpPr>
          <p:cNvPr id="20" name="Shape 18"/>
          <p:cNvSpPr/>
          <p:nvPr/>
        </p:nvSpPr>
        <p:spPr>
          <a:xfrm rot="10800000">
            <a:off x="7662672" y="3136392"/>
            <a:ext cx="402336" cy="310896"/>
          </a:xfrm>
          <a:prstGeom prst="triangle">
            <a:avLst/>
          </a:prstGeom>
          <a:solidFill>
            <a:srgbClr val="F7DEDF"/>
          </a:solidFill>
          <a:ln w="19050">
            <a:solidFill>
              <a:srgbClr val="C1272D"/>
            </a:solidFill>
            <a:prstDash val="solid"/>
          </a:ln>
        </p:spPr>
      </p:sp>
      <p:sp>
        <p:nvSpPr>
          <p:cNvPr id="21" name="Text 19"/>
          <p:cNvSpPr/>
          <p:nvPr/>
        </p:nvSpPr>
        <p:spPr>
          <a:xfrm>
            <a:off x="7406640" y="2724912"/>
            <a:ext cx="914400" cy="292608"/>
          </a:xfrm>
          <a:prstGeom prst="rect">
            <a:avLst/>
          </a:prstGeom>
          <a:noFill/>
          <a:ln/>
        </p:spPr>
        <p:txBody>
          <a:bodyPr wrap="square" lIns="0" tIns="0" rIns="0" bIns="0" rtlCol="0" anchor="ctr"/>
          <a:lstStyle/>
          <a:p>
            <a:pPr algn="ctr" indent="0" marL="0">
              <a:buNone/>
            </a:pPr>
            <a:r>
              <a:rPr lang="en-US" sz="1400" b="1" dirty="0">
                <a:solidFill>
                  <a:srgbClr val="C1272D"/>
                </a:solidFill>
                <a:latin typeface="Calibri" pitchFamily="34" charset="0"/>
                <a:ea typeface="Calibri" pitchFamily="34" charset="-122"/>
                <a:cs typeface="Calibri" pitchFamily="34" charset="-120"/>
              </a:rPr>
              <a:t>&lt;= 4</a:t>
            </a:r>
            <a:endParaRPr lang="en-US" sz="1400" dirty="0"/>
          </a:p>
        </p:txBody>
      </p:sp>
      <p:sp>
        <p:nvSpPr>
          <p:cNvPr id="22" name="Shape 20"/>
          <p:cNvSpPr/>
          <p:nvPr/>
        </p:nvSpPr>
        <p:spPr>
          <a:xfrm flipH="1">
            <a:off x="6949440" y="3474720"/>
            <a:ext cx="914400" cy="960120"/>
          </a:xfrm>
          <a:prstGeom prst="line">
            <a:avLst/>
          </a:prstGeom>
          <a:noFill/>
          <a:ln w="15875">
            <a:solidFill>
              <a:srgbClr val="55607A"/>
            </a:solidFill>
            <a:prstDash val="solid"/>
          </a:ln>
        </p:spPr>
      </p:sp>
      <p:sp>
        <p:nvSpPr>
          <p:cNvPr id="23" name="Text 21"/>
          <p:cNvSpPr/>
          <p:nvPr/>
        </p:nvSpPr>
        <p:spPr>
          <a:xfrm>
            <a:off x="7086600" y="3781044"/>
            <a:ext cx="640080" cy="256032"/>
          </a:xfrm>
          <a:prstGeom prst="rect">
            <a:avLst/>
          </a:prstGeom>
          <a:noFill/>
          <a:ln/>
        </p:spPr>
        <p:txBody>
          <a:bodyPr wrap="square" lIns="0" tIns="0" rIns="0" bIns="0" rtlCol="0" anchor="ctr"/>
          <a:lstStyle/>
          <a:p>
            <a:pPr algn="ctr" indent="0" marL="0">
              <a:buNone/>
            </a:pPr>
            <a:r>
              <a:rPr lang="en-US" sz="1250" i="1" dirty="0">
                <a:solidFill>
                  <a:srgbClr val="C1272D"/>
                </a:solidFill>
                <a:latin typeface="Calibri" pitchFamily="34" charset="0"/>
                <a:ea typeface="Calibri" pitchFamily="34" charset="-122"/>
                <a:cs typeface="Calibri" pitchFamily="34" charset="-120"/>
              </a:rPr>
              <a:t>e</a:t>
            </a:r>
            <a:endParaRPr lang="en-US" sz="1250" dirty="0"/>
          </a:p>
        </p:txBody>
      </p:sp>
      <p:sp>
        <p:nvSpPr>
          <p:cNvPr id="24" name="Shape 22"/>
          <p:cNvSpPr/>
          <p:nvPr/>
        </p:nvSpPr>
        <p:spPr>
          <a:xfrm>
            <a:off x="6748272" y="4462272"/>
            <a:ext cx="402336" cy="310896"/>
          </a:xfrm>
          <a:prstGeom prst="roundRect">
            <a:avLst>
              <a:gd name="adj" fmla="val 14706"/>
            </a:avLst>
          </a:prstGeom>
          <a:solidFill>
            <a:srgbClr val="DCE3EE"/>
          </a:solidFill>
          <a:ln w="12700">
            <a:solidFill>
              <a:srgbClr val="55607A"/>
            </a:solidFill>
            <a:prstDash val="solid"/>
          </a:ln>
        </p:spPr>
      </p:sp>
      <p:sp>
        <p:nvSpPr>
          <p:cNvPr id="25" name="Text 23"/>
          <p:cNvSpPr/>
          <p:nvPr/>
        </p:nvSpPr>
        <p:spPr>
          <a:xfrm>
            <a:off x="6547104" y="4462272"/>
            <a:ext cx="804672" cy="310896"/>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4</a:t>
            </a:r>
            <a:endParaRPr lang="en-US" sz="1400" dirty="0"/>
          </a:p>
        </p:txBody>
      </p:sp>
      <p:sp>
        <p:nvSpPr>
          <p:cNvPr id="26" name="Shape 24"/>
          <p:cNvSpPr/>
          <p:nvPr/>
        </p:nvSpPr>
        <p:spPr>
          <a:xfrm>
            <a:off x="7863840" y="3474720"/>
            <a:ext cx="914400" cy="960120"/>
          </a:xfrm>
          <a:prstGeom prst="line">
            <a:avLst/>
          </a:prstGeom>
          <a:noFill/>
          <a:ln w="15875">
            <a:solidFill>
              <a:srgbClr val="DCE3EE"/>
            </a:solidFill>
            <a:prstDash val="dash"/>
          </a:ln>
        </p:spPr>
      </p:sp>
      <p:sp>
        <p:nvSpPr>
          <p:cNvPr id="27" name="Text 25"/>
          <p:cNvSpPr/>
          <p:nvPr/>
        </p:nvSpPr>
        <p:spPr>
          <a:xfrm>
            <a:off x="8001000" y="3781044"/>
            <a:ext cx="640080" cy="256032"/>
          </a:xfrm>
          <a:prstGeom prst="rect">
            <a:avLst/>
          </a:prstGeom>
          <a:noFill/>
          <a:ln/>
        </p:spPr>
        <p:txBody>
          <a:bodyPr wrap="square" lIns="0" tIns="0" rIns="0" bIns="0" rtlCol="0" anchor="ctr"/>
          <a:lstStyle/>
          <a:p>
            <a:pPr algn="ctr" indent="0" marL="0">
              <a:buNone/>
            </a:pPr>
            <a:r>
              <a:rPr lang="en-US" sz="1250" i="1" dirty="0">
                <a:solidFill>
                  <a:srgbClr val="DCE3EE"/>
                </a:solidFill>
                <a:latin typeface="Calibri" pitchFamily="34" charset="0"/>
                <a:ea typeface="Calibri" pitchFamily="34" charset="-122"/>
                <a:cs typeface="Calibri" pitchFamily="34" charset="-120"/>
              </a:rPr>
              <a:t>f</a:t>
            </a:r>
            <a:endParaRPr lang="en-US" sz="1250" dirty="0"/>
          </a:p>
        </p:txBody>
      </p:sp>
      <p:sp>
        <p:nvSpPr>
          <p:cNvPr id="28" name="Shape 26"/>
          <p:cNvSpPr/>
          <p:nvPr/>
        </p:nvSpPr>
        <p:spPr>
          <a:xfrm>
            <a:off x="8577072" y="4462272"/>
            <a:ext cx="402336" cy="310896"/>
          </a:xfrm>
          <a:prstGeom prst="roundRect">
            <a:avLst>
              <a:gd name="adj" fmla="val 14706"/>
            </a:avLst>
          </a:prstGeom>
          <a:solidFill>
            <a:srgbClr val="FFFFFF"/>
          </a:solidFill>
          <a:ln w="12700">
            <a:solidFill>
              <a:srgbClr val="C1272D"/>
            </a:solidFill>
            <a:prstDash val="solid"/>
          </a:ln>
        </p:spPr>
      </p:sp>
      <p:sp>
        <p:nvSpPr>
          <p:cNvPr id="29" name="Text 27"/>
          <p:cNvSpPr/>
          <p:nvPr/>
        </p:nvSpPr>
        <p:spPr>
          <a:xfrm>
            <a:off x="8375904" y="4462272"/>
            <a:ext cx="804672" cy="310896"/>
          </a:xfrm>
          <a:prstGeom prst="rect">
            <a:avLst/>
          </a:prstGeom>
          <a:noFill/>
          <a:ln/>
        </p:spPr>
        <p:txBody>
          <a:bodyPr wrap="square" lIns="0" tIns="0" rIns="0" bIns="0" rtlCol="0" anchor="ctr"/>
          <a:lstStyle/>
          <a:p>
            <a:pPr algn="ctr" indent="0" marL="0">
              <a:buNone/>
            </a:pPr>
            <a:r>
              <a:rPr lang="en-US" sz="1400" b="1" dirty="0">
                <a:solidFill>
                  <a:srgbClr val="C1272D"/>
                </a:solidFill>
                <a:latin typeface="Calibri" pitchFamily="34" charset="0"/>
                <a:ea typeface="Calibri" pitchFamily="34" charset="-122"/>
                <a:cs typeface="Calibri" pitchFamily="34" charset="-120"/>
              </a:rPr>
              <a:t>50</a:t>
            </a:r>
            <a:endParaRPr lang="en-US" sz="1400" dirty="0"/>
          </a:p>
        </p:txBody>
      </p:sp>
      <p:sp>
        <p:nvSpPr>
          <p:cNvPr id="30" name="Text 28"/>
          <p:cNvSpPr/>
          <p:nvPr/>
        </p:nvSpPr>
        <p:spPr>
          <a:xfrm>
            <a:off x="640080" y="5029200"/>
            <a:ext cx="10881360" cy="45720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Left MIN node: b = 10 sets v = 10 and beta = 10; c = 8 lowers v to 8. Returns 8. Root sets alpha = 8.</a:t>
            </a:r>
            <a:endParaRPr lang="en-US" sz="1400" dirty="0"/>
          </a:p>
          <a:p>
            <a:pPr marL="203200" indent="-203200">
              <a:spcAft>
                <a:spcPts val="400"/>
              </a:spcAft>
              <a:buSzPct val="100000"/>
              <a:buChar char="•"/>
            </a:pPr>
            <a:r>
              <a:rPr lang="en-US" sz="1400" b="1" dirty="0">
                <a:solidFill>
                  <a:srgbClr val="1A1A1A"/>
                </a:solidFill>
                <a:latin typeface="Calibri" pitchFamily="34" charset="0"/>
                <a:ea typeface="Calibri" pitchFamily="34" charset="-122"/>
                <a:cs typeface="Calibri" pitchFamily="34" charset="-120"/>
              </a:rPr>
              <a:t>Right MIN node inherits alpha = 8. Leaf e = 4 gives v = 4, and 4 &lt;= alpha, so it returns immediately.</a:t>
            </a:r>
            <a:endParaRPr lang="en-US" sz="1400" dirty="0"/>
          </a:p>
          <a:p>
            <a:pPr marL="203200" indent="-2032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Leaf f is never evaluated, and its value of 50 is irrelevant: MIN would never hand MAX the 50 when it can give 4.</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FF3F9"/>
        </a:solidFill>
      </p:bgPr>
    </p:bg>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LEFT TO RIGHT  ·  4 MINUTES</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Exercise 3: A Three-Ply Tree</a:t>
            </a:r>
            <a:endParaRPr lang="en-US" sz="2900" dirty="0"/>
          </a:p>
        </p:txBody>
      </p:sp>
      <p:sp>
        <p:nvSpPr>
          <p:cNvPr id="4" name="Shape 2"/>
          <p:cNvSpPr/>
          <p:nvPr/>
        </p:nvSpPr>
        <p:spPr>
          <a:xfrm>
            <a:off x="5650992" y="1536192"/>
            <a:ext cx="402336" cy="310896"/>
          </a:xfrm>
          <a:prstGeom prst="triangle">
            <a:avLst/>
          </a:prstGeom>
          <a:solidFill>
            <a:srgbClr val="DCE6FA"/>
          </a:solidFill>
          <a:ln w="19050">
            <a:solidFill>
              <a:srgbClr val="1F5AC4"/>
            </a:solidFill>
            <a:prstDash val="solid"/>
          </a:ln>
        </p:spPr>
      </p:sp>
      <p:sp>
        <p:nvSpPr>
          <p:cNvPr id="5" name="Shape 3"/>
          <p:cNvSpPr/>
          <p:nvPr/>
        </p:nvSpPr>
        <p:spPr>
          <a:xfrm flipH="1">
            <a:off x="3108960" y="1874520"/>
            <a:ext cx="2743200" cy="731520"/>
          </a:xfrm>
          <a:prstGeom prst="line">
            <a:avLst/>
          </a:prstGeom>
          <a:noFill/>
          <a:ln w="15875">
            <a:solidFill>
              <a:srgbClr val="55607A"/>
            </a:solidFill>
            <a:prstDash val="solid"/>
          </a:ln>
        </p:spPr>
      </p:sp>
      <p:sp>
        <p:nvSpPr>
          <p:cNvPr id="6" name="Text 4"/>
          <p:cNvSpPr/>
          <p:nvPr/>
        </p:nvSpPr>
        <p:spPr>
          <a:xfrm>
            <a:off x="4160520" y="2066544"/>
            <a:ext cx="640080" cy="256032"/>
          </a:xfrm>
          <a:prstGeom prst="rect">
            <a:avLst/>
          </a:prstGeom>
          <a:noFill/>
          <a:ln/>
        </p:spPr>
        <p:txBody>
          <a:bodyPr wrap="square" lIns="0" tIns="0" rIns="0" bIns="0" rtlCol="0" anchor="ctr"/>
          <a:lstStyle/>
          <a:p>
            <a:pPr algn="ctr" indent="0" marL="0">
              <a:buNone/>
            </a:pPr>
            <a:r>
              <a:rPr lang="en-US" sz="1200" i="1" dirty="0">
                <a:solidFill>
                  <a:srgbClr val="1F5AC4"/>
                </a:solidFill>
                <a:latin typeface="Calibri" pitchFamily="34" charset="0"/>
                <a:ea typeface="Calibri" pitchFamily="34" charset="-122"/>
                <a:cs typeface="Calibri" pitchFamily="34" charset="-120"/>
              </a:rPr>
              <a:t>a</a:t>
            </a:r>
            <a:endParaRPr lang="en-US" sz="1200" dirty="0"/>
          </a:p>
        </p:txBody>
      </p:sp>
      <p:sp>
        <p:nvSpPr>
          <p:cNvPr id="7" name="Shape 5"/>
          <p:cNvSpPr/>
          <p:nvPr/>
        </p:nvSpPr>
        <p:spPr>
          <a:xfrm rot="10800000">
            <a:off x="2907792" y="2633472"/>
            <a:ext cx="402336" cy="310896"/>
          </a:xfrm>
          <a:prstGeom prst="triangle">
            <a:avLst/>
          </a:prstGeom>
          <a:solidFill>
            <a:srgbClr val="F7DEDF"/>
          </a:solidFill>
          <a:ln w="19050">
            <a:solidFill>
              <a:srgbClr val="C1272D"/>
            </a:solidFill>
            <a:prstDash val="solid"/>
          </a:ln>
        </p:spPr>
      </p:sp>
      <p:sp>
        <p:nvSpPr>
          <p:cNvPr id="8" name="Shape 6"/>
          <p:cNvSpPr/>
          <p:nvPr/>
        </p:nvSpPr>
        <p:spPr>
          <a:xfrm flipH="1">
            <a:off x="1828800" y="2971800"/>
            <a:ext cx="1280160" cy="685800"/>
          </a:xfrm>
          <a:prstGeom prst="line">
            <a:avLst/>
          </a:prstGeom>
          <a:noFill/>
          <a:ln w="15875">
            <a:solidFill>
              <a:srgbClr val="55607A"/>
            </a:solidFill>
            <a:prstDash val="solid"/>
          </a:ln>
        </p:spPr>
      </p:sp>
      <p:sp>
        <p:nvSpPr>
          <p:cNvPr id="9" name="Text 7"/>
          <p:cNvSpPr/>
          <p:nvPr/>
        </p:nvSpPr>
        <p:spPr>
          <a:xfrm>
            <a:off x="2148840" y="3150108"/>
            <a:ext cx="640080" cy="256032"/>
          </a:xfrm>
          <a:prstGeom prst="rect">
            <a:avLst/>
          </a:prstGeom>
          <a:noFill/>
          <a:ln/>
        </p:spPr>
        <p:txBody>
          <a:bodyPr wrap="square" lIns="0" tIns="0" rIns="0" bIns="0" rtlCol="0" anchor="ctr"/>
          <a:lstStyle/>
          <a:p>
            <a:pPr algn="ctr" indent="0" marL="0">
              <a:buNone/>
            </a:pPr>
            <a:r>
              <a:rPr lang="en-US" sz="1200" i="1" dirty="0">
                <a:solidFill>
                  <a:srgbClr val="C1272D"/>
                </a:solidFill>
                <a:latin typeface="Calibri" pitchFamily="34" charset="0"/>
                <a:ea typeface="Calibri" pitchFamily="34" charset="-122"/>
                <a:cs typeface="Calibri" pitchFamily="34" charset="-120"/>
              </a:rPr>
              <a:t>b</a:t>
            </a:r>
            <a:endParaRPr lang="en-US" sz="1200" dirty="0"/>
          </a:p>
        </p:txBody>
      </p:sp>
      <p:sp>
        <p:nvSpPr>
          <p:cNvPr id="10" name="Shape 8"/>
          <p:cNvSpPr/>
          <p:nvPr/>
        </p:nvSpPr>
        <p:spPr>
          <a:xfrm>
            <a:off x="1627632" y="3685032"/>
            <a:ext cx="402336" cy="310896"/>
          </a:xfrm>
          <a:prstGeom prst="triangle">
            <a:avLst/>
          </a:prstGeom>
          <a:solidFill>
            <a:srgbClr val="DCE6FA"/>
          </a:solidFill>
          <a:ln w="19050">
            <a:solidFill>
              <a:srgbClr val="1F5AC4"/>
            </a:solidFill>
            <a:prstDash val="solid"/>
          </a:ln>
        </p:spPr>
      </p:sp>
      <p:sp>
        <p:nvSpPr>
          <p:cNvPr id="11" name="Shape 9"/>
          <p:cNvSpPr/>
          <p:nvPr/>
        </p:nvSpPr>
        <p:spPr>
          <a:xfrm flipH="1">
            <a:off x="1280160" y="4023360"/>
            <a:ext cx="548640" cy="731520"/>
          </a:xfrm>
          <a:prstGeom prst="line">
            <a:avLst/>
          </a:prstGeom>
          <a:noFill/>
          <a:ln w="15875">
            <a:solidFill>
              <a:srgbClr val="55607A"/>
            </a:solidFill>
            <a:prstDash val="solid"/>
          </a:ln>
        </p:spPr>
      </p:sp>
      <p:sp>
        <p:nvSpPr>
          <p:cNvPr id="12" name="Text 10"/>
          <p:cNvSpPr/>
          <p:nvPr/>
        </p:nvSpPr>
        <p:spPr>
          <a:xfrm>
            <a:off x="1234440" y="4233672"/>
            <a:ext cx="640080" cy="256032"/>
          </a:xfrm>
          <a:prstGeom prst="rect">
            <a:avLst/>
          </a:prstGeom>
          <a:noFill/>
          <a:ln/>
        </p:spPr>
        <p:txBody>
          <a:bodyPr wrap="square" lIns="0" tIns="0" rIns="0" bIns="0" rtlCol="0" anchor="ctr"/>
          <a:lstStyle/>
          <a:p>
            <a:pPr algn="ctr" indent="0" marL="0">
              <a:buNone/>
            </a:pPr>
            <a:r>
              <a:rPr lang="en-US" sz="1100" i="1" dirty="0">
                <a:solidFill>
                  <a:srgbClr val="55607A"/>
                </a:solidFill>
                <a:latin typeface="Calibri" pitchFamily="34" charset="0"/>
                <a:ea typeface="Calibri" pitchFamily="34" charset="-122"/>
                <a:cs typeface="Calibri" pitchFamily="34" charset="-120"/>
              </a:rPr>
              <a:t>c</a:t>
            </a:r>
            <a:endParaRPr lang="en-US" sz="1100" dirty="0"/>
          </a:p>
        </p:txBody>
      </p:sp>
      <p:sp>
        <p:nvSpPr>
          <p:cNvPr id="13" name="Shape 11"/>
          <p:cNvSpPr/>
          <p:nvPr/>
        </p:nvSpPr>
        <p:spPr>
          <a:xfrm>
            <a:off x="1078992" y="4782312"/>
            <a:ext cx="402336" cy="310896"/>
          </a:xfrm>
          <a:prstGeom prst="roundRect">
            <a:avLst>
              <a:gd name="adj" fmla="val 14706"/>
            </a:avLst>
          </a:prstGeom>
          <a:solidFill>
            <a:srgbClr val="DCE3EE"/>
          </a:solidFill>
          <a:ln w="12700">
            <a:solidFill>
              <a:srgbClr val="55607A"/>
            </a:solidFill>
            <a:prstDash val="solid"/>
          </a:ln>
        </p:spPr>
      </p:sp>
      <p:sp>
        <p:nvSpPr>
          <p:cNvPr id="14" name="Text 12"/>
          <p:cNvSpPr/>
          <p:nvPr/>
        </p:nvSpPr>
        <p:spPr>
          <a:xfrm>
            <a:off x="877824" y="4782312"/>
            <a:ext cx="804672" cy="310896"/>
          </a:xfrm>
          <a:prstGeom prst="rect">
            <a:avLst/>
          </a:prstGeom>
          <a:noFill/>
          <a:ln/>
        </p:spPr>
        <p:txBody>
          <a:bodyPr wrap="square" lIns="0" tIns="0" rIns="0" bIns="0"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10</a:t>
            </a:r>
            <a:endParaRPr lang="en-US" sz="1300" dirty="0"/>
          </a:p>
        </p:txBody>
      </p:sp>
      <p:sp>
        <p:nvSpPr>
          <p:cNvPr id="15" name="Shape 13"/>
          <p:cNvSpPr/>
          <p:nvPr/>
        </p:nvSpPr>
        <p:spPr>
          <a:xfrm>
            <a:off x="1828800" y="4023360"/>
            <a:ext cx="548640" cy="731520"/>
          </a:xfrm>
          <a:prstGeom prst="line">
            <a:avLst/>
          </a:prstGeom>
          <a:noFill/>
          <a:ln w="15875">
            <a:solidFill>
              <a:srgbClr val="55607A"/>
            </a:solidFill>
            <a:prstDash val="solid"/>
          </a:ln>
        </p:spPr>
      </p:sp>
      <p:sp>
        <p:nvSpPr>
          <p:cNvPr id="16" name="Text 14"/>
          <p:cNvSpPr/>
          <p:nvPr/>
        </p:nvSpPr>
        <p:spPr>
          <a:xfrm>
            <a:off x="1783080" y="4233672"/>
            <a:ext cx="640080" cy="256032"/>
          </a:xfrm>
          <a:prstGeom prst="rect">
            <a:avLst/>
          </a:prstGeom>
          <a:noFill/>
          <a:ln/>
        </p:spPr>
        <p:txBody>
          <a:bodyPr wrap="square" lIns="0" tIns="0" rIns="0" bIns="0" rtlCol="0" anchor="ctr"/>
          <a:lstStyle/>
          <a:p>
            <a:pPr algn="ctr" indent="0" marL="0">
              <a:buNone/>
            </a:pPr>
            <a:r>
              <a:rPr lang="en-US" sz="1100" i="1" dirty="0">
                <a:solidFill>
                  <a:srgbClr val="55607A"/>
                </a:solidFill>
                <a:latin typeface="Calibri" pitchFamily="34" charset="0"/>
                <a:ea typeface="Calibri" pitchFamily="34" charset="-122"/>
                <a:cs typeface="Calibri" pitchFamily="34" charset="-120"/>
              </a:rPr>
              <a:t>d</a:t>
            </a:r>
            <a:endParaRPr lang="en-US" sz="1100" dirty="0"/>
          </a:p>
        </p:txBody>
      </p:sp>
      <p:sp>
        <p:nvSpPr>
          <p:cNvPr id="17" name="Shape 15"/>
          <p:cNvSpPr/>
          <p:nvPr/>
        </p:nvSpPr>
        <p:spPr>
          <a:xfrm>
            <a:off x="2176272" y="4782312"/>
            <a:ext cx="402336" cy="310896"/>
          </a:xfrm>
          <a:prstGeom prst="roundRect">
            <a:avLst>
              <a:gd name="adj" fmla="val 14706"/>
            </a:avLst>
          </a:prstGeom>
          <a:solidFill>
            <a:srgbClr val="DCE3EE"/>
          </a:solidFill>
          <a:ln w="12700">
            <a:solidFill>
              <a:srgbClr val="55607A"/>
            </a:solidFill>
            <a:prstDash val="solid"/>
          </a:ln>
        </p:spPr>
      </p:sp>
      <p:sp>
        <p:nvSpPr>
          <p:cNvPr id="18" name="Text 16"/>
          <p:cNvSpPr/>
          <p:nvPr/>
        </p:nvSpPr>
        <p:spPr>
          <a:xfrm>
            <a:off x="1975104" y="4782312"/>
            <a:ext cx="804672" cy="310896"/>
          </a:xfrm>
          <a:prstGeom prst="rect">
            <a:avLst/>
          </a:prstGeom>
          <a:noFill/>
          <a:ln/>
        </p:spPr>
        <p:txBody>
          <a:bodyPr wrap="square" lIns="0" tIns="0" rIns="0" bIns="0"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6</a:t>
            </a:r>
            <a:endParaRPr lang="en-US" sz="1300" dirty="0"/>
          </a:p>
        </p:txBody>
      </p:sp>
      <p:sp>
        <p:nvSpPr>
          <p:cNvPr id="19" name="Shape 17"/>
          <p:cNvSpPr/>
          <p:nvPr/>
        </p:nvSpPr>
        <p:spPr>
          <a:xfrm>
            <a:off x="3108960" y="2971800"/>
            <a:ext cx="1280160" cy="685800"/>
          </a:xfrm>
          <a:prstGeom prst="line">
            <a:avLst/>
          </a:prstGeom>
          <a:noFill/>
          <a:ln w="15875">
            <a:solidFill>
              <a:srgbClr val="55607A"/>
            </a:solidFill>
            <a:prstDash val="solid"/>
          </a:ln>
        </p:spPr>
      </p:sp>
      <p:sp>
        <p:nvSpPr>
          <p:cNvPr id="20" name="Text 18"/>
          <p:cNvSpPr/>
          <p:nvPr/>
        </p:nvSpPr>
        <p:spPr>
          <a:xfrm>
            <a:off x="3429000" y="3150108"/>
            <a:ext cx="640080" cy="256032"/>
          </a:xfrm>
          <a:prstGeom prst="rect">
            <a:avLst/>
          </a:prstGeom>
          <a:noFill/>
          <a:ln/>
        </p:spPr>
        <p:txBody>
          <a:bodyPr wrap="square" lIns="0" tIns="0" rIns="0" bIns="0" rtlCol="0" anchor="ctr"/>
          <a:lstStyle/>
          <a:p>
            <a:pPr algn="ctr" indent="0" marL="0">
              <a:buNone/>
            </a:pPr>
            <a:r>
              <a:rPr lang="en-US" sz="1200" i="1" dirty="0">
                <a:solidFill>
                  <a:srgbClr val="C1272D"/>
                </a:solidFill>
                <a:latin typeface="Calibri" pitchFamily="34" charset="0"/>
                <a:ea typeface="Calibri" pitchFamily="34" charset="-122"/>
                <a:cs typeface="Calibri" pitchFamily="34" charset="-120"/>
              </a:rPr>
              <a:t>e</a:t>
            </a:r>
            <a:endParaRPr lang="en-US" sz="1200" dirty="0"/>
          </a:p>
        </p:txBody>
      </p:sp>
      <p:sp>
        <p:nvSpPr>
          <p:cNvPr id="21" name="Shape 19"/>
          <p:cNvSpPr/>
          <p:nvPr/>
        </p:nvSpPr>
        <p:spPr>
          <a:xfrm>
            <a:off x="4187952" y="3685032"/>
            <a:ext cx="402336" cy="310896"/>
          </a:xfrm>
          <a:prstGeom prst="triangle">
            <a:avLst/>
          </a:prstGeom>
          <a:solidFill>
            <a:srgbClr val="DCE6FA"/>
          </a:solidFill>
          <a:ln w="19050">
            <a:solidFill>
              <a:srgbClr val="1F5AC4"/>
            </a:solidFill>
            <a:prstDash val="solid"/>
          </a:ln>
        </p:spPr>
      </p:sp>
      <p:sp>
        <p:nvSpPr>
          <p:cNvPr id="22" name="Shape 20"/>
          <p:cNvSpPr/>
          <p:nvPr/>
        </p:nvSpPr>
        <p:spPr>
          <a:xfrm flipH="1">
            <a:off x="3840480" y="4023360"/>
            <a:ext cx="548640" cy="731520"/>
          </a:xfrm>
          <a:prstGeom prst="line">
            <a:avLst/>
          </a:prstGeom>
          <a:noFill/>
          <a:ln w="15875">
            <a:solidFill>
              <a:srgbClr val="55607A"/>
            </a:solidFill>
            <a:prstDash val="solid"/>
          </a:ln>
        </p:spPr>
      </p:sp>
      <p:sp>
        <p:nvSpPr>
          <p:cNvPr id="23" name="Text 21"/>
          <p:cNvSpPr/>
          <p:nvPr/>
        </p:nvSpPr>
        <p:spPr>
          <a:xfrm>
            <a:off x="3794760" y="4233672"/>
            <a:ext cx="640080" cy="256032"/>
          </a:xfrm>
          <a:prstGeom prst="rect">
            <a:avLst/>
          </a:prstGeom>
          <a:noFill/>
          <a:ln/>
        </p:spPr>
        <p:txBody>
          <a:bodyPr wrap="square" lIns="0" tIns="0" rIns="0" bIns="0" rtlCol="0" anchor="ctr"/>
          <a:lstStyle/>
          <a:p>
            <a:pPr algn="ctr" indent="0" marL="0">
              <a:buNone/>
            </a:pPr>
            <a:r>
              <a:rPr lang="en-US" sz="1100" i="1" dirty="0">
                <a:solidFill>
                  <a:srgbClr val="55607A"/>
                </a:solidFill>
                <a:latin typeface="Calibri" pitchFamily="34" charset="0"/>
                <a:ea typeface="Calibri" pitchFamily="34" charset="-122"/>
                <a:cs typeface="Calibri" pitchFamily="34" charset="-120"/>
              </a:rPr>
              <a:t>f</a:t>
            </a:r>
            <a:endParaRPr lang="en-US" sz="1100" dirty="0"/>
          </a:p>
        </p:txBody>
      </p:sp>
      <p:sp>
        <p:nvSpPr>
          <p:cNvPr id="24" name="Shape 22"/>
          <p:cNvSpPr/>
          <p:nvPr/>
        </p:nvSpPr>
        <p:spPr>
          <a:xfrm>
            <a:off x="3639312" y="4782312"/>
            <a:ext cx="402336" cy="310896"/>
          </a:xfrm>
          <a:prstGeom prst="roundRect">
            <a:avLst>
              <a:gd name="adj" fmla="val 14706"/>
            </a:avLst>
          </a:prstGeom>
          <a:solidFill>
            <a:srgbClr val="DCE3EE"/>
          </a:solidFill>
          <a:ln w="12700">
            <a:solidFill>
              <a:srgbClr val="55607A"/>
            </a:solidFill>
            <a:prstDash val="solid"/>
          </a:ln>
        </p:spPr>
      </p:sp>
      <p:sp>
        <p:nvSpPr>
          <p:cNvPr id="25" name="Text 23"/>
          <p:cNvSpPr/>
          <p:nvPr/>
        </p:nvSpPr>
        <p:spPr>
          <a:xfrm>
            <a:off x="3438144" y="4782312"/>
            <a:ext cx="804672" cy="310896"/>
          </a:xfrm>
          <a:prstGeom prst="rect">
            <a:avLst/>
          </a:prstGeom>
          <a:noFill/>
          <a:ln/>
        </p:spPr>
        <p:txBody>
          <a:bodyPr wrap="square" lIns="0" tIns="0" rIns="0" bIns="0"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100</a:t>
            </a:r>
            <a:endParaRPr lang="en-US" sz="1300" dirty="0"/>
          </a:p>
        </p:txBody>
      </p:sp>
      <p:sp>
        <p:nvSpPr>
          <p:cNvPr id="26" name="Shape 24"/>
          <p:cNvSpPr/>
          <p:nvPr/>
        </p:nvSpPr>
        <p:spPr>
          <a:xfrm>
            <a:off x="4389120" y="4023360"/>
            <a:ext cx="548640" cy="731520"/>
          </a:xfrm>
          <a:prstGeom prst="line">
            <a:avLst/>
          </a:prstGeom>
          <a:noFill/>
          <a:ln w="15875">
            <a:solidFill>
              <a:srgbClr val="55607A"/>
            </a:solidFill>
            <a:prstDash val="solid"/>
          </a:ln>
        </p:spPr>
      </p:sp>
      <p:sp>
        <p:nvSpPr>
          <p:cNvPr id="27" name="Text 25"/>
          <p:cNvSpPr/>
          <p:nvPr/>
        </p:nvSpPr>
        <p:spPr>
          <a:xfrm>
            <a:off x="4343400" y="4233672"/>
            <a:ext cx="640080" cy="256032"/>
          </a:xfrm>
          <a:prstGeom prst="rect">
            <a:avLst/>
          </a:prstGeom>
          <a:noFill/>
          <a:ln/>
        </p:spPr>
        <p:txBody>
          <a:bodyPr wrap="square" lIns="0" tIns="0" rIns="0" bIns="0" rtlCol="0" anchor="ctr"/>
          <a:lstStyle/>
          <a:p>
            <a:pPr algn="ctr" indent="0" marL="0">
              <a:buNone/>
            </a:pPr>
            <a:r>
              <a:rPr lang="en-US" sz="1100" i="1" dirty="0">
                <a:solidFill>
                  <a:srgbClr val="55607A"/>
                </a:solidFill>
                <a:latin typeface="Calibri" pitchFamily="34" charset="0"/>
                <a:ea typeface="Calibri" pitchFamily="34" charset="-122"/>
                <a:cs typeface="Calibri" pitchFamily="34" charset="-120"/>
              </a:rPr>
              <a:t>g</a:t>
            </a:r>
            <a:endParaRPr lang="en-US" sz="1100" dirty="0"/>
          </a:p>
        </p:txBody>
      </p:sp>
      <p:sp>
        <p:nvSpPr>
          <p:cNvPr id="28" name="Shape 26"/>
          <p:cNvSpPr/>
          <p:nvPr/>
        </p:nvSpPr>
        <p:spPr>
          <a:xfrm>
            <a:off x="4736592" y="4782312"/>
            <a:ext cx="402336" cy="310896"/>
          </a:xfrm>
          <a:prstGeom prst="roundRect">
            <a:avLst>
              <a:gd name="adj" fmla="val 14706"/>
            </a:avLst>
          </a:prstGeom>
          <a:solidFill>
            <a:srgbClr val="DCE3EE"/>
          </a:solidFill>
          <a:ln w="12700">
            <a:solidFill>
              <a:srgbClr val="55607A"/>
            </a:solidFill>
            <a:prstDash val="solid"/>
          </a:ln>
        </p:spPr>
      </p:sp>
      <p:sp>
        <p:nvSpPr>
          <p:cNvPr id="29" name="Text 27"/>
          <p:cNvSpPr/>
          <p:nvPr/>
        </p:nvSpPr>
        <p:spPr>
          <a:xfrm>
            <a:off x="4535424" y="4782312"/>
            <a:ext cx="804672" cy="310896"/>
          </a:xfrm>
          <a:prstGeom prst="rect">
            <a:avLst/>
          </a:prstGeom>
          <a:noFill/>
          <a:ln/>
        </p:spPr>
        <p:txBody>
          <a:bodyPr wrap="square" lIns="0" tIns="0" rIns="0" bIns="0"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8</a:t>
            </a:r>
            <a:endParaRPr lang="en-US" sz="1300" dirty="0"/>
          </a:p>
        </p:txBody>
      </p:sp>
      <p:sp>
        <p:nvSpPr>
          <p:cNvPr id="30" name="Shape 28"/>
          <p:cNvSpPr/>
          <p:nvPr/>
        </p:nvSpPr>
        <p:spPr>
          <a:xfrm>
            <a:off x="5852160" y="1874520"/>
            <a:ext cx="2743200" cy="731520"/>
          </a:xfrm>
          <a:prstGeom prst="line">
            <a:avLst/>
          </a:prstGeom>
          <a:noFill/>
          <a:ln w="15875">
            <a:solidFill>
              <a:srgbClr val="55607A"/>
            </a:solidFill>
            <a:prstDash val="solid"/>
          </a:ln>
        </p:spPr>
      </p:sp>
      <p:sp>
        <p:nvSpPr>
          <p:cNvPr id="31" name="Text 29"/>
          <p:cNvSpPr/>
          <p:nvPr/>
        </p:nvSpPr>
        <p:spPr>
          <a:xfrm>
            <a:off x="6903720" y="2066544"/>
            <a:ext cx="640080" cy="256032"/>
          </a:xfrm>
          <a:prstGeom prst="rect">
            <a:avLst/>
          </a:prstGeom>
          <a:noFill/>
          <a:ln/>
        </p:spPr>
        <p:txBody>
          <a:bodyPr wrap="square" lIns="0" tIns="0" rIns="0" bIns="0" rtlCol="0" anchor="ctr"/>
          <a:lstStyle/>
          <a:p>
            <a:pPr algn="ctr" indent="0" marL="0">
              <a:buNone/>
            </a:pPr>
            <a:r>
              <a:rPr lang="en-US" sz="1200" i="1" dirty="0">
                <a:solidFill>
                  <a:srgbClr val="1F5AC4"/>
                </a:solidFill>
                <a:latin typeface="Calibri" pitchFamily="34" charset="0"/>
                <a:ea typeface="Calibri" pitchFamily="34" charset="-122"/>
                <a:cs typeface="Calibri" pitchFamily="34" charset="-120"/>
              </a:rPr>
              <a:t>h</a:t>
            </a:r>
            <a:endParaRPr lang="en-US" sz="1200" dirty="0"/>
          </a:p>
        </p:txBody>
      </p:sp>
      <p:sp>
        <p:nvSpPr>
          <p:cNvPr id="32" name="Shape 30"/>
          <p:cNvSpPr/>
          <p:nvPr/>
        </p:nvSpPr>
        <p:spPr>
          <a:xfrm rot="10800000">
            <a:off x="8394192" y="2633472"/>
            <a:ext cx="402336" cy="310896"/>
          </a:xfrm>
          <a:prstGeom prst="triangle">
            <a:avLst/>
          </a:prstGeom>
          <a:solidFill>
            <a:srgbClr val="F7DEDF"/>
          </a:solidFill>
          <a:ln w="19050">
            <a:solidFill>
              <a:srgbClr val="C1272D"/>
            </a:solidFill>
            <a:prstDash val="solid"/>
          </a:ln>
        </p:spPr>
      </p:sp>
      <p:sp>
        <p:nvSpPr>
          <p:cNvPr id="33" name="Shape 31"/>
          <p:cNvSpPr/>
          <p:nvPr/>
        </p:nvSpPr>
        <p:spPr>
          <a:xfrm flipH="1">
            <a:off x="7315200" y="2971800"/>
            <a:ext cx="1280160" cy="685800"/>
          </a:xfrm>
          <a:prstGeom prst="line">
            <a:avLst/>
          </a:prstGeom>
          <a:noFill/>
          <a:ln w="15875">
            <a:solidFill>
              <a:srgbClr val="55607A"/>
            </a:solidFill>
            <a:prstDash val="solid"/>
          </a:ln>
        </p:spPr>
      </p:sp>
      <p:sp>
        <p:nvSpPr>
          <p:cNvPr id="34" name="Text 32"/>
          <p:cNvSpPr/>
          <p:nvPr/>
        </p:nvSpPr>
        <p:spPr>
          <a:xfrm>
            <a:off x="7635240" y="3150108"/>
            <a:ext cx="640080" cy="256032"/>
          </a:xfrm>
          <a:prstGeom prst="rect">
            <a:avLst/>
          </a:prstGeom>
          <a:noFill/>
          <a:ln/>
        </p:spPr>
        <p:txBody>
          <a:bodyPr wrap="square" lIns="0" tIns="0" rIns="0" bIns="0" rtlCol="0" anchor="ctr"/>
          <a:lstStyle/>
          <a:p>
            <a:pPr algn="ctr" indent="0" marL="0">
              <a:buNone/>
            </a:pPr>
            <a:r>
              <a:rPr lang="en-US" sz="1200" i="1" dirty="0">
                <a:solidFill>
                  <a:srgbClr val="C1272D"/>
                </a:solidFill>
                <a:latin typeface="Calibri" pitchFamily="34" charset="0"/>
                <a:ea typeface="Calibri" pitchFamily="34" charset="-122"/>
                <a:cs typeface="Calibri" pitchFamily="34" charset="-120"/>
              </a:rPr>
              <a:t>i</a:t>
            </a:r>
            <a:endParaRPr lang="en-US" sz="1200" dirty="0"/>
          </a:p>
        </p:txBody>
      </p:sp>
      <p:sp>
        <p:nvSpPr>
          <p:cNvPr id="35" name="Shape 33"/>
          <p:cNvSpPr/>
          <p:nvPr/>
        </p:nvSpPr>
        <p:spPr>
          <a:xfrm>
            <a:off x="7114032" y="3685032"/>
            <a:ext cx="402336" cy="310896"/>
          </a:xfrm>
          <a:prstGeom prst="triangle">
            <a:avLst/>
          </a:prstGeom>
          <a:solidFill>
            <a:srgbClr val="DCE6FA"/>
          </a:solidFill>
          <a:ln w="19050">
            <a:solidFill>
              <a:srgbClr val="1F5AC4"/>
            </a:solidFill>
            <a:prstDash val="solid"/>
          </a:ln>
        </p:spPr>
      </p:sp>
      <p:sp>
        <p:nvSpPr>
          <p:cNvPr id="36" name="Shape 34"/>
          <p:cNvSpPr/>
          <p:nvPr/>
        </p:nvSpPr>
        <p:spPr>
          <a:xfrm flipH="1">
            <a:off x="6766560" y="4023360"/>
            <a:ext cx="548640" cy="731520"/>
          </a:xfrm>
          <a:prstGeom prst="line">
            <a:avLst/>
          </a:prstGeom>
          <a:noFill/>
          <a:ln w="15875">
            <a:solidFill>
              <a:srgbClr val="55607A"/>
            </a:solidFill>
            <a:prstDash val="solid"/>
          </a:ln>
        </p:spPr>
      </p:sp>
      <p:sp>
        <p:nvSpPr>
          <p:cNvPr id="37" name="Text 35"/>
          <p:cNvSpPr/>
          <p:nvPr/>
        </p:nvSpPr>
        <p:spPr>
          <a:xfrm>
            <a:off x="6720840" y="4233672"/>
            <a:ext cx="640080" cy="256032"/>
          </a:xfrm>
          <a:prstGeom prst="rect">
            <a:avLst/>
          </a:prstGeom>
          <a:noFill/>
          <a:ln/>
        </p:spPr>
        <p:txBody>
          <a:bodyPr wrap="square" lIns="0" tIns="0" rIns="0" bIns="0" rtlCol="0" anchor="ctr"/>
          <a:lstStyle/>
          <a:p>
            <a:pPr algn="ctr" indent="0" marL="0">
              <a:buNone/>
            </a:pPr>
            <a:r>
              <a:rPr lang="en-US" sz="1100" i="1" dirty="0">
                <a:solidFill>
                  <a:srgbClr val="55607A"/>
                </a:solidFill>
                <a:latin typeface="Calibri" pitchFamily="34" charset="0"/>
                <a:ea typeface="Calibri" pitchFamily="34" charset="-122"/>
                <a:cs typeface="Calibri" pitchFamily="34" charset="-120"/>
              </a:rPr>
              <a:t>j</a:t>
            </a:r>
            <a:endParaRPr lang="en-US" sz="1100" dirty="0"/>
          </a:p>
        </p:txBody>
      </p:sp>
      <p:sp>
        <p:nvSpPr>
          <p:cNvPr id="38" name="Shape 36"/>
          <p:cNvSpPr/>
          <p:nvPr/>
        </p:nvSpPr>
        <p:spPr>
          <a:xfrm>
            <a:off x="6565392" y="4782312"/>
            <a:ext cx="402336" cy="310896"/>
          </a:xfrm>
          <a:prstGeom prst="roundRect">
            <a:avLst>
              <a:gd name="adj" fmla="val 14706"/>
            </a:avLst>
          </a:prstGeom>
          <a:solidFill>
            <a:srgbClr val="DCE3EE"/>
          </a:solidFill>
          <a:ln w="12700">
            <a:solidFill>
              <a:srgbClr val="55607A"/>
            </a:solidFill>
            <a:prstDash val="solid"/>
          </a:ln>
        </p:spPr>
      </p:sp>
      <p:sp>
        <p:nvSpPr>
          <p:cNvPr id="39" name="Text 37"/>
          <p:cNvSpPr/>
          <p:nvPr/>
        </p:nvSpPr>
        <p:spPr>
          <a:xfrm>
            <a:off x="6364224" y="4782312"/>
            <a:ext cx="804672" cy="310896"/>
          </a:xfrm>
          <a:prstGeom prst="rect">
            <a:avLst/>
          </a:prstGeom>
          <a:noFill/>
          <a:ln/>
        </p:spPr>
        <p:txBody>
          <a:bodyPr wrap="square" lIns="0" tIns="0" rIns="0" bIns="0"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1</a:t>
            </a:r>
            <a:endParaRPr lang="en-US" sz="1300" dirty="0"/>
          </a:p>
        </p:txBody>
      </p:sp>
      <p:sp>
        <p:nvSpPr>
          <p:cNvPr id="40" name="Shape 38"/>
          <p:cNvSpPr/>
          <p:nvPr/>
        </p:nvSpPr>
        <p:spPr>
          <a:xfrm>
            <a:off x="7315200" y="4023360"/>
            <a:ext cx="548640" cy="731520"/>
          </a:xfrm>
          <a:prstGeom prst="line">
            <a:avLst/>
          </a:prstGeom>
          <a:noFill/>
          <a:ln w="15875">
            <a:solidFill>
              <a:srgbClr val="55607A"/>
            </a:solidFill>
            <a:prstDash val="solid"/>
          </a:ln>
        </p:spPr>
      </p:sp>
      <p:sp>
        <p:nvSpPr>
          <p:cNvPr id="41" name="Text 39"/>
          <p:cNvSpPr/>
          <p:nvPr/>
        </p:nvSpPr>
        <p:spPr>
          <a:xfrm>
            <a:off x="7269480" y="4233672"/>
            <a:ext cx="640080" cy="256032"/>
          </a:xfrm>
          <a:prstGeom prst="rect">
            <a:avLst/>
          </a:prstGeom>
          <a:noFill/>
          <a:ln/>
        </p:spPr>
        <p:txBody>
          <a:bodyPr wrap="square" lIns="0" tIns="0" rIns="0" bIns="0" rtlCol="0" anchor="ctr"/>
          <a:lstStyle/>
          <a:p>
            <a:pPr algn="ctr" indent="0" marL="0">
              <a:buNone/>
            </a:pPr>
            <a:r>
              <a:rPr lang="en-US" sz="1100" i="1" dirty="0">
                <a:solidFill>
                  <a:srgbClr val="55607A"/>
                </a:solidFill>
                <a:latin typeface="Calibri" pitchFamily="34" charset="0"/>
                <a:ea typeface="Calibri" pitchFamily="34" charset="-122"/>
                <a:cs typeface="Calibri" pitchFamily="34" charset="-120"/>
              </a:rPr>
              <a:t>k</a:t>
            </a:r>
            <a:endParaRPr lang="en-US" sz="1100" dirty="0"/>
          </a:p>
        </p:txBody>
      </p:sp>
      <p:sp>
        <p:nvSpPr>
          <p:cNvPr id="42" name="Shape 40"/>
          <p:cNvSpPr/>
          <p:nvPr/>
        </p:nvSpPr>
        <p:spPr>
          <a:xfrm>
            <a:off x="7662672" y="4782312"/>
            <a:ext cx="402336" cy="310896"/>
          </a:xfrm>
          <a:prstGeom prst="roundRect">
            <a:avLst>
              <a:gd name="adj" fmla="val 14706"/>
            </a:avLst>
          </a:prstGeom>
          <a:solidFill>
            <a:srgbClr val="DCE3EE"/>
          </a:solidFill>
          <a:ln w="12700">
            <a:solidFill>
              <a:srgbClr val="55607A"/>
            </a:solidFill>
            <a:prstDash val="solid"/>
          </a:ln>
        </p:spPr>
      </p:sp>
      <p:sp>
        <p:nvSpPr>
          <p:cNvPr id="43" name="Text 41"/>
          <p:cNvSpPr/>
          <p:nvPr/>
        </p:nvSpPr>
        <p:spPr>
          <a:xfrm>
            <a:off x="7461504" y="4782312"/>
            <a:ext cx="804672" cy="310896"/>
          </a:xfrm>
          <a:prstGeom prst="rect">
            <a:avLst/>
          </a:prstGeom>
          <a:noFill/>
          <a:ln/>
        </p:spPr>
        <p:txBody>
          <a:bodyPr wrap="square" lIns="0" tIns="0" rIns="0" bIns="0"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2</a:t>
            </a:r>
            <a:endParaRPr lang="en-US" sz="1300" dirty="0"/>
          </a:p>
        </p:txBody>
      </p:sp>
      <p:sp>
        <p:nvSpPr>
          <p:cNvPr id="44" name="Shape 42"/>
          <p:cNvSpPr/>
          <p:nvPr/>
        </p:nvSpPr>
        <p:spPr>
          <a:xfrm>
            <a:off x="8595360" y="2971800"/>
            <a:ext cx="1280160" cy="685800"/>
          </a:xfrm>
          <a:prstGeom prst="line">
            <a:avLst/>
          </a:prstGeom>
          <a:noFill/>
          <a:ln w="15875">
            <a:solidFill>
              <a:srgbClr val="55607A"/>
            </a:solidFill>
            <a:prstDash val="solid"/>
          </a:ln>
        </p:spPr>
      </p:sp>
      <p:sp>
        <p:nvSpPr>
          <p:cNvPr id="45" name="Text 43"/>
          <p:cNvSpPr/>
          <p:nvPr/>
        </p:nvSpPr>
        <p:spPr>
          <a:xfrm>
            <a:off x="8915400" y="3150108"/>
            <a:ext cx="640080" cy="256032"/>
          </a:xfrm>
          <a:prstGeom prst="rect">
            <a:avLst/>
          </a:prstGeom>
          <a:noFill/>
          <a:ln/>
        </p:spPr>
        <p:txBody>
          <a:bodyPr wrap="square" lIns="0" tIns="0" rIns="0" bIns="0" rtlCol="0" anchor="ctr"/>
          <a:lstStyle/>
          <a:p>
            <a:pPr algn="ctr" indent="0" marL="0">
              <a:buNone/>
            </a:pPr>
            <a:r>
              <a:rPr lang="en-US" sz="1200" i="1" dirty="0">
                <a:solidFill>
                  <a:srgbClr val="C1272D"/>
                </a:solidFill>
                <a:latin typeface="Calibri" pitchFamily="34" charset="0"/>
                <a:ea typeface="Calibri" pitchFamily="34" charset="-122"/>
                <a:cs typeface="Calibri" pitchFamily="34" charset="-120"/>
              </a:rPr>
              <a:t>l</a:t>
            </a:r>
            <a:endParaRPr lang="en-US" sz="1200" dirty="0"/>
          </a:p>
        </p:txBody>
      </p:sp>
      <p:sp>
        <p:nvSpPr>
          <p:cNvPr id="46" name="Shape 44"/>
          <p:cNvSpPr/>
          <p:nvPr/>
        </p:nvSpPr>
        <p:spPr>
          <a:xfrm>
            <a:off x="9674352" y="3685032"/>
            <a:ext cx="402336" cy="310896"/>
          </a:xfrm>
          <a:prstGeom prst="triangle">
            <a:avLst/>
          </a:prstGeom>
          <a:solidFill>
            <a:srgbClr val="DCE6FA"/>
          </a:solidFill>
          <a:ln w="19050">
            <a:solidFill>
              <a:srgbClr val="1F5AC4"/>
            </a:solidFill>
            <a:prstDash val="solid"/>
          </a:ln>
        </p:spPr>
      </p:sp>
      <p:sp>
        <p:nvSpPr>
          <p:cNvPr id="47" name="Shape 45"/>
          <p:cNvSpPr/>
          <p:nvPr/>
        </p:nvSpPr>
        <p:spPr>
          <a:xfrm flipH="1">
            <a:off x="9326880" y="4023360"/>
            <a:ext cx="548640" cy="731520"/>
          </a:xfrm>
          <a:prstGeom prst="line">
            <a:avLst/>
          </a:prstGeom>
          <a:noFill/>
          <a:ln w="15875">
            <a:solidFill>
              <a:srgbClr val="55607A"/>
            </a:solidFill>
            <a:prstDash val="solid"/>
          </a:ln>
        </p:spPr>
      </p:sp>
      <p:sp>
        <p:nvSpPr>
          <p:cNvPr id="48" name="Text 46"/>
          <p:cNvSpPr/>
          <p:nvPr/>
        </p:nvSpPr>
        <p:spPr>
          <a:xfrm>
            <a:off x="9281160" y="4233672"/>
            <a:ext cx="640080" cy="256032"/>
          </a:xfrm>
          <a:prstGeom prst="rect">
            <a:avLst/>
          </a:prstGeom>
          <a:noFill/>
          <a:ln/>
        </p:spPr>
        <p:txBody>
          <a:bodyPr wrap="square" lIns="0" tIns="0" rIns="0" bIns="0" rtlCol="0" anchor="ctr"/>
          <a:lstStyle/>
          <a:p>
            <a:pPr algn="ctr" indent="0" marL="0">
              <a:buNone/>
            </a:pPr>
            <a:r>
              <a:rPr lang="en-US" sz="1100" i="1" dirty="0">
                <a:solidFill>
                  <a:srgbClr val="55607A"/>
                </a:solidFill>
                <a:latin typeface="Calibri" pitchFamily="34" charset="0"/>
                <a:ea typeface="Calibri" pitchFamily="34" charset="-122"/>
                <a:cs typeface="Calibri" pitchFamily="34" charset="-120"/>
              </a:rPr>
              <a:t>m</a:t>
            </a:r>
            <a:endParaRPr lang="en-US" sz="1100" dirty="0"/>
          </a:p>
        </p:txBody>
      </p:sp>
      <p:sp>
        <p:nvSpPr>
          <p:cNvPr id="49" name="Shape 47"/>
          <p:cNvSpPr/>
          <p:nvPr/>
        </p:nvSpPr>
        <p:spPr>
          <a:xfrm>
            <a:off x="9125712" y="4782312"/>
            <a:ext cx="402336" cy="310896"/>
          </a:xfrm>
          <a:prstGeom prst="roundRect">
            <a:avLst>
              <a:gd name="adj" fmla="val 14706"/>
            </a:avLst>
          </a:prstGeom>
          <a:solidFill>
            <a:srgbClr val="DCE3EE"/>
          </a:solidFill>
          <a:ln w="12700">
            <a:solidFill>
              <a:srgbClr val="55607A"/>
            </a:solidFill>
            <a:prstDash val="solid"/>
          </a:ln>
        </p:spPr>
      </p:sp>
      <p:sp>
        <p:nvSpPr>
          <p:cNvPr id="50" name="Text 48"/>
          <p:cNvSpPr/>
          <p:nvPr/>
        </p:nvSpPr>
        <p:spPr>
          <a:xfrm>
            <a:off x="8924544" y="4782312"/>
            <a:ext cx="804672" cy="310896"/>
          </a:xfrm>
          <a:prstGeom prst="rect">
            <a:avLst/>
          </a:prstGeom>
          <a:noFill/>
          <a:ln/>
        </p:spPr>
        <p:txBody>
          <a:bodyPr wrap="square" lIns="0" tIns="0" rIns="0" bIns="0"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20</a:t>
            </a:r>
            <a:endParaRPr lang="en-US" sz="1300" dirty="0"/>
          </a:p>
        </p:txBody>
      </p:sp>
      <p:sp>
        <p:nvSpPr>
          <p:cNvPr id="51" name="Shape 49"/>
          <p:cNvSpPr/>
          <p:nvPr/>
        </p:nvSpPr>
        <p:spPr>
          <a:xfrm>
            <a:off x="9875520" y="4023360"/>
            <a:ext cx="548640" cy="731520"/>
          </a:xfrm>
          <a:prstGeom prst="line">
            <a:avLst/>
          </a:prstGeom>
          <a:noFill/>
          <a:ln w="15875">
            <a:solidFill>
              <a:srgbClr val="55607A"/>
            </a:solidFill>
            <a:prstDash val="solid"/>
          </a:ln>
        </p:spPr>
      </p:sp>
      <p:sp>
        <p:nvSpPr>
          <p:cNvPr id="52" name="Text 50"/>
          <p:cNvSpPr/>
          <p:nvPr/>
        </p:nvSpPr>
        <p:spPr>
          <a:xfrm>
            <a:off x="9829800" y="4233672"/>
            <a:ext cx="640080" cy="256032"/>
          </a:xfrm>
          <a:prstGeom prst="rect">
            <a:avLst/>
          </a:prstGeom>
          <a:noFill/>
          <a:ln/>
        </p:spPr>
        <p:txBody>
          <a:bodyPr wrap="square" lIns="0" tIns="0" rIns="0" bIns="0" rtlCol="0" anchor="ctr"/>
          <a:lstStyle/>
          <a:p>
            <a:pPr algn="ctr" indent="0" marL="0">
              <a:buNone/>
            </a:pPr>
            <a:r>
              <a:rPr lang="en-US" sz="1100" i="1" dirty="0">
                <a:solidFill>
                  <a:srgbClr val="55607A"/>
                </a:solidFill>
                <a:latin typeface="Calibri" pitchFamily="34" charset="0"/>
                <a:ea typeface="Calibri" pitchFamily="34" charset="-122"/>
                <a:cs typeface="Calibri" pitchFamily="34" charset="-120"/>
              </a:rPr>
              <a:t>n</a:t>
            </a:r>
            <a:endParaRPr lang="en-US" sz="1100" dirty="0"/>
          </a:p>
        </p:txBody>
      </p:sp>
      <p:sp>
        <p:nvSpPr>
          <p:cNvPr id="53" name="Shape 51"/>
          <p:cNvSpPr/>
          <p:nvPr/>
        </p:nvSpPr>
        <p:spPr>
          <a:xfrm>
            <a:off x="10222992" y="4782312"/>
            <a:ext cx="402336" cy="310896"/>
          </a:xfrm>
          <a:prstGeom prst="roundRect">
            <a:avLst>
              <a:gd name="adj" fmla="val 14706"/>
            </a:avLst>
          </a:prstGeom>
          <a:solidFill>
            <a:srgbClr val="DCE3EE"/>
          </a:solidFill>
          <a:ln w="12700">
            <a:solidFill>
              <a:srgbClr val="55607A"/>
            </a:solidFill>
            <a:prstDash val="solid"/>
          </a:ln>
        </p:spPr>
      </p:sp>
      <p:sp>
        <p:nvSpPr>
          <p:cNvPr id="54" name="Text 52"/>
          <p:cNvSpPr/>
          <p:nvPr/>
        </p:nvSpPr>
        <p:spPr>
          <a:xfrm>
            <a:off x="10021824" y="4782312"/>
            <a:ext cx="804672" cy="310896"/>
          </a:xfrm>
          <a:prstGeom prst="rect">
            <a:avLst/>
          </a:prstGeom>
          <a:noFill/>
          <a:ln/>
        </p:spPr>
        <p:txBody>
          <a:bodyPr wrap="square" lIns="0" tIns="0" rIns="0" bIns="0"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4</a:t>
            </a:r>
            <a:endParaRPr lang="en-US" sz="1300" dirty="0"/>
          </a:p>
        </p:txBody>
      </p:sp>
      <p:sp>
        <p:nvSpPr>
          <p:cNvPr id="55" name="Shape 53"/>
          <p:cNvSpPr/>
          <p:nvPr/>
        </p:nvSpPr>
        <p:spPr>
          <a:xfrm>
            <a:off x="640080" y="5257800"/>
            <a:ext cx="10881360" cy="868680"/>
          </a:xfrm>
          <a:prstGeom prst="roundRect">
            <a:avLst>
              <a:gd name="adj" fmla="val 8421"/>
            </a:avLst>
          </a:prstGeom>
          <a:solidFill>
            <a:srgbClr val="FFFFFF"/>
          </a:solidFill>
          <a:ln w="12700">
            <a:solidFill>
              <a:srgbClr val="DCE3EE"/>
            </a:solidFill>
            <a:prstDash val="solid"/>
          </a:ln>
        </p:spPr>
      </p:sp>
      <p:sp>
        <p:nvSpPr>
          <p:cNvPr id="56" name="Text 54"/>
          <p:cNvSpPr/>
          <p:nvPr/>
        </p:nvSpPr>
        <p:spPr>
          <a:xfrm>
            <a:off x="841248" y="5422392"/>
            <a:ext cx="10479024" cy="539496"/>
          </a:xfrm>
          <a:prstGeom prst="rect">
            <a:avLst/>
          </a:prstGeom>
          <a:noFill/>
          <a:ln/>
        </p:spPr>
        <p:txBody>
          <a:bodyPr wrap="square" lIns="0" tIns="0" rIns="0" bIns="0" rtlCol="0" anchor="t"/>
          <a:lstStyle/>
          <a:p>
            <a:pPr indent="0" marL="0">
              <a:lnSpc>
                <a:spcPct val="108000"/>
              </a:lnSpc>
              <a:buNone/>
            </a:pPr>
            <a:r>
              <a:rPr lang="en-US" sz="1450" dirty="0">
                <a:solidFill>
                  <a:srgbClr val="1A1A1A"/>
                </a:solidFill>
                <a:latin typeface="Calibri" pitchFamily="34" charset="0"/>
                <a:ea typeface="Calibri" pitchFamily="34" charset="-122"/>
                <a:cs typeface="Calibri" pitchFamily="34" charset="-120"/>
              </a:rPr>
              <a:t>Same rules. Report the root value, the optimal action at the root, and every leaf that is never evaluated.</a:t>
            </a:r>
            <a:endParaRPr lang="en-US" sz="14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FF3F9"/>
        </a:solidFill>
      </p:bgPr>
    </p:bg>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ROOT VALUE 10, ACTION A; LEAVES G, M, N PRUNED</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Exercise 3: Solution</a:t>
            </a:r>
            <a:endParaRPr lang="en-US" sz="2900" dirty="0"/>
          </a:p>
        </p:txBody>
      </p:sp>
      <p:sp>
        <p:nvSpPr>
          <p:cNvPr id="4" name="Shape 2"/>
          <p:cNvSpPr/>
          <p:nvPr/>
        </p:nvSpPr>
        <p:spPr>
          <a:xfrm>
            <a:off x="5650992" y="1536192"/>
            <a:ext cx="402336" cy="310896"/>
          </a:xfrm>
          <a:prstGeom prst="triangle">
            <a:avLst/>
          </a:prstGeom>
          <a:solidFill>
            <a:srgbClr val="DCE6FA"/>
          </a:solidFill>
          <a:ln w="19050">
            <a:solidFill>
              <a:srgbClr val="1F5AC4"/>
            </a:solidFill>
            <a:prstDash val="solid"/>
          </a:ln>
        </p:spPr>
      </p:sp>
      <p:sp>
        <p:nvSpPr>
          <p:cNvPr id="5" name="Text 3"/>
          <p:cNvSpPr/>
          <p:nvPr/>
        </p:nvSpPr>
        <p:spPr>
          <a:xfrm>
            <a:off x="5394960" y="1124712"/>
            <a:ext cx="914400" cy="292608"/>
          </a:xfrm>
          <a:prstGeom prst="rect">
            <a:avLst/>
          </a:prstGeom>
          <a:noFill/>
          <a:ln/>
        </p:spPr>
        <p:txBody>
          <a:bodyPr wrap="square" lIns="0" tIns="0" rIns="0" bIns="0" rtlCol="0" anchor="ctr"/>
          <a:lstStyle/>
          <a:p>
            <a:pPr algn="ctr" indent="0" marL="0">
              <a:buNone/>
            </a:pPr>
            <a:r>
              <a:rPr lang="en-US" sz="1300" b="1" dirty="0">
                <a:solidFill>
                  <a:srgbClr val="1F5AC4"/>
                </a:solidFill>
                <a:latin typeface="Calibri" pitchFamily="34" charset="0"/>
                <a:ea typeface="Calibri" pitchFamily="34" charset="-122"/>
                <a:cs typeface="Calibri" pitchFamily="34" charset="-120"/>
              </a:rPr>
              <a:t>10</a:t>
            </a:r>
            <a:endParaRPr lang="en-US" sz="1300" dirty="0"/>
          </a:p>
        </p:txBody>
      </p:sp>
      <p:sp>
        <p:nvSpPr>
          <p:cNvPr id="6" name="Shape 4"/>
          <p:cNvSpPr/>
          <p:nvPr/>
        </p:nvSpPr>
        <p:spPr>
          <a:xfrm flipH="1">
            <a:off x="3108960" y="1874520"/>
            <a:ext cx="2743200" cy="731520"/>
          </a:xfrm>
          <a:prstGeom prst="line">
            <a:avLst/>
          </a:prstGeom>
          <a:noFill/>
          <a:ln w="15875">
            <a:solidFill>
              <a:srgbClr val="55607A"/>
            </a:solidFill>
            <a:prstDash val="solid"/>
          </a:ln>
        </p:spPr>
      </p:sp>
      <p:sp>
        <p:nvSpPr>
          <p:cNvPr id="7" name="Text 5"/>
          <p:cNvSpPr/>
          <p:nvPr/>
        </p:nvSpPr>
        <p:spPr>
          <a:xfrm>
            <a:off x="4160520" y="2066544"/>
            <a:ext cx="640080" cy="256032"/>
          </a:xfrm>
          <a:prstGeom prst="rect">
            <a:avLst/>
          </a:prstGeom>
          <a:noFill/>
          <a:ln/>
        </p:spPr>
        <p:txBody>
          <a:bodyPr wrap="square" lIns="0" tIns="0" rIns="0" bIns="0" rtlCol="0" anchor="ctr"/>
          <a:lstStyle/>
          <a:p>
            <a:pPr algn="ctr" indent="0" marL="0">
              <a:buNone/>
            </a:pPr>
            <a:r>
              <a:rPr lang="en-US" sz="1200" i="1" dirty="0">
                <a:solidFill>
                  <a:srgbClr val="1F5AC4"/>
                </a:solidFill>
                <a:latin typeface="Calibri" pitchFamily="34" charset="0"/>
                <a:ea typeface="Calibri" pitchFamily="34" charset="-122"/>
                <a:cs typeface="Calibri" pitchFamily="34" charset="-120"/>
              </a:rPr>
              <a:t>a</a:t>
            </a:r>
            <a:endParaRPr lang="en-US" sz="1200" dirty="0"/>
          </a:p>
        </p:txBody>
      </p:sp>
      <p:sp>
        <p:nvSpPr>
          <p:cNvPr id="8" name="Shape 6"/>
          <p:cNvSpPr/>
          <p:nvPr/>
        </p:nvSpPr>
        <p:spPr>
          <a:xfrm rot="10800000">
            <a:off x="2907792" y="2633472"/>
            <a:ext cx="402336" cy="310896"/>
          </a:xfrm>
          <a:prstGeom prst="triangle">
            <a:avLst/>
          </a:prstGeom>
          <a:solidFill>
            <a:srgbClr val="F7DEDF"/>
          </a:solidFill>
          <a:ln w="19050">
            <a:solidFill>
              <a:srgbClr val="C1272D"/>
            </a:solidFill>
            <a:prstDash val="solid"/>
          </a:ln>
        </p:spPr>
      </p:sp>
      <p:sp>
        <p:nvSpPr>
          <p:cNvPr id="9" name="Text 7"/>
          <p:cNvSpPr/>
          <p:nvPr/>
        </p:nvSpPr>
        <p:spPr>
          <a:xfrm>
            <a:off x="2651760" y="2221992"/>
            <a:ext cx="914400" cy="292608"/>
          </a:xfrm>
          <a:prstGeom prst="rect">
            <a:avLst/>
          </a:prstGeom>
          <a:noFill/>
          <a:ln/>
        </p:spPr>
        <p:txBody>
          <a:bodyPr wrap="square" lIns="0" tIns="0" rIns="0" bIns="0" rtlCol="0" anchor="ctr"/>
          <a:lstStyle/>
          <a:p>
            <a:pPr algn="ctr" indent="0" marL="0">
              <a:buNone/>
            </a:pPr>
            <a:r>
              <a:rPr lang="en-US" sz="1300" b="1" dirty="0">
                <a:solidFill>
                  <a:srgbClr val="C1272D"/>
                </a:solidFill>
                <a:latin typeface="Calibri" pitchFamily="34" charset="0"/>
                <a:ea typeface="Calibri" pitchFamily="34" charset="-122"/>
                <a:cs typeface="Calibri" pitchFamily="34" charset="-120"/>
              </a:rPr>
              <a:t>10</a:t>
            </a:r>
            <a:endParaRPr lang="en-US" sz="1300" dirty="0"/>
          </a:p>
        </p:txBody>
      </p:sp>
      <p:sp>
        <p:nvSpPr>
          <p:cNvPr id="10" name="Shape 8"/>
          <p:cNvSpPr/>
          <p:nvPr/>
        </p:nvSpPr>
        <p:spPr>
          <a:xfrm flipH="1">
            <a:off x="1828800" y="2971800"/>
            <a:ext cx="1280160" cy="685800"/>
          </a:xfrm>
          <a:prstGeom prst="line">
            <a:avLst/>
          </a:prstGeom>
          <a:noFill/>
          <a:ln w="15875">
            <a:solidFill>
              <a:srgbClr val="55607A"/>
            </a:solidFill>
            <a:prstDash val="solid"/>
          </a:ln>
        </p:spPr>
      </p:sp>
      <p:sp>
        <p:nvSpPr>
          <p:cNvPr id="11" name="Text 9"/>
          <p:cNvSpPr/>
          <p:nvPr/>
        </p:nvSpPr>
        <p:spPr>
          <a:xfrm>
            <a:off x="2148840" y="3150108"/>
            <a:ext cx="640080" cy="256032"/>
          </a:xfrm>
          <a:prstGeom prst="rect">
            <a:avLst/>
          </a:prstGeom>
          <a:noFill/>
          <a:ln/>
        </p:spPr>
        <p:txBody>
          <a:bodyPr wrap="square" lIns="0" tIns="0" rIns="0" bIns="0" rtlCol="0" anchor="ctr"/>
          <a:lstStyle/>
          <a:p>
            <a:pPr algn="ctr" indent="0" marL="0">
              <a:buNone/>
            </a:pPr>
            <a:r>
              <a:rPr lang="en-US" sz="1200" i="1" dirty="0">
                <a:solidFill>
                  <a:srgbClr val="C1272D"/>
                </a:solidFill>
                <a:latin typeface="Calibri" pitchFamily="34" charset="0"/>
                <a:ea typeface="Calibri" pitchFamily="34" charset="-122"/>
                <a:cs typeface="Calibri" pitchFamily="34" charset="-120"/>
              </a:rPr>
              <a:t>b</a:t>
            </a:r>
            <a:endParaRPr lang="en-US" sz="1200" dirty="0"/>
          </a:p>
        </p:txBody>
      </p:sp>
      <p:sp>
        <p:nvSpPr>
          <p:cNvPr id="12" name="Shape 10"/>
          <p:cNvSpPr/>
          <p:nvPr/>
        </p:nvSpPr>
        <p:spPr>
          <a:xfrm>
            <a:off x="1627632" y="3685032"/>
            <a:ext cx="402336" cy="310896"/>
          </a:xfrm>
          <a:prstGeom prst="triangle">
            <a:avLst/>
          </a:prstGeom>
          <a:solidFill>
            <a:srgbClr val="DCE6FA"/>
          </a:solidFill>
          <a:ln w="19050">
            <a:solidFill>
              <a:srgbClr val="1F5AC4"/>
            </a:solidFill>
            <a:prstDash val="solid"/>
          </a:ln>
        </p:spPr>
      </p:sp>
      <p:sp>
        <p:nvSpPr>
          <p:cNvPr id="13" name="Text 11"/>
          <p:cNvSpPr/>
          <p:nvPr/>
        </p:nvSpPr>
        <p:spPr>
          <a:xfrm>
            <a:off x="1371600" y="3273552"/>
            <a:ext cx="914400" cy="292608"/>
          </a:xfrm>
          <a:prstGeom prst="rect">
            <a:avLst/>
          </a:prstGeom>
          <a:noFill/>
          <a:ln/>
        </p:spPr>
        <p:txBody>
          <a:bodyPr wrap="square" lIns="0" tIns="0" rIns="0" bIns="0" rtlCol="0" anchor="ctr"/>
          <a:lstStyle/>
          <a:p>
            <a:pPr algn="ctr" indent="0" marL="0">
              <a:buNone/>
            </a:pPr>
            <a:r>
              <a:rPr lang="en-US" sz="1300" b="1" dirty="0">
                <a:solidFill>
                  <a:srgbClr val="1F5AC4"/>
                </a:solidFill>
                <a:latin typeface="Calibri" pitchFamily="34" charset="0"/>
                <a:ea typeface="Calibri" pitchFamily="34" charset="-122"/>
                <a:cs typeface="Calibri" pitchFamily="34" charset="-120"/>
              </a:rPr>
              <a:t>10</a:t>
            </a:r>
            <a:endParaRPr lang="en-US" sz="1300" dirty="0"/>
          </a:p>
        </p:txBody>
      </p:sp>
      <p:sp>
        <p:nvSpPr>
          <p:cNvPr id="14" name="Shape 12"/>
          <p:cNvSpPr/>
          <p:nvPr/>
        </p:nvSpPr>
        <p:spPr>
          <a:xfrm flipH="1">
            <a:off x="1280160" y="4023360"/>
            <a:ext cx="548640" cy="731520"/>
          </a:xfrm>
          <a:prstGeom prst="line">
            <a:avLst/>
          </a:prstGeom>
          <a:noFill/>
          <a:ln w="15875">
            <a:solidFill>
              <a:srgbClr val="55607A"/>
            </a:solidFill>
            <a:prstDash val="solid"/>
          </a:ln>
        </p:spPr>
      </p:sp>
      <p:sp>
        <p:nvSpPr>
          <p:cNvPr id="15" name="Text 13"/>
          <p:cNvSpPr/>
          <p:nvPr/>
        </p:nvSpPr>
        <p:spPr>
          <a:xfrm>
            <a:off x="1234440" y="4233672"/>
            <a:ext cx="640080" cy="256032"/>
          </a:xfrm>
          <a:prstGeom prst="rect">
            <a:avLst/>
          </a:prstGeom>
          <a:noFill/>
          <a:ln/>
        </p:spPr>
        <p:txBody>
          <a:bodyPr wrap="square" lIns="0" tIns="0" rIns="0" bIns="0" rtlCol="0" anchor="ctr"/>
          <a:lstStyle/>
          <a:p>
            <a:pPr algn="ctr" indent="0" marL="0">
              <a:buNone/>
            </a:pPr>
            <a:r>
              <a:rPr lang="en-US" sz="1100" i="1" dirty="0">
                <a:solidFill>
                  <a:srgbClr val="55607A"/>
                </a:solidFill>
                <a:latin typeface="Calibri" pitchFamily="34" charset="0"/>
                <a:ea typeface="Calibri" pitchFamily="34" charset="-122"/>
                <a:cs typeface="Calibri" pitchFamily="34" charset="-120"/>
              </a:rPr>
              <a:t>c</a:t>
            </a:r>
            <a:endParaRPr lang="en-US" sz="1100" dirty="0"/>
          </a:p>
        </p:txBody>
      </p:sp>
      <p:sp>
        <p:nvSpPr>
          <p:cNvPr id="16" name="Shape 14"/>
          <p:cNvSpPr/>
          <p:nvPr/>
        </p:nvSpPr>
        <p:spPr>
          <a:xfrm>
            <a:off x="1078992" y="4782312"/>
            <a:ext cx="402336" cy="310896"/>
          </a:xfrm>
          <a:prstGeom prst="roundRect">
            <a:avLst>
              <a:gd name="adj" fmla="val 14706"/>
            </a:avLst>
          </a:prstGeom>
          <a:solidFill>
            <a:srgbClr val="DCE3EE"/>
          </a:solidFill>
          <a:ln w="12700">
            <a:solidFill>
              <a:srgbClr val="55607A"/>
            </a:solidFill>
            <a:prstDash val="solid"/>
          </a:ln>
        </p:spPr>
      </p:sp>
      <p:sp>
        <p:nvSpPr>
          <p:cNvPr id="17" name="Text 15"/>
          <p:cNvSpPr/>
          <p:nvPr/>
        </p:nvSpPr>
        <p:spPr>
          <a:xfrm>
            <a:off x="877824" y="4782312"/>
            <a:ext cx="804672" cy="310896"/>
          </a:xfrm>
          <a:prstGeom prst="rect">
            <a:avLst/>
          </a:prstGeom>
          <a:noFill/>
          <a:ln/>
        </p:spPr>
        <p:txBody>
          <a:bodyPr wrap="square" lIns="0" tIns="0" rIns="0" bIns="0"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10</a:t>
            </a:r>
            <a:endParaRPr lang="en-US" sz="1300" dirty="0"/>
          </a:p>
        </p:txBody>
      </p:sp>
      <p:sp>
        <p:nvSpPr>
          <p:cNvPr id="18" name="Shape 16"/>
          <p:cNvSpPr/>
          <p:nvPr/>
        </p:nvSpPr>
        <p:spPr>
          <a:xfrm>
            <a:off x="1828800" y="4023360"/>
            <a:ext cx="548640" cy="731520"/>
          </a:xfrm>
          <a:prstGeom prst="line">
            <a:avLst/>
          </a:prstGeom>
          <a:noFill/>
          <a:ln w="15875">
            <a:solidFill>
              <a:srgbClr val="55607A"/>
            </a:solidFill>
            <a:prstDash val="solid"/>
          </a:ln>
        </p:spPr>
      </p:sp>
      <p:sp>
        <p:nvSpPr>
          <p:cNvPr id="19" name="Text 17"/>
          <p:cNvSpPr/>
          <p:nvPr/>
        </p:nvSpPr>
        <p:spPr>
          <a:xfrm>
            <a:off x="1783080" y="4233672"/>
            <a:ext cx="640080" cy="256032"/>
          </a:xfrm>
          <a:prstGeom prst="rect">
            <a:avLst/>
          </a:prstGeom>
          <a:noFill/>
          <a:ln/>
        </p:spPr>
        <p:txBody>
          <a:bodyPr wrap="square" lIns="0" tIns="0" rIns="0" bIns="0" rtlCol="0" anchor="ctr"/>
          <a:lstStyle/>
          <a:p>
            <a:pPr algn="ctr" indent="0" marL="0">
              <a:buNone/>
            </a:pPr>
            <a:r>
              <a:rPr lang="en-US" sz="1100" i="1" dirty="0">
                <a:solidFill>
                  <a:srgbClr val="55607A"/>
                </a:solidFill>
                <a:latin typeface="Calibri" pitchFamily="34" charset="0"/>
                <a:ea typeface="Calibri" pitchFamily="34" charset="-122"/>
                <a:cs typeface="Calibri" pitchFamily="34" charset="-120"/>
              </a:rPr>
              <a:t>d</a:t>
            </a:r>
            <a:endParaRPr lang="en-US" sz="1100" dirty="0"/>
          </a:p>
        </p:txBody>
      </p:sp>
      <p:sp>
        <p:nvSpPr>
          <p:cNvPr id="20" name="Shape 18"/>
          <p:cNvSpPr/>
          <p:nvPr/>
        </p:nvSpPr>
        <p:spPr>
          <a:xfrm>
            <a:off x="2176272" y="4782312"/>
            <a:ext cx="402336" cy="310896"/>
          </a:xfrm>
          <a:prstGeom prst="roundRect">
            <a:avLst>
              <a:gd name="adj" fmla="val 14706"/>
            </a:avLst>
          </a:prstGeom>
          <a:solidFill>
            <a:srgbClr val="DCE3EE"/>
          </a:solidFill>
          <a:ln w="12700">
            <a:solidFill>
              <a:srgbClr val="55607A"/>
            </a:solidFill>
            <a:prstDash val="solid"/>
          </a:ln>
        </p:spPr>
      </p:sp>
      <p:sp>
        <p:nvSpPr>
          <p:cNvPr id="21" name="Text 19"/>
          <p:cNvSpPr/>
          <p:nvPr/>
        </p:nvSpPr>
        <p:spPr>
          <a:xfrm>
            <a:off x="1975104" y="4782312"/>
            <a:ext cx="804672" cy="310896"/>
          </a:xfrm>
          <a:prstGeom prst="rect">
            <a:avLst/>
          </a:prstGeom>
          <a:noFill/>
          <a:ln/>
        </p:spPr>
        <p:txBody>
          <a:bodyPr wrap="square" lIns="0" tIns="0" rIns="0" bIns="0"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6</a:t>
            </a:r>
            <a:endParaRPr lang="en-US" sz="1300" dirty="0"/>
          </a:p>
        </p:txBody>
      </p:sp>
      <p:sp>
        <p:nvSpPr>
          <p:cNvPr id="22" name="Shape 20"/>
          <p:cNvSpPr/>
          <p:nvPr/>
        </p:nvSpPr>
        <p:spPr>
          <a:xfrm>
            <a:off x="3108960" y="2971800"/>
            <a:ext cx="1280160" cy="685800"/>
          </a:xfrm>
          <a:prstGeom prst="line">
            <a:avLst/>
          </a:prstGeom>
          <a:noFill/>
          <a:ln w="15875">
            <a:solidFill>
              <a:srgbClr val="55607A"/>
            </a:solidFill>
            <a:prstDash val="solid"/>
          </a:ln>
        </p:spPr>
      </p:sp>
      <p:sp>
        <p:nvSpPr>
          <p:cNvPr id="23" name="Text 21"/>
          <p:cNvSpPr/>
          <p:nvPr/>
        </p:nvSpPr>
        <p:spPr>
          <a:xfrm>
            <a:off x="3429000" y="3150108"/>
            <a:ext cx="640080" cy="256032"/>
          </a:xfrm>
          <a:prstGeom prst="rect">
            <a:avLst/>
          </a:prstGeom>
          <a:noFill/>
          <a:ln/>
        </p:spPr>
        <p:txBody>
          <a:bodyPr wrap="square" lIns="0" tIns="0" rIns="0" bIns="0" rtlCol="0" anchor="ctr"/>
          <a:lstStyle/>
          <a:p>
            <a:pPr algn="ctr" indent="0" marL="0">
              <a:buNone/>
            </a:pPr>
            <a:r>
              <a:rPr lang="en-US" sz="1200" i="1" dirty="0">
                <a:solidFill>
                  <a:srgbClr val="C1272D"/>
                </a:solidFill>
                <a:latin typeface="Calibri" pitchFamily="34" charset="0"/>
                <a:ea typeface="Calibri" pitchFamily="34" charset="-122"/>
                <a:cs typeface="Calibri" pitchFamily="34" charset="-120"/>
              </a:rPr>
              <a:t>e</a:t>
            </a:r>
            <a:endParaRPr lang="en-US" sz="1200" dirty="0"/>
          </a:p>
        </p:txBody>
      </p:sp>
      <p:sp>
        <p:nvSpPr>
          <p:cNvPr id="24" name="Shape 22"/>
          <p:cNvSpPr/>
          <p:nvPr/>
        </p:nvSpPr>
        <p:spPr>
          <a:xfrm>
            <a:off x="4187952" y="3685032"/>
            <a:ext cx="402336" cy="310896"/>
          </a:xfrm>
          <a:prstGeom prst="triangle">
            <a:avLst/>
          </a:prstGeom>
          <a:solidFill>
            <a:srgbClr val="DCE6FA"/>
          </a:solidFill>
          <a:ln w="19050">
            <a:solidFill>
              <a:srgbClr val="1F5AC4"/>
            </a:solidFill>
            <a:prstDash val="solid"/>
          </a:ln>
        </p:spPr>
      </p:sp>
      <p:sp>
        <p:nvSpPr>
          <p:cNvPr id="25" name="Text 23"/>
          <p:cNvSpPr/>
          <p:nvPr/>
        </p:nvSpPr>
        <p:spPr>
          <a:xfrm>
            <a:off x="3931920" y="3273552"/>
            <a:ext cx="914400" cy="292608"/>
          </a:xfrm>
          <a:prstGeom prst="rect">
            <a:avLst/>
          </a:prstGeom>
          <a:noFill/>
          <a:ln/>
        </p:spPr>
        <p:txBody>
          <a:bodyPr wrap="square" lIns="0" tIns="0" rIns="0" bIns="0" rtlCol="0" anchor="ctr"/>
          <a:lstStyle/>
          <a:p>
            <a:pPr algn="ctr" indent="0" marL="0">
              <a:buNone/>
            </a:pPr>
            <a:r>
              <a:rPr lang="en-US" sz="1300" b="1" dirty="0">
                <a:solidFill>
                  <a:srgbClr val="1F5AC4"/>
                </a:solidFill>
                <a:latin typeface="Calibri" pitchFamily="34" charset="0"/>
                <a:ea typeface="Calibri" pitchFamily="34" charset="-122"/>
                <a:cs typeface="Calibri" pitchFamily="34" charset="-120"/>
              </a:rPr>
              <a:t>&gt;= 100</a:t>
            </a:r>
            <a:endParaRPr lang="en-US" sz="1300" dirty="0"/>
          </a:p>
        </p:txBody>
      </p:sp>
      <p:sp>
        <p:nvSpPr>
          <p:cNvPr id="26" name="Shape 24"/>
          <p:cNvSpPr/>
          <p:nvPr/>
        </p:nvSpPr>
        <p:spPr>
          <a:xfrm flipH="1">
            <a:off x="3840480" y="4023360"/>
            <a:ext cx="548640" cy="731520"/>
          </a:xfrm>
          <a:prstGeom prst="line">
            <a:avLst/>
          </a:prstGeom>
          <a:noFill/>
          <a:ln w="15875">
            <a:solidFill>
              <a:srgbClr val="55607A"/>
            </a:solidFill>
            <a:prstDash val="solid"/>
          </a:ln>
        </p:spPr>
      </p:sp>
      <p:sp>
        <p:nvSpPr>
          <p:cNvPr id="27" name="Text 25"/>
          <p:cNvSpPr/>
          <p:nvPr/>
        </p:nvSpPr>
        <p:spPr>
          <a:xfrm>
            <a:off x="3794760" y="4233672"/>
            <a:ext cx="640080" cy="256032"/>
          </a:xfrm>
          <a:prstGeom prst="rect">
            <a:avLst/>
          </a:prstGeom>
          <a:noFill/>
          <a:ln/>
        </p:spPr>
        <p:txBody>
          <a:bodyPr wrap="square" lIns="0" tIns="0" rIns="0" bIns="0" rtlCol="0" anchor="ctr"/>
          <a:lstStyle/>
          <a:p>
            <a:pPr algn="ctr" indent="0" marL="0">
              <a:buNone/>
            </a:pPr>
            <a:r>
              <a:rPr lang="en-US" sz="1100" i="1" dirty="0">
                <a:solidFill>
                  <a:srgbClr val="55607A"/>
                </a:solidFill>
                <a:latin typeface="Calibri" pitchFamily="34" charset="0"/>
                <a:ea typeface="Calibri" pitchFamily="34" charset="-122"/>
                <a:cs typeface="Calibri" pitchFamily="34" charset="-120"/>
              </a:rPr>
              <a:t>f</a:t>
            </a:r>
            <a:endParaRPr lang="en-US" sz="1100" dirty="0"/>
          </a:p>
        </p:txBody>
      </p:sp>
      <p:sp>
        <p:nvSpPr>
          <p:cNvPr id="28" name="Shape 26"/>
          <p:cNvSpPr/>
          <p:nvPr/>
        </p:nvSpPr>
        <p:spPr>
          <a:xfrm>
            <a:off x="3639312" y="4782312"/>
            <a:ext cx="402336" cy="310896"/>
          </a:xfrm>
          <a:prstGeom prst="roundRect">
            <a:avLst>
              <a:gd name="adj" fmla="val 14706"/>
            </a:avLst>
          </a:prstGeom>
          <a:solidFill>
            <a:srgbClr val="DCE3EE"/>
          </a:solidFill>
          <a:ln w="12700">
            <a:solidFill>
              <a:srgbClr val="55607A"/>
            </a:solidFill>
            <a:prstDash val="solid"/>
          </a:ln>
        </p:spPr>
      </p:sp>
      <p:sp>
        <p:nvSpPr>
          <p:cNvPr id="29" name="Text 27"/>
          <p:cNvSpPr/>
          <p:nvPr/>
        </p:nvSpPr>
        <p:spPr>
          <a:xfrm>
            <a:off x="3438144" y="4782312"/>
            <a:ext cx="804672" cy="310896"/>
          </a:xfrm>
          <a:prstGeom prst="rect">
            <a:avLst/>
          </a:prstGeom>
          <a:noFill/>
          <a:ln/>
        </p:spPr>
        <p:txBody>
          <a:bodyPr wrap="square" lIns="0" tIns="0" rIns="0" bIns="0"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100</a:t>
            </a:r>
            <a:endParaRPr lang="en-US" sz="1300" dirty="0"/>
          </a:p>
        </p:txBody>
      </p:sp>
      <p:sp>
        <p:nvSpPr>
          <p:cNvPr id="30" name="Shape 28"/>
          <p:cNvSpPr/>
          <p:nvPr/>
        </p:nvSpPr>
        <p:spPr>
          <a:xfrm>
            <a:off x="4389120" y="4023360"/>
            <a:ext cx="548640" cy="731520"/>
          </a:xfrm>
          <a:prstGeom prst="line">
            <a:avLst/>
          </a:prstGeom>
          <a:noFill/>
          <a:ln w="15875">
            <a:solidFill>
              <a:srgbClr val="DCE3EE"/>
            </a:solidFill>
            <a:prstDash val="dash"/>
          </a:ln>
        </p:spPr>
      </p:sp>
      <p:sp>
        <p:nvSpPr>
          <p:cNvPr id="31" name="Text 29"/>
          <p:cNvSpPr/>
          <p:nvPr/>
        </p:nvSpPr>
        <p:spPr>
          <a:xfrm>
            <a:off x="4343400" y="4233672"/>
            <a:ext cx="640080" cy="256032"/>
          </a:xfrm>
          <a:prstGeom prst="rect">
            <a:avLst/>
          </a:prstGeom>
          <a:noFill/>
          <a:ln/>
        </p:spPr>
        <p:txBody>
          <a:bodyPr wrap="square" lIns="0" tIns="0" rIns="0" bIns="0" rtlCol="0" anchor="ctr"/>
          <a:lstStyle/>
          <a:p>
            <a:pPr algn="ctr" indent="0" marL="0">
              <a:buNone/>
            </a:pPr>
            <a:r>
              <a:rPr lang="en-US" sz="1100" i="1" dirty="0">
                <a:solidFill>
                  <a:srgbClr val="DCE3EE"/>
                </a:solidFill>
                <a:latin typeface="Calibri" pitchFamily="34" charset="0"/>
                <a:ea typeface="Calibri" pitchFamily="34" charset="-122"/>
                <a:cs typeface="Calibri" pitchFamily="34" charset="-120"/>
              </a:rPr>
              <a:t>g</a:t>
            </a:r>
            <a:endParaRPr lang="en-US" sz="1100" dirty="0"/>
          </a:p>
        </p:txBody>
      </p:sp>
      <p:sp>
        <p:nvSpPr>
          <p:cNvPr id="32" name="Shape 30"/>
          <p:cNvSpPr/>
          <p:nvPr/>
        </p:nvSpPr>
        <p:spPr>
          <a:xfrm>
            <a:off x="4736592" y="4782312"/>
            <a:ext cx="402336" cy="310896"/>
          </a:xfrm>
          <a:prstGeom prst="roundRect">
            <a:avLst>
              <a:gd name="adj" fmla="val 14706"/>
            </a:avLst>
          </a:prstGeom>
          <a:solidFill>
            <a:srgbClr val="FFFFFF"/>
          </a:solidFill>
          <a:ln w="12700">
            <a:solidFill>
              <a:srgbClr val="C1272D"/>
            </a:solidFill>
            <a:prstDash val="solid"/>
          </a:ln>
        </p:spPr>
      </p:sp>
      <p:sp>
        <p:nvSpPr>
          <p:cNvPr id="33" name="Text 31"/>
          <p:cNvSpPr/>
          <p:nvPr/>
        </p:nvSpPr>
        <p:spPr>
          <a:xfrm>
            <a:off x="4535424" y="4782312"/>
            <a:ext cx="804672" cy="310896"/>
          </a:xfrm>
          <a:prstGeom prst="rect">
            <a:avLst/>
          </a:prstGeom>
          <a:noFill/>
          <a:ln/>
        </p:spPr>
        <p:txBody>
          <a:bodyPr wrap="square" lIns="0" tIns="0" rIns="0" bIns="0" rtlCol="0" anchor="ctr"/>
          <a:lstStyle/>
          <a:p>
            <a:pPr algn="ctr" indent="0" marL="0">
              <a:buNone/>
            </a:pPr>
            <a:r>
              <a:rPr lang="en-US" sz="1300" b="1" dirty="0">
                <a:solidFill>
                  <a:srgbClr val="C1272D"/>
                </a:solidFill>
                <a:latin typeface="Calibri" pitchFamily="34" charset="0"/>
                <a:ea typeface="Calibri" pitchFamily="34" charset="-122"/>
                <a:cs typeface="Calibri" pitchFamily="34" charset="-120"/>
              </a:rPr>
              <a:t>8</a:t>
            </a:r>
            <a:endParaRPr lang="en-US" sz="1300" dirty="0"/>
          </a:p>
        </p:txBody>
      </p:sp>
      <p:sp>
        <p:nvSpPr>
          <p:cNvPr id="34" name="Shape 32"/>
          <p:cNvSpPr/>
          <p:nvPr/>
        </p:nvSpPr>
        <p:spPr>
          <a:xfrm>
            <a:off x="5852160" y="1874520"/>
            <a:ext cx="2743200" cy="731520"/>
          </a:xfrm>
          <a:prstGeom prst="line">
            <a:avLst/>
          </a:prstGeom>
          <a:noFill/>
          <a:ln w="15875">
            <a:solidFill>
              <a:srgbClr val="55607A"/>
            </a:solidFill>
            <a:prstDash val="solid"/>
          </a:ln>
        </p:spPr>
      </p:sp>
      <p:sp>
        <p:nvSpPr>
          <p:cNvPr id="35" name="Text 33"/>
          <p:cNvSpPr/>
          <p:nvPr/>
        </p:nvSpPr>
        <p:spPr>
          <a:xfrm>
            <a:off x="6903720" y="2066544"/>
            <a:ext cx="640080" cy="256032"/>
          </a:xfrm>
          <a:prstGeom prst="rect">
            <a:avLst/>
          </a:prstGeom>
          <a:noFill/>
          <a:ln/>
        </p:spPr>
        <p:txBody>
          <a:bodyPr wrap="square" lIns="0" tIns="0" rIns="0" bIns="0" rtlCol="0" anchor="ctr"/>
          <a:lstStyle/>
          <a:p>
            <a:pPr algn="ctr" indent="0" marL="0">
              <a:buNone/>
            </a:pPr>
            <a:r>
              <a:rPr lang="en-US" sz="1200" i="1" dirty="0">
                <a:solidFill>
                  <a:srgbClr val="1F5AC4"/>
                </a:solidFill>
                <a:latin typeface="Calibri" pitchFamily="34" charset="0"/>
                <a:ea typeface="Calibri" pitchFamily="34" charset="-122"/>
                <a:cs typeface="Calibri" pitchFamily="34" charset="-120"/>
              </a:rPr>
              <a:t>h</a:t>
            </a:r>
            <a:endParaRPr lang="en-US" sz="1200" dirty="0"/>
          </a:p>
        </p:txBody>
      </p:sp>
      <p:sp>
        <p:nvSpPr>
          <p:cNvPr id="36" name="Shape 34"/>
          <p:cNvSpPr/>
          <p:nvPr/>
        </p:nvSpPr>
        <p:spPr>
          <a:xfrm rot="10800000">
            <a:off x="8394192" y="2633472"/>
            <a:ext cx="402336" cy="310896"/>
          </a:xfrm>
          <a:prstGeom prst="triangle">
            <a:avLst/>
          </a:prstGeom>
          <a:solidFill>
            <a:srgbClr val="F7DEDF"/>
          </a:solidFill>
          <a:ln w="19050">
            <a:solidFill>
              <a:srgbClr val="C1272D"/>
            </a:solidFill>
            <a:prstDash val="solid"/>
          </a:ln>
        </p:spPr>
      </p:sp>
      <p:sp>
        <p:nvSpPr>
          <p:cNvPr id="37" name="Text 35"/>
          <p:cNvSpPr/>
          <p:nvPr/>
        </p:nvSpPr>
        <p:spPr>
          <a:xfrm>
            <a:off x="8138160" y="2221992"/>
            <a:ext cx="914400" cy="292608"/>
          </a:xfrm>
          <a:prstGeom prst="rect">
            <a:avLst/>
          </a:prstGeom>
          <a:noFill/>
          <a:ln/>
        </p:spPr>
        <p:txBody>
          <a:bodyPr wrap="square" lIns="0" tIns="0" rIns="0" bIns="0" rtlCol="0" anchor="ctr"/>
          <a:lstStyle/>
          <a:p>
            <a:pPr algn="ctr" indent="0" marL="0">
              <a:buNone/>
            </a:pPr>
            <a:r>
              <a:rPr lang="en-US" sz="1300" b="1" dirty="0">
                <a:solidFill>
                  <a:srgbClr val="C1272D"/>
                </a:solidFill>
                <a:latin typeface="Calibri" pitchFamily="34" charset="0"/>
                <a:ea typeface="Calibri" pitchFamily="34" charset="-122"/>
                <a:cs typeface="Calibri" pitchFamily="34" charset="-120"/>
              </a:rPr>
              <a:t>&lt;= 2</a:t>
            </a:r>
            <a:endParaRPr lang="en-US" sz="1300" dirty="0"/>
          </a:p>
        </p:txBody>
      </p:sp>
      <p:sp>
        <p:nvSpPr>
          <p:cNvPr id="38" name="Shape 36"/>
          <p:cNvSpPr/>
          <p:nvPr/>
        </p:nvSpPr>
        <p:spPr>
          <a:xfrm flipH="1">
            <a:off x="7315200" y="2971800"/>
            <a:ext cx="1280160" cy="685800"/>
          </a:xfrm>
          <a:prstGeom prst="line">
            <a:avLst/>
          </a:prstGeom>
          <a:noFill/>
          <a:ln w="15875">
            <a:solidFill>
              <a:srgbClr val="55607A"/>
            </a:solidFill>
            <a:prstDash val="solid"/>
          </a:ln>
        </p:spPr>
      </p:sp>
      <p:sp>
        <p:nvSpPr>
          <p:cNvPr id="39" name="Text 37"/>
          <p:cNvSpPr/>
          <p:nvPr/>
        </p:nvSpPr>
        <p:spPr>
          <a:xfrm>
            <a:off x="7635240" y="3150108"/>
            <a:ext cx="640080" cy="256032"/>
          </a:xfrm>
          <a:prstGeom prst="rect">
            <a:avLst/>
          </a:prstGeom>
          <a:noFill/>
          <a:ln/>
        </p:spPr>
        <p:txBody>
          <a:bodyPr wrap="square" lIns="0" tIns="0" rIns="0" bIns="0" rtlCol="0" anchor="ctr"/>
          <a:lstStyle/>
          <a:p>
            <a:pPr algn="ctr" indent="0" marL="0">
              <a:buNone/>
            </a:pPr>
            <a:r>
              <a:rPr lang="en-US" sz="1200" i="1" dirty="0">
                <a:solidFill>
                  <a:srgbClr val="C1272D"/>
                </a:solidFill>
                <a:latin typeface="Calibri" pitchFamily="34" charset="0"/>
                <a:ea typeface="Calibri" pitchFamily="34" charset="-122"/>
                <a:cs typeface="Calibri" pitchFamily="34" charset="-120"/>
              </a:rPr>
              <a:t>i</a:t>
            </a:r>
            <a:endParaRPr lang="en-US" sz="1200" dirty="0"/>
          </a:p>
        </p:txBody>
      </p:sp>
      <p:sp>
        <p:nvSpPr>
          <p:cNvPr id="40" name="Shape 38"/>
          <p:cNvSpPr/>
          <p:nvPr/>
        </p:nvSpPr>
        <p:spPr>
          <a:xfrm>
            <a:off x="7114032" y="3685032"/>
            <a:ext cx="402336" cy="310896"/>
          </a:xfrm>
          <a:prstGeom prst="triangle">
            <a:avLst/>
          </a:prstGeom>
          <a:solidFill>
            <a:srgbClr val="DCE6FA"/>
          </a:solidFill>
          <a:ln w="19050">
            <a:solidFill>
              <a:srgbClr val="1F5AC4"/>
            </a:solidFill>
            <a:prstDash val="solid"/>
          </a:ln>
        </p:spPr>
      </p:sp>
      <p:sp>
        <p:nvSpPr>
          <p:cNvPr id="41" name="Text 39"/>
          <p:cNvSpPr/>
          <p:nvPr/>
        </p:nvSpPr>
        <p:spPr>
          <a:xfrm>
            <a:off x="6858000" y="3273552"/>
            <a:ext cx="914400" cy="292608"/>
          </a:xfrm>
          <a:prstGeom prst="rect">
            <a:avLst/>
          </a:prstGeom>
          <a:noFill/>
          <a:ln/>
        </p:spPr>
        <p:txBody>
          <a:bodyPr wrap="square" lIns="0" tIns="0" rIns="0" bIns="0" rtlCol="0" anchor="ctr"/>
          <a:lstStyle/>
          <a:p>
            <a:pPr algn="ctr" indent="0" marL="0">
              <a:buNone/>
            </a:pPr>
            <a:r>
              <a:rPr lang="en-US" sz="1300" b="1" dirty="0">
                <a:solidFill>
                  <a:srgbClr val="1F5AC4"/>
                </a:solidFill>
                <a:latin typeface="Calibri" pitchFamily="34" charset="0"/>
                <a:ea typeface="Calibri" pitchFamily="34" charset="-122"/>
                <a:cs typeface="Calibri" pitchFamily="34" charset="-120"/>
              </a:rPr>
              <a:t>2</a:t>
            </a:r>
            <a:endParaRPr lang="en-US" sz="1300" dirty="0"/>
          </a:p>
        </p:txBody>
      </p:sp>
      <p:sp>
        <p:nvSpPr>
          <p:cNvPr id="42" name="Shape 40"/>
          <p:cNvSpPr/>
          <p:nvPr/>
        </p:nvSpPr>
        <p:spPr>
          <a:xfrm flipH="1">
            <a:off x="6766560" y="4023360"/>
            <a:ext cx="548640" cy="731520"/>
          </a:xfrm>
          <a:prstGeom prst="line">
            <a:avLst/>
          </a:prstGeom>
          <a:noFill/>
          <a:ln w="15875">
            <a:solidFill>
              <a:srgbClr val="55607A"/>
            </a:solidFill>
            <a:prstDash val="solid"/>
          </a:ln>
        </p:spPr>
      </p:sp>
      <p:sp>
        <p:nvSpPr>
          <p:cNvPr id="43" name="Text 41"/>
          <p:cNvSpPr/>
          <p:nvPr/>
        </p:nvSpPr>
        <p:spPr>
          <a:xfrm>
            <a:off x="6720840" y="4233672"/>
            <a:ext cx="640080" cy="256032"/>
          </a:xfrm>
          <a:prstGeom prst="rect">
            <a:avLst/>
          </a:prstGeom>
          <a:noFill/>
          <a:ln/>
        </p:spPr>
        <p:txBody>
          <a:bodyPr wrap="square" lIns="0" tIns="0" rIns="0" bIns="0" rtlCol="0" anchor="ctr"/>
          <a:lstStyle/>
          <a:p>
            <a:pPr algn="ctr" indent="0" marL="0">
              <a:buNone/>
            </a:pPr>
            <a:r>
              <a:rPr lang="en-US" sz="1100" i="1" dirty="0">
                <a:solidFill>
                  <a:srgbClr val="55607A"/>
                </a:solidFill>
                <a:latin typeface="Calibri" pitchFamily="34" charset="0"/>
                <a:ea typeface="Calibri" pitchFamily="34" charset="-122"/>
                <a:cs typeface="Calibri" pitchFamily="34" charset="-120"/>
              </a:rPr>
              <a:t>j</a:t>
            </a:r>
            <a:endParaRPr lang="en-US" sz="1100" dirty="0"/>
          </a:p>
        </p:txBody>
      </p:sp>
      <p:sp>
        <p:nvSpPr>
          <p:cNvPr id="44" name="Shape 42"/>
          <p:cNvSpPr/>
          <p:nvPr/>
        </p:nvSpPr>
        <p:spPr>
          <a:xfrm>
            <a:off x="6565392" y="4782312"/>
            <a:ext cx="402336" cy="310896"/>
          </a:xfrm>
          <a:prstGeom prst="roundRect">
            <a:avLst>
              <a:gd name="adj" fmla="val 14706"/>
            </a:avLst>
          </a:prstGeom>
          <a:solidFill>
            <a:srgbClr val="DCE3EE"/>
          </a:solidFill>
          <a:ln w="12700">
            <a:solidFill>
              <a:srgbClr val="55607A"/>
            </a:solidFill>
            <a:prstDash val="solid"/>
          </a:ln>
        </p:spPr>
      </p:sp>
      <p:sp>
        <p:nvSpPr>
          <p:cNvPr id="45" name="Text 43"/>
          <p:cNvSpPr/>
          <p:nvPr/>
        </p:nvSpPr>
        <p:spPr>
          <a:xfrm>
            <a:off x="6364224" y="4782312"/>
            <a:ext cx="804672" cy="310896"/>
          </a:xfrm>
          <a:prstGeom prst="rect">
            <a:avLst/>
          </a:prstGeom>
          <a:noFill/>
          <a:ln/>
        </p:spPr>
        <p:txBody>
          <a:bodyPr wrap="square" lIns="0" tIns="0" rIns="0" bIns="0"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1</a:t>
            </a:r>
            <a:endParaRPr lang="en-US" sz="1300" dirty="0"/>
          </a:p>
        </p:txBody>
      </p:sp>
      <p:sp>
        <p:nvSpPr>
          <p:cNvPr id="46" name="Shape 44"/>
          <p:cNvSpPr/>
          <p:nvPr/>
        </p:nvSpPr>
        <p:spPr>
          <a:xfrm>
            <a:off x="7315200" y="4023360"/>
            <a:ext cx="548640" cy="731520"/>
          </a:xfrm>
          <a:prstGeom prst="line">
            <a:avLst/>
          </a:prstGeom>
          <a:noFill/>
          <a:ln w="15875">
            <a:solidFill>
              <a:srgbClr val="55607A"/>
            </a:solidFill>
            <a:prstDash val="solid"/>
          </a:ln>
        </p:spPr>
      </p:sp>
      <p:sp>
        <p:nvSpPr>
          <p:cNvPr id="47" name="Text 45"/>
          <p:cNvSpPr/>
          <p:nvPr/>
        </p:nvSpPr>
        <p:spPr>
          <a:xfrm>
            <a:off x="7269480" y="4233672"/>
            <a:ext cx="640080" cy="256032"/>
          </a:xfrm>
          <a:prstGeom prst="rect">
            <a:avLst/>
          </a:prstGeom>
          <a:noFill/>
          <a:ln/>
        </p:spPr>
        <p:txBody>
          <a:bodyPr wrap="square" lIns="0" tIns="0" rIns="0" bIns="0" rtlCol="0" anchor="ctr"/>
          <a:lstStyle/>
          <a:p>
            <a:pPr algn="ctr" indent="0" marL="0">
              <a:buNone/>
            </a:pPr>
            <a:r>
              <a:rPr lang="en-US" sz="1100" i="1" dirty="0">
                <a:solidFill>
                  <a:srgbClr val="55607A"/>
                </a:solidFill>
                <a:latin typeface="Calibri" pitchFamily="34" charset="0"/>
                <a:ea typeface="Calibri" pitchFamily="34" charset="-122"/>
                <a:cs typeface="Calibri" pitchFamily="34" charset="-120"/>
              </a:rPr>
              <a:t>k</a:t>
            </a:r>
            <a:endParaRPr lang="en-US" sz="1100" dirty="0"/>
          </a:p>
        </p:txBody>
      </p:sp>
      <p:sp>
        <p:nvSpPr>
          <p:cNvPr id="48" name="Shape 46"/>
          <p:cNvSpPr/>
          <p:nvPr/>
        </p:nvSpPr>
        <p:spPr>
          <a:xfrm>
            <a:off x="7662672" y="4782312"/>
            <a:ext cx="402336" cy="310896"/>
          </a:xfrm>
          <a:prstGeom prst="roundRect">
            <a:avLst>
              <a:gd name="adj" fmla="val 14706"/>
            </a:avLst>
          </a:prstGeom>
          <a:solidFill>
            <a:srgbClr val="DCE3EE"/>
          </a:solidFill>
          <a:ln w="12700">
            <a:solidFill>
              <a:srgbClr val="55607A"/>
            </a:solidFill>
            <a:prstDash val="solid"/>
          </a:ln>
        </p:spPr>
      </p:sp>
      <p:sp>
        <p:nvSpPr>
          <p:cNvPr id="49" name="Text 47"/>
          <p:cNvSpPr/>
          <p:nvPr/>
        </p:nvSpPr>
        <p:spPr>
          <a:xfrm>
            <a:off x="7461504" y="4782312"/>
            <a:ext cx="804672" cy="310896"/>
          </a:xfrm>
          <a:prstGeom prst="rect">
            <a:avLst/>
          </a:prstGeom>
          <a:noFill/>
          <a:ln/>
        </p:spPr>
        <p:txBody>
          <a:bodyPr wrap="square" lIns="0" tIns="0" rIns="0" bIns="0" rtlCol="0" anchor="ctr"/>
          <a:lstStyle/>
          <a:p>
            <a:pPr algn="ctr" indent="0" marL="0">
              <a:buNone/>
            </a:pPr>
            <a:r>
              <a:rPr lang="en-US" sz="1300" b="1" dirty="0">
                <a:solidFill>
                  <a:srgbClr val="1A1A1A"/>
                </a:solidFill>
                <a:latin typeface="Calibri" pitchFamily="34" charset="0"/>
                <a:ea typeface="Calibri" pitchFamily="34" charset="-122"/>
                <a:cs typeface="Calibri" pitchFamily="34" charset="-120"/>
              </a:rPr>
              <a:t>2</a:t>
            </a:r>
            <a:endParaRPr lang="en-US" sz="1300" dirty="0"/>
          </a:p>
        </p:txBody>
      </p:sp>
      <p:sp>
        <p:nvSpPr>
          <p:cNvPr id="50" name="Shape 48"/>
          <p:cNvSpPr/>
          <p:nvPr/>
        </p:nvSpPr>
        <p:spPr>
          <a:xfrm>
            <a:off x="8595360" y="2971800"/>
            <a:ext cx="1280160" cy="685800"/>
          </a:xfrm>
          <a:prstGeom prst="line">
            <a:avLst/>
          </a:prstGeom>
          <a:noFill/>
          <a:ln w="15875">
            <a:solidFill>
              <a:srgbClr val="DCE3EE"/>
            </a:solidFill>
            <a:prstDash val="dash"/>
          </a:ln>
        </p:spPr>
      </p:sp>
      <p:sp>
        <p:nvSpPr>
          <p:cNvPr id="51" name="Text 49"/>
          <p:cNvSpPr/>
          <p:nvPr/>
        </p:nvSpPr>
        <p:spPr>
          <a:xfrm>
            <a:off x="8915400" y="3150108"/>
            <a:ext cx="640080" cy="256032"/>
          </a:xfrm>
          <a:prstGeom prst="rect">
            <a:avLst/>
          </a:prstGeom>
          <a:noFill/>
          <a:ln/>
        </p:spPr>
        <p:txBody>
          <a:bodyPr wrap="square" lIns="0" tIns="0" rIns="0" bIns="0" rtlCol="0" anchor="ctr"/>
          <a:lstStyle/>
          <a:p>
            <a:pPr algn="ctr" indent="0" marL="0">
              <a:buNone/>
            </a:pPr>
            <a:r>
              <a:rPr lang="en-US" sz="1200" i="1" dirty="0">
                <a:solidFill>
                  <a:srgbClr val="DCE3EE"/>
                </a:solidFill>
                <a:latin typeface="Calibri" pitchFamily="34" charset="0"/>
                <a:ea typeface="Calibri" pitchFamily="34" charset="-122"/>
                <a:cs typeface="Calibri" pitchFamily="34" charset="-120"/>
              </a:rPr>
              <a:t>l</a:t>
            </a:r>
            <a:endParaRPr lang="en-US" sz="1200" dirty="0"/>
          </a:p>
        </p:txBody>
      </p:sp>
      <p:sp>
        <p:nvSpPr>
          <p:cNvPr id="52" name="Shape 50"/>
          <p:cNvSpPr/>
          <p:nvPr/>
        </p:nvSpPr>
        <p:spPr>
          <a:xfrm>
            <a:off x="9674352" y="3685032"/>
            <a:ext cx="402336" cy="310896"/>
          </a:xfrm>
          <a:prstGeom prst="triangle">
            <a:avLst/>
          </a:prstGeom>
          <a:solidFill>
            <a:srgbClr val="FFFFFF"/>
          </a:solidFill>
          <a:ln w="19050">
            <a:solidFill>
              <a:srgbClr val="1F5AC4"/>
            </a:solidFill>
            <a:prstDash val="solid"/>
          </a:ln>
        </p:spPr>
      </p:sp>
      <p:sp>
        <p:nvSpPr>
          <p:cNvPr id="53" name="Shape 51"/>
          <p:cNvSpPr/>
          <p:nvPr/>
        </p:nvSpPr>
        <p:spPr>
          <a:xfrm flipH="1">
            <a:off x="9326880" y="4023360"/>
            <a:ext cx="548640" cy="731520"/>
          </a:xfrm>
          <a:prstGeom prst="line">
            <a:avLst/>
          </a:prstGeom>
          <a:noFill/>
          <a:ln w="15875">
            <a:solidFill>
              <a:srgbClr val="DCE3EE"/>
            </a:solidFill>
            <a:prstDash val="dash"/>
          </a:ln>
        </p:spPr>
      </p:sp>
      <p:sp>
        <p:nvSpPr>
          <p:cNvPr id="54" name="Text 52"/>
          <p:cNvSpPr/>
          <p:nvPr/>
        </p:nvSpPr>
        <p:spPr>
          <a:xfrm>
            <a:off x="9281160" y="4233672"/>
            <a:ext cx="640080" cy="256032"/>
          </a:xfrm>
          <a:prstGeom prst="rect">
            <a:avLst/>
          </a:prstGeom>
          <a:noFill/>
          <a:ln/>
        </p:spPr>
        <p:txBody>
          <a:bodyPr wrap="square" lIns="0" tIns="0" rIns="0" bIns="0" rtlCol="0" anchor="ctr"/>
          <a:lstStyle/>
          <a:p>
            <a:pPr algn="ctr" indent="0" marL="0">
              <a:buNone/>
            </a:pPr>
            <a:r>
              <a:rPr lang="en-US" sz="1100" i="1" dirty="0">
                <a:solidFill>
                  <a:srgbClr val="DCE3EE"/>
                </a:solidFill>
                <a:latin typeface="Calibri" pitchFamily="34" charset="0"/>
                <a:ea typeface="Calibri" pitchFamily="34" charset="-122"/>
                <a:cs typeface="Calibri" pitchFamily="34" charset="-120"/>
              </a:rPr>
              <a:t>m</a:t>
            </a:r>
            <a:endParaRPr lang="en-US" sz="1100" dirty="0"/>
          </a:p>
        </p:txBody>
      </p:sp>
      <p:sp>
        <p:nvSpPr>
          <p:cNvPr id="55" name="Shape 53"/>
          <p:cNvSpPr/>
          <p:nvPr/>
        </p:nvSpPr>
        <p:spPr>
          <a:xfrm>
            <a:off x="9125712" y="4782312"/>
            <a:ext cx="402336" cy="310896"/>
          </a:xfrm>
          <a:prstGeom prst="roundRect">
            <a:avLst>
              <a:gd name="adj" fmla="val 14706"/>
            </a:avLst>
          </a:prstGeom>
          <a:solidFill>
            <a:srgbClr val="FFFFFF"/>
          </a:solidFill>
          <a:ln w="12700">
            <a:solidFill>
              <a:srgbClr val="C1272D"/>
            </a:solidFill>
            <a:prstDash val="solid"/>
          </a:ln>
        </p:spPr>
      </p:sp>
      <p:sp>
        <p:nvSpPr>
          <p:cNvPr id="56" name="Text 54"/>
          <p:cNvSpPr/>
          <p:nvPr/>
        </p:nvSpPr>
        <p:spPr>
          <a:xfrm>
            <a:off x="8924544" y="4782312"/>
            <a:ext cx="804672" cy="310896"/>
          </a:xfrm>
          <a:prstGeom prst="rect">
            <a:avLst/>
          </a:prstGeom>
          <a:noFill/>
          <a:ln/>
        </p:spPr>
        <p:txBody>
          <a:bodyPr wrap="square" lIns="0" tIns="0" rIns="0" bIns="0" rtlCol="0" anchor="ctr"/>
          <a:lstStyle/>
          <a:p>
            <a:pPr algn="ctr" indent="0" marL="0">
              <a:buNone/>
            </a:pPr>
            <a:r>
              <a:rPr lang="en-US" sz="1300" b="1" dirty="0">
                <a:solidFill>
                  <a:srgbClr val="C1272D"/>
                </a:solidFill>
                <a:latin typeface="Calibri" pitchFamily="34" charset="0"/>
                <a:ea typeface="Calibri" pitchFamily="34" charset="-122"/>
                <a:cs typeface="Calibri" pitchFamily="34" charset="-120"/>
              </a:rPr>
              <a:t>20</a:t>
            </a:r>
            <a:endParaRPr lang="en-US" sz="1300" dirty="0"/>
          </a:p>
        </p:txBody>
      </p:sp>
      <p:sp>
        <p:nvSpPr>
          <p:cNvPr id="57" name="Shape 55"/>
          <p:cNvSpPr/>
          <p:nvPr/>
        </p:nvSpPr>
        <p:spPr>
          <a:xfrm>
            <a:off x="9875520" y="4023360"/>
            <a:ext cx="548640" cy="731520"/>
          </a:xfrm>
          <a:prstGeom prst="line">
            <a:avLst/>
          </a:prstGeom>
          <a:noFill/>
          <a:ln w="15875">
            <a:solidFill>
              <a:srgbClr val="DCE3EE"/>
            </a:solidFill>
            <a:prstDash val="dash"/>
          </a:ln>
        </p:spPr>
      </p:sp>
      <p:sp>
        <p:nvSpPr>
          <p:cNvPr id="58" name="Text 56"/>
          <p:cNvSpPr/>
          <p:nvPr/>
        </p:nvSpPr>
        <p:spPr>
          <a:xfrm>
            <a:off x="9829800" y="4233672"/>
            <a:ext cx="640080" cy="256032"/>
          </a:xfrm>
          <a:prstGeom prst="rect">
            <a:avLst/>
          </a:prstGeom>
          <a:noFill/>
          <a:ln/>
        </p:spPr>
        <p:txBody>
          <a:bodyPr wrap="square" lIns="0" tIns="0" rIns="0" bIns="0" rtlCol="0" anchor="ctr"/>
          <a:lstStyle/>
          <a:p>
            <a:pPr algn="ctr" indent="0" marL="0">
              <a:buNone/>
            </a:pPr>
            <a:r>
              <a:rPr lang="en-US" sz="1100" i="1" dirty="0">
                <a:solidFill>
                  <a:srgbClr val="DCE3EE"/>
                </a:solidFill>
                <a:latin typeface="Calibri" pitchFamily="34" charset="0"/>
                <a:ea typeface="Calibri" pitchFamily="34" charset="-122"/>
                <a:cs typeface="Calibri" pitchFamily="34" charset="-120"/>
              </a:rPr>
              <a:t>n</a:t>
            </a:r>
            <a:endParaRPr lang="en-US" sz="1100" dirty="0"/>
          </a:p>
        </p:txBody>
      </p:sp>
      <p:sp>
        <p:nvSpPr>
          <p:cNvPr id="59" name="Shape 57"/>
          <p:cNvSpPr/>
          <p:nvPr/>
        </p:nvSpPr>
        <p:spPr>
          <a:xfrm>
            <a:off x="10222992" y="4782312"/>
            <a:ext cx="402336" cy="310896"/>
          </a:xfrm>
          <a:prstGeom prst="roundRect">
            <a:avLst>
              <a:gd name="adj" fmla="val 14706"/>
            </a:avLst>
          </a:prstGeom>
          <a:solidFill>
            <a:srgbClr val="FFFFFF"/>
          </a:solidFill>
          <a:ln w="12700">
            <a:solidFill>
              <a:srgbClr val="C1272D"/>
            </a:solidFill>
            <a:prstDash val="solid"/>
          </a:ln>
        </p:spPr>
      </p:sp>
      <p:sp>
        <p:nvSpPr>
          <p:cNvPr id="60" name="Text 58"/>
          <p:cNvSpPr/>
          <p:nvPr/>
        </p:nvSpPr>
        <p:spPr>
          <a:xfrm>
            <a:off x="10021824" y="4782312"/>
            <a:ext cx="804672" cy="310896"/>
          </a:xfrm>
          <a:prstGeom prst="rect">
            <a:avLst/>
          </a:prstGeom>
          <a:noFill/>
          <a:ln/>
        </p:spPr>
        <p:txBody>
          <a:bodyPr wrap="square" lIns="0" tIns="0" rIns="0" bIns="0" rtlCol="0" anchor="ctr"/>
          <a:lstStyle/>
          <a:p>
            <a:pPr algn="ctr" indent="0" marL="0">
              <a:buNone/>
            </a:pPr>
            <a:r>
              <a:rPr lang="en-US" sz="1300" b="1" dirty="0">
                <a:solidFill>
                  <a:srgbClr val="C1272D"/>
                </a:solidFill>
                <a:latin typeface="Calibri" pitchFamily="34" charset="0"/>
                <a:ea typeface="Calibri" pitchFamily="34" charset="-122"/>
                <a:cs typeface="Calibri" pitchFamily="34" charset="-120"/>
              </a:rPr>
              <a:t>4</a:t>
            </a:r>
            <a:endParaRPr lang="en-US" sz="1300" dirty="0"/>
          </a:p>
        </p:txBody>
      </p:sp>
      <p:sp>
        <p:nvSpPr>
          <p:cNvPr id="61" name="Text 59"/>
          <p:cNvSpPr/>
          <p:nvPr/>
        </p:nvSpPr>
        <p:spPr>
          <a:xfrm>
            <a:off x="640080" y="5212080"/>
            <a:ext cx="10881360" cy="4572000"/>
          </a:xfrm>
          <a:prstGeom prst="rect">
            <a:avLst/>
          </a:prstGeom>
          <a:noFill/>
          <a:ln/>
        </p:spPr>
        <p:txBody>
          <a:bodyPr wrap="square" lIns="0" tIns="0" rIns="0" bIns="0" rtlCol="0" anchor="t"/>
          <a:lstStyle/>
          <a:p>
            <a:pPr marL="203200" indent="-203200">
              <a:spcAft>
                <a:spcPts val="200"/>
              </a:spcAft>
              <a:buSzPct val="100000"/>
              <a:buChar char="•"/>
            </a:pPr>
            <a:r>
              <a:rPr lang="en-US" sz="1350" dirty="0">
                <a:solidFill>
                  <a:srgbClr val="1A1A1A"/>
                </a:solidFill>
                <a:latin typeface="Calibri" pitchFamily="34" charset="0"/>
                <a:ea typeface="Calibri" pitchFamily="34" charset="-122"/>
                <a:cs typeface="Calibri" pitchFamily="34" charset="-120"/>
              </a:rPr>
              <a:t>Left MAX node returns 10 (c = 10, d = 6). The left MIN node sets beta = 10.</a:t>
            </a:r>
            <a:endParaRPr lang="en-US" sz="1350" dirty="0"/>
          </a:p>
          <a:p>
            <a:pPr marL="203200" indent="-203200">
              <a:spcAft>
                <a:spcPts val="200"/>
              </a:spcAft>
              <a:buSzPct val="100000"/>
              <a:buChar char="•"/>
            </a:pPr>
            <a:r>
              <a:rPr lang="en-US" sz="1350" b="1" dirty="0">
                <a:solidFill>
                  <a:srgbClr val="1A1A1A"/>
                </a:solidFill>
                <a:latin typeface="Calibri" pitchFamily="34" charset="0"/>
                <a:ea typeface="Calibri" pitchFamily="34" charset="-122"/>
                <a:cs typeface="Calibri" pitchFamily="34" charset="-120"/>
              </a:rPr>
              <a:t>Second MAX node: f = 100 immediately reaches 100 &gt;= beta = 10, so g is pruned. The MIN node returns min(10, 100) = 10; the root sets alpha = 10.</a:t>
            </a:r>
            <a:endParaRPr lang="en-US" sz="1350" dirty="0"/>
          </a:p>
          <a:p>
            <a:pPr marL="203200" indent="-203200">
              <a:spcAft>
                <a:spcPts val="200"/>
              </a:spcAft>
              <a:buSzPct val="100000"/>
              <a:buChar char="•"/>
            </a:pPr>
            <a:r>
              <a:rPr lang="en-US" sz="1350" b="1" dirty="0">
                <a:solidFill>
                  <a:srgbClr val="1A1A1A"/>
                </a:solidFill>
                <a:latin typeface="Calibri" pitchFamily="34" charset="0"/>
                <a:ea typeface="Calibri" pitchFamily="34" charset="-122"/>
                <a:cs typeface="Calibri" pitchFamily="34" charset="-120"/>
              </a:rPr>
              <a:t>Right MIN node inherits alpha = 10. Its first MAX child evaluates j = 1 and k = 2 and returns 2. Now 2 &lt;= alpha = 10, so the entire l subtree - m and n - is pruned without a single evaluation.</a:t>
            </a:r>
            <a:endParaRPr lang="en-US" sz="1350" dirty="0"/>
          </a:p>
          <a:p>
            <a:pPr marL="203200" indent="-203200">
              <a:spcAft>
                <a:spcPts val="200"/>
              </a:spcAft>
              <a:buSzPct val="100000"/>
              <a:buChar char="•"/>
            </a:pPr>
            <a:r>
              <a:rPr lang="en-US" sz="1350" dirty="0">
                <a:solidFill>
                  <a:srgbClr val="1A1A1A"/>
                </a:solidFill>
                <a:latin typeface="Calibri" pitchFamily="34" charset="0"/>
                <a:ea typeface="Calibri" pitchFamily="34" charset="-122"/>
                <a:cs typeface="Calibri" pitchFamily="34" charset="-120"/>
              </a:rPr>
              <a:t>Root = max(10, 2) = 10, so MAX plays a. Note that pruning an internal node discards everything beneath it, not just one leaf.</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WHAT IS GUARANTEED, AND ONE TRAP</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Properties of Alpha-Beta Pruning</a:t>
            </a:r>
            <a:endParaRPr lang="en-US" sz="2900" dirty="0"/>
          </a:p>
        </p:txBody>
      </p:sp>
      <p:sp>
        <p:nvSpPr>
          <p:cNvPr id="4" name="Shape 2"/>
          <p:cNvSpPr/>
          <p:nvPr/>
        </p:nvSpPr>
        <p:spPr>
          <a:xfrm>
            <a:off x="640080" y="1371600"/>
            <a:ext cx="5349240" cy="1600200"/>
          </a:xfrm>
          <a:prstGeom prst="roundRect">
            <a:avLst>
              <a:gd name="adj" fmla="val 4571"/>
            </a:avLst>
          </a:prstGeom>
          <a:solidFill>
            <a:srgbClr val="DCE6FA"/>
          </a:solidFill>
          <a:ln w="12700">
            <a:solidFill>
              <a:srgbClr val="1F5AC4"/>
            </a:solidFill>
            <a:prstDash val="solid"/>
          </a:ln>
        </p:spPr>
      </p:sp>
      <p:sp>
        <p:nvSpPr>
          <p:cNvPr id="5" name="Text 3"/>
          <p:cNvSpPr/>
          <p:nvPr/>
        </p:nvSpPr>
        <p:spPr>
          <a:xfrm>
            <a:off x="84124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The root value is exact</a:t>
            </a:r>
            <a:endParaRPr lang="en-US" sz="1500" dirty="0"/>
          </a:p>
        </p:txBody>
      </p:sp>
      <p:sp>
        <p:nvSpPr>
          <p:cNvPr id="6" name="Text 4"/>
          <p:cNvSpPr/>
          <p:nvPr/>
        </p:nvSpPr>
        <p:spPr>
          <a:xfrm>
            <a:off x="841248" y="1865376"/>
            <a:ext cx="4946904" cy="94183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Pruning has no effect on the minimax value computed at the root. Same answer as full minimax, every time.</a:t>
            </a:r>
            <a:endParaRPr lang="en-US" sz="1300" dirty="0"/>
          </a:p>
        </p:txBody>
      </p:sp>
      <p:sp>
        <p:nvSpPr>
          <p:cNvPr id="7" name="Shape 5"/>
          <p:cNvSpPr/>
          <p:nvPr/>
        </p:nvSpPr>
        <p:spPr>
          <a:xfrm>
            <a:off x="6172200" y="1371600"/>
            <a:ext cx="5349240" cy="1600200"/>
          </a:xfrm>
          <a:prstGeom prst="roundRect">
            <a:avLst>
              <a:gd name="adj" fmla="val 4571"/>
            </a:avLst>
          </a:prstGeom>
          <a:solidFill>
            <a:srgbClr val="FBEFD8"/>
          </a:solidFill>
          <a:ln w="12700">
            <a:solidFill>
              <a:srgbClr val="D98C1F"/>
            </a:solidFill>
            <a:prstDash val="solid"/>
          </a:ln>
        </p:spPr>
      </p:sp>
      <p:sp>
        <p:nvSpPr>
          <p:cNvPr id="8" name="Text 6"/>
          <p:cNvSpPr/>
          <p:nvPr/>
        </p:nvSpPr>
        <p:spPr>
          <a:xfrm>
            <a:off x="637336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Intermediate values may be wrong</a:t>
            </a:r>
            <a:endParaRPr lang="en-US" sz="1500" dirty="0"/>
          </a:p>
        </p:txBody>
      </p:sp>
      <p:sp>
        <p:nvSpPr>
          <p:cNvPr id="9" name="Text 7"/>
          <p:cNvSpPr/>
          <p:nvPr/>
        </p:nvSpPr>
        <p:spPr>
          <a:xfrm>
            <a:off x="6373368" y="1865376"/>
            <a:ext cx="4946904" cy="941832"/>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A pruned node returns a bound, not its true value. In Exercise 3 the second MAX node 'returns' 100, which is not its minimax value.</a:t>
            </a:r>
            <a:endParaRPr lang="en-US" sz="1300" dirty="0"/>
          </a:p>
        </p:txBody>
      </p:sp>
      <p:sp>
        <p:nvSpPr>
          <p:cNvPr id="10" name="Shape 8"/>
          <p:cNvSpPr/>
          <p:nvPr/>
        </p:nvSpPr>
        <p:spPr>
          <a:xfrm>
            <a:off x="640080" y="3200400"/>
            <a:ext cx="10881360" cy="1234440"/>
          </a:xfrm>
          <a:prstGeom prst="roundRect">
            <a:avLst>
              <a:gd name="adj" fmla="val 5926"/>
            </a:avLst>
          </a:prstGeom>
          <a:solidFill>
            <a:srgbClr val="F7DEDF"/>
          </a:solidFill>
          <a:ln w="12700">
            <a:solidFill>
              <a:srgbClr val="C1272D"/>
            </a:solidFill>
            <a:prstDash val="solid"/>
          </a:ln>
        </p:spPr>
      </p:sp>
      <p:sp>
        <p:nvSpPr>
          <p:cNvPr id="11" name="Text 9"/>
          <p:cNvSpPr/>
          <p:nvPr/>
        </p:nvSpPr>
        <p:spPr>
          <a:xfrm>
            <a:off x="841248" y="3346704"/>
            <a:ext cx="1047902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The trap: children of the root may carry wrong values too</a:t>
            </a:r>
            <a:endParaRPr lang="en-US" sz="1500" dirty="0"/>
          </a:p>
        </p:txBody>
      </p:sp>
      <p:sp>
        <p:nvSpPr>
          <p:cNvPr id="12" name="Text 10"/>
          <p:cNvSpPr/>
          <p:nvPr/>
        </p:nvSpPr>
        <p:spPr>
          <a:xfrm>
            <a:off x="841248" y="3694176"/>
            <a:ext cx="10479024" cy="576072"/>
          </a:xfrm>
          <a:prstGeom prst="rect">
            <a:avLst/>
          </a:prstGeom>
          <a:noFill/>
          <a:ln/>
        </p:spPr>
        <p:txBody>
          <a:bodyPr wrap="square" lIns="0" tIns="0" rIns="0" bIns="0" rtlCol="0" anchor="t"/>
          <a:lstStyle/>
          <a:p>
            <a:pPr indent="0" marL="0">
              <a:lnSpc>
                <a:spcPct val="108000"/>
              </a:lnSpc>
              <a:buNone/>
            </a:pPr>
            <a:r>
              <a:rPr lang="en-US" sz="1350" dirty="0">
                <a:solidFill>
                  <a:srgbClr val="1A1A1A"/>
                </a:solidFill>
                <a:latin typeface="Calibri" pitchFamily="34" charset="0"/>
                <a:ea typeface="Calibri" pitchFamily="34" charset="-122"/>
                <a:cs typeface="Calibri" pitchFamily="34" charset="-120"/>
              </a:rPr>
              <a:t>So the most naive implementation gives you the right root value but cannot tell you which move produced it. Track the best action explicitly as you update alpha at the root, or run a separate top-level loop that does not prune the root's own children.</a:t>
            </a:r>
            <a:endParaRPr lang="en-US" sz="1350" dirty="0"/>
          </a:p>
        </p:txBody>
      </p:sp>
      <p:sp>
        <p:nvSpPr>
          <p:cNvPr id="13" name="Text 11"/>
          <p:cNvSpPr/>
          <p:nvPr/>
        </p:nvSpPr>
        <p:spPr>
          <a:xfrm>
            <a:off x="640080" y="4709160"/>
            <a:ext cx="10881360" cy="457200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rgbClr val="1A1A1A"/>
                </a:solidFill>
                <a:latin typeface="Calibri" pitchFamily="34" charset="0"/>
                <a:ea typeface="Calibri" pitchFamily="34" charset="-122"/>
                <a:cs typeface="Calibri" pitchFamily="34" charset="-120"/>
              </a:rPr>
              <a:t>Alpha-beta is a simple example of metareasoning: computing about what to compute. We spend a little effort maintaining two bounds in order to avoid a great deal of search.</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5.2.4</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Move Ordering Decides How Much You Save</a:t>
            </a:r>
            <a:endParaRPr lang="en-US" sz="2900" dirty="0"/>
          </a:p>
        </p:txBody>
      </p:sp>
      <p:sp>
        <p:nvSpPr>
          <p:cNvPr id="4" name="Text 2"/>
          <p:cNvSpPr/>
          <p:nvPr/>
        </p:nvSpPr>
        <p:spPr>
          <a:xfrm>
            <a:off x="640080" y="1508760"/>
            <a:ext cx="3291840" cy="658368"/>
          </a:xfrm>
          <a:prstGeom prst="rect">
            <a:avLst/>
          </a:prstGeom>
          <a:noFill/>
          <a:ln/>
        </p:spPr>
        <p:txBody>
          <a:bodyPr wrap="square" lIns="0" tIns="0" rIns="0" bIns="0" rtlCol="0" anchor="ctr"/>
          <a:lstStyle/>
          <a:p>
            <a:pPr algn="ctr" indent="0" marL="0">
              <a:buNone/>
            </a:pPr>
            <a:r>
              <a:rPr lang="en-US" sz="4200" b="1" dirty="0">
                <a:solidFill>
                  <a:srgbClr val="C1272D"/>
                </a:solidFill>
                <a:latin typeface="Cambria" pitchFamily="34" charset="0"/>
                <a:ea typeface="Cambria" pitchFamily="34" charset="-122"/>
                <a:cs typeface="Cambria" pitchFamily="34" charset="-120"/>
              </a:rPr>
              <a:t>O(b^m)</a:t>
            </a:r>
            <a:endParaRPr lang="en-US" sz="4200" dirty="0"/>
          </a:p>
        </p:txBody>
      </p:sp>
      <p:sp>
        <p:nvSpPr>
          <p:cNvPr id="5" name="Text 3"/>
          <p:cNvSpPr/>
          <p:nvPr/>
        </p:nvSpPr>
        <p:spPr>
          <a:xfrm>
            <a:off x="640080" y="2185416"/>
            <a:ext cx="329184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worst-case ordering:</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no better than minimax</a:t>
            </a:r>
            <a:endParaRPr lang="en-US" sz="1200" dirty="0"/>
          </a:p>
        </p:txBody>
      </p:sp>
      <p:sp>
        <p:nvSpPr>
          <p:cNvPr id="6" name="Text 4"/>
          <p:cNvSpPr/>
          <p:nvPr/>
        </p:nvSpPr>
        <p:spPr>
          <a:xfrm>
            <a:off x="4206240" y="1508760"/>
            <a:ext cx="3291840" cy="658368"/>
          </a:xfrm>
          <a:prstGeom prst="rect">
            <a:avLst/>
          </a:prstGeom>
          <a:noFill/>
          <a:ln/>
        </p:spPr>
        <p:txBody>
          <a:bodyPr wrap="square" lIns="0" tIns="0" rIns="0" bIns="0" rtlCol="0" anchor="ctr"/>
          <a:lstStyle/>
          <a:p>
            <a:pPr algn="ctr" indent="0" marL="0">
              <a:buNone/>
            </a:pPr>
            <a:r>
              <a:rPr lang="en-US" sz="3400" b="1" dirty="0">
                <a:solidFill>
                  <a:srgbClr val="D98C1F"/>
                </a:solidFill>
                <a:latin typeface="Cambria" pitchFamily="34" charset="0"/>
                <a:ea typeface="Cambria" pitchFamily="34" charset="-122"/>
                <a:cs typeface="Cambria" pitchFamily="34" charset="-120"/>
              </a:rPr>
              <a:t>O(b^(3m/4))</a:t>
            </a:r>
            <a:endParaRPr lang="en-US" sz="3400" dirty="0"/>
          </a:p>
        </p:txBody>
      </p:sp>
      <p:sp>
        <p:nvSpPr>
          <p:cNvPr id="7" name="Text 5"/>
          <p:cNvSpPr/>
          <p:nvPr/>
        </p:nvSpPr>
        <p:spPr>
          <a:xfrm>
            <a:off x="4206240" y="2185416"/>
            <a:ext cx="329184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random ordering,</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for moderate b</a:t>
            </a:r>
            <a:endParaRPr lang="en-US" sz="1200" dirty="0"/>
          </a:p>
        </p:txBody>
      </p:sp>
      <p:sp>
        <p:nvSpPr>
          <p:cNvPr id="8" name="Text 6"/>
          <p:cNvSpPr/>
          <p:nvPr/>
        </p:nvSpPr>
        <p:spPr>
          <a:xfrm>
            <a:off x="7772400" y="1508760"/>
            <a:ext cx="3749040" cy="658368"/>
          </a:xfrm>
          <a:prstGeom prst="rect">
            <a:avLst/>
          </a:prstGeom>
          <a:noFill/>
          <a:ln/>
        </p:spPr>
        <p:txBody>
          <a:bodyPr wrap="square" lIns="0" tIns="0" rIns="0" bIns="0" rtlCol="0" anchor="ctr"/>
          <a:lstStyle/>
          <a:p>
            <a:pPr algn="ctr" indent="0" marL="0">
              <a:buNone/>
            </a:pPr>
            <a:r>
              <a:rPr lang="en-US" sz="3400" b="1" dirty="0">
                <a:solidFill>
                  <a:srgbClr val="1E7A4C"/>
                </a:solidFill>
                <a:latin typeface="Cambria" pitchFamily="34" charset="0"/>
                <a:ea typeface="Cambria" pitchFamily="34" charset="-122"/>
                <a:cs typeface="Cambria" pitchFamily="34" charset="-120"/>
              </a:rPr>
              <a:t>O(b^(m/2))</a:t>
            </a:r>
            <a:endParaRPr lang="en-US" sz="3400" dirty="0"/>
          </a:p>
        </p:txBody>
      </p:sp>
      <p:sp>
        <p:nvSpPr>
          <p:cNvPr id="9" name="Text 7"/>
          <p:cNvSpPr/>
          <p:nvPr/>
        </p:nvSpPr>
        <p:spPr>
          <a:xfrm>
            <a:off x="7772400" y="2185416"/>
            <a:ext cx="374904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perfect ordering:</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doubles the solvable depth</a:t>
            </a:r>
            <a:endParaRPr lang="en-US" sz="1200" dirty="0"/>
          </a:p>
        </p:txBody>
      </p:sp>
      <p:sp>
        <p:nvSpPr>
          <p:cNvPr id="10" name="Text 8"/>
          <p:cNvSpPr/>
          <p:nvPr/>
        </p:nvSpPr>
        <p:spPr>
          <a:xfrm>
            <a:off x="640080" y="3520440"/>
            <a:ext cx="10881360" cy="45720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With perfect ordering the effective branching factor becomes the square root of b - about 6 instead of 35 for chess.</a:t>
            </a:r>
            <a:endParaRPr lang="en-US" sz="1500" dirty="0"/>
          </a:p>
          <a:p>
            <a:pPr marL="203200" indent="-2032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In Exercise 3 we could not prune the third branch of D in the earlier example because MIN's worst successors came first. Generate the likely-best moves first and the cutoffs arrive early.</a:t>
            </a:r>
            <a:endParaRPr lang="en-US" sz="1500" dirty="0"/>
          </a:p>
          <a:p>
            <a:pPr marL="203200" indent="-203200">
              <a:spcAft>
                <a:spcPts val="800"/>
              </a:spcAft>
              <a:buSzPct val="100000"/>
              <a:buChar char="•"/>
            </a:pPr>
            <a:r>
              <a:rPr lang="en-US" sz="1500" b="1" dirty="0">
                <a:solidFill>
                  <a:srgbClr val="1A1A1A"/>
                </a:solidFill>
                <a:latin typeface="Calibri" pitchFamily="34" charset="0"/>
                <a:ea typeface="Calibri" pitchFamily="34" charset="-122"/>
                <a:cs typeface="Calibri" pitchFamily="34" charset="-120"/>
              </a:rPr>
              <a:t>Perfect ordering is of course impossible - an ordering function that good could just play the game itself. But cheap heuristics get close:</a:t>
            </a:r>
            <a:endParaRPr lang="en-US" sz="1500" dirty="0"/>
          </a:p>
          <a:p>
            <a:pPr lvl="1" marL="406400" indent="-203200">
              <a:spcAft>
                <a:spcPts val="800"/>
              </a:spcAft>
              <a:buSzPct val="100000"/>
              <a:buChar char="•"/>
            </a:pPr>
            <a:r>
              <a:rPr lang="en-US" sz="1400" dirty="0">
                <a:solidFill>
                  <a:srgbClr val="55607A"/>
                </a:solidFill>
                <a:latin typeface="Calibri" pitchFamily="34" charset="0"/>
                <a:ea typeface="Calibri" pitchFamily="34" charset="-122"/>
                <a:cs typeface="Calibri" pitchFamily="34" charset="-120"/>
              </a:rPr>
              <a:t>Chess: try captures, then threats, then forward moves, then backward moves. That simple rule lands within about a factor of 2 of the best case.</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5.2.4</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Dynamic Ordering and Transposition Tables</a:t>
            </a:r>
            <a:endParaRPr lang="en-US" sz="2900" dirty="0"/>
          </a:p>
        </p:txBody>
      </p:sp>
      <p:sp>
        <p:nvSpPr>
          <p:cNvPr id="4" name="Shape 2"/>
          <p:cNvSpPr/>
          <p:nvPr/>
        </p:nvSpPr>
        <p:spPr>
          <a:xfrm>
            <a:off x="640080" y="1371600"/>
            <a:ext cx="3429000" cy="2286000"/>
          </a:xfrm>
          <a:prstGeom prst="roundRect">
            <a:avLst>
              <a:gd name="adj" fmla="val 3200"/>
            </a:avLst>
          </a:prstGeom>
          <a:solidFill>
            <a:srgbClr val="EFF3F9"/>
          </a:solidFill>
          <a:ln w="12700">
            <a:solidFill>
              <a:srgbClr val="EFF3F9"/>
            </a:solidFill>
            <a:prstDash val="solid"/>
          </a:ln>
        </p:spPr>
      </p:sp>
      <p:sp>
        <p:nvSpPr>
          <p:cNvPr id="5" name="Text 3"/>
          <p:cNvSpPr/>
          <p:nvPr/>
        </p:nvSpPr>
        <p:spPr>
          <a:xfrm>
            <a:off x="841248" y="1517904"/>
            <a:ext cx="30266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Killer moves</a:t>
            </a:r>
            <a:endParaRPr lang="en-US" sz="1500" dirty="0"/>
          </a:p>
        </p:txBody>
      </p:sp>
      <p:sp>
        <p:nvSpPr>
          <p:cNvPr id="6" name="Text 4"/>
          <p:cNvSpPr/>
          <p:nvPr/>
        </p:nvSpPr>
        <p:spPr>
          <a:xfrm>
            <a:off x="841248" y="1865376"/>
            <a:ext cx="3026664" cy="162763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Try first the moves that were best in the recent past. Often the same threat is still live one ply later. Trying them first is the killer move heuristic.</a:t>
            </a:r>
            <a:endParaRPr lang="en-US" sz="1300" dirty="0"/>
          </a:p>
        </p:txBody>
      </p:sp>
      <p:sp>
        <p:nvSpPr>
          <p:cNvPr id="7" name="Shape 5"/>
          <p:cNvSpPr/>
          <p:nvPr/>
        </p:nvSpPr>
        <p:spPr>
          <a:xfrm>
            <a:off x="4343400" y="1371600"/>
            <a:ext cx="3429000" cy="2286000"/>
          </a:xfrm>
          <a:prstGeom prst="roundRect">
            <a:avLst>
              <a:gd name="adj" fmla="val 3200"/>
            </a:avLst>
          </a:prstGeom>
          <a:solidFill>
            <a:srgbClr val="EFF3F9"/>
          </a:solidFill>
          <a:ln w="12700">
            <a:solidFill>
              <a:srgbClr val="EFF3F9"/>
            </a:solidFill>
            <a:prstDash val="solid"/>
          </a:ln>
        </p:spPr>
      </p:sp>
      <p:sp>
        <p:nvSpPr>
          <p:cNvPr id="8" name="Text 6"/>
          <p:cNvSpPr/>
          <p:nvPr/>
        </p:nvSpPr>
        <p:spPr>
          <a:xfrm>
            <a:off x="4544568" y="1517904"/>
            <a:ext cx="30266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Iterative deepening</a:t>
            </a:r>
            <a:endParaRPr lang="en-US" sz="1500" dirty="0"/>
          </a:p>
        </p:txBody>
      </p:sp>
      <p:sp>
        <p:nvSpPr>
          <p:cNvPr id="9" name="Text 7"/>
          <p:cNvSpPr/>
          <p:nvPr/>
        </p:nvSpPr>
        <p:spPr>
          <a:xfrm>
            <a:off x="4544568" y="1865376"/>
            <a:ext cx="3026664" cy="162763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Search one ply and record the ranking. Search one ply deeper using that ranking to order moves. Repeat. The re-search cost is more than repaid by the better ordering.</a:t>
            </a:r>
            <a:endParaRPr lang="en-US" sz="1300" dirty="0"/>
          </a:p>
        </p:txBody>
      </p:sp>
      <p:sp>
        <p:nvSpPr>
          <p:cNvPr id="10" name="Shape 8"/>
          <p:cNvSpPr/>
          <p:nvPr/>
        </p:nvSpPr>
        <p:spPr>
          <a:xfrm>
            <a:off x="8092440" y="1371600"/>
            <a:ext cx="3429000" cy="2286000"/>
          </a:xfrm>
          <a:prstGeom prst="roundRect">
            <a:avLst>
              <a:gd name="adj" fmla="val 3200"/>
            </a:avLst>
          </a:prstGeom>
          <a:solidFill>
            <a:srgbClr val="DCE6FA"/>
          </a:solidFill>
          <a:ln w="12700">
            <a:solidFill>
              <a:srgbClr val="1F5AC4"/>
            </a:solidFill>
            <a:prstDash val="solid"/>
          </a:ln>
        </p:spPr>
      </p:sp>
      <p:sp>
        <p:nvSpPr>
          <p:cNvPr id="11" name="Text 9"/>
          <p:cNvSpPr/>
          <p:nvPr/>
        </p:nvSpPr>
        <p:spPr>
          <a:xfrm>
            <a:off x="8293608" y="1517904"/>
            <a:ext cx="30266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Transposition tables</a:t>
            </a:r>
            <a:endParaRPr lang="en-US" sz="1500" dirty="0"/>
          </a:p>
        </p:txBody>
      </p:sp>
      <p:sp>
        <p:nvSpPr>
          <p:cNvPr id="12" name="Text 10"/>
          <p:cNvSpPr/>
          <p:nvPr/>
        </p:nvSpPr>
        <p:spPr>
          <a:xfrm>
            <a:off x="8293608" y="1865376"/>
            <a:ext cx="3026664" cy="162763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Different move permutations reach the same position - a transposition. Cache the backed-up value keyed by position and look it up instead of re-searching.</a:t>
            </a:r>
            <a:endParaRPr lang="en-US" sz="1300" dirty="0"/>
          </a:p>
        </p:txBody>
      </p:sp>
      <p:sp>
        <p:nvSpPr>
          <p:cNvPr id="13" name="Shape 11"/>
          <p:cNvSpPr/>
          <p:nvPr/>
        </p:nvSpPr>
        <p:spPr>
          <a:xfrm>
            <a:off x="640080" y="3886200"/>
            <a:ext cx="10881360" cy="1051560"/>
          </a:xfrm>
          <a:prstGeom prst="roundRect">
            <a:avLst>
              <a:gd name="adj" fmla="val 5217"/>
            </a:avLst>
          </a:prstGeom>
          <a:solidFill>
            <a:srgbClr val="DCE6FA"/>
          </a:solidFill>
          <a:ln w="12700">
            <a:solidFill>
              <a:srgbClr val="DCE6FA"/>
            </a:solidFill>
            <a:prstDash val="solid"/>
          </a:ln>
        </p:spPr>
      </p:sp>
      <p:sp>
        <p:nvSpPr>
          <p:cNvPr id="14" name="Text 12"/>
          <p:cNvSpPr/>
          <p:nvPr/>
        </p:nvSpPr>
        <p:spPr>
          <a:xfrm>
            <a:off x="822960" y="3977640"/>
            <a:ext cx="10515600" cy="868680"/>
          </a:xfrm>
          <a:prstGeom prst="rect">
            <a:avLst/>
          </a:prstGeom>
          <a:noFill/>
          <a:ln/>
        </p:spPr>
        <p:txBody>
          <a:bodyPr wrap="square" lIns="0" tIns="0" rIns="0" bIns="0" rtlCol="0" anchor="ctr"/>
          <a:lstStyle/>
          <a:p>
            <a:pPr algn="ctr" indent="0" marL="0">
              <a:lnSpc>
                <a:spcPct val="115000"/>
              </a:lnSpc>
              <a:buNone/>
            </a:pPr>
            <a:r>
              <a:rPr lang="en-US" sz="1450" dirty="0">
                <a:solidFill>
                  <a:srgbClr val="14213D"/>
                </a:solidFill>
                <a:latin typeface="Courier New" pitchFamily="34" charset="0"/>
                <a:ea typeface="Courier New" pitchFamily="34" charset="-122"/>
                <a:cs typeface="Courier New" pitchFamily="34" charset="-120"/>
              </a:rPr>
              <a:t>Search  [w1, b1, w2, b2]  -&gt;  state s        Search  [w2, b2, w1, b1]  -&gt;  the same state s</a:t>
            </a:r>
            <a:endParaRPr lang="en-US" sz="1450" dirty="0"/>
          </a:p>
          <a:p>
            <a:pPr algn="ctr" indent="0" marL="0">
              <a:lnSpc>
                <a:spcPct val="115000"/>
              </a:lnSpc>
              <a:buNone/>
            </a:pPr>
            <a:r>
              <a:rPr lang="en-US" sz="1450" dirty="0">
                <a:solidFill>
                  <a:srgbClr val="14213D"/>
                </a:solidFill>
                <a:latin typeface="Courier New" pitchFamily="34" charset="0"/>
                <a:ea typeface="Courier New" pitchFamily="34" charset="-122"/>
                <a:cs typeface="Courier New" pitchFamily="34" charset="-120"/>
              </a:rPr>
              <a:t>The second search reads the value out of the table instead of expanding the subtree again.</a:t>
            </a:r>
            <a:endParaRPr lang="en-US" sz="1450" dirty="0"/>
          </a:p>
        </p:txBody>
      </p:sp>
      <p:sp>
        <p:nvSpPr>
          <p:cNvPr id="15" name="Text 13"/>
          <p:cNvSpPr/>
          <p:nvPr/>
        </p:nvSpPr>
        <p:spPr>
          <a:xfrm>
            <a:off x="640080" y="5120640"/>
            <a:ext cx="10881360" cy="457200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rgbClr val="1A1A1A"/>
                </a:solidFill>
                <a:latin typeface="Calibri" pitchFamily="34" charset="0"/>
                <a:ea typeface="Calibri" pitchFamily="34" charset="-122"/>
                <a:cs typeface="Calibri" pitchFamily="34" charset="-120"/>
              </a:rPr>
              <a:t>In chess, transposition tables alone roughly double the reachable search depth for the same computation.</a:t>
            </a:r>
            <a:endParaRPr lang="en-US" sz="1500" dirty="0"/>
          </a:p>
          <a:p>
            <a:pPr marL="203200" indent="-203200">
              <a:spcAft>
                <a:spcPts val="600"/>
              </a:spcAft>
              <a:buSzPct val="100000"/>
              <a:buChar char="•"/>
            </a:pPr>
            <a:r>
              <a:rPr lang="en-US" sz="1500" dirty="0">
                <a:solidFill>
                  <a:srgbClr val="1A1A1A"/>
                </a:solidFill>
                <a:latin typeface="Calibri" pitchFamily="34" charset="0"/>
                <a:ea typeface="Calibri" pitchFamily="34" charset="-122"/>
                <a:cs typeface="Calibri" pitchFamily="34" charset="-120"/>
              </a:rPr>
              <a:t>This is the game-tree version of the repeated-state problem from Section 3.3.3 - and the same remedy: remember where you have been.</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331720"/>
            <a:ext cx="914400" cy="914400"/>
          </a:xfrm>
          <a:prstGeom prst="ellipse">
            <a:avLst/>
          </a:prstGeom>
          <a:solidFill>
            <a:srgbClr val="D98C1F"/>
          </a:solidFill>
          <a:ln w="12700">
            <a:solidFill>
              <a:srgbClr val="D98C1F"/>
            </a:solidFill>
            <a:prstDash val="solid"/>
          </a:ln>
        </p:spPr>
      </p:sp>
      <p:sp>
        <p:nvSpPr>
          <p:cNvPr id="3" name="Text 1"/>
          <p:cNvSpPr/>
          <p:nvPr/>
        </p:nvSpPr>
        <p:spPr>
          <a:xfrm>
            <a:off x="822960" y="2331720"/>
            <a:ext cx="914400" cy="914400"/>
          </a:xfrm>
          <a:prstGeom prst="rect">
            <a:avLst/>
          </a:prstGeom>
          <a:noFill/>
          <a:ln/>
        </p:spPr>
        <p:txBody>
          <a:bodyPr wrap="square" lIns="0" tIns="0" rIns="0" bIns="0" rtlCol="0" anchor="ctr"/>
          <a:lstStyle/>
          <a:p>
            <a:pPr algn="ctr" indent="0" marL="0">
              <a:buNone/>
            </a:pPr>
            <a:r>
              <a:rPr lang="en-US" sz="3400" b="1" dirty="0">
                <a:solidFill>
                  <a:srgbClr val="14213D"/>
                </a:solidFill>
                <a:latin typeface="Cambria" pitchFamily="34" charset="0"/>
                <a:ea typeface="Cambria" pitchFamily="34" charset="-122"/>
                <a:cs typeface="Cambria" pitchFamily="34" charset="-120"/>
              </a:rPr>
              <a:t>4</a:t>
            </a:r>
            <a:endParaRPr lang="en-US" sz="3400" dirty="0"/>
          </a:p>
        </p:txBody>
      </p:sp>
      <p:sp>
        <p:nvSpPr>
          <p:cNvPr id="4" name="Text 2"/>
          <p:cNvSpPr/>
          <p:nvPr/>
        </p:nvSpPr>
        <p:spPr>
          <a:xfrm>
            <a:off x="2057400" y="2194560"/>
            <a:ext cx="841248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Heuristic Alpha-Beta Tree Search</a:t>
            </a:r>
            <a:endParaRPr lang="en-US" sz="3800" dirty="0"/>
          </a:p>
        </p:txBody>
      </p:sp>
      <p:sp>
        <p:nvSpPr>
          <p:cNvPr id="5" name="Text 3"/>
          <p:cNvSpPr/>
          <p:nvPr/>
        </p:nvSpPr>
        <p:spPr>
          <a:xfrm>
            <a:off x="2103120" y="3017520"/>
            <a:ext cx="8412480" cy="822960"/>
          </a:xfrm>
          <a:prstGeom prst="rect">
            <a:avLst/>
          </a:prstGeom>
          <a:noFill/>
          <a:ln/>
        </p:spPr>
        <p:txBody>
          <a:bodyPr wrap="square" lIns="0" tIns="0" rIns="0" bIns="0" rtlCol="0" anchor="t"/>
          <a:lstStyle/>
          <a:p>
            <a:pPr indent="0" marL="0">
              <a:lnSpc>
                <a:spcPct val="120000"/>
              </a:lnSpc>
              <a:buNone/>
            </a:pPr>
            <a:r>
              <a:rPr lang="en-US" sz="1600" dirty="0">
                <a:solidFill>
                  <a:srgbClr val="DCE6FA"/>
                </a:solidFill>
                <a:latin typeface="Calibri" pitchFamily="34" charset="0"/>
                <a:ea typeface="Calibri" pitchFamily="34" charset="-122"/>
                <a:cs typeface="Calibri" pitchFamily="34" charset="-120"/>
              </a:rPr>
              <a:t>Cutting the search off early and estimating who is winning.</a:t>
            </a:r>
            <a:endParaRPr lang="en-US" sz="1600" dirty="0"/>
          </a:p>
        </p:txBody>
      </p:sp>
      <p:sp>
        <p:nvSpPr>
          <p:cNvPr id="6" name="Text 4"/>
          <p:cNvSpPr/>
          <p:nvPr/>
        </p:nvSpPr>
        <p:spPr>
          <a:xfrm>
            <a:off x="2103120" y="3977640"/>
            <a:ext cx="5486400" cy="292608"/>
          </a:xfrm>
          <a:prstGeom prst="rect">
            <a:avLst/>
          </a:prstGeom>
          <a:noFill/>
          <a:ln/>
        </p:spPr>
        <p:txBody>
          <a:bodyPr wrap="square" lIns="0" tIns="0" rIns="0" bIns="0" rtlCol="0" anchor="ctr"/>
          <a:lstStyle/>
          <a:p>
            <a:pPr indent="0" marL="0">
              <a:buNone/>
            </a:pPr>
            <a:r>
              <a:rPr lang="en-US" sz="1250" b="1" spc="120" kern="0" dirty="0">
                <a:solidFill>
                  <a:srgbClr val="D98C1F"/>
                </a:solidFill>
                <a:latin typeface="Calibri" pitchFamily="34" charset="0"/>
                <a:ea typeface="Calibri" pitchFamily="34" charset="-122"/>
                <a:cs typeface="Calibri" pitchFamily="34" charset="-120"/>
              </a:rPr>
              <a:t>AIMA 5.3  ·  ABOUT 25 MINUTES</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5.3  ·  CS 188</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Resource Limits</a:t>
            </a:r>
            <a:endParaRPr lang="en-US" sz="2900" dirty="0"/>
          </a:p>
        </p:txBody>
      </p:sp>
      <p:sp>
        <p:nvSpPr>
          <p:cNvPr id="4" name="Text 2"/>
          <p:cNvSpPr/>
          <p:nvPr/>
        </p:nvSpPr>
        <p:spPr>
          <a:xfrm>
            <a:off x="640080" y="1371600"/>
            <a:ext cx="5943600" cy="4572000"/>
          </a:xfrm>
          <a:prstGeom prst="rect">
            <a:avLst/>
          </a:prstGeom>
          <a:noFill/>
          <a:ln/>
        </p:spPr>
        <p:txBody>
          <a:bodyPr wrap="square" lIns="0" tIns="0" rIns="0" bIns="0" rtlCol="0" anchor="t"/>
          <a:lstStyle/>
          <a:p>
            <a:pPr marL="203200" indent="-203200">
              <a:spcAft>
                <a:spcPts val="1000"/>
              </a:spcAft>
              <a:buSzPct val="100000"/>
              <a:buChar char="•"/>
            </a:pPr>
            <a:r>
              <a:rPr lang="en-US" sz="1600" b="1" dirty="0">
                <a:solidFill>
                  <a:srgbClr val="1A1A1A"/>
                </a:solidFill>
                <a:latin typeface="Calibri" pitchFamily="34" charset="0"/>
                <a:ea typeface="Calibri" pitchFamily="34" charset="-122"/>
                <a:cs typeface="Calibri" pitchFamily="34" charset="-120"/>
              </a:rPr>
              <a:t>Problem: in realistic games we cannot search to the leaves.</a:t>
            </a:r>
            <a:endParaRPr lang="en-US" sz="1600" dirty="0"/>
          </a:p>
          <a:p>
            <a:pPr marL="203200" indent="-203200">
              <a:spcAft>
                <a:spcPts val="1000"/>
              </a:spcAft>
              <a:buSzPct val="100000"/>
              <a:buChar char="•"/>
            </a:pPr>
            <a:r>
              <a:rPr lang="en-US" sz="1600" b="1" dirty="0">
                <a:solidFill>
                  <a:srgbClr val="1A1A1A"/>
                </a:solidFill>
                <a:latin typeface="Calibri" pitchFamily="34" charset="0"/>
                <a:ea typeface="Calibri" pitchFamily="34" charset="-122"/>
                <a:cs typeface="Calibri" pitchFamily="34" charset="-120"/>
              </a:rPr>
              <a:t>Solution: depth-limited search.</a:t>
            </a:r>
            <a:endParaRPr lang="en-US" sz="1600" dirty="0"/>
          </a:p>
          <a:p>
            <a:pPr lvl="1" marL="406400" indent="-203200">
              <a:spcAft>
                <a:spcPts val="1000"/>
              </a:spcAft>
              <a:buSzPct val="100000"/>
              <a:buChar char="•"/>
            </a:pPr>
            <a:r>
              <a:rPr lang="en-US" sz="1500" dirty="0">
                <a:solidFill>
                  <a:srgbClr val="55607A"/>
                </a:solidFill>
                <a:latin typeface="Calibri" pitchFamily="34" charset="0"/>
                <a:ea typeface="Calibri" pitchFamily="34" charset="-122"/>
                <a:cs typeface="Calibri" pitchFamily="34" charset="-120"/>
              </a:rPr>
              <a:t>Search only to a limited depth in the tree.</a:t>
            </a:r>
            <a:endParaRPr lang="en-US" sz="1600" dirty="0"/>
          </a:p>
          <a:p>
            <a:pPr lvl="1" marL="406400" indent="-203200">
              <a:spcAft>
                <a:spcPts val="1000"/>
              </a:spcAft>
              <a:buSzPct val="100000"/>
              <a:buChar char="•"/>
            </a:pPr>
            <a:r>
              <a:rPr lang="en-US" sz="1500" dirty="0">
                <a:solidFill>
                  <a:srgbClr val="55607A"/>
                </a:solidFill>
                <a:latin typeface="Calibri" pitchFamily="34" charset="0"/>
                <a:ea typeface="Calibri" pitchFamily="34" charset="-122"/>
                <a:cs typeface="Calibri" pitchFamily="34" charset="-120"/>
              </a:rPr>
              <a:t>Replace terminal utilities with an evaluation function for non-terminal positions.</a:t>
            </a:r>
            <a:endParaRPr lang="en-US" sz="1600" dirty="0"/>
          </a:p>
          <a:p>
            <a:pPr marL="203200" indent="-203200">
              <a:spcAft>
                <a:spcPts val="1000"/>
              </a:spcAft>
              <a:buSzPct val="100000"/>
              <a:buChar char="•"/>
            </a:pPr>
            <a:r>
              <a:rPr lang="en-US" sz="1500" b="1" dirty="0">
                <a:solidFill>
                  <a:srgbClr val="C1272D"/>
                </a:solidFill>
                <a:latin typeface="Calibri" pitchFamily="34" charset="0"/>
                <a:ea typeface="Calibri" pitchFamily="34" charset="-122"/>
                <a:cs typeface="Calibri" pitchFamily="34" charset="-120"/>
              </a:rPr>
              <a:t>The guarantee of optimal play is gone. We are now solving a truncated problem and hoping it resembles the real one.</a:t>
            </a:r>
            <a:endParaRPr lang="en-US" sz="1600" dirty="0"/>
          </a:p>
        </p:txBody>
      </p:sp>
      <p:sp>
        <p:nvSpPr>
          <p:cNvPr id="5" name="Shape 3"/>
          <p:cNvSpPr/>
          <p:nvPr/>
        </p:nvSpPr>
        <p:spPr>
          <a:xfrm>
            <a:off x="6903720" y="1371600"/>
            <a:ext cx="4617720" cy="2606040"/>
          </a:xfrm>
          <a:prstGeom prst="roundRect">
            <a:avLst>
              <a:gd name="adj" fmla="val 2807"/>
            </a:avLst>
          </a:prstGeom>
          <a:solidFill>
            <a:srgbClr val="14213D"/>
          </a:solidFill>
          <a:ln w="12700">
            <a:solidFill>
              <a:srgbClr val="14213D"/>
            </a:solidFill>
            <a:prstDash val="solid"/>
          </a:ln>
        </p:spPr>
      </p:sp>
      <p:sp>
        <p:nvSpPr>
          <p:cNvPr id="6" name="Text 4"/>
          <p:cNvSpPr/>
          <p:nvPr/>
        </p:nvSpPr>
        <p:spPr>
          <a:xfrm>
            <a:off x="7104888" y="1517904"/>
            <a:ext cx="4215384" cy="310896"/>
          </a:xfrm>
          <a:prstGeom prst="rect">
            <a:avLst/>
          </a:prstGeom>
          <a:noFill/>
          <a:ln/>
        </p:spPr>
        <p:txBody>
          <a:bodyPr wrap="square" lIns="0" tIns="0" rIns="0" bIns="0" rtlCol="0" anchor="ctr"/>
          <a:lstStyle/>
          <a:p>
            <a:pPr indent="0" marL="0">
              <a:buNone/>
            </a:pPr>
            <a:r>
              <a:rPr lang="en-US" sz="1500" b="1" dirty="0">
                <a:solidFill>
                  <a:srgbClr val="D98C1F"/>
                </a:solidFill>
                <a:latin typeface="Calibri" pitchFamily="34" charset="0"/>
                <a:ea typeface="Calibri" pitchFamily="34" charset="-122"/>
                <a:cs typeface="Calibri" pitchFamily="34" charset="-120"/>
              </a:rPr>
              <a:t>A back-of-the-envelope budget</a:t>
            </a:r>
            <a:endParaRPr lang="en-US" sz="1500" dirty="0"/>
          </a:p>
        </p:txBody>
      </p:sp>
      <p:sp>
        <p:nvSpPr>
          <p:cNvPr id="7" name="Text 5"/>
          <p:cNvSpPr/>
          <p:nvPr/>
        </p:nvSpPr>
        <p:spPr>
          <a:xfrm>
            <a:off x="7104888" y="1865376"/>
            <a:ext cx="4215384" cy="1947672"/>
          </a:xfrm>
          <a:prstGeom prst="rect">
            <a:avLst/>
          </a:prstGeom>
          <a:noFill/>
          <a:ln/>
        </p:spPr>
        <p:txBody>
          <a:bodyPr wrap="square" lIns="0" tIns="0" rIns="0" bIns="0" rtlCol="0" anchor="t"/>
          <a:lstStyle/>
          <a:p>
            <a:pPr indent="0" marL="0">
              <a:lnSpc>
                <a:spcPct val="108000"/>
              </a:lnSpc>
              <a:buNone/>
            </a:pPr>
            <a:r>
              <a:rPr lang="en-US" sz="1300" dirty="0">
                <a:solidFill>
                  <a:srgbClr val="DCE6FA"/>
                </a:solidFill>
                <a:latin typeface="Calibri" pitchFamily="34" charset="0"/>
                <a:ea typeface="Calibri" pitchFamily="34" charset="-122"/>
                <a:cs typeface="Calibri" pitchFamily="34" charset="-120"/>
              </a:rPr>
              <a:t>Suppose we have 100 seconds per move and can explore 10,000 nodes per second.</a:t>
            </a:r>
            <a:endParaRPr lang="en-US" sz="1300" dirty="0"/>
          </a:p>
          <a:p>
            <a:pPr indent="0" marL="0">
              <a:lnSpc>
                <a:spcPct val="108000"/>
              </a:lnSpc>
              <a:buNone/>
            </a:pPr>
            <a:endParaRPr lang="en-US" sz="1300" dirty="0"/>
          </a:p>
          <a:p>
            <a:pPr indent="0" marL="0">
              <a:lnSpc>
                <a:spcPct val="108000"/>
              </a:lnSpc>
              <a:buNone/>
            </a:pPr>
            <a:r>
              <a:rPr lang="en-US" sz="1300" dirty="0">
                <a:solidFill>
                  <a:srgbClr val="DCE6FA"/>
                </a:solidFill>
                <a:latin typeface="Calibri" pitchFamily="34" charset="0"/>
                <a:ea typeface="Calibri" pitchFamily="34" charset="-122"/>
                <a:cs typeface="Calibri" pitchFamily="34" charset="-120"/>
              </a:rPr>
              <a:t>That is 1,000,000 nodes per move.</a:t>
            </a:r>
            <a:endParaRPr lang="en-US" sz="1300" dirty="0"/>
          </a:p>
          <a:p>
            <a:pPr indent="0" marL="0">
              <a:lnSpc>
                <a:spcPct val="108000"/>
              </a:lnSpc>
              <a:buNone/>
            </a:pPr>
            <a:endParaRPr lang="en-US" sz="1300" dirty="0"/>
          </a:p>
          <a:p>
            <a:pPr indent="0" marL="0">
              <a:lnSpc>
                <a:spcPct val="108000"/>
              </a:lnSpc>
              <a:buNone/>
            </a:pPr>
            <a:r>
              <a:rPr lang="en-US" sz="1300" dirty="0">
                <a:solidFill>
                  <a:srgbClr val="DCE6FA"/>
                </a:solidFill>
                <a:latin typeface="Calibri" pitchFamily="34" charset="0"/>
                <a:ea typeface="Calibri" pitchFamily="34" charset="-122"/>
                <a:cs typeface="Calibri" pitchFamily="34" charset="-120"/>
              </a:rPr>
              <a:t>With alpha-beta that buys roughly depth 8 - a decent chess program, and nowhere near the 80 ply of a full game.</a:t>
            </a:r>
            <a:endParaRPr lang="en-US" sz="1300" dirty="0"/>
          </a:p>
        </p:txBody>
      </p:sp>
      <p:sp>
        <p:nvSpPr>
          <p:cNvPr id="8" name="Shape 6"/>
          <p:cNvSpPr/>
          <p:nvPr/>
        </p:nvSpPr>
        <p:spPr>
          <a:xfrm>
            <a:off x="640080" y="4343400"/>
            <a:ext cx="10881360" cy="1417320"/>
          </a:xfrm>
          <a:prstGeom prst="roundRect">
            <a:avLst>
              <a:gd name="adj" fmla="val 3871"/>
            </a:avLst>
          </a:prstGeom>
          <a:solidFill>
            <a:srgbClr val="EFF3F9"/>
          </a:solidFill>
          <a:ln w="12700">
            <a:solidFill>
              <a:srgbClr val="EFF3F9"/>
            </a:solidFill>
            <a:prstDash val="solid"/>
          </a:ln>
        </p:spPr>
      </p:sp>
      <p:sp>
        <p:nvSpPr>
          <p:cNvPr id="9" name="Text 7"/>
          <p:cNvSpPr/>
          <p:nvPr/>
        </p:nvSpPr>
        <p:spPr>
          <a:xfrm>
            <a:off x="822960" y="4434840"/>
            <a:ext cx="10515600" cy="1234440"/>
          </a:xfrm>
          <a:prstGeom prst="rect">
            <a:avLst/>
          </a:prstGeom>
          <a:noFill/>
          <a:ln/>
        </p:spPr>
        <p:txBody>
          <a:bodyPr wrap="square" lIns="0" tIns="0" rIns="0" bIns="0" rtlCol="0" anchor="ctr"/>
          <a:lstStyle/>
          <a:p>
            <a:pPr algn="l" indent="0" marL="0">
              <a:lnSpc>
                <a:spcPct val="115000"/>
              </a:lnSpc>
              <a:buNone/>
            </a:pPr>
            <a:r>
              <a:rPr lang="en-US" sz="1550" dirty="0">
                <a:solidFill>
                  <a:srgbClr val="1A1A1A"/>
                </a:solidFill>
                <a:latin typeface="Cambria" pitchFamily="34" charset="0"/>
                <a:ea typeface="Cambria" pitchFamily="34" charset="-122"/>
                <a:cs typeface="Cambria" pitchFamily="34" charset="-120"/>
              </a:rPr>
              <a:t>  Two design decisions follow, and the rest of Part 4 is about both:</a:t>
            </a:r>
            <a:endParaRPr lang="en-US" sz="1550" dirty="0"/>
          </a:p>
          <a:p>
            <a:pPr algn="l" indent="0" marL="0">
              <a:lnSpc>
                <a:spcPct val="115000"/>
              </a:lnSpc>
              <a:buNone/>
            </a:pPr>
            <a:r>
              <a:rPr lang="en-US" sz="1550" dirty="0">
                <a:solidFill>
                  <a:srgbClr val="1A1A1A"/>
                </a:solidFill>
                <a:latin typeface="Cambria" pitchFamily="34" charset="0"/>
                <a:ea typeface="Cambria" pitchFamily="34" charset="-122"/>
                <a:cs typeface="Cambria" pitchFamily="34" charset="-120"/>
              </a:rPr>
              <a:t>     1. WHERE do we stop?  The cutoff test - fixed depth, iterative deepening, or something state-dependent.</a:t>
            </a:r>
            <a:endParaRPr lang="en-US" sz="1550" dirty="0"/>
          </a:p>
          <a:p>
            <a:pPr algn="l" indent="0" marL="0">
              <a:lnSpc>
                <a:spcPct val="115000"/>
              </a:lnSpc>
              <a:buNone/>
            </a:pPr>
            <a:r>
              <a:rPr lang="en-US" sz="1550" dirty="0">
                <a:solidFill>
                  <a:srgbClr val="1A1A1A"/>
                </a:solidFill>
                <a:latin typeface="Cambria" pitchFamily="34" charset="0"/>
                <a:ea typeface="Cambria" pitchFamily="34" charset="-122"/>
                <a:cs typeface="Cambria" pitchFamily="34" charset="-120"/>
              </a:rPr>
              <a:t>     2. WHAT do we return there?  The evaluation function - an estimate of the minimax value we did not compute.</a:t>
            </a:r>
            <a:endParaRPr lang="en-US" sz="15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5.3</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Heuristic Minimax</a:t>
            </a:r>
            <a:endParaRPr lang="en-US" sz="2900" dirty="0"/>
          </a:p>
        </p:txBody>
      </p:sp>
      <p:sp>
        <p:nvSpPr>
          <p:cNvPr id="4" name="Shape 2"/>
          <p:cNvSpPr/>
          <p:nvPr/>
        </p:nvSpPr>
        <p:spPr>
          <a:xfrm>
            <a:off x="640080" y="1371600"/>
            <a:ext cx="5852160" cy="2834640"/>
          </a:xfrm>
          <a:prstGeom prst="roundRect">
            <a:avLst>
              <a:gd name="adj" fmla="val 1935"/>
            </a:avLst>
          </a:prstGeom>
          <a:solidFill>
            <a:srgbClr val="14213D"/>
          </a:solidFill>
          <a:ln w="12700">
            <a:solidFill>
              <a:srgbClr val="14213D"/>
            </a:solidFill>
            <a:prstDash val="solid"/>
          </a:ln>
        </p:spPr>
      </p:sp>
      <p:sp>
        <p:nvSpPr>
          <p:cNvPr id="5" name="Text 3"/>
          <p:cNvSpPr/>
          <p:nvPr/>
        </p:nvSpPr>
        <p:spPr>
          <a:xfrm>
            <a:off x="841248" y="1481328"/>
            <a:ext cx="5449824" cy="274320"/>
          </a:xfrm>
          <a:prstGeom prst="rect">
            <a:avLst/>
          </a:prstGeom>
          <a:noFill/>
          <a:ln/>
        </p:spPr>
        <p:txBody>
          <a:bodyPr wrap="square" lIns="0" tIns="0" rIns="0" bIns="0" rtlCol="0" anchor="ctr"/>
          <a:lstStyle/>
          <a:p>
            <a:pPr indent="0" marL="0">
              <a:buNone/>
            </a:pPr>
            <a:r>
              <a:rPr lang="en-US" sz="1250" b="1" dirty="0">
                <a:solidFill>
                  <a:srgbClr val="D98C1F"/>
                </a:solidFill>
                <a:latin typeface="Calibri" pitchFamily="34" charset="0"/>
                <a:ea typeface="Calibri" pitchFamily="34" charset="-122"/>
                <a:cs typeface="Calibri" pitchFamily="34" charset="-120"/>
              </a:rPr>
              <a:t>H-MINIMAX(s, d)</a:t>
            </a:r>
            <a:endParaRPr lang="en-US" sz="1250" dirty="0"/>
          </a:p>
        </p:txBody>
      </p:sp>
      <p:sp>
        <p:nvSpPr>
          <p:cNvPr id="6" name="Text 4"/>
          <p:cNvSpPr/>
          <p:nvPr/>
        </p:nvSpPr>
        <p:spPr>
          <a:xfrm>
            <a:off x="841248" y="1792224"/>
            <a:ext cx="5486400" cy="2286000"/>
          </a:xfrm>
          <a:prstGeom prst="rect">
            <a:avLst/>
          </a:prstGeom>
          <a:noFill/>
          <a:ln/>
        </p:spPr>
        <p:txBody>
          <a:bodyPr wrap="square" lIns="0" tIns="0" rIns="0" bIns="0" rtlCol="0" anchor="t"/>
          <a:lstStyle/>
          <a:p>
            <a:pPr indent="0" marL="0">
              <a:lnSpc>
                <a:spcPct val="105000"/>
              </a:lnSpc>
              <a:buNone/>
            </a:pPr>
            <a:r>
              <a:rPr lang="en-US" sz="1250" dirty="0">
                <a:solidFill>
                  <a:srgbClr val="D98C1F"/>
                </a:solidFill>
                <a:latin typeface="Courier New" pitchFamily="34" charset="0"/>
                <a:ea typeface="Courier New" pitchFamily="34" charset="-122"/>
                <a:cs typeface="Courier New" pitchFamily="34" charset="-120"/>
              </a:rPr>
              <a:t>  EVAL(s, MAX)</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if IS-CUTOFF(s, d)</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8FB8FF"/>
                </a:solidFill>
                <a:latin typeface="Courier New" pitchFamily="34" charset="0"/>
                <a:ea typeface="Courier New" pitchFamily="34" charset="-122"/>
                <a:cs typeface="Courier New" pitchFamily="34" charset="-120"/>
              </a:rPr>
              <a:t>  max over a in ACTIONS(s) of</a:t>
            </a:r>
            <a:endParaRPr lang="en-US" sz="1250" dirty="0"/>
          </a:p>
          <a:p>
            <a:pPr indent="0" marL="0">
              <a:lnSpc>
                <a:spcPct val="105000"/>
              </a:lnSpc>
              <a:buNone/>
            </a:pPr>
            <a:r>
              <a:rPr lang="en-US" sz="1250" dirty="0">
                <a:solidFill>
                  <a:srgbClr val="8FB8FF"/>
                </a:solidFill>
                <a:latin typeface="Courier New" pitchFamily="34" charset="0"/>
                <a:ea typeface="Courier New" pitchFamily="34" charset="-122"/>
                <a:cs typeface="Courier New" pitchFamily="34" charset="-120"/>
              </a:rPr>
              <a:t>      H-MINIMAX(RESULT(s, a), d + 1)</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if TO-MOVE(s) = MAX</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F2A0A2"/>
                </a:solidFill>
                <a:latin typeface="Courier New" pitchFamily="34" charset="0"/>
                <a:ea typeface="Courier New" pitchFamily="34" charset="-122"/>
                <a:cs typeface="Courier New" pitchFamily="34" charset="-120"/>
              </a:rPr>
              <a:t>  min over a in ACTIONS(s) of</a:t>
            </a:r>
            <a:endParaRPr lang="en-US" sz="1250" dirty="0"/>
          </a:p>
          <a:p>
            <a:pPr indent="0" marL="0">
              <a:lnSpc>
                <a:spcPct val="105000"/>
              </a:lnSpc>
              <a:buNone/>
            </a:pPr>
            <a:r>
              <a:rPr lang="en-US" sz="1250" dirty="0">
                <a:solidFill>
                  <a:srgbClr val="F2A0A2"/>
                </a:solidFill>
                <a:latin typeface="Courier New" pitchFamily="34" charset="0"/>
                <a:ea typeface="Courier New" pitchFamily="34" charset="-122"/>
                <a:cs typeface="Courier New" pitchFamily="34" charset="-120"/>
              </a:rPr>
              <a:t>      H-MINIMAX(RESULT(s, a), d + 1)</a:t>
            </a:r>
            <a:endParaRPr lang="en-US" sz="1250" dirty="0"/>
          </a:p>
          <a:p>
            <a:pPr indent="0" marL="0">
              <a:lnSpc>
                <a:spcPct val="105000"/>
              </a:lnSpc>
              <a:buNone/>
            </a:pPr>
            <a:r>
              <a:rPr lang="en-US" sz="1250" dirty="0">
                <a:solidFill>
                  <a:srgbClr val="FFFFFF"/>
                </a:solidFill>
                <a:latin typeface="Courier New" pitchFamily="34" charset="0"/>
                <a:ea typeface="Courier New" pitchFamily="34" charset="-122"/>
                <a:cs typeface="Courier New" pitchFamily="34" charset="-120"/>
              </a:rPr>
              <a:t>      if TO-MOVE(s) = MIN</a:t>
            </a:r>
            <a:endParaRPr lang="en-US" sz="1250" dirty="0"/>
          </a:p>
        </p:txBody>
      </p:sp>
      <p:sp>
        <p:nvSpPr>
          <p:cNvPr id="7" name="Text 5"/>
          <p:cNvSpPr/>
          <p:nvPr/>
        </p:nvSpPr>
        <p:spPr>
          <a:xfrm>
            <a:off x="6766560" y="1371600"/>
            <a:ext cx="4754880" cy="4572000"/>
          </a:xfrm>
          <a:prstGeom prst="rect">
            <a:avLst/>
          </a:prstGeom>
          <a:noFill/>
          <a:ln/>
        </p:spPr>
        <p:txBody>
          <a:bodyPr wrap="square" lIns="0" tIns="0" rIns="0" bIns="0" rtlCol="0" anchor="t"/>
          <a:lstStyle/>
          <a:p>
            <a:pPr marL="203200" indent="-203200">
              <a:spcAft>
                <a:spcPts val="700"/>
              </a:spcAft>
              <a:buSzPct val="100000"/>
              <a:buChar char="•"/>
            </a:pPr>
            <a:r>
              <a:rPr lang="en-US" sz="1550" b="1" dirty="0">
                <a:solidFill>
                  <a:srgbClr val="1A1A1A"/>
                </a:solidFill>
                <a:latin typeface="Calibri" pitchFamily="34" charset="0"/>
                <a:ea typeface="Calibri" pitchFamily="34" charset="-122"/>
                <a:cs typeface="Calibri" pitchFamily="34" charset="-120"/>
              </a:rPr>
              <a:t>Two substitutions into ordinary minimax:</a:t>
            </a:r>
            <a:endParaRPr lang="en-US" sz="1550" dirty="0"/>
          </a:p>
          <a:p>
            <a:pPr lvl="1" marL="406400" indent="-203200">
              <a:spcAft>
                <a:spcPts val="700"/>
              </a:spcAft>
              <a:buSzPct val="100000"/>
              <a:buChar char="•"/>
            </a:pPr>
            <a:r>
              <a:rPr lang="en-US" sz="1500" dirty="0">
                <a:solidFill>
                  <a:srgbClr val="55607A"/>
                </a:solidFill>
                <a:latin typeface="Calibri" pitchFamily="34" charset="0"/>
                <a:ea typeface="Calibri" pitchFamily="34" charset="-122"/>
                <a:cs typeface="Calibri" pitchFamily="34" charset="-120"/>
              </a:rPr>
              <a:t>UTILITY is replaced by EVAL, which estimates a state's utility.</a:t>
            </a:r>
            <a:endParaRPr lang="en-US" sz="1550" dirty="0"/>
          </a:p>
          <a:p>
            <a:pPr lvl="1" marL="406400" indent="-203200">
              <a:spcAft>
                <a:spcPts val="700"/>
              </a:spcAft>
              <a:buSzPct val="100000"/>
              <a:buChar char="•"/>
            </a:pPr>
            <a:r>
              <a:rPr lang="en-US" sz="1450" dirty="0">
                <a:solidFill>
                  <a:srgbClr val="55607A"/>
                </a:solidFill>
                <a:latin typeface="Calibri" pitchFamily="34" charset="0"/>
                <a:ea typeface="Calibri" pitchFamily="34" charset="-122"/>
                <a:cs typeface="Calibri" pitchFamily="34" charset="-120"/>
              </a:rPr>
              <a:t>IS-TERMINAL is replaced by IS-CUTOFF, which must return true for terminal states but is otherwise free to stop on depth or on any property of the state.</a:t>
            </a:r>
            <a:endParaRPr lang="en-US" sz="1550" dirty="0"/>
          </a:p>
          <a:p>
            <a:pPr marL="203200" indent="-203200">
              <a:spcAft>
                <a:spcPts val="700"/>
              </a:spcAft>
              <a:buSzPct val="100000"/>
              <a:buChar char="•"/>
            </a:pPr>
            <a:r>
              <a:rPr lang="en-US" sz="1450" dirty="0">
                <a:solidFill>
                  <a:srgbClr val="1A1A1A"/>
                </a:solidFill>
                <a:latin typeface="Calibri" pitchFamily="34" charset="0"/>
                <a:ea typeface="Calibri" pitchFamily="34" charset="-122"/>
                <a:cs typeface="Calibri" pitchFamily="34" charset="-120"/>
              </a:rPr>
              <a:t>In ALPHA-BETA-SEARCH the change is one line:</a:t>
            </a:r>
            <a:endParaRPr lang="en-US" sz="1550" dirty="0"/>
          </a:p>
        </p:txBody>
      </p:sp>
      <p:sp>
        <p:nvSpPr>
          <p:cNvPr id="8" name="Shape 6"/>
          <p:cNvSpPr/>
          <p:nvPr/>
        </p:nvSpPr>
        <p:spPr>
          <a:xfrm>
            <a:off x="6766560" y="3520440"/>
            <a:ext cx="4754880" cy="685800"/>
          </a:xfrm>
          <a:prstGeom prst="roundRect">
            <a:avLst>
              <a:gd name="adj" fmla="val 8000"/>
            </a:avLst>
          </a:prstGeom>
          <a:solidFill>
            <a:srgbClr val="18305C"/>
          </a:solidFill>
          <a:ln w="12700">
            <a:solidFill>
              <a:srgbClr val="18305C"/>
            </a:solidFill>
            <a:prstDash val="solid"/>
          </a:ln>
        </p:spPr>
      </p:sp>
      <p:sp>
        <p:nvSpPr>
          <p:cNvPr id="9" name="Text 7"/>
          <p:cNvSpPr/>
          <p:nvPr/>
        </p:nvSpPr>
        <p:spPr>
          <a:xfrm>
            <a:off x="6967728" y="3666744"/>
            <a:ext cx="4389120" cy="41148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Courier New" pitchFamily="34" charset="0"/>
                <a:ea typeface="Courier New" pitchFamily="34" charset="-122"/>
                <a:cs typeface="Courier New" pitchFamily="34" charset="-120"/>
              </a:rPr>
              <a:t>if game.IS-CUTOFF(state, depth):</a:t>
            </a:r>
            <a:endParaRPr lang="en-US" sz="1050" dirty="0"/>
          </a:p>
          <a:p>
            <a:pPr indent="0" marL="0">
              <a:lnSpc>
                <a:spcPct val="105000"/>
              </a:lnSpc>
              <a:buNone/>
            </a:pPr>
            <a:r>
              <a:rPr lang="en-US" sz="1050" dirty="0">
                <a:solidFill>
                  <a:srgbClr val="FFFFFF"/>
                </a:solidFill>
                <a:latin typeface="Courier New" pitchFamily="34" charset="0"/>
                <a:ea typeface="Courier New" pitchFamily="34" charset="-122"/>
                <a:cs typeface="Courier New" pitchFamily="34" charset="-120"/>
              </a:rPr>
              <a:t>    return game.EVAL(state, player), null</a:t>
            </a:r>
            <a:endParaRPr lang="en-US" sz="1050" dirty="0"/>
          </a:p>
        </p:txBody>
      </p:sp>
      <p:sp>
        <p:nvSpPr>
          <p:cNvPr id="10" name="Shape 8"/>
          <p:cNvSpPr/>
          <p:nvPr/>
        </p:nvSpPr>
        <p:spPr>
          <a:xfrm>
            <a:off x="640080" y="4434840"/>
            <a:ext cx="10881360" cy="1234440"/>
          </a:xfrm>
          <a:prstGeom prst="roundRect">
            <a:avLst>
              <a:gd name="adj" fmla="val 4444"/>
            </a:avLst>
          </a:prstGeom>
          <a:solidFill>
            <a:srgbClr val="EFF3F9"/>
          </a:solidFill>
          <a:ln w="12700">
            <a:solidFill>
              <a:srgbClr val="EFF3F9"/>
            </a:solidFill>
            <a:prstDash val="solid"/>
          </a:ln>
        </p:spPr>
      </p:sp>
      <p:sp>
        <p:nvSpPr>
          <p:cNvPr id="11" name="Text 9"/>
          <p:cNvSpPr/>
          <p:nvPr/>
        </p:nvSpPr>
        <p:spPr>
          <a:xfrm>
            <a:off x="822960" y="4526280"/>
            <a:ext cx="10515600" cy="1051560"/>
          </a:xfrm>
          <a:prstGeom prst="rect">
            <a:avLst/>
          </a:prstGeom>
          <a:noFill/>
          <a:ln/>
        </p:spPr>
        <p:txBody>
          <a:bodyPr wrap="square" lIns="0" tIns="0" rIns="0" bIns="0" rtlCol="0" anchor="ctr"/>
          <a:lstStyle/>
          <a:p>
            <a:pPr algn="l" indent="0" marL="0">
              <a:lnSpc>
                <a:spcPct val="115000"/>
              </a:lnSpc>
              <a:buNone/>
            </a:pPr>
            <a:r>
              <a:rPr lang="en-US" sz="1500" dirty="0">
                <a:solidFill>
                  <a:srgbClr val="1A1A1A"/>
                </a:solidFill>
                <a:latin typeface="Cambria" pitchFamily="34" charset="0"/>
                <a:ea typeface="Cambria" pitchFamily="34" charset="-122"/>
                <a:cs typeface="Cambria" pitchFamily="34" charset="-120"/>
              </a:rPr>
              <a:t>  Requirements on EVAL:</a:t>
            </a:r>
            <a:endParaRPr lang="en-US" sz="1500" dirty="0"/>
          </a:p>
          <a:p>
            <a:pPr algn="l" indent="0" marL="0">
              <a:lnSpc>
                <a:spcPct val="115000"/>
              </a:lnSpc>
              <a:buNone/>
            </a:pPr>
            <a:r>
              <a:rPr lang="en-US" sz="1500" dirty="0">
                <a:solidFill>
                  <a:srgbClr val="1A1A1A"/>
                </a:solidFill>
                <a:latin typeface="Cambria" pitchFamily="34" charset="0"/>
                <a:ea typeface="Cambria" pitchFamily="34" charset="-122"/>
                <a:cs typeface="Cambria" pitchFamily="34" charset="-120"/>
              </a:rPr>
              <a:t>     EVAL(s, p) = UTILITY(s, p)  for terminal states, and  loss &lt;= EVAL(s, p) &lt;= win  for all non-terminal states.</a:t>
            </a:r>
            <a:endParaRPr lang="en-US" sz="1500" dirty="0"/>
          </a:p>
          <a:p>
            <a:pPr algn="l" indent="0" marL="0">
              <a:lnSpc>
                <a:spcPct val="115000"/>
              </a:lnSpc>
              <a:buNone/>
            </a:pPr>
            <a:r>
              <a:rPr lang="en-US" sz="1500" dirty="0">
                <a:solidFill>
                  <a:srgbClr val="1A1A1A"/>
                </a:solidFill>
                <a:latin typeface="Cambria" pitchFamily="34" charset="0"/>
                <a:ea typeface="Cambria" pitchFamily="34" charset="-122"/>
                <a:cs typeface="Cambria" pitchFamily="34" charset="-120"/>
              </a:rPr>
              <a:t>  Beyond that: it must be fast (the whole point is to search faster) and strongly correlated with the actual chance of winning.</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5.3.1</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What Is an Evaluation Function Estimating?</a:t>
            </a:r>
            <a:endParaRPr lang="en-US" sz="2900" dirty="0"/>
          </a:p>
        </p:txBody>
      </p:sp>
      <p:sp>
        <p:nvSpPr>
          <p:cNvPr id="4" name="Text 2"/>
          <p:cNvSpPr/>
          <p:nvPr/>
        </p:nvSpPr>
        <p:spPr>
          <a:xfrm>
            <a:off x="640080" y="1371600"/>
            <a:ext cx="5943600" cy="45720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Features partition states into categories - all states with the same feature values fall in the same class. One category might be 'two pawns versus one pawn endgames'.</a:t>
            </a:r>
            <a:endParaRPr lang="en-US" sz="1500" dirty="0"/>
          </a:p>
          <a:p>
            <a:pPr marL="203200" indent="-2032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Any category contains some states that are wins with perfect play, some draws, and some losses. The evaluation function does not know which state is which, so it returns a single number summarizing the mix.</a:t>
            </a:r>
            <a:endParaRPr lang="en-US" sz="1500" dirty="0"/>
          </a:p>
          <a:p>
            <a:pPr marL="203200" indent="-203200">
              <a:spcAft>
                <a:spcPts val="1000"/>
              </a:spcAft>
              <a:buSzPct val="100000"/>
              <a:buChar char="•"/>
            </a:pPr>
            <a:r>
              <a:rPr lang="en-US" sz="1500" b="1" dirty="0">
                <a:solidFill>
                  <a:srgbClr val="1A1A1A"/>
                </a:solidFill>
                <a:latin typeface="Calibri" pitchFamily="34" charset="0"/>
                <a:ea typeface="Calibri" pitchFamily="34" charset="-122"/>
                <a:cs typeface="Calibri" pitchFamily="34" charset="-120"/>
              </a:rPr>
              <a:t>That number is naturally an expected value.</a:t>
            </a:r>
            <a:endParaRPr lang="en-US" sz="1500" dirty="0"/>
          </a:p>
        </p:txBody>
      </p:sp>
      <p:sp>
        <p:nvSpPr>
          <p:cNvPr id="5" name="Shape 3"/>
          <p:cNvSpPr/>
          <p:nvPr/>
        </p:nvSpPr>
        <p:spPr>
          <a:xfrm>
            <a:off x="6858000" y="1371600"/>
            <a:ext cx="4663440" cy="2148840"/>
          </a:xfrm>
          <a:prstGeom prst="roundRect">
            <a:avLst>
              <a:gd name="adj" fmla="val 3404"/>
            </a:avLst>
          </a:prstGeom>
          <a:solidFill>
            <a:srgbClr val="EFF3F9"/>
          </a:solidFill>
          <a:ln w="12700">
            <a:solidFill>
              <a:srgbClr val="EFF3F9"/>
            </a:solidFill>
            <a:prstDash val="solid"/>
          </a:ln>
        </p:spPr>
      </p:sp>
      <p:sp>
        <p:nvSpPr>
          <p:cNvPr id="6" name="Text 4"/>
          <p:cNvSpPr/>
          <p:nvPr/>
        </p:nvSpPr>
        <p:spPr>
          <a:xfrm>
            <a:off x="7059168" y="1517904"/>
            <a:ext cx="42611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Worked example</a:t>
            </a:r>
            <a:endParaRPr lang="en-US" sz="1500" dirty="0"/>
          </a:p>
        </p:txBody>
      </p:sp>
      <p:sp>
        <p:nvSpPr>
          <p:cNvPr id="7" name="Text 5"/>
          <p:cNvSpPr/>
          <p:nvPr/>
        </p:nvSpPr>
        <p:spPr>
          <a:xfrm>
            <a:off x="7059168" y="1865376"/>
            <a:ext cx="4261104" cy="149047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Suppose experience says states in the two-pawns-versus-one category lead to:</a:t>
            </a:r>
            <a:endParaRPr lang="en-US" sz="1300" dirty="0"/>
          </a:p>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     a win (+1) 82% of the time,</a:t>
            </a:r>
            <a:endParaRPr lang="en-US" sz="1300" dirty="0"/>
          </a:p>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     a loss (0) 2% of the time,</a:t>
            </a:r>
            <a:endParaRPr lang="en-US" sz="1300" dirty="0"/>
          </a:p>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     a draw (1/2) 16% of the time.</a:t>
            </a:r>
            <a:endParaRPr lang="en-US" sz="1300" dirty="0"/>
          </a:p>
        </p:txBody>
      </p:sp>
      <p:sp>
        <p:nvSpPr>
          <p:cNvPr id="8" name="Shape 6"/>
          <p:cNvSpPr/>
          <p:nvPr/>
        </p:nvSpPr>
        <p:spPr>
          <a:xfrm>
            <a:off x="6858000" y="3657600"/>
            <a:ext cx="4663440" cy="868680"/>
          </a:xfrm>
          <a:prstGeom prst="roundRect">
            <a:avLst>
              <a:gd name="adj" fmla="val 6316"/>
            </a:avLst>
          </a:prstGeom>
          <a:solidFill>
            <a:srgbClr val="DCE6FA"/>
          </a:solidFill>
          <a:ln w="12700">
            <a:solidFill>
              <a:srgbClr val="DCE6FA"/>
            </a:solidFill>
            <a:prstDash val="solid"/>
          </a:ln>
        </p:spPr>
      </p:sp>
      <p:sp>
        <p:nvSpPr>
          <p:cNvPr id="9" name="Text 7"/>
          <p:cNvSpPr/>
          <p:nvPr/>
        </p:nvSpPr>
        <p:spPr>
          <a:xfrm>
            <a:off x="7040880" y="3749040"/>
            <a:ext cx="4297680" cy="685800"/>
          </a:xfrm>
          <a:prstGeom prst="rect">
            <a:avLst/>
          </a:prstGeom>
          <a:noFill/>
          <a:ln/>
        </p:spPr>
        <p:txBody>
          <a:bodyPr wrap="square" lIns="0" tIns="0" rIns="0" bIns="0" rtlCol="0" anchor="ctr"/>
          <a:lstStyle/>
          <a:p>
            <a:pPr algn="ctr" indent="0" marL="0">
              <a:lnSpc>
                <a:spcPct val="115000"/>
              </a:lnSpc>
              <a:buNone/>
            </a:pPr>
            <a:r>
              <a:rPr lang="en-US" sz="1350" dirty="0">
                <a:solidFill>
                  <a:srgbClr val="14213D"/>
                </a:solidFill>
                <a:latin typeface="Courier New" pitchFamily="34" charset="0"/>
                <a:ea typeface="Courier New" pitchFamily="34" charset="-122"/>
                <a:cs typeface="Courier New" pitchFamily="34" charset="-120"/>
              </a:rPr>
              <a:t>(0.82 x 1) + (0.02 x 0) + (0.16 x 0.5)</a:t>
            </a:r>
            <a:endParaRPr lang="en-US" sz="1350" dirty="0"/>
          </a:p>
          <a:p>
            <a:pPr algn="ctr" indent="0" marL="0">
              <a:lnSpc>
                <a:spcPct val="115000"/>
              </a:lnSpc>
              <a:buNone/>
            </a:pPr>
            <a:r>
              <a:rPr lang="en-US" sz="1350" dirty="0">
                <a:solidFill>
                  <a:srgbClr val="14213D"/>
                </a:solidFill>
                <a:latin typeface="Courier New" pitchFamily="34" charset="0"/>
                <a:ea typeface="Courier New" pitchFamily="34" charset="-122"/>
                <a:cs typeface="Courier New" pitchFamily="34" charset="-120"/>
              </a:rPr>
              <a:t>= 0.90</a:t>
            </a:r>
            <a:endParaRPr lang="en-US" sz="1350" dirty="0"/>
          </a:p>
        </p:txBody>
      </p:sp>
      <p:sp>
        <p:nvSpPr>
          <p:cNvPr id="10" name="Shape 8"/>
          <p:cNvSpPr/>
          <p:nvPr/>
        </p:nvSpPr>
        <p:spPr>
          <a:xfrm>
            <a:off x="640080" y="3931920"/>
            <a:ext cx="5943600" cy="1737360"/>
          </a:xfrm>
          <a:prstGeom prst="roundRect">
            <a:avLst>
              <a:gd name="adj" fmla="val 4211"/>
            </a:avLst>
          </a:prstGeom>
          <a:solidFill>
            <a:srgbClr val="FBEFD8"/>
          </a:solidFill>
          <a:ln w="12700">
            <a:solidFill>
              <a:srgbClr val="D98C1F"/>
            </a:solidFill>
            <a:prstDash val="solid"/>
          </a:ln>
        </p:spPr>
      </p:sp>
      <p:sp>
        <p:nvSpPr>
          <p:cNvPr id="11" name="Text 9"/>
          <p:cNvSpPr/>
          <p:nvPr/>
        </p:nvSpPr>
        <p:spPr>
          <a:xfrm>
            <a:off x="841248" y="4078224"/>
            <a:ext cx="55412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Why we do not actually do it this way</a:t>
            </a:r>
            <a:endParaRPr lang="en-US" sz="1500" dirty="0"/>
          </a:p>
        </p:txBody>
      </p:sp>
      <p:sp>
        <p:nvSpPr>
          <p:cNvPr id="12" name="Text 10"/>
          <p:cNvSpPr/>
          <p:nvPr/>
        </p:nvSpPr>
        <p:spPr>
          <a:xfrm>
            <a:off x="841248" y="4425696"/>
            <a:ext cx="5541264" cy="1078992"/>
          </a:xfrm>
          <a:prstGeom prst="rect">
            <a:avLst/>
          </a:prstGeom>
          <a:noFill/>
          <a:ln/>
        </p:spPr>
        <p:txBody>
          <a:bodyPr wrap="square" lIns="0" tIns="0" rIns="0" bIns="0" rtlCol="0" anchor="t"/>
          <a:lstStyle/>
          <a:p>
            <a:pPr indent="0" marL="0">
              <a:lnSpc>
                <a:spcPct val="108000"/>
              </a:lnSpc>
              <a:buNone/>
            </a:pPr>
            <a:r>
              <a:rPr lang="en-US" sz="1350" dirty="0">
                <a:solidFill>
                  <a:srgbClr val="1A1A1A"/>
                </a:solidFill>
                <a:latin typeface="Calibri" pitchFamily="34" charset="0"/>
                <a:ea typeface="Calibri" pitchFamily="34" charset="-122"/>
                <a:cs typeface="Calibri" pitchFamily="34" charset="-120"/>
              </a:rPr>
              <a:t>In principle we could compute the expected value for every category. In practice this needs far too many categories and far too much experience to estimate all the probabilities. So instead we compute a separate numeric contribution from each feature and combine them.</a:t>
            </a:r>
            <a:endParaRPr lang="en-US" sz="1350" dirty="0"/>
          </a:p>
        </p:txBody>
      </p:sp>
      <p:sp>
        <p:nvSpPr>
          <p:cNvPr id="13" name="Text 11"/>
          <p:cNvSpPr/>
          <p:nvPr/>
        </p:nvSpPr>
        <p:spPr>
          <a:xfrm>
            <a:off x="566928" y="6327648"/>
            <a:ext cx="10058400" cy="274320"/>
          </a:xfrm>
          <a:prstGeom prst="rect">
            <a:avLst/>
          </a:prstGeom>
          <a:noFill/>
          <a:ln/>
        </p:spPr>
        <p:txBody>
          <a:bodyPr wrap="square" lIns="0" tIns="0" rIns="0" bIns="0" rtlCol="0" anchor="ctr"/>
          <a:lstStyle/>
          <a:p>
            <a:pPr indent="0" marL="0">
              <a:buNone/>
            </a:pPr>
            <a:r>
              <a:rPr lang="en-US" sz="1000" i="1" dirty="0">
                <a:solidFill>
                  <a:srgbClr val="55607A"/>
                </a:solidFill>
                <a:latin typeface="Calibri" pitchFamily="34" charset="0"/>
                <a:ea typeface="Calibri" pitchFamily="34" charset="-122"/>
                <a:cs typeface="Calibri" pitchFamily="34" charset="-120"/>
              </a:rPr>
              <a:t>Chess is not a game of chance - the uncertainty is ours, not the game's. It comes from cutting the search off, not from dice.</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5.3.1  ·  CS 188</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Weighted Linear Evaluation Function</a:t>
            </a:r>
            <a:endParaRPr lang="en-US" sz="2900" dirty="0"/>
          </a:p>
        </p:txBody>
      </p:sp>
      <p:sp>
        <p:nvSpPr>
          <p:cNvPr id="4" name="Shape 2"/>
          <p:cNvSpPr/>
          <p:nvPr/>
        </p:nvSpPr>
        <p:spPr>
          <a:xfrm>
            <a:off x="640080" y="1371600"/>
            <a:ext cx="10881360" cy="868680"/>
          </a:xfrm>
          <a:prstGeom prst="roundRect">
            <a:avLst>
              <a:gd name="adj" fmla="val 6316"/>
            </a:avLst>
          </a:prstGeom>
          <a:solidFill>
            <a:srgbClr val="14213D"/>
          </a:solidFill>
          <a:ln w="12700">
            <a:solidFill>
              <a:srgbClr val="14213D"/>
            </a:solidFill>
            <a:prstDash val="solid"/>
          </a:ln>
        </p:spPr>
      </p:sp>
      <p:sp>
        <p:nvSpPr>
          <p:cNvPr id="5" name="Text 3"/>
          <p:cNvSpPr/>
          <p:nvPr/>
        </p:nvSpPr>
        <p:spPr>
          <a:xfrm>
            <a:off x="822960" y="1463040"/>
            <a:ext cx="10515600" cy="685800"/>
          </a:xfrm>
          <a:prstGeom prst="rect">
            <a:avLst/>
          </a:prstGeom>
          <a:noFill/>
          <a:ln/>
        </p:spPr>
        <p:txBody>
          <a:bodyPr wrap="square" lIns="0" tIns="0" rIns="0" bIns="0" rtlCol="0" anchor="ctr"/>
          <a:lstStyle/>
          <a:p>
            <a:pPr algn="ctr" indent="0" marL="0">
              <a:lnSpc>
                <a:spcPct val="115000"/>
              </a:lnSpc>
              <a:buNone/>
            </a:pPr>
            <a:r>
              <a:rPr lang="en-US" sz="1900" dirty="0">
                <a:solidFill>
                  <a:srgbClr val="FFFFFF"/>
                </a:solidFill>
                <a:latin typeface="Cambria" pitchFamily="34" charset="0"/>
                <a:ea typeface="Cambria" pitchFamily="34" charset="-122"/>
                <a:cs typeface="Cambria" pitchFamily="34" charset="-120"/>
              </a:rPr>
              <a:t>EVAL(s) = w1 f1(s) + w2 f2(s) + ... + wn fn(s)</a:t>
            </a:r>
            <a:endParaRPr lang="en-US" sz="1900" dirty="0"/>
          </a:p>
        </p:txBody>
      </p:sp>
      <p:sp>
        <p:nvSpPr>
          <p:cNvPr id="6" name="Text 4"/>
          <p:cNvSpPr/>
          <p:nvPr/>
        </p:nvSpPr>
        <p:spPr>
          <a:xfrm>
            <a:off x="640080" y="2514600"/>
            <a:ext cx="5486400" cy="457200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1A1A1A"/>
                </a:solidFill>
                <a:latin typeface="Calibri" pitchFamily="34" charset="0"/>
                <a:ea typeface="Calibri" pitchFamily="34" charset="-122"/>
                <a:cs typeface="Calibri" pitchFamily="34" charset="-120"/>
              </a:rPr>
              <a:t>Each fi is a feature of the position, each wi says how much that feature matters.</a:t>
            </a:r>
            <a:endParaRPr lang="en-US" sz="1500" dirty="0"/>
          </a:p>
          <a:p>
            <a:pPr marL="203200" indent="-203200">
              <a:spcAft>
                <a:spcPts val="900"/>
              </a:spcAft>
              <a:buSzPct val="100000"/>
              <a:buChar char="•"/>
            </a:pPr>
            <a:r>
              <a:rPr lang="en-US" sz="1500" dirty="0">
                <a:solidFill>
                  <a:srgbClr val="1A1A1A"/>
                </a:solidFill>
                <a:latin typeface="Calibri" pitchFamily="34" charset="0"/>
                <a:ea typeface="Calibri" pitchFamily="34" charset="-122"/>
                <a:cs typeface="Calibri" pitchFamily="34" charset="-120"/>
              </a:rPr>
              <a:t>For example f1(s) = (number of white queens) - (number of black queens).</a:t>
            </a:r>
            <a:endParaRPr lang="en-US" sz="1500" dirty="0"/>
          </a:p>
          <a:p>
            <a:pPr marL="203200" indent="-203200">
              <a:spcAft>
                <a:spcPts val="900"/>
              </a:spcAft>
              <a:buSzPct val="100000"/>
              <a:buChar char="•"/>
            </a:pPr>
            <a:r>
              <a:rPr lang="en-US" sz="1500" b="1" dirty="0">
                <a:solidFill>
                  <a:srgbClr val="1A1A1A"/>
                </a:solidFill>
                <a:latin typeface="Calibri" pitchFamily="34" charset="0"/>
                <a:ea typeface="Calibri" pitchFamily="34" charset="-122"/>
                <a:cs typeface="Calibri" pitchFamily="34" charset="-120"/>
              </a:rPr>
              <a:t>Chess players have used exactly this idea for centuries:</a:t>
            </a:r>
            <a:endParaRPr lang="en-US" sz="1500" dirty="0"/>
          </a:p>
        </p:txBody>
      </p:sp>
      <p:sp>
        <p:nvSpPr>
          <p:cNvPr id="7" name="Shape 5"/>
          <p:cNvSpPr/>
          <p:nvPr/>
        </p:nvSpPr>
        <p:spPr>
          <a:xfrm>
            <a:off x="640080" y="4160520"/>
            <a:ext cx="987552" cy="1005840"/>
          </a:xfrm>
          <a:prstGeom prst="roundRect">
            <a:avLst>
              <a:gd name="adj" fmla="val 5556"/>
            </a:avLst>
          </a:prstGeom>
          <a:solidFill>
            <a:srgbClr val="EFF3F9"/>
          </a:solidFill>
          <a:ln w="12700">
            <a:solidFill>
              <a:srgbClr val="DCE3EE"/>
            </a:solidFill>
            <a:prstDash val="solid"/>
          </a:ln>
        </p:spPr>
      </p:sp>
      <p:sp>
        <p:nvSpPr>
          <p:cNvPr id="8" name="Text 6"/>
          <p:cNvSpPr/>
          <p:nvPr/>
        </p:nvSpPr>
        <p:spPr>
          <a:xfrm>
            <a:off x="640080" y="4233672"/>
            <a:ext cx="987552" cy="502920"/>
          </a:xfrm>
          <a:prstGeom prst="rect">
            <a:avLst/>
          </a:prstGeom>
          <a:noFill/>
          <a:ln/>
        </p:spPr>
        <p:txBody>
          <a:bodyPr wrap="square" lIns="0" tIns="0" rIns="0" bIns="0" rtlCol="0" anchor="ctr"/>
          <a:lstStyle/>
          <a:p>
            <a:pPr algn="ctr" indent="0" marL="0">
              <a:buNone/>
            </a:pPr>
            <a:r>
              <a:rPr lang="en-US" sz="2400" b="1" dirty="0">
                <a:solidFill>
                  <a:srgbClr val="1F5AC4"/>
                </a:solidFill>
                <a:latin typeface="Cambria" pitchFamily="34" charset="0"/>
                <a:ea typeface="Cambria" pitchFamily="34" charset="-122"/>
                <a:cs typeface="Cambria" pitchFamily="34" charset="-120"/>
              </a:rPr>
              <a:t>1</a:t>
            </a:r>
            <a:endParaRPr lang="en-US" sz="2400" dirty="0"/>
          </a:p>
        </p:txBody>
      </p:sp>
      <p:sp>
        <p:nvSpPr>
          <p:cNvPr id="9" name="Text 7"/>
          <p:cNvSpPr/>
          <p:nvPr/>
        </p:nvSpPr>
        <p:spPr>
          <a:xfrm>
            <a:off x="640080" y="4736592"/>
            <a:ext cx="987552" cy="320040"/>
          </a:xfrm>
          <a:prstGeom prst="rect">
            <a:avLst/>
          </a:prstGeom>
          <a:noFill/>
          <a:ln/>
        </p:spPr>
        <p:txBody>
          <a:bodyPr wrap="square" lIns="0" tIns="0" rIns="0" bIns="0" rtlCol="0" anchor="ctr"/>
          <a:lstStyle/>
          <a:p>
            <a:pPr algn="ctr" indent="0" marL="0">
              <a:buNone/>
            </a:pPr>
            <a:r>
              <a:rPr lang="en-US" sz="1100" dirty="0">
                <a:solidFill>
                  <a:srgbClr val="55607A"/>
                </a:solidFill>
                <a:latin typeface="Calibri" pitchFamily="34" charset="0"/>
                <a:ea typeface="Calibri" pitchFamily="34" charset="-122"/>
                <a:cs typeface="Calibri" pitchFamily="34" charset="-120"/>
              </a:rPr>
              <a:t>Pawn</a:t>
            </a:r>
            <a:endParaRPr lang="en-US" sz="1100" dirty="0"/>
          </a:p>
        </p:txBody>
      </p:sp>
      <p:sp>
        <p:nvSpPr>
          <p:cNvPr id="10" name="Shape 8"/>
          <p:cNvSpPr/>
          <p:nvPr/>
        </p:nvSpPr>
        <p:spPr>
          <a:xfrm>
            <a:off x="1755648" y="4160520"/>
            <a:ext cx="987552" cy="1005840"/>
          </a:xfrm>
          <a:prstGeom prst="roundRect">
            <a:avLst>
              <a:gd name="adj" fmla="val 5556"/>
            </a:avLst>
          </a:prstGeom>
          <a:solidFill>
            <a:srgbClr val="EFF3F9"/>
          </a:solidFill>
          <a:ln w="12700">
            <a:solidFill>
              <a:srgbClr val="DCE3EE"/>
            </a:solidFill>
            <a:prstDash val="solid"/>
          </a:ln>
        </p:spPr>
      </p:sp>
      <p:sp>
        <p:nvSpPr>
          <p:cNvPr id="11" name="Text 9"/>
          <p:cNvSpPr/>
          <p:nvPr/>
        </p:nvSpPr>
        <p:spPr>
          <a:xfrm>
            <a:off x="1755648" y="4233672"/>
            <a:ext cx="987552" cy="502920"/>
          </a:xfrm>
          <a:prstGeom prst="rect">
            <a:avLst/>
          </a:prstGeom>
          <a:noFill/>
          <a:ln/>
        </p:spPr>
        <p:txBody>
          <a:bodyPr wrap="square" lIns="0" tIns="0" rIns="0" bIns="0" rtlCol="0" anchor="ctr"/>
          <a:lstStyle/>
          <a:p>
            <a:pPr algn="ctr" indent="0" marL="0">
              <a:buNone/>
            </a:pPr>
            <a:r>
              <a:rPr lang="en-US" sz="2400" b="1" dirty="0">
                <a:solidFill>
                  <a:srgbClr val="1F5AC4"/>
                </a:solidFill>
                <a:latin typeface="Cambria" pitchFamily="34" charset="0"/>
                <a:ea typeface="Cambria" pitchFamily="34" charset="-122"/>
                <a:cs typeface="Cambria" pitchFamily="34" charset="-120"/>
              </a:rPr>
              <a:t>3</a:t>
            </a:r>
            <a:endParaRPr lang="en-US" sz="2400" dirty="0"/>
          </a:p>
        </p:txBody>
      </p:sp>
      <p:sp>
        <p:nvSpPr>
          <p:cNvPr id="12" name="Text 10"/>
          <p:cNvSpPr/>
          <p:nvPr/>
        </p:nvSpPr>
        <p:spPr>
          <a:xfrm>
            <a:off x="1755648" y="4736592"/>
            <a:ext cx="987552" cy="320040"/>
          </a:xfrm>
          <a:prstGeom prst="rect">
            <a:avLst/>
          </a:prstGeom>
          <a:noFill/>
          <a:ln/>
        </p:spPr>
        <p:txBody>
          <a:bodyPr wrap="square" lIns="0" tIns="0" rIns="0" bIns="0" rtlCol="0" anchor="ctr"/>
          <a:lstStyle/>
          <a:p>
            <a:pPr algn="ctr" indent="0" marL="0">
              <a:buNone/>
            </a:pPr>
            <a:r>
              <a:rPr lang="en-US" sz="1100" dirty="0">
                <a:solidFill>
                  <a:srgbClr val="55607A"/>
                </a:solidFill>
                <a:latin typeface="Calibri" pitchFamily="34" charset="0"/>
                <a:ea typeface="Calibri" pitchFamily="34" charset="-122"/>
                <a:cs typeface="Calibri" pitchFamily="34" charset="-120"/>
              </a:rPr>
              <a:t>Knight</a:t>
            </a:r>
            <a:endParaRPr lang="en-US" sz="1100" dirty="0"/>
          </a:p>
        </p:txBody>
      </p:sp>
      <p:sp>
        <p:nvSpPr>
          <p:cNvPr id="13" name="Shape 11"/>
          <p:cNvSpPr/>
          <p:nvPr/>
        </p:nvSpPr>
        <p:spPr>
          <a:xfrm>
            <a:off x="2871216" y="4160520"/>
            <a:ext cx="987552" cy="1005840"/>
          </a:xfrm>
          <a:prstGeom prst="roundRect">
            <a:avLst>
              <a:gd name="adj" fmla="val 5556"/>
            </a:avLst>
          </a:prstGeom>
          <a:solidFill>
            <a:srgbClr val="EFF3F9"/>
          </a:solidFill>
          <a:ln w="12700">
            <a:solidFill>
              <a:srgbClr val="DCE3EE"/>
            </a:solidFill>
            <a:prstDash val="solid"/>
          </a:ln>
        </p:spPr>
      </p:sp>
      <p:sp>
        <p:nvSpPr>
          <p:cNvPr id="14" name="Text 12"/>
          <p:cNvSpPr/>
          <p:nvPr/>
        </p:nvSpPr>
        <p:spPr>
          <a:xfrm>
            <a:off x="2871216" y="4233672"/>
            <a:ext cx="987552" cy="502920"/>
          </a:xfrm>
          <a:prstGeom prst="rect">
            <a:avLst/>
          </a:prstGeom>
          <a:noFill/>
          <a:ln/>
        </p:spPr>
        <p:txBody>
          <a:bodyPr wrap="square" lIns="0" tIns="0" rIns="0" bIns="0" rtlCol="0" anchor="ctr"/>
          <a:lstStyle/>
          <a:p>
            <a:pPr algn="ctr" indent="0" marL="0">
              <a:buNone/>
            </a:pPr>
            <a:r>
              <a:rPr lang="en-US" sz="2400" b="1" dirty="0">
                <a:solidFill>
                  <a:srgbClr val="1F5AC4"/>
                </a:solidFill>
                <a:latin typeface="Cambria" pitchFamily="34" charset="0"/>
                <a:ea typeface="Cambria" pitchFamily="34" charset="-122"/>
                <a:cs typeface="Cambria" pitchFamily="34" charset="-120"/>
              </a:rPr>
              <a:t>3</a:t>
            </a:r>
            <a:endParaRPr lang="en-US" sz="2400" dirty="0"/>
          </a:p>
        </p:txBody>
      </p:sp>
      <p:sp>
        <p:nvSpPr>
          <p:cNvPr id="15" name="Text 13"/>
          <p:cNvSpPr/>
          <p:nvPr/>
        </p:nvSpPr>
        <p:spPr>
          <a:xfrm>
            <a:off x="2871216" y="4736592"/>
            <a:ext cx="987552" cy="320040"/>
          </a:xfrm>
          <a:prstGeom prst="rect">
            <a:avLst/>
          </a:prstGeom>
          <a:noFill/>
          <a:ln/>
        </p:spPr>
        <p:txBody>
          <a:bodyPr wrap="square" lIns="0" tIns="0" rIns="0" bIns="0" rtlCol="0" anchor="ctr"/>
          <a:lstStyle/>
          <a:p>
            <a:pPr algn="ctr" indent="0" marL="0">
              <a:buNone/>
            </a:pPr>
            <a:r>
              <a:rPr lang="en-US" sz="1100" dirty="0">
                <a:solidFill>
                  <a:srgbClr val="55607A"/>
                </a:solidFill>
                <a:latin typeface="Calibri" pitchFamily="34" charset="0"/>
                <a:ea typeface="Calibri" pitchFamily="34" charset="-122"/>
                <a:cs typeface="Calibri" pitchFamily="34" charset="-120"/>
              </a:rPr>
              <a:t>Bishop</a:t>
            </a:r>
            <a:endParaRPr lang="en-US" sz="1100" dirty="0"/>
          </a:p>
        </p:txBody>
      </p:sp>
      <p:sp>
        <p:nvSpPr>
          <p:cNvPr id="16" name="Shape 14"/>
          <p:cNvSpPr/>
          <p:nvPr/>
        </p:nvSpPr>
        <p:spPr>
          <a:xfrm>
            <a:off x="3986784" y="4160520"/>
            <a:ext cx="987552" cy="1005840"/>
          </a:xfrm>
          <a:prstGeom prst="roundRect">
            <a:avLst>
              <a:gd name="adj" fmla="val 5556"/>
            </a:avLst>
          </a:prstGeom>
          <a:solidFill>
            <a:srgbClr val="EFF3F9"/>
          </a:solidFill>
          <a:ln w="12700">
            <a:solidFill>
              <a:srgbClr val="DCE3EE"/>
            </a:solidFill>
            <a:prstDash val="solid"/>
          </a:ln>
        </p:spPr>
      </p:sp>
      <p:sp>
        <p:nvSpPr>
          <p:cNvPr id="17" name="Text 15"/>
          <p:cNvSpPr/>
          <p:nvPr/>
        </p:nvSpPr>
        <p:spPr>
          <a:xfrm>
            <a:off x="3986784" y="4233672"/>
            <a:ext cx="987552" cy="502920"/>
          </a:xfrm>
          <a:prstGeom prst="rect">
            <a:avLst/>
          </a:prstGeom>
          <a:noFill/>
          <a:ln/>
        </p:spPr>
        <p:txBody>
          <a:bodyPr wrap="square" lIns="0" tIns="0" rIns="0" bIns="0" rtlCol="0" anchor="ctr"/>
          <a:lstStyle/>
          <a:p>
            <a:pPr algn="ctr" indent="0" marL="0">
              <a:buNone/>
            </a:pPr>
            <a:r>
              <a:rPr lang="en-US" sz="2400" b="1" dirty="0">
                <a:solidFill>
                  <a:srgbClr val="1F5AC4"/>
                </a:solidFill>
                <a:latin typeface="Cambria" pitchFamily="34" charset="0"/>
                <a:ea typeface="Cambria" pitchFamily="34" charset="-122"/>
                <a:cs typeface="Cambria" pitchFamily="34" charset="-120"/>
              </a:rPr>
              <a:t>5</a:t>
            </a:r>
            <a:endParaRPr lang="en-US" sz="2400" dirty="0"/>
          </a:p>
        </p:txBody>
      </p:sp>
      <p:sp>
        <p:nvSpPr>
          <p:cNvPr id="18" name="Text 16"/>
          <p:cNvSpPr/>
          <p:nvPr/>
        </p:nvSpPr>
        <p:spPr>
          <a:xfrm>
            <a:off x="3986784" y="4736592"/>
            <a:ext cx="987552" cy="320040"/>
          </a:xfrm>
          <a:prstGeom prst="rect">
            <a:avLst/>
          </a:prstGeom>
          <a:noFill/>
          <a:ln/>
        </p:spPr>
        <p:txBody>
          <a:bodyPr wrap="square" lIns="0" tIns="0" rIns="0" bIns="0" rtlCol="0" anchor="ctr"/>
          <a:lstStyle/>
          <a:p>
            <a:pPr algn="ctr" indent="0" marL="0">
              <a:buNone/>
            </a:pPr>
            <a:r>
              <a:rPr lang="en-US" sz="1100" dirty="0">
                <a:solidFill>
                  <a:srgbClr val="55607A"/>
                </a:solidFill>
                <a:latin typeface="Calibri" pitchFamily="34" charset="0"/>
                <a:ea typeface="Calibri" pitchFamily="34" charset="-122"/>
                <a:cs typeface="Calibri" pitchFamily="34" charset="-120"/>
              </a:rPr>
              <a:t>Rook</a:t>
            </a:r>
            <a:endParaRPr lang="en-US" sz="1100" dirty="0"/>
          </a:p>
        </p:txBody>
      </p:sp>
      <p:sp>
        <p:nvSpPr>
          <p:cNvPr id="19" name="Shape 17"/>
          <p:cNvSpPr/>
          <p:nvPr/>
        </p:nvSpPr>
        <p:spPr>
          <a:xfrm>
            <a:off x="5102352" y="4160520"/>
            <a:ext cx="987552" cy="1005840"/>
          </a:xfrm>
          <a:prstGeom prst="roundRect">
            <a:avLst>
              <a:gd name="adj" fmla="val 5556"/>
            </a:avLst>
          </a:prstGeom>
          <a:solidFill>
            <a:srgbClr val="EFF3F9"/>
          </a:solidFill>
          <a:ln w="12700">
            <a:solidFill>
              <a:srgbClr val="DCE3EE"/>
            </a:solidFill>
            <a:prstDash val="solid"/>
          </a:ln>
        </p:spPr>
      </p:sp>
      <p:sp>
        <p:nvSpPr>
          <p:cNvPr id="20" name="Text 18"/>
          <p:cNvSpPr/>
          <p:nvPr/>
        </p:nvSpPr>
        <p:spPr>
          <a:xfrm>
            <a:off x="5102352" y="4233672"/>
            <a:ext cx="987552" cy="502920"/>
          </a:xfrm>
          <a:prstGeom prst="rect">
            <a:avLst/>
          </a:prstGeom>
          <a:noFill/>
          <a:ln/>
        </p:spPr>
        <p:txBody>
          <a:bodyPr wrap="square" lIns="0" tIns="0" rIns="0" bIns="0" rtlCol="0" anchor="ctr"/>
          <a:lstStyle/>
          <a:p>
            <a:pPr algn="ctr" indent="0" marL="0">
              <a:buNone/>
            </a:pPr>
            <a:r>
              <a:rPr lang="en-US" sz="2400" b="1" dirty="0">
                <a:solidFill>
                  <a:srgbClr val="1F5AC4"/>
                </a:solidFill>
                <a:latin typeface="Cambria" pitchFamily="34" charset="0"/>
                <a:ea typeface="Cambria" pitchFamily="34" charset="-122"/>
                <a:cs typeface="Cambria" pitchFamily="34" charset="-120"/>
              </a:rPr>
              <a:t>9</a:t>
            </a:r>
            <a:endParaRPr lang="en-US" sz="2400" dirty="0"/>
          </a:p>
        </p:txBody>
      </p:sp>
      <p:sp>
        <p:nvSpPr>
          <p:cNvPr id="21" name="Text 19"/>
          <p:cNvSpPr/>
          <p:nvPr/>
        </p:nvSpPr>
        <p:spPr>
          <a:xfrm>
            <a:off x="5102352" y="4736592"/>
            <a:ext cx="987552" cy="320040"/>
          </a:xfrm>
          <a:prstGeom prst="rect">
            <a:avLst/>
          </a:prstGeom>
          <a:noFill/>
          <a:ln/>
        </p:spPr>
        <p:txBody>
          <a:bodyPr wrap="square" lIns="0" tIns="0" rIns="0" bIns="0" rtlCol="0" anchor="ctr"/>
          <a:lstStyle/>
          <a:p>
            <a:pPr algn="ctr" indent="0" marL="0">
              <a:buNone/>
            </a:pPr>
            <a:r>
              <a:rPr lang="en-US" sz="1100" dirty="0">
                <a:solidFill>
                  <a:srgbClr val="55607A"/>
                </a:solidFill>
                <a:latin typeface="Calibri" pitchFamily="34" charset="0"/>
                <a:ea typeface="Calibri" pitchFamily="34" charset="-122"/>
                <a:cs typeface="Calibri" pitchFamily="34" charset="-120"/>
              </a:rPr>
              <a:t>Queen</a:t>
            </a:r>
            <a:endParaRPr lang="en-US" sz="1100" dirty="0"/>
          </a:p>
        </p:txBody>
      </p:sp>
      <p:sp>
        <p:nvSpPr>
          <p:cNvPr id="22" name="Text 20"/>
          <p:cNvSpPr/>
          <p:nvPr/>
        </p:nvSpPr>
        <p:spPr>
          <a:xfrm>
            <a:off x="640080" y="5257800"/>
            <a:ext cx="5669280" cy="457200"/>
          </a:xfrm>
          <a:prstGeom prst="rect">
            <a:avLst/>
          </a:prstGeom>
          <a:noFill/>
          <a:ln/>
        </p:spPr>
        <p:txBody>
          <a:bodyPr wrap="square" lIns="0" tIns="0" rIns="0" bIns="0" rtlCol="0" anchor="t"/>
          <a:lstStyle/>
          <a:p>
            <a:pPr indent="0" marL="0">
              <a:buNone/>
            </a:pPr>
            <a:r>
              <a:rPr lang="en-US" sz="1300" i="1" dirty="0">
                <a:solidFill>
                  <a:srgbClr val="55607A"/>
                </a:solidFill>
                <a:latin typeface="Calibri" pitchFamily="34" charset="0"/>
                <a:ea typeface="Calibri" pitchFamily="34" charset="-122"/>
                <a:cs typeface="Calibri" pitchFamily="34" charset="-120"/>
              </a:rPr>
              <a:t>Softer features such as good pawn structure or king safety might be worth half a pawn.</a:t>
            </a:r>
            <a:endParaRPr lang="en-US" sz="1300" dirty="0"/>
          </a:p>
        </p:txBody>
      </p:sp>
      <p:sp>
        <p:nvSpPr>
          <p:cNvPr id="23" name="Shape 21"/>
          <p:cNvSpPr/>
          <p:nvPr/>
        </p:nvSpPr>
        <p:spPr>
          <a:xfrm>
            <a:off x="6492240" y="2514600"/>
            <a:ext cx="5029200" cy="1417320"/>
          </a:xfrm>
          <a:prstGeom prst="roundRect">
            <a:avLst>
              <a:gd name="adj" fmla="val 5161"/>
            </a:avLst>
          </a:prstGeom>
          <a:solidFill>
            <a:srgbClr val="EFF3F9"/>
          </a:solidFill>
          <a:ln w="12700">
            <a:solidFill>
              <a:srgbClr val="EFF3F9"/>
            </a:solidFill>
            <a:prstDash val="solid"/>
          </a:ln>
        </p:spPr>
      </p:sp>
      <p:sp>
        <p:nvSpPr>
          <p:cNvPr id="24" name="Text 22"/>
          <p:cNvSpPr/>
          <p:nvPr/>
        </p:nvSpPr>
        <p:spPr>
          <a:xfrm>
            <a:off x="6693408" y="2660904"/>
            <a:ext cx="46268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Normalize the weights</a:t>
            </a:r>
            <a:endParaRPr lang="en-US" sz="1500" dirty="0"/>
          </a:p>
        </p:txBody>
      </p:sp>
      <p:sp>
        <p:nvSpPr>
          <p:cNvPr id="25" name="Text 23"/>
          <p:cNvSpPr/>
          <p:nvPr/>
        </p:nvSpPr>
        <p:spPr>
          <a:xfrm>
            <a:off x="6693408" y="3008376"/>
            <a:ext cx="4626864" cy="75895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The sum should stay inside the range from a loss (0) to a win (+1). A one-pawn advantage should read as a substantial likelihood of winning; three pawns as near certainty.</a:t>
            </a:r>
            <a:endParaRPr lang="en-US" sz="1300" dirty="0"/>
          </a:p>
        </p:txBody>
      </p:sp>
      <p:sp>
        <p:nvSpPr>
          <p:cNvPr id="26" name="Shape 24"/>
          <p:cNvSpPr/>
          <p:nvPr/>
        </p:nvSpPr>
        <p:spPr>
          <a:xfrm>
            <a:off x="6492240" y="4160520"/>
            <a:ext cx="5029200" cy="1554480"/>
          </a:xfrm>
          <a:prstGeom prst="roundRect">
            <a:avLst>
              <a:gd name="adj" fmla="val 4706"/>
            </a:avLst>
          </a:prstGeom>
          <a:solidFill>
            <a:srgbClr val="DCE6FA"/>
          </a:solidFill>
          <a:ln w="12700">
            <a:solidFill>
              <a:srgbClr val="1F5AC4"/>
            </a:solidFill>
            <a:prstDash val="solid"/>
          </a:ln>
        </p:spPr>
      </p:sp>
      <p:sp>
        <p:nvSpPr>
          <p:cNvPr id="27" name="Text 25"/>
          <p:cNvSpPr/>
          <p:nvPr/>
        </p:nvSpPr>
        <p:spPr>
          <a:xfrm>
            <a:off x="6693408" y="4306824"/>
            <a:ext cx="46268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Correlated, not proportional</a:t>
            </a:r>
            <a:endParaRPr lang="en-US" sz="1500" dirty="0"/>
          </a:p>
        </p:txBody>
      </p:sp>
      <p:sp>
        <p:nvSpPr>
          <p:cNvPr id="28" name="Text 26"/>
          <p:cNvSpPr/>
          <p:nvPr/>
        </p:nvSpPr>
        <p:spPr>
          <a:xfrm>
            <a:off x="6693408" y="4654296"/>
            <a:ext cx="4626864" cy="89611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EVAL need not be linearly correlated with the chance of winning. If s is twice as likely to win as s', we do not need EVAL(s) = 2 EVAL(s'). We only need EVAL(s) &gt; EVAL(s').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5.3.1</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Where Linearity Breaks, and Where Weights Come From</a:t>
            </a:r>
            <a:endParaRPr lang="en-US" sz="2900" dirty="0"/>
          </a:p>
        </p:txBody>
      </p:sp>
      <p:sp>
        <p:nvSpPr>
          <p:cNvPr id="4" name="Shape 2"/>
          <p:cNvSpPr/>
          <p:nvPr/>
        </p:nvSpPr>
        <p:spPr>
          <a:xfrm>
            <a:off x="640080" y="1371600"/>
            <a:ext cx="5349240" cy="2240280"/>
          </a:xfrm>
          <a:prstGeom prst="roundRect">
            <a:avLst>
              <a:gd name="adj" fmla="val 3265"/>
            </a:avLst>
          </a:prstGeom>
          <a:solidFill>
            <a:srgbClr val="FBEFD8"/>
          </a:solidFill>
          <a:ln w="12700">
            <a:solidFill>
              <a:srgbClr val="D98C1F"/>
            </a:solidFill>
            <a:prstDash val="solid"/>
          </a:ln>
        </p:spPr>
      </p:sp>
      <p:sp>
        <p:nvSpPr>
          <p:cNvPr id="5" name="Text 3"/>
          <p:cNvSpPr/>
          <p:nvPr/>
        </p:nvSpPr>
        <p:spPr>
          <a:xfrm>
            <a:off x="84124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The hidden assumption</a:t>
            </a:r>
            <a:endParaRPr lang="en-US" sz="1500" dirty="0"/>
          </a:p>
        </p:txBody>
      </p:sp>
      <p:sp>
        <p:nvSpPr>
          <p:cNvPr id="6" name="Text 4"/>
          <p:cNvSpPr/>
          <p:nvPr/>
        </p:nvSpPr>
        <p:spPr>
          <a:xfrm>
            <a:off x="841248" y="1865376"/>
            <a:ext cx="4946904" cy="1581912"/>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Adding feature values assumes each feature contributes independently of the others. That is often false:</a:t>
            </a:r>
            <a:endParaRPr lang="en-US" sz="1300" dirty="0"/>
          </a:p>
          <a:p>
            <a:pPr indent="0" marL="0">
              <a:lnSpc>
                <a:spcPct val="108000"/>
              </a:lnSpc>
              <a:buNone/>
            </a:pPr>
            <a:endParaRPr lang="en-US" sz="1300" dirty="0"/>
          </a:p>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   a pair of bishops is worth more than twice one bishop;</a:t>
            </a:r>
            <a:endParaRPr lang="en-US" sz="1300" dirty="0"/>
          </a:p>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   a bishop is worth more in the endgame - that is, when the move number is high or few pieces remain.</a:t>
            </a:r>
            <a:endParaRPr lang="en-US" sz="1300" dirty="0"/>
          </a:p>
          <a:p>
            <a:pPr indent="0" marL="0">
              <a:lnSpc>
                <a:spcPct val="108000"/>
              </a:lnSpc>
              <a:buNone/>
            </a:pPr>
            <a:endParaRPr lang="en-US" sz="1300" dirty="0"/>
          </a:p>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Current programs therefore use nonlinear combinations of features.</a:t>
            </a:r>
            <a:endParaRPr lang="en-US" sz="1300" dirty="0"/>
          </a:p>
        </p:txBody>
      </p:sp>
      <p:sp>
        <p:nvSpPr>
          <p:cNvPr id="7" name="Shape 5"/>
          <p:cNvSpPr/>
          <p:nvPr/>
        </p:nvSpPr>
        <p:spPr>
          <a:xfrm>
            <a:off x="6172200" y="1371600"/>
            <a:ext cx="5349240" cy="2240280"/>
          </a:xfrm>
          <a:prstGeom prst="roundRect">
            <a:avLst>
              <a:gd name="adj" fmla="val 3265"/>
            </a:avLst>
          </a:prstGeom>
          <a:solidFill>
            <a:srgbClr val="EFF3F9"/>
          </a:solidFill>
          <a:ln w="12700">
            <a:solidFill>
              <a:srgbClr val="EFF3F9"/>
            </a:solidFill>
            <a:prstDash val="solid"/>
          </a:ln>
        </p:spPr>
      </p:sp>
      <p:sp>
        <p:nvSpPr>
          <p:cNvPr id="8" name="Text 6"/>
          <p:cNvSpPr/>
          <p:nvPr/>
        </p:nvSpPr>
        <p:spPr>
          <a:xfrm>
            <a:off x="637336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Where do features and weights come from?</a:t>
            </a:r>
            <a:endParaRPr lang="en-US" sz="1500" dirty="0"/>
          </a:p>
        </p:txBody>
      </p:sp>
      <p:sp>
        <p:nvSpPr>
          <p:cNvPr id="9" name="Text 7"/>
          <p:cNvSpPr/>
          <p:nvPr/>
        </p:nvSpPr>
        <p:spPr>
          <a:xfrm>
            <a:off x="6373368" y="1865376"/>
            <a:ext cx="4946904" cy="158191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Not from the rules of chess - from the culture of human chess-playing experience.</a:t>
            </a:r>
            <a:endParaRPr lang="en-US" sz="1300" dirty="0"/>
          </a:p>
          <a:p>
            <a:pPr indent="0" marL="0">
              <a:lnSpc>
                <a:spcPct val="108000"/>
              </a:lnSpc>
              <a:buNone/>
            </a:pPr>
            <a:endParaRPr lang="en-US" sz="1300" dirty="0"/>
          </a:p>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Where that experience does not exist, weights can be estimated by machine learning (Chapter 22).</a:t>
            </a:r>
            <a:endParaRPr lang="en-US" sz="1300" dirty="0"/>
          </a:p>
          <a:p>
            <a:pPr indent="0" marL="0">
              <a:lnSpc>
                <a:spcPct val="108000"/>
              </a:lnSpc>
              <a:buNone/>
            </a:pPr>
            <a:endParaRPr lang="en-US" sz="1300" dirty="0"/>
          </a:p>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Applied to chess, learning confirmed that a bishop really is worth about three pawns. Centuries of human experience were reproduced in a few hours of training.</a:t>
            </a:r>
            <a:endParaRPr lang="en-US" sz="1300" dirty="0"/>
          </a:p>
        </p:txBody>
      </p:sp>
      <p:sp>
        <p:nvSpPr>
          <p:cNvPr id="10" name="Shape 8"/>
          <p:cNvSpPr/>
          <p:nvPr/>
        </p:nvSpPr>
        <p:spPr>
          <a:xfrm>
            <a:off x="640080" y="3840480"/>
            <a:ext cx="10881360" cy="914400"/>
          </a:xfrm>
          <a:prstGeom prst="roundRect">
            <a:avLst>
              <a:gd name="adj" fmla="val 6000"/>
            </a:avLst>
          </a:prstGeom>
          <a:solidFill>
            <a:srgbClr val="14213D"/>
          </a:solidFill>
          <a:ln w="12700">
            <a:solidFill>
              <a:srgbClr val="14213D"/>
            </a:solidFill>
            <a:prstDash val="solid"/>
          </a:ln>
        </p:spPr>
      </p:sp>
      <p:sp>
        <p:nvSpPr>
          <p:cNvPr id="11" name="Text 9"/>
          <p:cNvSpPr/>
          <p:nvPr/>
        </p:nvSpPr>
        <p:spPr>
          <a:xfrm>
            <a:off x="822960" y="3931920"/>
            <a:ext cx="10515600" cy="731520"/>
          </a:xfrm>
          <a:prstGeom prst="rect">
            <a:avLst/>
          </a:prstGeom>
          <a:noFill/>
          <a:ln/>
        </p:spPr>
        <p:txBody>
          <a:bodyPr wrap="square" lIns="0" tIns="0" rIns="0" bIns="0" rtlCol="0" anchor="ctr"/>
          <a:lstStyle/>
          <a:p>
            <a:pPr algn="ctr" indent="0" marL="0">
              <a:lnSpc>
                <a:spcPct val="115000"/>
              </a:lnSpc>
              <a:buNone/>
            </a:pPr>
            <a:r>
              <a:rPr lang="en-US" sz="1650" dirty="0">
                <a:solidFill>
                  <a:srgbClr val="FFFFFF"/>
                </a:solidFill>
                <a:latin typeface="Cambria" pitchFamily="34" charset="0"/>
                <a:ea typeface="Cambria" pitchFamily="34" charset="-122"/>
                <a:cs typeface="Cambria" pitchFamily="34" charset="-120"/>
              </a:rPr>
              <a:t>A good evaluation function is cheap to compute and strongly correlated with the true chance of winning.</a:t>
            </a:r>
            <a:endParaRPr lang="en-US" sz="1650" dirty="0"/>
          </a:p>
          <a:p>
            <a:pPr algn="ctr" indent="0" marL="0">
              <a:lnSpc>
                <a:spcPct val="115000"/>
              </a:lnSpc>
              <a:buNone/>
            </a:pPr>
            <a:r>
              <a:rPr lang="en-US" sz="1650" dirty="0">
                <a:solidFill>
                  <a:srgbClr val="FFFFFF"/>
                </a:solidFill>
                <a:latin typeface="Cambria" pitchFamily="34" charset="0"/>
                <a:ea typeface="Cambria" pitchFamily="34" charset="-122"/>
                <a:cs typeface="Cambria" pitchFamily="34" charset="-120"/>
              </a:rPr>
              <a:t>Those two requirements pull against each other, and that tension is the whole design problem.</a:t>
            </a:r>
            <a:endParaRPr lang="en-US" sz="1650" dirty="0"/>
          </a:p>
        </p:txBody>
      </p:sp>
      <p:sp>
        <p:nvSpPr>
          <p:cNvPr id="12" name="Text 10"/>
          <p:cNvSpPr/>
          <p:nvPr/>
        </p:nvSpPr>
        <p:spPr>
          <a:xfrm>
            <a:off x="640080" y="4983480"/>
            <a:ext cx="10881360" cy="457200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rgbClr val="1A1A1A"/>
                </a:solidFill>
                <a:latin typeface="Calibri" pitchFamily="34" charset="0"/>
                <a:ea typeface="Calibri" pitchFamily="34" charset="-122"/>
                <a:cs typeface="Calibri" pitchFamily="34" charset="-120"/>
              </a:rPr>
              <a:t>Modern engines have replaced hand-tuned linear functions with learned neural evaluations, but the interface is unchanged: state in, one number out.</a:t>
            </a:r>
            <a:endParaRPr lang="en-US" sz="14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CS 188  ·  YOUR PROGRAMMING ASSIGNMENT</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Designing an Evaluation Function for Pac-Man</a:t>
            </a:r>
            <a:endParaRPr lang="en-US" sz="2900" dirty="0"/>
          </a:p>
        </p:txBody>
      </p:sp>
      <p:sp>
        <p:nvSpPr>
          <p:cNvPr id="4" name="Shape 2"/>
          <p:cNvSpPr/>
          <p:nvPr/>
        </p:nvSpPr>
        <p:spPr>
          <a:xfrm>
            <a:off x="640080" y="1371600"/>
            <a:ext cx="5349240" cy="1508760"/>
          </a:xfrm>
          <a:prstGeom prst="roundRect">
            <a:avLst>
              <a:gd name="adj" fmla="val 4848"/>
            </a:avLst>
          </a:prstGeom>
          <a:solidFill>
            <a:srgbClr val="F7DEDF"/>
          </a:solidFill>
          <a:ln w="12700">
            <a:solidFill>
              <a:srgbClr val="C1272D"/>
            </a:solidFill>
            <a:prstDash val="solid"/>
          </a:ln>
        </p:spPr>
      </p:sp>
      <p:sp>
        <p:nvSpPr>
          <p:cNvPr id="5" name="Text 3"/>
          <p:cNvSpPr/>
          <p:nvPr/>
        </p:nvSpPr>
        <p:spPr>
          <a:xfrm>
            <a:off x="84124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The naive choice: current score</a:t>
            </a:r>
            <a:endParaRPr lang="en-US" sz="1500" dirty="0"/>
          </a:p>
        </p:txBody>
      </p:sp>
      <p:sp>
        <p:nvSpPr>
          <p:cNvPr id="6" name="Text 4"/>
          <p:cNvSpPr/>
          <p:nvPr/>
        </p:nvSpPr>
        <p:spPr>
          <a:xfrm>
            <a:off x="841248" y="1865376"/>
            <a:ext cx="4946904" cy="850392"/>
          </a:xfrm>
          <a:prstGeom prst="rect">
            <a:avLst/>
          </a:prstGeom>
          <a:noFill/>
          <a:ln/>
        </p:spPr>
        <p:txBody>
          <a:bodyPr wrap="square" lIns="0" tIns="0" rIns="0" bIns="0" rtlCol="0" anchor="t"/>
          <a:lstStyle/>
          <a:p>
            <a:pPr indent="0" marL="0">
              <a:lnSpc>
                <a:spcPct val="108000"/>
              </a:lnSpc>
              <a:buNone/>
            </a:pPr>
            <a:r>
              <a:rPr lang="en-US" sz="1350" dirty="0">
                <a:solidFill>
                  <a:srgbClr val="1A1A1A"/>
                </a:solidFill>
                <a:latin typeface="Calibri" pitchFamily="34" charset="0"/>
                <a:ea typeface="Calibri" pitchFamily="34" charset="-122"/>
                <a:cs typeface="Calibri" pitchFamily="34" charset="-120"/>
              </a:rPr>
              <a:t>Two states can carry the same score while one is far better - closer to food, or further from a ghost. A score-only evaluation cannot tell them apart, and the agent stalls.</a:t>
            </a:r>
            <a:endParaRPr lang="en-US" sz="1350" dirty="0"/>
          </a:p>
        </p:txBody>
      </p:sp>
      <p:sp>
        <p:nvSpPr>
          <p:cNvPr id="7" name="Shape 5"/>
          <p:cNvSpPr/>
          <p:nvPr/>
        </p:nvSpPr>
        <p:spPr>
          <a:xfrm>
            <a:off x="640080" y="3182112"/>
            <a:ext cx="365760" cy="365760"/>
          </a:xfrm>
          <a:prstGeom prst="ellipse">
            <a:avLst/>
          </a:prstGeom>
          <a:solidFill>
            <a:srgbClr val="1F5AC4"/>
          </a:solidFill>
          <a:ln w="12700">
            <a:solidFill>
              <a:srgbClr val="1F5AC4"/>
            </a:solidFill>
            <a:prstDash val="solid"/>
          </a:ln>
        </p:spPr>
      </p:sp>
      <p:sp>
        <p:nvSpPr>
          <p:cNvPr id="8" name="Text 6"/>
          <p:cNvSpPr/>
          <p:nvPr/>
        </p:nvSpPr>
        <p:spPr>
          <a:xfrm>
            <a:off x="640080" y="31821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143000" y="3182112"/>
            <a:ext cx="4846320" cy="36576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Distance to the nearest food pellet</a:t>
            </a:r>
            <a:endParaRPr lang="en-US" sz="1450" dirty="0"/>
          </a:p>
        </p:txBody>
      </p:sp>
      <p:sp>
        <p:nvSpPr>
          <p:cNvPr id="10" name="Shape 8"/>
          <p:cNvSpPr/>
          <p:nvPr/>
        </p:nvSpPr>
        <p:spPr>
          <a:xfrm>
            <a:off x="6172200" y="3182112"/>
            <a:ext cx="365760" cy="365760"/>
          </a:xfrm>
          <a:prstGeom prst="ellipse">
            <a:avLst/>
          </a:prstGeom>
          <a:solidFill>
            <a:srgbClr val="1F5AC4"/>
          </a:solidFill>
          <a:ln w="12700">
            <a:solidFill>
              <a:srgbClr val="1F5AC4"/>
            </a:solidFill>
            <a:prstDash val="solid"/>
          </a:ln>
        </p:spPr>
      </p:sp>
      <p:sp>
        <p:nvSpPr>
          <p:cNvPr id="11" name="Text 9"/>
          <p:cNvSpPr/>
          <p:nvPr/>
        </p:nvSpPr>
        <p:spPr>
          <a:xfrm>
            <a:off x="6172200" y="31821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6675120" y="3182112"/>
            <a:ext cx="4846320" cy="36576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Number of remaining pellets</a:t>
            </a:r>
            <a:endParaRPr lang="en-US" sz="1450" dirty="0"/>
          </a:p>
        </p:txBody>
      </p:sp>
      <p:sp>
        <p:nvSpPr>
          <p:cNvPr id="13" name="Shape 11"/>
          <p:cNvSpPr/>
          <p:nvPr/>
        </p:nvSpPr>
        <p:spPr>
          <a:xfrm>
            <a:off x="640080" y="3840480"/>
            <a:ext cx="365760" cy="365760"/>
          </a:xfrm>
          <a:prstGeom prst="ellipse">
            <a:avLst/>
          </a:prstGeom>
          <a:solidFill>
            <a:srgbClr val="1F5AC4"/>
          </a:solidFill>
          <a:ln w="12700">
            <a:solidFill>
              <a:srgbClr val="1F5AC4"/>
            </a:solidFill>
            <a:prstDash val="solid"/>
          </a:ln>
        </p:spPr>
      </p:sp>
      <p:sp>
        <p:nvSpPr>
          <p:cNvPr id="14" name="Text 12"/>
          <p:cNvSpPr/>
          <p:nvPr/>
        </p:nvSpPr>
        <p:spPr>
          <a:xfrm>
            <a:off x="640080" y="3840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3840480"/>
            <a:ext cx="4846320" cy="36576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Distance to each ghost</a:t>
            </a:r>
            <a:endParaRPr lang="en-US" sz="1450" dirty="0"/>
          </a:p>
        </p:txBody>
      </p:sp>
      <p:sp>
        <p:nvSpPr>
          <p:cNvPr id="16" name="Shape 14"/>
          <p:cNvSpPr/>
          <p:nvPr/>
        </p:nvSpPr>
        <p:spPr>
          <a:xfrm>
            <a:off x="6172200" y="3840480"/>
            <a:ext cx="365760" cy="365760"/>
          </a:xfrm>
          <a:prstGeom prst="ellipse">
            <a:avLst/>
          </a:prstGeom>
          <a:solidFill>
            <a:srgbClr val="1F5AC4"/>
          </a:solidFill>
          <a:ln w="12700">
            <a:solidFill>
              <a:srgbClr val="1F5AC4"/>
            </a:solidFill>
            <a:prstDash val="solid"/>
          </a:ln>
        </p:spPr>
      </p:sp>
      <p:sp>
        <p:nvSpPr>
          <p:cNvPr id="17" name="Text 15"/>
          <p:cNvSpPr/>
          <p:nvPr/>
        </p:nvSpPr>
        <p:spPr>
          <a:xfrm>
            <a:off x="6172200" y="3840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675120" y="3840480"/>
            <a:ext cx="4846320" cy="36576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Whether a ghost is currently scared</a:t>
            </a:r>
            <a:endParaRPr lang="en-US" sz="1450" dirty="0"/>
          </a:p>
        </p:txBody>
      </p:sp>
      <p:sp>
        <p:nvSpPr>
          <p:cNvPr id="19" name="Shape 17"/>
          <p:cNvSpPr/>
          <p:nvPr/>
        </p:nvSpPr>
        <p:spPr>
          <a:xfrm>
            <a:off x="640080" y="4498848"/>
            <a:ext cx="365760" cy="365760"/>
          </a:xfrm>
          <a:prstGeom prst="ellipse">
            <a:avLst/>
          </a:prstGeom>
          <a:solidFill>
            <a:srgbClr val="1F5AC4"/>
          </a:solidFill>
          <a:ln w="12700">
            <a:solidFill>
              <a:srgbClr val="1F5AC4"/>
            </a:solidFill>
            <a:prstDash val="solid"/>
          </a:ln>
        </p:spPr>
      </p:sp>
      <p:sp>
        <p:nvSpPr>
          <p:cNvPr id="20" name="Text 18"/>
          <p:cNvSpPr/>
          <p:nvPr/>
        </p:nvSpPr>
        <p:spPr>
          <a:xfrm>
            <a:off x="640080" y="449884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1" name="Text 19"/>
          <p:cNvSpPr/>
          <p:nvPr/>
        </p:nvSpPr>
        <p:spPr>
          <a:xfrm>
            <a:off x="1143000" y="4498848"/>
            <a:ext cx="4846320" cy="36576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Number of available escape routes</a:t>
            </a:r>
            <a:endParaRPr lang="en-US" sz="1450" dirty="0"/>
          </a:p>
        </p:txBody>
      </p:sp>
      <p:sp>
        <p:nvSpPr>
          <p:cNvPr id="22" name="Shape 20"/>
          <p:cNvSpPr/>
          <p:nvPr/>
        </p:nvSpPr>
        <p:spPr>
          <a:xfrm>
            <a:off x="6172200" y="4498848"/>
            <a:ext cx="365760" cy="365760"/>
          </a:xfrm>
          <a:prstGeom prst="ellipse">
            <a:avLst/>
          </a:prstGeom>
          <a:solidFill>
            <a:srgbClr val="1F5AC4"/>
          </a:solidFill>
          <a:ln w="12700">
            <a:solidFill>
              <a:srgbClr val="1F5AC4"/>
            </a:solidFill>
            <a:prstDash val="solid"/>
          </a:ln>
        </p:spPr>
      </p:sp>
      <p:sp>
        <p:nvSpPr>
          <p:cNvPr id="23" name="Text 21"/>
          <p:cNvSpPr/>
          <p:nvPr/>
        </p:nvSpPr>
        <p:spPr>
          <a:xfrm>
            <a:off x="6172200" y="449884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4" name="Text 22"/>
          <p:cNvSpPr/>
          <p:nvPr/>
        </p:nvSpPr>
        <p:spPr>
          <a:xfrm>
            <a:off x="6675120" y="4498848"/>
            <a:ext cx="4846320" cy="36576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Distance to the nearest power pellet</a:t>
            </a:r>
            <a:endParaRPr lang="en-US" sz="1450" dirty="0"/>
          </a:p>
        </p:txBody>
      </p:sp>
      <p:sp>
        <p:nvSpPr>
          <p:cNvPr id="25" name="Shape 23"/>
          <p:cNvSpPr/>
          <p:nvPr/>
        </p:nvSpPr>
        <p:spPr>
          <a:xfrm>
            <a:off x="6172200" y="1371600"/>
            <a:ext cx="5349240" cy="1508760"/>
          </a:xfrm>
          <a:prstGeom prst="roundRect">
            <a:avLst>
              <a:gd name="adj" fmla="val 4848"/>
            </a:avLst>
          </a:prstGeom>
          <a:solidFill>
            <a:srgbClr val="DCE6FA"/>
          </a:solidFill>
          <a:ln w="12700">
            <a:solidFill>
              <a:srgbClr val="1F5AC4"/>
            </a:solidFill>
            <a:prstDash val="solid"/>
          </a:ln>
        </p:spPr>
      </p:sp>
      <p:sp>
        <p:nvSpPr>
          <p:cNvPr id="26" name="Text 24"/>
          <p:cNvSpPr/>
          <p:nvPr/>
        </p:nvSpPr>
        <p:spPr>
          <a:xfrm>
            <a:off x="637336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The design rule</a:t>
            </a:r>
            <a:endParaRPr lang="en-US" sz="1500" dirty="0"/>
          </a:p>
        </p:txBody>
      </p:sp>
      <p:sp>
        <p:nvSpPr>
          <p:cNvPr id="27" name="Text 25"/>
          <p:cNvSpPr/>
          <p:nvPr/>
        </p:nvSpPr>
        <p:spPr>
          <a:xfrm>
            <a:off x="6373368" y="1865376"/>
            <a:ext cx="4946904" cy="850392"/>
          </a:xfrm>
          <a:prstGeom prst="rect">
            <a:avLst/>
          </a:prstGeom>
          <a:noFill/>
          <a:ln/>
        </p:spPr>
        <p:txBody>
          <a:bodyPr wrap="square" lIns="0" tIns="0" rIns="0" bIns="0" rtlCol="0" anchor="t"/>
          <a:lstStyle/>
          <a:p>
            <a:pPr indent="0" marL="0">
              <a:lnSpc>
                <a:spcPct val="108000"/>
              </a:lnSpc>
              <a:buNone/>
            </a:pPr>
            <a:r>
              <a:rPr lang="en-US" sz="1350" dirty="0">
                <a:solidFill>
                  <a:srgbClr val="14213D"/>
                </a:solidFill>
                <a:latin typeface="Calibri" pitchFamily="34" charset="0"/>
                <a:ea typeface="Calibri" pitchFamily="34" charset="-122"/>
                <a:cs typeface="Calibri" pitchFamily="34" charset="-120"/>
              </a:rPr>
              <a:t>An evaluation function must distinguish states that look identical by immediate score but have different futures. Features are how you smuggle the future into a single number.</a:t>
            </a:r>
            <a:endParaRPr lang="en-US" sz="1350" dirty="0"/>
          </a:p>
        </p:txBody>
      </p:sp>
      <p:sp>
        <p:nvSpPr>
          <p:cNvPr id="28" name="Text 26"/>
          <p:cNvSpPr/>
          <p:nvPr/>
        </p:nvSpPr>
        <p:spPr>
          <a:xfrm>
            <a:off x="566928" y="6327648"/>
            <a:ext cx="10058400" cy="274320"/>
          </a:xfrm>
          <a:prstGeom prst="rect">
            <a:avLst/>
          </a:prstGeom>
          <a:noFill/>
          <a:ln/>
        </p:spPr>
        <p:txBody>
          <a:bodyPr wrap="square" lIns="0" tIns="0" rIns="0" bIns="0" rtlCol="0" anchor="ctr"/>
          <a:lstStyle/>
          <a:p>
            <a:pPr indent="0" marL="0">
              <a:buNone/>
            </a:pPr>
            <a:r>
              <a:rPr lang="en-US" sz="1000" i="1" dirty="0">
                <a:solidFill>
                  <a:srgbClr val="55607A"/>
                </a:solidFill>
                <a:latin typeface="Calibri" pitchFamily="34" charset="0"/>
                <a:ea typeface="Calibri" pitchFamily="34" charset="-122"/>
                <a:cs typeface="Calibri" pitchFamily="34" charset="-120"/>
              </a:rPr>
              <a:t>Weight signs matter: distance to food should count negatively, distance to a live ghost positively, distance to a scared ghost negatively.</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CS 188</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Depth Matters More Than Polish</a:t>
            </a:r>
            <a:endParaRPr lang="en-US" sz="2900" dirty="0"/>
          </a:p>
        </p:txBody>
      </p:sp>
      <p:sp>
        <p:nvSpPr>
          <p:cNvPr id="4" name="Shape 2"/>
          <p:cNvSpPr/>
          <p:nvPr/>
        </p:nvSpPr>
        <p:spPr>
          <a:xfrm>
            <a:off x="2724912" y="1673352"/>
            <a:ext cx="402336" cy="310896"/>
          </a:xfrm>
          <a:prstGeom prst="triangle">
            <a:avLst/>
          </a:prstGeom>
          <a:solidFill>
            <a:srgbClr val="DCE6FA"/>
          </a:solidFill>
          <a:ln w="19050">
            <a:solidFill>
              <a:srgbClr val="1F5AC4"/>
            </a:solidFill>
            <a:prstDash val="solid"/>
          </a:ln>
        </p:spPr>
      </p:sp>
      <p:sp>
        <p:nvSpPr>
          <p:cNvPr id="5" name="Shape 3"/>
          <p:cNvSpPr/>
          <p:nvPr/>
        </p:nvSpPr>
        <p:spPr>
          <a:xfrm flipH="1">
            <a:off x="2011680" y="2011680"/>
            <a:ext cx="914400" cy="594360"/>
          </a:xfrm>
          <a:prstGeom prst="line">
            <a:avLst/>
          </a:prstGeom>
          <a:noFill/>
          <a:ln w="15875">
            <a:solidFill>
              <a:srgbClr val="55607A"/>
            </a:solidFill>
            <a:prstDash val="solid"/>
          </a:ln>
        </p:spPr>
      </p:sp>
      <p:sp>
        <p:nvSpPr>
          <p:cNvPr id="6" name="Shape 4"/>
          <p:cNvSpPr/>
          <p:nvPr/>
        </p:nvSpPr>
        <p:spPr>
          <a:xfrm>
            <a:off x="1810512" y="2633472"/>
            <a:ext cx="402336" cy="310896"/>
          </a:xfrm>
          <a:prstGeom prst="roundRect">
            <a:avLst>
              <a:gd name="adj" fmla="val 14706"/>
            </a:avLst>
          </a:prstGeom>
          <a:solidFill>
            <a:srgbClr val="FBEFD8"/>
          </a:solidFill>
          <a:ln w="12700">
            <a:solidFill>
              <a:srgbClr val="D98C1F"/>
            </a:solidFill>
            <a:prstDash val="solid"/>
          </a:ln>
        </p:spPr>
      </p:sp>
      <p:sp>
        <p:nvSpPr>
          <p:cNvPr id="7" name="Text 5"/>
          <p:cNvSpPr/>
          <p:nvPr/>
        </p:nvSpPr>
        <p:spPr>
          <a:xfrm>
            <a:off x="1609344" y="2633472"/>
            <a:ext cx="804672" cy="310896"/>
          </a:xfrm>
          <a:prstGeom prst="rect">
            <a:avLst/>
          </a:prstGeom>
          <a:noFill/>
          <a:ln/>
        </p:spPr>
        <p:txBody>
          <a:bodyPr wrap="square" lIns="0" tIns="0" rIns="0" bIns="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EVAL</a:t>
            </a:r>
            <a:endParaRPr lang="en-US" sz="1050" dirty="0"/>
          </a:p>
        </p:txBody>
      </p:sp>
      <p:sp>
        <p:nvSpPr>
          <p:cNvPr id="8" name="Shape 6"/>
          <p:cNvSpPr/>
          <p:nvPr/>
        </p:nvSpPr>
        <p:spPr>
          <a:xfrm>
            <a:off x="2926080" y="2011680"/>
            <a:ext cx="914400" cy="594360"/>
          </a:xfrm>
          <a:prstGeom prst="line">
            <a:avLst/>
          </a:prstGeom>
          <a:noFill/>
          <a:ln w="15875">
            <a:solidFill>
              <a:srgbClr val="55607A"/>
            </a:solidFill>
            <a:prstDash val="solid"/>
          </a:ln>
        </p:spPr>
      </p:sp>
      <p:sp>
        <p:nvSpPr>
          <p:cNvPr id="9" name="Shape 7"/>
          <p:cNvSpPr/>
          <p:nvPr/>
        </p:nvSpPr>
        <p:spPr>
          <a:xfrm>
            <a:off x="3639312" y="2633472"/>
            <a:ext cx="402336" cy="310896"/>
          </a:xfrm>
          <a:prstGeom prst="roundRect">
            <a:avLst>
              <a:gd name="adj" fmla="val 14706"/>
            </a:avLst>
          </a:prstGeom>
          <a:solidFill>
            <a:srgbClr val="FBEFD8"/>
          </a:solidFill>
          <a:ln w="12700">
            <a:solidFill>
              <a:srgbClr val="D98C1F"/>
            </a:solidFill>
            <a:prstDash val="solid"/>
          </a:ln>
        </p:spPr>
      </p:sp>
      <p:sp>
        <p:nvSpPr>
          <p:cNvPr id="10" name="Text 8"/>
          <p:cNvSpPr/>
          <p:nvPr/>
        </p:nvSpPr>
        <p:spPr>
          <a:xfrm>
            <a:off x="3438144" y="2633472"/>
            <a:ext cx="804672" cy="310896"/>
          </a:xfrm>
          <a:prstGeom prst="rect">
            <a:avLst/>
          </a:prstGeom>
          <a:noFill/>
          <a:ln/>
        </p:spPr>
        <p:txBody>
          <a:bodyPr wrap="square" lIns="0" tIns="0" rIns="0" bIns="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EVAL</a:t>
            </a:r>
            <a:endParaRPr lang="en-US" sz="1050" dirty="0"/>
          </a:p>
        </p:txBody>
      </p:sp>
      <p:sp>
        <p:nvSpPr>
          <p:cNvPr id="11" name="Text 9"/>
          <p:cNvSpPr/>
          <p:nvPr/>
        </p:nvSpPr>
        <p:spPr>
          <a:xfrm>
            <a:off x="1097280" y="3108960"/>
            <a:ext cx="3657600" cy="292608"/>
          </a:xfrm>
          <a:prstGeom prst="rect">
            <a:avLst/>
          </a:prstGeom>
          <a:noFill/>
          <a:ln/>
        </p:spPr>
        <p:txBody>
          <a:bodyPr wrap="square" lIns="0" tIns="0" rIns="0" bIns="0" rtlCol="0" anchor="ctr"/>
          <a:lstStyle/>
          <a:p>
            <a:pPr algn="ctr" indent="0" marL="0">
              <a:buNone/>
            </a:pPr>
            <a:r>
              <a:rPr lang="en-US" sz="1250" b="1" dirty="0">
                <a:solidFill>
                  <a:srgbClr val="C1272D"/>
                </a:solidFill>
                <a:latin typeface="Calibri" pitchFamily="34" charset="0"/>
                <a:ea typeface="Calibri" pitchFamily="34" charset="-122"/>
                <a:cs typeface="Calibri" pitchFamily="34" charset="-120"/>
              </a:rPr>
              <a:t>Shallow: the estimate IS the answer</a:t>
            </a:r>
            <a:endParaRPr lang="en-US" sz="1250" dirty="0"/>
          </a:p>
        </p:txBody>
      </p:sp>
      <p:sp>
        <p:nvSpPr>
          <p:cNvPr id="12" name="Shape 10"/>
          <p:cNvSpPr/>
          <p:nvPr/>
        </p:nvSpPr>
        <p:spPr>
          <a:xfrm>
            <a:off x="8394192" y="1444752"/>
            <a:ext cx="402336" cy="310896"/>
          </a:xfrm>
          <a:prstGeom prst="triangle">
            <a:avLst/>
          </a:prstGeom>
          <a:solidFill>
            <a:srgbClr val="DCE6FA"/>
          </a:solidFill>
          <a:ln w="19050">
            <a:solidFill>
              <a:srgbClr val="1F5AC4"/>
            </a:solidFill>
            <a:prstDash val="solid"/>
          </a:ln>
        </p:spPr>
      </p:sp>
      <p:sp>
        <p:nvSpPr>
          <p:cNvPr id="13" name="Shape 11"/>
          <p:cNvSpPr/>
          <p:nvPr/>
        </p:nvSpPr>
        <p:spPr>
          <a:xfrm flipH="1">
            <a:off x="7498080" y="1783080"/>
            <a:ext cx="1097280" cy="502920"/>
          </a:xfrm>
          <a:prstGeom prst="line">
            <a:avLst/>
          </a:prstGeom>
          <a:noFill/>
          <a:ln w="15875">
            <a:solidFill>
              <a:srgbClr val="55607A"/>
            </a:solidFill>
            <a:prstDash val="solid"/>
          </a:ln>
        </p:spPr>
      </p:sp>
      <p:sp>
        <p:nvSpPr>
          <p:cNvPr id="14" name="Shape 12"/>
          <p:cNvSpPr/>
          <p:nvPr/>
        </p:nvSpPr>
        <p:spPr>
          <a:xfrm rot="10800000">
            <a:off x="7296912" y="2313432"/>
            <a:ext cx="402336" cy="310896"/>
          </a:xfrm>
          <a:prstGeom prst="triangle">
            <a:avLst/>
          </a:prstGeom>
          <a:solidFill>
            <a:srgbClr val="F7DEDF"/>
          </a:solidFill>
          <a:ln w="19050">
            <a:solidFill>
              <a:srgbClr val="C1272D"/>
            </a:solidFill>
            <a:prstDash val="solid"/>
          </a:ln>
        </p:spPr>
      </p:sp>
      <p:sp>
        <p:nvSpPr>
          <p:cNvPr id="15" name="Shape 13"/>
          <p:cNvSpPr/>
          <p:nvPr/>
        </p:nvSpPr>
        <p:spPr>
          <a:xfrm flipH="1">
            <a:off x="6903720" y="2651760"/>
            <a:ext cx="594360" cy="502920"/>
          </a:xfrm>
          <a:prstGeom prst="line">
            <a:avLst/>
          </a:prstGeom>
          <a:noFill/>
          <a:ln w="15875">
            <a:solidFill>
              <a:srgbClr val="55607A"/>
            </a:solidFill>
            <a:prstDash val="solid"/>
          </a:ln>
        </p:spPr>
      </p:sp>
      <p:sp>
        <p:nvSpPr>
          <p:cNvPr id="16" name="Shape 14"/>
          <p:cNvSpPr/>
          <p:nvPr/>
        </p:nvSpPr>
        <p:spPr>
          <a:xfrm>
            <a:off x="6702552" y="3182112"/>
            <a:ext cx="402336" cy="310896"/>
          </a:xfrm>
          <a:prstGeom prst="roundRect">
            <a:avLst>
              <a:gd name="adj" fmla="val 14706"/>
            </a:avLst>
          </a:prstGeom>
          <a:solidFill>
            <a:srgbClr val="FBEFD8"/>
          </a:solidFill>
          <a:ln w="12700">
            <a:solidFill>
              <a:srgbClr val="D98C1F"/>
            </a:solidFill>
            <a:prstDash val="solid"/>
          </a:ln>
        </p:spPr>
      </p:sp>
      <p:sp>
        <p:nvSpPr>
          <p:cNvPr id="17" name="Text 15"/>
          <p:cNvSpPr/>
          <p:nvPr/>
        </p:nvSpPr>
        <p:spPr>
          <a:xfrm>
            <a:off x="6501384" y="3182112"/>
            <a:ext cx="804672" cy="310896"/>
          </a:xfrm>
          <a:prstGeom prst="rect">
            <a:avLst/>
          </a:prstGeom>
          <a:noFill/>
          <a:ln/>
        </p:spPr>
        <p:txBody>
          <a:bodyPr wrap="square" lIns="0" tIns="0" rIns="0" bIns="0" rtlCol="0" anchor="ctr"/>
          <a:lstStyle/>
          <a:p>
            <a:pPr algn="ctr" indent="0" marL="0">
              <a:buNone/>
            </a:pPr>
            <a:r>
              <a:rPr lang="en-US" sz="900" b="1" dirty="0">
                <a:solidFill>
                  <a:srgbClr val="14213D"/>
                </a:solidFill>
                <a:latin typeface="Calibri" pitchFamily="34" charset="0"/>
                <a:ea typeface="Calibri" pitchFamily="34" charset="-122"/>
                <a:cs typeface="Calibri" pitchFamily="34" charset="-120"/>
              </a:rPr>
              <a:t>EVAL</a:t>
            </a:r>
            <a:endParaRPr lang="en-US" sz="900" dirty="0"/>
          </a:p>
        </p:txBody>
      </p:sp>
      <p:sp>
        <p:nvSpPr>
          <p:cNvPr id="18" name="Shape 16"/>
          <p:cNvSpPr/>
          <p:nvPr/>
        </p:nvSpPr>
        <p:spPr>
          <a:xfrm>
            <a:off x="7498080" y="2651760"/>
            <a:ext cx="594360" cy="502920"/>
          </a:xfrm>
          <a:prstGeom prst="line">
            <a:avLst/>
          </a:prstGeom>
          <a:noFill/>
          <a:ln w="15875">
            <a:solidFill>
              <a:srgbClr val="55607A"/>
            </a:solidFill>
            <a:prstDash val="solid"/>
          </a:ln>
        </p:spPr>
      </p:sp>
      <p:sp>
        <p:nvSpPr>
          <p:cNvPr id="19" name="Shape 17"/>
          <p:cNvSpPr/>
          <p:nvPr/>
        </p:nvSpPr>
        <p:spPr>
          <a:xfrm>
            <a:off x="7891272" y="3182112"/>
            <a:ext cx="402336" cy="310896"/>
          </a:xfrm>
          <a:prstGeom prst="roundRect">
            <a:avLst>
              <a:gd name="adj" fmla="val 14706"/>
            </a:avLst>
          </a:prstGeom>
          <a:solidFill>
            <a:srgbClr val="FBEFD8"/>
          </a:solidFill>
          <a:ln w="12700">
            <a:solidFill>
              <a:srgbClr val="D98C1F"/>
            </a:solidFill>
            <a:prstDash val="solid"/>
          </a:ln>
        </p:spPr>
      </p:sp>
      <p:sp>
        <p:nvSpPr>
          <p:cNvPr id="20" name="Text 18"/>
          <p:cNvSpPr/>
          <p:nvPr/>
        </p:nvSpPr>
        <p:spPr>
          <a:xfrm>
            <a:off x="7690104" y="3182112"/>
            <a:ext cx="804672" cy="310896"/>
          </a:xfrm>
          <a:prstGeom prst="rect">
            <a:avLst/>
          </a:prstGeom>
          <a:noFill/>
          <a:ln/>
        </p:spPr>
        <p:txBody>
          <a:bodyPr wrap="square" lIns="0" tIns="0" rIns="0" bIns="0" rtlCol="0" anchor="ctr"/>
          <a:lstStyle/>
          <a:p>
            <a:pPr algn="ctr" indent="0" marL="0">
              <a:buNone/>
            </a:pPr>
            <a:r>
              <a:rPr lang="en-US" sz="900" b="1" dirty="0">
                <a:solidFill>
                  <a:srgbClr val="14213D"/>
                </a:solidFill>
                <a:latin typeface="Calibri" pitchFamily="34" charset="0"/>
                <a:ea typeface="Calibri" pitchFamily="34" charset="-122"/>
                <a:cs typeface="Calibri" pitchFamily="34" charset="-120"/>
              </a:rPr>
              <a:t>EVAL</a:t>
            </a:r>
            <a:endParaRPr lang="en-US" sz="900" dirty="0"/>
          </a:p>
        </p:txBody>
      </p:sp>
      <p:sp>
        <p:nvSpPr>
          <p:cNvPr id="21" name="Shape 19"/>
          <p:cNvSpPr/>
          <p:nvPr/>
        </p:nvSpPr>
        <p:spPr>
          <a:xfrm>
            <a:off x="8595360" y="1783080"/>
            <a:ext cx="1097280" cy="502920"/>
          </a:xfrm>
          <a:prstGeom prst="line">
            <a:avLst/>
          </a:prstGeom>
          <a:noFill/>
          <a:ln w="15875">
            <a:solidFill>
              <a:srgbClr val="55607A"/>
            </a:solidFill>
            <a:prstDash val="solid"/>
          </a:ln>
        </p:spPr>
      </p:sp>
      <p:sp>
        <p:nvSpPr>
          <p:cNvPr id="22" name="Shape 20"/>
          <p:cNvSpPr/>
          <p:nvPr/>
        </p:nvSpPr>
        <p:spPr>
          <a:xfrm rot="10800000">
            <a:off x="9491472" y="2313432"/>
            <a:ext cx="402336" cy="310896"/>
          </a:xfrm>
          <a:prstGeom prst="triangle">
            <a:avLst/>
          </a:prstGeom>
          <a:solidFill>
            <a:srgbClr val="F7DEDF"/>
          </a:solidFill>
          <a:ln w="19050">
            <a:solidFill>
              <a:srgbClr val="C1272D"/>
            </a:solidFill>
            <a:prstDash val="solid"/>
          </a:ln>
        </p:spPr>
      </p:sp>
      <p:sp>
        <p:nvSpPr>
          <p:cNvPr id="23" name="Shape 21"/>
          <p:cNvSpPr/>
          <p:nvPr/>
        </p:nvSpPr>
        <p:spPr>
          <a:xfrm flipH="1">
            <a:off x="9098280" y="2651760"/>
            <a:ext cx="594360" cy="502920"/>
          </a:xfrm>
          <a:prstGeom prst="line">
            <a:avLst/>
          </a:prstGeom>
          <a:noFill/>
          <a:ln w="15875">
            <a:solidFill>
              <a:srgbClr val="55607A"/>
            </a:solidFill>
            <a:prstDash val="solid"/>
          </a:ln>
        </p:spPr>
      </p:sp>
      <p:sp>
        <p:nvSpPr>
          <p:cNvPr id="24" name="Shape 22"/>
          <p:cNvSpPr/>
          <p:nvPr/>
        </p:nvSpPr>
        <p:spPr>
          <a:xfrm>
            <a:off x="8897112" y="3182112"/>
            <a:ext cx="402336" cy="310896"/>
          </a:xfrm>
          <a:prstGeom prst="roundRect">
            <a:avLst>
              <a:gd name="adj" fmla="val 14706"/>
            </a:avLst>
          </a:prstGeom>
          <a:solidFill>
            <a:srgbClr val="FBEFD8"/>
          </a:solidFill>
          <a:ln w="12700">
            <a:solidFill>
              <a:srgbClr val="D98C1F"/>
            </a:solidFill>
            <a:prstDash val="solid"/>
          </a:ln>
        </p:spPr>
      </p:sp>
      <p:sp>
        <p:nvSpPr>
          <p:cNvPr id="25" name="Text 23"/>
          <p:cNvSpPr/>
          <p:nvPr/>
        </p:nvSpPr>
        <p:spPr>
          <a:xfrm>
            <a:off x="8695944" y="3182112"/>
            <a:ext cx="804672" cy="310896"/>
          </a:xfrm>
          <a:prstGeom prst="rect">
            <a:avLst/>
          </a:prstGeom>
          <a:noFill/>
          <a:ln/>
        </p:spPr>
        <p:txBody>
          <a:bodyPr wrap="square" lIns="0" tIns="0" rIns="0" bIns="0" rtlCol="0" anchor="ctr"/>
          <a:lstStyle/>
          <a:p>
            <a:pPr algn="ctr" indent="0" marL="0">
              <a:buNone/>
            </a:pPr>
            <a:r>
              <a:rPr lang="en-US" sz="900" b="1" dirty="0">
                <a:solidFill>
                  <a:srgbClr val="14213D"/>
                </a:solidFill>
                <a:latin typeface="Calibri" pitchFamily="34" charset="0"/>
                <a:ea typeface="Calibri" pitchFamily="34" charset="-122"/>
                <a:cs typeface="Calibri" pitchFamily="34" charset="-120"/>
              </a:rPr>
              <a:t>EVAL</a:t>
            </a:r>
            <a:endParaRPr lang="en-US" sz="900" dirty="0"/>
          </a:p>
        </p:txBody>
      </p:sp>
      <p:sp>
        <p:nvSpPr>
          <p:cNvPr id="26" name="Shape 24"/>
          <p:cNvSpPr/>
          <p:nvPr/>
        </p:nvSpPr>
        <p:spPr>
          <a:xfrm>
            <a:off x="9692640" y="2651760"/>
            <a:ext cx="594360" cy="502920"/>
          </a:xfrm>
          <a:prstGeom prst="line">
            <a:avLst/>
          </a:prstGeom>
          <a:noFill/>
          <a:ln w="15875">
            <a:solidFill>
              <a:srgbClr val="55607A"/>
            </a:solidFill>
            <a:prstDash val="solid"/>
          </a:ln>
        </p:spPr>
      </p:sp>
      <p:sp>
        <p:nvSpPr>
          <p:cNvPr id="27" name="Shape 25"/>
          <p:cNvSpPr/>
          <p:nvPr/>
        </p:nvSpPr>
        <p:spPr>
          <a:xfrm>
            <a:off x="10085832" y="3182112"/>
            <a:ext cx="402336" cy="310896"/>
          </a:xfrm>
          <a:prstGeom prst="roundRect">
            <a:avLst>
              <a:gd name="adj" fmla="val 14706"/>
            </a:avLst>
          </a:prstGeom>
          <a:solidFill>
            <a:srgbClr val="FBEFD8"/>
          </a:solidFill>
          <a:ln w="12700">
            <a:solidFill>
              <a:srgbClr val="D98C1F"/>
            </a:solidFill>
            <a:prstDash val="solid"/>
          </a:ln>
        </p:spPr>
      </p:sp>
      <p:sp>
        <p:nvSpPr>
          <p:cNvPr id="28" name="Text 26"/>
          <p:cNvSpPr/>
          <p:nvPr/>
        </p:nvSpPr>
        <p:spPr>
          <a:xfrm>
            <a:off x="9884664" y="3182112"/>
            <a:ext cx="804672" cy="310896"/>
          </a:xfrm>
          <a:prstGeom prst="rect">
            <a:avLst/>
          </a:prstGeom>
          <a:noFill/>
          <a:ln/>
        </p:spPr>
        <p:txBody>
          <a:bodyPr wrap="square" lIns="0" tIns="0" rIns="0" bIns="0" rtlCol="0" anchor="ctr"/>
          <a:lstStyle/>
          <a:p>
            <a:pPr algn="ctr" indent="0" marL="0">
              <a:buNone/>
            </a:pPr>
            <a:r>
              <a:rPr lang="en-US" sz="900" b="1" dirty="0">
                <a:solidFill>
                  <a:srgbClr val="14213D"/>
                </a:solidFill>
                <a:latin typeface="Calibri" pitchFamily="34" charset="0"/>
                <a:ea typeface="Calibri" pitchFamily="34" charset="-122"/>
                <a:cs typeface="Calibri" pitchFamily="34" charset="-120"/>
              </a:rPr>
              <a:t>EVAL</a:t>
            </a:r>
            <a:endParaRPr lang="en-US" sz="900" dirty="0"/>
          </a:p>
        </p:txBody>
      </p:sp>
      <p:sp>
        <p:nvSpPr>
          <p:cNvPr id="29" name="Text 27"/>
          <p:cNvSpPr/>
          <p:nvPr/>
        </p:nvSpPr>
        <p:spPr>
          <a:xfrm>
            <a:off x="6766560" y="3657600"/>
            <a:ext cx="3657600" cy="292608"/>
          </a:xfrm>
          <a:prstGeom prst="rect">
            <a:avLst/>
          </a:prstGeom>
          <a:noFill/>
          <a:ln/>
        </p:spPr>
        <p:txBody>
          <a:bodyPr wrap="square" lIns="0" tIns="0" rIns="0" bIns="0" rtlCol="0" anchor="ctr"/>
          <a:lstStyle/>
          <a:p>
            <a:pPr algn="ctr" indent="0" marL="0">
              <a:buNone/>
            </a:pPr>
            <a:r>
              <a:rPr lang="en-US" sz="1250" b="1" dirty="0">
                <a:solidFill>
                  <a:srgbClr val="1E7A4C"/>
                </a:solidFill>
                <a:latin typeface="Calibri" pitchFamily="34" charset="0"/>
                <a:ea typeface="Calibri" pitchFamily="34" charset="-122"/>
                <a:cs typeface="Calibri" pitchFamily="34" charset="-120"/>
              </a:rPr>
              <a:t>Deep: the estimate is filtered by real play</a:t>
            </a:r>
            <a:endParaRPr lang="en-US" sz="1250" dirty="0"/>
          </a:p>
        </p:txBody>
      </p:sp>
      <p:sp>
        <p:nvSpPr>
          <p:cNvPr id="30" name="Text 28"/>
          <p:cNvSpPr/>
          <p:nvPr/>
        </p:nvSpPr>
        <p:spPr>
          <a:xfrm>
            <a:off x="640080" y="4160520"/>
            <a:ext cx="10881360" cy="4572000"/>
          </a:xfrm>
          <a:prstGeom prst="rect">
            <a:avLst/>
          </a:prstGeom>
          <a:noFill/>
          <a:ln/>
        </p:spPr>
        <p:txBody>
          <a:bodyPr wrap="square" lIns="0" tIns="0" rIns="0" bIns="0" rtlCol="0" anchor="t"/>
          <a:lstStyle/>
          <a:p>
            <a:pPr marL="203200" indent="-203200">
              <a:spcAft>
                <a:spcPts val="800"/>
              </a:spcAft>
              <a:buSzPct val="100000"/>
              <a:buChar char="•"/>
            </a:pPr>
            <a:r>
              <a:rPr lang="en-US" sz="1550" b="1" dirty="0">
                <a:solidFill>
                  <a:srgbClr val="1A1A1A"/>
                </a:solidFill>
                <a:latin typeface="Calibri" pitchFamily="34" charset="0"/>
                <a:ea typeface="Calibri" pitchFamily="34" charset="-122"/>
                <a:cs typeface="Calibri" pitchFamily="34" charset="-120"/>
              </a:rPr>
              <a:t>Evaluation functions are always imperfect.</a:t>
            </a:r>
            <a:endParaRPr lang="en-US" sz="1550" dirty="0"/>
          </a:p>
          <a:p>
            <a:pPr marL="203200" indent="-2032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The deeper in the tree the evaluation function is buried, the less its quality matters - errors get averaged and filtered through many layers of real max and min decisions.</a:t>
            </a:r>
            <a:endParaRPr lang="en-US" sz="1550" dirty="0"/>
          </a:p>
          <a:p>
            <a:pPr marL="203200" indent="-203200">
              <a:spcAft>
                <a:spcPts val="800"/>
              </a:spcAft>
              <a:buSzPct val="100000"/>
              <a:buChar char="•"/>
            </a:pPr>
            <a:r>
              <a:rPr lang="en-US" sz="1500" b="1" dirty="0">
                <a:solidFill>
                  <a:srgbClr val="14213D"/>
                </a:solidFill>
                <a:latin typeface="Calibri" pitchFamily="34" charset="0"/>
                <a:ea typeface="Calibri" pitchFamily="34" charset="-122"/>
                <a:cs typeface="Calibri" pitchFamily="34" charset="-120"/>
              </a:rPr>
              <a:t>This is a central instance of the tradeoff between complexity of features and complexity of computation. An expensive evaluation function that halves your search depth is usually a bad trade.</a:t>
            </a:r>
            <a:endParaRPr lang="en-US" sz="15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5.3.2</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Choosing Where to Cut Off</a:t>
            </a:r>
            <a:endParaRPr lang="en-US" sz="2900" dirty="0"/>
          </a:p>
        </p:txBody>
      </p:sp>
      <p:sp>
        <p:nvSpPr>
          <p:cNvPr id="4" name="Shape 2"/>
          <p:cNvSpPr/>
          <p:nvPr/>
        </p:nvSpPr>
        <p:spPr>
          <a:xfrm>
            <a:off x="640080" y="1371600"/>
            <a:ext cx="5349240" cy="1965960"/>
          </a:xfrm>
          <a:prstGeom prst="roundRect">
            <a:avLst>
              <a:gd name="adj" fmla="val 3721"/>
            </a:avLst>
          </a:prstGeom>
          <a:solidFill>
            <a:srgbClr val="EFF3F9"/>
          </a:solidFill>
          <a:ln w="12700">
            <a:solidFill>
              <a:srgbClr val="EFF3F9"/>
            </a:solidFill>
            <a:prstDash val="solid"/>
          </a:ln>
        </p:spPr>
      </p:sp>
      <p:sp>
        <p:nvSpPr>
          <p:cNvPr id="5" name="Text 3"/>
          <p:cNvSpPr/>
          <p:nvPr/>
        </p:nvSpPr>
        <p:spPr>
          <a:xfrm>
            <a:off x="84124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Fixed depth limit</a:t>
            </a:r>
            <a:endParaRPr lang="en-US" sz="1500" dirty="0"/>
          </a:p>
        </p:txBody>
      </p:sp>
      <p:sp>
        <p:nvSpPr>
          <p:cNvPr id="6" name="Text 4"/>
          <p:cNvSpPr/>
          <p:nvPr/>
        </p:nvSpPr>
        <p:spPr>
          <a:xfrm>
            <a:off x="841248" y="1865376"/>
            <a:ext cx="4946904" cy="130759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IS-CUTOFF returns true beyond a fixed depth d, chosen so that a move is selected within the time allowed. Simple, and brittle: pick d too large and you miss the deadline.</a:t>
            </a:r>
            <a:endParaRPr lang="en-US" sz="1300" dirty="0"/>
          </a:p>
        </p:txBody>
      </p:sp>
      <p:sp>
        <p:nvSpPr>
          <p:cNvPr id="7" name="Shape 5"/>
          <p:cNvSpPr/>
          <p:nvPr/>
        </p:nvSpPr>
        <p:spPr>
          <a:xfrm>
            <a:off x="6172200" y="1371600"/>
            <a:ext cx="5349240" cy="1965960"/>
          </a:xfrm>
          <a:prstGeom prst="roundRect">
            <a:avLst>
              <a:gd name="adj" fmla="val 3721"/>
            </a:avLst>
          </a:prstGeom>
          <a:solidFill>
            <a:srgbClr val="DCE6FA"/>
          </a:solidFill>
          <a:ln w="12700">
            <a:solidFill>
              <a:srgbClr val="1F5AC4"/>
            </a:solidFill>
            <a:prstDash val="solid"/>
          </a:ln>
        </p:spPr>
      </p:sp>
      <p:sp>
        <p:nvSpPr>
          <p:cNvPr id="8" name="Text 6"/>
          <p:cNvSpPr/>
          <p:nvPr/>
        </p:nvSpPr>
        <p:spPr>
          <a:xfrm>
            <a:off x="637336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Iterative deepening - more robust</a:t>
            </a:r>
            <a:endParaRPr lang="en-US" sz="1500" dirty="0"/>
          </a:p>
        </p:txBody>
      </p:sp>
      <p:sp>
        <p:nvSpPr>
          <p:cNvPr id="9" name="Text 7"/>
          <p:cNvSpPr/>
          <p:nvPr/>
        </p:nvSpPr>
        <p:spPr>
          <a:xfrm>
            <a:off x="6373368" y="1865376"/>
            <a:ext cx="4946904" cy="130759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Search depth 1, then 2, then 3. When time runs out, return the move from the deepest completed search. An anytime algorithm: a legal move is always ready.</a:t>
            </a:r>
            <a:endParaRPr lang="en-US" sz="1300" dirty="0"/>
          </a:p>
        </p:txBody>
      </p:sp>
      <p:sp>
        <p:nvSpPr>
          <p:cNvPr id="10" name="Text 8"/>
          <p:cNvSpPr/>
          <p:nvPr/>
        </p:nvSpPr>
        <p:spPr>
          <a:xfrm>
            <a:off x="640080" y="3566160"/>
            <a:ext cx="10881360" cy="457200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rgbClr val="1A1A1A"/>
                </a:solidFill>
                <a:latin typeface="Calibri" pitchFamily="34" charset="0"/>
                <a:ea typeface="Calibri" pitchFamily="34" charset="-122"/>
                <a:cs typeface="Calibri" pitchFamily="34" charset="-120"/>
              </a:rPr>
              <a:t>Two bonuses from iterative deepening, both already familiar:</a:t>
            </a:r>
            <a:endParaRPr lang="en-US" sz="1500" dirty="0"/>
          </a:p>
          <a:p>
            <a:pPr lvl="1" marL="406400" indent="-203200">
              <a:spcAft>
                <a:spcPts val="800"/>
              </a:spcAft>
              <a:buSzPct val="100000"/>
              <a:buChar char="•"/>
            </a:pPr>
            <a:r>
              <a:rPr lang="en-US" sz="1450" dirty="0">
                <a:solidFill>
                  <a:srgbClr val="55607A"/>
                </a:solidFill>
                <a:latin typeface="Calibri" pitchFamily="34" charset="0"/>
                <a:ea typeface="Calibri" pitchFamily="34" charset="-122"/>
                <a:cs typeface="Calibri" pitchFamily="34" charset="-120"/>
              </a:rPr>
              <a:t>Keep the transposition table between rounds and later rounds run faster.</a:t>
            </a:r>
            <a:endParaRPr lang="en-US" sz="1500" dirty="0"/>
          </a:p>
          <a:p>
            <a:pPr lvl="1" marL="406400" indent="-203200">
              <a:spcAft>
                <a:spcPts val="800"/>
              </a:spcAft>
              <a:buSzPct val="100000"/>
              <a:buChar char="•"/>
            </a:pPr>
            <a:r>
              <a:rPr lang="en-US" sz="1450" dirty="0">
                <a:solidFill>
                  <a:srgbClr val="55607A"/>
                </a:solidFill>
                <a:latin typeface="Calibri" pitchFamily="34" charset="0"/>
                <a:ea typeface="Calibri" pitchFamily="34" charset="-122"/>
                <a:cs typeface="Calibri" pitchFamily="34" charset="-120"/>
              </a:rPr>
              <a:t>Use each round's evaluations to order moves in the next round, which improves alpha-beta pruning. The re-search cost is more than repaid.</a:t>
            </a:r>
            <a:endParaRPr lang="en-US" sz="1500" dirty="0"/>
          </a:p>
          <a:p>
            <a:pPr marL="203200" indent="-203200">
              <a:spcAft>
                <a:spcPts val="800"/>
              </a:spcAft>
              <a:buSzPct val="100000"/>
              <a:buChar char="•"/>
            </a:pPr>
            <a:r>
              <a:rPr lang="en-US" sz="1500" b="1" dirty="0">
                <a:solidFill>
                  <a:srgbClr val="14213D"/>
                </a:solidFill>
                <a:latin typeface="Calibri" pitchFamily="34" charset="0"/>
                <a:ea typeface="Calibri" pitchFamily="34" charset="-122"/>
                <a:cs typeface="Calibri" pitchFamily="34" charset="-120"/>
              </a:rPr>
              <a:t>In timed games, returning a legal move before the deadline is not a nicety - it is the difference between playing and forfeiting.</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5.3.2</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Quiescence Search</a:t>
            </a:r>
            <a:endParaRPr lang="en-US" sz="2900" dirty="0"/>
          </a:p>
        </p:txBody>
      </p:sp>
      <p:sp>
        <p:nvSpPr>
          <p:cNvPr id="4" name="Text 2"/>
          <p:cNvSpPr/>
          <p:nvPr/>
        </p:nvSpPr>
        <p:spPr>
          <a:xfrm>
            <a:off x="640080" y="1371600"/>
            <a:ext cx="6949440" cy="4572000"/>
          </a:xfrm>
          <a:prstGeom prst="rect">
            <a:avLst/>
          </a:prstGeom>
          <a:noFill/>
          <a:ln/>
        </p:spPr>
        <p:txBody>
          <a:bodyPr wrap="square" lIns="0" tIns="0" rIns="0" bIns="0" rtlCol="0" anchor="t"/>
          <a:lstStyle/>
          <a:p>
            <a:pPr marL="203200" indent="-203200">
              <a:spcAft>
                <a:spcPts val="1100"/>
              </a:spcAft>
              <a:buSzPct val="100000"/>
              <a:buChar char="•"/>
            </a:pPr>
            <a:r>
              <a:rPr lang="en-US" sz="1500" dirty="0">
                <a:solidFill>
                  <a:srgbClr val="1A1A1A"/>
                </a:solidFill>
                <a:latin typeface="Calibri" pitchFamily="34" charset="0"/>
                <a:ea typeface="Calibri" pitchFamily="34" charset="-122"/>
                <a:cs typeface="Calibri" pitchFamily="34" charset="-120"/>
              </a:rPr>
              <a:t>The failure mode: the program searches to its depth limit and reaches a position where Black is ahead by a knight and two pawns. It reports a probable win for Black.</a:t>
            </a:r>
            <a:endParaRPr lang="en-US" sz="1500" dirty="0"/>
          </a:p>
          <a:p>
            <a:pPr marL="203200" indent="-203200">
              <a:spcAft>
                <a:spcPts val="1100"/>
              </a:spcAft>
              <a:buSzPct val="100000"/>
              <a:buChar char="•"/>
            </a:pPr>
            <a:r>
              <a:rPr lang="en-US" sz="1500" b="1" dirty="0">
                <a:solidFill>
                  <a:srgbClr val="C1272D"/>
                </a:solidFill>
                <a:latin typeface="Calibri" pitchFamily="34" charset="0"/>
                <a:ea typeface="Calibri" pitchFamily="34" charset="-122"/>
                <a:cs typeface="Calibri" pitchFamily="34" charset="-120"/>
              </a:rPr>
              <a:t>On the very next move, White captures Black's queen with no compensation. The position was actually good for White, and only one more ply would have shown it.</a:t>
            </a:r>
            <a:endParaRPr lang="en-US" sz="1500" dirty="0"/>
          </a:p>
          <a:p>
            <a:pPr marL="203200" indent="-203200">
              <a:spcAft>
                <a:spcPts val="1100"/>
              </a:spcAft>
              <a:buSzPct val="100000"/>
              <a:buChar char="•"/>
            </a:pPr>
            <a:r>
              <a:rPr lang="en-US" sz="1500" b="1" dirty="0">
                <a:solidFill>
                  <a:srgbClr val="1A1A1A"/>
                </a:solidFill>
                <a:latin typeface="Calibri" pitchFamily="34" charset="0"/>
                <a:ea typeface="Calibri" pitchFamily="34" charset="-122"/>
                <a:cs typeface="Calibri" pitchFamily="34" charset="-120"/>
              </a:rPr>
              <a:t>The fix: only apply EVAL to quiescent positions - positions with no pending move that would wildly swing the evaluation.</a:t>
            </a:r>
            <a:endParaRPr lang="en-US" sz="1500" dirty="0"/>
          </a:p>
          <a:p>
            <a:pPr marL="203200" indent="-203200">
              <a:spcAft>
                <a:spcPts val="1100"/>
              </a:spcAft>
              <a:buSzPct val="100000"/>
              <a:buChar char="•"/>
            </a:pPr>
            <a:r>
              <a:rPr lang="en-US" sz="1500" dirty="0">
                <a:solidFill>
                  <a:srgbClr val="1A1A1A"/>
                </a:solidFill>
                <a:latin typeface="Calibri" pitchFamily="34" charset="0"/>
                <a:ea typeface="Calibri" pitchFamily="34" charset="-122"/>
                <a:cs typeface="Calibri" pitchFamily="34" charset="-120"/>
              </a:rPr>
              <a:t>For non-quiescent positions IS-CUTOFF returns false and the search continues until things settle. This extra quiescence search is usually restricted to a narrow set of moves, typically captures, that resolve the uncertainty quickly.</a:t>
            </a:r>
            <a:endParaRPr lang="en-US" sz="1500" dirty="0"/>
          </a:p>
        </p:txBody>
      </p:sp>
      <p:sp>
        <p:nvSpPr>
          <p:cNvPr id="5" name="Shape 3"/>
          <p:cNvSpPr/>
          <p:nvPr/>
        </p:nvSpPr>
        <p:spPr>
          <a:xfrm>
            <a:off x="7818120" y="1371600"/>
            <a:ext cx="3703320" cy="2103120"/>
          </a:xfrm>
          <a:prstGeom prst="roundRect">
            <a:avLst>
              <a:gd name="adj" fmla="val 3478"/>
            </a:avLst>
          </a:prstGeom>
          <a:solidFill>
            <a:srgbClr val="F7DEDF"/>
          </a:solidFill>
          <a:ln w="12700">
            <a:solidFill>
              <a:srgbClr val="C1272D"/>
            </a:solidFill>
            <a:prstDash val="solid"/>
          </a:ln>
        </p:spPr>
      </p:sp>
      <p:sp>
        <p:nvSpPr>
          <p:cNvPr id="6" name="Text 4"/>
          <p:cNvSpPr/>
          <p:nvPr/>
        </p:nvSpPr>
        <p:spPr>
          <a:xfrm>
            <a:off x="8019288" y="1517904"/>
            <a:ext cx="330098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Symptom</a:t>
            </a:r>
            <a:endParaRPr lang="en-US" sz="1500" dirty="0"/>
          </a:p>
        </p:txBody>
      </p:sp>
      <p:sp>
        <p:nvSpPr>
          <p:cNvPr id="7" name="Text 5"/>
          <p:cNvSpPr/>
          <p:nvPr/>
        </p:nvSpPr>
        <p:spPr>
          <a:xfrm>
            <a:off x="8019288" y="1865376"/>
            <a:ext cx="3300984" cy="1444752"/>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The evaluation of a position swings violently between consecutive plies. If your search reports wild oscillation near the horizon, you need quiescence.</a:t>
            </a:r>
            <a:endParaRPr lang="en-US" sz="1300" dirty="0"/>
          </a:p>
        </p:txBody>
      </p:sp>
      <p:sp>
        <p:nvSpPr>
          <p:cNvPr id="8" name="Shape 6"/>
          <p:cNvSpPr/>
          <p:nvPr/>
        </p:nvSpPr>
        <p:spPr>
          <a:xfrm>
            <a:off x="7818120" y="3703320"/>
            <a:ext cx="3703320" cy="2011680"/>
          </a:xfrm>
          <a:prstGeom prst="roundRect">
            <a:avLst>
              <a:gd name="adj" fmla="val 3636"/>
            </a:avLst>
          </a:prstGeom>
          <a:solidFill>
            <a:srgbClr val="EFF3F9"/>
          </a:solidFill>
          <a:ln w="12700">
            <a:solidFill>
              <a:srgbClr val="EFF3F9"/>
            </a:solidFill>
            <a:prstDash val="solid"/>
          </a:ln>
        </p:spPr>
      </p:sp>
      <p:sp>
        <p:nvSpPr>
          <p:cNvPr id="9" name="Text 7"/>
          <p:cNvSpPr/>
          <p:nvPr/>
        </p:nvSpPr>
        <p:spPr>
          <a:xfrm>
            <a:off x="8019288" y="3849624"/>
            <a:ext cx="330098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Why it is cheap</a:t>
            </a:r>
            <a:endParaRPr lang="en-US" sz="1500" dirty="0"/>
          </a:p>
        </p:txBody>
      </p:sp>
      <p:sp>
        <p:nvSpPr>
          <p:cNvPr id="10" name="Text 8"/>
          <p:cNvSpPr/>
          <p:nvPr/>
        </p:nvSpPr>
        <p:spPr>
          <a:xfrm>
            <a:off x="8019288" y="4197096"/>
            <a:ext cx="3300984" cy="135331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Quiescence extensions apply to few nodes and consider few moves, so the extra tree is thin. The payoff in accuracy near the leaves is large.</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5.3.2</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Horizon Effect</a:t>
            </a:r>
            <a:endParaRPr lang="en-US" sz="2900" dirty="0"/>
          </a:p>
        </p:txBody>
      </p:sp>
      <p:sp>
        <p:nvSpPr>
          <p:cNvPr id="4" name="Shape 2"/>
          <p:cNvSpPr/>
          <p:nvPr/>
        </p:nvSpPr>
        <p:spPr>
          <a:xfrm>
            <a:off x="640080" y="1371600"/>
            <a:ext cx="6720840" cy="2788920"/>
          </a:xfrm>
          <a:prstGeom prst="roundRect">
            <a:avLst>
              <a:gd name="adj" fmla="val 2623"/>
            </a:avLst>
          </a:prstGeom>
          <a:solidFill>
            <a:srgbClr val="FBEFD8"/>
          </a:solidFill>
          <a:ln w="12700">
            <a:solidFill>
              <a:srgbClr val="D98C1F"/>
            </a:solidFill>
            <a:prstDash val="solid"/>
          </a:ln>
        </p:spPr>
      </p:sp>
      <p:sp>
        <p:nvSpPr>
          <p:cNvPr id="5" name="Text 3"/>
          <p:cNvSpPr/>
          <p:nvPr/>
        </p:nvSpPr>
        <p:spPr>
          <a:xfrm>
            <a:off x="841248" y="1517904"/>
            <a:ext cx="63185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The setup</a:t>
            </a:r>
            <a:endParaRPr lang="en-US" sz="1500" dirty="0"/>
          </a:p>
        </p:txBody>
      </p:sp>
      <p:sp>
        <p:nvSpPr>
          <p:cNvPr id="6" name="Text 4"/>
          <p:cNvSpPr/>
          <p:nvPr/>
        </p:nvSpPr>
        <p:spPr>
          <a:xfrm>
            <a:off x="841248" y="1865376"/>
            <a:ext cx="6318504" cy="2130552"/>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Black's bishop is doomed: the white rook can capture it in three moves, six ply away. Black searches eight ply deep.</a:t>
            </a:r>
            <a:endParaRPr lang="en-US" sz="1300" dirty="0"/>
          </a:p>
          <a:p>
            <a:pPr indent="0" marL="0">
              <a:lnSpc>
                <a:spcPct val="108000"/>
              </a:lnSpc>
              <a:buNone/>
            </a:pPr>
            <a:endParaRPr lang="en-US" sz="1300" dirty="0"/>
          </a:p>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Most of Black's moves lead to the capture inside the horizon, so they score badly. But Black also finds a sequence that checks the white king with a pawn, enticing the king to capture it - then does it again with a second pawn.</a:t>
            </a:r>
            <a:endParaRPr lang="en-US" sz="1300" dirty="0"/>
          </a:p>
          <a:p>
            <a:pPr indent="0" marL="0">
              <a:lnSpc>
                <a:spcPct val="108000"/>
              </a:lnSpc>
              <a:buNone/>
            </a:pPr>
            <a:endParaRPr lang="en-US" sz="1300" dirty="0"/>
          </a:p>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Those delaying moves push the capture past the horizon. Black scores the line as saving the bishop for two pawns. In reality it wasted two pawns and lost the bishop anyway.</a:t>
            </a:r>
            <a:endParaRPr lang="en-US" sz="1300" dirty="0"/>
          </a:p>
        </p:txBody>
      </p:sp>
      <p:sp>
        <p:nvSpPr>
          <p:cNvPr id="7" name="Shape 5"/>
          <p:cNvSpPr/>
          <p:nvPr/>
        </p:nvSpPr>
        <p:spPr>
          <a:xfrm>
            <a:off x="7635240" y="1371600"/>
            <a:ext cx="3886200" cy="2788920"/>
          </a:xfrm>
          <a:prstGeom prst="roundRect">
            <a:avLst>
              <a:gd name="adj" fmla="val 2623"/>
            </a:avLst>
          </a:prstGeom>
          <a:solidFill>
            <a:srgbClr val="14213D"/>
          </a:solidFill>
          <a:ln w="12700">
            <a:solidFill>
              <a:srgbClr val="14213D"/>
            </a:solidFill>
            <a:prstDash val="solid"/>
          </a:ln>
        </p:spPr>
      </p:sp>
      <p:sp>
        <p:nvSpPr>
          <p:cNvPr id="8" name="Text 6"/>
          <p:cNvSpPr/>
          <p:nvPr/>
        </p:nvSpPr>
        <p:spPr>
          <a:xfrm>
            <a:off x="7836408" y="1517904"/>
            <a:ext cx="3483864" cy="310896"/>
          </a:xfrm>
          <a:prstGeom prst="rect">
            <a:avLst/>
          </a:prstGeom>
          <a:noFill/>
          <a:ln/>
        </p:spPr>
        <p:txBody>
          <a:bodyPr wrap="square" lIns="0" tIns="0" rIns="0" bIns="0" rtlCol="0" anchor="ctr"/>
          <a:lstStyle/>
          <a:p>
            <a:pPr indent="0" marL="0">
              <a:buNone/>
            </a:pPr>
            <a:r>
              <a:rPr lang="en-US" sz="1500" b="1" dirty="0">
                <a:solidFill>
                  <a:srgbClr val="D98C1F"/>
                </a:solidFill>
                <a:latin typeface="Calibri" pitchFamily="34" charset="0"/>
                <a:ea typeface="Calibri" pitchFamily="34" charset="-122"/>
                <a:cs typeface="Calibri" pitchFamily="34" charset="-120"/>
              </a:rPr>
              <a:t>Why this is not quiescence</a:t>
            </a:r>
            <a:endParaRPr lang="en-US" sz="1500" dirty="0"/>
          </a:p>
        </p:txBody>
      </p:sp>
      <p:sp>
        <p:nvSpPr>
          <p:cNvPr id="9" name="Text 7"/>
          <p:cNvSpPr/>
          <p:nvPr/>
        </p:nvSpPr>
        <p:spPr>
          <a:xfrm>
            <a:off x="7836408" y="1865376"/>
            <a:ext cx="3483864" cy="2130552"/>
          </a:xfrm>
          <a:prstGeom prst="rect">
            <a:avLst/>
          </a:prstGeom>
          <a:noFill/>
          <a:ln/>
        </p:spPr>
        <p:txBody>
          <a:bodyPr wrap="square" lIns="0" tIns="0" rIns="0" bIns="0" rtlCol="0" anchor="t"/>
          <a:lstStyle/>
          <a:p>
            <a:pPr indent="0" marL="0">
              <a:lnSpc>
                <a:spcPct val="108000"/>
              </a:lnSpc>
              <a:buNone/>
            </a:pPr>
            <a:r>
              <a:rPr lang="en-US" sz="1300" dirty="0">
                <a:solidFill>
                  <a:srgbClr val="DCE6FA"/>
                </a:solidFill>
                <a:latin typeface="Calibri" pitchFamily="34" charset="0"/>
                <a:ea typeface="Calibri" pitchFamily="34" charset="-122"/>
                <a:cs typeface="Calibri" pitchFamily="34" charset="-120"/>
              </a:rPr>
              <a:t>Quiescence handles a swing just past the leaf. The horizon effect is a genuine loss that the agent deliberately pushes out of view. It is far harder to eliminate.</a:t>
            </a:r>
            <a:endParaRPr lang="en-US" sz="1300" dirty="0"/>
          </a:p>
        </p:txBody>
      </p:sp>
      <p:sp>
        <p:nvSpPr>
          <p:cNvPr id="10" name="Shape 8"/>
          <p:cNvSpPr/>
          <p:nvPr/>
        </p:nvSpPr>
        <p:spPr>
          <a:xfrm>
            <a:off x="640080" y="4434840"/>
            <a:ext cx="10881360" cy="1600200"/>
          </a:xfrm>
          <a:prstGeom prst="roundRect">
            <a:avLst>
              <a:gd name="adj" fmla="val 4571"/>
            </a:avLst>
          </a:prstGeom>
          <a:solidFill>
            <a:srgbClr val="EFF3F9"/>
          </a:solidFill>
          <a:ln w="12700">
            <a:solidFill>
              <a:srgbClr val="EFF3F9"/>
            </a:solidFill>
            <a:prstDash val="solid"/>
          </a:ln>
        </p:spPr>
      </p:sp>
      <p:sp>
        <p:nvSpPr>
          <p:cNvPr id="11" name="Text 9"/>
          <p:cNvSpPr/>
          <p:nvPr/>
        </p:nvSpPr>
        <p:spPr>
          <a:xfrm>
            <a:off x="841248" y="4581144"/>
            <a:ext cx="1047902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Mitigation: singular extensions</a:t>
            </a:r>
            <a:endParaRPr lang="en-US" sz="1500" dirty="0"/>
          </a:p>
        </p:txBody>
      </p:sp>
      <p:sp>
        <p:nvSpPr>
          <p:cNvPr id="12" name="Text 10"/>
          <p:cNvSpPr/>
          <p:nvPr/>
        </p:nvSpPr>
        <p:spPr>
          <a:xfrm>
            <a:off x="841248" y="4928616"/>
            <a:ext cx="10479024" cy="941832"/>
          </a:xfrm>
          <a:prstGeom prst="rect">
            <a:avLst/>
          </a:prstGeom>
          <a:noFill/>
          <a:ln/>
        </p:spPr>
        <p:txBody>
          <a:bodyPr wrap="square" lIns="0" tIns="0" rIns="0" bIns="0" rtlCol="0" anchor="t"/>
          <a:lstStyle/>
          <a:p>
            <a:pPr indent="0" marL="0">
              <a:lnSpc>
                <a:spcPct val="108000"/>
              </a:lnSpc>
              <a:buNone/>
            </a:pPr>
            <a:r>
              <a:rPr lang="en-US" sz="1350" dirty="0">
                <a:solidFill>
                  <a:srgbClr val="55607A"/>
                </a:solidFill>
                <a:latin typeface="Calibri" pitchFamily="34" charset="0"/>
                <a:ea typeface="Calibri" pitchFamily="34" charset="-122"/>
                <a:cs typeface="Calibri" pitchFamily="34" charset="-120"/>
              </a:rPr>
              <a:t>Allow a move that is clearly better than every other move in a position to extend the search past the normal cutoff. In the example, the three rook moves - h2 to h1, h1 to a1, a1 takes the bishop - are each in turn clearly better, so even after the pawn sacrifices burn the horizon, the search follows them through. This deepens the tree, but singular moves are rare, so few extra nodes are added.</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CS 188  ·  A DANGER OF REPLANNING AGENTS</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Why Pac-Man Starves</a:t>
            </a:r>
            <a:endParaRPr lang="en-US" sz="2900" dirty="0"/>
          </a:p>
        </p:txBody>
      </p:sp>
      <p:sp>
        <p:nvSpPr>
          <p:cNvPr id="4" name="Text 2"/>
          <p:cNvSpPr/>
          <p:nvPr/>
        </p:nvSpPr>
        <p:spPr>
          <a:xfrm>
            <a:off x="640080" y="1371600"/>
            <a:ext cx="6675120" cy="45720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Pac-Man's score goes up by eating the dot now - go west, then east.</a:t>
            </a:r>
            <a:endParaRPr lang="en-US" sz="1500" dirty="0"/>
          </a:p>
          <a:p>
            <a:pPr marL="203200" indent="-2032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His score goes up by exactly as much if he eats the dot later - go east, then west.</a:t>
            </a:r>
            <a:endParaRPr lang="en-US" sz="1500" dirty="0"/>
          </a:p>
          <a:p>
            <a:pPr marL="203200" indent="-2032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Within the two-ply horizon there are no further point-scoring opportunities after eating the dot.</a:t>
            </a:r>
            <a:endParaRPr lang="en-US" sz="1500" dirty="0"/>
          </a:p>
          <a:p>
            <a:pPr marL="203200" indent="-203200">
              <a:spcAft>
                <a:spcPts val="1000"/>
              </a:spcAft>
              <a:buSzPct val="100000"/>
              <a:buChar char="•"/>
            </a:pPr>
            <a:r>
              <a:rPr lang="en-US" sz="1500" b="1" dirty="0">
                <a:solidFill>
                  <a:srgbClr val="C1272D"/>
                </a:solidFill>
                <a:latin typeface="Calibri" pitchFamily="34" charset="0"/>
                <a:ea typeface="Calibri" pitchFamily="34" charset="-122"/>
                <a:cs typeface="Calibri" pitchFamily="34" charset="-120"/>
              </a:rPr>
              <a:t>So waiting looks exactly as good as eating. He may go east, then west again on the next round of replanning, and repeat forever, one square from food.</a:t>
            </a:r>
            <a:endParaRPr lang="en-US" sz="1500" dirty="0"/>
          </a:p>
        </p:txBody>
      </p:sp>
      <p:sp>
        <p:nvSpPr>
          <p:cNvPr id="5" name="Shape 3"/>
          <p:cNvSpPr/>
          <p:nvPr/>
        </p:nvSpPr>
        <p:spPr>
          <a:xfrm>
            <a:off x="9217152" y="1627632"/>
            <a:ext cx="402336" cy="310896"/>
          </a:xfrm>
          <a:prstGeom prst="triangle">
            <a:avLst/>
          </a:prstGeom>
          <a:solidFill>
            <a:srgbClr val="DCE6FA"/>
          </a:solidFill>
          <a:ln w="19050">
            <a:solidFill>
              <a:srgbClr val="1F5AC4"/>
            </a:solidFill>
            <a:prstDash val="solid"/>
          </a:ln>
        </p:spPr>
      </p:sp>
      <p:sp>
        <p:nvSpPr>
          <p:cNvPr id="6" name="Shape 4"/>
          <p:cNvSpPr/>
          <p:nvPr/>
        </p:nvSpPr>
        <p:spPr>
          <a:xfrm flipH="1">
            <a:off x="8321040" y="1965960"/>
            <a:ext cx="1097280" cy="640080"/>
          </a:xfrm>
          <a:prstGeom prst="line">
            <a:avLst/>
          </a:prstGeom>
          <a:noFill/>
          <a:ln w="15875">
            <a:solidFill>
              <a:srgbClr val="55607A"/>
            </a:solidFill>
            <a:prstDash val="solid"/>
          </a:ln>
        </p:spPr>
      </p:sp>
      <p:sp>
        <p:nvSpPr>
          <p:cNvPr id="7" name="Text 5"/>
          <p:cNvSpPr/>
          <p:nvPr/>
        </p:nvSpPr>
        <p:spPr>
          <a:xfrm>
            <a:off x="8549640" y="2139696"/>
            <a:ext cx="640080" cy="256032"/>
          </a:xfrm>
          <a:prstGeom prst="rect">
            <a:avLst/>
          </a:prstGeom>
          <a:noFill/>
          <a:ln/>
        </p:spPr>
        <p:txBody>
          <a:bodyPr wrap="square" lIns="0" tIns="0" rIns="0" bIns="0" rtlCol="0" anchor="ctr"/>
          <a:lstStyle/>
          <a:p>
            <a:pPr algn="ctr" indent="0" marL="0">
              <a:buNone/>
            </a:pPr>
            <a:r>
              <a:rPr lang="en-US" sz="1050" i="1" dirty="0">
                <a:solidFill>
                  <a:srgbClr val="55607A"/>
                </a:solidFill>
                <a:latin typeface="Calibri" pitchFamily="34" charset="0"/>
                <a:ea typeface="Calibri" pitchFamily="34" charset="-122"/>
                <a:cs typeface="Calibri" pitchFamily="34" charset="-120"/>
              </a:rPr>
              <a:t>west</a:t>
            </a:r>
            <a:endParaRPr lang="en-US" sz="1050" dirty="0"/>
          </a:p>
        </p:txBody>
      </p:sp>
      <p:sp>
        <p:nvSpPr>
          <p:cNvPr id="8" name="Shape 6"/>
          <p:cNvSpPr/>
          <p:nvPr/>
        </p:nvSpPr>
        <p:spPr>
          <a:xfrm>
            <a:off x="8119872" y="2633472"/>
            <a:ext cx="402336" cy="310896"/>
          </a:xfrm>
          <a:prstGeom prst="roundRect">
            <a:avLst>
              <a:gd name="adj" fmla="val 14706"/>
            </a:avLst>
          </a:prstGeom>
          <a:solidFill>
            <a:srgbClr val="DCE3EE"/>
          </a:solidFill>
          <a:ln w="12700">
            <a:solidFill>
              <a:srgbClr val="55607A"/>
            </a:solidFill>
            <a:prstDash val="solid"/>
          </a:ln>
        </p:spPr>
      </p:sp>
      <p:sp>
        <p:nvSpPr>
          <p:cNvPr id="9" name="Text 7"/>
          <p:cNvSpPr/>
          <p:nvPr/>
        </p:nvSpPr>
        <p:spPr>
          <a:xfrm>
            <a:off x="7918704" y="2633472"/>
            <a:ext cx="804672" cy="310896"/>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+10</a:t>
            </a:r>
            <a:endParaRPr lang="en-US" sz="1200" dirty="0"/>
          </a:p>
        </p:txBody>
      </p:sp>
      <p:sp>
        <p:nvSpPr>
          <p:cNvPr id="10" name="Shape 8"/>
          <p:cNvSpPr/>
          <p:nvPr/>
        </p:nvSpPr>
        <p:spPr>
          <a:xfrm>
            <a:off x="9418320" y="1965960"/>
            <a:ext cx="1097280" cy="640080"/>
          </a:xfrm>
          <a:prstGeom prst="line">
            <a:avLst/>
          </a:prstGeom>
          <a:noFill/>
          <a:ln w="15875">
            <a:solidFill>
              <a:srgbClr val="55607A"/>
            </a:solidFill>
            <a:prstDash val="solid"/>
          </a:ln>
        </p:spPr>
      </p:sp>
      <p:sp>
        <p:nvSpPr>
          <p:cNvPr id="11" name="Text 9"/>
          <p:cNvSpPr/>
          <p:nvPr/>
        </p:nvSpPr>
        <p:spPr>
          <a:xfrm>
            <a:off x="9646920" y="2139696"/>
            <a:ext cx="640080" cy="256032"/>
          </a:xfrm>
          <a:prstGeom prst="rect">
            <a:avLst/>
          </a:prstGeom>
          <a:noFill/>
          <a:ln/>
        </p:spPr>
        <p:txBody>
          <a:bodyPr wrap="square" lIns="0" tIns="0" rIns="0" bIns="0" rtlCol="0" anchor="ctr"/>
          <a:lstStyle/>
          <a:p>
            <a:pPr algn="ctr" indent="0" marL="0">
              <a:buNone/>
            </a:pPr>
            <a:r>
              <a:rPr lang="en-US" sz="1050" i="1" dirty="0">
                <a:solidFill>
                  <a:srgbClr val="55607A"/>
                </a:solidFill>
                <a:latin typeface="Calibri" pitchFamily="34" charset="0"/>
                <a:ea typeface="Calibri" pitchFamily="34" charset="-122"/>
                <a:cs typeface="Calibri" pitchFamily="34" charset="-120"/>
              </a:rPr>
              <a:t>east</a:t>
            </a:r>
            <a:endParaRPr lang="en-US" sz="1050" dirty="0"/>
          </a:p>
        </p:txBody>
      </p:sp>
      <p:sp>
        <p:nvSpPr>
          <p:cNvPr id="12" name="Shape 10"/>
          <p:cNvSpPr/>
          <p:nvPr/>
        </p:nvSpPr>
        <p:spPr>
          <a:xfrm>
            <a:off x="10314432" y="2633472"/>
            <a:ext cx="402336" cy="310896"/>
          </a:xfrm>
          <a:prstGeom prst="roundRect">
            <a:avLst>
              <a:gd name="adj" fmla="val 14706"/>
            </a:avLst>
          </a:prstGeom>
          <a:solidFill>
            <a:srgbClr val="DCE3EE"/>
          </a:solidFill>
          <a:ln w="12700">
            <a:solidFill>
              <a:srgbClr val="55607A"/>
            </a:solidFill>
            <a:prstDash val="solid"/>
          </a:ln>
        </p:spPr>
      </p:sp>
      <p:sp>
        <p:nvSpPr>
          <p:cNvPr id="13" name="Text 11"/>
          <p:cNvSpPr/>
          <p:nvPr/>
        </p:nvSpPr>
        <p:spPr>
          <a:xfrm>
            <a:off x="10113264" y="2633472"/>
            <a:ext cx="804672" cy="310896"/>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+10</a:t>
            </a:r>
            <a:endParaRPr lang="en-US" sz="1200" dirty="0"/>
          </a:p>
        </p:txBody>
      </p:sp>
      <p:sp>
        <p:nvSpPr>
          <p:cNvPr id="14" name="Text 12"/>
          <p:cNvSpPr/>
          <p:nvPr/>
        </p:nvSpPr>
        <p:spPr>
          <a:xfrm>
            <a:off x="7772400" y="3154680"/>
            <a:ext cx="3291840" cy="292608"/>
          </a:xfrm>
          <a:prstGeom prst="rect">
            <a:avLst/>
          </a:prstGeom>
          <a:noFill/>
          <a:ln/>
        </p:spPr>
        <p:txBody>
          <a:bodyPr wrap="square" lIns="0" tIns="0" rIns="0" bIns="0" rtlCol="0" anchor="ctr"/>
          <a:lstStyle/>
          <a:p>
            <a:pPr algn="ctr" indent="0" marL="0">
              <a:buNone/>
            </a:pPr>
            <a:r>
              <a:rPr lang="en-US" sz="1200" i="1" dirty="0">
                <a:solidFill>
                  <a:srgbClr val="55607A"/>
                </a:solidFill>
                <a:latin typeface="Calibri" pitchFamily="34" charset="0"/>
                <a:ea typeface="Calibri" pitchFamily="34" charset="-122"/>
                <a:cs typeface="Calibri" pitchFamily="34" charset="-120"/>
              </a:rPr>
              <a:t>A perfect tie inside the horizon</a:t>
            </a:r>
            <a:endParaRPr lang="en-US" sz="1200" dirty="0"/>
          </a:p>
        </p:txBody>
      </p:sp>
      <p:sp>
        <p:nvSpPr>
          <p:cNvPr id="15" name="Shape 13"/>
          <p:cNvSpPr/>
          <p:nvPr/>
        </p:nvSpPr>
        <p:spPr>
          <a:xfrm>
            <a:off x="7589520" y="3657600"/>
            <a:ext cx="3931920" cy="2057400"/>
          </a:xfrm>
          <a:prstGeom prst="roundRect">
            <a:avLst>
              <a:gd name="adj" fmla="val 3556"/>
            </a:avLst>
          </a:prstGeom>
          <a:solidFill>
            <a:srgbClr val="DCE6FA"/>
          </a:solidFill>
          <a:ln w="12700">
            <a:solidFill>
              <a:srgbClr val="1F5AC4"/>
            </a:solidFill>
            <a:prstDash val="solid"/>
          </a:ln>
        </p:spPr>
      </p:sp>
      <p:sp>
        <p:nvSpPr>
          <p:cNvPr id="16" name="Text 14"/>
          <p:cNvSpPr/>
          <p:nvPr/>
        </p:nvSpPr>
        <p:spPr>
          <a:xfrm>
            <a:off x="7790688" y="3803904"/>
            <a:ext cx="352958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The repair</a:t>
            </a:r>
            <a:endParaRPr lang="en-US" sz="1500" dirty="0"/>
          </a:p>
        </p:txBody>
      </p:sp>
      <p:sp>
        <p:nvSpPr>
          <p:cNvPr id="17" name="Text 15"/>
          <p:cNvSpPr/>
          <p:nvPr/>
        </p:nvSpPr>
        <p:spPr>
          <a:xfrm>
            <a:off x="7790688" y="4151376"/>
            <a:ext cx="3529584" cy="139903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Break the tie inside the evaluation function. Give a small bonus for progress toward food, for safety, or for strategic position - anything that distinguishes two states with identical immediate scores.</a:t>
            </a:r>
            <a:endParaRPr lang="en-US" sz="1300" dirty="0"/>
          </a:p>
        </p:txBody>
      </p:sp>
      <p:sp>
        <p:nvSpPr>
          <p:cNvPr id="18" name="Shape 16"/>
          <p:cNvSpPr/>
          <p:nvPr/>
        </p:nvSpPr>
        <p:spPr>
          <a:xfrm>
            <a:off x="640080" y="4206240"/>
            <a:ext cx="6675120" cy="1325880"/>
          </a:xfrm>
          <a:prstGeom prst="roundRect">
            <a:avLst>
              <a:gd name="adj" fmla="val 4138"/>
            </a:avLst>
          </a:prstGeom>
          <a:solidFill>
            <a:srgbClr val="EFF3F9"/>
          </a:solidFill>
          <a:ln w="12700">
            <a:solidFill>
              <a:srgbClr val="EFF3F9"/>
            </a:solidFill>
            <a:prstDash val="solid"/>
          </a:ln>
        </p:spPr>
      </p:sp>
      <p:sp>
        <p:nvSpPr>
          <p:cNvPr id="19" name="Text 17"/>
          <p:cNvSpPr/>
          <p:nvPr/>
        </p:nvSpPr>
        <p:spPr>
          <a:xfrm>
            <a:off x="822960" y="4297680"/>
            <a:ext cx="6309360" cy="1143000"/>
          </a:xfrm>
          <a:prstGeom prst="rect">
            <a:avLst/>
          </a:prstGeom>
          <a:noFill/>
          <a:ln/>
        </p:spPr>
        <p:txBody>
          <a:bodyPr wrap="square" lIns="0" tIns="0" rIns="0" bIns="0" rtlCol="0" anchor="ctr"/>
          <a:lstStyle/>
          <a:p>
            <a:pPr algn="l" indent="0" marL="0">
              <a:lnSpc>
                <a:spcPct val="115000"/>
              </a:lnSpc>
              <a:buNone/>
            </a:pPr>
            <a:r>
              <a:rPr lang="en-US" sz="1350" dirty="0">
                <a:solidFill>
                  <a:srgbClr val="1A1A1A"/>
                </a:solidFill>
                <a:latin typeface="Cambria" pitchFamily="34" charset="0"/>
                <a:ea typeface="Cambria" pitchFamily="34" charset="-122"/>
                <a:cs typeface="Cambria" pitchFamily="34" charset="-120"/>
              </a:rPr>
              <a:t>  The horizon effect wearing a friendlier face. The agent is not broken: it solves the</a:t>
            </a:r>
            <a:endParaRPr lang="en-US" sz="1350" dirty="0"/>
          </a:p>
          <a:p>
            <a:pPr algn="l" indent="0" marL="0">
              <a:lnSpc>
                <a:spcPct val="115000"/>
              </a:lnSpc>
              <a:buNone/>
            </a:pPr>
            <a:r>
              <a:rPr lang="en-US" sz="1350" dirty="0">
                <a:solidFill>
                  <a:srgbClr val="1A1A1A"/>
                </a:solidFill>
                <a:latin typeface="Cambria" pitchFamily="34" charset="0"/>
                <a:ea typeface="Cambria" pitchFamily="34" charset="-122"/>
                <a:cs typeface="Cambria" pitchFamily="34" charset="-120"/>
              </a:rPr>
              <a:t>  truncated problem exactly, and that problem genuinely has a tie. Deeper search fixes</a:t>
            </a:r>
            <a:endParaRPr lang="en-US" sz="1350" dirty="0"/>
          </a:p>
          <a:p>
            <a:pPr algn="l" indent="0" marL="0">
              <a:lnSpc>
                <a:spcPct val="115000"/>
              </a:lnSpc>
              <a:buNone/>
            </a:pPr>
            <a:r>
              <a:rPr lang="en-US" sz="1350" dirty="0">
                <a:solidFill>
                  <a:srgbClr val="1A1A1A"/>
                </a:solidFill>
                <a:latin typeface="Cambria" pitchFamily="34" charset="0"/>
                <a:ea typeface="Cambria" pitchFamily="34" charset="-122"/>
                <a:cs typeface="Cambria" pitchFamily="34" charset="-120"/>
              </a:rPr>
              <a:t>  it, and so does a better evaluation function. Usually you want both.</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5.3.3</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Forward Pruning: Cutting Branches That Might Be Good</a:t>
            </a:r>
            <a:endParaRPr lang="en-US" sz="2900" dirty="0"/>
          </a:p>
        </p:txBody>
      </p:sp>
      <p:sp>
        <p:nvSpPr>
          <p:cNvPr id="4" name="Shape 2"/>
          <p:cNvSpPr/>
          <p:nvPr/>
        </p:nvSpPr>
        <p:spPr>
          <a:xfrm>
            <a:off x="640080" y="1325880"/>
            <a:ext cx="10881360" cy="731520"/>
          </a:xfrm>
          <a:prstGeom prst="roundRect">
            <a:avLst>
              <a:gd name="adj" fmla="val 7500"/>
            </a:avLst>
          </a:prstGeom>
          <a:solidFill>
            <a:srgbClr val="14213D"/>
          </a:solidFill>
          <a:ln w="12700">
            <a:solidFill>
              <a:srgbClr val="14213D"/>
            </a:solidFill>
            <a:prstDash val="solid"/>
          </a:ln>
        </p:spPr>
      </p:sp>
      <p:sp>
        <p:nvSpPr>
          <p:cNvPr id="5" name="Text 3"/>
          <p:cNvSpPr/>
          <p:nvPr/>
        </p:nvSpPr>
        <p:spPr>
          <a:xfrm>
            <a:off x="822960" y="1417320"/>
            <a:ext cx="10515600" cy="548640"/>
          </a:xfrm>
          <a:prstGeom prst="rect">
            <a:avLst/>
          </a:prstGeom>
          <a:noFill/>
          <a:ln/>
        </p:spPr>
        <p:txBody>
          <a:bodyPr wrap="square" lIns="0" tIns="0" rIns="0" bIns="0" rtlCol="0" anchor="ctr"/>
          <a:lstStyle/>
          <a:p>
            <a:pPr algn="ctr" indent="0" marL="0">
              <a:lnSpc>
                <a:spcPct val="115000"/>
              </a:lnSpc>
              <a:buNone/>
            </a:pPr>
            <a:r>
              <a:rPr lang="en-US" sz="1550" dirty="0">
                <a:solidFill>
                  <a:srgbClr val="FFFFFF"/>
                </a:solidFill>
                <a:latin typeface="Cambria" pitchFamily="34" charset="0"/>
                <a:ea typeface="Cambria" pitchFamily="34" charset="-122"/>
                <a:cs typeface="Cambria" pitchFamily="34" charset="-120"/>
              </a:rPr>
              <a:t>Alpha-beta prunes branches that provably cannot matter. Forward pruning prunes branches that probably do not matter.</a:t>
            </a:r>
            <a:endParaRPr lang="en-US" sz="1550" dirty="0"/>
          </a:p>
          <a:p>
            <a:pPr algn="ctr" indent="0" marL="0">
              <a:lnSpc>
                <a:spcPct val="115000"/>
              </a:lnSpc>
              <a:buNone/>
            </a:pPr>
            <a:r>
              <a:rPr lang="en-US" sz="1550" dirty="0">
                <a:solidFill>
                  <a:srgbClr val="FFFFFF"/>
                </a:solidFill>
                <a:latin typeface="Cambria" pitchFamily="34" charset="0"/>
                <a:ea typeface="Cambria" pitchFamily="34" charset="-122"/>
                <a:cs typeface="Cambria" pitchFamily="34" charset="-120"/>
              </a:rPr>
              <a:t>It saves time at the risk of an error - Shannon's Type B strategy.</a:t>
            </a:r>
            <a:endParaRPr lang="en-US" sz="1550" dirty="0"/>
          </a:p>
        </p:txBody>
      </p:sp>
      <p:sp>
        <p:nvSpPr>
          <p:cNvPr id="6" name="Shape 4"/>
          <p:cNvSpPr/>
          <p:nvPr/>
        </p:nvSpPr>
        <p:spPr>
          <a:xfrm>
            <a:off x="640080" y="2286000"/>
            <a:ext cx="3429000" cy="2331720"/>
          </a:xfrm>
          <a:prstGeom prst="roundRect">
            <a:avLst>
              <a:gd name="adj" fmla="val 3137"/>
            </a:avLst>
          </a:prstGeom>
          <a:solidFill>
            <a:srgbClr val="EFF3F9"/>
          </a:solidFill>
          <a:ln w="12700">
            <a:solidFill>
              <a:srgbClr val="EFF3F9"/>
            </a:solidFill>
            <a:prstDash val="solid"/>
          </a:ln>
        </p:spPr>
      </p:sp>
      <p:sp>
        <p:nvSpPr>
          <p:cNvPr id="7" name="Text 5"/>
          <p:cNvSpPr/>
          <p:nvPr/>
        </p:nvSpPr>
        <p:spPr>
          <a:xfrm>
            <a:off x="841248" y="2432304"/>
            <a:ext cx="30266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Beam search</a:t>
            </a:r>
            <a:endParaRPr lang="en-US" sz="1500" dirty="0"/>
          </a:p>
        </p:txBody>
      </p:sp>
      <p:sp>
        <p:nvSpPr>
          <p:cNvPr id="8" name="Text 6"/>
          <p:cNvSpPr/>
          <p:nvPr/>
        </p:nvSpPr>
        <p:spPr>
          <a:xfrm>
            <a:off x="841248" y="2779776"/>
            <a:ext cx="3026664" cy="1673352"/>
          </a:xfrm>
          <a:prstGeom prst="rect">
            <a:avLst/>
          </a:prstGeom>
          <a:noFill/>
          <a:ln/>
        </p:spPr>
        <p:txBody>
          <a:bodyPr wrap="square" lIns="0" tIns="0" rIns="0" bIns="0" rtlCol="0" anchor="t"/>
          <a:lstStyle/>
          <a:p>
            <a:pPr indent="0" marL="0">
              <a:lnSpc>
                <a:spcPct val="108000"/>
              </a:lnSpc>
              <a:buNone/>
            </a:pPr>
            <a:r>
              <a:rPr lang="en-US" sz="1250" dirty="0">
                <a:solidFill>
                  <a:srgbClr val="55607A"/>
                </a:solidFill>
                <a:latin typeface="Calibri" pitchFamily="34" charset="0"/>
                <a:ea typeface="Calibri" pitchFamily="34" charset="-122"/>
                <a:cs typeface="Calibri" pitchFamily="34" charset="-120"/>
              </a:rPr>
              <a:t>On each ply consider only a beam of the n best moves by evaluation. Simple and dangerous: nothing guarantees the best move survives the cut.</a:t>
            </a:r>
            <a:endParaRPr lang="en-US" sz="1250" dirty="0"/>
          </a:p>
        </p:txBody>
      </p:sp>
      <p:sp>
        <p:nvSpPr>
          <p:cNvPr id="9" name="Shape 7"/>
          <p:cNvSpPr/>
          <p:nvPr/>
        </p:nvSpPr>
        <p:spPr>
          <a:xfrm>
            <a:off x="4343400" y="2286000"/>
            <a:ext cx="3429000" cy="2331720"/>
          </a:xfrm>
          <a:prstGeom prst="roundRect">
            <a:avLst>
              <a:gd name="adj" fmla="val 3137"/>
            </a:avLst>
          </a:prstGeom>
          <a:solidFill>
            <a:srgbClr val="DCE6FA"/>
          </a:solidFill>
          <a:ln w="12700">
            <a:solidFill>
              <a:srgbClr val="1F5AC4"/>
            </a:solidFill>
            <a:prstDash val="solid"/>
          </a:ln>
        </p:spPr>
      </p:sp>
      <p:sp>
        <p:nvSpPr>
          <p:cNvPr id="10" name="Text 8"/>
          <p:cNvSpPr/>
          <p:nvPr/>
        </p:nvSpPr>
        <p:spPr>
          <a:xfrm>
            <a:off x="4544568" y="2432304"/>
            <a:ext cx="30266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PROBCUT</a:t>
            </a:r>
            <a:endParaRPr lang="en-US" sz="1500" dirty="0"/>
          </a:p>
        </p:txBody>
      </p:sp>
      <p:sp>
        <p:nvSpPr>
          <p:cNvPr id="11" name="Text 9"/>
          <p:cNvSpPr/>
          <p:nvPr/>
        </p:nvSpPr>
        <p:spPr>
          <a:xfrm>
            <a:off x="4544568" y="2779776"/>
            <a:ext cx="3026664" cy="1673352"/>
          </a:xfrm>
          <a:prstGeom prst="rect">
            <a:avLst/>
          </a:prstGeom>
          <a:noFill/>
          <a:ln/>
        </p:spPr>
        <p:txBody>
          <a:bodyPr wrap="square" lIns="0" tIns="0" rIns="0" bIns="0" rtlCol="0" anchor="t"/>
          <a:lstStyle/>
          <a:p>
            <a:pPr indent="0" marL="0">
              <a:lnSpc>
                <a:spcPct val="108000"/>
              </a:lnSpc>
              <a:buNone/>
            </a:pPr>
            <a:r>
              <a:rPr lang="en-US" sz="1250" dirty="0">
                <a:solidFill>
                  <a:srgbClr val="14213D"/>
                </a:solidFill>
                <a:latin typeface="Calibri" pitchFamily="34" charset="0"/>
                <a:ea typeface="Calibri" pitchFamily="34" charset="-122"/>
                <a:cs typeface="Calibri" pitchFamily="34" charset="-120"/>
              </a:rPr>
              <a:t>A probabilistic version of alpha-beta (Buro, 1995). Do a shallow search, then use past statistics to estimate the chance that the true value lies outside the (alpha, beta) window. In Othello, LOGISTELLO with PROBCUT beat the plain version 64% of the time even when the plain version got twice the time.</a:t>
            </a:r>
            <a:endParaRPr lang="en-US" sz="1250" dirty="0"/>
          </a:p>
        </p:txBody>
      </p:sp>
      <p:sp>
        <p:nvSpPr>
          <p:cNvPr id="12" name="Shape 10"/>
          <p:cNvSpPr/>
          <p:nvPr/>
        </p:nvSpPr>
        <p:spPr>
          <a:xfrm>
            <a:off x="8046720" y="2286000"/>
            <a:ext cx="3429000" cy="2331720"/>
          </a:xfrm>
          <a:prstGeom prst="roundRect">
            <a:avLst>
              <a:gd name="adj" fmla="val 3137"/>
            </a:avLst>
          </a:prstGeom>
          <a:solidFill>
            <a:srgbClr val="EFF3F9"/>
          </a:solidFill>
          <a:ln w="12700">
            <a:solidFill>
              <a:srgbClr val="EFF3F9"/>
            </a:solidFill>
            <a:prstDash val="solid"/>
          </a:ln>
        </p:spPr>
      </p:sp>
      <p:sp>
        <p:nvSpPr>
          <p:cNvPr id="13" name="Text 11"/>
          <p:cNvSpPr/>
          <p:nvPr/>
        </p:nvSpPr>
        <p:spPr>
          <a:xfrm>
            <a:off x="8247888" y="2432304"/>
            <a:ext cx="30266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Late move reduction</a:t>
            </a:r>
            <a:endParaRPr lang="en-US" sz="1500" dirty="0"/>
          </a:p>
        </p:txBody>
      </p:sp>
      <p:sp>
        <p:nvSpPr>
          <p:cNvPr id="14" name="Text 12"/>
          <p:cNvSpPr/>
          <p:nvPr/>
        </p:nvSpPr>
        <p:spPr>
          <a:xfrm>
            <a:off x="8247888" y="2779776"/>
            <a:ext cx="3026664" cy="1673352"/>
          </a:xfrm>
          <a:prstGeom prst="rect">
            <a:avLst/>
          </a:prstGeom>
          <a:noFill/>
          <a:ln/>
        </p:spPr>
        <p:txBody>
          <a:bodyPr wrap="square" lIns="0" tIns="0" rIns="0" bIns="0" rtlCol="0" anchor="t"/>
          <a:lstStyle/>
          <a:p>
            <a:pPr indent="0" marL="0">
              <a:lnSpc>
                <a:spcPct val="108000"/>
              </a:lnSpc>
              <a:buNone/>
            </a:pPr>
            <a:r>
              <a:rPr lang="en-US" sz="1250" dirty="0">
                <a:solidFill>
                  <a:srgbClr val="55607A"/>
                </a:solidFill>
                <a:latin typeface="Calibri" pitchFamily="34" charset="0"/>
                <a:ea typeface="Calibri" pitchFamily="34" charset="-122"/>
                <a:cs typeface="Calibri" pitchFamily="34" charset="-120"/>
              </a:rPr>
              <a:t>Assume move ordering is good, so moves appearing late in the list are probably weak. Rather than cutting them, search them to a reduced depth. If the shallow result comes back above alpha, re-search at full depth.</a:t>
            </a:r>
            <a:endParaRPr lang="en-US" sz="1250" dirty="0"/>
          </a:p>
        </p:txBody>
      </p:sp>
      <p:sp>
        <p:nvSpPr>
          <p:cNvPr id="15" name="Text 13"/>
          <p:cNvSpPr/>
          <p:nvPr/>
        </p:nvSpPr>
        <p:spPr>
          <a:xfrm>
            <a:off x="640080" y="4800600"/>
            <a:ext cx="10881360" cy="4572000"/>
          </a:xfrm>
          <a:prstGeom prst="rect">
            <a:avLst/>
          </a:prstGeom>
          <a:noFill/>
          <a:ln/>
        </p:spPr>
        <p:txBody>
          <a:bodyPr wrap="square" lIns="0" tIns="0" rIns="0" bIns="0" rtlCol="0" anchor="t"/>
          <a:lstStyle/>
          <a:p>
            <a:pPr marL="203200" indent="-203200">
              <a:spcAft>
                <a:spcPts val="500"/>
              </a:spcAft>
              <a:buSzPct val="100000"/>
              <a:buChar char="•"/>
            </a:pPr>
            <a:r>
              <a:rPr lang="en-US" sz="1450" dirty="0">
                <a:solidFill>
                  <a:srgbClr val="1A1A1A"/>
                </a:solidFill>
                <a:latin typeface="Calibri" pitchFamily="34" charset="0"/>
                <a:ea typeface="Calibri" pitchFamily="34" charset="-122"/>
                <a:cs typeface="Calibri" pitchFamily="34" charset="-120"/>
              </a:rPr>
              <a:t>Shannon (1950), Programming a Computer for Playing Chess: Type A explores wide but shallow - all moves to a fixed depth, then evaluate. Type B ignores moves that look bad and follows promising lines as far as possible.</a:t>
            </a:r>
            <a:endParaRPr lang="en-US" sz="1450" dirty="0"/>
          </a:p>
          <a:p>
            <a:pPr marL="203200" indent="-203200">
              <a:spcAft>
                <a:spcPts val="500"/>
              </a:spcAft>
              <a:buSzPct val="100000"/>
              <a:buChar char="•"/>
            </a:pPr>
            <a:r>
              <a:rPr lang="en-US" sz="1450" dirty="0">
                <a:solidFill>
                  <a:srgbClr val="1A1A1A"/>
                </a:solidFill>
                <a:latin typeface="Calibri" pitchFamily="34" charset="0"/>
                <a:ea typeface="Calibri" pitchFamily="34" charset="-122"/>
                <a:cs typeface="Calibri" pitchFamily="34" charset="-120"/>
              </a:rPr>
              <a:t>Chess programs have historically been Type A; Go programs are Type B, because Go's branching factor is far too large for the wide approach. More recently Type B programs have reached world-champion level across many games, chess included (Silver et al., 2018).</a:t>
            </a:r>
            <a:endParaRPr lang="en-US" sz="14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5.3.4</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Search Versus Lookup</a:t>
            </a:r>
            <a:endParaRPr lang="en-US" sz="2900" dirty="0"/>
          </a:p>
        </p:txBody>
      </p:sp>
      <p:sp>
        <p:nvSpPr>
          <p:cNvPr id="4" name="Shape 2"/>
          <p:cNvSpPr/>
          <p:nvPr/>
        </p:nvSpPr>
        <p:spPr>
          <a:xfrm>
            <a:off x="640080" y="1371600"/>
            <a:ext cx="5349240" cy="2148840"/>
          </a:xfrm>
          <a:prstGeom prst="roundRect">
            <a:avLst>
              <a:gd name="adj" fmla="val 3404"/>
            </a:avLst>
          </a:prstGeom>
          <a:solidFill>
            <a:srgbClr val="EFF3F9"/>
          </a:solidFill>
          <a:ln w="12700">
            <a:solidFill>
              <a:srgbClr val="EFF3F9"/>
            </a:solidFill>
            <a:prstDash val="solid"/>
          </a:ln>
        </p:spPr>
      </p:sp>
      <p:sp>
        <p:nvSpPr>
          <p:cNvPr id="5" name="Text 3"/>
          <p:cNvSpPr/>
          <p:nvPr/>
        </p:nvSpPr>
        <p:spPr>
          <a:xfrm>
            <a:off x="84124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Openings: trust the humans</a:t>
            </a:r>
            <a:endParaRPr lang="en-US" sz="1500" dirty="0"/>
          </a:p>
        </p:txBody>
      </p:sp>
      <p:sp>
        <p:nvSpPr>
          <p:cNvPr id="6" name="Text 4"/>
          <p:cNvSpPr/>
          <p:nvPr/>
        </p:nvSpPr>
        <p:spPr>
          <a:xfrm>
            <a:off x="841248" y="1865376"/>
            <a:ext cx="4946904" cy="149047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It is absurd to search a billion states only to play pawn to e4. Expert opening advice has been written down for over a century, and can be copied straight into tables. Statistics from databases of played games show which openings most often lead to a win. After roughly 10 to 15 moves the position becomes rare and the program switches to search.</a:t>
            </a:r>
            <a:endParaRPr lang="en-US" sz="1300" dirty="0"/>
          </a:p>
        </p:txBody>
      </p:sp>
      <p:sp>
        <p:nvSpPr>
          <p:cNvPr id="7" name="Shape 5"/>
          <p:cNvSpPr/>
          <p:nvPr/>
        </p:nvSpPr>
        <p:spPr>
          <a:xfrm>
            <a:off x="6172200" y="1371600"/>
            <a:ext cx="5349240" cy="2148840"/>
          </a:xfrm>
          <a:prstGeom prst="roundRect">
            <a:avLst>
              <a:gd name="adj" fmla="val 3404"/>
            </a:avLst>
          </a:prstGeom>
          <a:solidFill>
            <a:srgbClr val="DCE6FA"/>
          </a:solidFill>
          <a:ln w="12700">
            <a:solidFill>
              <a:srgbClr val="1F5AC4"/>
            </a:solidFill>
            <a:prstDash val="solid"/>
          </a:ln>
        </p:spPr>
      </p:sp>
      <p:sp>
        <p:nvSpPr>
          <p:cNvPr id="8" name="Text 6"/>
          <p:cNvSpPr/>
          <p:nvPr/>
        </p:nvSpPr>
        <p:spPr>
          <a:xfrm>
            <a:off x="637336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Endgames: the computer is the expert</a:t>
            </a:r>
            <a:endParaRPr lang="en-US" sz="1500" dirty="0"/>
          </a:p>
        </p:txBody>
      </p:sp>
      <p:sp>
        <p:nvSpPr>
          <p:cNvPr id="9" name="Text 7"/>
          <p:cNvSpPr/>
          <p:nvPr/>
        </p:nvSpPr>
        <p:spPr>
          <a:xfrm>
            <a:off x="6373368" y="1865376"/>
            <a:ext cx="4946904" cy="149047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Few pieces means few positions, so the endgame can be solved outright into a policy - a mapping from every state to the best move. Built by retrograde minimax: mark the won positions, then run the rules of chess backwards until every position is resolved as win, loss, or draw.</a:t>
            </a:r>
            <a:endParaRPr lang="en-US" sz="1300" dirty="0"/>
          </a:p>
        </p:txBody>
      </p:sp>
      <p:sp>
        <p:nvSpPr>
          <p:cNvPr id="10" name="Text 8"/>
          <p:cNvSpPr/>
          <p:nvPr/>
        </p:nvSpPr>
        <p:spPr>
          <a:xfrm>
            <a:off x="640080" y="3794760"/>
            <a:ext cx="3429000" cy="658368"/>
          </a:xfrm>
          <a:prstGeom prst="rect">
            <a:avLst/>
          </a:prstGeom>
          <a:noFill/>
          <a:ln/>
        </p:spPr>
        <p:txBody>
          <a:bodyPr wrap="square" lIns="0" tIns="0" rIns="0" bIns="0" rtlCol="0" anchor="ctr"/>
          <a:lstStyle/>
          <a:p>
            <a:pPr algn="ctr" indent="0" marL="0">
              <a:buNone/>
            </a:pPr>
            <a:r>
              <a:rPr lang="en-US" sz="4200" b="1" dirty="0">
                <a:solidFill>
                  <a:srgbClr val="1E7A4C"/>
                </a:solidFill>
                <a:latin typeface="Cambria" pitchFamily="34" charset="0"/>
                <a:ea typeface="Cambria" pitchFamily="34" charset="-122"/>
                <a:cs typeface="Cambria" pitchFamily="34" charset="-120"/>
              </a:rPr>
              <a:t>7 pieces</a:t>
            </a:r>
            <a:endParaRPr lang="en-US" sz="4200" dirty="0"/>
          </a:p>
        </p:txBody>
      </p:sp>
      <p:sp>
        <p:nvSpPr>
          <p:cNvPr id="11" name="Text 9"/>
          <p:cNvSpPr/>
          <p:nvPr/>
        </p:nvSpPr>
        <p:spPr>
          <a:xfrm>
            <a:off x="640080" y="4471416"/>
            <a:ext cx="342900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the largest complete endgame</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tablebases built so far</a:t>
            </a:r>
            <a:endParaRPr lang="en-US" sz="1200" dirty="0"/>
          </a:p>
        </p:txBody>
      </p:sp>
      <p:sp>
        <p:nvSpPr>
          <p:cNvPr id="12" name="Text 10"/>
          <p:cNvSpPr/>
          <p:nvPr/>
        </p:nvSpPr>
        <p:spPr>
          <a:xfrm>
            <a:off x="4343400" y="3794760"/>
            <a:ext cx="3429000" cy="658368"/>
          </a:xfrm>
          <a:prstGeom prst="rect">
            <a:avLst/>
          </a:prstGeom>
          <a:noFill/>
          <a:ln/>
        </p:spPr>
        <p:txBody>
          <a:bodyPr wrap="square" lIns="0" tIns="0" rIns="0" bIns="0" rtlCol="0" anchor="ctr"/>
          <a:lstStyle/>
          <a:p>
            <a:pPr algn="ctr" indent="0" marL="0">
              <a:buNone/>
            </a:pPr>
            <a:r>
              <a:rPr lang="en-US" sz="3600" b="1" dirty="0">
                <a:solidFill>
                  <a:srgbClr val="1F5AC4"/>
                </a:solidFill>
                <a:latin typeface="Cambria" pitchFamily="34" charset="0"/>
                <a:ea typeface="Cambria" pitchFamily="34" charset="-122"/>
                <a:cs typeface="Cambria" pitchFamily="34" charset="-120"/>
              </a:rPr>
              <a:t>400 trillion</a:t>
            </a:r>
            <a:endParaRPr lang="en-US" sz="3600" dirty="0"/>
          </a:p>
        </p:txBody>
      </p:sp>
      <p:sp>
        <p:nvSpPr>
          <p:cNvPr id="13" name="Text 11"/>
          <p:cNvSpPr/>
          <p:nvPr/>
        </p:nvSpPr>
        <p:spPr>
          <a:xfrm>
            <a:off x="4343400" y="4471416"/>
            <a:ext cx="342900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positions in those tables</a:t>
            </a:r>
            <a:endParaRPr lang="en-US" sz="1200" dirty="0"/>
          </a:p>
        </p:txBody>
      </p:sp>
      <p:sp>
        <p:nvSpPr>
          <p:cNvPr id="14" name="Text 12"/>
          <p:cNvSpPr/>
          <p:nvPr/>
        </p:nvSpPr>
        <p:spPr>
          <a:xfrm>
            <a:off x="8092440" y="3794760"/>
            <a:ext cx="3429000" cy="658368"/>
          </a:xfrm>
          <a:prstGeom prst="rect">
            <a:avLst/>
          </a:prstGeom>
          <a:noFill/>
          <a:ln/>
        </p:spPr>
        <p:txBody>
          <a:bodyPr wrap="square" lIns="0" tIns="0" rIns="0" bIns="0" rtlCol="0" anchor="ctr"/>
          <a:lstStyle/>
          <a:p>
            <a:pPr algn="ctr" indent="0" marL="0">
              <a:buNone/>
            </a:pPr>
            <a:r>
              <a:rPr lang="en-US" sz="3000" b="1" dirty="0">
                <a:solidFill>
                  <a:srgbClr val="C1272D"/>
                </a:solidFill>
                <a:latin typeface="Cambria" pitchFamily="34" charset="0"/>
                <a:ea typeface="Cambria" pitchFamily="34" charset="-122"/>
                <a:cs typeface="Cambria" pitchFamily="34" charset="-120"/>
              </a:rPr>
              <a:t>40 quadrillion</a:t>
            </a:r>
            <a:endParaRPr lang="en-US" sz="3000" dirty="0"/>
          </a:p>
        </p:txBody>
      </p:sp>
      <p:sp>
        <p:nvSpPr>
          <p:cNvPr id="15" name="Text 13"/>
          <p:cNvSpPr/>
          <p:nvPr/>
        </p:nvSpPr>
        <p:spPr>
          <a:xfrm>
            <a:off x="8092440" y="4471416"/>
            <a:ext cx="342900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positions an eight-piece table</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would need</a:t>
            </a:r>
            <a:endParaRPr lang="en-US" sz="1200" dirty="0"/>
          </a:p>
        </p:txBody>
      </p:sp>
      <p:sp>
        <p:nvSpPr>
          <p:cNvPr id="16" name="Text 14"/>
          <p:cNvSpPr/>
          <p:nvPr/>
        </p:nvSpPr>
        <p:spPr>
          <a:xfrm>
            <a:off x="566928" y="6327648"/>
            <a:ext cx="10058400" cy="274320"/>
          </a:xfrm>
          <a:prstGeom prst="rect">
            <a:avLst/>
          </a:prstGeom>
          <a:noFill/>
          <a:ln/>
        </p:spPr>
        <p:txBody>
          <a:bodyPr wrap="square" lIns="0" tIns="0" rIns="0" bIns="0" rtlCol="0" anchor="ctr"/>
          <a:lstStyle/>
          <a:p>
            <a:pPr indent="0" marL="0">
              <a:buNone/>
            </a:pPr>
            <a:r>
              <a:rPr lang="en-US" sz="1000" i="1" dirty="0">
                <a:solidFill>
                  <a:srgbClr val="55607A"/>
                </a:solidFill>
                <a:latin typeface="Calibri" pitchFamily="34" charset="0"/>
                <a:ea typeface="Calibri" pitchFamily="34" charset="-122"/>
                <a:cs typeface="Calibri" pitchFamily="34" charset="-120"/>
              </a:rPr>
              <a:t>A novice can win king-and-rook versus king from a few rules. King, bishop and knight versus king has no succinct strategy - but it has a table.</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5.3.3</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What All of This Buys, in Practice</a:t>
            </a:r>
            <a:endParaRPr lang="en-US" sz="2900" dirty="0"/>
          </a:p>
        </p:txBody>
      </p:sp>
      <p:sp>
        <p:nvSpPr>
          <p:cNvPr id="4" name="Shape 2"/>
          <p:cNvSpPr/>
          <p:nvPr/>
        </p:nvSpPr>
        <p:spPr>
          <a:xfrm>
            <a:off x="640080" y="1463040"/>
            <a:ext cx="7315200" cy="1097280"/>
          </a:xfrm>
          <a:prstGeom prst="roundRect">
            <a:avLst>
              <a:gd name="adj" fmla="val 5000"/>
            </a:avLst>
          </a:prstGeom>
          <a:solidFill>
            <a:srgbClr val="EFF3F9"/>
          </a:solidFill>
          <a:ln w="12700">
            <a:solidFill>
              <a:srgbClr val="DCE3EE"/>
            </a:solidFill>
            <a:prstDash val="solid"/>
          </a:ln>
        </p:spPr>
      </p:sp>
      <p:sp>
        <p:nvSpPr>
          <p:cNvPr id="5" name="Text 3"/>
          <p:cNvSpPr/>
          <p:nvPr/>
        </p:nvSpPr>
        <p:spPr>
          <a:xfrm>
            <a:off x="868680" y="1572768"/>
            <a:ext cx="6858000"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Plain minimax</a:t>
            </a:r>
            <a:endParaRPr lang="en-US" sz="1600" dirty="0"/>
          </a:p>
        </p:txBody>
      </p:sp>
      <p:sp>
        <p:nvSpPr>
          <p:cNvPr id="6" name="Text 4"/>
          <p:cNvSpPr/>
          <p:nvPr/>
        </p:nvSpPr>
        <p:spPr>
          <a:xfrm>
            <a:off x="868680" y="1965960"/>
            <a:ext cx="6858000" cy="457200"/>
          </a:xfrm>
          <a:prstGeom prst="rect">
            <a:avLst/>
          </a:prstGeom>
          <a:noFill/>
          <a:ln/>
        </p:spPr>
        <p:txBody>
          <a:bodyPr wrap="square" lIns="0" tIns="0" rIns="0" bIns="0" rtlCol="0" anchor="t"/>
          <a:lstStyle/>
          <a:p>
            <a:pPr indent="0" marL="0">
              <a:buNone/>
            </a:pPr>
            <a:r>
              <a:rPr lang="en-US" sz="1300" dirty="0">
                <a:solidFill>
                  <a:srgbClr val="55607A"/>
                </a:solidFill>
                <a:latin typeface="Calibri" pitchFamily="34" charset="0"/>
                <a:ea typeface="Calibri" pitchFamily="34" charset="-122"/>
                <a:cs typeface="Calibri" pitchFamily="34" charset="-120"/>
              </a:rPr>
              <a:t>Beatable by an average human player, who can occasionally plan six or eight ply ahead.</a:t>
            </a:r>
            <a:endParaRPr lang="en-US" sz="1300" dirty="0"/>
          </a:p>
        </p:txBody>
      </p:sp>
      <p:sp>
        <p:nvSpPr>
          <p:cNvPr id="7" name="Shape 5"/>
          <p:cNvSpPr/>
          <p:nvPr/>
        </p:nvSpPr>
        <p:spPr>
          <a:xfrm>
            <a:off x="8138160" y="1463040"/>
            <a:ext cx="3383280" cy="1097280"/>
          </a:xfrm>
          <a:prstGeom prst="roundRect">
            <a:avLst>
              <a:gd name="adj" fmla="val 5000"/>
            </a:avLst>
          </a:prstGeom>
          <a:solidFill>
            <a:srgbClr val="C1272D"/>
          </a:solidFill>
          <a:ln w="12700">
            <a:solidFill>
              <a:srgbClr val="C1272D"/>
            </a:solidFill>
            <a:prstDash val="solid"/>
          </a:ln>
        </p:spPr>
      </p:sp>
      <p:sp>
        <p:nvSpPr>
          <p:cNvPr id="8" name="Text 6"/>
          <p:cNvSpPr/>
          <p:nvPr/>
        </p:nvSpPr>
        <p:spPr>
          <a:xfrm>
            <a:off x="8138160" y="1463040"/>
            <a:ext cx="3383280" cy="10972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about 5 ply</a:t>
            </a:r>
            <a:endParaRPr lang="en-US" sz="2200" dirty="0"/>
          </a:p>
        </p:txBody>
      </p:sp>
      <p:sp>
        <p:nvSpPr>
          <p:cNvPr id="9" name="Shape 7"/>
          <p:cNvSpPr/>
          <p:nvPr/>
        </p:nvSpPr>
        <p:spPr>
          <a:xfrm>
            <a:off x="640080" y="2788920"/>
            <a:ext cx="7315200" cy="1097280"/>
          </a:xfrm>
          <a:prstGeom prst="roundRect">
            <a:avLst>
              <a:gd name="adj" fmla="val 5000"/>
            </a:avLst>
          </a:prstGeom>
          <a:solidFill>
            <a:srgbClr val="EFF3F9"/>
          </a:solidFill>
          <a:ln w="12700">
            <a:solidFill>
              <a:srgbClr val="DCE3EE"/>
            </a:solidFill>
            <a:prstDash val="solid"/>
          </a:ln>
        </p:spPr>
      </p:sp>
      <p:sp>
        <p:nvSpPr>
          <p:cNvPr id="10" name="Text 8"/>
          <p:cNvSpPr/>
          <p:nvPr/>
        </p:nvSpPr>
        <p:spPr>
          <a:xfrm>
            <a:off x="868680" y="2898648"/>
            <a:ext cx="6858000"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Alpha-beta plus a large transposition table</a:t>
            </a:r>
            <a:endParaRPr lang="en-US" sz="1600" dirty="0"/>
          </a:p>
        </p:txBody>
      </p:sp>
      <p:sp>
        <p:nvSpPr>
          <p:cNvPr id="11" name="Text 9"/>
          <p:cNvSpPr/>
          <p:nvPr/>
        </p:nvSpPr>
        <p:spPr>
          <a:xfrm>
            <a:off x="868680" y="3291840"/>
            <a:ext cx="6858000" cy="457200"/>
          </a:xfrm>
          <a:prstGeom prst="rect">
            <a:avLst/>
          </a:prstGeom>
          <a:noFill/>
          <a:ln/>
        </p:spPr>
        <p:txBody>
          <a:bodyPr wrap="square" lIns="0" tIns="0" rIns="0" bIns="0" rtlCol="0" anchor="t"/>
          <a:lstStyle/>
          <a:p>
            <a:pPr indent="0" marL="0">
              <a:buNone/>
            </a:pPr>
            <a:r>
              <a:rPr lang="en-US" sz="1300" dirty="0">
                <a:solidFill>
                  <a:srgbClr val="55607A"/>
                </a:solidFill>
                <a:latin typeface="Calibri" pitchFamily="34" charset="0"/>
                <a:ea typeface="Calibri" pitchFamily="34" charset="-122"/>
                <a:cs typeface="Calibri" pitchFamily="34" charset="-120"/>
              </a:rPr>
              <a:t>Expert-level play.</a:t>
            </a:r>
            <a:endParaRPr lang="en-US" sz="1300" dirty="0"/>
          </a:p>
        </p:txBody>
      </p:sp>
      <p:sp>
        <p:nvSpPr>
          <p:cNvPr id="12" name="Shape 10"/>
          <p:cNvSpPr/>
          <p:nvPr/>
        </p:nvSpPr>
        <p:spPr>
          <a:xfrm>
            <a:off x="8138160" y="2788920"/>
            <a:ext cx="3383280" cy="1097280"/>
          </a:xfrm>
          <a:prstGeom prst="roundRect">
            <a:avLst>
              <a:gd name="adj" fmla="val 5000"/>
            </a:avLst>
          </a:prstGeom>
          <a:solidFill>
            <a:srgbClr val="D98C1F"/>
          </a:solidFill>
          <a:ln w="12700">
            <a:solidFill>
              <a:srgbClr val="D98C1F"/>
            </a:solidFill>
            <a:prstDash val="solid"/>
          </a:ln>
        </p:spPr>
      </p:sp>
      <p:sp>
        <p:nvSpPr>
          <p:cNvPr id="13" name="Text 11"/>
          <p:cNvSpPr/>
          <p:nvPr/>
        </p:nvSpPr>
        <p:spPr>
          <a:xfrm>
            <a:off x="8138160" y="2788920"/>
            <a:ext cx="3383280" cy="10972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about 14 ply</a:t>
            </a:r>
            <a:endParaRPr lang="en-US" sz="2200" dirty="0"/>
          </a:p>
        </p:txBody>
      </p:sp>
      <p:sp>
        <p:nvSpPr>
          <p:cNvPr id="14" name="Shape 12"/>
          <p:cNvSpPr/>
          <p:nvPr/>
        </p:nvSpPr>
        <p:spPr>
          <a:xfrm>
            <a:off x="640080" y="4114800"/>
            <a:ext cx="7315200" cy="1097280"/>
          </a:xfrm>
          <a:prstGeom prst="roundRect">
            <a:avLst>
              <a:gd name="adj" fmla="val 5000"/>
            </a:avLst>
          </a:prstGeom>
          <a:solidFill>
            <a:srgbClr val="EFF3F9"/>
          </a:solidFill>
          <a:ln w="12700">
            <a:solidFill>
              <a:srgbClr val="DCE3EE"/>
            </a:solidFill>
            <a:prstDash val="solid"/>
          </a:ln>
        </p:spPr>
      </p:sp>
      <p:sp>
        <p:nvSpPr>
          <p:cNvPr id="15" name="Text 13"/>
          <p:cNvSpPr/>
          <p:nvPr/>
        </p:nvSpPr>
        <p:spPr>
          <a:xfrm>
            <a:off x="868680" y="4224528"/>
            <a:ext cx="6858000"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Tuned evaluation, endgame database, modern engine</a:t>
            </a:r>
            <a:endParaRPr lang="en-US" sz="1600" dirty="0"/>
          </a:p>
        </p:txBody>
      </p:sp>
      <p:sp>
        <p:nvSpPr>
          <p:cNvPr id="16" name="Text 14"/>
          <p:cNvSpPr/>
          <p:nvPr/>
        </p:nvSpPr>
        <p:spPr>
          <a:xfrm>
            <a:off x="868680" y="4617720"/>
            <a:ext cx="6858000" cy="457200"/>
          </a:xfrm>
          <a:prstGeom prst="rect">
            <a:avLst/>
          </a:prstGeom>
          <a:noFill/>
          <a:ln/>
        </p:spPr>
        <p:txBody>
          <a:bodyPr wrap="square" lIns="0" tIns="0" rIns="0" bIns="0" rtlCol="0" anchor="t"/>
          <a:lstStyle/>
          <a:p>
            <a:pPr indent="0" marL="0">
              <a:buNone/>
            </a:pPr>
            <a:r>
              <a:rPr lang="en-US" sz="1300" dirty="0">
                <a:solidFill>
                  <a:srgbClr val="55607A"/>
                </a:solidFill>
                <a:latin typeface="Calibri" pitchFamily="34" charset="0"/>
                <a:ea typeface="Calibri" pitchFamily="34" charset="-122"/>
                <a:cs typeface="Calibri" pitchFamily="34" charset="-120"/>
              </a:rPr>
              <a:t>Stockfish and its peers, far exceeding any human player.</a:t>
            </a:r>
            <a:endParaRPr lang="en-US" sz="1300" dirty="0"/>
          </a:p>
        </p:txBody>
      </p:sp>
      <p:sp>
        <p:nvSpPr>
          <p:cNvPr id="17" name="Shape 15"/>
          <p:cNvSpPr/>
          <p:nvPr/>
        </p:nvSpPr>
        <p:spPr>
          <a:xfrm>
            <a:off x="8138160" y="4114800"/>
            <a:ext cx="3383280" cy="1097280"/>
          </a:xfrm>
          <a:prstGeom prst="roundRect">
            <a:avLst>
              <a:gd name="adj" fmla="val 5000"/>
            </a:avLst>
          </a:prstGeom>
          <a:solidFill>
            <a:srgbClr val="1E7A4C"/>
          </a:solidFill>
          <a:ln w="12700">
            <a:solidFill>
              <a:srgbClr val="1E7A4C"/>
            </a:solidFill>
            <a:prstDash val="solid"/>
          </a:ln>
        </p:spPr>
      </p:sp>
      <p:sp>
        <p:nvSpPr>
          <p:cNvPr id="18" name="Text 16"/>
          <p:cNvSpPr/>
          <p:nvPr/>
        </p:nvSpPr>
        <p:spPr>
          <a:xfrm>
            <a:off x="8138160" y="4114800"/>
            <a:ext cx="3383280" cy="10972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depth 30 or more</a:t>
            </a:r>
            <a:endParaRPr lang="en-US" sz="2200" dirty="0"/>
          </a:p>
        </p:txBody>
      </p:sp>
      <p:sp>
        <p:nvSpPr>
          <p:cNvPr id="19" name="Shape 17"/>
          <p:cNvSpPr/>
          <p:nvPr/>
        </p:nvSpPr>
        <p:spPr>
          <a:xfrm>
            <a:off x="640080" y="5440680"/>
            <a:ext cx="10881360" cy="685800"/>
          </a:xfrm>
          <a:prstGeom prst="roundRect">
            <a:avLst>
              <a:gd name="adj" fmla="val 8000"/>
            </a:avLst>
          </a:prstGeom>
          <a:solidFill>
            <a:srgbClr val="EFF3F9"/>
          </a:solidFill>
          <a:ln w="12700">
            <a:solidFill>
              <a:srgbClr val="EFF3F9"/>
            </a:solidFill>
            <a:prstDash val="solid"/>
          </a:ln>
        </p:spPr>
      </p:sp>
      <p:sp>
        <p:nvSpPr>
          <p:cNvPr id="20" name="Text 18"/>
          <p:cNvSpPr/>
          <p:nvPr/>
        </p:nvSpPr>
        <p:spPr>
          <a:xfrm>
            <a:off x="822960" y="5532120"/>
            <a:ext cx="10515600" cy="502920"/>
          </a:xfrm>
          <a:prstGeom prst="rect">
            <a:avLst/>
          </a:prstGeom>
          <a:noFill/>
          <a:ln/>
        </p:spPr>
        <p:txBody>
          <a:bodyPr wrap="square" lIns="0" tIns="0" rIns="0" bIns="0" rtlCol="0" anchor="ctr"/>
          <a:lstStyle/>
          <a:p>
            <a:pPr algn="ctr" indent="0" marL="0">
              <a:lnSpc>
                <a:spcPct val="115000"/>
              </a:lnSpc>
              <a:buNone/>
            </a:pPr>
            <a:r>
              <a:rPr lang="en-US" sz="1400" dirty="0">
                <a:solidFill>
                  <a:srgbClr val="1A1A1A"/>
                </a:solidFill>
                <a:latin typeface="Cambria" pitchFamily="34" charset="0"/>
                <a:ea typeface="Cambria" pitchFamily="34" charset="-122"/>
                <a:cs typeface="Cambria" pitchFamily="34" charset="-120"/>
              </a:rPr>
              <a:t>Baseline for all three: about one million nodes per second, branching factor 35. 35^5 is about 50 million, so plain minimax gets five ply in a minute.</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CS 188</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Evaluation Functions and Alpha-Beta Reinforce Each Other</a:t>
            </a:r>
            <a:endParaRPr lang="en-US" sz="2900" dirty="0"/>
          </a:p>
        </p:txBody>
      </p:sp>
      <p:sp>
        <p:nvSpPr>
          <p:cNvPr id="4" name="Shape 2"/>
          <p:cNvSpPr/>
          <p:nvPr/>
        </p:nvSpPr>
        <p:spPr>
          <a:xfrm>
            <a:off x="640080" y="1417320"/>
            <a:ext cx="5349240" cy="1554480"/>
          </a:xfrm>
          <a:prstGeom prst="roundRect">
            <a:avLst>
              <a:gd name="adj" fmla="val 4706"/>
            </a:avLst>
          </a:prstGeom>
          <a:solidFill>
            <a:srgbClr val="EFF3F9"/>
          </a:solidFill>
          <a:ln w="12700">
            <a:solidFill>
              <a:srgbClr val="EFF3F9"/>
            </a:solidFill>
            <a:prstDash val="solid"/>
          </a:ln>
        </p:spPr>
      </p:sp>
      <p:sp>
        <p:nvSpPr>
          <p:cNvPr id="5" name="Text 3"/>
          <p:cNvSpPr/>
          <p:nvPr/>
        </p:nvSpPr>
        <p:spPr>
          <a:xfrm>
            <a:off x="841248" y="156362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They solve different problems</a:t>
            </a:r>
            <a:endParaRPr lang="en-US" sz="1500" dirty="0"/>
          </a:p>
        </p:txBody>
      </p:sp>
      <p:sp>
        <p:nvSpPr>
          <p:cNvPr id="6" name="Text 4"/>
          <p:cNvSpPr/>
          <p:nvPr/>
        </p:nvSpPr>
        <p:spPr>
          <a:xfrm>
            <a:off x="841248" y="1911096"/>
            <a:ext cx="4946904" cy="89611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The evaluation function estimates a value when full search is impossible. Alpha-beta skips subtrees that cannot affect the result. Neither replaces the other.</a:t>
            </a:r>
            <a:endParaRPr lang="en-US" sz="1300" dirty="0"/>
          </a:p>
        </p:txBody>
      </p:sp>
      <p:sp>
        <p:nvSpPr>
          <p:cNvPr id="7" name="Shape 5"/>
          <p:cNvSpPr/>
          <p:nvPr/>
        </p:nvSpPr>
        <p:spPr>
          <a:xfrm>
            <a:off x="6172200" y="1417320"/>
            <a:ext cx="5349240" cy="1554480"/>
          </a:xfrm>
          <a:prstGeom prst="roundRect">
            <a:avLst>
              <a:gd name="adj" fmla="val 4706"/>
            </a:avLst>
          </a:prstGeom>
          <a:solidFill>
            <a:srgbClr val="DCE6FA"/>
          </a:solidFill>
          <a:ln w="12700">
            <a:solidFill>
              <a:srgbClr val="1F5AC4"/>
            </a:solidFill>
            <a:prstDash val="solid"/>
          </a:ln>
        </p:spPr>
      </p:sp>
      <p:sp>
        <p:nvSpPr>
          <p:cNvPr id="8" name="Text 6"/>
          <p:cNvSpPr/>
          <p:nvPr/>
        </p:nvSpPr>
        <p:spPr>
          <a:xfrm>
            <a:off x="6373368" y="156362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But they combine</a:t>
            </a:r>
            <a:endParaRPr lang="en-US" sz="1500" dirty="0"/>
          </a:p>
        </p:txBody>
      </p:sp>
      <p:sp>
        <p:nvSpPr>
          <p:cNvPr id="9" name="Text 7"/>
          <p:cNvSpPr/>
          <p:nvPr/>
        </p:nvSpPr>
        <p:spPr>
          <a:xfrm>
            <a:off x="6373368" y="1911096"/>
            <a:ext cx="4946904" cy="89611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Alpha-beta's yield depends on expansion order. The evaluation function can rank successors so the promising ones go first, producing more cutoffs - much as an A* heuristic guides expansion, or CSP filtering orders values.</a:t>
            </a:r>
            <a:endParaRPr lang="en-US" sz="1300" dirty="0"/>
          </a:p>
        </p:txBody>
      </p:sp>
      <p:sp>
        <p:nvSpPr>
          <p:cNvPr id="10" name="Text 8"/>
          <p:cNvSpPr/>
          <p:nvPr/>
        </p:nvSpPr>
        <p:spPr>
          <a:xfrm>
            <a:off x="640080" y="3200400"/>
            <a:ext cx="10881360" cy="457200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rgbClr val="1A1A1A"/>
                </a:solidFill>
                <a:latin typeface="Calibri" pitchFamily="34" charset="0"/>
                <a:ea typeface="Calibri" pitchFamily="34" charset="-122"/>
                <a:cs typeface="Calibri" pitchFamily="34" charset="-120"/>
              </a:rPr>
              <a:t>A stronger form: use the evaluation function as a bound.</a:t>
            </a:r>
            <a:endParaRPr lang="en-US" sz="1500" dirty="0"/>
          </a:p>
          <a:p>
            <a:pPr lvl="1" marL="406400" indent="-203200">
              <a:spcAft>
                <a:spcPts val="800"/>
              </a:spcAft>
              <a:buSzPct val="100000"/>
              <a:buChar char="•"/>
            </a:pPr>
            <a:r>
              <a:rPr lang="en-US" sz="1450" dirty="0">
                <a:solidFill>
                  <a:srgbClr val="55607A"/>
                </a:solidFill>
                <a:latin typeface="Calibri" pitchFamily="34" charset="0"/>
                <a:ea typeface="Calibri" pitchFamily="34" charset="-122"/>
                <a:cs typeface="Calibri" pitchFamily="34" charset="-120"/>
              </a:rPr>
              <a:t>The value at a MIN node only ever decreases as its children are examined.</a:t>
            </a:r>
            <a:endParaRPr lang="en-US" sz="1500" dirty="0"/>
          </a:p>
          <a:p>
            <a:pPr lvl="1" marL="406400" indent="-203200">
              <a:spcAft>
                <a:spcPts val="800"/>
              </a:spcAft>
              <a:buSzPct val="100000"/>
              <a:buChar char="•"/>
            </a:pPr>
            <a:r>
              <a:rPr lang="en-US" sz="1450" dirty="0">
                <a:solidFill>
                  <a:srgbClr val="55607A"/>
                </a:solidFill>
                <a:latin typeface="Calibri" pitchFamily="34" charset="0"/>
                <a:ea typeface="Calibri" pitchFamily="34" charset="-122"/>
                <a:cs typeface="Calibri" pitchFamily="34" charset="-120"/>
              </a:rPr>
              <a:t>Once that value drops below a better option MAX already has on the path to the root, we prune.</a:t>
            </a:r>
            <a:endParaRPr lang="en-US" sz="1500" dirty="0"/>
          </a:p>
          <a:p>
            <a:pPr lvl="1" marL="406400" indent="-203200">
              <a:spcAft>
                <a:spcPts val="800"/>
              </a:spcAft>
              <a:buSzPct val="100000"/>
              <a:buChar char="•"/>
            </a:pPr>
            <a:r>
              <a:rPr lang="en-US" sz="1450" b="1" dirty="0">
                <a:solidFill>
                  <a:srgbClr val="55607A"/>
                </a:solidFill>
                <a:latin typeface="Calibri" pitchFamily="34" charset="0"/>
                <a:ea typeface="Calibri" pitchFamily="34" charset="-122"/>
                <a:cs typeface="Calibri" pitchFamily="34" charset="-120"/>
              </a:rPr>
              <a:t>So if EVAL supplies an upper bound on a MIN node's value, and that bound is already below MAX's best alternative, we can prune before examining any child at all.</a:t>
            </a:r>
            <a:endParaRPr lang="en-US" sz="1500" dirty="0"/>
          </a:p>
        </p:txBody>
      </p:sp>
      <p:sp>
        <p:nvSpPr>
          <p:cNvPr id="11" name="Shape 9"/>
          <p:cNvSpPr/>
          <p:nvPr/>
        </p:nvSpPr>
        <p:spPr>
          <a:xfrm>
            <a:off x="640080" y="5166360"/>
            <a:ext cx="10881360" cy="777240"/>
          </a:xfrm>
          <a:prstGeom prst="roundRect">
            <a:avLst>
              <a:gd name="adj" fmla="val 7059"/>
            </a:avLst>
          </a:prstGeom>
          <a:solidFill>
            <a:srgbClr val="14213D"/>
          </a:solidFill>
          <a:ln w="12700">
            <a:solidFill>
              <a:srgbClr val="14213D"/>
            </a:solidFill>
            <a:prstDash val="solid"/>
          </a:ln>
        </p:spPr>
      </p:sp>
      <p:sp>
        <p:nvSpPr>
          <p:cNvPr id="12" name="Text 10"/>
          <p:cNvSpPr/>
          <p:nvPr/>
        </p:nvSpPr>
        <p:spPr>
          <a:xfrm>
            <a:off x="822960" y="5257800"/>
            <a:ext cx="10515600" cy="594360"/>
          </a:xfrm>
          <a:prstGeom prst="rect">
            <a:avLst/>
          </a:prstGeom>
          <a:noFill/>
          <a:ln/>
        </p:spPr>
        <p:txBody>
          <a:bodyPr wrap="square" lIns="0" tIns="0" rIns="0" bIns="0" rtlCol="0" anchor="ctr"/>
          <a:lstStyle/>
          <a:p>
            <a:pPr algn="ctr" indent="0" marL="0">
              <a:lnSpc>
                <a:spcPct val="115000"/>
              </a:lnSpc>
              <a:buNone/>
            </a:pPr>
            <a:r>
              <a:rPr lang="en-US" sz="1600" dirty="0">
                <a:solidFill>
                  <a:srgbClr val="FFFFFF"/>
                </a:solidFill>
                <a:latin typeface="Cambria" pitchFamily="34" charset="0"/>
                <a:ea typeface="Cambria" pitchFamily="34" charset="-122"/>
                <a:cs typeface="Cambria" pitchFamily="34" charset="-120"/>
              </a:rPr>
              <a:t>Metareasoning: spend a little computation deciding which computations are unnecessary.</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331720"/>
            <a:ext cx="914400" cy="914400"/>
          </a:xfrm>
          <a:prstGeom prst="ellipse">
            <a:avLst/>
          </a:prstGeom>
          <a:solidFill>
            <a:srgbClr val="D98C1F"/>
          </a:solidFill>
          <a:ln w="12700">
            <a:solidFill>
              <a:srgbClr val="D98C1F"/>
            </a:solidFill>
            <a:prstDash val="solid"/>
          </a:ln>
        </p:spPr>
      </p:sp>
      <p:sp>
        <p:nvSpPr>
          <p:cNvPr id="3" name="Text 1"/>
          <p:cNvSpPr/>
          <p:nvPr/>
        </p:nvSpPr>
        <p:spPr>
          <a:xfrm>
            <a:off x="822960" y="2331720"/>
            <a:ext cx="914400" cy="914400"/>
          </a:xfrm>
          <a:prstGeom prst="rect">
            <a:avLst/>
          </a:prstGeom>
          <a:noFill/>
          <a:ln/>
        </p:spPr>
        <p:txBody>
          <a:bodyPr wrap="square" lIns="0" tIns="0" rIns="0" bIns="0" rtlCol="0" anchor="ctr"/>
          <a:lstStyle/>
          <a:p>
            <a:pPr algn="ctr" indent="0" marL="0">
              <a:buNone/>
            </a:pPr>
            <a:r>
              <a:rPr lang="en-US" sz="3400" b="1" dirty="0">
                <a:solidFill>
                  <a:srgbClr val="14213D"/>
                </a:solidFill>
                <a:latin typeface="Cambria" pitchFamily="34" charset="0"/>
                <a:ea typeface="Cambria" pitchFamily="34" charset="-122"/>
                <a:cs typeface="Cambria" pitchFamily="34" charset="-120"/>
              </a:rPr>
              <a:t>5</a:t>
            </a:r>
            <a:endParaRPr lang="en-US" sz="3400" dirty="0"/>
          </a:p>
        </p:txBody>
      </p:sp>
      <p:sp>
        <p:nvSpPr>
          <p:cNvPr id="4" name="Text 2"/>
          <p:cNvSpPr/>
          <p:nvPr/>
        </p:nvSpPr>
        <p:spPr>
          <a:xfrm>
            <a:off x="2057400" y="2194560"/>
            <a:ext cx="841248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Monte Carlo Tree Search</a:t>
            </a:r>
            <a:endParaRPr lang="en-US" sz="3800" dirty="0"/>
          </a:p>
        </p:txBody>
      </p:sp>
      <p:sp>
        <p:nvSpPr>
          <p:cNvPr id="5" name="Text 3"/>
          <p:cNvSpPr/>
          <p:nvPr/>
        </p:nvSpPr>
        <p:spPr>
          <a:xfrm>
            <a:off x="2103120" y="3017520"/>
            <a:ext cx="8412480" cy="822960"/>
          </a:xfrm>
          <a:prstGeom prst="rect">
            <a:avLst/>
          </a:prstGeom>
          <a:noFill/>
          <a:ln/>
        </p:spPr>
        <p:txBody>
          <a:bodyPr wrap="square" lIns="0" tIns="0" rIns="0" bIns="0" rtlCol="0" anchor="t"/>
          <a:lstStyle/>
          <a:p>
            <a:pPr indent="0" marL="0">
              <a:lnSpc>
                <a:spcPct val="120000"/>
              </a:lnSpc>
              <a:buNone/>
            </a:pPr>
            <a:r>
              <a:rPr lang="en-US" sz="1600" dirty="0">
                <a:solidFill>
                  <a:srgbClr val="DCE6FA"/>
                </a:solidFill>
                <a:latin typeface="Calibri" pitchFamily="34" charset="0"/>
                <a:ea typeface="Calibri" pitchFamily="34" charset="-122"/>
                <a:cs typeface="Calibri" pitchFamily="34" charset="-120"/>
              </a:rPr>
              <a:t>When you cannot write an evaluation function, play the game out at random and count.</a:t>
            </a:r>
            <a:endParaRPr lang="en-US" sz="1600" dirty="0"/>
          </a:p>
        </p:txBody>
      </p:sp>
      <p:sp>
        <p:nvSpPr>
          <p:cNvPr id="6" name="Text 4"/>
          <p:cNvSpPr/>
          <p:nvPr/>
        </p:nvSpPr>
        <p:spPr>
          <a:xfrm>
            <a:off x="2103120" y="3977640"/>
            <a:ext cx="5486400" cy="292608"/>
          </a:xfrm>
          <a:prstGeom prst="rect">
            <a:avLst/>
          </a:prstGeom>
          <a:noFill/>
          <a:ln/>
        </p:spPr>
        <p:txBody>
          <a:bodyPr wrap="square" lIns="0" tIns="0" rIns="0" bIns="0" rtlCol="0" anchor="ctr"/>
          <a:lstStyle/>
          <a:p>
            <a:pPr indent="0" marL="0">
              <a:buNone/>
            </a:pPr>
            <a:r>
              <a:rPr lang="en-US" sz="1250" b="1" spc="120" kern="0" dirty="0">
                <a:solidFill>
                  <a:srgbClr val="D98C1F"/>
                </a:solidFill>
                <a:latin typeface="Calibri" pitchFamily="34" charset="0"/>
                <a:ea typeface="Calibri" pitchFamily="34" charset="-122"/>
                <a:cs typeface="Calibri" pitchFamily="34" charset="-120"/>
              </a:rPr>
              <a:t>AIMA 5.4  ·  ABOUT 15 MINUTES</a:t>
            </a:r>
            <a:endParaRPr lang="en-US" sz="12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5.4</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Two Weaknesses That Go Exposes</a:t>
            </a:r>
            <a:endParaRPr lang="en-US" sz="2900" dirty="0"/>
          </a:p>
        </p:txBody>
      </p:sp>
      <p:sp>
        <p:nvSpPr>
          <p:cNvPr id="4" name="Shape 2"/>
          <p:cNvSpPr/>
          <p:nvPr/>
        </p:nvSpPr>
        <p:spPr>
          <a:xfrm>
            <a:off x="640080" y="1371600"/>
            <a:ext cx="5349240" cy="1965960"/>
          </a:xfrm>
          <a:prstGeom prst="roundRect">
            <a:avLst>
              <a:gd name="adj" fmla="val 3721"/>
            </a:avLst>
          </a:prstGeom>
          <a:solidFill>
            <a:srgbClr val="F7DEDF"/>
          </a:solidFill>
          <a:ln w="12700">
            <a:solidFill>
              <a:srgbClr val="C1272D"/>
            </a:solidFill>
            <a:prstDash val="solid"/>
          </a:ln>
        </p:spPr>
      </p:sp>
      <p:sp>
        <p:nvSpPr>
          <p:cNvPr id="5" name="Text 3"/>
          <p:cNvSpPr/>
          <p:nvPr/>
        </p:nvSpPr>
        <p:spPr>
          <a:xfrm>
            <a:off x="84124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1. The branching factor</a:t>
            </a:r>
            <a:endParaRPr lang="en-US" sz="1500" dirty="0"/>
          </a:p>
        </p:txBody>
      </p:sp>
      <p:sp>
        <p:nvSpPr>
          <p:cNvPr id="6" name="Text 4"/>
          <p:cNvSpPr/>
          <p:nvPr/>
        </p:nvSpPr>
        <p:spPr>
          <a:xfrm>
            <a:off x="841248" y="1865376"/>
            <a:ext cx="4946904" cy="1307592"/>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Go starts at 361 legal moves. Even with perfect ordering, alpha-beta would reach only four or five ply. Four ply of Go is not a plan; it is a twitch.</a:t>
            </a:r>
            <a:endParaRPr lang="en-US" sz="1300" dirty="0"/>
          </a:p>
        </p:txBody>
      </p:sp>
      <p:sp>
        <p:nvSpPr>
          <p:cNvPr id="7" name="Shape 5"/>
          <p:cNvSpPr/>
          <p:nvPr/>
        </p:nvSpPr>
        <p:spPr>
          <a:xfrm>
            <a:off x="6172200" y="1371600"/>
            <a:ext cx="5349240" cy="1965960"/>
          </a:xfrm>
          <a:prstGeom prst="roundRect">
            <a:avLst>
              <a:gd name="adj" fmla="val 3721"/>
            </a:avLst>
          </a:prstGeom>
          <a:solidFill>
            <a:srgbClr val="F7DEDF"/>
          </a:solidFill>
          <a:ln w="12700">
            <a:solidFill>
              <a:srgbClr val="C1272D"/>
            </a:solidFill>
            <a:prstDash val="solid"/>
          </a:ln>
        </p:spPr>
      </p:sp>
      <p:sp>
        <p:nvSpPr>
          <p:cNvPr id="8" name="Text 6"/>
          <p:cNvSpPr/>
          <p:nvPr/>
        </p:nvSpPr>
        <p:spPr>
          <a:xfrm>
            <a:off x="637336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2. There is no good evaluation function</a:t>
            </a:r>
            <a:endParaRPr lang="en-US" sz="1500" dirty="0"/>
          </a:p>
        </p:txBody>
      </p:sp>
      <p:sp>
        <p:nvSpPr>
          <p:cNvPr id="9" name="Text 7"/>
          <p:cNvSpPr/>
          <p:nvPr/>
        </p:nvSpPr>
        <p:spPr>
          <a:xfrm>
            <a:off x="6373368" y="1865376"/>
            <a:ext cx="4946904" cy="1307592"/>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Material value is not a strong indicator in Go, and most positions stay in flux until the endgame. Nobody has hand-written an EVAL that correlates well with winning.</a:t>
            </a:r>
            <a:endParaRPr lang="en-US" sz="1300" dirty="0"/>
          </a:p>
        </p:txBody>
      </p:sp>
      <p:sp>
        <p:nvSpPr>
          <p:cNvPr id="10" name="Shape 8"/>
          <p:cNvSpPr/>
          <p:nvPr/>
        </p:nvSpPr>
        <p:spPr>
          <a:xfrm>
            <a:off x="640080" y="3566160"/>
            <a:ext cx="10881360" cy="960120"/>
          </a:xfrm>
          <a:prstGeom prst="roundRect">
            <a:avLst>
              <a:gd name="adj" fmla="val 5714"/>
            </a:avLst>
          </a:prstGeom>
          <a:solidFill>
            <a:srgbClr val="14213D"/>
          </a:solidFill>
          <a:ln w="12700">
            <a:solidFill>
              <a:srgbClr val="14213D"/>
            </a:solidFill>
            <a:prstDash val="solid"/>
          </a:ln>
        </p:spPr>
      </p:sp>
      <p:sp>
        <p:nvSpPr>
          <p:cNvPr id="11" name="Text 9"/>
          <p:cNvSpPr/>
          <p:nvPr/>
        </p:nvSpPr>
        <p:spPr>
          <a:xfrm>
            <a:off x="822960" y="3657600"/>
            <a:ext cx="10515600" cy="777240"/>
          </a:xfrm>
          <a:prstGeom prst="rect">
            <a:avLst/>
          </a:prstGeom>
          <a:noFill/>
          <a:ln/>
        </p:spPr>
        <p:txBody>
          <a:bodyPr wrap="square" lIns="0" tIns="0" rIns="0" bIns="0" rtlCol="0" anchor="ctr"/>
          <a:lstStyle/>
          <a:p>
            <a:pPr algn="ctr" indent="0" marL="0">
              <a:lnSpc>
                <a:spcPct val="115000"/>
              </a:lnSpc>
              <a:buNone/>
            </a:pPr>
            <a:r>
              <a:rPr lang="en-US" sz="1650" dirty="0">
                <a:solidFill>
                  <a:srgbClr val="FFFFFF"/>
                </a:solidFill>
                <a:latin typeface="Cambria" pitchFamily="34" charset="0"/>
                <a:ea typeface="Cambria" pitchFamily="34" charset="-122"/>
                <a:cs typeface="Cambria" pitchFamily="34" charset="-120"/>
              </a:rPr>
              <a:t>The response: abandon alpha-beta. Estimate the value of a state as the average utility over many simulated</a:t>
            </a:r>
            <a:endParaRPr lang="en-US" sz="1650" dirty="0"/>
          </a:p>
          <a:p>
            <a:pPr algn="ctr" indent="0" marL="0">
              <a:lnSpc>
                <a:spcPct val="115000"/>
              </a:lnSpc>
              <a:buNone/>
            </a:pPr>
            <a:r>
              <a:rPr lang="en-US" sz="1650" dirty="0">
                <a:solidFill>
                  <a:srgbClr val="FFFFFF"/>
                </a:solidFill>
                <a:latin typeface="Cambria" pitchFamily="34" charset="0"/>
                <a:ea typeface="Cambria" pitchFamily="34" charset="-122"/>
                <a:cs typeface="Cambria" pitchFamily="34" charset="-120"/>
              </a:rPr>
              <a:t>complete games played from that state.</a:t>
            </a:r>
            <a:endParaRPr lang="en-US" sz="1650" dirty="0"/>
          </a:p>
        </p:txBody>
      </p:sp>
      <p:sp>
        <p:nvSpPr>
          <p:cNvPr id="12" name="Text 10"/>
          <p:cNvSpPr/>
          <p:nvPr/>
        </p:nvSpPr>
        <p:spPr>
          <a:xfrm>
            <a:off x="640080" y="4754880"/>
            <a:ext cx="10881360" cy="45720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A simulation - also called a playout or rollout - picks moves for both players until a terminal position is reached.</a:t>
            </a:r>
            <a:endParaRPr lang="en-US" sz="1500" dirty="0"/>
          </a:p>
          <a:p>
            <a:pPr marL="203200" indent="-203200">
              <a:spcAft>
                <a:spcPts val="800"/>
              </a:spcAft>
              <a:buSzPct val="100000"/>
              <a:buChar char="•"/>
            </a:pPr>
            <a:r>
              <a:rPr lang="en-US" sz="1500" b="1" dirty="0">
                <a:solidFill>
                  <a:srgbClr val="1A1A1A"/>
                </a:solidFill>
                <a:latin typeface="Calibri" pitchFamily="34" charset="0"/>
                <a:ea typeface="Calibri" pitchFamily="34" charset="-122"/>
                <a:cs typeface="Calibri" pitchFamily="34" charset="-120"/>
              </a:rPr>
              <a:t>At that point the rules of the game, not a fallible heuristic, decide who won. When the only outcomes are win and loss, average utility is just win percentage.</a:t>
            </a:r>
            <a:endParaRPr lang="en-US"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5.4</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Playout Policies and Pure Monte Carlo Search</a:t>
            </a:r>
            <a:endParaRPr lang="en-US" sz="2900" dirty="0"/>
          </a:p>
        </p:txBody>
      </p:sp>
      <p:sp>
        <p:nvSpPr>
          <p:cNvPr id="4" name="Text 2"/>
          <p:cNvSpPr/>
          <p:nvPr/>
        </p:nvSpPr>
        <p:spPr>
          <a:xfrm>
            <a:off x="640080" y="1371600"/>
            <a:ext cx="6766560" cy="4572000"/>
          </a:xfrm>
          <a:prstGeom prst="rect">
            <a:avLst/>
          </a:prstGeom>
          <a:noFill/>
          <a:ln/>
        </p:spPr>
        <p:txBody>
          <a:bodyPr wrap="square" lIns="0" tIns="0" rIns="0" bIns="0" rtlCol="0" anchor="t"/>
          <a:lstStyle/>
          <a:p>
            <a:pPr marL="203200" indent="-203200">
              <a:spcAft>
                <a:spcPts val="1000"/>
              </a:spcAft>
              <a:buSzPct val="100000"/>
              <a:buChar char="•"/>
            </a:pPr>
            <a:r>
              <a:rPr lang="en-US" sz="1550" b="1" dirty="0">
                <a:solidFill>
                  <a:srgbClr val="1A1A1A"/>
                </a:solidFill>
                <a:latin typeface="Calibri" pitchFamily="34" charset="0"/>
                <a:ea typeface="Calibri" pitchFamily="34" charset="-122"/>
                <a:cs typeface="Calibri" pitchFamily="34" charset="-120"/>
              </a:rPr>
              <a:t>How do we choose moves during a playout?</a:t>
            </a:r>
            <a:endParaRPr lang="en-US" sz="1550" dirty="0"/>
          </a:p>
          <a:p>
            <a:pPr lvl="1" marL="406400" indent="-203200">
              <a:spcAft>
                <a:spcPts val="1000"/>
              </a:spcAft>
              <a:buSzPct val="100000"/>
              <a:buChar char="•"/>
            </a:pPr>
            <a:r>
              <a:rPr lang="en-US" sz="1450" dirty="0">
                <a:solidFill>
                  <a:srgbClr val="55607A"/>
                </a:solidFill>
                <a:latin typeface="Calibri" pitchFamily="34" charset="0"/>
                <a:ea typeface="Calibri" pitchFamily="34" charset="-122"/>
                <a:cs typeface="Calibri" pitchFamily="34" charset="-120"/>
              </a:rPr>
              <a:t>Choose uniformly at random and you answer the question 'what is the best move if both players play randomly?' For a few simple games that happens to coincide with good play. For most it does not.</a:t>
            </a:r>
            <a:endParaRPr lang="en-US" sz="1550" dirty="0"/>
          </a:p>
          <a:p>
            <a:pPr lvl="1" marL="406400" indent="-203200">
              <a:spcAft>
                <a:spcPts val="1000"/>
              </a:spcAft>
              <a:buSzPct val="100000"/>
              <a:buChar char="•"/>
            </a:pPr>
            <a:r>
              <a:rPr lang="en-US" sz="1450" dirty="0">
                <a:solidFill>
                  <a:srgbClr val="55607A"/>
                </a:solidFill>
                <a:latin typeface="Calibri" pitchFamily="34" charset="0"/>
                <a:ea typeface="Calibri" pitchFamily="34" charset="-122"/>
                <a:cs typeface="Calibri" pitchFamily="34" charset="-120"/>
              </a:rPr>
              <a:t>So we need a playout policy that biases moves toward good ones. For Go these have been learned from self-play with neural networks; sometimes game-specific heuristics are used, such as 'consider capture moves' in chess or 'take the corner square' in Othello.</a:t>
            </a:r>
            <a:endParaRPr lang="en-US" sz="1550" dirty="0"/>
          </a:p>
          <a:p>
            <a:pPr marL="203200" indent="-203200">
              <a:spcAft>
                <a:spcPts val="1000"/>
              </a:spcAft>
              <a:buSzPct val="100000"/>
              <a:buChar char="•"/>
            </a:pPr>
            <a:r>
              <a:rPr lang="en-US" sz="1550" b="1" dirty="0">
                <a:solidFill>
                  <a:srgbClr val="1A1A1A"/>
                </a:solidFill>
                <a:latin typeface="Calibri" pitchFamily="34" charset="0"/>
                <a:ea typeface="Calibri" pitchFamily="34" charset="-122"/>
                <a:cs typeface="Calibri" pitchFamily="34" charset="-120"/>
              </a:rPr>
              <a:t>Given a policy, two questions remain: from which positions do we start playouts, and how many do we give each one?</a:t>
            </a:r>
            <a:endParaRPr lang="en-US" sz="1550" dirty="0"/>
          </a:p>
        </p:txBody>
      </p:sp>
      <p:sp>
        <p:nvSpPr>
          <p:cNvPr id="5" name="Shape 3"/>
          <p:cNvSpPr/>
          <p:nvPr/>
        </p:nvSpPr>
        <p:spPr>
          <a:xfrm>
            <a:off x="7635240" y="1371600"/>
            <a:ext cx="3886200" cy="1874520"/>
          </a:xfrm>
          <a:prstGeom prst="roundRect">
            <a:avLst>
              <a:gd name="adj" fmla="val 3902"/>
            </a:avLst>
          </a:prstGeom>
          <a:solidFill>
            <a:srgbClr val="EFF3F9"/>
          </a:solidFill>
          <a:ln w="12700">
            <a:solidFill>
              <a:srgbClr val="EFF3F9"/>
            </a:solidFill>
            <a:prstDash val="solid"/>
          </a:ln>
        </p:spPr>
      </p:sp>
      <p:sp>
        <p:nvSpPr>
          <p:cNvPr id="6" name="Text 4"/>
          <p:cNvSpPr/>
          <p:nvPr/>
        </p:nvSpPr>
        <p:spPr>
          <a:xfrm>
            <a:off x="7836408" y="1517904"/>
            <a:ext cx="34838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Pure Monte Carlo search</a:t>
            </a:r>
            <a:endParaRPr lang="en-US" sz="1500" dirty="0"/>
          </a:p>
        </p:txBody>
      </p:sp>
      <p:sp>
        <p:nvSpPr>
          <p:cNvPr id="7" name="Text 5"/>
          <p:cNvSpPr/>
          <p:nvPr/>
        </p:nvSpPr>
        <p:spPr>
          <a:xfrm>
            <a:off x="7836408" y="1865376"/>
            <a:ext cx="3483864" cy="121615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Run N simulations from the current state and play the move with the best win percentage. Simple, and for some stochastic games it converges to optimal play as N grows.</a:t>
            </a:r>
            <a:endParaRPr lang="en-US" sz="1300" dirty="0"/>
          </a:p>
        </p:txBody>
      </p:sp>
      <p:sp>
        <p:nvSpPr>
          <p:cNvPr id="8" name="Shape 6"/>
          <p:cNvSpPr/>
          <p:nvPr/>
        </p:nvSpPr>
        <p:spPr>
          <a:xfrm>
            <a:off x="7635240" y="3429000"/>
            <a:ext cx="3886200" cy="1874520"/>
          </a:xfrm>
          <a:prstGeom prst="roundRect">
            <a:avLst>
              <a:gd name="adj" fmla="val 3902"/>
            </a:avLst>
          </a:prstGeom>
          <a:solidFill>
            <a:srgbClr val="F7DEDF"/>
          </a:solidFill>
          <a:ln w="12700">
            <a:solidFill>
              <a:srgbClr val="C1272D"/>
            </a:solidFill>
            <a:prstDash val="solid"/>
          </a:ln>
        </p:spPr>
      </p:sp>
      <p:sp>
        <p:nvSpPr>
          <p:cNvPr id="9" name="Text 7"/>
          <p:cNvSpPr/>
          <p:nvPr/>
        </p:nvSpPr>
        <p:spPr>
          <a:xfrm>
            <a:off x="7836408" y="3575304"/>
            <a:ext cx="34838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Why it is not enough</a:t>
            </a:r>
            <a:endParaRPr lang="en-US" sz="1500" dirty="0"/>
          </a:p>
        </p:txBody>
      </p:sp>
      <p:sp>
        <p:nvSpPr>
          <p:cNvPr id="10" name="Text 8"/>
          <p:cNvSpPr/>
          <p:nvPr/>
        </p:nvSpPr>
        <p:spPr>
          <a:xfrm>
            <a:off x="7836408" y="3922776"/>
            <a:ext cx="3483864" cy="1216152"/>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For most games we need a selection policy that concentrates effort on the important parts of the tree instead of spreading it evenly.</a:t>
            </a:r>
            <a:endParaRPr lang="en-US" sz="1300" dirty="0"/>
          </a:p>
        </p:txBody>
      </p:sp>
      <p:sp>
        <p:nvSpPr>
          <p:cNvPr id="11" name="Shape 9"/>
          <p:cNvSpPr/>
          <p:nvPr/>
        </p:nvSpPr>
        <p:spPr>
          <a:xfrm>
            <a:off x="640080" y="4480560"/>
            <a:ext cx="6766560" cy="1188720"/>
          </a:xfrm>
          <a:prstGeom prst="roundRect">
            <a:avLst>
              <a:gd name="adj" fmla="val 4615"/>
            </a:avLst>
          </a:prstGeom>
          <a:solidFill>
            <a:srgbClr val="DCE6FA"/>
          </a:solidFill>
          <a:ln w="12700">
            <a:solidFill>
              <a:srgbClr val="DCE6FA"/>
            </a:solidFill>
            <a:prstDash val="solid"/>
          </a:ln>
        </p:spPr>
      </p:sp>
      <p:sp>
        <p:nvSpPr>
          <p:cNvPr id="12" name="Text 10"/>
          <p:cNvSpPr/>
          <p:nvPr/>
        </p:nvSpPr>
        <p:spPr>
          <a:xfrm>
            <a:off x="822960" y="4572000"/>
            <a:ext cx="6400800" cy="1005840"/>
          </a:xfrm>
          <a:prstGeom prst="rect">
            <a:avLst/>
          </a:prstGeom>
          <a:noFill/>
          <a:ln/>
        </p:spPr>
        <p:txBody>
          <a:bodyPr wrap="square" lIns="0" tIns="0" rIns="0" bIns="0" rtlCol="0" anchor="ctr"/>
          <a:lstStyle/>
          <a:p>
            <a:pPr algn="l" indent="0" marL="0">
              <a:lnSpc>
                <a:spcPct val="115000"/>
              </a:lnSpc>
              <a:buNone/>
            </a:pPr>
            <a:r>
              <a:rPr lang="en-US" sz="1500" dirty="0">
                <a:solidFill>
                  <a:srgbClr val="14213D"/>
                </a:solidFill>
                <a:latin typeface="Cambria" pitchFamily="34" charset="0"/>
                <a:ea typeface="Cambria" pitchFamily="34" charset="-122"/>
                <a:cs typeface="Cambria" pitchFamily="34" charset="-120"/>
              </a:rPr>
              <a:t>  The selection policy balances two pressures:</a:t>
            </a:r>
            <a:endParaRPr lang="en-US" sz="1500" dirty="0"/>
          </a:p>
          <a:p>
            <a:pPr algn="l" indent="0" marL="0">
              <a:lnSpc>
                <a:spcPct val="115000"/>
              </a:lnSpc>
              <a:buNone/>
            </a:pPr>
            <a:r>
              <a:rPr lang="en-US" sz="1500" dirty="0">
                <a:solidFill>
                  <a:srgbClr val="14213D"/>
                </a:solidFill>
                <a:latin typeface="Cambria" pitchFamily="34" charset="0"/>
                <a:ea typeface="Cambria" pitchFamily="34" charset="-122"/>
                <a:cs typeface="Cambria" pitchFamily="34" charset="-120"/>
              </a:rPr>
              <a:t>     exploration of states that have had few playouts, and</a:t>
            </a:r>
            <a:endParaRPr lang="en-US" sz="1500" dirty="0"/>
          </a:p>
          <a:p>
            <a:pPr algn="l" indent="0" marL="0">
              <a:lnSpc>
                <a:spcPct val="115000"/>
              </a:lnSpc>
              <a:buNone/>
            </a:pPr>
            <a:r>
              <a:rPr lang="en-US" sz="1500" dirty="0">
                <a:solidFill>
                  <a:srgbClr val="14213D"/>
                </a:solidFill>
                <a:latin typeface="Cambria" pitchFamily="34" charset="0"/>
                <a:ea typeface="Cambria" pitchFamily="34" charset="-122"/>
                <a:cs typeface="Cambria" pitchFamily="34" charset="-120"/>
              </a:rPr>
              <a:t>     exploitation of states that have done well so far.</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FIGURE 5.10</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One MCTS Iteration: Four Steps</a:t>
            </a:r>
            <a:endParaRPr lang="en-US" sz="2900" dirty="0"/>
          </a:p>
        </p:txBody>
      </p:sp>
      <p:sp>
        <p:nvSpPr>
          <p:cNvPr id="4" name="Shape 2"/>
          <p:cNvSpPr/>
          <p:nvPr/>
        </p:nvSpPr>
        <p:spPr>
          <a:xfrm>
            <a:off x="2907792" y="1463040"/>
            <a:ext cx="768096" cy="365760"/>
          </a:xfrm>
          <a:prstGeom prst="roundRect">
            <a:avLst>
              <a:gd name="adj" fmla="val 15000"/>
            </a:avLst>
          </a:prstGeom>
          <a:solidFill>
            <a:srgbClr val="DCE6FA"/>
          </a:solidFill>
          <a:ln w="25400">
            <a:solidFill>
              <a:srgbClr val="1F5AC4"/>
            </a:solidFill>
            <a:prstDash val="solid"/>
          </a:ln>
        </p:spPr>
      </p:sp>
      <p:sp>
        <p:nvSpPr>
          <p:cNvPr id="5" name="Text 3"/>
          <p:cNvSpPr/>
          <p:nvPr/>
        </p:nvSpPr>
        <p:spPr>
          <a:xfrm>
            <a:off x="2907792" y="1463040"/>
            <a:ext cx="768096" cy="36576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37/100</a:t>
            </a:r>
            <a:endParaRPr lang="en-US" sz="1200" dirty="0"/>
          </a:p>
        </p:txBody>
      </p:sp>
      <p:sp>
        <p:nvSpPr>
          <p:cNvPr id="6" name="Text 4"/>
          <p:cNvSpPr/>
          <p:nvPr/>
        </p:nvSpPr>
        <p:spPr>
          <a:xfrm>
            <a:off x="3886200" y="1517904"/>
            <a:ext cx="1554480" cy="256032"/>
          </a:xfrm>
          <a:prstGeom prst="rect">
            <a:avLst/>
          </a:prstGeom>
          <a:noFill/>
          <a:ln/>
        </p:spPr>
        <p:txBody>
          <a:bodyPr wrap="square" lIns="0" tIns="0" rIns="0" bIns="0" rtlCol="0" anchor="ctr"/>
          <a:lstStyle/>
          <a:p>
            <a:pPr indent="0" marL="0">
              <a:buNone/>
            </a:pPr>
            <a:r>
              <a:rPr lang="en-US" sz="1100" i="1" dirty="0">
                <a:solidFill>
                  <a:srgbClr val="55607A"/>
                </a:solidFill>
                <a:latin typeface="Calibri" pitchFamily="34" charset="0"/>
                <a:ea typeface="Calibri" pitchFamily="34" charset="-122"/>
                <a:cs typeface="Calibri" pitchFamily="34" charset="-120"/>
              </a:rPr>
              <a:t>wins / playouts</a:t>
            </a:r>
            <a:endParaRPr lang="en-US" sz="1100" dirty="0"/>
          </a:p>
        </p:txBody>
      </p:sp>
      <p:sp>
        <p:nvSpPr>
          <p:cNvPr id="7" name="Shape 5"/>
          <p:cNvSpPr/>
          <p:nvPr/>
        </p:nvSpPr>
        <p:spPr>
          <a:xfrm flipH="1">
            <a:off x="1737360" y="1828800"/>
            <a:ext cx="1554480" cy="548640"/>
          </a:xfrm>
          <a:prstGeom prst="line">
            <a:avLst/>
          </a:prstGeom>
          <a:noFill/>
          <a:ln w="38100">
            <a:solidFill>
              <a:srgbClr val="1F5AC4"/>
            </a:solidFill>
            <a:prstDash val="solid"/>
          </a:ln>
        </p:spPr>
      </p:sp>
      <p:sp>
        <p:nvSpPr>
          <p:cNvPr id="8" name="Shape 6"/>
          <p:cNvSpPr/>
          <p:nvPr/>
        </p:nvSpPr>
        <p:spPr>
          <a:xfrm>
            <a:off x="1353312" y="2377440"/>
            <a:ext cx="768096" cy="365760"/>
          </a:xfrm>
          <a:prstGeom prst="roundRect">
            <a:avLst>
              <a:gd name="adj" fmla="val 15000"/>
            </a:avLst>
          </a:prstGeom>
          <a:solidFill>
            <a:srgbClr val="DCE6FA"/>
          </a:solidFill>
          <a:ln w="25400">
            <a:solidFill>
              <a:srgbClr val="1F5AC4"/>
            </a:solidFill>
            <a:prstDash val="solid"/>
          </a:ln>
        </p:spPr>
      </p:sp>
      <p:sp>
        <p:nvSpPr>
          <p:cNvPr id="9" name="Text 7"/>
          <p:cNvSpPr/>
          <p:nvPr/>
        </p:nvSpPr>
        <p:spPr>
          <a:xfrm>
            <a:off x="1353312" y="2377440"/>
            <a:ext cx="768096" cy="36576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60/79</a:t>
            </a:r>
            <a:endParaRPr lang="en-US" sz="1200" dirty="0"/>
          </a:p>
        </p:txBody>
      </p:sp>
      <p:sp>
        <p:nvSpPr>
          <p:cNvPr id="10" name="Shape 8"/>
          <p:cNvSpPr/>
          <p:nvPr/>
        </p:nvSpPr>
        <p:spPr>
          <a:xfrm>
            <a:off x="3291840" y="1828800"/>
            <a:ext cx="4572" cy="548640"/>
          </a:xfrm>
          <a:prstGeom prst="line">
            <a:avLst/>
          </a:prstGeom>
          <a:noFill/>
          <a:ln w="15875">
            <a:solidFill>
              <a:srgbClr val="55607A"/>
            </a:solidFill>
            <a:prstDash val="solid"/>
          </a:ln>
        </p:spPr>
      </p:sp>
      <p:sp>
        <p:nvSpPr>
          <p:cNvPr id="11" name="Shape 9"/>
          <p:cNvSpPr/>
          <p:nvPr/>
        </p:nvSpPr>
        <p:spPr>
          <a:xfrm>
            <a:off x="2907792" y="2377440"/>
            <a:ext cx="768096" cy="365760"/>
          </a:xfrm>
          <a:prstGeom prst="roundRect">
            <a:avLst>
              <a:gd name="adj" fmla="val 15000"/>
            </a:avLst>
          </a:prstGeom>
          <a:solidFill>
            <a:srgbClr val="EFF3F9"/>
          </a:solidFill>
          <a:ln w="12700">
            <a:solidFill>
              <a:srgbClr val="55607A"/>
            </a:solidFill>
            <a:prstDash val="solid"/>
          </a:ln>
        </p:spPr>
      </p:sp>
      <p:sp>
        <p:nvSpPr>
          <p:cNvPr id="12" name="Text 10"/>
          <p:cNvSpPr/>
          <p:nvPr/>
        </p:nvSpPr>
        <p:spPr>
          <a:xfrm>
            <a:off x="2907792" y="2377440"/>
            <a:ext cx="768096" cy="36576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2/11</a:t>
            </a:r>
            <a:endParaRPr lang="en-US" sz="1200" dirty="0"/>
          </a:p>
        </p:txBody>
      </p:sp>
      <p:sp>
        <p:nvSpPr>
          <p:cNvPr id="13" name="Shape 11"/>
          <p:cNvSpPr/>
          <p:nvPr/>
        </p:nvSpPr>
        <p:spPr>
          <a:xfrm>
            <a:off x="3291840" y="1828800"/>
            <a:ext cx="1554480" cy="548640"/>
          </a:xfrm>
          <a:prstGeom prst="line">
            <a:avLst/>
          </a:prstGeom>
          <a:noFill/>
          <a:ln w="15875">
            <a:solidFill>
              <a:srgbClr val="55607A"/>
            </a:solidFill>
            <a:prstDash val="solid"/>
          </a:ln>
        </p:spPr>
      </p:sp>
      <p:sp>
        <p:nvSpPr>
          <p:cNvPr id="14" name="Shape 12"/>
          <p:cNvSpPr/>
          <p:nvPr/>
        </p:nvSpPr>
        <p:spPr>
          <a:xfrm>
            <a:off x="4462272" y="2377440"/>
            <a:ext cx="768096" cy="365760"/>
          </a:xfrm>
          <a:prstGeom prst="roundRect">
            <a:avLst>
              <a:gd name="adj" fmla="val 15000"/>
            </a:avLst>
          </a:prstGeom>
          <a:solidFill>
            <a:srgbClr val="EFF3F9"/>
          </a:solidFill>
          <a:ln w="12700">
            <a:solidFill>
              <a:srgbClr val="55607A"/>
            </a:solidFill>
            <a:prstDash val="solid"/>
          </a:ln>
        </p:spPr>
      </p:sp>
      <p:sp>
        <p:nvSpPr>
          <p:cNvPr id="15" name="Text 13"/>
          <p:cNvSpPr/>
          <p:nvPr/>
        </p:nvSpPr>
        <p:spPr>
          <a:xfrm>
            <a:off x="4462272" y="2377440"/>
            <a:ext cx="768096" cy="36576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5/10</a:t>
            </a:r>
            <a:endParaRPr lang="en-US" sz="1200" dirty="0"/>
          </a:p>
        </p:txBody>
      </p:sp>
      <p:sp>
        <p:nvSpPr>
          <p:cNvPr id="16" name="Shape 14"/>
          <p:cNvSpPr/>
          <p:nvPr/>
        </p:nvSpPr>
        <p:spPr>
          <a:xfrm flipH="1">
            <a:off x="1051560" y="2743200"/>
            <a:ext cx="685800" cy="548640"/>
          </a:xfrm>
          <a:prstGeom prst="line">
            <a:avLst/>
          </a:prstGeom>
          <a:noFill/>
          <a:ln w="38100">
            <a:solidFill>
              <a:srgbClr val="1F5AC4"/>
            </a:solidFill>
            <a:prstDash val="solid"/>
          </a:ln>
        </p:spPr>
      </p:sp>
      <p:sp>
        <p:nvSpPr>
          <p:cNvPr id="17" name="Shape 15"/>
          <p:cNvSpPr/>
          <p:nvPr/>
        </p:nvSpPr>
        <p:spPr>
          <a:xfrm>
            <a:off x="667512" y="3291840"/>
            <a:ext cx="768096" cy="365760"/>
          </a:xfrm>
          <a:prstGeom prst="roundRect">
            <a:avLst>
              <a:gd name="adj" fmla="val 15000"/>
            </a:avLst>
          </a:prstGeom>
          <a:solidFill>
            <a:srgbClr val="DCE6FA"/>
          </a:solidFill>
          <a:ln w="25400">
            <a:solidFill>
              <a:srgbClr val="1F5AC4"/>
            </a:solidFill>
            <a:prstDash val="solid"/>
          </a:ln>
        </p:spPr>
      </p:sp>
      <p:sp>
        <p:nvSpPr>
          <p:cNvPr id="18" name="Text 16"/>
          <p:cNvSpPr/>
          <p:nvPr/>
        </p:nvSpPr>
        <p:spPr>
          <a:xfrm>
            <a:off x="667512" y="3291840"/>
            <a:ext cx="768096" cy="36576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16/53</a:t>
            </a:r>
            <a:endParaRPr lang="en-US" sz="1200" dirty="0"/>
          </a:p>
        </p:txBody>
      </p:sp>
      <p:sp>
        <p:nvSpPr>
          <p:cNvPr id="19" name="Shape 17"/>
          <p:cNvSpPr/>
          <p:nvPr/>
        </p:nvSpPr>
        <p:spPr>
          <a:xfrm>
            <a:off x="1737360" y="2743200"/>
            <a:ext cx="777240" cy="548640"/>
          </a:xfrm>
          <a:prstGeom prst="line">
            <a:avLst/>
          </a:prstGeom>
          <a:noFill/>
          <a:ln w="15875">
            <a:solidFill>
              <a:srgbClr val="55607A"/>
            </a:solidFill>
            <a:prstDash val="solid"/>
          </a:ln>
        </p:spPr>
      </p:sp>
      <p:sp>
        <p:nvSpPr>
          <p:cNvPr id="20" name="Shape 18"/>
          <p:cNvSpPr/>
          <p:nvPr/>
        </p:nvSpPr>
        <p:spPr>
          <a:xfrm>
            <a:off x="2130552" y="3291840"/>
            <a:ext cx="768096" cy="365760"/>
          </a:xfrm>
          <a:prstGeom prst="roundRect">
            <a:avLst>
              <a:gd name="adj" fmla="val 15000"/>
            </a:avLst>
          </a:prstGeom>
          <a:solidFill>
            <a:srgbClr val="EFF3F9"/>
          </a:solidFill>
          <a:ln w="12700">
            <a:solidFill>
              <a:srgbClr val="55607A"/>
            </a:solidFill>
            <a:prstDash val="solid"/>
          </a:ln>
        </p:spPr>
      </p:sp>
      <p:sp>
        <p:nvSpPr>
          <p:cNvPr id="21" name="Text 19"/>
          <p:cNvSpPr/>
          <p:nvPr/>
        </p:nvSpPr>
        <p:spPr>
          <a:xfrm>
            <a:off x="2130552" y="3291840"/>
            <a:ext cx="768096" cy="36576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11/26</a:t>
            </a:r>
            <a:endParaRPr lang="en-US" sz="1200" dirty="0"/>
          </a:p>
        </p:txBody>
      </p:sp>
      <p:sp>
        <p:nvSpPr>
          <p:cNvPr id="22" name="Shape 20"/>
          <p:cNvSpPr/>
          <p:nvPr/>
        </p:nvSpPr>
        <p:spPr>
          <a:xfrm flipH="1">
            <a:off x="868680" y="3657600"/>
            <a:ext cx="182880" cy="548640"/>
          </a:xfrm>
          <a:prstGeom prst="line">
            <a:avLst/>
          </a:prstGeom>
          <a:noFill/>
          <a:ln w="38100">
            <a:solidFill>
              <a:srgbClr val="1F5AC4"/>
            </a:solidFill>
            <a:prstDash val="solid"/>
          </a:ln>
        </p:spPr>
      </p:sp>
      <p:sp>
        <p:nvSpPr>
          <p:cNvPr id="23" name="Shape 21"/>
          <p:cNvSpPr/>
          <p:nvPr/>
        </p:nvSpPr>
        <p:spPr>
          <a:xfrm>
            <a:off x="484632" y="4206240"/>
            <a:ext cx="768096" cy="365760"/>
          </a:xfrm>
          <a:prstGeom prst="roundRect">
            <a:avLst>
              <a:gd name="adj" fmla="val 15000"/>
            </a:avLst>
          </a:prstGeom>
          <a:solidFill>
            <a:srgbClr val="DCE6FA"/>
          </a:solidFill>
          <a:ln w="25400">
            <a:solidFill>
              <a:srgbClr val="1F5AC4"/>
            </a:solidFill>
            <a:prstDash val="solid"/>
          </a:ln>
        </p:spPr>
      </p:sp>
      <p:sp>
        <p:nvSpPr>
          <p:cNvPr id="24" name="Text 22"/>
          <p:cNvSpPr/>
          <p:nvPr/>
        </p:nvSpPr>
        <p:spPr>
          <a:xfrm>
            <a:off x="484632" y="4206240"/>
            <a:ext cx="768096" cy="36576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27/35</a:t>
            </a:r>
            <a:endParaRPr lang="en-US" sz="1200" dirty="0"/>
          </a:p>
        </p:txBody>
      </p:sp>
      <p:sp>
        <p:nvSpPr>
          <p:cNvPr id="25" name="Shape 23"/>
          <p:cNvSpPr/>
          <p:nvPr/>
        </p:nvSpPr>
        <p:spPr>
          <a:xfrm>
            <a:off x="1051560" y="3657600"/>
            <a:ext cx="914400" cy="548640"/>
          </a:xfrm>
          <a:prstGeom prst="line">
            <a:avLst/>
          </a:prstGeom>
          <a:noFill/>
          <a:ln w="15875">
            <a:solidFill>
              <a:srgbClr val="55607A"/>
            </a:solidFill>
            <a:prstDash val="solid"/>
          </a:ln>
        </p:spPr>
      </p:sp>
      <p:sp>
        <p:nvSpPr>
          <p:cNvPr id="26" name="Shape 24"/>
          <p:cNvSpPr/>
          <p:nvPr/>
        </p:nvSpPr>
        <p:spPr>
          <a:xfrm>
            <a:off x="1581912" y="4206240"/>
            <a:ext cx="768096" cy="365760"/>
          </a:xfrm>
          <a:prstGeom prst="roundRect">
            <a:avLst>
              <a:gd name="adj" fmla="val 15000"/>
            </a:avLst>
          </a:prstGeom>
          <a:solidFill>
            <a:srgbClr val="EFF3F9"/>
          </a:solidFill>
          <a:ln w="12700">
            <a:solidFill>
              <a:srgbClr val="55607A"/>
            </a:solidFill>
            <a:prstDash val="solid"/>
          </a:ln>
        </p:spPr>
      </p:sp>
      <p:sp>
        <p:nvSpPr>
          <p:cNvPr id="27" name="Text 25"/>
          <p:cNvSpPr/>
          <p:nvPr/>
        </p:nvSpPr>
        <p:spPr>
          <a:xfrm>
            <a:off x="1581912" y="4206240"/>
            <a:ext cx="768096" cy="36576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8/18</a:t>
            </a:r>
            <a:endParaRPr lang="en-US" sz="1200" dirty="0"/>
          </a:p>
        </p:txBody>
      </p:sp>
      <p:sp>
        <p:nvSpPr>
          <p:cNvPr id="28" name="Shape 26"/>
          <p:cNvSpPr/>
          <p:nvPr/>
        </p:nvSpPr>
        <p:spPr>
          <a:xfrm>
            <a:off x="868680" y="4572000"/>
            <a:ext cx="4572" cy="502920"/>
          </a:xfrm>
          <a:prstGeom prst="line">
            <a:avLst/>
          </a:prstGeom>
          <a:noFill/>
          <a:ln w="25400">
            <a:solidFill>
              <a:srgbClr val="1E7A4C"/>
            </a:solidFill>
            <a:prstDash val="dash"/>
          </a:ln>
        </p:spPr>
      </p:sp>
      <p:sp>
        <p:nvSpPr>
          <p:cNvPr id="29" name="Shape 27"/>
          <p:cNvSpPr/>
          <p:nvPr/>
        </p:nvSpPr>
        <p:spPr>
          <a:xfrm>
            <a:off x="484632" y="5074920"/>
            <a:ext cx="768096" cy="365760"/>
          </a:xfrm>
          <a:prstGeom prst="roundRect">
            <a:avLst>
              <a:gd name="adj" fmla="val 15000"/>
            </a:avLst>
          </a:prstGeom>
          <a:solidFill>
            <a:srgbClr val="DFF0E6"/>
          </a:solidFill>
          <a:ln w="25400">
            <a:solidFill>
              <a:srgbClr val="1E7A4C"/>
            </a:solidFill>
            <a:prstDash val="solid"/>
          </a:ln>
        </p:spPr>
      </p:sp>
      <p:sp>
        <p:nvSpPr>
          <p:cNvPr id="30" name="Text 28"/>
          <p:cNvSpPr/>
          <p:nvPr/>
        </p:nvSpPr>
        <p:spPr>
          <a:xfrm>
            <a:off x="484632" y="5074920"/>
            <a:ext cx="768096" cy="365760"/>
          </a:xfrm>
          <a:prstGeom prst="rect">
            <a:avLst/>
          </a:prstGeom>
          <a:noFill/>
          <a:ln/>
        </p:spPr>
        <p:txBody>
          <a:bodyPr wrap="square" lIns="0" tIns="0" rIns="0" bIns="0" rtlCol="0" anchor="ctr"/>
          <a:lstStyle/>
          <a:p>
            <a:pPr algn="ctr" indent="0" marL="0">
              <a:buNone/>
            </a:pPr>
            <a:r>
              <a:rPr lang="en-US" sz="1200" b="1" dirty="0">
                <a:solidFill>
                  <a:srgbClr val="1E7A4C"/>
                </a:solidFill>
                <a:latin typeface="Calibri" pitchFamily="34" charset="0"/>
                <a:ea typeface="Calibri" pitchFamily="34" charset="-122"/>
                <a:cs typeface="Calibri" pitchFamily="34" charset="-120"/>
              </a:rPr>
              <a:t>0/0</a:t>
            </a:r>
            <a:endParaRPr lang="en-US" sz="1200" dirty="0"/>
          </a:p>
        </p:txBody>
      </p:sp>
      <p:sp>
        <p:nvSpPr>
          <p:cNvPr id="31" name="Text 29"/>
          <p:cNvSpPr/>
          <p:nvPr/>
        </p:nvSpPr>
        <p:spPr>
          <a:xfrm>
            <a:off x="1371600" y="5129784"/>
            <a:ext cx="1371600" cy="256032"/>
          </a:xfrm>
          <a:prstGeom prst="rect">
            <a:avLst/>
          </a:prstGeom>
          <a:noFill/>
          <a:ln/>
        </p:spPr>
        <p:txBody>
          <a:bodyPr wrap="square" lIns="0" tIns="0" rIns="0" bIns="0" rtlCol="0" anchor="ctr"/>
          <a:lstStyle/>
          <a:p>
            <a:pPr indent="0" marL="0">
              <a:buNone/>
            </a:pPr>
            <a:r>
              <a:rPr lang="en-US" sz="1100" i="1" dirty="0">
                <a:solidFill>
                  <a:srgbClr val="1E7A4C"/>
                </a:solidFill>
                <a:latin typeface="Calibri" pitchFamily="34" charset="0"/>
                <a:ea typeface="Calibri" pitchFamily="34" charset="-122"/>
                <a:cs typeface="Calibri" pitchFamily="34" charset="-120"/>
              </a:rPr>
              <a:t>new child</a:t>
            </a:r>
            <a:endParaRPr lang="en-US" sz="1100" dirty="0"/>
          </a:p>
        </p:txBody>
      </p:sp>
      <p:sp>
        <p:nvSpPr>
          <p:cNvPr id="32" name="Shape 30"/>
          <p:cNvSpPr/>
          <p:nvPr/>
        </p:nvSpPr>
        <p:spPr>
          <a:xfrm>
            <a:off x="5806440" y="1463040"/>
            <a:ext cx="402336" cy="402336"/>
          </a:xfrm>
          <a:prstGeom prst="ellipse">
            <a:avLst/>
          </a:prstGeom>
          <a:solidFill>
            <a:srgbClr val="1F5AC4"/>
          </a:solidFill>
          <a:ln w="12700">
            <a:solidFill>
              <a:srgbClr val="1F5AC4"/>
            </a:solidFill>
            <a:prstDash val="solid"/>
          </a:ln>
        </p:spPr>
      </p:sp>
      <p:sp>
        <p:nvSpPr>
          <p:cNvPr id="33" name="Text 31"/>
          <p:cNvSpPr/>
          <p:nvPr/>
        </p:nvSpPr>
        <p:spPr>
          <a:xfrm>
            <a:off x="5806440" y="14630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4" name="Text 32"/>
          <p:cNvSpPr/>
          <p:nvPr/>
        </p:nvSpPr>
        <p:spPr>
          <a:xfrm>
            <a:off x="6355080" y="1463040"/>
            <a:ext cx="5120640"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Selection</a:t>
            </a:r>
            <a:endParaRPr lang="en-US" sz="1600" dirty="0"/>
          </a:p>
        </p:txBody>
      </p:sp>
      <p:sp>
        <p:nvSpPr>
          <p:cNvPr id="35" name="Text 33"/>
          <p:cNvSpPr/>
          <p:nvPr/>
        </p:nvSpPr>
        <p:spPr>
          <a:xfrm>
            <a:off x="6355080" y="1856232"/>
            <a:ext cx="5166360" cy="777240"/>
          </a:xfrm>
          <a:prstGeom prst="rect">
            <a:avLst/>
          </a:prstGeom>
          <a:noFill/>
          <a:ln/>
        </p:spPr>
        <p:txBody>
          <a:bodyPr wrap="square" lIns="0" tIns="0" rIns="0" bIns="0" rtlCol="0" anchor="t"/>
          <a:lstStyle/>
          <a:p>
            <a:pPr indent="0" marL="0">
              <a:lnSpc>
                <a:spcPct val="105000"/>
              </a:lnSpc>
              <a:buNone/>
            </a:pPr>
            <a:r>
              <a:rPr lang="en-US" sz="1250" dirty="0">
                <a:solidFill>
                  <a:srgbClr val="55607A"/>
                </a:solidFill>
                <a:latin typeface="Calibri" pitchFamily="34" charset="0"/>
                <a:ea typeface="Calibri" pitchFamily="34" charset="-122"/>
                <a:cs typeface="Calibri" pitchFamily="34" charset="-120"/>
              </a:rPr>
              <a:t>Start at the root and follow the selection policy down to a leaf. Here black picks the 60/79 node - the best win rate of the three, an act of exploitation. Choosing 2/11 instead would have been exploration.</a:t>
            </a:r>
            <a:endParaRPr lang="en-US" sz="1250" dirty="0"/>
          </a:p>
        </p:txBody>
      </p:sp>
      <p:sp>
        <p:nvSpPr>
          <p:cNvPr id="36" name="Shape 34"/>
          <p:cNvSpPr/>
          <p:nvPr/>
        </p:nvSpPr>
        <p:spPr>
          <a:xfrm>
            <a:off x="5806440" y="2670048"/>
            <a:ext cx="402336" cy="402336"/>
          </a:xfrm>
          <a:prstGeom prst="ellipse">
            <a:avLst/>
          </a:prstGeom>
          <a:solidFill>
            <a:srgbClr val="1E7A4C"/>
          </a:solidFill>
          <a:ln w="12700">
            <a:solidFill>
              <a:srgbClr val="1E7A4C"/>
            </a:solidFill>
            <a:prstDash val="solid"/>
          </a:ln>
        </p:spPr>
      </p:sp>
      <p:sp>
        <p:nvSpPr>
          <p:cNvPr id="37" name="Text 35"/>
          <p:cNvSpPr/>
          <p:nvPr/>
        </p:nvSpPr>
        <p:spPr>
          <a:xfrm>
            <a:off x="5806440" y="2670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8" name="Text 36"/>
          <p:cNvSpPr/>
          <p:nvPr/>
        </p:nvSpPr>
        <p:spPr>
          <a:xfrm>
            <a:off x="6355080" y="2670048"/>
            <a:ext cx="5120640"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Expansion</a:t>
            </a:r>
            <a:endParaRPr lang="en-US" sz="1600" dirty="0"/>
          </a:p>
        </p:txBody>
      </p:sp>
      <p:sp>
        <p:nvSpPr>
          <p:cNvPr id="39" name="Text 37"/>
          <p:cNvSpPr/>
          <p:nvPr/>
        </p:nvSpPr>
        <p:spPr>
          <a:xfrm>
            <a:off x="6355080" y="3063240"/>
            <a:ext cx="5166360" cy="777240"/>
          </a:xfrm>
          <a:prstGeom prst="rect">
            <a:avLst/>
          </a:prstGeom>
          <a:noFill/>
          <a:ln/>
        </p:spPr>
        <p:txBody>
          <a:bodyPr wrap="square" lIns="0" tIns="0" rIns="0" bIns="0" rtlCol="0" anchor="t"/>
          <a:lstStyle/>
          <a:p>
            <a:pPr indent="0" marL="0">
              <a:lnSpc>
                <a:spcPct val="105000"/>
              </a:lnSpc>
              <a:buNone/>
            </a:pPr>
            <a:r>
              <a:rPr lang="en-US" sz="1250" dirty="0">
                <a:solidFill>
                  <a:srgbClr val="55607A"/>
                </a:solidFill>
                <a:latin typeface="Calibri" pitchFamily="34" charset="0"/>
                <a:ea typeface="Calibri" pitchFamily="34" charset="-122"/>
                <a:cs typeface="Calibri" pitchFamily="34" charset="-120"/>
              </a:rPr>
              <a:t>Grow the tree by generating a new child of the selected node, shown as 0/0. Some versions generate more than one.</a:t>
            </a:r>
            <a:endParaRPr lang="en-US" sz="1250" dirty="0"/>
          </a:p>
        </p:txBody>
      </p:sp>
      <p:sp>
        <p:nvSpPr>
          <p:cNvPr id="40" name="Shape 38"/>
          <p:cNvSpPr/>
          <p:nvPr/>
        </p:nvSpPr>
        <p:spPr>
          <a:xfrm>
            <a:off x="5806440" y="3877056"/>
            <a:ext cx="402336" cy="402336"/>
          </a:xfrm>
          <a:prstGeom prst="ellipse">
            <a:avLst/>
          </a:prstGeom>
          <a:solidFill>
            <a:srgbClr val="D98C1F"/>
          </a:solidFill>
          <a:ln w="12700">
            <a:solidFill>
              <a:srgbClr val="D98C1F"/>
            </a:solidFill>
            <a:prstDash val="solid"/>
          </a:ln>
        </p:spPr>
      </p:sp>
      <p:sp>
        <p:nvSpPr>
          <p:cNvPr id="41" name="Text 39"/>
          <p:cNvSpPr/>
          <p:nvPr/>
        </p:nvSpPr>
        <p:spPr>
          <a:xfrm>
            <a:off x="5806440" y="3877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2" name="Text 40"/>
          <p:cNvSpPr/>
          <p:nvPr/>
        </p:nvSpPr>
        <p:spPr>
          <a:xfrm>
            <a:off x="6355080" y="3877056"/>
            <a:ext cx="5120640"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Simulation</a:t>
            </a:r>
            <a:endParaRPr lang="en-US" sz="1600" dirty="0"/>
          </a:p>
        </p:txBody>
      </p:sp>
      <p:sp>
        <p:nvSpPr>
          <p:cNvPr id="43" name="Text 41"/>
          <p:cNvSpPr/>
          <p:nvPr/>
        </p:nvSpPr>
        <p:spPr>
          <a:xfrm>
            <a:off x="6355080" y="4270248"/>
            <a:ext cx="5166360" cy="777240"/>
          </a:xfrm>
          <a:prstGeom prst="rect">
            <a:avLst/>
          </a:prstGeom>
          <a:noFill/>
          <a:ln/>
        </p:spPr>
        <p:txBody>
          <a:bodyPr wrap="square" lIns="0" tIns="0" rIns="0" bIns="0" rtlCol="0" anchor="t"/>
          <a:lstStyle/>
          <a:p>
            <a:pPr indent="0" marL="0">
              <a:lnSpc>
                <a:spcPct val="105000"/>
              </a:lnSpc>
              <a:buNone/>
            </a:pPr>
            <a:r>
              <a:rPr lang="en-US" sz="1250" dirty="0">
                <a:solidFill>
                  <a:srgbClr val="55607A"/>
                </a:solidFill>
                <a:latin typeface="Calibri" pitchFamily="34" charset="0"/>
                <a:ea typeface="Calibri" pitchFamily="34" charset="-122"/>
                <a:cs typeface="Calibri" pitchFamily="34" charset="-120"/>
              </a:rPr>
              <a:t>Run a playout from the new child, choosing moves for both players by the playout policy. These moves are not recorded in the tree. Suppose black wins.</a:t>
            </a:r>
            <a:endParaRPr lang="en-US" sz="1250" dirty="0"/>
          </a:p>
        </p:txBody>
      </p:sp>
      <p:sp>
        <p:nvSpPr>
          <p:cNvPr id="44" name="Shape 42"/>
          <p:cNvSpPr/>
          <p:nvPr/>
        </p:nvSpPr>
        <p:spPr>
          <a:xfrm>
            <a:off x="5806440" y="5084064"/>
            <a:ext cx="402336" cy="402336"/>
          </a:xfrm>
          <a:prstGeom prst="ellipse">
            <a:avLst/>
          </a:prstGeom>
          <a:solidFill>
            <a:srgbClr val="C1272D"/>
          </a:solidFill>
          <a:ln w="12700">
            <a:solidFill>
              <a:srgbClr val="C1272D"/>
            </a:solidFill>
            <a:prstDash val="solid"/>
          </a:ln>
        </p:spPr>
      </p:sp>
      <p:sp>
        <p:nvSpPr>
          <p:cNvPr id="45" name="Text 43"/>
          <p:cNvSpPr/>
          <p:nvPr/>
        </p:nvSpPr>
        <p:spPr>
          <a:xfrm>
            <a:off x="5806440" y="50840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6" name="Text 44"/>
          <p:cNvSpPr/>
          <p:nvPr/>
        </p:nvSpPr>
        <p:spPr>
          <a:xfrm>
            <a:off x="6355080" y="5084064"/>
            <a:ext cx="5120640"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Back-propagation</a:t>
            </a:r>
            <a:endParaRPr lang="en-US" sz="1600" dirty="0"/>
          </a:p>
        </p:txBody>
      </p:sp>
      <p:sp>
        <p:nvSpPr>
          <p:cNvPr id="47" name="Text 45"/>
          <p:cNvSpPr/>
          <p:nvPr/>
        </p:nvSpPr>
        <p:spPr>
          <a:xfrm>
            <a:off x="6355080" y="5477256"/>
            <a:ext cx="5166360" cy="777240"/>
          </a:xfrm>
          <a:prstGeom prst="rect">
            <a:avLst/>
          </a:prstGeom>
          <a:noFill/>
          <a:ln/>
        </p:spPr>
        <p:txBody>
          <a:bodyPr wrap="square" lIns="0" tIns="0" rIns="0" bIns="0" rtlCol="0" anchor="t"/>
          <a:lstStyle/>
          <a:p>
            <a:pPr indent="0" marL="0">
              <a:lnSpc>
                <a:spcPct val="105000"/>
              </a:lnSpc>
              <a:buNone/>
            </a:pPr>
            <a:r>
              <a:rPr lang="en-US" sz="1250" dirty="0">
                <a:solidFill>
                  <a:srgbClr val="55607A"/>
                </a:solidFill>
                <a:latin typeface="Calibri" pitchFamily="34" charset="0"/>
                <a:ea typeface="Calibri" pitchFamily="34" charset="-122"/>
                <a:cs typeface="Calibri" pitchFamily="34" charset="-120"/>
              </a:rPr>
              <a:t>Update every node on the path back to the root with the result.</a:t>
            </a:r>
            <a:endParaRPr lang="en-US" sz="12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FIGURE 5.10, AFTER ONE BLACK WIN</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Back-Propagation: The Arithmetic</a:t>
            </a:r>
            <a:endParaRPr lang="en-US" sz="2900" dirty="0"/>
          </a:p>
        </p:txBody>
      </p:sp>
      <p:sp>
        <p:nvSpPr>
          <p:cNvPr id="4" name="Shape 2"/>
          <p:cNvSpPr/>
          <p:nvPr/>
        </p:nvSpPr>
        <p:spPr>
          <a:xfrm>
            <a:off x="2907792" y="1463040"/>
            <a:ext cx="768096" cy="365760"/>
          </a:xfrm>
          <a:prstGeom prst="roundRect">
            <a:avLst>
              <a:gd name="adj" fmla="val 15000"/>
            </a:avLst>
          </a:prstGeom>
          <a:solidFill>
            <a:srgbClr val="DCE6FA"/>
          </a:solidFill>
          <a:ln w="25400">
            <a:solidFill>
              <a:srgbClr val="1F5AC4"/>
            </a:solidFill>
            <a:prstDash val="solid"/>
          </a:ln>
        </p:spPr>
      </p:sp>
      <p:sp>
        <p:nvSpPr>
          <p:cNvPr id="5" name="Text 3"/>
          <p:cNvSpPr/>
          <p:nvPr/>
        </p:nvSpPr>
        <p:spPr>
          <a:xfrm>
            <a:off x="2907792" y="1463040"/>
            <a:ext cx="768096" cy="36576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37/101</a:t>
            </a:r>
            <a:endParaRPr lang="en-US" sz="1200" dirty="0"/>
          </a:p>
        </p:txBody>
      </p:sp>
      <p:sp>
        <p:nvSpPr>
          <p:cNvPr id="6" name="Text 4"/>
          <p:cNvSpPr/>
          <p:nvPr/>
        </p:nvSpPr>
        <p:spPr>
          <a:xfrm>
            <a:off x="3886200" y="1517904"/>
            <a:ext cx="1554480" cy="256032"/>
          </a:xfrm>
          <a:prstGeom prst="rect">
            <a:avLst/>
          </a:prstGeom>
          <a:noFill/>
          <a:ln/>
        </p:spPr>
        <p:txBody>
          <a:bodyPr wrap="square" lIns="0" tIns="0" rIns="0" bIns="0" rtlCol="0" anchor="ctr"/>
          <a:lstStyle/>
          <a:p>
            <a:pPr indent="0" marL="0">
              <a:buNone/>
            </a:pPr>
            <a:r>
              <a:rPr lang="en-US" sz="1100" i="1" dirty="0">
                <a:solidFill>
                  <a:srgbClr val="55607A"/>
                </a:solidFill>
                <a:latin typeface="Calibri" pitchFamily="34" charset="0"/>
                <a:ea typeface="Calibri" pitchFamily="34" charset="-122"/>
                <a:cs typeface="Calibri" pitchFamily="34" charset="-120"/>
              </a:rPr>
              <a:t>wins / playouts</a:t>
            </a:r>
            <a:endParaRPr lang="en-US" sz="1100" dirty="0"/>
          </a:p>
        </p:txBody>
      </p:sp>
      <p:sp>
        <p:nvSpPr>
          <p:cNvPr id="7" name="Shape 5"/>
          <p:cNvSpPr/>
          <p:nvPr/>
        </p:nvSpPr>
        <p:spPr>
          <a:xfrm flipH="1">
            <a:off x="1737360" y="1828800"/>
            <a:ext cx="1554480" cy="548640"/>
          </a:xfrm>
          <a:prstGeom prst="line">
            <a:avLst/>
          </a:prstGeom>
          <a:noFill/>
          <a:ln w="38100">
            <a:solidFill>
              <a:srgbClr val="1F5AC4"/>
            </a:solidFill>
            <a:prstDash val="solid"/>
          </a:ln>
        </p:spPr>
      </p:sp>
      <p:sp>
        <p:nvSpPr>
          <p:cNvPr id="8" name="Shape 6"/>
          <p:cNvSpPr/>
          <p:nvPr/>
        </p:nvSpPr>
        <p:spPr>
          <a:xfrm>
            <a:off x="1353312" y="2377440"/>
            <a:ext cx="768096" cy="365760"/>
          </a:xfrm>
          <a:prstGeom prst="roundRect">
            <a:avLst>
              <a:gd name="adj" fmla="val 15000"/>
            </a:avLst>
          </a:prstGeom>
          <a:solidFill>
            <a:srgbClr val="DCE6FA"/>
          </a:solidFill>
          <a:ln w="25400">
            <a:solidFill>
              <a:srgbClr val="1F5AC4"/>
            </a:solidFill>
            <a:prstDash val="solid"/>
          </a:ln>
        </p:spPr>
      </p:sp>
      <p:sp>
        <p:nvSpPr>
          <p:cNvPr id="9" name="Text 7"/>
          <p:cNvSpPr/>
          <p:nvPr/>
        </p:nvSpPr>
        <p:spPr>
          <a:xfrm>
            <a:off x="1353312" y="2377440"/>
            <a:ext cx="768096" cy="36576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61/80</a:t>
            </a:r>
            <a:endParaRPr lang="en-US" sz="1200" dirty="0"/>
          </a:p>
        </p:txBody>
      </p:sp>
      <p:sp>
        <p:nvSpPr>
          <p:cNvPr id="10" name="Shape 8"/>
          <p:cNvSpPr/>
          <p:nvPr/>
        </p:nvSpPr>
        <p:spPr>
          <a:xfrm>
            <a:off x="3291840" y="1828800"/>
            <a:ext cx="4572" cy="548640"/>
          </a:xfrm>
          <a:prstGeom prst="line">
            <a:avLst/>
          </a:prstGeom>
          <a:noFill/>
          <a:ln w="15875">
            <a:solidFill>
              <a:srgbClr val="55607A"/>
            </a:solidFill>
            <a:prstDash val="solid"/>
          </a:ln>
        </p:spPr>
      </p:sp>
      <p:sp>
        <p:nvSpPr>
          <p:cNvPr id="11" name="Shape 9"/>
          <p:cNvSpPr/>
          <p:nvPr/>
        </p:nvSpPr>
        <p:spPr>
          <a:xfrm>
            <a:off x="2907792" y="2377440"/>
            <a:ext cx="768096" cy="365760"/>
          </a:xfrm>
          <a:prstGeom prst="roundRect">
            <a:avLst>
              <a:gd name="adj" fmla="val 15000"/>
            </a:avLst>
          </a:prstGeom>
          <a:solidFill>
            <a:srgbClr val="EFF3F9"/>
          </a:solidFill>
          <a:ln w="12700">
            <a:solidFill>
              <a:srgbClr val="55607A"/>
            </a:solidFill>
            <a:prstDash val="solid"/>
          </a:ln>
        </p:spPr>
      </p:sp>
      <p:sp>
        <p:nvSpPr>
          <p:cNvPr id="12" name="Text 10"/>
          <p:cNvSpPr/>
          <p:nvPr/>
        </p:nvSpPr>
        <p:spPr>
          <a:xfrm>
            <a:off x="2907792" y="2377440"/>
            <a:ext cx="768096" cy="36576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2/11</a:t>
            </a:r>
            <a:endParaRPr lang="en-US" sz="1200" dirty="0"/>
          </a:p>
        </p:txBody>
      </p:sp>
      <p:sp>
        <p:nvSpPr>
          <p:cNvPr id="13" name="Shape 11"/>
          <p:cNvSpPr/>
          <p:nvPr/>
        </p:nvSpPr>
        <p:spPr>
          <a:xfrm>
            <a:off x="3291840" y="1828800"/>
            <a:ext cx="1554480" cy="548640"/>
          </a:xfrm>
          <a:prstGeom prst="line">
            <a:avLst/>
          </a:prstGeom>
          <a:noFill/>
          <a:ln w="15875">
            <a:solidFill>
              <a:srgbClr val="55607A"/>
            </a:solidFill>
            <a:prstDash val="solid"/>
          </a:ln>
        </p:spPr>
      </p:sp>
      <p:sp>
        <p:nvSpPr>
          <p:cNvPr id="14" name="Shape 12"/>
          <p:cNvSpPr/>
          <p:nvPr/>
        </p:nvSpPr>
        <p:spPr>
          <a:xfrm>
            <a:off x="4462272" y="2377440"/>
            <a:ext cx="768096" cy="365760"/>
          </a:xfrm>
          <a:prstGeom prst="roundRect">
            <a:avLst>
              <a:gd name="adj" fmla="val 15000"/>
            </a:avLst>
          </a:prstGeom>
          <a:solidFill>
            <a:srgbClr val="EFF3F9"/>
          </a:solidFill>
          <a:ln w="12700">
            <a:solidFill>
              <a:srgbClr val="55607A"/>
            </a:solidFill>
            <a:prstDash val="solid"/>
          </a:ln>
        </p:spPr>
      </p:sp>
      <p:sp>
        <p:nvSpPr>
          <p:cNvPr id="15" name="Text 13"/>
          <p:cNvSpPr/>
          <p:nvPr/>
        </p:nvSpPr>
        <p:spPr>
          <a:xfrm>
            <a:off x="4462272" y="2377440"/>
            <a:ext cx="768096" cy="36576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5/10</a:t>
            </a:r>
            <a:endParaRPr lang="en-US" sz="1200" dirty="0"/>
          </a:p>
        </p:txBody>
      </p:sp>
      <p:sp>
        <p:nvSpPr>
          <p:cNvPr id="16" name="Shape 14"/>
          <p:cNvSpPr/>
          <p:nvPr/>
        </p:nvSpPr>
        <p:spPr>
          <a:xfrm flipH="1">
            <a:off x="1051560" y="2743200"/>
            <a:ext cx="685800" cy="548640"/>
          </a:xfrm>
          <a:prstGeom prst="line">
            <a:avLst/>
          </a:prstGeom>
          <a:noFill/>
          <a:ln w="38100">
            <a:solidFill>
              <a:srgbClr val="1F5AC4"/>
            </a:solidFill>
            <a:prstDash val="solid"/>
          </a:ln>
        </p:spPr>
      </p:sp>
      <p:sp>
        <p:nvSpPr>
          <p:cNvPr id="17" name="Shape 15"/>
          <p:cNvSpPr/>
          <p:nvPr/>
        </p:nvSpPr>
        <p:spPr>
          <a:xfrm>
            <a:off x="667512" y="3291840"/>
            <a:ext cx="768096" cy="365760"/>
          </a:xfrm>
          <a:prstGeom prst="roundRect">
            <a:avLst>
              <a:gd name="adj" fmla="val 15000"/>
            </a:avLst>
          </a:prstGeom>
          <a:solidFill>
            <a:srgbClr val="DCE6FA"/>
          </a:solidFill>
          <a:ln w="25400">
            <a:solidFill>
              <a:srgbClr val="1F5AC4"/>
            </a:solidFill>
            <a:prstDash val="solid"/>
          </a:ln>
        </p:spPr>
      </p:sp>
      <p:sp>
        <p:nvSpPr>
          <p:cNvPr id="18" name="Text 16"/>
          <p:cNvSpPr/>
          <p:nvPr/>
        </p:nvSpPr>
        <p:spPr>
          <a:xfrm>
            <a:off x="667512" y="3291840"/>
            <a:ext cx="768096" cy="36576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16/54</a:t>
            </a:r>
            <a:endParaRPr lang="en-US" sz="1200" dirty="0"/>
          </a:p>
        </p:txBody>
      </p:sp>
      <p:sp>
        <p:nvSpPr>
          <p:cNvPr id="19" name="Shape 17"/>
          <p:cNvSpPr/>
          <p:nvPr/>
        </p:nvSpPr>
        <p:spPr>
          <a:xfrm>
            <a:off x="1737360" y="2743200"/>
            <a:ext cx="777240" cy="548640"/>
          </a:xfrm>
          <a:prstGeom prst="line">
            <a:avLst/>
          </a:prstGeom>
          <a:noFill/>
          <a:ln w="15875">
            <a:solidFill>
              <a:srgbClr val="55607A"/>
            </a:solidFill>
            <a:prstDash val="solid"/>
          </a:ln>
        </p:spPr>
      </p:sp>
      <p:sp>
        <p:nvSpPr>
          <p:cNvPr id="20" name="Shape 18"/>
          <p:cNvSpPr/>
          <p:nvPr/>
        </p:nvSpPr>
        <p:spPr>
          <a:xfrm>
            <a:off x="2130552" y="3291840"/>
            <a:ext cx="768096" cy="365760"/>
          </a:xfrm>
          <a:prstGeom prst="roundRect">
            <a:avLst>
              <a:gd name="adj" fmla="val 15000"/>
            </a:avLst>
          </a:prstGeom>
          <a:solidFill>
            <a:srgbClr val="EFF3F9"/>
          </a:solidFill>
          <a:ln w="12700">
            <a:solidFill>
              <a:srgbClr val="55607A"/>
            </a:solidFill>
            <a:prstDash val="solid"/>
          </a:ln>
        </p:spPr>
      </p:sp>
      <p:sp>
        <p:nvSpPr>
          <p:cNvPr id="21" name="Text 19"/>
          <p:cNvSpPr/>
          <p:nvPr/>
        </p:nvSpPr>
        <p:spPr>
          <a:xfrm>
            <a:off x="2130552" y="3291840"/>
            <a:ext cx="768096" cy="36576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11/26</a:t>
            </a:r>
            <a:endParaRPr lang="en-US" sz="1200" dirty="0"/>
          </a:p>
        </p:txBody>
      </p:sp>
      <p:sp>
        <p:nvSpPr>
          <p:cNvPr id="22" name="Shape 20"/>
          <p:cNvSpPr/>
          <p:nvPr/>
        </p:nvSpPr>
        <p:spPr>
          <a:xfrm flipH="1">
            <a:off x="868680" y="3657600"/>
            <a:ext cx="182880" cy="548640"/>
          </a:xfrm>
          <a:prstGeom prst="line">
            <a:avLst/>
          </a:prstGeom>
          <a:noFill/>
          <a:ln w="38100">
            <a:solidFill>
              <a:srgbClr val="1F5AC4"/>
            </a:solidFill>
            <a:prstDash val="solid"/>
          </a:ln>
        </p:spPr>
      </p:sp>
      <p:sp>
        <p:nvSpPr>
          <p:cNvPr id="23" name="Shape 21"/>
          <p:cNvSpPr/>
          <p:nvPr/>
        </p:nvSpPr>
        <p:spPr>
          <a:xfrm>
            <a:off x="484632" y="4206240"/>
            <a:ext cx="768096" cy="365760"/>
          </a:xfrm>
          <a:prstGeom prst="roundRect">
            <a:avLst>
              <a:gd name="adj" fmla="val 15000"/>
            </a:avLst>
          </a:prstGeom>
          <a:solidFill>
            <a:srgbClr val="DCE6FA"/>
          </a:solidFill>
          <a:ln w="25400">
            <a:solidFill>
              <a:srgbClr val="1F5AC4"/>
            </a:solidFill>
            <a:prstDash val="solid"/>
          </a:ln>
        </p:spPr>
      </p:sp>
      <p:sp>
        <p:nvSpPr>
          <p:cNvPr id="24" name="Text 22"/>
          <p:cNvSpPr/>
          <p:nvPr/>
        </p:nvSpPr>
        <p:spPr>
          <a:xfrm>
            <a:off x="484632" y="4206240"/>
            <a:ext cx="768096" cy="365760"/>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28/36</a:t>
            </a:r>
            <a:endParaRPr lang="en-US" sz="1200" dirty="0"/>
          </a:p>
        </p:txBody>
      </p:sp>
      <p:sp>
        <p:nvSpPr>
          <p:cNvPr id="25" name="Shape 23"/>
          <p:cNvSpPr/>
          <p:nvPr/>
        </p:nvSpPr>
        <p:spPr>
          <a:xfrm>
            <a:off x="1051560" y="3657600"/>
            <a:ext cx="914400" cy="548640"/>
          </a:xfrm>
          <a:prstGeom prst="line">
            <a:avLst/>
          </a:prstGeom>
          <a:noFill/>
          <a:ln w="15875">
            <a:solidFill>
              <a:srgbClr val="55607A"/>
            </a:solidFill>
            <a:prstDash val="solid"/>
          </a:ln>
        </p:spPr>
      </p:sp>
      <p:sp>
        <p:nvSpPr>
          <p:cNvPr id="26" name="Shape 24"/>
          <p:cNvSpPr/>
          <p:nvPr/>
        </p:nvSpPr>
        <p:spPr>
          <a:xfrm>
            <a:off x="1581912" y="4206240"/>
            <a:ext cx="768096" cy="365760"/>
          </a:xfrm>
          <a:prstGeom prst="roundRect">
            <a:avLst>
              <a:gd name="adj" fmla="val 15000"/>
            </a:avLst>
          </a:prstGeom>
          <a:solidFill>
            <a:srgbClr val="EFF3F9"/>
          </a:solidFill>
          <a:ln w="12700">
            <a:solidFill>
              <a:srgbClr val="55607A"/>
            </a:solidFill>
            <a:prstDash val="solid"/>
          </a:ln>
        </p:spPr>
      </p:sp>
      <p:sp>
        <p:nvSpPr>
          <p:cNvPr id="27" name="Text 25"/>
          <p:cNvSpPr/>
          <p:nvPr/>
        </p:nvSpPr>
        <p:spPr>
          <a:xfrm>
            <a:off x="1581912" y="4206240"/>
            <a:ext cx="768096" cy="365760"/>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8/18</a:t>
            </a:r>
            <a:endParaRPr lang="en-US" sz="1200" dirty="0"/>
          </a:p>
        </p:txBody>
      </p:sp>
      <p:sp>
        <p:nvSpPr>
          <p:cNvPr id="28" name="Shape 26"/>
          <p:cNvSpPr/>
          <p:nvPr/>
        </p:nvSpPr>
        <p:spPr>
          <a:xfrm>
            <a:off x="5852160" y="1371600"/>
            <a:ext cx="5669280" cy="2331720"/>
          </a:xfrm>
          <a:prstGeom prst="roundRect">
            <a:avLst>
              <a:gd name="adj" fmla="val 3137"/>
            </a:avLst>
          </a:prstGeom>
          <a:solidFill>
            <a:srgbClr val="EFF3F9"/>
          </a:solidFill>
          <a:ln w="12700">
            <a:solidFill>
              <a:srgbClr val="EFF3F9"/>
            </a:solidFill>
            <a:prstDash val="solid"/>
          </a:ln>
        </p:spPr>
      </p:sp>
      <p:sp>
        <p:nvSpPr>
          <p:cNvPr id="29" name="Text 27"/>
          <p:cNvSpPr/>
          <p:nvPr/>
        </p:nvSpPr>
        <p:spPr>
          <a:xfrm>
            <a:off x="6053328" y="1517904"/>
            <a:ext cx="526694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Black won the playout</a:t>
            </a:r>
            <a:endParaRPr lang="en-US" sz="1500" dirty="0"/>
          </a:p>
        </p:txBody>
      </p:sp>
      <p:sp>
        <p:nvSpPr>
          <p:cNvPr id="30" name="Text 28"/>
          <p:cNvSpPr/>
          <p:nvPr/>
        </p:nvSpPr>
        <p:spPr>
          <a:xfrm>
            <a:off x="6053328" y="1865376"/>
            <a:ext cx="5266944" cy="1673352"/>
          </a:xfrm>
          <a:prstGeom prst="rect">
            <a:avLst/>
          </a:prstGeom>
          <a:noFill/>
          <a:ln/>
        </p:spPr>
        <p:txBody>
          <a:bodyPr wrap="square" lIns="0" tIns="0" rIns="0" bIns="0" rtlCol="0" anchor="t"/>
          <a:lstStyle/>
          <a:p>
            <a:pPr indent="0" marL="0">
              <a:lnSpc>
                <a:spcPct val="108000"/>
              </a:lnSpc>
              <a:buNone/>
            </a:pPr>
            <a:r>
              <a:rPr lang="en-US" sz="1350" dirty="0">
                <a:solidFill>
                  <a:srgbClr val="1A1A1A"/>
                </a:solidFill>
                <a:latin typeface="Calibri" pitchFamily="34" charset="0"/>
                <a:ea typeface="Calibri" pitchFamily="34" charset="-122"/>
                <a:cs typeface="Calibri" pitchFamily="34" charset="-120"/>
              </a:rPr>
              <a:t>Black's nodes increment both wins and playouts:</a:t>
            </a:r>
            <a:endParaRPr lang="en-US" sz="1350" dirty="0"/>
          </a:p>
          <a:p>
            <a:pPr indent="0" marL="0">
              <a:lnSpc>
                <a:spcPct val="108000"/>
              </a:lnSpc>
              <a:buNone/>
            </a:pPr>
            <a:r>
              <a:rPr lang="en-US" sz="1350" dirty="0">
                <a:solidFill>
                  <a:srgbClr val="1A1A1A"/>
                </a:solidFill>
                <a:latin typeface="Calibri" pitchFamily="34" charset="0"/>
                <a:ea typeface="Calibri" pitchFamily="34" charset="-122"/>
                <a:cs typeface="Calibri" pitchFamily="34" charset="-120"/>
              </a:rPr>
              <a:t>     27/35  becomes  28/36</a:t>
            </a:r>
            <a:endParaRPr lang="en-US" sz="1350" dirty="0"/>
          </a:p>
          <a:p>
            <a:pPr indent="0" marL="0">
              <a:lnSpc>
                <a:spcPct val="108000"/>
              </a:lnSpc>
              <a:buNone/>
            </a:pPr>
            <a:r>
              <a:rPr lang="en-US" sz="1350" dirty="0">
                <a:solidFill>
                  <a:srgbClr val="1A1A1A"/>
                </a:solidFill>
                <a:latin typeface="Calibri" pitchFamily="34" charset="0"/>
                <a:ea typeface="Calibri" pitchFamily="34" charset="-122"/>
                <a:cs typeface="Calibri" pitchFamily="34" charset="-120"/>
              </a:rPr>
              <a:t>     60/79  becomes  61/80</a:t>
            </a:r>
            <a:endParaRPr lang="en-US" sz="1350" dirty="0"/>
          </a:p>
          <a:p>
            <a:pPr indent="0" marL="0">
              <a:lnSpc>
                <a:spcPct val="108000"/>
              </a:lnSpc>
              <a:buNone/>
            </a:pPr>
            <a:endParaRPr lang="en-US" sz="1350" dirty="0"/>
          </a:p>
          <a:p>
            <a:pPr indent="0" marL="0">
              <a:lnSpc>
                <a:spcPct val="108000"/>
              </a:lnSpc>
              <a:buNone/>
            </a:pPr>
            <a:r>
              <a:rPr lang="en-US" sz="1350" dirty="0">
                <a:solidFill>
                  <a:srgbClr val="1A1A1A"/>
                </a:solidFill>
                <a:latin typeface="Calibri" pitchFamily="34" charset="0"/>
                <a:ea typeface="Calibri" pitchFamily="34" charset="-122"/>
                <a:cs typeface="Calibri" pitchFamily="34" charset="-120"/>
              </a:rPr>
              <a:t>White's nodes increment playouts only:</a:t>
            </a:r>
            <a:endParaRPr lang="en-US" sz="1350" dirty="0"/>
          </a:p>
          <a:p>
            <a:pPr indent="0" marL="0">
              <a:lnSpc>
                <a:spcPct val="108000"/>
              </a:lnSpc>
              <a:buNone/>
            </a:pPr>
            <a:r>
              <a:rPr lang="en-US" sz="1350" dirty="0">
                <a:solidFill>
                  <a:srgbClr val="1A1A1A"/>
                </a:solidFill>
                <a:latin typeface="Calibri" pitchFamily="34" charset="0"/>
                <a:ea typeface="Calibri" pitchFamily="34" charset="-122"/>
                <a:cs typeface="Calibri" pitchFamily="34" charset="-120"/>
              </a:rPr>
              <a:t>     16/53  becomes  16/54</a:t>
            </a:r>
            <a:endParaRPr lang="en-US" sz="1350" dirty="0"/>
          </a:p>
          <a:p>
            <a:pPr indent="0" marL="0">
              <a:lnSpc>
                <a:spcPct val="108000"/>
              </a:lnSpc>
              <a:buNone/>
            </a:pPr>
            <a:r>
              <a:rPr lang="en-US" sz="1350" dirty="0">
                <a:solidFill>
                  <a:srgbClr val="1A1A1A"/>
                </a:solidFill>
                <a:latin typeface="Calibri" pitchFamily="34" charset="0"/>
                <a:ea typeface="Calibri" pitchFamily="34" charset="-122"/>
                <a:cs typeface="Calibri" pitchFamily="34" charset="-120"/>
              </a:rPr>
              <a:t>     37/100 becomes  37/101</a:t>
            </a:r>
            <a:endParaRPr lang="en-US" sz="1350" dirty="0"/>
          </a:p>
        </p:txBody>
      </p:sp>
      <p:sp>
        <p:nvSpPr>
          <p:cNvPr id="31" name="Shape 29"/>
          <p:cNvSpPr/>
          <p:nvPr/>
        </p:nvSpPr>
        <p:spPr>
          <a:xfrm>
            <a:off x="5852160" y="3886200"/>
            <a:ext cx="5669280" cy="1783080"/>
          </a:xfrm>
          <a:prstGeom prst="roundRect">
            <a:avLst>
              <a:gd name="adj" fmla="val 4103"/>
            </a:avLst>
          </a:prstGeom>
          <a:solidFill>
            <a:srgbClr val="DCE6FA"/>
          </a:solidFill>
          <a:ln w="12700">
            <a:solidFill>
              <a:srgbClr val="1F5AC4"/>
            </a:solidFill>
            <a:prstDash val="solid"/>
          </a:ln>
        </p:spPr>
      </p:sp>
      <p:sp>
        <p:nvSpPr>
          <p:cNvPr id="32" name="Text 30"/>
          <p:cNvSpPr/>
          <p:nvPr/>
        </p:nvSpPr>
        <p:spPr>
          <a:xfrm>
            <a:off x="6053328" y="4032504"/>
            <a:ext cx="526694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Then repeat</a:t>
            </a:r>
            <a:endParaRPr lang="en-US" sz="1500" dirty="0"/>
          </a:p>
        </p:txBody>
      </p:sp>
      <p:sp>
        <p:nvSpPr>
          <p:cNvPr id="33" name="Text 31"/>
          <p:cNvSpPr/>
          <p:nvPr/>
        </p:nvSpPr>
        <p:spPr>
          <a:xfrm>
            <a:off x="6053328" y="4379976"/>
            <a:ext cx="5266944" cy="1124712"/>
          </a:xfrm>
          <a:prstGeom prst="rect">
            <a:avLst/>
          </a:prstGeom>
          <a:noFill/>
          <a:ln/>
        </p:spPr>
        <p:txBody>
          <a:bodyPr wrap="square" lIns="0" tIns="0" rIns="0" bIns="0" rtlCol="0" anchor="t"/>
          <a:lstStyle/>
          <a:p>
            <a:pPr indent="0" marL="0">
              <a:lnSpc>
                <a:spcPct val="108000"/>
              </a:lnSpc>
              <a:buNone/>
            </a:pPr>
            <a:r>
              <a:rPr lang="en-US" sz="1350" dirty="0">
                <a:solidFill>
                  <a:srgbClr val="14213D"/>
                </a:solidFill>
                <a:latin typeface="Calibri" pitchFamily="34" charset="0"/>
                <a:ea typeface="Calibri" pitchFamily="34" charset="-122"/>
                <a:cs typeface="Calibri" pitchFamily="34" charset="-120"/>
              </a:rPr>
              <a:t>Run the four steps for a fixed number of iterations or until the time budget expires. Each iteration adds exactly one node to the tree and sharpens the statistics along one path.</a:t>
            </a:r>
            <a:endParaRPr lang="en-US" sz="1350" dirty="0"/>
          </a:p>
        </p:txBody>
      </p:sp>
      <p:sp>
        <p:nvSpPr>
          <p:cNvPr id="34" name="Text 32"/>
          <p:cNvSpPr/>
          <p:nvPr/>
        </p:nvSpPr>
        <p:spPr>
          <a:xfrm>
            <a:off x="566928" y="6327648"/>
            <a:ext cx="10058400" cy="274320"/>
          </a:xfrm>
          <a:prstGeom prst="rect">
            <a:avLst/>
          </a:prstGeom>
          <a:noFill/>
          <a:ln/>
        </p:spPr>
        <p:txBody>
          <a:bodyPr wrap="square" lIns="0" tIns="0" rIns="0" bIns="0" rtlCol="0" anchor="ctr"/>
          <a:lstStyle/>
          <a:p>
            <a:pPr indent="0" marL="0">
              <a:buNone/>
            </a:pPr>
            <a:r>
              <a:rPr lang="en-US" sz="1000" i="1" dirty="0">
                <a:solidFill>
                  <a:srgbClr val="55607A"/>
                </a:solidFill>
                <a:latin typeface="Calibri" pitchFamily="34" charset="0"/>
                <a:ea typeface="Calibri" pitchFamily="34" charset="-122"/>
                <a:cs typeface="Calibri" pitchFamily="34" charset="-120"/>
              </a:rPr>
              <a:t>Every node's statistics are recorded from the point of view of the player who moves into it - which is why the two sides update differently.</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5.4</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UCT: Upper Confidence Bounds Applied to Trees</a:t>
            </a:r>
            <a:endParaRPr lang="en-US" sz="2900" dirty="0"/>
          </a:p>
        </p:txBody>
      </p:sp>
      <p:sp>
        <p:nvSpPr>
          <p:cNvPr id="4" name="Shape 2"/>
          <p:cNvSpPr/>
          <p:nvPr/>
        </p:nvSpPr>
        <p:spPr>
          <a:xfrm>
            <a:off x="640080" y="1325880"/>
            <a:ext cx="10881360" cy="914400"/>
          </a:xfrm>
          <a:prstGeom prst="roundRect">
            <a:avLst>
              <a:gd name="adj" fmla="val 6000"/>
            </a:avLst>
          </a:prstGeom>
          <a:solidFill>
            <a:srgbClr val="14213D"/>
          </a:solidFill>
          <a:ln w="12700">
            <a:solidFill>
              <a:srgbClr val="14213D"/>
            </a:solidFill>
            <a:prstDash val="solid"/>
          </a:ln>
        </p:spPr>
      </p:sp>
      <p:sp>
        <p:nvSpPr>
          <p:cNvPr id="5" name="Text 3"/>
          <p:cNvSpPr/>
          <p:nvPr/>
        </p:nvSpPr>
        <p:spPr>
          <a:xfrm>
            <a:off x="822960" y="1417320"/>
            <a:ext cx="10515600" cy="731520"/>
          </a:xfrm>
          <a:prstGeom prst="rect">
            <a:avLst/>
          </a:prstGeom>
          <a:noFill/>
          <a:ln/>
        </p:spPr>
        <p:txBody>
          <a:bodyPr wrap="square" lIns="0" tIns="0" rIns="0" bIns="0" rtlCol="0" anchor="ctr"/>
          <a:lstStyle/>
          <a:p>
            <a:pPr algn="ct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UCB1(n)  =  U(n) / N(n)   +   C * sqrt( log N(PARENT(n)) / N(n) )</a:t>
            </a:r>
            <a:endParaRPr lang="en-US" sz="1700" dirty="0"/>
          </a:p>
        </p:txBody>
      </p:sp>
      <p:sp>
        <p:nvSpPr>
          <p:cNvPr id="6" name="Shape 4"/>
          <p:cNvSpPr/>
          <p:nvPr/>
        </p:nvSpPr>
        <p:spPr>
          <a:xfrm>
            <a:off x="640080" y="2468880"/>
            <a:ext cx="5349240" cy="1554480"/>
          </a:xfrm>
          <a:prstGeom prst="roundRect">
            <a:avLst>
              <a:gd name="adj" fmla="val 4706"/>
            </a:avLst>
          </a:prstGeom>
          <a:solidFill>
            <a:srgbClr val="DCE6FA"/>
          </a:solidFill>
          <a:ln w="12700">
            <a:solidFill>
              <a:srgbClr val="1F5AC4"/>
            </a:solidFill>
            <a:prstDash val="solid"/>
          </a:ln>
        </p:spPr>
      </p:sp>
      <p:sp>
        <p:nvSpPr>
          <p:cNvPr id="7" name="Text 5"/>
          <p:cNvSpPr/>
          <p:nvPr/>
        </p:nvSpPr>
        <p:spPr>
          <a:xfrm>
            <a:off x="841248" y="261518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Exploitation term:  U(n) / N(n)</a:t>
            </a:r>
            <a:endParaRPr lang="en-US" sz="1500" dirty="0"/>
          </a:p>
        </p:txBody>
      </p:sp>
      <p:sp>
        <p:nvSpPr>
          <p:cNvPr id="8" name="Text 6"/>
          <p:cNvSpPr/>
          <p:nvPr/>
        </p:nvSpPr>
        <p:spPr>
          <a:xfrm>
            <a:off x="841248" y="2962656"/>
            <a:ext cx="4946904" cy="89611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The average utility of n so far. U(n) is the total utility of all playouts through n; N(n) is how many playouts went through n.</a:t>
            </a:r>
            <a:endParaRPr lang="en-US" sz="1300" dirty="0"/>
          </a:p>
        </p:txBody>
      </p:sp>
      <p:sp>
        <p:nvSpPr>
          <p:cNvPr id="9" name="Shape 7"/>
          <p:cNvSpPr/>
          <p:nvPr/>
        </p:nvSpPr>
        <p:spPr>
          <a:xfrm>
            <a:off x="6172200" y="2468880"/>
            <a:ext cx="5349240" cy="1554480"/>
          </a:xfrm>
          <a:prstGeom prst="roundRect">
            <a:avLst>
              <a:gd name="adj" fmla="val 4706"/>
            </a:avLst>
          </a:prstGeom>
          <a:solidFill>
            <a:srgbClr val="FBEFD8"/>
          </a:solidFill>
          <a:ln w="12700">
            <a:solidFill>
              <a:srgbClr val="D98C1F"/>
            </a:solidFill>
            <a:prstDash val="solid"/>
          </a:ln>
        </p:spPr>
      </p:sp>
      <p:sp>
        <p:nvSpPr>
          <p:cNvPr id="10" name="Text 8"/>
          <p:cNvSpPr/>
          <p:nvPr/>
        </p:nvSpPr>
        <p:spPr>
          <a:xfrm>
            <a:off x="6373368" y="261518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Exploration term:  C * sqrt(log N(parent) / N(n))</a:t>
            </a:r>
            <a:endParaRPr lang="en-US" sz="1500" dirty="0"/>
          </a:p>
        </p:txBody>
      </p:sp>
      <p:sp>
        <p:nvSpPr>
          <p:cNvPr id="11" name="Text 9"/>
          <p:cNvSpPr/>
          <p:nvPr/>
        </p:nvSpPr>
        <p:spPr>
          <a:xfrm>
            <a:off x="6373368" y="2962656"/>
            <a:ext cx="4946904" cy="896112"/>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N(n) sits in the denominator, so the term is large for rarely visited nodes. As a node's count grows, the term shrinks toward zero and playouts flow to the best average.</a:t>
            </a:r>
            <a:endParaRPr lang="en-US" sz="1300" dirty="0"/>
          </a:p>
        </p:txBody>
      </p:sp>
      <p:sp>
        <p:nvSpPr>
          <p:cNvPr id="12" name="Text 10"/>
          <p:cNvSpPr/>
          <p:nvPr/>
        </p:nvSpPr>
        <p:spPr>
          <a:xfrm>
            <a:off x="640080" y="4206240"/>
            <a:ext cx="10881360" cy="4572000"/>
          </a:xfrm>
          <a:prstGeom prst="rect">
            <a:avLst/>
          </a:prstGeom>
          <a:noFill/>
          <a:ln/>
        </p:spPr>
        <p:txBody>
          <a:bodyPr wrap="square" lIns="0" tIns="0" rIns="0" bIns="0" rtlCol="0" anchor="t"/>
          <a:lstStyle/>
          <a:p>
            <a:pPr marL="203200" indent="-203200">
              <a:spcAft>
                <a:spcPts val="700"/>
              </a:spcAft>
              <a:buSzPct val="100000"/>
              <a:buChar char="•"/>
            </a:pPr>
            <a:r>
              <a:rPr lang="en-US" sz="1450" dirty="0">
                <a:solidFill>
                  <a:srgbClr val="1A1A1A"/>
                </a:solidFill>
                <a:latin typeface="Calibri" pitchFamily="34" charset="0"/>
                <a:ea typeface="Calibri" pitchFamily="34" charset="-122"/>
                <a:cs typeface="Calibri" pitchFamily="34" charset="-120"/>
              </a:rPr>
              <a:t>C balances the two. There is a theoretical argument for C = sqrt(2), but in practice programmers try several values and keep whichever performs best.</a:t>
            </a:r>
            <a:endParaRPr lang="en-US" sz="1450" dirty="0"/>
          </a:p>
          <a:p>
            <a:pPr marL="203200" indent="-203200">
              <a:spcAft>
                <a:spcPts val="700"/>
              </a:spcAft>
              <a:buSzPct val="100000"/>
              <a:buChar char="•"/>
            </a:pPr>
            <a:r>
              <a:rPr lang="en-US" sz="1450" b="1" dirty="0">
                <a:solidFill>
                  <a:srgbClr val="1A1A1A"/>
                </a:solidFill>
                <a:latin typeface="Calibri" pitchFamily="34" charset="0"/>
                <a:ea typeface="Calibri" pitchFamily="34" charset="-122"/>
                <a:cs typeface="Calibri" pitchFamily="34" charset="-120"/>
              </a:rPr>
              <a:t>In the tree we just traced: with C = 1.4 the 60/79 node has the highest UCB1 score. With C = 1.5 the 2/11 node wins instead - a small change in one constant redirects the entire search.</a:t>
            </a:r>
            <a:endParaRPr lang="en-US" sz="1450" dirty="0"/>
          </a:p>
          <a:p>
            <a:pPr marL="203200" indent="-203200">
              <a:spcAft>
                <a:spcPts val="700"/>
              </a:spcAft>
              <a:buSzPct val="100000"/>
              <a:buChar char="•"/>
            </a:pPr>
            <a:r>
              <a:rPr lang="en-US" sz="1450" dirty="0">
                <a:solidFill>
                  <a:srgbClr val="1A1A1A"/>
                </a:solidFill>
                <a:latin typeface="Calibri" pitchFamily="34" charset="0"/>
                <a:ea typeface="Calibri" pitchFamily="34" charset="-122"/>
                <a:cs typeface="Calibri" pitchFamily="34" charset="-120"/>
              </a:rPr>
              <a:t>AlphaZero adds a move-probability term supplied by a neural network trained on self-play.</a:t>
            </a:r>
            <a:endParaRPr lang="en-US" sz="14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5.4</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Which Move Do We Actually Play?</a:t>
            </a:r>
            <a:endParaRPr lang="en-US" sz="2900" dirty="0"/>
          </a:p>
        </p:txBody>
      </p:sp>
      <p:sp>
        <p:nvSpPr>
          <p:cNvPr id="4" name="Shape 2"/>
          <p:cNvSpPr/>
          <p:nvPr/>
        </p:nvSpPr>
        <p:spPr>
          <a:xfrm>
            <a:off x="640080" y="1417320"/>
            <a:ext cx="5349240" cy="2011680"/>
          </a:xfrm>
          <a:prstGeom prst="roundRect">
            <a:avLst>
              <a:gd name="adj" fmla="val 3636"/>
            </a:avLst>
          </a:prstGeom>
          <a:solidFill>
            <a:srgbClr val="DCE6FA"/>
          </a:solidFill>
          <a:ln w="12700">
            <a:solidFill>
              <a:srgbClr val="1F5AC4"/>
            </a:solidFill>
            <a:prstDash val="solid"/>
          </a:ln>
        </p:spPr>
      </p:sp>
      <p:sp>
        <p:nvSpPr>
          <p:cNvPr id="5" name="Text 3"/>
          <p:cNvSpPr/>
          <p:nvPr/>
        </p:nvSpPr>
        <p:spPr>
          <a:xfrm>
            <a:off x="841248" y="156362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Return the move with the most playouts</a:t>
            </a:r>
            <a:endParaRPr lang="en-US" sz="1500" dirty="0"/>
          </a:p>
        </p:txBody>
      </p:sp>
      <p:sp>
        <p:nvSpPr>
          <p:cNvPr id="6" name="Text 4"/>
          <p:cNvSpPr/>
          <p:nvPr/>
        </p:nvSpPr>
        <p:spPr>
          <a:xfrm>
            <a:off x="841248" y="1911096"/>
            <a:ext cx="4946904" cy="135331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Not the one with the highest average utility. A node with 65 wins in 100 playouts is a better bet than one with 2 wins in 3, because the second carries far more uncertainty.</a:t>
            </a:r>
            <a:endParaRPr lang="en-US" sz="1300" dirty="0"/>
          </a:p>
        </p:txBody>
      </p:sp>
      <p:sp>
        <p:nvSpPr>
          <p:cNvPr id="7" name="Shape 5"/>
          <p:cNvSpPr/>
          <p:nvPr/>
        </p:nvSpPr>
        <p:spPr>
          <a:xfrm>
            <a:off x="6172200" y="1417320"/>
            <a:ext cx="5349240" cy="2011680"/>
          </a:xfrm>
          <a:prstGeom prst="roundRect">
            <a:avLst>
              <a:gd name="adj" fmla="val 3636"/>
            </a:avLst>
          </a:prstGeom>
          <a:solidFill>
            <a:srgbClr val="EFF3F9"/>
          </a:solidFill>
          <a:ln w="12700">
            <a:solidFill>
              <a:srgbClr val="EFF3F9"/>
            </a:solidFill>
            <a:prstDash val="solid"/>
          </a:ln>
        </p:spPr>
      </p:sp>
      <p:sp>
        <p:nvSpPr>
          <p:cNvPr id="8" name="Text 6"/>
          <p:cNvSpPr/>
          <p:nvPr/>
        </p:nvSpPr>
        <p:spPr>
          <a:xfrm>
            <a:off x="6373368" y="156362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The two criteria converge anyway</a:t>
            </a:r>
            <a:endParaRPr lang="en-US" sz="1500" dirty="0"/>
          </a:p>
        </p:txBody>
      </p:sp>
      <p:sp>
        <p:nvSpPr>
          <p:cNvPr id="9" name="Text 7"/>
          <p:cNvSpPr/>
          <p:nvPr/>
        </p:nvSpPr>
        <p:spPr>
          <a:xfrm>
            <a:off x="6373368" y="1911096"/>
            <a:ext cx="4946904" cy="135331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UCB1 favors win percentage more and more as counts rise, so the most-visited node is almost always the highest-percentage node as well. Choosing by visits simply avoids being fooled early.</a:t>
            </a:r>
            <a:endParaRPr lang="en-US" sz="1300" dirty="0"/>
          </a:p>
        </p:txBody>
      </p:sp>
      <p:sp>
        <p:nvSpPr>
          <p:cNvPr id="10" name="Shape 8"/>
          <p:cNvSpPr/>
          <p:nvPr/>
        </p:nvSpPr>
        <p:spPr>
          <a:xfrm>
            <a:off x="640080" y="3657600"/>
            <a:ext cx="10881360" cy="960120"/>
          </a:xfrm>
          <a:prstGeom prst="roundRect">
            <a:avLst>
              <a:gd name="adj" fmla="val 5714"/>
            </a:avLst>
          </a:prstGeom>
          <a:solidFill>
            <a:srgbClr val="14213D"/>
          </a:solidFill>
          <a:ln w="12700">
            <a:solidFill>
              <a:srgbClr val="14213D"/>
            </a:solidFill>
            <a:prstDash val="solid"/>
          </a:ln>
        </p:spPr>
      </p:sp>
      <p:sp>
        <p:nvSpPr>
          <p:cNvPr id="11" name="Text 9"/>
          <p:cNvSpPr/>
          <p:nvPr/>
        </p:nvSpPr>
        <p:spPr>
          <a:xfrm>
            <a:off x="822960" y="3749040"/>
            <a:ext cx="10515600" cy="777240"/>
          </a:xfrm>
          <a:prstGeom prst="rect">
            <a:avLst/>
          </a:prstGeom>
          <a:noFill/>
          <a:ln/>
        </p:spPr>
        <p:txBody>
          <a:bodyPr wrap="square" lIns="0" tIns="0" rIns="0" bIns="0" rtlCol="0" anchor="ctr"/>
          <a:lstStyle/>
          <a:p>
            <a:pPr algn="ctr" indent="0" marL="0">
              <a:lnSpc>
                <a:spcPct val="115000"/>
              </a:lnSpc>
              <a:buNone/>
            </a:pPr>
            <a:r>
              <a:rPr lang="en-US" sz="1600" dirty="0">
                <a:solidFill>
                  <a:srgbClr val="FFFFFF"/>
                </a:solidFill>
                <a:latin typeface="Cambria" pitchFamily="34" charset="0"/>
                <a:ea typeface="Cambria" pitchFamily="34" charset="-122"/>
                <a:cs typeface="Cambria" pitchFamily="34" charset="-120"/>
              </a:rPr>
              <a:t>The cost of a playout is linear in the depth of the game tree, not exponential -</a:t>
            </a:r>
            <a:endParaRPr lang="en-US" sz="1600" dirty="0"/>
          </a:p>
          <a:p>
            <a:pPr algn="ctr" indent="0" marL="0">
              <a:lnSpc>
                <a:spcPct val="115000"/>
              </a:lnSpc>
              <a:buNone/>
            </a:pPr>
            <a:r>
              <a:rPr lang="en-US" sz="1600" dirty="0">
                <a:solidFill>
                  <a:srgbClr val="FFFFFF"/>
                </a:solidFill>
                <a:latin typeface="Cambria" pitchFamily="34" charset="0"/>
                <a:ea typeface="Cambria" pitchFamily="34" charset="-122"/>
                <a:cs typeface="Cambria" pitchFamily="34" charset="-120"/>
              </a:rPr>
              <a:t>only one move is taken at each choice point.</a:t>
            </a:r>
            <a:endParaRPr lang="en-US" sz="1600" dirty="0"/>
          </a:p>
        </p:txBody>
      </p:sp>
      <p:sp>
        <p:nvSpPr>
          <p:cNvPr id="12" name="Text 10"/>
          <p:cNvSpPr/>
          <p:nvPr/>
        </p:nvSpPr>
        <p:spPr>
          <a:xfrm>
            <a:off x="640080" y="4800600"/>
            <a:ext cx="10881360" cy="4572000"/>
          </a:xfrm>
          <a:prstGeom prst="rect">
            <a:avLst/>
          </a:prstGeom>
          <a:noFill/>
          <a:ln/>
        </p:spPr>
        <p:txBody>
          <a:bodyPr wrap="square" lIns="0" tIns="0" rIns="0" bIns="0" rtlCol="0" anchor="t"/>
          <a:lstStyle/>
          <a:p>
            <a:pPr marL="203200" indent="-203200">
              <a:spcAft>
                <a:spcPts val="700"/>
              </a:spcAft>
              <a:buSzPct val="100000"/>
              <a:buChar char="•"/>
            </a:pPr>
            <a:r>
              <a:rPr lang="en-US" sz="1500" dirty="0">
                <a:solidFill>
                  <a:srgbClr val="1A1A1A"/>
                </a:solidFill>
                <a:latin typeface="Calibri" pitchFamily="34" charset="0"/>
                <a:ea typeface="Calibri" pitchFamily="34" charset="-122"/>
                <a:cs typeface="Calibri" pitchFamily="34" charset="-120"/>
              </a:rPr>
              <a:t>That linearity is the whole reason this is affordable. Alpha-beta pays b^(m/2); a playout pays m.</a:t>
            </a:r>
            <a:endParaRPr lang="en-US" sz="1500" dirty="0"/>
          </a:p>
          <a:p>
            <a:pPr marL="203200" indent="-203200">
              <a:spcAft>
                <a:spcPts val="700"/>
              </a:spcAft>
              <a:buSzPct val="100000"/>
              <a:buChar char="•"/>
            </a:pPr>
            <a:r>
              <a:rPr lang="en-US" sz="1500" dirty="0">
                <a:solidFill>
                  <a:srgbClr val="1A1A1A"/>
                </a:solidFill>
                <a:latin typeface="Calibri" pitchFamily="34" charset="0"/>
                <a:ea typeface="Calibri" pitchFamily="34" charset="-122"/>
                <a:cs typeface="Calibri" pitchFamily="34" charset="-120"/>
              </a:rPr>
              <a:t>It also means MCTS degrades gracefully: stop at any moment and you still have a usable answer, exactly like iterative deepening.</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5.4</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MCTS Versus Alpha-Beta</a:t>
            </a:r>
            <a:endParaRPr lang="en-US" sz="2900" dirty="0"/>
          </a:p>
        </p:txBody>
      </p:sp>
      <p:sp>
        <p:nvSpPr>
          <p:cNvPr id="4" name="Shape 2"/>
          <p:cNvSpPr/>
          <p:nvPr/>
        </p:nvSpPr>
        <p:spPr>
          <a:xfrm>
            <a:off x="640080" y="1371600"/>
            <a:ext cx="10881360" cy="914400"/>
          </a:xfrm>
          <a:prstGeom prst="roundRect">
            <a:avLst>
              <a:gd name="adj" fmla="val 8000"/>
            </a:avLst>
          </a:prstGeom>
          <a:solidFill>
            <a:srgbClr val="EFF3F9"/>
          </a:solidFill>
          <a:ln w="12700">
            <a:solidFill>
              <a:srgbClr val="EFF3F9"/>
            </a:solidFill>
            <a:prstDash val="solid"/>
          </a:ln>
        </p:spPr>
      </p:sp>
      <p:sp>
        <p:nvSpPr>
          <p:cNvPr id="5" name="Text 3"/>
          <p:cNvSpPr/>
          <p:nvPr/>
        </p:nvSpPr>
        <p:spPr>
          <a:xfrm>
            <a:off x="841248" y="1536192"/>
            <a:ext cx="10479024" cy="585216"/>
          </a:xfrm>
          <a:prstGeom prst="rect">
            <a:avLst/>
          </a:prstGeom>
          <a:noFill/>
          <a:ln/>
        </p:spPr>
        <p:txBody>
          <a:bodyPr wrap="square" lIns="0" tIns="0" rIns="0" bIns="0" rtlCol="0" anchor="t"/>
          <a:lstStyle/>
          <a:p>
            <a:pPr indent="0" marL="0">
              <a:lnSpc>
                <a:spcPct val="108000"/>
              </a:lnSpc>
              <a:buNone/>
            </a:pPr>
            <a:r>
              <a:rPr lang="en-US" sz="1400" dirty="0">
                <a:solidFill>
                  <a:srgbClr val="1A1A1A"/>
                </a:solidFill>
                <a:latin typeface="Calibri" pitchFamily="34" charset="0"/>
                <a:ea typeface="Calibri" pitchFamily="34" charset="-122"/>
                <a:cs typeface="Calibri" pitchFamily="34" charset="-120"/>
              </a:rPr>
              <a:t>A game with branching factor 32 and average length 100 ply, and a budget of one billion game states per move:</a:t>
            </a:r>
            <a:endParaRPr lang="en-US" sz="1400" dirty="0"/>
          </a:p>
          <a:p>
            <a:pPr indent="0" marL="0">
              <a:lnSpc>
                <a:spcPct val="108000"/>
              </a:lnSpc>
              <a:buNone/>
            </a:pPr>
            <a:r>
              <a:rPr lang="en-US" sz="1400" dirty="0">
                <a:solidFill>
                  <a:srgbClr val="1A1A1A"/>
                </a:solidFill>
                <a:latin typeface="Calibri" pitchFamily="34" charset="0"/>
                <a:ea typeface="Calibri" pitchFamily="34" charset="-122"/>
                <a:cs typeface="Calibri" pitchFamily="34" charset="-120"/>
              </a:rPr>
              <a:t>      minimax reaches 6 ply      alpha-beta with perfect ordering reaches 12 ply      Monte Carlo does 10 million playouts.</a:t>
            </a:r>
            <a:endParaRPr lang="en-US" sz="1400" dirty="0"/>
          </a:p>
        </p:txBody>
      </p:sp>
      <p:sp>
        <p:nvSpPr>
          <p:cNvPr id="6" name="Shape 4"/>
          <p:cNvSpPr/>
          <p:nvPr/>
        </p:nvSpPr>
        <p:spPr>
          <a:xfrm>
            <a:off x="640080" y="2514600"/>
            <a:ext cx="5349240" cy="2331720"/>
          </a:xfrm>
          <a:prstGeom prst="roundRect">
            <a:avLst>
              <a:gd name="adj" fmla="val 3137"/>
            </a:avLst>
          </a:prstGeom>
          <a:solidFill>
            <a:srgbClr val="DCE6FA"/>
          </a:solidFill>
          <a:ln w="12700">
            <a:solidFill>
              <a:srgbClr val="1F5AC4"/>
            </a:solidFill>
            <a:prstDash val="solid"/>
          </a:ln>
        </p:spPr>
      </p:sp>
      <p:sp>
        <p:nvSpPr>
          <p:cNvPr id="7" name="Text 5"/>
          <p:cNvSpPr/>
          <p:nvPr/>
        </p:nvSpPr>
        <p:spPr>
          <a:xfrm>
            <a:off x="841248" y="2660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MCTS is stronger when</a:t>
            </a:r>
            <a:endParaRPr lang="en-US" sz="1500" dirty="0"/>
          </a:p>
        </p:txBody>
      </p:sp>
      <p:sp>
        <p:nvSpPr>
          <p:cNvPr id="8" name="Text 6"/>
          <p:cNvSpPr/>
          <p:nvPr/>
        </p:nvSpPr>
        <p:spPr>
          <a:xfrm>
            <a:off x="841248" y="3008376"/>
            <a:ext cx="4946904" cy="1673352"/>
          </a:xfrm>
          <a:prstGeom prst="rect">
            <a:avLst/>
          </a:prstGeom>
          <a:noFill/>
          <a:ln/>
        </p:spPr>
        <p:txBody>
          <a:bodyPr wrap="square" lIns="0" tIns="0" rIns="0" bIns="0" rtlCol="0" anchor="t"/>
          <a:lstStyle/>
          <a:p>
            <a:pPr indent="0" marL="0">
              <a:lnSpc>
                <a:spcPct val="108000"/>
              </a:lnSpc>
              <a:buNone/>
            </a:pPr>
            <a:r>
              <a:rPr lang="en-US" sz="1250" dirty="0">
                <a:solidFill>
                  <a:srgbClr val="14213D"/>
                </a:solidFill>
                <a:latin typeface="Calibri" pitchFamily="34" charset="0"/>
                <a:ea typeface="Calibri" pitchFamily="34" charset="-122"/>
                <a:cs typeface="Calibri" pitchFamily="34" charset="-120"/>
              </a:rPr>
              <a:t>The branching factor is very high, so alpha-beta cannot search deep enough.</a:t>
            </a:r>
            <a:endParaRPr lang="en-US" sz="1250" dirty="0"/>
          </a:p>
          <a:p>
            <a:pPr indent="0" marL="0">
              <a:lnSpc>
                <a:spcPct val="108000"/>
              </a:lnSpc>
              <a:buNone/>
            </a:pPr>
            <a:endParaRPr lang="en-US" sz="1250" dirty="0"/>
          </a:p>
          <a:p>
            <a:pPr indent="0" marL="0">
              <a:lnSpc>
                <a:spcPct val="108000"/>
              </a:lnSpc>
              <a:buNone/>
            </a:pPr>
            <a:r>
              <a:rPr lang="en-US" sz="1250" dirty="0">
                <a:solidFill>
                  <a:srgbClr val="14213D"/>
                </a:solidFill>
                <a:latin typeface="Calibri" pitchFamily="34" charset="0"/>
                <a:ea typeface="Calibri" pitchFamily="34" charset="-122"/>
                <a:cs typeface="Calibri" pitchFamily="34" charset="-120"/>
              </a:rPr>
              <a:t>A good evaluation function is hard to define, or the game is brand new and there is no body of experience to draw on. MCTS needs only the rules.</a:t>
            </a:r>
            <a:endParaRPr lang="en-US" sz="1250" dirty="0"/>
          </a:p>
          <a:p>
            <a:pPr indent="0" marL="0">
              <a:lnSpc>
                <a:spcPct val="108000"/>
              </a:lnSpc>
              <a:buNone/>
            </a:pPr>
            <a:endParaRPr lang="en-US" sz="1250" dirty="0"/>
          </a:p>
          <a:p>
            <a:pPr indent="0" marL="0">
              <a:lnSpc>
                <a:spcPct val="108000"/>
              </a:lnSpc>
              <a:buNone/>
            </a:pPr>
            <a:r>
              <a:rPr lang="en-US" sz="1250" dirty="0">
                <a:solidFill>
                  <a:srgbClr val="14213D"/>
                </a:solidFill>
                <a:latin typeface="Calibri" pitchFamily="34" charset="0"/>
                <a:ea typeface="Calibri" pitchFamily="34" charset="-122"/>
                <a:cs typeface="Calibri" pitchFamily="34" charset="-120"/>
              </a:rPr>
              <a:t>Evaluation is noisy: MCTS aggregates many playouts and is not derailed by one bad estimate, whereas a single miscalculation can send alpha-beta down the wrong path.</a:t>
            </a:r>
            <a:endParaRPr lang="en-US" sz="1250" dirty="0"/>
          </a:p>
        </p:txBody>
      </p:sp>
      <p:sp>
        <p:nvSpPr>
          <p:cNvPr id="9" name="Shape 7"/>
          <p:cNvSpPr/>
          <p:nvPr/>
        </p:nvSpPr>
        <p:spPr>
          <a:xfrm>
            <a:off x="6172200" y="2514600"/>
            <a:ext cx="5349240" cy="2331720"/>
          </a:xfrm>
          <a:prstGeom prst="roundRect">
            <a:avLst>
              <a:gd name="adj" fmla="val 3137"/>
            </a:avLst>
          </a:prstGeom>
          <a:solidFill>
            <a:srgbClr val="F7DEDF"/>
          </a:solidFill>
          <a:ln w="12700">
            <a:solidFill>
              <a:srgbClr val="C1272D"/>
            </a:solidFill>
            <a:prstDash val="solid"/>
          </a:ln>
        </p:spPr>
      </p:sp>
      <p:sp>
        <p:nvSpPr>
          <p:cNvPr id="10" name="Text 8"/>
          <p:cNvSpPr/>
          <p:nvPr/>
        </p:nvSpPr>
        <p:spPr>
          <a:xfrm>
            <a:off x="6373368" y="2660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MCTS is weaker when</a:t>
            </a:r>
            <a:endParaRPr lang="en-US" sz="1500" dirty="0"/>
          </a:p>
        </p:txBody>
      </p:sp>
      <p:sp>
        <p:nvSpPr>
          <p:cNvPr id="11" name="Text 9"/>
          <p:cNvSpPr/>
          <p:nvPr/>
        </p:nvSpPr>
        <p:spPr>
          <a:xfrm>
            <a:off x="6373368" y="3008376"/>
            <a:ext cx="4946904" cy="1673352"/>
          </a:xfrm>
          <a:prstGeom prst="rect">
            <a:avLst/>
          </a:prstGeom>
          <a:noFill/>
          <a:ln/>
        </p:spPr>
        <p:txBody>
          <a:bodyPr wrap="square" lIns="0" tIns="0" rIns="0" bIns="0" rtlCol="0" anchor="t"/>
          <a:lstStyle/>
          <a:p>
            <a:pPr indent="0" marL="0">
              <a:lnSpc>
                <a:spcPct val="108000"/>
              </a:lnSpc>
              <a:buNone/>
            </a:pPr>
            <a:r>
              <a:rPr lang="en-US" sz="1250" dirty="0">
                <a:solidFill>
                  <a:srgbClr val="1A1A1A"/>
                </a:solidFill>
                <a:latin typeface="Calibri" pitchFamily="34" charset="0"/>
                <a:ea typeface="Calibri" pitchFamily="34" charset="-122"/>
                <a:cs typeface="Calibri" pitchFamily="34" charset="-120"/>
              </a:rPr>
              <a:t>A single move can change the course of the game. Sampling may never consider it - Type B pruning means a vital line might go unexplored.</a:t>
            </a:r>
            <a:endParaRPr lang="en-US" sz="1250" dirty="0"/>
          </a:p>
          <a:p>
            <a:pPr indent="0" marL="0">
              <a:lnSpc>
                <a:spcPct val="108000"/>
              </a:lnSpc>
              <a:buNone/>
            </a:pPr>
            <a:endParaRPr lang="en-US" sz="1250" dirty="0"/>
          </a:p>
          <a:p>
            <a:pPr indent="0" marL="0">
              <a:lnSpc>
                <a:spcPct val="108000"/>
              </a:lnSpc>
              <a:buNone/>
            </a:pPr>
            <a:r>
              <a:rPr lang="en-US" sz="1250" dirty="0">
                <a:solidFill>
                  <a:srgbClr val="1A1A1A"/>
                </a:solidFill>
                <a:latin typeface="Calibri" pitchFamily="34" charset="0"/>
                <a:ea typeface="Calibri" pitchFamily="34" charset="-122"/>
                <a:cs typeface="Calibri" pitchFamily="34" charset="-120"/>
              </a:rPr>
              <a:t>A position is obviously winning to a human or an evaluation function, but a playout still needs many moves to confirm it.</a:t>
            </a:r>
            <a:endParaRPr lang="en-US" sz="1250" dirty="0"/>
          </a:p>
          <a:p>
            <a:pPr indent="0" marL="0">
              <a:lnSpc>
                <a:spcPct val="108000"/>
              </a:lnSpc>
              <a:buNone/>
            </a:pPr>
            <a:endParaRPr lang="en-US" sz="1250" dirty="0"/>
          </a:p>
          <a:p>
            <a:pPr indent="0" marL="0">
              <a:lnSpc>
                <a:spcPct val="108000"/>
              </a:lnSpc>
              <a:buNone/>
            </a:pPr>
            <a:r>
              <a:rPr lang="en-US" sz="1250" dirty="0">
                <a:solidFill>
                  <a:srgbClr val="1A1A1A"/>
                </a:solidFill>
                <a:latin typeface="Calibri" pitchFamily="34" charset="0"/>
                <a:ea typeface="Calibri" pitchFamily="34" charset="-122"/>
                <a:cs typeface="Calibri" pitchFamily="34" charset="-120"/>
              </a:rPr>
              <a:t>The old rule of thumb - alpha-beta for low branching factors - has eroded: Monte Carlo now succeeds in chess too.</a:t>
            </a:r>
            <a:endParaRPr lang="en-US" sz="1250" dirty="0"/>
          </a:p>
        </p:txBody>
      </p:sp>
      <p:sp>
        <p:nvSpPr>
          <p:cNvPr id="12" name="Text 10"/>
          <p:cNvSpPr/>
          <p:nvPr/>
        </p:nvSpPr>
        <p:spPr>
          <a:xfrm>
            <a:off x="640080" y="5029200"/>
            <a:ext cx="10881360" cy="4572000"/>
          </a:xfrm>
          <a:prstGeom prst="rect">
            <a:avLst/>
          </a:prstGeom>
          <a:noFill/>
          <a:ln/>
        </p:spPr>
        <p:txBody>
          <a:bodyPr wrap="square" lIns="0" tIns="0" rIns="0" bIns="0" rtlCol="0" anchor="t"/>
          <a:lstStyle/>
          <a:p>
            <a:pPr marL="203200" indent="-203200">
              <a:spcAft>
                <a:spcPts val="500"/>
              </a:spcAft>
              <a:buSzPct val="100000"/>
              <a:buChar char="•"/>
            </a:pPr>
            <a:r>
              <a:rPr lang="en-US" sz="1450" dirty="0">
                <a:solidFill>
                  <a:srgbClr val="1A1A1A"/>
                </a:solidFill>
                <a:latin typeface="Calibri" pitchFamily="34" charset="0"/>
                <a:ea typeface="Calibri" pitchFamily="34" charset="-122"/>
                <a:cs typeface="Calibri" pitchFamily="34" charset="-120"/>
              </a:rPr>
              <a:t>Hybrids are common: truncate a playout after some moves and apply an evaluation function, or use early playout termination to stop an overlong playout and score it as a draw.</a:t>
            </a:r>
            <a:endParaRPr lang="en-US" sz="1450" dirty="0"/>
          </a:p>
          <a:p>
            <a:pPr marL="203200" indent="-203200">
              <a:spcAft>
                <a:spcPts val="500"/>
              </a:spcAft>
              <a:buSzPct val="100000"/>
              <a:buChar char="•"/>
            </a:pPr>
            <a:r>
              <a:rPr lang="en-US" sz="1450" dirty="0">
                <a:solidFill>
                  <a:srgbClr val="1A1A1A"/>
                </a:solidFill>
                <a:latin typeface="Calibri" pitchFamily="34" charset="0"/>
                <a:ea typeface="Calibri" pitchFamily="34" charset="-122"/>
                <a:cs typeface="Calibri" pitchFamily="34" charset="-120"/>
              </a:rPr>
              <a:t>Simulating forward, observing the outcome, and using it to judge moves is a form of reinforcement learning - Chapter 22.</a:t>
            </a:r>
            <a:endParaRPr lang="en-US" sz="14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331720"/>
            <a:ext cx="914400" cy="914400"/>
          </a:xfrm>
          <a:prstGeom prst="ellipse">
            <a:avLst/>
          </a:prstGeom>
          <a:solidFill>
            <a:srgbClr val="D98C1F"/>
          </a:solidFill>
          <a:ln w="12700">
            <a:solidFill>
              <a:srgbClr val="D98C1F"/>
            </a:solidFill>
            <a:prstDash val="solid"/>
          </a:ln>
        </p:spPr>
      </p:sp>
      <p:sp>
        <p:nvSpPr>
          <p:cNvPr id="3" name="Text 1"/>
          <p:cNvSpPr/>
          <p:nvPr/>
        </p:nvSpPr>
        <p:spPr>
          <a:xfrm>
            <a:off x="822960" y="2331720"/>
            <a:ext cx="914400" cy="914400"/>
          </a:xfrm>
          <a:prstGeom prst="rect">
            <a:avLst/>
          </a:prstGeom>
          <a:noFill/>
          <a:ln/>
        </p:spPr>
        <p:txBody>
          <a:bodyPr wrap="square" lIns="0" tIns="0" rIns="0" bIns="0" rtlCol="0" anchor="ctr"/>
          <a:lstStyle/>
          <a:p>
            <a:pPr algn="ctr" indent="0" marL="0">
              <a:buNone/>
            </a:pPr>
            <a:r>
              <a:rPr lang="en-US" sz="3400" b="1" dirty="0">
                <a:solidFill>
                  <a:srgbClr val="14213D"/>
                </a:solidFill>
                <a:latin typeface="Cambria" pitchFamily="34" charset="0"/>
                <a:ea typeface="Cambria" pitchFamily="34" charset="-122"/>
                <a:cs typeface="Cambria" pitchFamily="34" charset="-120"/>
              </a:rPr>
              <a:t>6</a:t>
            </a:r>
            <a:endParaRPr lang="en-US" sz="3400" dirty="0"/>
          </a:p>
        </p:txBody>
      </p:sp>
      <p:sp>
        <p:nvSpPr>
          <p:cNvPr id="4" name="Text 2"/>
          <p:cNvSpPr/>
          <p:nvPr/>
        </p:nvSpPr>
        <p:spPr>
          <a:xfrm>
            <a:off x="2057400" y="2194560"/>
            <a:ext cx="841248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Stochastic Games</a:t>
            </a:r>
            <a:endParaRPr lang="en-US" sz="3800" dirty="0"/>
          </a:p>
        </p:txBody>
      </p:sp>
      <p:sp>
        <p:nvSpPr>
          <p:cNvPr id="5" name="Text 3"/>
          <p:cNvSpPr/>
          <p:nvPr/>
        </p:nvSpPr>
        <p:spPr>
          <a:xfrm>
            <a:off x="2103120" y="3017520"/>
            <a:ext cx="8412480" cy="822960"/>
          </a:xfrm>
          <a:prstGeom prst="rect">
            <a:avLst/>
          </a:prstGeom>
          <a:noFill/>
          <a:ln/>
        </p:spPr>
        <p:txBody>
          <a:bodyPr wrap="square" lIns="0" tIns="0" rIns="0" bIns="0" rtlCol="0" anchor="t"/>
          <a:lstStyle/>
          <a:p>
            <a:pPr indent="0" marL="0">
              <a:lnSpc>
                <a:spcPct val="120000"/>
              </a:lnSpc>
              <a:buNone/>
            </a:pPr>
            <a:r>
              <a:rPr lang="en-US" sz="1600" dirty="0">
                <a:solidFill>
                  <a:srgbClr val="DCE6FA"/>
                </a:solidFill>
                <a:latin typeface="Calibri" pitchFamily="34" charset="0"/>
                <a:ea typeface="Calibri" pitchFamily="34" charset="-122"/>
                <a:cs typeface="Calibri" pitchFamily="34" charset="-120"/>
              </a:rPr>
              <a:t>Adding chance nodes, and what dice do to both the algorithm and the evaluation function.</a:t>
            </a:r>
            <a:endParaRPr lang="en-US" sz="1600" dirty="0"/>
          </a:p>
        </p:txBody>
      </p:sp>
      <p:sp>
        <p:nvSpPr>
          <p:cNvPr id="6" name="Text 4"/>
          <p:cNvSpPr/>
          <p:nvPr/>
        </p:nvSpPr>
        <p:spPr>
          <a:xfrm>
            <a:off x="2103120" y="3977640"/>
            <a:ext cx="5486400" cy="292608"/>
          </a:xfrm>
          <a:prstGeom prst="rect">
            <a:avLst/>
          </a:prstGeom>
          <a:noFill/>
          <a:ln/>
        </p:spPr>
        <p:txBody>
          <a:bodyPr wrap="square" lIns="0" tIns="0" rIns="0" bIns="0" rtlCol="0" anchor="ctr"/>
          <a:lstStyle/>
          <a:p>
            <a:pPr indent="0" marL="0">
              <a:buNone/>
            </a:pPr>
            <a:r>
              <a:rPr lang="en-US" sz="1250" b="1" spc="120" kern="0" dirty="0">
                <a:solidFill>
                  <a:srgbClr val="D98C1F"/>
                </a:solidFill>
                <a:latin typeface="Calibri" pitchFamily="34" charset="0"/>
                <a:ea typeface="Calibri" pitchFamily="34" charset="-122"/>
                <a:cs typeface="Calibri" pitchFamily="34" charset="-120"/>
              </a:rPr>
              <a:t>AIMA 5.5  ·  ABOUT 15 MINUTES</a:t>
            </a:r>
            <a:endParaRPr lang="en-US" sz="12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5.5  ·  BACKGAMMON</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Chance Nodes</a:t>
            </a:r>
            <a:endParaRPr lang="en-US" sz="2900" dirty="0"/>
          </a:p>
        </p:txBody>
      </p:sp>
      <p:sp>
        <p:nvSpPr>
          <p:cNvPr id="4" name="Text 2"/>
          <p:cNvSpPr/>
          <p:nvPr/>
        </p:nvSpPr>
        <p:spPr>
          <a:xfrm>
            <a:off x="640080" y="1371600"/>
            <a:ext cx="6309360" cy="45720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Backgammon combines luck and skill. White rolls a 6-5 and has four legal moves.</a:t>
            </a:r>
            <a:endParaRPr lang="en-US" sz="1500" dirty="0"/>
          </a:p>
          <a:p>
            <a:pPr marL="203200" indent="-203200">
              <a:spcAft>
                <a:spcPts val="1000"/>
              </a:spcAft>
              <a:buSzPct val="100000"/>
              <a:buChar char="•"/>
            </a:pPr>
            <a:r>
              <a:rPr lang="en-US" sz="1500" b="1" dirty="0">
                <a:solidFill>
                  <a:srgbClr val="1A1A1A"/>
                </a:solidFill>
                <a:latin typeface="Calibri" pitchFamily="34" charset="0"/>
                <a:ea typeface="Calibri" pitchFamily="34" charset="-122"/>
                <a:cs typeface="Calibri" pitchFamily="34" charset="-120"/>
              </a:rPr>
              <a:t>Black knows what moves are available now, but does not know what White will roll, and therefore does not know what White's legal moves will be. Black cannot build the kind of game tree we drew for chess.</a:t>
            </a:r>
            <a:endParaRPr lang="en-US" sz="1500" dirty="0"/>
          </a:p>
          <a:p>
            <a:pPr marL="203200" indent="-2032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So the tree gains a third node type: chance nodes, drawn as circles, sitting between the MAX and MIN levels.</a:t>
            </a:r>
            <a:endParaRPr lang="en-US" sz="1500" dirty="0"/>
          </a:p>
          <a:p>
            <a:pPr marL="203200" indent="-2032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branch out of a chance node is one possible dice roll, labeled with the roll and its probability.</a:t>
            </a:r>
            <a:endParaRPr lang="en-US" sz="1500" dirty="0"/>
          </a:p>
        </p:txBody>
      </p:sp>
      <p:sp>
        <p:nvSpPr>
          <p:cNvPr id="5" name="Shape 3"/>
          <p:cNvSpPr/>
          <p:nvPr/>
        </p:nvSpPr>
        <p:spPr>
          <a:xfrm>
            <a:off x="9034272" y="1536192"/>
            <a:ext cx="402336" cy="310896"/>
          </a:xfrm>
          <a:prstGeom prst="triangle">
            <a:avLst/>
          </a:prstGeom>
          <a:solidFill>
            <a:srgbClr val="DCE6FA"/>
          </a:solidFill>
          <a:ln w="19050">
            <a:solidFill>
              <a:srgbClr val="1F5AC4"/>
            </a:solidFill>
            <a:prstDash val="solid"/>
          </a:ln>
        </p:spPr>
      </p:sp>
      <p:sp>
        <p:nvSpPr>
          <p:cNvPr id="6" name="Shape 4"/>
          <p:cNvSpPr/>
          <p:nvPr/>
        </p:nvSpPr>
        <p:spPr>
          <a:xfrm>
            <a:off x="9235440" y="1874520"/>
            <a:ext cx="4572" cy="640080"/>
          </a:xfrm>
          <a:prstGeom prst="line">
            <a:avLst/>
          </a:prstGeom>
          <a:noFill/>
          <a:ln w="15875">
            <a:solidFill>
              <a:srgbClr val="55607A"/>
            </a:solidFill>
            <a:prstDash val="solid"/>
          </a:ln>
        </p:spPr>
      </p:sp>
      <p:sp>
        <p:nvSpPr>
          <p:cNvPr id="7" name="Shape 5"/>
          <p:cNvSpPr/>
          <p:nvPr/>
        </p:nvSpPr>
        <p:spPr>
          <a:xfrm>
            <a:off x="9034272" y="2542032"/>
            <a:ext cx="402336" cy="310896"/>
          </a:xfrm>
          <a:prstGeom prst="ellipse">
            <a:avLst/>
          </a:prstGeom>
          <a:solidFill>
            <a:srgbClr val="FBEFD8"/>
          </a:solidFill>
          <a:ln w="19050">
            <a:solidFill>
              <a:srgbClr val="D98C1F"/>
            </a:solidFill>
            <a:prstDash val="solid"/>
          </a:ln>
        </p:spPr>
      </p:sp>
      <p:sp>
        <p:nvSpPr>
          <p:cNvPr id="8" name="Shape 6"/>
          <p:cNvSpPr/>
          <p:nvPr/>
        </p:nvSpPr>
        <p:spPr>
          <a:xfrm flipH="1">
            <a:off x="7955280" y="2880360"/>
            <a:ext cx="1280160" cy="640080"/>
          </a:xfrm>
          <a:prstGeom prst="line">
            <a:avLst/>
          </a:prstGeom>
          <a:noFill/>
          <a:ln w="15875">
            <a:solidFill>
              <a:srgbClr val="D98C1F"/>
            </a:solidFill>
            <a:prstDash val="solid"/>
          </a:ln>
        </p:spPr>
      </p:sp>
      <p:sp>
        <p:nvSpPr>
          <p:cNvPr id="9" name="Text 7"/>
          <p:cNvSpPr/>
          <p:nvPr/>
        </p:nvSpPr>
        <p:spPr>
          <a:xfrm>
            <a:off x="8275320" y="2871216"/>
            <a:ext cx="640080" cy="256032"/>
          </a:xfrm>
          <a:prstGeom prst="rect">
            <a:avLst/>
          </a:prstGeom>
          <a:noFill/>
          <a:ln/>
        </p:spPr>
        <p:txBody>
          <a:bodyPr wrap="square" lIns="0" tIns="0" rIns="0" bIns="0" rtlCol="0" anchor="ctr"/>
          <a:lstStyle/>
          <a:p>
            <a:pPr algn="ctr" indent="0" marL="0">
              <a:buNone/>
            </a:pPr>
            <a:r>
              <a:rPr lang="en-US" sz="1000" i="1" dirty="0">
                <a:solidFill>
                  <a:srgbClr val="D98C1F"/>
                </a:solidFill>
                <a:latin typeface="Calibri" pitchFamily="34" charset="0"/>
                <a:ea typeface="Calibri" pitchFamily="34" charset="-122"/>
                <a:cs typeface="Calibri" pitchFamily="34" charset="-120"/>
              </a:rPr>
              <a:t>1-1</a:t>
            </a:r>
            <a:endParaRPr lang="en-US" sz="1000" dirty="0"/>
          </a:p>
        </p:txBody>
      </p:sp>
      <p:sp>
        <p:nvSpPr>
          <p:cNvPr id="10" name="Shape 8"/>
          <p:cNvSpPr/>
          <p:nvPr/>
        </p:nvSpPr>
        <p:spPr>
          <a:xfrm rot="10800000">
            <a:off x="7754112" y="3547872"/>
            <a:ext cx="402336" cy="310896"/>
          </a:xfrm>
          <a:prstGeom prst="triangle">
            <a:avLst/>
          </a:prstGeom>
          <a:solidFill>
            <a:srgbClr val="F7DEDF"/>
          </a:solidFill>
          <a:ln w="19050">
            <a:solidFill>
              <a:srgbClr val="C1272D"/>
            </a:solidFill>
            <a:prstDash val="solid"/>
          </a:ln>
        </p:spPr>
      </p:sp>
      <p:sp>
        <p:nvSpPr>
          <p:cNvPr id="11" name="Text 9"/>
          <p:cNvSpPr/>
          <p:nvPr/>
        </p:nvSpPr>
        <p:spPr>
          <a:xfrm>
            <a:off x="7589520" y="3913632"/>
            <a:ext cx="731520" cy="237744"/>
          </a:xfrm>
          <a:prstGeom prst="rect">
            <a:avLst/>
          </a:prstGeom>
          <a:noFill/>
          <a:ln/>
        </p:spPr>
        <p:txBody>
          <a:bodyPr wrap="square" lIns="0" tIns="0" rIns="0" bIns="0" rtlCol="0" anchor="ctr"/>
          <a:lstStyle/>
          <a:p>
            <a:pPr algn="ctr" indent="0" marL="0">
              <a:buNone/>
            </a:pPr>
            <a:r>
              <a:rPr lang="en-US" sz="1000" dirty="0">
                <a:solidFill>
                  <a:srgbClr val="55607A"/>
                </a:solidFill>
                <a:latin typeface="Calibri" pitchFamily="34" charset="0"/>
                <a:ea typeface="Calibri" pitchFamily="34" charset="-122"/>
                <a:cs typeface="Calibri" pitchFamily="34" charset="-120"/>
              </a:rPr>
              <a:t>1/36</a:t>
            </a:r>
            <a:endParaRPr lang="en-US" sz="1000" dirty="0"/>
          </a:p>
        </p:txBody>
      </p:sp>
      <p:sp>
        <p:nvSpPr>
          <p:cNvPr id="12" name="Shape 10"/>
          <p:cNvSpPr/>
          <p:nvPr/>
        </p:nvSpPr>
        <p:spPr>
          <a:xfrm>
            <a:off x="9235440" y="2880360"/>
            <a:ext cx="4572" cy="640080"/>
          </a:xfrm>
          <a:prstGeom prst="line">
            <a:avLst/>
          </a:prstGeom>
          <a:noFill/>
          <a:ln w="15875">
            <a:solidFill>
              <a:srgbClr val="D98C1F"/>
            </a:solidFill>
            <a:prstDash val="solid"/>
          </a:ln>
        </p:spPr>
      </p:sp>
      <p:sp>
        <p:nvSpPr>
          <p:cNvPr id="13" name="Text 11"/>
          <p:cNvSpPr/>
          <p:nvPr/>
        </p:nvSpPr>
        <p:spPr>
          <a:xfrm>
            <a:off x="9299448" y="2871216"/>
            <a:ext cx="640080" cy="256032"/>
          </a:xfrm>
          <a:prstGeom prst="rect">
            <a:avLst/>
          </a:prstGeom>
          <a:noFill/>
          <a:ln/>
        </p:spPr>
        <p:txBody>
          <a:bodyPr wrap="square" lIns="0" tIns="0" rIns="0" bIns="0" rtlCol="0" anchor="ctr"/>
          <a:lstStyle/>
          <a:p>
            <a:pPr algn="ctr" indent="0" marL="0">
              <a:buNone/>
            </a:pPr>
            <a:r>
              <a:rPr lang="en-US" sz="1000" i="1" dirty="0">
                <a:solidFill>
                  <a:srgbClr val="D98C1F"/>
                </a:solidFill>
                <a:latin typeface="Calibri" pitchFamily="34" charset="0"/>
                <a:ea typeface="Calibri" pitchFamily="34" charset="-122"/>
                <a:cs typeface="Calibri" pitchFamily="34" charset="-120"/>
              </a:rPr>
              <a:t>6-5</a:t>
            </a:r>
            <a:endParaRPr lang="en-US" sz="1000" dirty="0"/>
          </a:p>
        </p:txBody>
      </p:sp>
      <p:sp>
        <p:nvSpPr>
          <p:cNvPr id="14" name="Shape 12"/>
          <p:cNvSpPr/>
          <p:nvPr/>
        </p:nvSpPr>
        <p:spPr>
          <a:xfrm rot="10800000">
            <a:off x="9034272" y="3547872"/>
            <a:ext cx="402336" cy="310896"/>
          </a:xfrm>
          <a:prstGeom prst="triangle">
            <a:avLst/>
          </a:prstGeom>
          <a:solidFill>
            <a:srgbClr val="F7DEDF"/>
          </a:solidFill>
          <a:ln w="19050">
            <a:solidFill>
              <a:srgbClr val="C1272D"/>
            </a:solidFill>
            <a:prstDash val="solid"/>
          </a:ln>
        </p:spPr>
      </p:sp>
      <p:sp>
        <p:nvSpPr>
          <p:cNvPr id="15" name="Text 13"/>
          <p:cNvSpPr/>
          <p:nvPr/>
        </p:nvSpPr>
        <p:spPr>
          <a:xfrm>
            <a:off x="8869680" y="3913632"/>
            <a:ext cx="731520" cy="237744"/>
          </a:xfrm>
          <a:prstGeom prst="rect">
            <a:avLst/>
          </a:prstGeom>
          <a:noFill/>
          <a:ln/>
        </p:spPr>
        <p:txBody>
          <a:bodyPr wrap="square" lIns="0" tIns="0" rIns="0" bIns="0" rtlCol="0" anchor="ctr"/>
          <a:lstStyle/>
          <a:p>
            <a:pPr algn="ctr" indent="0" marL="0">
              <a:buNone/>
            </a:pPr>
            <a:r>
              <a:rPr lang="en-US" sz="1000" dirty="0">
                <a:solidFill>
                  <a:srgbClr val="55607A"/>
                </a:solidFill>
                <a:latin typeface="Calibri" pitchFamily="34" charset="0"/>
                <a:ea typeface="Calibri" pitchFamily="34" charset="-122"/>
                <a:cs typeface="Calibri" pitchFamily="34" charset="-120"/>
              </a:rPr>
              <a:t>1/18</a:t>
            </a:r>
            <a:endParaRPr lang="en-US" sz="1000" dirty="0"/>
          </a:p>
        </p:txBody>
      </p:sp>
      <p:sp>
        <p:nvSpPr>
          <p:cNvPr id="16" name="Shape 14"/>
          <p:cNvSpPr/>
          <p:nvPr/>
        </p:nvSpPr>
        <p:spPr>
          <a:xfrm>
            <a:off x="9235440" y="2880360"/>
            <a:ext cx="1280160" cy="640080"/>
          </a:xfrm>
          <a:prstGeom prst="line">
            <a:avLst/>
          </a:prstGeom>
          <a:noFill/>
          <a:ln w="15875">
            <a:solidFill>
              <a:srgbClr val="D98C1F"/>
            </a:solidFill>
            <a:prstDash val="solid"/>
          </a:ln>
        </p:spPr>
      </p:sp>
      <p:sp>
        <p:nvSpPr>
          <p:cNvPr id="17" name="Text 15"/>
          <p:cNvSpPr/>
          <p:nvPr/>
        </p:nvSpPr>
        <p:spPr>
          <a:xfrm>
            <a:off x="9555480" y="2871216"/>
            <a:ext cx="640080" cy="256032"/>
          </a:xfrm>
          <a:prstGeom prst="rect">
            <a:avLst/>
          </a:prstGeom>
          <a:noFill/>
          <a:ln/>
        </p:spPr>
        <p:txBody>
          <a:bodyPr wrap="square" lIns="0" tIns="0" rIns="0" bIns="0" rtlCol="0" anchor="ctr"/>
          <a:lstStyle/>
          <a:p>
            <a:pPr algn="ctr" indent="0" marL="0">
              <a:buNone/>
            </a:pPr>
            <a:r>
              <a:rPr lang="en-US" sz="1000" i="1" dirty="0">
                <a:solidFill>
                  <a:srgbClr val="D98C1F"/>
                </a:solidFill>
                <a:latin typeface="Calibri" pitchFamily="34" charset="0"/>
                <a:ea typeface="Calibri" pitchFamily="34" charset="-122"/>
                <a:cs typeface="Calibri" pitchFamily="34" charset="-120"/>
              </a:rPr>
              <a:t>3-2</a:t>
            </a:r>
            <a:endParaRPr lang="en-US" sz="1000" dirty="0"/>
          </a:p>
        </p:txBody>
      </p:sp>
      <p:sp>
        <p:nvSpPr>
          <p:cNvPr id="18" name="Shape 16"/>
          <p:cNvSpPr/>
          <p:nvPr/>
        </p:nvSpPr>
        <p:spPr>
          <a:xfrm rot="10800000">
            <a:off x="10314432" y="3547872"/>
            <a:ext cx="402336" cy="310896"/>
          </a:xfrm>
          <a:prstGeom prst="triangle">
            <a:avLst/>
          </a:prstGeom>
          <a:solidFill>
            <a:srgbClr val="F7DEDF"/>
          </a:solidFill>
          <a:ln w="19050">
            <a:solidFill>
              <a:srgbClr val="C1272D"/>
            </a:solidFill>
            <a:prstDash val="solid"/>
          </a:ln>
        </p:spPr>
      </p:sp>
      <p:sp>
        <p:nvSpPr>
          <p:cNvPr id="19" name="Text 17"/>
          <p:cNvSpPr/>
          <p:nvPr/>
        </p:nvSpPr>
        <p:spPr>
          <a:xfrm>
            <a:off x="10149840" y="3913632"/>
            <a:ext cx="731520" cy="237744"/>
          </a:xfrm>
          <a:prstGeom prst="rect">
            <a:avLst/>
          </a:prstGeom>
          <a:noFill/>
          <a:ln/>
        </p:spPr>
        <p:txBody>
          <a:bodyPr wrap="square" lIns="0" tIns="0" rIns="0" bIns="0" rtlCol="0" anchor="ctr"/>
          <a:lstStyle/>
          <a:p>
            <a:pPr algn="ctr" indent="0" marL="0">
              <a:buNone/>
            </a:pPr>
            <a:r>
              <a:rPr lang="en-US" sz="1000" dirty="0">
                <a:solidFill>
                  <a:srgbClr val="55607A"/>
                </a:solidFill>
                <a:latin typeface="Calibri" pitchFamily="34" charset="0"/>
                <a:ea typeface="Calibri" pitchFamily="34" charset="-122"/>
                <a:cs typeface="Calibri" pitchFamily="34" charset="-120"/>
              </a:rPr>
              <a:t>1/18</a:t>
            </a:r>
            <a:endParaRPr lang="en-US" sz="1000" dirty="0"/>
          </a:p>
        </p:txBody>
      </p:sp>
      <p:sp>
        <p:nvSpPr>
          <p:cNvPr id="20" name="Text 18"/>
          <p:cNvSpPr/>
          <p:nvPr/>
        </p:nvSpPr>
        <p:spPr>
          <a:xfrm>
            <a:off x="640080" y="4343400"/>
            <a:ext cx="2103120" cy="658368"/>
          </a:xfrm>
          <a:prstGeom prst="rect">
            <a:avLst/>
          </a:prstGeom>
          <a:noFill/>
          <a:ln/>
        </p:spPr>
        <p:txBody>
          <a:bodyPr wrap="square" lIns="0" tIns="0" rIns="0" bIns="0" rtlCol="0" anchor="ctr"/>
          <a:lstStyle/>
          <a:p>
            <a:pPr algn="ctr" indent="0" marL="0">
              <a:buNone/>
            </a:pPr>
            <a:r>
              <a:rPr lang="en-US" sz="3400" b="1" dirty="0">
                <a:solidFill>
                  <a:srgbClr val="D98C1F"/>
                </a:solidFill>
                <a:latin typeface="Cambria" pitchFamily="34" charset="0"/>
                <a:ea typeface="Cambria" pitchFamily="34" charset="-122"/>
                <a:cs typeface="Cambria" pitchFamily="34" charset="-120"/>
              </a:rPr>
              <a:t>36</a:t>
            </a:r>
            <a:endParaRPr lang="en-US" sz="3400" dirty="0"/>
          </a:p>
        </p:txBody>
      </p:sp>
      <p:sp>
        <p:nvSpPr>
          <p:cNvPr id="21" name="Text 19"/>
          <p:cNvSpPr/>
          <p:nvPr/>
        </p:nvSpPr>
        <p:spPr>
          <a:xfrm>
            <a:off x="640080" y="5020056"/>
            <a:ext cx="210312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ordered ways to roll</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two dice</a:t>
            </a:r>
            <a:endParaRPr lang="en-US" sz="1200" dirty="0"/>
          </a:p>
        </p:txBody>
      </p:sp>
      <p:sp>
        <p:nvSpPr>
          <p:cNvPr id="22" name="Text 20"/>
          <p:cNvSpPr/>
          <p:nvPr/>
        </p:nvSpPr>
        <p:spPr>
          <a:xfrm>
            <a:off x="2926080" y="4343400"/>
            <a:ext cx="2103120" cy="658368"/>
          </a:xfrm>
          <a:prstGeom prst="rect">
            <a:avLst/>
          </a:prstGeom>
          <a:noFill/>
          <a:ln/>
        </p:spPr>
        <p:txBody>
          <a:bodyPr wrap="square" lIns="0" tIns="0" rIns="0" bIns="0" rtlCol="0" anchor="ctr"/>
          <a:lstStyle/>
          <a:p>
            <a:pPr algn="ctr" indent="0" marL="0">
              <a:buNone/>
            </a:pPr>
            <a:r>
              <a:rPr lang="en-US" sz="3400" b="1" dirty="0">
                <a:solidFill>
                  <a:srgbClr val="D98C1F"/>
                </a:solidFill>
                <a:latin typeface="Cambria" pitchFamily="34" charset="0"/>
                <a:ea typeface="Cambria" pitchFamily="34" charset="-122"/>
                <a:cs typeface="Cambria" pitchFamily="34" charset="-120"/>
              </a:rPr>
              <a:t>21</a:t>
            </a:r>
            <a:endParaRPr lang="en-US" sz="3400" dirty="0"/>
          </a:p>
        </p:txBody>
      </p:sp>
      <p:sp>
        <p:nvSpPr>
          <p:cNvPr id="23" name="Text 21"/>
          <p:cNvSpPr/>
          <p:nvPr/>
        </p:nvSpPr>
        <p:spPr>
          <a:xfrm>
            <a:off x="2926080" y="5020056"/>
            <a:ext cx="210312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distinct rolls, since</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6-5 equals 5-6</a:t>
            </a:r>
            <a:endParaRPr lang="en-US" sz="1200" dirty="0"/>
          </a:p>
        </p:txBody>
      </p:sp>
      <p:sp>
        <p:nvSpPr>
          <p:cNvPr id="24" name="Text 22"/>
          <p:cNvSpPr/>
          <p:nvPr/>
        </p:nvSpPr>
        <p:spPr>
          <a:xfrm>
            <a:off x="5212080" y="4343400"/>
            <a:ext cx="2103120" cy="658368"/>
          </a:xfrm>
          <a:prstGeom prst="rect">
            <a:avLst/>
          </a:prstGeom>
          <a:noFill/>
          <a:ln/>
        </p:spPr>
        <p:txBody>
          <a:bodyPr wrap="square" lIns="0" tIns="0" rIns="0" bIns="0" rtlCol="0" anchor="ctr"/>
          <a:lstStyle/>
          <a:p>
            <a:pPr algn="ctr" indent="0" marL="0">
              <a:buNone/>
            </a:pPr>
            <a:r>
              <a:rPr lang="en-US" sz="3000" b="1" dirty="0">
                <a:solidFill>
                  <a:srgbClr val="1F5AC4"/>
                </a:solidFill>
                <a:latin typeface="Cambria" pitchFamily="34" charset="0"/>
                <a:ea typeface="Cambria" pitchFamily="34" charset="-122"/>
                <a:cs typeface="Cambria" pitchFamily="34" charset="-120"/>
              </a:rPr>
              <a:t>1/36</a:t>
            </a:r>
            <a:endParaRPr lang="en-US" sz="3000" dirty="0"/>
          </a:p>
        </p:txBody>
      </p:sp>
      <p:sp>
        <p:nvSpPr>
          <p:cNvPr id="25" name="Text 23"/>
          <p:cNvSpPr/>
          <p:nvPr/>
        </p:nvSpPr>
        <p:spPr>
          <a:xfrm>
            <a:off x="5212080" y="5020056"/>
            <a:ext cx="210312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probability of each of</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the six doubles</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5.5</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Expectiminimax</a:t>
            </a:r>
            <a:endParaRPr lang="en-US" sz="2900" dirty="0"/>
          </a:p>
        </p:txBody>
      </p:sp>
      <p:sp>
        <p:nvSpPr>
          <p:cNvPr id="4" name="Text 2"/>
          <p:cNvSpPr/>
          <p:nvPr/>
        </p:nvSpPr>
        <p:spPr>
          <a:xfrm>
            <a:off x="640080" y="1371600"/>
            <a:ext cx="5394960" cy="45720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Positions no longer have definite minimax values. We can only compute the expected value of a position: the average over all outcomes of the chance nodes.</a:t>
            </a:r>
            <a:endParaRPr lang="en-US" sz="1500" dirty="0"/>
          </a:p>
          <a:p>
            <a:pPr marL="203200" indent="-203200">
              <a:spcAft>
                <a:spcPts val="1000"/>
              </a:spcAft>
              <a:buSzPct val="100000"/>
              <a:buChar char="•"/>
            </a:pPr>
            <a:r>
              <a:rPr lang="en-US" sz="1500" b="1" dirty="0">
                <a:solidFill>
                  <a:srgbClr val="1A1A1A"/>
                </a:solidFill>
                <a:latin typeface="Calibri" pitchFamily="34" charset="0"/>
                <a:ea typeface="Calibri" pitchFamily="34" charset="-122"/>
                <a:cs typeface="Calibri" pitchFamily="34" charset="-120"/>
              </a:rPr>
              <a:t>MAX, MIN and terminal nodes behave exactly as before. Only the chance node is new, and it takes an expectation.</a:t>
            </a:r>
            <a:endParaRPr lang="en-US" sz="1500" dirty="0"/>
          </a:p>
        </p:txBody>
      </p:sp>
      <p:sp>
        <p:nvSpPr>
          <p:cNvPr id="5" name="Shape 3"/>
          <p:cNvSpPr/>
          <p:nvPr/>
        </p:nvSpPr>
        <p:spPr>
          <a:xfrm>
            <a:off x="6217920" y="1325880"/>
            <a:ext cx="5303520" cy="3200400"/>
          </a:xfrm>
          <a:prstGeom prst="roundRect">
            <a:avLst>
              <a:gd name="adj" fmla="val 1714"/>
            </a:avLst>
          </a:prstGeom>
          <a:solidFill>
            <a:srgbClr val="14213D"/>
          </a:solidFill>
          <a:ln w="12700">
            <a:solidFill>
              <a:srgbClr val="14213D"/>
            </a:solidFill>
            <a:prstDash val="solid"/>
          </a:ln>
        </p:spPr>
      </p:sp>
      <p:sp>
        <p:nvSpPr>
          <p:cNvPr id="6" name="Text 4"/>
          <p:cNvSpPr/>
          <p:nvPr/>
        </p:nvSpPr>
        <p:spPr>
          <a:xfrm>
            <a:off x="6419088" y="1435608"/>
            <a:ext cx="4901184" cy="274320"/>
          </a:xfrm>
          <a:prstGeom prst="rect">
            <a:avLst/>
          </a:prstGeom>
          <a:noFill/>
          <a:ln/>
        </p:spPr>
        <p:txBody>
          <a:bodyPr wrap="square" lIns="0" tIns="0" rIns="0" bIns="0" rtlCol="0" anchor="ctr"/>
          <a:lstStyle/>
          <a:p>
            <a:pPr indent="0" marL="0">
              <a:buNone/>
            </a:pPr>
            <a:r>
              <a:rPr lang="en-US" sz="1250" b="1" dirty="0">
                <a:solidFill>
                  <a:srgbClr val="D98C1F"/>
                </a:solidFill>
                <a:latin typeface="Calibri" pitchFamily="34" charset="0"/>
                <a:ea typeface="Calibri" pitchFamily="34" charset="-122"/>
                <a:cs typeface="Calibri" pitchFamily="34" charset="-120"/>
              </a:rPr>
              <a:t>EXPECTIMINIMAX(s)</a:t>
            </a:r>
            <a:endParaRPr lang="en-US" sz="1250" dirty="0"/>
          </a:p>
        </p:txBody>
      </p:sp>
      <p:sp>
        <p:nvSpPr>
          <p:cNvPr id="7" name="Text 5"/>
          <p:cNvSpPr/>
          <p:nvPr/>
        </p:nvSpPr>
        <p:spPr>
          <a:xfrm>
            <a:off x="6419088" y="1746504"/>
            <a:ext cx="4937760" cy="2651760"/>
          </a:xfrm>
          <a:prstGeom prst="rect">
            <a:avLst/>
          </a:prstGeom>
          <a:noFill/>
          <a:ln/>
        </p:spPr>
        <p:txBody>
          <a:bodyPr wrap="square" lIns="0" tIns="0" rIns="0" bIns="0" rtlCol="0" anchor="t"/>
          <a:lstStyle/>
          <a:p>
            <a:pPr indent="0" marL="0">
              <a:lnSpc>
                <a:spcPct val="105000"/>
              </a:lnSpc>
              <a:buNone/>
            </a:pPr>
            <a:r>
              <a:rPr lang="en-US" sz="1200" dirty="0">
                <a:solidFill>
                  <a:srgbClr val="D98C1F"/>
                </a:solidFill>
                <a:latin typeface="Courier New" pitchFamily="34" charset="0"/>
                <a:ea typeface="Courier New" pitchFamily="34" charset="-122"/>
                <a:cs typeface="Courier New" pitchFamily="34" charset="-120"/>
              </a:rPr>
              <a:t>  UTILITY(s, MAX)</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if IS-TERMINAL(s)</a:t>
            </a:r>
            <a:endParaRPr lang="en-US" sz="1200" dirty="0"/>
          </a:p>
          <a:p>
            <a:pPr indent="0" marL="0">
              <a:lnSpc>
                <a:spcPct val="105000"/>
              </a:lnSpc>
              <a:buNone/>
            </a:pPr>
            <a:r>
              <a:rPr lang="en-US" sz="1200" dirty="0">
                <a:solidFill>
                  <a:srgbClr val="8FB8FF"/>
                </a:solidFill>
                <a:latin typeface="Courier New" pitchFamily="34" charset="0"/>
                <a:ea typeface="Courier New" pitchFamily="34" charset="-122"/>
                <a:cs typeface="Courier New" pitchFamily="34" charset="-120"/>
              </a:rPr>
              <a:t>  max over a of EXPECTIMINIMAX(RESULT(s,a))</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if TO-MOVE(s) = MAX</a:t>
            </a:r>
            <a:endParaRPr lang="en-US" sz="1200" dirty="0"/>
          </a:p>
          <a:p>
            <a:pPr indent="0" marL="0">
              <a:lnSpc>
                <a:spcPct val="105000"/>
              </a:lnSpc>
              <a:buNone/>
            </a:pPr>
            <a:r>
              <a:rPr lang="en-US" sz="1200" dirty="0">
                <a:solidFill>
                  <a:srgbClr val="F2A0A2"/>
                </a:solidFill>
                <a:latin typeface="Courier New" pitchFamily="34" charset="0"/>
                <a:ea typeface="Courier New" pitchFamily="34" charset="-122"/>
                <a:cs typeface="Courier New" pitchFamily="34" charset="-120"/>
              </a:rPr>
              <a:t>  min over a of EXPECTIMINIMAX(RESULT(s,a))</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if TO-MOVE(s) = MIN</a:t>
            </a:r>
            <a:endParaRPr lang="en-US" sz="1200" dirty="0"/>
          </a:p>
          <a:p>
            <a:pPr indent="0" marL="0">
              <a:lnSpc>
                <a:spcPct val="105000"/>
              </a:lnSpc>
              <a:buNone/>
            </a:pPr>
            <a:r>
              <a:rPr lang="en-US" sz="1200" dirty="0">
                <a:solidFill>
                  <a:srgbClr val="F2CE8A"/>
                </a:solidFill>
                <a:latin typeface="Courier New" pitchFamily="34" charset="0"/>
                <a:ea typeface="Courier New" pitchFamily="34" charset="-122"/>
                <a:cs typeface="Courier New" pitchFamily="34" charset="-120"/>
              </a:rPr>
              <a:t>  sum over r of</a:t>
            </a:r>
            <a:endParaRPr lang="en-US" sz="1200" dirty="0"/>
          </a:p>
          <a:p>
            <a:pPr indent="0" marL="0">
              <a:lnSpc>
                <a:spcPct val="105000"/>
              </a:lnSpc>
              <a:buNone/>
            </a:pPr>
            <a:r>
              <a:rPr lang="en-US" sz="1200" dirty="0">
                <a:solidFill>
                  <a:srgbClr val="F2CE8A"/>
                </a:solidFill>
                <a:latin typeface="Courier New" pitchFamily="34" charset="0"/>
                <a:ea typeface="Courier New" pitchFamily="34" charset="-122"/>
                <a:cs typeface="Courier New" pitchFamily="34" charset="-120"/>
              </a:rPr>
              <a:t>      P(r) * EXPECTIMINIMAX(RESULT(s,r))</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if TO-MOVE(s) = CHANCE</a:t>
            </a:r>
            <a:endParaRPr lang="en-US" sz="1200" dirty="0"/>
          </a:p>
        </p:txBody>
      </p:sp>
      <p:sp>
        <p:nvSpPr>
          <p:cNvPr id="8" name="Shape 6"/>
          <p:cNvSpPr/>
          <p:nvPr/>
        </p:nvSpPr>
        <p:spPr>
          <a:xfrm>
            <a:off x="640080" y="3017520"/>
            <a:ext cx="5394960" cy="1508760"/>
          </a:xfrm>
          <a:prstGeom prst="roundRect">
            <a:avLst>
              <a:gd name="adj" fmla="val 4848"/>
            </a:avLst>
          </a:prstGeom>
          <a:solidFill>
            <a:srgbClr val="FBEFD8"/>
          </a:solidFill>
          <a:ln w="12700">
            <a:solidFill>
              <a:srgbClr val="D98C1F"/>
            </a:solidFill>
            <a:prstDash val="solid"/>
          </a:ln>
        </p:spPr>
      </p:sp>
      <p:sp>
        <p:nvSpPr>
          <p:cNvPr id="9" name="Text 7"/>
          <p:cNvSpPr/>
          <p:nvPr/>
        </p:nvSpPr>
        <p:spPr>
          <a:xfrm>
            <a:off x="841248" y="3163824"/>
            <a:ext cx="499262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Reading the last case</a:t>
            </a:r>
            <a:endParaRPr lang="en-US" sz="1500" dirty="0"/>
          </a:p>
        </p:txBody>
      </p:sp>
      <p:sp>
        <p:nvSpPr>
          <p:cNvPr id="10" name="Text 8"/>
          <p:cNvSpPr/>
          <p:nvPr/>
        </p:nvSpPr>
        <p:spPr>
          <a:xfrm>
            <a:off x="841248" y="3511296"/>
            <a:ext cx="4992624" cy="850392"/>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Calibri" pitchFamily="34" charset="0"/>
                <a:ea typeface="Calibri" pitchFamily="34" charset="-122"/>
                <a:cs typeface="Calibri" pitchFamily="34" charset="-120"/>
              </a:rPr>
              <a:t>r is a possible dice roll or other chance event, and RESULT(s, r) is the same state as s with the additional fact that the roll came out r.</a:t>
            </a:r>
            <a:endParaRPr lang="en-US" sz="1300" dirty="0"/>
          </a:p>
        </p:txBody>
      </p:sp>
      <p:sp>
        <p:nvSpPr>
          <p:cNvPr id="11" name="Shape 9"/>
          <p:cNvSpPr/>
          <p:nvPr/>
        </p:nvSpPr>
        <p:spPr>
          <a:xfrm>
            <a:off x="640080" y="4754880"/>
            <a:ext cx="10881360" cy="868680"/>
          </a:xfrm>
          <a:prstGeom prst="roundRect">
            <a:avLst>
              <a:gd name="adj" fmla="val 6316"/>
            </a:avLst>
          </a:prstGeom>
          <a:solidFill>
            <a:srgbClr val="14213D"/>
          </a:solidFill>
          <a:ln w="12700">
            <a:solidFill>
              <a:srgbClr val="14213D"/>
            </a:solidFill>
            <a:prstDash val="solid"/>
          </a:ln>
        </p:spPr>
      </p:sp>
      <p:sp>
        <p:nvSpPr>
          <p:cNvPr id="12" name="Text 10"/>
          <p:cNvSpPr/>
          <p:nvPr/>
        </p:nvSpPr>
        <p:spPr>
          <a:xfrm>
            <a:off x="822960" y="4846320"/>
            <a:ext cx="10515600" cy="685800"/>
          </a:xfrm>
          <a:prstGeom prst="rect">
            <a:avLst/>
          </a:prstGeom>
          <a:noFill/>
          <a:ln/>
        </p:spPr>
        <p:txBody>
          <a:bodyPr wrap="square" lIns="0" tIns="0" rIns="0" bIns="0" rtlCol="0" anchor="ctr"/>
          <a:lstStyle/>
          <a:p>
            <a:pPr algn="ctr" indent="0" marL="0">
              <a:lnSpc>
                <a:spcPct val="115000"/>
              </a:lnSpc>
              <a:buNone/>
            </a:pPr>
            <a:r>
              <a:rPr lang="en-US" sz="1600" dirty="0">
                <a:solidFill>
                  <a:srgbClr val="FFFFFF"/>
                </a:solidFill>
                <a:latin typeface="Cambria" pitchFamily="34" charset="0"/>
                <a:ea typeface="Cambria" pitchFamily="34" charset="-122"/>
                <a:cs typeface="Cambria" pitchFamily="34" charset="-120"/>
              </a:rPr>
              <a:t>Expectiminimax generalizes minimax. Delete the chance case and you get minimax back exactly.</a:t>
            </a:r>
            <a:endParaRPr lang="en-US" sz="1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ONE MAX PLY OVER TWO CHANCE NODES</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Worked Example: Expected Values</a:t>
            </a:r>
            <a:endParaRPr lang="en-US" sz="2900" dirty="0"/>
          </a:p>
        </p:txBody>
      </p:sp>
      <p:sp>
        <p:nvSpPr>
          <p:cNvPr id="4" name="Shape 2"/>
          <p:cNvSpPr/>
          <p:nvPr/>
        </p:nvSpPr>
        <p:spPr>
          <a:xfrm>
            <a:off x="5650992" y="1536192"/>
            <a:ext cx="402336" cy="310896"/>
          </a:xfrm>
          <a:prstGeom prst="triangle">
            <a:avLst/>
          </a:prstGeom>
          <a:solidFill>
            <a:srgbClr val="DCE6FA"/>
          </a:solidFill>
          <a:ln w="19050">
            <a:solidFill>
              <a:srgbClr val="1F5AC4"/>
            </a:solidFill>
            <a:prstDash val="solid"/>
          </a:ln>
        </p:spPr>
      </p:sp>
      <p:sp>
        <p:nvSpPr>
          <p:cNvPr id="5" name="Text 3"/>
          <p:cNvSpPr/>
          <p:nvPr/>
        </p:nvSpPr>
        <p:spPr>
          <a:xfrm>
            <a:off x="5394960" y="1124712"/>
            <a:ext cx="914400" cy="292608"/>
          </a:xfrm>
          <a:prstGeom prst="rect">
            <a:avLst/>
          </a:prstGeom>
          <a:noFill/>
          <a:ln/>
        </p:spPr>
        <p:txBody>
          <a:bodyPr wrap="square" lIns="0" tIns="0" rIns="0" bIns="0" rtlCol="0" anchor="ctr"/>
          <a:lstStyle/>
          <a:p>
            <a:pPr algn="ctr" indent="0" marL="0">
              <a:buNone/>
            </a:pPr>
            <a:r>
              <a:rPr lang="en-US" sz="1400" b="1" dirty="0">
                <a:solidFill>
                  <a:srgbClr val="1F5AC4"/>
                </a:solidFill>
                <a:latin typeface="Calibri" pitchFamily="34" charset="0"/>
                <a:ea typeface="Calibri" pitchFamily="34" charset="-122"/>
                <a:cs typeface="Calibri" pitchFamily="34" charset="-120"/>
              </a:rPr>
              <a:t>3.0</a:t>
            </a:r>
            <a:endParaRPr lang="en-US" sz="1400" dirty="0"/>
          </a:p>
        </p:txBody>
      </p:sp>
      <p:sp>
        <p:nvSpPr>
          <p:cNvPr id="6" name="Shape 4"/>
          <p:cNvSpPr/>
          <p:nvPr/>
        </p:nvSpPr>
        <p:spPr>
          <a:xfrm flipH="1">
            <a:off x="3291840" y="1874520"/>
            <a:ext cx="2560320" cy="640080"/>
          </a:xfrm>
          <a:prstGeom prst="line">
            <a:avLst/>
          </a:prstGeom>
          <a:noFill/>
          <a:ln w="31750">
            <a:solidFill>
              <a:srgbClr val="1F5AC4"/>
            </a:solidFill>
            <a:prstDash val="solid"/>
          </a:ln>
        </p:spPr>
      </p:sp>
      <p:sp>
        <p:nvSpPr>
          <p:cNvPr id="7" name="Text 5"/>
          <p:cNvSpPr/>
          <p:nvPr/>
        </p:nvSpPr>
        <p:spPr>
          <a:xfrm>
            <a:off x="4251960" y="2020824"/>
            <a:ext cx="640080" cy="256032"/>
          </a:xfrm>
          <a:prstGeom prst="rect">
            <a:avLst/>
          </a:prstGeom>
          <a:noFill/>
          <a:ln/>
        </p:spPr>
        <p:txBody>
          <a:bodyPr wrap="square" lIns="0" tIns="0" rIns="0" bIns="0" rtlCol="0" anchor="ctr"/>
          <a:lstStyle/>
          <a:p>
            <a:pPr algn="ctr" indent="0" marL="0">
              <a:buNone/>
            </a:pPr>
            <a:r>
              <a:rPr lang="en-US" sz="1100" i="1" dirty="0">
                <a:solidFill>
                  <a:srgbClr val="1F5AC4"/>
                </a:solidFill>
                <a:latin typeface="Calibri" pitchFamily="34" charset="0"/>
                <a:ea typeface="Calibri" pitchFamily="34" charset="-122"/>
                <a:cs typeface="Calibri" pitchFamily="34" charset="-120"/>
              </a:rPr>
              <a:t>a1</a:t>
            </a:r>
            <a:endParaRPr lang="en-US" sz="1100" dirty="0"/>
          </a:p>
        </p:txBody>
      </p:sp>
      <p:sp>
        <p:nvSpPr>
          <p:cNvPr id="8" name="Shape 6"/>
          <p:cNvSpPr/>
          <p:nvPr/>
        </p:nvSpPr>
        <p:spPr>
          <a:xfrm>
            <a:off x="3090672" y="2542032"/>
            <a:ext cx="402336" cy="310896"/>
          </a:xfrm>
          <a:prstGeom prst="ellipse">
            <a:avLst/>
          </a:prstGeom>
          <a:solidFill>
            <a:srgbClr val="FBEFD8"/>
          </a:solidFill>
          <a:ln w="19050">
            <a:solidFill>
              <a:srgbClr val="D98C1F"/>
            </a:solidFill>
            <a:prstDash val="solid"/>
          </a:ln>
        </p:spPr>
      </p:sp>
      <p:sp>
        <p:nvSpPr>
          <p:cNvPr id="9" name="Text 7"/>
          <p:cNvSpPr/>
          <p:nvPr/>
        </p:nvSpPr>
        <p:spPr>
          <a:xfrm>
            <a:off x="2834640" y="2130552"/>
            <a:ext cx="914400" cy="292608"/>
          </a:xfrm>
          <a:prstGeom prst="rect">
            <a:avLst/>
          </a:prstGeom>
          <a:noFill/>
          <a:ln/>
        </p:spPr>
        <p:txBody>
          <a:bodyPr wrap="square" lIns="0" tIns="0" rIns="0" bIns="0" rtlCol="0" anchor="ctr"/>
          <a:lstStyle/>
          <a:p>
            <a:pPr algn="ctr" indent="0" marL="0">
              <a:buNone/>
            </a:pPr>
            <a:r>
              <a:rPr lang="en-US" sz="1400" b="1" dirty="0">
                <a:solidFill>
                  <a:srgbClr val="D98C1F"/>
                </a:solidFill>
                <a:latin typeface="Calibri" pitchFamily="34" charset="0"/>
                <a:ea typeface="Calibri" pitchFamily="34" charset="-122"/>
                <a:cs typeface="Calibri" pitchFamily="34" charset="-120"/>
              </a:rPr>
              <a:t>3.0</a:t>
            </a:r>
            <a:endParaRPr lang="en-US" sz="1400" dirty="0"/>
          </a:p>
        </p:txBody>
      </p:sp>
      <p:sp>
        <p:nvSpPr>
          <p:cNvPr id="10" name="Shape 8"/>
          <p:cNvSpPr/>
          <p:nvPr/>
        </p:nvSpPr>
        <p:spPr>
          <a:xfrm flipH="1">
            <a:off x="2377440" y="2880360"/>
            <a:ext cx="914400" cy="731520"/>
          </a:xfrm>
          <a:prstGeom prst="line">
            <a:avLst/>
          </a:prstGeom>
          <a:noFill/>
          <a:ln w="15875">
            <a:solidFill>
              <a:srgbClr val="D98C1F"/>
            </a:solidFill>
            <a:prstDash val="solid"/>
          </a:ln>
        </p:spPr>
      </p:sp>
      <p:sp>
        <p:nvSpPr>
          <p:cNvPr id="11" name="Text 9"/>
          <p:cNvSpPr/>
          <p:nvPr/>
        </p:nvSpPr>
        <p:spPr>
          <a:xfrm>
            <a:off x="2514600" y="3072384"/>
            <a:ext cx="640080" cy="256032"/>
          </a:xfrm>
          <a:prstGeom prst="rect">
            <a:avLst/>
          </a:prstGeom>
          <a:noFill/>
          <a:ln/>
        </p:spPr>
        <p:txBody>
          <a:bodyPr wrap="square" lIns="0" tIns="0" rIns="0" bIns="0" rtlCol="0" anchor="ctr"/>
          <a:lstStyle/>
          <a:p>
            <a:pPr algn="ctr" indent="0" marL="0">
              <a:buNone/>
            </a:pPr>
            <a:r>
              <a:rPr lang="en-US" sz="1050" i="1" dirty="0">
                <a:solidFill>
                  <a:srgbClr val="D98C1F"/>
                </a:solidFill>
                <a:latin typeface="Calibri" pitchFamily="34" charset="0"/>
                <a:ea typeface="Calibri" pitchFamily="34" charset="-122"/>
                <a:cs typeface="Calibri" pitchFamily="34" charset="-120"/>
              </a:rPr>
              <a:t>0.5</a:t>
            </a:r>
            <a:endParaRPr lang="en-US" sz="1050" dirty="0"/>
          </a:p>
        </p:txBody>
      </p:sp>
      <p:sp>
        <p:nvSpPr>
          <p:cNvPr id="12" name="Shape 10"/>
          <p:cNvSpPr/>
          <p:nvPr/>
        </p:nvSpPr>
        <p:spPr>
          <a:xfrm>
            <a:off x="2176272" y="3639312"/>
            <a:ext cx="402336" cy="310896"/>
          </a:xfrm>
          <a:prstGeom prst="roundRect">
            <a:avLst>
              <a:gd name="adj" fmla="val 14706"/>
            </a:avLst>
          </a:prstGeom>
          <a:solidFill>
            <a:srgbClr val="DCE3EE"/>
          </a:solidFill>
          <a:ln w="12700">
            <a:solidFill>
              <a:srgbClr val="55607A"/>
            </a:solidFill>
            <a:prstDash val="solid"/>
          </a:ln>
        </p:spPr>
      </p:sp>
      <p:sp>
        <p:nvSpPr>
          <p:cNvPr id="13" name="Text 11"/>
          <p:cNvSpPr/>
          <p:nvPr/>
        </p:nvSpPr>
        <p:spPr>
          <a:xfrm>
            <a:off x="1975104" y="363931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3</a:t>
            </a:r>
            <a:endParaRPr lang="en-US" sz="1250" dirty="0"/>
          </a:p>
        </p:txBody>
      </p:sp>
      <p:sp>
        <p:nvSpPr>
          <p:cNvPr id="14" name="Shape 12"/>
          <p:cNvSpPr/>
          <p:nvPr/>
        </p:nvSpPr>
        <p:spPr>
          <a:xfrm>
            <a:off x="3291840" y="2880360"/>
            <a:ext cx="914400" cy="731520"/>
          </a:xfrm>
          <a:prstGeom prst="line">
            <a:avLst/>
          </a:prstGeom>
          <a:noFill/>
          <a:ln w="15875">
            <a:solidFill>
              <a:srgbClr val="D98C1F"/>
            </a:solidFill>
            <a:prstDash val="solid"/>
          </a:ln>
        </p:spPr>
      </p:sp>
      <p:sp>
        <p:nvSpPr>
          <p:cNvPr id="15" name="Text 13"/>
          <p:cNvSpPr/>
          <p:nvPr/>
        </p:nvSpPr>
        <p:spPr>
          <a:xfrm>
            <a:off x="3429000" y="3072384"/>
            <a:ext cx="640080" cy="256032"/>
          </a:xfrm>
          <a:prstGeom prst="rect">
            <a:avLst/>
          </a:prstGeom>
          <a:noFill/>
          <a:ln/>
        </p:spPr>
        <p:txBody>
          <a:bodyPr wrap="square" lIns="0" tIns="0" rIns="0" bIns="0" rtlCol="0" anchor="ctr"/>
          <a:lstStyle/>
          <a:p>
            <a:pPr algn="ctr" indent="0" marL="0">
              <a:buNone/>
            </a:pPr>
            <a:r>
              <a:rPr lang="en-US" sz="1050" i="1" dirty="0">
                <a:solidFill>
                  <a:srgbClr val="D98C1F"/>
                </a:solidFill>
                <a:latin typeface="Calibri" pitchFamily="34" charset="0"/>
                <a:ea typeface="Calibri" pitchFamily="34" charset="-122"/>
                <a:cs typeface="Calibri" pitchFamily="34" charset="-120"/>
              </a:rPr>
              <a:t>0.5</a:t>
            </a:r>
            <a:endParaRPr lang="en-US" sz="1050" dirty="0"/>
          </a:p>
        </p:txBody>
      </p:sp>
      <p:sp>
        <p:nvSpPr>
          <p:cNvPr id="16" name="Shape 14"/>
          <p:cNvSpPr/>
          <p:nvPr/>
        </p:nvSpPr>
        <p:spPr>
          <a:xfrm>
            <a:off x="4005072" y="3639312"/>
            <a:ext cx="402336" cy="310896"/>
          </a:xfrm>
          <a:prstGeom prst="roundRect">
            <a:avLst>
              <a:gd name="adj" fmla="val 14706"/>
            </a:avLst>
          </a:prstGeom>
          <a:solidFill>
            <a:srgbClr val="DCE3EE"/>
          </a:solidFill>
          <a:ln w="12700">
            <a:solidFill>
              <a:srgbClr val="55607A"/>
            </a:solidFill>
            <a:prstDash val="solid"/>
          </a:ln>
        </p:spPr>
      </p:sp>
      <p:sp>
        <p:nvSpPr>
          <p:cNvPr id="17" name="Text 15"/>
          <p:cNvSpPr/>
          <p:nvPr/>
        </p:nvSpPr>
        <p:spPr>
          <a:xfrm>
            <a:off x="3803904" y="363931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3</a:t>
            </a:r>
            <a:endParaRPr lang="en-US" sz="1250" dirty="0"/>
          </a:p>
        </p:txBody>
      </p:sp>
      <p:sp>
        <p:nvSpPr>
          <p:cNvPr id="18" name="Shape 16"/>
          <p:cNvSpPr/>
          <p:nvPr/>
        </p:nvSpPr>
        <p:spPr>
          <a:xfrm>
            <a:off x="5852160" y="1874520"/>
            <a:ext cx="2560320" cy="640080"/>
          </a:xfrm>
          <a:prstGeom prst="line">
            <a:avLst/>
          </a:prstGeom>
          <a:noFill/>
          <a:ln w="15875">
            <a:solidFill>
              <a:srgbClr val="55607A"/>
            </a:solidFill>
            <a:prstDash val="solid"/>
          </a:ln>
        </p:spPr>
      </p:sp>
      <p:sp>
        <p:nvSpPr>
          <p:cNvPr id="19" name="Text 17"/>
          <p:cNvSpPr/>
          <p:nvPr/>
        </p:nvSpPr>
        <p:spPr>
          <a:xfrm>
            <a:off x="6812280" y="2020824"/>
            <a:ext cx="640080" cy="256032"/>
          </a:xfrm>
          <a:prstGeom prst="rect">
            <a:avLst/>
          </a:prstGeom>
          <a:noFill/>
          <a:ln/>
        </p:spPr>
        <p:txBody>
          <a:bodyPr wrap="square" lIns="0" tIns="0" rIns="0" bIns="0" rtlCol="0" anchor="ctr"/>
          <a:lstStyle/>
          <a:p>
            <a:pPr algn="ctr" indent="0" marL="0">
              <a:buNone/>
            </a:pPr>
            <a:r>
              <a:rPr lang="en-US" sz="1100" i="1" dirty="0">
                <a:solidFill>
                  <a:srgbClr val="1F5AC4"/>
                </a:solidFill>
                <a:latin typeface="Calibri" pitchFamily="34" charset="0"/>
                <a:ea typeface="Calibri" pitchFamily="34" charset="-122"/>
                <a:cs typeface="Calibri" pitchFamily="34" charset="-120"/>
              </a:rPr>
              <a:t>a2</a:t>
            </a:r>
            <a:endParaRPr lang="en-US" sz="1100" dirty="0"/>
          </a:p>
        </p:txBody>
      </p:sp>
      <p:sp>
        <p:nvSpPr>
          <p:cNvPr id="20" name="Shape 18"/>
          <p:cNvSpPr/>
          <p:nvPr/>
        </p:nvSpPr>
        <p:spPr>
          <a:xfrm>
            <a:off x="8211312" y="2542032"/>
            <a:ext cx="402336" cy="310896"/>
          </a:xfrm>
          <a:prstGeom prst="ellipse">
            <a:avLst/>
          </a:prstGeom>
          <a:solidFill>
            <a:srgbClr val="FBEFD8"/>
          </a:solidFill>
          <a:ln w="19050">
            <a:solidFill>
              <a:srgbClr val="D98C1F"/>
            </a:solidFill>
            <a:prstDash val="solid"/>
          </a:ln>
        </p:spPr>
      </p:sp>
      <p:sp>
        <p:nvSpPr>
          <p:cNvPr id="21" name="Text 19"/>
          <p:cNvSpPr/>
          <p:nvPr/>
        </p:nvSpPr>
        <p:spPr>
          <a:xfrm>
            <a:off x="7955280" y="2130552"/>
            <a:ext cx="914400" cy="292608"/>
          </a:xfrm>
          <a:prstGeom prst="rect">
            <a:avLst/>
          </a:prstGeom>
          <a:noFill/>
          <a:ln/>
        </p:spPr>
        <p:txBody>
          <a:bodyPr wrap="square" lIns="0" tIns="0" rIns="0" bIns="0" rtlCol="0" anchor="ctr"/>
          <a:lstStyle/>
          <a:p>
            <a:pPr algn="ctr" indent="0" marL="0">
              <a:buNone/>
            </a:pPr>
            <a:r>
              <a:rPr lang="en-US" sz="1400" b="1" dirty="0">
                <a:solidFill>
                  <a:srgbClr val="D98C1F"/>
                </a:solidFill>
                <a:latin typeface="Calibri" pitchFamily="34" charset="0"/>
                <a:ea typeface="Calibri" pitchFamily="34" charset="-122"/>
                <a:cs typeface="Calibri" pitchFamily="34" charset="-120"/>
              </a:rPr>
              <a:t>2.5</a:t>
            </a:r>
            <a:endParaRPr lang="en-US" sz="1400" dirty="0"/>
          </a:p>
        </p:txBody>
      </p:sp>
      <p:sp>
        <p:nvSpPr>
          <p:cNvPr id="22" name="Shape 20"/>
          <p:cNvSpPr/>
          <p:nvPr/>
        </p:nvSpPr>
        <p:spPr>
          <a:xfrm flipH="1">
            <a:off x="7498080" y="2880360"/>
            <a:ext cx="914400" cy="731520"/>
          </a:xfrm>
          <a:prstGeom prst="line">
            <a:avLst/>
          </a:prstGeom>
          <a:noFill/>
          <a:ln w="15875">
            <a:solidFill>
              <a:srgbClr val="D98C1F"/>
            </a:solidFill>
            <a:prstDash val="solid"/>
          </a:ln>
        </p:spPr>
      </p:sp>
      <p:sp>
        <p:nvSpPr>
          <p:cNvPr id="23" name="Text 21"/>
          <p:cNvSpPr/>
          <p:nvPr/>
        </p:nvSpPr>
        <p:spPr>
          <a:xfrm>
            <a:off x="7635240" y="3072384"/>
            <a:ext cx="640080" cy="256032"/>
          </a:xfrm>
          <a:prstGeom prst="rect">
            <a:avLst/>
          </a:prstGeom>
          <a:noFill/>
          <a:ln/>
        </p:spPr>
        <p:txBody>
          <a:bodyPr wrap="square" lIns="0" tIns="0" rIns="0" bIns="0" rtlCol="0" anchor="ctr"/>
          <a:lstStyle/>
          <a:p>
            <a:pPr algn="ctr" indent="0" marL="0">
              <a:buNone/>
            </a:pPr>
            <a:r>
              <a:rPr lang="en-US" sz="1050" i="1" dirty="0">
                <a:solidFill>
                  <a:srgbClr val="D98C1F"/>
                </a:solidFill>
                <a:latin typeface="Calibri" pitchFamily="34" charset="0"/>
                <a:ea typeface="Calibri" pitchFamily="34" charset="-122"/>
                <a:cs typeface="Calibri" pitchFamily="34" charset="-120"/>
              </a:rPr>
              <a:t>0.5</a:t>
            </a:r>
            <a:endParaRPr lang="en-US" sz="1050" dirty="0"/>
          </a:p>
        </p:txBody>
      </p:sp>
      <p:sp>
        <p:nvSpPr>
          <p:cNvPr id="24" name="Shape 22"/>
          <p:cNvSpPr/>
          <p:nvPr/>
        </p:nvSpPr>
        <p:spPr>
          <a:xfrm>
            <a:off x="7296912" y="3639312"/>
            <a:ext cx="402336" cy="310896"/>
          </a:xfrm>
          <a:prstGeom prst="roundRect">
            <a:avLst>
              <a:gd name="adj" fmla="val 14706"/>
            </a:avLst>
          </a:prstGeom>
          <a:solidFill>
            <a:srgbClr val="DCE3EE"/>
          </a:solidFill>
          <a:ln w="12700">
            <a:solidFill>
              <a:srgbClr val="55607A"/>
            </a:solidFill>
            <a:prstDash val="solid"/>
          </a:ln>
        </p:spPr>
      </p:sp>
      <p:sp>
        <p:nvSpPr>
          <p:cNvPr id="25" name="Text 23"/>
          <p:cNvSpPr/>
          <p:nvPr/>
        </p:nvSpPr>
        <p:spPr>
          <a:xfrm>
            <a:off x="7095744" y="363931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1</a:t>
            </a:r>
            <a:endParaRPr lang="en-US" sz="1250" dirty="0"/>
          </a:p>
        </p:txBody>
      </p:sp>
      <p:sp>
        <p:nvSpPr>
          <p:cNvPr id="26" name="Shape 24"/>
          <p:cNvSpPr/>
          <p:nvPr/>
        </p:nvSpPr>
        <p:spPr>
          <a:xfrm>
            <a:off x="8412480" y="2880360"/>
            <a:ext cx="914400" cy="731520"/>
          </a:xfrm>
          <a:prstGeom prst="line">
            <a:avLst/>
          </a:prstGeom>
          <a:noFill/>
          <a:ln w="15875">
            <a:solidFill>
              <a:srgbClr val="D98C1F"/>
            </a:solidFill>
            <a:prstDash val="solid"/>
          </a:ln>
        </p:spPr>
      </p:sp>
      <p:sp>
        <p:nvSpPr>
          <p:cNvPr id="27" name="Text 25"/>
          <p:cNvSpPr/>
          <p:nvPr/>
        </p:nvSpPr>
        <p:spPr>
          <a:xfrm>
            <a:off x="8549640" y="3072384"/>
            <a:ext cx="640080" cy="256032"/>
          </a:xfrm>
          <a:prstGeom prst="rect">
            <a:avLst/>
          </a:prstGeom>
          <a:noFill/>
          <a:ln/>
        </p:spPr>
        <p:txBody>
          <a:bodyPr wrap="square" lIns="0" tIns="0" rIns="0" bIns="0" rtlCol="0" anchor="ctr"/>
          <a:lstStyle/>
          <a:p>
            <a:pPr algn="ctr" indent="0" marL="0">
              <a:buNone/>
            </a:pPr>
            <a:r>
              <a:rPr lang="en-US" sz="1050" i="1" dirty="0">
                <a:solidFill>
                  <a:srgbClr val="D98C1F"/>
                </a:solidFill>
                <a:latin typeface="Calibri" pitchFamily="34" charset="0"/>
                <a:ea typeface="Calibri" pitchFamily="34" charset="-122"/>
                <a:cs typeface="Calibri" pitchFamily="34" charset="-120"/>
              </a:rPr>
              <a:t>0.5</a:t>
            </a:r>
            <a:endParaRPr lang="en-US" sz="1050" dirty="0"/>
          </a:p>
        </p:txBody>
      </p:sp>
      <p:sp>
        <p:nvSpPr>
          <p:cNvPr id="28" name="Shape 26"/>
          <p:cNvSpPr/>
          <p:nvPr/>
        </p:nvSpPr>
        <p:spPr>
          <a:xfrm>
            <a:off x="9125712" y="3639312"/>
            <a:ext cx="402336" cy="310896"/>
          </a:xfrm>
          <a:prstGeom prst="roundRect">
            <a:avLst>
              <a:gd name="adj" fmla="val 14706"/>
            </a:avLst>
          </a:prstGeom>
          <a:solidFill>
            <a:srgbClr val="DCE3EE"/>
          </a:solidFill>
          <a:ln w="12700">
            <a:solidFill>
              <a:srgbClr val="55607A"/>
            </a:solidFill>
            <a:prstDash val="solid"/>
          </a:ln>
        </p:spPr>
      </p:sp>
      <p:sp>
        <p:nvSpPr>
          <p:cNvPr id="29" name="Text 27"/>
          <p:cNvSpPr/>
          <p:nvPr/>
        </p:nvSpPr>
        <p:spPr>
          <a:xfrm>
            <a:off x="8924544" y="3639312"/>
            <a:ext cx="804672" cy="310896"/>
          </a:xfrm>
          <a:prstGeom prst="rect">
            <a:avLst/>
          </a:prstGeom>
          <a:noFill/>
          <a:ln/>
        </p:spPr>
        <p:txBody>
          <a:bodyPr wrap="square" lIns="0" tIns="0" rIns="0" bIns="0" rtlCol="0" anchor="ctr"/>
          <a:lstStyle/>
          <a:p>
            <a:pPr algn="ctr" indent="0" marL="0">
              <a:buNone/>
            </a:pPr>
            <a:r>
              <a:rPr lang="en-US" sz="1250" b="1" dirty="0">
                <a:solidFill>
                  <a:srgbClr val="1A1A1A"/>
                </a:solidFill>
                <a:latin typeface="Calibri" pitchFamily="34" charset="0"/>
                <a:ea typeface="Calibri" pitchFamily="34" charset="-122"/>
                <a:cs typeface="Calibri" pitchFamily="34" charset="-120"/>
              </a:rPr>
              <a:t>4</a:t>
            </a:r>
            <a:endParaRPr lang="en-US" sz="1250" dirty="0"/>
          </a:p>
        </p:txBody>
      </p:sp>
      <p:sp>
        <p:nvSpPr>
          <p:cNvPr id="30" name="Shape 28"/>
          <p:cNvSpPr/>
          <p:nvPr/>
        </p:nvSpPr>
        <p:spPr>
          <a:xfrm>
            <a:off x="640080" y="4343400"/>
            <a:ext cx="5349240" cy="777240"/>
          </a:xfrm>
          <a:prstGeom prst="roundRect">
            <a:avLst>
              <a:gd name="adj" fmla="val 7059"/>
            </a:avLst>
          </a:prstGeom>
          <a:solidFill>
            <a:srgbClr val="DCE6FA"/>
          </a:solidFill>
          <a:ln w="12700">
            <a:solidFill>
              <a:srgbClr val="DCE6FA"/>
            </a:solidFill>
            <a:prstDash val="solid"/>
          </a:ln>
        </p:spPr>
      </p:sp>
      <p:sp>
        <p:nvSpPr>
          <p:cNvPr id="31" name="Text 29"/>
          <p:cNvSpPr/>
          <p:nvPr/>
        </p:nvSpPr>
        <p:spPr>
          <a:xfrm>
            <a:off x="822960" y="4434840"/>
            <a:ext cx="4983480" cy="594360"/>
          </a:xfrm>
          <a:prstGeom prst="rect">
            <a:avLst/>
          </a:prstGeom>
          <a:noFill/>
          <a:ln/>
        </p:spPr>
        <p:txBody>
          <a:bodyPr wrap="square" lIns="0" tIns="0" rIns="0" bIns="0" rtlCol="0" anchor="ctr"/>
          <a:lstStyle/>
          <a:p>
            <a:pPr algn="ctr" indent="0" marL="0">
              <a:lnSpc>
                <a:spcPct val="115000"/>
              </a:lnSpc>
              <a:buNone/>
            </a:pPr>
            <a:r>
              <a:rPr lang="en-US" sz="1400" dirty="0">
                <a:solidFill>
                  <a:srgbClr val="14213D"/>
                </a:solidFill>
                <a:latin typeface="Courier New" pitchFamily="34" charset="0"/>
                <a:ea typeface="Courier New" pitchFamily="34" charset="-122"/>
                <a:cs typeface="Courier New" pitchFamily="34" charset="-120"/>
              </a:rPr>
              <a:t>a1:  0.5(3) + 0.5(3)  =  3.0</a:t>
            </a:r>
            <a:endParaRPr lang="en-US" sz="1400" dirty="0"/>
          </a:p>
        </p:txBody>
      </p:sp>
      <p:sp>
        <p:nvSpPr>
          <p:cNvPr id="32" name="Shape 30"/>
          <p:cNvSpPr/>
          <p:nvPr/>
        </p:nvSpPr>
        <p:spPr>
          <a:xfrm>
            <a:off x="6172200" y="4343400"/>
            <a:ext cx="5349240" cy="777240"/>
          </a:xfrm>
          <a:prstGeom prst="roundRect">
            <a:avLst>
              <a:gd name="adj" fmla="val 7059"/>
            </a:avLst>
          </a:prstGeom>
          <a:solidFill>
            <a:srgbClr val="EFF3F9"/>
          </a:solidFill>
          <a:ln w="12700">
            <a:solidFill>
              <a:srgbClr val="EFF3F9"/>
            </a:solidFill>
            <a:prstDash val="solid"/>
          </a:ln>
        </p:spPr>
      </p:sp>
      <p:sp>
        <p:nvSpPr>
          <p:cNvPr id="33" name="Text 31"/>
          <p:cNvSpPr/>
          <p:nvPr/>
        </p:nvSpPr>
        <p:spPr>
          <a:xfrm>
            <a:off x="6355080" y="4434840"/>
            <a:ext cx="4983480" cy="594360"/>
          </a:xfrm>
          <a:prstGeom prst="rect">
            <a:avLst/>
          </a:prstGeom>
          <a:noFill/>
          <a:ln/>
        </p:spPr>
        <p:txBody>
          <a:bodyPr wrap="square" lIns="0" tIns="0" rIns="0" bIns="0" rtlCol="0" anchor="ctr"/>
          <a:lstStyle/>
          <a:p>
            <a:pPr algn="ctr" indent="0" marL="0">
              <a:lnSpc>
                <a:spcPct val="115000"/>
              </a:lnSpc>
              <a:buNone/>
            </a:pPr>
            <a:r>
              <a:rPr lang="en-US" sz="1400" dirty="0">
                <a:solidFill>
                  <a:srgbClr val="14213D"/>
                </a:solidFill>
                <a:latin typeface="Courier New" pitchFamily="34" charset="0"/>
                <a:ea typeface="Courier New" pitchFamily="34" charset="-122"/>
                <a:cs typeface="Courier New" pitchFamily="34" charset="-120"/>
              </a:rPr>
              <a:t>a2:  0.5(1) + 0.5(4)  =  2.5</a:t>
            </a:r>
            <a:endParaRPr lang="en-US" sz="1400" dirty="0"/>
          </a:p>
        </p:txBody>
      </p:sp>
      <p:sp>
        <p:nvSpPr>
          <p:cNvPr id="34" name="Text 32"/>
          <p:cNvSpPr/>
          <p:nvPr/>
        </p:nvSpPr>
        <p:spPr>
          <a:xfrm>
            <a:off x="640080" y="5303520"/>
            <a:ext cx="10881360" cy="457200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rgbClr val="1A1A1A"/>
                </a:solidFill>
                <a:latin typeface="Calibri" pitchFamily="34" charset="0"/>
                <a:ea typeface="Calibri" pitchFamily="34" charset="-122"/>
                <a:cs typeface="Calibri" pitchFamily="34" charset="-120"/>
              </a:rPr>
              <a:t>MAX takes max(3.0, 2.5) = 3.0 and plays a1: the safe move beats the gamble. Hold on to those four leaf values - the next slide changes only their scale, and the answer flips.</a:t>
            </a:r>
            <a:endParaRPr lang="en-US" sz="15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5.5.1</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Evaluation Functions Behave Differently Under Chance</a:t>
            </a:r>
            <a:endParaRPr lang="en-US" sz="2900" dirty="0"/>
          </a:p>
        </p:txBody>
      </p:sp>
      <p:sp>
        <p:nvSpPr>
          <p:cNvPr id="4" name="Shape 2"/>
          <p:cNvSpPr/>
          <p:nvPr/>
        </p:nvSpPr>
        <p:spPr>
          <a:xfrm>
            <a:off x="640080" y="1371600"/>
            <a:ext cx="5349240" cy="1280160"/>
          </a:xfrm>
          <a:prstGeom prst="roundRect">
            <a:avLst>
              <a:gd name="adj" fmla="val 5714"/>
            </a:avLst>
          </a:prstGeom>
          <a:solidFill>
            <a:srgbClr val="EFF3F9"/>
          </a:solidFill>
          <a:ln w="12700">
            <a:solidFill>
              <a:srgbClr val="EFF3F9"/>
            </a:solidFill>
            <a:prstDash val="solid"/>
          </a:ln>
        </p:spPr>
      </p:sp>
      <p:sp>
        <p:nvSpPr>
          <p:cNvPr id="5" name="Text 3"/>
          <p:cNvSpPr/>
          <p:nvPr/>
        </p:nvSpPr>
        <p:spPr>
          <a:xfrm>
            <a:off x="84124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Original leaf values:  1, 3, 3, 4</a:t>
            </a:r>
            <a:endParaRPr lang="en-US" sz="1500" dirty="0"/>
          </a:p>
        </p:txBody>
      </p:sp>
      <p:sp>
        <p:nvSpPr>
          <p:cNvPr id="6" name="Text 4"/>
          <p:cNvSpPr/>
          <p:nvPr/>
        </p:nvSpPr>
        <p:spPr>
          <a:xfrm>
            <a:off x="841248" y="1865376"/>
            <a:ext cx="4946904" cy="621792"/>
          </a:xfrm>
          <a:prstGeom prst="rect">
            <a:avLst/>
          </a:prstGeom>
          <a:noFill/>
          <a:ln/>
        </p:spPr>
        <p:txBody>
          <a:bodyPr wrap="square" lIns="0" tIns="0" rIns="0" bIns="0" rtlCol="0" anchor="t"/>
          <a:lstStyle/>
          <a:p>
            <a:pPr indent="0" marL="0">
              <a:lnSpc>
                <a:spcPct val="108000"/>
              </a:lnSpc>
              <a:buNone/>
            </a:pPr>
            <a:r>
              <a:rPr lang="en-US" sz="1400" dirty="0">
                <a:solidFill>
                  <a:srgbClr val="1A1A1A"/>
                </a:solidFill>
                <a:latin typeface="Calibri" pitchFamily="34" charset="0"/>
                <a:ea typeface="Calibri" pitchFamily="34" charset="-122"/>
                <a:cs typeface="Calibri" pitchFamily="34" charset="-120"/>
              </a:rPr>
              <a:t>a1 = 3.0,   a2 = 2.5.    MAX plays a1.</a:t>
            </a:r>
            <a:endParaRPr lang="en-US" sz="1400" dirty="0"/>
          </a:p>
        </p:txBody>
      </p:sp>
      <p:sp>
        <p:nvSpPr>
          <p:cNvPr id="7" name="Shape 5"/>
          <p:cNvSpPr/>
          <p:nvPr/>
        </p:nvSpPr>
        <p:spPr>
          <a:xfrm>
            <a:off x="6172200" y="1371600"/>
            <a:ext cx="5349240" cy="1280160"/>
          </a:xfrm>
          <a:prstGeom prst="roundRect">
            <a:avLst>
              <a:gd name="adj" fmla="val 5714"/>
            </a:avLst>
          </a:prstGeom>
          <a:solidFill>
            <a:srgbClr val="F7DEDF"/>
          </a:solidFill>
          <a:ln w="12700">
            <a:solidFill>
              <a:srgbClr val="C1272D"/>
            </a:solidFill>
            <a:prstDash val="solid"/>
          </a:ln>
        </p:spPr>
      </p:sp>
      <p:sp>
        <p:nvSpPr>
          <p:cNvPr id="8" name="Text 6"/>
          <p:cNvSpPr/>
          <p:nvPr/>
        </p:nvSpPr>
        <p:spPr>
          <a:xfrm>
            <a:off x="6373368" y="1517904"/>
            <a:ext cx="494690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Rescaled leaf values:  1, 30, 30, 400</a:t>
            </a:r>
            <a:endParaRPr lang="en-US" sz="1500" dirty="0"/>
          </a:p>
        </p:txBody>
      </p:sp>
      <p:sp>
        <p:nvSpPr>
          <p:cNvPr id="9" name="Text 7"/>
          <p:cNvSpPr/>
          <p:nvPr/>
        </p:nvSpPr>
        <p:spPr>
          <a:xfrm>
            <a:off x="6373368" y="1865376"/>
            <a:ext cx="4946904" cy="621792"/>
          </a:xfrm>
          <a:prstGeom prst="rect">
            <a:avLst/>
          </a:prstGeom>
          <a:noFill/>
          <a:ln/>
        </p:spPr>
        <p:txBody>
          <a:bodyPr wrap="square" lIns="0" tIns="0" rIns="0" bIns="0" rtlCol="0" anchor="t"/>
          <a:lstStyle/>
          <a:p>
            <a:pPr indent="0" marL="0">
              <a:lnSpc>
                <a:spcPct val="108000"/>
              </a:lnSpc>
              <a:buNone/>
            </a:pPr>
            <a:r>
              <a:rPr lang="en-US" sz="1400" dirty="0">
                <a:solidFill>
                  <a:srgbClr val="1A1A1A"/>
                </a:solidFill>
                <a:latin typeface="Calibri" pitchFamily="34" charset="0"/>
                <a:ea typeface="Calibri" pitchFamily="34" charset="-122"/>
                <a:cs typeface="Calibri" pitchFamily="34" charset="-120"/>
              </a:rPr>
              <a:t>a1 = 30,   a2 = 200.5.    MAX now plays a2.</a:t>
            </a:r>
            <a:endParaRPr lang="en-US" sz="1400" dirty="0"/>
          </a:p>
        </p:txBody>
      </p:sp>
      <p:sp>
        <p:nvSpPr>
          <p:cNvPr id="10" name="Shape 8"/>
          <p:cNvSpPr/>
          <p:nvPr/>
        </p:nvSpPr>
        <p:spPr>
          <a:xfrm>
            <a:off x="640080" y="2834640"/>
            <a:ext cx="10881360" cy="960120"/>
          </a:xfrm>
          <a:prstGeom prst="roundRect">
            <a:avLst>
              <a:gd name="adj" fmla="val 5714"/>
            </a:avLst>
          </a:prstGeom>
          <a:solidFill>
            <a:srgbClr val="14213D"/>
          </a:solidFill>
          <a:ln w="12700">
            <a:solidFill>
              <a:srgbClr val="14213D"/>
            </a:solidFill>
            <a:prstDash val="solid"/>
          </a:ln>
        </p:spPr>
      </p:sp>
      <p:sp>
        <p:nvSpPr>
          <p:cNvPr id="11" name="Text 9"/>
          <p:cNvSpPr/>
          <p:nvPr/>
        </p:nvSpPr>
        <p:spPr>
          <a:xfrm>
            <a:off x="822960" y="2926080"/>
            <a:ext cx="10515600" cy="777240"/>
          </a:xfrm>
          <a:prstGeom prst="rect">
            <a:avLst/>
          </a:prstGeom>
          <a:noFill/>
          <a:ln/>
        </p:spPr>
        <p:txBody>
          <a:bodyPr wrap="square" lIns="0" tIns="0" rIns="0" bIns="0" rtlCol="0" anchor="ctr"/>
          <a:lstStyle/>
          <a:p>
            <a:pPr algn="ctr" indent="0" marL="0">
              <a:lnSpc>
                <a:spcPct val="115000"/>
              </a:lnSpc>
              <a:buNone/>
            </a:pPr>
            <a:r>
              <a:rPr lang="en-US" sz="1600" dirty="0">
                <a:solidFill>
                  <a:srgbClr val="FFFFFF"/>
                </a:solidFill>
                <a:latin typeface="Cambria" pitchFamily="34" charset="0"/>
                <a:ea typeface="Cambria" pitchFamily="34" charset="-122"/>
                <a:cs typeface="Cambria" pitchFamily="34" charset="-120"/>
              </a:rPr>
              <a:t>The rescaling preserved the order of every outcome - 1 &lt; 3 &lt; 4 became 1 &lt; 30 &lt; 400 - and still reversed the decision.</a:t>
            </a:r>
            <a:endParaRPr lang="en-US" sz="1600" dirty="0"/>
          </a:p>
        </p:txBody>
      </p:sp>
      <p:sp>
        <p:nvSpPr>
          <p:cNvPr id="12" name="Text 10"/>
          <p:cNvSpPr/>
          <p:nvPr/>
        </p:nvSpPr>
        <p:spPr>
          <a:xfrm>
            <a:off x="640080" y="3931920"/>
            <a:ext cx="10881360" cy="45720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In deterministic minimax only the order of the leaf values matters, because max and min are order-based. Any monotone rescaling leaves the decision untouched.</a:t>
            </a:r>
            <a:endParaRPr lang="en-US" sz="1500" dirty="0"/>
          </a:p>
          <a:p>
            <a:pPr marL="203200" indent="-203200">
              <a:spcAft>
                <a:spcPts val="800"/>
              </a:spcAft>
              <a:buSzPct val="100000"/>
              <a:buChar char="•"/>
            </a:pPr>
            <a:r>
              <a:rPr lang="en-US" sz="1500" b="1" dirty="0">
                <a:solidFill>
                  <a:srgbClr val="C1272D"/>
                </a:solidFill>
                <a:latin typeface="Calibri" pitchFamily="34" charset="0"/>
                <a:ea typeface="Calibri" pitchFamily="34" charset="-122"/>
                <a:cs typeface="Calibri" pitchFamily="34" charset="-120"/>
              </a:rPr>
              <a:t>A chance node averages values, and averaging is not order-based. The magnitudes now matter, so the program can behave completely differently even when the preference order is unchanged.</a:t>
            </a:r>
            <a:endParaRPr lang="en-US" sz="1500" dirty="0"/>
          </a:p>
          <a:p>
            <a:pPr marL="203200" indent="-203200">
              <a:spcAft>
                <a:spcPts val="800"/>
              </a:spcAft>
              <a:buSzPct val="100000"/>
              <a:buChar char="•"/>
            </a:pPr>
            <a:r>
              <a:rPr lang="en-US" sz="1500" b="1" dirty="0">
                <a:solidFill>
                  <a:srgbClr val="14213D"/>
                </a:solidFill>
                <a:latin typeface="Calibri" pitchFamily="34" charset="0"/>
                <a:ea typeface="Calibri" pitchFamily="34" charset="-122"/>
                <a:cs typeface="Calibri" pitchFamily="34" charset="-120"/>
              </a:rPr>
              <a:t>The requirement: the evaluation function must return values that are a positive linear transformation of the probability of winning - or of expected utility, in games with richer outcomes.</a:t>
            </a:r>
            <a:endParaRPr lang="en-US" sz="1500" dirty="0"/>
          </a:p>
          <a:p>
            <a:pPr marL="203200" indent="-2032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This link between evaluation and probability is a general property of decision-making under uncertainty, and we return to it in Chapter 16.</a:t>
            </a:r>
            <a:endParaRPr lang="en-US" sz="15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5.5.1</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Complexity, and Whether We Can Still Prune</a:t>
            </a:r>
            <a:endParaRPr lang="en-US" sz="2900" dirty="0"/>
          </a:p>
        </p:txBody>
      </p:sp>
      <p:sp>
        <p:nvSpPr>
          <p:cNvPr id="4" name="Text 2"/>
          <p:cNvSpPr/>
          <p:nvPr/>
        </p:nvSpPr>
        <p:spPr>
          <a:xfrm>
            <a:off x="640080" y="1508760"/>
            <a:ext cx="3291840" cy="658368"/>
          </a:xfrm>
          <a:prstGeom prst="rect">
            <a:avLst/>
          </a:prstGeom>
          <a:noFill/>
          <a:ln/>
        </p:spPr>
        <p:txBody>
          <a:bodyPr wrap="square" lIns="0" tIns="0" rIns="0" bIns="0" rtlCol="0" anchor="ctr"/>
          <a:lstStyle/>
          <a:p>
            <a:pPr algn="ctr" indent="0" marL="0">
              <a:buNone/>
            </a:pPr>
            <a:r>
              <a:rPr lang="en-US" sz="3000" b="1" dirty="0">
                <a:solidFill>
                  <a:srgbClr val="C1272D"/>
                </a:solidFill>
                <a:latin typeface="Cambria" pitchFamily="34" charset="0"/>
                <a:ea typeface="Cambria" pitchFamily="34" charset="-122"/>
                <a:cs typeface="Cambria" pitchFamily="34" charset="-120"/>
              </a:rPr>
              <a:t>O(b^m n^m)</a:t>
            </a:r>
            <a:endParaRPr lang="en-US" sz="3000" dirty="0"/>
          </a:p>
        </p:txBody>
      </p:sp>
      <p:sp>
        <p:nvSpPr>
          <p:cNvPr id="5" name="Text 3"/>
          <p:cNvSpPr/>
          <p:nvPr/>
        </p:nvSpPr>
        <p:spPr>
          <a:xfrm>
            <a:off x="640080" y="2185416"/>
            <a:ext cx="329184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expectiminimax time, where n is</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the number of distinct rolls</a:t>
            </a:r>
            <a:endParaRPr lang="en-US" sz="1200" dirty="0"/>
          </a:p>
        </p:txBody>
      </p:sp>
      <p:sp>
        <p:nvSpPr>
          <p:cNvPr id="6" name="Text 4"/>
          <p:cNvSpPr/>
          <p:nvPr/>
        </p:nvSpPr>
        <p:spPr>
          <a:xfrm>
            <a:off x="4206240" y="1508760"/>
            <a:ext cx="3291840" cy="658368"/>
          </a:xfrm>
          <a:prstGeom prst="rect">
            <a:avLst/>
          </a:prstGeom>
          <a:noFill/>
          <a:ln/>
        </p:spPr>
        <p:txBody>
          <a:bodyPr wrap="square" lIns="0" tIns="0" rIns="0" bIns="0" rtlCol="0" anchor="ctr"/>
          <a:lstStyle/>
          <a:p>
            <a:pPr algn="ctr" indent="0" marL="0">
              <a:buNone/>
            </a:pPr>
            <a:r>
              <a:rPr lang="en-US" sz="3400" b="1" dirty="0">
                <a:solidFill>
                  <a:srgbClr val="D98C1F"/>
                </a:solidFill>
                <a:latin typeface="Cambria" pitchFamily="34" charset="0"/>
                <a:ea typeface="Cambria" pitchFamily="34" charset="-122"/>
                <a:cs typeface="Cambria" pitchFamily="34" charset="-120"/>
              </a:rPr>
              <a:t>n = 21</a:t>
            </a:r>
            <a:endParaRPr lang="en-US" sz="3400" dirty="0"/>
          </a:p>
        </p:txBody>
      </p:sp>
      <p:sp>
        <p:nvSpPr>
          <p:cNvPr id="7" name="Text 5"/>
          <p:cNvSpPr/>
          <p:nvPr/>
        </p:nvSpPr>
        <p:spPr>
          <a:xfrm>
            <a:off x="4206240" y="2185416"/>
            <a:ext cx="329184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distinct rolls in backgammon;</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b is usually around 20</a:t>
            </a:r>
            <a:endParaRPr lang="en-US" sz="1200" dirty="0"/>
          </a:p>
        </p:txBody>
      </p:sp>
      <p:sp>
        <p:nvSpPr>
          <p:cNvPr id="8" name="Text 6"/>
          <p:cNvSpPr/>
          <p:nvPr/>
        </p:nvSpPr>
        <p:spPr>
          <a:xfrm>
            <a:off x="7772400" y="1508760"/>
            <a:ext cx="3749040" cy="658368"/>
          </a:xfrm>
          <a:prstGeom prst="rect">
            <a:avLst/>
          </a:prstGeom>
          <a:noFill/>
          <a:ln/>
        </p:spPr>
        <p:txBody>
          <a:bodyPr wrap="square" lIns="0" tIns="0" rIns="0" bIns="0" rtlCol="0" anchor="ctr"/>
          <a:lstStyle/>
          <a:p>
            <a:pPr algn="ctr" indent="0" marL="0">
              <a:buNone/>
            </a:pPr>
            <a:r>
              <a:rPr lang="en-US" sz="3400" b="1" dirty="0">
                <a:solidFill>
                  <a:srgbClr val="C1272D"/>
                </a:solidFill>
                <a:latin typeface="Cambria" pitchFamily="34" charset="0"/>
                <a:ea typeface="Cambria" pitchFamily="34" charset="-122"/>
                <a:cs typeface="Cambria" pitchFamily="34" charset="-120"/>
              </a:rPr>
              <a:t>3 ply</a:t>
            </a:r>
            <a:endParaRPr lang="en-US" sz="3400" dirty="0"/>
          </a:p>
        </p:txBody>
      </p:sp>
      <p:sp>
        <p:nvSpPr>
          <p:cNvPr id="9" name="Text 7"/>
          <p:cNvSpPr/>
          <p:nvPr/>
        </p:nvSpPr>
        <p:spPr>
          <a:xfrm>
            <a:off x="7772400" y="2185416"/>
            <a:ext cx="3749040" cy="640080"/>
          </a:xfrm>
          <a:prstGeom prst="rect">
            <a:avLst/>
          </a:prstGeom>
          <a:noFill/>
          <a:ln/>
        </p:spPr>
        <p:txBody>
          <a:bodyPr wrap="square" lIns="0" tIns="0" rIns="0" bIns="0" rtlCol="0" anchor="t"/>
          <a:lstStyle/>
          <a:p>
            <a:pPr algn="ctr" indent="0" marL="0">
              <a:buNone/>
            </a:pPr>
            <a:r>
              <a:rPr lang="en-US" sz="1200" dirty="0">
                <a:solidFill>
                  <a:srgbClr val="55607A"/>
                </a:solidFill>
                <a:latin typeface="Calibri" pitchFamily="34" charset="0"/>
                <a:ea typeface="Calibri" pitchFamily="34" charset="-122"/>
                <a:cs typeface="Calibri" pitchFamily="34" charset="-120"/>
              </a:rPr>
              <a:t>about all we can manage</a:t>
            </a:r>
            <a:endParaRPr lang="en-US" sz="1200" dirty="0"/>
          </a:p>
          <a:p>
            <a:pPr algn="ctr" indent="0" marL="0">
              <a:buNone/>
            </a:pPr>
            <a:r>
              <a:rPr lang="en-US" sz="1200" dirty="0">
                <a:solidFill>
                  <a:srgbClr val="55607A"/>
                </a:solidFill>
                <a:latin typeface="Calibri" pitchFamily="34" charset="0"/>
                <a:ea typeface="Calibri" pitchFamily="34" charset="-122"/>
                <a:cs typeface="Calibri" pitchFamily="34" charset="-120"/>
              </a:rPr>
              <a:t>in backgammon</a:t>
            </a:r>
            <a:endParaRPr lang="en-US" sz="1200" dirty="0"/>
          </a:p>
        </p:txBody>
      </p:sp>
      <p:sp>
        <p:nvSpPr>
          <p:cNvPr id="10" name="Text 8"/>
          <p:cNvSpPr/>
          <p:nvPr/>
        </p:nvSpPr>
        <p:spPr>
          <a:xfrm>
            <a:off x="640080" y="3520440"/>
            <a:ext cx="10881360" cy="457200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1A1A1A"/>
                </a:solidFill>
                <a:latin typeface="Calibri" pitchFamily="34" charset="0"/>
                <a:ea typeface="Calibri" pitchFamily="34" charset="-122"/>
                <a:cs typeface="Calibri" pitchFamily="34" charset="-120"/>
              </a:rPr>
              <a:t>Alpha-beta's strength was ignoring futures that will not happen under best play. With two dice thrown before every move, there are no likely sequences: even the most probable move occurs only 2/36 of the time, because the dice must first cooperate.</a:t>
            </a:r>
            <a:endParaRPr lang="en-US" sz="1450" dirty="0"/>
          </a:p>
          <a:p>
            <a:pPr marL="203200" indent="-203200">
              <a:spcAft>
                <a:spcPts val="600"/>
              </a:spcAft>
              <a:buSzPct val="100000"/>
              <a:buChar char="•"/>
            </a:pPr>
            <a:r>
              <a:rPr lang="en-US" sz="1450" b="1" dirty="0">
                <a:solidFill>
                  <a:srgbClr val="1A1A1A"/>
                </a:solidFill>
                <a:latin typeface="Calibri" pitchFamily="34" charset="0"/>
                <a:ea typeface="Calibri" pitchFamily="34" charset="-122"/>
                <a:cs typeface="Calibri" pitchFamily="34" charset="-120"/>
              </a:rPr>
              <a:t>That is a general lesson about uncertainty. Possibilities multiply, and forming detailed long plans becomes pointless because the world probably will not play along.</a:t>
            </a:r>
            <a:endParaRPr lang="en-US" sz="1450" dirty="0"/>
          </a:p>
          <a:p>
            <a:pPr marL="203200" indent="-203200">
              <a:spcAft>
                <a:spcPts val="600"/>
              </a:spcAft>
              <a:buSzPct val="100000"/>
              <a:buChar char="•"/>
            </a:pPr>
            <a:r>
              <a:rPr lang="en-US" sz="1450" b="1" dirty="0">
                <a:solidFill>
                  <a:srgbClr val="14213D"/>
                </a:solidFill>
                <a:latin typeface="Calibri" pitchFamily="34" charset="0"/>
                <a:ea typeface="Calibri" pitchFamily="34" charset="-122"/>
                <a:cs typeface="Calibri" pitchFamily="34" charset="-120"/>
              </a:rPr>
              <a:t>Chance nodes can still be pruned - but only with a trick.</a:t>
            </a:r>
            <a:endParaRPr lang="en-US" sz="1450" dirty="0"/>
          </a:p>
          <a:p>
            <a:pPr lvl="1" marL="406400" indent="-203200">
              <a:spcAft>
                <a:spcPts val="600"/>
              </a:spcAft>
              <a:buSzPct val="100000"/>
              <a:buChar char="•"/>
            </a:pPr>
            <a:r>
              <a:rPr lang="en-US" sz="1400" dirty="0">
                <a:solidFill>
                  <a:srgbClr val="55607A"/>
                </a:solidFill>
                <a:latin typeface="Calibri" pitchFamily="34" charset="0"/>
                <a:ea typeface="Calibri" pitchFamily="34" charset="-122"/>
                <a:cs typeface="Calibri" pitchFamily="34" charset="-120"/>
              </a:rPr>
              <a:t>A chance node's value is an average, and normally you must see every number to average it. But if utilities are bounded - say all values lie between -2 and +2 - you can bound the average after seeing only some children, and that is exactly what alpha-beta needs.</a:t>
            </a:r>
            <a:endParaRPr lang="en-US" sz="1450" dirty="0"/>
          </a:p>
          <a:p>
            <a:pPr lvl="1" marL="406400" indent="-203200">
              <a:spcAft>
                <a:spcPts val="600"/>
              </a:spcAft>
              <a:buSzPct val="100000"/>
              <a:buChar char="•"/>
            </a:pPr>
            <a:r>
              <a:rPr lang="en-US" sz="1400" dirty="0">
                <a:solidFill>
                  <a:srgbClr val="55607A"/>
                </a:solidFill>
                <a:latin typeface="Calibri" pitchFamily="34" charset="0"/>
                <a:ea typeface="Calibri" pitchFamily="34" charset="-122"/>
                <a:cs typeface="Calibri" pitchFamily="34" charset="-120"/>
              </a:rPr>
              <a:t>When the chance branching factor is huge, as in Yahtzee with five dice, consider forward pruning that samples a subset of the chance branches - or drop evaluation functions entirely and use MCTS, where each playout simply rolls the dice.</a:t>
            </a:r>
            <a:endParaRPr lang="en-US" sz="14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AIMA 5.6  ·  PREVIEW</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Looking Ahead: Imperfect Information</a:t>
            </a:r>
            <a:endParaRPr lang="en-US" sz="2900" dirty="0"/>
          </a:p>
        </p:txBody>
      </p:sp>
      <p:sp>
        <p:nvSpPr>
          <p:cNvPr id="4" name="Shape 2"/>
          <p:cNvSpPr/>
          <p:nvPr/>
        </p:nvSpPr>
        <p:spPr>
          <a:xfrm>
            <a:off x="640080" y="1417320"/>
            <a:ext cx="3429000" cy="2194560"/>
          </a:xfrm>
          <a:prstGeom prst="roundRect">
            <a:avLst>
              <a:gd name="adj" fmla="val 3333"/>
            </a:avLst>
          </a:prstGeom>
          <a:solidFill>
            <a:srgbClr val="EFF3F9"/>
          </a:solidFill>
          <a:ln w="12700">
            <a:solidFill>
              <a:srgbClr val="EFF3F9"/>
            </a:solidFill>
            <a:prstDash val="solid"/>
          </a:ln>
        </p:spPr>
      </p:sp>
      <p:sp>
        <p:nvSpPr>
          <p:cNvPr id="5" name="Text 3"/>
          <p:cNvSpPr/>
          <p:nvPr/>
        </p:nvSpPr>
        <p:spPr>
          <a:xfrm>
            <a:off x="841248" y="1563624"/>
            <a:ext cx="30266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Card games</a:t>
            </a:r>
            <a:endParaRPr lang="en-US" sz="1500" dirty="0"/>
          </a:p>
        </p:txBody>
      </p:sp>
      <p:sp>
        <p:nvSpPr>
          <p:cNvPr id="6" name="Text 4"/>
          <p:cNvSpPr/>
          <p:nvPr/>
        </p:nvSpPr>
        <p:spPr>
          <a:xfrm>
            <a:off x="841248" y="1911096"/>
            <a:ext cx="3026664" cy="153619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In poker and bridge, not all cards are visible to all players. You do not know which state you are in, only which states are possible.</a:t>
            </a:r>
            <a:endParaRPr lang="en-US" sz="1300" dirty="0"/>
          </a:p>
        </p:txBody>
      </p:sp>
      <p:sp>
        <p:nvSpPr>
          <p:cNvPr id="7" name="Shape 5"/>
          <p:cNvSpPr/>
          <p:nvPr/>
        </p:nvSpPr>
        <p:spPr>
          <a:xfrm>
            <a:off x="4343400" y="1417320"/>
            <a:ext cx="3429000" cy="2194560"/>
          </a:xfrm>
          <a:prstGeom prst="roundRect">
            <a:avLst>
              <a:gd name="adj" fmla="val 3333"/>
            </a:avLst>
          </a:prstGeom>
          <a:solidFill>
            <a:srgbClr val="EFF3F9"/>
          </a:solidFill>
          <a:ln w="12700">
            <a:solidFill>
              <a:srgbClr val="EFF3F9"/>
            </a:solidFill>
            <a:prstDash val="solid"/>
          </a:ln>
        </p:spPr>
      </p:sp>
      <p:sp>
        <p:nvSpPr>
          <p:cNvPr id="8" name="Text 6"/>
          <p:cNvSpPr/>
          <p:nvPr/>
        </p:nvSpPr>
        <p:spPr>
          <a:xfrm>
            <a:off x="4544568" y="1563624"/>
            <a:ext cx="30266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Why chance nodes are not enough</a:t>
            </a:r>
            <a:endParaRPr lang="en-US" sz="1500" dirty="0"/>
          </a:p>
        </p:txBody>
      </p:sp>
      <p:sp>
        <p:nvSpPr>
          <p:cNvPr id="9" name="Text 7"/>
          <p:cNvSpPr/>
          <p:nvPr/>
        </p:nvSpPr>
        <p:spPr>
          <a:xfrm>
            <a:off x="4544568" y="1911096"/>
            <a:ext cx="3026664" cy="153619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A hidden card is not a fresh random event at each turn. It was dealt once, and every observation since then is evidence about it.</a:t>
            </a:r>
            <a:endParaRPr lang="en-US" sz="1300" dirty="0"/>
          </a:p>
        </p:txBody>
      </p:sp>
      <p:sp>
        <p:nvSpPr>
          <p:cNvPr id="10" name="Shape 8"/>
          <p:cNvSpPr/>
          <p:nvPr/>
        </p:nvSpPr>
        <p:spPr>
          <a:xfrm>
            <a:off x="8092440" y="1417320"/>
            <a:ext cx="3429000" cy="2194560"/>
          </a:xfrm>
          <a:prstGeom prst="roundRect">
            <a:avLst>
              <a:gd name="adj" fmla="val 3333"/>
            </a:avLst>
          </a:prstGeom>
          <a:solidFill>
            <a:srgbClr val="DCE6FA"/>
          </a:solidFill>
          <a:ln w="12700">
            <a:solidFill>
              <a:srgbClr val="1F5AC4"/>
            </a:solidFill>
            <a:prstDash val="solid"/>
          </a:ln>
        </p:spPr>
      </p:sp>
      <p:sp>
        <p:nvSpPr>
          <p:cNvPr id="11" name="Text 9"/>
          <p:cNvSpPr/>
          <p:nvPr/>
        </p:nvSpPr>
        <p:spPr>
          <a:xfrm>
            <a:off x="8293608" y="1563624"/>
            <a:ext cx="302666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New strategic behavior</a:t>
            </a:r>
            <a:endParaRPr lang="en-US" sz="1500" dirty="0"/>
          </a:p>
        </p:txBody>
      </p:sp>
      <p:sp>
        <p:nvSpPr>
          <p:cNvPr id="12" name="Text 10"/>
          <p:cNvSpPr/>
          <p:nvPr/>
        </p:nvSpPr>
        <p:spPr>
          <a:xfrm>
            <a:off x="8293608" y="1911096"/>
            <a:ext cx="3026664" cy="1536192"/>
          </a:xfrm>
          <a:prstGeom prst="rect">
            <a:avLst/>
          </a:prstGeom>
          <a:noFill/>
          <a:ln/>
        </p:spPr>
        <p:txBody>
          <a:bodyPr wrap="square" lIns="0" tIns="0" rIns="0" bIns="0" rtlCol="0" anchor="t"/>
          <a:lstStyle/>
          <a:p>
            <a:pPr indent="0" marL="0">
              <a:lnSpc>
                <a:spcPct val="108000"/>
              </a:lnSpc>
              <a:buNone/>
            </a:pPr>
            <a:r>
              <a:rPr lang="en-US" sz="1300" dirty="0">
                <a:solidFill>
                  <a:srgbClr val="14213D"/>
                </a:solidFill>
                <a:latin typeface="Calibri" pitchFamily="34" charset="0"/>
                <a:ea typeface="Calibri" pitchFamily="34" charset="-122"/>
                <a:cs typeface="Calibri" pitchFamily="34" charset="-120"/>
              </a:rPr>
              <a:t>Bluffing and information-gathering become rational moves - actions chosen for what they reveal or conceal rather than for what they achieve on the board.</a:t>
            </a:r>
            <a:endParaRPr lang="en-US" sz="1300" dirty="0"/>
          </a:p>
        </p:txBody>
      </p:sp>
      <p:sp>
        <p:nvSpPr>
          <p:cNvPr id="13" name="Shape 11"/>
          <p:cNvSpPr/>
          <p:nvPr/>
        </p:nvSpPr>
        <p:spPr>
          <a:xfrm>
            <a:off x="640080" y="3886200"/>
            <a:ext cx="10881360" cy="914400"/>
          </a:xfrm>
          <a:prstGeom prst="roundRect">
            <a:avLst>
              <a:gd name="adj" fmla="val 6000"/>
            </a:avLst>
          </a:prstGeom>
          <a:solidFill>
            <a:srgbClr val="14213D"/>
          </a:solidFill>
          <a:ln w="12700">
            <a:solidFill>
              <a:srgbClr val="14213D"/>
            </a:solidFill>
            <a:prstDash val="solid"/>
          </a:ln>
        </p:spPr>
      </p:sp>
      <p:sp>
        <p:nvSpPr>
          <p:cNvPr id="14" name="Text 12"/>
          <p:cNvSpPr/>
          <p:nvPr/>
        </p:nvSpPr>
        <p:spPr>
          <a:xfrm>
            <a:off x="822960" y="3977640"/>
            <a:ext cx="10515600" cy="731520"/>
          </a:xfrm>
          <a:prstGeom prst="rect">
            <a:avLst/>
          </a:prstGeom>
          <a:noFill/>
          <a:ln/>
        </p:spPr>
        <p:txBody>
          <a:bodyPr wrap="square" lIns="0" tIns="0" rIns="0" bIns="0" rtlCol="0" anchor="ctr"/>
          <a:lstStyle/>
          <a:p>
            <a:pPr algn="ctr" indent="0" marL="0">
              <a:lnSpc>
                <a:spcPct val="115000"/>
              </a:lnSpc>
              <a:buNone/>
            </a:pPr>
            <a:r>
              <a:rPr lang="en-US" sz="1600" dirty="0">
                <a:solidFill>
                  <a:srgbClr val="FFFFFF"/>
                </a:solidFill>
                <a:latin typeface="Cambria" pitchFamily="34" charset="0"/>
                <a:ea typeface="Cambria" pitchFamily="34" charset="-122"/>
                <a:cs typeface="Cambria" pitchFamily="34" charset="-120"/>
              </a:rPr>
              <a:t>Optional reading: AIMA Section 5.6. It is not on the next exam, but it is where the ideas of this chapter</a:t>
            </a:r>
            <a:endParaRPr lang="en-US" sz="1600" dirty="0"/>
          </a:p>
          <a:p>
            <a:pPr algn="ctr" indent="0" marL="0">
              <a:lnSpc>
                <a:spcPct val="115000"/>
              </a:lnSpc>
              <a:buNone/>
            </a:pPr>
            <a:r>
              <a:rPr lang="en-US" sz="1600" dirty="0">
                <a:solidFill>
                  <a:srgbClr val="FFFFFF"/>
                </a:solidFill>
                <a:latin typeface="Cambria" pitchFamily="34" charset="0"/>
                <a:ea typeface="Cambria" pitchFamily="34" charset="-122"/>
                <a:cs typeface="Cambria" pitchFamily="34" charset="-120"/>
              </a:rPr>
              <a:t>meet the probabilistic reasoning of Part IV.</a:t>
            </a:r>
            <a:endParaRPr lang="en-US" sz="1600" dirty="0"/>
          </a:p>
        </p:txBody>
      </p:sp>
      <p:sp>
        <p:nvSpPr>
          <p:cNvPr id="15" name="Text 13"/>
          <p:cNvSpPr/>
          <p:nvPr/>
        </p:nvSpPr>
        <p:spPr>
          <a:xfrm>
            <a:off x="640080" y="5074920"/>
            <a:ext cx="10881360" cy="457200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rgbClr val="1A1A1A"/>
                </a:solidFill>
                <a:latin typeface="Calibri" pitchFamily="34" charset="0"/>
                <a:ea typeface="Calibri" pitchFamily="34" charset="-122"/>
                <a:cs typeface="Calibri" pitchFamily="34" charset="-120"/>
              </a:rPr>
              <a:t>Next lecture: uncertainty, probability, and expected utility as a foundation for decision-making - the machinery that expectiminimax quietly assumed today.</a:t>
            </a:r>
            <a:endParaRPr lang="en-US" sz="15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KEY TAKEAWAYS</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The Whole Lecture in One Slide</a:t>
            </a:r>
            <a:endParaRPr lang="en-US" sz="2900" dirty="0"/>
          </a:p>
        </p:txBody>
      </p:sp>
      <p:sp>
        <p:nvSpPr>
          <p:cNvPr id="4" name="Shape 2"/>
          <p:cNvSpPr/>
          <p:nvPr/>
        </p:nvSpPr>
        <p:spPr>
          <a:xfrm>
            <a:off x="640080" y="1371600"/>
            <a:ext cx="5257800" cy="1051560"/>
          </a:xfrm>
          <a:prstGeom prst="roundRect">
            <a:avLst>
              <a:gd name="adj" fmla="val 5217"/>
            </a:avLst>
          </a:prstGeom>
          <a:solidFill>
            <a:srgbClr val="EFF3F9"/>
          </a:solidFill>
          <a:ln w="12700">
            <a:solidFill>
              <a:srgbClr val="DCE3EE"/>
            </a:solidFill>
            <a:prstDash val="solid"/>
          </a:ln>
        </p:spPr>
      </p:sp>
      <p:sp>
        <p:nvSpPr>
          <p:cNvPr id="5" name="Shape 3"/>
          <p:cNvSpPr/>
          <p:nvPr/>
        </p:nvSpPr>
        <p:spPr>
          <a:xfrm>
            <a:off x="868680" y="1682496"/>
            <a:ext cx="384048" cy="384048"/>
          </a:xfrm>
          <a:prstGeom prst="ellipse">
            <a:avLst/>
          </a:prstGeom>
          <a:solidFill>
            <a:srgbClr val="1F5AC4"/>
          </a:solidFill>
          <a:ln w="12700">
            <a:solidFill>
              <a:srgbClr val="1F5AC4"/>
            </a:solidFill>
            <a:prstDash val="solid"/>
          </a:ln>
        </p:spPr>
      </p:sp>
      <p:sp>
        <p:nvSpPr>
          <p:cNvPr id="6" name="Text 4"/>
          <p:cNvSpPr/>
          <p:nvPr/>
        </p:nvSpPr>
        <p:spPr>
          <a:xfrm>
            <a:off x="868680" y="16824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417320" y="1499616"/>
            <a:ext cx="4297680" cy="384048"/>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Games need policies, not paths</a:t>
            </a:r>
            <a:endParaRPr lang="en-US" sz="1500" dirty="0"/>
          </a:p>
        </p:txBody>
      </p:sp>
      <p:sp>
        <p:nvSpPr>
          <p:cNvPr id="8" name="Text 6"/>
          <p:cNvSpPr/>
          <p:nvPr/>
        </p:nvSpPr>
        <p:spPr>
          <a:xfrm>
            <a:off x="1417320" y="1883664"/>
            <a:ext cx="4297680" cy="475488"/>
          </a:xfrm>
          <a:prstGeom prst="rect">
            <a:avLst/>
          </a:prstGeom>
          <a:noFill/>
          <a:ln/>
        </p:spPr>
        <p:txBody>
          <a:bodyPr wrap="square" lIns="0" tIns="0" rIns="0" bIns="0" rtlCol="0" anchor="t"/>
          <a:lstStyle/>
          <a:p>
            <a:pPr indent="0" marL="0">
              <a:buNone/>
            </a:pPr>
            <a:r>
              <a:rPr lang="en-US" sz="1200" dirty="0">
                <a:solidFill>
                  <a:srgbClr val="55607A"/>
                </a:solidFill>
                <a:latin typeface="Calibri" pitchFamily="34" charset="0"/>
                <a:ea typeface="Calibri" pitchFamily="34" charset="-122"/>
                <a:cs typeface="Calibri" pitchFamily="34" charset="-120"/>
              </a:rPr>
              <a:t>The opponent moves in between your moves, so the solution must answer every reply.</a:t>
            </a:r>
            <a:endParaRPr lang="en-US" sz="1200" dirty="0"/>
          </a:p>
        </p:txBody>
      </p:sp>
      <p:sp>
        <p:nvSpPr>
          <p:cNvPr id="9" name="Shape 7"/>
          <p:cNvSpPr/>
          <p:nvPr/>
        </p:nvSpPr>
        <p:spPr>
          <a:xfrm>
            <a:off x="6172200" y="1371600"/>
            <a:ext cx="5257800" cy="1051560"/>
          </a:xfrm>
          <a:prstGeom prst="roundRect">
            <a:avLst>
              <a:gd name="adj" fmla="val 5217"/>
            </a:avLst>
          </a:prstGeom>
          <a:solidFill>
            <a:srgbClr val="EFF3F9"/>
          </a:solidFill>
          <a:ln w="12700">
            <a:solidFill>
              <a:srgbClr val="DCE3EE"/>
            </a:solidFill>
            <a:prstDash val="solid"/>
          </a:ln>
        </p:spPr>
      </p:sp>
      <p:sp>
        <p:nvSpPr>
          <p:cNvPr id="10" name="Shape 8"/>
          <p:cNvSpPr/>
          <p:nvPr/>
        </p:nvSpPr>
        <p:spPr>
          <a:xfrm>
            <a:off x="6400800" y="1682496"/>
            <a:ext cx="384048" cy="384048"/>
          </a:xfrm>
          <a:prstGeom prst="ellipse">
            <a:avLst/>
          </a:prstGeom>
          <a:solidFill>
            <a:srgbClr val="1F5AC4"/>
          </a:solidFill>
          <a:ln w="12700">
            <a:solidFill>
              <a:srgbClr val="1F5AC4"/>
            </a:solidFill>
            <a:prstDash val="solid"/>
          </a:ln>
        </p:spPr>
      </p:sp>
      <p:sp>
        <p:nvSpPr>
          <p:cNvPr id="11" name="Text 9"/>
          <p:cNvSpPr/>
          <p:nvPr/>
        </p:nvSpPr>
        <p:spPr>
          <a:xfrm>
            <a:off x="6400800" y="16824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6949440" y="1499616"/>
            <a:ext cx="4297680" cy="384048"/>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Minimax defines correct play</a:t>
            </a:r>
            <a:endParaRPr lang="en-US" sz="1500" dirty="0"/>
          </a:p>
        </p:txBody>
      </p:sp>
      <p:sp>
        <p:nvSpPr>
          <p:cNvPr id="13" name="Text 11"/>
          <p:cNvSpPr/>
          <p:nvPr/>
        </p:nvSpPr>
        <p:spPr>
          <a:xfrm>
            <a:off x="6949440" y="1883664"/>
            <a:ext cx="4297680" cy="475488"/>
          </a:xfrm>
          <a:prstGeom prst="rect">
            <a:avLst/>
          </a:prstGeom>
          <a:noFill/>
          <a:ln/>
        </p:spPr>
        <p:txBody>
          <a:bodyPr wrap="square" lIns="0" tIns="0" rIns="0" bIns="0" rtlCol="0" anchor="t"/>
          <a:lstStyle/>
          <a:p>
            <a:pPr indent="0" marL="0">
              <a:buNone/>
            </a:pPr>
            <a:r>
              <a:rPr lang="en-US" sz="1200" dirty="0">
                <a:solidFill>
                  <a:srgbClr val="55607A"/>
                </a:solidFill>
                <a:latin typeface="Calibri" pitchFamily="34" charset="0"/>
                <a:ea typeface="Calibri" pitchFamily="34" charset="-122"/>
                <a:cs typeface="Calibri" pitchFamily="34" charset="-120"/>
              </a:rPr>
              <a:t>The value a player can guarantee against a perfect adversary. Exact, and O(b^m) - unusable directly.</a:t>
            </a:r>
            <a:endParaRPr lang="en-US" sz="1200" dirty="0"/>
          </a:p>
        </p:txBody>
      </p:sp>
      <p:sp>
        <p:nvSpPr>
          <p:cNvPr id="14" name="Shape 12"/>
          <p:cNvSpPr/>
          <p:nvPr/>
        </p:nvSpPr>
        <p:spPr>
          <a:xfrm>
            <a:off x="640080" y="2578608"/>
            <a:ext cx="5257800" cy="1051560"/>
          </a:xfrm>
          <a:prstGeom prst="roundRect">
            <a:avLst>
              <a:gd name="adj" fmla="val 5217"/>
            </a:avLst>
          </a:prstGeom>
          <a:solidFill>
            <a:srgbClr val="EFF3F9"/>
          </a:solidFill>
          <a:ln w="12700">
            <a:solidFill>
              <a:srgbClr val="DCE3EE"/>
            </a:solidFill>
            <a:prstDash val="solid"/>
          </a:ln>
        </p:spPr>
      </p:sp>
      <p:sp>
        <p:nvSpPr>
          <p:cNvPr id="15" name="Shape 13"/>
          <p:cNvSpPr/>
          <p:nvPr/>
        </p:nvSpPr>
        <p:spPr>
          <a:xfrm>
            <a:off x="868680" y="2889504"/>
            <a:ext cx="384048" cy="384048"/>
          </a:xfrm>
          <a:prstGeom prst="ellipse">
            <a:avLst/>
          </a:prstGeom>
          <a:solidFill>
            <a:srgbClr val="C1272D"/>
          </a:solidFill>
          <a:ln w="12700">
            <a:solidFill>
              <a:srgbClr val="C1272D"/>
            </a:solidFill>
            <a:prstDash val="solid"/>
          </a:ln>
        </p:spPr>
      </p:sp>
      <p:sp>
        <p:nvSpPr>
          <p:cNvPr id="16" name="Text 14"/>
          <p:cNvSpPr/>
          <p:nvPr/>
        </p:nvSpPr>
        <p:spPr>
          <a:xfrm>
            <a:off x="868680" y="28895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417320" y="2706624"/>
            <a:ext cx="4297680" cy="384048"/>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Alpha-beta prunes for free</a:t>
            </a:r>
            <a:endParaRPr lang="en-US" sz="1500" dirty="0"/>
          </a:p>
        </p:txBody>
      </p:sp>
      <p:sp>
        <p:nvSpPr>
          <p:cNvPr id="18" name="Text 16"/>
          <p:cNvSpPr/>
          <p:nvPr/>
        </p:nvSpPr>
        <p:spPr>
          <a:xfrm>
            <a:off x="1417320" y="3090672"/>
            <a:ext cx="4297680" cy="475488"/>
          </a:xfrm>
          <a:prstGeom prst="rect">
            <a:avLst/>
          </a:prstGeom>
          <a:noFill/>
          <a:ln/>
        </p:spPr>
        <p:txBody>
          <a:bodyPr wrap="square" lIns="0" tIns="0" rIns="0" bIns="0" rtlCol="0" anchor="t"/>
          <a:lstStyle/>
          <a:p>
            <a:pPr indent="0" marL="0">
              <a:buNone/>
            </a:pPr>
            <a:r>
              <a:rPr lang="en-US" sz="1200" dirty="0">
                <a:solidFill>
                  <a:srgbClr val="55607A"/>
                </a:solidFill>
                <a:latin typeface="Calibri" pitchFamily="34" charset="0"/>
                <a:ea typeface="Calibri" pitchFamily="34" charset="-122"/>
                <a:cs typeface="Calibri" pitchFamily="34" charset="-120"/>
              </a:rPr>
              <a:t>Same root value, fewer nodes. Move ordering takes it from O(b^m) toward O(b^(m/2)), doubling reachable depth.</a:t>
            </a:r>
            <a:endParaRPr lang="en-US" sz="1200" dirty="0"/>
          </a:p>
        </p:txBody>
      </p:sp>
      <p:sp>
        <p:nvSpPr>
          <p:cNvPr id="19" name="Shape 17"/>
          <p:cNvSpPr/>
          <p:nvPr/>
        </p:nvSpPr>
        <p:spPr>
          <a:xfrm>
            <a:off x="6172200" y="2578608"/>
            <a:ext cx="5257800" cy="1051560"/>
          </a:xfrm>
          <a:prstGeom prst="roundRect">
            <a:avLst>
              <a:gd name="adj" fmla="val 5217"/>
            </a:avLst>
          </a:prstGeom>
          <a:solidFill>
            <a:srgbClr val="EFF3F9"/>
          </a:solidFill>
          <a:ln w="12700">
            <a:solidFill>
              <a:srgbClr val="DCE3EE"/>
            </a:solidFill>
            <a:prstDash val="solid"/>
          </a:ln>
        </p:spPr>
      </p:sp>
      <p:sp>
        <p:nvSpPr>
          <p:cNvPr id="20" name="Shape 18"/>
          <p:cNvSpPr/>
          <p:nvPr/>
        </p:nvSpPr>
        <p:spPr>
          <a:xfrm>
            <a:off x="6400800" y="2889504"/>
            <a:ext cx="384048" cy="384048"/>
          </a:xfrm>
          <a:prstGeom prst="ellipse">
            <a:avLst/>
          </a:prstGeom>
          <a:solidFill>
            <a:srgbClr val="C1272D"/>
          </a:solidFill>
          <a:ln w="12700">
            <a:solidFill>
              <a:srgbClr val="C1272D"/>
            </a:solidFill>
            <a:prstDash val="solid"/>
          </a:ln>
        </p:spPr>
      </p:sp>
      <p:sp>
        <p:nvSpPr>
          <p:cNvPr id="21" name="Text 19"/>
          <p:cNvSpPr/>
          <p:nvPr/>
        </p:nvSpPr>
        <p:spPr>
          <a:xfrm>
            <a:off x="6400800" y="28895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6949440" y="2706624"/>
            <a:ext cx="4297680" cy="384048"/>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Cutting off costs the guarantee</a:t>
            </a:r>
            <a:endParaRPr lang="en-US" sz="1500" dirty="0"/>
          </a:p>
        </p:txBody>
      </p:sp>
      <p:sp>
        <p:nvSpPr>
          <p:cNvPr id="23" name="Text 21"/>
          <p:cNvSpPr/>
          <p:nvPr/>
        </p:nvSpPr>
        <p:spPr>
          <a:xfrm>
            <a:off x="6949440" y="3090672"/>
            <a:ext cx="4297680" cy="475488"/>
          </a:xfrm>
          <a:prstGeom prst="rect">
            <a:avLst/>
          </a:prstGeom>
          <a:noFill/>
          <a:ln/>
        </p:spPr>
        <p:txBody>
          <a:bodyPr wrap="square" lIns="0" tIns="0" rIns="0" bIns="0" rtlCol="0" anchor="t"/>
          <a:lstStyle/>
          <a:p>
            <a:pPr indent="0" marL="0">
              <a:buNone/>
            </a:pPr>
            <a:r>
              <a:rPr lang="en-US" sz="1200" dirty="0">
                <a:solidFill>
                  <a:srgbClr val="55607A"/>
                </a:solidFill>
                <a:latin typeface="Calibri" pitchFamily="34" charset="0"/>
                <a:ea typeface="Calibri" pitchFamily="34" charset="-122"/>
                <a:cs typeface="Calibri" pitchFamily="34" charset="-120"/>
              </a:rPr>
              <a:t>Depth limits plus an evaluation function make play possible and optimality impossible.</a:t>
            </a:r>
            <a:endParaRPr lang="en-US" sz="1200" dirty="0"/>
          </a:p>
        </p:txBody>
      </p:sp>
      <p:sp>
        <p:nvSpPr>
          <p:cNvPr id="24" name="Shape 22"/>
          <p:cNvSpPr/>
          <p:nvPr/>
        </p:nvSpPr>
        <p:spPr>
          <a:xfrm>
            <a:off x="640080" y="3785616"/>
            <a:ext cx="5257800" cy="1051560"/>
          </a:xfrm>
          <a:prstGeom prst="roundRect">
            <a:avLst>
              <a:gd name="adj" fmla="val 5217"/>
            </a:avLst>
          </a:prstGeom>
          <a:solidFill>
            <a:srgbClr val="EFF3F9"/>
          </a:solidFill>
          <a:ln w="12700">
            <a:solidFill>
              <a:srgbClr val="DCE3EE"/>
            </a:solidFill>
            <a:prstDash val="solid"/>
          </a:ln>
        </p:spPr>
      </p:sp>
      <p:sp>
        <p:nvSpPr>
          <p:cNvPr id="25" name="Shape 23"/>
          <p:cNvSpPr/>
          <p:nvPr/>
        </p:nvSpPr>
        <p:spPr>
          <a:xfrm>
            <a:off x="868680" y="4096512"/>
            <a:ext cx="384048" cy="384048"/>
          </a:xfrm>
          <a:prstGeom prst="ellipse">
            <a:avLst/>
          </a:prstGeom>
          <a:solidFill>
            <a:srgbClr val="D98C1F"/>
          </a:solidFill>
          <a:ln w="12700">
            <a:solidFill>
              <a:srgbClr val="D98C1F"/>
            </a:solidFill>
            <a:prstDash val="solid"/>
          </a:ln>
        </p:spPr>
      </p:sp>
      <p:sp>
        <p:nvSpPr>
          <p:cNvPr id="26" name="Text 24"/>
          <p:cNvSpPr/>
          <p:nvPr/>
        </p:nvSpPr>
        <p:spPr>
          <a:xfrm>
            <a:off x="868680" y="40965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1417320" y="3913632"/>
            <a:ext cx="4297680" cy="384048"/>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Depth beats polish</a:t>
            </a:r>
            <a:endParaRPr lang="en-US" sz="1500" dirty="0"/>
          </a:p>
        </p:txBody>
      </p:sp>
      <p:sp>
        <p:nvSpPr>
          <p:cNvPr id="28" name="Text 26"/>
          <p:cNvSpPr/>
          <p:nvPr/>
        </p:nvSpPr>
        <p:spPr>
          <a:xfrm>
            <a:off x="1417320" y="4297680"/>
            <a:ext cx="4297680" cy="475488"/>
          </a:xfrm>
          <a:prstGeom prst="rect">
            <a:avLst/>
          </a:prstGeom>
          <a:noFill/>
          <a:ln/>
        </p:spPr>
        <p:txBody>
          <a:bodyPr wrap="square" lIns="0" tIns="0" rIns="0" bIns="0" rtlCol="0" anchor="t"/>
          <a:lstStyle/>
          <a:p>
            <a:pPr indent="0" marL="0">
              <a:buNone/>
            </a:pPr>
            <a:r>
              <a:rPr lang="en-US" sz="1200" dirty="0">
                <a:solidFill>
                  <a:srgbClr val="55607A"/>
                </a:solidFill>
                <a:latin typeface="Calibri" pitchFamily="34" charset="0"/>
                <a:ea typeface="Calibri" pitchFamily="34" charset="-122"/>
                <a:cs typeface="Calibri" pitchFamily="34" charset="-120"/>
              </a:rPr>
              <a:t>The deeper an evaluation function is buried, the less its errors matter.</a:t>
            </a:r>
            <a:endParaRPr lang="en-US" sz="1200" dirty="0"/>
          </a:p>
        </p:txBody>
      </p:sp>
      <p:sp>
        <p:nvSpPr>
          <p:cNvPr id="29" name="Shape 27"/>
          <p:cNvSpPr/>
          <p:nvPr/>
        </p:nvSpPr>
        <p:spPr>
          <a:xfrm>
            <a:off x="6172200" y="3785616"/>
            <a:ext cx="5257800" cy="1051560"/>
          </a:xfrm>
          <a:prstGeom prst="roundRect">
            <a:avLst>
              <a:gd name="adj" fmla="val 5217"/>
            </a:avLst>
          </a:prstGeom>
          <a:solidFill>
            <a:srgbClr val="EFF3F9"/>
          </a:solidFill>
          <a:ln w="12700">
            <a:solidFill>
              <a:srgbClr val="DCE3EE"/>
            </a:solidFill>
            <a:prstDash val="solid"/>
          </a:ln>
        </p:spPr>
      </p:sp>
      <p:sp>
        <p:nvSpPr>
          <p:cNvPr id="30" name="Shape 28"/>
          <p:cNvSpPr/>
          <p:nvPr/>
        </p:nvSpPr>
        <p:spPr>
          <a:xfrm>
            <a:off x="6400800" y="4096512"/>
            <a:ext cx="384048" cy="384048"/>
          </a:xfrm>
          <a:prstGeom prst="ellipse">
            <a:avLst/>
          </a:prstGeom>
          <a:solidFill>
            <a:srgbClr val="1E7A4C"/>
          </a:solidFill>
          <a:ln w="12700">
            <a:solidFill>
              <a:srgbClr val="1E7A4C"/>
            </a:solidFill>
            <a:prstDash val="solid"/>
          </a:ln>
        </p:spPr>
      </p:sp>
      <p:sp>
        <p:nvSpPr>
          <p:cNvPr id="31" name="Text 29"/>
          <p:cNvSpPr/>
          <p:nvPr/>
        </p:nvSpPr>
        <p:spPr>
          <a:xfrm>
            <a:off x="6400800" y="40965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6949440" y="3913632"/>
            <a:ext cx="4297680" cy="384048"/>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MCTS samples instead of enumerating</a:t>
            </a:r>
            <a:endParaRPr lang="en-US" sz="1500" dirty="0"/>
          </a:p>
        </p:txBody>
      </p:sp>
      <p:sp>
        <p:nvSpPr>
          <p:cNvPr id="33" name="Text 31"/>
          <p:cNvSpPr/>
          <p:nvPr/>
        </p:nvSpPr>
        <p:spPr>
          <a:xfrm>
            <a:off x="6949440" y="4297680"/>
            <a:ext cx="4297680" cy="475488"/>
          </a:xfrm>
          <a:prstGeom prst="rect">
            <a:avLst/>
          </a:prstGeom>
          <a:noFill/>
          <a:ln/>
        </p:spPr>
        <p:txBody>
          <a:bodyPr wrap="square" lIns="0" tIns="0" rIns="0" bIns="0" rtlCol="0" anchor="t"/>
          <a:lstStyle/>
          <a:p>
            <a:pPr indent="0" marL="0">
              <a:buNone/>
            </a:pPr>
            <a:r>
              <a:rPr lang="en-US" sz="1200" dirty="0">
                <a:solidFill>
                  <a:srgbClr val="55607A"/>
                </a:solidFill>
                <a:latin typeface="Calibri" pitchFamily="34" charset="0"/>
                <a:ea typeface="Calibri" pitchFamily="34" charset="-122"/>
                <a:cs typeface="Calibri" pitchFamily="34" charset="-120"/>
              </a:rPr>
              <a:t>Average many playouts, select with UCB1, return the most-visited move. Needs only the rules of the game.</a:t>
            </a:r>
            <a:endParaRPr lang="en-US" sz="1200" dirty="0"/>
          </a:p>
        </p:txBody>
      </p:sp>
      <p:sp>
        <p:nvSpPr>
          <p:cNvPr id="34" name="Shape 32"/>
          <p:cNvSpPr/>
          <p:nvPr/>
        </p:nvSpPr>
        <p:spPr>
          <a:xfrm>
            <a:off x="640080" y="4992624"/>
            <a:ext cx="10881360" cy="1051560"/>
          </a:xfrm>
          <a:prstGeom prst="roundRect">
            <a:avLst>
              <a:gd name="adj" fmla="val 5217"/>
            </a:avLst>
          </a:prstGeom>
          <a:solidFill>
            <a:srgbClr val="EFF3F9"/>
          </a:solidFill>
          <a:ln w="12700">
            <a:solidFill>
              <a:srgbClr val="DCE3EE"/>
            </a:solidFill>
            <a:prstDash val="solid"/>
          </a:ln>
        </p:spPr>
      </p:sp>
      <p:sp>
        <p:nvSpPr>
          <p:cNvPr id="35" name="Shape 33"/>
          <p:cNvSpPr/>
          <p:nvPr/>
        </p:nvSpPr>
        <p:spPr>
          <a:xfrm>
            <a:off x="868680" y="5303520"/>
            <a:ext cx="384048" cy="384048"/>
          </a:xfrm>
          <a:prstGeom prst="ellipse">
            <a:avLst/>
          </a:prstGeom>
          <a:solidFill>
            <a:srgbClr val="D98C1F"/>
          </a:solidFill>
          <a:ln w="12700">
            <a:solidFill>
              <a:srgbClr val="D98C1F"/>
            </a:solidFill>
            <a:prstDash val="solid"/>
          </a:ln>
        </p:spPr>
      </p:sp>
      <p:sp>
        <p:nvSpPr>
          <p:cNvPr id="36" name="Text 34"/>
          <p:cNvSpPr/>
          <p:nvPr/>
        </p:nvSpPr>
        <p:spPr>
          <a:xfrm>
            <a:off x="868680" y="53035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Text 35"/>
          <p:cNvSpPr/>
          <p:nvPr/>
        </p:nvSpPr>
        <p:spPr>
          <a:xfrm>
            <a:off x="1417320" y="5120640"/>
            <a:ext cx="9875520" cy="384048"/>
          </a:xfrm>
          <a:prstGeom prst="rect">
            <a:avLst/>
          </a:prstGeom>
          <a:noFill/>
          <a:ln/>
        </p:spPr>
        <p:txBody>
          <a:bodyPr wrap="square" lIns="0" tIns="0" rIns="0" bIns="0" rtlCol="0" anchor="ctr"/>
          <a:lstStyle/>
          <a:p>
            <a:pPr indent="0" marL="0">
              <a:buNone/>
            </a:pPr>
            <a:r>
              <a:rPr lang="en-US" sz="1550" b="1" dirty="0">
                <a:solidFill>
                  <a:srgbClr val="14213D"/>
                </a:solidFill>
                <a:latin typeface="Calibri" pitchFamily="34" charset="0"/>
                <a:ea typeface="Calibri" pitchFamily="34" charset="-122"/>
                <a:cs typeface="Calibri" pitchFamily="34" charset="-120"/>
              </a:rPr>
              <a:t>Chance changes the evaluation contract</a:t>
            </a:r>
            <a:endParaRPr lang="en-US" sz="1550" dirty="0"/>
          </a:p>
        </p:txBody>
      </p:sp>
      <p:sp>
        <p:nvSpPr>
          <p:cNvPr id="38" name="Text 36"/>
          <p:cNvSpPr/>
          <p:nvPr/>
        </p:nvSpPr>
        <p:spPr>
          <a:xfrm>
            <a:off x="1417320" y="5504688"/>
            <a:ext cx="9875520" cy="457200"/>
          </a:xfrm>
          <a:prstGeom prst="rect">
            <a:avLst/>
          </a:prstGeom>
          <a:noFill/>
          <a:ln/>
        </p:spPr>
        <p:txBody>
          <a:bodyPr wrap="square" lIns="0" tIns="0" rIns="0" bIns="0" rtlCol="0" anchor="t"/>
          <a:lstStyle/>
          <a:p>
            <a:pPr indent="0" marL="0">
              <a:buNone/>
            </a:pPr>
            <a:r>
              <a:rPr lang="en-US" sz="1250" dirty="0">
                <a:solidFill>
                  <a:srgbClr val="55607A"/>
                </a:solidFill>
                <a:latin typeface="Calibri" pitchFamily="34" charset="0"/>
                <a:ea typeface="Calibri" pitchFamily="34" charset="-122"/>
                <a:cs typeface="Calibri" pitchFamily="34" charset="-120"/>
              </a:rPr>
              <a:t>Averaging makes magnitudes matter, so EVAL must be a positive linear transformation of the probability of winning.</a:t>
            </a:r>
            <a:endParaRPr lang="en-US" sz="12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274320"/>
            <a:ext cx="10515600" cy="237744"/>
          </a:xfrm>
          <a:prstGeom prst="rect">
            <a:avLst/>
          </a:prstGeom>
          <a:noFill/>
          <a:ln/>
        </p:spPr>
        <p:txBody>
          <a:bodyPr wrap="square" lIns="0" tIns="0" rIns="0" bIns="0" rtlCol="0" anchor="ctr"/>
          <a:lstStyle/>
          <a:p>
            <a:pPr indent="0" marL="0">
              <a:buNone/>
            </a:pPr>
            <a:r>
              <a:rPr lang="en-US" sz="1050" b="1" spc="160" kern="0" dirty="0">
                <a:solidFill>
                  <a:srgbClr val="D98C1F"/>
                </a:solidFill>
                <a:latin typeface="Calibri" pitchFamily="34" charset="0"/>
                <a:ea typeface="Calibri" pitchFamily="34" charset="-122"/>
                <a:cs typeface="Calibri" pitchFamily="34" charset="-120"/>
              </a:rPr>
              <a:t>STUDY CHECKLIST</a:t>
            </a:r>
            <a:endParaRPr lang="en-US" sz="10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4213D"/>
                </a:solidFill>
                <a:latin typeface="Cambria" pitchFamily="34" charset="0"/>
                <a:ea typeface="Cambria" pitchFamily="34" charset="-122"/>
                <a:cs typeface="Cambria" pitchFamily="34" charset="-120"/>
              </a:rPr>
              <a:t>What You Should Be Able to Do on Paper</a:t>
            </a:r>
            <a:endParaRPr lang="en-US" sz="2900" dirty="0"/>
          </a:p>
        </p:txBody>
      </p:sp>
      <p:sp>
        <p:nvSpPr>
          <p:cNvPr id="4" name="Text 2"/>
          <p:cNvSpPr/>
          <p:nvPr/>
        </p:nvSpPr>
        <p:spPr>
          <a:xfrm>
            <a:off x="640080" y="1371600"/>
            <a:ext cx="7680960" cy="4572000"/>
          </a:xfrm>
          <a:prstGeom prst="rect">
            <a:avLst/>
          </a:prstGeom>
          <a:noFill/>
          <a:ln/>
        </p:spPr>
        <p:txBody>
          <a:bodyPr wrap="square" lIns="0" tIns="0" rIns="0" bIns="0" rtlCol="0" anchor="t"/>
          <a:lstStyle/>
          <a:p>
            <a:pPr marL="203200" indent="-2032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Given a game tree, label every node with its minimax value and name the optimal action at the root.</a:t>
            </a:r>
            <a:endParaRPr lang="en-US" sz="1450" dirty="0"/>
          </a:p>
          <a:p>
            <a:pPr marL="203200" indent="-2032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Run alpha-beta left to right, list the pruned nodes, and justify each cut by citing the current alpha or beta.</a:t>
            </a:r>
            <a:endParaRPr lang="en-US" sz="1450" dirty="0"/>
          </a:p>
          <a:p>
            <a:pPr marL="203200" indent="-2032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State why alpha-beta gives the correct root value but possibly incorrect values at interior nodes - and what that means for action selection.</a:t>
            </a:r>
            <a:endParaRPr lang="en-US" sz="1450" dirty="0"/>
          </a:p>
          <a:p>
            <a:pPr marL="203200" indent="-2032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Give the complexity of minimax, of alpha-beta with perfect ordering, and of expectiminimax, and define b, m, and n.</a:t>
            </a:r>
            <a:endParaRPr lang="en-US" sz="1450" dirty="0"/>
          </a:p>
          <a:p>
            <a:pPr marL="203200" indent="-2032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Write a weighted linear evaluation function for a named game and defend the sign and magnitude of each weight.</a:t>
            </a:r>
            <a:endParaRPr lang="en-US" sz="1450" dirty="0"/>
          </a:p>
          <a:p>
            <a:pPr marL="203200" indent="-2032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Distinguish the horizon effect from a quiescence failure, and name a mitigation for each.</a:t>
            </a:r>
            <a:endParaRPr lang="en-US" sz="1450" dirty="0"/>
          </a:p>
          <a:p>
            <a:pPr marL="203200" indent="-2032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Trace one MCTS iteration: selection, expansion, simulation, back-propagation, updating the counts correctly for both players.</a:t>
            </a:r>
            <a:endParaRPr lang="en-US" sz="1450" dirty="0"/>
          </a:p>
          <a:p>
            <a:pPr marL="203200" indent="-2032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Compute expectiminimax values with chance nodes, and explain why a monotone rescaling of the leaves can change the decision.</a:t>
            </a:r>
            <a:endParaRPr lang="en-US" sz="1450" dirty="0"/>
          </a:p>
        </p:txBody>
      </p:sp>
      <p:sp>
        <p:nvSpPr>
          <p:cNvPr id="5" name="Shape 3"/>
          <p:cNvSpPr/>
          <p:nvPr/>
        </p:nvSpPr>
        <p:spPr>
          <a:xfrm>
            <a:off x="8595360" y="1371600"/>
            <a:ext cx="2926080" cy="2011680"/>
          </a:xfrm>
          <a:prstGeom prst="roundRect">
            <a:avLst>
              <a:gd name="adj" fmla="val 3636"/>
            </a:avLst>
          </a:prstGeom>
          <a:solidFill>
            <a:srgbClr val="14213D"/>
          </a:solidFill>
          <a:ln w="12700">
            <a:solidFill>
              <a:srgbClr val="14213D"/>
            </a:solidFill>
            <a:prstDash val="solid"/>
          </a:ln>
        </p:spPr>
      </p:sp>
      <p:sp>
        <p:nvSpPr>
          <p:cNvPr id="6" name="Text 4"/>
          <p:cNvSpPr/>
          <p:nvPr/>
        </p:nvSpPr>
        <p:spPr>
          <a:xfrm>
            <a:off x="8796528" y="1517904"/>
            <a:ext cx="2523744" cy="310896"/>
          </a:xfrm>
          <a:prstGeom prst="rect">
            <a:avLst/>
          </a:prstGeom>
          <a:noFill/>
          <a:ln/>
        </p:spPr>
        <p:txBody>
          <a:bodyPr wrap="square" lIns="0" tIns="0" rIns="0" bIns="0" rtlCol="0" anchor="ctr"/>
          <a:lstStyle/>
          <a:p>
            <a:pPr indent="0" marL="0">
              <a:buNone/>
            </a:pPr>
            <a:r>
              <a:rPr lang="en-US" sz="1500" b="1" dirty="0">
                <a:solidFill>
                  <a:srgbClr val="D98C1F"/>
                </a:solidFill>
                <a:latin typeface="Calibri" pitchFamily="34" charset="0"/>
                <a:ea typeface="Calibri" pitchFamily="34" charset="-122"/>
                <a:cs typeface="Calibri" pitchFamily="34" charset="-120"/>
              </a:rPr>
              <a:t>Practice</a:t>
            </a:r>
            <a:endParaRPr lang="en-US" sz="1500" dirty="0"/>
          </a:p>
        </p:txBody>
      </p:sp>
      <p:sp>
        <p:nvSpPr>
          <p:cNvPr id="7" name="Text 5"/>
          <p:cNvSpPr/>
          <p:nvPr/>
        </p:nvSpPr>
        <p:spPr>
          <a:xfrm>
            <a:off x="8796528" y="1865376"/>
            <a:ext cx="2523744" cy="1353312"/>
          </a:xfrm>
          <a:prstGeom prst="rect">
            <a:avLst/>
          </a:prstGeom>
          <a:noFill/>
          <a:ln/>
        </p:spPr>
        <p:txBody>
          <a:bodyPr wrap="square" lIns="0" tIns="0" rIns="0" bIns="0" rtlCol="0" anchor="t"/>
          <a:lstStyle/>
          <a:p>
            <a:pPr indent="0" marL="0">
              <a:lnSpc>
                <a:spcPct val="108000"/>
              </a:lnSpc>
              <a:buNone/>
            </a:pPr>
            <a:r>
              <a:rPr lang="en-US" sz="1300" dirty="0">
                <a:solidFill>
                  <a:srgbClr val="DCE6FA"/>
                </a:solidFill>
                <a:latin typeface="Calibri" pitchFamily="34" charset="0"/>
                <a:ea typeface="Calibri" pitchFamily="34" charset="-122"/>
                <a:cs typeface="Calibri" pitchFamily="34" charset="-120"/>
              </a:rPr>
              <a:t>AIMA exercises for Chapter 5, plus the three in-class trees from today. Redo them without looking at the solutions.</a:t>
            </a:r>
            <a:endParaRPr lang="en-US" sz="1300" dirty="0"/>
          </a:p>
        </p:txBody>
      </p:sp>
      <p:sp>
        <p:nvSpPr>
          <p:cNvPr id="8" name="Shape 6"/>
          <p:cNvSpPr/>
          <p:nvPr/>
        </p:nvSpPr>
        <p:spPr>
          <a:xfrm>
            <a:off x="8595360" y="3566160"/>
            <a:ext cx="2926080" cy="2103120"/>
          </a:xfrm>
          <a:prstGeom prst="roundRect">
            <a:avLst>
              <a:gd name="adj" fmla="val 3478"/>
            </a:avLst>
          </a:prstGeom>
          <a:solidFill>
            <a:srgbClr val="EFF3F9"/>
          </a:solidFill>
          <a:ln w="12700">
            <a:solidFill>
              <a:srgbClr val="EFF3F9"/>
            </a:solidFill>
            <a:prstDash val="solid"/>
          </a:ln>
        </p:spPr>
      </p:sp>
      <p:sp>
        <p:nvSpPr>
          <p:cNvPr id="9" name="Text 7"/>
          <p:cNvSpPr/>
          <p:nvPr/>
        </p:nvSpPr>
        <p:spPr>
          <a:xfrm>
            <a:off x="8796528" y="3712464"/>
            <a:ext cx="2523744" cy="3108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Programming</a:t>
            </a:r>
            <a:endParaRPr lang="en-US" sz="1500" dirty="0"/>
          </a:p>
        </p:txBody>
      </p:sp>
      <p:sp>
        <p:nvSpPr>
          <p:cNvPr id="10" name="Text 8"/>
          <p:cNvSpPr/>
          <p:nvPr/>
        </p:nvSpPr>
        <p:spPr>
          <a:xfrm>
            <a:off x="8796528" y="4059936"/>
            <a:ext cx="2523744" cy="1444752"/>
          </a:xfrm>
          <a:prstGeom prst="rect">
            <a:avLst/>
          </a:prstGeom>
          <a:noFill/>
          <a:ln/>
        </p:spPr>
        <p:txBody>
          <a:bodyPr wrap="square" lIns="0" tIns="0" rIns="0" bIns="0" rtlCol="0" anchor="t"/>
          <a:lstStyle/>
          <a:p>
            <a:pPr indent="0" marL="0">
              <a:lnSpc>
                <a:spcPct val="108000"/>
              </a:lnSpc>
              <a:buNone/>
            </a:pPr>
            <a:r>
              <a:rPr lang="en-US" sz="1300" dirty="0">
                <a:solidFill>
                  <a:srgbClr val="55607A"/>
                </a:solidFill>
                <a:latin typeface="Calibri" pitchFamily="34" charset="0"/>
                <a:ea typeface="Calibri" pitchFamily="34" charset="-122"/>
                <a:cs typeface="Calibri" pitchFamily="34" charset="-120"/>
              </a:rPr>
              <a:t>Pac-Man multi-agent project: minimax, alpha-beta, expectimax, and your own evaluation function.</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22960" y="1965960"/>
            <a:ext cx="868680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Next: Uncertainty</a:t>
            </a:r>
            <a:endParaRPr lang="en-US" sz="4200" dirty="0"/>
          </a:p>
        </p:txBody>
      </p:sp>
      <p:sp>
        <p:nvSpPr>
          <p:cNvPr id="3" name="Text 1"/>
          <p:cNvSpPr/>
          <p:nvPr/>
        </p:nvSpPr>
        <p:spPr>
          <a:xfrm>
            <a:off x="822960" y="2880360"/>
            <a:ext cx="8686800" cy="1188720"/>
          </a:xfrm>
          <a:prstGeom prst="rect">
            <a:avLst/>
          </a:prstGeom>
          <a:noFill/>
          <a:ln/>
        </p:spPr>
        <p:txBody>
          <a:bodyPr wrap="square" lIns="0" tIns="0" rIns="0" bIns="0" rtlCol="0" anchor="t"/>
          <a:lstStyle/>
          <a:p>
            <a:pPr indent="0" marL="0">
              <a:lnSpc>
                <a:spcPct val="125000"/>
              </a:lnSpc>
              <a:buNone/>
            </a:pPr>
            <a:r>
              <a:rPr lang="en-US" sz="1600" dirty="0">
                <a:solidFill>
                  <a:srgbClr val="DCE6FA"/>
                </a:solidFill>
                <a:latin typeface="Calibri" pitchFamily="34" charset="0"/>
                <a:ea typeface="Calibri" pitchFamily="34" charset="-122"/>
                <a:cs typeface="Calibri" pitchFamily="34" charset="-120"/>
              </a:rPr>
              <a:t>We assumed today that we could put a number on a position and that the number meant something.</a:t>
            </a:r>
            <a:endParaRPr lang="en-US" sz="1600" dirty="0"/>
          </a:p>
          <a:p>
            <a:pPr indent="0" marL="0">
              <a:lnSpc>
                <a:spcPct val="125000"/>
              </a:lnSpc>
              <a:buNone/>
            </a:pPr>
            <a:r>
              <a:rPr lang="en-US" sz="1600" dirty="0">
                <a:solidFill>
                  <a:srgbClr val="DCE6FA"/>
                </a:solidFill>
                <a:latin typeface="Calibri" pitchFamily="34" charset="0"/>
                <a:ea typeface="Calibri" pitchFamily="34" charset="-122"/>
                <a:cs typeface="Calibri" pitchFamily="34" charset="-120"/>
              </a:rPr>
              <a:t>Next time we build the machinery that justifies it: probability, expected utility, and rational decisions</a:t>
            </a:r>
            <a:endParaRPr lang="en-US" sz="1600" dirty="0"/>
          </a:p>
          <a:p>
            <a:pPr indent="0" marL="0">
              <a:lnSpc>
                <a:spcPct val="125000"/>
              </a:lnSpc>
              <a:buNone/>
            </a:pPr>
            <a:r>
              <a:rPr lang="en-US" sz="1600" dirty="0">
                <a:solidFill>
                  <a:srgbClr val="DCE6FA"/>
                </a:solidFill>
                <a:latin typeface="Calibri" pitchFamily="34" charset="0"/>
                <a:ea typeface="Calibri" pitchFamily="34" charset="-122"/>
                <a:cs typeface="Calibri" pitchFamily="34" charset="-120"/>
              </a:rPr>
              <a:t>under uncertainty.</a:t>
            </a:r>
            <a:endParaRPr lang="en-US" sz="1600" dirty="0"/>
          </a:p>
        </p:txBody>
      </p:sp>
      <p:sp>
        <p:nvSpPr>
          <p:cNvPr id="4" name="Text 2"/>
          <p:cNvSpPr/>
          <p:nvPr/>
        </p:nvSpPr>
        <p:spPr>
          <a:xfrm>
            <a:off x="822960" y="4297680"/>
            <a:ext cx="8686800" cy="1371600"/>
          </a:xfrm>
          <a:prstGeom prst="rect">
            <a:avLst/>
          </a:prstGeom>
          <a:noFill/>
          <a:ln/>
        </p:spPr>
        <p:txBody>
          <a:bodyPr wrap="square" lIns="0" tIns="0" rIns="0" bIns="0" rtlCol="0" anchor="t"/>
          <a:lstStyle/>
          <a:p>
            <a:pPr indent="0" marL="0">
              <a:lnSpc>
                <a:spcPct val="135000"/>
              </a:lnSpc>
              <a:buNone/>
            </a:pPr>
            <a:r>
              <a:rPr lang="en-US" sz="1400" b="1" dirty="0">
                <a:solidFill>
                  <a:srgbClr val="D98C1F"/>
                </a:solidFill>
                <a:latin typeface="Calibri" pitchFamily="34" charset="0"/>
                <a:ea typeface="Calibri" pitchFamily="34" charset="-122"/>
                <a:cs typeface="Calibri" pitchFamily="34" charset="-120"/>
              </a:rPr>
              <a:t>Before next class:</a:t>
            </a:r>
            <a:endParaRPr lang="en-US" sz="1400" dirty="0"/>
          </a:p>
          <a:p>
            <a:pPr indent="0" marL="0">
              <a:lnSpc>
                <a:spcPct val="135000"/>
              </a:lnSpc>
              <a:buNone/>
            </a:pPr>
            <a:r>
              <a:rPr lang="en-US" sz="1400" dirty="0">
                <a:solidFill>
                  <a:srgbClr val="9FB0CC"/>
                </a:solidFill>
                <a:latin typeface="Calibri" pitchFamily="34" charset="0"/>
                <a:ea typeface="Calibri" pitchFamily="34" charset="-122"/>
                <a:cs typeface="Calibri" pitchFamily="34" charset="-120"/>
              </a:rPr>
              <a:t>Read AIMA Sections 5.1 through 5.5. Section 5.6 is optional.</a:t>
            </a:r>
            <a:endParaRPr lang="en-US" sz="1400" dirty="0"/>
          </a:p>
          <a:p>
            <a:pPr indent="0" marL="0">
              <a:lnSpc>
                <a:spcPct val="135000"/>
              </a:lnSpc>
              <a:buNone/>
            </a:pPr>
            <a:r>
              <a:rPr lang="en-US" sz="1400" dirty="0">
                <a:solidFill>
                  <a:srgbClr val="9FB0CC"/>
                </a:solidFill>
                <a:latin typeface="Calibri" pitchFamily="34" charset="0"/>
                <a:ea typeface="Calibri" pitchFamily="34" charset="-122"/>
                <a:cs typeface="Calibri" pitchFamily="34" charset="-120"/>
              </a:rPr>
              <a:t>Start the Pac-Man multi-agent project - minimax and alpha-beta first, then expectimax.</a:t>
            </a:r>
            <a:endParaRPr lang="en-US" sz="1400" dirty="0"/>
          </a:p>
          <a:p>
            <a:pPr indent="0" marL="0">
              <a:lnSpc>
                <a:spcPct val="135000"/>
              </a:lnSpc>
              <a:buNone/>
            </a:pPr>
            <a:r>
              <a:rPr lang="en-US" sz="1400" dirty="0">
                <a:solidFill>
                  <a:srgbClr val="9FB0CC"/>
                </a:solidFill>
                <a:latin typeface="Calibri" pitchFamily="34" charset="0"/>
                <a:ea typeface="Calibri" pitchFamily="34" charset="-122"/>
                <a:cs typeface="Calibri" pitchFamily="34" charset="-120"/>
              </a:rPr>
              <a:t>Redo today's three in-class trees from a blank page.</a:t>
            </a:r>
            <a:endParaRPr lang="en-US" sz="1400" dirty="0"/>
          </a:p>
        </p:txBody>
      </p:sp>
      <p:sp>
        <p:nvSpPr>
          <p:cNvPr id="5" name="Shape 3"/>
          <p:cNvSpPr/>
          <p:nvPr/>
        </p:nvSpPr>
        <p:spPr>
          <a:xfrm>
            <a:off x="10149840" y="2286000"/>
            <a:ext cx="868680" cy="713232"/>
          </a:xfrm>
          <a:prstGeom prst="triangle">
            <a:avLst/>
          </a:prstGeom>
          <a:solidFill>
            <a:srgbClr val="1F5AC4"/>
          </a:solidFill>
          <a:ln w="12700">
            <a:solidFill>
              <a:srgbClr val="1F5AC4"/>
            </a:solidFill>
            <a:prstDash val="solid"/>
          </a:ln>
        </p:spPr>
      </p:sp>
      <p:sp>
        <p:nvSpPr>
          <p:cNvPr id="6" name="Shape 4"/>
          <p:cNvSpPr/>
          <p:nvPr/>
        </p:nvSpPr>
        <p:spPr>
          <a:xfrm rot="10800000">
            <a:off x="10149840" y="3200400"/>
            <a:ext cx="868680" cy="713232"/>
          </a:xfrm>
          <a:prstGeom prst="triangle">
            <a:avLst/>
          </a:prstGeom>
          <a:solidFill>
            <a:srgbClr val="C1272D"/>
          </a:solidFill>
          <a:ln w="12700">
            <a:solidFill>
              <a:srgbClr val="C1272D"/>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72</Slides>
  <Notes>72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72</vt:i4>
      </vt:variant>
    </vt:vector>
  </HeadingPairs>
  <TitlesOfParts>
    <vt:vector size="7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Adversarial Search and Games (AIMA Chapter 5)</dc:title>
  <dc:subject>COMP 469 Introduction to Artificial Intelligence</dc:subject>
  <dc:creator>COMP 469</dc:creator>
  <cp:lastModifiedBy>COMP 469</cp:lastModifiedBy>
  <cp:revision>1</cp:revision>
  <dcterms:created xsi:type="dcterms:W3CDTF">2026-08-07T18:33:59Z</dcterms:created>
  <dcterms:modified xsi:type="dcterms:W3CDTF">2026-08-07T18:33:59Z</dcterms:modified>
</cp:coreProperties>
</file>