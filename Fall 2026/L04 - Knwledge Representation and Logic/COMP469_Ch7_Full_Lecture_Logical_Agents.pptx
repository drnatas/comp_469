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move: Start by asking, "How does an agent act when it cannot see the whole world but can reason from clues?" That question is Chapter 7.
Analogy: Chapter 3 search was like planning a route on a map. Chapter 7 is like being a detective in a dark house: you do not see every room, but you can infer what must be true from clues.
Set expectations: Students do not need to become logicians today. They need to understand how AI uses formal symbols plus inference to choose safe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script: Say, "The agent sees clues, writes them in a formal notebook, asks what must be true, and then acts." That is the chapter in plain English.
Analogy: A doctor does not only store symptoms; they infer possible conditions. A logical agent does the same with formal rules.
Gotcha: Students may think the knowledge base is a database lookup. Emphasize that a KB can answer questions that were never explicitly stored, because it can infer.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prior lectures. In route search, the agent knows the whole map and current city. In Wumpus World, the agent does not know where pits are. It needs reasoning, not just pathfinding.
Analogy: Search is GPS. Logic is a detective board with clues and rules.
Gotcha: Students may ask, "Why not just use machine learning?" Answer: this chapter is about explicit reasoning, which is valuable when rules, explanations, safety constraints, and proofs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this lecture is not about memorizing symbols. The goal is fluency: read a rule, explain what it means, and trace how inference uses it.
Instructor prompt: Ask students to write one learning outcome in their own words. This helps them personalize the objective.
Gotcha: Some students will try to treat every formula as algebra. Remind them formulas talk about truth across possible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keep students oriented. Chapter 7 has many symbols; students often lose the forest for the trees.
Repeat the core theme: a logical agent does not merely remember percepts; it uses inference to derive new facts and then act.
Gotcha to preview: In logic, "unknown" is not the same as "false." This matters throughout the Wumpus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section as a redesign of the agent from Chapter 2. Instead of hardcoding every behavior, we let the agent store knowledge and reason with it.
Analogy: A KB agent is like a student with a notebook and a rulebook. The notebook records facts; the rulebook lets the student infer consequences.
Gotcha: A sentence in this chapter is not a natural-language English sentence. It is a formal object in a representation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simple route analogy: A search agent can find paths on a map, but it may not know a general rule like "roads cannot have negative length" unless that is encoded procedurally.
Analogy: Search is following a recipe. Logic is understanding food safety rules that apply to many recipes.
Gotcha: Search is not obsolete. Logical agents often still use search internally, especially for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script: Walk through one full call to KB-Agent. The key is that the agent records both what it saw and what it did.
Analogy: Imagine a lab notebook. You record observations and interventions. Later, you use both to explain the current state.
Gotcha: Students often think ASK just retrieves a stored answer. Point out that ASK may do extensive reasoning before returning an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figure slowly. Trace the variables: KB is persistent memory; t is not a loop counter in a for-loop, it represents time.
Instructor prompt: Ask students, "Why does the agent tell the KB what action it took?" Expected answer: because future reasoning depends on how the agent changed the world.
Gotcha: MAKE-PERCEPT-SENTENCE and MAKE-ACTION-SENTENCE hide the representation details. That is good engineering: sensors and actuators are separated from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TELL is adding evidence to a case file. ASK is asking the detective, "Given this case file, what can we prove?"
Gotcha: TELL does not make arbitrary statements true in the world. It only records what the agent believes or has been told. If the input is wrong, the KB can reason from wrong premises.
Teaching prompt: Ask students to give a TELL sentence and an ASK query for a self-driving car at a stop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at a high level. Students will see syntax and semantics later; for now, they need the terms.
Analogy: The KB is not a pile of English notes. It is more like a spreadsheet with formulas: the structure allows computation.
Gotcha: Students sometimes use "fact" and "sentence" interchangeably. A sentence can assert a fact, but the logic also allows complex sentences using AND, OR, NOT, and implication.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script: This is the first big conceptual milestone. Inference is not guessing. It is deriving what must follow if the KB is true.
Analogy: If every CSUCI student has an ID card, and Maya is a CSUCI student, then Maya has an ID card. You did not observe the ID card, but it follows.
Gotcha: Inference can be sound and still incomplete, or complete and expensive. We will define those terms 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automated taxi example: if the taxi knows the Golden Gate Bridge is the only link to Marin County, we expect it to cross the bridge. We do not need to know its neural network or data structure to explain that behavior at the knowledge level.
Analogy: You can explain why a calculator shows 4 for 2+2 without knowing the circuit design.
Gotcha: Knowledge-level explanations are powerful but not magic. The implementation must still compute the inference somehow.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concrete AI advising example. It shows that logical agents are not only for fantasy Wumpus worlds.
Ask students: "What would go in the KB?" They may suggest prerequisites, enrollment caps, time conflicts, and degree requirements.
Gotcha: This example also shows why first-order logic will be useful later. Propositional logic would require separate symbols for each student, course, and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mini-review before Wumpus World.
Analogy: A GPS with a wrong map can produce a perfectly logical but bad route. Sound inference does not save you from false premises.
Instructor prompt: Ask, "Can a knowledge base be logically consistent and still factually wrong?" Yes. It can be internally coherent but not match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Wumpus World as a teaching environment, not as a game to memorize. It is small enough to draw but rich enough to require reasoning.
Analogy: It is like Minesweeper plus a monster. You do not see mines directly; numbers or clues constrain where hazards can be.
Gotcha: Students may want to use probability immediately. Chapter 7 focuses on logic: what must be true, what cannot be true, and what remains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vocabulary needed for the examples. Do not spend too long on mechanics; emphasize why it is a logic problem.
Analogy: It is Minesweeper with actions. The agent must decide whether to step into unknown territory.
Gotcha: Breeze and stench are local clues. A breeze does not say which adjacent square has a pit; it only constrains possibilities.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map and say: "We see everything because we are the instructor. The agent does not." This distinction matters.
Teaching prompt: Ask students which squares would be risky after the first percept if there is no breeze at the start.
Gotcha: Students often interpret the full figure as the agent's knowledge. Keep reminding them: the agent sees only percepts.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percept list as the bridge from the environment to symbolic sentences. Each percept can become a proposition like Breeze_1,1.
Analogy: The agent is wearing a very limited sensor suit. It gets five indicators, not a complete map.
Gotcha: A lack of breeze is a percept too. Negative information can be very useful in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Wumpus inference. Do it slowly.
Analogy: If a smoke detector only goes off when there is smoke nearby, and it is silent, then nearby locations have no smoke. The absence of a clue can be evidence.
Gotcha: This proves no adjacent pit, not no Wumpus. Pit safety and Wumpus safety are separate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may wonder how an agent "understands" a percept. The MAKE-PERCEPT-SENTENCE function translates raw input into a formal representation.
Analogy: A thermometer reading becomes a database record like Temp(room42, 71F, 10:03). Raw data becomes a sentence.
Gotcha: The translation is designed by us. The reasoning system only manipulates formal sentences after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panel (a) and panel (b). Ask what changed in the KB after the move.
Analogy: This is like annotating a Minesweeper board: some cells become safe, some become suspicious, and many remain unknown.
Gotcha: A possible pit is not a proven pit. Students often treat P? as P!; prevent that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that the KB gets stronger over time. The agent is not just reacting; it is building a model.
Instructor prompt: Ask students to identify one fact the agent knows and one fact it still does not know.
Gotcha: Even with logic, the agent may not be able to prove everything. Lack of proof is not proof of falsehood.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an important distinction: logical safety is about proof, not probability.
Analogy: In a courtroom, "not proven guilty" is not the same as "proven innocent." Similarly, "not entailed unsafe" is not "entailed safe."
Gotcha: Do not let students write "if not KB entails pit, then safe." That is invalid in logic unless the KB entails no 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quick active-learning break. Let students answer before showing the expected answer.
Teaching prompt: Emphasize that "breeze" proves at least one adjacent pit, not exactly which adjacent square contains it.
Gotcha: Students may forget boundaries. At [1,1] there are only two adjacent squares, not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We have seen why Wumpus needs reasoning. Now we need a formal language for that reasoning.
Analogy: Syntax is grammar; semantics is meaning. "Colorless green ideas sleep furiously" has syntax but strange semantics.
Gotcha: A string of symbols can be syntactically valid even if it is not true in the current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In Python, syntax says whether code parses; semantics says what happens when it runs. Logic has the same split.
Ask: "Is x = = 5 valid Python syntax?" Then ask: "Is x == 5 true?" Different questions.
Gotcha: Students may say a formula "means" something based on English intuition. In formal logic, semantics is defined precisely by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major abstraction. A model is a complete way the world could be, relative to the vocabulary.
Analogy: Imagine every possible suspect story in a mystery. Evidence eliminates stories. What remains true in every surviving story is entailed.
Gotcha: In propositional logic, models are finite only because the vocabulary is finite. With n symbols, there are 2^n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courtroom analogy: The evidence entails a conclusion only if every story consistent with the evidence includes that conclusion.
Ask students: "If the KB does not entail alpha, does that mean alpha is false?" Answer: no. It may be unknown.
Gotcha: Entailment is semantic. It is about truth across models, not about which proof algorithm we happen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sound detective never accuses an innocent person based on invalid reasoning. A complete detective eventually finds every conclusion that the evidence supports.
Gotcha: Sound does not mean complete. Complete does not mean fast. We often trade efficiency against guarantees.
Teaching prompt: Ask students whether a cautious algorithm that says "unknown" for everything is sound. Yes, but useless and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grounded. A proposition symbol is just a named statement that can be true or false.
Analogy: A light switch. Each atomic proposition is on or off in a given model.
Gotcha: The symbol P_1,2 is atomic to the logic even though humans see coordinates inside the name. Propositional logic does not understand the structure of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require students to memorize BNF. The point is that logic has a precise syntax.
Analogy: Programming languages have grammars; propositional logic has one too.
Gotcha: Parentheses matter. P OR Q AND R is not necessarily the same as (P OR Q) AND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simple everyday examples. "If you submit the exam, then it must be before the deadline" is an implication.
Gotcha: OR is inclusive in propositional logic. P OR Q allows P true, Q true, or both true.
Gotcha: Implication has the weird row: false premise makes the implication true. Explain it as a promise: if I never trigger the condition, I did not break the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identify the false row for implication. This is a frequent exam gotcha.
Analogy: Each row is a possible world. Truth tables are tiny universes enumerated on paper.
Gotcha: Do not let students read P OR Q as exclusive OR. In propositional logic, OR is inclusive unless otherwise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worth including because implication confusion creates many downstream errors.
Ask students for their own promise statements. Then test the four truth table rows.
Gotcha: English "if" has conversational assumptions. Formal implication is narrower and truth-functional.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formal Wumpus encoding. Do not overcomplicate it.
Analogy: We are translating a natural rule into a machine-checkable contract.
Gotcha: The biconditional means both directions: if breeze then adjacent pit; if adjacent pit then breeze. That is stronger than one implication.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that students know what models are, model checking is a direct implementation of entailment.
Analogy: Try every possible suspect story. Keep the stories matching the evidence. If every remaining story says the same thing, you can conclude it.
Gotcha: Direct model checking is conceptually simple but exponentially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figure as a filtering story. The KB does not pick one world immediately; it narrows possibilities.
Analogy: Wordle. Each guess removes possible words. The answer is known only when all remaining possibilities agree.
Gotcha: Students may think the agent chooses the most likely world. Model checking in propositional logic is not probabilistic here; it asks what is true in all possible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central. Explain that a sentence carves out a region of possible worlds.
Analogy: Filters on an online store. "Blue," "size medium," and "under $50" each remove items. Entailment says every remaining item also has a target property.
Gotcha: Students may confuse the arrow direction. If KB entails alpha, the set of KB worlds is a subset of alpha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demystify model checking. It is just truth tables with a purpose.
Ask students: "Which rows matter?" Answer: only rows where KB is true.
Gotcha: A row where KB is false does not matter for entailment. In a false-KB world, anything can happen relative to the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looks technical but the idea is simple: recursively fill in a truth table.
Analogy: Trying every combination of switches. With n switches, you have 2^n configurations.
Gotcha: Students may miss that model is built incrementally. The recursion avoids storing the entire truth table at once, so space can be small even when time is huge.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quick calculation: 10 symbols gives 1,024 models; 30 symbols gives over 1 billion. That escalation is the point.
Analogy: Combination locks. Adding one more binary dial doubles the possibilities.
Gotcha: "Finite" is not the same as "small." The chapter explicitly makes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Model checking looks at worlds. Theorem proving looks at sentences. Both can answer entailment, but they operate differently.
Analogy: To check a math identity, you can plug in many values, or you can prove it algebraically. Theorem proving is the algebraic route.
Gotcha: A proof is only trustworthy if every inference rule is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If you want to know whether every route from campus to a destination crosses a bridge, you could inspect every route or use a theorem about the road network.
Gotcha: Theorem proving does not mean "guess a proof." Algorithms search through valid proof steps, and that search can still be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algebra analogy heavily. Equivalences are logic identities.
Teaching prompt: Ask students which equivalence looks like something from algebra: commutativity, associativity, distributivity.
Gotcha: The symbol ≡ is a claim about equivalence between sentences. The biconditional ⇔ is a connective inside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mathematically important. Repeat the last line several times in plain English: to prove alpha, show that denying alpha creates contradiction with the KB.
Analogy: If every story consistent with evidence says alpha, then trying to tell a story with not-alpha should fail.
Gotcha: Satisfiable does not mean true in the real world. It means there exists at least one model where it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food analogy: CNF is like standardizing all recipes into the same template so the cooking machine can process them.
Gotcha: Converting to CNF preserves satisfiability/equivalence depending on method, but students should follow the defined rewrite steps carefully.
Instructor prompt: Ask students to identify literals, clauses, and the full CNF in a small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introduce Horn clauses gently. We will return to them later.
Analogy: CNF is a standardized container format for logical constraints.
Gotcha: Do not confuse a Horn clause with any implication. Horn clauses have a specific literal-count restriction that makes inference 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patterns of truth preservation. If the premises are true, the conclusion must be true.
Analogy: Inference rules are legal moves in a board game. A proof is a sequence of legal moves from starting facts to a target statement.
Gotcha: A rule can be intuitive but invalid. In logic, we only trust rules that are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Resolution is like canceling opposite terms in algebra, but for clauses.
Teach the refutation idea: To prove alpha, assume not alpha and show the assumption crashes into the KB.
Gotcha: Resolution operates on clauses in CNF. If students apply it to arbitrary formulas, they will make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empty clause idea: a disjunction with no literals cannot be true, so it represents False.
Analogy: The assumption not-alpha is like a suspect story. If it forces a contradiction, the story is impossible.
Gotcha: The algorithm may generate many useless clauses. Practical provers use many optimizations.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 rather than every symbol. The important message is proof by contradiction.
Analogy: If claiming "there is a pit in [1,2]" contradicts the no-breeze rule, then there cannot be a pit there.
Gotcha: Students often think proof by contradiction is only math. It is central to automated theorem 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preventing common homework and exam errors.
Teaching prompt: Give students two clause pairs and ask which pair can be resolved.
Gotcha: Students sometimes delete both entire clauses. Resolution deletes only the complementary literals and combines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rule form: A AND B =&gt; C. That is easier for students than literal-count definitions.
Analogy: Horn clauses are like production rules: when all prerequisites are checked off, unlock the conclusion.
Gotcha: Horn clauses are less expressive than full propositional logic, but the payoff is speed and simple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Dominoes. Known facts knock down rules; rules knock down new facts.
Example: If the weather app says rain and the rule says rain implies bring umbrella, forward chaining adds bring umbrella.
Gotcha: Forward chaining can infer many facts not relevant to the query. That may be good or wasteful depending on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is a good bridge from Chapter 4 AND-OR search to logic. Conjunctions require all children; alternatives provide choices.
Teaching prompt: Ask students to trace which facts become known if A and B are initially true.
Gotcha: The count table prevents repeatedly scanning every rule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data structures that make forward chaining efficient.
Analogy: A project checklist. When all subtasks are complete, the main task can be marked complete.
Gotcha: If students do not track inferred symbols, cyclic rules like P=&gt;Q and Q=&gt;P can cause redundant work or infinite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Backward chaining is troubleshooting. If the projector is off, ask: is it plugged in? is the outlet on? is the HDMI selected?
Contrast with forward chaining: forward starts with data; backward starts with the goal.
Gotcha: Backward chaining can loop without cycle checking, especially in recursive rule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examples: Forward chaining: sensor network detects smoke and triggers alarms. Backward chaining: help desk asks questions to diagnose why Wi-Fi is down.
Gotcha: Students may think one is always better. The choice depends on number of facts, number of queries, and KB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Truth tables are exponential, but practical SAT algorithms solve many large cases by exploiting structure.
Analogy: Brute-force model checking tries every key. SAT algorithms use the lock's structure to avoid most keys.
Gotcha: Worst-case exponential complexity remains. Practical success does not mean the complexity barrier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SAT to search from Chapter 3: the states are partial assignments; actions assign symbols; the goal is satisfying all clauses.
Analogy: Sudoku as constraints. A solution assigns values that satisfy all rules.
Gotcha: SAT asks whether there exists a model. Entailment often becomes SAT by checking unsatisfiability of KB AND NOT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DPLL is like solving a logic puzzle. If a clue forces a value, do not guess it; write it down and continue.
Gotcha: DPLL is complete. If it says unsatisfiable, it has ruled out every possible assignment via systematic search.
Teaching prompt: Ask students why a unit clause is forced. If the clause has only one literal left, that literal must be true to satisfy the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algorithm at a high level. Avoid getting lost in the code.
Analogy: Branch-and-bound for truth assignments. It cuts off impossible branches early.
Gotcha: DPLL returns true/false for satisfiability, but actual implementations often return the satisfying model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demonstrates unit propagation. Once P is true, the second clause forces R.
Ask students: "Did we have to try all 8 assignments for P,Q,R?" No.
Gotcha: A satisfying model need not assign every symbol if the remaining choices do not matter. In code, we often complete the model arbitrarily.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WalkSAT is hiking in fog. You start somewhere, look at a violated constraint, and step in a direction that might improve things.
Gotcha: WalkSAT is not complete. If it fails, the formula may still be satisfiable; it just did not find a model in time.
Instructor prompt: Compare with local search from Chapter 4 if students have seen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role of randomness. Greedy search can get stuck; randomness can shake it loose.
Analogy: If you are stuck in a maze, sometimes taking a non-obvious turn helps escape.
Gotcha: Students may think randomized means unreliable. It is probabilistic, but it can be extremely useful with restarts and enough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an example of algorithm behavior, not a graph to memorize.
Analogy: Some puzzles are easy because they have many solutions; some are easy because they are obviously impossible. The hard ones are balanced near the edge.
Gotcha: The graph is about random 3-CNF families, not every SAT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algorithm selection. We choose based on the need for proof, speed, instance type, and tolerance for uncertainty.
Gotcha: If WalkSAT returns a satisfying assignment, that result is sound. The incompleteness is only about failure to find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now bring the algorithms back to the agent. The goal is not solving formulas for fun; it is choosing actions.
Analogy: The KB is the agent's evolving mental map. The inference engine updates the map; the planner chooses moves.
Gotcha: Propositional logic can model time, but it does so by creating many time-indexed symbols. This can grow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Chapter 4 if applicable: belief states represent uncertainty about the current state. Here the belief state is represented as a logical sentence.
Analogy: A detective's suspect list after each new clue. The list shrinks or changes as evidence and actions accumulate.
Gotcha: The actual world is one state; the agent's belief state may describe many possible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subtle idea. The agent needs to model both change and persistence.
Analogy: If you move your backpack, your laptop, desk, and chair do not all need separate announcements saying they stayed put. Good representations avoid listing every non-change.
Gotcha: Students may think only action effects matter. Non-effects matter too because the agent must know what persists.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line of the pseudocode. Show the architecture: update knowledge, infer facts, select or plan actions.
Analogy: A chess player uses both knowledge (piece values, tactics) and search (lookahead). The Wumpus agent also combines reasoning and planning.
Gotcha: A pure logic agent still needs action strategy. Proving facts alone does not automatically move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why representation matters. A formula is often much smaller than an explicit list of states.
Analogy: Saying "all students except seniors" is more compact than listing every eligible student.
Gotcha: Compactness depends on structure. Some sets of states are inherently hard to express compactly in propositional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SATPLAN writes a movie script with rules: the opening scene is fixed, each scene must follow from previous scenes, and the final scene must show the goal. A SAT solver finds a script that works.
Gotcha: SATPLAN usually searches by horizon length. Unsatisfiable at depth 3 does not mean no plan exists; it may require depth 4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loop over time horizon. This is similar to iterative deepening, but each depth becomes a SAT problem.
Analogy: "Can I finish the puzzle in 3 moves? No. In 4 moves? Yes. Here is the sequence."
Gotcha: Do not confuse SATPLAN with a search tree algorithm like BFS. It delegates the constraint solving to SAT.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Wumpus rule: "Squares adjacent to pits are breezy." In propositional logic, this becomes many separate rules. In first-order logic, we can say it once with variables.
Analogy: Propositional logic is like labeling every seat in a classroom individually. First-order logic can talk about "all seats" and "who sits next to whom."
Gotcha: More expressive languages are not automatically easier. They can make reasoning harder even while making representation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preview. Keep it high level.
Instructor prompt: Ask students how they would write "every adjacent pit causes a breeze" without writing one rule per square.
Gotcha: Do not imply first-order logic replaces propositional logic. SAT solvers remain important and are widely used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lecture to your existing visual labs. This helps students understand that the lecture is not just theory; they will run code and see the inference steps.
Gotcha: Students may treat lab notebooks as black boxes. Encourage them to modify one rule or one percept and observe what conclusions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extremely useful before homework or a quiz.
Instructor prompt: Ask students to pick one gotcha and invent a tiny example showing the mistake.
Gotcha: The "unknown is not false" issue is the root of many Wumpus mistakes. Keep reinforcing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no. Q2 only that WalkSAT did not find a model; not necessarily unsatisfiable. Q3 because the breeze rule links adjacent pits to breezes, and [1,2] is adjacent to [1,1]. Q4 TELL adds a sentence; ASK queries what follows.
Use this as a low-stakes clicker or think-pair-share activity.
Gotcha: For Q3, mention boundaries and the exact adjacent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 If time is short, prioritize entailment, Wumpus safety inference, and the distinction between model checking and theorem proving.
If students are struggling with symbols, pause and return to the detective analogy.
Optional extension: Have students trace a two-rule forward chaining example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core message: Chapter 7 is about turning perception into knowledge, knowledge into inference, and inference into action.
Analogy recap: detective notebook, Minesweeper board, truth-table worlds, algebraic proof, and SAT movie script.
Gotcha recap: unknown is not false; implication is formal; propositional logic is powerful but repetitive.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references if students want code or outside explanations. AIMA Python is especially helpful for seeing algorithms implemented.
Instructor note: Remind students that internet examples may use slightly different chapter numbering or notation. The concepts are the same, but your course slides and labs define the expected vocabulary.
Gotcha: Do not assign too many external readings at once; logic already has heavy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encouragement: propositional logic is the training ground. Students have now learned the ideas that recur in richer logics.
Ask students to bring one real-world rule to the next class that would be awkward in propositional logic but natural with variables and "for all."
End with the phrase: "In Chapter 7, the agent learned to reason. In Chapter 8, it learns to talk about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088"/>
        </a:solidFill>
      </p:bgPr>
    </p:bg>
    <p:spTree>
      <p:nvGrpSpPr>
        <p:cNvPr id="1" name=""/>
        <p:cNvGrpSpPr/>
        <p:nvPr/>
      </p:nvGrpSpPr>
      <p:grpSpPr>
        <a:xfrm>
          <a:off x="0" y="0"/>
          <a:ext cx="0" cy="0"/>
          <a:chOff x="0" y="0"/>
          <a:chExt cx="0" cy="0"/>
        </a:xfrm>
      </p:grpSpPr>
      <p:sp>
        <p:nvSpPr>
          <p:cNvPr id="2" name="Shape 0"/>
          <p:cNvSpPr/>
          <p:nvPr/>
        </p:nvSpPr>
        <p:spPr>
          <a:xfrm>
            <a:off x="777240" y="731520"/>
            <a:ext cx="10652760" cy="0"/>
          </a:xfrm>
          <a:prstGeom prst="line">
            <a:avLst/>
          </a:prstGeom>
          <a:noFill/>
          <a:ln w="25400">
            <a:solidFill>
              <a:srgbClr val="F2B84B"/>
            </a:solidFill>
            <a:prstDash val="solid"/>
          </a:ln>
        </p:spPr>
      </p:sp>
      <p:sp>
        <p:nvSpPr>
          <p:cNvPr id="3" name="Text 1"/>
          <p:cNvSpPr/>
          <p:nvPr/>
        </p:nvSpPr>
        <p:spPr>
          <a:xfrm>
            <a:off x="822960" y="914400"/>
            <a:ext cx="2011680" cy="320040"/>
          </a:xfrm>
          <a:prstGeom prst="rect">
            <a:avLst/>
          </a:prstGeom>
          <a:noFill/>
          <a:ln/>
        </p:spPr>
        <p:txBody>
          <a:bodyPr wrap="square" lIns="0" tIns="0" rIns="0" bIns="0" rtlCol="0" anchor="ctr"/>
          <a:lstStyle/>
          <a:p>
            <a:pPr indent="0" marL="0">
              <a:buNone/>
            </a:pPr>
            <a:r>
              <a:rPr lang="en-US" sz="1400" b="1" dirty="0">
                <a:solidFill>
                  <a:srgbClr val="BDEEEE"/>
                </a:solidFill>
                <a:latin typeface="Aptos" pitchFamily="34" charset="0"/>
                <a:ea typeface="Aptos" pitchFamily="34" charset="-122"/>
                <a:cs typeface="Aptos" pitchFamily="34" charset="-120"/>
              </a:rPr>
              <a:t>COMP 469</a:t>
            </a:r>
            <a:endParaRPr lang="en-US" sz="1400" dirty="0"/>
          </a:p>
        </p:txBody>
      </p:sp>
      <p:sp>
        <p:nvSpPr>
          <p:cNvPr id="4" name="Text 2"/>
          <p:cNvSpPr/>
          <p:nvPr/>
        </p:nvSpPr>
        <p:spPr>
          <a:xfrm>
            <a:off x="822960" y="1371600"/>
            <a:ext cx="2926080" cy="411480"/>
          </a:xfrm>
          <a:prstGeom prst="rect">
            <a:avLst/>
          </a:prstGeom>
          <a:noFill/>
          <a:ln/>
        </p:spPr>
        <p:txBody>
          <a:bodyPr wrap="square" lIns="0" tIns="0" rIns="0" bIns="0" rtlCol="0" anchor="ctr"/>
          <a:lstStyle/>
          <a:p>
            <a:pPr indent="0" marL="0">
              <a:buNone/>
            </a:pPr>
            <a:r>
              <a:rPr lang="en-US" sz="1800" b="1" dirty="0">
                <a:solidFill>
                  <a:srgbClr val="FFFFFF"/>
                </a:solidFill>
                <a:latin typeface="Aptos" pitchFamily="34" charset="0"/>
                <a:ea typeface="Aptos" pitchFamily="34" charset="-122"/>
                <a:cs typeface="Aptos" pitchFamily="34" charset="-120"/>
              </a:rPr>
              <a:t>Chapter 7</a:t>
            </a:r>
            <a:endParaRPr lang="en-US" sz="1800" dirty="0"/>
          </a:p>
        </p:txBody>
      </p:sp>
      <p:sp>
        <p:nvSpPr>
          <p:cNvPr id="5" name="Text 3"/>
          <p:cNvSpPr/>
          <p:nvPr/>
        </p:nvSpPr>
        <p:spPr>
          <a:xfrm>
            <a:off x="822960" y="1828800"/>
            <a:ext cx="6035040" cy="1554480"/>
          </a:xfrm>
          <a:prstGeom prst="rect">
            <a:avLst/>
          </a:prstGeom>
          <a:noFill/>
          <a:ln/>
        </p:spPr>
        <p:txBody>
          <a:bodyPr wrap="square" lIns="0" tIns="0" rIns="0" bIns="0" rtlCol="0" anchor="ctr"/>
          <a:lstStyle/>
          <a:p>
            <a:pPr indent="0" marL="0">
              <a:buNone/>
            </a:pPr>
            <a:r>
              <a:rPr lang="en-US" sz="4800" b="1" dirty="0">
                <a:solidFill>
                  <a:srgbClr val="FFFFFF"/>
                </a:solidFill>
                <a:latin typeface="Aptos Display" pitchFamily="34" charset="0"/>
                <a:ea typeface="Aptos Display" pitchFamily="34" charset="-122"/>
                <a:cs typeface="Aptos Display" pitchFamily="34" charset="-120"/>
              </a:rPr>
              <a:t>Logical</a:t>
            </a:r>
            <a:endParaRPr lang="en-US" sz="4800" dirty="0"/>
          </a:p>
          <a:p>
            <a:pPr indent="0" marL="0">
              <a:buNone/>
            </a:pPr>
            <a:r>
              <a:rPr lang="en-US" sz="4800" b="1" dirty="0">
                <a:solidFill>
                  <a:srgbClr val="FFFFFF"/>
                </a:solidFill>
                <a:latin typeface="Aptos Display" pitchFamily="34" charset="0"/>
                <a:ea typeface="Aptos Display" pitchFamily="34" charset="-122"/>
                <a:cs typeface="Aptos Display" pitchFamily="34" charset="-120"/>
              </a:rPr>
              <a:t>Agents</a:t>
            </a:r>
            <a:endParaRPr lang="en-US" sz="4800" dirty="0"/>
          </a:p>
        </p:txBody>
      </p:sp>
      <p:sp>
        <p:nvSpPr>
          <p:cNvPr id="6" name="Text 4"/>
          <p:cNvSpPr/>
          <p:nvPr/>
        </p:nvSpPr>
        <p:spPr>
          <a:xfrm>
            <a:off x="868680" y="3657600"/>
            <a:ext cx="6583680" cy="548640"/>
          </a:xfrm>
          <a:prstGeom prst="rect">
            <a:avLst/>
          </a:prstGeom>
          <a:noFill/>
          <a:ln/>
        </p:spPr>
        <p:txBody>
          <a:bodyPr wrap="square" lIns="0" tIns="0" rIns="0" bIns="0" rtlCol="0" anchor="ctr">
            <a:normAutofit/>
          </a:bodyPr>
          <a:lstStyle/>
          <a:p>
            <a:pPr indent="0" marL="0">
              <a:buNone/>
            </a:pPr>
            <a:r>
              <a:rPr lang="en-US" sz="1750" dirty="0">
                <a:solidFill>
                  <a:srgbClr val="D9F6F6"/>
                </a:solidFill>
                <a:latin typeface="Aptos" pitchFamily="34" charset="0"/>
                <a:ea typeface="Aptos" pitchFamily="34" charset="-122"/>
                <a:cs typeface="Aptos" pitchFamily="34" charset="-120"/>
              </a:rPr>
              <a:t>Knowledge bases, propositional logic, inference, SAT solving, and Wumpus World reasoning</a:t>
            </a:r>
            <a:endParaRPr lang="en-US" sz="1750" dirty="0"/>
          </a:p>
        </p:txBody>
      </p:sp>
      <p:sp>
        <p:nvSpPr>
          <p:cNvPr id="7" name="Text 5"/>
          <p:cNvSpPr/>
          <p:nvPr/>
        </p:nvSpPr>
        <p:spPr>
          <a:xfrm>
            <a:off x="868680" y="4370832"/>
            <a:ext cx="6629400" cy="685800"/>
          </a:xfrm>
          <a:prstGeom prst="rect">
            <a:avLst/>
          </a:prstGeom>
          <a:noFill/>
          <a:ln/>
        </p:spPr>
        <p:txBody>
          <a:bodyPr wrap="square" lIns="0" tIns="0" rIns="0" bIns="0" rtlCol="0" anchor="ctr">
            <a:normAutofit/>
          </a:bodyPr>
          <a:lstStyle/>
          <a:p>
            <a:pPr indent="0" marL="0">
              <a:buNone/>
            </a:pPr>
            <a:r>
              <a:rPr lang="en-US" sz="1280" dirty="0">
                <a:solidFill>
                  <a:srgbClr val="D9F6F6"/>
                </a:solidFill>
                <a:latin typeface="Aptos" pitchFamily="34" charset="0"/>
                <a:ea typeface="Aptos" pitchFamily="34" charset="-122"/>
                <a:cs typeface="Aptos" pitchFamily="34" charset="-120"/>
              </a:rPr>
              <a:t>Full teaching deck with examples, analogies, gotchas, activities, lab bridges, references, and speaker notes.</a:t>
            </a:r>
            <a:endParaRPr lang="en-US" sz="1280" dirty="0"/>
          </a:p>
        </p:txBody>
      </p:sp>
      <p:sp>
        <p:nvSpPr>
          <p:cNvPr id="8" name="Shape 6"/>
          <p:cNvSpPr/>
          <p:nvPr/>
        </p:nvSpPr>
        <p:spPr>
          <a:xfrm>
            <a:off x="7790688" y="1298448"/>
            <a:ext cx="3483864" cy="3575304"/>
          </a:xfrm>
          <a:prstGeom prst="roundRect">
            <a:avLst>
              <a:gd name="adj" fmla="val 1050"/>
            </a:avLst>
          </a:prstGeom>
          <a:solidFill>
            <a:srgbClr val="FFFFFF"/>
          </a:solidFill>
          <a:ln w="12700">
            <a:solidFill>
              <a:srgbClr val="B6D1D8"/>
            </a:solidFill>
            <a:prstDash val="solid"/>
          </a:ln>
        </p:spPr>
      </p:sp>
      <p:pic>
        <p:nvPicPr>
          <p:cNvPr id="9" name="Image 0" descr="/mnt/data/ch7_assets/fig_7_2_wumpus_world.png">    </p:cNvPr>
          <p:cNvPicPr>
            <a:picLocks noChangeAspect="1"/>
          </p:cNvPicPr>
          <p:nvPr/>
        </p:nvPicPr>
        <p:blipFill>
          <a:blip r:embed="rId1"/>
          <a:stretch>
            <a:fillRect/>
          </a:stretch>
        </p:blipFill>
        <p:spPr>
          <a:xfrm>
            <a:off x="7818120" y="1793421"/>
            <a:ext cx="3429000" cy="2585357"/>
          </a:xfrm>
          <a:prstGeom prst="rect">
            <a:avLst/>
          </a:prstGeom>
        </p:spPr>
      </p:pic>
      <p:sp>
        <p:nvSpPr>
          <p:cNvPr id="10" name="Text 7"/>
          <p:cNvSpPr/>
          <p:nvPr/>
        </p:nvSpPr>
        <p:spPr>
          <a:xfrm>
            <a:off x="868680" y="5961888"/>
            <a:ext cx="5303520" cy="320040"/>
          </a:xfrm>
          <a:prstGeom prst="rect">
            <a:avLst/>
          </a:prstGeom>
          <a:noFill/>
          <a:ln/>
        </p:spPr>
        <p:txBody>
          <a:bodyPr wrap="square" lIns="0" tIns="0" rIns="0" bIns="0" rtlCol="0" anchor="ctr"/>
          <a:lstStyle/>
          <a:p>
            <a:pPr indent="0" marL="0">
              <a:buNone/>
            </a:pPr>
            <a:r>
              <a:rPr lang="en-US" sz="1200" dirty="0">
                <a:solidFill>
                  <a:srgbClr val="BDEEEE"/>
                </a:solidFill>
                <a:latin typeface="Aptos" pitchFamily="34" charset="0"/>
                <a:ea typeface="Aptos" pitchFamily="34" charset="-122"/>
                <a:cs typeface="Aptos" pitchFamily="34" charset="-120"/>
              </a:rPr>
              <a:t>CSU Channel Islands | Introduction to AI</a:t>
            </a:r>
            <a:endParaRPr lang="en-US" sz="1200" dirty="0"/>
          </a:p>
        </p:txBody>
      </p:sp>
      <p:sp>
        <p:nvSpPr>
          <p:cNvPr id="11" name="Text 8"/>
          <p:cNvSpPr/>
          <p:nvPr/>
        </p:nvSpPr>
        <p:spPr>
          <a:xfrm>
            <a:off x="11064240" y="5961888"/>
            <a:ext cx="457200" cy="320040"/>
          </a:xfrm>
          <a:prstGeom prst="rect">
            <a:avLst/>
          </a:prstGeom>
          <a:noFill/>
          <a:ln/>
        </p:spPr>
        <p:txBody>
          <a:bodyPr wrap="square" lIns="0" tIns="0" rIns="0" bIns="0" rtlCol="0" anchor="ctr"/>
          <a:lstStyle/>
          <a:p>
            <a:pPr algn="r" indent="0" marL="0">
              <a:buNone/>
            </a:pPr>
            <a:r>
              <a:rPr lang="en-US" sz="1100" b="1" dirty="0">
                <a:solidFill>
                  <a:srgbClr val="FFFFFF"/>
                </a:solidFill>
                <a:latin typeface="Aptos" pitchFamily="34" charset="0"/>
                <a:ea typeface="Aptos" pitchFamily="34" charset="-122"/>
                <a:cs typeface="Aptos"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02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Chapter 7 in One Sentence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Logical agents use explicit knowledge plus inference to choose actions.</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Represent</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Store facts about a world as formal sentences instead of only raw program variables.</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Infer</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Derive new facts that were not directly perceived but must follow from what is known.</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Act</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Use the derived facts to choose safe, goal-directed actions.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03</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Where Chapter 7 Fits in COMP 469</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From atomic states to factored/structured reasoning.</a:t>
            </a:r>
            <a:endParaRPr lang="en-US" sz="850" dirty="0"/>
          </a:p>
        </p:txBody>
      </p:sp>
      <p:sp>
        <p:nvSpPr>
          <p:cNvPr id="9" name="Shape 7"/>
          <p:cNvSpPr/>
          <p:nvPr/>
        </p:nvSpPr>
        <p:spPr>
          <a:xfrm>
            <a:off x="777240" y="1463040"/>
            <a:ext cx="5166360" cy="3337560"/>
          </a:xfrm>
          <a:prstGeom prst="roundRect">
            <a:avLst>
              <a:gd name="adj" fmla="val 1644"/>
            </a:avLst>
          </a:prstGeom>
          <a:solidFill>
            <a:srgbClr val="FFFDF7"/>
          </a:solidFill>
          <a:ln w="12700">
            <a:solidFill>
              <a:srgbClr val="B6D1D8"/>
            </a:solidFill>
            <a:prstDash val="solid"/>
          </a:ln>
        </p:spPr>
      </p:sp>
      <p:sp>
        <p:nvSpPr>
          <p:cNvPr id="10" name="Shape 8"/>
          <p:cNvSpPr/>
          <p:nvPr/>
        </p:nvSpPr>
        <p:spPr>
          <a:xfrm>
            <a:off x="777240" y="1463040"/>
            <a:ext cx="73152" cy="3337560"/>
          </a:xfrm>
          <a:prstGeom prst="rect">
            <a:avLst/>
          </a:prstGeom>
          <a:solidFill>
            <a:srgbClr val="168A8A"/>
          </a:solidFill>
          <a:ln w="12700">
            <a:solidFill>
              <a:srgbClr val="168A8A">
                <a:alpha val="0"/>
              </a:srgbClr>
            </a:solidFill>
            <a:prstDash val="solid"/>
          </a:ln>
        </p:spPr>
      </p:sp>
      <p:sp>
        <p:nvSpPr>
          <p:cNvPr id="11" name="Text 9"/>
          <p:cNvSpPr/>
          <p:nvPr/>
        </p:nvSpPr>
        <p:spPr>
          <a:xfrm>
            <a:off x="9418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Earlier chapters</a:t>
            </a:r>
            <a:endParaRPr lang="en-US" sz="1500" dirty="0"/>
          </a:p>
        </p:txBody>
      </p:sp>
      <p:sp>
        <p:nvSpPr>
          <p:cNvPr id="12" name="Text 10"/>
          <p:cNvSpPr/>
          <p:nvPr/>
        </p:nvSpPr>
        <p:spPr>
          <a:xfrm>
            <a:off x="9418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Ch. 1-2: agents, environments, rational action</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Ch. 3: search over atomic states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Ch. 5: search when an opponent responds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Ch. 6: constraints over variables</a:t>
            </a:r>
            <a:endParaRPr lang="en-US" sz="1220" dirty="0"/>
          </a:p>
        </p:txBody>
      </p:sp>
      <p:sp>
        <p:nvSpPr>
          <p:cNvPr id="13" name="Shape 11"/>
          <p:cNvSpPr/>
          <p:nvPr/>
        </p:nvSpPr>
        <p:spPr>
          <a:xfrm>
            <a:off x="6263640" y="1463040"/>
            <a:ext cx="5166360" cy="3337560"/>
          </a:xfrm>
          <a:prstGeom prst="roundRect">
            <a:avLst>
              <a:gd name="adj" fmla="val 1644"/>
            </a:avLst>
          </a:prstGeom>
          <a:solidFill>
            <a:srgbClr val="FFFDF7"/>
          </a:solidFill>
          <a:ln w="12700">
            <a:solidFill>
              <a:srgbClr val="B6D1D8"/>
            </a:solidFill>
            <a:prstDash val="solid"/>
          </a:ln>
        </p:spPr>
      </p:sp>
      <p:sp>
        <p:nvSpPr>
          <p:cNvPr id="14" name="Shape 12"/>
          <p:cNvSpPr/>
          <p:nvPr/>
        </p:nvSpPr>
        <p:spPr>
          <a:xfrm>
            <a:off x="6263640" y="1463040"/>
            <a:ext cx="73152" cy="3337560"/>
          </a:xfrm>
          <a:prstGeom prst="rect">
            <a:avLst/>
          </a:prstGeom>
          <a:solidFill>
            <a:srgbClr val="F2B84B"/>
          </a:solidFill>
          <a:ln w="12700">
            <a:solidFill>
              <a:srgbClr val="F2B84B">
                <a:alpha val="0"/>
              </a:srgbClr>
            </a:solidFill>
            <a:prstDash val="solid"/>
          </a:ln>
        </p:spPr>
      </p:sp>
      <p:sp>
        <p:nvSpPr>
          <p:cNvPr id="15" name="Text 13"/>
          <p:cNvSpPr/>
          <p:nvPr/>
        </p:nvSpPr>
        <p:spPr>
          <a:xfrm>
            <a:off x="64282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Chapter 7 shift</a:t>
            </a:r>
            <a:endParaRPr lang="en-US" sz="1500" dirty="0"/>
          </a:p>
        </p:txBody>
      </p:sp>
      <p:sp>
        <p:nvSpPr>
          <p:cNvPr id="16" name="Text 14"/>
          <p:cNvSpPr/>
          <p:nvPr/>
        </p:nvSpPr>
        <p:spPr>
          <a:xfrm>
            <a:off x="64282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Represent general facts, not just states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Reason under partial observability</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Separate knowledge from inference</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Prepare for first-order logic in Chapter 8</a:t>
            </a:r>
            <a:endParaRPr lang="en-US" sz="1220" dirty="0"/>
          </a:p>
        </p:txBody>
      </p:sp>
      <p:sp>
        <p:nvSpPr>
          <p:cNvPr id="17" name="Shape 15"/>
          <p:cNvSpPr/>
          <p:nvPr/>
        </p:nvSpPr>
        <p:spPr>
          <a:xfrm>
            <a:off x="868680" y="5257800"/>
            <a:ext cx="10424160" cy="685800"/>
          </a:xfrm>
          <a:prstGeom prst="roundRect">
            <a:avLst>
              <a:gd name="adj" fmla="val 8000"/>
            </a:avLst>
          </a:prstGeom>
          <a:solidFill>
            <a:srgbClr val="005088"/>
          </a:solidFill>
          <a:ln w="12700">
            <a:solidFill>
              <a:srgbClr val="005088">
                <a:alpha val="0"/>
              </a:srgbClr>
            </a:solidFill>
            <a:prstDash val="solid"/>
          </a:ln>
        </p:spPr>
      </p:sp>
      <p:sp>
        <p:nvSpPr>
          <p:cNvPr id="18" name="Text 16"/>
          <p:cNvSpPr/>
          <p:nvPr/>
        </p:nvSpPr>
        <p:spPr>
          <a:xfrm>
            <a:off x="1124712" y="5440680"/>
            <a:ext cx="9912096" cy="91440"/>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Aptos Display" pitchFamily="34" charset="0"/>
                <a:ea typeface="Aptos Display" pitchFamily="34" charset="-122"/>
                <a:cs typeface="Aptos Display" pitchFamily="34" charset="-120"/>
              </a:rPr>
              <a:t>Search asks: "What path gets me there?" Logic asks: "What must be true?"</a:t>
            </a:r>
            <a:endParaRPr lang="en-US" sz="2100" dirty="0"/>
          </a:p>
        </p:txBody>
      </p:sp>
      <p:sp>
        <p:nvSpPr>
          <p:cNvPr id="19" name="Text 17"/>
          <p:cNvSpPr/>
          <p:nvPr/>
        </p:nvSpPr>
        <p:spPr>
          <a:xfrm>
            <a:off x="1188720" y="5559552"/>
            <a:ext cx="9784080" cy="237744"/>
          </a:xfrm>
          <a:prstGeom prst="rect">
            <a:avLst/>
          </a:prstGeom>
          <a:noFill/>
          <a:ln/>
        </p:spPr>
        <p:txBody>
          <a:bodyPr wrap="square" lIns="0" tIns="0" rIns="0" bIns="0" rtlCol="0" anchor="ctr">
            <a:normAutofit/>
          </a:bodyPr>
          <a:lstStyle/>
          <a:p>
            <a:pPr algn="ctr" indent="0" marL="0">
              <a:buNone/>
            </a:pPr>
            <a:r>
              <a:rPr lang="en-US" sz="1080" dirty="0">
                <a:solidFill>
                  <a:srgbClr val="D9F6F6"/>
                </a:solidFill>
                <a:latin typeface="Aptos" pitchFamily="34" charset="0"/>
                <a:ea typeface="Aptos" pitchFamily="34" charset="-122"/>
                <a:cs typeface="Aptos" pitchFamily="34" charset="-120"/>
              </a:rPr>
              <a:t>The agent needs both skills in realistic AI systems.</a:t>
            </a:r>
            <a:endParaRPr lang="en-US" sz="1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04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Learning Outcomes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What students should be able to explain and do after this lecture.</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Build the agent loop</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 Explain TELL and ASK</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Identify KB, sentences, and axioms</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Describe inference in the loop</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Read logical notation</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 Use propositional symbols</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Interpret connectives</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Explain models and entailment</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Trace algorithms</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 Model checking</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Resolution</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Forward/backward chaining</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DPLL and WalkSAT</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Apply to Wumpus</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 Infer safe squares</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Avoid confusing unknown with false</a:t>
            </a:r>
            <a:endParaRPr lang="en-US" sz="1050" dirty="0"/>
          </a:p>
          <a:p>
            <a:pPr indent="0" marL="0">
              <a:buNone/>
            </a:pPr>
            <a:r>
              <a:rPr lang="en-US" sz="1050" dirty="0">
                <a:solidFill>
                  <a:srgbClr val="1E293B"/>
                </a:solidFill>
                <a:latin typeface="Aptos" pitchFamily="34" charset="0"/>
                <a:ea typeface="Aptos" pitchFamily="34" charset="-122"/>
                <a:cs typeface="Aptos" pitchFamily="34" charset="-120"/>
              </a:rPr>
              <a:t>• Plan with SAT-style encodings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Lecture Roadmap</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05</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Lecture Roadmap</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student-friendly path through Chapter 7.</a:t>
            </a:r>
            <a:endParaRPr lang="en-US" sz="850" dirty="0"/>
          </a:p>
        </p:txBody>
      </p:sp>
      <p:sp>
        <p:nvSpPr>
          <p:cNvPr id="9" name="Shape 7"/>
          <p:cNvSpPr/>
          <p:nvPr/>
        </p:nvSpPr>
        <p:spPr>
          <a:xfrm>
            <a:off x="731520" y="1417320"/>
            <a:ext cx="5074920" cy="1143000"/>
          </a:xfrm>
          <a:prstGeom prst="roundRect">
            <a:avLst>
              <a:gd name="adj" fmla="val 4800"/>
            </a:avLst>
          </a:prstGeom>
          <a:solidFill>
            <a:srgbClr val="FFFDF7"/>
          </a:solidFill>
          <a:ln w="12700">
            <a:solidFill>
              <a:srgbClr val="B6D1D8"/>
            </a:solidFill>
            <a:prstDash val="solid"/>
          </a:ln>
        </p:spPr>
      </p:sp>
      <p:sp>
        <p:nvSpPr>
          <p:cNvPr id="10" name="Shape 8"/>
          <p:cNvSpPr/>
          <p:nvPr/>
        </p:nvSpPr>
        <p:spPr>
          <a:xfrm>
            <a:off x="731520" y="1417320"/>
            <a:ext cx="73152" cy="11430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1. Knowledge-based agents</a:t>
            </a:r>
            <a:endParaRPr lang="en-US" sz="1270" dirty="0"/>
          </a:p>
        </p:txBody>
      </p:sp>
      <p:sp>
        <p:nvSpPr>
          <p:cNvPr id="12" name="Text 10"/>
          <p:cNvSpPr/>
          <p:nvPr/>
        </p:nvSpPr>
        <p:spPr>
          <a:xfrm>
            <a:off x="896112" y="1892808"/>
            <a:ext cx="4782312" cy="57607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TELL, ASK, KB, inference, and why this is more flexible than search alone.</a:t>
            </a:r>
            <a:endParaRPr lang="en-US" sz="1050" dirty="0"/>
          </a:p>
        </p:txBody>
      </p:sp>
      <p:sp>
        <p:nvSpPr>
          <p:cNvPr id="13" name="Shape 11"/>
          <p:cNvSpPr/>
          <p:nvPr/>
        </p:nvSpPr>
        <p:spPr>
          <a:xfrm>
            <a:off x="731520" y="2834640"/>
            <a:ext cx="5074920" cy="1143000"/>
          </a:xfrm>
          <a:prstGeom prst="roundRect">
            <a:avLst>
              <a:gd name="adj" fmla="val 4800"/>
            </a:avLst>
          </a:prstGeom>
          <a:solidFill>
            <a:srgbClr val="FFFDF7"/>
          </a:solidFill>
          <a:ln w="12700">
            <a:solidFill>
              <a:srgbClr val="B6D1D8"/>
            </a:solidFill>
            <a:prstDash val="solid"/>
          </a:ln>
        </p:spPr>
      </p:sp>
      <p:sp>
        <p:nvSpPr>
          <p:cNvPr id="14" name="Shape 12"/>
          <p:cNvSpPr/>
          <p:nvPr/>
        </p:nvSpPr>
        <p:spPr>
          <a:xfrm>
            <a:off x="731520" y="2834640"/>
            <a:ext cx="73152" cy="1143000"/>
          </a:xfrm>
          <a:prstGeom prst="rect">
            <a:avLst/>
          </a:prstGeom>
          <a:solidFill>
            <a:srgbClr val="F2B84B"/>
          </a:solidFill>
          <a:ln w="12700">
            <a:solidFill>
              <a:srgbClr val="F2B84B">
                <a:alpha val="0"/>
              </a:srgbClr>
            </a:solidFill>
            <a:prstDash val="solid"/>
          </a:ln>
        </p:spPr>
      </p:sp>
      <p:sp>
        <p:nvSpPr>
          <p:cNvPr id="15" name="Text 13"/>
          <p:cNvSpPr/>
          <p:nvPr/>
        </p:nvSpPr>
        <p:spPr>
          <a:xfrm>
            <a:off x="896112" y="2962656"/>
            <a:ext cx="480060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2. Wumpus World</a:t>
            </a:r>
            <a:endParaRPr lang="en-US" sz="1270" dirty="0"/>
          </a:p>
        </p:txBody>
      </p:sp>
      <p:sp>
        <p:nvSpPr>
          <p:cNvPr id="16" name="Text 14"/>
          <p:cNvSpPr/>
          <p:nvPr/>
        </p:nvSpPr>
        <p:spPr>
          <a:xfrm>
            <a:off x="896112" y="3310128"/>
            <a:ext cx="4782312" cy="57607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small grid world that forces the agent to reason under partial observability.</a:t>
            </a:r>
            <a:endParaRPr lang="en-US" sz="1050" dirty="0"/>
          </a:p>
        </p:txBody>
      </p:sp>
      <p:sp>
        <p:nvSpPr>
          <p:cNvPr id="17" name="Shape 15"/>
          <p:cNvSpPr/>
          <p:nvPr/>
        </p:nvSpPr>
        <p:spPr>
          <a:xfrm>
            <a:off x="731520" y="4251960"/>
            <a:ext cx="5074920" cy="1143000"/>
          </a:xfrm>
          <a:prstGeom prst="roundRect">
            <a:avLst>
              <a:gd name="adj" fmla="val 4800"/>
            </a:avLst>
          </a:prstGeom>
          <a:solidFill>
            <a:srgbClr val="FFFDF7"/>
          </a:solidFill>
          <a:ln w="12700">
            <a:solidFill>
              <a:srgbClr val="B6D1D8"/>
            </a:solidFill>
            <a:prstDash val="solid"/>
          </a:ln>
        </p:spPr>
      </p:sp>
      <p:sp>
        <p:nvSpPr>
          <p:cNvPr id="18" name="Shape 16"/>
          <p:cNvSpPr/>
          <p:nvPr/>
        </p:nvSpPr>
        <p:spPr>
          <a:xfrm>
            <a:off x="731520" y="4251960"/>
            <a:ext cx="73152" cy="1143000"/>
          </a:xfrm>
          <a:prstGeom prst="rect">
            <a:avLst/>
          </a:prstGeom>
          <a:solidFill>
            <a:srgbClr val="168A8A"/>
          </a:solidFill>
          <a:ln w="12700">
            <a:solidFill>
              <a:srgbClr val="168A8A">
                <a:alpha val="0"/>
              </a:srgbClr>
            </a:solidFill>
            <a:prstDash val="solid"/>
          </a:ln>
        </p:spPr>
      </p:sp>
      <p:sp>
        <p:nvSpPr>
          <p:cNvPr id="19" name="Text 17"/>
          <p:cNvSpPr/>
          <p:nvPr/>
        </p:nvSpPr>
        <p:spPr>
          <a:xfrm>
            <a:off x="896112" y="4379976"/>
            <a:ext cx="480060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3. Logic basics</a:t>
            </a:r>
            <a:endParaRPr lang="en-US" sz="1270" dirty="0"/>
          </a:p>
        </p:txBody>
      </p:sp>
      <p:sp>
        <p:nvSpPr>
          <p:cNvPr id="20" name="Text 18"/>
          <p:cNvSpPr/>
          <p:nvPr/>
        </p:nvSpPr>
        <p:spPr>
          <a:xfrm>
            <a:off x="896112" y="4727448"/>
            <a:ext cx="4782312" cy="57607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Syntax, semantics, models, entailment, soundness, and completeness.</a:t>
            </a:r>
            <a:endParaRPr lang="en-US" sz="1050" dirty="0"/>
          </a:p>
        </p:txBody>
      </p:sp>
      <p:sp>
        <p:nvSpPr>
          <p:cNvPr id="21" name="Shape 19"/>
          <p:cNvSpPr/>
          <p:nvPr/>
        </p:nvSpPr>
        <p:spPr>
          <a:xfrm>
            <a:off x="6263640" y="1417320"/>
            <a:ext cx="5074920" cy="1143000"/>
          </a:xfrm>
          <a:prstGeom prst="roundRect">
            <a:avLst>
              <a:gd name="adj" fmla="val 4800"/>
            </a:avLst>
          </a:prstGeom>
          <a:solidFill>
            <a:srgbClr val="FFFDF7"/>
          </a:solidFill>
          <a:ln w="12700">
            <a:solidFill>
              <a:srgbClr val="B6D1D8"/>
            </a:solidFill>
            <a:prstDash val="solid"/>
          </a:ln>
        </p:spPr>
      </p:sp>
      <p:sp>
        <p:nvSpPr>
          <p:cNvPr id="22" name="Shape 20"/>
          <p:cNvSpPr/>
          <p:nvPr/>
        </p:nvSpPr>
        <p:spPr>
          <a:xfrm>
            <a:off x="6263640" y="1417320"/>
            <a:ext cx="73152" cy="1143000"/>
          </a:xfrm>
          <a:prstGeom prst="rect">
            <a:avLst/>
          </a:prstGeom>
          <a:solidFill>
            <a:srgbClr val="F2B84B"/>
          </a:solidFill>
          <a:ln w="12700">
            <a:solidFill>
              <a:srgbClr val="F2B84B">
                <a:alpha val="0"/>
              </a:srgbClr>
            </a:solidFill>
            <a:prstDash val="solid"/>
          </a:ln>
        </p:spPr>
      </p:sp>
      <p:sp>
        <p:nvSpPr>
          <p:cNvPr id="23" name="Text 21"/>
          <p:cNvSpPr/>
          <p:nvPr/>
        </p:nvSpPr>
        <p:spPr>
          <a:xfrm>
            <a:off x="6428232" y="1545336"/>
            <a:ext cx="480060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4. Propositional logic</a:t>
            </a:r>
            <a:endParaRPr lang="en-US" sz="1270" dirty="0"/>
          </a:p>
        </p:txBody>
      </p:sp>
      <p:sp>
        <p:nvSpPr>
          <p:cNvPr id="24" name="Text 22"/>
          <p:cNvSpPr/>
          <p:nvPr/>
        </p:nvSpPr>
        <p:spPr>
          <a:xfrm>
            <a:off x="6428232" y="1892808"/>
            <a:ext cx="4782312" cy="57607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Symbols, connectives, truth tables, and a Wumpus knowledge base.</a:t>
            </a:r>
            <a:endParaRPr lang="en-US" sz="1050" dirty="0"/>
          </a:p>
        </p:txBody>
      </p:sp>
      <p:sp>
        <p:nvSpPr>
          <p:cNvPr id="25" name="Shape 23"/>
          <p:cNvSpPr/>
          <p:nvPr/>
        </p:nvSpPr>
        <p:spPr>
          <a:xfrm>
            <a:off x="6263640" y="2834640"/>
            <a:ext cx="5074920" cy="1143000"/>
          </a:xfrm>
          <a:prstGeom prst="roundRect">
            <a:avLst>
              <a:gd name="adj" fmla="val 4800"/>
            </a:avLst>
          </a:prstGeom>
          <a:solidFill>
            <a:srgbClr val="FFFDF7"/>
          </a:solidFill>
          <a:ln w="12700">
            <a:solidFill>
              <a:srgbClr val="B6D1D8"/>
            </a:solidFill>
            <a:prstDash val="solid"/>
          </a:ln>
        </p:spPr>
      </p:sp>
      <p:sp>
        <p:nvSpPr>
          <p:cNvPr id="26" name="Shape 24"/>
          <p:cNvSpPr/>
          <p:nvPr/>
        </p:nvSpPr>
        <p:spPr>
          <a:xfrm>
            <a:off x="6263640" y="2834640"/>
            <a:ext cx="73152" cy="1143000"/>
          </a:xfrm>
          <a:prstGeom prst="rect">
            <a:avLst/>
          </a:prstGeom>
          <a:solidFill>
            <a:srgbClr val="168A8A"/>
          </a:solidFill>
          <a:ln w="12700">
            <a:solidFill>
              <a:srgbClr val="168A8A">
                <a:alpha val="0"/>
              </a:srgbClr>
            </a:solidFill>
            <a:prstDash val="solid"/>
          </a:ln>
        </p:spPr>
      </p:sp>
      <p:sp>
        <p:nvSpPr>
          <p:cNvPr id="27" name="Text 25"/>
          <p:cNvSpPr/>
          <p:nvPr/>
        </p:nvSpPr>
        <p:spPr>
          <a:xfrm>
            <a:off x="6428232" y="2962656"/>
            <a:ext cx="480060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5. Inference algorithms</a:t>
            </a:r>
            <a:endParaRPr lang="en-US" sz="1270" dirty="0"/>
          </a:p>
        </p:txBody>
      </p:sp>
      <p:sp>
        <p:nvSpPr>
          <p:cNvPr id="28" name="Text 26"/>
          <p:cNvSpPr/>
          <p:nvPr/>
        </p:nvSpPr>
        <p:spPr>
          <a:xfrm>
            <a:off x="6428232" y="3310128"/>
            <a:ext cx="4782312" cy="57607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Model checking, theorem proving, resolution, Horn clauses, chaining.</a:t>
            </a:r>
            <a:endParaRPr lang="en-US" sz="1050" dirty="0"/>
          </a:p>
        </p:txBody>
      </p:sp>
      <p:sp>
        <p:nvSpPr>
          <p:cNvPr id="29" name="Shape 27"/>
          <p:cNvSpPr/>
          <p:nvPr/>
        </p:nvSpPr>
        <p:spPr>
          <a:xfrm>
            <a:off x="6263640" y="4251960"/>
            <a:ext cx="5074920" cy="1143000"/>
          </a:xfrm>
          <a:prstGeom prst="roundRect">
            <a:avLst>
              <a:gd name="adj" fmla="val 4800"/>
            </a:avLst>
          </a:prstGeom>
          <a:solidFill>
            <a:srgbClr val="FFFDF7"/>
          </a:solidFill>
          <a:ln w="12700">
            <a:solidFill>
              <a:srgbClr val="B6D1D8"/>
            </a:solidFill>
            <a:prstDash val="solid"/>
          </a:ln>
        </p:spPr>
      </p:sp>
      <p:sp>
        <p:nvSpPr>
          <p:cNvPr id="30" name="Shape 28"/>
          <p:cNvSpPr/>
          <p:nvPr/>
        </p:nvSpPr>
        <p:spPr>
          <a:xfrm>
            <a:off x="6263640" y="4251960"/>
            <a:ext cx="73152" cy="1143000"/>
          </a:xfrm>
          <a:prstGeom prst="rect">
            <a:avLst/>
          </a:prstGeom>
          <a:solidFill>
            <a:srgbClr val="F2B84B"/>
          </a:solidFill>
          <a:ln w="12700">
            <a:solidFill>
              <a:srgbClr val="F2B84B">
                <a:alpha val="0"/>
              </a:srgbClr>
            </a:solidFill>
            <a:prstDash val="solid"/>
          </a:ln>
        </p:spPr>
      </p:sp>
      <p:sp>
        <p:nvSpPr>
          <p:cNvPr id="31" name="Text 29"/>
          <p:cNvSpPr/>
          <p:nvPr/>
        </p:nvSpPr>
        <p:spPr>
          <a:xfrm>
            <a:off x="6428232" y="4379976"/>
            <a:ext cx="480060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6. SAT solving and planning</a:t>
            </a:r>
            <a:endParaRPr lang="en-US" sz="1270" dirty="0"/>
          </a:p>
        </p:txBody>
      </p:sp>
      <p:sp>
        <p:nvSpPr>
          <p:cNvPr id="32" name="Text 30"/>
          <p:cNvSpPr/>
          <p:nvPr/>
        </p:nvSpPr>
        <p:spPr>
          <a:xfrm>
            <a:off x="6428232" y="4727448"/>
            <a:ext cx="4782312" cy="57607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DPLL, WalkSAT, SATPLAN, logical state estimation, and limits.</a:t>
            </a:r>
            <a:endParaRPr lang="en-US" sz="1050" dirty="0"/>
          </a:p>
        </p:txBody>
      </p:sp>
      <p:sp>
        <p:nvSpPr>
          <p:cNvPr id="33" name="Shape 31"/>
          <p:cNvSpPr/>
          <p:nvPr/>
        </p:nvSpPr>
        <p:spPr>
          <a:xfrm>
            <a:off x="868680" y="5742432"/>
            <a:ext cx="10424160" cy="502920"/>
          </a:xfrm>
          <a:prstGeom prst="roundRect">
            <a:avLst>
              <a:gd name="adj" fmla="val 10909"/>
            </a:avLst>
          </a:prstGeom>
          <a:solidFill>
            <a:srgbClr val="0F766E"/>
          </a:solidFill>
          <a:ln w="12700">
            <a:solidFill>
              <a:srgbClr val="0F766E">
                <a:alpha val="0"/>
              </a:srgbClr>
            </a:solidFill>
            <a:prstDash val="solid"/>
          </a:ln>
        </p:spPr>
      </p:sp>
      <p:sp>
        <p:nvSpPr>
          <p:cNvPr id="34" name="Text 32"/>
          <p:cNvSpPr/>
          <p:nvPr/>
        </p:nvSpPr>
        <p:spPr>
          <a:xfrm>
            <a:off x="1124712" y="5925312"/>
            <a:ext cx="9912096" cy="-91440"/>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Aptos Display" pitchFamily="34" charset="0"/>
                <a:ea typeface="Aptos Display" pitchFamily="34" charset="-122"/>
                <a:cs typeface="Aptos Display" pitchFamily="34" charset="-120"/>
              </a:rPr>
              <a:t>Core theme: A logical agent acts by proving what follows from what it knows.</a:t>
            </a:r>
            <a:endParaRPr lang="en-US" sz="2100" dirty="0"/>
          </a:p>
        </p:txBody>
      </p:sp>
      <p:sp>
        <p:nvSpPr>
          <p:cNvPr id="35" name="Text 33"/>
          <p:cNvSpPr/>
          <p:nvPr/>
        </p:nvSpPr>
        <p:spPr>
          <a:xfrm>
            <a:off x="1188720" y="5861304"/>
            <a:ext cx="9784080" cy="237744"/>
          </a:xfrm>
          <a:prstGeom prst="rect">
            <a:avLst/>
          </a:prstGeom>
          <a:noFill/>
          <a:ln/>
        </p:spPr>
        <p:txBody>
          <a:bodyPr wrap="square" lIns="0" tIns="0" rIns="0" bIns="0" rtlCol="0" anchor="ctr">
            <a:normAutofit/>
          </a:bodyPr>
          <a:lstStyle/>
          <a:p>
            <a:pPr algn="ctr" indent="0" marL="0">
              <a:buNone/>
            </a:pPr>
            <a:r>
              <a:rPr lang="en-US" sz="1080" dirty="0">
                <a:solidFill>
                  <a:srgbClr val="D9F6F6"/>
                </a:solidFill>
                <a:latin typeface="Aptos" pitchFamily="34" charset="0"/>
                <a:ea typeface="Aptos" pitchFamily="34" charset="-122"/>
                <a:cs typeface="Aptos" pitchFamily="34" charset="-120"/>
              </a:rPr>
              <a:t>Everything else is machinery to make this possible.</a:t>
            </a:r>
            <a:endParaRPr lang="en-US" sz="10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594360" y="502920"/>
            <a:ext cx="1828800" cy="320040"/>
          </a:xfrm>
          <a:prstGeom prst="rect">
            <a:avLst/>
          </a:prstGeom>
          <a:noFill/>
          <a:ln/>
        </p:spPr>
        <p:txBody>
          <a:bodyPr wrap="square" lIns="0" tIns="0" rIns="0" bIns="0" rtlCol="0" anchor="ctr"/>
          <a:lstStyle/>
          <a:p>
            <a:pPr indent="0" marL="0">
              <a:buNone/>
            </a:pPr>
            <a:r>
              <a:rPr lang="en-US" sz="1300" b="1" dirty="0">
                <a:solidFill>
                  <a:srgbClr val="BDEEEE"/>
                </a:solidFill>
                <a:latin typeface="Aptos" pitchFamily="34" charset="0"/>
                <a:ea typeface="Aptos" pitchFamily="34" charset="-122"/>
                <a:cs typeface="Aptos" pitchFamily="34" charset="-120"/>
              </a:rPr>
              <a:t>SECTION 1</a:t>
            </a:r>
            <a:endParaRPr lang="en-US" sz="1300" dirty="0"/>
          </a:p>
        </p:txBody>
      </p:sp>
      <p:sp>
        <p:nvSpPr>
          <p:cNvPr id="3" name="Text 1"/>
          <p:cNvSpPr/>
          <p:nvPr/>
        </p:nvSpPr>
        <p:spPr>
          <a:xfrm>
            <a:off x="594360" y="1097280"/>
            <a:ext cx="10698480" cy="109728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Knowledge-Based Agents</a:t>
            </a:r>
            <a:endParaRPr lang="en-US" sz="4200" dirty="0"/>
          </a:p>
        </p:txBody>
      </p:sp>
      <p:sp>
        <p:nvSpPr>
          <p:cNvPr id="4" name="Text 2"/>
          <p:cNvSpPr/>
          <p:nvPr/>
        </p:nvSpPr>
        <p:spPr>
          <a:xfrm>
            <a:off x="640080" y="2304288"/>
            <a:ext cx="10607040" cy="548640"/>
          </a:xfrm>
          <a:prstGeom prst="rect">
            <a:avLst/>
          </a:prstGeom>
          <a:noFill/>
          <a:ln/>
        </p:spPr>
        <p:txBody>
          <a:bodyPr wrap="square" lIns="0" tIns="0" rIns="0" bIns="0" rtlCol="0" anchor="ctr">
            <a:normAutofit/>
          </a:bodyPr>
          <a:lstStyle/>
          <a:p>
            <a:pPr indent="0" marL="0">
              <a:buNone/>
            </a:pPr>
            <a:r>
              <a:rPr lang="en-US" sz="1800" dirty="0">
                <a:solidFill>
                  <a:srgbClr val="D9F6F6"/>
                </a:solidFill>
                <a:latin typeface="Aptos" pitchFamily="34" charset="0"/>
                <a:ea typeface="Aptos" pitchFamily="34" charset="-122"/>
                <a:cs typeface="Aptos" pitchFamily="34" charset="-120"/>
              </a:rPr>
              <a:t>Agents that explicitly represent what they know and reason from it.</a:t>
            </a:r>
            <a:endParaRPr lang="en-US" sz="1800" dirty="0"/>
          </a:p>
        </p:txBody>
      </p:sp>
      <p:sp>
        <p:nvSpPr>
          <p:cNvPr id="5" name="Shape 3"/>
          <p:cNvSpPr/>
          <p:nvPr/>
        </p:nvSpPr>
        <p:spPr>
          <a:xfrm>
            <a:off x="685800" y="3657600"/>
            <a:ext cx="3413760" cy="1417320"/>
          </a:xfrm>
          <a:prstGeom prst="roundRect">
            <a:avLst>
              <a:gd name="adj" fmla="val 3871"/>
            </a:avLst>
          </a:prstGeom>
          <a:solidFill>
            <a:srgbClr val="F8FBFB"/>
          </a:solidFill>
          <a:ln w="12700">
            <a:solidFill>
              <a:srgbClr val="B6D1D8"/>
            </a:solidFill>
            <a:prstDash val="solid"/>
          </a:ln>
        </p:spPr>
      </p:sp>
      <p:sp>
        <p:nvSpPr>
          <p:cNvPr id="6" name="Shape 4"/>
          <p:cNvSpPr/>
          <p:nvPr/>
        </p:nvSpPr>
        <p:spPr>
          <a:xfrm>
            <a:off x="685800" y="3657600"/>
            <a:ext cx="73152" cy="1417320"/>
          </a:xfrm>
          <a:prstGeom prst="rect">
            <a:avLst/>
          </a:prstGeom>
          <a:solidFill>
            <a:srgbClr val="F2B84B"/>
          </a:solidFill>
          <a:ln w="12700">
            <a:solidFill>
              <a:srgbClr val="F2B84B">
                <a:alpha val="0"/>
              </a:srgbClr>
            </a:solidFill>
            <a:prstDash val="solid"/>
          </a:ln>
        </p:spPr>
      </p:sp>
      <p:sp>
        <p:nvSpPr>
          <p:cNvPr id="7" name="Text 5"/>
          <p:cNvSpPr/>
          <p:nvPr/>
        </p:nvSpPr>
        <p:spPr>
          <a:xfrm>
            <a:off x="85039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Knowledge base</a:t>
            </a:r>
            <a:endParaRPr lang="en-US" sz="1200" dirty="0"/>
          </a:p>
        </p:txBody>
      </p:sp>
      <p:sp>
        <p:nvSpPr>
          <p:cNvPr id="8" name="Text 6"/>
          <p:cNvSpPr/>
          <p:nvPr/>
        </p:nvSpPr>
        <p:spPr>
          <a:xfrm>
            <a:off x="85039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A set of formal sentences about the world.</a:t>
            </a:r>
            <a:endParaRPr lang="en-US" sz="1000" dirty="0"/>
          </a:p>
        </p:txBody>
      </p:sp>
      <p:sp>
        <p:nvSpPr>
          <p:cNvPr id="9" name="Shape 7"/>
          <p:cNvSpPr/>
          <p:nvPr/>
        </p:nvSpPr>
        <p:spPr>
          <a:xfrm>
            <a:off x="4373880" y="3657600"/>
            <a:ext cx="3413760" cy="1417320"/>
          </a:xfrm>
          <a:prstGeom prst="roundRect">
            <a:avLst>
              <a:gd name="adj" fmla="val 3871"/>
            </a:avLst>
          </a:prstGeom>
          <a:solidFill>
            <a:srgbClr val="F8FBFB"/>
          </a:solidFill>
          <a:ln w="12700">
            <a:solidFill>
              <a:srgbClr val="B6D1D8"/>
            </a:solidFill>
            <a:prstDash val="solid"/>
          </a:ln>
        </p:spPr>
      </p:sp>
      <p:sp>
        <p:nvSpPr>
          <p:cNvPr id="10" name="Shape 8"/>
          <p:cNvSpPr/>
          <p:nvPr/>
        </p:nvSpPr>
        <p:spPr>
          <a:xfrm>
            <a:off x="4373880" y="3657600"/>
            <a:ext cx="73152" cy="1417320"/>
          </a:xfrm>
          <a:prstGeom prst="rect">
            <a:avLst/>
          </a:prstGeom>
          <a:solidFill>
            <a:srgbClr val="168A8A"/>
          </a:solidFill>
          <a:ln w="12700">
            <a:solidFill>
              <a:srgbClr val="168A8A">
                <a:alpha val="0"/>
              </a:srgbClr>
            </a:solidFill>
            <a:prstDash val="solid"/>
          </a:ln>
        </p:spPr>
      </p:sp>
      <p:sp>
        <p:nvSpPr>
          <p:cNvPr id="11" name="Text 9"/>
          <p:cNvSpPr/>
          <p:nvPr/>
        </p:nvSpPr>
        <p:spPr>
          <a:xfrm>
            <a:off x="453847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Inference</a:t>
            </a:r>
            <a:endParaRPr lang="en-US" sz="1200" dirty="0"/>
          </a:p>
        </p:txBody>
      </p:sp>
      <p:sp>
        <p:nvSpPr>
          <p:cNvPr id="12" name="Text 10"/>
          <p:cNvSpPr/>
          <p:nvPr/>
        </p:nvSpPr>
        <p:spPr>
          <a:xfrm>
            <a:off x="453847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A method for deriving new sentences from old ones.</a:t>
            </a:r>
            <a:endParaRPr lang="en-US" sz="1000" dirty="0"/>
          </a:p>
        </p:txBody>
      </p:sp>
      <p:sp>
        <p:nvSpPr>
          <p:cNvPr id="13" name="Shape 11"/>
          <p:cNvSpPr/>
          <p:nvPr/>
        </p:nvSpPr>
        <p:spPr>
          <a:xfrm>
            <a:off x="8061960" y="3657600"/>
            <a:ext cx="3413760" cy="1417320"/>
          </a:xfrm>
          <a:prstGeom prst="roundRect">
            <a:avLst>
              <a:gd name="adj" fmla="val 3871"/>
            </a:avLst>
          </a:prstGeom>
          <a:solidFill>
            <a:srgbClr val="F8FBFB"/>
          </a:solidFill>
          <a:ln w="12700">
            <a:solidFill>
              <a:srgbClr val="B6D1D8"/>
            </a:solidFill>
            <a:prstDash val="solid"/>
          </a:ln>
        </p:spPr>
      </p:sp>
      <p:sp>
        <p:nvSpPr>
          <p:cNvPr id="14" name="Shape 12"/>
          <p:cNvSpPr/>
          <p:nvPr/>
        </p:nvSpPr>
        <p:spPr>
          <a:xfrm>
            <a:off x="8061960" y="3657600"/>
            <a:ext cx="73152" cy="1417320"/>
          </a:xfrm>
          <a:prstGeom prst="rect">
            <a:avLst/>
          </a:prstGeom>
          <a:solidFill>
            <a:srgbClr val="F2B84B"/>
          </a:solidFill>
          <a:ln w="12700">
            <a:solidFill>
              <a:srgbClr val="F2B84B">
                <a:alpha val="0"/>
              </a:srgbClr>
            </a:solidFill>
            <a:prstDash val="solid"/>
          </a:ln>
        </p:spPr>
      </p:sp>
      <p:sp>
        <p:nvSpPr>
          <p:cNvPr id="15" name="Text 13"/>
          <p:cNvSpPr/>
          <p:nvPr/>
        </p:nvSpPr>
        <p:spPr>
          <a:xfrm>
            <a:off x="822655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Action</a:t>
            </a:r>
            <a:endParaRPr lang="en-US" sz="1200" dirty="0"/>
          </a:p>
        </p:txBody>
      </p:sp>
      <p:sp>
        <p:nvSpPr>
          <p:cNvPr id="16" name="Text 14"/>
          <p:cNvSpPr/>
          <p:nvPr/>
        </p:nvSpPr>
        <p:spPr>
          <a:xfrm>
            <a:off x="822655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Choose actions based on what the KB entails.</a:t>
            </a:r>
            <a:endParaRPr lang="en-US" sz="1000" dirty="0"/>
          </a:p>
        </p:txBody>
      </p:sp>
      <p:sp>
        <p:nvSpPr>
          <p:cNvPr id="17" name="Text 15"/>
          <p:cNvSpPr/>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BDEEEE"/>
                </a:solidFill>
                <a:latin typeface="Aptos" pitchFamily="34" charset="0"/>
                <a:ea typeface="Aptos" pitchFamily="34" charset="-122"/>
                <a:cs typeface="Aptos" pitchFamily="34" charset="-120"/>
              </a:rPr>
              <a:t>COMP 469 | CSU Channel Islands</a:t>
            </a:r>
            <a:endParaRPr lang="en-US" sz="900" dirty="0"/>
          </a:p>
        </p:txBody>
      </p:sp>
      <p:sp>
        <p:nvSpPr>
          <p:cNvPr id="18" name="Text 16"/>
          <p:cNvSpPr/>
          <p:nvPr/>
        </p:nvSpPr>
        <p:spPr>
          <a:xfrm>
            <a:off x="11201400" y="6327648"/>
            <a:ext cx="411480" cy="256032"/>
          </a:xfrm>
          <a:prstGeom prst="rect">
            <a:avLst/>
          </a:prstGeom>
          <a:noFill/>
          <a:ln/>
        </p:spPr>
        <p:txBody>
          <a:bodyPr wrap="square" lIns="0" tIns="0" rIns="0" bIns="0"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07</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From Search Agents to Logical Agents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Why Chapter 7 expands the agent toolkit.</a:t>
            </a:r>
            <a:endParaRPr lang="en-US" sz="850" dirty="0"/>
          </a:p>
        </p:txBody>
      </p:sp>
      <p:sp>
        <p:nvSpPr>
          <p:cNvPr id="9" name="Shape 7"/>
          <p:cNvSpPr/>
          <p:nvPr/>
        </p:nvSpPr>
        <p:spPr>
          <a:xfrm>
            <a:off x="777240" y="1463040"/>
            <a:ext cx="5166360" cy="3337560"/>
          </a:xfrm>
          <a:prstGeom prst="roundRect">
            <a:avLst>
              <a:gd name="adj" fmla="val 1644"/>
            </a:avLst>
          </a:prstGeom>
          <a:solidFill>
            <a:srgbClr val="FFFDF7"/>
          </a:solidFill>
          <a:ln w="12700">
            <a:solidFill>
              <a:srgbClr val="B6D1D8"/>
            </a:solidFill>
            <a:prstDash val="solid"/>
          </a:ln>
        </p:spPr>
      </p:sp>
      <p:sp>
        <p:nvSpPr>
          <p:cNvPr id="10" name="Shape 8"/>
          <p:cNvSpPr/>
          <p:nvPr/>
        </p:nvSpPr>
        <p:spPr>
          <a:xfrm>
            <a:off x="777240" y="1463040"/>
            <a:ext cx="73152" cy="3337560"/>
          </a:xfrm>
          <a:prstGeom prst="rect">
            <a:avLst/>
          </a:prstGeom>
          <a:solidFill>
            <a:srgbClr val="168A8A"/>
          </a:solidFill>
          <a:ln w="12700">
            <a:solidFill>
              <a:srgbClr val="168A8A">
                <a:alpha val="0"/>
              </a:srgbClr>
            </a:solidFill>
            <a:prstDash val="solid"/>
          </a:ln>
        </p:spPr>
      </p:sp>
      <p:sp>
        <p:nvSpPr>
          <p:cNvPr id="11" name="Text 9"/>
          <p:cNvSpPr/>
          <p:nvPr/>
        </p:nvSpPr>
        <p:spPr>
          <a:xfrm>
            <a:off x="9418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Problem-solving/search agents</a:t>
            </a:r>
            <a:endParaRPr lang="en-US" sz="1500" dirty="0"/>
          </a:p>
        </p:txBody>
      </p:sp>
      <p:sp>
        <p:nvSpPr>
          <p:cNvPr id="12" name="Text 10"/>
          <p:cNvSpPr/>
          <p:nvPr/>
        </p:nvSpPr>
        <p:spPr>
          <a:xfrm>
            <a:off x="9418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Know actions and results for states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Often use atomic state descriptions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Plan paths to goal states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Limited at representing general facts</a:t>
            </a:r>
            <a:endParaRPr lang="en-US" sz="1220" dirty="0"/>
          </a:p>
        </p:txBody>
      </p:sp>
      <p:sp>
        <p:nvSpPr>
          <p:cNvPr id="13" name="Shape 11"/>
          <p:cNvSpPr/>
          <p:nvPr/>
        </p:nvSpPr>
        <p:spPr>
          <a:xfrm>
            <a:off x="6263640" y="1463040"/>
            <a:ext cx="5166360" cy="3337560"/>
          </a:xfrm>
          <a:prstGeom prst="roundRect">
            <a:avLst>
              <a:gd name="adj" fmla="val 1644"/>
            </a:avLst>
          </a:prstGeom>
          <a:solidFill>
            <a:srgbClr val="FFFDF7"/>
          </a:solidFill>
          <a:ln w="12700">
            <a:solidFill>
              <a:srgbClr val="B6D1D8"/>
            </a:solidFill>
            <a:prstDash val="solid"/>
          </a:ln>
        </p:spPr>
      </p:sp>
      <p:sp>
        <p:nvSpPr>
          <p:cNvPr id="14" name="Shape 12"/>
          <p:cNvSpPr/>
          <p:nvPr/>
        </p:nvSpPr>
        <p:spPr>
          <a:xfrm>
            <a:off x="6263640" y="1463040"/>
            <a:ext cx="73152" cy="3337560"/>
          </a:xfrm>
          <a:prstGeom prst="rect">
            <a:avLst/>
          </a:prstGeom>
          <a:solidFill>
            <a:srgbClr val="F2B84B"/>
          </a:solidFill>
          <a:ln w="12700">
            <a:solidFill>
              <a:srgbClr val="F2B84B">
                <a:alpha val="0"/>
              </a:srgbClr>
            </a:solidFill>
            <a:prstDash val="solid"/>
          </a:ln>
        </p:spPr>
      </p:sp>
      <p:sp>
        <p:nvSpPr>
          <p:cNvPr id="15" name="Text 13"/>
          <p:cNvSpPr/>
          <p:nvPr/>
        </p:nvSpPr>
        <p:spPr>
          <a:xfrm>
            <a:off x="64282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Knowledge-based agents</a:t>
            </a:r>
            <a:endParaRPr lang="en-US" sz="1500" dirty="0"/>
          </a:p>
        </p:txBody>
      </p:sp>
      <p:sp>
        <p:nvSpPr>
          <p:cNvPr id="16" name="Text 14"/>
          <p:cNvSpPr/>
          <p:nvPr/>
        </p:nvSpPr>
        <p:spPr>
          <a:xfrm>
            <a:off x="64282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Store general facts and rules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Reason over partial information</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Can be told new knowledge</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Can answer new questions from old facts</a:t>
            </a:r>
            <a:endParaRPr lang="en-US" sz="1220" dirty="0"/>
          </a:p>
        </p:txBody>
      </p:sp>
      <p:sp>
        <p:nvSpPr>
          <p:cNvPr id="17" name="Shape 15"/>
          <p:cNvSpPr/>
          <p:nvPr/>
        </p:nvSpPr>
        <p:spPr>
          <a:xfrm>
            <a:off x="868680" y="5257800"/>
            <a:ext cx="10424160" cy="685800"/>
          </a:xfrm>
          <a:prstGeom prst="roundRect">
            <a:avLst>
              <a:gd name="adj" fmla="val 8000"/>
            </a:avLst>
          </a:prstGeom>
          <a:solidFill>
            <a:srgbClr val="0F766E"/>
          </a:solidFill>
          <a:ln w="12700">
            <a:solidFill>
              <a:srgbClr val="0F766E">
                <a:alpha val="0"/>
              </a:srgbClr>
            </a:solidFill>
            <a:prstDash val="solid"/>
          </a:ln>
        </p:spPr>
      </p:sp>
      <p:sp>
        <p:nvSpPr>
          <p:cNvPr id="18" name="Text 16"/>
          <p:cNvSpPr/>
          <p:nvPr/>
        </p:nvSpPr>
        <p:spPr>
          <a:xfrm>
            <a:off x="1124712" y="5440680"/>
            <a:ext cx="9912096" cy="91440"/>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Aptos Display" pitchFamily="34" charset="0"/>
                <a:ea typeface="Aptos Display" pitchFamily="34" charset="-122"/>
                <a:cs typeface="Aptos Display" pitchFamily="34" charset="-120"/>
              </a:rPr>
              <a:t>A search agent can find a route; a logical agent can infer that a route is impossible.</a:t>
            </a:r>
            <a:endParaRPr lang="en-US" sz="2100" dirty="0"/>
          </a:p>
        </p:txBody>
      </p:sp>
      <p:sp>
        <p:nvSpPr>
          <p:cNvPr id="19" name="Text 17"/>
          <p:cNvSpPr/>
          <p:nvPr/>
        </p:nvSpPr>
        <p:spPr>
          <a:xfrm>
            <a:off x="1188720" y="5559552"/>
            <a:ext cx="9784080" cy="237744"/>
          </a:xfrm>
          <a:prstGeom prst="rect">
            <a:avLst/>
          </a:prstGeom>
          <a:noFill/>
          <a:ln/>
        </p:spPr>
        <p:txBody>
          <a:bodyPr wrap="square" lIns="0" tIns="0" rIns="0" bIns="0" rtlCol="0" anchor="ctr">
            <a:normAutofit/>
          </a:bodyPr>
          <a:lstStyle/>
          <a:p>
            <a:pPr algn="ctr" indent="0" marL="0">
              <a:buNone/>
            </a:pPr>
            <a:r>
              <a:rPr lang="en-US" sz="1080" dirty="0">
                <a:solidFill>
                  <a:srgbClr val="D9F6F6"/>
                </a:solidFill>
                <a:latin typeface="Aptos" pitchFamily="34" charset="0"/>
                <a:ea typeface="Aptos" pitchFamily="34" charset="-122"/>
                <a:cs typeface="Aptos" pitchFamily="34" charset="-120"/>
              </a:rPr>
              <a:t>Reasoning adds explanatory power.</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Knowledge-Based Agents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08</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The KB-Agent Loop</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generic knowledge-based agent: perceive, update, infer, act, remember.</a:t>
            </a:r>
            <a:endParaRPr lang="en-US" sz="850" dirty="0"/>
          </a:p>
        </p:txBody>
      </p:sp>
      <p:sp>
        <p:nvSpPr>
          <p:cNvPr id="9" name="Shape 7"/>
          <p:cNvSpPr/>
          <p:nvPr/>
        </p:nvSpPr>
        <p:spPr>
          <a:xfrm>
            <a:off x="731520" y="1417320"/>
            <a:ext cx="5074920" cy="2057400"/>
          </a:xfrm>
          <a:prstGeom prst="roundRect">
            <a:avLst>
              <a:gd name="adj" fmla="val 2667"/>
            </a:avLst>
          </a:prstGeom>
          <a:solidFill>
            <a:srgbClr val="FFFDF7"/>
          </a:solidFill>
          <a:ln w="12700">
            <a:solidFill>
              <a:srgbClr val="B6D1D8"/>
            </a:solidFill>
            <a:prstDash val="solid"/>
          </a:ln>
        </p:spPr>
      </p:sp>
      <p:sp>
        <p:nvSpPr>
          <p:cNvPr id="10" name="Shape 8"/>
          <p:cNvSpPr/>
          <p:nvPr/>
        </p:nvSpPr>
        <p:spPr>
          <a:xfrm>
            <a:off x="731520" y="1417320"/>
            <a:ext cx="73152" cy="20574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Agent cycle</a:t>
            </a:r>
            <a:endParaRPr lang="en-US" sz="1400" dirty="0"/>
          </a:p>
        </p:txBody>
      </p:sp>
      <p:sp>
        <p:nvSpPr>
          <p:cNvPr id="12" name="Text 10"/>
          <p:cNvSpPr/>
          <p:nvPr/>
        </p:nvSpPr>
        <p:spPr>
          <a:xfrm>
            <a:off x="896112" y="189280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TELL the KB what was perceived at time t</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ASK the KB what action should be taken</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TELL the KB which action was executed</a:t>
            </a:r>
            <a:endParaRPr lang="en-US" sz="1170" dirty="0"/>
          </a:p>
        </p:txBody>
      </p:sp>
      <p:sp>
        <p:nvSpPr>
          <p:cNvPr id="13" name="Shape 11"/>
          <p:cNvSpPr/>
          <p:nvPr/>
        </p:nvSpPr>
        <p:spPr>
          <a:xfrm>
            <a:off x="731520" y="3657600"/>
            <a:ext cx="5074920" cy="2057400"/>
          </a:xfrm>
          <a:prstGeom prst="roundRect">
            <a:avLst>
              <a:gd name="adj" fmla="val 2667"/>
            </a:avLst>
          </a:prstGeom>
          <a:solidFill>
            <a:srgbClr val="FFFDF7"/>
          </a:solidFill>
          <a:ln w="12700">
            <a:solidFill>
              <a:srgbClr val="B6D1D8"/>
            </a:solidFill>
            <a:prstDash val="solid"/>
          </a:ln>
        </p:spPr>
      </p:sp>
      <p:sp>
        <p:nvSpPr>
          <p:cNvPr id="14" name="Shape 12"/>
          <p:cNvSpPr/>
          <p:nvPr/>
        </p:nvSpPr>
        <p:spPr>
          <a:xfrm>
            <a:off x="731520" y="3657600"/>
            <a:ext cx="73152" cy="2057400"/>
          </a:xfrm>
          <a:prstGeom prst="rect">
            <a:avLst/>
          </a:prstGeom>
          <a:solidFill>
            <a:srgbClr val="F2B84B"/>
          </a:solidFill>
          <a:ln w="12700">
            <a:solidFill>
              <a:srgbClr val="F2B84B">
                <a:alpha val="0"/>
              </a:srgbClr>
            </a:solidFill>
            <a:prstDash val="solid"/>
          </a:ln>
        </p:spPr>
      </p:sp>
      <p:sp>
        <p:nvSpPr>
          <p:cNvPr id="15" name="Text 13"/>
          <p:cNvSpPr/>
          <p:nvPr/>
        </p:nvSpPr>
        <p:spPr>
          <a:xfrm>
            <a:off x="896112" y="378561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Why the time index matters</a:t>
            </a:r>
            <a:endParaRPr lang="en-US" sz="1400" dirty="0"/>
          </a:p>
        </p:txBody>
      </p:sp>
      <p:sp>
        <p:nvSpPr>
          <p:cNvPr id="16" name="Text 14"/>
          <p:cNvSpPr/>
          <p:nvPr/>
        </p:nvSpPr>
        <p:spPr>
          <a:xfrm>
            <a:off x="896112" y="413308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Percepts happen at different times</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Actions change the world</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The agent must distinguish old facts from current facts</a:t>
            </a:r>
            <a:endParaRPr lang="en-US" sz="1170" dirty="0"/>
          </a:p>
        </p:txBody>
      </p:sp>
      <p:sp>
        <p:nvSpPr>
          <p:cNvPr id="17" name="Shape 15"/>
          <p:cNvSpPr/>
          <p:nvPr/>
        </p:nvSpPr>
        <p:spPr>
          <a:xfrm>
            <a:off x="6583680" y="1920240"/>
            <a:ext cx="1508760" cy="594360"/>
          </a:xfrm>
          <a:prstGeom prst="roundRect">
            <a:avLst>
              <a:gd name="adj" fmla="val 12308"/>
            </a:avLst>
          </a:prstGeom>
          <a:solidFill>
            <a:srgbClr val="2B6CB0"/>
          </a:solidFill>
          <a:ln w="12700">
            <a:solidFill>
              <a:srgbClr val="2B6CB0">
                <a:alpha val="0"/>
              </a:srgbClr>
            </a:solidFill>
            <a:prstDash val="solid"/>
          </a:ln>
        </p:spPr>
      </p:sp>
      <p:sp>
        <p:nvSpPr>
          <p:cNvPr id="18" name="Text 16"/>
          <p:cNvSpPr/>
          <p:nvPr/>
        </p:nvSpPr>
        <p:spPr>
          <a:xfrm>
            <a:off x="6656832" y="2029968"/>
            <a:ext cx="1362456" cy="29260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Percept</a:t>
            </a:r>
            <a:endParaRPr lang="en-US" sz="1100" dirty="0"/>
          </a:p>
        </p:txBody>
      </p:sp>
      <p:sp>
        <p:nvSpPr>
          <p:cNvPr id="19" name="Shape 17"/>
          <p:cNvSpPr/>
          <p:nvPr/>
        </p:nvSpPr>
        <p:spPr>
          <a:xfrm>
            <a:off x="8366760" y="1920240"/>
            <a:ext cx="1508760" cy="594360"/>
          </a:xfrm>
          <a:prstGeom prst="roundRect">
            <a:avLst>
              <a:gd name="adj" fmla="val 12308"/>
            </a:avLst>
          </a:prstGeom>
          <a:solidFill>
            <a:srgbClr val="168A8A"/>
          </a:solidFill>
          <a:ln w="12700">
            <a:solidFill>
              <a:srgbClr val="168A8A">
                <a:alpha val="0"/>
              </a:srgbClr>
            </a:solidFill>
            <a:prstDash val="solid"/>
          </a:ln>
        </p:spPr>
      </p:sp>
      <p:sp>
        <p:nvSpPr>
          <p:cNvPr id="20" name="Text 18"/>
          <p:cNvSpPr/>
          <p:nvPr/>
        </p:nvSpPr>
        <p:spPr>
          <a:xfrm>
            <a:off x="8439912" y="2029968"/>
            <a:ext cx="1362456" cy="29260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TELL</a:t>
            </a:r>
            <a:endParaRPr lang="en-US" sz="1100" dirty="0"/>
          </a:p>
        </p:txBody>
      </p:sp>
      <p:sp>
        <p:nvSpPr>
          <p:cNvPr id="21" name="Shape 19"/>
          <p:cNvSpPr/>
          <p:nvPr/>
        </p:nvSpPr>
        <p:spPr>
          <a:xfrm>
            <a:off x="10104120" y="1691640"/>
            <a:ext cx="1508760" cy="777240"/>
          </a:xfrm>
          <a:prstGeom prst="roundRect">
            <a:avLst>
              <a:gd name="adj" fmla="val 9412"/>
            </a:avLst>
          </a:prstGeom>
          <a:solidFill>
            <a:srgbClr val="005088"/>
          </a:solidFill>
          <a:ln w="12700">
            <a:solidFill>
              <a:srgbClr val="005088">
                <a:alpha val="0"/>
              </a:srgbClr>
            </a:solidFill>
            <a:prstDash val="solid"/>
          </a:ln>
        </p:spPr>
      </p:sp>
      <p:sp>
        <p:nvSpPr>
          <p:cNvPr id="22" name="Text 20"/>
          <p:cNvSpPr/>
          <p:nvPr/>
        </p:nvSpPr>
        <p:spPr>
          <a:xfrm>
            <a:off x="10177272" y="1801368"/>
            <a:ext cx="1362456" cy="50292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Knowledge</a:t>
            </a:r>
            <a:endParaRPr lang="en-US" sz="1100" dirty="0"/>
          </a:p>
          <a:p>
            <a:pPr algn="ctr" indent="0" marL="0">
              <a:buNone/>
            </a:pPr>
            <a:r>
              <a:rPr lang="en-US" sz="1100" b="1" dirty="0">
                <a:solidFill>
                  <a:srgbClr val="FFFFFF"/>
                </a:solidFill>
                <a:latin typeface="Aptos" pitchFamily="34" charset="0"/>
                <a:ea typeface="Aptos" pitchFamily="34" charset="-122"/>
                <a:cs typeface="Aptos" pitchFamily="34" charset="-120"/>
              </a:rPr>
              <a:t>Base</a:t>
            </a:r>
            <a:endParaRPr lang="en-US" sz="1100" dirty="0"/>
          </a:p>
        </p:txBody>
      </p:sp>
      <p:sp>
        <p:nvSpPr>
          <p:cNvPr id="23" name="Shape 21"/>
          <p:cNvSpPr/>
          <p:nvPr/>
        </p:nvSpPr>
        <p:spPr>
          <a:xfrm>
            <a:off x="8366760" y="3520440"/>
            <a:ext cx="1508760" cy="594360"/>
          </a:xfrm>
          <a:prstGeom prst="roundRect">
            <a:avLst>
              <a:gd name="adj" fmla="val 12308"/>
            </a:avLst>
          </a:prstGeom>
          <a:solidFill>
            <a:srgbClr val="F2B84B"/>
          </a:solidFill>
          <a:ln w="12700">
            <a:solidFill>
              <a:srgbClr val="F2B84B">
                <a:alpha val="0"/>
              </a:srgbClr>
            </a:solidFill>
            <a:prstDash val="solid"/>
          </a:ln>
        </p:spPr>
      </p:sp>
      <p:sp>
        <p:nvSpPr>
          <p:cNvPr id="24" name="Text 22"/>
          <p:cNvSpPr/>
          <p:nvPr/>
        </p:nvSpPr>
        <p:spPr>
          <a:xfrm>
            <a:off x="8439912" y="3630168"/>
            <a:ext cx="1362456" cy="29260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ASK</a:t>
            </a:r>
            <a:endParaRPr lang="en-US" sz="1100" dirty="0"/>
          </a:p>
        </p:txBody>
      </p:sp>
      <p:sp>
        <p:nvSpPr>
          <p:cNvPr id="25" name="Shape 23"/>
          <p:cNvSpPr/>
          <p:nvPr/>
        </p:nvSpPr>
        <p:spPr>
          <a:xfrm>
            <a:off x="6583680" y="3520440"/>
            <a:ext cx="1508760" cy="594360"/>
          </a:xfrm>
          <a:prstGeom prst="roundRect">
            <a:avLst>
              <a:gd name="adj" fmla="val 12308"/>
            </a:avLst>
          </a:prstGeom>
          <a:solidFill>
            <a:srgbClr val="E76F51"/>
          </a:solidFill>
          <a:ln w="12700">
            <a:solidFill>
              <a:srgbClr val="E76F51">
                <a:alpha val="0"/>
              </a:srgbClr>
            </a:solidFill>
            <a:prstDash val="solid"/>
          </a:ln>
        </p:spPr>
      </p:sp>
      <p:sp>
        <p:nvSpPr>
          <p:cNvPr id="26" name="Text 24"/>
          <p:cNvSpPr/>
          <p:nvPr/>
        </p:nvSpPr>
        <p:spPr>
          <a:xfrm>
            <a:off x="6656832" y="3630168"/>
            <a:ext cx="1362456" cy="29260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Action</a:t>
            </a:r>
            <a:endParaRPr lang="en-US" sz="1100" dirty="0"/>
          </a:p>
        </p:txBody>
      </p:sp>
      <p:sp>
        <p:nvSpPr>
          <p:cNvPr id="27" name="Shape 25"/>
          <p:cNvSpPr/>
          <p:nvPr/>
        </p:nvSpPr>
        <p:spPr>
          <a:xfrm>
            <a:off x="10104120" y="3520440"/>
            <a:ext cx="1508760" cy="594360"/>
          </a:xfrm>
          <a:prstGeom prst="roundRect">
            <a:avLst>
              <a:gd name="adj" fmla="val 12308"/>
            </a:avLst>
          </a:prstGeom>
          <a:solidFill>
            <a:srgbClr val="6B5CA5"/>
          </a:solidFill>
          <a:ln w="12700">
            <a:solidFill>
              <a:srgbClr val="6B5CA5">
                <a:alpha val="0"/>
              </a:srgbClr>
            </a:solidFill>
            <a:prstDash val="solid"/>
          </a:ln>
        </p:spPr>
      </p:sp>
      <p:sp>
        <p:nvSpPr>
          <p:cNvPr id="28" name="Text 26"/>
          <p:cNvSpPr/>
          <p:nvPr/>
        </p:nvSpPr>
        <p:spPr>
          <a:xfrm>
            <a:off x="10177272" y="3630168"/>
            <a:ext cx="1362456" cy="29260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TELL action</a:t>
            </a:r>
            <a:endParaRPr lang="en-US" sz="1100" dirty="0"/>
          </a:p>
        </p:txBody>
      </p:sp>
      <p:sp>
        <p:nvSpPr>
          <p:cNvPr id="29" name="Shape 27"/>
          <p:cNvSpPr/>
          <p:nvPr/>
        </p:nvSpPr>
        <p:spPr>
          <a:xfrm>
            <a:off x="8092440" y="2212848"/>
            <a:ext cx="256032" cy="0"/>
          </a:xfrm>
          <a:prstGeom prst="line">
            <a:avLst/>
          </a:prstGeom>
          <a:noFill/>
          <a:ln w="16510">
            <a:solidFill>
              <a:srgbClr val="1E293B"/>
            </a:solidFill>
            <a:prstDash val="solid"/>
            <a:headEnd type="none"/>
            <a:tailEnd type="triangle"/>
          </a:ln>
        </p:spPr>
      </p:sp>
      <p:sp>
        <p:nvSpPr>
          <p:cNvPr id="30" name="Shape 28"/>
          <p:cNvSpPr/>
          <p:nvPr/>
        </p:nvSpPr>
        <p:spPr>
          <a:xfrm>
            <a:off x="9875520" y="2212848"/>
            <a:ext cx="210312" cy="0"/>
          </a:xfrm>
          <a:prstGeom prst="line">
            <a:avLst/>
          </a:prstGeom>
          <a:noFill/>
          <a:ln w="16510">
            <a:solidFill>
              <a:srgbClr val="1E293B"/>
            </a:solidFill>
            <a:prstDash val="solid"/>
            <a:headEnd type="none"/>
            <a:tailEnd type="triangle"/>
          </a:ln>
        </p:spPr>
      </p:sp>
      <p:sp>
        <p:nvSpPr>
          <p:cNvPr id="31" name="Shape 29"/>
          <p:cNvSpPr/>
          <p:nvPr/>
        </p:nvSpPr>
        <p:spPr>
          <a:xfrm>
            <a:off x="10863072" y="2487168"/>
            <a:ext cx="-1755648" cy="987552"/>
          </a:xfrm>
          <a:prstGeom prst="line">
            <a:avLst/>
          </a:prstGeom>
          <a:noFill/>
          <a:ln w="16510">
            <a:solidFill>
              <a:srgbClr val="1E293B"/>
            </a:solidFill>
            <a:prstDash val="solid"/>
            <a:headEnd type="none"/>
            <a:tailEnd type="triangle"/>
          </a:ln>
        </p:spPr>
      </p:sp>
      <p:sp>
        <p:nvSpPr>
          <p:cNvPr id="32" name="Shape 30"/>
          <p:cNvSpPr/>
          <p:nvPr/>
        </p:nvSpPr>
        <p:spPr>
          <a:xfrm>
            <a:off x="8321040" y="3822192"/>
            <a:ext cx="-219456" cy="0"/>
          </a:xfrm>
          <a:prstGeom prst="line">
            <a:avLst/>
          </a:prstGeom>
          <a:noFill/>
          <a:ln w="16510">
            <a:solidFill>
              <a:srgbClr val="1E293B"/>
            </a:solidFill>
            <a:prstDash val="solid"/>
            <a:headEnd type="none"/>
            <a:tailEnd type="triangle"/>
          </a:ln>
        </p:spPr>
      </p:sp>
      <p:sp>
        <p:nvSpPr>
          <p:cNvPr id="33" name="Shape 31"/>
          <p:cNvSpPr/>
          <p:nvPr/>
        </p:nvSpPr>
        <p:spPr>
          <a:xfrm>
            <a:off x="8119872" y="3749040"/>
            <a:ext cx="1956816" cy="0"/>
          </a:xfrm>
          <a:prstGeom prst="line">
            <a:avLst/>
          </a:prstGeom>
          <a:noFill/>
          <a:ln w="16510">
            <a:solidFill>
              <a:srgbClr val="1E293B"/>
            </a:solidFill>
            <a:prstDash val="solid"/>
            <a:headEnd type="none"/>
            <a:tailEnd type="triangle"/>
          </a:ln>
        </p:spPr>
      </p:sp>
      <p:sp>
        <p:nvSpPr>
          <p:cNvPr id="34" name="Text 32"/>
          <p:cNvSpPr/>
          <p:nvPr/>
        </p:nvSpPr>
        <p:spPr>
          <a:xfrm>
            <a:off x="6492240" y="5212080"/>
            <a:ext cx="4526280" cy="320040"/>
          </a:xfrm>
          <a:prstGeom prst="rect">
            <a:avLst/>
          </a:prstGeom>
          <a:noFill/>
          <a:ln/>
        </p:spPr>
        <p:txBody>
          <a:bodyPr wrap="square" lIns="0" tIns="0" rIns="0" bIns="0" rtlCol="0" anchor="ctr"/>
          <a:lstStyle/>
          <a:p>
            <a:pPr algn="ctr" indent="0" marL="0">
              <a:buNone/>
            </a:pPr>
            <a:r>
              <a:rPr lang="en-US" sz="1050" i="1" dirty="0">
                <a:solidFill>
                  <a:srgbClr val="64748B"/>
                </a:solidFill>
                <a:latin typeface="Aptos" pitchFamily="34" charset="0"/>
                <a:ea typeface="Aptos" pitchFamily="34" charset="-122"/>
                <a:cs typeface="Aptos" pitchFamily="34" charset="-120"/>
              </a:rPr>
              <a:t>TELL adds facts; ASK uses inference; actions are recorded for time.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09</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 Generic KB-Agent</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AIMA pseudocode for a knowledge-based agent.</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_kb_agent.png">    </p:cNvPr>
          <p:cNvPicPr>
            <a:picLocks noChangeAspect="1"/>
          </p:cNvPicPr>
          <p:nvPr/>
        </p:nvPicPr>
        <p:blipFill>
          <a:blip r:embed="rId1"/>
          <a:stretch>
            <a:fillRect/>
          </a:stretch>
        </p:blipFill>
        <p:spPr>
          <a:xfrm>
            <a:off x="731520" y="2378931"/>
            <a:ext cx="6080760" cy="2511618"/>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 KB-Agent loop</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Persistent state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KB and time counter survive across calls.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TELL percept</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agent converts sensor input into a sentence.</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ASK action</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KB is queried for what should be done now.</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TELL action</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agent records the action it actually took.</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10</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TELL and ASK</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two operations that make a knowledge base useful.</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TELL(KB, sentence)</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Adds a sentence to the KB. Example: "At time 2, I perceived a breeze."</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ASK(KB, query)</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Asks what follows from the KB. Example: "Is square [1,2] safe?"</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Inference inside both</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Adding or asking may trigger derivations from existing sentences.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11</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Sentences, Axioms, and Knowledge Bases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Key vocabulary before the formulas get heavy.</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Sentence</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formal assertion in a knowledge representation language.</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Axiom</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sentence accepted as given rather than derived from other sentences.</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Knowledge base</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collection of sentences the agent can use for inference.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Representation language</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Defines what sentences can be written and what they mean.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Inference: Deriving New Sentences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Inference is the engine that makes knowledge useful.</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Old sentences</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No breeze in [1,1]. A breeze is caused by adjacent pits.</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New sentence</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There is no pit in [1,2] and no pit in [2,1].</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Key requirement</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The inference process should not make things up; answers must follow from the KB.</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13</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Knowledge Level vs. Implementation Level</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Chapter 7 emphasizes what the agent knows, not just how code stores it.</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Knowledge level</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Describe behavior by what the agent knows and wants.</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Implementation level</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Actual data structures, algorithms, and code that perform reasoning.</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Why it matters</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We can discuss rational behavior without committing to one exact implementation.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Example: Advising Bot for COMP 469</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campus-flavored analogy students can understand.</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Percepts</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Student completed COMP 262; student asks about COMP 469.</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KB rules</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If prerequisite is complete and seat is available, recommend enrollment.</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ASK query</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Should the student register for COMP 469 this semester?</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Action</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Recommend register, waitlist, or take prerequisite first.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15</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Knowledge-Based Agent Gotchas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Common early misunderstandings to prevent.</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E76F51"/>
          </a:solidFill>
          <a:ln w="12700">
            <a:solidFill>
              <a:srgbClr val="E76F51">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Gotcha 1: KB is not omniscience</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The agent knows only what it has been told and what follows from it.</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Gotcha 2: ASK is not lookup</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The query answer may be inferred even if never explicitly stored.</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C2410C"/>
          </a:solidFill>
          <a:ln w="12700">
            <a:solidFill>
              <a:srgbClr val="C2410C">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Gotcha 3: Wrong facts poison reasoning</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Logic preserves truth only if the premises are accurate.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Gotcha 4: Representation matters</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clumsy language makes simple facts hard to express.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766E"/>
        </a:solidFill>
      </p:bgPr>
    </p:bg>
    <p:spTree>
      <p:nvGrpSpPr>
        <p:cNvPr id="1" name=""/>
        <p:cNvGrpSpPr/>
        <p:nvPr/>
      </p:nvGrpSpPr>
      <p:grpSpPr>
        <a:xfrm>
          <a:off x="0" y="0"/>
          <a:ext cx="0" cy="0"/>
          <a:chOff x="0" y="0"/>
          <a:chExt cx="0" cy="0"/>
        </a:xfrm>
      </p:grpSpPr>
      <p:sp>
        <p:nvSpPr>
          <p:cNvPr id="2" name="Text 0"/>
          <p:cNvSpPr/>
          <p:nvPr/>
        </p:nvSpPr>
        <p:spPr>
          <a:xfrm>
            <a:off x="594360" y="502920"/>
            <a:ext cx="1828800" cy="320040"/>
          </a:xfrm>
          <a:prstGeom prst="rect">
            <a:avLst/>
          </a:prstGeom>
          <a:noFill/>
          <a:ln/>
        </p:spPr>
        <p:txBody>
          <a:bodyPr wrap="square" lIns="0" tIns="0" rIns="0" bIns="0" rtlCol="0" anchor="ctr"/>
          <a:lstStyle/>
          <a:p>
            <a:pPr indent="0" marL="0">
              <a:buNone/>
            </a:pPr>
            <a:r>
              <a:rPr lang="en-US" sz="1300" b="1" dirty="0">
                <a:solidFill>
                  <a:srgbClr val="BDEEEE"/>
                </a:solidFill>
                <a:latin typeface="Aptos" pitchFamily="34" charset="0"/>
                <a:ea typeface="Aptos" pitchFamily="34" charset="-122"/>
                <a:cs typeface="Aptos" pitchFamily="34" charset="-120"/>
              </a:rPr>
              <a:t>SECTION 2</a:t>
            </a:r>
            <a:endParaRPr lang="en-US" sz="1300" dirty="0"/>
          </a:p>
        </p:txBody>
      </p:sp>
      <p:sp>
        <p:nvSpPr>
          <p:cNvPr id="3" name="Text 1"/>
          <p:cNvSpPr/>
          <p:nvPr/>
        </p:nvSpPr>
        <p:spPr>
          <a:xfrm>
            <a:off x="594360" y="1097280"/>
            <a:ext cx="10698480" cy="109728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The Wumpus World</a:t>
            </a:r>
            <a:endParaRPr lang="en-US" sz="4200" dirty="0"/>
          </a:p>
        </p:txBody>
      </p:sp>
      <p:sp>
        <p:nvSpPr>
          <p:cNvPr id="4" name="Text 2"/>
          <p:cNvSpPr/>
          <p:nvPr/>
        </p:nvSpPr>
        <p:spPr>
          <a:xfrm>
            <a:off x="640080" y="2304288"/>
            <a:ext cx="10607040" cy="548640"/>
          </a:xfrm>
          <a:prstGeom prst="rect">
            <a:avLst/>
          </a:prstGeom>
          <a:noFill/>
          <a:ln/>
        </p:spPr>
        <p:txBody>
          <a:bodyPr wrap="square" lIns="0" tIns="0" rIns="0" bIns="0" rtlCol="0" anchor="ctr">
            <a:normAutofit/>
          </a:bodyPr>
          <a:lstStyle/>
          <a:p>
            <a:pPr indent="0" marL="0">
              <a:buNone/>
            </a:pPr>
            <a:r>
              <a:rPr lang="en-US" sz="1800" dirty="0">
                <a:solidFill>
                  <a:srgbClr val="D9F6F6"/>
                </a:solidFill>
                <a:latin typeface="Aptos" pitchFamily="34" charset="0"/>
                <a:ea typeface="Aptos" pitchFamily="34" charset="-122"/>
                <a:cs typeface="Aptos" pitchFamily="34" charset="-120"/>
              </a:rPr>
              <a:t>A small environment that forces logical reasoning from partial clues.</a:t>
            </a:r>
            <a:endParaRPr lang="en-US" sz="1800" dirty="0"/>
          </a:p>
        </p:txBody>
      </p:sp>
      <p:sp>
        <p:nvSpPr>
          <p:cNvPr id="5" name="Shape 3"/>
          <p:cNvSpPr/>
          <p:nvPr/>
        </p:nvSpPr>
        <p:spPr>
          <a:xfrm>
            <a:off x="685800" y="3657600"/>
            <a:ext cx="3413760" cy="1417320"/>
          </a:xfrm>
          <a:prstGeom prst="roundRect">
            <a:avLst>
              <a:gd name="adj" fmla="val 3871"/>
            </a:avLst>
          </a:prstGeom>
          <a:solidFill>
            <a:srgbClr val="F8FBFB"/>
          </a:solidFill>
          <a:ln w="12700">
            <a:solidFill>
              <a:srgbClr val="B6D1D8"/>
            </a:solidFill>
            <a:prstDash val="solid"/>
          </a:ln>
        </p:spPr>
      </p:sp>
      <p:sp>
        <p:nvSpPr>
          <p:cNvPr id="6" name="Shape 4"/>
          <p:cNvSpPr/>
          <p:nvPr/>
        </p:nvSpPr>
        <p:spPr>
          <a:xfrm>
            <a:off x="685800" y="3657600"/>
            <a:ext cx="73152" cy="1417320"/>
          </a:xfrm>
          <a:prstGeom prst="rect">
            <a:avLst/>
          </a:prstGeom>
          <a:solidFill>
            <a:srgbClr val="F2B84B"/>
          </a:solidFill>
          <a:ln w="12700">
            <a:solidFill>
              <a:srgbClr val="F2B84B">
                <a:alpha val="0"/>
              </a:srgbClr>
            </a:solidFill>
            <a:prstDash val="solid"/>
          </a:ln>
        </p:spPr>
      </p:sp>
      <p:sp>
        <p:nvSpPr>
          <p:cNvPr id="7" name="Text 5"/>
          <p:cNvSpPr/>
          <p:nvPr/>
        </p:nvSpPr>
        <p:spPr>
          <a:xfrm>
            <a:off x="85039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Hidden dangers</a:t>
            </a:r>
            <a:endParaRPr lang="en-US" sz="1200" dirty="0"/>
          </a:p>
        </p:txBody>
      </p:sp>
      <p:sp>
        <p:nvSpPr>
          <p:cNvPr id="8" name="Text 6"/>
          <p:cNvSpPr/>
          <p:nvPr/>
        </p:nvSpPr>
        <p:spPr>
          <a:xfrm>
            <a:off x="85039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Pits and Wumpus locations are not directly visible.</a:t>
            </a:r>
            <a:endParaRPr lang="en-US" sz="1000" dirty="0"/>
          </a:p>
        </p:txBody>
      </p:sp>
      <p:sp>
        <p:nvSpPr>
          <p:cNvPr id="9" name="Shape 7"/>
          <p:cNvSpPr/>
          <p:nvPr/>
        </p:nvSpPr>
        <p:spPr>
          <a:xfrm>
            <a:off x="4373880" y="3657600"/>
            <a:ext cx="3413760" cy="1417320"/>
          </a:xfrm>
          <a:prstGeom prst="roundRect">
            <a:avLst>
              <a:gd name="adj" fmla="val 3871"/>
            </a:avLst>
          </a:prstGeom>
          <a:solidFill>
            <a:srgbClr val="F8FBFB"/>
          </a:solidFill>
          <a:ln w="12700">
            <a:solidFill>
              <a:srgbClr val="B6D1D8"/>
            </a:solidFill>
            <a:prstDash val="solid"/>
          </a:ln>
        </p:spPr>
      </p:sp>
      <p:sp>
        <p:nvSpPr>
          <p:cNvPr id="10" name="Shape 8"/>
          <p:cNvSpPr/>
          <p:nvPr/>
        </p:nvSpPr>
        <p:spPr>
          <a:xfrm>
            <a:off x="4373880" y="3657600"/>
            <a:ext cx="73152" cy="1417320"/>
          </a:xfrm>
          <a:prstGeom prst="rect">
            <a:avLst/>
          </a:prstGeom>
          <a:solidFill>
            <a:srgbClr val="168A8A"/>
          </a:solidFill>
          <a:ln w="12700">
            <a:solidFill>
              <a:srgbClr val="168A8A">
                <a:alpha val="0"/>
              </a:srgbClr>
            </a:solidFill>
            <a:prstDash val="solid"/>
          </a:ln>
        </p:spPr>
      </p:sp>
      <p:sp>
        <p:nvSpPr>
          <p:cNvPr id="11" name="Text 9"/>
          <p:cNvSpPr/>
          <p:nvPr/>
        </p:nvSpPr>
        <p:spPr>
          <a:xfrm>
            <a:off x="453847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Local percepts</a:t>
            </a:r>
            <a:endParaRPr lang="en-US" sz="1200" dirty="0"/>
          </a:p>
        </p:txBody>
      </p:sp>
      <p:sp>
        <p:nvSpPr>
          <p:cNvPr id="12" name="Text 10"/>
          <p:cNvSpPr/>
          <p:nvPr/>
        </p:nvSpPr>
        <p:spPr>
          <a:xfrm>
            <a:off x="453847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Breeze, stench, glitter, bump, scream give clues.</a:t>
            </a:r>
            <a:endParaRPr lang="en-US" sz="1000" dirty="0"/>
          </a:p>
        </p:txBody>
      </p:sp>
      <p:sp>
        <p:nvSpPr>
          <p:cNvPr id="13" name="Shape 11"/>
          <p:cNvSpPr/>
          <p:nvPr/>
        </p:nvSpPr>
        <p:spPr>
          <a:xfrm>
            <a:off x="8061960" y="3657600"/>
            <a:ext cx="3413760" cy="1417320"/>
          </a:xfrm>
          <a:prstGeom prst="roundRect">
            <a:avLst>
              <a:gd name="adj" fmla="val 3871"/>
            </a:avLst>
          </a:prstGeom>
          <a:solidFill>
            <a:srgbClr val="F8FBFB"/>
          </a:solidFill>
          <a:ln w="12700">
            <a:solidFill>
              <a:srgbClr val="B6D1D8"/>
            </a:solidFill>
            <a:prstDash val="solid"/>
          </a:ln>
        </p:spPr>
      </p:sp>
      <p:sp>
        <p:nvSpPr>
          <p:cNvPr id="14" name="Shape 12"/>
          <p:cNvSpPr/>
          <p:nvPr/>
        </p:nvSpPr>
        <p:spPr>
          <a:xfrm>
            <a:off x="8061960" y="3657600"/>
            <a:ext cx="73152" cy="1417320"/>
          </a:xfrm>
          <a:prstGeom prst="rect">
            <a:avLst/>
          </a:prstGeom>
          <a:solidFill>
            <a:srgbClr val="F2B84B"/>
          </a:solidFill>
          <a:ln w="12700">
            <a:solidFill>
              <a:srgbClr val="F2B84B">
                <a:alpha val="0"/>
              </a:srgbClr>
            </a:solidFill>
            <a:prstDash val="solid"/>
          </a:ln>
        </p:spPr>
      </p:sp>
      <p:sp>
        <p:nvSpPr>
          <p:cNvPr id="15" name="Text 13"/>
          <p:cNvSpPr/>
          <p:nvPr/>
        </p:nvSpPr>
        <p:spPr>
          <a:xfrm>
            <a:off x="822655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Logical safety</a:t>
            </a:r>
            <a:endParaRPr lang="en-US" sz="1200" dirty="0"/>
          </a:p>
        </p:txBody>
      </p:sp>
      <p:sp>
        <p:nvSpPr>
          <p:cNvPr id="16" name="Text 14"/>
          <p:cNvSpPr/>
          <p:nvPr/>
        </p:nvSpPr>
        <p:spPr>
          <a:xfrm>
            <a:off x="822655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The agent should infer which squares are safe before moving.</a:t>
            </a:r>
            <a:endParaRPr lang="en-US" sz="1000" dirty="0"/>
          </a:p>
        </p:txBody>
      </p:sp>
      <p:sp>
        <p:nvSpPr>
          <p:cNvPr id="17" name="Text 15"/>
          <p:cNvSpPr/>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BDEEEE"/>
                </a:solidFill>
                <a:latin typeface="Aptos" pitchFamily="34" charset="0"/>
                <a:ea typeface="Aptos" pitchFamily="34" charset="-122"/>
                <a:cs typeface="Aptos" pitchFamily="34" charset="-120"/>
              </a:rPr>
              <a:t>COMP 469 | CSU Channel Islands</a:t>
            </a:r>
            <a:endParaRPr lang="en-US" sz="900" dirty="0"/>
          </a:p>
        </p:txBody>
      </p:sp>
      <p:sp>
        <p:nvSpPr>
          <p:cNvPr id="18" name="Text 16"/>
          <p:cNvSpPr/>
          <p:nvPr/>
        </p:nvSpPr>
        <p:spPr>
          <a:xfrm>
            <a:off x="11201400" y="6327648"/>
            <a:ext cx="411480" cy="256032"/>
          </a:xfrm>
          <a:prstGeom prst="rect">
            <a:avLst/>
          </a:prstGeom>
          <a:noFill/>
          <a:ln/>
        </p:spPr>
        <p:txBody>
          <a:bodyPr wrap="square" lIns="0" tIns="0" rIns="0" bIns="0"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17</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Wumpus World Rules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environment assumptions the KB will encode.</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Grid world</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Usually 4x4. Agent starts at [1,1] facing east.</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E76F51"/>
          </a:solidFill>
          <a:ln w="12700">
            <a:solidFill>
              <a:srgbClr val="E76F51">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Hazards</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Pits kill the agent. The Wumpus kills the agent if encountered alive.</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F2B84B"/>
          </a:solidFill>
          <a:ln w="12700">
            <a:solidFill>
              <a:srgbClr val="F2B84B">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Gold</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Glitter indicates gold in the current square.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Clues</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Breeze near pits; stench near Wumpus; bump at wall; scream when Wumpus dies.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18</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7.2: A Typical Wumpus World</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compact environment for teaching knowledge-based action.</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2_wumpus_world.png">    </p:cNvPr>
          <p:cNvPicPr>
            <a:picLocks noChangeAspect="1"/>
          </p:cNvPicPr>
          <p:nvPr/>
        </p:nvPicPr>
        <p:blipFill>
          <a:blip r:embed="rId1"/>
          <a:stretch>
            <a:fillRect/>
          </a:stretch>
        </p:blipFill>
        <p:spPr>
          <a:xfrm>
            <a:off x="830901" y="1417320"/>
            <a:ext cx="5881998" cy="4434840"/>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7.2: Wumpus World</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The agent sees locally</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It does not automatically see all pits or the Wumpus.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Clues are relational</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 breeze is about adjacent squares, not the current square.</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Safety comes from inference</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best action depends on what must be safe.</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The map is for us</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figure shows ground truth for teaching; the agent only gets percepts.</a:t>
            </a:r>
            <a:endParaRPr lang="en-US" sz="10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19</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Percepts and Actions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What the agent receives and what it can do.</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Percept list</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[Stench, Breeze, Glitter, Bump, Scream]</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Actions</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Move forward, turn left, turn right, grab, shoot, climb.</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Performance</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Get the gold and exit while avoiding death and wasted actions.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Wumpus World</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20</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First Safety Inference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No breeze at [1,1] rules out adjacent pits.</a:t>
            </a:r>
            <a:endParaRPr lang="en-US" sz="850" dirty="0"/>
          </a:p>
        </p:txBody>
      </p:sp>
      <p:sp>
        <p:nvSpPr>
          <p:cNvPr id="9" name="Shape 7"/>
          <p:cNvSpPr/>
          <p:nvPr/>
        </p:nvSpPr>
        <p:spPr>
          <a:xfrm>
            <a:off x="731520" y="1417320"/>
            <a:ext cx="5074920" cy="2057400"/>
          </a:xfrm>
          <a:prstGeom prst="roundRect">
            <a:avLst>
              <a:gd name="adj" fmla="val 2667"/>
            </a:avLst>
          </a:prstGeom>
          <a:solidFill>
            <a:srgbClr val="FFFDF7"/>
          </a:solidFill>
          <a:ln w="12700">
            <a:solidFill>
              <a:srgbClr val="B6D1D8"/>
            </a:solidFill>
            <a:prstDash val="solid"/>
          </a:ln>
        </p:spPr>
      </p:sp>
      <p:sp>
        <p:nvSpPr>
          <p:cNvPr id="10" name="Shape 8"/>
          <p:cNvSpPr/>
          <p:nvPr/>
        </p:nvSpPr>
        <p:spPr>
          <a:xfrm>
            <a:off x="731520" y="1417320"/>
            <a:ext cx="73152" cy="20574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Given rules</a:t>
            </a:r>
            <a:endParaRPr lang="en-US" sz="1400" dirty="0"/>
          </a:p>
        </p:txBody>
      </p:sp>
      <p:sp>
        <p:nvSpPr>
          <p:cNvPr id="12" name="Text 10"/>
          <p:cNvSpPr/>
          <p:nvPr/>
        </p:nvSpPr>
        <p:spPr>
          <a:xfrm>
            <a:off x="896112" y="189280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Breeze in a square iff at least one adjacent square has a pit</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At [1,1], the adjacent squares are [1,2] and [2,1]</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The agent perceives no breeze at [1,1]</a:t>
            </a:r>
            <a:endParaRPr lang="en-US" sz="1170" dirty="0"/>
          </a:p>
        </p:txBody>
      </p:sp>
      <p:sp>
        <p:nvSpPr>
          <p:cNvPr id="13" name="Shape 11"/>
          <p:cNvSpPr/>
          <p:nvPr/>
        </p:nvSpPr>
        <p:spPr>
          <a:xfrm>
            <a:off x="731520" y="3657600"/>
            <a:ext cx="5074920" cy="2057400"/>
          </a:xfrm>
          <a:prstGeom prst="roundRect">
            <a:avLst>
              <a:gd name="adj" fmla="val 2667"/>
            </a:avLst>
          </a:prstGeom>
          <a:solidFill>
            <a:srgbClr val="FFFDF7"/>
          </a:solidFill>
          <a:ln w="12700">
            <a:solidFill>
              <a:srgbClr val="B6D1D8"/>
            </a:solidFill>
            <a:prstDash val="solid"/>
          </a:ln>
        </p:spPr>
      </p:sp>
      <p:sp>
        <p:nvSpPr>
          <p:cNvPr id="14" name="Shape 12"/>
          <p:cNvSpPr/>
          <p:nvPr/>
        </p:nvSpPr>
        <p:spPr>
          <a:xfrm>
            <a:off x="731520" y="3657600"/>
            <a:ext cx="73152" cy="2057400"/>
          </a:xfrm>
          <a:prstGeom prst="rect">
            <a:avLst/>
          </a:prstGeom>
          <a:solidFill>
            <a:srgbClr val="F2B84B"/>
          </a:solidFill>
          <a:ln w="12700">
            <a:solidFill>
              <a:srgbClr val="F2B84B">
                <a:alpha val="0"/>
              </a:srgbClr>
            </a:solidFill>
            <a:prstDash val="solid"/>
          </a:ln>
        </p:spPr>
      </p:sp>
      <p:sp>
        <p:nvSpPr>
          <p:cNvPr id="15" name="Text 13"/>
          <p:cNvSpPr/>
          <p:nvPr/>
        </p:nvSpPr>
        <p:spPr>
          <a:xfrm>
            <a:off x="896112" y="378561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Conclusion</a:t>
            </a:r>
            <a:endParaRPr lang="en-US" sz="1400" dirty="0"/>
          </a:p>
        </p:txBody>
      </p:sp>
      <p:sp>
        <p:nvSpPr>
          <p:cNvPr id="16" name="Text 14"/>
          <p:cNvSpPr/>
          <p:nvPr/>
        </p:nvSpPr>
        <p:spPr>
          <a:xfrm>
            <a:off x="896112" y="413308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No pit in [1,2]</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No pit in [2,1]</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Both adjacent squares are safe from pits</a:t>
            </a:r>
            <a:endParaRPr lang="en-US" sz="1170" dirty="0"/>
          </a:p>
        </p:txBody>
      </p:sp>
      <p:sp>
        <p:nvSpPr>
          <p:cNvPr id="17" name="Shape 15"/>
          <p:cNvSpPr/>
          <p:nvPr/>
        </p:nvSpPr>
        <p:spPr>
          <a:xfrm>
            <a:off x="6858000" y="4309110"/>
            <a:ext cx="948690" cy="948690"/>
          </a:xfrm>
          <a:prstGeom prst="rect">
            <a:avLst/>
          </a:prstGeom>
          <a:solidFill>
            <a:srgbClr val="F8FBFB"/>
          </a:solidFill>
          <a:ln w="9525">
            <a:solidFill>
              <a:srgbClr val="005088"/>
            </a:solidFill>
            <a:prstDash val="solid"/>
          </a:ln>
        </p:spPr>
      </p:sp>
      <p:sp>
        <p:nvSpPr>
          <p:cNvPr id="18" name="Text 16"/>
          <p:cNvSpPr/>
          <p:nvPr/>
        </p:nvSpPr>
        <p:spPr>
          <a:xfrm>
            <a:off x="6885432" y="461269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1E293B"/>
                </a:solidFill>
                <a:latin typeface="Aptos" pitchFamily="34" charset="0"/>
                <a:ea typeface="Aptos" pitchFamily="34" charset="-122"/>
                <a:cs typeface="Aptos" pitchFamily="34" charset="-120"/>
              </a:rPr>
              <a:t>A</a:t>
            </a:r>
            <a:endParaRPr lang="en-US" sz="850" dirty="0"/>
          </a:p>
          <a:p>
            <a:pPr algn="ctr" indent="0" marL="0">
              <a:buNone/>
            </a:pPr>
            <a:r>
              <a:rPr lang="en-US" sz="850" b="1" dirty="0">
                <a:solidFill>
                  <a:srgbClr val="1E293B"/>
                </a:solidFill>
                <a:latin typeface="Aptos" pitchFamily="34" charset="0"/>
                <a:ea typeface="Aptos" pitchFamily="34" charset="-122"/>
                <a:cs typeface="Aptos" pitchFamily="34" charset="-120"/>
              </a:rPr>
              <a:t>Start</a:t>
            </a:r>
            <a:endParaRPr lang="en-US" sz="850" dirty="0"/>
          </a:p>
        </p:txBody>
      </p:sp>
      <p:sp>
        <p:nvSpPr>
          <p:cNvPr id="19" name="Shape 17"/>
          <p:cNvSpPr/>
          <p:nvPr/>
        </p:nvSpPr>
        <p:spPr>
          <a:xfrm>
            <a:off x="7806690" y="4309110"/>
            <a:ext cx="948690" cy="948690"/>
          </a:xfrm>
          <a:prstGeom prst="rect">
            <a:avLst/>
          </a:prstGeom>
          <a:solidFill>
            <a:srgbClr val="F8FBFB"/>
          </a:solidFill>
          <a:ln w="9525">
            <a:solidFill>
              <a:srgbClr val="005088"/>
            </a:solidFill>
            <a:prstDash val="solid"/>
          </a:ln>
        </p:spPr>
      </p:sp>
      <p:sp>
        <p:nvSpPr>
          <p:cNvPr id="20" name="Text 18"/>
          <p:cNvSpPr/>
          <p:nvPr/>
        </p:nvSpPr>
        <p:spPr>
          <a:xfrm>
            <a:off x="7834122" y="461269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1E293B"/>
                </a:solidFill>
                <a:latin typeface="Aptos" pitchFamily="34" charset="0"/>
                <a:ea typeface="Aptos" pitchFamily="34" charset="-122"/>
                <a:cs typeface="Aptos" pitchFamily="34" charset="-120"/>
              </a:rPr>
              <a:t>Breeze</a:t>
            </a:r>
            <a:endParaRPr lang="en-US" sz="850" dirty="0"/>
          </a:p>
        </p:txBody>
      </p:sp>
      <p:sp>
        <p:nvSpPr>
          <p:cNvPr id="21" name="Shape 19"/>
          <p:cNvSpPr/>
          <p:nvPr/>
        </p:nvSpPr>
        <p:spPr>
          <a:xfrm>
            <a:off x="8755380" y="4309110"/>
            <a:ext cx="948690" cy="948690"/>
          </a:xfrm>
          <a:prstGeom prst="rect">
            <a:avLst/>
          </a:prstGeom>
          <a:solidFill>
            <a:srgbClr val="E9E4F6"/>
          </a:solidFill>
          <a:ln w="9525">
            <a:solidFill>
              <a:srgbClr val="005088"/>
            </a:solidFill>
            <a:prstDash val="solid"/>
          </a:ln>
        </p:spPr>
      </p:sp>
      <p:sp>
        <p:nvSpPr>
          <p:cNvPr id="22" name="Text 20"/>
          <p:cNvSpPr/>
          <p:nvPr/>
        </p:nvSpPr>
        <p:spPr>
          <a:xfrm>
            <a:off x="8782812" y="461269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6B5CA5"/>
                </a:solidFill>
                <a:latin typeface="Aptos" pitchFamily="34" charset="0"/>
                <a:ea typeface="Aptos" pitchFamily="34" charset="-122"/>
                <a:cs typeface="Aptos" pitchFamily="34" charset="-120"/>
              </a:rPr>
              <a:t>PIT</a:t>
            </a:r>
            <a:endParaRPr lang="en-US" sz="850" dirty="0"/>
          </a:p>
        </p:txBody>
      </p:sp>
      <p:sp>
        <p:nvSpPr>
          <p:cNvPr id="23" name="Shape 21"/>
          <p:cNvSpPr/>
          <p:nvPr/>
        </p:nvSpPr>
        <p:spPr>
          <a:xfrm>
            <a:off x="9704070" y="4309110"/>
            <a:ext cx="948690" cy="948690"/>
          </a:xfrm>
          <a:prstGeom prst="rect">
            <a:avLst/>
          </a:prstGeom>
          <a:solidFill>
            <a:srgbClr val="F8FBFB"/>
          </a:solidFill>
          <a:ln w="9525">
            <a:solidFill>
              <a:srgbClr val="005088"/>
            </a:solidFill>
            <a:prstDash val="solid"/>
          </a:ln>
        </p:spPr>
      </p:sp>
      <p:sp>
        <p:nvSpPr>
          <p:cNvPr id="24" name="Shape 22"/>
          <p:cNvSpPr/>
          <p:nvPr/>
        </p:nvSpPr>
        <p:spPr>
          <a:xfrm>
            <a:off x="6858000" y="3360420"/>
            <a:ext cx="948690" cy="948690"/>
          </a:xfrm>
          <a:prstGeom prst="rect">
            <a:avLst/>
          </a:prstGeom>
          <a:solidFill>
            <a:srgbClr val="F8FBFB"/>
          </a:solidFill>
          <a:ln w="9525">
            <a:solidFill>
              <a:srgbClr val="005088"/>
            </a:solidFill>
            <a:prstDash val="solid"/>
          </a:ln>
        </p:spPr>
      </p:sp>
      <p:sp>
        <p:nvSpPr>
          <p:cNvPr id="25" name="Text 23"/>
          <p:cNvSpPr/>
          <p:nvPr/>
        </p:nvSpPr>
        <p:spPr>
          <a:xfrm>
            <a:off x="6885432" y="366400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1E293B"/>
                </a:solidFill>
                <a:latin typeface="Aptos" pitchFamily="34" charset="0"/>
                <a:ea typeface="Aptos" pitchFamily="34" charset="-122"/>
                <a:cs typeface="Aptos" pitchFamily="34" charset="-120"/>
              </a:rPr>
              <a:t>Stench</a:t>
            </a:r>
            <a:endParaRPr lang="en-US" sz="850" dirty="0"/>
          </a:p>
        </p:txBody>
      </p:sp>
      <p:sp>
        <p:nvSpPr>
          <p:cNvPr id="26" name="Shape 24"/>
          <p:cNvSpPr/>
          <p:nvPr/>
        </p:nvSpPr>
        <p:spPr>
          <a:xfrm>
            <a:off x="7806690" y="3360420"/>
            <a:ext cx="948690" cy="948690"/>
          </a:xfrm>
          <a:prstGeom prst="rect">
            <a:avLst/>
          </a:prstGeom>
          <a:solidFill>
            <a:srgbClr val="F8FBFB"/>
          </a:solidFill>
          <a:ln w="9525">
            <a:solidFill>
              <a:srgbClr val="005088"/>
            </a:solidFill>
            <a:prstDash val="solid"/>
          </a:ln>
        </p:spPr>
      </p:sp>
      <p:sp>
        <p:nvSpPr>
          <p:cNvPr id="27" name="Shape 25"/>
          <p:cNvSpPr/>
          <p:nvPr/>
        </p:nvSpPr>
        <p:spPr>
          <a:xfrm>
            <a:off x="8755380" y="3360420"/>
            <a:ext cx="948690" cy="948690"/>
          </a:xfrm>
          <a:prstGeom prst="rect">
            <a:avLst/>
          </a:prstGeom>
          <a:solidFill>
            <a:srgbClr val="F8FBFB"/>
          </a:solidFill>
          <a:ln w="9525">
            <a:solidFill>
              <a:srgbClr val="005088"/>
            </a:solidFill>
            <a:prstDash val="solid"/>
          </a:ln>
        </p:spPr>
      </p:sp>
      <p:sp>
        <p:nvSpPr>
          <p:cNvPr id="28" name="Shape 26"/>
          <p:cNvSpPr/>
          <p:nvPr/>
        </p:nvSpPr>
        <p:spPr>
          <a:xfrm>
            <a:off x="9704070" y="3360420"/>
            <a:ext cx="948690" cy="948690"/>
          </a:xfrm>
          <a:prstGeom prst="rect">
            <a:avLst/>
          </a:prstGeom>
          <a:solidFill>
            <a:srgbClr val="F8FBFB"/>
          </a:solidFill>
          <a:ln w="9525">
            <a:solidFill>
              <a:srgbClr val="005088"/>
            </a:solidFill>
            <a:prstDash val="solid"/>
          </a:ln>
        </p:spPr>
      </p:sp>
      <p:sp>
        <p:nvSpPr>
          <p:cNvPr id="29" name="Shape 27"/>
          <p:cNvSpPr/>
          <p:nvPr/>
        </p:nvSpPr>
        <p:spPr>
          <a:xfrm>
            <a:off x="6858000" y="2411730"/>
            <a:ext cx="948690" cy="948690"/>
          </a:xfrm>
          <a:prstGeom prst="rect">
            <a:avLst/>
          </a:prstGeom>
          <a:solidFill>
            <a:srgbClr val="F8E4E0"/>
          </a:solidFill>
          <a:ln w="9525">
            <a:solidFill>
              <a:srgbClr val="005088"/>
            </a:solidFill>
            <a:prstDash val="solid"/>
          </a:ln>
        </p:spPr>
      </p:sp>
      <p:sp>
        <p:nvSpPr>
          <p:cNvPr id="30" name="Text 28"/>
          <p:cNvSpPr/>
          <p:nvPr/>
        </p:nvSpPr>
        <p:spPr>
          <a:xfrm>
            <a:off x="6885432" y="271531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1E293B"/>
                </a:solidFill>
                <a:latin typeface="Aptos" pitchFamily="34" charset="0"/>
                <a:ea typeface="Aptos" pitchFamily="34" charset="-122"/>
                <a:cs typeface="Aptos" pitchFamily="34" charset="-120"/>
              </a:rPr>
              <a:t>W</a:t>
            </a:r>
            <a:endParaRPr lang="en-US" sz="850" dirty="0"/>
          </a:p>
        </p:txBody>
      </p:sp>
      <p:sp>
        <p:nvSpPr>
          <p:cNvPr id="31" name="Shape 29"/>
          <p:cNvSpPr/>
          <p:nvPr/>
        </p:nvSpPr>
        <p:spPr>
          <a:xfrm>
            <a:off x="7806690" y="2411730"/>
            <a:ext cx="948690" cy="948690"/>
          </a:xfrm>
          <a:prstGeom prst="rect">
            <a:avLst/>
          </a:prstGeom>
          <a:solidFill>
            <a:srgbClr val="F8FBFB"/>
          </a:solidFill>
          <a:ln w="9525">
            <a:solidFill>
              <a:srgbClr val="005088"/>
            </a:solidFill>
            <a:prstDash val="solid"/>
          </a:ln>
        </p:spPr>
      </p:sp>
      <p:sp>
        <p:nvSpPr>
          <p:cNvPr id="32" name="Text 30"/>
          <p:cNvSpPr/>
          <p:nvPr/>
        </p:nvSpPr>
        <p:spPr>
          <a:xfrm>
            <a:off x="7834122" y="271531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1E293B"/>
                </a:solidFill>
                <a:latin typeface="Aptos" pitchFamily="34" charset="0"/>
                <a:ea typeface="Aptos" pitchFamily="34" charset="-122"/>
                <a:cs typeface="Aptos" pitchFamily="34" charset="-120"/>
              </a:rPr>
              <a:t>Gold</a:t>
            </a:r>
            <a:endParaRPr lang="en-US" sz="850" dirty="0"/>
          </a:p>
        </p:txBody>
      </p:sp>
      <p:sp>
        <p:nvSpPr>
          <p:cNvPr id="33" name="Shape 31"/>
          <p:cNvSpPr/>
          <p:nvPr/>
        </p:nvSpPr>
        <p:spPr>
          <a:xfrm>
            <a:off x="8755380" y="2411730"/>
            <a:ext cx="948690" cy="948690"/>
          </a:xfrm>
          <a:prstGeom prst="rect">
            <a:avLst/>
          </a:prstGeom>
          <a:solidFill>
            <a:srgbClr val="E9E4F6"/>
          </a:solidFill>
          <a:ln w="9525">
            <a:solidFill>
              <a:srgbClr val="005088"/>
            </a:solidFill>
            <a:prstDash val="solid"/>
          </a:ln>
        </p:spPr>
      </p:sp>
      <p:sp>
        <p:nvSpPr>
          <p:cNvPr id="34" name="Text 32"/>
          <p:cNvSpPr/>
          <p:nvPr/>
        </p:nvSpPr>
        <p:spPr>
          <a:xfrm>
            <a:off x="8782812" y="271531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6B5CA5"/>
                </a:solidFill>
                <a:latin typeface="Aptos" pitchFamily="34" charset="0"/>
                <a:ea typeface="Aptos" pitchFamily="34" charset="-122"/>
                <a:cs typeface="Aptos" pitchFamily="34" charset="-120"/>
              </a:rPr>
              <a:t>PIT</a:t>
            </a:r>
            <a:endParaRPr lang="en-US" sz="850" dirty="0"/>
          </a:p>
        </p:txBody>
      </p:sp>
      <p:sp>
        <p:nvSpPr>
          <p:cNvPr id="35" name="Shape 33"/>
          <p:cNvSpPr/>
          <p:nvPr/>
        </p:nvSpPr>
        <p:spPr>
          <a:xfrm>
            <a:off x="9704070" y="2411730"/>
            <a:ext cx="948690" cy="948690"/>
          </a:xfrm>
          <a:prstGeom prst="rect">
            <a:avLst/>
          </a:prstGeom>
          <a:solidFill>
            <a:srgbClr val="F8FBFB"/>
          </a:solidFill>
          <a:ln w="9525">
            <a:solidFill>
              <a:srgbClr val="005088"/>
            </a:solidFill>
            <a:prstDash val="solid"/>
          </a:ln>
        </p:spPr>
      </p:sp>
      <p:sp>
        <p:nvSpPr>
          <p:cNvPr id="36" name="Text 34"/>
          <p:cNvSpPr/>
          <p:nvPr/>
        </p:nvSpPr>
        <p:spPr>
          <a:xfrm>
            <a:off x="9731502" y="271531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1E293B"/>
                </a:solidFill>
                <a:latin typeface="Aptos" pitchFamily="34" charset="0"/>
                <a:ea typeface="Aptos" pitchFamily="34" charset="-122"/>
                <a:cs typeface="Aptos" pitchFamily="34" charset="-120"/>
              </a:rPr>
              <a:t>Breeze</a:t>
            </a:r>
            <a:endParaRPr lang="en-US" sz="850" dirty="0"/>
          </a:p>
        </p:txBody>
      </p:sp>
      <p:sp>
        <p:nvSpPr>
          <p:cNvPr id="37" name="Shape 35"/>
          <p:cNvSpPr/>
          <p:nvPr/>
        </p:nvSpPr>
        <p:spPr>
          <a:xfrm>
            <a:off x="6858000" y="1463040"/>
            <a:ext cx="948690" cy="948690"/>
          </a:xfrm>
          <a:prstGeom prst="rect">
            <a:avLst/>
          </a:prstGeom>
          <a:solidFill>
            <a:srgbClr val="F8FBFB"/>
          </a:solidFill>
          <a:ln w="9525">
            <a:solidFill>
              <a:srgbClr val="005088"/>
            </a:solidFill>
            <a:prstDash val="solid"/>
          </a:ln>
        </p:spPr>
      </p:sp>
      <p:sp>
        <p:nvSpPr>
          <p:cNvPr id="38" name="Shape 36"/>
          <p:cNvSpPr/>
          <p:nvPr/>
        </p:nvSpPr>
        <p:spPr>
          <a:xfrm>
            <a:off x="7806690" y="1463040"/>
            <a:ext cx="948690" cy="948690"/>
          </a:xfrm>
          <a:prstGeom prst="rect">
            <a:avLst/>
          </a:prstGeom>
          <a:solidFill>
            <a:srgbClr val="F8FBFB"/>
          </a:solidFill>
          <a:ln w="9525">
            <a:solidFill>
              <a:srgbClr val="005088"/>
            </a:solidFill>
            <a:prstDash val="solid"/>
          </a:ln>
        </p:spPr>
      </p:sp>
      <p:sp>
        <p:nvSpPr>
          <p:cNvPr id="39" name="Shape 37"/>
          <p:cNvSpPr/>
          <p:nvPr/>
        </p:nvSpPr>
        <p:spPr>
          <a:xfrm>
            <a:off x="8755380" y="1463040"/>
            <a:ext cx="948690" cy="948690"/>
          </a:xfrm>
          <a:prstGeom prst="rect">
            <a:avLst/>
          </a:prstGeom>
          <a:solidFill>
            <a:srgbClr val="F8FBFB"/>
          </a:solidFill>
          <a:ln w="9525">
            <a:solidFill>
              <a:srgbClr val="005088"/>
            </a:solidFill>
            <a:prstDash val="solid"/>
          </a:ln>
        </p:spPr>
      </p:sp>
      <p:sp>
        <p:nvSpPr>
          <p:cNvPr id="40" name="Shape 38"/>
          <p:cNvSpPr/>
          <p:nvPr/>
        </p:nvSpPr>
        <p:spPr>
          <a:xfrm>
            <a:off x="9704070" y="1463040"/>
            <a:ext cx="948690" cy="948690"/>
          </a:xfrm>
          <a:prstGeom prst="rect">
            <a:avLst/>
          </a:prstGeom>
          <a:solidFill>
            <a:srgbClr val="E9E4F6"/>
          </a:solidFill>
          <a:ln w="9525">
            <a:solidFill>
              <a:srgbClr val="005088"/>
            </a:solidFill>
            <a:prstDash val="solid"/>
          </a:ln>
        </p:spPr>
      </p:sp>
      <p:sp>
        <p:nvSpPr>
          <p:cNvPr id="41" name="Text 39"/>
          <p:cNvSpPr/>
          <p:nvPr/>
        </p:nvSpPr>
        <p:spPr>
          <a:xfrm>
            <a:off x="9731502" y="1766621"/>
            <a:ext cx="893826" cy="284607"/>
          </a:xfrm>
          <a:prstGeom prst="rect">
            <a:avLst/>
          </a:prstGeom>
          <a:noFill/>
          <a:ln/>
        </p:spPr>
        <p:txBody>
          <a:bodyPr wrap="square" lIns="0" tIns="0" rIns="0" bIns="0" rtlCol="0" anchor="ctr">
            <a:normAutofit/>
          </a:bodyPr>
          <a:lstStyle/>
          <a:p>
            <a:pPr algn="ctr" indent="0" marL="0">
              <a:buNone/>
            </a:pPr>
            <a:r>
              <a:rPr lang="en-US" sz="850" b="1" dirty="0">
                <a:solidFill>
                  <a:srgbClr val="6B5CA5"/>
                </a:solidFill>
                <a:latin typeface="Aptos" pitchFamily="34" charset="0"/>
                <a:ea typeface="Aptos" pitchFamily="34" charset="-122"/>
                <a:cs typeface="Aptos" pitchFamily="34" charset="-120"/>
              </a:rPr>
              <a:t>PIT</a:t>
            </a:r>
            <a:endParaRPr lang="en-US" sz="850" dirty="0"/>
          </a:p>
        </p:txBody>
      </p:sp>
      <p:sp>
        <p:nvSpPr>
          <p:cNvPr id="42" name="Text 40"/>
          <p:cNvSpPr/>
          <p:nvPr/>
        </p:nvSpPr>
        <p:spPr>
          <a:xfrm>
            <a:off x="6355080" y="5394960"/>
            <a:ext cx="4800600" cy="292608"/>
          </a:xfrm>
          <a:prstGeom prst="rect">
            <a:avLst/>
          </a:prstGeom>
          <a:noFill/>
          <a:ln/>
        </p:spPr>
        <p:txBody>
          <a:bodyPr wrap="square" lIns="0" tIns="0" rIns="0" bIns="0" rtlCol="0" anchor="ctr">
            <a:normAutofit/>
          </a:bodyPr>
          <a:lstStyle/>
          <a:p>
            <a:pPr algn="ctr" indent="0" marL="0">
              <a:buNone/>
            </a:pPr>
            <a:r>
              <a:rPr lang="en-US" sz="1020" i="1" dirty="0">
                <a:solidFill>
                  <a:srgbClr val="64748B"/>
                </a:solidFill>
                <a:latin typeface="Aptos" pitchFamily="34" charset="0"/>
                <a:ea typeface="Aptos" pitchFamily="34" charset="-122"/>
                <a:cs typeface="Aptos" pitchFamily="34" charset="-120"/>
              </a:rPr>
              <a:t>Wumpus World = tiny world with hidden hazards and logical clues</a:t>
            </a:r>
            <a:endParaRPr lang="en-US" sz="10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21</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From Percept to Sentence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How raw sensor input becomes a logical statement.</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Raw percept</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The sensor says: no stench, no breeze, no glitter, no bump, no scream.</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Logical sentence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NOT Stench_1,1 AND NOT Breeze_1,1 AND NOT Glitter_1,1 ...</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Background rule</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Breeze_1,1 iff Pit_1,2 OR Pit_2,1.</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Derived fact</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NOT Pit_1,2 AND NOT Pit_2,1.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7.3: First Step Reasoning</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agent begins turning local percepts into safe squares.</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3_first_step.png">    </p:cNvPr>
          <p:cNvPicPr>
            <a:picLocks noChangeAspect="1"/>
          </p:cNvPicPr>
          <p:nvPr/>
        </p:nvPicPr>
        <p:blipFill>
          <a:blip r:embed="rId1"/>
          <a:stretch>
            <a:fillRect/>
          </a:stretch>
        </p:blipFill>
        <p:spPr>
          <a:xfrm>
            <a:off x="731520" y="2000536"/>
            <a:ext cx="6080760" cy="3268409"/>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7.3: Initial situation and first percept after moving</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Initial square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No breeze means adjacent squares have no pits.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After moving</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 breeze at [2,1] introduces pit possibilities.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Possible hazards</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agent marks candidate pit locations instead of guessing.</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Reasoning style</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Maintain what is known safe, unsafe, and unknown.</a:t>
            </a:r>
            <a:endParaRPr lang="en-US" sz="10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23</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7.4: Later Wumpus Reasoning</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As percepts accumulate, the agent can prove more facts.</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4_later_stages.png">    </p:cNvPr>
          <p:cNvPicPr>
            <a:picLocks noChangeAspect="1"/>
          </p:cNvPicPr>
          <p:nvPr/>
        </p:nvPicPr>
        <p:blipFill>
          <a:blip r:embed="rId1"/>
          <a:stretch>
            <a:fillRect/>
          </a:stretch>
        </p:blipFill>
        <p:spPr>
          <a:xfrm>
            <a:off x="731520" y="1648685"/>
            <a:ext cx="6080760" cy="3972109"/>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7.4: Later stages in Wumpus World reasoning</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More evidence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Each new percept constrains possible worlds.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Proved facts</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Some squares become proven safe or proven hazardous.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Goal clue</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Glitter gives direct evidence that gold is in the current square.</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Teaching point</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Inference accumulates over time.</a:t>
            </a:r>
            <a:endParaRPr lang="en-US" sz="10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Reasoning About Safe Squares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Wumpus agent constantly asks safety queries.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Ask safe?</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Does KB entail NOT Pit_x,y and NOT Wumpus_x,y?</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2F855A"/>
          </a:solidFill>
          <a:ln w="12700">
            <a:solidFill>
              <a:srgbClr val="2F855A">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If yes</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The square is logically safe given current knowledge.</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F2B84B"/>
          </a:solidFill>
          <a:ln w="12700">
            <a:solidFill>
              <a:srgbClr val="F2B84B">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If no</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The square may still be safe; the KB just cannot prove it yet.</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Risk policy</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The agent design decides whether to wait, infer more, or take a risk.</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25</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Classroom Activity: Wumpus Clues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Two-minute think-pair-share.</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Prompt</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At [1,1], the agent perceives no breeze and no stench. Which adjacent squares can be marked safe?</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2F855A"/>
          </a:solidFill>
          <a:ln w="12700">
            <a:solidFill>
              <a:srgbClr val="2F855A">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Expected answer</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[1,2] and [2,1] are safe from both pits and Wumpus, given the usual adjacency rules.</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F2B84B"/>
          </a:solidFill>
          <a:ln w="12700">
            <a:solidFill>
              <a:srgbClr val="F2B84B">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Follow-up</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If the next square has a breeze, what does that prove? What does it only suggest?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594360" y="502920"/>
            <a:ext cx="1828800" cy="320040"/>
          </a:xfrm>
          <a:prstGeom prst="rect">
            <a:avLst/>
          </a:prstGeom>
          <a:noFill/>
          <a:ln/>
        </p:spPr>
        <p:txBody>
          <a:bodyPr wrap="square" lIns="0" tIns="0" rIns="0" bIns="0" rtlCol="0" anchor="ctr"/>
          <a:lstStyle/>
          <a:p>
            <a:pPr indent="0" marL="0">
              <a:buNone/>
            </a:pPr>
            <a:r>
              <a:rPr lang="en-US" sz="1300" b="1" dirty="0">
                <a:solidFill>
                  <a:srgbClr val="BDEEEE"/>
                </a:solidFill>
                <a:latin typeface="Aptos" pitchFamily="34" charset="0"/>
                <a:ea typeface="Aptos" pitchFamily="34" charset="-122"/>
                <a:cs typeface="Aptos" pitchFamily="34" charset="-120"/>
              </a:rPr>
              <a:t>SECTION 3</a:t>
            </a:r>
            <a:endParaRPr lang="en-US" sz="1300" dirty="0"/>
          </a:p>
        </p:txBody>
      </p:sp>
      <p:sp>
        <p:nvSpPr>
          <p:cNvPr id="3" name="Text 1"/>
          <p:cNvSpPr/>
          <p:nvPr/>
        </p:nvSpPr>
        <p:spPr>
          <a:xfrm>
            <a:off x="594360" y="1097280"/>
            <a:ext cx="10698480" cy="109728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Logic: The Language of Knowledge</a:t>
            </a:r>
            <a:endParaRPr lang="en-US" sz="4200" dirty="0"/>
          </a:p>
        </p:txBody>
      </p:sp>
      <p:sp>
        <p:nvSpPr>
          <p:cNvPr id="4" name="Text 2"/>
          <p:cNvSpPr/>
          <p:nvPr/>
        </p:nvSpPr>
        <p:spPr>
          <a:xfrm>
            <a:off x="640080" y="2304288"/>
            <a:ext cx="10607040" cy="548640"/>
          </a:xfrm>
          <a:prstGeom prst="rect">
            <a:avLst/>
          </a:prstGeom>
          <a:noFill/>
          <a:ln/>
        </p:spPr>
        <p:txBody>
          <a:bodyPr wrap="square" lIns="0" tIns="0" rIns="0" bIns="0" rtlCol="0" anchor="ctr">
            <a:normAutofit/>
          </a:bodyPr>
          <a:lstStyle/>
          <a:p>
            <a:pPr indent="0" marL="0">
              <a:buNone/>
            </a:pPr>
            <a:r>
              <a:rPr lang="en-US" sz="1800" dirty="0">
                <a:solidFill>
                  <a:srgbClr val="D9F6F6"/>
                </a:solidFill>
                <a:latin typeface="Aptos" pitchFamily="34" charset="0"/>
                <a:ea typeface="Aptos" pitchFamily="34" charset="-122"/>
                <a:cs typeface="Aptos" pitchFamily="34" charset="-120"/>
              </a:rPr>
              <a:t>Formal symbols let agents reason in a domain-independent way.</a:t>
            </a:r>
            <a:endParaRPr lang="en-US" sz="1800" dirty="0"/>
          </a:p>
        </p:txBody>
      </p:sp>
      <p:sp>
        <p:nvSpPr>
          <p:cNvPr id="5" name="Shape 3"/>
          <p:cNvSpPr/>
          <p:nvPr/>
        </p:nvSpPr>
        <p:spPr>
          <a:xfrm>
            <a:off x="685800" y="3657600"/>
            <a:ext cx="3413760" cy="1417320"/>
          </a:xfrm>
          <a:prstGeom prst="roundRect">
            <a:avLst>
              <a:gd name="adj" fmla="val 3871"/>
            </a:avLst>
          </a:prstGeom>
          <a:solidFill>
            <a:srgbClr val="F8FBFB"/>
          </a:solidFill>
          <a:ln w="12700">
            <a:solidFill>
              <a:srgbClr val="B6D1D8"/>
            </a:solidFill>
            <a:prstDash val="solid"/>
          </a:ln>
        </p:spPr>
      </p:sp>
      <p:sp>
        <p:nvSpPr>
          <p:cNvPr id="6" name="Shape 4"/>
          <p:cNvSpPr/>
          <p:nvPr/>
        </p:nvSpPr>
        <p:spPr>
          <a:xfrm>
            <a:off x="685800" y="3657600"/>
            <a:ext cx="73152" cy="1417320"/>
          </a:xfrm>
          <a:prstGeom prst="rect">
            <a:avLst/>
          </a:prstGeom>
          <a:solidFill>
            <a:srgbClr val="F2B84B"/>
          </a:solidFill>
          <a:ln w="12700">
            <a:solidFill>
              <a:srgbClr val="F2B84B">
                <a:alpha val="0"/>
              </a:srgbClr>
            </a:solidFill>
            <a:prstDash val="solid"/>
          </a:ln>
        </p:spPr>
      </p:sp>
      <p:sp>
        <p:nvSpPr>
          <p:cNvPr id="7" name="Text 5"/>
          <p:cNvSpPr/>
          <p:nvPr/>
        </p:nvSpPr>
        <p:spPr>
          <a:xfrm>
            <a:off x="85039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Syntax</a:t>
            </a:r>
            <a:endParaRPr lang="en-US" sz="1200" dirty="0"/>
          </a:p>
        </p:txBody>
      </p:sp>
      <p:sp>
        <p:nvSpPr>
          <p:cNvPr id="8" name="Text 6"/>
          <p:cNvSpPr/>
          <p:nvPr/>
        </p:nvSpPr>
        <p:spPr>
          <a:xfrm>
            <a:off x="85039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Which strings count as legal sentences.</a:t>
            </a:r>
            <a:endParaRPr lang="en-US" sz="1000" dirty="0"/>
          </a:p>
        </p:txBody>
      </p:sp>
      <p:sp>
        <p:nvSpPr>
          <p:cNvPr id="9" name="Shape 7"/>
          <p:cNvSpPr/>
          <p:nvPr/>
        </p:nvSpPr>
        <p:spPr>
          <a:xfrm>
            <a:off x="4373880" y="3657600"/>
            <a:ext cx="3413760" cy="1417320"/>
          </a:xfrm>
          <a:prstGeom prst="roundRect">
            <a:avLst>
              <a:gd name="adj" fmla="val 3871"/>
            </a:avLst>
          </a:prstGeom>
          <a:solidFill>
            <a:srgbClr val="F8FBFB"/>
          </a:solidFill>
          <a:ln w="12700">
            <a:solidFill>
              <a:srgbClr val="B6D1D8"/>
            </a:solidFill>
            <a:prstDash val="solid"/>
          </a:ln>
        </p:spPr>
      </p:sp>
      <p:sp>
        <p:nvSpPr>
          <p:cNvPr id="10" name="Shape 8"/>
          <p:cNvSpPr/>
          <p:nvPr/>
        </p:nvSpPr>
        <p:spPr>
          <a:xfrm>
            <a:off x="4373880" y="3657600"/>
            <a:ext cx="73152" cy="1417320"/>
          </a:xfrm>
          <a:prstGeom prst="rect">
            <a:avLst/>
          </a:prstGeom>
          <a:solidFill>
            <a:srgbClr val="168A8A"/>
          </a:solidFill>
          <a:ln w="12700">
            <a:solidFill>
              <a:srgbClr val="168A8A">
                <a:alpha val="0"/>
              </a:srgbClr>
            </a:solidFill>
            <a:prstDash val="solid"/>
          </a:ln>
        </p:spPr>
      </p:sp>
      <p:sp>
        <p:nvSpPr>
          <p:cNvPr id="11" name="Text 9"/>
          <p:cNvSpPr/>
          <p:nvPr/>
        </p:nvSpPr>
        <p:spPr>
          <a:xfrm>
            <a:off x="453847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Semantics</a:t>
            </a:r>
            <a:endParaRPr lang="en-US" sz="1200" dirty="0"/>
          </a:p>
        </p:txBody>
      </p:sp>
      <p:sp>
        <p:nvSpPr>
          <p:cNvPr id="12" name="Text 10"/>
          <p:cNvSpPr/>
          <p:nvPr/>
        </p:nvSpPr>
        <p:spPr>
          <a:xfrm>
            <a:off x="453847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What those sentences mean in possible worlds.</a:t>
            </a:r>
            <a:endParaRPr lang="en-US" sz="1000" dirty="0"/>
          </a:p>
        </p:txBody>
      </p:sp>
      <p:sp>
        <p:nvSpPr>
          <p:cNvPr id="13" name="Shape 11"/>
          <p:cNvSpPr/>
          <p:nvPr/>
        </p:nvSpPr>
        <p:spPr>
          <a:xfrm>
            <a:off x="8061960" y="3657600"/>
            <a:ext cx="3413760" cy="1417320"/>
          </a:xfrm>
          <a:prstGeom prst="roundRect">
            <a:avLst>
              <a:gd name="adj" fmla="val 3871"/>
            </a:avLst>
          </a:prstGeom>
          <a:solidFill>
            <a:srgbClr val="F8FBFB"/>
          </a:solidFill>
          <a:ln w="12700">
            <a:solidFill>
              <a:srgbClr val="B6D1D8"/>
            </a:solidFill>
            <a:prstDash val="solid"/>
          </a:ln>
        </p:spPr>
      </p:sp>
      <p:sp>
        <p:nvSpPr>
          <p:cNvPr id="14" name="Shape 12"/>
          <p:cNvSpPr/>
          <p:nvPr/>
        </p:nvSpPr>
        <p:spPr>
          <a:xfrm>
            <a:off x="8061960" y="3657600"/>
            <a:ext cx="73152" cy="1417320"/>
          </a:xfrm>
          <a:prstGeom prst="rect">
            <a:avLst/>
          </a:prstGeom>
          <a:solidFill>
            <a:srgbClr val="F2B84B"/>
          </a:solidFill>
          <a:ln w="12700">
            <a:solidFill>
              <a:srgbClr val="F2B84B">
                <a:alpha val="0"/>
              </a:srgbClr>
            </a:solidFill>
            <a:prstDash val="solid"/>
          </a:ln>
        </p:spPr>
      </p:sp>
      <p:sp>
        <p:nvSpPr>
          <p:cNvPr id="15" name="Text 13"/>
          <p:cNvSpPr/>
          <p:nvPr/>
        </p:nvSpPr>
        <p:spPr>
          <a:xfrm>
            <a:off x="822655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Entailment</a:t>
            </a:r>
            <a:endParaRPr lang="en-US" sz="1200" dirty="0"/>
          </a:p>
        </p:txBody>
      </p:sp>
      <p:sp>
        <p:nvSpPr>
          <p:cNvPr id="16" name="Text 14"/>
          <p:cNvSpPr/>
          <p:nvPr/>
        </p:nvSpPr>
        <p:spPr>
          <a:xfrm>
            <a:off x="822655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What must be true if the KB is true.</a:t>
            </a:r>
            <a:endParaRPr lang="en-US" sz="1000" dirty="0"/>
          </a:p>
        </p:txBody>
      </p:sp>
      <p:sp>
        <p:nvSpPr>
          <p:cNvPr id="17" name="Text 15"/>
          <p:cNvSpPr/>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BDEEEE"/>
                </a:solidFill>
                <a:latin typeface="Aptos" pitchFamily="34" charset="0"/>
                <a:ea typeface="Aptos" pitchFamily="34" charset="-122"/>
                <a:cs typeface="Aptos" pitchFamily="34" charset="-120"/>
              </a:rPr>
              <a:t>COMP 469 | CSU Channel Islands</a:t>
            </a:r>
            <a:endParaRPr lang="en-US" sz="900" dirty="0"/>
          </a:p>
        </p:txBody>
      </p:sp>
      <p:sp>
        <p:nvSpPr>
          <p:cNvPr id="18" name="Text 16"/>
          <p:cNvSpPr/>
          <p:nvPr/>
        </p:nvSpPr>
        <p:spPr>
          <a:xfrm>
            <a:off x="11201400" y="6327648"/>
            <a:ext cx="411480" cy="256032"/>
          </a:xfrm>
          <a:prstGeom prst="rect">
            <a:avLst/>
          </a:prstGeom>
          <a:noFill/>
          <a:ln/>
        </p:spPr>
        <p:txBody>
          <a:bodyPr wrap="square" lIns="0" tIns="0" rIns="0" bIns="0"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27</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Syntax vs. Semantics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two halves of any representation language.</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Syntax</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Rules for building legal sentences. Example: P AND Q is legal; AND P Q may not be.</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Semantics</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Rules that determine whether a sentence is true or false in a model.</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Why students care</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Code can check syntax, but reasoning needs semantics.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Logic Basics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28</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Models and Possible Worlds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model assigns truth values to proposition symbols.</a:t>
            </a:r>
            <a:endParaRPr lang="en-US" sz="850" dirty="0"/>
          </a:p>
        </p:txBody>
      </p:sp>
      <p:sp>
        <p:nvSpPr>
          <p:cNvPr id="9" name="Shape 7"/>
          <p:cNvSpPr/>
          <p:nvPr/>
        </p:nvSpPr>
        <p:spPr>
          <a:xfrm>
            <a:off x="731520" y="1417320"/>
            <a:ext cx="5074920" cy="2057400"/>
          </a:xfrm>
          <a:prstGeom prst="roundRect">
            <a:avLst>
              <a:gd name="adj" fmla="val 2667"/>
            </a:avLst>
          </a:prstGeom>
          <a:solidFill>
            <a:srgbClr val="FFFDF7"/>
          </a:solidFill>
          <a:ln w="12700">
            <a:solidFill>
              <a:srgbClr val="B6D1D8"/>
            </a:solidFill>
            <a:prstDash val="solid"/>
          </a:ln>
        </p:spPr>
      </p:sp>
      <p:sp>
        <p:nvSpPr>
          <p:cNvPr id="10" name="Shape 8"/>
          <p:cNvSpPr/>
          <p:nvPr/>
        </p:nvSpPr>
        <p:spPr>
          <a:xfrm>
            <a:off x="731520" y="1417320"/>
            <a:ext cx="73152" cy="20574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Possible world</a:t>
            </a:r>
            <a:endParaRPr lang="en-US" sz="1400" dirty="0"/>
          </a:p>
        </p:txBody>
      </p:sp>
      <p:sp>
        <p:nvSpPr>
          <p:cNvPr id="12" name="Text 10"/>
          <p:cNvSpPr/>
          <p:nvPr/>
        </p:nvSpPr>
        <p:spPr>
          <a:xfrm>
            <a:off x="896112" y="189280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A complete assignment of truth values</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Example: Pit_1,2 is false; Pit_2,1 is false; Breeze_1,1 is false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A sentence is true or false in each model</a:t>
            </a:r>
            <a:endParaRPr lang="en-US" sz="1170" dirty="0"/>
          </a:p>
        </p:txBody>
      </p:sp>
      <p:sp>
        <p:nvSpPr>
          <p:cNvPr id="13" name="Shape 11"/>
          <p:cNvSpPr/>
          <p:nvPr/>
        </p:nvSpPr>
        <p:spPr>
          <a:xfrm>
            <a:off x="731520" y="3657600"/>
            <a:ext cx="5074920" cy="2057400"/>
          </a:xfrm>
          <a:prstGeom prst="roundRect">
            <a:avLst>
              <a:gd name="adj" fmla="val 2667"/>
            </a:avLst>
          </a:prstGeom>
          <a:solidFill>
            <a:srgbClr val="FFFDF7"/>
          </a:solidFill>
          <a:ln w="12700">
            <a:solidFill>
              <a:srgbClr val="B6D1D8"/>
            </a:solidFill>
            <a:prstDash val="solid"/>
          </a:ln>
        </p:spPr>
      </p:sp>
      <p:sp>
        <p:nvSpPr>
          <p:cNvPr id="14" name="Shape 12"/>
          <p:cNvSpPr/>
          <p:nvPr/>
        </p:nvSpPr>
        <p:spPr>
          <a:xfrm>
            <a:off x="731520" y="3657600"/>
            <a:ext cx="73152" cy="2057400"/>
          </a:xfrm>
          <a:prstGeom prst="rect">
            <a:avLst/>
          </a:prstGeom>
          <a:solidFill>
            <a:srgbClr val="F2B84B"/>
          </a:solidFill>
          <a:ln w="12700">
            <a:solidFill>
              <a:srgbClr val="F2B84B">
                <a:alpha val="0"/>
              </a:srgbClr>
            </a:solidFill>
            <a:prstDash val="solid"/>
          </a:ln>
        </p:spPr>
      </p:sp>
      <p:sp>
        <p:nvSpPr>
          <p:cNvPr id="15" name="Text 13"/>
          <p:cNvSpPr/>
          <p:nvPr/>
        </p:nvSpPr>
        <p:spPr>
          <a:xfrm>
            <a:off x="896112" y="378561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Set-of-worlds intuition</a:t>
            </a:r>
            <a:endParaRPr lang="en-US" sz="1400" dirty="0"/>
          </a:p>
        </p:txBody>
      </p:sp>
      <p:sp>
        <p:nvSpPr>
          <p:cNvPr id="16" name="Text 14"/>
          <p:cNvSpPr/>
          <p:nvPr/>
        </p:nvSpPr>
        <p:spPr>
          <a:xfrm>
            <a:off x="896112" y="413308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A KB rules out worlds inconsistent with evidence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Inference asks what is true in all remaining worlds</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The agent acts only from what survives every possible world</a:t>
            </a:r>
            <a:endParaRPr lang="en-US" sz="117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Logic Basics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29</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Entailment</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KB entails alpha when alpha is true in every model where KB is true.</a:t>
            </a:r>
            <a:endParaRPr lang="en-US" sz="850" dirty="0"/>
          </a:p>
        </p:txBody>
      </p:sp>
      <p:sp>
        <p:nvSpPr>
          <p:cNvPr id="9" name="Shape 7"/>
          <p:cNvSpPr/>
          <p:nvPr/>
        </p:nvSpPr>
        <p:spPr>
          <a:xfrm>
            <a:off x="731520" y="1417320"/>
            <a:ext cx="5074920" cy="2057400"/>
          </a:xfrm>
          <a:prstGeom prst="roundRect">
            <a:avLst>
              <a:gd name="adj" fmla="val 2667"/>
            </a:avLst>
          </a:prstGeom>
          <a:solidFill>
            <a:srgbClr val="FFFDF7"/>
          </a:solidFill>
          <a:ln w="12700">
            <a:solidFill>
              <a:srgbClr val="B6D1D8"/>
            </a:solidFill>
            <a:prstDash val="solid"/>
          </a:ln>
        </p:spPr>
      </p:sp>
      <p:sp>
        <p:nvSpPr>
          <p:cNvPr id="10" name="Shape 8"/>
          <p:cNvSpPr/>
          <p:nvPr/>
        </p:nvSpPr>
        <p:spPr>
          <a:xfrm>
            <a:off x="731520" y="1417320"/>
            <a:ext cx="73152" cy="20574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Plain English</a:t>
            </a:r>
            <a:endParaRPr lang="en-US" sz="1400" dirty="0"/>
          </a:p>
        </p:txBody>
      </p:sp>
      <p:sp>
        <p:nvSpPr>
          <p:cNvPr id="12" name="Text 10"/>
          <p:cNvSpPr/>
          <p:nvPr/>
        </p:nvSpPr>
        <p:spPr>
          <a:xfrm>
            <a:off x="896112" y="189280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If the KB is true, alpha cannot be false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Alpha follows from the KB</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There is no counterexample model</a:t>
            </a:r>
            <a:endParaRPr lang="en-US" sz="1170" dirty="0"/>
          </a:p>
        </p:txBody>
      </p:sp>
      <p:sp>
        <p:nvSpPr>
          <p:cNvPr id="13" name="Shape 11"/>
          <p:cNvSpPr/>
          <p:nvPr/>
        </p:nvSpPr>
        <p:spPr>
          <a:xfrm>
            <a:off x="731520" y="3657600"/>
            <a:ext cx="5074920" cy="2057400"/>
          </a:xfrm>
          <a:prstGeom prst="roundRect">
            <a:avLst>
              <a:gd name="adj" fmla="val 2667"/>
            </a:avLst>
          </a:prstGeom>
          <a:solidFill>
            <a:srgbClr val="FFFDF7"/>
          </a:solidFill>
          <a:ln w="12700">
            <a:solidFill>
              <a:srgbClr val="B6D1D8"/>
            </a:solidFill>
            <a:prstDash val="solid"/>
          </a:ln>
        </p:spPr>
      </p:sp>
      <p:sp>
        <p:nvSpPr>
          <p:cNvPr id="14" name="Shape 12"/>
          <p:cNvSpPr/>
          <p:nvPr/>
        </p:nvSpPr>
        <p:spPr>
          <a:xfrm>
            <a:off x="731520" y="3657600"/>
            <a:ext cx="73152" cy="2057400"/>
          </a:xfrm>
          <a:prstGeom prst="rect">
            <a:avLst/>
          </a:prstGeom>
          <a:solidFill>
            <a:srgbClr val="F2B84B"/>
          </a:solidFill>
          <a:ln w="12700">
            <a:solidFill>
              <a:srgbClr val="F2B84B">
                <a:alpha val="0"/>
              </a:srgbClr>
            </a:solidFill>
            <a:prstDash val="solid"/>
          </a:ln>
        </p:spPr>
      </p:sp>
      <p:sp>
        <p:nvSpPr>
          <p:cNvPr id="15" name="Text 13"/>
          <p:cNvSpPr/>
          <p:nvPr/>
        </p:nvSpPr>
        <p:spPr>
          <a:xfrm>
            <a:off x="896112" y="378561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Formal notation</a:t>
            </a:r>
            <a:endParaRPr lang="en-US" sz="1400" dirty="0"/>
          </a:p>
        </p:txBody>
      </p:sp>
      <p:sp>
        <p:nvSpPr>
          <p:cNvPr id="16" name="Text 14"/>
          <p:cNvSpPr/>
          <p:nvPr/>
        </p:nvSpPr>
        <p:spPr>
          <a:xfrm>
            <a:off x="896112" y="413308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KB entails alpha is written KB ⊨ α</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This is a relationship between sentences</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Do not confuse ⊨ with the implication connective ⇒</a:t>
            </a:r>
            <a:endParaRPr lang="en-US" sz="1170" dirty="0"/>
          </a:p>
        </p:txBody>
      </p:sp>
      <p:sp>
        <p:nvSpPr>
          <p:cNvPr id="17" name="Shape 15"/>
          <p:cNvSpPr/>
          <p:nvPr/>
        </p:nvSpPr>
        <p:spPr>
          <a:xfrm>
            <a:off x="6446520" y="1737360"/>
            <a:ext cx="4617720" cy="3657600"/>
          </a:xfrm>
          <a:prstGeom prst="rect">
            <a:avLst/>
          </a:prstGeom>
          <a:solidFill>
            <a:srgbClr val="F8FBFB"/>
          </a:solidFill>
          <a:ln w="12700">
            <a:solidFill>
              <a:srgbClr val="B6D1D8"/>
            </a:solidFill>
            <a:prstDash val="solid"/>
          </a:ln>
        </p:spPr>
      </p:sp>
      <p:sp>
        <p:nvSpPr>
          <p:cNvPr id="18" name="Shape 16"/>
          <p:cNvSpPr/>
          <p:nvPr/>
        </p:nvSpPr>
        <p:spPr>
          <a:xfrm>
            <a:off x="7040880" y="2377440"/>
            <a:ext cx="3474720" cy="2286000"/>
          </a:xfrm>
          <a:prstGeom prst="ellipse">
            <a:avLst/>
          </a:prstGeom>
          <a:solidFill>
            <a:srgbClr val="CDE7EA">
              <a:alpha val="85000"/>
            </a:srgbClr>
          </a:solidFill>
          <a:ln w="15240">
            <a:solidFill>
              <a:srgbClr val="168A8A"/>
            </a:solidFill>
            <a:prstDash val="solid"/>
          </a:ln>
        </p:spPr>
      </p:sp>
      <p:sp>
        <p:nvSpPr>
          <p:cNvPr id="19" name="Shape 17"/>
          <p:cNvSpPr/>
          <p:nvPr/>
        </p:nvSpPr>
        <p:spPr>
          <a:xfrm>
            <a:off x="7772400" y="2743200"/>
            <a:ext cx="1920240" cy="1097280"/>
          </a:xfrm>
          <a:prstGeom prst="ellipse">
            <a:avLst/>
          </a:prstGeom>
          <a:solidFill>
            <a:srgbClr val="E9E4F6">
              <a:alpha val="95000"/>
            </a:srgbClr>
          </a:solidFill>
          <a:ln w="15240">
            <a:solidFill>
              <a:srgbClr val="6B5CA5"/>
            </a:solidFill>
            <a:prstDash val="solid"/>
          </a:ln>
        </p:spPr>
      </p:sp>
      <p:sp>
        <p:nvSpPr>
          <p:cNvPr id="20" name="Text 18"/>
          <p:cNvSpPr/>
          <p:nvPr/>
        </p:nvSpPr>
        <p:spPr>
          <a:xfrm>
            <a:off x="7269480" y="2148840"/>
            <a:ext cx="2926080" cy="228600"/>
          </a:xfrm>
          <a:prstGeom prst="rect">
            <a:avLst/>
          </a:prstGeom>
          <a:noFill/>
          <a:ln/>
        </p:spPr>
        <p:txBody>
          <a:bodyPr wrap="square" lIns="0" tIns="0" rIns="0" bIns="0" rtlCol="0" anchor="ctr"/>
          <a:lstStyle/>
          <a:p>
            <a:pPr algn="ctr" indent="0" marL="0">
              <a:buNone/>
            </a:pPr>
            <a:r>
              <a:rPr lang="en-US" sz="1020" b="1" dirty="0">
                <a:solidFill>
                  <a:srgbClr val="0F766E"/>
                </a:solidFill>
                <a:latin typeface="Aptos" pitchFamily="34" charset="0"/>
                <a:ea typeface="Aptos" pitchFamily="34" charset="-122"/>
                <a:cs typeface="Aptos" pitchFamily="34" charset="-120"/>
              </a:rPr>
              <a:t>Models where KB is true</a:t>
            </a:r>
            <a:endParaRPr lang="en-US" sz="1020" dirty="0"/>
          </a:p>
        </p:txBody>
      </p:sp>
      <p:sp>
        <p:nvSpPr>
          <p:cNvPr id="21" name="Text 19"/>
          <p:cNvSpPr/>
          <p:nvPr/>
        </p:nvSpPr>
        <p:spPr>
          <a:xfrm>
            <a:off x="7726680" y="3246120"/>
            <a:ext cx="1920240" cy="274320"/>
          </a:xfrm>
          <a:prstGeom prst="rect">
            <a:avLst/>
          </a:prstGeom>
          <a:noFill/>
          <a:ln/>
        </p:spPr>
        <p:txBody>
          <a:bodyPr wrap="square" lIns="0" tIns="0" rIns="0" bIns="0" rtlCol="0" anchor="ctr"/>
          <a:lstStyle/>
          <a:p>
            <a:pPr algn="ctr" indent="0" marL="0">
              <a:buNone/>
            </a:pPr>
            <a:r>
              <a:rPr lang="en-US" sz="1020" b="1" dirty="0">
                <a:solidFill>
                  <a:srgbClr val="6B5CA5"/>
                </a:solidFill>
                <a:latin typeface="Aptos" pitchFamily="34" charset="0"/>
                <a:ea typeface="Aptos" pitchFamily="34" charset="-122"/>
                <a:cs typeface="Aptos" pitchFamily="34" charset="-120"/>
              </a:rPr>
              <a:t>Models where α is true</a:t>
            </a:r>
            <a:endParaRPr lang="en-US" sz="1020" dirty="0"/>
          </a:p>
        </p:txBody>
      </p:sp>
      <p:sp>
        <p:nvSpPr>
          <p:cNvPr id="22" name="Text 20"/>
          <p:cNvSpPr/>
          <p:nvPr/>
        </p:nvSpPr>
        <p:spPr>
          <a:xfrm>
            <a:off x="6675120" y="5074920"/>
            <a:ext cx="4160520" cy="365760"/>
          </a:xfrm>
          <a:prstGeom prst="rect">
            <a:avLst/>
          </a:prstGeom>
          <a:noFill/>
          <a:ln/>
        </p:spPr>
        <p:txBody>
          <a:bodyPr wrap="square" lIns="0" tIns="0" rIns="0" bIns="0" rtlCol="0" anchor="ctr">
            <a:normAutofit/>
          </a:bodyPr>
          <a:lstStyle/>
          <a:p>
            <a:pPr algn="ctr" indent="0" marL="0">
              <a:buNone/>
            </a:pPr>
            <a:r>
              <a:rPr lang="en-US" sz="1050" i="1" dirty="0">
                <a:solidFill>
                  <a:srgbClr val="64748B"/>
                </a:solidFill>
                <a:latin typeface="Aptos" pitchFamily="34" charset="0"/>
                <a:ea typeface="Aptos" pitchFamily="34" charset="-122"/>
                <a:cs typeface="Aptos" pitchFamily="34" charset="-120"/>
              </a:rPr>
              <a:t>KB entails α only if every KB-world is inside α-world.</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30</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Soundness and Completeness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How we judge inference algorithms.</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Sound</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If the algorithm derives alpha, alpha is truly entailed. It does not lie.</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Complete</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If alpha is entailed, the algorithm can derive it. It does not miss truths.</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Why it matters</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AI systems need trustworthy conclusions, not just fast guesses.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31</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Propositional Logic: The Simplest Logic We Use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Chapter 7 focuses on proposition symbols and connectives.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Symbols</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Atomic propositions such as P_1,2 or Breeze_1,1.</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Connectives</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NOT, AND, OR, implication, biconditional.</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Truth values</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Each proposition is true or false in a model.</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Limitation</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No variables, objects, or quantifiers yet. That comes in Chapter 8.</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7.7: Propositional Syntax</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formal grammar defines legal sentences.</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7_bnf.png">    </p:cNvPr>
          <p:cNvPicPr>
            <a:picLocks noChangeAspect="1"/>
          </p:cNvPicPr>
          <p:nvPr/>
        </p:nvPicPr>
        <p:blipFill>
          <a:blip r:embed="rId1"/>
          <a:stretch>
            <a:fillRect/>
          </a:stretch>
        </p:blipFill>
        <p:spPr>
          <a:xfrm>
            <a:off x="731520" y="2001943"/>
            <a:ext cx="6080760" cy="3265593"/>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7.7: BNF-style grammar for propositional logic</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Atomic sentence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 proposition symbol such as P or Q.</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Complex sentence</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Built recursively using connectives.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Precedence</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Parentheses and operator precedence prevent ambiguity.</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Teaching point</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Logic is a formal language, like Python or SQL.</a:t>
            </a:r>
            <a:endParaRPr lang="en-US" sz="102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Propositional Logic</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33</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Connectives and Truth Intuition</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five most important operators.</a:t>
            </a:r>
            <a:endParaRPr lang="en-US" sz="850" dirty="0"/>
          </a:p>
        </p:txBody>
      </p:sp>
      <p:sp>
        <p:nvSpPr>
          <p:cNvPr id="9" name="Shape 7"/>
          <p:cNvSpPr/>
          <p:nvPr/>
        </p:nvSpPr>
        <p:spPr>
          <a:xfrm>
            <a:off x="731520" y="1417320"/>
            <a:ext cx="5074920" cy="2057400"/>
          </a:xfrm>
          <a:prstGeom prst="roundRect">
            <a:avLst>
              <a:gd name="adj" fmla="val 2667"/>
            </a:avLst>
          </a:prstGeom>
          <a:solidFill>
            <a:srgbClr val="FFFDF7"/>
          </a:solidFill>
          <a:ln w="12700">
            <a:solidFill>
              <a:srgbClr val="B6D1D8"/>
            </a:solidFill>
            <a:prstDash val="solid"/>
          </a:ln>
        </p:spPr>
      </p:sp>
      <p:sp>
        <p:nvSpPr>
          <p:cNvPr id="10" name="Shape 8"/>
          <p:cNvSpPr/>
          <p:nvPr/>
        </p:nvSpPr>
        <p:spPr>
          <a:xfrm>
            <a:off x="731520" y="1417320"/>
            <a:ext cx="73152" cy="20574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Core connectives</a:t>
            </a:r>
            <a:endParaRPr lang="en-US" sz="1400" dirty="0"/>
          </a:p>
        </p:txBody>
      </p:sp>
      <p:sp>
        <p:nvSpPr>
          <p:cNvPr id="12" name="Text 10"/>
          <p:cNvSpPr/>
          <p:nvPr/>
        </p:nvSpPr>
        <p:spPr>
          <a:xfrm>
            <a:off x="896112" y="189280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NOT P: P is false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P AND Q: both are true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P OR Q: at least one is true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P ⇒ Q: if P then Q</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P ⇔ Q: same truth value</a:t>
            </a:r>
            <a:endParaRPr lang="en-US" sz="1170" dirty="0"/>
          </a:p>
        </p:txBody>
      </p:sp>
      <p:sp>
        <p:nvSpPr>
          <p:cNvPr id="13" name="Shape 11"/>
          <p:cNvSpPr/>
          <p:nvPr/>
        </p:nvSpPr>
        <p:spPr>
          <a:xfrm>
            <a:off x="731520" y="3657600"/>
            <a:ext cx="5074920" cy="2057400"/>
          </a:xfrm>
          <a:prstGeom prst="roundRect">
            <a:avLst>
              <a:gd name="adj" fmla="val 2667"/>
            </a:avLst>
          </a:prstGeom>
          <a:solidFill>
            <a:srgbClr val="FFFDF7"/>
          </a:solidFill>
          <a:ln w="12700">
            <a:solidFill>
              <a:srgbClr val="B6D1D8"/>
            </a:solidFill>
            <a:prstDash val="solid"/>
          </a:ln>
        </p:spPr>
      </p:sp>
      <p:sp>
        <p:nvSpPr>
          <p:cNvPr id="14" name="Shape 12"/>
          <p:cNvSpPr/>
          <p:nvPr/>
        </p:nvSpPr>
        <p:spPr>
          <a:xfrm>
            <a:off x="731520" y="3657600"/>
            <a:ext cx="73152" cy="2057400"/>
          </a:xfrm>
          <a:prstGeom prst="rect">
            <a:avLst/>
          </a:prstGeom>
          <a:solidFill>
            <a:srgbClr val="F2B84B"/>
          </a:solidFill>
          <a:ln w="12700">
            <a:solidFill>
              <a:srgbClr val="F2B84B">
                <a:alpha val="0"/>
              </a:srgbClr>
            </a:solidFill>
            <a:prstDash val="solid"/>
          </a:ln>
        </p:spPr>
      </p:sp>
      <p:sp>
        <p:nvSpPr>
          <p:cNvPr id="15" name="Text 13"/>
          <p:cNvSpPr/>
          <p:nvPr/>
        </p:nvSpPr>
        <p:spPr>
          <a:xfrm>
            <a:off x="896112" y="378561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Student-friendly analogies</a:t>
            </a:r>
            <a:endParaRPr lang="en-US" sz="1400" dirty="0"/>
          </a:p>
        </p:txBody>
      </p:sp>
      <p:sp>
        <p:nvSpPr>
          <p:cNvPr id="16" name="Text 14"/>
          <p:cNvSpPr/>
          <p:nvPr/>
        </p:nvSpPr>
        <p:spPr>
          <a:xfrm>
            <a:off x="896112" y="413308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AND = both requirements met</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OR = at least one door is open</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Implication = a promise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Biconditional = a two-way rule</a:t>
            </a:r>
            <a:endParaRPr lang="en-US" sz="1170" dirty="0"/>
          </a:p>
        </p:txBody>
      </p:sp>
      <p:sp>
        <p:nvSpPr>
          <p:cNvPr id="17" name="Shape 15"/>
          <p:cNvSpPr/>
          <p:nvPr/>
        </p:nvSpPr>
        <p:spPr>
          <a:xfrm>
            <a:off x="6263640" y="1417320"/>
            <a:ext cx="1661160" cy="566928"/>
          </a:xfrm>
          <a:prstGeom prst="rect">
            <a:avLst/>
          </a:prstGeom>
          <a:solidFill>
            <a:srgbClr val="005088"/>
          </a:solidFill>
          <a:ln w="10160">
            <a:solidFill>
              <a:srgbClr val="B6D1D8"/>
            </a:solidFill>
            <a:prstDash val="solid"/>
          </a:ln>
        </p:spPr>
      </p:sp>
      <p:sp>
        <p:nvSpPr>
          <p:cNvPr id="18" name="Text 16"/>
          <p:cNvSpPr/>
          <p:nvPr/>
        </p:nvSpPr>
        <p:spPr>
          <a:xfrm>
            <a:off x="6263640" y="1600200"/>
            <a:ext cx="1661160"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a:t>
            </a:r>
            <a:endParaRPr lang="en-US" sz="1200" dirty="0"/>
          </a:p>
        </p:txBody>
      </p:sp>
      <p:sp>
        <p:nvSpPr>
          <p:cNvPr id="19" name="Shape 17"/>
          <p:cNvSpPr/>
          <p:nvPr/>
        </p:nvSpPr>
        <p:spPr>
          <a:xfrm>
            <a:off x="7924800" y="1417320"/>
            <a:ext cx="1661160" cy="566928"/>
          </a:xfrm>
          <a:prstGeom prst="rect">
            <a:avLst/>
          </a:prstGeom>
          <a:solidFill>
            <a:srgbClr val="005088"/>
          </a:solidFill>
          <a:ln w="10160">
            <a:solidFill>
              <a:srgbClr val="B6D1D8"/>
            </a:solidFill>
            <a:prstDash val="solid"/>
          </a:ln>
        </p:spPr>
      </p:sp>
      <p:sp>
        <p:nvSpPr>
          <p:cNvPr id="20" name="Text 18"/>
          <p:cNvSpPr/>
          <p:nvPr/>
        </p:nvSpPr>
        <p:spPr>
          <a:xfrm>
            <a:off x="7924800" y="1600200"/>
            <a:ext cx="1661160"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Q</a:t>
            </a:r>
            <a:endParaRPr lang="en-US" sz="1200" dirty="0"/>
          </a:p>
        </p:txBody>
      </p:sp>
      <p:sp>
        <p:nvSpPr>
          <p:cNvPr id="21" name="Shape 19"/>
          <p:cNvSpPr/>
          <p:nvPr/>
        </p:nvSpPr>
        <p:spPr>
          <a:xfrm>
            <a:off x="9585960" y="1417320"/>
            <a:ext cx="1661160" cy="566928"/>
          </a:xfrm>
          <a:prstGeom prst="rect">
            <a:avLst/>
          </a:prstGeom>
          <a:solidFill>
            <a:srgbClr val="005088"/>
          </a:solidFill>
          <a:ln w="10160">
            <a:solidFill>
              <a:srgbClr val="B6D1D8"/>
            </a:solidFill>
            <a:prstDash val="solid"/>
          </a:ln>
        </p:spPr>
      </p:sp>
      <p:sp>
        <p:nvSpPr>
          <p:cNvPr id="22" name="Text 20"/>
          <p:cNvSpPr/>
          <p:nvPr/>
        </p:nvSpPr>
        <p:spPr>
          <a:xfrm>
            <a:off x="9585960" y="1600200"/>
            <a:ext cx="1661160" cy="182880"/>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 =&gt; Q</a:t>
            </a:r>
            <a:endParaRPr lang="en-US" sz="1200" dirty="0"/>
          </a:p>
        </p:txBody>
      </p:sp>
      <p:sp>
        <p:nvSpPr>
          <p:cNvPr id="23" name="Shape 21"/>
          <p:cNvSpPr/>
          <p:nvPr/>
        </p:nvSpPr>
        <p:spPr>
          <a:xfrm>
            <a:off x="6263640" y="1984248"/>
            <a:ext cx="1661160" cy="566928"/>
          </a:xfrm>
          <a:prstGeom prst="rect">
            <a:avLst/>
          </a:prstGeom>
          <a:solidFill>
            <a:srgbClr val="FFFFFF"/>
          </a:solidFill>
          <a:ln w="10160">
            <a:solidFill>
              <a:srgbClr val="B6D1D8"/>
            </a:solidFill>
            <a:prstDash val="solid"/>
          </a:ln>
        </p:spPr>
      </p:sp>
      <p:sp>
        <p:nvSpPr>
          <p:cNvPr id="24" name="Text 22"/>
          <p:cNvSpPr/>
          <p:nvPr/>
        </p:nvSpPr>
        <p:spPr>
          <a:xfrm>
            <a:off x="6263640" y="2167128"/>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T</a:t>
            </a:r>
            <a:endParaRPr lang="en-US" sz="1200" dirty="0"/>
          </a:p>
        </p:txBody>
      </p:sp>
      <p:sp>
        <p:nvSpPr>
          <p:cNvPr id="25" name="Shape 23"/>
          <p:cNvSpPr/>
          <p:nvPr/>
        </p:nvSpPr>
        <p:spPr>
          <a:xfrm>
            <a:off x="7924800" y="1984248"/>
            <a:ext cx="1661160" cy="566928"/>
          </a:xfrm>
          <a:prstGeom prst="rect">
            <a:avLst/>
          </a:prstGeom>
          <a:solidFill>
            <a:srgbClr val="FFFFFF"/>
          </a:solidFill>
          <a:ln w="10160">
            <a:solidFill>
              <a:srgbClr val="B6D1D8"/>
            </a:solidFill>
            <a:prstDash val="solid"/>
          </a:ln>
        </p:spPr>
      </p:sp>
      <p:sp>
        <p:nvSpPr>
          <p:cNvPr id="26" name="Text 24"/>
          <p:cNvSpPr/>
          <p:nvPr/>
        </p:nvSpPr>
        <p:spPr>
          <a:xfrm>
            <a:off x="7924800" y="2167128"/>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T</a:t>
            </a:r>
            <a:endParaRPr lang="en-US" sz="1200" dirty="0"/>
          </a:p>
        </p:txBody>
      </p:sp>
      <p:sp>
        <p:nvSpPr>
          <p:cNvPr id="27" name="Shape 25"/>
          <p:cNvSpPr/>
          <p:nvPr/>
        </p:nvSpPr>
        <p:spPr>
          <a:xfrm>
            <a:off x="9585960" y="1984248"/>
            <a:ext cx="1661160" cy="566928"/>
          </a:xfrm>
          <a:prstGeom prst="rect">
            <a:avLst/>
          </a:prstGeom>
          <a:solidFill>
            <a:srgbClr val="FFFFFF"/>
          </a:solidFill>
          <a:ln w="10160">
            <a:solidFill>
              <a:srgbClr val="B6D1D8"/>
            </a:solidFill>
            <a:prstDash val="solid"/>
          </a:ln>
        </p:spPr>
      </p:sp>
      <p:sp>
        <p:nvSpPr>
          <p:cNvPr id="28" name="Text 26"/>
          <p:cNvSpPr/>
          <p:nvPr/>
        </p:nvSpPr>
        <p:spPr>
          <a:xfrm>
            <a:off x="9585960" y="2167128"/>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T</a:t>
            </a:r>
            <a:endParaRPr lang="en-US" sz="1200" dirty="0"/>
          </a:p>
        </p:txBody>
      </p:sp>
      <p:sp>
        <p:nvSpPr>
          <p:cNvPr id="29" name="Shape 27"/>
          <p:cNvSpPr/>
          <p:nvPr/>
        </p:nvSpPr>
        <p:spPr>
          <a:xfrm>
            <a:off x="6263640" y="2551176"/>
            <a:ext cx="1661160" cy="566928"/>
          </a:xfrm>
          <a:prstGeom prst="rect">
            <a:avLst/>
          </a:prstGeom>
          <a:solidFill>
            <a:srgbClr val="FFFFFF"/>
          </a:solidFill>
          <a:ln w="10160">
            <a:solidFill>
              <a:srgbClr val="B6D1D8"/>
            </a:solidFill>
            <a:prstDash val="solid"/>
          </a:ln>
        </p:spPr>
      </p:sp>
      <p:sp>
        <p:nvSpPr>
          <p:cNvPr id="30" name="Text 28"/>
          <p:cNvSpPr/>
          <p:nvPr/>
        </p:nvSpPr>
        <p:spPr>
          <a:xfrm>
            <a:off x="6263640" y="2734056"/>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T</a:t>
            </a:r>
            <a:endParaRPr lang="en-US" sz="1200" dirty="0"/>
          </a:p>
        </p:txBody>
      </p:sp>
      <p:sp>
        <p:nvSpPr>
          <p:cNvPr id="31" name="Shape 29"/>
          <p:cNvSpPr/>
          <p:nvPr/>
        </p:nvSpPr>
        <p:spPr>
          <a:xfrm>
            <a:off x="7924800" y="2551176"/>
            <a:ext cx="1661160" cy="566928"/>
          </a:xfrm>
          <a:prstGeom prst="rect">
            <a:avLst/>
          </a:prstGeom>
          <a:solidFill>
            <a:srgbClr val="FFFFFF"/>
          </a:solidFill>
          <a:ln w="10160">
            <a:solidFill>
              <a:srgbClr val="B6D1D8"/>
            </a:solidFill>
            <a:prstDash val="solid"/>
          </a:ln>
        </p:spPr>
      </p:sp>
      <p:sp>
        <p:nvSpPr>
          <p:cNvPr id="32" name="Text 30"/>
          <p:cNvSpPr/>
          <p:nvPr/>
        </p:nvSpPr>
        <p:spPr>
          <a:xfrm>
            <a:off x="7924800" y="2734056"/>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F</a:t>
            </a:r>
            <a:endParaRPr lang="en-US" sz="1200" dirty="0"/>
          </a:p>
        </p:txBody>
      </p:sp>
      <p:sp>
        <p:nvSpPr>
          <p:cNvPr id="33" name="Shape 31"/>
          <p:cNvSpPr/>
          <p:nvPr/>
        </p:nvSpPr>
        <p:spPr>
          <a:xfrm>
            <a:off x="9585960" y="2551176"/>
            <a:ext cx="1661160" cy="566928"/>
          </a:xfrm>
          <a:prstGeom prst="rect">
            <a:avLst/>
          </a:prstGeom>
          <a:solidFill>
            <a:srgbClr val="FDE2E2"/>
          </a:solidFill>
          <a:ln w="10160">
            <a:solidFill>
              <a:srgbClr val="B6D1D8"/>
            </a:solidFill>
            <a:prstDash val="solid"/>
          </a:ln>
        </p:spPr>
      </p:sp>
      <p:sp>
        <p:nvSpPr>
          <p:cNvPr id="34" name="Text 32"/>
          <p:cNvSpPr/>
          <p:nvPr/>
        </p:nvSpPr>
        <p:spPr>
          <a:xfrm>
            <a:off x="9585960" y="2734056"/>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F</a:t>
            </a:r>
            <a:endParaRPr lang="en-US" sz="1200" dirty="0"/>
          </a:p>
        </p:txBody>
      </p:sp>
      <p:sp>
        <p:nvSpPr>
          <p:cNvPr id="35" name="Shape 33"/>
          <p:cNvSpPr/>
          <p:nvPr/>
        </p:nvSpPr>
        <p:spPr>
          <a:xfrm>
            <a:off x="6263640" y="3118104"/>
            <a:ext cx="1661160" cy="566928"/>
          </a:xfrm>
          <a:prstGeom prst="rect">
            <a:avLst/>
          </a:prstGeom>
          <a:solidFill>
            <a:srgbClr val="FFFFFF"/>
          </a:solidFill>
          <a:ln w="10160">
            <a:solidFill>
              <a:srgbClr val="B6D1D8"/>
            </a:solidFill>
            <a:prstDash val="solid"/>
          </a:ln>
        </p:spPr>
      </p:sp>
      <p:sp>
        <p:nvSpPr>
          <p:cNvPr id="36" name="Text 34"/>
          <p:cNvSpPr/>
          <p:nvPr/>
        </p:nvSpPr>
        <p:spPr>
          <a:xfrm>
            <a:off x="6263640" y="3300984"/>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F</a:t>
            </a:r>
            <a:endParaRPr lang="en-US" sz="1200" dirty="0"/>
          </a:p>
        </p:txBody>
      </p:sp>
      <p:sp>
        <p:nvSpPr>
          <p:cNvPr id="37" name="Shape 35"/>
          <p:cNvSpPr/>
          <p:nvPr/>
        </p:nvSpPr>
        <p:spPr>
          <a:xfrm>
            <a:off x="7924800" y="3118104"/>
            <a:ext cx="1661160" cy="566928"/>
          </a:xfrm>
          <a:prstGeom prst="rect">
            <a:avLst/>
          </a:prstGeom>
          <a:solidFill>
            <a:srgbClr val="FFFFFF"/>
          </a:solidFill>
          <a:ln w="10160">
            <a:solidFill>
              <a:srgbClr val="B6D1D8"/>
            </a:solidFill>
            <a:prstDash val="solid"/>
          </a:ln>
        </p:spPr>
      </p:sp>
      <p:sp>
        <p:nvSpPr>
          <p:cNvPr id="38" name="Text 36"/>
          <p:cNvSpPr/>
          <p:nvPr/>
        </p:nvSpPr>
        <p:spPr>
          <a:xfrm>
            <a:off x="7924800" y="3300984"/>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T</a:t>
            </a:r>
            <a:endParaRPr lang="en-US" sz="1200" dirty="0"/>
          </a:p>
        </p:txBody>
      </p:sp>
      <p:sp>
        <p:nvSpPr>
          <p:cNvPr id="39" name="Shape 37"/>
          <p:cNvSpPr/>
          <p:nvPr/>
        </p:nvSpPr>
        <p:spPr>
          <a:xfrm>
            <a:off x="9585960" y="3118104"/>
            <a:ext cx="1661160" cy="566928"/>
          </a:xfrm>
          <a:prstGeom prst="rect">
            <a:avLst/>
          </a:prstGeom>
          <a:solidFill>
            <a:srgbClr val="FFFFFF"/>
          </a:solidFill>
          <a:ln w="10160">
            <a:solidFill>
              <a:srgbClr val="B6D1D8"/>
            </a:solidFill>
            <a:prstDash val="solid"/>
          </a:ln>
        </p:spPr>
      </p:sp>
      <p:sp>
        <p:nvSpPr>
          <p:cNvPr id="40" name="Text 38"/>
          <p:cNvSpPr/>
          <p:nvPr/>
        </p:nvSpPr>
        <p:spPr>
          <a:xfrm>
            <a:off x="9585960" y="3300984"/>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T</a:t>
            </a:r>
            <a:endParaRPr lang="en-US" sz="1200" dirty="0"/>
          </a:p>
        </p:txBody>
      </p:sp>
      <p:sp>
        <p:nvSpPr>
          <p:cNvPr id="41" name="Shape 39"/>
          <p:cNvSpPr/>
          <p:nvPr/>
        </p:nvSpPr>
        <p:spPr>
          <a:xfrm>
            <a:off x="6263640" y="3685032"/>
            <a:ext cx="1661160" cy="566928"/>
          </a:xfrm>
          <a:prstGeom prst="rect">
            <a:avLst/>
          </a:prstGeom>
          <a:solidFill>
            <a:srgbClr val="FFFFFF"/>
          </a:solidFill>
          <a:ln w="10160">
            <a:solidFill>
              <a:srgbClr val="B6D1D8"/>
            </a:solidFill>
            <a:prstDash val="solid"/>
          </a:ln>
        </p:spPr>
      </p:sp>
      <p:sp>
        <p:nvSpPr>
          <p:cNvPr id="42" name="Text 40"/>
          <p:cNvSpPr/>
          <p:nvPr/>
        </p:nvSpPr>
        <p:spPr>
          <a:xfrm>
            <a:off x="6263640" y="3867912"/>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F</a:t>
            </a:r>
            <a:endParaRPr lang="en-US" sz="1200" dirty="0"/>
          </a:p>
        </p:txBody>
      </p:sp>
      <p:sp>
        <p:nvSpPr>
          <p:cNvPr id="43" name="Shape 41"/>
          <p:cNvSpPr/>
          <p:nvPr/>
        </p:nvSpPr>
        <p:spPr>
          <a:xfrm>
            <a:off x="7924800" y="3685032"/>
            <a:ext cx="1661160" cy="566928"/>
          </a:xfrm>
          <a:prstGeom prst="rect">
            <a:avLst/>
          </a:prstGeom>
          <a:solidFill>
            <a:srgbClr val="FFFFFF"/>
          </a:solidFill>
          <a:ln w="10160">
            <a:solidFill>
              <a:srgbClr val="B6D1D8"/>
            </a:solidFill>
            <a:prstDash val="solid"/>
          </a:ln>
        </p:spPr>
      </p:sp>
      <p:sp>
        <p:nvSpPr>
          <p:cNvPr id="44" name="Text 42"/>
          <p:cNvSpPr/>
          <p:nvPr/>
        </p:nvSpPr>
        <p:spPr>
          <a:xfrm>
            <a:off x="7924800" y="3867912"/>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F</a:t>
            </a:r>
            <a:endParaRPr lang="en-US" sz="1200" dirty="0"/>
          </a:p>
        </p:txBody>
      </p:sp>
      <p:sp>
        <p:nvSpPr>
          <p:cNvPr id="45" name="Shape 43"/>
          <p:cNvSpPr/>
          <p:nvPr/>
        </p:nvSpPr>
        <p:spPr>
          <a:xfrm>
            <a:off x="9585960" y="3685032"/>
            <a:ext cx="1661160" cy="566928"/>
          </a:xfrm>
          <a:prstGeom prst="rect">
            <a:avLst/>
          </a:prstGeom>
          <a:solidFill>
            <a:srgbClr val="FFFFFF"/>
          </a:solidFill>
          <a:ln w="10160">
            <a:solidFill>
              <a:srgbClr val="B6D1D8"/>
            </a:solidFill>
            <a:prstDash val="solid"/>
          </a:ln>
        </p:spPr>
      </p:sp>
      <p:sp>
        <p:nvSpPr>
          <p:cNvPr id="46" name="Text 44"/>
          <p:cNvSpPr/>
          <p:nvPr/>
        </p:nvSpPr>
        <p:spPr>
          <a:xfrm>
            <a:off x="9585960" y="3867912"/>
            <a:ext cx="1661160" cy="182880"/>
          </a:xfrm>
          <a:prstGeom prst="rect">
            <a:avLst/>
          </a:prstGeom>
          <a:noFill/>
          <a:ln/>
        </p:spPr>
        <p:txBody>
          <a:bodyPr wrap="square" lIns="0" tIns="0" rIns="0" bIns="0" rtlCol="0" anchor="ctr"/>
          <a:lstStyle/>
          <a:p>
            <a:pPr algn="ctr" indent="0" marL="0">
              <a:buNone/>
            </a:pPr>
            <a:r>
              <a:rPr lang="en-US" sz="1200" dirty="0">
                <a:solidFill>
                  <a:srgbClr val="1E293B"/>
                </a:solidFill>
                <a:latin typeface="Aptos" pitchFamily="34" charset="0"/>
                <a:ea typeface="Aptos" pitchFamily="34" charset="-122"/>
                <a:cs typeface="Aptos" pitchFamily="34" charset="-120"/>
              </a:rPr>
              <a:t>T</a:t>
            </a:r>
            <a:endParaRPr lang="en-US" sz="1200" dirty="0"/>
          </a:p>
        </p:txBody>
      </p:sp>
      <p:sp>
        <p:nvSpPr>
          <p:cNvPr id="47" name="Text 45"/>
          <p:cNvSpPr/>
          <p:nvPr/>
        </p:nvSpPr>
        <p:spPr>
          <a:xfrm>
            <a:off x="6263640" y="4416552"/>
            <a:ext cx="4983480" cy="457200"/>
          </a:xfrm>
          <a:prstGeom prst="rect">
            <a:avLst/>
          </a:prstGeom>
          <a:noFill/>
          <a:ln/>
        </p:spPr>
        <p:txBody>
          <a:bodyPr wrap="square" lIns="0" tIns="0" rIns="0" bIns="0" rtlCol="0" anchor="ctr">
            <a:normAutofit/>
          </a:bodyPr>
          <a:lstStyle/>
          <a:p>
            <a:pPr algn="ctr" indent="0" marL="0">
              <a:buNone/>
            </a:pPr>
            <a:r>
              <a:rPr lang="en-US" sz="1020" i="1" dirty="0">
                <a:solidFill>
                  <a:srgbClr val="64748B"/>
                </a:solidFill>
                <a:latin typeface="Aptos" pitchFamily="34" charset="0"/>
                <a:ea typeface="Aptos" pitchFamily="34" charset="-122"/>
                <a:cs typeface="Aptos" pitchFamily="34" charset="-120"/>
              </a:rPr>
              <a:t>Implication is false only when the promise is broken: P true, Q false.</a:t>
            </a:r>
            <a:endParaRPr lang="en-US" sz="10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7.8: Truth Tables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Truth tables define the semantics of connectives.</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8_truth_table.png">    </p:cNvPr>
          <p:cNvPicPr>
            <a:picLocks noChangeAspect="1"/>
          </p:cNvPicPr>
          <p:nvPr/>
        </p:nvPicPr>
        <p:blipFill>
          <a:blip r:embed="rId1"/>
          <a:stretch>
            <a:fillRect/>
          </a:stretch>
        </p:blipFill>
        <p:spPr>
          <a:xfrm>
            <a:off x="731520" y="2169830"/>
            <a:ext cx="6080760" cy="2929821"/>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7.8: Truth tables for logical connectives</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Rows are models</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Each row is one possible truth assignment.</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Columns are sentences</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Evaluate complex sentences from simpler parts.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E76F51"/>
          </a:solidFill>
          <a:ln w="12700">
            <a:solidFill>
              <a:srgbClr val="E76F51">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Implication row</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P ⇒ Q is false only when P is true and Q is false.</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6B5CA5"/>
          </a:solidFill>
          <a:ln w="12700">
            <a:solidFill>
              <a:srgbClr val="6B5CA5">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Use in algorithms</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Model checking is truth-table reasoning at scale.</a:t>
            </a:r>
            <a:endParaRPr lang="en-US" sz="10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35</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The Implication Gotcha</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Why P ⇒ Q feels strange at first.</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Promise interpretation</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"If it rains, I will bring an umbrella." The promise is broken only if it rains and I do not bring it.</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False premise</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If it does not rain, the promise was not broken, regardless of the umbrella.</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Logic table</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That is why False ⇒ True and False ⇒ False are both true.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36</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A Simple Wumpus KB in Propositional Logic</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Encoding background knowledge as sentences.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Example symbol</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B_1,1 means there is a breeze in square [1,1].</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Example rule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B_1,1 ⇔ (P_1,2 OR P_2,1).</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Example percept</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NOT B_1,1.</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Query</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Does KB entail NOT P_1,2?</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6B5CA5"/>
        </a:solidFill>
      </p:bgPr>
    </p:bg>
    <p:spTree>
      <p:nvGrpSpPr>
        <p:cNvPr id="1" name=""/>
        <p:cNvGrpSpPr/>
        <p:nvPr/>
      </p:nvGrpSpPr>
      <p:grpSpPr>
        <a:xfrm>
          <a:off x="0" y="0"/>
          <a:ext cx="0" cy="0"/>
          <a:chOff x="0" y="0"/>
          <a:chExt cx="0" cy="0"/>
        </a:xfrm>
      </p:grpSpPr>
      <p:sp>
        <p:nvSpPr>
          <p:cNvPr id="2" name="Text 0"/>
          <p:cNvSpPr/>
          <p:nvPr/>
        </p:nvSpPr>
        <p:spPr>
          <a:xfrm>
            <a:off x="594360" y="502920"/>
            <a:ext cx="1828800" cy="320040"/>
          </a:xfrm>
          <a:prstGeom prst="rect">
            <a:avLst/>
          </a:prstGeom>
          <a:noFill/>
          <a:ln/>
        </p:spPr>
        <p:txBody>
          <a:bodyPr wrap="square" lIns="0" tIns="0" rIns="0" bIns="0" rtlCol="0" anchor="ctr"/>
          <a:lstStyle/>
          <a:p>
            <a:pPr indent="0" marL="0">
              <a:buNone/>
            </a:pPr>
            <a:r>
              <a:rPr lang="en-US" sz="1300" b="1" dirty="0">
                <a:solidFill>
                  <a:srgbClr val="BDEEEE"/>
                </a:solidFill>
                <a:latin typeface="Aptos" pitchFamily="34" charset="0"/>
                <a:ea typeface="Aptos" pitchFamily="34" charset="-122"/>
                <a:cs typeface="Aptos" pitchFamily="34" charset="-120"/>
              </a:rPr>
              <a:t>SECTION 4</a:t>
            </a:r>
            <a:endParaRPr lang="en-US" sz="1300" dirty="0"/>
          </a:p>
        </p:txBody>
      </p:sp>
      <p:sp>
        <p:nvSpPr>
          <p:cNvPr id="3" name="Text 1"/>
          <p:cNvSpPr/>
          <p:nvPr/>
        </p:nvSpPr>
        <p:spPr>
          <a:xfrm>
            <a:off x="594360" y="1097280"/>
            <a:ext cx="10698480" cy="109728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Model Checking</a:t>
            </a:r>
            <a:endParaRPr lang="en-US" sz="4200" dirty="0"/>
          </a:p>
        </p:txBody>
      </p:sp>
      <p:sp>
        <p:nvSpPr>
          <p:cNvPr id="4" name="Text 2"/>
          <p:cNvSpPr/>
          <p:nvPr/>
        </p:nvSpPr>
        <p:spPr>
          <a:xfrm>
            <a:off x="640080" y="2304288"/>
            <a:ext cx="10607040" cy="548640"/>
          </a:xfrm>
          <a:prstGeom prst="rect">
            <a:avLst/>
          </a:prstGeom>
          <a:noFill/>
          <a:ln/>
        </p:spPr>
        <p:txBody>
          <a:bodyPr wrap="square" lIns="0" tIns="0" rIns="0" bIns="0" rtlCol="0" anchor="ctr">
            <a:normAutofit/>
          </a:bodyPr>
          <a:lstStyle/>
          <a:p>
            <a:pPr indent="0" marL="0">
              <a:buNone/>
            </a:pPr>
            <a:r>
              <a:rPr lang="en-US" sz="1800" dirty="0">
                <a:solidFill>
                  <a:srgbClr val="D9F6F6"/>
                </a:solidFill>
                <a:latin typeface="Aptos" pitchFamily="34" charset="0"/>
                <a:ea typeface="Aptos" pitchFamily="34" charset="-122"/>
                <a:cs typeface="Aptos" pitchFamily="34" charset="-120"/>
              </a:rPr>
              <a:t>Entailment by enumerating possible worlds.</a:t>
            </a:r>
            <a:endParaRPr lang="en-US" sz="1800" dirty="0"/>
          </a:p>
        </p:txBody>
      </p:sp>
      <p:sp>
        <p:nvSpPr>
          <p:cNvPr id="5" name="Shape 3"/>
          <p:cNvSpPr/>
          <p:nvPr/>
        </p:nvSpPr>
        <p:spPr>
          <a:xfrm>
            <a:off x="685800" y="3657600"/>
            <a:ext cx="3413760" cy="1417320"/>
          </a:xfrm>
          <a:prstGeom prst="roundRect">
            <a:avLst>
              <a:gd name="adj" fmla="val 3871"/>
            </a:avLst>
          </a:prstGeom>
          <a:solidFill>
            <a:srgbClr val="F8FBFB"/>
          </a:solidFill>
          <a:ln w="12700">
            <a:solidFill>
              <a:srgbClr val="B6D1D8"/>
            </a:solidFill>
            <a:prstDash val="solid"/>
          </a:ln>
        </p:spPr>
      </p:sp>
      <p:sp>
        <p:nvSpPr>
          <p:cNvPr id="6" name="Shape 4"/>
          <p:cNvSpPr/>
          <p:nvPr/>
        </p:nvSpPr>
        <p:spPr>
          <a:xfrm>
            <a:off x="685800" y="3657600"/>
            <a:ext cx="73152" cy="1417320"/>
          </a:xfrm>
          <a:prstGeom prst="rect">
            <a:avLst/>
          </a:prstGeom>
          <a:solidFill>
            <a:srgbClr val="F2B84B"/>
          </a:solidFill>
          <a:ln w="12700">
            <a:solidFill>
              <a:srgbClr val="F2B84B">
                <a:alpha val="0"/>
              </a:srgbClr>
            </a:solidFill>
            <a:prstDash val="solid"/>
          </a:ln>
        </p:spPr>
      </p:sp>
      <p:sp>
        <p:nvSpPr>
          <p:cNvPr id="7" name="Text 5"/>
          <p:cNvSpPr/>
          <p:nvPr/>
        </p:nvSpPr>
        <p:spPr>
          <a:xfrm>
            <a:off x="85039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List models</a:t>
            </a:r>
            <a:endParaRPr lang="en-US" sz="1200" dirty="0"/>
          </a:p>
        </p:txBody>
      </p:sp>
      <p:sp>
        <p:nvSpPr>
          <p:cNvPr id="8" name="Text 6"/>
          <p:cNvSpPr/>
          <p:nvPr/>
        </p:nvSpPr>
        <p:spPr>
          <a:xfrm>
            <a:off x="85039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Try all truth assignments for the symbols.</a:t>
            </a:r>
            <a:endParaRPr lang="en-US" sz="1000" dirty="0"/>
          </a:p>
        </p:txBody>
      </p:sp>
      <p:sp>
        <p:nvSpPr>
          <p:cNvPr id="9" name="Shape 7"/>
          <p:cNvSpPr/>
          <p:nvPr/>
        </p:nvSpPr>
        <p:spPr>
          <a:xfrm>
            <a:off x="4373880" y="3657600"/>
            <a:ext cx="3413760" cy="1417320"/>
          </a:xfrm>
          <a:prstGeom prst="roundRect">
            <a:avLst>
              <a:gd name="adj" fmla="val 3871"/>
            </a:avLst>
          </a:prstGeom>
          <a:solidFill>
            <a:srgbClr val="F8FBFB"/>
          </a:solidFill>
          <a:ln w="12700">
            <a:solidFill>
              <a:srgbClr val="B6D1D8"/>
            </a:solidFill>
            <a:prstDash val="solid"/>
          </a:ln>
        </p:spPr>
      </p:sp>
      <p:sp>
        <p:nvSpPr>
          <p:cNvPr id="10" name="Shape 8"/>
          <p:cNvSpPr/>
          <p:nvPr/>
        </p:nvSpPr>
        <p:spPr>
          <a:xfrm>
            <a:off x="4373880" y="3657600"/>
            <a:ext cx="73152" cy="1417320"/>
          </a:xfrm>
          <a:prstGeom prst="rect">
            <a:avLst/>
          </a:prstGeom>
          <a:solidFill>
            <a:srgbClr val="168A8A"/>
          </a:solidFill>
          <a:ln w="12700">
            <a:solidFill>
              <a:srgbClr val="168A8A">
                <a:alpha val="0"/>
              </a:srgbClr>
            </a:solidFill>
            <a:prstDash val="solid"/>
          </a:ln>
        </p:spPr>
      </p:sp>
      <p:sp>
        <p:nvSpPr>
          <p:cNvPr id="11" name="Text 9"/>
          <p:cNvSpPr/>
          <p:nvPr/>
        </p:nvSpPr>
        <p:spPr>
          <a:xfrm>
            <a:off x="453847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Filter by KB</a:t>
            </a:r>
            <a:endParaRPr lang="en-US" sz="1200" dirty="0"/>
          </a:p>
        </p:txBody>
      </p:sp>
      <p:sp>
        <p:nvSpPr>
          <p:cNvPr id="12" name="Text 10"/>
          <p:cNvSpPr/>
          <p:nvPr/>
        </p:nvSpPr>
        <p:spPr>
          <a:xfrm>
            <a:off x="453847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Keep worlds where the KB is true.</a:t>
            </a:r>
            <a:endParaRPr lang="en-US" sz="1000" dirty="0"/>
          </a:p>
        </p:txBody>
      </p:sp>
      <p:sp>
        <p:nvSpPr>
          <p:cNvPr id="13" name="Shape 11"/>
          <p:cNvSpPr/>
          <p:nvPr/>
        </p:nvSpPr>
        <p:spPr>
          <a:xfrm>
            <a:off x="8061960" y="3657600"/>
            <a:ext cx="3413760" cy="1417320"/>
          </a:xfrm>
          <a:prstGeom prst="roundRect">
            <a:avLst>
              <a:gd name="adj" fmla="val 3871"/>
            </a:avLst>
          </a:prstGeom>
          <a:solidFill>
            <a:srgbClr val="F8FBFB"/>
          </a:solidFill>
          <a:ln w="12700">
            <a:solidFill>
              <a:srgbClr val="B6D1D8"/>
            </a:solidFill>
            <a:prstDash val="solid"/>
          </a:ln>
        </p:spPr>
      </p:sp>
      <p:sp>
        <p:nvSpPr>
          <p:cNvPr id="14" name="Shape 12"/>
          <p:cNvSpPr/>
          <p:nvPr/>
        </p:nvSpPr>
        <p:spPr>
          <a:xfrm>
            <a:off x="8061960" y="3657600"/>
            <a:ext cx="73152" cy="1417320"/>
          </a:xfrm>
          <a:prstGeom prst="rect">
            <a:avLst/>
          </a:prstGeom>
          <a:solidFill>
            <a:srgbClr val="F2B84B"/>
          </a:solidFill>
          <a:ln w="12700">
            <a:solidFill>
              <a:srgbClr val="F2B84B">
                <a:alpha val="0"/>
              </a:srgbClr>
            </a:solidFill>
            <a:prstDash val="solid"/>
          </a:ln>
        </p:spPr>
      </p:sp>
      <p:sp>
        <p:nvSpPr>
          <p:cNvPr id="15" name="Text 13"/>
          <p:cNvSpPr/>
          <p:nvPr/>
        </p:nvSpPr>
        <p:spPr>
          <a:xfrm>
            <a:off x="822655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Test query</a:t>
            </a:r>
            <a:endParaRPr lang="en-US" sz="1200" dirty="0"/>
          </a:p>
        </p:txBody>
      </p:sp>
      <p:sp>
        <p:nvSpPr>
          <p:cNvPr id="16" name="Text 14"/>
          <p:cNvSpPr/>
          <p:nvPr/>
        </p:nvSpPr>
        <p:spPr>
          <a:xfrm>
            <a:off x="822655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If alpha is true in all remaining worlds, KB entails alpha.</a:t>
            </a:r>
            <a:endParaRPr lang="en-US" sz="1000" dirty="0"/>
          </a:p>
        </p:txBody>
      </p:sp>
      <p:sp>
        <p:nvSpPr>
          <p:cNvPr id="17" name="Text 15"/>
          <p:cNvSpPr/>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BDEEEE"/>
                </a:solidFill>
                <a:latin typeface="Aptos" pitchFamily="34" charset="0"/>
                <a:ea typeface="Aptos" pitchFamily="34" charset="-122"/>
                <a:cs typeface="Aptos" pitchFamily="34" charset="-120"/>
              </a:rPr>
              <a:t>COMP 469 | CSU Channel Islands</a:t>
            </a:r>
            <a:endParaRPr lang="en-US" sz="900" dirty="0"/>
          </a:p>
        </p:txBody>
      </p:sp>
      <p:sp>
        <p:nvSpPr>
          <p:cNvPr id="18" name="Text 16"/>
          <p:cNvSpPr/>
          <p:nvPr/>
        </p:nvSpPr>
        <p:spPr>
          <a:xfrm>
            <a:off x="11201400" y="6327648"/>
            <a:ext cx="411480" cy="256032"/>
          </a:xfrm>
          <a:prstGeom prst="rect">
            <a:avLst/>
          </a:prstGeom>
          <a:noFill/>
          <a:ln/>
        </p:spPr>
        <p:txBody>
          <a:bodyPr wrap="square" lIns="0" tIns="0" rIns="0" bIns="0"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38</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7.5: Possible Worlds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visual way to understand entailment in Wumpus World.</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5_possible_models.png">    </p:cNvPr>
          <p:cNvPicPr>
            <a:picLocks noChangeAspect="1"/>
          </p:cNvPicPr>
          <p:nvPr/>
        </p:nvPicPr>
        <p:blipFill>
          <a:blip r:embed="rId1"/>
          <a:stretch>
            <a:fillRect/>
          </a:stretch>
        </p:blipFill>
        <p:spPr>
          <a:xfrm>
            <a:off x="731520" y="2020379"/>
            <a:ext cx="6080760" cy="3228722"/>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7.5: Possible models for pit locations</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Each world</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 different placement of hidden pits.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KB filter</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Percepts eliminate worlds inconsistent with observations.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Query test</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If all KB-compatible worlds agree, the query is entailed.</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Key point</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Reasoning is set intersection over possible worlds.</a:t>
            </a:r>
            <a:endParaRPr lang="en-US" sz="10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39</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7.6: Entailment as Models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Entailment is about all worlds where the KB is true.</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6_entailment.png">    </p:cNvPr>
          <p:cNvPicPr>
            <a:picLocks noChangeAspect="1"/>
          </p:cNvPicPr>
          <p:nvPr/>
        </p:nvPicPr>
        <p:blipFill>
          <a:blip r:embed="rId1"/>
          <a:stretch>
            <a:fillRect/>
          </a:stretch>
        </p:blipFill>
        <p:spPr>
          <a:xfrm>
            <a:off x="731520" y="2297536"/>
            <a:ext cx="6080760" cy="2674408"/>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7.6: Sentences as sets of physical configurations</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Sentence = set of models</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 sentence is true in some worlds and false in others.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KB = intersection</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All sentences in the KB must be true together.</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Entailment = containment</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KB worlds are contained in the query worlds.</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Powerful image</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This is the semantic meaning behind logical reasoning.</a:t>
            </a:r>
            <a:endParaRPr lang="en-US" sz="10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40</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7.9: Wumpus Truth Table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Model checking for a small Wumpus inference.</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9_wumpus_truth_table.png">    </p:cNvPr>
          <p:cNvPicPr>
            <a:picLocks noChangeAspect="1"/>
          </p:cNvPicPr>
          <p:nvPr/>
        </p:nvPicPr>
        <p:blipFill>
          <a:blip r:embed="rId1"/>
          <a:stretch>
            <a:fillRect/>
          </a:stretch>
        </p:blipFill>
        <p:spPr>
          <a:xfrm>
            <a:off x="731520" y="1767840"/>
            <a:ext cx="6080760" cy="3733800"/>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7.9: Truth table for a Wumpus KB and query</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Columns</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Symbols and derived sentences in the KB.</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Rows</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Possible assignments of truth values.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Entailment test</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Check query in every row where KB is true.</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Scaling issue</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More symbols means exponentially more rows.</a:t>
            </a:r>
            <a:endParaRPr lang="en-US" sz="102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41</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7.10: TT-ENTAILS?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recursive algorithm for truth-table entailment.</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0_tt_entails.png">    </p:cNvPr>
          <p:cNvPicPr>
            <a:picLocks noChangeAspect="1"/>
          </p:cNvPicPr>
          <p:nvPr/>
        </p:nvPicPr>
        <p:blipFill>
          <a:blip r:embed="rId1"/>
          <a:stretch>
            <a:fillRect/>
          </a:stretch>
        </p:blipFill>
        <p:spPr>
          <a:xfrm>
            <a:off x="731520" y="1874520"/>
            <a:ext cx="6080760" cy="3520440"/>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7.10: Truth-table enumeration algorithm</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Depth-first enumeration</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Assign each symbol true/false recursively.</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Base case</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When all symbols are assigned, test KB and query.</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2F855A"/>
          </a:solidFill>
          <a:ln w="12700">
            <a:solidFill>
              <a:srgbClr val="2F855A">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Sound and complete</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It matches the semantic definition of entailment.</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Expensive</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number of models grows as 2^n.</a:t>
            </a:r>
            <a:endParaRPr lang="en-US" sz="10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Complexity of Model Checking</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Conceptually easy does not mean computationally easy.</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n symbols</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There are 2^n possible models.</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E76F51"/>
          </a:solidFill>
          <a:ln w="12700">
            <a:solidFill>
              <a:srgbClr val="E76F51">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Time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Truth-table entailment is exponential in the number of symbols.</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F2B84B"/>
          </a:solidFill>
          <a:ln w="12700">
            <a:solidFill>
              <a:srgbClr val="F2B84B">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Space</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Recursive depth-first enumeration can use only linear space.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Motivation</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We need smarter algorithms: theorem proving, DPLL, WalkSAT.</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43B5C"/>
        </a:solidFill>
      </p:bgPr>
    </p:bg>
    <p:spTree>
      <p:nvGrpSpPr>
        <p:cNvPr id="1" name=""/>
        <p:cNvGrpSpPr/>
        <p:nvPr/>
      </p:nvGrpSpPr>
      <p:grpSpPr>
        <a:xfrm>
          <a:off x="0" y="0"/>
          <a:ext cx="0" cy="0"/>
          <a:chOff x="0" y="0"/>
          <a:chExt cx="0" cy="0"/>
        </a:xfrm>
      </p:grpSpPr>
      <p:sp>
        <p:nvSpPr>
          <p:cNvPr id="2" name="Text 0"/>
          <p:cNvSpPr/>
          <p:nvPr/>
        </p:nvSpPr>
        <p:spPr>
          <a:xfrm>
            <a:off x="594360" y="502920"/>
            <a:ext cx="1828800" cy="320040"/>
          </a:xfrm>
          <a:prstGeom prst="rect">
            <a:avLst/>
          </a:prstGeom>
          <a:noFill/>
          <a:ln/>
        </p:spPr>
        <p:txBody>
          <a:bodyPr wrap="square" lIns="0" tIns="0" rIns="0" bIns="0" rtlCol="0" anchor="ctr"/>
          <a:lstStyle/>
          <a:p>
            <a:pPr indent="0" marL="0">
              <a:buNone/>
            </a:pPr>
            <a:r>
              <a:rPr lang="en-US" sz="1300" b="1" dirty="0">
                <a:solidFill>
                  <a:srgbClr val="BDEEEE"/>
                </a:solidFill>
                <a:latin typeface="Aptos" pitchFamily="34" charset="0"/>
                <a:ea typeface="Aptos" pitchFamily="34" charset="-122"/>
                <a:cs typeface="Aptos" pitchFamily="34" charset="-120"/>
              </a:rPr>
              <a:t>SECTION 5</a:t>
            </a:r>
            <a:endParaRPr lang="en-US" sz="1300" dirty="0"/>
          </a:p>
        </p:txBody>
      </p:sp>
      <p:sp>
        <p:nvSpPr>
          <p:cNvPr id="3" name="Text 1"/>
          <p:cNvSpPr/>
          <p:nvPr/>
        </p:nvSpPr>
        <p:spPr>
          <a:xfrm>
            <a:off x="594360" y="1097280"/>
            <a:ext cx="10698480" cy="109728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Theorem Proving</a:t>
            </a:r>
            <a:endParaRPr lang="en-US" sz="4200" dirty="0"/>
          </a:p>
        </p:txBody>
      </p:sp>
      <p:sp>
        <p:nvSpPr>
          <p:cNvPr id="4" name="Text 2"/>
          <p:cNvSpPr/>
          <p:nvPr/>
        </p:nvSpPr>
        <p:spPr>
          <a:xfrm>
            <a:off x="640080" y="2304288"/>
            <a:ext cx="10607040" cy="548640"/>
          </a:xfrm>
          <a:prstGeom prst="rect">
            <a:avLst/>
          </a:prstGeom>
          <a:noFill/>
          <a:ln/>
        </p:spPr>
        <p:txBody>
          <a:bodyPr wrap="square" lIns="0" tIns="0" rIns="0" bIns="0" rtlCol="0" anchor="ctr">
            <a:normAutofit/>
          </a:bodyPr>
          <a:lstStyle/>
          <a:p>
            <a:pPr indent="0" marL="0">
              <a:buNone/>
            </a:pPr>
            <a:r>
              <a:rPr lang="en-US" sz="1800" dirty="0">
                <a:solidFill>
                  <a:srgbClr val="D9F6F6"/>
                </a:solidFill>
                <a:latin typeface="Aptos" pitchFamily="34" charset="0"/>
                <a:ea typeface="Aptos" pitchFamily="34" charset="-122"/>
                <a:cs typeface="Aptos" pitchFamily="34" charset="-120"/>
              </a:rPr>
              <a:t>Derive conclusions by manipulating sentences instead of enumerating worlds.</a:t>
            </a:r>
            <a:endParaRPr lang="en-US" sz="1800" dirty="0"/>
          </a:p>
        </p:txBody>
      </p:sp>
      <p:sp>
        <p:nvSpPr>
          <p:cNvPr id="5" name="Shape 3"/>
          <p:cNvSpPr/>
          <p:nvPr/>
        </p:nvSpPr>
        <p:spPr>
          <a:xfrm>
            <a:off x="685800" y="3657600"/>
            <a:ext cx="3413760" cy="1417320"/>
          </a:xfrm>
          <a:prstGeom prst="roundRect">
            <a:avLst>
              <a:gd name="adj" fmla="val 3871"/>
            </a:avLst>
          </a:prstGeom>
          <a:solidFill>
            <a:srgbClr val="F8FBFB"/>
          </a:solidFill>
          <a:ln w="12700">
            <a:solidFill>
              <a:srgbClr val="B6D1D8"/>
            </a:solidFill>
            <a:prstDash val="solid"/>
          </a:ln>
        </p:spPr>
      </p:sp>
      <p:sp>
        <p:nvSpPr>
          <p:cNvPr id="6" name="Shape 4"/>
          <p:cNvSpPr/>
          <p:nvPr/>
        </p:nvSpPr>
        <p:spPr>
          <a:xfrm>
            <a:off x="685800" y="3657600"/>
            <a:ext cx="73152" cy="1417320"/>
          </a:xfrm>
          <a:prstGeom prst="rect">
            <a:avLst/>
          </a:prstGeom>
          <a:solidFill>
            <a:srgbClr val="F2B84B"/>
          </a:solidFill>
          <a:ln w="12700">
            <a:solidFill>
              <a:srgbClr val="F2B84B">
                <a:alpha val="0"/>
              </a:srgbClr>
            </a:solidFill>
            <a:prstDash val="solid"/>
          </a:ln>
        </p:spPr>
      </p:sp>
      <p:sp>
        <p:nvSpPr>
          <p:cNvPr id="7" name="Text 5"/>
          <p:cNvSpPr/>
          <p:nvPr/>
        </p:nvSpPr>
        <p:spPr>
          <a:xfrm>
            <a:off x="85039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Proof</a:t>
            </a:r>
            <a:endParaRPr lang="en-US" sz="1200" dirty="0"/>
          </a:p>
        </p:txBody>
      </p:sp>
      <p:sp>
        <p:nvSpPr>
          <p:cNvPr id="8" name="Text 6"/>
          <p:cNvSpPr/>
          <p:nvPr/>
        </p:nvSpPr>
        <p:spPr>
          <a:xfrm>
            <a:off x="85039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A chain of sound inference steps.</a:t>
            </a:r>
            <a:endParaRPr lang="en-US" sz="1000" dirty="0"/>
          </a:p>
        </p:txBody>
      </p:sp>
      <p:sp>
        <p:nvSpPr>
          <p:cNvPr id="9" name="Shape 7"/>
          <p:cNvSpPr/>
          <p:nvPr/>
        </p:nvSpPr>
        <p:spPr>
          <a:xfrm>
            <a:off x="4373880" y="3657600"/>
            <a:ext cx="3413760" cy="1417320"/>
          </a:xfrm>
          <a:prstGeom prst="roundRect">
            <a:avLst>
              <a:gd name="adj" fmla="val 3871"/>
            </a:avLst>
          </a:prstGeom>
          <a:solidFill>
            <a:srgbClr val="F8FBFB"/>
          </a:solidFill>
          <a:ln w="12700">
            <a:solidFill>
              <a:srgbClr val="B6D1D8"/>
            </a:solidFill>
            <a:prstDash val="solid"/>
          </a:ln>
        </p:spPr>
      </p:sp>
      <p:sp>
        <p:nvSpPr>
          <p:cNvPr id="10" name="Shape 8"/>
          <p:cNvSpPr/>
          <p:nvPr/>
        </p:nvSpPr>
        <p:spPr>
          <a:xfrm>
            <a:off x="4373880" y="3657600"/>
            <a:ext cx="73152" cy="1417320"/>
          </a:xfrm>
          <a:prstGeom prst="rect">
            <a:avLst/>
          </a:prstGeom>
          <a:solidFill>
            <a:srgbClr val="168A8A"/>
          </a:solidFill>
          <a:ln w="12700">
            <a:solidFill>
              <a:srgbClr val="168A8A">
                <a:alpha val="0"/>
              </a:srgbClr>
            </a:solidFill>
            <a:prstDash val="solid"/>
          </a:ln>
        </p:spPr>
      </p:sp>
      <p:sp>
        <p:nvSpPr>
          <p:cNvPr id="11" name="Text 9"/>
          <p:cNvSpPr/>
          <p:nvPr/>
        </p:nvSpPr>
        <p:spPr>
          <a:xfrm>
            <a:off x="453847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Rules</a:t>
            </a:r>
            <a:endParaRPr lang="en-US" sz="1200" dirty="0"/>
          </a:p>
        </p:txBody>
      </p:sp>
      <p:sp>
        <p:nvSpPr>
          <p:cNvPr id="12" name="Text 10"/>
          <p:cNvSpPr/>
          <p:nvPr/>
        </p:nvSpPr>
        <p:spPr>
          <a:xfrm>
            <a:off x="453847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Patterns such as modus ponens and resolution.</a:t>
            </a:r>
            <a:endParaRPr lang="en-US" sz="1000" dirty="0"/>
          </a:p>
        </p:txBody>
      </p:sp>
      <p:sp>
        <p:nvSpPr>
          <p:cNvPr id="13" name="Shape 11"/>
          <p:cNvSpPr/>
          <p:nvPr/>
        </p:nvSpPr>
        <p:spPr>
          <a:xfrm>
            <a:off x="8061960" y="3657600"/>
            <a:ext cx="3413760" cy="1417320"/>
          </a:xfrm>
          <a:prstGeom prst="roundRect">
            <a:avLst>
              <a:gd name="adj" fmla="val 3871"/>
            </a:avLst>
          </a:prstGeom>
          <a:solidFill>
            <a:srgbClr val="F8FBFB"/>
          </a:solidFill>
          <a:ln w="12700">
            <a:solidFill>
              <a:srgbClr val="B6D1D8"/>
            </a:solidFill>
            <a:prstDash val="solid"/>
          </a:ln>
        </p:spPr>
      </p:sp>
      <p:sp>
        <p:nvSpPr>
          <p:cNvPr id="14" name="Shape 12"/>
          <p:cNvSpPr/>
          <p:nvPr/>
        </p:nvSpPr>
        <p:spPr>
          <a:xfrm>
            <a:off x="8061960" y="3657600"/>
            <a:ext cx="73152" cy="1417320"/>
          </a:xfrm>
          <a:prstGeom prst="rect">
            <a:avLst/>
          </a:prstGeom>
          <a:solidFill>
            <a:srgbClr val="F2B84B"/>
          </a:solidFill>
          <a:ln w="12700">
            <a:solidFill>
              <a:srgbClr val="F2B84B">
                <a:alpha val="0"/>
              </a:srgbClr>
            </a:solidFill>
            <a:prstDash val="solid"/>
          </a:ln>
        </p:spPr>
      </p:sp>
      <p:sp>
        <p:nvSpPr>
          <p:cNvPr id="15" name="Text 13"/>
          <p:cNvSpPr/>
          <p:nvPr/>
        </p:nvSpPr>
        <p:spPr>
          <a:xfrm>
            <a:off x="822655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Benefit</a:t>
            </a:r>
            <a:endParaRPr lang="en-US" sz="1200" dirty="0"/>
          </a:p>
        </p:txBody>
      </p:sp>
      <p:sp>
        <p:nvSpPr>
          <p:cNvPr id="16" name="Text 14"/>
          <p:cNvSpPr/>
          <p:nvPr/>
        </p:nvSpPr>
        <p:spPr>
          <a:xfrm>
            <a:off x="822655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A short proof can beat huge model enumeration.</a:t>
            </a:r>
            <a:endParaRPr lang="en-US" sz="1000" dirty="0"/>
          </a:p>
        </p:txBody>
      </p:sp>
      <p:sp>
        <p:nvSpPr>
          <p:cNvPr id="17" name="Text 15"/>
          <p:cNvSpPr/>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BDEEEE"/>
                </a:solidFill>
                <a:latin typeface="Aptos" pitchFamily="34" charset="0"/>
                <a:ea typeface="Aptos" pitchFamily="34" charset="-122"/>
                <a:cs typeface="Aptos" pitchFamily="34" charset="-120"/>
              </a:rPr>
              <a:t>COMP 469 | CSU Channel Islands</a:t>
            </a:r>
            <a:endParaRPr lang="en-US" sz="900" dirty="0"/>
          </a:p>
        </p:txBody>
      </p:sp>
      <p:sp>
        <p:nvSpPr>
          <p:cNvPr id="18" name="Text 16"/>
          <p:cNvSpPr/>
          <p:nvPr/>
        </p:nvSpPr>
        <p:spPr>
          <a:xfrm>
            <a:off x="11201400" y="6327648"/>
            <a:ext cx="411480" cy="256032"/>
          </a:xfrm>
          <a:prstGeom prst="rect">
            <a:avLst/>
          </a:prstGeom>
          <a:noFill/>
          <a:ln/>
        </p:spPr>
        <p:txBody>
          <a:bodyPr wrap="square" lIns="0" tIns="0" rIns="0" bIns="0"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Model Checking vs. Theorem Proving</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Two ways to answer "Does KB entail alpha?"</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Model checking</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Enumerate possible worlds and test truth.</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Theorem proving</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Apply inference rules directly to sentences.</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When proof wins</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If there are many models but a short proof.</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When model checking helps</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If the vocabulary is small or SAT methods are efficient.</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45</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7.11: Logical Equivalences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Equivalences let us rewrite sentences without changing meaning.</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1_equivalences.png">    </p:cNvPr>
          <p:cNvPicPr>
            <a:picLocks noChangeAspect="1"/>
          </p:cNvPicPr>
          <p:nvPr/>
        </p:nvPicPr>
        <p:blipFill>
          <a:blip r:embed="rId1"/>
          <a:stretch>
            <a:fillRect/>
          </a:stretch>
        </p:blipFill>
        <p:spPr>
          <a:xfrm>
            <a:off x="731520" y="1644673"/>
            <a:ext cx="6080760" cy="3980134"/>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7.11: Standard logical equivalences</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Same models</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Equivalent sentences are true in exactly the same worlds.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Like algebra</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Rewrite formulas as x+y = y+x style identities.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Used for CNF</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Implications and biconditionals can be eliminated.</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Student tip</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Use one rewrite at a time and label each step.</a:t>
            </a:r>
            <a:endParaRPr lang="en-US" sz="10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46</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Validity, Satisfiability, and Unsatisfiability</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Three terms that support resolution and SAT solving.</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Valid</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True in every model. Like a logical tautology.</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Satisfiable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True in at least one model.</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E76F51"/>
          </a:solidFill>
          <a:ln w="12700">
            <a:solidFill>
              <a:srgbClr val="E76F51">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Unsatisfiable</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True in no models. Contradictory constraints.</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Entailment connection</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KB entails alpha iff KB AND NOT alpha is unsatisfiable.</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47</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CNF: Conjunctive Normal Form</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Resolution works on clauses, so we convert formulas to CNF.</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Literal</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symbol or its negation, such as P or NOT P.</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Clause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disjunction of literals, such as P OR NOT Q OR R.</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CNF sentence</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conjunction of clauses: clause1 AND clause2 AND ...</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Why CNF</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Standard form makes resolution and SAT solving systematic.</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48</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7.12: CNF Conversion</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grammar-like view of CNF and definite clauses.</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2_cnf.png">    </p:cNvPr>
          <p:cNvPicPr>
            <a:picLocks noChangeAspect="1"/>
          </p:cNvPicPr>
          <p:nvPr/>
        </p:nvPicPr>
        <p:blipFill>
          <a:blip r:embed="rId1"/>
          <a:stretch>
            <a:fillRect/>
          </a:stretch>
        </p:blipFill>
        <p:spPr>
          <a:xfrm>
            <a:off x="731520" y="2121367"/>
            <a:ext cx="6080760" cy="3026746"/>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7.12: CNF grammar and definite clauses</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CNF shape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AND of OR-clauses.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Definite clause</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Exactly one positive literal.</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Horn clause</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At most one positive literal.</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Algorithmic payoff</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Restricted forms enable fast chaining algorithms.</a:t>
            </a:r>
            <a:endParaRPr lang="en-US" sz="102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49</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Inference Rules and Proofs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Rules let us create new true sentences from old true sentences.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Modus ponens</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From P and P ⇒ Q, infer Q.</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AND elimination</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From P AND Q, infer P.</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Resolution</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From P OR Q and NOT P OR R, infer Q OR R.</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Proof</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sequence of rule applications ending in the query.</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Theorem Proving</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50</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The Resolution Rule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Resolution is the workhorse rule for complete propositional theorem proving.</a:t>
            </a:r>
            <a:endParaRPr lang="en-US" sz="850" dirty="0"/>
          </a:p>
        </p:txBody>
      </p:sp>
      <p:sp>
        <p:nvSpPr>
          <p:cNvPr id="9" name="Shape 7"/>
          <p:cNvSpPr/>
          <p:nvPr/>
        </p:nvSpPr>
        <p:spPr>
          <a:xfrm>
            <a:off x="731520" y="1417320"/>
            <a:ext cx="5074920" cy="2057400"/>
          </a:xfrm>
          <a:prstGeom prst="roundRect">
            <a:avLst>
              <a:gd name="adj" fmla="val 2667"/>
            </a:avLst>
          </a:prstGeom>
          <a:solidFill>
            <a:srgbClr val="FFFDF7"/>
          </a:solidFill>
          <a:ln w="12700">
            <a:solidFill>
              <a:srgbClr val="B6D1D8"/>
            </a:solidFill>
            <a:prstDash val="solid"/>
          </a:ln>
        </p:spPr>
      </p:sp>
      <p:sp>
        <p:nvSpPr>
          <p:cNvPr id="10" name="Shape 8"/>
          <p:cNvSpPr/>
          <p:nvPr/>
        </p:nvSpPr>
        <p:spPr>
          <a:xfrm>
            <a:off x="731520" y="1417320"/>
            <a:ext cx="73152" cy="20574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Rule pattern</a:t>
            </a:r>
            <a:endParaRPr lang="en-US" sz="1400" dirty="0"/>
          </a:p>
        </p:txBody>
      </p:sp>
      <p:sp>
        <p:nvSpPr>
          <p:cNvPr id="12" name="Text 10"/>
          <p:cNvSpPr/>
          <p:nvPr/>
        </p:nvSpPr>
        <p:spPr>
          <a:xfrm>
            <a:off x="896112" y="189280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Clause 1 contains P</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Clause 2 contains NOT P</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Resolve by removing the complementary pair</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Keep the remaining disjunction</a:t>
            </a:r>
            <a:endParaRPr lang="en-US" sz="1170" dirty="0"/>
          </a:p>
        </p:txBody>
      </p:sp>
      <p:sp>
        <p:nvSpPr>
          <p:cNvPr id="13" name="Shape 11"/>
          <p:cNvSpPr/>
          <p:nvPr/>
        </p:nvSpPr>
        <p:spPr>
          <a:xfrm>
            <a:off x="731520" y="3657600"/>
            <a:ext cx="5074920" cy="2057400"/>
          </a:xfrm>
          <a:prstGeom prst="roundRect">
            <a:avLst>
              <a:gd name="adj" fmla="val 2667"/>
            </a:avLst>
          </a:prstGeom>
          <a:solidFill>
            <a:srgbClr val="FFFDF7"/>
          </a:solidFill>
          <a:ln w="12700">
            <a:solidFill>
              <a:srgbClr val="B6D1D8"/>
            </a:solidFill>
            <a:prstDash val="solid"/>
          </a:ln>
        </p:spPr>
      </p:sp>
      <p:sp>
        <p:nvSpPr>
          <p:cNvPr id="14" name="Shape 12"/>
          <p:cNvSpPr/>
          <p:nvPr/>
        </p:nvSpPr>
        <p:spPr>
          <a:xfrm>
            <a:off x="731520" y="3657600"/>
            <a:ext cx="73152" cy="2057400"/>
          </a:xfrm>
          <a:prstGeom prst="rect">
            <a:avLst/>
          </a:prstGeom>
          <a:solidFill>
            <a:srgbClr val="F2B84B"/>
          </a:solidFill>
          <a:ln w="12700">
            <a:solidFill>
              <a:srgbClr val="F2B84B">
                <a:alpha val="0"/>
              </a:srgbClr>
            </a:solidFill>
            <a:prstDash val="solid"/>
          </a:ln>
        </p:spPr>
      </p:sp>
      <p:sp>
        <p:nvSpPr>
          <p:cNvPr id="15" name="Text 13"/>
          <p:cNvSpPr/>
          <p:nvPr/>
        </p:nvSpPr>
        <p:spPr>
          <a:xfrm>
            <a:off x="896112" y="378561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Why it proves</a:t>
            </a:r>
            <a:endParaRPr lang="en-US" sz="1400" dirty="0"/>
          </a:p>
        </p:txBody>
      </p:sp>
      <p:sp>
        <p:nvSpPr>
          <p:cNvPr id="16" name="Text 14"/>
          <p:cNvSpPr/>
          <p:nvPr/>
        </p:nvSpPr>
        <p:spPr>
          <a:xfrm>
            <a:off x="896112" y="413308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If both clauses are true, the resolvent must be true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Repeated resolution can derive contradiction</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Contradiction proves entailment by refutation</a:t>
            </a:r>
            <a:endParaRPr lang="en-US" sz="1170" dirty="0"/>
          </a:p>
        </p:txBody>
      </p:sp>
      <p:sp>
        <p:nvSpPr>
          <p:cNvPr id="17" name="Shape 15"/>
          <p:cNvSpPr/>
          <p:nvPr/>
        </p:nvSpPr>
        <p:spPr>
          <a:xfrm>
            <a:off x="6903720" y="1920240"/>
            <a:ext cx="1828800" cy="868680"/>
          </a:xfrm>
          <a:prstGeom prst="roundRect">
            <a:avLst>
              <a:gd name="adj" fmla="val 6316"/>
            </a:avLst>
          </a:prstGeom>
          <a:solidFill>
            <a:srgbClr val="F8FBFB"/>
          </a:solidFill>
          <a:ln w="12700">
            <a:solidFill>
              <a:srgbClr val="B6D1D8"/>
            </a:solidFill>
            <a:prstDash val="solid"/>
          </a:ln>
        </p:spPr>
      </p:sp>
      <p:sp>
        <p:nvSpPr>
          <p:cNvPr id="18" name="Shape 16"/>
          <p:cNvSpPr/>
          <p:nvPr/>
        </p:nvSpPr>
        <p:spPr>
          <a:xfrm>
            <a:off x="6903720" y="1920240"/>
            <a:ext cx="73152" cy="868680"/>
          </a:xfrm>
          <a:prstGeom prst="rect">
            <a:avLst/>
          </a:prstGeom>
          <a:solidFill>
            <a:srgbClr val="168A8A"/>
          </a:solidFill>
          <a:ln w="12700">
            <a:solidFill>
              <a:srgbClr val="168A8A">
                <a:alpha val="0"/>
              </a:srgbClr>
            </a:solidFill>
            <a:prstDash val="solid"/>
          </a:ln>
        </p:spPr>
      </p:sp>
      <p:sp>
        <p:nvSpPr>
          <p:cNvPr id="19" name="Text 17"/>
          <p:cNvSpPr/>
          <p:nvPr/>
        </p:nvSpPr>
        <p:spPr>
          <a:xfrm>
            <a:off x="7068312" y="2048256"/>
            <a:ext cx="155448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Clause 1</a:t>
            </a:r>
            <a:endParaRPr lang="en-US" sz="1200" dirty="0"/>
          </a:p>
        </p:txBody>
      </p:sp>
      <p:sp>
        <p:nvSpPr>
          <p:cNvPr id="20" name="Text 18"/>
          <p:cNvSpPr/>
          <p:nvPr/>
        </p:nvSpPr>
        <p:spPr>
          <a:xfrm>
            <a:off x="7068312" y="2395728"/>
            <a:ext cx="1536192" cy="30175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P OR Q</a:t>
            </a:r>
            <a:endParaRPr lang="en-US" sz="1200" dirty="0"/>
          </a:p>
        </p:txBody>
      </p:sp>
      <p:sp>
        <p:nvSpPr>
          <p:cNvPr id="21" name="Shape 19"/>
          <p:cNvSpPr/>
          <p:nvPr/>
        </p:nvSpPr>
        <p:spPr>
          <a:xfrm>
            <a:off x="8961120" y="1920240"/>
            <a:ext cx="2057400" cy="868680"/>
          </a:xfrm>
          <a:prstGeom prst="roundRect">
            <a:avLst>
              <a:gd name="adj" fmla="val 6316"/>
            </a:avLst>
          </a:prstGeom>
          <a:solidFill>
            <a:srgbClr val="F8FBFB"/>
          </a:solidFill>
          <a:ln w="12700">
            <a:solidFill>
              <a:srgbClr val="B6D1D8"/>
            </a:solidFill>
            <a:prstDash val="solid"/>
          </a:ln>
        </p:spPr>
      </p:sp>
      <p:sp>
        <p:nvSpPr>
          <p:cNvPr id="22" name="Shape 20"/>
          <p:cNvSpPr/>
          <p:nvPr/>
        </p:nvSpPr>
        <p:spPr>
          <a:xfrm>
            <a:off x="8961120" y="1920240"/>
            <a:ext cx="73152" cy="868680"/>
          </a:xfrm>
          <a:prstGeom prst="rect">
            <a:avLst/>
          </a:prstGeom>
          <a:solidFill>
            <a:srgbClr val="E76F51"/>
          </a:solidFill>
          <a:ln w="12700">
            <a:solidFill>
              <a:srgbClr val="E76F51">
                <a:alpha val="0"/>
              </a:srgbClr>
            </a:solidFill>
            <a:prstDash val="solid"/>
          </a:ln>
        </p:spPr>
      </p:sp>
      <p:sp>
        <p:nvSpPr>
          <p:cNvPr id="23" name="Text 21"/>
          <p:cNvSpPr/>
          <p:nvPr/>
        </p:nvSpPr>
        <p:spPr>
          <a:xfrm>
            <a:off x="9125712" y="2048256"/>
            <a:ext cx="178308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Clause 2</a:t>
            </a:r>
            <a:endParaRPr lang="en-US" sz="1200" dirty="0"/>
          </a:p>
        </p:txBody>
      </p:sp>
      <p:sp>
        <p:nvSpPr>
          <p:cNvPr id="24" name="Text 22"/>
          <p:cNvSpPr/>
          <p:nvPr/>
        </p:nvSpPr>
        <p:spPr>
          <a:xfrm>
            <a:off x="9125712" y="2395728"/>
            <a:ext cx="1764792" cy="30175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NOT P OR R</a:t>
            </a:r>
            <a:endParaRPr lang="en-US" sz="1200" dirty="0"/>
          </a:p>
        </p:txBody>
      </p:sp>
      <p:sp>
        <p:nvSpPr>
          <p:cNvPr id="25" name="Shape 23"/>
          <p:cNvSpPr/>
          <p:nvPr/>
        </p:nvSpPr>
        <p:spPr>
          <a:xfrm>
            <a:off x="8732520" y="2359152"/>
            <a:ext cx="228600" cy="0"/>
          </a:xfrm>
          <a:prstGeom prst="line">
            <a:avLst/>
          </a:prstGeom>
          <a:noFill/>
          <a:ln w="15240">
            <a:solidFill>
              <a:srgbClr val="1E293B"/>
            </a:solidFill>
            <a:prstDash val="solid"/>
            <a:tailEnd type="triangle"/>
          </a:ln>
        </p:spPr>
      </p:sp>
      <p:sp>
        <p:nvSpPr>
          <p:cNvPr id="26" name="Text 24"/>
          <p:cNvSpPr/>
          <p:nvPr/>
        </p:nvSpPr>
        <p:spPr>
          <a:xfrm>
            <a:off x="7360920" y="3291840"/>
            <a:ext cx="2788920" cy="320040"/>
          </a:xfrm>
          <a:prstGeom prst="rect">
            <a:avLst/>
          </a:prstGeom>
          <a:noFill/>
          <a:ln/>
        </p:spPr>
        <p:txBody>
          <a:bodyPr wrap="square" lIns="0" tIns="0" rIns="0" bIns="0" rtlCol="0" anchor="ctr"/>
          <a:lstStyle/>
          <a:p>
            <a:pPr algn="ctr" indent="0" marL="0">
              <a:buNone/>
            </a:pPr>
            <a:r>
              <a:rPr lang="en-US" sz="1200" b="1" dirty="0">
                <a:solidFill>
                  <a:srgbClr val="005088"/>
                </a:solidFill>
                <a:latin typeface="Aptos" pitchFamily="34" charset="0"/>
                <a:ea typeface="Aptos" pitchFamily="34" charset="-122"/>
                <a:cs typeface="Aptos" pitchFamily="34" charset="-120"/>
              </a:rPr>
              <a:t>Cancel complementary literals</a:t>
            </a:r>
            <a:endParaRPr lang="en-US" sz="1200" dirty="0"/>
          </a:p>
        </p:txBody>
      </p:sp>
      <p:sp>
        <p:nvSpPr>
          <p:cNvPr id="27" name="Shape 25"/>
          <p:cNvSpPr/>
          <p:nvPr/>
        </p:nvSpPr>
        <p:spPr>
          <a:xfrm>
            <a:off x="7749540" y="3886200"/>
            <a:ext cx="2011680" cy="868680"/>
          </a:xfrm>
          <a:prstGeom prst="roundRect">
            <a:avLst>
              <a:gd name="adj" fmla="val 6316"/>
            </a:avLst>
          </a:prstGeom>
          <a:solidFill>
            <a:srgbClr val="FFF8E5"/>
          </a:solidFill>
          <a:ln w="12700">
            <a:solidFill>
              <a:srgbClr val="B6D1D8"/>
            </a:solidFill>
            <a:prstDash val="solid"/>
          </a:ln>
        </p:spPr>
      </p:sp>
      <p:sp>
        <p:nvSpPr>
          <p:cNvPr id="28" name="Shape 26"/>
          <p:cNvSpPr/>
          <p:nvPr/>
        </p:nvSpPr>
        <p:spPr>
          <a:xfrm>
            <a:off x="7749540" y="3886200"/>
            <a:ext cx="73152" cy="868680"/>
          </a:xfrm>
          <a:prstGeom prst="rect">
            <a:avLst/>
          </a:prstGeom>
          <a:solidFill>
            <a:srgbClr val="F2B84B"/>
          </a:solidFill>
          <a:ln w="12700">
            <a:solidFill>
              <a:srgbClr val="F2B84B">
                <a:alpha val="0"/>
              </a:srgbClr>
            </a:solidFill>
            <a:prstDash val="solid"/>
          </a:ln>
        </p:spPr>
      </p:sp>
      <p:sp>
        <p:nvSpPr>
          <p:cNvPr id="29" name="Text 27"/>
          <p:cNvSpPr/>
          <p:nvPr/>
        </p:nvSpPr>
        <p:spPr>
          <a:xfrm>
            <a:off x="7914132" y="4014216"/>
            <a:ext cx="173736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Resolvent</a:t>
            </a:r>
            <a:endParaRPr lang="en-US" sz="1200" dirty="0"/>
          </a:p>
        </p:txBody>
      </p:sp>
      <p:sp>
        <p:nvSpPr>
          <p:cNvPr id="30" name="Text 28"/>
          <p:cNvSpPr/>
          <p:nvPr/>
        </p:nvSpPr>
        <p:spPr>
          <a:xfrm>
            <a:off x="7914132" y="4361688"/>
            <a:ext cx="1719072" cy="301752"/>
          </a:xfrm>
          <a:prstGeom prst="rect">
            <a:avLst/>
          </a:prstGeom>
          <a:noFill/>
          <a:ln/>
        </p:spPr>
        <p:txBody>
          <a:bodyPr wrap="square" lIns="254" tIns="254" rIns="254" bIns="254" rtlCol="0" anchor="t">
            <a:normAutofit/>
          </a:bodyPr>
          <a:lstStyle/>
          <a:p>
            <a:pPr indent="0" marL="0">
              <a:buNone/>
            </a:pPr>
            <a:r>
              <a:rPr lang="en-US" sz="1300" dirty="0">
                <a:solidFill>
                  <a:srgbClr val="1E293B"/>
                </a:solidFill>
                <a:latin typeface="Aptos" pitchFamily="34" charset="0"/>
                <a:ea typeface="Aptos" pitchFamily="34" charset="-122"/>
                <a:cs typeface="Aptos" pitchFamily="34" charset="-120"/>
              </a:rPr>
              <a:t>Q OR R</a:t>
            </a:r>
            <a:endParaRPr lang="en-US" sz="1300" dirty="0"/>
          </a:p>
        </p:txBody>
      </p:sp>
      <p:sp>
        <p:nvSpPr>
          <p:cNvPr id="31" name="Text 29"/>
          <p:cNvSpPr/>
          <p:nvPr/>
        </p:nvSpPr>
        <p:spPr>
          <a:xfrm>
            <a:off x="6629400" y="5120640"/>
            <a:ext cx="4251960" cy="320040"/>
          </a:xfrm>
          <a:prstGeom prst="rect">
            <a:avLst/>
          </a:prstGeom>
          <a:noFill/>
          <a:ln/>
        </p:spPr>
        <p:txBody>
          <a:bodyPr wrap="square" lIns="0" tIns="0" rIns="0" bIns="0" rtlCol="0" anchor="ctr">
            <a:normAutofit/>
          </a:bodyPr>
          <a:lstStyle/>
          <a:p>
            <a:pPr algn="ctr" indent="0" marL="0">
              <a:buNone/>
            </a:pPr>
            <a:r>
              <a:rPr lang="en-US" sz="1050" i="1" dirty="0">
                <a:solidFill>
                  <a:srgbClr val="64748B"/>
                </a:solidFill>
                <a:latin typeface="Aptos" pitchFamily="34" charset="0"/>
                <a:ea typeface="Aptos" pitchFamily="34" charset="-122"/>
                <a:cs typeface="Aptos" pitchFamily="34" charset="-120"/>
              </a:rPr>
              <a:t>Like algebra: opposite terms disappear; what remains must still be true.</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51</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7.13: PL-RESOLUTION</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Proof by contradiction using CNF and the empty clause.</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3_resolution_algo.png">    </p:cNvPr>
          <p:cNvPicPr>
            <a:picLocks noChangeAspect="1"/>
          </p:cNvPicPr>
          <p:nvPr/>
        </p:nvPicPr>
        <p:blipFill>
          <a:blip r:embed="rId1"/>
          <a:stretch>
            <a:fillRect/>
          </a:stretch>
        </p:blipFill>
        <p:spPr>
          <a:xfrm>
            <a:off x="731520" y="1963901"/>
            <a:ext cx="6080760" cy="3341679"/>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7.13: Resolution algorithm</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Start</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Convert KB AND NOT alpha into CNF clauses.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Loop</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Resolve pairs of clauses to produce new clauses.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2F855A"/>
          </a:solidFill>
          <a:ln w="12700">
            <a:solidFill>
              <a:srgbClr val="2F855A">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Success</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If the empty clause appears, contradiction found.</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Failure</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If no new clauses appear, entailment not proven.</a:t>
            </a:r>
            <a:endParaRPr lang="en-US" sz="102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7.14: Wumpus Resolution Proof</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Proving a safe square by deriving contradiction.</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4_resolution_wumpus.png">    </p:cNvPr>
          <p:cNvPicPr>
            <a:picLocks noChangeAspect="1"/>
          </p:cNvPicPr>
          <p:nvPr/>
        </p:nvPicPr>
        <p:blipFill>
          <a:blip r:embed="rId1"/>
          <a:stretch>
            <a:fillRect/>
          </a:stretch>
        </p:blipFill>
        <p:spPr>
          <a:xfrm>
            <a:off x="731520" y="2127218"/>
            <a:ext cx="6080760" cy="3015044"/>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7.14: Resolution proof for NOT P_1,2</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Goal</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Prove NOT Pit_1,2 from no breeze at [1,1].</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Refutation</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Assume Pit_1,2 and derive contradiction.</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2F855A"/>
          </a:solidFill>
          <a:ln w="12700">
            <a:solidFill>
              <a:srgbClr val="2F855A">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Empty clause</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Contradictory unit clauses collapse to False.</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6B5CA5"/>
          </a:solidFill>
          <a:ln w="12700">
            <a:solidFill>
              <a:srgbClr val="6B5CA5">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Conclusion</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The KB entails NOT Pit_1,2.</a:t>
            </a:r>
            <a:endParaRPr lang="en-US" sz="102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53</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Resolution Gotchas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Where students usually make mistakes.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E76F51"/>
          </a:solidFill>
          <a:ln w="12700">
            <a:solidFill>
              <a:srgbClr val="E76F51">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Must be CNF</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Convert to clauses before resolving.</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Complementary literals only</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Resolve P with NOT P, not with unrelated symbols.</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Empty clause means contradiction</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It does not mean the KB is empty.</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168A8A"/>
          </a:solidFill>
          <a:ln w="12700">
            <a:solidFill>
              <a:srgbClr val="168A8A">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Do not prove True</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Clauses containing both P and NOT P are tautological and unhelpful.</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Horn Clauses and Definite Clauses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Restricted forms that make inference efficient.</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Definite clause</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disjunction with exactly one positive literal; often written as premises ⇒ conclusion.</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Horn clause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At most one positive literal.</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2F855A"/>
          </a:solidFill>
          <a:ln w="12700">
            <a:solidFill>
              <a:srgbClr val="2F855A">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Why useful</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Entailment with Horn clauses can be decided in time linear in KB size.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AI connection</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Rule systems and logic programming often use Horn-like rules.</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55</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Forward Chaining</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Data-driven inference from facts to consequences.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Start with known facts</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Put all known true symbols on an agenda.</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Fire rules</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When all premises of a rule are known, add its conclusion.</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Stop condition</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Stop when the query appears or no more facts can be inferred.</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Best use case</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When many conclusions may be useful from current data.</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56</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Figures 7.15-7.16: Forward Chaining and Horn Graphs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rule agenda plus an AND-OR dependency structure.</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6_horn_andor.png">    </p:cNvPr>
          <p:cNvPicPr>
            <a:picLocks noChangeAspect="1"/>
          </p:cNvPicPr>
          <p:nvPr/>
        </p:nvPicPr>
        <p:blipFill>
          <a:blip r:embed="rId1"/>
          <a:stretch>
            <a:fillRect/>
          </a:stretch>
        </p:blipFill>
        <p:spPr>
          <a:xfrm>
            <a:off x="731520" y="1525089"/>
            <a:ext cx="6080760" cy="4219303"/>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7.16: Horn clauses and corresponding AND-OR graph</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AND nodes</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All premises must be proven before a conclusion fires.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Agenda</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Known facts waiting to be processed.</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Count table</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Tracks how many premises remain for each rule.</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2F855A"/>
          </a:solidFill>
          <a:ln w="12700">
            <a:solidFill>
              <a:srgbClr val="2F855A">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Linear time</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With indexing, each rule/premise is processed efficiently.</a:t>
            </a:r>
            <a:endParaRPr lang="en-US" sz="102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57</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7.15: PL-FC-ENTAILS?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algorithmic view of forward chaining.</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5_forward_chaining.png">    </p:cNvPr>
          <p:cNvPicPr>
            <a:picLocks noChangeAspect="1"/>
          </p:cNvPicPr>
          <p:nvPr/>
        </p:nvPicPr>
        <p:blipFill>
          <a:blip r:embed="rId1"/>
          <a:stretch>
            <a:fillRect/>
          </a:stretch>
        </p:blipFill>
        <p:spPr>
          <a:xfrm>
            <a:off x="731520" y="1647825"/>
            <a:ext cx="6080760" cy="3973830"/>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7.15: Forward-chaining algorithm</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Queue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Symbols known true but not yet processed.</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Inferred table</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Avoids repeated work and loops.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Premise counts</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When a count hits zero, all premises are known.</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2F855A"/>
          </a:solidFill>
          <a:ln w="12700">
            <a:solidFill>
              <a:srgbClr val="2F855A">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Query success</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Return true when q is popped from the queue.</a:t>
            </a:r>
            <a:endParaRPr lang="en-US" sz="102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58</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Backward Chaining</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Goal-driven inference from query back to needed facts.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Start with query</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Ask what premises would make this query true.</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Subgoals</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Recursively prove each premise.</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2F855A"/>
          </a:solidFill>
          <a:ln w="12700">
            <a:solidFill>
              <a:srgbClr val="2F855A">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Stop at facts</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If a needed premise is already known, that branch succeeds.</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Best use case</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When you only care about one query.</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59</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Forward vs. Backward Chaining</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Both are useful; choose based on the problem.</a:t>
            </a:r>
            <a:endParaRPr lang="en-US" sz="850" dirty="0"/>
          </a:p>
        </p:txBody>
      </p:sp>
      <p:sp>
        <p:nvSpPr>
          <p:cNvPr id="9" name="Shape 7"/>
          <p:cNvSpPr/>
          <p:nvPr/>
        </p:nvSpPr>
        <p:spPr>
          <a:xfrm>
            <a:off x="777240" y="1463040"/>
            <a:ext cx="5166360" cy="3337560"/>
          </a:xfrm>
          <a:prstGeom prst="roundRect">
            <a:avLst>
              <a:gd name="adj" fmla="val 1644"/>
            </a:avLst>
          </a:prstGeom>
          <a:solidFill>
            <a:srgbClr val="FFFDF7"/>
          </a:solidFill>
          <a:ln w="12700">
            <a:solidFill>
              <a:srgbClr val="B6D1D8"/>
            </a:solidFill>
            <a:prstDash val="solid"/>
          </a:ln>
        </p:spPr>
      </p:sp>
      <p:sp>
        <p:nvSpPr>
          <p:cNvPr id="10" name="Shape 8"/>
          <p:cNvSpPr/>
          <p:nvPr/>
        </p:nvSpPr>
        <p:spPr>
          <a:xfrm>
            <a:off x="777240" y="1463040"/>
            <a:ext cx="73152" cy="3337560"/>
          </a:xfrm>
          <a:prstGeom prst="rect">
            <a:avLst/>
          </a:prstGeom>
          <a:solidFill>
            <a:srgbClr val="168A8A"/>
          </a:solidFill>
          <a:ln w="12700">
            <a:solidFill>
              <a:srgbClr val="168A8A">
                <a:alpha val="0"/>
              </a:srgbClr>
            </a:solidFill>
            <a:prstDash val="solid"/>
          </a:ln>
        </p:spPr>
      </p:sp>
      <p:sp>
        <p:nvSpPr>
          <p:cNvPr id="11" name="Text 9"/>
          <p:cNvSpPr/>
          <p:nvPr/>
        </p:nvSpPr>
        <p:spPr>
          <a:xfrm>
            <a:off x="9418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Forward chaining</a:t>
            </a:r>
            <a:endParaRPr lang="en-US" sz="1500" dirty="0"/>
          </a:p>
        </p:txBody>
      </p:sp>
      <p:sp>
        <p:nvSpPr>
          <p:cNvPr id="12" name="Text 10"/>
          <p:cNvSpPr/>
          <p:nvPr/>
        </p:nvSpPr>
        <p:spPr>
          <a:xfrm>
            <a:off x="9418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Data-driven</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Starts from known facts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Can derive many conclusions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Good for monitoring and event-driven systems</a:t>
            </a:r>
            <a:endParaRPr lang="en-US" sz="1220" dirty="0"/>
          </a:p>
        </p:txBody>
      </p:sp>
      <p:sp>
        <p:nvSpPr>
          <p:cNvPr id="13" name="Shape 11"/>
          <p:cNvSpPr/>
          <p:nvPr/>
        </p:nvSpPr>
        <p:spPr>
          <a:xfrm>
            <a:off x="6263640" y="1463040"/>
            <a:ext cx="5166360" cy="3337560"/>
          </a:xfrm>
          <a:prstGeom prst="roundRect">
            <a:avLst>
              <a:gd name="adj" fmla="val 1644"/>
            </a:avLst>
          </a:prstGeom>
          <a:solidFill>
            <a:srgbClr val="FFFDF7"/>
          </a:solidFill>
          <a:ln w="12700">
            <a:solidFill>
              <a:srgbClr val="B6D1D8"/>
            </a:solidFill>
            <a:prstDash val="solid"/>
          </a:ln>
        </p:spPr>
      </p:sp>
      <p:sp>
        <p:nvSpPr>
          <p:cNvPr id="14" name="Shape 12"/>
          <p:cNvSpPr/>
          <p:nvPr/>
        </p:nvSpPr>
        <p:spPr>
          <a:xfrm>
            <a:off x="6263640" y="1463040"/>
            <a:ext cx="73152" cy="3337560"/>
          </a:xfrm>
          <a:prstGeom prst="rect">
            <a:avLst/>
          </a:prstGeom>
          <a:solidFill>
            <a:srgbClr val="F2B84B"/>
          </a:solidFill>
          <a:ln w="12700">
            <a:solidFill>
              <a:srgbClr val="F2B84B">
                <a:alpha val="0"/>
              </a:srgbClr>
            </a:solidFill>
            <a:prstDash val="solid"/>
          </a:ln>
        </p:spPr>
      </p:sp>
      <p:sp>
        <p:nvSpPr>
          <p:cNvPr id="15" name="Text 13"/>
          <p:cNvSpPr/>
          <p:nvPr/>
        </p:nvSpPr>
        <p:spPr>
          <a:xfrm>
            <a:off x="64282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Backward chaining</a:t>
            </a:r>
            <a:endParaRPr lang="en-US" sz="1500" dirty="0"/>
          </a:p>
        </p:txBody>
      </p:sp>
      <p:sp>
        <p:nvSpPr>
          <p:cNvPr id="16" name="Text 14"/>
          <p:cNvSpPr/>
          <p:nvPr/>
        </p:nvSpPr>
        <p:spPr>
          <a:xfrm>
            <a:off x="64282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Goal-driven</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Starts from a query</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Proves only what is needed</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Good for diagnosis and query answering</a:t>
            </a:r>
            <a:endParaRPr lang="en-US" sz="1220" dirty="0"/>
          </a:p>
        </p:txBody>
      </p:sp>
      <p:sp>
        <p:nvSpPr>
          <p:cNvPr id="17" name="Shape 15"/>
          <p:cNvSpPr/>
          <p:nvPr/>
        </p:nvSpPr>
        <p:spPr>
          <a:xfrm>
            <a:off x="868680" y="5257800"/>
            <a:ext cx="10424160" cy="685800"/>
          </a:xfrm>
          <a:prstGeom prst="roundRect">
            <a:avLst>
              <a:gd name="adj" fmla="val 8000"/>
            </a:avLst>
          </a:prstGeom>
          <a:solidFill>
            <a:srgbClr val="005088"/>
          </a:solidFill>
          <a:ln w="12700">
            <a:solidFill>
              <a:srgbClr val="005088">
                <a:alpha val="0"/>
              </a:srgbClr>
            </a:solidFill>
            <a:prstDash val="solid"/>
          </a:ln>
        </p:spPr>
      </p:sp>
      <p:sp>
        <p:nvSpPr>
          <p:cNvPr id="18" name="Text 16"/>
          <p:cNvSpPr/>
          <p:nvPr/>
        </p:nvSpPr>
        <p:spPr>
          <a:xfrm>
            <a:off x="1124712" y="5440680"/>
            <a:ext cx="9912096" cy="91440"/>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Aptos Display" pitchFamily="34" charset="0"/>
                <a:ea typeface="Aptos Display" pitchFamily="34" charset="-122"/>
                <a:cs typeface="Aptos Display" pitchFamily="34" charset="-120"/>
              </a:rPr>
              <a:t>Forward asks: What follows from what I know? Backward asks: What would prove what I want?</a:t>
            </a:r>
            <a:endParaRPr lang="en-US" sz="2100" dirty="0"/>
          </a:p>
        </p:txBody>
      </p:sp>
      <p:sp>
        <p:nvSpPr>
          <p:cNvPr id="19" name="Text 17"/>
          <p:cNvSpPr/>
          <p:nvPr/>
        </p:nvSpPr>
        <p:spPr>
          <a:xfrm>
            <a:off x="1188720" y="5559552"/>
            <a:ext cx="9784080" cy="237744"/>
          </a:xfrm>
          <a:prstGeom prst="rect">
            <a:avLst/>
          </a:prstGeom>
          <a:noFill/>
          <a:ln/>
        </p:spPr>
        <p:txBody>
          <a:bodyPr wrap="square" lIns="0" tIns="0" rIns="0" bIns="0" rtlCol="0" anchor="ctr">
            <a:normAutofit/>
          </a:bodyPr>
          <a:lstStyle/>
          <a:p>
            <a:pPr algn="ctr" indent="0" marL="0">
              <a:buNone/>
            </a:pPr>
            <a:r>
              <a:rPr lang="en-US" sz="1080" dirty="0">
                <a:solidFill>
                  <a:srgbClr val="D9F6F6"/>
                </a:solidFill>
                <a:latin typeface="Aptos" pitchFamily="34" charset="0"/>
                <a:ea typeface="Aptos" pitchFamily="34" charset="-122"/>
                <a:cs typeface="Aptos" pitchFamily="34" charset="-120"/>
              </a:rPr>
              <a:t>Same KB, different reasoning direction.</a:t>
            </a:r>
            <a:endParaRPr lang="en-US" sz="10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6B5CA5"/>
        </a:solidFill>
      </p:bgPr>
    </p:bg>
    <p:spTree>
      <p:nvGrpSpPr>
        <p:cNvPr id="1" name=""/>
        <p:cNvGrpSpPr/>
        <p:nvPr/>
      </p:nvGrpSpPr>
      <p:grpSpPr>
        <a:xfrm>
          <a:off x="0" y="0"/>
          <a:ext cx="0" cy="0"/>
          <a:chOff x="0" y="0"/>
          <a:chExt cx="0" cy="0"/>
        </a:xfrm>
      </p:grpSpPr>
      <p:sp>
        <p:nvSpPr>
          <p:cNvPr id="2" name="Text 0"/>
          <p:cNvSpPr/>
          <p:nvPr/>
        </p:nvSpPr>
        <p:spPr>
          <a:xfrm>
            <a:off x="594360" y="502920"/>
            <a:ext cx="1828800" cy="320040"/>
          </a:xfrm>
          <a:prstGeom prst="rect">
            <a:avLst/>
          </a:prstGeom>
          <a:noFill/>
          <a:ln/>
        </p:spPr>
        <p:txBody>
          <a:bodyPr wrap="square" lIns="0" tIns="0" rIns="0" bIns="0" rtlCol="0" anchor="ctr"/>
          <a:lstStyle/>
          <a:p>
            <a:pPr indent="0" marL="0">
              <a:buNone/>
            </a:pPr>
            <a:r>
              <a:rPr lang="en-US" sz="1300" b="1" dirty="0">
                <a:solidFill>
                  <a:srgbClr val="BDEEEE"/>
                </a:solidFill>
                <a:latin typeface="Aptos" pitchFamily="34" charset="0"/>
                <a:ea typeface="Aptos" pitchFamily="34" charset="-122"/>
                <a:cs typeface="Aptos" pitchFamily="34" charset="-120"/>
              </a:rPr>
              <a:t>SECTION 6</a:t>
            </a:r>
            <a:endParaRPr lang="en-US" sz="1300" dirty="0"/>
          </a:p>
        </p:txBody>
      </p:sp>
      <p:sp>
        <p:nvSpPr>
          <p:cNvPr id="3" name="Text 1"/>
          <p:cNvSpPr/>
          <p:nvPr/>
        </p:nvSpPr>
        <p:spPr>
          <a:xfrm>
            <a:off x="594360" y="1097280"/>
            <a:ext cx="10698480" cy="109728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Effective Propositional Model Checking</a:t>
            </a:r>
            <a:endParaRPr lang="en-US" sz="4200" dirty="0"/>
          </a:p>
        </p:txBody>
      </p:sp>
      <p:sp>
        <p:nvSpPr>
          <p:cNvPr id="4" name="Text 2"/>
          <p:cNvSpPr/>
          <p:nvPr/>
        </p:nvSpPr>
        <p:spPr>
          <a:xfrm>
            <a:off x="640080" y="2304288"/>
            <a:ext cx="10607040" cy="548640"/>
          </a:xfrm>
          <a:prstGeom prst="rect">
            <a:avLst/>
          </a:prstGeom>
          <a:noFill/>
          <a:ln/>
        </p:spPr>
        <p:txBody>
          <a:bodyPr wrap="square" lIns="0" tIns="0" rIns="0" bIns="0" rtlCol="0" anchor="ctr">
            <a:normAutofit/>
          </a:bodyPr>
          <a:lstStyle/>
          <a:p>
            <a:pPr indent="0" marL="0">
              <a:buNone/>
            </a:pPr>
            <a:r>
              <a:rPr lang="en-US" sz="1800" dirty="0">
                <a:solidFill>
                  <a:srgbClr val="D9F6F6"/>
                </a:solidFill>
                <a:latin typeface="Aptos" pitchFamily="34" charset="0"/>
                <a:ea typeface="Aptos" pitchFamily="34" charset="-122"/>
                <a:cs typeface="Aptos" pitchFamily="34" charset="-120"/>
              </a:rPr>
              <a:t>SAT algorithms make propositional reasoning practical in many cases.</a:t>
            </a:r>
            <a:endParaRPr lang="en-US" sz="1800" dirty="0"/>
          </a:p>
        </p:txBody>
      </p:sp>
      <p:sp>
        <p:nvSpPr>
          <p:cNvPr id="5" name="Shape 3"/>
          <p:cNvSpPr/>
          <p:nvPr/>
        </p:nvSpPr>
        <p:spPr>
          <a:xfrm>
            <a:off x="685800" y="3657600"/>
            <a:ext cx="3413760" cy="1417320"/>
          </a:xfrm>
          <a:prstGeom prst="roundRect">
            <a:avLst>
              <a:gd name="adj" fmla="val 3871"/>
            </a:avLst>
          </a:prstGeom>
          <a:solidFill>
            <a:srgbClr val="F8FBFB"/>
          </a:solidFill>
          <a:ln w="12700">
            <a:solidFill>
              <a:srgbClr val="B6D1D8"/>
            </a:solidFill>
            <a:prstDash val="solid"/>
          </a:ln>
        </p:spPr>
      </p:sp>
      <p:sp>
        <p:nvSpPr>
          <p:cNvPr id="6" name="Shape 4"/>
          <p:cNvSpPr/>
          <p:nvPr/>
        </p:nvSpPr>
        <p:spPr>
          <a:xfrm>
            <a:off x="685800" y="3657600"/>
            <a:ext cx="73152" cy="1417320"/>
          </a:xfrm>
          <a:prstGeom prst="rect">
            <a:avLst/>
          </a:prstGeom>
          <a:solidFill>
            <a:srgbClr val="F2B84B"/>
          </a:solidFill>
          <a:ln w="12700">
            <a:solidFill>
              <a:srgbClr val="F2B84B">
                <a:alpha val="0"/>
              </a:srgbClr>
            </a:solidFill>
            <a:prstDash val="solid"/>
          </a:ln>
        </p:spPr>
      </p:sp>
      <p:sp>
        <p:nvSpPr>
          <p:cNvPr id="7" name="Text 5"/>
          <p:cNvSpPr/>
          <p:nvPr/>
        </p:nvSpPr>
        <p:spPr>
          <a:xfrm>
            <a:off x="85039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DPLL</a:t>
            </a:r>
            <a:endParaRPr lang="en-US" sz="1200" dirty="0"/>
          </a:p>
        </p:txBody>
      </p:sp>
      <p:sp>
        <p:nvSpPr>
          <p:cNvPr id="8" name="Text 6"/>
          <p:cNvSpPr/>
          <p:nvPr/>
        </p:nvSpPr>
        <p:spPr>
          <a:xfrm>
            <a:off x="85039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Complete backtracking SAT solver with pruning.</a:t>
            </a:r>
            <a:endParaRPr lang="en-US" sz="1000" dirty="0"/>
          </a:p>
        </p:txBody>
      </p:sp>
      <p:sp>
        <p:nvSpPr>
          <p:cNvPr id="9" name="Shape 7"/>
          <p:cNvSpPr/>
          <p:nvPr/>
        </p:nvSpPr>
        <p:spPr>
          <a:xfrm>
            <a:off x="4373880" y="3657600"/>
            <a:ext cx="3413760" cy="1417320"/>
          </a:xfrm>
          <a:prstGeom prst="roundRect">
            <a:avLst>
              <a:gd name="adj" fmla="val 3871"/>
            </a:avLst>
          </a:prstGeom>
          <a:solidFill>
            <a:srgbClr val="F8FBFB"/>
          </a:solidFill>
          <a:ln w="12700">
            <a:solidFill>
              <a:srgbClr val="B6D1D8"/>
            </a:solidFill>
            <a:prstDash val="solid"/>
          </a:ln>
        </p:spPr>
      </p:sp>
      <p:sp>
        <p:nvSpPr>
          <p:cNvPr id="10" name="Shape 8"/>
          <p:cNvSpPr/>
          <p:nvPr/>
        </p:nvSpPr>
        <p:spPr>
          <a:xfrm>
            <a:off x="4373880" y="3657600"/>
            <a:ext cx="73152" cy="1417320"/>
          </a:xfrm>
          <a:prstGeom prst="rect">
            <a:avLst/>
          </a:prstGeom>
          <a:solidFill>
            <a:srgbClr val="168A8A"/>
          </a:solidFill>
          <a:ln w="12700">
            <a:solidFill>
              <a:srgbClr val="168A8A">
                <a:alpha val="0"/>
              </a:srgbClr>
            </a:solidFill>
            <a:prstDash val="solid"/>
          </a:ln>
        </p:spPr>
      </p:sp>
      <p:sp>
        <p:nvSpPr>
          <p:cNvPr id="11" name="Text 9"/>
          <p:cNvSpPr/>
          <p:nvPr/>
        </p:nvSpPr>
        <p:spPr>
          <a:xfrm>
            <a:off x="453847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WalkSAT</a:t>
            </a:r>
            <a:endParaRPr lang="en-US" sz="1200" dirty="0"/>
          </a:p>
        </p:txBody>
      </p:sp>
      <p:sp>
        <p:nvSpPr>
          <p:cNvPr id="12" name="Text 10"/>
          <p:cNvSpPr/>
          <p:nvPr/>
        </p:nvSpPr>
        <p:spPr>
          <a:xfrm>
            <a:off x="453847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Incomplete local search that often finds models quickly.</a:t>
            </a:r>
            <a:endParaRPr lang="en-US" sz="1000" dirty="0"/>
          </a:p>
        </p:txBody>
      </p:sp>
      <p:sp>
        <p:nvSpPr>
          <p:cNvPr id="13" name="Shape 11"/>
          <p:cNvSpPr/>
          <p:nvPr/>
        </p:nvSpPr>
        <p:spPr>
          <a:xfrm>
            <a:off x="8061960" y="3657600"/>
            <a:ext cx="3413760" cy="1417320"/>
          </a:xfrm>
          <a:prstGeom prst="roundRect">
            <a:avLst>
              <a:gd name="adj" fmla="val 3871"/>
            </a:avLst>
          </a:prstGeom>
          <a:solidFill>
            <a:srgbClr val="F8FBFB"/>
          </a:solidFill>
          <a:ln w="12700">
            <a:solidFill>
              <a:srgbClr val="B6D1D8"/>
            </a:solidFill>
            <a:prstDash val="solid"/>
          </a:ln>
        </p:spPr>
      </p:sp>
      <p:sp>
        <p:nvSpPr>
          <p:cNvPr id="14" name="Shape 12"/>
          <p:cNvSpPr/>
          <p:nvPr/>
        </p:nvSpPr>
        <p:spPr>
          <a:xfrm>
            <a:off x="8061960" y="3657600"/>
            <a:ext cx="73152" cy="1417320"/>
          </a:xfrm>
          <a:prstGeom prst="rect">
            <a:avLst/>
          </a:prstGeom>
          <a:solidFill>
            <a:srgbClr val="F2B84B"/>
          </a:solidFill>
          <a:ln w="12700">
            <a:solidFill>
              <a:srgbClr val="F2B84B">
                <a:alpha val="0"/>
              </a:srgbClr>
            </a:solidFill>
            <a:prstDash val="solid"/>
          </a:ln>
        </p:spPr>
      </p:sp>
      <p:sp>
        <p:nvSpPr>
          <p:cNvPr id="15" name="Text 13"/>
          <p:cNvSpPr/>
          <p:nvPr/>
        </p:nvSpPr>
        <p:spPr>
          <a:xfrm>
            <a:off x="822655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SATPLAN</a:t>
            </a:r>
            <a:endParaRPr lang="en-US" sz="1200" dirty="0"/>
          </a:p>
        </p:txBody>
      </p:sp>
      <p:sp>
        <p:nvSpPr>
          <p:cNvPr id="16" name="Text 14"/>
          <p:cNvSpPr/>
          <p:nvPr/>
        </p:nvSpPr>
        <p:spPr>
          <a:xfrm>
            <a:off x="822655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Planning by asking whether a goal-reaching model exists.</a:t>
            </a:r>
            <a:endParaRPr lang="en-US" sz="1000" dirty="0"/>
          </a:p>
        </p:txBody>
      </p:sp>
      <p:sp>
        <p:nvSpPr>
          <p:cNvPr id="17" name="Text 15"/>
          <p:cNvSpPr/>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BDEEEE"/>
                </a:solidFill>
                <a:latin typeface="Aptos" pitchFamily="34" charset="0"/>
                <a:ea typeface="Aptos" pitchFamily="34" charset="-122"/>
                <a:cs typeface="Aptos" pitchFamily="34" charset="-120"/>
              </a:rPr>
              <a:t>COMP 469 | CSU Channel Islands</a:t>
            </a:r>
            <a:endParaRPr lang="en-US" sz="900" dirty="0"/>
          </a:p>
        </p:txBody>
      </p:sp>
      <p:sp>
        <p:nvSpPr>
          <p:cNvPr id="18" name="Text 16"/>
          <p:cNvSpPr/>
          <p:nvPr/>
        </p:nvSpPr>
        <p:spPr>
          <a:xfrm>
            <a:off x="11201400" y="6327648"/>
            <a:ext cx="411480" cy="256032"/>
          </a:xfrm>
          <a:prstGeom prst="rect">
            <a:avLst/>
          </a:prstGeom>
          <a:noFill/>
          <a:ln/>
        </p:spPr>
        <p:txBody>
          <a:bodyPr wrap="square" lIns="0" tIns="0" rIns="0" bIns="0"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61</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SAT Problems as Search</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SAT solver searches for a model that makes a formula true.</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Input</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propositional formula, usually in CNF.</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2F855A"/>
          </a:solidFill>
          <a:ln w="12700">
            <a:solidFill>
              <a:srgbClr val="2F855A">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Output if satisfiable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truth assignment that satisfies every clause.</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E76F51"/>
          </a:solidFill>
          <a:ln w="12700">
            <a:solidFill>
              <a:srgbClr val="E76F51">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Output if unsatisfiable</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No model exists. For complete solvers, this is guaranteed.</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AI use</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Planning, verification, diagnosis, scheduling, hardware/software checking.</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SAT Algorithms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62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DPLL Intuition</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DPLL is truth-table enumeration with intelligence.</a:t>
            </a:r>
            <a:endParaRPr lang="en-US" sz="850" dirty="0"/>
          </a:p>
        </p:txBody>
      </p:sp>
      <p:sp>
        <p:nvSpPr>
          <p:cNvPr id="9" name="Shape 7"/>
          <p:cNvSpPr/>
          <p:nvPr/>
        </p:nvSpPr>
        <p:spPr>
          <a:xfrm>
            <a:off x="731520" y="1417320"/>
            <a:ext cx="5074920" cy="2057400"/>
          </a:xfrm>
          <a:prstGeom prst="roundRect">
            <a:avLst>
              <a:gd name="adj" fmla="val 2667"/>
            </a:avLst>
          </a:prstGeom>
          <a:solidFill>
            <a:srgbClr val="FFFDF7"/>
          </a:solidFill>
          <a:ln w="12700">
            <a:solidFill>
              <a:srgbClr val="B6D1D8"/>
            </a:solidFill>
            <a:prstDash val="solid"/>
          </a:ln>
        </p:spPr>
      </p:sp>
      <p:sp>
        <p:nvSpPr>
          <p:cNvPr id="10" name="Shape 8"/>
          <p:cNvSpPr/>
          <p:nvPr/>
        </p:nvSpPr>
        <p:spPr>
          <a:xfrm>
            <a:off x="731520" y="1417320"/>
            <a:ext cx="73152" cy="20574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Main ideas</a:t>
            </a:r>
            <a:endParaRPr lang="en-US" sz="1400" dirty="0"/>
          </a:p>
        </p:txBody>
      </p:sp>
      <p:sp>
        <p:nvSpPr>
          <p:cNvPr id="12" name="Text 10"/>
          <p:cNvSpPr/>
          <p:nvPr/>
        </p:nvSpPr>
        <p:spPr>
          <a:xfrm>
            <a:off x="896112" y="189280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Choose an unassigned symbol</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Try true or false recursively</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Stop early when clauses are already satisfied or contradicted</a:t>
            </a:r>
            <a:endParaRPr lang="en-US" sz="1170" dirty="0"/>
          </a:p>
        </p:txBody>
      </p:sp>
      <p:sp>
        <p:nvSpPr>
          <p:cNvPr id="13" name="Shape 11"/>
          <p:cNvSpPr/>
          <p:nvPr/>
        </p:nvSpPr>
        <p:spPr>
          <a:xfrm>
            <a:off x="731520" y="3657600"/>
            <a:ext cx="5074920" cy="2057400"/>
          </a:xfrm>
          <a:prstGeom prst="roundRect">
            <a:avLst>
              <a:gd name="adj" fmla="val 2667"/>
            </a:avLst>
          </a:prstGeom>
          <a:solidFill>
            <a:srgbClr val="FFFDF7"/>
          </a:solidFill>
          <a:ln w="12700">
            <a:solidFill>
              <a:srgbClr val="B6D1D8"/>
            </a:solidFill>
            <a:prstDash val="solid"/>
          </a:ln>
        </p:spPr>
      </p:sp>
      <p:sp>
        <p:nvSpPr>
          <p:cNvPr id="14" name="Shape 12"/>
          <p:cNvSpPr/>
          <p:nvPr/>
        </p:nvSpPr>
        <p:spPr>
          <a:xfrm>
            <a:off x="731520" y="3657600"/>
            <a:ext cx="73152" cy="2057400"/>
          </a:xfrm>
          <a:prstGeom prst="rect">
            <a:avLst/>
          </a:prstGeom>
          <a:solidFill>
            <a:srgbClr val="F2B84B"/>
          </a:solidFill>
          <a:ln w="12700">
            <a:solidFill>
              <a:srgbClr val="F2B84B">
                <a:alpha val="0"/>
              </a:srgbClr>
            </a:solidFill>
            <a:prstDash val="solid"/>
          </a:ln>
        </p:spPr>
      </p:sp>
      <p:sp>
        <p:nvSpPr>
          <p:cNvPr id="15" name="Text 13"/>
          <p:cNvSpPr/>
          <p:nvPr/>
        </p:nvSpPr>
        <p:spPr>
          <a:xfrm>
            <a:off x="896112" y="378561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Two key shortcuts</a:t>
            </a:r>
            <a:endParaRPr lang="en-US" sz="1400" dirty="0"/>
          </a:p>
        </p:txBody>
      </p:sp>
      <p:sp>
        <p:nvSpPr>
          <p:cNvPr id="16" name="Text 14"/>
          <p:cNvSpPr/>
          <p:nvPr/>
        </p:nvSpPr>
        <p:spPr>
          <a:xfrm>
            <a:off x="896112" y="413308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Pure symbol heuristic: assign symbols that appear with one polarity</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Unit clause heuristic: forced assignments from single-literal clauses</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These prune the search tree</a:t>
            </a:r>
            <a:endParaRPr lang="en-US" sz="1170" dirty="0"/>
          </a:p>
        </p:txBody>
      </p:sp>
      <p:sp>
        <p:nvSpPr>
          <p:cNvPr id="17" name="Shape 15"/>
          <p:cNvSpPr/>
          <p:nvPr/>
        </p:nvSpPr>
        <p:spPr>
          <a:xfrm>
            <a:off x="8133588" y="1737360"/>
            <a:ext cx="1234440" cy="457200"/>
          </a:xfrm>
          <a:prstGeom prst="roundRect">
            <a:avLst>
              <a:gd name="adj" fmla="val 12000"/>
            </a:avLst>
          </a:prstGeom>
          <a:solidFill>
            <a:srgbClr val="005088"/>
          </a:solidFill>
          <a:ln w="12700">
            <a:solidFill>
              <a:srgbClr val="005088">
                <a:alpha val="0"/>
              </a:srgbClr>
            </a:solidFill>
            <a:prstDash val="solid"/>
          </a:ln>
        </p:spPr>
      </p:sp>
      <p:sp>
        <p:nvSpPr>
          <p:cNvPr id="18" name="Text 16"/>
          <p:cNvSpPr/>
          <p:nvPr/>
        </p:nvSpPr>
        <p:spPr>
          <a:xfrm>
            <a:off x="8179308" y="1883664"/>
            <a:ext cx="1143000"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choose P</a:t>
            </a:r>
            <a:endParaRPr lang="en-US" sz="950" dirty="0"/>
          </a:p>
        </p:txBody>
      </p:sp>
      <p:sp>
        <p:nvSpPr>
          <p:cNvPr id="19" name="Shape 17"/>
          <p:cNvSpPr/>
          <p:nvPr/>
        </p:nvSpPr>
        <p:spPr>
          <a:xfrm>
            <a:off x="7040880" y="2926080"/>
            <a:ext cx="1234440" cy="457200"/>
          </a:xfrm>
          <a:prstGeom prst="roundRect">
            <a:avLst>
              <a:gd name="adj" fmla="val 12000"/>
            </a:avLst>
          </a:prstGeom>
          <a:solidFill>
            <a:srgbClr val="168A8A"/>
          </a:solidFill>
          <a:ln w="12700">
            <a:solidFill>
              <a:srgbClr val="168A8A">
                <a:alpha val="0"/>
              </a:srgbClr>
            </a:solidFill>
            <a:prstDash val="solid"/>
          </a:ln>
        </p:spPr>
      </p:sp>
      <p:sp>
        <p:nvSpPr>
          <p:cNvPr id="20" name="Text 18"/>
          <p:cNvSpPr/>
          <p:nvPr/>
        </p:nvSpPr>
        <p:spPr>
          <a:xfrm>
            <a:off x="7086600" y="3072384"/>
            <a:ext cx="1143000"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P = T</a:t>
            </a:r>
            <a:endParaRPr lang="en-US" sz="950" dirty="0"/>
          </a:p>
        </p:txBody>
      </p:sp>
      <p:sp>
        <p:nvSpPr>
          <p:cNvPr id="21" name="Shape 19"/>
          <p:cNvSpPr/>
          <p:nvPr/>
        </p:nvSpPr>
        <p:spPr>
          <a:xfrm>
            <a:off x="9189720" y="2926080"/>
            <a:ext cx="1234440" cy="457200"/>
          </a:xfrm>
          <a:prstGeom prst="roundRect">
            <a:avLst>
              <a:gd name="adj" fmla="val 12000"/>
            </a:avLst>
          </a:prstGeom>
          <a:solidFill>
            <a:srgbClr val="6B5CA5"/>
          </a:solidFill>
          <a:ln w="12700">
            <a:solidFill>
              <a:srgbClr val="6B5CA5">
                <a:alpha val="0"/>
              </a:srgbClr>
            </a:solidFill>
            <a:prstDash val="solid"/>
          </a:ln>
        </p:spPr>
      </p:sp>
      <p:sp>
        <p:nvSpPr>
          <p:cNvPr id="22" name="Text 20"/>
          <p:cNvSpPr/>
          <p:nvPr/>
        </p:nvSpPr>
        <p:spPr>
          <a:xfrm>
            <a:off x="9235440" y="3072384"/>
            <a:ext cx="1143000"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P = F</a:t>
            </a:r>
            <a:endParaRPr lang="en-US" sz="950" dirty="0"/>
          </a:p>
        </p:txBody>
      </p:sp>
      <p:sp>
        <p:nvSpPr>
          <p:cNvPr id="23" name="Shape 21"/>
          <p:cNvSpPr/>
          <p:nvPr/>
        </p:nvSpPr>
        <p:spPr>
          <a:xfrm>
            <a:off x="6492240" y="4160520"/>
            <a:ext cx="1234440" cy="457200"/>
          </a:xfrm>
          <a:prstGeom prst="roundRect">
            <a:avLst>
              <a:gd name="adj" fmla="val 12000"/>
            </a:avLst>
          </a:prstGeom>
          <a:solidFill>
            <a:srgbClr val="F2B84B"/>
          </a:solidFill>
          <a:ln w="12700">
            <a:solidFill>
              <a:srgbClr val="F2B84B">
                <a:alpha val="0"/>
              </a:srgbClr>
            </a:solidFill>
            <a:prstDash val="solid"/>
          </a:ln>
        </p:spPr>
      </p:sp>
      <p:sp>
        <p:nvSpPr>
          <p:cNvPr id="24" name="Text 22"/>
          <p:cNvSpPr/>
          <p:nvPr/>
        </p:nvSpPr>
        <p:spPr>
          <a:xfrm>
            <a:off x="6537960" y="4306824"/>
            <a:ext cx="1143000"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unit</a:t>
            </a:r>
            <a:endParaRPr lang="en-US" sz="950" dirty="0"/>
          </a:p>
        </p:txBody>
      </p:sp>
      <p:sp>
        <p:nvSpPr>
          <p:cNvPr id="25" name="Shape 23"/>
          <p:cNvSpPr/>
          <p:nvPr/>
        </p:nvSpPr>
        <p:spPr>
          <a:xfrm>
            <a:off x="8092440" y="4160520"/>
            <a:ext cx="1234440" cy="457200"/>
          </a:xfrm>
          <a:prstGeom prst="roundRect">
            <a:avLst>
              <a:gd name="adj" fmla="val 12000"/>
            </a:avLst>
          </a:prstGeom>
          <a:solidFill>
            <a:srgbClr val="C2410C"/>
          </a:solidFill>
          <a:ln w="12700">
            <a:solidFill>
              <a:srgbClr val="C2410C">
                <a:alpha val="0"/>
              </a:srgbClr>
            </a:solidFill>
            <a:prstDash val="solid"/>
          </a:ln>
        </p:spPr>
      </p:sp>
      <p:sp>
        <p:nvSpPr>
          <p:cNvPr id="26" name="Text 24"/>
          <p:cNvSpPr/>
          <p:nvPr/>
        </p:nvSpPr>
        <p:spPr>
          <a:xfrm>
            <a:off x="8138160" y="4306824"/>
            <a:ext cx="1143000"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fail</a:t>
            </a:r>
            <a:endParaRPr lang="en-US" sz="950" dirty="0"/>
          </a:p>
        </p:txBody>
      </p:sp>
      <p:sp>
        <p:nvSpPr>
          <p:cNvPr id="27" name="Shape 25"/>
          <p:cNvSpPr/>
          <p:nvPr/>
        </p:nvSpPr>
        <p:spPr>
          <a:xfrm>
            <a:off x="8503920" y="4160520"/>
            <a:ext cx="1234440" cy="457200"/>
          </a:xfrm>
          <a:prstGeom prst="roundRect">
            <a:avLst>
              <a:gd name="adj" fmla="val 12000"/>
            </a:avLst>
          </a:prstGeom>
          <a:solidFill>
            <a:srgbClr val="F2B84B"/>
          </a:solidFill>
          <a:ln w="12700">
            <a:solidFill>
              <a:srgbClr val="F2B84B">
                <a:alpha val="0"/>
              </a:srgbClr>
            </a:solidFill>
            <a:prstDash val="solid"/>
          </a:ln>
        </p:spPr>
      </p:sp>
      <p:sp>
        <p:nvSpPr>
          <p:cNvPr id="28" name="Text 26"/>
          <p:cNvSpPr/>
          <p:nvPr/>
        </p:nvSpPr>
        <p:spPr>
          <a:xfrm>
            <a:off x="8549640" y="4306824"/>
            <a:ext cx="1143000"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pure</a:t>
            </a:r>
            <a:endParaRPr lang="en-US" sz="950" dirty="0"/>
          </a:p>
        </p:txBody>
      </p:sp>
      <p:sp>
        <p:nvSpPr>
          <p:cNvPr id="29" name="Shape 27"/>
          <p:cNvSpPr/>
          <p:nvPr/>
        </p:nvSpPr>
        <p:spPr>
          <a:xfrm>
            <a:off x="10104120" y="4160520"/>
            <a:ext cx="1234440" cy="457200"/>
          </a:xfrm>
          <a:prstGeom prst="roundRect">
            <a:avLst>
              <a:gd name="adj" fmla="val 12000"/>
            </a:avLst>
          </a:prstGeom>
          <a:solidFill>
            <a:srgbClr val="2F855A"/>
          </a:solidFill>
          <a:ln w="12700">
            <a:solidFill>
              <a:srgbClr val="2F855A">
                <a:alpha val="0"/>
              </a:srgbClr>
            </a:solidFill>
            <a:prstDash val="solid"/>
          </a:ln>
        </p:spPr>
      </p:sp>
      <p:sp>
        <p:nvSpPr>
          <p:cNvPr id="30" name="Text 28"/>
          <p:cNvSpPr/>
          <p:nvPr/>
        </p:nvSpPr>
        <p:spPr>
          <a:xfrm>
            <a:off x="10149840" y="4306824"/>
            <a:ext cx="1143000"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model</a:t>
            </a:r>
            <a:endParaRPr lang="en-US" sz="950" dirty="0"/>
          </a:p>
        </p:txBody>
      </p:sp>
      <p:sp>
        <p:nvSpPr>
          <p:cNvPr id="31" name="Shape 29"/>
          <p:cNvSpPr/>
          <p:nvPr/>
        </p:nvSpPr>
        <p:spPr>
          <a:xfrm>
            <a:off x="8755380" y="2194560"/>
            <a:ext cx="-1092708" cy="731520"/>
          </a:xfrm>
          <a:prstGeom prst="line">
            <a:avLst/>
          </a:prstGeom>
          <a:noFill/>
          <a:ln w="12700">
            <a:solidFill>
              <a:srgbClr val="1E293B"/>
            </a:solidFill>
            <a:prstDash val="solid"/>
            <a:tailEnd type="triangle"/>
          </a:ln>
        </p:spPr>
      </p:sp>
      <p:sp>
        <p:nvSpPr>
          <p:cNvPr id="32" name="Shape 30"/>
          <p:cNvSpPr/>
          <p:nvPr/>
        </p:nvSpPr>
        <p:spPr>
          <a:xfrm>
            <a:off x="8755380" y="2194560"/>
            <a:ext cx="1056132" cy="731520"/>
          </a:xfrm>
          <a:prstGeom prst="line">
            <a:avLst/>
          </a:prstGeom>
          <a:noFill/>
          <a:ln w="12700">
            <a:solidFill>
              <a:srgbClr val="1E293B"/>
            </a:solidFill>
            <a:prstDash val="solid"/>
            <a:tailEnd type="triangle"/>
          </a:ln>
        </p:spPr>
      </p:sp>
      <p:sp>
        <p:nvSpPr>
          <p:cNvPr id="33" name="Shape 31"/>
          <p:cNvSpPr/>
          <p:nvPr/>
        </p:nvSpPr>
        <p:spPr>
          <a:xfrm>
            <a:off x="7662672" y="3383280"/>
            <a:ext cx="-548640" cy="777240"/>
          </a:xfrm>
          <a:prstGeom prst="line">
            <a:avLst/>
          </a:prstGeom>
          <a:noFill/>
          <a:ln w="12700">
            <a:solidFill>
              <a:srgbClr val="1E293B"/>
            </a:solidFill>
            <a:prstDash val="solid"/>
            <a:tailEnd type="triangle"/>
          </a:ln>
        </p:spPr>
      </p:sp>
      <p:sp>
        <p:nvSpPr>
          <p:cNvPr id="34" name="Shape 32"/>
          <p:cNvSpPr/>
          <p:nvPr/>
        </p:nvSpPr>
        <p:spPr>
          <a:xfrm>
            <a:off x="7662672" y="3383280"/>
            <a:ext cx="1051560" cy="777240"/>
          </a:xfrm>
          <a:prstGeom prst="line">
            <a:avLst/>
          </a:prstGeom>
          <a:noFill/>
          <a:ln w="12700">
            <a:solidFill>
              <a:srgbClr val="1E293B"/>
            </a:solidFill>
            <a:prstDash val="solid"/>
            <a:tailEnd type="triangle"/>
          </a:ln>
        </p:spPr>
      </p:sp>
      <p:sp>
        <p:nvSpPr>
          <p:cNvPr id="35" name="Shape 33"/>
          <p:cNvSpPr/>
          <p:nvPr/>
        </p:nvSpPr>
        <p:spPr>
          <a:xfrm>
            <a:off x="9811512" y="3383280"/>
            <a:ext cx="-685800" cy="777240"/>
          </a:xfrm>
          <a:prstGeom prst="line">
            <a:avLst/>
          </a:prstGeom>
          <a:noFill/>
          <a:ln w="12700">
            <a:solidFill>
              <a:srgbClr val="1E293B"/>
            </a:solidFill>
            <a:prstDash val="solid"/>
            <a:tailEnd type="triangle"/>
          </a:ln>
        </p:spPr>
      </p:sp>
      <p:sp>
        <p:nvSpPr>
          <p:cNvPr id="36" name="Shape 34"/>
          <p:cNvSpPr/>
          <p:nvPr/>
        </p:nvSpPr>
        <p:spPr>
          <a:xfrm>
            <a:off x="9811512" y="3383280"/>
            <a:ext cx="914400" cy="777240"/>
          </a:xfrm>
          <a:prstGeom prst="line">
            <a:avLst/>
          </a:prstGeom>
          <a:noFill/>
          <a:ln w="12700">
            <a:solidFill>
              <a:srgbClr val="1E293B"/>
            </a:solidFill>
            <a:prstDash val="solid"/>
            <a:tailEnd type="triangle"/>
          </a:ln>
        </p:spPr>
      </p:sp>
      <p:sp>
        <p:nvSpPr>
          <p:cNvPr id="37" name="Text 35"/>
          <p:cNvSpPr/>
          <p:nvPr/>
        </p:nvSpPr>
        <p:spPr>
          <a:xfrm>
            <a:off x="6446520" y="5166360"/>
            <a:ext cx="4617720" cy="320040"/>
          </a:xfrm>
          <a:prstGeom prst="rect">
            <a:avLst/>
          </a:prstGeom>
          <a:noFill/>
          <a:ln/>
        </p:spPr>
        <p:txBody>
          <a:bodyPr wrap="square" lIns="0" tIns="0" rIns="0" bIns="0" rtlCol="0" anchor="ctr">
            <a:normAutofit/>
          </a:bodyPr>
          <a:lstStyle/>
          <a:p>
            <a:pPr algn="ctr" indent="0" marL="0">
              <a:buNone/>
            </a:pPr>
            <a:r>
              <a:rPr lang="en-US" sz="1020" i="1" dirty="0">
                <a:solidFill>
                  <a:srgbClr val="64748B"/>
                </a:solidFill>
                <a:latin typeface="Aptos" pitchFamily="34" charset="0"/>
                <a:ea typeface="Aptos" pitchFamily="34" charset="-122"/>
                <a:cs typeface="Aptos" pitchFamily="34" charset="-120"/>
              </a:rPr>
              <a:t>DPLL = model checking with early pruning and smart forced choices.</a:t>
            </a:r>
            <a:endParaRPr lang="en-US" sz="102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63</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7.17: DPLL</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complete backtracking SAT algorithm.</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7_dpll.png">    </p:cNvPr>
          <p:cNvPicPr>
            <a:picLocks noChangeAspect="1"/>
          </p:cNvPicPr>
          <p:nvPr/>
        </p:nvPicPr>
        <p:blipFill>
          <a:blip r:embed="rId1"/>
          <a:stretch>
            <a:fillRect/>
          </a:stretch>
        </p:blipFill>
        <p:spPr>
          <a:xfrm>
            <a:off x="731520" y="1818584"/>
            <a:ext cx="6080760" cy="3632312"/>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7.17: DPLL algorithm</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2F855A"/>
          </a:solidFill>
          <a:ln w="12700">
            <a:solidFill>
              <a:srgbClr val="2F855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Complete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Eventually finds a satisfying assignment or proves none exists.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168A8A"/>
          </a:solidFill>
          <a:ln w="12700">
            <a:solidFill>
              <a:srgbClr val="168A8A">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Model grows</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Recursive calls add assignments to the model.</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F2B84B"/>
          </a:solidFill>
          <a:ln w="12700">
            <a:solidFill>
              <a:srgbClr val="F2B84B">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Pruning</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Short-circuit true/false clauses and forced symbols.</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6B5CA5"/>
          </a:solidFill>
          <a:ln w="12700">
            <a:solidFill>
              <a:srgbClr val="6B5CA5">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Modern SAT roots</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DPLL is a foundation for many SAT solvers.</a:t>
            </a:r>
            <a:endParaRPr lang="en-US" sz="102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64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DPLL Trace Example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Small formula: (P OR Q) AND (NOT P OR R) AND (NOT Q OR R)</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Step 1</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Try P = true. Clause (P OR Q) is satisfied.</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Step 2</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Clause (NOT P OR R) becomes R, a unit clause.</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2F855A"/>
          </a:solidFill>
          <a:ln w="12700">
            <a:solidFill>
              <a:srgbClr val="2F855A">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Step 3</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Set R = true. Remaining clauses become satisfied.</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Model</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P=true, R=true, Q can be either true or false.</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65</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WalkSAT Intuition</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Local search over truth assignments.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Start randomly</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Pick a random complete assignment.</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Find an unsatisfied clause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Choose a clause currently false.</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Flip a symbol</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Randomly or greedily flip one variable in that clause.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Repeat</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If a satisfying model appears, return it; otherwise give up after max flips.</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66</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7.18: WalkSAT</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Randomized local search for satisfiability.</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8_walksat.png">    </p:cNvPr>
          <p:cNvPicPr>
            <a:picLocks noChangeAspect="1"/>
          </p:cNvPicPr>
          <p:nvPr/>
        </p:nvPicPr>
        <p:blipFill>
          <a:blip r:embed="rId1"/>
          <a:stretch>
            <a:fillRect/>
          </a:stretch>
        </p:blipFill>
        <p:spPr>
          <a:xfrm>
            <a:off x="731520" y="1874520"/>
            <a:ext cx="6080760" cy="3520440"/>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7.18: WalkSAT algorithm</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E76F51"/>
          </a:solidFill>
          <a:ln w="12700">
            <a:solidFill>
              <a:srgbClr val="E76F51">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Incomplete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Finding a model proves satisfiable; failing does not prove unsatisfiable.</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Noise helps</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Random flips can escape local minima.</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2F855A"/>
          </a:solidFill>
          <a:ln w="12700">
            <a:solidFill>
              <a:srgbClr val="2F855A">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Fast in practice</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Often solves large satisfiable instances quickly.</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6B5CA5"/>
          </a:solidFill>
          <a:ln w="12700">
            <a:solidFill>
              <a:srgbClr val="6B5CA5">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Parameter p</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Controls random vs. greedy behavior.</a:t>
            </a:r>
            <a:endParaRPr lang="en-US" sz="102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67</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7.19: Random 3-CNF Landscape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SAT difficulty changes sharply with clause-to-symbol ratio.</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19_sat_landscape.png">    </p:cNvPr>
          <p:cNvPicPr>
            <a:picLocks noChangeAspect="1"/>
          </p:cNvPicPr>
          <p:nvPr/>
        </p:nvPicPr>
        <p:blipFill>
          <a:blip r:embed="rId1"/>
          <a:stretch>
            <a:fillRect/>
          </a:stretch>
        </p:blipFill>
        <p:spPr>
          <a:xfrm>
            <a:off x="731520" y="1749704"/>
            <a:ext cx="6080760" cy="3770071"/>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7.19: Probability and runtime for random 3-CNF instances</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Phase transition</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Around a critical ratio, random formulas shift from usually satisfiable to usually unsatisfiable.</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E76F51"/>
          </a:solidFill>
          <a:ln w="12700">
            <a:solidFill>
              <a:srgbClr val="E76F51">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Hard region</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Solvers often struggle near the transition.</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F2B84B"/>
          </a:solidFill>
          <a:ln w="12700">
            <a:solidFill>
              <a:srgbClr val="F2B84B">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DPLL vs WalkSAT</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Different algorithms show different runtime patterns.</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6B5CA5"/>
          </a:solidFill>
          <a:ln w="12700">
            <a:solidFill>
              <a:srgbClr val="6B5CA5">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Teaching point</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Problem structure matters as much as size.</a:t>
            </a:r>
            <a:endParaRPr lang="en-US" sz="102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68</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DPLL vs. WalkSAT</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Different algorithms, different guarantees.</a:t>
            </a:r>
            <a:endParaRPr lang="en-US" sz="850" dirty="0"/>
          </a:p>
        </p:txBody>
      </p:sp>
      <p:sp>
        <p:nvSpPr>
          <p:cNvPr id="9" name="Shape 7"/>
          <p:cNvSpPr/>
          <p:nvPr/>
        </p:nvSpPr>
        <p:spPr>
          <a:xfrm>
            <a:off x="777240" y="1463040"/>
            <a:ext cx="5166360" cy="3337560"/>
          </a:xfrm>
          <a:prstGeom prst="roundRect">
            <a:avLst>
              <a:gd name="adj" fmla="val 1644"/>
            </a:avLst>
          </a:prstGeom>
          <a:solidFill>
            <a:srgbClr val="FFFDF7"/>
          </a:solidFill>
          <a:ln w="12700">
            <a:solidFill>
              <a:srgbClr val="B6D1D8"/>
            </a:solidFill>
            <a:prstDash val="solid"/>
          </a:ln>
        </p:spPr>
      </p:sp>
      <p:sp>
        <p:nvSpPr>
          <p:cNvPr id="10" name="Shape 8"/>
          <p:cNvSpPr/>
          <p:nvPr/>
        </p:nvSpPr>
        <p:spPr>
          <a:xfrm>
            <a:off x="777240" y="1463040"/>
            <a:ext cx="73152" cy="3337560"/>
          </a:xfrm>
          <a:prstGeom prst="rect">
            <a:avLst/>
          </a:prstGeom>
          <a:solidFill>
            <a:srgbClr val="168A8A"/>
          </a:solidFill>
          <a:ln w="12700">
            <a:solidFill>
              <a:srgbClr val="168A8A">
                <a:alpha val="0"/>
              </a:srgbClr>
            </a:solidFill>
            <a:prstDash val="solid"/>
          </a:ln>
        </p:spPr>
      </p:sp>
      <p:sp>
        <p:nvSpPr>
          <p:cNvPr id="11" name="Text 9"/>
          <p:cNvSpPr/>
          <p:nvPr/>
        </p:nvSpPr>
        <p:spPr>
          <a:xfrm>
            <a:off x="9418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DPLL</a:t>
            </a:r>
            <a:endParaRPr lang="en-US" sz="1500" dirty="0"/>
          </a:p>
        </p:txBody>
      </p:sp>
      <p:sp>
        <p:nvSpPr>
          <p:cNvPr id="12" name="Text 10"/>
          <p:cNvSpPr/>
          <p:nvPr/>
        </p:nvSpPr>
        <p:spPr>
          <a:xfrm>
            <a:off x="9418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Complete backtracking search</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Can prove unsatisfiable</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Uses pruning and forced moves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Good when guarantees matter</a:t>
            </a:r>
            <a:endParaRPr lang="en-US" sz="1220" dirty="0"/>
          </a:p>
        </p:txBody>
      </p:sp>
      <p:sp>
        <p:nvSpPr>
          <p:cNvPr id="13" name="Shape 11"/>
          <p:cNvSpPr/>
          <p:nvPr/>
        </p:nvSpPr>
        <p:spPr>
          <a:xfrm>
            <a:off x="6263640" y="1463040"/>
            <a:ext cx="5166360" cy="3337560"/>
          </a:xfrm>
          <a:prstGeom prst="roundRect">
            <a:avLst>
              <a:gd name="adj" fmla="val 1644"/>
            </a:avLst>
          </a:prstGeom>
          <a:solidFill>
            <a:srgbClr val="FFFDF7"/>
          </a:solidFill>
          <a:ln w="12700">
            <a:solidFill>
              <a:srgbClr val="B6D1D8"/>
            </a:solidFill>
            <a:prstDash val="solid"/>
          </a:ln>
        </p:spPr>
      </p:sp>
      <p:sp>
        <p:nvSpPr>
          <p:cNvPr id="14" name="Shape 12"/>
          <p:cNvSpPr/>
          <p:nvPr/>
        </p:nvSpPr>
        <p:spPr>
          <a:xfrm>
            <a:off x="6263640" y="1463040"/>
            <a:ext cx="73152" cy="3337560"/>
          </a:xfrm>
          <a:prstGeom prst="rect">
            <a:avLst/>
          </a:prstGeom>
          <a:solidFill>
            <a:srgbClr val="F2B84B"/>
          </a:solidFill>
          <a:ln w="12700">
            <a:solidFill>
              <a:srgbClr val="F2B84B">
                <a:alpha val="0"/>
              </a:srgbClr>
            </a:solidFill>
            <a:prstDash val="solid"/>
          </a:ln>
        </p:spPr>
      </p:sp>
      <p:sp>
        <p:nvSpPr>
          <p:cNvPr id="15" name="Text 13"/>
          <p:cNvSpPr/>
          <p:nvPr/>
        </p:nvSpPr>
        <p:spPr>
          <a:xfrm>
            <a:off x="64282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WalkSAT</a:t>
            </a:r>
            <a:endParaRPr lang="en-US" sz="1500" dirty="0"/>
          </a:p>
        </p:txBody>
      </p:sp>
      <p:sp>
        <p:nvSpPr>
          <p:cNvPr id="16" name="Text 14"/>
          <p:cNvSpPr/>
          <p:nvPr/>
        </p:nvSpPr>
        <p:spPr>
          <a:xfrm>
            <a:off x="64282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Randomized local search</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Often fast for satisfiable cases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Cannot prove unsatisfiable by failure alone</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Good for large practical searches with time limits</a:t>
            </a:r>
            <a:endParaRPr lang="en-US" sz="1220" dirty="0"/>
          </a:p>
        </p:txBody>
      </p:sp>
      <p:sp>
        <p:nvSpPr>
          <p:cNvPr id="17" name="Shape 15"/>
          <p:cNvSpPr/>
          <p:nvPr/>
        </p:nvSpPr>
        <p:spPr>
          <a:xfrm>
            <a:off x="868680" y="5257800"/>
            <a:ext cx="10424160" cy="685800"/>
          </a:xfrm>
          <a:prstGeom prst="roundRect">
            <a:avLst>
              <a:gd name="adj" fmla="val 8000"/>
            </a:avLst>
          </a:prstGeom>
          <a:solidFill>
            <a:srgbClr val="005088"/>
          </a:solidFill>
          <a:ln w="12700">
            <a:solidFill>
              <a:srgbClr val="005088">
                <a:alpha val="0"/>
              </a:srgbClr>
            </a:solidFill>
            <a:prstDash val="solid"/>
          </a:ln>
        </p:spPr>
      </p:sp>
      <p:sp>
        <p:nvSpPr>
          <p:cNvPr id="18" name="Text 16"/>
          <p:cNvSpPr/>
          <p:nvPr/>
        </p:nvSpPr>
        <p:spPr>
          <a:xfrm>
            <a:off x="1124712" y="5440680"/>
            <a:ext cx="9912096" cy="91440"/>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Aptos Display" pitchFamily="34" charset="0"/>
                <a:ea typeface="Aptos Display" pitchFamily="34" charset="-122"/>
                <a:cs typeface="Aptos Display" pitchFamily="34" charset="-120"/>
              </a:rPr>
              <a:t>DPLL gives certainty; WalkSAT gives speed with risk.</a:t>
            </a:r>
            <a:endParaRPr lang="en-US" sz="2100" dirty="0"/>
          </a:p>
        </p:txBody>
      </p:sp>
      <p:sp>
        <p:nvSpPr>
          <p:cNvPr id="19" name="Text 17"/>
          <p:cNvSpPr/>
          <p:nvPr/>
        </p:nvSpPr>
        <p:spPr>
          <a:xfrm>
            <a:off x="1188720" y="5559552"/>
            <a:ext cx="9784080" cy="237744"/>
          </a:xfrm>
          <a:prstGeom prst="rect">
            <a:avLst/>
          </a:prstGeom>
          <a:noFill/>
          <a:ln/>
        </p:spPr>
        <p:txBody>
          <a:bodyPr wrap="square" lIns="0" tIns="0" rIns="0" bIns="0" rtlCol="0" anchor="ctr">
            <a:normAutofit/>
          </a:bodyPr>
          <a:lstStyle/>
          <a:p>
            <a:pPr algn="ctr" indent="0" marL="0">
              <a:buNone/>
            </a:pPr>
            <a:r>
              <a:rPr lang="en-US" sz="1080" dirty="0">
                <a:solidFill>
                  <a:srgbClr val="D9F6F6"/>
                </a:solidFill>
                <a:latin typeface="Aptos" pitchFamily="34" charset="0"/>
                <a:ea typeface="Aptos" pitchFamily="34" charset="-122"/>
                <a:cs typeface="Aptos" pitchFamily="34" charset="-120"/>
              </a:rPr>
              <a:t>Both are useful tools in an AI toolbox.</a:t>
            </a:r>
            <a:endParaRPr lang="en-US" sz="108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F766E"/>
        </a:solidFill>
      </p:bgPr>
    </p:bg>
    <p:spTree>
      <p:nvGrpSpPr>
        <p:cNvPr id="1" name=""/>
        <p:cNvGrpSpPr/>
        <p:nvPr/>
      </p:nvGrpSpPr>
      <p:grpSpPr>
        <a:xfrm>
          <a:off x="0" y="0"/>
          <a:ext cx="0" cy="0"/>
          <a:chOff x="0" y="0"/>
          <a:chExt cx="0" cy="0"/>
        </a:xfrm>
      </p:grpSpPr>
      <p:sp>
        <p:nvSpPr>
          <p:cNvPr id="2" name="Text 0"/>
          <p:cNvSpPr/>
          <p:nvPr/>
        </p:nvSpPr>
        <p:spPr>
          <a:xfrm>
            <a:off x="594360" y="502920"/>
            <a:ext cx="1828800" cy="320040"/>
          </a:xfrm>
          <a:prstGeom prst="rect">
            <a:avLst/>
          </a:prstGeom>
          <a:noFill/>
          <a:ln/>
        </p:spPr>
        <p:txBody>
          <a:bodyPr wrap="square" lIns="0" tIns="0" rIns="0" bIns="0" rtlCol="0" anchor="ctr"/>
          <a:lstStyle/>
          <a:p>
            <a:pPr indent="0" marL="0">
              <a:buNone/>
            </a:pPr>
            <a:r>
              <a:rPr lang="en-US" sz="1300" b="1" dirty="0">
                <a:solidFill>
                  <a:srgbClr val="BDEEEE"/>
                </a:solidFill>
                <a:latin typeface="Aptos" pitchFamily="34" charset="0"/>
                <a:ea typeface="Aptos" pitchFamily="34" charset="-122"/>
                <a:cs typeface="Aptos" pitchFamily="34" charset="-120"/>
              </a:rPr>
              <a:t>SECTION 7</a:t>
            </a:r>
            <a:endParaRPr lang="en-US" sz="1300" dirty="0"/>
          </a:p>
        </p:txBody>
      </p:sp>
      <p:sp>
        <p:nvSpPr>
          <p:cNvPr id="3" name="Text 1"/>
          <p:cNvSpPr/>
          <p:nvPr/>
        </p:nvSpPr>
        <p:spPr>
          <a:xfrm>
            <a:off x="594360" y="1097280"/>
            <a:ext cx="10698480" cy="109728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Agents Based on Propositional Logic</a:t>
            </a:r>
            <a:endParaRPr lang="en-US" sz="4200" dirty="0"/>
          </a:p>
        </p:txBody>
      </p:sp>
      <p:sp>
        <p:nvSpPr>
          <p:cNvPr id="4" name="Text 2"/>
          <p:cNvSpPr/>
          <p:nvPr/>
        </p:nvSpPr>
        <p:spPr>
          <a:xfrm>
            <a:off x="640080" y="2304288"/>
            <a:ext cx="10607040" cy="548640"/>
          </a:xfrm>
          <a:prstGeom prst="rect">
            <a:avLst/>
          </a:prstGeom>
          <a:noFill/>
          <a:ln/>
        </p:spPr>
        <p:txBody>
          <a:bodyPr wrap="square" lIns="0" tIns="0" rIns="0" bIns="0" rtlCol="0" anchor="ctr">
            <a:normAutofit/>
          </a:bodyPr>
          <a:lstStyle/>
          <a:p>
            <a:pPr indent="0" marL="0">
              <a:buNone/>
            </a:pPr>
            <a:r>
              <a:rPr lang="en-US" sz="1800" dirty="0">
                <a:solidFill>
                  <a:srgbClr val="D9F6F6"/>
                </a:solidFill>
                <a:latin typeface="Aptos" pitchFamily="34" charset="0"/>
                <a:ea typeface="Aptos" pitchFamily="34" charset="-122"/>
                <a:cs typeface="Aptos" pitchFamily="34" charset="-120"/>
              </a:rPr>
              <a:t>Using logic to track the world and make plans.</a:t>
            </a:r>
            <a:endParaRPr lang="en-US" sz="1800" dirty="0"/>
          </a:p>
        </p:txBody>
      </p:sp>
      <p:sp>
        <p:nvSpPr>
          <p:cNvPr id="5" name="Shape 3"/>
          <p:cNvSpPr/>
          <p:nvPr/>
        </p:nvSpPr>
        <p:spPr>
          <a:xfrm>
            <a:off x="685800" y="3657600"/>
            <a:ext cx="3413760" cy="1417320"/>
          </a:xfrm>
          <a:prstGeom prst="roundRect">
            <a:avLst>
              <a:gd name="adj" fmla="val 3871"/>
            </a:avLst>
          </a:prstGeom>
          <a:solidFill>
            <a:srgbClr val="F8FBFB"/>
          </a:solidFill>
          <a:ln w="12700">
            <a:solidFill>
              <a:srgbClr val="B6D1D8"/>
            </a:solidFill>
            <a:prstDash val="solid"/>
          </a:ln>
        </p:spPr>
      </p:sp>
      <p:sp>
        <p:nvSpPr>
          <p:cNvPr id="6" name="Shape 4"/>
          <p:cNvSpPr/>
          <p:nvPr/>
        </p:nvSpPr>
        <p:spPr>
          <a:xfrm>
            <a:off x="685800" y="3657600"/>
            <a:ext cx="73152" cy="1417320"/>
          </a:xfrm>
          <a:prstGeom prst="rect">
            <a:avLst/>
          </a:prstGeom>
          <a:solidFill>
            <a:srgbClr val="F2B84B"/>
          </a:solidFill>
          <a:ln w="12700">
            <a:solidFill>
              <a:srgbClr val="F2B84B">
                <a:alpha val="0"/>
              </a:srgbClr>
            </a:solidFill>
            <a:prstDash val="solid"/>
          </a:ln>
        </p:spPr>
      </p:sp>
      <p:sp>
        <p:nvSpPr>
          <p:cNvPr id="7" name="Text 5"/>
          <p:cNvSpPr/>
          <p:nvPr/>
        </p:nvSpPr>
        <p:spPr>
          <a:xfrm>
            <a:off x="85039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State estimation</a:t>
            </a:r>
            <a:endParaRPr lang="en-US" sz="1200" dirty="0"/>
          </a:p>
        </p:txBody>
      </p:sp>
      <p:sp>
        <p:nvSpPr>
          <p:cNvPr id="8" name="Text 6"/>
          <p:cNvSpPr/>
          <p:nvPr/>
        </p:nvSpPr>
        <p:spPr>
          <a:xfrm>
            <a:off x="85039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Maintain a sentence describing possible current states.</a:t>
            </a:r>
            <a:endParaRPr lang="en-US" sz="1000" dirty="0"/>
          </a:p>
        </p:txBody>
      </p:sp>
      <p:sp>
        <p:nvSpPr>
          <p:cNvPr id="9" name="Shape 7"/>
          <p:cNvSpPr/>
          <p:nvPr/>
        </p:nvSpPr>
        <p:spPr>
          <a:xfrm>
            <a:off x="4373880" y="3657600"/>
            <a:ext cx="3413760" cy="1417320"/>
          </a:xfrm>
          <a:prstGeom prst="roundRect">
            <a:avLst>
              <a:gd name="adj" fmla="val 3871"/>
            </a:avLst>
          </a:prstGeom>
          <a:solidFill>
            <a:srgbClr val="F8FBFB"/>
          </a:solidFill>
          <a:ln w="12700">
            <a:solidFill>
              <a:srgbClr val="B6D1D8"/>
            </a:solidFill>
            <a:prstDash val="solid"/>
          </a:ln>
        </p:spPr>
      </p:sp>
      <p:sp>
        <p:nvSpPr>
          <p:cNvPr id="10" name="Shape 8"/>
          <p:cNvSpPr/>
          <p:nvPr/>
        </p:nvSpPr>
        <p:spPr>
          <a:xfrm>
            <a:off x="4373880" y="3657600"/>
            <a:ext cx="73152" cy="1417320"/>
          </a:xfrm>
          <a:prstGeom prst="rect">
            <a:avLst/>
          </a:prstGeom>
          <a:solidFill>
            <a:srgbClr val="168A8A"/>
          </a:solidFill>
          <a:ln w="12700">
            <a:solidFill>
              <a:srgbClr val="168A8A">
                <a:alpha val="0"/>
              </a:srgbClr>
            </a:solidFill>
            <a:prstDash val="solid"/>
          </a:ln>
        </p:spPr>
      </p:sp>
      <p:sp>
        <p:nvSpPr>
          <p:cNvPr id="11" name="Text 9"/>
          <p:cNvSpPr/>
          <p:nvPr/>
        </p:nvSpPr>
        <p:spPr>
          <a:xfrm>
            <a:off x="453847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Hybrid agents</a:t>
            </a:r>
            <a:endParaRPr lang="en-US" sz="1200" dirty="0"/>
          </a:p>
        </p:txBody>
      </p:sp>
      <p:sp>
        <p:nvSpPr>
          <p:cNvPr id="12" name="Text 10"/>
          <p:cNvSpPr/>
          <p:nvPr/>
        </p:nvSpPr>
        <p:spPr>
          <a:xfrm>
            <a:off x="453847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Combine logical inference with search/planning routines.</a:t>
            </a:r>
            <a:endParaRPr lang="en-US" sz="1000" dirty="0"/>
          </a:p>
        </p:txBody>
      </p:sp>
      <p:sp>
        <p:nvSpPr>
          <p:cNvPr id="13" name="Shape 11"/>
          <p:cNvSpPr/>
          <p:nvPr/>
        </p:nvSpPr>
        <p:spPr>
          <a:xfrm>
            <a:off x="8061960" y="3657600"/>
            <a:ext cx="3413760" cy="1417320"/>
          </a:xfrm>
          <a:prstGeom prst="roundRect">
            <a:avLst>
              <a:gd name="adj" fmla="val 3871"/>
            </a:avLst>
          </a:prstGeom>
          <a:solidFill>
            <a:srgbClr val="F8FBFB"/>
          </a:solidFill>
          <a:ln w="12700">
            <a:solidFill>
              <a:srgbClr val="B6D1D8"/>
            </a:solidFill>
            <a:prstDash val="solid"/>
          </a:ln>
        </p:spPr>
      </p:sp>
      <p:sp>
        <p:nvSpPr>
          <p:cNvPr id="14" name="Shape 12"/>
          <p:cNvSpPr/>
          <p:nvPr/>
        </p:nvSpPr>
        <p:spPr>
          <a:xfrm>
            <a:off x="8061960" y="3657600"/>
            <a:ext cx="73152" cy="1417320"/>
          </a:xfrm>
          <a:prstGeom prst="rect">
            <a:avLst/>
          </a:prstGeom>
          <a:solidFill>
            <a:srgbClr val="F2B84B"/>
          </a:solidFill>
          <a:ln w="12700">
            <a:solidFill>
              <a:srgbClr val="F2B84B">
                <a:alpha val="0"/>
              </a:srgbClr>
            </a:solidFill>
            <a:prstDash val="solid"/>
          </a:ln>
        </p:spPr>
      </p:sp>
      <p:sp>
        <p:nvSpPr>
          <p:cNvPr id="15" name="Text 13"/>
          <p:cNvSpPr/>
          <p:nvPr/>
        </p:nvSpPr>
        <p:spPr>
          <a:xfrm>
            <a:off x="8226552" y="3785616"/>
            <a:ext cx="3139440" cy="292608"/>
          </a:xfrm>
          <a:prstGeom prst="rect">
            <a:avLst/>
          </a:prstGeom>
          <a:noFill/>
          <a:ln/>
        </p:spPr>
        <p:txBody>
          <a:bodyPr wrap="square" lIns="0" tIns="0" rIns="0" bIns="0" rtlCol="0" anchor="t">
            <a:normAutofit/>
          </a:bodyPr>
          <a:lstStyle/>
          <a:p>
            <a:pPr indent="0" marL="0">
              <a:buNone/>
            </a:pPr>
            <a:r>
              <a:rPr lang="en-US" sz="1200" b="1" dirty="0">
                <a:solidFill>
                  <a:srgbClr val="005088"/>
                </a:solidFill>
                <a:latin typeface="Aptos Display" pitchFamily="34" charset="0"/>
                <a:ea typeface="Aptos Display" pitchFamily="34" charset="-122"/>
                <a:cs typeface="Aptos Display" pitchFamily="34" charset="-120"/>
              </a:rPr>
              <a:t>SATPLAN</a:t>
            </a:r>
            <a:endParaRPr lang="en-US" sz="1200" dirty="0"/>
          </a:p>
        </p:txBody>
      </p:sp>
      <p:sp>
        <p:nvSpPr>
          <p:cNvPr id="16" name="Text 14"/>
          <p:cNvSpPr/>
          <p:nvPr/>
        </p:nvSpPr>
        <p:spPr>
          <a:xfrm>
            <a:off x="8226552" y="4133088"/>
            <a:ext cx="3121152" cy="850392"/>
          </a:xfrm>
          <a:prstGeom prst="rect">
            <a:avLst/>
          </a:prstGeom>
          <a:noFill/>
          <a:ln/>
        </p:spPr>
        <p:txBody>
          <a:bodyPr wrap="square" lIns="254" tIns="254" rIns="254" bIns="254" rtlCol="0" anchor="t">
            <a:normAutofit/>
          </a:bodyPr>
          <a:lstStyle/>
          <a:p>
            <a:pPr indent="0" marL="0">
              <a:buNone/>
            </a:pPr>
            <a:r>
              <a:rPr lang="en-US" sz="1000" dirty="0">
                <a:solidFill>
                  <a:srgbClr val="1E293B"/>
                </a:solidFill>
                <a:latin typeface="Aptos" pitchFamily="34" charset="0"/>
                <a:ea typeface="Aptos" pitchFamily="34" charset="-122"/>
                <a:cs typeface="Aptos" pitchFamily="34" charset="-120"/>
              </a:rPr>
              <a:t>Turn planning into satisfiability.</a:t>
            </a:r>
            <a:endParaRPr lang="en-US" sz="1000" dirty="0"/>
          </a:p>
        </p:txBody>
      </p:sp>
      <p:sp>
        <p:nvSpPr>
          <p:cNvPr id="17" name="Text 15"/>
          <p:cNvSpPr/>
          <p:nvPr/>
        </p:nvSpPr>
        <p:spPr>
          <a:xfrm>
            <a:off x="640080" y="6355080"/>
            <a:ext cx="6400800" cy="256032"/>
          </a:xfrm>
          <a:prstGeom prst="rect">
            <a:avLst/>
          </a:prstGeom>
          <a:noFill/>
          <a:ln/>
        </p:spPr>
        <p:txBody>
          <a:bodyPr wrap="square" lIns="0" tIns="0" rIns="0" bIns="0" rtlCol="0" anchor="ctr"/>
          <a:lstStyle/>
          <a:p>
            <a:pPr indent="0" marL="0">
              <a:buNone/>
            </a:pPr>
            <a:r>
              <a:rPr lang="en-US" sz="900" dirty="0">
                <a:solidFill>
                  <a:srgbClr val="BDEEEE"/>
                </a:solidFill>
                <a:latin typeface="Aptos" pitchFamily="34" charset="0"/>
                <a:ea typeface="Aptos" pitchFamily="34" charset="-122"/>
                <a:cs typeface="Aptos" pitchFamily="34" charset="-120"/>
              </a:rPr>
              <a:t>COMP 469 | CSU Channel Islands</a:t>
            </a:r>
            <a:endParaRPr lang="en-US" sz="900" dirty="0"/>
          </a:p>
        </p:txBody>
      </p:sp>
      <p:sp>
        <p:nvSpPr>
          <p:cNvPr id="18" name="Text 16"/>
          <p:cNvSpPr/>
          <p:nvPr/>
        </p:nvSpPr>
        <p:spPr>
          <a:xfrm>
            <a:off x="11201400" y="6327648"/>
            <a:ext cx="411480" cy="256032"/>
          </a:xfrm>
          <a:prstGeom prst="rect">
            <a:avLst/>
          </a:prstGeom>
          <a:noFill/>
          <a:ln/>
        </p:spPr>
        <p:txBody>
          <a:bodyPr wrap="square" lIns="0" tIns="0" rIns="0" bIns="0"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70</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The Current State of the World</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Logical agents estimate state from percept history.</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Fluents</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State properties that can change over time, such as At_1,1_t or HasArrow_t.</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Static facts</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Rules that do not change, such as adjacency relationships.</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Belief state</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logical sentence describing all states still possible.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Update</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Use action effects and new percepts to refine the belief state.</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71</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Successor-State Axioms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Compact rules for what changes and what stays the same.</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Problem</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The agent needs to know how actions change fluents over time.</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Successor-state axiom</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rule specifying when a fluent is true at time t+1.</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E76F51"/>
          </a:solidFill>
          <a:ln w="12700">
            <a:solidFill>
              <a:srgbClr val="E76F51">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Frame problem</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Most things stay unchanged after most actions; representing that naively is expensive.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6B5CA5"/>
          </a:solidFill>
          <a:ln w="12700">
            <a:solidFill>
              <a:srgbClr val="6B5CA5">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Teaching analogy</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Like an accounting ledger: record changes, not every unchanged item.</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7.20: Hybrid Wumpus Agent</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logic-based agent with planning and action selection.</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20_hybrid_wumpus_agent.png">    </p:cNvPr>
          <p:cNvPicPr>
            <a:picLocks noChangeAspect="1"/>
          </p:cNvPicPr>
          <p:nvPr/>
        </p:nvPicPr>
        <p:blipFill>
          <a:blip r:embed="rId1"/>
          <a:stretch>
            <a:fillRect/>
          </a:stretch>
        </p:blipFill>
        <p:spPr>
          <a:xfrm>
            <a:off x="2060468" y="1417320"/>
            <a:ext cx="3422863" cy="4434840"/>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7.20: Hybrid Wumpus agent program</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Update KB</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Tell the KB percepts and time-indexed action facts.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Infer safety</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Ask which squares are safe, visited, or hazardous.</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Plan actions</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Use search/planning to reach gold or safe unvisited squares.</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Hybrid design</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Logic handles knowledge; search handles action sequences.</a:t>
            </a:r>
            <a:endParaRPr lang="en-US" sz="102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73</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7.21: 1-CNF Belief State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compact representation can still cover many possible worlds.</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21_1cnf_belief.png">    </p:cNvPr>
          <p:cNvPicPr>
            <a:picLocks noChangeAspect="1"/>
          </p:cNvPicPr>
          <p:nvPr/>
        </p:nvPicPr>
        <p:blipFill>
          <a:blip r:embed="rId1"/>
          <a:stretch>
            <a:fillRect/>
          </a:stretch>
        </p:blipFill>
        <p:spPr>
          <a:xfrm>
            <a:off x="731520" y="1541065"/>
            <a:ext cx="6080760" cy="4187350"/>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7.21: 1-CNF belief state depiction</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Belief state</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Represents uncertainty over possible worlds.</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Compact formula</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Some belief sets can be represented concisely.</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6B5CA5"/>
          </a:solidFill>
          <a:ln w="12700">
            <a:solidFill>
              <a:srgbClr val="6B5CA5">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Many worlds</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 small logical formula can stand for many states.</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Limit</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Not every belief state has a compact propositional form.</a:t>
            </a:r>
            <a:endParaRPr lang="en-US" sz="102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Logical Planning</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Making Plans by Propositional Inference</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Planning can be reduced to SAT.</a:t>
            </a:r>
            <a:endParaRPr lang="en-US" sz="850" dirty="0"/>
          </a:p>
        </p:txBody>
      </p:sp>
      <p:sp>
        <p:nvSpPr>
          <p:cNvPr id="9" name="Shape 7"/>
          <p:cNvSpPr/>
          <p:nvPr/>
        </p:nvSpPr>
        <p:spPr>
          <a:xfrm>
            <a:off x="731520" y="1417320"/>
            <a:ext cx="5074920" cy="2057400"/>
          </a:xfrm>
          <a:prstGeom prst="roundRect">
            <a:avLst>
              <a:gd name="adj" fmla="val 2667"/>
            </a:avLst>
          </a:prstGeom>
          <a:solidFill>
            <a:srgbClr val="FFFDF7"/>
          </a:solidFill>
          <a:ln w="12700">
            <a:solidFill>
              <a:srgbClr val="B6D1D8"/>
            </a:solidFill>
            <a:prstDash val="solid"/>
          </a:ln>
        </p:spPr>
      </p:sp>
      <p:sp>
        <p:nvSpPr>
          <p:cNvPr id="10" name="Shape 8"/>
          <p:cNvSpPr/>
          <p:nvPr/>
        </p:nvSpPr>
        <p:spPr>
          <a:xfrm>
            <a:off x="731520" y="1417320"/>
            <a:ext cx="73152" cy="2057400"/>
          </a:xfrm>
          <a:prstGeom prst="rect">
            <a:avLst/>
          </a:prstGeom>
          <a:solidFill>
            <a:srgbClr val="168A8A"/>
          </a:solidFill>
          <a:ln w="12700">
            <a:solidFill>
              <a:srgbClr val="168A8A">
                <a:alpha val="0"/>
              </a:srgbClr>
            </a:solidFill>
            <a:prstDash val="solid"/>
          </a:ln>
        </p:spPr>
      </p:sp>
      <p:sp>
        <p:nvSpPr>
          <p:cNvPr id="11" name="Text 9"/>
          <p:cNvSpPr/>
          <p:nvPr/>
        </p:nvSpPr>
        <p:spPr>
          <a:xfrm>
            <a:off x="896112" y="154533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Planning query</a:t>
            </a:r>
            <a:endParaRPr lang="en-US" sz="1400" dirty="0"/>
          </a:p>
        </p:txBody>
      </p:sp>
      <p:sp>
        <p:nvSpPr>
          <p:cNvPr id="12" name="Text 10"/>
          <p:cNvSpPr/>
          <p:nvPr/>
        </p:nvSpPr>
        <p:spPr>
          <a:xfrm>
            <a:off x="896112" y="189280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Encode initial state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Encode legal actions at each time</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Encode transition rules</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Encode the goal at final time</a:t>
            </a:r>
            <a:endParaRPr lang="en-US" sz="1170" dirty="0"/>
          </a:p>
        </p:txBody>
      </p:sp>
      <p:sp>
        <p:nvSpPr>
          <p:cNvPr id="13" name="Shape 11"/>
          <p:cNvSpPr/>
          <p:nvPr/>
        </p:nvSpPr>
        <p:spPr>
          <a:xfrm>
            <a:off x="731520" y="3657600"/>
            <a:ext cx="5074920" cy="2057400"/>
          </a:xfrm>
          <a:prstGeom prst="roundRect">
            <a:avLst>
              <a:gd name="adj" fmla="val 2667"/>
            </a:avLst>
          </a:prstGeom>
          <a:solidFill>
            <a:srgbClr val="FFFDF7"/>
          </a:solidFill>
          <a:ln w="12700">
            <a:solidFill>
              <a:srgbClr val="B6D1D8"/>
            </a:solidFill>
            <a:prstDash val="solid"/>
          </a:ln>
        </p:spPr>
      </p:sp>
      <p:sp>
        <p:nvSpPr>
          <p:cNvPr id="14" name="Shape 12"/>
          <p:cNvSpPr/>
          <p:nvPr/>
        </p:nvSpPr>
        <p:spPr>
          <a:xfrm>
            <a:off x="731520" y="3657600"/>
            <a:ext cx="73152" cy="2057400"/>
          </a:xfrm>
          <a:prstGeom prst="rect">
            <a:avLst/>
          </a:prstGeom>
          <a:solidFill>
            <a:srgbClr val="F2B84B"/>
          </a:solidFill>
          <a:ln w="12700">
            <a:solidFill>
              <a:srgbClr val="F2B84B">
                <a:alpha val="0"/>
              </a:srgbClr>
            </a:solidFill>
            <a:prstDash val="solid"/>
          </a:ln>
        </p:spPr>
      </p:sp>
      <p:sp>
        <p:nvSpPr>
          <p:cNvPr id="15" name="Text 13"/>
          <p:cNvSpPr/>
          <p:nvPr/>
        </p:nvSpPr>
        <p:spPr>
          <a:xfrm>
            <a:off x="896112" y="3785616"/>
            <a:ext cx="480060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SAT solver answer</a:t>
            </a:r>
            <a:endParaRPr lang="en-US" sz="1400" dirty="0"/>
          </a:p>
        </p:txBody>
      </p:sp>
      <p:sp>
        <p:nvSpPr>
          <p:cNvPr id="16" name="Text 14"/>
          <p:cNvSpPr/>
          <p:nvPr/>
        </p:nvSpPr>
        <p:spPr>
          <a:xfrm>
            <a:off x="896112" y="4133088"/>
            <a:ext cx="4782312" cy="1490472"/>
          </a:xfrm>
          <a:prstGeom prst="rect">
            <a:avLst/>
          </a:prstGeom>
          <a:noFill/>
          <a:ln/>
        </p:spPr>
        <p:txBody>
          <a:bodyPr wrap="square" lIns="254" tIns="254" rIns="254" bIns="254" rtlCol="0" anchor="t">
            <a:normAutofit/>
          </a:bodyPr>
          <a:lstStyle/>
          <a:p>
            <a:pPr indent="0" marL="0">
              <a:buNone/>
            </a:pPr>
            <a:r>
              <a:rPr lang="en-US" sz="1170" dirty="0">
                <a:solidFill>
                  <a:srgbClr val="1E293B"/>
                </a:solidFill>
                <a:latin typeface="Aptos" pitchFamily="34" charset="0"/>
                <a:ea typeface="Aptos" pitchFamily="34" charset="-122"/>
                <a:cs typeface="Aptos" pitchFamily="34" charset="-120"/>
              </a:rPr>
              <a:t>• If satisfiable: extract action sequence from the model</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If unsatisfiable: try a longer horizon</a:t>
            </a:r>
            <a:endParaRPr lang="en-US" sz="1170" dirty="0"/>
          </a:p>
          <a:p>
            <a:pPr indent="0" marL="0">
              <a:buNone/>
            </a:pPr>
            <a:r>
              <a:rPr lang="en-US" sz="1170" dirty="0">
                <a:solidFill>
                  <a:srgbClr val="1E293B"/>
                </a:solidFill>
                <a:latin typeface="Aptos" pitchFamily="34" charset="0"/>
                <a:ea typeface="Aptos" pitchFamily="34" charset="-122"/>
                <a:cs typeface="Aptos" pitchFamily="34" charset="-120"/>
              </a:rPr>
              <a:t>• This is the idea behind SATPLAN</a:t>
            </a:r>
            <a:endParaRPr lang="en-US" sz="1170" dirty="0"/>
          </a:p>
        </p:txBody>
      </p:sp>
      <p:sp>
        <p:nvSpPr>
          <p:cNvPr id="17" name="Shape 15"/>
          <p:cNvSpPr/>
          <p:nvPr/>
        </p:nvSpPr>
        <p:spPr>
          <a:xfrm>
            <a:off x="6446520" y="2423160"/>
            <a:ext cx="777240" cy="502920"/>
          </a:xfrm>
          <a:prstGeom prst="roundRect">
            <a:avLst>
              <a:gd name="adj" fmla="val 10909"/>
            </a:avLst>
          </a:prstGeom>
          <a:solidFill>
            <a:srgbClr val="168A8A"/>
          </a:solidFill>
          <a:ln w="12700">
            <a:solidFill>
              <a:srgbClr val="168A8A">
                <a:alpha val="0"/>
              </a:srgbClr>
            </a:solidFill>
            <a:prstDash val="solid"/>
          </a:ln>
        </p:spPr>
      </p:sp>
      <p:sp>
        <p:nvSpPr>
          <p:cNvPr id="18" name="Text 16"/>
          <p:cNvSpPr/>
          <p:nvPr/>
        </p:nvSpPr>
        <p:spPr>
          <a:xfrm>
            <a:off x="6483096" y="2587752"/>
            <a:ext cx="704088" cy="164592"/>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Aptos" pitchFamily="34" charset="0"/>
                <a:ea typeface="Aptos" pitchFamily="34" charset="-122"/>
                <a:cs typeface="Aptos" pitchFamily="34" charset="-120"/>
              </a:rPr>
              <a:t>t=0</a:t>
            </a:r>
            <a:endParaRPr lang="en-US" sz="840" dirty="0"/>
          </a:p>
        </p:txBody>
      </p:sp>
      <p:sp>
        <p:nvSpPr>
          <p:cNvPr id="19" name="Shape 17"/>
          <p:cNvSpPr/>
          <p:nvPr/>
        </p:nvSpPr>
        <p:spPr>
          <a:xfrm>
            <a:off x="7223760" y="2679192"/>
            <a:ext cx="182880" cy="0"/>
          </a:xfrm>
          <a:prstGeom prst="line">
            <a:avLst/>
          </a:prstGeom>
          <a:noFill/>
          <a:ln w="12700">
            <a:solidFill>
              <a:srgbClr val="1E293B"/>
            </a:solidFill>
            <a:prstDash val="solid"/>
            <a:tailEnd type="triangle"/>
          </a:ln>
        </p:spPr>
      </p:sp>
      <p:sp>
        <p:nvSpPr>
          <p:cNvPr id="20" name="Shape 18"/>
          <p:cNvSpPr/>
          <p:nvPr/>
        </p:nvSpPr>
        <p:spPr>
          <a:xfrm>
            <a:off x="7406640" y="2423160"/>
            <a:ext cx="777240" cy="502920"/>
          </a:xfrm>
          <a:prstGeom prst="roundRect">
            <a:avLst>
              <a:gd name="adj" fmla="val 10909"/>
            </a:avLst>
          </a:prstGeom>
          <a:solidFill>
            <a:srgbClr val="F2B84B"/>
          </a:solidFill>
          <a:ln w="12700">
            <a:solidFill>
              <a:srgbClr val="F2B84B">
                <a:alpha val="0"/>
              </a:srgbClr>
            </a:solidFill>
            <a:prstDash val="solid"/>
          </a:ln>
        </p:spPr>
      </p:sp>
      <p:sp>
        <p:nvSpPr>
          <p:cNvPr id="21" name="Text 19"/>
          <p:cNvSpPr/>
          <p:nvPr/>
        </p:nvSpPr>
        <p:spPr>
          <a:xfrm>
            <a:off x="7443216" y="2587752"/>
            <a:ext cx="704088" cy="164592"/>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Aptos" pitchFamily="34" charset="0"/>
                <a:ea typeface="Aptos" pitchFamily="34" charset="-122"/>
                <a:cs typeface="Aptos" pitchFamily="34" charset="-120"/>
              </a:rPr>
              <a:t>A0</a:t>
            </a:r>
            <a:endParaRPr lang="en-US" sz="840" dirty="0"/>
          </a:p>
        </p:txBody>
      </p:sp>
      <p:sp>
        <p:nvSpPr>
          <p:cNvPr id="22" name="Shape 20"/>
          <p:cNvSpPr/>
          <p:nvPr/>
        </p:nvSpPr>
        <p:spPr>
          <a:xfrm>
            <a:off x="8183880" y="2679192"/>
            <a:ext cx="182880" cy="0"/>
          </a:xfrm>
          <a:prstGeom prst="line">
            <a:avLst/>
          </a:prstGeom>
          <a:noFill/>
          <a:ln w="12700">
            <a:solidFill>
              <a:srgbClr val="1E293B"/>
            </a:solidFill>
            <a:prstDash val="solid"/>
            <a:tailEnd type="triangle"/>
          </a:ln>
        </p:spPr>
      </p:sp>
      <p:sp>
        <p:nvSpPr>
          <p:cNvPr id="23" name="Shape 21"/>
          <p:cNvSpPr/>
          <p:nvPr/>
        </p:nvSpPr>
        <p:spPr>
          <a:xfrm>
            <a:off x="8366760" y="2423160"/>
            <a:ext cx="777240" cy="502920"/>
          </a:xfrm>
          <a:prstGeom prst="roundRect">
            <a:avLst>
              <a:gd name="adj" fmla="val 10909"/>
            </a:avLst>
          </a:prstGeom>
          <a:solidFill>
            <a:srgbClr val="168A8A"/>
          </a:solidFill>
          <a:ln w="12700">
            <a:solidFill>
              <a:srgbClr val="168A8A">
                <a:alpha val="0"/>
              </a:srgbClr>
            </a:solidFill>
            <a:prstDash val="solid"/>
          </a:ln>
        </p:spPr>
      </p:sp>
      <p:sp>
        <p:nvSpPr>
          <p:cNvPr id="24" name="Text 22"/>
          <p:cNvSpPr/>
          <p:nvPr/>
        </p:nvSpPr>
        <p:spPr>
          <a:xfrm>
            <a:off x="8403336" y="2587752"/>
            <a:ext cx="704088" cy="164592"/>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Aptos" pitchFamily="34" charset="0"/>
                <a:ea typeface="Aptos" pitchFamily="34" charset="-122"/>
                <a:cs typeface="Aptos" pitchFamily="34" charset="-120"/>
              </a:rPr>
              <a:t>t=1</a:t>
            </a:r>
            <a:endParaRPr lang="en-US" sz="840" dirty="0"/>
          </a:p>
        </p:txBody>
      </p:sp>
      <p:sp>
        <p:nvSpPr>
          <p:cNvPr id="25" name="Shape 23"/>
          <p:cNvSpPr/>
          <p:nvPr/>
        </p:nvSpPr>
        <p:spPr>
          <a:xfrm>
            <a:off x="9144000" y="2679192"/>
            <a:ext cx="182880" cy="0"/>
          </a:xfrm>
          <a:prstGeom prst="line">
            <a:avLst/>
          </a:prstGeom>
          <a:noFill/>
          <a:ln w="12700">
            <a:solidFill>
              <a:srgbClr val="1E293B"/>
            </a:solidFill>
            <a:prstDash val="solid"/>
            <a:tailEnd type="triangle"/>
          </a:ln>
        </p:spPr>
      </p:sp>
      <p:sp>
        <p:nvSpPr>
          <p:cNvPr id="26" name="Shape 24"/>
          <p:cNvSpPr/>
          <p:nvPr/>
        </p:nvSpPr>
        <p:spPr>
          <a:xfrm>
            <a:off x="9326880" y="2423160"/>
            <a:ext cx="777240" cy="502920"/>
          </a:xfrm>
          <a:prstGeom prst="roundRect">
            <a:avLst>
              <a:gd name="adj" fmla="val 10909"/>
            </a:avLst>
          </a:prstGeom>
          <a:solidFill>
            <a:srgbClr val="F2B84B"/>
          </a:solidFill>
          <a:ln w="12700">
            <a:solidFill>
              <a:srgbClr val="F2B84B">
                <a:alpha val="0"/>
              </a:srgbClr>
            </a:solidFill>
            <a:prstDash val="solid"/>
          </a:ln>
        </p:spPr>
      </p:sp>
      <p:sp>
        <p:nvSpPr>
          <p:cNvPr id="27" name="Text 25"/>
          <p:cNvSpPr/>
          <p:nvPr/>
        </p:nvSpPr>
        <p:spPr>
          <a:xfrm>
            <a:off x="9363456" y="2587752"/>
            <a:ext cx="704088" cy="164592"/>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Aptos" pitchFamily="34" charset="0"/>
                <a:ea typeface="Aptos" pitchFamily="34" charset="-122"/>
                <a:cs typeface="Aptos" pitchFamily="34" charset="-120"/>
              </a:rPr>
              <a:t>A1</a:t>
            </a:r>
            <a:endParaRPr lang="en-US" sz="840" dirty="0"/>
          </a:p>
        </p:txBody>
      </p:sp>
      <p:sp>
        <p:nvSpPr>
          <p:cNvPr id="28" name="Shape 26"/>
          <p:cNvSpPr/>
          <p:nvPr/>
        </p:nvSpPr>
        <p:spPr>
          <a:xfrm>
            <a:off x="10104120" y="2679192"/>
            <a:ext cx="182880" cy="0"/>
          </a:xfrm>
          <a:prstGeom prst="line">
            <a:avLst/>
          </a:prstGeom>
          <a:noFill/>
          <a:ln w="12700">
            <a:solidFill>
              <a:srgbClr val="1E293B"/>
            </a:solidFill>
            <a:prstDash val="solid"/>
            <a:tailEnd type="triangle"/>
          </a:ln>
        </p:spPr>
      </p:sp>
      <p:sp>
        <p:nvSpPr>
          <p:cNvPr id="29" name="Shape 27"/>
          <p:cNvSpPr/>
          <p:nvPr/>
        </p:nvSpPr>
        <p:spPr>
          <a:xfrm>
            <a:off x="10287000" y="2423160"/>
            <a:ext cx="777240" cy="502920"/>
          </a:xfrm>
          <a:prstGeom prst="roundRect">
            <a:avLst>
              <a:gd name="adj" fmla="val 10909"/>
            </a:avLst>
          </a:prstGeom>
          <a:solidFill>
            <a:srgbClr val="168A8A"/>
          </a:solidFill>
          <a:ln w="12700">
            <a:solidFill>
              <a:srgbClr val="168A8A">
                <a:alpha val="0"/>
              </a:srgbClr>
            </a:solidFill>
            <a:prstDash val="solid"/>
          </a:ln>
        </p:spPr>
      </p:sp>
      <p:sp>
        <p:nvSpPr>
          <p:cNvPr id="30" name="Text 28"/>
          <p:cNvSpPr/>
          <p:nvPr/>
        </p:nvSpPr>
        <p:spPr>
          <a:xfrm>
            <a:off x="10323576" y="2587752"/>
            <a:ext cx="704088" cy="164592"/>
          </a:xfrm>
          <a:prstGeom prst="rect">
            <a:avLst/>
          </a:prstGeom>
          <a:noFill/>
          <a:ln/>
        </p:spPr>
        <p:txBody>
          <a:bodyPr wrap="square" lIns="0" tIns="0" rIns="0" bIns="0" rtlCol="0" anchor="ctr">
            <a:normAutofit/>
          </a:bodyPr>
          <a:lstStyle/>
          <a:p>
            <a:pPr algn="ctr" indent="0" marL="0">
              <a:buNone/>
            </a:pPr>
            <a:r>
              <a:rPr lang="en-US" sz="840" b="1" dirty="0">
                <a:solidFill>
                  <a:srgbClr val="FFFFFF"/>
                </a:solidFill>
                <a:latin typeface="Aptos" pitchFamily="34" charset="0"/>
                <a:ea typeface="Aptos" pitchFamily="34" charset="-122"/>
                <a:cs typeface="Aptos" pitchFamily="34" charset="-120"/>
              </a:rPr>
              <a:t>t=2</a:t>
            </a:r>
            <a:endParaRPr lang="en-US" sz="840" dirty="0"/>
          </a:p>
        </p:txBody>
      </p:sp>
      <p:sp>
        <p:nvSpPr>
          <p:cNvPr id="31" name="Shape 29"/>
          <p:cNvSpPr/>
          <p:nvPr/>
        </p:nvSpPr>
        <p:spPr>
          <a:xfrm>
            <a:off x="6400800" y="3474720"/>
            <a:ext cx="1447800" cy="1051560"/>
          </a:xfrm>
          <a:prstGeom prst="roundRect">
            <a:avLst>
              <a:gd name="adj" fmla="val 5217"/>
            </a:avLst>
          </a:prstGeom>
          <a:solidFill>
            <a:srgbClr val="F8FBFB"/>
          </a:solidFill>
          <a:ln w="12700">
            <a:solidFill>
              <a:srgbClr val="B6D1D8"/>
            </a:solidFill>
            <a:prstDash val="solid"/>
          </a:ln>
        </p:spPr>
      </p:sp>
      <p:sp>
        <p:nvSpPr>
          <p:cNvPr id="32" name="Shape 30"/>
          <p:cNvSpPr/>
          <p:nvPr/>
        </p:nvSpPr>
        <p:spPr>
          <a:xfrm>
            <a:off x="6400800" y="3474720"/>
            <a:ext cx="73152" cy="1051560"/>
          </a:xfrm>
          <a:prstGeom prst="rect">
            <a:avLst/>
          </a:prstGeom>
          <a:solidFill>
            <a:srgbClr val="168A8A"/>
          </a:solidFill>
          <a:ln w="12700">
            <a:solidFill>
              <a:srgbClr val="168A8A">
                <a:alpha val="0"/>
              </a:srgbClr>
            </a:solidFill>
            <a:prstDash val="solid"/>
          </a:ln>
        </p:spPr>
      </p:sp>
      <p:sp>
        <p:nvSpPr>
          <p:cNvPr id="33" name="Text 31"/>
          <p:cNvSpPr/>
          <p:nvPr/>
        </p:nvSpPr>
        <p:spPr>
          <a:xfrm>
            <a:off x="6565392" y="3602736"/>
            <a:ext cx="1173480" cy="292608"/>
          </a:xfrm>
          <a:prstGeom prst="rect">
            <a:avLst/>
          </a:prstGeom>
          <a:noFill/>
          <a:ln/>
        </p:spPr>
        <p:txBody>
          <a:bodyPr wrap="square" lIns="0" tIns="0" rIns="0" bIns="0" rtlCol="0" anchor="t">
            <a:normAutofit/>
          </a:bodyPr>
          <a:lstStyle/>
          <a:p>
            <a:pPr indent="0" marL="0">
              <a:buNone/>
            </a:pPr>
            <a:r>
              <a:rPr lang="en-US" sz="1050" b="1" dirty="0">
                <a:solidFill>
                  <a:srgbClr val="005088"/>
                </a:solidFill>
                <a:latin typeface="Aptos Display" pitchFamily="34" charset="0"/>
                <a:ea typeface="Aptos Display" pitchFamily="34" charset="-122"/>
                <a:cs typeface="Aptos Display" pitchFamily="34" charset="-120"/>
              </a:rPr>
              <a:t>Encode</a:t>
            </a:r>
            <a:endParaRPr lang="en-US" sz="1050" dirty="0"/>
          </a:p>
        </p:txBody>
      </p:sp>
      <p:sp>
        <p:nvSpPr>
          <p:cNvPr id="34" name="Text 32"/>
          <p:cNvSpPr/>
          <p:nvPr/>
        </p:nvSpPr>
        <p:spPr>
          <a:xfrm>
            <a:off x="6565392" y="3950208"/>
            <a:ext cx="1155192" cy="484632"/>
          </a:xfrm>
          <a:prstGeom prst="rect">
            <a:avLst/>
          </a:prstGeom>
          <a:noFill/>
          <a:ln/>
        </p:spPr>
        <p:txBody>
          <a:bodyPr wrap="square" lIns="254" tIns="254" rIns="254" bIns="254" rtlCol="0" anchor="t">
            <a:normAutofit/>
          </a:bodyPr>
          <a:lstStyle/>
          <a:p>
            <a:pPr indent="0" marL="0">
              <a:buNone/>
            </a:pPr>
            <a:r>
              <a:rPr lang="en-US" sz="880" dirty="0">
                <a:solidFill>
                  <a:srgbClr val="1E293B"/>
                </a:solidFill>
                <a:latin typeface="Aptos" pitchFamily="34" charset="0"/>
                <a:ea typeface="Aptos" pitchFamily="34" charset="-122"/>
                <a:cs typeface="Aptos" pitchFamily="34" charset="-120"/>
              </a:rPr>
              <a:t>Initial state, actions, transition rules, goal</a:t>
            </a:r>
            <a:endParaRPr lang="en-US" sz="880" dirty="0"/>
          </a:p>
        </p:txBody>
      </p:sp>
      <p:sp>
        <p:nvSpPr>
          <p:cNvPr id="35" name="Shape 33"/>
          <p:cNvSpPr/>
          <p:nvPr/>
        </p:nvSpPr>
        <p:spPr>
          <a:xfrm>
            <a:off x="8031480" y="3474720"/>
            <a:ext cx="1447800" cy="1051560"/>
          </a:xfrm>
          <a:prstGeom prst="roundRect">
            <a:avLst>
              <a:gd name="adj" fmla="val 5217"/>
            </a:avLst>
          </a:prstGeom>
          <a:solidFill>
            <a:srgbClr val="F8FBFB"/>
          </a:solidFill>
          <a:ln w="12700">
            <a:solidFill>
              <a:srgbClr val="B6D1D8"/>
            </a:solidFill>
            <a:prstDash val="solid"/>
          </a:ln>
        </p:spPr>
      </p:sp>
      <p:sp>
        <p:nvSpPr>
          <p:cNvPr id="36" name="Shape 34"/>
          <p:cNvSpPr/>
          <p:nvPr/>
        </p:nvSpPr>
        <p:spPr>
          <a:xfrm>
            <a:off x="8031480" y="3474720"/>
            <a:ext cx="73152" cy="1051560"/>
          </a:xfrm>
          <a:prstGeom prst="rect">
            <a:avLst/>
          </a:prstGeom>
          <a:solidFill>
            <a:srgbClr val="F2B84B"/>
          </a:solidFill>
          <a:ln w="12700">
            <a:solidFill>
              <a:srgbClr val="F2B84B">
                <a:alpha val="0"/>
              </a:srgbClr>
            </a:solidFill>
            <a:prstDash val="solid"/>
          </a:ln>
        </p:spPr>
      </p:sp>
      <p:sp>
        <p:nvSpPr>
          <p:cNvPr id="37" name="Text 35"/>
          <p:cNvSpPr/>
          <p:nvPr/>
        </p:nvSpPr>
        <p:spPr>
          <a:xfrm>
            <a:off x="8196072" y="3602736"/>
            <a:ext cx="1173480" cy="292608"/>
          </a:xfrm>
          <a:prstGeom prst="rect">
            <a:avLst/>
          </a:prstGeom>
          <a:noFill/>
          <a:ln/>
        </p:spPr>
        <p:txBody>
          <a:bodyPr wrap="square" lIns="0" tIns="0" rIns="0" bIns="0" rtlCol="0" anchor="t">
            <a:normAutofit/>
          </a:bodyPr>
          <a:lstStyle/>
          <a:p>
            <a:pPr indent="0" marL="0">
              <a:buNone/>
            </a:pPr>
            <a:r>
              <a:rPr lang="en-US" sz="1050" b="1" dirty="0">
                <a:solidFill>
                  <a:srgbClr val="005088"/>
                </a:solidFill>
                <a:latin typeface="Aptos Display" pitchFamily="34" charset="0"/>
                <a:ea typeface="Aptos Display" pitchFamily="34" charset="-122"/>
                <a:cs typeface="Aptos Display" pitchFamily="34" charset="-120"/>
              </a:rPr>
              <a:t>Solve</a:t>
            </a:r>
            <a:endParaRPr lang="en-US" sz="1050" dirty="0"/>
          </a:p>
        </p:txBody>
      </p:sp>
      <p:sp>
        <p:nvSpPr>
          <p:cNvPr id="38" name="Text 36"/>
          <p:cNvSpPr/>
          <p:nvPr/>
        </p:nvSpPr>
        <p:spPr>
          <a:xfrm>
            <a:off x="8196072" y="3950208"/>
            <a:ext cx="1155192" cy="484632"/>
          </a:xfrm>
          <a:prstGeom prst="rect">
            <a:avLst/>
          </a:prstGeom>
          <a:noFill/>
          <a:ln/>
        </p:spPr>
        <p:txBody>
          <a:bodyPr wrap="square" lIns="254" tIns="254" rIns="254" bIns="254" rtlCol="0" anchor="t">
            <a:normAutofit/>
          </a:bodyPr>
          <a:lstStyle/>
          <a:p>
            <a:pPr indent="0" marL="0">
              <a:buNone/>
            </a:pPr>
            <a:r>
              <a:rPr lang="en-US" sz="880" dirty="0">
                <a:solidFill>
                  <a:srgbClr val="1E293B"/>
                </a:solidFill>
                <a:latin typeface="Aptos" pitchFamily="34" charset="0"/>
                <a:ea typeface="Aptos" pitchFamily="34" charset="-122"/>
                <a:cs typeface="Aptos" pitchFamily="34" charset="-120"/>
              </a:rPr>
              <a:t>Ask SAT solver for a satisfying model</a:t>
            </a:r>
            <a:endParaRPr lang="en-US" sz="880" dirty="0"/>
          </a:p>
        </p:txBody>
      </p:sp>
      <p:sp>
        <p:nvSpPr>
          <p:cNvPr id="39" name="Shape 37"/>
          <p:cNvSpPr/>
          <p:nvPr/>
        </p:nvSpPr>
        <p:spPr>
          <a:xfrm>
            <a:off x="9662160" y="3474720"/>
            <a:ext cx="1447800" cy="1051560"/>
          </a:xfrm>
          <a:prstGeom prst="roundRect">
            <a:avLst>
              <a:gd name="adj" fmla="val 5217"/>
            </a:avLst>
          </a:prstGeom>
          <a:solidFill>
            <a:srgbClr val="F8FBFB"/>
          </a:solidFill>
          <a:ln w="12700">
            <a:solidFill>
              <a:srgbClr val="B6D1D8"/>
            </a:solidFill>
            <a:prstDash val="solid"/>
          </a:ln>
        </p:spPr>
      </p:sp>
      <p:sp>
        <p:nvSpPr>
          <p:cNvPr id="40" name="Shape 38"/>
          <p:cNvSpPr/>
          <p:nvPr/>
        </p:nvSpPr>
        <p:spPr>
          <a:xfrm>
            <a:off x="9662160" y="3474720"/>
            <a:ext cx="73152" cy="1051560"/>
          </a:xfrm>
          <a:prstGeom prst="rect">
            <a:avLst/>
          </a:prstGeom>
          <a:solidFill>
            <a:srgbClr val="6B5CA5"/>
          </a:solidFill>
          <a:ln w="12700">
            <a:solidFill>
              <a:srgbClr val="6B5CA5">
                <a:alpha val="0"/>
              </a:srgbClr>
            </a:solidFill>
            <a:prstDash val="solid"/>
          </a:ln>
        </p:spPr>
      </p:sp>
      <p:sp>
        <p:nvSpPr>
          <p:cNvPr id="41" name="Text 39"/>
          <p:cNvSpPr/>
          <p:nvPr/>
        </p:nvSpPr>
        <p:spPr>
          <a:xfrm>
            <a:off x="9826752" y="3602736"/>
            <a:ext cx="1173480" cy="292608"/>
          </a:xfrm>
          <a:prstGeom prst="rect">
            <a:avLst/>
          </a:prstGeom>
          <a:noFill/>
          <a:ln/>
        </p:spPr>
        <p:txBody>
          <a:bodyPr wrap="square" lIns="0" tIns="0" rIns="0" bIns="0" rtlCol="0" anchor="t">
            <a:normAutofit/>
          </a:bodyPr>
          <a:lstStyle/>
          <a:p>
            <a:pPr indent="0" marL="0">
              <a:buNone/>
            </a:pPr>
            <a:r>
              <a:rPr lang="en-US" sz="1050" b="1" dirty="0">
                <a:solidFill>
                  <a:srgbClr val="005088"/>
                </a:solidFill>
                <a:latin typeface="Aptos Display" pitchFamily="34" charset="0"/>
                <a:ea typeface="Aptos Display" pitchFamily="34" charset="-122"/>
                <a:cs typeface="Aptos Display" pitchFamily="34" charset="-120"/>
              </a:rPr>
              <a:t>Extract</a:t>
            </a:r>
            <a:endParaRPr lang="en-US" sz="1050" dirty="0"/>
          </a:p>
        </p:txBody>
      </p:sp>
      <p:sp>
        <p:nvSpPr>
          <p:cNvPr id="42" name="Text 40"/>
          <p:cNvSpPr/>
          <p:nvPr/>
        </p:nvSpPr>
        <p:spPr>
          <a:xfrm>
            <a:off x="9826752" y="3950208"/>
            <a:ext cx="1155192" cy="484632"/>
          </a:xfrm>
          <a:prstGeom prst="rect">
            <a:avLst/>
          </a:prstGeom>
          <a:noFill/>
          <a:ln/>
        </p:spPr>
        <p:txBody>
          <a:bodyPr wrap="square" lIns="254" tIns="254" rIns="254" bIns="254" rtlCol="0" anchor="t">
            <a:normAutofit/>
          </a:bodyPr>
          <a:lstStyle/>
          <a:p>
            <a:pPr indent="0" marL="0">
              <a:buNone/>
            </a:pPr>
            <a:r>
              <a:rPr lang="en-US" sz="880" dirty="0">
                <a:solidFill>
                  <a:srgbClr val="1E293B"/>
                </a:solidFill>
                <a:latin typeface="Aptos" pitchFamily="34" charset="0"/>
                <a:ea typeface="Aptos" pitchFamily="34" charset="-122"/>
                <a:cs typeface="Aptos" pitchFamily="34" charset="-120"/>
              </a:rPr>
              <a:t>Read action sequence from model</a:t>
            </a:r>
            <a:endParaRPr lang="en-US" sz="880" dirty="0"/>
          </a:p>
        </p:txBody>
      </p:sp>
      <p:sp>
        <p:nvSpPr>
          <p:cNvPr id="43" name="Text 41"/>
          <p:cNvSpPr/>
          <p:nvPr/>
        </p:nvSpPr>
        <p:spPr>
          <a:xfrm>
            <a:off x="6446520" y="5166360"/>
            <a:ext cx="4617720" cy="320040"/>
          </a:xfrm>
          <a:prstGeom prst="rect">
            <a:avLst/>
          </a:prstGeom>
          <a:noFill/>
          <a:ln/>
        </p:spPr>
        <p:txBody>
          <a:bodyPr wrap="square" lIns="0" tIns="0" rIns="0" bIns="0" rtlCol="0" anchor="ctr">
            <a:normAutofit/>
          </a:bodyPr>
          <a:lstStyle/>
          <a:p>
            <a:pPr algn="ctr" indent="0" marL="0">
              <a:buNone/>
            </a:pPr>
            <a:r>
              <a:rPr lang="en-US" sz="1020" i="1" dirty="0">
                <a:solidFill>
                  <a:srgbClr val="64748B"/>
                </a:solidFill>
                <a:latin typeface="Aptos" pitchFamily="34" charset="0"/>
                <a:ea typeface="Aptos" pitchFamily="34" charset="-122"/>
                <a:cs typeface="Aptos" pitchFamily="34" charset="-120"/>
              </a:rPr>
              <a:t>Planning becomes: is there a movie script that satisfies all rules?</a:t>
            </a:r>
            <a:endParaRPr lang="en-US" sz="102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 Figures</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75</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Figure 7.22: SATPLAN</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Planning by increasing the time horizon until SAT succeeds.</a:t>
            </a:r>
            <a:endParaRPr lang="en-US" sz="850" dirty="0"/>
          </a:p>
        </p:txBody>
      </p:sp>
      <p:sp>
        <p:nvSpPr>
          <p:cNvPr id="9" name="Shape 7"/>
          <p:cNvSpPr/>
          <p:nvPr/>
        </p:nvSpPr>
        <p:spPr>
          <a:xfrm>
            <a:off x="704088" y="1389888"/>
            <a:ext cx="6135624" cy="4489704"/>
          </a:xfrm>
          <a:prstGeom prst="roundRect">
            <a:avLst>
              <a:gd name="adj" fmla="val 815"/>
            </a:avLst>
          </a:prstGeom>
          <a:solidFill>
            <a:srgbClr val="FFFFFF"/>
          </a:solidFill>
          <a:ln w="12700">
            <a:solidFill>
              <a:srgbClr val="B6D1D8"/>
            </a:solidFill>
            <a:prstDash val="solid"/>
          </a:ln>
        </p:spPr>
      </p:sp>
      <p:pic>
        <p:nvPicPr>
          <p:cNvPr id="10" name="Image 0" descr="/mnt/data/ch7_assets/fig_7_22_satplan.png">    </p:cNvPr>
          <p:cNvPicPr>
            <a:picLocks noChangeAspect="1"/>
          </p:cNvPicPr>
          <p:nvPr/>
        </p:nvPicPr>
        <p:blipFill>
          <a:blip r:embed="rId1"/>
          <a:stretch>
            <a:fillRect/>
          </a:stretch>
        </p:blipFill>
        <p:spPr>
          <a:xfrm>
            <a:off x="731520" y="2001697"/>
            <a:ext cx="6080760" cy="3266085"/>
          </a:xfrm>
          <a:prstGeom prst="rect">
            <a:avLst/>
          </a:prstGeom>
        </p:spPr>
      </p:pic>
      <p:sp>
        <p:nvSpPr>
          <p:cNvPr id="11" name="Text 8"/>
          <p:cNvSpPr/>
          <p:nvPr/>
        </p:nvSpPr>
        <p:spPr>
          <a:xfrm>
            <a:off x="731520" y="5897880"/>
            <a:ext cx="6080760" cy="274320"/>
          </a:xfrm>
          <a:prstGeom prst="rect">
            <a:avLst/>
          </a:prstGeom>
          <a:noFill/>
          <a:ln/>
        </p:spPr>
        <p:txBody>
          <a:bodyPr wrap="square" lIns="0" tIns="0" rIns="0" bIns="0" rtlCol="0" anchor="ctr">
            <a:normAutofit/>
          </a:bodyPr>
          <a:lstStyle/>
          <a:p>
            <a:pPr algn="ctr" indent="0" marL="0">
              <a:buNone/>
            </a:pPr>
            <a:r>
              <a:rPr lang="en-US" sz="820" i="1" dirty="0">
                <a:solidFill>
                  <a:srgbClr val="64748B"/>
                </a:solidFill>
                <a:latin typeface="Aptos" pitchFamily="34" charset="0"/>
                <a:ea typeface="Aptos" pitchFamily="34" charset="-122"/>
                <a:cs typeface="Aptos" pitchFamily="34" charset="-120"/>
              </a:rPr>
              <a:t>Chapter 7 Figure 7.22: SATPLAN algorithm</a:t>
            </a:r>
            <a:endParaRPr lang="en-US" sz="820" dirty="0"/>
          </a:p>
        </p:txBody>
      </p:sp>
      <p:sp>
        <p:nvSpPr>
          <p:cNvPr id="12" name="Shape 9"/>
          <p:cNvSpPr/>
          <p:nvPr/>
        </p:nvSpPr>
        <p:spPr>
          <a:xfrm>
            <a:off x="7086600" y="1417320"/>
            <a:ext cx="4251960" cy="1143000"/>
          </a:xfrm>
          <a:prstGeom prst="roundRect">
            <a:avLst>
              <a:gd name="adj" fmla="val 4800"/>
            </a:avLst>
          </a:prstGeom>
          <a:solidFill>
            <a:srgbClr val="F8FBFB"/>
          </a:solidFill>
          <a:ln w="12700">
            <a:solidFill>
              <a:srgbClr val="B6D1D8"/>
            </a:solidFill>
            <a:prstDash val="solid"/>
          </a:ln>
        </p:spPr>
      </p:sp>
      <p:sp>
        <p:nvSpPr>
          <p:cNvPr id="13" name="Shape 10"/>
          <p:cNvSpPr/>
          <p:nvPr/>
        </p:nvSpPr>
        <p:spPr>
          <a:xfrm>
            <a:off x="7086600" y="1417320"/>
            <a:ext cx="73152" cy="1143000"/>
          </a:xfrm>
          <a:prstGeom prst="rect">
            <a:avLst/>
          </a:prstGeom>
          <a:solidFill>
            <a:srgbClr val="168A8A"/>
          </a:solidFill>
          <a:ln w="12700">
            <a:solidFill>
              <a:srgbClr val="168A8A">
                <a:alpha val="0"/>
              </a:srgbClr>
            </a:solidFill>
            <a:prstDash val="solid"/>
          </a:ln>
        </p:spPr>
      </p:sp>
      <p:sp>
        <p:nvSpPr>
          <p:cNvPr id="14" name="Text 11"/>
          <p:cNvSpPr/>
          <p:nvPr/>
        </p:nvSpPr>
        <p:spPr>
          <a:xfrm>
            <a:off x="7251192" y="1545336"/>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Increment horizon</a:t>
            </a:r>
            <a:endParaRPr lang="en-US" sz="1240" dirty="0"/>
          </a:p>
        </p:txBody>
      </p:sp>
      <p:sp>
        <p:nvSpPr>
          <p:cNvPr id="15" name="Text 12"/>
          <p:cNvSpPr/>
          <p:nvPr/>
        </p:nvSpPr>
        <p:spPr>
          <a:xfrm>
            <a:off x="7251192" y="1892808"/>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Try plans of length 0, 1, 2, ...</a:t>
            </a:r>
            <a:endParaRPr lang="en-US" sz="1020" dirty="0"/>
          </a:p>
        </p:txBody>
      </p:sp>
      <p:sp>
        <p:nvSpPr>
          <p:cNvPr id="16" name="Shape 13"/>
          <p:cNvSpPr/>
          <p:nvPr/>
        </p:nvSpPr>
        <p:spPr>
          <a:xfrm>
            <a:off x="7086600" y="2807208"/>
            <a:ext cx="4251960" cy="1143000"/>
          </a:xfrm>
          <a:prstGeom prst="roundRect">
            <a:avLst>
              <a:gd name="adj" fmla="val 4800"/>
            </a:avLst>
          </a:prstGeom>
          <a:solidFill>
            <a:srgbClr val="FFFDF7"/>
          </a:solidFill>
          <a:ln w="12700">
            <a:solidFill>
              <a:srgbClr val="B6D1D8"/>
            </a:solidFill>
            <a:prstDash val="solid"/>
          </a:ln>
        </p:spPr>
      </p:sp>
      <p:sp>
        <p:nvSpPr>
          <p:cNvPr id="17" name="Shape 14"/>
          <p:cNvSpPr/>
          <p:nvPr/>
        </p:nvSpPr>
        <p:spPr>
          <a:xfrm>
            <a:off x="7086600" y="2807208"/>
            <a:ext cx="73152" cy="1143000"/>
          </a:xfrm>
          <a:prstGeom prst="rect">
            <a:avLst/>
          </a:prstGeom>
          <a:solidFill>
            <a:srgbClr val="F2B84B"/>
          </a:solidFill>
          <a:ln w="12700">
            <a:solidFill>
              <a:srgbClr val="F2B84B">
                <a:alpha val="0"/>
              </a:srgbClr>
            </a:solidFill>
            <a:prstDash val="solid"/>
          </a:ln>
        </p:spPr>
      </p:sp>
      <p:sp>
        <p:nvSpPr>
          <p:cNvPr id="18" name="Text 15"/>
          <p:cNvSpPr/>
          <p:nvPr/>
        </p:nvSpPr>
        <p:spPr>
          <a:xfrm>
            <a:off x="7251192" y="2935224"/>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Translate to CNF</a:t>
            </a:r>
            <a:endParaRPr lang="en-US" sz="1240" dirty="0"/>
          </a:p>
        </p:txBody>
      </p:sp>
      <p:sp>
        <p:nvSpPr>
          <p:cNvPr id="19" name="Text 16"/>
          <p:cNvSpPr/>
          <p:nvPr/>
        </p:nvSpPr>
        <p:spPr>
          <a:xfrm>
            <a:off x="7251192" y="3282696"/>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Each horizon becomes a SAT problem.</a:t>
            </a:r>
            <a:endParaRPr lang="en-US" sz="1020" dirty="0"/>
          </a:p>
        </p:txBody>
      </p:sp>
      <p:sp>
        <p:nvSpPr>
          <p:cNvPr id="20" name="Shape 17"/>
          <p:cNvSpPr/>
          <p:nvPr/>
        </p:nvSpPr>
        <p:spPr>
          <a:xfrm>
            <a:off x="7086600" y="4197096"/>
            <a:ext cx="4251960" cy="1143000"/>
          </a:xfrm>
          <a:prstGeom prst="roundRect">
            <a:avLst>
              <a:gd name="adj" fmla="val 4800"/>
            </a:avLst>
          </a:prstGeom>
          <a:solidFill>
            <a:srgbClr val="F8FBFB"/>
          </a:solidFill>
          <a:ln w="12700">
            <a:solidFill>
              <a:srgbClr val="B6D1D8"/>
            </a:solidFill>
            <a:prstDash val="solid"/>
          </a:ln>
        </p:spPr>
      </p:sp>
      <p:sp>
        <p:nvSpPr>
          <p:cNvPr id="21" name="Shape 18"/>
          <p:cNvSpPr/>
          <p:nvPr/>
        </p:nvSpPr>
        <p:spPr>
          <a:xfrm>
            <a:off x="7086600" y="4197096"/>
            <a:ext cx="73152" cy="1143000"/>
          </a:xfrm>
          <a:prstGeom prst="rect">
            <a:avLst/>
          </a:prstGeom>
          <a:solidFill>
            <a:srgbClr val="2F855A"/>
          </a:solidFill>
          <a:ln w="12700">
            <a:solidFill>
              <a:srgbClr val="2F855A">
                <a:alpha val="0"/>
              </a:srgbClr>
            </a:solidFill>
            <a:prstDash val="solid"/>
          </a:ln>
        </p:spPr>
      </p:sp>
      <p:sp>
        <p:nvSpPr>
          <p:cNvPr id="22" name="Text 19"/>
          <p:cNvSpPr/>
          <p:nvPr/>
        </p:nvSpPr>
        <p:spPr>
          <a:xfrm>
            <a:off x="7251192" y="4325112"/>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Extract solution</a:t>
            </a:r>
            <a:endParaRPr lang="en-US" sz="1240" dirty="0"/>
          </a:p>
        </p:txBody>
      </p:sp>
      <p:sp>
        <p:nvSpPr>
          <p:cNvPr id="23" name="Text 20"/>
          <p:cNvSpPr/>
          <p:nvPr/>
        </p:nvSpPr>
        <p:spPr>
          <a:xfrm>
            <a:off x="7251192" y="4672584"/>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A satisfying model contains the action sequence.</a:t>
            </a:r>
            <a:endParaRPr lang="en-US" sz="1020" dirty="0"/>
          </a:p>
        </p:txBody>
      </p:sp>
      <p:sp>
        <p:nvSpPr>
          <p:cNvPr id="24" name="Shape 21"/>
          <p:cNvSpPr/>
          <p:nvPr/>
        </p:nvSpPr>
        <p:spPr>
          <a:xfrm>
            <a:off x="7086600" y="5586984"/>
            <a:ext cx="4251960" cy="1143000"/>
          </a:xfrm>
          <a:prstGeom prst="roundRect">
            <a:avLst>
              <a:gd name="adj" fmla="val 4800"/>
            </a:avLst>
          </a:prstGeom>
          <a:solidFill>
            <a:srgbClr val="FFFDF7"/>
          </a:solidFill>
          <a:ln w="12700">
            <a:solidFill>
              <a:srgbClr val="B6D1D8"/>
            </a:solidFill>
            <a:prstDash val="solid"/>
          </a:ln>
        </p:spPr>
      </p:sp>
      <p:sp>
        <p:nvSpPr>
          <p:cNvPr id="25" name="Shape 22"/>
          <p:cNvSpPr/>
          <p:nvPr/>
        </p:nvSpPr>
        <p:spPr>
          <a:xfrm>
            <a:off x="7086600" y="5586984"/>
            <a:ext cx="73152" cy="1143000"/>
          </a:xfrm>
          <a:prstGeom prst="rect">
            <a:avLst/>
          </a:prstGeom>
          <a:solidFill>
            <a:srgbClr val="E76F51"/>
          </a:solidFill>
          <a:ln w="12700">
            <a:solidFill>
              <a:srgbClr val="E76F51">
                <a:alpha val="0"/>
              </a:srgbClr>
            </a:solidFill>
            <a:prstDash val="solid"/>
          </a:ln>
        </p:spPr>
      </p:sp>
      <p:sp>
        <p:nvSpPr>
          <p:cNvPr id="26" name="Text 23"/>
          <p:cNvSpPr/>
          <p:nvPr/>
        </p:nvSpPr>
        <p:spPr>
          <a:xfrm>
            <a:off x="7251192" y="5715000"/>
            <a:ext cx="3977640" cy="292608"/>
          </a:xfrm>
          <a:prstGeom prst="rect">
            <a:avLst/>
          </a:prstGeom>
          <a:noFill/>
          <a:ln/>
        </p:spPr>
        <p:txBody>
          <a:bodyPr wrap="square" lIns="0" tIns="0" rIns="0" bIns="0" rtlCol="0" anchor="t">
            <a:normAutofit/>
          </a:bodyPr>
          <a:lstStyle/>
          <a:p>
            <a:pPr indent="0" marL="0">
              <a:buNone/>
            </a:pPr>
            <a:r>
              <a:rPr lang="en-US" sz="1240" b="1" dirty="0">
                <a:solidFill>
                  <a:srgbClr val="005088"/>
                </a:solidFill>
                <a:latin typeface="Aptos Display" pitchFamily="34" charset="0"/>
                <a:ea typeface="Aptos Display" pitchFamily="34" charset="-122"/>
                <a:cs typeface="Aptos Display" pitchFamily="34" charset="-120"/>
              </a:rPr>
              <a:t>Scope</a:t>
            </a:r>
            <a:endParaRPr lang="en-US" sz="1240" dirty="0"/>
          </a:p>
        </p:txBody>
      </p:sp>
      <p:sp>
        <p:nvSpPr>
          <p:cNvPr id="27" name="Text 24"/>
          <p:cNvSpPr/>
          <p:nvPr/>
        </p:nvSpPr>
        <p:spPr>
          <a:xfrm>
            <a:off x="7251192" y="6062472"/>
            <a:ext cx="3959352" cy="576072"/>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Aptos" pitchFamily="34" charset="0"/>
                <a:ea typeface="Aptos" pitchFamily="34" charset="-122"/>
                <a:cs typeface="Aptos" pitchFamily="34" charset="-120"/>
              </a:rPr>
              <a:t>Works best in fully observable or sensorless settings in this chapter.</a:t>
            </a:r>
            <a:endParaRPr lang="en-US" sz="102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76</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What Propositional Logic Cannot Do Well</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Chapter 7 ends by motivating Chapter 8.</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E76F51"/>
          </a:solidFill>
          <a:ln w="12700">
            <a:solidFill>
              <a:srgbClr val="E76F51">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No variables</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Cannot say "for every square" directly.</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No objects/relations</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P_1,2 is just a name; the logic does not understand coordinates.</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Scaling problem</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Need separate symbols and rules for many locations and times.</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168A8A"/>
          </a:solidFill>
          <a:ln w="12700">
            <a:solidFill>
              <a:srgbClr val="168A8A">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Next step</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First-order logic adds objects, predicates, functions, and quantifiers.</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77</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Bridge to Chapter 8: First-Order Logic</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Why the course moves beyond propositional logic.</a:t>
            </a:r>
            <a:endParaRPr lang="en-US" sz="850" dirty="0"/>
          </a:p>
        </p:txBody>
      </p:sp>
      <p:sp>
        <p:nvSpPr>
          <p:cNvPr id="9" name="Shape 7"/>
          <p:cNvSpPr/>
          <p:nvPr/>
        </p:nvSpPr>
        <p:spPr>
          <a:xfrm>
            <a:off x="777240" y="1463040"/>
            <a:ext cx="5166360" cy="3337560"/>
          </a:xfrm>
          <a:prstGeom prst="roundRect">
            <a:avLst>
              <a:gd name="adj" fmla="val 1644"/>
            </a:avLst>
          </a:prstGeom>
          <a:solidFill>
            <a:srgbClr val="FFFDF7"/>
          </a:solidFill>
          <a:ln w="12700">
            <a:solidFill>
              <a:srgbClr val="B6D1D8"/>
            </a:solidFill>
            <a:prstDash val="solid"/>
          </a:ln>
        </p:spPr>
      </p:sp>
      <p:sp>
        <p:nvSpPr>
          <p:cNvPr id="10" name="Shape 8"/>
          <p:cNvSpPr/>
          <p:nvPr/>
        </p:nvSpPr>
        <p:spPr>
          <a:xfrm>
            <a:off x="777240" y="1463040"/>
            <a:ext cx="73152" cy="3337560"/>
          </a:xfrm>
          <a:prstGeom prst="rect">
            <a:avLst/>
          </a:prstGeom>
          <a:solidFill>
            <a:srgbClr val="168A8A"/>
          </a:solidFill>
          <a:ln w="12700">
            <a:solidFill>
              <a:srgbClr val="168A8A">
                <a:alpha val="0"/>
              </a:srgbClr>
            </a:solidFill>
            <a:prstDash val="solid"/>
          </a:ln>
        </p:spPr>
      </p:sp>
      <p:sp>
        <p:nvSpPr>
          <p:cNvPr id="11" name="Text 9"/>
          <p:cNvSpPr/>
          <p:nvPr/>
        </p:nvSpPr>
        <p:spPr>
          <a:xfrm>
            <a:off x="9418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Propositional logic</a:t>
            </a:r>
            <a:endParaRPr lang="en-US" sz="1500" dirty="0"/>
          </a:p>
        </p:txBody>
      </p:sp>
      <p:sp>
        <p:nvSpPr>
          <p:cNvPr id="12" name="Text 10"/>
          <p:cNvSpPr/>
          <p:nvPr/>
        </p:nvSpPr>
        <p:spPr>
          <a:xfrm>
            <a:off x="9418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Good for finite sets of named facts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Well-developed SAT algorithms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Easy semantics with truth assignments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Can become huge and repetitive</a:t>
            </a:r>
            <a:endParaRPr lang="en-US" sz="1220" dirty="0"/>
          </a:p>
        </p:txBody>
      </p:sp>
      <p:sp>
        <p:nvSpPr>
          <p:cNvPr id="13" name="Shape 11"/>
          <p:cNvSpPr/>
          <p:nvPr/>
        </p:nvSpPr>
        <p:spPr>
          <a:xfrm>
            <a:off x="6263640" y="1463040"/>
            <a:ext cx="5166360" cy="3337560"/>
          </a:xfrm>
          <a:prstGeom prst="roundRect">
            <a:avLst>
              <a:gd name="adj" fmla="val 1644"/>
            </a:avLst>
          </a:prstGeom>
          <a:solidFill>
            <a:srgbClr val="FFFDF7"/>
          </a:solidFill>
          <a:ln w="12700">
            <a:solidFill>
              <a:srgbClr val="B6D1D8"/>
            </a:solidFill>
            <a:prstDash val="solid"/>
          </a:ln>
        </p:spPr>
      </p:sp>
      <p:sp>
        <p:nvSpPr>
          <p:cNvPr id="14" name="Shape 12"/>
          <p:cNvSpPr/>
          <p:nvPr/>
        </p:nvSpPr>
        <p:spPr>
          <a:xfrm>
            <a:off x="6263640" y="1463040"/>
            <a:ext cx="73152" cy="3337560"/>
          </a:xfrm>
          <a:prstGeom prst="rect">
            <a:avLst/>
          </a:prstGeom>
          <a:solidFill>
            <a:srgbClr val="F2B84B"/>
          </a:solidFill>
          <a:ln w="12700">
            <a:solidFill>
              <a:srgbClr val="F2B84B">
                <a:alpha val="0"/>
              </a:srgbClr>
            </a:solidFill>
            <a:prstDash val="solid"/>
          </a:ln>
        </p:spPr>
      </p:sp>
      <p:sp>
        <p:nvSpPr>
          <p:cNvPr id="15" name="Text 13"/>
          <p:cNvSpPr/>
          <p:nvPr/>
        </p:nvSpPr>
        <p:spPr>
          <a:xfrm>
            <a:off x="6428232" y="1591056"/>
            <a:ext cx="4892040" cy="292608"/>
          </a:xfrm>
          <a:prstGeom prst="rect">
            <a:avLst/>
          </a:prstGeom>
          <a:noFill/>
          <a:ln/>
        </p:spPr>
        <p:txBody>
          <a:bodyPr wrap="square" lIns="0" tIns="0" rIns="0" bIns="0" rtlCol="0" anchor="t">
            <a:normAutofit/>
          </a:bodyPr>
          <a:lstStyle/>
          <a:p>
            <a:pPr indent="0" marL="0">
              <a:buNone/>
            </a:pPr>
            <a:r>
              <a:rPr lang="en-US" sz="1500" b="1" dirty="0">
                <a:solidFill>
                  <a:srgbClr val="005088"/>
                </a:solidFill>
                <a:latin typeface="Aptos Display" pitchFamily="34" charset="0"/>
                <a:ea typeface="Aptos Display" pitchFamily="34" charset="-122"/>
                <a:cs typeface="Aptos Display" pitchFamily="34" charset="-120"/>
              </a:rPr>
              <a:t>First-order logic</a:t>
            </a:r>
            <a:endParaRPr lang="en-US" sz="1500" dirty="0"/>
          </a:p>
        </p:txBody>
      </p:sp>
      <p:sp>
        <p:nvSpPr>
          <p:cNvPr id="16" name="Text 14"/>
          <p:cNvSpPr/>
          <p:nvPr/>
        </p:nvSpPr>
        <p:spPr>
          <a:xfrm>
            <a:off x="6428232" y="1938528"/>
            <a:ext cx="4873752" cy="2770632"/>
          </a:xfrm>
          <a:prstGeom prst="rect">
            <a:avLst/>
          </a:prstGeom>
          <a:noFill/>
          <a:ln/>
        </p:spPr>
        <p:txBody>
          <a:bodyPr wrap="square" lIns="254" tIns="254" rIns="254" bIns="254" rtlCol="0" anchor="t">
            <a:normAutofit/>
          </a:bodyPr>
          <a:lstStyle/>
          <a:p>
            <a:pPr indent="0" marL="0">
              <a:buNone/>
            </a:pPr>
            <a:r>
              <a:rPr lang="en-US" sz="1220" dirty="0">
                <a:solidFill>
                  <a:srgbClr val="1E293B"/>
                </a:solidFill>
                <a:latin typeface="Aptos" pitchFamily="34" charset="0"/>
                <a:ea typeface="Aptos" pitchFamily="34" charset="-122"/>
                <a:cs typeface="Aptos" pitchFamily="34" charset="-120"/>
              </a:rPr>
              <a:t>• Talks about objects and relations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Uses variables and quantifiers</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Represents general patterns compactly</a:t>
            </a:r>
            <a:endParaRPr lang="en-US" sz="1220" dirty="0"/>
          </a:p>
          <a:p>
            <a:pPr indent="0" marL="0">
              <a:buNone/>
            </a:pPr>
            <a:r>
              <a:rPr lang="en-US" sz="1220" dirty="0">
                <a:solidFill>
                  <a:srgbClr val="1E293B"/>
                </a:solidFill>
                <a:latin typeface="Aptos" pitchFamily="34" charset="0"/>
                <a:ea typeface="Aptos" pitchFamily="34" charset="-122"/>
                <a:cs typeface="Aptos" pitchFamily="34" charset="-120"/>
              </a:rPr>
              <a:t>• Reasoning becomes more complex</a:t>
            </a:r>
            <a:endParaRPr lang="en-US" sz="1220" dirty="0"/>
          </a:p>
        </p:txBody>
      </p:sp>
      <p:sp>
        <p:nvSpPr>
          <p:cNvPr id="17" name="Shape 15"/>
          <p:cNvSpPr/>
          <p:nvPr/>
        </p:nvSpPr>
        <p:spPr>
          <a:xfrm>
            <a:off x="868680" y="5257800"/>
            <a:ext cx="10424160" cy="685800"/>
          </a:xfrm>
          <a:prstGeom prst="roundRect">
            <a:avLst>
              <a:gd name="adj" fmla="val 8000"/>
            </a:avLst>
          </a:prstGeom>
          <a:solidFill>
            <a:srgbClr val="0F766E"/>
          </a:solidFill>
          <a:ln w="12700">
            <a:solidFill>
              <a:srgbClr val="0F766E">
                <a:alpha val="0"/>
              </a:srgbClr>
            </a:solidFill>
            <a:prstDash val="solid"/>
          </a:ln>
        </p:spPr>
      </p:sp>
      <p:sp>
        <p:nvSpPr>
          <p:cNvPr id="18" name="Text 16"/>
          <p:cNvSpPr/>
          <p:nvPr/>
        </p:nvSpPr>
        <p:spPr>
          <a:xfrm>
            <a:off x="1124712" y="5440680"/>
            <a:ext cx="9912096" cy="91440"/>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latin typeface="Aptos Display" pitchFamily="34" charset="0"/>
                <a:ea typeface="Aptos Display" pitchFamily="34" charset="-122"/>
                <a:cs typeface="Aptos Display" pitchFamily="34" charset="-120"/>
              </a:rPr>
              <a:t>Chapter 7 teaches the logic engine; Chapter 8 gives it a richer language.</a:t>
            </a:r>
            <a:endParaRPr lang="en-US" sz="2100" dirty="0"/>
          </a:p>
        </p:txBody>
      </p:sp>
      <p:sp>
        <p:nvSpPr>
          <p:cNvPr id="19" name="Text 17"/>
          <p:cNvSpPr/>
          <p:nvPr/>
        </p:nvSpPr>
        <p:spPr>
          <a:xfrm>
            <a:off x="1188720" y="5559552"/>
            <a:ext cx="9784080" cy="237744"/>
          </a:xfrm>
          <a:prstGeom prst="rect">
            <a:avLst/>
          </a:prstGeom>
          <a:noFill/>
          <a:ln/>
        </p:spPr>
        <p:txBody>
          <a:bodyPr wrap="square" lIns="0" tIns="0" rIns="0" bIns="0" rtlCol="0" anchor="ctr">
            <a:normAutofit/>
          </a:bodyPr>
          <a:lstStyle/>
          <a:p>
            <a:pPr algn="ctr" indent="0" marL="0">
              <a:buNone/>
            </a:pPr>
            <a:r>
              <a:rPr lang="en-US" sz="1080" dirty="0">
                <a:solidFill>
                  <a:srgbClr val="D9F6F6"/>
                </a:solidFill>
                <a:latin typeface="Aptos" pitchFamily="34" charset="0"/>
                <a:ea typeface="Aptos" pitchFamily="34" charset="-122"/>
                <a:cs typeface="Aptos" pitchFamily="34" charset="-120"/>
              </a:rPr>
              <a:t>Students should see this as a natural progression, not a new topic.</a:t>
            </a:r>
            <a:endParaRPr lang="en-US" sz="108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78</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Lab Connections for Chapter 7</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How students will see these ideas in code.</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Lab 7A</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Knowledge-based agent and Wumpus World reasoning.</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Lab 7B</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Propositional logic and model checking.</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Lab 7C</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CNF, resolution, and theorem proving.</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Lab 7D</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Horn clauses, forward chaining, and backward chaining.</a:t>
            </a:r>
            <a:endParaRPr lang="en-US" sz="1050" dirty="0"/>
          </a:p>
        </p:txBody>
      </p:sp>
      <p:sp>
        <p:nvSpPr>
          <p:cNvPr id="25" name="Shape 23"/>
          <p:cNvSpPr/>
          <p:nvPr/>
        </p:nvSpPr>
        <p:spPr>
          <a:xfrm>
            <a:off x="777240" y="5029200"/>
            <a:ext cx="5166360" cy="1508760"/>
          </a:xfrm>
          <a:prstGeom prst="roundRect">
            <a:avLst>
              <a:gd name="adj" fmla="val 3636"/>
            </a:avLst>
          </a:prstGeom>
          <a:solidFill>
            <a:srgbClr val="FFFDF7"/>
          </a:solidFill>
          <a:ln w="12700">
            <a:solidFill>
              <a:srgbClr val="B6D1D8"/>
            </a:solidFill>
            <a:prstDash val="solid"/>
          </a:ln>
        </p:spPr>
      </p:sp>
      <p:sp>
        <p:nvSpPr>
          <p:cNvPr id="26" name="Shape 24"/>
          <p:cNvSpPr/>
          <p:nvPr/>
        </p:nvSpPr>
        <p:spPr>
          <a:xfrm>
            <a:off x="777240" y="5029200"/>
            <a:ext cx="73152" cy="1508760"/>
          </a:xfrm>
          <a:prstGeom prst="rect">
            <a:avLst/>
          </a:prstGeom>
          <a:solidFill>
            <a:srgbClr val="2F855A"/>
          </a:solidFill>
          <a:ln w="12700">
            <a:solidFill>
              <a:srgbClr val="2F855A">
                <a:alpha val="0"/>
              </a:srgbClr>
            </a:solidFill>
            <a:prstDash val="solid"/>
          </a:ln>
        </p:spPr>
      </p:sp>
      <p:sp>
        <p:nvSpPr>
          <p:cNvPr id="27" name="Text 25"/>
          <p:cNvSpPr/>
          <p:nvPr/>
        </p:nvSpPr>
        <p:spPr>
          <a:xfrm>
            <a:off x="941832" y="51572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Lab 7E</a:t>
            </a:r>
            <a:endParaRPr lang="en-US" sz="1270" dirty="0"/>
          </a:p>
        </p:txBody>
      </p:sp>
      <p:sp>
        <p:nvSpPr>
          <p:cNvPr id="28" name="Text 26"/>
          <p:cNvSpPr/>
          <p:nvPr/>
        </p:nvSpPr>
        <p:spPr>
          <a:xfrm>
            <a:off x="941832" y="55046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DPLL, WalkSAT, SATPLAN, and propositional-logic limits.</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79</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Common Student Gotchas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one-slide warning label before practice.</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E76F51"/>
          </a:solidFill>
          <a:ln w="12700">
            <a:solidFill>
              <a:srgbClr val="E76F51">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Unknown is not false</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Not proving P is not the same as proving NOT P.</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OR is inclusive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 OR Q allows both P and Q to be true.</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Implication is formal</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P ⇒ Q is false only when P is true and Q is false.</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168A8A"/>
          </a:solidFill>
          <a:ln w="12700">
            <a:solidFill>
              <a:srgbClr val="168A8A">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Entailment is semantic</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KB ⊨ α means every KB model satisfies α.</a:t>
            </a:r>
            <a:endParaRPr lang="en-US" sz="1050" dirty="0"/>
          </a:p>
        </p:txBody>
      </p:sp>
      <p:sp>
        <p:nvSpPr>
          <p:cNvPr id="25" name="Shape 23"/>
          <p:cNvSpPr/>
          <p:nvPr/>
        </p:nvSpPr>
        <p:spPr>
          <a:xfrm>
            <a:off x="777240" y="5029200"/>
            <a:ext cx="5166360" cy="1508760"/>
          </a:xfrm>
          <a:prstGeom prst="roundRect">
            <a:avLst>
              <a:gd name="adj" fmla="val 3636"/>
            </a:avLst>
          </a:prstGeom>
          <a:solidFill>
            <a:srgbClr val="FFFDF7"/>
          </a:solidFill>
          <a:ln w="12700">
            <a:solidFill>
              <a:srgbClr val="B6D1D8"/>
            </a:solidFill>
            <a:prstDash val="solid"/>
          </a:ln>
        </p:spPr>
      </p:sp>
      <p:sp>
        <p:nvSpPr>
          <p:cNvPr id="26" name="Shape 24"/>
          <p:cNvSpPr/>
          <p:nvPr/>
        </p:nvSpPr>
        <p:spPr>
          <a:xfrm>
            <a:off x="777240" y="5029200"/>
            <a:ext cx="73152" cy="1508760"/>
          </a:xfrm>
          <a:prstGeom prst="rect">
            <a:avLst/>
          </a:prstGeom>
          <a:solidFill>
            <a:srgbClr val="C2410C"/>
          </a:solidFill>
          <a:ln w="12700">
            <a:solidFill>
              <a:srgbClr val="C2410C">
                <a:alpha val="0"/>
              </a:srgbClr>
            </a:solidFill>
            <a:prstDash val="solid"/>
          </a:ln>
        </p:spPr>
      </p:sp>
      <p:sp>
        <p:nvSpPr>
          <p:cNvPr id="27" name="Text 25"/>
          <p:cNvSpPr/>
          <p:nvPr/>
        </p:nvSpPr>
        <p:spPr>
          <a:xfrm>
            <a:off x="941832" y="51572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SAT failure depends on solver</a:t>
            </a:r>
            <a:endParaRPr lang="en-US" sz="1270" dirty="0"/>
          </a:p>
        </p:txBody>
      </p:sp>
      <p:sp>
        <p:nvSpPr>
          <p:cNvPr id="28" name="Text 26"/>
          <p:cNvSpPr/>
          <p:nvPr/>
        </p:nvSpPr>
        <p:spPr>
          <a:xfrm>
            <a:off x="941832" y="55046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DPLL can prove unsat; WalkSAT failure may only mean no model found.</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80</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In-Class Quiz Questions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Quick checks for understanding.</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Q1</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If KB entails α, can α be false in a model where KB is true?</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Q2</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If WalkSAT fails after max flips, what can we conclude?</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Q3</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Why does no breeze at [1,1] prove no pit in [1,2]?</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Q4</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What is the difference between TELL and ASK?</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81</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Suggested Teaching Plan: 75-90 Minutes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A practical pacing guide for class.</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0-15 min</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KB agents, TELL/ASK, and Wumpus setup.</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15-30 min</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Wumpus safety inference and student activity.</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30-50 min</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Syntax, semantics, models, entailment, truth tables.</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50-70 min</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Model checking, resolution, Horn clauses, chaining.</a:t>
            </a:r>
            <a:endParaRPr lang="en-US" sz="1050" dirty="0"/>
          </a:p>
        </p:txBody>
      </p:sp>
      <p:sp>
        <p:nvSpPr>
          <p:cNvPr id="25" name="Shape 23"/>
          <p:cNvSpPr/>
          <p:nvPr/>
        </p:nvSpPr>
        <p:spPr>
          <a:xfrm>
            <a:off x="777240" y="5029200"/>
            <a:ext cx="5166360" cy="1508760"/>
          </a:xfrm>
          <a:prstGeom prst="roundRect">
            <a:avLst>
              <a:gd name="adj" fmla="val 3636"/>
            </a:avLst>
          </a:prstGeom>
          <a:solidFill>
            <a:srgbClr val="FFFDF7"/>
          </a:solidFill>
          <a:ln w="12700">
            <a:solidFill>
              <a:srgbClr val="B6D1D8"/>
            </a:solidFill>
            <a:prstDash val="solid"/>
          </a:ln>
        </p:spPr>
      </p:sp>
      <p:sp>
        <p:nvSpPr>
          <p:cNvPr id="26" name="Shape 24"/>
          <p:cNvSpPr/>
          <p:nvPr/>
        </p:nvSpPr>
        <p:spPr>
          <a:xfrm>
            <a:off x="777240" y="5029200"/>
            <a:ext cx="73152" cy="1508760"/>
          </a:xfrm>
          <a:prstGeom prst="rect">
            <a:avLst/>
          </a:prstGeom>
          <a:solidFill>
            <a:srgbClr val="2F855A"/>
          </a:solidFill>
          <a:ln w="12700">
            <a:solidFill>
              <a:srgbClr val="2F855A">
                <a:alpha val="0"/>
              </a:srgbClr>
            </a:solidFill>
            <a:prstDash val="solid"/>
          </a:ln>
        </p:spPr>
      </p:sp>
      <p:sp>
        <p:nvSpPr>
          <p:cNvPr id="27" name="Text 25"/>
          <p:cNvSpPr/>
          <p:nvPr/>
        </p:nvSpPr>
        <p:spPr>
          <a:xfrm>
            <a:off x="941832" y="51572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70-90 min</a:t>
            </a:r>
            <a:endParaRPr lang="en-US" sz="1270" dirty="0"/>
          </a:p>
        </p:txBody>
      </p:sp>
      <p:sp>
        <p:nvSpPr>
          <p:cNvPr id="28" name="Text 26"/>
          <p:cNvSpPr/>
          <p:nvPr/>
        </p:nvSpPr>
        <p:spPr>
          <a:xfrm>
            <a:off x="941832" y="55046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DPLL, WalkSAT, SATPLAN, gotchas, lab preview.</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82</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Full Lecture Summary</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The Chapter 7 mental model students should leave with.</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1. Knowledge</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A KB stores formal sentences that describe what the agent knows.</a:t>
            </a:r>
            <a:endParaRPr lang="en-US" sz="105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2. Reasoning</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Inference derives what must follow from the KB.</a:t>
            </a:r>
            <a:endParaRPr lang="en-US" sz="105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3. Logic</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Syntax builds sentences; semantics defines truth in models.</a:t>
            </a:r>
            <a:endParaRPr lang="en-US" sz="105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4. Algorithms</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Model checking, resolution, chaining, DPLL, and WalkSAT answer logical queries.</a:t>
            </a:r>
            <a:endParaRPr lang="en-US" sz="1050" dirty="0"/>
          </a:p>
        </p:txBody>
      </p:sp>
      <p:sp>
        <p:nvSpPr>
          <p:cNvPr id="25" name="Shape 23"/>
          <p:cNvSpPr/>
          <p:nvPr/>
        </p:nvSpPr>
        <p:spPr>
          <a:xfrm>
            <a:off x="777240" y="5029200"/>
            <a:ext cx="5166360" cy="1508760"/>
          </a:xfrm>
          <a:prstGeom prst="roundRect">
            <a:avLst>
              <a:gd name="adj" fmla="val 3636"/>
            </a:avLst>
          </a:prstGeom>
          <a:solidFill>
            <a:srgbClr val="FFFDF7"/>
          </a:solidFill>
          <a:ln w="12700">
            <a:solidFill>
              <a:srgbClr val="B6D1D8"/>
            </a:solidFill>
            <a:prstDash val="solid"/>
          </a:ln>
        </p:spPr>
      </p:sp>
      <p:sp>
        <p:nvSpPr>
          <p:cNvPr id="26" name="Shape 24"/>
          <p:cNvSpPr/>
          <p:nvPr/>
        </p:nvSpPr>
        <p:spPr>
          <a:xfrm>
            <a:off x="777240" y="5029200"/>
            <a:ext cx="73152" cy="1508760"/>
          </a:xfrm>
          <a:prstGeom prst="rect">
            <a:avLst/>
          </a:prstGeom>
          <a:solidFill>
            <a:srgbClr val="2F855A"/>
          </a:solidFill>
          <a:ln w="12700">
            <a:solidFill>
              <a:srgbClr val="2F855A">
                <a:alpha val="0"/>
              </a:srgbClr>
            </a:solidFill>
            <a:prstDash val="solid"/>
          </a:ln>
        </p:spPr>
      </p:sp>
      <p:sp>
        <p:nvSpPr>
          <p:cNvPr id="27" name="Text 25"/>
          <p:cNvSpPr/>
          <p:nvPr/>
        </p:nvSpPr>
        <p:spPr>
          <a:xfrm>
            <a:off x="941832" y="51572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5. Action</a:t>
            </a:r>
            <a:endParaRPr lang="en-US" sz="1270" dirty="0"/>
          </a:p>
        </p:txBody>
      </p:sp>
      <p:sp>
        <p:nvSpPr>
          <p:cNvPr id="28" name="Text 26"/>
          <p:cNvSpPr/>
          <p:nvPr/>
        </p:nvSpPr>
        <p:spPr>
          <a:xfrm>
            <a:off x="941832" y="5504688"/>
            <a:ext cx="4873752" cy="941832"/>
          </a:xfrm>
          <a:prstGeom prst="rect">
            <a:avLst/>
          </a:prstGeom>
          <a:noFill/>
          <a:ln/>
        </p:spPr>
        <p:txBody>
          <a:bodyPr wrap="square" lIns="254" tIns="254" rIns="254" bIns="254" rtlCol="0" anchor="t">
            <a:normAutofit/>
          </a:bodyPr>
          <a:lstStyle/>
          <a:p>
            <a:pPr indent="0" marL="0">
              <a:buNone/>
            </a:pPr>
            <a:r>
              <a:rPr lang="en-US" sz="1050" dirty="0">
                <a:solidFill>
                  <a:srgbClr val="1E293B"/>
                </a:solidFill>
                <a:latin typeface="Aptos" pitchFamily="34" charset="0"/>
                <a:ea typeface="Aptos" pitchFamily="34" charset="-122"/>
                <a:cs typeface="Aptos" pitchFamily="34" charset="-120"/>
              </a:rPr>
              <a:t>Logical agents use inferred knowledge to act safely and plan.</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83</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References and URLs</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Resources for instructor preparation and student enrichment.</a:t>
            </a:r>
            <a:endParaRPr lang="en-US" sz="850" dirty="0"/>
          </a:p>
        </p:txBody>
      </p:sp>
      <p:sp>
        <p:nvSpPr>
          <p:cNvPr id="9" name="Shape 7"/>
          <p:cNvSpPr/>
          <p:nvPr/>
        </p:nvSpPr>
        <p:spPr>
          <a:xfrm>
            <a:off x="777240" y="1371600"/>
            <a:ext cx="5166360" cy="1508760"/>
          </a:xfrm>
          <a:prstGeom prst="roundRect">
            <a:avLst>
              <a:gd name="adj" fmla="val 3636"/>
            </a:avLst>
          </a:prstGeom>
          <a:solidFill>
            <a:srgbClr val="FFFDF7"/>
          </a:solidFill>
          <a:ln w="12700">
            <a:solidFill>
              <a:srgbClr val="B6D1D8"/>
            </a:solidFill>
            <a:prstDash val="solid"/>
          </a:ln>
        </p:spPr>
      </p:sp>
      <p:sp>
        <p:nvSpPr>
          <p:cNvPr id="10" name="Shape 8"/>
          <p:cNvSpPr/>
          <p:nvPr/>
        </p:nvSpPr>
        <p:spPr>
          <a:xfrm>
            <a:off x="777240" y="1371600"/>
            <a:ext cx="73152" cy="1508760"/>
          </a:xfrm>
          <a:prstGeom prst="rect">
            <a:avLst/>
          </a:prstGeom>
          <a:solidFill>
            <a:srgbClr val="168A8A"/>
          </a:solidFill>
          <a:ln w="12700">
            <a:solidFill>
              <a:srgbClr val="168A8A">
                <a:alpha val="0"/>
              </a:srgbClr>
            </a:solidFill>
            <a:prstDash val="solid"/>
          </a:ln>
        </p:spPr>
      </p:sp>
      <p:sp>
        <p:nvSpPr>
          <p:cNvPr id="11" name="Text 9"/>
          <p:cNvSpPr/>
          <p:nvPr/>
        </p:nvSpPr>
        <p:spPr>
          <a:xfrm>
            <a:off x="94183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Textbook</a:t>
            </a:r>
            <a:endParaRPr lang="en-US" sz="1270" dirty="0"/>
          </a:p>
        </p:txBody>
      </p:sp>
      <p:sp>
        <p:nvSpPr>
          <p:cNvPr id="12" name="Text 10"/>
          <p:cNvSpPr/>
          <p:nvPr/>
        </p:nvSpPr>
        <p:spPr>
          <a:xfrm>
            <a:off x="941832" y="1847088"/>
            <a:ext cx="4873752" cy="941832"/>
          </a:xfrm>
          <a:prstGeom prst="rect">
            <a:avLst/>
          </a:prstGeom>
          <a:noFill/>
          <a:ln/>
        </p:spPr>
        <p:txBody>
          <a:bodyPr wrap="square" lIns="254" tIns="254" rIns="254" bIns="254" rtlCol="0" anchor="t">
            <a:normAutofit/>
          </a:bodyPr>
          <a:lstStyle/>
          <a:p>
            <a:pPr indent="0" marL="0">
              <a:buNone/>
            </a:pPr>
            <a:r>
              <a:rPr lang="en-US" sz="960" dirty="0">
                <a:solidFill>
                  <a:srgbClr val="1E293B"/>
                </a:solidFill>
                <a:latin typeface="Aptos" pitchFamily="34" charset="0"/>
                <a:ea typeface="Aptos" pitchFamily="34" charset="-122"/>
                <a:cs typeface="Aptos" pitchFamily="34" charset="-120"/>
              </a:rPr>
              <a:t>Russell &amp; Norvig, Artificial Intelligence: A Modern Approach, 4th ed.</a:t>
            </a:r>
            <a:endParaRPr lang="en-US" sz="960" dirty="0"/>
          </a:p>
          <a:p>
            <a:pPr indent="0" marL="0">
              <a:buNone/>
            </a:pPr>
            <a:r>
              <a:rPr lang="en-US" sz="960" dirty="0">
                <a:solidFill>
                  <a:srgbClr val="1E293B"/>
                </a:solidFill>
                <a:latin typeface="Aptos" pitchFamily="34" charset="0"/>
                <a:ea typeface="Aptos" pitchFamily="34" charset="-122"/>
                <a:cs typeface="Aptos" pitchFamily="34" charset="-120"/>
              </a:rPr>
              <a:t>https://aima.cs.berkeley.edu/</a:t>
            </a:r>
            <a:endParaRPr lang="en-US" sz="960" dirty="0"/>
          </a:p>
        </p:txBody>
      </p:sp>
      <p:sp>
        <p:nvSpPr>
          <p:cNvPr id="13" name="Shape 11"/>
          <p:cNvSpPr/>
          <p:nvPr/>
        </p:nvSpPr>
        <p:spPr>
          <a:xfrm>
            <a:off x="6355080" y="1371600"/>
            <a:ext cx="5166360" cy="1508760"/>
          </a:xfrm>
          <a:prstGeom prst="roundRect">
            <a:avLst>
              <a:gd name="adj" fmla="val 3636"/>
            </a:avLst>
          </a:prstGeom>
          <a:solidFill>
            <a:srgbClr val="FFFDF7"/>
          </a:solidFill>
          <a:ln w="12700">
            <a:solidFill>
              <a:srgbClr val="B6D1D8"/>
            </a:solidFill>
            <a:prstDash val="solid"/>
          </a:ln>
        </p:spPr>
      </p:sp>
      <p:sp>
        <p:nvSpPr>
          <p:cNvPr id="14" name="Shape 12"/>
          <p:cNvSpPr/>
          <p:nvPr/>
        </p:nvSpPr>
        <p:spPr>
          <a:xfrm>
            <a:off x="6355080" y="1371600"/>
            <a:ext cx="73152" cy="1508760"/>
          </a:xfrm>
          <a:prstGeom prst="rect">
            <a:avLst/>
          </a:prstGeom>
          <a:solidFill>
            <a:srgbClr val="F2B84B"/>
          </a:solidFill>
          <a:ln w="12700">
            <a:solidFill>
              <a:srgbClr val="F2B84B">
                <a:alpha val="0"/>
              </a:srgbClr>
            </a:solidFill>
            <a:prstDash val="solid"/>
          </a:ln>
        </p:spPr>
      </p:sp>
      <p:sp>
        <p:nvSpPr>
          <p:cNvPr id="15" name="Text 13"/>
          <p:cNvSpPr/>
          <p:nvPr/>
        </p:nvSpPr>
        <p:spPr>
          <a:xfrm>
            <a:off x="6519672" y="14996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AIMA Python code</a:t>
            </a:r>
            <a:endParaRPr lang="en-US" sz="1270" dirty="0"/>
          </a:p>
        </p:txBody>
      </p:sp>
      <p:sp>
        <p:nvSpPr>
          <p:cNvPr id="16" name="Text 14"/>
          <p:cNvSpPr/>
          <p:nvPr/>
        </p:nvSpPr>
        <p:spPr>
          <a:xfrm>
            <a:off x="6519672" y="1847088"/>
            <a:ext cx="4873752" cy="941832"/>
          </a:xfrm>
          <a:prstGeom prst="rect">
            <a:avLst/>
          </a:prstGeom>
          <a:noFill/>
          <a:ln/>
        </p:spPr>
        <p:txBody>
          <a:bodyPr wrap="square" lIns="254" tIns="254" rIns="254" bIns="254" rtlCol="0" anchor="t">
            <a:normAutofit/>
          </a:bodyPr>
          <a:lstStyle/>
          <a:p>
            <a:pPr indent="0" marL="0">
              <a:buNone/>
            </a:pPr>
            <a:r>
              <a:rPr lang="en-US" sz="960" dirty="0">
                <a:solidFill>
                  <a:srgbClr val="1E293B"/>
                </a:solidFill>
                <a:latin typeface="Aptos" pitchFamily="34" charset="0"/>
                <a:ea typeface="Aptos" pitchFamily="34" charset="-122"/>
                <a:cs typeface="Aptos" pitchFamily="34" charset="-120"/>
              </a:rPr>
              <a:t>Logic code and notebooks for AIMA algorithms.</a:t>
            </a:r>
            <a:endParaRPr lang="en-US" sz="960" dirty="0"/>
          </a:p>
          <a:p>
            <a:pPr indent="0" marL="0">
              <a:buNone/>
            </a:pPr>
            <a:r>
              <a:rPr lang="en-US" sz="960" dirty="0">
                <a:solidFill>
                  <a:srgbClr val="1E293B"/>
                </a:solidFill>
                <a:latin typeface="Aptos" pitchFamily="34" charset="0"/>
                <a:ea typeface="Aptos" pitchFamily="34" charset="-122"/>
                <a:cs typeface="Aptos" pitchFamily="34" charset="-120"/>
              </a:rPr>
              <a:t>https://github.com/aimacode/aima-python</a:t>
            </a:r>
            <a:endParaRPr lang="en-US" sz="960" dirty="0"/>
          </a:p>
        </p:txBody>
      </p:sp>
      <p:sp>
        <p:nvSpPr>
          <p:cNvPr id="17" name="Shape 15"/>
          <p:cNvSpPr/>
          <p:nvPr/>
        </p:nvSpPr>
        <p:spPr>
          <a:xfrm>
            <a:off x="777240" y="3200400"/>
            <a:ext cx="5166360" cy="1508760"/>
          </a:xfrm>
          <a:prstGeom prst="roundRect">
            <a:avLst>
              <a:gd name="adj" fmla="val 3636"/>
            </a:avLst>
          </a:prstGeom>
          <a:solidFill>
            <a:srgbClr val="FFFDF7"/>
          </a:solidFill>
          <a:ln w="12700">
            <a:solidFill>
              <a:srgbClr val="B6D1D8"/>
            </a:solidFill>
            <a:prstDash val="solid"/>
          </a:ln>
        </p:spPr>
      </p:sp>
      <p:sp>
        <p:nvSpPr>
          <p:cNvPr id="18" name="Shape 16"/>
          <p:cNvSpPr/>
          <p:nvPr/>
        </p:nvSpPr>
        <p:spPr>
          <a:xfrm>
            <a:off x="777240" y="3200400"/>
            <a:ext cx="73152" cy="1508760"/>
          </a:xfrm>
          <a:prstGeom prst="rect">
            <a:avLst/>
          </a:prstGeom>
          <a:solidFill>
            <a:srgbClr val="6B5CA5"/>
          </a:solidFill>
          <a:ln w="12700">
            <a:solidFill>
              <a:srgbClr val="6B5CA5">
                <a:alpha val="0"/>
              </a:srgbClr>
            </a:solidFill>
            <a:prstDash val="solid"/>
          </a:ln>
        </p:spPr>
      </p:sp>
      <p:sp>
        <p:nvSpPr>
          <p:cNvPr id="19" name="Text 17"/>
          <p:cNvSpPr/>
          <p:nvPr/>
        </p:nvSpPr>
        <p:spPr>
          <a:xfrm>
            <a:off x="94183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AIMA Logic notebook</a:t>
            </a:r>
            <a:endParaRPr lang="en-US" sz="1270" dirty="0"/>
          </a:p>
        </p:txBody>
      </p:sp>
      <p:sp>
        <p:nvSpPr>
          <p:cNvPr id="20" name="Text 18"/>
          <p:cNvSpPr/>
          <p:nvPr/>
        </p:nvSpPr>
        <p:spPr>
          <a:xfrm>
            <a:off x="941832" y="3675888"/>
            <a:ext cx="4873752" cy="941832"/>
          </a:xfrm>
          <a:prstGeom prst="rect">
            <a:avLst/>
          </a:prstGeom>
          <a:noFill/>
          <a:ln/>
        </p:spPr>
        <p:txBody>
          <a:bodyPr wrap="square" lIns="254" tIns="254" rIns="254" bIns="254" rtlCol="0" anchor="t">
            <a:normAutofit/>
          </a:bodyPr>
          <a:lstStyle/>
          <a:p>
            <a:pPr indent="0" marL="0">
              <a:buNone/>
            </a:pPr>
            <a:r>
              <a:rPr lang="en-US" sz="900" dirty="0">
                <a:solidFill>
                  <a:srgbClr val="1E293B"/>
                </a:solidFill>
                <a:latin typeface="Aptos" pitchFamily="34" charset="0"/>
                <a:ea typeface="Aptos" pitchFamily="34" charset="-122"/>
                <a:cs typeface="Aptos" pitchFamily="34" charset="-120"/>
              </a:rPr>
              <a:t>Interactive supporting notebook for logic chapters.</a:t>
            </a:r>
            <a:endParaRPr lang="en-US" sz="900" dirty="0"/>
          </a:p>
          <a:p>
            <a:pPr indent="0" marL="0">
              <a:buNone/>
            </a:pPr>
            <a:r>
              <a:rPr lang="en-US" sz="900" dirty="0">
                <a:solidFill>
                  <a:srgbClr val="1E293B"/>
                </a:solidFill>
                <a:latin typeface="Aptos" pitchFamily="34" charset="0"/>
                <a:ea typeface="Aptos" pitchFamily="34" charset="-122"/>
                <a:cs typeface="Aptos" pitchFamily="34" charset="-120"/>
              </a:rPr>
              <a:t>https://github.com/aimacode/aima-python/blob/master/logic.ipynb</a:t>
            </a:r>
            <a:endParaRPr lang="en-US" sz="900" dirty="0"/>
          </a:p>
        </p:txBody>
      </p:sp>
      <p:sp>
        <p:nvSpPr>
          <p:cNvPr id="21" name="Shape 19"/>
          <p:cNvSpPr/>
          <p:nvPr/>
        </p:nvSpPr>
        <p:spPr>
          <a:xfrm>
            <a:off x="6355080" y="3200400"/>
            <a:ext cx="5166360" cy="1508760"/>
          </a:xfrm>
          <a:prstGeom prst="roundRect">
            <a:avLst>
              <a:gd name="adj" fmla="val 3636"/>
            </a:avLst>
          </a:prstGeom>
          <a:solidFill>
            <a:srgbClr val="FFFDF7"/>
          </a:solidFill>
          <a:ln w="12700">
            <a:solidFill>
              <a:srgbClr val="B6D1D8"/>
            </a:solidFill>
            <a:prstDash val="solid"/>
          </a:ln>
        </p:spPr>
      </p:sp>
      <p:sp>
        <p:nvSpPr>
          <p:cNvPr id="22" name="Shape 20"/>
          <p:cNvSpPr/>
          <p:nvPr/>
        </p:nvSpPr>
        <p:spPr>
          <a:xfrm>
            <a:off x="6355080" y="3200400"/>
            <a:ext cx="73152" cy="1508760"/>
          </a:xfrm>
          <a:prstGeom prst="rect">
            <a:avLst/>
          </a:prstGeom>
          <a:solidFill>
            <a:srgbClr val="E76F51"/>
          </a:solidFill>
          <a:ln w="12700">
            <a:solidFill>
              <a:srgbClr val="E76F51">
                <a:alpha val="0"/>
              </a:srgbClr>
            </a:solidFill>
            <a:prstDash val="solid"/>
          </a:ln>
        </p:spPr>
      </p:sp>
      <p:sp>
        <p:nvSpPr>
          <p:cNvPr id="23" name="Text 21"/>
          <p:cNvSpPr/>
          <p:nvPr/>
        </p:nvSpPr>
        <p:spPr>
          <a:xfrm>
            <a:off x="6519672" y="33284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Berkeley CS188</a:t>
            </a:r>
            <a:endParaRPr lang="en-US" sz="1270" dirty="0"/>
          </a:p>
        </p:txBody>
      </p:sp>
      <p:sp>
        <p:nvSpPr>
          <p:cNvPr id="24" name="Text 22"/>
          <p:cNvSpPr/>
          <p:nvPr/>
        </p:nvSpPr>
        <p:spPr>
          <a:xfrm>
            <a:off x="6519672" y="3675888"/>
            <a:ext cx="4873752" cy="941832"/>
          </a:xfrm>
          <a:prstGeom prst="rect">
            <a:avLst/>
          </a:prstGeom>
          <a:noFill/>
          <a:ln/>
        </p:spPr>
        <p:txBody>
          <a:bodyPr wrap="square" lIns="254" tIns="254" rIns="254" bIns="254" rtlCol="0" anchor="t">
            <a:normAutofit/>
          </a:bodyPr>
          <a:lstStyle/>
          <a:p>
            <a:pPr indent="0" marL="0">
              <a:buNone/>
            </a:pPr>
            <a:r>
              <a:rPr lang="en-US" sz="940" dirty="0">
                <a:solidFill>
                  <a:srgbClr val="1E293B"/>
                </a:solidFill>
                <a:latin typeface="Aptos" pitchFamily="34" charset="0"/>
                <a:ea typeface="Aptos" pitchFamily="34" charset="-122"/>
                <a:cs typeface="Aptos" pitchFamily="34" charset="-120"/>
              </a:rPr>
              <a:t>Comparable intro AI course materials and logic topics.</a:t>
            </a:r>
            <a:endParaRPr lang="en-US" sz="940" dirty="0"/>
          </a:p>
          <a:p>
            <a:pPr indent="0" marL="0">
              <a:buNone/>
            </a:pPr>
            <a:r>
              <a:rPr lang="en-US" sz="940" dirty="0">
                <a:solidFill>
                  <a:srgbClr val="1E293B"/>
                </a:solidFill>
                <a:latin typeface="Aptos" pitchFamily="34" charset="0"/>
                <a:ea typeface="Aptos" pitchFamily="34" charset="-122"/>
                <a:cs typeface="Aptos" pitchFamily="34" charset="-120"/>
              </a:rPr>
              <a:t>https://www2.eecs.berkeley.edu/Courses/CS188/</a:t>
            </a:r>
            <a:endParaRPr lang="en-US" sz="940" dirty="0"/>
          </a:p>
        </p:txBody>
      </p:sp>
      <p:sp>
        <p:nvSpPr>
          <p:cNvPr id="25" name="Shape 23"/>
          <p:cNvSpPr/>
          <p:nvPr/>
        </p:nvSpPr>
        <p:spPr>
          <a:xfrm>
            <a:off x="777240" y="5029200"/>
            <a:ext cx="5166360" cy="1508760"/>
          </a:xfrm>
          <a:prstGeom prst="roundRect">
            <a:avLst>
              <a:gd name="adj" fmla="val 3636"/>
            </a:avLst>
          </a:prstGeom>
          <a:solidFill>
            <a:srgbClr val="FFFDF7"/>
          </a:solidFill>
          <a:ln w="12700">
            <a:solidFill>
              <a:srgbClr val="B6D1D8"/>
            </a:solidFill>
            <a:prstDash val="solid"/>
          </a:ln>
        </p:spPr>
      </p:sp>
      <p:sp>
        <p:nvSpPr>
          <p:cNvPr id="26" name="Shape 24"/>
          <p:cNvSpPr/>
          <p:nvPr/>
        </p:nvSpPr>
        <p:spPr>
          <a:xfrm>
            <a:off x="777240" y="5029200"/>
            <a:ext cx="73152" cy="1508760"/>
          </a:xfrm>
          <a:prstGeom prst="rect">
            <a:avLst/>
          </a:prstGeom>
          <a:solidFill>
            <a:srgbClr val="2F855A"/>
          </a:solidFill>
          <a:ln w="12700">
            <a:solidFill>
              <a:srgbClr val="2F855A">
                <a:alpha val="0"/>
              </a:srgbClr>
            </a:solidFill>
            <a:prstDash val="solid"/>
          </a:ln>
        </p:spPr>
      </p:sp>
      <p:sp>
        <p:nvSpPr>
          <p:cNvPr id="27" name="Text 25"/>
          <p:cNvSpPr/>
          <p:nvPr/>
        </p:nvSpPr>
        <p:spPr>
          <a:xfrm>
            <a:off x="941832" y="51572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PySAT toolkit</a:t>
            </a:r>
            <a:endParaRPr lang="en-US" sz="1270" dirty="0"/>
          </a:p>
        </p:txBody>
      </p:sp>
      <p:sp>
        <p:nvSpPr>
          <p:cNvPr id="28" name="Text 26"/>
          <p:cNvSpPr/>
          <p:nvPr/>
        </p:nvSpPr>
        <p:spPr>
          <a:xfrm>
            <a:off x="941832" y="5504688"/>
            <a:ext cx="4873752" cy="941832"/>
          </a:xfrm>
          <a:prstGeom prst="rect">
            <a:avLst/>
          </a:prstGeom>
          <a:noFill/>
          <a:ln/>
        </p:spPr>
        <p:txBody>
          <a:bodyPr wrap="square" lIns="254" tIns="254" rIns="254" bIns="254" rtlCol="0" anchor="t">
            <a:normAutofit/>
          </a:bodyPr>
          <a:lstStyle/>
          <a:p>
            <a:pPr indent="0" marL="0">
              <a:buNone/>
            </a:pPr>
            <a:r>
              <a:rPr lang="en-US" sz="940" dirty="0">
                <a:solidFill>
                  <a:srgbClr val="1E293B"/>
                </a:solidFill>
                <a:latin typeface="Aptos" pitchFamily="34" charset="0"/>
                <a:ea typeface="Aptos" pitchFamily="34" charset="-122"/>
                <a:cs typeface="Aptos" pitchFamily="34" charset="-120"/>
              </a:rPr>
              <a:t>Python toolkit for SAT-based prototyping.</a:t>
            </a:r>
            <a:endParaRPr lang="en-US" sz="940" dirty="0"/>
          </a:p>
          <a:p>
            <a:pPr indent="0" marL="0">
              <a:buNone/>
            </a:pPr>
            <a:r>
              <a:rPr lang="en-US" sz="940" dirty="0">
                <a:solidFill>
                  <a:srgbClr val="1E293B"/>
                </a:solidFill>
                <a:latin typeface="Aptos" pitchFamily="34" charset="0"/>
                <a:ea typeface="Aptos" pitchFamily="34" charset="-122"/>
                <a:cs typeface="Aptos" pitchFamily="34" charset="-120"/>
              </a:rPr>
              <a:t>https://pysathq.github.io/</a:t>
            </a:r>
            <a:endParaRPr lang="en-US" sz="940" dirty="0"/>
          </a:p>
        </p:txBody>
      </p:sp>
      <p:sp>
        <p:nvSpPr>
          <p:cNvPr id="29" name="Shape 27"/>
          <p:cNvSpPr/>
          <p:nvPr/>
        </p:nvSpPr>
        <p:spPr>
          <a:xfrm>
            <a:off x="6355080" y="5029200"/>
            <a:ext cx="5166360" cy="1508760"/>
          </a:xfrm>
          <a:prstGeom prst="roundRect">
            <a:avLst>
              <a:gd name="adj" fmla="val 3636"/>
            </a:avLst>
          </a:prstGeom>
          <a:solidFill>
            <a:srgbClr val="FFFDF7"/>
          </a:solidFill>
          <a:ln w="12700">
            <a:solidFill>
              <a:srgbClr val="B6D1D8"/>
            </a:solidFill>
            <a:prstDash val="solid"/>
          </a:ln>
        </p:spPr>
      </p:sp>
      <p:sp>
        <p:nvSpPr>
          <p:cNvPr id="30" name="Shape 28"/>
          <p:cNvSpPr/>
          <p:nvPr/>
        </p:nvSpPr>
        <p:spPr>
          <a:xfrm>
            <a:off x="6355080" y="5029200"/>
            <a:ext cx="73152" cy="1508760"/>
          </a:xfrm>
          <a:prstGeom prst="rect">
            <a:avLst/>
          </a:prstGeom>
          <a:solidFill>
            <a:srgbClr val="2B6CB0"/>
          </a:solidFill>
          <a:ln w="12700">
            <a:solidFill>
              <a:srgbClr val="2B6CB0">
                <a:alpha val="0"/>
              </a:srgbClr>
            </a:solidFill>
            <a:prstDash val="solid"/>
          </a:ln>
        </p:spPr>
      </p:sp>
      <p:sp>
        <p:nvSpPr>
          <p:cNvPr id="31" name="Text 29"/>
          <p:cNvSpPr/>
          <p:nvPr/>
        </p:nvSpPr>
        <p:spPr>
          <a:xfrm>
            <a:off x="6519672" y="5157216"/>
            <a:ext cx="4892040" cy="292608"/>
          </a:xfrm>
          <a:prstGeom prst="rect">
            <a:avLst/>
          </a:prstGeom>
          <a:noFill/>
          <a:ln/>
        </p:spPr>
        <p:txBody>
          <a:bodyPr wrap="square" lIns="0" tIns="0" rIns="0" bIns="0" rtlCol="0" anchor="t">
            <a:normAutofit/>
          </a:bodyPr>
          <a:lstStyle/>
          <a:p>
            <a:pPr indent="0" marL="0">
              <a:buNone/>
            </a:pPr>
            <a:r>
              <a:rPr lang="en-US" sz="1270" b="1" dirty="0">
                <a:solidFill>
                  <a:srgbClr val="005088"/>
                </a:solidFill>
                <a:latin typeface="Aptos Display" pitchFamily="34" charset="0"/>
                <a:ea typeface="Aptos Display" pitchFamily="34" charset="-122"/>
                <a:cs typeface="Aptos Display" pitchFamily="34" charset="-120"/>
              </a:rPr>
              <a:t>SATLIB benchmarks</a:t>
            </a:r>
            <a:endParaRPr lang="en-US" sz="1270" dirty="0"/>
          </a:p>
        </p:txBody>
      </p:sp>
      <p:sp>
        <p:nvSpPr>
          <p:cNvPr id="32" name="Text 30"/>
          <p:cNvSpPr/>
          <p:nvPr/>
        </p:nvSpPr>
        <p:spPr>
          <a:xfrm>
            <a:off x="6519672" y="5504688"/>
            <a:ext cx="4873752" cy="941832"/>
          </a:xfrm>
          <a:prstGeom prst="rect">
            <a:avLst/>
          </a:prstGeom>
          <a:noFill/>
          <a:ln/>
        </p:spPr>
        <p:txBody>
          <a:bodyPr wrap="square" lIns="254" tIns="254" rIns="254" bIns="254" rtlCol="0" anchor="t">
            <a:normAutofit/>
          </a:bodyPr>
          <a:lstStyle/>
          <a:p>
            <a:pPr indent="0" marL="0">
              <a:buNone/>
            </a:pPr>
            <a:r>
              <a:rPr lang="en-US" sz="910" dirty="0">
                <a:solidFill>
                  <a:srgbClr val="1E293B"/>
                </a:solidFill>
                <a:latin typeface="Aptos" pitchFamily="34" charset="0"/>
                <a:ea typeface="Aptos" pitchFamily="34" charset="-122"/>
                <a:cs typeface="Aptos" pitchFamily="34" charset="-120"/>
              </a:rPr>
              <a:t>SAT benchmark problems and DIMACS references.</a:t>
            </a:r>
            <a:endParaRPr lang="en-US" sz="910" dirty="0"/>
          </a:p>
          <a:p>
            <a:pPr indent="0" marL="0">
              <a:buNone/>
            </a:pPr>
            <a:r>
              <a:rPr lang="en-US" sz="910" dirty="0">
                <a:solidFill>
                  <a:srgbClr val="1E293B"/>
                </a:solidFill>
                <a:latin typeface="Aptos" pitchFamily="34" charset="0"/>
                <a:ea typeface="Aptos" pitchFamily="34" charset="-122"/>
                <a:cs typeface="Aptos" pitchFamily="34" charset="-120"/>
              </a:rPr>
              <a:t>https://www.cs.ubc.ca/~hoos/SATLIB/benchm.html</a:t>
            </a:r>
            <a:endParaRPr lang="en-US" sz="91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502920" y="6473952"/>
            <a:ext cx="11201400" cy="0"/>
          </a:xfrm>
          <a:prstGeom prst="line">
            <a:avLst/>
          </a:prstGeom>
          <a:noFill/>
          <a:ln w="12700">
            <a:solidFill>
              <a:srgbClr val="B6D1D8"/>
            </a:solidFill>
            <a:prstDash val="solid"/>
          </a:ln>
        </p:spPr>
      </p:sp>
      <p:sp>
        <p:nvSpPr>
          <p:cNvPr id="3" name="Text 1"/>
          <p:cNvSpPr/>
          <p:nvPr/>
        </p:nvSpPr>
        <p:spPr>
          <a:xfrm>
            <a:off x="548640" y="6519672"/>
            <a:ext cx="5029200" cy="22860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COMP 469 | Logical Agents</a:t>
            </a:r>
            <a:endParaRPr lang="en-US" sz="850" dirty="0"/>
          </a:p>
        </p:txBody>
      </p:sp>
      <p:sp>
        <p:nvSpPr>
          <p:cNvPr id="4" name="Text 2"/>
          <p:cNvSpPr/>
          <p:nvPr/>
        </p:nvSpPr>
        <p:spPr>
          <a:xfrm>
            <a:off x="5669280" y="6519672"/>
            <a:ext cx="4572000" cy="228600"/>
          </a:xfrm>
          <a:prstGeom prst="rect">
            <a:avLst/>
          </a:prstGeom>
          <a:noFill/>
          <a:ln/>
        </p:spPr>
        <p:txBody>
          <a:bodyPr wrap="square" lIns="0" tIns="0" rIns="0" bIns="0" rtlCol="0" anchor="ctr"/>
          <a:lstStyle/>
          <a:p>
            <a:pPr algn="r" indent="0" marL="0">
              <a:buNone/>
            </a:pPr>
            <a:r>
              <a:rPr lang="en-US" sz="850" dirty="0">
                <a:solidFill>
                  <a:srgbClr val="64748B"/>
                </a:solidFill>
                <a:latin typeface="Aptos" pitchFamily="34" charset="0"/>
                <a:ea typeface="Aptos" pitchFamily="34" charset="-122"/>
                <a:cs typeface="Aptos" pitchFamily="34" charset="-120"/>
              </a:rPr>
              <a:t>Chapter 7</a:t>
            </a:r>
            <a:endParaRPr lang="en-US" sz="850" dirty="0"/>
          </a:p>
        </p:txBody>
      </p:sp>
      <p:sp>
        <p:nvSpPr>
          <p:cNvPr id="5" name="Text 3"/>
          <p:cNvSpPr/>
          <p:nvPr/>
        </p:nvSpPr>
        <p:spPr>
          <a:xfrm>
            <a:off x="11292840" y="6473952"/>
            <a:ext cx="411480" cy="256032"/>
          </a:xfrm>
          <a:prstGeom prst="rect">
            <a:avLst/>
          </a:prstGeom>
          <a:noFill/>
          <a:ln/>
        </p:spPr>
        <p:txBody>
          <a:bodyPr wrap="square" lIns="0" tIns="0" rIns="0" bIns="0" rtlCol="0" anchor="ctr"/>
          <a:lstStyle/>
          <a:p>
            <a:pPr algn="r" indent="0" marL="0">
              <a:buNone/>
            </a:pPr>
            <a:r>
              <a:rPr lang="en-US" sz="900" b="1" dirty="0">
                <a:solidFill>
                  <a:srgbClr val="005088"/>
                </a:solidFill>
                <a:latin typeface="Aptos" pitchFamily="34" charset="0"/>
                <a:ea typeface="Aptos" pitchFamily="34" charset="-122"/>
                <a:cs typeface="Aptos" pitchFamily="34" charset="-120"/>
              </a:rPr>
              <a:t>84</a:t>
            </a:r>
            <a:endParaRPr lang="en-US" sz="900" dirty="0"/>
          </a:p>
        </p:txBody>
      </p:sp>
      <p:sp>
        <p:nvSpPr>
          <p:cNvPr id="6" name="Text 4"/>
          <p:cNvSpPr/>
          <p:nvPr/>
        </p:nvSpPr>
        <p:spPr>
          <a:xfrm>
            <a:off x="548640" y="320040"/>
            <a:ext cx="10927080" cy="502920"/>
          </a:xfrm>
          <a:prstGeom prst="rect">
            <a:avLst/>
          </a:prstGeom>
          <a:noFill/>
          <a:ln/>
        </p:spPr>
        <p:txBody>
          <a:bodyPr wrap="square" lIns="0" tIns="0" rIns="0" bIns="0" rtlCol="0" anchor="ctr">
            <a:normAutofit/>
          </a:bodyPr>
          <a:lstStyle/>
          <a:p>
            <a:pPr indent="0" marL="0">
              <a:buNone/>
            </a:pPr>
            <a:r>
              <a:rPr lang="en-US" sz="2800" b="1" dirty="0">
                <a:solidFill>
                  <a:srgbClr val="005088"/>
                </a:solidFill>
                <a:latin typeface="Aptos Display" pitchFamily="34" charset="0"/>
                <a:ea typeface="Aptos Display" pitchFamily="34" charset="-122"/>
                <a:cs typeface="Aptos Display" pitchFamily="34" charset="-120"/>
              </a:rPr>
              <a:t>Closing Slide: What Comes Next?</a:t>
            </a:r>
            <a:endParaRPr lang="en-US" sz="2800" dirty="0"/>
          </a:p>
        </p:txBody>
      </p:sp>
      <p:sp>
        <p:nvSpPr>
          <p:cNvPr id="7" name="Shape 5"/>
          <p:cNvSpPr/>
          <p:nvPr/>
        </p:nvSpPr>
        <p:spPr>
          <a:xfrm>
            <a:off x="548640" y="932688"/>
            <a:ext cx="11109960" cy="0"/>
          </a:xfrm>
          <a:prstGeom prst="line">
            <a:avLst/>
          </a:prstGeom>
          <a:noFill/>
          <a:ln w="25400">
            <a:solidFill>
              <a:srgbClr val="168A8A"/>
            </a:solidFill>
            <a:prstDash val="solid"/>
          </a:ln>
        </p:spPr>
      </p:sp>
      <p:sp>
        <p:nvSpPr>
          <p:cNvPr id="8" name="Text 6"/>
          <p:cNvSpPr/>
          <p:nvPr/>
        </p:nvSpPr>
        <p:spPr>
          <a:xfrm>
            <a:off x="548640" y="978408"/>
            <a:ext cx="11018520" cy="182880"/>
          </a:xfrm>
          <a:prstGeom prst="rect">
            <a:avLst/>
          </a:prstGeom>
          <a:noFill/>
          <a:ln/>
        </p:spPr>
        <p:txBody>
          <a:bodyPr wrap="square" lIns="0" tIns="0" rIns="0" bIns="0" rtlCol="0" anchor="ctr">
            <a:normAutofit/>
          </a:bodyPr>
          <a:lstStyle/>
          <a:p>
            <a:pPr indent="0" marL="0">
              <a:buNone/>
            </a:pPr>
            <a:r>
              <a:rPr lang="en-US" sz="850" dirty="0">
                <a:solidFill>
                  <a:srgbClr val="64748B"/>
                </a:solidFill>
                <a:latin typeface="Aptos" pitchFamily="34" charset="0"/>
                <a:ea typeface="Aptos" pitchFamily="34" charset="-122"/>
                <a:cs typeface="Aptos" pitchFamily="34" charset="-120"/>
              </a:rPr>
              <a:t>Prepare students for Chapter 8 and first-order logic.</a:t>
            </a:r>
            <a:endParaRPr lang="en-US" sz="850" dirty="0"/>
          </a:p>
        </p:txBody>
      </p:sp>
      <p:sp>
        <p:nvSpPr>
          <p:cNvPr id="9" name="Shape 7"/>
          <p:cNvSpPr/>
          <p:nvPr/>
        </p:nvSpPr>
        <p:spPr>
          <a:xfrm>
            <a:off x="731520" y="1508760"/>
            <a:ext cx="3368040" cy="4023360"/>
          </a:xfrm>
          <a:prstGeom prst="roundRect">
            <a:avLst>
              <a:gd name="adj" fmla="val 1629"/>
            </a:avLst>
          </a:prstGeom>
          <a:solidFill>
            <a:srgbClr val="FFFDF7"/>
          </a:solidFill>
          <a:ln w="12700">
            <a:solidFill>
              <a:srgbClr val="B6D1D8"/>
            </a:solidFill>
            <a:prstDash val="solid"/>
          </a:ln>
        </p:spPr>
      </p:sp>
      <p:sp>
        <p:nvSpPr>
          <p:cNvPr id="10" name="Shape 8"/>
          <p:cNvSpPr/>
          <p:nvPr/>
        </p:nvSpPr>
        <p:spPr>
          <a:xfrm>
            <a:off x="731520" y="1508760"/>
            <a:ext cx="73152" cy="4023360"/>
          </a:xfrm>
          <a:prstGeom prst="rect">
            <a:avLst/>
          </a:prstGeom>
          <a:solidFill>
            <a:srgbClr val="168A8A"/>
          </a:solidFill>
          <a:ln w="12700">
            <a:solidFill>
              <a:srgbClr val="168A8A">
                <a:alpha val="0"/>
              </a:srgbClr>
            </a:solidFill>
            <a:prstDash val="solid"/>
          </a:ln>
        </p:spPr>
      </p:sp>
      <p:sp>
        <p:nvSpPr>
          <p:cNvPr id="11" name="Text 9"/>
          <p:cNvSpPr/>
          <p:nvPr/>
        </p:nvSpPr>
        <p:spPr>
          <a:xfrm>
            <a:off x="89611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Today</a:t>
            </a:r>
            <a:endParaRPr lang="en-US" sz="1400" dirty="0"/>
          </a:p>
        </p:txBody>
      </p:sp>
      <p:sp>
        <p:nvSpPr>
          <p:cNvPr id="12" name="Text 10"/>
          <p:cNvSpPr/>
          <p:nvPr/>
        </p:nvSpPr>
        <p:spPr>
          <a:xfrm>
            <a:off x="89611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Named propositions and propositional inference.</a:t>
            </a:r>
            <a:endParaRPr lang="en-US" sz="1200" dirty="0"/>
          </a:p>
        </p:txBody>
      </p:sp>
      <p:sp>
        <p:nvSpPr>
          <p:cNvPr id="13" name="Shape 11"/>
          <p:cNvSpPr/>
          <p:nvPr/>
        </p:nvSpPr>
        <p:spPr>
          <a:xfrm>
            <a:off x="4419600" y="1508760"/>
            <a:ext cx="3368040" cy="4023360"/>
          </a:xfrm>
          <a:prstGeom prst="roundRect">
            <a:avLst>
              <a:gd name="adj" fmla="val 1629"/>
            </a:avLst>
          </a:prstGeom>
          <a:solidFill>
            <a:srgbClr val="FFFDF7"/>
          </a:solidFill>
          <a:ln w="12700">
            <a:solidFill>
              <a:srgbClr val="B6D1D8"/>
            </a:solidFill>
            <a:prstDash val="solid"/>
          </a:ln>
        </p:spPr>
      </p:sp>
      <p:sp>
        <p:nvSpPr>
          <p:cNvPr id="14" name="Shape 12"/>
          <p:cNvSpPr/>
          <p:nvPr/>
        </p:nvSpPr>
        <p:spPr>
          <a:xfrm>
            <a:off x="4419600" y="1508760"/>
            <a:ext cx="73152" cy="4023360"/>
          </a:xfrm>
          <a:prstGeom prst="rect">
            <a:avLst/>
          </a:prstGeom>
          <a:solidFill>
            <a:srgbClr val="F2B84B"/>
          </a:solidFill>
          <a:ln w="12700">
            <a:solidFill>
              <a:srgbClr val="F2B84B">
                <a:alpha val="0"/>
              </a:srgbClr>
            </a:solidFill>
            <a:prstDash val="solid"/>
          </a:ln>
        </p:spPr>
      </p:sp>
      <p:sp>
        <p:nvSpPr>
          <p:cNvPr id="15" name="Text 13"/>
          <p:cNvSpPr/>
          <p:nvPr/>
        </p:nvSpPr>
        <p:spPr>
          <a:xfrm>
            <a:off x="458419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Next</a:t>
            </a:r>
            <a:endParaRPr lang="en-US" sz="1400" dirty="0"/>
          </a:p>
        </p:txBody>
      </p:sp>
      <p:sp>
        <p:nvSpPr>
          <p:cNvPr id="16" name="Text 14"/>
          <p:cNvSpPr/>
          <p:nvPr/>
        </p:nvSpPr>
        <p:spPr>
          <a:xfrm>
            <a:off x="458419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Objects, predicates, functions, variables, and quantifiers.</a:t>
            </a:r>
            <a:endParaRPr lang="en-US" sz="1200" dirty="0"/>
          </a:p>
        </p:txBody>
      </p:sp>
      <p:sp>
        <p:nvSpPr>
          <p:cNvPr id="17" name="Shape 15"/>
          <p:cNvSpPr/>
          <p:nvPr/>
        </p:nvSpPr>
        <p:spPr>
          <a:xfrm>
            <a:off x="8107680" y="1508760"/>
            <a:ext cx="3368040" cy="4023360"/>
          </a:xfrm>
          <a:prstGeom prst="roundRect">
            <a:avLst>
              <a:gd name="adj" fmla="val 1629"/>
            </a:avLst>
          </a:prstGeom>
          <a:solidFill>
            <a:srgbClr val="FFFDF7"/>
          </a:solidFill>
          <a:ln w="12700">
            <a:solidFill>
              <a:srgbClr val="B6D1D8"/>
            </a:solidFill>
            <a:prstDash val="solid"/>
          </a:ln>
        </p:spPr>
      </p:sp>
      <p:sp>
        <p:nvSpPr>
          <p:cNvPr id="18" name="Shape 16"/>
          <p:cNvSpPr/>
          <p:nvPr/>
        </p:nvSpPr>
        <p:spPr>
          <a:xfrm>
            <a:off x="8107680" y="1508760"/>
            <a:ext cx="73152" cy="4023360"/>
          </a:xfrm>
          <a:prstGeom prst="rect">
            <a:avLst/>
          </a:prstGeom>
          <a:solidFill>
            <a:srgbClr val="6B5CA5"/>
          </a:solidFill>
          <a:ln w="12700">
            <a:solidFill>
              <a:srgbClr val="6B5CA5">
                <a:alpha val="0"/>
              </a:srgbClr>
            </a:solidFill>
            <a:prstDash val="solid"/>
          </a:ln>
        </p:spPr>
      </p:sp>
      <p:sp>
        <p:nvSpPr>
          <p:cNvPr id="19" name="Text 17"/>
          <p:cNvSpPr/>
          <p:nvPr/>
        </p:nvSpPr>
        <p:spPr>
          <a:xfrm>
            <a:off x="8272272" y="1636776"/>
            <a:ext cx="3093720" cy="292608"/>
          </a:xfrm>
          <a:prstGeom prst="rect">
            <a:avLst/>
          </a:prstGeom>
          <a:noFill/>
          <a:ln/>
        </p:spPr>
        <p:txBody>
          <a:bodyPr wrap="square" lIns="0" tIns="0" rIns="0" bIns="0" rtlCol="0" anchor="t">
            <a:normAutofit/>
          </a:bodyPr>
          <a:lstStyle/>
          <a:p>
            <a:pPr indent="0" marL="0">
              <a:buNone/>
            </a:pPr>
            <a:r>
              <a:rPr lang="en-US" sz="1400" b="1" dirty="0">
                <a:solidFill>
                  <a:srgbClr val="005088"/>
                </a:solidFill>
                <a:latin typeface="Aptos Display" pitchFamily="34" charset="0"/>
                <a:ea typeface="Aptos Display" pitchFamily="34" charset="-122"/>
                <a:cs typeface="Aptos Display" pitchFamily="34" charset="-120"/>
              </a:rPr>
              <a:t>Big payoff</a:t>
            </a:r>
            <a:endParaRPr lang="en-US" sz="1400" dirty="0"/>
          </a:p>
        </p:txBody>
      </p:sp>
      <p:sp>
        <p:nvSpPr>
          <p:cNvPr id="20" name="Text 18"/>
          <p:cNvSpPr/>
          <p:nvPr/>
        </p:nvSpPr>
        <p:spPr>
          <a:xfrm>
            <a:off x="8272272" y="1984248"/>
            <a:ext cx="3075432" cy="3456432"/>
          </a:xfrm>
          <a:prstGeom prst="rect">
            <a:avLst/>
          </a:prstGeom>
          <a:noFill/>
          <a:ln/>
        </p:spPr>
        <p:txBody>
          <a:bodyPr wrap="square" lIns="254" tIns="254" rIns="254" bIns="254" rtlCol="0" anchor="t">
            <a:normAutofit/>
          </a:bodyPr>
          <a:lstStyle/>
          <a:p>
            <a:pPr indent="0" marL="0">
              <a:buNone/>
            </a:pPr>
            <a:r>
              <a:rPr lang="en-US" sz="1200" dirty="0">
                <a:solidFill>
                  <a:srgbClr val="1E293B"/>
                </a:solidFill>
                <a:latin typeface="Aptos" pitchFamily="34" charset="0"/>
                <a:ea typeface="Aptos" pitchFamily="34" charset="-122"/>
                <a:cs typeface="Aptos" pitchFamily="34" charset="-120"/>
              </a:rPr>
              <a:t>Represent general statements compactly, such as "all adjacent pits cause breezes."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California State University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7 Full Lecture: Logical Agents</dc:title>
  <dc:subject>Chapter 7: Logical Agents</dc:subject>
  <dc:creator>COMP 469 / CSU Channel Islands</dc:creator>
  <cp:lastModifiedBy>COMP 469 / CSU Channel Islands</cp:lastModifiedBy>
  <cp:revision>1</cp:revision>
  <dcterms:created xsi:type="dcterms:W3CDTF">2026-07-13T01:07:43Z</dcterms:created>
  <dcterms:modified xsi:type="dcterms:W3CDTF">2026-07-13T01:07:43Z</dcterms:modified>
</cp:coreProperties>
</file>