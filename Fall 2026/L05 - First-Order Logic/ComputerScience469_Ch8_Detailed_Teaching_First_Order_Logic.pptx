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slideMasters/slideMaster102.xml" ContentType="application/vnd.openxmlformats-officedocument.presentationml.slideMaster+xml"/>
  <Override PartName="/ppt/slides/slide102.xml" ContentType="application/vnd.openxmlformats-officedocument.presentationml.slide+xml"/>
  <Override PartName="/ppt/slideMasters/slideMaster103.xml" ContentType="application/vnd.openxmlformats-officedocument.presentationml.slideMaster+xml"/>
  <Override PartName="/ppt/slides/slide103.xml" ContentType="application/vnd.openxmlformats-officedocument.presentationml.slide+xml"/>
  <Override PartName="/ppt/slideMasters/slideMaster104.xml" ContentType="application/vnd.openxmlformats-officedocument.presentationml.slideMaster+xml"/>
  <Override PartName="/ppt/slides/slide104.xml" ContentType="application/vnd.openxmlformats-officedocument.presentationml.slide+xml"/>
  <Override PartName="/ppt/slideMasters/slideMaster105.xml" ContentType="application/vnd.openxmlformats-officedocument.presentationml.slideMaster+xml"/>
  <Override PartName="/ppt/slides/slide105.xml" ContentType="application/vnd.openxmlformats-officedocument.presentationml.slide+xml"/>
  <Override PartName="/ppt/slideMasters/slideMaster106.xml" ContentType="application/vnd.openxmlformats-officedocument.presentationml.slideMaster+xml"/>
  <Override PartName="/ppt/slides/slide106.xml" ContentType="application/vnd.openxmlformats-officedocument.presentationml.slide+xml"/>
  <Override PartName="/ppt/slideMasters/slideMaster107.xml" ContentType="application/vnd.openxmlformats-officedocument.presentationml.slideMaster+xml"/>
  <Override PartName="/ppt/slides/slide107.xml" ContentType="application/vnd.openxmlformats-officedocument.presentationml.slide+xml"/>
  <Override PartName="/ppt/slideMasters/slideMaster108.xml" ContentType="application/vnd.openxmlformats-officedocument.presentationml.slideMaster+xml"/>
  <Override PartName="/ppt/slides/slide108.xml" ContentType="application/vnd.openxmlformats-officedocument.presentationml.slide+xml"/>
  <Override PartName="/ppt/slideMasters/slideMaster109.xml" ContentType="application/vnd.openxmlformats-officedocument.presentationml.slideMaster+xml"/>
  <Override PartName="/ppt/slides/slide109.xml" ContentType="application/vnd.openxmlformats-officedocument.presentationml.slide+xml"/>
  <Override PartName="/ppt/slideMasters/slideMaster110.xml" ContentType="application/vnd.openxmlformats-officedocument.presentationml.slideMaster+xml"/>
  <Override PartName="/ppt/slides/slide110.xml" ContentType="application/vnd.openxmlformats-officedocument.presentationml.slide+xml"/>
  <Override PartName="/ppt/slideMasters/slideMaster111.xml" ContentType="application/vnd.openxmlformats-officedocument.presentationml.slideMaster+xml"/>
  <Override PartName="/ppt/slides/slide1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Lst>
  <p:notesMasterIdLst>
    <p:notesMasterId r:id="rId113"/>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notesMaster" Target="notesMasters/notesMaster1.xml"/><Relationship Id="rId114" Type="http://schemas.openxmlformats.org/officeDocument/2006/relationships/presProps" Target="presProps.xml"/><Relationship Id="rId115" Type="http://schemas.openxmlformats.org/officeDocument/2006/relationships/viewProps" Target="viewProps.xml"/><Relationship Id="rId116" Type="http://schemas.openxmlformats.org/officeDocument/2006/relationships/theme" Target="theme/theme1.xml"/><Relationship Id="rId1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_rels/notesSlide1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5.xml"/>
		</Relationships>
</file>

<file path=ppt/notesSlides/_rels/notesSlide1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6.xml"/>
		</Relationships>
</file>

<file path=ppt/notesSlides/_rels/notesSlide1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7.xml"/>
		</Relationships>
</file>

<file path=ppt/notesSlides/_rels/notesSlide1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8.xml"/>
		</Relationships>
</file>

<file path=ppt/notesSlides/_rels/notesSlide1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9.xml"/>
		</Relationships>
</file>

<file path=ppt/notesSlides/_rels/notesSlide1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0.xml"/>
		</Relationships>
</file>

<file path=ppt/notesSlides/_rels/notesSlide1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Chapter 8 First-Order Logic
Teaching purpose: Open by reassuring students that this chapter is not about memorizing symbols. It is about giving an intelligent agent a richer language for describing a world.
Core explanation: The previous logic chapter used whole facts such as Breezy at square one comma two. This chapter lets the agent talk about objects, relationships among objects, and rules that apply to many objects at once.
Analogy to say aloud: Propositional logic is like a board covered with individual sticky notes. First-order logic is like a map of the room showing people, objects, and relationships among them.
Common student difficulty: Many students see the symbols and assume the topic is pure mathematics. Bring it back to agents: a robot cannot act intelligently if it cannot represent what exists and how things relate.
Suggested class prompt: Ask students to name three objects and two relationships visible in the classroom before showing the agenda.
Teaching reminder: avoid treating the symbols as decoration. Ask students which objects exist, which relationships are being named, and what the knowledge base is allowed to conclude.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use this lecture deck
Teaching purpose: Give the instructor a practical plan for teaching students who have never seen first-order logic.
Core explanation: This deck intentionally separates visual slide text from detailed teaching notes. The slides show the minimum needed to keep attention; the notes provide explanation, analogies, gotchas, and prompts.
Slide content to emphasize:
- Keep the displayed slide concise; use speaker notes for the full teaching script
- Read formulas aloud as English before discussing symbols
- Pause after each analogy and ask students to invent a parallel example
- Do short checks often; this chapter is cumulative
- When students struggle, return to objects, relationships, and what follows from the knowledge base
Common student difficulty: Students may think the topic is symbol manipulation only. Reframe every formula as an answer to a representation question.
Suggested class prompt: Ask students to explain what they think a reasoning agent must remember about a classroom.
Teaching reminder: avoid treating the symbols as decoration. Ask students which objects exist, which relationships are being named, and what the knowledge base is allowed to conclude.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Teaching purpose: Set expectations and reduce anxiety by naming the concrete skills students will practice.
Core explanation: These objectives are ordered from motivation to technical notation to engineering practice. Students should see that each later skill depends on earlier vocabulary.
Slide content to emphasize:
- Explain why propositional logic becomes verbose in worlds with many objects
- Distinguish syntax from semantics in a formal representation language
- Identify constants, variables, predicates, functions, terms, and sentences
- Translate basic English rules using universal and existential quantifiers
- Explain the difference between standard semantics and database semantics
- Describe the seven-step knowledge engineering process
Common student difficulty: Do not assume students know the difference between a symbol and the thing it names. That distinction is central throughout the chapter.
Suggested class prompt: Ask students which objective looks most mathematical and which looks most like software engineering.
Teaching reminder: avoid treating the symbols as decoration. Ask students which objects exist, which relationships are being named, and what the knowledge base is allowed to conclude.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story in one minute
Teaching purpose: Connect Chapter 8 to the rest of the course so it does not feel like an isolated logic unit.
Core explanation: An intelligent agent needs both procedures and representations. This chapter is about the representation side: the internal language that supports reasoning.
Slide content to emphasize:
- Earlier chapters searched over states and actions
- Chapter 7 used propositional sentences for logical agents
- Chapter 8 asks how to represent worlds with many objects
- The answer is a language with objects, relations, functions, and quantifiers
Analogy to say aloud: Search is like navigating a map. First-order logic is like writing the map legend: what kinds of things exist, how they connect, and what rules hold everywhere.
Common student difficulty: Students may ask why a search algorithm is not enough. Search needs states; logic explains what the states mean and what follows from partial knowledge.
Suggested class prompt: Ask: What does a delivery robot need to know besides its route?
Teaching reminder: avoid treating the symbols as decoration. Ask students which objects exist, which relationships are being named, and what the knowledge base is allowed to conclude.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Big idea: structured knowledge
Teaching purpose: Give students a mental model for why first-order logic is a meaningful upgrade over earlier representations.
Core explanation: The phrase structured knowledge means the agent can represent that many objects share common properties and participate in common relationships.
Slide content to emphasize:
- Atomic representation treats a state as one indivisible label
- Factored representation describes variables and values
- Structured representation describes objects and relationships
- First-order logic is a structured representation language
Analogy to say aloud: A contact list knows names and phone numbers. A social network also knows friendships, groups, messages, and who is connected to whom.
Common student difficulty: Students often believe more symbols automatically mean more intelligence. The power comes from modeling reusable structure, not from notation alone.
Suggested class prompt: Have students list objects and relationships in a campus parking lot.
Teaching reminder: avoid treating the symbols as decoration. Ask students which objects exist, which relationships are being named, and what the knowledge base is allowed to conclude.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intelligent agents need richer language
Teaching purpose: Motivate logical representation as a tool for flexible behavior.
Core explanation: The chapter contrasts limited problem-solving agents with knowledge-based agents that can use general statements about the world.
Slide content to emphasize:
- Agents must reason about more than a single current state
- They need general facts, not only stored observations
- They need to infer new facts from old facts
- They need to accept new goals described in words or symbols
Analogy to say aloud: A novice driver memorizes one route. An experienced driver knows roads, bridges, traffic rules, landmarks, and exceptions.
Common student difficulty: Do not let students equate memory with knowledge. A list of facts is not enough unless the agent can reason from those facts.
Suggested class prompt: Ask: What general fact helps a driver even on a road they have never seen?
Teaching reminder: avoid treating the symbols as decoration. Ask students which objects exist, which relationships are being named, and what the knowledge base is allowed to conclude.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isolated facts to reusable rules
Teaching purpose: Use the Wumpus World example as the anchor concept for the whole chapter.
Core explanation: This rule compression is one of the most intuitive reasons to prefer first-order logic over propositional logic in large domains.
Slide content to emphasize:
- Isolated fact: square one comma two is breezy
- Reusable rule: squares adjacent to pits are breezy
- The rule works for any grid size
- Variables and quantifiers make the rule reusable
Analogy to say aloud: Instead of printing a separate “no parking” sign for every car, a city writes one parking rule that applies to all cars in the zone.
Common student difficulty: The formula is not saying one particular square is breezy. It is saying how breeziness relates to pits for every relevant square.
Suggested class prompt: Ask students to underline the part that means “all squares” and the part that means “some pit.”
Teaching reminder: avoid treating the symbols as decoration. Ask students which objects exist, which relationships are being named, and what the knowledge base is allowed to conclude.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8.1 Representation Revisited
Teaching purpose: Introduce representation languages and why Chapter 8 is about more than notation.
Core explanation: Why the choice of representation language changes what an agent can know
Analogy to say aloud: Choosing a representation language is like choosing a map projection: different choices make different tasks easy or hard.
Common student difficulty: Students can lose the chapter story when notation changes. Reconnect each section to the same question: what can the agent represent and what can the agent infer?
Suggested class prompt: Ask students to name one fact that a Python dictionary could store but not automatically infer.
Teaching reminder: avoid treating the symbols as decoration. Ask students which objects exist, which relationships are being named, and what the knowledge base is allowed to conclude.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Representation languages are design choices
Teaching purpose: Make students aware that representation is an engineering decision, not just a textbook format.
Core explanation: This slide opens the first section by focusing on what a representation language enables and what it hides.
Slide content to emphasize:
- A representation language determines what can be stated directly
- It affects how easily new facts can be inferred
- It influences how reusable the knowledge is
- It can make a problem clear or unnecessarily painful
Analogy to say aloud: A spreadsheet, a family tree, and a map can all describe people or places, but each makes different questions easy.
Common student difficulty: Students may ask why not just use Python. Python can implement reasoning, but the logic language states knowledge in a domain-independent way.
Suggested class prompt: Ask: Which representation is better for “who is related to whom,” a table or a family tree?
Teaching reminder: avoid treating the symbols as decoration. Ask students which objects exist, which relationships are being named, and what the knowledge base is allowed to conclude.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structures can store facts
Teaching purpose: Explain the chapter example about programming languages and data structures.
Core explanation: The point is not that programming languages are bad. The point is that they usually mix knowledge and inference inside domain-specific code.
Slide content to emphasize:
- A program can store a pit at square two comma two
- A program can update arrays, lists, or dictionaries
- But each consequence must be coded by a domain-specific procedure
- The data structure itself does not understand the rules
Analogy to say aloud: A warehouse shelf can hold boxes, but it does not know which boxes are fragile unless someone labels and reasons about them.
Common student difficulty: Students may think storing a fact and knowing a fact are the same. In Artificial Intelligence, useful knowledge includes the ability to derive consequences.
Suggested class prompt: Ask: What additional rule would be needed to infer that a neighboring square has a breeze?
Teaching reminder: avoid treating the symbols as decoration. Ask students which objects exist, which relationships are being named, and what the knowledge base is allowed to conclude.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Logical knowledge separates facts from inference
Teaching purpose: Introduce the declarative view of knowledge representation.
Core explanation: Chapter 8 builds on Chapter 7 by treating knowledge and inference as separate. This makes the knowledge easier to inspect and reuse.
Slide content to emphasize:
- Facts are written as sentences
- Rules are written as sentences too
- A general inference procedure derives consequences
- The same inference machinery can be reused across domains
Analogy to say aloud: A cookbook has many recipes; a chemistry rule explains why heat changes ingredients. Logic is closer to the rule because it can apply broadly.
Common student difficulty: A logic sentence is not an instruction to execute. It is an assertion that can be true or false in a model.
Suggested class prompt: Ask: Is “all adjacent pits make breezes” a stored fact, a rule, or both?
Teaching reminder: avoid treating the symbols as decoration. Ask students which objects exist, which relationships are being named, and what the knowledge base is allowed to conclude.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information matters
Teaching purpose: Show why a representation language must handle disjunction and negation directly.
Core explanation: Data structures often prefer one value in one location. Logic can naturally say that one of several alternatives is possible.
Slide content to emphasize:
- Agents often know alternatives, not exact facts
- A pit may be in one square or another square
- A Wumpus may not be in a particular square
- Logic can represent uncertainty as unknown without using probability yet
Analogy to say aloud: A detective may know the suspect used either Door A or Door B. That is useful knowledge even before the exact door is known.
Common student difficulty: Unknown does not mean false. Unknown means the knowledge base has not ruled out every alternative.
Suggested class prompt: Ask students for a real-life statement that contains “or” and is still useful.
Teaching reminder: avoid treating the symbols as decoration. Ask students which objects exist, which relationships are being named, and what the knowledge base is allowed to conclude.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Compositional meaning
Teaching purpose: Teach compositionality, one of the chapter’s key properties of a good representation language.
Core explanation: The chapter contrasts formal compositional meaning with natural language, where context and ambiguity can make meanings less predictable.
Slide content to emphasize:
- The meaning of a complex sentence comes from the meaning of its parts
- Logical connectives combine smaller meanings predictably
- This makes reasoning mechanical and inspectable
- Without compositionality, formulas would be impossible to debug
Analogy to say aloud: Building blocks keep their shape when combined. A wall is understandable because each block still contributes predictably.
Common student difficulty: Students may read symbols as a code to memorize. Instead, ask them to identify the parts and then combine the meanings.
Suggested class prompt: Ask: What two smaller claims are joined by the “and” symbol?
Teaching reminder: avoid treating the symbols as decoration. Ask students which objects exist, which relationships are being named, and what the knowledge base is allowed to conclude.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Propositional logic becomes verbose
Teaching purpose: Explain the limitation that motivates first-order logic.
Core explanation: Students already learned propositional logic in Chapter 7. This slide frames first-order logic as a scaling upgrade, not a rejection of earlier logic.
Slide content to emphasize:
- Each proposition symbol names a whole fact
- Repeated structure must be copied many times
- A grid world needs one rule for each square
- A long time sequence needs repeated rules for each time point
Analogy to say aloud: Writing one rule per square is like writing a separate syllabus for every student with only the name changed.
Common student difficulty: Propositional logic is not wrong. It is too low-level for domains with many similar objects.
Suggested class prompt: Ask: How many copied rules would a one hundred by one hundred grid require?
Teaching reminder: avoid treating the symbols as decoration. Ask students which objects exist, which relationships are being named, and what the knowledge base is allowed to conclude.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First-order logic says the pattern once
Teaching purpose: State the main advantage of first-order logic in the Wumpus World context.
Core explanation: This slide should be repeated verbally throughout the lecture: one general schema replaces many copied propositional rules.
Slide content to emphasize:
- Use variables for reusable placeholders
- Use relations to describe how objects connect
- Use quantifiers to cover all or some objects
- One sentence can express a whole family of ground facts
Analogy to say aloud: A campus policy applies to all students; the university does not write a separate policy for each person.
Common student difficulty: The variable is not one secret object. It ranges over possible objects in the domain.
Suggested class prompt: Ask students to translate the formula aloud without using the symbol names.
Teaching reminder: avoid treating the symbols as decoration. Ask students which objects exist, which relationships are being named, and what the knowledge base is allowed to conclude.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Natural language seems tempting
Teaching purpose: Introduce the chapter’s discussion of natural language as a representation candidate.
Core explanation: Natural language is good for communication, but a knowledge base needs sentences whose truth conditions can be recovered without hidden context.
Slide content to emphasize:
- Natural language is extremely expressive
- It is how humans communicate most knowledge
- It can describe objects, relations, time, uncertainty, and context
- But it is not a clean formal knowledge base language
Analogy to say aloud: Natural language is like a conversation in a crowded room: powerful, flexible, and full of shared assumptions.
Common student difficulty: Students may assume modern language systems remove the need for formal logic. Formal logic still teaches exact semantics and inference.
Suggested class prompt: Ask: What does “put it there” mean without knowing what “it” and “there” refer to?
Teaching reminder: avoid treating the symbols as decoration. Ask students which objects exist, which relationships are being named, and what the knowledge base is allowed to conclude.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Natural language ambiguity
Teaching purpose: Explain why natural language alone is difficult as a formal representation language.
Core explanation: The chapter uses ambiguity to motivate formal languages with explicit syntax and semantics.
Slide content to emphasize:
- Words can have multiple meanings
- Sentences depend on context and speaker intent
- The same phrase may refer to different objects in different situations
- Formal logic trades flexibility for precision
Analogy to say aloud: The word “spring” could mean a season, a metal coil, or a water source. A reasoning system must know which one is intended.
Common student difficulty: Ambiguity is not a small inconvenience. It can cause a reasoning system to prove conclusions about the wrong thing.
Suggested class prompt: Ask students for another word with multiple meanings.
Teaching reminder: avoid treating the symbols as decoration. Ask students which objects exist, which relationships are being named, and what the knowledge base is allowed to conclude.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Formal language commitments
Teaching purpose: Use the figure to define ontological and epistemological commitments in accessible terms.
Core explanation: Ontological commitment means what the language assumes can exist. Epistemological commitment means what the agent can believe about facts.
Slide content to emphasize:
- A language commits to what kinds of things exist
- A language also commits to what belief states can be expressed
- First-order logic adds objects and relations
- Truth remains true, false, or unknown
Analogy to say aloud: A play has a cast list and a plot status. Ontology is the cast; epistemology is what we know about the plot.
Common student difficulty: Students may confuse unknown with probability. In first-order logic, unknown is not a number; it means the knowledge base has not entailed truth or falsity.
Suggested class prompt: Ask students which row adds times and which row adds degrees of belief.
Teaching reminder: avoid treating the symbols as decoration. Ask students which objects exist, which relationships are being named, and what the knowledge base is allowed to conclude.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Ontological commitment
Teaching purpose: Clarify the meaning of ontological commitment from Figure 8.1.
Core explanation: First-order logic is more expressive because its ontology includes objects and relations, not only isolated fact symbols.
Slide content to emphasize:
- Ontology means what kinds of things the language treats as existing
- Propositional logic commits to facts
- First-order logic commits to facts, objects, and relations
- The ontology shapes every later modeling choice
Analogy to say aloud: A video game engine decides whether the world contains characters, items, rooms, weather, or only colored pixels.
Common student difficulty: The ontology is not the same as the current facts. It is the set of kinds of things the language is prepared to talk about.
Suggested class prompt: Ask: In a course registration system, what objects should exist?
Teaching reminder: avoid treating the symbols as decoration. Ask students which objects exist, which relationships are being named, and what the knowledge base is allowed to conclude.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Epistemological commitment
Teaching purpose: Clarify the second column of Figure 8.1.
Core explanation: This distinction prepares students for later chapters on uncertainty. First-order logic is rich in objects and relations, but it is not probability.
Slide content to emphasize:
- Epistemology means what belief states the language allows
- First-order logic keeps true, false, and unknown
- Probability theory uses degrees of belief
- Fuzzy logic uses degrees of truth
Analogy to say aloud: A weather app may say “seventy percent chance of rain.” A first-order logic knowledge base says rain is true, false, or not yet known.
Common student difficulty: A vague predicate like Tall(person) is not automatically handled by first-order logic. The predicate needs a precise meaning or another representation.
Suggested class prompt: Ask: Is “Carlos is tall” naturally true/false, probabilistic, or vague?
Teaching reminder: avoid treating the symbols as decoration. Ask students which objects exist, which relationships are being named, and what the knowledge base is allowed to conclude.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8.2 Syntax and Semantics of First-Order Logic
Teaching purpose: Prepare students for the technical core of the chapter.
Core explanation: How symbols connect to possible worlds
Analogy to say aloud: Syntax is like grammar; semantics is whether the sentence describes the actual room.
Common student difficulty: Students can lose the chapter story when notation changes. Reconnect each section to the same question: what can the agent represent and what can the agent infer?
Suggested class prompt: Ask students whether a grammatically correct English sentence can still be false.
Teaching reminder: avoid treating the symbols as decoration. Ask students which objects exist, which relationships are being named, and what the knowledge base is allowed to conclude.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Syntax and semantics
Teaching purpose: Introduce the most important distinction in formal logic.
Core explanation: Students need to separate what a sentence looks like from what a sentence means. This difference recurs in every later concept.
Slide content to emphasize:
- Syntax defines legal sentences
- Semantics defines truth in a model
- A model connects symbols to a possible world
- Inference depends on what is true across models
Analogy to say aloud: “The chair is on the desk” has correct grammar, but it is true only if the world matches the sentence.
Common student difficulty: A well-formed sentence is not automatically true.
Suggested class prompt: Ask: Can King(Richard) be legal but false?
Teaching reminder: avoid treating the symbols as decoration. Ask students which objects exist, which relationships are being named, and what the knowledge base is allowed to conclude.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Models are possible worlds with structure
Teaching purpose: Use Figure 8.2 to make first-order models concrete.
Core explanation: Point to each visible part of the figure: people, crown, legs, brother arrows, on-head relation, and the labels person, king, and crown.
Slide content to emphasize:
- A model contains objects
- Objects can have properties
- Objects can participate in relations
- Functions map input objects to output objects
Analogy to say aloud: A model is like a small stage set: characters, props, and links among them are arranged in a particular way.
Common student difficulty: Students may think a model is a diagram only. A model is the mathematical structure behind the diagram.
Suggested class prompt: Ask students to identify one object, one unary relation, one binary relation, and one function in the figure.
Teaching reminder: avoid treating the symbols as decoration. Ask students which objects exist, which relationships are being named, and what the knowledge base is allowed to conclude.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domain is the universe of objects
Teaching purpose: Define the domain before discussing symbols and interpretations.
Core explanation: The chapter emphasizes that models contain objects. The domain is the set of those objects, and it is required to contain at least one object.
Slide content to emphasize:
- Every first-order logic model has a nonempty domain
- The domain contains the objects in that possible world
- Some objects may have names
- Some objects may be unnamed
Analogy to say aloud: The domain is the cast list of a play. Some characters have speaking roles and names; extras may still exist on stage.
Common student difficulty: Standard first-order logic does not require every object to have a name.
Suggested class prompt: Ask: Can an object exist in the model even if no constant symbol names it?
Teaching reminder: avoid treating the symbols as decoration. Ask students which objects exist, which relationships are being named, and what the knowledge base is allowed to conclude.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Properties are unary relations
Teaching purpose: Introduce the simplest kind of relation before pairs and tuples.
Core explanation: Students often find binary relations easier because they look like verbs. Emphasize that properties are relations with one argument.
Slide content to emphasize:
- A unary relation applies to one object
- Person(x) says x is a person
- King(x) says x is a king
- Crown(x) says x is a crown
Analogy to say aloud: A roster column such as “is enrolled” marks a property of one person at a time.
Common student difficulty: Unary relation and property are two names for the same idea in this chapter context.
Suggested class prompt: Ask: What unary relation could describe a classroom object?
Teaching reminder: avoid treating the symbols as decoration. Ask students which objects exist, which relationships are being named, and what the knowledge base is allowed to conclude.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Binary relations connect pairs of objects
Teaching purpose: Explain the tuple view of relations from Figure 8.2.
Core explanation: A relation is not a sentence by itself; it is the set of tuples that make the predicate true in a model.
Slide content to emphasize:
- A binary relation applies to ordered pairs
- Brother(Richard, John) names one pair
- OnHead(Crown, John) names a different pair
- A relation is true exactly for selected tuples
Analogy to say aloud: A seating chart relation could say NextTo(Ana, Ben). The order may matter if we mean “to the left of.”
Common student difficulty: Students may assume every relationship is symmetric. Parent(x,y) is not the same as Parent(y,x).
Suggested class prompt: Ask why the brother relation includes two ordered pairs in the example.
Teaching reminder: avoid treating the symbols as decoration. Ask students which objects exist, which relationships are being named, and what the knowledge base is allowed to conclude.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Relations can have more than two arguments
Teaching purpose: Extend relation intuition beyond unary and binary examples.
Core explanation: First-order logic supports predicates of arbitrary fixed arity. The key design choice is which arguments are necessary for the questions the knowledge base must answer.
Slide content to emphasize:
- Some relations involve three or more objects
- Enrolled(student, course, semester) uses three arguments
- Teaches(instructor, course, semester) uses three arguments
- The number of arguments is part of the predicate design
Analogy to say aloud: A group project table may need student, partner, course, and team number. Two columns would not capture the whole relation.
Common student difficulty: Do not add arguments casually. More arguments can make a relation precise, but also more complex to use.
Suggested class prompt: Ask students to design a relation for “student borrowed a book from the library on a date.”
Teaching reminder: avoid treating the symbols as decoration. Ask students which objects exist, which relationships are being named, and what the knowledge base is allowed to conclude.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Functions represent unique mappings
Teaching purpose: Introduce functions as object-referring expressions.
Core explanation: The chapter stresses that complex terms are not subroutine calls. They are ways to refer to objects without giving every object a separate constant name.
Slide content to emphasize:
- A function maps each input tuple to exactly one object
- LeftLeg(John) refers to John’s left leg
- In(1, CircuitOne) refers to one input terminal
- Function terms are names, not procedures
Analogy to say aloud: A student identification function maps each student to one identification number. It is a naming relationship, not a step-by-step program.
Common student difficulty: Students with programming experience may think a function runs code. In logic, a function term denotes an object.
Suggested class prompt: Ask: Is Mother(John) a term or a truth claim?
Teaching reminder: avoid treating the symbols as decoration. Ask students which objects exist, which relationships are being named, and what the knowledge base is allowed to conclude.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Total functions can feel strange
Teaching purpose: Prepare students for a subtle semantic point that often surprises them.
Core explanation: The chapter notes that total functions are a technical requirement. In practical knowledge bases, we usually do not assert facts about meaningless function values.
Slide content to emphasize:
- First-order logic functions are total
- They must return a value for every input in the domain
- This can create odd cases such as LeftLeg(Crown)
- Usually the knowledge base avoids irrelevant questions
Analogy to say aloud: A form that requires every field to be filled may force an answer even when the question is silly, such as “shoe size of a crown.”
Common student difficulty: The odd technical cases do not mean the representation is useless; they remind us to design vocabulary carefully.
Suggested class prompt: Ask: Why might a predicate HasLeftLeg(x) help avoid awkward questions?
Teaching reminder: avoid treating the symbols as decoration. Ask students which objects exist, which relationships are being named, and what the knowledge base is allowed to conclude.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Interpretations give symbols meaning
Teaching purpose: Introduce the central role of interpretations in semantics.
Core explanation: A model includes both objects and an interpretation. Without the interpretation, the vocabulary cannot be evaluated for truth.
Slide content to emphasize:
- Constants map to objects
- Predicate symbols map to relations
- Function symbols map to functions
- Different interpretations can make different sentences true
Analogy to say aloud: A label on a moving box is useful only if everyone agrees which box it points to.
Common student difficulty: Symbols do not carry meaning by themselves. The interpretation is the bridge from marks on the slide to objects in a model.
Suggested class prompt: Ask: What would happen if John mapped to the crown instead?
Teaching reminder: avoid treating the symbols as decoration. Ask students which objects exist, which relationships are being named, and what the knowledge base is allowed to conclude.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Intended and unintended interpretations
Teaching purpose: Explain why logical systems can consider unexpected models if the knowledge base does not rule them out.
Core explanation: This prepares students for database semantics and equality. The standard semantics allows multiple names for one object unless distinctness is asserted.
Slide content to emphasize:
- The intended interpretation matches what the designer meant
- Other interpretations may be mathematically possible
- The knowledge base rules out interpretations inconsistent with its sentences
- Entailment considers all remaining possible interpretations
Analogy to say aloud: A classroom seating chart is intended to match real seats, but a mislabeled chart could point names to the wrong chairs.
Common student difficulty: Students may think the intended interpretation is automatically enforced. In logic, it must be supported by the sentences in the knowledge base.
Suggested class prompt: Ask: Why might we need John ≠ Richard?
Teaching reminder: avoid treating the symbols as decoration. Ask students which objects exist, which relationships are being named, and what the knowledge base is allowed to conclude.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Constant symbols
Teaching purpose: Clarify the role of constant symbols.
Core explanation: A constant is a name in the language. Its referent is determined by the model’s interpretation.
Slide content to emphasize:
- A constant symbol names one object in a model
- Examples: Richard, John, CircuitOne
- The same object may have more than one name unless ruled out
- Some objects may have no name at all
Analogy to say aloud: One person can be called “Professor,” “Dr. Garcia,” and “Mom” by different people. Names and objects are not always one-to-one.
Common student difficulty: Different constant symbols do not automatically mean different objects in standard first-order logic.
Suggested class prompt: Ask: What sentence forces two names to refer to different objects?
Teaching reminder: avoid treating the symbols as decoration. Ask students which objects exist, which relationships are being named, and what the knowledge base is allowed to conclude.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Predicate symbols
Teaching purpose: Make predicate syntax and semantics clear.
Core explanation: Predicate symbols are the workhorses of first-order logic because they allow the knowledge base to state properties and relationships.
Slide content to emphasize:
- A predicate symbol names a relation
- Predicates become sentences when applied to terms
- Examples: Person(x), Brother(x,y), Connected(t₁,t₂)
- Each predicate has a fixed number of arguments
Analogy to say aloud: A predicate is like a blank form: “____ is enrolled in ____.” Terms fill the blanks to make a claim.
Common student difficulty: A predicate is not an object. It names a relationship that may or may not hold among objects.
Suggested class prompt: Ask students to classify Student(x) and Teaches(x,y).
Teaching reminder: avoid treating the symbols as decoration. Ask students which objects exist, which relationships are being named, and what the knowledge base is allowed to conclude.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Function symbols
Teaching purpose: Distinguish functions from predicates before terms and atomic sentences.
Core explanation: This is a frequent source of mistakes: predicates form claims; functions help name objects used inside claims.
Slide content to emphasize:
- A function symbol creates a term
- The term refers to an object
- Examples: Mother(John), LeftLeg(John), In(1,CircuitOne)
- Functions have fixed argument counts too
Analogy to say aloud: “The instructor of this course” names a person even if you do not say the person’s name.
Common student difficulty: A function term is not true or false. It only refers to an object.
Suggested class prompt: Ask: Is In(1,CircuitOne) a term or a sentence?
Teaching reminder: avoid treating the symbols as decoration. Ask students which objects exist, which relationships are being named, and what the knowledge base is allowed to conclude.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Arity means argument count
Teaching purpose: Teach a basic syntax check students can use when translating.
Core explanation: Arity errors are comparable to calling a programming function with the wrong number of arguments, but in logic the issue is malformed syntax.
Slide content to emphasize:
- Predicate and function symbols have a fixed number of arguments
- Person(x) has one argument
- Brother(x,y) has two arguments
- Connected(t₁,t₂) has two arguments
Analogy to say aloud: Arity is like the number of seats at a table. A two-seat relation expects exactly two objects.
Common student difficulty: Students sometimes omit or add arguments because the English sentence feels obvious. Formal syntax requires exact argument counts.
Suggested class prompt: Ask: How many arguments should Enrolled(student, course, semester) have?
Teaching reminder: avoid treating the symbols as decoration. Ask students which objects exist, which relationships are being named, and what the knowledge base is allowed to conclude.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Syntax of first-order logic
Teaching purpose: Use the formal grammar as a visual map, not as something students must memorize line by line.
Core explanation: Show the hierarchy: terms are used inside predicates; predicates produce atomic sentences; connectives and quantifiers produce complex sentences.
Slide content to emphasize:
- Terms refer to objects
- Atomic sentences make basic claims
- Complex sentences combine smaller sentences
- Quantifiers bind variables
Analogy to say aloud: The grammar is a recipe for legal formulas: ingredients first, then how to combine them.
Common student difficulty: Students may try to read the grammar top to bottom too literally. Focus on categories and how they nest.
Suggested class prompt: Ask: Where does a variable appear, as a term or as a sentence?
Teaching reminder: avoid treating the symbols as decoration. Ask students which objects exist, which relationships are being named, and what the knowledge base is allowed to conclude.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Parsing a sentence step by step
Teaching purpose: Give students a practical strategy for formula reading.
Core explanation: This slide helps students avoid panic by giving them a repeatable method. Start outside, then move inward.
Slide content to emphasize:
- Find the outermost connective or quantifier
- Identify the atomic sentences inside
- Separate terms from predicates
- Translate each part into English
Analogy to say aloud: Parsing a formula is like reading a complex sentence in English: find the main verb, then the clauses.
Common student difficulty: Do not translate symbols one at a time without structure. The outer structure often determines the meaning.
Suggested class prompt: Ask: What is the main connective after the quantifier?
Teaching reminder: avoid treating the symbols as decoration. Ask students which objects exist, which relationships are being named, and what the knowledge base is allowed to conclude.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Terms refer to objects
Teaching purpose: Introduce terms as object-referring expressions.
Core explanation: Students need this distinction before understanding atomic sentences. Terms are the noun phrases of first-order logic.
Slide content to emphasize:
- A constant is a term
- A variable is a term
- A function applied to terms is a term
- Terms are not true or false by themselves
Analogy to say aloud: “My neighbor’s car” can refer to an object even if you never name the car directly.
Common student difficulty: King(John) is not a term; it is a sentence because it makes a claim.
Suggested class prompt: Ask students to classify Mother(John) and Person(John).
Teaching reminder: avoid treating the symbols as decoration. Ask students which objects exist, which relationships are being named, and what the knowledge base is allowed to conclude.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Ground terms contain no variables
Teaching purpose: Teach a smaller vocabulary term that helps with later inference.
Core explanation: Ground terms name objects without variables. Ground atomic sentences are concrete claims about those object references.
Slide content to emphasize:
- A ground term is fully specified
- LeftLeg(John) is a ground term
- LeftLeg(x) is not a ground term
- Ground terms are useful for concrete facts
Analogy to say aloud: “Seat 12A on flight 350” is a ground reference; “the seat assigned to passenger x” still depends on x.
Common student difficulty: Ground does not mean true. It means the expression has no variables.
Suggested class prompt: Ask: Is Father(Mother(John)) a ground term?
Teaching reminder: avoid treating the symbols as decoration. Ask students which objects exist, which relationships are being named, and what the knowledge base is allowed to conclude.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Atomic sentences make basic claims
Teaching purpose: Explain how terms and predicates combine into truth-evaluable claims.
Core explanation: Atomic sentences are the building blocks from which complex first-order sentences are made.
Slide content to emphasize:
- Apply a predicate to terms
- The result is true or false in a model
- Atomic sentences are the smallest claims
- Equality between terms is also atomic
Analogy to say aloud: An atomic sentence is one checkbox on a form: “Ana is enrolled in Computer Science 469.” It is one basic claim.
Common student difficulty: A predicate alone is not a full claim unless it has the arguments required by its arity.
Suggested class prompt: Ask: What objects must be related for Brother(Richard, John) to be true?
Teaching reminder: avoid treating the symbols as decoration. Ask students which objects exist, which relationships are being named, and what the knowledge base is allowed to conclude.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Atomic sentences can contain complex terms
Teaching purpose: Show that first-order sentences can be nested without being program calls.
Core explanation: This slide reinforces the idea that function terms are object references and predicates are claims about objects.
Slide content to emphasize:
- Function terms can appear inside predicates
- The function term first refers to an object
- The predicate then claims a relation among those objects
- The whole atom is true only if the relation holds
Analogy to say aloud: “The owner of the blue car is registered” uses a description inside a larger claim.
Common student difficulty: The nested terms do not make the sentence procedural. Nothing is being executed; objects are being referred to.
Suggested class prompt: Ask students to identify the two complex terms inside the sentence.
Teaching reminder: avoid treating the symbols as decoration. Ask students which objects exist, which relationships are being named, and what the knowledge base is allowed to conclude.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Equality and inequality
Teaching purpose: Prepare students for database semantics and exact translations.
Core explanation: Equality is built into first-order logic with equality. It matters whenever the knowledge base must distinguish objects.
Slide content to emphasize:
- Equality says two terms refer to the same object
- Inequality says two terms refer to different objects
- Standard semantics does not assume different names are different
- Use inequality when distinctness matters
Analogy to say aloud: Two email addresses may belong to the same person unless the system has evidence they are different.
Common student difficulty: Students often assume John and Geoffrey must be different because the names differ. Standard first-order logic does not assume that.
Suggested class prompt: Ask: Why is inequality needed to say Richard has two brothers?
Teaching reminder: avoid treating the symbols as decoration. Ask students which objects exist, which relationships are being named, and what the knowledge base is allowed to conclude.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Complex sentences combine claims
Teaching purpose: Bridge from Chapter 7 connectives to first-order atoms.
Core explanation: This is a confidence-building slide. Students already know logical connectives; first-order logic enriches the content inside them.
Slide content to emphasize:
- Use not, and, or, implication, and biconditional
- The connectives behave like propositional logic
- Only the atoms underneath are richer
- Complex sentences express larger conditions
Analogy to say aloud: Complex sentences are like combining checkboxes with “and,” “or,” and “if.”
Common student difficulty: The connective does not change what the terms refer to. It only combines truth conditions.
Suggested class prompt: Ask: What are the two atomic claims inside this sentence?
Teaching reminder: avoid treating the symbols as decoration. Ask students which objects exist, which relationships are being named, and what the knowledge base is allowed to conclude.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Biconditional means both directions
Teaching purpose: Prepare students for Wumpus rules and debugging weak axioms.
Core explanation: Students often write implication when they need a biconditional, or vice versa. Make them test both directions in English.
Slide content to emphasize:
- A biconditional means “if and only if”
- It supports reasoning from left to right
- It also supports reasoning from right to left
- Use it only when both directions are truly intended
Analogy to say aloud: “The classroom is open if and only if the instructor unlocks it” says unlocking and being open perfectly match each other.
Common student difficulty: A one-way implication may be too weak for safety reasoning; a false biconditional may be too strong and produce wrong conclusions.
Suggested class prompt: Ask: Does smoke imply fire? Does fire always imply smoke?
Teaching reminder: avoid treating the symbols as decoration. Ask students which objects exist, which relationships are being named, and what the knowledge base is allowed to conclude.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Many possible models
Teaching purpose: Show why first-order model checking is not like simple propositional truth-table enumeration.
Core explanation: The figure displays different domain sizes and different ways the constants and relation can be interpreted.
Slide content to emphasize:
- The same vocabulary can describe many worlds
- Constants may map to objects in different ways
- Relations may contain different tuples
- Entailment must hold across all models allowed by the knowledge base
Analogy to say aloud: A seating chart template can be filled in many ways. The names and arrows are the same kind of notation, but the actual seating differs.
Common student difficulty: Students may think the picture shows different sentences. It shows different models for the same language vocabulary.
Suggested class prompt: Ask: What changes from one model to the next?
Teaching reminder: avoid treating the symbols as decoration. Ask students which objects exist, which relationships are being named, and what the knowledge base is allowed to conclude.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model enumeration breaks down
Teaching purpose: Explain the computational consequence of richer semantics.
Core explanation: This slide prepares students for Chapter 9, which focuses on inference methods for first-order logic.
Slide content to emphasize:
- Propositional logic has finitely many models for a fixed vocabulary
- First-order logic models can have any nonzero domain size
- Interpretations of constants, predicates, and functions multiply quickly
- General first-order entailment needs more than enumeration
Analogy to say aloud: Checking every possible seating chart for a class is hard. Checking every possible class size and every possible relationship among students is far harder.
Common student difficulty: First-order logic is more expressive, but expressiveness increases the cost of reasoning.
Suggested class prompt: Ask: Why does adding objects make the number of possible worlds explode?
Teaching reminder: avoid treating the symbols as decoration. Ask students which objects exist, which relationships are being named, and what the knowledge base is allowed to conclude.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8.2.6 Quantifiers
Teaching purpose: Introduce universal and existential quantification as tools for general statements.
Core explanation: How to say “all objects” and “some object” precisely
Analogy to say aloud: Quantifiers are like different kinds of searchlights: one sweeps every object, one only needs to find a witness.
Common student difficulty: Students can lose the chapter story when notation changes. Reconnect each section to the same question: what can the agent represent and what can the agent infer?
Suggested class prompt: Ask students to explain the difference between “everyone has a phone” and “someone has a phone.”
Teaching reminder: avoid treating the symbols as decoration. Ask students which objects exist, which relationships are being named, and what the knowledge base is allowed to conclude.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Universal quantification means for every object
Teaching purpose: Introduce the universal quantifier with the chapter’s “all kings are persons” example.
Core explanation: Read it as: for every object x, if x is a king, then x is a person. Emphasize the conditional structure.
Slide content to emphasize:
- The universal quantifier is read “for all”
- It makes a claim about every object in the domain
- It is useful for rules and policies
- It behaves like a large conjunction over the domain
Analogy to say aloud: A campus policy that says every student must have an identification card applies to each student individually.
Common student difficulty: The sentence does not say every object is a king. It says every object that is a king is a person.
Suggested class prompt: Ask students to read the formula aloud in complete English.
Teaching reminder: avoid treating the symbols as decoration. Ask students which objects exist, which relationships are being named, and what the knowledge base is allowed to conclude.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Universal quantifier usually pairs with implication
Teaching purpose: Teach one of the most important translation gotchas.
Core explanation: This is the slide that prevents many wrong translations. Universal rules should usually be conditional statements.
Slide content to emphasize:
- Category rules usually use implication
- The premise selects the relevant objects
- The conclusion states what follows for those objects
- Using “and” can accidentally make every object satisfy both parts
Analogy to say aloud: A rule “all drivers must have licenses” does not say every object on campus is a driver.
Common student difficulty: ∀x Student(x) ∧ HasIdentificationCard(x) says every object is a student and has an identification card, which is usually false.
Suggested class prompt: Ask: Why would the classroom projector make the stronger sentence false?
Teaching reminder: avoid treating the symbols as decoration. Ask students which objects exist, which relationships are being named, and what the knowledge base is allowed to conclude.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Existential quantification means at least one object
Teaching purpose: Introduce existential quantification with the crown example.
Core explanation: The formula says there is some object x such that x is a crown and x is on John’s head.
Slide content to emphasize:
- The existential quantifier is read “there exists”
- It needs at least one witness object
- It is useful when something exists but is unnamed
- It behaves like a large disjunction over the domain
Analogy to say aloud: A lost-and-found message saying “someone left a laptop” proves existence without naming the owner.
Common student difficulty: Existence means at least one, not exactly one.
Suggested class prompt: Ask: Does this formula allow John to have two crowns?
Teaching reminder: avoid treating the symbols as decoration. Ask students which objects exist, which relationships are being named, and what the knowledge base is allowed to conclude.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Existential quantifier usually pairs with conjunction
Teaching purpose: Teach the second major quantifier translation gotcha.
Core explanation: Existential implications are often weak because an implication is true when its premise is false. Use conjunction when one object must satisfy multiple conditions.
Slide content to emphasize:
- Existence claims usually need several properties to hold together
- The witness must satisfy all required conditions
- Using implication can make the claim too weak
- The wrong connective may make a sentence nearly meaningless
Analogy to say aloud: A metal detector must find one spot that is both metal and in the search area. Empty sand should not count as success.
Common student difficulty: ∃x Student(x) ⇒ Enrolled(x, ComputerScience469) can be true because some nonstudent object makes the premise false.
Suggested class prompt: Ask why a chair could accidentally satisfy an existential implication.
Teaching reminder: avoid treating the symbols as decoration. Ask students which objects exist, which relationships are being named, and what the knowledge base is allowed to conclude.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Universal and existential quantifiers side by side
Teaching purpose: Contrast the two quantifiers in one place.
Core explanation: Students need quick recognition, but also deeper understanding. This slide provides the high-level contrast.
Slide content to emphasize:
- Universal: every object must pass the test
- Existential: at least one object must pass the test
- Universal is useful for laws and constraints
- Existential is useful for witnesses and unknown objects
Analogy to say aloud: A building inspection fails if one required door is blocked. A treasure hunt succeeds if one valid treasure is found.
Common student difficulty: Do not choose a quantifier based on the first English word only. Translate the meaning of the whole sentence.
Suggested class prompt: Ask: “Every course has an instructor.” Which quantifiers appear?
Teaching reminder: avoid treating the symbols as decoration. Ask students which objects exist, which relationships are being named, and what the knowledge base is allowed to conclude.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Extended interpretations in plain language
Teaching purpose: Explain the technical phrase extended interpretation without overwhelming students.
Core explanation: The chapter uses extended interpretations to define quantifier truth. This slide translates that idea into a simple checking procedure.
Slide content to emphasize:
- To evaluate a quantified sentence, temporarily assign the variable to objects
- For a universal claim, try every object
- For an existential claim, look for at least one object
- The original model supplies the domain and interpretation
Analogy to say aloud: Checking “every locker is locked” means walking to each locker and temporarily focusing on that one locker.
Common student difficulty: Students may think variables already name specific objects. Variables get temporary assignments during evaluation.
Suggested class prompt: Ask: How many temporary assignments are there if the domain has five objects?
Teaching reminder: avoid treating the symbols as decoration. Ask students which objects exist, which relationships are being named, and what the knowledge base is allowed to conclude.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Nested quantifiers: order changes meaning
Teaching purpose: Introduce nested quantifier order as a major source of meaning change.
Core explanation: This concept is easier with examples than with rules. Use familiar relationships like advisor, favorite song, or parking spot.
Slide content to emphasize:
- Multiple quantifiers can appear in one sentence
- When quantifier types differ, order matters
- For all x, there exists y allows y to depend on x
- There exists y, for all x requires one y to work for everyone
Analogy to say aloud: “Every student has a favorite restaurant” is not the same as “one restaurant is everyone’s favorite.”
Common student difficulty: Students may think moving quantifiers is harmless. It changes the claim.
Suggested class prompt: Ask for a campus example where the two orders differ.
Teaching reminder: avoid treating the symbols as decoration. Ask students which objects exist, which relationships are being named, and what the knowledge base is allowed to conclude.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 everyone loves somebody
Teaching purpose: Give the first half of the nested quantifier contrast.
Core explanation: In this order, y can be chosen after x is chosen. Therefore, each x may have a different y.
Slide content to emphasize:
- For every person x
- There is some person or object y
- x loves y
- The loved object can be different for each x
Analogy to say aloud: Every student may have a different favorite study spot.
Common student difficulty: The formula does not require a single universally loved person.
Suggested class prompt: Ask: Can Ana love music while Ben loves robotics?
Teaching reminder: avoid treating the symbols as decoration. Ask students which objects exist, which relationships are being named, and what the knowledge base is allowed to conclude.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 somebody is loved by everybody
Teaching purpose: Give the second half of the nested quantifier contrast.
Core explanation: The existential quantifier comes first, so it commits to a single object that works for all x.
Slide content to emphasize:
- There is one y first
- Then every x must love that same y
- This is much stronger than everyone loving somebody
- One shared witness must satisfy all cases
Analogy to say aloud: One professor is every student’s favorite instructor. That is much stronger than every student having some favorite instructor.
Common student difficulty: The y is chosen before x varies, so it cannot change from person to person.
Suggested class prompt: Ask: Which formula is more likely to be true in a large class?
Teaching reminder: avoid treating the symbols as decoration. Ask students which objects exist, which relationships are being named, and what the knowledge base is allowed to conclude.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Nested quantifiers as pictures
Teaching purpose: Use a visual explanation of nested quantifier order for students who do not yet trust the symbols.
Core explanation: The left picture represents choosing a witness after seeing x. The right picture represents choosing one witness before considering all x values.
Analogy to say aloud: Think of assigning advisors. The university can say every student has an advisor without assigning the same advisor to everyone.
Common student difficulty: Students often memorize the formulas but do not grasp why y can change in one case and not the other.
Suggested class prompt: Ask students to draw a new example with restaurants or parking spaces.
Teaching reminder: avoid treating the symbols as decoration. Ask students which objects exist, which relationships are being named, and what the knowledge base is allowed to conclude.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Variable scope and parentheses
Teaching purpose: Teach variable scope before variable reuse problems.
Core explanation: Students with programming experience can use loop scope as an analogy. The variable is meaningful only inside the part of the sentence it binds.
Slide content to emphasize:
- A quantifier applies to the sentence in its scope
- Parentheses make scope visible
- Scope determines which variable occurrences are bound
- Clear notation prevents wrong readings
Analogy to say aloud: In programming, braces or indentation show what belongs inside a loop. Quantifier scope plays a similar role.
Common student difficulty: Without parentheses, students may accidentally attach a quantifier to too much or too little.
Suggested class prompt: Ask: Which part of the formula is controlled by ∃y?
Teaching reminder: avoid treating the symbols as decoration. Ask students which objects exist, which relationships are being named, and what the knowledge base is allowed to conclude.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Avoid variable shadowing
Teaching purpose: Warn students against a common notation confusion.
Core explanation: The chapter notes that variables belong to the innermost quantifier that mentions them. For teaching, recommend using distinct variable names.
Slide content to emphasize:
- Reusing a variable name inside another quantifier can hide the outer variable
- The innermost quantifier controls the matching variable occurrence
- Using different variable names is clearer
- Readable formulas reduce reasoning mistakes
Analogy to say aloud: An inner loop variable named i can hide an outer loop variable named i. Logic has a similar scoping problem.
Common student difficulty: Even if reuse is technically legal, it is often confusing for humans reading the knowledge base.
Suggested class prompt: Ask: Why is z clearer than reusing x?
Teaching reminder: avoid treating the symbols as decoration. Ask students which objects exist, which relationships are being named, and what the knowledge base is allowed to conclude.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Quantified De Morgan rules
Teaching purpose: Teach the negation relationship between universal and existential quantifiers.
Core explanation: This idea is essential for reading negative statements and for future inference procedures.
Slide content to emphasize:
- Not there exists becomes for all not
- Not for all becomes there exists not
- Universal behaves like a large “and”
- Existential behaves like a large “or”
Analogy to say aloud: “Not every student passed” means at least one student did not pass. It does not mean everyone failed.
Common student difficulty: The phrase “not everyone” is weaker than “no one.” Students often confuse the two.
Suggested class prompt: Translate: “Nobody likes parsnips.”
Teaching reminder: avoid treating the symbols as decoration. Ask students which objects exist, which relationships are being named, and what the knowledge base is allowed to conclude.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Translation practice: all courses have instructors
Teaching purpose: Give a practical translation example for classroom use.
Core explanation: This is a bridge from textbook examples to a university context. It also reinforces the universal-with-implication pattern.
Slide content to emphasize:
- Choose a domain: courses and instructors
- Use Course(c) to identify courses
- Use Instructor(i,c) to relate instructor to course
- Use universal plus existential for the full sentence
Analogy to say aloud: A course catalog promises that each listed course has someone assigned to teach it.
Common student difficulty: The formula does not say all objects are courses. It only applies the rule to objects that are courses.
Suggested class prompt: Ask students to translate “some student is enrolled in Computer Science 469.”
Teaching reminder: avoid treating the symbols as decoration. Ask students which objects exist, which relationships are being named, and what the knowledge base is allowed to conclude.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8.2.8 Database Semantics
Teaching purpose: Introduce the open-world and closed-world contrast.
Core explanation: When a knowledge base is treated like a complete database table
Analogy to say aloud: Standard semantics is an ongoing investigation; database semantics is a final roster.
Common student difficulty: Students can lose the chapter story when notation changes. Reconnect each section to the same question: what can the agent represent and what can the agent infer?
Suggested class prompt: Ask whether a medical diagnosis system should treat unreported symptoms as false.
Teaching reminder: avoid treating the symbols as decoration. Ask students which objects exist, which relationships are being named, and what the knowledge base is allowed to conclude.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Standard first-order semantics is open-world
Teaching purpose: Explain standard first-order semantics before contrasting database semantics.
Core explanation: Open-world reasoning is appropriate when information may be incomplete. Many Artificial Intelligence agents operate in incomplete worlds.
Slide content to emphasize:
- Unknown facts are not automatically false
- Different names may refer to the same object
- Unnamed objects may exist
- The knowledge base only rules out what its sentences rule out
Analogy to say aloud: A detective board remains open to unknown suspects until evidence rules them out.
Common student difficulty: This is the opposite of how many students expect databases to behave.
Suggested class prompt: Ask: If Richard has John as a brother, could he also have an unnamed brother?
Teaching reminder: avoid treating the symbols as decoration. Ask students which objects exist, which relationships are being named, and what the knowledge base is allowed to conclude.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Exact translation can require extra sentences
Teaching purpose: Use the Richard brothers example to show why standard semantics can be verbose.
Core explanation: This is a central reason database semantics exists: it makes some common complete-record assumptions automatic.
Slide content to emphasize:
- “John and Geoffrey are Richard’s brothers” is not enough for “exactly two brothers”
- We must state John and Geoffrey are different
- We must rule out any other brother
- Standard semantics requires explicit closure when exactness matters
Analogy to say aloud: A guest list that says Ana and Ben are invited does not automatically say nobody else is invited.
Common student difficulty: English often implies exactness from context. Logic needs that exactness written down.
Suggested class prompt: Ask what John ≠ Geoffrey adds to the translation.
Teaching reminder: avoid treating the symbols as decoration. Ask students which objects exist, which relationships are being named, and what the knowledge base is allowed to conclude.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Database semantics adds three assumptions
Teaching purpose: List and explain the three database semantics assumptions.
Core explanation: Do not present database semantics as more correct. It is a different semantics that fits certain tasks.
Slide content to emphasize:
- Unique names: different constants name different objects
- Closed world: unstated atomic facts are false
- Domain closure: only named objects exist
- These assumptions make database-style answers concise
Analogy to say aloud: A final class roster treats each printed name as a distinct student and treats missing names as not enrolled.
Common student difficulty: These assumptions are useful only when the table is intended to be complete.
Suggested class prompt: Ask: Which assumption says there are no unnamed objects?
Teaching reminder: avoid treating the symbols as decoration. Ask students which objects exist, which relationships are being named, and what the knowledge base is allowed to conclude.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Models under database semantics
Teaching purpose: Use Figure 8.5 to visualize why database semantics has fewer models.
Core explanation: In the figure, the constant symbols R and J are fixed as distinct objects. The binary relation can vary over the fixed domain.
Slide content to emphasize:
- Constants are fixed and distinct
- The domain is limited to named objects
- Only relation tuples vary
- The model set is much smaller than standard semantics
Analogy to say aloud: A locked seating chart fixes the people and seats; only the relationship arrows can change.
Common student difficulty: Students may wonder why the domain cannot grow. Domain closure is exactly the assumption that prevents growth.
Suggested class prompt: Ask: Which assumptions from the previous slide are visible in this figure?
Teaching reminder: avoid treating the symbols as decoration. Ask students which objects exist, which relationships are being named, and what the knowledge base is allowed to conclude.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Unique-names assumption
Teaching purpose: Explain the first database assumption in isolation.
Core explanation: The assumption is convenient for complete records but dangerous when aliases or duplicates exist.
Slide content to emphasize:
- Every different constant symbol names a different object
- John and Geoffrey must be distinct
- One name cannot collapse into another
- Common in databases and rosters
Analogy to say aloud: Student identification numbers are intended to distinguish students; two different numbers should not secretly refer to one person.
Common student difficulty: This is not automatic in standard first-order logic.
Suggested class prompt: Ask: When might unique names be unsafe, such as duplicate accounts?
Teaching reminder: avoid treating the symbols as decoration. Ask students which objects exist, which relationships are being named, and what the knowledge base is allowed to conclude.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Closed-world assumption
Teaching purpose: Explain the second database assumption in isolation.
Core explanation: This assumption is powerful and risky. It depends on whether the information source is intended to be complete.
Slide content to emphasize:
- If an atomic fact is not listed, treat it as false
- This makes negative answers easy
- It works when the database is complete
- It fails when missing data is possible
Analogy to say aloud: A restaurant reservation list treats “not on the list” as “no reservation,” at least for that evening.
Common student difficulty: Absence of evidence is not always evidence of absence.
Suggested class prompt: Ask: Would you use closed-world reasoning for emergency medical symptoms?
Teaching reminder: avoid treating the symbols as decoration. Ask students which objects exist, which relationships are being named, and what the knowledge base is allowed to conclude.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Domain-closure assumption
Teaching purpose: Explain the third database assumption in isolation.
Core explanation: Domain closure is what prevents the existence of unnamed brothers, unnamed terminals, or unnamed objects in a database-style world.
Slide content to emphasize:
- Only named objects exist in the domain
- There are no hidden extra objects
- All answers come from listed constants
- This supports database-style querying
Analogy to say aloud: A tournament bracket lists every team. If a team is not in the bracket, it is not in the tournament.
Common student difficulty: This assumption is false for open-ended worlds such as the internet or a city street.
Suggested class prompt: Ask: Is a campus course catalog closed under all students who might enroll next year?
Teaching reminder: avoid treating the symbols as decoration. Ask students which objects exist, which relationships are being named, and what the knowledge base is allowed to conclude.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Choosing standard or database semantics
Teaching purpose: Help students understand when each semantics is appropriate.
Core explanation: The chapter emphasizes usefulness rather than one universal semantics. Good engineers choose assumptions that match the information source.
Slide content to emphasize:
- Use standard semantics for incomplete or evolving worlds
- Use database semantics for complete controlled records
- The semantics should fit the task
- There is no single correct semantics for every use case
Analogy to say aloud: A weather forecast should not assume unreported rain is false, but a gradebook may treat a missing submission as zero by course policy.
Common student difficulty: Students may treat closed-world assumptions as common sense. They are policy choices, not logical necessities.
Suggested class prompt: Classify: medical diagnosis system, course enrollment database, robot exploration map.
Teaching reminder: avoid treating the symbols as decoration. Ask students which objects exist, which relationships are being named, and what the knowledge base is allowed to conclude.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8.3 Using First-Order Logic
Teaching purpose: Move from language mechanics to applied representation.
Core explanation: Writing useful knowledge instead of only legal formulas
Analogy to say aloud: Knowing grammar is not enough to write a useful paragraph. Knowing logic syntax is not enough to build a useful knowledge base.
Common student difficulty: Students can lose the chapter story when notation changes. Reconnect each section to the same question: what can the agent represent and what can the agent infer?
Suggested class prompt: Ask students to name a domain where the objects and relations are obvious.
Teaching reminder: avoid treating the symbols as decoration. Ask students which objects exist, which relationships are being named, and what the knowledge base is allowed to conclude.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Translation workflow
Teaching purpose: Give a repeatable process for writing first-order sentences.
Core explanation: Students need an engineering workflow, not only isolated examples. The vocabulary choice determines how natural the formulas become.
Slide content to emphasize:
- Identify the objects in the domain
- Choose predicates for properties and relations
- Choose functions for unique references
- Write general rules with quantifiers
- Add specific facts about the current problem
Analogy to say aloud: Designing first-order logic vocabulary is like designing a database schema before entering data.
Common student difficulty: Do not translate word by word. Translate the meaning and the task requirements.
Suggested class prompt: Ask students to translate “some student is enrolled in Computer Science 469.”
Teaching reminder: avoid treating the symbols as decoration. Ask students which objects exist, which relationships are being named, and what the knowledge base is allowed to conclude.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Wumpus World rule compression
Teaching purpose: Use a familiar Chapter 7 environment to show the benefit of first-order logic.
Core explanation: This is the most important practical example for students. The physics of the Wumpus World works the same everywhere, so first-order logic can say it once.
Slide content to emphasize:
- Propositional logic repeats one breeze rule per square
- First-order logic introduces square variables
- Adjacency becomes a reusable relation
- One rule covers the entire grid
Analogy to say aloud: Instead of separate safety instructions for every room, write one rule about rooms adjacent to hazards.
Common student difficulty: The compact rule still depends on a correct definition of Adjacent.
Suggested class prompt: Ask: Where is the domain knowledge hidden in this sentence?
Teaching reminder: avoid treating the symbols as decoration. Ask students which objects exist, which relationships are being named, and what the knowledge base is allowed to conclude.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Wumpus smell rule and biconditional reasoning
Teaching purpose: Show why direction of implication matters for agents.
Core explanation: This slide connects representation choices to action safety. The agent needs both what follows from a percept and what follows from a missing percept.
Slide content to emphasize:
- Smelly squares are adjacent to the Wumpus
- A biconditional supports inference in both directions
- Positive evidence can locate danger
- Negative evidence can prove safety nearby
Analogy to say aloud: “Smoke if and only if fire is nearby” would let you reason from smoke to fire and from no smoke to no nearby fire, but only if the rule is truly complete.
Common student difficulty: A one-way rule may not let the agent prove absence of danger.
Suggested class prompt: Ask: Why might safety require the reverse direction?
Teaching reminder: avoid treating the symbols as decoration. Ask students which objects exist, which relationships are being named, and what the knowledge base is allowed to conclude.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Objects or predicates?
Teaching purpose: Teach ontology design as a practical skill.
Core explanation: The chapter’s knowledge engineering section asks similar questions about pits, orientation, and circuits. Vocabulary choices shape inference.
Slide content to emphasize:
- A pit can be represented as an object with a location
- A pit can also be represented as a predicate on squares
- Both choices may be legal
- The better choice depends on the questions we need to answer
Analogy to say aloud: In software design, a course might be a class, a table row, or a field depending on what the program must do.
Common student difficulty: There is rarely one universal best ontology. Good modeling is task-dependent.
Suggested class prompt: Ask: Would you represent Course as an object or Enrolled as a relation?
Teaching reminder: avoid treating the symbols as decoration. Ask students which objects exist, which relationships are being named, and what the knowledge base is allowed to conclude.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Variable-answer queries
Teaching purpose: Introduce the idea behind variable-returning queries used in the circuit example.
Core explanation: Students familiar with database queries can compare this with selecting rows that satisfy a condition.
Slide content to emphasize:
- Some queries ask which objects satisfy a condition
- Variables act as answer slots
- The answer is a substitution for the variable
- This supports planning, diagnosis, and search for objects
Analogy to say aloud: Instead of asking “is there a safe square?”, ask “which squares are safe?”
Common student difficulty: A variable in a query is not the same as an unknown in a sentence. It requests bindings that make the query true.
Suggested class prompt: Ask: What would the answer look like for Safe(x)?
Teaching reminder: avoid treating the symbols as decoration. Ask students which objects exist, which relationships are being named, and what the knowledge base is allowed to conclude.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8.4 Knowledge Engineering in First-Order Logic
Teaching purpose: Introduce knowledge engineering as a process.
Core explanation: Turning domain knowledge into a working knowledge base
Analogy to say aloud: Building a knowledge base is like designing a course lab: define questions, choose tools, write rules, test, and revise.
Common student difficulty: Students can lose the chapter story when notation changes. Reconnect each section to the same question: what can the agent represent and what can the agent infer?
Suggested class prompt: Ask what could go wrong if we choose vocabulary before knowing the questions.
Teaching reminder: avoid treating the symbols as decoration. Ask students which objects exist, which relationships are being named, and what the knowledge base is allowed to conclude.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engineering is an iterative process
Teaching purpose: Frame the seven steps as an engineering workflow.
Core explanation: Students should see that knowledge engineering is not only logic. It includes domain analysis, vocabulary design, testing, and revision.
Slide content to emphasize:
- Investigate the domain
- Choose an ontology
- Encode general knowledge
- Add problem-specific facts
- Ask queries and debug answers
Analogy to say aloud: It is like building a legal contract or a database schema: the wording may be precise but still fail to capture the intended world.
Common student difficulty: If the answer is surprising, the inference may be correct relative to a flawed knowledge base.
Suggested class prompt: Ask: How is debugging a knowledge base different from debugging Python code?
Teaching reminder: avoid treating the symbols as decoration. Ask students which objects exist, which relationships are being named, and what the knowledge base is allowed to conclude.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 steps of knowledge engineering
Teaching purpose: Give students the complete process before each step is discussed individually.
Core explanation: Students benefit from seeing all steps in one table. Then the next slides unpack each step with analogies and gotchas.
Analogy to say aloud: This is like building a lab assignment: define the learning questions, gather materials, name the pieces, write rules, run tests, and fix mistakes.
Common student difficulty: Do not let students skip directly to formulas. The first three steps determine whether the formulas will be useful.
Suggested class prompt: Ask which step is most similar to software design.
Teaching reminder: avoid treating the symbols as decoration. Ask students which objects exist, which relationships are being named, and what the knowledge base is allowed to conclude.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identify the questions
Teaching purpose: Explain the first knowledge engineering step.
Core explanation: This step is similar to defining the performance measure, environment, actuators, and sensors in agent design.
Slide content to emphasize:
- Define what the knowledge base must answer
- Determine which facts will be supplied
- Choose the level of detail required
- Let the task guide the representation
Analogy to say aloud: Before building a navigation app, decide whether it needs routes, traffic, parking, gas stations, or scenic stops.
Common student difficulty: A knowledge base designed for action selection may need different facts than one designed only for diagnosis.
Suggested class prompt: For circuits, ask: functionality, connectivity, timing, or power?
Teaching reminder: avoid treating the symbols as decoration. Ask students which objects exist, which relationships are being named, and what the knowledge base is allowed to conclude.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assemble relevant knowledge
Teaching purpose: Explain the knowledge acquisition part of the process.
Core explanation: For artificial domains like Wumpus World, rules are explicit. For real domains, engineers must learn what matters and what can be ignored.
Slide content to emphasize:
- Learn the domain before formalizing it
- Talk to experts or inspect documentation
- Separate relevant facts from irrelevant facts
- Remember that relevance depends on the task
Analogy to say aloud: Packing for a trip means bringing what supports the trip, not everything in the closet.
Common student difficulty: Students may try to model everything. A useful abstraction intentionally leaves out details.
Suggested class prompt: For circuit functionality, do wire colors matter?
Teaching reminder: avoid treating the symbols as decoration. Ask students which objects exist, which relationships are being named, and what the knowledge base is allowed to conclude.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choose vocabulary and ontology
Teaching purpose: Explain the most important design step in knowledge engineering.
Core explanation: Vocabulary is not cosmetic. It determines which generalizations are easy and which queries are natural.
Slide content to emphasize:
- Choose constants for important named objects
- Choose predicates for properties and relations
- Choose functions for unique mappings
- The ontology defines what kinds of things exist
Analogy to say aloud: An ontology is the noun-and-relationship list for a domain-specific language.
Common student difficulty: A poor vocabulary makes later rules long, awkward, or impossible to state cleanly.
Suggested class prompt: Ask students to choose vocabulary for a course enrollment domain.
Teaching reminder: avoid treating the symbols as decoration. Ask students which objects exist, which relationships are being named, and what the knowledge base is allowed to conclude.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encode general knowledge
Teaching purpose: Explain how domain rules become first-order sentences.
Core explanation: General knowledge should be reusable across many problem instances. This is the declarative advantage.
Slide content to emphasize:
- Write axioms for the vocabulary
- Prefer clear general rules
- Use biconditionals when both directions are intended
- Check whether rules are too weak or too strong
Analogy to say aloud: Axioms are the operating manual for the simplified world the knowledge base understands.
Common student difficulty: Rules are simplified models. They may ignore noise, faults, or timing if those details are outside the task.
Suggested class prompt: Ask: What does this connection rule assume about wires?
Teaching reminder: avoid treating the symbols as decoration. Ask students which objects exist, which relationships are being named, and what the knowledge base is allowed to conclude.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encode the problem instance
Teaching purpose: Explain the difference between schema-level knowledge and case-level facts.
Core explanation: This separation is why the same knowledge base can reason about many circuit diagrams once the general gate rules are written.
Slide content to emphasize:
- Add facts about this particular case
- Declare the objects that exist in the instance
- State properties and relationships among them
- Keep instance facts separate from general rules
Analogy to say aloud: The ontology is a blank form; the problem instance is today’s completed form.
Common student difficulty: Do not hide general rules inside one instance. Reusable knowledge belongs in general axioms.
Suggested class prompt: Ask: Why separate a circuit’s general gate behavior from this specific circuit’s connections?
Teaching reminder: avoid treating the symbols as decoration. Ask students which objects exist, which relationships are being named, and what the knowledge base is allowed to conclude.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pose queries
Teaching purpose: Show how the knowledge base becomes useful.
Core explanation: This step is where the reward of declarative representation appears: the inference procedure uses the axioms and facts to answer questions.
Slide content to emphasize:
- Ask whether a sentence follows
- Ask which objects satisfy a condition
- Use answers to support decisions
- The query should match the original task
Analogy to say aloud: A database is useful because you can ask targeted questions. A knowledge base is useful when inference can answer them from rules and facts.
Common student difficulty: A query may fail because the answer is false, unknown, or not expressible with the chosen vocabulary.
Suggested class prompt: Ask students to write one query for a campus robot.
Teaching reminder: avoid treating the symbols as decoration. Ask students which objects exist, which relationships are being named, and what the knowledge base is allowed to conclude.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debug and evaluate
Teaching purpose: Emphasize testing and evaluation in knowledge engineering.
Core explanation: The chapter warns that knowledge bases rarely work correctly on the first try. Correct answers are correct relative to the written knowledge, not necessarily relative to the designer’s intent.
Slide content to emphasize:
- Unexpected answers reveal modeling problems
- Missing axioms stop reasoning chains
- Incorrect axioms produce confident wrong answers
- Use a test suite of queries
Analogy to say aloud: Debugging a knowledge base is like debugging a legal contract: the text may be valid but still not say what you intended.
Common student difficulty: No obvious errors is not the same as correctness.
Suggested class prompt: Ask students to design one positive test and one negative test for Wumpus safety.
Teaching reminder: avoid treating the symbols as decoration. Ask students which objects exist, which relationships are being named, and what the knowledge base is allowed to conclude.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8.4.2 Electronic Circuits Domain
Teaching purpose: Set up the circuit case study from the chapter.
Core explanation: A worked example: reasoning about a one-bit full adder
Analogy to say aloud: A circuit diagram is like a subway map: stations, lines, and rules for how signals move.
Common student difficulty: Students can lose the chapter story when notation changes. Reconnect each section to the same question: what can the agent represent and what can the agent infer?
Suggested class prompt: Ask students what objects and relationships they can see in the circuit diagram.
Teaching reminder: avoid treating the symbols as decoration. Ask students which objects exist, which relationships are being named, and what the knowledge base is allowed to conclude.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One-bit full adder circuit
Teaching purpose: Introduce the concrete domain used for knowledge engineering.
Core explanation: Walk through the diagram slowly. Inputs represent two bits plus a carry-in bit. Outputs represent the sum bit and carry-out bit.
Slide content to emphasize:
- The circuit has three input terminals
- The circuit has two output terminals
- It uses two exclusive OR gates
- It uses two AND gates and one OR gate
- The task is to verify that it adds correctly
Analogy to say aloud: Think of the circuit as a small factory line: inputs enter, gates transform signals, and outputs leave.
Common student difficulty: Students may focus on electronics details. Keep attention on representation: objects, terminals, gates, connections, and signals.
Suggested class prompt: Ask students to identify five gate objects in the diagram.
Teaching reminder: avoid treating the symbols as decoration. Ask students which objects exist, which relationships are being named, and what the knowledge base is allowed to conclude.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Circuit questions to support
Teaching purpose: Apply Step 1 to the circuit case study.
Core explanation: The chapter makes clear that the range of questions determines which facts and relationships need to be represented.
Slide content to emphasize:
- Does the circuit add properly?
- What output follows from a given input?
- Which gates connect to the first input terminal?
- Does the circuit contain feedback loops?
- Which input combinations produce a requested output?
Analogy to say aloud: Before inspecting a car, decide whether you care about speed, fuel efficiency, safety, or repair cost.
Common student difficulty: A knowledge base for timing delay would need different details than one for logical functionality.
Suggested class prompt: Ask: Do we need wire length for functional verification?
Teaching reminder: avoid treating the symbols as decoration. Ask students which objects exist, which relationships are being named, and what the knowledge base is allowed to conclude.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Relevant circuit knowledge
Teaching purpose: Apply Step 2 to the circuit case study.
Core explanation: This slide shows abstraction. We model only what is needed to answer the selected questions.
Slide content to emphasize:
- Circuits are composed of gates and terminals
- Signals flow through connected terminals
- Gate type determines output behavior
- For functional verification, wire paths can be abstracted away
Analogy to say aloud: For a subway trip, you need station connections, not the exact tunnel shape under the city.
Common student difficulty: The right abstraction depends on the task. Fault diagnosis might need wire details that verification can ignore.
Suggested class prompt: Ask: What details would matter if the circuit could be physically broken?
Teaching reminder: avoid treating the symbols as decoration. Ask students which objects exist, which relationships are being named, and what the knowledge base is allowed to conclude.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Circuit vocabulary
Teaching purpose: Apply Step 3 to the circuit case study.
Core explanation: This ontology is designed for gate-level logical verification. It avoids unnecessary physical details.
Slide content to emphasize:
- Circuit(c): c is a circuit
- Gate(g): g is a gate
- Terminal(t): t is an input or output terminal
- Type(g): the behavior type of gate g
- Connected(t₁,t₂): two terminals are wired together
- Signal(t): the signal value at terminal t
Analogy to say aloud: The vocabulary is a parts list plus a wiring vocabulary plus a signal vocabulary.
Common student difficulty: Students should classify each vocabulary item as predicate or function before using it.
Suggested class prompt: Ask: Which items are predicates and which are functions?
Teaching reminder: avoid treating the symbols as decoration. Ask students which objects exist, which relationships are being named, and what the knowledge base is allowed to conclude.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Terminals as function terms
Teaching purpose: Reinforce terms versus sentences using the circuit domain.
Core explanation: This slide gives an applied example of a function term used inside an atomic sentence.
Slide content to emphasize:
- In(n,c) refers to the nth input terminal of circuit c
- Out(n,c) refers to the nth output terminal of circuit c
- These are terms because they name objects
- The predicate Terminal can then make claims about them
Analogy to say aloud: “The first seat in row three” names a seat without giving the seat a personal name.
Common student difficulty: In(1,CircuitOne) alone is a term, not a sentence. Terminal(In(1,CircuitOne)) is a sentence.
Suggested class prompt: Ask students to classify Out(2,CircuitOne).
Teaching reminder: avoid treating the symbols as decoration. Ask students which objects exist, which relationships are being named, and what the knowledge base is allowed to conclude.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General axiom: connected terminals share signal
Teaching purpose: Introduce a general circuit axiom from the chapter.
Core explanation: This rule is a good example of declarative knowledge: it says what is true about connected terminals, not how to compute propagation step by step.
Slide content to emphasize:
- If two terminals are connected, they carry the same signal
- The rule applies to any terminals
- It ignores wire delay and faults
- It is reusable across circuits
Analogy to say aloud: Two rooms connected by an open doorway share the same hallway access in a simplified floor plan.
Common student difficulty: This axiom is appropriate only for the simplified functional model.
Suggested class prompt: Ask: What real-world effects are abstracted away here?
Teaching reminder: avoid treating the symbols as decoration. Ask students which objects exist, which relationships are being named, and what the knowledge base is allowed to conclude.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General axiom: every terminal signal is zero or one
Teaching purpose: Show how simplifying assumptions become axioms.
Core explanation: The circuit knowledge base reasons at the digital logic level. Later uncertainty chapters handle cases that are not cleanly true or false.
Slide content to emphasize:
- Digital signals are simplified to two values
- Every terminal has signal zero or signal one
- The model does not represent voltage levels directly
- This supports truth-table style verification
Analogy to say aloud: A light switch model treats the switch as on or off, even though real electricity is more complex.
Common student difficulty: This is a modeling abstraction, not a claim about all physical electronics.
Suggested class prompt: Ask: What would change if signals could be unknown or noisy?
Teaching reminder: avoid treating the symbols as decoration. Ask students which objects exist, which relationships are being named, and what the knowledge base is allowed to conclude.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Gate behavior: AND gate
Teaching purpose: Teach a concrete gate behavior axiom.
Core explanation: This is a reusable rule for a class of gates. It is not about one gate only; it uses the variable g.
Slide content to emphasize:
- An AND gate outputs zero if any input is zero
- It outputs one only when all inputs are one
- The axiom is written for every AND gate
- One rule covers all gates of this type
Analogy to say aloud: A group assignment is complete only if every member submits their part; one missing part makes the group incomplete.
Common student difficulty: The existential part says at least one input is zero, not that a specific input is always zero.
Suggested class prompt: Ask students to predict the output for inputs one and zero.
Teaching reminder: avoid treating the symbols as decoration. Ask students which objects exist, which relationships are being named, and what the knowledge base is allowed to conclude.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Gate behavior: OR gate
Teaching purpose: Teach a second concrete gate behavior axiom.
Core explanation: This rule is similar in structure to the AND rule but changes which signal value is sufficient for the output.
Slide content to emphasize:
- An OR gate outputs one if any input is one
- It outputs zero only when all inputs are zero
- The axiom applies to every OR gate
- The rule supports output inference from input facts
Analogy to say aloud: A team gets access if any authorized member has the key.
Common student difficulty: Do not confuse OR with exclusive OR. OR allows both inputs to be one.
Suggested class prompt: Ask: What does OR output for inputs one and one?
Teaching reminder: avoid treating the symbols as decoration. Ask students which objects exist, which relationships are being named, and what the knowledge base is allowed to conclude.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Gate behavior: exclusive OR gate
Teaching purpose: Explain the gate axiom that later exposes the missing inequality bug.
Core explanation: Exclusive OR is harder than AND and OR because its behavior depends on difference, not just the presence of one value.
Slide content to emphasize:
- An exclusive OR gate outputs one when its inputs differ
- It outputs zero when its inputs match
- This is essential for the sum bit in addition
- The rule uses inequality between signal values
Analogy to say aloud: A mismatch detector turns on when two answers are different.
Common student difficulty: The system must know that one is not equal to zero before this rule can prove outputs.
Suggested class prompt: Ask: Why does input one and zero produce output one?
Teaching reminder: avoid treating the symbols as decoration. Ask students which objects exist, which relationships are being named, and what the knowledge base is allowed to conclude.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Gate behavior: NOT gate
Teaching purpose: Show that ontology and general rules can be broader than one instance.
Core explanation: A reusable knowledge base often includes vocabulary and axioms for components that may appear in other cases.
Slide content to emphasize:
- A NOT gate outputs the opposite of its input
- The output signal differs from the input signal
- The chapter includes it for a general circuit vocabulary
- The full-adder example does not need a NOT gate
Analogy to say aloud: A simple inverter: if the light switch input says on, the output says off.
Common student difficulty: The vocabulary may include concepts not used in the current problem instance.
Suggested class prompt: Ask: Why include a NOT rule if CircuitOne does not use it?
Teaching reminder: avoid treating the symbols as decoration. Ask students which objects exist, which relationships are being named, and what the knowledge base is allowed to conclude.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Full-adder truth table
Teaching purpose: Give students a concrete target for circuit verification.
Core explanation: The full adder adds three one-bit inputs. The sum output is the low-order bit of the count of ones; the carry output is one when at least two inputs are one.
Analogy to say aloud: Verification is like checking every row of an answer key: the knowledge base should derive the same input-output behavior.
Common student difficulty: Students may not know binary addition. Explain that one plus one is binary ten, so the sum bit is zero and the carry bit is one.
Suggested class prompt: Ask which rows have sum zero and carry one.
Teaching reminder: avoid treating the symbols as decoration. Ask students which objects exist, which relationships are being named, and what the knowledge base is allowed to conclude.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Encoding the specific circuit
Teaching purpose: Apply Step 5 to the full-adder circuit.
Core explanation: This slide shows how a diagram becomes a set of first-order facts. The general knowledge does not mention CircuitOne; the instance facts do.
Slide content to emphasize:
- Declare CircuitOne as a circuit with three inputs and two outputs
- Declare gate objects X₁, X₂, A₁, A₂, and O₁
- Assign each gate its type
- State all terminal connections from the diagram
Analogy to say aloud: The general rules are a wiring manual; the instance facts are today’s actual wiring diagram.
Common student difficulty: A single missing connection can make later queries unknown even if all gate rules are correct.
Suggested class prompt: Ask students to identify one connection visible in Figure 8.6.
Teaching reminder: avoid treating the symbols as decoration. Ask students which objects exist, which relationships are being named, and what the knowledge base is allowed to conclude.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Querying the circuit
Teaching purpose: Apply Step 6 to the full-adder circuit.
Core explanation: The chapter reports three substitutions: one, one, zero; one, zero, one; and zero, one, one. These correspond to exactly two inputs being high.
Slide content to emphasize:
- Ask for input combinations that produce desired outputs
- Variables represent answer slots for input values
- The inference procedure returns substitutions
- The returned substitutions can verify expected behavior
Analogy to say aloud: Like filtering a spreadsheet for rows where Sum equals zero and Carry equals one.
Common student difficulty: The query does not simulate the circuit manually. It asks what follows from the axioms and instance facts.
Suggested class prompt: Ask students which three rows of the truth table match this query.
Teaching reminder: avoid treating the symbols as decoration. Ask students which objects exist, which relationships are being named, and what the knowledge base is allowed to conclude.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Circuit verification as logical inference
Teaching purpose: Make the circuit example meaningful as an engineering task.
Core explanation: Logical inference can answer questions about the circuit without writing a separate circuit simulator for each design.
Slide content to emphasize:
- A full input-output query can recover the whole truth table
- The result can be compared with expected addition behavior
- If every row matches, the design is verified for this abstraction
- If a row is wrong or unknown, inspect the knowledge base
Analogy to say aloud: A teacher checks every answer on an exam key. One wrong row reveals either a student error or a key error.
Common student difficulty: Verification is only as trustworthy as the abstraction and axioms.
Suggested class prompt: Ask: What would a wrong gate type do to the truth table?
Teaching reminder: avoid treating the symbols as decoration. Ask students which objects exist, which relationships are being named, and what the knowledge base is allowed to conclude.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Debugging example: missing one is not zero
Teaching purpose: Apply Step 7 to the circuit example with the chapter’s specific debugging case.
Core explanation: This is a memorable example of knowledge-base debugging. The inference procedure is not broken; the required fact was never supplied.
Slide content to emphasize:
- If the knowledge base forgets 1 ≠ 0, some exclusive OR outputs are unknown
- The system cannot prove that different inputs differ
- The problem appears when querying gate X₁ directly
- Adding the missing inequality restores the reasoning chain
Analogy to say aloud: A contract that never states east and west are different directions may fail in any clause depending on that distinction.
Common student difficulty: “Obvious” facts are not available unless represented or built into the semantics.
Suggested class prompt: Ask: Why can a missing axiom cause silence instead of a clear error?
Teaching reminder: avoid treating the symbols as decoration. Ask students which objects exist, which relationships are being named, and what the knowledge base is allowed to conclude.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Missing axioms and wrong axioms fail differently
Teaching purpose: Generalize the debugging lesson beyond the single circuit case.
Core explanation: This slide teaches diagnostic thinking for knowledge bases: identify whether the issue is missing knowledge, incorrect knowledge, or inappropriate semantics.
Slide content to emphasize:
- A missing axiom often produces unknown answers
- A wrong axiom can produce false conclusions confidently
- A weak axiom may prove positive cases but not negative cases
- A test suite should include expected true, false, and unknown cases
Analogy to say aloud: A missing road sign leaves drivers unsure; a wrong road sign sends drivers the wrong way.
Common student difficulty: Students may treat every unknown as an error. Sometimes unknown is the correct result from incomplete knowledge.
Suggested class prompt: Ask students to design one test that would catch a wrong OR gate rule.
Teaching reminder: avoid treating the symbols as decoration. Ask students which objects exist, which relationships are being named, and what the knowledge base is allowed to conclude.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Limits of first-order logic
Teaching purpose: Prepare students for later chapters on uncertainty and knowledge representation.
Core explanation: The chapter summary notes that both propositional and first-order logic have trouble with vague propositions.
Slide content to emphasize:
- More expressiveness can make reasoning harder
- Vague predicates such as Tall(x) need precise definitions
- Uncertainty often requires probability rather than true, false, or unknown
- Large knowledge bases require careful engineering and testing
Analogy to say aloud: A recipe can say “add enough salt,” but formal logic struggles with “enough” unless the threshold is defined.
Common student difficulty: First-order logic is not a complete solution to every Artificial Intelligence representation problem.
Suggested class prompt: Ask: Is GoodRestaurant(x) a clean logical predicate?
Teaching reminder: avoid treating the symbols as decoration. Ask students which objects exist, which relationships are being named, and what the knowledge base is allowed to conclude.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matters for intelligent agents
Teaching purpose: Reconnect the chapter to the course theme of rational agents.
Core explanation: This slide ties Chapter 8 back to intelligent action. Logical representation is useful because it supports decisions under partial information.
Slide content to emphasize:
- Agents need knowledge, not only search procedures
- First-order logic lets agents state general rules
- Inference derives new facts from represented knowledge
- Knowledge engineering connects Artificial Intelligence to real domains
Analogy to say aloud: A delivery robot needs more than a path. It needs to know doors, rooms, people, permissions, hazards, and relationships.
Common student difficulty: A well-designed knowledge representation can make later decisions easier; a poor one can make simple reasoning impossible.
Suggested class prompt: Ask which parts of a campus robot’s world require objects and relations.
Teaching reminder: avoid treating the symbols as decoration. Ask students which objects exist, which relationships are being named, and what the knowledge base is allowed to conclude.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8 summary and review
Teaching purpose: Provide the final conceptual recap before review questions.
Core explanation: Use this slide to ask students to explain the terms in their own words. The two most important checks are term versus sentence and universal-existential order.
Slide content to emphasize:
- First-order logic represents objects, relations, functions, and quantified rules
- A model contains a domain and an interpretation that gives symbols meaning
- Terms refer to objects; sentences are true or false in a model
- Universal and existential quantifiers express all and some objects
- Quantifier order and connective choice can completely change meaning
- Database semantics adds useful assumptions for complete records
- Knowledge engineering turns domain expertise into a queryable knowledge base
Common student difficulty: If students can write formulas but cannot explain the model meaning, they have not mastered the chapter yet.
Suggested class prompt: Ask students to define model, interpretation, term, predicate, and quantifier.
Teaching reminder: avoid treating the symbols as decoration. Ask students which objects exist, which relationships are being named, and what the knowledge base is allowed to conclude.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Five-minute exit ticket
Teaching purpose: Give the instructor a quick formative assessment.
Core explanation: Suggested answers: every course has some instructor; some student and enrolled relation; different advisors versus one advisor for everyone; unique names, closed world, or domain closure; a circuit query such as which inputs produce carry output one.
Slide content to emphasize:
- Translate: “Every course has an instructor.”
- Translate: “Some student is enrolled in Computer Science 469.”
- Explain why ∀x ∃y Advisor(x,y) differs from ∃y ∀x Advisor(x,y).
- Name one database semantics assumption.
- Write one test query for the circuit knowledge base.
- Explain the difference between a term and an atomic sentence.
Common student difficulty: Students may provide syntactically plausible formulas that do not match the English meaning. Ask them to read each formula aloud.
Suggested class prompt: Collect responses or have students compare in pairs.
Teaching reminder: avoid treating the symbols as decoration. Ask students which objects exist, which relationships are being named, and what the knowledge base is allowed to conclude.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Common student gotchas to revisit
Teaching purpose: Create a final troubleshooting checklist for students.
Core explanation: This slide is useful before homework or a lab. It gathers the mistakes that commonly appear in translations and knowledge-base design.
Slide content to emphasize:
- Different names do not automatically mean different objects in standard semantics
- Unknown does not automatically mean false
- Functions are object-referring terms, not procedures
- Universal rules usually use implication
- Existence claims usually use conjunction
- Quantifier order matters whenever the quantifiers differ
- A missing axiom may produce silence instead of an obvious error
Common student difficulty: Students can memorize examples and still fail on new translations. The checklist helps them reason through unfamiliar sentences.
Suggested class prompt: Ask students to identify which gotcha they are most likely to make.
Teaching reminder: avoid treating the symbols as decoration. Ask students which objects exist, which relationships are being named, and what the knowledge base is allowed to conclude.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and teaching resources
Teaching purpose: Provide references and optional teaching resources in one place.
Core explanation: The official textbook site and code repository support students who want to go deeper. The course-specific labs and visual playground support hands-on practice.
Analogy to say aloud: Think of the references as a toolkit: textbook for theory, code for implementation, visual playground for intuition, and labs for practice.
Common student difficulty: Students should not start with code before they can explain the vocabulary and model meaning.
Suggested class prompt: Ask students which resource they will use for the homework or lab review.
Teaching reminder: avoid treating the symbols as decoration. Ask students which objects exist, which relationships are being named, and what the knowledge base is allowed to conclude.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class connection
Teaching purpose: End with a forward-looking transition to first-order inference.
Core explanation: Use this slide to preview Chapter 9 without starting it. The students should leave knowing that representation comes before inference.
Slide content to emphasize:
- Chapter 8 explains what first-order sentences mean
- The next step is inference: how to derive useful conclusions efficiently
- Students should be comfortable reading formulas before proving with them
- Keep practicing English-to-logic and logic-to-English translation
Analogy to say aloud: Today we learned the language. Next we learn how to use the language to reason systematically.
Common student difficulty: Do not rush into proof algorithms if students still confuse terms and sentences.
Suggested class prompt: Ask students to write one sentence they still find confusing and one concept that now makes sense.
Teaching reminder: avoid treating the symbols as decoration. Ask students which objects exist, which relationships are being named, and what the knowledge base is allowed to conclude.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png"/><Relationship Id="rId2" Type="http://schemas.openxmlformats.org/officeDocument/2006/relationships/slideLayout" Target="../slideLayouts/slideLayout1.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image" Target="../media/image-88-1.png"/><Relationship Id="rId2" Type="http://schemas.openxmlformats.org/officeDocument/2006/relationships/slideLayout" Target="../slideLayouts/slideLayout1.xml"/><Relationship Id="rId3"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5088"/>
        </a:solidFill>
      </p:bgPr>
    </p:bg>
    <p:spTree>
      <p:nvGrpSpPr>
        <p:cNvPr id="1" name=""/>
        <p:cNvGrpSpPr/>
        <p:nvPr/>
      </p:nvGrpSpPr>
      <p:grpSpPr>
        <a:xfrm>
          <a:off x="0" y="0"/>
          <a:ext cx="0" cy="0"/>
          <a:chOff x="0" y="0"/>
          <a:chExt cx="0" cy="0"/>
        </a:xfrm>
      </p:grpSpPr>
      <p:sp>
        <p:nvSpPr>
          <p:cNvPr id="2" name="Text 0"/>
          <p:cNvSpPr/>
          <p:nvPr/>
        </p:nvSpPr>
        <p:spPr>
          <a:xfrm>
            <a:off x="685800" y="502920"/>
            <a:ext cx="2194560" cy="320040"/>
          </a:xfrm>
          <a:prstGeom prst="rect">
            <a:avLst/>
          </a:prstGeom>
          <a:noFill/>
          <a:ln/>
        </p:spPr>
        <p:txBody>
          <a:bodyPr wrap="square" lIns="0" tIns="0" rIns="0" bIns="0" rtlCol="0" anchor="ctr"/>
          <a:lstStyle/>
          <a:p>
            <a:pPr indent="0" marL="0">
              <a:buNone/>
            </a:pPr>
            <a:r>
              <a:rPr lang="en-US" sz="1600" b="1" dirty="0">
                <a:solidFill>
                  <a:srgbClr val="A5F3FC"/>
                </a:solidFill>
              </a:rPr>
              <a:t>Computer Science 469</a:t>
            </a:r>
            <a:endParaRPr lang="en-US" sz="1600" dirty="0"/>
          </a:p>
        </p:txBody>
      </p:sp>
      <p:sp>
        <p:nvSpPr>
          <p:cNvPr id="3" name="Text 1"/>
          <p:cNvSpPr/>
          <p:nvPr/>
        </p:nvSpPr>
        <p:spPr>
          <a:xfrm>
            <a:off x="685800" y="850392"/>
            <a:ext cx="6858000" cy="329184"/>
          </a:xfrm>
          <a:prstGeom prst="rect">
            <a:avLst/>
          </a:prstGeom>
          <a:noFill/>
          <a:ln/>
        </p:spPr>
        <p:txBody>
          <a:bodyPr wrap="square" lIns="0" tIns="0" rIns="0" bIns="0" rtlCol="0" anchor="ctr"/>
          <a:lstStyle/>
          <a:p>
            <a:pPr indent="0" marL="0">
              <a:buNone/>
            </a:pPr>
            <a:r>
              <a:rPr lang="en-US" sz="1500" dirty="0">
                <a:solidFill>
                  <a:srgbClr val="D9F99D"/>
                </a:solidFill>
              </a:rPr>
              <a:t>Introduction to Artificial Intelligence</a:t>
            </a:r>
            <a:endParaRPr lang="en-US" sz="1500" dirty="0"/>
          </a:p>
        </p:txBody>
      </p:sp>
      <p:sp>
        <p:nvSpPr>
          <p:cNvPr id="4" name="Text 2"/>
          <p:cNvSpPr/>
          <p:nvPr/>
        </p:nvSpPr>
        <p:spPr>
          <a:xfrm>
            <a:off x="685800" y="1161288"/>
            <a:ext cx="6858000" cy="274320"/>
          </a:xfrm>
          <a:prstGeom prst="rect">
            <a:avLst/>
          </a:prstGeom>
          <a:noFill/>
          <a:ln/>
        </p:spPr>
        <p:txBody>
          <a:bodyPr wrap="square" lIns="0" tIns="0" rIns="0" bIns="0" rtlCol="0" anchor="ctr"/>
          <a:lstStyle/>
          <a:p>
            <a:pPr indent="0" marL="0">
              <a:buNone/>
            </a:pPr>
            <a:r>
              <a:rPr lang="en-US" sz="1150" dirty="0">
                <a:solidFill>
                  <a:srgbClr val="E0F2FE"/>
                </a:solidFill>
              </a:rPr>
              <a:t>California State University Channel Islands</a:t>
            </a:r>
            <a:endParaRPr lang="en-US" sz="1150" dirty="0"/>
          </a:p>
        </p:txBody>
      </p:sp>
      <p:sp>
        <p:nvSpPr>
          <p:cNvPr id="5" name="Text 3"/>
          <p:cNvSpPr/>
          <p:nvPr/>
        </p:nvSpPr>
        <p:spPr>
          <a:xfrm>
            <a:off x="685800" y="1920240"/>
            <a:ext cx="3657600" cy="402336"/>
          </a:xfrm>
          <a:prstGeom prst="rect">
            <a:avLst/>
          </a:prstGeom>
          <a:noFill/>
          <a:ln/>
        </p:spPr>
        <p:txBody>
          <a:bodyPr wrap="square" lIns="0" tIns="0" rIns="0" bIns="0" rtlCol="0" anchor="ctr"/>
          <a:lstStyle/>
          <a:p>
            <a:pPr indent="0" marL="0">
              <a:buNone/>
            </a:pPr>
            <a:r>
              <a:rPr lang="en-US" sz="2200" b="1" dirty="0">
                <a:solidFill>
                  <a:srgbClr val="A5F3FC"/>
                </a:solidFill>
              </a:rPr>
              <a:t>Chapter 8</a:t>
            </a:r>
            <a:endParaRPr lang="en-US" sz="2200" dirty="0"/>
          </a:p>
        </p:txBody>
      </p:sp>
      <p:sp>
        <p:nvSpPr>
          <p:cNvPr id="6" name="Text 4"/>
          <p:cNvSpPr/>
          <p:nvPr/>
        </p:nvSpPr>
        <p:spPr>
          <a:xfrm>
            <a:off x="685800" y="2331720"/>
            <a:ext cx="10789920" cy="841248"/>
          </a:xfrm>
          <a:prstGeom prst="rect">
            <a:avLst/>
          </a:prstGeom>
          <a:noFill/>
          <a:ln/>
        </p:spPr>
        <p:txBody>
          <a:bodyPr wrap="square" lIns="0" tIns="0" rIns="0" bIns="0" rtlCol="0" anchor="ctr">
            <a:normAutofit/>
          </a:bodyPr>
          <a:lstStyle/>
          <a:p>
            <a:pPr indent="0" marL="0">
              <a:buNone/>
            </a:pPr>
            <a:r>
              <a:rPr lang="en-US" sz="5200" b="1" dirty="0">
                <a:solidFill>
                  <a:srgbClr val="F4F1DE"/>
                </a:solidFill>
              </a:rPr>
              <a:t>First-Order Logic</a:t>
            </a:r>
            <a:endParaRPr lang="en-US" sz="5200" dirty="0"/>
          </a:p>
        </p:txBody>
      </p:sp>
      <p:sp>
        <p:nvSpPr>
          <p:cNvPr id="7" name="Text 5"/>
          <p:cNvSpPr/>
          <p:nvPr/>
        </p:nvSpPr>
        <p:spPr>
          <a:xfrm>
            <a:off x="713232" y="3310128"/>
            <a:ext cx="10789920" cy="438912"/>
          </a:xfrm>
          <a:prstGeom prst="rect">
            <a:avLst/>
          </a:prstGeom>
          <a:noFill/>
          <a:ln/>
        </p:spPr>
        <p:txBody>
          <a:bodyPr wrap="square" lIns="0" tIns="0" rIns="0" bIns="0" rtlCol="0" anchor="ctr">
            <a:normAutofit/>
          </a:bodyPr>
          <a:lstStyle/>
          <a:p>
            <a:pPr indent="0" marL="0">
              <a:buNone/>
            </a:pPr>
            <a:r>
              <a:rPr lang="en-US" sz="1750" dirty="0">
                <a:solidFill>
                  <a:srgbClr val="E0F2FE"/>
                </a:solidFill>
              </a:rPr>
              <a:t>A detailed teaching deck for objects, relations, quantifiers, interpretations, and knowledge engineering</a:t>
            </a:r>
            <a:endParaRPr lang="en-US" sz="1750" dirty="0"/>
          </a:p>
        </p:txBody>
      </p:sp>
      <p:sp>
        <p:nvSpPr>
          <p:cNvPr id="8" name="Shape 6"/>
          <p:cNvSpPr/>
          <p:nvPr/>
        </p:nvSpPr>
        <p:spPr>
          <a:xfrm>
            <a:off x="713232" y="3995928"/>
            <a:ext cx="2560320" cy="59436"/>
          </a:xfrm>
          <a:prstGeom prst="rect">
            <a:avLst/>
          </a:prstGeom>
          <a:solidFill>
            <a:srgbClr val="D9F99D"/>
          </a:solidFill>
          <a:ln w="12700">
            <a:solidFill>
              <a:srgbClr val="D9F99D"/>
            </a:solidFill>
            <a:prstDash val="solid"/>
          </a:ln>
        </p:spPr>
      </p:sp>
      <p:sp>
        <p:nvSpPr>
          <p:cNvPr id="9" name="Shape 7"/>
          <p:cNvSpPr/>
          <p:nvPr/>
        </p:nvSpPr>
        <p:spPr>
          <a:xfrm>
            <a:off x="713232" y="4343400"/>
            <a:ext cx="5166360" cy="960120"/>
          </a:xfrm>
          <a:prstGeom prst="roundRect">
            <a:avLst>
              <a:gd name="adj" fmla="val 7619"/>
            </a:avLst>
          </a:prstGeom>
          <a:solidFill>
            <a:srgbClr val="073B4C"/>
          </a:solidFill>
          <a:ln w="12700">
            <a:solidFill>
              <a:srgbClr val="A5F3FC"/>
            </a:solidFill>
            <a:prstDash val="solid"/>
          </a:ln>
        </p:spPr>
      </p:sp>
      <p:sp>
        <p:nvSpPr>
          <p:cNvPr id="10" name="Text 8"/>
          <p:cNvSpPr/>
          <p:nvPr/>
        </p:nvSpPr>
        <p:spPr>
          <a:xfrm>
            <a:off x="896112" y="4480560"/>
            <a:ext cx="4800600" cy="219456"/>
          </a:xfrm>
          <a:prstGeom prst="rect">
            <a:avLst/>
          </a:prstGeom>
          <a:noFill/>
          <a:ln/>
        </p:spPr>
        <p:txBody>
          <a:bodyPr wrap="square" lIns="0" tIns="0" rIns="0" bIns="0" rtlCol="0" anchor="ctr"/>
          <a:lstStyle/>
          <a:p>
            <a:pPr indent="0" marL="0">
              <a:buNone/>
            </a:pPr>
            <a:r>
              <a:rPr lang="en-US" sz="950" b="1" dirty="0">
                <a:solidFill>
                  <a:srgbClr val="A5F3FC"/>
                </a:solidFill>
              </a:rPr>
              <a:t>TEACHING PROMISE</a:t>
            </a:r>
            <a:endParaRPr lang="en-US" sz="950" dirty="0"/>
          </a:p>
        </p:txBody>
      </p:sp>
      <p:sp>
        <p:nvSpPr>
          <p:cNvPr id="11" name="Text 9"/>
          <p:cNvSpPr/>
          <p:nvPr/>
        </p:nvSpPr>
        <p:spPr>
          <a:xfrm>
            <a:off x="896112" y="4754880"/>
            <a:ext cx="4800600" cy="457200"/>
          </a:xfrm>
          <a:prstGeom prst="rect">
            <a:avLst/>
          </a:prstGeom>
          <a:noFill/>
          <a:ln/>
        </p:spPr>
        <p:txBody>
          <a:bodyPr wrap="square" lIns="254" tIns="254" rIns="254" bIns="254" rtlCol="0" anchor="t">
            <a:normAutofit/>
          </a:bodyPr>
          <a:lstStyle/>
          <a:p>
            <a:pPr indent="0" marL="0">
              <a:buNone/>
            </a:pPr>
            <a:r>
              <a:rPr lang="en-US" sz="1350" dirty="0">
                <a:solidFill>
                  <a:srgbClr val="FFFFFF"/>
                </a:solidFill>
              </a:rPr>
              <a:t>Every major concept is paired with an analogy, a student gotcha, and speaker notes you can use in class.</a:t>
            </a:r>
            <a:endParaRPr lang="en-US" sz="1350" dirty="0"/>
          </a:p>
        </p:txBody>
      </p:sp>
      <p:sp>
        <p:nvSpPr>
          <p:cNvPr id="12" name="Shape 10"/>
          <p:cNvSpPr/>
          <p:nvPr/>
        </p:nvSpPr>
        <p:spPr>
          <a:xfrm>
            <a:off x="6172200" y="4343400"/>
            <a:ext cx="5166360" cy="960120"/>
          </a:xfrm>
          <a:prstGeom prst="roundRect">
            <a:avLst>
              <a:gd name="adj" fmla="val 7619"/>
            </a:avLst>
          </a:prstGeom>
          <a:solidFill>
            <a:srgbClr val="073B4C"/>
          </a:solidFill>
          <a:ln w="12700">
            <a:solidFill>
              <a:srgbClr val="D9F99D"/>
            </a:solidFill>
            <a:prstDash val="solid"/>
          </a:ln>
        </p:spPr>
      </p:sp>
      <p:sp>
        <p:nvSpPr>
          <p:cNvPr id="13" name="Text 11"/>
          <p:cNvSpPr/>
          <p:nvPr/>
        </p:nvSpPr>
        <p:spPr>
          <a:xfrm>
            <a:off x="6355080" y="4480560"/>
            <a:ext cx="4800600" cy="219456"/>
          </a:xfrm>
          <a:prstGeom prst="rect">
            <a:avLst/>
          </a:prstGeom>
          <a:noFill/>
          <a:ln/>
        </p:spPr>
        <p:txBody>
          <a:bodyPr wrap="square" lIns="0" tIns="0" rIns="0" bIns="0" rtlCol="0" anchor="ctr"/>
          <a:lstStyle/>
          <a:p>
            <a:pPr indent="0" marL="0">
              <a:buNone/>
            </a:pPr>
            <a:r>
              <a:rPr lang="en-US" sz="950" b="1" dirty="0">
                <a:solidFill>
                  <a:srgbClr val="D9F99D"/>
                </a:solidFill>
              </a:rPr>
              <a:t>COURSE CONNECTION</a:t>
            </a:r>
            <a:endParaRPr lang="en-US" sz="950" dirty="0"/>
          </a:p>
        </p:txBody>
      </p:sp>
      <p:sp>
        <p:nvSpPr>
          <p:cNvPr id="14" name="Text 12"/>
          <p:cNvSpPr/>
          <p:nvPr/>
        </p:nvSpPr>
        <p:spPr>
          <a:xfrm>
            <a:off x="6355080" y="4754880"/>
            <a:ext cx="4800600" cy="457200"/>
          </a:xfrm>
          <a:prstGeom prst="rect">
            <a:avLst/>
          </a:prstGeom>
          <a:noFill/>
          <a:ln/>
        </p:spPr>
        <p:txBody>
          <a:bodyPr wrap="square" lIns="254" tIns="254" rIns="254" bIns="254" rtlCol="0" anchor="t">
            <a:normAutofit/>
          </a:bodyPr>
          <a:lstStyle/>
          <a:p>
            <a:pPr indent="0" marL="0">
              <a:buNone/>
            </a:pPr>
            <a:r>
              <a:rPr lang="en-US" sz="1350" dirty="0">
                <a:solidFill>
                  <a:srgbClr val="FFFFFF"/>
                </a:solidFill>
              </a:rPr>
              <a:t>This chapter moves from isolated facts to structured knowledge that an intelligent agent can reason about.</a:t>
            </a:r>
            <a:endParaRPr lang="en-US" sz="1350" dirty="0"/>
          </a:p>
        </p:txBody>
      </p:sp>
      <p:sp>
        <p:nvSpPr>
          <p:cNvPr id="15" name="Text 13"/>
          <p:cNvSpPr/>
          <p:nvPr/>
        </p:nvSpPr>
        <p:spPr>
          <a:xfrm>
            <a:off x="11018520" y="6172200"/>
            <a:ext cx="548640" cy="274320"/>
          </a:xfrm>
          <a:prstGeom prst="rect">
            <a:avLst/>
          </a:prstGeom>
          <a:noFill/>
          <a:ln/>
        </p:spPr>
        <p:txBody>
          <a:bodyPr wrap="square" lIns="0" tIns="0" rIns="0" bIns="0" rtlCol="0" anchor="ctr"/>
          <a:lstStyle/>
          <a:p>
            <a:pPr algn="r" indent="0" marL="0">
              <a:buNone/>
            </a:pPr>
            <a:r>
              <a:rPr lang="en-US" sz="1200" b="1" dirty="0">
                <a:solidFill>
                  <a:srgbClr val="D9F99D"/>
                </a:solidFill>
              </a:rPr>
              <a:t>01</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5088"/>
          </a:solidFill>
          <a:ln w="12700">
            <a:solidFill>
              <a:srgbClr val="005088"/>
            </a:solidFill>
            <a:prstDash val="solid"/>
          </a:ln>
        </p:spPr>
      </p:sp>
      <p:sp>
        <p:nvSpPr>
          <p:cNvPr id="3" name="Shape 1"/>
          <p:cNvSpPr/>
          <p:nvPr/>
        </p:nvSpPr>
        <p:spPr>
          <a:xfrm>
            <a:off x="0" y="6729984"/>
            <a:ext cx="12191695" cy="128016"/>
          </a:xfrm>
          <a:prstGeom prst="rect">
            <a:avLst/>
          </a:prstGeom>
          <a:solidFill>
            <a:srgbClr val="005088"/>
          </a:solidFill>
          <a:ln w="12700">
            <a:solidFill>
              <a:srgbClr val="005088"/>
            </a:solidFill>
            <a:prstDash val="solid"/>
          </a:ln>
        </p:spPr>
      </p:sp>
      <p:sp>
        <p:nvSpPr>
          <p:cNvPr id="4" name="Text 2"/>
          <p:cNvSpPr/>
          <p:nvPr/>
        </p:nvSpPr>
        <p:spPr>
          <a:xfrm>
            <a:off x="502920" y="210312"/>
            <a:ext cx="6858000" cy="219456"/>
          </a:xfrm>
          <a:prstGeom prst="rect">
            <a:avLst/>
          </a:prstGeom>
          <a:noFill/>
          <a:ln/>
        </p:spPr>
        <p:txBody>
          <a:bodyPr wrap="square" lIns="0" tIns="0" rIns="0" bIns="0" rtlCol="0" anchor="ctr"/>
          <a:lstStyle/>
          <a:p>
            <a:pPr indent="0" marL="0">
              <a:buNone/>
            </a:pPr>
            <a:r>
              <a:rPr lang="en-US" sz="950" b="1" dirty="0">
                <a:solidFill>
                  <a:srgbClr val="3D5A80"/>
                </a:solidFill>
                <a:latin typeface="Aptos" pitchFamily="34" charset="0"/>
                <a:ea typeface="Aptos" pitchFamily="34" charset="-122"/>
                <a:cs typeface="Aptos" pitchFamily="34" charset="-120"/>
              </a:rPr>
              <a:t>Instructor orientation</a:t>
            </a:r>
            <a:endParaRPr lang="en-US" sz="950" dirty="0"/>
          </a:p>
        </p:txBody>
      </p:sp>
      <p:sp>
        <p:nvSpPr>
          <p:cNvPr id="5" name="Text 3"/>
          <p:cNvSpPr/>
          <p:nvPr/>
        </p:nvSpPr>
        <p:spPr>
          <a:xfrm>
            <a:off x="11018520" y="201168"/>
            <a:ext cx="640080" cy="228600"/>
          </a:xfrm>
          <a:prstGeom prst="rect">
            <a:avLst/>
          </a:prstGeom>
          <a:noFill/>
          <a:ln/>
        </p:spPr>
        <p:txBody>
          <a:bodyPr wrap="square" lIns="0" tIns="0" rIns="0" bIns="0" rtlCol="0" anchor="ctr"/>
          <a:lstStyle/>
          <a:p>
            <a:pPr algn="r" indent="0" marL="0">
              <a:buNone/>
            </a:pPr>
            <a:r>
              <a:rPr lang="en-US" sz="900" b="1" dirty="0">
                <a:solidFill>
                  <a:srgbClr val="3D5A80"/>
                </a:solidFill>
              </a:rPr>
              <a:t>02</a:t>
            </a:r>
            <a:endParaRPr lang="en-US" sz="900" dirty="0"/>
          </a:p>
        </p:txBody>
      </p:sp>
      <p:sp>
        <p:nvSpPr>
          <p:cNvPr id="6" name="Text 4"/>
          <p:cNvSpPr/>
          <p:nvPr/>
        </p:nvSpPr>
        <p:spPr>
          <a:xfrm>
            <a:off x="502920" y="566928"/>
            <a:ext cx="11201400" cy="512064"/>
          </a:xfrm>
          <a:prstGeom prst="rect">
            <a:avLst/>
          </a:prstGeom>
          <a:noFill/>
          <a:ln/>
        </p:spPr>
        <p:txBody>
          <a:bodyPr wrap="square" lIns="0" tIns="0" rIns="0" bIns="0" rtlCol="0" anchor="ctr">
            <a:normAutofit/>
          </a:bodyPr>
          <a:lstStyle/>
          <a:p>
            <a:pPr indent="0" marL="0">
              <a:buNone/>
            </a:pPr>
            <a:r>
              <a:rPr lang="en-US" sz="2650" b="1" dirty="0">
                <a:solidFill>
                  <a:srgbClr val="005088"/>
                </a:solidFill>
                <a:latin typeface="Aptos Display" pitchFamily="34" charset="0"/>
                <a:ea typeface="Aptos Display" pitchFamily="34" charset="-122"/>
                <a:cs typeface="Aptos Display" pitchFamily="34" charset="-120"/>
              </a:rPr>
              <a:t>HOW TO USE THIS LECTURE DECK</a:t>
            </a:r>
            <a:endParaRPr lang="en-US" sz="2650" dirty="0"/>
          </a:p>
        </p:txBody>
      </p:sp>
      <p:sp>
        <p:nvSpPr>
          <p:cNvPr id="7" name="Shape 5"/>
          <p:cNvSpPr/>
          <p:nvPr/>
        </p:nvSpPr>
        <p:spPr>
          <a:xfrm>
            <a:off x="502920" y="1188720"/>
            <a:ext cx="11109960" cy="0"/>
          </a:xfrm>
          <a:prstGeom prst="line">
            <a:avLst/>
          </a:prstGeom>
          <a:noFill/>
          <a:ln w="12700">
            <a:solidFill>
              <a:srgbClr val="3D5A80"/>
            </a:solidFill>
            <a:prstDash val="solid"/>
          </a:ln>
        </p:spPr>
      </p:sp>
      <p:sp>
        <p:nvSpPr>
          <p:cNvPr id="8" name="Text 6"/>
          <p:cNvSpPr/>
          <p:nvPr/>
        </p:nvSpPr>
        <p:spPr>
          <a:xfrm>
            <a:off x="713232" y="1572768"/>
            <a:ext cx="10744200" cy="3886200"/>
          </a:xfrm>
          <a:prstGeom prst="rect">
            <a:avLst/>
          </a:prstGeom>
          <a:noFill/>
          <a:ln/>
        </p:spPr>
        <p:txBody>
          <a:bodyPr wrap="square" lIns="1016" tIns="1016" rIns="1016" bIns="1016" rtlCol="0" anchor="t">
            <a:normAutofit/>
          </a:bodyPr>
          <a:lstStyle/>
          <a:p>
            <a:pPr indent="0" marL="0">
              <a:buNone/>
            </a:pPr>
            <a:r>
              <a:rPr lang="en-US" sz="1650" dirty="0">
                <a:solidFill>
                  <a:srgbClr val="1E293B"/>
                </a:solidFill>
                <a:latin typeface="Aptos" pitchFamily="34" charset="0"/>
                <a:ea typeface="Aptos" pitchFamily="34" charset="-122"/>
                <a:cs typeface="Aptos" pitchFamily="34" charset="-120"/>
              </a:rPr>
              <a:t>• Keep the displayed slide concise; use speaker notes for the full teaching script</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Read formulas aloud as English before discussing symbols</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Pause after each analogy and ask students to invent a parallel example</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Do short checks often; this chapter is cumulative</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When students struggle, return to objects, relationships, and what follows from the knowledge base</a:t>
            </a:r>
            <a:endParaRPr lang="en-US" sz="1650" dirty="0"/>
          </a:p>
        </p:txBody>
      </p:sp>
      <p:sp>
        <p:nvSpPr>
          <p:cNvPr id="9" name="Shape 7"/>
          <p:cNvSpPr/>
          <p:nvPr/>
        </p:nvSpPr>
        <p:spPr>
          <a:xfrm>
            <a:off x="777240" y="4846320"/>
            <a:ext cx="10652760" cy="749808"/>
          </a:xfrm>
          <a:prstGeom prst="roundRect">
            <a:avLst>
              <a:gd name="adj" fmla="val 9756"/>
            </a:avLst>
          </a:prstGeom>
          <a:solidFill>
            <a:srgbClr val="FFFFFF">
              <a:alpha val="97000"/>
            </a:srgbClr>
          </a:solidFill>
          <a:ln w="12700">
            <a:solidFill>
              <a:srgbClr val="007C89"/>
            </a:solidFill>
            <a:prstDash val="solid"/>
          </a:ln>
        </p:spPr>
      </p:sp>
      <p:sp>
        <p:nvSpPr>
          <p:cNvPr id="10" name="Text 8"/>
          <p:cNvSpPr/>
          <p:nvPr/>
        </p:nvSpPr>
        <p:spPr>
          <a:xfrm>
            <a:off x="941832" y="4974336"/>
            <a:ext cx="10323576" cy="566928"/>
          </a:xfrm>
          <a:prstGeom prst="rect">
            <a:avLst/>
          </a:prstGeom>
          <a:noFill/>
          <a:ln/>
        </p:spPr>
        <p:txBody>
          <a:bodyPr wrap="square" lIns="0" tIns="0" rIns="0" bIns="0" rtlCol="0" anchor="ctr">
            <a:normAutofit/>
          </a:bodyPr>
          <a:lstStyle/>
          <a:p>
            <a:pPr algn="ctr" indent="0" marL="0">
              <a:buNone/>
            </a:pPr>
            <a:r>
              <a:rPr lang="en-US" sz="1600" b="1" dirty="0">
                <a:solidFill>
                  <a:srgbClr val="005088"/>
                </a:solidFill>
                <a:latin typeface="Cambria Math" pitchFamily="34" charset="0"/>
                <a:ea typeface="Cambria Math" pitchFamily="34" charset="-122"/>
                <a:cs typeface="Cambria Math" pitchFamily="34" charset="-120"/>
              </a:rPr>
              <a:t>Teaching loop: English idea → logical vocabulary → formula → model meaning → query</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5088"/>
          </a:solidFill>
          <a:ln w="12700">
            <a:solidFill>
              <a:srgbClr val="005088"/>
            </a:solidFill>
            <a:prstDash val="solid"/>
          </a:ln>
        </p:spPr>
      </p:sp>
      <p:sp>
        <p:nvSpPr>
          <p:cNvPr id="3" name="Shape 1"/>
          <p:cNvSpPr/>
          <p:nvPr/>
        </p:nvSpPr>
        <p:spPr>
          <a:xfrm>
            <a:off x="0" y="6729984"/>
            <a:ext cx="12191695" cy="128016"/>
          </a:xfrm>
          <a:prstGeom prst="rect">
            <a:avLst/>
          </a:prstGeom>
          <a:solidFill>
            <a:srgbClr val="005088"/>
          </a:solidFill>
          <a:ln w="12700">
            <a:solidFill>
              <a:srgbClr val="005088"/>
            </a:solidFill>
            <a:prstDash val="solid"/>
          </a:ln>
        </p:spPr>
      </p:sp>
      <p:sp>
        <p:nvSpPr>
          <p:cNvPr id="4" name="Text 2"/>
          <p:cNvSpPr/>
          <p:nvPr/>
        </p:nvSpPr>
        <p:spPr>
          <a:xfrm>
            <a:off x="502920" y="210312"/>
            <a:ext cx="6858000" cy="219456"/>
          </a:xfrm>
          <a:prstGeom prst="rect">
            <a:avLst/>
          </a:prstGeom>
          <a:noFill/>
          <a:ln/>
        </p:spPr>
        <p:txBody>
          <a:bodyPr wrap="square" lIns="0" tIns="0" rIns="0" bIns="0" rtlCol="0" anchor="ctr"/>
          <a:lstStyle/>
          <a:p>
            <a:pPr indent="0" marL="0">
              <a:buNone/>
            </a:pPr>
            <a:r>
              <a:rPr lang="en-US" sz="950" b="1" dirty="0">
                <a:solidFill>
                  <a:srgbClr val="3D5A80"/>
                </a:solidFill>
                <a:latin typeface="Aptos" pitchFamily="34" charset="0"/>
                <a:ea typeface="Aptos" pitchFamily="34" charset="-122"/>
                <a:cs typeface="Aptos" pitchFamily="34" charset="-120"/>
              </a:rPr>
              <a:t>Course map</a:t>
            </a:r>
            <a:endParaRPr lang="en-US" sz="950" dirty="0"/>
          </a:p>
        </p:txBody>
      </p:sp>
      <p:sp>
        <p:nvSpPr>
          <p:cNvPr id="5" name="Text 3"/>
          <p:cNvSpPr/>
          <p:nvPr/>
        </p:nvSpPr>
        <p:spPr>
          <a:xfrm>
            <a:off x="11018520" y="201168"/>
            <a:ext cx="640080" cy="228600"/>
          </a:xfrm>
          <a:prstGeom prst="rect">
            <a:avLst/>
          </a:prstGeom>
          <a:noFill/>
          <a:ln/>
        </p:spPr>
        <p:txBody>
          <a:bodyPr wrap="square" lIns="0" tIns="0" rIns="0" bIns="0" rtlCol="0" anchor="ctr"/>
          <a:lstStyle/>
          <a:p>
            <a:pPr algn="r" indent="0" marL="0">
              <a:buNone/>
            </a:pPr>
            <a:r>
              <a:rPr lang="en-US" sz="900" b="1" dirty="0">
                <a:solidFill>
                  <a:srgbClr val="3D5A80"/>
                </a:solidFill>
              </a:rPr>
              <a:t>03</a:t>
            </a:r>
            <a:endParaRPr lang="en-US" sz="900" dirty="0"/>
          </a:p>
        </p:txBody>
      </p:sp>
      <p:sp>
        <p:nvSpPr>
          <p:cNvPr id="6" name="Text 4"/>
          <p:cNvSpPr/>
          <p:nvPr/>
        </p:nvSpPr>
        <p:spPr>
          <a:xfrm>
            <a:off x="502920" y="566928"/>
            <a:ext cx="11201400" cy="512064"/>
          </a:xfrm>
          <a:prstGeom prst="rect">
            <a:avLst/>
          </a:prstGeom>
          <a:noFill/>
          <a:ln/>
        </p:spPr>
        <p:txBody>
          <a:bodyPr wrap="square" lIns="0" tIns="0" rIns="0" bIns="0" rtlCol="0" anchor="ctr">
            <a:normAutofit/>
          </a:bodyPr>
          <a:lstStyle/>
          <a:p>
            <a:pPr indent="0" marL="0">
              <a:buNone/>
            </a:pPr>
            <a:r>
              <a:rPr lang="en-US" sz="2650" b="1" dirty="0">
                <a:solidFill>
                  <a:srgbClr val="005088"/>
                </a:solidFill>
                <a:latin typeface="Aptos Display" pitchFamily="34" charset="0"/>
                <a:ea typeface="Aptos Display" pitchFamily="34" charset="-122"/>
                <a:cs typeface="Aptos Display" pitchFamily="34" charset="-120"/>
              </a:rPr>
              <a:t>LEARNING OBJECTIVES</a:t>
            </a:r>
            <a:endParaRPr lang="en-US" sz="2650" dirty="0"/>
          </a:p>
        </p:txBody>
      </p:sp>
      <p:sp>
        <p:nvSpPr>
          <p:cNvPr id="7" name="Shape 5"/>
          <p:cNvSpPr/>
          <p:nvPr/>
        </p:nvSpPr>
        <p:spPr>
          <a:xfrm>
            <a:off x="502920" y="1188720"/>
            <a:ext cx="11109960" cy="0"/>
          </a:xfrm>
          <a:prstGeom prst="line">
            <a:avLst/>
          </a:prstGeom>
          <a:noFill/>
          <a:ln w="12700">
            <a:solidFill>
              <a:srgbClr val="3D5A80"/>
            </a:solidFill>
            <a:prstDash val="solid"/>
          </a:ln>
        </p:spPr>
      </p:sp>
      <p:sp>
        <p:nvSpPr>
          <p:cNvPr id="8" name="Text 6"/>
          <p:cNvSpPr/>
          <p:nvPr/>
        </p:nvSpPr>
        <p:spPr>
          <a:xfrm>
            <a:off x="713232" y="1572768"/>
            <a:ext cx="10744200" cy="3886200"/>
          </a:xfrm>
          <a:prstGeom prst="rect">
            <a:avLst/>
          </a:prstGeom>
          <a:noFill/>
          <a:ln/>
        </p:spPr>
        <p:txBody>
          <a:bodyPr wrap="square" lIns="1016" tIns="1016" rIns="1016" bIns="1016" rtlCol="0" anchor="t">
            <a:normAutofit/>
          </a:bodyPr>
          <a:lstStyle/>
          <a:p>
            <a:pPr indent="0" marL="0">
              <a:buNone/>
            </a:pPr>
            <a:r>
              <a:rPr lang="en-US" sz="1650" dirty="0">
                <a:solidFill>
                  <a:srgbClr val="1E293B"/>
                </a:solidFill>
                <a:latin typeface="Aptos" pitchFamily="34" charset="0"/>
                <a:ea typeface="Aptos" pitchFamily="34" charset="-122"/>
                <a:cs typeface="Aptos" pitchFamily="34" charset="-120"/>
              </a:rPr>
              <a:t>• Explain why propositional logic becomes verbose in worlds with many objects</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Distinguish syntax from semantics in a formal representation language</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Identify constants, variables, predicates, functions, terms, and sentences</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Translate basic English rules using universal and existential quantifiers</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Explain the difference between standard semantics and database semantics</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Describe the seven-step knowledge engineering process</a:t>
            </a:r>
            <a:endParaRPr lang="en-US" sz="1650" dirty="0"/>
          </a:p>
        </p:txBody>
      </p:sp>
      <p:sp>
        <p:nvSpPr>
          <p:cNvPr id="9" name="Shape 7"/>
          <p:cNvSpPr/>
          <p:nvPr/>
        </p:nvSpPr>
        <p:spPr>
          <a:xfrm>
            <a:off x="777240" y="4846320"/>
            <a:ext cx="10652760" cy="749808"/>
          </a:xfrm>
          <a:prstGeom prst="roundRect">
            <a:avLst>
              <a:gd name="adj" fmla="val 9756"/>
            </a:avLst>
          </a:prstGeom>
          <a:solidFill>
            <a:srgbClr val="FFFFFF">
              <a:alpha val="97000"/>
            </a:srgbClr>
          </a:solidFill>
          <a:ln w="12700">
            <a:solidFill>
              <a:srgbClr val="007C89"/>
            </a:solidFill>
            <a:prstDash val="solid"/>
          </a:ln>
        </p:spPr>
      </p:sp>
      <p:sp>
        <p:nvSpPr>
          <p:cNvPr id="10" name="Text 8"/>
          <p:cNvSpPr/>
          <p:nvPr/>
        </p:nvSpPr>
        <p:spPr>
          <a:xfrm>
            <a:off x="941832" y="4974336"/>
            <a:ext cx="10323576" cy="566928"/>
          </a:xfrm>
          <a:prstGeom prst="rect">
            <a:avLst/>
          </a:prstGeom>
          <a:noFill/>
          <a:ln/>
        </p:spPr>
        <p:txBody>
          <a:bodyPr wrap="square" lIns="0" tIns="0" rIns="0" bIns="0" rtlCol="0" anchor="ctr">
            <a:normAutofit/>
          </a:bodyPr>
          <a:lstStyle/>
          <a:p>
            <a:pPr algn="ctr" indent="0" marL="0">
              <a:buNone/>
            </a:pPr>
            <a:r>
              <a:rPr lang="en-US" sz="1700" b="1" dirty="0">
                <a:solidFill>
                  <a:srgbClr val="005088"/>
                </a:solidFill>
                <a:latin typeface="Cambria Math" pitchFamily="34" charset="0"/>
                <a:ea typeface="Cambria Math" pitchFamily="34" charset="-122"/>
                <a:cs typeface="Cambria Math" pitchFamily="34" charset="-120"/>
              </a:rPr>
              <a:t>By the end: students should read a formula as a precise English claim.</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5088"/>
          </a:solidFill>
          <a:ln w="12700">
            <a:solidFill>
              <a:srgbClr val="005088"/>
            </a:solidFill>
            <a:prstDash val="solid"/>
          </a:ln>
        </p:spPr>
      </p:sp>
      <p:sp>
        <p:nvSpPr>
          <p:cNvPr id="3" name="Shape 1"/>
          <p:cNvSpPr/>
          <p:nvPr/>
        </p:nvSpPr>
        <p:spPr>
          <a:xfrm>
            <a:off x="0" y="6729984"/>
            <a:ext cx="12191695" cy="128016"/>
          </a:xfrm>
          <a:prstGeom prst="rect">
            <a:avLst/>
          </a:prstGeom>
          <a:solidFill>
            <a:srgbClr val="005088"/>
          </a:solidFill>
          <a:ln w="12700">
            <a:solidFill>
              <a:srgbClr val="005088"/>
            </a:solidFill>
            <a:prstDash val="solid"/>
          </a:ln>
        </p:spPr>
      </p:sp>
      <p:sp>
        <p:nvSpPr>
          <p:cNvPr id="4" name="Text 2"/>
          <p:cNvSpPr/>
          <p:nvPr/>
        </p:nvSpPr>
        <p:spPr>
          <a:xfrm>
            <a:off x="502920" y="210312"/>
            <a:ext cx="6858000" cy="219456"/>
          </a:xfrm>
          <a:prstGeom prst="rect">
            <a:avLst/>
          </a:prstGeom>
          <a:noFill/>
          <a:ln/>
        </p:spPr>
        <p:txBody>
          <a:bodyPr wrap="square" lIns="0" tIns="0" rIns="0" bIns="0" rtlCol="0" anchor="ctr"/>
          <a:lstStyle/>
          <a:p>
            <a:pPr indent="0" marL="0">
              <a:buNone/>
            </a:pPr>
            <a:r>
              <a:rPr lang="en-US" sz="950" b="1" dirty="0">
                <a:solidFill>
                  <a:srgbClr val="3D5A80"/>
                </a:solidFill>
                <a:latin typeface="Aptos" pitchFamily="34" charset="0"/>
                <a:ea typeface="Aptos" pitchFamily="34" charset="-122"/>
                <a:cs typeface="Aptos" pitchFamily="34" charset="-120"/>
              </a:rPr>
              <a:t>Course map</a:t>
            </a:r>
            <a:endParaRPr lang="en-US" sz="950" dirty="0"/>
          </a:p>
        </p:txBody>
      </p:sp>
      <p:sp>
        <p:nvSpPr>
          <p:cNvPr id="5" name="Text 3"/>
          <p:cNvSpPr/>
          <p:nvPr/>
        </p:nvSpPr>
        <p:spPr>
          <a:xfrm>
            <a:off x="11018520" y="201168"/>
            <a:ext cx="640080" cy="228600"/>
          </a:xfrm>
          <a:prstGeom prst="rect">
            <a:avLst/>
          </a:prstGeom>
          <a:noFill/>
          <a:ln/>
        </p:spPr>
        <p:txBody>
          <a:bodyPr wrap="square" lIns="0" tIns="0" rIns="0" bIns="0" rtlCol="0" anchor="ctr"/>
          <a:lstStyle/>
          <a:p>
            <a:pPr algn="r" indent="0" marL="0">
              <a:buNone/>
            </a:pPr>
            <a:r>
              <a:rPr lang="en-US" sz="900" b="1" dirty="0">
                <a:solidFill>
                  <a:srgbClr val="3D5A80"/>
                </a:solidFill>
              </a:rPr>
              <a:t>04</a:t>
            </a:r>
            <a:endParaRPr lang="en-US" sz="900" dirty="0"/>
          </a:p>
        </p:txBody>
      </p:sp>
      <p:sp>
        <p:nvSpPr>
          <p:cNvPr id="6" name="Text 4"/>
          <p:cNvSpPr/>
          <p:nvPr/>
        </p:nvSpPr>
        <p:spPr>
          <a:xfrm>
            <a:off x="502920" y="566928"/>
            <a:ext cx="11201400" cy="512064"/>
          </a:xfrm>
          <a:prstGeom prst="rect">
            <a:avLst/>
          </a:prstGeom>
          <a:noFill/>
          <a:ln/>
        </p:spPr>
        <p:txBody>
          <a:bodyPr wrap="square" lIns="0" tIns="0" rIns="0" bIns="0" rtlCol="0" anchor="ctr">
            <a:normAutofit/>
          </a:bodyPr>
          <a:lstStyle/>
          <a:p>
            <a:pPr indent="0" marL="0">
              <a:buNone/>
            </a:pPr>
            <a:r>
              <a:rPr lang="en-US" sz="2650" b="1" dirty="0">
                <a:solidFill>
                  <a:srgbClr val="005088"/>
                </a:solidFill>
                <a:latin typeface="Aptos Display" pitchFamily="34" charset="0"/>
                <a:ea typeface="Aptos Display" pitchFamily="34" charset="-122"/>
                <a:cs typeface="Aptos Display" pitchFamily="34" charset="-120"/>
              </a:rPr>
              <a:t>CHAPTER STORY IN ONE MINUTE</a:t>
            </a:r>
            <a:endParaRPr lang="en-US" sz="2650" dirty="0"/>
          </a:p>
        </p:txBody>
      </p:sp>
      <p:sp>
        <p:nvSpPr>
          <p:cNvPr id="7" name="Shape 5"/>
          <p:cNvSpPr/>
          <p:nvPr/>
        </p:nvSpPr>
        <p:spPr>
          <a:xfrm>
            <a:off x="502920" y="1188720"/>
            <a:ext cx="11109960" cy="0"/>
          </a:xfrm>
          <a:prstGeom prst="line">
            <a:avLst/>
          </a:prstGeom>
          <a:noFill/>
          <a:ln w="12700">
            <a:solidFill>
              <a:srgbClr val="3D5A80"/>
            </a:solidFill>
            <a:prstDash val="solid"/>
          </a:ln>
        </p:spPr>
      </p:sp>
      <p:sp>
        <p:nvSpPr>
          <p:cNvPr id="8" name="Text 6"/>
          <p:cNvSpPr/>
          <p:nvPr/>
        </p:nvSpPr>
        <p:spPr>
          <a:xfrm>
            <a:off x="713232" y="1572768"/>
            <a:ext cx="5440680" cy="4251960"/>
          </a:xfrm>
          <a:prstGeom prst="rect">
            <a:avLst/>
          </a:prstGeom>
          <a:noFill/>
          <a:ln/>
        </p:spPr>
        <p:txBody>
          <a:bodyPr wrap="square" lIns="1016" tIns="1016" rIns="1016" bIns="1016" rtlCol="0" anchor="t">
            <a:normAutofit/>
          </a:bodyPr>
          <a:lstStyle/>
          <a:p>
            <a:pPr indent="0" marL="0">
              <a:buNone/>
            </a:pPr>
            <a:r>
              <a:rPr lang="en-US" sz="1650" dirty="0">
                <a:solidFill>
                  <a:srgbClr val="1E293B"/>
                </a:solidFill>
                <a:latin typeface="Aptos" pitchFamily="34" charset="0"/>
                <a:ea typeface="Aptos" pitchFamily="34" charset="-122"/>
                <a:cs typeface="Aptos" pitchFamily="34" charset="-120"/>
              </a:rPr>
              <a:t>• Earlier chapters searched over states and actions</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Chapter 7 used propositional sentences for logical agents</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Chapter 8 asks how to represent worlds with many objects</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The answer is a language with objects, relations, functions, and quantifiers</a:t>
            </a:r>
            <a:endParaRPr lang="en-US" sz="1650" dirty="0"/>
          </a:p>
        </p:txBody>
      </p:sp>
      <p:sp>
        <p:nvSpPr>
          <p:cNvPr id="9" name="Shape 7"/>
          <p:cNvSpPr/>
          <p:nvPr/>
        </p:nvSpPr>
        <p:spPr>
          <a:xfrm>
            <a:off x="6446520" y="1572768"/>
            <a:ext cx="5074920" cy="1234440"/>
          </a:xfrm>
          <a:prstGeom prst="roundRect">
            <a:avLst>
              <a:gd name="adj" fmla="val 5926"/>
            </a:avLst>
          </a:prstGeom>
          <a:solidFill>
            <a:srgbClr val="FFF6D9"/>
          </a:solidFill>
          <a:ln w="12700">
            <a:solidFill>
              <a:srgbClr val="F4A261"/>
            </a:solidFill>
            <a:prstDash val="solid"/>
          </a:ln>
        </p:spPr>
      </p:sp>
      <p:sp>
        <p:nvSpPr>
          <p:cNvPr id="10" name="Text 8"/>
          <p:cNvSpPr/>
          <p:nvPr/>
        </p:nvSpPr>
        <p:spPr>
          <a:xfrm>
            <a:off x="6629400" y="1709928"/>
            <a:ext cx="4709160" cy="219456"/>
          </a:xfrm>
          <a:prstGeom prst="rect">
            <a:avLst/>
          </a:prstGeom>
          <a:noFill/>
          <a:ln/>
        </p:spPr>
        <p:txBody>
          <a:bodyPr wrap="square" lIns="0" tIns="0" rIns="0" bIns="0" rtlCol="0" anchor="ctr"/>
          <a:lstStyle/>
          <a:p>
            <a:pPr indent="0" marL="0">
              <a:buNone/>
            </a:pPr>
            <a:r>
              <a:rPr lang="en-US" sz="950" b="1" dirty="0">
                <a:solidFill>
                  <a:srgbClr val="B0005D"/>
                </a:solidFill>
              </a:rPr>
              <a:t>ANALOGY</a:t>
            </a:r>
            <a:endParaRPr lang="en-US" sz="950" dirty="0"/>
          </a:p>
        </p:txBody>
      </p:sp>
      <p:sp>
        <p:nvSpPr>
          <p:cNvPr id="11" name="Text 9"/>
          <p:cNvSpPr/>
          <p:nvPr/>
        </p:nvSpPr>
        <p:spPr>
          <a:xfrm>
            <a:off x="6629400" y="1984248"/>
            <a:ext cx="4709160" cy="731520"/>
          </a:xfrm>
          <a:prstGeom prst="rect">
            <a:avLst/>
          </a:prstGeom>
          <a:noFill/>
          <a:ln/>
        </p:spPr>
        <p:txBody>
          <a:bodyPr wrap="square" lIns="254" tIns="254" rIns="254" bIns="254" rtlCol="0" anchor="t">
            <a:normAutofit/>
          </a:bodyPr>
          <a:lstStyle/>
          <a:p>
            <a:pPr indent="0" marL="0">
              <a:buNone/>
            </a:pPr>
            <a:r>
              <a:rPr lang="en-US" sz="1330" dirty="0">
                <a:solidFill>
                  <a:srgbClr val="1E293B"/>
                </a:solidFill>
              </a:rPr>
              <a:t>Search is like navigating a map. First-order logic is like writing the map legend: what kinds of things exist, how they connect, and what rules hold everywhere.</a:t>
            </a:r>
            <a:endParaRPr lang="en-US" sz="1330" dirty="0"/>
          </a:p>
        </p:txBody>
      </p:sp>
      <p:sp>
        <p:nvSpPr>
          <p:cNvPr id="12" name="Shape 10"/>
          <p:cNvSpPr/>
          <p:nvPr/>
        </p:nvSpPr>
        <p:spPr>
          <a:xfrm>
            <a:off x="6446520" y="2999232"/>
            <a:ext cx="5074920" cy="841248"/>
          </a:xfrm>
          <a:prstGeom prst="roundRect">
            <a:avLst>
              <a:gd name="adj" fmla="val 8696"/>
            </a:avLst>
          </a:prstGeom>
          <a:solidFill>
            <a:srgbClr val="FFFFFF">
              <a:alpha val="97000"/>
            </a:srgbClr>
          </a:solidFill>
          <a:ln w="12700">
            <a:solidFill>
              <a:srgbClr val="007C89"/>
            </a:solidFill>
            <a:prstDash val="solid"/>
          </a:ln>
        </p:spPr>
      </p:sp>
      <p:sp>
        <p:nvSpPr>
          <p:cNvPr id="13" name="Text 11"/>
          <p:cNvSpPr/>
          <p:nvPr/>
        </p:nvSpPr>
        <p:spPr>
          <a:xfrm>
            <a:off x="6611112" y="3127248"/>
            <a:ext cx="4745736" cy="658368"/>
          </a:xfrm>
          <a:prstGeom prst="rect">
            <a:avLst/>
          </a:prstGeom>
          <a:noFill/>
          <a:ln/>
        </p:spPr>
        <p:txBody>
          <a:bodyPr wrap="square" lIns="0" tIns="0" rIns="0" bIns="0" rtlCol="0" anchor="ctr">
            <a:normAutofit/>
          </a:bodyPr>
          <a:lstStyle/>
          <a:p>
            <a:pPr algn="ctr" indent="0" marL="0">
              <a:buNone/>
            </a:pPr>
            <a:r>
              <a:rPr lang="en-US" sz="2000" b="1" dirty="0">
                <a:solidFill>
                  <a:srgbClr val="005088"/>
                </a:solidFill>
                <a:latin typeface="Cambria Math" pitchFamily="34" charset="0"/>
                <a:ea typeface="Cambria Math" pitchFamily="34" charset="-122"/>
                <a:cs typeface="Cambria Math" pitchFamily="34" charset="-120"/>
              </a:rPr>
              <a:t>representation → inference → action</a:t>
            </a:r>
            <a:endParaRPr lang="en-US" sz="2000" dirty="0"/>
          </a:p>
        </p:txBody>
      </p:sp>
      <p:sp>
        <p:nvSpPr>
          <p:cNvPr id="14" name="Shape 12"/>
          <p:cNvSpPr/>
          <p:nvPr/>
        </p:nvSpPr>
        <p:spPr>
          <a:xfrm>
            <a:off x="6446520" y="4041648"/>
            <a:ext cx="5074920" cy="859536"/>
          </a:xfrm>
          <a:prstGeom prst="roundRect">
            <a:avLst>
              <a:gd name="adj" fmla="val 8511"/>
            </a:avLst>
          </a:prstGeom>
          <a:solidFill>
            <a:srgbClr val="FFE4E6"/>
          </a:solidFill>
          <a:ln w="12700">
            <a:solidFill>
              <a:srgbClr val="FDA4AF"/>
            </a:solidFill>
            <a:prstDash val="solid"/>
          </a:ln>
        </p:spPr>
      </p:sp>
      <p:sp>
        <p:nvSpPr>
          <p:cNvPr id="15" name="Text 13"/>
          <p:cNvSpPr/>
          <p:nvPr/>
        </p:nvSpPr>
        <p:spPr>
          <a:xfrm>
            <a:off x="6629400" y="4178808"/>
            <a:ext cx="4709160" cy="219456"/>
          </a:xfrm>
          <a:prstGeom prst="rect">
            <a:avLst/>
          </a:prstGeom>
          <a:noFill/>
          <a:ln/>
        </p:spPr>
        <p:txBody>
          <a:bodyPr wrap="square" lIns="0" tIns="0" rIns="0" bIns="0" rtlCol="0" anchor="ctr"/>
          <a:lstStyle/>
          <a:p>
            <a:pPr indent="0" marL="0">
              <a:buNone/>
            </a:pPr>
            <a:r>
              <a:rPr lang="en-US" sz="950" b="1" dirty="0">
                <a:solidFill>
                  <a:srgbClr val="C1121F"/>
                </a:solidFill>
              </a:rPr>
              <a:t>STUDENT GOTCHA</a:t>
            </a:r>
            <a:endParaRPr lang="en-US" sz="950" dirty="0"/>
          </a:p>
        </p:txBody>
      </p:sp>
      <p:sp>
        <p:nvSpPr>
          <p:cNvPr id="16" name="Text 14"/>
          <p:cNvSpPr/>
          <p:nvPr/>
        </p:nvSpPr>
        <p:spPr>
          <a:xfrm>
            <a:off x="6629400" y="4453128"/>
            <a:ext cx="4709160" cy="356616"/>
          </a:xfrm>
          <a:prstGeom prst="rect">
            <a:avLst/>
          </a:prstGeom>
          <a:noFill/>
          <a:ln/>
        </p:spPr>
        <p:txBody>
          <a:bodyPr wrap="square" lIns="254" tIns="254" rIns="254" bIns="254" rtlCol="0" anchor="t">
            <a:normAutofit/>
          </a:bodyPr>
          <a:lstStyle/>
          <a:p>
            <a:pPr indent="0" marL="0">
              <a:buNone/>
            </a:pPr>
            <a:r>
              <a:rPr lang="en-US" sz="1250" dirty="0">
                <a:solidFill>
                  <a:srgbClr val="1E293B"/>
                </a:solidFill>
              </a:rPr>
              <a:t>Students may ask why a search algorithm is not enough. Search needs states; logic explains what the states mean and what follows from partial knowledge.</a:t>
            </a:r>
            <a:endParaRPr lang="en-US" sz="1250" dirty="0"/>
          </a:p>
        </p:txBody>
      </p:sp>
      <p:sp>
        <p:nvSpPr>
          <p:cNvPr id="17" name="Shape 15"/>
          <p:cNvSpPr/>
          <p:nvPr/>
        </p:nvSpPr>
        <p:spPr>
          <a:xfrm>
            <a:off x="6446520" y="5074920"/>
            <a:ext cx="5074920" cy="841248"/>
          </a:xfrm>
          <a:prstGeom prst="roundRect">
            <a:avLst>
              <a:gd name="adj" fmla="val 8696"/>
            </a:avLst>
          </a:prstGeom>
          <a:solidFill>
            <a:srgbClr val="E6FFFA"/>
          </a:solidFill>
          <a:ln w="12700">
            <a:solidFill>
              <a:srgbClr val="2A9D8F"/>
            </a:solidFill>
            <a:prstDash val="solid"/>
          </a:ln>
        </p:spPr>
      </p:sp>
      <p:sp>
        <p:nvSpPr>
          <p:cNvPr id="18" name="Text 16"/>
          <p:cNvSpPr/>
          <p:nvPr/>
        </p:nvSpPr>
        <p:spPr>
          <a:xfrm>
            <a:off x="6629400" y="5212080"/>
            <a:ext cx="4709160" cy="219456"/>
          </a:xfrm>
          <a:prstGeom prst="rect">
            <a:avLst/>
          </a:prstGeom>
          <a:noFill/>
          <a:ln/>
        </p:spPr>
        <p:txBody>
          <a:bodyPr wrap="square" lIns="0" tIns="0" rIns="0" bIns="0" rtlCol="0" anchor="ctr"/>
          <a:lstStyle/>
          <a:p>
            <a:pPr indent="0" marL="0">
              <a:buNone/>
            </a:pPr>
            <a:r>
              <a:rPr lang="en-US" sz="950" b="1" dirty="0">
                <a:solidFill>
                  <a:srgbClr val="007C89"/>
                </a:solidFill>
              </a:rPr>
              <a:t>CLASS CHECK</a:t>
            </a:r>
            <a:endParaRPr lang="en-US" sz="950" dirty="0"/>
          </a:p>
        </p:txBody>
      </p:sp>
      <p:sp>
        <p:nvSpPr>
          <p:cNvPr id="19" name="Text 17"/>
          <p:cNvSpPr/>
          <p:nvPr/>
        </p:nvSpPr>
        <p:spPr>
          <a:xfrm>
            <a:off x="6629400" y="5486400"/>
            <a:ext cx="4709160" cy="338328"/>
          </a:xfrm>
          <a:prstGeom prst="rect">
            <a:avLst/>
          </a:prstGeom>
          <a:noFill/>
          <a:ln/>
        </p:spPr>
        <p:txBody>
          <a:bodyPr wrap="square" lIns="254" tIns="254" rIns="254" bIns="254" rtlCol="0" anchor="t">
            <a:normAutofit/>
          </a:bodyPr>
          <a:lstStyle/>
          <a:p>
            <a:pPr indent="0" marL="0">
              <a:buNone/>
            </a:pPr>
            <a:r>
              <a:rPr lang="en-US" sz="1270" dirty="0">
                <a:solidFill>
                  <a:srgbClr val="1E293B"/>
                </a:solidFill>
              </a:rPr>
              <a:t>Ask: What does a delivery robot need to know besides its route?</a:t>
            </a:r>
            <a:endParaRPr lang="en-US" sz="127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5088"/>
          </a:solidFill>
          <a:ln w="12700">
            <a:solidFill>
              <a:srgbClr val="005088"/>
            </a:solidFill>
            <a:prstDash val="solid"/>
          </a:ln>
        </p:spPr>
      </p:sp>
      <p:sp>
        <p:nvSpPr>
          <p:cNvPr id="3" name="Shape 1"/>
          <p:cNvSpPr/>
          <p:nvPr/>
        </p:nvSpPr>
        <p:spPr>
          <a:xfrm>
            <a:off x="0" y="6729984"/>
            <a:ext cx="12191695" cy="128016"/>
          </a:xfrm>
          <a:prstGeom prst="rect">
            <a:avLst/>
          </a:prstGeom>
          <a:solidFill>
            <a:srgbClr val="005088"/>
          </a:solidFill>
          <a:ln w="12700">
            <a:solidFill>
              <a:srgbClr val="005088"/>
            </a:solidFill>
            <a:prstDash val="solid"/>
          </a:ln>
        </p:spPr>
      </p:sp>
      <p:sp>
        <p:nvSpPr>
          <p:cNvPr id="4" name="Text 2"/>
          <p:cNvSpPr/>
          <p:nvPr/>
        </p:nvSpPr>
        <p:spPr>
          <a:xfrm>
            <a:off x="502920" y="210312"/>
            <a:ext cx="6858000" cy="219456"/>
          </a:xfrm>
          <a:prstGeom prst="rect">
            <a:avLst/>
          </a:prstGeom>
          <a:noFill/>
          <a:ln/>
        </p:spPr>
        <p:txBody>
          <a:bodyPr wrap="square" lIns="0" tIns="0" rIns="0" bIns="0" rtlCol="0" anchor="ctr"/>
          <a:lstStyle/>
          <a:p>
            <a:pPr indent="0" marL="0">
              <a:buNone/>
            </a:pPr>
            <a:r>
              <a:rPr lang="en-US" sz="950" b="1" dirty="0">
                <a:solidFill>
                  <a:srgbClr val="3D5A80"/>
                </a:solidFill>
                <a:latin typeface="Aptos" pitchFamily="34" charset="0"/>
                <a:ea typeface="Aptos" pitchFamily="34" charset="-122"/>
                <a:cs typeface="Aptos" pitchFamily="34" charset="-120"/>
              </a:rPr>
              <a:t>Course map</a:t>
            </a:r>
            <a:endParaRPr lang="en-US" sz="950" dirty="0"/>
          </a:p>
        </p:txBody>
      </p:sp>
      <p:sp>
        <p:nvSpPr>
          <p:cNvPr id="5" name="Text 3"/>
          <p:cNvSpPr/>
          <p:nvPr/>
        </p:nvSpPr>
        <p:spPr>
          <a:xfrm>
            <a:off x="11018520" y="201168"/>
            <a:ext cx="640080" cy="228600"/>
          </a:xfrm>
          <a:prstGeom prst="rect">
            <a:avLst/>
          </a:prstGeom>
          <a:noFill/>
          <a:ln/>
        </p:spPr>
        <p:txBody>
          <a:bodyPr wrap="square" lIns="0" tIns="0" rIns="0" bIns="0" rtlCol="0" anchor="ctr"/>
          <a:lstStyle/>
          <a:p>
            <a:pPr algn="r" indent="0" marL="0">
              <a:buNone/>
            </a:pPr>
            <a:r>
              <a:rPr lang="en-US" sz="900" b="1" dirty="0">
                <a:solidFill>
                  <a:srgbClr val="3D5A80"/>
                </a:solidFill>
              </a:rPr>
              <a:t>05</a:t>
            </a:r>
            <a:endParaRPr lang="en-US" sz="900" dirty="0"/>
          </a:p>
        </p:txBody>
      </p:sp>
      <p:sp>
        <p:nvSpPr>
          <p:cNvPr id="6" name="Text 4"/>
          <p:cNvSpPr/>
          <p:nvPr/>
        </p:nvSpPr>
        <p:spPr>
          <a:xfrm>
            <a:off x="502920" y="566928"/>
            <a:ext cx="11201400" cy="512064"/>
          </a:xfrm>
          <a:prstGeom prst="rect">
            <a:avLst/>
          </a:prstGeom>
          <a:noFill/>
          <a:ln/>
        </p:spPr>
        <p:txBody>
          <a:bodyPr wrap="square" lIns="0" tIns="0" rIns="0" bIns="0" rtlCol="0" anchor="ctr">
            <a:normAutofit/>
          </a:bodyPr>
          <a:lstStyle/>
          <a:p>
            <a:pPr indent="0" marL="0">
              <a:buNone/>
            </a:pPr>
            <a:r>
              <a:rPr lang="en-US" sz="2650" b="1" dirty="0">
                <a:solidFill>
                  <a:srgbClr val="005088"/>
                </a:solidFill>
                <a:latin typeface="Aptos Display" pitchFamily="34" charset="0"/>
                <a:ea typeface="Aptos Display" pitchFamily="34" charset="-122"/>
                <a:cs typeface="Aptos Display" pitchFamily="34" charset="-120"/>
              </a:rPr>
              <a:t>BIG IDEA: STRUCTURED KNOWLEDGE</a:t>
            </a:r>
            <a:endParaRPr lang="en-US" sz="2650" dirty="0"/>
          </a:p>
        </p:txBody>
      </p:sp>
      <p:sp>
        <p:nvSpPr>
          <p:cNvPr id="7" name="Shape 5"/>
          <p:cNvSpPr/>
          <p:nvPr/>
        </p:nvSpPr>
        <p:spPr>
          <a:xfrm>
            <a:off x="502920" y="1188720"/>
            <a:ext cx="11109960" cy="0"/>
          </a:xfrm>
          <a:prstGeom prst="line">
            <a:avLst/>
          </a:prstGeom>
          <a:noFill/>
          <a:ln w="12700">
            <a:solidFill>
              <a:srgbClr val="3D5A80"/>
            </a:solidFill>
            <a:prstDash val="solid"/>
          </a:ln>
        </p:spPr>
      </p:sp>
      <p:sp>
        <p:nvSpPr>
          <p:cNvPr id="8" name="Text 6"/>
          <p:cNvSpPr/>
          <p:nvPr/>
        </p:nvSpPr>
        <p:spPr>
          <a:xfrm>
            <a:off x="713232" y="1572768"/>
            <a:ext cx="5440680" cy="4251960"/>
          </a:xfrm>
          <a:prstGeom prst="rect">
            <a:avLst/>
          </a:prstGeom>
          <a:noFill/>
          <a:ln/>
        </p:spPr>
        <p:txBody>
          <a:bodyPr wrap="square" lIns="1016" tIns="1016" rIns="1016" bIns="1016" rtlCol="0" anchor="t">
            <a:normAutofit/>
          </a:bodyPr>
          <a:lstStyle/>
          <a:p>
            <a:pPr indent="0" marL="0">
              <a:buNone/>
            </a:pPr>
            <a:r>
              <a:rPr lang="en-US" sz="1650" dirty="0">
                <a:solidFill>
                  <a:srgbClr val="1E293B"/>
                </a:solidFill>
                <a:latin typeface="Aptos" pitchFamily="34" charset="0"/>
                <a:ea typeface="Aptos" pitchFamily="34" charset="-122"/>
                <a:cs typeface="Aptos" pitchFamily="34" charset="-120"/>
              </a:rPr>
              <a:t>• Atomic representation treats a state as one indivisible label</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Factored representation describes variables and values</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Structured representation describes objects and relationships</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First-order logic is a structured representation language</a:t>
            </a:r>
            <a:endParaRPr lang="en-US" sz="1650" dirty="0"/>
          </a:p>
        </p:txBody>
      </p:sp>
      <p:sp>
        <p:nvSpPr>
          <p:cNvPr id="9" name="Shape 7"/>
          <p:cNvSpPr/>
          <p:nvPr/>
        </p:nvSpPr>
        <p:spPr>
          <a:xfrm>
            <a:off x="6446520" y="1572768"/>
            <a:ext cx="5074920" cy="1234440"/>
          </a:xfrm>
          <a:prstGeom prst="roundRect">
            <a:avLst>
              <a:gd name="adj" fmla="val 5926"/>
            </a:avLst>
          </a:prstGeom>
          <a:solidFill>
            <a:srgbClr val="FFF6D9"/>
          </a:solidFill>
          <a:ln w="12700">
            <a:solidFill>
              <a:srgbClr val="F4A261"/>
            </a:solidFill>
            <a:prstDash val="solid"/>
          </a:ln>
        </p:spPr>
      </p:sp>
      <p:sp>
        <p:nvSpPr>
          <p:cNvPr id="10" name="Text 8"/>
          <p:cNvSpPr/>
          <p:nvPr/>
        </p:nvSpPr>
        <p:spPr>
          <a:xfrm>
            <a:off x="6629400" y="1709928"/>
            <a:ext cx="4709160" cy="219456"/>
          </a:xfrm>
          <a:prstGeom prst="rect">
            <a:avLst/>
          </a:prstGeom>
          <a:noFill/>
          <a:ln/>
        </p:spPr>
        <p:txBody>
          <a:bodyPr wrap="square" lIns="0" tIns="0" rIns="0" bIns="0" rtlCol="0" anchor="ctr"/>
          <a:lstStyle/>
          <a:p>
            <a:pPr indent="0" marL="0">
              <a:buNone/>
            </a:pPr>
            <a:r>
              <a:rPr lang="en-US" sz="950" b="1" dirty="0">
                <a:solidFill>
                  <a:srgbClr val="B0005D"/>
                </a:solidFill>
              </a:rPr>
              <a:t>ANALOGY</a:t>
            </a:r>
            <a:endParaRPr lang="en-US" sz="950" dirty="0"/>
          </a:p>
        </p:txBody>
      </p:sp>
      <p:sp>
        <p:nvSpPr>
          <p:cNvPr id="11" name="Text 9"/>
          <p:cNvSpPr/>
          <p:nvPr/>
        </p:nvSpPr>
        <p:spPr>
          <a:xfrm>
            <a:off x="6629400" y="1984248"/>
            <a:ext cx="4709160" cy="731520"/>
          </a:xfrm>
          <a:prstGeom prst="rect">
            <a:avLst/>
          </a:prstGeom>
          <a:noFill/>
          <a:ln/>
        </p:spPr>
        <p:txBody>
          <a:bodyPr wrap="square" lIns="254" tIns="254" rIns="254" bIns="254" rtlCol="0" anchor="t">
            <a:normAutofit/>
          </a:bodyPr>
          <a:lstStyle/>
          <a:p>
            <a:pPr indent="0" marL="0">
              <a:buNone/>
            </a:pPr>
            <a:r>
              <a:rPr lang="en-US" sz="1330" dirty="0">
                <a:solidFill>
                  <a:srgbClr val="1E293B"/>
                </a:solidFill>
              </a:rPr>
              <a:t>A contact list knows names and phone numbers. A social network also knows friendships, groups, messages, and who is connected to whom.</a:t>
            </a:r>
            <a:endParaRPr lang="en-US" sz="1330" dirty="0"/>
          </a:p>
        </p:txBody>
      </p:sp>
      <p:sp>
        <p:nvSpPr>
          <p:cNvPr id="12" name="Shape 10"/>
          <p:cNvSpPr/>
          <p:nvPr/>
        </p:nvSpPr>
        <p:spPr>
          <a:xfrm>
            <a:off x="6446520" y="2999232"/>
            <a:ext cx="5074920" cy="841248"/>
          </a:xfrm>
          <a:prstGeom prst="roundRect">
            <a:avLst>
              <a:gd name="adj" fmla="val 8696"/>
            </a:avLst>
          </a:prstGeom>
          <a:solidFill>
            <a:srgbClr val="FFFFFF">
              <a:alpha val="97000"/>
            </a:srgbClr>
          </a:solidFill>
          <a:ln w="12700">
            <a:solidFill>
              <a:srgbClr val="007C89"/>
            </a:solidFill>
            <a:prstDash val="solid"/>
          </a:ln>
        </p:spPr>
      </p:sp>
      <p:sp>
        <p:nvSpPr>
          <p:cNvPr id="13" name="Text 11"/>
          <p:cNvSpPr/>
          <p:nvPr/>
        </p:nvSpPr>
        <p:spPr>
          <a:xfrm>
            <a:off x="6611112" y="3127248"/>
            <a:ext cx="4745736" cy="658368"/>
          </a:xfrm>
          <a:prstGeom prst="rect">
            <a:avLst/>
          </a:prstGeom>
          <a:noFill/>
          <a:ln/>
        </p:spPr>
        <p:txBody>
          <a:bodyPr wrap="square" lIns="0" tIns="0" rIns="0" bIns="0" rtlCol="0" anchor="ctr">
            <a:normAutofit/>
          </a:bodyPr>
          <a:lstStyle/>
          <a:p>
            <a:pPr algn="ctr" indent="0" marL="0">
              <a:buNone/>
            </a:pPr>
            <a:r>
              <a:rPr lang="en-US" sz="1800" b="1" dirty="0">
                <a:solidFill>
                  <a:srgbClr val="005088"/>
                </a:solidFill>
                <a:latin typeface="Cambria Math" pitchFamily="34" charset="0"/>
                <a:ea typeface="Cambria Math" pitchFamily="34" charset="-122"/>
                <a:cs typeface="Cambria Math" pitchFamily="34" charset="-120"/>
              </a:rPr>
              <a:t>objects + relations + rules = structured knowledge</a:t>
            </a:r>
            <a:endParaRPr lang="en-US" sz="1800" dirty="0"/>
          </a:p>
        </p:txBody>
      </p:sp>
      <p:sp>
        <p:nvSpPr>
          <p:cNvPr id="14" name="Shape 12"/>
          <p:cNvSpPr/>
          <p:nvPr/>
        </p:nvSpPr>
        <p:spPr>
          <a:xfrm>
            <a:off x="6446520" y="4041648"/>
            <a:ext cx="5074920" cy="859536"/>
          </a:xfrm>
          <a:prstGeom prst="roundRect">
            <a:avLst>
              <a:gd name="adj" fmla="val 8511"/>
            </a:avLst>
          </a:prstGeom>
          <a:solidFill>
            <a:srgbClr val="FFE4E6"/>
          </a:solidFill>
          <a:ln w="12700">
            <a:solidFill>
              <a:srgbClr val="FDA4AF"/>
            </a:solidFill>
            <a:prstDash val="solid"/>
          </a:ln>
        </p:spPr>
      </p:sp>
      <p:sp>
        <p:nvSpPr>
          <p:cNvPr id="15" name="Text 13"/>
          <p:cNvSpPr/>
          <p:nvPr/>
        </p:nvSpPr>
        <p:spPr>
          <a:xfrm>
            <a:off x="6629400" y="4178808"/>
            <a:ext cx="4709160" cy="219456"/>
          </a:xfrm>
          <a:prstGeom prst="rect">
            <a:avLst/>
          </a:prstGeom>
          <a:noFill/>
          <a:ln/>
        </p:spPr>
        <p:txBody>
          <a:bodyPr wrap="square" lIns="0" tIns="0" rIns="0" bIns="0" rtlCol="0" anchor="ctr"/>
          <a:lstStyle/>
          <a:p>
            <a:pPr indent="0" marL="0">
              <a:buNone/>
            </a:pPr>
            <a:r>
              <a:rPr lang="en-US" sz="950" b="1" dirty="0">
                <a:solidFill>
                  <a:srgbClr val="C1121F"/>
                </a:solidFill>
              </a:rPr>
              <a:t>STUDENT GOTCHA</a:t>
            </a:r>
            <a:endParaRPr lang="en-US" sz="950" dirty="0"/>
          </a:p>
        </p:txBody>
      </p:sp>
      <p:sp>
        <p:nvSpPr>
          <p:cNvPr id="16" name="Text 14"/>
          <p:cNvSpPr/>
          <p:nvPr/>
        </p:nvSpPr>
        <p:spPr>
          <a:xfrm>
            <a:off x="6629400" y="4453128"/>
            <a:ext cx="4709160" cy="356616"/>
          </a:xfrm>
          <a:prstGeom prst="rect">
            <a:avLst/>
          </a:prstGeom>
          <a:noFill/>
          <a:ln/>
        </p:spPr>
        <p:txBody>
          <a:bodyPr wrap="square" lIns="254" tIns="254" rIns="254" bIns="254" rtlCol="0" anchor="t">
            <a:normAutofit/>
          </a:bodyPr>
          <a:lstStyle/>
          <a:p>
            <a:pPr indent="0" marL="0">
              <a:buNone/>
            </a:pPr>
            <a:r>
              <a:rPr lang="en-US" sz="1250" dirty="0">
                <a:solidFill>
                  <a:srgbClr val="1E293B"/>
                </a:solidFill>
              </a:rPr>
              <a:t>Students often believe more symbols automatically mean more intelligence. The power comes from modeling reusable structure, not from notation alone.</a:t>
            </a:r>
            <a:endParaRPr lang="en-US" sz="1250" dirty="0"/>
          </a:p>
        </p:txBody>
      </p:sp>
      <p:sp>
        <p:nvSpPr>
          <p:cNvPr id="17" name="Shape 15"/>
          <p:cNvSpPr/>
          <p:nvPr/>
        </p:nvSpPr>
        <p:spPr>
          <a:xfrm>
            <a:off x="6446520" y="5074920"/>
            <a:ext cx="5074920" cy="841248"/>
          </a:xfrm>
          <a:prstGeom prst="roundRect">
            <a:avLst>
              <a:gd name="adj" fmla="val 8696"/>
            </a:avLst>
          </a:prstGeom>
          <a:solidFill>
            <a:srgbClr val="E6FFFA"/>
          </a:solidFill>
          <a:ln w="12700">
            <a:solidFill>
              <a:srgbClr val="2A9D8F"/>
            </a:solidFill>
            <a:prstDash val="solid"/>
          </a:ln>
        </p:spPr>
      </p:sp>
      <p:sp>
        <p:nvSpPr>
          <p:cNvPr id="18" name="Text 16"/>
          <p:cNvSpPr/>
          <p:nvPr/>
        </p:nvSpPr>
        <p:spPr>
          <a:xfrm>
            <a:off x="6629400" y="5212080"/>
            <a:ext cx="4709160" cy="219456"/>
          </a:xfrm>
          <a:prstGeom prst="rect">
            <a:avLst/>
          </a:prstGeom>
          <a:noFill/>
          <a:ln/>
        </p:spPr>
        <p:txBody>
          <a:bodyPr wrap="square" lIns="0" tIns="0" rIns="0" bIns="0" rtlCol="0" anchor="ctr"/>
          <a:lstStyle/>
          <a:p>
            <a:pPr indent="0" marL="0">
              <a:buNone/>
            </a:pPr>
            <a:r>
              <a:rPr lang="en-US" sz="950" b="1" dirty="0">
                <a:solidFill>
                  <a:srgbClr val="007C89"/>
                </a:solidFill>
              </a:rPr>
              <a:t>CLASS CHECK</a:t>
            </a:r>
            <a:endParaRPr lang="en-US" sz="950" dirty="0"/>
          </a:p>
        </p:txBody>
      </p:sp>
      <p:sp>
        <p:nvSpPr>
          <p:cNvPr id="19" name="Text 17"/>
          <p:cNvSpPr/>
          <p:nvPr/>
        </p:nvSpPr>
        <p:spPr>
          <a:xfrm>
            <a:off x="6629400" y="5486400"/>
            <a:ext cx="4709160" cy="338328"/>
          </a:xfrm>
          <a:prstGeom prst="rect">
            <a:avLst/>
          </a:prstGeom>
          <a:noFill/>
          <a:ln/>
        </p:spPr>
        <p:txBody>
          <a:bodyPr wrap="square" lIns="254" tIns="254" rIns="254" bIns="254" rtlCol="0" anchor="t">
            <a:normAutofit/>
          </a:bodyPr>
          <a:lstStyle/>
          <a:p>
            <a:pPr indent="0" marL="0">
              <a:buNone/>
            </a:pPr>
            <a:r>
              <a:rPr lang="en-US" sz="1270" dirty="0">
                <a:solidFill>
                  <a:srgbClr val="1E293B"/>
                </a:solidFill>
              </a:rPr>
              <a:t>Have students list objects and relationships in a campus parking lot.</a:t>
            </a:r>
            <a:endParaRPr lang="en-US" sz="127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5088"/>
          </a:solidFill>
          <a:ln w="12700">
            <a:solidFill>
              <a:srgbClr val="005088"/>
            </a:solidFill>
            <a:prstDash val="solid"/>
          </a:ln>
        </p:spPr>
      </p:sp>
      <p:sp>
        <p:nvSpPr>
          <p:cNvPr id="3" name="Shape 1"/>
          <p:cNvSpPr/>
          <p:nvPr/>
        </p:nvSpPr>
        <p:spPr>
          <a:xfrm>
            <a:off x="0" y="6729984"/>
            <a:ext cx="12191695" cy="128016"/>
          </a:xfrm>
          <a:prstGeom prst="rect">
            <a:avLst/>
          </a:prstGeom>
          <a:solidFill>
            <a:srgbClr val="005088"/>
          </a:solidFill>
          <a:ln w="12700">
            <a:solidFill>
              <a:srgbClr val="005088"/>
            </a:solidFill>
            <a:prstDash val="solid"/>
          </a:ln>
        </p:spPr>
      </p:sp>
      <p:sp>
        <p:nvSpPr>
          <p:cNvPr id="4" name="Text 2"/>
          <p:cNvSpPr/>
          <p:nvPr/>
        </p:nvSpPr>
        <p:spPr>
          <a:xfrm>
            <a:off x="502920" y="210312"/>
            <a:ext cx="6858000" cy="219456"/>
          </a:xfrm>
          <a:prstGeom prst="rect">
            <a:avLst/>
          </a:prstGeom>
          <a:noFill/>
          <a:ln/>
        </p:spPr>
        <p:txBody>
          <a:bodyPr wrap="square" lIns="0" tIns="0" rIns="0" bIns="0" rtlCol="0" anchor="ctr"/>
          <a:lstStyle/>
          <a:p>
            <a:pPr indent="0" marL="0">
              <a:buNone/>
            </a:pPr>
            <a:r>
              <a:rPr lang="en-US" sz="950" b="1" dirty="0">
                <a:solidFill>
                  <a:srgbClr val="3D5A80"/>
                </a:solidFill>
                <a:latin typeface="Aptos" pitchFamily="34" charset="0"/>
                <a:ea typeface="Aptos" pitchFamily="34" charset="-122"/>
                <a:cs typeface="Aptos" pitchFamily="34" charset="-120"/>
              </a:rPr>
              <a:t>Course map</a:t>
            </a:r>
            <a:endParaRPr lang="en-US" sz="950" dirty="0"/>
          </a:p>
        </p:txBody>
      </p:sp>
      <p:sp>
        <p:nvSpPr>
          <p:cNvPr id="5" name="Text 3"/>
          <p:cNvSpPr/>
          <p:nvPr/>
        </p:nvSpPr>
        <p:spPr>
          <a:xfrm>
            <a:off x="11018520" y="201168"/>
            <a:ext cx="640080" cy="228600"/>
          </a:xfrm>
          <a:prstGeom prst="rect">
            <a:avLst/>
          </a:prstGeom>
          <a:noFill/>
          <a:ln/>
        </p:spPr>
        <p:txBody>
          <a:bodyPr wrap="square" lIns="0" tIns="0" rIns="0" bIns="0" rtlCol="0" anchor="ctr"/>
          <a:lstStyle/>
          <a:p>
            <a:pPr algn="r" indent="0" marL="0">
              <a:buNone/>
            </a:pPr>
            <a:r>
              <a:rPr lang="en-US" sz="900" b="1" dirty="0">
                <a:solidFill>
                  <a:srgbClr val="3D5A80"/>
                </a:solidFill>
              </a:rPr>
              <a:t>06</a:t>
            </a:r>
            <a:endParaRPr lang="en-US" sz="900" dirty="0"/>
          </a:p>
        </p:txBody>
      </p:sp>
      <p:sp>
        <p:nvSpPr>
          <p:cNvPr id="6" name="Text 4"/>
          <p:cNvSpPr/>
          <p:nvPr/>
        </p:nvSpPr>
        <p:spPr>
          <a:xfrm>
            <a:off x="502920" y="566928"/>
            <a:ext cx="11201400" cy="512064"/>
          </a:xfrm>
          <a:prstGeom prst="rect">
            <a:avLst/>
          </a:prstGeom>
          <a:noFill/>
          <a:ln/>
        </p:spPr>
        <p:txBody>
          <a:bodyPr wrap="square" lIns="0" tIns="0" rIns="0" bIns="0" rtlCol="0" anchor="ctr">
            <a:normAutofit/>
          </a:bodyPr>
          <a:lstStyle/>
          <a:p>
            <a:pPr indent="0" marL="0">
              <a:buNone/>
            </a:pPr>
            <a:r>
              <a:rPr lang="en-US" sz="2650" b="1" dirty="0">
                <a:solidFill>
                  <a:srgbClr val="005088"/>
                </a:solidFill>
                <a:latin typeface="Aptos Display" pitchFamily="34" charset="0"/>
                <a:ea typeface="Aptos Display" pitchFamily="34" charset="-122"/>
                <a:cs typeface="Aptos Display" pitchFamily="34" charset="-120"/>
              </a:rPr>
              <a:t>WHY INTELLIGENT AGENTS NEED RICHER LANGUAGE</a:t>
            </a:r>
            <a:endParaRPr lang="en-US" sz="2650" dirty="0"/>
          </a:p>
        </p:txBody>
      </p:sp>
      <p:sp>
        <p:nvSpPr>
          <p:cNvPr id="7" name="Shape 5"/>
          <p:cNvSpPr/>
          <p:nvPr/>
        </p:nvSpPr>
        <p:spPr>
          <a:xfrm>
            <a:off x="502920" y="1188720"/>
            <a:ext cx="11109960" cy="0"/>
          </a:xfrm>
          <a:prstGeom prst="line">
            <a:avLst/>
          </a:prstGeom>
          <a:noFill/>
          <a:ln w="12700">
            <a:solidFill>
              <a:srgbClr val="3D5A80"/>
            </a:solidFill>
            <a:prstDash val="solid"/>
          </a:ln>
        </p:spPr>
      </p:sp>
      <p:sp>
        <p:nvSpPr>
          <p:cNvPr id="8" name="Text 6"/>
          <p:cNvSpPr/>
          <p:nvPr/>
        </p:nvSpPr>
        <p:spPr>
          <a:xfrm>
            <a:off x="713232" y="1572768"/>
            <a:ext cx="5440680" cy="4251960"/>
          </a:xfrm>
          <a:prstGeom prst="rect">
            <a:avLst/>
          </a:prstGeom>
          <a:noFill/>
          <a:ln/>
        </p:spPr>
        <p:txBody>
          <a:bodyPr wrap="square" lIns="1016" tIns="1016" rIns="1016" bIns="1016" rtlCol="0" anchor="t">
            <a:normAutofit/>
          </a:bodyPr>
          <a:lstStyle/>
          <a:p>
            <a:pPr indent="0" marL="0">
              <a:buNone/>
            </a:pPr>
            <a:r>
              <a:rPr lang="en-US" sz="1650" dirty="0">
                <a:solidFill>
                  <a:srgbClr val="1E293B"/>
                </a:solidFill>
                <a:latin typeface="Aptos" pitchFamily="34" charset="0"/>
                <a:ea typeface="Aptos" pitchFamily="34" charset="-122"/>
                <a:cs typeface="Aptos" pitchFamily="34" charset="-120"/>
              </a:rPr>
              <a:t>• Agents must reason about more than a single current state</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They need general facts, not only stored observations</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They need to infer new facts from old facts</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They need to accept new goals described in words or symbols</a:t>
            </a:r>
            <a:endParaRPr lang="en-US" sz="1650" dirty="0"/>
          </a:p>
        </p:txBody>
      </p:sp>
      <p:sp>
        <p:nvSpPr>
          <p:cNvPr id="9" name="Shape 7"/>
          <p:cNvSpPr/>
          <p:nvPr/>
        </p:nvSpPr>
        <p:spPr>
          <a:xfrm>
            <a:off x="6446520" y="1572768"/>
            <a:ext cx="5074920" cy="1234440"/>
          </a:xfrm>
          <a:prstGeom prst="roundRect">
            <a:avLst>
              <a:gd name="adj" fmla="val 5926"/>
            </a:avLst>
          </a:prstGeom>
          <a:solidFill>
            <a:srgbClr val="FFF6D9"/>
          </a:solidFill>
          <a:ln w="12700">
            <a:solidFill>
              <a:srgbClr val="F4A261"/>
            </a:solidFill>
            <a:prstDash val="solid"/>
          </a:ln>
        </p:spPr>
      </p:sp>
      <p:sp>
        <p:nvSpPr>
          <p:cNvPr id="10" name="Text 8"/>
          <p:cNvSpPr/>
          <p:nvPr/>
        </p:nvSpPr>
        <p:spPr>
          <a:xfrm>
            <a:off x="6629400" y="1709928"/>
            <a:ext cx="4709160" cy="219456"/>
          </a:xfrm>
          <a:prstGeom prst="rect">
            <a:avLst/>
          </a:prstGeom>
          <a:noFill/>
          <a:ln/>
        </p:spPr>
        <p:txBody>
          <a:bodyPr wrap="square" lIns="0" tIns="0" rIns="0" bIns="0" rtlCol="0" anchor="ctr"/>
          <a:lstStyle/>
          <a:p>
            <a:pPr indent="0" marL="0">
              <a:buNone/>
            </a:pPr>
            <a:r>
              <a:rPr lang="en-US" sz="950" b="1" dirty="0">
                <a:solidFill>
                  <a:srgbClr val="B0005D"/>
                </a:solidFill>
              </a:rPr>
              <a:t>ANALOGY</a:t>
            </a:r>
            <a:endParaRPr lang="en-US" sz="950" dirty="0"/>
          </a:p>
        </p:txBody>
      </p:sp>
      <p:sp>
        <p:nvSpPr>
          <p:cNvPr id="11" name="Text 9"/>
          <p:cNvSpPr/>
          <p:nvPr/>
        </p:nvSpPr>
        <p:spPr>
          <a:xfrm>
            <a:off x="6629400" y="1984248"/>
            <a:ext cx="4709160" cy="731520"/>
          </a:xfrm>
          <a:prstGeom prst="rect">
            <a:avLst/>
          </a:prstGeom>
          <a:noFill/>
          <a:ln/>
        </p:spPr>
        <p:txBody>
          <a:bodyPr wrap="square" lIns="254" tIns="254" rIns="254" bIns="254" rtlCol="0" anchor="t">
            <a:normAutofit/>
          </a:bodyPr>
          <a:lstStyle/>
          <a:p>
            <a:pPr indent="0" marL="0">
              <a:buNone/>
            </a:pPr>
            <a:r>
              <a:rPr lang="en-US" sz="1330" dirty="0">
                <a:solidFill>
                  <a:srgbClr val="1E293B"/>
                </a:solidFill>
              </a:rPr>
              <a:t>A novice driver memorizes one route. An experienced driver knows roads, bridges, traffic rules, landmarks, and exceptions.</a:t>
            </a:r>
            <a:endParaRPr lang="en-US" sz="1330" dirty="0"/>
          </a:p>
        </p:txBody>
      </p:sp>
      <p:sp>
        <p:nvSpPr>
          <p:cNvPr id="12" name="Shape 10"/>
          <p:cNvSpPr/>
          <p:nvPr/>
        </p:nvSpPr>
        <p:spPr>
          <a:xfrm>
            <a:off x="6446520" y="2999232"/>
            <a:ext cx="5074920" cy="841248"/>
          </a:xfrm>
          <a:prstGeom prst="roundRect">
            <a:avLst>
              <a:gd name="adj" fmla="val 8696"/>
            </a:avLst>
          </a:prstGeom>
          <a:solidFill>
            <a:srgbClr val="FFFFFF">
              <a:alpha val="97000"/>
            </a:srgbClr>
          </a:solidFill>
          <a:ln w="12700">
            <a:solidFill>
              <a:srgbClr val="007C89"/>
            </a:solidFill>
            <a:prstDash val="solid"/>
          </a:ln>
        </p:spPr>
      </p:sp>
      <p:sp>
        <p:nvSpPr>
          <p:cNvPr id="13" name="Text 11"/>
          <p:cNvSpPr/>
          <p:nvPr/>
        </p:nvSpPr>
        <p:spPr>
          <a:xfrm>
            <a:off x="6611112" y="3127248"/>
            <a:ext cx="4745736" cy="658368"/>
          </a:xfrm>
          <a:prstGeom prst="rect">
            <a:avLst/>
          </a:prstGeom>
          <a:noFill/>
          <a:ln/>
        </p:spPr>
        <p:txBody>
          <a:bodyPr wrap="square" lIns="0" tIns="0" rIns="0" bIns="0" rtlCol="0" anchor="ctr">
            <a:normAutofit/>
          </a:bodyPr>
          <a:lstStyle/>
          <a:p>
            <a:pPr algn="ctr" indent="0" marL="0">
              <a:buNone/>
            </a:pPr>
            <a:r>
              <a:rPr lang="en-US" sz="1700" b="1" dirty="0">
                <a:solidFill>
                  <a:srgbClr val="005088"/>
                </a:solidFill>
                <a:latin typeface="Cambria Math" pitchFamily="34" charset="0"/>
                <a:ea typeface="Cambria Math" pitchFamily="34" charset="-122"/>
                <a:cs typeface="Cambria Math" pitchFamily="34" charset="-120"/>
              </a:rPr>
              <a:t>knowledge base + inference procedure = derived knowledge</a:t>
            </a:r>
            <a:endParaRPr lang="en-US" sz="1700" dirty="0"/>
          </a:p>
        </p:txBody>
      </p:sp>
      <p:sp>
        <p:nvSpPr>
          <p:cNvPr id="14" name="Shape 12"/>
          <p:cNvSpPr/>
          <p:nvPr/>
        </p:nvSpPr>
        <p:spPr>
          <a:xfrm>
            <a:off x="6446520" y="4041648"/>
            <a:ext cx="5074920" cy="859536"/>
          </a:xfrm>
          <a:prstGeom prst="roundRect">
            <a:avLst>
              <a:gd name="adj" fmla="val 8511"/>
            </a:avLst>
          </a:prstGeom>
          <a:solidFill>
            <a:srgbClr val="FFE4E6"/>
          </a:solidFill>
          <a:ln w="12700">
            <a:solidFill>
              <a:srgbClr val="FDA4AF"/>
            </a:solidFill>
            <a:prstDash val="solid"/>
          </a:ln>
        </p:spPr>
      </p:sp>
      <p:sp>
        <p:nvSpPr>
          <p:cNvPr id="15" name="Text 13"/>
          <p:cNvSpPr/>
          <p:nvPr/>
        </p:nvSpPr>
        <p:spPr>
          <a:xfrm>
            <a:off x="6629400" y="4178808"/>
            <a:ext cx="4709160" cy="219456"/>
          </a:xfrm>
          <a:prstGeom prst="rect">
            <a:avLst/>
          </a:prstGeom>
          <a:noFill/>
          <a:ln/>
        </p:spPr>
        <p:txBody>
          <a:bodyPr wrap="square" lIns="0" tIns="0" rIns="0" bIns="0" rtlCol="0" anchor="ctr"/>
          <a:lstStyle/>
          <a:p>
            <a:pPr indent="0" marL="0">
              <a:buNone/>
            </a:pPr>
            <a:r>
              <a:rPr lang="en-US" sz="950" b="1" dirty="0">
                <a:solidFill>
                  <a:srgbClr val="C1121F"/>
                </a:solidFill>
              </a:rPr>
              <a:t>STUDENT GOTCHA</a:t>
            </a:r>
            <a:endParaRPr lang="en-US" sz="950" dirty="0"/>
          </a:p>
        </p:txBody>
      </p:sp>
      <p:sp>
        <p:nvSpPr>
          <p:cNvPr id="16" name="Text 14"/>
          <p:cNvSpPr/>
          <p:nvPr/>
        </p:nvSpPr>
        <p:spPr>
          <a:xfrm>
            <a:off x="6629400" y="4453128"/>
            <a:ext cx="4709160" cy="356616"/>
          </a:xfrm>
          <a:prstGeom prst="rect">
            <a:avLst/>
          </a:prstGeom>
          <a:noFill/>
          <a:ln/>
        </p:spPr>
        <p:txBody>
          <a:bodyPr wrap="square" lIns="254" tIns="254" rIns="254" bIns="254" rtlCol="0" anchor="t">
            <a:normAutofit/>
          </a:bodyPr>
          <a:lstStyle/>
          <a:p>
            <a:pPr indent="0" marL="0">
              <a:buNone/>
            </a:pPr>
            <a:r>
              <a:rPr lang="en-US" sz="1250" dirty="0">
                <a:solidFill>
                  <a:srgbClr val="1E293B"/>
                </a:solidFill>
              </a:rPr>
              <a:t>Do not let students equate memory with knowledge. A list of facts is not enough unless the agent can reason from those facts.</a:t>
            </a:r>
            <a:endParaRPr lang="en-US" sz="1250" dirty="0"/>
          </a:p>
        </p:txBody>
      </p:sp>
      <p:sp>
        <p:nvSpPr>
          <p:cNvPr id="17" name="Shape 15"/>
          <p:cNvSpPr/>
          <p:nvPr/>
        </p:nvSpPr>
        <p:spPr>
          <a:xfrm>
            <a:off x="6446520" y="5074920"/>
            <a:ext cx="5074920" cy="841248"/>
          </a:xfrm>
          <a:prstGeom prst="roundRect">
            <a:avLst>
              <a:gd name="adj" fmla="val 8696"/>
            </a:avLst>
          </a:prstGeom>
          <a:solidFill>
            <a:srgbClr val="E6FFFA"/>
          </a:solidFill>
          <a:ln w="12700">
            <a:solidFill>
              <a:srgbClr val="2A9D8F"/>
            </a:solidFill>
            <a:prstDash val="solid"/>
          </a:ln>
        </p:spPr>
      </p:sp>
      <p:sp>
        <p:nvSpPr>
          <p:cNvPr id="18" name="Text 16"/>
          <p:cNvSpPr/>
          <p:nvPr/>
        </p:nvSpPr>
        <p:spPr>
          <a:xfrm>
            <a:off x="6629400" y="5212080"/>
            <a:ext cx="4709160" cy="219456"/>
          </a:xfrm>
          <a:prstGeom prst="rect">
            <a:avLst/>
          </a:prstGeom>
          <a:noFill/>
          <a:ln/>
        </p:spPr>
        <p:txBody>
          <a:bodyPr wrap="square" lIns="0" tIns="0" rIns="0" bIns="0" rtlCol="0" anchor="ctr"/>
          <a:lstStyle/>
          <a:p>
            <a:pPr indent="0" marL="0">
              <a:buNone/>
            </a:pPr>
            <a:r>
              <a:rPr lang="en-US" sz="950" b="1" dirty="0">
                <a:solidFill>
                  <a:srgbClr val="007C89"/>
                </a:solidFill>
              </a:rPr>
              <a:t>CLASS CHECK</a:t>
            </a:r>
            <a:endParaRPr lang="en-US" sz="950" dirty="0"/>
          </a:p>
        </p:txBody>
      </p:sp>
      <p:sp>
        <p:nvSpPr>
          <p:cNvPr id="19" name="Text 17"/>
          <p:cNvSpPr/>
          <p:nvPr/>
        </p:nvSpPr>
        <p:spPr>
          <a:xfrm>
            <a:off x="6629400" y="5486400"/>
            <a:ext cx="4709160" cy="338328"/>
          </a:xfrm>
          <a:prstGeom prst="rect">
            <a:avLst/>
          </a:prstGeom>
          <a:noFill/>
          <a:ln/>
        </p:spPr>
        <p:txBody>
          <a:bodyPr wrap="square" lIns="254" tIns="254" rIns="254" bIns="254" rtlCol="0" anchor="t">
            <a:normAutofit/>
          </a:bodyPr>
          <a:lstStyle/>
          <a:p>
            <a:pPr indent="0" marL="0">
              <a:buNone/>
            </a:pPr>
            <a:r>
              <a:rPr lang="en-US" sz="1270" dirty="0">
                <a:solidFill>
                  <a:srgbClr val="1E293B"/>
                </a:solidFill>
              </a:rPr>
              <a:t>Ask: What general fact helps a driver even on a road they have never seen?</a:t>
            </a:r>
            <a:endParaRPr lang="en-US" sz="127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5088"/>
          </a:solidFill>
          <a:ln w="12700">
            <a:solidFill>
              <a:srgbClr val="005088"/>
            </a:solidFill>
            <a:prstDash val="solid"/>
          </a:ln>
        </p:spPr>
      </p:sp>
      <p:sp>
        <p:nvSpPr>
          <p:cNvPr id="3" name="Shape 1"/>
          <p:cNvSpPr/>
          <p:nvPr/>
        </p:nvSpPr>
        <p:spPr>
          <a:xfrm>
            <a:off x="0" y="6729984"/>
            <a:ext cx="12191695" cy="128016"/>
          </a:xfrm>
          <a:prstGeom prst="rect">
            <a:avLst/>
          </a:prstGeom>
          <a:solidFill>
            <a:srgbClr val="005088"/>
          </a:solidFill>
          <a:ln w="12700">
            <a:solidFill>
              <a:srgbClr val="005088"/>
            </a:solidFill>
            <a:prstDash val="solid"/>
          </a:ln>
        </p:spPr>
      </p:sp>
      <p:sp>
        <p:nvSpPr>
          <p:cNvPr id="4" name="Text 2"/>
          <p:cNvSpPr/>
          <p:nvPr/>
        </p:nvSpPr>
        <p:spPr>
          <a:xfrm>
            <a:off x="502920" y="210312"/>
            <a:ext cx="6858000" cy="219456"/>
          </a:xfrm>
          <a:prstGeom prst="rect">
            <a:avLst/>
          </a:prstGeom>
          <a:noFill/>
          <a:ln/>
        </p:spPr>
        <p:txBody>
          <a:bodyPr wrap="square" lIns="0" tIns="0" rIns="0" bIns="0" rtlCol="0" anchor="ctr"/>
          <a:lstStyle/>
          <a:p>
            <a:pPr indent="0" marL="0">
              <a:buNone/>
            </a:pPr>
            <a:r>
              <a:rPr lang="en-US" sz="950" b="1" dirty="0">
                <a:solidFill>
                  <a:srgbClr val="3D5A80"/>
                </a:solidFill>
                <a:latin typeface="Aptos" pitchFamily="34" charset="0"/>
                <a:ea typeface="Aptos" pitchFamily="34" charset="-122"/>
                <a:cs typeface="Aptos" pitchFamily="34" charset="-120"/>
              </a:rPr>
              <a:t>Course map</a:t>
            </a:r>
            <a:endParaRPr lang="en-US" sz="950" dirty="0"/>
          </a:p>
        </p:txBody>
      </p:sp>
      <p:sp>
        <p:nvSpPr>
          <p:cNvPr id="5" name="Text 3"/>
          <p:cNvSpPr/>
          <p:nvPr/>
        </p:nvSpPr>
        <p:spPr>
          <a:xfrm>
            <a:off x="11018520" y="201168"/>
            <a:ext cx="640080" cy="228600"/>
          </a:xfrm>
          <a:prstGeom prst="rect">
            <a:avLst/>
          </a:prstGeom>
          <a:noFill/>
          <a:ln/>
        </p:spPr>
        <p:txBody>
          <a:bodyPr wrap="square" lIns="0" tIns="0" rIns="0" bIns="0" rtlCol="0" anchor="ctr"/>
          <a:lstStyle/>
          <a:p>
            <a:pPr algn="r" indent="0" marL="0">
              <a:buNone/>
            </a:pPr>
            <a:r>
              <a:rPr lang="en-US" sz="900" b="1" dirty="0">
                <a:solidFill>
                  <a:srgbClr val="3D5A80"/>
                </a:solidFill>
              </a:rPr>
              <a:t>07</a:t>
            </a:r>
            <a:endParaRPr lang="en-US" sz="900" dirty="0"/>
          </a:p>
        </p:txBody>
      </p:sp>
      <p:sp>
        <p:nvSpPr>
          <p:cNvPr id="6" name="Text 4"/>
          <p:cNvSpPr/>
          <p:nvPr/>
        </p:nvSpPr>
        <p:spPr>
          <a:xfrm>
            <a:off x="502920" y="566928"/>
            <a:ext cx="11201400" cy="512064"/>
          </a:xfrm>
          <a:prstGeom prst="rect">
            <a:avLst/>
          </a:prstGeom>
          <a:noFill/>
          <a:ln/>
        </p:spPr>
        <p:txBody>
          <a:bodyPr wrap="square" lIns="0" tIns="0" rIns="0" bIns="0" rtlCol="0" anchor="ctr">
            <a:normAutofit/>
          </a:bodyPr>
          <a:lstStyle/>
          <a:p>
            <a:pPr indent="0" marL="0">
              <a:buNone/>
            </a:pPr>
            <a:r>
              <a:rPr lang="en-US" sz="2650" b="1" dirty="0">
                <a:solidFill>
                  <a:srgbClr val="005088"/>
                </a:solidFill>
                <a:latin typeface="Aptos Display" pitchFamily="34" charset="0"/>
                <a:ea typeface="Aptos Display" pitchFamily="34" charset="-122"/>
                <a:cs typeface="Aptos Display" pitchFamily="34" charset="-120"/>
              </a:rPr>
              <a:t>FROM ISOLATED FACTS TO REUSABLE RULES</a:t>
            </a:r>
            <a:endParaRPr lang="en-US" sz="2650" dirty="0"/>
          </a:p>
        </p:txBody>
      </p:sp>
      <p:sp>
        <p:nvSpPr>
          <p:cNvPr id="7" name="Shape 5"/>
          <p:cNvSpPr/>
          <p:nvPr/>
        </p:nvSpPr>
        <p:spPr>
          <a:xfrm>
            <a:off x="502920" y="1188720"/>
            <a:ext cx="11109960" cy="0"/>
          </a:xfrm>
          <a:prstGeom prst="line">
            <a:avLst/>
          </a:prstGeom>
          <a:noFill/>
          <a:ln w="12700">
            <a:solidFill>
              <a:srgbClr val="3D5A80"/>
            </a:solidFill>
            <a:prstDash val="solid"/>
          </a:ln>
        </p:spPr>
      </p:sp>
      <p:sp>
        <p:nvSpPr>
          <p:cNvPr id="8" name="Text 6"/>
          <p:cNvSpPr/>
          <p:nvPr/>
        </p:nvSpPr>
        <p:spPr>
          <a:xfrm>
            <a:off x="713232" y="1572768"/>
            <a:ext cx="5440680" cy="4251960"/>
          </a:xfrm>
          <a:prstGeom prst="rect">
            <a:avLst/>
          </a:prstGeom>
          <a:noFill/>
          <a:ln/>
        </p:spPr>
        <p:txBody>
          <a:bodyPr wrap="square" lIns="1016" tIns="1016" rIns="1016" bIns="1016" rtlCol="0" anchor="t">
            <a:normAutofit/>
          </a:bodyPr>
          <a:lstStyle/>
          <a:p>
            <a:pPr indent="0" marL="0">
              <a:buNone/>
            </a:pPr>
            <a:r>
              <a:rPr lang="en-US" sz="1650" dirty="0">
                <a:solidFill>
                  <a:srgbClr val="1E293B"/>
                </a:solidFill>
                <a:latin typeface="Aptos" pitchFamily="34" charset="0"/>
                <a:ea typeface="Aptos" pitchFamily="34" charset="-122"/>
                <a:cs typeface="Aptos" pitchFamily="34" charset="-120"/>
              </a:rPr>
              <a:t>• Isolated fact: square one comma two is breezy</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Reusable rule: squares adjacent to pits are breezy</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The rule works for any grid size</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Variables and quantifiers make the rule reusable</a:t>
            </a:r>
            <a:endParaRPr lang="en-US" sz="1650" dirty="0"/>
          </a:p>
        </p:txBody>
      </p:sp>
      <p:sp>
        <p:nvSpPr>
          <p:cNvPr id="9" name="Shape 7"/>
          <p:cNvSpPr/>
          <p:nvPr/>
        </p:nvSpPr>
        <p:spPr>
          <a:xfrm>
            <a:off x="6446520" y="1572768"/>
            <a:ext cx="5074920" cy="1234440"/>
          </a:xfrm>
          <a:prstGeom prst="roundRect">
            <a:avLst>
              <a:gd name="adj" fmla="val 5926"/>
            </a:avLst>
          </a:prstGeom>
          <a:solidFill>
            <a:srgbClr val="FFF6D9"/>
          </a:solidFill>
          <a:ln w="12700">
            <a:solidFill>
              <a:srgbClr val="F4A261"/>
            </a:solidFill>
            <a:prstDash val="solid"/>
          </a:ln>
        </p:spPr>
      </p:sp>
      <p:sp>
        <p:nvSpPr>
          <p:cNvPr id="10" name="Text 8"/>
          <p:cNvSpPr/>
          <p:nvPr/>
        </p:nvSpPr>
        <p:spPr>
          <a:xfrm>
            <a:off x="6629400" y="1709928"/>
            <a:ext cx="4709160" cy="219456"/>
          </a:xfrm>
          <a:prstGeom prst="rect">
            <a:avLst/>
          </a:prstGeom>
          <a:noFill/>
          <a:ln/>
        </p:spPr>
        <p:txBody>
          <a:bodyPr wrap="square" lIns="0" tIns="0" rIns="0" bIns="0" rtlCol="0" anchor="ctr"/>
          <a:lstStyle/>
          <a:p>
            <a:pPr indent="0" marL="0">
              <a:buNone/>
            </a:pPr>
            <a:r>
              <a:rPr lang="en-US" sz="950" b="1" dirty="0">
                <a:solidFill>
                  <a:srgbClr val="B0005D"/>
                </a:solidFill>
              </a:rPr>
              <a:t>ANALOGY</a:t>
            </a:r>
            <a:endParaRPr lang="en-US" sz="950" dirty="0"/>
          </a:p>
        </p:txBody>
      </p:sp>
      <p:sp>
        <p:nvSpPr>
          <p:cNvPr id="11" name="Text 9"/>
          <p:cNvSpPr/>
          <p:nvPr/>
        </p:nvSpPr>
        <p:spPr>
          <a:xfrm>
            <a:off x="6629400" y="1984248"/>
            <a:ext cx="4709160" cy="731520"/>
          </a:xfrm>
          <a:prstGeom prst="rect">
            <a:avLst/>
          </a:prstGeom>
          <a:noFill/>
          <a:ln/>
        </p:spPr>
        <p:txBody>
          <a:bodyPr wrap="square" lIns="254" tIns="254" rIns="254" bIns="254" rtlCol="0" anchor="t">
            <a:normAutofit/>
          </a:bodyPr>
          <a:lstStyle/>
          <a:p>
            <a:pPr indent="0" marL="0">
              <a:buNone/>
            </a:pPr>
            <a:r>
              <a:rPr lang="en-US" sz="1330" dirty="0">
                <a:solidFill>
                  <a:srgbClr val="1E293B"/>
                </a:solidFill>
              </a:rPr>
              <a:t>Instead of printing a separate “no parking” sign for every car, a city writes one parking rule that applies to all cars in the zone.</a:t>
            </a:r>
            <a:endParaRPr lang="en-US" sz="1330" dirty="0"/>
          </a:p>
        </p:txBody>
      </p:sp>
      <p:sp>
        <p:nvSpPr>
          <p:cNvPr id="12" name="Shape 10"/>
          <p:cNvSpPr/>
          <p:nvPr/>
        </p:nvSpPr>
        <p:spPr>
          <a:xfrm>
            <a:off x="6446520" y="2999232"/>
            <a:ext cx="5074920" cy="841248"/>
          </a:xfrm>
          <a:prstGeom prst="roundRect">
            <a:avLst>
              <a:gd name="adj" fmla="val 8696"/>
            </a:avLst>
          </a:prstGeom>
          <a:solidFill>
            <a:srgbClr val="FFFFFF">
              <a:alpha val="97000"/>
            </a:srgbClr>
          </a:solidFill>
          <a:ln w="12700">
            <a:solidFill>
              <a:srgbClr val="007C89"/>
            </a:solidFill>
            <a:prstDash val="solid"/>
          </a:ln>
        </p:spPr>
      </p:sp>
      <p:sp>
        <p:nvSpPr>
          <p:cNvPr id="13" name="Text 11"/>
          <p:cNvSpPr/>
          <p:nvPr/>
        </p:nvSpPr>
        <p:spPr>
          <a:xfrm>
            <a:off x="6611112" y="3127248"/>
            <a:ext cx="4745736" cy="658368"/>
          </a:xfrm>
          <a:prstGeom prst="rect">
            <a:avLst/>
          </a:prstGeom>
          <a:noFill/>
          <a:ln/>
        </p:spPr>
        <p:txBody>
          <a:bodyPr wrap="square" lIns="0" tIns="0" rIns="0" bIns="0" rtlCol="0" anchor="ctr">
            <a:normAutofit/>
          </a:bodyPr>
          <a:lstStyle/>
          <a:p>
            <a:pPr algn="ctr" indent="0" marL="0">
              <a:buNone/>
            </a:pPr>
            <a:r>
              <a:rPr lang="en-US" sz="1550" b="1" dirty="0">
                <a:solidFill>
                  <a:srgbClr val="005088"/>
                </a:solidFill>
                <a:latin typeface="Cambria Math" pitchFamily="34" charset="0"/>
                <a:ea typeface="Cambria Math" pitchFamily="34" charset="-122"/>
                <a:cs typeface="Cambria Math" pitchFamily="34" charset="-120"/>
              </a:rPr>
              <a:t>∀s Breezy(s) ⇔ ∃p (Pit(p) ∧ Adjacent(p,s))</a:t>
            </a:r>
            <a:endParaRPr lang="en-US" sz="1550" dirty="0"/>
          </a:p>
        </p:txBody>
      </p:sp>
      <p:sp>
        <p:nvSpPr>
          <p:cNvPr id="14" name="Shape 12"/>
          <p:cNvSpPr/>
          <p:nvPr/>
        </p:nvSpPr>
        <p:spPr>
          <a:xfrm>
            <a:off x="6446520" y="4041648"/>
            <a:ext cx="5074920" cy="859536"/>
          </a:xfrm>
          <a:prstGeom prst="roundRect">
            <a:avLst>
              <a:gd name="adj" fmla="val 8511"/>
            </a:avLst>
          </a:prstGeom>
          <a:solidFill>
            <a:srgbClr val="FFE4E6"/>
          </a:solidFill>
          <a:ln w="12700">
            <a:solidFill>
              <a:srgbClr val="FDA4AF"/>
            </a:solidFill>
            <a:prstDash val="solid"/>
          </a:ln>
        </p:spPr>
      </p:sp>
      <p:sp>
        <p:nvSpPr>
          <p:cNvPr id="15" name="Text 13"/>
          <p:cNvSpPr/>
          <p:nvPr/>
        </p:nvSpPr>
        <p:spPr>
          <a:xfrm>
            <a:off x="6629400" y="4178808"/>
            <a:ext cx="4709160" cy="219456"/>
          </a:xfrm>
          <a:prstGeom prst="rect">
            <a:avLst/>
          </a:prstGeom>
          <a:noFill/>
          <a:ln/>
        </p:spPr>
        <p:txBody>
          <a:bodyPr wrap="square" lIns="0" tIns="0" rIns="0" bIns="0" rtlCol="0" anchor="ctr"/>
          <a:lstStyle/>
          <a:p>
            <a:pPr indent="0" marL="0">
              <a:buNone/>
            </a:pPr>
            <a:r>
              <a:rPr lang="en-US" sz="950" b="1" dirty="0">
                <a:solidFill>
                  <a:srgbClr val="C1121F"/>
                </a:solidFill>
              </a:rPr>
              <a:t>STUDENT GOTCHA</a:t>
            </a:r>
            <a:endParaRPr lang="en-US" sz="950" dirty="0"/>
          </a:p>
        </p:txBody>
      </p:sp>
      <p:sp>
        <p:nvSpPr>
          <p:cNvPr id="16" name="Text 14"/>
          <p:cNvSpPr/>
          <p:nvPr/>
        </p:nvSpPr>
        <p:spPr>
          <a:xfrm>
            <a:off x="6629400" y="4453128"/>
            <a:ext cx="4709160" cy="356616"/>
          </a:xfrm>
          <a:prstGeom prst="rect">
            <a:avLst/>
          </a:prstGeom>
          <a:noFill/>
          <a:ln/>
        </p:spPr>
        <p:txBody>
          <a:bodyPr wrap="square" lIns="254" tIns="254" rIns="254" bIns="254" rtlCol="0" anchor="t">
            <a:normAutofit/>
          </a:bodyPr>
          <a:lstStyle/>
          <a:p>
            <a:pPr indent="0" marL="0">
              <a:buNone/>
            </a:pPr>
            <a:r>
              <a:rPr lang="en-US" sz="1250" dirty="0">
                <a:solidFill>
                  <a:srgbClr val="1E293B"/>
                </a:solidFill>
              </a:rPr>
              <a:t>The formula is not saying one particular square is breezy. It is saying how breeziness relates to pits for every relevant square.</a:t>
            </a:r>
            <a:endParaRPr lang="en-US" sz="1250" dirty="0"/>
          </a:p>
        </p:txBody>
      </p:sp>
      <p:sp>
        <p:nvSpPr>
          <p:cNvPr id="17" name="Shape 15"/>
          <p:cNvSpPr/>
          <p:nvPr/>
        </p:nvSpPr>
        <p:spPr>
          <a:xfrm>
            <a:off x="6446520" y="5074920"/>
            <a:ext cx="5074920" cy="841248"/>
          </a:xfrm>
          <a:prstGeom prst="roundRect">
            <a:avLst>
              <a:gd name="adj" fmla="val 8696"/>
            </a:avLst>
          </a:prstGeom>
          <a:solidFill>
            <a:srgbClr val="E6FFFA"/>
          </a:solidFill>
          <a:ln w="12700">
            <a:solidFill>
              <a:srgbClr val="2A9D8F"/>
            </a:solidFill>
            <a:prstDash val="solid"/>
          </a:ln>
        </p:spPr>
      </p:sp>
      <p:sp>
        <p:nvSpPr>
          <p:cNvPr id="18" name="Text 16"/>
          <p:cNvSpPr/>
          <p:nvPr/>
        </p:nvSpPr>
        <p:spPr>
          <a:xfrm>
            <a:off x="6629400" y="5212080"/>
            <a:ext cx="4709160" cy="219456"/>
          </a:xfrm>
          <a:prstGeom prst="rect">
            <a:avLst/>
          </a:prstGeom>
          <a:noFill/>
          <a:ln/>
        </p:spPr>
        <p:txBody>
          <a:bodyPr wrap="square" lIns="0" tIns="0" rIns="0" bIns="0" rtlCol="0" anchor="ctr"/>
          <a:lstStyle/>
          <a:p>
            <a:pPr indent="0" marL="0">
              <a:buNone/>
            </a:pPr>
            <a:r>
              <a:rPr lang="en-US" sz="950" b="1" dirty="0">
                <a:solidFill>
                  <a:srgbClr val="007C89"/>
                </a:solidFill>
              </a:rPr>
              <a:t>CLASS CHECK</a:t>
            </a:r>
            <a:endParaRPr lang="en-US" sz="950" dirty="0"/>
          </a:p>
        </p:txBody>
      </p:sp>
      <p:sp>
        <p:nvSpPr>
          <p:cNvPr id="19" name="Text 17"/>
          <p:cNvSpPr/>
          <p:nvPr/>
        </p:nvSpPr>
        <p:spPr>
          <a:xfrm>
            <a:off x="6629400" y="5486400"/>
            <a:ext cx="4709160" cy="338328"/>
          </a:xfrm>
          <a:prstGeom prst="rect">
            <a:avLst/>
          </a:prstGeom>
          <a:noFill/>
          <a:ln/>
        </p:spPr>
        <p:txBody>
          <a:bodyPr wrap="square" lIns="254" tIns="254" rIns="254" bIns="254" rtlCol="0" anchor="t">
            <a:normAutofit/>
          </a:bodyPr>
          <a:lstStyle/>
          <a:p>
            <a:pPr indent="0" marL="0">
              <a:buNone/>
            </a:pPr>
            <a:r>
              <a:rPr lang="en-US" sz="1270" dirty="0">
                <a:solidFill>
                  <a:srgbClr val="1E293B"/>
                </a:solidFill>
              </a:rPr>
              <a:t>Ask students to underline the part that means “all squares” and the part that means “some pit.”</a:t>
            </a:r>
            <a:endParaRPr lang="en-US" sz="127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05088"/>
        </a:solidFill>
      </p:bgPr>
    </p:bg>
    <p:spTree>
      <p:nvGrpSpPr>
        <p:cNvPr id="1" name=""/>
        <p:cNvGrpSpPr/>
        <p:nvPr/>
      </p:nvGrpSpPr>
      <p:grpSpPr>
        <a:xfrm>
          <a:off x="0" y="0"/>
          <a:ext cx="0" cy="0"/>
          <a:chOff x="0" y="0"/>
          <a:chExt cx="0" cy="0"/>
        </a:xfrm>
      </p:grpSpPr>
      <p:sp>
        <p:nvSpPr>
          <p:cNvPr id="2" name="Text 0"/>
          <p:cNvSpPr/>
          <p:nvPr/>
        </p:nvSpPr>
        <p:spPr>
          <a:xfrm>
            <a:off x="685800" y="502920"/>
            <a:ext cx="2194560" cy="320040"/>
          </a:xfrm>
          <a:prstGeom prst="rect">
            <a:avLst/>
          </a:prstGeom>
          <a:noFill/>
          <a:ln/>
        </p:spPr>
        <p:txBody>
          <a:bodyPr wrap="square" lIns="0" tIns="0" rIns="0" bIns="0" rtlCol="0" anchor="ctr"/>
          <a:lstStyle/>
          <a:p>
            <a:pPr indent="0" marL="0">
              <a:buNone/>
            </a:pPr>
            <a:r>
              <a:rPr lang="en-US" sz="1600" b="1" dirty="0">
                <a:solidFill>
                  <a:srgbClr val="A5F3FC"/>
                </a:solidFill>
              </a:rPr>
              <a:t>Computer Science 469</a:t>
            </a:r>
            <a:endParaRPr lang="en-US" sz="1600" dirty="0"/>
          </a:p>
        </p:txBody>
      </p:sp>
      <p:sp>
        <p:nvSpPr>
          <p:cNvPr id="3" name="Text 1"/>
          <p:cNvSpPr/>
          <p:nvPr/>
        </p:nvSpPr>
        <p:spPr>
          <a:xfrm>
            <a:off x="685800" y="850392"/>
            <a:ext cx="2194560" cy="274320"/>
          </a:xfrm>
          <a:prstGeom prst="rect">
            <a:avLst/>
          </a:prstGeom>
          <a:noFill/>
          <a:ln/>
        </p:spPr>
        <p:txBody>
          <a:bodyPr wrap="square" lIns="0" tIns="0" rIns="0" bIns="0" rtlCol="0" anchor="ctr"/>
          <a:lstStyle/>
          <a:p>
            <a:pPr indent="0" marL="0">
              <a:buNone/>
            </a:pPr>
            <a:r>
              <a:rPr lang="en-US" sz="1200" dirty="0">
                <a:solidFill>
                  <a:srgbClr val="D9F99D"/>
                </a:solidFill>
              </a:rPr>
              <a:t>Chapter 8</a:t>
            </a:r>
            <a:endParaRPr lang="en-US" sz="1200" dirty="0"/>
          </a:p>
        </p:txBody>
      </p:sp>
      <p:sp>
        <p:nvSpPr>
          <p:cNvPr id="4" name="Text 2"/>
          <p:cNvSpPr/>
          <p:nvPr/>
        </p:nvSpPr>
        <p:spPr>
          <a:xfrm>
            <a:off x="685800" y="1901952"/>
            <a:ext cx="10744200" cy="896112"/>
          </a:xfrm>
          <a:prstGeom prst="rect">
            <a:avLst/>
          </a:prstGeom>
          <a:noFill/>
          <a:ln/>
        </p:spPr>
        <p:txBody>
          <a:bodyPr wrap="square" lIns="0" tIns="0" rIns="0" bIns="0" rtlCol="0" anchor="ctr">
            <a:normAutofit/>
          </a:bodyPr>
          <a:lstStyle/>
          <a:p>
            <a:pPr indent="0" marL="0">
              <a:buNone/>
            </a:pPr>
            <a:r>
              <a:rPr lang="en-US" sz="4200" b="1" dirty="0">
                <a:solidFill>
                  <a:srgbClr val="F4F1DE"/>
                </a:solidFill>
              </a:rPr>
              <a:t>8.1 Representation Revisited</a:t>
            </a:r>
            <a:endParaRPr lang="en-US" sz="4200" dirty="0"/>
          </a:p>
        </p:txBody>
      </p:sp>
      <p:sp>
        <p:nvSpPr>
          <p:cNvPr id="5" name="Text 3"/>
          <p:cNvSpPr/>
          <p:nvPr/>
        </p:nvSpPr>
        <p:spPr>
          <a:xfrm>
            <a:off x="713232" y="2880360"/>
            <a:ext cx="10424160" cy="429768"/>
          </a:xfrm>
          <a:prstGeom prst="rect">
            <a:avLst/>
          </a:prstGeom>
          <a:noFill/>
          <a:ln/>
        </p:spPr>
        <p:txBody>
          <a:bodyPr wrap="square" lIns="0" tIns="0" rIns="0" bIns="0" rtlCol="0" anchor="ctr">
            <a:normAutofit/>
          </a:bodyPr>
          <a:lstStyle/>
          <a:p>
            <a:pPr indent="0" marL="0">
              <a:buNone/>
            </a:pPr>
            <a:r>
              <a:rPr lang="en-US" sz="1900" dirty="0">
                <a:solidFill>
                  <a:srgbClr val="D9F99D"/>
                </a:solidFill>
              </a:rPr>
              <a:t>Why the choice of representation language changes what an agent can know</a:t>
            </a:r>
            <a:endParaRPr lang="en-US" sz="1900" dirty="0"/>
          </a:p>
        </p:txBody>
      </p:sp>
      <p:sp>
        <p:nvSpPr>
          <p:cNvPr id="6" name="Shape 4"/>
          <p:cNvSpPr/>
          <p:nvPr/>
        </p:nvSpPr>
        <p:spPr>
          <a:xfrm>
            <a:off x="713232" y="3529584"/>
            <a:ext cx="2194560" cy="54864"/>
          </a:xfrm>
          <a:prstGeom prst="rect">
            <a:avLst/>
          </a:prstGeom>
          <a:solidFill>
            <a:srgbClr val="D9F99D"/>
          </a:solidFill>
          <a:ln w="12700">
            <a:solidFill>
              <a:srgbClr val="D9F99D"/>
            </a:solidFill>
            <a:prstDash val="solid"/>
          </a:ln>
        </p:spPr>
      </p:sp>
      <p:sp>
        <p:nvSpPr>
          <p:cNvPr id="7" name="Shape 5"/>
          <p:cNvSpPr/>
          <p:nvPr/>
        </p:nvSpPr>
        <p:spPr>
          <a:xfrm>
            <a:off x="713232" y="3950208"/>
            <a:ext cx="10652760" cy="1005840"/>
          </a:xfrm>
          <a:prstGeom prst="roundRect">
            <a:avLst>
              <a:gd name="adj" fmla="val 7273"/>
            </a:avLst>
          </a:prstGeom>
          <a:solidFill>
            <a:srgbClr val="073B4C"/>
          </a:solidFill>
          <a:ln w="12700">
            <a:solidFill>
              <a:srgbClr val="A5F3FC"/>
            </a:solidFill>
            <a:prstDash val="solid"/>
          </a:ln>
        </p:spPr>
      </p:sp>
      <p:sp>
        <p:nvSpPr>
          <p:cNvPr id="8" name="Text 6"/>
          <p:cNvSpPr/>
          <p:nvPr/>
        </p:nvSpPr>
        <p:spPr>
          <a:xfrm>
            <a:off x="896112" y="4087368"/>
            <a:ext cx="10287000" cy="219456"/>
          </a:xfrm>
          <a:prstGeom prst="rect">
            <a:avLst/>
          </a:prstGeom>
          <a:noFill/>
          <a:ln/>
        </p:spPr>
        <p:txBody>
          <a:bodyPr wrap="square" lIns="0" tIns="0" rIns="0" bIns="0" rtlCol="0" anchor="ctr"/>
          <a:lstStyle/>
          <a:p>
            <a:pPr indent="0" marL="0">
              <a:buNone/>
            </a:pPr>
            <a:r>
              <a:rPr lang="en-US" sz="950" b="1" dirty="0">
                <a:solidFill>
                  <a:srgbClr val="A5F3FC"/>
                </a:solidFill>
              </a:rPr>
              <a:t>INSTRUCTOR CUE</a:t>
            </a:r>
            <a:endParaRPr lang="en-US" sz="950" dirty="0"/>
          </a:p>
        </p:txBody>
      </p:sp>
      <p:sp>
        <p:nvSpPr>
          <p:cNvPr id="9" name="Text 7"/>
          <p:cNvSpPr/>
          <p:nvPr/>
        </p:nvSpPr>
        <p:spPr>
          <a:xfrm>
            <a:off x="896112" y="4361688"/>
            <a:ext cx="10287000" cy="502920"/>
          </a:xfrm>
          <a:prstGeom prst="rect">
            <a:avLst/>
          </a:prstGeom>
          <a:noFill/>
          <a:ln/>
        </p:spPr>
        <p:txBody>
          <a:bodyPr wrap="square" lIns="254" tIns="254" rIns="254" bIns="254" rtlCol="0" anchor="t">
            <a:normAutofit/>
          </a:bodyPr>
          <a:lstStyle/>
          <a:p>
            <a:pPr indent="0" marL="0">
              <a:buNone/>
            </a:pPr>
            <a:r>
              <a:rPr lang="en-US" sz="1500" dirty="0">
                <a:solidFill>
                  <a:srgbClr val="FFFFFF"/>
                </a:solidFill>
              </a:rPr>
              <a:t>Begin by contrasting data storage with reasoning. A Python list can store facts, but a logic language can express rules and let an inference procedure derive consequences.</a:t>
            </a:r>
            <a:endParaRPr lang="en-US" sz="1500" dirty="0"/>
          </a:p>
        </p:txBody>
      </p:sp>
      <p:sp>
        <p:nvSpPr>
          <p:cNvPr id="10" name="Text 8"/>
          <p:cNvSpPr/>
          <p:nvPr/>
        </p:nvSpPr>
        <p:spPr>
          <a:xfrm>
            <a:off x="11018520" y="6172200"/>
            <a:ext cx="548640" cy="274320"/>
          </a:xfrm>
          <a:prstGeom prst="rect">
            <a:avLst/>
          </a:prstGeom>
          <a:noFill/>
          <a:ln/>
        </p:spPr>
        <p:txBody>
          <a:bodyPr wrap="square" lIns="0" tIns="0" rIns="0" bIns="0" rtlCol="0" anchor="ctr"/>
          <a:lstStyle/>
          <a:p>
            <a:pPr algn="r" indent="0" marL="0">
              <a:buNone/>
            </a:pPr>
            <a:r>
              <a:rPr lang="en-US" sz="1200" b="1" dirty="0">
                <a:solidFill>
                  <a:srgbClr val="D9F99D"/>
                </a:solidFill>
              </a:rPr>
              <a:t>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5088"/>
          </a:solidFill>
          <a:ln w="12700">
            <a:solidFill>
              <a:srgbClr val="005088"/>
            </a:solidFill>
            <a:prstDash val="solid"/>
          </a:ln>
        </p:spPr>
      </p:sp>
      <p:sp>
        <p:nvSpPr>
          <p:cNvPr id="3" name="Shape 1"/>
          <p:cNvSpPr/>
          <p:nvPr/>
        </p:nvSpPr>
        <p:spPr>
          <a:xfrm>
            <a:off x="0" y="6729984"/>
            <a:ext cx="12191695" cy="128016"/>
          </a:xfrm>
          <a:prstGeom prst="rect">
            <a:avLst/>
          </a:prstGeom>
          <a:solidFill>
            <a:srgbClr val="005088"/>
          </a:solidFill>
          <a:ln w="12700">
            <a:solidFill>
              <a:srgbClr val="005088"/>
            </a:solidFill>
            <a:prstDash val="solid"/>
          </a:ln>
        </p:spPr>
      </p:sp>
      <p:sp>
        <p:nvSpPr>
          <p:cNvPr id="4" name="Text 2"/>
          <p:cNvSpPr/>
          <p:nvPr/>
        </p:nvSpPr>
        <p:spPr>
          <a:xfrm>
            <a:off x="502920" y="210312"/>
            <a:ext cx="6858000" cy="219456"/>
          </a:xfrm>
          <a:prstGeom prst="rect">
            <a:avLst/>
          </a:prstGeom>
          <a:noFill/>
          <a:ln/>
        </p:spPr>
        <p:txBody>
          <a:bodyPr wrap="square" lIns="0" tIns="0" rIns="0" bIns="0" rtlCol="0" anchor="ctr"/>
          <a:lstStyle/>
          <a:p>
            <a:pPr indent="0" marL="0">
              <a:buNone/>
            </a:pPr>
            <a:r>
              <a:rPr lang="en-US" sz="950" b="1" dirty="0">
                <a:solidFill>
                  <a:srgbClr val="3D5A80"/>
                </a:solidFill>
                <a:latin typeface="Aptos" pitchFamily="34" charset="0"/>
                <a:ea typeface="Aptos" pitchFamily="34" charset="-122"/>
                <a:cs typeface="Aptos" pitchFamily="34" charset="-120"/>
              </a:rPr>
              <a:t>8.1 Representation Revisited</a:t>
            </a:r>
            <a:endParaRPr lang="en-US" sz="950" dirty="0"/>
          </a:p>
        </p:txBody>
      </p:sp>
      <p:sp>
        <p:nvSpPr>
          <p:cNvPr id="5" name="Text 3"/>
          <p:cNvSpPr/>
          <p:nvPr/>
        </p:nvSpPr>
        <p:spPr>
          <a:xfrm>
            <a:off x="11018520" y="201168"/>
            <a:ext cx="640080" cy="228600"/>
          </a:xfrm>
          <a:prstGeom prst="rect">
            <a:avLst/>
          </a:prstGeom>
          <a:noFill/>
          <a:ln/>
        </p:spPr>
        <p:txBody>
          <a:bodyPr wrap="square" lIns="0" tIns="0" rIns="0" bIns="0" rtlCol="0" anchor="ctr"/>
          <a:lstStyle/>
          <a:p>
            <a:pPr algn="r" indent="0" marL="0">
              <a:buNone/>
            </a:pPr>
            <a:r>
              <a:rPr lang="en-US" sz="900" b="1" dirty="0">
                <a:solidFill>
                  <a:srgbClr val="3D5A80"/>
                </a:solidFill>
              </a:rPr>
              <a:t>09</a:t>
            </a:r>
            <a:endParaRPr lang="en-US" sz="900" dirty="0"/>
          </a:p>
        </p:txBody>
      </p:sp>
      <p:sp>
        <p:nvSpPr>
          <p:cNvPr id="6" name="Text 4"/>
          <p:cNvSpPr/>
          <p:nvPr/>
        </p:nvSpPr>
        <p:spPr>
          <a:xfrm>
            <a:off x="502920" y="566928"/>
            <a:ext cx="11201400" cy="512064"/>
          </a:xfrm>
          <a:prstGeom prst="rect">
            <a:avLst/>
          </a:prstGeom>
          <a:noFill/>
          <a:ln/>
        </p:spPr>
        <p:txBody>
          <a:bodyPr wrap="square" lIns="0" tIns="0" rIns="0" bIns="0" rtlCol="0" anchor="ctr">
            <a:normAutofit/>
          </a:bodyPr>
          <a:lstStyle/>
          <a:p>
            <a:pPr indent="0" marL="0">
              <a:buNone/>
            </a:pPr>
            <a:r>
              <a:rPr lang="en-US" sz="2650" b="1" dirty="0">
                <a:solidFill>
                  <a:srgbClr val="005088"/>
                </a:solidFill>
                <a:latin typeface="Aptos Display" pitchFamily="34" charset="0"/>
                <a:ea typeface="Aptos Display" pitchFamily="34" charset="-122"/>
                <a:cs typeface="Aptos Display" pitchFamily="34" charset="-120"/>
              </a:rPr>
              <a:t>REPRESENTATION LANGUAGES ARE DESIGN CHOICES</a:t>
            </a:r>
            <a:endParaRPr lang="en-US" sz="2650" dirty="0"/>
          </a:p>
        </p:txBody>
      </p:sp>
      <p:sp>
        <p:nvSpPr>
          <p:cNvPr id="7" name="Shape 5"/>
          <p:cNvSpPr/>
          <p:nvPr/>
        </p:nvSpPr>
        <p:spPr>
          <a:xfrm>
            <a:off x="502920" y="1188720"/>
            <a:ext cx="11109960" cy="0"/>
          </a:xfrm>
          <a:prstGeom prst="line">
            <a:avLst/>
          </a:prstGeom>
          <a:noFill/>
          <a:ln w="12700">
            <a:solidFill>
              <a:srgbClr val="3D5A80"/>
            </a:solidFill>
            <a:prstDash val="solid"/>
          </a:ln>
        </p:spPr>
      </p:sp>
      <p:sp>
        <p:nvSpPr>
          <p:cNvPr id="8" name="Text 6"/>
          <p:cNvSpPr/>
          <p:nvPr/>
        </p:nvSpPr>
        <p:spPr>
          <a:xfrm>
            <a:off x="713232" y="1572768"/>
            <a:ext cx="5440680" cy="4251960"/>
          </a:xfrm>
          <a:prstGeom prst="rect">
            <a:avLst/>
          </a:prstGeom>
          <a:noFill/>
          <a:ln/>
        </p:spPr>
        <p:txBody>
          <a:bodyPr wrap="square" lIns="1016" tIns="1016" rIns="1016" bIns="1016" rtlCol="0" anchor="t">
            <a:normAutofit/>
          </a:bodyPr>
          <a:lstStyle/>
          <a:p>
            <a:pPr indent="0" marL="0">
              <a:buNone/>
            </a:pPr>
            <a:r>
              <a:rPr lang="en-US" sz="1650" dirty="0">
                <a:solidFill>
                  <a:srgbClr val="1E293B"/>
                </a:solidFill>
                <a:latin typeface="Aptos" pitchFamily="34" charset="0"/>
                <a:ea typeface="Aptos" pitchFamily="34" charset="-122"/>
                <a:cs typeface="Aptos" pitchFamily="34" charset="-120"/>
              </a:rPr>
              <a:t>• A representation language determines what can be stated directly</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It affects how easily new facts can be inferred</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It influences how reusable the knowledge is</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It can make a problem clear or unnecessarily painful</a:t>
            </a:r>
            <a:endParaRPr lang="en-US" sz="1650" dirty="0"/>
          </a:p>
        </p:txBody>
      </p:sp>
      <p:sp>
        <p:nvSpPr>
          <p:cNvPr id="9" name="Shape 7"/>
          <p:cNvSpPr/>
          <p:nvPr/>
        </p:nvSpPr>
        <p:spPr>
          <a:xfrm>
            <a:off x="6446520" y="1572768"/>
            <a:ext cx="5074920" cy="1234440"/>
          </a:xfrm>
          <a:prstGeom prst="roundRect">
            <a:avLst>
              <a:gd name="adj" fmla="val 5926"/>
            </a:avLst>
          </a:prstGeom>
          <a:solidFill>
            <a:srgbClr val="FFF6D9"/>
          </a:solidFill>
          <a:ln w="12700">
            <a:solidFill>
              <a:srgbClr val="F4A261"/>
            </a:solidFill>
            <a:prstDash val="solid"/>
          </a:ln>
        </p:spPr>
      </p:sp>
      <p:sp>
        <p:nvSpPr>
          <p:cNvPr id="10" name="Text 8"/>
          <p:cNvSpPr/>
          <p:nvPr/>
        </p:nvSpPr>
        <p:spPr>
          <a:xfrm>
            <a:off x="6629400" y="1709928"/>
            <a:ext cx="4709160" cy="219456"/>
          </a:xfrm>
          <a:prstGeom prst="rect">
            <a:avLst/>
          </a:prstGeom>
          <a:noFill/>
          <a:ln/>
        </p:spPr>
        <p:txBody>
          <a:bodyPr wrap="square" lIns="0" tIns="0" rIns="0" bIns="0" rtlCol="0" anchor="ctr"/>
          <a:lstStyle/>
          <a:p>
            <a:pPr indent="0" marL="0">
              <a:buNone/>
            </a:pPr>
            <a:r>
              <a:rPr lang="en-US" sz="950" b="1" dirty="0">
                <a:solidFill>
                  <a:srgbClr val="B0005D"/>
                </a:solidFill>
              </a:rPr>
              <a:t>ANALOGY</a:t>
            </a:r>
            <a:endParaRPr lang="en-US" sz="950" dirty="0"/>
          </a:p>
        </p:txBody>
      </p:sp>
      <p:sp>
        <p:nvSpPr>
          <p:cNvPr id="11" name="Text 9"/>
          <p:cNvSpPr/>
          <p:nvPr/>
        </p:nvSpPr>
        <p:spPr>
          <a:xfrm>
            <a:off x="6629400" y="1984248"/>
            <a:ext cx="4709160" cy="731520"/>
          </a:xfrm>
          <a:prstGeom prst="rect">
            <a:avLst/>
          </a:prstGeom>
          <a:noFill/>
          <a:ln/>
        </p:spPr>
        <p:txBody>
          <a:bodyPr wrap="square" lIns="254" tIns="254" rIns="254" bIns="254" rtlCol="0" anchor="t">
            <a:normAutofit/>
          </a:bodyPr>
          <a:lstStyle/>
          <a:p>
            <a:pPr indent="0" marL="0">
              <a:buNone/>
            </a:pPr>
            <a:r>
              <a:rPr lang="en-US" sz="1330" dirty="0">
                <a:solidFill>
                  <a:srgbClr val="1E293B"/>
                </a:solidFill>
              </a:rPr>
              <a:t>A spreadsheet, a family tree, and a map can all describe people or places, but each makes different questions easy.</a:t>
            </a:r>
            <a:endParaRPr lang="en-US" sz="1330" dirty="0"/>
          </a:p>
        </p:txBody>
      </p:sp>
      <p:sp>
        <p:nvSpPr>
          <p:cNvPr id="12" name="Shape 10"/>
          <p:cNvSpPr/>
          <p:nvPr/>
        </p:nvSpPr>
        <p:spPr>
          <a:xfrm>
            <a:off x="6446520" y="2999232"/>
            <a:ext cx="5074920" cy="841248"/>
          </a:xfrm>
          <a:prstGeom prst="roundRect">
            <a:avLst>
              <a:gd name="adj" fmla="val 8696"/>
            </a:avLst>
          </a:prstGeom>
          <a:solidFill>
            <a:srgbClr val="FFFFFF">
              <a:alpha val="97000"/>
            </a:srgbClr>
          </a:solidFill>
          <a:ln w="12700">
            <a:solidFill>
              <a:srgbClr val="007C89"/>
            </a:solidFill>
            <a:prstDash val="solid"/>
          </a:ln>
        </p:spPr>
      </p:sp>
      <p:sp>
        <p:nvSpPr>
          <p:cNvPr id="13" name="Text 11"/>
          <p:cNvSpPr/>
          <p:nvPr/>
        </p:nvSpPr>
        <p:spPr>
          <a:xfrm>
            <a:off x="6611112" y="3127248"/>
            <a:ext cx="4745736" cy="658368"/>
          </a:xfrm>
          <a:prstGeom prst="rect">
            <a:avLst/>
          </a:prstGeom>
          <a:noFill/>
          <a:ln/>
        </p:spPr>
        <p:txBody>
          <a:bodyPr wrap="square" lIns="0" tIns="0" rIns="0" bIns="0" rtlCol="0" anchor="ctr">
            <a:normAutofit/>
          </a:bodyPr>
          <a:lstStyle/>
          <a:p>
            <a:pPr algn="ctr" indent="0" marL="0">
              <a:buNone/>
            </a:pPr>
            <a:r>
              <a:rPr lang="en-US" sz="2000" b="1" dirty="0">
                <a:solidFill>
                  <a:srgbClr val="005088"/>
                </a:solidFill>
                <a:latin typeface="Cambria Math" pitchFamily="34" charset="0"/>
                <a:ea typeface="Cambria Math" pitchFamily="34" charset="-122"/>
                <a:cs typeface="Cambria Math" pitchFamily="34" charset="-120"/>
              </a:rPr>
              <a:t>good representation = easier reasoning</a:t>
            </a:r>
            <a:endParaRPr lang="en-US" sz="2000" dirty="0"/>
          </a:p>
        </p:txBody>
      </p:sp>
      <p:sp>
        <p:nvSpPr>
          <p:cNvPr id="14" name="Shape 12"/>
          <p:cNvSpPr/>
          <p:nvPr/>
        </p:nvSpPr>
        <p:spPr>
          <a:xfrm>
            <a:off x="6446520" y="4041648"/>
            <a:ext cx="5074920" cy="859536"/>
          </a:xfrm>
          <a:prstGeom prst="roundRect">
            <a:avLst>
              <a:gd name="adj" fmla="val 8511"/>
            </a:avLst>
          </a:prstGeom>
          <a:solidFill>
            <a:srgbClr val="FFE4E6"/>
          </a:solidFill>
          <a:ln w="12700">
            <a:solidFill>
              <a:srgbClr val="FDA4AF"/>
            </a:solidFill>
            <a:prstDash val="solid"/>
          </a:ln>
        </p:spPr>
      </p:sp>
      <p:sp>
        <p:nvSpPr>
          <p:cNvPr id="15" name="Text 13"/>
          <p:cNvSpPr/>
          <p:nvPr/>
        </p:nvSpPr>
        <p:spPr>
          <a:xfrm>
            <a:off x="6629400" y="4178808"/>
            <a:ext cx="4709160" cy="219456"/>
          </a:xfrm>
          <a:prstGeom prst="rect">
            <a:avLst/>
          </a:prstGeom>
          <a:noFill/>
          <a:ln/>
        </p:spPr>
        <p:txBody>
          <a:bodyPr wrap="square" lIns="0" tIns="0" rIns="0" bIns="0" rtlCol="0" anchor="ctr"/>
          <a:lstStyle/>
          <a:p>
            <a:pPr indent="0" marL="0">
              <a:buNone/>
            </a:pPr>
            <a:r>
              <a:rPr lang="en-US" sz="950" b="1" dirty="0">
                <a:solidFill>
                  <a:srgbClr val="C1121F"/>
                </a:solidFill>
              </a:rPr>
              <a:t>STUDENT GOTCHA</a:t>
            </a:r>
            <a:endParaRPr lang="en-US" sz="950" dirty="0"/>
          </a:p>
        </p:txBody>
      </p:sp>
      <p:sp>
        <p:nvSpPr>
          <p:cNvPr id="16" name="Text 14"/>
          <p:cNvSpPr/>
          <p:nvPr/>
        </p:nvSpPr>
        <p:spPr>
          <a:xfrm>
            <a:off x="6629400" y="4453128"/>
            <a:ext cx="4709160" cy="356616"/>
          </a:xfrm>
          <a:prstGeom prst="rect">
            <a:avLst/>
          </a:prstGeom>
          <a:noFill/>
          <a:ln/>
        </p:spPr>
        <p:txBody>
          <a:bodyPr wrap="square" lIns="254" tIns="254" rIns="254" bIns="254" rtlCol="0" anchor="t">
            <a:normAutofit/>
          </a:bodyPr>
          <a:lstStyle/>
          <a:p>
            <a:pPr indent="0" marL="0">
              <a:buNone/>
            </a:pPr>
            <a:r>
              <a:rPr lang="en-US" sz="1250" dirty="0">
                <a:solidFill>
                  <a:srgbClr val="1E293B"/>
                </a:solidFill>
              </a:rPr>
              <a:t>Students may ask why not just use Python. Python can implement reasoning, but the logic language states knowledge in a domain-independent way.</a:t>
            </a:r>
            <a:endParaRPr lang="en-US" sz="1250" dirty="0"/>
          </a:p>
        </p:txBody>
      </p:sp>
      <p:sp>
        <p:nvSpPr>
          <p:cNvPr id="17" name="Shape 15"/>
          <p:cNvSpPr/>
          <p:nvPr/>
        </p:nvSpPr>
        <p:spPr>
          <a:xfrm>
            <a:off x="6446520" y="5074920"/>
            <a:ext cx="5074920" cy="841248"/>
          </a:xfrm>
          <a:prstGeom prst="roundRect">
            <a:avLst>
              <a:gd name="adj" fmla="val 8696"/>
            </a:avLst>
          </a:prstGeom>
          <a:solidFill>
            <a:srgbClr val="E6FFFA"/>
          </a:solidFill>
          <a:ln w="12700">
            <a:solidFill>
              <a:srgbClr val="2A9D8F"/>
            </a:solidFill>
            <a:prstDash val="solid"/>
          </a:ln>
        </p:spPr>
      </p:sp>
      <p:sp>
        <p:nvSpPr>
          <p:cNvPr id="18" name="Text 16"/>
          <p:cNvSpPr/>
          <p:nvPr/>
        </p:nvSpPr>
        <p:spPr>
          <a:xfrm>
            <a:off x="6629400" y="5212080"/>
            <a:ext cx="4709160" cy="219456"/>
          </a:xfrm>
          <a:prstGeom prst="rect">
            <a:avLst/>
          </a:prstGeom>
          <a:noFill/>
          <a:ln/>
        </p:spPr>
        <p:txBody>
          <a:bodyPr wrap="square" lIns="0" tIns="0" rIns="0" bIns="0" rtlCol="0" anchor="ctr"/>
          <a:lstStyle/>
          <a:p>
            <a:pPr indent="0" marL="0">
              <a:buNone/>
            </a:pPr>
            <a:r>
              <a:rPr lang="en-US" sz="950" b="1" dirty="0">
                <a:solidFill>
                  <a:srgbClr val="007C89"/>
                </a:solidFill>
              </a:rPr>
              <a:t>CLASS CHECK</a:t>
            </a:r>
            <a:endParaRPr lang="en-US" sz="950" dirty="0"/>
          </a:p>
        </p:txBody>
      </p:sp>
      <p:sp>
        <p:nvSpPr>
          <p:cNvPr id="19" name="Text 17"/>
          <p:cNvSpPr/>
          <p:nvPr/>
        </p:nvSpPr>
        <p:spPr>
          <a:xfrm>
            <a:off x="6629400" y="5486400"/>
            <a:ext cx="4709160" cy="338328"/>
          </a:xfrm>
          <a:prstGeom prst="rect">
            <a:avLst/>
          </a:prstGeom>
          <a:noFill/>
          <a:ln/>
        </p:spPr>
        <p:txBody>
          <a:bodyPr wrap="square" lIns="254" tIns="254" rIns="254" bIns="254" rtlCol="0" anchor="t">
            <a:normAutofit/>
          </a:bodyPr>
          <a:lstStyle/>
          <a:p>
            <a:pPr indent="0" marL="0">
              <a:buNone/>
            </a:pPr>
            <a:r>
              <a:rPr lang="en-US" sz="1270" dirty="0">
                <a:solidFill>
                  <a:srgbClr val="1E293B"/>
                </a:solidFill>
              </a:rPr>
              <a:t>Ask: Which representation is better for “who is related to whom,” a table or a family tree?</a:t>
            </a:r>
            <a:endParaRPr lang="en-US" sz="127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5088"/>
          </a:solidFill>
          <a:ln w="12700">
            <a:solidFill>
              <a:srgbClr val="005088"/>
            </a:solidFill>
            <a:prstDash val="solid"/>
          </a:ln>
        </p:spPr>
      </p:sp>
      <p:sp>
        <p:nvSpPr>
          <p:cNvPr id="3" name="Shape 1"/>
          <p:cNvSpPr/>
          <p:nvPr/>
        </p:nvSpPr>
        <p:spPr>
          <a:xfrm>
            <a:off x="0" y="6729984"/>
            <a:ext cx="12191695" cy="128016"/>
          </a:xfrm>
          <a:prstGeom prst="rect">
            <a:avLst/>
          </a:prstGeom>
          <a:solidFill>
            <a:srgbClr val="005088"/>
          </a:solidFill>
          <a:ln w="12700">
            <a:solidFill>
              <a:srgbClr val="005088"/>
            </a:solidFill>
            <a:prstDash val="solid"/>
          </a:ln>
        </p:spPr>
      </p:sp>
      <p:sp>
        <p:nvSpPr>
          <p:cNvPr id="4" name="Text 2"/>
          <p:cNvSpPr/>
          <p:nvPr/>
        </p:nvSpPr>
        <p:spPr>
          <a:xfrm>
            <a:off x="502920" y="210312"/>
            <a:ext cx="6858000" cy="219456"/>
          </a:xfrm>
          <a:prstGeom prst="rect">
            <a:avLst/>
          </a:prstGeom>
          <a:noFill/>
          <a:ln/>
        </p:spPr>
        <p:txBody>
          <a:bodyPr wrap="square" lIns="0" tIns="0" rIns="0" bIns="0" rtlCol="0" anchor="ctr"/>
          <a:lstStyle/>
          <a:p>
            <a:pPr indent="0" marL="0">
              <a:buNone/>
            </a:pPr>
            <a:r>
              <a:rPr lang="en-US" sz="950" b="1" dirty="0">
                <a:solidFill>
                  <a:srgbClr val="3D5A80"/>
                </a:solidFill>
                <a:latin typeface="Aptos" pitchFamily="34" charset="0"/>
                <a:ea typeface="Aptos" pitchFamily="34" charset="-122"/>
                <a:cs typeface="Aptos" pitchFamily="34" charset="-120"/>
              </a:rPr>
              <a:t>8.1 Representation Revisited</a:t>
            </a:r>
            <a:endParaRPr lang="en-US" sz="950" dirty="0"/>
          </a:p>
        </p:txBody>
      </p:sp>
      <p:sp>
        <p:nvSpPr>
          <p:cNvPr id="5" name="Text 3"/>
          <p:cNvSpPr/>
          <p:nvPr/>
        </p:nvSpPr>
        <p:spPr>
          <a:xfrm>
            <a:off x="11018520" y="201168"/>
            <a:ext cx="640080" cy="228600"/>
          </a:xfrm>
          <a:prstGeom prst="rect">
            <a:avLst/>
          </a:prstGeom>
          <a:noFill/>
          <a:ln/>
        </p:spPr>
        <p:txBody>
          <a:bodyPr wrap="square" lIns="0" tIns="0" rIns="0" bIns="0" rtlCol="0" anchor="ctr"/>
          <a:lstStyle/>
          <a:p>
            <a:pPr algn="r" indent="0" marL="0">
              <a:buNone/>
            </a:pPr>
            <a:r>
              <a:rPr lang="en-US" sz="900" b="1" dirty="0">
                <a:solidFill>
                  <a:srgbClr val="3D5A80"/>
                </a:solidFill>
              </a:rPr>
              <a:t>10</a:t>
            </a:r>
            <a:endParaRPr lang="en-US" sz="900" dirty="0"/>
          </a:p>
        </p:txBody>
      </p:sp>
      <p:sp>
        <p:nvSpPr>
          <p:cNvPr id="6" name="Text 4"/>
          <p:cNvSpPr/>
          <p:nvPr/>
        </p:nvSpPr>
        <p:spPr>
          <a:xfrm>
            <a:off x="502920" y="566928"/>
            <a:ext cx="11201400" cy="512064"/>
          </a:xfrm>
          <a:prstGeom prst="rect">
            <a:avLst/>
          </a:prstGeom>
          <a:noFill/>
          <a:ln/>
        </p:spPr>
        <p:txBody>
          <a:bodyPr wrap="square" lIns="0" tIns="0" rIns="0" bIns="0" rtlCol="0" anchor="ctr">
            <a:normAutofit/>
          </a:bodyPr>
          <a:lstStyle/>
          <a:p>
            <a:pPr indent="0" marL="0">
              <a:buNone/>
            </a:pPr>
            <a:r>
              <a:rPr lang="en-US" sz="2650" b="1" dirty="0">
                <a:solidFill>
                  <a:srgbClr val="005088"/>
                </a:solidFill>
                <a:latin typeface="Aptos Display" pitchFamily="34" charset="0"/>
                <a:ea typeface="Aptos Display" pitchFamily="34" charset="-122"/>
                <a:cs typeface="Aptos Display" pitchFamily="34" charset="-120"/>
              </a:rPr>
              <a:t>DATA STRUCTURES CAN STORE FACTS</a:t>
            </a:r>
            <a:endParaRPr lang="en-US" sz="2650" dirty="0"/>
          </a:p>
        </p:txBody>
      </p:sp>
      <p:sp>
        <p:nvSpPr>
          <p:cNvPr id="7" name="Shape 5"/>
          <p:cNvSpPr/>
          <p:nvPr/>
        </p:nvSpPr>
        <p:spPr>
          <a:xfrm>
            <a:off x="502920" y="1188720"/>
            <a:ext cx="11109960" cy="0"/>
          </a:xfrm>
          <a:prstGeom prst="line">
            <a:avLst/>
          </a:prstGeom>
          <a:noFill/>
          <a:ln w="12700">
            <a:solidFill>
              <a:srgbClr val="3D5A80"/>
            </a:solidFill>
            <a:prstDash val="solid"/>
          </a:ln>
        </p:spPr>
      </p:sp>
      <p:sp>
        <p:nvSpPr>
          <p:cNvPr id="8" name="Text 6"/>
          <p:cNvSpPr/>
          <p:nvPr/>
        </p:nvSpPr>
        <p:spPr>
          <a:xfrm>
            <a:off x="713232" y="1572768"/>
            <a:ext cx="5440680" cy="4251960"/>
          </a:xfrm>
          <a:prstGeom prst="rect">
            <a:avLst/>
          </a:prstGeom>
          <a:noFill/>
          <a:ln/>
        </p:spPr>
        <p:txBody>
          <a:bodyPr wrap="square" lIns="1016" tIns="1016" rIns="1016" bIns="1016" rtlCol="0" anchor="t">
            <a:normAutofit/>
          </a:bodyPr>
          <a:lstStyle/>
          <a:p>
            <a:pPr indent="0" marL="0">
              <a:buNone/>
            </a:pPr>
            <a:r>
              <a:rPr lang="en-US" sz="1650" dirty="0">
                <a:solidFill>
                  <a:srgbClr val="1E293B"/>
                </a:solidFill>
                <a:latin typeface="Aptos" pitchFamily="34" charset="0"/>
                <a:ea typeface="Aptos" pitchFamily="34" charset="-122"/>
                <a:cs typeface="Aptos" pitchFamily="34" charset="-120"/>
              </a:rPr>
              <a:t>• A program can store a pit at square two comma two</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A program can update arrays, lists, or dictionaries</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But each consequence must be coded by a domain-specific procedure</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The data structure itself does not understand the rules</a:t>
            </a:r>
            <a:endParaRPr lang="en-US" sz="1650" dirty="0"/>
          </a:p>
        </p:txBody>
      </p:sp>
      <p:sp>
        <p:nvSpPr>
          <p:cNvPr id="9" name="Shape 7"/>
          <p:cNvSpPr/>
          <p:nvPr/>
        </p:nvSpPr>
        <p:spPr>
          <a:xfrm>
            <a:off x="6446520" y="1572768"/>
            <a:ext cx="5074920" cy="1234440"/>
          </a:xfrm>
          <a:prstGeom prst="roundRect">
            <a:avLst>
              <a:gd name="adj" fmla="val 5926"/>
            </a:avLst>
          </a:prstGeom>
          <a:solidFill>
            <a:srgbClr val="FFF6D9"/>
          </a:solidFill>
          <a:ln w="12700">
            <a:solidFill>
              <a:srgbClr val="F4A261"/>
            </a:solidFill>
            <a:prstDash val="solid"/>
          </a:ln>
        </p:spPr>
      </p:sp>
      <p:sp>
        <p:nvSpPr>
          <p:cNvPr id="10" name="Text 8"/>
          <p:cNvSpPr/>
          <p:nvPr/>
        </p:nvSpPr>
        <p:spPr>
          <a:xfrm>
            <a:off x="6629400" y="1709928"/>
            <a:ext cx="4709160" cy="219456"/>
          </a:xfrm>
          <a:prstGeom prst="rect">
            <a:avLst/>
          </a:prstGeom>
          <a:noFill/>
          <a:ln/>
        </p:spPr>
        <p:txBody>
          <a:bodyPr wrap="square" lIns="0" tIns="0" rIns="0" bIns="0" rtlCol="0" anchor="ctr"/>
          <a:lstStyle/>
          <a:p>
            <a:pPr indent="0" marL="0">
              <a:buNone/>
            </a:pPr>
            <a:r>
              <a:rPr lang="en-US" sz="950" b="1" dirty="0">
                <a:solidFill>
                  <a:srgbClr val="B0005D"/>
                </a:solidFill>
              </a:rPr>
              <a:t>ANALOGY</a:t>
            </a:r>
            <a:endParaRPr lang="en-US" sz="950" dirty="0"/>
          </a:p>
        </p:txBody>
      </p:sp>
      <p:sp>
        <p:nvSpPr>
          <p:cNvPr id="11" name="Text 9"/>
          <p:cNvSpPr/>
          <p:nvPr/>
        </p:nvSpPr>
        <p:spPr>
          <a:xfrm>
            <a:off x="6629400" y="1984248"/>
            <a:ext cx="4709160" cy="731520"/>
          </a:xfrm>
          <a:prstGeom prst="rect">
            <a:avLst/>
          </a:prstGeom>
          <a:noFill/>
          <a:ln/>
        </p:spPr>
        <p:txBody>
          <a:bodyPr wrap="square" lIns="254" tIns="254" rIns="254" bIns="254" rtlCol="0" anchor="t">
            <a:normAutofit/>
          </a:bodyPr>
          <a:lstStyle/>
          <a:p>
            <a:pPr indent="0" marL="0">
              <a:buNone/>
            </a:pPr>
            <a:r>
              <a:rPr lang="en-US" sz="1330" dirty="0">
                <a:solidFill>
                  <a:srgbClr val="1E293B"/>
                </a:solidFill>
              </a:rPr>
              <a:t>A warehouse shelf can hold boxes, but it does not know which boxes are fragile unless someone labels and reasons about them.</a:t>
            </a:r>
            <a:endParaRPr lang="en-US" sz="1330" dirty="0"/>
          </a:p>
        </p:txBody>
      </p:sp>
      <p:sp>
        <p:nvSpPr>
          <p:cNvPr id="12" name="Shape 10"/>
          <p:cNvSpPr/>
          <p:nvPr/>
        </p:nvSpPr>
        <p:spPr>
          <a:xfrm>
            <a:off x="6446520" y="2999232"/>
            <a:ext cx="5074920" cy="841248"/>
          </a:xfrm>
          <a:prstGeom prst="roundRect">
            <a:avLst>
              <a:gd name="adj" fmla="val 8696"/>
            </a:avLst>
          </a:prstGeom>
          <a:solidFill>
            <a:srgbClr val="FFFFFF">
              <a:alpha val="97000"/>
            </a:srgbClr>
          </a:solidFill>
          <a:ln w="12700">
            <a:solidFill>
              <a:srgbClr val="007C89"/>
            </a:solidFill>
            <a:prstDash val="solid"/>
          </a:ln>
        </p:spPr>
      </p:sp>
      <p:sp>
        <p:nvSpPr>
          <p:cNvPr id="13" name="Text 11"/>
          <p:cNvSpPr/>
          <p:nvPr/>
        </p:nvSpPr>
        <p:spPr>
          <a:xfrm>
            <a:off x="6611112" y="3127248"/>
            <a:ext cx="4745736" cy="658368"/>
          </a:xfrm>
          <a:prstGeom prst="rect">
            <a:avLst/>
          </a:prstGeom>
          <a:noFill/>
          <a:ln/>
        </p:spPr>
        <p:txBody>
          <a:bodyPr wrap="square" lIns="0" tIns="0" rIns="0" bIns="0" rtlCol="0" anchor="ctr">
            <a:normAutofit/>
          </a:bodyPr>
          <a:lstStyle/>
          <a:p>
            <a:pPr algn="ctr" indent="0" marL="0">
              <a:buNone/>
            </a:pPr>
            <a:r>
              <a:rPr lang="en-US" sz="2100" b="1" dirty="0">
                <a:solidFill>
                  <a:srgbClr val="005088"/>
                </a:solidFill>
                <a:latin typeface="Cambria Math" pitchFamily="34" charset="0"/>
                <a:ea typeface="Cambria Math" pitchFamily="34" charset="-122"/>
                <a:cs typeface="Cambria Math" pitchFamily="34" charset="-120"/>
              </a:rPr>
              <a:t>World[2,2] = Pit</a:t>
            </a:r>
            <a:endParaRPr lang="en-US" sz="2100" dirty="0"/>
          </a:p>
        </p:txBody>
      </p:sp>
      <p:sp>
        <p:nvSpPr>
          <p:cNvPr id="14" name="Shape 12"/>
          <p:cNvSpPr/>
          <p:nvPr/>
        </p:nvSpPr>
        <p:spPr>
          <a:xfrm>
            <a:off x="6446520" y="4041648"/>
            <a:ext cx="5074920" cy="859536"/>
          </a:xfrm>
          <a:prstGeom prst="roundRect">
            <a:avLst>
              <a:gd name="adj" fmla="val 8511"/>
            </a:avLst>
          </a:prstGeom>
          <a:solidFill>
            <a:srgbClr val="FFE4E6"/>
          </a:solidFill>
          <a:ln w="12700">
            <a:solidFill>
              <a:srgbClr val="FDA4AF"/>
            </a:solidFill>
            <a:prstDash val="solid"/>
          </a:ln>
        </p:spPr>
      </p:sp>
      <p:sp>
        <p:nvSpPr>
          <p:cNvPr id="15" name="Text 13"/>
          <p:cNvSpPr/>
          <p:nvPr/>
        </p:nvSpPr>
        <p:spPr>
          <a:xfrm>
            <a:off x="6629400" y="4178808"/>
            <a:ext cx="4709160" cy="219456"/>
          </a:xfrm>
          <a:prstGeom prst="rect">
            <a:avLst/>
          </a:prstGeom>
          <a:noFill/>
          <a:ln/>
        </p:spPr>
        <p:txBody>
          <a:bodyPr wrap="square" lIns="0" tIns="0" rIns="0" bIns="0" rtlCol="0" anchor="ctr"/>
          <a:lstStyle/>
          <a:p>
            <a:pPr indent="0" marL="0">
              <a:buNone/>
            </a:pPr>
            <a:r>
              <a:rPr lang="en-US" sz="950" b="1" dirty="0">
                <a:solidFill>
                  <a:srgbClr val="C1121F"/>
                </a:solidFill>
              </a:rPr>
              <a:t>STUDENT GOTCHA</a:t>
            </a:r>
            <a:endParaRPr lang="en-US" sz="950" dirty="0"/>
          </a:p>
        </p:txBody>
      </p:sp>
      <p:sp>
        <p:nvSpPr>
          <p:cNvPr id="16" name="Text 14"/>
          <p:cNvSpPr/>
          <p:nvPr/>
        </p:nvSpPr>
        <p:spPr>
          <a:xfrm>
            <a:off x="6629400" y="4453128"/>
            <a:ext cx="4709160" cy="356616"/>
          </a:xfrm>
          <a:prstGeom prst="rect">
            <a:avLst/>
          </a:prstGeom>
          <a:noFill/>
          <a:ln/>
        </p:spPr>
        <p:txBody>
          <a:bodyPr wrap="square" lIns="254" tIns="254" rIns="254" bIns="254" rtlCol="0" anchor="t">
            <a:normAutofit/>
          </a:bodyPr>
          <a:lstStyle/>
          <a:p>
            <a:pPr indent="0" marL="0">
              <a:buNone/>
            </a:pPr>
            <a:r>
              <a:rPr lang="en-US" sz="1250" dirty="0">
                <a:solidFill>
                  <a:srgbClr val="1E293B"/>
                </a:solidFill>
              </a:rPr>
              <a:t>Students may think storing a fact and knowing a fact are the same. In Artificial Intelligence, useful knowledge includes the ability to derive consequences.</a:t>
            </a:r>
            <a:endParaRPr lang="en-US" sz="1250" dirty="0"/>
          </a:p>
        </p:txBody>
      </p:sp>
      <p:sp>
        <p:nvSpPr>
          <p:cNvPr id="17" name="Shape 15"/>
          <p:cNvSpPr/>
          <p:nvPr/>
        </p:nvSpPr>
        <p:spPr>
          <a:xfrm>
            <a:off x="6446520" y="5074920"/>
            <a:ext cx="5074920" cy="841248"/>
          </a:xfrm>
          <a:prstGeom prst="roundRect">
            <a:avLst>
              <a:gd name="adj" fmla="val 8696"/>
            </a:avLst>
          </a:prstGeom>
          <a:solidFill>
            <a:srgbClr val="E6FFFA"/>
          </a:solidFill>
          <a:ln w="12700">
            <a:solidFill>
              <a:srgbClr val="2A9D8F"/>
            </a:solidFill>
            <a:prstDash val="solid"/>
          </a:ln>
        </p:spPr>
      </p:sp>
      <p:sp>
        <p:nvSpPr>
          <p:cNvPr id="18" name="Text 16"/>
          <p:cNvSpPr/>
          <p:nvPr/>
        </p:nvSpPr>
        <p:spPr>
          <a:xfrm>
            <a:off x="6629400" y="5212080"/>
            <a:ext cx="4709160" cy="219456"/>
          </a:xfrm>
          <a:prstGeom prst="rect">
            <a:avLst/>
          </a:prstGeom>
          <a:noFill/>
          <a:ln/>
        </p:spPr>
        <p:txBody>
          <a:bodyPr wrap="square" lIns="0" tIns="0" rIns="0" bIns="0" rtlCol="0" anchor="ctr"/>
          <a:lstStyle/>
          <a:p>
            <a:pPr indent="0" marL="0">
              <a:buNone/>
            </a:pPr>
            <a:r>
              <a:rPr lang="en-US" sz="950" b="1" dirty="0">
                <a:solidFill>
                  <a:srgbClr val="007C89"/>
                </a:solidFill>
              </a:rPr>
              <a:t>CLASS CHECK</a:t>
            </a:r>
            <a:endParaRPr lang="en-US" sz="950" dirty="0"/>
          </a:p>
        </p:txBody>
      </p:sp>
      <p:sp>
        <p:nvSpPr>
          <p:cNvPr id="19" name="Text 17"/>
          <p:cNvSpPr/>
          <p:nvPr/>
        </p:nvSpPr>
        <p:spPr>
          <a:xfrm>
            <a:off x="6629400" y="5486400"/>
            <a:ext cx="4709160" cy="338328"/>
          </a:xfrm>
          <a:prstGeom prst="rect">
            <a:avLst/>
          </a:prstGeom>
          <a:noFill/>
          <a:ln/>
        </p:spPr>
        <p:txBody>
          <a:bodyPr wrap="square" lIns="254" tIns="254" rIns="254" bIns="254" rtlCol="0" anchor="t">
            <a:normAutofit/>
          </a:bodyPr>
          <a:lstStyle/>
          <a:p>
            <a:pPr indent="0" marL="0">
              <a:buNone/>
            </a:pPr>
            <a:r>
              <a:rPr lang="en-US" sz="1270" dirty="0">
                <a:solidFill>
                  <a:srgbClr val="1E293B"/>
                </a:solidFill>
              </a:rPr>
              <a:t>Ask: What additional rule would be needed to infer that a neighboring square has a breeze?</a:t>
            </a:r>
            <a:endParaRPr lang="en-US" sz="127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5088"/>
          </a:solidFill>
          <a:ln w="12700">
            <a:solidFill>
              <a:srgbClr val="005088"/>
            </a:solidFill>
            <a:prstDash val="solid"/>
          </a:ln>
        </p:spPr>
      </p:sp>
      <p:sp>
        <p:nvSpPr>
          <p:cNvPr id="3" name="Shape 1"/>
          <p:cNvSpPr/>
          <p:nvPr/>
        </p:nvSpPr>
        <p:spPr>
          <a:xfrm>
            <a:off x="0" y="6729984"/>
            <a:ext cx="12191695" cy="128016"/>
          </a:xfrm>
          <a:prstGeom prst="rect">
            <a:avLst/>
          </a:prstGeom>
          <a:solidFill>
            <a:srgbClr val="005088"/>
          </a:solidFill>
          <a:ln w="12700">
            <a:solidFill>
              <a:srgbClr val="005088"/>
            </a:solidFill>
            <a:prstDash val="solid"/>
          </a:ln>
        </p:spPr>
      </p:sp>
      <p:sp>
        <p:nvSpPr>
          <p:cNvPr id="4" name="Text 2"/>
          <p:cNvSpPr/>
          <p:nvPr/>
        </p:nvSpPr>
        <p:spPr>
          <a:xfrm>
            <a:off x="502920" y="210312"/>
            <a:ext cx="6858000" cy="219456"/>
          </a:xfrm>
          <a:prstGeom prst="rect">
            <a:avLst/>
          </a:prstGeom>
          <a:noFill/>
          <a:ln/>
        </p:spPr>
        <p:txBody>
          <a:bodyPr wrap="square" lIns="0" tIns="0" rIns="0" bIns="0" rtlCol="0" anchor="ctr"/>
          <a:lstStyle/>
          <a:p>
            <a:pPr indent="0" marL="0">
              <a:buNone/>
            </a:pPr>
            <a:r>
              <a:rPr lang="en-US" sz="950" b="1" dirty="0">
                <a:solidFill>
                  <a:srgbClr val="3D5A80"/>
                </a:solidFill>
                <a:latin typeface="Aptos" pitchFamily="34" charset="0"/>
                <a:ea typeface="Aptos" pitchFamily="34" charset="-122"/>
                <a:cs typeface="Aptos" pitchFamily="34" charset="-120"/>
              </a:rPr>
              <a:t>8.1 Representation Revisited</a:t>
            </a:r>
            <a:endParaRPr lang="en-US" sz="950" dirty="0"/>
          </a:p>
        </p:txBody>
      </p:sp>
      <p:sp>
        <p:nvSpPr>
          <p:cNvPr id="5" name="Text 3"/>
          <p:cNvSpPr/>
          <p:nvPr/>
        </p:nvSpPr>
        <p:spPr>
          <a:xfrm>
            <a:off x="11018520" y="201168"/>
            <a:ext cx="640080" cy="228600"/>
          </a:xfrm>
          <a:prstGeom prst="rect">
            <a:avLst/>
          </a:prstGeom>
          <a:noFill/>
          <a:ln/>
        </p:spPr>
        <p:txBody>
          <a:bodyPr wrap="square" lIns="0" tIns="0" rIns="0" bIns="0" rtlCol="0" anchor="ctr"/>
          <a:lstStyle/>
          <a:p>
            <a:pPr algn="r" indent="0" marL="0">
              <a:buNone/>
            </a:pPr>
            <a:r>
              <a:rPr lang="en-US" sz="900" b="1" dirty="0">
                <a:solidFill>
                  <a:srgbClr val="3D5A80"/>
                </a:solidFill>
              </a:rPr>
              <a:t>11</a:t>
            </a:r>
            <a:endParaRPr lang="en-US" sz="900" dirty="0"/>
          </a:p>
        </p:txBody>
      </p:sp>
      <p:sp>
        <p:nvSpPr>
          <p:cNvPr id="6" name="Text 4"/>
          <p:cNvSpPr/>
          <p:nvPr/>
        </p:nvSpPr>
        <p:spPr>
          <a:xfrm>
            <a:off x="502920" y="566928"/>
            <a:ext cx="11201400" cy="512064"/>
          </a:xfrm>
          <a:prstGeom prst="rect">
            <a:avLst/>
          </a:prstGeom>
          <a:noFill/>
          <a:ln/>
        </p:spPr>
        <p:txBody>
          <a:bodyPr wrap="square" lIns="0" tIns="0" rIns="0" bIns="0" rtlCol="0" anchor="ctr">
            <a:normAutofit/>
          </a:bodyPr>
          <a:lstStyle/>
          <a:p>
            <a:pPr indent="0" marL="0">
              <a:buNone/>
            </a:pPr>
            <a:r>
              <a:rPr lang="en-US" sz="2650" b="1" dirty="0">
                <a:solidFill>
                  <a:srgbClr val="005088"/>
                </a:solidFill>
                <a:latin typeface="Aptos Display" pitchFamily="34" charset="0"/>
                <a:ea typeface="Aptos Display" pitchFamily="34" charset="-122"/>
                <a:cs typeface="Aptos Display" pitchFamily="34" charset="-120"/>
              </a:rPr>
              <a:t>LOGICAL KNOWLEDGE SEPARATES FACTS FROM INFERENCE</a:t>
            </a:r>
            <a:endParaRPr lang="en-US" sz="2650" dirty="0"/>
          </a:p>
        </p:txBody>
      </p:sp>
      <p:sp>
        <p:nvSpPr>
          <p:cNvPr id="7" name="Shape 5"/>
          <p:cNvSpPr/>
          <p:nvPr/>
        </p:nvSpPr>
        <p:spPr>
          <a:xfrm>
            <a:off x="502920" y="1188720"/>
            <a:ext cx="11109960" cy="0"/>
          </a:xfrm>
          <a:prstGeom prst="line">
            <a:avLst/>
          </a:prstGeom>
          <a:noFill/>
          <a:ln w="12700">
            <a:solidFill>
              <a:srgbClr val="3D5A80"/>
            </a:solidFill>
            <a:prstDash val="solid"/>
          </a:ln>
        </p:spPr>
      </p:sp>
      <p:sp>
        <p:nvSpPr>
          <p:cNvPr id="8" name="Text 6"/>
          <p:cNvSpPr/>
          <p:nvPr/>
        </p:nvSpPr>
        <p:spPr>
          <a:xfrm>
            <a:off x="713232" y="1572768"/>
            <a:ext cx="5440680" cy="4251960"/>
          </a:xfrm>
          <a:prstGeom prst="rect">
            <a:avLst/>
          </a:prstGeom>
          <a:noFill/>
          <a:ln/>
        </p:spPr>
        <p:txBody>
          <a:bodyPr wrap="square" lIns="1016" tIns="1016" rIns="1016" bIns="1016" rtlCol="0" anchor="t">
            <a:normAutofit/>
          </a:bodyPr>
          <a:lstStyle/>
          <a:p>
            <a:pPr indent="0" marL="0">
              <a:buNone/>
            </a:pPr>
            <a:r>
              <a:rPr lang="en-US" sz="1650" dirty="0">
                <a:solidFill>
                  <a:srgbClr val="1E293B"/>
                </a:solidFill>
                <a:latin typeface="Aptos" pitchFamily="34" charset="0"/>
                <a:ea typeface="Aptos" pitchFamily="34" charset="-122"/>
                <a:cs typeface="Aptos" pitchFamily="34" charset="-120"/>
              </a:rPr>
              <a:t>• Facts are written as sentences</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Rules are written as sentences too</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A general inference procedure derives consequences</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The same inference machinery can be reused across domains</a:t>
            </a:r>
            <a:endParaRPr lang="en-US" sz="1650" dirty="0"/>
          </a:p>
        </p:txBody>
      </p:sp>
      <p:sp>
        <p:nvSpPr>
          <p:cNvPr id="9" name="Shape 7"/>
          <p:cNvSpPr/>
          <p:nvPr/>
        </p:nvSpPr>
        <p:spPr>
          <a:xfrm>
            <a:off x="6446520" y="1572768"/>
            <a:ext cx="5074920" cy="1234440"/>
          </a:xfrm>
          <a:prstGeom prst="roundRect">
            <a:avLst>
              <a:gd name="adj" fmla="val 5926"/>
            </a:avLst>
          </a:prstGeom>
          <a:solidFill>
            <a:srgbClr val="FFF6D9"/>
          </a:solidFill>
          <a:ln w="12700">
            <a:solidFill>
              <a:srgbClr val="F4A261"/>
            </a:solidFill>
            <a:prstDash val="solid"/>
          </a:ln>
        </p:spPr>
      </p:sp>
      <p:sp>
        <p:nvSpPr>
          <p:cNvPr id="10" name="Text 8"/>
          <p:cNvSpPr/>
          <p:nvPr/>
        </p:nvSpPr>
        <p:spPr>
          <a:xfrm>
            <a:off x="6629400" y="1709928"/>
            <a:ext cx="4709160" cy="219456"/>
          </a:xfrm>
          <a:prstGeom prst="rect">
            <a:avLst/>
          </a:prstGeom>
          <a:noFill/>
          <a:ln/>
        </p:spPr>
        <p:txBody>
          <a:bodyPr wrap="square" lIns="0" tIns="0" rIns="0" bIns="0" rtlCol="0" anchor="ctr"/>
          <a:lstStyle/>
          <a:p>
            <a:pPr indent="0" marL="0">
              <a:buNone/>
            </a:pPr>
            <a:r>
              <a:rPr lang="en-US" sz="950" b="1" dirty="0">
                <a:solidFill>
                  <a:srgbClr val="B0005D"/>
                </a:solidFill>
              </a:rPr>
              <a:t>ANALOGY</a:t>
            </a:r>
            <a:endParaRPr lang="en-US" sz="950" dirty="0"/>
          </a:p>
        </p:txBody>
      </p:sp>
      <p:sp>
        <p:nvSpPr>
          <p:cNvPr id="11" name="Text 9"/>
          <p:cNvSpPr/>
          <p:nvPr/>
        </p:nvSpPr>
        <p:spPr>
          <a:xfrm>
            <a:off x="6629400" y="1984248"/>
            <a:ext cx="4709160" cy="731520"/>
          </a:xfrm>
          <a:prstGeom prst="rect">
            <a:avLst/>
          </a:prstGeom>
          <a:noFill/>
          <a:ln/>
        </p:spPr>
        <p:txBody>
          <a:bodyPr wrap="square" lIns="254" tIns="254" rIns="254" bIns="254" rtlCol="0" anchor="t">
            <a:normAutofit/>
          </a:bodyPr>
          <a:lstStyle/>
          <a:p>
            <a:pPr indent="0" marL="0">
              <a:buNone/>
            </a:pPr>
            <a:r>
              <a:rPr lang="en-US" sz="1330" dirty="0">
                <a:solidFill>
                  <a:srgbClr val="1E293B"/>
                </a:solidFill>
              </a:rPr>
              <a:t>A cookbook has many recipes; a chemistry rule explains why heat changes ingredients. Logic is closer to the rule because it can apply broadly.</a:t>
            </a:r>
            <a:endParaRPr lang="en-US" sz="1330" dirty="0"/>
          </a:p>
        </p:txBody>
      </p:sp>
      <p:sp>
        <p:nvSpPr>
          <p:cNvPr id="12" name="Shape 10"/>
          <p:cNvSpPr/>
          <p:nvPr/>
        </p:nvSpPr>
        <p:spPr>
          <a:xfrm>
            <a:off x="6446520" y="2999232"/>
            <a:ext cx="5074920" cy="841248"/>
          </a:xfrm>
          <a:prstGeom prst="roundRect">
            <a:avLst>
              <a:gd name="adj" fmla="val 8696"/>
            </a:avLst>
          </a:prstGeom>
          <a:solidFill>
            <a:srgbClr val="FFFFFF">
              <a:alpha val="97000"/>
            </a:srgbClr>
          </a:solidFill>
          <a:ln w="12700">
            <a:solidFill>
              <a:srgbClr val="007C89"/>
            </a:solidFill>
            <a:prstDash val="solid"/>
          </a:ln>
        </p:spPr>
      </p:sp>
      <p:sp>
        <p:nvSpPr>
          <p:cNvPr id="13" name="Text 11"/>
          <p:cNvSpPr/>
          <p:nvPr/>
        </p:nvSpPr>
        <p:spPr>
          <a:xfrm>
            <a:off x="6611112" y="3127248"/>
            <a:ext cx="4745736" cy="658368"/>
          </a:xfrm>
          <a:prstGeom prst="rect">
            <a:avLst/>
          </a:prstGeom>
          <a:noFill/>
          <a:ln/>
        </p:spPr>
        <p:txBody>
          <a:bodyPr wrap="square" lIns="0" tIns="0" rIns="0" bIns="0" rtlCol="0" anchor="ctr">
            <a:normAutofit/>
          </a:bodyPr>
          <a:lstStyle/>
          <a:p>
            <a:pPr algn="ctr" indent="0" marL="0">
              <a:buNone/>
            </a:pPr>
            <a:r>
              <a:rPr lang="en-US" sz="1900" b="1" dirty="0">
                <a:solidFill>
                  <a:srgbClr val="005088"/>
                </a:solidFill>
                <a:latin typeface="Cambria Math" pitchFamily="34" charset="0"/>
                <a:ea typeface="Cambria Math" pitchFamily="34" charset="-122"/>
                <a:cs typeface="Cambria Math" pitchFamily="34" charset="-120"/>
              </a:rPr>
              <a:t>sentences + inference = new sentences</a:t>
            </a:r>
            <a:endParaRPr lang="en-US" sz="1900" dirty="0"/>
          </a:p>
        </p:txBody>
      </p:sp>
      <p:sp>
        <p:nvSpPr>
          <p:cNvPr id="14" name="Shape 12"/>
          <p:cNvSpPr/>
          <p:nvPr/>
        </p:nvSpPr>
        <p:spPr>
          <a:xfrm>
            <a:off x="6446520" y="4041648"/>
            <a:ext cx="5074920" cy="859536"/>
          </a:xfrm>
          <a:prstGeom prst="roundRect">
            <a:avLst>
              <a:gd name="adj" fmla="val 8511"/>
            </a:avLst>
          </a:prstGeom>
          <a:solidFill>
            <a:srgbClr val="FFE4E6"/>
          </a:solidFill>
          <a:ln w="12700">
            <a:solidFill>
              <a:srgbClr val="FDA4AF"/>
            </a:solidFill>
            <a:prstDash val="solid"/>
          </a:ln>
        </p:spPr>
      </p:sp>
      <p:sp>
        <p:nvSpPr>
          <p:cNvPr id="15" name="Text 13"/>
          <p:cNvSpPr/>
          <p:nvPr/>
        </p:nvSpPr>
        <p:spPr>
          <a:xfrm>
            <a:off x="6629400" y="4178808"/>
            <a:ext cx="4709160" cy="219456"/>
          </a:xfrm>
          <a:prstGeom prst="rect">
            <a:avLst/>
          </a:prstGeom>
          <a:noFill/>
          <a:ln/>
        </p:spPr>
        <p:txBody>
          <a:bodyPr wrap="square" lIns="0" tIns="0" rIns="0" bIns="0" rtlCol="0" anchor="ctr"/>
          <a:lstStyle/>
          <a:p>
            <a:pPr indent="0" marL="0">
              <a:buNone/>
            </a:pPr>
            <a:r>
              <a:rPr lang="en-US" sz="950" b="1" dirty="0">
                <a:solidFill>
                  <a:srgbClr val="C1121F"/>
                </a:solidFill>
              </a:rPr>
              <a:t>STUDENT GOTCHA</a:t>
            </a:r>
            <a:endParaRPr lang="en-US" sz="950" dirty="0"/>
          </a:p>
        </p:txBody>
      </p:sp>
      <p:sp>
        <p:nvSpPr>
          <p:cNvPr id="16" name="Text 14"/>
          <p:cNvSpPr/>
          <p:nvPr/>
        </p:nvSpPr>
        <p:spPr>
          <a:xfrm>
            <a:off x="6629400" y="4453128"/>
            <a:ext cx="4709160" cy="356616"/>
          </a:xfrm>
          <a:prstGeom prst="rect">
            <a:avLst/>
          </a:prstGeom>
          <a:noFill/>
          <a:ln/>
        </p:spPr>
        <p:txBody>
          <a:bodyPr wrap="square" lIns="254" tIns="254" rIns="254" bIns="254" rtlCol="0" anchor="t">
            <a:normAutofit/>
          </a:bodyPr>
          <a:lstStyle/>
          <a:p>
            <a:pPr indent="0" marL="0">
              <a:buNone/>
            </a:pPr>
            <a:r>
              <a:rPr lang="en-US" sz="1250" dirty="0">
                <a:solidFill>
                  <a:srgbClr val="1E293B"/>
                </a:solidFill>
              </a:rPr>
              <a:t>A logic sentence is not an instruction to execute. It is an assertion that can be true or false in a model.</a:t>
            </a:r>
            <a:endParaRPr lang="en-US" sz="1250" dirty="0"/>
          </a:p>
        </p:txBody>
      </p:sp>
      <p:sp>
        <p:nvSpPr>
          <p:cNvPr id="17" name="Shape 15"/>
          <p:cNvSpPr/>
          <p:nvPr/>
        </p:nvSpPr>
        <p:spPr>
          <a:xfrm>
            <a:off x="6446520" y="5074920"/>
            <a:ext cx="5074920" cy="841248"/>
          </a:xfrm>
          <a:prstGeom prst="roundRect">
            <a:avLst>
              <a:gd name="adj" fmla="val 8696"/>
            </a:avLst>
          </a:prstGeom>
          <a:solidFill>
            <a:srgbClr val="E6FFFA"/>
          </a:solidFill>
          <a:ln w="12700">
            <a:solidFill>
              <a:srgbClr val="2A9D8F"/>
            </a:solidFill>
            <a:prstDash val="solid"/>
          </a:ln>
        </p:spPr>
      </p:sp>
      <p:sp>
        <p:nvSpPr>
          <p:cNvPr id="18" name="Text 16"/>
          <p:cNvSpPr/>
          <p:nvPr/>
        </p:nvSpPr>
        <p:spPr>
          <a:xfrm>
            <a:off x="6629400" y="5212080"/>
            <a:ext cx="4709160" cy="219456"/>
          </a:xfrm>
          <a:prstGeom prst="rect">
            <a:avLst/>
          </a:prstGeom>
          <a:noFill/>
          <a:ln/>
        </p:spPr>
        <p:txBody>
          <a:bodyPr wrap="square" lIns="0" tIns="0" rIns="0" bIns="0" rtlCol="0" anchor="ctr"/>
          <a:lstStyle/>
          <a:p>
            <a:pPr indent="0" marL="0">
              <a:buNone/>
            </a:pPr>
            <a:r>
              <a:rPr lang="en-US" sz="950" b="1" dirty="0">
                <a:solidFill>
                  <a:srgbClr val="007C89"/>
                </a:solidFill>
              </a:rPr>
              <a:t>CLASS CHECK</a:t>
            </a:r>
            <a:endParaRPr lang="en-US" sz="950" dirty="0"/>
          </a:p>
        </p:txBody>
      </p:sp>
      <p:sp>
        <p:nvSpPr>
          <p:cNvPr id="19" name="Text 17"/>
          <p:cNvSpPr/>
          <p:nvPr/>
        </p:nvSpPr>
        <p:spPr>
          <a:xfrm>
            <a:off x="6629400" y="5486400"/>
            <a:ext cx="4709160" cy="338328"/>
          </a:xfrm>
          <a:prstGeom prst="rect">
            <a:avLst/>
          </a:prstGeom>
          <a:noFill/>
          <a:ln/>
        </p:spPr>
        <p:txBody>
          <a:bodyPr wrap="square" lIns="254" tIns="254" rIns="254" bIns="254" rtlCol="0" anchor="t">
            <a:normAutofit/>
          </a:bodyPr>
          <a:lstStyle/>
          <a:p>
            <a:pPr indent="0" marL="0">
              <a:buNone/>
            </a:pPr>
            <a:r>
              <a:rPr lang="en-US" sz="1270" dirty="0">
                <a:solidFill>
                  <a:srgbClr val="1E293B"/>
                </a:solidFill>
              </a:rPr>
              <a:t>Ask: Is “all adjacent pits make breezes” a stored fact, a rule, or both?</a:t>
            </a:r>
            <a:endParaRPr lang="en-US" sz="127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5088"/>
          </a:solidFill>
          <a:ln w="12700">
            <a:solidFill>
              <a:srgbClr val="005088"/>
            </a:solidFill>
            <a:prstDash val="solid"/>
          </a:ln>
        </p:spPr>
      </p:sp>
      <p:sp>
        <p:nvSpPr>
          <p:cNvPr id="3" name="Shape 1"/>
          <p:cNvSpPr/>
          <p:nvPr/>
        </p:nvSpPr>
        <p:spPr>
          <a:xfrm>
            <a:off x="0" y="6729984"/>
            <a:ext cx="12191695" cy="128016"/>
          </a:xfrm>
          <a:prstGeom prst="rect">
            <a:avLst/>
          </a:prstGeom>
          <a:solidFill>
            <a:srgbClr val="005088"/>
          </a:solidFill>
          <a:ln w="12700">
            <a:solidFill>
              <a:srgbClr val="005088"/>
            </a:solidFill>
            <a:prstDash val="solid"/>
          </a:ln>
        </p:spPr>
      </p:sp>
      <p:sp>
        <p:nvSpPr>
          <p:cNvPr id="4" name="Text 2"/>
          <p:cNvSpPr/>
          <p:nvPr/>
        </p:nvSpPr>
        <p:spPr>
          <a:xfrm>
            <a:off x="502920" y="210312"/>
            <a:ext cx="6858000" cy="219456"/>
          </a:xfrm>
          <a:prstGeom prst="rect">
            <a:avLst/>
          </a:prstGeom>
          <a:noFill/>
          <a:ln/>
        </p:spPr>
        <p:txBody>
          <a:bodyPr wrap="square" lIns="0" tIns="0" rIns="0" bIns="0" rtlCol="0" anchor="ctr"/>
          <a:lstStyle/>
          <a:p>
            <a:pPr indent="0" marL="0">
              <a:buNone/>
            </a:pPr>
            <a:r>
              <a:rPr lang="en-US" sz="950" b="1" dirty="0">
                <a:solidFill>
                  <a:srgbClr val="3D5A80"/>
                </a:solidFill>
                <a:latin typeface="Aptos" pitchFamily="34" charset="0"/>
                <a:ea typeface="Aptos" pitchFamily="34" charset="-122"/>
                <a:cs typeface="Aptos" pitchFamily="34" charset="-120"/>
              </a:rPr>
              <a:t>8.1 Representation Revisited</a:t>
            </a:r>
            <a:endParaRPr lang="en-US" sz="950" dirty="0"/>
          </a:p>
        </p:txBody>
      </p:sp>
      <p:sp>
        <p:nvSpPr>
          <p:cNvPr id="5" name="Text 3"/>
          <p:cNvSpPr/>
          <p:nvPr/>
        </p:nvSpPr>
        <p:spPr>
          <a:xfrm>
            <a:off x="11018520" y="201168"/>
            <a:ext cx="640080" cy="228600"/>
          </a:xfrm>
          <a:prstGeom prst="rect">
            <a:avLst/>
          </a:prstGeom>
          <a:noFill/>
          <a:ln/>
        </p:spPr>
        <p:txBody>
          <a:bodyPr wrap="square" lIns="0" tIns="0" rIns="0" bIns="0" rtlCol="0" anchor="ctr"/>
          <a:lstStyle/>
          <a:p>
            <a:pPr algn="r" indent="0" marL="0">
              <a:buNone/>
            </a:pPr>
            <a:r>
              <a:rPr lang="en-US" sz="900" b="1" dirty="0">
                <a:solidFill>
                  <a:srgbClr val="3D5A80"/>
                </a:solidFill>
              </a:rPr>
              <a:t>12</a:t>
            </a:r>
            <a:endParaRPr lang="en-US" sz="900" dirty="0"/>
          </a:p>
        </p:txBody>
      </p:sp>
      <p:sp>
        <p:nvSpPr>
          <p:cNvPr id="6" name="Text 4"/>
          <p:cNvSpPr/>
          <p:nvPr/>
        </p:nvSpPr>
        <p:spPr>
          <a:xfrm>
            <a:off x="502920" y="566928"/>
            <a:ext cx="11201400" cy="512064"/>
          </a:xfrm>
          <a:prstGeom prst="rect">
            <a:avLst/>
          </a:prstGeom>
          <a:noFill/>
          <a:ln/>
        </p:spPr>
        <p:txBody>
          <a:bodyPr wrap="square" lIns="0" tIns="0" rIns="0" bIns="0" rtlCol="0" anchor="ctr">
            <a:normAutofit/>
          </a:bodyPr>
          <a:lstStyle/>
          <a:p>
            <a:pPr indent="0" marL="0">
              <a:buNone/>
            </a:pPr>
            <a:r>
              <a:rPr lang="en-US" sz="2650" b="1" dirty="0">
                <a:solidFill>
                  <a:srgbClr val="005088"/>
                </a:solidFill>
                <a:latin typeface="Aptos Display" pitchFamily="34" charset="0"/>
                <a:ea typeface="Aptos Display" pitchFamily="34" charset="-122"/>
                <a:cs typeface="Aptos Display" pitchFamily="34" charset="-120"/>
              </a:rPr>
              <a:t>PARTIAL INFORMATION MATTERS</a:t>
            </a:r>
            <a:endParaRPr lang="en-US" sz="2650" dirty="0"/>
          </a:p>
        </p:txBody>
      </p:sp>
      <p:sp>
        <p:nvSpPr>
          <p:cNvPr id="7" name="Shape 5"/>
          <p:cNvSpPr/>
          <p:nvPr/>
        </p:nvSpPr>
        <p:spPr>
          <a:xfrm>
            <a:off x="502920" y="1188720"/>
            <a:ext cx="11109960" cy="0"/>
          </a:xfrm>
          <a:prstGeom prst="line">
            <a:avLst/>
          </a:prstGeom>
          <a:noFill/>
          <a:ln w="12700">
            <a:solidFill>
              <a:srgbClr val="3D5A80"/>
            </a:solidFill>
            <a:prstDash val="solid"/>
          </a:ln>
        </p:spPr>
      </p:sp>
      <p:sp>
        <p:nvSpPr>
          <p:cNvPr id="8" name="Text 6"/>
          <p:cNvSpPr/>
          <p:nvPr/>
        </p:nvSpPr>
        <p:spPr>
          <a:xfrm>
            <a:off x="713232" y="1572768"/>
            <a:ext cx="5440680" cy="4251960"/>
          </a:xfrm>
          <a:prstGeom prst="rect">
            <a:avLst/>
          </a:prstGeom>
          <a:noFill/>
          <a:ln/>
        </p:spPr>
        <p:txBody>
          <a:bodyPr wrap="square" lIns="1016" tIns="1016" rIns="1016" bIns="1016" rtlCol="0" anchor="t">
            <a:normAutofit/>
          </a:bodyPr>
          <a:lstStyle/>
          <a:p>
            <a:pPr indent="0" marL="0">
              <a:buNone/>
            </a:pPr>
            <a:r>
              <a:rPr lang="en-US" sz="1650" dirty="0">
                <a:solidFill>
                  <a:srgbClr val="1E293B"/>
                </a:solidFill>
                <a:latin typeface="Aptos" pitchFamily="34" charset="0"/>
                <a:ea typeface="Aptos" pitchFamily="34" charset="-122"/>
                <a:cs typeface="Aptos" pitchFamily="34" charset="-120"/>
              </a:rPr>
              <a:t>• Agents often know alternatives, not exact facts</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A pit may be in one square or another square</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A Wumpus may not be in a particular square</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Logic can represent uncertainty as unknown without using probability yet</a:t>
            </a:r>
            <a:endParaRPr lang="en-US" sz="1650" dirty="0"/>
          </a:p>
        </p:txBody>
      </p:sp>
      <p:sp>
        <p:nvSpPr>
          <p:cNvPr id="9" name="Shape 7"/>
          <p:cNvSpPr/>
          <p:nvPr/>
        </p:nvSpPr>
        <p:spPr>
          <a:xfrm>
            <a:off x="6446520" y="1572768"/>
            <a:ext cx="5074920" cy="1234440"/>
          </a:xfrm>
          <a:prstGeom prst="roundRect">
            <a:avLst>
              <a:gd name="adj" fmla="val 5926"/>
            </a:avLst>
          </a:prstGeom>
          <a:solidFill>
            <a:srgbClr val="FFF6D9"/>
          </a:solidFill>
          <a:ln w="12700">
            <a:solidFill>
              <a:srgbClr val="F4A261"/>
            </a:solidFill>
            <a:prstDash val="solid"/>
          </a:ln>
        </p:spPr>
      </p:sp>
      <p:sp>
        <p:nvSpPr>
          <p:cNvPr id="10" name="Text 8"/>
          <p:cNvSpPr/>
          <p:nvPr/>
        </p:nvSpPr>
        <p:spPr>
          <a:xfrm>
            <a:off x="6629400" y="1709928"/>
            <a:ext cx="4709160" cy="219456"/>
          </a:xfrm>
          <a:prstGeom prst="rect">
            <a:avLst/>
          </a:prstGeom>
          <a:noFill/>
          <a:ln/>
        </p:spPr>
        <p:txBody>
          <a:bodyPr wrap="square" lIns="0" tIns="0" rIns="0" bIns="0" rtlCol="0" anchor="ctr"/>
          <a:lstStyle/>
          <a:p>
            <a:pPr indent="0" marL="0">
              <a:buNone/>
            </a:pPr>
            <a:r>
              <a:rPr lang="en-US" sz="950" b="1" dirty="0">
                <a:solidFill>
                  <a:srgbClr val="B0005D"/>
                </a:solidFill>
              </a:rPr>
              <a:t>ANALOGY</a:t>
            </a:r>
            <a:endParaRPr lang="en-US" sz="950" dirty="0"/>
          </a:p>
        </p:txBody>
      </p:sp>
      <p:sp>
        <p:nvSpPr>
          <p:cNvPr id="11" name="Text 9"/>
          <p:cNvSpPr/>
          <p:nvPr/>
        </p:nvSpPr>
        <p:spPr>
          <a:xfrm>
            <a:off x="6629400" y="1984248"/>
            <a:ext cx="4709160" cy="731520"/>
          </a:xfrm>
          <a:prstGeom prst="rect">
            <a:avLst/>
          </a:prstGeom>
          <a:noFill/>
          <a:ln/>
        </p:spPr>
        <p:txBody>
          <a:bodyPr wrap="square" lIns="254" tIns="254" rIns="254" bIns="254" rtlCol="0" anchor="t">
            <a:normAutofit/>
          </a:bodyPr>
          <a:lstStyle/>
          <a:p>
            <a:pPr indent="0" marL="0">
              <a:buNone/>
            </a:pPr>
            <a:r>
              <a:rPr lang="en-US" sz="1330" dirty="0">
                <a:solidFill>
                  <a:srgbClr val="1E293B"/>
                </a:solidFill>
              </a:rPr>
              <a:t>A detective may know the suspect used either Door A or Door B. That is useful knowledge even before the exact door is known.</a:t>
            </a:r>
            <a:endParaRPr lang="en-US" sz="1330" dirty="0"/>
          </a:p>
        </p:txBody>
      </p:sp>
      <p:sp>
        <p:nvSpPr>
          <p:cNvPr id="12" name="Shape 10"/>
          <p:cNvSpPr/>
          <p:nvPr/>
        </p:nvSpPr>
        <p:spPr>
          <a:xfrm>
            <a:off x="6446520" y="2999232"/>
            <a:ext cx="5074920" cy="841248"/>
          </a:xfrm>
          <a:prstGeom prst="roundRect">
            <a:avLst>
              <a:gd name="adj" fmla="val 8696"/>
            </a:avLst>
          </a:prstGeom>
          <a:solidFill>
            <a:srgbClr val="FFFFFF">
              <a:alpha val="97000"/>
            </a:srgbClr>
          </a:solidFill>
          <a:ln w="12700">
            <a:solidFill>
              <a:srgbClr val="007C89"/>
            </a:solidFill>
            <a:prstDash val="solid"/>
          </a:ln>
        </p:spPr>
      </p:sp>
      <p:sp>
        <p:nvSpPr>
          <p:cNvPr id="13" name="Text 11"/>
          <p:cNvSpPr/>
          <p:nvPr/>
        </p:nvSpPr>
        <p:spPr>
          <a:xfrm>
            <a:off x="6611112" y="3127248"/>
            <a:ext cx="4745736" cy="658368"/>
          </a:xfrm>
          <a:prstGeom prst="rect">
            <a:avLst/>
          </a:prstGeom>
          <a:noFill/>
          <a:ln/>
        </p:spPr>
        <p:txBody>
          <a:bodyPr wrap="square" lIns="0" tIns="0" rIns="0" bIns="0" rtlCol="0" anchor="ctr">
            <a:normAutofit/>
          </a:bodyPr>
          <a:lstStyle/>
          <a:p>
            <a:pPr algn="ctr" indent="0" marL="0">
              <a:buNone/>
            </a:pPr>
            <a:r>
              <a:rPr lang="en-US" sz="1800" b="1" dirty="0">
                <a:solidFill>
                  <a:srgbClr val="005088"/>
                </a:solidFill>
                <a:latin typeface="Cambria Math" pitchFamily="34" charset="0"/>
                <a:ea typeface="Cambria Math" pitchFamily="34" charset="-122"/>
                <a:cs typeface="Cambria Math" pitchFamily="34" charset="-120"/>
              </a:rPr>
              <a:t>Pit(S₂,₂) ∨ Pit(S₃,₁)</a:t>
            </a:r>
            <a:endParaRPr lang="en-US" sz="1800" dirty="0"/>
          </a:p>
        </p:txBody>
      </p:sp>
      <p:sp>
        <p:nvSpPr>
          <p:cNvPr id="14" name="Shape 12"/>
          <p:cNvSpPr/>
          <p:nvPr/>
        </p:nvSpPr>
        <p:spPr>
          <a:xfrm>
            <a:off x="6446520" y="4041648"/>
            <a:ext cx="5074920" cy="859536"/>
          </a:xfrm>
          <a:prstGeom prst="roundRect">
            <a:avLst>
              <a:gd name="adj" fmla="val 8511"/>
            </a:avLst>
          </a:prstGeom>
          <a:solidFill>
            <a:srgbClr val="FFE4E6"/>
          </a:solidFill>
          <a:ln w="12700">
            <a:solidFill>
              <a:srgbClr val="FDA4AF"/>
            </a:solidFill>
            <a:prstDash val="solid"/>
          </a:ln>
        </p:spPr>
      </p:sp>
      <p:sp>
        <p:nvSpPr>
          <p:cNvPr id="15" name="Text 13"/>
          <p:cNvSpPr/>
          <p:nvPr/>
        </p:nvSpPr>
        <p:spPr>
          <a:xfrm>
            <a:off x="6629400" y="4178808"/>
            <a:ext cx="4709160" cy="219456"/>
          </a:xfrm>
          <a:prstGeom prst="rect">
            <a:avLst/>
          </a:prstGeom>
          <a:noFill/>
          <a:ln/>
        </p:spPr>
        <p:txBody>
          <a:bodyPr wrap="square" lIns="0" tIns="0" rIns="0" bIns="0" rtlCol="0" anchor="ctr"/>
          <a:lstStyle/>
          <a:p>
            <a:pPr indent="0" marL="0">
              <a:buNone/>
            </a:pPr>
            <a:r>
              <a:rPr lang="en-US" sz="950" b="1" dirty="0">
                <a:solidFill>
                  <a:srgbClr val="C1121F"/>
                </a:solidFill>
              </a:rPr>
              <a:t>STUDENT GOTCHA</a:t>
            </a:r>
            <a:endParaRPr lang="en-US" sz="950" dirty="0"/>
          </a:p>
        </p:txBody>
      </p:sp>
      <p:sp>
        <p:nvSpPr>
          <p:cNvPr id="16" name="Text 14"/>
          <p:cNvSpPr/>
          <p:nvPr/>
        </p:nvSpPr>
        <p:spPr>
          <a:xfrm>
            <a:off x="6629400" y="4453128"/>
            <a:ext cx="4709160" cy="356616"/>
          </a:xfrm>
          <a:prstGeom prst="rect">
            <a:avLst/>
          </a:prstGeom>
          <a:noFill/>
          <a:ln/>
        </p:spPr>
        <p:txBody>
          <a:bodyPr wrap="square" lIns="254" tIns="254" rIns="254" bIns="254" rtlCol="0" anchor="t">
            <a:normAutofit/>
          </a:bodyPr>
          <a:lstStyle/>
          <a:p>
            <a:pPr indent="0" marL="0">
              <a:buNone/>
            </a:pPr>
            <a:r>
              <a:rPr lang="en-US" sz="1250" dirty="0">
                <a:solidFill>
                  <a:srgbClr val="1E293B"/>
                </a:solidFill>
              </a:rPr>
              <a:t>Unknown does not mean false. Unknown means the knowledge base has not ruled out every alternative.</a:t>
            </a:r>
            <a:endParaRPr lang="en-US" sz="1250" dirty="0"/>
          </a:p>
        </p:txBody>
      </p:sp>
      <p:sp>
        <p:nvSpPr>
          <p:cNvPr id="17" name="Shape 15"/>
          <p:cNvSpPr/>
          <p:nvPr/>
        </p:nvSpPr>
        <p:spPr>
          <a:xfrm>
            <a:off x="6446520" y="5074920"/>
            <a:ext cx="5074920" cy="841248"/>
          </a:xfrm>
          <a:prstGeom prst="roundRect">
            <a:avLst>
              <a:gd name="adj" fmla="val 8696"/>
            </a:avLst>
          </a:prstGeom>
          <a:solidFill>
            <a:srgbClr val="E6FFFA"/>
          </a:solidFill>
          <a:ln w="12700">
            <a:solidFill>
              <a:srgbClr val="2A9D8F"/>
            </a:solidFill>
            <a:prstDash val="solid"/>
          </a:ln>
        </p:spPr>
      </p:sp>
      <p:sp>
        <p:nvSpPr>
          <p:cNvPr id="18" name="Text 16"/>
          <p:cNvSpPr/>
          <p:nvPr/>
        </p:nvSpPr>
        <p:spPr>
          <a:xfrm>
            <a:off x="6629400" y="5212080"/>
            <a:ext cx="4709160" cy="219456"/>
          </a:xfrm>
          <a:prstGeom prst="rect">
            <a:avLst/>
          </a:prstGeom>
          <a:noFill/>
          <a:ln/>
        </p:spPr>
        <p:txBody>
          <a:bodyPr wrap="square" lIns="0" tIns="0" rIns="0" bIns="0" rtlCol="0" anchor="ctr"/>
          <a:lstStyle/>
          <a:p>
            <a:pPr indent="0" marL="0">
              <a:buNone/>
            </a:pPr>
            <a:r>
              <a:rPr lang="en-US" sz="950" b="1" dirty="0">
                <a:solidFill>
                  <a:srgbClr val="007C89"/>
                </a:solidFill>
              </a:rPr>
              <a:t>CLASS CHECK</a:t>
            </a:r>
            <a:endParaRPr lang="en-US" sz="950" dirty="0"/>
          </a:p>
        </p:txBody>
      </p:sp>
      <p:sp>
        <p:nvSpPr>
          <p:cNvPr id="19" name="Text 17"/>
          <p:cNvSpPr/>
          <p:nvPr/>
        </p:nvSpPr>
        <p:spPr>
          <a:xfrm>
            <a:off x="6629400" y="5486400"/>
            <a:ext cx="4709160" cy="338328"/>
          </a:xfrm>
          <a:prstGeom prst="rect">
            <a:avLst/>
          </a:prstGeom>
          <a:noFill/>
          <a:ln/>
        </p:spPr>
        <p:txBody>
          <a:bodyPr wrap="square" lIns="254" tIns="254" rIns="254" bIns="254" rtlCol="0" anchor="t">
            <a:normAutofit/>
          </a:bodyPr>
          <a:lstStyle/>
          <a:p>
            <a:pPr indent="0" marL="0">
              <a:buNone/>
            </a:pPr>
            <a:r>
              <a:rPr lang="en-US" sz="1270" dirty="0">
                <a:solidFill>
                  <a:srgbClr val="1E293B"/>
                </a:solidFill>
              </a:rPr>
              <a:t>Ask students for a real-life statement that contains “or” and is still useful.</a:t>
            </a:r>
            <a:endParaRPr lang="en-US" sz="127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5088"/>
          </a:solidFill>
          <a:ln w="12700">
            <a:solidFill>
              <a:srgbClr val="005088"/>
            </a:solidFill>
            <a:prstDash val="solid"/>
          </a:ln>
        </p:spPr>
      </p:sp>
      <p:sp>
        <p:nvSpPr>
          <p:cNvPr id="3" name="Shape 1"/>
          <p:cNvSpPr/>
          <p:nvPr/>
        </p:nvSpPr>
        <p:spPr>
          <a:xfrm>
            <a:off x="0" y="6729984"/>
            <a:ext cx="12191695" cy="128016"/>
          </a:xfrm>
          <a:prstGeom prst="rect">
            <a:avLst/>
          </a:prstGeom>
          <a:solidFill>
            <a:srgbClr val="005088"/>
          </a:solidFill>
          <a:ln w="12700">
            <a:solidFill>
              <a:srgbClr val="005088"/>
            </a:solidFill>
            <a:prstDash val="solid"/>
          </a:ln>
        </p:spPr>
      </p:sp>
      <p:sp>
        <p:nvSpPr>
          <p:cNvPr id="4" name="Text 2"/>
          <p:cNvSpPr/>
          <p:nvPr/>
        </p:nvSpPr>
        <p:spPr>
          <a:xfrm>
            <a:off x="502920" y="210312"/>
            <a:ext cx="6858000" cy="219456"/>
          </a:xfrm>
          <a:prstGeom prst="rect">
            <a:avLst/>
          </a:prstGeom>
          <a:noFill/>
          <a:ln/>
        </p:spPr>
        <p:txBody>
          <a:bodyPr wrap="square" lIns="0" tIns="0" rIns="0" bIns="0" rtlCol="0" anchor="ctr"/>
          <a:lstStyle/>
          <a:p>
            <a:pPr indent="0" marL="0">
              <a:buNone/>
            </a:pPr>
            <a:r>
              <a:rPr lang="en-US" sz="950" b="1" dirty="0">
                <a:solidFill>
                  <a:srgbClr val="3D5A80"/>
                </a:solidFill>
                <a:latin typeface="Aptos" pitchFamily="34" charset="0"/>
                <a:ea typeface="Aptos" pitchFamily="34" charset="-122"/>
                <a:cs typeface="Aptos" pitchFamily="34" charset="-120"/>
              </a:rPr>
              <a:t>8.1 Representation Revisited</a:t>
            </a:r>
            <a:endParaRPr lang="en-US" sz="950" dirty="0"/>
          </a:p>
        </p:txBody>
      </p:sp>
      <p:sp>
        <p:nvSpPr>
          <p:cNvPr id="5" name="Text 3"/>
          <p:cNvSpPr/>
          <p:nvPr/>
        </p:nvSpPr>
        <p:spPr>
          <a:xfrm>
            <a:off x="11018520" y="201168"/>
            <a:ext cx="640080" cy="228600"/>
          </a:xfrm>
          <a:prstGeom prst="rect">
            <a:avLst/>
          </a:prstGeom>
          <a:noFill/>
          <a:ln/>
        </p:spPr>
        <p:txBody>
          <a:bodyPr wrap="square" lIns="0" tIns="0" rIns="0" bIns="0" rtlCol="0" anchor="ctr"/>
          <a:lstStyle/>
          <a:p>
            <a:pPr algn="r" indent="0" marL="0">
              <a:buNone/>
            </a:pPr>
            <a:r>
              <a:rPr lang="en-US" sz="900" b="1" dirty="0">
                <a:solidFill>
                  <a:srgbClr val="3D5A80"/>
                </a:solidFill>
              </a:rPr>
              <a:t>13</a:t>
            </a:r>
            <a:endParaRPr lang="en-US" sz="900" dirty="0"/>
          </a:p>
        </p:txBody>
      </p:sp>
      <p:sp>
        <p:nvSpPr>
          <p:cNvPr id="6" name="Text 4"/>
          <p:cNvSpPr/>
          <p:nvPr/>
        </p:nvSpPr>
        <p:spPr>
          <a:xfrm>
            <a:off x="502920" y="566928"/>
            <a:ext cx="11201400" cy="512064"/>
          </a:xfrm>
          <a:prstGeom prst="rect">
            <a:avLst/>
          </a:prstGeom>
          <a:noFill/>
          <a:ln/>
        </p:spPr>
        <p:txBody>
          <a:bodyPr wrap="square" lIns="0" tIns="0" rIns="0" bIns="0" rtlCol="0" anchor="ctr">
            <a:normAutofit/>
          </a:bodyPr>
          <a:lstStyle/>
          <a:p>
            <a:pPr indent="0" marL="0">
              <a:buNone/>
            </a:pPr>
            <a:r>
              <a:rPr lang="en-US" sz="2650" b="1" dirty="0">
                <a:solidFill>
                  <a:srgbClr val="005088"/>
                </a:solidFill>
                <a:latin typeface="Aptos Display" pitchFamily="34" charset="0"/>
                <a:ea typeface="Aptos Display" pitchFamily="34" charset="-122"/>
                <a:cs typeface="Aptos Display" pitchFamily="34" charset="-120"/>
              </a:rPr>
              <a:t>COMPOSITIONAL MEANING</a:t>
            </a:r>
            <a:endParaRPr lang="en-US" sz="2650" dirty="0"/>
          </a:p>
        </p:txBody>
      </p:sp>
      <p:sp>
        <p:nvSpPr>
          <p:cNvPr id="7" name="Shape 5"/>
          <p:cNvSpPr/>
          <p:nvPr/>
        </p:nvSpPr>
        <p:spPr>
          <a:xfrm>
            <a:off x="502920" y="1188720"/>
            <a:ext cx="11109960" cy="0"/>
          </a:xfrm>
          <a:prstGeom prst="line">
            <a:avLst/>
          </a:prstGeom>
          <a:noFill/>
          <a:ln w="12700">
            <a:solidFill>
              <a:srgbClr val="3D5A80"/>
            </a:solidFill>
            <a:prstDash val="solid"/>
          </a:ln>
        </p:spPr>
      </p:sp>
      <p:sp>
        <p:nvSpPr>
          <p:cNvPr id="8" name="Text 6"/>
          <p:cNvSpPr/>
          <p:nvPr/>
        </p:nvSpPr>
        <p:spPr>
          <a:xfrm>
            <a:off x="713232" y="1572768"/>
            <a:ext cx="5440680" cy="4251960"/>
          </a:xfrm>
          <a:prstGeom prst="rect">
            <a:avLst/>
          </a:prstGeom>
          <a:noFill/>
          <a:ln/>
        </p:spPr>
        <p:txBody>
          <a:bodyPr wrap="square" lIns="1016" tIns="1016" rIns="1016" bIns="1016" rtlCol="0" anchor="t">
            <a:normAutofit/>
          </a:bodyPr>
          <a:lstStyle/>
          <a:p>
            <a:pPr indent="0" marL="0">
              <a:buNone/>
            </a:pPr>
            <a:r>
              <a:rPr lang="en-US" sz="1650" dirty="0">
                <a:solidFill>
                  <a:srgbClr val="1E293B"/>
                </a:solidFill>
                <a:latin typeface="Aptos" pitchFamily="34" charset="0"/>
                <a:ea typeface="Aptos" pitchFamily="34" charset="-122"/>
                <a:cs typeface="Aptos" pitchFamily="34" charset="-120"/>
              </a:rPr>
              <a:t>• The meaning of a complex sentence comes from the meaning of its parts</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Logical connectives combine smaller meanings predictably</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This makes reasoning mechanical and inspectable</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Without compositionality, formulas would be impossible to debug</a:t>
            </a:r>
            <a:endParaRPr lang="en-US" sz="1650" dirty="0"/>
          </a:p>
        </p:txBody>
      </p:sp>
      <p:sp>
        <p:nvSpPr>
          <p:cNvPr id="9" name="Shape 7"/>
          <p:cNvSpPr/>
          <p:nvPr/>
        </p:nvSpPr>
        <p:spPr>
          <a:xfrm>
            <a:off x="6446520" y="1572768"/>
            <a:ext cx="5074920" cy="1234440"/>
          </a:xfrm>
          <a:prstGeom prst="roundRect">
            <a:avLst>
              <a:gd name="adj" fmla="val 5926"/>
            </a:avLst>
          </a:prstGeom>
          <a:solidFill>
            <a:srgbClr val="FFF6D9"/>
          </a:solidFill>
          <a:ln w="12700">
            <a:solidFill>
              <a:srgbClr val="F4A261"/>
            </a:solidFill>
            <a:prstDash val="solid"/>
          </a:ln>
        </p:spPr>
      </p:sp>
      <p:sp>
        <p:nvSpPr>
          <p:cNvPr id="10" name="Text 8"/>
          <p:cNvSpPr/>
          <p:nvPr/>
        </p:nvSpPr>
        <p:spPr>
          <a:xfrm>
            <a:off x="6629400" y="1709928"/>
            <a:ext cx="4709160" cy="219456"/>
          </a:xfrm>
          <a:prstGeom prst="rect">
            <a:avLst/>
          </a:prstGeom>
          <a:noFill/>
          <a:ln/>
        </p:spPr>
        <p:txBody>
          <a:bodyPr wrap="square" lIns="0" tIns="0" rIns="0" bIns="0" rtlCol="0" anchor="ctr"/>
          <a:lstStyle/>
          <a:p>
            <a:pPr indent="0" marL="0">
              <a:buNone/>
            </a:pPr>
            <a:r>
              <a:rPr lang="en-US" sz="950" b="1" dirty="0">
                <a:solidFill>
                  <a:srgbClr val="B0005D"/>
                </a:solidFill>
              </a:rPr>
              <a:t>ANALOGY</a:t>
            </a:r>
            <a:endParaRPr lang="en-US" sz="950" dirty="0"/>
          </a:p>
        </p:txBody>
      </p:sp>
      <p:sp>
        <p:nvSpPr>
          <p:cNvPr id="11" name="Text 9"/>
          <p:cNvSpPr/>
          <p:nvPr/>
        </p:nvSpPr>
        <p:spPr>
          <a:xfrm>
            <a:off x="6629400" y="1984248"/>
            <a:ext cx="4709160" cy="731520"/>
          </a:xfrm>
          <a:prstGeom prst="rect">
            <a:avLst/>
          </a:prstGeom>
          <a:noFill/>
          <a:ln/>
        </p:spPr>
        <p:txBody>
          <a:bodyPr wrap="square" lIns="254" tIns="254" rIns="254" bIns="254" rtlCol="0" anchor="t">
            <a:normAutofit/>
          </a:bodyPr>
          <a:lstStyle/>
          <a:p>
            <a:pPr indent="0" marL="0">
              <a:buNone/>
            </a:pPr>
            <a:r>
              <a:rPr lang="en-US" sz="1330" dirty="0">
                <a:solidFill>
                  <a:srgbClr val="1E293B"/>
                </a:solidFill>
              </a:rPr>
              <a:t>Building blocks keep their shape when combined. A wall is understandable because each block still contributes predictably.</a:t>
            </a:r>
            <a:endParaRPr lang="en-US" sz="1330" dirty="0"/>
          </a:p>
        </p:txBody>
      </p:sp>
      <p:sp>
        <p:nvSpPr>
          <p:cNvPr id="12" name="Shape 10"/>
          <p:cNvSpPr/>
          <p:nvPr/>
        </p:nvSpPr>
        <p:spPr>
          <a:xfrm>
            <a:off x="6446520" y="2999232"/>
            <a:ext cx="5074920" cy="841248"/>
          </a:xfrm>
          <a:prstGeom prst="roundRect">
            <a:avLst>
              <a:gd name="adj" fmla="val 8696"/>
            </a:avLst>
          </a:prstGeom>
          <a:solidFill>
            <a:srgbClr val="FFFFFF">
              <a:alpha val="97000"/>
            </a:srgbClr>
          </a:solidFill>
          <a:ln w="12700">
            <a:solidFill>
              <a:srgbClr val="007C89"/>
            </a:solidFill>
            <a:prstDash val="solid"/>
          </a:ln>
        </p:spPr>
      </p:sp>
      <p:sp>
        <p:nvSpPr>
          <p:cNvPr id="13" name="Text 11"/>
          <p:cNvSpPr/>
          <p:nvPr/>
        </p:nvSpPr>
        <p:spPr>
          <a:xfrm>
            <a:off x="6611112" y="3127248"/>
            <a:ext cx="4745736" cy="658368"/>
          </a:xfrm>
          <a:prstGeom prst="rect">
            <a:avLst/>
          </a:prstGeom>
          <a:noFill/>
          <a:ln/>
        </p:spPr>
        <p:txBody>
          <a:bodyPr wrap="square" lIns="0" tIns="0" rIns="0" bIns="0" rtlCol="0" anchor="ctr">
            <a:normAutofit/>
          </a:bodyPr>
          <a:lstStyle/>
          <a:p>
            <a:pPr algn="ctr" indent="0" marL="0">
              <a:buNone/>
            </a:pPr>
            <a:r>
              <a:rPr lang="en-US" sz="1700" b="1" dirty="0">
                <a:solidFill>
                  <a:srgbClr val="005088"/>
                </a:solidFill>
                <a:latin typeface="Cambria Math" pitchFamily="34" charset="0"/>
                <a:ea typeface="Cambria Math" pitchFamily="34" charset="-122"/>
                <a:cs typeface="Cambria Math" pitchFamily="34" charset="-120"/>
              </a:rPr>
              <a:t>Stench(S₁,₄) ∧ Stench(S₁,₂)</a:t>
            </a:r>
            <a:endParaRPr lang="en-US" sz="1700" dirty="0"/>
          </a:p>
        </p:txBody>
      </p:sp>
      <p:sp>
        <p:nvSpPr>
          <p:cNvPr id="14" name="Shape 12"/>
          <p:cNvSpPr/>
          <p:nvPr/>
        </p:nvSpPr>
        <p:spPr>
          <a:xfrm>
            <a:off x="6446520" y="4041648"/>
            <a:ext cx="5074920" cy="859536"/>
          </a:xfrm>
          <a:prstGeom prst="roundRect">
            <a:avLst>
              <a:gd name="adj" fmla="val 8511"/>
            </a:avLst>
          </a:prstGeom>
          <a:solidFill>
            <a:srgbClr val="FFE4E6"/>
          </a:solidFill>
          <a:ln w="12700">
            <a:solidFill>
              <a:srgbClr val="FDA4AF"/>
            </a:solidFill>
            <a:prstDash val="solid"/>
          </a:ln>
        </p:spPr>
      </p:sp>
      <p:sp>
        <p:nvSpPr>
          <p:cNvPr id="15" name="Text 13"/>
          <p:cNvSpPr/>
          <p:nvPr/>
        </p:nvSpPr>
        <p:spPr>
          <a:xfrm>
            <a:off x="6629400" y="4178808"/>
            <a:ext cx="4709160" cy="219456"/>
          </a:xfrm>
          <a:prstGeom prst="rect">
            <a:avLst/>
          </a:prstGeom>
          <a:noFill/>
          <a:ln/>
        </p:spPr>
        <p:txBody>
          <a:bodyPr wrap="square" lIns="0" tIns="0" rIns="0" bIns="0" rtlCol="0" anchor="ctr"/>
          <a:lstStyle/>
          <a:p>
            <a:pPr indent="0" marL="0">
              <a:buNone/>
            </a:pPr>
            <a:r>
              <a:rPr lang="en-US" sz="950" b="1" dirty="0">
                <a:solidFill>
                  <a:srgbClr val="C1121F"/>
                </a:solidFill>
              </a:rPr>
              <a:t>STUDENT GOTCHA</a:t>
            </a:r>
            <a:endParaRPr lang="en-US" sz="950" dirty="0"/>
          </a:p>
        </p:txBody>
      </p:sp>
      <p:sp>
        <p:nvSpPr>
          <p:cNvPr id="16" name="Text 14"/>
          <p:cNvSpPr/>
          <p:nvPr/>
        </p:nvSpPr>
        <p:spPr>
          <a:xfrm>
            <a:off x="6629400" y="4453128"/>
            <a:ext cx="4709160" cy="356616"/>
          </a:xfrm>
          <a:prstGeom prst="rect">
            <a:avLst/>
          </a:prstGeom>
          <a:noFill/>
          <a:ln/>
        </p:spPr>
        <p:txBody>
          <a:bodyPr wrap="square" lIns="254" tIns="254" rIns="254" bIns="254" rtlCol="0" anchor="t">
            <a:normAutofit/>
          </a:bodyPr>
          <a:lstStyle/>
          <a:p>
            <a:pPr indent="0" marL="0">
              <a:buNone/>
            </a:pPr>
            <a:r>
              <a:rPr lang="en-US" sz="1250" dirty="0">
                <a:solidFill>
                  <a:srgbClr val="1E293B"/>
                </a:solidFill>
              </a:rPr>
              <a:t>Students may read symbols as a code to memorize. Instead, ask them to identify the parts and then combine the meanings.</a:t>
            </a:r>
            <a:endParaRPr lang="en-US" sz="1250" dirty="0"/>
          </a:p>
        </p:txBody>
      </p:sp>
      <p:sp>
        <p:nvSpPr>
          <p:cNvPr id="17" name="Shape 15"/>
          <p:cNvSpPr/>
          <p:nvPr/>
        </p:nvSpPr>
        <p:spPr>
          <a:xfrm>
            <a:off x="6446520" y="5074920"/>
            <a:ext cx="5074920" cy="841248"/>
          </a:xfrm>
          <a:prstGeom prst="roundRect">
            <a:avLst>
              <a:gd name="adj" fmla="val 8696"/>
            </a:avLst>
          </a:prstGeom>
          <a:solidFill>
            <a:srgbClr val="E6FFFA"/>
          </a:solidFill>
          <a:ln w="12700">
            <a:solidFill>
              <a:srgbClr val="2A9D8F"/>
            </a:solidFill>
            <a:prstDash val="solid"/>
          </a:ln>
        </p:spPr>
      </p:sp>
      <p:sp>
        <p:nvSpPr>
          <p:cNvPr id="18" name="Text 16"/>
          <p:cNvSpPr/>
          <p:nvPr/>
        </p:nvSpPr>
        <p:spPr>
          <a:xfrm>
            <a:off x="6629400" y="5212080"/>
            <a:ext cx="4709160" cy="219456"/>
          </a:xfrm>
          <a:prstGeom prst="rect">
            <a:avLst/>
          </a:prstGeom>
          <a:noFill/>
          <a:ln/>
        </p:spPr>
        <p:txBody>
          <a:bodyPr wrap="square" lIns="0" tIns="0" rIns="0" bIns="0" rtlCol="0" anchor="ctr"/>
          <a:lstStyle/>
          <a:p>
            <a:pPr indent="0" marL="0">
              <a:buNone/>
            </a:pPr>
            <a:r>
              <a:rPr lang="en-US" sz="950" b="1" dirty="0">
                <a:solidFill>
                  <a:srgbClr val="007C89"/>
                </a:solidFill>
              </a:rPr>
              <a:t>CLASS CHECK</a:t>
            </a:r>
            <a:endParaRPr lang="en-US" sz="950" dirty="0"/>
          </a:p>
        </p:txBody>
      </p:sp>
      <p:sp>
        <p:nvSpPr>
          <p:cNvPr id="19" name="Text 17"/>
          <p:cNvSpPr/>
          <p:nvPr/>
        </p:nvSpPr>
        <p:spPr>
          <a:xfrm>
            <a:off x="6629400" y="5486400"/>
            <a:ext cx="4709160" cy="338328"/>
          </a:xfrm>
          <a:prstGeom prst="rect">
            <a:avLst/>
          </a:prstGeom>
          <a:noFill/>
          <a:ln/>
        </p:spPr>
        <p:txBody>
          <a:bodyPr wrap="square" lIns="254" tIns="254" rIns="254" bIns="254" rtlCol="0" anchor="t">
            <a:normAutofit/>
          </a:bodyPr>
          <a:lstStyle/>
          <a:p>
            <a:pPr indent="0" marL="0">
              <a:buNone/>
            </a:pPr>
            <a:r>
              <a:rPr lang="en-US" sz="1270" dirty="0">
                <a:solidFill>
                  <a:srgbClr val="1E293B"/>
                </a:solidFill>
              </a:rPr>
              <a:t>Ask: What two smaller claims are joined by the “and” symbol?</a:t>
            </a:r>
            <a:endParaRPr lang="en-US" sz="127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5088"/>
          </a:solidFill>
          <a:ln w="12700">
            <a:solidFill>
              <a:srgbClr val="005088"/>
            </a:solidFill>
            <a:prstDash val="solid"/>
          </a:ln>
        </p:spPr>
      </p:sp>
      <p:sp>
        <p:nvSpPr>
          <p:cNvPr id="3" name="Shape 1"/>
          <p:cNvSpPr/>
          <p:nvPr/>
        </p:nvSpPr>
        <p:spPr>
          <a:xfrm>
            <a:off x="0" y="6729984"/>
            <a:ext cx="12191695" cy="128016"/>
          </a:xfrm>
          <a:prstGeom prst="rect">
            <a:avLst/>
          </a:prstGeom>
          <a:solidFill>
            <a:srgbClr val="005088"/>
          </a:solidFill>
          <a:ln w="12700">
            <a:solidFill>
              <a:srgbClr val="005088"/>
            </a:solidFill>
            <a:prstDash val="solid"/>
          </a:ln>
        </p:spPr>
      </p:sp>
      <p:sp>
        <p:nvSpPr>
          <p:cNvPr id="4" name="Text 2"/>
          <p:cNvSpPr/>
          <p:nvPr/>
        </p:nvSpPr>
        <p:spPr>
          <a:xfrm>
            <a:off x="502920" y="210312"/>
            <a:ext cx="6858000" cy="219456"/>
          </a:xfrm>
          <a:prstGeom prst="rect">
            <a:avLst/>
          </a:prstGeom>
          <a:noFill/>
          <a:ln/>
        </p:spPr>
        <p:txBody>
          <a:bodyPr wrap="square" lIns="0" tIns="0" rIns="0" bIns="0" rtlCol="0" anchor="ctr"/>
          <a:lstStyle/>
          <a:p>
            <a:pPr indent="0" marL="0">
              <a:buNone/>
            </a:pPr>
            <a:r>
              <a:rPr lang="en-US" sz="950" b="1" dirty="0">
                <a:solidFill>
                  <a:srgbClr val="3D5A80"/>
                </a:solidFill>
                <a:latin typeface="Aptos" pitchFamily="34" charset="0"/>
                <a:ea typeface="Aptos" pitchFamily="34" charset="-122"/>
                <a:cs typeface="Aptos" pitchFamily="34" charset="-120"/>
              </a:rPr>
              <a:t>8.1 Representation Revisited</a:t>
            </a:r>
            <a:endParaRPr lang="en-US" sz="950" dirty="0"/>
          </a:p>
        </p:txBody>
      </p:sp>
      <p:sp>
        <p:nvSpPr>
          <p:cNvPr id="5" name="Text 3"/>
          <p:cNvSpPr/>
          <p:nvPr/>
        </p:nvSpPr>
        <p:spPr>
          <a:xfrm>
            <a:off x="11018520" y="201168"/>
            <a:ext cx="640080" cy="228600"/>
          </a:xfrm>
          <a:prstGeom prst="rect">
            <a:avLst/>
          </a:prstGeom>
          <a:noFill/>
          <a:ln/>
        </p:spPr>
        <p:txBody>
          <a:bodyPr wrap="square" lIns="0" tIns="0" rIns="0" bIns="0" rtlCol="0" anchor="ctr"/>
          <a:lstStyle/>
          <a:p>
            <a:pPr algn="r" indent="0" marL="0">
              <a:buNone/>
            </a:pPr>
            <a:r>
              <a:rPr lang="en-US" sz="900" b="1" dirty="0">
                <a:solidFill>
                  <a:srgbClr val="3D5A80"/>
                </a:solidFill>
              </a:rPr>
              <a:t>14</a:t>
            </a:r>
            <a:endParaRPr lang="en-US" sz="900" dirty="0"/>
          </a:p>
        </p:txBody>
      </p:sp>
      <p:sp>
        <p:nvSpPr>
          <p:cNvPr id="6" name="Text 4"/>
          <p:cNvSpPr/>
          <p:nvPr/>
        </p:nvSpPr>
        <p:spPr>
          <a:xfrm>
            <a:off x="502920" y="566928"/>
            <a:ext cx="11201400" cy="512064"/>
          </a:xfrm>
          <a:prstGeom prst="rect">
            <a:avLst/>
          </a:prstGeom>
          <a:noFill/>
          <a:ln/>
        </p:spPr>
        <p:txBody>
          <a:bodyPr wrap="square" lIns="0" tIns="0" rIns="0" bIns="0" rtlCol="0" anchor="ctr">
            <a:normAutofit/>
          </a:bodyPr>
          <a:lstStyle/>
          <a:p>
            <a:pPr indent="0" marL="0">
              <a:buNone/>
            </a:pPr>
            <a:r>
              <a:rPr lang="en-US" sz="2650" b="1" dirty="0">
                <a:solidFill>
                  <a:srgbClr val="005088"/>
                </a:solidFill>
                <a:latin typeface="Aptos Display" pitchFamily="34" charset="0"/>
                <a:ea typeface="Aptos Display" pitchFamily="34" charset="-122"/>
                <a:cs typeface="Aptos Display" pitchFamily="34" charset="-120"/>
              </a:rPr>
              <a:t>PROPOSITIONAL LOGIC BECOMES VERBOSE</a:t>
            </a:r>
            <a:endParaRPr lang="en-US" sz="2650" dirty="0"/>
          </a:p>
        </p:txBody>
      </p:sp>
      <p:sp>
        <p:nvSpPr>
          <p:cNvPr id="7" name="Shape 5"/>
          <p:cNvSpPr/>
          <p:nvPr/>
        </p:nvSpPr>
        <p:spPr>
          <a:xfrm>
            <a:off x="502920" y="1188720"/>
            <a:ext cx="11109960" cy="0"/>
          </a:xfrm>
          <a:prstGeom prst="line">
            <a:avLst/>
          </a:prstGeom>
          <a:noFill/>
          <a:ln w="12700">
            <a:solidFill>
              <a:srgbClr val="3D5A80"/>
            </a:solidFill>
            <a:prstDash val="solid"/>
          </a:ln>
        </p:spPr>
      </p:sp>
      <p:sp>
        <p:nvSpPr>
          <p:cNvPr id="8" name="Text 6"/>
          <p:cNvSpPr/>
          <p:nvPr/>
        </p:nvSpPr>
        <p:spPr>
          <a:xfrm>
            <a:off x="713232" y="1572768"/>
            <a:ext cx="5440680" cy="4251960"/>
          </a:xfrm>
          <a:prstGeom prst="rect">
            <a:avLst/>
          </a:prstGeom>
          <a:noFill/>
          <a:ln/>
        </p:spPr>
        <p:txBody>
          <a:bodyPr wrap="square" lIns="1016" tIns="1016" rIns="1016" bIns="1016" rtlCol="0" anchor="t">
            <a:normAutofit/>
          </a:bodyPr>
          <a:lstStyle/>
          <a:p>
            <a:pPr indent="0" marL="0">
              <a:buNone/>
            </a:pPr>
            <a:r>
              <a:rPr lang="en-US" sz="1650" dirty="0">
                <a:solidFill>
                  <a:srgbClr val="1E293B"/>
                </a:solidFill>
                <a:latin typeface="Aptos" pitchFamily="34" charset="0"/>
                <a:ea typeface="Aptos" pitchFamily="34" charset="-122"/>
                <a:cs typeface="Aptos" pitchFamily="34" charset="-120"/>
              </a:rPr>
              <a:t>• Each proposition symbol names a whole fact</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Repeated structure must be copied many times</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A grid world needs one rule for each square</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A long time sequence needs repeated rules for each time point</a:t>
            </a:r>
            <a:endParaRPr lang="en-US" sz="1650" dirty="0"/>
          </a:p>
        </p:txBody>
      </p:sp>
      <p:sp>
        <p:nvSpPr>
          <p:cNvPr id="9" name="Shape 7"/>
          <p:cNvSpPr/>
          <p:nvPr/>
        </p:nvSpPr>
        <p:spPr>
          <a:xfrm>
            <a:off x="6446520" y="1572768"/>
            <a:ext cx="5074920" cy="1234440"/>
          </a:xfrm>
          <a:prstGeom prst="roundRect">
            <a:avLst>
              <a:gd name="adj" fmla="val 5926"/>
            </a:avLst>
          </a:prstGeom>
          <a:solidFill>
            <a:srgbClr val="FFF6D9"/>
          </a:solidFill>
          <a:ln w="12700">
            <a:solidFill>
              <a:srgbClr val="F4A261"/>
            </a:solidFill>
            <a:prstDash val="solid"/>
          </a:ln>
        </p:spPr>
      </p:sp>
      <p:sp>
        <p:nvSpPr>
          <p:cNvPr id="10" name="Text 8"/>
          <p:cNvSpPr/>
          <p:nvPr/>
        </p:nvSpPr>
        <p:spPr>
          <a:xfrm>
            <a:off x="6629400" y="1709928"/>
            <a:ext cx="4709160" cy="219456"/>
          </a:xfrm>
          <a:prstGeom prst="rect">
            <a:avLst/>
          </a:prstGeom>
          <a:noFill/>
          <a:ln/>
        </p:spPr>
        <p:txBody>
          <a:bodyPr wrap="square" lIns="0" tIns="0" rIns="0" bIns="0" rtlCol="0" anchor="ctr"/>
          <a:lstStyle/>
          <a:p>
            <a:pPr indent="0" marL="0">
              <a:buNone/>
            </a:pPr>
            <a:r>
              <a:rPr lang="en-US" sz="950" b="1" dirty="0">
                <a:solidFill>
                  <a:srgbClr val="B0005D"/>
                </a:solidFill>
              </a:rPr>
              <a:t>ANALOGY</a:t>
            </a:r>
            <a:endParaRPr lang="en-US" sz="950" dirty="0"/>
          </a:p>
        </p:txBody>
      </p:sp>
      <p:sp>
        <p:nvSpPr>
          <p:cNvPr id="11" name="Text 9"/>
          <p:cNvSpPr/>
          <p:nvPr/>
        </p:nvSpPr>
        <p:spPr>
          <a:xfrm>
            <a:off x="6629400" y="1984248"/>
            <a:ext cx="4709160" cy="731520"/>
          </a:xfrm>
          <a:prstGeom prst="rect">
            <a:avLst/>
          </a:prstGeom>
          <a:noFill/>
          <a:ln/>
        </p:spPr>
        <p:txBody>
          <a:bodyPr wrap="square" lIns="254" tIns="254" rIns="254" bIns="254" rtlCol="0" anchor="t">
            <a:normAutofit/>
          </a:bodyPr>
          <a:lstStyle/>
          <a:p>
            <a:pPr indent="0" marL="0">
              <a:buNone/>
            </a:pPr>
            <a:r>
              <a:rPr lang="en-US" sz="1330" dirty="0">
                <a:solidFill>
                  <a:srgbClr val="1E293B"/>
                </a:solidFill>
              </a:rPr>
              <a:t>Writing one rule per square is like writing a separate syllabus for every student with only the name changed.</a:t>
            </a:r>
            <a:endParaRPr lang="en-US" sz="1330" dirty="0"/>
          </a:p>
        </p:txBody>
      </p:sp>
      <p:sp>
        <p:nvSpPr>
          <p:cNvPr id="12" name="Shape 10"/>
          <p:cNvSpPr/>
          <p:nvPr/>
        </p:nvSpPr>
        <p:spPr>
          <a:xfrm>
            <a:off x="6446520" y="2999232"/>
            <a:ext cx="5074920" cy="841248"/>
          </a:xfrm>
          <a:prstGeom prst="roundRect">
            <a:avLst>
              <a:gd name="adj" fmla="val 8696"/>
            </a:avLst>
          </a:prstGeom>
          <a:solidFill>
            <a:srgbClr val="FFFFFF">
              <a:alpha val="97000"/>
            </a:srgbClr>
          </a:solidFill>
          <a:ln w="12700">
            <a:solidFill>
              <a:srgbClr val="007C89"/>
            </a:solidFill>
            <a:prstDash val="solid"/>
          </a:ln>
        </p:spPr>
      </p:sp>
      <p:sp>
        <p:nvSpPr>
          <p:cNvPr id="13" name="Text 11"/>
          <p:cNvSpPr/>
          <p:nvPr/>
        </p:nvSpPr>
        <p:spPr>
          <a:xfrm>
            <a:off x="6611112" y="3127248"/>
            <a:ext cx="4745736" cy="658368"/>
          </a:xfrm>
          <a:prstGeom prst="rect">
            <a:avLst/>
          </a:prstGeom>
          <a:noFill/>
          <a:ln/>
        </p:spPr>
        <p:txBody>
          <a:bodyPr wrap="square" lIns="0" tIns="0" rIns="0" bIns="0" rtlCol="0" anchor="ctr">
            <a:normAutofit/>
          </a:bodyPr>
          <a:lstStyle/>
          <a:p>
            <a:pPr algn="ctr" indent="0" marL="0">
              <a:buNone/>
            </a:pPr>
            <a:r>
              <a:rPr lang="en-US" sz="1800" b="1" dirty="0">
                <a:solidFill>
                  <a:srgbClr val="005088"/>
                </a:solidFill>
                <a:latin typeface="Cambria Math" pitchFamily="34" charset="0"/>
                <a:ea typeface="Cambria Math" pitchFamily="34" charset="-122"/>
                <a:cs typeface="Cambria Math" pitchFamily="34" charset="-120"/>
              </a:rPr>
              <a:t>B₁,₁ ⇔ (P₁,₂ ∨ P₂,₁)</a:t>
            </a:r>
            <a:endParaRPr lang="en-US" sz="1800" dirty="0"/>
          </a:p>
        </p:txBody>
      </p:sp>
      <p:sp>
        <p:nvSpPr>
          <p:cNvPr id="14" name="Shape 12"/>
          <p:cNvSpPr/>
          <p:nvPr/>
        </p:nvSpPr>
        <p:spPr>
          <a:xfrm>
            <a:off x="6446520" y="4041648"/>
            <a:ext cx="5074920" cy="859536"/>
          </a:xfrm>
          <a:prstGeom prst="roundRect">
            <a:avLst>
              <a:gd name="adj" fmla="val 8511"/>
            </a:avLst>
          </a:prstGeom>
          <a:solidFill>
            <a:srgbClr val="FFE4E6"/>
          </a:solidFill>
          <a:ln w="12700">
            <a:solidFill>
              <a:srgbClr val="FDA4AF"/>
            </a:solidFill>
            <a:prstDash val="solid"/>
          </a:ln>
        </p:spPr>
      </p:sp>
      <p:sp>
        <p:nvSpPr>
          <p:cNvPr id="15" name="Text 13"/>
          <p:cNvSpPr/>
          <p:nvPr/>
        </p:nvSpPr>
        <p:spPr>
          <a:xfrm>
            <a:off x="6629400" y="4178808"/>
            <a:ext cx="4709160" cy="219456"/>
          </a:xfrm>
          <a:prstGeom prst="rect">
            <a:avLst/>
          </a:prstGeom>
          <a:noFill/>
          <a:ln/>
        </p:spPr>
        <p:txBody>
          <a:bodyPr wrap="square" lIns="0" tIns="0" rIns="0" bIns="0" rtlCol="0" anchor="ctr"/>
          <a:lstStyle/>
          <a:p>
            <a:pPr indent="0" marL="0">
              <a:buNone/>
            </a:pPr>
            <a:r>
              <a:rPr lang="en-US" sz="950" b="1" dirty="0">
                <a:solidFill>
                  <a:srgbClr val="C1121F"/>
                </a:solidFill>
              </a:rPr>
              <a:t>STUDENT GOTCHA</a:t>
            </a:r>
            <a:endParaRPr lang="en-US" sz="950" dirty="0"/>
          </a:p>
        </p:txBody>
      </p:sp>
      <p:sp>
        <p:nvSpPr>
          <p:cNvPr id="16" name="Text 14"/>
          <p:cNvSpPr/>
          <p:nvPr/>
        </p:nvSpPr>
        <p:spPr>
          <a:xfrm>
            <a:off x="6629400" y="4453128"/>
            <a:ext cx="4709160" cy="356616"/>
          </a:xfrm>
          <a:prstGeom prst="rect">
            <a:avLst/>
          </a:prstGeom>
          <a:noFill/>
          <a:ln/>
        </p:spPr>
        <p:txBody>
          <a:bodyPr wrap="square" lIns="254" tIns="254" rIns="254" bIns="254" rtlCol="0" anchor="t">
            <a:normAutofit/>
          </a:bodyPr>
          <a:lstStyle/>
          <a:p>
            <a:pPr indent="0" marL="0">
              <a:buNone/>
            </a:pPr>
            <a:r>
              <a:rPr lang="en-US" sz="1250" dirty="0">
                <a:solidFill>
                  <a:srgbClr val="1E293B"/>
                </a:solidFill>
              </a:rPr>
              <a:t>Propositional logic is not wrong. It is too low-level for domains with many similar objects.</a:t>
            </a:r>
            <a:endParaRPr lang="en-US" sz="1250" dirty="0"/>
          </a:p>
        </p:txBody>
      </p:sp>
      <p:sp>
        <p:nvSpPr>
          <p:cNvPr id="17" name="Shape 15"/>
          <p:cNvSpPr/>
          <p:nvPr/>
        </p:nvSpPr>
        <p:spPr>
          <a:xfrm>
            <a:off x="6446520" y="5074920"/>
            <a:ext cx="5074920" cy="841248"/>
          </a:xfrm>
          <a:prstGeom prst="roundRect">
            <a:avLst>
              <a:gd name="adj" fmla="val 8696"/>
            </a:avLst>
          </a:prstGeom>
          <a:solidFill>
            <a:srgbClr val="E6FFFA"/>
          </a:solidFill>
          <a:ln w="12700">
            <a:solidFill>
              <a:srgbClr val="2A9D8F"/>
            </a:solidFill>
            <a:prstDash val="solid"/>
          </a:ln>
        </p:spPr>
      </p:sp>
      <p:sp>
        <p:nvSpPr>
          <p:cNvPr id="18" name="Text 16"/>
          <p:cNvSpPr/>
          <p:nvPr/>
        </p:nvSpPr>
        <p:spPr>
          <a:xfrm>
            <a:off x="6629400" y="5212080"/>
            <a:ext cx="4709160" cy="219456"/>
          </a:xfrm>
          <a:prstGeom prst="rect">
            <a:avLst/>
          </a:prstGeom>
          <a:noFill/>
          <a:ln/>
        </p:spPr>
        <p:txBody>
          <a:bodyPr wrap="square" lIns="0" tIns="0" rIns="0" bIns="0" rtlCol="0" anchor="ctr"/>
          <a:lstStyle/>
          <a:p>
            <a:pPr indent="0" marL="0">
              <a:buNone/>
            </a:pPr>
            <a:r>
              <a:rPr lang="en-US" sz="950" b="1" dirty="0">
                <a:solidFill>
                  <a:srgbClr val="007C89"/>
                </a:solidFill>
              </a:rPr>
              <a:t>CLASS CHECK</a:t>
            </a:r>
            <a:endParaRPr lang="en-US" sz="950" dirty="0"/>
          </a:p>
        </p:txBody>
      </p:sp>
      <p:sp>
        <p:nvSpPr>
          <p:cNvPr id="19" name="Text 17"/>
          <p:cNvSpPr/>
          <p:nvPr/>
        </p:nvSpPr>
        <p:spPr>
          <a:xfrm>
            <a:off x="6629400" y="5486400"/>
            <a:ext cx="4709160" cy="338328"/>
          </a:xfrm>
          <a:prstGeom prst="rect">
            <a:avLst/>
          </a:prstGeom>
          <a:noFill/>
          <a:ln/>
        </p:spPr>
        <p:txBody>
          <a:bodyPr wrap="square" lIns="254" tIns="254" rIns="254" bIns="254" rtlCol="0" anchor="t">
            <a:normAutofit/>
          </a:bodyPr>
          <a:lstStyle/>
          <a:p>
            <a:pPr indent="0" marL="0">
              <a:buNone/>
            </a:pPr>
            <a:r>
              <a:rPr lang="en-US" sz="1270" dirty="0">
                <a:solidFill>
                  <a:srgbClr val="1E293B"/>
                </a:solidFill>
              </a:rPr>
              <a:t>Ask: How many copied rules would a one hundred by one hundred grid require?</a:t>
            </a:r>
            <a:endParaRPr lang="en-US" sz="127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5088"/>
          </a:solidFill>
          <a:ln w="12700">
            <a:solidFill>
              <a:srgbClr val="005088"/>
            </a:solidFill>
            <a:prstDash val="solid"/>
          </a:ln>
        </p:spPr>
      </p:sp>
      <p:sp>
        <p:nvSpPr>
          <p:cNvPr id="3" name="Shape 1"/>
          <p:cNvSpPr/>
          <p:nvPr/>
        </p:nvSpPr>
        <p:spPr>
          <a:xfrm>
            <a:off x="0" y="6729984"/>
            <a:ext cx="12191695" cy="128016"/>
          </a:xfrm>
          <a:prstGeom prst="rect">
            <a:avLst/>
          </a:prstGeom>
          <a:solidFill>
            <a:srgbClr val="005088"/>
          </a:solidFill>
          <a:ln w="12700">
            <a:solidFill>
              <a:srgbClr val="005088"/>
            </a:solidFill>
            <a:prstDash val="solid"/>
          </a:ln>
        </p:spPr>
      </p:sp>
      <p:sp>
        <p:nvSpPr>
          <p:cNvPr id="4" name="Text 2"/>
          <p:cNvSpPr/>
          <p:nvPr/>
        </p:nvSpPr>
        <p:spPr>
          <a:xfrm>
            <a:off x="502920" y="210312"/>
            <a:ext cx="6858000" cy="219456"/>
          </a:xfrm>
          <a:prstGeom prst="rect">
            <a:avLst/>
          </a:prstGeom>
          <a:noFill/>
          <a:ln/>
        </p:spPr>
        <p:txBody>
          <a:bodyPr wrap="square" lIns="0" tIns="0" rIns="0" bIns="0" rtlCol="0" anchor="ctr"/>
          <a:lstStyle/>
          <a:p>
            <a:pPr indent="0" marL="0">
              <a:buNone/>
            </a:pPr>
            <a:r>
              <a:rPr lang="en-US" sz="950" b="1" dirty="0">
                <a:solidFill>
                  <a:srgbClr val="3D5A80"/>
                </a:solidFill>
                <a:latin typeface="Aptos" pitchFamily="34" charset="0"/>
                <a:ea typeface="Aptos" pitchFamily="34" charset="-122"/>
                <a:cs typeface="Aptos" pitchFamily="34" charset="-120"/>
              </a:rPr>
              <a:t>8.1 Representation Revisited</a:t>
            </a:r>
            <a:endParaRPr lang="en-US" sz="950" dirty="0"/>
          </a:p>
        </p:txBody>
      </p:sp>
      <p:sp>
        <p:nvSpPr>
          <p:cNvPr id="5" name="Text 3"/>
          <p:cNvSpPr/>
          <p:nvPr/>
        </p:nvSpPr>
        <p:spPr>
          <a:xfrm>
            <a:off x="11018520" y="201168"/>
            <a:ext cx="640080" cy="228600"/>
          </a:xfrm>
          <a:prstGeom prst="rect">
            <a:avLst/>
          </a:prstGeom>
          <a:noFill/>
          <a:ln/>
        </p:spPr>
        <p:txBody>
          <a:bodyPr wrap="square" lIns="0" tIns="0" rIns="0" bIns="0" rtlCol="0" anchor="ctr"/>
          <a:lstStyle/>
          <a:p>
            <a:pPr algn="r" indent="0" marL="0">
              <a:buNone/>
            </a:pPr>
            <a:r>
              <a:rPr lang="en-US" sz="900" b="1" dirty="0">
                <a:solidFill>
                  <a:srgbClr val="3D5A80"/>
                </a:solidFill>
              </a:rPr>
              <a:t>15</a:t>
            </a:r>
            <a:endParaRPr lang="en-US" sz="900" dirty="0"/>
          </a:p>
        </p:txBody>
      </p:sp>
      <p:sp>
        <p:nvSpPr>
          <p:cNvPr id="6" name="Text 4"/>
          <p:cNvSpPr/>
          <p:nvPr/>
        </p:nvSpPr>
        <p:spPr>
          <a:xfrm>
            <a:off x="502920" y="566928"/>
            <a:ext cx="11201400" cy="512064"/>
          </a:xfrm>
          <a:prstGeom prst="rect">
            <a:avLst/>
          </a:prstGeom>
          <a:noFill/>
          <a:ln/>
        </p:spPr>
        <p:txBody>
          <a:bodyPr wrap="square" lIns="0" tIns="0" rIns="0" bIns="0" rtlCol="0" anchor="ctr">
            <a:normAutofit/>
          </a:bodyPr>
          <a:lstStyle/>
          <a:p>
            <a:pPr indent="0" marL="0">
              <a:buNone/>
            </a:pPr>
            <a:r>
              <a:rPr lang="en-US" sz="2650" b="1" dirty="0">
                <a:solidFill>
                  <a:srgbClr val="005088"/>
                </a:solidFill>
                <a:latin typeface="Aptos Display" pitchFamily="34" charset="0"/>
                <a:ea typeface="Aptos Display" pitchFamily="34" charset="-122"/>
                <a:cs typeface="Aptos Display" pitchFamily="34" charset="-120"/>
              </a:rPr>
              <a:t>FIRST-ORDER LOGIC SAYS THE PATTERN ONCE</a:t>
            </a:r>
            <a:endParaRPr lang="en-US" sz="2650" dirty="0"/>
          </a:p>
        </p:txBody>
      </p:sp>
      <p:sp>
        <p:nvSpPr>
          <p:cNvPr id="7" name="Shape 5"/>
          <p:cNvSpPr/>
          <p:nvPr/>
        </p:nvSpPr>
        <p:spPr>
          <a:xfrm>
            <a:off x="502920" y="1188720"/>
            <a:ext cx="11109960" cy="0"/>
          </a:xfrm>
          <a:prstGeom prst="line">
            <a:avLst/>
          </a:prstGeom>
          <a:noFill/>
          <a:ln w="12700">
            <a:solidFill>
              <a:srgbClr val="3D5A80"/>
            </a:solidFill>
            <a:prstDash val="solid"/>
          </a:ln>
        </p:spPr>
      </p:sp>
      <p:sp>
        <p:nvSpPr>
          <p:cNvPr id="8" name="Text 6"/>
          <p:cNvSpPr/>
          <p:nvPr/>
        </p:nvSpPr>
        <p:spPr>
          <a:xfrm>
            <a:off x="713232" y="1572768"/>
            <a:ext cx="5440680" cy="4251960"/>
          </a:xfrm>
          <a:prstGeom prst="rect">
            <a:avLst/>
          </a:prstGeom>
          <a:noFill/>
          <a:ln/>
        </p:spPr>
        <p:txBody>
          <a:bodyPr wrap="square" lIns="1016" tIns="1016" rIns="1016" bIns="1016" rtlCol="0" anchor="t">
            <a:normAutofit/>
          </a:bodyPr>
          <a:lstStyle/>
          <a:p>
            <a:pPr indent="0" marL="0">
              <a:buNone/>
            </a:pPr>
            <a:r>
              <a:rPr lang="en-US" sz="1650" dirty="0">
                <a:solidFill>
                  <a:srgbClr val="1E293B"/>
                </a:solidFill>
                <a:latin typeface="Aptos" pitchFamily="34" charset="0"/>
                <a:ea typeface="Aptos" pitchFamily="34" charset="-122"/>
                <a:cs typeface="Aptos" pitchFamily="34" charset="-120"/>
              </a:rPr>
              <a:t>• Use variables for reusable placeholders</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Use relations to describe how objects connect</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Use quantifiers to cover all or some objects</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One sentence can express a whole family of ground facts</a:t>
            </a:r>
            <a:endParaRPr lang="en-US" sz="1650" dirty="0"/>
          </a:p>
        </p:txBody>
      </p:sp>
      <p:sp>
        <p:nvSpPr>
          <p:cNvPr id="9" name="Shape 7"/>
          <p:cNvSpPr/>
          <p:nvPr/>
        </p:nvSpPr>
        <p:spPr>
          <a:xfrm>
            <a:off x="6446520" y="1572768"/>
            <a:ext cx="5074920" cy="1234440"/>
          </a:xfrm>
          <a:prstGeom prst="roundRect">
            <a:avLst>
              <a:gd name="adj" fmla="val 5926"/>
            </a:avLst>
          </a:prstGeom>
          <a:solidFill>
            <a:srgbClr val="FFF6D9"/>
          </a:solidFill>
          <a:ln w="12700">
            <a:solidFill>
              <a:srgbClr val="F4A261"/>
            </a:solidFill>
            <a:prstDash val="solid"/>
          </a:ln>
        </p:spPr>
      </p:sp>
      <p:sp>
        <p:nvSpPr>
          <p:cNvPr id="10" name="Text 8"/>
          <p:cNvSpPr/>
          <p:nvPr/>
        </p:nvSpPr>
        <p:spPr>
          <a:xfrm>
            <a:off x="6629400" y="1709928"/>
            <a:ext cx="4709160" cy="219456"/>
          </a:xfrm>
          <a:prstGeom prst="rect">
            <a:avLst/>
          </a:prstGeom>
          <a:noFill/>
          <a:ln/>
        </p:spPr>
        <p:txBody>
          <a:bodyPr wrap="square" lIns="0" tIns="0" rIns="0" bIns="0" rtlCol="0" anchor="ctr"/>
          <a:lstStyle/>
          <a:p>
            <a:pPr indent="0" marL="0">
              <a:buNone/>
            </a:pPr>
            <a:r>
              <a:rPr lang="en-US" sz="950" b="1" dirty="0">
                <a:solidFill>
                  <a:srgbClr val="B0005D"/>
                </a:solidFill>
              </a:rPr>
              <a:t>ANALOGY</a:t>
            </a:r>
            <a:endParaRPr lang="en-US" sz="950" dirty="0"/>
          </a:p>
        </p:txBody>
      </p:sp>
      <p:sp>
        <p:nvSpPr>
          <p:cNvPr id="11" name="Text 9"/>
          <p:cNvSpPr/>
          <p:nvPr/>
        </p:nvSpPr>
        <p:spPr>
          <a:xfrm>
            <a:off x="6629400" y="1984248"/>
            <a:ext cx="4709160" cy="731520"/>
          </a:xfrm>
          <a:prstGeom prst="rect">
            <a:avLst/>
          </a:prstGeom>
          <a:noFill/>
          <a:ln/>
        </p:spPr>
        <p:txBody>
          <a:bodyPr wrap="square" lIns="254" tIns="254" rIns="254" bIns="254" rtlCol="0" anchor="t">
            <a:normAutofit/>
          </a:bodyPr>
          <a:lstStyle/>
          <a:p>
            <a:pPr indent="0" marL="0">
              <a:buNone/>
            </a:pPr>
            <a:r>
              <a:rPr lang="en-US" sz="1330" dirty="0">
                <a:solidFill>
                  <a:srgbClr val="1E293B"/>
                </a:solidFill>
              </a:rPr>
              <a:t>A campus policy applies to all students; the university does not write a separate policy for each person.</a:t>
            </a:r>
            <a:endParaRPr lang="en-US" sz="1330" dirty="0"/>
          </a:p>
        </p:txBody>
      </p:sp>
      <p:sp>
        <p:nvSpPr>
          <p:cNvPr id="12" name="Shape 10"/>
          <p:cNvSpPr/>
          <p:nvPr/>
        </p:nvSpPr>
        <p:spPr>
          <a:xfrm>
            <a:off x="6446520" y="2999232"/>
            <a:ext cx="5074920" cy="841248"/>
          </a:xfrm>
          <a:prstGeom prst="roundRect">
            <a:avLst>
              <a:gd name="adj" fmla="val 8696"/>
            </a:avLst>
          </a:prstGeom>
          <a:solidFill>
            <a:srgbClr val="FFFFFF">
              <a:alpha val="97000"/>
            </a:srgbClr>
          </a:solidFill>
          <a:ln w="12700">
            <a:solidFill>
              <a:srgbClr val="007C89"/>
            </a:solidFill>
            <a:prstDash val="solid"/>
          </a:ln>
        </p:spPr>
      </p:sp>
      <p:sp>
        <p:nvSpPr>
          <p:cNvPr id="13" name="Text 11"/>
          <p:cNvSpPr/>
          <p:nvPr/>
        </p:nvSpPr>
        <p:spPr>
          <a:xfrm>
            <a:off x="6611112" y="3127248"/>
            <a:ext cx="4745736" cy="658368"/>
          </a:xfrm>
          <a:prstGeom prst="rect">
            <a:avLst/>
          </a:prstGeom>
          <a:noFill/>
          <a:ln/>
        </p:spPr>
        <p:txBody>
          <a:bodyPr wrap="square" lIns="0" tIns="0" rIns="0" bIns="0" rtlCol="0" anchor="ctr">
            <a:normAutofit/>
          </a:bodyPr>
          <a:lstStyle/>
          <a:p>
            <a:pPr algn="ctr" indent="0" marL="0">
              <a:buNone/>
            </a:pPr>
            <a:r>
              <a:rPr lang="en-US" sz="1550" b="1" dirty="0">
                <a:solidFill>
                  <a:srgbClr val="005088"/>
                </a:solidFill>
                <a:latin typeface="Cambria Math" pitchFamily="34" charset="0"/>
                <a:ea typeface="Cambria Math" pitchFamily="34" charset="-122"/>
                <a:cs typeface="Cambria Math" pitchFamily="34" charset="-120"/>
              </a:rPr>
              <a:t>∀s Breezy(s) ⇔ ∃p (Pit(p) ∧ Adjacent(p,s))</a:t>
            </a:r>
            <a:endParaRPr lang="en-US" sz="1550" dirty="0"/>
          </a:p>
        </p:txBody>
      </p:sp>
      <p:sp>
        <p:nvSpPr>
          <p:cNvPr id="14" name="Shape 12"/>
          <p:cNvSpPr/>
          <p:nvPr/>
        </p:nvSpPr>
        <p:spPr>
          <a:xfrm>
            <a:off x="6446520" y="4041648"/>
            <a:ext cx="5074920" cy="859536"/>
          </a:xfrm>
          <a:prstGeom prst="roundRect">
            <a:avLst>
              <a:gd name="adj" fmla="val 8511"/>
            </a:avLst>
          </a:prstGeom>
          <a:solidFill>
            <a:srgbClr val="FFE4E6"/>
          </a:solidFill>
          <a:ln w="12700">
            <a:solidFill>
              <a:srgbClr val="FDA4AF"/>
            </a:solidFill>
            <a:prstDash val="solid"/>
          </a:ln>
        </p:spPr>
      </p:sp>
      <p:sp>
        <p:nvSpPr>
          <p:cNvPr id="15" name="Text 13"/>
          <p:cNvSpPr/>
          <p:nvPr/>
        </p:nvSpPr>
        <p:spPr>
          <a:xfrm>
            <a:off x="6629400" y="4178808"/>
            <a:ext cx="4709160" cy="219456"/>
          </a:xfrm>
          <a:prstGeom prst="rect">
            <a:avLst/>
          </a:prstGeom>
          <a:noFill/>
          <a:ln/>
        </p:spPr>
        <p:txBody>
          <a:bodyPr wrap="square" lIns="0" tIns="0" rIns="0" bIns="0" rtlCol="0" anchor="ctr"/>
          <a:lstStyle/>
          <a:p>
            <a:pPr indent="0" marL="0">
              <a:buNone/>
            </a:pPr>
            <a:r>
              <a:rPr lang="en-US" sz="950" b="1" dirty="0">
                <a:solidFill>
                  <a:srgbClr val="C1121F"/>
                </a:solidFill>
              </a:rPr>
              <a:t>STUDENT GOTCHA</a:t>
            </a:r>
            <a:endParaRPr lang="en-US" sz="950" dirty="0"/>
          </a:p>
        </p:txBody>
      </p:sp>
      <p:sp>
        <p:nvSpPr>
          <p:cNvPr id="16" name="Text 14"/>
          <p:cNvSpPr/>
          <p:nvPr/>
        </p:nvSpPr>
        <p:spPr>
          <a:xfrm>
            <a:off x="6629400" y="4453128"/>
            <a:ext cx="4709160" cy="356616"/>
          </a:xfrm>
          <a:prstGeom prst="rect">
            <a:avLst/>
          </a:prstGeom>
          <a:noFill/>
          <a:ln/>
        </p:spPr>
        <p:txBody>
          <a:bodyPr wrap="square" lIns="254" tIns="254" rIns="254" bIns="254" rtlCol="0" anchor="t">
            <a:normAutofit/>
          </a:bodyPr>
          <a:lstStyle/>
          <a:p>
            <a:pPr indent="0" marL="0">
              <a:buNone/>
            </a:pPr>
            <a:r>
              <a:rPr lang="en-US" sz="1250" dirty="0">
                <a:solidFill>
                  <a:srgbClr val="1E293B"/>
                </a:solidFill>
              </a:rPr>
              <a:t>The variable is not one secret object. It ranges over possible objects in the domain.</a:t>
            </a:r>
            <a:endParaRPr lang="en-US" sz="1250" dirty="0"/>
          </a:p>
        </p:txBody>
      </p:sp>
      <p:sp>
        <p:nvSpPr>
          <p:cNvPr id="17" name="Shape 15"/>
          <p:cNvSpPr/>
          <p:nvPr/>
        </p:nvSpPr>
        <p:spPr>
          <a:xfrm>
            <a:off x="6446520" y="5074920"/>
            <a:ext cx="5074920" cy="841248"/>
          </a:xfrm>
          <a:prstGeom prst="roundRect">
            <a:avLst>
              <a:gd name="adj" fmla="val 8696"/>
            </a:avLst>
          </a:prstGeom>
          <a:solidFill>
            <a:srgbClr val="E6FFFA"/>
          </a:solidFill>
          <a:ln w="12700">
            <a:solidFill>
              <a:srgbClr val="2A9D8F"/>
            </a:solidFill>
            <a:prstDash val="solid"/>
          </a:ln>
        </p:spPr>
      </p:sp>
      <p:sp>
        <p:nvSpPr>
          <p:cNvPr id="18" name="Text 16"/>
          <p:cNvSpPr/>
          <p:nvPr/>
        </p:nvSpPr>
        <p:spPr>
          <a:xfrm>
            <a:off x="6629400" y="5212080"/>
            <a:ext cx="4709160" cy="219456"/>
          </a:xfrm>
          <a:prstGeom prst="rect">
            <a:avLst/>
          </a:prstGeom>
          <a:noFill/>
          <a:ln/>
        </p:spPr>
        <p:txBody>
          <a:bodyPr wrap="square" lIns="0" tIns="0" rIns="0" bIns="0" rtlCol="0" anchor="ctr"/>
          <a:lstStyle/>
          <a:p>
            <a:pPr indent="0" marL="0">
              <a:buNone/>
            </a:pPr>
            <a:r>
              <a:rPr lang="en-US" sz="950" b="1" dirty="0">
                <a:solidFill>
                  <a:srgbClr val="007C89"/>
                </a:solidFill>
              </a:rPr>
              <a:t>CLASS CHECK</a:t>
            </a:r>
            <a:endParaRPr lang="en-US" sz="950" dirty="0"/>
          </a:p>
        </p:txBody>
      </p:sp>
      <p:sp>
        <p:nvSpPr>
          <p:cNvPr id="19" name="Text 17"/>
          <p:cNvSpPr/>
          <p:nvPr/>
        </p:nvSpPr>
        <p:spPr>
          <a:xfrm>
            <a:off x="6629400" y="5486400"/>
            <a:ext cx="4709160" cy="338328"/>
          </a:xfrm>
          <a:prstGeom prst="rect">
            <a:avLst/>
          </a:prstGeom>
          <a:noFill/>
          <a:ln/>
        </p:spPr>
        <p:txBody>
          <a:bodyPr wrap="square" lIns="254" tIns="254" rIns="254" bIns="254" rtlCol="0" anchor="t">
            <a:normAutofit/>
          </a:bodyPr>
          <a:lstStyle/>
          <a:p>
            <a:pPr indent="0" marL="0">
              <a:buNone/>
            </a:pPr>
            <a:r>
              <a:rPr lang="en-US" sz="1270" dirty="0">
                <a:solidFill>
                  <a:srgbClr val="1E293B"/>
                </a:solidFill>
              </a:rPr>
              <a:t>Ask students to translate the formula aloud without using the symbol names.</a:t>
            </a:r>
            <a:endParaRPr lang="en-US" sz="127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5088"/>
          </a:solidFill>
          <a:ln w="12700">
            <a:solidFill>
              <a:srgbClr val="005088"/>
            </a:solidFill>
            <a:prstDash val="solid"/>
          </a:ln>
        </p:spPr>
      </p:sp>
      <p:sp>
        <p:nvSpPr>
          <p:cNvPr id="3" name="Shape 1"/>
          <p:cNvSpPr/>
          <p:nvPr/>
        </p:nvSpPr>
        <p:spPr>
          <a:xfrm>
            <a:off x="0" y="6729984"/>
            <a:ext cx="12191695" cy="128016"/>
          </a:xfrm>
          <a:prstGeom prst="rect">
            <a:avLst/>
          </a:prstGeom>
          <a:solidFill>
            <a:srgbClr val="005088"/>
          </a:solidFill>
          <a:ln w="12700">
            <a:solidFill>
              <a:srgbClr val="005088"/>
            </a:solidFill>
            <a:prstDash val="solid"/>
          </a:ln>
        </p:spPr>
      </p:sp>
      <p:sp>
        <p:nvSpPr>
          <p:cNvPr id="4" name="Text 2"/>
          <p:cNvSpPr/>
          <p:nvPr/>
        </p:nvSpPr>
        <p:spPr>
          <a:xfrm>
            <a:off x="502920" y="210312"/>
            <a:ext cx="6858000" cy="219456"/>
          </a:xfrm>
          <a:prstGeom prst="rect">
            <a:avLst/>
          </a:prstGeom>
          <a:noFill/>
          <a:ln/>
        </p:spPr>
        <p:txBody>
          <a:bodyPr wrap="square" lIns="0" tIns="0" rIns="0" bIns="0" rtlCol="0" anchor="ctr"/>
          <a:lstStyle/>
          <a:p>
            <a:pPr indent="0" marL="0">
              <a:buNone/>
            </a:pPr>
            <a:r>
              <a:rPr lang="en-US" sz="950" b="1" dirty="0">
                <a:solidFill>
                  <a:srgbClr val="3D5A80"/>
                </a:solidFill>
                <a:latin typeface="Aptos" pitchFamily="34" charset="0"/>
                <a:ea typeface="Aptos" pitchFamily="34" charset="-122"/>
                <a:cs typeface="Aptos" pitchFamily="34" charset="-120"/>
              </a:rPr>
              <a:t>8.1.1 The language of thought</a:t>
            </a:r>
            <a:endParaRPr lang="en-US" sz="950" dirty="0"/>
          </a:p>
        </p:txBody>
      </p:sp>
      <p:sp>
        <p:nvSpPr>
          <p:cNvPr id="5" name="Text 3"/>
          <p:cNvSpPr/>
          <p:nvPr/>
        </p:nvSpPr>
        <p:spPr>
          <a:xfrm>
            <a:off x="11018520" y="201168"/>
            <a:ext cx="640080" cy="228600"/>
          </a:xfrm>
          <a:prstGeom prst="rect">
            <a:avLst/>
          </a:prstGeom>
          <a:noFill/>
          <a:ln/>
        </p:spPr>
        <p:txBody>
          <a:bodyPr wrap="square" lIns="0" tIns="0" rIns="0" bIns="0" rtlCol="0" anchor="ctr"/>
          <a:lstStyle/>
          <a:p>
            <a:pPr algn="r" indent="0" marL="0">
              <a:buNone/>
            </a:pPr>
            <a:r>
              <a:rPr lang="en-US" sz="900" b="1" dirty="0">
                <a:solidFill>
                  <a:srgbClr val="3D5A80"/>
                </a:solidFill>
              </a:rPr>
              <a:t>16</a:t>
            </a:r>
            <a:endParaRPr lang="en-US" sz="900" dirty="0"/>
          </a:p>
        </p:txBody>
      </p:sp>
      <p:sp>
        <p:nvSpPr>
          <p:cNvPr id="6" name="Text 4"/>
          <p:cNvSpPr/>
          <p:nvPr/>
        </p:nvSpPr>
        <p:spPr>
          <a:xfrm>
            <a:off x="502920" y="566928"/>
            <a:ext cx="11201400" cy="512064"/>
          </a:xfrm>
          <a:prstGeom prst="rect">
            <a:avLst/>
          </a:prstGeom>
          <a:noFill/>
          <a:ln/>
        </p:spPr>
        <p:txBody>
          <a:bodyPr wrap="square" lIns="0" tIns="0" rIns="0" bIns="0" rtlCol="0" anchor="ctr">
            <a:normAutofit/>
          </a:bodyPr>
          <a:lstStyle/>
          <a:p>
            <a:pPr indent="0" marL="0">
              <a:buNone/>
            </a:pPr>
            <a:r>
              <a:rPr lang="en-US" sz="2650" b="1" dirty="0">
                <a:solidFill>
                  <a:srgbClr val="005088"/>
                </a:solidFill>
                <a:latin typeface="Aptos Display" pitchFamily="34" charset="0"/>
                <a:ea typeface="Aptos Display" pitchFamily="34" charset="-122"/>
                <a:cs typeface="Aptos Display" pitchFamily="34" charset="-120"/>
              </a:rPr>
              <a:t>NATURAL LANGUAGE SEEMS TEMPTING</a:t>
            </a:r>
            <a:endParaRPr lang="en-US" sz="2650" dirty="0"/>
          </a:p>
        </p:txBody>
      </p:sp>
      <p:sp>
        <p:nvSpPr>
          <p:cNvPr id="7" name="Shape 5"/>
          <p:cNvSpPr/>
          <p:nvPr/>
        </p:nvSpPr>
        <p:spPr>
          <a:xfrm>
            <a:off x="502920" y="1188720"/>
            <a:ext cx="11109960" cy="0"/>
          </a:xfrm>
          <a:prstGeom prst="line">
            <a:avLst/>
          </a:prstGeom>
          <a:noFill/>
          <a:ln w="12700">
            <a:solidFill>
              <a:srgbClr val="3D5A80"/>
            </a:solidFill>
            <a:prstDash val="solid"/>
          </a:ln>
        </p:spPr>
      </p:sp>
      <p:sp>
        <p:nvSpPr>
          <p:cNvPr id="8" name="Text 6"/>
          <p:cNvSpPr/>
          <p:nvPr/>
        </p:nvSpPr>
        <p:spPr>
          <a:xfrm>
            <a:off x="713232" y="1572768"/>
            <a:ext cx="5440680" cy="4251960"/>
          </a:xfrm>
          <a:prstGeom prst="rect">
            <a:avLst/>
          </a:prstGeom>
          <a:noFill/>
          <a:ln/>
        </p:spPr>
        <p:txBody>
          <a:bodyPr wrap="square" lIns="1016" tIns="1016" rIns="1016" bIns="1016" rtlCol="0" anchor="t">
            <a:normAutofit/>
          </a:bodyPr>
          <a:lstStyle/>
          <a:p>
            <a:pPr indent="0" marL="0">
              <a:buNone/>
            </a:pPr>
            <a:r>
              <a:rPr lang="en-US" sz="1650" dirty="0">
                <a:solidFill>
                  <a:srgbClr val="1E293B"/>
                </a:solidFill>
                <a:latin typeface="Aptos" pitchFamily="34" charset="0"/>
                <a:ea typeface="Aptos" pitchFamily="34" charset="-122"/>
                <a:cs typeface="Aptos" pitchFamily="34" charset="-120"/>
              </a:rPr>
              <a:t>• Natural language is extremely expressive</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It is how humans communicate most knowledge</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It can describe objects, relations, time, uncertainty, and context</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But it is not a clean formal knowledge base language</a:t>
            </a:r>
            <a:endParaRPr lang="en-US" sz="1650" dirty="0"/>
          </a:p>
        </p:txBody>
      </p:sp>
      <p:sp>
        <p:nvSpPr>
          <p:cNvPr id="9" name="Shape 7"/>
          <p:cNvSpPr/>
          <p:nvPr/>
        </p:nvSpPr>
        <p:spPr>
          <a:xfrm>
            <a:off x="6446520" y="1572768"/>
            <a:ext cx="5074920" cy="1234440"/>
          </a:xfrm>
          <a:prstGeom prst="roundRect">
            <a:avLst>
              <a:gd name="adj" fmla="val 5926"/>
            </a:avLst>
          </a:prstGeom>
          <a:solidFill>
            <a:srgbClr val="FFF6D9"/>
          </a:solidFill>
          <a:ln w="12700">
            <a:solidFill>
              <a:srgbClr val="F4A261"/>
            </a:solidFill>
            <a:prstDash val="solid"/>
          </a:ln>
        </p:spPr>
      </p:sp>
      <p:sp>
        <p:nvSpPr>
          <p:cNvPr id="10" name="Text 8"/>
          <p:cNvSpPr/>
          <p:nvPr/>
        </p:nvSpPr>
        <p:spPr>
          <a:xfrm>
            <a:off x="6629400" y="1709928"/>
            <a:ext cx="4709160" cy="219456"/>
          </a:xfrm>
          <a:prstGeom prst="rect">
            <a:avLst/>
          </a:prstGeom>
          <a:noFill/>
          <a:ln/>
        </p:spPr>
        <p:txBody>
          <a:bodyPr wrap="square" lIns="0" tIns="0" rIns="0" bIns="0" rtlCol="0" anchor="ctr"/>
          <a:lstStyle/>
          <a:p>
            <a:pPr indent="0" marL="0">
              <a:buNone/>
            </a:pPr>
            <a:r>
              <a:rPr lang="en-US" sz="950" b="1" dirty="0">
                <a:solidFill>
                  <a:srgbClr val="B0005D"/>
                </a:solidFill>
              </a:rPr>
              <a:t>ANALOGY</a:t>
            </a:r>
            <a:endParaRPr lang="en-US" sz="950" dirty="0"/>
          </a:p>
        </p:txBody>
      </p:sp>
      <p:sp>
        <p:nvSpPr>
          <p:cNvPr id="11" name="Text 9"/>
          <p:cNvSpPr/>
          <p:nvPr/>
        </p:nvSpPr>
        <p:spPr>
          <a:xfrm>
            <a:off x="6629400" y="1984248"/>
            <a:ext cx="4709160" cy="731520"/>
          </a:xfrm>
          <a:prstGeom prst="rect">
            <a:avLst/>
          </a:prstGeom>
          <a:noFill/>
          <a:ln/>
        </p:spPr>
        <p:txBody>
          <a:bodyPr wrap="square" lIns="254" tIns="254" rIns="254" bIns="254" rtlCol="0" anchor="t">
            <a:normAutofit/>
          </a:bodyPr>
          <a:lstStyle/>
          <a:p>
            <a:pPr indent="0" marL="0">
              <a:buNone/>
            </a:pPr>
            <a:r>
              <a:rPr lang="en-US" sz="1330" dirty="0">
                <a:solidFill>
                  <a:srgbClr val="1E293B"/>
                </a:solidFill>
              </a:rPr>
              <a:t>Natural language is like a conversation in a crowded room: powerful, flexible, and full of shared assumptions.</a:t>
            </a:r>
            <a:endParaRPr lang="en-US" sz="1330" dirty="0"/>
          </a:p>
        </p:txBody>
      </p:sp>
      <p:sp>
        <p:nvSpPr>
          <p:cNvPr id="12" name="Shape 10"/>
          <p:cNvSpPr/>
          <p:nvPr/>
        </p:nvSpPr>
        <p:spPr>
          <a:xfrm>
            <a:off x="6446520" y="2999232"/>
            <a:ext cx="5074920" cy="841248"/>
          </a:xfrm>
          <a:prstGeom prst="roundRect">
            <a:avLst>
              <a:gd name="adj" fmla="val 8696"/>
            </a:avLst>
          </a:prstGeom>
          <a:solidFill>
            <a:srgbClr val="FFFFFF">
              <a:alpha val="97000"/>
            </a:srgbClr>
          </a:solidFill>
          <a:ln w="12700">
            <a:solidFill>
              <a:srgbClr val="007C89"/>
            </a:solidFill>
            <a:prstDash val="solid"/>
          </a:ln>
        </p:spPr>
      </p:sp>
      <p:sp>
        <p:nvSpPr>
          <p:cNvPr id="13" name="Text 11"/>
          <p:cNvSpPr/>
          <p:nvPr/>
        </p:nvSpPr>
        <p:spPr>
          <a:xfrm>
            <a:off x="6611112" y="3127248"/>
            <a:ext cx="4745736" cy="658368"/>
          </a:xfrm>
          <a:prstGeom prst="rect">
            <a:avLst/>
          </a:prstGeom>
          <a:noFill/>
          <a:ln/>
        </p:spPr>
        <p:txBody>
          <a:bodyPr wrap="square" lIns="0" tIns="0" rIns="0" bIns="0" rtlCol="0" anchor="ctr">
            <a:normAutofit/>
          </a:bodyPr>
          <a:lstStyle/>
          <a:p>
            <a:pPr algn="ctr" indent="0" marL="0">
              <a:buNone/>
            </a:pPr>
            <a:r>
              <a:rPr lang="en-US" sz="1900" b="1" dirty="0">
                <a:solidFill>
                  <a:srgbClr val="005088"/>
                </a:solidFill>
                <a:latin typeface="Cambria Math" pitchFamily="34" charset="0"/>
                <a:ea typeface="Cambria Math" pitchFamily="34" charset="-122"/>
                <a:cs typeface="Cambria Math" pitchFamily="34" charset="-120"/>
              </a:rPr>
              <a:t>“Look!” depends on context</a:t>
            </a:r>
            <a:endParaRPr lang="en-US" sz="1900" dirty="0"/>
          </a:p>
        </p:txBody>
      </p:sp>
      <p:sp>
        <p:nvSpPr>
          <p:cNvPr id="14" name="Shape 12"/>
          <p:cNvSpPr/>
          <p:nvPr/>
        </p:nvSpPr>
        <p:spPr>
          <a:xfrm>
            <a:off x="6446520" y="4041648"/>
            <a:ext cx="5074920" cy="859536"/>
          </a:xfrm>
          <a:prstGeom prst="roundRect">
            <a:avLst>
              <a:gd name="adj" fmla="val 8511"/>
            </a:avLst>
          </a:prstGeom>
          <a:solidFill>
            <a:srgbClr val="FFE4E6"/>
          </a:solidFill>
          <a:ln w="12700">
            <a:solidFill>
              <a:srgbClr val="FDA4AF"/>
            </a:solidFill>
            <a:prstDash val="solid"/>
          </a:ln>
        </p:spPr>
      </p:sp>
      <p:sp>
        <p:nvSpPr>
          <p:cNvPr id="15" name="Text 13"/>
          <p:cNvSpPr/>
          <p:nvPr/>
        </p:nvSpPr>
        <p:spPr>
          <a:xfrm>
            <a:off x="6629400" y="4178808"/>
            <a:ext cx="4709160" cy="219456"/>
          </a:xfrm>
          <a:prstGeom prst="rect">
            <a:avLst/>
          </a:prstGeom>
          <a:noFill/>
          <a:ln/>
        </p:spPr>
        <p:txBody>
          <a:bodyPr wrap="square" lIns="0" tIns="0" rIns="0" bIns="0" rtlCol="0" anchor="ctr"/>
          <a:lstStyle/>
          <a:p>
            <a:pPr indent="0" marL="0">
              <a:buNone/>
            </a:pPr>
            <a:r>
              <a:rPr lang="en-US" sz="950" b="1" dirty="0">
                <a:solidFill>
                  <a:srgbClr val="C1121F"/>
                </a:solidFill>
              </a:rPr>
              <a:t>STUDENT GOTCHA</a:t>
            </a:r>
            <a:endParaRPr lang="en-US" sz="950" dirty="0"/>
          </a:p>
        </p:txBody>
      </p:sp>
      <p:sp>
        <p:nvSpPr>
          <p:cNvPr id="16" name="Text 14"/>
          <p:cNvSpPr/>
          <p:nvPr/>
        </p:nvSpPr>
        <p:spPr>
          <a:xfrm>
            <a:off x="6629400" y="4453128"/>
            <a:ext cx="4709160" cy="356616"/>
          </a:xfrm>
          <a:prstGeom prst="rect">
            <a:avLst/>
          </a:prstGeom>
          <a:noFill/>
          <a:ln/>
        </p:spPr>
        <p:txBody>
          <a:bodyPr wrap="square" lIns="254" tIns="254" rIns="254" bIns="254" rtlCol="0" anchor="t">
            <a:normAutofit/>
          </a:bodyPr>
          <a:lstStyle/>
          <a:p>
            <a:pPr indent="0" marL="0">
              <a:buNone/>
            </a:pPr>
            <a:r>
              <a:rPr lang="en-US" sz="1250" dirty="0">
                <a:solidFill>
                  <a:srgbClr val="1E293B"/>
                </a:solidFill>
              </a:rPr>
              <a:t>Students may assume modern language systems remove the need for formal logic. Formal logic still teaches exact semantics and inference.</a:t>
            </a:r>
            <a:endParaRPr lang="en-US" sz="1250" dirty="0"/>
          </a:p>
        </p:txBody>
      </p:sp>
      <p:sp>
        <p:nvSpPr>
          <p:cNvPr id="17" name="Shape 15"/>
          <p:cNvSpPr/>
          <p:nvPr/>
        </p:nvSpPr>
        <p:spPr>
          <a:xfrm>
            <a:off x="6446520" y="5074920"/>
            <a:ext cx="5074920" cy="841248"/>
          </a:xfrm>
          <a:prstGeom prst="roundRect">
            <a:avLst>
              <a:gd name="adj" fmla="val 8696"/>
            </a:avLst>
          </a:prstGeom>
          <a:solidFill>
            <a:srgbClr val="E6FFFA"/>
          </a:solidFill>
          <a:ln w="12700">
            <a:solidFill>
              <a:srgbClr val="2A9D8F"/>
            </a:solidFill>
            <a:prstDash val="solid"/>
          </a:ln>
        </p:spPr>
      </p:sp>
      <p:sp>
        <p:nvSpPr>
          <p:cNvPr id="18" name="Text 16"/>
          <p:cNvSpPr/>
          <p:nvPr/>
        </p:nvSpPr>
        <p:spPr>
          <a:xfrm>
            <a:off x="6629400" y="5212080"/>
            <a:ext cx="4709160" cy="219456"/>
          </a:xfrm>
          <a:prstGeom prst="rect">
            <a:avLst/>
          </a:prstGeom>
          <a:noFill/>
          <a:ln/>
        </p:spPr>
        <p:txBody>
          <a:bodyPr wrap="square" lIns="0" tIns="0" rIns="0" bIns="0" rtlCol="0" anchor="ctr"/>
          <a:lstStyle/>
          <a:p>
            <a:pPr indent="0" marL="0">
              <a:buNone/>
            </a:pPr>
            <a:r>
              <a:rPr lang="en-US" sz="950" b="1" dirty="0">
                <a:solidFill>
                  <a:srgbClr val="007C89"/>
                </a:solidFill>
              </a:rPr>
              <a:t>CLASS CHECK</a:t>
            </a:r>
            <a:endParaRPr lang="en-US" sz="950" dirty="0"/>
          </a:p>
        </p:txBody>
      </p:sp>
      <p:sp>
        <p:nvSpPr>
          <p:cNvPr id="19" name="Text 17"/>
          <p:cNvSpPr/>
          <p:nvPr/>
        </p:nvSpPr>
        <p:spPr>
          <a:xfrm>
            <a:off x="6629400" y="5486400"/>
            <a:ext cx="4709160" cy="338328"/>
          </a:xfrm>
          <a:prstGeom prst="rect">
            <a:avLst/>
          </a:prstGeom>
          <a:noFill/>
          <a:ln/>
        </p:spPr>
        <p:txBody>
          <a:bodyPr wrap="square" lIns="254" tIns="254" rIns="254" bIns="254" rtlCol="0" anchor="t">
            <a:normAutofit/>
          </a:bodyPr>
          <a:lstStyle/>
          <a:p>
            <a:pPr indent="0" marL="0">
              <a:buNone/>
            </a:pPr>
            <a:r>
              <a:rPr lang="en-US" sz="1270" dirty="0">
                <a:solidFill>
                  <a:srgbClr val="1E293B"/>
                </a:solidFill>
              </a:rPr>
              <a:t>Ask: What does “put it there” mean without knowing what “it” and “there” refer to?</a:t>
            </a:r>
            <a:endParaRPr lang="en-US" sz="127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5088"/>
          </a:solidFill>
          <a:ln w="12700">
            <a:solidFill>
              <a:srgbClr val="005088"/>
            </a:solidFill>
            <a:prstDash val="solid"/>
          </a:ln>
        </p:spPr>
      </p:sp>
      <p:sp>
        <p:nvSpPr>
          <p:cNvPr id="3" name="Shape 1"/>
          <p:cNvSpPr/>
          <p:nvPr/>
        </p:nvSpPr>
        <p:spPr>
          <a:xfrm>
            <a:off x="0" y="6729984"/>
            <a:ext cx="12191695" cy="128016"/>
          </a:xfrm>
          <a:prstGeom prst="rect">
            <a:avLst/>
          </a:prstGeom>
          <a:solidFill>
            <a:srgbClr val="005088"/>
          </a:solidFill>
          <a:ln w="12700">
            <a:solidFill>
              <a:srgbClr val="005088"/>
            </a:solidFill>
            <a:prstDash val="solid"/>
          </a:ln>
        </p:spPr>
      </p:sp>
      <p:sp>
        <p:nvSpPr>
          <p:cNvPr id="4" name="Text 2"/>
          <p:cNvSpPr/>
          <p:nvPr/>
        </p:nvSpPr>
        <p:spPr>
          <a:xfrm>
            <a:off x="502920" y="210312"/>
            <a:ext cx="6858000" cy="219456"/>
          </a:xfrm>
          <a:prstGeom prst="rect">
            <a:avLst/>
          </a:prstGeom>
          <a:noFill/>
          <a:ln/>
        </p:spPr>
        <p:txBody>
          <a:bodyPr wrap="square" lIns="0" tIns="0" rIns="0" bIns="0" rtlCol="0" anchor="ctr"/>
          <a:lstStyle/>
          <a:p>
            <a:pPr indent="0" marL="0">
              <a:buNone/>
            </a:pPr>
            <a:r>
              <a:rPr lang="en-US" sz="950" b="1" dirty="0">
                <a:solidFill>
                  <a:srgbClr val="3D5A80"/>
                </a:solidFill>
                <a:latin typeface="Aptos" pitchFamily="34" charset="0"/>
                <a:ea typeface="Aptos" pitchFamily="34" charset="-122"/>
                <a:cs typeface="Aptos" pitchFamily="34" charset="-120"/>
              </a:rPr>
              <a:t>8.1.1 The language of thought</a:t>
            </a:r>
            <a:endParaRPr lang="en-US" sz="950" dirty="0"/>
          </a:p>
        </p:txBody>
      </p:sp>
      <p:sp>
        <p:nvSpPr>
          <p:cNvPr id="5" name="Text 3"/>
          <p:cNvSpPr/>
          <p:nvPr/>
        </p:nvSpPr>
        <p:spPr>
          <a:xfrm>
            <a:off x="11018520" y="201168"/>
            <a:ext cx="640080" cy="228600"/>
          </a:xfrm>
          <a:prstGeom prst="rect">
            <a:avLst/>
          </a:prstGeom>
          <a:noFill/>
          <a:ln/>
        </p:spPr>
        <p:txBody>
          <a:bodyPr wrap="square" lIns="0" tIns="0" rIns="0" bIns="0" rtlCol="0" anchor="ctr"/>
          <a:lstStyle/>
          <a:p>
            <a:pPr algn="r" indent="0" marL="0">
              <a:buNone/>
            </a:pPr>
            <a:r>
              <a:rPr lang="en-US" sz="900" b="1" dirty="0">
                <a:solidFill>
                  <a:srgbClr val="3D5A80"/>
                </a:solidFill>
              </a:rPr>
              <a:t>17</a:t>
            </a:r>
            <a:endParaRPr lang="en-US" sz="900" dirty="0"/>
          </a:p>
        </p:txBody>
      </p:sp>
      <p:sp>
        <p:nvSpPr>
          <p:cNvPr id="6" name="Text 4"/>
          <p:cNvSpPr/>
          <p:nvPr/>
        </p:nvSpPr>
        <p:spPr>
          <a:xfrm>
            <a:off x="502920" y="566928"/>
            <a:ext cx="11201400" cy="512064"/>
          </a:xfrm>
          <a:prstGeom prst="rect">
            <a:avLst/>
          </a:prstGeom>
          <a:noFill/>
          <a:ln/>
        </p:spPr>
        <p:txBody>
          <a:bodyPr wrap="square" lIns="0" tIns="0" rIns="0" bIns="0" rtlCol="0" anchor="ctr">
            <a:normAutofit/>
          </a:bodyPr>
          <a:lstStyle/>
          <a:p>
            <a:pPr indent="0" marL="0">
              <a:buNone/>
            </a:pPr>
            <a:r>
              <a:rPr lang="en-US" sz="2650" b="1" dirty="0">
                <a:solidFill>
                  <a:srgbClr val="005088"/>
                </a:solidFill>
                <a:latin typeface="Aptos Display" pitchFamily="34" charset="0"/>
                <a:ea typeface="Aptos Display" pitchFamily="34" charset="-122"/>
                <a:cs typeface="Aptos Display" pitchFamily="34" charset="-120"/>
              </a:rPr>
              <a:t>NATURAL LANGUAGE AMBIGUITY</a:t>
            </a:r>
            <a:endParaRPr lang="en-US" sz="2650" dirty="0"/>
          </a:p>
        </p:txBody>
      </p:sp>
      <p:sp>
        <p:nvSpPr>
          <p:cNvPr id="7" name="Shape 5"/>
          <p:cNvSpPr/>
          <p:nvPr/>
        </p:nvSpPr>
        <p:spPr>
          <a:xfrm>
            <a:off x="502920" y="1188720"/>
            <a:ext cx="11109960" cy="0"/>
          </a:xfrm>
          <a:prstGeom prst="line">
            <a:avLst/>
          </a:prstGeom>
          <a:noFill/>
          <a:ln w="12700">
            <a:solidFill>
              <a:srgbClr val="3D5A80"/>
            </a:solidFill>
            <a:prstDash val="solid"/>
          </a:ln>
        </p:spPr>
      </p:sp>
      <p:sp>
        <p:nvSpPr>
          <p:cNvPr id="8" name="Text 6"/>
          <p:cNvSpPr/>
          <p:nvPr/>
        </p:nvSpPr>
        <p:spPr>
          <a:xfrm>
            <a:off x="713232" y="1572768"/>
            <a:ext cx="5440680" cy="4251960"/>
          </a:xfrm>
          <a:prstGeom prst="rect">
            <a:avLst/>
          </a:prstGeom>
          <a:noFill/>
          <a:ln/>
        </p:spPr>
        <p:txBody>
          <a:bodyPr wrap="square" lIns="1016" tIns="1016" rIns="1016" bIns="1016" rtlCol="0" anchor="t">
            <a:normAutofit/>
          </a:bodyPr>
          <a:lstStyle/>
          <a:p>
            <a:pPr indent="0" marL="0">
              <a:buNone/>
            </a:pPr>
            <a:r>
              <a:rPr lang="en-US" sz="1650" dirty="0">
                <a:solidFill>
                  <a:srgbClr val="1E293B"/>
                </a:solidFill>
                <a:latin typeface="Aptos" pitchFamily="34" charset="0"/>
                <a:ea typeface="Aptos" pitchFamily="34" charset="-122"/>
                <a:cs typeface="Aptos" pitchFamily="34" charset="-120"/>
              </a:rPr>
              <a:t>• Words can have multiple meanings</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Sentences depend on context and speaker intent</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The same phrase may refer to different objects in different situations</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Formal logic trades flexibility for precision</a:t>
            </a:r>
            <a:endParaRPr lang="en-US" sz="1650" dirty="0"/>
          </a:p>
        </p:txBody>
      </p:sp>
      <p:sp>
        <p:nvSpPr>
          <p:cNvPr id="9" name="Shape 7"/>
          <p:cNvSpPr/>
          <p:nvPr/>
        </p:nvSpPr>
        <p:spPr>
          <a:xfrm>
            <a:off x="6446520" y="1572768"/>
            <a:ext cx="5074920" cy="1234440"/>
          </a:xfrm>
          <a:prstGeom prst="roundRect">
            <a:avLst>
              <a:gd name="adj" fmla="val 5926"/>
            </a:avLst>
          </a:prstGeom>
          <a:solidFill>
            <a:srgbClr val="FFF6D9"/>
          </a:solidFill>
          <a:ln w="12700">
            <a:solidFill>
              <a:srgbClr val="F4A261"/>
            </a:solidFill>
            <a:prstDash val="solid"/>
          </a:ln>
        </p:spPr>
      </p:sp>
      <p:sp>
        <p:nvSpPr>
          <p:cNvPr id="10" name="Text 8"/>
          <p:cNvSpPr/>
          <p:nvPr/>
        </p:nvSpPr>
        <p:spPr>
          <a:xfrm>
            <a:off x="6629400" y="1709928"/>
            <a:ext cx="4709160" cy="219456"/>
          </a:xfrm>
          <a:prstGeom prst="rect">
            <a:avLst/>
          </a:prstGeom>
          <a:noFill/>
          <a:ln/>
        </p:spPr>
        <p:txBody>
          <a:bodyPr wrap="square" lIns="0" tIns="0" rIns="0" bIns="0" rtlCol="0" anchor="ctr"/>
          <a:lstStyle/>
          <a:p>
            <a:pPr indent="0" marL="0">
              <a:buNone/>
            </a:pPr>
            <a:r>
              <a:rPr lang="en-US" sz="950" b="1" dirty="0">
                <a:solidFill>
                  <a:srgbClr val="B0005D"/>
                </a:solidFill>
              </a:rPr>
              <a:t>ANALOGY</a:t>
            </a:r>
            <a:endParaRPr lang="en-US" sz="950" dirty="0"/>
          </a:p>
        </p:txBody>
      </p:sp>
      <p:sp>
        <p:nvSpPr>
          <p:cNvPr id="11" name="Text 9"/>
          <p:cNvSpPr/>
          <p:nvPr/>
        </p:nvSpPr>
        <p:spPr>
          <a:xfrm>
            <a:off x="6629400" y="1984248"/>
            <a:ext cx="4709160" cy="731520"/>
          </a:xfrm>
          <a:prstGeom prst="rect">
            <a:avLst/>
          </a:prstGeom>
          <a:noFill/>
          <a:ln/>
        </p:spPr>
        <p:txBody>
          <a:bodyPr wrap="square" lIns="254" tIns="254" rIns="254" bIns="254" rtlCol="0" anchor="t">
            <a:normAutofit/>
          </a:bodyPr>
          <a:lstStyle/>
          <a:p>
            <a:pPr indent="0" marL="0">
              <a:buNone/>
            </a:pPr>
            <a:r>
              <a:rPr lang="en-US" sz="1330" dirty="0">
                <a:solidFill>
                  <a:srgbClr val="1E293B"/>
                </a:solidFill>
              </a:rPr>
              <a:t>The word “spring” could mean a season, a metal coil, or a water source. A reasoning system must know which one is intended.</a:t>
            </a:r>
            <a:endParaRPr lang="en-US" sz="1330" dirty="0"/>
          </a:p>
        </p:txBody>
      </p:sp>
      <p:sp>
        <p:nvSpPr>
          <p:cNvPr id="12" name="Shape 10"/>
          <p:cNvSpPr/>
          <p:nvPr/>
        </p:nvSpPr>
        <p:spPr>
          <a:xfrm>
            <a:off x="6446520" y="2999232"/>
            <a:ext cx="5074920" cy="841248"/>
          </a:xfrm>
          <a:prstGeom prst="roundRect">
            <a:avLst>
              <a:gd name="adj" fmla="val 8696"/>
            </a:avLst>
          </a:prstGeom>
          <a:solidFill>
            <a:srgbClr val="FFFFFF">
              <a:alpha val="97000"/>
            </a:srgbClr>
          </a:solidFill>
          <a:ln w="12700">
            <a:solidFill>
              <a:srgbClr val="007C89"/>
            </a:solidFill>
            <a:prstDash val="solid"/>
          </a:ln>
        </p:spPr>
      </p:sp>
      <p:sp>
        <p:nvSpPr>
          <p:cNvPr id="13" name="Text 11"/>
          <p:cNvSpPr/>
          <p:nvPr/>
        </p:nvSpPr>
        <p:spPr>
          <a:xfrm>
            <a:off x="6611112" y="3127248"/>
            <a:ext cx="4745736" cy="658368"/>
          </a:xfrm>
          <a:prstGeom prst="rect">
            <a:avLst/>
          </a:prstGeom>
          <a:noFill/>
          <a:ln/>
        </p:spPr>
        <p:txBody>
          <a:bodyPr wrap="square" lIns="0" tIns="0" rIns="0" bIns="0" rtlCol="0" anchor="ctr">
            <a:normAutofit/>
          </a:bodyPr>
          <a:lstStyle/>
          <a:p>
            <a:pPr algn="ctr" indent="0" marL="0">
              <a:buNone/>
            </a:pPr>
            <a:r>
              <a:rPr lang="en-US" sz="2000" b="1" dirty="0">
                <a:solidFill>
                  <a:srgbClr val="005088"/>
                </a:solidFill>
                <a:latin typeface="Cambria Math" pitchFamily="34" charset="0"/>
                <a:ea typeface="Cambria Math" pitchFamily="34" charset="-122"/>
                <a:cs typeface="Cambria Math" pitchFamily="34" charset="-120"/>
              </a:rPr>
              <a:t>same words ≠ same thought</a:t>
            </a:r>
            <a:endParaRPr lang="en-US" sz="2000" dirty="0"/>
          </a:p>
        </p:txBody>
      </p:sp>
      <p:sp>
        <p:nvSpPr>
          <p:cNvPr id="14" name="Shape 12"/>
          <p:cNvSpPr/>
          <p:nvPr/>
        </p:nvSpPr>
        <p:spPr>
          <a:xfrm>
            <a:off x="6446520" y="4041648"/>
            <a:ext cx="5074920" cy="859536"/>
          </a:xfrm>
          <a:prstGeom prst="roundRect">
            <a:avLst>
              <a:gd name="adj" fmla="val 8511"/>
            </a:avLst>
          </a:prstGeom>
          <a:solidFill>
            <a:srgbClr val="FFE4E6"/>
          </a:solidFill>
          <a:ln w="12700">
            <a:solidFill>
              <a:srgbClr val="FDA4AF"/>
            </a:solidFill>
            <a:prstDash val="solid"/>
          </a:ln>
        </p:spPr>
      </p:sp>
      <p:sp>
        <p:nvSpPr>
          <p:cNvPr id="15" name="Text 13"/>
          <p:cNvSpPr/>
          <p:nvPr/>
        </p:nvSpPr>
        <p:spPr>
          <a:xfrm>
            <a:off x="6629400" y="4178808"/>
            <a:ext cx="4709160" cy="219456"/>
          </a:xfrm>
          <a:prstGeom prst="rect">
            <a:avLst/>
          </a:prstGeom>
          <a:noFill/>
          <a:ln/>
        </p:spPr>
        <p:txBody>
          <a:bodyPr wrap="square" lIns="0" tIns="0" rIns="0" bIns="0" rtlCol="0" anchor="ctr"/>
          <a:lstStyle/>
          <a:p>
            <a:pPr indent="0" marL="0">
              <a:buNone/>
            </a:pPr>
            <a:r>
              <a:rPr lang="en-US" sz="950" b="1" dirty="0">
                <a:solidFill>
                  <a:srgbClr val="C1121F"/>
                </a:solidFill>
              </a:rPr>
              <a:t>STUDENT GOTCHA</a:t>
            </a:r>
            <a:endParaRPr lang="en-US" sz="950" dirty="0"/>
          </a:p>
        </p:txBody>
      </p:sp>
      <p:sp>
        <p:nvSpPr>
          <p:cNvPr id="16" name="Text 14"/>
          <p:cNvSpPr/>
          <p:nvPr/>
        </p:nvSpPr>
        <p:spPr>
          <a:xfrm>
            <a:off x="6629400" y="4453128"/>
            <a:ext cx="4709160" cy="356616"/>
          </a:xfrm>
          <a:prstGeom prst="rect">
            <a:avLst/>
          </a:prstGeom>
          <a:noFill/>
          <a:ln/>
        </p:spPr>
        <p:txBody>
          <a:bodyPr wrap="square" lIns="254" tIns="254" rIns="254" bIns="254" rtlCol="0" anchor="t">
            <a:normAutofit/>
          </a:bodyPr>
          <a:lstStyle/>
          <a:p>
            <a:pPr indent="0" marL="0">
              <a:buNone/>
            </a:pPr>
            <a:r>
              <a:rPr lang="en-US" sz="1250" dirty="0">
                <a:solidFill>
                  <a:srgbClr val="1E293B"/>
                </a:solidFill>
              </a:rPr>
              <a:t>Ambiguity is not a small inconvenience. It can cause a reasoning system to prove conclusions about the wrong thing.</a:t>
            </a:r>
            <a:endParaRPr lang="en-US" sz="1250" dirty="0"/>
          </a:p>
        </p:txBody>
      </p:sp>
      <p:sp>
        <p:nvSpPr>
          <p:cNvPr id="17" name="Shape 15"/>
          <p:cNvSpPr/>
          <p:nvPr/>
        </p:nvSpPr>
        <p:spPr>
          <a:xfrm>
            <a:off x="6446520" y="5074920"/>
            <a:ext cx="5074920" cy="841248"/>
          </a:xfrm>
          <a:prstGeom prst="roundRect">
            <a:avLst>
              <a:gd name="adj" fmla="val 8696"/>
            </a:avLst>
          </a:prstGeom>
          <a:solidFill>
            <a:srgbClr val="E6FFFA"/>
          </a:solidFill>
          <a:ln w="12700">
            <a:solidFill>
              <a:srgbClr val="2A9D8F"/>
            </a:solidFill>
            <a:prstDash val="solid"/>
          </a:ln>
        </p:spPr>
      </p:sp>
      <p:sp>
        <p:nvSpPr>
          <p:cNvPr id="18" name="Text 16"/>
          <p:cNvSpPr/>
          <p:nvPr/>
        </p:nvSpPr>
        <p:spPr>
          <a:xfrm>
            <a:off x="6629400" y="5212080"/>
            <a:ext cx="4709160" cy="219456"/>
          </a:xfrm>
          <a:prstGeom prst="rect">
            <a:avLst/>
          </a:prstGeom>
          <a:noFill/>
          <a:ln/>
        </p:spPr>
        <p:txBody>
          <a:bodyPr wrap="square" lIns="0" tIns="0" rIns="0" bIns="0" rtlCol="0" anchor="ctr"/>
          <a:lstStyle/>
          <a:p>
            <a:pPr indent="0" marL="0">
              <a:buNone/>
            </a:pPr>
            <a:r>
              <a:rPr lang="en-US" sz="950" b="1" dirty="0">
                <a:solidFill>
                  <a:srgbClr val="007C89"/>
                </a:solidFill>
              </a:rPr>
              <a:t>CLASS CHECK</a:t>
            </a:r>
            <a:endParaRPr lang="en-US" sz="950" dirty="0"/>
          </a:p>
        </p:txBody>
      </p:sp>
      <p:sp>
        <p:nvSpPr>
          <p:cNvPr id="19" name="Text 17"/>
          <p:cNvSpPr/>
          <p:nvPr/>
        </p:nvSpPr>
        <p:spPr>
          <a:xfrm>
            <a:off x="6629400" y="5486400"/>
            <a:ext cx="4709160" cy="338328"/>
          </a:xfrm>
          <a:prstGeom prst="rect">
            <a:avLst/>
          </a:prstGeom>
          <a:noFill/>
          <a:ln/>
        </p:spPr>
        <p:txBody>
          <a:bodyPr wrap="square" lIns="254" tIns="254" rIns="254" bIns="254" rtlCol="0" anchor="t">
            <a:normAutofit/>
          </a:bodyPr>
          <a:lstStyle/>
          <a:p>
            <a:pPr indent="0" marL="0">
              <a:buNone/>
            </a:pPr>
            <a:r>
              <a:rPr lang="en-US" sz="1270" dirty="0">
                <a:solidFill>
                  <a:srgbClr val="1E293B"/>
                </a:solidFill>
              </a:rPr>
              <a:t>Ask students for another word with multiple meanings.</a:t>
            </a:r>
            <a:endParaRPr lang="en-US" sz="127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5088"/>
          </a:solidFill>
          <a:ln w="12700">
            <a:solidFill>
              <a:srgbClr val="005088"/>
            </a:solidFill>
            <a:prstDash val="solid"/>
          </a:ln>
        </p:spPr>
      </p:sp>
      <p:sp>
        <p:nvSpPr>
          <p:cNvPr id="3" name="Shape 1"/>
          <p:cNvSpPr/>
          <p:nvPr/>
        </p:nvSpPr>
        <p:spPr>
          <a:xfrm>
            <a:off x="0" y="6729984"/>
            <a:ext cx="12191695" cy="128016"/>
          </a:xfrm>
          <a:prstGeom prst="rect">
            <a:avLst/>
          </a:prstGeom>
          <a:solidFill>
            <a:srgbClr val="005088"/>
          </a:solidFill>
          <a:ln w="12700">
            <a:solidFill>
              <a:srgbClr val="005088"/>
            </a:solidFill>
            <a:prstDash val="solid"/>
          </a:ln>
        </p:spPr>
      </p:sp>
      <p:sp>
        <p:nvSpPr>
          <p:cNvPr id="4" name="Text 2"/>
          <p:cNvSpPr/>
          <p:nvPr/>
        </p:nvSpPr>
        <p:spPr>
          <a:xfrm>
            <a:off x="502920" y="210312"/>
            <a:ext cx="6858000" cy="219456"/>
          </a:xfrm>
          <a:prstGeom prst="rect">
            <a:avLst/>
          </a:prstGeom>
          <a:noFill/>
          <a:ln/>
        </p:spPr>
        <p:txBody>
          <a:bodyPr wrap="square" lIns="0" tIns="0" rIns="0" bIns="0" rtlCol="0" anchor="ctr"/>
          <a:lstStyle/>
          <a:p>
            <a:pPr indent="0" marL="0">
              <a:buNone/>
            </a:pPr>
            <a:r>
              <a:rPr lang="en-US" sz="950" b="1" dirty="0">
                <a:solidFill>
                  <a:srgbClr val="3D5A80"/>
                </a:solidFill>
                <a:latin typeface="Aptos" pitchFamily="34" charset="0"/>
                <a:ea typeface="Aptos" pitchFamily="34" charset="-122"/>
                <a:cs typeface="Aptos" pitchFamily="34" charset="-120"/>
              </a:rPr>
              <a:t>8.2 Syntax and Semantics</a:t>
            </a:r>
            <a:endParaRPr lang="en-US" sz="950" dirty="0"/>
          </a:p>
        </p:txBody>
      </p:sp>
      <p:sp>
        <p:nvSpPr>
          <p:cNvPr id="5" name="Text 3"/>
          <p:cNvSpPr/>
          <p:nvPr/>
        </p:nvSpPr>
        <p:spPr>
          <a:xfrm>
            <a:off x="11018520" y="201168"/>
            <a:ext cx="640080" cy="228600"/>
          </a:xfrm>
          <a:prstGeom prst="rect">
            <a:avLst/>
          </a:prstGeom>
          <a:noFill/>
          <a:ln/>
        </p:spPr>
        <p:txBody>
          <a:bodyPr wrap="square" lIns="0" tIns="0" rIns="0" bIns="0" rtlCol="0" anchor="ctr"/>
          <a:lstStyle/>
          <a:p>
            <a:pPr algn="r" indent="0" marL="0">
              <a:buNone/>
            </a:pPr>
            <a:r>
              <a:rPr lang="en-US" sz="900" b="1" dirty="0">
                <a:solidFill>
                  <a:srgbClr val="3D5A80"/>
                </a:solidFill>
              </a:rPr>
              <a:t>18</a:t>
            </a:r>
            <a:endParaRPr lang="en-US" sz="900" dirty="0"/>
          </a:p>
        </p:txBody>
      </p:sp>
      <p:sp>
        <p:nvSpPr>
          <p:cNvPr id="6" name="Text 4"/>
          <p:cNvSpPr/>
          <p:nvPr/>
        </p:nvSpPr>
        <p:spPr>
          <a:xfrm>
            <a:off x="502920" y="566928"/>
            <a:ext cx="11201400" cy="512064"/>
          </a:xfrm>
          <a:prstGeom prst="rect">
            <a:avLst/>
          </a:prstGeom>
          <a:noFill/>
          <a:ln/>
        </p:spPr>
        <p:txBody>
          <a:bodyPr wrap="square" lIns="0" tIns="0" rIns="0" bIns="0" rtlCol="0" anchor="ctr">
            <a:normAutofit/>
          </a:bodyPr>
          <a:lstStyle/>
          <a:p>
            <a:pPr indent="0" marL="0">
              <a:buNone/>
            </a:pPr>
            <a:r>
              <a:rPr lang="en-US" sz="2650" b="1" dirty="0">
                <a:solidFill>
                  <a:srgbClr val="005088"/>
                </a:solidFill>
                <a:latin typeface="Aptos Display" pitchFamily="34" charset="0"/>
                <a:ea typeface="Aptos Display" pitchFamily="34" charset="-122"/>
                <a:cs typeface="Aptos Display" pitchFamily="34" charset="-120"/>
              </a:rPr>
              <a:t>FORMAL LANGUAGE COMMITMENTS</a:t>
            </a:r>
            <a:endParaRPr lang="en-US" sz="2650" dirty="0"/>
          </a:p>
        </p:txBody>
      </p:sp>
      <p:sp>
        <p:nvSpPr>
          <p:cNvPr id="7" name="Shape 5"/>
          <p:cNvSpPr/>
          <p:nvPr/>
        </p:nvSpPr>
        <p:spPr>
          <a:xfrm>
            <a:off x="502920" y="1188720"/>
            <a:ext cx="11109960" cy="0"/>
          </a:xfrm>
          <a:prstGeom prst="line">
            <a:avLst/>
          </a:prstGeom>
          <a:noFill/>
          <a:ln w="12700">
            <a:solidFill>
              <a:srgbClr val="3D5A80"/>
            </a:solidFill>
            <a:prstDash val="solid"/>
          </a:ln>
        </p:spPr>
      </p:sp>
      <p:sp>
        <p:nvSpPr>
          <p:cNvPr id="8" name="Text 6"/>
          <p:cNvSpPr/>
          <p:nvPr/>
        </p:nvSpPr>
        <p:spPr>
          <a:xfrm>
            <a:off x="685800" y="1536192"/>
            <a:ext cx="5074920" cy="4251960"/>
          </a:xfrm>
          <a:prstGeom prst="rect">
            <a:avLst/>
          </a:prstGeom>
          <a:noFill/>
          <a:ln/>
        </p:spPr>
        <p:txBody>
          <a:bodyPr wrap="square" lIns="1016" tIns="1016" rIns="1016" bIns="1016" rtlCol="0" anchor="t">
            <a:normAutofit/>
          </a:bodyPr>
          <a:lstStyle/>
          <a:p>
            <a:pPr indent="0" marL="0">
              <a:buNone/>
            </a:pPr>
            <a:r>
              <a:rPr lang="en-US" sz="1580" dirty="0">
                <a:solidFill>
                  <a:srgbClr val="1E293B"/>
                </a:solidFill>
                <a:latin typeface="Aptos" pitchFamily="34" charset="0"/>
                <a:ea typeface="Aptos" pitchFamily="34" charset="-122"/>
                <a:cs typeface="Aptos" pitchFamily="34" charset="-120"/>
              </a:rPr>
              <a:t>• A language commits to what kinds of things exist</a:t>
            </a:r>
            <a:endParaRPr lang="en-US" sz="1580" dirty="0"/>
          </a:p>
          <a:p>
            <a:pPr indent="0" marL="0">
              <a:buNone/>
            </a:pPr>
            <a:r>
              <a:rPr lang="en-US" sz="1580" dirty="0">
                <a:solidFill>
                  <a:srgbClr val="1E293B"/>
                </a:solidFill>
                <a:latin typeface="Aptos" pitchFamily="34" charset="0"/>
                <a:ea typeface="Aptos" pitchFamily="34" charset="-122"/>
                <a:cs typeface="Aptos" pitchFamily="34" charset="-120"/>
              </a:rPr>
              <a:t>• A language also commits to what belief states can be expressed</a:t>
            </a:r>
            <a:endParaRPr lang="en-US" sz="1580" dirty="0"/>
          </a:p>
          <a:p>
            <a:pPr indent="0" marL="0">
              <a:buNone/>
            </a:pPr>
            <a:r>
              <a:rPr lang="en-US" sz="1580" dirty="0">
                <a:solidFill>
                  <a:srgbClr val="1E293B"/>
                </a:solidFill>
                <a:latin typeface="Aptos" pitchFamily="34" charset="0"/>
                <a:ea typeface="Aptos" pitchFamily="34" charset="-122"/>
                <a:cs typeface="Aptos" pitchFamily="34" charset="-120"/>
              </a:rPr>
              <a:t>• First-order logic adds objects and relations</a:t>
            </a:r>
            <a:endParaRPr lang="en-US" sz="1580" dirty="0"/>
          </a:p>
          <a:p>
            <a:pPr indent="0" marL="0">
              <a:buNone/>
            </a:pPr>
            <a:r>
              <a:rPr lang="en-US" sz="1580" dirty="0">
                <a:solidFill>
                  <a:srgbClr val="1E293B"/>
                </a:solidFill>
                <a:latin typeface="Aptos" pitchFamily="34" charset="0"/>
                <a:ea typeface="Aptos" pitchFamily="34" charset="-122"/>
                <a:cs typeface="Aptos" pitchFamily="34" charset="-120"/>
              </a:rPr>
              <a:t>• Truth remains true, false, or unknown</a:t>
            </a:r>
            <a:endParaRPr lang="en-US" sz="1580" dirty="0"/>
          </a:p>
        </p:txBody>
      </p:sp>
      <p:sp>
        <p:nvSpPr>
          <p:cNvPr id="9" name="Shape 7"/>
          <p:cNvSpPr/>
          <p:nvPr/>
        </p:nvSpPr>
        <p:spPr>
          <a:xfrm>
            <a:off x="6044184" y="1472184"/>
            <a:ext cx="5513832" cy="4050792"/>
          </a:xfrm>
          <a:prstGeom prst="roundRect">
            <a:avLst>
              <a:gd name="adj" fmla="val 1580"/>
            </a:avLst>
          </a:prstGeom>
          <a:solidFill>
            <a:srgbClr val="FFFFFF"/>
          </a:solidFill>
          <a:ln w="12700">
            <a:solidFill>
              <a:srgbClr val="CBD5E1"/>
            </a:solidFill>
            <a:prstDash val="solid"/>
          </a:ln>
        </p:spPr>
      </p:sp>
      <p:pic>
        <p:nvPicPr>
          <p:cNvPr id="10" name="Image 0" descr="/mnt/data/ch8_ppt_assets/fig8_1_commitments.png">    </p:cNvPr>
          <p:cNvPicPr>
            <a:picLocks noChangeAspect="1"/>
          </p:cNvPicPr>
          <p:nvPr/>
        </p:nvPicPr>
        <p:blipFill>
          <a:blip r:embed="rId1"/>
          <a:stretch>
            <a:fillRect/>
          </a:stretch>
        </p:blipFill>
        <p:spPr>
          <a:xfrm>
            <a:off x="6080760" y="2704717"/>
            <a:ext cx="5440680" cy="1585726"/>
          </a:xfrm>
          <a:prstGeom prst="rect">
            <a:avLst/>
          </a:prstGeom>
        </p:spPr>
      </p:pic>
      <p:sp>
        <p:nvSpPr>
          <p:cNvPr id="11" name="Text 8"/>
          <p:cNvSpPr/>
          <p:nvPr/>
        </p:nvSpPr>
        <p:spPr>
          <a:xfrm>
            <a:off x="6080760" y="5559552"/>
            <a:ext cx="5440680" cy="320040"/>
          </a:xfrm>
          <a:prstGeom prst="rect">
            <a:avLst/>
          </a:prstGeom>
          <a:noFill/>
          <a:ln/>
        </p:spPr>
        <p:txBody>
          <a:bodyPr wrap="square" lIns="0" tIns="0" rIns="0" bIns="0" rtlCol="0" anchor="ctr">
            <a:normAutofit/>
          </a:bodyPr>
          <a:lstStyle/>
          <a:p>
            <a:pPr indent="0" marL="0">
              <a:buNone/>
            </a:pPr>
            <a:r>
              <a:rPr lang="en-US" sz="1030" i="1" dirty="0">
                <a:solidFill>
                  <a:srgbClr val="64748B"/>
                </a:solidFill>
              </a:rPr>
              <a:t>Figure 8.1: formal languages and their ontological and epistemological commitments.</a:t>
            </a:r>
            <a:endParaRPr lang="en-US" sz="103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5088"/>
          </a:solidFill>
          <a:ln w="12700">
            <a:solidFill>
              <a:srgbClr val="005088"/>
            </a:solidFill>
            <a:prstDash val="solid"/>
          </a:ln>
        </p:spPr>
      </p:sp>
      <p:sp>
        <p:nvSpPr>
          <p:cNvPr id="3" name="Shape 1"/>
          <p:cNvSpPr/>
          <p:nvPr/>
        </p:nvSpPr>
        <p:spPr>
          <a:xfrm>
            <a:off x="0" y="6729984"/>
            <a:ext cx="12191695" cy="128016"/>
          </a:xfrm>
          <a:prstGeom prst="rect">
            <a:avLst/>
          </a:prstGeom>
          <a:solidFill>
            <a:srgbClr val="005088"/>
          </a:solidFill>
          <a:ln w="12700">
            <a:solidFill>
              <a:srgbClr val="005088"/>
            </a:solidFill>
            <a:prstDash val="solid"/>
          </a:ln>
        </p:spPr>
      </p:sp>
      <p:sp>
        <p:nvSpPr>
          <p:cNvPr id="4" name="Text 2"/>
          <p:cNvSpPr/>
          <p:nvPr/>
        </p:nvSpPr>
        <p:spPr>
          <a:xfrm>
            <a:off x="502920" y="210312"/>
            <a:ext cx="6858000" cy="219456"/>
          </a:xfrm>
          <a:prstGeom prst="rect">
            <a:avLst/>
          </a:prstGeom>
          <a:noFill/>
          <a:ln/>
        </p:spPr>
        <p:txBody>
          <a:bodyPr wrap="square" lIns="0" tIns="0" rIns="0" bIns="0" rtlCol="0" anchor="ctr"/>
          <a:lstStyle/>
          <a:p>
            <a:pPr indent="0" marL="0">
              <a:buNone/>
            </a:pPr>
            <a:r>
              <a:rPr lang="en-US" sz="950" b="1" dirty="0">
                <a:solidFill>
                  <a:srgbClr val="3D5A80"/>
                </a:solidFill>
                <a:latin typeface="Aptos" pitchFamily="34" charset="0"/>
                <a:ea typeface="Aptos" pitchFamily="34" charset="-122"/>
                <a:cs typeface="Aptos" pitchFamily="34" charset="-120"/>
              </a:rPr>
              <a:t>8.2 Syntax and Semantics</a:t>
            </a:r>
            <a:endParaRPr lang="en-US" sz="950" dirty="0"/>
          </a:p>
        </p:txBody>
      </p:sp>
      <p:sp>
        <p:nvSpPr>
          <p:cNvPr id="5" name="Text 3"/>
          <p:cNvSpPr/>
          <p:nvPr/>
        </p:nvSpPr>
        <p:spPr>
          <a:xfrm>
            <a:off x="11018520" y="201168"/>
            <a:ext cx="640080" cy="228600"/>
          </a:xfrm>
          <a:prstGeom prst="rect">
            <a:avLst/>
          </a:prstGeom>
          <a:noFill/>
          <a:ln/>
        </p:spPr>
        <p:txBody>
          <a:bodyPr wrap="square" lIns="0" tIns="0" rIns="0" bIns="0" rtlCol="0" anchor="ctr"/>
          <a:lstStyle/>
          <a:p>
            <a:pPr algn="r" indent="0" marL="0">
              <a:buNone/>
            </a:pPr>
            <a:r>
              <a:rPr lang="en-US" sz="900" b="1" dirty="0">
                <a:solidFill>
                  <a:srgbClr val="3D5A80"/>
                </a:solidFill>
              </a:rPr>
              <a:t>19</a:t>
            </a:r>
            <a:endParaRPr lang="en-US" sz="900" dirty="0"/>
          </a:p>
        </p:txBody>
      </p:sp>
      <p:sp>
        <p:nvSpPr>
          <p:cNvPr id="6" name="Text 4"/>
          <p:cNvSpPr/>
          <p:nvPr/>
        </p:nvSpPr>
        <p:spPr>
          <a:xfrm>
            <a:off x="502920" y="566928"/>
            <a:ext cx="11201400" cy="512064"/>
          </a:xfrm>
          <a:prstGeom prst="rect">
            <a:avLst/>
          </a:prstGeom>
          <a:noFill/>
          <a:ln/>
        </p:spPr>
        <p:txBody>
          <a:bodyPr wrap="square" lIns="0" tIns="0" rIns="0" bIns="0" rtlCol="0" anchor="ctr">
            <a:normAutofit/>
          </a:bodyPr>
          <a:lstStyle/>
          <a:p>
            <a:pPr indent="0" marL="0">
              <a:buNone/>
            </a:pPr>
            <a:r>
              <a:rPr lang="en-US" sz="2650" b="1" dirty="0">
                <a:solidFill>
                  <a:srgbClr val="005088"/>
                </a:solidFill>
                <a:latin typeface="Aptos Display" pitchFamily="34" charset="0"/>
                <a:ea typeface="Aptos Display" pitchFamily="34" charset="-122"/>
                <a:cs typeface="Aptos Display" pitchFamily="34" charset="-120"/>
              </a:rPr>
              <a:t>ONTOLOGICAL COMMITMENT</a:t>
            </a:r>
            <a:endParaRPr lang="en-US" sz="2650" dirty="0"/>
          </a:p>
        </p:txBody>
      </p:sp>
      <p:sp>
        <p:nvSpPr>
          <p:cNvPr id="7" name="Shape 5"/>
          <p:cNvSpPr/>
          <p:nvPr/>
        </p:nvSpPr>
        <p:spPr>
          <a:xfrm>
            <a:off x="502920" y="1188720"/>
            <a:ext cx="11109960" cy="0"/>
          </a:xfrm>
          <a:prstGeom prst="line">
            <a:avLst/>
          </a:prstGeom>
          <a:noFill/>
          <a:ln w="12700">
            <a:solidFill>
              <a:srgbClr val="3D5A80"/>
            </a:solidFill>
            <a:prstDash val="solid"/>
          </a:ln>
        </p:spPr>
      </p:sp>
      <p:sp>
        <p:nvSpPr>
          <p:cNvPr id="8" name="Text 6"/>
          <p:cNvSpPr/>
          <p:nvPr/>
        </p:nvSpPr>
        <p:spPr>
          <a:xfrm>
            <a:off x="713232" y="1572768"/>
            <a:ext cx="5440680" cy="4251960"/>
          </a:xfrm>
          <a:prstGeom prst="rect">
            <a:avLst/>
          </a:prstGeom>
          <a:noFill/>
          <a:ln/>
        </p:spPr>
        <p:txBody>
          <a:bodyPr wrap="square" lIns="1016" tIns="1016" rIns="1016" bIns="1016" rtlCol="0" anchor="t">
            <a:normAutofit/>
          </a:bodyPr>
          <a:lstStyle/>
          <a:p>
            <a:pPr indent="0" marL="0">
              <a:buNone/>
            </a:pPr>
            <a:r>
              <a:rPr lang="en-US" sz="1650" dirty="0">
                <a:solidFill>
                  <a:srgbClr val="1E293B"/>
                </a:solidFill>
                <a:latin typeface="Aptos" pitchFamily="34" charset="0"/>
                <a:ea typeface="Aptos" pitchFamily="34" charset="-122"/>
                <a:cs typeface="Aptos" pitchFamily="34" charset="-120"/>
              </a:rPr>
              <a:t>• Ontology means what kinds of things the language treats as existing</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Propositional logic commits to facts</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First-order logic commits to facts, objects, and relations</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The ontology shapes every later modeling choice</a:t>
            </a:r>
            <a:endParaRPr lang="en-US" sz="1650" dirty="0"/>
          </a:p>
        </p:txBody>
      </p:sp>
      <p:sp>
        <p:nvSpPr>
          <p:cNvPr id="9" name="Shape 7"/>
          <p:cNvSpPr/>
          <p:nvPr/>
        </p:nvSpPr>
        <p:spPr>
          <a:xfrm>
            <a:off x="6446520" y="1572768"/>
            <a:ext cx="5074920" cy="1234440"/>
          </a:xfrm>
          <a:prstGeom prst="roundRect">
            <a:avLst>
              <a:gd name="adj" fmla="val 5926"/>
            </a:avLst>
          </a:prstGeom>
          <a:solidFill>
            <a:srgbClr val="FFF6D9"/>
          </a:solidFill>
          <a:ln w="12700">
            <a:solidFill>
              <a:srgbClr val="F4A261"/>
            </a:solidFill>
            <a:prstDash val="solid"/>
          </a:ln>
        </p:spPr>
      </p:sp>
      <p:sp>
        <p:nvSpPr>
          <p:cNvPr id="10" name="Text 8"/>
          <p:cNvSpPr/>
          <p:nvPr/>
        </p:nvSpPr>
        <p:spPr>
          <a:xfrm>
            <a:off x="6629400" y="1709928"/>
            <a:ext cx="4709160" cy="219456"/>
          </a:xfrm>
          <a:prstGeom prst="rect">
            <a:avLst/>
          </a:prstGeom>
          <a:noFill/>
          <a:ln/>
        </p:spPr>
        <p:txBody>
          <a:bodyPr wrap="square" lIns="0" tIns="0" rIns="0" bIns="0" rtlCol="0" anchor="ctr"/>
          <a:lstStyle/>
          <a:p>
            <a:pPr indent="0" marL="0">
              <a:buNone/>
            </a:pPr>
            <a:r>
              <a:rPr lang="en-US" sz="950" b="1" dirty="0">
                <a:solidFill>
                  <a:srgbClr val="B0005D"/>
                </a:solidFill>
              </a:rPr>
              <a:t>ANALOGY</a:t>
            </a:r>
            <a:endParaRPr lang="en-US" sz="950" dirty="0"/>
          </a:p>
        </p:txBody>
      </p:sp>
      <p:sp>
        <p:nvSpPr>
          <p:cNvPr id="11" name="Text 9"/>
          <p:cNvSpPr/>
          <p:nvPr/>
        </p:nvSpPr>
        <p:spPr>
          <a:xfrm>
            <a:off x="6629400" y="1984248"/>
            <a:ext cx="4709160" cy="731520"/>
          </a:xfrm>
          <a:prstGeom prst="rect">
            <a:avLst/>
          </a:prstGeom>
          <a:noFill/>
          <a:ln/>
        </p:spPr>
        <p:txBody>
          <a:bodyPr wrap="square" lIns="254" tIns="254" rIns="254" bIns="254" rtlCol="0" anchor="t">
            <a:normAutofit/>
          </a:bodyPr>
          <a:lstStyle/>
          <a:p>
            <a:pPr indent="0" marL="0">
              <a:buNone/>
            </a:pPr>
            <a:r>
              <a:rPr lang="en-US" sz="1330" dirty="0">
                <a:solidFill>
                  <a:srgbClr val="1E293B"/>
                </a:solidFill>
              </a:rPr>
              <a:t>A video game engine decides whether the world contains characters, items, rooms, weather, or only colored pixels.</a:t>
            </a:r>
            <a:endParaRPr lang="en-US" sz="1330" dirty="0"/>
          </a:p>
        </p:txBody>
      </p:sp>
      <p:sp>
        <p:nvSpPr>
          <p:cNvPr id="12" name="Shape 10"/>
          <p:cNvSpPr/>
          <p:nvPr/>
        </p:nvSpPr>
        <p:spPr>
          <a:xfrm>
            <a:off x="6446520" y="2999232"/>
            <a:ext cx="5074920" cy="841248"/>
          </a:xfrm>
          <a:prstGeom prst="roundRect">
            <a:avLst>
              <a:gd name="adj" fmla="val 8696"/>
            </a:avLst>
          </a:prstGeom>
          <a:solidFill>
            <a:srgbClr val="FFFFFF">
              <a:alpha val="97000"/>
            </a:srgbClr>
          </a:solidFill>
          <a:ln w="12700">
            <a:solidFill>
              <a:srgbClr val="007C89"/>
            </a:solidFill>
            <a:prstDash val="solid"/>
          </a:ln>
        </p:spPr>
      </p:sp>
      <p:sp>
        <p:nvSpPr>
          <p:cNvPr id="13" name="Text 11"/>
          <p:cNvSpPr/>
          <p:nvPr/>
        </p:nvSpPr>
        <p:spPr>
          <a:xfrm>
            <a:off x="6611112" y="3127248"/>
            <a:ext cx="4745736" cy="658368"/>
          </a:xfrm>
          <a:prstGeom prst="rect">
            <a:avLst/>
          </a:prstGeom>
          <a:noFill/>
          <a:ln/>
        </p:spPr>
        <p:txBody>
          <a:bodyPr wrap="square" lIns="0" tIns="0" rIns="0" bIns="0" rtlCol="0" anchor="ctr">
            <a:normAutofit/>
          </a:bodyPr>
          <a:lstStyle/>
          <a:p>
            <a:pPr algn="ctr" indent="0" marL="0">
              <a:buNone/>
            </a:pPr>
            <a:r>
              <a:rPr lang="en-US" sz="2000" b="1" dirty="0">
                <a:solidFill>
                  <a:srgbClr val="005088"/>
                </a:solidFill>
                <a:latin typeface="Cambria Math" pitchFamily="34" charset="0"/>
                <a:ea typeface="Cambria Math" pitchFamily="34" charset="-122"/>
                <a:cs typeface="Cambria Math" pitchFamily="34" charset="-120"/>
              </a:rPr>
              <a:t>What exists in the world?</a:t>
            </a:r>
            <a:endParaRPr lang="en-US" sz="2000" dirty="0"/>
          </a:p>
        </p:txBody>
      </p:sp>
      <p:sp>
        <p:nvSpPr>
          <p:cNvPr id="14" name="Shape 12"/>
          <p:cNvSpPr/>
          <p:nvPr/>
        </p:nvSpPr>
        <p:spPr>
          <a:xfrm>
            <a:off x="6446520" y="4041648"/>
            <a:ext cx="5074920" cy="859536"/>
          </a:xfrm>
          <a:prstGeom prst="roundRect">
            <a:avLst>
              <a:gd name="adj" fmla="val 8511"/>
            </a:avLst>
          </a:prstGeom>
          <a:solidFill>
            <a:srgbClr val="FFE4E6"/>
          </a:solidFill>
          <a:ln w="12700">
            <a:solidFill>
              <a:srgbClr val="FDA4AF"/>
            </a:solidFill>
            <a:prstDash val="solid"/>
          </a:ln>
        </p:spPr>
      </p:sp>
      <p:sp>
        <p:nvSpPr>
          <p:cNvPr id="15" name="Text 13"/>
          <p:cNvSpPr/>
          <p:nvPr/>
        </p:nvSpPr>
        <p:spPr>
          <a:xfrm>
            <a:off x="6629400" y="4178808"/>
            <a:ext cx="4709160" cy="219456"/>
          </a:xfrm>
          <a:prstGeom prst="rect">
            <a:avLst/>
          </a:prstGeom>
          <a:noFill/>
          <a:ln/>
        </p:spPr>
        <p:txBody>
          <a:bodyPr wrap="square" lIns="0" tIns="0" rIns="0" bIns="0" rtlCol="0" anchor="ctr"/>
          <a:lstStyle/>
          <a:p>
            <a:pPr indent="0" marL="0">
              <a:buNone/>
            </a:pPr>
            <a:r>
              <a:rPr lang="en-US" sz="950" b="1" dirty="0">
                <a:solidFill>
                  <a:srgbClr val="C1121F"/>
                </a:solidFill>
              </a:rPr>
              <a:t>STUDENT GOTCHA</a:t>
            </a:r>
            <a:endParaRPr lang="en-US" sz="950" dirty="0"/>
          </a:p>
        </p:txBody>
      </p:sp>
      <p:sp>
        <p:nvSpPr>
          <p:cNvPr id="16" name="Text 14"/>
          <p:cNvSpPr/>
          <p:nvPr/>
        </p:nvSpPr>
        <p:spPr>
          <a:xfrm>
            <a:off x="6629400" y="4453128"/>
            <a:ext cx="4709160" cy="356616"/>
          </a:xfrm>
          <a:prstGeom prst="rect">
            <a:avLst/>
          </a:prstGeom>
          <a:noFill/>
          <a:ln/>
        </p:spPr>
        <p:txBody>
          <a:bodyPr wrap="square" lIns="254" tIns="254" rIns="254" bIns="254" rtlCol="0" anchor="t">
            <a:normAutofit/>
          </a:bodyPr>
          <a:lstStyle/>
          <a:p>
            <a:pPr indent="0" marL="0">
              <a:buNone/>
            </a:pPr>
            <a:r>
              <a:rPr lang="en-US" sz="1250" dirty="0">
                <a:solidFill>
                  <a:srgbClr val="1E293B"/>
                </a:solidFill>
              </a:rPr>
              <a:t>The ontology is not the same as the current facts. It is the set of kinds of things the language is prepared to talk about.</a:t>
            </a:r>
            <a:endParaRPr lang="en-US" sz="1250" dirty="0"/>
          </a:p>
        </p:txBody>
      </p:sp>
      <p:sp>
        <p:nvSpPr>
          <p:cNvPr id="17" name="Shape 15"/>
          <p:cNvSpPr/>
          <p:nvPr/>
        </p:nvSpPr>
        <p:spPr>
          <a:xfrm>
            <a:off x="6446520" y="5074920"/>
            <a:ext cx="5074920" cy="841248"/>
          </a:xfrm>
          <a:prstGeom prst="roundRect">
            <a:avLst>
              <a:gd name="adj" fmla="val 8696"/>
            </a:avLst>
          </a:prstGeom>
          <a:solidFill>
            <a:srgbClr val="E6FFFA"/>
          </a:solidFill>
          <a:ln w="12700">
            <a:solidFill>
              <a:srgbClr val="2A9D8F"/>
            </a:solidFill>
            <a:prstDash val="solid"/>
          </a:ln>
        </p:spPr>
      </p:sp>
      <p:sp>
        <p:nvSpPr>
          <p:cNvPr id="18" name="Text 16"/>
          <p:cNvSpPr/>
          <p:nvPr/>
        </p:nvSpPr>
        <p:spPr>
          <a:xfrm>
            <a:off x="6629400" y="5212080"/>
            <a:ext cx="4709160" cy="219456"/>
          </a:xfrm>
          <a:prstGeom prst="rect">
            <a:avLst/>
          </a:prstGeom>
          <a:noFill/>
          <a:ln/>
        </p:spPr>
        <p:txBody>
          <a:bodyPr wrap="square" lIns="0" tIns="0" rIns="0" bIns="0" rtlCol="0" anchor="ctr"/>
          <a:lstStyle/>
          <a:p>
            <a:pPr indent="0" marL="0">
              <a:buNone/>
            </a:pPr>
            <a:r>
              <a:rPr lang="en-US" sz="950" b="1" dirty="0">
                <a:solidFill>
                  <a:srgbClr val="007C89"/>
                </a:solidFill>
              </a:rPr>
              <a:t>CLASS CHECK</a:t>
            </a:r>
            <a:endParaRPr lang="en-US" sz="950" dirty="0"/>
          </a:p>
        </p:txBody>
      </p:sp>
      <p:sp>
        <p:nvSpPr>
          <p:cNvPr id="19" name="Text 17"/>
          <p:cNvSpPr/>
          <p:nvPr/>
        </p:nvSpPr>
        <p:spPr>
          <a:xfrm>
            <a:off x="6629400" y="5486400"/>
            <a:ext cx="4709160" cy="338328"/>
          </a:xfrm>
          <a:prstGeom prst="rect">
            <a:avLst/>
          </a:prstGeom>
          <a:noFill/>
          <a:ln/>
        </p:spPr>
        <p:txBody>
          <a:bodyPr wrap="square" lIns="254" tIns="254" rIns="254" bIns="254" rtlCol="0" anchor="t">
            <a:normAutofit/>
          </a:bodyPr>
          <a:lstStyle/>
          <a:p>
            <a:pPr indent="0" marL="0">
              <a:buNone/>
            </a:pPr>
            <a:r>
              <a:rPr lang="en-US" sz="1270" dirty="0">
                <a:solidFill>
                  <a:srgbClr val="1E293B"/>
                </a:solidFill>
              </a:rPr>
              <a:t>Ask: In a course registration system, what objects should exist?</a:t>
            </a:r>
            <a:endParaRPr lang="en-US" sz="127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5088"/>
          </a:solidFill>
          <a:ln w="12700">
            <a:solidFill>
              <a:srgbClr val="005088"/>
            </a:solidFill>
            <a:prstDash val="solid"/>
          </a:ln>
        </p:spPr>
      </p:sp>
      <p:sp>
        <p:nvSpPr>
          <p:cNvPr id="3" name="Shape 1"/>
          <p:cNvSpPr/>
          <p:nvPr/>
        </p:nvSpPr>
        <p:spPr>
          <a:xfrm>
            <a:off x="0" y="6729984"/>
            <a:ext cx="12191695" cy="128016"/>
          </a:xfrm>
          <a:prstGeom prst="rect">
            <a:avLst/>
          </a:prstGeom>
          <a:solidFill>
            <a:srgbClr val="005088"/>
          </a:solidFill>
          <a:ln w="12700">
            <a:solidFill>
              <a:srgbClr val="005088"/>
            </a:solidFill>
            <a:prstDash val="solid"/>
          </a:ln>
        </p:spPr>
      </p:sp>
      <p:sp>
        <p:nvSpPr>
          <p:cNvPr id="4" name="Text 2"/>
          <p:cNvSpPr/>
          <p:nvPr/>
        </p:nvSpPr>
        <p:spPr>
          <a:xfrm>
            <a:off x="502920" y="210312"/>
            <a:ext cx="6858000" cy="219456"/>
          </a:xfrm>
          <a:prstGeom prst="rect">
            <a:avLst/>
          </a:prstGeom>
          <a:noFill/>
          <a:ln/>
        </p:spPr>
        <p:txBody>
          <a:bodyPr wrap="square" lIns="0" tIns="0" rIns="0" bIns="0" rtlCol="0" anchor="ctr"/>
          <a:lstStyle/>
          <a:p>
            <a:pPr indent="0" marL="0">
              <a:buNone/>
            </a:pPr>
            <a:r>
              <a:rPr lang="en-US" sz="950" b="1" dirty="0">
                <a:solidFill>
                  <a:srgbClr val="3D5A80"/>
                </a:solidFill>
                <a:latin typeface="Aptos" pitchFamily="34" charset="0"/>
                <a:ea typeface="Aptos" pitchFamily="34" charset="-122"/>
                <a:cs typeface="Aptos" pitchFamily="34" charset="-120"/>
              </a:rPr>
              <a:t>8.2 Syntax and Semantics</a:t>
            </a:r>
            <a:endParaRPr lang="en-US" sz="950" dirty="0"/>
          </a:p>
        </p:txBody>
      </p:sp>
      <p:sp>
        <p:nvSpPr>
          <p:cNvPr id="5" name="Text 3"/>
          <p:cNvSpPr/>
          <p:nvPr/>
        </p:nvSpPr>
        <p:spPr>
          <a:xfrm>
            <a:off x="11018520" y="201168"/>
            <a:ext cx="640080" cy="228600"/>
          </a:xfrm>
          <a:prstGeom prst="rect">
            <a:avLst/>
          </a:prstGeom>
          <a:noFill/>
          <a:ln/>
        </p:spPr>
        <p:txBody>
          <a:bodyPr wrap="square" lIns="0" tIns="0" rIns="0" bIns="0" rtlCol="0" anchor="ctr"/>
          <a:lstStyle/>
          <a:p>
            <a:pPr algn="r" indent="0" marL="0">
              <a:buNone/>
            </a:pPr>
            <a:r>
              <a:rPr lang="en-US" sz="900" b="1" dirty="0">
                <a:solidFill>
                  <a:srgbClr val="3D5A80"/>
                </a:solidFill>
              </a:rPr>
              <a:t>20</a:t>
            </a:r>
            <a:endParaRPr lang="en-US" sz="900" dirty="0"/>
          </a:p>
        </p:txBody>
      </p:sp>
      <p:sp>
        <p:nvSpPr>
          <p:cNvPr id="6" name="Text 4"/>
          <p:cNvSpPr/>
          <p:nvPr/>
        </p:nvSpPr>
        <p:spPr>
          <a:xfrm>
            <a:off x="502920" y="566928"/>
            <a:ext cx="11201400" cy="512064"/>
          </a:xfrm>
          <a:prstGeom prst="rect">
            <a:avLst/>
          </a:prstGeom>
          <a:noFill/>
          <a:ln/>
        </p:spPr>
        <p:txBody>
          <a:bodyPr wrap="square" lIns="0" tIns="0" rIns="0" bIns="0" rtlCol="0" anchor="ctr">
            <a:normAutofit/>
          </a:bodyPr>
          <a:lstStyle/>
          <a:p>
            <a:pPr indent="0" marL="0">
              <a:buNone/>
            </a:pPr>
            <a:r>
              <a:rPr lang="en-US" sz="2650" b="1" dirty="0">
                <a:solidFill>
                  <a:srgbClr val="005088"/>
                </a:solidFill>
                <a:latin typeface="Aptos Display" pitchFamily="34" charset="0"/>
                <a:ea typeface="Aptos Display" pitchFamily="34" charset="-122"/>
                <a:cs typeface="Aptos Display" pitchFamily="34" charset="-120"/>
              </a:rPr>
              <a:t>EPISTEMOLOGICAL COMMITMENT</a:t>
            </a:r>
            <a:endParaRPr lang="en-US" sz="2650" dirty="0"/>
          </a:p>
        </p:txBody>
      </p:sp>
      <p:sp>
        <p:nvSpPr>
          <p:cNvPr id="7" name="Shape 5"/>
          <p:cNvSpPr/>
          <p:nvPr/>
        </p:nvSpPr>
        <p:spPr>
          <a:xfrm>
            <a:off x="502920" y="1188720"/>
            <a:ext cx="11109960" cy="0"/>
          </a:xfrm>
          <a:prstGeom prst="line">
            <a:avLst/>
          </a:prstGeom>
          <a:noFill/>
          <a:ln w="12700">
            <a:solidFill>
              <a:srgbClr val="3D5A80"/>
            </a:solidFill>
            <a:prstDash val="solid"/>
          </a:ln>
        </p:spPr>
      </p:sp>
      <p:sp>
        <p:nvSpPr>
          <p:cNvPr id="8" name="Text 6"/>
          <p:cNvSpPr/>
          <p:nvPr/>
        </p:nvSpPr>
        <p:spPr>
          <a:xfrm>
            <a:off x="713232" y="1572768"/>
            <a:ext cx="5440680" cy="4251960"/>
          </a:xfrm>
          <a:prstGeom prst="rect">
            <a:avLst/>
          </a:prstGeom>
          <a:noFill/>
          <a:ln/>
        </p:spPr>
        <p:txBody>
          <a:bodyPr wrap="square" lIns="1016" tIns="1016" rIns="1016" bIns="1016" rtlCol="0" anchor="t">
            <a:normAutofit/>
          </a:bodyPr>
          <a:lstStyle/>
          <a:p>
            <a:pPr indent="0" marL="0">
              <a:buNone/>
            </a:pPr>
            <a:r>
              <a:rPr lang="en-US" sz="1650" dirty="0">
                <a:solidFill>
                  <a:srgbClr val="1E293B"/>
                </a:solidFill>
                <a:latin typeface="Aptos" pitchFamily="34" charset="0"/>
                <a:ea typeface="Aptos" pitchFamily="34" charset="-122"/>
                <a:cs typeface="Aptos" pitchFamily="34" charset="-120"/>
              </a:rPr>
              <a:t>• Epistemology means what belief states the language allows</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First-order logic keeps true, false, and unknown</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Probability theory uses degrees of belief</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Fuzzy logic uses degrees of truth</a:t>
            </a:r>
            <a:endParaRPr lang="en-US" sz="1650" dirty="0"/>
          </a:p>
        </p:txBody>
      </p:sp>
      <p:sp>
        <p:nvSpPr>
          <p:cNvPr id="9" name="Shape 7"/>
          <p:cNvSpPr/>
          <p:nvPr/>
        </p:nvSpPr>
        <p:spPr>
          <a:xfrm>
            <a:off x="6446520" y="1572768"/>
            <a:ext cx="5074920" cy="1234440"/>
          </a:xfrm>
          <a:prstGeom prst="roundRect">
            <a:avLst>
              <a:gd name="adj" fmla="val 5926"/>
            </a:avLst>
          </a:prstGeom>
          <a:solidFill>
            <a:srgbClr val="FFF6D9"/>
          </a:solidFill>
          <a:ln w="12700">
            <a:solidFill>
              <a:srgbClr val="F4A261"/>
            </a:solidFill>
            <a:prstDash val="solid"/>
          </a:ln>
        </p:spPr>
      </p:sp>
      <p:sp>
        <p:nvSpPr>
          <p:cNvPr id="10" name="Text 8"/>
          <p:cNvSpPr/>
          <p:nvPr/>
        </p:nvSpPr>
        <p:spPr>
          <a:xfrm>
            <a:off x="6629400" y="1709928"/>
            <a:ext cx="4709160" cy="219456"/>
          </a:xfrm>
          <a:prstGeom prst="rect">
            <a:avLst/>
          </a:prstGeom>
          <a:noFill/>
          <a:ln/>
        </p:spPr>
        <p:txBody>
          <a:bodyPr wrap="square" lIns="0" tIns="0" rIns="0" bIns="0" rtlCol="0" anchor="ctr"/>
          <a:lstStyle/>
          <a:p>
            <a:pPr indent="0" marL="0">
              <a:buNone/>
            </a:pPr>
            <a:r>
              <a:rPr lang="en-US" sz="950" b="1" dirty="0">
                <a:solidFill>
                  <a:srgbClr val="B0005D"/>
                </a:solidFill>
              </a:rPr>
              <a:t>ANALOGY</a:t>
            </a:r>
            <a:endParaRPr lang="en-US" sz="950" dirty="0"/>
          </a:p>
        </p:txBody>
      </p:sp>
      <p:sp>
        <p:nvSpPr>
          <p:cNvPr id="11" name="Text 9"/>
          <p:cNvSpPr/>
          <p:nvPr/>
        </p:nvSpPr>
        <p:spPr>
          <a:xfrm>
            <a:off x="6629400" y="1984248"/>
            <a:ext cx="4709160" cy="731520"/>
          </a:xfrm>
          <a:prstGeom prst="rect">
            <a:avLst/>
          </a:prstGeom>
          <a:noFill/>
          <a:ln/>
        </p:spPr>
        <p:txBody>
          <a:bodyPr wrap="square" lIns="254" tIns="254" rIns="254" bIns="254" rtlCol="0" anchor="t">
            <a:normAutofit/>
          </a:bodyPr>
          <a:lstStyle/>
          <a:p>
            <a:pPr indent="0" marL="0">
              <a:buNone/>
            </a:pPr>
            <a:r>
              <a:rPr lang="en-US" sz="1330" dirty="0">
                <a:solidFill>
                  <a:srgbClr val="1E293B"/>
                </a:solidFill>
              </a:rPr>
              <a:t>A weather app may say “seventy percent chance of rain.” A first-order logic knowledge base says rain is true, false, or not yet known.</a:t>
            </a:r>
            <a:endParaRPr lang="en-US" sz="1330" dirty="0"/>
          </a:p>
        </p:txBody>
      </p:sp>
      <p:sp>
        <p:nvSpPr>
          <p:cNvPr id="12" name="Shape 10"/>
          <p:cNvSpPr/>
          <p:nvPr/>
        </p:nvSpPr>
        <p:spPr>
          <a:xfrm>
            <a:off x="6446520" y="2999232"/>
            <a:ext cx="5074920" cy="841248"/>
          </a:xfrm>
          <a:prstGeom prst="roundRect">
            <a:avLst>
              <a:gd name="adj" fmla="val 8696"/>
            </a:avLst>
          </a:prstGeom>
          <a:solidFill>
            <a:srgbClr val="FFFFFF">
              <a:alpha val="97000"/>
            </a:srgbClr>
          </a:solidFill>
          <a:ln w="12700">
            <a:solidFill>
              <a:srgbClr val="007C89"/>
            </a:solidFill>
            <a:prstDash val="solid"/>
          </a:ln>
        </p:spPr>
      </p:sp>
      <p:sp>
        <p:nvSpPr>
          <p:cNvPr id="13" name="Text 11"/>
          <p:cNvSpPr/>
          <p:nvPr/>
        </p:nvSpPr>
        <p:spPr>
          <a:xfrm>
            <a:off x="6611112" y="3127248"/>
            <a:ext cx="4745736" cy="658368"/>
          </a:xfrm>
          <a:prstGeom prst="rect">
            <a:avLst/>
          </a:prstGeom>
          <a:noFill/>
          <a:ln/>
        </p:spPr>
        <p:txBody>
          <a:bodyPr wrap="square" lIns="0" tIns="0" rIns="0" bIns="0" rtlCol="0" anchor="ctr">
            <a:normAutofit/>
          </a:bodyPr>
          <a:lstStyle/>
          <a:p>
            <a:pPr algn="ctr" indent="0" marL="0">
              <a:buNone/>
            </a:pPr>
            <a:r>
              <a:rPr lang="en-US" sz="1800" b="1" dirty="0">
                <a:solidFill>
                  <a:srgbClr val="005088"/>
                </a:solidFill>
                <a:latin typeface="Cambria Math" pitchFamily="34" charset="0"/>
                <a:ea typeface="Cambria Math" pitchFamily="34" charset="-122"/>
                <a:cs typeface="Cambria Math" pitchFamily="34" charset="-120"/>
              </a:rPr>
              <a:t>What can the agent believe about facts?</a:t>
            </a:r>
            <a:endParaRPr lang="en-US" sz="1800" dirty="0"/>
          </a:p>
        </p:txBody>
      </p:sp>
      <p:sp>
        <p:nvSpPr>
          <p:cNvPr id="14" name="Shape 12"/>
          <p:cNvSpPr/>
          <p:nvPr/>
        </p:nvSpPr>
        <p:spPr>
          <a:xfrm>
            <a:off x="6446520" y="4041648"/>
            <a:ext cx="5074920" cy="859536"/>
          </a:xfrm>
          <a:prstGeom prst="roundRect">
            <a:avLst>
              <a:gd name="adj" fmla="val 8511"/>
            </a:avLst>
          </a:prstGeom>
          <a:solidFill>
            <a:srgbClr val="FFE4E6"/>
          </a:solidFill>
          <a:ln w="12700">
            <a:solidFill>
              <a:srgbClr val="FDA4AF"/>
            </a:solidFill>
            <a:prstDash val="solid"/>
          </a:ln>
        </p:spPr>
      </p:sp>
      <p:sp>
        <p:nvSpPr>
          <p:cNvPr id="15" name="Text 13"/>
          <p:cNvSpPr/>
          <p:nvPr/>
        </p:nvSpPr>
        <p:spPr>
          <a:xfrm>
            <a:off x="6629400" y="4178808"/>
            <a:ext cx="4709160" cy="219456"/>
          </a:xfrm>
          <a:prstGeom prst="rect">
            <a:avLst/>
          </a:prstGeom>
          <a:noFill/>
          <a:ln/>
        </p:spPr>
        <p:txBody>
          <a:bodyPr wrap="square" lIns="0" tIns="0" rIns="0" bIns="0" rtlCol="0" anchor="ctr"/>
          <a:lstStyle/>
          <a:p>
            <a:pPr indent="0" marL="0">
              <a:buNone/>
            </a:pPr>
            <a:r>
              <a:rPr lang="en-US" sz="950" b="1" dirty="0">
                <a:solidFill>
                  <a:srgbClr val="C1121F"/>
                </a:solidFill>
              </a:rPr>
              <a:t>STUDENT GOTCHA</a:t>
            </a:r>
            <a:endParaRPr lang="en-US" sz="950" dirty="0"/>
          </a:p>
        </p:txBody>
      </p:sp>
      <p:sp>
        <p:nvSpPr>
          <p:cNvPr id="16" name="Text 14"/>
          <p:cNvSpPr/>
          <p:nvPr/>
        </p:nvSpPr>
        <p:spPr>
          <a:xfrm>
            <a:off x="6629400" y="4453128"/>
            <a:ext cx="4709160" cy="356616"/>
          </a:xfrm>
          <a:prstGeom prst="rect">
            <a:avLst/>
          </a:prstGeom>
          <a:noFill/>
          <a:ln/>
        </p:spPr>
        <p:txBody>
          <a:bodyPr wrap="square" lIns="254" tIns="254" rIns="254" bIns="254" rtlCol="0" anchor="t">
            <a:normAutofit/>
          </a:bodyPr>
          <a:lstStyle/>
          <a:p>
            <a:pPr indent="0" marL="0">
              <a:buNone/>
            </a:pPr>
            <a:r>
              <a:rPr lang="en-US" sz="1250" dirty="0">
                <a:solidFill>
                  <a:srgbClr val="1E293B"/>
                </a:solidFill>
              </a:rPr>
              <a:t>A vague predicate like Tall(person) is not automatically handled by first-order logic. The predicate needs a precise meaning or another representation.</a:t>
            </a:r>
            <a:endParaRPr lang="en-US" sz="1250" dirty="0"/>
          </a:p>
        </p:txBody>
      </p:sp>
      <p:sp>
        <p:nvSpPr>
          <p:cNvPr id="17" name="Shape 15"/>
          <p:cNvSpPr/>
          <p:nvPr/>
        </p:nvSpPr>
        <p:spPr>
          <a:xfrm>
            <a:off x="6446520" y="5074920"/>
            <a:ext cx="5074920" cy="841248"/>
          </a:xfrm>
          <a:prstGeom prst="roundRect">
            <a:avLst>
              <a:gd name="adj" fmla="val 8696"/>
            </a:avLst>
          </a:prstGeom>
          <a:solidFill>
            <a:srgbClr val="E6FFFA"/>
          </a:solidFill>
          <a:ln w="12700">
            <a:solidFill>
              <a:srgbClr val="2A9D8F"/>
            </a:solidFill>
            <a:prstDash val="solid"/>
          </a:ln>
        </p:spPr>
      </p:sp>
      <p:sp>
        <p:nvSpPr>
          <p:cNvPr id="18" name="Text 16"/>
          <p:cNvSpPr/>
          <p:nvPr/>
        </p:nvSpPr>
        <p:spPr>
          <a:xfrm>
            <a:off x="6629400" y="5212080"/>
            <a:ext cx="4709160" cy="219456"/>
          </a:xfrm>
          <a:prstGeom prst="rect">
            <a:avLst/>
          </a:prstGeom>
          <a:noFill/>
          <a:ln/>
        </p:spPr>
        <p:txBody>
          <a:bodyPr wrap="square" lIns="0" tIns="0" rIns="0" bIns="0" rtlCol="0" anchor="ctr"/>
          <a:lstStyle/>
          <a:p>
            <a:pPr indent="0" marL="0">
              <a:buNone/>
            </a:pPr>
            <a:r>
              <a:rPr lang="en-US" sz="950" b="1" dirty="0">
                <a:solidFill>
                  <a:srgbClr val="007C89"/>
                </a:solidFill>
              </a:rPr>
              <a:t>CLASS CHECK</a:t>
            </a:r>
            <a:endParaRPr lang="en-US" sz="950" dirty="0"/>
          </a:p>
        </p:txBody>
      </p:sp>
      <p:sp>
        <p:nvSpPr>
          <p:cNvPr id="19" name="Text 17"/>
          <p:cNvSpPr/>
          <p:nvPr/>
        </p:nvSpPr>
        <p:spPr>
          <a:xfrm>
            <a:off x="6629400" y="5486400"/>
            <a:ext cx="4709160" cy="338328"/>
          </a:xfrm>
          <a:prstGeom prst="rect">
            <a:avLst/>
          </a:prstGeom>
          <a:noFill/>
          <a:ln/>
        </p:spPr>
        <p:txBody>
          <a:bodyPr wrap="square" lIns="254" tIns="254" rIns="254" bIns="254" rtlCol="0" anchor="t">
            <a:normAutofit/>
          </a:bodyPr>
          <a:lstStyle/>
          <a:p>
            <a:pPr indent="0" marL="0">
              <a:buNone/>
            </a:pPr>
            <a:r>
              <a:rPr lang="en-US" sz="1270" dirty="0">
                <a:solidFill>
                  <a:srgbClr val="1E293B"/>
                </a:solidFill>
              </a:rPr>
              <a:t>Ask: Is “Carlos is tall” naturally true/false, probabilistic, or vague?</a:t>
            </a:r>
            <a:endParaRPr lang="en-US" sz="127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05088"/>
        </a:solidFill>
      </p:bgPr>
    </p:bg>
    <p:spTree>
      <p:nvGrpSpPr>
        <p:cNvPr id="1" name=""/>
        <p:cNvGrpSpPr/>
        <p:nvPr/>
      </p:nvGrpSpPr>
      <p:grpSpPr>
        <a:xfrm>
          <a:off x="0" y="0"/>
          <a:ext cx="0" cy="0"/>
          <a:chOff x="0" y="0"/>
          <a:chExt cx="0" cy="0"/>
        </a:xfrm>
      </p:grpSpPr>
      <p:sp>
        <p:nvSpPr>
          <p:cNvPr id="2" name="Text 0"/>
          <p:cNvSpPr/>
          <p:nvPr/>
        </p:nvSpPr>
        <p:spPr>
          <a:xfrm>
            <a:off x="685800" y="502920"/>
            <a:ext cx="2194560" cy="320040"/>
          </a:xfrm>
          <a:prstGeom prst="rect">
            <a:avLst/>
          </a:prstGeom>
          <a:noFill/>
          <a:ln/>
        </p:spPr>
        <p:txBody>
          <a:bodyPr wrap="square" lIns="0" tIns="0" rIns="0" bIns="0" rtlCol="0" anchor="ctr"/>
          <a:lstStyle/>
          <a:p>
            <a:pPr indent="0" marL="0">
              <a:buNone/>
            </a:pPr>
            <a:r>
              <a:rPr lang="en-US" sz="1600" b="1" dirty="0">
                <a:solidFill>
                  <a:srgbClr val="A5F3FC"/>
                </a:solidFill>
              </a:rPr>
              <a:t>Computer Science 469</a:t>
            </a:r>
            <a:endParaRPr lang="en-US" sz="1600" dirty="0"/>
          </a:p>
        </p:txBody>
      </p:sp>
      <p:sp>
        <p:nvSpPr>
          <p:cNvPr id="3" name="Text 1"/>
          <p:cNvSpPr/>
          <p:nvPr/>
        </p:nvSpPr>
        <p:spPr>
          <a:xfrm>
            <a:off x="685800" y="850392"/>
            <a:ext cx="2194560" cy="274320"/>
          </a:xfrm>
          <a:prstGeom prst="rect">
            <a:avLst/>
          </a:prstGeom>
          <a:noFill/>
          <a:ln/>
        </p:spPr>
        <p:txBody>
          <a:bodyPr wrap="square" lIns="0" tIns="0" rIns="0" bIns="0" rtlCol="0" anchor="ctr"/>
          <a:lstStyle/>
          <a:p>
            <a:pPr indent="0" marL="0">
              <a:buNone/>
            </a:pPr>
            <a:r>
              <a:rPr lang="en-US" sz="1200" dirty="0">
                <a:solidFill>
                  <a:srgbClr val="D9F99D"/>
                </a:solidFill>
              </a:rPr>
              <a:t>Chapter 8</a:t>
            </a:r>
            <a:endParaRPr lang="en-US" sz="1200" dirty="0"/>
          </a:p>
        </p:txBody>
      </p:sp>
      <p:sp>
        <p:nvSpPr>
          <p:cNvPr id="4" name="Text 2"/>
          <p:cNvSpPr/>
          <p:nvPr/>
        </p:nvSpPr>
        <p:spPr>
          <a:xfrm>
            <a:off x="685800" y="1901952"/>
            <a:ext cx="10744200" cy="896112"/>
          </a:xfrm>
          <a:prstGeom prst="rect">
            <a:avLst/>
          </a:prstGeom>
          <a:noFill/>
          <a:ln/>
        </p:spPr>
        <p:txBody>
          <a:bodyPr wrap="square" lIns="0" tIns="0" rIns="0" bIns="0" rtlCol="0" anchor="ctr">
            <a:normAutofit/>
          </a:bodyPr>
          <a:lstStyle/>
          <a:p>
            <a:pPr indent="0" marL="0">
              <a:buNone/>
            </a:pPr>
            <a:r>
              <a:rPr lang="en-US" sz="4200" b="1" dirty="0">
                <a:solidFill>
                  <a:srgbClr val="F4F1DE"/>
                </a:solidFill>
              </a:rPr>
              <a:t>8.2 Syntax and Semantics of First-Order Logic</a:t>
            </a:r>
            <a:endParaRPr lang="en-US" sz="4200" dirty="0"/>
          </a:p>
        </p:txBody>
      </p:sp>
      <p:sp>
        <p:nvSpPr>
          <p:cNvPr id="5" name="Text 3"/>
          <p:cNvSpPr/>
          <p:nvPr/>
        </p:nvSpPr>
        <p:spPr>
          <a:xfrm>
            <a:off x="713232" y="2880360"/>
            <a:ext cx="10424160" cy="429768"/>
          </a:xfrm>
          <a:prstGeom prst="rect">
            <a:avLst/>
          </a:prstGeom>
          <a:noFill/>
          <a:ln/>
        </p:spPr>
        <p:txBody>
          <a:bodyPr wrap="square" lIns="0" tIns="0" rIns="0" bIns="0" rtlCol="0" anchor="ctr">
            <a:normAutofit/>
          </a:bodyPr>
          <a:lstStyle/>
          <a:p>
            <a:pPr indent="0" marL="0">
              <a:buNone/>
            </a:pPr>
            <a:r>
              <a:rPr lang="en-US" sz="1900" dirty="0">
                <a:solidFill>
                  <a:srgbClr val="D9F99D"/>
                </a:solidFill>
              </a:rPr>
              <a:t>How symbols connect to possible worlds</a:t>
            </a:r>
            <a:endParaRPr lang="en-US" sz="1900" dirty="0"/>
          </a:p>
        </p:txBody>
      </p:sp>
      <p:sp>
        <p:nvSpPr>
          <p:cNvPr id="6" name="Shape 4"/>
          <p:cNvSpPr/>
          <p:nvPr/>
        </p:nvSpPr>
        <p:spPr>
          <a:xfrm>
            <a:off x="713232" y="3529584"/>
            <a:ext cx="2194560" cy="54864"/>
          </a:xfrm>
          <a:prstGeom prst="rect">
            <a:avLst/>
          </a:prstGeom>
          <a:solidFill>
            <a:srgbClr val="D9F99D"/>
          </a:solidFill>
          <a:ln w="12700">
            <a:solidFill>
              <a:srgbClr val="D9F99D"/>
            </a:solidFill>
            <a:prstDash val="solid"/>
          </a:ln>
        </p:spPr>
      </p:sp>
      <p:sp>
        <p:nvSpPr>
          <p:cNvPr id="7" name="Shape 5"/>
          <p:cNvSpPr/>
          <p:nvPr/>
        </p:nvSpPr>
        <p:spPr>
          <a:xfrm>
            <a:off x="713232" y="3950208"/>
            <a:ext cx="10652760" cy="1005840"/>
          </a:xfrm>
          <a:prstGeom prst="roundRect">
            <a:avLst>
              <a:gd name="adj" fmla="val 7273"/>
            </a:avLst>
          </a:prstGeom>
          <a:solidFill>
            <a:srgbClr val="073B4C"/>
          </a:solidFill>
          <a:ln w="12700">
            <a:solidFill>
              <a:srgbClr val="A5F3FC"/>
            </a:solidFill>
            <a:prstDash val="solid"/>
          </a:ln>
        </p:spPr>
      </p:sp>
      <p:sp>
        <p:nvSpPr>
          <p:cNvPr id="8" name="Text 6"/>
          <p:cNvSpPr/>
          <p:nvPr/>
        </p:nvSpPr>
        <p:spPr>
          <a:xfrm>
            <a:off x="896112" y="4087368"/>
            <a:ext cx="10287000" cy="219456"/>
          </a:xfrm>
          <a:prstGeom prst="rect">
            <a:avLst/>
          </a:prstGeom>
          <a:noFill/>
          <a:ln/>
        </p:spPr>
        <p:txBody>
          <a:bodyPr wrap="square" lIns="0" tIns="0" rIns="0" bIns="0" rtlCol="0" anchor="ctr"/>
          <a:lstStyle/>
          <a:p>
            <a:pPr indent="0" marL="0">
              <a:buNone/>
            </a:pPr>
            <a:r>
              <a:rPr lang="en-US" sz="950" b="1" dirty="0">
                <a:solidFill>
                  <a:srgbClr val="A5F3FC"/>
                </a:solidFill>
              </a:rPr>
              <a:t>INSTRUCTOR CUE</a:t>
            </a:r>
            <a:endParaRPr lang="en-US" sz="950" dirty="0"/>
          </a:p>
        </p:txBody>
      </p:sp>
      <p:sp>
        <p:nvSpPr>
          <p:cNvPr id="9" name="Text 7"/>
          <p:cNvSpPr/>
          <p:nvPr/>
        </p:nvSpPr>
        <p:spPr>
          <a:xfrm>
            <a:off x="896112" y="4361688"/>
            <a:ext cx="10287000" cy="502920"/>
          </a:xfrm>
          <a:prstGeom prst="rect">
            <a:avLst/>
          </a:prstGeom>
          <a:noFill/>
          <a:ln/>
        </p:spPr>
        <p:txBody>
          <a:bodyPr wrap="square" lIns="254" tIns="254" rIns="254" bIns="254" rtlCol="0" anchor="t">
            <a:normAutofit/>
          </a:bodyPr>
          <a:lstStyle/>
          <a:p>
            <a:pPr indent="0" marL="0">
              <a:buNone/>
            </a:pPr>
            <a:r>
              <a:rPr lang="en-US" sz="1500" dirty="0">
                <a:solidFill>
                  <a:srgbClr val="FFFFFF"/>
                </a:solidFill>
              </a:rPr>
              <a:t>Tell students that the section has two jobs: grammar and meaning. Grammar says which formulas are legal. Meaning says when those formulas are true.</a:t>
            </a:r>
            <a:endParaRPr lang="en-US" sz="1500" dirty="0"/>
          </a:p>
        </p:txBody>
      </p:sp>
      <p:sp>
        <p:nvSpPr>
          <p:cNvPr id="10" name="Text 8"/>
          <p:cNvSpPr/>
          <p:nvPr/>
        </p:nvSpPr>
        <p:spPr>
          <a:xfrm>
            <a:off x="11018520" y="6172200"/>
            <a:ext cx="548640" cy="274320"/>
          </a:xfrm>
          <a:prstGeom prst="rect">
            <a:avLst/>
          </a:prstGeom>
          <a:noFill/>
          <a:ln/>
        </p:spPr>
        <p:txBody>
          <a:bodyPr wrap="square" lIns="0" tIns="0" rIns="0" bIns="0" rtlCol="0" anchor="ctr"/>
          <a:lstStyle/>
          <a:p>
            <a:pPr algn="r" indent="0" marL="0">
              <a:buNone/>
            </a:pPr>
            <a:r>
              <a:rPr lang="en-US" sz="1200" b="1" dirty="0">
                <a:solidFill>
                  <a:srgbClr val="D9F99D"/>
                </a:solidFill>
              </a:rPr>
              <a:t>21</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5088"/>
          </a:solidFill>
          <a:ln w="12700">
            <a:solidFill>
              <a:srgbClr val="005088"/>
            </a:solidFill>
            <a:prstDash val="solid"/>
          </a:ln>
        </p:spPr>
      </p:sp>
      <p:sp>
        <p:nvSpPr>
          <p:cNvPr id="3" name="Shape 1"/>
          <p:cNvSpPr/>
          <p:nvPr/>
        </p:nvSpPr>
        <p:spPr>
          <a:xfrm>
            <a:off x="0" y="6729984"/>
            <a:ext cx="12191695" cy="128016"/>
          </a:xfrm>
          <a:prstGeom prst="rect">
            <a:avLst/>
          </a:prstGeom>
          <a:solidFill>
            <a:srgbClr val="005088"/>
          </a:solidFill>
          <a:ln w="12700">
            <a:solidFill>
              <a:srgbClr val="005088"/>
            </a:solidFill>
            <a:prstDash val="solid"/>
          </a:ln>
        </p:spPr>
      </p:sp>
      <p:sp>
        <p:nvSpPr>
          <p:cNvPr id="4" name="Text 2"/>
          <p:cNvSpPr/>
          <p:nvPr/>
        </p:nvSpPr>
        <p:spPr>
          <a:xfrm>
            <a:off x="502920" y="210312"/>
            <a:ext cx="6858000" cy="219456"/>
          </a:xfrm>
          <a:prstGeom prst="rect">
            <a:avLst/>
          </a:prstGeom>
          <a:noFill/>
          <a:ln/>
        </p:spPr>
        <p:txBody>
          <a:bodyPr wrap="square" lIns="0" tIns="0" rIns="0" bIns="0" rtlCol="0" anchor="ctr"/>
          <a:lstStyle/>
          <a:p>
            <a:pPr indent="0" marL="0">
              <a:buNone/>
            </a:pPr>
            <a:r>
              <a:rPr lang="en-US" sz="950" b="1" dirty="0">
                <a:solidFill>
                  <a:srgbClr val="3D5A80"/>
                </a:solidFill>
                <a:latin typeface="Aptos" pitchFamily="34" charset="0"/>
                <a:ea typeface="Aptos" pitchFamily="34" charset="-122"/>
                <a:cs typeface="Aptos" pitchFamily="34" charset="-120"/>
              </a:rPr>
              <a:t>8.2 Syntax and Semantics</a:t>
            </a:r>
            <a:endParaRPr lang="en-US" sz="950" dirty="0"/>
          </a:p>
        </p:txBody>
      </p:sp>
      <p:sp>
        <p:nvSpPr>
          <p:cNvPr id="5" name="Text 3"/>
          <p:cNvSpPr/>
          <p:nvPr/>
        </p:nvSpPr>
        <p:spPr>
          <a:xfrm>
            <a:off x="11018520" y="201168"/>
            <a:ext cx="640080" cy="228600"/>
          </a:xfrm>
          <a:prstGeom prst="rect">
            <a:avLst/>
          </a:prstGeom>
          <a:noFill/>
          <a:ln/>
        </p:spPr>
        <p:txBody>
          <a:bodyPr wrap="square" lIns="0" tIns="0" rIns="0" bIns="0" rtlCol="0" anchor="ctr"/>
          <a:lstStyle/>
          <a:p>
            <a:pPr algn="r" indent="0" marL="0">
              <a:buNone/>
            </a:pPr>
            <a:r>
              <a:rPr lang="en-US" sz="900" b="1" dirty="0">
                <a:solidFill>
                  <a:srgbClr val="3D5A80"/>
                </a:solidFill>
              </a:rPr>
              <a:t>22</a:t>
            </a:r>
            <a:endParaRPr lang="en-US" sz="900" dirty="0"/>
          </a:p>
        </p:txBody>
      </p:sp>
      <p:sp>
        <p:nvSpPr>
          <p:cNvPr id="6" name="Text 4"/>
          <p:cNvSpPr/>
          <p:nvPr/>
        </p:nvSpPr>
        <p:spPr>
          <a:xfrm>
            <a:off x="502920" y="566928"/>
            <a:ext cx="11201400" cy="512064"/>
          </a:xfrm>
          <a:prstGeom prst="rect">
            <a:avLst/>
          </a:prstGeom>
          <a:noFill/>
          <a:ln/>
        </p:spPr>
        <p:txBody>
          <a:bodyPr wrap="square" lIns="0" tIns="0" rIns="0" bIns="0" rtlCol="0" anchor="ctr">
            <a:normAutofit/>
          </a:bodyPr>
          <a:lstStyle/>
          <a:p>
            <a:pPr indent="0" marL="0">
              <a:buNone/>
            </a:pPr>
            <a:r>
              <a:rPr lang="en-US" sz="2650" b="1" dirty="0">
                <a:solidFill>
                  <a:srgbClr val="005088"/>
                </a:solidFill>
                <a:latin typeface="Aptos Display" pitchFamily="34" charset="0"/>
                <a:ea typeface="Aptos Display" pitchFamily="34" charset="-122"/>
                <a:cs typeface="Aptos Display" pitchFamily="34" charset="-120"/>
              </a:rPr>
              <a:t>SYNTAX AND SEMANTICS</a:t>
            </a:r>
            <a:endParaRPr lang="en-US" sz="2650" dirty="0"/>
          </a:p>
        </p:txBody>
      </p:sp>
      <p:sp>
        <p:nvSpPr>
          <p:cNvPr id="7" name="Shape 5"/>
          <p:cNvSpPr/>
          <p:nvPr/>
        </p:nvSpPr>
        <p:spPr>
          <a:xfrm>
            <a:off x="502920" y="1188720"/>
            <a:ext cx="11109960" cy="0"/>
          </a:xfrm>
          <a:prstGeom prst="line">
            <a:avLst/>
          </a:prstGeom>
          <a:noFill/>
          <a:ln w="12700">
            <a:solidFill>
              <a:srgbClr val="3D5A80"/>
            </a:solidFill>
            <a:prstDash val="solid"/>
          </a:ln>
        </p:spPr>
      </p:sp>
      <p:sp>
        <p:nvSpPr>
          <p:cNvPr id="8" name="Text 6"/>
          <p:cNvSpPr/>
          <p:nvPr/>
        </p:nvSpPr>
        <p:spPr>
          <a:xfrm>
            <a:off x="713232" y="1572768"/>
            <a:ext cx="5440680" cy="4251960"/>
          </a:xfrm>
          <a:prstGeom prst="rect">
            <a:avLst/>
          </a:prstGeom>
          <a:noFill/>
          <a:ln/>
        </p:spPr>
        <p:txBody>
          <a:bodyPr wrap="square" lIns="1016" tIns="1016" rIns="1016" bIns="1016" rtlCol="0" anchor="t">
            <a:normAutofit/>
          </a:bodyPr>
          <a:lstStyle/>
          <a:p>
            <a:pPr indent="0" marL="0">
              <a:buNone/>
            </a:pPr>
            <a:r>
              <a:rPr lang="en-US" sz="1650" dirty="0">
                <a:solidFill>
                  <a:srgbClr val="1E293B"/>
                </a:solidFill>
                <a:latin typeface="Aptos" pitchFamily="34" charset="0"/>
                <a:ea typeface="Aptos" pitchFamily="34" charset="-122"/>
                <a:cs typeface="Aptos" pitchFamily="34" charset="-120"/>
              </a:rPr>
              <a:t>• Syntax defines legal sentences</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Semantics defines truth in a model</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A model connects symbols to a possible world</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Inference depends on what is true across models</a:t>
            </a:r>
            <a:endParaRPr lang="en-US" sz="1650" dirty="0"/>
          </a:p>
        </p:txBody>
      </p:sp>
      <p:sp>
        <p:nvSpPr>
          <p:cNvPr id="9" name="Shape 7"/>
          <p:cNvSpPr/>
          <p:nvPr/>
        </p:nvSpPr>
        <p:spPr>
          <a:xfrm>
            <a:off x="6446520" y="1572768"/>
            <a:ext cx="5074920" cy="1234440"/>
          </a:xfrm>
          <a:prstGeom prst="roundRect">
            <a:avLst>
              <a:gd name="adj" fmla="val 5926"/>
            </a:avLst>
          </a:prstGeom>
          <a:solidFill>
            <a:srgbClr val="FFF6D9"/>
          </a:solidFill>
          <a:ln w="12700">
            <a:solidFill>
              <a:srgbClr val="F4A261"/>
            </a:solidFill>
            <a:prstDash val="solid"/>
          </a:ln>
        </p:spPr>
      </p:sp>
      <p:sp>
        <p:nvSpPr>
          <p:cNvPr id="10" name="Text 8"/>
          <p:cNvSpPr/>
          <p:nvPr/>
        </p:nvSpPr>
        <p:spPr>
          <a:xfrm>
            <a:off x="6629400" y="1709928"/>
            <a:ext cx="4709160" cy="219456"/>
          </a:xfrm>
          <a:prstGeom prst="rect">
            <a:avLst/>
          </a:prstGeom>
          <a:noFill/>
          <a:ln/>
        </p:spPr>
        <p:txBody>
          <a:bodyPr wrap="square" lIns="0" tIns="0" rIns="0" bIns="0" rtlCol="0" anchor="ctr"/>
          <a:lstStyle/>
          <a:p>
            <a:pPr indent="0" marL="0">
              <a:buNone/>
            </a:pPr>
            <a:r>
              <a:rPr lang="en-US" sz="950" b="1" dirty="0">
                <a:solidFill>
                  <a:srgbClr val="B0005D"/>
                </a:solidFill>
              </a:rPr>
              <a:t>ANALOGY</a:t>
            </a:r>
            <a:endParaRPr lang="en-US" sz="950" dirty="0"/>
          </a:p>
        </p:txBody>
      </p:sp>
      <p:sp>
        <p:nvSpPr>
          <p:cNvPr id="11" name="Text 9"/>
          <p:cNvSpPr/>
          <p:nvPr/>
        </p:nvSpPr>
        <p:spPr>
          <a:xfrm>
            <a:off x="6629400" y="1984248"/>
            <a:ext cx="4709160" cy="731520"/>
          </a:xfrm>
          <a:prstGeom prst="rect">
            <a:avLst/>
          </a:prstGeom>
          <a:noFill/>
          <a:ln/>
        </p:spPr>
        <p:txBody>
          <a:bodyPr wrap="square" lIns="254" tIns="254" rIns="254" bIns="254" rtlCol="0" anchor="t">
            <a:normAutofit/>
          </a:bodyPr>
          <a:lstStyle/>
          <a:p>
            <a:pPr indent="0" marL="0">
              <a:buNone/>
            </a:pPr>
            <a:r>
              <a:rPr lang="en-US" sz="1330" dirty="0">
                <a:solidFill>
                  <a:srgbClr val="1E293B"/>
                </a:solidFill>
              </a:rPr>
              <a:t>“The chair is on the desk” has correct grammar, but it is true only if the world matches the sentence.</a:t>
            </a:r>
            <a:endParaRPr lang="en-US" sz="1330" dirty="0"/>
          </a:p>
        </p:txBody>
      </p:sp>
      <p:sp>
        <p:nvSpPr>
          <p:cNvPr id="12" name="Shape 10"/>
          <p:cNvSpPr/>
          <p:nvPr/>
        </p:nvSpPr>
        <p:spPr>
          <a:xfrm>
            <a:off x="6446520" y="2999232"/>
            <a:ext cx="5074920" cy="841248"/>
          </a:xfrm>
          <a:prstGeom prst="roundRect">
            <a:avLst>
              <a:gd name="adj" fmla="val 8696"/>
            </a:avLst>
          </a:prstGeom>
          <a:solidFill>
            <a:srgbClr val="FFFFFF">
              <a:alpha val="97000"/>
            </a:srgbClr>
          </a:solidFill>
          <a:ln w="12700">
            <a:solidFill>
              <a:srgbClr val="007C89"/>
            </a:solidFill>
            <a:prstDash val="solid"/>
          </a:ln>
        </p:spPr>
      </p:sp>
      <p:sp>
        <p:nvSpPr>
          <p:cNvPr id="13" name="Text 11"/>
          <p:cNvSpPr/>
          <p:nvPr/>
        </p:nvSpPr>
        <p:spPr>
          <a:xfrm>
            <a:off x="6611112" y="3127248"/>
            <a:ext cx="4745736" cy="658368"/>
          </a:xfrm>
          <a:prstGeom prst="rect">
            <a:avLst/>
          </a:prstGeom>
          <a:noFill/>
          <a:ln/>
        </p:spPr>
        <p:txBody>
          <a:bodyPr wrap="square" lIns="0" tIns="0" rIns="0" bIns="0" rtlCol="0" anchor="ctr">
            <a:normAutofit/>
          </a:bodyPr>
          <a:lstStyle/>
          <a:p>
            <a:pPr algn="ctr" indent="0" marL="0">
              <a:buNone/>
            </a:pPr>
            <a:r>
              <a:rPr lang="en-US" sz="1800" b="1" dirty="0">
                <a:solidFill>
                  <a:srgbClr val="005088"/>
                </a:solidFill>
                <a:latin typeface="Cambria Math" pitchFamily="34" charset="0"/>
                <a:ea typeface="Cambria Math" pitchFamily="34" charset="-122"/>
                <a:cs typeface="Cambria Math" pitchFamily="34" charset="-120"/>
              </a:rPr>
              <a:t>legal sentence + model → truth value</a:t>
            </a:r>
            <a:endParaRPr lang="en-US" sz="1800" dirty="0"/>
          </a:p>
        </p:txBody>
      </p:sp>
      <p:sp>
        <p:nvSpPr>
          <p:cNvPr id="14" name="Shape 12"/>
          <p:cNvSpPr/>
          <p:nvPr/>
        </p:nvSpPr>
        <p:spPr>
          <a:xfrm>
            <a:off x="6446520" y="4041648"/>
            <a:ext cx="5074920" cy="859536"/>
          </a:xfrm>
          <a:prstGeom prst="roundRect">
            <a:avLst>
              <a:gd name="adj" fmla="val 8511"/>
            </a:avLst>
          </a:prstGeom>
          <a:solidFill>
            <a:srgbClr val="FFE4E6"/>
          </a:solidFill>
          <a:ln w="12700">
            <a:solidFill>
              <a:srgbClr val="FDA4AF"/>
            </a:solidFill>
            <a:prstDash val="solid"/>
          </a:ln>
        </p:spPr>
      </p:sp>
      <p:sp>
        <p:nvSpPr>
          <p:cNvPr id="15" name="Text 13"/>
          <p:cNvSpPr/>
          <p:nvPr/>
        </p:nvSpPr>
        <p:spPr>
          <a:xfrm>
            <a:off x="6629400" y="4178808"/>
            <a:ext cx="4709160" cy="219456"/>
          </a:xfrm>
          <a:prstGeom prst="rect">
            <a:avLst/>
          </a:prstGeom>
          <a:noFill/>
          <a:ln/>
        </p:spPr>
        <p:txBody>
          <a:bodyPr wrap="square" lIns="0" tIns="0" rIns="0" bIns="0" rtlCol="0" anchor="ctr"/>
          <a:lstStyle/>
          <a:p>
            <a:pPr indent="0" marL="0">
              <a:buNone/>
            </a:pPr>
            <a:r>
              <a:rPr lang="en-US" sz="950" b="1" dirty="0">
                <a:solidFill>
                  <a:srgbClr val="C1121F"/>
                </a:solidFill>
              </a:rPr>
              <a:t>STUDENT GOTCHA</a:t>
            </a:r>
            <a:endParaRPr lang="en-US" sz="950" dirty="0"/>
          </a:p>
        </p:txBody>
      </p:sp>
      <p:sp>
        <p:nvSpPr>
          <p:cNvPr id="16" name="Text 14"/>
          <p:cNvSpPr/>
          <p:nvPr/>
        </p:nvSpPr>
        <p:spPr>
          <a:xfrm>
            <a:off x="6629400" y="4453128"/>
            <a:ext cx="4709160" cy="356616"/>
          </a:xfrm>
          <a:prstGeom prst="rect">
            <a:avLst/>
          </a:prstGeom>
          <a:noFill/>
          <a:ln/>
        </p:spPr>
        <p:txBody>
          <a:bodyPr wrap="square" lIns="254" tIns="254" rIns="254" bIns="254" rtlCol="0" anchor="t">
            <a:normAutofit/>
          </a:bodyPr>
          <a:lstStyle/>
          <a:p>
            <a:pPr indent="0" marL="0">
              <a:buNone/>
            </a:pPr>
            <a:r>
              <a:rPr lang="en-US" sz="1250" dirty="0">
                <a:solidFill>
                  <a:srgbClr val="1E293B"/>
                </a:solidFill>
              </a:rPr>
              <a:t>A well-formed sentence is not automatically true.</a:t>
            </a:r>
            <a:endParaRPr lang="en-US" sz="1250" dirty="0"/>
          </a:p>
        </p:txBody>
      </p:sp>
      <p:sp>
        <p:nvSpPr>
          <p:cNvPr id="17" name="Shape 15"/>
          <p:cNvSpPr/>
          <p:nvPr/>
        </p:nvSpPr>
        <p:spPr>
          <a:xfrm>
            <a:off x="6446520" y="5074920"/>
            <a:ext cx="5074920" cy="841248"/>
          </a:xfrm>
          <a:prstGeom prst="roundRect">
            <a:avLst>
              <a:gd name="adj" fmla="val 8696"/>
            </a:avLst>
          </a:prstGeom>
          <a:solidFill>
            <a:srgbClr val="E6FFFA"/>
          </a:solidFill>
          <a:ln w="12700">
            <a:solidFill>
              <a:srgbClr val="2A9D8F"/>
            </a:solidFill>
            <a:prstDash val="solid"/>
          </a:ln>
        </p:spPr>
      </p:sp>
      <p:sp>
        <p:nvSpPr>
          <p:cNvPr id="18" name="Text 16"/>
          <p:cNvSpPr/>
          <p:nvPr/>
        </p:nvSpPr>
        <p:spPr>
          <a:xfrm>
            <a:off x="6629400" y="5212080"/>
            <a:ext cx="4709160" cy="219456"/>
          </a:xfrm>
          <a:prstGeom prst="rect">
            <a:avLst/>
          </a:prstGeom>
          <a:noFill/>
          <a:ln/>
        </p:spPr>
        <p:txBody>
          <a:bodyPr wrap="square" lIns="0" tIns="0" rIns="0" bIns="0" rtlCol="0" anchor="ctr"/>
          <a:lstStyle/>
          <a:p>
            <a:pPr indent="0" marL="0">
              <a:buNone/>
            </a:pPr>
            <a:r>
              <a:rPr lang="en-US" sz="950" b="1" dirty="0">
                <a:solidFill>
                  <a:srgbClr val="007C89"/>
                </a:solidFill>
              </a:rPr>
              <a:t>CLASS CHECK</a:t>
            </a:r>
            <a:endParaRPr lang="en-US" sz="950" dirty="0"/>
          </a:p>
        </p:txBody>
      </p:sp>
      <p:sp>
        <p:nvSpPr>
          <p:cNvPr id="19" name="Text 17"/>
          <p:cNvSpPr/>
          <p:nvPr/>
        </p:nvSpPr>
        <p:spPr>
          <a:xfrm>
            <a:off x="6629400" y="5486400"/>
            <a:ext cx="4709160" cy="338328"/>
          </a:xfrm>
          <a:prstGeom prst="rect">
            <a:avLst/>
          </a:prstGeom>
          <a:noFill/>
          <a:ln/>
        </p:spPr>
        <p:txBody>
          <a:bodyPr wrap="square" lIns="254" tIns="254" rIns="254" bIns="254" rtlCol="0" anchor="t">
            <a:normAutofit/>
          </a:bodyPr>
          <a:lstStyle/>
          <a:p>
            <a:pPr indent="0" marL="0">
              <a:buNone/>
            </a:pPr>
            <a:r>
              <a:rPr lang="en-US" sz="1270" dirty="0">
                <a:solidFill>
                  <a:srgbClr val="1E293B"/>
                </a:solidFill>
              </a:rPr>
              <a:t>Ask: Can King(Richard) be legal but false?</a:t>
            </a:r>
            <a:endParaRPr lang="en-US" sz="127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5088"/>
          </a:solidFill>
          <a:ln w="12700">
            <a:solidFill>
              <a:srgbClr val="005088"/>
            </a:solidFill>
            <a:prstDash val="solid"/>
          </a:ln>
        </p:spPr>
      </p:sp>
      <p:sp>
        <p:nvSpPr>
          <p:cNvPr id="3" name="Shape 1"/>
          <p:cNvSpPr/>
          <p:nvPr/>
        </p:nvSpPr>
        <p:spPr>
          <a:xfrm>
            <a:off x="0" y="6729984"/>
            <a:ext cx="12191695" cy="128016"/>
          </a:xfrm>
          <a:prstGeom prst="rect">
            <a:avLst/>
          </a:prstGeom>
          <a:solidFill>
            <a:srgbClr val="005088"/>
          </a:solidFill>
          <a:ln w="12700">
            <a:solidFill>
              <a:srgbClr val="005088"/>
            </a:solidFill>
            <a:prstDash val="solid"/>
          </a:ln>
        </p:spPr>
      </p:sp>
      <p:sp>
        <p:nvSpPr>
          <p:cNvPr id="4" name="Text 2"/>
          <p:cNvSpPr/>
          <p:nvPr/>
        </p:nvSpPr>
        <p:spPr>
          <a:xfrm>
            <a:off x="502920" y="210312"/>
            <a:ext cx="6858000" cy="219456"/>
          </a:xfrm>
          <a:prstGeom prst="rect">
            <a:avLst/>
          </a:prstGeom>
          <a:noFill/>
          <a:ln/>
        </p:spPr>
        <p:txBody>
          <a:bodyPr wrap="square" lIns="0" tIns="0" rIns="0" bIns="0" rtlCol="0" anchor="ctr"/>
          <a:lstStyle/>
          <a:p>
            <a:pPr indent="0" marL="0">
              <a:buNone/>
            </a:pPr>
            <a:r>
              <a:rPr lang="en-US" sz="950" b="1" dirty="0">
                <a:solidFill>
                  <a:srgbClr val="3D5A80"/>
                </a:solidFill>
                <a:latin typeface="Aptos" pitchFamily="34" charset="0"/>
                <a:ea typeface="Aptos" pitchFamily="34" charset="-122"/>
                <a:cs typeface="Aptos" pitchFamily="34" charset="-120"/>
              </a:rPr>
              <a:t>8.2.1 Models for first-order logic</a:t>
            </a:r>
            <a:endParaRPr lang="en-US" sz="950" dirty="0"/>
          </a:p>
        </p:txBody>
      </p:sp>
      <p:sp>
        <p:nvSpPr>
          <p:cNvPr id="5" name="Text 3"/>
          <p:cNvSpPr/>
          <p:nvPr/>
        </p:nvSpPr>
        <p:spPr>
          <a:xfrm>
            <a:off x="11018520" y="201168"/>
            <a:ext cx="640080" cy="228600"/>
          </a:xfrm>
          <a:prstGeom prst="rect">
            <a:avLst/>
          </a:prstGeom>
          <a:noFill/>
          <a:ln/>
        </p:spPr>
        <p:txBody>
          <a:bodyPr wrap="square" lIns="0" tIns="0" rIns="0" bIns="0" rtlCol="0" anchor="ctr"/>
          <a:lstStyle/>
          <a:p>
            <a:pPr algn="r" indent="0" marL="0">
              <a:buNone/>
            </a:pPr>
            <a:r>
              <a:rPr lang="en-US" sz="900" b="1" dirty="0">
                <a:solidFill>
                  <a:srgbClr val="3D5A80"/>
                </a:solidFill>
              </a:rPr>
              <a:t>23</a:t>
            </a:r>
            <a:endParaRPr lang="en-US" sz="900" dirty="0"/>
          </a:p>
        </p:txBody>
      </p:sp>
      <p:sp>
        <p:nvSpPr>
          <p:cNvPr id="6" name="Text 4"/>
          <p:cNvSpPr/>
          <p:nvPr/>
        </p:nvSpPr>
        <p:spPr>
          <a:xfrm>
            <a:off x="502920" y="566928"/>
            <a:ext cx="11201400" cy="512064"/>
          </a:xfrm>
          <a:prstGeom prst="rect">
            <a:avLst/>
          </a:prstGeom>
          <a:noFill/>
          <a:ln/>
        </p:spPr>
        <p:txBody>
          <a:bodyPr wrap="square" lIns="0" tIns="0" rIns="0" bIns="0" rtlCol="0" anchor="ctr">
            <a:normAutofit/>
          </a:bodyPr>
          <a:lstStyle/>
          <a:p>
            <a:pPr indent="0" marL="0">
              <a:buNone/>
            </a:pPr>
            <a:r>
              <a:rPr lang="en-US" sz="2650" b="1" dirty="0">
                <a:solidFill>
                  <a:srgbClr val="005088"/>
                </a:solidFill>
                <a:latin typeface="Aptos Display" pitchFamily="34" charset="0"/>
                <a:ea typeface="Aptos Display" pitchFamily="34" charset="-122"/>
                <a:cs typeface="Aptos Display" pitchFamily="34" charset="-120"/>
              </a:rPr>
              <a:t>MODELS ARE POSSIBLE WORLDS WITH STRUCTURE</a:t>
            </a:r>
            <a:endParaRPr lang="en-US" sz="2650" dirty="0"/>
          </a:p>
        </p:txBody>
      </p:sp>
      <p:sp>
        <p:nvSpPr>
          <p:cNvPr id="7" name="Shape 5"/>
          <p:cNvSpPr/>
          <p:nvPr/>
        </p:nvSpPr>
        <p:spPr>
          <a:xfrm>
            <a:off x="502920" y="1188720"/>
            <a:ext cx="11109960" cy="0"/>
          </a:xfrm>
          <a:prstGeom prst="line">
            <a:avLst/>
          </a:prstGeom>
          <a:noFill/>
          <a:ln w="12700">
            <a:solidFill>
              <a:srgbClr val="3D5A80"/>
            </a:solidFill>
            <a:prstDash val="solid"/>
          </a:ln>
        </p:spPr>
      </p:sp>
      <p:sp>
        <p:nvSpPr>
          <p:cNvPr id="8" name="Text 6"/>
          <p:cNvSpPr/>
          <p:nvPr/>
        </p:nvSpPr>
        <p:spPr>
          <a:xfrm>
            <a:off x="685800" y="1536192"/>
            <a:ext cx="5074920" cy="4251960"/>
          </a:xfrm>
          <a:prstGeom prst="rect">
            <a:avLst/>
          </a:prstGeom>
          <a:noFill/>
          <a:ln/>
        </p:spPr>
        <p:txBody>
          <a:bodyPr wrap="square" lIns="1016" tIns="1016" rIns="1016" bIns="1016" rtlCol="0" anchor="t">
            <a:normAutofit/>
          </a:bodyPr>
          <a:lstStyle/>
          <a:p>
            <a:pPr indent="0" marL="0">
              <a:buNone/>
            </a:pPr>
            <a:r>
              <a:rPr lang="en-US" sz="1580" dirty="0">
                <a:solidFill>
                  <a:srgbClr val="1E293B"/>
                </a:solidFill>
                <a:latin typeface="Aptos" pitchFamily="34" charset="0"/>
                <a:ea typeface="Aptos" pitchFamily="34" charset="-122"/>
                <a:cs typeface="Aptos" pitchFamily="34" charset="-120"/>
              </a:rPr>
              <a:t>• A model contains objects</a:t>
            </a:r>
            <a:endParaRPr lang="en-US" sz="1580" dirty="0"/>
          </a:p>
          <a:p>
            <a:pPr indent="0" marL="0">
              <a:buNone/>
            </a:pPr>
            <a:r>
              <a:rPr lang="en-US" sz="1580" dirty="0">
                <a:solidFill>
                  <a:srgbClr val="1E293B"/>
                </a:solidFill>
                <a:latin typeface="Aptos" pitchFamily="34" charset="0"/>
                <a:ea typeface="Aptos" pitchFamily="34" charset="-122"/>
                <a:cs typeface="Aptos" pitchFamily="34" charset="-120"/>
              </a:rPr>
              <a:t>• Objects can have properties</a:t>
            </a:r>
            <a:endParaRPr lang="en-US" sz="1580" dirty="0"/>
          </a:p>
          <a:p>
            <a:pPr indent="0" marL="0">
              <a:buNone/>
            </a:pPr>
            <a:r>
              <a:rPr lang="en-US" sz="1580" dirty="0">
                <a:solidFill>
                  <a:srgbClr val="1E293B"/>
                </a:solidFill>
                <a:latin typeface="Aptos" pitchFamily="34" charset="0"/>
                <a:ea typeface="Aptos" pitchFamily="34" charset="-122"/>
                <a:cs typeface="Aptos" pitchFamily="34" charset="-120"/>
              </a:rPr>
              <a:t>• Objects can participate in relations</a:t>
            </a:r>
            <a:endParaRPr lang="en-US" sz="1580" dirty="0"/>
          </a:p>
          <a:p>
            <a:pPr indent="0" marL="0">
              <a:buNone/>
            </a:pPr>
            <a:r>
              <a:rPr lang="en-US" sz="1580" dirty="0">
                <a:solidFill>
                  <a:srgbClr val="1E293B"/>
                </a:solidFill>
                <a:latin typeface="Aptos" pitchFamily="34" charset="0"/>
                <a:ea typeface="Aptos" pitchFamily="34" charset="-122"/>
                <a:cs typeface="Aptos" pitchFamily="34" charset="-120"/>
              </a:rPr>
              <a:t>• Functions map input objects to output objects</a:t>
            </a:r>
            <a:endParaRPr lang="en-US" sz="1580" dirty="0"/>
          </a:p>
        </p:txBody>
      </p:sp>
      <p:sp>
        <p:nvSpPr>
          <p:cNvPr id="9" name="Shape 7"/>
          <p:cNvSpPr/>
          <p:nvPr/>
        </p:nvSpPr>
        <p:spPr>
          <a:xfrm>
            <a:off x="6044184" y="1472184"/>
            <a:ext cx="5513832" cy="4050792"/>
          </a:xfrm>
          <a:prstGeom prst="roundRect">
            <a:avLst>
              <a:gd name="adj" fmla="val 1580"/>
            </a:avLst>
          </a:prstGeom>
          <a:solidFill>
            <a:srgbClr val="FFFFFF"/>
          </a:solidFill>
          <a:ln w="12700">
            <a:solidFill>
              <a:srgbClr val="CBD5E1"/>
            </a:solidFill>
            <a:prstDash val="solid"/>
          </a:ln>
        </p:spPr>
      </p:sp>
      <p:pic>
        <p:nvPicPr>
          <p:cNvPr id="10" name="Image 0" descr="/mnt/data/ch8_ppt_assets/fig8_2_model.png">    </p:cNvPr>
          <p:cNvPicPr>
            <a:picLocks noChangeAspect="1"/>
          </p:cNvPicPr>
          <p:nvPr/>
        </p:nvPicPr>
        <p:blipFill>
          <a:blip r:embed="rId1"/>
          <a:stretch>
            <a:fillRect/>
          </a:stretch>
        </p:blipFill>
        <p:spPr>
          <a:xfrm>
            <a:off x="6080760" y="1585262"/>
            <a:ext cx="5440680" cy="3824636"/>
          </a:xfrm>
          <a:prstGeom prst="rect">
            <a:avLst/>
          </a:prstGeom>
        </p:spPr>
      </p:pic>
      <p:sp>
        <p:nvSpPr>
          <p:cNvPr id="11" name="Text 8"/>
          <p:cNvSpPr/>
          <p:nvPr/>
        </p:nvSpPr>
        <p:spPr>
          <a:xfrm>
            <a:off x="6080760" y="5559552"/>
            <a:ext cx="5440680" cy="320040"/>
          </a:xfrm>
          <a:prstGeom prst="rect">
            <a:avLst/>
          </a:prstGeom>
          <a:noFill/>
          <a:ln/>
        </p:spPr>
        <p:txBody>
          <a:bodyPr wrap="square" lIns="0" tIns="0" rIns="0" bIns="0" rtlCol="0" anchor="ctr">
            <a:normAutofit/>
          </a:bodyPr>
          <a:lstStyle/>
          <a:p>
            <a:pPr indent="0" marL="0">
              <a:buNone/>
            </a:pPr>
            <a:r>
              <a:rPr lang="en-US" sz="1030" i="1" dirty="0">
                <a:solidFill>
                  <a:srgbClr val="64748B"/>
                </a:solidFill>
              </a:rPr>
              <a:t>Figure 8.2: a model with Richard, John, a crown, relations, properties, and a left-leg function.</a:t>
            </a:r>
            <a:endParaRPr lang="en-US" sz="103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5088"/>
          </a:solidFill>
          <a:ln w="12700">
            <a:solidFill>
              <a:srgbClr val="005088"/>
            </a:solidFill>
            <a:prstDash val="solid"/>
          </a:ln>
        </p:spPr>
      </p:sp>
      <p:sp>
        <p:nvSpPr>
          <p:cNvPr id="3" name="Shape 1"/>
          <p:cNvSpPr/>
          <p:nvPr/>
        </p:nvSpPr>
        <p:spPr>
          <a:xfrm>
            <a:off x="0" y="6729984"/>
            <a:ext cx="12191695" cy="128016"/>
          </a:xfrm>
          <a:prstGeom prst="rect">
            <a:avLst/>
          </a:prstGeom>
          <a:solidFill>
            <a:srgbClr val="005088"/>
          </a:solidFill>
          <a:ln w="12700">
            <a:solidFill>
              <a:srgbClr val="005088"/>
            </a:solidFill>
            <a:prstDash val="solid"/>
          </a:ln>
        </p:spPr>
      </p:sp>
      <p:sp>
        <p:nvSpPr>
          <p:cNvPr id="4" name="Text 2"/>
          <p:cNvSpPr/>
          <p:nvPr/>
        </p:nvSpPr>
        <p:spPr>
          <a:xfrm>
            <a:off x="502920" y="210312"/>
            <a:ext cx="6858000" cy="219456"/>
          </a:xfrm>
          <a:prstGeom prst="rect">
            <a:avLst/>
          </a:prstGeom>
          <a:noFill/>
          <a:ln/>
        </p:spPr>
        <p:txBody>
          <a:bodyPr wrap="square" lIns="0" tIns="0" rIns="0" bIns="0" rtlCol="0" anchor="ctr"/>
          <a:lstStyle/>
          <a:p>
            <a:pPr indent="0" marL="0">
              <a:buNone/>
            </a:pPr>
            <a:r>
              <a:rPr lang="en-US" sz="950" b="1" dirty="0">
                <a:solidFill>
                  <a:srgbClr val="3D5A80"/>
                </a:solidFill>
                <a:latin typeface="Aptos" pitchFamily="34" charset="0"/>
                <a:ea typeface="Aptos" pitchFamily="34" charset="-122"/>
                <a:cs typeface="Aptos" pitchFamily="34" charset="-120"/>
              </a:rPr>
              <a:t>8.2.1 Models for first-order logic</a:t>
            </a:r>
            <a:endParaRPr lang="en-US" sz="950" dirty="0"/>
          </a:p>
        </p:txBody>
      </p:sp>
      <p:sp>
        <p:nvSpPr>
          <p:cNvPr id="5" name="Text 3"/>
          <p:cNvSpPr/>
          <p:nvPr/>
        </p:nvSpPr>
        <p:spPr>
          <a:xfrm>
            <a:off x="11018520" y="201168"/>
            <a:ext cx="640080" cy="228600"/>
          </a:xfrm>
          <a:prstGeom prst="rect">
            <a:avLst/>
          </a:prstGeom>
          <a:noFill/>
          <a:ln/>
        </p:spPr>
        <p:txBody>
          <a:bodyPr wrap="square" lIns="0" tIns="0" rIns="0" bIns="0" rtlCol="0" anchor="ctr"/>
          <a:lstStyle/>
          <a:p>
            <a:pPr algn="r" indent="0" marL="0">
              <a:buNone/>
            </a:pPr>
            <a:r>
              <a:rPr lang="en-US" sz="900" b="1" dirty="0">
                <a:solidFill>
                  <a:srgbClr val="3D5A80"/>
                </a:solidFill>
              </a:rPr>
              <a:t>24</a:t>
            </a:r>
            <a:endParaRPr lang="en-US" sz="900" dirty="0"/>
          </a:p>
        </p:txBody>
      </p:sp>
      <p:sp>
        <p:nvSpPr>
          <p:cNvPr id="6" name="Text 4"/>
          <p:cNvSpPr/>
          <p:nvPr/>
        </p:nvSpPr>
        <p:spPr>
          <a:xfrm>
            <a:off x="502920" y="566928"/>
            <a:ext cx="11201400" cy="512064"/>
          </a:xfrm>
          <a:prstGeom prst="rect">
            <a:avLst/>
          </a:prstGeom>
          <a:noFill/>
          <a:ln/>
        </p:spPr>
        <p:txBody>
          <a:bodyPr wrap="square" lIns="0" tIns="0" rIns="0" bIns="0" rtlCol="0" anchor="ctr">
            <a:normAutofit/>
          </a:bodyPr>
          <a:lstStyle/>
          <a:p>
            <a:pPr indent="0" marL="0">
              <a:buNone/>
            </a:pPr>
            <a:r>
              <a:rPr lang="en-US" sz="2650" b="1" dirty="0">
                <a:solidFill>
                  <a:srgbClr val="005088"/>
                </a:solidFill>
                <a:latin typeface="Aptos Display" pitchFamily="34" charset="0"/>
                <a:ea typeface="Aptos Display" pitchFamily="34" charset="-122"/>
                <a:cs typeface="Aptos Display" pitchFamily="34" charset="-120"/>
              </a:rPr>
              <a:t>THE DOMAIN IS THE UNIVERSE OF OBJECTS</a:t>
            </a:r>
            <a:endParaRPr lang="en-US" sz="2650" dirty="0"/>
          </a:p>
        </p:txBody>
      </p:sp>
      <p:sp>
        <p:nvSpPr>
          <p:cNvPr id="7" name="Shape 5"/>
          <p:cNvSpPr/>
          <p:nvPr/>
        </p:nvSpPr>
        <p:spPr>
          <a:xfrm>
            <a:off x="502920" y="1188720"/>
            <a:ext cx="11109960" cy="0"/>
          </a:xfrm>
          <a:prstGeom prst="line">
            <a:avLst/>
          </a:prstGeom>
          <a:noFill/>
          <a:ln w="12700">
            <a:solidFill>
              <a:srgbClr val="3D5A80"/>
            </a:solidFill>
            <a:prstDash val="solid"/>
          </a:ln>
        </p:spPr>
      </p:sp>
      <p:sp>
        <p:nvSpPr>
          <p:cNvPr id="8" name="Text 6"/>
          <p:cNvSpPr/>
          <p:nvPr/>
        </p:nvSpPr>
        <p:spPr>
          <a:xfrm>
            <a:off x="713232" y="1572768"/>
            <a:ext cx="5440680" cy="4251960"/>
          </a:xfrm>
          <a:prstGeom prst="rect">
            <a:avLst/>
          </a:prstGeom>
          <a:noFill/>
          <a:ln/>
        </p:spPr>
        <p:txBody>
          <a:bodyPr wrap="square" lIns="1016" tIns="1016" rIns="1016" bIns="1016" rtlCol="0" anchor="t">
            <a:normAutofit/>
          </a:bodyPr>
          <a:lstStyle/>
          <a:p>
            <a:pPr indent="0" marL="0">
              <a:buNone/>
            </a:pPr>
            <a:r>
              <a:rPr lang="en-US" sz="1650" dirty="0">
                <a:solidFill>
                  <a:srgbClr val="1E293B"/>
                </a:solidFill>
                <a:latin typeface="Aptos" pitchFamily="34" charset="0"/>
                <a:ea typeface="Aptos" pitchFamily="34" charset="-122"/>
                <a:cs typeface="Aptos" pitchFamily="34" charset="-120"/>
              </a:rPr>
              <a:t>• Every first-order logic model has a nonempty domain</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The domain contains the objects in that possible world</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Some objects may have names</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Some objects may be unnamed</a:t>
            </a:r>
            <a:endParaRPr lang="en-US" sz="1650" dirty="0"/>
          </a:p>
        </p:txBody>
      </p:sp>
      <p:sp>
        <p:nvSpPr>
          <p:cNvPr id="9" name="Shape 7"/>
          <p:cNvSpPr/>
          <p:nvPr/>
        </p:nvSpPr>
        <p:spPr>
          <a:xfrm>
            <a:off x="6446520" y="1572768"/>
            <a:ext cx="5074920" cy="1234440"/>
          </a:xfrm>
          <a:prstGeom prst="roundRect">
            <a:avLst>
              <a:gd name="adj" fmla="val 5926"/>
            </a:avLst>
          </a:prstGeom>
          <a:solidFill>
            <a:srgbClr val="FFF6D9"/>
          </a:solidFill>
          <a:ln w="12700">
            <a:solidFill>
              <a:srgbClr val="F4A261"/>
            </a:solidFill>
            <a:prstDash val="solid"/>
          </a:ln>
        </p:spPr>
      </p:sp>
      <p:sp>
        <p:nvSpPr>
          <p:cNvPr id="10" name="Text 8"/>
          <p:cNvSpPr/>
          <p:nvPr/>
        </p:nvSpPr>
        <p:spPr>
          <a:xfrm>
            <a:off x="6629400" y="1709928"/>
            <a:ext cx="4709160" cy="219456"/>
          </a:xfrm>
          <a:prstGeom prst="rect">
            <a:avLst/>
          </a:prstGeom>
          <a:noFill/>
          <a:ln/>
        </p:spPr>
        <p:txBody>
          <a:bodyPr wrap="square" lIns="0" tIns="0" rIns="0" bIns="0" rtlCol="0" anchor="ctr"/>
          <a:lstStyle/>
          <a:p>
            <a:pPr indent="0" marL="0">
              <a:buNone/>
            </a:pPr>
            <a:r>
              <a:rPr lang="en-US" sz="950" b="1" dirty="0">
                <a:solidFill>
                  <a:srgbClr val="B0005D"/>
                </a:solidFill>
              </a:rPr>
              <a:t>ANALOGY</a:t>
            </a:r>
            <a:endParaRPr lang="en-US" sz="950" dirty="0"/>
          </a:p>
        </p:txBody>
      </p:sp>
      <p:sp>
        <p:nvSpPr>
          <p:cNvPr id="11" name="Text 9"/>
          <p:cNvSpPr/>
          <p:nvPr/>
        </p:nvSpPr>
        <p:spPr>
          <a:xfrm>
            <a:off x="6629400" y="1984248"/>
            <a:ext cx="4709160" cy="731520"/>
          </a:xfrm>
          <a:prstGeom prst="rect">
            <a:avLst/>
          </a:prstGeom>
          <a:noFill/>
          <a:ln/>
        </p:spPr>
        <p:txBody>
          <a:bodyPr wrap="square" lIns="254" tIns="254" rIns="254" bIns="254" rtlCol="0" anchor="t">
            <a:normAutofit/>
          </a:bodyPr>
          <a:lstStyle/>
          <a:p>
            <a:pPr indent="0" marL="0">
              <a:buNone/>
            </a:pPr>
            <a:r>
              <a:rPr lang="en-US" sz="1330" dirty="0">
                <a:solidFill>
                  <a:srgbClr val="1E293B"/>
                </a:solidFill>
              </a:rPr>
              <a:t>The domain is the cast list of a play. Some characters have speaking roles and names; extras may still exist on stage.</a:t>
            </a:r>
            <a:endParaRPr lang="en-US" sz="1330" dirty="0"/>
          </a:p>
        </p:txBody>
      </p:sp>
      <p:sp>
        <p:nvSpPr>
          <p:cNvPr id="12" name="Shape 10"/>
          <p:cNvSpPr/>
          <p:nvPr/>
        </p:nvSpPr>
        <p:spPr>
          <a:xfrm>
            <a:off x="6446520" y="2999232"/>
            <a:ext cx="5074920" cy="841248"/>
          </a:xfrm>
          <a:prstGeom prst="roundRect">
            <a:avLst>
              <a:gd name="adj" fmla="val 8696"/>
            </a:avLst>
          </a:prstGeom>
          <a:solidFill>
            <a:srgbClr val="FFFFFF">
              <a:alpha val="97000"/>
            </a:srgbClr>
          </a:solidFill>
          <a:ln w="12700">
            <a:solidFill>
              <a:srgbClr val="007C89"/>
            </a:solidFill>
            <a:prstDash val="solid"/>
          </a:ln>
        </p:spPr>
      </p:sp>
      <p:sp>
        <p:nvSpPr>
          <p:cNvPr id="13" name="Text 11"/>
          <p:cNvSpPr/>
          <p:nvPr/>
        </p:nvSpPr>
        <p:spPr>
          <a:xfrm>
            <a:off x="6611112" y="3127248"/>
            <a:ext cx="4745736" cy="658368"/>
          </a:xfrm>
          <a:prstGeom prst="rect">
            <a:avLst/>
          </a:prstGeom>
          <a:noFill/>
          <a:ln/>
        </p:spPr>
        <p:txBody>
          <a:bodyPr wrap="square" lIns="0" tIns="0" rIns="0" bIns="0" rtlCol="0" anchor="ctr">
            <a:normAutofit/>
          </a:bodyPr>
          <a:lstStyle/>
          <a:p>
            <a:pPr algn="ctr" indent="0" marL="0">
              <a:buNone/>
            </a:pPr>
            <a:r>
              <a:rPr lang="en-US" sz="1800" b="1" dirty="0">
                <a:solidFill>
                  <a:srgbClr val="005088"/>
                </a:solidFill>
                <a:latin typeface="Cambria Math" pitchFamily="34" charset="0"/>
                <a:ea typeface="Cambria Math" pitchFamily="34" charset="-122"/>
                <a:cs typeface="Cambria Math" pitchFamily="34" charset="-120"/>
              </a:rPr>
              <a:t>Domain = {objects in one possible world}</a:t>
            </a:r>
            <a:endParaRPr lang="en-US" sz="1800" dirty="0"/>
          </a:p>
        </p:txBody>
      </p:sp>
      <p:sp>
        <p:nvSpPr>
          <p:cNvPr id="14" name="Shape 12"/>
          <p:cNvSpPr/>
          <p:nvPr/>
        </p:nvSpPr>
        <p:spPr>
          <a:xfrm>
            <a:off x="6446520" y="4041648"/>
            <a:ext cx="5074920" cy="859536"/>
          </a:xfrm>
          <a:prstGeom prst="roundRect">
            <a:avLst>
              <a:gd name="adj" fmla="val 8511"/>
            </a:avLst>
          </a:prstGeom>
          <a:solidFill>
            <a:srgbClr val="FFE4E6"/>
          </a:solidFill>
          <a:ln w="12700">
            <a:solidFill>
              <a:srgbClr val="FDA4AF"/>
            </a:solidFill>
            <a:prstDash val="solid"/>
          </a:ln>
        </p:spPr>
      </p:sp>
      <p:sp>
        <p:nvSpPr>
          <p:cNvPr id="15" name="Text 13"/>
          <p:cNvSpPr/>
          <p:nvPr/>
        </p:nvSpPr>
        <p:spPr>
          <a:xfrm>
            <a:off x="6629400" y="4178808"/>
            <a:ext cx="4709160" cy="219456"/>
          </a:xfrm>
          <a:prstGeom prst="rect">
            <a:avLst/>
          </a:prstGeom>
          <a:noFill/>
          <a:ln/>
        </p:spPr>
        <p:txBody>
          <a:bodyPr wrap="square" lIns="0" tIns="0" rIns="0" bIns="0" rtlCol="0" anchor="ctr"/>
          <a:lstStyle/>
          <a:p>
            <a:pPr indent="0" marL="0">
              <a:buNone/>
            </a:pPr>
            <a:r>
              <a:rPr lang="en-US" sz="950" b="1" dirty="0">
                <a:solidFill>
                  <a:srgbClr val="C1121F"/>
                </a:solidFill>
              </a:rPr>
              <a:t>STUDENT GOTCHA</a:t>
            </a:r>
            <a:endParaRPr lang="en-US" sz="950" dirty="0"/>
          </a:p>
        </p:txBody>
      </p:sp>
      <p:sp>
        <p:nvSpPr>
          <p:cNvPr id="16" name="Text 14"/>
          <p:cNvSpPr/>
          <p:nvPr/>
        </p:nvSpPr>
        <p:spPr>
          <a:xfrm>
            <a:off x="6629400" y="4453128"/>
            <a:ext cx="4709160" cy="356616"/>
          </a:xfrm>
          <a:prstGeom prst="rect">
            <a:avLst/>
          </a:prstGeom>
          <a:noFill/>
          <a:ln/>
        </p:spPr>
        <p:txBody>
          <a:bodyPr wrap="square" lIns="254" tIns="254" rIns="254" bIns="254" rtlCol="0" anchor="t">
            <a:normAutofit/>
          </a:bodyPr>
          <a:lstStyle/>
          <a:p>
            <a:pPr indent="0" marL="0">
              <a:buNone/>
            </a:pPr>
            <a:r>
              <a:rPr lang="en-US" sz="1250" dirty="0">
                <a:solidFill>
                  <a:srgbClr val="1E293B"/>
                </a:solidFill>
              </a:rPr>
              <a:t>Standard first-order logic does not require every object to have a name.</a:t>
            </a:r>
            <a:endParaRPr lang="en-US" sz="1250" dirty="0"/>
          </a:p>
        </p:txBody>
      </p:sp>
      <p:sp>
        <p:nvSpPr>
          <p:cNvPr id="17" name="Shape 15"/>
          <p:cNvSpPr/>
          <p:nvPr/>
        </p:nvSpPr>
        <p:spPr>
          <a:xfrm>
            <a:off x="6446520" y="5074920"/>
            <a:ext cx="5074920" cy="841248"/>
          </a:xfrm>
          <a:prstGeom prst="roundRect">
            <a:avLst>
              <a:gd name="adj" fmla="val 8696"/>
            </a:avLst>
          </a:prstGeom>
          <a:solidFill>
            <a:srgbClr val="E6FFFA"/>
          </a:solidFill>
          <a:ln w="12700">
            <a:solidFill>
              <a:srgbClr val="2A9D8F"/>
            </a:solidFill>
            <a:prstDash val="solid"/>
          </a:ln>
        </p:spPr>
      </p:sp>
      <p:sp>
        <p:nvSpPr>
          <p:cNvPr id="18" name="Text 16"/>
          <p:cNvSpPr/>
          <p:nvPr/>
        </p:nvSpPr>
        <p:spPr>
          <a:xfrm>
            <a:off x="6629400" y="5212080"/>
            <a:ext cx="4709160" cy="219456"/>
          </a:xfrm>
          <a:prstGeom prst="rect">
            <a:avLst/>
          </a:prstGeom>
          <a:noFill/>
          <a:ln/>
        </p:spPr>
        <p:txBody>
          <a:bodyPr wrap="square" lIns="0" tIns="0" rIns="0" bIns="0" rtlCol="0" anchor="ctr"/>
          <a:lstStyle/>
          <a:p>
            <a:pPr indent="0" marL="0">
              <a:buNone/>
            </a:pPr>
            <a:r>
              <a:rPr lang="en-US" sz="950" b="1" dirty="0">
                <a:solidFill>
                  <a:srgbClr val="007C89"/>
                </a:solidFill>
              </a:rPr>
              <a:t>CLASS CHECK</a:t>
            </a:r>
            <a:endParaRPr lang="en-US" sz="950" dirty="0"/>
          </a:p>
        </p:txBody>
      </p:sp>
      <p:sp>
        <p:nvSpPr>
          <p:cNvPr id="19" name="Text 17"/>
          <p:cNvSpPr/>
          <p:nvPr/>
        </p:nvSpPr>
        <p:spPr>
          <a:xfrm>
            <a:off x="6629400" y="5486400"/>
            <a:ext cx="4709160" cy="338328"/>
          </a:xfrm>
          <a:prstGeom prst="rect">
            <a:avLst/>
          </a:prstGeom>
          <a:noFill/>
          <a:ln/>
        </p:spPr>
        <p:txBody>
          <a:bodyPr wrap="square" lIns="254" tIns="254" rIns="254" bIns="254" rtlCol="0" anchor="t">
            <a:normAutofit/>
          </a:bodyPr>
          <a:lstStyle/>
          <a:p>
            <a:pPr indent="0" marL="0">
              <a:buNone/>
            </a:pPr>
            <a:r>
              <a:rPr lang="en-US" sz="1270" dirty="0">
                <a:solidFill>
                  <a:srgbClr val="1E293B"/>
                </a:solidFill>
              </a:rPr>
              <a:t>Ask: Can an object exist in the model even if no constant symbol names it?</a:t>
            </a:r>
            <a:endParaRPr lang="en-US" sz="127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5088"/>
          </a:solidFill>
          <a:ln w="12700">
            <a:solidFill>
              <a:srgbClr val="005088"/>
            </a:solidFill>
            <a:prstDash val="solid"/>
          </a:ln>
        </p:spPr>
      </p:sp>
      <p:sp>
        <p:nvSpPr>
          <p:cNvPr id="3" name="Shape 1"/>
          <p:cNvSpPr/>
          <p:nvPr/>
        </p:nvSpPr>
        <p:spPr>
          <a:xfrm>
            <a:off x="0" y="6729984"/>
            <a:ext cx="12191695" cy="128016"/>
          </a:xfrm>
          <a:prstGeom prst="rect">
            <a:avLst/>
          </a:prstGeom>
          <a:solidFill>
            <a:srgbClr val="005088"/>
          </a:solidFill>
          <a:ln w="12700">
            <a:solidFill>
              <a:srgbClr val="005088"/>
            </a:solidFill>
            <a:prstDash val="solid"/>
          </a:ln>
        </p:spPr>
      </p:sp>
      <p:sp>
        <p:nvSpPr>
          <p:cNvPr id="4" name="Text 2"/>
          <p:cNvSpPr/>
          <p:nvPr/>
        </p:nvSpPr>
        <p:spPr>
          <a:xfrm>
            <a:off x="502920" y="210312"/>
            <a:ext cx="6858000" cy="219456"/>
          </a:xfrm>
          <a:prstGeom prst="rect">
            <a:avLst/>
          </a:prstGeom>
          <a:noFill/>
          <a:ln/>
        </p:spPr>
        <p:txBody>
          <a:bodyPr wrap="square" lIns="0" tIns="0" rIns="0" bIns="0" rtlCol="0" anchor="ctr"/>
          <a:lstStyle/>
          <a:p>
            <a:pPr indent="0" marL="0">
              <a:buNone/>
            </a:pPr>
            <a:r>
              <a:rPr lang="en-US" sz="950" b="1" dirty="0">
                <a:solidFill>
                  <a:srgbClr val="3D5A80"/>
                </a:solidFill>
                <a:latin typeface="Aptos" pitchFamily="34" charset="0"/>
                <a:ea typeface="Aptos" pitchFamily="34" charset="-122"/>
                <a:cs typeface="Aptos" pitchFamily="34" charset="-120"/>
              </a:rPr>
              <a:t>8.2.1 Models for first-order logic</a:t>
            </a:r>
            <a:endParaRPr lang="en-US" sz="950" dirty="0"/>
          </a:p>
        </p:txBody>
      </p:sp>
      <p:sp>
        <p:nvSpPr>
          <p:cNvPr id="5" name="Text 3"/>
          <p:cNvSpPr/>
          <p:nvPr/>
        </p:nvSpPr>
        <p:spPr>
          <a:xfrm>
            <a:off x="11018520" y="201168"/>
            <a:ext cx="640080" cy="228600"/>
          </a:xfrm>
          <a:prstGeom prst="rect">
            <a:avLst/>
          </a:prstGeom>
          <a:noFill/>
          <a:ln/>
        </p:spPr>
        <p:txBody>
          <a:bodyPr wrap="square" lIns="0" tIns="0" rIns="0" bIns="0" rtlCol="0" anchor="ctr"/>
          <a:lstStyle/>
          <a:p>
            <a:pPr algn="r" indent="0" marL="0">
              <a:buNone/>
            </a:pPr>
            <a:r>
              <a:rPr lang="en-US" sz="900" b="1" dirty="0">
                <a:solidFill>
                  <a:srgbClr val="3D5A80"/>
                </a:solidFill>
              </a:rPr>
              <a:t>25</a:t>
            </a:r>
            <a:endParaRPr lang="en-US" sz="900" dirty="0"/>
          </a:p>
        </p:txBody>
      </p:sp>
      <p:sp>
        <p:nvSpPr>
          <p:cNvPr id="6" name="Text 4"/>
          <p:cNvSpPr/>
          <p:nvPr/>
        </p:nvSpPr>
        <p:spPr>
          <a:xfrm>
            <a:off x="502920" y="566928"/>
            <a:ext cx="11201400" cy="512064"/>
          </a:xfrm>
          <a:prstGeom prst="rect">
            <a:avLst/>
          </a:prstGeom>
          <a:noFill/>
          <a:ln/>
        </p:spPr>
        <p:txBody>
          <a:bodyPr wrap="square" lIns="0" tIns="0" rIns="0" bIns="0" rtlCol="0" anchor="ctr">
            <a:normAutofit/>
          </a:bodyPr>
          <a:lstStyle/>
          <a:p>
            <a:pPr indent="0" marL="0">
              <a:buNone/>
            </a:pPr>
            <a:r>
              <a:rPr lang="en-US" sz="2650" b="1" dirty="0">
                <a:solidFill>
                  <a:srgbClr val="005088"/>
                </a:solidFill>
                <a:latin typeface="Aptos Display" pitchFamily="34" charset="0"/>
                <a:ea typeface="Aptos Display" pitchFamily="34" charset="-122"/>
                <a:cs typeface="Aptos Display" pitchFamily="34" charset="-120"/>
              </a:rPr>
              <a:t>PROPERTIES ARE UNARY RELATIONS</a:t>
            </a:r>
            <a:endParaRPr lang="en-US" sz="2650" dirty="0"/>
          </a:p>
        </p:txBody>
      </p:sp>
      <p:sp>
        <p:nvSpPr>
          <p:cNvPr id="7" name="Shape 5"/>
          <p:cNvSpPr/>
          <p:nvPr/>
        </p:nvSpPr>
        <p:spPr>
          <a:xfrm>
            <a:off x="502920" y="1188720"/>
            <a:ext cx="11109960" cy="0"/>
          </a:xfrm>
          <a:prstGeom prst="line">
            <a:avLst/>
          </a:prstGeom>
          <a:noFill/>
          <a:ln w="12700">
            <a:solidFill>
              <a:srgbClr val="3D5A80"/>
            </a:solidFill>
            <a:prstDash val="solid"/>
          </a:ln>
        </p:spPr>
      </p:sp>
      <p:sp>
        <p:nvSpPr>
          <p:cNvPr id="8" name="Text 6"/>
          <p:cNvSpPr/>
          <p:nvPr/>
        </p:nvSpPr>
        <p:spPr>
          <a:xfrm>
            <a:off x="713232" y="1572768"/>
            <a:ext cx="5440680" cy="4251960"/>
          </a:xfrm>
          <a:prstGeom prst="rect">
            <a:avLst/>
          </a:prstGeom>
          <a:noFill/>
          <a:ln/>
        </p:spPr>
        <p:txBody>
          <a:bodyPr wrap="square" lIns="1016" tIns="1016" rIns="1016" bIns="1016" rtlCol="0" anchor="t">
            <a:normAutofit/>
          </a:bodyPr>
          <a:lstStyle/>
          <a:p>
            <a:pPr indent="0" marL="0">
              <a:buNone/>
            </a:pPr>
            <a:r>
              <a:rPr lang="en-US" sz="1650" dirty="0">
                <a:solidFill>
                  <a:srgbClr val="1E293B"/>
                </a:solidFill>
                <a:latin typeface="Aptos" pitchFamily="34" charset="0"/>
                <a:ea typeface="Aptos" pitchFamily="34" charset="-122"/>
                <a:cs typeface="Aptos" pitchFamily="34" charset="-120"/>
              </a:rPr>
              <a:t>• A unary relation applies to one object</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Person(x) says x is a person</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King(x) says x is a king</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Crown(x) says x is a crown</a:t>
            </a:r>
            <a:endParaRPr lang="en-US" sz="1650" dirty="0"/>
          </a:p>
        </p:txBody>
      </p:sp>
      <p:sp>
        <p:nvSpPr>
          <p:cNvPr id="9" name="Shape 7"/>
          <p:cNvSpPr/>
          <p:nvPr/>
        </p:nvSpPr>
        <p:spPr>
          <a:xfrm>
            <a:off x="6446520" y="1572768"/>
            <a:ext cx="5074920" cy="1234440"/>
          </a:xfrm>
          <a:prstGeom prst="roundRect">
            <a:avLst>
              <a:gd name="adj" fmla="val 5926"/>
            </a:avLst>
          </a:prstGeom>
          <a:solidFill>
            <a:srgbClr val="FFF6D9"/>
          </a:solidFill>
          <a:ln w="12700">
            <a:solidFill>
              <a:srgbClr val="F4A261"/>
            </a:solidFill>
            <a:prstDash val="solid"/>
          </a:ln>
        </p:spPr>
      </p:sp>
      <p:sp>
        <p:nvSpPr>
          <p:cNvPr id="10" name="Text 8"/>
          <p:cNvSpPr/>
          <p:nvPr/>
        </p:nvSpPr>
        <p:spPr>
          <a:xfrm>
            <a:off x="6629400" y="1709928"/>
            <a:ext cx="4709160" cy="219456"/>
          </a:xfrm>
          <a:prstGeom prst="rect">
            <a:avLst/>
          </a:prstGeom>
          <a:noFill/>
          <a:ln/>
        </p:spPr>
        <p:txBody>
          <a:bodyPr wrap="square" lIns="0" tIns="0" rIns="0" bIns="0" rtlCol="0" anchor="ctr"/>
          <a:lstStyle/>
          <a:p>
            <a:pPr indent="0" marL="0">
              <a:buNone/>
            </a:pPr>
            <a:r>
              <a:rPr lang="en-US" sz="950" b="1" dirty="0">
                <a:solidFill>
                  <a:srgbClr val="B0005D"/>
                </a:solidFill>
              </a:rPr>
              <a:t>ANALOGY</a:t>
            </a:r>
            <a:endParaRPr lang="en-US" sz="950" dirty="0"/>
          </a:p>
        </p:txBody>
      </p:sp>
      <p:sp>
        <p:nvSpPr>
          <p:cNvPr id="11" name="Text 9"/>
          <p:cNvSpPr/>
          <p:nvPr/>
        </p:nvSpPr>
        <p:spPr>
          <a:xfrm>
            <a:off x="6629400" y="1984248"/>
            <a:ext cx="4709160" cy="731520"/>
          </a:xfrm>
          <a:prstGeom prst="rect">
            <a:avLst/>
          </a:prstGeom>
          <a:noFill/>
          <a:ln/>
        </p:spPr>
        <p:txBody>
          <a:bodyPr wrap="square" lIns="254" tIns="254" rIns="254" bIns="254" rtlCol="0" anchor="t">
            <a:normAutofit/>
          </a:bodyPr>
          <a:lstStyle/>
          <a:p>
            <a:pPr indent="0" marL="0">
              <a:buNone/>
            </a:pPr>
            <a:r>
              <a:rPr lang="en-US" sz="1330" dirty="0">
                <a:solidFill>
                  <a:srgbClr val="1E293B"/>
                </a:solidFill>
              </a:rPr>
              <a:t>A roster column such as “is enrolled” marks a property of one person at a time.</a:t>
            </a:r>
            <a:endParaRPr lang="en-US" sz="1330" dirty="0"/>
          </a:p>
        </p:txBody>
      </p:sp>
      <p:sp>
        <p:nvSpPr>
          <p:cNvPr id="12" name="Shape 10"/>
          <p:cNvSpPr/>
          <p:nvPr/>
        </p:nvSpPr>
        <p:spPr>
          <a:xfrm>
            <a:off x="6446520" y="2999232"/>
            <a:ext cx="5074920" cy="841248"/>
          </a:xfrm>
          <a:prstGeom prst="roundRect">
            <a:avLst>
              <a:gd name="adj" fmla="val 8696"/>
            </a:avLst>
          </a:prstGeom>
          <a:solidFill>
            <a:srgbClr val="FFFFFF">
              <a:alpha val="97000"/>
            </a:srgbClr>
          </a:solidFill>
          <a:ln w="12700">
            <a:solidFill>
              <a:srgbClr val="007C89"/>
            </a:solidFill>
            <a:prstDash val="solid"/>
          </a:ln>
        </p:spPr>
      </p:sp>
      <p:sp>
        <p:nvSpPr>
          <p:cNvPr id="13" name="Text 11"/>
          <p:cNvSpPr/>
          <p:nvPr/>
        </p:nvSpPr>
        <p:spPr>
          <a:xfrm>
            <a:off x="6611112" y="3127248"/>
            <a:ext cx="4745736" cy="658368"/>
          </a:xfrm>
          <a:prstGeom prst="rect">
            <a:avLst/>
          </a:prstGeom>
          <a:noFill/>
          <a:ln/>
        </p:spPr>
        <p:txBody>
          <a:bodyPr wrap="square" lIns="0" tIns="0" rIns="0" bIns="0" rtlCol="0" anchor="ctr">
            <a:normAutofit/>
          </a:bodyPr>
          <a:lstStyle/>
          <a:p>
            <a:pPr algn="ctr" indent="0" marL="0">
              <a:buNone/>
            </a:pPr>
            <a:r>
              <a:rPr lang="en-US" sz="2200" b="1" dirty="0">
                <a:solidFill>
                  <a:srgbClr val="005088"/>
                </a:solidFill>
                <a:latin typeface="Cambria Math" pitchFamily="34" charset="0"/>
                <a:ea typeface="Cambria Math" pitchFamily="34" charset="-122"/>
                <a:cs typeface="Cambria Math" pitchFamily="34" charset="-120"/>
              </a:rPr>
              <a:t>Person(John)</a:t>
            </a:r>
            <a:endParaRPr lang="en-US" sz="2200" dirty="0"/>
          </a:p>
        </p:txBody>
      </p:sp>
      <p:sp>
        <p:nvSpPr>
          <p:cNvPr id="14" name="Shape 12"/>
          <p:cNvSpPr/>
          <p:nvPr/>
        </p:nvSpPr>
        <p:spPr>
          <a:xfrm>
            <a:off x="6446520" y="4041648"/>
            <a:ext cx="5074920" cy="859536"/>
          </a:xfrm>
          <a:prstGeom prst="roundRect">
            <a:avLst>
              <a:gd name="adj" fmla="val 8511"/>
            </a:avLst>
          </a:prstGeom>
          <a:solidFill>
            <a:srgbClr val="FFE4E6"/>
          </a:solidFill>
          <a:ln w="12700">
            <a:solidFill>
              <a:srgbClr val="FDA4AF"/>
            </a:solidFill>
            <a:prstDash val="solid"/>
          </a:ln>
        </p:spPr>
      </p:sp>
      <p:sp>
        <p:nvSpPr>
          <p:cNvPr id="15" name="Text 13"/>
          <p:cNvSpPr/>
          <p:nvPr/>
        </p:nvSpPr>
        <p:spPr>
          <a:xfrm>
            <a:off x="6629400" y="4178808"/>
            <a:ext cx="4709160" cy="219456"/>
          </a:xfrm>
          <a:prstGeom prst="rect">
            <a:avLst/>
          </a:prstGeom>
          <a:noFill/>
          <a:ln/>
        </p:spPr>
        <p:txBody>
          <a:bodyPr wrap="square" lIns="0" tIns="0" rIns="0" bIns="0" rtlCol="0" anchor="ctr"/>
          <a:lstStyle/>
          <a:p>
            <a:pPr indent="0" marL="0">
              <a:buNone/>
            </a:pPr>
            <a:r>
              <a:rPr lang="en-US" sz="950" b="1" dirty="0">
                <a:solidFill>
                  <a:srgbClr val="C1121F"/>
                </a:solidFill>
              </a:rPr>
              <a:t>STUDENT GOTCHA</a:t>
            </a:r>
            <a:endParaRPr lang="en-US" sz="950" dirty="0"/>
          </a:p>
        </p:txBody>
      </p:sp>
      <p:sp>
        <p:nvSpPr>
          <p:cNvPr id="16" name="Text 14"/>
          <p:cNvSpPr/>
          <p:nvPr/>
        </p:nvSpPr>
        <p:spPr>
          <a:xfrm>
            <a:off x="6629400" y="4453128"/>
            <a:ext cx="4709160" cy="356616"/>
          </a:xfrm>
          <a:prstGeom prst="rect">
            <a:avLst/>
          </a:prstGeom>
          <a:noFill/>
          <a:ln/>
        </p:spPr>
        <p:txBody>
          <a:bodyPr wrap="square" lIns="254" tIns="254" rIns="254" bIns="254" rtlCol="0" anchor="t">
            <a:normAutofit/>
          </a:bodyPr>
          <a:lstStyle/>
          <a:p>
            <a:pPr indent="0" marL="0">
              <a:buNone/>
            </a:pPr>
            <a:r>
              <a:rPr lang="en-US" sz="1250" dirty="0">
                <a:solidFill>
                  <a:srgbClr val="1E293B"/>
                </a:solidFill>
              </a:rPr>
              <a:t>Unary relation and property are two names for the same idea in this chapter context.</a:t>
            </a:r>
            <a:endParaRPr lang="en-US" sz="1250" dirty="0"/>
          </a:p>
        </p:txBody>
      </p:sp>
      <p:sp>
        <p:nvSpPr>
          <p:cNvPr id="17" name="Shape 15"/>
          <p:cNvSpPr/>
          <p:nvPr/>
        </p:nvSpPr>
        <p:spPr>
          <a:xfrm>
            <a:off x="6446520" y="5074920"/>
            <a:ext cx="5074920" cy="841248"/>
          </a:xfrm>
          <a:prstGeom prst="roundRect">
            <a:avLst>
              <a:gd name="adj" fmla="val 8696"/>
            </a:avLst>
          </a:prstGeom>
          <a:solidFill>
            <a:srgbClr val="E6FFFA"/>
          </a:solidFill>
          <a:ln w="12700">
            <a:solidFill>
              <a:srgbClr val="2A9D8F"/>
            </a:solidFill>
            <a:prstDash val="solid"/>
          </a:ln>
        </p:spPr>
      </p:sp>
      <p:sp>
        <p:nvSpPr>
          <p:cNvPr id="18" name="Text 16"/>
          <p:cNvSpPr/>
          <p:nvPr/>
        </p:nvSpPr>
        <p:spPr>
          <a:xfrm>
            <a:off x="6629400" y="5212080"/>
            <a:ext cx="4709160" cy="219456"/>
          </a:xfrm>
          <a:prstGeom prst="rect">
            <a:avLst/>
          </a:prstGeom>
          <a:noFill/>
          <a:ln/>
        </p:spPr>
        <p:txBody>
          <a:bodyPr wrap="square" lIns="0" tIns="0" rIns="0" bIns="0" rtlCol="0" anchor="ctr"/>
          <a:lstStyle/>
          <a:p>
            <a:pPr indent="0" marL="0">
              <a:buNone/>
            </a:pPr>
            <a:r>
              <a:rPr lang="en-US" sz="950" b="1" dirty="0">
                <a:solidFill>
                  <a:srgbClr val="007C89"/>
                </a:solidFill>
              </a:rPr>
              <a:t>CLASS CHECK</a:t>
            </a:r>
            <a:endParaRPr lang="en-US" sz="950" dirty="0"/>
          </a:p>
        </p:txBody>
      </p:sp>
      <p:sp>
        <p:nvSpPr>
          <p:cNvPr id="19" name="Text 17"/>
          <p:cNvSpPr/>
          <p:nvPr/>
        </p:nvSpPr>
        <p:spPr>
          <a:xfrm>
            <a:off x="6629400" y="5486400"/>
            <a:ext cx="4709160" cy="338328"/>
          </a:xfrm>
          <a:prstGeom prst="rect">
            <a:avLst/>
          </a:prstGeom>
          <a:noFill/>
          <a:ln/>
        </p:spPr>
        <p:txBody>
          <a:bodyPr wrap="square" lIns="254" tIns="254" rIns="254" bIns="254" rtlCol="0" anchor="t">
            <a:normAutofit/>
          </a:bodyPr>
          <a:lstStyle/>
          <a:p>
            <a:pPr indent="0" marL="0">
              <a:buNone/>
            </a:pPr>
            <a:r>
              <a:rPr lang="en-US" sz="1270" dirty="0">
                <a:solidFill>
                  <a:srgbClr val="1E293B"/>
                </a:solidFill>
              </a:rPr>
              <a:t>Ask: What unary relation could describe a classroom object?</a:t>
            </a:r>
            <a:endParaRPr lang="en-US" sz="127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5088"/>
          </a:solidFill>
          <a:ln w="12700">
            <a:solidFill>
              <a:srgbClr val="005088"/>
            </a:solidFill>
            <a:prstDash val="solid"/>
          </a:ln>
        </p:spPr>
      </p:sp>
      <p:sp>
        <p:nvSpPr>
          <p:cNvPr id="3" name="Shape 1"/>
          <p:cNvSpPr/>
          <p:nvPr/>
        </p:nvSpPr>
        <p:spPr>
          <a:xfrm>
            <a:off x="0" y="6729984"/>
            <a:ext cx="12191695" cy="128016"/>
          </a:xfrm>
          <a:prstGeom prst="rect">
            <a:avLst/>
          </a:prstGeom>
          <a:solidFill>
            <a:srgbClr val="005088"/>
          </a:solidFill>
          <a:ln w="12700">
            <a:solidFill>
              <a:srgbClr val="005088"/>
            </a:solidFill>
            <a:prstDash val="solid"/>
          </a:ln>
        </p:spPr>
      </p:sp>
      <p:sp>
        <p:nvSpPr>
          <p:cNvPr id="4" name="Text 2"/>
          <p:cNvSpPr/>
          <p:nvPr/>
        </p:nvSpPr>
        <p:spPr>
          <a:xfrm>
            <a:off x="502920" y="210312"/>
            <a:ext cx="6858000" cy="219456"/>
          </a:xfrm>
          <a:prstGeom prst="rect">
            <a:avLst/>
          </a:prstGeom>
          <a:noFill/>
          <a:ln/>
        </p:spPr>
        <p:txBody>
          <a:bodyPr wrap="square" lIns="0" tIns="0" rIns="0" bIns="0" rtlCol="0" anchor="ctr"/>
          <a:lstStyle/>
          <a:p>
            <a:pPr indent="0" marL="0">
              <a:buNone/>
            </a:pPr>
            <a:r>
              <a:rPr lang="en-US" sz="950" b="1" dirty="0">
                <a:solidFill>
                  <a:srgbClr val="3D5A80"/>
                </a:solidFill>
                <a:latin typeface="Aptos" pitchFamily="34" charset="0"/>
                <a:ea typeface="Aptos" pitchFamily="34" charset="-122"/>
                <a:cs typeface="Aptos" pitchFamily="34" charset="-120"/>
              </a:rPr>
              <a:t>8.2.1 Models for first-order logic</a:t>
            </a:r>
            <a:endParaRPr lang="en-US" sz="950" dirty="0"/>
          </a:p>
        </p:txBody>
      </p:sp>
      <p:sp>
        <p:nvSpPr>
          <p:cNvPr id="5" name="Text 3"/>
          <p:cNvSpPr/>
          <p:nvPr/>
        </p:nvSpPr>
        <p:spPr>
          <a:xfrm>
            <a:off x="11018520" y="201168"/>
            <a:ext cx="640080" cy="228600"/>
          </a:xfrm>
          <a:prstGeom prst="rect">
            <a:avLst/>
          </a:prstGeom>
          <a:noFill/>
          <a:ln/>
        </p:spPr>
        <p:txBody>
          <a:bodyPr wrap="square" lIns="0" tIns="0" rIns="0" bIns="0" rtlCol="0" anchor="ctr"/>
          <a:lstStyle/>
          <a:p>
            <a:pPr algn="r" indent="0" marL="0">
              <a:buNone/>
            </a:pPr>
            <a:r>
              <a:rPr lang="en-US" sz="900" b="1" dirty="0">
                <a:solidFill>
                  <a:srgbClr val="3D5A80"/>
                </a:solidFill>
              </a:rPr>
              <a:t>26</a:t>
            </a:r>
            <a:endParaRPr lang="en-US" sz="900" dirty="0"/>
          </a:p>
        </p:txBody>
      </p:sp>
      <p:sp>
        <p:nvSpPr>
          <p:cNvPr id="6" name="Text 4"/>
          <p:cNvSpPr/>
          <p:nvPr/>
        </p:nvSpPr>
        <p:spPr>
          <a:xfrm>
            <a:off x="502920" y="566928"/>
            <a:ext cx="11201400" cy="512064"/>
          </a:xfrm>
          <a:prstGeom prst="rect">
            <a:avLst/>
          </a:prstGeom>
          <a:noFill/>
          <a:ln/>
        </p:spPr>
        <p:txBody>
          <a:bodyPr wrap="square" lIns="0" tIns="0" rIns="0" bIns="0" rtlCol="0" anchor="ctr">
            <a:normAutofit/>
          </a:bodyPr>
          <a:lstStyle/>
          <a:p>
            <a:pPr indent="0" marL="0">
              <a:buNone/>
            </a:pPr>
            <a:r>
              <a:rPr lang="en-US" sz="2650" b="1" dirty="0">
                <a:solidFill>
                  <a:srgbClr val="005088"/>
                </a:solidFill>
                <a:latin typeface="Aptos Display" pitchFamily="34" charset="0"/>
                <a:ea typeface="Aptos Display" pitchFamily="34" charset="-122"/>
                <a:cs typeface="Aptos Display" pitchFamily="34" charset="-120"/>
              </a:rPr>
              <a:t>BINARY RELATIONS CONNECT PAIRS OF OBJECTS</a:t>
            </a:r>
            <a:endParaRPr lang="en-US" sz="2650" dirty="0"/>
          </a:p>
        </p:txBody>
      </p:sp>
      <p:sp>
        <p:nvSpPr>
          <p:cNvPr id="7" name="Shape 5"/>
          <p:cNvSpPr/>
          <p:nvPr/>
        </p:nvSpPr>
        <p:spPr>
          <a:xfrm>
            <a:off x="502920" y="1188720"/>
            <a:ext cx="11109960" cy="0"/>
          </a:xfrm>
          <a:prstGeom prst="line">
            <a:avLst/>
          </a:prstGeom>
          <a:noFill/>
          <a:ln w="12700">
            <a:solidFill>
              <a:srgbClr val="3D5A80"/>
            </a:solidFill>
            <a:prstDash val="solid"/>
          </a:ln>
        </p:spPr>
      </p:sp>
      <p:sp>
        <p:nvSpPr>
          <p:cNvPr id="8" name="Text 6"/>
          <p:cNvSpPr/>
          <p:nvPr/>
        </p:nvSpPr>
        <p:spPr>
          <a:xfrm>
            <a:off x="713232" y="1572768"/>
            <a:ext cx="5440680" cy="4251960"/>
          </a:xfrm>
          <a:prstGeom prst="rect">
            <a:avLst/>
          </a:prstGeom>
          <a:noFill/>
          <a:ln/>
        </p:spPr>
        <p:txBody>
          <a:bodyPr wrap="square" lIns="1016" tIns="1016" rIns="1016" bIns="1016" rtlCol="0" anchor="t">
            <a:normAutofit/>
          </a:bodyPr>
          <a:lstStyle/>
          <a:p>
            <a:pPr indent="0" marL="0">
              <a:buNone/>
            </a:pPr>
            <a:r>
              <a:rPr lang="en-US" sz="1650" dirty="0">
                <a:solidFill>
                  <a:srgbClr val="1E293B"/>
                </a:solidFill>
                <a:latin typeface="Aptos" pitchFamily="34" charset="0"/>
                <a:ea typeface="Aptos" pitchFamily="34" charset="-122"/>
                <a:cs typeface="Aptos" pitchFamily="34" charset="-120"/>
              </a:rPr>
              <a:t>• A binary relation applies to ordered pairs</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Brother(Richard, John) names one pair</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OnHead(Crown, John) names a different pair</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A relation is true exactly for selected tuples</a:t>
            </a:r>
            <a:endParaRPr lang="en-US" sz="1650" dirty="0"/>
          </a:p>
        </p:txBody>
      </p:sp>
      <p:sp>
        <p:nvSpPr>
          <p:cNvPr id="9" name="Shape 7"/>
          <p:cNvSpPr/>
          <p:nvPr/>
        </p:nvSpPr>
        <p:spPr>
          <a:xfrm>
            <a:off x="6446520" y="1572768"/>
            <a:ext cx="5074920" cy="1234440"/>
          </a:xfrm>
          <a:prstGeom prst="roundRect">
            <a:avLst>
              <a:gd name="adj" fmla="val 5926"/>
            </a:avLst>
          </a:prstGeom>
          <a:solidFill>
            <a:srgbClr val="FFF6D9"/>
          </a:solidFill>
          <a:ln w="12700">
            <a:solidFill>
              <a:srgbClr val="F4A261"/>
            </a:solidFill>
            <a:prstDash val="solid"/>
          </a:ln>
        </p:spPr>
      </p:sp>
      <p:sp>
        <p:nvSpPr>
          <p:cNvPr id="10" name="Text 8"/>
          <p:cNvSpPr/>
          <p:nvPr/>
        </p:nvSpPr>
        <p:spPr>
          <a:xfrm>
            <a:off x="6629400" y="1709928"/>
            <a:ext cx="4709160" cy="219456"/>
          </a:xfrm>
          <a:prstGeom prst="rect">
            <a:avLst/>
          </a:prstGeom>
          <a:noFill/>
          <a:ln/>
        </p:spPr>
        <p:txBody>
          <a:bodyPr wrap="square" lIns="0" tIns="0" rIns="0" bIns="0" rtlCol="0" anchor="ctr"/>
          <a:lstStyle/>
          <a:p>
            <a:pPr indent="0" marL="0">
              <a:buNone/>
            </a:pPr>
            <a:r>
              <a:rPr lang="en-US" sz="950" b="1" dirty="0">
                <a:solidFill>
                  <a:srgbClr val="B0005D"/>
                </a:solidFill>
              </a:rPr>
              <a:t>ANALOGY</a:t>
            </a:r>
            <a:endParaRPr lang="en-US" sz="950" dirty="0"/>
          </a:p>
        </p:txBody>
      </p:sp>
      <p:sp>
        <p:nvSpPr>
          <p:cNvPr id="11" name="Text 9"/>
          <p:cNvSpPr/>
          <p:nvPr/>
        </p:nvSpPr>
        <p:spPr>
          <a:xfrm>
            <a:off x="6629400" y="1984248"/>
            <a:ext cx="4709160" cy="731520"/>
          </a:xfrm>
          <a:prstGeom prst="rect">
            <a:avLst/>
          </a:prstGeom>
          <a:noFill/>
          <a:ln/>
        </p:spPr>
        <p:txBody>
          <a:bodyPr wrap="square" lIns="254" tIns="254" rIns="254" bIns="254" rtlCol="0" anchor="t">
            <a:normAutofit/>
          </a:bodyPr>
          <a:lstStyle/>
          <a:p>
            <a:pPr indent="0" marL="0">
              <a:buNone/>
            </a:pPr>
            <a:r>
              <a:rPr lang="en-US" sz="1330" dirty="0">
                <a:solidFill>
                  <a:srgbClr val="1E293B"/>
                </a:solidFill>
              </a:rPr>
              <a:t>A seating chart relation could say NextTo(Ana, Ben). The order may matter if we mean “to the left of.”</a:t>
            </a:r>
            <a:endParaRPr lang="en-US" sz="1330" dirty="0"/>
          </a:p>
        </p:txBody>
      </p:sp>
      <p:sp>
        <p:nvSpPr>
          <p:cNvPr id="12" name="Shape 10"/>
          <p:cNvSpPr/>
          <p:nvPr/>
        </p:nvSpPr>
        <p:spPr>
          <a:xfrm>
            <a:off x="6446520" y="2999232"/>
            <a:ext cx="5074920" cy="841248"/>
          </a:xfrm>
          <a:prstGeom prst="roundRect">
            <a:avLst>
              <a:gd name="adj" fmla="val 8696"/>
            </a:avLst>
          </a:prstGeom>
          <a:solidFill>
            <a:srgbClr val="FFFFFF">
              <a:alpha val="97000"/>
            </a:srgbClr>
          </a:solidFill>
          <a:ln w="12700">
            <a:solidFill>
              <a:srgbClr val="007C89"/>
            </a:solidFill>
            <a:prstDash val="solid"/>
          </a:ln>
        </p:spPr>
      </p:sp>
      <p:sp>
        <p:nvSpPr>
          <p:cNvPr id="13" name="Text 11"/>
          <p:cNvSpPr/>
          <p:nvPr/>
        </p:nvSpPr>
        <p:spPr>
          <a:xfrm>
            <a:off x="6611112" y="3127248"/>
            <a:ext cx="4745736" cy="658368"/>
          </a:xfrm>
          <a:prstGeom prst="rect">
            <a:avLst/>
          </a:prstGeom>
          <a:noFill/>
          <a:ln/>
        </p:spPr>
        <p:txBody>
          <a:bodyPr wrap="square" lIns="0" tIns="0" rIns="0" bIns="0" rtlCol="0" anchor="ctr">
            <a:normAutofit/>
          </a:bodyPr>
          <a:lstStyle/>
          <a:p>
            <a:pPr algn="ctr" indent="0" marL="0">
              <a:buNone/>
            </a:pPr>
            <a:r>
              <a:rPr lang="en-US" sz="1450" b="1" dirty="0">
                <a:solidFill>
                  <a:srgbClr val="005088"/>
                </a:solidFill>
                <a:latin typeface="Cambria Math" pitchFamily="34" charset="0"/>
                <a:ea typeface="Cambria Math" pitchFamily="34" charset="-122"/>
                <a:cs typeface="Cambria Math" pitchFamily="34" charset="-120"/>
              </a:rPr>
              <a:t>Brother = {〈Richard, John〉, 〈John, Richard〉}</a:t>
            </a:r>
            <a:endParaRPr lang="en-US" sz="1450" dirty="0"/>
          </a:p>
        </p:txBody>
      </p:sp>
      <p:sp>
        <p:nvSpPr>
          <p:cNvPr id="14" name="Shape 12"/>
          <p:cNvSpPr/>
          <p:nvPr/>
        </p:nvSpPr>
        <p:spPr>
          <a:xfrm>
            <a:off x="6446520" y="4041648"/>
            <a:ext cx="5074920" cy="859536"/>
          </a:xfrm>
          <a:prstGeom prst="roundRect">
            <a:avLst>
              <a:gd name="adj" fmla="val 8511"/>
            </a:avLst>
          </a:prstGeom>
          <a:solidFill>
            <a:srgbClr val="FFE4E6"/>
          </a:solidFill>
          <a:ln w="12700">
            <a:solidFill>
              <a:srgbClr val="FDA4AF"/>
            </a:solidFill>
            <a:prstDash val="solid"/>
          </a:ln>
        </p:spPr>
      </p:sp>
      <p:sp>
        <p:nvSpPr>
          <p:cNvPr id="15" name="Text 13"/>
          <p:cNvSpPr/>
          <p:nvPr/>
        </p:nvSpPr>
        <p:spPr>
          <a:xfrm>
            <a:off x="6629400" y="4178808"/>
            <a:ext cx="4709160" cy="219456"/>
          </a:xfrm>
          <a:prstGeom prst="rect">
            <a:avLst/>
          </a:prstGeom>
          <a:noFill/>
          <a:ln/>
        </p:spPr>
        <p:txBody>
          <a:bodyPr wrap="square" lIns="0" tIns="0" rIns="0" bIns="0" rtlCol="0" anchor="ctr"/>
          <a:lstStyle/>
          <a:p>
            <a:pPr indent="0" marL="0">
              <a:buNone/>
            </a:pPr>
            <a:r>
              <a:rPr lang="en-US" sz="950" b="1" dirty="0">
                <a:solidFill>
                  <a:srgbClr val="C1121F"/>
                </a:solidFill>
              </a:rPr>
              <a:t>STUDENT GOTCHA</a:t>
            </a:r>
            <a:endParaRPr lang="en-US" sz="950" dirty="0"/>
          </a:p>
        </p:txBody>
      </p:sp>
      <p:sp>
        <p:nvSpPr>
          <p:cNvPr id="16" name="Text 14"/>
          <p:cNvSpPr/>
          <p:nvPr/>
        </p:nvSpPr>
        <p:spPr>
          <a:xfrm>
            <a:off x="6629400" y="4453128"/>
            <a:ext cx="4709160" cy="356616"/>
          </a:xfrm>
          <a:prstGeom prst="rect">
            <a:avLst/>
          </a:prstGeom>
          <a:noFill/>
          <a:ln/>
        </p:spPr>
        <p:txBody>
          <a:bodyPr wrap="square" lIns="254" tIns="254" rIns="254" bIns="254" rtlCol="0" anchor="t">
            <a:normAutofit/>
          </a:bodyPr>
          <a:lstStyle/>
          <a:p>
            <a:pPr indent="0" marL="0">
              <a:buNone/>
            </a:pPr>
            <a:r>
              <a:rPr lang="en-US" sz="1250" dirty="0">
                <a:solidFill>
                  <a:srgbClr val="1E293B"/>
                </a:solidFill>
              </a:rPr>
              <a:t>Students may assume every relationship is symmetric. Parent(x,y) is not the same as Parent(y,x).</a:t>
            </a:r>
            <a:endParaRPr lang="en-US" sz="1250" dirty="0"/>
          </a:p>
        </p:txBody>
      </p:sp>
      <p:sp>
        <p:nvSpPr>
          <p:cNvPr id="17" name="Shape 15"/>
          <p:cNvSpPr/>
          <p:nvPr/>
        </p:nvSpPr>
        <p:spPr>
          <a:xfrm>
            <a:off x="6446520" y="5074920"/>
            <a:ext cx="5074920" cy="841248"/>
          </a:xfrm>
          <a:prstGeom prst="roundRect">
            <a:avLst>
              <a:gd name="adj" fmla="val 8696"/>
            </a:avLst>
          </a:prstGeom>
          <a:solidFill>
            <a:srgbClr val="E6FFFA"/>
          </a:solidFill>
          <a:ln w="12700">
            <a:solidFill>
              <a:srgbClr val="2A9D8F"/>
            </a:solidFill>
            <a:prstDash val="solid"/>
          </a:ln>
        </p:spPr>
      </p:sp>
      <p:sp>
        <p:nvSpPr>
          <p:cNvPr id="18" name="Text 16"/>
          <p:cNvSpPr/>
          <p:nvPr/>
        </p:nvSpPr>
        <p:spPr>
          <a:xfrm>
            <a:off x="6629400" y="5212080"/>
            <a:ext cx="4709160" cy="219456"/>
          </a:xfrm>
          <a:prstGeom prst="rect">
            <a:avLst/>
          </a:prstGeom>
          <a:noFill/>
          <a:ln/>
        </p:spPr>
        <p:txBody>
          <a:bodyPr wrap="square" lIns="0" tIns="0" rIns="0" bIns="0" rtlCol="0" anchor="ctr"/>
          <a:lstStyle/>
          <a:p>
            <a:pPr indent="0" marL="0">
              <a:buNone/>
            </a:pPr>
            <a:r>
              <a:rPr lang="en-US" sz="950" b="1" dirty="0">
                <a:solidFill>
                  <a:srgbClr val="007C89"/>
                </a:solidFill>
              </a:rPr>
              <a:t>CLASS CHECK</a:t>
            </a:r>
            <a:endParaRPr lang="en-US" sz="950" dirty="0"/>
          </a:p>
        </p:txBody>
      </p:sp>
      <p:sp>
        <p:nvSpPr>
          <p:cNvPr id="19" name="Text 17"/>
          <p:cNvSpPr/>
          <p:nvPr/>
        </p:nvSpPr>
        <p:spPr>
          <a:xfrm>
            <a:off x="6629400" y="5486400"/>
            <a:ext cx="4709160" cy="338328"/>
          </a:xfrm>
          <a:prstGeom prst="rect">
            <a:avLst/>
          </a:prstGeom>
          <a:noFill/>
          <a:ln/>
        </p:spPr>
        <p:txBody>
          <a:bodyPr wrap="square" lIns="254" tIns="254" rIns="254" bIns="254" rtlCol="0" anchor="t">
            <a:normAutofit/>
          </a:bodyPr>
          <a:lstStyle/>
          <a:p>
            <a:pPr indent="0" marL="0">
              <a:buNone/>
            </a:pPr>
            <a:r>
              <a:rPr lang="en-US" sz="1270" dirty="0">
                <a:solidFill>
                  <a:srgbClr val="1E293B"/>
                </a:solidFill>
              </a:rPr>
              <a:t>Ask why the brother relation includes two ordered pairs in the example.</a:t>
            </a:r>
            <a:endParaRPr lang="en-US" sz="127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5088"/>
          </a:solidFill>
          <a:ln w="12700">
            <a:solidFill>
              <a:srgbClr val="005088"/>
            </a:solidFill>
            <a:prstDash val="solid"/>
          </a:ln>
        </p:spPr>
      </p:sp>
      <p:sp>
        <p:nvSpPr>
          <p:cNvPr id="3" name="Shape 1"/>
          <p:cNvSpPr/>
          <p:nvPr/>
        </p:nvSpPr>
        <p:spPr>
          <a:xfrm>
            <a:off x="0" y="6729984"/>
            <a:ext cx="12191695" cy="128016"/>
          </a:xfrm>
          <a:prstGeom prst="rect">
            <a:avLst/>
          </a:prstGeom>
          <a:solidFill>
            <a:srgbClr val="005088"/>
          </a:solidFill>
          <a:ln w="12700">
            <a:solidFill>
              <a:srgbClr val="005088"/>
            </a:solidFill>
            <a:prstDash val="solid"/>
          </a:ln>
        </p:spPr>
      </p:sp>
      <p:sp>
        <p:nvSpPr>
          <p:cNvPr id="4" name="Text 2"/>
          <p:cNvSpPr/>
          <p:nvPr/>
        </p:nvSpPr>
        <p:spPr>
          <a:xfrm>
            <a:off x="502920" y="210312"/>
            <a:ext cx="6858000" cy="219456"/>
          </a:xfrm>
          <a:prstGeom prst="rect">
            <a:avLst/>
          </a:prstGeom>
          <a:noFill/>
          <a:ln/>
        </p:spPr>
        <p:txBody>
          <a:bodyPr wrap="square" lIns="0" tIns="0" rIns="0" bIns="0" rtlCol="0" anchor="ctr"/>
          <a:lstStyle/>
          <a:p>
            <a:pPr indent="0" marL="0">
              <a:buNone/>
            </a:pPr>
            <a:r>
              <a:rPr lang="en-US" sz="950" b="1" dirty="0">
                <a:solidFill>
                  <a:srgbClr val="3D5A80"/>
                </a:solidFill>
                <a:latin typeface="Aptos" pitchFamily="34" charset="0"/>
                <a:ea typeface="Aptos" pitchFamily="34" charset="-122"/>
                <a:cs typeface="Aptos" pitchFamily="34" charset="-120"/>
              </a:rPr>
              <a:t>8.2.1 Models for first-order logic</a:t>
            </a:r>
            <a:endParaRPr lang="en-US" sz="950" dirty="0"/>
          </a:p>
        </p:txBody>
      </p:sp>
      <p:sp>
        <p:nvSpPr>
          <p:cNvPr id="5" name="Text 3"/>
          <p:cNvSpPr/>
          <p:nvPr/>
        </p:nvSpPr>
        <p:spPr>
          <a:xfrm>
            <a:off x="11018520" y="201168"/>
            <a:ext cx="640080" cy="228600"/>
          </a:xfrm>
          <a:prstGeom prst="rect">
            <a:avLst/>
          </a:prstGeom>
          <a:noFill/>
          <a:ln/>
        </p:spPr>
        <p:txBody>
          <a:bodyPr wrap="square" lIns="0" tIns="0" rIns="0" bIns="0" rtlCol="0" anchor="ctr"/>
          <a:lstStyle/>
          <a:p>
            <a:pPr algn="r" indent="0" marL="0">
              <a:buNone/>
            </a:pPr>
            <a:r>
              <a:rPr lang="en-US" sz="900" b="1" dirty="0">
                <a:solidFill>
                  <a:srgbClr val="3D5A80"/>
                </a:solidFill>
              </a:rPr>
              <a:t>27</a:t>
            </a:r>
            <a:endParaRPr lang="en-US" sz="900" dirty="0"/>
          </a:p>
        </p:txBody>
      </p:sp>
      <p:sp>
        <p:nvSpPr>
          <p:cNvPr id="6" name="Text 4"/>
          <p:cNvSpPr/>
          <p:nvPr/>
        </p:nvSpPr>
        <p:spPr>
          <a:xfrm>
            <a:off x="502920" y="566928"/>
            <a:ext cx="11201400" cy="512064"/>
          </a:xfrm>
          <a:prstGeom prst="rect">
            <a:avLst/>
          </a:prstGeom>
          <a:noFill/>
          <a:ln/>
        </p:spPr>
        <p:txBody>
          <a:bodyPr wrap="square" lIns="0" tIns="0" rIns="0" bIns="0" rtlCol="0" anchor="ctr">
            <a:normAutofit/>
          </a:bodyPr>
          <a:lstStyle/>
          <a:p>
            <a:pPr indent="0" marL="0">
              <a:buNone/>
            </a:pPr>
            <a:r>
              <a:rPr lang="en-US" sz="2650" b="1" dirty="0">
                <a:solidFill>
                  <a:srgbClr val="005088"/>
                </a:solidFill>
                <a:latin typeface="Aptos Display" pitchFamily="34" charset="0"/>
                <a:ea typeface="Aptos Display" pitchFamily="34" charset="-122"/>
                <a:cs typeface="Aptos Display" pitchFamily="34" charset="-120"/>
              </a:rPr>
              <a:t>RELATIONS CAN HAVE MORE THAN TWO ARGUMENTS</a:t>
            </a:r>
            <a:endParaRPr lang="en-US" sz="2650" dirty="0"/>
          </a:p>
        </p:txBody>
      </p:sp>
      <p:sp>
        <p:nvSpPr>
          <p:cNvPr id="7" name="Shape 5"/>
          <p:cNvSpPr/>
          <p:nvPr/>
        </p:nvSpPr>
        <p:spPr>
          <a:xfrm>
            <a:off x="502920" y="1188720"/>
            <a:ext cx="11109960" cy="0"/>
          </a:xfrm>
          <a:prstGeom prst="line">
            <a:avLst/>
          </a:prstGeom>
          <a:noFill/>
          <a:ln w="12700">
            <a:solidFill>
              <a:srgbClr val="3D5A80"/>
            </a:solidFill>
            <a:prstDash val="solid"/>
          </a:ln>
        </p:spPr>
      </p:sp>
      <p:sp>
        <p:nvSpPr>
          <p:cNvPr id="8" name="Text 6"/>
          <p:cNvSpPr/>
          <p:nvPr/>
        </p:nvSpPr>
        <p:spPr>
          <a:xfrm>
            <a:off x="713232" y="1572768"/>
            <a:ext cx="5440680" cy="4251960"/>
          </a:xfrm>
          <a:prstGeom prst="rect">
            <a:avLst/>
          </a:prstGeom>
          <a:noFill/>
          <a:ln/>
        </p:spPr>
        <p:txBody>
          <a:bodyPr wrap="square" lIns="1016" tIns="1016" rIns="1016" bIns="1016" rtlCol="0" anchor="t">
            <a:normAutofit/>
          </a:bodyPr>
          <a:lstStyle/>
          <a:p>
            <a:pPr indent="0" marL="0">
              <a:buNone/>
            </a:pPr>
            <a:r>
              <a:rPr lang="en-US" sz="1650" dirty="0">
                <a:solidFill>
                  <a:srgbClr val="1E293B"/>
                </a:solidFill>
                <a:latin typeface="Aptos" pitchFamily="34" charset="0"/>
                <a:ea typeface="Aptos" pitchFamily="34" charset="-122"/>
                <a:cs typeface="Aptos" pitchFamily="34" charset="-120"/>
              </a:rPr>
              <a:t>• Some relations involve three or more objects</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Enrolled(student, course, semester) uses three arguments</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Teaches(instructor, course, semester) uses three arguments</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The number of arguments is part of the predicate design</a:t>
            </a:r>
            <a:endParaRPr lang="en-US" sz="1650" dirty="0"/>
          </a:p>
        </p:txBody>
      </p:sp>
      <p:sp>
        <p:nvSpPr>
          <p:cNvPr id="9" name="Shape 7"/>
          <p:cNvSpPr/>
          <p:nvPr/>
        </p:nvSpPr>
        <p:spPr>
          <a:xfrm>
            <a:off x="6446520" y="1572768"/>
            <a:ext cx="5074920" cy="1234440"/>
          </a:xfrm>
          <a:prstGeom prst="roundRect">
            <a:avLst>
              <a:gd name="adj" fmla="val 5926"/>
            </a:avLst>
          </a:prstGeom>
          <a:solidFill>
            <a:srgbClr val="FFF6D9"/>
          </a:solidFill>
          <a:ln w="12700">
            <a:solidFill>
              <a:srgbClr val="F4A261"/>
            </a:solidFill>
            <a:prstDash val="solid"/>
          </a:ln>
        </p:spPr>
      </p:sp>
      <p:sp>
        <p:nvSpPr>
          <p:cNvPr id="10" name="Text 8"/>
          <p:cNvSpPr/>
          <p:nvPr/>
        </p:nvSpPr>
        <p:spPr>
          <a:xfrm>
            <a:off x="6629400" y="1709928"/>
            <a:ext cx="4709160" cy="219456"/>
          </a:xfrm>
          <a:prstGeom prst="rect">
            <a:avLst/>
          </a:prstGeom>
          <a:noFill/>
          <a:ln/>
        </p:spPr>
        <p:txBody>
          <a:bodyPr wrap="square" lIns="0" tIns="0" rIns="0" bIns="0" rtlCol="0" anchor="ctr"/>
          <a:lstStyle/>
          <a:p>
            <a:pPr indent="0" marL="0">
              <a:buNone/>
            </a:pPr>
            <a:r>
              <a:rPr lang="en-US" sz="950" b="1" dirty="0">
                <a:solidFill>
                  <a:srgbClr val="B0005D"/>
                </a:solidFill>
              </a:rPr>
              <a:t>ANALOGY</a:t>
            </a:r>
            <a:endParaRPr lang="en-US" sz="950" dirty="0"/>
          </a:p>
        </p:txBody>
      </p:sp>
      <p:sp>
        <p:nvSpPr>
          <p:cNvPr id="11" name="Text 9"/>
          <p:cNvSpPr/>
          <p:nvPr/>
        </p:nvSpPr>
        <p:spPr>
          <a:xfrm>
            <a:off x="6629400" y="1984248"/>
            <a:ext cx="4709160" cy="731520"/>
          </a:xfrm>
          <a:prstGeom prst="rect">
            <a:avLst/>
          </a:prstGeom>
          <a:noFill/>
          <a:ln/>
        </p:spPr>
        <p:txBody>
          <a:bodyPr wrap="square" lIns="254" tIns="254" rIns="254" bIns="254" rtlCol="0" anchor="t">
            <a:normAutofit/>
          </a:bodyPr>
          <a:lstStyle/>
          <a:p>
            <a:pPr indent="0" marL="0">
              <a:buNone/>
            </a:pPr>
            <a:r>
              <a:rPr lang="en-US" sz="1330" dirty="0">
                <a:solidFill>
                  <a:srgbClr val="1E293B"/>
                </a:solidFill>
              </a:rPr>
              <a:t>A group project table may need student, partner, course, and team number. Two columns would not capture the whole relation.</a:t>
            </a:r>
            <a:endParaRPr lang="en-US" sz="1330" dirty="0"/>
          </a:p>
        </p:txBody>
      </p:sp>
      <p:sp>
        <p:nvSpPr>
          <p:cNvPr id="12" name="Shape 10"/>
          <p:cNvSpPr/>
          <p:nvPr/>
        </p:nvSpPr>
        <p:spPr>
          <a:xfrm>
            <a:off x="6446520" y="2999232"/>
            <a:ext cx="5074920" cy="841248"/>
          </a:xfrm>
          <a:prstGeom prst="roundRect">
            <a:avLst>
              <a:gd name="adj" fmla="val 8696"/>
            </a:avLst>
          </a:prstGeom>
          <a:solidFill>
            <a:srgbClr val="FFFFFF">
              <a:alpha val="97000"/>
            </a:srgbClr>
          </a:solidFill>
          <a:ln w="12700">
            <a:solidFill>
              <a:srgbClr val="007C89"/>
            </a:solidFill>
            <a:prstDash val="solid"/>
          </a:ln>
        </p:spPr>
      </p:sp>
      <p:sp>
        <p:nvSpPr>
          <p:cNvPr id="13" name="Text 11"/>
          <p:cNvSpPr/>
          <p:nvPr/>
        </p:nvSpPr>
        <p:spPr>
          <a:xfrm>
            <a:off x="6611112" y="3127248"/>
            <a:ext cx="4745736" cy="658368"/>
          </a:xfrm>
          <a:prstGeom prst="rect">
            <a:avLst/>
          </a:prstGeom>
          <a:noFill/>
          <a:ln/>
        </p:spPr>
        <p:txBody>
          <a:bodyPr wrap="square" lIns="0" tIns="0" rIns="0" bIns="0" rtlCol="0" anchor="ctr">
            <a:normAutofit/>
          </a:bodyPr>
          <a:lstStyle/>
          <a:p>
            <a:pPr algn="ctr" indent="0" marL="0">
              <a:buNone/>
            </a:pPr>
            <a:r>
              <a:rPr lang="en-US" sz="1600" b="1" dirty="0">
                <a:solidFill>
                  <a:srgbClr val="005088"/>
                </a:solidFill>
                <a:latin typeface="Cambria Math" pitchFamily="34" charset="0"/>
                <a:ea typeface="Cambria Math" pitchFamily="34" charset="-122"/>
                <a:cs typeface="Cambria Math" pitchFamily="34" charset="-120"/>
              </a:rPr>
              <a:t>Enrolled(Ana, ComputerScience469, Fall2026)</a:t>
            </a:r>
            <a:endParaRPr lang="en-US" sz="1600" dirty="0"/>
          </a:p>
        </p:txBody>
      </p:sp>
      <p:sp>
        <p:nvSpPr>
          <p:cNvPr id="14" name="Shape 12"/>
          <p:cNvSpPr/>
          <p:nvPr/>
        </p:nvSpPr>
        <p:spPr>
          <a:xfrm>
            <a:off x="6446520" y="4041648"/>
            <a:ext cx="5074920" cy="859536"/>
          </a:xfrm>
          <a:prstGeom prst="roundRect">
            <a:avLst>
              <a:gd name="adj" fmla="val 8511"/>
            </a:avLst>
          </a:prstGeom>
          <a:solidFill>
            <a:srgbClr val="FFE4E6"/>
          </a:solidFill>
          <a:ln w="12700">
            <a:solidFill>
              <a:srgbClr val="FDA4AF"/>
            </a:solidFill>
            <a:prstDash val="solid"/>
          </a:ln>
        </p:spPr>
      </p:sp>
      <p:sp>
        <p:nvSpPr>
          <p:cNvPr id="15" name="Text 13"/>
          <p:cNvSpPr/>
          <p:nvPr/>
        </p:nvSpPr>
        <p:spPr>
          <a:xfrm>
            <a:off x="6629400" y="4178808"/>
            <a:ext cx="4709160" cy="219456"/>
          </a:xfrm>
          <a:prstGeom prst="rect">
            <a:avLst/>
          </a:prstGeom>
          <a:noFill/>
          <a:ln/>
        </p:spPr>
        <p:txBody>
          <a:bodyPr wrap="square" lIns="0" tIns="0" rIns="0" bIns="0" rtlCol="0" anchor="ctr"/>
          <a:lstStyle/>
          <a:p>
            <a:pPr indent="0" marL="0">
              <a:buNone/>
            </a:pPr>
            <a:r>
              <a:rPr lang="en-US" sz="950" b="1" dirty="0">
                <a:solidFill>
                  <a:srgbClr val="C1121F"/>
                </a:solidFill>
              </a:rPr>
              <a:t>STUDENT GOTCHA</a:t>
            </a:r>
            <a:endParaRPr lang="en-US" sz="950" dirty="0"/>
          </a:p>
        </p:txBody>
      </p:sp>
      <p:sp>
        <p:nvSpPr>
          <p:cNvPr id="16" name="Text 14"/>
          <p:cNvSpPr/>
          <p:nvPr/>
        </p:nvSpPr>
        <p:spPr>
          <a:xfrm>
            <a:off x="6629400" y="4453128"/>
            <a:ext cx="4709160" cy="356616"/>
          </a:xfrm>
          <a:prstGeom prst="rect">
            <a:avLst/>
          </a:prstGeom>
          <a:noFill/>
          <a:ln/>
        </p:spPr>
        <p:txBody>
          <a:bodyPr wrap="square" lIns="254" tIns="254" rIns="254" bIns="254" rtlCol="0" anchor="t">
            <a:normAutofit/>
          </a:bodyPr>
          <a:lstStyle/>
          <a:p>
            <a:pPr indent="0" marL="0">
              <a:buNone/>
            </a:pPr>
            <a:r>
              <a:rPr lang="en-US" sz="1250" dirty="0">
                <a:solidFill>
                  <a:srgbClr val="1E293B"/>
                </a:solidFill>
              </a:rPr>
              <a:t>Do not add arguments casually. More arguments can make a relation precise, but also more complex to use.</a:t>
            </a:r>
            <a:endParaRPr lang="en-US" sz="1250" dirty="0"/>
          </a:p>
        </p:txBody>
      </p:sp>
      <p:sp>
        <p:nvSpPr>
          <p:cNvPr id="17" name="Shape 15"/>
          <p:cNvSpPr/>
          <p:nvPr/>
        </p:nvSpPr>
        <p:spPr>
          <a:xfrm>
            <a:off x="6446520" y="5074920"/>
            <a:ext cx="5074920" cy="841248"/>
          </a:xfrm>
          <a:prstGeom prst="roundRect">
            <a:avLst>
              <a:gd name="adj" fmla="val 8696"/>
            </a:avLst>
          </a:prstGeom>
          <a:solidFill>
            <a:srgbClr val="E6FFFA"/>
          </a:solidFill>
          <a:ln w="12700">
            <a:solidFill>
              <a:srgbClr val="2A9D8F"/>
            </a:solidFill>
            <a:prstDash val="solid"/>
          </a:ln>
        </p:spPr>
      </p:sp>
      <p:sp>
        <p:nvSpPr>
          <p:cNvPr id="18" name="Text 16"/>
          <p:cNvSpPr/>
          <p:nvPr/>
        </p:nvSpPr>
        <p:spPr>
          <a:xfrm>
            <a:off x="6629400" y="5212080"/>
            <a:ext cx="4709160" cy="219456"/>
          </a:xfrm>
          <a:prstGeom prst="rect">
            <a:avLst/>
          </a:prstGeom>
          <a:noFill/>
          <a:ln/>
        </p:spPr>
        <p:txBody>
          <a:bodyPr wrap="square" lIns="0" tIns="0" rIns="0" bIns="0" rtlCol="0" anchor="ctr"/>
          <a:lstStyle/>
          <a:p>
            <a:pPr indent="0" marL="0">
              <a:buNone/>
            </a:pPr>
            <a:r>
              <a:rPr lang="en-US" sz="950" b="1" dirty="0">
                <a:solidFill>
                  <a:srgbClr val="007C89"/>
                </a:solidFill>
              </a:rPr>
              <a:t>CLASS CHECK</a:t>
            </a:r>
            <a:endParaRPr lang="en-US" sz="950" dirty="0"/>
          </a:p>
        </p:txBody>
      </p:sp>
      <p:sp>
        <p:nvSpPr>
          <p:cNvPr id="19" name="Text 17"/>
          <p:cNvSpPr/>
          <p:nvPr/>
        </p:nvSpPr>
        <p:spPr>
          <a:xfrm>
            <a:off x="6629400" y="5486400"/>
            <a:ext cx="4709160" cy="338328"/>
          </a:xfrm>
          <a:prstGeom prst="rect">
            <a:avLst/>
          </a:prstGeom>
          <a:noFill/>
          <a:ln/>
        </p:spPr>
        <p:txBody>
          <a:bodyPr wrap="square" lIns="254" tIns="254" rIns="254" bIns="254" rtlCol="0" anchor="t">
            <a:normAutofit/>
          </a:bodyPr>
          <a:lstStyle/>
          <a:p>
            <a:pPr indent="0" marL="0">
              <a:buNone/>
            </a:pPr>
            <a:r>
              <a:rPr lang="en-US" sz="1270" dirty="0">
                <a:solidFill>
                  <a:srgbClr val="1E293B"/>
                </a:solidFill>
              </a:rPr>
              <a:t>Ask students to design a relation for “student borrowed a book from the library on a date.”</a:t>
            </a:r>
            <a:endParaRPr lang="en-US" sz="127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5088"/>
          </a:solidFill>
          <a:ln w="12700">
            <a:solidFill>
              <a:srgbClr val="005088"/>
            </a:solidFill>
            <a:prstDash val="solid"/>
          </a:ln>
        </p:spPr>
      </p:sp>
      <p:sp>
        <p:nvSpPr>
          <p:cNvPr id="3" name="Shape 1"/>
          <p:cNvSpPr/>
          <p:nvPr/>
        </p:nvSpPr>
        <p:spPr>
          <a:xfrm>
            <a:off x="0" y="6729984"/>
            <a:ext cx="12191695" cy="128016"/>
          </a:xfrm>
          <a:prstGeom prst="rect">
            <a:avLst/>
          </a:prstGeom>
          <a:solidFill>
            <a:srgbClr val="005088"/>
          </a:solidFill>
          <a:ln w="12700">
            <a:solidFill>
              <a:srgbClr val="005088"/>
            </a:solidFill>
            <a:prstDash val="solid"/>
          </a:ln>
        </p:spPr>
      </p:sp>
      <p:sp>
        <p:nvSpPr>
          <p:cNvPr id="4" name="Text 2"/>
          <p:cNvSpPr/>
          <p:nvPr/>
        </p:nvSpPr>
        <p:spPr>
          <a:xfrm>
            <a:off x="502920" y="210312"/>
            <a:ext cx="6858000" cy="219456"/>
          </a:xfrm>
          <a:prstGeom prst="rect">
            <a:avLst/>
          </a:prstGeom>
          <a:noFill/>
          <a:ln/>
        </p:spPr>
        <p:txBody>
          <a:bodyPr wrap="square" lIns="0" tIns="0" rIns="0" bIns="0" rtlCol="0" anchor="ctr"/>
          <a:lstStyle/>
          <a:p>
            <a:pPr indent="0" marL="0">
              <a:buNone/>
            </a:pPr>
            <a:r>
              <a:rPr lang="en-US" sz="950" b="1" dirty="0">
                <a:solidFill>
                  <a:srgbClr val="3D5A80"/>
                </a:solidFill>
                <a:latin typeface="Aptos" pitchFamily="34" charset="0"/>
                <a:ea typeface="Aptos" pitchFamily="34" charset="-122"/>
                <a:cs typeface="Aptos" pitchFamily="34" charset="-120"/>
              </a:rPr>
              <a:t>8.2.1 Models for first-order logic</a:t>
            </a:r>
            <a:endParaRPr lang="en-US" sz="950" dirty="0"/>
          </a:p>
        </p:txBody>
      </p:sp>
      <p:sp>
        <p:nvSpPr>
          <p:cNvPr id="5" name="Text 3"/>
          <p:cNvSpPr/>
          <p:nvPr/>
        </p:nvSpPr>
        <p:spPr>
          <a:xfrm>
            <a:off x="11018520" y="201168"/>
            <a:ext cx="640080" cy="228600"/>
          </a:xfrm>
          <a:prstGeom prst="rect">
            <a:avLst/>
          </a:prstGeom>
          <a:noFill/>
          <a:ln/>
        </p:spPr>
        <p:txBody>
          <a:bodyPr wrap="square" lIns="0" tIns="0" rIns="0" bIns="0" rtlCol="0" anchor="ctr"/>
          <a:lstStyle/>
          <a:p>
            <a:pPr algn="r" indent="0" marL="0">
              <a:buNone/>
            </a:pPr>
            <a:r>
              <a:rPr lang="en-US" sz="900" b="1" dirty="0">
                <a:solidFill>
                  <a:srgbClr val="3D5A80"/>
                </a:solidFill>
              </a:rPr>
              <a:t>28</a:t>
            </a:r>
            <a:endParaRPr lang="en-US" sz="900" dirty="0"/>
          </a:p>
        </p:txBody>
      </p:sp>
      <p:sp>
        <p:nvSpPr>
          <p:cNvPr id="6" name="Text 4"/>
          <p:cNvSpPr/>
          <p:nvPr/>
        </p:nvSpPr>
        <p:spPr>
          <a:xfrm>
            <a:off x="502920" y="566928"/>
            <a:ext cx="11201400" cy="512064"/>
          </a:xfrm>
          <a:prstGeom prst="rect">
            <a:avLst/>
          </a:prstGeom>
          <a:noFill/>
          <a:ln/>
        </p:spPr>
        <p:txBody>
          <a:bodyPr wrap="square" lIns="0" tIns="0" rIns="0" bIns="0" rtlCol="0" anchor="ctr">
            <a:normAutofit/>
          </a:bodyPr>
          <a:lstStyle/>
          <a:p>
            <a:pPr indent="0" marL="0">
              <a:buNone/>
            </a:pPr>
            <a:r>
              <a:rPr lang="en-US" sz="2650" b="1" dirty="0">
                <a:solidFill>
                  <a:srgbClr val="005088"/>
                </a:solidFill>
                <a:latin typeface="Aptos Display" pitchFamily="34" charset="0"/>
                <a:ea typeface="Aptos Display" pitchFamily="34" charset="-122"/>
                <a:cs typeface="Aptos Display" pitchFamily="34" charset="-120"/>
              </a:rPr>
              <a:t>FUNCTIONS REPRESENT UNIQUE MAPPINGS</a:t>
            </a:r>
            <a:endParaRPr lang="en-US" sz="2650" dirty="0"/>
          </a:p>
        </p:txBody>
      </p:sp>
      <p:sp>
        <p:nvSpPr>
          <p:cNvPr id="7" name="Shape 5"/>
          <p:cNvSpPr/>
          <p:nvPr/>
        </p:nvSpPr>
        <p:spPr>
          <a:xfrm>
            <a:off x="502920" y="1188720"/>
            <a:ext cx="11109960" cy="0"/>
          </a:xfrm>
          <a:prstGeom prst="line">
            <a:avLst/>
          </a:prstGeom>
          <a:noFill/>
          <a:ln w="12700">
            <a:solidFill>
              <a:srgbClr val="3D5A80"/>
            </a:solidFill>
            <a:prstDash val="solid"/>
          </a:ln>
        </p:spPr>
      </p:sp>
      <p:sp>
        <p:nvSpPr>
          <p:cNvPr id="8" name="Text 6"/>
          <p:cNvSpPr/>
          <p:nvPr/>
        </p:nvSpPr>
        <p:spPr>
          <a:xfrm>
            <a:off x="713232" y="1572768"/>
            <a:ext cx="5440680" cy="4251960"/>
          </a:xfrm>
          <a:prstGeom prst="rect">
            <a:avLst/>
          </a:prstGeom>
          <a:noFill/>
          <a:ln/>
        </p:spPr>
        <p:txBody>
          <a:bodyPr wrap="square" lIns="1016" tIns="1016" rIns="1016" bIns="1016" rtlCol="0" anchor="t">
            <a:normAutofit/>
          </a:bodyPr>
          <a:lstStyle/>
          <a:p>
            <a:pPr indent="0" marL="0">
              <a:buNone/>
            </a:pPr>
            <a:r>
              <a:rPr lang="en-US" sz="1650" dirty="0">
                <a:solidFill>
                  <a:srgbClr val="1E293B"/>
                </a:solidFill>
                <a:latin typeface="Aptos" pitchFamily="34" charset="0"/>
                <a:ea typeface="Aptos" pitchFamily="34" charset="-122"/>
                <a:cs typeface="Aptos" pitchFamily="34" charset="-120"/>
              </a:rPr>
              <a:t>• A function maps each input tuple to exactly one object</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LeftLeg(John) refers to John’s left leg</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In(1, CircuitOne) refers to one input terminal</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Function terms are names, not procedures</a:t>
            </a:r>
            <a:endParaRPr lang="en-US" sz="1650" dirty="0"/>
          </a:p>
        </p:txBody>
      </p:sp>
      <p:sp>
        <p:nvSpPr>
          <p:cNvPr id="9" name="Shape 7"/>
          <p:cNvSpPr/>
          <p:nvPr/>
        </p:nvSpPr>
        <p:spPr>
          <a:xfrm>
            <a:off x="6446520" y="1572768"/>
            <a:ext cx="5074920" cy="1234440"/>
          </a:xfrm>
          <a:prstGeom prst="roundRect">
            <a:avLst>
              <a:gd name="adj" fmla="val 5926"/>
            </a:avLst>
          </a:prstGeom>
          <a:solidFill>
            <a:srgbClr val="FFF6D9"/>
          </a:solidFill>
          <a:ln w="12700">
            <a:solidFill>
              <a:srgbClr val="F4A261"/>
            </a:solidFill>
            <a:prstDash val="solid"/>
          </a:ln>
        </p:spPr>
      </p:sp>
      <p:sp>
        <p:nvSpPr>
          <p:cNvPr id="10" name="Text 8"/>
          <p:cNvSpPr/>
          <p:nvPr/>
        </p:nvSpPr>
        <p:spPr>
          <a:xfrm>
            <a:off x="6629400" y="1709928"/>
            <a:ext cx="4709160" cy="219456"/>
          </a:xfrm>
          <a:prstGeom prst="rect">
            <a:avLst/>
          </a:prstGeom>
          <a:noFill/>
          <a:ln/>
        </p:spPr>
        <p:txBody>
          <a:bodyPr wrap="square" lIns="0" tIns="0" rIns="0" bIns="0" rtlCol="0" anchor="ctr"/>
          <a:lstStyle/>
          <a:p>
            <a:pPr indent="0" marL="0">
              <a:buNone/>
            </a:pPr>
            <a:r>
              <a:rPr lang="en-US" sz="950" b="1" dirty="0">
                <a:solidFill>
                  <a:srgbClr val="B0005D"/>
                </a:solidFill>
              </a:rPr>
              <a:t>ANALOGY</a:t>
            </a:r>
            <a:endParaRPr lang="en-US" sz="950" dirty="0"/>
          </a:p>
        </p:txBody>
      </p:sp>
      <p:sp>
        <p:nvSpPr>
          <p:cNvPr id="11" name="Text 9"/>
          <p:cNvSpPr/>
          <p:nvPr/>
        </p:nvSpPr>
        <p:spPr>
          <a:xfrm>
            <a:off x="6629400" y="1984248"/>
            <a:ext cx="4709160" cy="731520"/>
          </a:xfrm>
          <a:prstGeom prst="rect">
            <a:avLst/>
          </a:prstGeom>
          <a:noFill/>
          <a:ln/>
        </p:spPr>
        <p:txBody>
          <a:bodyPr wrap="square" lIns="254" tIns="254" rIns="254" bIns="254" rtlCol="0" anchor="t">
            <a:normAutofit/>
          </a:bodyPr>
          <a:lstStyle/>
          <a:p>
            <a:pPr indent="0" marL="0">
              <a:buNone/>
            </a:pPr>
            <a:r>
              <a:rPr lang="en-US" sz="1330" dirty="0">
                <a:solidFill>
                  <a:srgbClr val="1E293B"/>
                </a:solidFill>
              </a:rPr>
              <a:t>A student identification function maps each student to one identification number. It is a naming relationship, not a step-by-step program.</a:t>
            </a:r>
            <a:endParaRPr lang="en-US" sz="1330" dirty="0"/>
          </a:p>
        </p:txBody>
      </p:sp>
      <p:sp>
        <p:nvSpPr>
          <p:cNvPr id="12" name="Shape 10"/>
          <p:cNvSpPr/>
          <p:nvPr/>
        </p:nvSpPr>
        <p:spPr>
          <a:xfrm>
            <a:off x="6446520" y="2999232"/>
            <a:ext cx="5074920" cy="841248"/>
          </a:xfrm>
          <a:prstGeom prst="roundRect">
            <a:avLst>
              <a:gd name="adj" fmla="val 8696"/>
            </a:avLst>
          </a:prstGeom>
          <a:solidFill>
            <a:srgbClr val="FFFFFF">
              <a:alpha val="97000"/>
            </a:srgbClr>
          </a:solidFill>
          <a:ln w="12700">
            <a:solidFill>
              <a:srgbClr val="007C89"/>
            </a:solidFill>
            <a:prstDash val="solid"/>
          </a:ln>
        </p:spPr>
      </p:sp>
      <p:sp>
        <p:nvSpPr>
          <p:cNvPr id="13" name="Text 11"/>
          <p:cNvSpPr/>
          <p:nvPr/>
        </p:nvSpPr>
        <p:spPr>
          <a:xfrm>
            <a:off x="6611112" y="3127248"/>
            <a:ext cx="4745736" cy="658368"/>
          </a:xfrm>
          <a:prstGeom prst="rect">
            <a:avLst/>
          </a:prstGeom>
          <a:noFill/>
          <a:ln/>
        </p:spPr>
        <p:txBody>
          <a:bodyPr wrap="square" lIns="0" tIns="0" rIns="0" bIns="0" rtlCol="0" anchor="ctr">
            <a:normAutofit/>
          </a:bodyPr>
          <a:lstStyle/>
          <a:p>
            <a:pPr algn="ctr" indent="0" marL="0">
              <a:buNone/>
            </a:pPr>
            <a:r>
              <a:rPr lang="en-US" sz="2200" b="1" dirty="0">
                <a:solidFill>
                  <a:srgbClr val="005088"/>
                </a:solidFill>
                <a:latin typeface="Cambria Math" pitchFamily="34" charset="0"/>
                <a:ea typeface="Cambria Math" pitchFamily="34" charset="-122"/>
                <a:cs typeface="Cambria Math" pitchFamily="34" charset="-120"/>
              </a:rPr>
              <a:t>LeftLeg(John)</a:t>
            </a:r>
            <a:endParaRPr lang="en-US" sz="2200" dirty="0"/>
          </a:p>
        </p:txBody>
      </p:sp>
      <p:sp>
        <p:nvSpPr>
          <p:cNvPr id="14" name="Shape 12"/>
          <p:cNvSpPr/>
          <p:nvPr/>
        </p:nvSpPr>
        <p:spPr>
          <a:xfrm>
            <a:off x="6446520" y="4041648"/>
            <a:ext cx="5074920" cy="859536"/>
          </a:xfrm>
          <a:prstGeom prst="roundRect">
            <a:avLst>
              <a:gd name="adj" fmla="val 8511"/>
            </a:avLst>
          </a:prstGeom>
          <a:solidFill>
            <a:srgbClr val="FFE4E6"/>
          </a:solidFill>
          <a:ln w="12700">
            <a:solidFill>
              <a:srgbClr val="FDA4AF"/>
            </a:solidFill>
            <a:prstDash val="solid"/>
          </a:ln>
        </p:spPr>
      </p:sp>
      <p:sp>
        <p:nvSpPr>
          <p:cNvPr id="15" name="Text 13"/>
          <p:cNvSpPr/>
          <p:nvPr/>
        </p:nvSpPr>
        <p:spPr>
          <a:xfrm>
            <a:off x="6629400" y="4178808"/>
            <a:ext cx="4709160" cy="219456"/>
          </a:xfrm>
          <a:prstGeom prst="rect">
            <a:avLst/>
          </a:prstGeom>
          <a:noFill/>
          <a:ln/>
        </p:spPr>
        <p:txBody>
          <a:bodyPr wrap="square" lIns="0" tIns="0" rIns="0" bIns="0" rtlCol="0" anchor="ctr"/>
          <a:lstStyle/>
          <a:p>
            <a:pPr indent="0" marL="0">
              <a:buNone/>
            </a:pPr>
            <a:r>
              <a:rPr lang="en-US" sz="950" b="1" dirty="0">
                <a:solidFill>
                  <a:srgbClr val="C1121F"/>
                </a:solidFill>
              </a:rPr>
              <a:t>STUDENT GOTCHA</a:t>
            </a:r>
            <a:endParaRPr lang="en-US" sz="950" dirty="0"/>
          </a:p>
        </p:txBody>
      </p:sp>
      <p:sp>
        <p:nvSpPr>
          <p:cNvPr id="16" name="Text 14"/>
          <p:cNvSpPr/>
          <p:nvPr/>
        </p:nvSpPr>
        <p:spPr>
          <a:xfrm>
            <a:off x="6629400" y="4453128"/>
            <a:ext cx="4709160" cy="356616"/>
          </a:xfrm>
          <a:prstGeom prst="rect">
            <a:avLst/>
          </a:prstGeom>
          <a:noFill/>
          <a:ln/>
        </p:spPr>
        <p:txBody>
          <a:bodyPr wrap="square" lIns="254" tIns="254" rIns="254" bIns="254" rtlCol="0" anchor="t">
            <a:normAutofit/>
          </a:bodyPr>
          <a:lstStyle/>
          <a:p>
            <a:pPr indent="0" marL="0">
              <a:buNone/>
            </a:pPr>
            <a:r>
              <a:rPr lang="en-US" sz="1250" dirty="0">
                <a:solidFill>
                  <a:srgbClr val="1E293B"/>
                </a:solidFill>
              </a:rPr>
              <a:t>Students with programming experience may think a function runs code. In logic, a function term denotes an object.</a:t>
            </a:r>
            <a:endParaRPr lang="en-US" sz="1250" dirty="0"/>
          </a:p>
        </p:txBody>
      </p:sp>
      <p:sp>
        <p:nvSpPr>
          <p:cNvPr id="17" name="Shape 15"/>
          <p:cNvSpPr/>
          <p:nvPr/>
        </p:nvSpPr>
        <p:spPr>
          <a:xfrm>
            <a:off x="6446520" y="5074920"/>
            <a:ext cx="5074920" cy="841248"/>
          </a:xfrm>
          <a:prstGeom prst="roundRect">
            <a:avLst>
              <a:gd name="adj" fmla="val 8696"/>
            </a:avLst>
          </a:prstGeom>
          <a:solidFill>
            <a:srgbClr val="E6FFFA"/>
          </a:solidFill>
          <a:ln w="12700">
            <a:solidFill>
              <a:srgbClr val="2A9D8F"/>
            </a:solidFill>
            <a:prstDash val="solid"/>
          </a:ln>
        </p:spPr>
      </p:sp>
      <p:sp>
        <p:nvSpPr>
          <p:cNvPr id="18" name="Text 16"/>
          <p:cNvSpPr/>
          <p:nvPr/>
        </p:nvSpPr>
        <p:spPr>
          <a:xfrm>
            <a:off x="6629400" y="5212080"/>
            <a:ext cx="4709160" cy="219456"/>
          </a:xfrm>
          <a:prstGeom prst="rect">
            <a:avLst/>
          </a:prstGeom>
          <a:noFill/>
          <a:ln/>
        </p:spPr>
        <p:txBody>
          <a:bodyPr wrap="square" lIns="0" tIns="0" rIns="0" bIns="0" rtlCol="0" anchor="ctr"/>
          <a:lstStyle/>
          <a:p>
            <a:pPr indent="0" marL="0">
              <a:buNone/>
            </a:pPr>
            <a:r>
              <a:rPr lang="en-US" sz="950" b="1" dirty="0">
                <a:solidFill>
                  <a:srgbClr val="007C89"/>
                </a:solidFill>
              </a:rPr>
              <a:t>CLASS CHECK</a:t>
            </a:r>
            <a:endParaRPr lang="en-US" sz="950" dirty="0"/>
          </a:p>
        </p:txBody>
      </p:sp>
      <p:sp>
        <p:nvSpPr>
          <p:cNvPr id="19" name="Text 17"/>
          <p:cNvSpPr/>
          <p:nvPr/>
        </p:nvSpPr>
        <p:spPr>
          <a:xfrm>
            <a:off x="6629400" y="5486400"/>
            <a:ext cx="4709160" cy="338328"/>
          </a:xfrm>
          <a:prstGeom prst="rect">
            <a:avLst/>
          </a:prstGeom>
          <a:noFill/>
          <a:ln/>
        </p:spPr>
        <p:txBody>
          <a:bodyPr wrap="square" lIns="254" tIns="254" rIns="254" bIns="254" rtlCol="0" anchor="t">
            <a:normAutofit/>
          </a:bodyPr>
          <a:lstStyle/>
          <a:p>
            <a:pPr indent="0" marL="0">
              <a:buNone/>
            </a:pPr>
            <a:r>
              <a:rPr lang="en-US" sz="1270" dirty="0">
                <a:solidFill>
                  <a:srgbClr val="1E293B"/>
                </a:solidFill>
              </a:rPr>
              <a:t>Ask: Is Mother(John) a term or a truth claim?</a:t>
            </a:r>
            <a:endParaRPr lang="en-US" sz="127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5088"/>
          </a:solidFill>
          <a:ln w="12700">
            <a:solidFill>
              <a:srgbClr val="005088"/>
            </a:solidFill>
            <a:prstDash val="solid"/>
          </a:ln>
        </p:spPr>
      </p:sp>
      <p:sp>
        <p:nvSpPr>
          <p:cNvPr id="3" name="Shape 1"/>
          <p:cNvSpPr/>
          <p:nvPr/>
        </p:nvSpPr>
        <p:spPr>
          <a:xfrm>
            <a:off x="0" y="6729984"/>
            <a:ext cx="12191695" cy="128016"/>
          </a:xfrm>
          <a:prstGeom prst="rect">
            <a:avLst/>
          </a:prstGeom>
          <a:solidFill>
            <a:srgbClr val="005088"/>
          </a:solidFill>
          <a:ln w="12700">
            <a:solidFill>
              <a:srgbClr val="005088"/>
            </a:solidFill>
            <a:prstDash val="solid"/>
          </a:ln>
        </p:spPr>
      </p:sp>
      <p:sp>
        <p:nvSpPr>
          <p:cNvPr id="4" name="Text 2"/>
          <p:cNvSpPr/>
          <p:nvPr/>
        </p:nvSpPr>
        <p:spPr>
          <a:xfrm>
            <a:off x="502920" y="210312"/>
            <a:ext cx="6858000" cy="219456"/>
          </a:xfrm>
          <a:prstGeom prst="rect">
            <a:avLst/>
          </a:prstGeom>
          <a:noFill/>
          <a:ln/>
        </p:spPr>
        <p:txBody>
          <a:bodyPr wrap="square" lIns="0" tIns="0" rIns="0" bIns="0" rtlCol="0" anchor="ctr"/>
          <a:lstStyle/>
          <a:p>
            <a:pPr indent="0" marL="0">
              <a:buNone/>
            </a:pPr>
            <a:r>
              <a:rPr lang="en-US" sz="950" b="1" dirty="0">
                <a:solidFill>
                  <a:srgbClr val="3D5A80"/>
                </a:solidFill>
                <a:latin typeface="Aptos" pitchFamily="34" charset="0"/>
                <a:ea typeface="Aptos" pitchFamily="34" charset="-122"/>
                <a:cs typeface="Aptos" pitchFamily="34" charset="-120"/>
              </a:rPr>
              <a:t>8.2.1 Models for first-order logic</a:t>
            </a:r>
            <a:endParaRPr lang="en-US" sz="950" dirty="0"/>
          </a:p>
        </p:txBody>
      </p:sp>
      <p:sp>
        <p:nvSpPr>
          <p:cNvPr id="5" name="Text 3"/>
          <p:cNvSpPr/>
          <p:nvPr/>
        </p:nvSpPr>
        <p:spPr>
          <a:xfrm>
            <a:off x="11018520" y="201168"/>
            <a:ext cx="640080" cy="228600"/>
          </a:xfrm>
          <a:prstGeom prst="rect">
            <a:avLst/>
          </a:prstGeom>
          <a:noFill/>
          <a:ln/>
        </p:spPr>
        <p:txBody>
          <a:bodyPr wrap="square" lIns="0" tIns="0" rIns="0" bIns="0" rtlCol="0" anchor="ctr"/>
          <a:lstStyle/>
          <a:p>
            <a:pPr algn="r" indent="0" marL="0">
              <a:buNone/>
            </a:pPr>
            <a:r>
              <a:rPr lang="en-US" sz="900" b="1" dirty="0">
                <a:solidFill>
                  <a:srgbClr val="3D5A80"/>
                </a:solidFill>
              </a:rPr>
              <a:t>29</a:t>
            </a:r>
            <a:endParaRPr lang="en-US" sz="900" dirty="0"/>
          </a:p>
        </p:txBody>
      </p:sp>
      <p:sp>
        <p:nvSpPr>
          <p:cNvPr id="6" name="Text 4"/>
          <p:cNvSpPr/>
          <p:nvPr/>
        </p:nvSpPr>
        <p:spPr>
          <a:xfrm>
            <a:off x="502920" y="566928"/>
            <a:ext cx="11201400" cy="512064"/>
          </a:xfrm>
          <a:prstGeom prst="rect">
            <a:avLst/>
          </a:prstGeom>
          <a:noFill/>
          <a:ln/>
        </p:spPr>
        <p:txBody>
          <a:bodyPr wrap="square" lIns="0" tIns="0" rIns="0" bIns="0" rtlCol="0" anchor="ctr">
            <a:normAutofit/>
          </a:bodyPr>
          <a:lstStyle/>
          <a:p>
            <a:pPr indent="0" marL="0">
              <a:buNone/>
            </a:pPr>
            <a:r>
              <a:rPr lang="en-US" sz="2650" b="1" dirty="0">
                <a:solidFill>
                  <a:srgbClr val="005088"/>
                </a:solidFill>
                <a:latin typeface="Aptos Display" pitchFamily="34" charset="0"/>
                <a:ea typeface="Aptos Display" pitchFamily="34" charset="-122"/>
                <a:cs typeface="Aptos Display" pitchFamily="34" charset="-120"/>
              </a:rPr>
              <a:t>TOTAL FUNCTIONS CAN FEEL STRANGE</a:t>
            </a:r>
            <a:endParaRPr lang="en-US" sz="2650" dirty="0"/>
          </a:p>
        </p:txBody>
      </p:sp>
      <p:sp>
        <p:nvSpPr>
          <p:cNvPr id="7" name="Shape 5"/>
          <p:cNvSpPr/>
          <p:nvPr/>
        </p:nvSpPr>
        <p:spPr>
          <a:xfrm>
            <a:off x="502920" y="1188720"/>
            <a:ext cx="11109960" cy="0"/>
          </a:xfrm>
          <a:prstGeom prst="line">
            <a:avLst/>
          </a:prstGeom>
          <a:noFill/>
          <a:ln w="12700">
            <a:solidFill>
              <a:srgbClr val="3D5A80"/>
            </a:solidFill>
            <a:prstDash val="solid"/>
          </a:ln>
        </p:spPr>
      </p:sp>
      <p:sp>
        <p:nvSpPr>
          <p:cNvPr id="8" name="Text 6"/>
          <p:cNvSpPr/>
          <p:nvPr/>
        </p:nvSpPr>
        <p:spPr>
          <a:xfrm>
            <a:off x="713232" y="1572768"/>
            <a:ext cx="5440680" cy="4251960"/>
          </a:xfrm>
          <a:prstGeom prst="rect">
            <a:avLst/>
          </a:prstGeom>
          <a:noFill/>
          <a:ln/>
        </p:spPr>
        <p:txBody>
          <a:bodyPr wrap="square" lIns="1016" tIns="1016" rIns="1016" bIns="1016" rtlCol="0" anchor="t">
            <a:normAutofit/>
          </a:bodyPr>
          <a:lstStyle/>
          <a:p>
            <a:pPr indent="0" marL="0">
              <a:buNone/>
            </a:pPr>
            <a:r>
              <a:rPr lang="en-US" sz="1650" dirty="0">
                <a:solidFill>
                  <a:srgbClr val="1E293B"/>
                </a:solidFill>
                <a:latin typeface="Aptos" pitchFamily="34" charset="0"/>
                <a:ea typeface="Aptos" pitchFamily="34" charset="-122"/>
                <a:cs typeface="Aptos" pitchFamily="34" charset="-120"/>
              </a:rPr>
              <a:t>• First-order logic functions are total</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They must return a value for every input in the domain</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This can create odd cases such as LeftLeg(Crown)</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Usually the knowledge base avoids irrelevant questions</a:t>
            </a:r>
            <a:endParaRPr lang="en-US" sz="1650" dirty="0"/>
          </a:p>
        </p:txBody>
      </p:sp>
      <p:sp>
        <p:nvSpPr>
          <p:cNvPr id="9" name="Shape 7"/>
          <p:cNvSpPr/>
          <p:nvPr/>
        </p:nvSpPr>
        <p:spPr>
          <a:xfrm>
            <a:off x="6446520" y="1572768"/>
            <a:ext cx="5074920" cy="1234440"/>
          </a:xfrm>
          <a:prstGeom prst="roundRect">
            <a:avLst>
              <a:gd name="adj" fmla="val 5926"/>
            </a:avLst>
          </a:prstGeom>
          <a:solidFill>
            <a:srgbClr val="FFF6D9"/>
          </a:solidFill>
          <a:ln w="12700">
            <a:solidFill>
              <a:srgbClr val="F4A261"/>
            </a:solidFill>
            <a:prstDash val="solid"/>
          </a:ln>
        </p:spPr>
      </p:sp>
      <p:sp>
        <p:nvSpPr>
          <p:cNvPr id="10" name="Text 8"/>
          <p:cNvSpPr/>
          <p:nvPr/>
        </p:nvSpPr>
        <p:spPr>
          <a:xfrm>
            <a:off x="6629400" y="1709928"/>
            <a:ext cx="4709160" cy="219456"/>
          </a:xfrm>
          <a:prstGeom prst="rect">
            <a:avLst/>
          </a:prstGeom>
          <a:noFill/>
          <a:ln/>
        </p:spPr>
        <p:txBody>
          <a:bodyPr wrap="square" lIns="0" tIns="0" rIns="0" bIns="0" rtlCol="0" anchor="ctr"/>
          <a:lstStyle/>
          <a:p>
            <a:pPr indent="0" marL="0">
              <a:buNone/>
            </a:pPr>
            <a:r>
              <a:rPr lang="en-US" sz="950" b="1" dirty="0">
                <a:solidFill>
                  <a:srgbClr val="B0005D"/>
                </a:solidFill>
              </a:rPr>
              <a:t>ANALOGY</a:t>
            </a:r>
            <a:endParaRPr lang="en-US" sz="950" dirty="0"/>
          </a:p>
        </p:txBody>
      </p:sp>
      <p:sp>
        <p:nvSpPr>
          <p:cNvPr id="11" name="Text 9"/>
          <p:cNvSpPr/>
          <p:nvPr/>
        </p:nvSpPr>
        <p:spPr>
          <a:xfrm>
            <a:off x="6629400" y="1984248"/>
            <a:ext cx="4709160" cy="731520"/>
          </a:xfrm>
          <a:prstGeom prst="rect">
            <a:avLst/>
          </a:prstGeom>
          <a:noFill/>
          <a:ln/>
        </p:spPr>
        <p:txBody>
          <a:bodyPr wrap="square" lIns="254" tIns="254" rIns="254" bIns="254" rtlCol="0" anchor="t">
            <a:normAutofit/>
          </a:bodyPr>
          <a:lstStyle/>
          <a:p>
            <a:pPr indent="0" marL="0">
              <a:buNone/>
            </a:pPr>
            <a:r>
              <a:rPr lang="en-US" sz="1330" dirty="0">
                <a:solidFill>
                  <a:srgbClr val="1E293B"/>
                </a:solidFill>
              </a:rPr>
              <a:t>A form that requires every field to be filled may force an answer even when the question is silly, such as “shoe size of a crown.”</a:t>
            </a:r>
            <a:endParaRPr lang="en-US" sz="1330" dirty="0"/>
          </a:p>
        </p:txBody>
      </p:sp>
      <p:sp>
        <p:nvSpPr>
          <p:cNvPr id="12" name="Shape 10"/>
          <p:cNvSpPr/>
          <p:nvPr/>
        </p:nvSpPr>
        <p:spPr>
          <a:xfrm>
            <a:off x="6446520" y="2999232"/>
            <a:ext cx="5074920" cy="841248"/>
          </a:xfrm>
          <a:prstGeom prst="roundRect">
            <a:avLst>
              <a:gd name="adj" fmla="val 8696"/>
            </a:avLst>
          </a:prstGeom>
          <a:solidFill>
            <a:srgbClr val="FFFFFF">
              <a:alpha val="97000"/>
            </a:srgbClr>
          </a:solidFill>
          <a:ln w="12700">
            <a:solidFill>
              <a:srgbClr val="007C89"/>
            </a:solidFill>
            <a:prstDash val="solid"/>
          </a:ln>
        </p:spPr>
      </p:sp>
      <p:sp>
        <p:nvSpPr>
          <p:cNvPr id="13" name="Text 11"/>
          <p:cNvSpPr/>
          <p:nvPr/>
        </p:nvSpPr>
        <p:spPr>
          <a:xfrm>
            <a:off x="6611112" y="3127248"/>
            <a:ext cx="4745736" cy="658368"/>
          </a:xfrm>
          <a:prstGeom prst="rect">
            <a:avLst/>
          </a:prstGeom>
          <a:noFill/>
          <a:ln/>
        </p:spPr>
        <p:txBody>
          <a:bodyPr wrap="square" lIns="0" tIns="0" rIns="0" bIns="0" rtlCol="0" anchor="ctr">
            <a:normAutofit/>
          </a:bodyPr>
          <a:lstStyle/>
          <a:p>
            <a:pPr algn="ctr" indent="0" marL="0">
              <a:buNone/>
            </a:pPr>
            <a:r>
              <a:rPr lang="en-US" sz="1800" b="1" dirty="0">
                <a:solidFill>
                  <a:srgbClr val="005088"/>
                </a:solidFill>
                <a:latin typeface="Cambria Math" pitchFamily="34" charset="0"/>
                <a:ea typeface="Cambria Math" pitchFamily="34" charset="-122"/>
                <a:cs typeface="Cambria Math" pitchFamily="34" charset="-120"/>
              </a:rPr>
              <a:t>Function input → exactly one object</a:t>
            </a:r>
            <a:endParaRPr lang="en-US" sz="1800" dirty="0"/>
          </a:p>
        </p:txBody>
      </p:sp>
      <p:sp>
        <p:nvSpPr>
          <p:cNvPr id="14" name="Shape 12"/>
          <p:cNvSpPr/>
          <p:nvPr/>
        </p:nvSpPr>
        <p:spPr>
          <a:xfrm>
            <a:off x="6446520" y="4041648"/>
            <a:ext cx="5074920" cy="859536"/>
          </a:xfrm>
          <a:prstGeom prst="roundRect">
            <a:avLst>
              <a:gd name="adj" fmla="val 8511"/>
            </a:avLst>
          </a:prstGeom>
          <a:solidFill>
            <a:srgbClr val="FFE4E6"/>
          </a:solidFill>
          <a:ln w="12700">
            <a:solidFill>
              <a:srgbClr val="FDA4AF"/>
            </a:solidFill>
            <a:prstDash val="solid"/>
          </a:ln>
        </p:spPr>
      </p:sp>
      <p:sp>
        <p:nvSpPr>
          <p:cNvPr id="15" name="Text 13"/>
          <p:cNvSpPr/>
          <p:nvPr/>
        </p:nvSpPr>
        <p:spPr>
          <a:xfrm>
            <a:off x="6629400" y="4178808"/>
            <a:ext cx="4709160" cy="219456"/>
          </a:xfrm>
          <a:prstGeom prst="rect">
            <a:avLst/>
          </a:prstGeom>
          <a:noFill/>
          <a:ln/>
        </p:spPr>
        <p:txBody>
          <a:bodyPr wrap="square" lIns="0" tIns="0" rIns="0" bIns="0" rtlCol="0" anchor="ctr"/>
          <a:lstStyle/>
          <a:p>
            <a:pPr indent="0" marL="0">
              <a:buNone/>
            </a:pPr>
            <a:r>
              <a:rPr lang="en-US" sz="950" b="1" dirty="0">
                <a:solidFill>
                  <a:srgbClr val="C1121F"/>
                </a:solidFill>
              </a:rPr>
              <a:t>STUDENT GOTCHA</a:t>
            </a:r>
            <a:endParaRPr lang="en-US" sz="950" dirty="0"/>
          </a:p>
        </p:txBody>
      </p:sp>
      <p:sp>
        <p:nvSpPr>
          <p:cNvPr id="16" name="Text 14"/>
          <p:cNvSpPr/>
          <p:nvPr/>
        </p:nvSpPr>
        <p:spPr>
          <a:xfrm>
            <a:off x="6629400" y="4453128"/>
            <a:ext cx="4709160" cy="356616"/>
          </a:xfrm>
          <a:prstGeom prst="rect">
            <a:avLst/>
          </a:prstGeom>
          <a:noFill/>
          <a:ln/>
        </p:spPr>
        <p:txBody>
          <a:bodyPr wrap="square" lIns="254" tIns="254" rIns="254" bIns="254" rtlCol="0" anchor="t">
            <a:normAutofit/>
          </a:bodyPr>
          <a:lstStyle/>
          <a:p>
            <a:pPr indent="0" marL="0">
              <a:buNone/>
            </a:pPr>
            <a:r>
              <a:rPr lang="en-US" sz="1250" dirty="0">
                <a:solidFill>
                  <a:srgbClr val="1E293B"/>
                </a:solidFill>
              </a:rPr>
              <a:t>The odd technical cases do not mean the representation is useless; they remind us to design vocabulary carefully.</a:t>
            </a:r>
            <a:endParaRPr lang="en-US" sz="1250" dirty="0"/>
          </a:p>
        </p:txBody>
      </p:sp>
      <p:sp>
        <p:nvSpPr>
          <p:cNvPr id="17" name="Shape 15"/>
          <p:cNvSpPr/>
          <p:nvPr/>
        </p:nvSpPr>
        <p:spPr>
          <a:xfrm>
            <a:off x="6446520" y="5074920"/>
            <a:ext cx="5074920" cy="841248"/>
          </a:xfrm>
          <a:prstGeom prst="roundRect">
            <a:avLst>
              <a:gd name="adj" fmla="val 8696"/>
            </a:avLst>
          </a:prstGeom>
          <a:solidFill>
            <a:srgbClr val="E6FFFA"/>
          </a:solidFill>
          <a:ln w="12700">
            <a:solidFill>
              <a:srgbClr val="2A9D8F"/>
            </a:solidFill>
            <a:prstDash val="solid"/>
          </a:ln>
        </p:spPr>
      </p:sp>
      <p:sp>
        <p:nvSpPr>
          <p:cNvPr id="18" name="Text 16"/>
          <p:cNvSpPr/>
          <p:nvPr/>
        </p:nvSpPr>
        <p:spPr>
          <a:xfrm>
            <a:off x="6629400" y="5212080"/>
            <a:ext cx="4709160" cy="219456"/>
          </a:xfrm>
          <a:prstGeom prst="rect">
            <a:avLst/>
          </a:prstGeom>
          <a:noFill/>
          <a:ln/>
        </p:spPr>
        <p:txBody>
          <a:bodyPr wrap="square" lIns="0" tIns="0" rIns="0" bIns="0" rtlCol="0" anchor="ctr"/>
          <a:lstStyle/>
          <a:p>
            <a:pPr indent="0" marL="0">
              <a:buNone/>
            </a:pPr>
            <a:r>
              <a:rPr lang="en-US" sz="950" b="1" dirty="0">
                <a:solidFill>
                  <a:srgbClr val="007C89"/>
                </a:solidFill>
              </a:rPr>
              <a:t>CLASS CHECK</a:t>
            </a:r>
            <a:endParaRPr lang="en-US" sz="950" dirty="0"/>
          </a:p>
        </p:txBody>
      </p:sp>
      <p:sp>
        <p:nvSpPr>
          <p:cNvPr id="19" name="Text 17"/>
          <p:cNvSpPr/>
          <p:nvPr/>
        </p:nvSpPr>
        <p:spPr>
          <a:xfrm>
            <a:off x="6629400" y="5486400"/>
            <a:ext cx="4709160" cy="338328"/>
          </a:xfrm>
          <a:prstGeom prst="rect">
            <a:avLst/>
          </a:prstGeom>
          <a:noFill/>
          <a:ln/>
        </p:spPr>
        <p:txBody>
          <a:bodyPr wrap="square" lIns="254" tIns="254" rIns="254" bIns="254" rtlCol="0" anchor="t">
            <a:normAutofit/>
          </a:bodyPr>
          <a:lstStyle/>
          <a:p>
            <a:pPr indent="0" marL="0">
              <a:buNone/>
            </a:pPr>
            <a:r>
              <a:rPr lang="en-US" sz="1270" dirty="0">
                <a:solidFill>
                  <a:srgbClr val="1E293B"/>
                </a:solidFill>
              </a:rPr>
              <a:t>Ask: Why might a predicate HasLeftLeg(x) help avoid awkward questions?</a:t>
            </a:r>
            <a:endParaRPr lang="en-US" sz="127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5088"/>
          </a:solidFill>
          <a:ln w="12700">
            <a:solidFill>
              <a:srgbClr val="005088"/>
            </a:solidFill>
            <a:prstDash val="solid"/>
          </a:ln>
        </p:spPr>
      </p:sp>
      <p:sp>
        <p:nvSpPr>
          <p:cNvPr id="3" name="Shape 1"/>
          <p:cNvSpPr/>
          <p:nvPr/>
        </p:nvSpPr>
        <p:spPr>
          <a:xfrm>
            <a:off x="0" y="6729984"/>
            <a:ext cx="12191695" cy="128016"/>
          </a:xfrm>
          <a:prstGeom prst="rect">
            <a:avLst/>
          </a:prstGeom>
          <a:solidFill>
            <a:srgbClr val="005088"/>
          </a:solidFill>
          <a:ln w="12700">
            <a:solidFill>
              <a:srgbClr val="005088"/>
            </a:solidFill>
            <a:prstDash val="solid"/>
          </a:ln>
        </p:spPr>
      </p:sp>
      <p:sp>
        <p:nvSpPr>
          <p:cNvPr id="4" name="Text 2"/>
          <p:cNvSpPr/>
          <p:nvPr/>
        </p:nvSpPr>
        <p:spPr>
          <a:xfrm>
            <a:off x="502920" y="210312"/>
            <a:ext cx="6858000" cy="219456"/>
          </a:xfrm>
          <a:prstGeom prst="rect">
            <a:avLst/>
          </a:prstGeom>
          <a:noFill/>
          <a:ln/>
        </p:spPr>
        <p:txBody>
          <a:bodyPr wrap="square" lIns="0" tIns="0" rIns="0" bIns="0" rtlCol="0" anchor="ctr"/>
          <a:lstStyle/>
          <a:p>
            <a:pPr indent="0" marL="0">
              <a:buNone/>
            </a:pPr>
            <a:r>
              <a:rPr lang="en-US" sz="950" b="1" dirty="0">
                <a:solidFill>
                  <a:srgbClr val="3D5A80"/>
                </a:solidFill>
                <a:latin typeface="Aptos" pitchFamily="34" charset="0"/>
                <a:ea typeface="Aptos" pitchFamily="34" charset="-122"/>
                <a:cs typeface="Aptos" pitchFamily="34" charset="-120"/>
              </a:rPr>
              <a:t>8.2.2 Symbols and interpretations</a:t>
            </a:r>
            <a:endParaRPr lang="en-US" sz="950" dirty="0"/>
          </a:p>
        </p:txBody>
      </p:sp>
      <p:sp>
        <p:nvSpPr>
          <p:cNvPr id="5" name="Text 3"/>
          <p:cNvSpPr/>
          <p:nvPr/>
        </p:nvSpPr>
        <p:spPr>
          <a:xfrm>
            <a:off x="11018520" y="201168"/>
            <a:ext cx="640080" cy="228600"/>
          </a:xfrm>
          <a:prstGeom prst="rect">
            <a:avLst/>
          </a:prstGeom>
          <a:noFill/>
          <a:ln/>
        </p:spPr>
        <p:txBody>
          <a:bodyPr wrap="square" lIns="0" tIns="0" rIns="0" bIns="0" rtlCol="0" anchor="ctr"/>
          <a:lstStyle/>
          <a:p>
            <a:pPr algn="r" indent="0" marL="0">
              <a:buNone/>
            </a:pPr>
            <a:r>
              <a:rPr lang="en-US" sz="900" b="1" dirty="0">
                <a:solidFill>
                  <a:srgbClr val="3D5A80"/>
                </a:solidFill>
              </a:rPr>
              <a:t>30</a:t>
            </a:r>
            <a:endParaRPr lang="en-US" sz="900" dirty="0"/>
          </a:p>
        </p:txBody>
      </p:sp>
      <p:sp>
        <p:nvSpPr>
          <p:cNvPr id="6" name="Text 4"/>
          <p:cNvSpPr/>
          <p:nvPr/>
        </p:nvSpPr>
        <p:spPr>
          <a:xfrm>
            <a:off x="502920" y="566928"/>
            <a:ext cx="11201400" cy="512064"/>
          </a:xfrm>
          <a:prstGeom prst="rect">
            <a:avLst/>
          </a:prstGeom>
          <a:noFill/>
          <a:ln/>
        </p:spPr>
        <p:txBody>
          <a:bodyPr wrap="square" lIns="0" tIns="0" rIns="0" bIns="0" rtlCol="0" anchor="ctr">
            <a:normAutofit/>
          </a:bodyPr>
          <a:lstStyle/>
          <a:p>
            <a:pPr indent="0" marL="0">
              <a:buNone/>
            </a:pPr>
            <a:r>
              <a:rPr lang="en-US" sz="2650" b="1" dirty="0">
                <a:solidFill>
                  <a:srgbClr val="005088"/>
                </a:solidFill>
                <a:latin typeface="Aptos Display" pitchFamily="34" charset="0"/>
                <a:ea typeface="Aptos Display" pitchFamily="34" charset="-122"/>
                <a:cs typeface="Aptos Display" pitchFamily="34" charset="-120"/>
              </a:rPr>
              <a:t>INTERPRETATIONS GIVE SYMBOLS MEANING</a:t>
            </a:r>
            <a:endParaRPr lang="en-US" sz="2650" dirty="0"/>
          </a:p>
        </p:txBody>
      </p:sp>
      <p:sp>
        <p:nvSpPr>
          <p:cNvPr id="7" name="Shape 5"/>
          <p:cNvSpPr/>
          <p:nvPr/>
        </p:nvSpPr>
        <p:spPr>
          <a:xfrm>
            <a:off x="502920" y="1188720"/>
            <a:ext cx="11109960" cy="0"/>
          </a:xfrm>
          <a:prstGeom prst="line">
            <a:avLst/>
          </a:prstGeom>
          <a:noFill/>
          <a:ln w="12700">
            <a:solidFill>
              <a:srgbClr val="3D5A80"/>
            </a:solidFill>
            <a:prstDash val="solid"/>
          </a:ln>
        </p:spPr>
      </p:sp>
      <p:sp>
        <p:nvSpPr>
          <p:cNvPr id="8" name="Text 6"/>
          <p:cNvSpPr/>
          <p:nvPr/>
        </p:nvSpPr>
        <p:spPr>
          <a:xfrm>
            <a:off x="713232" y="1572768"/>
            <a:ext cx="5440680" cy="4251960"/>
          </a:xfrm>
          <a:prstGeom prst="rect">
            <a:avLst/>
          </a:prstGeom>
          <a:noFill/>
          <a:ln/>
        </p:spPr>
        <p:txBody>
          <a:bodyPr wrap="square" lIns="1016" tIns="1016" rIns="1016" bIns="1016" rtlCol="0" anchor="t">
            <a:normAutofit/>
          </a:bodyPr>
          <a:lstStyle/>
          <a:p>
            <a:pPr indent="0" marL="0">
              <a:buNone/>
            </a:pPr>
            <a:r>
              <a:rPr lang="en-US" sz="1650" dirty="0">
                <a:solidFill>
                  <a:srgbClr val="1E293B"/>
                </a:solidFill>
                <a:latin typeface="Aptos" pitchFamily="34" charset="0"/>
                <a:ea typeface="Aptos" pitchFamily="34" charset="-122"/>
                <a:cs typeface="Aptos" pitchFamily="34" charset="-120"/>
              </a:rPr>
              <a:t>• Constants map to objects</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Predicate symbols map to relations</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Function symbols map to functions</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Different interpretations can make different sentences true</a:t>
            </a:r>
            <a:endParaRPr lang="en-US" sz="1650" dirty="0"/>
          </a:p>
        </p:txBody>
      </p:sp>
      <p:sp>
        <p:nvSpPr>
          <p:cNvPr id="9" name="Shape 7"/>
          <p:cNvSpPr/>
          <p:nvPr/>
        </p:nvSpPr>
        <p:spPr>
          <a:xfrm>
            <a:off x="6446520" y="1572768"/>
            <a:ext cx="5074920" cy="1234440"/>
          </a:xfrm>
          <a:prstGeom prst="roundRect">
            <a:avLst>
              <a:gd name="adj" fmla="val 5926"/>
            </a:avLst>
          </a:prstGeom>
          <a:solidFill>
            <a:srgbClr val="FFF6D9"/>
          </a:solidFill>
          <a:ln w="12700">
            <a:solidFill>
              <a:srgbClr val="F4A261"/>
            </a:solidFill>
            <a:prstDash val="solid"/>
          </a:ln>
        </p:spPr>
      </p:sp>
      <p:sp>
        <p:nvSpPr>
          <p:cNvPr id="10" name="Text 8"/>
          <p:cNvSpPr/>
          <p:nvPr/>
        </p:nvSpPr>
        <p:spPr>
          <a:xfrm>
            <a:off x="6629400" y="1709928"/>
            <a:ext cx="4709160" cy="219456"/>
          </a:xfrm>
          <a:prstGeom prst="rect">
            <a:avLst/>
          </a:prstGeom>
          <a:noFill/>
          <a:ln/>
        </p:spPr>
        <p:txBody>
          <a:bodyPr wrap="square" lIns="0" tIns="0" rIns="0" bIns="0" rtlCol="0" anchor="ctr"/>
          <a:lstStyle/>
          <a:p>
            <a:pPr indent="0" marL="0">
              <a:buNone/>
            </a:pPr>
            <a:r>
              <a:rPr lang="en-US" sz="950" b="1" dirty="0">
                <a:solidFill>
                  <a:srgbClr val="B0005D"/>
                </a:solidFill>
              </a:rPr>
              <a:t>ANALOGY</a:t>
            </a:r>
            <a:endParaRPr lang="en-US" sz="950" dirty="0"/>
          </a:p>
        </p:txBody>
      </p:sp>
      <p:sp>
        <p:nvSpPr>
          <p:cNvPr id="11" name="Text 9"/>
          <p:cNvSpPr/>
          <p:nvPr/>
        </p:nvSpPr>
        <p:spPr>
          <a:xfrm>
            <a:off x="6629400" y="1984248"/>
            <a:ext cx="4709160" cy="731520"/>
          </a:xfrm>
          <a:prstGeom prst="rect">
            <a:avLst/>
          </a:prstGeom>
          <a:noFill/>
          <a:ln/>
        </p:spPr>
        <p:txBody>
          <a:bodyPr wrap="square" lIns="254" tIns="254" rIns="254" bIns="254" rtlCol="0" anchor="t">
            <a:normAutofit/>
          </a:bodyPr>
          <a:lstStyle/>
          <a:p>
            <a:pPr indent="0" marL="0">
              <a:buNone/>
            </a:pPr>
            <a:r>
              <a:rPr lang="en-US" sz="1330" dirty="0">
                <a:solidFill>
                  <a:srgbClr val="1E293B"/>
                </a:solidFill>
              </a:rPr>
              <a:t>A label on a moving box is useful only if everyone agrees which box it points to.</a:t>
            </a:r>
            <a:endParaRPr lang="en-US" sz="1330" dirty="0"/>
          </a:p>
        </p:txBody>
      </p:sp>
      <p:sp>
        <p:nvSpPr>
          <p:cNvPr id="12" name="Shape 10"/>
          <p:cNvSpPr/>
          <p:nvPr/>
        </p:nvSpPr>
        <p:spPr>
          <a:xfrm>
            <a:off x="6446520" y="2999232"/>
            <a:ext cx="5074920" cy="841248"/>
          </a:xfrm>
          <a:prstGeom prst="roundRect">
            <a:avLst>
              <a:gd name="adj" fmla="val 8696"/>
            </a:avLst>
          </a:prstGeom>
          <a:solidFill>
            <a:srgbClr val="FFFFFF">
              <a:alpha val="97000"/>
            </a:srgbClr>
          </a:solidFill>
          <a:ln w="12700">
            <a:solidFill>
              <a:srgbClr val="007C89"/>
            </a:solidFill>
            <a:prstDash val="solid"/>
          </a:ln>
        </p:spPr>
      </p:sp>
      <p:sp>
        <p:nvSpPr>
          <p:cNvPr id="13" name="Text 11"/>
          <p:cNvSpPr/>
          <p:nvPr/>
        </p:nvSpPr>
        <p:spPr>
          <a:xfrm>
            <a:off x="6611112" y="3127248"/>
            <a:ext cx="4745736" cy="658368"/>
          </a:xfrm>
          <a:prstGeom prst="rect">
            <a:avLst/>
          </a:prstGeom>
          <a:noFill/>
          <a:ln/>
        </p:spPr>
        <p:txBody>
          <a:bodyPr wrap="square" lIns="0" tIns="0" rIns="0" bIns="0" rtlCol="0" anchor="ctr">
            <a:normAutofit/>
          </a:bodyPr>
          <a:lstStyle/>
          <a:p>
            <a:pPr algn="ctr" indent="0" marL="0">
              <a:buNone/>
            </a:pPr>
            <a:r>
              <a:rPr lang="en-US" sz="2200" b="1" dirty="0">
                <a:solidFill>
                  <a:srgbClr val="005088"/>
                </a:solidFill>
                <a:latin typeface="Cambria Math" pitchFamily="34" charset="0"/>
                <a:ea typeface="Cambria Math" pitchFamily="34" charset="-122"/>
                <a:cs typeface="Cambria Math" pitchFamily="34" charset="-120"/>
              </a:rPr>
              <a:t>John ↦ King John</a:t>
            </a:r>
            <a:endParaRPr lang="en-US" sz="2200" dirty="0"/>
          </a:p>
        </p:txBody>
      </p:sp>
      <p:sp>
        <p:nvSpPr>
          <p:cNvPr id="14" name="Shape 12"/>
          <p:cNvSpPr/>
          <p:nvPr/>
        </p:nvSpPr>
        <p:spPr>
          <a:xfrm>
            <a:off x="6446520" y="4041648"/>
            <a:ext cx="5074920" cy="859536"/>
          </a:xfrm>
          <a:prstGeom prst="roundRect">
            <a:avLst>
              <a:gd name="adj" fmla="val 8511"/>
            </a:avLst>
          </a:prstGeom>
          <a:solidFill>
            <a:srgbClr val="FFE4E6"/>
          </a:solidFill>
          <a:ln w="12700">
            <a:solidFill>
              <a:srgbClr val="FDA4AF"/>
            </a:solidFill>
            <a:prstDash val="solid"/>
          </a:ln>
        </p:spPr>
      </p:sp>
      <p:sp>
        <p:nvSpPr>
          <p:cNvPr id="15" name="Text 13"/>
          <p:cNvSpPr/>
          <p:nvPr/>
        </p:nvSpPr>
        <p:spPr>
          <a:xfrm>
            <a:off x="6629400" y="4178808"/>
            <a:ext cx="4709160" cy="219456"/>
          </a:xfrm>
          <a:prstGeom prst="rect">
            <a:avLst/>
          </a:prstGeom>
          <a:noFill/>
          <a:ln/>
        </p:spPr>
        <p:txBody>
          <a:bodyPr wrap="square" lIns="0" tIns="0" rIns="0" bIns="0" rtlCol="0" anchor="ctr"/>
          <a:lstStyle/>
          <a:p>
            <a:pPr indent="0" marL="0">
              <a:buNone/>
            </a:pPr>
            <a:r>
              <a:rPr lang="en-US" sz="950" b="1" dirty="0">
                <a:solidFill>
                  <a:srgbClr val="C1121F"/>
                </a:solidFill>
              </a:rPr>
              <a:t>STUDENT GOTCHA</a:t>
            </a:r>
            <a:endParaRPr lang="en-US" sz="950" dirty="0"/>
          </a:p>
        </p:txBody>
      </p:sp>
      <p:sp>
        <p:nvSpPr>
          <p:cNvPr id="16" name="Text 14"/>
          <p:cNvSpPr/>
          <p:nvPr/>
        </p:nvSpPr>
        <p:spPr>
          <a:xfrm>
            <a:off x="6629400" y="4453128"/>
            <a:ext cx="4709160" cy="356616"/>
          </a:xfrm>
          <a:prstGeom prst="rect">
            <a:avLst/>
          </a:prstGeom>
          <a:noFill/>
          <a:ln/>
        </p:spPr>
        <p:txBody>
          <a:bodyPr wrap="square" lIns="254" tIns="254" rIns="254" bIns="254" rtlCol="0" anchor="t">
            <a:normAutofit/>
          </a:bodyPr>
          <a:lstStyle/>
          <a:p>
            <a:pPr indent="0" marL="0">
              <a:buNone/>
            </a:pPr>
            <a:r>
              <a:rPr lang="en-US" sz="1250" dirty="0">
                <a:solidFill>
                  <a:srgbClr val="1E293B"/>
                </a:solidFill>
              </a:rPr>
              <a:t>Symbols do not carry meaning by themselves. The interpretation is the bridge from marks on the slide to objects in a model.</a:t>
            </a:r>
            <a:endParaRPr lang="en-US" sz="1250" dirty="0"/>
          </a:p>
        </p:txBody>
      </p:sp>
      <p:sp>
        <p:nvSpPr>
          <p:cNvPr id="17" name="Shape 15"/>
          <p:cNvSpPr/>
          <p:nvPr/>
        </p:nvSpPr>
        <p:spPr>
          <a:xfrm>
            <a:off x="6446520" y="5074920"/>
            <a:ext cx="5074920" cy="841248"/>
          </a:xfrm>
          <a:prstGeom prst="roundRect">
            <a:avLst>
              <a:gd name="adj" fmla="val 8696"/>
            </a:avLst>
          </a:prstGeom>
          <a:solidFill>
            <a:srgbClr val="E6FFFA"/>
          </a:solidFill>
          <a:ln w="12700">
            <a:solidFill>
              <a:srgbClr val="2A9D8F"/>
            </a:solidFill>
            <a:prstDash val="solid"/>
          </a:ln>
        </p:spPr>
      </p:sp>
      <p:sp>
        <p:nvSpPr>
          <p:cNvPr id="18" name="Text 16"/>
          <p:cNvSpPr/>
          <p:nvPr/>
        </p:nvSpPr>
        <p:spPr>
          <a:xfrm>
            <a:off x="6629400" y="5212080"/>
            <a:ext cx="4709160" cy="219456"/>
          </a:xfrm>
          <a:prstGeom prst="rect">
            <a:avLst/>
          </a:prstGeom>
          <a:noFill/>
          <a:ln/>
        </p:spPr>
        <p:txBody>
          <a:bodyPr wrap="square" lIns="0" tIns="0" rIns="0" bIns="0" rtlCol="0" anchor="ctr"/>
          <a:lstStyle/>
          <a:p>
            <a:pPr indent="0" marL="0">
              <a:buNone/>
            </a:pPr>
            <a:r>
              <a:rPr lang="en-US" sz="950" b="1" dirty="0">
                <a:solidFill>
                  <a:srgbClr val="007C89"/>
                </a:solidFill>
              </a:rPr>
              <a:t>CLASS CHECK</a:t>
            </a:r>
            <a:endParaRPr lang="en-US" sz="950" dirty="0"/>
          </a:p>
        </p:txBody>
      </p:sp>
      <p:sp>
        <p:nvSpPr>
          <p:cNvPr id="19" name="Text 17"/>
          <p:cNvSpPr/>
          <p:nvPr/>
        </p:nvSpPr>
        <p:spPr>
          <a:xfrm>
            <a:off x="6629400" y="5486400"/>
            <a:ext cx="4709160" cy="338328"/>
          </a:xfrm>
          <a:prstGeom prst="rect">
            <a:avLst/>
          </a:prstGeom>
          <a:noFill/>
          <a:ln/>
        </p:spPr>
        <p:txBody>
          <a:bodyPr wrap="square" lIns="254" tIns="254" rIns="254" bIns="254" rtlCol="0" anchor="t">
            <a:normAutofit/>
          </a:bodyPr>
          <a:lstStyle/>
          <a:p>
            <a:pPr indent="0" marL="0">
              <a:buNone/>
            </a:pPr>
            <a:r>
              <a:rPr lang="en-US" sz="1270" dirty="0">
                <a:solidFill>
                  <a:srgbClr val="1E293B"/>
                </a:solidFill>
              </a:rPr>
              <a:t>Ask: What would happen if John mapped to the crown instead?</a:t>
            </a:r>
            <a:endParaRPr lang="en-US" sz="127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5088"/>
          </a:solidFill>
          <a:ln w="12700">
            <a:solidFill>
              <a:srgbClr val="005088"/>
            </a:solidFill>
            <a:prstDash val="solid"/>
          </a:ln>
        </p:spPr>
      </p:sp>
      <p:sp>
        <p:nvSpPr>
          <p:cNvPr id="3" name="Shape 1"/>
          <p:cNvSpPr/>
          <p:nvPr/>
        </p:nvSpPr>
        <p:spPr>
          <a:xfrm>
            <a:off x="0" y="6729984"/>
            <a:ext cx="12191695" cy="128016"/>
          </a:xfrm>
          <a:prstGeom prst="rect">
            <a:avLst/>
          </a:prstGeom>
          <a:solidFill>
            <a:srgbClr val="005088"/>
          </a:solidFill>
          <a:ln w="12700">
            <a:solidFill>
              <a:srgbClr val="005088"/>
            </a:solidFill>
            <a:prstDash val="solid"/>
          </a:ln>
        </p:spPr>
      </p:sp>
      <p:sp>
        <p:nvSpPr>
          <p:cNvPr id="4" name="Text 2"/>
          <p:cNvSpPr/>
          <p:nvPr/>
        </p:nvSpPr>
        <p:spPr>
          <a:xfrm>
            <a:off x="502920" y="210312"/>
            <a:ext cx="6858000" cy="219456"/>
          </a:xfrm>
          <a:prstGeom prst="rect">
            <a:avLst/>
          </a:prstGeom>
          <a:noFill/>
          <a:ln/>
        </p:spPr>
        <p:txBody>
          <a:bodyPr wrap="square" lIns="0" tIns="0" rIns="0" bIns="0" rtlCol="0" anchor="ctr"/>
          <a:lstStyle/>
          <a:p>
            <a:pPr indent="0" marL="0">
              <a:buNone/>
            </a:pPr>
            <a:r>
              <a:rPr lang="en-US" sz="950" b="1" dirty="0">
                <a:solidFill>
                  <a:srgbClr val="3D5A80"/>
                </a:solidFill>
                <a:latin typeface="Aptos" pitchFamily="34" charset="0"/>
                <a:ea typeface="Aptos" pitchFamily="34" charset="-122"/>
                <a:cs typeface="Aptos" pitchFamily="34" charset="-120"/>
              </a:rPr>
              <a:t>8.2.2 Symbols and interpretations</a:t>
            </a:r>
            <a:endParaRPr lang="en-US" sz="950" dirty="0"/>
          </a:p>
        </p:txBody>
      </p:sp>
      <p:sp>
        <p:nvSpPr>
          <p:cNvPr id="5" name="Text 3"/>
          <p:cNvSpPr/>
          <p:nvPr/>
        </p:nvSpPr>
        <p:spPr>
          <a:xfrm>
            <a:off x="11018520" y="201168"/>
            <a:ext cx="640080" cy="228600"/>
          </a:xfrm>
          <a:prstGeom prst="rect">
            <a:avLst/>
          </a:prstGeom>
          <a:noFill/>
          <a:ln/>
        </p:spPr>
        <p:txBody>
          <a:bodyPr wrap="square" lIns="0" tIns="0" rIns="0" bIns="0" rtlCol="0" anchor="ctr"/>
          <a:lstStyle/>
          <a:p>
            <a:pPr algn="r" indent="0" marL="0">
              <a:buNone/>
            </a:pPr>
            <a:r>
              <a:rPr lang="en-US" sz="900" b="1" dirty="0">
                <a:solidFill>
                  <a:srgbClr val="3D5A80"/>
                </a:solidFill>
              </a:rPr>
              <a:t>31</a:t>
            </a:r>
            <a:endParaRPr lang="en-US" sz="900" dirty="0"/>
          </a:p>
        </p:txBody>
      </p:sp>
      <p:sp>
        <p:nvSpPr>
          <p:cNvPr id="6" name="Text 4"/>
          <p:cNvSpPr/>
          <p:nvPr/>
        </p:nvSpPr>
        <p:spPr>
          <a:xfrm>
            <a:off x="502920" y="566928"/>
            <a:ext cx="11201400" cy="512064"/>
          </a:xfrm>
          <a:prstGeom prst="rect">
            <a:avLst/>
          </a:prstGeom>
          <a:noFill/>
          <a:ln/>
        </p:spPr>
        <p:txBody>
          <a:bodyPr wrap="square" lIns="0" tIns="0" rIns="0" bIns="0" rtlCol="0" anchor="ctr">
            <a:normAutofit/>
          </a:bodyPr>
          <a:lstStyle/>
          <a:p>
            <a:pPr indent="0" marL="0">
              <a:buNone/>
            </a:pPr>
            <a:r>
              <a:rPr lang="en-US" sz="2650" b="1" dirty="0">
                <a:solidFill>
                  <a:srgbClr val="005088"/>
                </a:solidFill>
                <a:latin typeface="Aptos Display" pitchFamily="34" charset="0"/>
                <a:ea typeface="Aptos Display" pitchFamily="34" charset="-122"/>
                <a:cs typeface="Aptos Display" pitchFamily="34" charset="-120"/>
              </a:rPr>
              <a:t>INTENDED AND UNINTENDED INTERPRETATIONS</a:t>
            </a:r>
            <a:endParaRPr lang="en-US" sz="2650" dirty="0"/>
          </a:p>
        </p:txBody>
      </p:sp>
      <p:sp>
        <p:nvSpPr>
          <p:cNvPr id="7" name="Shape 5"/>
          <p:cNvSpPr/>
          <p:nvPr/>
        </p:nvSpPr>
        <p:spPr>
          <a:xfrm>
            <a:off x="502920" y="1188720"/>
            <a:ext cx="11109960" cy="0"/>
          </a:xfrm>
          <a:prstGeom prst="line">
            <a:avLst/>
          </a:prstGeom>
          <a:noFill/>
          <a:ln w="12700">
            <a:solidFill>
              <a:srgbClr val="3D5A80"/>
            </a:solidFill>
            <a:prstDash val="solid"/>
          </a:ln>
        </p:spPr>
      </p:sp>
      <p:sp>
        <p:nvSpPr>
          <p:cNvPr id="8" name="Text 6"/>
          <p:cNvSpPr/>
          <p:nvPr/>
        </p:nvSpPr>
        <p:spPr>
          <a:xfrm>
            <a:off x="713232" y="1572768"/>
            <a:ext cx="5440680" cy="4251960"/>
          </a:xfrm>
          <a:prstGeom prst="rect">
            <a:avLst/>
          </a:prstGeom>
          <a:noFill/>
          <a:ln/>
        </p:spPr>
        <p:txBody>
          <a:bodyPr wrap="square" lIns="1016" tIns="1016" rIns="1016" bIns="1016" rtlCol="0" anchor="t">
            <a:normAutofit/>
          </a:bodyPr>
          <a:lstStyle/>
          <a:p>
            <a:pPr indent="0" marL="0">
              <a:buNone/>
            </a:pPr>
            <a:r>
              <a:rPr lang="en-US" sz="1650" dirty="0">
                <a:solidFill>
                  <a:srgbClr val="1E293B"/>
                </a:solidFill>
                <a:latin typeface="Aptos" pitchFamily="34" charset="0"/>
                <a:ea typeface="Aptos" pitchFamily="34" charset="-122"/>
                <a:cs typeface="Aptos" pitchFamily="34" charset="-120"/>
              </a:rPr>
              <a:t>• The intended interpretation matches what the designer meant</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Other interpretations may be mathematically possible</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The knowledge base rules out interpretations inconsistent with its sentences</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Entailment considers all remaining possible interpretations</a:t>
            </a:r>
            <a:endParaRPr lang="en-US" sz="1650" dirty="0"/>
          </a:p>
        </p:txBody>
      </p:sp>
      <p:sp>
        <p:nvSpPr>
          <p:cNvPr id="9" name="Shape 7"/>
          <p:cNvSpPr/>
          <p:nvPr/>
        </p:nvSpPr>
        <p:spPr>
          <a:xfrm>
            <a:off x="6446520" y="1572768"/>
            <a:ext cx="5074920" cy="1234440"/>
          </a:xfrm>
          <a:prstGeom prst="roundRect">
            <a:avLst>
              <a:gd name="adj" fmla="val 5926"/>
            </a:avLst>
          </a:prstGeom>
          <a:solidFill>
            <a:srgbClr val="FFF6D9"/>
          </a:solidFill>
          <a:ln w="12700">
            <a:solidFill>
              <a:srgbClr val="F4A261"/>
            </a:solidFill>
            <a:prstDash val="solid"/>
          </a:ln>
        </p:spPr>
      </p:sp>
      <p:sp>
        <p:nvSpPr>
          <p:cNvPr id="10" name="Text 8"/>
          <p:cNvSpPr/>
          <p:nvPr/>
        </p:nvSpPr>
        <p:spPr>
          <a:xfrm>
            <a:off x="6629400" y="1709928"/>
            <a:ext cx="4709160" cy="219456"/>
          </a:xfrm>
          <a:prstGeom prst="rect">
            <a:avLst/>
          </a:prstGeom>
          <a:noFill/>
          <a:ln/>
        </p:spPr>
        <p:txBody>
          <a:bodyPr wrap="square" lIns="0" tIns="0" rIns="0" bIns="0" rtlCol="0" anchor="ctr"/>
          <a:lstStyle/>
          <a:p>
            <a:pPr indent="0" marL="0">
              <a:buNone/>
            </a:pPr>
            <a:r>
              <a:rPr lang="en-US" sz="950" b="1" dirty="0">
                <a:solidFill>
                  <a:srgbClr val="B0005D"/>
                </a:solidFill>
              </a:rPr>
              <a:t>ANALOGY</a:t>
            </a:r>
            <a:endParaRPr lang="en-US" sz="950" dirty="0"/>
          </a:p>
        </p:txBody>
      </p:sp>
      <p:sp>
        <p:nvSpPr>
          <p:cNvPr id="11" name="Text 9"/>
          <p:cNvSpPr/>
          <p:nvPr/>
        </p:nvSpPr>
        <p:spPr>
          <a:xfrm>
            <a:off x="6629400" y="1984248"/>
            <a:ext cx="4709160" cy="731520"/>
          </a:xfrm>
          <a:prstGeom prst="rect">
            <a:avLst/>
          </a:prstGeom>
          <a:noFill/>
          <a:ln/>
        </p:spPr>
        <p:txBody>
          <a:bodyPr wrap="square" lIns="254" tIns="254" rIns="254" bIns="254" rtlCol="0" anchor="t">
            <a:normAutofit/>
          </a:bodyPr>
          <a:lstStyle/>
          <a:p>
            <a:pPr indent="0" marL="0">
              <a:buNone/>
            </a:pPr>
            <a:r>
              <a:rPr lang="en-US" sz="1330" dirty="0">
                <a:solidFill>
                  <a:srgbClr val="1E293B"/>
                </a:solidFill>
              </a:rPr>
              <a:t>A classroom seating chart is intended to match real seats, but a mislabeled chart could point names to the wrong chairs.</a:t>
            </a:r>
            <a:endParaRPr lang="en-US" sz="1330" dirty="0"/>
          </a:p>
        </p:txBody>
      </p:sp>
      <p:sp>
        <p:nvSpPr>
          <p:cNvPr id="12" name="Shape 10"/>
          <p:cNvSpPr/>
          <p:nvPr/>
        </p:nvSpPr>
        <p:spPr>
          <a:xfrm>
            <a:off x="6446520" y="2999232"/>
            <a:ext cx="5074920" cy="841248"/>
          </a:xfrm>
          <a:prstGeom prst="roundRect">
            <a:avLst>
              <a:gd name="adj" fmla="val 8696"/>
            </a:avLst>
          </a:prstGeom>
          <a:solidFill>
            <a:srgbClr val="FFFFFF">
              <a:alpha val="97000"/>
            </a:srgbClr>
          </a:solidFill>
          <a:ln w="12700">
            <a:solidFill>
              <a:srgbClr val="007C89"/>
            </a:solidFill>
            <a:prstDash val="solid"/>
          </a:ln>
        </p:spPr>
      </p:sp>
      <p:sp>
        <p:nvSpPr>
          <p:cNvPr id="13" name="Text 11"/>
          <p:cNvSpPr/>
          <p:nvPr/>
        </p:nvSpPr>
        <p:spPr>
          <a:xfrm>
            <a:off x="6611112" y="3127248"/>
            <a:ext cx="4745736" cy="658368"/>
          </a:xfrm>
          <a:prstGeom prst="rect">
            <a:avLst/>
          </a:prstGeom>
          <a:noFill/>
          <a:ln/>
        </p:spPr>
        <p:txBody>
          <a:bodyPr wrap="square" lIns="0" tIns="0" rIns="0" bIns="0" rtlCol="0" anchor="ctr">
            <a:normAutofit/>
          </a:bodyPr>
          <a:lstStyle/>
          <a:p>
            <a:pPr algn="ctr" indent="0" marL="0">
              <a:buNone/>
            </a:pPr>
            <a:r>
              <a:rPr lang="en-US" sz="1800" b="1" dirty="0">
                <a:solidFill>
                  <a:srgbClr val="005088"/>
                </a:solidFill>
                <a:latin typeface="Cambria Math" pitchFamily="34" charset="0"/>
                <a:ea typeface="Cambria Math" pitchFamily="34" charset="-122"/>
                <a:cs typeface="Cambria Math" pitchFamily="34" charset="-120"/>
              </a:rPr>
              <a:t>knowledge restricts possible models</a:t>
            </a:r>
            <a:endParaRPr lang="en-US" sz="1800" dirty="0"/>
          </a:p>
        </p:txBody>
      </p:sp>
      <p:sp>
        <p:nvSpPr>
          <p:cNvPr id="14" name="Shape 12"/>
          <p:cNvSpPr/>
          <p:nvPr/>
        </p:nvSpPr>
        <p:spPr>
          <a:xfrm>
            <a:off x="6446520" y="4041648"/>
            <a:ext cx="5074920" cy="859536"/>
          </a:xfrm>
          <a:prstGeom prst="roundRect">
            <a:avLst>
              <a:gd name="adj" fmla="val 8511"/>
            </a:avLst>
          </a:prstGeom>
          <a:solidFill>
            <a:srgbClr val="FFE4E6"/>
          </a:solidFill>
          <a:ln w="12700">
            <a:solidFill>
              <a:srgbClr val="FDA4AF"/>
            </a:solidFill>
            <a:prstDash val="solid"/>
          </a:ln>
        </p:spPr>
      </p:sp>
      <p:sp>
        <p:nvSpPr>
          <p:cNvPr id="15" name="Text 13"/>
          <p:cNvSpPr/>
          <p:nvPr/>
        </p:nvSpPr>
        <p:spPr>
          <a:xfrm>
            <a:off x="6629400" y="4178808"/>
            <a:ext cx="4709160" cy="219456"/>
          </a:xfrm>
          <a:prstGeom prst="rect">
            <a:avLst/>
          </a:prstGeom>
          <a:noFill/>
          <a:ln/>
        </p:spPr>
        <p:txBody>
          <a:bodyPr wrap="square" lIns="0" tIns="0" rIns="0" bIns="0" rtlCol="0" anchor="ctr"/>
          <a:lstStyle/>
          <a:p>
            <a:pPr indent="0" marL="0">
              <a:buNone/>
            </a:pPr>
            <a:r>
              <a:rPr lang="en-US" sz="950" b="1" dirty="0">
                <a:solidFill>
                  <a:srgbClr val="C1121F"/>
                </a:solidFill>
              </a:rPr>
              <a:t>STUDENT GOTCHA</a:t>
            </a:r>
            <a:endParaRPr lang="en-US" sz="950" dirty="0"/>
          </a:p>
        </p:txBody>
      </p:sp>
      <p:sp>
        <p:nvSpPr>
          <p:cNvPr id="16" name="Text 14"/>
          <p:cNvSpPr/>
          <p:nvPr/>
        </p:nvSpPr>
        <p:spPr>
          <a:xfrm>
            <a:off x="6629400" y="4453128"/>
            <a:ext cx="4709160" cy="356616"/>
          </a:xfrm>
          <a:prstGeom prst="rect">
            <a:avLst/>
          </a:prstGeom>
          <a:noFill/>
          <a:ln/>
        </p:spPr>
        <p:txBody>
          <a:bodyPr wrap="square" lIns="254" tIns="254" rIns="254" bIns="254" rtlCol="0" anchor="t">
            <a:normAutofit/>
          </a:bodyPr>
          <a:lstStyle/>
          <a:p>
            <a:pPr indent="0" marL="0">
              <a:buNone/>
            </a:pPr>
            <a:r>
              <a:rPr lang="en-US" sz="1250" dirty="0">
                <a:solidFill>
                  <a:srgbClr val="1E293B"/>
                </a:solidFill>
              </a:rPr>
              <a:t>Students may think the intended interpretation is automatically enforced. In logic, it must be supported by the sentences in the knowledge base.</a:t>
            </a:r>
            <a:endParaRPr lang="en-US" sz="1250" dirty="0"/>
          </a:p>
        </p:txBody>
      </p:sp>
      <p:sp>
        <p:nvSpPr>
          <p:cNvPr id="17" name="Shape 15"/>
          <p:cNvSpPr/>
          <p:nvPr/>
        </p:nvSpPr>
        <p:spPr>
          <a:xfrm>
            <a:off x="6446520" y="5074920"/>
            <a:ext cx="5074920" cy="841248"/>
          </a:xfrm>
          <a:prstGeom prst="roundRect">
            <a:avLst>
              <a:gd name="adj" fmla="val 8696"/>
            </a:avLst>
          </a:prstGeom>
          <a:solidFill>
            <a:srgbClr val="E6FFFA"/>
          </a:solidFill>
          <a:ln w="12700">
            <a:solidFill>
              <a:srgbClr val="2A9D8F"/>
            </a:solidFill>
            <a:prstDash val="solid"/>
          </a:ln>
        </p:spPr>
      </p:sp>
      <p:sp>
        <p:nvSpPr>
          <p:cNvPr id="18" name="Text 16"/>
          <p:cNvSpPr/>
          <p:nvPr/>
        </p:nvSpPr>
        <p:spPr>
          <a:xfrm>
            <a:off x="6629400" y="5212080"/>
            <a:ext cx="4709160" cy="219456"/>
          </a:xfrm>
          <a:prstGeom prst="rect">
            <a:avLst/>
          </a:prstGeom>
          <a:noFill/>
          <a:ln/>
        </p:spPr>
        <p:txBody>
          <a:bodyPr wrap="square" lIns="0" tIns="0" rIns="0" bIns="0" rtlCol="0" anchor="ctr"/>
          <a:lstStyle/>
          <a:p>
            <a:pPr indent="0" marL="0">
              <a:buNone/>
            </a:pPr>
            <a:r>
              <a:rPr lang="en-US" sz="950" b="1" dirty="0">
                <a:solidFill>
                  <a:srgbClr val="007C89"/>
                </a:solidFill>
              </a:rPr>
              <a:t>CLASS CHECK</a:t>
            </a:r>
            <a:endParaRPr lang="en-US" sz="950" dirty="0"/>
          </a:p>
        </p:txBody>
      </p:sp>
      <p:sp>
        <p:nvSpPr>
          <p:cNvPr id="19" name="Text 17"/>
          <p:cNvSpPr/>
          <p:nvPr/>
        </p:nvSpPr>
        <p:spPr>
          <a:xfrm>
            <a:off x="6629400" y="5486400"/>
            <a:ext cx="4709160" cy="338328"/>
          </a:xfrm>
          <a:prstGeom prst="rect">
            <a:avLst/>
          </a:prstGeom>
          <a:noFill/>
          <a:ln/>
        </p:spPr>
        <p:txBody>
          <a:bodyPr wrap="square" lIns="254" tIns="254" rIns="254" bIns="254" rtlCol="0" anchor="t">
            <a:normAutofit/>
          </a:bodyPr>
          <a:lstStyle/>
          <a:p>
            <a:pPr indent="0" marL="0">
              <a:buNone/>
            </a:pPr>
            <a:r>
              <a:rPr lang="en-US" sz="1270" dirty="0">
                <a:solidFill>
                  <a:srgbClr val="1E293B"/>
                </a:solidFill>
              </a:rPr>
              <a:t>Ask: Why might we need John ≠ Richard?</a:t>
            </a:r>
            <a:endParaRPr lang="en-US" sz="127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5088"/>
          </a:solidFill>
          <a:ln w="12700">
            <a:solidFill>
              <a:srgbClr val="005088"/>
            </a:solidFill>
            <a:prstDash val="solid"/>
          </a:ln>
        </p:spPr>
      </p:sp>
      <p:sp>
        <p:nvSpPr>
          <p:cNvPr id="3" name="Shape 1"/>
          <p:cNvSpPr/>
          <p:nvPr/>
        </p:nvSpPr>
        <p:spPr>
          <a:xfrm>
            <a:off x="0" y="6729984"/>
            <a:ext cx="12191695" cy="128016"/>
          </a:xfrm>
          <a:prstGeom prst="rect">
            <a:avLst/>
          </a:prstGeom>
          <a:solidFill>
            <a:srgbClr val="005088"/>
          </a:solidFill>
          <a:ln w="12700">
            <a:solidFill>
              <a:srgbClr val="005088"/>
            </a:solidFill>
            <a:prstDash val="solid"/>
          </a:ln>
        </p:spPr>
      </p:sp>
      <p:sp>
        <p:nvSpPr>
          <p:cNvPr id="4" name="Text 2"/>
          <p:cNvSpPr/>
          <p:nvPr/>
        </p:nvSpPr>
        <p:spPr>
          <a:xfrm>
            <a:off x="502920" y="210312"/>
            <a:ext cx="6858000" cy="219456"/>
          </a:xfrm>
          <a:prstGeom prst="rect">
            <a:avLst/>
          </a:prstGeom>
          <a:noFill/>
          <a:ln/>
        </p:spPr>
        <p:txBody>
          <a:bodyPr wrap="square" lIns="0" tIns="0" rIns="0" bIns="0" rtlCol="0" anchor="ctr"/>
          <a:lstStyle/>
          <a:p>
            <a:pPr indent="0" marL="0">
              <a:buNone/>
            </a:pPr>
            <a:r>
              <a:rPr lang="en-US" sz="950" b="1" dirty="0">
                <a:solidFill>
                  <a:srgbClr val="3D5A80"/>
                </a:solidFill>
                <a:latin typeface="Aptos" pitchFamily="34" charset="0"/>
                <a:ea typeface="Aptos" pitchFamily="34" charset="-122"/>
                <a:cs typeface="Aptos" pitchFamily="34" charset="-120"/>
              </a:rPr>
              <a:t>8.2.2 Symbols and interpretations</a:t>
            </a:r>
            <a:endParaRPr lang="en-US" sz="950" dirty="0"/>
          </a:p>
        </p:txBody>
      </p:sp>
      <p:sp>
        <p:nvSpPr>
          <p:cNvPr id="5" name="Text 3"/>
          <p:cNvSpPr/>
          <p:nvPr/>
        </p:nvSpPr>
        <p:spPr>
          <a:xfrm>
            <a:off x="11018520" y="201168"/>
            <a:ext cx="640080" cy="228600"/>
          </a:xfrm>
          <a:prstGeom prst="rect">
            <a:avLst/>
          </a:prstGeom>
          <a:noFill/>
          <a:ln/>
        </p:spPr>
        <p:txBody>
          <a:bodyPr wrap="square" lIns="0" tIns="0" rIns="0" bIns="0" rtlCol="0" anchor="ctr"/>
          <a:lstStyle/>
          <a:p>
            <a:pPr algn="r" indent="0" marL="0">
              <a:buNone/>
            </a:pPr>
            <a:r>
              <a:rPr lang="en-US" sz="900" b="1" dirty="0">
                <a:solidFill>
                  <a:srgbClr val="3D5A80"/>
                </a:solidFill>
              </a:rPr>
              <a:t>32</a:t>
            </a:r>
            <a:endParaRPr lang="en-US" sz="900" dirty="0"/>
          </a:p>
        </p:txBody>
      </p:sp>
      <p:sp>
        <p:nvSpPr>
          <p:cNvPr id="6" name="Text 4"/>
          <p:cNvSpPr/>
          <p:nvPr/>
        </p:nvSpPr>
        <p:spPr>
          <a:xfrm>
            <a:off x="502920" y="566928"/>
            <a:ext cx="11201400" cy="512064"/>
          </a:xfrm>
          <a:prstGeom prst="rect">
            <a:avLst/>
          </a:prstGeom>
          <a:noFill/>
          <a:ln/>
        </p:spPr>
        <p:txBody>
          <a:bodyPr wrap="square" lIns="0" tIns="0" rIns="0" bIns="0" rtlCol="0" anchor="ctr">
            <a:normAutofit/>
          </a:bodyPr>
          <a:lstStyle/>
          <a:p>
            <a:pPr indent="0" marL="0">
              <a:buNone/>
            </a:pPr>
            <a:r>
              <a:rPr lang="en-US" sz="2650" b="1" dirty="0">
                <a:solidFill>
                  <a:srgbClr val="005088"/>
                </a:solidFill>
                <a:latin typeface="Aptos Display" pitchFamily="34" charset="0"/>
                <a:ea typeface="Aptos Display" pitchFamily="34" charset="-122"/>
                <a:cs typeface="Aptos Display" pitchFamily="34" charset="-120"/>
              </a:rPr>
              <a:t>CONSTANT SYMBOLS</a:t>
            </a:r>
            <a:endParaRPr lang="en-US" sz="2650" dirty="0"/>
          </a:p>
        </p:txBody>
      </p:sp>
      <p:sp>
        <p:nvSpPr>
          <p:cNvPr id="7" name="Shape 5"/>
          <p:cNvSpPr/>
          <p:nvPr/>
        </p:nvSpPr>
        <p:spPr>
          <a:xfrm>
            <a:off x="502920" y="1188720"/>
            <a:ext cx="11109960" cy="0"/>
          </a:xfrm>
          <a:prstGeom prst="line">
            <a:avLst/>
          </a:prstGeom>
          <a:noFill/>
          <a:ln w="12700">
            <a:solidFill>
              <a:srgbClr val="3D5A80"/>
            </a:solidFill>
            <a:prstDash val="solid"/>
          </a:ln>
        </p:spPr>
      </p:sp>
      <p:sp>
        <p:nvSpPr>
          <p:cNvPr id="8" name="Text 6"/>
          <p:cNvSpPr/>
          <p:nvPr/>
        </p:nvSpPr>
        <p:spPr>
          <a:xfrm>
            <a:off x="713232" y="1572768"/>
            <a:ext cx="5440680" cy="4251960"/>
          </a:xfrm>
          <a:prstGeom prst="rect">
            <a:avLst/>
          </a:prstGeom>
          <a:noFill/>
          <a:ln/>
        </p:spPr>
        <p:txBody>
          <a:bodyPr wrap="square" lIns="1016" tIns="1016" rIns="1016" bIns="1016" rtlCol="0" anchor="t">
            <a:normAutofit/>
          </a:bodyPr>
          <a:lstStyle/>
          <a:p>
            <a:pPr indent="0" marL="0">
              <a:buNone/>
            </a:pPr>
            <a:r>
              <a:rPr lang="en-US" sz="1650" dirty="0">
                <a:solidFill>
                  <a:srgbClr val="1E293B"/>
                </a:solidFill>
                <a:latin typeface="Aptos" pitchFamily="34" charset="0"/>
                <a:ea typeface="Aptos" pitchFamily="34" charset="-122"/>
                <a:cs typeface="Aptos" pitchFamily="34" charset="-120"/>
              </a:rPr>
              <a:t>• A constant symbol names one object in a model</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Examples: Richard, John, CircuitOne</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The same object may have more than one name unless ruled out</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Some objects may have no name at all</a:t>
            </a:r>
            <a:endParaRPr lang="en-US" sz="1650" dirty="0"/>
          </a:p>
        </p:txBody>
      </p:sp>
      <p:sp>
        <p:nvSpPr>
          <p:cNvPr id="9" name="Shape 7"/>
          <p:cNvSpPr/>
          <p:nvPr/>
        </p:nvSpPr>
        <p:spPr>
          <a:xfrm>
            <a:off x="6446520" y="1572768"/>
            <a:ext cx="5074920" cy="1234440"/>
          </a:xfrm>
          <a:prstGeom prst="roundRect">
            <a:avLst>
              <a:gd name="adj" fmla="val 5926"/>
            </a:avLst>
          </a:prstGeom>
          <a:solidFill>
            <a:srgbClr val="FFF6D9"/>
          </a:solidFill>
          <a:ln w="12700">
            <a:solidFill>
              <a:srgbClr val="F4A261"/>
            </a:solidFill>
            <a:prstDash val="solid"/>
          </a:ln>
        </p:spPr>
      </p:sp>
      <p:sp>
        <p:nvSpPr>
          <p:cNvPr id="10" name="Text 8"/>
          <p:cNvSpPr/>
          <p:nvPr/>
        </p:nvSpPr>
        <p:spPr>
          <a:xfrm>
            <a:off x="6629400" y="1709928"/>
            <a:ext cx="4709160" cy="219456"/>
          </a:xfrm>
          <a:prstGeom prst="rect">
            <a:avLst/>
          </a:prstGeom>
          <a:noFill/>
          <a:ln/>
        </p:spPr>
        <p:txBody>
          <a:bodyPr wrap="square" lIns="0" tIns="0" rIns="0" bIns="0" rtlCol="0" anchor="ctr"/>
          <a:lstStyle/>
          <a:p>
            <a:pPr indent="0" marL="0">
              <a:buNone/>
            </a:pPr>
            <a:r>
              <a:rPr lang="en-US" sz="950" b="1" dirty="0">
                <a:solidFill>
                  <a:srgbClr val="B0005D"/>
                </a:solidFill>
              </a:rPr>
              <a:t>ANALOGY</a:t>
            </a:r>
            <a:endParaRPr lang="en-US" sz="950" dirty="0"/>
          </a:p>
        </p:txBody>
      </p:sp>
      <p:sp>
        <p:nvSpPr>
          <p:cNvPr id="11" name="Text 9"/>
          <p:cNvSpPr/>
          <p:nvPr/>
        </p:nvSpPr>
        <p:spPr>
          <a:xfrm>
            <a:off x="6629400" y="1984248"/>
            <a:ext cx="4709160" cy="731520"/>
          </a:xfrm>
          <a:prstGeom prst="rect">
            <a:avLst/>
          </a:prstGeom>
          <a:noFill/>
          <a:ln/>
        </p:spPr>
        <p:txBody>
          <a:bodyPr wrap="square" lIns="254" tIns="254" rIns="254" bIns="254" rtlCol="0" anchor="t">
            <a:normAutofit/>
          </a:bodyPr>
          <a:lstStyle/>
          <a:p>
            <a:pPr indent="0" marL="0">
              <a:buNone/>
            </a:pPr>
            <a:r>
              <a:rPr lang="en-US" sz="1330" dirty="0">
                <a:solidFill>
                  <a:srgbClr val="1E293B"/>
                </a:solidFill>
              </a:rPr>
              <a:t>One person can be called “Professor,” “Dr. Garcia,” and “Mom” by different people. Names and objects are not always one-to-one.</a:t>
            </a:r>
            <a:endParaRPr lang="en-US" sz="1330" dirty="0"/>
          </a:p>
        </p:txBody>
      </p:sp>
      <p:sp>
        <p:nvSpPr>
          <p:cNvPr id="12" name="Shape 10"/>
          <p:cNvSpPr/>
          <p:nvPr/>
        </p:nvSpPr>
        <p:spPr>
          <a:xfrm>
            <a:off x="6446520" y="2999232"/>
            <a:ext cx="5074920" cy="841248"/>
          </a:xfrm>
          <a:prstGeom prst="roundRect">
            <a:avLst>
              <a:gd name="adj" fmla="val 8696"/>
            </a:avLst>
          </a:prstGeom>
          <a:solidFill>
            <a:srgbClr val="FFFFFF">
              <a:alpha val="97000"/>
            </a:srgbClr>
          </a:solidFill>
          <a:ln w="12700">
            <a:solidFill>
              <a:srgbClr val="007C89"/>
            </a:solidFill>
            <a:prstDash val="solid"/>
          </a:ln>
        </p:spPr>
      </p:sp>
      <p:sp>
        <p:nvSpPr>
          <p:cNvPr id="13" name="Text 11"/>
          <p:cNvSpPr/>
          <p:nvPr/>
        </p:nvSpPr>
        <p:spPr>
          <a:xfrm>
            <a:off x="6611112" y="3127248"/>
            <a:ext cx="4745736" cy="658368"/>
          </a:xfrm>
          <a:prstGeom prst="rect">
            <a:avLst/>
          </a:prstGeom>
          <a:noFill/>
          <a:ln/>
        </p:spPr>
        <p:txBody>
          <a:bodyPr wrap="square" lIns="0" tIns="0" rIns="0" bIns="0" rtlCol="0" anchor="ctr">
            <a:normAutofit/>
          </a:bodyPr>
          <a:lstStyle/>
          <a:p>
            <a:pPr algn="ctr" indent="0" marL="0">
              <a:buNone/>
            </a:pPr>
            <a:r>
              <a:rPr lang="en-US" sz="1550" b="1" dirty="0">
                <a:solidFill>
                  <a:srgbClr val="005088"/>
                </a:solidFill>
                <a:latin typeface="Cambria Math" pitchFamily="34" charset="0"/>
                <a:ea typeface="Cambria Math" pitchFamily="34" charset="-122"/>
                <a:cs typeface="Cambria Math" pitchFamily="34" charset="-120"/>
              </a:rPr>
              <a:t>John is a symbol; King John is the object it names.</a:t>
            </a:r>
            <a:endParaRPr lang="en-US" sz="1550" dirty="0"/>
          </a:p>
        </p:txBody>
      </p:sp>
      <p:sp>
        <p:nvSpPr>
          <p:cNvPr id="14" name="Shape 12"/>
          <p:cNvSpPr/>
          <p:nvPr/>
        </p:nvSpPr>
        <p:spPr>
          <a:xfrm>
            <a:off x="6446520" y="4041648"/>
            <a:ext cx="5074920" cy="859536"/>
          </a:xfrm>
          <a:prstGeom prst="roundRect">
            <a:avLst>
              <a:gd name="adj" fmla="val 8511"/>
            </a:avLst>
          </a:prstGeom>
          <a:solidFill>
            <a:srgbClr val="FFE4E6"/>
          </a:solidFill>
          <a:ln w="12700">
            <a:solidFill>
              <a:srgbClr val="FDA4AF"/>
            </a:solidFill>
            <a:prstDash val="solid"/>
          </a:ln>
        </p:spPr>
      </p:sp>
      <p:sp>
        <p:nvSpPr>
          <p:cNvPr id="15" name="Text 13"/>
          <p:cNvSpPr/>
          <p:nvPr/>
        </p:nvSpPr>
        <p:spPr>
          <a:xfrm>
            <a:off x="6629400" y="4178808"/>
            <a:ext cx="4709160" cy="219456"/>
          </a:xfrm>
          <a:prstGeom prst="rect">
            <a:avLst/>
          </a:prstGeom>
          <a:noFill/>
          <a:ln/>
        </p:spPr>
        <p:txBody>
          <a:bodyPr wrap="square" lIns="0" tIns="0" rIns="0" bIns="0" rtlCol="0" anchor="ctr"/>
          <a:lstStyle/>
          <a:p>
            <a:pPr indent="0" marL="0">
              <a:buNone/>
            </a:pPr>
            <a:r>
              <a:rPr lang="en-US" sz="950" b="1" dirty="0">
                <a:solidFill>
                  <a:srgbClr val="C1121F"/>
                </a:solidFill>
              </a:rPr>
              <a:t>STUDENT GOTCHA</a:t>
            </a:r>
            <a:endParaRPr lang="en-US" sz="950" dirty="0"/>
          </a:p>
        </p:txBody>
      </p:sp>
      <p:sp>
        <p:nvSpPr>
          <p:cNvPr id="16" name="Text 14"/>
          <p:cNvSpPr/>
          <p:nvPr/>
        </p:nvSpPr>
        <p:spPr>
          <a:xfrm>
            <a:off x="6629400" y="4453128"/>
            <a:ext cx="4709160" cy="356616"/>
          </a:xfrm>
          <a:prstGeom prst="rect">
            <a:avLst/>
          </a:prstGeom>
          <a:noFill/>
          <a:ln/>
        </p:spPr>
        <p:txBody>
          <a:bodyPr wrap="square" lIns="254" tIns="254" rIns="254" bIns="254" rtlCol="0" anchor="t">
            <a:normAutofit/>
          </a:bodyPr>
          <a:lstStyle/>
          <a:p>
            <a:pPr indent="0" marL="0">
              <a:buNone/>
            </a:pPr>
            <a:r>
              <a:rPr lang="en-US" sz="1250" dirty="0">
                <a:solidFill>
                  <a:srgbClr val="1E293B"/>
                </a:solidFill>
              </a:rPr>
              <a:t>Different constant symbols do not automatically mean different objects in standard first-order logic.</a:t>
            </a:r>
            <a:endParaRPr lang="en-US" sz="1250" dirty="0"/>
          </a:p>
        </p:txBody>
      </p:sp>
      <p:sp>
        <p:nvSpPr>
          <p:cNvPr id="17" name="Shape 15"/>
          <p:cNvSpPr/>
          <p:nvPr/>
        </p:nvSpPr>
        <p:spPr>
          <a:xfrm>
            <a:off x="6446520" y="5074920"/>
            <a:ext cx="5074920" cy="841248"/>
          </a:xfrm>
          <a:prstGeom prst="roundRect">
            <a:avLst>
              <a:gd name="adj" fmla="val 8696"/>
            </a:avLst>
          </a:prstGeom>
          <a:solidFill>
            <a:srgbClr val="E6FFFA"/>
          </a:solidFill>
          <a:ln w="12700">
            <a:solidFill>
              <a:srgbClr val="2A9D8F"/>
            </a:solidFill>
            <a:prstDash val="solid"/>
          </a:ln>
        </p:spPr>
      </p:sp>
      <p:sp>
        <p:nvSpPr>
          <p:cNvPr id="18" name="Text 16"/>
          <p:cNvSpPr/>
          <p:nvPr/>
        </p:nvSpPr>
        <p:spPr>
          <a:xfrm>
            <a:off x="6629400" y="5212080"/>
            <a:ext cx="4709160" cy="219456"/>
          </a:xfrm>
          <a:prstGeom prst="rect">
            <a:avLst/>
          </a:prstGeom>
          <a:noFill/>
          <a:ln/>
        </p:spPr>
        <p:txBody>
          <a:bodyPr wrap="square" lIns="0" tIns="0" rIns="0" bIns="0" rtlCol="0" anchor="ctr"/>
          <a:lstStyle/>
          <a:p>
            <a:pPr indent="0" marL="0">
              <a:buNone/>
            </a:pPr>
            <a:r>
              <a:rPr lang="en-US" sz="950" b="1" dirty="0">
                <a:solidFill>
                  <a:srgbClr val="007C89"/>
                </a:solidFill>
              </a:rPr>
              <a:t>CLASS CHECK</a:t>
            </a:r>
            <a:endParaRPr lang="en-US" sz="950" dirty="0"/>
          </a:p>
        </p:txBody>
      </p:sp>
      <p:sp>
        <p:nvSpPr>
          <p:cNvPr id="19" name="Text 17"/>
          <p:cNvSpPr/>
          <p:nvPr/>
        </p:nvSpPr>
        <p:spPr>
          <a:xfrm>
            <a:off x="6629400" y="5486400"/>
            <a:ext cx="4709160" cy="338328"/>
          </a:xfrm>
          <a:prstGeom prst="rect">
            <a:avLst/>
          </a:prstGeom>
          <a:noFill/>
          <a:ln/>
        </p:spPr>
        <p:txBody>
          <a:bodyPr wrap="square" lIns="254" tIns="254" rIns="254" bIns="254" rtlCol="0" anchor="t">
            <a:normAutofit/>
          </a:bodyPr>
          <a:lstStyle/>
          <a:p>
            <a:pPr indent="0" marL="0">
              <a:buNone/>
            </a:pPr>
            <a:r>
              <a:rPr lang="en-US" sz="1270" dirty="0">
                <a:solidFill>
                  <a:srgbClr val="1E293B"/>
                </a:solidFill>
              </a:rPr>
              <a:t>Ask: What sentence forces two names to refer to different objects?</a:t>
            </a:r>
            <a:endParaRPr lang="en-US" sz="127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5088"/>
          </a:solidFill>
          <a:ln w="12700">
            <a:solidFill>
              <a:srgbClr val="005088"/>
            </a:solidFill>
            <a:prstDash val="solid"/>
          </a:ln>
        </p:spPr>
      </p:sp>
      <p:sp>
        <p:nvSpPr>
          <p:cNvPr id="3" name="Shape 1"/>
          <p:cNvSpPr/>
          <p:nvPr/>
        </p:nvSpPr>
        <p:spPr>
          <a:xfrm>
            <a:off x="0" y="6729984"/>
            <a:ext cx="12191695" cy="128016"/>
          </a:xfrm>
          <a:prstGeom prst="rect">
            <a:avLst/>
          </a:prstGeom>
          <a:solidFill>
            <a:srgbClr val="005088"/>
          </a:solidFill>
          <a:ln w="12700">
            <a:solidFill>
              <a:srgbClr val="005088"/>
            </a:solidFill>
            <a:prstDash val="solid"/>
          </a:ln>
        </p:spPr>
      </p:sp>
      <p:sp>
        <p:nvSpPr>
          <p:cNvPr id="4" name="Text 2"/>
          <p:cNvSpPr/>
          <p:nvPr/>
        </p:nvSpPr>
        <p:spPr>
          <a:xfrm>
            <a:off x="502920" y="210312"/>
            <a:ext cx="6858000" cy="219456"/>
          </a:xfrm>
          <a:prstGeom prst="rect">
            <a:avLst/>
          </a:prstGeom>
          <a:noFill/>
          <a:ln/>
        </p:spPr>
        <p:txBody>
          <a:bodyPr wrap="square" lIns="0" tIns="0" rIns="0" bIns="0" rtlCol="0" anchor="ctr"/>
          <a:lstStyle/>
          <a:p>
            <a:pPr indent="0" marL="0">
              <a:buNone/>
            </a:pPr>
            <a:r>
              <a:rPr lang="en-US" sz="950" b="1" dirty="0">
                <a:solidFill>
                  <a:srgbClr val="3D5A80"/>
                </a:solidFill>
                <a:latin typeface="Aptos" pitchFamily="34" charset="0"/>
                <a:ea typeface="Aptos" pitchFamily="34" charset="-122"/>
                <a:cs typeface="Aptos" pitchFamily="34" charset="-120"/>
              </a:rPr>
              <a:t>8.2.2 Symbols and interpretations</a:t>
            </a:r>
            <a:endParaRPr lang="en-US" sz="950" dirty="0"/>
          </a:p>
        </p:txBody>
      </p:sp>
      <p:sp>
        <p:nvSpPr>
          <p:cNvPr id="5" name="Text 3"/>
          <p:cNvSpPr/>
          <p:nvPr/>
        </p:nvSpPr>
        <p:spPr>
          <a:xfrm>
            <a:off x="11018520" y="201168"/>
            <a:ext cx="640080" cy="228600"/>
          </a:xfrm>
          <a:prstGeom prst="rect">
            <a:avLst/>
          </a:prstGeom>
          <a:noFill/>
          <a:ln/>
        </p:spPr>
        <p:txBody>
          <a:bodyPr wrap="square" lIns="0" tIns="0" rIns="0" bIns="0" rtlCol="0" anchor="ctr"/>
          <a:lstStyle/>
          <a:p>
            <a:pPr algn="r" indent="0" marL="0">
              <a:buNone/>
            </a:pPr>
            <a:r>
              <a:rPr lang="en-US" sz="900" b="1" dirty="0">
                <a:solidFill>
                  <a:srgbClr val="3D5A80"/>
                </a:solidFill>
              </a:rPr>
              <a:t>33</a:t>
            </a:r>
            <a:endParaRPr lang="en-US" sz="900" dirty="0"/>
          </a:p>
        </p:txBody>
      </p:sp>
      <p:sp>
        <p:nvSpPr>
          <p:cNvPr id="6" name="Text 4"/>
          <p:cNvSpPr/>
          <p:nvPr/>
        </p:nvSpPr>
        <p:spPr>
          <a:xfrm>
            <a:off x="502920" y="566928"/>
            <a:ext cx="11201400" cy="512064"/>
          </a:xfrm>
          <a:prstGeom prst="rect">
            <a:avLst/>
          </a:prstGeom>
          <a:noFill/>
          <a:ln/>
        </p:spPr>
        <p:txBody>
          <a:bodyPr wrap="square" lIns="0" tIns="0" rIns="0" bIns="0" rtlCol="0" anchor="ctr">
            <a:normAutofit/>
          </a:bodyPr>
          <a:lstStyle/>
          <a:p>
            <a:pPr indent="0" marL="0">
              <a:buNone/>
            </a:pPr>
            <a:r>
              <a:rPr lang="en-US" sz="2650" b="1" dirty="0">
                <a:solidFill>
                  <a:srgbClr val="005088"/>
                </a:solidFill>
                <a:latin typeface="Aptos Display" pitchFamily="34" charset="0"/>
                <a:ea typeface="Aptos Display" pitchFamily="34" charset="-122"/>
                <a:cs typeface="Aptos Display" pitchFamily="34" charset="-120"/>
              </a:rPr>
              <a:t>PREDICATE SYMBOLS</a:t>
            </a:r>
            <a:endParaRPr lang="en-US" sz="2650" dirty="0"/>
          </a:p>
        </p:txBody>
      </p:sp>
      <p:sp>
        <p:nvSpPr>
          <p:cNvPr id="7" name="Shape 5"/>
          <p:cNvSpPr/>
          <p:nvPr/>
        </p:nvSpPr>
        <p:spPr>
          <a:xfrm>
            <a:off x="502920" y="1188720"/>
            <a:ext cx="11109960" cy="0"/>
          </a:xfrm>
          <a:prstGeom prst="line">
            <a:avLst/>
          </a:prstGeom>
          <a:noFill/>
          <a:ln w="12700">
            <a:solidFill>
              <a:srgbClr val="3D5A80"/>
            </a:solidFill>
            <a:prstDash val="solid"/>
          </a:ln>
        </p:spPr>
      </p:sp>
      <p:sp>
        <p:nvSpPr>
          <p:cNvPr id="8" name="Text 6"/>
          <p:cNvSpPr/>
          <p:nvPr/>
        </p:nvSpPr>
        <p:spPr>
          <a:xfrm>
            <a:off x="713232" y="1572768"/>
            <a:ext cx="5440680" cy="4251960"/>
          </a:xfrm>
          <a:prstGeom prst="rect">
            <a:avLst/>
          </a:prstGeom>
          <a:noFill/>
          <a:ln/>
        </p:spPr>
        <p:txBody>
          <a:bodyPr wrap="square" lIns="1016" tIns="1016" rIns="1016" bIns="1016" rtlCol="0" anchor="t">
            <a:normAutofit/>
          </a:bodyPr>
          <a:lstStyle/>
          <a:p>
            <a:pPr indent="0" marL="0">
              <a:buNone/>
            </a:pPr>
            <a:r>
              <a:rPr lang="en-US" sz="1650" dirty="0">
                <a:solidFill>
                  <a:srgbClr val="1E293B"/>
                </a:solidFill>
                <a:latin typeface="Aptos" pitchFamily="34" charset="0"/>
                <a:ea typeface="Aptos" pitchFamily="34" charset="-122"/>
                <a:cs typeface="Aptos" pitchFamily="34" charset="-120"/>
              </a:rPr>
              <a:t>• A predicate symbol names a relation</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Predicates become sentences when applied to terms</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Examples: Person(x), Brother(x,y), Connected(t₁,t₂)</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Each predicate has a fixed number of arguments</a:t>
            </a:r>
            <a:endParaRPr lang="en-US" sz="1650" dirty="0"/>
          </a:p>
        </p:txBody>
      </p:sp>
      <p:sp>
        <p:nvSpPr>
          <p:cNvPr id="9" name="Shape 7"/>
          <p:cNvSpPr/>
          <p:nvPr/>
        </p:nvSpPr>
        <p:spPr>
          <a:xfrm>
            <a:off x="6446520" y="1572768"/>
            <a:ext cx="5074920" cy="1234440"/>
          </a:xfrm>
          <a:prstGeom prst="roundRect">
            <a:avLst>
              <a:gd name="adj" fmla="val 5926"/>
            </a:avLst>
          </a:prstGeom>
          <a:solidFill>
            <a:srgbClr val="FFF6D9"/>
          </a:solidFill>
          <a:ln w="12700">
            <a:solidFill>
              <a:srgbClr val="F4A261"/>
            </a:solidFill>
            <a:prstDash val="solid"/>
          </a:ln>
        </p:spPr>
      </p:sp>
      <p:sp>
        <p:nvSpPr>
          <p:cNvPr id="10" name="Text 8"/>
          <p:cNvSpPr/>
          <p:nvPr/>
        </p:nvSpPr>
        <p:spPr>
          <a:xfrm>
            <a:off x="6629400" y="1709928"/>
            <a:ext cx="4709160" cy="219456"/>
          </a:xfrm>
          <a:prstGeom prst="rect">
            <a:avLst/>
          </a:prstGeom>
          <a:noFill/>
          <a:ln/>
        </p:spPr>
        <p:txBody>
          <a:bodyPr wrap="square" lIns="0" tIns="0" rIns="0" bIns="0" rtlCol="0" anchor="ctr"/>
          <a:lstStyle/>
          <a:p>
            <a:pPr indent="0" marL="0">
              <a:buNone/>
            </a:pPr>
            <a:r>
              <a:rPr lang="en-US" sz="950" b="1" dirty="0">
                <a:solidFill>
                  <a:srgbClr val="B0005D"/>
                </a:solidFill>
              </a:rPr>
              <a:t>ANALOGY</a:t>
            </a:r>
            <a:endParaRPr lang="en-US" sz="950" dirty="0"/>
          </a:p>
        </p:txBody>
      </p:sp>
      <p:sp>
        <p:nvSpPr>
          <p:cNvPr id="11" name="Text 9"/>
          <p:cNvSpPr/>
          <p:nvPr/>
        </p:nvSpPr>
        <p:spPr>
          <a:xfrm>
            <a:off x="6629400" y="1984248"/>
            <a:ext cx="4709160" cy="731520"/>
          </a:xfrm>
          <a:prstGeom prst="rect">
            <a:avLst/>
          </a:prstGeom>
          <a:noFill/>
          <a:ln/>
        </p:spPr>
        <p:txBody>
          <a:bodyPr wrap="square" lIns="254" tIns="254" rIns="254" bIns="254" rtlCol="0" anchor="t">
            <a:normAutofit/>
          </a:bodyPr>
          <a:lstStyle/>
          <a:p>
            <a:pPr indent="0" marL="0">
              <a:buNone/>
            </a:pPr>
            <a:r>
              <a:rPr lang="en-US" sz="1330" dirty="0">
                <a:solidFill>
                  <a:srgbClr val="1E293B"/>
                </a:solidFill>
              </a:rPr>
              <a:t>A predicate is like a blank form: “____ is enrolled in ____.” Terms fill the blanks to make a claim.</a:t>
            </a:r>
            <a:endParaRPr lang="en-US" sz="1330" dirty="0"/>
          </a:p>
        </p:txBody>
      </p:sp>
      <p:sp>
        <p:nvSpPr>
          <p:cNvPr id="12" name="Shape 10"/>
          <p:cNvSpPr/>
          <p:nvPr/>
        </p:nvSpPr>
        <p:spPr>
          <a:xfrm>
            <a:off x="6446520" y="2999232"/>
            <a:ext cx="5074920" cy="841248"/>
          </a:xfrm>
          <a:prstGeom prst="roundRect">
            <a:avLst>
              <a:gd name="adj" fmla="val 8696"/>
            </a:avLst>
          </a:prstGeom>
          <a:solidFill>
            <a:srgbClr val="FFFFFF">
              <a:alpha val="97000"/>
            </a:srgbClr>
          </a:solidFill>
          <a:ln w="12700">
            <a:solidFill>
              <a:srgbClr val="007C89"/>
            </a:solidFill>
            <a:prstDash val="solid"/>
          </a:ln>
        </p:spPr>
      </p:sp>
      <p:sp>
        <p:nvSpPr>
          <p:cNvPr id="13" name="Text 11"/>
          <p:cNvSpPr/>
          <p:nvPr/>
        </p:nvSpPr>
        <p:spPr>
          <a:xfrm>
            <a:off x="6611112" y="3127248"/>
            <a:ext cx="4745736" cy="658368"/>
          </a:xfrm>
          <a:prstGeom prst="rect">
            <a:avLst/>
          </a:prstGeom>
          <a:noFill/>
          <a:ln/>
        </p:spPr>
        <p:txBody>
          <a:bodyPr wrap="square" lIns="0" tIns="0" rIns="0" bIns="0" rtlCol="0" anchor="ctr">
            <a:normAutofit/>
          </a:bodyPr>
          <a:lstStyle/>
          <a:p>
            <a:pPr algn="ctr" indent="0" marL="0">
              <a:buNone/>
            </a:pPr>
            <a:r>
              <a:rPr lang="en-US" sz="1800" b="1" dirty="0">
                <a:solidFill>
                  <a:srgbClr val="005088"/>
                </a:solidFill>
                <a:latin typeface="Cambria Math" pitchFamily="34" charset="0"/>
                <a:ea typeface="Cambria Math" pitchFamily="34" charset="-122"/>
                <a:cs typeface="Cambria Math" pitchFamily="34" charset="-120"/>
              </a:rPr>
              <a:t>Enrolled(Ana, ComputerScience469)</a:t>
            </a:r>
            <a:endParaRPr lang="en-US" sz="1800" dirty="0"/>
          </a:p>
        </p:txBody>
      </p:sp>
      <p:sp>
        <p:nvSpPr>
          <p:cNvPr id="14" name="Shape 12"/>
          <p:cNvSpPr/>
          <p:nvPr/>
        </p:nvSpPr>
        <p:spPr>
          <a:xfrm>
            <a:off x="6446520" y="4041648"/>
            <a:ext cx="5074920" cy="859536"/>
          </a:xfrm>
          <a:prstGeom prst="roundRect">
            <a:avLst>
              <a:gd name="adj" fmla="val 8511"/>
            </a:avLst>
          </a:prstGeom>
          <a:solidFill>
            <a:srgbClr val="FFE4E6"/>
          </a:solidFill>
          <a:ln w="12700">
            <a:solidFill>
              <a:srgbClr val="FDA4AF"/>
            </a:solidFill>
            <a:prstDash val="solid"/>
          </a:ln>
        </p:spPr>
      </p:sp>
      <p:sp>
        <p:nvSpPr>
          <p:cNvPr id="15" name="Text 13"/>
          <p:cNvSpPr/>
          <p:nvPr/>
        </p:nvSpPr>
        <p:spPr>
          <a:xfrm>
            <a:off x="6629400" y="4178808"/>
            <a:ext cx="4709160" cy="219456"/>
          </a:xfrm>
          <a:prstGeom prst="rect">
            <a:avLst/>
          </a:prstGeom>
          <a:noFill/>
          <a:ln/>
        </p:spPr>
        <p:txBody>
          <a:bodyPr wrap="square" lIns="0" tIns="0" rIns="0" bIns="0" rtlCol="0" anchor="ctr"/>
          <a:lstStyle/>
          <a:p>
            <a:pPr indent="0" marL="0">
              <a:buNone/>
            </a:pPr>
            <a:r>
              <a:rPr lang="en-US" sz="950" b="1" dirty="0">
                <a:solidFill>
                  <a:srgbClr val="C1121F"/>
                </a:solidFill>
              </a:rPr>
              <a:t>STUDENT GOTCHA</a:t>
            </a:r>
            <a:endParaRPr lang="en-US" sz="950" dirty="0"/>
          </a:p>
        </p:txBody>
      </p:sp>
      <p:sp>
        <p:nvSpPr>
          <p:cNvPr id="16" name="Text 14"/>
          <p:cNvSpPr/>
          <p:nvPr/>
        </p:nvSpPr>
        <p:spPr>
          <a:xfrm>
            <a:off x="6629400" y="4453128"/>
            <a:ext cx="4709160" cy="356616"/>
          </a:xfrm>
          <a:prstGeom prst="rect">
            <a:avLst/>
          </a:prstGeom>
          <a:noFill/>
          <a:ln/>
        </p:spPr>
        <p:txBody>
          <a:bodyPr wrap="square" lIns="254" tIns="254" rIns="254" bIns="254" rtlCol="0" anchor="t">
            <a:normAutofit/>
          </a:bodyPr>
          <a:lstStyle/>
          <a:p>
            <a:pPr indent="0" marL="0">
              <a:buNone/>
            </a:pPr>
            <a:r>
              <a:rPr lang="en-US" sz="1250" dirty="0">
                <a:solidFill>
                  <a:srgbClr val="1E293B"/>
                </a:solidFill>
              </a:rPr>
              <a:t>A predicate is not an object. It names a relationship that may or may not hold among objects.</a:t>
            </a:r>
            <a:endParaRPr lang="en-US" sz="1250" dirty="0"/>
          </a:p>
        </p:txBody>
      </p:sp>
      <p:sp>
        <p:nvSpPr>
          <p:cNvPr id="17" name="Shape 15"/>
          <p:cNvSpPr/>
          <p:nvPr/>
        </p:nvSpPr>
        <p:spPr>
          <a:xfrm>
            <a:off x="6446520" y="5074920"/>
            <a:ext cx="5074920" cy="841248"/>
          </a:xfrm>
          <a:prstGeom prst="roundRect">
            <a:avLst>
              <a:gd name="adj" fmla="val 8696"/>
            </a:avLst>
          </a:prstGeom>
          <a:solidFill>
            <a:srgbClr val="E6FFFA"/>
          </a:solidFill>
          <a:ln w="12700">
            <a:solidFill>
              <a:srgbClr val="2A9D8F"/>
            </a:solidFill>
            <a:prstDash val="solid"/>
          </a:ln>
        </p:spPr>
      </p:sp>
      <p:sp>
        <p:nvSpPr>
          <p:cNvPr id="18" name="Text 16"/>
          <p:cNvSpPr/>
          <p:nvPr/>
        </p:nvSpPr>
        <p:spPr>
          <a:xfrm>
            <a:off x="6629400" y="5212080"/>
            <a:ext cx="4709160" cy="219456"/>
          </a:xfrm>
          <a:prstGeom prst="rect">
            <a:avLst/>
          </a:prstGeom>
          <a:noFill/>
          <a:ln/>
        </p:spPr>
        <p:txBody>
          <a:bodyPr wrap="square" lIns="0" tIns="0" rIns="0" bIns="0" rtlCol="0" anchor="ctr"/>
          <a:lstStyle/>
          <a:p>
            <a:pPr indent="0" marL="0">
              <a:buNone/>
            </a:pPr>
            <a:r>
              <a:rPr lang="en-US" sz="950" b="1" dirty="0">
                <a:solidFill>
                  <a:srgbClr val="007C89"/>
                </a:solidFill>
              </a:rPr>
              <a:t>CLASS CHECK</a:t>
            </a:r>
            <a:endParaRPr lang="en-US" sz="950" dirty="0"/>
          </a:p>
        </p:txBody>
      </p:sp>
      <p:sp>
        <p:nvSpPr>
          <p:cNvPr id="19" name="Text 17"/>
          <p:cNvSpPr/>
          <p:nvPr/>
        </p:nvSpPr>
        <p:spPr>
          <a:xfrm>
            <a:off x="6629400" y="5486400"/>
            <a:ext cx="4709160" cy="338328"/>
          </a:xfrm>
          <a:prstGeom prst="rect">
            <a:avLst/>
          </a:prstGeom>
          <a:noFill/>
          <a:ln/>
        </p:spPr>
        <p:txBody>
          <a:bodyPr wrap="square" lIns="254" tIns="254" rIns="254" bIns="254" rtlCol="0" anchor="t">
            <a:normAutofit/>
          </a:bodyPr>
          <a:lstStyle/>
          <a:p>
            <a:pPr indent="0" marL="0">
              <a:buNone/>
            </a:pPr>
            <a:r>
              <a:rPr lang="en-US" sz="1270" dirty="0">
                <a:solidFill>
                  <a:srgbClr val="1E293B"/>
                </a:solidFill>
              </a:rPr>
              <a:t>Ask students to classify Student(x) and Teaches(x,y).</a:t>
            </a:r>
            <a:endParaRPr lang="en-US" sz="127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5088"/>
          </a:solidFill>
          <a:ln w="12700">
            <a:solidFill>
              <a:srgbClr val="005088"/>
            </a:solidFill>
            <a:prstDash val="solid"/>
          </a:ln>
        </p:spPr>
      </p:sp>
      <p:sp>
        <p:nvSpPr>
          <p:cNvPr id="3" name="Shape 1"/>
          <p:cNvSpPr/>
          <p:nvPr/>
        </p:nvSpPr>
        <p:spPr>
          <a:xfrm>
            <a:off x="0" y="6729984"/>
            <a:ext cx="12191695" cy="128016"/>
          </a:xfrm>
          <a:prstGeom prst="rect">
            <a:avLst/>
          </a:prstGeom>
          <a:solidFill>
            <a:srgbClr val="005088"/>
          </a:solidFill>
          <a:ln w="12700">
            <a:solidFill>
              <a:srgbClr val="005088"/>
            </a:solidFill>
            <a:prstDash val="solid"/>
          </a:ln>
        </p:spPr>
      </p:sp>
      <p:sp>
        <p:nvSpPr>
          <p:cNvPr id="4" name="Text 2"/>
          <p:cNvSpPr/>
          <p:nvPr/>
        </p:nvSpPr>
        <p:spPr>
          <a:xfrm>
            <a:off x="502920" y="210312"/>
            <a:ext cx="6858000" cy="219456"/>
          </a:xfrm>
          <a:prstGeom prst="rect">
            <a:avLst/>
          </a:prstGeom>
          <a:noFill/>
          <a:ln/>
        </p:spPr>
        <p:txBody>
          <a:bodyPr wrap="square" lIns="0" tIns="0" rIns="0" bIns="0" rtlCol="0" anchor="ctr"/>
          <a:lstStyle/>
          <a:p>
            <a:pPr indent="0" marL="0">
              <a:buNone/>
            </a:pPr>
            <a:r>
              <a:rPr lang="en-US" sz="950" b="1" dirty="0">
                <a:solidFill>
                  <a:srgbClr val="3D5A80"/>
                </a:solidFill>
                <a:latin typeface="Aptos" pitchFamily="34" charset="0"/>
                <a:ea typeface="Aptos" pitchFamily="34" charset="-122"/>
                <a:cs typeface="Aptos" pitchFamily="34" charset="-120"/>
              </a:rPr>
              <a:t>8.2.2 Symbols and interpretations</a:t>
            </a:r>
            <a:endParaRPr lang="en-US" sz="950" dirty="0"/>
          </a:p>
        </p:txBody>
      </p:sp>
      <p:sp>
        <p:nvSpPr>
          <p:cNvPr id="5" name="Text 3"/>
          <p:cNvSpPr/>
          <p:nvPr/>
        </p:nvSpPr>
        <p:spPr>
          <a:xfrm>
            <a:off x="11018520" y="201168"/>
            <a:ext cx="640080" cy="228600"/>
          </a:xfrm>
          <a:prstGeom prst="rect">
            <a:avLst/>
          </a:prstGeom>
          <a:noFill/>
          <a:ln/>
        </p:spPr>
        <p:txBody>
          <a:bodyPr wrap="square" lIns="0" tIns="0" rIns="0" bIns="0" rtlCol="0" anchor="ctr"/>
          <a:lstStyle/>
          <a:p>
            <a:pPr algn="r" indent="0" marL="0">
              <a:buNone/>
            </a:pPr>
            <a:r>
              <a:rPr lang="en-US" sz="900" b="1" dirty="0">
                <a:solidFill>
                  <a:srgbClr val="3D5A80"/>
                </a:solidFill>
              </a:rPr>
              <a:t>34</a:t>
            </a:r>
            <a:endParaRPr lang="en-US" sz="900" dirty="0"/>
          </a:p>
        </p:txBody>
      </p:sp>
      <p:sp>
        <p:nvSpPr>
          <p:cNvPr id="6" name="Text 4"/>
          <p:cNvSpPr/>
          <p:nvPr/>
        </p:nvSpPr>
        <p:spPr>
          <a:xfrm>
            <a:off x="502920" y="566928"/>
            <a:ext cx="11201400" cy="512064"/>
          </a:xfrm>
          <a:prstGeom prst="rect">
            <a:avLst/>
          </a:prstGeom>
          <a:noFill/>
          <a:ln/>
        </p:spPr>
        <p:txBody>
          <a:bodyPr wrap="square" lIns="0" tIns="0" rIns="0" bIns="0" rtlCol="0" anchor="ctr">
            <a:normAutofit/>
          </a:bodyPr>
          <a:lstStyle/>
          <a:p>
            <a:pPr indent="0" marL="0">
              <a:buNone/>
            </a:pPr>
            <a:r>
              <a:rPr lang="en-US" sz="2650" b="1" dirty="0">
                <a:solidFill>
                  <a:srgbClr val="005088"/>
                </a:solidFill>
                <a:latin typeface="Aptos Display" pitchFamily="34" charset="0"/>
                <a:ea typeface="Aptos Display" pitchFamily="34" charset="-122"/>
                <a:cs typeface="Aptos Display" pitchFamily="34" charset="-120"/>
              </a:rPr>
              <a:t>FUNCTION SYMBOLS</a:t>
            </a:r>
            <a:endParaRPr lang="en-US" sz="2650" dirty="0"/>
          </a:p>
        </p:txBody>
      </p:sp>
      <p:sp>
        <p:nvSpPr>
          <p:cNvPr id="7" name="Shape 5"/>
          <p:cNvSpPr/>
          <p:nvPr/>
        </p:nvSpPr>
        <p:spPr>
          <a:xfrm>
            <a:off x="502920" y="1188720"/>
            <a:ext cx="11109960" cy="0"/>
          </a:xfrm>
          <a:prstGeom prst="line">
            <a:avLst/>
          </a:prstGeom>
          <a:noFill/>
          <a:ln w="12700">
            <a:solidFill>
              <a:srgbClr val="3D5A80"/>
            </a:solidFill>
            <a:prstDash val="solid"/>
          </a:ln>
        </p:spPr>
      </p:sp>
      <p:sp>
        <p:nvSpPr>
          <p:cNvPr id="8" name="Text 6"/>
          <p:cNvSpPr/>
          <p:nvPr/>
        </p:nvSpPr>
        <p:spPr>
          <a:xfrm>
            <a:off x="713232" y="1572768"/>
            <a:ext cx="5440680" cy="4251960"/>
          </a:xfrm>
          <a:prstGeom prst="rect">
            <a:avLst/>
          </a:prstGeom>
          <a:noFill/>
          <a:ln/>
        </p:spPr>
        <p:txBody>
          <a:bodyPr wrap="square" lIns="1016" tIns="1016" rIns="1016" bIns="1016" rtlCol="0" anchor="t">
            <a:normAutofit/>
          </a:bodyPr>
          <a:lstStyle/>
          <a:p>
            <a:pPr indent="0" marL="0">
              <a:buNone/>
            </a:pPr>
            <a:r>
              <a:rPr lang="en-US" sz="1650" dirty="0">
                <a:solidFill>
                  <a:srgbClr val="1E293B"/>
                </a:solidFill>
                <a:latin typeface="Aptos" pitchFamily="34" charset="0"/>
                <a:ea typeface="Aptos" pitchFamily="34" charset="-122"/>
                <a:cs typeface="Aptos" pitchFamily="34" charset="-120"/>
              </a:rPr>
              <a:t>• A function symbol creates a term</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The term refers to an object</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Examples: Mother(John), LeftLeg(John), In(1,CircuitOne)</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Functions have fixed argument counts too</a:t>
            </a:r>
            <a:endParaRPr lang="en-US" sz="1650" dirty="0"/>
          </a:p>
        </p:txBody>
      </p:sp>
      <p:sp>
        <p:nvSpPr>
          <p:cNvPr id="9" name="Shape 7"/>
          <p:cNvSpPr/>
          <p:nvPr/>
        </p:nvSpPr>
        <p:spPr>
          <a:xfrm>
            <a:off x="6446520" y="1572768"/>
            <a:ext cx="5074920" cy="1234440"/>
          </a:xfrm>
          <a:prstGeom prst="roundRect">
            <a:avLst>
              <a:gd name="adj" fmla="val 5926"/>
            </a:avLst>
          </a:prstGeom>
          <a:solidFill>
            <a:srgbClr val="FFF6D9"/>
          </a:solidFill>
          <a:ln w="12700">
            <a:solidFill>
              <a:srgbClr val="F4A261"/>
            </a:solidFill>
            <a:prstDash val="solid"/>
          </a:ln>
        </p:spPr>
      </p:sp>
      <p:sp>
        <p:nvSpPr>
          <p:cNvPr id="10" name="Text 8"/>
          <p:cNvSpPr/>
          <p:nvPr/>
        </p:nvSpPr>
        <p:spPr>
          <a:xfrm>
            <a:off x="6629400" y="1709928"/>
            <a:ext cx="4709160" cy="219456"/>
          </a:xfrm>
          <a:prstGeom prst="rect">
            <a:avLst/>
          </a:prstGeom>
          <a:noFill/>
          <a:ln/>
        </p:spPr>
        <p:txBody>
          <a:bodyPr wrap="square" lIns="0" tIns="0" rIns="0" bIns="0" rtlCol="0" anchor="ctr"/>
          <a:lstStyle/>
          <a:p>
            <a:pPr indent="0" marL="0">
              <a:buNone/>
            </a:pPr>
            <a:r>
              <a:rPr lang="en-US" sz="950" b="1" dirty="0">
                <a:solidFill>
                  <a:srgbClr val="B0005D"/>
                </a:solidFill>
              </a:rPr>
              <a:t>ANALOGY</a:t>
            </a:r>
            <a:endParaRPr lang="en-US" sz="950" dirty="0"/>
          </a:p>
        </p:txBody>
      </p:sp>
      <p:sp>
        <p:nvSpPr>
          <p:cNvPr id="11" name="Text 9"/>
          <p:cNvSpPr/>
          <p:nvPr/>
        </p:nvSpPr>
        <p:spPr>
          <a:xfrm>
            <a:off x="6629400" y="1984248"/>
            <a:ext cx="4709160" cy="731520"/>
          </a:xfrm>
          <a:prstGeom prst="rect">
            <a:avLst/>
          </a:prstGeom>
          <a:noFill/>
          <a:ln/>
        </p:spPr>
        <p:txBody>
          <a:bodyPr wrap="square" lIns="254" tIns="254" rIns="254" bIns="254" rtlCol="0" anchor="t">
            <a:normAutofit/>
          </a:bodyPr>
          <a:lstStyle/>
          <a:p>
            <a:pPr indent="0" marL="0">
              <a:buNone/>
            </a:pPr>
            <a:r>
              <a:rPr lang="en-US" sz="1330" dirty="0">
                <a:solidFill>
                  <a:srgbClr val="1E293B"/>
                </a:solidFill>
              </a:rPr>
              <a:t>“The instructor of this course” names a person even if you do not say the person’s name.</a:t>
            </a:r>
            <a:endParaRPr lang="en-US" sz="1330" dirty="0"/>
          </a:p>
        </p:txBody>
      </p:sp>
      <p:sp>
        <p:nvSpPr>
          <p:cNvPr id="12" name="Shape 10"/>
          <p:cNvSpPr/>
          <p:nvPr/>
        </p:nvSpPr>
        <p:spPr>
          <a:xfrm>
            <a:off x="6446520" y="2999232"/>
            <a:ext cx="5074920" cy="841248"/>
          </a:xfrm>
          <a:prstGeom prst="roundRect">
            <a:avLst>
              <a:gd name="adj" fmla="val 8696"/>
            </a:avLst>
          </a:prstGeom>
          <a:solidFill>
            <a:srgbClr val="FFFFFF">
              <a:alpha val="97000"/>
            </a:srgbClr>
          </a:solidFill>
          <a:ln w="12700">
            <a:solidFill>
              <a:srgbClr val="007C89"/>
            </a:solidFill>
            <a:prstDash val="solid"/>
          </a:ln>
        </p:spPr>
      </p:sp>
      <p:sp>
        <p:nvSpPr>
          <p:cNvPr id="13" name="Text 11"/>
          <p:cNvSpPr/>
          <p:nvPr/>
        </p:nvSpPr>
        <p:spPr>
          <a:xfrm>
            <a:off x="6611112" y="3127248"/>
            <a:ext cx="4745736" cy="658368"/>
          </a:xfrm>
          <a:prstGeom prst="rect">
            <a:avLst/>
          </a:prstGeom>
          <a:noFill/>
          <a:ln/>
        </p:spPr>
        <p:txBody>
          <a:bodyPr wrap="square" lIns="0" tIns="0" rIns="0" bIns="0" rtlCol="0" anchor="ctr">
            <a:normAutofit/>
          </a:bodyPr>
          <a:lstStyle/>
          <a:p>
            <a:pPr algn="ctr" indent="0" marL="0">
              <a:buNone/>
            </a:pPr>
            <a:r>
              <a:rPr lang="en-US" sz="1700" b="1" dirty="0">
                <a:solidFill>
                  <a:srgbClr val="005088"/>
                </a:solidFill>
                <a:latin typeface="Cambria Math" pitchFamily="34" charset="0"/>
                <a:ea typeface="Cambria Math" pitchFamily="34" charset="-122"/>
                <a:cs typeface="Cambria Math" pitchFamily="34" charset="-120"/>
              </a:rPr>
              <a:t>In(1, CircuitOne) names a terminal</a:t>
            </a:r>
            <a:endParaRPr lang="en-US" sz="1700" dirty="0"/>
          </a:p>
        </p:txBody>
      </p:sp>
      <p:sp>
        <p:nvSpPr>
          <p:cNvPr id="14" name="Shape 12"/>
          <p:cNvSpPr/>
          <p:nvPr/>
        </p:nvSpPr>
        <p:spPr>
          <a:xfrm>
            <a:off x="6446520" y="4041648"/>
            <a:ext cx="5074920" cy="859536"/>
          </a:xfrm>
          <a:prstGeom prst="roundRect">
            <a:avLst>
              <a:gd name="adj" fmla="val 8511"/>
            </a:avLst>
          </a:prstGeom>
          <a:solidFill>
            <a:srgbClr val="FFE4E6"/>
          </a:solidFill>
          <a:ln w="12700">
            <a:solidFill>
              <a:srgbClr val="FDA4AF"/>
            </a:solidFill>
            <a:prstDash val="solid"/>
          </a:ln>
        </p:spPr>
      </p:sp>
      <p:sp>
        <p:nvSpPr>
          <p:cNvPr id="15" name="Text 13"/>
          <p:cNvSpPr/>
          <p:nvPr/>
        </p:nvSpPr>
        <p:spPr>
          <a:xfrm>
            <a:off x="6629400" y="4178808"/>
            <a:ext cx="4709160" cy="219456"/>
          </a:xfrm>
          <a:prstGeom prst="rect">
            <a:avLst/>
          </a:prstGeom>
          <a:noFill/>
          <a:ln/>
        </p:spPr>
        <p:txBody>
          <a:bodyPr wrap="square" lIns="0" tIns="0" rIns="0" bIns="0" rtlCol="0" anchor="ctr"/>
          <a:lstStyle/>
          <a:p>
            <a:pPr indent="0" marL="0">
              <a:buNone/>
            </a:pPr>
            <a:r>
              <a:rPr lang="en-US" sz="950" b="1" dirty="0">
                <a:solidFill>
                  <a:srgbClr val="C1121F"/>
                </a:solidFill>
              </a:rPr>
              <a:t>STUDENT GOTCHA</a:t>
            </a:r>
            <a:endParaRPr lang="en-US" sz="950" dirty="0"/>
          </a:p>
        </p:txBody>
      </p:sp>
      <p:sp>
        <p:nvSpPr>
          <p:cNvPr id="16" name="Text 14"/>
          <p:cNvSpPr/>
          <p:nvPr/>
        </p:nvSpPr>
        <p:spPr>
          <a:xfrm>
            <a:off x="6629400" y="4453128"/>
            <a:ext cx="4709160" cy="356616"/>
          </a:xfrm>
          <a:prstGeom prst="rect">
            <a:avLst/>
          </a:prstGeom>
          <a:noFill/>
          <a:ln/>
        </p:spPr>
        <p:txBody>
          <a:bodyPr wrap="square" lIns="254" tIns="254" rIns="254" bIns="254" rtlCol="0" anchor="t">
            <a:normAutofit/>
          </a:bodyPr>
          <a:lstStyle/>
          <a:p>
            <a:pPr indent="0" marL="0">
              <a:buNone/>
            </a:pPr>
            <a:r>
              <a:rPr lang="en-US" sz="1250" dirty="0">
                <a:solidFill>
                  <a:srgbClr val="1E293B"/>
                </a:solidFill>
              </a:rPr>
              <a:t>A function term is not true or false. It only refers to an object.</a:t>
            </a:r>
            <a:endParaRPr lang="en-US" sz="1250" dirty="0"/>
          </a:p>
        </p:txBody>
      </p:sp>
      <p:sp>
        <p:nvSpPr>
          <p:cNvPr id="17" name="Shape 15"/>
          <p:cNvSpPr/>
          <p:nvPr/>
        </p:nvSpPr>
        <p:spPr>
          <a:xfrm>
            <a:off x="6446520" y="5074920"/>
            <a:ext cx="5074920" cy="841248"/>
          </a:xfrm>
          <a:prstGeom prst="roundRect">
            <a:avLst>
              <a:gd name="adj" fmla="val 8696"/>
            </a:avLst>
          </a:prstGeom>
          <a:solidFill>
            <a:srgbClr val="E6FFFA"/>
          </a:solidFill>
          <a:ln w="12700">
            <a:solidFill>
              <a:srgbClr val="2A9D8F"/>
            </a:solidFill>
            <a:prstDash val="solid"/>
          </a:ln>
        </p:spPr>
      </p:sp>
      <p:sp>
        <p:nvSpPr>
          <p:cNvPr id="18" name="Text 16"/>
          <p:cNvSpPr/>
          <p:nvPr/>
        </p:nvSpPr>
        <p:spPr>
          <a:xfrm>
            <a:off x="6629400" y="5212080"/>
            <a:ext cx="4709160" cy="219456"/>
          </a:xfrm>
          <a:prstGeom prst="rect">
            <a:avLst/>
          </a:prstGeom>
          <a:noFill/>
          <a:ln/>
        </p:spPr>
        <p:txBody>
          <a:bodyPr wrap="square" lIns="0" tIns="0" rIns="0" bIns="0" rtlCol="0" anchor="ctr"/>
          <a:lstStyle/>
          <a:p>
            <a:pPr indent="0" marL="0">
              <a:buNone/>
            </a:pPr>
            <a:r>
              <a:rPr lang="en-US" sz="950" b="1" dirty="0">
                <a:solidFill>
                  <a:srgbClr val="007C89"/>
                </a:solidFill>
              </a:rPr>
              <a:t>CLASS CHECK</a:t>
            </a:r>
            <a:endParaRPr lang="en-US" sz="950" dirty="0"/>
          </a:p>
        </p:txBody>
      </p:sp>
      <p:sp>
        <p:nvSpPr>
          <p:cNvPr id="19" name="Text 17"/>
          <p:cNvSpPr/>
          <p:nvPr/>
        </p:nvSpPr>
        <p:spPr>
          <a:xfrm>
            <a:off x="6629400" y="5486400"/>
            <a:ext cx="4709160" cy="338328"/>
          </a:xfrm>
          <a:prstGeom prst="rect">
            <a:avLst/>
          </a:prstGeom>
          <a:noFill/>
          <a:ln/>
        </p:spPr>
        <p:txBody>
          <a:bodyPr wrap="square" lIns="254" tIns="254" rIns="254" bIns="254" rtlCol="0" anchor="t">
            <a:normAutofit/>
          </a:bodyPr>
          <a:lstStyle/>
          <a:p>
            <a:pPr indent="0" marL="0">
              <a:buNone/>
            </a:pPr>
            <a:r>
              <a:rPr lang="en-US" sz="1270" dirty="0">
                <a:solidFill>
                  <a:srgbClr val="1E293B"/>
                </a:solidFill>
              </a:rPr>
              <a:t>Ask: Is In(1,CircuitOne) a term or a sentence?</a:t>
            </a:r>
            <a:endParaRPr lang="en-US" sz="127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5088"/>
          </a:solidFill>
          <a:ln w="12700">
            <a:solidFill>
              <a:srgbClr val="005088"/>
            </a:solidFill>
            <a:prstDash val="solid"/>
          </a:ln>
        </p:spPr>
      </p:sp>
      <p:sp>
        <p:nvSpPr>
          <p:cNvPr id="3" name="Shape 1"/>
          <p:cNvSpPr/>
          <p:nvPr/>
        </p:nvSpPr>
        <p:spPr>
          <a:xfrm>
            <a:off x="0" y="6729984"/>
            <a:ext cx="12191695" cy="128016"/>
          </a:xfrm>
          <a:prstGeom prst="rect">
            <a:avLst/>
          </a:prstGeom>
          <a:solidFill>
            <a:srgbClr val="005088"/>
          </a:solidFill>
          <a:ln w="12700">
            <a:solidFill>
              <a:srgbClr val="005088"/>
            </a:solidFill>
            <a:prstDash val="solid"/>
          </a:ln>
        </p:spPr>
      </p:sp>
      <p:sp>
        <p:nvSpPr>
          <p:cNvPr id="4" name="Text 2"/>
          <p:cNvSpPr/>
          <p:nvPr/>
        </p:nvSpPr>
        <p:spPr>
          <a:xfrm>
            <a:off x="502920" y="210312"/>
            <a:ext cx="6858000" cy="219456"/>
          </a:xfrm>
          <a:prstGeom prst="rect">
            <a:avLst/>
          </a:prstGeom>
          <a:noFill/>
          <a:ln/>
        </p:spPr>
        <p:txBody>
          <a:bodyPr wrap="square" lIns="0" tIns="0" rIns="0" bIns="0" rtlCol="0" anchor="ctr"/>
          <a:lstStyle/>
          <a:p>
            <a:pPr indent="0" marL="0">
              <a:buNone/>
            </a:pPr>
            <a:r>
              <a:rPr lang="en-US" sz="950" b="1" dirty="0">
                <a:solidFill>
                  <a:srgbClr val="3D5A80"/>
                </a:solidFill>
                <a:latin typeface="Aptos" pitchFamily="34" charset="0"/>
                <a:ea typeface="Aptos" pitchFamily="34" charset="-122"/>
                <a:cs typeface="Aptos" pitchFamily="34" charset="-120"/>
              </a:rPr>
              <a:t>8.2.2 Symbols and interpretations</a:t>
            </a:r>
            <a:endParaRPr lang="en-US" sz="950" dirty="0"/>
          </a:p>
        </p:txBody>
      </p:sp>
      <p:sp>
        <p:nvSpPr>
          <p:cNvPr id="5" name="Text 3"/>
          <p:cNvSpPr/>
          <p:nvPr/>
        </p:nvSpPr>
        <p:spPr>
          <a:xfrm>
            <a:off x="11018520" y="201168"/>
            <a:ext cx="640080" cy="228600"/>
          </a:xfrm>
          <a:prstGeom prst="rect">
            <a:avLst/>
          </a:prstGeom>
          <a:noFill/>
          <a:ln/>
        </p:spPr>
        <p:txBody>
          <a:bodyPr wrap="square" lIns="0" tIns="0" rIns="0" bIns="0" rtlCol="0" anchor="ctr"/>
          <a:lstStyle/>
          <a:p>
            <a:pPr algn="r" indent="0" marL="0">
              <a:buNone/>
            </a:pPr>
            <a:r>
              <a:rPr lang="en-US" sz="900" b="1" dirty="0">
                <a:solidFill>
                  <a:srgbClr val="3D5A80"/>
                </a:solidFill>
              </a:rPr>
              <a:t>35</a:t>
            </a:r>
            <a:endParaRPr lang="en-US" sz="900" dirty="0"/>
          </a:p>
        </p:txBody>
      </p:sp>
      <p:sp>
        <p:nvSpPr>
          <p:cNvPr id="6" name="Text 4"/>
          <p:cNvSpPr/>
          <p:nvPr/>
        </p:nvSpPr>
        <p:spPr>
          <a:xfrm>
            <a:off x="502920" y="566928"/>
            <a:ext cx="11201400" cy="512064"/>
          </a:xfrm>
          <a:prstGeom prst="rect">
            <a:avLst/>
          </a:prstGeom>
          <a:noFill/>
          <a:ln/>
        </p:spPr>
        <p:txBody>
          <a:bodyPr wrap="square" lIns="0" tIns="0" rIns="0" bIns="0" rtlCol="0" anchor="ctr">
            <a:normAutofit/>
          </a:bodyPr>
          <a:lstStyle/>
          <a:p>
            <a:pPr indent="0" marL="0">
              <a:buNone/>
            </a:pPr>
            <a:r>
              <a:rPr lang="en-US" sz="2650" b="1" dirty="0">
                <a:solidFill>
                  <a:srgbClr val="005088"/>
                </a:solidFill>
                <a:latin typeface="Aptos Display" pitchFamily="34" charset="0"/>
                <a:ea typeface="Aptos Display" pitchFamily="34" charset="-122"/>
                <a:cs typeface="Aptos Display" pitchFamily="34" charset="-120"/>
              </a:rPr>
              <a:t>ARITY MEANS ARGUMENT COUNT</a:t>
            </a:r>
            <a:endParaRPr lang="en-US" sz="2650" dirty="0"/>
          </a:p>
        </p:txBody>
      </p:sp>
      <p:sp>
        <p:nvSpPr>
          <p:cNvPr id="7" name="Shape 5"/>
          <p:cNvSpPr/>
          <p:nvPr/>
        </p:nvSpPr>
        <p:spPr>
          <a:xfrm>
            <a:off x="502920" y="1188720"/>
            <a:ext cx="11109960" cy="0"/>
          </a:xfrm>
          <a:prstGeom prst="line">
            <a:avLst/>
          </a:prstGeom>
          <a:noFill/>
          <a:ln w="12700">
            <a:solidFill>
              <a:srgbClr val="3D5A80"/>
            </a:solidFill>
            <a:prstDash val="solid"/>
          </a:ln>
        </p:spPr>
      </p:sp>
      <p:sp>
        <p:nvSpPr>
          <p:cNvPr id="8" name="Text 6"/>
          <p:cNvSpPr/>
          <p:nvPr/>
        </p:nvSpPr>
        <p:spPr>
          <a:xfrm>
            <a:off x="713232" y="1572768"/>
            <a:ext cx="5440680" cy="4251960"/>
          </a:xfrm>
          <a:prstGeom prst="rect">
            <a:avLst/>
          </a:prstGeom>
          <a:noFill/>
          <a:ln/>
        </p:spPr>
        <p:txBody>
          <a:bodyPr wrap="square" lIns="1016" tIns="1016" rIns="1016" bIns="1016" rtlCol="0" anchor="t">
            <a:normAutofit/>
          </a:bodyPr>
          <a:lstStyle/>
          <a:p>
            <a:pPr indent="0" marL="0">
              <a:buNone/>
            </a:pPr>
            <a:r>
              <a:rPr lang="en-US" sz="1650" dirty="0">
                <a:solidFill>
                  <a:srgbClr val="1E293B"/>
                </a:solidFill>
                <a:latin typeface="Aptos" pitchFamily="34" charset="0"/>
                <a:ea typeface="Aptos" pitchFamily="34" charset="-122"/>
                <a:cs typeface="Aptos" pitchFamily="34" charset="-120"/>
              </a:rPr>
              <a:t>• Predicate and function symbols have a fixed number of arguments</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Person(x) has one argument</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Brother(x,y) has two arguments</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Connected(t₁,t₂) has two arguments</a:t>
            </a:r>
            <a:endParaRPr lang="en-US" sz="1650" dirty="0"/>
          </a:p>
        </p:txBody>
      </p:sp>
      <p:sp>
        <p:nvSpPr>
          <p:cNvPr id="9" name="Shape 7"/>
          <p:cNvSpPr/>
          <p:nvPr/>
        </p:nvSpPr>
        <p:spPr>
          <a:xfrm>
            <a:off x="6446520" y="1572768"/>
            <a:ext cx="5074920" cy="1234440"/>
          </a:xfrm>
          <a:prstGeom prst="roundRect">
            <a:avLst>
              <a:gd name="adj" fmla="val 5926"/>
            </a:avLst>
          </a:prstGeom>
          <a:solidFill>
            <a:srgbClr val="FFF6D9"/>
          </a:solidFill>
          <a:ln w="12700">
            <a:solidFill>
              <a:srgbClr val="F4A261"/>
            </a:solidFill>
            <a:prstDash val="solid"/>
          </a:ln>
        </p:spPr>
      </p:sp>
      <p:sp>
        <p:nvSpPr>
          <p:cNvPr id="10" name="Text 8"/>
          <p:cNvSpPr/>
          <p:nvPr/>
        </p:nvSpPr>
        <p:spPr>
          <a:xfrm>
            <a:off x="6629400" y="1709928"/>
            <a:ext cx="4709160" cy="219456"/>
          </a:xfrm>
          <a:prstGeom prst="rect">
            <a:avLst/>
          </a:prstGeom>
          <a:noFill/>
          <a:ln/>
        </p:spPr>
        <p:txBody>
          <a:bodyPr wrap="square" lIns="0" tIns="0" rIns="0" bIns="0" rtlCol="0" anchor="ctr"/>
          <a:lstStyle/>
          <a:p>
            <a:pPr indent="0" marL="0">
              <a:buNone/>
            </a:pPr>
            <a:r>
              <a:rPr lang="en-US" sz="950" b="1" dirty="0">
                <a:solidFill>
                  <a:srgbClr val="B0005D"/>
                </a:solidFill>
              </a:rPr>
              <a:t>ANALOGY</a:t>
            </a:r>
            <a:endParaRPr lang="en-US" sz="950" dirty="0"/>
          </a:p>
        </p:txBody>
      </p:sp>
      <p:sp>
        <p:nvSpPr>
          <p:cNvPr id="11" name="Text 9"/>
          <p:cNvSpPr/>
          <p:nvPr/>
        </p:nvSpPr>
        <p:spPr>
          <a:xfrm>
            <a:off x="6629400" y="1984248"/>
            <a:ext cx="4709160" cy="731520"/>
          </a:xfrm>
          <a:prstGeom prst="rect">
            <a:avLst/>
          </a:prstGeom>
          <a:noFill/>
          <a:ln/>
        </p:spPr>
        <p:txBody>
          <a:bodyPr wrap="square" lIns="254" tIns="254" rIns="254" bIns="254" rtlCol="0" anchor="t">
            <a:normAutofit/>
          </a:bodyPr>
          <a:lstStyle/>
          <a:p>
            <a:pPr indent="0" marL="0">
              <a:buNone/>
            </a:pPr>
            <a:r>
              <a:rPr lang="en-US" sz="1330" dirty="0">
                <a:solidFill>
                  <a:srgbClr val="1E293B"/>
                </a:solidFill>
              </a:rPr>
              <a:t>Arity is like the number of seats at a table. A two-seat relation expects exactly two objects.</a:t>
            </a:r>
            <a:endParaRPr lang="en-US" sz="1330" dirty="0"/>
          </a:p>
        </p:txBody>
      </p:sp>
      <p:sp>
        <p:nvSpPr>
          <p:cNvPr id="12" name="Shape 10"/>
          <p:cNvSpPr/>
          <p:nvPr/>
        </p:nvSpPr>
        <p:spPr>
          <a:xfrm>
            <a:off x="6446520" y="2999232"/>
            <a:ext cx="5074920" cy="841248"/>
          </a:xfrm>
          <a:prstGeom prst="roundRect">
            <a:avLst>
              <a:gd name="adj" fmla="val 8696"/>
            </a:avLst>
          </a:prstGeom>
          <a:solidFill>
            <a:srgbClr val="FFFFFF">
              <a:alpha val="97000"/>
            </a:srgbClr>
          </a:solidFill>
          <a:ln w="12700">
            <a:solidFill>
              <a:srgbClr val="007C89"/>
            </a:solidFill>
            <a:prstDash val="solid"/>
          </a:ln>
        </p:spPr>
      </p:sp>
      <p:sp>
        <p:nvSpPr>
          <p:cNvPr id="13" name="Text 11"/>
          <p:cNvSpPr/>
          <p:nvPr/>
        </p:nvSpPr>
        <p:spPr>
          <a:xfrm>
            <a:off x="6611112" y="3127248"/>
            <a:ext cx="4745736" cy="658368"/>
          </a:xfrm>
          <a:prstGeom prst="rect">
            <a:avLst/>
          </a:prstGeom>
          <a:noFill/>
          <a:ln/>
        </p:spPr>
        <p:txBody>
          <a:bodyPr wrap="square" lIns="0" tIns="0" rIns="0" bIns="0" rtlCol="0" anchor="ctr">
            <a:normAutofit/>
          </a:bodyPr>
          <a:lstStyle/>
          <a:p>
            <a:pPr algn="ctr" indent="0" marL="0">
              <a:buNone/>
            </a:pPr>
            <a:r>
              <a:rPr lang="en-US" sz="1900" b="1" dirty="0">
                <a:solidFill>
                  <a:srgbClr val="005088"/>
                </a:solidFill>
                <a:latin typeface="Cambria Math" pitchFamily="34" charset="0"/>
                <a:ea typeface="Cambria Math" pitchFamily="34" charset="-122"/>
                <a:cs typeface="Cambria Math" pitchFamily="34" charset="-120"/>
              </a:rPr>
              <a:t>Brother(Richard) is malformed</a:t>
            </a:r>
            <a:endParaRPr lang="en-US" sz="1900" dirty="0"/>
          </a:p>
        </p:txBody>
      </p:sp>
      <p:sp>
        <p:nvSpPr>
          <p:cNvPr id="14" name="Shape 12"/>
          <p:cNvSpPr/>
          <p:nvPr/>
        </p:nvSpPr>
        <p:spPr>
          <a:xfrm>
            <a:off x="6446520" y="4041648"/>
            <a:ext cx="5074920" cy="859536"/>
          </a:xfrm>
          <a:prstGeom prst="roundRect">
            <a:avLst>
              <a:gd name="adj" fmla="val 8511"/>
            </a:avLst>
          </a:prstGeom>
          <a:solidFill>
            <a:srgbClr val="FFE4E6"/>
          </a:solidFill>
          <a:ln w="12700">
            <a:solidFill>
              <a:srgbClr val="FDA4AF"/>
            </a:solidFill>
            <a:prstDash val="solid"/>
          </a:ln>
        </p:spPr>
      </p:sp>
      <p:sp>
        <p:nvSpPr>
          <p:cNvPr id="15" name="Text 13"/>
          <p:cNvSpPr/>
          <p:nvPr/>
        </p:nvSpPr>
        <p:spPr>
          <a:xfrm>
            <a:off x="6629400" y="4178808"/>
            <a:ext cx="4709160" cy="219456"/>
          </a:xfrm>
          <a:prstGeom prst="rect">
            <a:avLst/>
          </a:prstGeom>
          <a:noFill/>
          <a:ln/>
        </p:spPr>
        <p:txBody>
          <a:bodyPr wrap="square" lIns="0" tIns="0" rIns="0" bIns="0" rtlCol="0" anchor="ctr"/>
          <a:lstStyle/>
          <a:p>
            <a:pPr indent="0" marL="0">
              <a:buNone/>
            </a:pPr>
            <a:r>
              <a:rPr lang="en-US" sz="950" b="1" dirty="0">
                <a:solidFill>
                  <a:srgbClr val="C1121F"/>
                </a:solidFill>
              </a:rPr>
              <a:t>STUDENT GOTCHA</a:t>
            </a:r>
            <a:endParaRPr lang="en-US" sz="950" dirty="0"/>
          </a:p>
        </p:txBody>
      </p:sp>
      <p:sp>
        <p:nvSpPr>
          <p:cNvPr id="16" name="Text 14"/>
          <p:cNvSpPr/>
          <p:nvPr/>
        </p:nvSpPr>
        <p:spPr>
          <a:xfrm>
            <a:off x="6629400" y="4453128"/>
            <a:ext cx="4709160" cy="356616"/>
          </a:xfrm>
          <a:prstGeom prst="rect">
            <a:avLst/>
          </a:prstGeom>
          <a:noFill/>
          <a:ln/>
        </p:spPr>
        <p:txBody>
          <a:bodyPr wrap="square" lIns="254" tIns="254" rIns="254" bIns="254" rtlCol="0" anchor="t">
            <a:normAutofit/>
          </a:bodyPr>
          <a:lstStyle/>
          <a:p>
            <a:pPr indent="0" marL="0">
              <a:buNone/>
            </a:pPr>
            <a:r>
              <a:rPr lang="en-US" sz="1250" dirty="0">
                <a:solidFill>
                  <a:srgbClr val="1E293B"/>
                </a:solidFill>
              </a:rPr>
              <a:t>Students sometimes omit or add arguments because the English sentence feels obvious. Formal syntax requires exact argument counts.</a:t>
            </a:r>
            <a:endParaRPr lang="en-US" sz="1250" dirty="0"/>
          </a:p>
        </p:txBody>
      </p:sp>
      <p:sp>
        <p:nvSpPr>
          <p:cNvPr id="17" name="Shape 15"/>
          <p:cNvSpPr/>
          <p:nvPr/>
        </p:nvSpPr>
        <p:spPr>
          <a:xfrm>
            <a:off x="6446520" y="5074920"/>
            <a:ext cx="5074920" cy="841248"/>
          </a:xfrm>
          <a:prstGeom prst="roundRect">
            <a:avLst>
              <a:gd name="adj" fmla="val 8696"/>
            </a:avLst>
          </a:prstGeom>
          <a:solidFill>
            <a:srgbClr val="E6FFFA"/>
          </a:solidFill>
          <a:ln w="12700">
            <a:solidFill>
              <a:srgbClr val="2A9D8F"/>
            </a:solidFill>
            <a:prstDash val="solid"/>
          </a:ln>
        </p:spPr>
      </p:sp>
      <p:sp>
        <p:nvSpPr>
          <p:cNvPr id="18" name="Text 16"/>
          <p:cNvSpPr/>
          <p:nvPr/>
        </p:nvSpPr>
        <p:spPr>
          <a:xfrm>
            <a:off x="6629400" y="5212080"/>
            <a:ext cx="4709160" cy="219456"/>
          </a:xfrm>
          <a:prstGeom prst="rect">
            <a:avLst/>
          </a:prstGeom>
          <a:noFill/>
          <a:ln/>
        </p:spPr>
        <p:txBody>
          <a:bodyPr wrap="square" lIns="0" tIns="0" rIns="0" bIns="0" rtlCol="0" anchor="ctr"/>
          <a:lstStyle/>
          <a:p>
            <a:pPr indent="0" marL="0">
              <a:buNone/>
            </a:pPr>
            <a:r>
              <a:rPr lang="en-US" sz="950" b="1" dirty="0">
                <a:solidFill>
                  <a:srgbClr val="007C89"/>
                </a:solidFill>
              </a:rPr>
              <a:t>CLASS CHECK</a:t>
            </a:r>
            <a:endParaRPr lang="en-US" sz="950" dirty="0"/>
          </a:p>
        </p:txBody>
      </p:sp>
      <p:sp>
        <p:nvSpPr>
          <p:cNvPr id="19" name="Text 17"/>
          <p:cNvSpPr/>
          <p:nvPr/>
        </p:nvSpPr>
        <p:spPr>
          <a:xfrm>
            <a:off x="6629400" y="5486400"/>
            <a:ext cx="4709160" cy="338328"/>
          </a:xfrm>
          <a:prstGeom prst="rect">
            <a:avLst/>
          </a:prstGeom>
          <a:noFill/>
          <a:ln/>
        </p:spPr>
        <p:txBody>
          <a:bodyPr wrap="square" lIns="254" tIns="254" rIns="254" bIns="254" rtlCol="0" anchor="t">
            <a:normAutofit/>
          </a:bodyPr>
          <a:lstStyle/>
          <a:p>
            <a:pPr indent="0" marL="0">
              <a:buNone/>
            </a:pPr>
            <a:r>
              <a:rPr lang="en-US" sz="1270" dirty="0">
                <a:solidFill>
                  <a:srgbClr val="1E293B"/>
                </a:solidFill>
              </a:rPr>
              <a:t>Ask: How many arguments should Enrolled(student, course, semester) have?</a:t>
            </a:r>
            <a:endParaRPr lang="en-US" sz="127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5088"/>
          </a:solidFill>
          <a:ln w="12700">
            <a:solidFill>
              <a:srgbClr val="005088"/>
            </a:solidFill>
            <a:prstDash val="solid"/>
          </a:ln>
        </p:spPr>
      </p:sp>
      <p:sp>
        <p:nvSpPr>
          <p:cNvPr id="3" name="Shape 1"/>
          <p:cNvSpPr/>
          <p:nvPr/>
        </p:nvSpPr>
        <p:spPr>
          <a:xfrm>
            <a:off x="0" y="6729984"/>
            <a:ext cx="12191695" cy="128016"/>
          </a:xfrm>
          <a:prstGeom prst="rect">
            <a:avLst/>
          </a:prstGeom>
          <a:solidFill>
            <a:srgbClr val="005088"/>
          </a:solidFill>
          <a:ln w="12700">
            <a:solidFill>
              <a:srgbClr val="005088"/>
            </a:solidFill>
            <a:prstDash val="solid"/>
          </a:ln>
        </p:spPr>
      </p:sp>
      <p:sp>
        <p:nvSpPr>
          <p:cNvPr id="4" name="Text 2"/>
          <p:cNvSpPr/>
          <p:nvPr/>
        </p:nvSpPr>
        <p:spPr>
          <a:xfrm>
            <a:off x="502920" y="210312"/>
            <a:ext cx="6858000" cy="219456"/>
          </a:xfrm>
          <a:prstGeom prst="rect">
            <a:avLst/>
          </a:prstGeom>
          <a:noFill/>
          <a:ln/>
        </p:spPr>
        <p:txBody>
          <a:bodyPr wrap="square" lIns="0" tIns="0" rIns="0" bIns="0" rtlCol="0" anchor="ctr"/>
          <a:lstStyle/>
          <a:p>
            <a:pPr indent="0" marL="0">
              <a:buNone/>
            </a:pPr>
            <a:r>
              <a:rPr lang="en-US" sz="950" b="1" dirty="0">
                <a:solidFill>
                  <a:srgbClr val="3D5A80"/>
                </a:solidFill>
                <a:latin typeface="Aptos" pitchFamily="34" charset="0"/>
                <a:ea typeface="Aptos" pitchFamily="34" charset="-122"/>
                <a:cs typeface="Aptos" pitchFamily="34" charset="-120"/>
              </a:rPr>
              <a:t>8.2.2 Symbols and interpretations</a:t>
            </a:r>
            <a:endParaRPr lang="en-US" sz="950" dirty="0"/>
          </a:p>
        </p:txBody>
      </p:sp>
      <p:sp>
        <p:nvSpPr>
          <p:cNvPr id="5" name="Text 3"/>
          <p:cNvSpPr/>
          <p:nvPr/>
        </p:nvSpPr>
        <p:spPr>
          <a:xfrm>
            <a:off x="11018520" y="201168"/>
            <a:ext cx="640080" cy="228600"/>
          </a:xfrm>
          <a:prstGeom prst="rect">
            <a:avLst/>
          </a:prstGeom>
          <a:noFill/>
          <a:ln/>
        </p:spPr>
        <p:txBody>
          <a:bodyPr wrap="square" lIns="0" tIns="0" rIns="0" bIns="0" rtlCol="0" anchor="ctr"/>
          <a:lstStyle/>
          <a:p>
            <a:pPr algn="r" indent="0" marL="0">
              <a:buNone/>
            </a:pPr>
            <a:r>
              <a:rPr lang="en-US" sz="900" b="1" dirty="0">
                <a:solidFill>
                  <a:srgbClr val="3D5A80"/>
                </a:solidFill>
              </a:rPr>
              <a:t>36</a:t>
            </a:r>
            <a:endParaRPr lang="en-US" sz="900" dirty="0"/>
          </a:p>
        </p:txBody>
      </p:sp>
      <p:sp>
        <p:nvSpPr>
          <p:cNvPr id="6" name="Text 4"/>
          <p:cNvSpPr/>
          <p:nvPr/>
        </p:nvSpPr>
        <p:spPr>
          <a:xfrm>
            <a:off x="502920" y="566928"/>
            <a:ext cx="11201400" cy="512064"/>
          </a:xfrm>
          <a:prstGeom prst="rect">
            <a:avLst/>
          </a:prstGeom>
          <a:noFill/>
          <a:ln/>
        </p:spPr>
        <p:txBody>
          <a:bodyPr wrap="square" lIns="0" tIns="0" rIns="0" bIns="0" rtlCol="0" anchor="ctr">
            <a:normAutofit/>
          </a:bodyPr>
          <a:lstStyle/>
          <a:p>
            <a:pPr indent="0" marL="0">
              <a:buNone/>
            </a:pPr>
            <a:r>
              <a:rPr lang="en-US" sz="2650" b="1" dirty="0">
                <a:solidFill>
                  <a:srgbClr val="005088"/>
                </a:solidFill>
                <a:latin typeface="Aptos Display" pitchFamily="34" charset="0"/>
                <a:ea typeface="Aptos Display" pitchFamily="34" charset="-122"/>
                <a:cs typeface="Aptos Display" pitchFamily="34" charset="-120"/>
              </a:rPr>
              <a:t>SYNTAX OF FIRST-ORDER LOGIC</a:t>
            </a:r>
            <a:endParaRPr lang="en-US" sz="2650" dirty="0"/>
          </a:p>
        </p:txBody>
      </p:sp>
      <p:sp>
        <p:nvSpPr>
          <p:cNvPr id="7" name="Shape 5"/>
          <p:cNvSpPr/>
          <p:nvPr/>
        </p:nvSpPr>
        <p:spPr>
          <a:xfrm>
            <a:off x="502920" y="1188720"/>
            <a:ext cx="11109960" cy="0"/>
          </a:xfrm>
          <a:prstGeom prst="line">
            <a:avLst/>
          </a:prstGeom>
          <a:noFill/>
          <a:ln w="12700">
            <a:solidFill>
              <a:srgbClr val="3D5A80"/>
            </a:solidFill>
            <a:prstDash val="solid"/>
          </a:ln>
        </p:spPr>
      </p:sp>
      <p:sp>
        <p:nvSpPr>
          <p:cNvPr id="8" name="Text 6"/>
          <p:cNvSpPr/>
          <p:nvPr/>
        </p:nvSpPr>
        <p:spPr>
          <a:xfrm>
            <a:off x="685800" y="1536192"/>
            <a:ext cx="5074920" cy="4251960"/>
          </a:xfrm>
          <a:prstGeom prst="rect">
            <a:avLst/>
          </a:prstGeom>
          <a:noFill/>
          <a:ln/>
        </p:spPr>
        <p:txBody>
          <a:bodyPr wrap="square" lIns="1016" tIns="1016" rIns="1016" bIns="1016" rtlCol="0" anchor="t">
            <a:normAutofit/>
          </a:bodyPr>
          <a:lstStyle/>
          <a:p>
            <a:pPr indent="0" marL="0">
              <a:buNone/>
            </a:pPr>
            <a:r>
              <a:rPr lang="en-US" sz="1580" dirty="0">
                <a:solidFill>
                  <a:srgbClr val="1E293B"/>
                </a:solidFill>
                <a:latin typeface="Aptos" pitchFamily="34" charset="0"/>
                <a:ea typeface="Aptos" pitchFamily="34" charset="-122"/>
                <a:cs typeface="Aptos" pitchFamily="34" charset="-120"/>
              </a:rPr>
              <a:t>• Terms refer to objects</a:t>
            </a:r>
            <a:endParaRPr lang="en-US" sz="1580" dirty="0"/>
          </a:p>
          <a:p>
            <a:pPr indent="0" marL="0">
              <a:buNone/>
            </a:pPr>
            <a:r>
              <a:rPr lang="en-US" sz="1580" dirty="0">
                <a:solidFill>
                  <a:srgbClr val="1E293B"/>
                </a:solidFill>
                <a:latin typeface="Aptos" pitchFamily="34" charset="0"/>
                <a:ea typeface="Aptos" pitchFamily="34" charset="-122"/>
                <a:cs typeface="Aptos" pitchFamily="34" charset="-120"/>
              </a:rPr>
              <a:t>• Atomic sentences make basic claims</a:t>
            </a:r>
            <a:endParaRPr lang="en-US" sz="1580" dirty="0"/>
          </a:p>
          <a:p>
            <a:pPr indent="0" marL="0">
              <a:buNone/>
            </a:pPr>
            <a:r>
              <a:rPr lang="en-US" sz="1580" dirty="0">
                <a:solidFill>
                  <a:srgbClr val="1E293B"/>
                </a:solidFill>
                <a:latin typeface="Aptos" pitchFamily="34" charset="0"/>
                <a:ea typeface="Aptos" pitchFamily="34" charset="-122"/>
                <a:cs typeface="Aptos" pitchFamily="34" charset="-120"/>
              </a:rPr>
              <a:t>• Complex sentences combine smaller sentences</a:t>
            </a:r>
            <a:endParaRPr lang="en-US" sz="1580" dirty="0"/>
          </a:p>
          <a:p>
            <a:pPr indent="0" marL="0">
              <a:buNone/>
            </a:pPr>
            <a:r>
              <a:rPr lang="en-US" sz="1580" dirty="0">
                <a:solidFill>
                  <a:srgbClr val="1E293B"/>
                </a:solidFill>
                <a:latin typeface="Aptos" pitchFamily="34" charset="0"/>
                <a:ea typeface="Aptos" pitchFamily="34" charset="-122"/>
                <a:cs typeface="Aptos" pitchFamily="34" charset="-120"/>
              </a:rPr>
              <a:t>• Quantifiers bind variables</a:t>
            </a:r>
            <a:endParaRPr lang="en-US" sz="1580" dirty="0"/>
          </a:p>
        </p:txBody>
      </p:sp>
      <p:sp>
        <p:nvSpPr>
          <p:cNvPr id="9" name="Shape 7"/>
          <p:cNvSpPr/>
          <p:nvPr/>
        </p:nvSpPr>
        <p:spPr>
          <a:xfrm>
            <a:off x="6044184" y="1472184"/>
            <a:ext cx="5513832" cy="4050792"/>
          </a:xfrm>
          <a:prstGeom prst="roundRect">
            <a:avLst>
              <a:gd name="adj" fmla="val 1580"/>
            </a:avLst>
          </a:prstGeom>
          <a:solidFill>
            <a:srgbClr val="FFFFFF"/>
          </a:solidFill>
          <a:ln w="12700">
            <a:solidFill>
              <a:srgbClr val="CBD5E1"/>
            </a:solidFill>
            <a:prstDash val="solid"/>
          </a:ln>
        </p:spPr>
      </p:sp>
      <p:pic>
        <p:nvPicPr>
          <p:cNvPr id="10" name="Image 0" descr="/mnt/data/ch8_ppt_assets/fig8_3_syntax.png">    </p:cNvPr>
          <p:cNvPicPr>
            <a:picLocks noChangeAspect="1"/>
          </p:cNvPicPr>
          <p:nvPr/>
        </p:nvPicPr>
        <p:blipFill>
          <a:blip r:embed="rId1"/>
          <a:stretch>
            <a:fillRect/>
          </a:stretch>
        </p:blipFill>
        <p:spPr>
          <a:xfrm>
            <a:off x="6407150" y="1508760"/>
            <a:ext cx="4787900" cy="3977640"/>
          </a:xfrm>
          <a:prstGeom prst="rect">
            <a:avLst/>
          </a:prstGeom>
        </p:spPr>
      </p:pic>
      <p:sp>
        <p:nvSpPr>
          <p:cNvPr id="11" name="Text 8"/>
          <p:cNvSpPr/>
          <p:nvPr/>
        </p:nvSpPr>
        <p:spPr>
          <a:xfrm>
            <a:off x="6080760" y="5559552"/>
            <a:ext cx="5440680" cy="320040"/>
          </a:xfrm>
          <a:prstGeom prst="rect">
            <a:avLst/>
          </a:prstGeom>
          <a:noFill/>
          <a:ln/>
        </p:spPr>
        <p:txBody>
          <a:bodyPr wrap="square" lIns="0" tIns="0" rIns="0" bIns="0" rtlCol="0" anchor="ctr">
            <a:normAutofit/>
          </a:bodyPr>
          <a:lstStyle/>
          <a:p>
            <a:pPr indent="0" marL="0">
              <a:buNone/>
            </a:pPr>
            <a:r>
              <a:rPr lang="en-US" sz="1030" i="1" dirty="0">
                <a:solidFill>
                  <a:srgbClr val="64748B"/>
                </a:solidFill>
              </a:rPr>
              <a:t>Figure 8.3: grammar of first-order logic with equality, written in Backus-Naur form.</a:t>
            </a:r>
            <a:endParaRPr lang="en-US" sz="103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5088"/>
          </a:solidFill>
          <a:ln w="12700">
            <a:solidFill>
              <a:srgbClr val="005088"/>
            </a:solidFill>
            <a:prstDash val="solid"/>
          </a:ln>
        </p:spPr>
      </p:sp>
      <p:sp>
        <p:nvSpPr>
          <p:cNvPr id="3" name="Shape 1"/>
          <p:cNvSpPr/>
          <p:nvPr/>
        </p:nvSpPr>
        <p:spPr>
          <a:xfrm>
            <a:off x="0" y="6729984"/>
            <a:ext cx="12191695" cy="128016"/>
          </a:xfrm>
          <a:prstGeom prst="rect">
            <a:avLst/>
          </a:prstGeom>
          <a:solidFill>
            <a:srgbClr val="005088"/>
          </a:solidFill>
          <a:ln w="12700">
            <a:solidFill>
              <a:srgbClr val="005088"/>
            </a:solidFill>
            <a:prstDash val="solid"/>
          </a:ln>
        </p:spPr>
      </p:sp>
      <p:sp>
        <p:nvSpPr>
          <p:cNvPr id="4" name="Text 2"/>
          <p:cNvSpPr/>
          <p:nvPr/>
        </p:nvSpPr>
        <p:spPr>
          <a:xfrm>
            <a:off x="502920" y="210312"/>
            <a:ext cx="6858000" cy="219456"/>
          </a:xfrm>
          <a:prstGeom prst="rect">
            <a:avLst/>
          </a:prstGeom>
          <a:noFill/>
          <a:ln/>
        </p:spPr>
        <p:txBody>
          <a:bodyPr wrap="square" lIns="0" tIns="0" rIns="0" bIns="0" rtlCol="0" anchor="ctr"/>
          <a:lstStyle/>
          <a:p>
            <a:pPr indent="0" marL="0">
              <a:buNone/>
            </a:pPr>
            <a:r>
              <a:rPr lang="en-US" sz="950" b="1" dirty="0">
                <a:solidFill>
                  <a:srgbClr val="3D5A80"/>
                </a:solidFill>
                <a:latin typeface="Aptos" pitchFamily="34" charset="0"/>
                <a:ea typeface="Aptos" pitchFamily="34" charset="-122"/>
                <a:cs typeface="Aptos" pitchFamily="34" charset="-120"/>
              </a:rPr>
              <a:t>8.2.2 Symbols and interpretations</a:t>
            </a:r>
            <a:endParaRPr lang="en-US" sz="950" dirty="0"/>
          </a:p>
        </p:txBody>
      </p:sp>
      <p:sp>
        <p:nvSpPr>
          <p:cNvPr id="5" name="Text 3"/>
          <p:cNvSpPr/>
          <p:nvPr/>
        </p:nvSpPr>
        <p:spPr>
          <a:xfrm>
            <a:off x="11018520" y="201168"/>
            <a:ext cx="640080" cy="228600"/>
          </a:xfrm>
          <a:prstGeom prst="rect">
            <a:avLst/>
          </a:prstGeom>
          <a:noFill/>
          <a:ln/>
        </p:spPr>
        <p:txBody>
          <a:bodyPr wrap="square" lIns="0" tIns="0" rIns="0" bIns="0" rtlCol="0" anchor="ctr"/>
          <a:lstStyle/>
          <a:p>
            <a:pPr algn="r" indent="0" marL="0">
              <a:buNone/>
            </a:pPr>
            <a:r>
              <a:rPr lang="en-US" sz="900" b="1" dirty="0">
                <a:solidFill>
                  <a:srgbClr val="3D5A80"/>
                </a:solidFill>
              </a:rPr>
              <a:t>37</a:t>
            </a:r>
            <a:endParaRPr lang="en-US" sz="900" dirty="0"/>
          </a:p>
        </p:txBody>
      </p:sp>
      <p:sp>
        <p:nvSpPr>
          <p:cNvPr id="6" name="Text 4"/>
          <p:cNvSpPr/>
          <p:nvPr/>
        </p:nvSpPr>
        <p:spPr>
          <a:xfrm>
            <a:off x="502920" y="566928"/>
            <a:ext cx="11201400" cy="512064"/>
          </a:xfrm>
          <a:prstGeom prst="rect">
            <a:avLst/>
          </a:prstGeom>
          <a:noFill/>
          <a:ln/>
        </p:spPr>
        <p:txBody>
          <a:bodyPr wrap="square" lIns="0" tIns="0" rIns="0" bIns="0" rtlCol="0" anchor="ctr">
            <a:normAutofit/>
          </a:bodyPr>
          <a:lstStyle/>
          <a:p>
            <a:pPr indent="0" marL="0">
              <a:buNone/>
            </a:pPr>
            <a:r>
              <a:rPr lang="en-US" sz="2650" b="1" dirty="0">
                <a:solidFill>
                  <a:srgbClr val="005088"/>
                </a:solidFill>
                <a:latin typeface="Aptos Display" pitchFamily="34" charset="0"/>
                <a:ea typeface="Aptos Display" pitchFamily="34" charset="-122"/>
                <a:cs typeface="Aptos Display" pitchFamily="34" charset="-120"/>
              </a:rPr>
              <a:t>PARSING A SENTENCE STEP BY STEP</a:t>
            </a:r>
            <a:endParaRPr lang="en-US" sz="2650" dirty="0"/>
          </a:p>
        </p:txBody>
      </p:sp>
      <p:sp>
        <p:nvSpPr>
          <p:cNvPr id="7" name="Shape 5"/>
          <p:cNvSpPr/>
          <p:nvPr/>
        </p:nvSpPr>
        <p:spPr>
          <a:xfrm>
            <a:off x="502920" y="1188720"/>
            <a:ext cx="11109960" cy="0"/>
          </a:xfrm>
          <a:prstGeom prst="line">
            <a:avLst/>
          </a:prstGeom>
          <a:noFill/>
          <a:ln w="12700">
            <a:solidFill>
              <a:srgbClr val="3D5A80"/>
            </a:solidFill>
            <a:prstDash val="solid"/>
          </a:ln>
        </p:spPr>
      </p:sp>
      <p:sp>
        <p:nvSpPr>
          <p:cNvPr id="8" name="Text 6"/>
          <p:cNvSpPr/>
          <p:nvPr/>
        </p:nvSpPr>
        <p:spPr>
          <a:xfrm>
            <a:off x="713232" y="1572768"/>
            <a:ext cx="5440680" cy="4251960"/>
          </a:xfrm>
          <a:prstGeom prst="rect">
            <a:avLst/>
          </a:prstGeom>
          <a:noFill/>
          <a:ln/>
        </p:spPr>
        <p:txBody>
          <a:bodyPr wrap="square" lIns="1016" tIns="1016" rIns="1016" bIns="1016" rtlCol="0" anchor="t">
            <a:normAutofit/>
          </a:bodyPr>
          <a:lstStyle/>
          <a:p>
            <a:pPr indent="0" marL="0">
              <a:buNone/>
            </a:pPr>
            <a:r>
              <a:rPr lang="en-US" sz="1650" dirty="0">
                <a:solidFill>
                  <a:srgbClr val="1E293B"/>
                </a:solidFill>
                <a:latin typeface="Aptos" pitchFamily="34" charset="0"/>
                <a:ea typeface="Aptos" pitchFamily="34" charset="-122"/>
                <a:cs typeface="Aptos" pitchFamily="34" charset="-120"/>
              </a:rPr>
              <a:t>• Find the outermost connective or quantifier</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Identify the atomic sentences inside</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Separate terms from predicates</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Translate each part into English</a:t>
            </a:r>
            <a:endParaRPr lang="en-US" sz="1650" dirty="0"/>
          </a:p>
        </p:txBody>
      </p:sp>
      <p:sp>
        <p:nvSpPr>
          <p:cNvPr id="9" name="Shape 7"/>
          <p:cNvSpPr/>
          <p:nvPr/>
        </p:nvSpPr>
        <p:spPr>
          <a:xfrm>
            <a:off x="6446520" y="1572768"/>
            <a:ext cx="5074920" cy="1234440"/>
          </a:xfrm>
          <a:prstGeom prst="roundRect">
            <a:avLst>
              <a:gd name="adj" fmla="val 5926"/>
            </a:avLst>
          </a:prstGeom>
          <a:solidFill>
            <a:srgbClr val="FFF6D9"/>
          </a:solidFill>
          <a:ln w="12700">
            <a:solidFill>
              <a:srgbClr val="F4A261"/>
            </a:solidFill>
            <a:prstDash val="solid"/>
          </a:ln>
        </p:spPr>
      </p:sp>
      <p:sp>
        <p:nvSpPr>
          <p:cNvPr id="10" name="Text 8"/>
          <p:cNvSpPr/>
          <p:nvPr/>
        </p:nvSpPr>
        <p:spPr>
          <a:xfrm>
            <a:off x="6629400" y="1709928"/>
            <a:ext cx="4709160" cy="219456"/>
          </a:xfrm>
          <a:prstGeom prst="rect">
            <a:avLst/>
          </a:prstGeom>
          <a:noFill/>
          <a:ln/>
        </p:spPr>
        <p:txBody>
          <a:bodyPr wrap="square" lIns="0" tIns="0" rIns="0" bIns="0" rtlCol="0" anchor="ctr"/>
          <a:lstStyle/>
          <a:p>
            <a:pPr indent="0" marL="0">
              <a:buNone/>
            </a:pPr>
            <a:r>
              <a:rPr lang="en-US" sz="950" b="1" dirty="0">
                <a:solidFill>
                  <a:srgbClr val="B0005D"/>
                </a:solidFill>
              </a:rPr>
              <a:t>ANALOGY</a:t>
            </a:r>
            <a:endParaRPr lang="en-US" sz="950" dirty="0"/>
          </a:p>
        </p:txBody>
      </p:sp>
      <p:sp>
        <p:nvSpPr>
          <p:cNvPr id="11" name="Text 9"/>
          <p:cNvSpPr/>
          <p:nvPr/>
        </p:nvSpPr>
        <p:spPr>
          <a:xfrm>
            <a:off x="6629400" y="1984248"/>
            <a:ext cx="4709160" cy="731520"/>
          </a:xfrm>
          <a:prstGeom prst="rect">
            <a:avLst/>
          </a:prstGeom>
          <a:noFill/>
          <a:ln/>
        </p:spPr>
        <p:txBody>
          <a:bodyPr wrap="square" lIns="254" tIns="254" rIns="254" bIns="254" rtlCol="0" anchor="t">
            <a:normAutofit/>
          </a:bodyPr>
          <a:lstStyle/>
          <a:p>
            <a:pPr indent="0" marL="0">
              <a:buNone/>
            </a:pPr>
            <a:r>
              <a:rPr lang="en-US" sz="1330" dirty="0">
                <a:solidFill>
                  <a:srgbClr val="1E293B"/>
                </a:solidFill>
              </a:rPr>
              <a:t>Parsing a formula is like reading a complex sentence in English: find the main verb, then the clauses.</a:t>
            </a:r>
            <a:endParaRPr lang="en-US" sz="1330" dirty="0"/>
          </a:p>
        </p:txBody>
      </p:sp>
      <p:sp>
        <p:nvSpPr>
          <p:cNvPr id="12" name="Shape 10"/>
          <p:cNvSpPr/>
          <p:nvPr/>
        </p:nvSpPr>
        <p:spPr>
          <a:xfrm>
            <a:off x="6446520" y="2999232"/>
            <a:ext cx="5074920" cy="841248"/>
          </a:xfrm>
          <a:prstGeom prst="roundRect">
            <a:avLst>
              <a:gd name="adj" fmla="val 8696"/>
            </a:avLst>
          </a:prstGeom>
          <a:solidFill>
            <a:srgbClr val="FFFFFF">
              <a:alpha val="97000"/>
            </a:srgbClr>
          </a:solidFill>
          <a:ln w="12700">
            <a:solidFill>
              <a:srgbClr val="007C89"/>
            </a:solidFill>
            <a:prstDash val="solid"/>
          </a:ln>
        </p:spPr>
      </p:sp>
      <p:sp>
        <p:nvSpPr>
          <p:cNvPr id="13" name="Text 11"/>
          <p:cNvSpPr/>
          <p:nvPr/>
        </p:nvSpPr>
        <p:spPr>
          <a:xfrm>
            <a:off x="6611112" y="3127248"/>
            <a:ext cx="4745736" cy="658368"/>
          </a:xfrm>
          <a:prstGeom prst="rect">
            <a:avLst/>
          </a:prstGeom>
          <a:noFill/>
          <a:ln/>
        </p:spPr>
        <p:txBody>
          <a:bodyPr wrap="square" lIns="0" tIns="0" rIns="0" bIns="0" rtlCol="0" anchor="ctr">
            <a:normAutofit/>
          </a:bodyPr>
          <a:lstStyle/>
          <a:p>
            <a:pPr algn="ctr" indent="0" marL="0">
              <a:buNone/>
            </a:pPr>
            <a:r>
              <a:rPr lang="en-US" sz="1900" b="1" dirty="0">
                <a:solidFill>
                  <a:srgbClr val="005088"/>
                </a:solidFill>
                <a:latin typeface="Cambria Math" pitchFamily="34" charset="0"/>
                <a:ea typeface="Cambria Math" pitchFamily="34" charset="-122"/>
                <a:cs typeface="Cambria Math" pitchFamily="34" charset="-120"/>
              </a:rPr>
              <a:t>∀x King(x) ⇒ Person(x)</a:t>
            </a:r>
            <a:endParaRPr lang="en-US" sz="1900" dirty="0"/>
          </a:p>
        </p:txBody>
      </p:sp>
      <p:sp>
        <p:nvSpPr>
          <p:cNvPr id="14" name="Shape 12"/>
          <p:cNvSpPr/>
          <p:nvPr/>
        </p:nvSpPr>
        <p:spPr>
          <a:xfrm>
            <a:off x="6446520" y="4041648"/>
            <a:ext cx="5074920" cy="859536"/>
          </a:xfrm>
          <a:prstGeom prst="roundRect">
            <a:avLst>
              <a:gd name="adj" fmla="val 8511"/>
            </a:avLst>
          </a:prstGeom>
          <a:solidFill>
            <a:srgbClr val="FFE4E6"/>
          </a:solidFill>
          <a:ln w="12700">
            <a:solidFill>
              <a:srgbClr val="FDA4AF"/>
            </a:solidFill>
            <a:prstDash val="solid"/>
          </a:ln>
        </p:spPr>
      </p:sp>
      <p:sp>
        <p:nvSpPr>
          <p:cNvPr id="15" name="Text 13"/>
          <p:cNvSpPr/>
          <p:nvPr/>
        </p:nvSpPr>
        <p:spPr>
          <a:xfrm>
            <a:off x="6629400" y="4178808"/>
            <a:ext cx="4709160" cy="219456"/>
          </a:xfrm>
          <a:prstGeom prst="rect">
            <a:avLst/>
          </a:prstGeom>
          <a:noFill/>
          <a:ln/>
        </p:spPr>
        <p:txBody>
          <a:bodyPr wrap="square" lIns="0" tIns="0" rIns="0" bIns="0" rtlCol="0" anchor="ctr"/>
          <a:lstStyle/>
          <a:p>
            <a:pPr indent="0" marL="0">
              <a:buNone/>
            </a:pPr>
            <a:r>
              <a:rPr lang="en-US" sz="950" b="1" dirty="0">
                <a:solidFill>
                  <a:srgbClr val="C1121F"/>
                </a:solidFill>
              </a:rPr>
              <a:t>STUDENT GOTCHA</a:t>
            </a:r>
            <a:endParaRPr lang="en-US" sz="950" dirty="0"/>
          </a:p>
        </p:txBody>
      </p:sp>
      <p:sp>
        <p:nvSpPr>
          <p:cNvPr id="16" name="Text 14"/>
          <p:cNvSpPr/>
          <p:nvPr/>
        </p:nvSpPr>
        <p:spPr>
          <a:xfrm>
            <a:off x="6629400" y="4453128"/>
            <a:ext cx="4709160" cy="356616"/>
          </a:xfrm>
          <a:prstGeom prst="rect">
            <a:avLst/>
          </a:prstGeom>
          <a:noFill/>
          <a:ln/>
        </p:spPr>
        <p:txBody>
          <a:bodyPr wrap="square" lIns="254" tIns="254" rIns="254" bIns="254" rtlCol="0" anchor="t">
            <a:normAutofit/>
          </a:bodyPr>
          <a:lstStyle/>
          <a:p>
            <a:pPr indent="0" marL="0">
              <a:buNone/>
            </a:pPr>
            <a:r>
              <a:rPr lang="en-US" sz="1250" dirty="0">
                <a:solidFill>
                  <a:srgbClr val="1E293B"/>
                </a:solidFill>
              </a:rPr>
              <a:t>Do not translate symbols one at a time without structure. The outer structure often determines the meaning.</a:t>
            </a:r>
            <a:endParaRPr lang="en-US" sz="1250" dirty="0"/>
          </a:p>
        </p:txBody>
      </p:sp>
      <p:sp>
        <p:nvSpPr>
          <p:cNvPr id="17" name="Shape 15"/>
          <p:cNvSpPr/>
          <p:nvPr/>
        </p:nvSpPr>
        <p:spPr>
          <a:xfrm>
            <a:off x="6446520" y="5074920"/>
            <a:ext cx="5074920" cy="841248"/>
          </a:xfrm>
          <a:prstGeom prst="roundRect">
            <a:avLst>
              <a:gd name="adj" fmla="val 8696"/>
            </a:avLst>
          </a:prstGeom>
          <a:solidFill>
            <a:srgbClr val="E6FFFA"/>
          </a:solidFill>
          <a:ln w="12700">
            <a:solidFill>
              <a:srgbClr val="2A9D8F"/>
            </a:solidFill>
            <a:prstDash val="solid"/>
          </a:ln>
        </p:spPr>
      </p:sp>
      <p:sp>
        <p:nvSpPr>
          <p:cNvPr id="18" name="Text 16"/>
          <p:cNvSpPr/>
          <p:nvPr/>
        </p:nvSpPr>
        <p:spPr>
          <a:xfrm>
            <a:off x="6629400" y="5212080"/>
            <a:ext cx="4709160" cy="219456"/>
          </a:xfrm>
          <a:prstGeom prst="rect">
            <a:avLst/>
          </a:prstGeom>
          <a:noFill/>
          <a:ln/>
        </p:spPr>
        <p:txBody>
          <a:bodyPr wrap="square" lIns="0" tIns="0" rIns="0" bIns="0" rtlCol="0" anchor="ctr"/>
          <a:lstStyle/>
          <a:p>
            <a:pPr indent="0" marL="0">
              <a:buNone/>
            </a:pPr>
            <a:r>
              <a:rPr lang="en-US" sz="950" b="1" dirty="0">
                <a:solidFill>
                  <a:srgbClr val="007C89"/>
                </a:solidFill>
              </a:rPr>
              <a:t>CLASS CHECK</a:t>
            </a:r>
            <a:endParaRPr lang="en-US" sz="950" dirty="0"/>
          </a:p>
        </p:txBody>
      </p:sp>
      <p:sp>
        <p:nvSpPr>
          <p:cNvPr id="19" name="Text 17"/>
          <p:cNvSpPr/>
          <p:nvPr/>
        </p:nvSpPr>
        <p:spPr>
          <a:xfrm>
            <a:off x="6629400" y="5486400"/>
            <a:ext cx="4709160" cy="338328"/>
          </a:xfrm>
          <a:prstGeom prst="rect">
            <a:avLst/>
          </a:prstGeom>
          <a:noFill/>
          <a:ln/>
        </p:spPr>
        <p:txBody>
          <a:bodyPr wrap="square" lIns="254" tIns="254" rIns="254" bIns="254" rtlCol="0" anchor="t">
            <a:normAutofit/>
          </a:bodyPr>
          <a:lstStyle/>
          <a:p>
            <a:pPr indent="0" marL="0">
              <a:buNone/>
            </a:pPr>
            <a:r>
              <a:rPr lang="en-US" sz="1270" dirty="0">
                <a:solidFill>
                  <a:srgbClr val="1E293B"/>
                </a:solidFill>
              </a:rPr>
              <a:t>Ask: What is the main connective after the quantifier?</a:t>
            </a:r>
            <a:endParaRPr lang="en-US" sz="127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5088"/>
          </a:solidFill>
          <a:ln w="12700">
            <a:solidFill>
              <a:srgbClr val="005088"/>
            </a:solidFill>
            <a:prstDash val="solid"/>
          </a:ln>
        </p:spPr>
      </p:sp>
      <p:sp>
        <p:nvSpPr>
          <p:cNvPr id="3" name="Shape 1"/>
          <p:cNvSpPr/>
          <p:nvPr/>
        </p:nvSpPr>
        <p:spPr>
          <a:xfrm>
            <a:off x="0" y="6729984"/>
            <a:ext cx="12191695" cy="128016"/>
          </a:xfrm>
          <a:prstGeom prst="rect">
            <a:avLst/>
          </a:prstGeom>
          <a:solidFill>
            <a:srgbClr val="005088"/>
          </a:solidFill>
          <a:ln w="12700">
            <a:solidFill>
              <a:srgbClr val="005088"/>
            </a:solidFill>
            <a:prstDash val="solid"/>
          </a:ln>
        </p:spPr>
      </p:sp>
      <p:sp>
        <p:nvSpPr>
          <p:cNvPr id="4" name="Text 2"/>
          <p:cNvSpPr/>
          <p:nvPr/>
        </p:nvSpPr>
        <p:spPr>
          <a:xfrm>
            <a:off x="502920" y="210312"/>
            <a:ext cx="6858000" cy="219456"/>
          </a:xfrm>
          <a:prstGeom prst="rect">
            <a:avLst/>
          </a:prstGeom>
          <a:noFill/>
          <a:ln/>
        </p:spPr>
        <p:txBody>
          <a:bodyPr wrap="square" lIns="0" tIns="0" rIns="0" bIns="0" rtlCol="0" anchor="ctr"/>
          <a:lstStyle/>
          <a:p>
            <a:pPr indent="0" marL="0">
              <a:buNone/>
            </a:pPr>
            <a:r>
              <a:rPr lang="en-US" sz="950" b="1" dirty="0">
                <a:solidFill>
                  <a:srgbClr val="3D5A80"/>
                </a:solidFill>
                <a:latin typeface="Aptos" pitchFamily="34" charset="0"/>
                <a:ea typeface="Aptos" pitchFamily="34" charset="-122"/>
                <a:cs typeface="Aptos" pitchFamily="34" charset="-120"/>
              </a:rPr>
              <a:t>8.2.3 Terms</a:t>
            </a:r>
            <a:endParaRPr lang="en-US" sz="950" dirty="0"/>
          </a:p>
        </p:txBody>
      </p:sp>
      <p:sp>
        <p:nvSpPr>
          <p:cNvPr id="5" name="Text 3"/>
          <p:cNvSpPr/>
          <p:nvPr/>
        </p:nvSpPr>
        <p:spPr>
          <a:xfrm>
            <a:off x="11018520" y="201168"/>
            <a:ext cx="640080" cy="228600"/>
          </a:xfrm>
          <a:prstGeom prst="rect">
            <a:avLst/>
          </a:prstGeom>
          <a:noFill/>
          <a:ln/>
        </p:spPr>
        <p:txBody>
          <a:bodyPr wrap="square" lIns="0" tIns="0" rIns="0" bIns="0" rtlCol="0" anchor="ctr"/>
          <a:lstStyle/>
          <a:p>
            <a:pPr algn="r" indent="0" marL="0">
              <a:buNone/>
            </a:pPr>
            <a:r>
              <a:rPr lang="en-US" sz="900" b="1" dirty="0">
                <a:solidFill>
                  <a:srgbClr val="3D5A80"/>
                </a:solidFill>
              </a:rPr>
              <a:t>38</a:t>
            </a:r>
            <a:endParaRPr lang="en-US" sz="900" dirty="0"/>
          </a:p>
        </p:txBody>
      </p:sp>
      <p:sp>
        <p:nvSpPr>
          <p:cNvPr id="6" name="Text 4"/>
          <p:cNvSpPr/>
          <p:nvPr/>
        </p:nvSpPr>
        <p:spPr>
          <a:xfrm>
            <a:off x="502920" y="566928"/>
            <a:ext cx="11201400" cy="512064"/>
          </a:xfrm>
          <a:prstGeom prst="rect">
            <a:avLst/>
          </a:prstGeom>
          <a:noFill/>
          <a:ln/>
        </p:spPr>
        <p:txBody>
          <a:bodyPr wrap="square" lIns="0" tIns="0" rIns="0" bIns="0" rtlCol="0" anchor="ctr">
            <a:normAutofit/>
          </a:bodyPr>
          <a:lstStyle/>
          <a:p>
            <a:pPr indent="0" marL="0">
              <a:buNone/>
            </a:pPr>
            <a:r>
              <a:rPr lang="en-US" sz="2650" b="1" dirty="0">
                <a:solidFill>
                  <a:srgbClr val="005088"/>
                </a:solidFill>
                <a:latin typeface="Aptos Display" pitchFamily="34" charset="0"/>
                <a:ea typeface="Aptos Display" pitchFamily="34" charset="-122"/>
                <a:cs typeface="Aptos Display" pitchFamily="34" charset="-120"/>
              </a:rPr>
              <a:t>TERMS REFER TO OBJECTS</a:t>
            </a:r>
            <a:endParaRPr lang="en-US" sz="2650" dirty="0"/>
          </a:p>
        </p:txBody>
      </p:sp>
      <p:sp>
        <p:nvSpPr>
          <p:cNvPr id="7" name="Shape 5"/>
          <p:cNvSpPr/>
          <p:nvPr/>
        </p:nvSpPr>
        <p:spPr>
          <a:xfrm>
            <a:off x="502920" y="1188720"/>
            <a:ext cx="11109960" cy="0"/>
          </a:xfrm>
          <a:prstGeom prst="line">
            <a:avLst/>
          </a:prstGeom>
          <a:noFill/>
          <a:ln w="12700">
            <a:solidFill>
              <a:srgbClr val="3D5A80"/>
            </a:solidFill>
            <a:prstDash val="solid"/>
          </a:ln>
        </p:spPr>
      </p:sp>
      <p:sp>
        <p:nvSpPr>
          <p:cNvPr id="8" name="Text 6"/>
          <p:cNvSpPr/>
          <p:nvPr/>
        </p:nvSpPr>
        <p:spPr>
          <a:xfrm>
            <a:off x="713232" y="1572768"/>
            <a:ext cx="5440680" cy="4251960"/>
          </a:xfrm>
          <a:prstGeom prst="rect">
            <a:avLst/>
          </a:prstGeom>
          <a:noFill/>
          <a:ln/>
        </p:spPr>
        <p:txBody>
          <a:bodyPr wrap="square" lIns="1016" tIns="1016" rIns="1016" bIns="1016" rtlCol="0" anchor="t">
            <a:normAutofit/>
          </a:bodyPr>
          <a:lstStyle/>
          <a:p>
            <a:pPr indent="0" marL="0">
              <a:buNone/>
            </a:pPr>
            <a:r>
              <a:rPr lang="en-US" sz="1650" dirty="0">
                <a:solidFill>
                  <a:srgbClr val="1E293B"/>
                </a:solidFill>
                <a:latin typeface="Aptos" pitchFamily="34" charset="0"/>
                <a:ea typeface="Aptos" pitchFamily="34" charset="-122"/>
                <a:cs typeface="Aptos" pitchFamily="34" charset="-120"/>
              </a:rPr>
              <a:t>• A constant is a term</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A variable is a term</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A function applied to terms is a term</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Terms are not true or false by themselves</a:t>
            </a:r>
            <a:endParaRPr lang="en-US" sz="1650" dirty="0"/>
          </a:p>
        </p:txBody>
      </p:sp>
      <p:sp>
        <p:nvSpPr>
          <p:cNvPr id="9" name="Shape 7"/>
          <p:cNvSpPr/>
          <p:nvPr/>
        </p:nvSpPr>
        <p:spPr>
          <a:xfrm>
            <a:off x="6446520" y="1572768"/>
            <a:ext cx="5074920" cy="1234440"/>
          </a:xfrm>
          <a:prstGeom prst="roundRect">
            <a:avLst>
              <a:gd name="adj" fmla="val 5926"/>
            </a:avLst>
          </a:prstGeom>
          <a:solidFill>
            <a:srgbClr val="FFF6D9"/>
          </a:solidFill>
          <a:ln w="12700">
            <a:solidFill>
              <a:srgbClr val="F4A261"/>
            </a:solidFill>
            <a:prstDash val="solid"/>
          </a:ln>
        </p:spPr>
      </p:sp>
      <p:sp>
        <p:nvSpPr>
          <p:cNvPr id="10" name="Text 8"/>
          <p:cNvSpPr/>
          <p:nvPr/>
        </p:nvSpPr>
        <p:spPr>
          <a:xfrm>
            <a:off x="6629400" y="1709928"/>
            <a:ext cx="4709160" cy="219456"/>
          </a:xfrm>
          <a:prstGeom prst="rect">
            <a:avLst/>
          </a:prstGeom>
          <a:noFill/>
          <a:ln/>
        </p:spPr>
        <p:txBody>
          <a:bodyPr wrap="square" lIns="0" tIns="0" rIns="0" bIns="0" rtlCol="0" anchor="ctr"/>
          <a:lstStyle/>
          <a:p>
            <a:pPr indent="0" marL="0">
              <a:buNone/>
            </a:pPr>
            <a:r>
              <a:rPr lang="en-US" sz="950" b="1" dirty="0">
                <a:solidFill>
                  <a:srgbClr val="B0005D"/>
                </a:solidFill>
              </a:rPr>
              <a:t>ANALOGY</a:t>
            </a:r>
            <a:endParaRPr lang="en-US" sz="950" dirty="0"/>
          </a:p>
        </p:txBody>
      </p:sp>
      <p:sp>
        <p:nvSpPr>
          <p:cNvPr id="11" name="Text 9"/>
          <p:cNvSpPr/>
          <p:nvPr/>
        </p:nvSpPr>
        <p:spPr>
          <a:xfrm>
            <a:off x="6629400" y="1984248"/>
            <a:ext cx="4709160" cy="731520"/>
          </a:xfrm>
          <a:prstGeom prst="rect">
            <a:avLst/>
          </a:prstGeom>
          <a:noFill/>
          <a:ln/>
        </p:spPr>
        <p:txBody>
          <a:bodyPr wrap="square" lIns="254" tIns="254" rIns="254" bIns="254" rtlCol="0" anchor="t">
            <a:normAutofit/>
          </a:bodyPr>
          <a:lstStyle/>
          <a:p>
            <a:pPr indent="0" marL="0">
              <a:buNone/>
            </a:pPr>
            <a:r>
              <a:rPr lang="en-US" sz="1330" dirty="0">
                <a:solidFill>
                  <a:srgbClr val="1E293B"/>
                </a:solidFill>
              </a:rPr>
              <a:t>“My neighbor’s car” can refer to an object even if you never name the car directly.</a:t>
            </a:r>
            <a:endParaRPr lang="en-US" sz="1330" dirty="0"/>
          </a:p>
        </p:txBody>
      </p:sp>
      <p:sp>
        <p:nvSpPr>
          <p:cNvPr id="12" name="Shape 10"/>
          <p:cNvSpPr/>
          <p:nvPr/>
        </p:nvSpPr>
        <p:spPr>
          <a:xfrm>
            <a:off x="6446520" y="2999232"/>
            <a:ext cx="5074920" cy="841248"/>
          </a:xfrm>
          <a:prstGeom prst="roundRect">
            <a:avLst>
              <a:gd name="adj" fmla="val 8696"/>
            </a:avLst>
          </a:prstGeom>
          <a:solidFill>
            <a:srgbClr val="FFFFFF">
              <a:alpha val="97000"/>
            </a:srgbClr>
          </a:solidFill>
          <a:ln w="12700">
            <a:solidFill>
              <a:srgbClr val="007C89"/>
            </a:solidFill>
            <a:prstDash val="solid"/>
          </a:ln>
        </p:spPr>
      </p:sp>
      <p:sp>
        <p:nvSpPr>
          <p:cNvPr id="13" name="Text 11"/>
          <p:cNvSpPr/>
          <p:nvPr/>
        </p:nvSpPr>
        <p:spPr>
          <a:xfrm>
            <a:off x="6611112" y="3127248"/>
            <a:ext cx="4745736" cy="658368"/>
          </a:xfrm>
          <a:prstGeom prst="rect">
            <a:avLst/>
          </a:prstGeom>
          <a:noFill/>
          <a:ln/>
        </p:spPr>
        <p:txBody>
          <a:bodyPr wrap="square" lIns="0" tIns="0" rIns="0" bIns="0" rtlCol="0" anchor="ctr">
            <a:normAutofit/>
          </a:bodyPr>
          <a:lstStyle/>
          <a:p>
            <a:pPr algn="ctr" indent="0" marL="0">
              <a:buNone/>
            </a:pPr>
            <a:r>
              <a:rPr lang="en-US" sz="1800" b="1" dirty="0">
                <a:solidFill>
                  <a:srgbClr val="005088"/>
                </a:solidFill>
                <a:latin typeface="Cambria Math" pitchFamily="34" charset="0"/>
                <a:ea typeface="Cambria Math" pitchFamily="34" charset="-122"/>
                <a:cs typeface="Cambria Math" pitchFamily="34" charset="-120"/>
              </a:rPr>
              <a:t>LeftLeg(John), Mother(John), x</a:t>
            </a:r>
            <a:endParaRPr lang="en-US" sz="1800" dirty="0"/>
          </a:p>
        </p:txBody>
      </p:sp>
      <p:sp>
        <p:nvSpPr>
          <p:cNvPr id="14" name="Shape 12"/>
          <p:cNvSpPr/>
          <p:nvPr/>
        </p:nvSpPr>
        <p:spPr>
          <a:xfrm>
            <a:off x="6446520" y="4041648"/>
            <a:ext cx="5074920" cy="859536"/>
          </a:xfrm>
          <a:prstGeom prst="roundRect">
            <a:avLst>
              <a:gd name="adj" fmla="val 8511"/>
            </a:avLst>
          </a:prstGeom>
          <a:solidFill>
            <a:srgbClr val="FFE4E6"/>
          </a:solidFill>
          <a:ln w="12700">
            <a:solidFill>
              <a:srgbClr val="FDA4AF"/>
            </a:solidFill>
            <a:prstDash val="solid"/>
          </a:ln>
        </p:spPr>
      </p:sp>
      <p:sp>
        <p:nvSpPr>
          <p:cNvPr id="15" name="Text 13"/>
          <p:cNvSpPr/>
          <p:nvPr/>
        </p:nvSpPr>
        <p:spPr>
          <a:xfrm>
            <a:off x="6629400" y="4178808"/>
            <a:ext cx="4709160" cy="219456"/>
          </a:xfrm>
          <a:prstGeom prst="rect">
            <a:avLst/>
          </a:prstGeom>
          <a:noFill/>
          <a:ln/>
        </p:spPr>
        <p:txBody>
          <a:bodyPr wrap="square" lIns="0" tIns="0" rIns="0" bIns="0" rtlCol="0" anchor="ctr"/>
          <a:lstStyle/>
          <a:p>
            <a:pPr indent="0" marL="0">
              <a:buNone/>
            </a:pPr>
            <a:r>
              <a:rPr lang="en-US" sz="950" b="1" dirty="0">
                <a:solidFill>
                  <a:srgbClr val="C1121F"/>
                </a:solidFill>
              </a:rPr>
              <a:t>STUDENT GOTCHA</a:t>
            </a:r>
            <a:endParaRPr lang="en-US" sz="950" dirty="0"/>
          </a:p>
        </p:txBody>
      </p:sp>
      <p:sp>
        <p:nvSpPr>
          <p:cNvPr id="16" name="Text 14"/>
          <p:cNvSpPr/>
          <p:nvPr/>
        </p:nvSpPr>
        <p:spPr>
          <a:xfrm>
            <a:off x="6629400" y="4453128"/>
            <a:ext cx="4709160" cy="356616"/>
          </a:xfrm>
          <a:prstGeom prst="rect">
            <a:avLst/>
          </a:prstGeom>
          <a:noFill/>
          <a:ln/>
        </p:spPr>
        <p:txBody>
          <a:bodyPr wrap="square" lIns="254" tIns="254" rIns="254" bIns="254" rtlCol="0" anchor="t">
            <a:normAutofit/>
          </a:bodyPr>
          <a:lstStyle/>
          <a:p>
            <a:pPr indent="0" marL="0">
              <a:buNone/>
            </a:pPr>
            <a:r>
              <a:rPr lang="en-US" sz="1250" dirty="0">
                <a:solidFill>
                  <a:srgbClr val="1E293B"/>
                </a:solidFill>
              </a:rPr>
              <a:t>King(John) is not a term; it is a sentence because it makes a claim.</a:t>
            </a:r>
            <a:endParaRPr lang="en-US" sz="1250" dirty="0"/>
          </a:p>
        </p:txBody>
      </p:sp>
      <p:sp>
        <p:nvSpPr>
          <p:cNvPr id="17" name="Shape 15"/>
          <p:cNvSpPr/>
          <p:nvPr/>
        </p:nvSpPr>
        <p:spPr>
          <a:xfrm>
            <a:off x="6446520" y="5074920"/>
            <a:ext cx="5074920" cy="841248"/>
          </a:xfrm>
          <a:prstGeom prst="roundRect">
            <a:avLst>
              <a:gd name="adj" fmla="val 8696"/>
            </a:avLst>
          </a:prstGeom>
          <a:solidFill>
            <a:srgbClr val="E6FFFA"/>
          </a:solidFill>
          <a:ln w="12700">
            <a:solidFill>
              <a:srgbClr val="2A9D8F"/>
            </a:solidFill>
            <a:prstDash val="solid"/>
          </a:ln>
        </p:spPr>
      </p:sp>
      <p:sp>
        <p:nvSpPr>
          <p:cNvPr id="18" name="Text 16"/>
          <p:cNvSpPr/>
          <p:nvPr/>
        </p:nvSpPr>
        <p:spPr>
          <a:xfrm>
            <a:off x="6629400" y="5212080"/>
            <a:ext cx="4709160" cy="219456"/>
          </a:xfrm>
          <a:prstGeom prst="rect">
            <a:avLst/>
          </a:prstGeom>
          <a:noFill/>
          <a:ln/>
        </p:spPr>
        <p:txBody>
          <a:bodyPr wrap="square" lIns="0" tIns="0" rIns="0" bIns="0" rtlCol="0" anchor="ctr"/>
          <a:lstStyle/>
          <a:p>
            <a:pPr indent="0" marL="0">
              <a:buNone/>
            </a:pPr>
            <a:r>
              <a:rPr lang="en-US" sz="950" b="1" dirty="0">
                <a:solidFill>
                  <a:srgbClr val="007C89"/>
                </a:solidFill>
              </a:rPr>
              <a:t>CLASS CHECK</a:t>
            </a:r>
            <a:endParaRPr lang="en-US" sz="950" dirty="0"/>
          </a:p>
        </p:txBody>
      </p:sp>
      <p:sp>
        <p:nvSpPr>
          <p:cNvPr id="19" name="Text 17"/>
          <p:cNvSpPr/>
          <p:nvPr/>
        </p:nvSpPr>
        <p:spPr>
          <a:xfrm>
            <a:off x="6629400" y="5486400"/>
            <a:ext cx="4709160" cy="338328"/>
          </a:xfrm>
          <a:prstGeom prst="rect">
            <a:avLst/>
          </a:prstGeom>
          <a:noFill/>
          <a:ln/>
        </p:spPr>
        <p:txBody>
          <a:bodyPr wrap="square" lIns="254" tIns="254" rIns="254" bIns="254" rtlCol="0" anchor="t">
            <a:normAutofit/>
          </a:bodyPr>
          <a:lstStyle/>
          <a:p>
            <a:pPr indent="0" marL="0">
              <a:buNone/>
            </a:pPr>
            <a:r>
              <a:rPr lang="en-US" sz="1270" dirty="0">
                <a:solidFill>
                  <a:srgbClr val="1E293B"/>
                </a:solidFill>
              </a:rPr>
              <a:t>Ask students to classify Mother(John) and Person(John).</a:t>
            </a:r>
            <a:endParaRPr lang="en-US" sz="127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5088"/>
          </a:solidFill>
          <a:ln w="12700">
            <a:solidFill>
              <a:srgbClr val="005088"/>
            </a:solidFill>
            <a:prstDash val="solid"/>
          </a:ln>
        </p:spPr>
      </p:sp>
      <p:sp>
        <p:nvSpPr>
          <p:cNvPr id="3" name="Shape 1"/>
          <p:cNvSpPr/>
          <p:nvPr/>
        </p:nvSpPr>
        <p:spPr>
          <a:xfrm>
            <a:off x="0" y="6729984"/>
            <a:ext cx="12191695" cy="128016"/>
          </a:xfrm>
          <a:prstGeom prst="rect">
            <a:avLst/>
          </a:prstGeom>
          <a:solidFill>
            <a:srgbClr val="005088"/>
          </a:solidFill>
          <a:ln w="12700">
            <a:solidFill>
              <a:srgbClr val="005088"/>
            </a:solidFill>
            <a:prstDash val="solid"/>
          </a:ln>
        </p:spPr>
      </p:sp>
      <p:sp>
        <p:nvSpPr>
          <p:cNvPr id="4" name="Text 2"/>
          <p:cNvSpPr/>
          <p:nvPr/>
        </p:nvSpPr>
        <p:spPr>
          <a:xfrm>
            <a:off x="502920" y="210312"/>
            <a:ext cx="6858000" cy="219456"/>
          </a:xfrm>
          <a:prstGeom prst="rect">
            <a:avLst/>
          </a:prstGeom>
          <a:noFill/>
          <a:ln/>
        </p:spPr>
        <p:txBody>
          <a:bodyPr wrap="square" lIns="0" tIns="0" rIns="0" bIns="0" rtlCol="0" anchor="ctr"/>
          <a:lstStyle/>
          <a:p>
            <a:pPr indent="0" marL="0">
              <a:buNone/>
            </a:pPr>
            <a:r>
              <a:rPr lang="en-US" sz="950" b="1" dirty="0">
                <a:solidFill>
                  <a:srgbClr val="3D5A80"/>
                </a:solidFill>
                <a:latin typeface="Aptos" pitchFamily="34" charset="0"/>
                <a:ea typeface="Aptos" pitchFamily="34" charset="-122"/>
                <a:cs typeface="Aptos" pitchFamily="34" charset="-120"/>
              </a:rPr>
              <a:t>8.2.3 Terms</a:t>
            </a:r>
            <a:endParaRPr lang="en-US" sz="950" dirty="0"/>
          </a:p>
        </p:txBody>
      </p:sp>
      <p:sp>
        <p:nvSpPr>
          <p:cNvPr id="5" name="Text 3"/>
          <p:cNvSpPr/>
          <p:nvPr/>
        </p:nvSpPr>
        <p:spPr>
          <a:xfrm>
            <a:off x="11018520" y="201168"/>
            <a:ext cx="640080" cy="228600"/>
          </a:xfrm>
          <a:prstGeom prst="rect">
            <a:avLst/>
          </a:prstGeom>
          <a:noFill/>
          <a:ln/>
        </p:spPr>
        <p:txBody>
          <a:bodyPr wrap="square" lIns="0" tIns="0" rIns="0" bIns="0" rtlCol="0" anchor="ctr"/>
          <a:lstStyle/>
          <a:p>
            <a:pPr algn="r" indent="0" marL="0">
              <a:buNone/>
            </a:pPr>
            <a:r>
              <a:rPr lang="en-US" sz="900" b="1" dirty="0">
                <a:solidFill>
                  <a:srgbClr val="3D5A80"/>
                </a:solidFill>
              </a:rPr>
              <a:t>39</a:t>
            </a:r>
            <a:endParaRPr lang="en-US" sz="900" dirty="0"/>
          </a:p>
        </p:txBody>
      </p:sp>
      <p:sp>
        <p:nvSpPr>
          <p:cNvPr id="6" name="Text 4"/>
          <p:cNvSpPr/>
          <p:nvPr/>
        </p:nvSpPr>
        <p:spPr>
          <a:xfrm>
            <a:off x="502920" y="566928"/>
            <a:ext cx="11201400" cy="512064"/>
          </a:xfrm>
          <a:prstGeom prst="rect">
            <a:avLst/>
          </a:prstGeom>
          <a:noFill/>
          <a:ln/>
        </p:spPr>
        <p:txBody>
          <a:bodyPr wrap="square" lIns="0" tIns="0" rIns="0" bIns="0" rtlCol="0" anchor="ctr">
            <a:normAutofit/>
          </a:bodyPr>
          <a:lstStyle/>
          <a:p>
            <a:pPr indent="0" marL="0">
              <a:buNone/>
            </a:pPr>
            <a:r>
              <a:rPr lang="en-US" sz="2650" b="1" dirty="0">
                <a:solidFill>
                  <a:srgbClr val="005088"/>
                </a:solidFill>
                <a:latin typeface="Aptos Display" pitchFamily="34" charset="0"/>
                <a:ea typeface="Aptos Display" pitchFamily="34" charset="-122"/>
                <a:cs typeface="Aptos Display" pitchFamily="34" charset="-120"/>
              </a:rPr>
              <a:t>GROUND TERMS CONTAIN NO VARIABLES</a:t>
            </a:r>
            <a:endParaRPr lang="en-US" sz="2650" dirty="0"/>
          </a:p>
        </p:txBody>
      </p:sp>
      <p:sp>
        <p:nvSpPr>
          <p:cNvPr id="7" name="Shape 5"/>
          <p:cNvSpPr/>
          <p:nvPr/>
        </p:nvSpPr>
        <p:spPr>
          <a:xfrm>
            <a:off x="502920" y="1188720"/>
            <a:ext cx="11109960" cy="0"/>
          </a:xfrm>
          <a:prstGeom prst="line">
            <a:avLst/>
          </a:prstGeom>
          <a:noFill/>
          <a:ln w="12700">
            <a:solidFill>
              <a:srgbClr val="3D5A80"/>
            </a:solidFill>
            <a:prstDash val="solid"/>
          </a:ln>
        </p:spPr>
      </p:sp>
      <p:sp>
        <p:nvSpPr>
          <p:cNvPr id="8" name="Text 6"/>
          <p:cNvSpPr/>
          <p:nvPr/>
        </p:nvSpPr>
        <p:spPr>
          <a:xfrm>
            <a:off x="713232" y="1572768"/>
            <a:ext cx="5440680" cy="4251960"/>
          </a:xfrm>
          <a:prstGeom prst="rect">
            <a:avLst/>
          </a:prstGeom>
          <a:noFill/>
          <a:ln/>
        </p:spPr>
        <p:txBody>
          <a:bodyPr wrap="square" lIns="1016" tIns="1016" rIns="1016" bIns="1016" rtlCol="0" anchor="t">
            <a:normAutofit/>
          </a:bodyPr>
          <a:lstStyle/>
          <a:p>
            <a:pPr indent="0" marL="0">
              <a:buNone/>
            </a:pPr>
            <a:r>
              <a:rPr lang="en-US" sz="1650" dirty="0">
                <a:solidFill>
                  <a:srgbClr val="1E293B"/>
                </a:solidFill>
                <a:latin typeface="Aptos" pitchFamily="34" charset="0"/>
                <a:ea typeface="Aptos" pitchFamily="34" charset="-122"/>
                <a:cs typeface="Aptos" pitchFamily="34" charset="-120"/>
              </a:rPr>
              <a:t>• A ground term is fully specified</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LeftLeg(John) is a ground term</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LeftLeg(x) is not a ground term</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Ground terms are useful for concrete facts</a:t>
            </a:r>
            <a:endParaRPr lang="en-US" sz="1650" dirty="0"/>
          </a:p>
        </p:txBody>
      </p:sp>
      <p:sp>
        <p:nvSpPr>
          <p:cNvPr id="9" name="Shape 7"/>
          <p:cNvSpPr/>
          <p:nvPr/>
        </p:nvSpPr>
        <p:spPr>
          <a:xfrm>
            <a:off x="6446520" y="1572768"/>
            <a:ext cx="5074920" cy="1234440"/>
          </a:xfrm>
          <a:prstGeom prst="roundRect">
            <a:avLst>
              <a:gd name="adj" fmla="val 5926"/>
            </a:avLst>
          </a:prstGeom>
          <a:solidFill>
            <a:srgbClr val="FFF6D9"/>
          </a:solidFill>
          <a:ln w="12700">
            <a:solidFill>
              <a:srgbClr val="F4A261"/>
            </a:solidFill>
            <a:prstDash val="solid"/>
          </a:ln>
        </p:spPr>
      </p:sp>
      <p:sp>
        <p:nvSpPr>
          <p:cNvPr id="10" name="Text 8"/>
          <p:cNvSpPr/>
          <p:nvPr/>
        </p:nvSpPr>
        <p:spPr>
          <a:xfrm>
            <a:off x="6629400" y="1709928"/>
            <a:ext cx="4709160" cy="219456"/>
          </a:xfrm>
          <a:prstGeom prst="rect">
            <a:avLst/>
          </a:prstGeom>
          <a:noFill/>
          <a:ln/>
        </p:spPr>
        <p:txBody>
          <a:bodyPr wrap="square" lIns="0" tIns="0" rIns="0" bIns="0" rtlCol="0" anchor="ctr"/>
          <a:lstStyle/>
          <a:p>
            <a:pPr indent="0" marL="0">
              <a:buNone/>
            </a:pPr>
            <a:r>
              <a:rPr lang="en-US" sz="950" b="1" dirty="0">
                <a:solidFill>
                  <a:srgbClr val="B0005D"/>
                </a:solidFill>
              </a:rPr>
              <a:t>ANALOGY</a:t>
            </a:r>
            <a:endParaRPr lang="en-US" sz="950" dirty="0"/>
          </a:p>
        </p:txBody>
      </p:sp>
      <p:sp>
        <p:nvSpPr>
          <p:cNvPr id="11" name="Text 9"/>
          <p:cNvSpPr/>
          <p:nvPr/>
        </p:nvSpPr>
        <p:spPr>
          <a:xfrm>
            <a:off x="6629400" y="1984248"/>
            <a:ext cx="4709160" cy="731520"/>
          </a:xfrm>
          <a:prstGeom prst="rect">
            <a:avLst/>
          </a:prstGeom>
          <a:noFill/>
          <a:ln/>
        </p:spPr>
        <p:txBody>
          <a:bodyPr wrap="square" lIns="254" tIns="254" rIns="254" bIns="254" rtlCol="0" anchor="t">
            <a:normAutofit/>
          </a:bodyPr>
          <a:lstStyle/>
          <a:p>
            <a:pPr indent="0" marL="0">
              <a:buNone/>
            </a:pPr>
            <a:r>
              <a:rPr lang="en-US" sz="1330" dirty="0">
                <a:solidFill>
                  <a:srgbClr val="1E293B"/>
                </a:solidFill>
              </a:rPr>
              <a:t>“Seat 12A on flight 350” is a ground reference; “the seat assigned to passenger x” still depends on x.</a:t>
            </a:r>
            <a:endParaRPr lang="en-US" sz="1330" dirty="0"/>
          </a:p>
        </p:txBody>
      </p:sp>
      <p:sp>
        <p:nvSpPr>
          <p:cNvPr id="12" name="Shape 10"/>
          <p:cNvSpPr/>
          <p:nvPr/>
        </p:nvSpPr>
        <p:spPr>
          <a:xfrm>
            <a:off x="6446520" y="2999232"/>
            <a:ext cx="5074920" cy="841248"/>
          </a:xfrm>
          <a:prstGeom prst="roundRect">
            <a:avLst>
              <a:gd name="adj" fmla="val 8696"/>
            </a:avLst>
          </a:prstGeom>
          <a:solidFill>
            <a:srgbClr val="FFFFFF">
              <a:alpha val="97000"/>
            </a:srgbClr>
          </a:solidFill>
          <a:ln w="12700">
            <a:solidFill>
              <a:srgbClr val="007C89"/>
            </a:solidFill>
            <a:prstDash val="solid"/>
          </a:ln>
        </p:spPr>
      </p:sp>
      <p:sp>
        <p:nvSpPr>
          <p:cNvPr id="13" name="Text 11"/>
          <p:cNvSpPr/>
          <p:nvPr/>
        </p:nvSpPr>
        <p:spPr>
          <a:xfrm>
            <a:off x="6611112" y="3127248"/>
            <a:ext cx="4745736" cy="658368"/>
          </a:xfrm>
          <a:prstGeom prst="rect">
            <a:avLst/>
          </a:prstGeom>
          <a:noFill/>
          <a:ln/>
        </p:spPr>
        <p:txBody>
          <a:bodyPr wrap="square" lIns="0" tIns="0" rIns="0" bIns="0" rtlCol="0" anchor="ctr">
            <a:normAutofit/>
          </a:bodyPr>
          <a:lstStyle/>
          <a:p>
            <a:pPr algn="ctr" indent="0" marL="0">
              <a:buNone/>
            </a:pPr>
            <a:r>
              <a:rPr lang="en-US" sz="1800" b="1" dirty="0">
                <a:solidFill>
                  <a:srgbClr val="005088"/>
                </a:solidFill>
                <a:latin typeface="Cambria Math" pitchFamily="34" charset="0"/>
                <a:ea typeface="Cambria Math" pitchFamily="34" charset="-122"/>
                <a:cs typeface="Cambria Math" pitchFamily="34" charset="-120"/>
              </a:rPr>
              <a:t>Ground term: In(1, CircuitOne)</a:t>
            </a:r>
            <a:endParaRPr lang="en-US" sz="1800" dirty="0"/>
          </a:p>
        </p:txBody>
      </p:sp>
      <p:sp>
        <p:nvSpPr>
          <p:cNvPr id="14" name="Shape 12"/>
          <p:cNvSpPr/>
          <p:nvPr/>
        </p:nvSpPr>
        <p:spPr>
          <a:xfrm>
            <a:off x="6446520" y="4041648"/>
            <a:ext cx="5074920" cy="859536"/>
          </a:xfrm>
          <a:prstGeom prst="roundRect">
            <a:avLst>
              <a:gd name="adj" fmla="val 8511"/>
            </a:avLst>
          </a:prstGeom>
          <a:solidFill>
            <a:srgbClr val="FFE4E6"/>
          </a:solidFill>
          <a:ln w="12700">
            <a:solidFill>
              <a:srgbClr val="FDA4AF"/>
            </a:solidFill>
            <a:prstDash val="solid"/>
          </a:ln>
        </p:spPr>
      </p:sp>
      <p:sp>
        <p:nvSpPr>
          <p:cNvPr id="15" name="Text 13"/>
          <p:cNvSpPr/>
          <p:nvPr/>
        </p:nvSpPr>
        <p:spPr>
          <a:xfrm>
            <a:off x="6629400" y="4178808"/>
            <a:ext cx="4709160" cy="219456"/>
          </a:xfrm>
          <a:prstGeom prst="rect">
            <a:avLst/>
          </a:prstGeom>
          <a:noFill/>
          <a:ln/>
        </p:spPr>
        <p:txBody>
          <a:bodyPr wrap="square" lIns="0" tIns="0" rIns="0" bIns="0" rtlCol="0" anchor="ctr"/>
          <a:lstStyle/>
          <a:p>
            <a:pPr indent="0" marL="0">
              <a:buNone/>
            </a:pPr>
            <a:r>
              <a:rPr lang="en-US" sz="950" b="1" dirty="0">
                <a:solidFill>
                  <a:srgbClr val="C1121F"/>
                </a:solidFill>
              </a:rPr>
              <a:t>STUDENT GOTCHA</a:t>
            </a:r>
            <a:endParaRPr lang="en-US" sz="950" dirty="0"/>
          </a:p>
        </p:txBody>
      </p:sp>
      <p:sp>
        <p:nvSpPr>
          <p:cNvPr id="16" name="Text 14"/>
          <p:cNvSpPr/>
          <p:nvPr/>
        </p:nvSpPr>
        <p:spPr>
          <a:xfrm>
            <a:off x="6629400" y="4453128"/>
            <a:ext cx="4709160" cy="356616"/>
          </a:xfrm>
          <a:prstGeom prst="rect">
            <a:avLst/>
          </a:prstGeom>
          <a:noFill/>
          <a:ln/>
        </p:spPr>
        <p:txBody>
          <a:bodyPr wrap="square" lIns="254" tIns="254" rIns="254" bIns="254" rtlCol="0" anchor="t">
            <a:normAutofit/>
          </a:bodyPr>
          <a:lstStyle/>
          <a:p>
            <a:pPr indent="0" marL="0">
              <a:buNone/>
            </a:pPr>
            <a:r>
              <a:rPr lang="en-US" sz="1250" dirty="0">
                <a:solidFill>
                  <a:srgbClr val="1E293B"/>
                </a:solidFill>
              </a:rPr>
              <a:t>Ground does not mean true. It means the expression has no variables.</a:t>
            </a:r>
            <a:endParaRPr lang="en-US" sz="1250" dirty="0"/>
          </a:p>
        </p:txBody>
      </p:sp>
      <p:sp>
        <p:nvSpPr>
          <p:cNvPr id="17" name="Shape 15"/>
          <p:cNvSpPr/>
          <p:nvPr/>
        </p:nvSpPr>
        <p:spPr>
          <a:xfrm>
            <a:off x="6446520" y="5074920"/>
            <a:ext cx="5074920" cy="841248"/>
          </a:xfrm>
          <a:prstGeom prst="roundRect">
            <a:avLst>
              <a:gd name="adj" fmla="val 8696"/>
            </a:avLst>
          </a:prstGeom>
          <a:solidFill>
            <a:srgbClr val="E6FFFA"/>
          </a:solidFill>
          <a:ln w="12700">
            <a:solidFill>
              <a:srgbClr val="2A9D8F"/>
            </a:solidFill>
            <a:prstDash val="solid"/>
          </a:ln>
        </p:spPr>
      </p:sp>
      <p:sp>
        <p:nvSpPr>
          <p:cNvPr id="18" name="Text 16"/>
          <p:cNvSpPr/>
          <p:nvPr/>
        </p:nvSpPr>
        <p:spPr>
          <a:xfrm>
            <a:off x="6629400" y="5212080"/>
            <a:ext cx="4709160" cy="219456"/>
          </a:xfrm>
          <a:prstGeom prst="rect">
            <a:avLst/>
          </a:prstGeom>
          <a:noFill/>
          <a:ln/>
        </p:spPr>
        <p:txBody>
          <a:bodyPr wrap="square" lIns="0" tIns="0" rIns="0" bIns="0" rtlCol="0" anchor="ctr"/>
          <a:lstStyle/>
          <a:p>
            <a:pPr indent="0" marL="0">
              <a:buNone/>
            </a:pPr>
            <a:r>
              <a:rPr lang="en-US" sz="950" b="1" dirty="0">
                <a:solidFill>
                  <a:srgbClr val="007C89"/>
                </a:solidFill>
              </a:rPr>
              <a:t>CLASS CHECK</a:t>
            </a:r>
            <a:endParaRPr lang="en-US" sz="950" dirty="0"/>
          </a:p>
        </p:txBody>
      </p:sp>
      <p:sp>
        <p:nvSpPr>
          <p:cNvPr id="19" name="Text 17"/>
          <p:cNvSpPr/>
          <p:nvPr/>
        </p:nvSpPr>
        <p:spPr>
          <a:xfrm>
            <a:off x="6629400" y="5486400"/>
            <a:ext cx="4709160" cy="338328"/>
          </a:xfrm>
          <a:prstGeom prst="rect">
            <a:avLst/>
          </a:prstGeom>
          <a:noFill/>
          <a:ln/>
        </p:spPr>
        <p:txBody>
          <a:bodyPr wrap="square" lIns="254" tIns="254" rIns="254" bIns="254" rtlCol="0" anchor="t">
            <a:normAutofit/>
          </a:bodyPr>
          <a:lstStyle/>
          <a:p>
            <a:pPr indent="0" marL="0">
              <a:buNone/>
            </a:pPr>
            <a:r>
              <a:rPr lang="en-US" sz="1270" dirty="0">
                <a:solidFill>
                  <a:srgbClr val="1E293B"/>
                </a:solidFill>
              </a:rPr>
              <a:t>Ask: Is Father(Mother(John)) a ground term?</a:t>
            </a:r>
            <a:endParaRPr lang="en-US" sz="127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5088"/>
          </a:solidFill>
          <a:ln w="12700">
            <a:solidFill>
              <a:srgbClr val="005088"/>
            </a:solidFill>
            <a:prstDash val="solid"/>
          </a:ln>
        </p:spPr>
      </p:sp>
      <p:sp>
        <p:nvSpPr>
          <p:cNvPr id="3" name="Shape 1"/>
          <p:cNvSpPr/>
          <p:nvPr/>
        </p:nvSpPr>
        <p:spPr>
          <a:xfrm>
            <a:off x="0" y="6729984"/>
            <a:ext cx="12191695" cy="128016"/>
          </a:xfrm>
          <a:prstGeom prst="rect">
            <a:avLst/>
          </a:prstGeom>
          <a:solidFill>
            <a:srgbClr val="005088"/>
          </a:solidFill>
          <a:ln w="12700">
            <a:solidFill>
              <a:srgbClr val="005088"/>
            </a:solidFill>
            <a:prstDash val="solid"/>
          </a:ln>
        </p:spPr>
      </p:sp>
      <p:sp>
        <p:nvSpPr>
          <p:cNvPr id="4" name="Text 2"/>
          <p:cNvSpPr/>
          <p:nvPr/>
        </p:nvSpPr>
        <p:spPr>
          <a:xfrm>
            <a:off x="502920" y="210312"/>
            <a:ext cx="6858000" cy="219456"/>
          </a:xfrm>
          <a:prstGeom prst="rect">
            <a:avLst/>
          </a:prstGeom>
          <a:noFill/>
          <a:ln/>
        </p:spPr>
        <p:txBody>
          <a:bodyPr wrap="square" lIns="0" tIns="0" rIns="0" bIns="0" rtlCol="0" anchor="ctr"/>
          <a:lstStyle/>
          <a:p>
            <a:pPr indent="0" marL="0">
              <a:buNone/>
            </a:pPr>
            <a:r>
              <a:rPr lang="en-US" sz="950" b="1" dirty="0">
                <a:solidFill>
                  <a:srgbClr val="3D5A80"/>
                </a:solidFill>
                <a:latin typeface="Aptos" pitchFamily="34" charset="0"/>
                <a:ea typeface="Aptos" pitchFamily="34" charset="-122"/>
                <a:cs typeface="Aptos" pitchFamily="34" charset="-120"/>
              </a:rPr>
              <a:t>8.2.4 Atomic sentences</a:t>
            </a:r>
            <a:endParaRPr lang="en-US" sz="950" dirty="0"/>
          </a:p>
        </p:txBody>
      </p:sp>
      <p:sp>
        <p:nvSpPr>
          <p:cNvPr id="5" name="Text 3"/>
          <p:cNvSpPr/>
          <p:nvPr/>
        </p:nvSpPr>
        <p:spPr>
          <a:xfrm>
            <a:off x="11018520" y="201168"/>
            <a:ext cx="640080" cy="228600"/>
          </a:xfrm>
          <a:prstGeom prst="rect">
            <a:avLst/>
          </a:prstGeom>
          <a:noFill/>
          <a:ln/>
        </p:spPr>
        <p:txBody>
          <a:bodyPr wrap="square" lIns="0" tIns="0" rIns="0" bIns="0" rtlCol="0" anchor="ctr"/>
          <a:lstStyle/>
          <a:p>
            <a:pPr algn="r" indent="0" marL="0">
              <a:buNone/>
            </a:pPr>
            <a:r>
              <a:rPr lang="en-US" sz="900" b="1" dirty="0">
                <a:solidFill>
                  <a:srgbClr val="3D5A80"/>
                </a:solidFill>
              </a:rPr>
              <a:t>40</a:t>
            </a:r>
            <a:endParaRPr lang="en-US" sz="900" dirty="0"/>
          </a:p>
        </p:txBody>
      </p:sp>
      <p:sp>
        <p:nvSpPr>
          <p:cNvPr id="6" name="Text 4"/>
          <p:cNvSpPr/>
          <p:nvPr/>
        </p:nvSpPr>
        <p:spPr>
          <a:xfrm>
            <a:off x="502920" y="566928"/>
            <a:ext cx="11201400" cy="512064"/>
          </a:xfrm>
          <a:prstGeom prst="rect">
            <a:avLst/>
          </a:prstGeom>
          <a:noFill/>
          <a:ln/>
        </p:spPr>
        <p:txBody>
          <a:bodyPr wrap="square" lIns="0" tIns="0" rIns="0" bIns="0" rtlCol="0" anchor="ctr">
            <a:normAutofit/>
          </a:bodyPr>
          <a:lstStyle/>
          <a:p>
            <a:pPr indent="0" marL="0">
              <a:buNone/>
            </a:pPr>
            <a:r>
              <a:rPr lang="en-US" sz="2650" b="1" dirty="0">
                <a:solidFill>
                  <a:srgbClr val="005088"/>
                </a:solidFill>
                <a:latin typeface="Aptos Display" pitchFamily="34" charset="0"/>
                <a:ea typeface="Aptos Display" pitchFamily="34" charset="-122"/>
                <a:cs typeface="Aptos Display" pitchFamily="34" charset="-120"/>
              </a:rPr>
              <a:t>ATOMIC SENTENCES MAKE BASIC CLAIMS</a:t>
            </a:r>
            <a:endParaRPr lang="en-US" sz="2650" dirty="0"/>
          </a:p>
        </p:txBody>
      </p:sp>
      <p:sp>
        <p:nvSpPr>
          <p:cNvPr id="7" name="Shape 5"/>
          <p:cNvSpPr/>
          <p:nvPr/>
        </p:nvSpPr>
        <p:spPr>
          <a:xfrm>
            <a:off x="502920" y="1188720"/>
            <a:ext cx="11109960" cy="0"/>
          </a:xfrm>
          <a:prstGeom prst="line">
            <a:avLst/>
          </a:prstGeom>
          <a:noFill/>
          <a:ln w="12700">
            <a:solidFill>
              <a:srgbClr val="3D5A80"/>
            </a:solidFill>
            <a:prstDash val="solid"/>
          </a:ln>
        </p:spPr>
      </p:sp>
      <p:sp>
        <p:nvSpPr>
          <p:cNvPr id="8" name="Text 6"/>
          <p:cNvSpPr/>
          <p:nvPr/>
        </p:nvSpPr>
        <p:spPr>
          <a:xfrm>
            <a:off x="713232" y="1572768"/>
            <a:ext cx="5440680" cy="4251960"/>
          </a:xfrm>
          <a:prstGeom prst="rect">
            <a:avLst/>
          </a:prstGeom>
          <a:noFill/>
          <a:ln/>
        </p:spPr>
        <p:txBody>
          <a:bodyPr wrap="square" lIns="1016" tIns="1016" rIns="1016" bIns="1016" rtlCol="0" anchor="t">
            <a:normAutofit/>
          </a:bodyPr>
          <a:lstStyle/>
          <a:p>
            <a:pPr indent="0" marL="0">
              <a:buNone/>
            </a:pPr>
            <a:r>
              <a:rPr lang="en-US" sz="1650" dirty="0">
                <a:solidFill>
                  <a:srgbClr val="1E293B"/>
                </a:solidFill>
                <a:latin typeface="Aptos" pitchFamily="34" charset="0"/>
                <a:ea typeface="Aptos" pitchFamily="34" charset="-122"/>
                <a:cs typeface="Aptos" pitchFamily="34" charset="-120"/>
              </a:rPr>
              <a:t>• Apply a predicate to terms</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The result is true or false in a model</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Atomic sentences are the smallest claims</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Equality between terms is also atomic</a:t>
            </a:r>
            <a:endParaRPr lang="en-US" sz="1650" dirty="0"/>
          </a:p>
        </p:txBody>
      </p:sp>
      <p:sp>
        <p:nvSpPr>
          <p:cNvPr id="9" name="Shape 7"/>
          <p:cNvSpPr/>
          <p:nvPr/>
        </p:nvSpPr>
        <p:spPr>
          <a:xfrm>
            <a:off x="6446520" y="1572768"/>
            <a:ext cx="5074920" cy="1234440"/>
          </a:xfrm>
          <a:prstGeom prst="roundRect">
            <a:avLst>
              <a:gd name="adj" fmla="val 5926"/>
            </a:avLst>
          </a:prstGeom>
          <a:solidFill>
            <a:srgbClr val="FFF6D9"/>
          </a:solidFill>
          <a:ln w="12700">
            <a:solidFill>
              <a:srgbClr val="F4A261"/>
            </a:solidFill>
            <a:prstDash val="solid"/>
          </a:ln>
        </p:spPr>
      </p:sp>
      <p:sp>
        <p:nvSpPr>
          <p:cNvPr id="10" name="Text 8"/>
          <p:cNvSpPr/>
          <p:nvPr/>
        </p:nvSpPr>
        <p:spPr>
          <a:xfrm>
            <a:off x="6629400" y="1709928"/>
            <a:ext cx="4709160" cy="219456"/>
          </a:xfrm>
          <a:prstGeom prst="rect">
            <a:avLst/>
          </a:prstGeom>
          <a:noFill/>
          <a:ln/>
        </p:spPr>
        <p:txBody>
          <a:bodyPr wrap="square" lIns="0" tIns="0" rIns="0" bIns="0" rtlCol="0" anchor="ctr"/>
          <a:lstStyle/>
          <a:p>
            <a:pPr indent="0" marL="0">
              <a:buNone/>
            </a:pPr>
            <a:r>
              <a:rPr lang="en-US" sz="950" b="1" dirty="0">
                <a:solidFill>
                  <a:srgbClr val="B0005D"/>
                </a:solidFill>
              </a:rPr>
              <a:t>ANALOGY</a:t>
            </a:r>
            <a:endParaRPr lang="en-US" sz="950" dirty="0"/>
          </a:p>
        </p:txBody>
      </p:sp>
      <p:sp>
        <p:nvSpPr>
          <p:cNvPr id="11" name="Text 9"/>
          <p:cNvSpPr/>
          <p:nvPr/>
        </p:nvSpPr>
        <p:spPr>
          <a:xfrm>
            <a:off x="6629400" y="1984248"/>
            <a:ext cx="4709160" cy="731520"/>
          </a:xfrm>
          <a:prstGeom prst="rect">
            <a:avLst/>
          </a:prstGeom>
          <a:noFill/>
          <a:ln/>
        </p:spPr>
        <p:txBody>
          <a:bodyPr wrap="square" lIns="254" tIns="254" rIns="254" bIns="254" rtlCol="0" anchor="t">
            <a:normAutofit/>
          </a:bodyPr>
          <a:lstStyle/>
          <a:p>
            <a:pPr indent="0" marL="0">
              <a:buNone/>
            </a:pPr>
            <a:r>
              <a:rPr lang="en-US" sz="1330" dirty="0">
                <a:solidFill>
                  <a:srgbClr val="1E293B"/>
                </a:solidFill>
              </a:rPr>
              <a:t>An atomic sentence is one checkbox on a form: “Ana is enrolled in Computer Science 469.” It is one basic claim.</a:t>
            </a:r>
            <a:endParaRPr lang="en-US" sz="1330" dirty="0"/>
          </a:p>
        </p:txBody>
      </p:sp>
      <p:sp>
        <p:nvSpPr>
          <p:cNvPr id="12" name="Shape 10"/>
          <p:cNvSpPr/>
          <p:nvPr/>
        </p:nvSpPr>
        <p:spPr>
          <a:xfrm>
            <a:off x="6446520" y="2999232"/>
            <a:ext cx="5074920" cy="841248"/>
          </a:xfrm>
          <a:prstGeom prst="roundRect">
            <a:avLst>
              <a:gd name="adj" fmla="val 8696"/>
            </a:avLst>
          </a:prstGeom>
          <a:solidFill>
            <a:srgbClr val="FFFFFF">
              <a:alpha val="97000"/>
            </a:srgbClr>
          </a:solidFill>
          <a:ln w="12700">
            <a:solidFill>
              <a:srgbClr val="007C89"/>
            </a:solidFill>
            <a:prstDash val="solid"/>
          </a:ln>
        </p:spPr>
      </p:sp>
      <p:sp>
        <p:nvSpPr>
          <p:cNvPr id="13" name="Text 11"/>
          <p:cNvSpPr/>
          <p:nvPr/>
        </p:nvSpPr>
        <p:spPr>
          <a:xfrm>
            <a:off x="6611112" y="3127248"/>
            <a:ext cx="4745736" cy="658368"/>
          </a:xfrm>
          <a:prstGeom prst="rect">
            <a:avLst/>
          </a:prstGeom>
          <a:noFill/>
          <a:ln/>
        </p:spPr>
        <p:txBody>
          <a:bodyPr wrap="square" lIns="0" tIns="0" rIns="0" bIns="0" rtlCol="0" anchor="ctr">
            <a:normAutofit/>
          </a:bodyPr>
          <a:lstStyle/>
          <a:p>
            <a:pPr algn="ctr" indent="0" marL="0">
              <a:buNone/>
            </a:pPr>
            <a:r>
              <a:rPr lang="en-US" sz="2000" b="1" dirty="0">
                <a:solidFill>
                  <a:srgbClr val="005088"/>
                </a:solidFill>
                <a:latin typeface="Cambria Math" pitchFamily="34" charset="0"/>
                <a:ea typeface="Cambria Math" pitchFamily="34" charset="-122"/>
                <a:cs typeface="Cambria Math" pitchFamily="34" charset="-120"/>
              </a:rPr>
              <a:t>Brother(Richard, John)</a:t>
            </a:r>
            <a:endParaRPr lang="en-US" sz="2000" dirty="0"/>
          </a:p>
        </p:txBody>
      </p:sp>
      <p:sp>
        <p:nvSpPr>
          <p:cNvPr id="14" name="Shape 12"/>
          <p:cNvSpPr/>
          <p:nvPr/>
        </p:nvSpPr>
        <p:spPr>
          <a:xfrm>
            <a:off x="6446520" y="4041648"/>
            <a:ext cx="5074920" cy="859536"/>
          </a:xfrm>
          <a:prstGeom prst="roundRect">
            <a:avLst>
              <a:gd name="adj" fmla="val 8511"/>
            </a:avLst>
          </a:prstGeom>
          <a:solidFill>
            <a:srgbClr val="FFE4E6"/>
          </a:solidFill>
          <a:ln w="12700">
            <a:solidFill>
              <a:srgbClr val="FDA4AF"/>
            </a:solidFill>
            <a:prstDash val="solid"/>
          </a:ln>
        </p:spPr>
      </p:sp>
      <p:sp>
        <p:nvSpPr>
          <p:cNvPr id="15" name="Text 13"/>
          <p:cNvSpPr/>
          <p:nvPr/>
        </p:nvSpPr>
        <p:spPr>
          <a:xfrm>
            <a:off x="6629400" y="4178808"/>
            <a:ext cx="4709160" cy="219456"/>
          </a:xfrm>
          <a:prstGeom prst="rect">
            <a:avLst/>
          </a:prstGeom>
          <a:noFill/>
          <a:ln/>
        </p:spPr>
        <p:txBody>
          <a:bodyPr wrap="square" lIns="0" tIns="0" rIns="0" bIns="0" rtlCol="0" anchor="ctr"/>
          <a:lstStyle/>
          <a:p>
            <a:pPr indent="0" marL="0">
              <a:buNone/>
            </a:pPr>
            <a:r>
              <a:rPr lang="en-US" sz="950" b="1" dirty="0">
                <a:solidFill>
                  <a:srgbClr val="C1121F"/>
                </a:solidFill>
              </a:rPr>
              <a:t>STUDENT GOTCHA</a:t>
            </a:r>
            <a:endParaRPr lang="en-US" sz="950" dirty="0"/>
          </a:p>
        </p:txBody>
      </p:sp>
      <p:sp>
        <p:nvSpPr>
          <p:cNvPr id="16" name="Text 14"/>
          <p:cNvSpPr/>
          <p:nvPr/>
        </p:nvSpPr>
        <p:spPr>
          <a:xfrm>
            <a:off x="6629400" y="4453128"/>
            <a:ext cx="4709160" cy="356616"/>
          </a:xfrm>
          <a:prstGeom prst="rect">
            <a:avLst/>
          </a:prstGeom>
          <a:noFill/>
          <a:ln/>
        </p:spPr>
        <p:txBody>
          <a:bodyPr wrap="square" lIns="254" tIns="254" rIns="254" bIns="254" rtlCol="0" anchor="t">
            <a:normAutofit/>
          </a:bodyPr>
          <a:lstStyle/>
          <a:p>
            <a:pPr indent="0" marL="0">
              <a:buNone/>
            </a:pPr>
            <a:r>
              <a:rPr lang="en-US" sz="1250" dirty="0">
                <a:solidFill>
                  <a:srgbClr val="1E293B"/>
                </a:solidFill>
              </a:rPr>
              <a:t>A predicate alone is not a full claim unless it has the arguments required by its arity.</a:t>
            </a:r>
            <a:endParaRPr lang="en-US" sz="1250" dirty="0"/>
          </a:p>
        </p:txBody>
      </p:sp>
      <p:sp>
        <p:nvSpPr>
          <p:cNvPr id="17" name="Shape 15"/>
          <p:cNvSpPr/>
          <p:nvPr/>
        </p:nvSpPr>
        <p:spPr>
          <a:xfrm>
            <a:off x="6446520" y="5074920"/>
            <a:ext cx="5074920" cy="841248"/>
          </a:xfrm>
          <a:prstGeom prst="roundRect">
            <a:avLst>
              <a:gd name="adj" fmla="val 8696"/>
            </a:avLst>
          </a:prstGeom>
          <a:solidFill>
            <a:srgbClr val="E6FFFA"/>
          </a:solidFill>
          <a:ln w="12700">
            <a:solidFill>
              <a:srgbClr val="2A9D8F"/>
            </a:solidFill>
            <a:prstDash val="solid"/>
          </a:ln>
        </p:spPr>
      </p:sp>
      <p:sp>
        <p:nvSpPr>
          <p:cNvPr id="18" name="Text 16"/>
          <p:cNvSpPr/>
          <p:nvPr/>
        </p:nvSpPr>
        <p:spPr>
          <a:xfrm>
            <a:off x="6629400" y="5212080"/>
            <a:ext cx="4709160" cy="219456"/>
          </a:xfrm>
          <a:prstGeom prst="rect">
            <a:avLst/>
          </a:prstGeom>
          <a:noFill/>
          <a:ln/>
        </p:spPr>
        <p:txBody>
          <a:bodyPr wrap="square" lIns="0" tIns="0" rIns="0" bIns="0" rtlCol="0" anchor="ctr"/>
          <a:lstStyle/>
          <a:p>
            <a:pPr indent="0" marL="0">
              <a:buNone/>
            </a:pPr>
            <a:r>
              <a:rPr lang="en-US" sz="950" b="1" dirty="0">
                <a:solidFill>
                  <a:srgbClr val="007C89"/>
                </a:solidFill>
              </a:rPr>
              <a:t>CLASS CHECK</a:t>
            </a:r>
            <a:endParaRPr lang="en-US" sz="950" dirty="0"/>
          </a:p>
        </p:txBody>
      </p:sp>
      <p:sp>
        <p:nvSpPr>
          <p:cNvPr id="19" name="Text 17"/>
          <p:cNvSpPr/>
          <p:nvPr/>
        </p:nvSpPr>
        <p:spPr>
          <a:xfrm>
            <a:off x="6629400" y="5486400"/>
            <a:ext cx="4709160" cy="338328"/>
          </a:xfrm>
          <a:prstGeom prst="rect">
            <a:avLst/>
          </a:prstGeom>
          <a:noFill/>
          <a:ln/>
        </p:spPr>
        <p:txBody>
          <a:bodyPr wrap="square" lIns="254" tIns="254" rIns="254" bIns="254" rtlCol="0" anchor="t">
            <a:normAutofit/>
          </a:bodyPr>
          <a:lstStyle/>
          <a:p>
            <a:pPr indent="0" marL="0">
              <a:buNone/>
            </a:pPr>
            <a:r>
              <a:rPr lang="en-US" sz="1270" dirty="0">
                <a:solidFill>
                  <a:srgbClr val="1E293B"/>
                </a:solidFill>
              </a:rPr>
              <a:t>Ask: What objects must be related for Brother(Richard, John) to be true?</a:t>
            </a:r>
            <a:endParaRPr lang="en-US" sz="127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5088"/>
          </a:solidFill>
          <a:ln w="12700">
            <a:solidFill>
              <a:srgbClr val="005088"/>
            </a:solidFill>
            <a:prstDash val="solid"/>
          </a:ln>
        </p:spPr>
      </p:sp>
      <p:sp>
        <p:nvSpPr>
          <p:cNvPr id="3" name="Shape 1"/>
          <p:cNvSpPr/>
          <p:nvPr/>
        </p:nvSpPr>
        <p:spPr>
          <a:xfrm>
            <a:off x="0" y="6729984"/>
            <a:ext cx="12191695" cy="128016"/>
          </a:xfrm>
          <a:prstGeom prst="rect">
            <a:avLst/>
          </a:prstGeom>
          <a:solidFill>
            <a:srgbClr val="005088"/>
          </a:solidFill>
          <a:ln w="12700">
            <a:solidFill>
              <a:srgbClr val="005088"/>
            </a:solidFill>
            <a:prstDash val="solid"/>
          </a:ln>
        </p:spPr>
      </p:sp>
      <p:sp>
        <p:nvSpPr>
          <p:cNvPr id="4" name="Text 2"/>
          <p:cNvSpPr/>
          <p:nvPr/>
        </p:nvSpPr>
        <p:spPr>
          <a:xfrm>
            <a:off x="502920" y="210312"/>
            <a:ext cx="6858000" cy="219456"/>
          </a:xfrm>
          <a:prstGeom prst="rect">
            <a:avLst/>
          </a:prstGeom>
          <a:noFill/>
          <a:ln/>
        </p:spPr>
        <p:txBody>
          <a:bodyPr wrap="square" lIns="0" tIns="0" rIns="0" bIns="0" rtlCol="0" anchor="ctr"/>
          <a:lstStyle/>
          <a:p>
            <a:pPr indent="0" marL="0">
              <a:buNone/>
            </a:pPr>
            <a:r>
              <a:rPr lang="en-US" sz="950" b="1" dirty="0">
                <a:solidFill>
                  <a:srgbClr val="3D5A80"/>
                </a:solidFill>
                <a:latin typeface="Aptos" pitchFamily="34" charset="0"/>
                <a:ea typeface="Aptos" pitchFamily="34" charset="-122"/>
                <a:cs typeface="Aptos" pitchFamily="34" charset="-120"/>
              </a:rPr>
              <a:t>8.2.4 Atomic sentences</a:t>
            </a:r>
            <a:endParaRPr lang="en-US" sz="950" dirty="0"/>
          </a:p>
        </p:txBody>
      </p:sp>
      <p:sp>
        <p:nvSpPr>
          <p:cNvPr id="5" name="Text 3"/>
          <p:cNvSpPr/>
          <p:nvPr/>
        </p:nvSpPr>
        <p:spPr>
          <a:xfrm>
            <a:off x="11018520" y="201168"/>
            <a:ext cx="640080" cy="228600"/>
          </a:xfrm>
          <a:prstGeom prst="rect">
            <a:avLst/>
          </a:prstGeom>
          <a:noFill/>
          <a:ln/>
        </p:spPr>
        <p:txBody>
          <a:bodyPr wrap="square" lIns="0" tIns="0" rIns="0" bIns="0" rtlCol="0" anchor="ctr"/>
          <a:lstStyle/>
          <a:p>
            <a:pPr algn="r" indent="0" marL="0">
              <a:buNone/>
            </a:pPr>
            <a:r>
              <a:rPr lang="en-US" sz="900" b="1" dirty="0">
                <a:solidFill>
                  <a:srgbClr val="3D5A80"/>
                </a:solidFill>
              </a:rPr>
              <a:t>41</a:t>
            </a:r>
            <a:endParaRPr lang="en-US" sz="900" dirty="0"/>
          </a:p>
        </p:txBody>
      </p:sp>
      <p:sp>
        <p:nvSpPr>
          <p:cNvPr id="6" name="Text 4"/>
          <p:cNvSpPr/>
          <p:nvPr/>
        </p:nvSpPr>
        <p:spPr>
          <a:xfrm>
            <a:off x="502920" y="566928"/>
            <a:ext cx="11201400" cy="512064"/>
          </a:xfrm>
          <a:prstGeom prst="rect">
            <a:avLst/>
          </a:prstGeom>
          <a:noFill/>
          <a:ln/>
        </p:spPr>
        <p:txBody>
          <a:bodyPr wrap="square" lIns="0" tIns="0" rIns="0" bIns="0" rtlCol="0" anchor="ctr">
            <a:normAutofit/>
          </a:bodyPr>
          <a:lstStyle/>
          <a:p>
            <a:pPr indent="0" marL="0">
              <a:buNone/>
            </a:pPr>
            <a:r>
              <a:rPr lang="en-US" sz="2650" b="1" dirty="0">
                <a:solidFill>
                  <a:srgbClr val="005088"/>
                </a:solidFill>
                <a:latin typeface="Aptos Display" pitchFamily="34" charset="0"/>
                <a:ea typeface="Aptos Display" pitchFamily="34" charset="-122"/>
                <a:cs typeface="Aptos Display" pitchFamily="34" charset="-120"/>
              </a:rPr>
              <a:t>ATOMIC SENTENCES CAN CONTAIN COMPLEX TERMS</a:t>
            </a:r>
            <a:endParaRPr lang="en-US" sz="2650" dirty="0"/>
          </a:p>
        </p:txBody>
      </p:sp>
      <p:sp>
        <p:nvSpPr>
          <p:cNvPr id="7" name="Shape 5"/>
          <p:cNvSpPr/>
          <p:nvPr/>
        </p:nvSpPr>
        <p:spPr>
          <a:xfrm>
            <a:off x="502920" y="1188720"/>
            <a:ext cx="11109960" cy="0"/>
          </a:xfrm>
          <a:prstGeom prst="line">
            <a:avLst/>
          </a:prstGeom>
          <a:noFill/>
          <a:ln w="12700">
            <a:solidFill>
              <a:srgbClr val="3D5A80"/>
            </a:solidFill>
            <a:prstDash val="solid"/>
          </a:ln>
        </p:spPr>
      </p:sp>
      <p:sp>
        <p:nvSpPr>
          <p:cNvPr id="8" name="Text 6"/>
          <p:cNvSpPr/>
          <p:nvPr/>
        </p:nvSpPr>
        <p:spPr>
          <a:xfrm>
            <a:off x="713232" y="1572768"/>
            <a:ext cx="5440680" cy="4251960"/>
          </a:xfrm>
          <a:prstGeom prst="rect">
            <a:avLst/>
          </a:prstGeom>
          <a:noFill/>
          <a:ln/>
        </p:spPr>
        <p:txBody>
          <a:bodyPr wrap="square" lIns="1016" tIns="1016" rIns="1016" bIns="1016" rtlCol="0" anchor="t">
            <a:normAutofit/>
          </a:bodyPr>
          <a:lstStyle/>
          <a:p>
            <a:pPr indent="0" marL="0">
              <a:buNone/>
            </a:pPr>
            <a:r>
              <a:rPr lang="en-US" sz="1650" dirty="0">
                <a:solidFill>
                  <a:srgbClr val="1E293B"/>
                </a:solidFill>
                <a:latin typeface="Aptos" pitchFamily="34" charset="0"/>
                <a:ea typeface="Aptos" pitchFamily="34" charset="-122"/>
                <a:cs typeface="Aptos" pitchFamily="34" charset="-120"/>
              </a:rPr>
              <a:t>• Function terms can appear inside predicates</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The function term first refers to an object</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The predicate then claims a relation among those objects</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The whole atom is true only if the relation holds</a:t>
            </a:r>
            <a:endParaRPr lang="en-US" sz="1650" dirty="0"/>
          </a:p>
        </p:txBody>
      </p:sp>
      <p:sp>
        <p:nvSpPr>
          <p:cNvPr id="9" name="Shape 7"/>
          <p:cNvSpPr/>
          <p:nvPr/>
        </p:nvSpPr>
        <p:spPr>
          <a:xfrm>
            <a:off x="6446520" y="1572768"/>
            <a:ext cx="5074920" cy="1234440"/>
          </a:xfrm>
          <a:prstGeom prst="roundRect">
            <a:avLst>
              <a:gd name="adj" fmla="val 5926"/>
            </a:avLst>
          </a:prstGeom>
          <a:solidFill>
            <a:srgbClr val="FFF6D9"/>
          </a:solidFill>
          <a:ln w="12700">
            <a:solidFill>
              <a:srgbClr val="F4A261"/>
            </a:solidFill>
            <a:prstDash val="solid"/>
          </a:ln>
        </p:spPr>
      </p:sp>
      <p:sp>
        <p:nvSpPr>
          <p:cNvPr id="10" name="Text 8"/>
          <p:cNvSpPr/>
          <p:nvPr/>
        </p:nvSpPr>
        <p:spPr>
          <a:xfrm>
            <a:off x="6629400" y="1709928"/>
            <a:ext cx="4709160" cy="219456"/>
          </a:xfrm>
          <a:prstGeom prst="rect">
            <a:avLst/>
          </a:prstGeom>
          <a:noFill/>
          <a:ln/>
        </p:spPr>
        <p:txBody>
          <a:bodyPr wrap="square" lIns="0" tIns="0" rIns="0" bIns="0" rtlCol="0" anchor="ctr"/>
          <a:lstStyle/>
          <a:p>
            <a:pPr indent="0" marL="0">
              <a:buNone/>
            </a:pPr>
            <a:r>
              <a:rPr lang="en-US" sz="950" b="1" dirty="0">
                <a:solidFill>
                  <a:srgbClr val="B0005D"/>
                </a:solidFill>
              </a:rPr>
              <a:t>ANALOGY</a:t>
            </a:r>
            <a:endParaRPr lang="en-US" sz="950" dirty="0"/>
          </a:p>
        </p:txBody>
      </p:sp>
      <p:sp>
        <p:nvSpPr>
          <p:cNvPr id="11" name="Text 9"/>
          <p:cNvSpPr/>
          <p:nvPr/>
        </p:nvSpPr>
        <p:spPr>
          <a:xfrm>
            <a:off x="6629400" y="1984248"/>
            <a:ext cx="4709160" cy="731520"/>
          </a:xfrm>
          <a:prstGeom prst="rect">
            <a:avLst/>
          </a:prstGeom>
          <a:noFill/>
          <a:ln/>
        </p:spPr>
        <p:txBody>
          <a:bodyPr wrap="square" lIns="254" tIns="254" rIns="254" bIns="254" rtlCol="0" anchor="t">
            <a:normAutofit/>
          </a:bodyPr>
          <a:lstStyle/>
          <a:p>
            <a:pPr indent="0" marL="0">
              <a:buNone/>
            </a:pPr>
            <a:r>
              <a:rPr lang="en-US" sz="1330" dirty="0">
                <a:solidFill>
                  <a:srgbClr val="1E293B"/>
                </a:solidFill>
              </a:rPr>
              <a:t>“The owner of the blue car is registered” uses a description inside a larger claim.</a:t>
            </a:r>
            <a:endParaRPr lang="en-US" sz="1330" dirty="0"/>
          </a:p>
        </p:txBody>
      </p:sp>
      <p:sp>
        <p:nvSpPr>
          <p:cNvPr id="12" name="Shape 10"/>
          <p:cNvSpPr/>
          <p:nvPr/>
        </p:nvSpPr>
        <p:spPr>
          <a:xfrm>
            <a:off x="6446520" y="2999232"/>
            <a:ext cx="5074920" cy="841248"/>
          </a:xfrm>
          <a:prstGeom prst="roundRect">
            <a:avLst>
              <a:gd name="adj" fmla="val 8696"/>
            </a:avLst>
          </a:prstGeom>
          <a:solidFill>
            <a:srgbClr val="FFFFFF">
              <a:alpha val="97000"/>
            </a:srgbClr>
          </a:solidFill>
          <a:ln w="12700">
            <a:solidFill>
              <a:srgbClr val="007C89"/>
            </a:solidFill>
            <a:prstDash val="solid"/>
          </a:ln>
        </p:spPr>
      </p:sp>
      <p:sp>
        <p:nvSpPr>
          <p:cNvPr id="13" name="Text 11"/>
          <p:cNvSpPr/>
          <p:nvPr/>
        </p:nvSpPr>
        <p:spPr>
          <a:xfrm>
            <a:off x="6611112" y="3127248"/>
            <a:ext cx="4745736" cy="658368"/>
          </a:xfrm>
          <a:prstGeom prst="rect">
            <a:avLst/>
          </a:prstGeom>
          <a:noFill/>
          <a:ln/>
        </p:spPr>
        <p:txBody>
          <a:bodyPr wrap="square" lIns="0" tIns="0" rIns="0" bIns="0" rtlCol="0" anchor="ctr">
            <a:normAutofit/>
          </a:bodyPr>
          <a:lstStyle/>
          <a:p>
            <a:pPr algn="ctr" indent="0" marL="0">
              <a:buNone/>
            </a:pPr>
            <a:r>
              <a:rPr lang="en-US" sz="1550" b="1" dirty="0">
                <a:solidFill>
                  <a:srgbClr val="005088"/>
                </a:solidFill>
                <a:latin typeface="Cambria Math" pitchFamily="34" charset="0"/>
                <a:ea typeface="Cambria Math" pitchFamily="34" charset="-122"/>
                <a:cs typeface="Cambria Math" pitchFamily="34" charset="-120"/>
              </a:rPr>
              <a:t>Married(Father(Richard), Mother(John))</a:t>
            </a:r>
            <a:endParaRPr lang="en-US" sz="1550" dirty="0"/>
          </a:p>
        </p:txBody>
      </p:sp>
      <p:sp>
        <p:nvSpPr>
          <p:cNvPr id="14" name="Shape 12"/>
          <p:cNvSpPr/>
          <p:nvPr/>
        </p:nvSpPr>
        <p:spPr>
          <a:xfrm>
            <a:off x="6446520" y="4041648"/>
            <a:ext cx="5074920" cy="859536"/>
          </a:xfrm>
          <a:prstGeom prst="roundRect">
            <a:avLst>
              <a:gd name="adj" fmla="val 8511"/>
            </a:avLst>
          </a:prstGeom>
          <a:solidFill>
            <a:srgbClr val="FFE4E6"/>
          </a:solidFill>
          <a:ln w="12700">
            <a:solidFill>
              <a:srgbClr val="FDA4AF"/>
            </a:solidFill>
            <a:prstDash val="solid"/>
          </a:ln>
        </p:spPr>
      </p:sp>
      <p:sp>
        <p:nvSpPr>
          <p:cNvPr id="15" name="Text 13"/>
          <p:cNvSpPr/>
          <p:nvPr/>
        </p:nvSpPr>
        <p:spPr>
          <a:xfrm>
            <a:off x="6629400" y="4178808"/>
            <a:ext cx="4709160" cy="219456"/>
          </a:xfrm>
          <a:prstGeom prst="rect">
            <a:avLst/>
          </a:prstGeom>
          <a:noFill/>
          <a:ln/>
        </p:spPr>
        <p:txBody>
          <a:bodyPr wrap="square" lIns="0" tIns="0" rIns="0" bIns="0" rtlCol="0" anchor="ctr"/>
          <a:lstStyle/>
          <a:p>
            <a:pPr indent="0" marL="0">
              <a:buNone/>
            </a:pPr>
            <a:r>
              <a:rPr lang="en-US" sz="950" b="1" dirty="0">
                <a:solidFill>
                  <a:srgbClr val="C1121F"/>
                </a:solidFill>
              </a:rPr>
              <a:t>STUDENT GOTCHA</a:t>
            </a:r>
            <a:endParaRPr lang="en-US" sz="950" dirty="0"/>
          </a:p>
        </p:txBody>
      </p:sp>
      <p:sp>
        <p:nvSpPr>
          <p:cNvPr id="16" name="Text 14"/>
          <p:cNvSpPr/>
          <p:nvPr/>
        </p:nvSpPr>
        <p:spPr>
          <a:xfrm>
            <a:off x="6629400" y="4453128"/>
            <a:ext cx="4709160" cy="356616"/>
          </a:xfrm>
          <a:prstGeom prst="rect">
            <a:avLst/>
          </a:prstGeom>
          <a:noFill/>
          <a:ln/>
        </p:spPr>
        <p:txBody>
          <a:bodyPr wrap="square" lIns="254" tIns="254" rIns="254" bIns="254" rtlCol="0" anchor="t">
            <a:normAutofit/>
          </a:bodyPr>
          <a:lstStyle/>
          <a:p>
            <a:pPr indent="0" marL="0">
              <a:buNone/>
            </a:pPr>
            <a:r>
              <a:rPr lang="en-US" sz="1250" dirty="0">
                <a:solidFill>
                  <a:srgbClr val="1E293B"/>
                </a:solidFill>
              </a:rPr>
              <a:t>The nested terms do not make the sentence procedural. Nothing is being executed; objects are being referred to.</a:t>
            </a:r>
            <a:endParaRPr lang="en-US" sz="1250" dirty="0"/>
          </a:p>
        </p:txBody>
      </p:sp>
      <p:sp>
        <p:nvSpPr>
          <p:cNvPr id="17" name="Shape 15"/>
          <p:cNvSpPr/>
          <p:nvPr/>
        </p:nvSpPr>
        <p:spPr>
          <a:xfrm>
            <a:off x="6446520" y="5074920"/>
            <a:ext cx="5074920" cy="841248"/>
          </a:xfrm>
          <a:prstGeom prst="roundRect">
            <a:avLst>
              <a:gd name="adj" fmla="val 8696"/>
            </a:avLst>
          </a:prstGeom>
          <a:solidFill>
            <a:srgbClr val="E6FFFA"/>
          </a:solidFill>
          <a:ln w="12700">
            <a:solidFill>
              <a:srgbClr val="2A9D8F"/>
            </a:solidFill>
            <a:prstDash val="solid"/>
          </a:ln>
        </p:spPr>
      </p:sp>
      <p:sp>
        <p:nvSpPr>
          <p:cNvPr id="18" name="Text 16"/>
          <p:cNvSpPr/>
          <p:nvPr/>
        </p:nvSpPr>
        <p:spPr>
          <a:xfrm>
            <a:off x="6629400" y="5212080"/>
            <a:ext cx="4709160" cy="219456"/>
          </a:xfrm>
          <a:prstGeom prst="rect">
            <a:avLst/>
          </a:prstGeom>
          <a:noFill/>
          <a:ln/>
        </p:spPr>
        <p:txBody>
          <a:bodyPr wrap="square" lIns="0" tIns="0" rIns="0" bIns="0" rtlCol="0" anchor="ctr"/>
          <a:lstStyle/>
          <a:p>
            <a:pPr indent="0" marL="0">
              <a:buNone/>
            </a:pPr>
            <a:r>
              <a:rPr lang="en-US" sz="950" b="1" dirty="0">
                <a:solidFill>
                  <a:srgbClr val="007C89"/>
                </a:solidFill>
              </a:rPr>
              <a:t>CLASS CHECK</a:t>
            </a:r>
            <a:endParaRPr lang="en-US" sz="950" dirty="0"/>
          </a:p>
        </p:txBody>
      </p:sp>
      <p:sp>
        <p:nvSpPr>
          <p:cNvPr id="19" name="Text 17"/>
          <p:cNvSpPr/>
          <p:nvPr/>
        </p:nvSpPr>
        <p:spPr>
          <a:xfrm>
            <a:off x="6629400" y="5486400"/>
            <a:ext cx="4709160" cy="338328"/>
          </a:xfrm>
          <a:prstGeom prst="rect">
            <a:avLst/>
          </a:prstGeom>
          <a:noFill/>
          <a:ln/>
        </p:spPr>
        <p:txBody>
          <a:bodyPr wrap="square" lIns="254" tIns="254" rIns="254" bIns="254" rtlCol="0" anchor="t">
            <a:normAutofit/>
          </a:bodyPr>
          <a:lstStyle/>
          <a:p>
            <a:pPr indent="0" marL="0">
              <a:buNone/>
            </a:pPr>
            <a:r>
              <a:rPr lang="en-US" sz="1270" dirty="0">
                <a:solidFill>
                  <a:srgbClr val="1E293B"/>
                </a:solidFill>
              </a:rPr>
              <a:t>Ask students to identify the two complex terms inside the sentence.</a:t>
            </a:r>
            <a:endParaRPr lang="en-US" sz="127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5088"/>
          </a:solidFill>
          <a:ln w="12700">
            <a:solidFill>
              <a:srgbClr val="005088"/>
            </a:solidFill>
            <a:prstDash val="solid"/>
          </a:ln>
        </p:spPr>
      </p:sp>
      <p:sp>
        <p:nvSpPr>
          <p:cNvPr id="3" name="Shape 1"/>
          <p:cNvSpPr/>
          <p:nvPr/>
        </p:nvSpPr>
        <p:spPr>
          <a:xfrm>
            <a:off x="0" y="6729984"/>
            <a:ext cx="12191695" cy="128016"/>
          </a:xfrm>
          <a:prstGeom prst="rect">
            <a:avLst/>
          </a:prstGeom>
          <a:solidFill>
            <a:srgbClr val="005088"/>
          </a:solidFill>
          <a:ln w="12700">
            <a:solidFill>
              <a:srgbClr val="005088"/>
            </a:solidFill>
            <a:prstDash val="solid"/>
          </a:ln>
        </p:spPr>
      </p:sp>
      <p:sp>
        <p:nvSpPr>
          <p:cNvPr id="4" name="Text 2"/>
          <p:cNvSpPr/>
          <p:nvPr/>
        </p:nvSpPr>
        <p:spPr>
          <a:xfrm>
            <a:off x="502920" y="210312"/>
            <a:ext cx="6858000" cy="219456"/>
          </a:xfrm>
          <a:prstGeom prst="rect">
            <a:avLst/>
          </a:prstGeom>
          <a:noFill/>
          <a:ln/>
        </p:spPr>
        <p:txBody>
          <a:bodyPr wrap="square" lIns="0" tIns="0" rIns="0" bIns="0" rtlCol="0" anchor="ctr"/>
          <a:lstStyle/>
          <a:p>
            <a:pPr indent="0" marL="0">
              <a:buNone/>
            </a:pPr>
            <a:r>
              <a:rPr lang="en-US" sz="950" b="1" dirty="0">
                <a:solidFill>
                  <a:srgbClr val="3D5A80"/>
                </a:solidFill>
                <a:latin typeface="Aptos" pitchFamily="34" charset="0"/>
                <a:ea typeface="Aptos" pitchFamily="34" charset="-122"/>
                <a:cs typeface="Aptos" pitchFamily="34" charset="-120"/>
              </a:rPr>
              <a:t>8.2.4 Atomic sentences</a:t>
            </a:r>
            <a:endParaRPr lang="en-US" sz="950" dirty="0"/>
          </a:p>
        </p:txBody>
      </p:sp>
      <p:sp>
        <p:nvSpPr>
          <p:cNvPr id="5" name="Text 3"/>
          <p:cNvSpPr/>
          <p:nvPr/>
        </p:nvSpPr>
        <p:spPr>
          <a:xfrm>
            <a:off x="11018520" y="201168"/>
            <a:ext cx="640080" cy="228600"/>
          </a:xfrm>
          <a:prstGeom prst="rect">
            <a:avLst/>
          </a:prstGeom>
          <a:noFill/>
          <a:ln/>
        </p:spPr>
        <p:txBody>
          <a:bodyPr wrap="square" lIns="0" tIns="0" rIns="0" bIns="0" rtlCol="0" anchor="ctr"/>
          <a:lstStyle/>
          <a:p>
            <a:pPr algn="r" indent="0" marL="0">
              <a:buNone/>
            </a:pPr>
            <a:r>
              <a:rPr lang="en-US" sz="900" b="1" dirty="0">
                <a:solidFill>
                  <a:srgbClr val="3D5A80"/>
                </a:solidFill>
              </a:rPr>
              <a:t>42</a:t>
            </a:r>
            <a:endParaRPr lang="en-US" sz="900" dirty="0"/>
          </a:p>
        </p:txBody>
      </p:sp>
      <p:sp>
        <p:nvSpPr>
          <p:cNvPr id="6" name="Text 4"/>
          <p:cNvSpPr/>
          <p:nvPr/>
        </p:nvSpPr>
        <p:spPr>
          <a:xfrm>
            <a:off x="502920" y="566928"/>
            <a:ext cx="11201400" cy="512064"/>
          </a:xfrm>
          <a:prstGeom prst="rect">
            <a:avLst/>
          </a:prstGeom>
          <a:noFill/>
          <a:ln/>
        </p:spPr>
        <p:txBody>
          <a:bodyPr wrap="square" lIns="0" tIns="0" rIns="0" bIns="0" rtlCol="0" anchor="ctr">
            <a:normAutofit/>
          </a:bodyPr>
          <a:lstStyle/>
          <a:p>
            <a:pPr indent="0" marL="0">
              <a:buNone/>
            </a:pPr>
            <a:r>
              <a:rPr lang="en-US" sz="2650" b="1" dirty="0">
                <a:solidFill>
                  <a:srgbClr val="005088"/>
                </a:solidFill>
                <a:latin typeface="Aptos Display" pitchFamily="34" charset="0"/>
                <a:ea typeface="Aptos Display" pitchFamily="34" charset="-122"/>
                <a:cs typeface="Aptos Display" pitchFamily="34" charset="-120"/>
              </a:rPr>
              <a:t>EQUALITY AND INEQUALITY</a:t>
            </a:r>
            <a:endParaRPr lang="en-US" sz="2650" dirty="0"/>
          </a:p>
        </p:txBody>
      </p:sp>
      <p:sp>
        <p:nvSpPr>
          <p:cNvPr id="7" name="Shape 5"/>
          <p:cNvSpPr/>
          <p:nvPr/>
        </p:nvSpPr>
        <p:spPr>
          <a:xfrm>
            <a:off x="502920" y="1188720"/>
            <a:ext cx="11109960" cy="0"/>
          </a:xfrm>
          <a:prstGeom prst="line">
            <a:avLst/>
          </a:prstGeom>
          <a:noFill/>
          <a:ln w="12700">
            <a:solidFill>
              <a:srgbClr val="3D5A80"/>
            </a:solidFill>
            <a:prstDash val="solid"/>
          </a:ln>
        </p:spPr>
      </p:sp>
      <p:sp>
        <p:nvSpPr>
          <p:cNvPr id="8" name="Text 6"/>
          <p:cNvSpPr/>
          <p:nvPr/>
        </p:nvSpPr>
        <p:spPr>
          <a:xfrm>
            <a:off x="713232" y="1572768"/>
            <a:ext cx="5440680" cy="4251960"/>
          </a:xfrm>
          <a:prstGeom prst="rect">
            <a:avLst/>
          </a:prstGeom>
          <a:noFill/>
          <a:ln/>
        </p:spPr>
        <p:txBody>
          <a:bodyPr wrap="square" lIns="1016" tIns="1016" rIns="1016" bIns="1016" rtlCol="0" anchor="t">
            <a:normAutofit/>
          </a:bodyPr>
          <a:lstStyle/>
          <a:p>
            <a:pPr indent="0" marL="0">
              <a:buNone/>
            </a:pPr>
            <a:r>
              <a:rPr lang="en-US" sz="1650" dirty="0">
                <a:solidFill>
                  <a:srgbClr val="1E293B"/>
                </a:solidFill>
                <a:latin typeface="Aptos" pitchFamily="34" charset="0"/>
                <a:ea typeface="Aptos" pitchFamily="34" charset="-122"/>
                <a:cs typeface="Aptos" pitchFamily="34" charset="-120"/>
              </a:rPr>
              <a:t>• Equality says two terms refer to the same object</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Inequality says two terms refer to different objects</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Standard semantics does not assume different names are different</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Use inequality when distinctness matters</a:t>
            </a:r>
            <a:endParaRPr lang="en-US" sz="1650" dirty="0"/>
          </a:p>
        </p:txBody>
      </p:sp>
      <p:sp>
        <p:nvSpPr>
          <p:cNvPr id="9" name="Shape 7"/>
          <p:cNvSpPr/>
          <p:nvPr/>
        </p:nvSpPr>
        <p:spPr>
          <a:xfrm>
            <a:off x="6446520" y="1572768"/>
            <a:ext cx="5074920" cy="1234440"/>
          </a:xfrm>
          <a:prstGeom prst="roundRect">
            <a:avLst>
              <a:gd name="adj" fmla="val 5926"/>
            </a:avLst>
          </a:prstGeom>
          <a:solidFill>
            <a:srgbClr val="FFF6D9"/>
          </a:solidFill>
          <a:ln w="12700">
            <a:solidFill>
              <a:srgbClr val="F4A261"/>
            </a:solidFill>
            <a:prstDash val="solid"/>
          </a:ln>
        </p:spPr>
      </p:sp>
      <p:sp>
        <p:nvSpPr>
          <p:cNvPr id="10" name="Text 8"/>
          <p:cNvSpPr/>
          <p:nvPr/>
        </p:nvSpPr>
        <p:spPr>
          <a:xfrm>
            <a:off x="6629400" y="1709928"/>
            <a:ext cx="4709160" cy="219456"/>
          </a:xfrm>
          <a:prstGeom prst="rect">
            <a:avLst/>
          </a:prstGeom>
          <a:noFill/>
          <a:ln/>
        </p:spPr>
        <p:txBody>
          <a:bodyPr wrap="square" lIns="0" tIns="0" rIns="0" bIns="0" rtlCol="0" anchor="ctr"/>
          <a:lstStyle/>
          <a:p>
            <a:pPr indent="0" marL="0">
              <a:buNone/>
            </a:pPr>
            <a:r>
              <a:rPr lang="en-US" sz="950" b="1" dirty="0">
                <a:solidFill>
                  <a:srgbClr val="B0005D"/>
                </a:solidFill>
              </a:rPr>
              <a:t>ANALOGY</a:t>
            </a:r>
            <a:endParaRPr lang="en-US" sz="950" dirty="0"/>
          </a:p>
        </p:txBody>
      </p:sp>
      <p:sp>
        <p:nvSpPr>
          <p:cNvPr id="11" name="Text 9"/>
          <p:cNvSpPr/>
          <p:nvPr/>
        </p:nvSpPr>
        <p:spPr>
          <a:xfrm>
            <a:off x="6629400" y="1984248"/>
            <a:ext cx="4709160" cy="731520"/>
          </a:xfrm>
          <a:prstGeom prst="rect">
            <a:avLst/>
          </a:prstGeom>
          <a:noFill/>
          <a:ln/>
        </p:spPr>
        <p:txBody>
          <a:bodyPr wrap="square" lIns="254" tIns="254" rIns="254" bIns="254" rtlCol="0" anchor="t">
            <a:normAutofit/>
          </a:bodyPr>
          <a:lstStyle/>
          <a:p>
            <a:pPr indent="0" marL="0">
              <a:buNone/>
            </a:pPr>
            <a:r>
              <a:rPr lang="en-US" sz="1330" dirty="0">
                <a:solidFill>
                  <a:srgbClr val="1E293B"/>
                </a:solidFill>
              </a:rPr>
              <a:t>Two email addresses may belong to the same person unless the system has evidence they are different.</a:t>
            </a:r>
            <a:endParaRPr lang="en-US" sz="1330" dirty="0"/>
          </a:p>
        </p:txBody>
      </p:sp>
      <p:sp>
        <p:nvSpPr>
          <p:cNvPr id="12" name="Shape 10"/>
          <p:cNvSpPr/>
          <p:nvPr/>
        </p:nvSpPr>
        <p:spPr>
          <a:xfrm>
            <a:off x="6446520" y="2999232"/>
            <a:ext cx="5074920" cy="841248"/>
          </a:xfrm>
          <a:prstGeom prst="roundRect">
            <a:avLst>
              <a:gd name="adj" fmla="val 8696"/>
            </a:avLst>
          </a:prstGeom>
          <a:solidFill>
            <a:srgbClr val="FFFFFF">
              <a:alpha val="97000"/>
            </a:srgbClr>
          </a:solidFill>
          <a:ln w="12700">
            <a:solidFill>
              <a:srgbClr val="007C89"/>
            </a:solidFill>
            <a:prstDash val="solid"/>
          </a:ln>
        </p:spPr>
      </p:sp>
      <p:sp>
        <p:nvSpPr>
          <p:cNvPr id="13" name="Text 11"/>
          <p:cNvSpPr/>
          <p:nvPr/>
        </p:nvSpPr>
        <p:spPr>
          <a:xfrm>
            <a:off x="6611112" y="3127248"/>
            <a:ext cx="4745736" cy="658368"/>
          </a:xfrm>
          <a:prstGeom prst="rect">
            <a:avLst/>
          </a:prstGeom>
          <a:noFill/>
          <a:ln/>
        </p:spPr>
        <p:txBody>
          <a:bodyPr wrap="square" lIns="0" tIns="0" rIns="0" bIns="0" rtlCol="0" anchor="ctr">
            <a:normAutofit/>
          </a:bodyPr>
          <a:lstStyle/>
          <a:p>
            <a:pPr algn="ctr" indent="0" marL="0">
              <a:buNone/>
            </a:pPr>
            <a:r>
              <a:rPr lang="en-US" sz="2200" b="1" dirty="0">
                <a:solidFill>
                  <a:srgbClr val="005088"/>
                </a:solidFill>
                <a:latin typeface="Cambria Math" pitchFamily="34" charset="0"/>
                <a:ea typeface="Cambria Math" pitchFamily="34" charset="-122"/>
                <a:cs typeface="Cambria Math" pitchFamily="34" charset="-120"/>
              </a:rPr>
              <a:t>John ≠ Geoffrey</a:t>
            </a:r>
            <a:endParaRPr lang="en-US" sz="2200" dirty="0"/>
          </a:p>
        </p:txBody>
      </p:sp>
      <p:sp>
        <p:nvSpPr>
          <p:cNvPr id="14" name="Shape 12"/>
          <p:cNvSpPr/>
          <p:nvPr/>
        </p:nvSpPr>
        <p:spPr>
          <a:xfrm>
            <a:off x="6446520" y="4041648"/>
            <a:ext cx="5074920" cy="859536"/>
          </a:xfrm>
          <a:prstGeom prst="roundRect">
            <a:avLst>
              <a:gd name="adj" fmla="val 8511"/>
            </a:avLst>
          </a:prstGeom>
          <a:solidFill>
            <a:srgbClr val="FFE4E6"/>
          </a:solidFill>
          <a:ln w="12700">
            <a:solidFill>
              <a:srgbClr val="FDA4AF"/>
            </a:solidFill>
            <a:prstDash val="solid"/>
          </a:ln>
        </p:spPr>
      </p:sp>
      <p:sp>
        <p:nvSpPr>
          <p:cNvPr id="15" name="Text 13"/>
          <p:cNvSpPr/>
          <p:nvPr/>
        </p:nvSpPr>
        <p:spPr>
          <a:xfrm>
            <a:off x="6629400" y="4178808"/>
            <a:ext cx="4709160" cy="219456"/>
          </a:xfrm>
          <a:prstGeom prst="rect">
            <a:avLst/>
          </a:prstGeom>
          <a:noFill/>
          <a:ln/>
        </p:spPr>
        <p:txBody>
          <a:bodyPr wrap="square" lIns="0" tIns="0" rIns="0" bIns="0" rtlCol="0" anchor="ctr"/>
          <a:lstStyle/>
          <a:p>
            <a:pPr indent="0" marL="0">
              <a:buNone/>
            </a:pPr>
            <a:r>
              <a:rPr lang="en-US" sz="950" b="1" dirty="0">
                <a:solidFill>
                  <a:srgbClr val="C1121F"/>
                </a:solidFill>
              </a:rPr>
              <a:t>STUDENT GOTCHA</a:t>
            </a:r>
            <a:endParaRPr lang="en-US" sz="950" dirty="0"/>
          </a:p>
        </p:txBody>
      </p:sp>
      <p:sp>
        <p:nvSpPr>
          <p:cNvPr id="16" name="Text 14"/>
          <p:cNvSpPr/>
          <p:nvPr/>
        </p:nvSpPr>
        <p:spPr>
          <a:xfrm>
            <a:off x="6629400" y="4453128"/>
            <a:ext cx="4709160" cy="356616"/>
          </a:xfrm>
          <a:prstGeom prst="rect">
            <a:avLst/>
          </a:prstGeom>
          <a:noFill/>
          <a:ln/>
        </p:spPr>
        <p:txBody>
          <a:bodyPr wrap="square" lIns="254" tIns="254" rIns="254" bIns="254" rtlCol="0" anchor="t">
            <a:normAutofit/>
          </a:bodyPr>
          <a:lstStyle/>
          <a:p>
            <a:pPr indent="0" marL="0">
              <a:buNone/>
            </a:pPr>
            <a:r>
              <a:rPr lang="en-US" sz="1250" dirty="0">
                <a:solidFill>
                  <a:srgbClr val="1E293B"/>
                </a:solidFill>
              </a:rPr>
              <a:t>Students often assume John and Geoffrey must be different because the names differ. Standard first-order logic does not assume that.</a:t>
            </a:r>
            <a:endParaRPr lang="en-US" sz="1250" dirty="0"/>
          </a:p>
        </p:txBody>
      </p:sp>
      <p:sp>
        <p:nvSpPr>
          <p:cNvPr id="17" name="Shape 15"/>
          <p:cNvSpPr/>
          <p:nvPr/>
        </p:nvSpPr>
        <p:spPr>
          <a:xfrm>
            <a:off x="6446520" y="5074920"/>
            <a:ext cx="5074920" cy="841248"/>
          </a:xfrm>
          <a:prstGeom prst="roundRect">
            <a:avLst>
              <a:gd name="adj" fmla="val 8696"/>
            </a:avLst>
          </a:prstGeom>
          <a:solidFill>
            <a:srgbClr val="E6FFFA"/>
          </a:solidFill>
          <a:ln w="12700">
            <a:solidFill>
              <a:srgbClr val="2A9D8F"/>
            </a:solidFill>
            <a:prstDash val="solid"/>
          </a:ln>
        </p:spPr>
      </p:sp>
      <p:sp>
        <p:nvSpPr>
          <p:cNvPr id="18" name="Text 16"/>
          <p:cNvSpPr/>
          <p:nvPr/>
        </p:nvSpPr>
        <p:spPr>
          <a:xfrm>
            <a:off x="6629400" y="5212080"/>
            <a:ext cx="4709160" cy="219456"/>
          </a:xfrm>
          <a:prstGeom prst="rect">
            <a:avLst/>
          </a:prstGeom>
          <a:noFill/>
          <a:ln/>
        </p:spPr>
        <p:txBody>
          <a:bodyPr wrap="square" lIns="0" tIns="0" rIns="0" bIns="0" rtlCol="0" anchor="ctr"/>
          <a:lstStyle/>
          <a:p>
            <a:pPr indent="0" marL="0">
              <a:buNone/>
            </a:pPr>
            <a:r>
              <a:rPr lang="en-US" sz="950" b="1" dirty="0">
                <a:solidFill>
                  <a:srgbClr val="007C89"/>
                </a:solidFill>
              </a:rPr>
              <a:t>CLASS CHECK</a:t>
            </a:r>
            <a:endParaRPr lang="en-US" sz="950" dirty="0"/>
          </a:p>
        </p:txBody>
      </p:sp>
      <p:sp>
        <p:nvSpPr>
          <p:cNvPr id="19" name="Text 17"/>
          <p:cNvSpPr/>
          <p:nvPr/>
        </p:nvSpPr>
        <p:spPr>
          <a:xfrm>
            <a:off x="6629400" y="5486400"/>
            <a:ext cx="4709160" cy="338328"/>
          </a:xfrm>
          <a:prstGeom prst="rect">
            <a:avLst/>
          </a:prstGeom>
          <a:noFill/>
          <a:ln/>
        </p:spPr>
        <p:txBody>
          <a:bodyPr wrap="square" lIns="254" tIns="254" rIns="254" bIns="254" rtlCol="0" anchor="t">
            <a:normAutofit/>
          </a:bodyPr>
          <a:lstStyle/>
          <a:p>
            <a:pPr indent="0" marL="0">
              <a:buNone/>
            </a:pPr>
            <a:r>
              <a:rPr lang="en-US" sz="1270" dirty="0">
                <a:solidFill>
                  <a:srgbClr val="1E293B"/>
                </a:solidFill>
              </a:rPr>
              <a:t>Ask: Why is inequality needed to say Richard has two brothers?</a:t>
            </a:r>
            <a:endParaRPr lang="en-US" sz="127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5088"/>
          </a:solidFill>
          <a:ln w="12700">
            <a:solidFill>
              <a:srgbClr val="005088"/>
            </a:solidFill>
            <a:prstDash val="solid"/>
          </a:ln>
        </p:spPr>
      </p:sp>
      <p:sp>
        <p:nvSpPr>
          <p:cNvPr id="3" name="Shape 1"/>
          <p:cNvSpPr/>
          <p:nvPr/>
        </p:nvSpPr>
        <p:spPr>
          <a:xfrm>
            <a:off x="0" y="6729984"/>
            <a:ext cx="12191695" cy="128016"/>
          </a:xfrm>
          <a:prstGeom prst="rect">
            <a:avLst/>
          </a:prstGeom>
          <a:solidFill>
            <a:srgbClr val="005088"/>
          </a:solidFill>
          <a:ln w="12700">
            <a:solidFill>
              <a:srgbClr val="005088"/>
            </a:solidFill>
            <a:prstDash val="solid"/>
          </a:ln>
        </p:spPr>
      </p:sp>
      <p:sp>
        <p:nvSpPr>
          <p:cNvPr id="4" name="Text 2"/>
          <p:cNvSpPr/>
          <p:nvPr/>
        </p:nvSpPr>
        <p:spPr>
          <a:xfrm>
            <a:off x="502920" y="210312"/>
            <a:ext cx="6858000" cy="219456"/>
          </a:xfrm>
          <a:prstGeom prst="rect">
            <a:avLst/>
          </a:prstGeom>
          <a:noFill/>
          <a:ln/>
        </p:spPr>
        <p:txBody>
          <a:bodyPr wrap="square" lIns="0" tIns="0" rIns="0" bIns="0" rtlCol="0" anchor="ctr"/>
          <a:lstStyle/>
          <a:p>
            <a:pPr indent="0" marL="0">
              <a:buNone/>
            </a:pPr>
            <a:r>
              <a:rPr lang="en-US" sz="950" b="1" dirty="0">
                <a:solidFill>
                  <a:srgbClr val="3D5A80"/>
                </a:solidFill>
                <a:latin typeface="Aptos" pitchFamily="34" charset="0"/>
                <a:ea typeface="Aptos" pitchFamily="34" charset="-122"/>
                <a:cs typeface="Aptos" pitchFamily="34" charset="-120"/>
              </a:rPr>
              <a:t>8.2.5 Complex sentences</a:t>
            </a:r>
            <a:endParaRPr lang="en-US" sz="950" dirty="0"/>
          </a:p>
        </p:txBody>
      </p:sp>
      <p:sp>
        <p:nvSpPr>
          <p:cNvPr id="5" name="Text 3"/>
          <p:cNvSpPr/>
          <p:nvPr/>
        </p:nvSpPr>
        <p:spPr>
          <a:xfrm>
            <a:off x="11018520" y="201168"/>
            <a:ext cx="640080" cy="228600"/>
          </a:xfrm>
          <a:prstGeom prst="rect">
            <a:avLst/>
          </a:prstGeom>
          <a:noFill/>
          <a:ln/>
        </p:spPr>
        <p:txBody>
          <a:bodyPr wrap="square" lIns="0" tIns="0" rIns="0" bIns="0" rtlCol="0" anchor="ctr"/>
          <a:lstStyle/>
          <a:p>
            <a:pPr algn="r" indent="0" marL="0">
              <a:buNone/>
            </a:pPr>
            <a:r>
              <a:rPr lang="en-US" sz="900" b="1" dirty="0">
                <a:solidFill>
                  <a:srgbClr val="3D5A80"/>
                </a:solidFill>
              </a:rPr>
              <a:t>43</a:t>
            </a:r>
            <a:endParaRPr lang="en-US" sz="900" dirty="0"/>
          </a:p>
        </p:txBody>
      </p:sp>
      <p:sp>
        <p:nvSpPr>
          <p:cNvPr id="6" name="Text 4"/>
          <p:cNvSpPr/>
          <p:nvPr/>
        </p:nvSpPr>
        <p:spPr>
          <a:xfrm>
            <a:off x="502920" y="566928"/>
            <a:ext cx="11201400" cy="512064"/>
          </a:xfrm>
          <a:prstGeom prst="rect">
            <a:avLst/>
          </a:prstGeom>
          <a:noFill/>
          <a:ln/>
        </p:spPr>
        <p:txBody>
          <a:bodyPr wrap="square" lIns="0" tIns="0" rIns="0" bIns="0" rtlCol="0" anchor="ctr">
            <a:normAutofit/>
          </a:bodyPr>
          <a:lstStyle/>
          <a:p>
            <a:pPr indent="0" marL="0">
              <a:buNone/>
            </a:pPr>
            <a:r>
              <a:rPr lang="en-US" sz="2650" b="1" dirty="0">
                <a:solidFill>
                  <a:srgbClr val="005088"/>
                </a:solidFill>
                <a:latin typeface="Aptos Display" pitchFamily="34" charset="0"/>
                <a:ea typeface="Aptos Display" pitchFamily="34" charset="-122"/>
                <a:cs typeface="Aptos Display" pitchFamily="34" charset="-120"/>
              </a:rPr>
              <a:t>COMPLEX SENTENCES COMBINE CLAIMS</a:t>
            </a:r>
            <a:endParaRPr lang="en-US" sz="2650" dirty="0"/>
          </a:p>
        </p:txBody>
      </p:sp>
      <p:sp>
        <p:nvSpPr>
          <p:cNvPr id="7" name="Shape 5"/>
          <p:cNvSpPr/>
          <p:nvPr/>
        </p:nvSpPr>
        <p:spPr>
          <a:xfrm>
            <a:off x="502920" y="1188720"/>
            <a:ext cx="11109960" cy="0"/>
          </a:xfrm>
          <a:prstGeom prst="line">
            <a:avLst/>
          </a:prstGeom>
          <a:noFill/>
          <a:ln w="12700">
            <a:solidFill>
              <a:srgbClr val="3D5A80"/>
            </a:solidFill>
            <a:prstDash val="solid"/>
          </a:ln>
        </p:spPr>
      </p:sp>
      <p:sp>
        <p:nvSpPr>
          <p:cNvPr id="8" name="Text 6"/>
          <p:cNvSpPr/>
          <p:nvPr/>
        </p:nvSpPr>
        <p:spPr>
          <a:xfrm>
            <a:off x="713232" y="1572768"/>
            <a:ext cx="5440680" cy="4251960"/>
          </a:xfrm>
          <a:prstGeom prst="rect">
            <a:avLst/>
          </a:prstGeom>
          <a:noFill/>
          <a:ln/>
        </p:spPr>
        <p:txBody>
          <a:bodyPr wrap="square" lIns="1016" tIns="1016" rIns="1016" bIns="1016" rtlCol="0" anchor="t">
            <a:normAutofit/>
          </a:bodyPr>
          <a:lstStyle/>
          <a:p>
            <a:pPr indent="0" marL="0">
              <a:buNone/>
            </a:pPr>
            <a:r>
              <a:rPr lang="en-US" sz="1650" dirty="0">
                <a:solidFill>
                  <a:srgbClr val="1E293B"/>
                </a:solidFill>
                <a:latin typeface="Aptos" pitchFamily="34" charset="0"/>
                <a:ea typeface="Aptos" pitchFamily="34" charset="-122"/>
                <a:cs typeface="Aptos" pitchFamily="34" charset="-120"/>
              </a:rPr>
              <a:t>• Use not, and, or, implication, and biconditional</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The connectives behave like propositional logic</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Only the atoms underneath are richer</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Complex sentences express larger conditions</a:t>
            </a:r>
            <a:endParaRPr lang="en-US" sz="1650" dirty="0"/>
          </a:p>
        </p:txBody>
      </p:sp>
      <p:sp>
        <p:nvSpPr>
          <p:cNvPr id="9" name="Shape 7"/>
          <p:cNvSpPr/>
          <p:nvPr/>
        </p:nvSpPr>
        <p:spPr>
          <a:xfrm>
            <a:off x="6446520" y="1572768"/>
            <a:ext cx="5074920" cy="1234440"/>
          </a:xfrm>
          <a:prstGeom prst="roundRect">
            <a:avLst>
              <a:gd name="adj" fmla="val 5926"/>
            </a:avLst>
          </a:prstGeom>
          <a:solidFill>
            <a:srgbClr val="FFF6D9"/>
          </a:solidFill>
          <a:ln w="12700">
            <a:solidFill>
              <a:srgbClr val="F4A261"/>
            </a:solidFill>
            <a:prstDash val="solid"/>
          </a:ln>
        </p:spPr>
      </p:sp>
      <p:sp>
        <p:nvSpPr>
          <p:cNvPr id="10" name="Text 8"/>
          <p:cNvSpPr/>
          <p:nvPr/>
        </p:nvSpPr>
        <p:spPr>
          <a:xfrm>
            <a:off x="6629400" y="1709928"/>
            <a:ext cx="4709160" cy="219456"/>
          </a:xfrm>
          <a:prstGeom prst="rect">
            <a:avLst/>
          </a:prstGeom>
          <a:noFill/>
          <a:ln/>
        </p:spPr>
        <p:txBody>
          <a:bodyPr wrap="square" lIns="0" tIns="0" rIns="0" bIns="0" rtlCol="0" anchor="ctr"/>
          <a:lstStyle/>
          <a:p>
            <a:pPr indent="0" marL="0">
              <a:buNone/>
            </a:pPr>
            <a:r>
              <a:rPr lang="en-US" sz="950" b="1" dirty="0">
                <a:solidFill>
                  <a:srgbClr val="B0005D"/>
                </a:solidFill>
              </a:rPr>
              <a:t>ANALOGY</a:t>
            </a:r>
            <a:endParaRPr lang="en-US" sz="950" dirty="0"/>
          </a:p>
        </p:txBody>
      </p:sp>
      <p:sp>
        <p:nvSpPr>
          <p:cNvPr id="11" name="Text 9"/>
          <p:cNvSpPr/>
          <p:nvPr/>
        </p:nvSpPr>
        <p:spPr>
          <a:xfrm>
            <a:off x="6629400" y="1984248"/>
            <a:ext cx="4709160" cy="731520"/>
          </a:xfrm>
          <a:prstGeom prst="rect">
            <a:avLst/>
          </a:prstGeom>
          <a:noFill/>
          <a:ln/>
        </p:spPr>
        <p:txBody>
          <a:bodyPr wrap="square" lIns="254" tIns="254" rIns="254" bIns="254" rtlCol="0" anchor="t">
            <a:normAutofit/>
          </a:bodyPr>
          <a:lstStyle/>
          <a:p>
            <a:pPr indent="0" marL="0">
              <a:buNone/>
            </a:pPr>
            <a:r>
              <a:rPr lang="en-US" sz="1330" dirty="0">
                <a:solidFill>
                  <a:srgbClr val="1E293B"/>
                </a:solidFill>
              </a:rPr>
              <a:t>Complex sentences are like combining checkboxes with “and,” “or,” and “if.”</a:t>
            </a:r>
            <a:endParaRPr lang="en-US" sz="1330" dirty="0"/>
          </a:p>
        </p:txBody>
      </p:sp>
      <p:sp>
        <p:nvSpPr>
          <p:cNvPr id="12" name="Shape 10"/>
          <p:cNvSpPr/>
          <p:nvPr/>
        </p:nvSpPr>
        <p:spPr>
          <a:xfrm>
            <a:off x="6446520" y="2999232"/>
            <a:ext cx="5074920" cy="841248"/>
          </a:xfrm>
          <a:prstGeom prst="roundRect">
            <a:avLst>
              <a:gd name="adj" fmla="val 8696"/>
            </a:avLst>
          </a:prstGeom>
          <a:solidFill>
            <a:srgbClr val="FFFFFF">
              <a:alpha val="97000"/>
            </a:srgbClr>
          </a:solidFill>
          <a:ln w="12700">
            <a:solidFill>
              <a:srgbClr val="007C89"/>
            </a:solidFill>
            <a:prstDash val="solid"/>
          </a:ln>
        </p:spPr>
      </p:sp>
      <p:sp>
        <p:nvSpPr>
          <p:cNvPr id="13" name="Text 11"/>
          <p:cNvSpPr/>
          <p:nvPr/>
        </p:nvSpPr>
        <p:spPr>
          <a:xfrm>
            <a:off x="6611112" y="3127248"/>
            <a:ext cx="4745736" cy="658368"/>
          </a:xfrm>
          <a:prstGeom prst="rect">
            <a:avLst/>
          </a:prstGeom>
          <a:noFill/>
          <a:ln/>
        </p:spPr>
        <p:txBody>
          <a:bodyPr wrap="square" lIns="0" tIns="0" rIns="0" bIns="0" rtlCol="0" anchor="ctr">
            <a:normAutofit/>
          </a:bodyPr>
          <a:lstStyle/>
          <a:p>
            <a:pPr algn="ctr" indent="0" marL="0">
              <a:buNone/>
            </a:pPr>
            <a:r>
              <a:rPr lang="en-US" sz="1800" b="1" dirty="0">
                <a:solidFill>
                  <a:srgbClr val="005088"/>
                </a:solidFill>
                <a:latin typeface="Cambria Math" pitchFamily="34" charset="0"/>
                <a:ea typeface="Cambria Math" pitchFamily="34" charset="-122"/>
                <a:cs typeface="Cambria Math" pitchFamily="34" charset="-120"/>
              </a:rPr>
              <a:t>King(John) ∧ ¬King(Richard)</a:t>
            </a:r>
            <a:endParaRPr lang="en-US" sz="1800" dirty="0"/>
          </a:p>
        </p:txBody>
      </p:sp>
      <p:sp>
        <p:nvSpPr>
          <p:cNvPr id="14" name="Shape 12"/>
          <p:cNvSpPr/>
          <p:nvPr/>
        </p:nvSpPr>
        <p:spPr>
          <a:xfrm>
            <a:off x="6446520" y="4041648"/>
            <a:ext cx="5074920" cy="859536"/>
          </a:xfrm>
          <a:prstGeom prst="roundRect">
            <a:avLst>
              <a:gd name="adj" fmla="val 8511"/>
            </a:avLst>
          </a:prstGeom>
          <a:solidFill>
            <a:srgbClr val="FFE4E6"/>
          </a:solidFill>
          <a:ln w="12700">
            <a:solidFill>
              <a:srgbClr val="FDA4AF"/>
            </a:solidFill>
            <a:prstDash val="solid"/>
          </a:ln>
        </p:spPr>
      </p:sp>
      <p:sp>
        <p:nvSpPr>
          <p:cNvPr id="15" name="Text 13"/>
          <p:cNvSpPr/>
          <p:nvPr/>
        </p:nvSpPr>
        <p:spPr>
          <a:xfrm>
            <a:off x="6629400" y="4178808"/>
            <a:ext cx="4709160" cy="219456"/>
          </a:xfrm>
          <a:prstGeom prst="rect">
            <a:avLst/>
          </a:prstGeom>
          <a:noFill/>
          <a:ln/>
        </p:spPr>
        <p:txBody>
          <a:bodyPr wrap="square" lIns="0" tIns="0" rIns="0" bIns="0" rtlCol="0" anchor="ctr"/>
          <a:lstStyle/>
          <a:p>
            <a:pPr indent="0" marL="0">
              <a:buNone/>
            </a:pPr>
            <a:r>
              <a:rPr lang="en-US" sz="950" b="1" dirty="0">
                <a:solidFill>
                  <a:srgbClr val="C1121F"/>
                </a:solidFill>
              </a:rPr>
              <a:t>STUDENT GOTCHA</a:t>
            </a:r>
            <a:endParaRPr lang="en-US" sz="950" dirty="0"/>
          </a:p>
        </p:txBody>
      </p:sp>
      <p:sp>
        <p:nvSpPr>
          <p:cNvPr id="16" name="Text 14"/>
          <p:cNvSpPr/>
          <p:nvPr/>
        </p:nvSpPr>
        <p:spPr>
          <a:xfrm>
            <a:off x="6629400" y="4453128"/>
            <a:ext cx="4709160" cy="356616"/>
          </a:xfrm>
          <a:prstGeom prst="rect">
            <a:avLst/>
          </a:prstGeom>
          <a:noFill/>
          <a:ln/>
        </p:spPr>
        <p:txBody>
          <a:bodyPr wrap="square" lIns="254" tIns="254" rIns="254" bIns="254" rtlCol="0" anchor="t">
            <a:normAutofit/>
          </a:bodyPr>
          <a:lstStyle/>
          <a:p>
            <a:pPr indent="0" marL="0">
              <a:buNone/>
            </a:pPr>
            <a:r>
              <a:rPr lang="en-US" sz="1250" dirty="0">
                <a:solidFill>
                  <a:srgbClr val="1E293B"/>
                </a:solidFill>
              </a:rPr>
              <a:t>The connective does not change what the terms refer to. It only combines truth conditions.</a:t>
            </a:r>
            <a:endParaRPr lang="en-US" sz="1250" dirty="0"/>
          </a:p>
        </p:txBody>
      </p:sp>
      <p:sp>
        <p:nvSpPr>
          <p:cNvPr id="17" name="Shape 15"/>
          <p:cNvSpPr/>
          <p:nvPr/>
        </p:nvSpPr>
        <p:spPr>
          <a:xfrm>
            <a:off x="6446520" y="5074920"/>
            <a:ext cx="5074920" cy="841248"/>
          </a:xfrm>
          <a:prstGeom prst="roundRect">
            <a:avLst>
              <a:gd name="adj" fmla="val 8696"/>
            </a:avLst>
          </a:prstGeom>
          <a:solidFill>
            <a:srgbClr val="E6FFFA"/>
          </a:solidFill>
          <a:ln w="12700">
            <a:solidFill>
              <a:srgbClr val="2A9D8F"/>
            </a:solidFill>
            <a:prstDash val="solid"/>
          </a:ln>
        </p:spPr>
      </p:sp>
      <p:sp>
        <p:nvSpPr>
          <p:cNvPr id="18" name="Text 16"/>
          <p:cNvSpPr/>
          <p:nvPr/>
        </p:nvSpPr>
        <p:spPr>
          <a:xfrm>
            <a:off x="6629400" y="5212080"/>
            <a:ext cx="4709160" cy="219456"/>
          </a:xfrm>
          <a:prstGeom prst="rect">
            <a:avLst/>
          </a:prstGeom>
          <a:noFill/>
          <a:ln/>
        </p:spPr>
        <p:txBody>
          <a:bodyPr wrap="square" lIns="0" tIns="0" rIns="0" bIns="0" rtlCol="0" anchor="ctr"/>
          <a:lstStyle/>
          <a:p>
            <a:pPr indent="0" marL="0">
              <a:buNone/>
            </a:pPr>
            <a:r>
              <a:rPr lang="en-US" sz="950" b="1" dirty="0">
                <a:solidFill>
                  <a:srgbClr val="007C89"/>
                </a:solidFill>
              </a:rPr>
              <a:t>CLASS CHECK</a:t>
            </a:r>
            <a:endParaRPr lang="en-US" sz="950" dirty="0"/>
          </a:p>
        </p:txBody>
      </p:sp>
      <p:sp>
        <p:nvSpPr>
          <p:cNvPr id="19" name="Text 17"/>
          <p:cNvSpPr/>
          <p:nvPr/>
        </p:nvSpPr>
        <p:spPr>
          <a:xfrm>
            <a:off x="6629400" y="5486400"/>
            <a:ext cx="4709160" cy="338328"/>
          </a:xfrm>
          <a:prstGeom prst="rect">
            <a:avLst/>
          </a:prstGeom>
          <a:noFill/>
          <a:ln/>
        </p:spPr>
        <p:txBody>
          <a:bodyPr wrap="square" lIns="254" tIns="254" rIns="254" bIns="254" rtlCol="0" anchor="t">
            <a:normAutofit/>
          </a:bodyPr>
          <a:lstStyle/>
          <a:p>
            <a:pPr indent="0" marL="0">
              <a:buNone/>
            </a:pPr>
            <a:r>
              <a:rPr lang="en-US" sz="1270" dirty="0">
                <a:solidFill>
                  <a:srgbClr val="1E293B"/>
                </a:solidFill>
              </a:rPr>
              <a:t>Ask: What are the two atomic claims inside this sentence?</a:t>
            </a:r>
            <a:endParaRPr lang="en-US" sz="127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5088"/>
          </a:solidFill>
          <a:ln w="12700">
            <a:solidFill>
              <a:srgbClr val="005088"/>
            </a:solidFill>
            <a:prstDash val="solid"/>
          </a:ln>
        </p:spPr>
      </p:sp>
      <p:sp>
        <p:nvSpPr>
          <p:cNvPr id="3" name="Shape 1"/>
          <p:cNvSpPr/>
          <p:nvPr/>
        </p:nvSpPr>
        <p:spPr>
          <a:xfrm>
            <a:off x="0" y="6729984"/>
            <a:ext cx="12191695" cy="128016"/>
          </a:xfrm>
          <a:prstGeom prst="rect">
            <a:avLst/>
          </a:prstGeom>
          <a:solidFill>
            <a:srgbClr val="005088"/>
          </a:solidFill>
          <a:ln w="12700">
            <a:solidFill>
              <a:srgbClr val="005088"/>
            </a:solidFill>
            <a:prstDash val="solid"/>
          </a:ln>
        </p:spPr>
      </p:sp>
      <p:sp>
        <p:nvSpPr>
          <p:cNvPr id="4" name="Text 2"/>
          <p:cNvSpPr/>
          <p:nvPr/>
        </p:nvSpPr>
        <p:spPr>
          <a:xfrm>
            <a:off x="502920" y="210312"/>
            <a:ext cx="6858000" cy="219456"/>
          </a:xfrm>
          <a:prstGeom prst="rect">
            <a:avLst/>
          </a:prstGeom>
          <a:noFill/>
          <a:ln/>
        </p:spPr>
        <p:txBody>
          <a:bodyPr wrap="square" lIns="0" tIns="0" rIns="0" bIns="0" rtlCol="0" anchor="ctr"/>
          <a:lstStyle/>
          <a:p>
            <a:pPr indent="0" marL="0">
              <a:buNone/>
            </a:pPr>
            <a:r>
              <a:rPr lang="en-US" sz="950" b="1" dirty="0">
                <a:solidFill>
                  <a:srgbClr val="3D5A80"/>
                </a:solidFill>
                <a:latin typeface="Aptos" pitchFamily="34" charset="0"/>
                <a:ea typeface="Aptos" pitchFamily="34" charset="-122"/>
                <a:cs typeface="Aptos" pitchFamily="34" charset="-120"/>
              </a:rPr>
              <a:t>8.2.5 Complex sentences</a:t>
            </a:r>
            <a:endParaRPr lang="en-US" sz="950" dirty="0"/>
          </a:p>
        </p:txBody>
      </p:sp>
      <p:sp>
        <p:nvSpPr>
          <p:cNvPr id="5" name="Text 3"/>
          <p:cNvSpPr/>
          <p:nvPr/>
        </p:nvSpPr>
        <p:spPr>
          <a:xfrm>
            <a:off x="11018520" y="201168"/>
            <a:ext cx="640080" cy="228600"/>
          </a:xfrm>
          <a:prstGeom prst="rect">
            <a:avLst/>
          </a:prstGeom>
          <a:noFill/>
          <a:ln/>
        </p:spPr>
        <p:txBody>
          <a:bodyPr wrap="square" lIns="0" tIns="0" rIns="0" bIns="0" rtlCol="0" anchor="ctr"/>
          <a:lstStyle/>
          <a:p>
            <a:pPr algn="r" indent="0" marL="0">
              <a:buNone/>
            </a:pPr>
            <a:r>
              <a:rPr lang="en-US" sz="900" b="1" dirty="0">
                <a:solidFill>
                  <a:srgbClr val="3D5A80"/>
                </a:solidFill>
              </a:rPr>
              <a:t>44</a:t>
            </a:r>
            <a:endParaRPr lang="en-US" sz="900" dirty="0"/>
          </a:p>
        </p:txBody>
      </p:sp>
      <p:sp>
        <p:nvSpPr>
          <p:cNvPr id="6" name="Text 4"/>
          <p:cNvSpPr/>
          <p:nvPr/>
        </p:nvSpPr>
        <p:spPr>
          <a:xfrm>
            <a:off x="502920" y="566928"/>
            <a:ext cx="11201400" cy="512064"/>
          </a:xfrm>
          <a:prstGeom prst="rect">
            <a:avLst/>
          </a:prstGeom>
          <a:noFill/>
          <a:ln/>
        </p:spPr>
        <p:txBody>
          <a:bodyPr wrap="square" lIns="0" tIns="0" rIns="0" bIns="0" rtlCol="0" anchor="ctr">
            <a:normAutofit/>
          </a:bodyPr>
          <a:lstStyle/>
          <a:p>
            <a:pPr indent="0" marL="0">
              <a:buNone/>
            </a:pPr>
            <a:r>
              <a:rPr lang="en-US" sz="2650" b="1" dirty="0">
                <a:solidFill>
                  <a:srgbClr val="005088"/>
                </a:solidFill>
                <a:latin typeface="Aptos Display" pitchFamily="34" charset="0"/>
                <a:ea typeface="Aptos Display" pitchFamily="34" charset="-122"/>
                <a:cs typeface="Aptos Display" pitchFamily="34" charset="-120"/>
              </a:rPr>
              <a:t>BICONDITIONAL MEANS BOTH DIRECTIONS</a:t>
            </a:r>
            <a:endParaRPr lang="en-US" sz="2650" dirty="0"/>
          </a:p>
        </p:txBody>
      </p:sp>
      <p:sp>
        <p:nvSpPr>
          <p:cNvPr id="7" name="Shape 5"/>
          <p:cNvSpPr/>
          <p:nvPr/>
        </p:nvSpPr>
        <p:spPr>
          <a:xfrm>
            <a:off x="502920" y="1188720"/>
            <a:ext cx="11109960" cy="0"/>
          </a:xfrm>
          <a:prstGeom prst="line">
            <a:avLst/>
          </a:prstGeom>
          <a:noFill/>
          <a:ln w="12700">
            <a:solidFill>
              <a:srgbClr val="3D5A80"/>
            </a:solidFill>
            <a:prstDash val="solid"/>
          </a:ln>
        </p:spPr>
      </p:sp>
      <p:sp>
        <p:nvSpPr>
          <p:cNvPr id="8" name="Text 6"/>
          <p:cNvSpPr/>
          <p:nvPr/>
        </p:nvSpPr>
        <p:spPr>
          <a:xfrm>
            <a:off x="713232" y="1572768"/>
            <a:ext cx="5440680" cy="4251960"/>
          </a:xfrm>
          <a:prstGeom prst="rect">
            <a:avLst/>
          </a:prstGeom>
          <a:noFill/>
          <a:ln/>
        </p:spPr>
        <p:txBody>
          <a:bodyPr wrap="square" lIns="1016" tIns="1016" rIns="1016" bIns="1016" rtlCol="0" anchor="t">
            <a:normAutofit/>
          </a:bodyPr>
          <a:lstStyle/>
          <a:p>
            <a:pPr indent="0" marL="0">
              <a:buNone/>
            </a:pPr>
            <a:r>
              <a:rPr lang="en-US" sz="1650" dirty="0">
                <a:solidFill>
                  <a:srgbClr val="1E293B"/>
                </a:solidFill>
                <a:latin typeface="Aptos" pitchFamily="34" charset="0"/>
                <a:ea typeface="Aptos" pitchFamily="34" charset="-122"/>
                <a:cs typeface="Aptos" pitchFamily="34" charset="-120"/>
              </a:rPr>
              <a:t>• A biconditional means “if and only if”</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It supports reasoning from left to right</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It also supports reasoning from right to left</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Use it only when both directions are truly intended</a:t>
            </a:r>
            <a:endParaRPr lang="en-US" sz="1650" dirty="0"/>
          </a:p>
        </p:txBody>
      </p:sp>
      <p:sp>
        <p:nvSpPr>
          <p:cNvPr id="9" name="Shape 7"/>
          <p:cNvSpPr/>
          <p:nvPr/>
        </p:nvSpPr>
        <p:spPr>
          <a:xfrm>
            <a:off x="6446520" y="1572768"/>
            <a:ext cx="5074920" cy="1234440"/>
          </a:xfrm>
          <a:prstGeom prst="roundRect">
            <a:avLst>
              <a:gd name="adj" fmla="val 5926"/>
            </a:avLst>
          </a:prstGeom>
          <a:solidFill>
            <a:srgbClr val="FFF6D9"/>
          </a:solidFill>
          <a:ln w="12700">
            <a:solidFill>
              <a:srgbClr val="F4A261"/>
            </a:solidFill>
            <a:prstDash val="solid"/>
          </a:ln>
        </p:spPr>
      </p:sp>
      <p:sp>
        <p:nvSpPr>
          <p:cNvPr id="10" name="Text 8"/>
          <p:cNvSpPr/>
          <p:nvPr/>
        </p:nvSpPr>
        <p:spPr>
          <a:xfrm>
            <a:off x="6629400" y="1709928"/>
            <a:ext cx="4709160" cy="219456"/>
          </a:xfrm>
          <a:prstGeom prst="rect">
            <a:avLst/>
          </a:prstGeom>
          <a:noFill/>
          <a:ln/>
        </p:spPr>
        <p:txBody>
          <a:bodyPr wrap="square" lIns="0" tIns="0" rIns="0" bIns="0" rtlCol="0" anchor="ctr"/>
          <a:lstStyle/>
          <a:p>
            <a:pPr indent="0" marL="0">
              <a:buNone/>
            </a:pPr>
            <a:r>
              <a:rPr lang="en-US" sz="950" b="1" dirty="0">
                <a:solidFill>
                  <a:srgbClr val="B0005D"/>
                </a:solidFill>
              </a:rPr>
              <a:t>ANALOGY</a:t>
            </a:r>
            <a:endParaRPr lang="en-US" sz="950" dirty="0"/>
          </a:p>
        </p:txBody>
      </p:sp>
      <p:sp>
        <p:nvSpPr>
          <p:cNvPr id="11" name="Text 9"/>
          <p:cNvSpPr/>
          <p:nvPr/>
        </p:nvSpPr>
        <p:spPr>
          <a:xfrm>
            <a:off x="6629400" y="1984248"/>
            <a:ext cx="4709160" cy="731520"/>
          </a:xfrm>
          <a:prstGeom prst="rect">
            <a:avLst/>
          </a:prstGeom>
          <a:noFill/>
          <a:ln/>
        </p:spPr>
        <p:txBody>
          <a:bodyPr wrap="square" lIns="254" tIns="254" rIns="254" bIns="254" rtlCol="0" anchor="t">
            <a:normAutofit/>
          </a:bodyPr>
          <a:lstStyle/>
          <a:p>
            <a:pPr indent="0" marL="0">
              <a:buNone/>
            </a:pPr>
            <a:r>
              <a:rPr lang="en-US" sz="1330" dirty="0">
                <a:solidFill>
                  <a:srgbClr val="1E293B"/>
                </a:solidFill>
              </a:rPr>
              <a:t>“The classroom is open if and only if the instructor unlocks it” says unlocking and being open perfectly match each other.</a:t>
            </a:r>
            <a:endParaRPr lang="en-US" sz="1330" dirty="0"/>
          </a:p>
        </p:txBody>
      </p:sp>
      <p:sp>
        <p:nvSpPr>
          <p:cNvPr id="12" name="Shape 10"/>
          <p:cNvSpPr/>
          <p:nvPr/>
        </p:nvSpPr>
        <p:spPr>
          <a:xfrm>
            <a:off x="6446520" y="2999232"/>
            <a:ext cx="5074920" cy="841248"/>
          </a:xfrm>
          <a:prstGeom prst="roundRect">
            <a:avLst>
              <a:gd name="adj" fmla="val 8696"/>
            </a:avLst>
          </a:prstGeom>
          <a:solidFill>
            <a:srgbClr val="FFFFFF">
              <a:alpha val="97000"/>
            </a:srgbClr>
          </a:solidFill>
          <a:ln w="12700">
            <a:solidFill>
              <a:srgbClr val="007C89"/>
            </a:solidFill>
            <a:prstDash val="solid"/>
          </a:ln>
        </p:spPr>
      </p:sp>
      <p:sp>
        <p:nvSpPr>
          <p:cNvPr id="13" name="Text 11"/>
          <p:cNvSpPr/>
          <p:nvPr/>
        </p:nvSpPr>
        <p:spPr>
          <a:xfrm>
            <a:off x="6611112" y="3127248"/>
            <a:ext cx="4745736" cy="658368"/>
          </a:xfrm>
          <a:prstGeom prst="rect">
            <a:avLst/>
          </a:prstGeom>
          <a:noFill/>
          <a:ln/>
        </p:spPr>
        <p:txBody>
          <a:bodyPr wrap="square" lIns="0" tIns="0" rIns="0" bIns="0" rtlCol="0" anchor="ctr">
            <a:normAutofit/>
          </a:bodyPr>
          <a:lstStyle/>
          <a:p>
            <a:pPr algn="ctr" indent="0" marL="0">
              <a:buNone/>
            </a:pPr>
            <a:r>
              <a:rPr lang="en-US" sz="1800" b="1" dirty="0">
                <a:solidFill>
                  <a:srgbClr val="005088"/>
                </a:solidFill>
                <a:latin typeface="Cambria Math" pitchFamily="34" charset="0"/>
                <a:ea typeface="Cambria Math" pitchFamily="34" charset="-122"/>
                <a:cs typeface="Cambria Math" pitchFamily="34" charset="-120"/>
              </a:rPr>
              <a:t>Breezy(s) ⇔ adjacent pit exists</a:t>
            </a:r>
            <a:endParaRPr lang="en-US" sz="1800" dirty="0"/>
          </a:p>
        </p:txBody>
      </p:sp>
      <p:sp>
        <p:nvSpPr>
          <p:cNvPr id="14" name="Shape 12"/>
          <p:cNvSpPr/>
          <p:nvPr/>
        </p:nvSpPr>
        <p:spPr>
          <a:xfrm>
            <a:off x="6446520" y="4041648"/>
            <a:ext cx="5074920" cy="859536"/>
          </a:xfrm>
          <a:prstGeom prst="roundRect">
            <a:avLst>
              <a:gd name="adj" fmla="val 8511"/>
            </a:avLst>
          </a:prstGeom>
          <a:solidFill>
            <a:srgbClr val="FFE4E6"/>
          </a:solidFill>
          <a:ln w="12700">
            <a:solidFill>
              <a:srgbClr val="FDA4AF"/>
            </a:solidFill>
            <a:prstDash val="solid"/>
          </a:ln>
        </p:spPr>
      </p:sp>
      <p:sp>
        <p:nvSpPr>
          <p:cNvPr id="15" name="Text 13"/>
          <p:cNvSpPr/>
          <p:nvPr/>
        </p:nvSpPr>
        <p:spPr>
          <a:xfrm>
            <a:off x="6629400" y="4178808"/>
            <a:ext cx="4709160" cy="219456"/>
          </a:xfrm>
          <a:prstGeom prst="rect">
            <a:avLst/>
          </a:prstGeom>
          <a:noFill/>
          <a:ln/>
        </p:spPr>
        <p:txBody>
          <a:bodyPr wrap="square" lIns="0" tIns="0" rIns="0" bIns="0" rtlCol="0" anchor="ctr"/>
          <a:lstStyle/>
          <a:p>
            <a:pPr indent="0" marL="0">
              <a:buNone/>
            </a:pPr>
            <a:r>
              <a:rPr lang="en-US" sz="950" b="1" dirty="0">
                <a:solidFill>
                  <a:srgbClr val="C1121F"/>
                </a:solidFill>
              </a:rPr>
              <a:t>STUDENT GOTCHA</a:t>
            </a:r>
            <a:endParaRPr lang="en-US" sz="950" dirty="0"/>
          </a:p>
        </p:txBody>
      </p:sp>
      <p:sp>
        <p:nvSpPr>
          <p:cNvPr id="16" name="Text 14"/>
          <p:cNvSpPr/>
          <p:nvPr/>
        </p:nvSpPr>
        <p:spPr>
          <a:xfrm>
            <a:off x="6629400" y="4453128"/>
            <a:ext cx="4709160" cy="356616"/>
          </a:xfrm>
          <a:prstGeom prst="rect">
            <a:avLst/>
          </a:prstGeom>
          <a:noFill/>
          <a:ln/>
        </p:spPr>
        <p:txBody>
          <a:bodyPr wrap="square" lIns="254" tIns="254" rIns="254" bIns="254" rtlCol="0" anchor="t">
            <a:normAutofit/>
          </a:bodyPr>
          <a:lstStyle/>
          <a:p>
            <a:pPr indent="0" marL="0">
              <a:buNone/>
            </a:pPr>
            <a:r>
              <a:rPr lang="en-US" sz="1250" dirty="0">
                <a:solidFill>
                  <a:srgbClr val="1E293B"/>
                </a:solidFill>
              </a:rPr>
              <a:t>A one-way implication may be too weak for safety reasoning; a false biconditional may be too strong and produce wrong conclusions.</a:t>
            </a:r>
            <a:endParaRPr lang="en-US" sz="1250" dirty="0"/>
          </a:p>
        </p:txBody>
      </p:sp>
      <p:sp>
        <p:nvSpPr>
          <p:cNvPr id="17" name="Shape 15"/>
          <p:cNvSpPr/>
          <p:nvPr/>
        </p:nvSpPr>
        <p:spPr>
          <a:xfrm>
            <a:off x="6446520" y="5074920"/>
            <a:ext cx="5074920" cy="841248"/>
          </a:xfrm>
          <a:prstGeom prst="roundRect">
            <a:avLst>
              <a:gd name="adj" fmla="val 8696"/>
            </a:avLst>
          </a:prstGeom>
          <a:solidFill>
            <a:srgbClr val="E6FFFA"/>
          </a:solidFill>
          <a:ln w="12700">
            <a:solidFill>
              <a:srgbClr val="2A9D8F"/>
            </a:solidFill>
            <a:prstDash val="solid"/>
          </a:ln>
        </p:spPr>
      </p:sp>
      <p:sp>
        <p:nvSpPr>
          <p:cNvPr id="18" name="Text 16"/>
          <p:cNvSpPr/>
          <p:nvPr/>
        </p:nvSpPr>
        <p:spPr>
          <a:xfrm>
            <a:off x="6629400" y="5212080"/>
            <a:ext cx="4709160" cy="219456"/>
          </a:xfrm>
          <a:prstGeom prst="rect">
            <a:avLst/>
          </a:prstGeom>
          <a:noFill/>
          <a:ln/>
        </p:spPr>
        <p:txBody>
          <a:bodyPr wrap="square" lIns="0" tIns="0" rIns="0" bIns="0" rtlCol="0" anchor="ctr"/>
          <a:lstStyle/>
          <a:p>
            <a:pPr indent="0" marL="0">
              <a:buNone/>
            </a:pPr>
            <a:r>
              <a:rPr lang="en-US" sz="950" b="1" dirty="0">
                <a:solidFill>
                  <a:srgbClr val="007C89"/>
                </a:solidFill>
              </a:rPr>
              <a:t>CLASS CHECK</a:t>
            </a:r>
            <a:endParaRPr lang="en-US" sz="950" dirty="0"/>
          </a:p>
        </p:txBody>
      </p:sp>
      <p:sp>
        <p:nvSpPr>
          <p:cNvPr id="19" name="Text 17"/>
          <p:cNvSpPr/>
          <p:nvPr/>
        </p:nvSpPr>
        <p:spPr>
          <a:xfrm>
            <a:off x="6629400" y="5486400"/>
            <a:ext cx="4709160" cy="338328"/>
          </a:xfrm>
          <a:prstGeom prst="rect">
            <a:avLst/>
          </a:prstGeom>
          <a:noFill/>
          <a:ln/>
        </p:spPr>
        <p:txBody>
          <a:bodyPr wrap="square" lIns="254" tIns="254" rIns="254" bIns="254" rtlCol="0" anchor="t">
            <a:normAutofit/>
          </a:bodyPr>
          <a:lstStyle/>
          <a:p>
            <a:pPr indent="0" marL="0">
              <a:buNone/>
            </a:pPr>
            <a:r>
              <a:rPr lang="en-US" sz="1270" dirty="0">
                <a:solidFill>
                  <a:srgbClr val="1E293B"/>
                </a:solidFill>
              </a:rPr>
              <a:t>Ask: Does smoke imply fire? Does fire always imply smoke?</a:t>
            </a:r>
            <a:endParaRPr lang="en-US" sz="127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5088"/>
          </a:solidFill>
          <a:ln w="12700">
            <a:solidFill>
              <a:srgbClr val="005088"/>
            </a:solidFill>
            <a:prstDash val="solid"/>
          </a:ln>
        </p:spPr>
      </p:sp>
      <p:sp>
        <p:nvSpPr>
          <p:cNvPr id="3" name="Shape 1"/>
          <p:cNvSpPr/>
          <p:nvPr/>
        </p:nvSpPr>
        <p:spPr>
          <a:xfrm>
            <a:off x="0" y="6729984"/>
            <a:ext cx="12191695" cy="128016"/>
          </a:xfrm>
          <a:prstGeom prst="rect">
            <a:avLst/>
          </a:prstGeom>
          <a:solidFill>
            <a:srgbClr val="005088"/>
          </a:solidFill>
          <a:ln w="12700">
            <a:solidFill>
              <a:srgbClr val="005088"/>
            </a:solidFill>
            <a:prstDash val="solid"/>
          </a:ln>
        </p:spPr>
      </p:sp>
      <p:sp>
        <p:nvSpPr>
          <p:cNvPr id="4" name="Text 2"/>
          <p:cNvSpPr/>
          <p:nvPr/>
        </p:nvSpPr>
        <p:spPr>
          <a:xfrm>
            <a:off x="502920" y="210312"/>
            <a:ext cx="6858000" cy="219456"/>
          </a:xfrm>
          <a:prstGeom prst="rect">
            <a:avLst/>
          </a:prstGeom>
          <a:noFill/>
          <a:ln/>
        </p:spPr>
        <p:txBody>
          <a:bodyPr wrap="square" lIns="0" tIns="0" rIns="0" bIns="0" rtlCol="0" anchor="ctr"/>
          <a:lstStyle/>
          <a:p>
            <a:pPr indent="0" marL="0">
              <a:buNone/>
            </a:pPr>
            <a:r>
              <a:rPr lang="en-US" sz="950" b="1" dirty="0">
                <a:solidFill>
                  <a:srgbClr val="3D5A80"/>
                </a:solidFill>
                <a:latin typeface="Aptos" pitchFamily="34" charset="0"/>
                <a:ea typeface="Aptos" pitchFamily="34" charset="-122"/>
                <a:cs typeface="Aptos" pitchFamily="34" charset="-120"/>
              </a:rPr>
              <a:t>8.2.2 Symbols and interpretations</a:t>
            </a:r>
            <a:endParaRPr lang="en-US" sz="950" dirty="0"/>
          </a:p>
        </p:txBody>
      </p:sp>
      <p:sp>
        <p:nvSpPr>
          <p:cNvPr id="5" name="Text 3"/>
          <p:cNvSpPr/>
          <p:nvPr/>
        </p:nvSpPr>
        <p:spPr>
          <a:xfrm>
            <a:off x="11018520" y="201168"/>
            <a:ext cx="640080" cy="228600"/>
          </a:xfrm>
          <a:prstGeom prst="rect">
            <a:avLst/>
          </a:prstGeom>
          <a:noFill/>
          <a:ln/>
        </p:spPr>
        <p:txBody>
          <a:bodyPr wrap="square" lIns="0" tIns="0" rIns="0" bIns="0" rtlCol="0" anchor="ctr"/>
          <a:lstStyle/>
          <a:p>
            <a:pPr algn="r" indent="0" marL="0">
              <a:buNone/>
            </a:pPr>
            <a:r>
              <a:rPr lang="en-US" sz="900" b="1" dirty="0">
                <a:solidFill>
                  <a:srgbClr val="3D5A80"/>
                </a:solidFill>
              </a:rPr>
              <a:t>45</a:t>
            </a:r>
            <a:endParaRPr lang="en-US" sz="900" dirty="0"/>
          </a:p>
        </p:txBody>
      </p:sp>
      <p:sp>
        <p:nvSpPr>
          <p:cNvPr id="6" name="Text 4"/>
          <p:cNvSpPr/>
          <p:nvPr/>
        </p:nvSpPr>
        <p:spPr>
          <a:xfrm>
            <a:off x="502920" y="566928"/>
            <a:ext cx="11201400" cy="512064"/>
          </a:xfrm>
          <a:prstGeom prst="rect">
            <a:avLst/>
          </a:prstGeom>
          <a:noFill/>
          <a:ln/>
        </p:spPr>
        <p:txBody>
          <a:bodyPr wrap="square" lIns="0" tIns="0" rIns="0" bIns="0" rtlCol="0" anchor="ctr">
            <a:normAutofit/>
          </a:bodyPr>
          <a:lstStyle/>
          <a:p>
            <a:pPr indent="0" marL="0">
              <a:buNone/>
            </a:pPr>
            <a:r>
              <a:rPr lang="en-US" sz="2650" b="1" dirty="0">
                <a:solidFill>
                  <a:srgbClr val="005088"/>
                </a:solidFill>
                <a:latin typeface="Aptos Display" pitchFamily="34" charset="0"/>
                <a:ea typeface="Aptos Display" pitchFamily="34" charset="-122"/>
                <a:cs typeface="Aptos Display" pitchFamily="34" charset="-120"/>
              </a:rPr>
              <a:t>MANY POSSIBLE MODELS</a:t>
            </a:r>
            <a:endParaRPr lang="en-US" sz="2650" dirty="0"/>
          </a:p>
        </p:txBody>
      </p:sp>
      <p:sp>
        <p:nvSpPr>
          <p:cNvPr id="7" name="Shape 5"/>
          <p:cNvSpPr/>
          <p:nvPr/>
        </p:nvSpPr>
        <p:spPr>
          <a:xfrm>
            <a:off x="502920" y="1188720"/>
            <a:ext cx="11109960" cy="0"/>
          </a:xfrm>
          <a:prstGeom prst="line">
            <a:avLst/>
          </a:prstGeom>
          <a:noFill/>
          <a:ln w="12700">
            <a:solidFill>
              <a:srgbClr val="3D5A80"/>
            </a:solidFill>
            <a:prstDash val="solid"/>
          </a:ln>
        </p:spPr>
      </p:sp>
      <p:sp>
        <p:nvSpPr>
          <p:cNvPr id="8" name="Text 6"/>
          <p:cNvSpPr/>
          <p:nvPr/>
        </p:nvSpPr>
        <p:spPr>
          <a:xfrm>
            <a:off x="685800" y="1536192"/>
            <a:ext cx="5074920" cy="4251960"/>
          </a:xfrm>
          <a:prstGeom prst="rect">
            <a:avLst/>
          </a:prstGeom>
          <a:noFill/>
          <a:ln/>
        </p:spPr>
        <p:txBody>
          <a:bodyPr wrap="square" lIns="1016" tIns="1016" rIns="1016" bIns="1016" rtlCol="0" anchor="t">
            <a:normAutofit/>
          </a:bodyPr>
          <a:lstStyle/>
          <a:p>
            <a:pPr indent="0" marL="0">
              <a:buNone/>
            </a:pPr>
            <a:r>
              <a:rPr lang="en-US" sz="1580" dirty="0">
                <a:solidFill>
                  <a:srgbClr val="1E293B"/>
                </a:solidFill>
                <a:latin typeface="Aptos" pitchFamily="34" charset="0"/>
                <a:ea typeface="Aptos" pitchFamily="34" charset="-122"/>
                <a:cs typeface="Aptos" pitchFamily="34" charset="-120"/>
              </a:rPr>
              <a:t>• The same vocabulary can describe many worlds</a:t>
            </a:r>
            <a:endParaRPr lang="en-US" sz="1580" dirty="0"/>
          </a:p>
          <a:p>
            <a:pPr indent="0" marL="0">
              <a:buNone/>
            </a:pPr>
            <a:r>
              <a:rPr lang="en-US" sz="1580" dirty="0">
                <a:solidFill>
                  <a:srgbClr val="1E293B"/>
                </a:solidFill>
                <a:latin typeface="Aptos" pitchFamily="34" charset="0"/>
                <a:ea typeface="Aptos" pitchFamily="34" charset="-122"/>
                <a:cs typeface="Aptos" pitchFamily="34" charset="-120"/>
              </a:rPr>
              <a:t>• Constants may map to objects in different ways</a:t>
            </a:r>
            <a:endParaRPr lang="en-US" sz="1580" dirty="0"/>
          </a:p>
          <a:p>
            <a:pPr indent="0" marL="0">
              <a:buNone/>
            </a:pPr>
            <a:r>
              <a:rPr lang="en-US" sz="1580" dirty="0">
                <a:solidFill>
                  <a:srgbClr val="1E293B"/>
                </a:solidFill>
                <a:latin typeface="Aptos" pitchFamily="34" charset="0"/>
                <a:ea typeface="Aptos" pitchFamily="34" charset="-122"/>
                <a:cs typeface="Aptos" pitchFamily="34" charset="-120"/>
              </a:rPr>
              <a:t>• Relations may contain different tuples</a:t>
            </a:r>
            <a:endParaRPr lang="en-US" sz="1580" dirty="0"/>
          </a:p>
          <a:p>
            <a:pPr indent="0" marL="0">
              <a:buNone/>
            </a:pPr>
            <a:r>
              <a:rPr lang="en-US" sz="1580" dirty="0">
                <a:solidFill>
                  <a:srgbClr val="1E293B"/>
                </a:solidFill>
                <a:latin typeface="Aptos" pitchFamily="34" charset="0"/>
                <a:ea typeface="Aptos" pitchFamily="34" charset="-122"/>
                <a:cs typeface="Aptos" pitchFamily="34" charset="-120"/>
              </a:rPr>
              <a:t>• Entailment must hold across all models allowed by the knowledge base</a:t>
            </a:r>
            <a:endParaRPr lang="en-US" sz="1580" dirty="0"/>
          </a:p>
        </p:txBody>
      </p:sp>
      <p:sp>
        <p:nvSpPr>
          <p:cNvPr id="9" name="Shape 7"/>
          <p:cNvSpPr/>
          <p:nvPr/>
        </p:nvSpPr>
        <p:spPr>
          <a:xfrm>
            <a:off x="6044184" y="1472184"/>
            <a:ext cx="5513832" cy="4050792"/>
          </a:xfrm>
          <a:prstGeom prst="roundRect">
            <a:avLst>
              <a:gd name="adj" fmla="val 1580"/>
            </a:avLst>
          </a:prstGeom>
          <a:solidFill>
            <a:srgbClr val="FFFFFF"/>
          </a:solidFill>
          <a:ln w="12700">
            <a:solidFill>
              <a:srgbClr val="CBD5E1"/>
            </a:solidFill>
            <a:prstDash val="solid"/>
          </a:ln>
        </p:spPr>
      </p:sp>
      <p:pic>
        <p:nvPicPr>
          <p:cNvPr id="10" name="Image 0" descr="/mnt/data/ch8_ppt_assets/fig8_4_models.png">    </p:cNvPr>
          <p:cNvPicPr>
            <a:picLocks noChangeAspect="1"/>
          </p:cNvPicPr>
          <p:nvPr/>
        </p:nvPicPr>
        <p:blipFill>
          <a:blip r:embed="rId1"/>
          <a:stretch>
            <a:fillRect/>
          </a:stretch>
        </p:blipFill>
        <p:spPr>
          <a:xfrm>
            <a:off x="6080760" y="2621317"/>
            <a:ext cx="5440680" cy="1752527"/>
          </a:xfrm>
          <a:prstGeom prst="rect">
            <a:avLst/>
          </a:prstGeom>
        </p:spPr>
      </p:pic>
      <p:sp>
        <p:nvSpPr>
          <p:cNvPr id="11" name="Text 8"/>
          <p:cNvSpPr/>
          <p:nvPr/>
        </p:nvSpPr>
        <p:spPr>
          <a:xfrm>
            <a:off x="6080760" y="5559552"/>
            <a:ext cx="5440680" cy="320040"/>
          </a:xfrm>
          <a:prstGeom prst="rect">
            <a:avLst/>
          </a:prstGeom>
          <a:noFill/>
          <a:ln/>
        </p:spPr>
        <p:txBody>
          <a:bodyPr wrap="square" lIns="0" tIns="0" rIns="0" bIns="0" rtlCol="0" anchor="ctr">
            <a:normAutofit/>
          </a:bodyPr>
          <a:lstStyle/>
          <a:p>
            <a:pPr indent="0" marL="0">
              <a:buNone/>
            </a:pPr>
            <a:r>
              <a:rPr lang="en-US" sz="1030" i="1" dirty="0">
                <a:solidFill>
                  <a:srgbClr val="64748B"/>
                </a:solidFill>
              </a:rPr>
              <a:t>Figure 8.4: some models for two constant symbols and one binary relation symbol.</a:t>
            </a:r>
            <a:endParaRPr lang="en-US" sz="103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5088"/>
          </a:solidFill>
          <a:ln w="12700">
            <a:solidFill>
              <a:srgbClr val="005088"/>
            </a:solidFill>
            <a:prstDash val="solid"/>
          </a:ln>
        </p:spPr>
      </p:sp>
      <p:sp>
        <p:nvSpPr>
          <p:cNvPr id="3" name="Shape 1"/>
          <p:cNvSpPr/>
          <p:nvPr/>
        </p:nvSpPr>
        <p:spPr>
          <a:xfrm>
            <a:off x="0" y="6729984"/>
            <a:ext cx="12191695" cy="128016"/>
          </a:xfrm>
          <a:prstGeom prst="rect">
            <a:avLst/>
          </a:prstGeom>
          <a:solidFill>
            <a:srgbClr val="005088"/>
          </a:solidFill>
          <a:ln w="12700">
            <a:solidFill>
              <a:srgbClr val="005088"/>
            </a:solidFill>
            <a:prstDash val="solid"/>
          </a:ln>
        </p:spPr>
      </p:sp>
      <p:sp>
        <p:nvSpPr>
          <p:cNvPr id="4" name="Text 2"/>
          <p:cNvSpPr/>
          <p:nvPr/>
        </p:nvSpPr>
        <p:spPr>
          <a:xfrm>
            <a:off x="502920" y="210312"/>
            <a:ext cx="6858000" cy="219456"/>
          </a:xfrm>
          <a:prstGeom prst="rect">
            <a:avLst/>
          </a:prstGeom>
          <a:noFill/>
          <a:ln/>
        </p:spPr>
        <p:txBody>
          <a:bodyPr wrap="square" lIns="0" tIns="0" rIns="0" bIns="0" rtlCol="0" anchor="ctr"/>
          <a:lstStyle/>
          <a:p>
            <a:pPr indent="0" marL="0">
              <a:buNone/>
            </a:pPr>
            <a:r>
              <a:rPr lang="en-US" sz="950" b="1" dirty="0">
                <a:solidFill>
                  <a:srgbClr val="3D5A80"/>
                </a:solidFill>
                <a:latin typeface="Aptos" pitchFamily="34" charset="0"/>
                <a:ea typeface="Aptos" pitchFamily="34" charset="-122"/>
                <a:cs typeface="Aptos" pitchFamily="34" charset="-120"/>
              </a:rPr>
              <a:t>8.2.2 Symbols and interpretations</a:t>
            </a:r>
            <a:endParaRPr lang="en-US" sz="950" dirty="0"/>
          </a:p>
        </p:txBody>
      </p:sp>
      <p:sp>
        <p:nvSpPr>
          <p:cNvPr id="5" name="Text 3"/>
          <p:cNvSpPr/>
          <p:nvPr/>
        </p:nvSpPr>
        <p:spPr>
          <a:xfrm>
            <a:off x="11018520" y="201168"/>
            <a:ext cx="640080" cy="228600"/>
          </a:xfrm>
          <a:prstGeom prst="rect">
            <a:avLst/>
          </a:prstGeom>
          <a:noFill/>
          <a:ln/>
        </p:spPr>
        <p:txBody>
          <a:bodyPr wrap="square" lIns="0" tIns="0" rIns="0" bIns="0" rtlCol="0" anchor="ctr"/>
          <a:lstStyle/>
          <a:p>
            <a:pPr algn="r" indent="0" marL="0">
              <a:buNone/>
            </a:pPr>
            <a:r>
              <a:rPr lang="en-US" sz="900" b="1" dirty="0">
                <a:solidFill>
                  <a:srgbClr val="3D5A80"/>
                </a:solidFill>
              </a:rPr>
              <a:t>46</a:t>
            </a:r>
            <a:endParaRPr lang="en-US" sz="900" dirty="0"/>
          </a:p>
        </p:txBody>
      </p:sp>
      <p:sp>
        <p:nvSpPr>
          <p:cNvPr id="6" name="Text 4"/>
          <p:cNvSpPr/>
          <p:nvPr/>
        </p:nvSpPr>
        <p:spPr>
          <a:xfrm>
            <a:off x="502920" y="566928"/>
            <a:ext cx="11201400" cy="512064"/>
          </a:xfrm>
          <a:prstGeom prst="rect">
            <a:avLst/>
          </a:prstGeom>
          <a:noFill/>
          <a:ln/>
        </p:spPr>
        <p:txBody>
          <a:bodyPr wrap="square" lIns="0" tIns="0" rIns="0" bIns="0" rtlCol="0" anchor="ctr">
            <a:normAutofit/>
          </a:bodyPr>
          <a:lstStyle/>
          <a:p>
            <a:pPr indent="0" marL="0">
              <a:buNone/>
            </a:pPr>
            <a:r>
              <a:rPr lang="en-US" sz="2650" b="1" dirty="0">
                <a:solidFill>
                  <a:srgbClr val="005088"/>
                </a:solidFill>
                <a:latin typeface="Aptos Display" pitchFamily="34" charset="0"/>
                <a:ea typeface="Aptos Display" pitchFamily="34" charset="-122"/>
                <a:cs typeface="Aptos Display" pitchFamily="34" charset="-120"/>
              </a:rPr>
              <a:t>WHY MODEL ENUMERATION BREAKS DOWN</a:t>
            </a:r>
            <a:endParaRPr lang="en-US" sz="2650" dirty="0"/>
          </a:p>
        </p:txBody>
      </p:sp>
      <p:sp>
        <p:nvSpPr>
          <p:cNvPr id="7" name="Shape 5"/>
          <p:cNvSpPr/>
          <p:nvPr/>
        </p:nvSpPr>
        <p:spPr>
          <a:xfrm>
            <a:off x="502920" y="1188720"/>
            <a:ext cx="11109960" cy="0"/>
          </a:xfrm>
          <a:prstGeom prst="line">
            <a:avLst/>
          </a:prstGeom>
          <a:noFill/>
          <a:ln w="12700">
            <a:solidFill>
              <a:srgbClr val="3D5A80"/>
            </a:solidFill>
            <a:prstDash val="solid"/>
          </a:ln>
        </p:spPr>
      </p:sp>
      <p:sp>
        <p:nvSpPr>
          <p:cNvPr id="8" name="Text 6"/>
          <p:cNvSpPr/>
          <p:nvPr/>
        </p:nvSpPr>
        <p:spPr>
          <a:xfrm>
            <a:off x="713232" y="1572768"/>
            <a:ext cx="5440680" cy="4251960"/>
          </a:xfrm>
          <a:prstGeom prst="rect">
            <a:avLst/>
          </a:prstGeom>
          <a:noFill/>
          <a:ln/>
        </p:spPr>
        <p:txBody>
          <a:bodyPr wrap="square" lIns="1016" tIns="1016" rIns="1016" bIns="1016" rtlCol="0" anchor="t">
            <a:normAutofit/>
          </a:bodyPr>
          <a:lstStyle/>
          <a:p>
            <a:pPr indent="0" marL="0">
              <a:buNone/>
            </a:pPr>
            <a:r>
              <a:rPr lang="en-US" sz="1650" dirty="0">
                <a:solidFill>
                  <a:srgbClr val="1E293B"/>
                </a:solidFill>
                <a:latin typeface="Aptos" pitchFamily="34" charset="0"/>
                <a:ea typeface="Aptos" pitchFamily="34" charset="-122"/>
                <a:cs typeface="Aptos" pitchFamily="34" charset="-120"/>
              </a:rPr>
              <a:t>• Propositional logic has finitely many models for a fixed vocabulary</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First-order logic models can have any nonzero domain size</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Interpretations of constants, predicates, and functions multiply quickly</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General first-order entailment needs more than enumeration</a:t>
            </a:r>
            <a:endParaRPr lang="en-US" sz="1650" dirty="0"/>
          </a:p>
        </p:txBody>
      </p:sp>
      <p:sp>
        <p:nvSpPr>
          <p:cNvPr id="9" name="Shape 7"/>
          <p:cNvSpPr/>
          <p:nvPr/>
        </p:nvSpPr>
        <p:spPr>
          <a:xfrm>
            <a:off x="6446520" y="1572768"/>
            <a:ext cx="5074920" cy="1234440"/>
          </a:xfrm>
          <a:prstGeom prst="roundRect">
            <a:avLst>
              <a:gd name="adj" fmla="val 5926"/>
            </a:avLst>
          </a:prstGeom>
          <a:solidFill>
            <a:srgbClr val="FFF6D9"/>
          </a:solidFill>
          <a:ln w="12700">
            <a:solidFill>
              <a:srgbClr val="F4A261"/>
            </a:solidFill>
            <a:prstDash val="solid"/>
          </a:ln>
        </p:spPr>
      </p:sp>
      <p:sp>
        <p:nvSpPr>
          <p:cNvPr id="10" name="Text 8"/>
          <p:cNvSpPr/>
          <p:nvPr/>
        </p:nvSpPr>
        <p:spPr>
          <a:xfrm>
            <a:off x="6629400" y="1709928"/>
            <a:ext cx="4709160" cy="219456"/>
          </a:xfrm>
          <a:prstGeom prst="rect">
            <a:avLst/>
          </a:prstGeom>
          <a:noFill/>
          <a:ln/>
        </p:spPr>
        <p:txBody>
          <a:bodyPr wrap="square" lIns="0" tIns="0" rIns="0" bIns="0" rtlCol="0" anchor="ctr"/>
          <a:lstStyle/>
          <a:p>
            <a:pPr indent="0" marL="0">
              <a:buNone/>
            </a:pPr>
            <a:r>
              <a:rPr lang="en-US" sz="950" b="1" dirty="0">
                <a:solidFill>
                  <a:srgbClr val="B0005D"/>
                </a:solidFill>
              </a:rPr>
              <a:t>ANALOGY</a:t>
            </a:r>
            <a:endParaRPr lang="en-US" sz="950" dirty="0"/>
          </a:p>
        </p:txBody>
      </p:sp>
      <p:sp>
        <p:nvSpPr>
          <p:cNvPr id="11" name="Text 9"/>
          <p:cNvSpPr/>
          <p:nvPr/>
        </p:nvSpPr>
        <p:spPr>
          <a:xfrm>
            <a:off x="6629400" y="1984248"/>
            <a:ext cx="4709160" cy="731520"/>
          </a:xfrm>
          <a:prstGeom prst="rect">
            <a:avLst/>
          </a:prstGeom>
          <a:noFill/>
          <a:ln/>
        </p:spPr>
        <p:txBody>
          <a:bodyPr wrap="square" lIns="254" tIns="254" rIns="254" bIns="254" rtlCol="0" anchor="t">
            <a:normAutofit/>
          </a:bodyPr>
          <a:lstStyle/>
          <a:p>
            <a:pPr indent="0" marL="0">
              <a:buNone/>
            </a:pPr>
            <a:r>
              <a:rPr lang="en-US" sz="1330" dirty="0">
                <a:solidFill>
                  <a:srgbClr val="1E293B"/>
                </a:solidFill>
              </a:rPr>
              <a:t>Checking every possible seating chart for a class is hard. Checking every possible class size and every possible relationship among students is far harder.</a:t>
            </a:r>
            <a:endParaRPr lang="en-US" sz="1330" dirty="0"/>
          </a:p>
        </p:txBody>
      </p:sp>
      <p:sp>
        <p:nvSpPr>
          <p:cNvPr id="12" name="Shape 10"/>
          <p:cNvSpPr/>
          <p:nvPr/>
        </p:nvSpPr>
        <p:spPr>
          <a:xfrm>
            <a:off x="6446520" y="2999232"/>
            <a:ext cx="5074920" cy="841248"/>
          </a:xfrm>
          <a:prstGeom prst="roundRect">
            <a:avLst>
              <a:gd name="adj" fmla="val 8696"/>
            </a:avLst>
          </a:prstGeom>
          <a:solidFill>
            <a:srgbClr val="FFFFFF">
              <a:alpha val="97000"/>
            </a:srgbClr>
          </a:solidFill>
          <a:ln w="12700">
            <a:solidFill>
              <a:srgbClr val="007C89"/>
            </a:solidFill>
            <a:prstDash val="solid"/>
          </a:ln>
        </p:spPr>
      </p:sp>
      <p:sp>
        <p:nvSpPr>
          <p:cNvPr id="13" name="Text 11"/>
          <p:cNvSpPr/>
          <p:nvPr/>
        </p:nvSpPr>
        <p:spPr>
          <a:xfrm>
            <a:off x="6611112" y="3127248"/>
            <a:ext cx="4745736" cy="658368"/>
          </a:xfrm>
          <a:prstGeom prst="rect">
            <a:avLst/>
          </a:prstGeom>
          <a:noFill/>
          <a:ln/>
        </p:spPr>
        <p:txBody>
          <a:bodyPr wrap="square" lIns="0" tIns="0" rIns="0" bIns="0" rtlCol="0" anchor="ctr">
            <a:normAutofit/>
          </a:bodyPr>
          <a:lstStyle/>
          <a:p>
            <a:pPr algn="ctr" indent="0" marL="0">
              <a:buNone/>
            </a:pPr>
            <a:r>
              <a:rPr lang="en-US" sz="1700" b="1" dirty="0">
                <a:solidFill>
                  <a:srgbClr val="005088"/>
                </a:solidFill>
                <a:latin typeface="Cambria Math" pitchFamily="34" charset="0"/>
                <a:ea typeface="Cambria Math" pitchFamily="34" charset="-122"/>
                <a:cs typeface="Cambria Math" pitchFamily="34" charset="-120"/>
              </a:rPr>
              <a:t>unbounded domains → no simple truth table</a:t>
            </a:r>
            <a:endParaRPr lang="en-US" sz="1700" dirty="0"/>
          </a:p>
        </p:txBody>
      </p:sp>
      <p:sp>
        <p:nvSpPr>
          <p:cNvPr id="14" name="Shape 12"/>
          <p:cNvSpPr/>
          <p:nvPr/>
        </p:nvSpPr>
        <p:spPr>
          <a:xfrm>
            <a:off x="6446520" y="4041648"/>
            <a:ext cx="5074920" cy="859536"/>
          </a:xfrm>
          <a:prstGeom prst="roundRect">
            <a:avLst>
              <a:gd name="adj" fmla="val 8511"/>
            </a:avLst>
          </a:prstGeom>
          <a:solidFill>
            <a:srgbClr val="FFE4E6"/>
          </a:solidFill>
          <a:ln w="12700">
            <a:solidFill>
              <a:srgbClr val="FDA4AF"/>
            </a:solidFill>
            <a:prstDash val="solid"/>
          </a:ln>
        </p:spPr>
      </p:sp>
      <p:sp>
        <p:nvSpPr>
          <p:cNvPr id="15" name="Text 13"/>
          <p:cNvSpPr/>
          <p:nvPr/>
        </p:nvSpPr>
        <p:spPr>
          <a:xfrm>
            <a:off x="6629400" y="4178808"/>
            <a:ext cx="4709160" cy="219456"/>
          </a:xfrm>
          <a:prstGeom prst="rect">
            <a:avLst/>
          </a:prstGeom>
          <a:noFill/>
          <a:ln/>
        </p:spPr>
        <p:txBody>
          <a:bodyPr wrap="square" lIns="0" tIns="0" rIns="0" bIns="0" rtlCol="0" anchor="ctr"/>
          <a:lstStyle/>
          <a:p>
            <a:pPr indent="0" marL="0">
              <a:buNone/>
            </a:pPr>
            <a:r>
              <a:rPr lang="en-US" sz="950" b="1" dirty="0">
                <a:solidFill>
                  <a:srgbClr val="C1121F"/>
                </a:solidFill>
              </a:rPr>
              <a:t>STUDENT GOTCHA</a:t>
            </a:r>
            <a:endParaRPr lang="en-US" sz="950" dirty="0"/>
          </a:p>
        </p:txBody>
      </p:sp>
      <p:sp>
        <p:nvSpPr>
          <p:cNvPr id="16" name="Text 14"/>
          <p:cNvSpPr/>
          <p:nvPr/>
        </p:nvSpPr>
        <p:spPr>
          <a:xfrm>
            <a:off x="6629400" y="4453128"/>
            <a:ext cx="4709160" cy="356616"/>
          </a:xfrm>
          <a:prstGeom prst="rect">
            <a:avLst/>
          </a:prstGeom>
          <a:noFill/>
          <a:ln/>
        </p:spPr>
        <p:txBody>
          <a:bodyPr wrap="square" lIns="254" tIns="254" rIns="254" bIns="254" rtlCol="0" anchor="t">
            <a:normAutofit/>
          </a:bodyPr>
          <a:lstStyle/>
          <a:p>
            <a:pPr indent="0" marL="0">
              <a:buNone/>
            </a:pPr>
            <a:r>
              <a:rPr lang="en-US" sz="1250" dirty="0">
                <a:solidFill>
                  <a:srgbClr val="1E293B"/>
                </a:solidFill>
              </a:rPr>
              <a:t>First-order logic is more expressive, but expressiveness increases the cost of reasoning.</a:t>
            </a:r>
            <a:endParaRPr lang="en-US" sz="1250" dirty="0"/>
          </a:p>
        </p:txBody>
      </p:sp>
      <p:sp>
        <p:nvSpPr>
          <p:cNvPr id="17" name="Shape 15"/>
          <p:cNvSpPr/>
          <p:nvPr/>
        </p:nvSpPr>
        <p:spPr>
          <a:xfrm>
            <a:off x="6446520" y="5074920"/>
            <a:ext cx="5074920" cy="841248"/>
          </a:xfrm>
          <a:prstGeom prst="roundRect">
            <a:avLst>
              <a:gd name="adj" fmla="val 8696"/>
            </a:avLst>
          </a:prstGeom>
          <a:solidFill>
            <a:srgbClr val="E6FFFA"/>
          </a:solidFill>
          <a:ln w="12700">
            <a:solidFill>
              <a:srgbClr val="2A9D8F"/>
            </a:solidFill>
            <a:prstDash val="solid"/>
          </a:ln>
        </p:spPr>
      </p:sp>
      <p:sp>
        <p:nvSpPr>
          <p:cNvPr id="18" name="Text 16"/>
          <p:cNvSpPr/>
          <p:nvPr/>
        </p:nvSpPr>
        <p:spPr>
          <a:xfrm>
            <a:off x="6629400" y="5212080"/>
            <a:ext cx="4709160" cy="219456"/>
          </a:xfrm>
          <a:prstGeom prst="rect">
            <a:avLst/>
          </a:prstGeom>
          <a:noFill/>
          <a:ln/>
        </p:spPr>
        <p:txBody>
          <a:bodyPr wrap="square" lIns="0" tIns="0" rIns="0" bIns="0" rtlCol="0" anchor="ctr"/>
          <a:lstStyle/>
          <a:p>
            <a:pPr indent="0" marL="0">
              <a:buNone/>
            </a:pPr>
            <a:r>
              <a:rPr lang="en-US" sz="950" b="1" dirty="0">
                <a:solidFill>
                  <a:srgbClr val="007C89"/>
                </a:solidFill>
              </a:rPr>
              <a:t>CLASS CHECK</a:t>
            </a:r>
            <a:endParaRPr lang="en-US" sz="950" dirty="0"/>
          </a:p>
        </p:txBody>
      </p:sp>
      <p:sp>
        <p:nvSpPr>
          <p:cNvPr id="19" name="Text 17"/>
          <p:cNvSpPr/>
          <p:nvPr/>
        </p:nvSpPr>
        <p:spPr>
          <a:xfrm>
            <a:off x="6629400" y="5486400"/>
            <a:ext cx="4709160" cy="338328"/>
          </a:xfrm>
          <a:prstGeom prst="rect">
            <a:avLst/>
          </a:prstGeom>
          <a:noFill/>
          <a:ln/>
        </p:spPr>
        <p:txBody>
          <a:bodyPr wrap="square" lIns="254" tIns="254" rIns="254" bIns="254" rtlCol="0" anchor="t">
            <a:normAutofit/>
          </a:bodyPr>
          <a:lstStyle/>
          <a:p>
            <a:pPr indent="0" marL="0">
              <a:buNone/>
            </a:pPr>
            <a:r>
              <a:rPr lang="en-US" sz="1270" dirty="0">
                <a:solidFill>
                  <a:srgbClr val="1E293B"/>
                </a:solidFill>
              </a:rPr>
              <a:t>Ask: Why does adding objects make the number of possible worlds explode?</a:t>
            </a:r>
            <a:endParaRPr lang="en-US" sz="127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05088"/>
        </a:solidFill>
      </p:bgPr>
    </p:bg>
    <p:spTree>
      <p:nvGrpSpPr>
        <p:cNvPr id="1" name=""/>
        <p:cNvGrpSpPr/>
        <p:nvPr/>
      </p:nvGrpSpPr>
      <p:grpSpPr>
        <a:xfrm>
          <a:off x="0" y="0"/>
          <a:ext cx="0" cy="0"/>
          <a:chOff x="0" y="0"/>
          <a:chExt cx="0" cy="0"/>
        </a:xfrm>
      </p:grpSpPr>
      <p:sp>
        <p:nvSpPr>
          <p:cNvPr id="2" name="Text 0"/>
          <p:cNvSpPr/>
          <p:nvPr/>
        </p:nvSpPr>
        <p:spPr>
          <a:xfrm>
            <a:off x="685800" y="502920"/>
            <a:ext cx="2194560" cy="320040"/>
          </a:xfrm>
          <a:prstGeom prst="rect">
            <a:avLst/>
          </a:prstGeom>
          <a:noFill/>
          <a:ln/>
        </p:spPr>
        <p:txBody>
          <a:bodyPr wrap="square" lIns="0" tIns="0" rIns="0" bIns="0" rtlCol="0" anchor="ctr"/>
          <a:lstStyle/>
          <a:p>
            <a:pPr indent="0" marL="0">
              <a:buNone/>
            </a:pPr>
            <a:r>
              <a:rPr lang="en-US" sz="1600" b="1" dirty="0">
                <a:solidFill>
                  <a:srgbClr val="A5F3FC"/>
                </a:solidFill>
              </a:rPr>
              <a:t>Computer Science 469</a:t>
            </a:r>
            <a:endParaRPr lang="en-US" sz="1600" dirty="0"/>
          </a:p>
        </p:txBody>
      </p:sp>
      <p:sp>
        <p:nvSpPr>
          <p:cNvPr id="3" name="Text 1"/>
          <p:cNvSpPr/>
          <p:nvPr/>
        </p:nvSpPr>
        <p:spPr>
          <a:xfrm>
            <a:off x="685800" y="850392"/>
            <a:ext cx="2194560" cy="274320"/>
          </a:xfrm>
          <a:prstGeom prst="rect">
            <a:avLst/>
          </a:prstGeom>
          <a:noFill/>
          <a:ln/>
        </p:spPr>
        <p:txBody>
          <a:bodyPr wrap="square" lIns="0" tIns="0" rIns="0" bIns="0" rtlCol="0" anchor="ctr"/>
          <a:lstStyle/>
          <a:p>
            <a:pPr indent="0" marL="0">
              <a:buNone/>
            </a:pPr>
            <a:r>
              <a:rPr lang="en-US" sz="1200" dirty="0">
                <a:solidFill>
                  <a:srgbClr val="D9F99D"/>
                </a:solidFill>
              </a:rPr>
              <a:t>Chapter 8</a:t>
            </a:r>
            <a:endParaRPr lang="en-US" sz="1200" dirty="0"/>
          </a:p>
        </p:txBody>
      </p:sp>
      <p:sp>
        <p:nvSpPr>
          <p:cNvPr id="4" name="Text 2"/>
          <p:cNvSpPr/>
          <p:nvPr/>
        </p:nvSpPr>
        <p:spPr>
          <a:xfrm>
            <a:off x="685800" y="1901952"/>
            <a:ext cx="10744200" cy="896112"/>
          </a:xfrm>
          <a:prstGeom prst="rect">
            <a:avLst/>
          </a:prstGeom>
          <a:noFill/>
          <a:ln/>
        </p:spPr>
        <p:txBody>
          <a:bodyPr wrap="square" lIns="0" tIns="0" rIns="0" bIns="0" rtlCol="0" anchor="ctr">
            <a:normAutofit/>
          </a:bodyPr>
          <a:lstStyle/>
          <a:p>
            <a:pPr indent="0" marL="0">
              <a:buNone/>
            </a:pPr>
            <a:r>
              <a:rPr lang="en-US" sz="4200" b="1" dirty="0">
                <a:solidFill>
                  <a:srgbClr val="F4F1DE"/>
                </a:solidFill>
              </a:rPr>
              <a:t>8.2.6 Quantifiers</a:t>
            </a:r>
            <a:endParaRPr lang="en-US" sz="4200" dirty="0"/>
          </a:p>
        </p:txBody>
      </p:sp>
      <p:sp>
        <p:nvSpPr>
          <p:cNvPr id="5" name="Text 3"/>
          <p:cNvSpPr/>
          <p:nvPr/>
        </p:nvSpPr>
        <p:spPr>
          <a:xfrm>
            <a:off x="713232" y="2880360"/>
            <a:ext cx="10424160" cy="429768"/>
          </a:xfrm>
          <a:prstGeom prst="rect">
            <a:avLst/>
          </a:prstGeom>
          <a:noFill/>
          <a:ln/>
        </p:spPr>
        <p:txBody>
          <a:bodyPr wrap="square" lIns="0" tIns="0" rIns="0" bIns="0" rtlCol="0" anchor="ctr">
            <a:normAutofit/>
          </a:bodyPr>
          <a:lstStyle/>
          <a:p>
            <a:pPr indent="0" marL="0">
              <a:buNone/>
            </a:pPr>
            <a:r>
              <a:rPr lang="en-US" sz="1900" dirty="0">
                <a:solidFill>
                  <a:srgbClr val="D9F99D"/>
                </a:solidFill>
              </a:rPr>
              <a:t>How to say “all objects” and “some object” precisely</a:t>
            </a:r>
            <a:endParaRPr lang="en-US" sz="1900" dirty="0"/>
          </a:p>
        </p:txBody>
      </p:sp>
      <p:sp>
        <p:nvSpPr>
          <p:cNvPr id="6" name="Shape 4"/>
          <p:cNvSpPr/>
          <p:nvPr/>
        </p:nvSpPr>
        <p:spPr>
          <a:xfrm>
            <a:off x="713232" y="3529584"/>
            <a:ext cx="2194560" cy="54864"/>
          </a:xfrm>
          <a:prstGeom prst="rect">
            <a:avLst/>
          </a:prstGeom>
          <a:solidFill>
            <a:srgbClr val="D9F99D"/>
          </a:solidFill>
          <a:ln w="12700">
            <a:solidFill>
              <a:srgbClr val="D9F99D"/>
            </a:solidFill>
            <a:prstDash val="solid"/>
          </a:ln>
        </p:spPr>
      </p:sp>
      <p:sp>
        <p:nvSpPr>
          <p:cNvPr id="7" name="Shape 5"/>
          <p:cNvSpPr/>
          <p:nvPr/>
        </p:nvSpPr>
        <p:spPr>
          <a:xfrm>
            <a:off x="713232" y="3950208"/>
            <a:ext cx="10652760" cy="1005840"/>
          </a:xfrm>
          <a:prstGeom prst="roundRect">
            <a:avLst>
              <a:gd name="adj" fmla="val 7273"/>
            </a:avLst>
          </a:prstGeom>
          <a:solidFill>
            <a:srgbClr val="073B4C"/>
          </a:solidFill>
          <a:ln w="12700">
            <a:solidFill>
              <a:srgbClr val="A5F3FC"/>
            </a:solidFill>
            <a:prstDash val="solid"/>
          </a:ln>
        </p:spPr>
      </p:sp>
      <p:sp>
        <p:nvSpPr>
          <p:cNvPr id="8" name="Text 6"/>
          <p:cNvSpPr/>
          <p:nvPr/>
        </p:nvSpPr>
        <p:spPr>
          <a:xfrm>
            <a:off x="896112" y="4087368"/>
            <a:ext cx="10287000" cy="219456"/>
          </a:xfrm>
          <a:prstGeom prst="rect">
            <a:avLst/>
          </a:prstGeom>
          <a:noFill/>
          <a:ln/>
        </p:spPr>
        <p:txBody>
          <a:bodyPr wrap="square" lIns="0" tIns="0" rIns="0" bIns="0" rtlCol="0" anchor="ctr"/>
          <a:lstStyle/>
          <a:p>
            <a:pPr indent="0" marL="0">
              <a:buNone/>
            </a:pPr>
            <a:r>
              <a:rPr lang="en-US" sz="950" b="1" dirty="0">
                <a:solidFill>
                  <a:srgbClr val="A5F3FC"/>
                </a:solidFill>
              </a:rPr>
              <a:t>INSTRUCTOR CUE</a:t>
            </a:r>
            <a:endParaRPr lang="en-US" sz="950" dirty="0"/>
          </a:p>
        </p:txBody>
      </p:sp>
      <p:sp>
        <p:nvSpPr>
          <p:cNvPr id="9" name="Text 7"/>
          <p:cNvSpPr/>
          <p:nvPr/>
        </p:nvSpPr>
        <p:spPr>
          <a:xfrm>
            <a:off x="896112" y="4361688"/>
            <a:ext cx="10287000" cy="502920"/>
          </a:xfrm>
          <a:prstGeom prst="rect">
            <a:avLst/>
          </a:prstGeom>
          <a:noFill/>
          <a:ln/>
        </p:spPr>
        <p:txBody>
          <a:bodyPr wrap="square" lIns="254" tIns="254" rIns="254" bIns="254" rtlCol="0" anchor="t">
            <a:normAutofit/>
          </a:bodyPr>
          <a:lstStyle/>
          <a:p>
            <a:pPr indent="0" marL="0">
              <a:buNone/>
            </a:pPr>
            <a:r>
              <a:rPr lang="en-US" sz="1500" dirty="0">
                <a:solidFill>
                  <a:srgbClr val="FFFFFF"/>
                </a:solidFill>
              </a:rPr>
              <a:t>Slow down here. Quantifiers are the most common source of confusion. Teach them first in English, then in symbols, then with small domains.</a:t>
            </a:r>
            <a:endParaRPr lang="en-US" sz="1500" dirty="0"/>
          </a:p>
        </p:txBody>
      </p:sp>
      <p:sp>
        <p:nvSpPr>
          <p:cNvPr id="10" name="Text 8"/>
          <p:cNvSpPr/>
          <p:nvPr/>
        </p:nvSpPr>
        <p:spPr>
          <a:xfrm>
            <a:off x="11018520" y="6172200"/>
            <a:ext cx="548640" cy="274320"/>
          </a:xfrm>
          <a:prstGeom prst="rect">
            <a:avLst/>
          </a:prstGeom>
          <a:noFill/>
          <a:ln/>
        </p:spPr>
        <p:txBody>
          <a:bodyPr wrap="square" lIns="0" tIns="0" rIns="0" bIns="0" rtlCol="0" anchor="ctr"/>
          <a:lstStyle/>
          <a:p>
            <a:pPr algn="r" indent="0" marL="0">
              <a:buNone/>
            </a:pPr>
            <a:r>
              <a:rPr lang="en-US" sz="1200" b="1" dirty="0">
                <a:solidFill>
                  <a:srgbClr val="D9F99D"/>
                </a:solidFill>
              </a:rPr>
              <a:t>47</a:t>
            </a:r>
            <a:endParaRPr lang="en-US" sz="12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5088"/>
          </a:solidFill>
          <a:ln w="12700">
            <a:solidFill>
              <a:srgbClr val="005088"/>
            </a:solidFill>
            <a:prstDash val="solid"/>
          </a:ln>
        </p:spPr>
      </p:sp>
      <p:sp>
        <p:nvSpPr>
          <p:cNvPr id="3" name="Shape 1"/>
          <p:cNvSpPr/>
          <p:nvPr/>
        </p:nvSpPr>
        <p:spPr>
          <a:xfrm>
            <a:off x="0" y="6729984"/>
            <a:ext cx="12191695" cy="128016"/>
          </a:xfrm>
          <a:prstGeom prst="rect">
            <a:avLst/>
          </a:prstGeom>
          <a:solidFill>
            <a:srgbClr val="005088"/>
          </a:solidFill>
          <a:ln w="12700">
            <a:solidFill>
              <a:srgbClr val="005088"/>
            </a:solidFill>
            <a:prstDash val="solid"/>
          </a:ln>
        </p:spPr>
      </p:sp>
      <p:sp>
        <p:nvSpPr>
          <p:cNvPr id="4" name="Text 2"/>
          <p:cNvSpPr/>
          <p:nvPr/>
        </p:nvSpPr>
        <p:spPr>
          <a:xfrm>
            <a:off x="502920" y="210312"/>
            <a:ext cx="6858000" cy="219456"/>
          </a:xfrm>
          <a:prstGeom prst="rect">
            <a:avLst/>
          </a:prstGeom>
          <a:noFill/>
          <a:ln/>
        </p:spPr>
        <p:txBody>
          <a:bodyPr wrap="square" lIns="0" tIns="0" rIns="0" bIns="0" rtlCol="0" anchor="ctr"/>
          <a:lstStyle/>
          <a:p>
            <a:pPr indent="0" marL="0">
              <a:buNone/>
            </a:pPr>
            <a:r>
              <a:rPr lang="en-US" sz="950" b="1" dirty="0">
                <a:solidFill>
                  <a:srgbClr val="3D5A80"/>
                </a:solidFill>
                <a:latin typeface="Aptos" pitchFamily="34" charset="0"/>
                <a:ea typeface="Aptos" pitchFamily="34" charset="-122"/>
                <a:cs typeface="Aptos" pitchFamily="34" charset="-120"/>
              </a:rPr>
              <a:t>8.2.6 Quantifiers</a:t>
            </a:r>
            <a:endParaRPr lang="en-US" sz="950" dirty="0"/>
          </a:p>
        </p:txBody>
      </p:sp>
      <p:sp>
        <p:nvSpPr>
          <p:cNvPr id="5" name="Text 3"/>
          <p:cNvSpPr/>
          <p:nvPr/>
        </p:nvSpPr>
        <p:spPr>
          <a:xfrm>
            <a:off x="11018520" y="201168"/>
            <a:ext cx="640080" cy="228600"/>
          </a:xfrm>
          <a:prstGeom prst="rect">
            <a:avLst/>
          </a:prstGeom>
          <a:noFill/>
          <a:ln/>
        </p:spPr>
        <p:txBody>
          <a:bodyPr wrap="square" lIns="0" tIns="0" rIns="0" bIns="0" rtlCol="0" anchor="ctr"/>
          <a:lstStyle/>
          <a:p>
            <a:pPr algn="r" indent="0" marL="0">
              <a:buNone/>
            </a:pPr>
            <a:r>
              <a:rPr lang="en-US" sz="900" b="1" dirty="0">
                <a:solidFill>
                  <a:srgbClr val="3D5A80"/>
                </a:solidFill>
              </a:rPr>
              <a:t>48</a:t>
            </a:r>
            <a:endParaRPr lang="en-US" sz="900" dirty="0"/>
          </a:p>
        </p:txBody>
      </p:sp>
      <p:sp>
        <p:nvSpPr>
          <p:cNvPr id="6" name="Text 4"/>
          <p:cNvSpPr/>
          <p:nvPr/>
        </p:nvSpPr>
        <p:spPr>
          <a:xfrm>
            <a:off x="502920" y="566928"/>
            <a:ext cx="11201400" cy="512064"/>
          </a:xfrm>
          <a:prstGeom prst="rect">
            <a:avLst/>
          </a:prstGeom>
          <a:noFill/>
          <a:ln/>
        </p:spPr>
        <p:txBody>
          <a:bodyPr wrap="square" lIns="0" tIns="0" rIns="0" bIns="0" rtlCol="0" anchor="ctr">
            <a:normAutofit/>
          </a:bodyPr>
          <a:lstStyle/>
          <a:p>
            <a:pPr indent="0" marL="0">
              <a:buNone/>
            </a:pPr>
            <a:r>
              <a:rPr lang="en-US" sz="2650" b="1" dirty="0">
                <a:solidFill>
                  <a:srgbClr val="005088"/>
                </a:solidFill>
                <a:latin typeface="Aptos Display" pitchFamily="34" charset="0"/>
                <a:ea typeface="Aptos Display" pitchFamily="34" charset="-122"/>
                <a:cs typeface="Aptos Display" pitchFamily="34" charset="-120"/>
              </a:rPr>
              <a:t>UNIVERSAL QUANTIFICATION MEANS FOR EVERY OBJECT</a:t>
            </a:r>
            <a:endParaRPr lang="en-US" sz="2650" dirty="0"/>
          </a:p>
        </p:txBody>
      </p:sp>
      <p:sp>
        <p:nvSpPr>
          <p:cNvPr id="7" name="Shape 5"/>
          <p:cNvSpPr/>
          <p:nvPr/>
        </p:nvSpPr>
        <p:spPr>
          <a:xfrm>
            <a:off x="502920" y="1188720"/>
            <a:ext cx="11109960" cy="0"/>
          </a:xfrm>
          <a:prstGeom prst="line">
            <a:avLst/>
          </a:prstGeom>
          <a:noFill/>
          <a:ln w="12700">
            <a:solidFill>
              <a:srgbClr val="3D5A80"/>
            </a:solidFill>
            <a:prstDash val="solid"/>
          </a:ln>
        </p:spPr>
      </p:sp>
      <p:sp>
        <p:nvSpPr>
          <p:cNvPr id="8" name="Text 6"/>
          <p:cNvSpPr/>
          <p:nvPr/>
        </p:nvSpPr>
        <p:spPr>
          <a:xfrm>
            <a:off x="713232" y="1572768"/>
            <a:ext cx="5440680" cy="4251960"/>
          </a:xfrm>
          <a:prstGeom prst="rect">
            <a:avLst/>
          </a:prstGeom>
          <a:noFill/>
          <a:ln/>
        </p:spPr>
        <p:txBody>
          <a:bodyPr wrap="square" lIns="1016" tIns="1016" rIns="1016" bIns="1016" rtlCol="0" anchor="t">
            <a:normAutofit/>
          </a:bodyPr>
          <a:lstStyle/>
          <a:p>
            <a:pPr indent="0" marL="0">
              <a:buNone/>
            </a:pPr>
            <a:r>
              <a:rPr lang="en-US" sz="1650" dirty="0">
                <a:solidFill>
                  <a:srgbClr val="1E293B"/>
                </a:solidFill>
                <a:latin typeface="Aptos" pitchFamily="34" charset="0"/>
                <a:ea typeface="Aptos" pitchFamily="34" charset="-122"/>
                <a:cs typeface="Aptos" pitchFamily="34" charset="-120"/>
              </a:rPr>
              <a:t>• The universal quantifier is read “for all”</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It makes a claim about every object in the domain</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It is useful for rules and policies</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It behaves like a large conjunction over the domain</a:t>
            </a:r>
            <a:endParaRPr lang="en-US" sz="1650" dirty="0"/>
          </a:p>
        </p:txBody>
      </p:sp>
      <p:sp>
        <p:nvSpPr>
          <p:cNvPr id="9" name="Shape 7"/>
          <p:cNvSpPr/>
          <p:nvPr/>
        </p:nvSpPr>
        <p:spPr>
          <a:xfrm>
            <a:off x="6446520" y="1572768"/>
            <a:ext cx="5074920" cy="1234440"/>
          </a:xfrm>
          <a:prstGeom prst="roundRect">
            <a:avLst>
              <a:gd name="adj" fmla="val 5926"/>
            </a:avLst>
          </a:prstGeom>
          <a:solidFill>
            <a:srgbClr val="FFF6D9"/>
          </a:solidFill>
          <a:ln w="12700">
            <a:solidFill>
              <a:srgbClr val="F4A261"/>
            </a:solidFill>
            <a:prstDash val="solid"/>
          </a:ln>
        </p:spPr>
      </p:sp>
      <p:sp>
        <p:nvSpPr>
          <p:cNvPr id="10" name="Text 8"/>
          <p:cNvSpPr/>
          <p:nvPr/>
        </p:nvSpPr>
        <p:spPr>
          <a:xfrm>
            <a:off x="6629400" y="1709928"/>
            <a:ext cx="4709160" cy="219456"/>
          </a:xfrm>
          <a:prstGeom prst="rect">
            <a:avLst/>
          </a:prstGeom>
          <a:noFill/>
          <a:ln/>
        </p:spPr>
        <p:txBody>
          <a:bodyPr wrap="square" lIns="0" tIns="0" rIns="0" bIns="0" rtlCol="0" anchor="ctr"/>
          <a:lstStyle/>
          <a:p>
            <a:pPr indent="0" marL="0">
              <a:buNone/>
            </a:pPr>
            <a:r>
              <a:rPr lang="en-US" sz="950" b="1" dirty="0">
                <a:solidFill>
                  <a:srgbClr val="B0005D"/>
                </a:solidFill>
              </a:rPr>
              <a:t>ANALOGY</a:t>
            </a:r>
            <a:endParaRPr lang="en-US" sz="950" dirty="0"/>
          </a:p>
        </p:txBody>
      </p:sp>
      <p:sp>
        <p:nvSpPr>
          <p:cNvPr id="11" name="Text 9"/>
          <p:cNvSpPr/>
          <p:nvPr/>
        </p:nvSpPr>
        <p:spPr>
          <a:xfrm>
            <a:off x="6629400" y="1984248"/>
            <a:ext cx="4709160" cy="731520"/>
          </a:xfrm>
          <a:prstGeom prst="rect">
            <a:avLst/>
          </a:prstGeom>
          <a:noFill/>
          <a:ln/>
        </p:spPr>
        <p:txBody>
          <a:bodyPr wrap="square" lIns="254" tIns="254" rIns="254" bIns="254" rtlCol="0" anchor="t">
            <a:normAutofit/>
          </a:bodyPr>
          <a:lstStyle/>
          <a:p>
            <a:pPr indent="0" marL="0">
              <a:buNone/>
            </a:pPr>
            <a:r>
              <a:rPr lang="en-US" sz="1330" dirty="0">
                <a:solidFill>
                  <a:srgbClr val="1E293B"/>
                </a:solidFill>
              </a:rPr>
              <a:t>A campus policy that says every student must have an identification card applies to each student individually.</a:t>
            </a:r>
            <a:endParaRPr lang="en-US" sz="1330" dirty="0"/>
          </a:p>
        </p:txBody>
      </p:sp>
      <p:sp>
        <p:nvSpPr>
          <p:cNvPr id="12" name="Shape 10"/>
          <p:cNvSpPr/>
          <p:nvPr/>
        </p:nvSpPr>
        <p:spPr>
          <a:xfrm>
            <a:off x="6446520" y="2999232"/>
            <a:ext cx="5074920" cy="841248"/>
          </a:xfrm>
          <a:prstGeom prst="roundRect">
            <a:avLst>
              <a:gd name="adj" fmla="val 8696"/>
            </a:avLst>
          </a:prstGeom>
          <a:solidFill>
            <a:srgbClr val="FFFFFF">
              <a:alpha val="97000"/>
            </a:srgbClr>
          </a:solidFill>
          <a:ln w="12700">
            <a:solidFill>
              <a:srgbClr val="007C89"/>
            </a:solidFill>
            <a:prstDash val="solid"/>
          </a:ln>
        </p:spPr>
      </p:sp>
      <p:sp>
        <p:nvSpPr>
          <p:cNvPr id="13" name="Text 11"/>
          <p:cNvSpPr/>
          <p:nvPr/>
        </p:nvSpPr>
        <p:spPr>
          <a:xfrm>
            <a:off x="6611112" y="3127248"/>
            <a:ext cx="4745736" cy="658368"/>
          </a:xfrm>
          <a:prstGeom prst="rect">
            <a:avLst/>
          </a:prstGeom>
          <a:noFill/>
          <a:ln/>
        </p:spPr>
        <p:txBody>
          <a:bodyPr wrap="square" lIns="0" tIns="0" rIns="0" bIns="0" rtlCol="0" anchor="ctr">
            <a:normAutofit/>
          </a:bodyPr>
          <a:lstStyle/>
          <a:p>
            <a:pPr algn="ctr" indent="0" marL="0">
              <a:buNone/>
            </a:pPr>
            <a:r>
              <a:rPr lang="en-US" sz="1900" b="1" dirty="0">
                <a:solidFill>
                  <a:srgbClr val="005088"/>
                </a:solidFill>
                <a:latin typeface="Cambria Math" pitchFamily="34" charset="0"/>
                <a:ea typeface="Cambria Math" pitchFamily="34" charset="-122"/>
                <a:cs typeface="Cambria Math" pitchFamily="34" charset="-120"/>
              </a:rPr>
              <a:t>∀x King(x) ⇒ Person(x)</a:t>
            </a:r>
            <a:endParaRPr lang="en-US" sz="1900" dirty="0"/>
          </a:p>
        </p:txBody>
      </p:sp>
      <p:sp>
        <p:nvSpPr>
          <p:cNvPr id="14" name="Shape 12"/>
          <p:cNvSpPr/>
          <p:nvPr/>
        </p:nvSpPr>
        <p:spPr>
          <a:xfrm>
            <a:off x="6446520" y="4041648"/>
            <a:ext cx="5074920" cy="859536"/>
          </a:xfrm>
          <a:prstGeom prst="roundRect">
            <a:avLst>
              <a:gd name="adj" fmla="val 8511"/>
            </a:avLst>
          </a:prstGeom>
          <a:solidFill>
            <a:srgbClr val="FFE4E6"/>
          </a:solidFill>
          <a:ln w="12700">
            <a:solidFill>
              <a:srgbClr val="FDA4AF"/>
            </a:solidFill>
            <a:prstDash val="solid"/>
          </a:ln>
        </p:spPr>
      </p:sp>
      <p:sp>
        <p:nvSpPr>
          <p:cNvPr id="15" name="Text 13"/>
          <p:cNvSpPr/>
          <p:nvPr/>
        </p:nvSpPr>
        <p:spPr>
          <a:xfrm>
            <a:off x="6629400" y="4178808"/>
            <a:ext cx="4709160" cy="219456"/>
          </a:xfrm>
          <a:prstGeom prst="rect">
            <a:avLst/>
          </a:prstGeom>
          <a:noFill/>
          <a:ln/>
        </p:spPr>
        <p:txBody>
          <a:bodyPr wrap="square" lIns="0" tIns="0" rIns="0" bIns="0" rtlCol="0" anchor="ctr"/>
          <a:lstStyle/>
          <a:p>
            <a:pPr indent="0" marL="0">
              <a:buNone/>
            </a:pPr>
            <a:r>
              <a:rPr lang="en-US" sz="950" b="1" dirty="0">
                <a:solidFill>
                  <a:srgbClr val="C1121F"/>
                </a:solidFill>
              </a:rPr>
              <a:t>STUDENT GOTCHA</a:t>
            </a:r>
            <a:endParaRPr lang="en-US" sz="950" dirty="0"/>
          </a:p>
        </p:txBody>
      </p:sp>
      <p:sp>
        <p:nvSpPr>
          <p:cNvPr id="16" name="Text 14"/>
          <p:cNvSpPr/>
          <p:nvPr/>
        </p:nvSpPr>
        <p:spPr>
          <a:xfrm>
            <a:off x="6629400" y="4453128"/>
            <a:ext cx="4709160" cy="356616"/>
          </a:xfrm>
          <a:prstGeom prst="rect">
            <a:avLst/>
          </a:prstGeom>
          <a:noFill/>
          <a:ln/>
        </p:spPr>
        <p:txBody>
          <a:bodyPr wrap="square" lIns="254" tIns="254" rIns="254" bIns="254" rtlCol="0" anchor="t">
            <a:normAutofit/>
          </a:bodyPr>
          <a:lstStyle/>
          <a:p>
            <a:pPr indent="0" marL="0">
              <a:buNone/>
            </a:pPr>
            <a:r>
              <a:rPr lang="en-US" sz="1250" dirty="0">
                <a:solidFill>
                  <a:srgbClr val="1E293B"/>
                </a:solidFill>
              </a:rPr>
              <a:t>The sentence does not say every object is a king. It says every object that is a king is a person.</a:t>
            </a:r>
            <a:endParaRPr lang="en-US" sz="1250" dirty="0"/>
          </a:p>
        </p:txBody>
      </p:sp>
      <p:sp>
        <p:nvSpPr>
          <p:cNvPr id="17" name="Shape 15"/>
          <p:cNvSpPr/>
          <p:nvPr/>
        </p:nvSpPr>
        <p:spPr>
          <a:xfrm>
            <a:off x="6446520" y="5074920"/>
            <a:ext cx="5074920" cy="841248"/>
          </a:xfrm>
          <a:prstGeom prst="roundRect">
            <a:avLst>
              <a:gd name="adj" fmla="val 8696"/>
            </a:avLst>
          </a:prstGeom>
          <a:solidFill>
            <a:srgbClr val="E6FFFA"/>
          </a:solidFill>
          <a:ln w="12700">
            <a:solidFill>
              <a:srgbClr val="2A9D8F"/>
            </a:solidFill>
            <a:prstDash val="solid"/>
          </a:ln>
        </p:spPr>
      </p:sp>
      <p:sp>
        <p:nvSpPr>
          <p:cNvPr id="18" name="Text 16"/>
          <p:cNvSpPr/>
          <p:nvPr/>
        </p:nvSpPr>
        <p:spPr>
          <a:xfrm>
            <a:off x="6629400" y="5212080"/>
            <a:ext cx="4709160" cy="219456"/>
          </a:xfrm>
          <a:prstGeom prst="rect">
            <a:avLst/>
          </a:prstGeom>
          <a:noFill/>
          <a:ln/>
        </p:spPr>
        <p:txBody>
          <a:bodyPr wrap="square" lIns="0" tIns="0" rIns="0" bIns="0" rtlCol="0" anchor="ctr"/>
          <a:lstStyle/>
          <a:p>
            <a:pPr indent="0" marL="0">
              <a:buNone/>
            </a:pPr>
            <a:r>
              <a:rPr lang="en-US" sz="950" b="1" dirty="0">
                <a:solidFill>
                  <a:srgbClr val="007C89"/>
                </a:solidFill>
              </a:rPr>
              <a:t>CLASS CHECK</a:t>
            </a:r>
            <a:endParaRPr lang="en-US" sz="950" dirty="0"/>
          </a:p>
        </p:txBody>
      </p:sp>
      <p:sp>
        <p:nvSpPr>
          <p:cNvPr id="19" name="Text 17"/>
          <p:cNvSpPr/>
          <p:nvPr/>
        </p:nvSpPr>
        <p:spPr>
          <a:xfrm>
            <a:off x="6629400" y="5486400"/>
            <a:ext cx="4709160" cy="338328"/>
          </a:xfrm>
          <a:prstGeom prst="rect">
            <a:avLst/>
          </a:prstGeom>
          <a:noFill/>
          <a:ln/>
        </p:spPr>
        <p:txBody>
          <a:bodyPr wrap="square" lIns="254" tIns="254" rIns="254" bIns="254" rtlCol="0" anchor="t">
            <a:normAutofit/>
          </a:bodyPr>
          <a:lstStyle/>
          <a:p>
            <a:pPr indent="0" marL="0">
              <a:buNone/>
            </a:pPr>
            <a:r>
              <a:rPr lang="en-US" sz="1270" dirty="0">
                <a:solidFill>
                  <a:srgbClr val="1E293B"/>
                </a:solidFill>
              </a:rPr>
              <a:t>Ask students to read the formula aloud in complete English.</a:t>
            </a:r>
            <a:endParaRPr lang="en-US" sz="127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5088"/>
          </a:solidFill>
          <a:ln w="12700">
            <a:solidFill>
              <a:srgbClr val="005088"/>
            </a:solidFill>
            <a:prstDash val="solid"/>
          </a:ln>
        </p:spPr>
      </p:sp>
      <p:sp>
        <p:nvSpPr>
          <p:cNvPr id="3" name="Shape 1"/>
          <p:cNvSpPr/>
          <p:nvPr/>
        </p:nvSpPr>
        <p:spPr>
          <a:xfrm>
            <a:off x="0" y="6729984"/>
            <a:ext cx="12191695" cy="128016"/>
          </a:xfrm>
          <a:prstGeom prst="rect">
            <a:avLst/>
          </a:prstGeom>
          <a:solidFill>
            <a:srgbClr val="005088"/>
          </a:solidFill>
          <a:ln w="12700">
            <a:solidFill>
              <a:srgbClr val="005088"/>
            </a:solidFill>
            <a:prstDash val="solid"/>
          </a:ln>
        </p:spPr>
      </p:sp>
      <p:sp>
        <p:nvSpPr>
          <p:cNvPr id="4" name="Text 2"/>
          <p:cNvSpPr/>
          <p:nvPr/>
        </p:nvSpPr>
        <p:spPr>
          <a:xfrm>
            <a:off x="502920" y="210312"/>
            <a:ext cx="6858000" cy="219456"/>
          </a:xfrm>
          <a:prstGeom prst="rect">
            <a:avLst/>
          </a:prstGeom>
          <a:noFill/>
          <a:ln/>
        </p:spPr>
        <p:txBody>
          <a:bodyPr wrap="square" lIns="0" tIns="0" rIns="0" bIns="0" rtlCol="0" anchor="ctr"/>
          <a:lstStyle/>
          <a:p>
            <a:pPr indent="0" marL="0">
              <a:buNone/>
            </a:pPr>
            <a:r>
              <a:rPr lang="en-US" sz="950" b="1" dirty="0">
                <a:solidFill>
                  <a:srgbClr val="3D5A80"/>
                </a:solidFill>
                <a:latin typeface="Aptos" pitchFamily="34" charset="0"/>
                <a:ea typeface="Aptos" pitchFamily="34" charset="-122"/>
                <a:cs typeface="Aptos" pitchFamily="34" charset="-120"/>
              </a:rPr>
              <a:t>8.2.6 Quantifiers</a:t>
            </a:r>
            <a:endParaRPr lang="en-US" sz="950" dirty="0"/>
          </a:p>
        </p:txBody>
      </p:sp>
      <p:sp>
        <p:nvSpPr>
          <p:cNvPr id="5" name="Text 3"/>
          <p:cNvSpPr/>
          <p:nvPr/>
        </p:nvSpPr>
        <p:spPr>
          <a:xfrm>
            <a:off x="11018520" y="201168"/>
            <a:ext cx="640080" cy="228600"/>
          </a:xfrm>
          <a:prstGeom prst="rect">
            <a:avLst/>
          </a:prstGeom>
          <a:noFill/>
          <a:ln/>
        </p:spPr>
        <p:txBody>
          <a:bodyPr wrap="square" lIns="0" tIns="0" rIns="0" bIns="0" rtlCol="0" anchor="ctr"/>
          <a:lstStyle/>
          <a:p>
            <a:pPr algn="r" indent="0" marL="0">
              <a:buNone/>
            </a:pPr>
            <a:r>
              <a:rPr lang="en-US" sz="900" b="1" dirty="0">
                <a:solidFill>
                  <a:srgbClr val="3D5A80"/>
                </a:solidFill>
              </a:rPr>
              <a:t>49</a:t>
            </a:r>
            <a:endParaRPr lang="en-US" sz="900" dirty="0"/>
          </a:p>
        </p:txBody>
      </p:sp>
      <p:sp>
        <p:nvSpPr>
          <p:cNvPr id="6" name="Text 4"/>
          <p:cNvSpPr/>
          <p:nvPr/>
        </p:nvSpPr>
        <p:spPr>
          <a:xfrm>
            <a:off x="502920" y="566928"/>
            <a:ext cx="11201400" cy="512064"/>
          </a:xfrm>
          <a:prstGeom prst="rect">
            <a:avLst/>
          </a:prstGeom>
          <a:noFill/>
          <a:ln/>
        </p:spPr>
        <p:txBody>
          <a:bodyPr wrap="square" lIns="0" tIns="0" rIns="0" bIns="0" rtlCol="0" anchor="ctr">
            <a:normAutofit/>
          </a:bodyPr>
          <a:lstStyle/>
          <a:p>
            <a:pPr indent="0" marL="0">
              <a:buNone/>
            </a:pPr>
            <a:r>
              <a:rPr lang="en-US" sz="2650" b="1" dirty="0">
                <a:solidFill>
                  <a:srgbClr val="005088"/>
                </a:solidFill>
                <a:latin typeface="Aptos Display" pitchFamily="34" charset="0"/>
                <a:ea typeface="Aptos Display" pitchFamily="34" charset="-122"/>
                <a:cs typeface="Aptos Display" pitchFamily="34" charset="-120"/>
              </a:rPr>
              <a:t>UNIVERSAL QUANTIFIER USUALLY PAIRS WITH IMPLICATION</a:t>
            </a:r>
            <a:endParaRPr lang="en-US" sz="2650" dirty="0"/>
          </a:p>
        </p:txBody>
      </p:sp>
      <p:sp>
        <p:nvSpPr>
          <p:cNvPr id="7" name="Shape 5"/>
          <p:cNvSpPr/>
          <p:nvPr/>
        </p:nvSpPr>
        <p:spPr>
          <a:xfrm>
            <a:off x="502920" y="1188720"/>
            <a:ext cx="11109960" cy="0"/>
          </a:xfrm>
          <a:prstGeom prst="line">
            <a:avLst/>
          </a:prstGeom>
          <a:noFill/>
          <a:ln w="12700">
            <a:solidFill>
              <a:srgbClr val="3D5A80"/>
            </a:solidFill>
            <a:prstDash val="solid"/>
          </a:ln>
        </p:spPr>
      </p:sp>
      <p:sp>
        <p:nvSpPr>
          <p:cNvPr id="8" name="Text 6"/>
          <p:cNvSpPr/>
          <p:nvPr/>
        </p:nvSpPr>
        <p:spPr>
          <a:xfrm>
            <a:off x="713232" y="1572768"/>
            <a:ext cx="5440680" cy="4251960"/>
          </a:xfrm>
          <a:prstGeom prst="rect">
            <a:avLst/>
          </a:prstGeom>
          <a:noFill/>
          <a:ln/>
        </p:spPr>
        <p:txBody>
          <a:bodyPr wrap="square" lIns="1016" tIns="1016" rIns="1016" bIns="1016" rtlCol="0" anchor="t">
            <a:normAutofit/>
          </a:bodyPr>
          <a:lstStyle/>
          <a:p>
            <a:pPr indent="0" marL="0">
              <a:buNone/>
            </a:pPr>
            <a:r>
              <a:rPr lang="en-US" sz="1650" dirty="0">
                <a:solidFill>
                  <a:srgbClr val="1E293B"/>
                </a:solidFill>
                <a:latin typeface="Aptos" pitchFamily="34" charset="0"/>
                <a:ea typeface="Aptos" pitchFamily="34" charset="-122"/>
                <a:cs typeface="Aptos" pitchFamily="34" charset="-120"/>
              </a:rPr>
              <a:t>• Category rules usually use implication</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The premise selects the relevant objects</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The conclusion states what follows for those objects</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Using “and” can accidentally make every object satisfy both parts</a:t>
            </a:r>
            <a:endParaRPr lang="en-US" sz="1650" dirty="0"/>
          </a:p>
        </p:txBody>
      </p:sp>
      <p:sp>
        <p:nvSpPr>
          <p:cNvPr id="9" name="Shape 7"/>
          <p:cNvSpPr/>
          <p:nvPr/>
        </p:nvSpPr>
        <p:spPr>
          <a:xfrm>
            <a:off x="6446520" y="1572768"/>
            <a:ext cx="5074920" cy="1234440"/>
          </a:xfrm>
          <a:prstGeom prst="roundRect">
            <a:avLst>
              <a:gd name="adj" fmla="val 5926"/>
            </a:avLst>
          </a:prstGeom>
          <a:solidFill>
            <a:srgbClr val="FFF6D9"/>
          </a:solidFill>
          <a:ln w="12700">
            <a:solidFill>
              <a:srgbClr val="F4A261"/>
            </a:solidFill>
            <a:prstDash val="solid"/>
          </a:ln>
        </p:spPr>
      </p:sp>
      <p:sp>
        <p:nvSpPr>
          <p:cNvPr id="10" name="Text 8"/>
          <p:cNvSpPr/>
          <p:nvPr/>
        </p:nvSpPr>
        <p:spPr>
          <a:xfrm>
            <a:off x="6629400" y="1709928"/>
            <a:ext cx="4709160" cy="219456"/>
          </a:xfrm>
          <a:prstGeom prst="rect">
            <a:avLst/>
          </a:prstGeom>
          <a:noFill/>
          <a:ln/>
        </p:spPr>
        <p:txBody>
          <a:bodyPr wrap="square" lIns="0" tIns="0" rIns="0" bIns="0" rtlCol="0" anchor="ctr"/>
          <a:lstStyle/>
          <a:p>
            <a:pPr indent="0" marL="0">
              <a:buNone/>
            </a:pPr>
            <a:r>
              <a:rPr lang="en-US" sz="950" b="1" dirty="0">
                <a:solidFill>
                  <a:srgbClr val="B0005D"/>
                </a:solidFill>
              </a:rPr>
              <a:t>ANALOGY</a:t>
            </a:r>
            <a:endParaRPr lang="en-US" sz="950" dirty="0"/>
          </a:p>
        </p:txBody>
      </p:sp>
      <p:sp>
        <p:nvSpPr>
          <p:cNvPr id="11" name="Text 9"/>
          <p:cNvSpPr/>
          <p:nvPr/>
        </p:nvSpPr>
        <p:spPr>
          <a:xfrm>
            <a:off x="6629400" y="1984248"/>
            <a:ext cx="4709160" cy="731520"/>
          </a:xfrm>
          <a:prstGeom prst="rect">
            <a:avLst/>
          </a:prstGeom>
          <a:noFill/>
          <a:ln/>
        </p:spPr>
        <p:txBody>
          <a:bodyPr wrap="square" lIns="254" tIns="254" rIns="254" bIns="254" rtlCol="0" anchor="t">
            <a:normAutofit/>
          </a:bodyPr>
          <a:lstStyle/>
          <a:p>
            <a:pPr indent="0" marL="0">
              <a:buNone/>
            </a:pPr>
            <a:r>
              <a:rPr lang="en-US" sz="1330" dirty="0">
                <a:solidFill>
                  <a:srgbClr val="1E293B"/>
                </a:solidFill>
              </a:rPr>
              <a:t>A rule “all drivers must have licenses” does not say every object on campus is a driver.</a:t>
            </a:r>
            <a:endParaRPr lang="en-US" sz="1330" dirty="0"/>
          </a:p>
        </p:txBody>
      </p:sp>
      <p:sp>
        <p:nvSpPr>
          <p:cNvPr id="12" name="Shape 10"/>
          <p:cNvSpPr/>
          <p:nvPr/>
        </p:nvSpPr>
        <p:spPr>
          <a:xfrm>
            <a:off x="6446520" y="2999232"/>
            <a:ext cx="5074920" cy="841248"/>
          </a:xfrm>
          <a:prstGeom prst="roundRect">
            <a:avLst>
              <a:gd name="adj" fmla="val 8696"/>
            </a:avLst>
          </a:prstGeom>
          <a:solidFill>
            <a:srgbClr val="FFFFFF">
              <a:alpha val="97000"/>
            </a:srgbClr>
          </a:solidFill>
          <a:ln w="12700">
            <a:solidFill>
              <a:srgbClr val="007C89"/>
            </a:solidFill>
            <a:prstDash val="solid"/>
          </a:ln>
        </p:spPr>
      </p:sp>
      <p:sp>
        <p:nvSpPr>
          <p:cNvPr id="13" name="Text 11"/>
          <p:cNvSpPr/>
          <p:nvPr/>
        </p:nvSpPr>
        <p:spPr>
          <a:xfrm>
            <a:off x="6611112" y="3127248"/>
            <a:ext cx="4745736" cy="658368"/>
          </a:xfrm>
          <a:prstGeom prst="rect">
            <a:avLst/>
          </a:prstGeom>
          <a:noFill/>
          <a:ln/>
        </p:spPr>
        <p:txBody>
          <a:bodyPr wrap="square" lIns="0" tIns="0" rIns="0" bIns="0" rtlCol="0" anchor="ctr">
            <a:normAutofit/>
          </a:bodyPr>
          <a:lstStyle/>
          <a:p>
            <a:pPr algn="ctr" indent="0" marL="0">
              <a:buNone/>
            </a:pPr>
            <a:r>
              <a:rPr lang="en-US" sz="1550" b="1" dirty="0">
                <a:solidFill>
                  <a:srgbClr val="005088"/>
                </a:solidFill>
                <a:latin typeface="Cambria Math" pitchFamily="34" charset="0"/>
                <a:ea typeface="Cambria Math" pitchFamily="34" charset="-122"/>
                <a:cs typeface="Cambria Math" pitchFamily="34" charset="-120"/>
              </a:rPr>
              <a:t>∀x Student(x) ⇒ HasIdentificationCard(x)</a:t>
            </a:r>
            <a:endParaRPr lang="en-US" sz="1550" dirty="0"/>
          </a:p>
        </p:txBody>
      </p:sp>
      <p:sp>
        <p:nvSpPr>
          <p:cNvPr id="14" name="Shape 12"/>
          <p:cNvSpPr/>
          <p:nvPr/>
        </p:nvSpPr>
        <p:spPr>
          <a:xfrm>
            <a:off x="6446520" y="4041648"/>
            <a:ext cx="5074920" cy="859536"/>
          </a:xfrm>
          <a:prstGeom prst="roundRect">
            <a:avLst>
              <a:gd name="adj" fmla="val 8511"/>
            </a:avLst>
          </a:prstGeom>
          <a:solidFill>
            <a:srgbClr val="FFE4E6"/>
          </a:solidFill>
          <a:ln w="12700">
            <a:solidFill>
              <a:srgbClr val="FDA4AF"/>
            </a:solidFill>
            <a:prstDash val="solid"/>
          </a:ln>
        </p:spPr>
      </p:sp>
      <p:sp>
        <p:nvSpPr>
          <p:cNvPr id="15" name="Text 13"/>
          <p:cNvSpPr/>
          <p:nvPr/>
        </p:nvSpPr>
        <p:spPr>
          <a:xfrm>
            <a:off x="6629400" y="4178808"/>
            <a:ext cx="4709160" cy="219456"/>
          </a:xfrm>
          <a:prstGeom prst="rect">
            <a:avLst/>
          </a:prstGeom>
          <a:noFill/>
          <a:ln/>
        </p:spPr>
        <p:txBody>
          <a:bodyPr wrap="square" lIns="0" tIns="0" rIns="0" bIns="0" rtlCol="0" anchor="ctr"/>
          <a:lstStyle/>
          <a:p>
            <a:pPr indent="0" marL="0">
              <a:buNone/>
            </a:pPr>
            <a:r>
              <a:rPr lang="en-US" sz="950" b="1" dirty="0">
                <a:solidFill>
                  <a:srgbClr val="C1121F"/>
                </a:solidFill>
              </a:rPr>
              <a:t>STUDENT GOTCHA</a:t>
            </a:r>
            <a:endParaRPr lang="en-US" sz="950" dirty="0"/>
          </a:p>
        </p:txBody>
      </p:sp>
      <p:sp>
        <p:nvSpPr>
          <p:cNvPr id="16" name="Text 14"/>
          <p:cNvSpPr/>
          <p:nvPr/>
        </p:nvSpPr>
        <p:spPr>
          <a:xfrm>
            <a:off x="6629400" y="4453128"/>
            <a:ext cx="4709160" cy="356616"/>
          </a:xfrm>
          <a:prstGeom prst="rect">
            <a:avLst/>
          </a:prstGeom>
          <a:noFill/>
          <a:ln/>
        </p:spPr>
        <p:txBody>
          <a:bodyPr wrap="square" lIns="254" tIns="254" rIns="254" bIns="254" rtlCol="0" anchor="t">
            <a:normAutofit/>
          </a:bodyPr>
          <a:lstStyle/>
          <a:p>
            <a:pPr indent="0" marL="0">
              <a:buNone/>
            </a:pPr>
            <a:r>
              <a:rPr lang="en-US" sz="1250" dirty="0">
                <a:solidFill>
                  <a:srgbClr val="1E293B"/>
                </a:solidFill>
              </a:rPr>
              <a:t>∀x Student(x) ∧ HasIdentificationCard(x) says every object is a student and has an identification card, which is usually false.</a:t>
            </a:r>
            <a:endParaRPr lang="en-US" sz="1250" dirty="0"/>
          </a:p>
        </p:txBody>
      </p:sp>
      <p:sp>
        <p:nvSpPr>
          <p:cNvPr id="17" name="Shape 15"/>
          <p:cNvSpPr/>
          <p:nvPr/>
        </p:nvSpPr>
        <p:spPr>
          <a:xfrm>
            <a:off x="6446520" y="5074920"/>
            <a:ext cx="5074920" cy="841248"/>
          </a:xfrm>
          <a:prstGeom prst="roundRect">
            <a:avLst>
              <a:gd name="adj" fmla="val 8696"/>
            </a:avLst>
          </a:prstGeom>
          <a:solidFill>
            <a:srgbClr val="E6FFFA"/>
          </a:solidFill>
          <a:ln w="12700">
            <a:solidFill>
              <a:srgbClr val="2A9D8F"/>
            </a:solidFill>
            <a:prstDash val="solid"/>
          </a:ln>
        </p:spPr>
      </p:sp>
      <p:sp>
        <p:nvSpPr>
          <p:cNvPr id="18" name="Text 16"/>
          <p:cNvSpPr/>
          <p:nvPr/>
        </p:nvSpPr>
        <p:spPr>
          <a:xfrm>
            <a:off x="6629400" y="5212080"/>
            <a:ext cx="4709160" cy="219456"/>
          </a:xfrm>
          <a:prstGeom prst="rect">
            <a:avLst/>
          </a:prstGeom>
          <a:noFill/>
          <a:ln/>
        </p:spPr>
        <p:txBody>
          <a:bodyPr wrap="square" lIns="0" tIns="0" rIns="0" bIns="0" rtlCol="0" anchor="ctr"/>
          <a:lstStyle/>
          <a:p>
            <a:pPr indent="0" marL="0">
              <a:buNone/>
            </a:pPr>
            <a:r>
              <a:rPr lang="en-US" sz="950" b="1" dirty="0">
                <a:solidFill>
                  <a:srgbClr val="007C89"/>
                </a:solidFill>
              </a:rPr>
              <a:t>CLASS CHECK</a:t>
            </a:r>
            <a:endParaRPr lang="en-US" sz="950" dirty="0"/>
          </a:p>
        </p:txBody>
      </p:sp>
      <p:sp>
        <p:nvSpPr>
          <p:cNvPr id="19" name="Text 17"/>
          <p:cNvSpPr/>
          <p:nvPr/>
        </p:nvSpPr>
        <p:spPr>
          <a:xfrm>
            <a:off x="6629400" y="5486400"/>
            <a:ext cx="4709160" cy="338328"/>
          </a:xfrm>
          <a:prstGeom prst="rect">
            <a:avLst/>
          </a:prstGeom>
          <a:noFill/>
          <a:ln/>
        </p:spPr>
        <p:txBody>
          <a:bodyPr wrap="square" lIns="254" tIns="254" rIns="254" bIns="254" rtlCol="0" anchor="t">
            <a:normAutofit/>
          </a:bodyPr>
          <a:lstStyle/>
          <a:p>
            <a:pPr indent="0" marL="0">
              <a:buNone/>
            </a:pPr>
            <a:r>
              <a:rPr lang="en-US" sz="1270" dirty="0">
                <a:solidFill>
                  <a:srgbClr val="1E293B"/>
                </a:solidFill>
              </a:rPr>
              <a:t>Ask: Why would the classroom projector make the stronger sentence false?</a:t>
            </a:r>
            <a:endParaRPr lang="en-US" sz="127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5088"/>
          </a:solidFill>
          <a:ln w="12700">
            <a:solidFill>
              <a:srgbClr val="005088"/>
            </a:solidFill>
            <a:prstDash val="solid"/>
          </a:ln>
        </p:spPr>
      </p:sp>
      <p:sp>
        <p:nvSpPr>
          <p:cNvPr id="3" name="Shape 1"/>
          <p:cNvSpPr/>
          <p:nvPr/>
        </p:nvSpPr>
        <p:spPr>
          <a:xfrm>
            <a:off x="0" y="6729984"/>
            <a:ext cx="12191695" cy="128016"/>
          </a:xfrm>
          <a:prstGeom prst="rect">
            <a:avLst/>
          </a:prstGeom>
          <a:solidFill>
            <a:srgbClr val="005088"/>
          </a:solidFill>
          <a:ln w="12700">
            <a:solidFill>
              <a:srgbClr val="005088"/>
            </a:solidFill>
            <a:prstDash val="solid"/>
          </a:ln>
        </p:spPr>
      </p:sp>
      <p:sp>
        <p:nvSpPr>
          <p:cNvPr id="4" name="Text 2"/>
          <p:cNvSpPr/>
          <p:nvPr/>
        </p:nvSpPr>
        <p:spPr>
          <a:xfrm>
            <a:off x="502920" y="210312"/>
            <a:ext cx="6858000" cy="219456"/>
          </a:xfrm>
          <a:prstGeom prst="rect">
            <a:avLst/>
          </a:prstGeom>
          <a:noFill/>
          <a:ln/>
        </p:spPr>
        <p:txBody>
          <a:bodyPr wrap="square" lIns="0" tIns="0" rIns="0" bIns="0" rtlCol="0" anchor="ctr"/>
          <a:lstStyle/>
          <a:p>
            <a:pPr indent="0" marL="0">
              <a:buNone/>
            </a:pPr>
            <a:r>
              <a:rPr lang="en-US" sz="950" b="1" dirty="0">
                <a:solidFill>
                  <a:srgbClr val="3D5A80"/>
                </a:solidFill>
                <a:latin typeface="Aptos" pitchFamily="34" charset="0"/>
                <a:ea typeface="Aptos" pitchFamily="34" charset="-122"/>
                <a:cs typeface="Aptos" pitchFamily="34" charset="-120"/>
              </a:rPr>
              <a:t>8.2.6 Quantifiers</a:t>
            </a:r>
            <a:endParaRPr lang="en-US" sz="950" dirty="0"/>
          </a:p>
        </p:txBody>
      </p:sp>
      <p:sp>
        <p:nvSpPr>
          <p:cNvPr id="5" name="Text 3"/>
          <p:cNvSpPr/>
          <p:nvPr/>
        </p:nvSpPr>
        <p:spPr>
          <a:xfrm>
            <a:off x="11018520" y="201168"/>
            <a:ext cx="640080" cy="228600"/>
          </a:xfrm>
          <a:prstGeom prst="rect">
            <a:avLst/>
          </a:prstGeom>
          <a:noFill/>
          <a:ln/>
        </p:spPr>
        <p:txBody>
          <a:bodyPr wrap="square" lIns="0" tIns="0" rIns="0" bIns="0" rtlCol="0" anchor="ctr"/>
          <a:lstStyle/>
          <a:p>
            <a:pPr algn="r" indent="0" marL="0">
              <a:buNone/>
            </a:pPr>
            <a:r>
              <a:rPr lang="en-US" sz="900" b="1" dirty="0">
                <a:solidFill>
                  <a:srgbClr val="3D5A80"/>
                </a:solidFill>
              </a:rPr>
              <a:t>50</a:t>
            </a:r>
            <a:endParaRPr lang="en-US" sz="900" dirty="0"/>
          </a:p>
        </p:txBody>
      </p:sp>
      <p:sp>
        <p:nvSpPr>
          <p:cNvPr id="6" name="Text 4"/>
          <p:cNvSpPr/>
          <p:nvPr/>
        </p:nvSpPr>
        <p:spPr>
          <a:xfrm>
            <a:off x="502920" y="566928"/>
            <a:ext cx="11201400" cy="512064"/>
          </a:xfrm>
          <a:prstGeom prst="rect">
            <a:avLst/>
          </a:prstGeom>
          <a:noFill/>
          <a:ln/>
        </p:spPr>
        <p:txBody>
          <a:bodyPr wrap="square" lIns="0" tIns="0" rIns="0" bIns="0" rtlCol="0" anchor="ctr">
            <a:normAutofit/>
          </a:bodyPr>
          <a:lstStyle/>
          <a:p>
            <a:pPr indent="0" marL="0">
              <a:buNone/>
            </a:pPr>
            <a:r>
              <a:rPr lang="en-US" sz="2650" b="1" dirty="0">
                <a:solidFill>
                  <a:srgbClr val="005088"/>
                </a:solidFill>
                <a:latin typeface="Aptos Display" pitchFamily="34" charset="0"/>
                <a:ea typeface="Aptos Display" pitchFamily="34" charset="-122"/>
                <a:cs typeface="Aptos Display" pitchFamily="34" charset="-120"/>
              </a:rPr>
              <a:t>EXISTENTIAL QUANTIFICATION MEANS AT LEAST ONE OBJECT</a:t>
            </a:r>
            <a:endParaRPr lang="en-US" sz="2650" dirty="0"/>
          </a:p>
        </p:txBody>
      </p:sp>
      <p:sp>
        <p:nvSpPr>
          <p:cNvPr id="7" name="Shape 5"/>
          <p:cNvSpPr/>
          <p:nvPr/>
        </p:nvSpPr>
        <p:spPr>
          <a:xfrm>
            <a:off x="502920" y="1188720"/>
            <a:ext cx="11109960" cy="0"/>
          </a:xfrm>
          <a:prstGeom prst="line">
            <a:avLst/>
          </a:prstGeom>
          <a:noFill/>
          <a:ln w="12700">
            <a:solidFill>
              <a:srgbClr val="3D5A80"/>
            </a:solidFill>
            <a:prstDash val="solid"/>
          </a:ln>
        </p:spPr>
      </p:sp>
      <p:sp>
        <p:nvSpPr>
          <p:cNvPr id="8" name="Text 6"/>
          <p:cNvSpPr/>
          <p:nvPr/>
        </p:nvSpPr>
        <p:spPr>
          <a:xfrm>
            <a:off x="713232" y="1572768"/>
            <a:ext cx="5440680" cy="4251960"/>
          </a:xfrm>
          <a:prstGeom prst="rect">
            <a:avLst/>
          </a:prstGeom>
          <a:noFill/>
          <a:ln/>
        </p:spPr>
        <p:txBody>
          <a:bodyPr wrap="square" lIns="1016" tIns="1016" rIns="1016" bIns="1016" rtlCol="0" anchor="t">
            <a:normAutofit/>
          </a:bodyPr>
          <a:lstStyle/>
          <a:p>
            <a:pPr indent="0" marL="0">
              <a:buNone/>
            </a:pPr>
            <a:r>
              <a:rPr lang="en-US" sz="1650" dirty="0">
                <a:solidFill>
                  <a:srgbClr val="1E293B"/>
                </a:solidFill>
                <a:latin typeface="Aptos" pitchFamily="34" charset="0"/>
                <a:ea typeface="Aptos" pitchFamily="34" charset="-122"/>
                <a:cs typeface="Aptos" pitchFamily="34" charset="-120"/>
              </a:rPr>
              <a:t>• The existential quantifier is read “there exists”</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It needs at least one witness object</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It is useful when something exists but is unnamed</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It behaves like a large disjunction over the domain</a:t>
            </a:r>
            <a:endParaRPr lang="en-US" sz="1650" dirty="0"/>
          </a:p>
        </p:txBody>
      </p:sp>
      <p:sp>
        <p:nvSpPr>
          <p:cNvPr id="9" name="Shape 7"/>
          <p:cNvSpPr/>
          <p:nvPr/>
        </p:nvSpPr>
        <p:spPr>
          <a:xfrm>
            <a:off x="6446520" y="1572768"/>
            <a:ext cx="5074920" cy="1234440"/>
          </a:xfrm>
          <a:prstGeom prst="roundRect">
            <a:avLst>
              <a:gd name="adj" fmla="val 5926"/>
            </a:avLst>
          </a:prstGeom>
          <a:solidFill>
            <a:srgbClr val="FFF6D9"/>
          </a:solidFill>
          <a:ln w="12700">
            <a:solidFill>
              <a:srgbClr val="F4A261"/>
            </a:solidFill>
            <a:prstDash val="solid"/>
          </a:ln>
        </p:spPr>
      </p:sp>
      <p:sp>
        <p:nvSpPr>
          <p:cNvPr id="10" name="Text 8"/>
          <p:cNvSpPr/>
          <p:nvPr/>
        </p:nvSpPr>
        <p:spPr>
          <a:xfrm>
            <a:off x="6629400" y="1709928"/>
            <a:ext cx="4709160" cy="219456"/>
          </a:xfrm>
          <a:prstGeom prst="rect">
            <a:avLst/>
          </a:prstGeom>
          <a:noFill/>
          <a:ln/>
        </p:spPr>
        <p:txBody>
          <a:bodyPr wrap="square" lIns="0" tIns="0" rIns="0" bIns="0" rtlCol="0" anchor="ctr"/>
          <a:lstStyle/>
          <a:p>
            <a:pPr indent="0" marL="0">
              <a:buNone/>
            </a:pPr>
            <a:r>
              <a:rPr lang="en-US" sz="950" b="1" dirty="0">
                <a:solidFill>
                  <a:srgbClr val="B0005D"/>
                </a:solidFill>
              </a:rPr>
              <a:t>ANALOGY</a:t>
            </a:r>
            <a:endParaRPr lang="en-US" sz="950" dirty="0"/>
          </a:p>
        </p:txBody>
      </p:sp>
      <p:sp>
        <p:nvSpPr>
          <p:cNvPr id="11" name="Text 9"/>
          <p:cNvSpPr/>
          <p:nvPr/>
        </p:nvSpPr>
        <p:spPr>
          <a:xfrm>
            <a:off x="6629400" y="1984248"/>
            <a:ext cx="4709160" cy="731520"/>
          </a:xfrm>
          <a:prstGeom prst="rect">
            <a:avLst/>
          </a:prstGeom>
          <a:noFill/>
          <a:ln/>
        </p:spPr>
        <p:txBody>
          <a:bodyPr wrap="square" lIns="254" tIns="254" rIns="254" bIns="254" rtlCol="0" anchor="t">
            <a:normAutofit/>
          </a:bodyPr>
          <a:lstStyle/>
          <a:p>
            <a:pPr indent="0" marL="0">
              <a:buNone/>
            </a:pPr>
            <a:r>
              <a:rPr lang="en-US" sz="1330" dirty="0">
                <a:solidFill>
                  <a:srgbClr val="1E293B"/>
                </a:solidFill>
              </a:rPr>
              <a:t>A lost-and-found message saying “someone left a laptop” proves existence without naming the owner.</a:t>
            </a:r>
            <a:endParaRPr lang="en-US" sz="1330" dirty="0"/>
          </a:p>
        </p:txBody>
      </p:sp>
      <p:sp>
        <p:nvSpPr>
          <p:cNvPr id="12" name="Shape 10"/>
          <p:cNvSpPr/>
          <p:nvPr/>
        </p:nvSpPr>
        <p:spPr>
          <a:xfrm>
            <a:off x="6446520" y="2999232"/>
            <a:ext cx="5074920" cy="841248"/>
          </a:xfrm>
          <a:prstGeom prst="roundRect">
            <a:avLst>
              <a:gd name="adj" fmla="val 8696"/>
            </a:avLst>
          </a:prstGeom>
          <a:solidFill>
            <a:srgbClr val="FFFFFF">
              <a:alpha val="97000"/>
            </a:srgbClr>
          </a:solidFill>
          <a:ln w="12700">
            <a:solidFill>
              <a:srgbClr val="007C89"/>
            </a:solidFill>
            <a:prstDash val="solid"/>
          </a:ln>
        </p:spPr>
      </p:sp>
      <p:sp>
        <p:nvSpPr>
          <p:cNvPr id="13" name="Text 11"/>
          <p:cNvSpPr/>
          <p:nvPr/>
        </p:nvSpPr>
        <p:spPr>
          <a:xfrm>
            <a:off x="6611112" y="3127248"/>
            <a:ext cx="4745736" cy="658368"/>
          </a:xfrm>
          <a:prstGeom prst="rect">
            <a:avLst/>
          </a:prstGeom>
          <a:noFill/>
          <a:ln/>
        </p:spPr>
        <p:txBody>
          <a:bodyPr wrap="square" lIns="0" tIns="0" rIns="0" bIns="0" rtlCol="0" anchor="ctr">
            <a:normAutofit/>
          </a:bodyPr>
          <a:lstStyle/>
          <a:p>
            <a:pPr algn="ctr" indent="0" marL="0">
              <a:buNone/>
            </a:pPr>
            <a:r>
              <a:rPr lang="en-US" sz="1700" b="1" dirty="0">
                <a:solidFill>
                  <a:srgbClr val="005088"/>
                </a:solidFill>
                <a:latin typeface="Cambria Math" pitchFamily="34" charset="0"/>
                <a:ea typeface="Cambria Math" pitchFamily="34" charset="-122"/>
                <a:cs typeface="Cambria Math" pitchFamily="34" charset="-120"/>
              </a:rPr>
              <a:t>∃x Crown(x) ∧ OnHead(x, John)</a:t>
            </a:r>
            <a:endParaRPr lang="en-US" sz="1700" dirty="0"/>
          </a:p>
        </p:txBody>
      </p:sp>
      <p:sp>
        <p:nvSpPr>
          <p:cNvPr id="14" name="Shape 12"/>
          <p:cNvSpPr/>
          <p:nvPr/>
        </p:nvSpPr>
        <p:spPr>
          <a:xfrm>
            <a:off x="6446520" y="4041648"/>
            <a:ext cx="5074920" cy="859536"/>
          </a:xfrm>
          <a:prstGeom prst="roundRect">
            <a:avLst>
              <a:gd name="adj" fmla="val 8511"/>
            </a:avLst>
          </a:prstGeom>
          <a:solidFill>
            <a:srgbClr val="FFE4E6"/>
          </a:solidFill>
          <a:ln w="12700">
            <a:solidFill>
              <a:srgbClr val="FDA4AF"/>
            </a:solidFill>
            <a:prstDash val="solid"/>
          </a:ln>
        </p:spPr>
      </p:sp>
      <p:sp>
        <p:nvSpPr>
          <p:cNvPr id="15" name="Text 13"/>
          <p:cNvSpPr/>
          <p:nvPr/>
        </p:nvSpPr>
        <p:spPr>
          <a:xfrm>
            <a:off x="6629400" y="4178808"/>
            <a:ext cx="4709160" cy="219456"/>
          </a:xfrm>
          <a:prstGeom prst="rect">
            <a:avLst/>
          </a:prstGeom>
          <a:noFill/>
          <a:ln/>
        </p:spPr>
        <p:txBody>
          <a:bodyPr wrap="square" lIns="0" tIns="0" rIns="0" bIns="0" rtlCol="0" anchor="ctr"/>
          <a:lstStyle/>
          <a:p>
            <a:pPr indent="0" marL="0">
              <a:buNone/>
            </a:pPr>
            <a:r>
              <a:rPr lang="en-US" sz="950" b="1" dirty="0">
                <a:solidFill>
                  <a:srgbClr val="C1121F"/>
                </a:solidFill>
              </a:rPr>
              <a:t>STUDENT GOTCHA</a:t>
            </a:r>
            <a:endParaRPr lang="en-US" sz="950" dirty="0"/>
          </a:p>
        </p:txBody>
      </p:sp>
      <p:sp>
        <p:nvSpPr>
          <p:cNvPr id="16" name="Text 14"/>
          <p:cNvSpPr/>
          <p:nvPr/>
        </p:nvSpPr>
        <p:spPr>
          <a:xfrm>
            <a:off x="6629400" y="4453128"/>
            <a:ext cx="4709160" cy="356616"/>
          </a:xfrm>
          <a:prstGeom prst="rect">
            <a:avLst/>
          </a:prstGeom>
          <a:noFill/>
          <a:ln/>
        </p:spPr>
        <p:txBody>
          <a:bodyPr wrap="square" lIns="254" tIns="254" rIns="254" bIns="254" rtlCol="0" anchor="t">
            <a:normAutofit/>
          </a:bodyPr>
          <a:lstStyle/>
          <a:p>
            <a:pPr indent="0" marL="0">
              <a:buNone/>
            </a:pPr>
            <a:r>
              <a:rPr lang="en-US" sz="1250" dirty="0">
                <a:solidFill>
                  <a:srgbClr val="1E293B"/>
                </a:solidFill>
              </a:rPr>
              <a:t>Existence means at least one, not exactly one.</a:t>
            </a:r>
            <a:endParaRPr lang="en-US" sz="1250" dirty="0"/>
          </a:p>
        </p:txBody>
      </p:sp>
      <p:sp>
        <p:nvSpPr>
          <p:cNvPr id="17" name="Shape 15"/>
          <p:cNvSpPr/>
          <p:nvPr/>
        </p:nvSpPr>
        <p:spPr>
          <a:xfrm>
            <a:off x="6446520" y="5074920"/>
            <a:ext cx="5074920" cy="841248"/>
          </a:xfrm>
          <a:prstGeom prst="roundRect">
            <a:avLst>
              <a:gd name="adj" fmla="val 8696"/>
            </a:avLst>
          </a:prstGeom>
          <a:solidFill>
            <a:srgbClr val="E6FFFA"/>
          </a:solidFill>
          <a:ln w="12700">
            <a:solidFill>
              <a:srgbClr val="2A9D8F"/>
            </a:solidFill>
            <a:prstDash val="solid"/>
          </a:ln>
        </p:spPr>
      </p:sp>
      <p:sp>
        <p:nvSpPr>
          <p:cNvPr id="18" name="Text 16"/>
          <p:cNvSpPr/>
          <p:nvPr/>
        </p:nvSpPr>
        <p:spPr>
          <a:xfrm>
            <a:off x="6629400" y="5212080"/>
            <a:ext cx="4709160" cy="219456"/>
          </a:xfrm>
          <a:prstGeom prst="rect">
            <a:avLst/>
          </a:prstGeom>
          <a:noFill/>
          <a:ln/>
        </p:spPr>
        <p:txBody>
          <a:bodyPr wrap="square" lIns="0" tIns="0" rIns="0" bIns="0" rtlCol="0" anchor="ctr"/>
          <a:lstStyle/>
          <a:p>
            <a:pPr indent="0" marL="0">
              <a:buNone/>
            </a:pPr>
            <a:r>
              <a:rPr lang="en-US" sz="950" b="1" dirty="0">
                <a:solidFill>
                  <a:srgbClr val="007C89"/>
                </a:solidFill>
              </a:rPr>
              <a:t>CLASS CHECK</a:t>
            </a:r>
            <a:endParaRPr lang="en-US" sz="950" dirty="0"/>
          </a:p>
        </p:txBody>
      </p:sp>
      <p:sp>
        <p:nvSpPr>
          <p:cNvPr id="19" name="Text 17"/>
          <p:cNvSpPr/>
          <p:nvPr/>
        </p:nvSpPr>
        <p:spPr>
          <a:xfrm>
            <a:off x="6629400" y="5486400"/>
            <a:ext cx="4709160" cy="338328"/>
          </a:xfrm>
          <a:prstGeom prst="rect">
            <a:avLst/>
          </a:prstGeom>
          <a:noFill/>
          <a:ln/>
        </p:spPr>
        <p:txBody>
          <a:bodyPr wrap="square" lIns="254" tIns="254" rIns="254" bIns="254" rtlCol="0" anchor="t">
            <a:normAutofit/>
          </a:bodyPr>
          <a:lstStyle/>
          <a:p>
            <a:pPr indent="0" marL="0">
              <a:buNone/>
            </a:pPr>
            <a:r>
              <a:rPr lang="en-US" sz="1270" dirty="0">
                <a:solidFill>
                  <a:srgbClr val="1E293B"/>
                </a:solidFill>
              </a:rPr>
              <a:t>Ask: Does this formula allow John to have two crowns?</a:t>
            </a:r>
            <a:endParaRPr lang="en-US" sz="127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5088"/>
          </a:solidFill>
          <a:ln w="12700">
            <a:solidFill>
              <a:srgbClr val="005088"/>
            </a:solidFill>
            <a:prstDash val="solid"/>
          </a:ln>
        </p:spPr>
      </p:sp>
      <p:sp>
        <p:nvSpPr>
          <p:cNvPr id="3" name="Shape 1"/>
          <p:cNvSpPr/>
          <p:nvPr/>
        </p:nvSpPr>
        <p:spPr>
          <a:xfrm>
            <a:off x="0" y="6729984"/>
            <a:ext cx="12191695" cy="128016"/>
          </a:xfrm>
          <a:prstGeom prst="rect">
            <a:avLst/>
          </a:prstGeom>
          <a:solidFill>
            <a:srgbClr val="005088"/>
          </a:solidFill>
          <a:ln w="12700">
            <a:solidFill>
              <a:srgbClr val="005088"/>
            </a:solidFill>
            <a:prstDash val="solid"/>
          </a:ln>
        </p:spPr>
      </p:sp>
      <p:sp>
        <p:nvSpPr>
          <p:cNvPr id="4" name="Text 2"/>
          <p:cNvSpPr/>
          <p:nvPr/>
        </p:nvSpPr>
        <p:spPr>
          <a:xfrm>
            <a:off x="502920" y="210312"/>
            <a:ext cx="6858000" cy="219456"/>
          </a:xfrm>
          <a:prstGeom prst="rect">
            <a:avLst/>
          </a:prstGeom>
          <a:noFill/>
          <a:ln/>
        </p:spPr>
        <p:txBody>
          <a:bodyPr wrap="square" lIns="0" tIns="0" rIns="0" bIns="0" rtlCol="0" anchor="ctr"/>
          <a:lstStyle/>
          <a:p>
            <a:pPr indent="0" marL="0">
              <a:buNone/>
            </a:pPr>
            <a:r>
              <a:rPr lang="en-US" sz="950" b="1" dirty="0">
                <a:solidFill>
                  <a:srgbClr val="3D5A80"/>
                </a:solidFill>
                <a:latin typeface="Aptos" pitchFamily="34" charset="0"/>
                <a:ea typeface="Aptos" pitchFamily="34" charset="-122"/>
                <a:cs typeface="Aptos" pitchFamily="34" charset="-120"/>
              </a:rPr>
              <a:t>8.2.6 Quantifiers</a:t>
            </a:r>
            <a:endParaRPr lang="en-US" sz="950" dirty="0"/>
          </a:p>
        </p:txBody>
      </p:sp>
      <p:sp>
        <p:nvSpPr>
          <p:cNvPr id="5" name="Text 3"/>
          <p:cNvSpPr/>
          <p:nvPr/>
        </p:nvSpPr>
        <p:spPr>
          <a:xfrm>
            <a:off x="11018520" y="201168"/>
            <a:ext cx="640080" cy="228600"/>
          </a:xfrm>
          <a:prstGeom prst="rect">
            <a:avLst/>
          </a:prstGeom>
          <a:noFill/>
          <a:ln/>
        </p:spPr>
        <p:txBody>
          <a:bodyPr wrap="square" lIns="0" tIns="0" rIns="0" bIns="0" rtlCol="0" anchor="ctr"/>
          <a:lstStyle/>
          <a:p>
            <a:pPr algn="r" indent="0" marL="0">
              <a:buNone/>
            </a:pPr>
            <a:r>
              <a:rPr lang="en-US" sz="900" b="1" dirty="0">
                <a:solidFill>
                  <a:srgbClr val="3D5A80"/>
                </a:solidFill>
              </a:rPr>
              <a:t>51</a:t>
            </a:r>
            <a:endParaRPr lang="en-US" sz="900" dirty="0"/>
          </a:p>
        </p:txBody>
      </p:sp>
      <p:sp>
        <p:nvSpPr>
          <p:cNvPr id="6" name="Text 4"/>
          <p:cNvSpPr/>
          <p:nvPr/>
        </p:nvSpPr>
        <p:spPr>
          <a:xfrm>
            <a:off x="502920" y="566928"/>
            <a:ext cx="11201400" cy="512064"/>
          </a:xfrm>
          <a:prstGeom prst="rect">
            <a:avLst/>
          </a:prstGeom>
          <a:noFill/>
          <a:ln/>
        </p:spPr>
        <p:txBody>
          <a:bodyPr wrap="square" lIns="0" tIns="0" rIns="0" bIns="0" rtlCol="0" anchor="ctr">
            <a:normAutofit/>
          </a:bodyPr>
          <a:lstStyle/>
          <a:p>
            <a:pPr indent="0" marL="0">
              <a:buNone/>
            </a:pPr>
            <a:r>
              <a:rPr lang="en-US" sz="2650" b="1" dirty="0">
                <a:solidFill>
                  <a:srgbClr val="005088"/>
                </a:solidFill>
                <a:latin typeface="Aptos Display" pitchFamily="34" charset="0"/>
                <a:ea typeface="Aptos Display" pitchFamily="34" charset="-122"/>
                <a:cs typeface="Aptos Display" pitchFamily="34" charset="-120"/>
              </a:rPr>
              <a:t>EXISTENTIAL QUANTIFIER USUALLY PAIRS WITH CONJUNCTION</a:t>
            </a:r>
            <a:endParaRPr lang="en-US" sz="2650" dirty="0"/>
          </a:p>
        </p:txBody>
      </p:sp>
      <p:sp>
        <p:nvSpPr>
          <p:cNvPr id="7" name="Shape 5"/>
          <p:cNvSpPr/>
          <p:nvPr/>
        </p:nvSpPr>
        <p:spPr>
          <a:xfrm>
            <a:off x="502920" y="1188720"/>
            <a:ext cx="11109960" cy="0"/>
          </a:xfrm>
          <a:prstGeom prst="line">
            <a:avLst/>
          </a:prstGeom>
          <a:noFill/>
          <a:ln w="12700">
            <a:solidFill>
              <a:srgbClr val="3D5A80"/>
            </a:solidFill>
            <a:prstDash val="solid"/>
          </a:ln>
        </p:spPr>
      </p:sp>
      <p:sp>
        <p:nvSpPr>
          <p:cNvPr id="8" name="Text 6"/>
          <p:cNvSpPr/>
          <p:nvPr/>
        </p:nvSpPr>
        <p:spPr>
          <a:xfrm>
            <a:off x="713232" y="1572768"/>
            <a:ext cx="5440680" cy="4251960"/>
          </a:xfrm>
          <a:prstGeom prst="rect">
            <a:avLst/>
          </a:prstGeom>
          <a:noFill/>
          <a:ln/>
        </p:spPr>
        <p:txBody>
          <a:bodyPr wrap="square" lIns="1016" tIns="1016" rIns="1016" bIns="1016" rtlCol="0" anchor="t">
            <a:normAutofit/>
          </a:bodyPr>
          <a:lstStyle/>
          <a:p>
            <a:pPr indent="0" marL="0">
              <a:buNone/>
            </a:pPr>
            <a:r>
              <a:rPr lang="en-US" sz="1650" dirty="0">
                <a:solidFill>
                  <a:srgbClr val="1E293B"/>
                </a:solidFill>
                <a:latin typeface="Aptos" pitchFamily="34" charset="0"/>
                <a:ea typeface="Aptos" pitchFamily="34" charset="-122"/>
                <a:cs typeface="Aptos" pitchFamily="34" charset="-120"/>
              </a:rPr>
              <a:t>• Existence claims usually need several properties to hold together</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The witness must satisfy all required conditions</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Using implication can make the claim too weak</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The wrong connective may make a sentence nearly meaningless</a:t>
            </a:r>
            <a:endParaRPr lang="en-US" sz="1650" dirty="0"/>
          </a:p>
        </p:txBody>
      </p:sp>
      <p:sp>
        <p:nvSpPr>
          <p:cNvPr id="9" name="Shape 7"/>
          <p:cNvSpPr/>
          <p:nvPr/>
        </p:nvSpPr>
        <p:spPr>
          <a:xfrm>
            <a:off x="6446520" y="1572768"/>
            <a:ext cx="5074920" cy="1234440"/>
          </a:xfrm>
          <a:prstGeom prst="roundRect">
            <a:avLst>
              <a:gd name="adj" fmla="val 5926"/>
            </a:avLst>
          </a:prstGeom>
          <a:solidFill>
            <a:srgbClr val="FFF6D9"/>
          </a:solidFill>
          <a:ln w="12700">
            <a:solidFill>
              <a:srgbClr val="F4A261"/>
            </a:solidFill>
            <a:prstDash val="solid"/>
          </a:ln>
        </p:spPr>
      </p:sp>
      <p:sp>
        <p:nvSpPr>
          <p:cNvPr id="10" name="Text 8"/>
          <p:cNvSpPr/>
          <p:nvPr/>
        </p:nvSpPr>
        <p:spPr>
          <a:xfrm>
            <a:off x="6629400" y="1709928"/>
            <a:ext cx="4709160" cy="219456"/>
          </a:xfrm>
          <a:prstGeom prst="rect">
            <a:avLst/>
          </a:prstGeom>
          <a:noFill/>
          <a:ln/>
        </p:spPr>
        <p:txBody>
          <a:bodyPr wrap="square" lIns="0" tIns="0" rIns="0" bIns="0" rtlCol="0" anchor="ctr"/>
          <a:lstStyle/>
          <a:p>
            <a:pPr indent="0" marL="0">
              <a:buNone/>
            </a:pPr>
            <a:r>
              <a:rPr lang="en-US" sz="950" b="1" dirty="0">
                <a:solidFill>
                  <a:srgbClr val="B0005D"/>
                </a:solidFill>
              </a:rPr>
              <a:t>ANALOGY</a:t>
            </a:r>
            <a:endParaRPr lang="en-US" sz="950" dirty="0"/>
          </a:p>
        </p:txBody>
      </p:sp>
      <p:sp>
        <p:nvSpPr>
          <p:cNvPr id="11" name="Text 9"/>
          <p:cNvSpPr/>
          <p:nvPr/>
        </p:nvSpPr>
        <p:spPr>
          <a:xfrm>
            <a:off x="6629400" y="1984248"/>
            <a:ext cx="4709160" cy="731520"/>
          </a:xfrm>
          <a:prstGeom prst="rect">
            <a:avLst/>
          </a:prstGeom>
          <a:noFill/>
          <a:ln/>
        </p:spPr>
        <p:txBody>
          <a:bodyPr wrap="square" lIns="254" tIns="254" rIns="254" bIns="254" rtlCol="0" anchor="t">
            <a:normAutofit/>
          </a:bodyPr>
          <a:lstStyle/>
          <a:p>
            <a:pPr indent="0" marL="0">
              <a:buNone/>
            </a:pPr>
            <a:r>
              <a:rPr lang="en-US" sz="1330" dirty="0">
                <a:solidFill>
                  <a:srgbClr val="1E293B"/>
                </a:solidFill>
              </a:rPr>
              <a:t>A metal detector must find one spot that is both metal and in the search area. Empty sand should not count as success.</a:t>
            </a:r>
            <a:endParaRPr lang="en-US" sz="1330" dirty="0"/>
          </a:p>
        </p:txBody>
      </p:sp>
      <p:sp>
        <p:nvSpPr>
          <p:cNvPr id="12" name="Shape 10"/>
          <p:cNvSpPr/>
          <p:nvPr/>
        </p:nvSpPr>
        <p:spPr>
          <a:xfrm>
            <a:off x="6446520" y="2999232"/>
            <a:ext cx="5074920" cy="841248"/>
          </a:xfrm>
          <a:prstGeom prst="roundRect">
            <a:avLst>
              <a:gd name="adj" fmla="val 8696"/>
            </a:avLst>
          </a:prstGeom>
          <a:solidFill>
            <a:srgbClr val="FFFFFF">
              <a:alpha val="97000"/>
            </a:srgbClr>
          </a:solidFill>
          <a:ln w="12700">
            <a:solidFill>
              <a:srgbClr val="007C89"/>
            </a:solidFill>
            <a:prstDash val="solid"/>
          </a:ln>
        </p:spPr>
      </p:sp>
      <p:sp>
        <p:nvSpPr>
          <p:cNvPr id="13" name="Text 11"/>
          <p:cNvSpPr/>
          <p:nvPr/>
        </p:nvSpPr>
        <p:spPr>
          <a:xfrm>
            <a:off x="6611112" y="3127248"/>
            <a:ext cx="4745736" cy="658368"/>
          </a:xfrm>
          <a:prstGeom prst="rect">
            <a:avLst/>
          </a:prstGeom>
          <a:noFill/>
          <a:ln/>
        </p:spPr>
        <p:txBody>
          <a:bodyPr wrap="square" lIns="0" tIns="0" rIns="0" bIns="0" rtlCol="0" anchor="ctr">
            <a:normAutofit/>
          </a:bodyPr>
          <a:lstStyle/>
          <a:p>
            <a:pPr algn="ctr" indent="0" marL="0">
              <a:buNone/>
            </a:pPr>
            <a:r>
              <a:rPr lang="en-US" sz="1600" b="1" dirty="0">
                <a:solidFill>
                  <a:srgbClr val="005088"/>
                </a:solidFill>
                <a:latin typeface="Cambria Math" pitchFamily="34" charset="0"/>
                <a:ea typeface="Cambria Math" pitchFamily="34" charset="-122"/>
                <a:cs typeface="Cambria Math" pitchFamily="34" charset="-120"/>
              </a:rPr>
              <a:t>∃x Student(x) ∧ Enrolled(x, ComputerScience469)</a:t>
            </a:r>
            <a:endParaRPr lang="en-US" sz="1600" dirty="0"/>
          </a:p>
        </p:txBody>
      </p:sp>
      <p:sp>
        <p:nvSpPr>
          <p:cNvPr id="14" name="Shape 12"/>
          <p:cNvSpPr/>
          <p:nvPr/>
        </p:nvSpPr>
        <p:spPr>
          <a:xfrm>
            <a:off x="6446520" y="4041648"/>
            <a:ext cx="5074920" cy="859536"/>
          </a:xfrm>
          <a:prstGeom prst="roundRect">
            <a:avLst>
              <a:gd name="adj" fmla="val 8511"/>
            </a:avLst>
          </a:prstGeom>
          <a:solidFill>
            <a:srgbClr val="FFE4E6"/>
          </a:solidFill>
          <a:ln w="12700">
            <a:solidFill>
              <a:srgbClr val="FDA4AF"/>
            </a:solidFill>
            <a:prstDash val="solid"/>
          </a:ln>
        </p:spPr>
      </p:sp>
      <p:sp>
        <p:nvSpPr>
          <p:cNvPr id="15" name="Text 13"/>
          <p:cNvSpPr/>
          <p:nvPr/>
        </p:nvSpPr>
        <p:spPr>
          <a:xfrm>
            <a:off x="6629400" y="4178808"/>
            <a:ext cx="4709160" cy="219456"/>
          </a:xfrm>
          <a:prstGeom prst="rect">
            <a:avLst/>
          </a:prstGeom>
          <a:noFill/>
          <a:ln/>
        </p:spPr>
        <p:txBody>
          <a:bodyPr wrap="square" lIns="0" tIns="0" rIns="0" bIns="0" rtlCol="0" anchor="ctr"/>
          <a:lstStyle/>
          <a:p>
            <a:pPr indent="0" marL="0">
              <a:buNone/>
            </a:pPr>
            <a:r>
              <a:rPr lang="en-US" sz="950" b="1" dirty="0">
                <a:solidFill>
                  <a:srgbClr val="C1121F"/>
                </a:solidFill>
              </a:rPr>
              <a:t>STUDENT GOTCHA</a:t>
            </a:r>
            <a:endParaRPr lang="en-US" sz="950" dirty="0"/>
          </a:p>
        </p:txBody>
      </p:sp>
      <p:sp>
        <p:nvSpPr>
          <p:cNvPr id="16" name="Text 14"/>
          <p:cNvSpPr/>
          <p:nvPr/>
        </p:nvSpPr>
        <p:spPr>
          <a:xfrm>
            <a:off x="6629400" y="4453128"/>
            <a:ext cx="4709160" cy="356616"/>
          </a:xfrm>
          <a:prstGeom prst="rect">
            <a:avLst/>
          </a:prstGeom>
          <a:noFill/>
          <a:ln/>
        </p:spPr>
        <p:txBody>
          <a:bodyPr wrap="square" lIns="254" tIns="254" rIns="254" bIns="254" rtlCol="0" anchor="t">
            <a:normAutofit/>
          </a:bodyPr>
          <a:lstStyle/>
          <a:p>
            <a:pPr indent="0" marL="0">
              <a:buNone/>
            </a:pPr>
            <a:r>
              <a:rPr lang="en-US" sz="1250" dirty="0">
                <a:solidFill>
                  <a:srgbClr val="1E293B"/>
                </a:solidFill>
              </a:rPr>
              <a:t>∃x Student(x) ⇒ Enrolled(x, ComputerScience469) can be true because some nonstudent object makes the premise false.</a:t>
            </a:r>
            <a:endParaRPr lang="en-US" sz="1250" dirty="0"/>
          </a:p>
        </p:txBody>
      </p:sp>
      <p:sp>
        <p:nvSpPr>
          <p:cNvPr id="17" name="Shape 15"/>
          <p:cNvSpPr/>
          <p:nvPr/>
        </p:nvSpPr>
        <p:spPr>
          <a:xfrm>
            <a:off x="6446520" y="5074920"/>
            <a:ext cx="5074920" cy="841248"/>
          </a:xfrm>
          <a:prstGeom prst="roundRect">
            <a:avLst>
              <a:gd name="adj" fmla="val 8696"/>
            </a:avLst>
          </a:prstGeom>
          <a:solidFill>
            <a:srgbClr val="E6FFFA"/>
          </a:solidFill>
          <a:ln w="12700">
            <a:solidFill>
              <a:srgbClr val="2A9D8F"/>
            </a:solidFill>
            <a:prstDash val="solid"/>
          </a:ln>
        </p:spPr>
      </p:sp>
      <p:sp>
        <p:nvSpPr>
          <p:cNvPr id="18" name="Text 16"/>
          <p:cNvSpPr/>
          <p:nvPr/>
        </p:nvSpPr>
        <p:spPr>
          <a:xfrm>
            <a:off x="6629400" y="5212080"/>
            <a:ext cx="4709160" cy="219456"/>
          </a:xfrm>
          <a:prstGeom prst="rect">
            <a:avLst/>
          </a:prstGeom>
          <a:noFill/>
          <a:ln/>
        </p:spPr>
        <p:txBody>
          <a:bodyPr wrap="square" lIns="0" tIns="0" rIns="0" bIns="0" rtlCol="0" anchor="ctr"/>
          <a:lstStyle/>
          <a:p>
            <a:pPr indent="0" marL="0">
              <a:buNone/>
            </a:pPr>
            <a:r>
              <a:rPr lang="en-US" sz="950" b="1" dirty="0">
                <a:solidFill>
                  <a:srgbClr val="007C89"/>
                </a:solidFill>
              </a:rPr>
              <a:t>CLASS CHECK</a:t>
            </a:r>
            <a:endParaRPr lang="en-US" sz="950" dirty="0"/>
          </a:p>
        </p:txBody>
      </p:sp>
      <p:sp>
        <p:nvSpPr>
          <p:cNvPr id="19" name="Text 17"/>
          <p:cNvSpPr/>
          <p:nvPr/>
        </p:nvSpPr>
        <p:spPr>
          <a:xfrm>
            <a:off x="6629400" y="5486400"/>
            <a:ext cx="4709160" cy="338328"/>
          </a:xfrm>
          <a:prstGeom prst="rect">
            <a:avLst/>
          </a:prstGeom>
          <a:noFill/>
          <a:ln/>
        </p:spPr>
        <p:txBody>
          <a:bodyPr wrap="square" lIns="254" tIns="254" rIns="254" bIns="254" rtlCol="0" anchor="t">
            <a:normAutofit/>
          </a:bodyPr>
          <a:lstStyle/>
          <a:p>
            <a:pPr indent="0" marL="0">
              <a:buNone/>
            </a:pPr>
            <a:r>
              <a:rPr lang="en-US" sz="1270" dirty="0">
                <a:solidFill>
                  <a:srgbClr val="1E293B"/>
                </a:solidFill>
              </a:rPr>
              <a:t>Ask why a chair could accidentally satisfy an existential implication.</a:t>
            </a:r>
            <a:endParaRPr lang="en-US" sz="127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5088"/>
          </a:solidFill>
          <a:ln w="12700">
            <a:solidFill>
              <a:srgbClr val="005088"/>
            </a:solidFill>
            <a:prstDash val="solid"/>
          </a:ln>
        </p:spPr>
      </p:sp>
      <p:sp>
        <p:nvSpPr>
          <p:cNvPr id="3" name="Shape 1"/>
          <p:cNvSpPr/>
          <p:nvPr/>
        </p:nvSpPr>
        <p:spPr>
          <a:xfrm>
            <a:off x="0" y="6729984"/>
            <a:ext cx="12191695" cy="128016"/>
          </a:xfrm>
          <a:prstGeom prst="rect">
            <a:avLst/>
          </a:prstGeom>
          <a:solidFill>
            <a:srgbClr val="005088"/>
          </a:solidFill>
          <a:ln w="12700">
            <a:solidFill>
              <a:srgbClr val="005088"/>
            </a:solidFill>
            <a:prstDash val="solid"/>
          </a:ln>
        </p:spPr>
      </p:sp>
      <p:sp>
        <p:nvSpPr>
          <p:cNvPr id="4" name="Text 2"/>
          <p:cNvSpPr/>
          <p:nvPr/>
        </p:nvSpPr>
        <p:spPr>
          <a:xfrm>
            <a:off x="502920" y="210312"/>
            <a:ext cx="6858000" cy="219456"/>
          </a:xfrm>
          <a:prstGeom prst="rect">
            <a:avLst/>
          </a:prstGeom>
          <a:noFill/>
          <a:ln/>
        </p:spPr>
        <p:txBody>
          <a:bodyPr wrap="square" lIns="0" tIns="0" rIns="0" bIns="0" rtlCol="0" anchor="ctr"/>
          <a:lstStyle/>
          <a:p>
            <a:pPr indent="0" marL="0">
              <a:buNone/>
            </a:pPr>
            <a:r>
              <a:rPr lang="en-US" sz="950" b="1" dirty="0">
                <a:solidFill>
                  <a:srgbClr val="3D5A80"/>
                </a:solidFill>
                <a:latin typeface="Aptos" pitchFamily="34" charset="0"/>
                <a:ea typeface="Aptos" pitchFamily="34" charset="-122"/>
                <a:cs typeface="Aptos" pitchFamily="34" charset="-120"/>
              </a:rPr>
              <a:t>8.2.6 Quantifiers</a:t>
            </a:r>
            <a:endParaRPr lang="en-US" sz="950" dirty="0"/>
          </a:p>
        </p:txBody>
      </p:sp>
      <p:sp>
        <p:nvSpPr>
          <p:cNvPr id="5" name="Text 3"/>
          <p:cNvSpPr/>
          <p:nvPr/>
        </p:nvSpPr>
        <p:spPr>
          <a:xfrm>
            <a:off x="11018520" y="201168"/>
            <a:ext cx="640080" cy="228600"/>
          </a:xfrm>
          <a:prstGeom prst="rect">
            <a:avLst/>
          </a:prstGeom>
          <a:noFill/>
          <a:ln/>
        </p:spPr>
        <p:txBody>
          <a:bodyPr wrap="square" lIns="0" tIns="0" rIns="0" bIns="0" rtlCol="0" anchor="ctr"/>
          <a:lstStyle/>
          <a:p>
            <a:pPr algn="r" indent="0" marL="0">
              <a:buNone/>
            </a:pPr>
            <a:r>
              <a:rPr lang="en-US" sz="900" b="1" dirty="0">
                <a:solidFill>
                  <a:srgbClr val="3D5A80"/>
                </a:solidFill>
              </a:rPr>
              <a:t>52</a:t>
            </a:r>
            <a:endParaRPr lang="en-US" sz="900" dirty="0"/>
          </a:p>
        </p:txBody>
      </p:sp>
      <p:sp>
        <p:nvSpPr>
          <p:cNvPr id="6" name="Text 4"/>
          <p:cNvSpPr/>
          <p:nvPr/>
        </p:nvSpPr>
        <p:spPr>
          <a:xfrm>
            <a:off x="502920" y="566928"/>
            <a:ext cx="11201400" cy="512064"/>
          </a:xfrm>
          <a:prstGeom prst="rect">
            <a:avLst/>
          </a:prstGeom>
          <a:noFill/>
          <a:ln/>
        </p:spPr>
        <p:txBody>
          <a:bodyPr wrap="square" lIns="0" tIns="0" rIns="0" bIns="0" rtlCol="0" anchor="ctr">
            <a:normAutofit/>
          </a:bodyPr>
          <a:lstStyle/>
          <a:p>
            <a:pPr indent="0" marL="0">
              <a:buNone/>
            </a:pPr>
            <a:r>
              <a:rPr lang="en-US" sz="2650" b="1" dirty="0">
                <a:solidFill>
                  <a:srgbClr val="005088"/>
                </a:solidFill>
                <a:latin typeface="Aptos Display" pitchFamily="34" charset="0"/>
                <a:ea typeface="Aptos Display" pitchFamily="34" charset="-122"/>
                <a:cs typeface="Aptos Display" pitchFamily="34" charset="-120"/>
              </a:rPr>
              <a:t>UNIVERSAL AND EXISTENTIAL QUANTIFIERS SIDE BY SIDE</a:t>
            </a:r>
            <a:endParaRPr lang="en-US" sz="2650" dirty="0"/>
          </a:p>
        </p:txBody>
      </p:sp>
      <p:sp>
        <p:nvSpPr>
          <p:cNvPr id="7" name="Shape 5"/>
          <p:cNvSpPr/>
          <p:nvPr/>
        </p:nvSpPr>
        <p:spPr>
          <a:xfrm>
            <a:off x="502920" y="1188720"/>
            <a:ext cx="11109960" cy="0"/>
          </a:xfrm>
          <a:prstGeom prst="line">
            <a:avLst/>
          </a:prstGeom>
          <a:noFill/>
          <a:ln w="12700">
            <a:solidFill>
              <a:srgbClr val="3D5A80"/>
            </a:solidFill>
            <a:prstDash val="solid"/>
          </a:ln>
        </p:spPr>
      </p:sp>
      <p:sp>
        <p:nvSpPr>
          <p:cNvPr id="8" name="Text 6"/>
          <p:cNvSpPr/>
          <p:nvPr/>
        </p:nvSpPr>
        <p:spPr>
          <a:xfrm>
            <a:off x="713232" y="1572768"/>
            <a:ext cx="5440680" cy="4251960"/>
          </a:xfrm>
          <a:prstGeom prst="rect">
            <a:avLst/>
          </a:prstGeom>
          <a:noFill/>
          <a:ln/>
        </p:spPr>
        <p:txBody>
          <a:bodyPr wrap="square" lIns="1016" tIns="1016" rIns="1016" bIns="1016" rtlCol="0" anchor="t">
            <a:normAutofit/>
          </a:bodyPr>
          <a:lstStyle/>
          <a:p>
            <a:pPr indent="0" marL="0">
              <a:buNone/>
            </a:pPr>
            <a:r>
              <a:rPr lang="en-US" sz="1650" dirty="0">
                <a:solidFill>
                  <a:srgbClr val="1E293B"/>
                </a:solidFill>
                <a:latin typeface="Aptos" pitchFamily="34" charset="0"/>
                <a:ea typeface="Aptos" pitchFamily="34" charset="-122"/>
                <a:cs typeface="Aptos" pitchFamily="34" charset="-120"/>
              </a:rPr>
              <a:t>• Universal: every object must pass the test</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Existential: at least one object must pass the test</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Universal is useful for laws and constraints</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Existential is useful for witnesses and unknown objects</a:t>
            </a:r>
            <a:endParaRPr lang="en-US" sz="1650" dirty="0"/>
          </a:p>
        </p:txBody>
      </p:sp>
      <p:sp>
        <p:nvSpPr>
          <p:cNvPr id="9" name="Shape 7"/>
          <p:cNvSpPr/>
          <p:nvPr/>
        </p:nvSpPr>
        <p:spPr>
          <a:xfrm>
            <a:off x="6446520" y="1572768"/>
            <a:ext cx="5074920" cy="1234440"/>
          </a:xfrm>
          <a:prstGeom prst="roundRect">
            <a:avLst>
              <a:gd name="adj" fmla="val 5926"/>
            </a:avLst>
          </a:prstGeom>
          <a:solidFill>
            <a:srgbClr val="FFF6D9"/>
          </a:solidFill>
          <a:ln w="12700">
            <a:solidFill>
              <a:srgbClr val="F4A261"/>
            </a:solidFill>
            <a:prstDash val="solid"/>
          </a:ln>
        </p:spPr>
      </p:sp>
      <p:sp>
        <p:nvSpPr>
          <p:cNvPr id="10" name="Text 8"/>
          <p:cNvSpPr/>
          <p:nvPr/>
        </p:nvSpPr>
        <p:spPr>
          <a:xfrm>
            <a:off x="6629400" y="1709928"/>
            <a:ext cx="4709160" cy="219456"/>
          </a:xfrm>
          <a:prstGeom prst="rect">
            <a:avLst/>
          </a:prstGeom>
          <a:noFill/>
          <a:ln/>
        </p:spPr>
        <p:txBody>
          <a:bodyPr wrap="square" lIns="0" tIns="0" rIns="0" bIns="0" rtlCol="0" anchor="ctr"/>
          <a:lstStyle/>
          <a:p>
            <a:pPr indent="0" marL="0">
              <a:buNone/>
            </a:pPr>
            <a:r>
              <a:rPr lang="en-US" sz="950" b="1" dirty="0">
                <a:solidFill>
                  <a:srgbClr val="B0005D"/>
                </a:solidFill>
              </a:rPr>
              <a:t>ANALOGY</a:t>
            </a:r>
            <a:endParaRPr lang="en-US" sz="950" dirty="0"/>
          </a:p>
        </p:txBody>
      </p:sp>
      <p:sp>
        <p:nvSpPr>
          <p:cNvPr id="11" name="Text 9"/>
          <p:cNvSpPr/>
          <p:nvPr/>
        </p:nvSpPr>
        <p:spPr>
          <a:xfrm>
            <a:off x="6629400" y="1984248"/>
            <a:ext cx="4709160" cy="731520"/>
          </a:xfrm>
          <a:prstGeom prst="rect">
            <a:avLst/>
          </a:prstGeom>
          <a:noFill/>
          <a:ln/>
        </p:spPr>
        <p:txBody>
          <a:bodyPr wrap="square" lIns="254" tIns="254" rIns="254" bIns="254" rtlCol="0" anchor="t">
            <a:normAutofit/>
          </a:bodyPr>
          <a:lstStyle/>
          <a:p>
            <a:pPr indent="0" marL="0">
              <a:buNone/>
            </a:pPr>
            <a:r>
              <a:rPr lang="en-US" sz="1330" dirty="0">
                <a:solidFill>
                  <a:srgbClr val="1E293B"/>
                </a:solidFill>
              </a:rPr>
              <a:t>A building inspection fails if one required door is blocked. A treasure hunt succeeds if one valid treasure is found.</a:t>
            </a:r>
            <a:endParaRPr lang="en-US" sz="1330" dirty="0"/>
          </a:p>
        </p:txBody>
      </p:sp>
      <p:sp>
        <p:nvSpPr>
          <p:cNvPr id="12" name="Shape 10"/>
          <p:cNvSpPr/>
          <p:nvPr/>
        </p:nvSpPr>
        <p:spPr>
          <a:xfrm>
            <a:off x="6446520" y="2999232"/>
            <a:ext cx="5074920" cy="841248"/>
          </a:xfrm>
          <a:prstGeom prst="roundRect">
            <a:avLst>
              <a:gd name="adj" fmla="val 8696"/>
            </a:avLst>
          </a:prstGeom>
          <a:solidFill>
            <a:srgbClr val="FFFFFF">
              <a:alpha val="97000"/>
            </a:srgbClr>
          </a:solidFill>
          <a:ln w="12700">
            <a:solidFill>
              <a:srgbClr val="007C89"/>
            </a:solidFill>
            <a:prstDash val="solid"/>
          </a:ln>
        </p:spPr>
      </p:sp>
      <p:sp>
        <p:nvSpPr>
          <p:cNvPr id="13" name="Text 11"/>
          <p:cNvSpPr/>
          <p:nvPr/>
        </p:nvSpPr>
        <p:spPr>
          <a:xfrm>
            <a:off x="6611112" y="3127248"/>
            <a:ext cx="4745736" cy="658368"/>
          </a:xfrm>
          <a:prstGeom prst="rect">
            <a:avLst/>
          </a:prstGeom>
          <a:noFill/>
          <a:ln/>
        </p:spPr>
        <p:txBody>
          <a:bodyPr wrap="square" lIns="0" tIns="0" rIns="0" bIns="0" rtlCol="0" anchor="ctr">
            <a:normAutofit/>
          </a:bodyPr>
          <a:lstStyle/>
          <a:p>
            <a:pPr algn="ctr" indent="0" marL="0">
              <a:buNone/>
            </a:pPr>
            <a:r>
              <a:rPr lang="en-US" sz="1800" b="1" dirty="0">
                <a:solidFill>
                  <a:srgbClr val="005088"/>
                </a:solidFill>
                <a:latin typeface="Cambria Math" pitchFamily="34" charset="0"/>
                <a:ea typeface="Cambria Math" pitchFamily="34" charset="-122"/>
                <a:cs typeface="Cambria Math" pitchFamily="34" charset="-120"/>
              </a:rPr>
              <a:t>∀ = every object    ∃ = at least one object</a:t>
            </a:r>
            <a:endParaRPr lang="en-US" sz="1800" dirty="0"/>
          </a:p>
        </p:txBody>
      </p:sp>
      <p:sp>
        <p:nvSpPr>
          <p:cNvPr id="14" name="Shape 12"/>
          <p:cNvSpPr/>
          <p:nvPr/>
        </p:nvSpPr>
        <p:spPr>
          <a:xfrm>
            <a:off x="6446520" y="4041648"/>
            <a:ext cx="5074920" cy="859536"/>
          </a:xfrm>
          <a:prstGeom prst="roundRect">
            <a:avLst>
              <a:gd name="adj" fmla="val 8511"/>
            </a:avLst>
          </a:prstGeom>
          <a:solidFill>
            <a:srgbClr val="FFE4E6"/>
          </a:solidFill>
          <a:ln w="12700">
            <a:solidFill>
              <a:srgbClr val="FDA4AF"/>
            </a:solidFill>
            <a:prstDash val="solid"/>
          </a:ln>
        </p:spPr>
      </p:sp>
      <p:sp>
        <p:nvSpPr>
          <p:cNvPr id="15" name="Text 13"/>
          <p:cNvSpPr/>
          <p:nvPr/>
        </p:nvSpPr>
        <p:spPr>
          <a:xfrm>
            <a:off x="6629400" y="4178808"/>
            <a:ext cx="4709160" cy="219456"/>
          </a:xfrm>
          <a:prstGeom prst="rect">
            <a:avLst/>
          </a:prstGeom>
          <a:noFill/>
          <a:ln/>
        </p:spPr>
        <p:txBody>
          <a:bodyPr wrap="square" lIns="0" tIns="0" rIns="0" bIns="0" rtlCol="0" anchor="ctr"/>
          <a:lstStyle/>
          <a:p>
            <a:pPr indent="0" marL="0">
              <a:buNone/>
            </a:pPr>
            <a:r>
              <a:rPr lang="en-US" sz="950" b="1" dirty="0">
                <a:solidFill>
                  <a:srgbClr val="C1121F"/>
                </a:solidFill>
              </a:rPr>
              <a:t>STUDENT GOTCHA</a:t>
            </a:r>
            <a:endParaRPr lang="en-US" sz="950" dirty="0"/>
          </a:p>
        </p:txBody>
      </p:sp>
      <p:sp>
        <p:nvSpPr>
          <p:cNvPr id="16" name="Text 14"/>
          <p:cNvSpPr/>
          <p:nvPr/>
        </p:nvSpPr>
        <p:spPr>
          <a:xfrm>
            <a:off x="6629400" y="4453128"/>
            <a:ext cx="4709160" cy="356616"/>
          </a:xfrm>
          <a:prstGeom prst="rect">
            <a:avLst/>
          </a:prstGeom>
          <a:noFill/>
          <a:ln/>
        </p:spPr>
        <p:txBody>
          <a:bodyPr wrap="square" lIns="254" tIns="254" rIns="254" bIns="254" rtlCol="0" anchor="t">
            <a:normAutofit/>
          </a:bodyPr>
          <a:lstStyle/>
          <a:p>
            <a:pPr indent="0" marL="0">
              <a:buNone/>
            </a:pPr>
            <a:r>
              <a:rPr lang="en-US" sz="1250" dirty="0">
                <a:solidFill>
                  <a:srgbClr val="1E293B"/>
                </a:solidFill>
              </a:rPr>
              <a:t>Do not choose a quantifier based on the first English word only. Translate the meaning of the whole sentence.</a:t>
            </a:r>
            <a:endParaRPr lang="en-US" sz="1250" dirty="0"/>
          </a:p>
        </p:txBody>
      </p:sp>
      <p:sp>
        <p:nvSpPr>
          <p:cNvPr id="17" name="Shape 15"/>
          <p:cNvSpPr/>
          <p:nvPr/>
        </p:nvSpPr>
        <p:spPr>
          <a:xfrm>
            <a:off x="6446520" y="5074920"/>
            <a:ext cx="5074920" cy="841248"/>
          </a:xfrm>
          <a:prstGeom prst="roundRect">
            <a:avLst>
              <a:gd name="adj" fmla="val 8696"/>
            </a:avLst>
          </a:prstGeom>
          <a:solidFill>
            <a:srgbClr val="E6FFFA"/>
          </a:solidFill>
          <a:ln w="12700">
            <a:solidFill>
              <a:srgbClr val="2A9D8F"/>
            </a:solidFill>
            <a:prstDash val="solid"/>
          </a:ln>
        </p:spPr>
      </p:sp>
      <p:sp>
        <p:nvSpPr>
          <p:cNvPr id="18" name="Text 16"/>
          <p:cNvSpPr/>
          <p:nvPr/>
        </p:nvSpPr>
        <p:spPr>
          <a:xfrm>
            <a:off x="6629400" y="5212080"/>
            <a:ext cx="4709160" cy="219456"/>
          </a:xfrm>
          <a:prstGeom prst="rect">
            <a:avLst/>
          </a:prstGeom>
          <a:noFill/>
          <a:ln/>
        </p:spPr>
        <p:txBody>
          <a:bodyPr wrap="square" lIns="0" tIns="0" rIns="0" bIns="0" rtlCol="0" anchor="ctr"/>
          <a:lstStyle/>
          <a:p>
            <a:pPr indent="0" marL="0">
              <a:buNone/>
            </a:pPr>
            <a:r>
              <a:rPr lang="en-US" sz="950" b="1" dirty="0">
                <a:solidFill>
                  <a:srgbClr val="007C89"/>
                </a:solidFill>
              </a:rPr>
              <a:t>CLASS CHECK</a:t>
            </a:r>
            <a:endParaRPr lang="en-US" sz="950" dirty="0"/>
          </a:p>
        </p:txBody>
      </p:sp>
      <p:sp>
        <p:nvSpPr>
          <p:cNvPr id="19" name="Text 17"/>
          <p:cNvSpPr/>
          <p:nvPr/>
        </p:nvSpPr>
        <p:spPr>
          <a:xfrm>
            <a:off x="6629400" y="5486400"/>
            <a:ext cx="4709160" cy="338328"/>
          </a:xfrm>
          <a:prstGeom prst="rect">
            <a:avLst/>
          </a:prstGeom>
          <a:noFill/>
          <a:ln/>
        </p:spPr>
        <p:txBody>
          <a:bodyPr wrap="square" lIns="254" tIns="254" rIns="254" bIns="254" rtlCol="0" anchor="t">
            <a:normAutofit/>
          </a:bodyPr>
          <a:lstStyle/>
          <a:p>
            <a:pPr indent="0" marL="0">
              <a:buNone/>
            </a:pPr>
            <a:r>
              <a:rPr lang="en-US" sz="1270" dirty="0">
                <a:solidFill>
                  <a:srgbClr val="1E293B"/>
                </a:solidFill>
              </a:rPr>
              <a:t>Ask: “Every course has an instructor.” Which quantifiers appear?</a:t>
            </a:r>
            <a:endParaRPr lang="en-US" sz="127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5088"/>
          </a:solidFill>
          <a:ln w="12700">
            <a:solidFill>
              <a:srgbClr val="005088"/>
            </a:solidFill>
            <a:prstDash val="solid"/>
          </a:ln>
        </p:spPr>
      </p:sp>
      <p:sp>
        <p:nvSpPr>
          <p:cNvPr id="3" name="Shape 1"/>
          <p:cNvSpPr/>
          <p:nvPr/>
        </p:nvSpPr>
        <p:spPr>
          <a:xfrm>
            <a:off x="0" y="6729984"/>
            <a:ext cx="12191695" cy="128016"/>
          </a:xfrm>
          <a:prstGeom prst="rect">
            <a:avLst/>
          </a:prstGeom>
          <a:solidFill>
            <a:srgbClr val="005088"/>
          </a:solidFill>
          <a:ln w="12700">
            <a:solidFill>
              <a:srgbClr val="005088"/>
            </a:solidFill>
            <a:prstDash val="solid"/>
          </a:ln>
        </p:spPr>
      </p:sp>
      <p:sp>
        <p:nvSpPr>
          <p:cNvPr id="4" name="Text 2"/>
          <p:cNvSpPr/>
          <p:nvPr/>
        </p:nvSpPr>
        <p:spPr>
          <a:xfrm>
            <a:off x="502920" y="210312"/>
            <a:ext cx="6858000" cy="219456"/>
          </a:xfrm>
          <a:prstGeom prst="rect">
            <a:avLst/>
          </a:prstGeom>
          <a:noFill/>
          <a:ln/>
        </p:spPr>
        <p:txBody>
          <a:bodyPr wrap="square" lIns="0" tIns="0" rIns="0" bIns="0" rtlCol="0" anchor="ctr"/>
          <a:lstStyle/>
          <a:p>
            <a:pPr indent="0" marL="0">
              <a:buNone/>
            </a:pPr>
            <a:r>
              <a:rPr lang="en-US" sz="950" b="1" dirty="0">
                <a:solidFill>
                  <a:srgbClr val="3D5A80"/>
                </a:solidFill>
                <a:latin typeface="Aptos" pitchFamily="34" charset="0"/>
                <a:ea typeface="Aptos" pitchFamily="34" charset="-122"/>
                <a:cs typeface="Aptos" pitchFamily="34" charset="-120"/>
              </a:rPr>
              <a:t>8.2.6 Quantifiers</a:t>
            </a:r>
            <a:endParaRPr lang="en-US" sz="950" dirty="0"/>
          </a:p>
        </p:txBody>
      </p:sp>
      <p:sp>
        <p:nvSpPr>
          <p:cNvPr id="5" name="Text 3"/>
          <p:cNvSpPr/>
          <p:nvPr/>
        </p:nvSpPr>
        <p:spPr>
          <a:xfrm>
            <a:off x="11018520" y="201168"/>
            <a:ext cx="640080" cy="228600"/>
          </a:xfrm>
          <a:prstGeom prst="rect">
            <a:avLst/>
          </a:prstGeom>
          <a:noFill/>
          <a:ln/>
        </p:spPr>
        <p:txBody>
          <a:bodyPr wrap="square" lIns="0" tIns="0" rIns="0" bIns="0" rtlCol="0" anchor="ctr"/>
          <a:lstStyle/>
          <a:p>
            <a:pPr algn="r" indent="0" marL="0">
              <a:buNone/>
            </a:pPr>
            <a:r>
              <a:rPr lang="en-US" sz="900" b="1" dirty="0">
                <a:solidFill>
                  <a:srgbClr val="3D5A80"/>
                </a:solidFill>
              </a:rPr>
              <a:t>53</a:t>
            </a:r>
            <a:endParaRPr lang="en-US" sz="900" dirty="0"/>
          </a:p>
        </p:txBody>
      </p:sp>
      <p:sp>
        <p:nvSpPr>
          <p:cNvPr id="6" name="Text 4"/>
          <p:cNvSpPr/>
          <p:nvPr/>
        </p:nvSpPr>
        <p:spPr>
          <a:xfrm>
            <a:off x="502920" y="566928"/>
            <a:ext cx="11201400" cy="512064"/>
          </a:xfrm>
          <a:prstGeom prst="rect">
            <a:avLst/>
          </a:prstGeom>
          <a:noFill/>
          <a:ln/>
        </p:spPr>
        <p:txBody>
          <a:bodyPr wrap="square" lIns="0" tIns="0" rIns="0" bIns="0" rtlCol="0" anchor="ctr">
            <a:normAutofit/>
          </a:bodyPr>
          <a:lstStyle/>
          <a:p>
            <a:pPr indent="0" marL="0">
              <a:buNone/>
            </a:pPr>
            <a:r>
              <a:rPr lang="en-US" sz="2650" b="1" dirty="0">
                <a:solidFill>
                  <a:srgbClr val="005088"/>
                </a:solidFill>
                <a:latin typeface="Aptos Display" pitchFamily="34" charset="0"/>
                <a:ea typeface="Aptos Display" pitchFamily="34" charset="-122"/>
                <a:cs typeface="Aptos Display" pitchFamily="34" charset="-120"/>
              </a:rPr>
              <a:t>EXTENDED INTERPRETATIONS IN PLAIN LANGUAGE</a:t>
            </a:r>
            <a:endParaRPr lang="en-US" sz="2650" dirty="0"/>
          </a:p>
        </p:txBody>
      </p:sp>
      <p:sp>
        <p:nvSpPr>
          <p:cNvPr id="7" name="Shape 5"/>
          <p:cNvSpPr/>
          <p:nvPr/>
        </p:nvSpPr>
        <p:spPr>
          <a:xfrm>
            <a:off x="502920" y="1188720"/>
            <a:ext cx="11109960" cy="0"/>
          </a:xfrm>
          <a:prstGeom prst="line">
            <a:avLst/>
          </a:prstGeom>
          <a:noFill/>
          <a:ln w="12700">
            <a:solidFill>
              <a:srgbClr val="3D5A80"/>
            </a:solidFill>
            <a:prstDash val="solid"/>
          </a:ln>
        </p:spPr>
      </p:sp>
      <p:sp>
        <p:nvSpPr>
          <p:cNvPr id="8" name="Text 6"/>
          <p:cNvSpPr/>
          <p:nvPr/>
        </p:nvSpPr>
        <p:spPr>
          <a:xfrm>
            <a:off x="713232" y="1572768"/>
            <a:ext cx="5440680" cy="4251960"/>
          </a:xfrm>
          <a:prstGeom prst="rect">
            <a:avLst/>
          </a:prstGeom>
          <a:noFill/>
          <a:ln/>
        </p:spPr>
        <p:txBody>
          <a:bodyPr wrap="square" lIns="1016" tIns="1016" rIns="1016" bIns="1016" rtlCol="0" anchor="t">
            <a:normAutofit/>
          </a:bodyPr>
          <a:lstStyle/>
          <a:p>
            <a:pPr indent="0" marL="0">
              <a:buNone/>
            </a:pPr>
            <a:r>
              <a:rPr lang="en-US" sz="1650" dirty="0">
                <a:solidFill>
                  <a:srgbClr val="1E293B"/>
                </a:solidFill>
                <a:latin typeface="Aptos" pitchFamily="34" charset="0"/>
                <a:ea typeface="Aptos" pitchFamily="34" charset="-122"/>
                <a:cs typeface="Aptos" pitchFamily="34" charset="-120"/>
              </a:rPr>
              <a:t>• To evaluate a quantified sentence, temporarily assign the variable to objects</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For a universal claim, try every object</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For an existential claim, look for at least one object</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The original model supplies the domain and interpretation</a:t>
            </a:r>
            <a:endParaRPr lang="en-US" sz="1650" dirty="0"/>
          </a:p>
        </p:txBody>
      </p:sp>
      <p:sp>
        <p:nvSpPr>
          <p:cNvPr id="9" name="Shape 7"/>
          <p:cNvSpPr/>
          <p:nvPr/>
        </p:nvSpPr>
        <p:spPr>
          <a:xfrm>
            <a:off x="6446520" y="1572768"/>
            <a:ext cx="5074920" cy="1234440"/>
          </a:xfrm>
          <a:prstGeom prst="roundRect">
            <a:avLst>
              <a:gd name="adj" fmla="val 5926"/>
            </a:avLst>
          </a:prstGeom>
          <a:solidFill>
            <a:srgbClr val="FFF6D9"/>
          </a:solidFill>
          <a:ln w="12700">
            <a:solidFill>
              <a:srgbClr val="F4A261"/>
            </a:solidFill>
            <a:prstDash val="solid"/>
          </a:ln>
        </p:spPr>
      </p:sp>
      <p:sp>
        <p:nvSpPr>
          <p:cNvPr id="10" name="Text 8"/>
          <p:cNvSpPr/>
          <p:nvPr/>
        </p:nvSpPr>
        <p:spPr>
          <a:xfrm>
            <a:off x="6629400" y="1709928"/>
            <a:ext cx="4709160" cy="219456"/>
          </a:xfrm>
          <a:prstGeom prst="rect">
            <a:avLst/>
          </a:prstGeom>
          <a:noFill/>
          <a:ln/>
        </p:spPr>
        <p:txBody>
          <a:bodyPr wrap="square" lIns="0" tIns="0" rIns="0" bIns="0" rtlCol="0" anchor="ctr"/>
          <a:lstStyle/>
          <a:p>
            <a:pPr indent="0" marL="0">
              <a:buNone/>
            </a:pPr>
            <a:r>
              <a:rPr lang="en-US" sz="950" b="1" dirty="0">
                <a:solidFill>
                  <a:srgbClr val="B0005D"/>
                </a:solidFill>
              </a:rPr>
              <a:t>ANALOGY</a:t>
            </a:r>
            <a:endParaRPr lang="en-US" sz="950" dirty="0"/>
          </a:p>
        </p:txBody>
      </p:sp>
      <p:sp>
        <p:nvSpPr>
          <p:cNvPr id="11" name="Text 9"/>
          <p:cNvSpPr/>
          <p:nvPr/>
        </p:nvSpPr>
        <p:spPr>
          <a:xfrm>
            <a:off x="6629400" y="1984248"/>
            <a:ext cx="4709160" cy="731520"/>
          </a:xfrm>
          <a:prstGeom prst="rect">
            <a:avLst/>
          </a:prstGeom>
          <a:noFill/>
          <a:ln/>
        </p:spPr>
        <p:txBody>
          <a:bodyPr wrap="square" lIns="254" tIns="254" rIns="254" bIns="254" rtlCol="0" anchor="t">
            <a:normAutofit/>
          </a:bodyPr>
          <a:lstStyle/>
          <a:p>
            <a:pPr indent="0" marL="0">
              <a:buNone/>
            </a:pPr>
            <a:r>
              <a:rPr lang="en-US" sz="1330" dirty="0">
                <a:solidFill>
                  <a:srgbClr val="1E293B"/>
                </a:solidFill>
              </a:rPr>
              <a:t>Checking “every locker is locked” means walking to each locker and temporarily focusing on that one locker.</a:t>
            </a:r>
            <a:endParaRPr lang="en-US" sz="1330" dirty="0"/>
          </a:p>
        </p:txBody>
      </p:sp>
      <p:sp>
        <p:nvSpPr>
          <p:cNvPr id="12" name="Shape 10"/>
          <p:cNvSpPr/>
          <p:nvPr/>
        </p:nvSpPr>
        <p:spPr>
          <a:xfrm>
            <a:off x="6446520" y="2999232"/>
            <a:ext cx="5074920" cy="841248"/>
          </a:xfrm>
          <a:prstGeom prst="roundRect">
            <a:avLst>
              <a:gd name="adj" fmla="val 8696"/>
            </a:avLst>
          </a:prstGeom>
          <a:solidFill>
            <a:srgbClr val="FFFFFF">
              <a:alpha val="97000"/>
            </a:srgbClr>
          </a:solidFill>
          <a:ln w="12700">
            <a:solidFill>
              <a:srgbClr val="007C89"/>
            </a:solidFill>
            <a:prstDash val="solid"/>
          </a:ln>
        </p:spPr>
      </p:sp>
      <p:sp>
        <p:nvSpPr>
          <p:cNvPr id="13" name="Text 11"/>
          <p:cNvSpPr/>
          <p:nvPr/>
        </p:nvSpPr>
        <p:spPr>
          <a:xfrm>
            <a:off x="6611112" y="3127248"/>
            <a:ext cx="4745736" cy="658368"/>
          </a:xfrm>
          <a:prstGeom prst="rect">
            <a:avLst/>
          </a:prstGeom>
          <a:noFill/>
          <a:ln/>
        </p:spPr>
        <p:txBody>
          <a:bodyPr wrap="square" lIns="0" tIns="0" rIns="0" bIns="0" rtlCol="0" anchor="ctr">
            <a:normAutofit/>
          </a:bodyPr>
          <a:lstStyle/>
          <a:p>
            <a:pPr algn="ctr" indent="0" marL="0">
              <a:buNone/>
            </a:pPr>
            <a:r>
              <a:rPr lang="en-US" sz="1600" b="1" dirty="0">
                <a:solidFill>
                  <a:srgbClr val="005088"/>
                </a:solidFill>
                <a:latin typeface="Cambria Math" pitchFamily="34" charset="0"/>
                <a:ea typeface="Cambria Math" pitchFamily="34" charset="-122"/>
                <a:cs typeface="Cambria Math" pitchFamily="34" charset="-120"/>
              </a:rPr>
              <a:t>x → Richard, x → John, x → crown, ...</a:t>
            </a:r>
            <a:endParaRPr lang="en-US" sz="1600" dirty="0"/>
          </a:p>
        </p:txBody>
      </p:sp>
      <p:sp>
        <p:nvSpPr>
          <p:cNvPr id="14" name="Shape 12"/>
          <p:cNvSpPr/>
          <p:nvPr/>
        </p:nvSpPr>
        <p:spPr>
          <a:xfrm>
            <a:off x="6446520" y="4041648"/>
            <a:ext cx="5074920" cy="859536"/>
          </a:xfrm>
          <a:prstGeom prst="roundRect">
            <a:avLst>
              <a:gd name="adj" fmla="val 8511"/>
            </a:avLst>
          </a:prstGeom>
          <a:solidFill>
            <a:srgbClr val="FFE4E6"/>
          </a:solidFill>
          <a:ln w="12700">
            <a:solidFill>
              <a:srgbClr val="FDA4AF"/>
            </a:solidFill>
            <a:prstDash val="solid"/>
          </a:ln>
        </p:spPr>
      </p:sp>
      <p:sp>
        <p:nvSpPr>
          <p:cNvPr id="15" name="Text 13"/>
          <p:cNvSpPr/>
          <p:nvPr/>
        </p:nvSpPr>
        <p:spPr>
          <a:xfrm>
            <a:off x="6629400" y="4178808"/>
            <a:ext cx="4709160" cy="219456"/>
          </a:xfrm>
          <a:prstGeom prst="rect">
            <a:avLst/>
          </a:prstGeom>
          <a:noFill/>
          <a:ln/>
        </p:spPr>
        <p:txBody>
          <a:bodyPr wrap="square" lIns="0" tIns="0" rIns="0" bIns="0" rtlCol="0" anchor="ctr"/>
          <a:lstStyle/>
          <a:p>
            <a:pPr indent="0" marL="0">
              <a:buNone/>
            </a:pPr>
            <a:r>
              <a:rPr lang="en-US" sz="950" b="1" dirty="0">
                <a:solidFill>
                  <a:srgbClr val="C1121F"/>
                </a:solidFill>
              </a:rPr>
              <a:t>STUDENT GOTCHA</a:t>
            </a:r>
            <a:endParaRPr lang="en-US" sz="950" dirty="0"/>
          </a:p>
        </p:txBody>
      </p:sp>
      <p:sp>
        <p:nvSpPr>
          <p:cNvPr id="16" name="Text 14"/>
          <p:cNvSpPr/>
          <p:nvPr/>
        </p:nvSpPr>
        <p:spPr>
          <a:xfrm>
            <a:off x="6629400" y="4453128"/>
            <a:ext cx="4709160" cy="356616"/>
          </a:xfrm>
          <a:prstGeom prst="rect">
            <a:avLst/>
          </a:prstGeom>
          <a:noFill/>
          <a:ln/>
        </p:spPr>
        <p:txBody>
          <a:bodyPr wrap="square" lIns="254" tIns="254" rIns="254" bIns="254" rtlCol="0" anchor="t">
            <a:normAutofit/>
          </a:bodyPr>
          <a:lstStyle/>
          <a:p>
            <a:pPr indent="0" marL="0">
              <a:buNone/>
            </a:pPr>
            <a:r>
              <a:rPr lang="en-US" sz="1250" dirty="0">
                <a:solidFill>
                  <a:srgbClr val="1E293B"/>
                </a:solidFill>
              </a:rPr>
              <a:t>Students may think variables already name specific objects. Variables get temporary assignments during evaluation.</a:t>
            </a:r>
            <a:endParaRPr lang="en-US" sz="1250" dirty="0"/>
          </a:p>
        </p:txBody>
      </p:sp>
      <p:sp>
        <p:nvSpPr>
          <p:cNvPr id="17" name="Shape 15"/>
          <p:cNvSpPr/>
          <p:nvPr/>
        </p:nvSpPr>
        <p:spPr>
          <a:xfrm>
            <a:off x="6446520" y="5074920"/>
            <a:ext cx="5074920" cy="841248"/>
          </a:xfrm>
          <a:prstGeom prst="roundRect">
            <a:avLst>
              <a:gd name="adj" fmla="val 8696"/>
            </a:avLst>
          </a:prstGeom>
          <a:solidFill>
            <a:srgbClr val="E6FFFA"/>
          </a:solidFill>
          <a:ln w="12700">
            <a:solidFill>
              <a:srgbClr val="2A9D8F"/>
            </a:solidFill>
            <a:prstDash val="solid"/>
          </a:ln>
        </p:spPr>
      </p:sp>
      <p:sp>
        <p:nvSpPr>
          <p:cNvPr id="18" name="Text 16"/>
          <p:cNvSpPr/>
          <p:nvPr/>
        </p:nvSpPr>
        <p:spPr>
          <a:xfrm>
            <a:off x="6629400" y="5212080"/>
            <a:ext cx="4709160" cy="219456"/>
          </a:xfrm>
          <a:prstGeom prst="rect">
            <a:avLst/>
          </a:prstGeom>
          <a:noFill/>
          <a:ln/>
        </p:spPr>
        <p:txBody>
          <a:bodyPr wrap="square" lIns="0" tIns="0" rIns="0" bIns="0" rtlCol="0" anchor="ctr"/>
          <a:lstStyle/>
          <a:p>
            <a:pPr indent="0" marL="0">
              <a:buNone/>
            </a:pPr>
            <a:r>
              <a:rPr lang="en-US" sz="950" b="1" dirty="0">
                <a:solidFill>
                  <a:srgbClr val="007C89"/>
                </a:solidFill>
              </a:rPr>
              <a:t>CLASS CHECK</a:t>
            </a:r>
            <a:endParaRPr lang="en-US" sz="950" dirty="0"/>
          </a:p>
        </p:txBody>
      </p:sp>
      <p:sp>
        <p:nvSpPr>
          <p:cNvPr id="19" name="Text 17"/>
          <p:cNvSpPr/>
          <p:nvPr/>
        </p:nvSpPr>
        <p:spPr>
          <a:xfrm>
            <a:off x="6629400" y="5486400"/>
            <a:ext cx="4709160" cy="338328"/>
          </a:xfrm>
          <a:prstGeom prst="rect">
            <a:avLst/>
          </a:prstGeom>
          <a:noFill/>
          <a:ln/>
        </p:spPr>
        <p:txBody>
          <a:bodyPr wrap="square" lIns="254" tIns="254" rIns="254" bIns="254" rtlCol="0" anchor="t">
            <a:normAutofit/>
          </a:bodyPr>
          <a:lstStyle/>
          <a:p>
            <a:pPr indent="0" marL="0">
              <a:buNone/>
            </a:pPr>
            <a:r>
              <a:rPr lang="en-US" sz="1270" dirty="0">
                <a:solidFill>
                  <a:srgbClr val="1E293B"/>
                </a:solidFill>
              </a:rPr>
              <a:t>Ask: How many temporary assignments are there if the domain has five objects?</a:t>
            </a:r>
            <a:endParaRPr lang="en-US" sz="127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5088"/>
          </a:solidFill>
          <a:ln w="12700">
            <a:solidFill>
              <a:srgbClr val="005088"/>
            </a:solidFill>
            <a:prstDash val="solid"/>
          </a:ln>
        </p:spPr>
      </p:sp>
      <p:sp>
        <p:nvSpPr>
          <p:cNvPr id="3" name="Shape 1"/>
          <p:cNvSpPr/>
          <p:nvPr/>
        </p:nvSpPr>
        <p:spPr>
          <a:xfrm>
            <a:off x="0" y="6729984"/>
            <a:ext cx="12191695" cy="128016"/>
          </a:xfrm>
          <a:prstGeom prst="rect">
            <a:avLst/>
          </a:prstGeom>
          <a:solidFill>
            <a:srgbClr val="005088"/>
          </a:solidFill>
          <a:ln w="12700">
            <a:solidFill>
              <a:srgbClr val="005088"/>
            </a:solidFill>
            <a:prstDash val="solid"/>
          </a:ln>
        </p:spPr>
      </p:sp>
      <p:sp>
        <p:nvSpPr>
          <p:cNvPr id="4" name="Text 2"/>
          <p:cNvSpPr/>
          <p:nvPr/>
        </p:nvSpPr>
        <p:spPr>
          <a:xfrm>
            <a:off x="502920" y="210312"/>
            <a:ext cx="6858000" cy="219456"/>
          </a:xfrm>
          <a:prstGeom prst="rect">
            <a:avLst/>
          </a:prstGeom>
          <a:noFill/>
          <a:ln/>
        </p:spPr>
        <p:txBody>
          <a:bodyPr wrap="square" lIns="0" tIns="0" rIns="0" bIns="0" rtlCol="0" anchor="ctr"/>
          <a:lstStyle/>
          <a:p>
            <a:pPr indent="0" marL="0">
              <a:buNone/>
            </a:pPr>
            <a:r>
              <a:rPr lang="en-US" sz="950" b="1" dirty="0">
                <a:solidFill>
                  <a:srgbClr val="3D5A80"/>
                </a:solidFill>
                <a:latin typeface="Aptos" pitchFamily="34" charset="0"/>
                <a:ea typeface="Aptos" pitchFamily="34" charset="-122"/>
                <a:cs typeface="Aptos" pitchFamily="34" charset="-120"/>
              </a:rPr>
              <a:t>8.2.6 Quantifiers</a:t>
            </a:r>
            <a:endParaRPr lang="en-US" sz="950" dirty="0"/>
          </a:p>
        </p:txBody>
      </p:sp>
      <p:sp>
        <p:nvSpPr>
          <p:cNvPr id="5" name="Text 3"/>
          <p:cNvSpPr/>
          <p:nvPr/>
        </p:nvSpPr>
        <p:spPr>
          <a:xfrm>
            <a:off x="11018520" y="201168"/>
            <a:ext cx="640080" cy="228600"/>
          </a:xfrm>
          <a:prstGeom prst="rect">
            <a:avLst/>
          </a:prstGeom>
          <a:noFill/>
          <a:ln/>
        </p:spPr>
        <p:txBody>
          <a:bodyPr wrap="square" lIns="0" tIns="0" rIns="0" bIns="0" rtlCol="0" anchor="ctr"/>
          <a:lstStyle/>
          <a:p>
            <a:pPr algn="r" indent="0" marL="0">
              <a:buNone/>
            </a:pPr>
            <a:r>
              <a:rPr lang="en-US" sz="900" b="1" dirty="0">
                <a:solidFill>
                  <a:srgbClr val="3D5A80"/>
                </a:solidFill>
              </a:rPr>
              <a:t>54</a:t>
            </a:r>
            <a:endParaRPr lang="en-US" sz="900" dirty="0"/>
          </a:p>
        </p:txBody>
      </p:sp>
      <p:sp>
        <p:nvSpPr>
          <p:cNvPr id="6" name="Text 4"/>
          <p:cNvSpPr/>
          <p:nvPr/>
        </p:nvSpPr>
        <p:spPr>
          <a:xfrm>
            <a:off x="502920" y="566928"/>
            <a:ext cx="11201400" cy="512064"/>
          </a:xfrm>
          <a:prstGeom prst="rect">
            <a:avLst/>
          </a:prstGeom>
          <a:noFill/>
          <a:ln/>
        </p:spPr>
        <p:txBody>
          <a:bodyPr wrap="square" lIns="0" tIns="0" rIns="0" bIns="0" rtlCol="0" anchor="ctr">
            <a:normAutofit/>
          </a:bodyPr>
          <a:lstStyle/>
          <a:p>
            <a:pPr indent="0" marL="0">
              <a:buNone/>
            </a:pPr>
            <a:r>
              <a:rPr lang="en-US" sz="2650" b="1" dirty="0">
                <a:solidFill>
                  <a:srgbClr val="005088"/>
                </a:solidFill>
                <a:latin typeface="Aptos Display" pitchFamily="34" charset="0"/>
                <a:ea typeface="Aptos Display" pitchFamily="34" charset="-122"/>
                <a:cs typeface="Aptos Display" pitchFamily="34" charset="-120"/>
              </a:rPr>
              <a:t>NESTED QUANTIFIERS: ORDER CHANGES MEANING</a:t>
            </a:r>
            <a:endParaRPr lang="en-US" sz="2650" dirty="0"/>
          </a:p>
        </p:txBody>
      </p:sp>
      <p:sp>
        <p:nvSpPr>
          <p:cNvPr id="7" name="Shape 5"/>
          <p:cNvSpPr/>
          <p:nvPr/>
        </p:nvSpPr>
        <p:spPr>
          <a:xfrm>
            <a:off x="502920" y="1188720"/>
            <a:ext cx="11109960" cy="0"/>
          </a:xfrm>
          <a:prstGeom prst="line">
            <a:avLst/>
          </a:prstGeom>
          <a:noFill/>
          <a:ln w="12700">
            <a:solidFill>
              <a:srgbClr val="3D5A80"/>
            </a:solidFill>
            <a:prstDash val="solid"/>
          </a:ln>
        </p:spPr>
      </p:sp>
      <p:sp>
        <p:nvSpPr>
          <p:cNvPr id="8" name="Text 6"/>
          <p:cNvSpPr/>
          <p:nvPr/>
        </p:nvSpPr>
        <p:spPr>
          <a:xfrm>
            <a:off x="713232" y="1572768"/>
            <a:ext cx="5440680" cy="4251960"/>
          </a:xfrm>
          <a:prstGeom prst="rect">
            <a:avLst/>
          </a:prstGeom>
          <a:noFill/>
          <a:ln/>
        </p:spPr>
        <p:txBody>
          <a:bodyPr wrap="square" lIns="1016" tIns="1016" rIns="1016" bIns="1016" rtlCol="0" anchor="t">
            <a:normAutofit/>
          </a:bodyPr>
          <a:lstStyle/>
          <a:p>
            <a:pPr indent="0" marL="0">
              <a:buNone/>
            </a:pPr>
            <a:r>
              <a:rPr lang="en-US" sz="1650" dirty="0">
                <a:solidFill>
                  <a:srgbClr val="1E293B"/>
                </a:solidFill>
                <a:latin typeface="Aptos" pitchFamily="34" charset="0"/>
                <a:ea typeface="Aptos" pitchFamily="34" charset="-122"/>
                <a:cs typeface="Aptos" pitchFamily="34" charset="-120"/>
              </a:rPr>
              <a:t>• Multiple quantifiers can appear in one sentence</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When quantifier types differ, order matters</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For all x, there exists y allows y to depend on x</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There exists y, for all x requires one y to work for everyone</a:t>
            </a:r>
            <a:endParaRPr lang="en-US" sz="1650" dirty="0"/>
          </a:p>
        </p:txBody>
      </p:sp>
      <p:sp>
        <p:nvSpPr>
          <p:cNvPr id="9" name="Shape 7"/>
          <p:cNvSpPr/>
          <p:nvPr/>
        </p:nvSpPr>
        <p:spPr>
          <a:xfrm>
            <a:off x="6446520" y="1572768"/>
            <a:ext cx="5074920" cy="1234440"/>
          </a:xfrm>
          <a:prstGeom prst="roundRect">
            <a:avLst>
              <a:gd name="adj" fmla="val 5926"/>
            </a:avLst>
          </a:prstGeom>
          <a:solidFill>
            <a:srgbClr val="FFF6D9"/>
          </a:solidFill>
          <a:ln w="12700">
            <a:solidFill>
              <a:srgbClr val="F4A261"/>
            </a:solidFill>
            <a:prstDash val="solid"/>
          </a:ln>
        </p:spPr>
      </p:sp>
      <p:sp>
        <p:nvSpPr>
          <p:cNvPr id="10" name="Text 8"/>
          <p:cNvSpPr/>
          <p:nvPr/>
        </p:nvSpPr>
        <p:spPr>
          <a:xfrm>
            <a:off x="6629400" y="1709928"/>
            <a:ext cx="4709160" cy="219456"/>
          </a:xfrm>
          <a:prstGeom prst="rect">
            <a:avLst/>
          </a:prstGeom>
          <a:noFill/>
          <a:ln/>
        </p:spPr>
        <p:txBody>
          <a:bodyPr wrap="square" lIns="0" tIns="0" rIns="0" bIns="0" rtlCol="0" anchor="ctr"/>
          <a:lstStyle/>
          <a:p>
            <a:pPr indent="0" marL="0">
              <a:buNone/>
            </a:pPr>
            <a:r>
              <a:rPr lang="en-US" sz="950" b="1" dirty="0">
                <a:solidFill>
                  <a:srgbClr val="B0005D"/>
                </a:solidFill>
              </a:rPr>
              <a:t>ANALOGY</a:t>
            </a:r>
            <a:endParaRPr lang="en-US" sz="950" dirty="0"/>
          </a:p>
        </p:txBody>
      </p:sp>
      <p:sp>
        <p:nvSpPr>
          <p:cNvPr id="11" name="Text 9"/>
          <p:cNvSpPr/>
          <p:nvPr/>
        </p:nvSpPr>
        <p:spPr>
          <a:xfrm>
            <a:off x="6629400" y="1984248"/>
            <a:ext cx="4709160" cy="731520"/>
          </a:xfrm>
          <a:prstGeom prst="rect">
            <a:avLst/>
          </a:prstGeom>
          <a:noFill/>
          <a:ln/>
        </p:spPr>
        <p:txBody>
          <a:bodyPr wrap="square" lIns="254" tIns="254" rIns="254" bIns="254" rtlCol="0" anchor="t">
            <a:normAutofit/>
          </a:bodyPr>
          <a:lstStyle/>
          <a:p>
            <a:pPr indent="0" marL="0">
              <a:buNone/>
            </a:pPr>
            <a:r>
              <a:rPr lang="en-US" sz="1330" dirty="0">
                <a:solidFill>
                  <a:srgbClr val="1E293B"/>
                </a:solidFill>
              </a:rPr>
              <a:t>“Every student has a favorite restaurant” is not the same as “one restaurant is everyone’s favorite.”</a:t>
            </a:r>
            <a:endParaRPr lang="en-US" sz="1330" dirty="0"/>
          </a:p>
        </p:txBody>
      </p:sp>
      <p:sp>
        <p:nvSpPr>
          <p:cNvPr id="12" name="Shape 10"/>
          <p:cNvSpPr/>
          <p:nvPr/>
        </p:nvSpPr>
        <p:spPr>
          <a:xfrm>
            <a:off x="6446520" y="2999232"/>
            <a:ext cx="5074920" cy="841248"/>
          </a:xfrm>
          <a:prstGeom prst="roundRect">
            <a:avLst>
              <a:gd name="adj" fmla="val 8696"/>
            </a:avLst>
          </a:prstGeom>
          <a:solidFill>
            <a:srgbClr val="FFFFFF">
              <a:alpha val="97000"/>
            </a:srgbClr>
          </a:solidFill>
          <a:ln w="12700">
            <a:solidFill>
              <a:srgbClr val="007C89"/>
            </a:solidFill>
            <a:prstDash val="solid"/>
          </a:ln>
        </p:spPr>
      </p:sp>
      <p:sp>
        <p:nvSpPr>
          <p:cNvPr id="13" name="Text 11"/>
          <p:cNvSpPr/>
          <p:nvPr/>
        </p:nvSpPr>
        <p:spPr>
          <a:xfrm>
            <a:off x="6611112" y="3127248"/>
            <a:ext cx="4745736" cy="658368"/>
          </a:xfrm>
          <a:prstGeom prst="rect">
            <a:avLst/>
          </a:prstGeom>
          <a:noFill/>
          <a:ln/>
        </p:spPr>
        <p:txBody>
          <a:bodyPr wrap="square" lIns="0" tIns="0" rIns="0" bIns="0" rtlCol="0" anchor="ctr">
            <a:normAutofit/>
          </a:bodyPr>
          <a:lstStyle/>
          <a:p>
            <a:pPr algn="ctr" indent="0" marL="0">
              <a:buNone/>
            </a:pPr>
            <a:r>
              <a:rPr lang="en-US" sz="1600" b="1" dirty="0">
                <a:solidFill>
                  <a:srgbClr val="005088"/>
                </a:solidFill>
                <a:latin typeface="Cambria Math" pitchFamily="34" charset="0"/>
                <a:ea typeface="Cambria Math" pitchFamily="34" charset="-122"/>
                <a:cs typeface="Cambria Math" pitchFamily="34" charset="-120"/>
              </a:rPr>
              <a:t>∀x ∃y Loves(x,y) ≠ ∃y ∀x Loves(x,y)</a:t>
            </a:r>
            <a:endParaRPr lang="en-US" sz="1600" dirty="0"/>
          </a:p>
        </p:txBody>
      </p:sp>
      <p:sp>
        <p:nvSpPr>
          <p:cNvPr id="14" name="Shape 12"/>
          <p:cNvSpPr/>
          <p:nvPr/>
        </p:nvSpPr>
        <p:spPr>
          <a:xfrm>
            <a:off x="6446520" y="4041648"/>
            <a:ext cx="5074920" cy="859536"/>
          </a:xfrm>
          <a:prstGeom prst="roundRect">
            <a:avLst>
              <a:gd name="adj" fmla="val 8511"/>
            </a:avLst>
          </a:prstGeom>
          <a:solidFill>
            <a:srgbClr val="FFE4E6"/>
          </a:solidFill>
          <a:ln w="12700">
            <a:solidFill>
              <a:srgbClr val="FDA4AF"/>
            </a:solidFill>
            <a:prstDash val="solid"/>
          </a:ln>
        </p:spPr>
      </p:sp>
      <p:sp>
        <p:nvSpPr>
          <p:cNvPr id="15" name="Text 13"/>
          <p:cNvSpPr/>
          <p:nvPr/>
        </p:nvSpPr>
        <p:spPr>
          <a:xfrm>
            <a:off x="6629400" y="4178808"/>
            <a:ext cx="4709160" cy="219456"/>
          </a:xfrm>
          <a:prstGeom prst="rect">
            <a:avLst/>
          </a:prstGeom>
          <a:noFill/>
          <a:ln/>
        </p:spPr>
        <p:txBody>
          <a:bodyPr wrap="square" lIns="0" tIns="0" rIns="0" bIns="0" rtlCol="0" anchor="ctr"/>
          <a:lstStyle/>
          <a:p>
            <a:pPr indent="0" marL="0">
              <a:buNone/>
            </a:pPr>
            <a:r>
              <a:rPr lang="en-US" sz="950" b="1" dirty="0">
                <a:solidFill>
                  <a:srgbClr val="C1121F"/>
                </a:solidFill>
              </a:rPr>
              <a:t>STUDENT GOTCHA</a:t>
            </a:r>
            <a:endParaRPr lang="en-US" sz="950" dirty="0"/>
          </a:p>
        </p:txBody>
      </p:sp>
      <p:sp>
        <p:nvSpPr>
          <p:cNvPr id="16" name="Text 14"/>
          <p:cNvSpPr/>
          <p:nvPr/>
        </p:nvSpPr>
        <p:spPr>
          <a:xfrm>
            <a:off x="6629400" y="4453128"/>
            <a:ext cx="4709160" cy="356616"/>
          </a:xfrm>
          <a:prstGeom prst="rect">
            <a:avLst/>
          </a:prstGeom>
          <a:noFill/>
          <a:ln/>
        </p:spPr>
        <p:txBody>
          <a:bodyPr wrap="square" lIns="254" tIns="254" rIns="254" bIns="254" rtlCol="0" anchor="t">
            <a:normAutofit/>
          </a:bodyPr>
          <a:lstStyle/>
          <a:p>
            <a:pPr indent="0" marL="0">
              <a:buNone/>
            </a:pPr>
            <a:r>
              <a:rPr lang="en-US" sz="1250" dirty="0">
                <a:solidFill>
                  <a:srgbClr val="1E293B"/>
                </a:solidFill>
              </a:rPr>
              <a:t>Students may think moving quantifiers is harmless. It changes the claim.</a:t>
            </a:r>
            <a:endParaRPr lang="en-US" sz="1250" dirty="0"/>
          </a:p>
        </p:txBody>
      </p:sp>
      <p:sp>
        <p:nvSpPr>
          <p:cNvPr id="17" name="Shape 15"/>
          <p:cNvSpPr/>
          <p:nvPr/>
        </p:nvSpPr>
        <p:spPr>
          <a:xfrm>
            <a:off x="6446520" y="5074920"/>
            <a:ext cx="5074920" cy="841248"/>
          </a:xfrm>
          <a:prstGeom prst="roundRect">
            <a:avLst>
              <a:gd name="adj" fmla="val 8696"/>
            </a:avLst>
          </a:prstGeom>
          <a:solidFill>
            <a:srgbClr val="E6FFFA"/>
          </a:solidFill>
          <a:ln w="12700">
            <a:solidFill>
              <a:srgbClr val="2A9D8F"/>
            </a:solidFill>
            <a:prstDash val="solid"/>
          </a:ln>
        </p:spPr>
      </p:sp>
      <p:sp>
        <p:nvSpPr>
          <p:cNvPr id="18" name="Text 16"/>
          <p:cNvSpPr/>
          <p:nvPr/>
        </p:nvSpPr>
        <p:spPr>
          <a:xfrm>
            <a:off x="6629400" y="5212080"/>
            <a:ext cx="4709160" cy="219456"/>
          </a:xfrm>
          <a:prstGeom prst="rect">
            <a:avLst/>
          </a:prstGeom>
          <a:noFill/>
          <a:ln/>
        </p:spPr>
        <p:txBody>
          <a:bodyPr wrap="square" lIns="0" tIns="0" rIns="0" bIns="0" rtlCol="0" anchor="ctr"/>
          <a:lstStyle/>
          <a:p>
            <a:pPr indent="0" marL="0">
              <a:buNone/>
            </a:pPr>
            <a:r>
              <a:rPr lang="en-US" sz="950" b="1" dirty="0">
                <a:solidFill>
                  <a:srgbClr val="007C89"/>
                </a:solidFill>
              </a:rPr>
              <a:t>CLASS CHECK</a:t>
            </a:r>
            <a:endParaRPr lang="en-US" sz="950" dirty="0"/>
          </a:p>
        </p:txBody>
      </p:sp>
      <p:sp>
        <p:nvSpPr>
          <p:cNvPr id="19" name="Text 17"/>
          <p:cNvSpPr/>
          <p:nvPr/>
        </p:nvSpPr>
        <p:spPr>
          <a:xfrm>
            <a:off x="6629400" y="5486400"/>
            <a:ext cx="4709160" cy="338328"/>
          </a:xfrm>
          <a:prstGeom prst="rect">
            <a:avLst/>
          </a:prstGeom>
          <a:noFill/>
          <a:ln/>
        </p:spPr>
        <p:txBody>
          <a:bodyPr wrap="square" lIns="254" tIns="254" rIns="254" bIns="254" rtlCol="0" anchor="t">
            <a:normAutofit/>
          </a:bodyPr>
          <a:lstStyle/>
          <a:p>
            <a:pPr indent="0" marL="0">
              <a:buNone/>
            </a:pPr>
            <a:r>
              <a:rPr lang="en-US" sz="1270" dirty="0">
                <a:solidFill>
                  <a:srgbClr val="1E293B"/>
                </a:solidFill>
              </a:rPr>
              <a:t>Ask for a campus example where the two orders differ.</a:t>
            </a:r>
            <a:endParaRPr lang="en-US" sz="127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5088"/>
          </a:solidFill>
          <a:ln w="12700">
            <a:solidFill>
              <a:srgbClr val="005088"/>
            </a:solidFill>
            <a:prstDash val="solid"/>
          </a:ln>
        </p:spPr>
      </p:sp>
      <p:sp>
        <p:nvSpPr>
          <p:cNvPr id="3" name="Shape 1"/>
          <p:cNvSpPr/>
          <p:nvPr/>
        </p:nvSpPr>
        <p:spPr>
          <a:xfrm>
            <a:off x="0" y="6729984"/>
            <a:ext cx="12191695" cy="128016"/>
          </a:xfrm>
          <a:prstGeom prst="rect">
            <a:avLst/>
          </a:prstGeom>
          <a:solidFill>
            <a:srgbClr val="005088"/>
          </a:solidFill>
          <a:ln w="12700">
            <a:solidFill>
              <a:srgbClr val="005088"/>
            </a:solidFill>
            <a:prstDash val="solid"/>
          </a:ln>
        </p:spPr>
      </p:sp>
      <p:sp>
        <p:nvSpPr>
          <p:cNvPr id="4" name="Text 2"/>
          <p:cNvSpPr/>
          <p:nvPr/>
        </p:nvSpPr>
        <p:spPr>
          <a:xfrm>
            <a:off x="502920" y="210312"/>
            <a:ext cx="6858000" cy="219456"/>
          </a:xfrm>
          <a:prstGeom prst="rect">
            <a:avLst/>
          </a:prstGeom>
          <a:noFill/>
          <a:ln/>
        </p:spPr>
        <p:txBody>
          <a:bodyPr wrap="square" lIns="0" tIns="0" rIns="0" bIns="0" rtlCol="0" anchor="ctr"/>
          <a:lstStyle/>
          <a:p>
            <a:pPr indent="0" marL="0">
              <a:buNone/>
            </a:pPr>
            <a:r>
              <a:rPr lang="en-US" sz="950" b="1" dirty="0">
                <a:solidFill>
                  <a:srgbClr val="3D5A80"/>
                </a:solidFill>
                <a:latin typeface="Aptos" pitchFamily="34" charset="0"/>
                <a:ea typeface="Aptos" pitchFamily="34" charset="-122"/>
                <a:cs typeface="Aptos" pitchFamily="34" charset="-120"/>
              </a:rPr>
              <a:t>8.2.6 Quantifiers</a:t>
            </a:r>
            <a:endParaRPr lang="en-US" sz="950" dirty="0"/>
          </a:p>
        </p:txBody>
      </p:sp>
      <p:sp>
        <p:nvSpPr>
          <p:cNvPr id="5" name="Text 3"/>
          <p:cNvSpPr/>
          <p:nvPr/>
        </p:nvSpPr>
        <p:spPr>
          <a:xfrm>
            <a:off x="11018520" y="201168"/>
            <a:ext cx="640080" cy="228600"/>
          </a:xfrm>
          <a:prstGeom prst="rect">
            <a:avLst/>
          </a:prstGeom>
          <a:noFill/>
          <a:ln/>
        </p:spPr>
        <p:txBody>
          <a:bodyPr wrap="square" lIns="0" tIns="0" rIns="0" bIns="0" rtlCol="0" anchor="ctr"/>
          <a:lstStyle/>
          <a:p>
            <a:pPr algn="r" indent="0" marL="0">
              <a:buNone/>
            </a:pPr>
            <a:r>
              <a:rPr lang="en-US" sz="900" b="1" dirty="0">
                <a:solidFill>
                  <a:srgbClr val="3D5A80"/>
                </a:solidFill>
              </a:rPr>
              <a:t>55</a:t>
            </a:r>
            <a:endParaRPr lang="en-US" sz="900" dirty="0"/>
          </a:p>
        </p:txBody>
      </p:sp>
      <p:sp>
        <p:nvSpPr>
          <p:cNvPr id="6" name="Text 4"/>
          <p:cNvSpPr/>
          <p:nvPr/>
        </p:nvSpPr>
        <p:spPr>
          <a:xfrm>
            <a:off x="502920" y="566928"/>
            <a:ext cx="11201400" cy="512064"/>
          </a:xfrm>
          <a:prstGeom prst="rect">
            <a:avLst/>
          </a:prstGeom>
          <a:noFill/>
          <a:ln/>
        </p:spPr>
        <p:txBody>
          <a:bodyPr wrap="square" lIns="0" tIns="0" rIns="0" bIns="0" rtlCol="0" anchor="ctr">
            <a:normAutofit/>
          </a:bodyPr>
          <a:lstStyle/>
          <a:p>
            <a:pPr indent="0" marL="0">
              <a:buNone/>
            </a:pPr>
            <a:r>
              <a:rPr lang="en-US" sz="2650" b="1" dirty="0">
                <a:solidFill>
                  <a:srgbClr val="005088"/>
                </a:solidFill>
                <a:latin typeface="Aptos Display" pitchFamily="34" charset="0"/>
                <a:ea typeface="Aptos Display" pitchFamily="34" charset="-122"/>
                <a:cs typeface="Aptos Display" pitchFamily="34" charset="-120"/>
              </a:rPr>
              <a:t>EXAMPLE: EVERYONE LOVES SOMEBODY</a:t>
            </a:r>
            <a:endParaRPr lang="en-US" sz="2650" dirty="0"/>
          </a:p>
        </p:txBody>
      </p:sp>
      <p:sp>
        <p:nvSpPr>
          <p:cNvPr id="7" name="Shape 5"/>
          <p:cNvSpPr/>
          <p:nvPr/>
        </p:nvSpPr>
        <p:spPr>
          <a:xfrm>
            <a:off x="502920" y="1188720"/>
            <a:ext cx="11109960" cy="0"/>
          </a:xfrm>
          <a:prstGeom prst="line">
            <a:avLst/>
          </a:prstGeom>
          <a:noFill/>
          <a:ln w="12700">
            <a:solidFill>
              <a:srgbClr val="3D5A80"/>
            </a:solidFill>
            <a:prstDash val="solid"/>
          </a:ln>
        </p:spPr>
      </p:sp>
      <p:sp>
        <p:nvSpPr>
          <p:cNvPr id="8" name="Text 6"/>
          <p:cNvSpPr/>
          <p:nvPr/>
        </p:nvSpPr>
        <p:spPr>
          <a:xfrm>
            <a:off x="713232" y="1572768"/>
            <a:ext cx="5440680" cy="4251960"/>
          </a:xfrm>
          <a:prstGeom prst="rect">
            <a:avLst/>
          </a:prstGeom>
          <a:noFill/>
          <a:ln/>
        </p:spPr>
        <p:txBody>
          <a:bodyPr wrap="square" lIns="1016" tIns="1016" rIns="1016" bIns="1016" rtlCol="0" anchor="t">
            <a:normAutofit/>
          </a:bodyPr>
          <a:lstStyle/>
          <a:p>
            <a:pPr indent="0" marL="0">
              <a:buNone/>
            </a:pPr>
            <a:r>
              <a:rPr lang="en-US" sz="1650" dirty="0">
                <a:solidFill>
                  <a:srgbClr val="1E293B"/>
                </a:solidFill>
                <a:latin typeface="Aptos" pitchFamily="34" charset="0"/>
                <a:ea typeface="Aptos" pitchFamily="34" charset="-122"/>
                <a:cs typeface="Aptos" pitchFamily="34" charset="-120"/>
              </a:rPr>
              <a:t>• For every person x</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There is some person or object y</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x loves y</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The loved object can be different for each x</a:t>
            </a:r>
            <a:endParaRPr lang="en-US" sz="1650" dirty="0"/>
          </a:p>
        </p:txBody>
      </p:sp>
      <p:sp>
        <p:nvSpPr>
          <p:cNvPr id="9" name="Shape 7"/>
          <p:cNvSpPr/>
          <p:nvPr/>
        </p:nvSpPr>
        <p:spPr>
          <a:xfrm>
            <a:off x="6446520" y="1572768"/>
            <a:ext cx="5074920" cy="1234440"/>
          </a:xfrm>
          <a:prstGeom prst="roundRect">
            <a:avLst>
              <a:gd name="adj" fmla="val 5926"/>
            </a:avLst>
          </a:prstGeom>
          <a:solidFill>
            <a:srgbClr val="FFF6D9"/>
          </a:solidFill>
          <a:ln w="12700">
            <a:solidFill>
              <a:srgbClr val="F4A261"/>
            </a:solidFill>
            <a:prstDash val="solid"/>
          </a:ln>
        </p:spPr>
      </p:sp>
      <p:sp>
        <p:nvSpPr>
          <p:cNvPr id="10" name="Text 8"/>
          <p:cNvSpPr/>
          <p:nvPr/>
        </p:nvSpPr>
        <p:spPr>
          <a:xfrm>
            <a:off x="6629400" y="1709928"/>
            <a:ext cx="4709160" cy="219456"/>
          </a:xfrm>
          <a:prstGeom prst="rect">
            <a:avLst/>
          </a:prstGeom>
          <a:noFill/>
          <a:ln/>
        </p:spPr>
        <p:txBody>
          <a:bodyPr wrap="square" lIns="0" tIns="0" rIns="0" bIns="0" rtlCol="0" anchor="ctr"/>
          <a:lstStyle/>
          <a:p>
            <a:pPr indent="0" marL="0">
              <a:buNone/>
            </a:pPr>
            <a:r>
              <a:rPr lang="en-US" sz="950" b="1" dirty="0">
                <a:solidFill>
                  <a:srgbClr val="B0005D"/>
                </a:solidFill>
              </a:rPr>
              <a:t>ANALOGY</a:t>
            </a:r>
            <a:endParaRPr lang="en-US" sz="950" dirty="0"/>
          </a:p>
        </p:txBody>
      </p:sp>
      <p:sp>
        <p:nvSpPr>
          <p:cNvPr id="11" name="Text 9"/>
          <p:cNvSpPr/>
          <p:nvPr/>
        </p:nvSpPr>
        <p:spPr>
          <a:xfrm>
            <a:off x="6629400" y="1984248"/>
            <a:ext cx="4709160" cy="731520"/>
          </a:xfrm>
          <a:prstGeom prst="rect">
            <a:avLst/>
          </a:prstGeom>
          <a:noFill/>
          <a:ln/>
        </p:spPr>
        <p:txBody>
          <a:bodyPr wrap="square" lIns="254" tIns="254" rIns="254" bIns="254" rtlCol="0" anchor="t">
            <a:normAutofit/>
          </a:bodyPr>
          <a:lstStyle/>
          <a:p>
            <a:pPr indent="0" marL="0">
              <a:buNone/>
            </a:pPr>
            <a:r>
              <a:rPr lang="en-US" sz="1330" dirty="0">
                <a:solidFill>
                  <a:srgbClr val="1E293B"/>
                </a:solidFill>
              </a:rPr>
              <a:t>Every student may have a different favorite study spot.</a:t>
            </a:r>
            <a:endParaRPr lang="en-US" sz="1330" dirty="0"/>
          </a:p>
        </p:txBody>
      </p:sp>
      <p:sp>
        <p:nvSpPr>
          <p:cNvPr id="12" name="Shape 10"/>
          <p:cNvSpPr/>
          <p:nvPr/>
        </p:nvSpPr>
        <p:spPr>
          <a:xfrm>
            <a:off x="6446520" y="2999232"/>
            <a:ext cx="5074920" cy="841248"/>
          </a:xfrm>
          <a:prstGeom prst="roundRect">
            <a:avLst>
              <a:gd name="adj" fmla="val 8696"/>
            </a:avLst>
          </a:prstGeom>
          <a:solidFill>
            <a:srgbClr val="FFFFFF">
              <a:alpha val="97000"/>
            </a:srgbClr>
          </a:solidFill>
          <a:ln w="12700">
            <a:solidFill>
              <a:srgbClr val="007C89"/>
            </a:solidFill>
            <a:prstDash val="solid"/>
          </a:ln>
        </p:spPr>
      </p:sp>
      <p:sp>
        <p:nvSpPr>
          <p:cNvPr id="13" name="Text 11"/>
          <p:cNvSpPr/>
          <p:nvPr/>
        </p:nvSpPr>
        <p:spPr>
          <a:xfrm>
            <a:off x="6611112" y="3127248"/>
            <a:ext cx="4745736" cy="658368"/>
          </a:xfrm>
          <a:prstGeom prst="rect">
            <a:avLst/>
          </a:prstGeom>
          <a:noFill/>
          <a:ln/>
        </p:spPr>
        <p:txBody>
          <a:bodyPr wrap="square" lIns="0" tIns="0" rIns="0" bIns="0" rtlCol="0" anchor="ctr">
            <a:normAutofit/>
          </a:bodyPr>
          <a:lstStyle/>
          <a:p>
            <a:pPr algn="ctr" indent="0" marL="0">
              <a:buNone/>
            </a:pPr>
            <a:r>
              <a:rPr lang="en-US" sz="2000" b="1" dirty="0">
                <a:solidFill>
                  <a:srgbClr val="005088"/>
                </a:solidFill>
                <a:latin typeface="Cambria Math" pitchFamily="34" charset="0"/>
                <a:ea typeface="Cambria Math" pitchFamily="34" charset="-122"/>
                <a:cs typeface="Cambria Math" pitchFamily="34" charset="-120"/>
              </a:rPr>
              <a:t>∀x ∃y Loves(x,y)</a:t>
            </a:r>
            <a:endParaRPr lang="en-US" sz="2000" dirty="0"/>
          </a:p>
        </p:txBody>
      </p:sp>
      <p:sp>
        <p:nvSpPr>
          <p:cNvPr id="14" name="Shape 12"/>
          <p:cNvSpPr/>
          <p:nvPr/>
        </p:nvSpPr>
        <p:spPr>
          <a:xfrm>
            <a:off x="6446520" y="4041648"/>
            <a:ext cx="5074920" cy="859536"/>
          </a:xfrm>
          <a:prstGeom prst="roundRect">
            <a:avLst>
              <a:gd name="adj" fmla="val 8511"/>
            </a:avLst>
          </a:prstGeom>
          <a:solidFill>
            <a:srgbClr val="FFE4E6"/>
          </a:solidFill>
          <a:ln w="12700">
            <a:solidFill>
              <a:srgbClr val="FDA4AF"/>
            </a:solidFill>
            <a:prstDash val="solid"/>
          </a:ln>
        </p:spPr>
      </p:sp>
      <p:sp>
        <p:nvSpPr>
          <p:cNvPr id="15" name="Text 13"/>
          <p:cNvSpPr/>
          <p:nvPr/>
        </p:nvSpPr>
        <p:spPr>
          <a:xfrm>
            <a:off x="6629400" y="4178808"/>
            <a:ext cx="4709160" cy="219456"/>
          </a:xfrm>
          <a:prstGeom prst="rect">
            <a:avLst/>
          </a:prstGeom>
          <a:noFill/>
          <a:ln/>
        </p:spPr>
        <p:txBody>
          <a:bodyPr wrap="square" lIns="0" tIns="0" rIns="0" bIns="0" rtlCol="0" anchor="ctr"/>
          <a:lstStyle/>
          <a:p>
            <a:pPr indent="0" marL="0">
              <a:buNone/>
            </a:pPr>
            <a:r>
              <a:rPr lang="en-US" sz="950" b="1" dirty="0">
                <a:solidFill>
                  <a:srgbClr val="C1121F"/>
                </a:solidFill>
              </a:rPr>
              <a:t>STUDENT GOTCHA</a:t>
            </a:r>
            <a:endParaRPr lang="en-US" sz="950" dirty="0"/>
          </a:p>
        </p:txBody>
      </p:sp>
      <p:sp>
        <p:nvSpPr>
          <p:cNvPr id="16" name="Text 14"/>
          <p:cNvSpPr/>
          <p:nvPr/>
        </p:nvSpPr>
        <p:spPr>
          <a:xfrm>
            <a:off x="6629400" y="4453128"/>
            <a:ext cx="4709160" cy="356616"/>
          </a:xfrm>
          <a:prstGeom prst="rect">
            <a:avLst/>
          </a:prstGeom>
          <a:noFill/>
          <a:ln/>
        </p:spPr>
        <p:txBody>
          <a:bodyPr wrap="square" lIns="254" tIns="254" rIns="254" bIns="254" rtlCol="0" anchor="t">
            <a:normAutofit/>
          </a:bodyPr>
          <a:lstStyle/>
          <a:p>
            <a:pPr indent="0" marL="0">
              <a:buNone/>
            </a:pPr>
            <a:r>
              <a:rPr lang="en-US" sz="1250" dirty="0">
                <a:solidFill>
                  <a:srgbClr val="1E293B"/>
                </a:solidFill>
              </a:rPr>
              <a:t>The formula does not require a single universally loved person.</a:t>
            </a:r>
            <a:endParaRPr lang="en-US" sz="1250" dirty="0"/>
          </a:p>
        </p:txBody>
      </p:sp>
      <p:sp>
        <p:nvSpPr>
          <p:cNvPr id="17" name="Shape 15"/>
          <p:cNvSpPr/>
          <p:nvPr/>
        </p:nvSpPr>
        <p:spPr>
          <a:xfrm>
            <a:off x="6446520" y="5074920"/>
            <a:ext cx="5074920" cy="841248"/>
          </a:xfrm>
          <a:prstGeom prst="roundRect">
            <a:avLst>
              <a:gd name="adj" fmla="val 8696"/>
            </a:avLst>
          </a:prstGeom>
          <a:solidFill>
            <a:srgbClr val="E6FFFA"/>
          </a:solidFill>
          <a:ln w="12700">
            <a:solidFill>
              <a:srgbClr val="2A9D8F"/>
            </a:solidFill>
            <a:prstDash val="solid"/>
          </a:ln>
        </p:spPr>
      </p:sp>
      <p:sp>
        <p:nvSpPr>
          <p:cNvPr id="18" name="Text 16"/>
          <p:cNvSpPr/>
          <p:nvPr/>
        </p:nvSpPr>
        <p:spPr>
          <a:xfrm>
            <a:off x="6629400" y="5212080"/>
            <a:ext cx="4709160" cy="219456"/>
          </a:xfrm>
          <a:prstGeom prst="rect">
            <a:avLst/>
          </a:prstGeom>
          <a:noFill/>
          <a:ln/>
        </p:spPr>
        <p:txBody>
          <a:bodyPr wrap="square" lIns="0" tIns="0" rIns="0" bIns="0" rtlCol="0" anchor="ctr"/>
          <a:lstStyle/>
          <a:p>
            <a:pPr indent="0" marL="0">
              <a:buNone/>
            </a:pPr>
            <a:r>
              <a:rPr lang="en-US" sz="950" b="1" dirty="0">
                <a:solidFill>
                  <a:srgbClr val="007C89"/>
                </a:solidFill>
              </a:rPr>
              <a:t>CLASS CHECK</a:t>
            </a:r>
            <a:endParaRPr lang="en-US" sz="950" dirty="0"/>
          </a:p>
        </p:txBody>
      </p:sp>
      <p:sp>
        <p:nvSpPr>
          <p:cNvPr id="19" name="Text 17"/>
          <p:cNvSpPr/>
          <p:nvPr/>
        </p:nvSpPr>
        <p:spPr>
          <a:xfrm>
            <a:off x="6629400" y="5486400"/>
            <a:ext cx="4709160" cy="338328"/>
          </a:xfrm>
          <a:prstGeom prst="rect">
            <a:avLst/>
          </a:prstGeom>
          <a:noFill/>
          <a:ln/>
        </p:spPr>
        <p:txBody>
          <a:bodyPr wrap="square" lIns="254" tIns="254" rIns="254" bIns="254" rtlCol="0" anchor="t">
            <a:normAutofit/>
          </a:bodyPr>
          <a:lstStyle/>
          <a:p>
            <a:pPr indent="0" marL="0">
              <a:buNone/>
            </a:pPr>
            <a:r>
              <a:rPr lang="en-US" sz="1270" dirty="0">
                <a:solidFill>
                  <a:srgbClr val="1E293B"/>
                </a:solidFill>
              </a:rPr>
              <a:t>Ask: Can Ana love music while Ben loves robotics?</a:t>
            </a:r>
            <a:endParaRPr lang="en-US" sz="127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5088"/>
          </a:solidFill>
          <a:ln w="12700">
            <a:solidFill>
              <a:srgbClr val="005088"/>
            </a:solidFill>
            <a:prstDash val="solid"/>
          </a:ln>
        </p:spPr>
      </p:sp>
      <p:sp>
        <p:nvSpPr>
          <p:cNvPr id="3" name="Shape 1"/>
          <p:cNvSpPr/>
          <p:nvPr/>
        </p:nvSpPr>
        <p:spPr>
          <a:xfrm>
            <a:off x="0" y="6729984"/>
            <a:ext cx="12191695" cy="128016"/>
          </a:xfrm>
          <a:prstGeom prst="rect">
            <a:avLst/>
          </a:prstGeom>
          <a:solidFill>
            <a:srgbClr val="005088"/>
          </a:solidFill>
          <a:ln w="12700">
            <a:solidFill>
              <a:srgbClr val="005088"/>
            </a:solidFill>
            <a:prstDash val="solid"/>
          </a:ln>
        </p:spPr>
      </p:sp>
      <p:sp>
        <p:nvSpPr>
          <p:cNvPr id="4" name="Text 2"/>
          <p:cNvSpPr/>
          <p:nvPr/>
        </p:nvSpPr>
        <p:spPr>
          <a:xfrm>
            <a:off x="502920" y="210312"/>
            <a:ext cx="6858000" cy="219456"/>
          </a:xfrm>
          <a:prstGeom prst="rect">
            <a:avLst/>
          </a:prstGeom>
          <a:noFill/>
          <a:ln/>
        </p:spPr>
        <p:txBody>
          <a:bodyPr wrap="square" lIns="0" tIns="0" rIns="0" bIns="0" rtlCol="0" anchor="ctr"/>
          <a:lstStyle/>
          <a:p>
            <a:pPr indent="0" marL="0">
              <a:buNone/>
            </a:pPr>
            <a:r>
              <a:rPr lang="en-US" sz="950" b="1" dirty="0">
                <a:solidFill>
                  <a:srgbClr val="3D5A80"/>
                </a:solidFill>
                <a:latin typeface="Aptos" pitchFamily="34" charset="0"/>
                <a:ea typeface="Aptos" pitchFamily="34" charset="-122"/>
                <a:cs typeface="Aptos" pitchFamily="34" charset="-120"/>
              </a:rPr>
              <a:t>8.2.6 Quantifiers</a:t>
            </a:r>
            <a:endParaRPr lang="en-US" sz="950" dirty="0"/>
          </a:p>
        </p:txBody>
      </p:sp>
      <p:sp>
        <p:nvSpPr>
          <p:cNvPr id="5" name="Text 3"/>
          <p:cNvSpPr/>
          <p:nvPr/>
        </p:nvSpPr>
        <p:spPr>
          <a:xfrm>
            <a:off x="11018520" y="201168"/>
            <a:ext cx="640080" cy="228600"/>
          </a:xfrm>
          <a:prstGeom prst="rect">
            <a:avLst/>
          </a:prstGeom>
          <a:noFill/>
          <a:ln/>
        </p:spPr>
        <p:txBody>
          <a:bodyPr wrap="square" lIns="0" tIns="0" rIns="0" bIns="0" rtlCol="0" anchor="ctr"/>
          <a:lstStyle/>
          <a:p>
            <a:pPr algn="r" indent="0" marL="0">
              <a:buNone/>
            </a:pPr>
            <a:r>
              <a:rPr lang="en-US" sz="900" b="1" dirty="0">
                <a:solidFill>
                  <a:srgbClr val="3D5A80"/>
                </a:solidFill>
              </a:rPr>
              <a:t>56</a:t>
            </a:r>
            <a:endParaRPr lang="en-US" sz="900" dirty="0"/>
          </a:p>
        </p:txBody>
      </p:sp>
      <p:sp>
        <p:nvSpPr>
          <p:cNvPr id="6" name="Text 4"/>
          <p:cNvSpPr/>
          <p:nvPr/>
        </p:nvSpPr>
        <p:spPr>
          <a:xfrm>
            <a:off x="502920" y="566928"/>
            <a:ext cx="11201400" cy="512064"/>
          </a:xfrm>
          <a:prstGeom prst="rect">
            <a:avLst/>
          </a:prstGeom>
          <a:noFill/>
          <a:ln/>
        </p:spPr>
        <p:txBody>
          <a:bodyPr wrap="square" lIns="0" tIns="0" rIns="0" bIns="0" rtlCol="0" anchor="ctr">
            <a:normAutofit/>
          </a:bodyPr>
          <a:lstStyle/>
          <a:p>
            <a:pPr indent="0" marL="0">
              <a:buNone/>
            </a:pPr>
            <a:r>
              <a:rPr lang="en-US" sz="2650" b="1" dirty="0">
                <a:solidFill>
                  <a:srgbClr val="005088"/>
                </a:solidFill>
                <a:latin typeface="Aptos Display" pitchFamily="34" charset="0"/>
                <a:ea typeface="Aptos Display" pitchFamily="34" charset="-122"/>
                <a:cs typeface="Aptos Display" pitchFamily="34" charset="-120"/>
              </a:rPr>
              <a:t>EXAMPLE: SOMEBODY IS LOVED BY EVERYBODY</a:t>
            </a:r>
            <a:endParaRPr lang="en-US" sz="2650" dirty="0"/>
          </a:p>
        </p:txBody>
      </p:sp>
      <p:sp>
        <p:nvSpPr>
          <p:cNvPr id="7" name="Shape 5"/>
          <p:cNvSpPr/>
          <p:nvPr/>
        </p:nvSpPr>
        <p:spPr>
          <a:xfrm>
            <a:off x="502920" y="1188720"/>
            <a:ext cx="11109960" cy="0"/>
          </a:xfrm>
          <a:prstGeom prst="line">
            <a:avLst/>
          </a:prstGeom>
          <a:noFill/>
          <a:ln w="12700">
            <a:solidFill>
              <a:srgbClr val="3D5A80"/>
            </a:solidFill>
            <a:prstDash val="solid"/>
          </a:ln>
        </p:spPr>
      </p:sp>
      <p:sp>
        <p:nvSpPr>
          <p:cNvPr id="8" name="Text 6"/>
          <p:cNvSpPr/>
          <p:nvPr/>
        </p:nvSpPr>
        <p:spPr>
          <a:xfrm>
            <a:off x="713232" y="1572768"/>
            <a:ext cx="5440680" cy="4251960"/>
          </a:xfrm>
          <a:prstGeom prst="rect">
            <a:avLst/>
          </a:prstGeom>
          <a:noFill/>
          <a:ln/>
        </p:spPr>
        <p:txBody>
          <a:bodyPr wrap="square" lIns="1016" tIns="1016" rIns="1016" bIns="1016" rtlCol="0" anchor="t">
            <a:normAutofit/>
          </a:bodyPr>
          <a:lstStyle/>
          <a:p>
            <a:pPr indent="0" marL="0">
              <a:buNone/>
            </a:pPr>
            <a:r>
              <a:rPr lang="en-US" sz="1650" dirty="0">
                <a:solidFill>
                  <a:srgbClr val="1E293B"/>
                </a:solidFill>
                <a:latin typeface="Aptos" pitchFamily="34" charset="0"/>
                <a:ea typeface="Aptos" pitchFamily="34" charset="-122"/>
                <a:cs typeface="Aptos" pitchFamily="34" charset="-120"/>
              </a:rPr>
              <a:t>• There is one y first</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Then every x must love that same y</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This is much stronger than everyone loving somebody</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One shared witness must satisfy all cases</a:t>
            </a:r>
            <a:endParaRPr lang="en-US" sz="1650" dirty="0"/>
          </a:p>
        </p:txBody>
      </p:sp>
      <p:sp>
        <p:nvSpPr>
          <p:cNvPr id="9" name="Shape 7"/>
          <p:cNvSpPr/>
          <p:nvPr/>
        </p:nvSpPr>
        <p:spPr>
          <a:xfrm>
            <a:off x="6446520" y="1572768"/>
            <a:ext cx="5074920" cy="1234440"/>
          </a:xfrm>
          <a:prstGeom prst="roundRect">
            <a:avLst>
              <a:gd name="adj" fmla="val 5926"/>
            </a:avLst>
          </a:prstGeom>
          <a:solidFill>
            <a:srgbClr val="FFF6D9"/>
          </a:solidFill>
          <a:ln w="12700">
            <a:solidFill>
              <a:srgbClr val="F4A261"/>
            </a:solidFill>
            <a:prstDash val="solid"/>
          </a:ln>
        </p:spPr>
      </p:sp>
      <p:sp>
        <p:nvSpPr>
          <p:cNvPr id="10" name="Text 8"/>
          <p:cNvSpPr/>
          <p:nvPr/>
        </p:nvSpPr>
        <p:spPr>
          <a:xfrm>
            <a:off x="6629400" y="1709928"/>
            <a:ext cx="4709160" cy="219456"/>
          </a:xfrm>
          <a:prstGeom prst="rect">
            <a:avLst/>
          </a:prstGeom>
          <a:noFill/>
          <a:ln/>
        </p:spPr>
        <p:txBody>
          <a:bodyPr wrap="square" lIns="0" tIns="0" rIns="0" bIns="0" rtlCol="0" anchor="ctr"/>
          <a:lstStyle/>
          <a:p>
            <a:pPr indent="0" marL="0">
              <a:buNone/>
            </a:pPr>
            <a:r>
              <a:rPr lang="en-US" sz="950" b="1" dirty="0">
                <a:solidFill>
                  <a:srgbClr val="B0005D"/>
                </a:solidFill>
              </a:rPr>
              <a:t>ANALOGY</a:t>
            </a:r>
            <a:endParaRPr lang="en-US" sz="950" dirty="0"/>
          </a:p>
        </p:txBody>
      </p:sp>
      <p:sp>
        <p:nvSpPr>
          <p:cNvPr id="11" name="Text 9"/>
          <p:cNvSpPr/>
          <p:nvPr/>
        </p:nvSpPr>
        <p:spPr>
          <a:xfrm>
            <a:off x="6629400" y="1984248"/>
            <a:ext cx="4709160" cy="731520"/>
          </a:xfrm>
          <a:prstGeom prst="rect">
            <a:avLst/>
          </a:prstGeom>
          <a:noFill/>
          <a:ln/>
        </p:spPr>
        <p:txBody>
          <a:bodyPr wrap="square" lIns="254" tIns="254" rIns="254" bIns="254" rtlCol="0" anchor="t">
            <a:normAutofit/>
          </a:bodyPr>
          <a:lstStyle/>
          <a:p>
            <a:pPr indent="0" marL="0">
              <a:buNone/>
            </a:pPr>
            <a:r>
              <a:rPr lang="en-US" sz="1330" dirty="0">
                <a:solidFill>
                  <a:srgbClr val="1E293B"/>
                </a:solidFill>
              </a:rPr>
              <a:t>One professor is every student’s favorite instructor. That is much stronger than every student having some favorite instructor.</a:t>
            </a:r>
            <a:endParaRPr lang="en-US" sz="1330" dirty="0"/>
          </a:p>
        </p:txBody>
      </p:sp>
      <p:sp>
        <p:nvSpPr>
          <p:cNvPr id="12" name="Shape 10"/>
          <p:cNvSpPr/>
          <p:nvPr/>
        </p:nvSpPr>
        <p:spPr>
          <a:xfrm>
            <a:off x="6446520" y="2999232"/>
            <a:ext cx="5074920" cy="841248"/>
          </a:xfrm>
          <a:prstGeom prst="roundRect">
            <a:avLst>
              <a:gd name="adj" fmla="val 8696"/>
            </a:avLst>
          </a:prstGeom>
          <a:solidFill>
            <a:srgbClr val="FFFFFF">
              <a:alpha val="97000"/>
            </a:srgbClr>
          </a:solidFill>
          <a:ln w="12700">
            <a:solidFill>
              <a:srgbClr val="007C89"/>
            </a:solidFill>
            <a:prstDash val="solid"/>
          </a:ln>
        </p:spPr>
      </p:sp>
      <p:sp>
        <p:nvSpPr>
          <p:cNvPr id="13" name="Text 11"/>
          <p:cNvSpPr/>
          <p:nvPr/>
        </p:nvSpPr>
        <p:spPr>
          <a:xfrm>
            <a:off x="6611112" y="3127248"/>
            <a:ext cx="4745736" cy="658368"/>
          </a:xfrm>
          <a:prstGeom prst="rect">
            <a:avLst/>
          </a:prstGeom>
          <a:noFill/>
          <a:ln/>
        </p:spPr>
        <p:txBody>
          <a:bodyPr wrap="square" lIns="0" tIns="0" rIns="0" bIns="0" rtlCol="0" anchor="ctr">
            <a:normAutofit/>
          </a:bodyPr>
          <a:lstStyle/>
          <a:p>
            <a:pPr algn="ctr" indent="0" marL="0">
              <a:buNone/>
            </a:pPr>
            <a:r>
              <a:rPr lang="en-US" sz="2000" b="1" dirty="0">
                <a:solidFill>
                  <a:srgbClr val="005088"/>
                </a:solidFill>
                <a:latin typeface="Cambria Math" pitchFamily="34" charset="0"/>
                <a:ea typeface="Cambria Math" pitchFamily="34" charset="-122"/>
                <a:cs typeface="Cambria Math" pitchFamily="34" charset="-120"/>
              </a:rPr>
              <a:t>∃y ∀x Loves(x,y)</a:t>
            </a:r>
            <a:endParaRPr lang="en-US" sz="2000" dirty="0"/>
          </a:p>
        </p:txBody>
      </p:sp>
      <p:sp>
        <p:nvSpPr>
          <p:cNvPr id="14" name="Shape 12"/>
          <p:cNvSpPr/>
          <p:nvPr/>
        </p:nvSpPr>
        <p:spPr>
          <a:xfrm>
            <a:off x="6446520" y="4041648"/>
            <a:ext cx="5074920" cy="859536"/>
          </a:xfrm>
          <a:prstGeom prst="roundRect">
            <a:avLst>
              <a:gd name="adj" fmla="val 8511"/>
            </a:avLst>
          </a:prstGeom>
          <a:solidFill>
            <a:srgbClr val="FFE4E6"/>
          </a:solidFill>
          <a:ln w="12700">
            <a:solidFill>
              <a:srgbClr val="FDA4AF"/>
            </a:solidFill>
            <a:prstDash val="solid"/>
          </a:ln>
        </p:spPr>
      </p:sp>
      <p:sp>
        <p:nvSpPr>
          <p:cNvPr id="15" name="Text 13"/>
          <p:cNvSpPr/>
          <p:nvPr/>
        </p:nvSpPr>
        <p:spPr>
          <a:xfrm>
            <a:off x="6629400" y="4178808"/>
            <a:ext cx="4709160" cy="219456"/>
          </a:xfrm>
          <a:prstGeom prst="rect">
            <a:avLst/>
          </a:prstGeom>
          <a:noFill/>
          <a:ln/>
        </p:spPr>
        <p:txBody>
          <a:bodyPr wrap="square" lIns="0" tIns="0" rIns="0" bIns="0" rtlCol="0" anchor="ctr"/>
          <a:lstStyle/>
          <a:p>
            <a:pPr indent="0" marL="0">
              <a:buNone/>
            </a:pPr>
            <a:r>
              <a:rPr lang="en-US" sz="950" b="1" dirty="0">
                <a:solidFill>
                  <a:srgbClr val="C1121F"/>
                </a:solidFill>
              </a:rPr>
              <a:t>STUDENT GOTCHA</a:t>
            </a:r>
            <a:endParaRPr lang="en-US" sz="950" dirty="0"/>
          </a:p>
        </p:txBody>
      </p:sp>
      <p:sp>
        <p:nvSpPr>
          <p:cNvPr id="16" name="Text 14"/>
          <p:cNvSpPr/>
          <p:nvPr/>
        </p:nvSpPr>
        <p:spPr>
          <a:xfrm>
            <a:off x="6629400" y="4453128"/>
            <a:ext cx="4709160" cy="356616"/>
          </a:xfrm>
          <a:prstGeom prst="rect">
            <a:avLst/>
          </a:prstGeom>
          <a:noFill/>
          <a:ln/>
        </p:spPr>
        <p:txBody>
          <a:bodyPr wrap="square" lIns="254" tIns="254" rIns="254" bIns="254" rtlCol="0" anchor="t">
            <a:normAutofit/>
          </a:bodyPr>
          <a:lstStyle/>
          <a:p>
            <a:pPr indent="0" marL="0">
              <a:buNone/>
            </a:pPr>
            <a:r>
              <a:rPr lang="en-US" sz="1250" dirty="0">
                <a:solidFill>
                  <a:srgbClr val="1E293B"/>
                </a:solidFill>
              </a:rPr>
              <a:t>The y is chosen before x varies, so it cannot change from person to person.</a:t>
            </a:r>
            <a:endParaRPr lang="en-US" sz="1250" dirty="0"/>
          </a:p>
        </p:txBody>
      </p:sp>
      <p:sp>
        <p:nvSpPr>
          <p:cNvPr id="17" name="Shape 15"/>
          <p:cNvSpPr/>
          <p:nvPr/>
        </p:nvSpPr>
        <p:spPr>
          <a:xfrm>
            <a:off x="6446520" y="5074920"/>
            <a:ext cx="5074920" cy="841248"/>
          </a:xfrm>
          <a:prstGeom prst="roundRect">
            <a:avLst>
              <a:gd name="adj" fmla="val 8696"/>
            </a:avLst>
          </a:prstGeom>
          <a:solidFill>
            <a:srgbClr val="E6FFFA"/>
          </a:solidFill>
          <a:ln w="12700">
            <a:solidFill>
              <a:srgbClr val="2A9D8F"/>
            </a:solidFill>
            <a:prstDash val="solid"/>
          </a:ln>
        </p:spPr>
      </p:sp>
      <p:sp>
        <p:nvSpPr>
          <p:cNvPr id="18" name="Text 16"/>
          <p:cNvSpPr/>
          <p:nvPr/>
        </p:nvSpPr>
        <p:spPr>
          <a:xfrm>
            <a:off x="6629400" y="5212080"/>
            <a:ext cx="4709160" cy="219456"/>
          </a:xfrm>
          <a:prstGeom prst="rect">
            <a:avLst/>
          </a:prstGeom>
          <a:noFill/>
          <a:ln/>
        </p:spPr>
        <p:txBody>
          <a:bodyPr wrap="square" lIns="0" tIns="0" rIns="0" bIns="0" rtlCol="0" anchor="ctr"/>
          <a:lstStyle/>
          <a:p>
            <a:pPr indent="0" marL="0">
              <a:buNone/>
            </a:pPr>
            <a:r>
              <a:rPr lang="en-US" sz="950" b="1" dirty="0">
                <a:solidFill>
                  <a:srgbClr val="007C89"/>
                </a:solidFill>
              </a:rPr>
              <a:t>CLASS CHECK</a:t>
            </a:r>
            <a:endParaRPr lang="en-US" sz="950" dirty="0"/>
          </a:p>
        </p:txBody>
      </p:sp>
      <p:sp>
        <p:nvSpPr>
          <p:cNvPr id="19" name="Text 17"/>
          <p:cNvSpPr/>
          <p:nvPr/>
        </p:nvSpPr>
        <p:spPr>
          <a:xfrm>
            <a:off x="6629400" y="5486400"/>
            <a:ext cx="4709160" cy="338328"/>
          </a:xfrm>
          <a:prstGeom prst="rect">
            <a:avLst/>
          </a:prstGeom>
          <a:noFill/>
          <a:ln/>
        </p:spPr>
        <p:txBody>
          <a:bodyPr wrap="square" lIns="254" tIns="254" rIns="254" bIns="254" rtlCol="0" anchor="t">
            <a:normAutofit/>
          </a:bodyPr>
          <a:lstStyle/>
          <a:p>
            <a:pPr indent="0" marL="0">
              <a:buNone/>
            </a:pPr>
            <a:r>
              <a:rPr lang="en-US" sz="1270" dirty="0">
                <a:solidFill>
                  <a:srgbClr val="1E293B"/>
                </a:solidFill>
              </a:rPr>
              <a:t>Ask: Which formula is more likely to be true in a large class?</a:t>
            </a:r>
            <a:endParaRPr lang="en-US" sz="127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5088"/>
          </a:solidFill>
          <a:ln w="12700">
            <a:solidFill>
              <a:srgbClr val="005088"/>
            </a:solidFill>
            <a:prstDash val="solid"/>
          </a:ln>
        </p:spPr>
      </p:sp>
      <p:sp>
        <p:nvSpPr>
          <p:cNvPr id="3" name="Shape 1"/>
          <p:cNvSpPr/>
          <p:nvPr/>
        </p:nvSpPr>
        <p:spPr>
          <a:xfrm>
            <a:off x="0" y="6729984"/>
            <a:ext cx="12191695" cy="128016"/>
          </a:xfrm>
          <a:prstGeom prst="rect">
            <a:avLst/>
          </a:prstGeom>
          <a:solidFill>
            <a:srgbClr val="005088"/>
          </a:solidFill>
          <a:ln w="12700">
            <a:solidFill>
              <a:srgbClr val="005088"/>
            </a:solidFill>
            <a:prstDash val="solid"/>
          </a:ln>
        </p:spPr>
      </p:sp>
      <p:sp>
        <p:nvSpPr>
          <p:cNvPr id="4" name="Text 2"/>
          <p:cNvSpPr/>
          <p:nvPr/>
        </p:nvSpPr>
        <p:spPr>
          <a:xfrm>
            <a:off x="502920" y="210312"/>
            <a:ext cx="6858000" cy="219456"/>
          </a:xfrm>
          <a:prstGeom prst="rect">
            <a:avLst/>
          </a:prstGeom>
          <a:noFill/>
          <a:ln/>
        </p:spPr>
        <p:txBody>
          <a:bodyPr wrap="square" lIns="0" tIns="0" rIns="0" bIns="0" rtlCol="0" anchor="ctr"/>
          <a:lstStyle/>
          <a:p>
            <a:pPr indent="0" marL="0">
              <a:buNone/>
            </a:pPr>
            <a:r>
              <a:rPr lang="en-US" sz="950" b="1" dirty="0">
                <a:solidFill>
                  <a:srgbClr val="3D5A80"/>
                </a:solidFill>
                <a:latin typeface="Aptos" pitchFamily="34" charset="0"/>
                <a:ea typeface="Aptos" pitchFamily="34" charset="-122"/>
                <a:cs typeface="Aptos" pitchFamily="34" charset="-120"/>
              </a:rPr>
              <a:t>8.2.6 Quantifiers</a:t>
            </a:r>
            <a:endParaRPr lang="en-US" sz="950" dirty="0"/>
          </a:p>
        </p:txBody>
      </p:sp>
      <p:sp>
        <p:nvSpPr>
          <p:cNvPr id="5" name="Text 3"/>
          <p:cNvSpPr/>
          <p:nvPr/>
        </p:nvSpPr>
        <p:spPr>
          <a:xfrm>
            <a:off x="11018520" y="201168"/>
            <a:ext cx="640080" cy="228600"/>
          </a:xfrm>
          <a:prstGeom prst="rect">
            <a:avLst/>
          </a:prstGeom>
          <a:noFill/>
          <a:ln/>
        </p:spPr>
        <p:txBody>
          <a:bodyPr wrap="square" lIns="0" tIns="0" rIns="0" bIns="0" rtlCol="0" anchor="ctr"/>
          <a:lstStyle/>
          <a:p>
            <a:pPr algn="r" indent="0" marL="0">
              <a:buNone/>
            </a:pPr>
            <a:r>
              <a:rPr lang="en-US" sz="900" b="1" dirty="0">
                <a:solidFill>
                  <a:srgbClr val="3D5A80"/>
                </a:solidFill>
              </a:rPr>
              <a:t>57</a:t>
            </a:r>
            <a:endParaRPr lang="en-US" sz="900" dirty="0"/>
          </a:p>
        </p:txBody>
      </p:sp>
      <p:sp>
        <p:nvSpPr>
          <p:cNvPr id="6" name="Text 4"/>
          <p:cNvSpPr/>
          <p:nvPr/>
        </p:nvSpPr>
        <p:spPr>
          <a:xfrm>
            <a:off x="502920" y="566928"/>
            <a:ext cx="11201400" cy="512064"/>
          </a:xfrm>
          <a:prstGeom prst="rect">
            <a:avLst/>
          </a:prstGeom>
          <a:noFill/>
          <a:ln/>
        </p:spPr>
        <p:txBody>
          <a:bodyPr wrap="square" lIns="0" tIns="0" rIns="0" bIns="0" rtlCol="0" anchor="ctr">
            <a:normAutofit/>
          </a:bodyPr>
          <a:lstStyle/>
          <a:p>
            <a:pPr indent="0" marL="0">
              <a:buNone/>
            </a:pPr>
            <a:r>
              <a:rPr lang="en-US" sz="2650" b="1" dirty="0">
                <a:solidFill>
                  <a:srgbClr val="005088"/>
                </a:solidFill>
                <a:latin typeface="Aptos Display" pitchFamily="34" charset="0"/>
                <a:ea typeface="Aptos Display" pitchFamily="34" charset="-122"/>
                <a:cs typeface="Aptos Display" pitchFamily="34" charset="-120"/>
              </a:rPr>
              <a:t>NESTED QUANTIFIERS AS PICTURES</a:t>
            </a:r>
            <a:endParaRPr lang="en-US" sz="2650" dirty="0"/>
          </a:p>
        </p:txBody>
      </p:sp>
      <p:sp>
        <p:nvSpPr>
          <p:cNvPr id="7" name="Shape 5"/>
          <p:cNvSpPr/>
          <p:nvPr/>
        </p:nvSpPr>
        <p:spPr>
          <a:xfrm>
            <a:off x="502920" y="1188720"/>
            <a:ext cx="11109960" cy="0"/>
          </a:xfrm>
          <a:prstGeom prst="line">
            <a:avLst/>
          </a:prstGeom>
          <a:noFill/>
          <a:ln w="12700">
            <a:solidFill>
              <a:srgbClr val="3D5A80"/>
            </a:solidFill>
            <a:prstDash val="solid"/>
          </a:ln>
        </p:spPr>
      </p:sp>
      <p:sp>
        <p:nvSpPr>
          <p:cNvPr id="8" name="Text 6"/>
          <p:cNvSpPr/>
          <p:nvPr/>
        </p:nvSpPr>
        <p:spPr>
          <a:xfrm>
            <a:off x="530352" y="1261872"/>
            <a:ext cx="10972800" cy="310896"/>
          </a:xfrm>
          <a:prstGeom prst="rect">
            <a:avLst/>
          </a:prstGeom>
          <a:noFill/>
          <a:ln/>
        </p:spPr>
        <p:txBody>
          <a:bodyPr wrap="square" lIns="0" tIns="0" rIns="0" bIns="0" rtlCol="0" anchor="ctr">
            <a:normAutofit/>
          </a:bodyPr>
          <a:lstStyle/>
          <a:p>
            <a:pPr indent="0" marL="0">
              <a:buNone/>
            </a:pPr>
            <a:r>
              <a:rPr lang="en-US" sz="1280" dirty="0">
                <a:solidFill>
                  <a:srgbClr val="64748B"/>
                </a:solidFill>
              </a:rPr>
              <a:t>The arrows show whether the witness can change.</a:t>
            </a:r>
            <a:endParaRPr lang="en-US" sz="1280" dirty="0"/>
          </a:p>
        </p:txBody>
      </p:sp>
      <p:sp>
        <p:nvSpPr>
          <p:cNvPr id="9" name="Text 7"/>
          <p:cNvSpPr/>
          <p:nvPr/>
        </p:nvSpPr>
        <p:spPr>
          <a:xfrm>
            <a:off x="640080" y="1417320"/>
            <a:ext cx="5212080" cy="320040"/>
          </a:xfrm>
          <a:prstGeom prst="rect">
            <a:avLst/>
          </a:prstGeom>
          <a:noFill/>
          <a:ln/>
        </p:spPr>
        <p:txBody>
          <a:bodyPr wrap="square" lIns="0" tIns="0" rIns="0" bIns="0" rtlCol="0" anchor="ctr"/>
          <a:lstStyle/>
          <a:p>
            <a:pPr indent="0" marL="0">
              <a:buNone/>
            </a:pPr>
            <a:r>
              <a:rPr lang="en-US" sz="1500" b="1" dirty="0">
                <a:solidFill>
                  <a:srgbClr val="B0005D"/>
                </a:solidFill>
              </a:rPr>
              <a:t>∀x ∃y: every person can point to a different choice</a:t>
            </a:r>
            <a:endParaRPr lang="en-US" sz="1500" dirty="0"/>
          </a:p>
        </p:txBody>
      </p:sp>
      <p:sp>
        <p:nvSpPr>
          <p:cNvPr id="10" name="Shape 8"/>
          <p:cNvSpPr/>
          <p:nvPr/>
        </p:nvSpPr>
        <p:spPr>
          <a:xfrm>
            <a:off x="1005840" y="1965960"/>
            <a:ext cx="1097280" cy="438912"/>
          </a:xfrm>
          <a:prstGeom prst="roundRect">
            <a:avLst>
              <a:gd name="adj" fmla="val 12500"/>
            </a:avLst>
          </a:prstGeom>
          <a:solidFill>
            <a:srgbClr val="E0F2FE"/>
          </a:solidFill>
          <a:ln w="12700">
            <a:solidFill>
              <a:srgbClr val="3D5A80"/>
            </a:solidFill>
            <a:prstDash val="solid"/>
          </a:ln>
        </p:spPr>
      </p:sp>
      <p:sp>
        <p:nvSpPr>
          <p:cNvPr id="11" name="Text 9"/>
          <p:cNvSpPr/>
          <p:nvPr/>
        </p:nvSpPr>
        <p:spPr>
          <a:xfrm>
            <a:off x="1051560" y="2075688"/>
            <a:ext cx="1005840" cy="182880"/>
          </a:xfrm>
          <a:prstGeom prst="rect">
            <a:avLst/>
          </a:prstGeom>
          <a:noFill/>
          <a:ln/>
        </p:spPr>
        <p:txBody>
          <a:bodyPr wrap="square" lIns="0" tIns="0" rIns="0" bIns="0" rtlCol="0" anchor="ctr"/>
          <a:lstStyle/>
          <a:p>
            <a:pPr algn="ctr" indent="0" marL="0">
              <a:buNone/>
            </a:pPr>
            <a:r>
              <a:rPr lang="en-US" sz="950" b="1" dirty="0">
                <a:solidFill>
                  <a:srgbClr val="1E293B"/>
                </a:solidFill>
              </a:rPr>
              <a:t>Ana</a:t>
            </a:r>
            <a:endParaRPr lang="en-US" sz="950" dirty="0"/>
          </a:p>
        </p:txBody>
      </p:sp>
      <p:sp>
        <p:nvSpPr>
          <p:cNvPr id="12" name="Shape 10"/>
          <p:cNvSpPr/>
          <p:nvPr/>
        </p:nvSpPr>
        <p:spPr>
          <a:xfrm>
            <a:off x="1005840" y="3108960"/>
            <a:ext cx="1097280" cy="438912"/>
          </a:xfrm>
          <a:prstGeom prst="roundRect">
            <a:avLst>
              <a:gd name="adj" fmla="val 12500"/>
            </a:avLst>
          </a:prstGeom>
          <a:solidFill>
            <a:srgbClr val="E0F2FE"/>
          </a:solidFill>
          <a:ln w="12700">
            <a:solidFill>
              <a:srgbClr val="3D5A80"/>
            </a:solidFill>
            <a:prstDash val="solid"/>
          </a:ln>
        </p:spPr>
      </p:sp>
      <p:sp>
        <p:nvSpPr>
          <p:cNvPr id="13" name="Text 11"/>
          <p:cNvSpPr/>
          <p:nvPr/>
        </p:nvSpPr>
        <p:spPr>
          <a:xfrm>
            <a:off x="1051560" y="3218688"/>
            <a:ext cx="1005840" cy="182880"/>
          </a:xfrm>
          <a:prstGeom prst="rect">
            <a:avLst/>
          </a:prstGeom>
          <a:noFill/>
          <a:ln/>
        </p:spPr>
        <p:txBody>
          <a:bodyPr wrap="square" lIns="0" tIns="0" rIns="0" bIns="0" rtlCol="0" anchor="ctr"/>
          <a:lstStyle/>
          <a:p>
            <a:pPr algn="ctr" indent="0" marL="0">
              <a:buNone/>
            </a:pPr>
            <a:r>
              <a:rPr lang="en-US" sz="950" b="1" dirty="0">
                <a:solidFill>
                  <a:srgbClr val="1E293B"/>
                </a:solidFill>
              </a:rPr>
              <a:t>Ben</a:t>
            </a:r>
            <a:endParaRPr lang="en-US" sz="950" dirty="0"/>
          </a:p>
        </p:txBody>
      </p:sp>
      <p:sp>
        <p:nvSpPr>
          <p:cNvPr id="14" name="Shape 12"/>
          <p:cNvSpPr/>
          <p:nvPr/>
        </p:nvSpPr>
        <p:spPr>
          <a:xfrm>
            <a:off x="1005840" y="4251960"/>
            <a:ext cx="1097280" cy="438912"/>
          </a:xfrm>
          <a:prstGeom prst="roundRect">
            <a:avLst>
              <a:gd name="adj" fmla="val 12500"/>
            </a:avLst>
          </a:prstGeom>
          <a:solidFill>
            <a:srgbClr val="E0F2FE"/>
          </a:solidFill>
          <a:ln w="12700">
            <a:solidFill>
              <a:srgbClr val="3D5A80"/>
            </a:solidFill>
            <a:prstDash val="solid"/>
          </a:ln>
        </p:spPr>
      </p:sp>
      <p:sp>
        <p:nvSpPr>
          <p:cNvPr id="15" name="Text 13"/>
          <p:cNvSpPr/>
          <p:nvPr/>
        </p:nvSpPr>
        <p:spPr>
          <a:xfrm>
            <a:off x="1051560" y="4361688"/>
            <a:ext cx="1005840" cy="182880"/>
          </a:xfrm>
          <a:prstGeom prst="rect">
            <a:avLst/>
          </a:prstGeom>
          <a:noFill/>
          <a:ln/>
        </p:spPr>
        <p:txBody>
          <a:bodyPr wrap="square" lIns="0" tIns="0" rIns="0" bIns="0" rtlCol="0" anchor="ctr"/>
          <a:lstStyle/>
          <a:p>
            <a:pPr algn="ctr" indent="0" marL="0">
              <a:buNone/>
            </a:pPr>
            <a:r>
              <a:rPr lang="en-US" sz="950" b="1" dirty="0">
                <a:solidFill>
                  <a:srgbClr val="1E293B"/>
                </a:solidFill>
              </a:rPr>
              <a:t>Cam</a:t>
            </a:r>
            <a:endParaRPr lang="en-US" sz="950" dirty="0"/>
          </a:p>
        </p:txBody>
      </p:sp>
      <p:sp>
        <p:nvSpPr>
          <p:cNvPr id="16" name="Shape 14"/>
          <p:cNvSpPr/>
          <p:nvPr/>
        </p:nvSpPr>
        <p:spPr>
          <a:xfrm>
            <a:off x="3657600" y="1965960"/>
            <a:ext cx="1097280" cy="438912"/>
          </a:xfrm>
          <a:prstGeom prst="roundRect">
            <a:avLst>
              <a:gd name="adj" fmla="val 12500"/>
            </a:avLst>
          </a:prstGeom>
          <a:solidFill>
            <a:srgbClr val="FFF6D9"/>
          </a:solidFill>
          <a:ln w="12700">
            <a:solidFill>
              <a:srgbClr val="F4A261"/>
            </a:solidFill>
            <a:prstDash val="solid"/>
          </a:ln>
        </p:spPr>
      </p:sp>
      <p:sp>
        <p:nvSpPr>
          <p:cNvPr id="17" name="Text 15"/>
          <p:cNvSpPr/>
          <p:nvPr/>
        </p:nvSpPr>
        <p:spPr>
          <a:xfrm>
            <a:off x="3703320" y="2075688"/>
            <a:ext cx="1005840" cy="182880"/>
          </a:xfrm>
          <a:prstGeom prst="rect">
            <a:avLst/>
          </a:prstGeom>
          <a:noFill/>
          <a:ln/>
        </p:spPr>
        <p:txBody>
          <a:bodyPr wrap="square" lIns="0" tIns="0" rIns="0" bIns="0" rtlCol="0" anchor="ctr"/>
          <a:lstStyle/>
          <a:p>
            <a:pPr algn="ctr" indent="0" marL="0">
              <a:buNone/>
            </a:pPr>
            <a:r>
              <a:rPr lang="en-US" sz="950" b="1" dirty="0">
                <a:solidFill>
                  <a:srgbClr val="1E293B"/>
                </a:solidFill>
              </a:rPr>
              <a:t>Music</a:t>
            </a:r>
            <a:endParaRPr lang="en-US" sz="950" dirty="0"/>
          </a:p>
        </p:txBody>
      </p:sp>
      <p:sp>
        <p:nvSpPr>
          <p:cNvPr id="18" name="Shape 16"/>
          <p:cNvSpPr/>
          <p:nvPr/>
        </p:nvSpPr>
        <p:spPr>
          <a:xfrm>
            <a:off x="3657600" y="3108960"/>
            <a:ext cx="1097280" cy="438912"/>
          </a:xfrm>
          <a:prstGeom prst="roundRect">
            <a:avLst>
              <a:gd name="adj" fmla="val 12500"/>
            </a:avLst>
          </a:prstGeom>
          <a:solidFill>
            <a:srgbClr val="FFF6D9"/>
          </a:solidFill>
          <a:ln w="12700">
            <a:solidFill>
              <a:srgbClr val="F4A261"/>
            </a:solidFill>
            <a:prstDash val="solid"/>
          </a:ln>
        </p:spPr>
      </p:sp>
      <p:sp>
        <p:nvSpPr>
          <p:cNvPr id="19" name="Text 17"/>
          <p:cNvSpPr/>
          <p:nvPr/>
        </p:nvSpPr>
        <p:spPr>
          <a:xfrm>
            <a:off x="3703320" y="3218688"/>
            <a:ext cx="1005840" cy="182880"/>
          </a:xfrm>
          <a:prstGeom prst="rect">
            <a:avLst/>
          </a:prstGeom>
          <a:noFill/>
          <a:ln/>
        </p:spPr>
        <p:txBody>
          <a:bodyPr wrap="square" lIns="0" tIns="0" rIns="0" bIns="0" rtlCol="0" anchor="ctr"/>
          <a:lstStyle/>
          <a:p>
            <a:pPr algn="ctr" indent="0" marL="0">
              <a:buNone/>
            </a:pPr>
            <a:r>
              <a:rPr lang="en-US" sz="950" b="1" dirty="0">
                <a:solidFill>
                  <a:srgbClr val="1E293B"/>
                </a:solidFill>
              </a:rPr>
              <a:t>Art</a:t>
            </a:r>
            <a:endParaRPr lang="en-US" sz="950" dirty="0"/>
          </a:p>
        </p:txBody>
      </p:sp>
      <p:sp>
        <p:nvSpPr>
          <p:cNvPr id="20" name="Shape 18"/>
          <p:cNvSpPr/>
          <p:nvPr/>
        </p:nvSpPr>
        <p:spPr>
          <a:xfrm>
            <a:off x="3657600" y="4251960"/>
            <a:ext cx="1097280" cy="438912"/>
          </a:xfrm>
          <a:prstGeom prst="roundRect">
            <a:avLst>
              <a:gd name="adj" fmla="val 12500"/>
            </a:avLst>
          </a:prstGeom>
          <a:solidFill>
            <a:srgbClr val="FFF6D9"/>
          </a:solidFill>
          <a:ln w="12700">
            <a:solidFill>
              <a:srgbClr val="F4A261"/>
            </a:solidFill>
            <a:prstDash val="solid"/>
          </a:ln>
        </p:spPr>
      </p:sp>
      <p:sp>
        <p:nvSpPr>
          <p:cNvPr id="21" name="Text 19"/>
          <p:cNvSpPr/>
          <p:nvPr/>
        </p:nvSpPr>
        <p:spPr>
          <a:xfrm>
            <a:off x="3703320" y="4361688"/>
            <a:ext cx="1005840" cy="182880"/>
          </a:xfrm>
          <a:prstGeom prst="rect">
            <a:avLst/>
          </a:prstGeom>
          <a:noFill/>
          <a:ln/>
        </p:spPr>
        <p:txBody>
          <a:bodyPr wrap="square" lIns="0" tIns="0" rIns="0" bIns="0" rtlCol="0" anchor="ctr"/>
          <a:lstStyle/>
          <a:p>
            <a:pPr algn="ctr" indent="0" marL="0">
              <a:buNone/>
            </a:pPr>
            <a:r>
              <a:rPr lang="en-US" sz="950" b="1" dirty="0">
                <a:solidFill>
                  <a:srgbClr val="1E293B"/>
                </a:solidFill>
              </a:rPr>
              <a:t>Robotics</a:t>
            </a:r>
            <a:endParaRPr lang="en-US" sz="950" dirty="0"/>
          </a:p>
        </p:txBody>
      </p:sp>
      <p:sp>
        <p:nvSpPr>
          <p:cNvPr id="22" name="Shape 20"/>
          <p:cNvSpPr/>
          <p:nvPr/>
        </p:nvSpPr>
        <p:spPr>
          <a:xfrm>
            <a:off x="2103120" y="2185416"/>
            <a:ext cx="1554480" cy="0"/>
          </a:xfrm>
          <a:prstGeom prst="line">
            <a:avLst/>
          </a:prstGeom>
          <a:noFill/>
          <a:ln w="12700">
            <a:solidFill>
              <a:srgbClr val="007C89"/>
            </a:solidFill>
            <a:prstDash val="solid"/>
            <a:tailEnd type="triangle"/>
          </a:ln>
        </p:spPr>
      </p:sp>
      <p:sp>
        <p:nvSpPr>
          <p:cNvPr id="23" name="Shape 21"/>
          <p:cNvSpPr/>
          <p:nvPr/>
        </p:nvSpPr>
        <p:spPr>
          <a:xfrm>
            <a:off x="2103120" y="3328416"/>
            <a:ext cx="1554480" cy="0"/>
          </a:xfrm>
          <a:prstGeom prst="line">
            <a:avLst/>
          </a:prstGeom>
          <a:noFill/>
          <a:ln w="12700">
            <a:solidFill>
              <a:srgbClr val="007C89"/>
            </a:solidFill>
            <a:prstDash val="solid"/>
            <a:tailEnd type="triangle"/>
          </a:ln>
        </p:spPr>
      </p:sp>
      <p:sp>
        <p:nvSpPr>
          <p:cNvPr id="24" name="Shape 22"/>
          <p:cNvSpPr/>
          <p:nvPr/>
        </p:nvSpPr>
        <p:spPr>
          <a:xfrm>
            <a:off x="2103120" y="4471416"/>
            <a:ext cx="1554480" cy="0"/>
          </a:xfrm>
          <a:prstGeom prst="line">
            <a:avLst/>
          </a:prstGeom>
          <a:noFill/>
          <a:ln w="12700">
            <a:solidFill>
              <a:srgbClr val="007C89"/>
            </a:solidFill>
            <a:prstDash val="solid"/>
            <a:tailEnd type="triangle"/>
          </a:ln>
        </p:spPr>
      </p:sp>
      <p:sp>
        <p:nvSpPr>
          <p:cNvPr id="25" name="Text 23"/>
          <p:cNvSpPr/>
          <p:nvPr/>
        </p:nvSpPr>
        <p:spPr>
          <a:xfrm>
            <a:off x="6172200" y="1417320"/>
            <a:ext cx="5212080" cy="320040"/>
          </a:xfrm>
          <a:prstGeom prst="rect">
            <a:avLst/>
          </a:prstGeom>
          <a:noFill/>
          <a:ln/>
        </p:spPr>
        <p:txBody>
          <a:bodyPr wrap="square" lIns="0" tIns="0" rIns="0" bIns="0" rtlCol="0" anchor="ctr"/>
          <a:lstStyle/>
          <a:p>
            <a:pPr indent="0" marL="0">
              <a:buNone/>
            </a:pPr>
            <a:r>
              <a:rPr lang="en-US" sz="1500" b="1" dirty="0">
                <a:solidFill>
                  <a:srgbClr val="007C89"/>
                </a:solidFill>
              </a:rPr>
              <a:t>∃y ∀x: everyone points to the same choice</a:t>
            </a:r>
            <a:endParaRPr lang="en-US" sz="1500" dirty="0"/>
          </a:p>
        </p:txBody>
      </p:sp>
      <p:sp>
        <p:nvSpPr>
          <p:cNvPr id="26" name="Shape 24"/>
          <p:cNvSpPr/>
          <p:nvPr/>
        </p:nvSpPr>
        <p:spPr>
          <a:xfrm>
            <a:off x="6492240" y="1965960"/>
            <a:ext cx="1097280" cy="438912"/>
          </a:xfrm>
          <a:prstGeom prst="roundRect">
            <a:avLst>
              <a:gd name="adj" fmla="val 12500"/>
            </a:avLst>
          </a:prstGeom>
          <a:solidFill>
            <a:srgbClr val="E0F2FE"/>
          </a:solidFill>
          <a:ln w="12700">
            <a:solidFill>
              <a:srgbClr val="3D5A80"/>
            </a:solidFill>
            <a:prstDash val="solid"/>
          </a:ln>
        </p:spPr>
      </p:sp>
      <p:sp>
        <p:nvSpPr>
          <p:cNvPr id="27" name="Text 25"/>
          <p:cNvSpPr/>
          <p:nvPr/>
        </p:nvSpPr>
        <p:spPr>
          <a:xfrm>
            <a:off x="6537960" y="2075688"/>
            <a:ext cx="1005840" cy="182880"/>
          </a:xfrm>
          <a:prstGeom prst="rect">
            <a:avLst/>
          </a:prstGeom>
          <a:noFill/>
          <a:ln/>
        </p:spPr>
        <p:txBody>
          <a:bodyPr wrap="square" lIns="0" tIns="0" rIns="0" bIns="0" rtlCol="0" anchor="ctr"/>
          <a:lstStyle/>
          <a:p>
            <a:pPr algn="ctr" indent="0" marL="0">
              <a:buNone/>
            </a:pPr>
            <a:r>
              <a:rPr lang="en-US" sz="950" b="1" dirty="0">
                <a:solidFill>
                  <a:srgbClr val="1E293B"/>
                </a:solidFill>
              </a:rPr>
              <a:t>Ana</a:t>
            </a:r>
            <a:endParaRPr lang="en-US" sz="950" dirty="0"/>
          </a:p>
        </p:txBody>
      </p:sp>
      <p:sp>
        <p:nvSpPr>
          <p:cNvPr id="28" name="Shape 26"/>
          <p:cNvSpPr/>
          <p:nvPr/>
        </p:nvSpPr>
        <p:spPr>
          <a:xfrm>
            <a:off x="6492240" y="3108960"/>
            <a:ext cx="1097280" cy="438912"/>
          </a:xfrm>
          <a:prstGeom prst="roundRect">
            <a:avLst>
              <a:gd name="adj" fmla="val 12500"/>
            </a:avLst>
          </a:prstGeom>
          <a:solidFill>
            <a:srgbClr val="E0F2FE"/>
          </a:solidFill>
          <a:ln w="12700">
            <a:solidFill>
              <a:srgbClr val="3D5A80"/>
            </a:solidFill>
            <a:prstDash val="solid"/>
          </a:ln>
        </p:spPr>
      </p:sp>
      <p:sp>
        <p:nvSpPr>
          <p:cNvPr id="29" name="Text 27"/>
          <p:cNvSpPr/>
          <p:nvPr/>
        </p:nvSpPr>
        <p:spPr>
          <a:xfrm>
            <a:off x="6537960" y="3218688"/>
            <a:ext cx="1005840" cy="182880"/>
          </a:xfrm>
          <a:prstGeom prst="rect">
            <a:avLst/>
          </a:prstGeom>
          <a:noFill/>
          <a:ln/>
        </p:spPr>
        <p:txBody>
          <a:bodyPr wrap="square" lIns="0" tIns="0" rIns="0" bIns="0" rtlCol="0" anchor="ctr"/>
          <a:lstStyle/>
          <a:p>
            <a:pPr algn="ctr" indent="0" marL="0">
              <a:buNone/>
            </a:pPr>
            <a:r>
              <a:rPr lang="en-US" sz="950" b="1" dirty="0">
                <a:solidFill>
                  <a:srgbClr val="1E293B"/>
                </a:solidFill>
              </a:rPr>
              <a:t>Ben</a:t>
            </a:r>
            <a:endParaRPr lang="en-US" sz="950" dirty="0"/>
          </a:p>
        </p:txBody>
      </p:sp>
      <p:sp>
        <p:nvSpPr>
          <p:cNvPr id="30" name="Shape 28"/>
          <p:cNvSpPr/>
          <p:nvPr/>
        </p:nvSpPr>
        <p:spPr>
          <a:xfrm>
            <a:off x="6492240" y="4251960"/>
            <a:ext cx="1097280" cy="438912"/>
          </a:xfrm>
          <a:prstGeom prst="roundRect">
            <a:avLst>
              <a:gd name="adj" fmla="val 12500"/>
            </a:avLst>
          </a:prstGeom>
          <a:solidFill>
            <a:srgbClr val="E0F2FE"/>
          </a:solidFill>
          <a:ln w="12700">
            <a:solidFill>
              <a:srgbClr val="3D5A80"/>
            </a:solidFill>
            <a:prstDash val="solid"/>
          </a:ln>
        </p:spPr>
      </p:sp>
      <p:sp>
        <p:nvSpPr>
          <p:cNvPr id="31" name="Text 29"/>
          <p:cNvSpPr/>
          <p:nvPr/>
        </p:nvSpPr>
        <p:spPr>
          <a:xfrm>
            <a:off x="6537960" y="4361688"/>
            <a:ext cx="1005840" cy="182880"/>
          </a:xfrm>
          <a:prstGeom prst="rect">
            <a:avLst/>
          </a:prstGeom>
          <a:noFill/>
          <a:ln/>
        </p:spPr>
        <p:txBody>
          <a:bodyPr wrap="square" lIns="0" tIns="0" rIns="0" bIns="0" rtlCol="0" anchor="ctr"/>
          <a:lstStyle/>
          <a:p>
            <a:pPr algn="ctr" indent="0" marL="0">
              <a:buNone/>
            </a:pPr>
            <a:r>
              <a:rPr lang="en-US" sz="950" b="1" dirty="0">
                <a:solidFill>
                  <a:srgbClr val="1E293B"/>
                </a:solidFill>
              </a:rPr>
              <a:t>Cam</a:t>
            </a:r>
            <a:endParaRPr lang="en-US" sz="950" dirty="0"/>
          </a:p>
        </p:txBody>
      </p:sp>
      <p:sp>
        <p:nvSpPr>
          <p:cNvPr id="32" name="Shape 30"/>
          <p:cNvSpPr/>
          <p:nvPr/>
        </p:nvSpPr>
        <p:spPr>
          <a:xfrm>
            <a:off x="9144000" y="1965960"/>
            <a:ext cx="1097280" cy="438912"/>
          </a:xfrm>
          <a:prstGeom prst="roundRect">
            <a:avLst>
              <a:gd name="adj" fmla="val 12500"/>
            </a:avLst>
          </a:prstGeom>
          <a:solidFill>
            <a:srgbClr val="FFF6D9"/>
          </a:solidFill>
          <a:ln w="12700">
            <a:solidFill>
              <a:srgbClr val="F4A261"/>
            </a:solidFill>
            <a:prstDash val="solid"/>
          </a:ln>
        </p:spPr>
      </p:sp>
      <p:sp>
        <p:nvSpPr>
          <p:cNvPr id="33" name="Text 31"/>
          <p:cNvSpPr/>
          <p:nvPr/>
        </p:nvSpPr>
        <p:spPr>
          <a:xfrm>
            <a:off x="9189720" y="2075688"/>
            <a:ext cx="1005840" cy="182880"/>
          </a:xfrm>
          <a:prstGeom prst="rect">
            <a:avLst/>
          </a:prstGeom>
          <a:noFill/>
          <a:ln/>
        </p:spPr>
        <p:txBody>
          <a:bodyPr wrap="square" lIns="0" tIns="0" rIns="0" bIns="0" rtlCol="0" anchor="ctr"/>
          <a:lstStyle/>
          <a:p>
            <a:pPr algn="ctr" indent="0" marL="0">
              <a:buNone/>
            </a:pPr>
            <a:r>
              <a:rPr lang="en-US" sz="950" b="1" dirty="0">
                <a:solidFill>
                  <a:srgbClr val="1E293B"/>
                </a:solidFill>
              </a:rPr>
              <a:t>Music</a:t>
            </a:r>
            <a:endParaRPr lang="en-US" sz="950" dirty="0"/>
          </a:p>
        </p:txBody>
      </p:sp>
      <p:sp>
        <p:nvSpPr>
          <p:cNvPr id="34" name="Shape 32"/>
          <p:cNvSpPr/>
          <p:nvPr/>
        </p:nvSpPr>
        <p:spPr>
          <a:xfrm>
            <a:off x="9144000" y="3108960"/>
            <a:ext cx="1097280" cy="438912"/>
          </a:xfrm>
          <a:prstGeom prst="roundRect">
            <a:avLst>
              <a:gd name="adj" fmla="val 12500"/>
            </a:avLst>
          </a:prstGeom>
          <a:solidFill>
            <a:srgbClr val="FFF6D9"/>
          </a:solidFill>
          <a:ln w="12700">
            <a:solidFill>
              <a:srgbClr val="F4A261"/>
            </a:solidFill>
            <a:prstDash val="solid"/>
          </a:ln>
        </p:spPr>
      </p:sp>
      <p:sp>
        <p:nvSpPr>
          <p:cNvPr id="35" name="Text 33"/>
          <p:cNvSpPr/>
          <p:nvPr/>
        </p:nvSpPr>
        <p:spPr>
          <a:xfrm>
            <a:off x="9189720" y="3218688"/>
            <a:ext cx="1005840" cy="182880"/>
          </a:xfrm>
          <a:prstGeom prst="rect">
            <a:avLst/>
          </a:prstGeom>
          <a:noFill/>
          <a:ln/>
        </p:spPr>
        <p:txBody>
          <a:bodyPr wrap="square" lIns="0" tIns="0" rIns="0" bIns="0" rtlCol="0" anchor="ctr"/>
          <a:lstStyle/>
          <a:p>
            <a:pPr algn="ctr" indent="0" marL="0">
              <a:buNone/>
            </a:pPr>
            <a:r>
              <a:rPr lang="en-US" sz="950" b="1" dirty="0">
                <a:solidFill>
                  <a:srgbClr val="1E293B"/>
                </a:solidFill>
              </a:rPr>
              <a:t>Art</a:t>
            </a:r>
            <a:endParaRPr lang="en-US" sz="950" dirty="0"/>
          </a:p>
        </p:txBody>
      </p:sp>
      <p:sp>
        <p:nvSpPr>
          <p:cNvPr id="36" name="Shape 34"/>
          <p:cNvSpPr/>
          <p:nvPr/>
        </p:nvSpPr>
        <p:spPr>
          <a:xfrm>
            <a:off x="9144000" y="4251960"/>
            <a:ext cx="1097280" cy="438912"/>
          </a:xfrm>
          <a:prstGeom prst="roundRect">
            <a:avLst>
              <a:gd name="adj" fmla="val 12500"/>
            </a:avLst>
          </a:prstGeom>
          <a:solidFill>
            <a:srgbClr val="FFF6D9"/>
          </a:solidFill>
          <a:ln w="12700">
            <a:solidFill>
              <a:srgbClr val="F4A261"/>
            </a:solidFill>
            <a:prstDash val="solid"/>
          </a:ln>
        </p:spPr>
      </p:sp>
      <p:sp>
        <p:nvSpPr>
          <p:cNvPr id="37" name="Text 35"/>
          <p:cNvSpPr/>
          <p:nvPr/>
        </p:nvSpPr>
        <p:spPr>
          <a:xfrm>
            <a:off x="9189720" y="4361688"/>
            <a:ext cx="1005840" cy="182880"/>
          </a:xfrm>
          <a:prstGeom prst="rect">
            <a:avLst/>
          </a:prstGeom>
          <a:noFill/>
          <a:ln/>
        </p:spPr>
        <p:txBody>
          <a:bodyPr wrap="square" lIns="0" tIns="0" rIns="0" bIns="0" rtlCol="0" anchor="ctr"/>
          <a:lstStyle/>
          <a:p>
            <a:pPr algn="ctr" indent="0" marL="0">
              <a:buNone/>
            </a:pPr>
            <a:r>
              <a:rPr lang="en-US" sz="950" b="1" dirty="0">
                <a:solidFill>
                  <a:srgbClr val="1E293B"/>
                </a:solidFill>
              </a:rPr>
              <a:t>Robotics</a:t>
            </a:r>
            <a:endParaRPr lang="en-US" sz="950" dirty="0"/>
          </a:p>
        </p:txBody>
      </p:sp>
      <p:sp>
        <p:nvSpPr>
          <p:cNvPr id="38" name="Shape 36"/>
          <p:cNvSpPr/>
          <p:nvPr/>
        </p:nvSpPr>
        <p:spPr>
          <a:xfrm>
            <a:off x="7589520" y="2185416"/>
            <a:ext cx="1554480" cy="0"/>
          </a:xfrm>
          <a:prstGeom prst="line">
            <a:avLst/>
          </a:prstGeom>
          <a:noFill/>
          <a:ln w="12700">
            <a:solidFill>
              <a:srgbClr val="007C89"/>
            </a:solidFill>
            <a:prstDash val="solid"/>
            <a:tailEnd type="triangle"/>
          </a:ln>
        </p:spPr>
      </p:sp>
      <p:sp>
        <p:nvSpPr>
          <p:cNvPr id="39" name="Shape 37"/>
          <p:cNvSpPr/>
          <p:nvPr/>
        </p:nvSpPr>
        <p:spPr>
          <a:xfrm>
            <a:off x="7589520" y="3328416"/>
            <a:ext cx="1554480" cy="-1143000"/>
          </a:xfrm>
          <a:prstGeom prst="line">
            <a:avLst/>
          </a:prstGeom>
          <a:noFill/>
          <a:ln w="12700">
            <a:solidFill>
              <a:srgbClr val="007C89"/>
            </a:solidFill>
            <a:prstDash val="solid"/>
            <a:tailEnd type="triangle"/>
          </a:ln>
        </p:spPr>
      </p:sp>
      <p:sp>
        <p:nvSpPr>
          <p:cNvPr id="40" name="Shape 38"/>
          <p:cNvSpPr/>
          <p:nvPr/>
        </p:nvSpPr>
        <p:spPr>
          <a:xfrm>
            <a:off x="7589520" y="4471416"/>
            <a:ext cx="1554480" cy="-2286000"/>
          </a:xfrm>
          <a:prstGeom prst="line">
            <a:avLst/>
          </a:prstGeom>
          <a:noFill/>
          <a:ln w="12700">
            <a:solidFill>
              <a:srgbClr val="007C89"/>
            </a:solidFill>
            <a:prstDash val="solid"/>
            <a:tailEnd type="triangle"/>
          </a:ln>
        </p:spPr>
      </p:sp>
      <p:sp>
        <p:nvSpPr>
          <p:cNvPr id="41" name="Shape 39"/>
          <p:cNvSpPr/>
          <p:nvPr/>
        </p:nvSpPr>
        <p:spPr>
          <a:xfrm>
            <a:off x="960120" y="5166360"/>
            <a:ext cx="10287000" cy="685800"/>
          </a:xfrm>
          <a:prstGeom prst="roundRect">
            <a:avLst>
              <a:gd name="adj" fmla="val 10667"/>
            </a:avLst>
          </a:prstGeom>
          <a:solidFill>
            <a:srgbClr val="FFF6D9"/>
          </a:solidFill>
          <a:ln w="12700">
            <a:solidFill>
              <a:srgbClr val="F4A261"/>
            </a:solidFill>
            <a:prstDash val="solid"/>
          </a:ln>
        </p:spPr>
      </p:sp>
      <p:sp>
        <p:nvSpPr>
          <p:cNvPr id="42" name="Text 40"/>
          <p:cNvSpPr/>
          <p:nvPr/>
        </p:nvSpPr>
        <p:spPr>
          <a:xfrm>
            <a:off x="1143000" y="5303520"/>
            <a:ext cx="9921240" cy="219456"/>
          </a:xfrm>
          <a:prstGeom prst="rect">
            <a:avLst/>
          </a:prstGeom>
          <a:noFill/>
          <a:ln/>
        </p:spPr>
        <p:txBody>
          <a:bodyPr wrap="square" lIns="0" tIns="0" rIns="0" bIns="0" rtlCol="0" anchor="ctr"/>
          <a:lstStyle/>
          <a:p>
            <a:pPr indent="0" marL="0">
              <a:buNone/>
            </a:pPr>
            <a:r>
              <a:rPr lang="en-US" sz="950" b="1" dirty="0">
                <a:solidFill>
                  <a:srgbClr val="B0005D"/>
                </a:solidFill>
              </a:rPr>
              <a:t>ANALOGY</a:t>
            </a:r>
            <a:endParaRPr lang="en-US" sz="950" dirty="0"/>
          </a:p>
        </p:txBody>
      </p:sp>
      <p:sp>
        <p:nvSpPr>
          <p:cNvPr id="43" name="Text 41"/>
          <p:cNvSpPr/>
          <p:nvPr/>
        </p:nvSpPr>
        <p:spPr>
          <a:xfrm>
            <a:off x="1143000" y="5577840"/>
            <a:ext cx="9921240" cy="182880"/>
          </a:xfrm>
          <a:prstGeom prst="rect">
            <a:avLst/>
          </a:prstGeom>
          <a:noFill/>
          <a:ln/>
        </p:spPr>
        <p:txBody>
          <a:bodyPr wrap="square" lIns="254" tIns="254" rIns="254" bIns="254" rtlCol="0" anchor="t">
            <a:normAutofit/>
          </a:bodyPr>
          <a:lstStyle/>
          <a:p>
            <a:pPr indent="0" marL="0">
              <a:buNone/>
            </a:pPr>
            <a:r>
              <a:rPr lang="en-US" sz="1300" dirty="0">
                <a:solidFill>
                  <a:srgbClr val="1E293B"/>
                </a:solidFill>
              </a:rPr>
              <a:t>Different advisors for different students compared with one advisor for every student.</a:t>
            </a:r>
            <a:endParaRPr lang="en-US" sz="13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5088"/>
          </a:solidFill>
          <a:ln w="12700">
            <a:solidFill>
              <a:srgbClr val="005088"/>
            </a:solidFill>
            <a:prstDash val="solid"/>
          </a:ln>
        </p:spPr>
      </p:sp>
      <p:sp>
        <p:nvSpPr>
          <p:cNvPr id="3" name="Shape 1"/>
          <p:cNvSpPr/>
          <p:nvPr/>
        </p:nvSpPr>
        <p:spPr>
          <a:xfrm>
            <a:off x="0" y="6729984"/>
            <a:ext cx="12191695" cy="128016"/>
          </a:xfrm>
          <a:prstGeom prst="rect">
            <a:avLst/>
          </a:prstGeom>
          <a:solidFill>
            <a:srgbClr val="005088"/>
          </a:solidFill>
          <a:ln w="12700">
            <a:solidFill>
              <a:srgbClr val="005088"/>
            </a:solidFill>
            <a:prstDash val="solid"/>
          </a:ln>
        </p:spPr>
      </p:sp>
      <p:sp>
        <p:nvSpPr>
          <p:cNvPr id="4" name="Text 2"/>
          <p:cNvSpPr/>
          <p:nvPr/>
        </p:nvSpPr>
        <p:spPr>
          <a:xfrm>
            <a:off x="502920" y="210312"/>
            <a:ext cx="6858000" cy="219456"/>
          </a:xfrm>
          <a:prstGeom prst="rect">
            <a:avLst/>
          </a:prstGeom>
          <a:noFill/>
          <a:ln/>
        </p:spPr>
        <p:txBody>
          <a:bodyPr wrap="square" lIns="0" tIns="0" rIns="0" bIns="0" rtlCol="0" anchor="ctr"/>
          <a:lstStyle/>
          <a:p>
            <a:pPr indent="0" marL="0">
              <a:buNone/>
            </a:pPr>
            <a:r>
              <a:rPr lang="en-US" sz="950" b="1" dirty="0">
                <a:solidFill>
                  <a:srgbClr val="3D5A80"/>
                </a:solidFill>
                <a:latin typeface="Aptos" pitchFamily="34" charset="0"/>
                <a:ea typeface="Aptos" pitchFamily="34" charset="-122"/>
                <a:cs typeface="Aptos" pitchFamily="34" charset="-120"/>
              </a:rPr>
              <a:t>8.2.6 Quantifiers</a:t>
            </a:r>
            <a:endParaRPr lang="en-US" sz="950" dirty="0"/>
          </a:p>
        </p:txBody>
      </p:sp>
      <p:sp>
        <p:nvSpPr>
          <p:cNvPr id="5" name="Text 3"/>
          <p:cNvSpPr/>
          <p:nvPr/>
        </p:nvSpPr>
        <p:spPr>
          <a:xfrm>
            <a:off x="11018520" y="201168"/>
            <a:ext cx="640080" cy="228600"/>
          </a:xfrm>
          <a:prstGeom prst="rect">
            <a:avLst/>
          </a:prstGeom>
          <a:noFill/>
          <a:ln/>
        </p:spPr>
        <p:txBody>
          <a:bodyPr wrap="square" lIns="0" tIns="0" rIns="0" bIns="0" rtlCol="0" anchor="ctr"/>
          <a:lstStyle/>
          <a:p>
            <a:pPr algn="r" indent="0" marL="0">
              <a:buNone/>
            </a:pPr>
            <a:r>
              <a:rPr lang="en-US" sz="900" b="1" dirty="0">
                <a:solidFill>
                  <a:srgbClr val="3D5A80"/>
                </a:solidFill>
              </a:rPr>
              <a:t>58</a:t>
            </a:r>
            <a:endParaRPr lang="en-US" sz="900" dirty="0"/>
          </a:p>
        </p:txBody>
      </p:sp>
      <p:sp>
        <p:nvSpPr>
          <p:cNvPr id="6" name="Text 4"/>
          <p:cNvSpPr/>
          <p:nvPr/>
        </p:nvSpPr>
        <p:spPr>
          <a:xfrm>
            <a:off x="502920" y="566928"/>
            <a:ext cx="11201400" cy="512064"/>
          </a:xfrm>
          <a:prstGeom prst="rect">
            <a:avLst/>
          </a:prstGeom>
          <a:noFill/>
          <a:ln/>
        </p:spPr>
        <p:txBody>
          <a:bodyPr wrap="square" lIns="0" tIns="0" rIns="0" bIns="0" rtlCol="0" anchor="ctr">
            <a:normAutofit/>
          </a:bodyPr>
          <a:lstStyle/>
          <a:p>
            <a:pPr indent="0" marL="0">
              <a:buNone/>
            </a:pPr>
            <a:r>
              <a:rPr lang="en-US" sz="2650" b="1" dirty="0">
                <a:solidFill>
                  <a:srgbClr val="005088"/>
                </a:solidFill>
                <a:latin typeface="Aptos Display" pitchFamily="34" charset="0"/>
                <a:ea typeface="Aptos Display" pitchFamily="34" charset="-122"/>
                <a:cs typeface="Aptos Display" pitchFamily="34" charset="-120"/>
              </a:rPr>
              <a:t>VARIABLE SCOPE AND PARENTHESES</a:t>
            </a:r>
            <a:endParaRPr lang="en-US" sz="2650" dirty="0"/>
          </a:p>
        </p:txBody>
      </p:sp>
      <p:sp>
        <p:nvSpPr>
          <p:cNvPr id="7" name="Shape 5"/>
          <p:cNvSpPr/>
          <p:nvPr/>
        </p:nvSpPr>
        <p:spPr>
          <a:xfrm>
            <a:off x="502920" y="1188720"/>
            <a:ext cx="11109960" cy="0"/>
          </a:xfrm>
          <a:prstGeom prst="line">
            <a:avLst/>
          </a:prstGeom>
          <a:noFill/>
          <a:ln w="12700">
            <a:solidFill>
              <a:srgbClr val="3D5A80"/>
            </a:solidFill>
            <a:prstDash val="solid"/>
          </a:ln>
        </p:spPr>
      </p:sp>
      <p:sp>
        <p:nvSpPr>
          <p:cNvPr id="8" name="Text 6"/>
          <p:cNvSpPr/>
          <p:nvPr/>
        </p:nvSpPr>
        <p:spPr>
          <a:xfrm>
            <a:off x="713232" y="1572768"/>
            <a:ext cx="5440680" cy="4251960"/>
          </a:xfrm>
          <a:prstGeom prst="rect">
            <a:avLst/>
          </a:prstGeom>
          <a:noFill/>
          <a:ln/>
        </p:spPr>
        <p:txBody>
          <a:bodyPr wrap="square" lIns="1016" tIns="1016" rIns="1016" bIns="1016" rtlCol="0" anchor="t">
            <a:normAutofit/>
          </a:bodyPr>
          <a:lstStyle/>
          <a:p>
            <a:pPr indent="0" marL="0">
              <a:buNone/>
            </a:pPr>
            <a:r>
              <a:rPr lang="en-US" sz="1650" dirty="0">
                <a:solidFill>
                  <a:srgbClr val="1E293B"/>
                </a:solidFill>
                <a:latin typeface="Aptos" pitchFamily="34" charset="0"/>
                <a:ea typeface="Aptos" pitchFamily="34" charset="-122"/>
                <a:cs typeface="Aptos" pitchFamily="34" charset="-120"/>
              </a:rPr>
              <a:t>• A quantifier applies to the sentence in its scope</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Parentheses make scope visible</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Scope determines which variable occurrences are bound</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Clear notation prevents wrong readings</a:t>
            </a:r>
            <a:endParaRPr lang="en-US" sz="1650" dirty="0"/>
          </a:p>
        </p:txBody>
      </p:sp>
      <p:sp>
        <p:nvSpPr>
          <p:cNvPr id="9" name="Shape 7"/>
          <p:cNvSpPr/>
          <p:nvPr/>
        </p:nvSpPr>
        <p:spPr>
          <a:xfrm>
            <a:off x="6446520" y="1572768"/>
            <a:ext cx="5074920" cy="1234440"/>
          </a:xfrm>
          <a:prstGeom prst="roundRect">
            <a:avLst>
              <a:gd name="adj" fmla="val 5926"/>
            </a:avLst>
          </a:prstGeom>
          <a:solidFill>
            <a:srgbClr val="FFF6D9"/>
          </a:solidFill>
          <a:ln w="12700">
            <a:solidFill>
              <a:srgbClr val="F4A261"/>
            </a:solidFill>
            <a:prstDash val="solid"/>
          </a:ln>
        </p:spPr>
      </p:sp>
      <p:sp>
        <p:nvSpPr>
          <p:cNvPr id="10" name="Text 8"/>
          <p:cNvSpPr/>
          <p:nvPr/>
        </p:nvSpPr>
        <p:spPr>
          <a:xfrm>
            <a:off x="6629400" y="1709928"/>
            <a:ext cx="4709160" cy="219456"/>
          </a:xfrm>
          <a:prstGeom prst="rect">
            <a:avLst/>
          </a:prstGeom>
          <a:noFill/>
          <a:ln/>
        </p:spPr>
        <p:txBody>
          <a:bodyPr wrap="square" lIns="0" tIns="0" rIns="0" bIns="0" rtlCol="0" anchor="ctr"/>
          <a:lstStyle/>
          <a:p>
            <a:pPr indent="0" marL="0">
              <a:buNone/>
            </a:pPr>
            <a:r>
              <a:rPr lang="en-US" sz="950" b="1" dirty="0">
                <a:solidFill>
                  <a:srgbClr val="B0005D"/>
                </a:solidFill>
              </a:rPr>
              <a:t>ANALOGY</a:t>
            </a:r>
            <a:endParaRPr lang="en-US" sz="950" dirty="0"/>
          </a:p>
        </p:txBody>
      </p:sp>
      <p:sp>
        <p:nvSpPr>
          <p:cNvPr id="11" name="Text 9"/>
          <p:cNvSpPr/>
          <p:nvPr/>
        </p:nvSpPr>
        <p:spPr>
          <a:xfrm>
            <a:off x="6629400" y="1984248"/>
            <a:ext cx="4709160" cy="731520"/>
          </a:xfrm>
          <a:prstGeom prst="rect">
            <a:avLst/>
          </a:prstGeom>
          <a:noFill/>
          <a:ln/>
        </p:spPr>
        <p:txBody>
          <a:bodyPr wrap="square" lIns="254" tIns="254" rIns="254" bIns="254" rtlCol="0" anchor="t">
            <a:normAutofit/>
          </a:bodyPr>
          <a:lstStyle/>
          <a:p>
            <a:pPr indent="0" marL="0">
              <a:buNone/>
            </a:pPr>
            <a:r>
              <a:rPr lang="en-US" sz="1330" dirty="0">
                <a:solidFill>
                  <a:srgbClr val="1E293B"/>
                </a:solidFill>
              </a:rPr>
              <a:t>In programming, braces or indentation show what belongs inside a loop. Quantifier scope plays a similar role.</a:t>
            </a:r>
            <a:endParaRPr lang="en-US" sz="1330" dirty="0"/>
          </a:p>
        </p:txBody>
      </p:sp>
      <p:sp>
        <p:nvSpPr>
          <p:cNvPr id="12" name="Shape 10"/>
          <p:cNvSpPr/>
          <p:nvPr/>
        </p:nvSpPr>
        <p:spPr>
          <a:xfrm>
            <a:off x="6446520" y="2999232"/>
            <a:ext cx="5074920" cy="841248"/>
          </a:xfrm>
          <a:prstGeom prst="roundRect">
            <a:avLst>
              <a:gd name="adj" fmla="val 8696"/>
            </a:avLst>
          </a:prstGeom>
          <a:solidFill>
            <a:srgbClr val="FFFFFF">
              <a:alpha val="97000"/>
            </a:srgbClr>
          </a:solidFill>
          <a:ln w="12700">
            <a:solidFill>
              <a:srgbClr val="007C89"/>
            </a:solidFill>
            <a:prstDash val="solid"/>
          </a:ln>
        </p:spPr>
      </p:sp>
      <p:sp>
        <p:nvSpPr>
          <p:cNvPr id="13" name="Text 11"/>
          <p:cNvSpPr/>
          <p:nvPr/>
        </p:nvSpPr>
        <p:spPr>
          <a:xfrm>
            <a:off x="6611112" y="3127248"/>
            <a:ext cx="4745736" cy="658368"/>
          </a:xfrm>
          <a:prstGeom prst="rect">
            <a:avLst/>
          </a:prstGeom>
          <a:noFill/>
          <a:ln/>
        </p:spPr>
        <p:txBody>
          <a:bodyPr wrap="square" lIns="0" tIns="0" rIns="0" bIns="0" rtlCol="0" anchor="ctr">
            <a:normAutofit/>
          </a:bodyPr>
          <a:lstStyle/>
          <a:p>
            <a:pPr algn="ctr" indent="0" marL="0">
              <a:buNone/>
            </a:pPr>
            <a:r>
              <a:rPr lang="en-US" sz="1550" b="1" dirty="0">
                <a:solidFill>
                  <a:srgbClr val="005088"/>
                </a:solidFill>
                <a:latin typeface="Cambria Math" pitchFamily="34" charset="0"/>
                <a:ea typeface="Cambria Math" pitchFamily="34" charset="-122"/>
                <a:cs typeface="Cambria Math" pitchFamily="34" charset="-120"/>
              </a:rPr>
              <a:t>∀x (Student(x) ⇒ ∃y Advisor(y,x))</a:t>
            </a:r>
            <a:endParaRPr lang="en-US" sz="1550" dirty="0"/>
          </a:p>
        </p:txBody>
      </p:sp>
      <p:sp>
        <p:nvSpPr>
          <p:cNvPr id="14" name="Shape 12"/>
          <p:cNvSpPr/>
          <p:nvPr/>
        </p:nvSpPr>
        <p:spPr>
          <a:xfrm>
            <a:off x="6446520" y="4041648"/>
            <a:ext cx="5074920" cy="859536"/>
          </a:xfrm>
          <a:prstGeom prst="roundRect">
            <a:avLst>
              <a:gd name="adj" fmla="val 8511"/>
            </a:avLst>
          </a:prstGeom>
          <a:solidFill>
            <a:srgbClr val="FFE4E6"/>
          </a:solidFill>
          <a:ln w="12700">
            <a:solidFill>
              <a:srgbClr val="FDA4AF"/>
            </a:solidFill>
            <a:prstDash val="solid"/>
          </a:ln>
        </p:spPr>
      </p:sp>
      <p:sp>
        <p:nvSpPr>
          <p:cNvPr id="15" name="Text 13"/>
          <p:cNvSpPr/>
          <p:nvPr/>
        </p:nvSpPr>
        <p:spPr>
          <a:xfrm>
            <a:off x="6629400" y="4178808"/>
            <a:ext cx="4709160" cy="219456"/>
          </a:xfrm>
          <a:prstGeom prst="rect">
            <a:avLst/>
          </a:prstGeom>
          <a:noFill/>
          <a:ln/>
        </p:spPr>
        <p:txBody>
          <a:bodyPr wrap="square" lIns="0" tIns="0" rIns="0" bIns="0" rtlCol="0" anchor="ctr"/>
          <a:lstStyle/>
          <a:p>
            <a:pPr indent="0" marL="0">
              <a:buNone/>
            </a:pPr>
            <a:r>
              <a:rPr lang="en-US" sz="950" b="1" dirty="0">
                <a:solidFill>
                  <a:srgbClr val="C1121F"/>
                </a:solidFill>
              </a:rPr>
              <a:t>STUDENT GOTCHA</a:t>
            </a:r>
            <a:endParaRPr lang="en-US" sz="950" dirty="0"/>
          </a:p>
        </p:txBody>
      </p:sp>
      <p:sp>
        <p:nvSpPr>
          <p:cNvPr id="16" name="Text 14"/>
          <p:cNvSpPr/>
          <p:nvPr/>
        </p:nvSpPr>
        <p:spPr>
          <a:xfrm>
            <a:off x="6629400" y="4453128"/>
            <a:ext cx="4709160" cy="356616"/>
          </a:xfrm>
          <a:prstGeom prst="rect">
            <a:avLst/>
          </a:prstGeom>
          <a:noFill/>
          <a:ln/>
        </p:spPr>
        <p:txBody>
          <a:bodyPr wrap="square" lIns="254" tIns="254" rIns="254" bIns="254" rtlCol="0" anchor="t">
            <a:normAutofit/>
          </a:bodyPr>
          <a:lstStyle/>
          <a:p>
            <a:pPr indent="0" marL="0">
              <a:buNone/>
            </a:pPr>
            <a:r>
              <a:rPr lang="en-US" sz="1250" dirty="0">
                <a:solidFill>
                  <a:srgbClr val="1E293B"/>
                </a:solidFill>
              </a:rPr>
              <a:t>Without parentheses, students may accidentally attach a quantifier to too much or too little.</a:t>
            </a:r>
            <a:endParaRPr lang="en-US" sz="1250" dirty="0"/>
          </a:p>
        </p:txBody>
      </p:sp>
      <p:sp>
        <p:nvSpPr>
          <p:cNvPr id="17" name="Shape 15"/>
          <p:cNvSpPr/>
          <p:nvPr/>
        </p:nvSpPr>
        <p:spPr>
          <a:xfrm>
            <a:off x="6446520" y="5074920"/>
            <a:ext cx="5074920" cy="841248"/>
          </a:xfrm>
          <a:prstGeom prst="roundRect">
            <a:avLst>
              <a:gd name="adj" fmla="val 8696"/>
            </a:avLst>
          </a:prstGeom>
          <a:solidFill>
            <a:srgbClr val="E6FFFA"/>
          </a:solidFill>
          <a:ln w="12700">
            <a:solidFill>
              <a:srgbClr val="2A9D8F"/>
            </a:solidFill>
            <a:prstDash val="solid"/>
          </a:ln>
        </p:spPr>
      </p:sp>
      <p:sp>
        <p:nvSpPr>
          <p:cNvPr id="18" name="Text 16"/>
          <p:cNvSpPr/>
          <p:nvPr/>
        </p:nvSpPr>
        <p:spPr>
          <a:xfrm>
            <a:off x="6629400" y="5212080"/>
            <a:ext cx="4709160" cy="219456"/>
          </a:xfrm>
          <a:prstGeom prst="rect">
            <a:avLst/>
          </a:prstGeom>
          <a:noFill/>
          <a:ln/>
        </p:spPr>
        <p:txBody>
          <a:bodyPr wrap="square" lIns="0" tIns="0" rIns="0" bIns="0" rtlCol="0" anchor="ctr"/>
          <a:lstStyle/>
          <a:p>
            <a:pPr indent="0" marL="0">
              <a:buNone/>
            </a:pPr>
            <a:r>
              <a:rPr lang="en-US" sz="950" b="1" dirty="0">
                <a:solidFill>
                  <a:srgbClr val="007C89"/>
                </a:solidFill>
              </a:rPr>
              <a:t>CLASS CHECK</a:t>
            </a:r>
            <a:endParaRPr lang="en-US" sz="950" dirty="0"/>
          </a:p>
        </p:txBody>
      </p:sp>
      <p:sp>
        <p:nvSpPr>
          <p:cNvPr id="19" name="Text 17"/>
          <p:cNvSpPr/>
          <p:nvPr/>
        </p:nvSpPr>
        <p:spPr>
          <a:xfrm>
            <a:off x="6629400" y="5486400"/>
            <a:ext cx="4709160" cy="338328"/>
          </a:xfrm>
          <a:prstGeom prst="rect">
            <a:avLst/>
          </a:prstGeom>
          <a:noFill/>
          <a:ln/>
        </p:spPr>
        <p:txBody>
          <a:bodyPr wrap="square" lIns="254" tIns="254" rIns="254" bIns="254" rtlCol="0" anchor="t">
            <a:normAutofit/>
          </a:bodyPr>
          <a:lstStyle/>
          <a:p>
            <a:pPr indent="0" marL="0">
              <a:buNone/>
            </a:pPr>
            <a:r>
              <a:rPr lang="en-US" sz="1270" dirty="0">
                <a:solidFill>
                  <a:srgbClr val="1E293B"/>
                </a:solidFill>
              </a:rPr>
              <a:t>Ask: Which part of the formula is controlled by ∃y?</a:t>
            </a:r>
            <a:endParaRPr lang="en-US" sz="127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5088"/>
          </a:solidFill>
          <a:ln w="12700">
            <a:solidFill>
              <a:srgbClr val="005088"/>
            </a:solidFill>
            <a:prstDash val="solid"/>
          </a:ln>
        </p:spPr>
      </p:sp>
      <p:sp>
        <p:nvSpPr>
          <p:cNvPr id="3" name="Shape 1"/>
          <p:cNvSpPr/>
          <p:nvPr/>
        </p:nvSpPr>
        <p:spPr>
          <a:xfrm>
            <a:off x="0" y="6729984"/>
            <a:ext cx="12191695" cy="128016"/>
          </a:xfrm>
          <a:prstGeom prst="rect">
            <a:avLst/>
          </a:prstGeom>
          <a:solidFill>
            <a:srgbClr val="005088"/>
          </a:solidFill>
          <a:ln w="12700">
            <a:solidFill>
              <a:srgbClr val="005088"/>
            </a:solidFill>
            <a:prstDash val="solid"/>
          </a:ln>
        </p:spPr>
      </p:sp>
      <p:sp>
        <p:nvSpPr>
          <p:cNvPr id="4" name="Text 2"/>
          <p:cNvSpPr/>
          <p:nvPr/>
        </p:nvSpPr>
        <p:spPr>
          <a:xfrm>
            <a:off x="502920" y="210312"/>
            <a:ext cx="6858000" cy="219456"/>
          </a:xfrm>
          <a:prstGeom prst="rect">
            <a:avLst/>
          </a:prstGeom>
          <a:noFill/>
          <a:ln/>
        </p:spPr>
        <p:txBody>
          <a:bodyPr wrap="square" lIns="0" tIns="0" rIns="0" bIns="0" rtlCol="0" anchor="ctr"/>
          <a:lstStyle/>
          <a:p>
            <a:pPr indent="0" marL="0">
              <a:buNone/>
            </a:pPr>
            <a:r>
              <a:rPr lang="en-US" sz="950" b="1" dirty="0">
                <a:solidFill>
                  <a:srgbClr val="3D5A80"/>
                </a:solidFill>
                <a:latin typeface="Aptos" pitchFamily="34" charset="0"/>
                <a:ea typeface="Aptos" pitchFamily="34" charset="-122"/>
                <a:cs typeface="Aptos" pitchFamily="34" charset="-120"/>
              </a:rPr>
              <a:t>8.2.6 Quantifiers</a:t>
            </a:r>
            <a:endParaRPr lang="en-US" sz="950" dirty="0"/>
          </a:p>
        </p:txBody>
      </p:sp>
      <p:sp>
        <p:nvSpPr>
          <p:cNvPr id="5" name="Text 3"/>
          <p:cNvSpPr/>
          <p:nvPr/>
        </p:nvSpPr>
        <p:spPr>
          <a:xfrm>
            <a:off x="11018520" y="201168"/>
            <a:ext cx="640080" cy="228600"/>
          </a:xfrm>
          <a:prstGeom prst="rect">
            <a:avLst/>
          </a:prstGeom>
          <a:noFill/>
          <a:ln/>
        </p:spPr>
        <p:txBody>
          <a:bodyPr wrap="square" lIns="0" tIns="0" rIns="0" bIns="0" rtlCol="0" anchor="ctr"/>
          <a:lstStyle/>
          <a:p>
            <a:pPr algn="r" indent="0" marL="0">
              <a:buNone/>
            </a:pPr>
            <a:r>
              <a:rPr lang="en-US" sz="900" b="1" dirty="0">
                <a:solidFill>
                  <a:srgbClr val="3D5A80"/>
                </a:solidFill>
              </a:rPr>
              <a:t>59</a:t>
            </a:r>
            <a:endParaRPr lang="en-US" sz="900" dirty="0"/>
          </a:p>
        </p:txBody>
      </p:sp>
      <p:sp>
        <p:nvSpPr>
          <p:cNvPr id="6" name="Text 4"/>
          <p:cNvSpPr/>
          <p:nvPr/>
        </p:nvSpPr>
        <p:spPr>
          <a:xfrm>
            <a:off x="502920" y="566928"/>
            <a:ext cx="11201400" cy="512064"/>
          </a:xfrm>
          <a:prstGeom prst="rect">
            <a:avLst/>
          </a:prstGeom>
          <a:noFill/>
          <a:ln/>
        </p:spPr>
        <p:txBody>
          <a:bodyPr wrap="square" lIns="0" tIns="0" rIns="0" bIns="0" rtlCol="0" anchor="ctr">
            <a:normAutofit/>
          </a:bodyPr>
          <a:lstStyle/>
          <a:p>
            <a:pPr indent="0" marL="0">
              <a:buNone/>
            </a:pPr>
            <a:r>
              <a:rPr lang="en-US" sz="2650" b="1" dirty="0">
                <a:solidFill>
                  <a:srgbClr val="005088"/>
                </a:solidFill>
                <a:latin typeface="Aptos Display" pitchFamily="34" charset="0"/>
                <a:ea typeface="Aptos Display" pitchFamily="34" charset="-122"/>
                <a:cs typeface="Aptos Display" pitchFamily="34" charset="-120"/>
              </a:rPr>
              <a:t>AVOID VARIABLE SHADOWING</a:t>
            </a:r>
            <a:endParaRPr lang="en-US" sz="2650" dirty="0"/>
          </a:p>
        </p:txBody>
      </p:sp>
      <p:sp>
        <p:nvSpPr>
          <p:cNvPr id="7" name="Shape 5"/>
          <p:cNvSpPr/>
          <p:nvPr/>
        </p:nvSpPr>
        <p:spPr>
          <a:xfrm>
            <a:off x="502920" y="1188720"/>
            <a:ext cx="11109960" cy="0"/>
          </a:xfrm>
          <a:prstGeom prst="line">
            <a:avLst/>
          </a:prstGeom>
          <a:noFill/>
          <a:ln w="12700">
            <a:solidFill>
              <a:srgbClr val="3D5A80"/>
            </a:solidFill>
            <a:prstDash val="solid"/>
          </a:ln>
        </p:spPr>
      </p:sp>
      <p:sp>
        <p:nvSpPr>
          <p:cNvPr id="8" name="Text 6"/>
          <p:cNvSpPr/>
          <p:nvPr/>
        </p:nvSpPr>
        <p:spPr>
          <a:xfrm>
            <a:off x="713232" y="1572768"/>
            <a:ext cx="5440680" cy="4251960"/>
          </a:xfrm>
          <a:prstGeom prst="rect">
            <a:avLst/>
          </a:prstGeom>
          <a:noFill/>
          <a:ln/>
        </p:spPr>
        <p:txBody>
          <a:bodyPr wrap="square" lIns="1016" tIns="1016" rIns="1016" bIns="1016" rtlCol="0" anchor="t">
            <a:normAutofit/>
          </a:bodyPr>
          <a:lstStyle/>
          <a:p>
            <a:pPr indent="0" marL="0">
              <a:buNone/>
            </a:pPr>
            <a:r>
              <a:rPr lang="en-US" sz="1650" dirty="0">
                <a:solidFill>
                  <a:srgbClr val="1E293B"/>
                </a:solidFill>
                <a:latin typeface="Aptos" pitchFamily="34" charset="0"/>
                <a:ea typeface="Aptos" pitchFamily="34" charset="-122"/>
                <a:cs typeface="Aptos" pitchFamily="34" charset="-120"/>
              </a:rPr>
              <a:t>• Reusing a variable name inside another quantifier can hide the outer variable</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The innermost quantifier controls the matching variable occurrence</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Using different variable names is clearer</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Readable formulas reduce reasoning mistakes</a:t>
            </a:r>
            <a:endParaRPr lang="en-US" sz="1650" dirty="0"/>
          </a:p>
        </p:txBody>
      </p:sp>
      <p:sp>
        <p:nvSpPr>
          <p:cNvPr id="9" name="Shape 7"/>
          <p:cNvSpPr/>
          <p:nvPr/>
        </p:nvSpPr>
        <p:spPr>
          <a:xfrm>
            <a:off x="6446520" y="1572768"/>
            <a:ext cx="5074920" cy="1234440"/>
          </a:xfrm>
          <a:prstGeom prst="roundRect">
            <a:avLst>
              <a:gd name="adj" fmla="val 5926"/>
            </a:avLst>
          </a:prstGeom>
          <a:solidFill>
            <a:srgbClr val="FFF6D9"/>
          </a:solidFill>
          <a:ln w="12700">
            <a:solidFill>
              <a:srgbClr val="F4A261"/>
            </a:solidFill>
            <a:prstDash val="solid"/>
          </a:ln>
        </p:spPr>
      </p:sp>
      <p:sp>
        <p:nvSpPr>
          <p:cNvPr id="10" name="Text 8"/>
          <p:cNvSpPr/>
          <p:nvPr/>
        </p:nvSpPr>
        <p:spPr>
          <a:xfrm>
            <a:off x="6629400" y="1709928"/>
            <a:ext cx="4709160" cy="219456"/>
          </a:xfrm>
          <a:prstGeom prst="rect">
            <a:avLst/>
          </a:prstGeom>
          <a:noFill/>
          <a:ln/>
        </p:spPr>
        <p:txBody>
          <a:bodyPr wrap="square" lIns="0" tIns="0" rIns="0" bIns="0" rtlCol="0" anchor="ctr"/>
          <a:lstStyle/>
          <a:p>
            <a:pPr indent="0" marL="0">
              <a:buNone/>
            </a:pPr>
            <a:r>
              <a:rPr lang="en-US" sz="950" b="1" dirty="0">
                <a:solidFill>
                  <a:srgbClr val="B0005D"/>
                </a:solidFill>
              </a:rPr>
              <a:t>ANALOGY</a:t>
            </a:r>
            <a:endParaRPr lang="en-US" sz="950" dirty="0"/>
          </a:p>
        </p:txBody>
      </p:sp>
      <p:sp>
        <p:nvSpPr>
          <p:cNvPr id="11" name="Text 9"/>
          <p:cNvSpPr/>
          <p:nvPr/>
        </p:nvSpPr>
        <p:spPr>
          <a:xfrm>
            <a:off x="6629400" y="1984248"/>
            <a:ext cx="4709160" cy="731520"/>
          </a:xfrm>
          <a:prstGeom prst="rect">
            <a:avLst/>
          </a:prstGeom>
          <a:noFill/>
          <a:ln/>
        </p:spPr>
        <p:txBody>
          <a:bodyPr wrap="square" lIns="254" tIns="254" rIns="254" bIns="254" rtlCol="0" anchor="t">
            <a:normAutofit/>
          </a:bodyPr>
          <a:lstStyle/>
          <a:p>
            <a:pPr indent="0" marL="0">
              <a:buNone/>
            </a:pPr>
            <a:r>
              <a:rPr lang="en-US" sz="1330" dirty="0">
                <a:solidFill>
                  <a:srgbClr val="1E293B"/>
                </a:solidFill>
              </a:rPr>
              <a:t>An inner loop variable named i can hide an outer loop variable named i. Logic has a similar scoping problem.</a:t>
            </a:r>
            <a:endParaRPr lang="en-US" sz="1330" dirty="0"/>
          </a:p>
        </p:txBody>
      </p:sp>
      <p:sp>
        <p:nvSpPr>
          <p:cNvPr id="12" name="Shape 10"/>
          <p:cNvSpPr/>
          <p:nvPr/>
        </p:nvSpPr>
        <p:spPr>
          <a:xfrm>
            <a:off x="6446520" y="2999232"/>
            <a:ext cx="5074920" cy="841248"/>
          </a:xfrm>
          <a:prstGeom prst="roundRect">
            <a:avLst>
              <a:gd name="adj" fmla="val 8696"/>
            </a:avLst>
          </a:prstGeom>
          <a:solidFill>
            <a:srgbClr val="FFFFFF">
              <a:alpha val="97000"/>
            </a:srgbClr>
          </a:solidFill>
          <a:ln w="12700">
            <a:solidFill>
              <a:srgbClr val="007C89"/>
            </a:solidFill>
            <a:prstDash val="solid"/>
          </a:ln>
        </p:spPr>
      </p:sp>
      <p:sp>
        <p:nvSpPr>
          <p:cNvPr id="13" name="Text 11"/>
          <p:cNvSpPr/>
          <p:nvPr/>
        </p:nvSpPr>
        <p:spPr>
          <a:xfrm>
            <a:off x="6611112" y="3127248"/>
            <a:ext cx="4745736" cy="658368"/>
          </a:xfrm>
          <a:prstGeom prst="rect">
            <a:avLst/>
          </a:prstGeom>
          <a:noFill/>
          <a:ln/>
        </p:spPr>
        <p:txBody>
          <a:bodyPr wrap="square" lIns="0" tIns="0" rIns="0" bIns="0" rtlCol="0" anchor="ctr">
            <a:normAutofit/>
          </a:bodyPr>
          <a:lstStyle/>
          <a:p>
            <a:pPr algn="ctr" indent="0" marL="0">
              <a:buNone/>
            </a:pPr>
            <a:r>
              <a:rPr lang="en-US" sz="1550" b="1" dirty="0">
                <a:solidFill>
                  <a:srgbClr val="005088"/>
                </a:solidFill>
                <a:latin typeface="Cambria Math" pitchFamily="34" charset="0"/>
                <a:ea typeface="Cambria Math" pitchFamily="34" charset="-122"/>
                <a:cs typeface="Cambria Math" pitchFamily="34" charset="-120"/>
              </a:rPr>
              <a:t>∀x (Crown(x) ∨ ∃z Brother(Richard,z))</a:t>
            </a:r>
            <a:endParaRPr lang="en-US" sz="1550" dirty="0"/>
          </a:p>
        </p:txBody>
      </p:sp>
      <p:sp>
        <p:nvSpPr>
          <p:cNvPr id="14" name="Shape 12"/>
          <p:cNvSpPr/>
          <p:nvPr/>
        </p:nvSpPr>
        <p:spPr>
          <a:xfrm>
            <a:off x="6446520" y="4041648"/>
            <a:ext cx="5074920" cy="859536"/>
          </a:xfrm>
          <a:prstGeom prst="roundRect">
            <a:avLst>
              <a:gd name="adj" fmla="val 8511"/>
            </a:avLst>
          </a:prstGeom>
          <a:solidFill>
            <a:srgbClr val="FFE4E6"/>
          </a:solidFill>
          <a:ln w="12700">
            <a:solidFill>
              <a:srgbClr val="FDA4AF"/>
            </a:solidFill>
            <a:prstDash val="solid"/>
          </a:ln>
        </p:spPr>
      </p:sp>
      <p:sp>
        <p:nvSpPr>
          <p:cNvPr id="15" name="Text 13"/>
          <p:cNvSpPr/>
          <p:nvPr/>
        </p:nvSpPr>
        <p:spPr>
          <a:xfrm>
            <a:off x="6629400" y="4178808"/>
            <a:ext cx="4709160" cy="219456"/>
          </a:xfrm>
          <a:prstGeom prst="rect">
            <a:avLst/>
          </a:prstGeom>
          <a:noFill/>
          <a:ln/>
        </p:spPr>
        <p:txBody>
          <a:bodyPr wrap="square" lIns="0" tIns="0" rIns="0" bIns="0" rtlCol="0" anchor="ctr"/>
          <a:lstStyle/>
          <a:p>
            <a:pPr indent="0" marL="0">
              <a:buNone/>
            </a:pPr>
            <a:r>
              <a:rPr lang="en-US" sz="950" b="1" dirty="0">
                <a:solidFill>
                  <a:srgbClr val="C1121F"/>
                </a:solidFill>
              </a:rPr>
              <a:t>STUDENT GOTCHA</a:t>
            </a:r>
            <a:endParaRPr lang="en-US" sz="950" dirty="0"/>
          </a:p>
        </p:txBody>
      </p:sp>
      <p:sp>
        <p:nvSpPr>
          <p:cNvPr id="16" name="Text 14"/>
          <p:cNvSpPr/>
          <p:nvPr/>
        </p:nvSpPr>
        <p:spPr>
          <a:xfrm>
            <a:off x="6629400" y="4453128"/>
            <a:ext cx="4709160" cy="356616"/>
          </a:xfrm>
          <a:prstGeom prst="rect">
            <a:avLst/>
          </a:prstGeom>
          <a:noFill/>
          <a:ln/>
        </p:spPr>
        <p:txBody>
          <a:bodyPr wrap="square" lIns="254" tIns="254" rIns="254" bIns="254" rtlCol="0" anchor="t">
            <a:normAutofit/>
          </a:bodyPr>
          <a:lstStyle/>
          <a:p>
            <a:pPr indent="0" marL="0">
              <a:buNone/>
            </a:pPr>
            <a:r>
              <a:rPr lang="en-US" sz="1250" dirty="0">
                <a:solidFill>
                  <a:srgbClr val="1E293B"/>
                </a:solidFill>
              </a:rPr>
              <a:t>Even if reuse is technically legal, it is often confusing for humans reading the knowledge base.</a:t>
            </a:r>
            <a:endParaRPr lang="en-US" sz="1250" dirty="0"/>
          </a:p>
        </p:txBody>
      </p:sp>
      <p:sp>
        <p:nvSpPr>
          <p:cNvPr id="17" name="Shape 15"/>
          <p:cNvSpPr/>
          <p:nvPr/>
        </p:nvSpPr>
        <p:spPr>
          <a:xfrm>
            <a:off x="6446520" y="5074920"/>
            <a:ext cx="5074920" cy="841248"/>
          </a:xfrm>
          <a:prstGeom prst="roundRect">
            <a:avLst>
              <a:gd name="adj" fmla="val 8696"/>
            </a:avLst>
          </a:prstGeom>
          <a:solidFill>
            <a:srgbClr val="E6FFFA"/>
          </a:solidFill>
          <a:ln w="12700">
            <a:solidFill>
              <a:srgbClr val="2A9D8F"/>
            </a:solidFill>
            <a:prstDash val="solid"/>
          </a:ln>
        </p:spPr>
      </p:sp>
      <p:sp>
        <p:nvSpPr>
          <p:cNvPr id="18" name="Text 16"/>
          <p:cNvSpPr/>
          <p:nvPr/>
        </p:nvSpPr>
        <p:spPr>
          <a:xfrm>
            <a:off x="6629400" y="5212080"/>
            <a:ext cx="4709160" cy="219456"/>
          </a:xfrm>
          <a:prstGeom prst="rect">
            <a:avLst/>
          </a:prstGeom>
          <a:noFill/>
          <a:ln/>
        </p:spPr>
        <p:txBody>
          <a:bodyPr wrap="square" lIns="0" tIns="0" rIns="0" bIns="0" rtlCol="0" anchor="ctr"/>
          <a:lstStyle/>
          <a:p>
            <a:pPr indent="0" marL="0">
              <a:buNone/>
            </a:pPr>
            <a:r>
              <a:rPr lang="en-US" sz="950" b="1" dirty="0">
                <a:solidFill>
                  <a:srgbClr val="007C89"/>
                </a:solidFill>
              </a:rPr>
              <a:t>CLASS CHECK</a:t>
            </a:r>
            <a:endParaRPr lang="en-US" sz="950" dirty="0"/>
          </a:p>
        </p:txBody>
      </p:sp>
      <p:sp>
        <p:nvSpPr>
          <p:cNvPr id="19" name="Text 17"/>
          <p:cNvSpPr/>
          <p:nvPr/>
        </p:nvSpPr>
        <p:spPr>
          <a:xfrm>
            <a:off x="6629400" y="5486400"/>
            <a:ext cx="4709160" cy="338328"/>
          </a:xfrm>
          <a:prstGeom prst="rect">
            <a:avLst/>
          </a:prstGeom>
          <a:noFill/>
          <a:ln/>
        </p:spPr>
        <p:txBody>
          <a:bodyPr wrap="square" lIns="254" tIns="254" rIns="254" bIns="254" rtlCol="0" anchor="t">
            <a:normAutofit/>
          </a:bodyPr>
          <a:lstStyle/>
          <a:p>
            <a:pPr indent="0" marL="0">
              <a:buNone/>
            </a:pPr>
            <a:r>
              <a:rPr lang="en-US" sz="1270" dirty="0">
                <a:solidFill>
                  <a:srgbClr val="1E293B"/>
                </a:solidFill>
              </a:rPr>
              <a:t>Ask: Why is z clearer than reusing x?</a:t>
            </a:r>
            <a:endParaRPr lang="en-US" sz="127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5088"/>
          </a:solidFill>
          <a:ln w="12700">
            <a:solidFill>
              <a:srgbClr val="005088"/>
            </a:solidFill>
            <a:prstDash val="solid"/>
          </a:ln>
        </p:spPr>
      </p:sp>
      <p:sp>
        <p:nvSpPr>
          <p:cNvPr id="3" name="Shape 1"/>
          <p:cNvSpPr/>
          <p:nvPr/>
        </p:nvSpPr>
        <p:spPr>
          <a:xfrm>
            <a:off x="0" y="6729984"/>
            <a:ext cx="12191695" cy="128016"/>
          </a:xfrm>
          <a:prstGeom prst="rect">
            <a:avLst/>
          </a:prstGeom>
          <a:solidFill>
            <a:srgbClr val="005088"/>
          </a:solidFill>
          <a:ln w="12700">
            <a:solidFill>
              <a:srgbClr val="005088"/>
            </a:solidFill>
            <a:prstDash val="solid"/>
          </a:ln>
        </p:spPr>
      </p:sp>
      <p:sp>
        <p:nvSpPr>
          <p:cNvPr id="4" name="Text 2"/>
          <p:cNvSpPr/>
          <p:nvPr/>
        </p:nvSpPr>
        <p:spPr>
          <a:xfrm>
            <a:off x="502920" y="210312"/>
            <a:ext cx="6858000" cy="219456"/>
          </a:xfrm>
          <a:prstGeom prst="rect">
            <a:avLst/>
          </a:prstGeom>
          <a:noFill/>
          <a:ln/>
        </p:spPr>
        <p:txBody>
          <a:bodyPr wrap="square" lIns="0" tIns="0" rIns="0" bIns="0" rtlCol="0" anchor="ctr"/>
          <a:lstStyle/>
          <a:p>
            <a:pPr indent="0" marL="0">
              <a:buNone/>
            </a:pPr>
            <a:r>
              <a:rPr lang="en-US" sz="950" b="1" dirty="0">
                <a:solidFill>
                  <a:srgbClr val="3D5A80"/>
                </a:solidFill>
                <a:latin typeface="Aptos" pitchFamily="34" charset="0"/>
                <a:ea typeface="Aptos" pitchFamily="34" charset="-122"/>
                <a:cs typeface="Aptos" pitchFamily="34" charset="-120"/>
              </a:rPr>
              <a:t>8.2.6 Quantifiers</a:t>
            </a:r>
            <a:endParaRPr lang="en-US" sz="950" dirty="0"/>
          </a:p>
        </p:txBody>
      </p:sp>
      <p:sp>
        <p:nvSpPr>
          <p:cNvPr id="5" name="Text 3"/>
          <p:cNvSpPr/>
          <p:nvPr/>
        </p:nvSpPr>
        <p:spPr>
          <a:xfrm>
            <a:off x="11018520" y="201168"/>
            <a:ext cx="640080" cy="228600"/>
          </a:xfrm>
          <a:prstGeom prst="rect">
            <a:avLst/>
          </a:prstGeom>
          <a:noFill/>
          <a:ln/>
        </p:spPr>
        <p:txBody>
          <a:bodyPr wrap="square" lIns="0" tIns="0" rIns="0" bIns="0" rtlCol="0" anchor="ctr"/>
          <a:lstStyle/>
          <a:p>
            <a:pPr algn="r" indent="0" marL="0">
              <a:buNone/>
            </a:pPr>
            <a:r>
              <a:rPr lang="en-US" sz="900" b="1" dirty="0">
                <a:solidFill>
                  <a:srgbClr val="3D5A80"/>
                </a:solidFill>
              </a:rPr>
              <a:t>60</a:t>
            </a:r>
            <a:endParaRPr lang="en-US" sz="900" dirty="0"/>
          </a:p>
        </p:txBody>
      </p:sp>
      <p:sp>
        <p:nvSpPr>
          <p:cNvPr id="6" name="Text 4"/>
          <p:cNvSpPr/>
          <p:nvPr/>
        </p:nvSpPr>
        <p:spPr>
          <a:xfrm>
            <a:off x="502920" y="566928"/>
            <a:ext cx="11201400" cy="512064"/>
          </a:xfrm>
          <a:prstGeom prst="rect">
            <a:avLst/>
          </a:prstGeom>
          <a:noFill/>
          <a:ln/>
        </p:spPr>
        <p:txBody>
          <a:bodyPr wrap="square" lIns="0" tIns="0" rIns="0" bIns="0" rtlCol="0" anchor="ctr">
            <a:normAutofit/>
          </a:bodyPr>
          <a:lstStyle/>
          <a:p>
            <a:pPr indent="0" marL="0">
              <a:buNone/>
            </a:pPr>
            <a:r>
              <a:rPr lang="en-US" sz="2650" b="1" dirty="0">
                <a:solidFill>
                  <a:srgbClr val="005088"/>
                </a:solidFill>
                <a:latin typeface="Aptos Display" pitchFamily="34" charset="0"/>
                <a:ea typeface="Aptos Display" pitchFamily="34" charset="-122"/>
                <a:cs typeface="Aptos Display" pitchFamily="34" charset="-120"/>
              </a:rPr>
              <a:t>QUANTIFIED DE MORGAN RULES</a:t>
            </a:r>
            <a:endParaRPr lang="en-US" sz="2650" dirty="0"/>
          </a:p>
        </p:txBody>
      </p:sp>
      <p:sp>
        <p:nvSpPr>
          <p:cNvPr id="7" name="Shape 5"/>
          <p:cNvSpPr/>
          <p:nvPr/>
        </p:nvSpPr>
        <p:spPr>
          <a:xfrm>
            <a:off x="502920" y="1188720"/>
            <a:ext cx="11109960" cy="0"/>
          </a:xfrm>
          <a:prstGeom prst="line">
            <a:avLst/>
          </a:prstGeom>
          <a:noFill/>
          <a:ln w="12700">
            <a:solidFill>
              <a:srgbClr val="3D5A80"/>
            </a:solidFill>
            <a:prstDash val="solid"/>
          </a:ln>
        </p:spPr>
      </p:sp>
      <p:sp>
        <p:nvSpPr>
          <p:cNvPr id="8" name="Text 6"/>
          <p:cNvSpPr/>
          <p:nvPr/>
        </p:nvSpPr>
        <p:spPr>
          <a:xfrm>
            <a:off x="713232" y="1572768"/>
            <a:ext cx="5440680" cy="4251960"/>
          </a:xfrm>
          <a:prstGeom prst="rect">
            <a:avLst/>
          </a:prstGeom>
          <a:noFill/>
          <a:ln/>
        </p:spPr>
        <p:txBody>
          <a:bodyPr wrap="square" lIns="1016" tIns="1016" rIns="1016" bIns="1016" rtlCol="0" anchor="t">
            <a:normAutofit/>
          </a:bodyPr>
          <a:lstStyle/>
          <a:p>
            <a:pPr indent="0" marL="0">
              <a:buNone/>
            </a:pPr>
            <a:r>
              <a:rPr lang="en-US" sz="1650" dirty="0">
                <a:solidFill>
                  <a:srgbClr val="1E293B"/>
                </a:solidFill>
                <a:latin typeface="Aptos" pitchFamily="34" charset="0"/>
                <a:ea typeface="Aptos" pitchFamily="34" charset="-122"/>
                <a:cs typeface="Aptos" pitchFamily="34" charset="-120"/>
              </a:rPr>
              <a:t>• Not there exists becomes for all not</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Not for all becomes there exists not</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Universal behaves like a large “and”</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Existential behaves like a large “or”</a:t>
            </a:r>
            <a:endParaRPr lang="en-US" sz="1650" dirty="0"/>
          </a:p>
        </p:txBody>
      </p:sp>
      <p:sp>
        <p:nvSpPr>
          <p:cNvPr id="9" name="Shape 7"/>
          <p:cNvSpPr/>
          <p:nvPr/>
        </p:nvSpPr>
        <p:spPr>
          <a:xfrm>
            <a:off x="6446520" y="1572768"/>
            <a:ext cx="5074920" cy="1234440"/>
          </a:xfrm>
          <a:prstGeom prst="roundRect">
            <a:avLst>
              <a:gd name="adj" fmla="val 5926"/>
            </a:avLst>
          </a:prstGeom>
          <a:solidFill>
            <a:srgbClr val="FFF6D9"/>
          </a:solidFill>
          <a:ln w="12700">
            <a:solidFill>
              <a:srgbClr val="F4A261"/>
            </a:solidFill>
            <a:prstDash val="solid"/>
          </a:ln>
        </p:spPr>
      </p:sp>
      <p:sp>
        <p:nvSpPr>
          <p:cNvPr id="10" name="Text 8"/>
          <p:cNvSpPr/>
          <p:nvPr/>
        </p:nvSpPr>
        <p:spPr>
          <a:xfrm>
            <a:off x="6629400" y="1709928"/>
            <a:ext cx="4709160" cy="219456"/>
          </a:xfrm>
          <a:prstGeom prst="rect">
            <a:avLst/>
          </a:prstGeom>
          <a:noFill/>
          <a:ln/>
        </p:spPr>
        <p:txBody>
          <a:bodyPr wrap="square" lIns="0" tIns="0" rIns="0" bIns="0" rtlCol="0" anchor="ctr"/>
          <a:lstStyle/>
          <a:p>
            <a:pPr indent="0" marL="0">
              <a:buNone/>
            </a:pPr>
            <a:r>
              <a:rPr lang="en-US" sz="950" b="1" dirty="0">
                <a:solidFill>
                  <a:srgbClr val="B0005D"/>
                </a:solidFill>
              </a:rPr>
              <a:t>ANALOGY</a:t>
            </a:r>
            <a:endParaRPr lang="en-US" sz="950" dirty="0"/>
          </a:p>
        </p:txBody>
      </p:sp>
      <p:sp>
        <p:nvSpPr>
          <p:cNvPr id="11" name="Text 9"/>
          <p:cNvSpPr/>
          <p:nvPr/>
        </p:nvSpPr>
        <p:spPr>
          <a:xfrm>
            <a:off x="6629400" y="1984248"/>
            <a:ext cx="4709160" cy="731520"/>
          </a:xfrm>
          <a:prstGeom prst="rect">
            <a:avLst/>
          </a:prstGeom>
          <a:noFill/>
          <a:ln/>
        </p:spPr>
        <p:txBody>
          <a:bodyPr wrap="square" lIns="254" tIns="254" rIns="254" bIns="254" rtlCol="0" anchor="t">
            <a:normAutofit/>
          </a:bodyPr>
          <a:lstStyle/>
          <a:p>
            <a:pPr indent="0" marL="0">
              <a:buNone/>
            </a:pPr>
            <a:r>
              <a:rPr lang="en-US" sz="1330" dirty="0">
                <a:solidFill>
                  <a:srgbClr val="1E293B"/>
                </a:solidFill>
              </a:rPr>
              <a:t>“Not every student passed” means at least one student did not pass. It does not mean everyone failed.</a:t>
            </a:r>
            <a:endParaRPr lang="en-US" sz="1330" dirty="0"/>
          </a:p>
        </p:txBody>
      </p:sp>
      <p:sp>
        <p:nvSpPr>
          <p:cNvPr id="12" name="Shape 10"/>
          <p:cNvSpPr/>
          <p:nvPr/>
        </p:nvSpPr>
        <p:spPr>
          <a:xfrm>
            <a:off x="6446520" y="2999232"/>
            <a:ext cx="5074920" cy="841248"/>
          </a:xfrm>
          <a:prstGeom prst="roundRect">
            <a:avLst>
              <a:gd name="adj" fmla="val 8696"/>
            </a:avLst>
          </a:prstGeom>
          <a:solidFill>
            <a:srgbClr val="FFFFFF">
              <a:alpha val="97000"/>
            </a:srgbClr>
          </a:solidFill>
          <a:ln w="12700">
            <a:solidFill>
              <a:srgbClr val="007C89"/>
            </a:solidFill>
            <a:prstDash val="solid"/>
          </a:ln>
        </p:spPr>
      </p:sp>
      <p:sp>
        <p:nvSpPr>
          <p:cNvPr id="13" name="Text 11"/>
          <p:cNvSpPr/>
          <p:nvPr/>
        </p:nvSpPr>
        <p:spPr>
          <a:xfrm>
            <a:off x="6611112" y="3127248"/>
            <a:ext cx="4745736" cy="658368"/>
          </a:xfrm>
          <a:prstGeom prst="rect">
            <a:avLst/>
          </a:prstGeom>
          <a:noFill/>
          <a:ln/>
        </p:spPr>
        <p:txBody>
          <a:bodyPr wrap="square" lIns="0" tIns="0" rIns="0" bIns="0" rtlCol="0" anchor="ctr">
            <a:normAutofit/>
          </a:bodyPr>
          <a:lstStyle/>
          <a:p>
            <a:pPr algn="ctr" indent="0" marL="0">
              <a:buNone/>
            </a:pPr>
            <a:r>
              <a:rPr lang="en-US" sz="1700" b="1" dirty="0">
                <a:solidFill>
                  <a:srgbClr val="005088"/>
                </a:solidFill>
                <a:latin typeface="Cambria Math" pitchFamily="34" charset="0"/>
                <a:ea typeface="Cambria Math" pitchFamily="34" charset="-122"/>
                <a:cs typeface="Cambria Math" pitchFamily="34" charset="-120"/>
              </a:rPr>
              <a:t>¬∀x Passed(x) ≡ ∃x ¬Passed(x)</a:t>
            </a:r>
            <a:endParaRPr lang="en-US" sz="1700" dirty="0"/>
          </a:p>
        </p:txBody>
      </p:sp>
      <p:sp>
        <p:nvSpPr>
          <p:cNvPr id="14" name="Shape 12"/>
          <p:cNvSpPr/>
          <p:nvPr/>
        </p:nvSpPr>
        <p:spPr>
          <a:xfrm>
            <a:off x="6446520" y="4041648"/>
            <a:ext cx="5074920" cy="859536"/>
          </a:xfrm>
          <a:prstGeom prst="roundRect">
            <a:avLst>
              <a:gd name="adj" fmla="val 8511"/>
            </a:avLst>
          </a:prstGeom>
          <a:solidFill>
            <a:srgbClr val="FFE4E6"/>
          </a:solidFill>
          <a:ln w="12700">
            <a:solidFill>
              <a:srgbClr val="FDA4AF"/>
            </a:solidFill>
            <a:prstDash val="solid"/>
          </a:ln>
        </p:spPr>
      </p:sp>
      <p:sp>
        <p:nvSpPr>
          <p:cNvPr id="15" name="Text 13"/>
          <p:cNvSpPr/>
          <p:nvPr/>
        </p:nvSpPr>
        <p:spPr>
          <a:xfrm>
            <a:off x="6629400" y="4178808"/>
            <a:ext cx="4709160" cy="219456"/>
          </a:xfrm>
          <a:prstGeom prst="rect">
            <a:avLst/>
          </a:prstGeom>
          <a:noFill/>
          <a:ln/>
        </p:spPr>
        <p:txBody>
          <a:bodyPr wrap="square" lIns="0" tIns="0" rIns="0" bIns="0" rtlCol="0" anchor="ctr"/>
          <a:lstStyle/>
          <a:p>
            <a:pPr indent="0" marL="0">
              <a:buNone/>
            </a:pPr>
            <a:r>
              <a:rPr lang="en-US" sz="950" b="1" dirty="0">
                <a:solidFill>
                  <a:srgbClr val="C1121F"/>
                </a:solidFill>
              </a:rPr>
              <a:t>STUDENT GOTCHA</a:t>
            </a:r>
            <a:endParaRPr lang="en-US" sz="950" dirty="0"/>
          </a:p>
        </p:txBody>
      </p:sp>
      <p:sp>
        <p:nvSpPr>
          <p:cNvPr id="16" name="Text 14"/>
          <p:cNvSpPr/>
          <p:nvPr/>
        </p:nvSpPr>
        <p:spPr>
          <a:xfrm>
            <a:off x="6629400" y="4453128"/>
            <a:ext cx="4709160" cy="356616"/>
          </a:xfrm>
          <a:prstGeom prst="rect">
            <a:avLst/>
          </a:prstGeom>
          <a:noFill/>
          <a:ln/>
        </p:spPr>
        <p:txBody>
          <a:bodyPr wrap="square" lIns="254" tIns="254" rIns="254" bIns="254" rtlCol="0" anchor="t">
            <a:normAutofit/>
          </a:bodyPr>
          <a:lstStyle/>
          <a:p>
            <a:pPr indent="0" marL="0">
              <a:buNone/>
            </a:pPr>
            <a:r>
              <a:rPr lang="en-US" sz="1250" dirty="0">
                <a:solidFill>
                  <a:srgbClr val="1E293B"/>
                </a:solidFill>
              </a:rPr>
              <a:t>The phrase “not everyone” is weaker than “no one.” Students often confuse the two.</a:t>
            </a:r>
            <a:endParaRPr lang="en-US" sz="1250" dirty="0"/>
          </a:p>
        </p:txBody>
      </p:sp>
      <p:sp>
        <p:nvSpPr>
          <p:cNvPr id="17" name="Shape 15"/>
          <p:cNvSpPr/>
          <p:nvPr/>
        </p:nvSpPr>
        <p:spPr>
          <a:xfrm>
            <a:off x="6446520" y="5074920"/>
            <a:ext cx="5074920" cy="841248"/>
          </a:xfrm>
          <a:prstGeom prst="roundRect">
            <a:avLst>
              <a:gd name="adj" fmla="val 8696"/>
            </a:avLst>
          </a:prstGeom>
          <a:solidFill>
            <a:srgbClr val="E6FFFA"/>
          </a:solidFill>
          <a:ln w="12700">
            <a:solidFill>
              <a:srgbClr val="2A9D8F"/>
            </a:solidFill>
            <a:prstDash val="solid"/>
          </a:ln>
        </p:spPr>
      </p:sp>
      <p:sp>
        <p:nvSpPr>
          <p:cNvPr id="18" name="Text 16"/>
          <p:cNvSpPr/>
          <p:nvPr/>
        </p:nvSpPr>
        <p:spPr>
          <a:xfrm>
            <a:off x="6629400" y="5212080"/>
            <a:ext cx="4709160" cy="219456"/>
          </a:xfrm>
          <a:prstGeom prst="rect">
            <a:avLst/>
          </a:prstGeom>
          <a:noFill/>
          <a:ln/>
        </p:spPr>
        <p:txBody>
          <a:bodyPr wrap="square" lIns="0" tIns="0" rIns="0" bIns="0" rtlCol="0" anchor="ctr"/>
          <a:lstStyle/>
          <a:p>
            <a:pPr indent="0" marL="0">
              <a:buNone/>
            </a:pPr>
            <a:r>
              <a:rPr lang="en-US" sz="950" b="1" dirty="0">
                <a:solidFill>
                  <a:srgbClr val="007C89"/>
                </a:solidFill>
              </a:rPr>
              <a:t>CLASS CHECK</a:t>
            </a:r>
            <a:endParaRPr lang="en-US" sz="950" dirty="0"/>
          </a:p>
        </p:txBody>
      </p:sp>
      <p:sp>
        <p:nvSpPr>
          <p:cNvPr id="19" name="Text 17"/>
          <p:cNvSpPr/>
          <p:nvPr/>
        </p:nvSpPr>
        <p:spPr>
          <a:xfrm>
            <a:off x="6629400" y="5486400"/>
            <a:ext cx="4709160" cy="338328"/>
          </a:xfrm>
          <a:prstGeom prst="rect">
            <a:avLst/>
          </a:prstGeom>
          <a:noFill/>
          <a:ln/>
        </p:spPr>
        <p:txBody>
          <a:bodyPr wrap="square" lIns="254" tIns="254" rIns="254" bIns="254" rtlCol="0" anchor="t">
            <a:normAutofit/>
          </a:bodyPr>
          <a:lstStyle/>
          <a:p>
            <a:pPr indent="0" marL="0">
              <a:buNone/>
            </a:pPr>
            <a:r>
              <a:rPr lang="en-US" sz="1270" dirty="0">
                <a:solidFill>
                  <a:srgbClr val="1E293B"/>
                </a:solidFill>
              </a:rPr>
              <a:t>Translate: “Nobody likes parsnips.”</a:t>
            </a:r>
            <a:endParaRPr lang="en-US" sz="127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5088"/>
          </a:solidFill>
          <a:ln w="12700">
            <a:solidFill>
              <a:srgbClr val="005088"/>
            </a:solidFill>
            <a:prstDash val="solid"/>
          </a:ln>
        </p:spPr>
      </p:sp>
      <p:sp>
        <p:nvSpPr>
          <p:cNvPr id="3" name="Shape 1"/>
          <p:cNvSpPr/>
          <p:nvPr/>
        </p:nvSpPr>
        <p:spPr>
          <a:xfrm>
            <a:off x="0" y="6729984"/>
            <a:ext cx="12191695" cy="128016"/>
          </a:xfrm>
          <a:prstGeom prst="rect">
            <a:avLst/>
          </a:prstGeom>
          <a:solidFill>
            <a:srgbClr val="005088"/>
          </a:solidFill>
          <a:ln w="12700">
            <a:solidFill>
              <a:srgbClr val="005088"/>
            </a:solidFill>
            <a:prstDash val="solid"/>
          </a:ln>
        </p:spPr>
      </p:sp>
      <p:sp>
        <p:nvSpPr>
          <p:cNvPr id="4" name="Text 2"/>
          <p:cNvSpPr/>
          <p:nvPr/>
        </p:nvSpPr>
        <p:spPr>
          <a:xfrm>
            <a:off x="502920" y="210312"/>
            <a:ext cx="6858000" cy="219456"/>
          </a:xfrm>
          <a:prstGeom prst="rect">
            <a:avLst/>
          </a:prstGeom>
          <a:noFill/>
          <a:ln/>
        </p:spPr>
        <p:txBody>
          <a:bodyPr wrap="square" lIns="0" tIns="0" rIns="0" bIns="0" rtlCol="0" anchor="ctr"/>
          <a:lstStyle/>
          <a:p>
            <a:pPr indent="0" marL="0">
              <a:buNone/>
            </a:pPr>
            <a:r>
              <a:rPr lang="en-US" sz="950" b="1" dirty="0">
                <a:solidFill>
                  <a:srgbClr val="3D5A80"/>
                </a:solidFill>
                <a:latin typeface="Aptos" pitchFamily="34" charset="0"/>
                <a:ea typeface="Aptos" pitchFamily="34" charset="-122"/>
                <a:cs typeface="Aptos" pitchFamily="34" charset="-120"/>
              </a:rPr>
              <a:t>8.2.6 Quantifiers</a:t>
            </a:r>
            <a:endParaRPr lang="en-US" sz="950" dirty="0"/>
          </a:p>
        </p:txBody>
      </p:sp>
      <p:sp>
        <p:nvSpPr>
          <p:cNvPr id="5" name="Text 3"/>
          <p:cNvSpPr/>
          <p:nvPr/>
        </p:nvSpPr>
        <p:spPr>
          <a:xfrm>
            <a:off x="11018520" y="201168"/>
            <a:ext cx="640080" cy="228600"/>
          </a:xfrm>
          <a:prstGeom prst="rect">
            <a:avLst/>
          </a:prstGeom>
          <a:noFill/>
          <a:ln/>
        </p:spPr>
        <p:txBody>
          <a:bodyPr wrap="square" lIns="0" tIns="0" rIns="0" bIns="0" rtlCol="0" anchor="ctr"/>
          <a:lstStyle/>
          <a:p>
            <a:pPr algn="r" indent="0" marL="0">
              <a:buNone/>
            </a:pPr>
            <a:r>
              <a:rPr lang="en-US" sz="900" b="1" dirty="0">
                <a:solidFill>
                  <a:srgbClr val="3D5A80"/>
                </a:solidFill>
              </a:rPr>
              <a:t>61</a:t>
            </a:r>
            <a:endParaRPr lang="en-US" sz="900" dirty="0"/>
          </a:p>
        </p:txBody>
      </p:sp>
      <p:sp>
        <p:nvSpPr>
          <p:cNvPr id="6" name="Text 4"/>
          <p:cNvSpPr/>
          <p:nvPr/>
        </p:nvSpPr>
        <p:spPr>
          <a:xfrm>
            <a:off x="502920" y="566928"/>
            <a:ext cx="11201400" cy="512064"/>
          </a:xfrm>
          <a:prstGeom prst="rect">
            <a:avLst/>
          </a:prstGeom>
          <a:noFill/>
          <a:ln/>
        </p:spPr>
        <p:txBody>
          <a:bodyPr wrap="square" lIns="0" tIns="0" rIns="0" bIns="0" rtlCol="0" anchor="ctr">
            <a:normAutofit/>
          </a:bodyPr>
          <a:lstStyle/>
          <a:p>
            <a:pPr indent="0" marL="0">
              <a:buNone/>
            </a:pPr>
            <a:r>
              <a:rPr lang="en-US" sz="2650" b="1" dirty="0">
                <a:solidFill>
                  <a:srgbClr val="005088"/>
                </a:solidFill>
                <a:latin typeface="Aptos Display" pitchFamily="34" charset="0"/>
                <a:ea typeface="Aptos Display" pitchFamily="34" charset="-122"/>
                <a:cs typeface="Aptos Display" pitchFamily="34" charset="-120"/>
              </a:rPr>
              <a:t>TRANSLATION PRACTICE: ALL COURSES HAVE INSTRUCTORS</a:t>
            </a:r>
            <a:endParaRPr lang="en-US" sz="2650" dirty="0"/>
          </a:p>
        </p:txBody>
      </p:sp>
      <p:sp>
        <p:nvSpPr>
          <p:cNvPr id="7" name="Shape 5"/>
          <p:cNvSpPr/>
          <p:nvPr/>
        </p:nvSpPr>
        <p:spPr>
          <a:xfrm>
            <a:off x="502920" y="1188720"/>
            <a:ext cx="11109960" cy="0"/>
          </a:xfrm>
          <a:prstGeom prst="line">
            <a:avLst/>
          </a:prstGeom>
          <a:noFill/>
          <a:ln w="12700">
            <a:solidFill>
              <a:srgbClr val="3D5A80"/>
            </a:solidFill>
            <a:prstDash val="solid"/>
          </a:ln>
        </p:spPr>
      </p:sp>
      <p:sp>
        <p:nvSpPr>
          <p:cNvPr id="8" name="Text 6"/>
          <p:cNvSpPr/>
          <p:nvPr/>
        </p:nvSpPr>
        <p:spPr>
          <a:xfrm>
            <a:off x="713232" y="1572768"/>
            <a:ext cx="5440680" cy="4251960"/>
          </a:xfrm>
          <a:prstGeom prst="rect">
            <a:avLst/>
          </a:prstGeom>
          <a:noFill/>
          <a:ln/>
        </p:spPr>
        <p:txBody>
          <a:bodyPr wrap="square" lIns="1016" tIns="1016" rIns="1016" bIns="1016" rtlCol="0" anchor="t">
            <a:normAutofit/>
          </a:bodyPr>
          <a:lstStyle/>
          <a:p>
            <a:pPr indent="0" marL="0">
              <a:buNone/>
            </a:pPr>
            <a:r>
              <a:rPr lang="en-US" sz="1650" dirty="0">
                <a:solidFill>
                  <a:srgbClr val="1E293B"/>
                </a:solidFill>
                <a:latin typeface="Aptos" pitchFamily="34" charset="0"/>
                <a:ea typeface="Aptos" pitchFamily="34" charset="-122"/>
                <a:cs typeface="Aptos" pitchFamily="34" charset="-120"/>
              </a:rPr>
              <a:t>• Choose a domain: courses and instructors</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Use Course(c) to identify courses</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Use Instructor(i,c) to relate instructor to course</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Use universal plus existential for the full sentence</a:t>
            </a:r>
            <a:endParaRPr lang="en-US" sz="1650" dirty="0"/>
          </a:p>
        </p:txBody>
      </p:sp>
      <p:sp>
        <p:nvSpPr>
          <p:cNvPr id="9" name="Shape 7"/>
          <p:cNvSpPr/>
          <p:nvPr/>
        </p:nvSpPr>
        <p:spPr>
          <a:xfrm>
            <a:off x="6446520" y="1572768"/>
            <a:ext cx="5074920" cy="1234440"/>
          </a:xfrm>
          <a:prstGeom prst="roundRect">
            <a:avLst>
              <a:gd name="adj" fmla="val 5926"/>
            </a:avLst>
          </a:prstGeom>
          <a:solidFill>
            <a:srgbClr val="FFF6D9"/>
          </a:solidFill>
          <a:ln w="12700">
            <a:solidFill>
              <a:srgbClr val="F4A261"/>
            </a:solidFill>
            <a:prstDash val="solid"/>
          </a:ln>
        </p:spPr>
      </p:sp>
      <p:sp>
        <p:nvSpPr>
          <p:cNvPr id="10" name="Text 8"/>
          <p:cNvSpPr/>
          <p:nvPr/>
        </p:nvSpPr>
        <p:spPr>
          <a:xfrm>
            <a:off x="6629400" y="1709928"/>
            <a:ext cx="4709160" cy="219456"/>
          </a:xfrm>
          <a:prstGeom prst="rect">
            <a:avLst/>
          </a:prstGeom>
          <a:noFill/>
          <a:ln/>
        </p:spPr>
        <p:txBody>
          <a:bodyPr wrap="square" lIns="0" tIns="0" rIns="0" bIns="0" rtlCol="0" anchor="ctr"/>
          <a:lstStyle/>
          <a:p>
            <a:pPr indent="0" marL="0">
              <a:buNone/>
            </a:pPr>
            <a:r>
              <a:rPr lang="en-US" sz="950" b="1" dirty="0">
                <a:solidFill>
                  <a:srgbClr val="B0005D"/>
                </a:solidFill>
              </a:rPr>
              <a:t>ANALOGY</a:t>
            </a:r>
            <a:endParaRPr lang="en-US" sz="950" dirty="0"/>
          </a:p>
        </p:txBody>
      </p:sp>
      <p:sp>
        <p:nvSpPr>
          <p:cNvPr id="11" name="Text 9"/>
          <p:cNvSpPr/>
          <p:nvPr/>
        </p:nvSpPr>
        <p:spPr>
          <a:xfrm>
            <a:off x="6629400" y="1984248"/>
            <a:ext cx="4709160" cy="731520"/>
          </a:xfrm>
          <a:prstGeom prst="rect">
            <a:avLst/>
          </a:prstGeom>
          <a:noFill/>
          <a:ln/>
        </p:spPr>
        <p:txBody>
          <a:bodyPr wrap="square" lIns="254" tIns="254" rIns="254" bIns="254" rtlCol="0" anchor="t">
            <a:normAutofit/>
          </a:bodyPr>
          <a:lstStyle/>
          <a:p>
            <a:pPr indent="0" marL="0">
              <a:buNone/>
            </a:pPr>
            <a:r>
              <a:rPr lang="en-US" sz="1330" dirty="0">
                <a:solidFill>
                  <a:srgbClr val="1E293B"/>
                </a:solidFill>
              </a:rPr>
              <a:t>A course catalog promises that each listed course has someone assigned to teach it.</a:t>
            </a:r>
            <a:endParaRPr lang="en-US" sz="1330" dirty="0"/>
          </a:p>
        </p:txBody>
      </p:sp>
      <p:sp>
        <p:nvSpPr>
          <p:cNvPr id="12" name="Shape 10"/>
          <p:cNvSpPr/>
          <p:nvPr/>
        </p:nvSpPr>
        <p:spPr>
          <a:xfrm>
            <a:off x="6446520" y="2999232"/>
            <a:ext cx="5074920" cy="841248"/>
          </a:xfrm>
          <a:prstGeom prst="roundRect">
            <a:avLst>
              <a:gd name="adj" fmla="val 8696"/>
            </a:avLst>
          </a:prstGeom>
          <a:solidFill>
            <a:srgbClr val="FFFFFF">
              <a:alpha val="97000"/>
            </a:srgbClr>
          </a:solidFill>
          <a:ln w="12700">
            <a:solidFill>
              <a:srgbClr val="007C89"/>
            </a:solidFill>
            <a:prstDash val="solid"/>
          </a:ln>
        </p:spPr>
      </p:sp>
      <p:sp>
        <p:nvSpPr>
          <p:cNvPr id="13" name="Text 11"/>
          <p:cNvSpPr/>
          <p:nvPr/>
        </p:nvSpPr>
        <p:spPr>
          <a:xfrm>
            <a:off x="6611112" y="3127248"/>
            <a:ext cx="4745736" cy="658368"/>
          </a:xfrm>
          <a:prstGeom prst="rect">
            <a:avLst/>
          </a:prstGeom>
          <a:noFill/>
          <a:ln/>
        </p:spPr>
        <p:txBody>
          <a:bodyPr wrap="square" lIns="0" tIns="0" rIns="0" bIns="0" rtlCol="0" anchor="ctr">
            <a:normAutofit/>
          </a:bodyPr>
          <a:lstStyle/>
          <a:p>
            <a:pPr algn="ctr" indent="0" marL="0">
              <a:buNone/>
            </a:pPr>
            <a:r>
              <a:rPr lang="en-US" sz="1600" b="1" dirty="0">
                <a:solidFill>
                  <a:srgbClr val="005088"/>
                </a:solidFill>
                <a:latin typeface="Cambria Math" pitchFamily="34" charset="0"/>
                <a:ea typeface="Cambria Math" pitchFamily="34" charset="-122"/>
                <a:cs typeface="Cambria Math" pitchFamily="34" charset="-120"/>
              </a:rPr>
              <a:t>∀c Course(c) ⇒ ∃i Instructor(i,c)</a:t>
            </a:r>
            <a:endParaRPr lang="en-US" sz="1600" dirty="0"/>
          </a:p>
        </p:txBody>
      </p:sp>
      <p:sp>
        <p:nvSpPr>
          <p:cNvPr id="14" name="Shape 12"/>
          <p:cNvSpPr/>
          <p:nvPr/>
        </p:nvSpPr>
        <p:spPr>
          <a:xfrm>
            <a:off x="6446520" y="4041648"/>
            <a:ext cx="5074920" cy="859536"/>
          </a:xfrm>
          <a:prstGeom prst="roundRect">
            <a:avLst>
              <a:gd name="adj" fmla="val 8511"/>
            </a:avLst>
          </a:prstGeom>
          <a:solidFill>
            <a:srgbClr val="FFE4E6"/>
          </a:solidFill>
          <a:ln w="12700">
            <a:solidFill>
              <a:srgbClr val="FDA4AF"/>
            </a:solidFill>
            <a:prstDash val="solid"/>
          </a:ln>
        </p:spPr>
      </p:sp>
      <p:sp>
        <p:nvSpPr>
          <p:cNvPr id="15" name="Text 13"/>
          <p:cNvSpPr/>
          <p:nvPr/>
        </p:nvSpPr>
        <p:spPr>
          <a:xfrm>
            <a:off x="6629400" y="4178808"/>
            <a:ext cx="4709160" cy="219456"/>
          </a:xfrm>
          <a:prstGeom prst="rect">
            <a:avLst/>
          </a:prstGeom>
          <a:noFill/>
          <a:ln/>
        </p:spPr>
        <p:txBody>
          <a:bodyPr wrap="square" lIns="0" tIns="0" rIns="0" bIns="0" rtlCol="0" anchor="ctr"/>
          <a:lstStyle/>
          <a:p>
            <a:pPr indent="0" marL="0">
              <a:buNone/>
            </a:pPr>
            <a:r>
              <a:rPr lang="en-US" sz="950" b="1" dirty="0">
                <a:solidFill>
                  <a:srgbClr val="C1121F"/>
                </a:solidFill>
              </a:rPr>
              <a:t>STUDENT GOTCHA</a:t>
            </a:r>
            <a:endParaRPr lang="en-US" sz="950" dirty="0"/>
          </a:p>
        </p:txBody>
      </p:sp>
      <p:sp>
        <p:nvSpPr>
          <p:cNvPr id="16" name="Text 14"/>
          <p:cNvSpPr/>
          <p:nvPr/>
        </p:nvSpPr>
        <p:spPr>
          <a:xfrm>
            <a:off x="6629400" y="4453128"/>
            <a:ext cx="4709160" cy="356616"/>
          </a:xfrm>
          <a:prstGeom prst="rect">
            <a:avLst/>
          </a:prstGeom>
          <a:noFill/>
          <a:ln/>
        </p:spPr>
        <p:txBody>
          <a:bodyPr wrap="square" lIns="254" tIns="254" rIns="254" bIns="254" rtlCol="0" anchor="t">
            <a:normAutofit/>
          </a:bodyPr>
          <a:lstStyle/>
          <a:p>
            <a:pPr indent="0" marL="0">
              <a:buNone/>
            </a:pPr>
            <a:r>
              <a:rPr lang="en-US" sz="1250" dirty="0">
                <a:solidFill>
                  <a:srgbClr val="1E293B"/>
                </a:solidFill>
              </a:rPr>
              <a:t>The formula does not say all objects are courses. It only applies the rule to objects that are courses.</a:t>
            </a:r>
            <a:endParaRPr lang="en-US" sz="1250" dirty="0"/>
          </a:p>
        </p:txBody>
      </p:sp>
      <p:sp>
        <p:nvSpPr>
          <p:cNvPr id="17" name="Shape 15"/>
          <p:cNvSpPr/>
          <p:nvPr/>
        </p:nvSpPr>
        <p:spPr>
          <a:xfrm>
            <a:off x="6446520" y="5074920"/>
            <a:ext cx="5074920" cy="841248"/>
          </a:xfrm>
          <a:prstGeom prst="roundRect">
            <a:avLst>
              <a:gd name="adj" fmla="val 8696"/>
            </a:avLst>
          </a:prstGeom>
          <a:solidFill>
            <a:srgbClr val="E6FFFA"/>
          </a:solidFill>
          <a:ln w="12700">
            <a:solidFill>
              <a:srgbClr val="2A9D8F"/>
            </a:solidFill>
            <a:prstDash val="solid"/>
          </a:ln>
        </p:spPr>
      </p:sp>
      <p:sp>
        <p:nvSpPr>
          <p:cNvPr id="18" name="Text 16"/>
          <p:cNvSpPr/>
          <p:nvPr/>
        </p:nvSpPr>
        <p:spPr>
          <a:xfrm>
            <a:off x="6629400" y="5212080"/>
            <a:ext cx="4709160" cy="219456"/>
          </a:xfrm>
          <a:prstGeom prst="rect">
            <a:avLst/>
          </a:prstGeom>
          <a:noFill/>
          <a:ln/>
        </p:spPr>
        <p:txBody>
          <a:bodyPr wrap="square" lIns="0" tIns="0" rIns="0" bIns="0" rtlCol="0" anchor="ctr"/>
          <a:lstStyle/>
          <a:p>
            <a:pPr indent="0" marL="0">
              <a:buNone/>
            </a:pPr>
            <a:r>
              <a:rPr lang="en-US" sz="950" b="1" dirty="0">
                <a:solidFill>
                  <a:srgbClr val="007C89"/>
                </a:solidFill>
              </a:rPr>
              <a:t>CLASS CHECK</a:t>
            </a:r>
            <a:endParaRPr lang="en-US" sz="950" dirty="0"/>
          </a:p>
        </p:txBody>
      </p:sp>
      <p:sp>
        <p:nvSpPr>
          <p:cNvPr id="19" name="Text 17"/>
          <p:cNvSpPr/>
          <p:nvPr/>
        </p:nvSpPr>
        <p:spPr>
          <a:xfrm>
            <a:off x="6629400" y="5486400"/>
            <a:ext cx="4709160" cy="338328"/>
          </a:xfrm>
          <a:prstGeom prst="rect">
            <a:avLst/>
          </a:prstGeom>
          <a:noFill/>
          <a:ln/>
        </p:spPr>
        <p:txBody>
          <a:bodyPr wrap="square" lIns="254" tIns="254" rIns="254" bIns="254" rtlCol="0" anchor="t">
            <a:normAutofit/>
          </a:bodyPr>
          <a:lstStyle/>
          <a:p>
            <a:pPr indent="0" marL="0">
              <a:buNone/>
            </a:pPr>
            <a:r>
              <a:rPr lang="en-US" sz="1270" dirty="0">
                <a:solidFill>
                  <a:srgbClr val="1E293B"/>
                </a:solidFill>
              </a:rPr>
              <a:t>Ask students to translate “some student is enrolled in Computer Science 469.”</a:t>
            </a:r>
            <a:endParaRPr lang="en-US" sz="127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005088"/>
        </a:solidFill>
      </p:bgPr>
    </p:bg>
    <p:spTree>
      <p:nvGrpSpPr>
        <p:cNvPr id="1" name=""/>
        <p:cNvGrpSpPr/>
        <p:nvPr/>
      </p:nvGrpSpPr>
      <p:grpSpPr>
        <a:xfrm>
          <a:off x="0" y="0"/>
          <a:ext cx="0" cy="0"/>
          <a:chOff x="0" y="0"/>
          <a:chExt cx="0" cy="0"/>
        </a:xfrm>
      </p:grpSpPr>
      <p:sp>
        <p:nvSpPr>
          <p:cNvPr id="2" name="Text 0"/>
          <p:cNvSpPr/>
          <p:nvPr/>
        </p:nvSpPr>
        <p:spPr>
          <a:xfrm>
            <a:off x="685800" y="502920"/>
            <a:ext cx="2194560" cy="320040"/>
          </a:xfrm>
          <a:prstGeom prst="rect">
            <a:avLst/>
          </a:prstGeom>
          <a:noFill/>
          <a:ln/>
        </p:spPr>
        <p:txBody>
          <a:bodyPr wrap="square" lIns="0" tIns="0" rIns="0" bIns="0" rtlCol="0" anchor="ctr"/>
          <a:lstStyle/>
          <a:p>
            <a:pPr indent="0" marL="0">
              <a:buNone/>
            </a:pPr>
            <a:r>
              <a:rPr lang="en-US" sz="1600" b="1" dirty="0">
                <a:solidFill>
                  <a:srgbClr val="A5F3FC"/>
                </a:solidFill>
              </a:rPr>
              <a:t>Computer Science 469</a:t>
            </a:r>
            <a:endParaRPr lang="en-US" sz="1600" dirty="0"/>
          </a:p>
        </p:txBody>
      </p:sp>
      <p:sp>
        <p:nvSpPr>
          <p:cNvPr id="3" name="Text 1"/>
          <p:cNvSpPr/>
          <p:nvPr/>
        </p:nvSpPr>
        <p:spPr>
          <a:xfrm>
            <a:off x="685800" y="850392"/>
            <a:ext cx="2194560" cy="274320"/>
          </a:xfrm>
          <a:prstGeom prst="rect">
            <a:avLst/>
          </a:prstGeom>
          <a:noFill/>
          <a:ln/>
        </p:spPr>
        <p:txBody>
          <a:bodyPr wrap="square" lIns="0" tIns="0" rIns="0" bIns="0" rtlCol="0" anchor="ctr"/>
          <a:lstStyle/>
          <a:p>
            <a:pPr indent="0" marL="0">
              <a:buNone/>
            </a:pPr>
            <a:r>
              <a:rPr lang="en-US" sz="1200" dirty="0">
                <a:solidFill>
                  <a:srgbClr val="D9F99D"/>
                </a:solidFill>
              </a:rPr>
              <a:t>Chapter 8</a:t>
            </a:r>
            <a:endParaRPr lang="en-US" sz="1200" dirty="0"/>
          </a:p>
        </p:txBody>
      </p:sp>
      <p:sp>
        <p:nvSpPr>
          <p:cNvPr id="4" name="Text 2"/>
          <p:cNvSpPr/>
          <p:nvPr/>
        </p:nvSpPr>
        <p:spPr>
          <a:xfrm>
            <a:off x="685800" y="1901952"/>
            <a:ext cx="10744200" cy="896112"/>
          </a:xfrm>
          <a:prstGeom prst="rect">
            <a:avLst/>
          </a:prstGeom>
          <a:noFill/>
          <a:ln/>
        </p:spPr>
        <p:txBody>
          <a:bodyPr wrap="square" lIns="0" tIns="0" rIns="0" bIns="0" rtlCol="0" anchor="ctr">
            <a:normAutofit/>
          </a:bodyPr>
          <a:lstStyle/>
          <a:p>
            <a:pPr indent="0" marL="0">
              <a:buNone/>
            </a:pPr>
            <a:r>
              <a:rPr lang="en-US" sz="4200" b="1" dirty="0">
                <a:solidFill>
                  <a:srgbClr val="F4F1DE"/>
                </a:solidFill>
              </a:rPr>
              <a:t>8.2.8 Database Semantics</a:t>
            </a:r>
            <a:endParaRPr lang="en-US" sz="4200" dirty="0"/>
          </a:p>
        </p:txBody>
      </p:sp>
      <p:sp>
        <p:nvSpPr>
          <p:cNvPr id="5" name="Text 3"/>
          <p:cNvSpPr/>
          <p:nvPr/>
        </p:nvSpPr>
        <p:spPr>
          <a:xfrm>
            <a:off x="713232" y="2880360"/>
            <a:ext cx="10424160" cy="429768"/>
          </a:xfrm>
          <a:prstGeom prst="rect">
            <a:avLst/>
          </a:prstGeom>
          <a:noFill/>
          <a:ln/>
        </p:spPr>
        <p:txBody>
          <a:bodyPr wrap="square" lIns="0" tIns="0" rIns="0" bIns="0" rtlCol="0" anchor="ctr">
            <a:normAutofit/>
          </a:bodyPr>
          <a:lstStyle/>
          <a:p>
            <a:pPr indent="0" marL="0">
              <a:buNone/>
            </a:pPr>
            <a:r>
              <a:rPr lang="en-US" sz="1900" dirty="0">
                <a:solidFill>
                  <a:srgbClr val="D9F99D"/>
                </a:solidFill>
              </a:rPr>
              <a:t>When a knowledge base is treated like a complete database table</a:t>
            </a:r>
            <a:endParaRPr lang="en-US" sz="1900" dirty="0"/>
          </a:p>
        </p:txBody>
      </p:sp>
      <p:sp>
        <p:nvSpPr>
          <p:cNvPr id="6" name="Shape 4"/>
          <p:cNvSpPr/>
          <p:nvPr/>
        </p:nvSpPr>
        <p:spPr>
          <a:xfrm>
            <a:off x="713232" y="3529584"/>
            <a:ext cx="2194560" cy="54864"/>
          </a:xfrm>
          <a:prstGeom prst="rect">
            <a:avLst/>
          </a:prstGeom>
          <a:solidFill>
            <a:srgbClr val="D9F99D"/>
          </a:solidFill>
          <a:ln w="12700">
            <a:solidFill>
              <a:srgbClr val="D9F99D"/>
            </a:solidFill>
            <a:prstDash val="solid"/>
          </a:ln>
        </p:spPr>
      </p:sp>
      <p:sp>
        <p:nvSpPr>
          <p:cNvPr id="7" name="Shape 5"/>
          <p:cNvSpPr/>
          <p:nvPr/>
        </p:nvSpPr>
        <p:spPr>
          <a:xfrm>
            <a:off x="713232" y="3950208"/>
            <a:ext cx="10652760" cy="1005840"/>
          </a:xfrm>
          <a:prstGeom prst="roundRect">
            <a:avLst>
              <a:gd name="adj" fmla="val 7273"/>
            </a:avLst>
          </a:prstGeom>
          <a:solidFill>
            <a:srgbClr val="073B4C"/>
          </a:solidFill>
          <a:ln w="12700">
            <a:solidFill>
              <a:srgbClr val="A5F3FC"/>
            </a:solidFill>
            <a:prstDash val="solid"/>
          </a:ln>
        </p:spPr>
      </p:sp>
      <p:sp>
        <p:nvSpPr>
          <p:cNvPr id="8" name="Text 6"/>
          <p:cNvSpPr/>
          <p:nvPr/>
        </p:nvSpPr>
        <p:spPr>
          <a:xfrm>
            <a:off x="896112" y="4087368"/>
            <a:ext cx="10287000" cy="219456"/>
          </a:xfrm>
          <a:prstGeom prst="rect">
            <a:avLst/>
          </a:prstGeom>
          <a:noFill/>
          <a:ln/>
        </p:spPr>
        <p:txBody>
          <a:bodyPr wrap="square" lIns="0" tIns="0" rIns="0" bIns="0" rtlCol="0" anchor="ctr"/>
          <a:lstStyle/>
          <a:p>
            <a:pPr indent="0" marL="0">
              <a:buNone/>
            </a:pPr>
            <a:r>
              <a:rPr lang="en-US" sz="950" b="1" dirty="0">
                <a:solidFill>
                  <a:srgbClr val="A5F3FC"/>
                </a:solidFill>
              </a:rPr>
              <a:t>INSTRUCTOR CUE</a:t>
            </a:r>
            <a:endParaRPr lang="en-US" sz="950" dirty="0"/>
          </a:p>
        </p:txBody>
      </p:sp>
      <p:sp>
        <p:nvSpPr>
          <p:cNvPr id="9" name="Text 7"/>
          <p:cNvSpPr/>
          <p:nvPr/>
        </p:nvSpPr>
        <p:spPr>
          <a:xfrm>
            <a:off x="896112" y="4361688"/>
            <a:ext cx="10287000" cy="502920"/>
          </a:xfrm>
          <a:prstGeom prst="rect">
            <a:avLst/>
          </a:prstGeom>
          <a:noFill/>
          <a:ln/>
        </p:spPr>
        <p:txBody>
          <a:bodyPr wrap="square" lIns="254" tIns="254" rIns="254" bIns="254" rtlCol="0" anchor="t">
            <a:normAutofit/>
          </a:bodyPr>
          <a:lstStyle/>
          <a:p>
            <a:pPr indent="0" marL="0">
              <a:buNone/>
            </a:pPr>
            <a:r>
              <a:rPr lang="en-US" sz="1500" dirty="0">
                <a:solidFill>
                  <a:srgbClr val="FFFFFF"/>
                </a:solidFill>
              </a:rPr>
              <a:t>Explain that this is a special semantics choice. It is not the default standard first-order semantics. It is useful when the data is complete and the task benefits from closed assumptions.</a:t>
            </a:r>
            <a:endParaRPr lang="en-US" sz="1500" dirty="0"/>
          </a:p>
        </p:txBody>
      </p:sp>
      <p:sp>
        <p:nvSpPr>
          <p:cNvPr id="10" name="Text 8"/>
          <p:cNvSpPr/>
          <p:nvPr/>
        </p:nvSpPr>
        <p:spPr>
          <a:xfrm>
            <a:off x="11018520" y="6172200"/>
            <a:ext cx="548640" cy="274320"/>
          </a:xfrm>
          <a:prstGeom prst="rect">
            <a:avLst/>
          </a:prstGeom>
          <a:noFill/>
          <a:ln/>
        </p:spPr>
        <p:txBody>
          <a:bodyPr wrap="square" lIns="0" tIns="0" rIns="0" bIns="0" rtlCol="0" anchor="ctr"/>
          <a:lstStyle/>
          <a:p>
            <a:pPr algn="r" indent="0" marL="0">
              <a:buNone/>
            </a:pPr>
            <a:r>
              <a:rPr lang="en-US" sz="1200" b="1" dirty="0">
                <a:solidFill>
                  <a:srgbClr val="D9F99D"/>
                </a:solidFill>
              </a:rPr>
              <a:t>62</a:t>
            </a:r>
            <a:endParaRPr lang="en-US" sz="12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5088"/>
          </a:solidFill>
          <a:ln w="12700">
            <a:solidFill>
              <a:srgbClr val="005088"/>
            </a:solidFill>
            <a:prstDash val="solid"/>
          </a:ln>
        </p:spPr>
      </p:sp>
      <p:sp>
        <p:nvSpPr>
          <p:cNvPr id="3" name="Shape 1"/>
          <p:cNvSpPr/>
          <p:nvPr/>
        </p:nvSpPr>
        <p:spPr>
          <a:xfrm>
            <a:off x="0" y="6729984"/>
            <a:ext cx="12191695" cy="128016"/>
          </a:xfrm>
          <a:prstGeom prst="rect">
            <a:avLst/>
          </a:prstGeom>
          <a:solidFill>
            <a:srgbClr val="005088"/>
          </a:solidFill>
          <a:ln w="12700">
            <a:solidFill>
              <a:srgbClr val="005088"/>
            </a:solidFill>
            <a:prstDash val="solid"/>
          </a:ln>
        </p:spPr>
      </p:sp>
      <p:sp>
        <p:nvSpPr>
          <p:cNvPr id="4" name="Text 2"/>
          <p:cNvSpPr/>
          <p:nvPr/>
        </p:nvSpPr>
        <p:spPr>
          <a:xfrm>
            <a:off x="502920" y="210312"/>
            <a:ext cx="6858000" cy="219456"/>
          </a:xfrm>
          <a:prstGeom prst="rect">
            <a:avLst/>
          </a:prstGeom>
          <a:noFill/>
          <a:ln/>
        </p:spPr>
        <p:txBody>
          <a:bodyPr wrap="square" lIns="0" tIns="0" rIns="0" bIns="0" rtlCol="0" anchor="ctr"/>
          <a:lstStyle/>
          <a:p>
            <a:pPr indent="0" marL="0">
              <a:buNone/>
            </a:pPr>
            <a:r>
              <a:rPr lang="en-US" sz="950" b="1" dirty="0">
                <a:solidFill>
                  <a:srgbClr val="3D5A80"/>
                </a:solidFill>
                <a:latin typeface="Aptos" pitchFamily="34" charset="0"/>
                <a:ea typeface="Aptos" pitchFamily="34" charset="-122"/>
                <a:cs typeface="Aptos" pitchFamily="34" charset="-120"/>
              </a:rPr>
              <a:t>8.2.8 Database Semantics</a:t>
            </a:r>
            <a:endParaRPr lang="en-US" sz="950" dirty="0"/>
          </a:p>
        </p:txBody>
      </p:sp>
      <p:sp>
        <p:nvSpPr>
          <p:cNvPr id="5" name="Text 3"/>
          <p:cNvSpPr/>
          <p:nvPr/>
        </p:nvSpPr>
        <p:spPr>
          <a:xfrm>
            <a:off x="11018520" y="201168"/>
            <a:ext cx="640080" cy="228600"/>
          </a:xfrm>
          <a:prstGeom prst="rect">
            <a:avLst/>
          </a:prstGeom>
          <a:noFill/>
          <a:ln/>
        </p:spPr>
        <p:txBody>
          <a:bodyPr wrap="square" lIns="0" tIns="0" rIns="0" bIns="0" rtlCol="0" anchor="ctr"/>
          <a:lstStyle/>
          <a:p>
            <a:pPr algn="r" indent="0" marL="0">
              <a:buNone/>
            </a:pPr>
            <a:r>
              <a:rPr lang="en-US" sz="900" b="1" dirty="0">
                <a:solidFill>
                  <a:srgbClr val="3D5A80"/>
                </a:solidFill>
              </a:rPr>
              <a:t>63</a:t>
            </a:r>
            <a:endParaRPr lang="en-US" sz="900" dirty="0"/>
          </a:p>
        </p:txBody>
      </p:sp>
      <p:sp>
        <p:nvSpPr>
          <p:cNvPr id="6" name="Text 4"/>
          <p:cNvSpPr/>
          <p:nvPr/>
        </p:nvSpPr>
        <p:spPr>
          <a:xfrm>
            <a:off x="502920" y="566928"/>
            <a:ext cx="11201400" cy="512064"/>
          </a:xfrm>
          <a:prstGeom prst="rect">
            <a:avLst/>
          </a:prstGeom>
          <a:noFill/>
          <a:ln/>
        </p:spPr>
        <p:txBody>
          <a:bodyPr wrap="square" lIns="0" tIns="0" rIns="0" bIns="0" rtlCol="0" anchor="ctr">
            <a:normAutofit/>
          </a:bodyPr>
          <a:lstStyle/>
          <a:p>
            <a:pPr indent="0" marL="0">
              <a:buNone/>
            </a:pPr>
            <a:r>
              <a:rPr lang="en-US" sz="2650" b="1" dirty="0">
                <a:solidFill>
                  <a:srgbClr val="005088"/>
                </a:solidFill>
                <a:latin typeface="Aptos Display" pitchFamily="34" charset="0"/>
                <a:ea typeface="Aptos Display" pitchFamily="34" charset="-122"/>
                <a:cs typeface="Aptos Display" pitchFamily="34" charset="-120"/>
              </a:rPr>
              <a:t>STANDARD FIRST-ORDER SEMANTICS IS OPEN-WORLD</a:t>
            </a:r>
            <a:endParaRPr lang="en-US" sz="2650" dirty="0"/>
          </a:p>
        </p:txBody>
      </p:sp>
      <p:sp>
        <p:nvSpPr>
          <p:cNvPr id="7" name="Shape 5"/>
          <p:cNvSpPr/>
          <p:nvPr/>
        </p:nvSpPr>
        <p:spPr>
          <a:xfrm>
            <a:off x="502920" y="1188720"/>
            <a:ext cx="11109960" cy="0"/>
          </a:xfrm>
          <a:prstGeom prst="line">
            <a:avLst/>
          </a:prstGeom>
          <a:noFill/>
          <a:ln w="12700">
            <a:solidFill>
              <a:srgbClr val="3D5A80"/>
            </a:solidFill>
            <a:prstDash val="solid"/>
          </a:ln>
        </p:spPr>
      </p:sp>
      <p:sp>
        <p:nvSpPr>
          <p:cNvPr id="8" name="Text 6"/>
          <p:cNvSpPr/>
          <p:nvPr/>
        </p:nvSpPr>
        <p:spPr>
          <a:xfrm>
            <a:off x="713232" y="1572768"/>
            <a:ext cx="5440680" cy="4251960"/>
          </a:xfrm>
          <a:prstGeom prst="rect">
            <a:avLst/>
          </a:prstGeom>
          <a:noFill/>
          <a:ln/>
        </p:spPr>
        <p:txBody>
          <a:bodyPr wrap="square" lIns="1016" tIns="1016" rIns="1016" bIns="1016" rtlCol="0" anchor="t">
            <a:normAutofit/>
          </a:bodyPr>
          <a:lstStyle/>
          <a:p>
            <a:pPr indent="0" marL="0">
              <a:buNone/>
            </a:pPr>
            <a:r>
              <a:rPr lang="en-US" sz="1650" dirty="0">
                <a:solidFill>
                  <a:srgbClr val="1E293B"/>
                </a:solidFill>
                <a:latin typeface="Aptos" pitchFamily="34" charset="0"/>
                <a:ea typeface="Aptos" pitchFamily="34" charset="-122"/>
                <a:cs typeface="Aptos" pitchFamily="34" charset="-120"/>
              </a:rPr>
              <a:t>• Unknown facts are not automatically false</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Different names may refer to the same object</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Unnamed objects may exist</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The knowledge base only rules out what its sentences rule out</a:t>
            </a:r>
            <a:endParaRPr lang="en-US" sz="1650" dirty="0"/>
          </a:p>
        </p:txBody>
      </p:sp>
      <p:sp>
        <p:nvSpPr>
          <p:cNvPr id="9" name="Shape 7"/>
          <p:cNvSpPr/>
          <p:nvPr/>
        </p:nvSpPr>
        <p:spPr>
          <a:xfrm>
            <a:off x="6446520" y="1572768"/>
            <a:ext cx="5074920" cy="1234440"/>
          </a:xfrm>
          <a:prstGeom prst="roundRect">
            <a:avLst>
              <a:gd name="adj" fmla="val 5926"/>
            </a:avLst>
          </a:prstGeom>
          <a:solidFill>
            <a:srgbClr val="FFF6D9"/>
          </a:solidFill>
          <a:ln w="12700">
            <a:solidFill>
              <a:srgbClr val="F4A261"/>
            </a:solidFill>
            <a:prstDash val="solid"/>
          </a:ln>
        </p:spPr>
      </p:sp>
      <p:sp>
        <p:nvSpPr>
          <p:cNvPr id="10" name="Text 8"/>
          <p:cNvSpPr/>
          <p:nvPr/>
        </p:nvSpPr>
        <p:spPr>
          <a:xfrm>
            <a:off x="6629400" y="1709928"/>
            <a:ext cx="4709160" cy="219456"/>
          </a:xfrm>
          <a:prstGeom prst="rect">
            <a:avLst/>
          </a:prstGeom>
          <a:noFill/>
          <a:ln/>
        </p:spPr>
        <p:txBody>
          <a:bodyPr wrap="square" lIns="0" tIns="0" rIns="0" bIns="0" rtlCol="0" anchor="ctr"/>
          <a:lstStyle/>
          <a:p>
            <a:pPr indent="0" marL="0">
              <a:buNone/>
            </a:pPr>
            <a:r>
              <a:rPr lang="en-US" sz="950" b="1" dirty="0">
                <a:solidFill>
                  <a:srgbClr val="B0005D"/>
                </a:solidFill>
              </a:rPr>
              <a:t>ANALOGY</a:t>
            </a:r>
            <a:endParaRPr lang="en-US" sz="950" dirty="0"/>
          </a:p>
        </p:txBody>
      </p:sp>
      <p:sp>
        <p:nvSpPr>
          <p:cNvPr id="11" name="Text 9"/>
          <p:cNvSpPr/>
          <p:nvPr/>
        </p:nvSpPr>
        <p:spPr>
          <a:xfrm>
            <a:off x="6629400" y="1984248"/>
            <a:ext cx="4709160" cy="731520"/>
          </a:xfrm>
          <a:prstGeom prst="rect">
            <a:avLst/>
          </a:prstGeom>
          <a:noFill/>
          <a:ln/>
        </p:spPr>
        <p:txBody>
          <a:bodyPr wrap="square" lIns="254" tIns="254" rIns="254" bIns="254" rtlCol="0" anchor="t">
            <a:normAutofit/>
          </a:bodyPr>
          <a:lstStyle/>
          <a:p>
            <a:pPr indent="0" marL="0">
              <a:buNone/>
            </a:pPr>
            <a:r>
              <a:rPr lang="en-US" sz="1330" dirty="0">
                <a:solidFill>
                  <a:srgbClr val="1E293B"/>
                </a:solidFill>
              </a:rPr>
              <a:t>A detective board remains open to unknown suspects until evidence rules them out.</a:t>
            </a:r>
            <a:endParaRPr lang="en-US" sz="1330" dirty="0"/>
          </a:p>
        </p:txBody>
      </p:sp>
      <p:sp>
        <p:nvSpPr>
          <p:cNvPr id="12" name="Shape 10"/>
          <p:cNvSpPr/>
          <p:nvPr/>
        </p:nvSpPr>
        <p:spPr>
          <a:xfrm>
            <a:off x="6446520" y="2999232"/>
            <a:ext cx="5074920" cy="841248"/>
          </a:xfrm>
          <a:prstGeom prst="roundRect">
            <a:avLst>
              <a:gd name="adj" fmla="val 8696"/>
            </a:avLst>
          </a:prstGeom>
          <a:solidFill>
            <a:srgbClr val="FFFFFF">
              <a:alpha val="97000"/>
            </a:srgbClr>
          </a:solidFill>
          <a:ln w="12700">
            <a:solidFill>
              <a:srgbClr val="007C89"/>
            </a:solidFill>
            <a:prstDash val="solid"/>
          </a:ln>
        </p:spPr>
      </p:sp>
      <p:sp>
        <p:nvSpPr>
          <p:cNvPr id="13" name="Text 11"/>
          <p:cNvSpPr/>
          <p:nvPr/>
        </p:nvSpPr>
        <p:spPr>
          <a:xfrm>
            <a:off x="6611112" y="3127248"/>
            <a:ext cx="4745736" cy="658368"/>
          </a:xfrm>
          <a:prstGeom prst="rect">
            <a:avLst/>
          </a:prstGeom>
          <a:noFill/>
          <a:ln/>
        </p:spPr>
        <p:txBody>
          <a:bodyPr wrap="square" lIns="0" tIns="0" rIns="0" bIns="0" rtlCol="0" anchor="ctr">
            <a:normAutofit/>
          </a:bodyPr>
          <a:lstStyle/>
          <a:p>
            <a:pPr algn="ctr" indent="0" marL="0">
              <a:buNone/>
            </a:pPr>
            <a:r>
              <a:rPr lang="en-US" sz="2200" b="1" dirty="0">
                <a:solidFill>
                  <a:srgbClr val="005088"/>
                </a:solidFill>
                <a:latin typeface="Cambria Math" pitchFamily="34" charset="0"/>
                <a:ea typeface="Cambria Math" pitchFamily="34" charset="-122"/>
                <a:cs typeface="Cambria Math" pitchFamily="34" charset="-120"/>
              </a:rPr>
              <a:t>not stated ≠ false</a:t>
            </a:r>
            <a:endParaRPr lang="en-US" sz="2200" dirty="0"/>
          </a:p>
        </p:txBody>
      </p:sp>
      <p:sp>
        <p:nvSpPr>
          <p:cNvPr id="14" name="Shape 12"/>
          <p:cNvSpPr/>
          <p:nvPr/>
        </p:nvSpPr>
        <p:spPr>
          <a:xfrm>
            <a:off x="6446520" y="4041648"/>
            <a:ext cx="5074920" cy="859536"/>
          </a:xfrm>
          <a:prstGeom prst="roundRect">
            <a:avLst>
              <a:gd name="adj" fmla="val 8511"/>
            </a:avLst>
          </a:prstGeom>
          <a:solidFill>
            <a:srgbClr val="FFE4E6"/>
          </a:solidFill>
          <a:ln w="12700">
            <a:solidFill>
              <a:srgbClr val="FDA4AF"/>
            </a:solidFill>
            <a:prstDash val="solid"/>
          </a:ln>
        </p:spPr>
      </p:sp>
      <p:sp>
        <p:nvSpPr>
          <p:cNvPr id="15" name="Text 13"/>
          <p:cNvSpPr/>
          <p:nvPr/>
        </p:nvSpPr>
        <p:spPr>
          <a:xfrm>
            <a:off x="6629400" y="4178808"/>
            <a:ext cx="4709160" cy="219456"/>
          </a:xfrm>
          <a:prstGeom prst="rect">
            <a:avLst/>
          </a:prstGeom>
          <a:noFill/>
          <a:ln/>
        </p:spPr>
        <p:txBody>
          <a:bodyPr wrap="square" lIns="0" tIns="0" rIns="0" bIns="0" rtlCol="0" anchor="ctr"/>
          <a:lstStyle/>
          <a:p>
            <a:pPr indent="0" marL="0">
              <a:buNone/>
            </a:pPr>
            <a:r>
              <a:rPr lang="en-US" sz="950" b="1" dirty="0">
                <a:solidFill>
                  <a:srgbClr val="C1121F"/>
                </a:solidFill>
              </a:rPr>
              <a:t>STUDENT GOTCHA</a:t>
            </a:r>
            <a:endParaRPr lang="en-US" sz="950" dirty="0"/>
          </a:p>
        </p:txBody>
      </p:sp>
      <p:sp>
        <p:nvSpPr>
          <p:cNvPr id="16" name="Text 14"/>
          <p:cNvSpPr/>
          <p:nvPr/>
        </p:nvSpPr>
        <p:spPr>
          <a:xfrm>
            <a:off x="6629400" y="4453128"/>
            <a:ext cx="4709160" cy="356616"/>
          </a:xfrm>
          <a:prstGeom prst="rect">
            <a:avLst/>
          </a:prstGeom>
          <a:noFill/>
          <a:ln/>
        </p:spPr>
        <p:txBody>
          <a:bodyPr wrap="square" lIns="254" tIns="254" rIns="254" bIns="254" rtlCol="0" anchor="t">
            <a:normAutofit/>
          </a:bodyPr>
          <a:lstStyle/>
          <a:p>
            <a:pPr indent="0" marL="0">
              <a:buNone/>
            </a:pPr>
            <a:r>
              <a:rPr lang="en-US" sz="1250" dirty="0">
                <a:solidFill>
                  <a:srgbClr val="1E293B"/>
                </a:solidFill>
              </a:rPr>
              <a:t>This is the opposite of how many students expect databases to behave.</a:t>
            </a:r>
            <a:endParaRPr lang="en-US" sz="1250" dirty="0"/>
          </a:p>
        </p:txBody>
      </p:sp>
      <p:sp>
        <p:nvSpPr>
          <p:cNvPr id="17" name="Shape 15"/>
          <p:cNvSpPr/>
          <p:nvPr/>
        </p:nvSpPr>
        <p:spPr>
          <a:xfrm>
            <a:off x="6446520" y="5074920"/>
            <a:ext cx="5074920" cy="841248"/>
          </a:xfrm>
          <a:prstGeom prst="roundRect">
            <a:avLst>
              <a:gd name="adj" fmla="val 8696"/>
            </a:avLst>
          </a:prstGeom>
          <a:solidFill>
            <a:srgbClr val="E6FFFA"/>
          </a:solidFill>
          <a:ln w="12700">
            <a:solidFill>
              <a:srgbClr val="2A9D8F"/>
            </a:solidFill>
            <a:prstDash val="solid"/>
          </a:ln>
        </p:spPr>
      </p:sp>
      <p:sp>
        <p:nvSpPr>
          <p:cNvPr id="18" name="Text 16"/>
          <p:cNvSpPr/>
          <p:nvPr/>
        </p:nvSpPr>
        <p:spPr>
          <a:xfrm>
            <a:off x="6629400" y="5212080"/>
            <a:ext cx="4709160" cy="219456"/>
          </a:xfrm>
          <a:prstGeom prst="rect">
            <a:avLst/>
          </a:prstGeom>
          <a:noFill/>
          <a:ln/>
        </p:spPr>
        <p:txBody>
          <a:bodyPr wrap="square" lIns="0" tIns="0" rIns="0" bIns="0" rtlCol="0" anchor="ctr"/>
          <a:lstStyle/>
          <a:p>
            <a:pPr indent="0" marL="0">
              <a:buNone/>
            </a:pPr>
            <a:r>
              <a:rPr lang="en-US" sz="950" b="1" dirty="0">
                <a:solidFill>
                  <a:srgbClr val="007C89"/>
                </a:solidFill>
              </a:rPr>
              <a:t>CLASS CHECK</a:t>
            </a:r>
            <a:endParaRPr lang="en-US" sz="950" dirty="0"/>
          </a:p>
        </p:txBody>
      </p:sp>
      <p:sp>
        <p:nvSpPr>
          <p:cNvPr id="19" name="Text 17"/>
          <p:cNvSpPr/>
          <p:nvPr/>
        </p:nvSpPr>
        <p:spPr>
          <a:xfrm>
            <a:off x="6629400" y="5486400"/>
            <a:ext cx="4709160" cy="338328"/>
          </a:xfrm>
          <a:prstGeom prst="rect">
            <a:avLst/>
          </a:prstGeom>
          <a:noFill/>
          <a:ln/>
        </p:spPr>
        <p:txBody>
          <a:bodyPr wrap="square" lIns="254" tIns="254" rIns="254" bIns="254" rtlCol="0" anchor="t">
            <a:normAutofit/>
          </a:bodyPr>
          <a:lstStyle/>
          <a:p>
            <a:pPr indent="0" marL="0">
              <a:buNone/>
            </a:pPr>
            <a:r>
              <a:rPr lang="en-US" sz="1270" dirty="0">
                <a:solidFill>
                  <a:srgbClr val="1E293B"/>
                </a:solidFill>
              </a:rPr>
              <a:t>Ask: If Richard has John as a brother, could he also have an unnamed brother?</a:t>
            </a:r>
            <a:endParaRPr lang="en-US" sz="127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5088"/>
          </a:solidFill>
          <a:ln w="12700">
            <a:solidFill>
              <a:srgbClr val="005088"/>
            </a:solidFill>
            <a:prstDash val="solid"/>
          </a:ln>
        </p:spPr>
      </p:sp>
      <p:sp>
        <p:nvSpPr>
          <p:cNvPr id="3" name="Shape 1"/>
          <p:cNvSpPr/>
          <p:nvPr/>
        </p:nvSpPr>
        <p:spPr>
          <a:xfrm>
            <a:off x="0" y="6729984"/>
            <a:ext cx="12191695" cy="128016"/>
          </a:xfrm>
          <a:prstGeom prst="rect">
            <a:avLst/>
          </a:prstGeom>
          <a:solidFill>
            <a:srgbClr val="005088"/>
          </a:solidFill>
          <a:ln w="12700">
            <a:solidFill>
              <a:srgbClr val="005088"/>
            </a:solidFill>
            <a:prstDash val="solid"/>
          </a:ln>
        </p:spPr>
      </p:sp>
      <p:sp>
        <p:nvSpPr>
          <p:cNvPr id="4" name="Text 2"/>
          <p:cNvSpPr/>
          <p:nvPr/>
        </p:nvSpPr>
        <p:spPr>
          <a:xfrm>
            <a:off x="502920" y="210312"/>
            <a:ext cx="6858000" cy="219456"/>
          </a:xfrm>
          <a:prstGeom prst="rect">
            <a:avLst/>
          </a:prstGeom>
          <a:noFill/>
          <a:ln/>
        </p:spPr>
        <p:txBody>
          <a:bodyPr wrap="square" lIns="0" tIns="0" rIns="0" bIns="0" rtlCol="0" anchor="ctr"/>
          <a:lstStyle/>
          <a:p>
            <a:pPr indent="0" marL="0">
              <a:buNone/>
            </a:pPr>
            <a:r>
              <a:rPr lang="en-US" sz="950" b="1" dirty="0">
                <a:solidFill>
                  <a:srgbClr val="3D5A80"/>
                </a:solidFill>
                <a:latin typeface="Aptos" pitchFamily="34" charset="0"/>
                <a:ea typeface="Aptos" pitchFamily="34" charset="-122"/>
                <a:cs typeface="Aptos" pitchFamily="34" charset="-120"/>
              </a:rPr>
              <a:t>8.2.8 Database Semantics</a:t>
            </a:r>
            <a:endParaRPr lang="en-US" sz="950" dirty="0"/>
          </a:p>
        </p:txBody>
      </p:sp>
      <p:sp>
        <p:nvSpPr>
          <p:cNvPr id="5" name="Text 3"/>
          <p:cNvSpPr/>
          <p:nvPr/>
        </p:nvSpPr>
        <p:spPr>
          <a:xfrm>
            <a:off x="11018520" y="201168"/>
            <a:ext cx="640080" cy="228600"/>
          </a:xfrm>
          <a:prstGeom prst="rect">
            <a:avLst/>
          </a:prstGeom>
          <a:noFill/>
          <a:ln/>
        </p:spPr>
        <p:txBody>
          <a:bodyPr wrap="square" lIns="0" tIns="0" rIns="0" bIns="0" rtlCol="0" anchor="ctr"/>
          <a:lstStyle/>
          <a:p>
            <a:pPr algn="r" indent="0" marL="0">
              <a:buNone/>
            </a:pPr>
            <a:r>
              <a:rPr lang="en-US" sz="900" b="1" dirty="0">
                <a:solidFill>
                  <a:srgbClr val="3D5A80"/>
                </a:solidFill>
              </a:rPr>
              <a:t>64</a:t>
            </a:r>
            <a:endParaRPr lang="en-US" sz="900" dirty="0"/>
          </a:p>
        </p:txBody>
      </p:sp>
      <p:sp>
        <p:nvSpPr>
          <p:cNvPr id="6" name="Text 4"/>
          <p:cNvSpPr/>
          <p:nvPr/>
        </p:nvSpPr>
        <p:spPr>
          <a:xfrm>
            <a:off x="502920" y="566928"/>
            <a:ext cx="11201400" cy="512064"/>
          </a:xfrm>
          <a:prstGeom prst="rect">
            <a:avLst/>
          </a:prstGeom>
          <a:noFill/>
          <a:ln/>
        </p:spPr>
        <p:txBody>
          <a:bodyPr wrap="square" lIns="0" tIns="0" rIns="0" bIns="0" rtlCol="0" anchor="ctr">
            <a:normAutofit/>
          </a:bodyPr>
          <a:lstStyle/>
          <a:p>
            <a:pPr indent="0" marL="0">
              <a:buNone/>
            </a:pPr>
            <a:r>
              <a:rPr lang="en-US" sz="2650" b="1" dirty="0">
                <a:solidFill>
                  <a:srgbClr val="005088"/>
                </a:solidFill>
                <a:latin typeface="Aptos Display" pitchFamily="34" charset="0"/>
                <a:ea typeface="Aptos Display" pitchFamily="34" charset="-122"/>
                <a:cs typeface="Aptos Display" pitchFamily="34" charset="-120"/>
              </a:rPr>
              <a:t>EXACT TRANSLATION CAN REQUIRE EXTRA SENTENCES</a:t>
            </a:r>
            <a:endParaRPr lang="en-US" sz="2650" dirty="0"/>
          </a:p>
        </p:txBody>
      </p:sp>
      <p:sp>
        <p:nvSpPr>
          <p:cNvPr id="7" name="Shape 5"/>
          <p:cNvSpPr/>
          <p:nvPr/>
        </p:nvSpPr>
        <p:spPr>
          <a:xfrm>
            <a:off x="502920" y="1188720"/>
            <a:ext cx="11109960" cy="0"/>
          </a:xfrm>
          <a:prstGeom prst="line">
            <a:avLst/>
          </a:prstGeom>
          <a:noFill/>
          <a:ln w="12700">
            <a:solidFill>
              <a:srgbClr val="3D5A80"/>
            </a:solidFill>
            <a:prstDash val="solid"/>
          </a:ln>
        </p:spPr>
      </p:sp>
      <p:sp>
        <p:nvSpPr>
          <p:cNvPr id="8" name="Text 6"/>
          <p:cNvSpPr/>
          <p:nvPr/>
        </p:nvSpPr>
        <p:spPr>
          <a:xfrm>
            <a:off x="713232" y="1572768"/>
            <a:ext cx="5440680" cy="4251960"/>
          </a:xfrm>
          <a:prstGeom prst="rect">
            <a:avLst/>
          </a:prstGeom>
          <a:noFill/>
          <a:ln/>
        </p:spPr>
        <p:txBody>
          <a:bodyPr wrap="square" lIns="1016" tIns="1016" rIns="1016" bIns="1016" rtlCol="0" anchor="t">
            <a:normAutofit/>
          </a:bodyPr>
          <a:lstStyle/>
          <a:p>
            <a:pPr indent="0" marL="0">
              <a:buNone/>
            </a:pPr>
            <a:r>
              <a:rPr lang="en-US" sz="1650" dirty="0">
                <a:solidFill>
                  <a:srgbClr val="1E293B"/>
                </a:solidFill>
                <a:latin typeface="Aptos" pitchFamily="34" charset="0"/>
                <a:ea typeface="Aptos" pitchFamily="34" charset="-122"/>
                <a:cs typeface="Aptos" pitchFamily="34" charset="-120"/>
              </a:rPr>
              <a:t>• “John and Geoffrey are Richard’s brothers” is not enough for “exactly two brothers”</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We must state John and Geoffrey are different</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We must rule out any other brother</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Standard semantics requires explicit closure when exactness matters</a:t>
            </a:r>
            <a:endParaRPr lang="en-US" sz="1650" dirty="0"/>
          </a:p>
        </p:txBody>
      </p:sp>
      <p:sp>
        <p:nvSpPr>
          <p:cNvPr id="9" name="Shape 7"/>
          <p:cNvSpPr/>
          <p:nvPr/>
        </p:nvSpPr>
        <p:spPr>
          <a:xfrm>
            <a:off x="6446520" y="1572768"/>
            <a:ext cx="5074920" cy="1234440"/>
          </a:xfrm>
          <a:prstGeom prst="roundRect">
            <a:avLst>
              <a:gd name="adj" fmla="val 5926"/>
            </a:avLst>
          </a:prstGeom>
          <a:solidFill>
            <a:srgbClr val="FFF6D9"/>
          </a:solidFill>
          <a:ln w="12700">
            <a:solidFill>
              <a:srgbClr val="F4A261"/>
            </a:solidFill>
            <a:prstDash val="solid"/>
          </a:ln>
        </p:spPr>
      </p:sp>
      <p:sp>
        <p:nvSpPr>
          <p:cNvPr id="10" name="Text 8"/>
          <p:cNvSpPr/>
          <p:nvPr/>
        </p:nvSpPr>
        <p:spPr>
          <a:xfrm>
            <a:off x="6629400" y="1709928"/>
            <a:ext cx="4709160" cy="219456"/>
          </a:xfrm>
          <a:prstGeom prst="rect">
            <a:avLst/>
          </a:prstGeom>
          <a:noFill/>
          <a:ln/>
        </p:spPr>
        <p:txBody>
          <a:bodyPr wrap="square" lIns="0" tIns="0" rIns="0" bIns="0" rtlCol="0" anchor="ctr"/>
          <a:lstStyle/>
          <a:p>
            <a:pPr indent="0" marL="0">
              <a:buNone/>
            </a:pPr>
            <a:r>
              <a:rPr lang="en-US" sz="950" b="1" dirty="0">
                <a:solidFill>
                  <a:srgbClr val="B0005D"/>
                </a:solidFill>
              </a:rPr>
              <a:t>ANALOGY</a:t>
            </a:r>
            <a:endParaRPr lang="en-US" sz="950" dirty="0"/>
          </a:p>
        </p:txBody>
      </p:sp>
      <p:sp>
        <p:nvSpPr>
          <p:cNvPr id="11" name="Text 9"/>
          <p:cNvSpPr/>
          <p:nvPr/>
        </p:nvSpPr>
        <p:spPr>
          <a:xfrm>
            <a:off x="6629400" y="1984248"/>
            <a:ext cx="4709160" cy="731520"/>
          </a:xfrm>
          <a:prstGeom prst="rect">
            <a:avLst/>
          </a:prstGeom>
          <a:noFill/>
          <a:ln/>
        </p:spPr>
        <p:txBody>
          <a:bodyPr wrap="square" lIns="254" tIns="254" rIns="254" bIns="254" rtlCol="0" anchor="t">
            <a:normAutofit/>
          </a:bodyPr>
          <a:lstStyle/>
          <a:p>
            <a:pPr indent="0" marL="0">
              <a:buNone/>
            </a:pPr>
            <a:r>
              <a:rPr lang="en-US" sz="1330" dirty="0">
                <a:solidFill>
                  <a:srgbClr val="1E293B"/>
                </a:solidFill>
              </a:rPr>
              <a:t>A guest list that says Ana and Ben are invited does not automatically say nobody else is invited.</a:t>
            </a:r>
            <a:endParaRPr lang="en-US" sz="1330" dirty="0"/>
          </a:p>
        </p:txBody>
      </p:sp>
      <p:sp>
        <p:nvSpPr>
          <p:cNvPr id="12" name="Shape 10"/>
          <p:cNvSpPr/>
          <p:nvPr/>
        </p:nvSpPr>
        <p:spPr>
          <a:xfrm>
            <a:off x="6446520" y="2999232"/>
            <a:ext cx="5074920" cy="841248"/>
          </a:xfrm>
          <a:prstGeom prst="roundRect">
            <a:avLst>
              <a:gd name="adj" fmla="val 8696"/>
            </a:avLst>
          </a:prstGeom>
          <a:solidFill>
            <a:srgbClr val="FFFFFF">
              <a:alpha val="97000"/>
            </a:srgbClr>
          </a:solidFill>
          <a:ln w="12700">
            <a:solidFill>
              <a:srgbClr val="007C89"/>
            </a:solidFill>
            <a:prstDash val="solid"/>
          </a:ln>
        </p:spPr>
      </p:sp>
      <p:sp>
        <p:nvSpPr>
          <p:cNvPr id="13" name="Text 11"/>
          <p:cNvSpPr/>
          <p:nvPr/>
        </p:nvSpPr>
        <p:spPr>
          <a:xfrm>
            <a:off x="6611112" y="3127248"/>
            <a:ext cx="4745736" cy="658368"/>
          </a:xfrm>
          <a:prstGeom prst="rect">
            <a:avLst/>
          </a:prstGeom>
          <a:noFill/>
          <a:ln/>
        </p:spPr>
        <p:txBody>
          <a:bodyPr wrap="square" lIns="0" tIns="0" rIns="0" bIns="0" rtlCol="0" anchor="ctr">
            <a:normAutofit/>
          </a:bodyPr>
          <a:lstStyle/>
          <a:p>
            <a:pPr algn="ctr" indent="0" marL="0">
              <a:buNone/>
            </a:pPr>
            <a:r>
              <a:rPr lang="en-US" sz="1450" b="1" dirty="0">
                <a:solidFill>
                  <a:srgbClr val="005088"/>
                </a:solidFill>
                <a:latin typeface="Cambria Math" pitchFamily="34" charset="0"/>
                <a:ea typeface="Cambria Math" pitchFamily="34" charset="-122"/>
                <a:cs typeface="Cambria Math" pitchFamily="34" charset="-120"/>
              </a:rPr>
              <a:t>∀x Brother(x, Richard) ⇒ (x = John ∨ x = Geoffrey)</a:t>
            </a:r>
            <a:endParaRPr lang="en-US" sz="1450" dirty="0"/>
          </a:p>
        </p:txBody>
      </p:sp>
      <p:sp>
        <p:nvSpPr>
          <p:cNvPr id="14" name="Shape 12"/>
          <p:cNvSpPr/>
          <p:nvPr/>
        </p:nvSpPr>
        <p:spPr>
          <a:xfrm>
            <a:off x="6446520" y="4041648"/>
            <a:ext cx="5074920" cy="859536"/>
          </a:xfrm>
          <a:prstGeom prst="roundRect">
            <a:avLst>
              <a:gd name="adj" fmla="val 8511"/>
            </a:avLst>
          </a:prstGeom>
          <a:solidFill>
            <a:srgbClr val="FFE4E6"/>
          </a:solidFill>
          <a:ln w="12700">
            <a:solidFill>
              <a:srgbClr val="FDA4AF"/>
            </a:solidFill>
            <a:prstDash val="solid"/>
          </a:ln>
        </p:spPr>
      </p:sp>
      <p:sp>
        <p:nvSpPr>
          <p:cNvPr id="15" name="Text 13"/>
          <p:cNvSpPr/>
          <p:nvPr/>
        </p:nvSpPr>
        <p:spPr>
          <a:xfrm>
            <a:off x="6629400" y="4178808"/>
            <a:ext cx="4709160" cy="219456"/>
          </a:xfrm>
          <a:prstGeom prst="rect">
            <a:avLst/>
          </a:prstGeom>
          <a:noFill/>
          <a:ln/>
        </p:spPr>
        <p:txBody>
          <a:bodyPr wrap="square" lIns="0" tIns="0" rIns="0" bIns="0" rtlCol="0" anchor="ctr"/>
          <a:lstStyle/>
          <a:p>
            <a:pPr indent="0" marL="0">
              <a:buNone/>
            </a:pPr>
            <a:r>
              <a:rPr lang="en-US" sz="950" b="1" dirty="0">
                <a:solidFill>
                  <a:srgbClr val="C1121F"/>
                </a:solidFill>
              </a:rPr>
              <a:t>STUDENT GOTCHA</a:t>
            </a:r>
            <a:endParaRPr lang="en-US" sz="950" dirty="0"/>
          </a:p>
        </p:txBody>
      </p:sp>
      <p:sp>
        <p:nvSpPr>
          <p:cNvPr id="16" name="Text 14"/>
          <p:cNvSpPr/>
          <p:nvPr/>
        </p:nvSpPr>
        <p:spPr>
          <a:xfrm>
            <a:off x="6629400" y="4453128"/>
            <a:ext cx="4709160" cy="356616"/>
          </a:xfrm>
          <a:prstGeom prst="rect">
            <a:avLst/>
          </a:prstGeom>
          <a:noFill/>
          <a:ln/>
        </p:spPr>
        <p:txBody>
          <a:bodyPr wrap="square" lIns="254" tIns="254" rIns="254" bIns="254" rtlCol="0" anchor="t">
            <a:normAutofit/>
          </a:bodyPr>
          <a:lstStyle/>
          <a:p>
            <a:pPr indent="0" marL="0">
              <a:buNone/>
            </a:pPr>
            <a:r>
              <a:rPr lang="en-US" sz="1250" dirty="0">
                <a:solidFill>
                  <a:srgbClr val="1E293B"/>
                </a:solidFill>
              </a:rPr>
              <a:t>English often implies exactness from context. Logic needs that exactness written down.</a:t>
            </a:r>
            <a:endParaRPr lang="en-US" sz="1250" dirty="0"/>
          </a:p>
        </p:txBody>
      </p:sp>
      <p:sp>
        <p:nvSpPr>
          <p:cNvPr id="17" name="Shape 15"/>
          <p:cNvSpPr/>
          <p:nvPr/>
        </p:nvSpPr>
        <p:spPr>
          <a:xfrm>
            <a:off x="6446520" y="5074920"/>
            <a:ext cx="5074920" cy="841248"/>
          </a:xfrm>
          <a:prstGeom prst="roundRect">
            <a:avLst>
              <a:gd name="adj" fmla="val 8696"/>
            </a:avLst>
          </a:prstGeom>
          <a:solidFill>
            <a:srgbClr val="E6FFFA"/>
          </a:solidFill>
          <a:ln w="12700">
            <a:solidFill>
              <a:srgbClr val="2A9D8F"/>
            </a:solidFill>
            <a:prstDash val="solid"/>
          </a:ln>
        </p:spPr>
      </p:sp>
      <p:sp>
        <p:nvSpPr>
          <p:cNvPr id="18" name="Text 16"/>
          <p:cNvSpPr/>
          <p:nvPr/>
        </p:nvSpPr>
        <p:spPr>
          <a:xfrm>
            <a:off x="6629400" y="5212080"/>
            <a:ext cx="4709160" cy="219456"/>
          </a:xfrm>
          <a:prstGeom prst="rect">
            <a:avLst/>
          </a:prstGeom>
          <a:noFill/>
          <a:ln/>
        </p:spPr>
        <p:txBody>
          <a:bodyPr wrap="square" lIns="0" tIns="0" rIns="0" bIns="0" rtlCol="0" anchor="ctr"/>
          <a:lstStyle/>
          <a:p>
            <a:pPr indent="0" marL="0">
              <a:buNone/>
            </a:pPr>
            <a:r>
              <a:rPr lang="en-US" sz="950" b="1" dirty="0">
                <a:solidFill>
                  <a:srgbClr val="007C89"/>
                </a:solidFill>
              </a:rPr>
              <a:t>CLASS CHECK</a:t>
            </a:r>
            <a:endParaRPr lang="en-US" sz="950" dirty="0"/>
          </a:p>
        </p:txBody>
      </p:sp>
      <p:sp>
        <p:nvSpPr>
          <p:cNvPr id="19" name="Text 17"/>
          <p:cNvSpPr/>
          <p:nvPr/>
        </p:nvSpPr>
        <p:spPr>
          <a:xfrm>
            <a:off x="6629400" y="5486400"/>
            <a:ext cx="4709160" cy="338328"/>
          </a:xfrm>
          <a:prstGeom prst="rect">
            <a:avLst/>
          </a:prstGeom>
          <a:noFill/>
          <a:ln/>
        </p:spPr>
        <p:txBody>
          <a:bodyPr wrap="square" lIns="254" tIns="254" rIns="254" bIns="254" rtlCol="0" anchor="t">
            <a:normAutofit/>
          </a:bodyPr>
          <a:lstStyle/>
          <a:p>
            <a:pPr indent="0" marL="0">
              <a:buNone/>
            </a:pPr>
            <a:r>
              <a:rPr lang="en-US" sz="1270" dirty="0">
                <a:solidFill>
                  <a:srgbClr val="1E293B"/>
                </a:solidFill>
              </a:rPr>
              <a:t>Ask what John ≠ Geoffrey adds to the translation.</a:t>
            </a:r>
            <a:endParaRPr lang="en-US" sz="127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5088"/>
          </a:solidFill>
          <a:ln w="12700">
            <a:solidFill>
              <a:srgbClr val="005088"/>
            </a:solidFill>
            <a:prstDash val="solid"/>
          </a:ln>
        </p:spPr>
      </p:sp>
      <p:sp>
        <p:nvSpPr>
          <p:cNvPr id="3" name="Shape 1"/>
          <p:cNvSpPr/>
          <p:nvPr/>
        </p:nvSpPr>
        <p:spPr>
          <a:xfrm>
            <a:off x="0" y="6729984"/>
            <a:ext cx="12191695" cy="128016"/>
          </a:xfrm>
          <a:prstGeom prst="rect">
            <a:avLst/>
          </a:prstGeom>
          <a:solidFill>
            <a:srgbClr val="005088"/>
          </a:solidFill>
          <a:ln w="12700">
            <a:solidFill>
              <a:srgbClr val="005088"/>
            </a:solidFill>
            <a:prstDash val="solid"/>
          </a:ln>
        </p:spPr>
      </p:sp>
      <p:sp>
        <p:nvSpPr>
          <p:cNvPr id="4" name="Text 2"/>
          <p:cNvSpPr/>
          <p:nvPr/>
        </p:nvSpPr>
        <p:spPr>
          <a:xfrm>
            <a:off x="502920" y="210312"/>
            <a:ext cx="6858000" cy="219456"/>
          </a:xfrm>
          <a:prstGeom prst="rect">
            <a:avLst/>
          </a:prstGeom>
          <a:noFill/>
          <a:ln/>
        </p:spPr>
        <p:txBody>
          <a:bodyPr wrap="square" lIns="0" tIns="0" rIns="0" bIns="0" rtlCol="0" anchor="ctr"/>
          <a:lstStyle/>
          <a:p>
            <a:pPr indent="0" marL="0">
              <a:buNone/>
            </a:pPr>
            <a:r>
              <a:rPr lang="en-US" sz="950" b="1" dirty="0">
                <a:solidFill>
                  <a:srgbClr val="3D5A80"/>
                </a:solidFill>
                <a:latin typeface="Aptos" pitchFamily="34" charset="0"/>
                <a:ea typeface="Aptos" pitchFamily="34" charset="-122"/>
                <a:cs typeface="Aptos" pitchFamily="34" charset="-120"/>
              </a:rPr>
              <a:t>8.2.8 Database Semantics</a:t>
            </a:r>
            <a:endParaRPr lang="en-US" sz="950" dirty="0"/>
          </a:p>
        </p:txBody>
      </p:sp>
      <p:sp>
        <p:nvSpPr>
          <p:cNvPr id="5" name="Text 3"/>
          <p:cNvSpPr/>
          <p:nvPr/>
        </p:nvSpPr>
        <p:spPr>
          <a:xfrm>
            <a:off x="11018520" y="201168"/>
            <a:ext cx="640080" cy="228600"/>
          </a:xfrm>
          <a:prstGeom prst="rect">
            <a:avLst/>
          </a:prstGeom>
          <a:noFill/>
          <a:ln/>
        </p:spPr>
        <p:txBody>
          <a:bodyPr wrap="square" lIns="0" tIns="0" rIns="0" bIns="0" rtlCol="0" anchor="ctr"/>
          <a:lstStyle/>
          <a:p>
            <a:pPr algn="r" indent="0" marL="0">
              <a:buNone/>
            </a:pPr>
            <a:r>
              <a:rPr lang="en-US" sz="900" b="1" dirty="0">
                <a:solidFill>
                  <a:srgbClr val="3D5A80"/>
                </a:solidFill>
              </a:rPr>
              <a:t>65</a:t>
            </a:r>
            <a:endParaRPr lang="en-US" sz="900" dirty="0"/>
          </a:p>
        </p:txBody>
      </p:sp>
      <p:sp>
        <p:nvSpPr>
          <p:cNvPr id="6" name="Text 4"/>
          <p:cNvSpPr/>
          <p:nvPr/>
        </p:nvSpPr>
        <p:spPr>
          <a:xfrm>
            <a:off x="502920" y="566928"/>
            <a:ext cx="11201400" cy="512064"/>
          </a:xfrm>
          <a:prstGeom prst="rect">
            <a:avLst/>
          </a:prstGeom>
          <a:noFill/>
          <a:ln/>
        </p:spPr>
        <p:txBody>
          <a:bodyPr wrap="square" lIns="0" tIns="0" rIns="0" bIns="0" rtlCol="0" anchor="ctr">
            <a:normAutofit/>
          </a:bodyPr>
          <a:lstStyle/>
          <a:p>
            <a:pPr indent="0" marL="0">
              <a:buNone/>
            </a:pPr>
            <a:r>
              <a:rPr lang="en-US" sz="2650" b="1" dirty="0">
                <a:solidFill>
                  <a:srgbClr val="005088"/>
                </a:solidFill>
                <a:latin typeface="Aptos Display" pitchFamily="34" charset="0"/>
                <a:ea typeface="Aptos Display" pitchFamily="34" charset="-122"/>
                <a:cs typeface="Aptos Display" pitchFamily="34" charset="-120"/>
              </a:rPr>
              <a:t>DATABASE SEMANTICS ADDS THREE ASSUMPTIONS</a:t>
            </a:r>
            <a:endParaRPr lang="en-US" sz="2650" dirty="0"/>
          </a:p>
        </p:txBody>
      </p:sp>
      <p:sp>
        <p:nvSpPr>
          <p:cNvPr id="7" name="Shape 5"/>
          <p:cNvSpPr/>
          <p:nvPr/>
        </p:nvSpPr>
        <p:spPr>
          <a:xfrm>
            <a:off x="502920" y="1188720"/>
            <a:ext cx="11109960" cy="0"/>
          </a:xfrm>
          <a:prstGeom prst="line">
            <a:avLst/>
          </a:prstGeom>
          <a:noFill/>
          <a:ln w="12700">
            <a:solidFill>
              <a:srgbClr val="3D5A80"/>
            </a:solidFill>
            <a:prstDash val="solid"/>
          </a:ln>
        </p:spPr>
      </p:sp>
      <p:sp>
        <p:nvSpPr>
          <p:cNvPr id="8" name="Text 6"/>
          <p:cNvSpPr/>
          <p:nvPr/>
        </p:nvSpPr>
        <p:spPr>
          <a:xfrm>
            <a:off x="713232" y="1572768"/>
            <a:ext cx="5440680" cy="4251960"/>
          </a:xfrm>
          <a:prstGeom prst="rect">
            <a:avLst/>
          </a:prstGeom>
          <a:noFill/>
          <a:ln/>
        </p:spPr>
        <p:txBody>
          <a:bodyPr wrap="square" lIns="1016" tIns="1016" rIns="1016" bIns="1016" rtlCol="0" anchor="t">
            <a:normAutofit/>
          </a:bodyPr>
          <a:lstStyle/>
          <a:p>
            <a:pPr indent="0" marL="0">
              <a:buNone/>
            </a:pPr>
            <a:r>
              <a:rPr lang="en-US" sz="1650" dirty="0">
                <a:solidFill>
                  <a:srgbClr val="1E293B"/>
                </a:solidFill>
                <a:latin typeface="Aptos" pitchFamily="34" charset="0"/>
                <a:ea typeface="Aptos" pitchFamily="34" charset="-122"/>
                <a:cs typeface="Aptos" pitchFamily="34" charset="-120"/>
              </a:rPr>
              <a:t>• Unique names: different constants name different objects</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Closed world: unstated atomic facts are false</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Domain closure: only named objects exist</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These assumptions make database-style answers concise</a:t>
            </a:r>
            <a:endParaRPr lang="en-US" sz="1650" dirty="0"/>
          </a:p>
        </p:txBody>
      </p:sp>
      <p:sp>
        <p:nvSpPr>
          <p:cNvPr id="9" name="Shape 7"/>
          <p:cNvSpPr/>
          <p:nvPr/>
        </p:nvSpPr>
        <p:spPr>
          <a:xfrm>
            <a:off x="6446520" y="1572768"/>
            <a:ext cx="5074920" cy="1234440"/>
          </a:xfrm>
          <a:prstGeom prst="roundRect">
            <a:avLst>
              <a:gd name="adj" fmla="val 5926"/>
            </a:avLst>
          </a:prstGeom>
          <a:solidFill>
            <a:srgbClr val="FFF6D9"/>
          </a:solidFill>
          <a:ln w="12700">
            <a:solidFill>
              <a:srgbClr val="F4A261"/>
            </a:solidFill>
            <a:prstDash val="solid"/>
          </a:ln>
        </p:spPr>
      </p:sp>
      <p:sp>
        <p:nvSpPr>
          <p:cNvPr id="10" name="Text 8"/>
          <p:cNvSpPr/>
          <p:nvPr/>
        </p:nvSpPr>
        <p:spPr>
          <a:xfrm>
            <a:off x="6629400" y="1709928"/>
            <a:ext cx="4709160" cy="219456"/>
          </a:xfrm>
          <a:prstGeom prst="rect">
            <a:avLst/>
          </a:prstGeom>
          <a:noFill/>
          <a:ln/>
        </p:spPr>
        <p:txBody>
          <a:bodyPr wrap="square" lIns="0" tIns="0" rIns="0" bIns="0" rtlCol="0" anchor="ctr"/>
          <a:lstStyle/>
          <a:p>
            <a:pPr indent="0" marL="0">
              <a:buNone/>
            </a:pPr>
            <a:r>
              <a:rPr lang="en-US" sz="950" b="1" dirty="0">
                <a:solidFill>
                  <a:srgbClr val="B0005D"/>
                </a:solidFill>
              </a:rPr>
              <a:t>ANALOGY</a:t>
            </a:r>
            <a:endParaRPr lang="en-US" sz="950" dirty="0"/>
          </a:p>
        </p:txBody>
      </p:sp>
      <p:sp>
        <p:nvSpPr>
          <p:cNvPr id="11" name="Text 9"/>
          <p:cNvSpPr/>
          <p:nvPr/>
        </p:nvSpPr>
        <p:spPr>
          <a:xfrm>
            <a:off x="6629400" y="1984248"/>
            <a:ext cx="4709160" cy="731520"/>
          </a:xfrm>
          <a:prstGeom prst="rect">
            <a:avLst/>
          </a:prstGeom>
          <a:noFill/>
          <a:ln/>
        </p:spPr>
        <p:txBody>
          <a:bodyPr wrap="square" lIns="254" tIns="254" rIns="254" bIns="254" rtlCol="0" anchor="t">
            <a:normAutofit/>
          </a:bodyPr>
          <a:lstStyle/>
          <a:p>
            <a:pPr indent="0" marL="0">
              <a:buNone/>
            </a:pPr>
            <a:r>
              <a:rPr lang="en-US" sz="1330" dirty="0">
                <a:solidFill>
                  <a:srgbClr val="1E293B"/>
                </a:solidFill>
              </a:rPr>
              <a:t>A final class roster treats each printed name as a distinct student and treats missing names as not enrolled.</a:t>
            </a:r>
            <a:endParaRPr lang="en-US" sz="1330" dirty="0"/>
          </a:p>
        </p:txBody>
      </p:sp>
      <p:sp>
        <p:nvSpPr>
          <p:cNvPr id="12" name="Shape 10"/>
          <p:cNvSpPr/>
          <p:nvPr/>
        </p:nvSpPr>
        <p:spPr>
          <a:xfrm>
            <a:off x="6446520" y="2999232"/>
            <a:ext cx="5074920" cy="841248"/>
          </a:xfrm>
          <a:prstGeom prst="roundRect">
            <a:avLst>
              <a:gd name="adj" fmla="val 8696"/>
            </a:avLst>
          </a:prstGeom>
          <a:solidFill>
            <a:srgbClr val="FFFFFF">
              <a:alpha val="97000"/>
            </a:srgbClr>
          </a:solidFill>
          <a:ln w="12700">
            <a:solidFill>
              <a:srgbClr val="007C89"/>
            </a:solidFill>
            <a:prstDash val="solid"/>
          </a:ln>
        </p:spPr>
      </p:sp>
      <p:sp>
        <p:nvSpPr>
          <p:cNvPr id="13" name="Text 11"/>
          <p:cNvSpPr/>
          <p:nvPr/>
        </p:nvSpPr>
        <p:spPr>
          <a:xfrm>
            <a:off x="6611112" y="3127248"/>
            <a:ext cx="4745736" cy="658368"/>
          </a:xfrm>
          <a:prstGeom prst="rect">
            <a:avLst/>
          </a:prstGeom>
          <a:noFill/>
          <a:ln/>
        </p:spPr>
        <p:txBody>
          <a:bodyPr wrap="square" lIns="0" tIns="0" rIns="0" bIns="0" rtlCol="0" anchor="ctr">
            <a:normAutofit/>
          </a:bodyPr>
          <a:lstStyle/>
          <a:p>
            <a:pPr algn="ctr" indent="0" marL="0">
              <a:buNone/>
            </a:pPr>
            <a:r>
              <a:rPr lang="en-US" sz="1800" b="1" dirty="0">
                <a:solidFill>
                  <a:srgbClr val="005088"/>
                </a:solidFill>
                <a:latin typeface="Cambria Math" pitchFamily="34" charset="0"/>
                <a:ea typeface="Cambria Math" pitchFamily="34" charset="-122"/>
                <a:cs typeface="Cambria Math" pitchFamily="34" charset="-120"/>
              </a:rPr>
              <a:t>complete table → stronger assumptions</a:t>
            </a:r>
            <a:endParaRPr lang="en-US" sz="1800" dirty="0"/>
          </a:p>
        </p:txBody>
      </p:sp>
      <p:sp>
        <p:nvSpPr>
          <p:cNvPr id="14" name="Shape 12"/>
          <p:cNvSpPr/>
          <p:nvPr/>
        </p:nvSpPr>
        <p:spPr>
          <a:xfrm>
            <a:off x="6446520" y="4041648"/>
            <a:ext cx="5074920" cy="859536"/>
          </a:xfrm>
          <a:prstGeom prst="roundRect">
            <a:avLst>
              <a:gd name="adj" fmla="val 8511"/>
            </a:avLst>
          </a:prstGeom>
          <a:solidFill>
            <a:srgbClr val="FFE4E6"/>
          </a:solidFill>
          <a:ln w="12700">
            <a:solidFill>
              <a:srgbClr val="FDA4AF"/>
            </a:solidFill>
            <a:prstDash val="solid"/>
          </a:ln>
        </p:spPr>
      </p:sp>
      <p:sp>
        <p:nvSpPr>
          <p:cNvPr id="15" name="Text 13"/>
          <p:cNvSpPr/>
          <p:nvPr/>
        </p:nvSpPr>
        <p:spPr>
          <a:xfrm>
            <a:off x="6629400" y="4178808"/>
            <a:ext cx="4709160" cy="219456"/>
          </a:xfrm>
          <a:prstGeom prst="rect">
            <a:avLst/>
          </a:prstGeom>
          <a:noFill/>
          <a:ln/>
        </p:spPr>
        <p:txBody>
          <a:bodyPr wrap="square" lIns="0" tIns="0" rIns="0" bIns="0" rtlCol="0" anchor="ctr"/>
          <a:lstStyle/>
          <a:p>
            <a:pPr indent="0" marL="0">
              <a:buNone/>
            </a:pPr>
            <a:r>
              <a:rPr lang="en-US" sz="950" b="1" dirty="0">
                <a:solidFill>
                  <a:srgbClr val="C1121F"/>
                </a:solidFill>
              </a:rPr>
              <a:t>STUDENT GOTCHA</a:t>
            </a:r>
            <a:endParaRPr lang="en-US" sz="950" dirty="0"/>
          </a:p>
        </p:txBody>
      </p:sp>
      <p:sp>
        <p:nvSpPr>
          <p:cNvPr id="16" name="Text 14"/>
          <p:cNvSpPr/>
          <p:nvPr/>
        </p:nvSpPr>
        <p:spPr>
          <a:xfrm>
            <a:off x="6629400" y="4453128"/>
            <a:ext cx="4709160" cy="356616"/>
          </a:xfrm>
          <a:prstGeom prst="rect">
            <a:avLst/>
          </a:prstGeom>
          <a:noFill/>
          <a:ln/>
        </p:spPr>
        <p:txBody>
          <a:bodyPr wrap="square" lIns="254" tIns="254" rIns="254" bIns="254" rtlCol="0" anchor="t">
            <a:normAutofit/>
          </a:bodyPr>
          <a:lstStyle/>
          <a:p>
            <a:pPr indent="0" marL="0">
              <a:buNone/>
            </a:pPr>
            <a:r>
              <a:rPr lang="en-US" sz="1250" dirty="0">
                <a:solidFill>
                  <a:srgbClr val="1E293B"/>
                </a:solidFill>
              </a:rPr>
              <a:t>These assumptions are useful only when the table is intended to be complete.</a:t>
            </a:r>
            <a:endParaRPr lang="en-US" sz="1250" dirty="0"/>
          </a:p>
        </p:txBody>
      </p:sp>
      <p:sp>
        <p:nvSpPr>
          <p:cNvPr id="17" name="Shape 15"/>
          <p:cNvSpPr/>
          <p:nvPr/>
        </p:nvSpPr>
        <p:spPr>
          <a:xfrm>
            <a:off x="6446520" y="5074920"/>
            <a:ext cx="5074920" cy="841248"/>
          </a:xfrm>
          <a:prstGeom prst="roundRect">
            <a:avLst>
              <a:gd name="adj" fmla="val 8696"/>
            </a:avLst>
          </a:prstGeom>
          <a:solidFill>
            <a:srgbClr val="E6FFFA"/>
          </a:solidFill>
          <a:ln w="12700">
            <a:solidFill>
              <a:srgbClr val="2A9D8F"/>
            </a:solidFill>
            <a:prstDash val="solid"/>
          </a:ln>
        </p:spPr>
      </p:sp>
      <p:sp>
        <p:nvSpPr>
          <p:cNvPr id="18" name="Text 16"/>
          <p:cNvSpPr/>
          <p:nvPr/>
        </p:nvSpPr>
        <p:spPr>
          <a:xfrm>
            <a:off x="6629400" y="5212080"/>
            <a:ext cx="4709160" cy="219456"/>
          </a:xfrm>
          <a:prstGeom prst="rect">
            <a:avLst/>
          </a:prstGeom>
          <a:noFill/>
          <a:ln/>
        </p:spPr>
        <p:txBody>
          <a:bodyPr wrap="square" lIns="0" tIns="0" rIns="0" bIns="0" rtlCol="0" anchor="ctr"/>
          <a:lstStyle/>
          <a:p>
            <a:pPr indent="0" marL="0">
              <a:buNone/>
            </a:pPr>
            <a:r>
              <a:rPr lang="en-US" sz="950" b="1" dirty="0">
                <a:solidFill>
                  <a:srgbClr val="007C89"/>
                </a:solidFill>
              </a:rPr>
              <a:t>CLASS CHECK</a:t>
            </a:r>
            <a:endParaRPr lang="en-US" sz="950" dirty="0"/>
          </a:p>
        </p:txBody>
      </p:sp>
      <p:sp>
        <p:nvSpPr>
          <p:cNvPr id="19" name="Text 17"/>
          <p:cNvSpPr/>
          <p:nvPr/>
        </p:nvSpPr>
        <p:spPr>
          <a:xfrm>
            <a:off x="6629400" y="5486400"/>
            <a:ext cx="4709160" cy="338328"/>
          </a:xfrm>
          <a:prstGeom prst="rect">
            <a:avLst/>
          </a:prstGeom>
          <a:noFill/>
          <a:ln/>
        </p:spPr>
        <p:txBody>
          <a:bodyPr wrap="square" lIns="254" tIns="254" rIns="254" bIns="254" rtlCol="0" anchor="t">
            <a:normAutofit/>
          </a:bodyPr>
          <a:lstStyle/>
          <a:p>
            <a:pPr indent="0" marL="0">
              <a:buNone/>
            </a:pPr>
            <a:r>
              <a:rPr lang="en-US" sz="1270" dirty="0">
                <a:solidFill>
                  <a:srgbClr val="1E293B"/>
                </a:solidFill>
              </a:rPr>
              <a:t>Ask: Which assumption says there are no unnamed objects?</a:t>
            </a:r>
            <a:endParaRPr lang="en-US" sz="127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5088"/>
          </a:solidFill>
          <a:ln w="12700">
            <a:solidFill>
              <a:srgbClr val="005088"/>
            </a:solidFill>
            <a:prstDash val="solid"/>
          </a:ln>
        </p:spPr>
      </p:sp>
      <p:sp>
        <p:nvSpPr>
          <p:cNvPr id="3" name="Shape 1"/>
          <p:cNvSpPr/>
          <p:nvPr/>
        </p:nvSpPr>
        <p:spPr>
          <a:xfrm>
            <a:off x="0" y="6729984"/>
            <a:ext cx="12191695" cy="128016"/>
          </a:xfrm>
          <a:prstGeom prst="rect">
            <a:avLst/>
          </a:prstGeom>
          <a:solidFill>
            <a:srgbClr val="005088"/>
          </a:solidFill>
          <a:ln w="12700">
            <a:solidFill>
              <a:srgbClr val="005088"/>
            </a:solidFill>
            <a:prstDash val="solid"/>
          </a:ln>
        </p:spPr>
      </p:sp>
      <p:sp>
        <p:nvSpPr>
          <p:cNvPr id="4" name="Text 2"/>
          <p:cNvSpPr/>
          <p:nvPr/>
        </p:nvSpPr>
        <p:spPr>
          <a:xfrm>
            <a:off x="502920" y="210312"/>
            <a:ext cx="6858000" cy="219456"/>
          </a:xfrm>
          <a:prstGeom prst="rect">
            <a:avLst/>
          </a:prstGeom>
          <a:noFill/>
          <a:ln/>
        </p:spPr>
        <p:txBody>
          <a:bodyPr wrap="square" lIns="0" tIns="0" rIns="0" bIns="0" rtlCol="0" anchor="ctr"/>
          <a:lstStyle/>
          <a:p>
            <a:pPr indent="0" marL="0">
              <a:buNone/>
            </a:pPr>
            <a:r>
              <a:rPr lang="en-US" sz="950" b="1" dirty="0">
                <a:solidFill>
                  <a:srgbClr val="3D5A80"/>
                </a:solidFill>
                <a:latin typeface="Aptos" pitchFamily="34" charset="0"/>
                <a:ea typeface="Aptos" pitchFamily="34" charset="-122"/>
                <a:cs typeface="Aptos" pitchFamily="34" charset="-120"/>
              </a:rPr>
              <a:t>8.2.8 Database Semantics</a:t>
            </a:r>
            <a:endParaRPr lang="en-US" sz="950" dirty="0"/>
          </a:p>
        </p:txBody>
      </p:sp>
      <p:sp>
        <p:nvSpPr>
          <p:cNvPr id="5" name="Text 3"/>
          <p:cNvSpPr/>
          <p:nvPr/>
        </p:nvSpPr>
        <p:spPr>
          <a:xfrm>
            <a:off x="11018520" y="201168"/>
            <a:ext cx="640080" cy="228600"/>
          </a:xfrm>
          <a:prstGeom prst="rect">
            <a:avLst/>
          </a:prstGeom>
          <a:noFill/>
          <a:ln/>
        </p:spPr>
        <p:txBody>
          <a:bodyPr wrap="square" lIns="0" tIns="0" rIns="0" bIns="0" rtlCol="0" anchor="ctr"/>
          <a:lstStyle/>
          <a:p>
            <a:pPr algn="r" indent="0" marL="0">
              <a:buNone/>
            </a:pPr>
            <a:r>
              <a:rPr lang="en-US" sz="900" b="1" dirty="0">
                <a:solidFill>
                  <a:srgbClr val="3D5A80"/>
                </a:solidFill>
              </a:rPr>
              <a:t>66</a:t>
            </a:r>
            <a:endParaRPr lang="en-US" sz="900" dirty="0"/>
          </a:p>
        </p:txBody>
      </p:sp>
      <p:sp>
        <p:nvSpPr>
          <p:cNvPr id="6" name="Text 4"/>
          <p:cNvSpPr/>
          <p:nvPr/>
        </p:nvSpPr>
        <p:spPr>
          <a:xfrm>
            <a:off x="502920" y="566928"/>
            <a:ext cx="11201400" cy="512064"/>
          </a:xfrm>
          <a:prstGeom prst="rect">
            <a:avLst/>
          </a:prstGeom>
          <a:noFill/>
          <a:ln/>
        </p:spPr>
        <p:txBody>
          <a:bodyPr wrap="square" lIns="0" tIns="0" rIns="0" bIns="0" rtlCol="0" anchor="ctr">
            <a:normAutofit/>
          </a:bodyPr>
          <a:lstStyle/>
          <a:p>
            <a:pPr indent="0" marL="0">
              <a:buNone/>
            </a:pPr>
            <a:r>
              <a:rPr lang="en-US" sz="2650" b="1" dirty="0">
                <a:solidFill>
                  <a:srgbClr val="005088"/>
                </a:solidFill>
                <a:latin typeface="Aptos Display" pitchFamily="34" charset="0"/>
                <a:ea typeface="Aptos Display" pitchFamily="34" charset="-122"/>
                <a:cs typeface="Aptos Display" pitchFamily="34" charset="-120"/>
              </a:rPr>
              <a:t>MODELS UNDER DATABASE SEMANTICS</a:t>
            </a:r>
            <a:endParaRPr lang="en-US" sz="2650" dirty="0"/>
          </a:p>
        </p:txBody>
      </p:sp>
      <p:sp>
        <p:nvSpPr>
          <p:cNvPr id="7" name="Shape 5"/>
          <p:cNvSpPr/>
          <p:nvPr/>
        </p:nvSpPr>
        <p:spPr>
          <a:xfrm>
            <a:off x="502920" y="1188720"/>
            <a:ext cx="11109960" cy="0"/>
          </a:xfrm>
          <a:prstGeom prst="line">
            <a:avLst/>
          </a:prstGeom>
          <a:noFill/>
          <a:ln w="12700">
            <a:solidFill>
              <a:srgbClr val="3D5A80"/>
            </a:solidFill>
            <a:prstDash val="solid"/>
          </a:ln>
        </p:spPr>
      </p:sp>
      <p:sp>
        <p:nvSpPr>
          <p:cNvPr id="8" name="Text 6"/>
          <p:cNvSpPr/>
          <p:nvPr/>
        </p:nvSpPr>
        <p:spPr>
          <a:xfrm>
            <a:off x="685800" y="1536192"/>
            <a:ext cx="5074920" cy="4251960"/>
          </a:xfrm>
          <a:prstGeom prst="rect">
            <a:avLst/>
          </a:prstGeom>
          <a:noFill/>
          <a:ln/>
        </p:spPr>
        <p:txBody>
          <a:bodyPr wrap="square" lIns="1016" tIns="1016" rIns="1016" bIns="1016" rtlCol="0" anchor="t">
            <a:normAutofit/>
          </a:bodyPr>
          <a:lstStyle/>
          <a:p>
            <a:pPr indent="0" marL="0">
              <a:buNone/>
            </a:pPr>
            <a:r>
              <a:rPr lang="en-US" sz="1580" dirty="0">
                <a:solidFill>
                  <a:srgbClr val="1E293B"/>
                </a:solidFill>
                <a:latin typeface="Aptos" pitchFamily="34" charset="0"/>
                <a:ea typeface="Aptos" pitchFamily="34" charset="-122"/>
                <a:cs typeface="Aptos" pitchFamily="34" charset="-120"/>
              </a:rPr>
              <a:t>• Constants are fixed and distinct</a:t>
            </a:r>
            <a:endParaRPr lang="en-US" sz="1580" dirty="0"/>
          </a:p>
          <a:p>
            <a:pPr indent="0" marL="0">
              <a:buNone/>
            </a:pPr>
            <a:r>
              <a:rPr lang="en-US" sz="1580" dirty="0">
                <a:solidFill>
                  <a:srgbClr val="1E293B"/>
                </a:solidFill>
                <a:latin typeface="Aptos" pitchFamily="34" charset="0"/>
                <a:ea typeface="Aptos" pitchFamily="34" charset="-122"/>
                <a:cs typeface="Aptos" pitchFamily="34" charset="-120"/>
              </a:rPr>
              <a:t>• The domain is limited to named objects</a:t>
            </a:r>
            <a:endParaRPr lang="en-US" sz="1580" dirty="0"/>
          </a:p>
          <a:p>
            <a:pPr indent="0" marL="0">
              <a:buNone/>
            </a:pPr>
            <a:r>
              <a:rPr lang="en-US" sz="1580" dirty="0">
                <a:solidFill>
                  <a:srgbClr val="1E293B"/>
                </a:solidFill>
                <a:latin typeface="Aptos" pitchFamily="34" charset="0"/>
                <a:ea typeface="Aptos" pitchFamily="34" charset="-122"/>
                <a:cs typeface="Aptos" pitchFamily="34" charset="-120"/>
              </a:rPr>
              <a:t>• Only relation tuples vary</a:t>
            </a:r>
            <a:endParaRPr lang="en-US" sz="1580" dirty="0"/>
          </a:p>
          <a:p>
            <a:pPr indent="0" marL="0">
              <a:buNone/>
            </a:pPr>
            <a:r>
              <a:rPr lang="en-US" sz="1580" dirty="0">
                <a:solidFill>
                  <a:srgbClr val="1E293B"/>
                </a:solidFill>
                <a:latin typeface="Aptos" pitchFamily="34" charset="0"/>
                <a:ea typeface="Aptos" pitchFamily="34" charset="-122"/>
                <a:cs typeface="Aptos" pitchFamily="34" charset="-120"/>
              </a:rPr>
              <a:t>• The model set is much smaller than standard semantics</a:t>
            </a:r>
            <a:endParaRPr lang="en-US" sz="1580" dirty="0"/>
          </a:p>
        </p:txBody>
      </p:sp>
      <p:sp>
        <p:nvSpPr>
          <p:cNvPr id="9" name="Shape 7"/>
          <p:cNvSpPr/>
          <p:nvPr/>
        </p:nvSpPr>
        <p:spPr>
          <a:xfrm>
            <a:off x="6044184" y="1472184"/>
            <a:ext cx="5513832" cy="4050792"/>
          </a:xfrm>
          <a:prstGeom prst="roundRect">
            <a:avLst>
              <a:gd name="adj" fmla="val 1580"/>
            </a:avLst>
          </a:prstGeom>
          <a:solidFill>
            <a:srgbClr val="FFFFFF"/>
          </a:solidFill>
          <a:ln w="12700">
            <a:solidFill>
              <a:srgbClr val="CBD5E1"/>
            </a:solidFill>
            <a:prstDash val="solid"/>
          </a:ln>
        </p:spPr>
      </p:sp>
      <p:pic>
        <p:nvPicPr>
          <p:cNvPr id="10" name="Image 0" descr="/mnt/data/ch8_ppt_assets/fig8_5_database_models.png">    </p:cNvPr>
          <p:cNvPicPr>
            <a:picLocks noChangeAspect="1"/>
          </p:cNvPicPr>
          <p:nvPr/>
        </p:nvPicPr>
        <p:blipFill>
          <a:blip r:embed="rId1"/>
          <a:stretch>
            <a:fillRect/>
          </a:stretch>
        </p:blipFill>
        <p:spPr>
          <a:xfrm>
            <a:off x="6080760" y="2514487"/>
            <a:ext cx="5440680" cy="1966186"/>
          </a:xfrm>
          <a:prstGeom prst="rect">
            <a:avLst/>
          </a:prstGeom>
        </p:spPr>
      </p:pic>
      <p:sp>
        <p:nvSpPr>
          <p:cNvPr id="11" name="Text 8"/>
          <p:cNvSpPr/>
          <p:nvPr/>
        </p:nvSpPr>
        <p:spPr>
          <a:xfrm>
            <a:off x="6080760" y="5559552"/>
            <a:ext cx="5440680" cy="320040"/>
          </a:xfrm>
          <a:prstGeom prst="rect">
            <a:avLst/>
          </a:prstGeom>
          <a:noFill/>
          <a:ln/>
        </p:spPr>
        <p:txBody>
          <a:bodyPr wrap="square" lIns="0" tIns="0" rIns="0" bIns="0" rtlCol="0" anchor="ctr">
            <a:normAutofit/>
          </a:bodyPr>
          <a:lstStyle/>
          <a:p>
            <a:pPr indent="0" marL="0">
              <a:buNone/>
            </a:pPr>
            <a:r>
              <a:rPr lang="en-US" sz="1030" i="1" dirty="0">
                <a:solidFill>
                  <a:srgbClr val="64748B"/>
                </a:solidFill>
              </a:rPr>
              <a:t>Figure 8.5: possible models under database semantics for two constants and one binary relation.</a:t>
            </a:r>
            <a:endParaRPr lang="en-US" sz="103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5088"/>
          </a:solidFill>
          <a:ln w="12700">
            <a:solidFill>
              <a:srgbClr val="005088"/>
            </a:solidFill>
            <a:prstDash val="solid"/>
          </a:ln>
        </p:spPr>
      </p:sp>
      <p:sp>
        <p:nvSpPr>
          <p:cNvPr id="3" name="Shape 1"/>
          <p:cNvSpPr/>
          <p:nvPr/>
        </p:nvSpPr>
        <p:spPr>
          <a:xfrm>
            <a:off x="0" y="6729984"/>
            <a:ext cx="12191695" cy="128016"/>
          </a:xfrm>
          <a:prstGeom prst="rect">
            <a:avLst/>
          </a:prstGeom>
          <a:solidFill>
            <a:srgbClr val="005088"/>
          </a:solidFill>
          <a:ln w="12700">
            <a:solidFill>
              <a:srgbClr val="005088"/>
            </a:solidFill>
            <a:prstDash val="solid"/>
          </a:ln>
        </p:spPr>
      </p:sp>
      <p:sp>
        <p:nvSpPr>
          <p:cNvPr id="4" name="Text 2"/>
          <p:cNvSpPr/>
          <p:nvPr/>
        </p:nvSpPr>
        <p:spPr>
          <a:xfrm>
            <a:off x="502920" y="210312"/>
            <a:ext cx="6858000" cy="219456"/>
          </a:xfrm>
          <a:prstGeom prst="rect">
            <a:avLst/>
          </a:prstGeom>
          <a:noFill/>
          <a:ln/>
        </p:spPr>
        <p:txBody>
          <a:bodyPr wrap="square" lIns="0" tIns="0" rIns="0" bIns="0" rtlCol="0" anchor="ctr"/>
          <a:lstStyle/>
          <a:p>
            <a:pPr indent="0" marL="0">
              <a:buNone/>
            </a:pPr>
            <a:r>
              <a:rPr lang="en-US" sz="950" b="1" dirty="0">
                <a:solidFill>
                  <a:srgbClr val="3D5A80"/>
                </a:solidFill>
                <a:latin typeface="Aptos" pitchFamily="34" charset="0"/>
                <a:ea typeface="Aptos" pitchFamily="34" charset="-122"/>
                <a:cs typeface="Aptos" pitchFamily="34" charset="-120"/>
              </a:rPr>
              <a:t>8.2.8 Database Semantics</a:t>
            </a:r>
            <a:endParaRPr lang="en-US" sz="950" dirty="0"/>
          </a:p>
        </p:txBody>
      </p:sp>
      <p:sp>
        <p:nvSpPr>
          <p:cNvPr id="5" name="Text 3"/>
          <p:cNvSpPr/>
          <p:nvPr/>
        </p:nvSpPr>
        <p:spPr>
          <a:xfrm>
            <a:off x="11018520" y="201168"/>
            <a:ext cx="640080" cy="228600"/>
          </a:xfrm>
          <a:prstGeom prst="rect">
            <a:avLst/>
          </a:prstGeom>
          <a:noFill/>
          <a:ln/>
        </p:spPr>
        <p:txBody>
          <a:bodyPr wrap="square" lIns="0" tIns="0" rIns="0" bIns="0" rtlCol="0" anchor="ctr"/>
          <a:lstStyle/>
          <a:p>
            <a:pPr algn="r" indent="0" marL="0">
              <a:buNone/>
            </a:pPr>
            <a:r>
              <a:rPr lang="en-US" sz="900" b="1" dirty="0">
                <a:solidFill>
                  <a:srgbClr val="3D5A80"/>
                </a:solidFill>
              </a:rPr>
              <a:t>67</a:t>
            </a:r>
            <a:endParaRPr lang="en-US" sz="900" dirty="0"/>
          </a:p>
        </p:txBody>
      </p:sp>
      <p:sp>
        <p:nvSpPr>
          <p:cNvPr id="6" name="Text 4"/>
          <p:cNvSpPr/>
          <p:nvPr/>
        </p:nvSpPr>
        <p:spPr>
          <a:xfrm>
            <a:off x="502920" y="566928"/>
            <a:ext cx="11201400" cy="512064"/>
          </a:xfrm>
          <a:prstGeom prst="rect">
            <a:avLst/>
          </a:prstGeom>
          <a:noFill/>
          <a:ln/>
        </p:spPr>
        <p:txBody>
          <a:bodyPr wrap="square" lIns="0" tIns="0" rIns="0" bIns="0" rtlCol="0" anchor="ctr">
            <a:normAutofit/>
          </a:bodyPr>
          <a:lstStyle/>
          <a:p>
            <a:pPr indent="0" marL="0">
              <a:buNone/>
            </a:pPr>
            <a:r>
              <a:rPr lang="en-US" sz="2650" b="1" dirty="0">
                <a:solidFill>
                  <a:srgbClr val="005088"/>
                </a:solidFill>
                <a:latin typeface="Aptos Display" pitchFamily="34" charset="0"/>
                <a:ea typeface="Aptos Display" pitchFamily="34" charset="-122"/>
                <a:cs typeface="Aptos Display" pitchFamily="34" charset="-120"/>
              </a:rPr>
              <a:t>UNIQUE-NAMES ASSUMPTION</a:t>
            </a:r>
            <a:endParaRPr lang="en-US" sz="2650" dirty="0"/>
          </a:p>
        </p:txBody>
      </p:sp>
      <p:sp>
        <p:nvSpPr>
          <p:cNvPr id="7" name="Shape 5"/>
          <p:cNvSpPr/>
          <p:nvPr/>
        </p:nvSpPr>
        <p:spPr>
          <a:xfrm>
            <a:off x="502920" y="1188720"/>
            <a:ext cx="11109960" cy="0"/>
          </a:xfrm>
          <a:prstGeom prst="line">
            <a:avLst/>
          </a:prstGeom>
          <a:noFill/>
          <a:ln w="12700">
            <a:solidFill>
              <a:srgbClr val="3D5A80"/>
            </a:solidFill>
            <a:prstDash val="solid"/>
          </a:ln>
        </p:spPr>
      </p:sp>
      <p:sp>
        <p:nvSpPr>
          <p:cNvPr id="8" name="Text 6"/>
          <p:cNvSpPr/>
          <p:nvPr/>
        </p:nvSpPr>
        <p:spPr>
          <a:xfrm>
            <a:off x="713232" y="1572768"/>
            <a:ext cx="5440680" cy="4251960"/>
          </a:xfrm>
          <a:prstGeom prst="rect">
            <a:avLst/>
          </a:prstGeom>
          <a:noFill/>
          <a:ln/>
        </p:spPr>
        <p:txBody>
          <a:bodyPr wrap="square" lIns="1016" tIns="1016" rIns="1016" bIns="1016" rtlCol="0" anchor="t">
            <a:normAutofit/>
          </a:bodyPr>
          <a:lstStyle/>
          <a:p>
            <a:pPr indent="0" marL="0">
              <a:buNone/>
            </a:pPr>
            <a:r>
              <a:rPr lang="en-US" sz="1650" dirty="0">
                <a:solidFill>
                  <a:srgbClr val="1E293B"/>
                </a:solidFill>
                <a:latin typeface="Aptos" pitchFamily="34" charset="0"/>
                <a:ea typeface="Aptos" pitchFamily="34" charset="-122"/>
                <a:cs typeface="Aptos" pitchFamily="34" charset="-120"/>
              </a:rPr>
              <a:t>• Every different constant symbol names a different object</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John and Geoffrey must be distinct</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One name cannot collapse into another</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Common in databases and rosters</a:t>
            </a:r>
            <a:endParaRPr lang="en-US" sz="1650" dirty="0"/>
          </a:p>
        </p:txBody>
      </p:sp>
      <p:sp>
        <p:nvSpPr>
          <p:cNvPr id="9" name="Shape 7"/>
          <p:cNvSpPr/>
          <p:nvPr/>
        </p:nvSpPr>
        <p:spPr>
          <a:xfrm>
            <a:off x="6446520" y="1572768"/>
            <a:ext cx="5074920" cy="1234440"/>
          </a:xfrm>
          <a:prstGeom prst="roundRect">
            <a:avLst>
              <a:gd name="adj" fmla="val 5926"/>
            </a:avLst>
          </a:prstGeom>
          <a:solidFill>
            <a:srgbClr val="FFF6D9"/>
          </a:solidFill>
          <a:ln w="12700">
            <a:solidFill>
              <a:srgbClr val="F4A261"/>
            </a:solidFill>
            <a:prstDash val="solid"/>
          </a:ln>
        </p:spPr>
      </p:sp>
      <p:sp>
        <p:nvSpPr>
          <p:cNvPr id="10" name="Text 8"/>
          <p:cNvSpPr/>
          <p:nvPr/>
        </p:nvSpPr>
        <p:spPr>
          <a:xfrm>
            <a:off x="6629400" y="1709928"/>
            <a:ext cx="4709160" cy="219456"/>
          </a:xfrm>
          <a:prstGeom prst="rect">
            <a:avLst/>
          </a:prstGeom>
          <a:noFill/>
          <a:ln/>
        </p:spPr>
        <p:txBody>
          <a:bodyPr wrap="square" lIns="0" tIns="0" rIns="0" bIns="0" rtlCol="0" anchor="ctr"/>
          <a:lstStyle/>
          <a:p>
            <a:pPr indent="0" marL="0">
              <a:buNone/>
            </a:pPr>
            <a:r>
              <a:rPr lang="en-US" sz="950" b="1" dirty="0">
                <a:solidFill>
                  <a:srgbClr val="B0005D"/>
                </a:solidFill>
              </a:rPr>
              <a:t>ANALOGY</a:t>
            </a:r>
            <a:endParaRPr lang="en-US" sz="950" dirty="0"/>
          </a:p>
        </p:txBody>
      </p:sp>
      <p:sp>
        <p:nvSpPr>
          <p:cNvPr id="11" name="Text 9"/>
          <p:cNvSpPr/>
          <p:nvPr/>
        </p:nvSpPr>
        <p:spPr>
          <a:xfrm>
            <a:off x="6629400" y="1984248"/>
            <a:ext cx="4709160" cy="731520"/>
          </a:xfrm>
          <a:prstGeom prst="rect">
            <a:avLst/>
          </a:prstGeom>
          <a:noFill/>
          <a:ln/>
        </p:spPr>
        <p:txBody>
          <a:bodyPr wrap="square" lIns="254" tIns="254" rIns="254" bIns="254" rtlCol="0" anchor="t">
            <a:normAutofit/>
          </a:bodyPr>
          <a:lstStyle/>
          <a:p>
            <a:pPr indent="0" marL="0">
              <a:buNone/>
            </a:pPr>
            <a:r>
              <a:rPr lang="en-US" sz="1330" dirty="0">
                <a:solidFill>
                  <a:srgbClr val="1E293B"/>
                </a:solidFill>
              </a:rPr>
              <a:t>Student identification numbers are intended to distinguish students; two different numbers should not secretly refer to one person.</a:t>
            </a:r>
            <a:endParaRPr lang="en-US" sz="1330" dirty="0"/>
          </a:p>
        </p:txBody>
      </p:sp>
      <p:sp>
        <p:nvSpPr>
          <p:cNvPr id="12" name="Shape 10"/>
          <p:cNvSpPr/>
          <p:nvPr/>
        </p:nvSpPr>
        <p:spPr>
          <a:xfrm>
            <a:off x="6446520" y="2999232"/>
            <a:ext cx="5074920" cy="841248"/>
          </a:xfrm>
          <a:prstGeom prst="roundRect">
            <a:avLst>
              <a:gd name="adj" fmla="val 8696"/>
            </a:avLst>
          </a:prstGeom>
          <a:solidFill>
            <a:srgbClr val="FFFFFF">
              <a:alpha val="97000"/>
            </a:srgbClr>
          </a:solidFill>
          <a:ln w="12700">
            <a:solidFill>
              <a:srgbClr val="007C89"/>
            </a:solidFill>
            <a:prstDash val="solid"/>
          </a:ln>
        </p:spPr>
      </p:sp>
      <p:sp>
        <p:nvSpPr>
          <p:cNvPr id="13" name="Text 11"/>
          <p:cNvSpPr/>
          <p:nvPr/>
        </p:nvSpPr>
        <p:spPr>
          <a:xfrm>
            <a:off x="6611112" y="3127248"/>
            <a:ext cx="4745736" cy="658368"/>
          </a:xfrm>
          <a:prstGeom prst="rect">
            <a:avLst/>
          </a:prstGeom>
          <a:noFill/>
          <a:ln/>
        </p:spPr>
        <p:txBody>
          <a:bodyPr wrap="square" lIns="0" tIns="0" rIns="0" bIns="0" rtlCol="0" anchor="ctr">
            <a:normAutofit/>
          </a:bodyPr>
          <a:lstStyle/>
          <a:p>
            <a:pPr algn="ctr" indent="0" marL="0">
              <a:buNone/>
            </a:pPr>
            <a:r>
              <a:rPr lang="en-US" sz="1800" b="1" dirty="0">
                <a:solidFill>
                  <a:srgbClr val="005088"/>
                </a:solidFill>
                <a:latin typeface="Cambria Math" pitchFamily="34" charset="0"/>
                <a:ea typeface="Cambria Math" pitchFamily="34" charset="-122"/>
                <a:cs typeface="Cambria Math" pitchFamily="34" charset="-120"/>
              </a:rPr>
              <a:t>John ≠ Geoffrey is automatic</a:t>
            </a:r>
            <a:endParaRPr lang="en-US" sz="1800" dirty="0"/>
          </a:p>
        </p:txBody>
      </p:sp>
      <p:sp>
        <p:nvSpPr>
          <p:cNvPr id="14" name="Shape 12"/>
          <p:cNvSpPr/>
          <p:nvPr/>
        </p:nvSpPr>
        <p:spPr>
          <a:xfrm>
            <a:off x="6446520" y="4041648"/>
            <a:ext cx="5074920" cy="859536"/>
          </a:xfrm>
          <a:prstGeom prst="roundRect">
            <a:avLst>
              <a:gd name="adj" fmla="val 8511"/>
            </a:avLst>
          </a:prstGeom>
          <a:solidFill>
            <a:srgbClr val="FFE4E6"/>
          </a:solidFill>
          <a:ln w="12700">
            <a:solidFill>
              <a:srgbClr val="FDA4AF"/>
            </a:solidFill>
            <a:prstDash val="solid"/>
          </a:ln>
        </p:spPr>
      </p:sp>
      <p:sp>
        <p:nvSpPr>
          <p:cNvPr id="15" name="Text 13"/>
          <p:cNvSpPr/>
          <p:nvPr/>
        </p:nvSpPr>
        <p:spPr>
          <a:xfrm>
            <a:off x="6629400" y="4178808"/>
            <a:ext cx="4709160" cy="219456"/>
          </a:xfrm>
          <a:prstGeom prst="rect">
            <a:avLst/>
          </a:prstGeom>
          <a:noFill/>
          <a:ln/>
        </p:spPr>
        <p:txBody>
          <a:bodyPr wrap="square" lIns="0" tIns="0" rIns="0" bIns="0" rtlCol="0" anchor="ctr"/>
          <a:lstStyle/>
          <a:p>
            <a:pPr indent="0" marL="0">
              <a:buNone/>
            </a:pPr>
            <a:r>
              <a:rPr lang="en-US" sz="950" b="1" dirty="0">
                <a:solidFill>
                  <a:srgbClr val="C1121F"/>
                </a:solidFill>
              </a:rPr>
              <a:t>STUDENT GOTCHA</a:t>
            </a:r>
            <a:endParaRPr lang="en-US" sz="950" dirty="0"/>
          </a:p>
        </p:txBody>
      </p:sp>
      <p:sp>
        <p:nvSpPr>
          <p:cNvPr id="16" name="Text 14"/>
          <p:cNvSpPr/>
          <p:nvPr/>
        </p:nvSpPr>
        <p:spPr>
          <a:xfrm>
            <a:off x="6629400" y="4453128"/>
            <a:ext cx="4709160" cy="356616"/>
          </a:xfrm>
          <a:prstGeom prst="rect">
            <a:avLst/>
          </a:prstGeom>
          <a:noFill/>
          <a:ln/>
        </p:spPr>
        <p:txBody>
          <a:bodyPr wrap="square" lIns="254" tIns="254" rIns="254" bIns="254" rtlCol="0" anchor="t">
            <a:normAutofit/>
          </a:bodyPr>
          <a:lstStyle/>
          <a:p>
            <a:pPr indent="0" marL="0">
              <a:buNone/>
            </a:pPr>
            <a:r>
              <a:rPr lang="en-US" sz="1250" dirty="0">
                <a:solidFill>
                  <a:srgbClr val="1E293B"/>
                </a:solidFill>
              </a:rPr>
              <a:t>This is not automatic in standard first-order logic.</a:t>
            </a:r>
            <a:endParaRPr lang="en-US" sz="1250" dirty="0"/>
          </a:p>
        </p:txBody>
      </p:sp>
      <p:sp>
        <p:nvSpPr>
          <p:cNvPr id="17" name="Shape 15"/>
          <p:cNvSpPr/>
          <p:nvPr/>
        </p:nvSpPr>
        <p:spPr>
          <a:xfrm>
            <a:off x="6446520" y="5074920"/>
            <a:ext cx="5074920" cy="841248"/>
          </a:xfrm>
          <a:prstGeom prst="roundRect">
            <a:avLst>
              <a:gd name="adj" fmla="val 8696"/>
            </a:avLst>
          </a:prstGeom>
          <a:solidFill>
            <a:srgbClr val="E6FFFA"/>
          </a:solidFill>
          <a:ln w="12700">
            <a:solidFill>
              <a:srgbClr val="2A9D8F"/>
            </a:solidFill>
            <a:prstDash val="solid"/>
          </a:ln>
        </p:spPr>
      </p:sp>
      <p:sp>
        <p:nvSpPr>
          <p:cNvPr id="18" name="Text 16"/>
          <p:cNvSpPr/>
          <p:nvPr/>
        </p:nvSpPr>
        <p:spPr>
          <a:xfrm>
            <a:off x="6629400" y="5212080"/>
            <a:ext cx="4709160" cy="219456"/>
          </a:xfrm>
          <a:prstGeom prst="rect">
            <a:avLst/>
          </a:prstGeom>
          <a:noFill/>
          <a:ln/>
        </p:spPr>
        <p:txBody>
          <a:bodyPr wrap="square" lIns="0" tIns="0" rIns="0" bIns="0" rtlCol="0" anchor="ctr"/>
          <a:lstStyle/>
          <a:p>
            <a:pPr indent="0" marL="0">
              <a:buNone/>
            </a:pPr>
            <a:r>
              <a:rPr lang="en-US" sz="950" b="1" dirty="0">
                <a:solidFill>
                  <a:srgbClr val="007C89"/>
                </a:solidFill>
              </a:rPr>
              <a:t>CLASS CHECK</a:t>
            </a:r>
            <a:endParaRPr lang="en-US" sz="950" dirty="0"/>
          </a:p>
        </p:txBody>
      </p:sp>
      <p:sp>
        <p:nvSpPr>
          <p:cNvPr id="19" name="Text 17"/>
          <p:cNvSpPr/>
          <p:nvPr/>
        </p:nvSpPr>
        <p:spPr>
          <a:xfrm>
            <a:off x="6629400" y="5486400"/>
            <a:ext cx="4709160" cy="338328"/>
          </a:xfrm>
          <a:prstGeom prst="rect">
            <a:avLst/>
          </a:prstGeom>
          <a:noFill/>
          <a:ln/>
        </p:spPr>
        <p:txBody>
          <a:bodyPr wrap="square" lIns="254" tIns="254" rIns="254" bIns="254" rtlCol="0" anchor="t">
            <a:normAutofit/>
          </a:bodyPr>
          <a:lstStyle/>
          <a:p>
            <a:pPr indent="0" marL="0">
              <a:buNone/>
            </a:pPr>
            <a:r>
              <a:rPr lang="en-US" sz="1270" dirty="0">
                <a:solidFill>
                  <a:srgbClr val="1E293B"/>
                </a:solidFill>
              </a:rPr>
              <a:t>Ask: When might unique names be unsafe, such as duplicate accounts?</a:t>
            </a:r>
            <a:endParaRPr lang="en-US" sz="127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5088"/>
          </a:solidFill>
          <a:ln w="12700">
            <a:solidFill>
              <a:srgbClr val="005088"/>
            </a:solidFill>
            <a:prstDash val="solid"/>
          </a:ln>
        </p:spPr>
      </p:sp>
      <p:sp>
        <p:nvSpPr>
          <p:cNvPr id="3" name="Shape 1"/>
          <p:cNvSpPr/>
          <p:nvPr/>
        </p:nvSpPr>
        <p:spPr>
          <a:xfrm>
            <a:off x="0" y="6729984"/>
            <a:ext cx="12191695" cy="128016"/>
          </a:xfrm>
          <a:prstGeom prst="rect">
            <a:avLst/>
          </a:prstGeom>
          <a:solidFill>
            <a:srgbClr val="005088"/>
          </a:solidFill>
          <a:ln w="12700">
            <a:solidFill>
              <a:srgbClr val="005088"/>
            </a:solidFill>
            <a:prstDash val="solid"/>
          </a:ln>
        </p:spPr>
      </p:sp>
      <p:sp>
        <p:nvSpPr>
          <p:cNvPr id="4" name="Text 2"/>
          <p:cNvSpPr/>
          <p:nvPr/>
        </p:nvSpPr>
        <p:spPr>
          <a:xfrm>
            <a:off x="502920" y="210312"/>
            <a:ext cx="6858000" cy="219456"/>
          </a:xfrm>
          <a:prstGeom prst="rect">
            <a:avLst/>
          </a:prstGeom>
          <a:noFill/>
          <a:ln/>
        </p:spPr>
        <p:txBody>
          <a:bodyPr wrap="square" lIns="0" tIns="0" rIns="0" bIns="0" rtlCol="0" anchor="ctr"/>
          <a:lstStyle/>
          <a:p>
            <a:pPr indent="0" marL="0">
              <a:buNone/>
            </a:pPr>
            <a:r>
              <a:rPr lang="en-US" sz="950" b="1" dirty="0">
                <a:solidFill>
                  <a:srgbClr val="3D5A80"/>
                </a:solidFill>
                <a:latin typeface="Aptos" pitchFamily="34" charset="0"/>
                <a:ea typeface="Aptos" pitchFamily="34" charset="-122"/>
                <a:cs typeface="Aptos" pitchFamily="34" charset="-120"/>
              </a:rPr>
              <a:t>8.2.8 Database Semantics</a:t>
            </a:r>
            <a:endParaRPr lang="en-US" sz="950" dirty="0"/>
          </a:p>
        </p:txBody>
      </p:sp>
      <p:sp>
        <p:nvSpPr>
          <p:cNvPr id="5" name="Text 3"/>
          <p:cNvSpPr/>
          <p:nvPr/>
        </p:nvSpPr>
        <p:spPr>
          <a:xfrm>
            <a:off x="11018520" y="201168"/>
            <a:ext cx="640080" cy="228600"/>
          </a:xfrm>
          <a:prstGeom prst="rect">
            <a:avLst/>
          </a:prstGeom>
          <a:noFill/>
          <a:ln/>
        </p:spPr>
        <p:txBody>
          <a:bodyPr wrap="square" lIns="0" tIns="0" rIns="0" bIns="0" rtlCol="0" anchor="ctr"/>
          <a:lstStyle/>
          <a:p>
            <a:pPr algn="r" indent="0" marL="0">
              <a:buNone/>
            </a:pPr>
            <a:r>
              <a:rPr lang="en-US" sz="900" b="1" dirty="0">
                <a:solidFill>
                  <a:srgbClr val="3D5A80"/>
                </a:solidFill>
              </a:rPr>
              <a:t>68</a:t>
            </a:r>
            <a:endParaRPr lang="en-US" sz="900" dirty="0"/>
          </a:p>
        </p:txBody>
      </p:sp>
      <p:sp>
        <p:nvSpPr>
          <p:cNvPr id="6" name="Text 4"/>
          <p:cNvSpPr/>
          <p:nvPr/>
        </p:nvSpPr>
        <p:spPr>
          <a:xfrm>
            <a:off x="502920" y="566928"/>
            <a:ext cx="11201400" cy="512064"/>
          </a:xfrm>
          <a:prstGeom prst="rect">
            <a:avLst/>
          </a:prstGeom>
          <a:noFill/>
          <a:ln/>
        </p:spPr>
        <p:txBody>
          <a:bodyPr wrap="square" lIns="0" tIns="0" rIns="0" bIns="0" rtlCol="0" anchor="ctr">
            <a:normAutofit/>
          </a:bodyPr>
          <a:lstStyle/>
          <a:p>
            <a:pPr indent="0" marL="0">
              <a:buNone/>
            </a:pPr>
            <a:r>
              <a:rPr lang="en-US" sz="2650" b="1" dirty="0">
                <a:solidFill>
                  <a:srgbClr val="005088"/>
                </a:solidFill>
                <a:latin typeface="Aptos Display" pitchFamily="34" charset="0"/>
                <a:ea typeface="Aptos Display" pitchFamily="34" charset="-122"/>
                <a:cs typeface="Aptos Display" pitchFamily="34" charset="-120"/>
              </a:rPr>
              <a:t>CLOSED-WORLD ASSUMPTION</a:t>
            </a:r>
            <a:endParaRPr lang="en-US" sz="2650" dirty="0"/>
          </a:p>
        </p:txBody>
      </p:sp>
      <p:sp>
        <p:nvSpPr>
          <p:cNvPr id="7" name="Shape 5"/>
          <p:cNvSpPr/>
          <p:nvPr/>
        </p:nvSpPr>
        <p:spPr>
          <a:xfrm>
            <a:off x="502920" y="1188720"/>
            <a:ext cx="11109960" cy="0"/>
          </a:xfrm>
          <a:prstGeom prst="line">
            <a:avLst/>
          </a:prstGeom>
          <a:noFill/>
          <a:ln w="12700">
            <a:solidFill>
              <a:srgbClr val="3D5A80"/>
            </a:solidFill>
            <a:prstDash val="solid"/>
          </a:ln>
        </p:spPr>
      </p:sp>
      <p:sp>
        <p:nvSpPr>
          <p:cNvPr id="8" name="Text 6"/>
          <p:cNvSpPr/>
          <p:nvPr/>
        </p:nvSpPr>
        <p:spPr>
          <a:xfrm>
            <a:off x="713232" y="1572768"/>
            <a:ext cx="5440680" cy="4251960"/>
          </a:xfrm>
          <a:prstGeom prst="rect">
            <a:avLst/>
          </a:prstGeom>
          <a:noFill/>
          <a:ln/>
        </p:spPr>
        <p:txBody>
          <a:bodyPr wrap="square" lIns="1016" tIns="1016" rIns="1016" bIns="1016" rtlCol="0" anchor="t">
            <a:normAutofit/>
          </a:bodyPr>
          <a:lstStyle/>
          <a:p>
            <a:pPr indent="0" marL="0">
              <a:buNone/>
            </a:pPr>
            <a:r>
              <a:rPr lang="en-US" sz="1650" dirty="0">
                <a:solidFill>
                  <a:srgbClr val="1E293B"/>
                </a:solidFill>
                <a:latin typeface="Aptos" pitchFamily="34" charset="0"/>
                <a:ea typeface="Aptos" pitchFamily="34" charset="-122"/>
                <a:cs typeface="Aptos" pitchFamily="34" charset="-120"/>
              </a:rPr>
              <a:t>• If an atomic fact is not listed, treat it as false</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This makes negative answers easy</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It works when the database is complete</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It fails when missing data is possible</a:t>
            </a:r>
            <a:endParaRPr lang="en-US" sz="1650" dirty="0"/>
          </a:p>
        </p:txBody>
      </p:sp>
      <p:sp>
        <p:nvSpPr>
          <p:cNvPr id="9" name="Shape 7"/>
          <p:cNvSpPr/>
          <p:nvPr/>
        </p:nvSpPr>
        <p:spPr>
          <a:xfrm>
            <a:off x="6446520" y="1572768"/>
            <a:ext cx="5074920" cy="1234440"/>
          </a:xfrm>
          <a:prstGeom prst="roundRect">
            <a:avLst>
              <a:gd name="adj" fmla="val 5926"/>
            </a:avLst>
          </a:prstGeom>
          <a:solidFill>
            <a:srgbClr val="FFF6D9"/>
          </a:solidFill>
          <a:ln w="12700">
            <a:solidFill>
              <a:srgbClr val="F4A261"/>
            </a:solidFill>
            <a:prstDash val="solid"/>
          </a:ln>
        </p:spPr>
      </p:sp>
      <p:sp>
        <p:nvSpPr>
          <p:cNvPr id="10" name="Text 8"/>
          <p:cNvSpPr/>
          <p:nvPr/>
        </p:nvSpPr>
        <p:spPr>
          <a:xfrm>
            <a:off x="6629400" y="1709928"/>
            <a:ext cx="4709160" cy="219456"/>
          </a:xfrm>
          <a:prstGeom prst="rect">
            <a:avLst/>
          </a:prstGeom>
          <a:noFill/>
          <a:ln/>
        </p:spPr>
        <p:txBody>
          <a:bodyPr wrap="square" lIns="0" tIns="0" rIns="0" bIns="0" rtlCol="0" anchor="ctr"/>
          <a:lstStyle/>
          <a:p>
            <a:pPr indent="0" marL="0">
              <a:buNone/>
            </a:pPr>
            <a:r>
              <a:rPr lang="en-US" sz="950" b="1" dirty="0">
                <a:solidFill>
                  <a:srgbClr val="B0005D"/>
                </a:solidFill>
              </a:rPr>
              <a:t>ANALOGY</a:t>
            </a:r>
            <a:endParaRPr lang="en-US" sz="950" dirty="0"/>
          </a:p>
        </p:txBody>
      </p:sp>
      <p:sp>
        <p:nvSpPr>
          <p:cNvPr id="11" name="Text 9"/>
          <p:cNvSpPr/>
          <p:nvPr/>
        </p:nvSpPr>
        <p:spPr>
          <a:xfrm>
            <a:off x="6629400" y="1984248"/>
            <a:ext cx="4709160" cy="731520"/>
          </a:xfrm>
          <a:prstGeom prst="rect">
            <a:avLst/>
          </a:prstGeom>
          <a:noFill/>
          <a:ln/>
        </p:spPr>
        <p:txBody>
          <a:bodyPr wrap="square" lIns="254" tIns="254" rIns="254" bIns="254" rtlCol="0" anchor="t">
            <a:normAutofit/>
          </a:bodyPr>
          <a:lstStyle/>
          <a:p>
            <a:pPr indent="0" marL="0">
              <a:buNone/>
            </a:pPr>
            <a:r>
              <a:rPr lang="en-US" sz="1330" dirty="0">
                <a:solidFill>
                  <a:srgbClr val="1E293B"/>
                </a:solidFill>
              </a:rPr>
              <a:t>A restaurant reservation list treats “not on the list” as “no reservation,” at least for that evening.</a:t>
            </a:r>
            <a:endParaRPr lang="en-US" sz="1330" dirty="0"/>
          </a:p>
        </p:txBody>
      </p:sp>
      <p:sp>
        <p:nvSpPr>
          <p:cNvPr id="12" name="Shape 10"/>
          <p:cNvSpPr/>
          <p:nvPr/>
        </p:nvSpPr>
        <p:spPr>
          <a:xfrm>
            <a:off x="6446520" y="2999232"/>
            <a:ext cx="5074920" cy="841248"/>
          </a:xfrm>
          <a:prstGeom prst="roundRect">
            <a:avLst>
              <a:gd name="adj" fmla="val 8696"/>
            </a:avLst>
          </a:prstGeom>
          <a:solidFill>
            <a:srgbClr val="FFFFFF">
              <a:alpha val="97000"/>
            </a:srgbClr>
          </a:solidFill>
          <a:ln w="12700">
            <a:solidFill>
              <a:srgbClr val="007C89"/>
            </a:solidFill>
            <a:prstDash val="solid"/>
          </a:ln>
        </p:spPr>
      </p:sp>
      <p:sp>
        <p:nvSpPr>
          <p:cNvPr id="13" name="Text 11"/>
          <p:cNvSpPr/>
          <p:nvPr/>
        </p:nvSpPr>
        <p:spPr>
          <a:xfrm>
            <a:off x="6611112" y="3127248"/>
            <a:ext cx="4745736" cy="658368"/>
          </a:xfrm>
          <a:prstGeom prst="rect">
            <a:avLst/>
          </a:prstGeom>
          <a:noFill/>
          <a:ln/>
        </p:spPr>
        <p:txBody>
          <a:bodyPr wrap="square" lIns="0" tIns="0" rIns="0" bIns="0" rtlCol="0" anchor="ctr">
            <a:normAutofit/>
          </a:bodyPr>
          <a:lstStyle/>
          <a:p>
            <a:pPr algn="ctr" indent="0" marL="0">
              <a:buNone/>
            </a:pPr>
            <a:r>
              <a:rPr lang="en-US" sz="2100" b="1" dirty="0">
                <a:solidFill>
                  <a:srgbClr val="005088"/>
                </a:solidFill>
                <a:latin typeface="Cambria Math" pitchFamily="34" charset="0"/>
                <a:ea typeface="Cambria Math" pitchFamily="34" charset="-122"/>
                <a:cs typeface="Cambria Math" pitchFamily="34" charset="-120"/>
              </a:rPr>
              <a:t>not in table → false</a:t>
            </a:r>
            <a:endParaRPr lang="en-US" sz="2100" dirty="0"/>
          </a:p>
        </p:txBody>
      </p:sp>
      <p:sp>
        <p:nvSpPr>
          <p:cNvPr id="14" name="Shape 12"/>
          <p:cNvSpPr/>
          <p:nvPr/>
        </p:nvSpPr>
        <p:spPr>
          <a:xfrm>
            <a:off x="6446520" y="4041648"/>
            <a:ext cx="5074920" cy="859536"/>
          </a:xfrm>
          <a:prstGeom prst="roundRect">
            <a:avLst>
              <a:gd name="adj" fmla="val 8511"/>
            </a:avLst>
          </a:prstGeom>
          <a:solidFill>
            <a:srgbClr val="FFE4E6"/>
          </a:solidFill>
          <a:ln w="12700">
            <a:solidFill>
              <a:srgbClr val="FDA4AF"/>
            </a:solidFill>
            <a:prstDash val="solid"/>
          </a:ln>
        </p:spPr>
      </p:sp>
      <p:sp>
        <p:nvSpPr>
          <p:cNvPr id="15" name="Text 13"/>
          <p:cNvSpPr/>
          <p:nvPr/>
        </p:nvSpPr>
        <p:spPr>
          <a:xfrm>
            <a:off x="6629400" y="4178808"/>
            <a:ext cx="4709160" cy="219456"/>
          </a:xfrm>
          <a:prstGeom prst="rect">
            <a:avLst/>
          </a:prstGeom>
          <a:noFill/>
          <a:ln/>
        </p:spPr>
        <p:txBody>
          <a:bodyPr wrap="square" lIns="0" tIns="0" rIns="0" bIns="0" rtlCol="0" anchor="ctr"/>
          <a:lstStyle/>
          <a:p>
            <a:pPr indent="0" marL="0">
              <a:buNone/>
            </a:pPr>
            <a:r>
              <a:rPr lang="en-US" sz="950" b="1" dirty="0">
                <a:solidFill>
                  <a:srgbClr val="C1121F"/>
                </a:solidFill>
              </a:rPr>
              <a:t>STUDENT GOTCHA</a:t>
            </a:r>
            <a:endParaRPr lang="en-US" sz="950" dirty="0"/>
          </a:p>
        </p:txBody>
      </p:sp>
      <p:sp>
        <p:nvSpPr>
          <p:cNvPr id="16" name="Text 14"/>
          <p:cNvSpPr/>
          <p:nvPr/>
        </p:nvSpPr>
        <p:spPr>
          <a:xfrm>
            <a:off x="6629400" y="4453128"/>
            <a:ext cx="4709160" cy="356616"/>
          </a:xfrm>
          <a:prstGeom prst="rect">
            <a:avLst/>
          </a:prstGeom>
          <a:noFill/>
          <a:ln/>
        </p:spPr>
        <p:txBody>
          <a:bodyPr wrap="square" lIns="254" tIns="254" rIns="254" bIns="254" rtlCol="0" anchor="t">
            <a:normAutofit/>
          </a:bodyPr>
          <a:lstStyle/>
          <a:p>
            <a:pPr indent="0" marL="0">
              <a:buNone/>
            </a:pPr>
            <a:r>
              <a:rPr lang="en-US" sz="1250" dirty="0">
                <a:solidFill>
                  <a:srgbClr val="1E293B"/>
                </a:solidFill>
              </a:rPr>
              <a:t>Absence of evidence is not always evidence of absence.</a:t>
            </a:r>
            <a:endParaRPr lang="en-US" sz="1250" dirty="0"/>
          </a:p>
        </p:txBody>
      </p:sp>
      <p:sp>
        <p:nvSpPr>
          <p:cNvPr id="17" name="Shape 15"/>
          <p:cNvSpPr/>
          <p:nvPr/>
        </p:nvSpPr>
        <p:spPr>
          <a:xfrm>
            <a:off x="6446520" y="5074920"/>
            <a:ext cx="5074920" cy="841248"/>
          </a:xfrm>
          <a:prstGeom prst="roundRect">
            <a:avLst>
              <a:gd name="adj" fmla="val 8696"/>
            </a:avLst>
          </a:prstGeom>
          <a:solidFill>
            <a:srgbClr val="E6FFFA"/>
          </a:solidFill>
          <a:ln w="12700">
            <a:solidFill>
              <a:srgbClr val="2A9D8F"/>
            </a:solidFill>
            <a:prstDash val="solid"/>
          </a:ln>
        </p:spPr>
      </p:sp>
      <p:sp>
        <p:nvSpPr>
          <p:cNvPr id="18" name="Text 16"/>
          <p:cNvSpPr/>
          <p:nvPr/>
        </p:nvSpPr>
        <p:spPr>
          <a:xfrm>
            <a:off x="6629400" y="5212080"/>
            <a:ext cx="4709160" cy="219456"/>
          </a:xfrm>
          <a:prstGeom prst="rect">
            <a:avLst/>
          </a:prstGeom>
          <a:noFill/>
          <a:ln/>
        </p:spPr>
        <p:txBody>
          <a:bodyPr wrap="square" lIns="0" tIns="0" rIns="0" bIns="0" rtlCol="0" anchor="ctr"/>
          <a:lstStyle/>
          <a:p>
            <a:pPr indent="0" marL="0">
              <a:buNone/>
            </a:pPr>
            <a:r>
              <a:rPr lang="en-US" sz="950" b="1" dirty="0">
                <a:solidFill>
                  <a:srgbClr val="007C89"/>
                </a:solidFill>
              </a:rPr>
              <a:t>CLASS CHECK</a:t>
            </a:r>
            <a:endParaRPr lang="en-US" sz="950" dirty="0"/>
          </a:p>
        </p:txBody>
      </p:sp>
      <p:sp>
        <p:nvSpPr>
          <p:cNvPr id="19" name="Text 17"/>
          <p:cNvSpPr/>
          <p:nvPr/>
        </p:nvSpPr>
        <p:spPr>
          <a:xfrm>
            <a:off x="6629400" y="5486400"/>
            <a:ext cx="4709160" cy="338328"/>
          </a:xfrm>
          <a:prstGeom prst="rect">
            <a:avLst/>
          </a:prstGeom>
          <a:noFill/>
          <a:ln/>
        </p:spPr>
        <p:txBody>
          <a:bodyPr wrap="square" lIns="254" tIns="254" rIns="254" bIns="254" rtlCol="0" anchor="t">
            <a:normAutofit/>
          </a:bodyPr>
          <a:lstStyle/>
          <a:p>
            <a:pPr indent="0" marL="0">
              <a:buNone/>
            </a:pPr>
            <a:r>
              <a:rPr lang="en-US" sz="1270" dirty="0">
                <a:solidFill>
                  <a:srgbClr val="1E293B"/>
                </a:solidFill>
              </a:rPr>
              <a:t>Ask: Would you use closed-world reasoning for emergency medical symptoms?</a:t>
            </a:r>
            <a:endParaRPr lang="en-US" sz="127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5088"/>
          </a:solidFill>
          <a:ln w="12700">
            <a:solidFill>
              <a:srgbClr val="005088"/>
            </a:solidFill>
            <a:prstDash val="solid"/>
          </a:ln>
        </p:spPr>
      </p:sp>
      <p:sp>
        <p:nvSpPr>
          <p:cNvPr id="3" name="Shape 1"/>
          <p:cNvSpPr/>
          <p:nvPr/>
        </p:nvSpPr>
        <p:spPr>
          <a:xfrm>
            <a:off x="0" y="6729984"/>
            <a:ext cx="12191695" cy="128016"/>
          </a:xfrm>
          <a:prstGeom prst="rect">
            <a:avLst/>
          </a:prstGeom>
          <a:solidFill>
            <a:srgbClr val="005088"/>
          </a:solidFill>
          <a:ln w="12700">
            <a:solidFill>
              <a:srgbClr val="005088"/>
            </a:solidFill>
            <a:prstDash val="solid"/>
          </a:ln>
        </p:spPr>
      </p:sp>
      <p:sp>
        <p:nvSpPr>
          <p:cNvPr id="4" name="Text 2"/>
          <p:cNvSpPr/>
          <p:nvPr/>
        </p:nvSpPr>
        <p:spPr>
          <a:xfrm>
            <a:off x="502920" y="210312"/>
            <a:ext cx="6858000" cy="219456"/>
          </a:xfrm>
          <a:prstGeom prst="rect">
            <a:avLst/>
          </a:prstGeom>
          <a:noFill/>
          <a:ln/>
        </p:spPr>
        <p:txBody>
          <a:bodyPr wrap="square" lIns="0" tIns="0" rIns="0" bIns="0" rtlCol="0" anchor="ctr"/>
          <a:lstStyle/>
          <a:p>
            <a:pPr indent="0" marL="0">
              <a:buNone/>
            </a:pPr>
            <a:r>
              <a:rPr lang="en-US" sz="950" b="1" dirty="0">
                <a:solidFill>
                  <a:srgbClr val="3D5A80"/>
                </a:solidFill>
                <a:latin typeface="Aptos" pitchFamily="34" charset="0"/>
                <a:ea typeface="Aptos" pitchFamily="34" charset="-122"/>
                <a:cs typeface="Aptos" pitchFamily="34" charset="-120"/>
              </a:rPr>
              <a:t>8.2.8 Database Semantics</a:t>
            </a:r>
            <a:endParaRPr lang="en-US" sz="950" dirty="0"/>
          </a:p>
        </p:txBody>
      </p:sp>
      <p:sp>
        <p:nvSpPr>
          <p:cNvPr id="5" name="Text 3"/>
          <p:cNvSpPr/>
          <p:nvPr/>
        </p:nvSpPr>
        <p:spPr>
          <a:xfrm>
            <a:off x="11018520" y="201168"/>
            <a:ext cx="640080" cy="228600"/>
          </a:xfrm>
          <a:prstGeom prst="rect">
            <a:avLst/>
          </a:prstGeom>
          <a:noFill/>
          <a:ln/>
        </p:spPr>
        <p:txBody>
          <a:bodyPr wrap="square" lIns="0" tIns="0" rIns="0" bIns="0" rtlCol="0" anchor="ctr"/>
          <a:lstStyle/>
          <a:p>
            <a:pPr algn="r" indent="0" marL="0">
              <a:buNone/>
            </a:pPr>
            <a:r>
              <a:rPr lang="en-US" sz="900" b="1" dirty="0">
                <a:solidFill>
                  <a:srgbClr val="3D5A80"/>
                </a:solidFill>
              </a:rPr>
              <a:t>69</a:t>
            </a:r>
            <a:endParaRPr lang="en-US" sz="900" dirty="0"/>
          </a:p>
        </p:txBody>
      </p:sp>
      <p:sp>
        <p:nvSpPr>
          <p:cNvPr id="6" name="Text 4"/>
          <p:cNvSpPr/>
          <p:nvPr/>
        </p:nvSpPr>
        <p:spPr>
          <a:xfrm>
            <a:off x="502920" y="566928"/>
            <a:ext cx="11201400" cy="512064"/>
          </a:xfrm>
          <a:prstGeom prst="rect">
            <a:avLst/>
          </a:prstGeom>
          <a:noFill/>
          <a:ln/>
        </p:spPr>
        <p:txBody>
          <a:bodyPr wrap="square" lIns="0" tIns="0" rIns="0" bIns="0" rtlCol="0" anchor="ctr">
            <a:normAutofit/>
          </a:bodyPr>
          <a:lstStyle/>
          <a:p>
            <a:pPr indent="0" marL="0">
              <a:buNone/>
            </a:pPr>
            <a:r>
              <a:rPr lang="en-US" sz="2650" b="1" dirty="0">
                <a:solidFill>
                  <a:srgbClr val="005088"/>
                </a:solidFill>
                <a:latin typeface="Aptos Display" pitchFamily="34" charset="0"/>
                <a:ea typeface="Aptos Display" pitchFamily="34" charset="-122"/>
                <a:cs typeface="Aptos Display" pitchFamily="34" charset="-120"/>
              </a:rPr>
              <a:t>DOMAIN-CLOSURE ASSUMPTION</a:t>
            </a:r>
            <a:endParaRPr lang="en-US" sz="2650" dirty="0"/>
          </a:p>
        </p:txBody>
      </p:sp>
      <p:sp>
        <p:nvSpPr>
          <p:cNvPr id="7" name="Shape 5"/>
          <p:cNvSpPr/>
          <p:nvPr/>
        </p:nvSpPr>
        <p:spPr>
          <a:xfrm>
            <a:off x="502920" y="1188720"/>
            <a:ext cx="11109960" cy="0"/>
          </a:xfrm>
          <a:prstGeom prst="line">
            <a:avLst/>
          </a:prstGeom>
          <a:noFill/>
          <a:ln w="12700">
            <a:solidFill>
              <a:srgbClr val="3D5A80"/>
            </a:solidFill>
            <a:prstDash val="solid"/>
          </a:ln>
        </p:spPr>
      </p:sp>
      <p:sp>
        <p:nvSpPr>
          <p:cNvPr id="8" name="Text 6"/>
          <p:cNvSpPr/>
          <p:nvPr/>
        </p:nvSpPr>
        <p:spPr>
          <a:xfrm>
            <a:off x="713232" y="1572768"/>
            <a:ext cx="5440680" cy="4251960"/>
          </a:xfrm>
          <a:prstGeom prst="rect">
            <a:avLst/>
          </a:prstGeom>
          <a:noFill/>
          <a:ln/>
        </p:spPr>
        <p:txBody>
          <a:bodyPr wrap="square" lIns="1016" tIns="1016" rIns="1016" bIns="1016" rtlCol="0" anchor="t">
            <a:normAutofit/>
          </a:bodyPr>
          <a:lstStyle/>
          <a:p>
            <a:pPr indent="0" marL="0">
              <a:buNone/>
            </a:pPr>
            <a:r>
              <a:rPr lang="en-US" sz="1650" dirty="0">
                <a:solidFill>
                  <a:srgbClr val="1E293B"/>
                </a:solidFill>
                <a:latin typeface="Aptos" pitchFamily="34" charset="0"/>
                <a:ea typeface="Aptos" pitchFamily="34" charset="-122"/>
                <a:cs typeface="Aptos" pitchFamily="34" charset="-120"/>
              </a:rPr>
              <a:t>• Only named objects exist in the domain</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There are no hidden extra objects</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All answers come from listed constants</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This supports database-style querying</a:t>
            </a:r>
            <a:endParaRPr lang="en-US" sz="1650" dirty="0"/>
          </a:p>
        </p:txBody>
      </p:sp>
      <p:sp>
        <p:nvSpPr>
          <p:cNvPr id="9" name="Shape 7"/>
          <p:cNvSpPr/>
          <p:nvPr/>
        </p:nvSpPr>
        <p:spPr>
          <a:xfrm>
            <a:off x="6446520" y="1572768"/>
            <a:ext cx="5074920" cy="1234440"/>
          </a:xfrm>
          <a:prstGeom prst="roundRect">
            <a:avLst>
              <a:gd name="adj" fmla="val 5926"/>
            </a:avLst>
          </a:prstGeom>
          <a:solidFill>
            <a:srgbClr val="FFF6D9"/>
          </a:solidFill>
          <a:ln w="12700">
            <a:solidFill>
              <a:srgbClr val="F4A261"/>
            </a:solidFill>
            <a:prstDash val="solid"/>
          </a:ln>
        </p:spPr>
      </p:sp>
      <p:sp>
        <p:nvSpPr>
          <p:cNvPr id="10" name="Text 8"/>
          <p:cNvSpPr/>
          <p:nvPr/>
        </p:nvSpPr>
        <p:spPr>
          <a:xfrm>
            <a:off x="6629400" y="1709928"/>
            <a:ext cx="4709160" cy="219456"/>
          </a:xfrm>
          <a:prstGeom prst="rect">
            <a:avLst/>
          </a:prstGeom>
          <a:noFill/>
          <a:ln/>
        </p:spPr>
        <p:txBody>
          <a:bodyPr wrap="square" lIns="0" tIns="0" rIns="0" bIns="0" rtlCol="0" anchor="ctr"/>
          <a:lstStyle/>
          <a:p>
            <a:pPr indent="0" marL="0">
              <a:buNone/>
            </a:pPr>
            <a:r>
              <a:rPr lang="en-US" sz="950" b="1" dirty="0">
                <a:solidFill>
                  <a:srgbClr val="B0005D"/>
                </a:solidFill>
              </a:rPr>
              <a:t>ANALOGY</a:t>
            </a:r>
            <a:endParaRPr lang="en-US" sz="950" dirty="0"/>
          </a:p>
        </p:txBody>
      </p:sp>
      <p:sp>
        <p:nvSpPr>
          <p:cNvPr id="11" name="Text 9"/>
          <p:cNvSpPr/>
          <p:nvPr/>
        </p:nvSpPr>
        <p:spPr>
          <a:xfrm>
            <a:off x="6629400" y="1984248"/>
            <a:ext cx="4709160" cy="731520"/>
          </a:xfrm>
          <a:prstGeom prst="rect">
            <a:avLst/>
          </a:prstGeom>
          <a:noFill/>
          <a:ln/>
        </p:spPr>
        <p:txBody>
          <a:bodyPr wrap="square" lIns="254" tIns="254" rIns="254" bIns="254" rtlCol="0" anchor="t">
            <a:normAutofit/>
          </a:bodyPr>
          <a:lstStyle/>
          <a:p>
            <a:pPr indent="0" marL="0">
              <a:buNone/>
            </a:pPr>
            <a:r>
              <a:rPr lang="en-US" sz="1330" dirty="0">
                <a:solidFill>
                  <a:srgbClr val="1E293B"/>
                </a:solidFill>
              </a:rPr>
              <a:t>A tournament bracket lists every team. If a team is not in the bracket, it is not in the tournament.</a:t>
            </a:r>
            <a:endParaRPr lang="en-US" sz="1330" dirty="0"/>
          </a:p>
        </p:txBody>
      </p:sp>
      <p:sp>
        <p:nvSpPr>
          <p:cNvPr id="12" name="Shape 10"/>
          <p:cNvSpPr/>
          <p:nvPr/>
        </p:nvSpPr>
        <p:spPr>
          <a:xfrm>
            <a:off x="6446520" y="2999232"/>
            <a:ext cx="5074920" cy="841248"/>
          </a:xfrm>
          <a:prstGeom prst="roundRect">
            <a:avLst>
              <a:gd name="adj" fmla="val 8696"/>
            </a:avLst>
          </a:prstGeom>
          <a:solidFill>
            <a:srgbClr val="FFFFFF">
              <a:alpha val="97000"/>
            </a:srgbClr>
          </a:solidFill>
          <a:ln w="12700">
            <a:solidFill>
              <a:srgbClr val="007C89"/>
            </a:solidFill>
            <a:prstDash val="solid"/>
          </a:ln>
        </p:spPr>
      </p:sp>
      <p:sp>
        <p:nvSpPr>
          <p:cNvPr id="13" name="Text 11"/>
          <p:cNvSpPr/>
          <p:nvPr/>
        </p:nvSpPr>
        <p:spPr>
          <a:xfrm>
            <a:off x="6611112" y="3127248"/>
            <a:ext cx="4745736" cy="658368"/>
          </a:xfrm>
          <a:prstGeom prst="rect">
            <a:avLst/>
          </a:prstGeom>
          <a:noFill/>
          <a:ln/>
        </p:spPr>
        <p:txBody>
          <a:bodyPr wrap="square" lIns="0" tIns="0" rIns="0" bIns="0" rtlCol="0" anchor="ctr">
            <a:normAutofit/>
          </a:bodyPr>
          <a:lstStyle/>
          <a:p>
            <a:pPr algn="ctr" indent="0" marL="0">
              <a:buNone/>
            </a:pPr>
            <a:r>
              <a:rPr lang="en-US" sz="2100" b="1" dirty="0">
                <a:solidFill>
                  <a:srgbClr val="005088"/>
                </a:solidFill>
                <a:latin typeface="Cambria Math" pitchFamily="34" charset="0"/>
                <a:ea typeface="Cambria Math" pitchFamily="34" charset="-122"/>
                <a:cs typeface="Cambria Math" pitchFamily="34" charset="-120"/>
              </a:rPr>
              <a:t>all objects are named</a:t>
            </a:r>
            <a:endParaRPr lang="en-US" sz="2100" dirty="0"/>
          </a:p>
        </p:txBody>
      </p:sp>
      <p:sp>
        <p:nvSpPr>
          <p:cNvPr id="14" name="Shape 12"/>
          <p:cNvSpPr/>
          <p:nvPr/>
        </p:nvSpPr>
        <p:spPr>
          <a:xfrm>
            <a:off x="6446520" y="4041648"/>
            <a:ext cx="5074920" cy="859536"/>
          </a:xfrm>
          <a:prstGeom prst="roundRect">
            <a:avLst>
              <a:gd name="adj" fmla="val 8511"/>
            </a:avLst>
          </a:prstGeom>
          <a:solidFill>
            <a:srgbClr val="FFE4E6"/>
          </a:solidFill>
          <a:ln w="12700">
            <a:solidFill>
              <a:srgbClr val="FDA4AF"/>
            </a:solidFill>
            <a:prstDash val="solid"/>
          </a:ln>
        </p:spPr>
      </p:sp>
      <p:sp>
        <p:nvSpPr>
          <p:cNvPr id="15" name="Text 13"/>
          <p:cNvSpPr/>
          <p:nvPr/>
        </p:nvSpPr>
        <p:spPr>
          <a:xfrm>
            <a:off x="6629400" y="4178808"/>
            <a:ext cx="4709160" cy="219456"/>
          </a:xfrm>
          <a:prstGeom prst="rect">
            <a:avLst/>
          </a:prstGeom>
          <a:noFill/>
          <a:ln/>
        </p:spPr>
        <p:txBody>
          <a:bodyPr wrap="square" lIns="0" tIns="0" rIns="0" bIns="0" rtlCol="0" anchor="ctr"/>
          <a:lstStyle/>
          <a:p>
            <a:pPr indent="0" marL="0">
              <a:buNone/>
            </a:pPr>
            <a:r>
              <a:rPr lang="en-US" sz="950" b="1" dirty="0">
                <a:solidFill>
                  <a:srgbClr val="C1121F"/>
                </a:solidFill>
              </a:rPr>
              <a:t>STUDENT GOTCHA</a:t>
            </a:r>
            <a:endParaRPr lang="en-US" sz="950" dirty="0"/>
          </a:p>
        </p:txBody>
      </p:sp>
      <p:sp>
        <p:nvSpPr>
          <p:cNvPr id="16" name="Text 14"/>
          <p:cNvSpPr/>
          <p:nvPr/>
        </p:nvSpPr>
        <p:spPr>
          <a:xfrm>
            <a:off x="6629400" y="4453128"/>
            <a:ext cx="4709160" cy="356616"/>
          </a:xfrm>
          <a:prstGeom prst="rect">
            <a:avLst/>
          </a:prstGeom>
          <a:noFill/>
          <a:ln/>
        </p:spPr>
        <p:txBody>
          <a:bodyPr wrap="square" lIns="254" tIns="254" rIns="254" bIns="254" rtlCol="0" anchor="t">
            <a:normAutofit/>
          </a:bodyPr>
          <a:lstStyle/>
          <a:p>
            <a:pPr indent="0" marL="0">
              <a:buNone/>
            </a:pPr>
            <a:r>
              <a:rPr lang="en-US" sz="1250" dirty="0">
                <a:solidFill>
                  <a:srgbClr val="1E293B"/>
                </a:solidFill>
              </a:rPr>
              <a:t>This assumption is false for open-ended worlds such as the internet or a city street.</a:t>
            </a:r>
            <a:endParaRPr lang="en-US" sz="1250" dirty="0"/>
          </a:p>
        </p:txBody>
      </p:sp>
      <p:sp>
        <p:nvSpPr>
          <p:cNvPr id="17" name="Shape 15"/>
          <p:cNvSpPr/>
          <p:nvPr/>
        </p:nvSpPr>
        <p:spPr>
          <a:xfrm>
            <a:off x="6446520" y="5074920"/>
            <a:ext cx="5074920" cy="841248"/>
          </a:xfrm>
          <a:prstGeom prst="roundRect">
            <a:avLst>
              <a:gd name="adj" fmla="val 8696"/>
            </a:avLst>
          </a:prstGeom>
          <a:solidFill>
            <a:srgbClr val="E6FFFA"/>
          </a:solidFill>
          <a:ln w="12700">
            <a:solidFill>
              <a:srgbClr val="2A9D8F"/>
            </a:solidFill>
            <a:prstDash val="solid"/>
          </a:ln>
        </p:spPr>
      </p:sp>
      <p:sp>
        <p:nvSpPr>
          <p:cNvPr id="18" name="Text 16"/>
          <p:cNvSpPr/>
          <p:nvPr/>
        </p:nvSpPr>
        <p:spPr>
          <a:xfrm>
            <a:off x="6629400" y="5212080"/>
            <a:ext cx="4709160" cy="219456"/>
          </a:xfrm>
          <a:prstGeom prst="rect">
            <a:avLst/>
          </a:prstGeom>
          <a:noFill/>
          <a:ln/>
        </p:spPr>
        <p:txBody>
          <a:bodyPr wrap="square" lIns="0" tIns="0" rIns="0" bIns="0" rtlCol="0" anchor="ctr"/>
          <a:lstStyle/>
          <a:p>
            <a:pPr indent="0" marL="0">
              <a:buNone/>
            </a:pPr>
            <a:r>
              <a:rPr lang="en-US" sz="950" b="1" dirty="0">
                <a:solidFill>
                  <a:srgbClr val="007C89"/>
                </a:solidFill>
              </a:rPr>
              <a:t>CLASS CHECK</a:t>
            </a:r>
            <a:endParaRPr lang="en-US" sz="950" dirty="0"/>
          </a:p>
        </p:txBody>
      </p:sp>
      <p:sp>
        <p:nvSpPr>
          <p:cNvPr id="19" name="Text 17"/>
          <p:cNvSpPr/>
          <p:nvPr/>
        </p:nvSpPr>
        <p:spPr>
          <a:xfrm>
            <a:off x="6629400" y="5486400"/>
            <a:ext cx="4709160" cy="338328"/>
          </a:xfrm>
          <a:prstGeom prst="rect">
            <a:avLst/>
          </a:prstGeom>
          <a:noFill/>
          <a:ln/>
        </p:spPr>
        <p:txBody>
          <a:bodyPr wrap="square" lIns="254" tIns="254" rIns="254" bIns="254" rtlCol="0" anchor="t">
            <a:normAutofit/>
          </a:bodyPr>
          <a:lstStyle/>
          <a:p>
            <a:pPr indent="0" marL="0">
              <a:buNone/>
            </a:pPr>
            <a:r>
              <a:rPr lang="en-US" sz="1270" dirty="0">
                <a:solidFill>
                  <a:srgbClr val="1E293B"/>
                </a:solidFill>
              </a:rPr>
              <a:t>Ask: Is a campus course catalog closed under all students who might enroll next year?</a:t>
            </a:r>
            <a:endParaRPr lang="en-US" sz="127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5088"/>
          </a:solidFill>
          <a:ln w="12700">
            <a:solidFill>
              <a:srgbClr val="005088"/>
            </a:solidFill>
            <a:prstDash val="solid"/>
          </a:ln>
        </p:spPr>
      </p:sp>
      <p:sp>
        <p:nvSpPr>
          <p:cNvPr id="3" name="Shape 1"/>
          <p:cNvSpPr/>
          <p:nvPr/>
        </p:nvSpPr>
        <p:spPr>
          <a:xfrm>
            <a:off x="0" y="6729984"/>
            <a:ext cx="12191695" cy="128016"/>
          </a:xfrm>
          <a:prstGeom prst="rect">
            <a:avLst/>
          </a:prstGeom>
          <a:solidFill>
            <a:srgbClr val="005088"/>
          </a:solidFill>
          <a:ln w="12700">
            <a:solidFill>
              <a:srgbClr val="005088"/>
            </a:solidFill>
            <a:prstDash val="solid"/>
          </a:ln>
        </p:spPr>
      </p:sp>
      <p:sp>
        <p:nvSpPr>
          <p:cNvPr id="4" name="Text 2"/>
          <p:cNvSpPr/>
          <p:nvPr/>
        </p:nvSpPr>
        <p:spPr>
          <a:xfrm>
            <a:off x="502920" y="210312"/>
            <a:ext cx="6858000" cy="219456"/>
          </a:xfrm>
          <a:prstGeom prst="rect">
            <a:avLst/>
          </a:prstGeom>
          <a:noFill/>
          <a:ln/>
        </p:spPr>
        <p:txBody>
          <a:bodyPr wrap="square" lIns="0" tIns="0" rIns="0" bIns="0" rtlCol="0" anchor="ctr"/>
          <a:lstStyle/>
          <a:p>
            <a:pPr indent="0" marL="0">
              <a:buNone/>
            </a:pPr>
            <a:r>
              <a:rPr lang="en-US" sz="950" b="1" dirty="0">
                <a:solidFill>
                  <a:srgbClr val="3D5A80"/>
                </a:solidFill>
                <a:latin typeface="Aptos" pitchFamily="34" charset="0"/>
                <a:ea typeface="Aptos" pitchFamily="34" charset="-122"/>
                <a:cs typeface="Aptos" pitchFamily="34" charset="-120"/>
              </a:rPr>
              <a:t>8.2.8 Database Semantics</a:t>
            </a:r>
            <a:endParaRPr lang="en-US" sz="950" dirty="0"/>
          </a:p>
        </p:txBody>
      </p:sp>
      <p:sp>
        <p:nvSpPr>
          <p:cNvPr id="5" name="Text 3"/>
          <p:cNvSpPr/>
          <p:nvPr/>
        </p:nvSpPr>
        <p:spPr>
          <a:xfrm>
            <a:off x="11018520" y="201168"/>
            <a:ext cx="640080" cy="228600"/>
          </a:xfrm>
          <a:prstGeom prst="rect">
            <a:avLst/>
          </a:prstGeom>
          <a:noFill/>
          <a:ln/>
        </p:spPr>
        <p:txBody>
          <a:bodyPr wrap="square" lIns="0" tIns="0" rIns="0" bIns="0" rtlCol="0" anchor="ctr"/>
          <a:lstStyle/>
          <a:p>
            <a:pPr algn="r" indent="0" marL="0">
              <a:buNone/>
            </a:pPr>
            <a:r>
              <a:rPr lang="en-US" sz="900" b="1" dirty="0">
                <a:solidFill>
                  <a:srgbClr val="3D5A80"/>
                </a:solidFill>
              </a:rPr>
              <a:t>70</a:t>
            </a:r>
            <a:endParaRPr lang="en-US" sz="900" dirty="0"/>
          </a:p>
        </p:txBody>
      </p:sp>
      <p:sp>
        <p:nvSpPr>
          <p:cNvPr id="6" name="Text 4"/>
          <p:cNvSpPr/>
          <p:nvPr/>
        </p:nvSpPr>
        <p:spPr>
          <a:xfrm>
            <a:off x="502920" y="566928"/>
            <a:ext cx="11201400" cy="512064"/>
          </a:xfrm>
          <a:prstGeom prst="rect">
            <a:avLst/>
          </a:prstGeom>
          <a:noFill/>
          <a:ln/>
        </p:spPr>
        <p:txBody>
          <a:bodyPr wrap="square" lIns="0" tIns="0" rIns="0" bIns="0" rtlCol="0" anchor="ctr">
            <a:normAutofit/>
          </a:bodyPr>
          <a:lstStyle/>
          <a:p>
            <a:pPr indent="0" marL="0">
              <a:buNone/>
            </a:pPr>
            <a:r>
              <a:rPr lang="en-US" sz="2650" b="1" dirty="0">
                <a:solidFill>
                  <a:srgbClr val="005088"/>
                </a:solidFill>
                <a:latin typeface="Aptos Display" pitchFamily="34" charset="0"/>
                <a:ea typeface="Aptos Display" pitchFamily="34" charset="-122"/>
                <a:cs typeface="Aptos Display" pitchFamily="34" charset="-120"/>
              </a:rPr>
              <a:t>CHOOSING STANDARD OR DATABASE SEMANTICS</a:t>
            </a:r>
            <a:endParaRPr lang="en-US" sz="2650" dirty="0"/>
          </a:p>
        </p:txBody>
      </p:sp>
      <p:sp>
        <p:nvSpPr>
          <p:cNvPr id="7" name="Shape 5"/>
          <p:cNvSpPr/>
          <p:nvPr/>
        </p:nvSpPr>
        <p:spPr>
          <a:xfrm>
            <a:off x="502920" y="1188720"/>
            <a:ext cx="11109960" cy="0"/>
          </a:xfrm>
          <a:prstGeom prst="line">
            <a:avLst/>
          </a:prstGeom>
          <a:noFill/>
          <a:ln w="12700">
            <a:solidFill>
              <a:srgbClr val="3D5A80"/>
            </a:solidFill>
            <a:prstDash val="solid"/>
          </a:ln>
        </p:spPr>
      </p:sp>
      <p:sp>
        <p:nvSpPr>
          <p:cNvPr id="8" name="Text 6"/>
          <p:cNvSpPr/>
          <p:nvPr/>
        </p:nvSpPr>
        <p:spPr>
          <a:xfrm>
            <a:off x="713232" y="1572768"/>
            <a:ext cx="5440680" cy="4251960"/>
          </a:xfrm>
          <a:prstGeom prst="rect">
            <a:avLst/>
          </a:prstGeom>
          <a:noFill/>
          <a:ln/>
        </p:spPr>
        <p:txBody>
          <a:bodyPr wrap="square" lIns="1016" tIns="1016" rIns="1016" bIns="1016" rtlCol="0" anchor="t">
            <a:normAutofit/>
          </a:bodyPr>
          <a:lstStyle/>
          <a:p>
            <a:pPr indent="0" marL="0">
              <a:buNone/>
            </a:pPr>
            <a:r>
              <a:rPr lang="en-US" sz="1650" dirty="0">
                <a:solidFill>
                  <a:srgbClr val="1E293B"/>
                </a:solidFill>
                <a:latin typeface="Aptos" pitchFamily="34" charset="0"/>
                <a:ea typeface="Aptos" pitchFamily="34" charset="-122"/>
                <a:cs typeface="Aptos" pitchFamily="34" charset="-120"/>
              </a:rPr>
              <a:t>• Use standard semantics for incomplete or evolving worlds</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Use database semantics for complete controlled records</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The semantics should fit the task</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There is no single correct semantics for every use case</a:t>
            </a:r>
            <a:endParaRPr lang="en-US" sz="1650" dirty="0"/>
          </a:p>
        </p:txBody>
      </p:sp>
      <p:sp>
        <p:nvSpPr>
          <p:cNvPr id="9" name="Shape 7"/>
          <p:cNvSpPr/>
          <p:nvPr/>
        </p:nvSpPr>
        <p:spPr>
          <a:xfrm>
            <a:off x="6446520" y="1572768"/>
            <a:ext cx="5074920" cy="1234440"/>
          </a:xfrm>
          <a:prstGeom prst="roundRect">
            <a:avLst>
              <a:gd name="adj" fmla="val 5926"/>
            </a:avLst>
          </a:prstGeom>
          <a:solidFill>
            <a:srgbClr val="FFF6D9"/>
          </a:solidFill>
          <a:ln w="12700">
            <a:solidFill>
              <a:srgbClr val="F4A261"/>
            </a:solidFill>
            <a:prstDash val="solid"/>
          </a:ln>
        </p:spPr>
      </p:sp>
      <p:sp>
        <p:nvSpPr>
          <p:cNvPr id="10" name="Text 8"/>
          <p:cNvSpPr/>
          <p:nvPr/>
        </p:nvSpPr>
        <p:spPr>
          <a:xfrm>
            <a:off x="6629400" y="1709928"/>
            <a:ext cx="4709160" cy="219456"/>
          </a:xfrm>
          <a:prstGeom prst="rect">
            <a:avLst/>
          </a:prstGeom>
          <a:noFill/>
          <a:ln/>
        </p:spPr>
        <p:txBody>
          <a:bodyPr wrap="square" lIns="0" tIns="0" rIns="0" bIns="0" rtlCol="0" anchor="ctr"/>
          <a:lstStyle/>
          <a:p>
            <a:pPr indent="0" marL="0">
              <a:buNone/>
            </a:pPr>
            <a:r>
              <a:rPr lang="en-US" sz="950" b="1" dirty="0">
                <a:solidFill>
                  <a:srgbClr val="B0005D"/>
                </a:solidFill>
              </a:rPr>
              <a:t>ANALOGY</a:t>
            </a:r>
            <a:endParaRPr lang="en-US" sz="950" dirty="0"/>
          </a:p>
        </p:txBody>
      </p:sp>
      <p:sp>
        <p:nvSpPr>
          <p:cNvPr id="11" name="Text 9"/>
          <p:cNvSpPr/>
          <p:nvPr/>
        </p:nvSpPr>
        <p:spPr>
          <a:xfrm>
            <a:off x="6629400" y="1984248"/>
            <a:ext cx="4709160" cy="731520"/>
          </a:xfrm>
          <a:prstGeom prst="rect">
            <a:avLst/>
          </a:prstGeom>
          <a:noFill/>
          <a:ln/>
        </p:spPr>
        <p:txBody>
          <a:bodyPr wrap="square" lIns="254" tIns="254" rIns="254" bIns="254" rtlCol="0" anchor="t">
            <a:normAutofit/>
          </a:bodyPr>
          <a:lstStyle/>
          <a:p>
            <a:pPr indent="0" marL="0">
              <a:buNone/>
            </a:pPr>
            <a:r>
              <a:rPr lang="en-US" sz="1330" dirty="0">
                <a:solidFill>
                  <a:srgbClr val="1E293B"/>
                </a:solidFill>
              </a:rPr>
              <a:t>A weather forecast should not assume unreported rain is false, but a gradebook may treat a missing submission as zero by course policy.</a:t>
            </a:r>
            <a:endParaRPr lang="en-US" sz="1330" dirty="0"/>
          </a:p>
        </p:txBody>
      </p:sp>
      <p:sp>
        <p:nvSpPr>
          <p:cNvPr id="12" name="Shape 10"/>
          <p:cNvSpPr/>
          <p:nvPr/>
        </p:nvSpPr>
        <p:spPr>
          <a:xfrm>
            <a:off x="6446520" y="2999232"/>
            <a:ext cx="5074920" cy="841248"/>
          </a:xfrm>
          <a:prstGeom prst="roundRect">
            <a:avLst>
              <a:gd name="adj" fmla="val 8696"/>
            </a:avLst>
          </a:prstGeom>
          <a:solidFill>
            <a:srgbClr val="FFFFFF">
              <a:alpha val="97000"/>
            </a:srgbClr>
          </a:solidFill>
          <a:ln w="12700">
            <a:solidFill>
              <a:srgbClr val="007C89"/>
            </a:solidFill>
            <a:prstDash val="solid"/>
          </a:ln>
        </p:spPr>
      </p:sp>
      <p:sp>
        <p:nvSpPr>
          <p:cNvPr id="13" name="Text 11"/>
          <p:cNvSpPr/>
          <p:nvPr/>
        </p:nvSpPr>
        <p:spPr>
          <a:xfrm>
            <a:off x="6611112" y="3127248"/>
            <a:ext cx="4745736" cy="658368"/>
          </a:xfrm>
          <a:prstGeom prst="rect">
            <a:avLst/>
          </a:prstGeom>
          <a:noFill/>
          <a:ln/>
        </p:spPr>
        <p:txBody>
          <a:bodyPr wrap="square" lIns="0" tIns="0" rIns="0" bIns="0" rtlCol="0" anchor="ctr">
            <a:normAutofit/>
          </a:bodyPr>
          <a:lstStyle/>
          <a:p>
            <a:pPr algn="ctr" indent="0" marL="0">
              <a:buNone/>
            </a:pPr>
            <a:r>
              <a:rPr lang="en-US" sz="2000" b="1" dirty="0">
                <a:solidFill>
                  <a:srgbClr val="005088"/>
                </a:solidFill>
                <a:latin typeface="Cambria Math" pitchFamily="34" charset="0"/>
                <a:ea typeface="Cambria Math" pitchFamily="34" charset="-122"/>
                <a:cs typeface="Cambria Math" pitchFamily="34" charset="-120"/>
              </a:rPr>
              <a:t>semantics is a modeling choice</a:t>
            </a:r>
            <a:endParaRPr lang="en-US" sz="2000" dirty="0"/>
          </a:p>
        </p:txBody>
      </p:sp>
      <p:sp>
        <p:nvSpPr>
          <p:cNvPr id="14" name="Shape 12"/>
          <p:cNvSpPr/>
          <p:nvPr/>
        </p:nvSpPr>
        <p:spPr>
          <a:xfrm>
            <a:off x="6446520" y="4041648"/>
            <a:ext cx="5074920" cy="859536"/>
          </a:xfrm>
          <a:prstGeom prst="roundRect">
            <a:avLst>
              <a:gd name="adj" fmla="val 8511"/>
            </a:avLst>
          </a:prstGeom>
          <a:solidFill>
            <a:srgbClr val="FFE4E6"/>
          </a:solidFill>
          <a:ln w="12700">
            <a:solidFill>
              <a:srgbClr val="FDA4AF"/>
            </a:solidFill>
            <a:prstDash val="solid"/>
          </a:ln>
        </p:spPr>
      </p:sp>
      <p:sp>
        <p:nvSpPr>
          <p:cNvPr id="15" name="Text 13"/>
          <p:cNvSpPr/>
          <p:nvPr/>
        </p:nvSpPr>
        <p:spPr>
          <a:xfrm>
            <a:off x="6629400" y="4178808"/>
            <a:ext cx="4709160" cy="219456"/>
          </a:xfrm>
          <a:prstGeom prst="rect">
            <a:avLst/>
          </a:prstGeom>
          <a:noFill/>
          <a:ln/>
        </p:spPr>
        <p:txBody>
          <a:bodyPr wrap="square" lIns="0" tIns="0" rIns="0" bIns="0" rtlCol="0" anchor="ctr"/>
          <a:lstStyle/>
          <a:p>
            <a:pPr indent="0" marL="0">
              <a:buNone/>
            </a:pPr>
            <a:r>
              <a:rPr lang="en-US" sz="950" b="1" dirty="0">
                <a:solidFill>
                  <a:srgbClr val="C1121F"/>
                </a:solidFill>
              </a:rPr>
              <a:t>STUDENT GOTCHA</a:t>
            </a:r>
            <a:endParaRPr lang="en-US" sz="950" dirty="0"/>
          </a:p>
        </p:txBody>
      </p:sp>
      <p:sp>
        <p:nvSpPr>
          <p:cNvPr id="16" name="Text 14"/>
          <p:cNvSpPr/>
          <p:nvPr/>
        </p:nvSpPr>
        <p:spPr>
          <a:xfrm>
            <a:off x="6629400" y="4453128"/>
            <a:ext cx="4709160" cy="356616"/>
          </a:xfrm>
          <a:prstGeom prst="rect">
            <a:avLst/>
          </a:prstGeom>
          <a:noFill/>
          <a:ln/>
        </p:spPr>
        <p:txBody>
          <a:bodyPr wrap="square" lIns="254" tIns="254" rIns="254" bIns="254" rtlCol="0" anchor="t">
            <a:normAutofit/>
          </a:bodyPr>
          <a:lstStyle/>
          <a:p>
            <a:pPr indent="0" marL="0">
              <a:buNone/>
            </a:pPr>
            <a:r>
              <a:rPr lang="en-US" sz="1250" dirty="0">
                <a:solidFill>
                  <a:srgbClr val="1E293B"/>
                </a:solidFill>
              </a:rPr>
              <a:t>Students may treat closed-world assumptions as common sense. They are policy choices, not logical necessities.</a:t>
            </a:r>
            <a:endParaRPr lang="en-US" sz="1250" dirty="0"/>
          </a:p>
        </p:txBody>
      </p:sp>
      <p:sp>
        <p:nvSpPr>
          <p:cNvPr id="17" name="Shape 15"/>
          <p:cNvSpPr/>
          <p:nvPr/>
        </p:nvSpPr>
        <p:spPr>
          <a:xfrm>
            <a:off x="6446520" y="5074920"/>
            <a:ext cx="5074920" cy="841248"/>
          </a:xfrm>
          <a:prstGeom prst="roundRect">
            <a:avLst>
              <a:gd name="adj" fmla="val 8696"/>
            </a:avLst>
          </a:prstGeom>
          <a:solidFill>
            <a:srgbClr val="E6FFFA"/>
          </a:solidFill>
          <a:ln w="12700">
            <a:solidFill>
              <a:srgbClr val="2A9D8F"/>
            </a:solidFill>
            <a:prstDash val="solid"/>
          </a:ln>
        </p:spPr>
      </p:sp>
      <p:sp>
        <p:nvSpPr>
          <p:cNvPr id="18" name="Text 16"/>
          <p:cNvSpPr/>
          <p:nvPr/>
        </p:nvSpPr>
        <p:spPr>
          <a:xfrm>
            <a:off x="6629400" y="5212080"/>
            <a:ext cx="4709160" cy="219456"/>
          </a:xfrm>
          <a:prstGeom prst="rect">
            <a:avLst/>
          </a:prstGeom>
          <a:noFill/>
          <a:ln/>
        </p:spPr>
        <p:txBody>
          <a:bodyPr wrap="square" lIns="0" tIns="0" rIns="0" bIns="0" rtlCol="0" anchor="ctr"/>
          <a:lstStyle/>
          <a:p>
            <a:pPr indent="0" marL="0">
              <a:buNone/>
            </a:pPr>
            <a:r>
              <a:rPr lang="en-US" sz="950" b="1" dirty="0">
                <a:solidFill>
                  <a:srgbClr val="007C89"/>
                </a:solidFill>
              </a:rPr>
              <a:t>CLASS CHECK</a:t>
            </a:r>
            <a:endParaRPr lang="en-US" sz="950" dirty="0"/>
          </a:p>
        </p:txBody>
      </p:sp>
      <p:sp>
        <p:nvSpPr>
          <p:cNvPr id="19" name="Text 17"/>
          <p:cNvSpPr/>
          <p:nvPr/>
        </p:nvSpPr>
        <p:spPr>
          <a:xfrm>
            <a:off x="6629400" y="5486400"/>
            <a:ext cx="4709160" cy="338328"/>
          </a:xfrm>
          <a:prstGeom prst="rect">
            <a:avLst/>
          </a:prstGeom>
          <a:noFill/>
          <a:ln/>
        </p:spPr>
        <p:txBody>
          <a:bodyPr wrap="square" lIns="254" tIns="254" rIns="254" bIns="254" rtlCol="0" anchor="t">
            <a:normAutofit/>
          </a:bodyPr>
          <a:lstStyle/>
          <a:p>
            <a:pPr indent="0" marL="0">
              <a:buNone/>
            </a:pPr>
            <a:r>
              <a:rPr lang="en-US" sz="1270" dirty="0">
                <a:solidFill>
                  <a:srgbClr val="1E293B"/>
                </a:solidFill>
              </a:rPr>
              <a:t>Classify: medical diagnosis system, course enrollment database, robot exploration map.</a:t>
            </a:r>
            <a:endParaRPr lang="en-US" sz="127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005088"/>
        </a:solidFill>
      </p:bgPr>
    </p:bg>
    <p:spTree>
      <p:nvGrpSpPr>
        <p:cNvPr id="1" name=""/>
        <p:cNvGrpSpPr/>
        <p:nvPr/>
      </p:nvGrpSpPr>
      <p:grpSpPr>
        <a:xfrm>
          <a:off x="0" y="0"/>
          <a:ext cx="0" cy="0"/>
          <a:chOff x="0" y="0"/>
          <a:chExt cx="0" cy="0"/>
        </a:xfrm>
      </p:grpSpPr>
      <p:sp>
        <p:nvSpPr>
          <p:cNvPr id="2" name="Text 0"/>
          <p:cNvSpPr/>
          <p:nvPr/>
        </p:nvSpPr>
        <p:spPr>
          <a:xfrm>
            <a:off x="685800" y="502920"/>
            <a:ext cx="2194560" cy="320040"/>
          </a:xfrm>
          <a:prstGeom prst="rect">
            <a:avLst/>
          </a:prstGeom>
          <a:noFill/>
          <a:ln/>
        </p:spPr>
        <p:txBody>
          <a:bodyPr wrap="square" lIns="0" tIns="0" rIns="0" bIns="0" rtlCol="0" anchor="ctr"/>
          <a:lstStyle/>
          <a:p>
            <a:pPr indent="0" marL="0">
              <a:buNone/>
            </a:pPr>
            <a:r>
              <a:rPr lang="en-US" sz="1600" b="1" dirty="0">
                <a:solidFill>
                  <a:srgbClr val="A5F3FC"/>
                </a:solidFill>
              </a:rPr>
              <a:t>Computer Science 469</a:t>
            </a:r>
            <a:endParaRPr lang="en-US" sz="1600" dirty="0"/>
          </a:p>
        </p:txBody>
      </p:sp>
      <p:sp>
        <p:nvSpPr>
          <p:cNvPr id="3" name="Text 1"/>
          <p:cNvSpPr/>
          <p:nvPr/>
        </p:nvSpPr>
        <p:spPr>
          <a:xfrm>
            <a:off x="685800" y="850392"/>
            <a:ext cx="2194560" cy="274320"/>
          </a:xfrm>
          <a:prstGeom prst="rect">
            <a:avLst/>
          </a:prstGeom>
          <a:noFill/>
          <a:ln/>
        </p:spPr>
        <p:txBody>
          <a:bodyPr wrap="square" lIns="0" tIns="0" rIns="0" bIns="0" rtlCol="0" anchor="ctr"/>
          <a:lstStyle/>
          <a:p>
            <a:pPr indent="0" marL="0">
              <a:buNone/>
            </a:pPr>
            <a:r>
              <a:rPr lang="en-US" sz="1200" dirty="0">
                <a:solidFill>
                  <a:srgbClr val="D9F99D"/>
                </a:solidFill>
              </a:rPr>
              <a:t>Chapter 8</a:t>
            </a:r>
            <a:endParaRPr lang="en-US" sz="1200" dirty="0"/>
          </a:p>
        </p:txBody>
      </p:sp>
      <p:sp>
        <p:nvSpPr>
          <p:cNvPr id="4" name="Text 2"/>
          <p:cNvSpPr/>
          <p:nvPr/>
        </p:nvSpPr>
        <p:spPr>
          <a:xfrm>
            <a:off x="685800" y="1901952"/>
            <a:ext cx="10744200" cy="896112"/>
          </a:xfrm>
          <a:prstGeom prst="rect">
            <a:avLst/>
          </a:prstGeom>
          <a:noFill/>
          <a:ln/>
        </p:spPr>
        <p:txBody>
          <a:bodyPr wrap="square" lIns="0" tIns="0" rIns="0" bIns="0" rtlCol="0" anchor="ctr">
            <a:normAutofit/>
          </a:bodyPr>
          <a:lstStyle/>
          <a:p>
            <a:pPr indent="0" marL="0">
              <a:buNone/>
            </a:pPr>
            <a:r>
              <a:rPr lang="en-US" sz="4200" b="1" dirty="0">
                <a:solidFill>
                  <a:srgbClr val="F4F1DE"/>
                </a:solidFill>
              </a:rPr>
              <a:t>8.3 Using First-Order Logic</a:t>
            </a:r>
            <a:endParaRPr lang="en-US" sz="4200" dirty="0"/>
          </a:p>
        </p:txBody>
      </p:sp>
      <p:sp>
        <p:nvSpPr>
          <p:cNvPr id="5" name="Text 3"/>
          <p:cNvSpPr/>
          <p:nvPr/>
        </p:nvSpPr>
        <p:spPr>
          <a:xfrm>
            <a:off x="713232" y="2880360"/>
            <a:ext cx="10424160" cy="429768"/>
          </a:xfrm>
          <a:prstGeom prst="rect">
            <a:avLst/>
          </a:prstGeom>
          <a:noFill/>
          <a:ln/>
        </p:spPr>
        <p:txBody>
          <a:bodyPr wrap="square" lIns="0" tIns="0" rIns="0" bIns="0" rtlCol="0" anchor="ctr">
            <a:normAutofit/>
          </a:bodyPr>
          <a:lstStyle/>
          <a:p>
            <a:pPr indent="0" marL="0">
              <a:buNone/>
            </a:pPr>
            <a:r>
              <a:rPr lang="en-US" sz="1900" dirty="0">
                <a:solidFill>
                  <a:srgbClr val="D9F99D"/>
                </a:solidFill>
              </a:rPr>
              <a:t>Writing useful knowledge instead of only legal formulas</a:t>
            </a:r>
            <a:endParaRPr lang="en-US" sz="1900" dirty="0"/>
          </a:p>
        </p:txBody>
      </p:sp>
      <p:sp>
        <p:nvSpPr>
          <p:cNvPr id="6" name="Shape 4"/>
          <p:cNvSpPr/>
          <p:nvPr/>
        </p:nvSpPr>
        <p:spPr>
          <a:xfrm>
            <a:off x="713232" y="3529584"/>
            <a:ext cx="2194560" cy="54864"/>
          </a:xfrm>
          <a:prstGeom prst="rect">
            <a:avLst/>
          </a:prstGeom>
          <a:solidFill>
            <a:srgbClr val="D9F99D"/>
          </a:solidFill>
          <a:ln w="12700">
            <a:solidFill>
              <a:srgbClr val="D9F99D"/>
            </a:solidFill>
            <a:prstDash val="solid"/>
          </a:ln>
        </p:spPr>
      </p:sp>
      <p:sp>
        <p:nvSpPr>
          <p:cNvPr id="7" name="Shape 5"/>
          <p:cNvSpPr/>
          <p:nvPr/>
        </p:nvSpPr>
        <p:spPr>
          <a:xfrm>
            <a:off x="713232" y="3950208"/>
            <a:ext cx="10652760" cy="1005840"/>
          </a:xfrm>
          <a:prstGeom prst="roundRect">
            <a:avLst>
              <a:gd name="adj" fmla="val 7273"/>
            </a:avLst>
          </a:prstGeom>
          <a:solidFill>
            <a:srgbClr val="073B4C"/>
          </a:solidFill>
          <a:ln w="12700">
            <a:solidFill>
              <a:srgbClr val="A5F3FC"/>
            </a:solidFill>
            <a:prstDash val="solid"/>
          </a:ln>
        </p:spPr>
      </p:sp>
      <p:sp>
        <p:nvSpPr>
          <p:cNvPr id="8" name="Text 6"/>
          <p:cNvSpPr/>
          <p:nvPr/>
        </p:nvSpPr>
        <p:spPr>
          <a:xfrm>
            <a:off x="896112" y="4087368"/>
            <a:ext cx="10287000" cy="219456"/>
          </a:xfrm>
          <a:prstGeom prst="rect">
            <a:avLst/>
          </a:prstGeom>
          <a:noFill/>
          <a:ln/>
        </p:spPr>
        <p:txBody>
          <a:bodyPr wrap="square" lIns="0" tIns="0" rIns="0" bIns="0" rtlCol="0" anchor="ctr"/>
          <a:lstStyle/>
          <a:p>
            <a:pPr indent="0" marL="0">
              <a:buNone/>
            </a:pPr>
            <a:r>
              <a:rPr lang="en-US" sz="950" b="1" dirty="0">
                <a:solidFill>
                  <a:srgbClr val="A5F3FC"/>
                </a:solidFill>
              </a:rPr>
              <a:t>INSTRUCTOR CUE</a:t>
            </a:r>
            <a:endParaRPr lang="en-US" sz="950" dirty="0"/>
          </a:p>
        </p:txBody>
      </p:sp>
      <p:sp>
        <p:nvSpPr>
          <p:cNvPr id="9" name="Text 7"/>
          <p:cNvSpPr/>
          <p:nvPr/>
        </p:nvSpPr>
        <p:spPr>
          <a:xfrm>
            <a:off x="896112" y="4361688"/>
            <a:ext cx="10287000" cy="502920"/>
          </a:xfrm>
          <a:prstGeom prst="rect">
            <a:avLst/>
          </a:prstGeom>
          <a:noFill/>
          <a:ln/>
        </p:spPr>
        <p:txBody>
          <a:bodyPr wrap="square" lIns="254" tIns="254" rIns="254" bIns="254" rtlCol="0" anchor="t">
            <a:normAutofit/>
          </a:bodyPr>
          <a:lstStyle/>
          <a:p>
            <a:pPr indent="0" marL="0">
              <a:buNone/>
            </a:pPr>
            <a:r>
              <a:rPr lang="en-US" sz="1500" dirty="0">
                <a:solidFill>
                  <a:srgbClr val="FFFFFF"/>
                </a:solidFill>
              </a:rPr>
              <a:t>Even though the uploaded excerpt emphasizes representation and knowledge engineering, students need a bridge from syntax to usage. Use Wumpus World translations and variable-answer queries to practice.</a:t>
            </a:r>
            <a:endParaRPr lang="en-US" sz="1500" dirty="0"/>
          </a:p>
        </p:txBody>
      </p:sp>
      <p:sp>
        <p:nvSpPr>
          <p:cNvPr id="10" name="Text 8"/>
          <p:cNvSpPr/>
          <p:nvPr/>
        </p:nvSpPr>
        <p:spPr>
          <a:xfrm>
            <a:off x="11018520" y="6172200"/>
            <a:ext cx="548640" cy="274320"/>
          </a:xfrm>
          <a:prstGeom prst="rect">
            <a:avLst/>
          </a:prstGeom>
          <a:noFill/>
          <a:ln/>
        </p:spPr>
        <p:txBody>
          <a:bodyPr wrap="square" lIns="0" tIns="0" rIns="0" bIns="0" rtlCol="0" anchor="ctr"/>
          <a:lstStyle/>
          <a:p>
            <a:pPr algn="r" indent="0" marL="0">
              <a:buNone/>
            </a:pPr>
            <a:r>
              <a:rPr lang="en-US" sz="1200" b="1" dirty="0">
                <a:solidFill>
                  <a:srgbClr val="D9F99D"/>
                </a:solidFill>
              </a:rPr>
              <a:t>71</a:t>
            </a:r>
            <a:endParaRPr lang="en-US" sz="12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5088"/>
          </a:solidFill>
          <a:ln w="12700">
            <a:solidFill>
              <a:srgbClr val="005088"/>
            </a:solidFill>
            <a:prstDash val="solid"/>
          </a:ln>
        </p:spPr>
      </p:sp>
      <p:sp>
        <p:nvSpPr>
          <p:cNvPr id="3" name="Shape 1"/>
          <p:cNvSpPr/>
          <p:nvPr/>
        </p:nvSpPr>
        <p:spPr>
          <a:xfrm>
            <a:off x="0" y="6729984"/>
            <a:ext cx="12191695" cy="128016"/>
          </a:xfrm>
          <a:prstGeom prst="rect">
            <a:avLst/>
          </a:prstGeom>
          <a:solidFill>
            <a:srgbClr val="005088"/>
          </a:solidFill>
          <a:ln w="12700">
            <a:solidFill>
              <a:srgbClr val="005088"/>
            </a:solidFill>
            <a:prstDash val="solid"/>
          </a:ln>
        </p:spPr>
      </p:sp>
      <p:sp>
        <p:nvSpPr>
          <p:cNvPr id="4" name="Text 2"/>
          <p:cNvSpPr/>
          <p:nvPr/>
        </p:nvSpPr>
        <p:spPr>
          <a:xfrm>
            <a:off x="502920" y="210312"/>
            <a:ext cx="6858000" cy="219456"/>
          </a:xfrm>
          <a:prstGeom prst="rect">
            <a:avLst/>
          </a:prstGeom>
          <a:noFill/>
          <a:ln/>
        </p:spPr>
        <p:txBody>
          <a:bodyPr wrap="square" lIns="0" tIns="0" rIns="0" bIns="0" rtlCol="0" anchor="ctr"/>
          <a:lstStyle/>
          <a:p>
            <a:pPr indent="0" marL="0">
              <a:buNone/>
            </a:pPr>
            <a:r>
              <a:rPr lang="en-US" sz="950" b="1" dirty="0">
                <a:solidFill>
                  <a:srgbClr val="3D5A80"/>
                </a:solidFill>
                <a:latin typeface="Aptos" pitchFamily="34" charset="0"/>
                <a:ea typeface="Aptos" pitchFamily="34" charset="-122"/>
                <a:cs typeface="Aptos" pitchFamily="34" charset="-120"/>
              </a:rPr>
              <a:t>8.3 Using First-Order Logic</a:t>
            </a:r>
            <a:endParaRPr lang="en-US" sz="950" dirty="0"/>
          </a:p>
        </p:txBody>
      </p:sp>
      <p:sp>
        <p:nvSpPr>
          <p:cNvPr id="5" name="Text 3"/>
          <p:cNvSpPr/>
          <p:nvPr/>
        </p:nvSpPr>
        <p:spPr>
          <a:xfrm>
            <a:off x="11018520" y="201168"/>
            <a:ext cx="640080" cy="228600"/>
          </a:xfrm>
          <a:prstGeom prst="rect">
            <a:avLst/>
          </a:prstGeom>
          <a:noFill/>
          <a:ln/>
        </p:spPr>
        <p:txBody>
          <a:bodyPr wrap="square" lIns="0" tIns="0" rIns="0" bIns="0" rtlCol="0" anchor="ctr"/>
          <a:lstStyle/>
          <a:p>
            <a:pPr algn="r" indent="0" marL="0">
              <a:buNone/>
            </a:pPr>
            <a:r>
              <a:rPr lang="en-US" sz="900" b="1" dirty="0">
                <a:solidFill>
                  <a:srgbClr val="3D5A80"/>
                </a:solidFill>
              </a:rPr>
              <a:t>72</a:t>
            </a:r>
            <a:endParaRPr lang="en-US" sz="900" dirty="0"/>
          </a:p>
        </p:txBody>
      </p:sp>
      <p:sp>
        <p:nvSpPr>
          <p:cNvPr id="6" name="Text 4"/>
          <p:cNvSpPr/>
          <p:nvPr/>
        </p:nvSpPr>
        <p:spPr>
          <a:xfrm>
            <a:off x="502920" y="566928"/>
            <a:ext cx="11201400" cy="512064"/>
          </a:xfrm>
          <a:prstGeom prst="rect">
            <a:avLst/>
          </a:prstGeom>
          <a:noFill/>
          <a:ln/>
        </p:spPr>
        <p:txBody>
          <a:bodyPr wrap="square" lIns="0" tIns="0" rIns="0" bIns="0" rtlCol="0" anchor="ctr">
            <a:normAutofit/>
          </a:bodyPr>
          <a:lstStyle/>
          <a:p>
            <a:pPr indent="0" marL="0">
              <a:buNone/>
            </a:pPr>
            <a:r>
              <a:rPr lang="en-US" sz="2650" b="1" dirty="0">
                <a:solidFill>
                  <a:srgbClr val="005088"/>
                </a:solidFill>
                <a:latin typeface="Aptos Display" pitchFamily="34" charset="0"/>
                <a:ea typeface="Aptos Display" pitchFamily="34" charset="-122"/>
                <a:cs typeface="Aptos Display" pitchFamily="34" charset="-120"/>
              </a:rPr>
              <a:t>TRANSLATION WORKFLOW</a:t>
            </a:r>
            <a:endParaRPr lang="en-US" sz="2650" dirty="0"/>
          </a:p>
        </p:txBody>
      </p:sp>
      <p:sp>
        <p:nvSpPr>
          <p:cNvPr id="7" name="Shape 5"/>
          <p:cNvSpPr/>
          <p:nvPr/>
        </p:nvSpPr>
        <p:spPr>
          <a:xfrm>
            <a:off x="502920" y="1188720"/>
            <a:ext cx="11109960" cy="0"/>
          </a:xfrm>
          <a:prstGeom prst="line">
            <a:avLst/>
          </a:prstGeom>
          <a:noFill/>
          <a:ln w="12700">
            <a:solidFill>
              <a:srgbClr val="3D5A80"/>
            </a:solidFill>
            <a:prstDash val="solid"/>
          </a:ln>
        </p:spPr>
      </p:sp>
      <p:sp>
        <p:nvSpPr>
          <p:cNvPr id="8" name="Text 6"/>
          <p:cNvSpPr/>
          <p:nvPr/>
        </p:nvSpPr>
        <p:spPr>
          <a:xfrm>
            <a:off x="713232" y="1572768"/>
            <a:ext cx="5440680" cy="4251960"/>
          </a:xfrm>
          <a:prstGeom prst="rect">
            <a:avLst/>
          </a:prstGeom>
          <a:noFill/>
          <a:ln/>
        </p:spPr>
        <p:txBody>
          <a:bodyPr wrap="square" lIns="1016" tIns="1016" rIns="1016" bIns="1016" rtlCol="0" anchor="t">
            <a:normAutofit/>
          </a:bodyPr>
          <a:lstStyle/>
          <a:p>
            <a:pPr indent="0" marL="0">
              <a:buNone/>
            </a:pPr>
            <a:r>
              <a:rPr lang="en-US" sz="1650" dirty="0">
                <a:solidFill>
                  <a:srgbClr val="1E293B"/>
                </a:solidFill>
                <a:latin typeface="Aptos" pitchFamily="34" charset="0"/>
                <a:ea typeface="Aptos" pitchFamily="34" charset="-122"/>
                <a:cs typeface="Aptos" pitchFamily="34" charset="-120"/>
              </a:rPr>
              <a:t>• Identify the objects in the domain</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Choose predicates for properties and relations</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Choose functions for unique references</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Write general rules with quantifiers</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Add specific facts about the current problem</a:t>
            </a:r>
            <a:endParaRPr lang="en-US" sz="1650" dirty="0"/>
          </a:p>
        </p:txBody>
      </p:sp>
      <p:sp>
        <p:nvSpPr>
          <p:cNvPr id="9" name="Shape 7"/>
          <p:cNvSpPr/>
          <p:nvPr/>
        </p:nvSpPr>
        <p:spPr>
          <a:xfrm>
            <a:off x="6446520" y="1572768"/>
            <a:ext cx="5074920" cy="1234440"/>
          </a:xfrm>
          <a:prstGeom prst="roundRect">
            <a:avLst>
              <a:gd name="adj" fmla="val 5926"/>
            </a:avLst>
          </a:prstGeom>
          <a:solidFill>
            <a:srgbClr val="FFF6D9"/>
          </a:solidFill>
          <a:ln w="12700">
            <a:solidFill>
              <a:srgbClr val="F4A261"/>
            </a:solidFill>
            <a:prstDash val="solid"/>
          </a:ln>
        </p:spPr>
      </p:sp>
      <p:sp>
        <p:nvSpPr>
          <p:cNvPr id="10" name="Text 8"/>
          <p:cNvSpPr/>
          <p:nvPr/>
        </p:nvSpPr>
        <p:spPr>
          <a:xfrm>
            <a:off x="6629400" y="1709928"/>
            <a:ext cx="4709160" cy="219456"/>
          </a:xfrm>
          <a:prstGeom prst="rect">
            <a:avLst/>
          </a:prstGeom>
          <a:noFill/>
          <a:ln/>
        </p:spPr>
        <p:txBody>
          <a:bodyPr wrap="square" lIns="0" tIns="0" rIns="0" bIns="0" rtlCol="0" anchor="ctr"/>
          <a:lstStyle/>
          <a:p>
            <a:pPr indent="0" marL="0">
              <a:buNone/>
            </a:pPr>
            <a:r>
              <a:rPr lang="en-US" sz="950" b="1" dirty="0">
                <a:solidFill>
                  <a:srgbClr val="B0005D"/>
                </a:solidFill>
              </a:rPr>
              <a:t>ANALOGY</a:t>
            </a:r>
            <a:endParaRPr lang="en-US" sz="950" dirty="0"/>
          </a:p>
        </p:txBody>
      </p:sp>
      <p:sp>
        <p:nvSpPr>
          <p:cNvPr id="11" name="Text 9"/>
          <p:cNvSpPr/>
          <p:nvPr/>
        </p:nvSpPr>
        <p:spPr>
          <a:xfrm>
            <a:off x="6629400" y="1984248"/>
            <a:ext cx="4709160" cy="731520"/>
          </a:xfrm>
          <a:prstGeom prst="rect">
            <a:avLst/>
          </a:prstGeom>
          <a:noFill/>
          <a:ln/>
        </p:spPr>
        <p:txBody>
          <a:bodyPr wrap="square" lIns="254" tIns="254" rIns="254" bIns="254" rtlCol="0" anchor="t">
            <a:normAutofit/>
          </a:bodyPr>
          <a:lstStyle/>
          <a:p>
            <a:pPr indent="0" marL="0">
              <a:buNone/>
            </a:pPr>
            <a:r>
              <a:rPr lang="en-US" sz="1330" dirty="0">
                <a:solidFill>
                  <a:srgbClr val="1E293B"/>
                </a:solidFill>
              </a:rPr>
              <a:t>Designing first-order logic vocabulary is like designing a database schema before entering data.</a:t>
            </a:r>
            <a:endParaRPr lang="en-US" sz="1330" dirty="0"/>
          </a:p>
        </p:txBody>
      </p:sp>
      <p:sp>
        <p:nvSpPr>
          <p:cNvPr id="12" name="Shape 10"/>
          <p:cNvSpPr/>
          <p:nvPr/>
        </p:nvSpPr>
        <p:spPr>
          <a:xfrm>
            <a:off x="6446520" y="2999232"/>
            <a:ext cx="5074920" cy="841248"/>
          </a:xfrm>
          <a:prstGeom prst="roundRect">
            <a:avLst>
              <a:gd name="adj" fmla="val 8696"/>
            </a:avLst>
          </a:prstGeom>
          <a:solidFill>
            <a:srgbClr val="FFFFFF">
              <a:alpha val="97000"/>
            </a:srgbClr>
          </a:solidFill>
          <a:ln w="12700">
            <a:solidFill>
              <a:srgbClr val="007C89"/>
            </a:solidFill>
            <a:prstDash val="solid"/>
          </a:ln>
        </p:spPr>
      </p:sp>
      <p:sp>
        <p:nvSpPr>
          <p:cNvPr id="13" name="Text 11"/>
          <p:cNvSpPr/>
          <p:nvPr/>
        </p:nvSpPr>
        <p:spPr>
          <a:xfrm>
            <a:off x="6611112" y="3127248"/>
            <a:ext cx="4745736" cy="658368"/>
          </a:xfrm>
          <a:prstGeom prst="rect">
            <a:avLst/>
          </a:prstGeom>
          <a:noFill/>
          <a:ln/>
        </p:spPr>
        <p:txBody>
          <a:bodyPr wrap="square" lIns="0" tIns="0" rIns="0" bIns="0" rtlCol="0" anchor="ctr">
            <a:normAutofit/>
          </a:bodyPr>
          <a:lstStyle/>
          <a:p>
            <a:pPr algn="ctr" indent="0" marL="0">
              <a:buNone/>
            </a:pPr>
            <a:r>
              <a:rPr lang="en-US" sz="1800" b="1" dirty="0">
                <a:solidFill>
                  <a:srgbClr val="005088"/>
                </a:solidFill>
                <a:latin typeface="Cambria Math" pitchFamily="34" charset="0"/>
                <a:ea typeface="Cambria Math" pitchFamily="34" charset="-122"/>
                <a:cs typeface="Cambria Math" pitchFamily="34" charset="-120"/>
              </a:rPr>
              <a:t>English idea → vocabulary → formula</a:t>
            </a:r>
            <a:endParaRPr lang="en-US" sz="1800" dirty="0"/>
          </a:p>
        </p:txBody>
      </p:sp>
      <p:sp>
        <p:nvSpPr>
          <p:cNvPr id="14" name="Shape 12"/>
          <p:cNvSpPr/>
          <p:nvPr/>
        </p:nvSpPr>
        <p:spPr>
          <a:xfrm>
            <a:off x="6446520" y="4041648"/>
            <a:ext cx="5074920" cy="859536"/>
          </a:xfrm>
          <a:prstGeom prst="roundRect">
            <a:avLst>
              <a:gd name="adj" fmla="val 8511"/>
            </a:avLst>
          </a:prstGeom>
          <a:solidFill>
            <a:srgbClr val="FFE4E6"/>
          </a:solidFill>
          <a:ln w="12700">
            <a:solidFill>
              <a:srgbClr val="FDA4AF"/>
            </a:solidFill>
            <a:prstDash val="solid"/>
          </a:ln>
        </p:spPr>
      </p:sp>
      <p:sp>
        <p:nvSpPr>
          <p:cNvPr id="15" name="Text 13"/>
          <p:cNvSpPr/>
          <p:nvPr/>
        </p:nvSpPr>
        <p:spPr>
          <a:xfrm>
            <a:off x="6629400" y="4178808"/>
            <a:ext cx="4709160" cy="219456"/>
          </a:xfrm>
          <a:prstGeom prst="rect">
            <a:avLst/>
          </a:prstGeom>
          <a:noFill/>
          <a:ln/>
        </p:spPr>
        <p:txBody>
          <a:bodyPr wrap="square" lIns="0" tIns="0" rIns="0" bIns="0" rtlCol="0" anchor="ctr"/>
          <a:lstStyle/>
          <a:p>
            <a:pPr indent="0" marL="0">
              <a:buNone/>
            </a:pPr>
            <a:r>
              <a:rPr lang="en-US" sz="950" b="1" dirty="0">
                <a:solidFill>
                  <a:srgbClr val="C1121F"/>
                </a:solidFill>
              </a:rPr>
              <a:t>STUDENT GOTCHA</a:t>
            </a:r>
            <a:endParaRPr lang="en-US" sz="950" dirty="0"/>
          </a:p>
        </p:txBody>
      </p:sp>
      <p:sp>
        <p:nvSpPr>
          <p:cNvPr id="16" name="Text 14"/>
          <p:cNvSpPr/>
          <p:nvPr/>
        </p:nvSpPr>
        <p:spPr>
          <a:xfrm>
            <a:off x="6629400" y="4453128"/>
            <a:ext cx="4709160" cy="356616"/>
          </a:xfrm>
          <a:prstGeom prst="rect">
            <a:avLst/>
          </a:prstGeom>
          <a:noFill/>
          <a:ln/>
        </p:spPr>
        <p:txBody>
          <a:bodyPr wrap="square" lIns="254" tIns="254" rIns="254" bIns="254" rtlCol="0" anchor="t">
            <a:normAutofit/>
          </a:bodyPr>
          <a:lstStyle/>
          <a:p>
            <a:pPr indent="0" marL="0">
              <a:buNone/>
            </a:pPr>
            <a:r>
              <a:rPr lang="en-US" sz="1250" dirty="0">
                <a:solidFill>
                  <a:srgbClr val="1E293B"/>
                </a:solidFill>
              </a:rPr>
              <a:t>Do not translate word by word. Translate the meaning and the task requirements.</a:t>
            </a:r>
            <a:endParaRPr lang="en-US" sz="1250" dirty="0"/>
          </a:p>
        </p:txBody>
      </p:sp>
      <p:sp>
        <p:nvSpPr>
          <p:cNvPr id="17" name="Shape 15"/>
          <p:cNvSpPr/>
          <p:nvPr/>
        </p:nvSpPr>
        <p:spPr>
          <a:xfrm>
            <a:off x="6446520" y="5074920"/>
            <a:ext cx="5074920" cy="841248"/>
          </a:xfrm>
          <a:prstGeom prst="roundRect">
            <a:avLst>
              <a:gd name="adj" fmla="val 8696"/>
            </a:avLst>
          </a:prstGeom>
          <a:solidFill>
            <a:srgbClr val="E6FFFA"/>
          </a:solidFill>
          <a:ln w="12700">
            <a:solidFill>
              <a:srgbClr val="2A9D8F"/>
            </a:solidFill>
            <a:prstDash val="solid"/>
          </a:ln>
        </p:spPr>
      </p:sp>
      <p:sp>
        <p:nvSpPr>
          <p:cNvPr id="18" name="Text 16"/>
          <p:cNvSpPr/>
          <p:nvPr/>
        </p:nvSpPr>
        <p:spPr>
          <a:xfrm>
            <a:off x="6629400" y="5212080"/>
            <a:ext cx="4709160" cy="219456"/>
          </a:xfrm>
          <a:prstGeom prst="rect">
            <a:avLst/>
          </a:prstGeom>
          <a:noFill/>
          <a:ln/>
        </p:spPr>
        <p:txBody>
          <a:bodyPr wrap="square" lIns="0" tIns="0" rIns="0" bIns="0" rtlCol="0" anchor="ctr"/>
          <a:lstStyle/>
          <a:p>
            <a:pPr indent="0" marL="0">
              <a:buNone/>
            </a:pPr>
            <a:r>
              <a:rPr lang="en-US" sz="950" b="1" dirty="0">
                <a:solidFill>
                  <a:srgbClr val="007C89"/>
                </a:solidFill>
              </a:rPr>
              <a:t>CLASS CHECK</a:t>
            </a:r>
            <a:endParaRPr lang="en-US" sz="950" dirty="0"/>
          </a:p>
        </p:txBody>
      </p:sp>
      <p:sp>
        <p:nvSpPr>
          <p:cNvPr id="19" name="Text 17"/>
          <p:cNvSpPr/>
          <p:nvPr/>
        </p:nvSpPr>
        <p:spPr>
          <a:xfrm>
            <a:off x="6629400" y="5486400"/>
            <a:ext cx="4709160" cy="338328"/>
          </a:xfrm>
          <a:prstGeom prst="rect">
            <a:avLst/>
          </a:prstGeom>
          <a:noFill/>
          <a:ln/>
        </p:spPr>
        <p:txBody>
          <a:bodyPr wrap="square" lIns="254" tIns="254" rIns="254" bIns="254" rtlCol="0" anchor="t">
            <a:normAutofit/>
          </a:bodyPr>
          <a:lstStyle/>
          <a:p>
            <a:pPr indent="0" marL="0">
              <a:buNone/>
            </a:pPr>
            <a:r>
              <a:rPr lang="en-US" sz="1270" dirty="0">
                <a:solidFill>
                  <a:srgbClr val="1E293B"/>
                </a:solidFill>
              </a:rPr>
              <a:t>Ask students to translate “some student is enrolled in Computer Science 469.”</a:t>
            </a:r>
            <a:endParaRPr lang="en-US" sz="127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5088"/>
          </a:solidFill>
          <a:ln w="12700">
            <a:solidFill>
              <a:srgbClr val="005088"/>
            </a:solidFill>
            <a:prstDash val="solid"/>
          </a:ln>
        </p:spPr>
      </p:sp>
      <p:sp>
        <p:nvSpPr>
          <p:cNvPr id="3" name="Shape 1"/>
          <p:cNvSpPr/>
          <p:nvPr/>
        </p:nvSpPr>
        <p:spPr>
          <a:xfrm>
            <a:off x="0" y="6729984"/>
            <a:ext cx="12191695" cy="128016"/>
          </a:xfrm>
          <a:prstGeom prst="rect">
            <a:avLst/>
          </a:prstGeom>
          <a:solidFill>
            <a:srgbClr val="005088"/>
          </a:solidFill>
          <a:ln w="12700">
            <a:solidFill>
              <a:srgbClr val="005088"/>
            </a:solidFill>
            <a:prstDash val="solid"/>
          </a:ln>
        </p:spPr>
      </p:sp>
      <p:sp>
        <p:nvSpPr>
          <p:cNvPr id="4" name="Text 2"/>
          <p:cNvSpPr/>
          <p:nvPr/>
        </p:nvSpPr>
        <p:spPr>
          <a:xfrm>
            <a:off x="502920" y="210312"/>
            <a:ext cx="6858000" cy="219456"/>
          </a:xfrm>
          <a:prstGeom prst="rect">
            <a:avLst/>
          </a:prstGeom>
          <a:noFill/>
          <a:ln/>
        </p:spPr>
        <p:txBody>
          <a:bodyPr wrap="square" lIns="0" tIns="0" rIns="0" bIns="0" rtlCol="0" anchor="ctr"/>
          <a:lstStyle/>
          <a:p>
            <a:pPr indent="0" marL="0">
              <a:buNone/>
            </a:pPr>
            <a:r>
              <a:rPr lang="en-US" sz="950" b="1" dirty="0">
                <a:solidFill>
                  <a:srgbClr val="3D5A80"/>
                </a:solidFill>
                <a:latin typeface="Aptos" pitchFamily="34" charset="0"/>
                <a:ea typeface="Aptos" pitchFamily="34" charset="-122"/>
                <a:cs typeface="Aptos" pitchFamily="34" charset="-120"/>
              </a:rPr>
              <a:t>8.3 Using First-Order Logic</a:t>
            </a:r>
            <a:endParaRPr lang="en-US" sz="950" dirty="0"/>
          </a:p>
        </p:txBody>
      </p:sp>
      <p:sp>
        <p:nvSpPr>
          <p:cNvPr id="5" name="Text 3"/>
          <p:cNvSpPr/>
          <p:nvPr/>
        </p:nvSpPr>
        <p:spPr>
          <a:xfrm>
            <a:off x="11018520" y="201168"/>
            <a:ext cx="640080" cy="228600"/>
          </a:xfrm>
          <a:prstGeom prst="rect">
            <a:avLst/>
          </a:prstGeom>
          <a:noFill/>
          <a:ln/>
        </p:spPr>
        <p:txBody>
          <a:bodyPr wrap="square" lIns="0" tIns="0" rIns="0" bIns="0" rtlCol="0" anchor="ctr"/>
          <a:lstStyle/>
          <a:p>
            <a:pPr algn="r" indent="0" marL="0">
              <a:buNone/>
            </a:pPr>
            <a:r>
              <a:rPr lang="en-US" sz="900" b="1" dirty="0">
                <a:solidFill>
                  <a:srgbClr val="3D5A80"/>
                </a:solidFill>
              </a:rPr>
              <a:t>73</a:t>
            </a:r>
            <a:endParaRPr lang="en-US" sz="900" dirty="0"/>
          </a:p>
        </p:txBody>
      </p:sp>
      <p:sp>
        <p:nvSpPr>
          <p:cNvPr id="6" name="Text 4"/>
          <p:cNvSpPr/>
          <p:nvPr/>
        </p:nvSpPr>
        <p:spPr>
          <a:xfrm>
            <a:off x="502920" y="566928"/>
            <a:ext cx="11201400" cy="512064"/>
          </a:xfrm>
          <a:prstGeom prst="rect">
            <a:avLst/>
          </a:prstGeom>
          <a:noFill/>
          <a:ln/>
        </p:spPr>
        <p:txBody>
          <a:bodyPr wrap="square" lIns="0" tIns="0" rIns="0" bIns="0" rtlCol="0" anchor="ctr">
            <a:normAutofit/>
          </a:bodyPr>
          <a:lstStyle/>
          <a:p>
            <a:pPr indent="0" marL="0">
              <a:buNone/>
            </a:pPr>
            <a:r>
              <a:rPr lang="en-US" sz="2650" b="1" dirty="0">
                <a:solidFill>
                  <a:srgbClr val="005088"/>
                </a:solidFill>
                <a:latin typeface="Aptos Display" pitchFamily="34" charset="0"/>
                <a:ea typeface="Aptos Display" pitchFamily="34" charset="-122"/>
                <a:cs typeface="Aptos Display" pitchFamily="34" charset="-120"/>
              </a:rPr>
              <a:t>WUMPUS WORLD RULE COMPRESSION</a:t>
            </a:r>
            <a:endParaRPr lang="en-US" sz="2650" dirty="0"/>
          </a:p>
        </p:txBody>
      </p:sp>
      <p:sp>
        <p:nvSpPr>
          <p:cNvPr id="7" name="Shape 5"/>
          <p:cNvSpPr/>
          <p:nvPr/>
        </p:nvSpPr>
        <p:spPr>
          <a:xfrm>
            <a:off x="502920" y="1188720"/>
            <a:ext cx="11109960" cy="0"/>
          </a:xfrm>
          <a:prstGeom prst="line">
            <a:avLst/>
          </a:prstGeom>
          <a:noFill/>
          <a:ln w="12700">
            <a:solidFill>
              <a:srgbClr val="3D5A80"/>
            </a:solidFill>
            <a:prstDash val="solid"/>
          </a:ln>
        </p:spPr>
      </p:sp>
      <p:sp>
        <p:nvSpPr>
          <p:cNvPr id="8" name="Text 6"/>
          <p:cNvSpPr/>
          <p:nvPr/>
        </p:nvSpPr>
        <p:spPr>
          <a:xfrm>
            <a:off x="713232" y="1572768"/>
            <a:ext cx="5440680" cy="4251960"/>
          </a:xfrm>
          <a:prstGeom prst="rect">
            <a:avLst/>
          </a:prstGeom>
          <a:noFill/>
          <a:ln/>
        </p:spPr>
        <p:txBody>
          <a:bodyPr wrap="square" lIns="1016" tIns="1016" rIns="1016" bIns="1016" rtlCol="0" anchor="t">
            <a:normAutofit/>
          </a:bodyPr>
          <a:lstStyle/>
          <a:p>
            <a:pPr indent="0" marL="0">
              <a:buNone/>
            </a:pPr>
            <a:r>
              <a:rPr lang="en-US" sz="1650" dirty="0">
                <a:solidFill>
                  <a:srgbClr val="1E293B"/>
                </a:solidFill>
                <a:latin typeface="Aptos" pitchFamily="34" charset="0"/>
                <a:ea typeface="Aptos" pitchFamily="34" charset="-122"/>
                <a:cs typeface="Aptos" pitchFamily="34" charset="-120"/>
              </a:rPr>
              <a:t>• Propositional logic repeats one breeze rule per square</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First-order logic introduces square variables</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Adjacency becomes a reusable relation</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One rule covers the entire grid</a:t>
            </a:r>
            <a:endParaRPr lang="en-US" sz="1650" dirty="0"/>
          </a:p>
        </p:txBody>
      </p:sp>
      <p:sp>
        <p:nvSpPr>
          <p:cNvPr id="9" name="Shape 7"/>
          <p:cNvSpPr/>
          <p:nvPr/>
        </p:nvSpPr>
        <p:spPr>
          <a:xfrm>
            <a:off x="6446520" y="1572768"/>
            <a:ext cx="5074920" cy="1234440"/>
          </a:xfrm>
          <a:prstGeom prst="roundRect">
            <a:avLst>
              <a:gd name="adj" fmla="val 5926"/>
            </a:avLst>
          </a:prstGeom>
          <a:solidFill>
            <a:srgbClr val="FFF6D9"/>
          </a:solidFill>
          <a:ln w="12700">
            <a:solidFill>
              <a:srgbClr val="F4A261"/>
            </a:solidFill>
            <a:prstDash val="solid"/>
          </a:ln>
        </p:spPr>
      </p:sp>
      <p:sp>
        <p:nvSpPr>
          <p:cNvPr id="10" name="Text 8"/>
          <p:cNvSpPr/>
          <p:nvPr/>
        </p:nvSpPr>
        <p:spPr>
          <a:xfrm>
            <a:off x="6629400" y="1709928"/>
            <a:ext cx="4709160" cy="219456"/>
          </a:xfrm>
          <a:prstGeom prst="rect">
            <a:avLst/>
          </a:prstGeom>
          <a:noFill/>
          <a:ln/>
        </p:spPr>
        <p:txBody>
          <a:bodyPr wrap="square" lIns="0" tIns="0" rIns="0" bIns="0" rtlCol="0" anchor="ctr"/>
          <a:lstStyle/>
          <a:p>
            <a:pPr indent="0" marL="0">
              <a:buNone/>
            </a:pPr>
            <a:r>
              <a:rPr lang="en-US" sz="950" b="1" dirty="0">
                <a:solidFill>
                  <a:srgbClr val="B0005D"/>
                </a:solidFill>
              </a:rPr>
              <a:t>ANALOGY</a:t>
            </a:r>
            <a:endParaRPr lang="en-US" sz="950" dirty="0"/>
          </a:p>
        </p:txBody>
      </p:sp>
      <p:sp>
        <p:nvSpPr>
          <p:cNvPr id="11" name="Text 9"/>
          <p:cNvSpPr/>
          <p:nvPr/>
        </p:nvSpPr>
        <p:spPr>
          <a:xfrm>
            <a:off x="6629400" y="1984248"/>
            <a:ext cx="4709160" cy="731520"/>
          </a:xfrm>
          <a:prstGeom prst="rect">
            <a:avLst/>
          </a:prstGeom>
          <a:noFill/>
          <a:ln/>
        </p:spPr>
        <p:txBody>
          <a:bodyPr wrap="square" lIns="254" tIns="254" rIns="254" bIns="254" rtlCol="0" anchor="t">
            <a:normAutofit/>
          </a:bodyPr>
          <a:lstStyle/>
          <a:p>
            <a:pPr indent="0" marL="0">
              <a:buNone/>
            </a:pPr>
            <a:r>
              <a:rPr lang="en-US" sz="1330" dirty="0">
                <a:solidFill>
                  <a:srgbClr val="1E293B"/>
                </a:solidFill>
              </a:rPr>
              <a:t>Instead of separate safety instructions for every room, write one rule about rooms adjacent to hazards.</a:t>
            </a:r>
            <a:endParaRPr lang="en-US" sz="1330" dirty="0"/>
          </a:p>
        </p:txBody>
      </p:sp>
      <p:sp>
        <p:nvSpPr>
          <p:cNvPr id="12" name="Shape 10"/>
          <p:cNvSpPr/>
          <p:nvPr/>
        </p:nvSpPr>
        <p:spPr>
          <a:xfrm>
            <a:off x="6446520" y="2999232"/>
            <a:ext cx="5074920" cy="841248"/>
          </a:xfrm>
          <a:prstGeom prst="roundRect">
            <a:avLst>
              <a:gd name="adj" fmla="val 8696"/>
            </a:avLst>
          </a:prstGeom>
          <a:solidFill>
            <a:srgbClr val="FFFFFF">
              <a:alpha val="97000"/>
            </a:srgbClr>
          </a:solidFill>
          <a:ln w="12700">
            <a:solidFill>
              <a:srgbClr val="007C89"/>
            </a:solidFill>
            <a:prstDash val="solid"/>
          </a:ln>
        </p:spPr>
      </p:sp>
      <p:sp>
        <p:nvSpPr>
          <p:cNvPr id="13" name="Text 11"/>
          <p:cNvSpPr/>
          <p:nvPr/>
        </p:nvSpPr>
        <p:spPr>
          <a:xfrm>
            <a:off x="6611112" y="3127248"/>
            <a:ext cx="4745736" cy="658368"/>
          </a:xfrm>
          <a:prstGeom prst="rect">
            <a:avLst/>
          </a:prstGeom>
          <a:noFill/>
          <a:ln/>
        </p:spPr>
        <p:txBody>
          <a:bodyPr wrap="square" lIns="0" tIns="0" rIns="0" bIns="0" rtlCol="0" anchor="ctr">
            <a:normAutofit/>
          </a:bodyPr>
          <a:lstStyle/>
          <a:p>
            <a:pPr algn="ctr" indent="0" marL="0">
              <a:buNone/>
            </a:pPr>
            <a:r>
              <a:rPr lang="en-US" sz="1550" b="1" dirty="0">
                <a:solidFill>
                  <a:srgbClr val="005088"/>
                </a:solidFill>
                <a:latin typeface="Cambria Math" pitchFamily="34" charset="0"/>
                <a:ea typeface="Cambria Math" pitchFamily="34" charset="-122"/>
                <a:cs typeface="Cambria Math" pitchFamily="34" charset="-120"/>
              </a:rPr>
              <a:t>∀s Breezy(s) ⇔ ∃p (Pit(p) ∧ Adjacent(p,s))</a:t>
            </a:r>
            <a:endParaRPr lang="en-US" sz="1550" dirty="0"/>
          </a:p>
        </p:txBody>
      </p:sp>
      <p:sp>
        <p:nvSpPr>
          <p:cNvPr id="14" name="Shape 12"/>
          <p:cNvSpPr/>
          <p:nvPr/>
        </p:nvSpPr>
        <p:spPr>
          <a:xfrm>
            <a:off x="6446520" y="4041648"/>
            <a:ext cx="5074920" cy="859536"/>
          </a:xfrm>
          <a:prstGeom prst="roundRect">
            <a:avLst>
              <a:gd name="adj" fmla="val 8511"/>
            </a:avLst>
          </a:prstGeom>
          <a:solidFill>
            <a:srgbClr val="FFE4E6"/>
          </a:solidFill>
          <a:ln w="12700">
            <a:solidFill>
              <a:srgbClr val="FDA4AF"/>
            </a:solidFill>
            <a:prstDash val="solid"/>
          </a:ln>
        </p:spPr>
      </p:sp>
      <p:sp>
        <p:nvSpPr>
          <p:cNvPr id="15" name="Text 13"/>
          <p:cNvSpPr/>
          <p:nvPr/>
        </p:nvSpPr>
        <p:spPr>
          <a:xfrm>
            <a:off x="6629400" y="4178808"/>
            <a:ext cx="4709160" cy="219456"/>
          </a:xfrm>
          <a:prstGeom prst="rect">
            <a:avLst/>
          </a:prstGeom>
          <a:noFill/>
          <a:ln/>
        </p:spPr>
        <p:txBody>
          <a:bodyPr wrap="square" lIns="0" tIns="0" rIns="0" bIns="0" rtlCol="0" anchor="ctr"/>
          <a:lstStyle/>
          <a:p>
            <a:pPr indent="0" marL="0">
              <a:buNone/>
            </a:pPr>
            <a:r>
              <a:rPr lang="en-US" sz="950" b="1" dirty="0">
                <a:solidFill>
                  <a:srgbClr val="C1121F"/>
                </a:solidFill>
              </a:rPr>
              <a:t>STUDENT GOTCHA</a:t>
            </a:r>
            <a:endParaRPr lang="en-US" sz="950" dirty="0"/>
          </a:p>
        </p:txBody>
      </p:sp>
      <p:sp>
        <p:nvSpPr>
          <p:cNvPr id="16" name="Text 14"/>
          <p:cNvSpPr/>
          <p:nvPr/>
        </p:nvSpPr>
        <p:spPr>
          <a:xfrm>
            <a:off x="6629400" y="4453128"/>
            <a:ext cx="4709160" cy="356616"/>
          </a:xfrm>
          <a:prstGeom prst="rect">
            <a:avLst/>
          </a:prstGeom>
          <a:noFill/>
          <a:ln/>
        </p:spPr>
        <p:txBody>
          <a:bodyPr wrap="square" lIns="254" tIns="254" rIns="254" bIns="254" rtlCol="0" anchor="t">
            <a:normAutofit/>
          </a:bodyPr>
          <a:lstStyle/>
          <a:p>
            <a:pPr indent="0" marL="0">
              <a:buNone/>
            </a:pPr>
            <a:r>
              <a:rPr lang="en-US" sz="1250" dirty="0">
                <a:solidFill>
                  <a:srgbClr val="1E293B"/>
                </a:solidFill>
              </a:rPr>
              <a:t>The compact rule still depends on a correct definition of Adjacent.</a:t>
            </a:r>
            <a:endParaRPr lang="en-US" sz="1250" dirty="0"/>
          </a:p>
        </p:txBody>
      </p:sp>
      <p:sp>
        <p:nvSpPr>
          <p:cNvPr id="17" name="Shape 15"/>
          <p:cNvSpPr/>
          <p:nvPr/>
        </p:nvSpPr>
        <p:spPr>
          <a:xfrm>
            <a:off x="6446520" y="5074920"/>
            <a:ext cx="5074920" cy="841248"/>
          </a:xfrm>
          <a:prstGeom prst="roundRect">
            <a:avLst>
              <a:gd name="adj" fmla="val 8696"/>
            </a:avLst>
          </a:prstGeom>
          <a:solidFill>
            <a:srgbClr val="E6FFFA"/>
          </a:solidFill>
          <a:ln w="12700">
            <a:solidFill>
              <a:srgbClr val="2A9D8F"/>
            </a:solidFill>
            <a:prstDash val="solid"/>
          </a:ln>
        </p:spPr>
      </p:sp>
      <p:sp>
        <p:nvSpPr>
          <p:cNvPr id="18" name="Text 16"/>
          <p:cNvSpPr/>
          <p:nvPr/>
        </p:nvSpPr>
        <p:spPr>
          <a:xfrm>
            <a:off x="6629400" y="5212080"/>
            <a:ext cx="4709160" cy="219456"/>
          </a:xfrm>
          <a:prstGeom prst="rect">
            <a:avLst/>
          </a:prstGeom>
          <a:noFill/>
          <a:ln/>
        </p:spPr>
        <p:txBody>
          <a:bodyPr wrap="square" lIns="0" tIns="0" rIns="0" bIns="0" rtlCol="0" anchor="ctr"/>
          <a:lstStyle/>
          <a:p>
            <a:pPr indent="0" marL="0">
              <a:buNone/>
            </a:pPr>
            <a:r>
              <a:rPr lang="en-US" sz="950" b="1" dirty="0">
                <a:solidFill>
                  <a:srgbClr val="007C89"/>
                </a:solidFill>
              </a:rPr>
              <a:t>CLASS CHECK</a:t>
            </a:r>
            <a:endParaRPr lang="en-US" sz="950" dirty="0"/>
          </a:p>
        </p:txBody>
      </p:sp>
      <p:sp>
        <p:nvSpPr>
          <p:cNvPr id="19" name="Text 17"/>
          <p:cNvSpPr/>
          <p:nvPr/>
        </p:nvSpPr>
        <p:spPr>
          <a:xfrm>
            <a:off x="6629400" y="5486400"/>
            <a:ext cx="4709160" cy="338328"/>
          </a:xfrm>
          <a:prstGeom prst="rect">
            <a:avLst/>
          </a:prstGeom>
          <a:noFill/>
          <a:ln/>
        </p:spPr>
        <p:txBody>
          <a:bodyPr wrap="square" lIns="254" tIns="254" rIns="254" bIns="254" rtlCol="0" anchor="t">
            <a:normAutofit/>
          </a:bodyPr>
          <a:lstStyle/>
          <a:p>
            <a:pPr indent="0" marL="0">
              <a:buNone/>
            </a:pPr>
            <a:r>
              <a:rPr lang="en-US" sz="1270" dirty="0">
                <a:solidFill>
                  <a:srgbClr val="1E293B"/>
                </a:solidFill>
              </a:rPr>
              <a:t>Ask: Where is the domain knowledge hidden in this sentence?</a:t>
            </a:r>
            <a:endParaRPr lang="en-US" sz="127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5088"/>
          </a:solidFill>
          <a:ln w="12700">
            <a:solidFill>
              <a:srgbClr val="005088"/>
            </a:solidFill>
            <a:prstDash val="solid"/>
          </a:ln>
        </p:spPr>
      </p:sp>
      <p:sp>
        <p:nvSpPr>
          <p:cNvPr id="3" name="Shape 1"/>
          <p:cNvSpPr/>
          <p:nvPr/>
        </p:nvSpPr>
        <p:spPr>
          <a:xfrm>
            <a:off x="0" y="6729984"/>
            <a:ext cx="12191695" cy="128016"/>
          </a:xfrm>
          <a:prstGeom prst="rect">
            <a:avLst/>
          </a:prstGeom>
          <a:solidFill>
            <a:srgbClr val="005088"/>
          </a:solidFill>
          <a:ln w="12700">
            <a:solidFill>
              <a:srgbClr val="005088"/>
            </a:solidFill>
            <a:prstDash val="solid"/>
          </a:ln>
        </p:spPr>
      </p:sp>
      <p:sp>
        <p:nvSpPr>
          <p:cNvPr id="4" name="Text 2"/>
          <p:cNvSpPr/>
          <p:nvPr/>
        </p:nvSpPr>
        <p:spPr>
          <a:xfrm>
            <a:off x="502920" y="210312"/>
            <a:ext cx="6858000" cy="219456"/>
          </a:xfrm>
          <a:prstGeom prst="rect">
            <a:avLst/>
          </a:prstGeom>
          <a:noFill/>
          <a:ln/>
        </p:spPr>
        <p:txBody>
          <a:bodyPr wrap="square" lIns="0" tIns="0" rIns="0" bIns="0" rtlCol="0" anchor="ctr"/>
          <a:lstStyle/>
          <a:p>
            <a:pPr indent="0" marL="0">
              <a:buNone/>
            </a:pPr>
            <a:r>
              <a:rPr lang="en-US" sz="950" b="1" dirty="0">
                <a:solidFill>
                  <a:srgbClr val="3D5A80"/>
                </a:solidFill>
                <a:latin typeface="Aptos" pitchFamily="34" charset="0"/>
                <a:ea typeface="Aptos" pitchFamily="34" charset="-122"/>
                <a:cs typeface="Aptos" pitchFamily="34" charset="-120"/>
              </a:rPr>
              <a:t>8.3 Using First-Order Logic</a:t>
            </a:r>
            <a:endParaRPr lang="en-US" sz="950" dirty="0"/>
          </a:p>
        </p:txBody>
      </p:sp>
      <p:sp>
        <p:nvSpPr>
          <p:cNvPr id="5" name="Text 3"/>
          <p:cNvSpPr/>
          <p:nvPr/>
        </p:nvSpPr>
        <p:spPr>
          <a:xfrm>
            <a:off x="11018520" y="201168"/>
            <a:ext cx="640080" cy="228600"/>
          </a:xfrm>
          <a:prstGeom prst="rect">
            <a:avLst/>
          </a:prstGeom>
          <a:noFill/>
          <a:ln/>
        </p:spPr>
        <p:txBody>
          <a:bodyPr wrap="square" lIns="0" tIns="0" rIns="0" bIns="0" rtlCol="0" anchor="ctr"/>
          <a:lstStyle/>
          <a:p>
            <a:pPr algn="r" indent="0" marL="0">
              <a:buNone/>
            </a:pPr>
            <a:r>
              <a:rPr lang="en-US" sz="900" b="1" dirty="0">
                <a:solidFill>
                  <a:srgbClr val="3D5A80"/>
                </a:solidFill>
              </a:rPr>
              <a:t>74</a:t>
            </a:r>
            <a:endParaRPr lang="en-US" sz="900" dirty="0"/>
          </a:p>
        </p:txBody>
      </p:sp>
      <p:sp>
        <p:nvSpPr>
          <p:cNvPr id="6" name="Text 4"/>
          <p:cNvSpPr/>
          <p:nvPr/>
        </p:nvSpPr>
        <p:spPr>
          <a:xfrm>
            <a:off x="502920" y="566928"/>
            <a:ext cx="11201400" cy="512064"/>
          </a:xfrm>
          <a:prstGeom prst="rect">
            <a:avLst/>
          </a:prstGeom>
          <a:noFill/>
          <a:ln/>
        </p:spPr>
        <p:txBody>
          <a:bodyPr wrap="square" lIns="0" tIns="0" rIns="0" bIns="0" rtlCol="0" anchor="ctr">
            <a:normAutofit/>
          </a:bodyPr>
          <a:lstStyle/>
          <a:p>
            <a:pPr indent="0" marL="0">
              <a:buNone/>
            </a:pPr>
            <a:r>
              <a:rPr lang="en-US" sz="2650" b="1" dirty="0">
                <a:solidFill>
                  <a:srgbClr val="005088"/>
                </a:solidFill>
                <a:latin typeface="Aptos Display" pitchFamily="34" charset="0"/>
                <a:ea typeface="Aptos Display" pitchFamily="34" charset="-122"/>
                <a:cs typeface="Aptos Display" pitchFamily="34" charset="-120"/>
              </a:rPr>
              <a:t>WUMPUS SMELL RULE AND BICONDITIONAL REASONING</a:t>
            </a:r>
            <a:endParaRPr lang="en-US" sz="2650" dirty="0"/>
          </a:p>
        </p:txBody>
      </p:sp>
      <p:sp>
        <p:nvSpPr>
          <p:cNvPr id="7" name="Shape 5"/>
          <p:cNvSpPr/>
          <p:nvPr/>
        </p:nvSpPr>
        <p:spPr>
          <a:xfrm>
            <a:off x="502920" y="1188720"/>
            <a:ext cx="11109960" cy="0"/>
          </a:xfrm>
          <a:prstGeom prst="line">
            <a:avLst/>
          </a:prstGeom>
          <a:noFill/>
          <a:ln w="12700">
            <a:solidFill>
              <a:srgbClr val="3D5A80"/>
            </a:solidFill>
            <a:prstDash val="solid"/>
          </a:ln>
        </p:spPr>
      </p:sp>
      <p:sp>
        <p:nvSpPr>
          <p:cNvPr id="8" name="Text 6"/>
          <p:cNvSpPr/>
          <p:nvPr/>
        </p:nvSpPr>
        <p:spPr>
          <a:xfrm>
            <a:off x="713232" y="1572768"/>
            <a:ext cx="5440680" cy="4251960"/>
          </a:xfrm>
          <a:prstGeom prst="rect">
            <a:avLst/>
          </a:prstGeom>
          <a:noFill/>
          <a:ln/>
        </p:spPr>
        <p:txBody>
          <a:bodyPr wrap="square" lIns="1016" tIns="1016" rIns="1016" bIns="1016" rtlCol="0" anchor="t">
            <a:normAutofit/>
          </a:bodyPr>
          <a:lstStyle/>
          <a:p>
            <a:pPr indent="0" marL="0">
              <a:buNone/>
            </a:pPr>
            <a:r>
              <a:rPr lang="en-US" sz="1650" dirty="0">
                <a:solidFill>
                  <a:srgbClr val="1E293B"/>
                </a:solidFill>
                <a:latin typeface="Aptos" pitchFamily="34" charset="0"/>
                <a:ea typeface="Aptos" pitchFamily="34" charset="-122"/>
                <a:cs typeface="Aptos" pitchFamily="34" charset="-120"/>
              </a:rPr>
              <a:t>• Smelly squares are adjacent to the Wumpus</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A biconditional supports inference in both directions</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Positive evidence can locate danger</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Negative evidence can prove safety nearby</a:t>
            </a:r>
            <a:endParaRPr lang="en-US" sz="1650" dirty="0"/>
          </a:p>
        </p:txBody>
      </p:sp>
      <p:sp>
        <p:nvSpPr>
          <p:cNvPr id="9" name="Shape 7"/>
          <p:cNvSpPr/>
          <p:nvPr/>
        </p:nvSpPr>
        <p:spPr>
          <a:xfrm>
            <a:off x="6446520" y="1572768"/>
            <a:ext cx="5074920" cy="1234440"/>
          </a:xfrm>
          <a:prstGeom prst="roundRect">
            <a:avLst>
              <a:gd name="adj" fmla="val 5926"/>
            </a:avLst>
          </a:prstGeom>
          <a:solidFill>
            <a:srgbClr val="FFF6D9"/>
          </a:solidFill>
          <a:ln w="12700">
            <a:solidFill>
              <a:srgbClr val="F4A261"/>
            </a:solidFill>
            <a:prstDash val="solid"/>
          </a:ln>
        </p:spPr>
      </p:sp>
      <p:sp>
        <p:nvSpPr>
          <p:cNvPr id="10" name="Text 8"/>
          <p:cNvSpPr/>
          <p:nvPr/>
        </p:nvSpPr>
        <p:spPr>
          <a:xfrm>
            <a:off x="6629400" y="1709928"/>
            <a:ext cx="4709160" cy="219456"/>
          </a:xfrm>
          <a:prstGeom prst="rect">
            <a:avLst/>
          </a:prstGeom>
          <a:noFill/>
          <a:ln/>
        </p:spPr>
        <p:txBody>
          <a:bodyPr wrap="square" lIns="0" tIns="0" rIns="0" bIns="0" rtlCol="0" anchor="ctr"/>
          <a:lstStyle/>
          <a:p>
            <a:pPr indent="0" marL="0">
              <a:buNone/>
            </a:pPr>
            <a:r>
              <a:rPr lang="en-US" sz="950" b="1" dirty="0">
                <a:solidFill>
                  <a:srgbClr val="B0005D"/>
                </a:solidFill>
              </a:rPr>
              <a:t>ANALOGY</a:t>
            </a:r>
            <a:endParaRPr lang="en-US" sz="950" dirty="0"/>
          </a:p>
        </p:txBody>
      </p:sp>
      <p:sp>
        <p:nvSpPr>
          <p:cNvPr id="11" name="Text 9"/>
          <p:cNvSpPr/>
          <p:nvPr/>
        </p:nvSpPr>
        <p:spPr>
          <a:xfrm>
            <a:off x="6629400" y="1984248"/>
            <a:ext cx="4709160" cy="731520"/>
          </a:xfrm>
          <a:prstGeom prst="rect">
            <a:avLst/>
          </a:prstGeom>
          <a:noFill/>
          <a:ln/>
        </p:spPr>
        <p:txBody>
          <a:bodyPr wrap="square" lIns="254" tIns="254" rIns="254" bIns="254" rtlCol="0" anchor="t">
            <a:normAutofit/>
          </a:bodyPr>
          <a:lstStyle/>
          <a:p>
            <a:pPr indent="0" marL="0">
              <a:buNone/>
            </a:pPr>
            <a:r>
              <a:rPr lang="en-US" sz="1330" dirty="0">
                <a:solidFill>
                  <a:srgbClr val="1E293B"/>
                </a:solidFill>
              </a:rPr>
              <a:t>“Smoke if and only if fire is nearby” would let you reason from smoke to fire and from no smoke to no nearby fire, but only if the rule is truly complete.</a:t>
            </a:r>
            <a:endParaRPr lang="en-US" sz="1330" dirty="0"/>
          </a:p>
        </p:txBody>
      </p:sp>
      <p:sp>
        <p:nvSpPr>
          <p:cNvPr id="12" name="Shape 10"/>
          <p:cNvSpPr/>
          <p:nvPr/>
        </p:nvSpPr>
        <p:spPr>
          <a:xfrm>
            <a:off x="6446520" y="2999232"/>
            <a:ext cx="5074920" cy="841248"/>
          </a:xfrm>
          <a:prstGeom prst="roundRect">
            <a:avLst>
              <a:gd name="adj" fmla="val 8696"/>
            </a:avLst>
          </a:prstGeom>
          <a:solidFill>
            <a:srgbClr val="FFFFFF">
              <a:alpha val="97000"/>
            </a:srgbClr>
          </a:solidFill>
          <a:ln w="12700">
            <a:solidFill>
              <a:srgbClr val="007C89"/>
            </a:solidFill>
            <a:prstDash val="solid"/>
          </a:ln>
        </p:spPr>
      </p:sp>
      <p:sp>
        <p:nvSpPr>
          <p:cNvPr id="13" name="Text 11"/>
          <p:cNvSpPr/>
          <p:nvPr/>
        </p:nvSpPr>
        <p:spPr>
          <a:xfrm>
            <a:off x="6611112" y="3127248"/>
            <a:ext cx="4745736" cy="658368"/>
          </a:xfrm>
          <a:prstGeom prst="rect">
            <a:avLst/>
          </a:prstGeom>
          <a:noFill/>
          <a:ln/>
        </p:spPr>
        <p:txBody>
          <a:bodyPr wrap="square" lIns="0" tIns="0" rIns="0" bIns="0" rtlCol="0" anchor="ctr">
            <a:normAutofit/>
          </a:bodyPr>
          <a:lstStyle/>
          <a:p>
            <a:pPr algn="ctr" indent="0" marL="0">
              <a:buNone/>
            </a:pPr>
            <a:r>
              <a:rPr lang="en-US" sz="1480" b="1" dirty="0">
                <a:solidFill>
                  <a:srgbClr val="005088"/>
                </a:solidFill>
                <a:latin typeface="Cambria Math" pitchFamily="34" charset="0"/>
                <a:ea typeface="Cambria Math" pitchFamily="34" charset="-122"/>
                <a:cs typeface="Cambria Math" pitchFamily="34" charset="-120"/>
              </a:rPr>
              <a:t>∀s Smelly(s) ⇔ ∃w (Wumpus(w) ∧ Adjacent(w,s))</a:t>
            </a:r>
            <a:endParaRPr lang="en-US" sz="1480" dirty="0"/>
          </a:p>
        </p:txBody>
      </p:sp>
      <p:sp>
        <p:nvSpPr>
          <p:cNvPr id="14" name="Shape 12"/>
          <p:cNvSpPr/>
          <p:nvPr/>
        </p:nvSpPr>
        <p:spPr>
          <a:xfrm>
            <a:off x="6446520" y="4041648"/>
            <a:ext cx="5074920" cy="859536"/>
          </a:xfrm>
          <a:prstGeom prst="roundRect">
            <a:avLst>
              <a:gd name="adj" fmla="val 8511"/>
            </a:avLst>
          </a:prstGeom>
          <a:solidFill>
            <a:srgbClr val="FFE4E6"/>
          </a:solidFill>
          <a:ln w="12700">
            <a:solidFill>
              <a:srgbClr val="FDA4AF"/>
            </a:solidFill>
            <a:prstDash val="solid"/>
          </a:ln>
        </p:spPr>
      </p:sp>
      <p:sp>
        <p:nvSpPr>
          <p:cNvPr id="15" name="Text 13"/>
          <p:cNvSpPr/>
          <p:nvPr/>
        </p:nvSpPr>
        <p:spPr>
          <a:xfrm>
            <a:off x="6629400" y="4178808"/>
            <a:ext cx="4709160" cy="219456"/>
          </a:xfrm>
          <a:prstGeom prst="rect">
            <a:avLst/>
          </a:prstGeom>
          <a:noFill/>
          <a:ln/>
        </p:spPr>
        <p:txBody>
          <a:bodyPr wrap="square" lIns="0" tIns="0" rIns="0" bIns="0" rtlCol="0" anchor="ctr"/>
          <a:lstStyle/>
          <a:p>
            <a:pPr indent="0" marL="0">
              <a:buNone/>
            </a:pPr>
            <a:r>
              <a:rPr lang="en-US" sz="950" b="1" dirty="0">
                <a:solidFill>
                  <a:srgbClr val="C1121F"/>
                </a:solidFill>
              </a:rPr>
              <a:t>STUDENT GOTCHA</a:t>
            </a:r>
            <a:endParaRPr lang="en-US" sz="950" dirty="0"/>
          </a:p>
        </p:txBody>
      </p:sp>
      <p:sp>
        <p:nvSpPr>
          <p:cNvPr id="16" name="Text 14"/>
          <p:cNvSpPr/>
          <p:nvPr/>
        </p:nvSpPr>
        <p:spPr>
          <a:xfrm>
            <a:off x="6629400" y="4453128"/>
            <a:ext cx="4709160" cy="356616"/>
          </a:xfrm>
          <a:prstGeom prst="rect">
            <a:avLst/>
          </a:prstGeom>
          <a:noFill/>
          <a:ln/>
        </p:spPr>
        <p:txBody>
          <a:bodyPr wrap="square" lIns="254" tIns="254" rIns="254" bIns="254" rtlCol="0" anchor="t">
            <a:normAutofit/>
          </a:bodyPr>
          <a:lstStyle/>
          <a:p>
            <a:pPr indent="0" marL="0">
              <a:buNone/>
            </a:pPr>
            <a:r>
              <a:rPr lang="en-US" sz="1250" dirty="0">
                <a:solidFill>
                  <a:srgbClr val="1E293B"/>
                </a:solidFill>
              </a:rPr>
              <a:t>A one-way rule may not let the agent prove absence of danger.</a:t>
            </a:r>
            <a:endParaRPr lang="en-US" sz="1250" dirty="0"/>
          </a:p>
        </p:txBody>
      </p:sp>
      <p:sp>
        <p:nvSpPr>
          <p:cNvPr id="17" name="Shape 15"/>
          <p:cNvSpPr/>
          <p:nvPr/>
        </p:nvSpPr>
        <p:spPr>
          <a:xfrm>
            <a:off x="6446520" y="5074920"/>
            <a:ext cx="5074920" cy="841248"/>
          </a:xfrm>
          <a:prstGeom prst="roundRect">
            <a:avLst>
              <a:gd name="adj" fmla="val 8696"/>
            </a:avLst>
          </a:prstGeom>
          <a:solidFill>
            <a:srgbClr val="E6FFFA"/>
          </a:solidFill>
          <a:ln w="12700">
            <a:solidFill>
              <a:srgbClr val="2A9D8F"/>
            </a:solidFill>
            <a:prstDash val="solid"/>
          </a:ln>
        </p:spPr>
      </p:sp>
      <p:sp>
        <p:nvSpPr>
          <p:cNvPr id="18" name="Text 16"/>
          <p:cNvSpPr/>
          <p:nvPr/>
        </p:nvSpPr>
        <p:spPr>
          <a:xfrm>
            <a:off x="6629400" y="5212080"/>
            <a:ext cx="4709160" cy="219456"/>
          </a:xfrm>
          <a:prstGeom prst="rect">
            <a:avLst/>
          </a:prstGeom>
          <a:noFill/>
          <a:ln/>
        </p:spPr>
        <p:txBody>
          <a:bodyPr wrap="square" lIns="0" tIns="0" rIns="0" bIns="0" rtlCol="0" anchor="ctr"/>
          <a:lstStyle/>
          <a:p>
            <a:pPr indent="0" marL="0">
              <a:buNone/>
            </a:pPr>
            <a:r>
              <a:rPr lang="en-US" sz="950" b="1" dirty="0">
                <a:solidFill>
                  <a:srgbClr val="007C89"/>
                </a:solidFill>
              </a:rPr>
              <a:t>CLASS CHECK</a:t>
            </a:r>
            <a:endParaRPr lang="en-US" sz="950" dirty="0"/>
          </a:p>
        </p:txBody>
      </p:sp>
      <p:sp>
        <p:nvSpPr>
          <p:cNvPr id="19" name="Text 17"/>
          <p:cNvSpPr/>
          <p:nvPr/>
        </p:nvSpPr>
        <p:spPr>
          <a:xfrm>
            <a:off x="6629400" y="5486400"/>
            <a:ext cx="4709160" cy="338328"/>
          </a:xfrm>
          <a:prstGeom prst="rect">
            <a:avLst/>
          </a:prstGeom>
          <a:noFill/>
          <a:ln/>
        </p:spPr>
        <p:txBody>
          <a:bodyPr wrap="square" lIns="254" tIns="254" rIns="254" bIns="254" rtlCol="0" anchor="t">
            <a:normAutofit/>
          </a:bodyPr>
          <a:lstStyle/>
          <a:p>
            <a:pPr indent="0" marL="0">
              <a:buNone/>
            </a:pPr>
            <a:r>
              <a:rPr lang="en-US" sz="1270" dirty="0">
                <a:solidFill>
                  <a:srgbClr val="1E293B"/>
                </a:solidFill>
              </a:rPr>
              <a:t>Ask: Why might safety require the reverse direction?</a:t>
            </a:r>
            <a:endParaRPr lang="en-US" sz="127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5088"/>
          </a:solidFill>
          <a:ln w="12700">
            <a:solidFill>
              <a:srgbClr val="005088"/>
            </a:solidFill>
            <a:prstDash val="solid"/>
          </a:ln>
        </p:spPr>
      </p:sp>
      <p:sp>
        <p:nvSpPr>
          <p:cNvPr id="3" name="Shape 1"/>
          <p:cNvSpPr/>
          <p:nvPr/>
        </p:nvSpPr>
        <p:spPr>
          <a:xfrm>
            <a:off x="0" y="6729984"/>
            <a:ext cx="12191695" cy="128016"/>
          </a:xfrm>
          <a:prstGeom prst="rect">
            <a:avLst/>
          </a:prstGeom>
          <a:solidFill>
            <a:srgbClr val="005088"/>
          </a:solidFill>
          <a:ln w="12700">
            <a:solidFill>
              <a:srgbClr val="005088"/>
            </a:solidFill>
            <a:prstDash val="solid"/>
          </a:ln>
        </p:spPr>
      </p:sp>
      <p:sp>
        <p:nvSpPr>
          <p:cNvPr id="4" name="Text 2"/>
          <p:cNvSpPr/>
          <p:nvPr/>
        </p:nvSpPr>
        <p:spPr>
          <a:xfrm>
            <a:off x="502920" y="210312"/>
            <a:ext cx="6858000" cy="219456"/>
          </a:xfrm>
          <a:prstGeom prst="rect">
            <a:avLst/>
          </a:prstGeom>
          <a:noFill/>
          <a:ln/>
        </p:spPr>
        <p:txBody>
          <a:bodyPr wrap="square" lIns="0" tIns="0" rIns="0" bIns="0" rtlCol="0" anchor="ctr"/>
          <a:lstStyle/>
          <a:p>
            <a:pPr indent="0" marL="0">
              <a:buNone/>
            </a:pPr>
            <a:r>
              <a:rPr lang="en-US" sz="950" b="1" dirty="0">
                <a:solidFill>
                  <a:srgbClr val="3D5A80"/>
                </a:solidFill>
                <a:latin typeface="Aptos" pitchFamily="34" charset="0"/>
                <a:ea typeface="Aptos" pitchFamily="34" charset="-122"/>
                <a:cs typeface="Aptos" pitchFamily="34" charset="-120"/>
              </a:rPr>
              <a:t>8.3 Using First-Order Logic</a:t>
            </a:r>
            <a:endParaRPr lang="en-US" sz="950" dirty="0"/>
          </a:p>
        </p:txBody>
      </p:sp>
      <p:sp>
        <p:nvSpPr>
          <p:cNvPr id="5" name="Text 3"/>
          <p:cNvSpPr/>
          <p:nvPr/>
        </p:nvSpPr>
        <p:spPr>
          <a:xfrm>
            <a:off x="11018520" y="201168"/>
            <a:ext cx="640080" cy="228600"/>
          </a:xfrm>
          <a:prstGeom prst="rect">
            <a:avLst/>
          </a:prstGeom>
          <a:noFill/>
          <a:ln/>
        </p:spPr>
        <p:txBody>
          <a:bodyPr wrap="square" lIns="0" tIns="0" rIns="0" bIns="0" rtlCol="0" anchor="ctr"/>
          <a:lstStyle/>
          <a:p>
            <a:pPr algn="r" indent="0" marL="0">
              <a:buNone/>
            </a:pPr>
            <a:r>
              <a:rPr lang="en-US" sz="900" b="1" dirty="0">
                <a:solidFill>
                  <a:srgbClr val="3D5A80"/>
                </a:solidFill>
              </a:rPr>
              <a:t>75</a:t>
            </a:r>
            <a:endParaRPr lang="en-US" sz="900" dirty="0"/>
          </a:p>
        </p:txBody>
      </p:sp>
      <p:sp>
        <p:nvSpPr>
          <p:cNvPr id="6" name="Text 4"/>
          <p:cNvSpPr/>
          <p:nvPr/>
        </p:nvSpPr>
        <p:spPr>
          <a:xfrm>
            <a:off x="502920" y="566928"/>
            <a:ext cx="11201400" cy="512064"/>
          </a:xfrm>
          <a:prstGeom prst="rect">
            <a:avLst/>
          </a:prstGeom>
          <a:noFill/>
          <a:ln/>
        </p:spPr>
        <p:txBody>
          <a:bodyPr wrap="square" lIns="0" tIns="0" rIns="0" bIns="0" rtlCol="0" anchor="ctr">
            <a:normAutofit/>
          </a:bodyPr>
          <a:lstStyle/>
          <a:p>
            <a:pPr indent="0" marL="0">
              <a:buNone/>
            </a:pPr>
            <a:r>
              <a:rPr lang="en-US" sz="2650" b="1" dirty="0">
                <a:solidFill>
                  <a:srgbClr val="005088"/>
                </a:solidFill>
                <a:latin typeface="Aptos Display" pitchFamily="34" charset="0"/>
                <a:ea typeface="Aptos Display" pitchFamily="34" charset="-122"/>
                <a:cs typeface="Aptos Display" pitchFamily="34" charset="-120"/>
              </a:rPr>
              <a:t>OBJECTS OR PREDICATES?</a:t>
            </a:r>
            <a:endParaRPr lang="en-US" sz="2650" dirty="0"/>
          </a:p>
        </p:txBody>
      </p:sp>
      <p:sp>
        <p:nvSpPr>
          <p:cNvPr id="7" name="Shape 5"/>
          <p:cNvSpPr/>
          <p:nvPr/>
        </p:nvSpPr>
        <p:spPr>
          <a:xfrm>
            <a:off x="502920" y="1188720"/>
            <a:ext cx="11109960" cy="0"/>
          </a:xfrm>
          <a:prstGeom prst="line">
            <a:avLst/>
          </a:prstGeom>
          <a:noFill/>
          <a:ln w="12700">
            <a:solidFill>
              <a:srgbClr val="3D5A80"/>
            </a:solidFill>
            <a:prstDash val="solid"/>
          </a:ln>
        </p:spPr>
      </p:sp>
      <p:sp>
        <p:nvSpPr>
          <p:cNvPr id="8" name="Text 6"/>
          <p:cNvSpPr/>
          <p:nvPr/>
        </p:nvSpPr>
        <p:spPr>
          <a:xfrm>
            <a:off x="713232" y="1572768"/>
            <a:ext cx="5440680" cy="4251960"/>
          </a:xfrm>
          <a:prstGeom prst="rect">
            <a:avLst/>
          </a:prstGeom>
          <a:noFill/>
          <a:ln/>
        </p:spPr>
        <p:txBody>
          <a:bodyPr wrap="square" lIns="1016" tIns="1016" rIns="1016" bIns="1016" rtlCol="0" anchor="t">
            <a:normAutofit/>
          </a:bodyPr>
          <a:lstStyle/>
          <a:p>
            <a:pPr indent="0" marL="0">
              <a:buNone/>
            </a:pPr>
            <a:r>
              <a:rPr lang="en-US" sz="1650" dirty="0">
                <a:solidFill>
                  <a:srgbClr val="1E293B"/>
                </a:solidFill>
                <a:latin typeface="Aptos" pitchFamily="34" charset="0"/>
                <a:ea typeface="Aptos" pitchFamily="34" charset="-122"/>
                <a:cs typeface="Aptos" pitchFamily="34" charset="-120"/>
              </a:rPr>
              <a:t>• A pit can be represented as an object with a location</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A pit can also be represented as a predicate on squares</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Both choices may be legal</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The better choice depends on the questions we need to answer</a:t>
            </a:r>
            <a:endParaRPr lang="en-US" sz="1650" dirty="0"/>
          </a:p>
        </p:txBody>
      </p:sp>
      <p:sp>
        <p:nvSpPr>
          <p:cNvPr id="9" name="Shape 7"/>
          <p:cNvSpPr/>
          <p:nvPr/>
        </p:nvSpPr>
        <p:spPr>
          <a:xfrm>
            <a:off x="6446520" y="1572768"/>
            <a:ext cx="5074920" cy="1234440"/>
          </a:xfrm>
          <a:prstGeom prst="roundRect">
            <a:avLst>
              <a:gd name="adj" fmla="val 5926"/>
            </a:avLst>
          </a:prstGeom>
          <a:solidFill>
            <a:srgbClr val="FFF6D9"/>
          </a:solidFill>
          <a:ln w="12700">
            <a:solidFill>
              <a:srgbClr val="F4A261"/>
            </a:solidFill>
            <a:prstDash val="solid"/>
          </a:ln>
        </p:spPr>
      </p:sp>
      <p:sp>
        <p:nvSpPr>
          <p:cNvPr id="10" name="Text 8"/>
          <p:cNvSpPr/>
          <p:nvPr/>
        </p:nvSpPr>
        <p:spPr>
          <a:xfrm>
            <a:off x="6629400" y="1709928"/>
            <a:ext cx="4709160" cy="219456"/>
          </a:xfrm>
          <a:prstGeom prst="rect">
            <a:avLst/>
          </a:prstGeom>
          <a:noFill/>
          <a:ln/>
        </p:spPr>
        <p:txBody>
          <a:bodyPr wrap="square" lIns="0" tIns="0" rIns="0" bIns="0" rtlCol="0" anchor="ctr"/>
          <a:lstStyle/>
          <a:p>
            <a:pPr indent="0" marL="0">
              <a:buNone/>
            </a:pPr>
            <a:r>
              <a:rPr lang="en-US" sz="950" b="1" dirty="0">
                <a:solidFill>
                  <a:srgbClr val="B0005D"/>
                </a:solidFill>
              </a:rPr>
              <a:t>ANALOGY</a:t>
            </a:r>
            <a:endParaRPr lang="en-US" sz="950" dirty="0"/>
          </a:p>
        </p:txBody>
      </p:sp>
      <p:sp>
        <p:nvSpPr>
          <p:cNvPr id="11" name="Text 9"/>
          <p:cNvSpPr/>
          <p:nvPr/>
        </p:nvSpPr>
        <p:spPr>
          <a:xfrm>
            <a:off x="6629400" y="1984248"/>
            <a:ext cx="4709160" cy="731520"/>
          </a:xfrm>
          <a:prstGeom prst="rect">
            <a:avLst/>
          </a:prstGeom>
          <a:noFill/>
          <a:ln/>
        </p:spPr>
        <p:txBody>
          <a:bodyPr wrap="square" lIns="254" tIns="254" rIns="254" bIns="254" rtlCol="0" anchor="t">
            <a:normAutofit/>
          </a:bodyPr>
          <a:lstStyle/>
          <a:p>
            <a:pPr indent="0" marL="0">
              <a:buNone/>
            </a:pPr>
            <a:r>
              <a:rPr lang="en-US" sz="1330" dirty="0">
                <a:solidFill>
                  <a:srgbClr val="1E293B"/>
                </a:solidFill>
              </a:rPr>
              <a:t>In software design, a course might be a class, a table row, or a field depending on what the program must do.</a:t>
            </a:r>
            <a:endParaRPr lang="en-US" sz="1330" dirty="0"/>
          </a:p>
        </p:txBody>
      </p:sp>
      <p:sp>
        <p:nvSpPr>
          <p:cNvPr id="12" name="Shape 10"/>
          <p:cNvSpPr/>
          <p:nvPr/>
        </p:nvSpPr>
        <p:spPr>
          <a:xfrm>
            <a:off x="6446520" y="2999232"/>
            <a:ext cx="5074920" cy="841248"/>
          </a:xfrm>
          <a:prstGeom prst="roundRect">
            <a:avLst>
              <a:gd name="adj" fmla="val 8696"/>
            </a:avLst>
          </a:prstGeom>
          <a:solidFill>
            <a:srgbClr val="FFFFFF">
              <a:alpha val="97000"/>
            </a:srgbClr>
          </a:solidFill>
          <a:ln w="12700">
            <a:solidFill>
              <a:srgbClr val="007C89"/>
            </a:solidFill>
            <a:prstDash val="solid"/>
          </a:ln>
        </p:spPr>
      </p:sp>
      <p:sp>
        <p:nvSpPr>
          <p:cNvPr id="13" name="Text 11"/>
          <p:cNvSpPr/>
          <p:nvPr/>
        </p:nvSpPr>
        <p:spPr>
          <a:xfrm>
            <a:off x="6611112" y="3127248"/>
            <a:ext cx="4745736" cy="658368"/>
          </a:xfrm>
          <a:prstGeom prst="rect">
            <a:avLst/>
          </a:prstGeom>
          <a:noFill/>
          <a:ln/>
        </p:spPr>
        <p:txBody>
          <a:bodyPr wrap="square" lIns="0" tIns="0" rIns="0" bIns="0" rtlCol="0" anchor="ctr">
            <a:normAutofit/>
          </a:bodyPr>
          <a:lstStyle/>
          <a:p>
            <a:pPr algn="ctr" indent="0" marL="0">
              <a:buNone/>
            </a:pPr>
            <a:r>
              <a:rPr lang="en-US" sz="1520" b="1" dirty="0">
                <a:solidFill>
                  <a:srgbClr val="005088"/>
                </a:solidFill>
                <a:latin typeface="Cambria Math" pitchFamily="34" charset="0"/>
                <a:ea typeface="Cambria Math" pitchFamily="34" charset="-122"/>
                <a:cs typeface="Cambria Math" pitchFamily="34" charset="-120"/>
              </a:rPr>
              <a:t>Pit(S₂,₂)  or  Located(PitOne, S₂,₂)</a:t>
            </a:r>
            <a:endParaRPr lang="en-US" sz="1520" dirty="0"/>
          </a:p>
        </p:txBody>
      </p:sp>
      <p:sp>
        <p:nvSpPr>
          <p:cNvPr id="14" name="Shape 12"/>
          <p:cNvSpPr/>
          <p:nvPr/>
        </p:nvSpPr>
        <p:spPr>
          <a:xfrm>
            <a:off x="6446520" y="4041648"/>
            <a:ext cx="5074920" cy="859536"/>
          </a:xfrm>
          <a:prstGeom prst="roundRect">
            <a:avLst>
              <a:gd name="adj" fmla="val 8511"/>
            </a:avLst>
          </a:prstGeom>
          <a:solidFill>
            <a:srgbClr val="FFE4E6"/>
          </a:solidFill>
          <a:ln w="12700">
            <a:solidFill>
              <a:srgbClr val="FDA4AF"/>
            </a:solidFill>
            <a:prstDash val="solid"/>
          </a:ln>
        </p:spPr>
      </p:sp>
      <p:sp>
        <p:nvSpPr>
          <p:cNvPr id="15" name="Text 13"/>
          <p:cNvSpPr/>
          <p:nvPr/>
        </p:nvSpPr>
        <p:spPr>
          <a:xfrm>
            <a:off x="6629400" y="4178808"/>
            <a:ext cx="4709160" cy="219456"/>
          </a:xfrm>
          <a:prstGeom prst="rect">
            <a:avLst/>
          </a:prstGeom>
          <a:noFill/>
          <a:ln/>
        </p:spPr>
        <p:txBody>
          <a:bodyPr wrap="square" lIns="0" tIns="0" rIns="0" bIns="0" rtlCol="0" anchor="ctr"/>
          <a:lstStyle/>
          <a:p>
            <a:pPr indent="0" marL="0">
              <a:buNone/>
            </a:pPr>
            <a:r>
              <a:rPr lang="en-US" sz="950" b="1" dirty="0">
                <a:solidFill>
                  <a:srgbClr val="C1121F"/>
                </a:solidFill>
              </a:rPr>
              <a:t>STUDENT GOTCHA</a:t>
            </a:r>
            <a:endParaRPr lang="en-US" sz="950" dirty="0"/>
          </a:p>
        </p:txBody>
      </p:sp>
      <p:sp>
        <p:nvSpPr>
          <p:cNvPr id="16" name="Text 14"/>
          <p:cNvSpPr/>
          <p:nvPr/>
        </p:nvSpPr>
        <p:spPr>
          <a:xfrm>
            <a:off x="6629400" y="4453128"/>
            <a:ext cx="4709160" cy="356616"/>
          </a:xfrm>
          <a:prstGeom prst="rect">
            <a:avLst/>
          </a:prstGeom>
          <a:noFill/>
          <a:ln/>
        </p:spPr>
        <p:txBody>
          <a:bodyPr wrap="square" lIns="254" tIns="254" rIns="254" bIns="254" rtlCol="0" anchor="t">
            <a:normAutofit/>
          </a:bodyPr>
          <a:lstStyle/>
          <a:p>
            <a:pPr indent="0" marL="0">
              <a:buNone/>
            </a:pPr>
            <a:r>
              <a:rPr lang="en-US" sz="1250" dirty="0">
                <a:solidFill>
                  <a:srgbClr val="1E293B"/>
                </a:solidFill>
              </a:rPr>
              <a:t>There is rarely one universal best ontology. Good modeling is task-dependent.</a:t>
            </a:r>
            <a:endParaRPr lang="en-US" sz="1250" dirty="0"/>
          </a:p>
        </p:txBody>
      </p:sp>
      <p:sp>
        <p:nvSpPr>
          <p:cNvPr id="17" name="Shape 15"/>
          <p:cNvSpPr/>
          <p:nvPr/>
        </p:nvSpPr>
        <p:spPr>
          <a:xfrm>
            <a:off x="6446520" y="5074920"/>
            <a:ext cx="5074920" cy="841248"/>
          </a:xfrm>
          <a:prstGeom prst="roundRect">
            <a:avLst>
              <a:gd name="adj" fmla="val 8696"/>
            </a:avLst>
          </a:prstGeom>
          <a:solidFill>
            <a:srgbClr val="E6FFFA"/>
          </a:solidFill>
          <a:ln w="12700">
            <a:solidFill>
              <a:srgbClr val="2A9D8F"/>
            </a:solidFill>
            <a:prstDash val="solid"/>
          </a:ln>
        </p:spPr>
      </p:sp>
      <p:sp>
        <p:nvSpPr>
          <p:cNvPr id="18" name="Text 16"/>
          <p:cNvSpPr/>
          <p:nvPr/>
        </p:nvSpPr>
        <p:spPr>
          <a:xfrm>
            <a:off x="6629400" y="5212080"/>
            <a:ext cx="4709160" cy="219456"/>
          </a:xfrm>
          <a:prstGeom prst="rect">
            <a:avLst/>
          </a:prstGeom>
          <a:noFill/>
          <a:ln/>
        </p:spPr>
        <p:txBody>
          <a:bodyPr wrap="square" lIns="0" tIns="0" rIns="0" bIns="0" rtlCol="0" anchor="ctr"/>
          <a:lstStyle/>
          <a:p>
            <a:pPr indent="0" marL="0">
              <a:buNone/>
            </a:pPr>
            <a:r>
              <a:rPr lang="en-US" sz="950" b="1" dirty="0">
                <a:solidFill>
                  <a:srgbClr val="007C89"/>
                </a:solidFill>
              </a:rPr>
              <a:t>CLASS CHECK</a:t>
            </a:r>
            <a:endParaRPr lang="en-US" sz="950" dirty="0"/>
          </a:p>
        </p:txBody>
      </p:sp>
      <p:sp>
        <p:nvSpPr>
          <p:cNvPr id="19" name="Text 17"/>
          <p:cNvSpPr/>
          <p:nvPr/>
        </p:nvSpPr>
        <p:spPr>
          <a:xfrm>
            <a:off x="6629400" y="5486400"/>
            <a:ext cx="4709160" cy="338328"/>
          </a:xfrm>
          <a:prstGeom prst="rect">
            <a:avLst/>
          </a:prstGeom>
          <a:noFill/>
          <a:ln/>
        </p:spPr>
        <p:txBody>
          <a:bodyPr wrap="square" lIns="254" tIns="254" rIns="254" bIns="254" rtlCol="0" anchor="t">
            <a:normAutofit/>
          </a:bodyPr>
          <a:lstStyle/>
          <a:p>
            <a:pPr indent="0" marL="0">
              <a:buNone/>
            </a:pPr>
            <a:r>
              <a:rPr lang="en-US" sz="1270" dirty="0">
                <a:solidFill>
                  <a:srgbClr val="1E293B"/>
                </a:solidFill>
              </a:rPr>
              <a:t>Ask: Would you represent Course as an object or Enrolled as a relation?</a:t>
            </a:r>
            <a:endParaRPr lang="en-US" sz="127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5088"/>
          </a:solidFill>
          <a:ln w="12700">
            <a:solidFill>
              <a:srgbClr val="005088"/>
            </a:solidFill>
            <a:prstDash val="solid"/>
          </a:ln>
        </p:spPr>
      </p:sp>
      <p:sp>
        <p:nvSpPr>
          <p:cNvPr id="3" name="Shape 1"/>
          <p:cNvSpPr/>
          <p:nvPr/>
        </p:nvSpPr>
        <p:spPr>
          <a:xfrm>
            <a:off x="0" y="6729984"/>
            <a:ext cx="12191695" cy="128016"/>
          </a:xfrm>
          <a:prstGeom prst="rect">
            <a:avLst/>
          </a:prstGeom>
          <a:solidFill>
            <a:srgbClr val="005088"/>
          </a:solidFill>
          <a:ln w="12700">
            <a:solidFill>
              <a:srgbClr val="005088"/>
            </a:solidFill>
            <a:prstDash val="solid"/>
          </a:ln>
        </p:spPr>
      </p:sp>
      <p:sp>
        <p:nvSpPr>
          <p:cNvPr id="4" name="Text 2"/>
          <p:cNvSpPr/>
          <p:nvPr/>
        </p:nvSpPr>
        <p:spPr>
          <a:xfrm>
            <a:off x="502920" y="210312"/>
            <a:ext cx="6858000" cy="219456"/>
          </a:xfrm>
          <a:prstGeom prst="rect">
            <a:avLst/>
          </a:prstGeom>
          <a:noFill/>
          <a:ln/>
        </p:spPr>
        <p:txBody>
          <a:bodyPr wrap="square" lIns="0" tIns="0" rIns="0" bIns="0" rtlCol="0" anchor="ctr"/>
          <a:lstStyle/>
          <a:p>
            <a:pPr indent="0" marL="0">
              <a:buNone/>
            </a:pPr>
            <a:r>
              <a:rPr lang="en-US" sz="950" b="1" dirty="0">
                <a:solidFill>
                  <a:srgbClr val="3D5A80"/>
                </a:solidFill>
                <a:latin typeface="Aptos" pitchFamily="34" charset="0"/>
                <a:ea typeface="Aptos" pitchFamily="34" charset="-122"/>
                <a:cs typeface="Aptos" pitchFamily="34" charset="-120"/>
              </a:rPr>
              <a:t>8.3 Using First-Order Logic</a:t>
            </a:r>
            <a:endParaRPr lang="en-US" sz="950" dirty="0"/>
          </a:p>
        </p:txBody>
      </p:sp>
      <p:sp>
        <p:nvSpPr>
          <p:cNvPr id="5" name="Text 3"/>
          <p:cNvSpPr/>
          <p:nvPr/>
        </p:nvSpPr>
        <p:spPr>
          <a:xfrm>
            <a:off x="11018520" y="201168"/>
            <a:ext cx="640080" cy="228600"/>
          </a:xfrm>
          <a:prstGeom prst="rect">
            <a:avLst/>
          </a:prstGeom>
          <a:noFill/>
          <a:ln/>
        </p:spPr>
        <p:txBody>
          <a:bodyPr wrap="square" lIns="0" tIns="0" rIns="0" bIns="0" rtlCol="0" anchor="ctr"/>
          <a:lstStyle/>
          <a:p>
            <a:pPr algn="r" indent="0" marL="0">
              <a:buNone/>
            </a:pPr>
            <a:r>
              <a:rPr lang="en-US" sz="900" b="1" dirty="0">
                <a:solidFill>
                  <a:srgbClr val="3D5A80"/>
                </a:solidFill>
              </a:rPr>
              <a:t>76</a:t>
            </a:r>
            <a:endParaRPr lang="en-US" sz="900" dirty="0"/>
          </a:p>
        </p:txBody>
      </p:sp>
      <p:sp>
        <p:nvSpPr>
          <p:cNvPr id="6" name="Text 4"/>
          <p:cNvSpPr/>
          <p:nvPr/>
        </p:nvSpPr>
        <p:spPr>
          <a:xfrm>
            <a:off x="502920" y="566928"/>
            <a:ext cx="11201400" cy="512064"/>
          </a:xfrm>
          <a:prstGeom prst="rect">
            <a:avLst/>
          </a:prstGeom>
          <a:noFill/>
          <a:ln/>
        </p:spPr>
        <p:txBody>
          <a:bodyPr wrap="square" lIns="0" tIns="0" rIns="0" bIns="0" rtlCol="0" anchor="ctr">
            <a:normAutofit/>
          </a:bodyPr>
          <a:lstStyle/>
          <a:p>
            <a:pPr indent="0" marL="0">
              <a:buNone/>
            </a:pPr>
            <a:r>
              <a:rPr lang="en-US" sz="2650" b="1" dirty="0">
                <a:solidFill>
                  <a:srgbClr val="005088"/>
                </a:solidFill>
                <a:latin typeface="Aptos Display" pitchFamily="34" charset="0"/>
                <a:ea typeface="Aptos Display" pitchFamily="34" charset="-122"/>
                <a:cs typeface="Aptos Display" pitchFamily="34" charset="-120"/>
              </a:rPr>
              <a:t>VARIABLE-ANSWER QUERIES</a:t>
            </a:r>
            <a:endParaRPr lang="en-US" sz="2650" dirty="0"/>
          </a:p>
        </p:txBody>
      </p:sp>
      <p:sp>
        <p:nvSpPr>
          <p:cNvPr id="7" name="Shape 5"/>
          <p:cNvSpPr/>
          <p:nvPr/>
        </p:nvSpPr>
        <p:spPr>
          <a:xfrm>
            <a:off x="502920" y="1188720"/>
            <a:ext cx="11109960" cy="0"/>
          </a:xfrm>
          <a:prstGeom prst="line">
            <a:avLst/>
          </a:prstGeom>
          <a:noFill/>
          <a:ln w="12700">
            <a:solidFill>
              <a:srgbClr val="3D5A80"/>
            </a:solidFill>
            <a:prstDash val="solid"/>
          </a:ln>
        </p:spPr>
      </p:sp>
      <p:sp>
        <p:nvSpPr>
          <p:cNvPr id="8" name="Text 6"/>
          <p:cNvSpPr/>
          <p:nvPr/>
        </p:nvSpPr>
        <p:spPr>
          <a:xfrm>
            <a:off x="713232" y="1572768"/>
            <a:ext cx="5440680" cy="4251960"/>
          </a:xfrm>
          <a:prstGeom prst="rect">
            <a:avLst/>
          </a:prstGeom>
          <a:noFill/>
          <a:ln/>
        </p:spPr>
        <p:txBody>
          <a:bodyPr wrap="square" lIns="1016" tIns="1016" rIns="1016" bIns="1016" rtlCol="0" anchor="t">
            <a:normAutofit/>
          </a:bodyPr>
          <a:lstStyle/>
          <a:p>
            <a:pPr indent="0" marL="0">
              <a:buNone/>
            </a:pPr>
            <a:r>
              <a:rPr lang="en-US" sz="1650" dirty="0">
                <a:solidFill>
                  <a:srgbClr val="1E293B"/>
                </a:solidFill>
                <a:latin typeface="Aptos" pitchFamily="34" charset="0"/>
                <a:ea typeface="Aptos" pitchFamily="34" charset="-122"/>
                <a:cs typeface="Aptos" pitchFamily="34" charset="-120"/>
              </a:rPr>
              <a:t>• Some queries ask which objects satisfy a condition</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Variables act as answer slots</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The answer is a substitution for the variable</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This supports planning, diagnosis, and search for objects</a:t>
            </a:r>
            <a:endParaRPr lang="en-US" sz="1650" dirty="0"/>
          </a:p>
        </p:txBody>
      </p:sp>
      <p:sp>
        <p:nvSpPr>
          <p:cNvPr id="9" name="Shape 7"/>
          <p:cNvSpPr/>
          <p:nvPr/>
        </p:nvSpPr>
        <p:spPr>
          <a:xfrm>
            <a:off x="6446520" y="1572768"/>
            <a:ext cx="5074920" cy="1234440"/>
          </a:xfrm>
          <a:prstGeom prst="roundRect">
            <a:avLst>
              <a:gd name="adj" fmla="val 5926"/>
            </a:avLst>
          </a:prstGeom>
          <a:solidFill>
            <a:srgbClr val="FFF6D9"/>
          </a:solidFill>
          <a:ln w="12700">
            <a:solidFill>
              <a:srgbClr val="F4A261"/>
            </a:solidFill>
            <a:prstDash val="solid"/>
          </a:ln>
        </p:spPr>
      </p:sp>
      <p:sp>
        <p:nvSpPr>
          <p:cNvPr id="10" name="Text 8"/>
          <p:cNvSpPr/>
          <p:nvPr/>
        </p:nvSpPr>
        <p:spPr>
          <a:xfrm>
            <a:off x="6629400" y="1709928"/>
            <a:ext cx="4709160" cy="219456"/>
          </a:xfrm>
          <a:prstGeom prst="rect">
            <a:avLst/>
          </a:prstGeom>
          <a:noFill/>
          <a:ln/>
        </p:spPr>
        <p:txBody>
          <a:bodyPr wrap="square" lIns="0" tIns="0" rIns="0" bIns="0" rtlCol="0" anchor="ctr"/>
          <a:lstStyle/>
          <a:p>
            <a:pPr indent="0" marL="0">
              <a:buNone/>
            </a:pPr>
            <a:r>
              <a:rPr lang="en-US" sz="950" b="1" dirty="0">
                <a:solidFill>
                  <a:srgbClr val="B0005D"/>
                </a:solidFill>
              </a:rPr>
              <a:t>ANALOGY</a:t>
            </a:r>
            <a:endParaRPr lang="en-US" sz="950" dirty="0"/>
          </a:p>
        </p:txBody>
      </p:sp>
      <p:sp>
        <p:nvSpPr>
          <p:cNvPr id="11" name="Text 9"/>
          <p:cNvSpPr/>
          <p:nvPr/>
        </p:nvSpPr>
        <p:spPr>
          <a:xfrm>
            <a:off x="6629400" y="1984248"/>
            <a:ext cx="4709160" cy="731520"/>
          </a:xfrm>
          <a:prstGeom prst="rect">
            <a:avLst/>
          </a:prstGeom>
          <a:noFill/>
          <a:ln/>
        </p:spPr>
        <p:txBody>
          <a:bodyPr wrap="square" lIns="254" tIns="254" rIns="254" bIns="254" rtlCol="0" anchor="t">
            <a:normAutofit/>
          </a:bodyPr>
          <a:lstStyle/>
          <a:p>
            <a:pPr indent="0" marL="0">
              <a:buNone/>
            </a:pPr>
            <a:r>
              <a:rPr lang="en-US" sz="1330" dirty="0">
                <a:solidFill>
                  <a:srgbClr val="1E293B"/>
                </a:solidFill>
              </a:rPr>
              <a:t>Instead of asking “is there a safe square?”, ask “which squares are safe?”</a:t>
            </a:r>
            <a:endParaRPr lang="en-US" sz="1330" dirty="0"/>
          </a:p>
        </p:txBody>
      </p:sp>
      <p:sp>
        <p:nvSpPr>
          <p:cNvPr id="12" name="Shape 10"/>
          <p:cNvSpPr/>
          <p:nvPr/>
        </p:nvSpPr>
        <p:spPr>
          <a:xfrm>
            <a:off x="6446520" y="2999232"/>
            <a:ext cx="5074920" cy="841248"/>
          </a:xfrm>
          <a:prstGeom prst="roundRect">
            <a:avLst>
              <a:gd name="adj" fmla="val 8696"/>
            </a:avLst>
          </a:prstGeom>
          <a:solidFill>
            <a:srgbClr val="FFFFFF">
              <a:alpha val="97000"/>
            </a:srgbClr>
          </a:solidFill>
          <a:ln w="12700">
            <a:solidFill>
              <a:srgbClr val="007C89"/>
            </a:solidFill>
            <a:prstDash val="solid"/>
          </a:ln>
        </p:spPr>
      </p:sp>
      <p:sp>
        <p:nvSpPr>
          <p:cNvPr id="13" name="Text 11"/>
          <p:cNvSpPr/>
          <p:nvPr/>
        </p:nvSpPr>
        <p:spPr>
          <a:xfrm>
            <a:off x="6611112" y="3127248"/>
            <a:ext cx="4745736" cy="658368"/>
          </a:xfrm>
          <a:prstGeom prst="rect">
            <a:avLst/>
          </a:prstGeom>
          <a:noFill/>
          <a:ln/>
        </p:spPr>
        <p:txBody>
          <a:bodyPr wrap="square" lIns="0" tIns="0" rIns="0" bIns="0" rtlCol="0" anchor="ctr">
            <a:normAutofit/>
          </a:bodyPr>
          <a:lstStyle/>
          <a:p>
            <a:pPr algn="ctr" indent="0" marL="0">
              <a:buNone/>
            </a:pPr>
            <a:r>
              <a:rPr lang="en-US" sz="1800" b="1" dirty="0">
                <a:solidFill>
                  <a:srgbClr val="005088"/>
                </a:solidFill>
                <a:latin typeface="Cambria Math" pitchFamily="34" charset="0"/>
                <a:ea typeface="Cambria Math" pitchFamily="34" charset="-122"/>
                <a:cs typeface="Cambria Math" pitchFamily="34" charset="-120"/>
              </a:rPr>
              <a:t>Ask variables x: Safe(x)</a:t>
            </a:r>
            <a:endParaRPr lang="en-US" sz="1800" dirty="0"/>
          </a:p>
        </p:txBody>
      </p:sp>
      <p:sp>
        <p:nvSpPr>
          <p:cNvPr id="14" name="Shape 12"/>
          <p:cNvSpPr/>
          <p:nvPr/>
        </p:nvSpPr>
        <p:spPr>
          <a:xfrm>
            <a:off x="6446520" y="4041648"/>
            <a:ext cx="5074920" cy="859536"/>
          </a:xfrm>
          <a:prstGeom prst="roundRect">
            <a:avLst>
              <a:gd name="adj" fmla="val 8511"/>
            </a:avLst>
          </a:prstGeom>
          <a:solidFill>
            <a:srgbClr val="FFE4E6"/>
          </a:solidFill>
          <a:ln w="12700">
            <a:solidFill>
              <a:srgbClr val="FDA4AF"/>
            </a:solidFill>
            <a:prstDash val="solid"/>
          </a:ln>
        </p:spPr>
      </p:sp>
      <p:sp>
        <p:nvSpPr>
          <p:cNvPr id="15" name="Text 13"/>
          <p:cNvSpPr/>
          <p:nvPr/>
        </p:nvSpPr>
        <p:spPr>
          <a:xfrm>
            <a:off x="6629400" y="4178808"/>
            <a:ext cx="4709160" cy="219456"/>
          </a:xfrm>
          <a:prstGeom prst="rect">
            <a:avLst/>
          </a:prstGeom>
          <a:noFill/>
          <a:ln/>
        </p:spPr>
        <p:txBody>
          <a:bodyPr wrap="square" lIns="0" tIns="0" rIns="0" bIns="0" rtlCol="0" anchor="ctr"/>
          <a:lstStyle/>
          <a:p>
            <a:pPr indent="0" marL="0">
              <a:buNone/>
            </a:pPr>
            <a:r>
              <a:rPr lang="en-US" sz="950" b="1" dirty="0">
                <a:solidFill>
                  <a:srgbClr val="C1121F"/>
                </a:solidFill>
              </a:rPr>
              <a:t>STUDENT GOTCHA</a:t>
            </a:r>
            <a:endParaRPr lang="en-US" sz="950" dirty="0"/>
          </a:p>
        </p:txBody>
      </p:sp>
      <p:sp>
        <p:nvSpPr>
          <p:cNvPr id="16" name="Text 14"/>
          <p:cNvSpPr/>
          <p:nvPr/>
        </p:nvSpPr>
        <p:spPr>
          <a:xfrm>
            <a:off x="6629400" y="4453128"/>
            <a:ext cx="4709160" cy="356616"/>
          </a:xfrm>
          <a:prstGeom prst="rect">
            <a:avLst/>
          </a:prstGeom>
          <a:noFill/>
          <a:ln/>
        </p:spPr>
        <p:txBody>
          <a:bodyPr wrap="square" lIns="254" tIns="254" rIns="254" bIns="254" rtlCol="0" anchor="t">
            <a:normAutofit/>
          </a:bodyPr>
          <a:lstStyle/>
          <a:p>
            <a:pPr indent="0" marL="0">
              <a:buNone/>
            </a:pPr>
            <a:r>
              <a:rPr lang="en-US" sz="1250" dirty="0">
                <a:solidFill>
                  <a:srgbClr val="1E293B"/>
                </a:solidFill>
              </a:rPr>
              <a:t>A variable in a query is not the same as an unknown in a sentence. It requests bindings that make the query true.</a:t>
            </a:r>
            <a:endParaRPr lang="en-US" sz="1250" dirty="0"/>
          </a:p>
        </p:txBody>
      </p:sp>
      <p:sp>
        <p:nvSpPr>
          <p:cNvPr id="17" name="Shape 15"/>
          <p:cNvSpPr/>
          <p:nvPr/>
        </p:nvSpPr>
        <p:spPr>
          <a:xfrm>
            <a:off x="6446520" y="5074920"/>
            <a:ext cx="5074920" cy="841248"/>
          </a:xfrm>
          <a:prstGeom prst="roundRect">
            <a:avLst>
              <a:gd name="adj" fmla="val 8696"/>
            </a:avLst>
          </a:prstGeom>
          <a:solidFill>
            <a:srgbClr val="E6FFFA"/>
          </a:solidFill>
          <a:ln w="12700">
            <a:solidFill>
              <a:srgbClr val="2A9D8F"/>
            </a:solidFill>
            <a:prstDash val="solid"/>
          </a:ln>
        </p:spPr>
      </p:sp>
      <p:sp>
        <p:nvSpPr>
          <p:cNvPr id="18" name="Text 16"/>
          <p:cNvSpPr/>
          <p:nvPr/>
        </p:nvSpPr>
        <p:spPr>
          <a:xfrm>
            <a:off x="6629400" y="5212080"/>
            <a:ext cx="4709160" cy="219456"/>
          </a:xfrm>
          <a:prstGeom prst="rect">
            <a:avLst/>
          </a:prstGeom>
          <a:noFill/>
          <a:ln/>
        </p:spPr>
        <p:txBody>
          <a:bodyPr wrap="square" lIns="0" tIns="0" rIns="0" bIns="0" rtlCol="0" anchor="ctr"/>
          <a:lstStyle/>
          <a:p>
            <a:pPr indent="0" marL="0">
              <a:buNone/>
            </a:pPr>
            <a:r>
              <a:rPr lang="en-US" sz="950" b="1" dirty="0">
                <a:solidFill>
                  <a:srgbClr val="007C89"/>
                </a:solidFill>
              </a:rPr>
              <a:t>CLASS CHECK</a:t>
            </a:r>
            <a:endParaRPr lang="en-US" sz="950" dirty="0"/>
          </a:p>
        </p:txBody>
      </p:sp>
      <p:sp>
        <p:nvSpPr>
          <p:cNvPr id="19" name="Text 17"/>
          <p:cNvSpPr/>
          <p:nvPr/>
        </p:nvSpPr>
        <p:spPr>
          <a:xfrm>
            <a:off x="6629400" y="5486400"/>
            <a:ext cx="4709160" cy="338328"/>
          </a:xfrm>
          <a:prstGeom prst="rect">
            <a:avLst/>
          </a:prstGeom>
          <a:noFill/>
          <a:ln/>
        </p:spPr>
        <p:txBody>
          <a:bodyPr wrap="square" lIns="254" tIns="254" rIns="254" bIns="254" rtlCol="0" anchor="t">
            <a:normAutofit/>
          </a:bodyPr>
          <a:lstStyle/>
          <a:p>
            <a:pPr indent="0" marL="0">
              <a:buNone/>
            </a:pPr>
            <a:r>
              <a:rPr lang="en-US" sz="1270" dirty="0">
                <a:solidFill>
                  <a:srgbClr val="1E293B"/>
                </a:solidFill>
              </a:rPr>
              <a:t>Ask: What would the answer look like for Safe(x)?</a:t>
            </a:r>
            <a:endParaRPr lang="en-US" sz="127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005088"/>
        </a:solidFill>
      </p:bgPr>
    </p:bg>
    <p:spTree>
      <p:nvGrpSpPr>
        <p:cNvPr id="1" name=""/>
        <p:cNvGrpSpPr/>
        <p:nvPr/>
      </p:nvGrpSpPr>
      <p:grpSpPr>
        <a:xfrm>
          <a:off x="0" y="0"/>
          <a:ext cx="0" cy="0"/>
          <a:chOff x="0" y="0"/>
          <a:chExt cx="0" cy="0"/>
        </a:xfrm>
      </p:grpSpPr>
      <p:sp>
        <p:nvSpPr>
          <p:cNvPr id="2" name="Text 0"/>
          <p:cNvSpPr/>
          <p:nvPr/>
        </p:nvSpPr>
        <p:spPr>
          <a:xfrm>
            <a:off x="685800" y="502920"/>
            <a:ext cx="2194560" cy="320040"/>
          </a:xfrm>
          <a:prstGeom prst="rect">
            <a:avLst/>
          </a:prstGeom>
          <a:noFill/>
          <a:ln/>
        </p:spPr>
        <p:txBody>
          <a:bodyPr wrap="square" lIns="0" tIns="0" rIns="0" bIns="0" rtlCol="0" anchor="ctr"/>
          <a:lstStyle/>
          <a:p>
            <a:pPr indent="0" marL="0">
              <a:buNone/>
            </a:pPr>
            <a:r>
              <a:rPr lang="en-US" sz="1600" b="1" dirty="0">
                <a:solidFill>
                  <a:srgbClr val="A5F3FC"/>
                </a:solidFill>
              </a:rPr>
              <a:t>Computer Science 469</a:t>
            </a:r>
            <a:endParaRPr lang="en-US" sz="1600" dirty="0"/>
          </a:p>
        </p:txBody>
      </p:sp>
      <p:sp>
        <p:nvSpPr>
          <p:cNvPr id="3" name="Text 1"/>
          <p:cNvSpPr/>
          <p:nvPr/>
        </p:nvSpPr>
        <p:spPr>
          <a:xfrm>
            <a:off x="685800" y="850392"/>
            <a:ext cx="2194560" cy="274320"/>
          </a:xfrm>
          <a:prstGeom prst="rect">
            <a:avLst/>
          </a:prstGeom>
          <a:noFill/>
          <a:ln/>
        </p:spPr>
        <p:txBody>
          <a:bodyPr wrap="square" lIns="0" tIns="0" rIns="0" bIns="0" rtlCol="0" anchor="ctr"/>
          <a:lstStyle/>
          <a:p>
            <a:pPr indent="0" marL="0">
              <a:buNone/>
            </a:pPr>
            <a:r>
              <a:rPr lang="en-US" sz="1200" dirty="0">
                <a:solidFill>
                  <a:srgbClr val="D9F99D"/>
                </a:solidFill>
              </a:rPr>
              <a:t>Chapter 8</a:t>
            </a:r>
            <a:endParaRPr lang="en-US" sz="1200" dirty="0"/>
          </a:p>
        </p:txBody>
      </p:sp>
      <p:sp>
        <p:nvSpPr>
          <p:cNvPr id="4" name="Text 2"/>
          <p:cNvSpPr/>
          <p:nvPr/>
        </p:nvSpPr>
        <p:spPr>
          <a:xfrm>
            <a:off x="685800" y="1901952"/>
            <a:ext cx="10744200" cy="896112"/>
          </a:xfrm>
          <a:prstGeom prst="rect">
            <a:avLst/>
          </a:prstGeom>
          <a:noFill/>
          <a:ln/>
        </p:spPr>
        <p:txBody>
          <a:bodyPr wrap="square" lIns="0" tIns="0" rIns="0" bIns="0" rtlCol="0" anchor="ctr">
            <a:normAutofit/>
          </a:bodyPr>
          <a:lstStyle/>
          <a:p>
            <a:pPr indent="0" marL="0">
              <a:buNone/>
            </a:pPr>
            <a:r>
              <a:rPr lang="en-US" sz="4200" b="1" dirty="0">
                <a:solidFill>
                  <a:srgbClr val="F4F1DE"/>
                </a:solidFill>
              </a:rPr>
              <a:t>8.4 Knowledge Engineering in First-Order Logic</a:t>
            </a:r>
            <a:endParaRPr lang="en-US" sz="4200" dirty="0"/>
          </a:p>
        </p:txBody>
      </p:sp>
      <p:sp>
        <p:nvSpPr>
          <p:cNvPr id="5" name="Text 3"/>
          <p:cNvSpPr/>
          <p:nvPr/>
        </p:nvSpPr>
        <p:spPr>
          <a:xfrm>
            <a:off x="713232" y="2880360"/>
            <a:ext cx="10424160" cy="429768"/>
          </a:xfrm>
          <a:prstGeom prst="rect">
            <a:avLst/>
          </a:prstGeom>
          <a:noFill/>
          <a:ln/>
        </p:spPr>
        <p:txBody>
          <a:bodyPr wrap="square" lIns="0" tIns="0" rIns="0" bIns="0" rtlCol="0" anchor="ctr">
            <a:normAutofit/>
          </a:bodyPr>
          <a:lstStyle/>
          <a:p>
            <a:pPr indent="0" marL="0">
              <a:buNone/>
            </a:pPr>
            <a:r>
              <a:rPr lang="en-US" sz="1900" dirty="0">
                <a:solidFill>
                  <a:srgbClr val="D9F99D"/>
                </a:solidFill>
              </a:rPr>
              <a:t>Turning domain knowledge into a working knowledge base</a:t>
            </a:r>
            <a:endParaRPr lang="en-US" sz="1900" dirty="0"/>
          </a:p>
        </p:txBody>
      </p:sp>
      <p:sp>
        <p:nvSpPr>
          <p:cNvPr id="6" name="Shape 4"/>
          <p:cNvSpPr/>
          <p:nvPr/>
        </p:nvSpPr>
        <p:spPr>
          <a:xfrm>
            <a:off x="713232" y="3529584"/>
            <a:ext cx="2194560" cy="54864"/>
          </a:xfrm>
          <a:prstGeom prst="rect">
            <a:avLst/>
          </a:prstGeom>
          <a:solidFill>
            <a:srgbClr val="D9F99D"/>
          </a:solidFill>
          <a:ln w="12700">
            <a:solidFill>
              <a:srgbClr val="D9F99D"/>
            </a:solidFill>
            <a:prstDash val="solid"/>
          </a:ln>
        </p:spPr>
      </p:sp>
      <p:sp>
        <p:nvSpPr>
          <p:cNvPr id="7" name="Shape 5"/>
          <p:cNvSpPr/>
          <p:nvPr/>
        </p:nvSpPr>
        <p:spPr>
          <a:xfrm>
            <a:off x="713232" y="3950208"/>
            <a:ext cx="10652760" cy="1005840"/>
          </a:xfrm>
          <a:prstGeom prst="roundRect">
            <a:avLst>
              <a:gd name="adj" fmla="val 7273"/>
            </a:avLst>
          </a:prstGeom>
          <a:solidFill>
            <a:srgbClr val="073B4C"/>
          </a:solidFill>
          <a:ln w="12700">
            <a:solidFill>
              <a:srgbClr val="A5F3FC"/>
            </a:solidFill>
            <a:prstDash val="solid"/>
          </a:ln>
        </p:spPr>
      </p:sp>
      <p:sp>
        <p:nvSpPr>
          <p:cNvPr id="8" name="Text 6"/>
          <p:cNvSpPr/>
          <p:nvPr/>
        </p:nvSpPr>
        <p:spPr>
          <a:xfrm>
            <a:off x="896112" y="4087368"/>
            <a:ext cx="10287000" cy="219456"/>
          </a:xfrm>
          <a:prstGeom prst="rect">
            <a:avLst/>
          </a:prstGeom>
          <a:noFill/>
          <a:ln/>
        </p:spPr>
        <p:txBody>
          <a:bodyPr wrap="square" lIns="0" tIns="0" rIns="0" bIns="0" rtlCol="0" anchor="ctr"/>
          <a:lstStyle/>
          <a:p>
            <a:pPr indent="0" marL="0">
              <a:buNone/>
            </a:pPr>
            <a:r>
              <a:rPr lang="en-US" sz="950" b="1" dirty="0">
                <a:solidFill>
                  <a:srgbClr val="A5F3FC"/>
                </a:solidFill>
              </a:rPr>
              <a:t>INSTRUCTOR CUE</a:t>
            </a:r>
            <a:endParaRPr lang="en-US" sz="950" dirty="0"/>
          </a:p>
        </p:txBody>
      </p:sp>
      <p:sp>
        <p:nvSpPr>
          <p:cNvPr id="9" name="Text 7"/>
          <p:cNvSpPr/>
          <p:nvPr/>
        </p:nvSpPr>
        <p:spPr>
          <a:xfrm>
            <a:off x="896112" y="4361688"/>
            <a:ext cx="10287000" cy="502920"/>
          </a:xfrm>
          <a:prstGeom prst="rect">
            <a:avLst/>
          </a:prstGeom>
          <a:noFill/>
          <a:ln/>
        </p:spPr>
        <p:txBody>
          <a:bodyPr wrap="square" lIns="254" tIns="254" rIns="254" bIns="254" rtlCol="0" anchor="t">
            <a:normAutofit/>
          </a:bodyPr>
          <a:lstStyle/>
          <a:p>
            <a:pPr indent="0" marL="0">
              <a:buNone/>
            </a:pPr>
            <a:r>
              <a:rPr lang="en-US" sz="1500" dirty="0">
                <a:solidFill>
                  <a:srgbClr val="FFFFFF"/>
                </a:solidFill>
              </a:rPr>
              <a:t>This is the engineering payoff. The section shows how to build a knowledge base systematically, not by writing formulas randomly.</a:t>
            </a:r>
            <a:endParaRPr lang="en-US" sz="1500" dirty="0"/>
          </a:p>
        </p:txBody>
      </p:sp>
      <p:sp>
        <p:nvSpPr>
          <p:cNvPr id="10" name="Text 8"/>
          <p:cNvSpPr/>
          <p:nvPr/>
        </p:nvSpPr>
        <p:spPr>
          <a:xfrm>
            <a:off x="11018520" y="6172200"/>
            <a:ext cx="548640" cy="274320"/>
          </a:xfrm>
          <a:prstGeom prst="rect">
            <a:avLst/>
          </a:prstGeom>
          <a:noFill/>
          <a:ln/>
        </p:spPr>
        <p:txBody>
          <a:bodyPr wrap="square" lIns="0" tIns="0" rIns="0" bIns="0" rtlCol="0" anchor="ctr"/>
          <a:lstStyle/>
          <a:p>
            <a:pPr algn="r" indent="0" marL="0">
              <a:buNone/>
            </a:pPr>
            <a:r>
              <a:rPr lang="en-US" sz="1200" b="1" dirty="0">
                <a:solidFill>
                  <a:srgbClr val="D9F99D"/>
                </a:solidFill>
              </a:rPr>
              <a:t>77</a:t>
            </a:r>
            <a:endParaRPr lang="en-US" sz="12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5088"/>
          </a:solidFill>
          <a:ln w="12700">
            <a:solidFill>
              <a:srgbClr val="005088"/>
            </a:solidFill>
            <a:prstDash val="solid"/>
          </a:ln>
        </p:spPr>
      </p:sp>
      <p:sp>
        <p:nvSpPr>
          <p:cNvPr id="3" name="Shape 1"/>
          <p:cNvSpPr/>
          <p:nvPr/>
        </p:nvSpPr>
        <p:spPr>
          <a:xfrm>
            <a:off x="0" y="6729984"/>
            <a:ext cx="12191695" cy="128016"/>
          </a:xfrm>
          <a:prstGeom prst="rect">
            <a:avLst/>
          </a:prstGeom>
          <a:solidFill>
            <a:srgbClr val="005088"/>
          </a:solidFill>
          <a:ln w="12700">
            <a:solidFill>
              <a:srgbClr val="005088"/>
            </a:solidFill>
            <a:prstDash val="solid"/>
          </a:ln>
        </p:spPr>
      </p:sp>
      <p:sp>
        <p:nvSpPr>
          <p:cNvPr id="4" name="Text 2"/>
          <p:cNvSpPr/>
          <p:nvPr/>
        </p:nvSpPr>
        <p:spPr>
          <a:xfrm>
            <a:off x="502920" y="210312"/>
            <a:ext cx="6858000" cy="219456"/>
          </a:xfrm>
          <a:prstGeom prst="rect">
            <a:avLst/>
          </a:prstGeom>
          <a:noFill/>
          <a:ln/>
        </p:spPr>
        <p:txBody>
          <a:bodyPr wrap="square" lIns="0" tIns="0" rIns="0" bIns="0" rtlCol="0" anchor="ctr"/>
          <a:lstStyle/>
          <a:p>
            <a:pPr indent="0" marL="0">
              <a:buNone/>
            </a:pPr>
            <a:r>
              <a:rPr lang="en-US" sz="950" b="1" dirty="0">
                <a:solidFill>
                  <a:srgbClr val="3D5A80"/>
                </a:solidFill>
                <a:latin typeface="Aptos" pitchFamily="34" charset="0"/>
                <a:ea typeface="Aptos" pitchFamily="34" charset="-122"/>
                <a:cs typeface="Aptos" pitchFamily="34" charset="-120"/>
              </a:rPr>
              <a:t>8.4 Knowledge Engineering</a:t>
            </a:r>
            <a:endParaRPr lang="en-US" sz="950" dirty="0"/>
          </a:p>
        </p:txBody>
      </p:sp>
      <p:sp>
        <p:nvSpPr>
          <p:cNvPr id="5" name="Text 3"/>
          <p:cNvSpPr/>
          <p:nvPr/>
        </p:nvSpPr>
        <p:spPr>
          <a:xfrm>
            <a:off x="11018520" y="201168"/>
            <a:ext cx="640080" cy="228600"/>
          </a:xfrm>
          <a:prstGeom prst="rect">
            <a:avLst/>
          </a:prstGeom>
          <a:noFill/>
          <a:ln/>
        </p:spPr>
        <p:txBody>
          <a:bodyPr wrap="square" lIns="0" tIns="0" rIns="0" bIns="0" rtlCol="0" anchor="ctr"/>
          <a:lstStyle/>
          <a:p>
            <a:pPr algn="r" indent="0" marL="0">
              <a:buNone/>
            </a:pPr>
            <a:r>
              <a:rPr lang="en-US" sz="900" b="1" dirty="0">
                <a:solidFill>
                  <a:srgbClr val="3D5A80"/>
                </a:solidFill>
              </a:rPr>
              <a:t>78</a:t>
            </a:r>
            <a:endParaRPr lang="en-US" sz="900" dirty="0"/>
          </a:p>
        </p:txBody>
      </p:sp>
      <p:sp>
        <p:nvSpPr>
          <p:cNvPr id="6" name="Text 4"/>
          <p:cNvSpPr/>
          <p:nvPr/>
        </p:nvSpPr>
        <p:spPr>
          <a:xfrm>
            <a:off x="502920" y="566928"/>
            <a:ext cx="11201400" cy="512064"/>
          </a:xfrm>
          <a:prstGeom prst="rect">
            <a:avLst/>
          </a:prstGeom>
          <a:noFill/>
          <a:ln/>
        </p:spPr>
        <p:txBody>
          <a:bodyPr wrap="square" lIns="0" tIns="0" rIns="0" bIns="0" rtlCol="0" anchor="ctr">
            <a:normAutofit/>
          </a:bodyPr>
          <a:lstStyle/>
          <a:p>
            <a:pPr indent="0" marL="0">
              <a:buNone/>
            </a:pPr>
            <a:r>
              <a:rPr lang="en-US" sz="2650" b="1" dirty="0">
                <a:solidFill>
                  <a:srgbClr val="005088"/>
                </a:solidFill>
                <a:latin typeface="Aptos Display" pitchFamily="34" charset="0"/>
                <a:ea typeface="Aptos Display" pitchFamily="34" charset="-122"/>
                <a:cs typeface="Aptos Display" pitchFamily="34" charset="-120"/>
              </a:rPr>
              <a:t>KNOWLEDGE ENGINEERING IS AN ITERATIVE PROCESS</a:t>
            </a:r>
            <a:endParaRPr lang="en-US" sz="2650" dirty="0"/>
          </a:p>
        </p:txBody>
      </p:sp>
      <p:sp>
        <p:nvSpPr>
          <p:cNvPr id="7" name="Shape 5"/>
          <p:cNvSpPr/>
          <p:nvPr/>
        </p:nvSpPr>
        <p:spPr>
          <a:xfrm>
            <a:off x="502920" y="1188720"/>
            <a:ext cx="11109960" cy="0"/>
          </a:xfrm>
          <a:prstGeom prst="line">
            <a:avLst/>
          </a:prstGeom>
          <a:noFill/>
          <a:ln w="12700">
            <a:solidFill>
              <a:srgbClr val="3D5A80"/>
            </a:solidFill>
            <a:prstDash val="solid"/>
          </a:ln>
        </p:spPr>
      </p:sp>
      <p:sp>
        <p:nvSpPr>
          <p:cNvPr id="8" name="Text 6"/>
          <p:cNvSpPr/>
          <p:nvPr/>
        </p:nvSpPr>
        <p:spPr>
          <a:xfrm>
            <a:off x="713232" y="1572768"/>
            <a:ext cx="5440680" cy="4251960"/>
          </a:xfrm>
          <a:prstGeom prst="rect">
            <a:avLst/>
          </a:prstGeom>
          <a:noFill/>
          <a:ln/>
        </p:spPr>
        <p:txBody>
          <a:bodyPr wrap="square" lIns="1016" tIns="1016" rIns="1016" bIns="1016" rtlCol="0" anchor="t">
            <a:normAutofit/>
          </a:bodyPr>
          <a:lstStyle/>
          <a:p>
            <a:pPr indent="0" marL="0">
              <a:buNone/>
            </a:pPr>
            <a:r>
              <a:rPr lang="en-US" sz="1650" dirty="0">
                <a:solidFill>
                  <a:srgbClr val="1E293B"/>
                </a:solidFill>
                <a:latin typeface="Aptos" pitchFamily="34" charset="0"/>
                <a:ea typeface="Aptos" pitchFamily="34" charset="-122"/>
                <a:cs typeface="Aptos" pitchFamily="34" charset="-120"/>
              </a:rPr>
              <a:t>• Investigate the domain</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Choose an ontology</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Encode general knowledge</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Add problem-specific facts</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Ask queries and debug answers</a:t>
            </a:r>
            <a:endParaRPr lang="en-US" sz="1650" dirty="0"/>
          </a:p>
        </p:txBody>
      </p:sp>
      <p:sp>
        <p:nvSpPr>
          <p:cNvPr id="9" name="Shape 7"/>
          <p:cNvSpPr/>
          <p:nvPr/>
        </p:nvSpPr>
        <p:spPr>
          <a:xfrm>
            <a:off x="6446520" y="1572768"/>
            <a:ext cx="5074920" cy="1234440"/>
          </a:xfrm>
          <a:prstGeom prst="roundRect">
            <a:avLst>
              <a:gd name="adj" fmla="val 5926"/>
            </a:avLst>
          </a:prstGeom>
          <a:solidFill>
            <a:srgbClr val="FFF6D9"/>
          </a:solidFill>
          <a:ln w="12700">
            <a:solidFill>
              <a:srgbClr val="F4A261"/>
            </a:solidFill>
            <a:prstDash val="solid"/>
          </a:ln>
        </p:spPr>
      </p:sp>
      <p:sp>
        <p:nvSpPr>
          <p:cNvPr id="10" name="Text 8"/>
          <p:cNvSpPr/>
          <p:nvPr/>
        </p:nvSpPr>
        <p:spPr>
          <a:xfrm>
            <a:off x="6629400" y="1709928"/>
            <a:ext cx="4709160" cy="219456"/>
          </a:xfrm>
          <a:prstGeom prst="rect">
            <a:avLst/>
          </a:prstGeom>
          <a:noFill/>
          <a:ln/>
        </p:spPr>
        <p:txBody>
          <a:bodyPr wrap="square" lIns="0" tIns="0" rIns="0" bIns="0" rtlCol="0" anchor="ctr"/>
          <a:lstStyle/>
          <a:p>
            <a:pPr indent="0" marL="0">
              <a:buNone/>
            </a:pPr>
            <a:r>
              <a:rPr lang="en-US" sz="950" b="1" dirty="0">
                <a:solidFill>
                  <a:srgbClr val="B0005D"/>
                </a:solidFill>
              </a:rPr>
              <a:t>ANALOGY</a:t>
            </a:r>
            <a:endParaRPr lang="en-US" sz="950" dirty="0"/>
          </a:p>
        </p:txBody>
      </p:sp>
      <p:sp>
        <p:nvSpPr>
          <p:cNvPr id="11" name="Text 9"/>
          <p:cNvSpPr/>
          <p:nvPr/>
        </p:nvSpPr>
        <p:spPr>
          <a:xfrm>
            <a:off x="6629400" y="1984248"/>
            <a:ext cx="4709160" cy="731520"/>
          </a:xfrm>
          <a:prstGeom prst="rect">
            <a:avLst/>
          </a:prstGeom>
          <a:noFill/>
          <a:ln/>
        </p:spPr>
        <p:txBody>
          <a:bodyPr wrap="square" lIns="254" tIns="254" rIns="254" bIns="254" rtlCol="0" anchor="t">
            <a:normAutofit/>
          </a:bodyPr>
          <a:lstStyle/>
          <a:p>
            <a:pPr indent="0" marL="0">
              <a:buNone/>
            </a:pPr>
            <a:r>
              <a:rPr lang="en-US" sz="1330" dirty="0">
                <a:solidFill>
                  <a:srgbClr val="1E293B"/>
                </a:solidFill>
              </a:rPr>
              <a:t>It is like building a legal contract or a database schema: the wording may be precise but still fail to capture the intended world.</a:t>
            </a:r>
            <a:endParaRPr lang="en-US" sz="1330" dirty="0"/>
          </a:p>
        </p:txBody>
      </p:sp>
      <p:sp>
        <p:nvSpPr>
          <p:cNvPr id="12" name="Shape 10"/>
          <p:cNvSpPr/>
          <p:nvPr/>
        </p:nvSpPr>
        <p:spPr>
          <a:xfrm>
            <a:off x="6446520" y="2999232"/>
            <a:ext cx="5074920" cy="841248"/>
          </a:xfrm>
          <a:prstGeom prst="roundRect">
            <a:avLst>
              <a:gd name="adj" fmla="val 8696"/>
            </a:avLst>
          </a:prstGeom>
          <a:solidFill>
            <a:srgbClr val="FFFFFF">
              <a:alpha val="97000"/>
            </a:srgbClr>
          </a:solidFill>
          <a:ln w="12700">
            <a:solidFill>
              <a:srgbClr val="007C89"/>
            </a:solidFill>
            <a:prstDash val="solid"/>
          </a:ln>
        </p:spPr>
      </p:sp>
      <p:sp>
        <p:nvSpPr>
          <p:cNvPr id="13" name="Text 11"/>
          <p:cNvSpPr/>
          <p:nvPr/>
        </p:nvSpPr>
        <p:spPr>
          <a:xfrm>
            <a:off x="6611112" y="3127248"/>
            <a:ext cx="4745736" cy="658368"/>
          </a:xfrm>
          <a:prstGeom prst="rect">
            <a:avLst/>
          </a:prstGeom>
          <a:noFill/>
          <a:ln/>
        </p:spPr>
        <p:txBody>
          <a:bodyPr wrap="square" lIns="0" tIns="0" rIns="0" bIns="0" rtlCol="0" anchor="ctr">
            <a:normAutofit/>
          </a:bodyPr>
          <a:lstStyle/>
          <a:p>
            <a:pPr algn="ctr" indent="0" marL="0">
              <a:buNone/>
            </a:pPr>
            <a:r>
              <a:rPr lang="en-US" sz="1480" b="1" dirty="0">
                <a:solidFill>
                  <a:srgbClr val="005088"/>
                </a:solidFill>
                <a:latin typeface="Cambria Math" pitchFamily="34" charset="0"/>
                <a:ea typeface="Cambria Math" pitchFamily="34" charset="-122"/>
                <a:cs typeface="Cambria Math" pitchFamily="34" charset="-120"/>
              </a:rPr>
              <a:t>domain → vocabulary → axioms → facts → queries → tests</a:t>
            </a:r>
            <a:endParaRPr lang="en-US" sz="1480" dirty="0"/>
          </a:p>
        </p:txBody>
      </p:sp>
      <p:sp>
        <p:nvSpPr>
          <p:cNvPr id="14" name="Shape 12"/>
          <p:cNvSpPr/>
          <p:nvPr/>
        </p:nvSpPr>
        <p:spPr>
          <a:xfrm>
            <a:off x="6446520" y="4041648"/>
            <a:ext cx="5074920" cy="859536"/>
          </a:xfrm>
          <a:prstGeom prst="roundRect">
            <a:avLst>
              <a:gd name="adj" fmla="val 8511"/>
            </a:avLst>
          </a:prstGeom>
          <a:solidFill>
            <a:srgbClr val="FFE4E6"/>
          </a:solidFill>
          <a:ln w="12700">
            <a:solidFill>
              <a:srgbClr val="FDA4AF"/>
            </a:solidFill>
            <a:prstDash val="solid"/>
          </a:ln>
        </p:spPr>
      </p:sp>
      <p:sp>
        <p:nvSpPr>
          <p:cNvPr id="15" name="Text 13"/>
          <p:cNvSpPr/>
          <p:nvPr/>
        </p:nvSpPr>
        <p:spPr>
          <a:xfrm>
            <a:off x="6629400" y="4178808"/>
            <a:ext cx="4709160" cy="219456"/>
          </a:xfrm>
          <a:prstGeom prst="rect">
            <a:avLst/>
          </a:prstGeom>
          <a:noFill/>
          <a:ln/>
        </p:spPr>
        <p:txBody>
          <a:bodyPr wrap="square" lIns="0" tIns="0" rIns="0" bIns="0" rtlCol="0" anchor="ctr"/>
          <a:lstStyle/>
          <a:p>
            <a:pPr indent="0" marL="0">
              <a:buNone/>
            </a:pPr>
            <a:r>
              <a:rPr lang="en-US" sz="950" b="1" dirty="0">
                <a:solidFill>
                  <a:srgbClr val="C1121F"/>
                </a:solidFill>
              </a:rPr>
              <a:t>STUDENT GOTCHA</a:t>
            </a:r>
            <a:endParaRPr lang="en-US" sz="950" dirty="0"/>
          </a:p>
        </p:txBody>
      </p:sp>
      <p:sp>
        <p:nvSpPr>
          <p:cNvPr id="16" name="Text 14"/>
          <p:cNvSpPr/>
          <p:nvPr/>
        </p:nvSpPr>
        <p:spPr>
          <a:xfrm>
            <a:off x="6629400" y="4453128"/>
            <a:ext cx="4709160" cy="356616"/>
          </a:xfrm>
          <a:prstGeom prst="rect">
            <a:avLst/>
          </a:prstGeom>
          <a:noFill/>
          <a:ln/>
        </p:spPr>
        <p:txBody>
          <a:bodyPr wrap="square" lIns="254" tIns="254" rIns="254" bIns="254" rtlCol="0" anchor="t">
            <a:normAutofit/>
          </a:bodyPr>
          <a:lstStyle/>
          <a:p>
            <a:pPr indent="0" marL="0">
              <a:buNone/>
            </a:pPr>
            <a:r>
              <a:rPr lang="en-US" sz="1250" dirty="0">
                <a:solidFill>
                  <a:srgbClr val="1E293B"/>
                </a:solidFill>
              </a:rPr>
              <a:t>If the answer is surprising, the inference may be correct relative to a flawed knowledge base.</a:t>
            </a:r>
            <a:endParaRPr lang="en-US" sz="1250" dirty="0"/>
          </a:p>
        </p:txBody>
      </p:sp>
      <p:sp>
        <p:nvSpPr>
          <p:cNvPr id="17" name="Shape 15"/>
          <p:cNvSpPr/>
          <p:nvPr/>
        </p:nvSpPr>
        <p:spPr>
          <a:xfrm>
            <a:off x="6446520" y="5074920"/>
            <a:ext cx="5074920" cy="841248"/>
          </a:xfrm>
          <a:prstGeom prst="roundRect">
            <a:avLst>
              <a:gd name="adj" fmla="val 8696"/>
            </a:avLst>
          </a:prstGeom>
          <a:solidFill>
            <a:srgbClr val="E6FFFA"/>
          </a:solidFill>
          <a:ln w="12700">
            <a:solidFill>
              <a:srgbClr val="2A9D8F"/>
            </a:solidFill>
            <a:prstDash val="solid"/>
          </a:ln>
        </p:spPr>
      </p:sp>
      <p:sp>
        <p:nvSpPr>
          <p:cNvPr id="18" name="Text 16"/>
          <p:cNvSpPr/>
          <p:nvPr/>
        </p:nvSpPr>
        <p:spPr>
          <a:xfrm>
            <a:off x="6629400" y="5212080"/>
            <a:ext cx="4709160" cy="219456"/>
          </a:xfrm>
          <a:prstGeom prst="rect">
            <a:avLst/>
          </a:prstGeom>
          <a:noFill/>
          <a:ln/>
        </p:spPr>
        <p:txBody>
          <a:bodyPr wrap="square" lIns="0" tIns="0" rIns="0" bIns="0" rtlCol="0" anchor="ctr"/>
          <a:lstStyle/>
          <a:p>
            <a:pPr indent="0" marL="0">
              <a:buNone/>
            </a:pPr>
            <a:r>
              <a:rPr lang="en-US" sz="950" b="1" dirty="0">
                <a:solidFill>
                  <a:srgbClr val="007C89"/>
                </a:solidFill>
              </a:rPr>
              <a:t>CLASS CHECK</a:t>
            </a:r>
            <a:endParaRPr lang="en-US" sz="950" dirty="0"/>
          </a:p>
        </p:txBody>
      </p:sp>
      <p:sp>
        <p:nvSpPr>
          <p:cNvPr id="19" name="Text 17"/>
          <p:cNvSpPr/>
          <p:nvPr/>
        </p:nvSpPr>
        <p:spPr>
          <a:xfrm>
            <a:off x="6629400" y="5486400"/>
            <a:ext cx="4709160" cy="338328"/>
          </a:xfrm>
          <a:prstGeom prst="rect">
            <a:avLst/>
          </a:prstGeom>
          <a:noFill/>
          <a:ln/>
        </p:spPr>
        <p:txBody>
          <a:bodyPr wrap="square" lIns="254" tIns="254" rIns="254" bIns="254" rtlCol="0" anchor="t">
            <a:normAutofit/>
          </a:bodyPr>
          <a:lstStyle/>
          <a:p>
            <a:pPr indent="0" marL="0">
              <a:buNone/>
            </a:pPr>
            <a:r>
              <a:rPr lang="en-US" sz="1270" dirty="0">
                <a:solidFill>
                  <a:srgbClr val="1E293B"/>
                </a:solidFill>
              </a:rPr>
              <a:t>Ask: How is debugging a knowledge base different from debugging Python code?</a:t>
            </a:r>
            <a:endParaRPr lang="en-US" sz="127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5088"/>
          </a:solidFill>
          <a:ln w="12700">
            <a:solidFill>
              <a:srgbClr val="005088"/>
            </a:solidFill>
            <a:prstDash val="solid"/>
          </a:ln>
        </p:spPr>
      </p:sp>
      <p:sp>
        <p:nvSpPr>
          <p:cNvPr id="3" name="Shape 1"/>
          <p:cNvSpPr/>
          <p:nvPr/>
        </p:nvSpPr>
        <p:spPr>
          <a:xfrm>
            <a:off x="0" y="6729984"/>
            <a:ext cx="12191695" cy="128016"/>
          </a:xfrm>
          <a:prstGeom prst="rect">
            <a:avLst/>
          </a:prstGeom>
          <a:solidFill>
            <a:srgbClr val="005088"/>
          </a:solidFill>
          <a:ln w="12700">
            <a:solidFill>
              <a:srgbClr val="005088"/>
            </a:solidFill>
            <a:prstDash val="solid"/>
          </a:ln>
        </p:spPr>
      </p:sp>
      <p:sp>
        <p:nvSpPr>
          <p:cNvPr id="4" name="Text 2"/>
          <p:cNvSpPr/>
          <p:nvPr/>
        </p:nvSpPr>
        <p:spPr>
          <a:xfrm>
            <a:off x="502920" y="210312"/>
            <a:ext cx="6858000" cy="219456"/>
          </a:xfrm>
          <a:prstGeom prst="rect">
            <a:avLst/>
          </a:prstGeom>
          <a:noFill/>
          <a:ln/>
        </p:spPr>
        <p:txBody>
          <a:bodyPr wrap="square" lIns="0" tIns="0" rIns="0" bIns="0" rtlCol="0" anchor="ctr"/>
          <a:lstStyle/>
          <a:p>
            <a:pPr indent="0" marL="0">
              <a:buNone/>
            </a:pPr>
            <a:r>
              <a:rPr lang="en-US" sz="950" b="1" dirty="0">
                <a:solidFill>
                  <a:srgbClr val="3D5A80"/>
                </a:solidFill>
                <a:latin typeface="Aptos" pitchFamily="34" charset="0"/>
                <a:ea typeface="Aptos" pitchFamily="34" charset="-122"/>
                <a:cs typeface="Aptos" pitchFamily="34" charset="-120"/>
              </a:rPr>
              <a:t>8.4.1 Knowledge engineering process</a:t>
            </a:r>
            <a:endParaRPr lang="en-US" sz="950" dirty="0"/>
          </a:p>
        </p:txBody>
      </p:sp>
      <p:sp>
        <p:nvSpPr>
          <p:cNvPr id="5" name="Text 3"/>
          <p:cNvSpPr/>
          <p:nvPr/>
        </p:nvSpPr>
        <p:spPr>
          <a:xfrm>
            <a:off x="11018520" y="201168"/>
            <a:ext cx="640080" cy="228600"/>
          </a:xfrm>
          <a:prstGeom prst="rect">
            <a:avLst/>
          </a:prstGeom>
          <a:noFill/>
          <a:ln/>
        </p:spPr>
        <p:txBody>
          <a:bodyPr wrap="square" lIns="0" tIns="0" rIns="0" bIns="0" rtlCol="0" anchor="ctr"/>
          <a:lstStyle/>
          <a:p>
            <a:pPr algn="r" indent="0" marL="0">
              <a:buNone/>
            </a:pPr>
            <a:r>
              <a:rPr lang="en-US" sz="900" b="1" dirty="0">
                <a:solidFill>
                  <a:srgbClr val="3D5A80"/>
                </a:solidFill>
              </a:rPr>
              <a:t>79</a:t>
            </a:r>
            <a:endParaRPr lang="en-US" sz="900" dirty="0"/>
          </a:p>
        </p:txBody>
      </p:sp>
      <p:sp>
        <p:nvSpPr>
          <p:cNvPr id="6" name="Text 4"/>
          <p:cNvSpPr/>
          <p:nvPr/>
        </p:nvSpPr>
        <p:spPr>
          <a:xfrm>
            <a:off x="502920" y="566928"/>
            <a:ext cx="11201400" cy="512064"/>
          </a:xfrm>
          <a:prstGeom prst="rect">
            <a:avLst/>
          </a:prstGeom>
          <a:noFill/>
          <a:ln/>
        </p:spPr>
        <p:txBody>
          <a:bodyPr wrap="square" lIns="0" tIns="0" rIns="0" bIns="0" rtlCol="0" anchor="ctr">
            <a:normAutofit/>
          </a:bodyPr>
          <a:lstStyle/>
          <a:p>
            <a:pPr indent="0" marL="0">
              <a:buNone/>
            </a:pPr>
            <a:r>
              <a:rPr lang="en-US" sz="2650" b="1" dirty="0">
                <a:solidFill>
                  <a:srgbClr val="005088"/>
                </a:solidFill>
                <a:latin typeface="Aptos Display" pitchFamily="34" charset="0"/>
                <a:ea typeface="Aptos Display" pitchFamily="34" charset="-122"/>
                <a:cs typeface="Aptos Display" pitchFamily="34" charset="-120"/>
              </a:rPr>
              <a:t>SEVEN STEPS OF KNOWLEDGE ENGINEERING</a:t>
            </a:r>
            <a:endParaRPr lang="en-US" sz="2650" dirty="0"/>
          </a:p>
        </p:txBody>
      </p:sp>
      <p:sp>
        <p:nvSpPr>
          <p:cNvPr id="7" name="Shape 5"/>
          <p:cNvSpPr/>
          <p:nvPr/>
        </p:nvSpPr>
        <p:spPr>
          <a:xfrm>
            <a:off x="502920" y="1188720"/>
            <a:ext cx="11109960" cy="0"/>
          </a:xfrm>
          <a:prstGeom prst="line">
            <a:avLst/>
          </a:prstGeom>
          <a:noFill/>
          <a:ln w="12700">
            <a:solidFill>
              <a:srgbClr val="3D5A80"/>
            </a:solidFill>
            <a:prstDash val="solid"/>
          </a:ln>
        </p:spPr>
      </p:sp>
      <p:graphicFrame>
        <p:nvGraphicFramePr>
          <p:cNvPr id="80" name="Table 0"/>
          <p:cNvGraphicFramePr>
            <a:graphicFrameLocks noGrp="1"/>
          </p:cNvGraphicFramePr>
          <p:nvPr>
            <p:extLst>
              <p:ext uri="{D42A27DB-BD31-4B8C-83A1-F6EECF244321}">
                <p14:modId xmlns:p14="http://schemas.microsoft.com/office/powerpoint/2010/main" val="1579011935"/>
              </p:ext>
            </p:extLst>
          </p:nvPr>
        </p:nvGraphicFramePr>
        <p:xfrm>
          <a:off x="777240" y="1508760"/>
          <a:ext cx="10698480" cy="4023360"/>
        </p:xfrm>
        <a:graphic>
          <a:graphicData uri="http://schemas.openxmlformats.org/drawingml/2006/table">
            <a:tbl>
              <a:tblPr/>
              <a:tblGrid>
                <a:gridCol w="3566160"/>
                <a:gridCol w="3566160"/>
                <a:gridCol w="3566160"/>
              </a:tblGrid>
              <a:tr h="502920">
                <a:tc>
                  <a:txBody>
                    <a:bodyPr/>
                    <a:lstStyle/>
                    <a:p>
                      <a:pPr indent="0" marL="0">
                        <a:buNone/>
                      </a:pPr>
                      <a:r>
                        <a:rPr lang="en-US" sz="1160" b="1" dirty="0">
                          <a:solidFill>
                            <a:srgbClr val="FFFFFF"/>
                          </a:solidFill>
                        </a:rPr>
                        <a:t>Step</a:t>
                      </a:r>
                      <a:endParaRPr lang="en-US" sz="1160" dirty="0"/>
                    </a:p>
                  </a:txBody>
                  <a:tcPr marL="54864" marR="54864" marT="54864" marB="54864" anchor="mid">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05088"/>
                    </a:solidFill>
                  </a:tcPr>
                </a:tc>
                <a:tc>
                  <a:txBody>
                    <a:bodyPr/>
                    <a:lstStyle/>
                    <a:p>
                      <a:pPr indent="0" marL="0">
                        <a:buNone/>
                      </a:pPr>
                      <a:r>
                        <a:rPr lang="en-US" sz="1160" b="1" dirty="0">
                          <a:solidFill>
                            <a:srgbClr val="FFFFFF"/>
                          </a:solidFill>
                        </a:rPr>
                        <a:t>Question to ask</a:t>
                      </a:r>
                      <a:endParaRPr lang="en-US" sz="1160" dirty="0"/>
                    </a:p>
                  </a:txBody>
                  <a:tcPr marL="54864" marR="54864" marT="54864" marB="54864" anchor="mid">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05088"/>
                    </a:solidFill>
                  </a:tcPr>
                </a:tc>
                <a:tc>
                  <a:txBody>
                    <a:bodyPr/>
                    <a:lstStyle/>
                    <a:p>
                      <a:pPr indent="0" marL="0">
                        <a:buNone/>
                      </a:pPr>
                      <a:r>
                        <a:rPr lang="en-US" sz="1160" b="1" dirty="0">
                          <a:solidFill>
                            <a:srgbClr val="FFFFFF"/>
                          </a:solidFill>
                        </a:rPr>
                        <a:t>Plain-language purpose</a:t>
                      </a:r>
                      <a:endParaRPr lang="en-US" sz="1160" dirty="0"/>
                    </a:p>
                  </a:txBody>
                  <a:tcPr marL="54864" marR="54864" marT="54864" marB="54864" anchor="mid">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05088"/>
                    </a:solidFill>
                  </a:tcPr>
                </a:tc>
              </a:tr>
              <a:tr h="502920">
                <a:tc>
                  <a:txBody>
                    <a:bodyPr/>
                    <a:lstStyle/>
                    <a:p>
                      <a:pPr indent="0" marL="0">
                        <a:buNone/>
                      </a:pPr>
                      <a:r>
                        <a:rPr lang="en-US" sz="1160" dirty="0">
                          <a:solidFill>
                            <a:srgbClr val="1E293B"/>
                          </a:solidFill>
                        </a:rPr>
                        <a:t>1</a:t>
                      </a:r>
                      <a:endParaRPr lang="en-US" sz="1160" dirty="0"/>
                    </a:p>
                  </a:txBody>
                  <a:tcPr marL="54864" marR="54864" marT="54864" marB="54864" anchor="mid">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60" dirty="0">
                          <a:solidFill>
                            <a:srgbClr val="1E293B"/>
                          </a:solidFill>
                        </a:rPr>
                        <a:t>What must the knowledge base answer?</a:t>
                      </a:r>
                      <a:endParaRPr lang="en-US" sz="1160" dirty="0"/>
                    </a:p>
                  </a:txBody>
                  <a:tcPr marL="54864" marR="54864" marT="54864" marB="54864" anchor="mid">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60" dirty="0">
                          <a:solidFill>
                            <a:srgbClr val="1E293B"/>
                          </a:solidFill>
                        </a:rPr>
                        <a:t>Identify the questions</a:t>
                      </a:r>
                      <a:endParaRPr lang="en-US" sz="1160" dirty="0"/>
                    </a:p>
                  </a:txBody>
                  <a:tcPr marL="54864" marR="54864" marT="54864" marB="54864" anchor="mid">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2920">
                <a:tc>
                  <a:txBody>
                    <a:bodyPr/>
                    <a:lstStyle/>
                    <a:p>
                      <a:pPr indent="0" marL="0">
                        <a:buNone/>
                      </a:pPr>
                      <a:r>
                        <a:rPr lang="en-US" sz="1160" dirty="0">
                          <a:solidFill>
                            <a:srgbClr val="1E293B"/>
                          </a:solidFill>
                        </a:rPr>
                        <a:t>2</a:t>
                      </a:r>
                      <a:endParaRPr lang="en-US" sz="1160" dirty="0"/>
                    </a:p>
                  </a:txBody>
                  <a:tcPr marL="54864" marR="54864" marT="54864" marB="54864" anchor="mid">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160" dirty="0">
                          <a:solidFill>
                            <a:srgbClr val="1E293B"/>
                          </a:solidFill>
                        </a:rPr>
                        <a:t>What facts and rules matter?</a:t>
                      </a:r>
                      <a:endParaRPr lang="en-US" sz="1160" dirty="0"/>
                    </a:p>
                  </a:txBody>
                  <a:tcPr marL="54864" marR="54864" marT="54864" marB="54864" anchor="mid">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160" dirty="0">
                          <a:solidFill>
                            <a:srgbClr val="1E293B"/>
                          </a:solidFill>
                        </a:rPr>
                        <a:t>Assemble relevant knowledge</a:t>
                      </a:r>
                      <a:endParaRPr lang="en-US" sz="1160" dirty="0"/>
                    </a:p>
                  </a:txBody>
                  <a:tcPr marL="54864" marR="54864" marT="54864" marB="54864" anchor="mid">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r>
              <a:tr h="502920">
                <a:tc>
                  <a:txBody>
                    <a:bodyPr/>
                    <a:lstStyle/>
                    <a:p>
                      <a:pPr indent="0" marL="0">
                        <a:buNone/>
                      </a:pPr>
                      <a:r>
                        <a:rPr lang="en-US" sz="1160" dirty="0">
                          <a:solidFill>
                            <a:srgbClr val="1E293B"/>
                          </a:solidFill>
                        </a:rPr>
                        <a:t>3</a:t>
                      </a:r>
                      <a:endParaRPr lang="en-US" sz="1160" dirty="0"/>
                    </a:p>
                  </a:txBody>
                  <a:tcPr marL="54864" marR="54864" marT="54864" marB="54864" anchor="mid">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60" dirty="0">
                          <a:solidFill>
                            <a:srgbClr val="1E293B"/>
                          </a:solidFill>
                        </a:rPr>
                        <a:t>What vocabulary will we use?</a:t>
                      </a:r>
                      <a:endParaRPr lang="en-US" sz="1160" dirty="0"/>
                    </a:p>
                  </a:txBody>
                  <a:tcPr marL="54864" marR="54864" marT="54864" marB="54864" anchor="mid">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60" dirty="0">
                          <a:solidFill>
                            <a:srgbClr val="1E293B"/>
                          </a:solidFill>
                        </a:rPr>
                        <a:t>Choose ontology</a:t>
                      </a:r>
                      <a:endParaRPr lang="en-US" sz="1160" dirty="0"/>
                    </a:p>
                  </a:txBody>
                  <a:tcPr marL="54864" marR="54864" marT="54864" marB="54864" anchor="mid">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2920">
                <a:tc>
                  <a:txBody>
                    <a:bodyPr/>
                    <a:lstStyle/>
                    <a:p>
                      <a:pPr indent="0" marL="0">
                        <a:buNone/>
                      </a:pPr>
                      <a:r>
                        <a:rPr lang="en-US" sz="1160" dirty="0">
                          <a:solidFill>
                            <a:srgbClr val="1E293B"/>
                          </a:solidFill>
                        </a:rPr>
                        <a:t>4</a:t>
                      </a:r>
                      <a:endParaRPr lang="en-US" sz="1160" dirty="0"/>
                    </a:p>
                  </a:txBody>
                  <a:tcPr marL="54864" marR="54864" marT="54864" marB="54864" anchor="mid">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160" dirty="0">
                          <a:solidFill>
                            <a:srgbClr val="1E293B"/>
                          </a:solidFill>
                        </a:rPr>
                        <a:t>What general rules hold?</a:t>
                      </a:r>
                      <a:endParaRPr lang="en-US" sz="1160" dirty="0"/>
                    </a:p>
                  </a:txBody>
                  <a:tcPr marL="54864" marR="54864" marT="54864" marB="54864" anchor="mid">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160" dirty="0">
                          <a:solidFill>
                            <a:srgbClr val="1E293B"/>
                          </a:solidFill>
                        </a:rPr>
                        <a:t>Encode general knowledge</a:t>
                      </a:r>
                      <a:endParaRPr lang="en-US" sz="1160" dirty="0"/>
                    </a:p>
                  </a:txBody>
                  <a:tcPr marL="54864" marR="54864" marT="54864" marB="54864" anchor="mid">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r>
              <a:tr h="502920">
                <a:tc>
                  <a:txBody>
                    <a:bodyPr/>
                    <a:lstStyle/>
                    <a:p>
                      <a:pPr indent="0" marL="0">
                        <a:buNone/>
                      </a:pPr>
                      <a:r>
                        <a:rPr lang="en-US" sz="1160" dirty="0">
                          <a:solidFill>
                            <a:srgbClr val="1E293B"/>
                          </a:solidFill>
                        </a:rPr>
                        <a:t>5</a:t>
                      </a:r>
                      <a:endParaRPr lang="en-US" sz="1160" dirty="0"/>
                    </a:p>
                  </a:txBody>
                  <a:tcPr marL="54864" marR="54864" marT="54864" marB="54864" anchor="mid">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60" dirty="0">
                          <a:solidFill>
                            <a:srgbClr val="1E293B"/>
                          </a:solidFill>
                        </a:rPr>
                        <a:t>What is true in this instance?</a:t>
                      </a:r>
                      <a:endParaRPr lang="en-US" sz="1160" dirty="0"/>
                    </a:p>
                  </a:txBody>
                  <a:tcPr marL="54864" marR="54864" marT="54864" marB="54864" anchor="mid">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60" dirty="0">
                          <a:solidFill>
                            <a:srgbClr val="1E293B"/>
                          </a:solidFill>
                        </a:rPr>
                        <a:t>Encode the problem facts</a:t>
                      </a:r>
                      <a:endParaRPr lang="en-US" sz="1160" dirty="0"/>
                    </a:p>
                  </a:txBody>
                  <a:tcPr marL="54864" marR="54864" marT="54864" marB="54864" anchor="mid">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2920">
                <a:tc>
                  <a:txBody>
                    <a:bodyPr/>
                    <a:lstStyle/>
                    <a:p>
                      <a:pPr indent="0" marL="0">
                        <a:buNone/>
                      </a:pPr>
                      <a:r>
                        <a:rPr lang="en-US" sz="1160" dirty="0">
                          <a:solidFill>
                            <a:srgbClr val="1E293B"/>
                          </a:solidFill>
                        </a:rPr>
                        <a:t>6</a:t>
                      </a:r>
                      <a:endParaRPr lang="en-US" sz="1160" dirty="0"/>
                    </a:p>
                  </a:txBody>
                  <a:tcPr marL="54864" marR="54864" marT="54864" marB="54864" anchor="mid">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160" dirty="0">
                          <a:solidFill>
                            <a:srgbClr val="1E293B"/>
                          </a:solidFill>
                        </a:rPr>
                        <a:t>What do we want to know?</a:t>
                      </a:r>
                      <a:endParaRPr lang="en-US" sz="1160" dirty="0"/>
                    </a:p>
                  </a:txBody>
                  <a:tcPr marL="54864" marR="54864" marT="54864" marB="54864" anchor="mid">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160" dirty="0">
                          <a:solidFill>
                            <a:srgbClr val="1E293B"/>
                          </a:solidFill>
                        </a:rPr>
                        <a:t>Pose queries</a:t>
                      </a:r>
                      <a:endParaRPr lang="en-US" sz="1160" dirty="0"/>
                    </a:p>
                  </a:txBody>
                  <a:tcPr marL="54864" marR="54864" marT="54864" marB="54864" anchor="mid">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r>
              <a:tr h="502920">
                <a:tc>
                  <a:txBody>
                    <a:bodyPr/>
                    <a:lstStyle/>
                    <a:p>
                      <a:pPr indent="0" marL="0">
                        <a:buNone/>
                      </a:pPr>
                      <a:r>
                        <a:rPr lang="en-US" sz="1160" dirty="0">
                          <a:solidFill>
                            <a:srgbClr val="1E293B"/>
                          </a:solidFill>
                        </a:rPr>
                        <a:t>7</a:t>
                      </a:r>
                      <a:endParaRPr lang="en-US" sz="1160" dirty="0"/>
                    </a:p>
                  </a:txBody>
                  <a:tcPr marL="54864" marR="54864" marT="54864" marB="54864" anchor="mid">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60" dirty="0">
                          <a:solidFill>
                            <a:srgbClr val="1E293B"/>
                          </a:solidFill>
                        </a:rPr>
                        <a:t>Are the answers right?</a:t>
                      </a:r>
                      <a:endParaRPr lang="en-US" sz="1160" dirty="0"/>
                    </a:p>
                  </a:txBody>
                  <a:tcPr marL="54864" marR="54864" marT="54864" marB="54864" anchor="mid">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60" dirty="0">
                          <a:solidFill>
                            <a:srgbClr val="1E293B"/>
                          </a:solidFill>
                        </a:rPr>
                        <a:t>Debug and evaluate</a:t>
                      </a:r>
                      <a:endParaRPr lang="en-US" sz="1160" dirty="0"/>
                    </a:p>
                  </a:txBody>
                  <a:tcPr marL="54864" marR="54864" marT="54864" marB="54864" anchor="mid">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5088"/>
          </a:solidFill>
          <a:ln w="12700">
            <a:solidFill>
              <a:srgbClr val="005088"/>
            </a:solidFill>
            <a:prstDash val="solid"/>
          </a:ln>
        </p:spPr>
      </p:sp>
      <p:sp>
        <p:nvSpPr>
          <p:cNvPr id="3" name="Shape 1"/>
          <p:cNvSpPr/>
          <p:nvPr/>
        </p:nvSpPr>
        <p:spPr>
          <a:xfrm>
            <a:off x="0" y="6729984"/>
            <a:ext cx="12191695" cy="128016"/>
          </a:xfrm>
          <a:prstGeom prst="rect">
            <a:avLst/>
          </a:prstGeom>
          <a:solidFill>
            <a:srgbClr val="005088"/>
          </a:solidFill>
          <a:ln w="12700">
            <a:solidFill>
              <a:srgbClr val="005088"/>
            </a:solidFill>
            <a:prstDash val="solid"/>
          </a:ln>
        </p:spPr>
      </p:sp>
      <p:sp>
        <p:nvSpPr>
          <p:cNvPr id="4" name="Text 2"/>
          <p:cNvSpPr/>
          <p:nvPr/>
        </p:nvSpPr>
        <p:spPr>
          <a:xfrm>
            <a:off x="502920" y="210312"/>
            <a:ext cx="6858000" cy="219456"/>
          </a:xfrm>
          <a:prstGeom prst="rect">
            <a:avLst/>
          </a:prstGeom>
          <a:noFill/>
          <a:ln/>
        </p:spPr>
        <p:txBody>
          <a:bodyPr wrap="square" lIns="0" tIns="0" rIns="0" bIns="0" rtlCol="0" anchor="ctr"/>
          <a:lstStyle/>
          <a:p>
            <a:pPr indent="0" marL="0">
              <a:buNone/>
            </a:pPr>
            <a:r>
              <a:rPr lang="en-US" sz="950" b="1" dirty="0">
                <a:solidFill>
                  <a:srgbClr val="3D5A80"/>
                </a:solidFill>
                <a:latin typeface="Aptos" pitchFamily="34" charset="0"/>
                <a:ea typeface="Aptos" pitchFamily="34" charset="-122"/>
                <a:cs typeface="Aptos" pitchFamily="34" charset="-120"/>
              </a:rPr>
              <a:t>8.4.1 Knowledge engineering process</a:t>
            </a:r>
            <a:endParaRPr lang="en-US" sz="950" dirty="0"/>
          </a:p>
        </p:txBody>
      </p:sp>
      <p:sp>
        <p:nvSpPr>
          <p:cNvPr id="5" name="Text 3"/>
          <p:cNvSpPr/>
          <p:nvPr/>
        </p:nvSpPr>
        <p:spPr>
          <a:xfrm>
            <a:off x="11018520" y="201168"/>
            <a:ext cx="640080" cy="228600"/>
          </a:xfrm>
          <a:prstGeom prst="rect">
            <a:avLst/>
          </a:prstGeom>
          <a:noFill/>
          <a:ln/>
        </p:spPr>
        <p:txBody>
          <a:bodyPr wrap="square" lIns="0" tIns="0" rIns="0" bIns="0" rtlCol="0" anchor="ctr"/>
          <a:lstStyle/>
          <a:p>
            <a:pPr algn="r" indent="0" marL="0">
              <a:buNone/>
            </a:pPr>
            <a:r>
              <a:rPr lang="en-US" sz="900" b="1" dirty="0">
                <a:solidFill>
                  <a:srgbClr val="3D5A80"/>
                </a:solidFill>
              </a:rPr>
              <a:t>80</a:t>
            </a:r>
            <a:endParaRPr lang="en-US" sz="900" dirty="0"/>
          </a:p>
        </p:txBody>
      </p:sp>
      <p:sp>
        <p:nvSpPr>
          <p:cNvPr id="6" name="Text 4"/>
          <p:cNvSpPr/>
          <p:nvPr/>
        </p:nvSpPr>
        <p:spPr>
          <a:xfrm>
            <a:off x="502920" y="566928"/>
            <a:ext cx="11201400" cy="512064"/>
          </a:xfrm>
          <a:prstGeom prst="rect">
            <a:avLst/>
          </a:prstGeom>
          <a:noFill/>
          <a:ln/>
        </p:spPr>
        <p:txBody>
          <a:bodyPr wrap="square" lIns="0" tIns="0" rIns="0" bIns="0" rtlCol="0" anchor="ctr">
            <a:normAutofit/>
          </a:bodyPr>
          <a:lstStyle/>
          <a:p>
            <a:pPr indent="0" marL="0">
              <a:buNone/>
            </a:pPr>
            <a:r>
              <a:rPr lang="en-US" sz="2650" b="1" dirty="0">
                <a:solidFill>
                  <a:srgbClr val="005088"/>
                </a:solidFill>
                <a:latin typeface="Aptos Display" pitchFamily="34" charset="0"/>
                <a:ea typeface="Aptos Display" pitchFamily="34" charset="-122"/>
                <a:cs typeface="Aptos Display" pitchFamily="34" charset="-120"/>
              </a:rPr>
              <a:t>STEP 1: IDENTIFY THE QUESTIONS</a:t>
            </a:r>
            <a:endParaRPr lang="en-US" sz="2650" dirty="0"/>
          </a:p>
        </p:txBody>
      </p:sp>
      <p:sp>
        <p:nvSpPr>
          <p:cNvPr id="7" name="Shape 5"/>
          <p:cNvSpPr/>
          <p:nvPr/>
        </p:nvSpPr>
        <p:spPr>
          <a:xfrm>
            <a:off x="502920" y="1188720"/>
            <a:ext cx="11109960" cy="0"/>
          </a:xfrm>
          <a:prstGeom prst="line">
            <a:avLst/>
          </a:prstGeom>
          <a:noFill/>
          <a:ln w="12700">
            <a:solidFill>
              <a:srgbClr val="3D5A80"/>
            </a:solidFill>
            <a:prstDash val="solid"/>
          </a:ln>
        </p:spPr>
      </p:sp>
      <p:sp>
        <p:nvSpPr>
          <p:cNvPr id="8" name="Text 6"/>
          <p:cNvSpPr/>
          <p:nvPr/>
        </p:nvSpPr>
        <p:spPr>
          <a:xfrm>
            <a:off x="713232" y="1572768"/>
            <a:ext cx="5440680" cy="4251960"/>
          </a:xfrm>
          <a:prstGeom prst="rect">
            <a:avLst/>
          </a:prstGeom>
          <a:noFill/>
          <a:ln/>
        </p:spPr>
        <p:txBody>
          <a:bodyPr wrap="square" lIns="1016" tIns="1016" rIns="1016" bIns="1016" rtlCol="0" anchor="t">
            <a:normAutofit/>
          </a:bodyPr>
          <a:lstStyle/>
          <a:p>
            <a:pPr indent="0" marL="0">
              <a:buNone/>
            </a:pPr>
            <a:r>
              <a:rPr lang="en-US" sz="1650" dirty="0">
                <a:solidFill>
                  <a:srgbClr val="1E293B"/>
                </a:solidFill>
                <a:latin typeface="Aptos" pitchFamily="34" charset="0"/>
                <a:ea typeface="Aptos" pitchFamily="34" charset="-122"/>
                <a:cs typeface="Aptos" pitchFamily="34" charset="-120"/>
              </a:rPr>
              <a:t>• Define what the knowledge base must answer</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Determine which facts will be supplied</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Choose the level of detail required</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Let the task guide the representation</a:t>
            </a:r>
            <a:endParaRPr lang="en-US" sz="1650" dirty="0"/>
          </a:p>
        </p:txBody>
      </p:sp>
      <p:sp>
        <p:nvSpPr>
          <p:cNvPr id="9" name="Shape 7"/>
          <p:cNvSpPr/>
          <p:nvPr/>
        </p:nvSpPr>
        <p:spPr>
          <a:xfrm>
            <a:off x="6446520" y="1572768"/>
            <a:ext cx="5074920" cy="1234440"/>
          </a:xfrm>
          <a:prstGeom prst="roundRect">
            <a:avLst>
              <a:gd name="adj" fmla="val 5926"/>
            </a:avLst>
          </a:prstGeom>
          <a:solidFill>
            <a:srgbClr val="FFF6D9"/>
          </a:solidFill>
          <a:ln w="12700">
            <a:solidFill>
              <a:srgbClr val="F4A261"/>
            </a:solidFill>
            <a:prstDash val="solid"/>
          </a:ln>
        </p:spPr>
      </p:sp>
      <p:sp>
        <p:nvSpPr>
          <p:cNvPr id="10" name="Text 8"/>
          <p:cNvSpPr/>
          <p:nvPr/>
        </p:nvSpPr>
        <p:spPr>
          <a:xfrm>
            <a:off x="6629400" y="1709928"/>
            <a:ext cx="4709160" cy="219456"/>
          </a:xfrm>
          <a:prstGeom prst="rect">
            <a:avLst/>
          </a:prstGeom>
          <a:noFill/>
          <a:ln/>
        </p:spPr>
        <p:txBody>
          <a:bodyPr wrap="square" lIns="0" tIns="0" rIns="0" bIns="0" rtlCol="0" anchor="ctr"/>
          <a:lstStyle/>
          <a:p>
            <a:pPr indent="0" marL="0">
              <a:buNone/>
            </a:pPr>
            <a:r>
              <a:rPr lang="en-US" sz="950" b="1" dirty="0">
                <a:solidFill>
                  <a:srgbClr val="B0005D"/>
                </a:solidFill>
              </a:rPr>
              <a:t>ANALOGY</a:t>
            </a:r>
            <a:endParaRPr lang="en-US" sz="950" dirty="0"/>
          </a:p>
        </p:txBody>
      </p:sp>
      <p:sp>
        <p:nvSpPr>
          <p:cNvPr id="11" name="Text 9"/>
          <p:cNvSpPr/>
          <p:nvPr/>
        </p:nvSpPr>
        <p:spPr>
          <a:xfrm>
            <a:off x="6629400" y="1984248"/>
            <a:ext cx="4709160" cy="731520"/>
          </a:xfrm>
          <a:prstGeom prst="rect">
            <a:avLst/>
          </a:prstGeom>
          <a:noFill/>
          <a:ln/>
        </p:spPr>
        <p:txBody>
          <a:bodyPr wrap="square" lIns="254" tIns="254" rIns="254" bIns="254" rtlCol="0" anchor="t">
            <a:normAutofit/>
          </a:bodyPr>
          <a:lstStyle/>
          <a:p>
            <a:pPr indent="0" marL="0">
              <a:buNone/>
            </a:pPr>
            <a:r>
              <a:rPr lang="en-US" sz="1330" dirty="0">
                <a:solidFill>
                  <a:srgbClr val="1E293B"/>
                </a:solidFill>
              </a:rPr>
              <a:t>Before building a navigation app, decide whether it needs routes, traffic, parking, gas stations, or scenic stops.</a:t>
            </a:r>
            <a:endParaRPr lang="en-US" sz="1330" dirty="0"/>
          </a:p>
        </p:txBody>
      </p:sp>
      <p:sp>
        <p:nvSpPr>
          <p:cNvPr id="12" name="Shape 10"/>
          <p:cNvSpPr/>
          <p:nvPr/>
        </p:nvSpPr>
        <p:spPr>
          <a:xfrm>
            <a:off x="6446520" y="2999232"/>
            <a:ext cx="5074920" cy="841248"/>
          </a:xfrm>
          <a:prstGeom prst="roundRect">
            <a:avLst>
              <a:gd name="adj" fmla="val 8696"/>
            </a:avLst>
          </a:prstGeom>
          <a:solidFill>
            <a:srgbClr val="FFFFFF">
              <a:alpha val="97000"/>
            </a:srgbClr>
          </a:solidFill>
          <a:ln w="12700">
            <a:solidFill>
              <a:srgbClr val="007C89"/>
            </a:solidFill>
            <a:prstDash val="solid"/>
          </a:ln>
        </p:spPr>
      </p:sp>
      <p:sp>
        <p:nvSpPr>
          <p:cNvPr id="13" name="Text 11"/>
          <p:cNvSpPr/>
          <p:nvPr/>
        </p:nvSpPr>
        <p:spPr>
          <a:xfrm>
            <a:off x="6611112" y="3127248"/>
            <a:ext cx="4745736" cy="658368"/>
          </a:xfrm>
          <a:prstGeom prst="rect">
            <a:avLst/>
          </a:prstGeom>
          <a:noFill/>
          <a:ln/>
        </p:spPr>
        <p:txBody>
          <a:bodyPr wrap="square" lIns="0" tIns="0" rIns="0" bIns="0" rtlCol="0" anchor="ctr">
            <a:normAutofit/>
          </a:bodyPr>
          <a:lstStyle/>
          <a:p>
            <a:pPr algn="ctr" indent="0" marL="0">
              <a:buNone/>
            </a:pPr>
            <a:r>
              <a:rPr lang="en-US" sz="1900" b="1" dirty="0">
                <a:solidFill>
                  <a:srgbClr val="005088"/>
                </a:solidFill>
                <a:latin typeface="Cambria Math" pitchFamily="34" charset="0"/>
                <a:ea typeface="Cambria Math" pitchFamily="34" charset="-122"/>
                <a:cs typeface="Cambria Math" pitchFamily="34" charset="-120"/>
              </a:rPr>
              <a:t>questions determine vocabulary</a:t>
            </a:r>
            <a:endParaRPr lang="en-US" sz="1900" dirty="0"/>
          </a:p>
        </p:txBody>
      </p:sp>
      <p:sp>
        <p:nvSpPr>
          <p:cNvPr id="14" name="Shape 12"/>
          <p:cNvSpPr/>
          <p:nvPr/>
        </p:nvSpPr>
        <p:spPr>
          <a:xfrm>
            <a:off x="6446520" y="4041648"/>
            <a:ext cx="5074920" cy="859536"/>
          </a:xfrm>
          <a:prstGeom prst="roundRect">
            <a:avLst>
              <a:gd name="adj" fmla="val 8511"/>
            </a:avLst>
          </a:prstGeom>
          <a:solidFill>
            <a:srgbClr val="FFE4E6"/>
          </a:solidFill>
          <a:ln w="12700">
            <a:solidFill>
              <a:srgbClr val="FDA4AF"/>
            </a:solidFill>
            <a:prstDash val="solid"/>
          </a:ln>
        </p:spPr>
      </p:sp>
      <p:sp>
        <p:nvSpPr>
          <p:cNvPr id="15" name="Text 13"/>
          <p:cNvSpPr/>
          <p:nvPr/>
        </p:nvSpPr>
        <p:spPr>
          <a:xfrm>
            <a:off x="6629400" y="4178808"/>
            <a:ext cx="4709160" cy="219456"/>
          </a:xfrm>
          <a:prstGeom prst="rect">
            <a:avLst/>
          </a:prstGeom>
          <a:noFill/>
          <a:ln/>
        </p:spPr>
        <p:txBody>
          <a:bodyPr wrap="square" lIns="0" tIns="0" rIns="0" bIns="0" rtlCol="0" anchor="ctr"/>
          <a:lstStyle/>
          <a:p>
            <a:pPr indent="0" marL="0">
              <a:buNone/>
            </a:pPr>
            <a:r>
              <a:rPr lang="en-US" sz="950" b="1" dirty="0">
                <a:solidFill>
                  <a:srgbClr val="C1121F"/>
                </a:solidFill>
              </a:rPr>
              <a:t>STUDENT GOTCHA</a:t>
            </a:r>
            <a:endParaRPr lang="en-US" sz="950" dirty="0"/>
          </a:p>
        </p:txBody>
      </p:sp>
      <p:sp>
        <p:nvSpPr>
          <p:cNvPr id="16" name="Text 14"/>
          <p:cNvSpPr/>
          <p:nvPr/>
        </p:nvSpPr>
        <p:spPr>
          <a:xfrm>
            <a:off x="6629400" y="4453128"/>
            <a:ext cx="4709160" cy="356616"/>
          </a:xfrm>
          <a:prstGeom prst="rect">
            <a:avLst/>
          </a:prstGeom>
          <a:noFill/>
          <a:ln/>
        </p:spPr>
        <p:txBody>
          <a:bodyPr wrap="square" lIns="254" tIns="254" rIns="254" bIns="254" rtlCol="0" anchor="t">
            <a:normAutofit/>
          </a:bodyPr>
          <a:lstStyle/>
          <a:p>
            <a:pPr indent="0" marL="0">
              <a:buNone/>
            </a:pPr>
            <a:r>
              <a:rPr lang="en-US" sz="1250" dirty="0">
                <a:solidFill>
                  <a:srgbClr val="1E293B"/>
                </a:solidFill>
              </a:rPr>
              <a:t>A knowledge base designed for action selection may need different facts than one designed only for diagnosis.</a:t>
            </a:r>
            <a:endParaRPr lang="en-US" sz="1250" dirty="0"/>
          </a:p>
        </p:txBody>
      </p:sp>
      <p:sp>
        <p:nvSpPr>
          <p:cNvPr id="17" name="Shape 15"/>
          <p:cNvSpPr/>
          <p:nvPr/>
        </p:nvSpPr>
        <p:spPr>
          <a:xfrm>
            <a:off x="6446520" y="5074920"/>
            <a:ext cx="5074920" cy="841248"/>
          </a:xfrm>
          <a:prstGeom prst="roundRect">
            <a:avLst>
              <a:gd name="adj" fmla="val 8696"/>
            </a:avLst>
          </a:prstGeom>
          <a:solidFill>
            <a:srgbClr val="E6FFFA"/>
          </a:solidFill>
          <a:ln w="12700">
            <a:solidFill>
              <a:srgbClr val="2A9D8F"/>
            </a:solidFill>
            <a:prstDash val="solid"/>
          </a:ln>
        </p:spPr>
      </p:sp>
      <p:sp>
        <p:nvSpPr>
          <p:cNvPr id="18" name="Text 16"/>
          <p:cNvSpPr/>
          <p:nvPr/>
        </p:nvSpPr>
        <p:spPr>
          <a:xfrm>
            <a:off x="6629400" y="5212080"/>
            <a:ext cx="4709160" cy="219456"/>
          </a:xfrm>
          <a:prstGeom prst="rect">
            <a:avLst/>
          </a:prstGeom>
          <a:noFill/>
          <a:ln/>
        </p:spPr>
        <p:txBody>
          <a:bodyPr wrap="square" lIns="0" tIns="0" rIns="0" bIns="0" rtlCol="0" anchor="ctr"/>
          <a:lstStyle/>
          <a:p>
            <a:pPr indent="0" marL="0">
              <a:buNone/>
            </a:pPr>
            <a:r>
              <a:rPr lang="en-US" sz="950" b="1" dirty="0">
                <a:solidFill>
                  <a:srgbClr val="007C89"/>
                </a:solidFill>
              </a:rPr>
              <a:t>CLASS CHECK</a:t>
            </a:r>
            <a:endParaRPr lang="en-US" sz="950" dirty="0"/>
          </a:p>
        </p:txBody>
      </p:sp>
      <p:sp>
        <p:nvSpPr>
          <p:cNvPr id="19" name="Text 17"/>
          <p:cNvSpPr/>
          <p:nvPr/>
        </p:nvSpPr>
        <p:spPr>
          <a:xfrm>
            <a:off x="6629400" y="5486400"/>
            <a:ext cx="4709160" cy="338328"/>
          </a:xfrm>
          <a:prstGeom prst="rect">
            <a:avLst/>
          </a:prstGeom>
          <a:noFill/>
          <a:ln/>
        </p:spPr>
        <p:txBody>
          <a:bodyPr wrap="square" lIns="254" tIns="254" rIns="254" bIns="254" rtlCol="0" anchor="t">
            <a:normAutofit/>
          </a:bodyPr>
          <a:lstStyle/>
          <a:p>
            <a:pPr indent="0" marL="0">
              <a:buNone/>
            </a:pPr>
            <a:r>
              <a:rPr lang="en-US" sz="1270" dirty="0">
                <a:solidFill>
                  <a:srgbClr val="1E293B"/>
                </a:solidFill>
              </a:rPr>
              <a:t>For circuits, ask: functionality, connectivity, timing, or power?</a:t>
            </a:r>
            <a:endParaRPr lang="en-US" sz="127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5088"/>
          </a:solidFill>
          <a:ln w="12700">
            <a:solidFill>
              <a:srgbClr val="005088"/>
            </a:solidFill>
            <a:prstDash val="solid"/>
          </a:ln>
        </p:spPr>
      </p:sp>
      <p:sp>
        <p:nvSpPr>
          <p:cNvPr id="3" name="Shape 1"/>
          <p:cNvSpPr/>
          <p:nvPr/>
        </p:nvSpPr>
        <p:spPr>
          <a:xfrm>
            <a:off x="0" y="6729984"/>
            <a:ext cx="12191695" cy="128016"/>
          </a:xfrm>
          <a:prstGeom prst="rect">
            <a:avLst/>
          </a:prstGeom>
          <a:solidFill>
            <a:srgbClr val="005088"/>
          </a:solidFill>
          <a:ln w="12700">
            <a:solidFill>
              <a:srgbClr val="005088"/>
            </a:solidFill>
            <a:prstDash val="solid"/>
          </a:ln>
        </p:spPr>
      </p:sp>
      <p:sp>
        <p:nvSpPr>
          <p:cNvPr id="4" name="Text 2"/>
          <p:cNvSpPr/>
          <p:nvPr/>
        </p:nvSpPr>
        <p:spPr>
          <a:xfrm>
            <a:off x="502920" y="210312"/>
            <a:ext cx="6858000" cy="219456"/>
          </a:xfrm>
          <a:prstGeom prst="rect">
            <a:avLst/>
          </a:prstGeom>
          <a:noFill/>
          <a:ln/>
        </p:spPr>
        <p:txBody>
          <a:bodyPr wrap="square" lIns="0" tIns="0" rIns="0" bIns="0" rtlCol="0" anchor="ctr"/>
          <a:lstStyle/>
          <a:p>
            <a:pPr indent="0" marL="0">
              <a:buNone/>
            </a:pPr>
            <a:r>
              <a:rPr lang="en-US" sz="950" b="1" dirty="0">
                <a:solidFill>
                  <a:srgbClr val="3D5A80"/>
                </a:solidFill>
                <a:latin typeface="Aptos" pitchFamily="34" charset="0"/>
                <a:ea typeface="Aptos" pitchFamily="34" charset="-122"/>
                <a:cs typeface="Aptos" pitchFamily="34" charset="-120"/>
              </a:rPr>
              <a:t>8.4.1 Knowledge engineering process</a:t>
            </a:r>
            <a:endParaRPr lang="en-US" sz="950" dirty="0"/>
          </a:p>
        </p:txBody>
      </p:sp>
      <p:sp>
        <p:nvSpPr>
          <p:cNvPr id="5" name="Text 3"/>
          <p:cNvSpPr/>
          <p:nvPr/>
        </p:nvSpPr>
        <p:spPr>
          <a:xfrm>
            <a:off x="11018520" y="201168"/>
            <a:ext cx="640080" cy="228600"/>
          </a:xfrm>
          <a:prstGeom prst="rect">
            <a:avLst/>
          </a:prstGeom>
          <a:noFill/>
          <a:ln/>
        </p:spPr>
        <p:txBody>
          <a:bodyPr wrap="square" lIns="0" tIns="0" rIns="0" bIns="0" rtlCol="0" anchor="ctr"/>
          <a:lstStyle/>
          <a:p>
            <a:pPr algn="r" indent="0" marL="0">
              <a:buNone/>
            </a:pPr>
            <a:r>
              <a:rPr lang="en-US" sz="900" b="1" dirty="0">
                <a:solidFill>
                  <a:srgbClr val="3D5A80"/>
                </a:solidFill>
              </a:rPr>
              <a:t>81</a:t>
            </a:r>
            <a:endParaRPr lang="en-US" sz="900" dirty="0"/>
          </a:p>
        </p:txBody>
      </p:sp>
      <p:sp>
        <p:nvSpPr>
          <p:cNvPr id="6" name="Text 4"/>
          <p:cNvSpPr/>
          <p:nvPr/>
        </p:nvSpPr>
        <p:spPr>
          <a:xfrm>
            <a:off x="502920" y="566928"/>
            <a:ext cx="11201400" cy="512064"/>
          </a:xfrm>
          <a:prstGeom prst="rect">
            <a:avLst/>
          </a:prstGeom>
          <a:noFill/>
          <a:ln/>
        </p:spPr>
        <p:txBody>
          <a:bodyPr wrap="square" lIns="0" tIns="0" rIns="0" bIns="0" rtlCol="0" anchor="ctr">
            <a:normAutofit/>
          </a:bodyPr>
          <a:lstStyle/>
          <a:p>
            <a:pPr indent="0" marL="0">
              <a:buNone/>
            </a:pPr>
            <a:r>
              <a:rPr lang="en-US" sz="2650" b="1" dirty="0">
                <a:solidFill>
                  <a:srgbClr val="005088"/>
                </a:solidFill>
                <a:latin typeface="Aptos Display" pitchFamily="34" charset="0"/>
                <a:ea typeface="Aptos Display" pitchFamily="34" charset="-122"/>
                <a:cs typeface="Aptos Display" pitchFamily="34" charset="-120"/>
              </a:rPr>
              <a:t>STEP 2: ASSEMBLE RELEVANT KNOWLEDGE</a:t>
            </a:r>
            <a:endParaRPr lang="en-US" sz="2650" dirty="0"/>
          </a:p>
        </p:txBody>
      </p:sp>
      <p:sp>
        <p:nvSpPr>
          <p:cNvPr id="7" name="Shape 5"/>
          <p:cNvSpPr/>
          <p:nvPr/>
        </p:nvSpPr>
        <p:spPr>
          <a:xfrm>
            <a:off x="502920" y="1188720"/>
            <a:ext cx="11109960" cy="0"/>
          </a:xfrm>
          <a:prstGeom prst="line">
            <a:avLst/>
          </a:prstGeom>
          <a:noFill/>
          <a:ln w="12700">
            <a:solidFill>
              <a:srgbClr val="3D5A80"/>
            </a:solidFill>
            <a:prstDash val="solid"/>
          </a:ln>
        </p:spPr>
      </p:sp>
      <p:sp>
        <p:nvSpPr>
          <p:cNvPr id="8" name="Text 6"/>
          <p:cNvSpPr/>
          <p:nvPr/>
        </p:nvSpPr>
        <p:spPr>
          <a:xfrm>
            <a:off x="713232" y="1572768"/>
            <a:ext cx="5440680" cy="4251960"/>
          </a:xfrm>
          <a:prstGeom prst="rect">
            <a:avLst/>
          </a:prstGeom>
          <a:noFill/>
          <a:ln/>
        </p:spPr>
        <p:txBody>
          <a:bodyPr wrap="square" lIns="1016" tIns="1016" rIns="1016" bIns="1016" rtlCol="0" anchor="t">
            <a:normAutofit/>
          </a:bodyPr>
          <a:lstStyle/>
          <a:p>
            <a:pPr indent="0" marL="0">
              <a:buNone/>
            </a:pPr>
            <a:r>
              <a:rPr lang="en-US" sz="1650" dirty="0">
                <a:solidFill>
                  <a:srgbClr val="1E293B"/>
                </a:solidFill>
                <a:latin typeface="Aptos" pitchFamily="34" charset="0"/>
                <a:ea typeface="Aptos" pitchFamily="34" charset="-122"/>
                <a:cs typeface="Aptos" pitchFamily="34" charset="-120"/>
              </a:rPr>
              <a:t>• Learn the domain before formalizing it</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Talk to experts or inspect documentation</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Separate relevant facts from irrelevant facts</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Remember that relevance depends on the task</a:t>
            </a:r>
            <a:endParaRPr lang="en-US" sz="1650" dirty="0"/>
          </a:p>
        </p:txBody>
      </p:sp>
      <p:sp>
        <p:nvSpPr>
          <p:cNvPr id="9" name="Shape 7"/>
          <p:cNvSpPr/>
          <p:nvPr/>
        </p:nvSpPr>
        <p:spPr>
          <a:xfrm>
            <a:off x="6446520" y="1572768"/>
            <a:ext cx="5074920" cy="1234440"/>
          </a:xfrm>
          <a:prstGeom prst="roundRect">
            <a:avLst>
              <a:gd name="adj" fmla="val 5926"/>
            </a:avLst>
          </a:prstGeom>
          <a:solidFill>
            <a:srgbClr val="FFF6D9"/>
          </a:solidFill>
          <a:ln w="12700">
            <a:solidFill>
              <a:srgbClr val="F4A261"/>
            </a:solidFill>
            <a:prstDash val="solid"/>
          </a:ln>
        </p:spPr>
      </p:sp>
      <p:sp>
        <p:nvSpPr>
          <p:cNvPr id="10" name="Text 8"/>
          <p:cNvSpPr/>
          <p:nvPr/>
        </p:nvSpPr>
        <p:spPr>
          <a:xfrm>
            <a:off x="6629400" y="1709928"/>
            <a:ext cx="4709160" cy="219456"/>
          </a:xfrm>
          <a:prstGeom prst="rect">
            <a:avLst/>
          </a:prstGeom>
          <a:noFill/>
          <a:ln/>
        </p:spPr>
        <p:txBody>
          <a:bodyPr wrap="square" lIns="0" tIns="0" rIns="0" bIns="0" rtlCol="0" anchor="ctr"/>
          <a:lstStyle/>
          <a:p>
            <a:pPr indent="0" marL="0">
              <a:buNone/>
            </a:pPr>
            <a:r>
              <a:rPr lang="en-US" sz="950" b="1" dirty="0">
                <a:solidFill>
                  <a:srgbClr val="B0005D"/>
                </a:solidFill>
              </a:rPr>
              <a:t>ANALOGY</a:t>
            </a:r>
            <a:endParaRPr lang="en-US" sz="950" dirty="0"/>
          </a:p>
        </p:txBody>
      </p:sp>
      <p:sp>
        <p:nvSpPr>
          <p:cNvPr id="11" name="Text 9"/>
          <p:cNvSpPr/>
          <p:nvPr/>
        </p:nvSpPr>
        <p:spPr>
          <a:xfrm>
            <a:off x="6629400" y="1984248"/>
            <a:ext cx="4709160" cy="731520"/>
          </a:xfrm>
          <a:prstGeom prst="rect">
            <a:avLst/>
          </a:prstGeom>
          <a:noFill/>
          <a:ln/>
        </p:spPr>
        <p:txBody>
          <a:bodyPr wrap="square" lIns="254" tIns="254" rIns="254" bIns="254" rtlCol="0" anchor="t">
            <a:normAutofit/>
          </a:bodyPr>
          <a:lstStyle/>
          <a:p>
            <a:pPr indent="0" marL="0">
              <a:buNone/>
            </a:pPr>
            <a:r>
              <a:rPr lang="en-US" sz="1330" dirty="0">
                <a:solidFill>
                  <a:srgbClr val="1E293B"/>
                </a:solidFill>
              </a:rPr>
              <a:t>Packing for a trip means bringing what supports the trip, not everything in the closet.</a:t>
            </a:r>
            <a:endParaRPr lang="en-US" sz="1330" dirty="0"/>
          </a:p>
        </p:txBody>
      </p:sp>
      <p:sp>
        <p:nvSpPr>
          <p:cNvPr id="12" name="Shape 10"/>
          <p:cNvSpPr/>
          <p:nvPr/>
        </p:nvSpPr>
        <p:spPr>
          <a:xfrm>
            <a:off x="6446520" y="2999232"/>
            <a:ext cx="5074920" cy="841248"/>
          </a:xfrm>
          <a:prstGeom prst="roundRect">
            <a:avLst>
              <a:gd name="adj" fmla="val 8696"/>
            </a:avLst>
          </a:prstGeom>
          <a:solidFill>
            <a:srgbClr val="FFFFFF">
              <a:alpha val="97000"/>
            </a:srgbClr>
          </a:solidFill>
          <a:ln w="12700">
            <a:solidFill>
              <a:srgbClr val="007C89"/>
            </a:solidFill>
            <a:prstDash val="solid"/>
          </a:ln>
        </p:spPr>
      </p:sp>
      <p:sp>
        <p:nvSpPr>
          <p:cNvPr id="13" name="Text 11"/>
          <p:cNvSpPr/>
          <p:nvPr/>
        </p:nvSpPr>
        <p:spPr>
          <a:xfrm>
            <a:off x="6611112" y="3127248"/>
            <a:ext cx="4745736" cy="658368"/>
          </a:xfrm>
          <a:prstGeom prst="rect">
            <a:avLst/>
          </a:prstGeom>
          <a:noFill/>
          <a:ln/>
        </p:spPr>
        <p:txBody>
          <a:bodyPr wrap="square" lIns="0" tIns="0" rIns="0" bIns="0" rtlCol="0" anchor="ctr">
            <a:normAutofit/>
          </a:bodyPr>
          <a:lstStyle/>
          <a:p>
            <a:pPr algn="ctr" indent="0" marL="0">
              <a:buNone/>
            </a:pPr>
            <a:r>
              <a:rPr lang="en-US" sz="1800" b="1" dirty="0">
                <a:solidFill>
                  <a:srgbClr val="005088"/>
                </a:solidFill>
                <a:latin typeface="Cambria Math" pitchFamily="34" charset="0"/>
                <a:ea typeface="Cambria Math" pitchFamily="34" charset="-122"/>
                <a:cs typeface="Cambria Math" pitchFamily="34" charset="-120"/>
              </a:rPr>
              <a:t>domain understanding before formulas</a:t>
            </a:r>
            <a:endParaRPr lang="en-US" sz="1800" dirty="0"/>
          </a:p>
        </p:txBody>
      </p:sp>
      <p:sp>
        <p:nvSpPr>
          <p:cNvPr id="14" name="Shape 12"/>
          <p:cNvSpPr/>
          <p:nvPr/>
        </p:nvSpPr>
        <p:spPr>
          <a:xfrm>
            <a:off x="6446520" y="4041648"/>
            <a:ext cx="5074920" cy="859536"/>
          </a:xfrm>
          <a:prstGeom prst="roundRect">
            <a:avLst>
              <a:gd name="adj" fmla="val 8511"/>
            </a:avLst>
          </a:prstGeom>
          <a:solidFill>
            <a:srgbClr val="FFE4E6"/>
          </a:solidFill>
          <a:ln w="12700">
            <a:solidFill>
              <a:srgbClr val="FDA4AF"/>
            </a:solidFill>
            <a:prstDash val="solid"/>
          </a:ln>
        </p:spPr>
      </p:sp>
      <p:sp>
        <p:nvSpPr>
          <p:cNvPr id="15" name="Text 13"/>
          <p:cNvSpPr/>
          <p:nvPr/>
        </p:nvSpPr>
        <p:spPr>
          <a:xfrm>
            <a:off x="6629400" y="4178808"/>
            <a:ext cx="4709160" cy="219456"/>
          </a:xfrm>
          <a:prstGeom prst="rect">
            <a:avLst/>
          </a:prstGeom>
          <a:noFill/>
          <a:ln/>
        </p:spPr>
        <p:txBody>
          <a:bodyPr wrap="square" lIns="0" tIns="0" rIns="0" bIns="0" rtlCol="0" anchor="ctr"/>
          <a:lstStyle/>
          <a:p>
            <a:pPr indent="0" marL="0">
              <a:buNone/>
            </a:pPr>
            <a:r>
              <a:rPr lang="en-US" sz="950" b="1" dirty="0">
                <a:solidFill>
                  <a:srgbClr val="C1121F"/>
                </a:solidFill>
              </a:rPr>
              <a:t>STUDENT GOTCHA</a:t>
            </a:r>
            <a:endParaRPr lang="en-US" sz="950" dirty="0"/>
          </a:p>
        </p:txBody>
      </p:sp>
      <p:sp>
        <p:nvSpPr>
          <p:cNvPr id="16" name="Text 14"/>
          <p:cNvSpPr/>
          <p:nvPr/>
        </p:nvSpPr>
        <p:spPr>
          <a:xfrm>
            <a:off x="6629400" y="4453128"/>
            <a:ext cx="4709160" cy="356616"/>
          </a:xfrm>
          <a:prstGeom prst="rect">
            <a:avLst/>
          </a:prstGeom>
          <a:noFill/>
          <a:ln/>
        </p:spPr>
        <p:txBody>
          <a:bodyPr wrap="square" lIns="254" tIns="254" rIns="254" bIns="254" rtlCol="0" anchor="t">
            <a:normAutofit/>
          </a:bodyPr>
          <a:lstStyle/>
          <a:p>
            <a:pPr indent="0" marL="0">
              <a:buNone/>
            </a:pPr>
            <a:r>
              <a:rPr lang="en-US" sz="1250" dirty="0">
                <a:solidFill>
                  <a:srgbClr val="1E293B"/>
                </a:solidFill>
              </a:rPr>
              <a:t>Students may try to model everything. A useful abstraction intentionally leaves out details.</a:t>
            </a:r>
            <a:endParaRPr lang="en-US" sz="1250" dirty="0"/>
          </a:p>
        </p:txBody>
      </p:sp>
      <p:sp>
        <p:nvSpPr>
          <p:cNvPr id="17" name="Shape 15"/>
          <p:cNvSpPr/>
          <p:nvPr/>
        </p:nvSpPr>
        <p:spPr>
          <a:xfrm>
            <a:off x="6446520" y="5074920"/>
            <a:ext cx="5074920" cy="841248"/>
          </a:xfrm>
          <a:prstGeom prst="roundRect">
            <a:avLst>
              <a:gd name="adj" fmla="val 8696"/>
            </a:avLst>
          </a:prstGeom>
          <a:solidFill>
            <a:srgbClr val="E6FFFA"/>
          </a:solidFill>
          <a:ln w="12700">
            <a:solidFill>
              <a:srgbClr val="2A9D8F"/>
            </a:solidFill>
            <a:prstDash val="solid"/>
          </a:ln>
        </p:spPr>
      </p:sp>
      <p:sp>
        <p:nvSpPr>
          <p:cNvPr id="18" name="Text 16"/>
          <p:cNvSpPr/>
          <p:nvPr/>
        </p:nvSpPr>
        <p:spPr>
          <a:xfrm>
            <a:off x="6629400" y="5212080"/>
            <a:ext cx="4709160" cy="219456"/>
          </a:xfrm>
          <a:prstGeom prst="rect">
            <a:avLst/>
          </a:prstGeom>
          <a:noFill/>
          <a:ln/>
        </p:spPr>
        <p:txBody>
          <a:bodyPr wrap="square" lIns="0" tIns="0" rIns="0" bIns="0" rtlCol="0" anchor="ctr"/>
          <a:lstStyle/>
          <a:p>
            <a:pPr indent="0" marL="0">
              <a:buNone/>
            </a:pPr>
            <a:r>
              <a:rPr lang="en-US" sz="950" b="1" dirty="0">
                <a:solidFill>
                  <a:srgbClr val="007C89"/>
                </a:solidFill>
              </a:rPr>
              <a:t>CLASS CHECK</a:t>
            </a:r>
            <a:endParaRPr lang="en-US" sz="950" dirty="0"/>
          </a:p>
        </p:txBody>
      </p:sp>
      <p:sp>
        <p:nvSpPr>
          <p:cNvPr id="19" name="Text 17"/>
          <p:cNvSpPr/>
          <p:nvPr/>
        </p:nvSpPr>
        <p:spPr>
          <a:xfrm>
            <a:off x="6629400" y="5486400"/>
            <a:ext cx="4709160" cy="338328"/>
          </a:xfrm>
          <a:prstGeom prst="rect">
            <a:avLst/>
          </a:prstGeom>
          <a:noFill/>
          <a:ln/>
        </p:spPr>
        <p:txBody>
          <a:bodyPr wrap="square" lIns="254" tIns="254" rIns="254" bIns="254" rtlCol="0" anchor="t">
            <a:normAutofit/>
          </a:bodyPr>
          <a:lstStyle/>
          <a:p>
            <a:pPr indent="0" marL="0">
              <a:buNone/>
            </a:pPr>
            <a:r>
              <a:rPr lang="en-US" sz="1270" dirty="0">
                <a:solidFill>
                  <a:srgbClr val="1E293B"/>
                </a:solidFill>
              </a:rPr>
              <a:t>For circuit functionality, do wire colors matter?</a:t>
            </a:r>
            <a:endParaRPr lang="en-US" sz="127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5088"/>
          </a:solidFill>
          <a:ln w="12700">
            <a:solidFill>
              <a:srgbClr val="005088"/>
            </a:solidFill>
            <a:prstDash val="solid"/>
          </a:ln>
        </p:spPr>
      </p:sp>
      <p:sp>
        <p:nvSpPr>
          <p:cNvPr id="3" name="Shape 1"/>
          <p:cNvSpPr/>
          <p:nvPr/>
        </p:nvSpPr>
        <p:spPr>
          <a:xfrm>
            <a:off x="0" y="6729984"/>
            <a:ext cx="12191695" cy="128016"/>
          </a:xfrm>
          <a:prstGeom prst="rect">
            <a:avLst/>
          </a:prstGeom>
          <a:solidFill>
            <a:srgbClr val="005088"/>
          </a:solidFill>
          <a:ln w="12700">
            <a:solidFill>
              <a:srgbClr val="005088"/>
            </a:solidFill>
            <a:prstDash val="solid"/>
          </a:ln>
        </p:spPr>
      </p:sp>
      <p:sp>
        <p:nvSpPr>
          <p:cNvPr id="4" name="Text 2"/>
          <p:cNvSpPr/>
          <p:nvPr/>
        </p:nvSpPr>
        <p:spPr>
          <a:xfrm>
            <a:off x="502920" y="210312"/>
            <a:ext cx="6858000" cy="219456"/>
          </a:xfrm>
          <a:prstGeom prst="rect">
            <a:avLst/>
          </a:prstGeom>
          <a:noFill/>
          <a:ln/>
        </p:spPr>
        <p:txBody>
          <a:bodyPr wrap="square" lIns="0" tIns="0" rIns="0" bIns="0" rtlCol="0" anchor="ctr"/>
          <a:lstStyle/>
          <a:p>
            <a:pPr indent="0" marL="0">
              <a:buNone/>
            </a:pPr>
            <a:r>
              <a:rPr lang="en-US" sz="950" b="1" dirty="0">
                <a:solidFill>
                  <a:srgbClr val="3D5A80"/>
                </a:solidFill>
                <a:latin typeface="Aptos" pitchFamily="34" charset="0"/>
                <a:ea typeface="Aptos" pitchFamily="34" charset="-122"/>
                <a:cs typeface="Aptos" pitchFamily="34" charset="-120"/>
              </a:rPr>
              <a:t>8.4.1 Knowledge engineering process</a:t>
            </a:r>
            <a:endParaRPr lang="en-US" sz="950" dirty="0"/>
          </a:p>
        </p:txBody>
      </p:sp>
      <p:sp>
        <p:nvSpPr>
          <p:cNvPr id="5" name="Text 3"/>
          <p:cNvSpPr/>
          <p:nvPr/>
        </p:nvSpPr>
        <p:spPr>
          <a:xfrm>
            <a:off x="11018520" y="201168"/>
            <a:ext cx="640080" cy="228600"/>
          </a:xfrm>
          <a:prstGeom prst="rect">
            <a:avLst/>
          </a:prstGeom>
          <a:noFill/>
          <a:ln/>
        </p:spPr>
        <p:txBody>
          <a:bodyPr wrap="square" lIns="0" tIns="0" rIns="0" bIns="0" rtlCol="0" anchor="ctr"/>
          <a:lstStyle/>
          <a:p>
            <a:pPr algn="r" indent="0" marL="0">
              <a:buNone/>
            </a:pPr>
            <a:r>
              <a:rPr lang="en-US" sz="900" b="1" dirty="0">
                <a:solidFill>
                  <a:srgbClr val="3D5A80"/>
                </a:solidFill>
              </a:rPr>
              <a:t>82</a:t>
            </a:r>
            <a:endParaRPr lang="en-US" sz="900" dirty="0"/>
          </a:p>
        </p:txBody>
      </p:sp>
      <p:sp>
        <p:nvSpPr>
          <p:cNvPr id="6" name="Text 4"/>
          <p:cNvSpPr/>
          <p:nvPr/>
        </p:nvSpPr>
        <p:spPr>
          <a:xfrm>
            <a:off x="502920" y="566928"/>
            <a:ext cx="11201400" cy="512064"/>
          </a:xfrm>
          <a:prstGeom prst="rect">
            <a:avLst/>
          </a:prstGeom>
          <a:noFill/>
          <a:ln/>
        </p:spPr>
        <p:txBody>
          <a:bodyPr wrap="square" lIns="0" tIns="0" rIns="0" bIns="0" rtlCol="0" anchor="ctr">
            <a:normAutofit/>
          </a:bodyPr>
          <a:lstStyle/>
          <a:p>
            <a:pPr indent="0" marL="0">
              <a:buNone/>
            </a:pPr>
            <a:r>
              <a:rPr lang="en-US" sz="2650" b="1" dirty="0">
                <a:solidFill>
                  <a:srgbClr val="005088"/>
                </a:solidFill>
                <a:latin typeface="Aptos Display" pitchFamily="34" charset="0"/>
                <a:ea typeface="Aptos Display" pitchFamily="34" charset="-122"/>
                <a:cs typeface="Aptos Display" pitchFamily="34" charset="-120"/>
              </a:rPr>
              <a:t>STEP 3: CHOOSE VOCABULARY AND ONTOLOGY</a:t>
            </a:r>
            <a:endParaRPr lang="en-US" sz="2650" dirty="0"/>
          </a:p>
        </p:txBody>
      </p:sp>
      <p:sp>
        <p:nvSpPr>
          <p:cNvPr id="7" name="Shape 5"/>
          <p:cNvSpPr/>
          <p:nvPr/>
        </p:nvSpPr>
        <p:spPr>
          <a:xfrm>
            <a:off x="502920" y="1188720"/>
            <a:ext cx="11109960" cy="0"/>
          </a:xfrm>
          <a:prstGeom prst="line">
            <a:avLst/>
          </a:prstGeom>
          <a:noFill/>
          <a:ln w="12700">
            <a:solidFill>
              <a:srgbClr val="3D5A80"/>
            </a:solidFill>
            <a:prstDash val="solid"/>
          </a:ln>
        </p:spPr>
      </p:sp>
      <p:sp>
        <p:nvSpPr>
          <p:cNvPr id="8" name="Text 6"/>
          <p:cNvSpPr/>
          <p:nvPr/>
        </p:nvSpPr>
        <p:spPr>
          <a:xfrm>
            <a:off x="713232" y="1572768"/>
            <a:ext cx="5440680" cy="4251960"/>
          </a:xfrm>
          <a:prstGeom prst="rect">
            <a:avLst/>
          </a:prstGeom>
          <a:noFill/>
          <a:ln/>
        </p:spPr>
        <p:txBody>
          <a:bodyPr wrap="square" lIns="1016" tIns="1016" rIns="1016" bIns="1016" rtlCol="0" anchor="t">
            <a:normAutofit/>
          </a:bodyPr>
          <a:lstStyle/>
          <a:p>
            <a:pPr indent="0" marL="0">
              <a:buNone/>
            </a:pPr>
            <a:r>
              <a:rPr lang="en-US" sz="1650" dirty="0">
                <a:solidFill>
                  <a:srgbClr val="1E293B"/>
                </a:solidFill>
                <a:latin typeface="Aptos" pitchFamily="34" charset="0"/>
                <a:ea typeface="Aptos" pitchFamily="34" charset="-122"/>
                <a:cs typeface="Aptos" pitchFamily="34" charset="-120"/>
              </a:rPr>
              <a:t>• Choose constants for important named objects</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Choose predicates for properties and relations</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Choose functions for unique mappings</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The ontology defines what kinds of things exist</a:t>
            </a:r>
            <a:endParaRPr lang="en-US" sz="1650" dirty="0"/>
          </a:p>
        </p:txBody>
      </p:sp>
      <p:sp>
        <p:nvSpPr>
          <p:cNvPr id="9" name="Shape 7"/>
          <p:cNvSpPr/>
          <p:nvPr/>
        </p:nvSpPr>
        <p:spPr>
          <a:xfrm>
            <a:off x="6446520" y="1572768"/>
            <a:ext cx="5074920" cy="1234440"/>
          </a:xfrm>
          <a:prstGeom prst="roundRect">
            <a:avLst>
              <a:gd name="adj" fmla="val 5926"/>
            </a:avLst>
          </a:prstGeom>
          <a:solidFill>
            <a:srgbClr val="FFF6D9"/>
          </a:solidFill>
          <a:ln w="12700">
            <a:solidFill>
              <a:srgbClr val="F4A261"/>
            </a:solidFill>
            <a:prstDash val="solid"/>
          </a:ln>
        </p:spPr>
      </p:sp>
      <p:sp>
        <p:nvSpPr>
          <p:cNvPr id="10" name="Text 8"/>
          <p:cNvSpPr/>
          <p:nvPr/>
        </p:nvSpPr>
        <p:spPr>
          <a:xfrm>
            <a:off x="6629400" y="1709928"/>
            <a:ext cx="4709160" cy="219456"/>
          </a:xfrm>
          <a:prstGeom prst="rect">
            <a:avLst/>
          </a:prstGeom>
          <a:noFill/>
          <a:ln/>
        </p:spPr>
        <p:txBody>
          <a:bodyPr wrap="square" lIns="0" tIns="0" rIns="0" bIns="0" rtlCol="0" anchor="ctr"/>
          <a:lstStyle/>
          <a:p>
            <a:pPr indent="0" marL="0">
              <a:buNone/>
            </a:pPr>
            <a:r>
              <a:rPr lang="en-US" sz="950" b="1" dirty="0">
                <a:solidFill>
                  <a:srgbClr val="B0005D"/>
                </a:solidFill>
              </a:rPr>
              <a:t>ANALOGY</a:t>
            </a:r>
            <a:endParaRPr lang="en-US" sz="950" dirty="0"/>
          </a:p>
        </p:txBody>
      </p:sp>
      <p:sp>
        <p:nvSpPr>
          <p:cNvPr id="11" name="Text 9"/>
          <p:cNvSpPr/>
          <p:nvPr/>
        </p:nvSpPr>
        <p:spPr>
          <a:xfrm>
            <a:off x="6629400" y="1984248"/>
            <a:ext cx="4709160" cy="731520"/>
          </a:xfrm>
          <a:prstGeom prst="rect">
            <a:avLst/>
          </a:prstGeom>
          <a:noFill/>
          <a:ln/>
        </p:spPr>
        <p:txBody>
          <a:bodyPr wrap="square" lIns="254" tIns="254" rIns="254" bIns="254" rtlCol="0" anchor="t">
            <a:normAutofit/>
          </a:bodyPr>
          <a:lstStyle/>
          <a:p>
            <a:pPr indent="0" marL="0">
              <a:buNone/>
            </a:pPr>
            <a:r>
              <a:rPr lang="en-US" sz="1330" dirty="0">
                <a:solidFill>
                  <a:srgbClr val="1E293B"/>
                </a:solidFill>
              </a:rPr>
              <a:t>An ontology is the noun-and-relationship list for a domain-specific language.</a:t>
            </a:r>
            <a:endParaRPr lang="en-US" sz="1330" dirty="0"/>
          </a:p>
        </p:txBody>
      </p:sp>
      <p:sp>
        <p:nvSpPr>
          <p:cNvPr id="12" name="Shape 10"/>
          <p:cNvSpPr/>
          <p:nvPr/>
        </p:nvSpPr>
        <p:spPr>
          <a:xfrm>
            <a:off x="6446520" y="2999232"/>
            <a:ext cx="5074920" cy="841248"/>
          </a:xfrm>
          <a:prstGeom prst="roundRect">
            <a:avLst>
              <a:gd name="adj" fmla="val 8696"/>
            </a:avLst>
          </a:prstGeom>
          <a:solidFill>
            <a:srgbClr val="FFFFFF">
              <a:alpha val="97000"/>
            </a:srgbClr>
          </a:solidFill>
          <a:ln w="12700">
            <a:solidFill>
              <a:srgbClr val="007C89"/>
            </a:solidFill>
            <a:prstDash val="solid"/>
          </a:ln>
        </p:spPr>
      </p:sp>
      <p:sp>
        <p:nvSpPr>
          <p:cNvPr id="13" name="Text 11"/>
          <p:cNvSpPr/>
          <p:nvPr/>
        </p:nvSpPr>
        <p:spPr>
          <a:xfrm>
            <a:off x="6611112" y="3127248"/>
            <a:ext cx="4745736" cy="658368"/>
          </a:xfrm>
          <a:prstGeom prst="rect">
            <a:avLst/>
          </a:prstGeom>
          <a:noFill/>
          <a:ln/>
        </p:spPr>
        <p:txBody>
          <a:bodyPr wrap="square" lIns="0" tIns="0" rIns="0" bIns="0" rtlCol="0" anchor="ctr">
            <a:normAutofit/>
          </a:bodyPr>
          <a:lstStyle/>
          <a:p>
            <a:pPr algn="ctr" indent="0" marL="0">
              <a:buNone/>
            </a:pPr>
            <a:r>
              <a:rPr lang="en-US" sz="1800" b="1" dirty="0">
                <a:solidFill>
                  <a:srgbClr val="005088"/>
                </a:solidFill>
                <a:latin typeface="Cambria Math" pitchFamily="34" charset="0"/>
                <a:ea typeface="Cambria Math" pitchFamily="34" charset="-122"/>
                <a:cs typeface="Cambria Math" pitchFamily="34" charset="-120"/>
              </a:rPr>
              <a:t>objects, properties, relations, functions</a:t>
            </a:r>
            <a:endParaRPr lang="en-US" sz="1800" dirty="0"/>
          </a:p>
        </p:txBody>
      </p:sp>
      <p:sp>
        <p:nvSpPr>
          <p:cNvPr id="14" name="Shape 12"/>
          <p:cNvSpPr/>
          <p:nvPr/>
        </p:nvSpPr>
        <p:spPr>
          <a:xfrm>
            <a:off x="6446520" y="4041648"/>
            <a:ext cx="5074920" cy="859536"/>
          </a:xfrm>
          <a:prstGeom prst="roundRect">
            <a:avLst>
              <a:gd name="adj" fmla="val 8511"/>
            </a:avLst>
          </a:prstGeom>
          <a:solidFill>
            <a:srgbClr val="FFE4E6"/>
          </a:solidFill>
          <a:ln w="12700">
            <a:solidFill>
              <a:srgbClr val="FDA4AF"/>
            </a:solidFill>
            <a:prstDash val="solid"/>
          </a:ln>
        </p:spPr>
      </p:sp>
      <p:sp>
        <p:nvSpPr>
          <p:cNvPr id="15" name="Text 13"/>
          <p:cNvSpPr/>
          <p:nvPr/>
        </p:nvSpPr>
        <p:spPr>
          <a:xfrm>
            <a:off x="6629400" y="4178808"/>
            <a:ext cx="4709160" cy="219456"/>
          </a:xfrm>
          <a:prstGeom prst="rect">
            <a:avLst/>
          </a:prstGeom>
          <a:noFill/>
          <a:ln/>
        </p:spPr>
        <p:txBody>
          <a:bodyPr wrap="square" lIns="0" tIns="0" rIns="0" bIns="0" rtlCol="0" anchor="ctr"/>
          <a:lstStyle/>
          <a:p>
            <a:pPr indent="0" marL="0">
              <a:buNone/>
            </a:pPr>
            <a:r>
              <a:rPr lang="en-US" sz="950" b="1" dirty="0">
                <a:solidFill>
                  <a:srgbClr val="C1121F"/>
                </a:solidFill>
              </a:rPr>
              <a:t>STUDENT GOTCHA</a:t>
            </a:r>
            <a:endParaRPr lang="en-US" sz="950" dirty="0"/>
          </a:p>
        </p:txBody>
      </p:sp>
      <p:sp>
        <p:nvSpPr>
          <p:cNvPr id="16" name="Text 14"/>
          <p:cNvSpPr/>
          <p:nvPr/>
        </p:nvSpPr>
        <p:spPr>
          <a:xfrm>
            <a:off x="6629400" y="4453128"/>
            <a:ext cx="4709160" cy="356616"/>
          </a:xfrm>
          <a:prstGeom prst="rect">
            <a:avLst/>
          </a:prstGeom>
          <a:noFill/>
          <a:ln/>
        </p:spPr>
        <p:txBody>
          <a:bodyPr wrap="square" lIns="254" tIns="254" rIns="254" bIns="254" rtlCol="0" anchor="t">
            <a:normAutofit/>
          </a:bodyPr>
          <a:lstStyle/>
          <a:p>
            <a:pPr indent="0" marL="0">
              <a:buNone/>
            </a:pPr>
            <a:r>
              <a:rPr lang="en-US" sz="1250" dirty="0">
                <a:solidFill>
                  <a:srgbClr val="1E293B"/>
                </a:solidFill>
              </a:rPr>
              <a:t>A poor vocabulary makes later rules long, awkward, or impossible to state cleanly.</a:t>
            </a:r>
            <a:endParaRPr lang="en-US" sz="1250" dirty="0"/>
          </a:p>
        </p:txBody>
      </p:sp>
      <p:sp>
        <p:nvSpPr>
          <p:cNvPr id="17" name="Shape 15"/>
          <p:cNvSpPr/>
          <p:nvPr/>
        </p:nvSpPr>
        <p:spPr>
          <a:xfrm>
            <a:off x="6446520" y="5074920"/>
            <a:ext cx="5074920" cy="841248"/>
          </a:xfrm>
          <a:prstGeom prst="roundRect">
            <a:avLst>
              <a:gd name="adj" fmla="val 8696"/>
            </a:avLst>
          </a:prstGeom>
          <a:solidFill>
            <a:srgbClr val="E6FFFA"/>
          </a:solidFill>
          <a:ln w="12700">
            <a:solidFill>
              <a:srgbClr val="2A9D8F"/>
            </a:solidFill>
            <a:prstDash val="solid"/>
          </a:ln>
        </p:spPr>
      </p:sp>
      <p:sp>
        <p:nvSpPr>
          <p:cNvPr id="18" name="Text 16"/>
          <p:cNvSpPr/>
          <p:nvPr/>
        </p:nvSpPr>
        <p:spPr>
          <a:xfrm>
            <a:off x="6629400" y="5212080"/>
            <a:ext cx="4709160" cy="219456"/>
          </a:xfrm>
          <a:prstGeom prst="rect">
            <a:avLst/>
          </a:prstGeom>
          <a:noFill/>
          <a:ln/>
        </p:spPr>
        <p:txBody>
          <a:bodyPr wrap="square" lIns="0" tIns="0" rIns="0" bIns="0" rtlCol="0" anchor="ctr"/>
          <a:lstStyle/>
          <a:p>
            <a:pPr indent="0" marL="0">
              <a:buNone/>
            </a:pPr>
            <a:r>
              <a:rPr lang="en-US" sz="950" b="1" dirty="0">
                <a:solidFill>
                  <a:srgbClr val="007C89"/>
                </a:solidFill>
              </a:rPr>
              <a:t>CLASS CHECK</a:t>
            </a:r>
            <a:endParaRPr lang="en-US" sz="950" dirty="0"/>
          </a:p>
        </p:txBody>
      </p:sp>
      <p:sp>
        <p:nvSpPr>
          <p:cNvPr id="19" name="Text 17"/>
          <p:cNvSpPr/>
          <p:nvPr/>
        </p:nvSpPr>
        <p:spPr>
          <a:xfrm>
            <a:off x="6629400" y="5486400"/>
            <a:ext cx="4709160" cy="338328"/>
          </a:xfrm>
          <a:prstGeom prst="rect">
            <a:avLst/>
          </a:prstGeom>
          <a:noFill/>
          <a:ln/>
        </p:spPr>
        <p:txBody>
          <a:bodyPr wrap="square" lIns="254" tIns="254" rIns="254" bIns="254" rtlCol="0" anchor="t">
            <a:normAutofit/>
          </a:bodyPr>
          <a:lstStyle/>
          <a:p>
            <a:pPr indent="0" marL="0">
              <a:buNone/>
            </a:pPr>
            <a:r>
              <a:rPr lang="en-US" sz="1270" dirty="0">
                <a:solidFill>
                  <a:srgbClr val="1E293B"/>
                </a:solidFill>
              </a:rPr>
              <a:t>Ask students to choose vocabulary for a course enrollment domain.</a:t>
            </a:r>
            <a:endParaRPr lang="en-US" sz="127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5088"/>
          </a:solidFill>
          <a:ln w="12700">
            <a:solidFill>
              <a:srgbClr val="005088"/>
            </a:solidFill>
            <a:prstDash val="solid"/>
          </a:ln>
        </p:spPr>
      </p:sp>
      <p:sp>
        <p:nvSpPr>
          <p:cNvPr id="3" name="Shape 1"/>
          <p:cNvSpPr/>
          <p:nvPr/>
        </p:nvSpPr>
        <p:spPr>
          <a:xfrm>
            <a:off x="0" y="6729984"/>
            <a:ext cx="12191695" cy="128016"/>
          </a:xfrm>
          <a:prstGeom prst="rect">
            <a:avLst/>
          </a:prstGeom>
          <a:solidFill>
            <a:srgbClr val="005088"/>
          </a:solidFill>
          <a:ln w="12700">
            <a:solidFill>
              <a:srgbClr val="005088"/>
            </a:solidFill>
            <a:prstDash val="solid"/>
          </a:ln>
        </p:spPr>
      </p:sp>
      <p:sp>
        <p:nvSpPr>
          <p:cNvPr id="4" name="Text 2"/>
          <p:cNvSpPr/>
          <p:nvPr/>
        </p:nvSpPr>
        <p:spPr>
          <a:xfrm>
            <a:off x="502920" y="210312"/>
            <a:ext cx="6858000" cy="219456"/>
          </a:xfrm>
          <a:prstGeom prst="rect">
            <a:avLst/>
          </a:prstGeom>
          <a:noFill/>
          <a:ln/>
        </p:spPr>
        <p:txBody>
          <a:bodyPr wrap="square" lIns="0" tIns="0" rIns="0" bIns="0" rtlCol="0" anchor="ctr"/>
          <a:lstStyle/>
          <a:p>
            <a:pPr indent="0" marL="0">
              <a:buNone/>
            </a:pPr>
            <a:r>
              <a:rPr lang="en-US" sz="950" b="1" dirty="0">
                <a:solidFill>
                  <a:srgbClr val="3D5A80"/>
                </a:solidFill>
                <a:latin typeface="Aptos" pitchFamily="34" charset="0"/>
                <a:ea typeface="Aptos" pitchFamily="34" charset="-122"/>
                <a:cs typeface="Aptos" pitchFamily="34" charset="-120"/>
              </a:rPr>
              <a:t>8.4.1 Knowledge engineering process</a:t>
            </a:r>
            <a:endParaRPr lang="en-US" sz="950" dirty="0"/>
          </a:p>
        </p:txBody>
      </p:sp>
      <p:sp>
        <p:nvSpPr>
          <p:cNvPr id="5" name="Text 3"/>
          <p:cNvSpPr/>
          <p:nvPr/>
        </p:nvSpPr>
        <p:spPr>
          <a:xfrm>
            <a:off x="11018520" y="201168"/>
            <a:ext cx="640080" cy="228600"/>
          </a:xfrm>
          <a:prstGeom prst="rect">
            <a:avLst/>
          </a:prstGeom>
          <a:noFill/>
          <a:ln/>
        </p:spPr>
        <p:txBody>
          <a:bodyPr wrap="square" lIns="0" tIns="0" rIns="0" bIns="0" rtlCol="0" anchor="ctr"/>
          <a:lstStyle/>
          <a:p>
            <a:pPr algn="r" indent="0" marL="0">
              <a:buNone/>
            </a:pPr>
            <a:r>
              <a:rPr lang="en-US" sz="900" b="1" dirty="0">
                <a:solidFill>
                  <a:srgbClr val="3D5A80"/>
                </a:solidFill>
              </a:rPr>
              <a:t>83</a:t>
            </a:r>
            <a:endParaRPr lang="en-US" sz="900" dirty="0"/>
          </a:p>
        </p:txBody>
      </p:sp>
      <p:sp>
        <p:nvSpPr>
          <p:cNvPr id="6" name="Text 4"/>
          <p:cNvSpPr/>
          <p:nvPr/>
        </p:nvSpPr>
        <p:spPr>
          <a:xfrm>
            <a:off x="502920" y="566928"/>
            <a:ext cx="11201400" cy="512064"/>
          </a:xfrm>
          <a:prstGeom prst="rect">
            <a:avLst/>
          </a:prstGeom>
          <a:noFill/>
          <a:ln/>
        </p:spPr>
        <p:txBody>
          <a:bodyPr wrap="square" lIns="0" tIns="0" rIns="0" bIns="0" rtlCol="0" anchor="ctr">
            <a:normAutofit/>
          </a:bodyPr>
          <a:lstStyle/>
          <a:p>
            <a:pPr indent="0" marL="0">
              <a:buNone/>
            </a:pPr>
            <a:r>
              <a:rPr lang="en-US" sz="2650" b="1" dirty="0">
                <a:solidFill>
                  <a:srgbClr val="005088"/>
                </a:solidFill>
                <a:latin typeface="Aptos Display" pitchFamily="34" charset="0"/>
                <a:ea typeface="Aptos Display" pitchFamily="34" charset="-122"/>
                <a:cs typeface="Aptos Display" pitchFamily="34" charset="-120"/>
              </a:rPr>
              <a:t>STEP 4: ENCODE GENERAL KNOWLEDGE</a:t>
            </a:r>
            <a:endParaRPr lang="en-US" sz="2650" dirty="0"/>
          </a:p>
        </p:txBody>
      </p:sp>
      <p:sp>
        <p:nvSpPr>
          <p:cNvPr id="7" name="Shape 5"/>
          <p:cNvSpPr/>
          <p:nvPr/>
        </p:nvSpPr>
        <p:spPr>
          <a:xfrm>
            <a:off x="502920" y="1188720"/>
            <a:ext cx="11109960" cy="0"/>
          </a:xfrm>
          <a:prstGeom prst="line">
            <a:avLst/>
          </a:prstGeom>
          <a:noFill/>
          <a:ln w="12700">
            <a:solidFill>
              <a:srgbClr val="3D5A80"/>
            </a:solidFill>
            <a:prstDash val="solid"/>
          </a:ln>
        </p:spPr>
      </p:sp>
      <p:sp>
        <p:nvSpPr>
          <p:cNvPr id="8" name="Text 6"/>
          <p:cNvSpPr/>
          <p:nvPr/>
        </p:nvSpPr>
        <p:spPr>
          <a:xfrm>
            <a:off x="713232" y="1572768"/>
            <a:ext cx="5440680" cy="4251960"/>
          </a:xfrm>
          <a:prstGeom prst="rect">
            <a:avLst/>
          </a:prstGeom>
          <a:noFill/>
          <a:ln/>
        </p:spPr>
        <p:txBody>
          <a:bodyPr wrap="square" lIns="1016" tIns="1016" rIns="1016" bIns="1016" rtlCol="0" anchor="t">
            <a:normAutofit/>
          </a:bodyPr>
          <a:lstStyle/>
          <a:p>
            <a:pPr indent="0" marL="0">
              <a:buNone/>
            </a:pPr>
            <a:r>
              <a:rPr lang="en-US" sz="1650" dirty="0">
                <a:solidFill>
                  <a:srgbClr val="1E293B"/>
                </a:solidFill>
                <a:latin typeface="Aptos" pitchFamily="34" charset="0"/>
                <a:ea typeface="Aptos" pitchFamily="34" charset="-122"/>
                <a:cs typeface="Aptos" pitchFamily="34" charset="-120"/>
              </a:rPr>
              <a:t>• Write axioms for the vocabulary</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Prefer clear general rules</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Use biconditionals when both directions are intended</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Check whether rules are too weak or too strong</a:t>
            </a:r>
            <a:endParaRPr lang="en-US" sz="1650" dirty="0"/>
          </a:p>
        </p:txBody>
      </p:sp>
      <p:sp>
        <p:nvSpPr>
          <p:cNvPr id="9" name="Shape 7"/>
          <p:cNvSpPr/>
          <p:nvPr/>
        </p:nvSpPr>
        <p:spPr>
          <a:xfrm>
            <a:off x="6446520" y="1572768"/>
            <a:ext cx="5074920" cy="1234440"/>
          </a:xfrm>
          <a:prstGeom prst="roundRect">
            <a:avLst>
              <a:gd name="adj" fmla="val 5926"/>
            </a:avLst>
          </a:prstGeom>
          <a:solidFill>
            <a:srgbClr val="FFF6D9"/>
          </a:solidFill>
          <a:ln w="12700">
            <a:solidFill>
              <a:srgbClr val="F4A261"/>
            </a:solidFill>
            <a:prstDash val="solid"/>
          </a:ln>
        </p:spPr>
      </p:sp>
      <p:sp>
        <p:nvSpPr>
          <p:cNvPr id="10" name="Text 8"/>
          <p:cNvSpPr/>
          <p:nvPr/>
        </p:nvSpPr>
        <p:spPr>
          <a:xfrm>
            <a:off x="6629400" y="1709928"/>
            <a:ext cx="4709160" cy="219456"/>
          </a:xfrm>
          <a:prstGeom prst="rect">
            <a:avLst/>
          </a:prstGeom>
          <a:noFill/>
          <a:ln/>
        </p:spPr>
        <p:txBody>
          <a:bodyPr wrap="square" lIns="0" tIns="0" rIns="0" bIns="0" rtlCol="0" anchor="ctr"/>
          <a:lstStyle/>
          <a:p>
            <a:pPr indent="0" marL="0">
              <a:buNone/>
            </a:pPr>
            <a:r>
              <a:rPr lang="en-US" sz="950" b="1" dirty="0">
                <a:solidFill>
                  <a:srgbClr val="B0005D"/>
                </a:solidFill>
              </a:rPr>
              <a:t>ANALOGY</a:t>
            </a:r>
            <a:endParaRPr lang="en-US" sz="950" dirty="0"/>
          </a:p>
        </p:txBody>
      </p:sp>
      <p:sp>
        <p:nvSpPr>
          <p:cNvPr id="11" name="Text 9"/>
          <p:cNvSpPr/>
          <p:nvPr/>
        </p:nvSpPr>
        <p:spPr>
          <a:xfrm>
            <a:off x="6629400" y="1984248"/>
            <a:ext cx="4709160" cy="731520"/>
          </a:xfrm>
          <a:prstGeom prst="rect">
            <a:avLst/>
          </a:prstGeom>
          <a:noFill/>
          <a:ln/>
        </p:spPr>
        <p:txBody>
          <a:bodyPr wrap="square" lIns="254" tIns="254" rIns="254" bIns="254" rtlCol="0" anchor="t">
            <a:normAutofit/>
          </a:bodyPr>
          <a:lstStyle/>
          <a:p>
            <a:pPr indent="0" marL="0">
              <a:buNone/>
            </a:pPr>
            <a:r>
              <a:rPr lang="en-US" sz="1330" dirty="0">
                <a:solidFill>
                  <a:srgbClr val="1E293B"/>
                </a:solidFill>
              </a:rPr>
              <a:t>Axioms are the operating manual for the simplified world the knowledge base understands.</a:t>
            </a:r>
            <a:endParaRPr lang="en-US" sz="1330" dirty="0"/>
          </a:p>
        </p:txBody>
      </p:sp>
      <p:sp>
        <p:nvSpPr>
          <p:cNvPr id="12" name="Shape 10"/>
          <p:cNvSpPr/>
          <p:nvPr/>
        </p:nvSpPr>
        <p:spPr>
          <a:xfrm>
            <a:off x="6446520" y="2999232"/>
            <a:ext cx="5074920" cy="841248"/>
          </a:xfrm>
          <a:prstGeom prst="roundRect">
            <a:avLst>
              <a:gd name="adj" fmla="val 8696"/>
            </a:avLst>
          </a:prstGeom>
          <a:solidFill>
            <a:srgbClr val="FFFFFF">
              <a:alpha val="97000"/>
            </a:srgbClr>
          </a:solidFill>
          <a:ln w="12700">
            <a:solidFill>
              <a:srgbClr val="007C89"/>
            </a:solidFill>
            <a:prstDash val="solid"/>
          </a:ln>
        </p:spPr>
      </p:sp>
      <p:sp>
        <p:nvSpPr>
          <p:cNvPr id="13" name="Text 11"/>
          <p:cNvSpPr/>
          <p:nvPr/>
        </p:nvSpPr>
        <p:spPr>
          <a:xfrm>
            <a:off x="6611112" y="3127248"/>
            <a:ext cx="4745736" cy="658368"/>
          </a:xfrm>
          <a:prstGeom prst="rect">
            <a:avLst/>
          </a:prstGeom>
          <a:noFill/>
          <a:ln/>
        </p:spPr>
        <p:txBody>
          <a:bodyPr wrap="square" lIns="0" tIns="0" rIns="0" bIns="0" rtlCol="0" anchor="ctr">
            <a:normAutofit/>
          </a:bodyPr>
          <a:lstStyle/>
          <a:p>
            <a:pPr algn="ctr" indent="0" marL="0">
              <a:buNone/>
            </a:pPr>
            <a:r>
              <a:rPr lang="en-US" sz="1550" b="1" dirty="0">
                <a:solidFill>
                  <a:srgbClr val="005088"/>
                </a:solidFill>
                <a:latin typeface="Cambria Math" pitchFamily="34" charset="0"/>
                <a:ea typeface="Cambria Math" pitchFamily="34" charset="-122"/>
                <a:cs typeface="Cambria Math" pitchFamily="34" charset="-120"/>
              </a:rPr>
              <a:t>Connected(t₁,t₂) ⇒ Signal(t₁)=Signal(t₂)</a:t>
            </a:r>
            <a:endParaRPr lang="en-US" sz="1550" dirty="0"/>
          </a:p>
        </p:txBody>
      </p:sp>
      <p:sp>
        <p:nvSpPr>
          <p:cNvPr id="14" name="Shape 12"/>
          <p:cNvSpPr/>
          <p:nvPr/>
        </p:nvSpPr>
        <p:spPr>
          <a:xfrm>
            <a:off x="6446520" y="4041648"/>
            <a:ext cx="5074920" cy="859536"/>
          </a:xfrm>
          <a:prstGeom prst="roundRect">
            <a:avLst>
              <a:gd name="adj" fmla="val 8511"/>
            </a:avLst>
          </a:prstGeom>
          <a:solidFill>
            <a:srgbClr val="FFE4E6"/>
          </a:solidFill>
          <a:ln w="12700">
            <a:solidFill>
              <a:srgbClr val="FDA4AF"/>
            </a:solidFill>
            <a:prstDash val="solid"/>
          </a:ln>
        </p:spPr>
      </p:sp>
      <p:sp>
        <p:nvSpPr>
          <p:cNvPr id="15" name="Text 13"/>
          <p:cNvSpPr/>
          <p:nvPr/>
        </p:nvSpPr>
        <p:spPr>
          <a:xfrm>
            <a:off x="6629400" y="4178808"/>
            <a:ext cx="4709160" cy="219456"/>
          </a:xfrm>
          <a:prstGeom prst="rect">
            <a:avLst/>
          </a:prstGeom>
          <a:noFill/>
          <a:ln/>
        </p:spPr>
        <p:txBody>
          <a:bodyPr wrap="square" lIns="0" tIns="0" rIns="0" bIns="0" rtlCol="0" anchor="ctr"/>
          <a:lstStyle/>
          <a:p>
            <a:pPr indent="0" marL="0">
              <a:buNone/>
            </a:pPr>
            <a:r>
              <a:rPr lang="en-US" sz="950" b="1" dirty="0">
                <a:solidFill>
                  <a:srgbClr val="C1121F"/>
                </a:solidFill>
              </a:rPr>
              <a:t>STUDENT GOTCHA</a:t>
            </a:r>
            <a:endParaRPr lang="en-US" sz="950" dirty="0"/>
          </a:p>
        </p:txBody>
      </p:sp>
      <p:sp>
        <p:nvSpPr>
          <p:cNvPr id="16" name="Text 14"/>
          <p:cNvSpPr/>
          <p:nvPr/>
        </p:nvSpPr>
        <p:spPr>
          <a:xfrm>
            <a:off x="6629400" y="4453128"/>
            <a:ext cx="4709160" cy="356616"/>
          </a:xfrm>
          <a:prstGeom prst="rect">
            <a:avLst/>
          </a:prstGeom>
          <a:noFill/>
          <a:ln/>
        </p:spPr>
        <p:txBody>
          <a:bodyPr wrap="square" lIns="254" tIns="254" rIns="254" bIns="254" rtlCol="0" anchor="t">
            <a:normAutofit/>
          </a:bodyPr>
          <a:lstStyle/>
          <a:p>
            <a:pPr indent="0" marL="0">
              <a:buNone/>
            </a:pPr>
            <a:r>
              <a:rPr lang="en-US" sz="1250" dirty="0">
                <a:solidFill>
                  <a:srgbClr val="1E293B"/>
                </a:solidFill>
              </a:rPr>
              <a:t>Rules are simplified models. They may ignore noise, faults, or timing if those details are outside the task.</a:t>
            </a:r>
            <a:endParaRPr lang="en-US" sz="1250" dirty="0"/>
          </a:p>
        </p:txBody>
      </p:sp>
      <p:sp>
        <p:nvSpPr>
          <p:cNvPr id="17" name="Shape 15"/>
          <p:cNvSpPr/>
          <p:nvPr/>
        </p:nvSpPr>
        <p:spPr>
          <a:xfrm>
            <a:off x="6446520" y="5074920"/>
            <a:ext cx="5074920" cy="841248"/>
          </a:xfrm>
          <a:prstGeom prst="roundRect">
            <a:avLst>
              <a:gd name="adj" fmla="val 8696"/>
            </a:avLst>
          </a:prstGeom>
          <a:solidFill>
            <a:srgbClr val="E6FFFA"/>
          </a:solidFill>
          <a:ln w="12700">
            <a:solidFill>
              <a:srgbClr val="2A9D8F"/>
            </a:solidFill>
            <a:prstDash val="solid"/>
          </a:ln>
        </p:spPr>
      </p:sp>
      <p:sp>
        <p:nvSpPr>
          <p:cNvPr id="18" name="Text 16"/>
          <p:cNvSpPr/>
          <p:nvPr/>
        </p:nvSpPr>
        <p:spPr>
          <a:xfrm>
            <a:off x="6629400" y="5212080"/>
            <a:ext cx="4709160" cy="219456"/>
          </a:xfrm>
          <a:prstGeom prst="rect">
            <a:avLst/>
          </a:prstGeom>
          <a:noFill/>
          <a:ln/>
        </p:spPr>
        <p:txBody>
          <a:bodyPr wrap="square" lIns="0" tIns="0" rIns="0" bIns="0" rtlCol="0" anchor="ctr"/>
          <a:lstStyle/>
          <a:p>
            <a:pPr indent="0" marL="0">
              <a:buNone/>
            </a:pPr>
            <a:r>
              <a:rPr lang="en-US" sz="950" b="1" dirty="0">
                <a:solidFill>
                  <a:srgbClr val="007C89"/>
                </a:solidFill>
              </a:rPr>
              <a:t>CLASS CHECK</a:t>
            </a:r>
            <a:endParaRPr lang="en-US" sz="950" dirty="0"/>
          </a:p>
        </p:txBody>
      </p:sp>
      <p:sp>
        <p:nvSpPr>
          <p:cNvPr id="19" name="Text 17"/>
          <p:cNvSpPr/>
          <p:nvPr/>
        </p:nvSpPr>
        <p:spPr>
          <a:xfrm>
            <a:off x="6629400" y="5486400"/>
            <a:ext cx="4709160" cy="338328"/>
          </a:xfrm>
          <a:prstGeom prst="rect">
            <a:avLst/>
          </a:prstGeom>
          <a:noFill/>
          <a:ln/>
        </p:spPr>
        <p:txBody>
          <a:bodyPr wrap="square" lIns="254" tIns="254" rIns="254" bIns="254" rtlCol="0" anchor="t">
            <a:normAutofit/>
          </a:bodyPr>
          <a:lstStyle/>
          <a:p>
            <a:pPr indent="0" marL="0">
              <a:buNone/>
            </a:pPr>
            <a:r>
              <a:rPr lang="en-US" sz="1270" dirty="0">
                <a:solidFill>
                  <a:srgbClr val="1E293B"/>
                </a:solidFill>
              </a:rPr>
              <a:t>Ask: What does this connection rule assume about wires?</a:t>
            </a:r>
            <a:endParaRPr lang="en-US" sz="127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5088"/>
          </a:solidFill>
          <a:ln w="12700">
            <a:solidFill>
              <a:srgbClr val="005088"/>
            </a:solidFill>
            <a:prstDash val="solid"/>
          </a:ln>
        </p:spPr>
      </p:sp>
      <p:sp>
        <p:nvSpPr>
          <p:cNvPr id="3" name="Shape 1"/>
          <p:cNvSpPr/>
          <p:nvPr/>
        </p:nvSpPr>
        <p:spPr>
          <a:xfrm>
            <a:off x="0" y="6729984"/>
            <a:ext cx="12191695" cy="128016"/>
          </a:xfrm>
          <a:prstGeom prst="rect">
            <a:avLst/>
          </a:prstGeom>
          <a:solidFill>
            <a:srgbClr val="005088"/>
          </a:solidFill>
          <a:ln w="12700">
            <a:solidFill>
              <a:srgbClr val="005088"/>
            </a:solidFill>
            <a:prstDash val="solid"/>
          </a:ln>
        </p:spPr>
      </p:sp>
      <p:sp>
        <p:nvSpPr>
          <p:cNvPr id="4" name="Text 2"/>
          <p:cNvSpPr/>
          <p:nvPr/>
        </p:nvSpPr>
        <p:spPr>
          <a:xfrm>
            <a:off x="502920" y="210312"/>
            <a:ext cx="6858000" cy="219456"/>
          </a:xfrm>
          <a:prstGeom prst="rect">
            <a:avLst/>
          </a:prstGeom>
          <a:noFill/>
          <a:ln/>
        </p:spPr>
        <p:txBody>
          <a:bodyPr wrap="square" lIns="0" tIns="0" rIns="0" bIns="0" rtlCol="0" anchor="ctr"/>
          <a:lstStyle/>
          <a:p>
            <a:pPr indent="0" marL="0">
              <a:buNone/>
            </a:pPr>
            <a:r>
              <a:rPr lang="en-US" sz="950" b="1" dirty="0">
                <a:solidFill>
                  <a:srgbClr val="3D5A80"/>
                </a:solidFill>
                <a:latin typeface="Aptos" pitchFamily="34" charset="0"/>
                <a:ea typeface="Aptos" pitchFamily="34" charset="-122"/>
                <a:cs typeface="Aptos" pitchFamily="34" charset="-120"/>
              </a:rPr>
              <a:t>8.4.1 Knowledge engineering process</a:t>
            </a:r>
            <a:endParaRPr lang="en-US" sz="950" dirty="0"/>
          </a:p>
        </p:txBody>
      </p:sp>
      <p:sp>
        <p:nvSpPr>
          <p:cNvPr id="5" name="Text 3"/>
          <p:cNvSpPr/>
          <p:nvPr/>
        </p:nvSpPr>
        <p:spPr>
          <a:xfrm>
            <a:off x="11018520" y="201168"/>
            <a:ext cx="640080" cy="228600"/>
          </a:xfrm>
          <a:prstGeom prst="rect">
            <a:avLst/>
          </a:prstGeom>
          <a:noFill/>
          <a:ln/>
        </p:spPr>
        <p:txBody>
          <a:bodyPr wrap="square" lIns="0" tIns="0" rIns="0" bIns="0" rtlCol="0" anchor="ctr"/>
          <a:lstStyle/>
          <a:p>
            <a:pPr algn="r" indent="0" marL="0">
              <a:buNone/>
            </a:pPr>
            <a:r>
              <a:rPr lang="en-US" sz="900" b="1" dirty="0">
                <a:solidFill>
                  <a:srgbClr val="3D5A80"/>
                </a:solidFill>
              </a:rPr>
              <a:t>84</a:t>
            </a:r>
            <a:endParaRPr lang="en-US" sz="900" dirty="0"/>
          </a:p>
        </p:txBody>
      </p:sp>
      <p:sp>
        <p:nvSpPr>
          <p:cNvPr id="6" name="Text 4"/>
          <p:cNvSpPr/>
          <p:nvPr/>
        </p:nvSpPr>
        <p:spPr>
          <a:xfrm>
            <a:off x="502920" y="566928"/>
            <a:ext cx="11201400" cy="512064"/>
          </a:xfrm>
          <a:prstGeom prst="rect">
            <a:avLst/>
          </a:prstGeom>
          <a:noFill/>
          <a:ln/>
        </p:spPr>
        <p:txBody>
          <a:bodyPr wrap="square" lIns="0" tIns="0" rIns="0" bIns="0" rtlCol="0" anchor="ctr">
            <a:normAutofit/>
          </a:bodyPr>
          <a:lstStyle/>
          <a:p>
            <a:pPr indent="0" marL="0">
              <a:buNone/>
            </a:pPr>
            <a:r>
              <a:rPr lang="en-US" sz="2650" b="1" dirty="0">
                <a:solidFill>
                  <a:srgbClr val="005088"/>
                </a:solidFill>
                <a:latin typeface="Aptos Display" pitchFamily="34" charset="0"/>
                <a:ea typeface="Aptos Display" pitchFamily="34" charset="-122"/>
                <a:cs typeface="Aptos Display" pitchFamily="34" charset="-120"/>
              </a:rPr>
              <a:t>STEP 5: ENCODE THE PROBLEM INSTANCE</a:t>
            </a:r>
            <a:endParaRPr lang="en-US" sz="2650" dirty="0"/>
          </a:p>
        </p:txBody>
      </p:sp>
      <p:sp>
        <p:nvSpPr>
          <p:cNvPr id="7" name="Shape 5"/>
          <p:cNvSpPr/>
          <p:nvPr/>
        </p:nvSpPr>
        <p:spPr>
          <a:xfrm>
            <a:off x="502920" y="1188720"/>
            <a:ext cx="11109960" cy="0"/>
          </a:xfrm>
          <a:prstGeom prst="line">
            <a:avLst/>
          </a:prstGeom>
          <a:noFill/>
          <a:ln w="12700">
            <a:solidFill>
              <a:srgbClr val="3D5A80"/>
            </a:solidFill>
            <a:prstDash val="solid"/>
          </a:ln>
        </p:spPr>
      </p:sp>
      <p:sp>
        <p:nvSpPr>
          <p:cNvPr id="8" name="Text 6"/>
          <p:cNvSpPr/>
          <p:nvPr/>
        </p:nvSpPr>
        <p:spPr>
          <a:xfrm>
            <a:off x="713232" y="1572768"/>
            <a:ext cx="5440680" cy="4251960"/>
          </a:xfrm>
          <a:prstGeom prst="rect">
            <a:avLst/>
          </a:prstGeom>
          <a:noFill/>
          <a:ln/>
        </p:spPr>
        <p:txBody>
          <a:bodyPr wrap="square" lIns="1016" tIns="1016" rIns="1016" bIns="1016" rtlCol="0" anchor="t">
            <a:normAutofit/>
          </a:bodyPr>
          <a:lstStyle/>
          <a:p>
            <a:pPr indent="0" marL="0">
              <a:buNone/>
            </a:pPr>
            <a:r>
              <a:rPr lang="en-US" sz="1650" dirty="0">
                <a:solidFill>
                  <a:srgbClr val="1E293B"/>
                </a:solidFill>
                <a:latin typeface="Aptos" pitchFamily="34" charset="0"/>
                <a:ea typeface="Aptos" pitchFamily="34" charset="-122"/>
                <a:cs typeface="Aptos" pitchFamily="34" charset="-120"/>
              </a:rPr>
              <a:t>• Add facts about this particular case</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Declare the objects that exist in the instance</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State properties and relationships among them</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Keep instance facts separate from general rules</a:t>
            </a:r>
            <a:endParaRPr lang="en-US" sz="1650" dirty="0"/>
          </a:p>
        </p:txBody>
      </p:sp>
      <p:sp>
        <p:nvSpPr>
          <p:cNvPr id="9" name="Shape 7"/>
          <p:cNvSpPr/>
          <p:nvPr/>
        </p:nvSpPr>
        <p:spPr>
          <a:xfrm>
            <a:off x="6446520" y="1572768"/>
            <a:ext cx="5074920" cy="1234440"/>
          </a:xfrm>
          <a:prstGeom prst="roundRect">
            <a:avLst>
              <a:gd name="adj" fmla="val 5926"/>
            </a:avLst>
          </a:prstGeom>
          <a:solidFill>
            <a:srgbClr val="FFF6D9"/>
          </a:solidFill>
          <a:ln w="12700">
            <a:solidFill>
              <a:srgbClr val="F4A261"/>
            </a:solidFill>
            <a:prstDash val="solid"/>
          </a:ln>
        </p:spPr>
      </p:sp>
      <p:sp>
        <p:nvSpPr>
          <p:cNvPr id="10" name="Text 8"/>
          <p:cNvSpPr/>
          <p:nvPr/>
        </p:nvSpPr>
        <p:spPr>
          <a:xfrm>
            <a:off x="6629400" y="1709928"/>
            <a:ext cx="4709160" cy="219456"/>
          </a:xfrm>
          <a:prstGeom prst="rect">
            <a:avLst/>
          </a:prstGeom>
          <a:noFill/>
          <a:ln/>
        </p:spPr>
        <p:txBody>
          <a:bodyPr wrap="square" lIns="0" tIns="0" rIns="0" bIns="0" rtlCol="0" anchor="ctr"/>
          <a:lstStyle/>
          <a:p>
            <a:pPr indent="0" marL="0">
              <a:buNone/>
            </a:pPr>
            <a:r>
              <a:rPr lang="en-US" sz="950" b="1" dirty="0">
                <a:solidFill>
                  <a:srgbClr val="B0005D"/>
                </a:solidFill>
              </a:rPr>
              <a:t>ANALOGY</a:t>
            </a:r>
            <a:endParaRPr lang="en-US" sz="950" dirty="0"/>
          </a:p>
        </p:txBody>
      </p:sp>
      <p:sp>
        <p:nvSpPr>
          <p:cNvPr id="11" name="Text 9"/>
          <p:cNvSpPr/>
          <p:nvPr/>
        </p:nvSpPr>
        <p:spPr>
          <a:xfrm>
            <a:off x="6629400" y="1984248"/>
            <a:ext cx="4709160" cy="731520"/>
          </a:xfrm>
          <a:prstGeom prst="rect">
            <a:avLst/>
          </a:prstGeom>
          <a:noFill/>
          <a:ln/>
        </p:spPr>
        <p:txBody>
          <a:bodyPr wrap="square" lIns="254" tIns="254" rIns="254" bIns="254" rtlCol="0" anchor="t">
            <a:normAutofit/>
          </a:bodyPr>
          <a:lstStyle/>
          <a:p>
            <a:pPr indent="0" marL="0">
              <a:buNone/>
            </a:pPr>
            <a:r>
              <a:rPr lang="en-US" sz="1330" dirty="0">
                <a:solidFill>
                  <a:srgbClr val="1E293B"/>
                </a:solidFill>
              </a:rPr>
              <a:t>The ontology is a blank form; the problem instance is today’s completed form.</a:t>
            </a:r>
            <a:endParaRPr lang="en-US" sz="1330" dirty="0"/>
          </a:p>
        </p:txBody>
      </p:sp>
      <p:sp>
        <p:nvSpPr>
          <p:cNvPr id="12" name="Shape 10"/>
          <p:cNvSpPr/>
          <p:nvPr/>
        </p:nvSpPr>
        <p:spPr>
          <a:xfrm>
            <a:off x="6446520" y="2999232"/>
            <a:ext cx="5074920" cy="841248"/>
          </a:xfrm>
          <a:prstGeom prst="roundRect">
            <a:avLst>
              <a:gd name="adj" fmla="val 8696"/>
            </a:avLst>
          </a:prstGeom>
          <a:solidFill>
            <a:srgbClr val="FFFFFF">
              <a:alpha val="97000"/>
            </a:srgbClr>
          </a:solidFill>
          <a:ln w="12700">
            <a:solidFill>
              <a:srgbClr val="007C89"/>
            </a:solidFill>
            <a:prstDash val="solid"/>
          </a:ln>
        </p:spPr>
      </p:sp>
      <p:sp>
        <p:nvSpPr>
          <p:cNvPr id="13" name="Text 11"/>
          <p:cNvSpPr/>
          <p:nvPr/>
        </p:nvSpPr>
        <p:spPr>
          <a:xfrm>
            <a:off x="6611112" y="3127248"/>
            <a:ext cx="4745736" cy="658368"/>
          </a:xfrm>
          <a:prstGeom prst="rect">
            <a:avLst/>
          </a:prstGeom>
          <a:noFill/>
          <a:ln/>
        </p:spPr>
        <p:txBody>
          <a:bodyPr wrap="square" lIns="0" tIns="0" rIns="0" bIns="0" rtlCol="0" anchor="ctr">
            <a:normAutofit/>
          </a:bodyPr>
          <a:lstStyle/>
          <a:p>
            <a:pPr algn="ctr" indent="0" marL="0">
              <a:buNone/>
            </a:pPr>
            <a:r>
              <a:rPr lang="en-US" sz="1550" b="1" dirty="0">
                <a:solidFill>
                  <a:srgbClr val="005088"/>
                </a:solidFill>
                <a:latin typeface="Cambria Math" pitchFamily="34" charset="0"/>
                <a:ea typeface="Cambria Math" pitchFamily="34" charset="-122"/>
                <a:cs typeface="Cambria Math" pitchFamily="34" charset="-120"/>
              </a:rPr>
              <a:t>Gate(X₁) ∧ Type(X₁)=ExclusiveOr</a:t>
            </a:r>
            <a:endParaRPr lang="en-US" sz="1550" dirty="0"/>
          </a:p>
        </p:txBody>
      </p:sp>
      <p:sp>
        <p:nvSpPr>
          <p:cNvPr id="14" name="Shape 12"/>
          <p:cNvSpPr/>
          <p:nvPr/>
        </p:nvSpPr>
        <p:spPr>
          <a:xfrm>
            <a:off x="6446520" y="4041648"/>
            <a:ext cx="5074920" cy="859536"/>
          </a:xfrm>
          <a:prstGeom prst="roundRect">
            <a:avLst>
              <a:gd name="adj" fmla="val 8511"/>
            </a:avLst>
          </a:prstGeom>
          <a:solidFill>
            <a:srgbClr val="FFE4E6"/>
          </a:solidFill>
          <a:ln w="12700">
            <a:solidFill>
              <a:srgbClr val="FDA4AF"/>
            </a:solidFill>
            <a:prstDash val="solid"/>
          </a:ln>
        </p:spPr>
      </p:sp>
      <p:sp>
        <p:nvSpPr>
          <p:cNvPr id="15" name="Text 13"/>
          <p:cNvSpPr/>
          <p:nvPr/>
        </p:nvSpPr>
        <p:spPr>
          <a:xfrm>
            <a:off x="6629400" y="4178808"/>
            <a:ext cx="4709160" cy="219456"/>
          </a:xfrm>
          <a:prstGeom prst="rect">
            <a:avLst/>
          </a:prstGeom>
          <a:noFill/>
          <a:ln/>
        </p:spPr>
        <p:txBody>
          <a:bodyPr wrap="square" lIns="0" tIns="0" rIns="0" bIns="0" rtlCol="0" anchor="ctr"/>
          <a:lstStyle/>
          <a:p>
            <a:pPr indent="0" marL="0">
              <a:buNone/>
            </a:pPr>
            <a:r>
              <a:rPr lang="en-US" sz="950" b="1" dirty="0">
                <a:solidFill>
                  <a:srgbClr val="C1121F"/>
                </a:solidFill>
              </a:rPr>
              <a:t>STUDENT GOTCHA</a:t>
            </a:r>
            <a:endParaRPr lang="en-US" sz="950" dirty="0"/>
          </a:p>
        </p:txBody>
      </p:sp>
      <p:sp>
        <p:nvSpPr>
          <p:cNvPr id="16" name="Text 14"/>
          <p:cNvSpPr/>
          <p:nvPr/>
        </p:nvSpPr>
        <p:spPr>
          <a:xfrm>
            <a:off x="6629400" y="4453128"/>
            <a:ext cx="4709160" cy="356616"/>
          </a:xfrm>
          <a:prstGeom prst="rect">
            <a:avLst/>
          </a:prstGeom>
          <a:noFill/>
          <a:ln/>
        </p:spPr>
        <p:txBody>
          <a:bodyPr wrap="square" lIns="254" tIns="254" rIns="254" bIns="254" rtlCol="0" anchor="t">
            <a:normAutofit/>
          </a:bodyPr>
          <a:lstStyle/>
          <a:p>
            <a:pPr indent="0" marL="0">
              <a:buNone/>
            </a:pPr>
            <a:r>
              <a:rPr lang="en-US" sz="1250" dirty="0">
                <a:solidFill>
                  <a:srgbClr val="1E293B"/>
                </a:solidFill>
              </a:rPr>
              <a:t>Do not hide general rules inside one instance. Reusable knowledge belongs in general axioms.</a:t>
            </a:r>
            <a:endParaRPr lang="en-US" sz="1250" dirty="0"/>
          </a:p>
        </p:txBody>
      </p:sp>
      <p:sp>
        <p:nvSpPr>
          <p:cNvPr id="17" name="Shape 15"/>
          <p:cNvSpPr/>
          <p:nvPr/>
        </p:nvSpPr>
        <p:spPr>
          <a:xfrm>
            <a:off x="6446520" y="5074920"/>
            <a:ext cx="5074920" cy="841248"/>
          </a:xfrm>
          <a:prstGeom prst="roundRect">
            <a:avLst>
              <a:gd name="adj" fmla="val 8696"/>
            </a:avLst>
          </a:prstGeom>
          <a:solidFill>
            <a:srgbClr val="E6FFFA"/>
          </a:solidFill>
          <a:ln w="12700">
            <a:solidFill>
              <a:srgbClr val="2A9D8F"/>
            </a:solidFill>
            <a:prstDash val="solid"/>
          </a:ln>
        </p:spPr>
      </p:sp>
      <p:sp>
        <p:nvSpPr>
          <p:cNvPr id="18" name="Text 16"/>
          <p:cNvSpPr/>
          <p:nvPr/>
        </p:nvSpPr>
        <p:spPr>
          <a:xfrm>
            <a:off x="6629400" y="5212080"/>
            <a:ext cx="4709160" cy="219456"/>
          </a:xfrm>
          <a:prstGeom prst="rect">
            <a:avLst/>
          </a:prstGeom>
          <a:noFill/>
          <a:ln/>
        </p:spPr>
        <p:txBody>
          <a:bodyPr wrap="square" lIns="0" tIns="0" rIns="0" bIns="0" rtlCol="0" anchor="ctr"/>
          <a:lstStyle/>
          <a:p>
            <a:pPr indent="0" marL="0">
              <a:buNone/>
            </a:pPr>
            <a:r>
              <a:rPr lang="en-US" sz="950" b="1" dirty="0">
                <a:solidFill>
                  <a:srgbClr val="007C89"/>
                </a:solidFill>
              </a:rPr>
              <a:t>CLASS CHECK</a:t>
            </a:r>
            <a:endParaRPr lang="en-US" sz="950" dirty="0"/>
          </a:p>
        </p:txBody>
      </p:sp>
      <p:sp>
        <p:nvSpPr>
          <p:cNvPr id="19" name="Text 17"/>
          <p:cNvSpPr/>
          <p:nvPr/>
        </p:nvSpPr>
        <p:spPr>
          <a:xfrm>
            <a:off x="6629400" y="5486400"/>
            <a:ext cx="4709160" cy="338328"/>
          </a:xfrm>
          <a:prstGeom prst="rect">
            <a:avLst/>
          </a:prstGeom>
          <a:noFill/>
          <a:ln/>
        </p:spPr>
        <p:txBody>
          <a:bodyPr wrap="square" lIns="254" tIns="254" rIns="254" bIns="254" rtlCol="0" anchor="t">
            <a:normAutofit/>
          </a:bodyPr>
          <a:lstStyle/>
          <a:p>
            <a:pPr indent="0" marL="0">
              <a:buNone/>
            </a:pPr>
            <a:r>
              <a:rPr lang="en-US" sz="1270" dirty="0">
                <a:solidFill>
                  <a:srgbClr val="1E293B"/>
                </a:solidFill>
              </a:rPr>
              <a:t>Ask: Why separate a circuit’s general gate behavior from this specific circuit’s connections?</a:t>
            </a:r>
            <a:endParaRPr lang="en-US" sz="127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5088"/>
          </a:solidFill>
          <a:ln w="12700">
            <a:solidFill>
              <a:srgbClr val="005088"/>
            </a:solidFill>
            <a:prstDash val="solid"/>
          </a:ln>
        </p:spPr>
      </p:sp>
      <p:sp>
        <p:nvSpPr>
          <p:cNvPr id="3" name="Shape 1"/>
          <p:cNvSpPr/>
          <p:nvPr/>
        </p:nvSpPr>
        <p:spPr>
          <a:xfrm>
            <a:off x="0" y="6729984"/>
            <a:ext cx="12191695" cy="128016"/>
          </a:xfrm>
          <a:prstGeom prst="rect">
            <a:avLst/>
          </a:prstGeom>
          <a:solidFill>
            <a:srgbClr val="005088"/>
          </a:solidFill>
          <a:ln w="12700">
            <a:solidFill>
              <a:srgbClr val="005088"/>
            </a:solidFill>
            <a:prstDash val="solid"/>
          </a:ln>
        </p:spPr>
      </p:sp>
      <p:sp>
        <p:nvSpPr>
          <p:cNvPr id="4" name="Text 2"/>
          <p:cNvSpPr/>
          <p:nvPr/>
        </p:nvSpPr>
        <p:spPr>
          <a:xfrm>
            <a:off x="502920" y="210312"/>
            <a:ext cx="6858000" cy="219456"/>
          </a:xfrm>
          <a:prstGeom prst="rect">
            <a:avLst/>
          </a:prstGeom>
          <a:noFill/>
          <a:ln/>
        </p:spPr>
        <p:txBody>
          <a:bodyPr wrap="square" lIns="0" tIns="0" rIns="0" bIns="0" rtlCol="0" anchor="ctr"/>
          <a:lstStyle/>
          <a:p>
            <a:pPr indent="0" marL="0">
              <a:buNone/>
            </a:pPr>
            <a:r>
              <a:rPr lang="en-US" sz="950" b="1" dirty="0">
                <a:solidFill>
                  <a:srgbClr val="3D5A80"/>
                </a:solidFill>
                <a:latin typeface="Aptos" pitchFamily="34" charset="0"/>
                <a:ea typeface="Aptos" pitchFamily="34" charset="-122"/>
                <a:cs typeface="Aptos" pitchFamily="34" charset="-120"/>
              </a:rPr>
              <a:t>8.4.1 Knowledge engineering process</a:t>
            </a:r>
            <a:endParaRPr lang="en-US" sz="950" dirty="0"/>
          </a:p>
        </p:txBody>
      </p:sp>
      <p:sp>
        <p:nvSpPr>
          <p:cNvPr id="5" name="Text 3"/>
          <p:cNvSpPr/>
          <p:nvPr/>
        </p:nvSpPr>
        <p:spPr>
          <a:xfrm>
            <a:off x="11018520" y="201168"/>
            <a:ext cx="640080" cy="228600"/>
          </a:xfrm>
          <a:prstGeom prst="rect">
            <a:avLst/>
          </a:prstGeom>
          <a:noFill/>
          <a:ln/>
        </p:spPr>
        <p:txBody>
          <a:bodyPr wrap="square" lIns="0" tIns="0" rIns="0" bIns="0" rtlCol="0" anchor="ctr"/>
          <a:lstStyle/>
          <a:p>
            <a:pPr algn="r" indent="0" marL="0">
              <a:buNone/>
            </a:pPr>
            <a:r>
              <a:rPr lang="en-US" sz="900" b="1" dirty="0">
                <a:solidFill>
                  <a:srgbClr val="3D5A80"/>
                </a:solidFill>
              </a:rPr>
              <a:t>85</a:t>
            </a:r>
            <a:endParaRPr lang="en-US" sz="900" dirty="0"/>
          </a:p>
        </p:txBody>
      </p:sp>
      <p:sp>
        <p:nvSpPr>
          <p:cNvPr id="6" name="Text 4"/>
          <p:cNvSpPr/>
          <p:nvPr/>
        </p:nvSpPr>
        <p:spPr>
          <a:xfrm>
            <a:off x="502920" y="566928"/>
            <a:ext cx="11201400" cy="512064"/>
          </a:xfrm>
          <a:prstGeom prst="rect">
            <a:avLst/>
          </a:prstGeom>
          <a:noFill/>
          <a:ln/>
        </p:spPr>
        <p:txBody>
          <a:bodyPr wrap="square" lIns="0" tIns="0" rIns="0" bIns="0" rtlCol="0" anchor="ctr">
            <a:normAutofit/>
          </a:bodyPr>
          <a:lstStyle/>
          <a:p>
            <a:pPr indent="0" marL="0">
              <a:buNone/>
            </a:pPr>
            <a:r>
              <a:rPr lang="en-US" sz="2650" b="1" dirty="0">
                <a:solidFill>
                  <a:srgbClr val="005088"/>
                </a:solidFill>
                <a:latin typeface="Aptos Display" pitchFamily="34" charset="0"/>
                <a:ea typeface="Aptos Display" pitchFamily="34" charset="-122"/>
                <a:cs typeface="Aptos Display" pitchFamily="34" charset="-120"/>
              </a:rPr>
              <a:t>STEP 6: POSE QUERIES</a:t>
            </a:r>
            <a:endParaRPr lang="en-US" sz="2650" dirty="0"/>
          </a:p>
        </p:txBody>
      </p:sp>
      <p:sp>
        <p:nvSpPr>
          <p:cNvPr id="7" name="Shape 5"/>
          <p:cNvSpPr/>
          <p:nvPr/>
        </p:nvSpPr>
        <p:spPr>
          <a:xfrm>
            <a:off x="502920" y="1188720"/>
            <a:ext cx="11109960" cy="0"/>
          </a:xfrm>
          <a:prstGeom prst="line">
            <a:avLst/>
          </a:prstGeom>
          <a:noFill/>
          <a:ln w="12700">
            <a:solidFill>
              <a:srgbClr val="3D5A80"/>
            </a:solidFill>
            <a:prstDash val="solid"/>
          </a:ln>
        </p:spPr>
      </p:sp>
      <p:sp>
        <p:nvSpPr>
          <p:cNvPr id="8" name="Text 6"/>
          <p:cNvSpPr/>
          <p:nvPr/>
        </p:nvSpPr>
        <p:spPr>
          <a:xfrm>
            <a:off x="713232" y="1572768"/>
            <a:ext cx="5440680" cy="4251960"/>
          </a:xfrm>
          <a:prstGeom prst="rect">
            <a:avLst/>
          </a:prstGeom>
          <a:noFill/>
          <a:ln/>
        </p:spPr>
        <p:txBody>
          <a:bodyPr wrap="square" lIns="1016" tIns="1016" rIns="1016" bIns="1016" rtlCol="0" anchor="t">
            <a:normAutofit/>
          </a:bodyPr>
          <a:lstStyle/>
          <a:p>
            <a:pPr indent="0" marL="0">
              <a:buNone/>
            </a:pPr>
            <a:r>
              <a:rPr lang="en-US" sz="1650" dirty="0">
                <a:solidFill>
                  <a:srgbClr val="1E293B"/>
                </a:solidFill>
                <a:latin typeface="Aptos" pitchFamily="34" charset="0"/>
                <a:ea typeface="Aptos" pitchFamily="34" charset="-122"/>
                <a:cs typeface="Aptos" pitchFamily="34" charset="-120"/>
              </a:rPr>
              <a:t>• Ask whether a sentence follows</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Ask which objects satisfy a condition</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Use answers to support decisions</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The query should match the original task</a:t>
            </a:r>
            <a:endParaRPr lang="en-US" sz="1650" dirty="0"/>
          </a:p>
        </p:txBody>
      </p:sp>
      <p:sp>
        <p:nvSpPr>
          <p:cNvPr id="9" name="Shape 7"/>
          <p:cNvSpPr/>
          <p:nvPr/>
        </p:nvSpPr>
        <p:spPr>
          <a:xfrm>
            <a:off x="6446520" y="1572768"/>
            <a:ext cx="5074920" cy="1234440"/>
          </a:xfrm>
          <a:prstGeom prst="roundRect">
            <a:avLst>
              <a:gd name="adj" fmla="val 5926"/>
            </a:avLst>
          </a:prstGeom>
          <a:solidFill>
            <a:srgbClr val="FFF6D9"/>
          </a:solidFill>
          <a:ln w="12700">
            <a:solidFill>
              <a:srgbClr val="F4A261"/>
            </a:solidFill>
            <a:prstDash val="solid"/>
          </a:ln>
        </p:spPr>
      </p:sp>
      <p:sp>
        <p:nvSpPr>
          <p:cNvPr id="10" name="Text 8"/>
          <p:cNvSpPr/>
          <p:nvPr/>
        </p:nvSpPr>
        <p:spPr>
          <a:xfrm>
            <a:off x="6629400" y="1709928"/>
            <a:ext cx="4709160" cy="219456"/>
          </a:xfrm>
          <a:prstGeom prst="rect">
            <a:avLst/>
          </a:prstGeom>
          <a:noFill/>
          <a:ln/>
        </p:spPr>
        <p:txBody>
          <a:bodyPr wrap="square" lIns="0" tIns="0" rIns="0" bIns="0" rtlCol="0" anchor="ctr"/>
          <a:lstStyle/>
          <a:p>
            <a:pPr indent="0" marL="0">
              <a:buNone/>
            </a:pPr>
            <a:r>
              <a:rPr lang="en-US" sz="950" b="1" dirty="0">
                <a:solidFill>
                  <a:srgbClr val="B0005D"/>
                </a:solidFill>
              </a:rPr>
              <a:t>ANALOGY</a:t>
            </a:r>
            <a:endParaRPr lang="en-US" sz="950" dirty="0"/>
          </a:p>
        </p:txBody>
      </p:sp>
      <p:sp>
        <p:nvSpPr>
          <p:cNvPr id="11" name="Text 9"/>
          <p:cNvSpPr/>
          <p:nvPr/>
        </p:nvSpPr>
        <p:spPr>
          <a:xfrm>
            <a:off x="6629400" y="1984248"/>
            <a:ext cx="4709160" cy="731520"/>
          </a:xfrm>
          <a:prstGeom prst="rect">
            <a:avLst/>
          </a:prstGeom>
          <a:noFill/>
          <a:ln/>
        </p:spPr>
        <p:txBody>
          <a:bodyPr wrap="square" lIns="254" tIns="254" rIns="254" bIns="254" rtlCol="0" anchor="t">
            <a:normAutofit/>
          </a:bodyPr>
          <a:lstStyle/>
          <a:p>
            <a:pPr indent="0" marL="0">
              <a:buNone/>
            </a:pPr>
            <a:r>
              <a:rPr lang="en-US" sz="1330" dirty="0">
                <a:solidFill>
                  <a:srgbClr val="1E293B"/>
                </a:solidFill>
              </a:rPr>
              <a:t>A database is useful because you can ask targeted questions. A knowledge base is useful when inference can answer them from rules and facts.</a:t>
            </a:r>
            <a:endParaRPr lang="en-US" sz="1330" dirty="0"/>
          </a:p>
        </p:txBody>
      </p:sp>
      <p:sp>
        <p:nvSpPr>
          <p:cNvPr id="12" name="Shape 10"/>
          <p:cNvSpPr/>
          <p:nvPr/>
        </p:nvSpPr>
        <p:spPr>
          <a:xfrm>
            <a:off x="6446520" y="2999232"/>
            <a:ext cx="5074920" cy="841248"/>
          </a:xfrm>
          <a:prstGeom prst="roundRect">
            <a:avLst>
              <a:gd name="adj" fmla="val 8696"/>
            </a:avLst>
          </a:prstGeom>
          <a:solidFill>
            <a:srgbClr val="FFFFFF">
              <a:alpha val="97000"/>
            </a:srgbClr>
          </a:solidFill>
          <a:ln w="12700">
            <a:solidFill>
              <a:srgbClr val="007C89"/>
            </a:solidFill>
            <a:prstDash val="solid"/>
          </a:ln>
        </p:spPr>
      </p:sp>
      <p:sp>
        <p:nvSpPr>
          <p:cNvPr id="13" name="Text 11"/>
          <p:cNvSpPr/>
          <p:nvPr/>
        </p:nvSpPr>
        <p:spPr>
          <a:xfrm>
            <a:off x="6611112" y="3127248"/>
            <a:ext cx="4745736" cy="658368"/>
          </a:xfrm>
          <a:prstGeom prst="rect">
            <a:avLst/>
          </a:prstGeom>
          <a:noFill/>
          <a:ln/>
        </p:spPr>
        <p:txBody>
          <a:bodyPr wrap="square" lIns="0" tIns="0" rIns="0" bIns="0" rtlCol="0" anchor="ctr">
            <a:normAutofit/>
          </a:bodyPr>
          <a:lstStyle/>
          <a:p>
            <a:pPr algn="ctr" indent="0" marL="0">
              <a:buNone/>
            </a:pPr>
            <a:r>
              <a:rPr lang="en-US" sz="1550" b="1" dirty="0">
                <a:solidFill>
                  <a:srgbClr val="005088"/>
                </a:solidFill>
                <a:latin typeface="Cambria Math" pitchFamily="34" charset="0"/>
                <a:ea typeface="Cambria Math" pitchFamily="34" charset="-122"/>
                <a:cs typeface="Cambria Math" pitchFamily="34" charset="-120"/>
              </a:rPr>
              <a:t>Which inputs produce Sum = 0 and Carry = 1?</a:t>
            </a:r>
            <a:endParaRPr lang="en-US" sz="1550" dirty="0"/>
          </a:p>
        </p:txBody>
      </p:sp>
      <p:sp>
        <p:nvSpPr>
          <p:cNvPr id="14" name="Shape 12"/>
          <p:cNvSpPr/>
          <p:nvPr/>
        </p:nvSpPr>
        <p:spPr>
          <a:xfrm>
            <a:off x="6446520" y="4041648"/>
            <a:ext cx="5074920" cy="859536"/>
          </a:xfrm>
          <a:prstGeom prst="roundRect">
            <a:avLst>
              <a:gd name="adj" fmla="val 8511"/>
            </a:avLst>
          </a:prstGeom>
          <a:solidFill>
            <a:srgbClr val="FFE4E6"/>
          </a:solidFill>
          <a:ln w="12700">
            <a:solidFill>
              <a:srgbClr val="FDA4AF"/>
            </a:solidFill>
            <a:prstDash val="solid"/>
          </a:ln>
        </p:spPr>
      </p:sp>
      <p:sp>
        <p:nvSpPr>
          <p:cNvPr id="15" name="Text 13"/>
          <p:cNvSpPr/>
          <p:nvPr/>
        </p:nvSpPr>
        <p:spPr>
          <a:xfrm>
            <a:off x="6629400" y="4178808"/>
            <a:ext cx="4709160" cy="219456"/>
          </a:xfrm>
          <a:prstGeom prst="rect">
            <a:avLst/>
          </a:prstGeom>
          <a:noFill/>
          <a:ln/>
        </p:spPr>
        <p:txBody>
          <a:bodyPr wrap="square" lIns="0" tIns="0" rIns="0" bIns="0" rtlCol="0" anchor="ctr"/>
          <a:lstStyle/>
          <a:p>
            <a:pPr indent="0" marL="0">
              <a:buNone/>
            </a:pPr>
            <a:r>
              <a:rPr lang="en-US" sz="950" b="1" dirty="0">
                <a:solidFill>
                  <a:srgbClr val="C1121F"/>
                </a:solidFill>
              </a:rPr>
              <a:t>STUDENT GOTCHA</a:t>
            </a:r>
            <a:endParaRPr lang="en-US" sz="950" dirty="0"/>
          </a:p>
        </p:txBody>
      </p:sp>
      <p:sp>
        <p:nvSpPr>
          <p:cNvPr id="16" name="Text 14"/>
          <p:cNvSpPr/>
          <p:nvPr/>
        </p:nvSpPr>
        <p:spPr>
          <a:xfrm>
            <a:off x="6629400" y="4453128"/>
            <a:ext cx="4709160" cy="356616"/>
          </a:xfrm>
          <a:prstGeom prst="rect">
            <a:avLst/>
          </a:prstGeom>
          <a:noFill/>
          <a:ln/>
        </p:spPr>
        <p:txBody>
          <a:bodyPr wrap="square" lIns="254" tIns="254" rIns="254" bIns="254" rtlCol="0" anchor="t">
            <a:normAutofit/>
          </a:bodyPr>
          <a:lstStyle/>
          <a:p>
            <a:pPr indent="0" marL="0">
              <a:buNone/>
            </a:pPr>
            <a:r>
              <a:rPr lang="en-US" sz="1250" dirty="0">
                <a:solidFill>
                  <a:srgbClr val="1E293B"/>
                </a:solidFill>
              </a:rPr>
              <a:t>A query may fail because the answer is false, unknown, or not expressible with the chosen vocabulary.</a:t>
            </a:r>
            <a:endParaRPr lang="en-US" sz="1250" dirty="0"/>
          </a:p>
        </p:txBody>
      </p:sp>
      <p:sp>
        <p:nvSpPr>
          <p:cNvPr id="17" name="Shape 15"/>
          <p:cNvSpPr/>
          <p:nvPr/>
        </p:nvSpPr>
        <p:spPr>
          <a:xfrm>
            <a:off x="6446520" y="5074920"/>
            <a:ext cx="5074920" cy="841248"/>
          </a:xfrm>
          <a:prstGeom prst="roundRect">
            <a:avLst>
              <a:gd name="adj" fmla="val 8696"/>
            </a:avLst>
          </a:prstGeom>
          <a:solidFill>
            <a:srgbClr val="E6FFFA"/>
          </a:solidFill>
          <a:ln w="12700">
            <a:solidFill>
              <a:srgbClr val="2A9D8F"/>
            </a:solidFill>
            <a:prstDash val="solid"/>
          </a:ln>
        </p:spPr>
      </p:sp>
      <p:sp>
        <p:nvSpPr>
          <p:cNvPr id="18" name="Text 16"/>
          <p:cNvSpPr/>
          <p:nvPr/>
        </p:nvSpPr>
        <p:spPr>
          <a:xfrm>
            <a:off x="6629400" y="5212080"/>
            <a:ext cx="4709160" cy="219456"/>
          </a:xfrm>
          <a:prstGeom prst="rect">
            <a:avLst/>
          </a:prstGeom>
          <a:noFill/>
          <a:ln/>
        </p:spPr>
        <p:txBody>
          <a:bodyPr wrap="square" lIns="0" tIns="0" rIns="0" bIns="0" rtlCol="0" anchor="ctr"/>
          <a:lstStyle/>
          <a:p>
            <a:pPr indent="0" marL="0">
              <a:buNone/>
            </a:pPr>
            <a:r>
              <a:rPr lang="en-US" sz="950" b="1" dirty="0">
                <a:solidFill>
                  <a:srgbClr val="007C89"/>
                </a:solidFill>
              </a:rPr>
              <a:t>CLASS CHECK</a:t>
            </a:r>
            <a:endParaRPr lang="en-US" sz="950" dirty="0"/>
          </a:p>
        </p:txBody>
      </p:sp>
      <p:sp>
        <p:nvSpPr>
          <p:cNvPr id="19" name="Text 17"/>
          <p:cNvSpPr/>
          <p:nvPr/>
        </p:nvSpPr>
        <p:spPr>
          <a:xfrm>
            <a:off x="6629400" y="5486400"/>
            <a:ext cx="4709160" cy="338328"/>
          </a:xfrm>
          <a:prstGeom prst="rect">
            <a:avLst/>
          </a:prstGeom>
          <a:noFill/>
          <a:ln/>
        </p:spPr>
        <p:txBody>
          <a:bodyPr wrap="square" lIns="254" tIns="254" rIns="254" bIns="254" rtlCol="0" anchor="t">
            <a:normAutofit/>
          </a:bodyPr>
          <a:lstStyle/>
          <a:p>
            <a:pPr indent="0" marL="0">
              <a:buNone/>
            </a:pPr>
            <a:r>
              <a:rPr lang="en-US" sz="1270" dirty="0">
                <a:solidFill>
                  <a:srgbClr val="1E293B"/>
                </a:solidFill>
              </a:rPr>
              <a:t>Ask students to write one query for a campus robot.</a:t>
            </a:r>
            <a:endParaRPr lang="en-US" sz="127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5088"/>
          </a:solidFill>
          <a:ln w="12700">
            <a:solidFill>
              <a:srgbClr val="005088"/>
            </a:solidFill>
            <a:prstDash val="solid"/>
          </a:ln>
        </p:spPr>
      </p:sp>
      <p:sp>
        <p:nvSpPr>
          <p:cNvPr id="3" name="Shape 1"/>
          <p:cNvSpPr/>
          <p:nvPr/>
        </p:nvSpPr>
        <p:spPr>
          <a:xfrm>
            <a:off x="0" y="6729984"/>
            <a:ext cx="12191695" cy="128016"/>
          </a:xfrm>
          <a:prstGeom prst="rect">
            <a:avLst/>
          </a:prstGeom>
          <a:solidFill>
            <a:srgbClr val="005088"/>
          </a:solidFill>
          <a:ln w="12700">
            <a:solidFill>
              <a:srgbClr val="005088"/>
            </a:solidFill>
            <a:prstDash val="solid"/>
          </a:ln>
        </p:spPr>
      </p:sp>
      <p:sp>
        <p:nvSpPr>
          <p:cNvPr id="4" name="Text 2"/>
          <p:cNvSpPr/>
          <p:nvPr/>
        </p:nvSpPr>
        <p:spPr>
          <a:xfrm>
            <a:off x="502920" y="210312"/>
            <a:ext cx="6858000" cy="219456"/>
          </a:xfrm>
          <a:prstGeom prst="rect">
            <a:avLst/>
          </a:prstGeom>
          <a:noFill/>
          <a:ln/>
        </p:spPr>
        <p:txBody>
          <a:bodyPr wrap="square" lIns="0" tIns="0" rIns="0" bIns="0" rtlCol="0" anchor="ctr"/>
          <a:lstStyle/>
          <a:p>
            <a:pPr indent="0" marL="0">
              <a:buNone/>
            </a:pPr>
            <a:r>
              <a:rPr lang="en-US" sz="950" b="1" dirty="0">
                <a:solidFill>
                  <a:srgbClr val="3D5A80"/>
                </a:solidFill>
                <a:latin typeface="Aptos" pitchFamily="34" charset="0"/>
                <a:ea typeface="Aptos" pitchFamily="34" charset="-122"/>
                <a:cs typeface="Aptos" pitchFamily="34" charset="-120"/>
              </a:rPr>
              <a:t>8.4.1 Knowledge engineering process</a:t>
            </a:r>
            <a:endParaRPr lang="en-US" sz="950" dirty="0"/>
          </a:p>
        </p:txBody>
      </p:sp>
      <p:sp>
        <p:nvSpPr>
          <p:cNvPr id="5" name="Text 3"/>
          <p:cNvSpPr/>
          <p:nvPr/>
        </p:nvSpPr>
        <p:spPr>
          <a:xfrm>
            <a:off x="11018520" y="201168"/>
            <a:ext cx="640080" cy="228600"/>
          </a:xfrm>
          <a:prstGeom prst="rect">
            <a:avLst/>
          </a:prstGeom>
          <a:noFill/>
          <a:ln/>
        </p:spPr>
        <p:txBody>
          <a:bodyPr wrap="square" lIns="0" tIns="0" rIns="0" bIns="0" rtlCol="0" anchor="ctr"/>
          <a:lstStyle/>
          <a:p>
            <a:pPr algn="r" indent="0" marL="0">
              <a:buNone/>
            </a:pPr>
            <a:r>
              <a:rPr lang="en-US" sz="900" b="1" dirty="0">
                <a:solidFill>
                  <a:srgbClr val="3D5A80"/>
                </a:solidFill>
              </a:rPr>
              <a:t>86</a:t>
            </a:r>
            <a:endParaRPr lang="en-US" sz="900" dirty="0"/>
          </a:p>
        </p:txBody>
      </p:sp>
      <p:sp>
        <p:nvSpPr>
          <p:cNvPr id="6" name="Text 4"/>
          <p:cNvSpPr/>
          <p:nvPr/>
        </p:nvSpPr>
        <p:spPr>
          <a:xfrm>
            <a:off x="502920" y="566928"/>
            <a:ext cx="11201400" cy="512064"/>
          </a:xfrm>
          <a:prstGeom prst="rect">
            <a:avLst/>
          </a:prstGeom>
          <a:noFill/>
          <a:ln/>
        </p:spPr>
        <p:txBody>
          <a:bodyPr wrap="square" lIns="0" tIns="0" rIns="0" bIns="0" rtlCol="0" anchor="ctr">
            <a:normAutofit/>
          </a:bodyPr>
          <a:lstStyle/>
          <a:p>
            <a:pPr indent="0" marL="0">
              <a:buNone/>
            </a:pPr>
            <a:r>
              <a:rPr lang="en-US" sz="2650" b="1" dirty="0">
                <a:solidFill>
                  <a:srgbClr val="005088"/>
                </a:solidFill>
                <a:latin typeface="Aptos Display" pitchFamily="34" charset="0"/>
                <a:ea typeface="Aptos Display" pitchFamily="34" charset="-122"/>
                <a:cs typeface="Aptos Display" pitchFamily="34" charset="-120"/>
              </a:rPr>
              <a:t>STEP 7: DEBUG AND EVALUATE</a:t>
            </a:r>
            <a:endParaRPr lang="en-US" sz="2650" dirty="0"/>
          </a:p>
        </p:txBody>
      </p:sp>
      <p:sp>
        <p:nvSpPr>
          <p:cNvPr id="7" name="Shape 5"/>
          <p:cNvSpPr/>
          <p:nvPr/>
        </p:nvSpPr>
        <p:spPr>
          <a:xfrm>
            <a:off x="502920" y="1188720"/>
            <a:ext cx="11109960" cy="0"/>
          </a:xfrm>
          <a:prstGeom prst="line">
            <a:avLst/>
          </a:prstGeom>
          <a:noFill/>
          <a:ln w="12700">
            <a:solidFill>
              <a:srgbClr val="3D5A80"/>
            </a:solidFill>
            <a:prstDash val="solid"/>
          </a:ln>
        </p:spPr>
      </p:sp>
      <p:sp>
        <p:nvSpPr>
          <p:cNvPr id="8" name="Text 6"/>
          <p:cNvSpPr/>
          <p:nvPr/>
        </p:nvSpPr>
        <p:spPr>
          <a:xfrm>
            <a:off x="713232" y="1572768"/>
            <a:ext cx="5440680" cy="4251960"/>
          </a:xfrm>
          <a:prstGeom prst="rect">
            <a:avLst/>
          </a:prstGeom>
          <a:noFill/>
          <a:ln/>
        </p:spPr>
        <p:txBody>
          <a:bodyPr wrap="square" lIns="1016" tIns="1016" rIns="1016" bIns="1016" rtlCol="0" anchor="t">
            <a:normAutofit/>
          </a:bodyPr>
          <a:lstStyle/>
          <a:p>
            <a:pPr indent="0" marL="0">
              <a:buNone/>
            </a:pPr>
            <a:r>
              <a:rPr lang="en-US" sz="1650" dirty="0">
                <a:solidFill>
                  <a:srgbClr val="1E293B"/>
                </a:solidFill>
                <a:latin typeface="Aptos" pitchFamily="34" charset="0"/>
                <a:ea typeface="Aptos" pitchFamily="34" charset="-122"/>
                <a:cs typeface="Aptos" pitchFamily="34" charset="-120"/>
              </a:rPr>
              <a:t>• Unexpected answers reveal modeling problems</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Missing axioms stop reasoning chains</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Incorrect axioms produce confident wrong answers</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Use a test suite of queries</a:t>
            </a:r>
            <a:endParaRPr lang="en-US" sz="1650" dirty="0"/>
          </a:p>
        </p:txBody>
      </p:sp>
      <p:sp>
        <p:nvSpPr>
          <p:cNvPr id="9" name="Shape 7"/>
          <p:cNvSpPr/>
          <p:nvPr/>
        </p:nvSpPr>
        <p:spPr>
          <a:xfrm>
            <a:off x="6446520" y="1572768"/>
            <a:ext cx="5074920" cy="1234440"/>
          </a:xfrm>
          <a:prstGeom prst="roundRect">
            <a:avLst>
              <a:gd name="adj" fmla="val 5926"/>
            </a:avLst>
          </a:prstGeom>
          <a:solidFill>
            <a:srgbClr val="FFF6D9"/>
          </a:solidFill>
          <a:ln w="12700">
            <a:solidFill>
              <a:srgbClr val="F4A261"/>
            </a:solidFill>
            <a:prstDash val="solid"/>
          </a:ln>
        </p:spPr>
      </p:sp>
      <p:sp>
        <p:nvSpPr>
          <p:cNvPr id="10" name="Text 8"/>
          <p:cNvSpPr/>
          <p:nvPr/>
        </p:nvSpPr>
        <p:spPr>
          <a:xfrm>
            <a:off x="6629400" y="1709928"/>
            <a:ext cx="4709160" cy="219456"/>
          </a:xfrm>
          <a:prstGeom prst="rect">
            <a:avLst/>
          </a:prstGeom>
          <a:noFill/>
          <a:ln/>
        </p:spPr>
        <p:txBody>
          <a:bodyPr wrap="square" lIns="0" tIns="0" rIns="0" bIns="0" rtlCol="0" anchor="ctr"/>
          <a:lstStyle/>
          <a:p>
            <a:pPr indent="0" marL="0">
              <a:buNone/>
            </a:pPr>
            <a:r>
              <a:rPr lang="en-US" sz="950" b="1" dirty="0">
                <a:solidFill>
                  <a:srgbClr val="B0005D"/>
                </a:solidFill>
              </a:rPr>
              <a:t>ANALOGY</a:t>
            </a:r>
            <a:endParaRPr lang="en-US" sz="950" dirty="0"/>
          </a:p>
        </p:txBody>
      </p:sp>
      <p:sp>
        <p:nvSpPr>
          <p:cNvPr id="11" name="Text 9"/>
          <p:cNvSpPr/>
          <p:nvPr/>
        </p:nvSpPr>
        <p:spPr>
          <a:xfrm>
            <a:off x="6629400" y="1984248"/>
            <a:ext cx="4709160" cy="731520"/>
          </a:xfrm>
          <a:prstGeom prst="rect">
            <a:avLst/>
          </a:prstGeom>
          <a:noFill/>
          <a:ln/>
        </p:spPr>
        <p:txBody>
          <a:bodyPr wrap="square" lIns="254" tIns="254" rIns="254" bIns="254" rtlCol="0" anchor="t">
            <a:normAutofit/>
          </a:bodyPr>
          <a:lstStyle/>
          <a:p>
            <a:pPr indent="0" marL="0">
              <a:buNone/>
            </a:pPr>
            <a:r>
              <a:rPr lang="en-US" sz="1330" dirty="0">
                <a:solidFill>
                  <a:srgbClr val="1E293B"/>
                </a:solidFill>
              </a:rPr>
              <a:t>Debugging a knowledge base is like debugging a legal contract: the text may be valid but still not say what you intended.</a:t>
            </a:r>
            <a:endParaRPr lang="en-US" sz="1330" dirty="0"/>
          </a:p>
        </p:txBody>
      </p:sp>
      <p:sp>
        <p:nvSpPr>
          <p:cNvPr id="12" name="Shape 10"/>
          <p:cNvSpPr/>
          <p:nvPr/>
        </p:nvSpPr>
        <p:spPr>
          <a:xfrm>
            <a:off x="6446520" y="2999232"/>
            <a:ext cx="5074920" cy="841248"/>
          </a:xfrm>
          <a:prstGeom prst="roundRect">
            <a:avLst>
              <a:gd name="adj" fmla="val 8696"/>
            </a:avLst>
          </a:prstGeom>
          <a:solidFill>
            <a:srgbClr val="FFFFFF">
              <a:alpha val="97000"/>
            </a:srgbClr>
          </a:solidFill>
          <a:ln w="12700">
            <a:solidFill>
              <a:srgbClr val="007C89"/>
            </a:solidFill>
            <a:prstDash val="solid"/>
          </a:ln>
        </p:spPr>
      </p:sp>
      <p:sp>
        <p:nvSpPr>
          <p:cNvPr id="13" name="Text 11"/>
          <p:cNvSpPr/>
          <p:nvPr/>
        </p:nvSpPr>
        <p:spPr>
          <a:xfrm>
            <a:off x="6611112" y="3127248"/>
            <a:ext cx="4745736" cy="658368"/>
          </a:xfrm>
          <a:prstGeom prst="rect">
            <a:avLst/>
          </a:prstGeom>
          <a:noFill/>
          <a:ln/>
        </p:spPr>
        <p:txBody>
          <a:bodyPr wrap="square" lIns="0" tIns="0" rIns="0" bIns="0" rtlCol="0" anchor="ctr">
            <a:normAutofit/>
          </a:bodyPr>
          <a:lstStyle/>
          <a:p>
            <a:pPr algn="ctr" indent="0" marL="0">
              <a:buNone/>
            </a:pPr>
            <a:r>
              <a:rPr lang="en-US" sz="1800" b="1" dirty="0">
                <a:solidFill>
                  <a:srgbClr val="005088"/>
                </a:solidFill>
                <a:latin typeface="Cambria Math" pitchFamily="34" charset="0"/>
                <a:ea typeface="Cambria Math" pitchFamily="34" charset="-122"/>
                <a:cs typeface="Cambria Math" pitchFamily="34" charset="-120"/>
              </a:rPr>
              <a:t>test queries expose missing assumptions</a:t>
            </a:r>
            <a:endParaRPr lang="en-US" sz="1800" dirty="0"/>
          </a:p>
        </p:txBody>
      </p:sp>
      <p:sp>
        <p:nvSpPr>
          <p:cNvPr id="14" name="Shape 12"/>
          <p:cNvSpPr/>
          <p:nvPr/>
        </p:nvSpPr>
        <p:spPr>
          <a:xfrm>
            <a:off x="6446520" y="4041648"/>
            <a:ext cx="5074920" cy="859536"/>
          </a:xfrm>
          <a:prstGeom prst="roundRect">
            <a:avLst>
              <a:gd name="adj" fmla="val 8511"/>
            </a:avLst>
          </a:prstGeom>
          <a:solidFill>
            <a:srgbClr val="FFE4E6"/>
          </a:solidFill>
          <a:ln w="12700">
            <a:solidFill>
              <a:srgbClr val="FDA4AF"/>
            </a:solidFill>
            <a:prstDash val="solid"/>
          </a:ln>
        </p:spPr>
      </p:sp>
      <p:sp>
        <p:nvSpPr>
          <p:cNvPr id="15" name="Text 13"/>
          <p:cNvSpPr/>
          <p:nvPr/>
        </p:nvSpPr>
        <p:spPr>
          <a:xfrm>
            <a:off x="6629400" y="4178808"/>
            <a:ext cx="4709160" cy="219456"/>
          </a:xfrm>
          <a:prstGeom prst="rect">
            <a:avLst/>
          </a:prstGeom>
          <a:noFill/>
          <a:ln/>
        </p:spPr>
        <p:txBody>
          <a:bodyPr wrap="square" lIns="0" tIns="0" rIns="0" bIns="0" rtlCol="0" anchor="ctr"/>
          <a:lstStyle/>
          <a:p>
            <a:pPr indent="0" marL="0">
              <a:buNone/>
            </a:pPr>
            <a:r>
              <a:rPr lang="en-US" sz="950" b="1" dirty="0">
                <a:solidFill>
                  <a:srgbClr val="C1121F"/>
                </a:solidFill>
              </a:rPr>
              <a:t>STUDENT GOTCHA</a:t>
            </a:r>
            <a:endParaRPr lang="en-US" sz="950" dirty="0"/>
          </a:p>
        </p:txBody>
      </p:sp>
      <p:sp>
        <p:nvSpPr>
          <p:cNvPr id="16" name="Text 14"/>
          <p:cNvSpPr/>
          <p:nvPr/>
        </p:nvSpPr>
        <p:spPr>
          <a:xfrm>
            <a:off x="6629400" y="4453128"/>
            <a:ext cx="4709160" cy="356616"/>
          </a:xfrm>
          <a:prstGeom prst="rect">
            <a:avLst/>
          </a:prstGeom>
          <a:noFill/>
          <a:ln/>
        </p:spPr>
        <p:txBody>
          <a:bodyPr wrap="square" lIns="254" tIns="254" rIns="254" bIns="254" rtlCol="0" anchor="t">
            <a:normAutofit/>
          </a:bodyPr>
          <a:lstStyle/>
          <a:p>
            <a:pPr indent="0" marL="0">
              <a:buNone/>
            </a:pPr>
            <a:r>
              <a:rPr lang="en-US" sz="1250" dirty="0">
                <a:solidFill>
                  <a:srgbClr val="1E293B"/>
                </a:solidFill>
              </a:rPr>
              <a:t>No obvious errors is not the same as correctness.</a:t>
            </a:r>
            <a:endParaRPr lang="en-US" sz="1250" dirty="0"/>
          </a:p>
        </p:txBody>
      </p:sp>
      <p:sp>
        <p:nvSpPr>
          <p:cNvPr id="17" name="Shape 15"/>
          <p:cNvSpPr/>
          <p:nvPr/>
        </p:nvSpPr>
        <p:spPr>
          <a:xfrm>
            <a:off x="6446520" y="5074920"/>
            <a:ext cx="5074920" cy="841248"/>
          </a:xfrm>
          <a:prstGeom prst="roundRect">
            <a:avLst>
              <a:gd name="adj" fmla="val 8696"/>
            </a:avLst>
          </a:prstGeom>
          <a:solidFill>
            <a:srgbClr val="E6FFFA"/>
          </a:solidFill>
          <a:ln w="12700">
            <a:solidFill>
              <a:srgbClr val="2A9D8F"/>
            </a:solidFill>
            <a:prstDash val="solid"/>
          </a:ln>
        </p:spPr>
      </p:sp>
      <p:sp>
        <p:nvSpPr>
          <p:cNvPr id="18" name="Text 16"/>
          <p:cNvSpPr/>
          <p:nvPr/>
        </p:nvSpPr>
        <p:spPr>
          <a:xfrm>
            <a:off x="6629400" y="5212080"/>
            <a:ext cx="4709160" cy="219456"/>
          </a:xfrm>
          <a:prstGeom prst="rect">
            <a:avLst/>
          </a:prstGeom>
          <a:noFill/>
          <a:ln/>
        </p:spPr>
        <p:txBody>
          <a:bodyPr wrap="square" lIns="0" tIns="0" rIns="0" bIns="0" rtlCol="0" anchor="ctr"/>
          <a:lstStyle/>
          <a:p>
            <a:pPr indent="0" marL="0">
              <a:buNone/>
            </a:pPr>
            <a:r>
              <a:rPr lang="en-US" sz="950" b="1" dirty="0">
                <a:solidFill>
                  <a:srgbClr val="007C89"/>
                </a:solidFill>
              </a:rPr>
              <a:t>CLASS CHECK</a:t>
            </a:r>
            <a:endParaRPr lang="en-US" sz="950" dirty="0"/>
          </a:p>
        </p:txBody>
      </p:sp>
      <p:sp>
        <p:nvSpPr>
          <p:cNvPr id="19" name="Text 17"/>
          <p:cNvSpPr/>
          <p:nvPr/>
        </p:nvSpPr>
        <p:spPr>
          <a:xfrm>
            <a:off x="6629400" y="5486400"/>
            <a:ext cx="4709160" cy="338328"/>
          </a:xfrm>
          <a:prstGeom prst="rect">
            <a:avLst/>
          </a:prstGeom>
          <a:noFill/>
          <a:ln/>
        </p:spPr>
        <p:txBody>
          <a:bodyPr wrap="square" lIns="254" tIns="254" rIns="254" bIns="254" rtlCol="0" anchor="t">
            <a:normAutofit/>
          </a:bodyPr>
          <a:lstStyle/>
          <a:p>
            <a:pPr indent="0" marL="0">
              <a:buNone/>
            </a:pPr>
            <a:r>
              <a:rPr lang="en-US" sz="1270" dirty="0">
                <a:solidFill>
                  <a:srgbClr val="1E293B"/>
                </a:solidFill>
              </a:rPr>
              <a:t>Ask students to design one positive test and one negative test for Wumpus safety.</a:t>
            </a:r>
            <a:endParaRPr lang="en-US" sz="127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005088"/>
        </a:solidFill>
      </p:bgPr>
    </p:bg>
    <p:spTree>
      <p:nvGrpSpPr>
        <p:cNvPr id="1" name=""/>
        <p:cNvGrpSpPr/>
        <p:nvPr/>
      </p:nvGrpSpPr>
      <p:grpSpPr>
        <a:xfrm>
          <a:off x="0" y="0"/>
          <a:ext cx="0" cy="0"/>
          <a:chOff x="0" y="0"/>
          <a:chExt cx="0" cy="0"/>
        </a:xfrm>
      </p:grpSpPr>
      <p:sp>
        <p:nvSpPr>
          <p:cNvPr id="2" name="Text 0"/>
          <p:cNvSpPr/>
          <p:nvPr/>
        </p:nvSpPr>
        <p:spPr>
          <a:xfrm>
            <a:off x="685800" y="502920"/>
            <a:ext cx="2194560" cy="320040"/>
          </a:xfrm>
          <a:prstGeom prst="rect">
            <a:avLst/>
          </a:prstGeom>
          <a:noFill/>
          <a:ln/>
        </p:spPr>
        <p:txBody>
          <a:bodyPr wrap="square" lIns="0" tIns="0" rIns="0" bIns="0" rtlCol="0" anchor="ctr"/>
          <a:lstStyle/>
          <a:p>
            <a:pPr indent="0" marL="0">
              <a:buNone/>
            </a:pPr>
            <a:r>
              <a:rPr lang="en-US" sz="1600" b="1" dirty="0">
                <a:solidFill>
                  <a:srgbClr val="A5F3FC"/>
                </a:solidFill>
              </a:rPr>
              <a:t>Computer Science 469</a:t>
            </a:r>
            <a:endParaRPr lang="en-US" sz="1600" dirty="0"/>
          </a:p>
        </p:txBody>
      </p:sp>
      <p:sp>
        <p:nvSpPr>
          <p:cNvPr id="3" name="Text 1"/>
          <p:cNvSpPr/>
          <p:nvPr/>
        </p:nvSpPr>
        <p:spPr>
          <a:xfrm>
            <a:off x="685800" y="850392"/>
            <a:ext cx="2194560" cy="274320"/>
          </a:xfrm>
          <a:prstGeom prst="rect">
            <a:avLst/>
          </a:prstGeom>
          <a:noFill/>
          <a:ln/>
        </p:spPr>
        <p:txBody>
          <a:bodyPr wrap="square" lIns="0" tIns="0" rIns="0" bIns="0" rtlCol="0" anchor="ctr"/>
          <a:lstStyle/>
          <a:p>
            <a:pPr indent="0" marL="0">
              <a:buNone/>
            </a:pPr>
            <a:r>
              <a:rPr lang="en-US" sz="1200" dirty="0">
                <a:solidFill>
                  <a:srgbClr val="D9F99D"/>
                </a:solidFill>
              </a:rPr>
              <a:t>Chapter 8</a:t>
            </a:r>
            <a:endParaRPr lang="en-US" sz="1200" dirty="0"/>
          </a:p>
        </p:txBody>
      </p:sp>
      <p:sp>
        <p:nvSpPr>
          <p:cNvPr id="4" name="Text 2"/>
          <p:cNvSpPr/>
          <p:nvPr/>
        </p:nvSpPr>
        <p:spPr>
          <a:xfrm>
            <a:off x="685800" y="1901952"/>
            <a:ext cx="10744200" cy="896112"/>
          </a:xfrm>
          <a:prstGeom prst="rect">
            <a:avLst/>
          </a:prstGeom>
          <a:noFill/>
          <a:ln/>
        </p:spPr>
        <p:txBody>
          <a:bodyPr wrap="square" lIns="0" tIns="0" rIns="0" bIns="0" rtlCol="0" anchor="ctr">
            <a:normAutofit/>
          </a:bodyPr>
          <a:lstStyle/>
          <a:p>
            <a:pPr indent="0" marL="0">
              <a:buNone/>
            </a:pPr>
            <a:r>
              <a:rPr lang="en-US" sz="4200" b="1" dirty="0">
                <a:solidFill>
                  <a:srgbClr val="F4F1DE"/>
                </a:solidFill>
              </a:rPr>
              <a:t>8.4.2 Electronic Circuits Domain</a:t>
            </a:r>
            <a:endParaRPr lang="en-US" sz="4200" dirty="0"/>
          </a:p>
        </p:txBody>
      </p:sp>
      <p:sp>
        <p:nvSpPr>
          <p:cNvPr id="5" name="Text 3"/>
          <p:cNvSpPr/>
          <p:nvPr/>
        </p:nvSpPr>
        <p:spPr>
          <a:xfrm>
            <a:off x="713232" y="2880360"/>
            <a:ext cx="10424160" cy="429768"/>
          </a:xfrm>
          <a:prstGeom prst="rect">
            <a:avLst/>
          </a:prstGeom>
          <a:noFill/>
          <a:ln/>
        </p:spPr>
        <p:txBody>
          <a:bodyPr wrap="square" lIns="0" tIns="0" rIns="0" bIns="0" rtlCol="0" anchor="ctr">
            <a:normAutofit/>
          </a:bodyPr>
          <a:lstStyle/>
          <a:p>
            <a:pPr indent="0" marL="0">
              <a:buNone/>
            </a:pPr>
            <a:r>
              <a:rPr lang="en-US" sz="1900" dirty="0">
                <a:solidFill>
                  <a:srgbClr val="D9F99D"/>
                </a:solidFill>
              </a:rPr>
              <a:t>A worked example: reasoning about a one-bit full adder</a:t>
            </a:r>
            <a:endParaRPr lang="en-US" sz="1900" dirty="0"/>
          </a:p>
        </p:txBody>
      </p:sp>
      <p:sp>
        <p:nvSpPr>
          <p:cNvPr id="6" name="Shape 4"/>
          <p:cNvSpPr/>
          <p:nvPr/>
        </p:nvSpPr>
        <p:spPr>
          <a:xfrm>
            <a:off x="713232" y="3529584"/>
            <a:ext cx="2194560" cy="54864"/>
          </a:xfrm>
          <a:prstGeom prst="rect">
            <a:avLst/>
          </a:prstGeom>
          <a:solidFill>
            <a:srgbClr val="D9F99D"/>
          </a:solidFill>
          <a:ln w="12700">
            <a:solidFill>
              <a:srgbClr val="D9F99D"/>
            </a:solidFill>
            <a:prstDash val="solid"/>
          </a:ln>
        </p:spPr>
      </p:sp>
      <p:sp>
        <p:nvSpPr>
          <p:cNvPr id="7" name="Shape 5"/>
          <p:cNvSpPr/>
          <p:nvPr/>
        </p:nvSpPr>
        <p:spPr>
          <a:xfrm>
            <a:off x="713232" y="3950208"/>
            <a:ext cx="10652760" cy="1005840"/>
          </a:xfrm>
          <a:prstGeom prst="roundRect">
            <a:avLst>
              <a:gd name="adj" fmla="val 7273"/>
            </a:avLst>
          </a:prstGeom>
          <a:solidFill>
            <a:srgbClr val="073B4C"/>
          </a:solidFill>
          <a:ln w="12700">
            <a:solidFill>
              <a:srgbClr val="A5F3FC"/>
            </a:solidFill>
            <a:prstDash val="solid"/>
          </a:ln>
        </p:spPr>
      </p:sp>
      <p:sp>
        <p:nvSpPr>
          <p:cNvPr id="8" name="Text 6"/>
          <p:cNvSpPr/>
          <p:nvPr/>
        </p:nvSpPr>
        <p:spPr>
          <a:xfrm>
            <a:off x="896112" y="4087368"/>
            <a:ext cx="10287000" cy="219456"/>
          </a:xfrm>
          <a:prstGeom prst="rect">
            <a:avLst/>
          </a:prstGeom>
          <a:noFill/>
          <a:ln/>
        </p:spPr>
        <p:txBody>
          <a:bodyPr wrap="square" lIns="0" tIns="0" rIns="0" bIns="0" rtlCol="0" anchor="ctr"/>
          <a:lstStyle/>
          <a:p>
            <a:pPr indent="0" marL="0">
              <a:buNone/>
            </a:pPr>
            <a:r>
              <a:rPr lang="en-US" sz="950" b="1" dirty="0">
                <a:solidFill>
                  <a:srgbClr val="A5F3FC"/>
                </a:solidFill>
              </a:rPr>
              <a:t>INSTRUCTOR CUE</a:t>
            </a:r>
            <a:endParaRPr lang="en-US" sz="950" dirty="0"/>
          </a:p>
        </p:txBody>
      </p:sp>
      <p:sp>
        <p:nvSpPr>
          <p:cNvPr id="9" name="Text 7"/>
          <p:cNvSpPr/>
          <p:nvPr/>
        </p:nvSpPr>
        <p:spPr>
          <a:xfrm>
            <a:off x="896112" y="4361688"/>
            <a:ext cx="10287000" cy="502920"/>
          </a:xfrm>
          <a:prstGeom prst="rect">
            <a:avLst/>
          </a:prstGeom>
          <a:noFill/>
          <a:ln/>
        </p:spPr>
        <p:txBody>
          <a:bodyPr wrap="square" lIns="254" tIns="254" rIns="254" bIns="254" rtlCol="0" anchor="t">
            <a:normAutofit/>
          </a:bodyPr>
          <a:lstStyle/>
          <a:p>
            <a:pPr indent="0" marL="0">
              <a:buNone/>
            </a:pPr>
            <a:r>
              <a:rPr lang="en-US" sz="1500" dirty="0">
                <a:solidFill>
                  <a:srgbClr val="FFFFFF"/>
                </a:solidFill>
              </a:rPr>
              <a:t>Tell students they do not need an electrical engineering background. The circuit is a clean example because it has parts, connections, and truth-functional behavior.</a:t>
            </a:r>
            <a:endParaRPr lang="en-US" sz="1500" dirty="0"/>
          </a:p>
        </p:txBody>
      </p:sp>
      <p:sp>
        <p:nvSpPr>
          <p:cNvPr id="10" name="Text 8"/>
          <p:cNvSpPr/>
          <p:nvPr/>
        </p:nvSpPr>
        <p:spPr>
          <a:xfrm>
            <a:off x="11018520" y="6172200"/>
            <a:ext cx="548640" cy="274320"/>
          </a:xfrm>
          <a:prstGeom prst="rect">
            <a:avLst/>
          </a:prstGeom>
          <a:noFill/>
          <a:ln/>
        </p:spPr>
        <p:txBody>
          <a:bodyPr wrap="square" lIns="0" tIns="0" rIns="0" bIns="0" rtlCol="0" anchor="ctr"/>
          <a:lstStyle/>
          <a:p>
            <a:pPr algn="r" indent="0" marL="0">
              <a:buNone/>
            </a:pPr>
            <a:r>
              <a:rPr lang="en-US" sz="1200" b="1" dirty="0">
                <a:solidFill>
                  <a:srgbClr val="D9F99D"/>
                </a:solidFill>
              </a:rPr>
              <a:t>87</a:t>
            </a:r>
            <a:endParaRPr lang="en-US" sz="120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5088"/>
          </a:solidFill>
          <a:ln w="12700">
            <a:solidFill>
              <a:srgbClr val="005088"/>
            </a:solidFill>
            <a:prstDash val="solid"/>
          </a:ln>
        </p:spPr>
      </p:sp>
      <p:sp>
        <p:nvSpPr>
          <p:cNvPr id="3" name="Shape 1"/>
          <p:cNvSpPr/>
          <p:nvPr/>
        </p:nvSpPr>
        <p:spPr>
          <a:xfrm>
            <a:off x="0" y="6729984"/>
            <a:ext cx="12191695" cy="128016"/>
          </a:xfrm>
          <a:prstGeom prst="rect">
            <a:avLst/>
          </a:prstGeom>
          <a:solidFill>
            <a:srgbClr val="005088"/>
          </a:solidFill>
          <a:ln w="12700">
            <a:solidFill>
              <a:srgbClr val="005088"/>
            </a:solidFill>
            <a:prstDash val="solid"/>
          </a:ln>
        </p:spPr>
      </p:sp>
      <p:sp>
        <p:nvSpPr>
          <p:cNvPr id="4" name="Text 2"/>
          <p:cNvSpPr/>
          <p:nvPr/>
        </p:nvSpPr>
        <p:spPr>
          <a:xfrm>
            <a:off x="502920" y="210312"/>
            <a:ext cx="6858000" cy="219456"/>
          </a:xfrm>
          <a:prstGeom prst="rect">
            <a:avLst/>
          </a:prstGeom>
          <a:noFill/>
          <a:ln/>
        </p:spPr>
        <p:txBody>
          <a:bodyPr wrap="square" lIns="0" tIns="0" rIns="0" bIns="0" rtlCol="0" anchor="ctr"/>
          <a:lstStyle/>
          <a:p>
            <a:pPr indent="0" marL="0">
              <a:buNone/>
            </a:pPr>
            <a:r>
              <a:rPr lang="en-US" sz="950" b="1" dirty="0">
                <a:solidFill>
                  <a:srgbClr val="3D5A80"/>
                </a:solidFill>
                <a:latin typeface="Aptos" pitchFamily="34" charset="0"/>
                <a:ea typeface="Aptos" pitchFamily="34" charset="-122"/>
                <a:cs typeface="Aptos" pitchFamily="34" charset="-120"/>
              </a:rPr>
              <a:t>8.4.2 Electronic Circuits Domain</a:t>
            </a:r>
            <a:endParaRPr lang="en-US" sz="950" dirty="0"/>
          </a:p>
        </p:txBody>
      </p:sp>
      <p:sp>
        <p:nvSpPr>
          <p:cNvPr id="5" name="Text 3"/>
          <p:cNvSpPr/>
          <p:nvPr/>
        </p:nvSpPr>
        <p:spPr>
          <a:xfrm>
            <a:off x="11018520" y="201168"/>
            <a:ext cx="640080" cy="228600"/>
          </a:xfrm>
          <a:prstGeom prst="rect">
            <a:avLst/>
          </a:prstGeom>
          <a:noFill/>
          <a:ln/>
        </p:spPr>
        <p:txBody>
          <a:bodyPr wrap="square" lIns="0" tIns="0" rIns="0" bIns="0" rtlCol="0" anchor="ctr"/>
          <a:lstStyle/>
          <a:p>
            <a:pPr algn="r" indent="0" marL="0">
              <a:buNone/>
            </a:pPr>
            <a:r>
              <a:rPr lang="en-US" sz="900" b="1" dirty="0">
                <a:solidFill>
                  <a:srgbClr val="3D5A80"/>
                </a:solidFill>
              </a:rPr>
              <a:t>88</a:t>
            </a:r>
            <a:endParaRPr lang="en-US" sz="900" dirty="0"/>
          </a:p>
        </p:txBody>
      </p:sp>
      <p:sp>
        <p:nvSpPr>
          <p:cNvPr id="6" name="Text 4"/>
          <p:cNvSpPr/>
          <p:nvPr/>
        </p:nvSpPr>
        <p:spPr>
          <a:xfrm>
            <a:off x="502920" y="566928"/>
            <a:ext cx="11201400" cy="512064"/>
          </a:xfrm>
          <a:prstGeom prst="rect">
            <a:avLst/>
          </a:prstGeom>
          <a:noFill/>
          <a:ln/>
        </p:spPr>
        <p:txBody>
          <a:bodyPr wrap="square" lIns="0" tIns="0" rIns="0" bIns="0" rtlCol="0" anchor="ctr">
            <a:normAutofit/>
          </a:bodyPr>
          <a:lstStyle/>
          <a:p>
            <a:pPr indent="0" marL="0">
              <a:buNone/>
            </a:pPr>
            <a:r>
              <a:rPr lang="en-US" sz="2650" b="1" dirty="0">
                <a:solidFill>
                  <a:srgbClr val="005088"/>
                </a:solidFill>
                <a:latin typeface="Aptos Display" pitchFamily="34" charset="0"/>
                <a:ea typeface="Aptos Display" pitchFamily="34" charset="-122"/>
                <a:cs typeface="Aptos Display" pitchFamily="34" charset="-120"/>
              </a:rPr>
              <a:t>ONE-BIT FULL ADDER CIRCUIT</a:t>
            </a:r>
            <a:endParaRPr lang="en-US" sz="2650" dirty="0"/>
          </a:p>
        </p:txBody>
      </p:sp>
      <p:sp>
        <p:nvSpPr>
          <p:cNvPr id="7" name="Shape 5"/>
          <p:cNvSpPr/>
          <p:nvPr/>
        </p:nvSpPr>
        <p:spPr>
          <a:xfrm>
            <a:off x="502920" y="1188720"/>
            <a:ext cx="11109960" cy="0"/>
          </a:xfrm>
          <a:prstGeom prst="line">
            <a:avLst/>
          </a:prstGeom>
          <a:noFill/>
          <a:ln w="12700">
            <a:solidFill>
              <a:srgbClr val="3D5A80"/>
            </a:solidFill>
            <a:prstDash val="solid"/>
          </a:ln>
        </p:spPr>
      </p:sp>
      <p:sp>
        <p:nvSpPr>
          <p:cNvPr id="8" name="Text 6"/>
          <p:cNvSpPr/>
          <p:nvPr/>
        </p:nvSpPr>
        <p:spPr>
          <a:xfrm>
            <a:off x="685800" y="1536192"/>
            <a:ext cx="5074920" cy="4251960"/>
          </a:xfrm>
          <a:prstGeom prst="rect">
            <a:avLst/>
          </a:prstGeom>
          <a:noFill/>
          <a:ln/>
        </p:spPr>
        <p:txBody>
          <a:bodyPr wrap="square" lIns="1016" tIns="1016" rIns="1016" bIns="1016" rtlCol="0" anchor="t">
            <a:normAutofit/>
          </a:bodyPr>
          <a:lstStyle/>
          <a:p>
            <a:pPr indent="0" marL="0">
              <a:buNone/>
            </a:pPr>
            <a:r>
              <a:rPr lang="en-US" sz="1580" dirty="0">
                <a:solidFill>
                  <a:srgbClr val="1E293B"/>
                </a:solidFill>
                <a:latin typeface="Aptos" pitchFamily="34" charset="0"/>
                <a:ea typeface="Aptos" pitchFamily="34" charset="-122"/>
                <a:cs typeface="Aptos" pitchFamily="34" charset="-120"/>
              </a:rPr>
              <a:t>• The circuit has three input terminals</a:t>
            </a:r>
            <a:endParaRPr lang="en-US" sz="1580" dirty="0"/>
          </a:p>
          <a:p>
            <a:pPr indent="0" marL="0">
              <a:buNone/>
            </a:pPr>
            <a:r>
              <a:rPr lang="en-US" sz="1580" dirty="0">
                <a:solidFill>
                  <a:srgbClr val="1E293B"/>
                </a:solidFill>
                <a:latin typeface="Aptos" pitchFamily="34" charset="0"/>
                <a:ea typeface="Aptos" pitchFamily="34" charset="-122"/>
                <a:cs typeface="Aptos" pitchFamily="34" charset="-120"/>
              </a:rPr>
              <a:t>• The circuit has two output terminals</a:t>
            </a:r>
            <a:endParaRPr lang="en-US" sz="1580" dirty="0"/>
          </a:p>
          <a:p>
            <a:pPr indent="0" marL="0">
              <a:buNone/>
            </a:pPr>
            <a:r>
              <a:rPr lang="en-US" sz="1580" dirty="0">
                <a:solidFill>
                  <a:srgbClr val="1E293B"/>
                </a:solidFill>
                <a:latin typeface="Aptos" pitchFamily="34" charset="0"/>
                <a:ea typeface="Aptos" pitchFamily="34" charset="-122"/>
                <a:cs typeface="Aptos" pitchFamily="34" charset="-120"/>
              </a:rPr>
              <a:t>• It uses two exclusive OR gates</a:t>
            </a:r>
            <a:endParaRPr lang="en-US" sz="1580" dirty="0"/>
          </a:p>
          <a:p>
            <a:pPr indent="0" marL="0">
              <a:buNone/>
            </a:pPr>
            <a:r>
              <a:rPr lang="en-US" sz="1580" dirty="0">
                <a:solidFill>
                  <a:srgbClr val="1E293B"/>
                </a:solidFill>
                <a:latin typeface="Aptos" pitchFamily="34" charset="0"/>
                <a:ea typeface="Aptos" pitchFamily="34" charset="-122"/>
                <a:cs typeface="Aptos" pitchFamily="34" charset="-120"/>
              </a:rPr>
              <a:t>• It uses two AND gates and one OR gate</a:t>
            </a:r>
            <a:endParaRPr lang="en-US" sz="1580" dirty="0"/>
          </a:p>
          <a:p>
            <a:pPr indent="0" marL="0">
              <a:buNone/>
            </a:pPr>
            <a:r>
              <a:rPr lang="en-US" sz="1580" dirty="0">
                <a:solidFill>
                  <a:srgbClr val="1E293B"/>
                </a:solidFill>
                <a:latin typeface="Aptos" pitchFamily="34" charset="0"/>
                <a:ea typeface="Aptos" pitchFamily="34" charset="-122"/>
                <a:cs typeface="Aptos" pitchFamily="34" charset="-120"/>
              </a:rPr>
              <a:t>• The task is to verify that it adds correctly</a:t>
            </a:r>
            <a:endParaRPr lang="en-US" sz="1580" dirty="0"/>
          </a:p>
        </p:txBody>
      </p:sp>
      <p:sp>
        <p:nvSpPr>
          <p:cNvPr id="9" name="Shape 7"/>
          <p:cNvSpPr/>
          <p:nvPr/>
        </p:nvSpPr>
        <p:spPr>
          <a:xfrm>
            <a:off x="6044184" y="1472184"/>
            <a:ext cx="5513832" cy="4050792"/>
          </a:xfrm>
          <a:prstGeom prst="roundRect">
            <a:avLst>
              <a:gd name="adj" fmla="val 1580"/>
            </a:avLst>
          </a:prstGeom>
          <a:solidFill>
            <a:srgbClr val="FFFFFF"/>
          </a:solidFill>
          <a:ln w="12700">
            <a:solidFill>
              <a:srgbClr val="CBD5E1"/>
            </a:solidFill>
            <a:prstDash val="solid"/>
          </a:ln>
        </p:spPr>
      </p:sp>
      <p:pic>
        <p:nvPicPr>
          <p:cNvPr id="10" name="Image 0" descr="/mnt/data/ch8_ppt_assets/fig8_6_circuit.png">    </p:cNvPr>
          <p:cNvPicPr>
            <a:picLocks noChangeAspect="1"/>
          </p:cNvPicPr>
          <p:nvPr/>
        </p:nvPicPr>
        <p:blipFill>
          <a:blip r:embed="rId1"/>
          <a:stretch>
            <a:fillRect/>
          </a:stretch>
        </p:blipFill>
        <p:spPr>
          <a:xfrm>
            <a:off x="6080760" y="2107184"/>
            <a:ext cx="5440680" cy="2780792"/>
          </a:xfrm>
          <a:prstGeom prst="rect">
            <a:avLst/>
          </a:prstGeom>
        </p:spPr>
      </p:pic>
      <p:sp>
        <p:nvSpPr>
          <p:cNvPr id="11" name="Text 8"/>
          <p:cNvSpPr/>
          <p:nvPr/>
        </p:nvSpPr>
        <p:spPr>
          <a:xfrm>
            <a:off x="6080760" y="5559552"/>
            <a:ext cx="5440680" cy="320040"/>
          </a:xfrm>
          <a:prstGeom prst="rect">
            <a:avLst/>
          </a:prstGeom>
          <a:noFill/>
          <a:ln/>
        </p:spPr>
        <p:txBody>
          <a:bodyPr wrap="square" lIns="0" tIns="0" rIns="0" bIns="0" rtlCol="0" anchor="ctr">
            <a:normAutofit/>
          </a:bodyPr>
          <a:lstStyle/>
          <a:p>
            <a:pPr indent="0" marL="0">
              <a:buNone/>
            </a:pPr>
            <a:r>
              <a:rPr lang="en-US" sz="1030" i="1" dirty="0">
                <a:solidFill>
                  <a:srgbClr val="64748B"/>
                </a:solidFill>
              </a:rPr>
              <a:t>Figure 8.6: circuit C₁, a proposed one-bit full adder.</a:t>
            </a:r>
            <a:endParaRPr lang="en-US" sz="103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5088"/>
          </a:solidFill>
          <a:ln w="12700">
            <a:solidFill>
              <a:srgbClr val="005088"/>
            </a:solidFill>
            <a:prstDash val="solid"/>
          </a:ln>
        </p:spPr>
      </p:sp>
      <p:sp>
        <p:nvSpPr>
          <p:cNvPr id="3" name="Shape 1"/>
          <p:cNvSpPr/>
          <p:nvPr/>
        </p:nvSpPr>
        <p:spPr>
          <a:xfrm>
            <a:off x="0" y="6729984"/>
            <a:ext cx="12191695" cy="128016"/>
          </a:xfrm>
          <a:prstGeom prst="rect">
            <a:avLst/>
          </a:prstGeom>
          <a:solidFill>
            <a:srgbClr val="005088"/>
          </a:solidFill>
          <a:ln w="12700">
            <a:solidFill>
              <a:srgbClr val="005088"/>
            </a:solidFill>
            <a:prstDash val="solid"/>
          </a:ln>
        </p:spPr>
      </p:sp>
      <p:sp>
        <p:nvSpPr>
          <p:cNvPr id="4" name="Text 2"/>
          <p:cNvSpPr/>
          <p:nvPr/>
        </p:nvSpPr>
        <p:spPr>
          <a:xfrm>
            <a:off x="502920" y="210312"/>
            <a:ext cx="6858000" cy="219456"/>
          </a:xfrm>
          <a:prstGeom prst="rect">
            <a:avLst/>
          </a:prstGeom>
          <a:noFill/>
          <a:ln/>
        </p:spPr>
        <p:txBody>
          <a:bodyPr wrap="square" lIns="0" tIns="0" rIns="0" bIns="0" rtlCol="0" anchor="ctr"/>
          <a:lstStyle/>
          <a:p>
            <a:pPr indent="0" marL="0">
              <a:buNone/>
            </a:pPr>
            <a:r>
              <a:rPr lang="en-US" sz="950" b="1" dirty="0">
                <a:solidFill>
                  <a:srgbClr val="3D5A80"/>
                </a:solidFill>
                <a:latin typeface="Aptos" pitchFamily="34" charset="0"/>
                <a:ea typeface="Aptos" pitchFamily="34" charset="-122"/>
                <a:cs typeface="Aptos" pitchFamily="34" charset="-120"/>
              </a:rPr>
              <a:t>8.4.2 Electronic Circuits Domain</a:t>
            </a:r>
            <a:endParaRPr lang="en-US" sz="950" dirty="0"/>
          </a:p>
        </p:txBody>
      </p:sp>
      <p:sp>
        <p:nvSpPr>
          <p:cNvPr id="5" name="Text 3"/>
          <p:cNvSpPr/>
          <p:nvPr/>
        </p:nvSpPr>
        <p:spPr>
          <a:xfrm>
            <a:off x="11018520" y="201168"/>
            <a:ext cx="640080" cy="228600"/>
          </a:xfrm>
          <a:prstGeom prst="rect">
            <a:avLst/>
          </a:prstGeom>
          <a:noFill/>
          <a:ln/>
        </p:spPr>
        <p:txBody>
          <a:bodyPr wrap="square" lIns="0" tIns="0" rIns="0" bIns="0" rtlCol="0" anchor="ctr"/>
          <a:lstStyle/>
          <a:p>
            <a:pPr algn="r" indent="0" marL="0">
              <a:buNone/>
            </a:pPr>
            <a:r>
              <a:rPr lang="en-US" sz="900" b="1" dirty="0">
                <a:solidFill>
                  <a:srgbClr val="3D5A80"/>
                </a:solidFill>
              </a:rPr>
              <a:t>89</a:t>
            </a:r>
            <a:endParaRPr lang="en-US" sz="900" dirty="0"/>
          </a:p>
        </p:txBody>
      </p:sp>
      <p:sp>
        <p:nvSpPr>
          <p:cNvPr id="6" name="Text 4"/>
          <p:cNvSpPr/>
          <p:nvPr/>
        </p:nvSpPr>
        <p:spPr>
          <a:xfrm>
            <a:off x="502920" y="566928"/>
            <a:ext cx="11201400" cy="512064"/>
          </a:xfrm>
          <a:prstGeom prst="rect">
            <a:avLst/>
          </a:prstGeom>
          <a:noFill/>
          <a:ln/>
        </p:spPr>
        <p:txBody>
          <a:bodyPr wrap="square" lIns="0" tIns="0" rIns="0" bIns="0" rtlCol="0" anchor="ctr">
            <a:normAutofit/>
          </a:bodyPr>
          <a:lstStyle/>
          <a:p>
            <a:pPr indent="0" marL="0">
              <a:buNone/>
            </a:pPr>
            <a:r>
              <a:rPr lang="en-US" sz="2650" b="1" dirty="0">
                <a:solidFill>
                  <a:srgbClr val="005088"/>
                </a:solidFill>
                <a:latin typeface="Aptos Display" pitchFamily="34" charset="0"/>
                <a:ea typeface="Aptos Display" pitchFamily="34" charset="-122"/>
                <a:cs typeface="Aptos Display" pitchFamily="34" charset="-120"/>
              </a:rPr>
              <a:t>CIRCUIT QUESTIONS TO SUPPORT</a:t>
            </a:r>
            <a:endParaRPr lang="en-US" sz="2650" dirty="0"/>
          </a:p>
        </p:txBody>
      </p:sp>
      <p:sp>
        <p:nvSpPr>
          <p:cNvPr id="7" name="Shape 5"/>
          <p:cNvSpPr/>
          <p:nvPr/>
        </p:nvSpPr>
        <p:spPr>
          <a:xfrm>
            <a:off x="502920" y="1188720"/>
            <a:ext cx="11109960" cy="0"/>
          </a:xfrm>
          <a:prstGeom prst="line">
            <a:avLst/>
          </a:prstGeom>
          <a:noFill/>
          <a:ln w="12700">
            <a:solidFill>
              <a:srgbClr val="3D5A80"/>
            </a:solidFill>
            <a:prstDash val="solid"/>
          </a:ln>
        </p:spPr>
      </p:sp>
      <p:sp>
        <p:nvSpPr>
          <p:cNvPr id="8" name="Text 6"/>
          <p:cNvSpPr/>
          <p:nvPr/>
        </p:nvSpPr>
        <p:spPr>
          <a:xfrm>
            <a:off x="713232" y="1572768"/>
            <a:ext cx="5440680" cy="4251960"/>
          </a:xfrm>
          <a:prstGeom prst="rect">
            <a:avLst/>
          </a:prstGeom>
          <a:noFill/>
          <a:ln/>
        </p:spPr>
        <p:txBody>
          <a:bodyPr wrap="square" lIns="1016" tIns="1016" rIns="1016" bIns="1016" rtlCol="0" anchor="t">
            <a:normAutofit/>
          </a:bodyPr>
          <a:lstStyle/>
          <a:p>
            <a:pPr indent="0" marL="0">
              <a:buNone/>
            </a:pPr>
            <a:r>
              <a:rPr lang="en-US" sz="1650" dirty="0">
                <a:solidFill>
                  <a:srgbClr val="1E293B"/>
                </a:solidFill>
                <a:latin typeface="Aptos" pitchFamily="34" charset="0"/>
                <a:ea typeface="Aptos" pitchFamily="34" charset="-122"/>
                <a:cs typeface="Aptos" pitchFamily="34" charset="-120"/>
              </a:rPr>
              <a:t>• Does the circuit add properly?</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What output follows from a given input?</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Which gates connect to the first input terminal?</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Does the circuit contain feedback loops?</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Which input combinations produce a requested output?</a:t>
            </a:r>
            <a:endParaRPr lang="en-US" sz="1650" dirty="0"/>
          </a:p>
        </p:txBody>
      </p:sp>
      <p:sp>
        <p:nvSpPr>
          <p:cNvPr id="9" name="Shape 7"/>
          <p:cNvSpPr/>
          <p:nvPr/>
        </p:nvSpPr>
        <p:spPr>
          <a:xfrm>
            <a:off x="6446520" y="1572768"/>
            <a:ext cx="5074920" cy="1234440"/>
          </a:xfrm>
          <a:prstGeom prst="roundRect">
            <a:avLst>
              <a:gd name="adj" fmla="val 5926"/>
            </a:avLst>
          </a:prstGeom>
          <a:solidFill>
            <a:srgbClr val="FFF6D9"/>
          </a:solidFill>
          <a:ln w="12700">
            <a:solidFill>
              <a:srgbClr val="F4A261"/>
            </a:solidFill>
            <a:prstDash val="solid"/>
          </a:ln>
        </p:spPr>
      </p:sp>
      <p:sp>
        <p:nvSpPr>
          <p:cNvPr id="10" name="Text 8"/>
          <p:cNvSpPr/>
          <p:nvPr/>
        </p:nvSpPr>
        <p:spPr>
          <a:xfrm>
            <a:off x="6629400" y="1709928"/>
            <a:ext cx="4709160" cy="219456"/>
          </a:xfrm>
          <a:prstGeom prst="rect">
            <a:avLst/>
          </a:prstGeom>
          <a:noFill/>
          <a:ln/>
        </p:spPr>
        <p:txBody>
          <a:bodyPr wrap="square" lIns="0" tIns="0" rIns="0" bIns="0" rtlCol="0" anchor="ctr"/>
          <a:lstStyle/>
          <a:p>
            <a:pPr indent="0" marL="0">
              <a:buNone/>
            </a:pPr>
            <a:r>
              <a:rPr lang="en-US" sz="950" b="1" dirty="0">
                <a:solidFill>
                  <a:srgbClr val="B0005D"/>
                </a:solidFill>
              </a:rPr>
              <a:t>ANALOGY</a:t>
            </a:r>
            <a:endParaRPr lang="en-US" sz="950" dirty="0"/>
          </a:p>
        </p:txBody>
      </p:sp>
      <p:sp>
        <p:nvSpPr>
          <p:cNvPr id="11" name="Text 9"/>
          <p:cNvSpPr/>
          <p:nvPr/>
        </p:nvSpPr>
        <p:spPr>
          <a:xfrm>
            <a:off x="6629400" y="1984248"/>
            <a:ext cx="4709160" cy="731520"/>
          </a:xfrm>
          <a:prstGeom prst="rect">
            <a:avLst/>
          </a:prstGeom>
          <a:noFill/>
          <a:ln/>
        </p:spPr>
        <p:txBody>
          <a:bodyPr wrap="square" lIns="254" tIns="254" rIns="254" bIns="254" rtlCol="0" anchor="t">
            <a:normAutofit/>
          </a:bodyPr>
          <a:lstStyle/>
          <a:p>
            <a:pPr indent="0" marL="0">
              <a:buNone/>
            </a:pPr>
            <a:r>
              <a:rPr lang="en-US" sz="1330" dirty="0">
                <a:solidFill>
                  <a:srgbClr val="1E293B"/>
                </a:solidFill>
              </a:rPr>
              <a:t>Before inspecting a car, decide whether you care about speed, fuel efficiency, safety, or repair cost.</a:t>
            </a:r>
            <a:endParaRPr lang="en-US" sz="1330" dirty="0"/>
          </a:p>
        </p:txBody>
      </p:sp>
      <p:sp>
        <p:nvSpPr>
          <p:cNvPr id="12" name="Shape 10"/>
          <p:cNvSpPr/>
          <p:nvPr/>
        </p:nvSpPr>
        <p:spPr>
          <a:xfrm>
            <a:off x="6446520" y="2999232"/>
            <a:ext cx="5074920" cy="841248"/>
          </a:xfrm>
          <a:prstGeom prst="roundRect">
            <a:avLst>
              <a:gd name="adj" fmla="val 8696"/>
            </a:avLst>
          </a:prstGeom>
          <a:solidFill>
            <a:srgbClr val="FFFFFF">
              <a:alpha val="97000"/>
            </a:srgbClr>
          </a:solidFill>
          <a:ln w="12700">
            <a:solidFill>
              <a:srgbClr val="007C89"/>
            </a:solidFill>
            <a:prstDash val="solid"/>
          </a:ln>
        </p:spPr>
      </p:sp>
      <p:sp>
        <p:nvSpPr>
          <p:cNvPr id="13" name="Text 11"/>
          <p:cNvSpPr/>
          <p:nvPr/>
        </p:nvSpPr>
        <p:spPr>
          <a:xfrm>
            <a:off x="6611112" y="3127248"/>
            <a:ext cx="4745736" cy="658368"/>
          </a:xfrm>
          <a:prstGeom prst="rect">
            <a:avLst/>
          </a:prstGeom>
          <a:noFill/>
          <a:ln/>
        </p:spPr>
        <p:txBody>
          <a:bodyPr wrap="square" lIns="0" tIns="0" rIns="0" bIns="0" rtlCol="0" anchor="ctr">
            <a:normAutofit/>
          </a:bodyPr>
          <a:lstStyle/>
          <a:p>
            <a:pPr algn="ctr" indent="0" marL="0">
              <a:buNone/>
            </a:pPr>
            <a:r>
              <a:rPr lang="en-US" sz="1700" b="1" dirty="0">
                <a:solidFill>
                  <a:srgbClr val="005088"/>
                </a:solidFill>
                <a:latin typeface="Cambria Math" pitchFamily="34" charset="0"/>
                <a:ea typeface="Cambria Math" pitchFamily="34" charset="-122"/>
                <a:cs typeface="Cambria Math" pitchFamily="34" charset="-120"/>
              </a:rPr>
              <a:t>the questions determine the circuit ontology</a:t>
            </a:r>
            <a:endParaRPr lang="en-US" sz="1700" dirty="0"/>
          </a:p>
        </p:txBody>
      </p:sp>
      <p:sp>
        <p:nvSpPr>
          <p:cNvPr id="14" name="Shape 12"/>
          <p:cNvSpPr/>
          <p:nvPr/>
        </p:nvSpPr>
        <p:spPr>
          <a:xfrm>
            <a:off x="6446520" y="4041648"/>
            <a:ext cx="5074920" cy="859536"/>
          </a:xfrm>
          <a:prstGeom prst="roundRect">
            <a:avLst>
              <a:gd name="adj" fmla="val 8511"/>
            </a:avLst>
          </a:prstGeom>
          <a:solidFill>
            <a:srgbClr val="FFE4E6"/>
          </a:solidFill>
          <a:ln w="12700">
            <a:solidFill>
              <a:srgbClr val="FDA4AF"/>
            </a:solidFill>
            <a:prstDash val="solid"/>
          </a:ln>
        </p:spPr>
      </p:sp>
      <p:sp>
        <p:nvSpPr>
          <p:cNvPr id="15" name="Text 13"/>
          <p:cNvSpPr/>
          <p:nvPr/>
        </p:nvSpPr>
        <p:spPr>
          <a:xfrm>
            <a:off x="6629400" y="4178808"/>
            <a:ext cx="4709160" cy="219456"/>
          </a:xfrm>
          <a:prstGeom prst="rect">
            <a:avLst/>
          </a:prstGeom>
          <a:noFill/>
          <a:ln/>
        </p:spPr>
        <p:txBody>
          <a:bodyPr wrap="square" lIns="0" tIns="0" rIns="0" bIns="0" rtlCol="0" anchor="ctr"/>
          <a:lstStyle/>
          <a:p>
            <a:pPr indent="0" marL="0">
              <a:buNone/>
            </a:pPr>
            <a:r>
              <a:rPr lang="en-US" sz="950" b="1" dirty="0">
                <a:solidFill>
                  <a:srgbClr val="C1121F"/>
                </a:solidFill>
              </a:rPr>
              <a:t>STUDENT GOTCHA</a:t>
            </a:r>
            <a:endParaRPr lang="en-US" sz="950" dirty="0"/>
          </a:p>
        </p:txBody>
      </p:sp>
      <p:sp>
        <p:nvSpPr>
          <p:cNvPr id="16" name="Text 14"/>
          <p:cNvSpPr/>
          <p:nvPr/>
        </p:nvSpPr>
        <p:spPr>
          <a:xfrm>
            <a:off x="6629400" y="4453128"/>
            <a:ext cx="4709160" cy="356616"/>
          </a:xfrm>
          <a:prstGeom prst="rect">
            <a:avLst/>
          </a:prstGeom>
          <a:noFill/>
          <a:ln/>
        </p:spPr>
        <p:txBody>
          <a:bodyPr wrap="square" lIns="254" tIns="254" rIns="254" bIns="254" rtlCol="0" anchor="t">
            <a:normAutofit/>
          </a:bodyPr>
          <a:lstStyle/>
          <a:p>
            <a:pPr indent="0" marL="0">
              <a:buNone/>
            </a:pPr>
            <a:r>
              <a:rPr lang="en-US" sz="1250" dirty="0">
                <a:solidFill>
                  <a:srgbClr val="1E293B"/>
                </a:solidFill>
              </a:rPr>
              <a:t>A knowledge base for timing delay would need different details than one for logical functionality.</a:t>
            </a:r>
            <a:endParaRPr lang="en-US" sz="1250" dirty="0"/>
          </a:p>
        </p:txBody>
      </p:sp>
      <p:sp>
        <p:nvSpPr>
          <p:cNvPr id="17" name="Shape 15"/>
          <p:cNvSpPr/>
          <p:nvPr/>
        </p:nvSpPr>
        <p:spPr>
          <a:xfrm>
            <a:off x="6446520" y="5074920"/>
            <a:ext cx="5074920" cy="841248"/>
          </a:xfrm>
          <a:prstGeom prst="roundRect">
            <a:avLst>
              <a:gd name="adj" fmla="val 8696"/>
            </a:avLst>
          </a:prstGeom>
          <a:solidFill>
            <a:srgbClr val="E6FFFA"/>
          </a:solidFill>
          <a:ln w="12700">
            <a:solidFill>
              <a:srgbClr val="2A9D8F"/>
            </a:solidFill>
            <a:prstDash val="solid"/>
          </a:ln>
        </p:spPr>
      </p:sp>
      <p:sp>
        <p:nvSpPr>
          <p:cNvPr id="18" name="Text 16"/>
          <p:cNvSpPr/>
          <p:nvPr/>
        </p:nvSpPr>
        <p:spPr>
          <a:xfrm>
            <a:off x="6629400" y="5212080"/>
            <a:ext cx="4709160" cy="219456"/>
          </a:xfrm>
          <a:prstGeom prst="rect">
            <a:avLst/>
          </a:prstGeom>
          <a:noFill/>
          <a:ln/>
        </p:spPr>
        <p:txBody>
          <a:bodyPr wrap="square" lIns="0" tIns="0" rIns="0" bIns="0" rtlCol="0" anchor="ctr"/>
          <a:lstStyle/>
          <a:p>
            <a:pPr indent="0" marL="0">
              <a:buNone/>
            </a:pPr>
            <a:r>
              <a:rPr lang="en-US" sz="950" b="1" dirty="0">
                <a:solidFill>
                  <a:srgbClr val="007C89"/>
                </a:solidFill>
              </a:rPr>
              <a:t>CLASS CHECK</a:t>
            </a:r>
            <a:endParaRPr lang="en-US" sz="950" dirty="0"/>
          </a:p>
        </p:txBody>
      </p:sp>
      <p:sp>
        <p:nvSpPr>
          <p:cNvPr id="19" name="Text 17"/>
          <p:cNvSpPr/>
          <p:nvPr/>
        </p:nvSpPr>
        <p:spPr>
          <a:xfrm>
            <a:off x="6629400" y="5486400"/>
            <a:ext cx="4709160" cy="338328"/>
          </a:xfrm>
          <a:prstGeom prst="rect">
            <a:avLst/>
          </a:prstGeom>
          <a:noFill/>
          <a:ln/>
        </p:spPr>
        <p:txBody>
          <a:bodyPr wrap="square" lIns="254" tIns="254" rIns="254" bIns="254" rtlCol="0" anchor="t">
            <a:normAutofit/>
          </a:bodyPr>
          <a:lstStyle/>
          <a:p>
            <a:pPr indent="0" marL="0">
              <a:buNone/>
            </a:pPr>
            <a:r>
              <a:rPr lang="en-US" sz="1270" dirty="0">
                <a:solidFill>
                  <a:srgbClr val="1E293B"/>
                </a:solidFill>
              </a:rPr>
              <a:t>Ask: Do we need wire length for functional verification?</a:t>
            </a:r>
            <a:endParaRPr lang="en-US" sz="127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5088"/>
          </a:solidFill>
          <a:ln w="12700">
            <a:solidFill>
              <a:srgbClr val="005088"/>
            </a:solidFill>
            <a:prstDash val="solid"/>
          </a:ln>
        </p:spPr>
      </p:sp>
      <p:sp>
        <p:nvSpPr>
          <p:cNvPr id="3" name="Shape 1"/>
          <p:cNvSpPr/>
          <p:nvPr/>
        </p:nvSpPr>
        <p:spPr>
          <a:xfrm>
            <a:off x="0" y="6729984"/>
            <a:ext cx="12191695" cy="128016"/>
          </a:xfrm>
          <a:prstGeom prst="rect">
            <a:avLst/>
          </a:prstGeom>
          <a:solidFill>
            <a:srgbClr val="005088"/>
          </a:solidFill>
          <a:ln w="12700">
            <a:solidFill>
              <a:srgbClr val="005088"/>
            </a:solidFill>
            <a:prstDash val="solid"/>
          </a:ln>
        </p:spPr>
      </p:sp>
      <p:sp>
        <p:nvSpPr>
          <p:cNvPr id="4" name="Text 2"/>
          <p:cNvSpPr/>
          <p:nvPr/>
        </p:nvSpPr>
        <p:spPr>
          <a:xfrm>
            <a:off x="502920" y="210312"/>
            <a:ext cx="6858000" cy="219456"/>
          </a:xfrm>
          <a:prstGeom prst="rect">
            <a:avLst/>
          </a:prstGeom>
          <a:noFill/>
          <a:ln/>
        </p:spPr>
        <p:txBody>
          <a:bodyPr wrap="square" lIns="0" tIns="0" rIns="0" bIns="0" rtlCol="0" anchor="ctr"/>
          <a:lstStyle/>
          <a:p>
            <a:pPr indent="0" marL="0">
              <a:buNone/>
            </a:pPr>
            <a:r>
              <a:rPr lang="en-US" sz="950" b="1" dirty="0">
                <a:solidFill>
                  <a:srgbClr val="3D5A80"/>
                </a:solidFill>
                <a:latin typeface="Aptos" pitchFamily="34" charset="0"/>
                <a:ea typeface="Aptos" pitchFamily="34" charset="-122"/>
                <a:cs typeface="Aptos" pitchFamily="34" charset="-120"/>
              </a:rPr>
              <a:t>8.4.2 Electronic Circuits Domain</a:t>
            </a:r>
            <a:endParaRPr lang="en-US" sz="950" dirty="0"/>
          </a:p>
        </p:txBody>
      </p:sp>
      <p:sp>
        <p:nvSpPr>
          <p:cNvPr id="5" name="Text 3"/>
          <p:cNvSpPr/>
          <p:nvPr/>
        </p:nvSpPr>
        <p:spPr>
          <a:xfrm>
            <a:off x="11018520" y="201168"/>
            <a:ext cx="640080" cy="228600"/>
          </a:xfrm>
          <a:prstGeom prst="rect">
            <a:avLst/>
          </a:prstGeom>
          <a:noFill/>
          <a:ln/>
        </p:spPr>
        <p:txBody>
          <a:bodyPr wrap="square" lIns="0" tIns="0" rIns="0" bIns="0" rtlCol="0" anchor="ctr"/>
          <a:lstStyle/>
          <a:p>
            <a:pPr algn="r" indent="0" marL="0">
              <a:buNone/>
            </a:pPr>
            <a:r>
              <a:rPr lang="en-US" sz="900" b="1" dirty="0">
                <a:solidFill>
                  <a:srgbClr val="3D5A80"/>
                </a:solidFill>
              </a:rPr>
              <a:t>90</a:t>
            </a:r>
            <a:endParaRPr lang="en-US" sz="900" dirty="0"/>
          </a:p>
        </p:txBody>
      </p:sp>
      <p:sp>
        <p:nvSpPr>
          <p:cNvPr id="6" name="Text 4"/>
          <p:cNvSpPr/>
          <p:nvPr/>
        </p:nvSpPr>
        <p:spPr>
          <a:xfrm>
            <a:off x="502920" y="566928"/>
            <a:ext cx="11201400" cy="512064"/>
          </a:xfrm>
          <a:prstGeom prst="rect">
            <a:avLst/>
          </a:prstGeom>
          <a:noFill/>
          <a:ln/>
        </p:spPr>
        <p:txBody>
          <a:bodyPr wrap="square" lIns="0" tIns="0" rIns="0" bIns="0" rtlCol="0" anchor="ctr">
            <a:normAutofit/>
          </a:bodyPr>
          <a:lstStyle/>
          <a:p>
            <a:pPr indent="0" marL="0">
              <a:buNone/>
            </a:pPr>
            <a:r>
              <a:rPr lang="en-US" sz="2650" b="1" dirty="0">
                <a:solidFill>
                  <a:srgbClr val="005088"/>
                </a:solidFill>
                <a:latin typeface="Aptos Display" pitchFamily="34" charset="0"/>
                <a:ea typeface="Aptos Display" pitchFamily="34" charset="-122"/>
                <a:cs typeface="Aptos Display" pitchFamily="34" charset="-120"/>
              </a:rPr>
              <a:t>RELEVANT CIRCUIT KNOWLEDGE</a:t>
            </a:r>
            <a:endParaRPr lang="en-US" sz="2650" dirty="0"/>
          </a:p>
        </p:txBody>
      </p:sp>
      <p:sp>
        <p:nvSpPr>
          <p:cNvPr id="7" name="Shape 5"/>
          <p:cNvSpPr/>
          <p:nvPr/>
        </p:nvSpPr>
        <p:spPr>
          <a:xfrm>
            <a:off x="502920" y="1188720"/>
            <a:ext cx="11109960" cy="0"/>
          </a:xfrm>
          <a:prstGeom prst="line">
            <a:avLst/>
          </a:prstGeom>
          <a:noFill/>
          <a:ln w="12700">
            <a:solidFill>
              <a:srgbClr val="3D5A80"/>
            </a:solidFill>
            <a:prstDash val="solid"/>
          </a:ln>
        </p:spPr>
      </p:sp>
      <p:sp>
        <p:nvSpPr>
          <p:cNvPr id="8" name="Text 6"/>
          <p:cNvSpPr/>
          <p:nvPr/>
        </p:nvSpPr>
        <p:spPr>
          <a:xfrm>
            <a:off x="713232" y="1572768"/>
            <a:ext cx="5440680" cy="4251960"/>
          </a:xfrm>
          <a:prstGeom prst="rect">
            <a:avLst/>
          </a:prstGeom>
          <a:noFill/>
          <a:ln/>
        </p:spPr>
        <p:txBody>
          <a:bodyPr wrap="square" lIns="1016" tIns="1016" rIns="1016" bIns="1016" rtlCol="0" anchor="t">
            <a:normAutofit/>
          </a:bodyPr>
          <a:lstStyle/>
          <a:p>
            <a:pPr indent="0" marL="0">
              <a:buNone/>
            </a:pPr>
            <a:r>
              <a:rPr lang="en-US" sz="1650" dirty="0">
                <a:solidFill>
                  <a:srgbClr val="1E293B"/>
                </a:solidFill>
                <a:latin typeface="Aptos" pitchFamily="34" charset="0"/>
                <a:ea typeface="Aptos" pitchFamily="34" charset="-122"/>
                <a:cs typeface="Aptos" pitchFamily="34" charset="-120"/>
              </a:rPr>
              <a:t>• Circuits are composed of gates and terminals</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Signals flow through connected terminals</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Gate type determines output behavior</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For functional verification, wire paths can be abstracted away</a:t>
            </a:r>
            <a:endParaRPr lang="en-US" sz="1650" dirty="0"/>
          </a:p>
        </p:txBody>
      </p:sp>
      <p:sp>
        <p:nvSpPr>
          <p:cNvPr id="9" name="Shape 7"/>
          <p:cNvSpPr/>
          <p:nvPr/>
        </p:nvSpPr>
        <p:spPr>
          <a:xfrm>
            <a:off x="6446520" y="1572768"/>
            <a:ext cx="5074920" cy="1234440"/>
          </a:xfrm>
          <a:prstGeom prst="roundRect">
            <a:avLst>
              <a:gd name="adj" fmla="val 5926"/>
            </a:avLst>
          </a:prstGeom>
          <a:solidFill>
            <a:srgbClr val="FFF6D9"/>
          </a:solidFill>
          <a:ln w="12700">
            <a:solidFill>
              <a:srgbClr val="F4A261"/>
            </a:solidFill>
            <a:prstDash val="solid"/>
          </a:ln>
        </p:spPr>
      </p:sp>
      <p:sp>
        <p:nvSpPr>
          <p:cNvPr id="10" name="Text 8"/>
          <p:cNvSpPr/>
          <p:nvPr/>
        </p:nvSpPr>
        <p:spPr>
          <a:xfrm>
            <a:off x="6629400" y="1709928"/>
            <a:ext cx="4709160" cy="219456"/>
          </a:xfrm>
          <a:prstGeom prst="rect">
            <a:avLst/>
          </a:prstGeom>
          <a:noFill/>
          <a:ln/>
        </p:spPr>
        <p:txBody>
          <a:bodyPr wrap="square" lIns="0" tIns="0" rIns="0" bIns="0" rtlCol="0" anchor="ctr"/>
          <a:lstStyle/>
          <a:p>
            <a:pPr indent="0" marL="0">
              <a:buNone/>
            </a:pPr>
            <a:r>
              <a:rPr lang="en-US" sz="950" b="1" dirty="0">
                <a:solidFill>
                  <a:srgbClr val="B0005D"/>
                </a:solidFill>
              </a:rPr>
              <a:t>ANALOGY</a:t>
            </a:r>
            <a:endParaRPr lang="en-US" sz="950" dirty="0"/>
          </a:p>
        </p:txBody>
      </p:sp>
      <p:sp>
        <p:nvSpPr>
          <p:cNvPr id="11" name="Text 9"/>
          <p:cNvSpPr/>
          <p:nvPr/>
        </p:nvSpPr>
        <p:spPr>
          <a:xfrm>
            <a:off x="6629400" y="1984248"/>
            <a:ext cx="4709160" cy="731520"/>
          </a:xfrm>
          <a:prstGeom prst="rect">
            <a:avLst/>
          </a:prstGeom>
          <a:noFill/>
          <a:ln/>
        </p:spPr>
        <p:txBody>
          <a:bodyPr wrap="square" lIns="254" tIns="254" rIns="254" bIns="254" rtlCol="0" anchor="t">
            <a:normAutofit/>
          </a:bodyPr>
          <a:lstStyle/>
          <a:p>
            <a:pPr indent="0" marL="0">
              <a:buNone/>
            </a:pPr>
            <a:r>
              <a:rPr lang="en-US" sz="1330" dirty="0">
                <a:solidFill>
                  <a:srgbClr val="1E293B"/>
                </a:solidFill>
              </a:rPr>
              <a:t>For a subway trip, you need station connections, not the exact tunnel shape under the city.</a:t>
            </a:r>
            <a:endParaRPr lang="en-US" sz="1330" dirty="0"/>
          </a:p>
        </p:txBody>
      </p:sp>
      <p:sp>
        <p:nvSpPr>
          <p:cNvPr id="12" name="Shape 10"/>
          <p:cNvSpPr/>
          <p:nvPr/>
        </p:nvSpPr>
        <p:spPr>
          <a:xfrm>
            <a:off x="6446520" y="2999232"/>
            <a:ext cx="5074920" cy="841248"/>
          </a:xfrm>
          <a:prstGeom prst="roundRect">
            <a:avLst>
              <a:gd name="adj" fmla="val 8696"/>
            </a:avLst>
          </a:prstGeom>
          <a:solidFill>
            <a:srgbClr val="FFFFFF">
              <a:alpha val="97000"/>
            </a:srgbClr>
          </a:solidFill>
          <a:ln w="12700">
            <a:solidFill>
              <a:srgbClr val="007C89"/>
            </a:solidFill>
            <a:prstDash val="solid"/>
          </a:ln>
        </p:spPr>
      </p:sp>
      <p:sp>
        <p:nvSpPr>
          <p:cNvPr id="13" name="Text 11"/>
          <p:cNvSpPr/>
          <p:nvPr/>
        </p:nvSpPr>
        <p:spPr>
          <a:xfrm>
            <a:off x="6611112" y="3127248"/>
            <a:ext cx="4745736" cy="658368"/>
          </a:xfrm>
          <a:prstGeom prst="rect">
            <a:avLst/>
          </a:prstGeom>
          <a:noFill/>
          <a:ln/>
        </p:spPr>
        <p:txBody>
          <a:bodyPr wrap="square" lIns="0" tIns="0" rIns="0" bIns="0" rtlCol="0" anchor="ctr">
            <a:normAutofit/>
          </a:bodyPr>
          <a:lstStyle/>
          <a:p>
            <a:pPr algn="ctr" indent="0" marL="0">
              <a:buNone/>
            </a:pPr>
            <a:r>
              <a:rPr lang="en-US" sz="1700" b="1" dirty="0">
                <a:solidFill>
                  <a:srgbClr val="005088"/>
                </a:solidFill>
                <a:latin typeface="Cambria Math" pitchFamily="34" charset="0"/>
                <a:ea typeface="Cambria Math" pitchFamily="34" charset="-122"/>
                <a:cs typeface="Cambria Math" pitchFamily="34" charset="-120"/>
              </a:rPr>
              <a:t>connections matter more than wire geometry</a:t>
            </a:r>
            <a:endParaRPr lang="en-US" sz="1700" dirty="0"/>
          </a:p>
        </p:txBody>
      </p:sp>
      <p:sp>
        <p:nvSpPr>
          <p:cNvPr id="14" name="Shape 12"/>
          <p:cNvSpPr/>
          <p:nvPr/>
        </p:nvSpPr>
        <p:spPr>
          <a:xfrm>
            <a:off x="6446520" y="4041648"/>
            <a:ext cx="5074920" cy="859536"/>
          </a:xfrm>
          <a:prstGeom prst="roundRect">
            <a:avLst>
              <a:gd name="adj" fmla="val 8511"/>
            </a:avLst>
          </a:prstGeom>
          <a:solidFill>
            <a:srgbClr val="FFE4E6"/>
          </a:solidFill>
          <a:ln w="12700">
            <a:solidFill>
              <a:srgbClr val="FDA4AF"/>
            </a:solidFill>
            <a:prstDash val="solid"/>
          </a:ln>
        </p:spPr>
      </p:sp>
      <p:sp>
        <p:nvSpPr>
          <p:cNvPr id="15" name="Text 13"/>
          <p:cNvSpPr/>
          <p:nvPr/>
        </p:nvSpPr>
        <p:spPr>
          <a:xfrm>
            <a:off x="6629400" y="4178808"/>
            <a:ext cx="4709160" cy="219456"/>
          </a:xfrm>
          <a:prstGeom prst="rect">
            <a:avLst/>
          </a:prstGeom>
          <a:noFill/>
          <a:ln/>
        </p:spPr>
        <p:txBody>
          <a:bodyPr wrap="square" lIns="0" tIns="0" rIns="0" bIns="0" rtlCol="0" anchor="ctr"/>
          <a:lstStyle/>
          <a:p>
            <a:pPr indent="0" marL="0">
              <a:buNone/>
            </a:pPr>
            <a:r>
              <a:rPr lang="en-US" sz="950" b="1" dirty="0">
                <a:solidFill>
                  <a:srgbClr val="C1121F"/>
                </a:solidFill>
              </a:rPr>
              <a:t>STUDENT GOTCHA</a:t>
            </a:r>
            <a:endParaRPr lang="en-US" sz="950" dirty="0"/>
          </a:p>
        </p:txBody>
      </p:sp>
      <p:sp>
        <p:nvSpPr>
          <p:cNvPr id="16" name="Text 14"/>
          <p:cNvSpPr/>
          <p:nvPr/>
        </p:nvSpPr>
        <p:spPr>
          <a:xfrm>
            <a:off x="6629400" y="4453128"/>
            <a:ext cx="4709160" cy="356616"/>
          </a:xfrm>
          <a:prstGeom prst="rect">
            <a:avLst/>
          </a:prstGeom>
          <a:noFill/>
          <a:ln/>
        </p:spPr>
        <p:txBody>
          <a:bodyPr wrap="square" lIns="254" tIns="254" rIns="254" bIns="254" rtlCol="0" anchor="t">
            <a:normAutofit/>
          </a:bodyPr>
          <a:lstStyle/>
          <a:p>
            <a:pPr indent="0" marL="0">
              <a:buNone/>
            </a:pPr>
            <a:r>
              <a:rPr lang="en-US" sz="1250" dirty="0">
                <a:solidFill>
                  <a:srgbClr val="1E293B"/>
                </a:solidFill>
              </a:rPr>
              <a:t>The right abstraction depends on the task. Fault diagnosis might need wire details that verification can ignore.</a:t>
            </a:r>
            <a:endParaRPr lang="en-US" sz="1250" dirty="0"/>
          </a:p>
        </p:txBody>
      </p:sp>
      <p:sp>
        <p:nvSpPr>
          <p:cNvPr id="17" name="Shape 15"/>
          <p:cNvSpPr/>
          <p:nvPr/>
        </p:nvSpPr>
        <p:spPr>
          <a:xfrm>
            <a:off x="6446520" y="5074920"/>
            <a:ext cx="5074920" cy="841248"/>
          </a:xfrm>
          <a:prstGeom prst="roundRect">
            <a:avLst>
              <a:gd name="adj" fmla="val 8696"/>
            </a:avLst>
          </a:prstGeom>
          <a:solidFill>
            <a:srgbClr val="E6FFFA"/>
          </a:solidFill>
          <a:ln w="12700">
            <a:solidFill>
              <a:srgbClr val="2A9D8F"/>
            </a:solidFill>
            <a:prstDash val="solid"/>
          </a:ln>
        </p:spPr>
      </p:sp>
      <p:sp>
        <p:nvSpPr>
          <p:cNvPr id="18" name="Text 16"/>
          <p:cNvSpPr/>
          <p:nvPr/>
        </p:nvSpPr>
        <p:spPr>
          <a:xfrm>
            <a:off x="6629400" y="5212080"/>
            <a:ext cx="4709160" cy="219456"/>
          </a:xfrm>
          <a:prstGeom prst="rect">
            <a:avLst/>
          </a:prstGeom>
          <a:noFill/>
          <a:ln/>
        </p:spPr>
        <p:txBody>
          <a:bodyPr wrap="square" lIns="0" tIns="0" rIns="0" bIns="0" rtlCol="0" anchor="ctr"/>
          <a:lstStyle/>
          <a:p>
            <a:pPr indent="0" marL="0">
              <a:buNone/>
            </a:pPr>
            <a:r>
              <a:rPr lang="en-US" sz="950" b="1" dirty="0">
                <a:solidFill>
                  <a:srgbClr val="007C89"/>
                </a:solidFill>
              </a:rPr>
              <a:t>CLASS CHECK</a:t>
            </a:r>
            <a:endParaRPr lang="en-US" sz="950" dirty="0"/>
          </a:p>
        </p:txBody>
      </p:sp>
      <p:sp>
        <p:nvSpPr>
          <p:cNvPr id="19" name="Text 17"/>
          <p:cNvSpPr/>
          <p:nvPr/>
        </p:nvSpPr>
        <p:spPr>
          <a:xfrm>
            <a:off x="6629400" y="5486400"/>
            <a:ext cx="4709160" cy="338328"/>
          </a:xfrm>
          <a:prstGeom prst="rect">
            <a:avLst/>
          </a:prstGeom>
          <a:noFill/>
          <a:ln/>
        </p:spPr>
        <p:txBody>
          <a:bodyPr wrap="square" lIns="254" tIns="254" rIns="254" bIns="254" rtlCol="0" anchor="t">
            <a:normAutofit/>
          </a:bodyPr>
          <a:lstStyle/>
          <a:p>
            <a:pPr indent="0" marL="0">
              <a:buNone/>
            </a:pPr>
            <a:r>
              <a:rPr lang="en-US" sz="1270" dirty="0">
                <a:solidFill>
                  <a:srgbClr val="1E293B"/>
                </a:solidFill>
              </a:rPr>
              <a:t>Ask: What details would matter if the circuit could be physically broken?</a:t>
            </a:r>
            <a:endParaRPr lang="en-US" sz="127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5088"/>
          </a:solidFill>
          <a:ln w="12700">
            <a:solidFill>
              <a:srgbClr val="005088"/>
            </a:solidFill>
            <a:prstDash val="solid"/>
          </a:ln>
        </p:spPr>
      </p:sp>
      <p:sp>
        <p:nvSpPr>
          <p:cNvPr id="3" name="Shape 1"/>
          <p:cNvSpPr/>
          <p:nvPr/>
        </p:nvSpPr>
        <p:spPr>
          <a:xfrm>
            <a:off x="0" y="6729984"/>
            <a:ext cx="12191695" cy="128016"/>
          </a:xfrm>
          <a:prstGeom prst="rect">
            <a:avLst/>
          </a:prstGeom>
          <a:solidFill>
            <a:srgbClr val="005088"/>
          </a:solidFill>
          <a:ln w="12700">
            <a:solidFill>
              <a:srgbClr val="005088"/>
            </a:solidFill>
            <a:prstDash val="solid"/>
          </a:ln>
        </p:spPr>
      </p:sp>
      <p:sp>
        <p:nvSpPr>
          <p:cNvPr id="4" name="Text 2"/>
          <p:cNvSpPr/>
          <p:nvPr/>
        </p:nvSpPr>
        <p:spPr>
          <a:xfrm>
            <a:off x="502920" y="210312"/>
            <a:ext cx="6858000" cy="219456"/>
          </a:xfrm>
          <a:prstGeom prst="rect">
            <a:avLst/>
          </a:prstGeom>
          <a:noFill/>
          <a:ln/>
        </p:spPr>
        <p:txBody>
          <a:bodyPr wrap="square" lIns="0" tIns="0" rIns="0" bIns="0" rtlCol="0" anchor="ctr"/>
          <a:lstStyle/>
          <a:p>
            <a:pPr indent="0" marL="0">
              <a:buNone/>
            </a:pPr>
            <a:r>
              <a:rPr lang="en-US" sz="950" b="1" dirty="0">
                <a:solidFill>
                  <a:srgbClr val="3D5A80"/>
                </a:solidFill>
                <a:latin typeface="Aptos" pitchFamily="34" charset="0"/>
                <a:ea typeface="Aptos" pitchFamily="34" charset="-122"/>
                <a:cs typeface="Aptos" pitchFamily="34" charset="-120"/>
              </a:rPr>
              <a:t>8.4.2 Electronic Circuits Domain</a:t>
            </a:r>
            <a:endParaRPr lang="en-US" sz="950" dirty="0"/>
          </a:p>
        </p:txBody>
      </p:sp>
      <p:sp>
        <p:nvSpPr>
          <p:cNvPr id="5" name="Text 3"/>
          <p:cNvSpPr/>
          <p:nvPr/>
        </p:nvSpPr>
        <p:spPr>
          <a:xfrm>
            <a:off x="11018520" y="201168"/>
            <a:ext cx="640080" cy="228600"/>
          </a:xfrm>
          <a:prstGeom prst="rect">
            <a:avLst/>
          </a:prstGeom>
          <a:noFill/>
          <a:ln/>
        </p:spPr>
        <p:txBody>
          <a:bodyPr wrap="square" lIns="0" tIns="0" rIns="0" bIns="0" rtlCol="0" anchor="ctr"/>
          <a:lstStyle/>
          <a:p>
            <a:pPr algn="r" indent="0" marL="0">
              <a:buNone/>
            </a:pPr>
            <a:r>
              <a:rPr lang="en-US" sz="900" b="1" dirty="0">
                <a:solidFill>
                  <a:srgbClr val="3D5A80"/>
                </a:solidFill>
              </a:rPr>
              <a:t>91</a:t>
            </a:r>
            <a:endParaRPr lang="en-US" sz="900" dirty="0"/>
          </a:p>
        </p:txBody>
      </p:sp>
      <p:sp>
        <p:nvSpPr>
          <p:cNvPr id="6" name="Text 4"/>
          <p:cNvSpPr/>
          <p:nvPr/>
        </p:nvSpPr>
        <p:spPr>
          <a:xfrm>
            <a:off x="502920" y="566928"/>
            <a:ext cx="11201400" cy="512064"/>
          </a:xfrm>
          <a:prstGeom prst="rect">
            <a:avLst/>
          </a:prstGeom>
          <a:noFill/>
          <a:ln/>
        </p:spPr>
        <p:txBody>
          <a:bodyPr wrap="square" lIns="0" tIns="0" rIns="0" bIns="0" rtlCol="0" anchor="ctr">
            <a:normAutofit/>
          </a:bodyPr>
          <a:lstStyle/>
          <a:p>
            <a:pPr indent="0" marL="0">
              <a:buNone/>
            </a:pPr>
            <a:r>
              <a:rPr lang="en-US" sz="2650" b="1" dirty="0">
                <a:solidFill>
                  <a:srgbClr val="005088"/>
                </a:solidFill>
                <a:latin typeface="Aptos Display" pitchFamily="34" charset="0"/>
                <a:ea typeface="Aptos Display" pitchFamily="34" charset="-122"/>
                <a:cs typeface="Aptos Display" pitchFamily="34" charset="-120"/>
              </a:rPr>
              <a:t>CIRCUIT VOCABULARY</a:t>
            </a:r>
            <a:endParaRPr lang="en-US" sz="2650" dirty="0"/>
          </a:p>
        </p:txBody>
      </p:sp>
      <p:sp>
        <p:nvSpPr>
          <p:cNvPr id="7" name="Shape 5"/>
          <p:cNvSpPr/>
          <p:nvPr/>
        </p:nvSpPr>
        <p:spPr>
          <a:xfrm>
            <a:off x="502920" y="1188720"/>
            <a:ext cx="11109960" cy="0"/>
          </a:xfrm>
          <a:prstGeom prst="line">
            <a:avLst/>
          </a:prstGeom>
          <a:noFill/>
          <a:ln w="12700">
            <a:solidFill>
              <a:srgbClr val="3D5A80"/>
            </a:solidFill>
            <a:prstDash val="solid"/>
          </a:ln>
        </p:spPr>
      </p:sp>
      <p:sp>
        <p:nvSpPr>
          <p:cNvPr id="8" name="Text 6"/>
          <p:cNvSpPr/>
          <p:nvPr/>
        </p:nvSpPr>
        <p:spPr>
          <a:xfrm>
            <a:off x="713232" y="1572768"/>
            <a:ext cx="5440680" cy="4251960"/>
          </a:xfrm>
          <a:prstGeom prst="rect">
            <a:avLst/>
          </a:prstGeom>
          <a:noFill/>
          <a:ln/>
        </p:spPr>
        <p:txBody>
          <a:bodyPr wrap="square" lIns="1016" tIns="1016" rIns="1016" bIns="1016" rtlCol="0" anchor="t">
            <a:normAutofit/>
          </a:bodyPr>
          <a:lstStyle/>
          <a:p>
            <a:pPr indent="0" marL="0">
              <a:buNone/>
            </a:pPr>
            <a:r>
              <a:rPr lang="en-US" sz="1650" dirty="0">
                <a:solidFill>
                  <a:srgbClr val="1E293B"/>
                </a:solidFill>
                <a:latin typeface="Aptos" pitchFamily="34" charset="0"/>
                <a:ea typeface="Aptos" pitchFamily="34" charset="-122"/>
                <a:cs typeface="Aptos" pitchFamily="34" charset="-120"/>
              </a:rPr>
              <a:t>• Circuit(c): c is a circuit</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Gate(g): g is a gate</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Terminal(t): t is an input or output terminal</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Type(g): the behavior type of gate g</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Connected(t₁,t₂): two terminals are wired together</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Signal(t): the signal value at terminal t</a:t>
            </a:r>
            <a:endParaRPr lang="en-US" sz="1650" dirty="0"/>
          </a:p>
        </p:txBody>
      </p:sp>
      <p:sp>
        <p:nvSpPr>
          <p:cNvPr id="9" name="Shape 7"/>
          <p:cNvSpPr/>
          <p:nvPr/>
        </p:nvSpPr>
        <p:spPr>
          <a:xfrm>
            <a:off x="6446520" y="1572768"/>
            <a:ext cx="5074920" cy="1234440"/>
          </a:xfrm>
          <a:prstGeom prst="roundRect">
            <a:avLst>
              <a:gd name="adj" fmla="val 5926"/>
            </a:avLst>
          </a:prstGeom>
          <a:solidFill>
            <a:srgbClr val="FFF6D9"/>
          </a:solidFill>
          <a:ln w="12700">
            <a:solidFill>
              <a:srgbClr val="F4A261"/>
            </a:solidFill>
            <a:prstDash val="solid"/>
          </a:ln>
        </p:spPr>
      </p:sp>
      <p:sp>
        <p:nvSpPr>
          <p:cNvPr id="10" name="Text 8"/>
          <p:cNvSpPr/>
          <p:nvPr/>
        </p:nvSpPr>
        <p:spPr>
          <a:xfrm>
            <a:off x="6629400" y="1709928"/>
            <a:ext cx="4709160" cy="219456"/>
          </a:xfrm>
          <a:prstGeom prst="rect">
            <a:avLst/>
          </a:prstGeom>
          <a:noFill/>
          <a:ln/>
        </p:spPr>
        <p:txBody>
          <a:bodyPr wrap="square" lIns="0" tIns="0" rIns="0" bIns="0" rtlCol="0" anchor="ctr"/>
          <a:lstStyle/>
          <a:p>
            <a:pPr indent="0" marL="0">
              <a:buNone/>
            </a:pPr>
            <a:r>
              <a:rPr lang="en-US" sz="950" b="1" dirty="0">
                <a:solidFill>
                  <a:srgbClr val="B0005D"/>
                </a:solidFill>
              </a:rPr>
              <a:t>ANALOGY</a:t>
            </a:r>
            <a:endParaRPr lang="en-US" sz="950" dirty="0"/>
          </a:p>
        </p:txBody>
      </p:sp>
      <p:sp>
        <p:nvSpPr>
          <p:cNvPr id="11" name="Text 9"/>
          <p:cNvSpPr/>
          <p:nvPr/>
        </p:nvSpPr>
        <p:spPr>
          <a:xfrm>
            <a:off x="6629400" y="1984248"/>
            <a:ext cx="4709160" cy="731520"/>
          </a:xfrm>
          <a:prstGeom prst="rect">
            <a:avLst/>
          </a:prstGeom>
          <a:noFill/>
          <a:ln/>
        </p:spPr>
        <p:txBody>
          <a:bodyPr wrap="square" lIns="254" tIns="254" rIns="254" bIns="254" rtlCol="0" anchor="t">
            <a:normAutofit/>
          </a:bodyPr>
          <a:lstStyle/>
          <a:p>
            <a:pPr indent="0" marL="0">
              <a:buNone/>
            </a:pPr>
            <a:r>
              <a:rPr lang="en-US" sz="1330" dirty="0">
                <a:solidFill>
                  <a:srgbClr val="1E293B"/>
                </a:solidFill>
              </a:rPr>
              <a:t>The vocabulary is a parts list plus a wiring vocabulary plus a signal vocabulary.</a:t>
            </a:r>
            <a:endParaRPr lang="en-US" sz="1330" dirty="0"/>
          </a:p>
        </p:txBody>
      </p:sp>
      <p:sp>
        <p:nvSpPr>
          <p:cNvPr id="12" name="Shape 10"/>
          <p:cNvSpPr/>
          <p:nvPr/>
        </p:nvSpPr>
        <p:spPr>
          <a:xfrm>
            <a:off x="6446520" y="2999232"/>
            <a:ext cx="5074920" cy="841248"/>
          </a:xfrm>
          <a:prstGeom prst="roundRect">
            <a:avLst>
              <a:gd name="adj" fmla="val 8696"/>
            </a:avLst>
          </a:prstGeom>
          <a:solidFill>
            <a:srgbClr val="FFFFFF">
              <a:alpha val="97000"/>
            </a:srgbClr>
          </a:solidFill>
          <a:ln w="12700">
            <a:solidFill>
              <a:srgbClr val="007C89"/>
            </a:solidFill>
            <a:prstDash val="solid"/>
          </a:ln>
        </p:spPr>
      </p:sp>
      <p:sp>
        <p:nvSpPr>
          <p:cNvPr id="13" name="Text 11"/>
          <p:cNvSpPr/>
          <p:nvPr/>
        </p:nvSpPr>
        <p:spPr>
          <a:xfrm>
            <a:off x="6611112" y="3127248"/>
            <a:ext cx="4745736" cy="658368"/>
          </a:xfrm>
          <a:prstGeom prst="rect">
            <a:avLst/>
          </a:prstGeom>
          <a:noFill/>
          <a:ln/>
        </p:spPr>
        <p:txBody>
          <a:bodyPr wrap="square" lIns="0" tIns="0" rIns="0" bIns="0" rtlCol="0" anchor="ctr">
            <a:normAutofit/>
          </a:bodyPr>
          <a:lstStyle/>
          <a:p>
            <a:pPr algn="ctr" indent="0" marL="0">
              <a:buNone/>
            </a:pPr>
            <a:r>
              <a:rPr lang="en-US" sz="1700" b="1" dirty="0">
                <a:solidFill>
                  <a:srgbClr val="005088"/>
                </a:solidFill>
                <a:latin typeface="Cambria Math" pitchFamily="34" charset="0"/>
                <a:ea typeface="Cambria Math" pitchFamily="34" charset="-122"/>
                <a:cs typeface="Cambria Math" pitchFamily="34" charset="-120"/>
              </a:rPr>
              <a:t>Gate, Terminal, Type, Connected, Signal</a:t>
            </a:r>
            <a:endParaRPr lang="en-US" sz="1700" dirty="0"/>
          </a:p>
        </p:txBody>
      </p:sp>
      <p:sp>
        <p:nvSpPr>
          <p:cNvPr id="14" name="Shape 12"/>
          <p:cNvSpPr/>
          <p:nvPr/>
        </p:nvSpPr>
        <p:spPr>
          <a:xfrm>
            <a:off x="6446520" y="4041648"/>
            <a:ext cx="5074920" cy="859536"/>
          </a:xfrm>
          <a:prstGeom prst="roundRect">
            <a:avLst>
              <a:gd name="adj" fmla="val 8511"/>
            </a:avLst>
          </a:prstGeom>
          <a:solidFill>
            <a:srgbClr val="FFE4E6"/>
          </a:solidFill>
          <a:ln w="12700">
            <a:solidFill>
              <a:srgbClr val="FDA4AF"/>
            </a:solidFill>
            <a:prstDash val="solid"/>
          </a:ln>
        </p:spPr>
      </p:sp>
      <p:sp>
        <p:nvSpPr>
          <p:cNvPr id="15" name="Text 13"/>
          <p:cNvSpPr/>
          <p:nvPr/>
        </p:nvSpPr>
        <p:spPr>
          <a:xfrm>
            <a:off x="6629400" y="4178808"/>
            <a:ext cx="4709160" cy="219456"/>
          </a:xfrm>
          <a:prstGeom prst="rect">
            <a:avLst/>
          </a:prstGeom>
          <a:noFill/>
          <a:ln/>
        </p:spPr>
        <p:txBody>
          <a:bodyPr wrap="square" lIns="0" tIns="0" rIns="0" bIns="0" rtlCol="0" anchor="ctr"/>
          <a:lstStyle/>
          <a:p>
            <a:pPr indent="0" marL="0">
              <a:buNone/>
            </a:pPr>
            <a:r>
              <a:rPr lang="en-US" sz="950" b="1" dirty="0">
                <a:solidFill>
                  <a:srgbClr val="C1121F"/>
                </a:solidFill>
              </a:rPr>
              <a:t>STUDENT GOTCHA</a:t>
            </a:r>
            <a:endParaRPr lang="en-US" sz="950" dirty="0"/>
          </a:p>
        </p:txBody>
      </p:sp>
      <p:sp>
        <p:nvSpPr>
          <p:cNvPr id="16" name="Text 14"/>
          <p:cNvSpPr/>
          <p:nvPr/>
        </p:nvSpPr>
        <p:spPr>
          <a:xfrm>
            <a:off x="6629400" y="4453128"/>
            <a:ext cx="4709160" cy="356616"/>
          </a:xfrm>
          <a:prstGeom prst="rect">
            <a:avLst/>
          </a:prstGeom>
          <a:noFill/>
          <a:ln/>
        </p:spPr>
        <p:txBody>
          <a:bodyPr wrap="square" lIns="254" tIns="254" rIns="254" bIns="254" rtlCol="0" anchor="t">
            <a:normAutofit/>
          </a:bodyPr>
          <a:lstStyle/>
          <a:p>
            <a:pPr indent="0" marL="0">
              <a:buNone/>
            </a:pPr>
            <a:r>
              <a:rPr lang="en-US" sz="1250" dirty="0">
                <a:solidFill>
                  <a:srgbClr val="1E293B"/>
                </a:solidFill>
              </a:rPr>
              <a:t>Students should classify each vocabulary item as predicate or function before using it.</a:t>
            </a:r>
            <a:endParaRPr lang="en-US" sz="1250" dirty="0"/>
          </a:p>
        </p:txBody>
      </p:sp>
      <p:sp>
        <p:nvSpPr>
          <p:cNvPr id="17" name="Shape 15"/>
          <p:cNvSpPr/>
          <p:nvPr/>
        </p:nvSpPr>
        <p:spPr>
          <a:xfrm>
            <a:off x="6446520" y="5074920"/>
            <a:ext cx="5074920" cy="841248"/>
          </a:xfrm>
          <a:prstGeom prst="roundRect">
            <a:avLst>
              <a:gd name="adj" fmla="val 8696"/>
            </a:avLst>
          </a:prstGeom>
          <a:solidFill>
            <a:srgbClr val="E6FFFA"/>
          </a:solidFill>
          <a:ln w="12700">
            <a:solidFill>
              <a:srgbClr val="2A9D8F"/>
            </a:solidFill>
            <a:prstDash val="solid"/>
          </a:ln>
        </p:spPr>
      </p:sp>
      <p:sp>
        <p:nvSpPr>
          <p:cNvPr id="18" name="Text 16"/>
          <p:cNvSpPr/>
          <p:nvPr/>
        </p:nvSpPr>
        <p:spPr>
          <a:xfrm>
            <a:off x="6629400" y="5212080"/>
            <a:ext cx="4709160" cy="219456"/>
          </a:xfrm>
          <a:prstGeom prst="rect">
            <a:avLst/>
          </a:prstGeom>
          <a:noFill/>
          <a:ln/>
        </p:spPr>
        <p:txBody>
          <a:bodyPr wrap="square" lIns="0" tIns="0" rIns="0" bIns="0" rtlCol="0" anchor="ctr"/>
          <a:lstStyle/>
          <a:p>
            <a:pPr indent="0" marL="0">
              <a:buNone/>
            </a:pPr>
            <a:r>
              <a:rPr lang="en-US" sz="950" b="1" dirty="0">
                <a:solidFill>
                  <a:srgbClr val="007C89"/>
                </a:solidFill>
              </a:rPr>
              <a:t>CLASS CHECK</a:t>
            </a:r>
            <a:endParaRPr lang="en-US" sz="950" dirty="0"/>
          </a:p>
        </p:txBody>
      </p:sp>
      <p:sp>
        <p:nvSpPr>
          <p:cNvPr id="19" name="Text 17"/>
          <p:cNvSpPr/>
          <p:nvPr/>
        </p:nvSpPr>
        <p:spPr>
          <a:xfrm>
            <a:off x="6629400" y="5486400"/>
            <a:ext cx="4709160" cy="338328"/>
          </a:xfrm>
          <a:prstGeom prst="rect">
            <a:avLst/>
          </a:prstGeom>
          <a:noFill/>
          <a:ln/>
        </p:spPr>
        <p:txBody>
          <a:bodyPr wrap="square" lIns="254" tIns="254" rIns="254" bIns="254" rtlCol="0" anchor="t">
            <a:normAutofit/>
          </a:bodyPr>
          <a:lstStyle/>
          <a:p>
            <a:pPr indent="0" marL="0">
              <a:buNone/>
            </a:pPr>
            <a:r>
              <a:rPr lang="en-US" sz="1270" dirty="0">
                <a:solidFill>
                  <a:srgbClr val="1E293B"/>
                </a:solidFill>
              </a:rPr>
              <a:t>Ask: Which items are predicates and which are functions?</a:t>
            </a:r>
            <a:endParaRPr lang="en-US" sz="127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5088"/>
          </a:solidFill>
          <a:ln w="12700">
            <a:solidFill>
              <a:srgbClr val="005088"/>
            </a:solidFill>
            <a:prstDash val="solid"/>
          </a:ln>
        </p:spPr>
      </p:sp>
      <p:sp>
        <p:nvSpPr>
          <p:cNvPr id="3" name="Shape 1"/>
          <p:cNvSpPr/>
          <p:nvPr/>
        </p:nvSpPr>
        <p:spPr>
          <a:xfrm>
            <a:off x="0" y="6729984"/>
            <a:ext cx="12191695" cy="128016"/>
          </a:xfrm>
          <a:prstGeom prst="rect">
            <a:avLst/>
          </a:prstGeom>
          <a:solidFill>
            <a:srgbClr val="005088"/>
          </a:solidFill>
          <a:ln w="12700">
            <a:solidFill>
              <a:srgbClr val="005088"/>
            </a:solidFill>
            <a:prstDash val="solid"/>
          </a:ln>
        </p:spPr>
      </p:sp>
      <p:sp>
        <p:nvSpPr>
          <p:cNvPr id="4" name="Text 2"/>
          <p:cNvSpPr/>
          <p:nvPr/>
        </p:nvSpPr>
        <p:spPr>
          <a:xfrm>
            <a:off x="502920" y="210312"/>
            <a:ext cx="6858000" cy="219456"/>
          </a:xfrm>
          <a:prstGeom prst="rect">
            <a:avLst/>
          </a:prstGeom>
          <a:noFill/>
          <a:ln/>
        </p:spPr>
        <p:txBody>
          <a:bodyPr wrap="square" lIns="0" tIns="0" rIns="0" bIns="0" rtlCol="0" anchor="ctr"/>
          <a:lstStyle/>
          <a:p>
            <a:pPr indent="0" marL="0">
              <a:buNone/>
            </a:pPr>
            <a:r>
              <a:rPr lang="en-US" sz="950" b="1" dirty="0">
                <a:solidFill>
                  <a:srgbClr val="3D5A80"/>
                </a:solidFill>
                <a:latin typeface="Aptos" pitchFamily="34" charset="0"/>
                <a:ea typeface="Aptos" pitchFamily="34" charset="-122"/>
                <a:cs typeface="Aptos" pitchFamily="34" charset="-120"/>
              </a:rPr>
              <a:t>8.4.2 Electronic Circuits Domain</a:t>
            </a:r>
            <a:endParaRPr lang="en-US" sz="950" dirty="0"/>
          </a:p>
        </p:txBody>
      </p:sp>
      <p:sp>
        <p:nvSpPr>
          <p:cNvPr id="5" name="Text 3"/>
          <p:cNvSpPr/>
          <p:nvPr/>
        </p:nvSpPr>
        <p:spPr>
          <a:xfrm>
            <a:off x="11018520" y="201168"/>
            <a:ext cx="640080" cy="228600"/>
          </a:xfrm>
          <a:prstGeom prst="rect">
            <a:avLst/>
          </a:prstGeom>
          <a:noFill/>
          <a:ln/>
        </p:spPr>
        <p:txBody>
          <a:bodyPr wrap="square" lIns="0" tIns="0" rIns="0" bIns="0" rtlCol="0" anchor="ctr"/>
          <a:lstStyle/>
          <a:p>
            <a:pPr algn="r" indent="0" marL="0">
              <a:buNone/>
            </a:pPr>
            <a:r>
              <a:rPr lang="en-US" sz="900" b="1" dirty="0">
                <a:solidFill>
                  <a:srgbClr val="3D5A80"/>
                </a:solidFill>
              </a:rPr>
              <a:t>92</a:t>
            </a:r>
            <a:endParaRPr lang="en-US" sz="900" dirty="0"/>
          </a:p>
        </p:txBody>
      </p:sp>
      <p:sp>
        <p:nvSpPr>
          <p:cNvPr id="6" name="Text 4"/>
          <p:cNvSpPr/>
          <p:nvPr/>
        </p:nvSpPr>
        <p:spPr>
          <a:xfrm>
            <a:off x="502920" y="566928"/>
            <a:ext cx="11201400" cy="512064"/>
          </a:xfrm>
          <a:prstGeom prst="rect">
            <a:avLst/>
          </a:prstGeom>
          <a:noFill/>
          <a:ln/>
        </p:spPr>
        <p:txBody>
          <a:bodyPr wrap="square" lIns="0" tIns="0" rIns="0" bIns="0" rtlCol="0" anchor="ctr">
            <a:normAutofit/>
          </a:bodyPr>
          <a:lstStyle/>
          <a:p>
            <a:pPr indent="0" marL="0">
              <a:buNone/>
            </a:pPr>
            <a:r>
              <a:rPr lang="en-US" sz="2650" b="1" dirty="0">
                <a:solidFill>
                  <a:srgbClr val="005088"/>
                </a:solidFill>
                <a:latin typeface="Aptos Display" pitchFamily="34" charset="0"/>
                <a:ea typeface="Aptos Display" pitchFamily="34" charset="-122"/>
                <a:cs typeface="Aptos Display" pitchFamily="34" charset="-120"/>
              </a:rPr>
              <a:t>TERMINALS AS FUNCTION TERMS</a:t>
            </a:r>
            <a:endParaRPr lang="en-US" sz="2650" dirty="0"/>
          </a:p>
        </p:txBody>
      </p:sp>
      <p:sp>
        <p:nvSpPr>
          <p:cNvPr id="7" name="Shape 5"/>
          <p:cNvSpPr/>
          <p:nvPr/>
        </p:nvSpPr>
        <p:spPr>
          <a:xfrm>
            <a:off x="502920" y="1188720"/>
            <a:ext cx="11109960" cy="0"/>
          </a:xfrm>
          <a:prstGeom prst="line">
            <a:avLst/>
          </a:prstGeom>
          <a:noFill/>
          <a:ln w="12700">
            <a:solidFill>
              <a:srgbClr val="3D5A80"/>
            </a:solidFill>
            <a:prstDash val="solid"/>
          </a:ln>
        </p:spPr>
      </p:sp>
      <p:sp>
        <p:nvSpPr>
          <p:cNvPr id="8" name="Text 6"/>
          <p:cNvSpPr/>
          <p:nvPr/>
        </p:nvSpPr>
        <p:spPr>
          <a:xfrm>
            <a:off x="713232" y="1572768"/>
            <a:ext cx="5440680" cy="4251960"/>
          </a:xfrm>
          <a:prstGeom prst="rect">
            <a:avLst/>
          </a:prstGeom>
          <a:noFill/>
          <a:ln/>
        </p:spPr>
        <p:txBody>
          <a:bodyPr wrap="square" lIns="1016" tIns="1016" rIns="1016" bIns="1016" rtlCol="0" anchor="t">
            <a:normAutofit/>
          </a:bodyPr>
          <a:lstStyle/>
          <a:p>
            <a:pPr indent="0" marL="0">
              <a:buNone/>
            </a:pPr>
            <a:r>
              <a:rPr lang="en-US" sz="1650" dirty="0">
                <a:solidFill>
                  <a:srgbClr val="1E293B"/>
                </a:solidFill>
                <a:latin typeface="Aptos" pitchFamily="34" charset="0"/>
                <a:ea typeface="Aptos" pitchFamily="34" charset="-122"/>
                <a:cs typeface="Aptos" pitchFamily="34" charset="-120"/>
              </a:rPr>
              <a:t>• In(n,c) refers to the nth input terminal of circuit c</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Out(n,c) refers to the nth output terminal of circuit c</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These are terms because they name objects</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The predicate Terminal can then make claims about them</a:t>
            </a:r>
            <a:endParaRPr lang="en-US" sz="1650" dirty="0"/>
          </a:p>
        </p:txBody>
      </p:sp>
      <p:sp>
        <p:nvSpPr>
          <p:cNvPr id="9" name="Shape 7"/>
          <p:cNvSpPr/>
          <p:nvPr/>
        </p:nvSpPr>
        <p:spPr>
          <a:xfrm>
            <a:off x="6446520" y="1572768"/>
            <a:ext cx="5074920" cy="1234440"/>
          </a:xfrm>
          <a:prstGeom prst="roundRect">
            <a:avLst>
              <a:gd name="adj" fmla="val 5926"/>
            </a:avLst>
          </a:prstGeom>
          <a:solidFill>
            <a:srgbClr val="FFF6D9"/>
          </a:solidFill>
          <a:ln w="12700">
            <a:solidFill>
              <a:srgbClr val="F4A261"/>
            </a:solidFill>
            <a:prstDash val="solid"/>
          </a:ln>
        </p:spPr>
      </p:sp>
      <p:sp>
        <p:nvSpPr>
          <p:cNvPr id="10" name="Text 8"/>
          <p:cNvSpPr/>
          <p:nvPr/>
        </p:nvSpPr>
        <p:spPr>
          <a:xfrm>
            <a:off x="6629400" y="1709928"/>
            <a:ext cx="4709160" cy="219456"/>
          </a:xfrm>
          <a:prstGeom prst="rect">
            <a:avLst/>
          </a:prstGeom>
          <a:noFill/>
          <a:ln/>
        </p:spPr>
        <p:txBody>
          <a:bodyPr wrap="square" lIns="0" tIns="0" rIns="0" bIns="0" rtlCol="0" anchor="ctr"/>
          <a:lstStyle/>
          <a:p>
            <a:pPr indent="0" marL="0">
              <a:buNone/>
            </a:pPr>
            <a:r>
              <a:rPr lang="en-US" sz="950" b="1" dirty="0">
                <a:solidFill>
                  <a:srgbClr val="B0005D"/>
                </a:solidFill>
              </a:rPr>
              <a:t>ANALOGY</a:t>
            </a:r>
            <a:endParaRPr lang="en-US" sz="950" dirty="0"/>
          </a:p>
        </p:txBody>
      </p:sp>
      <p:sp>
        <p:nvSpPr>
          <p:cNvPr id="11" name="Text 9"/>
          <p:cNvSpPr/>
          <p:nvPr/>
        </p:nvSpPr>
        <p:spPr>
          <a:xfrm>
            <a:off x="6629400" y="1984248"/>
            <a:ext cx="4709160" cy="731520"/>
          </a:xfrm>
          <a:prstGeom prst="rect">
            <a:avLst/>
          </a:prstGeom>
          <a:noFill/>
          <a:ln/>
        </p:spPr>
        <p:txBody>
          <a:bodyPr wrap="square" lIns="254" tIns="254" rIns="254" bIns="254" rtlCol="0" anchor="t">
            <a:normAutofit/>
          </a:bodyPr>
          <a:lstStyle/>
          <a:p>
            <a:pPr indent="0" marL="0">
              <a:buNone/>
            </a:pPr>
            <a:r>
              <a:rPr lang="en-US" sz="1330" dirty="0">
                <a:solidFill>
                  <a:srgbClr val="1E293B"/>
                </a:solidFill>
              </a:rPr>
              <a:t>“The first seat in row three” names a seat without giving the seat a personal name.</a:t>
            </a:r>
            <a:endParaRPr lang="en-US" sz="1330" dirty="0"/>
          </a:p>
        </p:txBody>
      </p:sp>
      <p:sp>
        <p:nvSpPr>
          <p:cNvPr id="12" name="Shape 10"/>
          <p:cNvSpPr/>
          <p:nvPr/>
        </p:nvSpPr>
        <p:spPr>
          <a:xfrm>
            <a:off x="6446520" y="2999232"/>
            <a:ext cx="5074920" cy="841248"/>
          </a:xfrm>
          <a:prstGeom prst="roundRect">
            <a:avLst>
              <a:gd name="adj" fmla="val 8696"/>
            </a:avLst>
          </a:prstGeom>
          <a:solidFill>
            <a:srgbClr val="FFFFFF">
              <a:alpha val="97000"/>
            </a:srgbClr>
          </a:solidFill>
          <a:ln w="12700">
            <a:solidFill>
              <a:srgbClr val="007C89"/>
            </a:solidFill>
            <a:prstDash val="solid"/>
          </a:ln>
        </p:spPr>
      </p:sp>
      <p:sp>
        <p:nvSpPr>
          <p:cNvPr id="13" name="Text 11"/>
          <p:cNvSpPr/>
          <p:nvPr/>
        </p:nvSpPr>
        <p:spPr>
          <a:xfrm>
            <a:off x="6611112" y="3127248"/>
            <a:ext cx="4745736" cy="658368"/>
          </a:xfrm>
          <a:prstGeom prst="rect">
            <a:avLst/>
          </a:prstGeom>
          <a:noFill/>
          <a:ln/>
        </p:spPr>
        <p:txBody>
          <a:bodyPr wrap="square" lIns="0" tIns="0" rIns="0" bIns="0" rtlCol="0" anchor="ctr">
            <a:normAutofit/>
          </a:bodyPr>
          <a:lstStyle/>
          <a:p>
            <a:pPr algn="ctr" indent="0" marL="0">
              <a:buNone/>
            </a:pPr>
            <a:r>
              <a:rPr lang="en-US" sz="1700" b="1" dirty="0">
                <a:solidFill>
                  <a:srgbClr val="005088"/>
                </a:solidFill>
                <a:latin typeface="Cambria Math" pitchFamily="34" charset="0"/>
                <a:ea typeface="Cambria Math" pitchFamily="34" charset="-122"/>
                <a:cs typeface="Cambria Math" pitchFamily="34" charset="-120"/>
              </a:rPr>
              <a:t>Terminal(In(1, CircuitOne))</a:t>
            </a:r>
            <a:endParaRPr lang="en-US" sz="1700" dirty="0"/>
          </a:p>
        </p:txBody>
      </p:sp>
      <p:sp>
        <p:nvSpPr>
          <p:cNvPr id="14" name="Shape 12"/>
          <p:cNvSpPr/>
          <p:nvPr/>
        </p:nvSpPr>
        <p:spPr>
          <a:xfrm>
            <a:off x="6446520" y="4041648"/>
            <a:ext cx="5074920" cy="859536"/>
          </a:xfrm>
          <a:prstGeom prst="roundRect">
            <a:avLst>
              <a:gd name="adj" fmla="val 8511"/>
            </a:avLst>
          </a:prstGeom>
          <a:solidFill>
            <a:srgbClr val="FFE4E6"/>
          </a:solidFill>
          <a:ln w="12700">
            <a:solidFill>
              <a:srgbClr val="FDA4AF"/>
            </a:solidFill>
            <a:prstDash val="solid"/>
          </a:ln>
        </p:spPr>
      </p:sp>
      <p:sp>
        <p:nvSpPr>
          <p:cNvPr id="15" name="Text 13"/>
          <p:cNvSpPr/>
          <p:nvPr/>
        </p:nvSpPr>
        <p:spPr>
          <a:xfrm>
            <a:off x="6629400" y="4178808"/>
            <a:ext cx="4709160" cy="219456"/>
          </a:xfrm>
          <a:prstGeom prst="rect">
            <a:avLst/>
          </a:prstGeom>
          <a:noFill/>
          <a:ln/>
        </p:spPr>
        <p:txBody>
          <a:bodyPr wrap="square" lIns="0" tIns="0" rIns="0" bIns="0" rtlCol="0" anchor="ctr"/>
          <a:lstStyle/>
          <a:p>
            <a:pPr indent="0" marL="0">
              <a:buNone/>
            </a:pPr>
            <a:r>
              <a:rPr lang="en-US" sz="950" b="1" dirty="0">
                <a:solidFill>
                  <a:srgbClr val="C1121F"/>
                </a:solidFill>
              </a:rPr>
              <a:t>STUDENT GOTCHA</a:t>
            </a:r>
            <a:endParaRPr lang="en-US" sz="950" dirty="0"/>
          </a:p>
        </p:txBody>
      </p:sp>
      <p:sp>
        <p:nvSpPr>
          <p:cNvPr id="16" name="Text 14"/>
          <p:cNvSpPr/>
          <p:nvPr/>
        </p:nvSpPr>
        <p:spPr>
          <a:xfrm>
            <a:off x="6629400" y="4453128"/>
            <a:ext cx="4709160" cy="356616"/>
          </a:xfrm>
          <a:prstGeom prst="rect">
            <a:avLst/>
          </a:prstGeom>
          <a:noFill/>
          <a:ln/>
        </p:spPr>
        <p:txBody>
          <a:bodyPr wrap="square" lIns="254" tIns="254" rIns="254" bIns="254" rtlCol="0" anchor="t">
            <a:normAutofit/>
          </a:bodyPr>
          <a:lstStyle/>
          <a:p>
            <a:pPr indent="0" marL="0">
              <a:buNone/>
            </a:pPr>
            <a:r>
              <a:rPr lang="en-US" sz="1250" dirty="0">
                <a:solidFill>
                  <a:srgbClr val="1E293B"/>
                </a:solidFill>
              </a:rPr>
              <a:t>In(1,CircuitOne) alone is a term, not a sentence. Terminal(In(1,CircuitOne)) is a sentence.</a:t>
            </a:r>
            <a:endParaRPr lang="en-US" sz="1250" dirty="0"/>
          </a:p>
        </p:txBody>
      </p:sp>
      <p:sp>
        <p:nvSpPr>
          <p:cNvPr id="17" name="Shape 15"/>
          <p:cNvSpPr/>
          <p:nvPr/>
        </p:nvSpPr>
        <p:spPr>
          <a:xfrm>
            <a:off x="6446520" y="5074920"/>
            <a:ext cx="5074920" cy="841248"/>
          </a:xfrm>
          <a:prstGeom prst="roundRect">
            <a:avLst>
              <a:gd name="adj" fmla="val 8696"/>
            </a:avLst>
          </a:prstGeom>
          <a:solidFill>
            <a:srgbClr val="E6FFFA"/>
          </a:solidFill>
          <a:ln w="12700">
            <a:solidFill>
              <a:srgbClr val="2A9D8F"/>
            </a:solidFill>
            <a:prstDash val="solid"/>
          </a:ln>
        </p:spPr>
      </p:sp>
      <p:sp>
        <p:nvSpPr>
          <p:cNvPr id="18" name="Text 16"/>
          <p:cNvSpPr/>
          <p:nvPr/>
        </p:nvSpPr>
        <p:spPr>
          <a:xfrm>
            <a:off x="6629400" y="5212080"/>
            <a:ext cx="4709160" cy="219456"/>
          </a:xfrm>
          <a:prstGeom prst="rect">
            <a:avLst/>
          </a:prstGeom>
          <a:noFill/>
          <a:ln/>
        </p:spPr>
        <p:txBody>
          <a:bodyPr wrap="square" lIns="0" tIns="0" rIns="0" bIns="0" rtlCol="0" anchor="ctr"/>
          <a:lstStyle/>
          <a:p>
            <a:pPr indent="0" marL="0">
              <a:buNone/>
            </a:pPr>
            <a:r>
              <a:rPr lang="en-US" sz="950" b="1" dirty="0">
                <a:solidFill>
                  <a:srgbClr val="007C89"/>
                </a:solidFill>
              </a:rPr>
              <a:t>CLASS CHECK</a:t>
            </a:r>
            <a:endParaRPr lang="en-US" sz="950" dirty="0"/>
          </a:p>
        </p:txBody>
      </p:sp>
      <p:sp>
        <p:nvSpPr>
          <p:cNvPr id="19" name="Text 17"/>
          <p:cNvSpPr/>
          <p:nvPr/>
        </p:nvSpPr>
        <p:spPr>
          <a:xfrm>
            <a:off x="6629400" y="5486400"/>
            <a:ext cx="4709160" cy="338328"/>
          </a:xfrm>
          <a:prstGeom prst="rect">
            <a:avLst/>
          </a:prstGeom>
          <a:noFill/>
          <a:ln/>
        </p:spPr>
        <p:txBody>
          <a:bodyPr wrap="square" lIns="254" tIns="254" rIns="254" bIns="254" rtlCol="0" anchor="t">
            <a:normAutofit/>
          </a:bodyPr>
          <a:lstStyle/>
          <a:p>
            <a:pPr indent="0" marL="0">
              <a:buNone/>
            </a:pPr>
            <a:r>
              <a:rPr lang="en-US" sz="1270" dirty="0">
                <a:solidFill>
                  <a:srgbClr val="1E293B"/>
                </a:solidFill>
              </a:rPr>
              <a:t>Ask students to classify Out(2,CircuitOne).</a:t>
            </a:r>
            <a:endParaRPr lang="en-US" sz="127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5088"/>
          </a:solidFill>
          <a:ln w="12700">
            <a:solidFill>
              <a:srgbClr val="005088"/>
            </a:solidFill>
            <a:prstDash val="solid"/>
          </a:ln>
        </p:spPr>
      </p:sp>
      <p:sp>
        <p:nvSpPr>
          <p:cNvPr id="3" name="Shape 1"/>
          <p:cNvSpPr/>
          <p:nvPr/>
        </p:nvSpPr>
        <p:spPr>
          <a:xfrm>
            <a:off x="0" y="6729984"/>
            <a:ext cx="12191695" cy="128016"/>
          </a:xfrm>
          <a:prstGeom prst="rect">
            <a:avLst/>
          </a:prstGeom>
          <a:solidFill>
            <a:srgbClr val="005088"/>
          </a:solidFill>
          <a:ln w="12700">
            <a:solidFill>
              <a:srgbClr val="005088"/>
            </a:solidFill>
            <a:prstDash val="solid"/>
          </a:ln>
        </p:spPr>
      </p:sp>
      <p:sp>
        <p:nvSpPr>
          <p:cNvPr id="4" name="Text 2"/>
          <p:cNvSpPr/>
          <p:nvPr/>
        </p:nvSpPr>
        <p:spPr>
          <a:xfrm>
            <a:off x="502920" y="210312"/>
            <a:ext cx="6858000" cy="219456"/>
          </a:xfrm>
          <a:prstGeom prst="rect">
            <a:avLst/>
          </a:prstGeom>
          <a:noFill/>
          <a:ln/>
        </p:spPr>
        <p:txBody>
          <a:bodyPr wrap="square" lIns="0" tIns="0" rIns="0" bIns="0" rtlCol="0" anchor="ctr"/>
          <a:lstStyle/>
          <a:p>
            <a:pPr indent="0" marL="0">
              <a:buNone/>
            </a:pPr>
            <a:r>
              <a:rPr lang="en-US" sz="950" b="1" dirty="0">
                <a:solidFill>
                  <a:srgbClr val="3D5A80"/>
                </a:solidFill>
                <a:latin typeface="Aptos" pitchFamily="34" charset="0"/>
                <a:ea typeface="Aptos" pitchFamily="34" charset="-122"/>
                <a:cs typeface="Aptos" pitchFamily="34" charset="-120"/>
              </a:rPr>
              <a:t>8.4.2 Electronic Circuits Domain</a:t>
            </a:r>
            <a:endParaRPr lang="en-US" sz="950" dirty="0"/>
          </a:p>
        </p:txBody>
      </p:sp>
      <p:sp>
        <p:nvSpPr>
          <p:cNvPr id="5" name="Text 3"/>
          <p:cNvSpPr/>
          <p:nvPr/>
        </p:nvSpPr>
        <p:spPr>
          <a:xfrm>
            <a:off x="11018520" y="201168"/>
            <a:ext cx="640080" cy="228600"/>
          </a:xfrm>
          <a:prstGeom prst="rect">
            <a:avLst/>
          </a:prstGeom>
          <a:noFill/>
          <a:ln/>
        </p:spPr>
        <p:txBody>
          <a:bodyPr wrap="square" lIns="0" tIns="0" rIns="0" bIns="0" rtlCol="0" anchor="ctr"/>
          <a:lstStyle/>
          <a:p>
            <a:pPr algn="r" indent="0" marL="0">
              <a:buNone/>
            </a:pPr>
            <a:r>
              <a:rPr lang="en-US" sz="900" b="1" dirty="0">
                <a:solidFill>
                  <a:srgbClr val="3D5A80"/>
                </a:solidFill>
              </a:rPr>
              <a:t>93</a:t>
            </a:r>
            <a:endParaRPr lang="en-US" sz="900" dirty="0"/>
          </a:p>
        </p:txBody>
      </p:sp>
      <p:sp>
        <p:nvSpPr>
          <p:cNvPr id="6" name="Text 4"/>
          <p:cNvSpPr/>
          <p:nvPr/>
        </p:nvSpPr>
        <p:spPr>
          <a:xfrm>
            <a:off x="502920" y="566928"/>
            <a:ext cx="11201400" cy="512064"/>
          </a:xfrm>
          <a:prstGeom prst="rect">
            <a:avLst/>
          </a:prstGeom>
          <a:noFill/>
          <a:ln/>
        </p:spPr>
        <p:txBody>
          <a:bodyPr wrap="square" lIns="0" tIns="0" rIns="0" bIns="0" rtlCol="0" anchor="ctr">
            <a:normAutofit/>
          </a:bodyPr>
          <a:lstStyle/>
          <a:p>
            <a:pPr indent="0" marL="0">
              <a:buNone/>
            </a:pPr>
            <a:r>
              <a:rPr lang="en-US" sz="2650" b="1" dirty="0">
                <a:solidFill>
                  <a:srgbClr val="005088"/>
                </a:solidFill>
                <a:latin typeface="Aptos Display" pitchFamily="34" charset="0"/>
                <a:ea typeface="Aptos Display" pitchFamily="34" charset="-122"/>
                <a:cs typeface="Aptos Display" pitchFamily="34" charset="-120"/>
              </a:rPr>
              <a:t>GENERAL AXIOM: CONNECTED TERMINALS SHARE SIGNAL</a:t>
            </a:r>
            <a:endParaRPr lang="en-US" sz="2650" dirty="0"/>
          </a:p>
        </p:txBody>
      </p:sp>
      <p:sp>
        <p:nvSpPr>
          <p:cNvPr id="7" name="Shape 5"/>
          <p:cNvSpPr/>
          <p:nvPr/>
        </p:nvSpPr>
        <p:spPr>
          <a:xfrm>
            <a:off x="502920" y="1188720"/>
            <a:ext cx="11109960" cy="0"/>
          </a:xfrm>
          <a:prstGeom prst="line">
            <a:avLst/>
          </a:prstGeom>
          <a:noFill/>
          <a:ln w="12700">
            <a:solidFill>
              <a:srgbClr val="3D5A80"/>
            </a:solidFill>
            <a:prstDash val="solid"/>
          </a:ln>
        </p:spPr>
      </p:sp>
      <p:sp>
        <p:nvSpPr>
          <p:cNvPr id="8" name="Text 6"/>
          <p:cNvSpPr/>
          <p:nvPr/>
        </p:nvSpPr>
        <p:spPr>
          <a:xfrm>
            <a:off x="713232" y="1572768"/>
            <a:ext cx="5440680" cy="4251960"/>
          </a:xfrm>
          <a:prstGeom prst="rect">
            <a:avLst/>
          </a:prstGeom>
          <a:noFill/>
          <a:ln/>
        </p:spPr>
        <p:txBody>
          <a:bodyPr wrap="square" lIns="1016" tIns="1016" rIns="1016" bIns="1016" rtlCol="0" anchor="t">
            <a:normAutofit/>
          </a:bodyPr>
          <a:lstStyle/>
          <a:p>
            <a:pPr indent="0" marL="0">
              <a:buNone/>
            </a:pPr>
            <a:r>
              <a:rPr lang="en-US" sz="1650" dirty="0">
                <a:solidFill>
                  <a:srgbClr val="1E293B"/>
                </a:solidFill>
                <a:latin typeface="Aptos" pitchFamily="34" charset="0"/>
                <a:ea typeface="Aptos" pitchFamily="34" charset="-122"/>
                <a:cs typeface="Aptos" pitchFamily="34" charset="-120"/>
              </a:rPr>
              <a:t>• If two terminals are connected, they carry the same signal</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The rule applies to any terminals</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It ignores wire delay and faults</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It is reusable across circuits</a:t>
            </a:r>
            <a:endParaRPr lang="en-US" sz="1650" dirty="0"/>
          </a:p>
        </p:txBody>
      </p:sp>
      <p:sp>
        <p:nvSpPr>
          <p:cNvPr id="9" name="Shape 7"/>
          <p:cNvSpPr/>
          <p:nvPr/>
        </p:nvSpPr>
        <p:spPr>
          <a:xfrm>
            <a:off x="6446520" y="1572768"/>
            <a:ext cx="5074920" cy="1234440"/>
          </a:xfrm>
          <a:prstGeom prst="roundRect">
            <a:avLst>
              <a:gd name="adj" fmla="val 5926"/>
            </a:avLst>
          </a:prstGeom>
          <a:solidFill>
            <a:srgbClr val="FFF6D9"/>
          </a:solidFill>
          <a:ln w="12700">
            <a:solidFill>
              <a:srgbClr val="F4A261"/>
            </a:solidFill>
            <a:prstDash val="solid"/>
          </a:ln>
        </p:spPr>
      </p:sp>
      <p:sp>
        <p:nvSpPr>
          <p:cNvPr id="10" name="Text 8"/>
          <p:cNvSpPr/>
          <p:nvPr/>
        </p:nvSpPr>
        <p:spPr>
          <a:xfrm>
            <a:off x="6629400" y="1709928"/>
            <a:ext cx="4709160" cy="219456"/>
          </a:xfrm>
          <a:prstGeom prst="rect">
            <a:avLst/>
          </a:prstGeom>
          <a:noFill/>
          <a:ln/>
        </p:spPr>
        <p:txBody>
          <a:bodyPr wrap="square" lIns="0" tIns="0" rIns="0" bIns="0" rtlCol="0" anchor="ctr"/>
          <a:lstStyle/>
          <a:p>
            <a:pPr indent="0" marL="0">
              <a:buNone/>
            </a:pPr>
            <a:r>
              <a:rPr lang="en-US" sz="950" b="1" dirty="0">
                <a:solidFill>
                  <a:srgbClr val="B0005D"/>
                </a:solidFill>
              </a:rPr>
              <a:t>ANALOGY</a:t>
            </a:r>
            <a:endParaRPr lang="en-US" sz="950" dirty="0"/>
          </a:p>
        </p:txBody>
      </p:sp>
      <p:sp>
        <p:nvSpPr>
          <p:cNvPr id="11" name="Text 9"/>
          <p:cNvSpPr/>
          <p:nvPr/>
        </p:nvSpPr>
        <p:spPr>
          <a:xfrm>
            <a:off x="6629400" y="1984248"/>
            <a:ext cx="4709160" cy="731520"/>
          </a:xfrm>
          <a:prstGeom prst="rect">
            <a:avLst/>
          </a:prstGeom>
          <a:noFill/>
          <a:ln/>
        </p:spPr>
        <p:txBody>
          <a:bodyPr wrap="square" lIns="254" tIns="254" rIns="254" bIns="254" rtlCol="0" anchor="t">
            <a:normAutofit/>
          </a:bodyPr>
          <a:lstStyle/>
          <a:p>
            <a:pPr indent="0" marL="0">
              <a:buNone/>
            </a:pPr>
            <a:r>
              <a:rPr lang="en-US" sz="1330" dirty="0">
                <a:solidFill>
                  <a:srgbClr val="1E293B"/>
                </a:solidFill>
              </a:rPr>
              <a:t>Two rooms connected by an open doorway share the same hallway access in a simplified floor plan.</a:t>
            </a:r>
            <a:endParaRPr lang="en-US" sz="1330" dirty="0"/>
          </a:p>
        </p:txBody>
      </p:sp>
      <p:sp>
        <p:nvSpPr>
          <p:cNvPr id="12" name="Shape 10"/>
          <p:cNvSpPr/>
          <p:nvPr/>
        </p:nvSpPr>
        <p:spPr>
          <a:xfrm>
            <a:off x="6446520" y="2999232"/>
            <a:ext cx="5074920" cy="841248"/>
          </a:xfrm>
          <a:prstGeom prst="roundRect">
            <a:avLst>
              <a:gd name="adj" fmla="val 8696"/>
            </a:avLst>
          </a:prstGeom>
          <a:solidFill>
            <a:srgbClr val="FFFFFF">
              <a:alpha val="97000"/>
            </a:srgbClr>
          </a:solidFill>
          <a:ln w="12700">
            <a:solidFill>
              <a:srgbClr val="007C89"/>
            </a:solidFill>
            <a:prstDash val="solid"/>
          </a:ln>
        </p:spPr>
      </p:sp>
      <p:sp>
        <p:nvSpPr>
          <p:cNvPr id="13" name="Text 11"/>
          <p:cNvSpPr/>
          <p:nvPr/>
        </p:nvSpPr>
        <p:spPr>
          <a:xfrm>
            <a:off x="6611112" y="3127248"/>
            <a:ext cx="4745736" cy="658368"/>
          </a:xfrm>
          <a:prstGeom prst="rect">
            <a:avLst/>
          </a:prstGeom>
          <a:noFill/>
          <a:ln/>
        </p:spPr>
        <p:txBody>
          <a:bodyPr wrap="square" lIns="0" tIns="0" rIns="0" bIns="0" rtlCol="0" anchor="ctr">
            <a:normAutofit/>
          </a:bodyPr>
          <a:lstStyle/>
          <a:p>
            <a:pPr algn="ctr" indent="0" marL="0">
              <a:buNone/>
            </a:pPr>
            <a:r>
              <a:rPr lang="en-US" sz="1550" b="1" dirty="0">
                <a:solidFill>
                  <a:srgbClr val="005088"/>
                </a:solidFill>
                <a:latin typeface="Cambria Math" pitchFamily="34" charset="0"/>
                <a:ea typeface="Cambria Math" pitchFamily="34" charset="-122"/>
                <a:cs typeface="Cambria Math" pitchFamily="34" charset="-120"/>
              </a:rPr>
              <a:t>Connected(t₁,t₂) ⇒ Signal(t₁)=Signal(t₂)</a:t>
            </a:r>
            <a:endParaRPr lang="en-US" sz="1550" dirty="0"/>
          </a:p>
        </p:txBody>
      </p:sp>
      <p:sp>
        <p:nvSpPr>
          <p:cNvPr id="14" name="Shape 12"/>
          <p:cNvSpPr/>
          <p:nvPr/>
        </p:nvSpPr>
        <p:spPr>
          <a:xfrm>
            <a:off x="6446520" y="4041648"/>
            <a:ext cx="5074920" cy="859536"/>
          </a:xfrm>
          <a:prstGeom prst="roundRect">
            <a:avLst>
              <a:gd name="adj" fmla="val 8511"/>
            </a:avLst>
          </a:prstGeom>
          <a:solidFill>
            <a:srgbClr val="FFE4E6"/>
          </a:solidFill>
          <a:ln w="12700">
            <a:solidFill>
              <a:srgbClr val="FDA4AF"/>
            </a:solidFill>
            <a:prstDash val="solid"/>
          </a:ln>
        </p:spPr>
      </p:sp>
      <p:sp>
        <p:nvSpPr>
          <p:cNvPr id="15" name="Text 13"/>
          <p:cNvSpPr/>
          <p:nvPr/>
        </p:nvSpPr>
        <p:spPr>
          <a:xfrm>
            <a:off x="6629400" y="4178808"/>
            <a:ext cx="4709160" cy="219456"/>
          </a:xfrm>
          <a:prstGeom prst="rect">
            <a:avLst/>
          </a:prstGeom>
          <a:noFill/>
          <a:ln/>
        </p:spPr>
        <p:txBody>
          <a:bodyPr wrap="square" lIns="0" tIns="0" rIns="0" bIns="0" rtlCol="0" anchor="ctr"/>
          <a:lstStyle/>
          <a:p>
            <a:pPr indent="0" marL="0">
              <a:buNone/>
            </a:pPr>
            <a:r>
              <a:rPr lang="en-US" sz="950" b="1" dirty="0">
                <a:solidFill>
                  <a:srgbClr val="C1121F"/>
                </a:solidFill>
              </a:rPr>
              <a:t>STUDENT GOTCHA</a:t>
            </a:r>
            <a:endParaRPr lang="en-US" sz="950" dirty="0"/>
          </a:p>
        </p:txBody>
      </p:sp>
      <p:sp>
        <p:nvSpPr>
          <p:cNvPr id="16" name="Text 14"/>
          <p:cNvSpPr/>
          <p:nvPr/>
        </p:nvSpPr>
        <p:spPr>
          <a:xfrm>
            <a:off x="6629400" y="4453128"/>
            <a:ext cx="4709160" cy="356616"/>
          </a:xfrm>
          <a:prstGeom prst="rect">
            <a:avLst/>
          </a:prstGeom>
          <a:noFill/>
          <a:ln/>
        </p:spPr>
        <p:txBody>
          <a:bodyPr wrap="square" lIns="254" tIns="254" rIns="254" bIns="254" rtlCol="0" anchor="t">
            <a:normAutofit/>
          </a:bodyPr>
          <a:lstStyle/>
          <a:p>
            <a:pPr indent="0" marL="0">
              <a:buNone/>
            </a:pPr>
            <a:r>
              <a:rPr lang="en-US" sz="1250" dirty="0">
                <a:solidFill>
                  <a:srgbClr val="1E293B"/>
                </a:solidFill>
              </a:rPr>
              <a:t>This axiom is appropriate only for the simplified functional model.</a:t>
            </a:r>
            <a:endParaRPr lang="en-US" sz="1250" dirty="0"/>
          </a:p>
        </p:txBody>
      </p:sp>
      <p:sp>
        <p:nvSpPr>
          <p:cNvPr id="17" name="Shape 15"/>
          <p:cNvSpPr/>
          <p:nvPr/>
        </p:nvSpPr>
        <p:spPr>
          <a:xfrm>
            <a:off x="6446520" y="5074920"/>
            <a:ext cx="5074920" cy="841248"/>
          </a:xfrm>
          <a:prstGeom prst="roundRect">
            <a:avLst>
              <a:gd name="adj" fmla="val 8696"/>
            </a:avLst>
          </a:prstGeom>
          <a:solidFill>
            <a:srgbClr val="E6FFFA"/>
          </a:solidFill>
          <a:ln w="12700">
            <a:solidFill>
              <a:srgbClr val="2A9D8F"/>
            </a:solidFill>
            <a:prstDash val="solid"/>
          </a:ln>
        </p:spPr>
      </p:sp>
      <p:sp>
        <p:nvSpPr>
          <p:cNvPr id="18" name="Text 16"/>
          <p:cNvSpPr/>
          <p:nvPr/>
        </p:nvSpPr>
        <p:spPr>
          <a:xfrm>
            <a:off x="6629400" y="5212080"/>
            <a:ext cx="4709160" cy="219456"/>
          </a:xfrm>
          <a:prstGeom prst="rect">
            <a:avLst/>
          </a:prstGeom>
          <a:noFill/>
          <a:ln/>
        </p:spPr>
        <p:txBody>
          <a:bodyPr wrap="square" lIns="0" tIns="0" rIns="0" bIns="0" rtlCol="0" anchor="ctr"/>
          <a:lstStyle/>
          <a:p>
            <a:pPr indent="0" marL="0">
              <a:buNone/>
            </a:pPr>
            <a:r>
              <a:rPr lang="en-US" sz="950" b="1" dirty="0">
                <a:solidFill>
                  <a:srgbClr val="007C89"/>
                </a:solidFill>
              </a:rPr>
              <a:t>CLASS CHECK</a:t>
            </a:r>
            <a:endParaRPr lang="en-US" sz="950" dirty="0"/>
          </a:p>
        </p:txBody>
      </p:sp>
      <p:sp>
        <p:nvSpPr>
          <p:cNvPr id="19" name="Text 17"/>
          <p:cNvSpPr/>
          <p:nvPr/>
        </p:nvSpPr>
        <p:spPr>
          <a:xfrm>
            <a:off x="6629400" y="5486400"/>
            <a:ext cx="4709160" cy="338328"/>
          </a:xfrm>
          <a:prstGeom prst="rect">
            <a:avLst/>
          </a:prstGeom>
          <a:noFill/>
          <a:ln/>
        </p:spPr>
        <p:txBody>
          <a:bodyPr wrap="square" lIns="254" tIns="254" rIns="254" bIns="254" rtlCol="0" anchor="t">
            <a:normAutofit/>
          </a:bodyPr>
          <a:lstStyle/>
          <a:p>
            <a:pPr indent="0" marL="0">
              <a:buNone/>
            </a:pPr>
            <a:r>
              <a:rPr lang="en-US" sz="1270" dirty="0">
                <a:solidFill>
                  <a:srgbClr val="1E293B"/>
                </a:solidFill>
              </a:rPr>
              <a:t>Ask: What real-world effects are abstracted away here?</a:t>
            </a:r>
            <a:endParaRPr lang="en-US" sz="127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5088"/>
          </a:solidFill>
          <a:ln w="12700">
            <a:solidFill>
              <a:srgbClr val="005088"/>
            </a:solidFill>
            <a:prstDash val="solid"/>
          </a:ln>
        </p:spPr>
      </p:sp>
      <p:sp>
        <p:nvSpPr>
          <p:cNvPr id="3" name="Shape 1"/>
          <p:cNvSpPr/>
          <p:nvPr/>
        </p:nvSpPr>
        <p:spPr>
          <a:xfrm>
            <a:off x="0" y="6729984"/>
            <a:ext cx="12191695" cy="128016"/>
          </a:xfrm>
          <a:prstGeom prst="rect">
            <a:avLst/>
          </a:prstGeom>
          <a:solidFill>
            <a:srgbClr val="005088"/>
          </a:solidFill>
          <a:ln w="12700">
            <a:solidFill>
              <a:srgbClr val="005088"/>
            </a:solidFill>
            <a:prstDash val="solid"/>
          </a:ln>
        </p:spPr>
      </p:sp>
      <p:sp>
        <p:nvSpPr>
          <p:cNvPr id="4" name="Text 2"/>
          <p:cNvSpPr/>
          <p:nvPr/>
        </p:nvSpPr>
        <p:spPr>
          <a:xfrm>
            <a:off x="502920" y="210312"/>
            <a:ext cx="6858000" cy="219456"/>
          </a:xfrm>
          <a:prstGeom prst="rect">
            <a:avLst/>
          </a:prstGeom>
          <a:noFill/>
          <a:ln/>
        </p:spPr>
        <p:txBody>
          <a:bodyPr wrap="square" lIns="0" tIns="0" rIns="0" bIns="0" rtlCol="0" anchor="ctr"/>
          <a:lstStyle/>
          <a:p>
            <a:pPr indent="0" marL="0">
              <a:buNone/>
            </a:pPr>
            <a:r>
              <a:rPr lang="en-US" sz="950" b="1" dirty="0">
                <a:solidFill>
                  <a:srgbClr val="3D5A80"/>
                </a:solidFill>
                <a:latin typeface="Aptos" pitchFamily="34" charset="0"/>
                <a:ea typeface="Aptos" pitchFamily="34" charset="-122"/>
                <a:cs typeface="Aptos" pitchFamily="34" charset="-120"/>
              </a:rPr>
              <a:t>8.4.2 Electronic Circuits Domain</a:t>
            </a:r>
            <a:endParaRPr lang="en-US" sz="950" dirty="0"/>
          </a:p>
        </p:txBody>
      </p:sp>
      <p:sp>
        <p:nvSpPr>
          <p:cNvPr id="5" name="Text 3"/>
          <p:cNvSpPr/>
          <p:nvPr/>
        </p:nvSpPr>
        <p:spPr>
          <a:xfrm>
            <a:off x="11018520" y="201168"/>
            <a:ext cx="640080" cy="228600"/>
          </a:xfrm>
          <a:prstGeom prst="rect">
            <a:avLst/>
          </a:prstGeom>
          <a:noFill/>
          <a:ln/>
        </p:spPr>
        <p:txBody>
          <a:bodyPr wrap="square" lIns="0" tIns="0" rIns="0" bIns="0" rtlCol="0" anchor="ctr"/>
          <a:lstStyle/>
          <a:p>
            <a:pPr algn="r" indent="0" marL="0">
              <a:buNone/>
            </a:pPr>
            <a:r>
              <a:rPr lang="en-US" sz="900" b="1" dirty="0">
                <a:solidFill>
                  <a:srgbClr val="3D5A80"/>
                </a:solidFill>
              </a:rPr>
              <a:t>94</a:t>
            </a:r>
            <a:endParaRPr lang="en-US" sz="900" dirty="0"/>
          </a:p>
        </p:txBody>
      </p:sp>
      <p:sp>
        <p:nvSpPr>
          <p:cNvPr id="6" name="Text 4"/>
          <p:cNvSpPr/>
          <p:nvPr/>
        </p:nvSpPr>
        <p:spPr>
          <a:xfrm>
            <a:off x="502920" y="566928"/>
            <a:ext cx="11201400" cy="512064"/>
          </a:xfrm>
          <a:prstGeom prst="rect">
            <a:avLst/>
          </a:prstGeom>
          <a:noFill/>
          <a:ln/>
        </p:spPr>
        <p:txBody>
          <a:bodyPr wrap="square" lIns="0" tIns="0" rIns="0" bIns="0" rtlCol="0" anchor="ctr">
            <a:normAutofit/>
          </a:bodyPr>
          <a:lstStyle/>
          <a:p>
            <a:pPr indent="0" marL="0">
              <a:buNone/>
            </a:pPr>
            <a:r>
              <a:rPr lang="en-US" sz="2650" b="1" dirty="0">
                <a:solidFill>
                  <a:srgbClr val="005088"/>
                </a:solidFill>
                <a:latin typeface="Aptos Display" pitchFamily="34" charset="0"/>
                <a:ea typeface="Aptos Display" pitchFamily="34" charset="-122"/>
                <a:cs typeface="Aptos Display" pitchFamily="34" charset="-120"/>
              </a:rPr>
              <a:t>GENERAL AXIOM: EVERY TERMINAL SIGNAL IS ZERO OR ONE</a:t>
            </a:r>
            <a:endParaRPr lang="en-US" sz="2650" dirty="0"/>
          </a:p>
        </p:txBody>
      </p:sp>
      <p:sp>
        <p:nvSpPr>
          <p:cNvPr id="7" name="Shape 5"/>
          <p:cNvSpPr/>
          <p:nvPr/>
        </p:nvSpPr>
        <p:spPr>
          <a:xfrm>
            <a:off x="502920" y="1188720"/>
            <a:ext cx="11109960" cy="0"/>
          </a:xfrm>
          <a:prstGeom prst="line">
            <a:avLst/>
          </a:prstGeom>
          <a:noFill/>
          <a:ln w="12700">
            <a:solidFill>
              <a:srgbClr val="3D5A80"/>
            </a:solidFill>
            <a:prstDash val="solid"/>
          </a:ln>
        </p:spPr>
      </p:sp>
      <p:sp>
        <p:nvSpPr>
          <p:cNvPr id="8" name="Text 6"/>
          <p:cNvSpPr/>
          <p:nvPr/>
        </p:nvSpPr>
        <p:spPr>
          <a:xfrm>
            <a:off x="713232" y="1572768"/>
            <a:ext cx="5440680" cy="4251960"/>
          </a:xfrm>
          <a:prstGeom prst="rect">
            <a:avLst/>
          </a:prstGeom>
          <a:noFill/>
          <a:ln/>
        </p:spPr>
        <p:txBody>
          <a:bodyPr wrap="square" lIns="1016" tIns="1016" rIns="1016" bIns="1016" rtlCol="0" anchor="t">
            <a:normAutofit/>
          </a:bodyPr>
          <a:lstStyle/>
          <a:p>
            <a:pPr indent="0" marL="0">
              <a:buNone/>
            </a:pPr>
            <a:r>
              <a:rPr lang="en-US" sz="1650" dirty="0">
                <a:solidFill>
                  <a:srgbClr val="1E293B"/>
                </a:solidFill>
                <a:latin typeface="Aptos" pitchFamily="34" charset="0"/>
                <a:ea typeface="Aptos" pitchFamily="34" charset="-122"/>
                <a:cs typeface="Aptos" pitchFamily="34" charset="-120"/>
              </a:rPr>
              <a:t>• Digital signals are simplified to two values</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Every terminal has signal zero or signal one</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The model does not represent voltage levels directly</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This supports truth-table style verification</a:t>
            </a:r>
            <a:endParaRPr lang="en-US" sz="1650" dirty="0"/>
          </a:p>
        </p:txBody>
      </p:sp>
      <p:sp>
        <p:nvSpPr>
          <p:cNvPr id="9" name="Shape 7"/>
          <p:cNvSpPr/>
          <p:nvPr/>
        </p:nvSpPr>
        <p:spPr>
          <a:xfrm>
            <a:off x="6446520" y="1572768"/>
            <a:ext cx="5074920" cy="1234440"/>
          </a:xfrm>
          <a:prstGeom prst="roundRect">
            <a:avLst>
              <a:gd name="adj" fmla="val 5926"/>
            </a:avLst>
          </a:prstGeom>
          <a:solidFill>
            <a:srgbClr val="FFF6D9"/>
          </a:solidFill>
          <a:ln w="12700">
            <a:solidFill>
              <a:srgbClr val="F4A261"/>
            </a:solidFill>
            <a:prstDash val="solid"/>
          </a:ln>
        </p:spPr>
      </p:sp>
      <p:sp>
        <p:nvSpPr>
          <p:cNvPr id="10" name="Text 8"/>
          <p:cNvSpPr/>
          <p:nvPr/>
        </p:nvSpPr>
        <p:spPr>
          <a:xfrm>
            <a:off x="6629400" y="1709928"/>
            <a:ext cx="4709160" cy="219456"/>
          </a:xfrm>
          <a:prstGeom prst="rect">
            <a:avLst/>
          </a:prstGeom>
          <a:noFill/>
          <a:ln/>
        </p:spPr>
        <p:txBody>
          <a:bodyPr wrap="square" lIns="0" tIns="0" rIns="0" bIns="0" rtlCol="0" anchor="ctr"/>
          <a:lstStyle/>
          <a:p>
            <a:pPr indent="0" marL="0">
              <a:buNone/>
            </a:pPr>
            <a:r>
              <a:rPr lang="en-US" sz="950" b="1" dirty="0">
                <a:solidFill>
                  <a:srgbClr val="B0005D"/>
                </a:solidFill>
              </a:rPr>
              <a:t>ANALOGY</a:t>
            </a:r>
            <a:endParaRPr lang="en-US" sz="950" dirty="0"/>
          </a:p>
        </p:txBody>
      </p:sp>
      <p:sp>
        <p:nvSpPr>
          <p:cNvPr id="11" name="Text 9"/>
          <p:cNvSpPr/>
          <p:nvPr/>
        </p:nvSpPr>
        <p:spPr>
          <a:xfrm>
            <a:off x="6629400" y="1984248"/>
            <a:ext cx="4709160" cy="731520"/>
          </a:xfrm>
          <a:prstGeom prst="rect">
            <a:avLst/>
          </a:prstGeom>
          <a:noFill/>
          <a:ln/>
        </p:spPr>
        <p:txBody>
          <a:bodyPr wrap="square" lIns="254" tIns="254" rIns="254" bIns="254" rtlCol="0" anchor="t">
            <a:normAutofit/>
          </a:bodyPr>
          <a:lstStyle/>
          <a:p>
            <a:pPr indent="0" marL="0">
              <a:buNone/>
            </a:pPr>
            <a:r>
              <a:rPr lang="en-US" sz="1330" dirty="0">
                <a:solidFill>
                  <a:srgbClr val="1E293B"/>
                </a:solidFill>
              </a:rPr>
              <a:t>A light switch model treats the switch as on or off, even though real electricity is more complex.</a:t>
            </a:r>
            <a:endParaRPr lang="en-US" sz="1330" dirty="0"/>
          </a:p>
        </p:txBody>
      </p:sp>
      <p:sp>
        <p:nvSpPr>
          <p:cNvPr id="12" name="Shape 10"/>
          <p:cNvSpPr/>
          <p:nvPr/>
        </p:nvSpPr>
        <p:spPr>
          <a:xfrm>
            <a:off x="6446520" y="2999232"/>
            <a:ext cx="5074920" cy="841248"/>
          </a:xfrm>
          <a:prstGeom prst="roundRect">
            <a:avLst>
              <a:gd name="adj" fmla="val 8696"/>
            </a:avLst>
          </a:prstGeom>
          <a:solidFill>
            <a:srgbClr val="FFFFFF">
              <a:alpha val="97000"/>
            </a:srgbClr>
          </a:solidFill>
          <a:ln w="12700">
            <a:solidFill>
              <a:srgbClr val="007C89"/>
            </a:solidFill>
            <a:prstDash val="solid"/>
          </a:ln>
        </p:spPr>
      </p:sp>
      <p:sp>
        <p:nvSpPr>
          <p:cNvPr id="13" name="Text 11"/>
          <p:cNvSpPr/>
          <p:nvPr/>
        </p:nvSpPr>
        <p:spPr>
          <a:xfrm>
            <a:off x="6611112" y="3127248"/>
            <a:ext cx="4745736" cy="658368"/>
          </a:xfrm>
          <a:prstGeom prst="rect">
            <a:avLst/>
          </a:prstGeom>
          <a:noFill/>
          <a:ln/>
        </p:spPr>
        <p:txBody>
          <a:bodyPr wrap="square" lIns="0" tIns="0" rIns="0" bIns="0" rtlCol="0" anchor="ctr">
            <a:normAutofit/>
          </a:bodyPr>
          <a:lstStyle/>
          <a:p>
            <a:pPr algn="ctr" indent="0" marL="0">
              <a:buNone/>
            </a:pPr>
            <a:r>
              <a:rPr lang="en-US" sz="1550" b="1" dirty="0">
                <a:solidFill>
                  <a:srgbClr val="005088"/>
                </a:solidFill>
                <a:latin typeface="Cambria Math" pitchFamily="34" charset="0"/>
                <a:ea typeface="Cambria Math" pitchFamily="34" charset="-122"/>
                <a:cs typeface="Cambria Math" pitchFamily="34" charset="-120"/>
              </a:rPr>
              <a:t>Terminal(t) ⇒ Signal(t)=1 ∨ Signal(t)=0</a:t>
            </a:r>
            <a:endParaRPr lang="en-US" sz="1550" dirty="0"/>
          </a:p>
        </p:txBody>
      </p:sp>
      <p:sp>
        <p:nvSpPr>
          <p:cNvPr id="14" name="Shape 12"/>
          <p:cNvSpPr/>
          <p:nvPr/>
        </p:nvSpPr>
        <p:spPr>
          <a:xfrm>
            <a:off x="6446520" y="4041648"/>
            <a:ext cx="5074920" cy="859536"/>
          </a:xfrm>
          <a:prstGeom prst="roundRect">
            <a:avLst>
              <a:gd name="adj" fmla="val 8511"/>
            </a:avLst>
          </a:prstGeom>
          <a:solidFill>
            <a:srgbClr val="FFE4E6"/>
          </a:solidFill>
          <a:ln w="12700">
            <a:solidFill>
              <a:srgbClr val="FDA4AF"/>
            </a:solidFill>
            <a:prstDash val="solid"/>
          </a:ln>
        </p:spPr>
      </p:sp>
      <p:sp>
        <p:nvSpPr>
          <p:cNvPr id="15" name="Text 13"/>
          <p:cNvSpPr/>
          <p:nvPr/>
        </p:nvSpPr>
        <p:spPr>
          <a:xfrm>
            <a:off x="6629400" y="4178808"/>
            <a:ext cx="4709160" cy="219456"/>
          </a:xfrm>
          <a:prstGeom prst="rect">
            <a:avLst/>
          </a:prstGeom>
          <a:noFill/>
          <a:ln/>
        </p:spPr>
        <p:txBody>
          <a:bodyPr wrap="square" lIns="0" tIns="0" rIns="0" bIns="0" rtlCol="0" anchor="ctr"/>
          <a:lstStyle/>
          <a:p>
            <a:pPr indent="0" marL="0">
              <a:buNone/>
            </a:pPr>
            <a:r>
              <a:rPr lang="en-US" sz="950" b="1" dirty="0">
                <a:solidFill>
                  <a:srgbClr val="C1121F"/>
                </a:solidFill>
              </a:rPr>
              <a:t>STUDENT GOTCHA</a:t>
            </a:r>
            <a:endParaRPr lang="en-US" sz="950" dirty="0"/>
          </a:p>
        </p:txBody>
      </p:sp>
      <p:sp>
        <p:nvSpPr>
          <p:cNvPr id="16" name="Text 14"/>
          <p:cNvSpPr/>
          <p:nvPr/>
        </p:nvSpPr>
        <p:spPr>
          <a:xfrm>
            <a:off x="6629400" y="4453128"/>
            <a:ext cx="4709160" cy="356616"/>
          </a:xfrm>
          <a:prstGeom prst="rect">
            <a:avLst/>
          </a:prstGeom>
          <a:noFill/>
          <a:ln/>
        </p:spPr>
        <p:txBody>
          <a:bodyPr wrap="square" lIns="254" tIns="254" rIns="254" bIns="254" rtlCol="0" anchor="t">
            <a:normAutofit/>
          </a:bodyPr>
          <a:lstStyle/>
          <a:p>
            <a:pPr indent="0" marL="0">
              <a:buNone/>
            </a:pPr>
            <a:r>
              <a:rPr lang="en-US" sz="1250" dirty="0">
                <a:solidFill>
                  <a:srgbClr val="1E293B"/>
                </a:solidFill>
              </a:rPr>
              <a:t>This is a modeling abstraction, not a claim about all physical electronics.</a:t>
            </a:r>
            <a:endParaRPr lang="en-US" sz="1250" dirty="0"/>
          </a:p>
        </p:txBody>
      </p:sp>
      <p:sp>
        <p:nvSpPr>
          <p:cNvPr id="17" name="Shape 15"/>
          <p:cNvSpPr/>
          <p:nvPr/>
        </p:nvSpPr>
        <p:spPr>
          <a:xfrm>
            <a:off x="6446520" y="5074920"/>
            <a:ext cx="5074920" cy="841248"/>
          </a:xfrm>
          <a:prstGeom prst="roundRect">
            <a:avLst>
              <a:gd name="adj" fmla="val 8696"/>
            </a:avLst>
          </a:prstGeom>
          <a:solidFill>
            <a:srgbClr val="E6FFFA"/>
          </a:solidFill>
          <a:ln w="12700">
            <a:solidFill>
              <a:srgbClr val="2A9D8F"/>
            </a:solidFill>
            <a:prstDash val="solid"/>
          </a:ln>
        </p:spPr>
      </p:sp>
      <p:sp>
        <p:nvSpPr>
          <p:cNvPr id="18" name="Text 16"/>
          <p:cNvSpPr/>
          <p:nvPr/>
        </p:nvSpPr>
        <p:spPr>
          <a:xfrm>
            <a:off x="6629400" y="5212080"/>
            <a:ext cx="4709160" cy="219456"/>
          </a:xfrm>
          <a:prstGeom prst="rect">
            <a:avLst/>
          </a:prstGeom>
          <a:noFill/>
          <a:ln/>
        </p:spPr>
        <p:txBody>
          <a:bodyPr wrap="square" lIns="0" tIns="0" rIns="0" bIns="0" rtlCol="0" anchor="ctr"/>
          <a:lstStyle/>
          <a:p>
            <a:pPr indent="0" marL="0">
              <a:buNone/>
            </a:pPr>
            <a:r>
              <a:rPr lang="en-US" sz="950" b="1" dirty="0">
                <a:solidFill>
                  <a:srgbClr val="007C89"/>
                </a:solidFill>
              </a:rPr>
              <a:t>CLASS CHECK</a:t>
            </a:r>
            <a:endParaRPr lang="en-US" sz="950" dirty="0"/>
          </a:p>
        </p:txBody>
      </p:sp>
      <p:sp>
        <p:nvSpPr>
          <p:cNvPr id="19" name="Text 17"/>
          <p:cNvSpPr/>
          <p:nvPr/>
        </p:nvSpPr>
        <p:spPr>
          <a:xfrm>
            <a:off x="6629400" y="5486400"/>
            <a:ext cx="4709160" cy="338328"/>
          </a:xfrm>
          <a:prstGeom prst="rect">
            <a:avLst/>
          </a:prstGeom>
          <a:noFill/>
          <a:ln/>
        </p:spPr>
        <p:txBody>
          <a:bodyPr wrap="square" lIns="254" tIns="254" rIns="254" bIns="254" rtlCol="0" anchor="t">
            <a:normAutofit/>
          </a:bodyPr>
          <a:lstStyle/>
          <a:p>
            <a:pPr indent="0" marL="0">
              <a:buNone/>
            </a:pPr>
            <a:r>
              <a:rPr lang="en-US" sz="1270" dirty="0">
                <a:solidFill>
                  <a:srgbClr val="1E293B"/>
                </a:solidFill>
              </a:rPr>
              <a:t>Ask: What would change if signals could be unknown or noisy?</a:t>
            </a:r>
            <a:endParaRPr lang="en-US" sz="127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5088"/>
          </a:solidFill>
          <a:ln w="12700">
            <a:solidFill>
              <a:srgbClr val="005088"/>
            </a:solidFill>
            <a:prstDash val="solid"/>
          </a:ln>
        </p:spPr>
      </p:sp>
      <p:sp>
        <p:nvSpPr>
          <p:cNvPr id="3" name="Shape 1"/>
          <p:cNvSpPr/>
          <p:nvPr/>
        </p:nvSpPr>
        <p:spPr>
          <a:xfrm>
            <a:off x="0" y="6729984"/>
            <a:ext cx="12191695" cy="128016"/>
          </a:xfrm>
          <a:prstGeom prst="rect">
            <a:avLst/>
          </a:prstGeom>
          <a:solidFill>
            <a:srgbClr val="005088"/>
          </a:solidFill>
          <a:ln w="12700">
            <a:solidFill>
              <a:srgbClr val="005088"/>
            </a:solidFill>
            <a:prstDash val="solid"/>
          </a:ln>
        </p:spPr>
      </p:sp>
      <p:sp>
        <p:nvSpPr>
          <p:cNvPr id="4" name="Text 2"/>
          <p:cNvSpPr/>
          <p:nvPr/>
        </p:nvSpPr>
        <p:spPr>
          <a:xfrm>
            <a:off x="502920" y="210312"/>
            <a:ext cx="6858000" cy="219456"/>
          </a:xfrm>
          <a:prstGeom prst="rect">
            <a:avLst/>
          </a:prstGeom>
          <a:noFill/>
          <a:ln/>
        </p:spPr>
        <p:txBody>
          <a:bodyPr wrap="square" lIns="0" tIns="0" rIns="0" bIns="0" rtlCol="0" anchor="ctr"/>
          <a:lstStyle/>
          <a:p>
            <a:pPr indent="0" marL="0">
              <a:buNone/>
            </a:pPr>
            <a:r>
              <a:rPr lang="en-US" sz="950" b="1" dirty="0">
                <a:solidFill>
                  <a:srgbClr val="3D5A80"/>
                </a:solidFill>
                <a:latin typeface="Aptos" pitchFamily="34" charset="0"/>
                <a:ea typeface="Aptos" pitchFamily="34" charset="-122"/>
                <a:cs typeface="Aptos" pitchFamily="34" charset="-120"/>
              </a:rPr>
              <a:t>8.4.2 Electronic Circuits Domain</a:t>
            </a:r>
            <a:endParaRPr lang="en-US" sz="950" dirty="0"/>
          </a:p>
        </p:txBody>
      </p:sp>
      <p:sp>
        <p:nvSpPr>
          <p:cNvPr id="5" name="Text 3"/>
          <p:cNvSpPr/>
          <p:nvPr/>
        </p:nvSpPr>
        <p:spPr>
          <a:xfrm>
            <a:off x="11018520" y="201168"/>
            <a:ext cx="640080" cy="228600"/>
          </a:xfrm>
          <a:prstGeom prst="rect">
            <a:avLst/>
          </a:prstGeom>
          <a:noFill/>
          <a:ln/>
        </p:spPr>
        <p:txBody>
          <a:bodyPr wrap="square" lIns="0" tIns="0" rIns="0" bIns="0" rtlCol="0" anchor="ctr"/>
          <a:lstStyle/>
          <a:p>
            <a:pPr algn="r" indent="0" marL="0">
              <a:buNone/>
            </a:pPr>
            <a:r>
              <a:rPr lang="en-US" sz="900" b="1" dirty="0">
                <a:solidFill>
                  <a:srgbClr val="3D5A80"/>
                </a:solidFill>
              </a:rPr>
              <a:t>95</a:t>
            </a:r>
            <a:endParaRPr lang="en-US" sz="900" dirty="0"/>
          </a:p>
        </p:txBody>
      </p:sp>
      <p:sp>
        <p:nvSpPr>
          <p:cNvPr id="6" name="Text 4"/>
          <p:cNvSpPr/>
          <p:nvPr/>
        </p:nvSpPr>
        <p:spPr>
          <a:xfrm>
            <a:off x="502920" y="566928"/>
            <a:ext cx="11201400" cy="512064"/>
          </a:xfrm>
          <a:prstGeom prst="rect">
            <a:avLst/>
          </a:prstGeom>
          <a:noFill/>
          <a:ln/>
        </p:spPr>
        <p:txBody>
          <a:bodyPr wrap="square" lIns="0" tIns="0" rIns="0" bIns="0" rtlCol="0" anchor="ctr">
            <a:normAutofit/>
          </a:bodyPr>
          <a:lstStyle/>
          <a:p>
            <a:pPr indent="0" marL="0">
              <a:buNone/>
            </a:pPr>
            <a:r>
              <a:rPr lang="en-US" sz="2650" b="1" dirty="0">
                <a:solidFill>
                  <a:srgbClr val="005088"/>
                </a:solidFill>
                <a:latin typeface="Aptos Display" pitchFamily="34" charset="0"/>
                <a:ea typeface="Aptos Display" pitchFamily="34" charset="-122"/>
                <a:cs typeface="Aptos Display" pitchFamily="34" charset="-120"/>
              </a:rPr>
              <a:t>GATE BEHAVIOR: AND GATE</a:t>
            </a:r>
            <a:endParaRPr lang="en-US" sz="2650" dirty="0"/>
          </a:p>
        </p:txBody>
      </p:sp>
      <p:sp>
        <p:nvSpPr>
          <p:cNvPr id="7" name="Shape 5"/>
          <p:cNvSpPr/>
          <p:nvPr/>
        </p:nvSpPr>
        <p:spPr>
          <a:xfrm>
            <a:off x="502920" y="1188720"/>
            <a:ext cx="11109960" cy="0"/>
          </a:xfrm>
          <a:prstGeom prst="line">
            <a:avLst/>
          </a:prstGeom>
          <a:noFill/>
          <a:ln w="12700">
            <a:solidFill>
              <a:srgbClr val="3D5A80"/>
            </a:solidFill>
            <a:prstDash val="solid"/>
          </a:ln>
        </p:spPr>
      </p:sp>
      <p:sp>
        <p:nvSpPr>
          <p:cNvPr id="8" name="Text 6"/>
          <p:cNvSpPr/>
          <p:nvPr/>
        </p:nvSpPr>
        <p:spPr>
          <a:xfrm>
            <a:off x="713232" y="1572768"/>
            <a:ext cx="5440680" cy="4251960"/>
          </a:xfrm>
          <a:prstGeom prst="rect">
            <a:avLst/>
          </a:prstGeom>
          <a:noFill/>
          <a:ln/>
        </p:spPr>
        <p:txBody>
          <a:bodyPr wrap="square" lIns="1016" tIns="1016" rIns="1016" bIns="1016" rtlCol="0" anchor="t">
            <a:normAutofit/>
          </a:bodyPr>
          <a:lstStyle/>
          <a:p>
            <a:pPr indent="0" marL="0">
              <a:buNone/>
            </a:pPr>
            <a:r>
              <a:rPr lang="en-US" sz="1650" dirty="0">
                <a:solidFill>
                  <a:srgbClr val="1E293B"/>
                </a:solidFill>
                <a:latin typeface="Aptos" pitchFamily="34" charset="0"/>
                <a:ea typeface="Aptos" pitchFamily="34" charset="-122"/>
                <a:cs typeface="Aptos" pitchFamily="34" charset="-120"/>
              </a:rPr>
              <a:t>• An AND gate outputs zero if any input is zero</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It outputs one only when all inputs are one</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The axiom is written for every AND gate</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One rule covers all gates of this type</a:t>
            </a:r>
            <a:endParaRPr lang="en-US" sz="1650" dirty="0"/>
          </a:p>
        </p:txBody>
      </p:sp>
      <p:sp>
        <p:nvSpPr>
          <p:cNvPr id="9" name="Shape 7"/>
          <p:cNvSpPr/>
          <p:nvPr/>
        </p:nvSpPr>
        <p:spPr>
          <a:xfrm>
            <a:off x="6446520" y="1572768"/>
            <a:ext cx="5074920" cy="1234440"/>
          </a:xfrm>
          <a:prstGeom prst="roundRect">
            <a:avLst>
              <a:gd name="adj" fmla="val 5926"/>
            </a:avLst>
          </a:prstGeom>
          <a:solidFill>
            <a:srgbClr val="FFF6D9"/>
          </a:solidFill>
          <a:ln w="12700">
            <a:solidFill>
              <a:srgbClr val="F4A261"/>
            </a:solidFill>
            <a:prstDash val="solid"/>
          </a:ln>
        </p:spPr>
      </p:sp>
      <p:sp>
        <p:nvSpPr>
          <p:cNvPr id="10" name="Text 8"/>
          <p:cNvSpPr/>
          <p:nvPr/>
        </p:nvSpPr>
        <p:spPr>
          <a:xfrm>
            <a:off x="6629400" y="1709928"/>
            <a:ext cx="4709160" cy="219456"/>
          </a:xfrm>
          <a:prstGeom prst="rect">
            <a:avLst/>
          </a:prstGeom>
          <a:noFill/>
          <a:ln/>
        </p:spPr>
        <p:txBody>
          <a:bodyPr wrap="square" lIns="0" tIns="0" rIns="0" bIns="0" rtlCol="0" anchor="ctr"/>
          <a:lstStyle/>
          <a:p>
            <a:pPr indent="0" marL="0">
              <a:buNone/>
            </a:pPr>
            <a:r>
              <a:rPr lang="en-US" sz="950" b="1" dirty="0">
                <a:solidFill>
                  <a:srgbClr val="B0005D"/>
                </a:solidFill>
              </a:rPr>
              <a:t>ANALOGY</a:t>
            </a:r>
            <a:endParaRPr lang="en-US" sz="950" dirty="0"/>
          </a:p>
        </p:txBody>
      </p:sp>
      <p:sp>
        <p:nvSpPr>
          <p:cNvPr id="11" name="Text 9"/>
          <p:cNvSpPr/>
          <p:nvPr/>
        </p:nvSpPr>
        <p:spPr>
          <a:xfrm>
            <a:off x="6629400" y="1984248"/>
            <a:ext cx="4709160" cy="731520"/>
          </a:xfrm>
          <a:prstGeom prst="rect">
            <a:avLst/>
          </a:prstGeom>
          <a:noFill/>
          <a:ln/>
        </p:spPr>
        <p:txBody>
          <a:bodyPr wrap="square" lIns="254" tIns="254" rIns="254" bIns="254" rtlCol="0" anchor="t">
            <a:normAutofit/>
          </a:bodyPr>
          <a:lstStyle/>
          <a:p>
            <a:pPr indent="0" marL="0">
              <a:buNone/>
            </a:pPr>
            <a:r>
              <a:rPr lang="en-US" sz="1330" dirty="0">
                <a:solidFill>
                  <a:srgbClr val="1E293B"/>
                </a:solidFill>
              </a:rPr>
              <a:t>A group assignment is complete only if every member submits their part; one missing part makes the group incomplete.</a:t>
            </a:r>
            <a:endParaRPr lang="en-US" sz="1330" dirty="0"/>
          </a:p>
        </p:txBody>
      </p:sp>
      <p:sp>
        <p:nvSpPr>
          <p:cNvPr id="12" name="Shape 10"/>
          <p:cNvSpPr/>
          <p:nvPr/>
        </p:nvSpPr>
        <p:spPr>
          <a:xfrm>
            <a:off x="6446520" y="2999232"/>
            <a:ext cx="5074920" cy="841248"/>
          </a:xfrm>
          <a:prstGeom prst="roundRect">
            <a:avLst>
              <a:gd name="adj" fmla="val 8696"/>
            </a:avLst>
          </a:prstGeom>
          <a:solidFill>
            <a:srgbClr val="FFFFFF">
              <a:alpha val="97000"/>
            </a:srgbClr>
          </a:solidFill>
          <a:ln w="12700">
            <a:solidFill>
              <a:srgbClr val="007C89"/>
            </a:solidFill>
            <a:prstDash val="solid"/>
          </a:ln>
        </p:spPr>
      </p:sp>
      <p:sp>
        <p:nvSpPr>
          <p:cNvPr id="13" name="Text 11"/>
          <p:cNvSpPr/>
          <p:nvPr/>
        </p:nvSpPr>
        <p:spPr>
          <a:xfrm>
            <a:off x="6611112" y="3127248"/>
            <a:ext cx="4745736" cy="658368"/>
          </a:xfrm>
          <a:prstGeom prst="rect">
            <a:avLst/>
          </a:prstGeom>
          <a:noFill/>
          <a:ln/>
        </p:spPr>
        <p:txBody>
          <a:bodyPr wrap="square" lIns="0" tIns="0" rIns="0" bIns="0" rtlCol="0" anchor="ctr">
            <a:normAutofit/>
          </a:bodyPr>
          <a:lstStyle/>
          <a:p>
            <a:pPr algn="ctr" indent="0" marL="0">
              <a:buNone/>
            </a:pPr>
            <a:r>
              <a:rPr lang="en-US" sz="1180" b="1" dirty="0">
                <a:solidFill>
                  <a:srgbClr val="005088"/>
                </a:solidFill>
                <a:latin typeface="Cambria Math" pitchFamily="34" charset="0"/>
                <a:ea typeface="Cambria Math" pitchFamily="34" charset="-122"/>
                <a:cs typeface="Cambria Math" pitchFamily="34" charset="-120"/>
              </a:rPr>
              <a:t>Type(g)=AND ⇒ Signal(Out(1,g))=0 ⇔ ∃n Signal(In(n,g))=0</a:t>
            </a:r>
            <a:endParaRPr lang="en-US" sz="1180" dirty="0"/>
          </a:p>
        </p:txBody>
      </p:sp>
      <p:sp>
        <p:nvSpPr>
          <p:cNvPr id="14" name="Shape 12"/>
          <p:cNvSpPr/>
          <p:nvPr/>
        </p:nvSpPr>
        <p:spPr>
          <a:xfrm>
            <a:off x="6446520" y="4041648"/>
            <a:ext cx="5074920" cy="859536"/>
          </a:xfrm>
          <a:prstGeom prst="roundRect">
            <a:avLst>
              <a:gd name="adj" fmla="val 8511"/>
            </a:avLst>
          </a:prstGeom>
          <a:solidFill>
            <a:srgbClr val="FFE4E6"/>
          </a:solidFill>
          <a:ln w="12700">
            <a:solidFill>
              <a:srgbClr val="FDA4AF"/>
            </a:solidFill>
            <a:prstDash val="solid"/>
          </a:ln>
        </p:spPr>
      </p:sp>
      <p:sp>
        <p:nvSpPr>
          <p:cNvPr id="15" name="Text 13"/>
          <p:cNvSpPr/>
          <p:nvPr/>
        </p:nvSpPr>
        <p:spPr>
          <a:xfrm>
            <a:off x="6629400" y="4178808"/>
            <a:ext cx="4709160" cy="219456"/>
          </a:xfrm>
          <a:prstGeom prst="rect">
            <a:avLst/>
          </a:prstGeom>
          <a:noFill/>
          <a:ln/>
        </p:spPr>
        <p:txBody>
          <a:bodyPr wrap="square" lIns="0" tIns="0" rIns="0" bIns="0" rtlCol="0" anchor="ctr"/>
          <a:lstStyle/>
          <a:p>
            <a:pPr indent="0" marL="0">
              <a:buNone/>
            </a:pPr>
            <a:r>
              <a:rPr lang="en-US" sz="950" b="1" dirty="0">
                <a:solidFill>
                  <a:srgbClr val="C1121F"/>
                </a:solidFill>
              </a:rPr>
              <a:t>STUDENT GOTCHA</a:t>
            </a:r>
            <a:endParaRPr lang="en-US" sz="950" dirty="0"/>
          </a:p>
        </p:txBody>
      </p:sp>
      <p:sp>
        <p:nvSpPr>
          <p:cNvPr id="16" name="Text 14"/>
          <p:cNvSpPr/>
          <p:nvPr/>
        </p:nvSpPr>
        <p:spPr>
          <a:xfrm>
            <a:off x="6629400" y="4453128"/>
            <a:ext cx="4709160" cy="356616"/>
          </a:xfrm>
          <a:prstGeom prst="rect">
            <a:avLst/>
          </a:prstGeom>
          <a:noFill/>
          <a:ln/>
        </p:spPr>
        <p:txBody>
          <a:bodyPr wrap="square" lIns="254" tIns="254" rIns="254" bIns="254" rtlCol="0" anchor="t">
            <a:normAutofit/>
          </a:bodyPr>
          <a:lstStyle/>
          <a:p>
            <a:pPr indent="0" marL="0">
              <a:buNone/>
            </a:pPr>
            <a:r>
              <a:rPr lang="en-US" sz="1250" dirty="0">
                <a:solidFill>
                  <a:srgbClr val="1E293B"/>
                </a:solidFill>
              </a:rPr>
              <a:t>The existential part says at least one input is zero, not that a specific input is always zero.</a:t>
            </a:r>
            <a:endParaRPr lang="en-US" sz="1250" dirty="0"/>
          </a:p>
        </p:txBody>
      </p:sp>
      <p:sp>
        <p:nvSpPr>
          <p:cNvPr id="17" name="Shape 15"/>
          <p:cNvSpPr/>
          <p:nvPr/>
        </p:nvSpPr>
        <p:spPr>
          <a:xfrm>
            <a:off x="6446520" y="5074920"/>
            <a:ext cx="5074920" cy="841248"/>
          </a:xfrm>
          <a:prstGeom prst="roundRect">
            <a:avLst>
              <a:gd name="adj" fmla="val 8696"/>
            </a:avLst>
          </a:prstGeom>
          <a:solidFill>
            <a:srgbClr val="E6FFFA"/>
          </a:solidFill>
          <a:ln w="12700">
            <a:solidFill>
              <a:srgbClr val="2A9D8F"/>
            </a:solidFill>
            <a:prstDash val="solid"/>
          </a:ln>
        </p:spPr>
      </p:sp>
      <p:sp>
        <p:nvSpPr>
          <p:cNvPr id="18" name="Text 16"/>
          <p:cNvSpPr/>
          <p:nvPr/>
        </p:nvSpPr>
        <p:spPr>
          <a:xfrm>
            <a:off x="6629400" y="5212080"/>
            <a:ext cx="4709160" cy="219456"/>
          </a:xfrm>
          <a:prstGeom prst="rect">
            <a:avLst/>
          </a:prstGeom>
          <a:noFill/>
          <a:ln/>
        </p:spPr>
        <p:txBody>
          <a:bodyPr wrap="square" lIns="0" tIns="0" rIns="0" bIns="0" rtlCol="0" anchor="ctr"/>
          <a:lstStyle/>
          <a:p>
            <a:pPr indent="0" marL="0">
              <a:buNone/>
            </a:pPr>
            <a:r>
              <a:rPr lang="en-US" sz="950" b="1" dirty="0">
                <a:solidFill>
                  <a:srgbClr val="007C89"/>
                </a:solidFill>
              </a:rPr>
              <a:t>CLASS CHECK</a:t>
            </a:r>
            <a:endParaRPr lang="en-US" sz="950" dirty="0"/>
          </a:p>
        </p:txBody>
      </p:sp>
      <p:sp>
        <p:nvSpPr>
          <p:cNvPr id="19" name="Text 17"/>
          <p:cNvSpPr/>
          <p:nvPr/>
        </p:nvSpPr>
        <p:spPr>
          <a:xfrm>
            <a:off x="6629400" y="5486400"/>
            <a:ext cx="4709160" cy="338328"/>
          </a:xfrm>
          <a:prstGeom prst="rect">
            <a:avLst/>
          </a:prstGeom>
          <a:noFill/>
          <a:ln/>
        </p:spPr>
        <p:txBody>
          <a:bodyPr wrap="square" lIns="254" tIns="254" rIns="254" bIns="254" rtlCol="0" anchor="t">
            <a:normAutofit/>
          </a:bodyPr>
          <a:lstStyle/>
          <a:p>
            <a:pPr indent="0" marL="0">
              <a:buNone/>
            </a:pPr>
            <a:r>
              <a:rPr lang="en-US" sz="1270" dirty="0">
                <a:solidFill>
                  <a:srgbClr val="1E293B"/>
                </a:solidFill>
              </a:rPr>
              <a:t>Ask students to predict the output for inputs one and zero.</a:t>
            </a:r>
            <a:endParaRPr lang="en-US" sz="127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5088"/>
          </a:solidFill>
          <a:ln w="12700">
            <a:solidFill>
              <a:srgbClr val="005088"/>
            </a:solidFill>
            <a:prstDash val="solid"/>
          </a:ln>
        </p:spPr>
      </p:sp>
      <p:sp>
        <p:nvSpPr>
          <p:cNvPr id="3" name="Shape 1"/>
          <p:cNvSpPr/>
          <p:nvPr/>
        </p:nvSpPr>
        <p:spPr>
          <a:xfrm>
            <a:off x="0" y="6729984"/>
            <a:ext cx="12191695" cy="128016"/>
          </a:xfrm>
          <a:prstGeom prst="rect">
            <a:avLst/>
          </a:prstGeom>
          <a:solidFill>
            <a:srgbClr val="005088"/>
          </a:solidFill>
          <a:ln w="12700">
            <a:solidFill>
              <a:srgbClr val="005088"/>
            </a:solidFill>
            <a:prstDash val="solid"/>
          </a:ln>
        </p:spPr>
      </p:sp>
      <p:sp>
        <p:nvSpPr>
          <p:cNvPr id="4" name="Text 2"/>
          <p:cNvSpPr/>
          <p:nvPr/>
        </p:nvSpPr>
        <p:spPr>
          <a:xfrm>
            <a:off x="502920" y="210312"/>
            <a:ext cx="6858000" cy="219456"/>
          </a:xfrm>
          <a:prstGeom prst="rect">
            <a:avLst/>
          </a:prstGeom>
          <a:noFill/>
          <a:ln/>
        </p:spPr>
        <p:txBody>
          <a:bodyPr wrap="square" lIns="0" tIns="0" rIns="0" bIns="0" rtlCol="0" anchor="ctr"/>
          <a:lstStyle/>
          <a:p>
            <a:pPr indent="0" marL="0">
              <a:buNone/>
            </a:pPr>
            <a:r>
              <a:rPr lang="en-US" sz="950" b="1" dirty="0">
                <a:solidFill>
                  <a:srgbClr val="3D5A80"/>
                </a:solidFill>
                <a:latin typeface="Aptos" pitchFamily="34" charset="0"/>
                <a:ea typeface="Aptos" pitchFamily="34" charset="-122"/>
                <a:cs typeface="Aptos" pitchFamily="34" charset="-120"/>
              </a:rPr>
              <a:t>8.4.2 Electronic Circuits Domain</a:t>
            </a:r>
            <a:endParaRPr lang="en-US" sz="950" dirty="0"/>
          </a:p>
        </p:txBody>
      </p:sp>
      <p:sp>
        <p:nvSpPr>
          <p:cNvPr id="5" name="Text 3"/>
          <p:cNvSpPr/>
          <p:nvPr/>
        </p:nvSpPr>
        <p:spPr>
          <a:xfrm>
            <a:off x="11018520" y="201168"/>
            <a:ext cx="640080" cy="228600"/>
          </a:xfrm>
          <a:prstGeom prst="rect">
            <a:avLst/>
          </a:prstGeom>
          <a:noFill/>
          <a:ln/>
        </p:spPr>
        <p:txBody>
          <a:bodyPr wrap="square" lIns="0" tIns="0" rIns="0" bIns="0" rtlCol="0" anchor="ctr"/>
          <a:lstStyle/>
          <a:p>
            <a:pPr algn="r" indent="0" marL="0">
              <a:buNone/>
            </a:pPr>
            <a:r>
              <a:rPr lang="en-US" sz="900" b="1" dirty="0">
                <a:solidFill>
                  <a:srgbClr val="3D5A80"/>
                </a:solidFill>
              </a:rPr>
              <a:t>96</a:t>
            </a:r>
            <a:endParaRPr lang="en-US" sz="900" dirty="0"/>
          </a:p>
        </p:txBody>
      </p:sp>
      <p:sp>
        <p:nvSpPr>
          <p:cNvPr id="6" name="Text 4"/>
          <p:cNvSpPr/>
          <p:nvPr/>
        </p:nvSpPr>
        <p:spPr>
          <a:xfrm>
            <a:off x="502920" y="566928"/>
            <a:ext cx="11201400" cy="512064"/>
          </a:xfrm>
          <a:prstGeom prst="rect">
            <a:avLst/>
          </a:prstGeom>
          <a:noFill/>
          <a:ln/>
        </p:spPr>
        <p:txBody>
          <a:bodyPr wrap="square" lIns="0" tIns="0" rIns="0" bIns="0" rtlCol="0" anchor="ctr">
            <a:normAutofit/>
          </a:bodyPr>
          <a:lstStyle/>
          <a:p>
            <a:pPr indent="0" marL="0">
              <a:buNone/>
            </a:pPr>
            <a:r>
              <a:rPr lang="en-US" sz="2650" b="1" dirty="0">
                <a:solidFill>
                  <a:srgbClr val="005088"/>
                </a:solidFill>
                <a:latin typeface="Aptos Display" pitchFamily="34" charset="0"/>
                <a:ea typeface="Aptos Display" pitchFamily="34" charset="-122"/>
                <a:cs typeface="Aptos Display" pitchFamily="34" charset="-120"/>
              </a:rPr>
              <a:t>GATE BEHAVIOR: OR GATE</a:t>
            </a:r>
            <a:endParaRPr lang="en-US" sz="2650" dirty="0"/>
          </a:p>
        </p:txBody>
      </p:sp>
      <p:sp>
        <p:nvSpPr>
          <p:cNvPr id="7" name="Shape 5"/>
          <p:cNvSpPr/>
          <p:nvPr/>
        </p:nvSpPr>
        <p:spPr>
          <a:xfrm>
            <a:off x="502920" y="1188720"/>
            <a:ext cx="11109960" cy="0"/>
          </a:xfrm>
          <a:prstGeom prst="line">
            <a:avLst/>
          </a:prstGeom>
          <a:noFill/>
          <a:ln w="12700">
            <a:solidFill>
              <a:srgbClr val="3D5A80"/>
            </a:solidFill>
            <a:prstDash val="solid"/>
          </a:ln>
        </p:spPr>
      </p:sp>
      <p:sp>
        <p:nvSpPr>
          <p:cNvPr id="8" name="Text 6"/>
          <p:cNvSpPr/>
          <p:nvPr/>
        </p:nvSpPr>
        <p:spPr>
          <a:xfrm>
            <a:off x="713232" y="1572768"/>
            <a:ext cx="5440680" cy="4251960"/>
          </a:xfrm>
          <a:prstGeom prst="rect">
            <a:avLst/>
          </a:prstGeom>
          <a:noFill/>
          <a:ln/>
        </p:spPr>
        <p:txBody>
          <a:bodyPr wrap="square" lIns="1016" tIns="1016" rIns="1016" bIns="1016" rtlCol="0" anchor="t">
            <a:normAutofit/>
          </a:bodyPr>
          <a:lstStyle/>
          <a:p>
            <a:pPr indent="0" marL="0">
              <a:buNone/>
            </a:pPr>
            <a:r>
              <a:rPr lang="en-US" sz="1650" dirty="0">
                <a:solidFill>
                  <a:srgbClr val="1E293B"/>
                </a:solidFill>
                <a:latin typeface="Aptos" pitchFamily="34" charset="0"/>
                <a:ea typeface="Aptos" pitchFamily="34" charset="-122"/>
                <a:cs typeface="Aptos" pitchFamily="34" charset="-120"/>
              </a:rPr>
              <a:t>• An OR gate outputs one if any input is one</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It outputs zero only when all inputs are zero</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The axiom applies to every OR gate</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The rule supports output inference from input facts</a:t>
            </a:r>
            <a:endParaRPr lang="en-US" sz="1650" dirty="0"/>
          </a:p>
        </p:txBody>
      </p:sp>
      <p:sp>
        <p:nvSpPr>
          <p:cNvPr id="9" name="Shape 7"/>
          <p:cNvSpPr/>
          <p:nvPr/>
        </p:nvSpPr>
        <p:spPr>
          <a:xfrm>
            <a:off x="6446520" y="1572768"/>
            <a:ext cx="5074920" cy="1234440"/>
          </a:xfrm>
          <a:prstGeom prst="roundRect">
            <a:avLst>
              <a:gd name="adj" fmla="val 5926"/>
            </a:avLst>
          </a:prstGeom>
          <a:solidFill>
            <a:srgbClr val="FFF6D9"/>
          </a:solidFill>
          <a:ln w="12700">
            <a:solidFill>
              <a:srgbClr val="F4A261"/>
            </a:solidFill>
            <a:prstDash val="solid"/>
          </a:ln>
        </p:spPr>
      </p:sp>
      <p:sp>
        <p:nvSpPr>
          <p:cNvPr id="10" name="Text 8"/>
          <p:cNvSpPr/>
          <p:nvPr/>
        </p:nvSpPr>
        <p:spPr>
          <a:xfrm>
            <a:off x="6629400" y="1709928"/>
            <a:ext cx="4709160" cy="219456"/>
          </a:xfrm>
          <a:prstGeom prst="rect">
            <a:avLst/>
          </a:prstGeom>
          <a:noFill/>
          <a:ln/>
        </p:spPr>
        <p:txBody>
          <a:bodyPr wrap="square" lIns="0" tIns="0" rIns="0" bIns="0" rtlCol="0" anchor="ctr"/>
          <a:lstStyle/>
          <a:p>
            <a:pPr indent="0" marL="0">
              <a:buNone/>
            </a:pPr>
            <a:r>
              <a:rPr lang="en-US" sz="950" b="1" dirty="0">
                <a:solidFill>
                  <a:srgbClr val="B0005D"/>
                </a:solidFill>
              </a:rPr>
              <a:t>ANALOGY</a:t>
            </a:r>
            <a:endParaRPr lang="en-US" sz="950" dirty="0"/>
          </a:p>
        </p:txBody>
      </p:sp>
      <p:sp>
        <p:nvSpPr>
          <p:cNvPr id="11" name="Text 9"/>
          <p:cNvSpPr/>
          <p:nvPr/>
        </p:nvSpPr>
        <p:spPr>
          <a:xfrm>
            <a:off x="6629400" y="1984248"/>
            <a:ext cx="4709160" cy="731520"/>
          </a:xfrm>
          <a:prstGeom prst="rect">
            <a:avLst/>
          </a:prstGeom>
          <a:noFill/>
          <a:ln/>
        </p:spPr>
        <p:txBody>
          <a:bodyPr wrap="square" lIns="254" tIns="254" rIns="254" bIns="254" rtlCol="0" anchor="t">
            <a:normAutofit/>
          </a:bodyPr>
          <a:lstStyle/>
          <a:p>
            <a:pPr indent="0" marL="0">
              <a:buNone/>
            </a:pPr>
            <a:r>
              <a:rPr lang="en-US" sz="1330" dirty="0">
                <a:solidFill>
                  <a:srgbClr val="1E293B"/>
                </a:solidFill>
              </a:rPr>
              <a:t>A team gets access if any authorized member has the key.</a:t>
            </a:r>
            <a:endParaRPr lang="en-US" sz="1330" dirty="0"/>
          </a:p>
        </p:txBody>
      </p:sp>
      <p:sp>
        <p:nvSpPr>
          <p:cNvPr id="12" name="Shape 10"/>
          <p:cNvSpPr/>
          <p:nvPr/>
        </p:nvSpPr>
        <p:spPr>
          <a:xfrm>
            <a:off x="6446520" y="2999232"/>
            <a:ext cx="5074920" cy="841248"/>
          </a:xfrm>
          <a:prstGeom prst="roundRect">
            <a:avLst>
              <a:gd name="adj" fmla="val 8696"/>
            </a:avLst>
          </a:prstGeom>
          <a:solidFill>
            <a:srgbClr val="FFFFFF">
              <a:alpha val="97000"/>
            </a:srgbClr>
          </a:solidFill>
          <a:ln w="12700">
            <a:solidFill>
              <a:srgbClr val="007C89"/>
            </a:solidFill>
            <a:prstDash val="solid"/>
          </a:ln>
        </p:spPr>
      </p:sp>
      <p:sp>
        <p:nvSpPr>
          <p:cNvPr id="13" name="Text 11"/>
          <p:cNvSpPr/>
          <p:nvPr/>
        </p:nvSpPr>
        <p:spPr>
          <a:xfrm>
            <a:off x="6611112" y="3127248"/>
            <a:ext cx="4745736" cy="658368"/>
          </a:xfrm>
          <a:prstGeom prst="rect">
            <a:avLst/>
          </a:prstGeom>
          <a:noFill/>
          <a:ln/>
        </p:spPr>
        <p:txBody>
          <a:bodyPr wrap="square" lIns="0" tIns="0" rIns="0" bIns="0" rtlCol="0" anchor="ctr">
            <a:normAutofit/>
          </a:bodyPr>
          <a:lstStyle/>
          <a:p>
            <a:pPr algn="ctr" indent="0" marL="0">
              <a:buNone/>
            </a:pPr>
            <a:r>
              <a:rPr lang="en-US" sz="1220" b="1" dirty="0">
                <a:solidFill>
                  <a:srgbClr val="005088"/>
                </a:solidFill>
                <a:latin typeface="Cambria Math" pitchFamily="34" charset="0"/>
                <a:ea typeface="Cambria Math" pitchFamily="34" charset="-122"/>
                <a:cs typeface="Cambria Math" pitchFamily="34" charset="-120"/>
              </a:rPr>
              <a:t>Type(g)=OR ⇒ Signal(Out(1,g))=1 ⇔ ∃n Signal(In(n,g))=1</a:t>
            </a:r>
            <a:endParaRPr lang="en-US" sz="1220" dirty="0"/>
          </a:p>
        </p:txBody>
      </p:sp>
      <p:sp>
        <p:nvSpPr>
          <p:cNvPr id="14" name="Shape 12"/>
          <p:cNvSpPr/>
          <p:nvPr/>
        </p:nvSpPr>
        <p:spPr>
          <a:xfrm>
            <a:off x="6446520" y="4041648"/>
            <a:ext cx="5074920" cy="859536"/>
          </a:xfrm>
          <a:prstGeom prst="roundRect">
            <a:avLst>
              <a:gd name="adj" fmla="val 8511"/>
            </a:avLst>
          </a:prstGeom>
          <a:solidFill>
            <a:srgbClr val="FFE4E6"/>
          </a:solidFill>
          <a:ln w="12700">
            <a:solidFill>
              <a:srgbClr val="FDA4AF"/>
            </a:solidFill>
            <a:prstDash val="solid"/>
          </a:ln>
        </p:spPr>
      </p:sp>
      <p:sp>
        <p:nvSpPr>
          <p:cNvPr id="15" name="Text 13"/>
          <p:cNvSpPr/>
          <p:nvPr/>
        </p:nvSpPr>
        <p:spPr>
          <a:xfrm>
            <a:off x="6629400" y="4178808"/>
            <a:ext cx="4709160" cy="219456"/>
          </a:xfrm>
          <a:prstGeom prst="rect">
            <a:avLst/>
          </a:prstGeom>
          <a:noFill/>
          <a:ln/>
        </p:spPr>
        <p:txBody>
          <a:bodyPr wrap="square" lIns="0" tIns="0" rIns="0" bIns="0" rtlCol="0" anchor="ctr"/>
          <a:lstStyle/>
          <a:p>
            <a:pPr indent="0" marL="0">
              <a:buNone/>
            </a:pPr>
            <a:r>
              <a:rPr lang="en-US" sz="950" b="1" dirty="0">
                <a:solidFill>
                  <a:srgbClr val="C1121F"/>
                </a:solidFill>
              </a:rPr>
              <a:t>STUDENT GOTCHA</a:t>
            </a:r>
            <a:endParaRPr lang="en-US" sz="950" dirty="0"/>
          </a:p>
        </p:txBody>
      </p:sp>
      <p:sp>
        <p:nvSpPr>
          <p:cNvPr id="16" name="Text 14"/>
          <p:cNvSpPr/>
          <p:nvPr/>
        </p:nvSpPr>
        <p:spPr>
          <a:xfrm>
            <a:off x="6629400" y="4453128"/>
            <a:ext cx="4709160" cy="356616"/>
          </a:xfrm>
          <a:prstGeom prst="rect">
            <a:avLst/>
          </a:prstGeom>
          <a:noFill/>
          <a:ln/>
        </p:spPr>
        <p:txBody>
          <a:bodyPr wrap="square" lIns="254" tIns="254" rIns="254" bIns="254" rtlCol="0" anchor="t">
            <a:normAutofit/>
          </a:bodyPr>
          <a:lstStyle/>
          <a:p>
            <a:pPr indent="0" marL="0">
              <a:buNone/>
            </a:pPr>
            <a:r>
              <a:rPr lang="en-US" sz="1250" dirty="0">
                <a:solidFill>
                  <a:srgbClr val="1E293B"/>
                </a:solidFill>
              </a:rPr>
              <a:t>Do not confuse OR with exclusive OR. OR allows both inputs to be one.</a:t>
            </a:r>
            <a:endParaRPr lang="en-US" sz="1250" dirty="0"/>
          </a:p>
        </p:txBody>
      </p:sp>
      <p:sp>
        <p:nvSpPr>
          <p:cNvPr id="17" name="Shape 15"/>
          <p:cNvSpPr/>
          <p:nvPr/>
        </p:nvSpPr>
        <p:spPr>
          <a:xfrm>
            <a:off x="6446520" y="5074920"/>
            <a:ext cx="5074920" cy="841248"/>
          </a:xfrm>
          <a:prstGeom prst="roundRect">
            <a:avLst>
              <a:gd name="adj" fmla="val 8696"/>
            </a:avLst>
          </a:prstGeom>
          <a:solidFill>
            <a:srgbClr val="E6FFFA"/>
          </a:solidFill>
          <a:ln w="12700">
            <a:solidFill>
              <a:srgbClr val="2A9D8F"/>
            </a:solidFill>
            <a:prstDash val="solid"/>
          </a:ln>
        </p:spPr>
      </p:sp>
      <p:sp>
        <p:nvSpPr>
          <p:cNvPr id="18" name="Text 16"/>
          <p:cNvSpPr/>
          <p:nvPr/>
        </p:nvSpPr>
        <p:spPr>
          <a:xfrm>
            <a:off x="6629400" y="5212080"/>
            <a:ext cx="4709160" cy="219456"/>
          </a:xfrm>
          <a:prstGeom prst="rect">
            <a:avLst/>
          </a:prstGeom>
          <a:noFill/>
          <a:ln/>
        </p:spPr>
        <p:txBody>
          <a:bodyPr wrap="square" lIns="0" tIns="0" rIns="0" bIns="0" rtlCol="0" anchor="ctr"/>
          <a:lstStyle/>
          <a:p>
            <a:pPr indent="0" marL="0">
              <a:buNone/>
            </a:pPr>
            <a:r>
              <a:rPr lang="en-US" sz="950" b="1" dirty="0">
                <a:solidFill>
                  <a:srgbClr val="007C89"/>
                </a:solidFill>
              </a:rPr>
              <a:t>CLASS CHECK</a:t>
            </a:r>
            <a:endParaRPr lang="en-US" sz="950" dirty="0"/>
          </a:p>
        </p:txBody>
      </p:sp>
      <p:sp>
        <p:nvSpPr>
          <p:cNvPr id="19" name="Text 17"/>
          <p:cNvSpPr/>
          <p:nvPr/>
        </p:nvSpPr>
        <p:spPr>
          <a:xfrm>
            <a:off x="6629400" y="5486400"/>
            <a:ext cx="4709160" cy="338328"/>
          </a:xfrm>
          <a:prstGeom prst="rect">
            <a:avLst/>
          </a:prstGeom>
          <a:noFill/>
          <a:ln/>
        </p:spPr>
        <p:txBody>
          <a:bodyPr wrap="square" lIns="254" tIns="254" rIns="254" bIns="254" rtlCol="0" anchor="t">
            <a:normAutofit/>
          </a:bodyPr>
          <a:lstStyle/>
          <a:p>
            <a:pPr indent="0" marL="0">
              <a:buNone/>
            </a:pPr>
            <a:r>
              <a:rPr lang="en-US" sz="1270" dirty="0">
                <a:solidFill>
                  <a:srgbClr val="1E293B"/>
                </a:solidFill>
              </a:rPr>
              <a:t>Ask: What does OR output for inputs one and one?</a:t>
            </a:r>
            <a:endParaRPr lang="en-US" sz="127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5088"/>
          </a:solidFill>
          <a:ln w="12700">
            <a:solidFill>
              <a:srgbClr val="005088"/>
            </a:solidFill>
            <a:prstDash val="solid"/>
          </a:ln>
        </p:spPr>
      </p:sp>
      <p:sp>
        <p:nvSpPr>
          <p:cNvPr id="3" name="Shape 1"/>
          <p:cNvSpPr/>
          <p:nvPr/>
        </p:nvSpPr>
        <p:spPr>
          <a:xfrm>
            <a:off x="0" y="6729984"/>
            <a:ext cx="12191695" cy="128016"/>
          </a:xfrm>
          <a:prstGeom prst="rect">
            <a:avLst/>
          </a:prstGeom>
          <a:solidFill>
            <a:srgbClr val="005088"/>
          </a:solidFill>
          <a:ln w="12700">
            <a:solidFill>
              <a:srgbClr val="005088"/>
            </a:solidFill>
            <a:prstDash val="solid"/>
          </a:ln>
        </p:spPr>
      </p:sp>
      <p:sp>
        <p:nvSpPr>
          <p:cNvPr id="4" name="Text 2"/>
          <p:cNvSpPr/>
          <p:nvPr/>
        </p:nvSpPr>
        <p:spPr>
          <a:xfrm>
            <a:off x="502920" y="210312"/>
            <a:ext cx="6858000" cy="219456"/>
          </a:xfrm>
          <a:prstGeom prst="rect">
            <a:avLst/>
          </a:prstGeom>
          <a:noFill/>
          <a:ln/>
        </p:spPr>
        <p:txBody>
          <a:bodyPr wrap="square" lIns="0" tIns="0" rIns="0" bIns="0" rtlCol="0" anchor="ctr"/>
          <a:lstStyle/>
          <a:p>
            <a:pPr indent="0" marL="0">
              <a:buNone/>
            </a:pPr>
            <a:r>
              <a:rPr lang="en-US" sz="950" b="1" dirty="0">
                <a:solidFill>
                  <a:srgbClr val="3D5A80"/>
                </a:solidFill>
                <a:latin typeface="Aptos" pitchFamily="34" charset="0"/>
                <a:ea typeface="Aptos" pitchFamily="34" charset="-122"/>
                <a:cs typeface="Aptos" pitchFamily="34" charset="-120"/>
              </a:rPr>
              <a:t>8.4.2 Electronic Circuits Domain</a:t>
            </a:r>
            <a:endParaRPr lang="en-US" sz="950" dirty="0"/>
          </a:p>
        </p:txBody>
      </p:sp>
      <p:sp>
        <p:nvSpPr>
          <p:cNvPr id="5" name="Text 3"/>
          <p:cNvSpPr/>
          <p:nvPr/>
        </p:nvSpPr>
        <p:spPr>
          <a:xfrm>
            <a:off x="11018520" y="201168"/>
            <a:ext cx="640080" cy="228600"/>
          </a:xfrm>
          <a:prstGeom prst="rect">
            <a:avLst/>
          </a:prstGeom>
          <a:noFill/>
          <a:ln/>
        </p:spPr>
        <p:txBody>
          <a:bodyPr wrap="square" lIns="0" tIns="0" rIns="0" bIns="0" rtlCol="0" anchor="ctr"/>
          <a:lstStyle/>
          <a:p>
            <a:pPr algn="r" indent="0" marL="0">
              <a:buNone/>
            </a:pPr>
            <a:r>
              <a:rPr lang="en-US" sz="900" b="1" dirty="0">
                <a:solidFill>
                  <a:srgbClr val="3D5A80"/>
                </a:solidFill>
              </a:rPr>
              <a:t>97</a:t>
            </a:r>
            <a:endParaRPr lang="en-US" sz="900" dirty="0"/>
          </a:p>
        </p:txBody>
      </p:sp>
      <p:sp>
        <p:nvSpPr>
          <p:cNvPr id="6" name="Text 4"/>
          <p:cNvSpPr/>
          <p:nvPr/>
        </p:nvSpPr>
        <p:spPr>
          <a:xfrm>
            <a:off x="502920" y="566928"/>
            <a:ext cx="11201400" cy="512064"/>
          </a:xfrm>
          <a:prstGeom prst="rect">
            <a:avLst/>
          </a:prstGeom>
          <a:noFill/>
          <a:ln/>
        </p:spPr>
        <p:txBody>
          <a:bodyPr wrap="square" lIns="0" tIns="0" rIns="0" bIns="0" rtlCol="0" anchor="ctr">
            <a:normAutofit/>
          </a:bodyPr>
          <a:lstStyle/>
          <a:p>
            <a:pPr indent="0" marL="0">
              <a:buNone/>
            </a:pPr>
            <a:r>
              <a:rPr lang="en-US" sz="2650" b="1" dirty="0">
                <a:solidFill>
                  <a:srgbClr val="005088"/>
                </a:solidFill>
                <a:latin typeface="Aptos Display" pitchFamily="34" charset="0"/>
                <a:ea typeface="Aptos Display" pitchFamily="34" charset="-122"/>
                <a:cs typeface="Aptos Display" pitchFamily="34" charset="-120"/>
              </a:rPr>
              <a:t>GATE BEHAVIOR: EXCLUSIVE OR GATE</a:t>
            </a:r>
            <a:endParaRPr lang="en-US" sz="2650" dirty="0"/>
          </a:p>
        </p:txBody>
      </p:sp>
      <p:sp>
        <p:nvSpPr>
          <p:cNvPr id="7" name="Shape 5"/>
          <p:cNvSpPr/>
          <p:nvPr/>
        </p:nvSpPr>
        <p:spPr>
          <a:xfrm>
            <a:off x="502920" y="1188720"/>
            <a:ext cx="11109960" cy="0"/>
          </a:xfrm>
          <a:prstGeom prst="line">
            <a:avLst/>
          </a:prstGeom>
          <a:noFill/>
          <a:ln w="12700">
            <a:solidFill>
              <a:srgbClr val="3D5A80"/>
            </a:solidFill>
            <a:prstDash val="solid"/>
          </a:ln>
        </p:spPr>
      </p:sp>
      <p:sp>
        <p:nvSpPr>
          <p:cNvPr id="8" name="Text 6"/>
          <p:cNvSpPr/>
          <p:nvPr/>
        </p:nvSpPr>
        <p:spPr>
          <a:xfrm>
            <a:off x="713232" y="1572768"/>
            <a:ext cx="5440680" cy="4251960"/>
          </a:xfrm>
          <a:prstGeom prst="rect">
            <a:avLst/>
          </a:prstGeom>
          <a:noFill/>
          <a:ln/>
        </p:spPr>
        <p:txBody>
          <a:bodyPr wrap="square" lIns="1016" tIns="1016" rIns="1016" bIns="1016" rtlCol="0" anchor="t">
            <a:normAutofit/>
          </a:bodyPr>
          <a:lstStyle/>
          <a:p>
            <a:pPr indent="0" marL="0">
              <a:buNone/>
            </a:pPr>
            <a:r>
              <a:rPr lang="en-US" sz="1650" dirty="0">
                <a:solidFill>
                  <a:srgbClr val="1E293B"/>
                </a:solidFill>
                <a:latin typeface="Aptos" pitchFamily="34" charset="0"/>
                <a:ea typeface="Aptos" pitchFamily="34" charset="-122"/>
                <a:cs typeface="Aptos" pitchFamily="34" charset="-120"/>
              </a:rPr>
              <a:t>• An exclusive OR gate outputs one when its inputs differ</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It outputs zero when its inputs match</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This is essential for the sum bit in addition</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The rule uses inequality between signal values</a:t>
            </a:r>
            <a:endParaRPr lang="en-US" sz="1650" dirty="0"/>
          </a:p>
        </p:txBody>
      </p:sp>
      <p:sp>
        <p:nvSpPr>
          <p:cNvPr id="9" name="Shape 7"/>
          <p:cNvSpPr/>
          <p:nvPr/>
        </p:nvSpPr>
        <p:spPr>
          <a:xfrm>
            <a:off x="6446520" y="1572768"/>
            <a:ext cx="5074920" cy="1234440"/>
          </a:xfrm>
          <a:prstGeom prst="roundRect">
            <a:avLst>
              <a:gd name="adj" fmla="val 5926"/>
            </a:avLst>
          </a:prstGeom>
          <a:solidFill>
            <a:srgbClr val="FFF6D9"/>
          </a:solidFill>
          <a:ln w="12700">
            <a:solidFill>
              <a:srgbClr val="F4A261"/>
            </a:solidFill>
            <a:prstDash val="solid"/>
          </a:ln>
        </p:spPr>
      </p:sp>
      <p:sp>
        <p:nvSpPr>
          <p:cNvPr id="10" name="Text 8"/>
          <p:cNvSpPr/>
          <p:nvPr/>
        </p:nvSpPr>
        <p:spPr>
          <a:xfrm>
            <a:off x="6629400" y="1709928"/>
            <a:ext cx="4709160" cy="219456"/>
          </a:xfrm>
          <a:prstGeom prst="rect">
            <a:avLst/>
          </a:prstGeom>
          <a:noFill/>
          <a:ln/>
        </p:spPr>
        <p:txBody>
          <a:bodyPr wrap="square" lIns="0" tIns="0" rIns="0" bIns="0" rtlCol="0" anchor="ctr"/>
          <a:lstStyle/>
          <a:p>
            <a:pPr indent="0" marL="0">
              <a:buNone/>
            </a:pPr>
            <a:r>
              <a:rPr lang="en-US" sz="950" b="1" dirty="0">
                <a:solidFill>
                  <a:srgbClr val="B0005D"/>
                </a:solidFill>
              </a:rPr>
              <a:t>ANALOGY</a:t>
            </a:r>
            <a:endParaRPr lang="en-US" sz="950" dirty="0"/>
          </a:p>
        </p:txBody>
      </p:sp>
      <p:sp>
        <p:nvSpPr>
          <p:cNvPr id="11" name="Text 9"/>
          <p:cNvSpPr/>
          <p:nvPr/>
        </p:nvSpPr>
        <p:spPr>
          <a:xfrm>
            <a:off x="6629400" y="1984248"/>
            <a:ext cx="4709160" cy="731520"/>
          </a:xfrm>
          <a:prstGeom prst="rect">
            <a:avLst/>
          </a:prstGeom>
          <a:noFill/>
          <a:ln/>
        </p:spPr>
        <p:txBody>
          <a:bodyPr wrap="square" lIns="254" tIns="254" rIns="254" bIns="254" rtlCol="0" anchor="t">
            <a:normAutofit/>
          </a:bodyPr>
          <a:lstStyle/>
          <a:p>
            <a:pPr indent="0" marL="0">
              <a:buNone/>
            </a:pPr>
            <a:r>
              <a:rPr lang="en-US" sz="1330" dirty="0">
                <a:solidFill>
                  <a:srgbClr val="1E293B"/>
                </a:solidFill>
              </a:rPr>
              <a:t>A mismatch detector turns on when two answers are different.</a:t>
            </a:r>
            <a:endParaRPr lang="en-US" sz="1330" dirty="0"/>
          </a:p>
        </p:txBody>
      </p:sp>
      <p:sp>
        <p:nvSpPr>
          <p:cNvPr id="12" name="Shape 10"/>
          <p:cNvSpPr/>
          <p:nvPr/>
        </p:nvSpPr>
        <p:spPr>
          <a:xfrm>
            <a:off x="6446520" y="2999232"/>
            <a:ext cx="5074920" cy="841248"/>
          </a:xfrm>
          <a:prstGeom prst="roundRect">
            <a:avLst>
              <a:gd name="adj" fmla="val 8696"/>
            </a:avLst>
          </a:prstGeom>
          <a:solidFill>
            <a:srgbClr val="FFFFFF">
              <a:alpha val="97000"/>
            </a:srgbClr>
          </a:solidFill>
          <a:ln w="12700">
            <a:solidFill>
              <a:srgbClr val="007C89"/>
            </a:solidFill>
            <a:prstDash val="solid"/>
          </a:ln>
        </p:spPr>
      </p:sp>
      <p:sp>
        <p:nvSpPr>
          <p:cNvPr id="13" name="Text 11"/>
          <p:cNvSpPr/>
          <p:nvPr/>
        </p:nvSpPr>
        <p:spPr>
          <a:xfrm>
            <a:off x="6611112" y="3127248"/>
            <a:ext cx="4745736" cy="658368"/>
          </a:xfrm>
          <a:prstGeom prst="rect">
            <a:avLst/>
          </a:prstGeom>
          <a:noFill/>
          <a:ln/>
        </p:spPr>
        <p:txBody>
          <a:bodyPr wrap="square" lIns="0" tIns="0" rIns="0" bIns="0" rtlCol="0" anchor="ctr">
            <a:normAutofit/>
          </a:bodyPr>
          <a:lstStyle/>
          <a:p>
            <a:pPr algn="ctr" indent="0" marL="0">
              <a:buNone/>
            </a:pPr>
            <a:r>
              <a:rPr lang="en-US" sz="1070" b="1" dirty="0">
                <a:solidFill>
                  <a:srgbClr val="005088"/>
                </a:solidFill>
                <a:latin typeface="Cambria Math" pitchFamily="34" charset="0"/>
                <a:ea typeface="Cambria Math" pitchFamily="34" charset="-122"/>
                <a:cs typeface="Cambria Math" pitchFamily="34" charset="-120"/>
              </a:rPr>
              <a:t>Type(g)=ExclusiveOr ⇒ Signal(Out(1,g))=1 ⇔ Signal(In(1,g))≠Signal(In(2,g))</a:t>
            </a:r>
            <a:endParaRPr lang="en-US" sz="1070" dirty="0"/>
          </a:p>
        </p:txBody>
      </p:sp>
      <p:sp>
        <p:nvSpPr>
          <p:cNvPr id="14" name="Shape 12"/>
          <p:cNvSpPr/>
          <p:nvPr/>
        </p:nvSpPr>
        <p:spPr>
          <a:xfrm>
            <a:off x="6446520" y="4041648"/>
            <a:ext cx="5074920" cy="859536"/>
          </a:xfrm>
          <a:prstGeom prst="roundRect">
            <a:avLst>
              <a:gd name="adj" fmla="val 8511"/>
            </a:avLst>
          </a:prstGeom>
          <a:solidFill>
            <a:srgbClr val="FFE4E6"/>
          </a:solidFill>
          <a:ln w="12700">
            <a:solidFill>
              <a:srgbClr val="FDA4AF"/>
            </a:solidFill>
            <a:prstDash val="solid"/>
          </a:ln>
        </p:spPr>
      </p:sp>
      <p:sp>
        <p:nvSpPr>
          <p:cNvPr id="15" name="Text 13"/>
          <p:cNvSpPr/>
          <p:nvPr/>
        </p:nvSpPr>
        <p:spPr>
          <a:xfrm>
            <a:off x="6629400" y="4178808"/>
            <a:ext cx="4709160" cy="219456"/>
          </a:xfrm>
          <a:prstGeom prst="rect">
            <a:avLst/>
          </a:prstGeom>
          <a:noFill/>
          <a:ln/>
        </p:spPr>
        <p:txBody>
          <a:bodyPr wrap="square" lIns="0" tIns="0" rIns="0" bIns="0" rtlCol="0" anchor="ctr"/>
          <a:lstStyle/>
          <a:p>
            <a:pPr indent="0" marL="0">
              <a:buNone/>
            </a:pPr>
            <a:r>
              <a:rPr lang="en-US" sz="950" b="1" dirty="0">
                <a:solidFill>
                  <a:srgbClr val="C1121F"/>
                </a:solidFill>
              </a:rPr>
              <a:t>STUDENT GOTCHA</a:t>
            </a:r>
            <a:endParaRPr lang="en-US" sz="950" dirty="0"/>
          </a:p>
        </p:txBody>
      </p:sp>
      <p:sp>
        <p:nvSpPr>
          <p:cNvPr id="16" name="Text 14"/>
          <p:cNvSpPr/>
          <p:nvPr/>
        </p:nvSpPr>
        <p:spPr>
          <a:xfrm>
            <a:off x="6629400" y="4453128"/>
            <a:ext cx="4709160" cy="356616"/>
          </a:xfrm>
          <a:prstGeom prst="rect">
            <a:avLst/>
          </a:prstGeom>
          <a:noFill/>
          <a:ln/>
        </p:spPr>
        <p:txBody>
          <a:bodyPr wrap="square" lIns="254" tIns="254" rIns="254" bIns="254" rtlCol="0" anchor="t">
            <a:normAutofit/>
          </a:bodyPr>
          <a:lstStyle/>
          <a:p>
            <a:pPr indent="0" marL="0">
              <a:buNone/>
            </a:pPr>
            <a:r>
              <a:rPr lang="en-US" sz="1250" dirty="0">
                <a:solidFill>
                  <a:srgbClr val="1E293B"/>
                </a:solidFill>
              </a:rPr>
              <a:t>The system must know that one is not equal to zero before this rule can prove outputs.</a:t>
            </a:r>
            <a:endParaRPr lang="en-US" sz="1250" dirty="0"/>
          </a:p>
        </p:txBody>
      </p:sp>
      <p:sp>
        <p:nvSpPr>
          <p:cNvPr id="17" name="Shape 15"/>
          <p:cNvSpPr/>
          <p:nvPr/>
        </p:nvSpPr>
        <p:spPr>
          <a:xfrm>
            <a:off x="6446520" y="5074920"/>
            <a:ext cx="5074920" cy="841248"/>
          </a:xfrm>
          <a:prstGeom prst="roundRect">
            <a:avLst>
              <a:gd name="adj" fmla="val 8696"/>
            </a:avLst>
          </a:prstGeom>
          <a:solidFill>
            <a:srgbClr val="E6FFFA"/>
          </a:solidFill>
          <a:ln w="12700">
            <a:solidFill>
              <a:srgbClr val="2A9D8F"/>
            </a:solidFill>
            <a:prstDash val="solid"/>
          </a:ln>
        </p:spPr>
      </p:sp>
      <p:sp>
        <p:nvSpPr>
          <p:cNvPr id="18" name="Text 16"/>
          <p:cNvSpPr/>
          <p:nvPr/>
        </p:nvSpPr>
        <p:spPr>
          <a:xfrm>
            <a:off x="6629400" y="5212080"/>
            <a:ext cx="4709160" cy="219456"/>
          </a:xfrm>
          <a:prstGeom prst="rect">
            <a:avLst/>
          </a:prstGeom>
          <a:noFill/>
          <a:ln/>
        </p:spPr>
        <p:txBody>
          <a:bodyPr wrap="square" lIns="0" tIns="0" rIns="0" bIns="0" rtlCol="0" anchor="ctr"/>
          <a:lstStyle/>
          <a:p>
            <a:pPr indent="0" marL="0">
              <a:buNone/>
            </a:pPr>
            <a:r>
              <a:rPr lang="en-US" sz="950" b="1" dirty="0">
                <a:solidFill>
                  <a:srgbClr val="007C89"/>
                </a:solidFill>
              </a:rPr>
              <a:t>CLASS CHECK</a:t>
            </a:r>
            <a:endParaRPr lang="en-US" sz="950" dirty="0"/>
          </a:p>
        </p:txBody>
      </p:sp>
      <p:sp>
        <p:nvSpPr>
          <p:cNvPr id="19" name="Text 17"/>
          <p:cNvSpPr/>
          <p:nvPr/>
        </p:nvSpPr>
        <p:spPr>
          <a:xfrm>
            <a:off x="6629400" y="5486400"/>
            <a:ext cx="4709160" cy="338328"/>
          </a:xfrm>
          <a:prstGeom prst="rect">
            <a:avLst/>
          </a:prstGeom>
          <a:noFill/>
          <a:ln/>
        </p:spPr>
        <p:txBody>
          <a:bodyPr wrap="square" lIns="254" tIns="254" rIns="254" bIns="254" rtlCol="0" anchor="t">
            <a:normAutofit/>
          </a:bodyPr>
          <a:lstStyle/>
          <a:p>
            <a:pPr indent="0" marL="0">
              <a:buNone/>
            </a:pPr>
            <a:r>
              <a:rPr lang="en-US" sz="1270" dirty="0">
                <a:solidFill>
                  <a:srgbClr val="1E293B"/>
                </a:solidFill>
              </a:rPr>
              <a:t>Ask: Why does input one and zero produce output one?</a:t>
            </a:r>
            <a:endParaRPr lang="en-US" sz="127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5088"/>
          </a:solidFill>
          <a:ln w="12700">
            <a:solidFill>
              <a:srgbClr val="005088"/>
            </a:solidFill>
            <a:prstDash val="solid"/>
          </a:ln>
        </p:spPr>
      </p:sp>
      <p:sp>
        <p:nvSpPr>
          <p:cNvPr id="3" name="Shape 1"/>
          <p:cNvSpPr/>
          <p:nvPr/>
        </p:nvSpPr>
        <p:spPr>
          <a:xfrm>
            <a:off x="0" y="6729984"/>
            <a:ext cx="12191695" cy="128016"/>
          </a:xfrm>
          <a:prstGeom prst="rect">
            <a:avLst/>
          </a:prstGeom>
          <a:solidFill>
            <a:srgbClr val="005088"/>
          </a:solidFill>
          <a:ln w="12700">
            <a:solidFill>
              <a:srgbClr val="005088"/>
            </a:solidFill>
            <a:prstDash val="solid"/>
          </a:ln>
        </p:spPr>
      </p:sp>
      <p:sp>
        <p:nvSpPr>
          <p:cNvPr id="4" name="Text 2"/>
          <p:cNvSpPr/>
          <p:nvPr/>
        </p:nvSpPr>
        <p:spPr>
          <a:xfrm>
            <a:off x="502920" y="210312"/>
            <a:ext cx="6858000" cy="219456"/>
          </a:xfrm>
          <a:prstGeom prst="rect">
            <a:avLst/>
          </a:prstGeom>
          <a:noFill/>
          <a:ln/>
        </p:spPr>
        <p:txBody>
          <a:bodyPr wrap="square" lIns="0" tIns="0" rIns="0" bIns="0" rtlCol="0" anchor="ctr"/>
          <a:lstStyle/>
          <a:p>
            <a:pPr indent="0" marL="0">
              <a:buNone/>
            </a:pPr>
            <a:r>
              <a:rPr lang="en-US" sz="950" b="1" dirty="0">
                <a:solidFill>
                  <a:srgbClr val="3D5A80"/>
                </a:solidFill>
                <a:latin typeface="Aptos" pitchFamily="34" charset="0"/>
                <a:ea typeface="Aptos" pitchFamily="34" charset="-122"/>
                <a:cs typeface="Aptos" pitchFamily="34" charset="-120"/>
              </a:rPr>
              <a:t>8.4.2 Electronic Circuits Domain</a:t>
            </a:r>
            <a:endParaRPr lang="en-US" sz="950" dirty="0"/>
          </a:p>
        </p:txBody>
      </p:sp>
      <p:sp>
        <p:nvSpPr>
          <p:cNvPr id="5" name="Text 3"/>
          <p:cNvSpPr/>
          <p:nvPr/>
        </p:nvSpPr>
        <p:spPr>
          <a:xfrm>
            <a:off x="11018520" y="201168"/>
            <a:ext cx="640080" cy="228600"/>
          </a:xfrm>
          <a:prstGeom prst="rect">
            <a:avLst/>
          </a:prstGeom>
          <a:noFill/>
          <a:ln/>
        </p:spPr>
        <p:txBody>
          <a:bodyPr wrap="square" lIns="0" tIns="0" rIns="0" bIns="0" rtlCol="0" anchor="ctr"/>
          <a:lstStyle/>
          <a:p>
            <a:pPr algn="r" indent="0" marL="0">
              <a:buNone/>
            </a:pPr>
            <a:r>
              <a:rPr lang="en-US" sz="900" b="1" dirty="0">
                <a:solidFill>
                  <a:srgbClr val="3D5A80"/>
                </a:solidFill>
              </a:rPr>
              <a:t>98</a:t>
            </a:r>
            <a:endParaRPr lang="en-US" sz="900" dirty="0"/>
          </a:p>
        </p:txBody>
      </p:sp>
      <p:sp>
        <p:nvSpPr>
          <p:cNvPr id="6" name="Text 4"/>
          <p:cNvSpPr/>
          <p:nvPr/>
        </p:nvSpPr>
        <p:spPr>
          <a:xfrm>
            <a:off x="502920" y="566928"/>
            <a:ext cx="11201400" cy="512064"/>
          </a:xfrm>
          <a:prstGeom prst="rect">
            <a:avLst/>
          </a:prstGeom>
          <a:noFill/>
          <a:ln/>
        </p:spPr>
        <p:txBody>
          <a:bodyPr wrap="square" lIns="0" tIns="0" rIns="0" bIns="0" rtlCol="0" anchor="ctr">
            <a:normAutofit/>
          </a:bodyPr>
          <a:lstStyle/>
          <a:p>
            <a:pPr indent="0" marL="0">
              <a:buNone/>
            </a:pPr>
            <a:r>
              <a:rPr lang="en-US" sz="2650" b="1" dirty="0">
                <a:solidFill>
                  <a:srgbClr val="005088"/>
                </a:solidFill>
                <a:latin typeface="Aptos Display" pitchFamily="34" charset="0"/>
                <a:ea typeface="Aptos Display" pitchFamily="34" charset="-122"/>
                <a:cs typeface="Aptos Display" pitchFamily="34" charset="-120"/>
              </a:rPr>
              <a:t>GATE BEHAVIOR: NOT GATE</a:t>
            </a:r>
            <a:endParaRPr lang="en-US" sz="2650" dirty="0"/>
          </a:p>
        </p:txBody>
      </p:sp>
      <p:sp>
        <p:nvSpPr>
          <p:cNvPr id="7" name="Shape 5"/>
          <p:cNvSpPr/>
          <p:nvPr/>
        </p:nvSpPr>
        <p:spPr>
          <a:xfrm>
            <a:off x="502920" y="1188720"/>
            <a:ext cx="11109960" cy="0"/>
          </a:xfrm>
          <a:prstGeom prst="line">
            <a:avLst/>
          </a:prstGeom>
          <a:noFill/>
          <a:ln w="12700">
            <a:solidFill>
              <a:srgbClr val="3D5A80"/>
            </a:solidFill>
            <a:prstDash val="solid"/>
          </a:ln>
        </p:spPr>
      </p:sp>
      <p:sp>
        <p:nvSpPr>
          <p:cNvPr id="8" name="Text 6"/>
          <p:cNvSpPr/>
          <p:nvPr/>
        </p:nvSpPr>
        <p:spPr>
          <a:xfrm>
            <a:off x="713232" y="1572768"/>
            <a:ext cx="5440680" cy="4251960"/>
          </a:xfrm>
          <a:prstGeom prst="rect">
            <a:avLst/>
          </a:prstGeom>
          <a:noFill/>
          <a:ln/>
        </p:spPr>
        <p:txBody>
          <a:bodyPr wrap="square" lIns="1016" tIns="1016" rIns="1016" bIns="1016" rtlCol="0" anchor="t">
            <a:normAutofit/>
          </a:bodyPr>
          <a:lstStyle/>
          <a:p>
            <a:pPr indent="0" marL="0">
              <a:buNone/>
            </a:pPr>
            <a:r>
              <a:rPr lang="en-US" sz="1650" dirty="0">
                <a:solidFill>
                  <a:srgbClr val="1E293B"/>
                </a:solidFill>
                <a:latin typeface="Aptos" pitchFamily="34" charset="0"/>
                <a:ea typeface="Aptos" pitchFamily="34" charset="-122"/>
                <a:cs typeface="Aptos" pitchFamily="34" charset="-120"/>
              </a:rPr>
              <a:t>• A NOT gate outputs the opposite of its input</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The output signal differs from the input signal</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The chapter includes it for a general circuit vocabulary</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The full-adder example does not need a NOT gate</a:t>
            </a:r>
            <a:endParaRPr lang="en-US" sz="1650" dirty="0"/>
          </a:p>
        </p:txBody>
      </p:sp>
      <p:sp>
        <p:nvSpPr>
          <p:cNvPr id="9" name="Shape 7"/>
          <p:cNvSpPr/>
          <p:nvPr/>
        </p:nvSpPr>
        <p:spPr>
          <a:xfrm>
            <a:off x="6446520" y="1572768"/>
            <a:ext cx="5074920" cy="1234440"/>
          </a:xfrm>
          <a:prstGeom prst="roundRect">
            <a:avLst>
              <a:gd name="adj" fmla="val 5926"/>
            </a:avLst>
          </a:prstGeom>
          <a:solidFill>
            <a:srgbClr val="FFF6D9"/>
          </a:solidFill>
          <a:ln w="12700">
            <a:solidFill>
              <a:srgbClr val="F4A261"/>
            </a:solidFill>
            <a:prstDash val="solid"/>
          </a:ln>
        </p:spPr>
      </p:sp>
      <p:sp>
        <p:nvSpPr>
          <p:cNvPr id="10" name="Text 8"/>
          <p:cNvSpPr/>
          <p:nvPr/>
        </p:nvSpPr>
        <p:spPr>
          <a:xfrm>
            <a:off x="6629400" y="1709928"/>
            <a:ext cx="4709160" cy="219456"/>
          </a:xfrm>
          <a:prstGeom prst="rect">
            <a:avLst/>
          </a:prstGeom>
          <a:noFill/>
          <a:ln/>
        </p:spPr>
        <p:txBody>
          <a:bodyPr wrap="square" lIns="0" tIns="0" rIns="0" bIns="0" rtlCol="0" anchor="ctr"/>
          <a:lstStyle/>
          <a:p>
            <a:pPr indent="0" marL="0">
              <a:buNone/>
            </a:pPr>
            <a:r>
              <a:rPr lang="en-US" sz="950" b="1" dirty="0">
                <a:solidFill>
                  <a:srgbClr val="B0005D"/>
                </a:solidFill>
              </a:rPr>
              <a:t>ANALOGY</a:t>
            </a:r>
            <a:endParaRPr lang="en-US" sz="950" dirty="0"/>
          </a:p>
        </p:txBody>
      </p:sp>
      <p:sp>
        <p:nvSpPr>
          <p:cNvPr id="11" name="Text 9"/>
          <p:cNvSpPr/>
          <p:nvPr/>
        </p:nvSpPr>
        <p:spPr>
          <a:xfrm>
            <a:off x="6629400" y="1984248"/>
            <a:ext cx="4709160" cy="731520"/>
          </a:xfrm>
          <a:prstGeom prst="rect">
            <a:avLst/>
          </a:prstGeom>
          <a:noFill/>
          <a:ln/>
        </p:spPr>
        <p:txBody>
          <a:bodyPr wrap="square" lIns="254" tIns="254" rIns="254" bIns="254" rtlCol="0" anchor="t">
            <a:normAutofit/>
          </a:bodyPr>
          <a:lstStyle/>
          <a:p>
            <a:pPr indent="0" marL="0">
              <a:buNone/>
            </a:pPr>
            <a:r>
              <a:rPr lang="en-US" sz="1330" dirty="0">
                <a:solidFill>
                  <a:srgbClr val="1E293B"/>
                </a:solidFill>
              </a:rPr>
              <a:t>A simple inverter: if the light switch input says on, the output says off.</a:t>
            </a:r>
            <a:endParaRPr lang="en-US" sz="1330" dirty="0"/>
          </a:p>
        </p:txBody>
      </p:sp>
      <p:sp>
        <p:nvSpPr>
          <p:cNvPr id="12" name="Shape 10"/>
          <p:cNvSpPr/>
          <p:nvPr/>
        </p:nvSpPr>
        <p:spPr>
          <a:xfrm>
            <a:off x="6446520" y="2999232"/>
            <a:ext cx="5074920" cy="841248"/>
          </a:xfrm>
          <a:prstGeom prst="roundRect">
            <a:avLst>
              <a:gd name="adj" fmla="val 8696"/>
            </a:avLst>
          </a:prstGeom>
          <a:solidFill>
            <a:srgbClr val="FFFFFF">
              <a:alpha val="97000"/>
            </a:srgbClr>
          </a:solidFill>
          <a:ln w="12700">
            <a:solidFill>
              <a:srgbClr val="007C89"/>
            </a:solidFill>
            <a:prstDash val="solid"/>
          </a:ln>
        </p:spPr>
      </p:sp>
      <p:sp>
        <p:nvSpPr>
          <p:cNvPr id="13" name="Text 11"/>
          <p:cNvSpPr/>
          <p:nvPr/>
        </p:nvSpPr>
        <p:spPr>
          <a:xfrm>
            <a:off x="6611112" y="3127248"/>
            <a:ext cx="4745736" cy="658368"/>
          </a:xfrm>
          <a:prstGeom prst="rect">
            <a:avLst/>
          </a:prstGeom>
          <a:noFill/>
          <a:ln/>
        </p:spPr>
        <p:txBody>
          <a:bodyPr wrap="square" lIns="0" tIns="0" rIns="0" bIns="0" rtlCol="0" anchor="ctr">
            <a:normAutofit/>
          </a:bodyPr>
          <a:lstStyle/>
          <a:p>
            <a:pPr algn="ctr" indent="0" marL="0">
              <a:buNone/>
            </a:pPr>
            <a:r>
              <a:rPr lang="en-US" sz="1450" b="1" dirty="0">
                <a:solidFill>
                  <a:srgbClr val="005088"/>
                </a:solidFill>
                <a:latin typeface="Cambria Math" pitchFamily="34" charset="0"/>
                <a:ea typeface="Cambria Math" pitchFamily="34" charset="-122"/>
                <a:cs typeface="Cambria Math" pitchFamily="34" charset="-120"/>
              </a:rPr>
              <a:t>Type(g)=NOT ⇒ Signal(Out(1,g))≠Signal(In(1,g))</a:t>
            </a:r>
            <a:endParaRPr lang="en-US" sz="1450" dirty="0"/>
          </a:p>
        </p:txBody>
      </p:sp>
      <p:sp>
        <p:nvSpPr>
          <p:cNvPr id="14" name="Shape 12"/>
          <p:cNvSpPr/>
          <p:nvPr/>
        </p:nvSpPr>
        <p:spPr>
          <a:xfrm>
            <a:off x="6446520" y="4041648"/>
            <a:ext cx="5074920" cy="859536"/>
          </a:xfrm>
          <a:prstGeom prst="roundRect">
            <a:avLst>
              <a:gd name="adj" fmla="val 8511"/>
            </a:avLst>
          </a:prstGeom>
          <a:solidFill>
            <a:srgbClr val="FFE4E6"/>
          </a:solidFill>
          <a:ln w="12700">
            <a:solidFill>
              <a:srgbClr val="FDA4AF"/>
            </a:solidFill>
            <a:prstDash val="solid"/>
          </a:ln>
        </p:spPr>
      </p:sp>
      <p:sp>
        <p:nvSpPr>
          <p:cNvPr id="15" name="Text 13"/>
          <p:cNvSpPr/>
          <p:nvPr/>
        </p:nvSpPr>
        <p:spPr>
          <a:xfrm>
            <a:off x="6629400" y="4178808"/>
            <a:ext cx="4709160" cy="219456"/>
          </a:xfrm>
          <a:prstGeom prst="rect">
            <a:avLst/>
          </a:prstGeom>
          <a:noFill/>
          <a:ln/>
        </p:spPr>
        <p:txBody>
          <a:bodyPr wrap="square" lIns="0" tIns="0" rIns="0" bIns="0" rtlCol="0" anchor="ctr"/>
          <a:lstStyle/>
          <a:p>
            <a:pPr indent="0" marL="0">
              <a:buNone/>
            </a:pPr>
            <a:r>
              <a:rPr lang="en-US" sz="950" b="1" dirty="0">
                <a:solidFill>
                  <a:srgbClr val="C1121F"/>
                </a:solidFill>
              </a:rPr>
              <a:t>STUDENT GOTCHA</a:t>
            </a:r>
            <a:endParaRPr lang="en-US" sz="950" dirty="0"/>
          </a:p>
        </p:txBody>
      </p:sp>
      <p:sp>
        <p:nvSpPr>
          <p:cNvPr id="16" name="Text 14"/>
          <p:cNvSpPr/>
          <p:nvPr/>
        </p:nvSpPr>
        <p:spPr>
          <a:xfrm>
            <a:off x="6629400" y="4453128"/>
            <a:ext cx="4709160" cy="356616"/>
          </a:xfrm>
          <a:prstGeom prst="rect">
            <a:avLst/>
          </a:prstGeom>
          <a:noFill/>
          <a:ln/>
        </p:spPr>
        <p:txBody>
          <a:bodyPr wrap="square" lIns="254" tIns="254" rIns="254" bIns="254" rtlCol="0" anchor="t">
            <a:normAutofit/>
          </a:bodyPr>
          <a:lstStyle/>
          <a:p>
            <a:pPr indent="0" marL="0">
              <a:buNone/>
            </a:pPr>
            <a:r>
              <a:rPr lang="en-US" sz="1250" dirty="0">
                <a:solidFill>
                  <a:srgbClr val="1E293B"/>
                </a:solidFill>
              </a:rPr>
              <a:t>The vocabulary may include concepts not used in the current problem instance.</a:t>
            </a:r>
            <a:endParaRPr lang="en-US" sz="1250" dirty="0"/>
          </a:p>
        </p:txBody>
      </p:sp>
      <p:sp>
        <p:nvSpPr>
          <p:cNvPr id="17" name="Shape 15"/>
          <p:cNvSpPr/>
          <p:nvPr/>
        </p:nvSpPr>
        <p:spPr>
          <a:xfrm>
            <a:off x="6446520" y="5074920"/>
            <a:ext cx="5074920" cy="841248"/>
          </a:xfrm>
          <a:prstGeom prst="roundRect">
            <a:avLst>
              <a:gd name="adj" fmla="val 8696"/>
            </a:avLst>
          </a:prstGeom>
          <a:solidFill>
            <a:srgbClr val="E6FFFA"/>
          </a:solidFill>
          <a:ln w="12700">
            <a:solidFill>
              <a:srgbClr val="2A9D8F"/>
            </a:solidFill>
            <a:prstDash val="solid"/>
          </a:ln>
        </p:spPr>
      </p:sp>
      <p:sp>
        <p:nvSpPr>
          <p:cNvPr id="18" name="Text 16"/>
          <p:cNvSpPr/>
          <p:nvPr/>
        </p:nvSpPr>
        <p:spPr>
          <a:xfrm>
            <a:off x="6629400" y="5212080"/>
            <a:ext cx="4709160" cy="219456"/>
          </a:xfrm>
          <a:prstGeom prst="rect">
            <a:avLst/>
          </a:prstGeom>
          <a:noFill/>
          <a:ln/>
        </p:spPr>
        <p:txBody>
          <a:bodyPr wrap="square" lIns="0" tIns="0" rIns="0" bIns="0" rtlCol="0" anchor="ctr"/>
          <a:lstStyle/>
          <a:p>
            <a:pPr indent="0" marL="0">
              <a:buNone/>
            </a:pPr>
            <a:r>
              <a:rPr lang="en-US" sz="950" b="1" dirty="0">
                <a:solidFill>
                  <a:srgbClr val="007C89"/>
                </a:solidFill>
              </a:rPr>
              <a:t>CLASS CHECK</a:t>
            </a:r>
            <a:endParaRPr lang="en-US" sz="950" dirty="0"/>
          </a:p>
        </p:txBody>
      </p:sp>
      <p:sp>
        <p:nvSpPr>
          <p:cNvPr id="19" name="Text 17"/>
          <p:cNvSpPr/>
          <p:nvPr/>
        </p:nvSpPr>
        <p:spPr>
          <a:xfrm>
            <a:off x="6629400" y="5486400"/>
            <a:ext cx="4709160" cy="338328"/>
          </a:xfrm>
          <a:prstGeom prst="rect">
            <a:avLst/>
          </a:prstGeom>
          <a:noFill/>
          <a:ln/>
        </p:spPr>
        <p:txBody>
          <a:bodyPr wrap="square" lIns="254" tIns="254" rIns="254" bIns="254" rtlCol="0" anchor="t">
            <a:normAutofit/>
          </a:bodyPr>
          <a:lstStyle/>
          <a:p>
            <a:pPr indent="0" marL="0">
              <a:buNone/>
            </a:pPr>
            <a:r>
              <a:rPr lang="en-US" sz="1270" dirty="0">
                <a:solidFill>
                  <a:srgbClr val="1E293B"/>
                </a:solidFill>
              </a:rPr>
              <a:t>Ask: Why include a NOT rule if CircuitOne does not use it?</a:t>
            </a:r>
            <a:endParaRPr lang="en-US" sz="127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5088"/>
          </a:solidFill>
          <a:ln w="12700">
            <a:solidFill>
              <a:srgbClr val="005088"/>
            </a:solidFill>
            <a:prstDash val="solid"/>
          </a:ln>
        </p:spPr>
      </p:sp>
      <p:sp>
        <p:nvSpPr>
          <p:cNvPr id="3" name="Shape 1"/>
          <p:cNvSpPr/>
          <p:nvPr/>
        </p:nvSpPr>
        <p:spPr>
          <a:xfrm>
            <a:off x="0" y="6729984"/>
            <a:ext cx="12191695" cy="128016"/>
          </a:xfrm>
          <a:prstGeom prst="rect">
            <a:avLst/>
          </a:prstGeom>
          <a:solidFill>
            <a:srgbClr val="005088"/>
          </a:solidFill>
          <a:ln w="12700">
            <a:solidFill>
              <a:srgbClr val="005088"/>
            </a:solidFill>
            <a:prstDash val="solid"/>
          </a:ln>
        </p:spPr>
      </p:sp>
      <p:sp>
        <p:nvSpPr>
          <p:cNvPr id="4" name="Text 2"/>
          <p:cNvSpPr/>
          <p:nvPr/>
        </p:nvSpPr>
        <p:spPr>
          <a:xfrm>
            <a:off x="502920" y="210312"/>
            <a:ext cx="6858000" cy="219456"/>
          </a:xfrm>
          <a:prstGeom prst="rect">
            <a:avLst/>
          </a:prstGeom>
          <a:noFill/>
          <a:ln/>
        </p:spPr>
        <p:txBody>
          <a:bodyPr wrap="square" lIns="0" tIns="0" rIns="0" bIns="0" rtlCol="0" anchor="ctr"/>
          <a:lstStyle/>
          <a:p>
            <a:pPr indent="0" marL="0">
              <a:buNone/>
            </a:pPr>
            <a:r>
              <a:rPr lang="en-US" sz="950" b="1" dirty="0">
                <a:solidFill>
                  <a:srgbClr val="3D5A80"/>
                </a:solidFill>
                <a:latin typeface="Aptos" pitchFamily="34" charset="0"/>
                <a:ea typeface="Aptos" pitchFamily="34" charset="-122"/>
                <a:cs typeface="Aptos" pitchFamily="34" charset="-120"/>
              </a:rPr>
              <a:t>8.4.2 Electronic Circuits Domain</a:t>
            </a:r>
            <a:endParaRPr lang="en-US" sz="950" dirty="0"/>
          </a:p>
        </p:txBody>
      </p:sp>
      <p:sp>
        <p:nvSpPr>
          <p:cNvPr id="5" name="Text 3"/>
          <p:cNvSpPr/>
          <p:nvPr/>
        </p:nvSpPr>
        <p:spPr>
          <a:xfrm>
            <a:off x="11018520" y="201168"/>
            <a:ext cx="640080" cy="228600"/>
          </a:xfrm>
          <a:prstGeom prst="rect">
            <a:avLst/>
          </a:prstGeom>
          <a:noFill/>
          <a:ln/>
        </p:spPr>
        <p:txBody>
          <a:bodyPr wrap="square" lIns="0" tIns="0" rIns="0" bIns="0" rtlCol="0" anchor="ctr"/>
          <a:lstStyle/>
          <a:p>
            <a:pPr algn="r" indent="0" marL="0">
              <a:buNone/>
            </a:pPr>
            <a:r>
              <a:rPr lang="en-US" sz="900" b="1" dirty="0">
                <a:solidFill>
                  <a:srgbClr val="3D5A80"/>
                </a:solidFill>
              </a:rPr>
              <a:t>99</a:t>
            </a:r>
            <a:endParaRPr lang="en-US" sz="900" dirty="0"/>
          </a:p>
        </p:txBody>
      </p:sp>
      <p:sp>
        <p:nvSpPr>
          <p:cNvPr id="6" name="Text 4"/>
          <p:cNvSpPr/>
          <p:nvPr/>
        </p:nvSpPr>
        <p:spPr>
          <a:xfrm>
            <a:off x="502920" y="566928"/>
            <a:ext cx="11201400" cy="512064"/>
          </a:xfrm>
          <a:prstGeom prst="rect">
            <a:avLst/>
          </a:prstGeom>
          <a:noFill/>
          <a:ln/>
        </p:spPr>
        <p:txBody>
          <a:bodyPr wrap="square" lIns="0" tIns="0" rIns="0" bIns="0" rtlCol="0" anchor="ctr">
            <a:normAutofit/>
          </a:bodyPr>
          <a:lstStyle/>
          <a:p>
            <a:pPr indent="0" marL="0">
              <a:buNone/>
            </a:pPr>
            <a:r>
              <a:rPr lang="en-US" sz="2650" b="1" dirty="0">
                <a:solidFill>
                  <a:srgbClr val="005088"/>
                </a:solidFill>
                <a:latin typeface="Aptos Display" pitchFamily="34" charset="0"/>
                <a:ea typeface="Aptos Display" pitchFamily="34" charset="-122"/>
                <a:cs typeface="Aptos Display" pitchFamily="34" charset="-120"/>
              </a:rPr>
              <a:t>FULL-ADDER TRUTH TABLE</a:t>
            </a:r>
            <a:endParaRPr lang="en-US" sz="2650" dirty="0"/>
          </a:p>
        </p:txBody>
      </p:sp>
      <p:sp>
        <p:nvSpPr>
          <p:cNvPr id="7" name="Shape 5"/>
          <p:cNvSpPr/>
          <p:nvPr/>
        </p:nvSpPr>
        <p:spPr>
          <a:xfrm>
            <a:off x="502920" y="1188720"/>
            <a:ext cx="11109960" cy="0"/>
          </a:xfrm>
          <a:prstGeom prst="line">
            <a:avLst/>
          </a:prstGeom>
          <a:noFill/>
          <a:ln w="12700">
            <a:solidFill>
              <a:srgbClr val="3D5A80"/>
            </a:solidFill>
            <a:prstDash val="solid"/>
          </a:ln>
        </p:spPr>
      </p:sp>
      <p:graphicFrame>
        <p:nvGraphicFramePr>
          <p:cNvPr id="100" name="Table 0"/>
          <p:cNvGraphicFramePr>
            <a:graphicFrameLocks noGrp="1"/>
          </p:cNvGraphicFramePr>
          <p:nvPr>
            <p:extLst>
              <p:ext uri="{D42A27DB-BD31-4B8C-83A1-F6EECF244321}">
                <p14:modId xmlns:p14="http://schemas.microsoft.com/office/powerpoint/2010/main" val="1579011935"/>
              </p:ext>
            </p:extLst>
          </p:nvPr>
        </p:nvGraphicFramePr>
        <p:xfrm>
          <a:off x="777240" y="1508760"/>
          <a:ext cx="10698480" cy="4023360"/>
        </p:xfrm>
        <a:graphic>
          <a:graphicData uri="http://schemas.openxmlformats.org/drawingml/2006/table">
            <a:tbl>
              <a:tblPr/>
              <a:tblGrid>
                <a:gridCol w="2139696"/>
                <a:gridCol w="2139696"/>
                <a:gridCol w="2139696"/>
                <a:gridCol w="2139696"/>
                <a:gridCol w="2139696"/>
              </a:tblGrid>
              <a:tr h="447040">
                <a:tc>
                  <a:txBody>
                    <a:bodyPr/>
                    <a:lstStyle/>
                    <a:p>
                      <a:pPr indent="0" marL="0">
                        <a:buNone/>
                      </a:pPr>
                      <a:r>
                        <a:rPr lang="en-US" sz="1250" b="1" dirty="0">
                          <a:solidFill>
                            <a:srgbClr val="FFFFFF"/>
                          </a:solidFill>
                        </a:rPr>
                        <a:t>Input A</a:t>
                      </a:r>
                      <a:endParaRPr lang="en-US" sz="1250" dirty="0"/>
                    </a:p>
                  </a:txBody>
                  <a:tcPr marL="54864" marR="54864" marT="54864" marB="54864" anchor="mid">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05088"/>
                    </a:solidFill>
                  </a:tcPr>
                </a:tc>
                <a:tc>
                  <a:txBody>
                    <a:bodyPr/>
                    <a:lstStyle/>
                    <a:p>
                      <a:pPr indent="0" marL="0">
                        <a:buNone/>
                      </a:pPr>
                      <a:r>
                        <a:rPr lang="en-US" sz="1250" b="1" dirty="0">
                          <a:solidFill>
                            <a:srgbClr val="FFFFFF"/>
                          </a:solidFill>
                        </a:rPr>
                        <a:t>Input B</a:t>
                      </a:r>
                      <a:endParaRPr lang="en-US" sz="1250" dirty="0"/>
                    </a:p>
                  </a:txBody>
                  <a:tcPr marL="54864" marR="54864" marT="54864" marB="54864" anchor="mid">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05088"/>
                    </a:solidFill>
                  </a:tcPr>
                </a:tc>
                <a:tc>
                  <a:txBody>
                    <a:bodyPr/>
                    <a:lstStyle/>
                    <a:p>
                      <a:pPr indent="0" marL="0">
                        <a:buNone/>
                      </a:pPr>
                      <a:r>
                        <a:rPr lang="en-US" sz="1250" b="1" dirty="0">
                          <a:solidFill>
                            <a:srgbClr val="FFFFFF"/>
                          </a:solidFill>
                        </a:rPr>
                        <a:t>Carry in</a:t>
                      </a:r>
                      <a:endParaRPr lang="en-US" sz="1250" dirty="0"/>
                    </a:p>
                  </a:txBody>
                  <a:tcPr marL="54864" marR="54864" marT="54864" marB="54864" anchor="mid">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05088"/>
                    </a:solidFill>
                  </a:tcPr>
                </a:tc>
                <a:tc>
                  <a:txBody>
                    <a:bodyPr/>
                    <a:lstStyle/>
                    <a:p>
                      <a:pPr indent="0" marL="0">
                        <a:buNone/>
                      </a:pPr>
                      <a:r>
                        <a:rPr lang="en-US" sz="1250" b="1" dirty="0">
                          <a:solidFill>
                            <a:srgbClr val="FFFFFF"/>
                          </a:solidFill>
                        </a:rPr>
                        <a:t>Sum output</a:t>
                      </a:r>
                      <a:endParaRPr lang="en-US" sz="1250" dirty="0"/>
                    </a:p>
                  </a:txBody>
                  <a:tcPr marL="54864" marR="54864" marT="54864" marB="54864" anchor="mid">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05088"/>
                    </a:solidFill>
                  </a:tcPr>
                </a:tc>
                <a:tc>
                  <a:txBody>
                    <a:bodyPr/>
                    <a:lstStyle/>
                    <a:p>
                      <a:pPr indent="0" marL="0">
                        <a:buNone/>
                      </a:pPr>
                      <a:r>
                        <a:rPr lang="en-US" sz="1250" b="1" dirty="0">
                          <a:solidFill>
                            <a:srgbClr val="FFFFFF"/>
                          </a:solidFill>
                        </a:rPr>
                        <a:t>Carry output</a:t>
                      </a:r>
                      <a:endParaRPr lang="en-US" sz="1250" dirty="0"/>
                    </a:p>
                  </a:txBody>
                  <a:tcPr marL="54864" marR="54864" marT="54864" marB="54864" anchor="mid">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05088"/>
                    </a:solidFill>
                  </a:tcPr>
                </a:tc>
              </a:tr>
              <a:tr h="447040">
                <a:tc>
                  <a:txBody>
                    <a:bodyPr/>
                    <a:lstStyle/>
                    <a:p>
                      <a:pPr indent="0" marL="0">
                        <a:buNone/>
                      </a:pPr>
                      <a:r>
                        <a:rPr lang="en-US" sz="1250" dirty="0">
                          <a:solidFill>
                            <a:srgbClr val="1E293B"/>
                          </a:solidFill>
                        </a:rPr>
                        <a:t>0</a:t>
                      </a:r>
                      <a:endParaRPr lang="en-US" sz="1250" dirty="0"/>
                    </a:p>
                  </a:txBody>
                  <a:tcPr marL="54864" marR="54864" marT="54864" marB="54864" anchor="mid">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1E293B"/>
                          </a:solidFill>
                        </a:rPr>
                        <a:t>0</a:t>
                      </a:r>
                      <a:endParaRPr lang="en-US" sz="1250" dirty="0"/>
                    </a:p>
                  </a:txBody>
                  <a:tcPr marL="54864" marR="54864" marT="54864" marB="54864" anchor="mid">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1E293B"/>
                          </a:solidFill>
                        </a:rPr>
                        <a:t>0</a:t>
                      </a:r>
                      <a:endParaRPr lang="en-US" sz="1250" dirty="0"/>
                    </a:p>
                  </a:txBody>
                  <a:tcPr marL="54864" marR="54864" marT="54864" marB="54864" anchor="mid">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1E293B"/>
                          </a:solidFill>
                        </a:rPr>
                        <a:t>0</a:t>
                      </a:r>
                      <a:endParaRPr lang="en-US" sz="1250" dirty="0"/>
                    </a:p>
                  </a:txBody>
                  <a:tcPr marL="54864" marR="54864" marT="54864" marB="54864" anchor="mid">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1E293B"/>
                          </a:solidFill>
                        </a:rPr>
                        <a:t>0</a:t>
                      </a:r>
                      <a:endParaRPr lang="en-US" sz="1250" dirty="0"/>
                    </a:p>
                  </a:txBody>
                  <a:tcPr marL="54864" marR="54864" marT="54864" marB="54864" anchor="mid">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47040">
                <a:tc>
                  <a:txBody>
                    <a:bodyPr/>
                    <a:lstStyle/>
                    <a:p>
                      <a:pPr indent="0" marL="0">
                        <a:buNone/>
                      </a:pPr>
                      <a:r>
                        <a:rPr lang="en-US" sz="1250" dirty="0">
                          <a:solidFill>
                            <a:srgbClr val="1E293B"/>
                          </a:solidFill>
                        </a:rPr>
                        <a:t>0</a:t>
                      </a:r>
                      <a:endParaRPr lang="en-US" sz="1250" dirty="0"/>
                    </a:p>
                  </a:txBody>
                  <a:tcPr marL="54864" marR="54864" marT="54864" marB="54864" anchor="mid">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250" dirty="0">
                          <a:solidFill>
                            <a:srgbClr val="1E293B"/>
                          </a:solidFill>
                        </a:rPr>
                        <a:t>0</a:t>
                      </a:r>
                      <a:endParaRPr lang="en-US" sz="1250" dirty="0"/>
                    </a:p>
                  </a:txBody>
                  <a:tcPr marL="54864" marR="54864" marT="54864" marB="54864" anchor="mid">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250" dirty="0">
                          <a:solidFill>
                            <a:srgbClr val="1E293B"/>
                          </a:solidFill>
                        </a:rPr>
                        <a:t>1</a:t>
                      </a:r>
                      <a:endParaRPr lang="en-US" sz="1250" dirty="0"/>
                    </a:p>
                  </a:txBody>
                  <a:tcPr marL="54864" marR="54864" marT="54864" marB="54864" anchor="mid">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250" dirty="0">
                          <a:solidFill>
                            <a:srgbClr val="1E293B"/>
                          </a:solidFill>
                        </a:rPr>
                        <a:t>1</a:t>
                      </a:r>
                      <a:endParaRPr lang="en-US" sz="1250" dirty="0"/>
                    </a:p>
                  </a:txBody>
                  <a:tcPr marL="54864" marR="54864" marT="54864" marB="54864" anchor="mid">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250" dirty="0">
                          <a:solidFill>
                            <a:srgbClr val="1E293B"/>
                          </a:solidFill>
                        </a:rPr>
                        <a:t>0</a:t>
                      </a:r>
                      <a:endParaRPr lang="en-US" sz="1250" dirty="0"/>
                    </a:p>
                  </a:txBody>
                  <a:tcPr marL="54864" marR="54864" marT="54864" marB="54864" anchor="mid">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r>
              <a:tr h="447040">
                <a:tc>
                  <a:txBody>
                    <a:bodyPr/>
                    <a:lstStyle/>
                    <a:p>
                      <a:pPr indent="0" marL="0">
                        <a:buNone/>
                      </a:pPr>
                      <a:r>
                        <a:rPr lang="en-US" sz="1250" dirty="0">
                          <a:solidFill>
                            <a:srgbClr val="1E293B"/>
                          </a:solidFill>
                        </a:rPr>
                        <a:t>0</a:t>
                      </a:r>
                      <a:endParaRPr lang="en-US" sz="1250" dirty="0"/>
                    </a:p>
                  </a:txBody>
                  <a:tcPr marL="54864" marR="54864" marT="54864" marB="54864" anchor="mid">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1E293B"/>
                          </a:solidFill>
                        </a:rPr>
                        <a:t>1</a:t>
                      </a:r>
                      <a:endParaRPr lang="en-US" sz="1250" dirty="0"/>
                    </a:p>
                  </a:txBody>
                  <a:tcPr marL="54864" marR="54864" marT="54864" marB="54864" anchor="mid">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1E293B"/>
                          </a:solidFill>
                        </a:rPr>
                        <a:t>0</a:t>
                      </a:r>
                      <a:endParaRPr lang="en-US" sz="1250" dirty="0"/>
                    </a:p>
                  </a:txBody>
                  <a:tcPr marL="54864" marR="54864" marT="54864" marB="54864" anchor="mid">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1E293B"/>
                          </a:solidFill>
                        </a:rPr>
                        <a:t>1</a:t>
                      </a:r>
                      <a:endParaRPr lang="en-US" sz="1250" dirty="0"/>
                    </a:p>
                  </a:txBody>
                  <a:tcPr marL="54864" marR="54864" marT="54864" marB="54864" anchor="mid">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1E293B"/>
                          </a:solidFill>
                        </a:rPr>
                        <a:t>0</a:t>
                      </a:r>
                      <a:endParaRPr lang="en-US" sz="1250" dirty="0"/>
                    </a:p>
                  </a:txBody>
                  <a:tcPr marL="54864" marR="54864" marT="54864" marB="54864" anchor="mid">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47040">
                <a:tc>
                  <a:txBody>
                    <a:bodyPr/>
                    <a:lstStyle/>
                    <a:p>
                      <a:pPr indent="0" marL="0">
                        <a:buNone/>
                      </a:pPr>
                      <a:r>
                        <a:rPr lang="en-US" sz="1250" dirty="0">
                          <a:solidFill>
                            <a:srgbClr val="1E293B"/>
                          </a:solidFill>
                        </a:rPr>
                        <a:t>0</a:t>
                      </a:r>
                      <a:endParaRPr lang="en-US" sz="1250" dirty="0"/>
                    </a:p>
                  </a:txBody>
                  <a:tcPr marL="54864" marR="54864" marT="54864" marB="54864" anchor="mid">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250" dirty="0">
                          <a:solidFill>
                            <a:srgbClr val="1E293B"/>
                          </a:solidFill>
                        </a:rPr>
                        <a:t>1</a:t>
                      </a:r>
                      <a:endParaRPr lang="en-US" sz="1250" dirty="0"/>
                    </a:p>
                  </a:txBody>
                  <a:tcPr marL="54864" marR="54864" marT="54864" marB="54864" anchor="mid">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250" dirty="0">
                          <a:solidFill>
                            <a:srgbClr val="1E293B"/>
                          </a:solidFill>
                        </a:rPr>
                        <a:t>1</a:t>
                      </a:r>
                      <a:endParaRPr lang="en-US" sz="1250" dirty="0"/>
                    </a:p>
                  </a:txBody>
                  <a:tcPr marL="54864" marR="54864" marT="54864" marB="54864" anchor="mid">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250" dirty="0">
                          <a:solidFill>
                            <a:srgbClr val="1E293B"/>
                          </a:solidFill>
                        </a:rPr>
                        <a:t>0</a:t>
                      </a:r>
                      <a:endParaRPr lang="en-US" sz="1250" dirty="0"/>
                    </a:p>
                  </a:txBody>
                  <a:tcPr marL="54864" marR="54864" marT="54864" marB="54864" anchor="mid">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250" dirty="0">
                          <a:solidFill>
                            <a:srgbClr val="1E293B"/>
                          </a:solidFill>
                        </a:rPr>
                        <a:t>1</a:t>
                      </a:r>
                      <a:endParaRPr lang="en-US" sz="1250" dirty="0"/>
                    </a:p>
                  </a:txBody>
                  <a:tcPr marL="54864" marR="54864" marT="54864" marB="54864" anchor="mid">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r>
              <a:tr h="447040">
                <a:tc>
                  <a:txBody>
                    <a:bodyPr/>
                    <a:lstStyle/>
                    <a:p>
                      <a:pPr indent="0" marL="0">
                        <a:buNone/>
                      </a:pPr>
                      <a:r>
                        <a:rPr lang="en-US" sz="1250" dirty="0">
                          <a:solidFill>
                            <a:srgbClr val="1E293B"/>
                          </a:solidFill>
                        </a:rPr>
                        <a:t>1</a:t>
                      </a:r>
                      <a:endParaRPr lang="en-US" sz="1250" dirty="0"/>
                    </a:p>
                  </a:txBody>
                  <a:tcPr marL="54864" marR="54864" marT="54864" marB="54864" anchor="mid">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1E293B"/>
                          </a:solidFill>
                        </a:rPr>
                        <a:t>0</a:t>
                      </a:r>
                      <a:endParaRPr lang="en-US" sz="1250" dirty="0"/>
                    </a:p>
                  </a:txBody>
                  <a:tcPr marL="54864" marR="54864" marT="54864" marB="54864" anchor="mid">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1E293B"/>
                          </a:solidFill>
                        </a:rPr>
                        <a:t>0</a:t>
                      </a:r>
                      <a:endParaRPr lang="en-US" sz="1250" dirty="0"/>
                    </a:p>
                  </a:txBody>
                  <a:tcPr marL="54864" marR="54864" marT="54864" marB="54864" anchor="mid">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1E293B"/>
                          </a:solidFill>
                        </a:rPr>
                        <a:t>1</a:t>
                      </a:r>
                      <a:endParaRPr lang="en-US" sz="1250" dirty="0"/>
                    </a:p>
                  </a:txBody>
                  <a:tcPr marL="54864" marR="54864" marT="54864" marB="54864" anchor="mid">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1E293B"/>
                          </a:solidFill>
                        </a:rPr>
                        <a:t>0</a:t>
                      </a:r>
                      <a:endParaRPr lang="en-US" sz="1250" dirty="0"/>
                    </a:p>
                  </a:txBody>
                  <a:tcPr marL="54864" marR="54864" marT="54864" marB="54864" anchor="mid">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47040">
                <a:tc>
                  <a:txBody>
                    <a:bodyPr/>
                    <a:lstStyle/>
                    <a:p>
                      <a:pPr indent="0" marL="0">
                        <a:buNone/>
                      </a:pPr>
                      <a:r>
                        <a:rPr lang="en-US" sz="1250" dirty="0">
                          <a:solidFill>
                            <a:srgbClr val="1E293B"/>
                          </a:solidFill>
                        </a:rPr>
                        <a:t>1</a:t>
                      </a:r>
                      <a:endParaRPr lang="en-US" sz="1250" dirty="0"/>
                    </a:p>
                  </a:txBody>
                  <a:tcPr marL="54864" marR="54864" marT="54864" marB="54864" anchor="mid">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250" dirty="0">
                          <a:solidFill>
                            <a:srgbClr val="1E293B"/>
                          </a:solidFill>
                        </a:rPr>
                        <a:t>0</a:t>
                      </a:r>
                      <a:endParaRPr lang="en-US" sz="1250" dirty="0"/>
                    </a:p>
                  </a:txBody>
                  <a:tcPr marL="54864" marR="54864" marT="54864" marB="54864" anchor="mid">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250" dirty="0">
                          <a:solidFill>
                            <a:srgbClr val="1E293B"/>
                          </a:solidFill>
                        </a:rPr>
                        <a:t>1</a:t>
                      </a:r>
                      <a:endParaRPr lang="en-US" sz="1250" dirty="0"/>
                    </a:p>
                  </a:txBody>
                  <a:tcPr marL="54864" marR="54864" marT="54864" marB="54864" anchor="mid">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250" dirty="0">
                          <a:solidFill>
                            <a:srgbClr val="1E293B"/>
                          </a:solidFill>
                        </a:rPr>
                        <a:t>0</a:t>
                      </a:r>
                      <a:endParaRPr lang="en-US" sz="1250" dirty="0"/>
                    </a:p>
                  </a:txBody>
                  <a:tcPr marL="54864" marR="54864" marT="54864" marB="54864" anchor="mid">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250" dirty="0">
                          <a:solidFill>
                            <a:srgbClr val="1E293B"/>
                          </a:solidFill>
                        </a:rPr>
                        <a:t>1</a:t>
                      </a:r>
                      <a:endParaRPr lang="en-US" sz="1250" dirty="0"/>
                    </a:p>
                  </a:txBody>
                  <a:tcPr marL="54864" marR="54864" marT="54864" marB="54864" anchor="mid">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r>
              <a:tr h="447040">
                <a:tc>
                  <a:txBody>
                    <a:bodyPr/>
                    <a:lstStyle/>
                    <a:p>
                      <a:pPr indent="0" marL="0">
                        <a:buNone/>
                      </a:pPr>
                      <a:r>
                        <a:rPr lang="en-US" sz="1250" dirty="0">
                          <a:solidFill>
                            <a:srgbClr val="1E293B"/>
                          </a:solidFill>
                        </a:rPr>
                        <a:t>1</a:t>
                      </a:r>
                      <a:endParaRPr lang="en-US" sz="1250" dirty="0"/>
                    </a:p>
                  </a:txBody>
                  <a:tcPr marL="54864" marR="54864" marT="54864" marB="54864" anchor="mid">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1E293B"/>
                          </a:solidFill>
                        </a:rPr>
                        <a:t>1</a:t>
                      </a:r>
                      <a:endParaRPr lang="en-US" sz="1250" dirty="0"/>
                    </a:p>
                  </a:txBody>
                  <a:tcPr marL="54864" marR="54864" marT="54864" marB="54864" anchor="mid">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1E293B"/>
                          </a:solidFill>
                        </a:rPr>
                        <a:t>0</a:t>
                      </a:r>
                      <a:endParaRPr lang="en-US" sz="1250" dirty="0"/>
                    </a:p>
                  </a:txBody>
                  <a:tcPr marL="54864" marR="54864" marT="54864" marB="54864" anchor="mid">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1E293B"/>
                          </a:solidFill>
                        </a:rPr>
                        <a:t>0</a:t>
                      </a:r>
                      <a:endParaRPr lang="en-US" sz="1250" dirty="0"/>
                    </a:p>
                  </a:txBody>
                  <a:tcPr marL="54864" marR="54864" marT="54864" marB="54864" anchor="mid">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1E293B"/>
                          </a:solidFill>
                        </a:rPr>
                        <a:t>1</a:t>
                      </a:r>
                      <a:endParaRPr lang="en-US" sz="1250" dirty="0"/>
                    </a:p>
                  </a:txBody>
                  <a:tcPr marL="54864" marR="54864" marT="54864" marB="54864" anchor="mid">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47040">
                <a:tc>
                  <a:txBody>
                    <a:bodyPr/>
                    <a:lstStyle/>
                    <a:p>
                      <a:pPr indent="0" marL="0">
                        <a:buNone/>
                      </a:pPr>
                      <a:r>
                        <a:rPr lang="en-US" sz="1250" dirty="0">
                          <a:solidFill>
                            <a:srgbClr val="1E293B"/>
                          </a:solidFill>
                        </a:rPr>
                        <a:t>1</a:t>
                      </a:r>
                      <a:endParaRPr lang="en-US" sz="1250" dirty="0"/>
                    </a:p>
                  </a:txBody>
                  <a:tcPr marL="54864" marR="54864" marT="54864" marB="54864" anchor="mid">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250" dirty="0">
                          <a:solidFill>
                            <a:srgbClr val="1E293B"/>
                          </a:solidFill>
                        </a:rPr>
                        <a:t>1</a:t>
                      </a:r>
                      <a:endParaRPr lang="en-US" sz="1250" dirty="0"/>
                    </a:p>
                  </a:txBody>
                  <a:tcPr marL="54864" marR="54864" marT="54864" marB="54864" anchor="mid">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250" dirty="0">
                          <a:solidFill>
                            <a:srgbClr val="1E293B"/>
                          </a:solidFill>
                        </a:rPr>
                        <a:t>1</a:t>
                      </a:r>
                      <a:endParaRPr lang="en-US" sz="1250" dirty="0"/>
                    </a:p>
                  </a:txBody>
                  <a:tcPr marL="54864" marR="54864" marT="54864" marB="54864" anchor="mid">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250" dirty="0">
                          <a:solidFill>
                            <a:srgbClr val="1E293B"/>
                          </a:solidFill>
                        </a:rPr>
                        <a:t>1</a:t>
                      </a:r>
                      <a:endParaRPr lang="en-US" sz="1250" dirty="0"/>
                    </a:p>
                  </a:txBody>
                  <a:tcPr marL="54864" marR="54864" marT="54864" marB="54864" anchor="mid">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250" dirty="0">
                          <a:solidFill>
                            <a:srgbClr val="1E293B"/>
                          </a:solidFill>
                        </a:rPr>
                        <a:t>1</a:t>
                      </a:r>
                      <a:endParaRPr lang="en-US" sz="1250" dirty="0"/>
                    </a:p>
                  </a:txBody>
                  <a:tcPr marL="54864" marR="54864" marT="54864" marB="54864" anchor="mid">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r>
            </a:tbl>
          </a:graphicData>
        </a:graphic>
      </p:graphicFrame>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5088"/>
          </a:solidFill>
          <a:ln w="12700">
            <a:solidFill>
              <a:srgbClr val="005088"/>
            </a:solidFill>
            <a:prstDash val="solid"/>
          </a:ln>
        </p:spPr>
      </p:sp>
      <p:sp>
        <p:nvSpPr>
          <p:cNvPr id="3" name="Shape 1"/>
          <p:cNvSpPr/>
          <p:nvPr/>
        </p:nvSpPr>
        <p:spPr>
          <a:xfrm>
            <a:off x="0" y="6729984"/>
            <a:ext cx="12191695" cy="128016"/>
          </a:xfrm>
          <a:prstGeom prst="rect">
            <a:avLst/>
          </a:prstGeom>
          <a:solidFill>
            <a:srgbClr val="005088"/>
          </a:solidFill>
          <a:ln w="12700">
            <a:solidFill>
              <a:srgbClr val="005088"/>
            </a:solidFill>
            <a:prstDash val="solid"/>
          </a:ln>
        </p:spPr>
      </p:sp>
      <p:sp>
        <p:nvSpPr>
          <p:cNvPr id="4" name="Text 2"/>
          <p:cNvSpPr/>
          <p:nvPr/>
        </p:nvSpPr>
        <p:spPr>
          <a:xfrm>
            <a:off x="502920" y="210312"/>
            <a:ext cx="6858000" cy="219456"/>
          </a:xfrm>
          <a:prstGeom prst="rect">
            <a:avLst/>
          </a:prstGeom>
          <a:noFill/>
          <a:ln/>
        </p:spPr>
        <p:txBody>
          <a:bodyPr wrap="square" lIns="0" tIns="0" rIns="0" bIns="0" rtlCol="0" anchor="ctr"/>
          <a:lstStyle/>
          <a:p>
            <a:pPr indent="0" marL="0">
              <a:buNone/>
            </a:pPr>
            <a:r>
              <a:rPr lang="en-US" sz="950" b="1" dirty="0">
                <a:solidFill>
                  <a:srgbClr val="3D5A80"/>
                </a:solidFill>
                <a:latin typeface="Aptos" pitchFamily="34" charset="0"/>
                <a:ea typeface="Aptos" pitchFamily="34" charset="-122"/>
                <a:cs typeface="Aptos" pitchFamily="34" charset="-120"/>
              </a:rPr>
              <a:t>8.4.2 Electronic Circuits Domain</a:t>
            </a:r>
            <a:endParaRPr lang="en-US" sz="950" dirty="0"/>
          </a:p>
        </p:txBody>
      </p:sp>
      <p:sp>
        <p:nvSpPr>
          <p:cNvPr id="5" name="Text 3"/>
          <p:cNvSpPr/>
          <p:nvPr/>
        </p:nvSpPr>
        <p:spPr>
          <a:xfrm>
            <a:off x="11018520" y="201168"/>
            <a:ext cx="640080" cy="228600"/>
          </a:xfrm>
          <a:prstGeom prst="rect">
            <a:avLst/>
          </a:prstGeom>
          <a:noFill/>
          <a:ln/>
        </p:spPr>
        <p:txBody>
          <a:bodyPr wrap="square" lIns="0" tIns="0" rIns="0" bIns="0" rtlCol="0" anchor="ctr"/>
          <a:lstStyle/>
          <a:p>
            <a:pPr algn="r" indent="0" marL="0">
              <a:buNone/>
            </a:pPr>
            <a:r>
              <a:rPr lang="en-US" sz="900" b="1" dirty="0">
                <a:solidFill>
                  <a:srgbClr val="3D5A80"/>
                </a:solidFill>
              </a:rPr>
              <a:t>100</a:t>
            </a:r>
            <a:endParaRPr lang="en-US" sz="900" dirty="0"/>
          </a:p>
        </p:txBody>
      </p:sp>
      <p:sp>
        <p:nvSpPr>
          <p:cNvPr id="6" name="Text 4"/>
          <p:cNvSpPr/>
          <p:nvPr/>
        </p:nvSpPr>
        <p:spPr>
          <a:xfrm>
            <a:off x="502920" y="566928"/>
            <a:ext cx="11201400" cy="512064"/>
          </a:xfrm>
          <a:prstGeom prst="rect">
            <a:avLst/>
          </a:prstGeom>
          <a:noFill/>
          <a:ln/>
        </p:spPr>
        <p:txBody>
          <a:bodyPr wrap="square" lIns="0" tIns="0" rIns="0" bIns="0" rtlCol="0" anchor="ctr">
            <a:normAutofit/>
          </a:bodyPr>
          <a:lstStyle/>
          <a:p>
            <a:pPr indent="0" marL="0">
              <a:buNone/>
            </a:pPr>
            <a:r>
              <a:rPr lang="en-US" sz="2650" b="1" dirty="0">
                <a:solidFill>
                  <a:srgbClr val="005088"/>
                </a:solidFill>
                <a:latin typeface="Aptos Display" pitchFamily="34" charset="0"/>
                <a:ea typeface="Aptos Display" pitchFamily="34" charset="-122"/>
                <a:cs typeface="Aptos Display" pitchFamily="34" charset="-120"/>
              </a:rPr>
              <a:t>ENCODING THE SPECIFIC CIRCUIT</a:t>
            </a:r>
            <a:endParaRPr lang="en-US" sz="2650" dirty="0"/>
          </a:p>
        </p:txBody>
      </p:sp>
      <p:sp>
        <p:nvSpPr>
          <p:cNvPr id="7" name="Shape 5"/>
          <p:cNvSpPr/>
          <p:nvPr/>
        </p:nvSpPr>
        <p:spPr>
          <a:xfrm>
            <a:off x="502920" y="1188720"/>
            <a:ext cx="11109960" cy="0"/>
          </a:xfrm>
          <a:prstGeom prst="line">
            <a:avLst/>
          </a:prstGeom>
          <a:noFill/>
          <a:ln w="12700">
            <a:solidFill>
              <a:srgbClr val="3D5A80"/>
            </a:solidFill>
            <a:prstDash val="solid"/>
          </a:ln>
        </p:spPr>
      </p:sp>
      <p:sp>
        <p:nvSpPr>
          <p:cNvPr id="8" name="Text 6"/>
          <p:cNvSpPr/>
          <p:nvPr/>
        </p:nvSpPr>
        <p:spPr>
          <a:xfrm>
            <a:off x="713232" y="1572768"/>
            <a:ext cx="5440680" cy="4251960"/>
          </a:xfrm>
          <a:prstGeom prst="rect">
            <a:avLst/>
          </a:prstGeom>
          <a:noFill/>
          <a:ln/>
        </p:spPr>
        <p:txBody>
          <a:bodyPr wrap="square" lIns="1016" tIns="1016" rIns="1016" bIns="1016" rtlCol="0" anchor="t">
            <a:normAutofit/>
          </a:bodyPr>
          <a:lstStyle/>
          <a:p>
            <a:pPr indent="0" marL="0">
              <a:buNone/>
            </a:pPr>
            <a:r>
              <a:rPr lang="en-US" sz="1650" dirty="0">
                <a:solidFill>
                  <a:srgbClr val="1E293B"/>
                </a:solidFill>
                <a:latin typeface="Aptos" pitchFamily="34" charset="0"/>
                <a:ea typeface="Aptos" pitchFamily="34" charset="-122"/>
                <a:cs typeface="Aptos" pitchFamily="34" charset="-120"/>
              </a:rPr>
              <a:t>• Declare CircuitOne as a circuit with three inputs and two outputs</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Declare gate objects X₁, X₂, A₁, A₂, and O₁</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Assign each gate its type</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State all terminal connections from the diagram</a:t>
            </a:r>
            <a:endParaRPr lang="en-US" sz="1650" dirty="0"/>
          </a:p>
        </p:txBody>
      </p:sp>
      <p:sp>
        <p:nvSpPr>
          <p:cNvPr id="9" name="Shape 7"/>
          <p:cNvSpPr/>
          <p:nvPr/>
        </p:nvSpPr>
        <p:spPr>
          <a:xfrm>
            <a:off x="6446520" y="1572768"/>
            <a:ext cx="5074920" cy="1234440"/>
          </a:xfrm>
          <a:prstGeom prst="roundRect">
            <a:avLst>
              <a:gd name="adj" fmla="val 5926"/>
            </a:avLst>
          </a:prstGeom>
          <a:solidFill>
            <a:srgbClr val="FFF6D9"/>
          </a:solidFill>
          <a:ln w="12700">
            <a:solidFill>
              <a:srgbClr val="F4A261"/>
            </a:solidFill>
            <a:prstDash val="solid"/>
          </a:ln>
        </p:spPr>
      </p:sp>
      <p:sp>
        <p:nvSpPr>
          <p:cNvPr id="10" name="Text 8"/>
          <p:cNvSpPr/>
          <p:nvPr/>
        </p:nvSpPr>
        <p:spPr>
          <a:xfrm>
            <a:off x="6629400" y="1709928"/>
            <a:ext cx="4709160" cy="219456"/>
          </a:xfrm>
          <a:prstGeom prst="rect">
            <a:avLst/>
          </a:prstGeom>
          <a:noFill/>
          <a:ln/>
        </p:spPr>
        <p:txBody>
          <a:bodyPr wrap="square" lIns="0" tIns="0" rIns="0" bIns="0" rtlCol="0" anchor="ctr"/>
          <a:lstStyle/>
          <a:p>
            <a:pPr indent="0" marL="0">
              <a:buNone/>
            </a:pPr>
            <a:r>
              <a:rPr lang="en-US" sz="950" b="1" dirty="0">
                <a:solidFill>
                  <a:srgbClr val="B0005D"/>
                </a:solidFill>
              </a:rPr>
              <a:t>ANALOGY</a:t>
            </a:r>
            <a:endParaRPr lang="en-US" sz="950" dirty="0"/>
          </a:p>
        </p:txBody>
      </p:sp>
      <p:sp>
        <p:nvSpPr>
          <p:cNvPr id="11" name="Text 9"/>
          <p:cNvSpPr/>
          <p:nvPr/>
        </p:nvSpPr>
        <p:spPr>
          <a:xfrm>
            <a:off x="6629400" y="1984248"/>
            <a:ext cx="4709160" cy="731520"/>
          </a:xfrm>
          <a:prstGeom prst="rect">
            <a:avLst/>
          </a:prstGeom>
          <a:noFill/>
          <a:ln/>
        </p:spPr>
        <p:txBody>
          <a:bodyPr wrap="square" lIns="254" tIns="254" rIns="254" bIns="254" rtlCol="0" anchor="t">
            <a:normAutofit/>
          </a:bodyPr>
          <a:lstStyle/>
          <a:p>
            <a:pPr indent="0" marL="0">
              <a:buNone/>
            </a:pPr>
            <a:r>
              <a:rPr lang="en-US" sz="1330" dirty="0">
                <a:solidFill>
                  <a:srgbClr val="1E293B"/>
                </a:solidFill>
              </a:rPr>
              <a:t>The general rules are a wiring manual; the instance facts are today’s actual wiring diagram.</a:t>
            </a:r>
            <a:endParaRPr lang="en-US" sz="1330" dirty="0"/>
          </a:p>
        </p:txBody>
      </p:sp>
      <p:sp>
        <p:nvSpPr>
          <p:cNvPr id="12" name="Shape 10"/>
          <p:cNvSpPr/>
          <p:nvPr/>
        </p:nvSpPr>
        <p:spPr>
          <a:xfrm>
            <a:off x="6446520" y="2999232"/>
            <a:ext cx="5074920" cy="841248"/>
          </a:xfrm>
          <a:prstGeom prst="roundRect">
            <a:avLst>
              <a:gd name="adj" fmla="val 8696"/>
            </a:avLst>
          </a:prstGeom>
          <a:solidFill>
            <a:srgbClr val="FFFFFF">
              <a:alpha val="97000"/>
            </a:srgbClr>
          </a:solidFill>
          <a:ln w="12700">
            <a:solidFill>
              <a:srgbClr val="007C89"/>
            </a:solidFill>
            <a:prstDash val="solid"/>
          </a:ln>
        </p:spPr>
      </p:sp>
      <p:sp>
        <p:nvSpPr>
          <p:cNvPr id="13" name="Text 11"/>
          <p:cNvSpPr/>
          <p:nvPr/>
        </p:nvSpPr>
        <p:spPr>
          <a:xfrm>
            <a:off x="6611112" y="3127248"/>
            <a:ext cx="4745736" cy="658368"/>
          </a:xfrm>
          <a:prstGeom prst="rect">
            <a:avLst/>
          </a:prstGeom>
          <a:noFill/>
          <a:ln/>
        </p:spPr>
        <p:txBody>
          <a:bodyPr wrap="square" lIns="0" tIns="0" rIns="0" bIns="0" rtlCol="0" anchor="ctr">
            <a:normAutofit/>
          </a:bodyPr>
          <a:lstStyle/>
          <a:p>
            <a:pPr algn="ctr" indent="0" marL="0">
              <a:buNone/>
            </a:pPr>
            <a:r>
              <a:rPr lang="en-US" sz="1550" b="1" dirty="0">
                <a:solidFill>
                  <a:srgbClr val="005088"/>
                </a:solidFill>
                <a:latin typeface="Cambria Math" pitchFamily="34" charset="0"/>
                <a:ea typeface="Cambria Math" pitchFamily="34" charset="-122"/>
                <a:cs typeface="Cambria Math" pitchFamily="34" charset="-120"/>
              </a:rPr>
              <a:t>Gate(X₁) ∧ Type(X₁)=ExclusiveOr</a:t>
            </a:r>
            <a:endParaRPr lang="en-US" sz="1550" dirty="0"/>
          </a:p>
        </p:txBody>
      </p:sp>
      <p:sp>
        <p:nvSpPr>
          <p:cNvPr id="14" name="Shape 12"/>
          <p:cNvSpPr/>
          <p:nvPr/>
        </p:nvSpPr>
        <p:spPr>
          <a:xfrm>
            <a:off x="6446520" y="4041648"/>
            <a:ext cx="5074920" cy="859536"/>
          </a:xfrm>
          <a:prstGeom prst="roundRect">
            <a:avLst>
              <a:gd name="adj" fmla="val 8511"/>
            </a:avLst>
          </a:prstGeom>
          <a:solidFill>
            <a:srgbClr val="FFE4E6"/>
          </a:solidFill>
          <a:ln w="12700">
            <a:solidFill>
              <a:srgbClr val="FDA4AF"/>
            </a:solidFill>
            <a:prstDash val="solid"/>
          </a:ln>
        </p:spPr>
      </p:sp>
      <p:sp>
        <p:nvSpPr>
          <p:cNvPr id="15" name="Text 13"/>
          <p:cNvSpPr/>
          <p:nvPr/>
        </p:nvSpPr>
        <p:spPr>
          <a:xfrm>
            <a:off x="6629400" y="4178808"/>
            <a:ext cx="4709160" cy="219456"/>
          </a:xfrm>
          <a:prstGeom prst="rect">
            <a:avLst/>
          </a:prstGeom>
          <a:noFill/>
          <a:ln/>
        </p:spPr>
        <p:txBody>
          <a:bodyPr wrap="square" lIns="0" tIns="0" rIns="0" bIns="0" rtlCol="0" anchor="ctr"/>
          <a:lstStyle/>
          <a:p>
            <a:pPr indent="0" marL="0">
              <a:buNone/>
            </a:pPr>
            <a:r>
              <a:rPr lang="en-US" sz="950" b="1" dirty="0">
                <a:solidFill>
                  <a:srgbClr val="C1121F"/>
                </a:solidFill>
              </a:rPr>
              <a:t>STUDENT GOTCHA</a:t>
            </a:r>
            <a:endParaRPr lang="en-US" sz="950" dirty="0"/>
          </a:p>
        </p:txBody>
      </p:sp>
      <p:sp>
        <p:nvSpPr>
          <p:cNvPr id="16" name="Text 14"/>
          <p:cNvSpPr/>
          <p:nvPr/>
        </p:nvSpPr>
        <p:spPr>
          <a:xfrm>
            <a:off x="6629400" y="4453128"/>
            <a:ext cx="4709160" cy="356616"/>
          </a:xfrm>
          <a:prstGeom prst="rect">
            <a:avLst/>
          </a:prstGeom>
          <a:noFill/>
          <a:ln/>
        </p:spPr>
        <p:txBody>
          <a:bodyPr wrap="square" lIns="254" tIns="254" rIns="254" bIns="254" rtlCol="0" anchor="t">
            <a:normAutofit/>
          </a:bodyPr>
          <a:lstStyle/>
          <a:p>
            <a:pPr indent="0" marL="0">
              <a:buNone/>
            </a:pPr>
            <a:r>
              <a:rPr lang="en-US" sz="1250" dirty="0">
                <a:solidFill>
                  <a:srgbClr val="1E293B"/>
                </a:solidFill>
              </a:rPr>
              <a:t>A single missing connection can make later queries unknown even if all gate rules are correct.</a:t>
            </a:r>
            <a:endParaRPr lang="en-US" sz="1250" dirty="0"/>
          </a:p>
        </p:txBody>
      </p:sp>
      <p:sp>
        <p:nvSpPr>
          <p:cNvPr id="17" name="Shape 15"/>
          <p:cNvSpPr/>
          <p:nvPr/>
        </p:nvSpPr>
        <p:spPr>
          <a:xfrm>
            <a:off x="6446520" y="5074920"/>
            <a:ext cx="5074920" cy="841248"/>
          </a:xfrm>
          <a:prstGeom prst="roundRect">
            <a:avLst>
              <a:gd name="adj" fmla="val 8696"/>
            </a:avLst>
          </a:prstGeom>
          <a:solidFill>
            <a:srgbClr val="E6FFFA"/>
          </a:solidFill>
          <a:ln w="12700">
            <a:solidFill>
              <a:srgbClr val="2A9D8F"/>
            </a:solidFill>
            <a:prstDash val="solid"/>
          </a:ln>
        </p:spPr>
      </p:sp>
      <p:sp>
        <p:nvSpPr>
          <p:cNvPr id="18" name="Text 16"/>
          <p:cNvSpPr/>
          <p:nvPr/>
        </p:nvSpPr>
        <p:spPr>
          <a:xfrm>
            <a:off x="6629400" y="5212080"/>
            <a:ext cx="4709160" cy="219456"/>
          </a:xfrm>
          <a:prstGeom prst="rect">
            <a:avLst/>
          </a:prstGeom>
          <a:noFill/>
          <a:ln/>
        </p:spPr>
        <p:txBody>
          <a:bodyPr wrap="square" lIns="0" tIns="0" rIns="0" bIns="0" rtlCol="0" anchor="ctr"/>
          <a:lstStyle/>
          <a:p>
            <a:pPr indent="0" marL="0">
              <a:buNone/>
            </a:pPr>
            <a:r>
              <a:rPr lang="en-US" sz="950" b="1" dirty="0">
                <a:solidFill>
                  <a:srgbClr val="007C89"/>
                </a:solidFill>
              </a:rPr>
              <a:t>CLASS CHECK</a:t>
            </a:r>
            <a:endParaRPr lang="en-US" sz="950" dirty="0"/>
          </a:p>
        </p:txBody>
      </p:sp>
      <p:sp>
        <p:nvSpPr>
          <p:cNvPr id="19" name="Text 17"/>
          <p:cNvSpPr/>
          <p:nvPr/>
        </p:nvSpPr>
        <p:spPr>
          <a:xfrm>
            <a:off x="6629400" y="5486400"/>
            <a:ext cx="4709160" cy="338328"/>
          </a:xfrm>
          <a:prstGeom prst="rect">
            <a:avLst/>
          </a:prstGeom>
          <a:noFill/>
          <a:ln/>
        </p:spPr>
        <p:txBody>
          <a:bodyPr wrap="square" lIns="254" tIns="254" rIns="254" bIns="254" rtlCol="0" anchor="t">
            <a:normAutofit/>
          </a:bodyPr>
          <a:lstStyle/>
          <a:p>
            <a:pPr indent="0" marL="0">
              <a:buNone/>
            </a:pPr>
            <a:r>
              <a:rPr lang="en-US" sz="1270" dirty="0">
                <a:solidFill>
                  <a:srgbClr val="1E293B"/>
                </a:solidFill>
              </a:rPr>
              <a:t>Ask students to identify one connection visible in Figure 8.6.</a:t>
            </a:r>
            <a:endParaRPr lang="en-US" sz="127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5088"/>
          </a:solidFill>
          <a:ln w="12700">
            <a:solidFill>
              <a:srgbClr val="005088"/>
            </a:solidFill>
            <a:prstDash val="solid"/>
          </a:ln>
        </p:spPr>
      </p:sp>
      <p:sp>
        <p:nvSpPr>
          <p:cNvPr id="3" name="Shape 1"/>
          <p:cNvSpPr/>
          <p:nvPr/>
        </p:nvSpPr>
        <p:spPr>
          <a:xfrm>
            <a:off x="0" y="6729984"/>
            <a:ext cx="12191695" cy="128016"/>
          </a:xfrm>
          <a:prstGeom prst="rect">
            <a:avLst/>
          </a:prstGeom>
          <a:solidFill>
            <a:srgbClr val="005088"/>
          </a:solidFill>
          <a:ln w="12700">
            <a:solidFill>
              <a:srgbClr val="005088"/>
            </a:solidFill>
            <a:prstDash val="solid"/>
          </a:ln>
        </p:spPr>
      </p:sp>
      <p:sp>
        <p:nvSpPr>
          <p:cNvPr id="4" name="Text 2"/>
          <p:cNvSpPr/>
          <p:nvPr/>
        </p:nvSpPr>
        <p:spPr>
          <a:xfrm>
            <a:off x="502920" y="210312"/>
            <a:ext cx="6858000" cy="219456"/>
          </a:xfrm>
          <a:prstGeom prst="rect">
            <a:avLst/>
          </a:prstGeom>
          <a:noFill/>
          <a:ln/>
        </p:spPr>
        <p:txBody>
          <a:bodyPr wrap="square" lIns="0" tIns="0" rIns="0" bIns="0" rtlCol="0" anchor="ctr"/>
          <a:lstStyle/>
          <a:p>
            <a:pPr indent="0" marL="0">
              <a:buNone/>
            </a:pPr>
            <a:r>
              <a:rPr lang="en-US" sz="950" b="1" dirty="0">
                <a:solidFill>
                  <a:srgbClr val="3D5A80"/>
                </a:solidFill>
                <a:latin typeface="Aptos" pitchFamily="34" charset="0"/>
                <a:ea typeface="Aptos" pitchFamily="34" charset="-122"/>
                <a:cs typeface="Aptos" pitchFamily="34" charset="-120"/>
              </a:rPr>
              <a:t>8.4.2 Electronic Circuits Domain</a:t>
            </a:r>
            <a:endParaRPr lang="en-US" sz="950" dirty="0"/>
          </a:p>
        </p:txBody>
      </p:sp>
      <p:sp>
        <p:nvSpPr>
          <p:cNvPr id="5" name="Text 3"/>
          <p:cNvSpPr/>
          <p:nvPr/>
        </p:nvSpPr>
        <p:spPr>
          <a:xfrm>
            <a:off x="11018520" y="201168"/>
            <a:ext cx="640080" cy="228600"/>
          </a:xfrm>
          <a:prstGeom prst="rect">
            <a:avLst/>
          </a:prstGeom>
          <a:noFill/>
          <a:ln/>
        </p:spPr>
        <p:txBody>
          <a:bodyPr wrap="square" lIns="0" tIns="0" rIns="0" bIns="0" rtlCol="0" anchor="ctr"/>
          <a:lstStyle/>
          <a:p>
            <a:pPr algn="r" indent="0" marL="0">
              <a:buNone/>
            </a:pPr>
            <a:r>
              <a:rPr lang="en-US" sz="900" b="1" dirty="0">
                <a:solidFill>
                  <a:srgbClr val="3D5A80"/>
                </a:solidFill>
              </a:rPr>
              <a:t>101</a:t>
            </a:r>
            <a:endParaRPr lang="en-US" sz="900" dirty="0"/>
          </a:p>
        </p:txBody>
      </p:sp>
      <p:sp>
        <p:nvSpPr>
          <p:cNvPr id="6" name="Text 4"/>
          <p:cNvSpPr/>
          <p:nvPr/>
        </p:nvSpPr>
        <p:spPr>
          <a:xfrm>
            <a:off x="502920" y="566928"/>
            <a:ext cx="11201400" cy="512064"/>
          </a:xfrm>
          <a:prstGeom prst="rect">
            <a:avLst/>
          </a:prstGeom>
          <a:noFill/>
          <a:ln/>
        </p:spPr>
        <p:txBody>
          <a:bodyPr wrap="square" lIns="0" tIns="0" rIns="0" bIns="0" rtlCol="0" anchor="ctr">
            <a:normAutofit/>
          </a:bodyPr>
          <a:lstStyle/>
          <a:p>
            <a:pPr indent="0" marL="0">
              <a:buNone/>
            </a:pPr>
            <a:r>
              <a:rPr lang="en-US" sz="2650" b="1" dirty="0">
                <a:solidFill>
                  <a:srgbClr val="005088"/>
                </a:solidFill>
                <a:latin typeface="Aptos Display" pitchFamily="34" charset="0"/>
                <a:ea typeface="Aptos Display" pitchFamily="34" charset="-122"/>
                <a:cs typeface="Aptos Display" pitchFamily="34" charset="-120"/>
              </a:rPr>
              <a:t>QUERYING THE CIRCUIT</a:t>
            </a:r>
            <a:endParaRPr lang="en-US" sz="2650" dirty="0"/>
          </a:p>
        </p:txBody>
      </p:sp>
      <p:sp>
        <p:nvSpPr>
          <p:cNvPr id="7" name="Shape 5"/>
          <p:cNvSpPr/>
          <p:nvPr/>
        </p:nvSpPr>
        <p:spPr>
          <a:xfrm>
            <a:off x="502920" y="1188720"/>
            <a:ext cx="11109960" cy="0"/>
          </a:xfrm>
          <a:prstGeom prst="line">
            <a:avLst/>
          </a:prstGeom>
          <a:noFill/>
          <a:ln w="12700">
            <a:solidFill>
              <a:srgbClr val="3D5A80"/>
            </a:solidFill>
            <a:prstDash val="solid"/>
          </a:ln>
        </p:spPr>
      </p:sp>
      <p:sp>
        <p:nvSpPr>
          <p:cNvPr id="8" name="Text 6"/>
          <p:cNvSpPr/>
          <p:nvPr/>
        </p:nvSpPr>
        <p:spPr>
          <a:xfrm>
            <a:off x="713232" y="1572768"/>
            <a:ext cx="5440680" cy="4251960"/>
          </a:xfrm>
          <a:prstGeom prst="rect">
            <a:avLst/>
          </a:prstGeom>
          <a:noFill/>
          <a:ln/>
        </p:spPr>
        <p:txBody>
          <a:bodyPr wrap="square" lIns="1016" tIns="1016" rIns="1016" bIns="1016" rtlCol="0" anchor="t">
            <a:normAutofit/>
          </a:bodyPr>
          <a:lstStyle/>
          <a:p>
            <a:pPr indent="0" marL="0">
              <a:buNone/>
            </a:pPr>
            <a:r>
              <a:rPr lang="en-US" sz="1650" dirty="0">
                <a:solidFill>
                  <a:srgbClr val="1E293B"/>
                </a:solidFill>
                <a:latin typeface="Aptos" pitchFamily="34" charset="0"/>
                <a:ea typeface="Aptos" pitchFamily="34" charset="-122"/>
                <a:cs typeface="Aptos" pitchFamily="34" charset="-120"/>
              </a:rPr>
              <a:t>• Ask for input combinations that produce desired outputs</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Variables represent answer slots for input values</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The inference procedure returns substitutions</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The returned substitutions can verify expected behavior</a:t>
            </a:r>
            <a:endParaRPr lang="en-US" sz="1650" dirty="0"/>
          </a:p>
        </p:txBody>
      </p:sp>
      <p:sp>
        <p:nvSpPr>
          <p:cNvPr id="9" name="Shape 7"/>
          <p:cNvSpPr/>
          <p:nvPr/>
        </p:nvSpPr>
        <p:spPr>
          <a:xfrm>
            <a:off x="6446520" y="1572768"/>
            <a:ext cx="5074920" cy="1234440"/>
          </a:xfrm>
          <a:prstGeom prst="roundRect">
            <a:avLst>
              <a:gd name="adj" fmla="val 5926"/>
            </a:avLst>
          </a:prstGeom>
          <a:solidFill>
            <a:srgbClr val="FFF6D9"/>
          </a:solidFill>
          <a:ln w="12700">
            <a:solidFill>
              <a:srgbClr val="F4A261"/>
            </a:solidFill>
            <a:prstDash val="solid"/>
          </a:ln>
        </p:spPr>
      </p:sp>
      <p:sp>
        <p:nvSpPr>
          <p:cNvPr id="10" name="Text 8"/>
          <p:cNvSpPr/>
          <p:nvPr/>
        </p:nvSpPr>
        <p:spPr>
          <a:xfrm>
            <a:off x="6629400" y="1709928"/>
            <a:ext cx="4709160" cy="219456"/>
          </a:xfrm>
          <a:prstGeom prst="rect">
            <a:avLst/>
          </a:prstGeom>
          <a:noFill/>
          <a:ln/>
        </p:spPr>
        <p:txBody>
          <a:bodyPr wrap="square" lIns="0" tIns="0" rIns="0" bIns="0" rtlCol="0" anchor="ctr"/>
          <a:lstStyle/>
          <a:p>
            <a:pPr indent="0" marL="0">
              <a:buNone/>
            </a:pPr>
            <a:r>
              <a:rPr lang="en-US" sz="950" b="1" dirty="0">
                <a:solidFill>
                  <a:srgbClr val="B0005D"/>
                </a:solidFill>
              </a:rPr>
              <a:t>ANALOGY</a:t>
            </a:r>
            <a:endParaRPr lang="en-US" sz="950" dirty="0"/>
          </a:p>
        </p:txBody>
      </p:sp>
      <p:sp>
        <p:nvSpPr>
          <p:cNvPr id="11" name="Text 9"/>
          <p:cNvSpPr/>
          <p:nvPr/>
        </p:nvSpPr>
        <p:spPr>
          <a:xfrm>
            <a:off x="6629400" y="1984248"/>
            <a:ext cx="4709160" cy="731520"/>
          </a:xfrm>
          <a:prstGeom prst="rect">
            <a:avLst/>
          </a:prstGeom>
          <a:noFill/>
          <a:ln/>
        </p:spPr>
        <p:txBody>
          <a:bodyPr wrap="square" lIns="254" tIns="254" rIns="254" bIns="254" rtlCol="0" anchor="t">
            <a:normAutofit/>
          </a:bodyPr>
          <a:lstStyle/>
          <a:p>
            <a:pPr indent="0" marL="0">
              <a:buNone/>
            </a:pPr>
            <a:r>
              <a:rPr lang="en-US" sz="1330" dirty="0">
                <a:solidFill>
                  <a:srgbClr val="1E293B"/>
                </a:solidFill>
              </a:rPr>
              <a:t>Like filtering a spreadsheet for rows where Sum equals zero and Carry equals one.</a:t>
            </a:r>
            <a:endParaRPr lang="en-US" sz="1330" dirty="0"/>
          </a:p>
        </p:txBody>
      </p:sp>
      <p:sp>
        <p:nvSpPr>
          <p:cNvPr id="12" name="Shape 10"/>
          <p:cNvSpPr/>
          <p:nvPr/>
        </p:nvSpPr>
        <p:spPr>
          <a:xfrm>
            <a:off x="6446520" y="2999232"/>
            <a:ext cx="5074920" cy="841248"/>
          </a:xfrm>
          <a:prstGeom prst="roundRect">
            <a:avLst>
              <a:gd name="adj" fmla="val 8696"/>
            </a:avLst>
          </a:prstGeom>
          <a:solidFill>
            <a:srgbClr val="FFFFFF">
              <a:alpha val="97000"/>
            </a:srgbClr>
          </a:solidFill>
          <a:ln w="12700">
            <a:solidFill>
              <a:srgbClr val="007C89"/>
            </a:solidFill>
            <a:prstDash val="solid"/>
          </a:ln>
        </p:spPr>
      </p:sp>
      <p:sp>
        <p:nvSpPr>
          <p:cNvPr id="13" name="Text 11"/>
          <p:cNvSpPr/>
          <p:nvPr/>
        </p:nvSpPr>
        <p:spPr>
          <a:xfrm>
            <a:off x="6611112" y="3127248"/>
            <a:ext cx="4745736" cy="658368"/>
          </a:xfrm>
          <a:prstGeom prst="rect">
            <a:avLst/>
          </a:prstGeom>
          <a:noFill/>
          <a:ln/>
        </p:spPr>
        <p:txBody>
          <a:bodyPr wrap="square" lIns="0" tIns="0" rIns="0" bIns="0" rtlCol="0" anchor="ctr">
            <a:normAutofit/>
          </a:bodyPr>
          <a:lstStyle/>
          <a:p>
            <a:pPr algn="ctr" indent="0" marL="0">
              <a:buNone/>
            </a:pPr>
            <a:r>
              <a:rPr lang="en-US" sz="1280" b="1" dirty="0">
                <a:solidFill>
                  <a:srgbClr val="005088"/>
                </a:solidFill>
                <a:latin typeface="Cambria Math" pitchFamily="34" charset="0"/>
                <a:ea typeface="Cambria Math" pitchFamily="34" charset="-122"/>
                <a:cs typeface="Cambria Math" pitchFamily="34" charset="-120"/>
              </a:rPr>
              <a:t>Signal(Out(1,CircuitOne))=0 ∧ Signal(Out(2,CircuitOne))=1</a:t>
            </a:r>
            <a:endParaRPr lang="en-US" sz="1280" dirty="0"/>
          </a:p>
        </p:txBody>
      </p:sp>
      <p:sp>
        <p:nvSpPr>
          <p:cNvPr id="14" name="Shape 12"/>
          <p:cNvSpPr/>
          <p:nvPr/>
        </p:nvSpPr>
        <p:spPr>
          <a:xfrm>
            <a:off x="6446520" y="4041648"/>
            <a:ext cx="5074920" cy="859536"/>
          </a:xfrm>
          <a:prstGeom prst="roundRect">
            <a:avLst>
              <a:gd name="adj" fmla="val 8511"/>
            </a:avLst>
          </a:prstGeom>
          <a:solidFill>
            <a:srgbClr val="FFE4E6"/>
          </a:solidFill>
          <a:ln w="12700">
            <a:solidFill>
              <a:srgbClr val="FDA4AF"/>
            </a:solidFill>
            <a:prstDash val="solid"/>
          </a:ln>
        </p:spPr>
      </p:sp>
      <p:sp>
        <p:nvSpPr>
          <p:cNvPr id="15" name="Text 13"/>
          <p:cNvSpPr/>
          <p:nvPr/>
        </p:nvSpPr>
        <p:spPr>
          <a:xfrm>
            <a:off x="6629400" y="4178808"/>
            <a:ext cx="4709160" cy="219456"/>
          </a:xfrm>
          <a:prstGeom prst="rect">
            <a:avLst/>
          </a:prstGeom>
          <a:noFill/>
          <a:ln/>
        </p:spPr>
        <p:txBody>
          <a:bodyPr wrap="square" lIns="0" tIns="0" rIns="0" bIns="0" rtlCol="0" anchor="ctr"/>
          <a:lstStyle/>
          <a:p>
            <a:pPr indent="0" marL="0">
              <a:buNone/>
            </a:pPr>
            <a:r>
              <a:rPr lang="en-US" sz="950" b="1" dirty="0">
                <a:solidFill>
                  <a:srgbClr val="C1121F"/>
                </a:solidFill>
              </a:rPr>
              <a:t>STUDENT GOTCHA</a:t>
            </a:r>
            <a:endParaRPr lang="en-US" sz="950" dirty="0"/>
          </a:p>
        </p:txBody>
      </p:sp>
      <p:sp>
        <p:nvSpPr>
          <p:cNvPr id="16" name="Text 14"/>
          <p:cNvSpPr/>
          <p:nvPr/>
        </p:nvSpPr>
        <p:spPr>
          <a:xfrm>
            <a:off x="6629400" y="4453128"/>
            <a:ext cx="4709160" cy="356616"/>
          </a:xfrm>
          <a:prstGeom prst="rect">
            <a:avLst/>
          </a:prstGeom>
          <a:noFill/>
          <a:ln/>
        </p:spPr>
        <p:txBody>
          <a:bodyPr wrap="square" lIns="254" tIns="254" rIns="254" bIns="254" rtlCol="0" anchor="t">
            <a:normAutofit/>
          </a:bodyPr>
          <a:lstStyle/>
          <a:p>
            <a:pPr indent="0" marL="0">
              <a:buNone/>
            </a:pPr>
            <a:r>
              <a:rPr lang="en-US" sz="1250" dirty="0">
                <a:solidFill>
                  <a:srgbClr val="1E293B"/>
                </a:solidFill>
              </a:rPr>
              <a:t>The query does not simulate the circuit manually. It asks what follows from the axioms and instance facts.</a:t>
            </a:r>
            <a:endParaRPr lang="en-US" sz="1250" dirty="0"/>
          </a:p>
        </p:txBody>
      </p:sp>
      <p:sp>
        <p:nvSpPr>
          <p:cNvPr id="17" name="Shape 15"/>
          <p:cNvSpPr/>
          <p:nvPr/>
        </p:nvSpPr>
        <p:spPr>
          <a:xfrm>
            <a:off x="6446520" y="5074920"/>
            <a:ext cx="5074920" cy="841248"/>
          </a:xfrm>
          <a:prstGeom prst="roundRect">
            <a:avLst>
              <a:gd name="adj" fmla="val 8696"/>
            </a:avLst>
          </a:prstGeom>
          <a:solidFill>
            <a:srgbClr val="E6FFFA"/>
          </a:solidFill>
          <a:ln w="12700">
            <a:solidFill>
              <a:srgbClr val="2A9D8F"/>
            </a:solidFill>
            <a:prstDash val="solid"/>
          </a:ln>
        </p:spPr>
      </p:sp>
      <p:sp>
        <p:nvSpPr>
          <p:cNvPr id="18" name="Text 16"/>
          <p:cNvSpPr/>
          <p:nvPr/>
        </p:nvSpPr>
        <p:spPr>
          <a:xfrm>
            <a:off x="6629400" y="5212080"/>
            <a:ext cx="4709160" cy="219456"/>
          </a:xfrm>
          <a:prstGeom prst="rect">
            <a:avLst/>
          </a:prstGeom>
          <a:noFill/>
          <a:ln/>
        </p:spPr>
        <p:txBody>
          <a:bodyPr wrap="square" lIns="0" tIns="0" rIns="0" bIns="0" rtlCol="0" anchor="ctr"/>
          <a:lstStyle/>
          <a:p>
            <a:pPr indent="0" marL="0">
              <a:buNone/>
            </a:pPr>
            <a:r>
              <a:rPr lang="en-US" sz="950" b="1" dirty="0">
                <a:solidFill>
                  <a:srgbClr val="007C89"/>
                </a:solidFill>
              </a:rPr>
              <a:t>CLASS CHECK</a:t>
            </a:r>
            <a:endParaRPr lang="en-US" sz="950" dirty="0"/>
          </a:p>
        </p:txBody>
      </p:sp>
      <p:sp>
        <p:nvSpPr>
          <p:cNvPr id="19" name="Text 17"/>
          <p:cNvSpPr/>
          <p:nvPr/>
        </p:nvSpPr>
        <p:spPr>
          <a:xfrm>
            <a:off x="6629400" y="5486400"/>
            <a:ext cx="4709160" cy="338328"/>
          </a:xfrm>
          <a:prstGeom prst="rect">
            <a:avLst/>
          </a:prstGeom>
          <a:noFill/>
          <a:ln/>
        </p:spPr>
        <p:txBody>
          <a:bodyPr wrap="square" lIns="254" tIns="254" rIns="254" bIns="254" rtlCol="0" anchor="t">
            <a:normAutofit/>
          </a:bodyPr>
          <a:lstStyle/>
          <a:p>
            <a:pPr indent="0" marL="0">
              <a:buNone/>
            </a:pPr>
            <a:r>
              <a:rPr lang="en-US" sz="1270" dirty="0">
                <a:solidFill>
                  <a:srgbClr val="1E293B"/>
                </a:solidFill>
              </a:rPr>
              <a:t>Ask students which three rows of the truth table match this query.</a:t>
            </a:r>
            <a:endParaRPr lang="en-US" sz="1270"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5088"/>
          </a:solidFill>
          <a:ln w="12700">
            <a:solidFill>
              <a:srgbClr val="005088"/>
            </a:solidFill>
            <a:prstDash val="solid"/>
          </a:ln>
        </p:spPr>
      </p:sp>
      <p:sp>
        <p:nvSpPr>
          <p:cNvPr id="3" name="Shape 1"/>
          <p:cNvSpPr/>
          <p:nvPr/>
        </p:nvSpPr>
        <p:spPr>
          <a:xfrm>
            <a:off x="0" y="6729984"/>
            <a:ext cx="12191695" cy="128016"/>
          </a:xfrm>
          <a:prstGeom prst="rect">
            <a:avLst/>
          </a:prstGeom>
          <a:solidFill>
            <a:srgbClr val="005088"/>
          </a:solidFill>
          <a:ln w="12700">
            <a:solidFill>
              <a:srgbClr val="005088"/>
            </a:solidFill>
            <a:prstDash val="solid"/>
          </a:ln>
        </p:spPr>
      </p:sp>
      <p:sp>
        <p:nvSpPr>
          <p:cNvPr id="4" name="Text 2"/>
          <p:cNvSpPr/>
          <p:nvPr/>
        </p:nvSpPr>
        <p:spPr>
          <a:xfrm>
            <a:off x="502920" y="210312"/>
            <a:ext cx="6858000" cy="219456"/>
          </a:xfrm>
          <a:prstGeom prst="rect">
            <a:avLst/>
          </a:prstGeom>
          <a:noFill/>
          <a:ln/>
        </p:spPr>
        <p:txBody>
          <a:bodyPr wrap="square" lIns="0" tIns="0" rIns="0" bIns="0" rtlCol="0" anchor="ctr"/>
          <a:lstStyle/>
          <a:p>
            <a:pPr indent="0" marL="0">
              <a:buNone/>
            </a:pPr>
            <a:r>
              <a:rPr lang="en-US" sz="950" b="1" dirty="0">
                <a:solidFill>
                  <a:srgbClr val="3D5A80"/>
                </a:solidFill>
                <a:latin typeface="Aptos" pitchFamily="34" charset="0"/>
                <a:ea typeface="Aptos" pitchFamily="34" charset="-122"/>
                <a:cs typeface="Aptos" pitchFamily="34" charset="-120"/>
              </a:rPr>
              <a:t>8.4.2 Electronic Circuits Domain</a:t>
            </a:r>
            <a:endParaRPr lang="en-US" sz="950" dirty="0"/>
          </a:p>
        </p:txBody>
      </p:sp>
      <p:sp>
        <p:nvSpPr>
          <p:cNvPr id="5" name="Text 3"/>
          <p:cNvSpPr/>
          <p:nvPr/>
        </p:nvSpPr>
        <p:spPr>
          <a:xfrm>
            <a:off x="11018520" y="201168"/>
            <a:ext cx="640080" cy="228600"/>
          </a:xfrm>
          <a:prstGeom prst="rect">
            <a:avLst/>
          </a:prstGeom>
          <a:noFill/>
          <a:ln/>
        </p:spPr>
        <p:txBody>
          <a:bodyPr wrap="square" lIns="0" tIns="0" rIns="0" bIns="0" rtlCol="0" anchor="ctr"/>
          <a:lstStyle/>
          <a:p>
            <a:pPr algn="r" indent="0" marL="0">
              <a:buNone/>
            </a:pPr>
            <a:r>
              <a:rPr lang="en-US" sz="900" b="1" dirty="0">
                <a:solidFill>
                  <a:srgbClr val="3D5A80"/>
                </a:solidFill>
              </a:rPr>
              <a:t>102</a:t>
            </a:r>
            <a:endParaRPr lang="en-US" sz="900" dirty="0"/>
          </a:p>
        </p:txBody>
      </p:sp>
      <p:sp>
        <p:nvSpPr>
          <p:cNvPr id="6" name="Text 4"/>
          <p:cNvSpPr/>
          <p:nvPr/>
        </p:nvSpPr>
        <p:spPr>
          <a:xfrm>
            <a:off x="502920" y="566928"/>
            <a:ext cx="11201400" cy="512064"/>
          </a:xfrm>
          <a:prstGeom prst="rect">
            <a:avLst/>
          </a:prstGeom>
          <a:noFill/>
          <a:ln/>
        </p:spPr>
        <p:txBody>
          <a:bodyPr wrap="square" lIns="0" tIns="0" rIns="0" bIns="0" rtlCol="0" anchor="ctr">
            <a:normAutofit/>
          </a:bodyPr>
          <a:lstStyle/>
          <a:p>
            <a:pPr indent="0" marL="0">
              <a:buNone/>
            </a:pPr>
            <a:r>
              <a:rPr lang="en-US" sz="2650" b="1" dirty="0">
                <a:solidFill>
                  <a:srgbClr val="005088"/>
                </a:solidFill>
                <a:latin typeface="Aptos Display" pitchFamily="34" charset="0"/>
                <a:ea typeface="Aptos Display" pitchFamily="34" charset="-122"/>
                <a:cs typeface="Aptos Display" pitchFamily="34" charset="-120"/>
              </a:rPr>
              <a:t>CIRCUIT VERIFICATION AS LOGICAL INFERENCE</a:t>
            </a:r>
            <a:endParaRPr lang="en-US" sz="2650" dirty="0"/>
          </a:p>
        </p:txBody>
      </p:sp>
      <p:sp>
        <p:nvSpPr>
          <p:cNvPr id="7" name="Shape 5"/>
          <p:cNvSpPr/>
          <p:nvPr/>
        </p:nvSpPr>
        <p:spPr>
          <a:xfrm>
            <a:off x="502920" y="1188720"/>
            <a:ext cx="11109960" cy="0"/>
          </a:xfrm>
          <a:prstGeom prst="line">
            <a:avLst/>
          </a:prstGeom>
          <a:noFill/>
          <a:ln w="12700">
            <a:solidFill>
              <a:srgbClr val="3D5A80"/>
            </a:solidFill>
            <a:prstDash val="solid"/>
          </a:ln>
        </p:spPr>
      </p:sp>
      <p:sp>
        <p:nvSpPr>
          <p:cNvPr id="8" name="Text 6"/>
          <p:cNvSpPr/>
          <p:nvPr/>
        </p:nvSpPr>
        <p:spPr>
          <a:xfrm>
            <a:off x="713232" y="1572768"/>
            <a:ext cx="5440680" cy="4251960"/>
          </a:xfrm>
          <a:prstGeom prst="rect">
            <a:avLst/>
          </a:prstGeom>
          <a:noFill/>
          <a:ln/>
        </p:spPr>
        <p:txBody>
          <a:bodyPr wrap="square" lIns="1016" tIns="1016" rIns="1016" bIns="1016" rtlCol="0" anchor="t">
            <a:normAutofit/>
          </a:bodyPr>
          <a:lstStyle/>
          <a:p>
            <a:pPr indent="0" marL="0">
              <a:buNone/>
            </a:pPr>
            <a:r>
              <a:rPr lang="en-US" sz="1650" dirty="0">
                <a:solidFill>
                  <a:srgbClr val="1E293B"/>
                </a:solidFill>
                <a:latin typeface="Aptos" pitchFamily="34" charset="0"/>
                <a:ea typeface="Aptos" pitchFamily="34" charset="-122"/>
                <a:cs typeface="Aptos" pitchFamily="34" charset="-120"/>
              </a:rPr>
              <a:t>• A full input-output query can recover the whole truth table</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The result can be compared with expected addition behavior</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If every row matches, the design is verified for this abstraction</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If a row is wrong or unknown, inspect the knowledge base</a:t>
            </a:r>
            <a:endParaRPr lang="en-US" sz="1650" dirty="0"/>
          </a:p>
        </p:txBody>
      </p:sp>
      <p:sp>
        <p:nvSpPr>
          <p:cNvPr id="9" name="Shape 7"/>
          <p:cNvSpPr/>
          <p:nvPr/>
        </p:nvSpPr>
        <p:spPr>
          <a:xfrm>
            <a:off x="6446520" y="1572768"/>
            <a:ext cx="5074920" cy="1234440"/>
          </a:xfrm>
          <a:prstGeom prst="roundRect">
            <a:avLst>
              <a:gd name="adj" fmla="val 5926"/>
            </a:avLst>
          </a:prstGeom>
          <a:solidFill>
            <a:srgbClr val="FFF6D9"/>
          </a:solidFill>
          <a:ln w="12700">
            <a:solidFill>
              <a:srgbClr val="F4A261"/>
            </a:solidFill>
            <a:prstDash val="solid"/>
          </a:ln>
        </p:spPr>
      </p:sp>
      <p:sp>
        <p:nvSpPr>
          <p:cNvPr id="10" name="Text 8"/>
          <p:cNvSpPr/>
          <p:nvPr/>
        </p:nvSpPr>
        <p:spPr>
          <a:xfrm>
            <a:off x="6629400" y="1709928"/>
            <a:ext cx="4709160" cy="219456"/>
          </a:xfrm>
          <a:prstGeom prst="rect">
            <a:avLst/>
          </a:prstGeom>
          <a:noFill/>
          <a:ln/>
        </p:spPr>
        <p:txBody>
          <a:bodyPr wrap="square" lIns="0" tIns="0" rIns="0" bIns="0" rtlCol="0" anchor="ctr"/>
          <a:lstStyle/>
          <a:p>
            <a:pPr indent="0" marL="0">
              <a:buNone/>
            </a:pPr>
            <a:r>
              <a:rPr lang="en-US" sz="950" b="1" dirty="0">
                <a:solidFill>
                  <a:srgbClr val="B0005D"/>
                </a:solidFill>
              </a:rPr>
              <a:t>ANALOGY</a:t>
            </a:r>
            <a:endParaRPr lang="en-US" sz="950" dirty="0"/>
          </a:p>
        </p:txBody>
      </p:sp>
      <p:sp>
        <p:nvSpPr>
          <p:cNvPr id="11" name="Text 9"/>
          <p:cNvSpPr/>
          <p:nvPr/>
        </p:nvSpPr>
        <p:spPr>
          <a:xfrm>
            <a:off x="6629400" y="1984248"/>
            <a:ext cx="4709160" cy="731520"/>
          </a:xfrm>
          <a:prstGeom prst="rect">
            <a:avLst/>
          </a:prstGeom>
          <a:noFill/>
          <a:ln/>
        </p:spPr>
        <p:txBody>
          <a:bodyPr wrap="square" lIns="254" tIns="254" rIns="254" bIns="254" rtlCol="0" anchor="t">
            <a:normAutofit/>
          </a:bodyPr>
          <a:lstStyle/>
          <a:p>
            <a:pPr indent="0" marL="0">
              <a:buNone/>
            </a:pPr>
            <a:r>
              <a:rPr lang="en-US" sz="1330" dirty="0">
                <a:solidFill>
                  <a:srgbClr val="1E293B"/>
                </a:solidFill>
              </a:rPr>
              <a:t>A teacher checks every answer on an exam key. One wrong row reveals either a student error or a key error.</a:t>
            </a:r>
            <a:endParaRPr lang="en-US" sz="1330" dirty="0"/>
          </a:p>
        </p:txBody>
      </p:sp>
      <p:sp>
        <p:nvSpPr>
          <p:cNvPr id="12" name="Shape 10"/>
          <p:cNvSpPr/>
          <p:nvPr/>
        </p:nvSpPr>
        <p:spPr>
          <a:xfrm>
            <a:off x="6446520" y="2999232"/>
            <a:ext cx="5074920" cy="841248"/>
          </a:xfrm>
          <a:prstGeom prst="roundRect">
            <a:avLst>
              <a:gd name="adj" fmla="val 8696"/>
            </a:avLst>
          </a:prstGeom>
          <a:solidFill>
            <a:srgbClr val="FFFFFF">
              <a:alpha val="97000"/>
            </a:srgbClr>
          </a:solidFill>
          <a:ln w="12700">
            <a:solidFill>
              <a:srgbClr val="007C89"/>
            </a:solidFill>
            <a:prstDash val="solid"/>
          </a:ln>
        </p:spPr>
      </p:sp>
      <p:sp>
        <p:nvSpPr>
          <p:cNvPr id="13" name="Text 11"/>
          <p:cNvSpPr/>
          <p:nvPr/>
        </p:nvSpPr>
        <p:spPr>
          <a:xfrm>
            <a:off x="6611112" y="3127248"/>
            <a:ext cx="4745736" cy="658368"/>
          </a:xfrm>
          <a:prstGeom prst="rect">
            <a:avLst/>
          </a:prstGeom>
          <a:noFill/>
          <a:ln/>
        </p:spPr>
        <p:txBody>
          <a:bodyPr wrap="square" lIns="0" tIns="0" rIns="0" bIns="0" rtlCol="0" anchor="ctr">
            <a:normAutofit/>
          </a:bodyPr>
          <a:lstStyle/>
          <a:p>
            <a:pPr algn="ctr" indent="0" marL="0">
              <a:buNone/>
            </a:pPr>
            <a:r>
              <a:rPr lang="en-US" sz="1800" b="1" dirty="0">
                <a:solidFill>
                  <a:srgbClr val="005088"/>
                </a:solidFill>
                <a:latin typeface="Cambria Math" pitchFamily="34" charset="0"/>
                <a:ea typeface="Cambria Math" pitchFamily="34" charset="-122"/>
                <a:cs typeface="Cambria Math" pitchFamily="34" charset="-120"/>
              </a:rPr>
              <a:t>all terminal values → input-output table</a:t>
            </a:r>
            <a:endParaRPr lang="en-US" sz="1800" dirty="0"/>
          </a:p>
        </p:txBody>
      </p:sp>
      <p:sp>
        <p:nvSpPr>
          <p:cNvPr id="14" name="Shape 12"/>
          <p:cNvSpPr/>
          <p:nvPr/>
        </p:nvSpPr>
        <p:spPr>
          <a:xfrm>
            <a:off x="6446520" y="4041648"/>
            <a:ext cx="5074920" cy="859536"/>
          </a:xfrm>
          <a:prstGeom prst="roundRect">
            <a:avLst>
              <a:gd name="adj" fmla="val 8511"/>
            </a:avLst>
          </a:prstGeom>
          <a:solidFill>
            <a:srgbClr val="FFE4E6"/>
          </a:solidFill>
          <a:ln w="12700">
            <a:solidFill>
              <a:srgbClr val="FDA4AF"/>
            </a:solidFill>
            <a:prstDash val="solid"/>
          </a:ln>
        </p:spPr>
      </p:sp>
      <p:sp>
        <p:nvSpPr>
          <p:cNvPr id="15" name="Text 13"/>
          <p:cNvSpPr/>
          <p:nvPr/>
        </p:nvSpPr>
        <p:spPr>
          <a:xfrm>
            <a:off x="6629400" y="4178808"/>
            <a:ext cx="4709160" cy="219456"/>
          </a:xfrm>
          <a:prstGeom prst="rect">
            <a:avLst/>
          </a:prstGeom>
          <a:noFill/>
          <a:ln/>
        </p:spPr>
        <p:txBody>
          <a:bodyPr wrap="square" lIns="0" tIns="0" rIns="0" bIns="0" rtlCol="0" anchor="ctr"/>
          <a:lstStyle/>
          <a:p>
            <a:pPr indent="0" marL="0">
              <a:buNone/>
            </a:pPr>
            <a:r>
              <a:rPr lang="en-US" sz="950" b="1" dirty="0">
                <a:solidFill>
                  <a:srgbClr val="C1121F"/>
                </a:solidFill>
              </a:rPr>
              <a:t>STUDENT GOTCHA</a:t>
            </a:r>
            <a:endParaRPr lang="en-US" sz="950" dirty="0"/>
          </a:p>
        </p:txBody>
      </p:sp>
      <p:sp>
        <p:nvSpPr>
          <p:cNvPr id="16" name="Text 14"/>
          <p:cNvSpPr/>
          <p:nvPr/>
        </p:nvSpPr>
        <p:spPr>
          <a:xfrm>
            <a:off x="6629400" y="4453128"/>
            <a:ext cx="4709160" cy="356616"/>
          </a:xfrm>
          <a:prstGeom prst="rect">
            <a:avLst/>
          </a:prstGeom>
          <a:noFill/>
          <a:ln/>
        </p:spPr>
        <p:txBody>
          <a:bodyPr wrap="square" lIns="254" tIns="254" rIns="254" bIns="254" rtlCol="0" anchor="t">
            <a:normAutofit/>
          </a:bodyPr>
          <a:lstStyle/>
          <a:p>
            <a:pPr indent="0" marL="0">
              <a:buNone/>
            </a:pPr>
            <a:r>
              <a:rPr lang="en-US" sz="1250" dirty="0">
                <a:solidFill>
                  <a:srgbClr val="1E293B"/>
                </a:solidFill>
              </a:rPr>
              <a:t>Verification is only as trustworthy as the abstraction and axioms.</a:t>
            </a:r>
            <a:endParaRPr lang="en-US" sz="1250" dirty="0"/>
          </a:p>
        </p:txBody>
      </p:sp>
      <p:sp>
        <p:nvSpPr>
          <p:cNvPr id="17" name="Shape 15"/>
          <p:cNvSpPr/>
          <p:nvPr/>
        </p:nvSpPr>
        <p:spPr>
          <a:xfrm>
            <a:off x="6446520" y="5074920"/>
            <a:ext cx="5074920" cy="841248"/>
          </a:xfrm>
          <a:prstGeom prst="roundRect">
            <a:avLst>
              <a:gd name="adj" fmla="val 8696"/>
            </a:avLst>
          </a:prstGeom>
          <a:solidFill>
            <a:srgbClr val="E6FFFA"/>
          </a:solidFill>
          <a:ln w="12700">
            <a:solidFill>
              <a:srgbClr val="2A9D8F"/>
            </a:solidFill>
            <a:prstDash val="solid"/>
          </a:ln>
        </p:spPr>
      </p:sp>
      <p:sp>
        <p:nvSpPr>
          <p:cNvPr id="18" name="Text 16"/>
          <p:cNvSpPr/>
          <p:nvPr/>
        </p:nvSpPr>
        <p:spPr>
          <a:xfrm>
            <a:off x="6629400" y="5212080"/>
            <a:ext cx="4709160" cy="219456"/>
          </a:xfrm>
          <a:prstGeom prst="rect">
            <a:avLst/>
          </a:prstGeom>
          <a:noFill/>
          <a:ln/>
        </p:spPr>
        <p:txBody>
          <a:bodyPr wrap="square" lIns="0" tIns="0" rIns="0" bIns="0" rtlCol="0" anchor="ctr"/>
          <a:lstStyle/>
          <a:p>
            <a:pPr indent="0" marL="0">
              <a:buNone/>
            </a:pPr>
            <a:r>
              <a:rPr lang="en-US" sz="950" b="1" dirty="0">
                <a:solidFill>
                  <a:srgbClr val="007C89"/>
                </a:solidFill>
              </a:rPr>
              <a:t>CLASS CHECK</a:t>
            </a:r>
            <a:endParaRPr lang="en-US" sz="950" dirty="0"/>
          </a:p>
        </p:txBody>
      </p:sp>
      <p:sp>
        <p:nvSpPr>
          <p:cNvPr id="19" name="Text 17"/>
          <p:cNvSpPr/>
          <p:nvPr/>
        </p:nvSpPr>
        <p:spPr>
          <a:xfrm>
            <a:off x="6629400" y="5486400"/>
            <a:ext cx="4709160" cy="338328"/>
          </a:xfrm>
          <a:prstGeom prst="rect">
            <a:avLst/>
          </a:prstGeom>
          <a:noFill/>
          <a:ln/>
        </p:spPr>
        <p:txBody>
          <a:bodyPr wrap="square" lIns="254" tIns="254" rIns="254" bIns="254" rtlCol="0" anchor="t">
            <a:normAutofit/>
          </a:bodyPr>
          <a:lstStyle/>
          <a:p>
            <a:pPr indent="0" marL="0">
              <a:buNone/>
            </a:pPr>
            <a:r>
              <a:rPr lang="en-US" sz="1270" dirty="0">
                <a:solidFill>
                  <a:srgbClr val="1E293B"/>
                </a:solidFill>
              </a:rPr>
              <a:t>Ask: What would a wrong gate type do to the truth table?</a:t>
            </a:r>
            <a:endParaRPr lang="en-US" sz="1270"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5088"/>
          </a:solidFill>
          <a:ln w="12700">
            <a:solidFill>
              <a:srgbClr val="005088"/>
            </a:solidFill>
            <a:prstDash val="solid"/>
          </a:ln>
        </p:spPr>
      </p:sp>
      <p:sp>
        <p:nvSpPr>
          <p:cNvPr id="3" name="Shape 1"/>
          <p:cNvSpPr/>
          <p:nvPr/>
        </p:nvSpPr>
        <p:spPr>
          <a:xfrm>
            <a:off x="0" y="6729984"/>
            <a:ext cx="12191695" cy="128016"/>
          </a:xfrm>
          <a:prstGeom prst="rect">
            <a:avLst/>
          </a:prstGeom>
          <a:solidFill>
            <a:srgbClr val="005088"/>
          </a:solidFill>
          <a:ln w="12700">
            <a:solidFill>
              <a:srgbClr val="005088"/>
            </a:solidFill>
            <a:prstDash val="solid"/>
          </a:ln>
        </p:spPr>
      </p:sp>
      <p:sp>
        <p:nvSpPr>
          <p:cNvPr id="4" name="Text 2"/>
          <p:cNvSpPr/>
          <p:nvPr/>
        </p:nvSpPr>
        <p:spPr>
          <a:xfrm>
            <a:off x="502920" y="210312"/>
            <a:ext cx="6858000" cy="219456"/>
          </a:xfrm>
          <a:prstGeom prst="rect">
            <a:avLst/>
          </a:prstGeom>
          <a:noFill/>
          <a:ln/>
        </p:spPr>
        <p:txBody>
          <a:bodyPr wrap="square" lIns="0" tIns="0" rIns="0" bIns="0" rtlCol="0" anchor="ctr"/>
          <a:lstStyle/>
          <a:p>
            <a:pPr indent="0" marL="0">
              <a:buNone/>
            </a:pPr>
            <a:r>
              <a:rPr lang="en-US" sz="950" b="1" dirty="0">
                <a:solidFill>
                  <a:srgbClr val="3D5A80"/>
                </a:solidFill>
                <a:latin typeface="Aptos" pitchFamily="34" charset="0"/>
                <a:ea typeface="Aptos" pitchFamily="34" charset="-122"/>
                <a:cs typeface="Aptos" pitchFamily="34" charset="-120"/>
              </a:rPr>
              <a:t>8.4.2 Electronic Circuits Domain</a:t>
            </a:r>
            <a:endParaRPr lang="en-US" sz="950" dirty="0"/>
          </a:p>
        </p:txBody>
      </p:sp>
      <p:sp>
        <p:nvSpPr>
          <p:cNvPr id="5" name="Text 3"/>
          <p:cNvSpPr/>
          <p:nvPr/>
        </p:nvSpPr>
        <p:spPr>
          <a:xfrm>
            <a:off x="11018520" y="201168"/>
            <a:ext cx="640080" cy="228600"/>
          </a:xfrm>
          <a:prstGeom prst="rect">
            <a:avLst/>
          </a:prstGeom>
          <a:noFill/>
          <a:ln/>
        </p:spPr>
        <p:txBody>
          <a:bodyPr wrap="square" lIns="0" tIns="0" rIns="0" bIns="0" rtlCol="0" anchor="ctr"/>
          <a:lstStyle/>
          <a:p>
            <a:pPr algn="r" indent="0" marL="0">
              <a:buNone/>
            </a:pPr>
            <a:r>
              <a:rPr lang="en-US" sz="900" b="1" dirty="0">
                <a:solidFill>
                  <a:srgbClr val="3D5A80"/>
                </a:solidFill>
              </a:rPr>
              <a:t>103</a:t>
            </a:r>
            <a:endParaRPr lang="en-US" sz="900" dirty="0"/>
          </a:p>
        </p:txBody>
      </p:sp>
      <p:sp>
        <p:nvSpPr>
          <p:cNvPr id="6" name="Text 4"/>
          <p:cNvSpPr/>
          <p:nvPr/>
        </p:nvSpPr>
        <p:spPr>
          <a:xfrm>
            <a:off x="502920" y="566928"/>
            <a:ext cx="11201400" cy="512064"/>
          </a:xfrm>
          <a:prstGeom prst="rect">
            <a:avLst/>
          </a:prstGeom>
          <a:noFill/>
          <a:ln/>
        </p:spPr>
        <p:txBody>
          <a:bodyPr wrap="square" lIns="0" tIns="0" rIns="0" bIns="0" rtlCol="0" anchor="ctr">
            <a:normAutofit/>
          </a:bodyPr>
          <a:lstStyle/>
          <a:p>
            <a:pPr indent="0" marL="0">
              <a:buNone/>
            </a:pPr>
            <a:r>
              <a:rPr lang="en-US" sz="2650" b="1" dirty="0">
                <a:solidFill>
                  <a:srgbClr val="005088"/>
                </a:solidFill>
                <a:latin typeface="Aptos Display" pitchFamily="34" charset="0"/>
                <a:ea typeface="Aptos Display" pitchFamily="34" charset="-122"/>
                <a:cs typeface="Aptos Display" pitchFamily="34" charset="-120"/>
              </a:rPr>
              <a:t>DEBUGGING EXAMPLE: MISSING ONE IS NOT ZERO</a:t>
            </a:r>
            <a:endParaRPr lang="en-US" sz="2650" dirty="0"/>
          </a:p>
        </p:txBody>
      </p:sp>
      <p:sp>
        <p:nvSpPr>
          <p:cNvPr id="7" name="Shape 5"/>
          <p:cNvSpPr/>
          <p:nvPr/>
        </p:nvSpPr>
        <p:spPr>
          <a:xfrm>
            <a:off x="502920" y="1188720"/>
            <a:ext cx="11109960" cy="0"/>
          </a:xfrm>
          <a:prstGeom prst="line">
            <a:avLst/>
          </a:prstGeom>
          <a:noFill/>
          <a:ln w="12700">
            <a:solidFill>
              <a:srgbClr val="3D5A80"/>
            </a:solidFill>
            <a:prstDash val="solid"/>
          </a:ln>
        </p:spPr>
      </p:sp>
      <p:sp>
        <p:nvSpPr>
          <p:cNvPr id="8" name="Text 6"/>
          <p:cNvSpPr/>
          <p:nvPr/>
        </p:nvSpPr>
        <p:spPr>
          <a:xfrm>
            <a:off x="713232" y="1572768"/>
            <a:ext cx="5440680" cy="4251960"/>
          </a:xfrm>
          <a:prstGeom prst="rect">
            <a:avLst/>
          </a:prstGeom>
          <a:noFill/>
          <a:ln/>
        </p:spPr>
        <p:txBody>
          <a:bodyPr wrap="square" lIns="1016" tIns="1016" rIns="1016" bIns="1016" rtlCol="0" anchor="t">
            <a:normAutofit/>
          </a:bodyPr>
          <a:lstStyle/>
          <a:p>
            <a:pPr indent="0" marL="0">
              <a:buNone/>
            </a:pPr>
            <a:r>
              <a:rPr lang="en-US" sz="1650" dirty="0">
                <a:solidFill>
                  <a:srgbClr val="1E293B"/>
                </a:solidFill>
                <a:latin typeface="Aptos" pitchFamily="34" charset="0"/>
                <a:ea typeface="Aptos" pitchFamily="34" charset="-122"/>
                <a:cs typeface="Aptos" pitchFamily="34" charset="-120"/>
              </a:rPr>
              <a:t>• If the knowledge base forgets 1 ≠ 0, some exclusive OR outputs are unknown</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The system cannot prove that different inputs differ</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The problem appears when querying gate X₁ directly</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Adding the missing inequality restores the reasoning chain</a:t>
            </a:r>
            <a:endParaRPr lang="en-US" sz="1650" dirty="0"/>
          </a:p>
        </p:txBody>
      </p:sp>
      <p:sp>
        <p:nvSpPr>
          <p:cNvPr id="9" name="Shape 7"/>
          <p:cNvSpPr/>
          <p:nvPr/>
        </p:nvSpPr>
        <p:spPr>
          <a:xfrm>
            <a:off x="6446520" y="1572768"/>
            <a:ext cx="5074920" cy="1234440"/>
          </a:xfrm>
          <a:prstGeom prst="roundRect">
            <a:avLst>
              <a:gd name="adj" fmla="val 5926"/>
            </a:avLst>
          </a:prstGeom>
          <a:solidFill>
            <a:srgbClr val="FFF6D9"/>
          </a:solidFill>
          <a:ln w="12700">
            <a:solidFill>
              <a:srgbClr val="F4A261"/>
            </a:solidFill>
            <a:prstDash val="solid"/>
          </a:ln>
        </p:spPr>
      </p:sp>
      <p:sp>
        <p:nvSpPr>
          <p:cNvPr id="10" name="Text 8"/>
          <p:cNvSpPr/>
          <p:nvPr/>
        </p:nvSpPr>
        <p:spPr>
          <a:xfrm>
            <a:off x="6629400" y="1709928"/>
            <a:ext cx="4709160" cy="219456"/>
          </a:xfrm>
          <a:prstGeom prst="rect">
            <a:avLst/>
          </a:prstGeom>
          <a:noFill/>
          <a:ln/>
        </p:spPr>
        <p:txBody>
          <a:bodyPr wrap="square" lIns="0" tIns="0" rIns="0" bIns="0" rtlCol="0" anchor="ctr"/>
          <a:lstStyle/>
          <a:p>
            <a:pPr indent="0" marL="0">
              <a:buNone/>
            </a:pPr>
            <a:r>
              <a:rPr lang="en-US" sz="950" b="1" dirty="0">
                <a:solidFill>
                  <a:srgbClr val="B0005D"/>
                </a:solidFill>
              </a:rPr>
              <a:t>ANALOGY</a:t>
            </a:r>
            <a:endParaRPr lang="en-US" sz="950" dirty="0"/>
          </a:p>
        </p:txBody>
      </p:sp>
      <p:sp>
        <p:nvSpPr>
          <p:cNvPr id="11" name="Text 9"/>
          <p:cNvSpPr/>
          <p:nvPr/>
        </p:nvSpPr>
        <p:spPr>
          <a:xfrm>
            <a:off x="6629400" y="1984248"/>
            <a:ext cx="4709160" cy="731520"/>
          </a:xfrm>
          <a:prstGeom prst="rect">
            <a:avLst/>
          </a:prstGeom>
          <a:noFill/>
          <a:ln/>
        </p:spPr>
        <p:txBody>
          <a:bodyPr wrap="square" lIns="254" tIns="254" rIns="254" bIns="254" rtlCol="0" anchor="t">
            <a:normAutofit/>
          </a:bodyPr>
          <a:lstStyle/>
          <a:p>
            <a:pPr indent="0" marL="0">
              <a:buNone/>
            </a:pPr>
            <a:r>
              <a:rPr lang="en-US" sz="1330" dirty="0">
                <a:solidFill>
                  <a:srgbClr val="1E293B"/>
                </a:solidFill>
              </a:rPr>
              <a:t>A contract that never states east and west are different directions may fail in any clause depending on that distinction.</a:t>
            </a:r>
            <a:endParaRPr lang="en-US" sz="1330" dirty="0"/>
          </a:p>
        </p:txBody>
      </p:sp>
      <p:sp>
        <p:nvSpPr>
          <p:cNvPr id="12" name="Shape 10"/>
          <p:cNvSpPr/>
          <p:nvPr/>
        </p:nvSpPr>
        <p:spPr>
          <a:xfrm>
            <a:off x="6446520" y="2999232"/>
            <a:ext cx="5074920" cy="841248"/>
          </a:xfrm>
          <a:prstGeom prst="roundRect">
            <a:avLst>
              <a:gd name="adj" fmla="val 8696"/>
            </a:avLst>
          </a:prstGeom>
          <a:solidFill>
            <a:srgbClr val="FFFFFF">
              <a:alpha val="97000"/>
            </a:srgbClr>
          </a:solidFill>
          <a:ln w="12700">
            <a:solidFill>
              <a:srgbClr val="007C89"/>
            </a:solidFill>
            <a:prstDash val="solid"/>
          </a:ln>
        </p:spPr>
      </p:sp>
      <p:sp>
        <p:nvSpPr>
          <p:cNvPr id="13" name="Text 11"/>
          <p:cNvSpPr/>
          <p:nvPr/>
        </p:nvSpPr>
        <p:spPr>
          <a:xfrm>
            <a:off x="6611112" y="3127248"/>
            <a:ext cx="4745736" cy="658368"/>
          </a:xfrm>
          <a:prstGeom prst="rect">
            <a:avLst/>
          </a:prstGeom>
          <a:noFill/>
          <a:ln/>
        </p:spPr>
        <p:txBody>
          <a:bodyPr wrap="square" lIns="0" tIns="0" rIns="0" bIns="0" rtlCol="0" anchor="ctr">
            <a:normAutofit/>
          </a:bodyPr>
          <a:lstStyle/>
          <a:p>
            <a:pPr algn="ctr" indent="0" marL="0">
              <a:buNone/>
            </a:pPr>
            <a:r>
              <a:rPr lang="en-US" sz="1600" b="1" dirty="0">
                <a:solidFill>
                  <a:srgbClr val="005088"/>
                </a:solidFill>
                <a:latin typeface="Cambria Math" pitchFamily="34" charset="0"/>
                <a:ea typeface="Cambria Math" pitchFamily="34" charset="-122"/>
                <a:cs typeface="Cambria Math" pitchFamily="34" charset="-120"/>
              </a:rPr>
              <a:t>Signal(Out(1,X₁))=1 ⇔ 1 ≠ 0</a:t>
            </a:r>
            <a:endParaRPr lang="en-US" sz="1600" dirty="0"/>
          </a:p>
        </p:txBody>
      </p:sp>
      <p:sp>
        <p:nvSpPr>
          <p:cNvPr id="14" name="Shape 12"/>
          <p:cNvSpPr/>
          <p:nvPr/>
        </p:nvSpPr>
        <p:spPr>
          <a:xfrm>
            <a:off x="6446520" y="4041648"/>
            <a:ext cx="5074920" cy="859536"/>
          </a:xfrm>
          <a:prstGeom prst="roundRect">
            <a:avLst>
              <a:gd name="adj" fmla="val 8511"/>
            </a:avLst>
          </a:prstGeom>
          <a:solidFill>
            <a:srgbClr val="FFE4E6"/>
          </a:solidFill>
          <a:ln w="12700">
            <a:solidFill>
              <a:srgbClr val="FDA4AF"/>
            </a:solidFill>
            <a:prstDash val="solid"/>
          </a:ln>
        </p:spPr>
      </p:sp>
      <p:sp>
        <p:nvSpPr>
          <p:cNvPr id="15" name="Text 13"/>
          <p:cNvSpPr/>
          <p:nvPr/>
        </p:nvSpPr>
        <p:spPr>
          <a:xfrm>
            <a:off x="6629400" y="4178808"/>
            <a:ext cx="4709160" cy="219456"/>
          </a:xfrm>
          <a:prstGeom prst="rect">
            <a:avLst/>
          </a:prstGeom>
          <a:noFill/>
          <a:ln/>
        </p:spPr>
        <p:txBody>
          <a:bodyPr wrap="square" lIns="0" tIns="0" rIns="0" bIns="0" rtlCol="0" anchor="ctr"/>
          <a:lstStyle/>
          <a:p>
            <a:pPr indent="0" marL="0">
              <a:buNone/>
            </a:pPr>
            <a:r>
              <a:rPr lang="en-US" sz="950" b="1" dirty="0">
                <a:solidFill>
                  <a:srgbClr val="C1121F"/>
                </a:solidFill>
              </a:rPr>
              <a:t>STUDENT GOTCHA</a:t>
            </a:r>
            <a:endParaRPr lang="en-US" sz="950" dirty="0"/>
          </a:p>
        </p:txBody>
      </p:sp>
      <p:sp>
        <p:nvSpPr>
          <p:cNvPr id="16" name="Text 14"/>
          <p:cNvSpPr/>
          <p:nvPr/>
        </p:nvSpPr>
        <p:spPr>
          <a:xfrm>
            <a:off x="6629400" y="4453128"/>
            <a:ext cx="4709160" cy="356616"/>
          </a:xfrm>
          <a:prstGeom prst="rect">
            <a:avLst/>
          </a:prstGeom>
          <a:noFill/>
          <a:ln/>
        </p:spPr>
        <p:txBody>
          <a:bodyPr wrap="square" lIns="254" tIns="254" rIns="254" bIns="254" rtlCol="0" anchor="t">
            <a:normAutofit/>
          </a:bodyPr>
          <a:lstStyle/>
          <a:p>
            <a:pPr indent="0" marL="0">
              <a:buNone/>
            </a:pPr>
            <a:r>
              <a:rPr lang="en-US" sz="1250" dirty="0">
                <a:solidFill>
                  <a:srgbClr val="1E293B"/>
                </a:solidFill>
              </a:rPr>
              <a:t>“Obvious” facts are not available unless represented or built into the semantics.</a:t>
            </a:r>
            <a:endParaRPr lang="en-US" sz="1250" dirty="0"/>
          </a:p>
        </p:txBody>
      </p:sp>
      <p:sp>
        <p:nvSpPr>
          <p:cNvPr id="17" name="Shape 15"/>
          <p:cNvSpPr/>
          <p:nvPr/>
        </p:nvSpPr>
        <p:spPr>
          <a:xfrm>
            <a:off x="6446520" y="5074920"/>
            <a:ext cx="5074920" cy="841248"/>
          </a:xfrm>
          <a:prstGeom prst="roundRect">
            <a:avLst>
              <a:gd name="adj" fmla="val 8696"/>
            </a:avLst>
          </a:prstGeom>
          <a:solidFill>
            <a:srgbClr val="E6FFFA"/>
          </a:solidFill>
          <a:ln w="12700">
            <a:solidFill>
              <a:srgbClr val="2A9D8F"/>
            </a:solidFill>
            <a:prstDash val="solid"/>
          </a:ln>
        </p:spPr>
      </p:sp>
      <p:sp>
        <p:nvSpPr>
          <p:cNvPr id="18" name="Text 16"/>
          <p:cNvSpPr/>
          <p:nvPr/>
        </p:nvSpPr>
        <p:spPr>
          <a:xfrm>
            <a:off x="6629400" y="5212080"/>
            <a:ext cx="4709160" cy="219456"/>
          </a:xfrm>
          <a:prstGeom prst="rect">
            <a:avLst/>
          </a:prstGeom>
          <a:noFill/>
          <a:ln/>
        </p:spPr>
        <p:txBody>
          <a:bodyPr wrap="square" lIns="0" tIns="0" rIns="0" bIns="0" rtlCol="0" anchor="ctr"/>
          <a:lstStyle/>
          <a:p>
            <a:pPr indent="0" marL="0">
              <a:buNone/>
            </a:pPr>
            <a:r>
              <a:rPr lang="en-US" sz="950" b="1" dirty="0">
                <a:solidFill>
                  <a:srgbClr val="007C89"/>
                </a:solidFill>
              </a:rPr>
              <a:t>CLASS CHECK</a:t>
            </a:r>
            <a:endParaRPr lang="en-US" sz="950" dirty="0"/>
          </a:p>
        </p:txBody>
      </p:sp>
      <p:sp>
        <p:nvSpPr>
          <p:cNvPr id="19" name="Text 17"/>
          <p:cNvSpPr/>
          <p:nvPr/>
        </p:nvSpPr>
        <p:spPr>
          <a:xfrm>
            <a:off x="6629400" y="5486400"/>
            <a:ext cx="4709160" cy="338328"/>
          </a:xfrm>
          <a:prstGeom prst="rect">
            <a:avLst/>
          </a:prstGeom>
          <a:noFill/>
          <a:ln/>
        </p:spPr>
        <p:txBody>
          <a:bodyPr wrap="square" lIns="254" tIns="254" rIns="254" bIns="254" rtlCol="0" anchor="t">
            <a:normAutofit/>
          </a:bodyPr>
          <a:lstStyle/>
          <a:p>
            <a:pPr indent="0" marL="0">
              <a:buNone/>
            </a:pPr>
            <a:r>
              <a:rPr lang="en-US" sz="1270" dirty="0">
                <a:solidFill>
                  <a:srgbClr val="1E293B"/>
                </a:solidFill>
              </a:rPr>
              <a:t>Ask: Why can a missing axiom cause silence instead of a clear error?</a:t>
            </a:r>
            <a:endParaRPr lang="en-US" sz="1270"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5088"/>
          </a:solidFill>
          <a:ln w="12700">
            <a:solidFill>
              <a:srgbClr val="005088"/>
            </a:solidFill>
            <a:prstDash val="solid"/>
          </a:ln>
        </p:spPr>
      </p:sp>
      <p:sp>
        <p:nvSpPr>
          <p:cNvPr id="3" name="Shape 1"/>
          <p:cNvSpPr/>
          <p:nvPr/>
        </p:nvSpPr>
        <p:spPr>
          <a:xfrm>
            <a:off x="0" y="6729984"/>
            <a:ext cx="12191695" cy="128016"/>
          </a:xfrm>
          <a:prstGeom prst="rect">
            <a:avLst/>
          </a:prstGeom>
          <a:solidFill>
            <a:srgbClr val="005088"/>
          </a:solidFill>
          <a:ln w="12700">
            <a:solidFill>
              <a:srgbClr val="005088"/>
            </a:solidFill>
            <a:prstDash val="solid"/>
          </a:ln>
        </p:spPr>
      </p:sp>
      <p:sp>
        <p:nvSpPr>
          <p:cNvPr id="4" name="Text 2"/>
          <p:cNvSpPr/>
          <p:nvPr/>
        </p:nvSpPr>
        <p:spPr>
          <a:xfrm>
            <a:off x="502920" y="210312"/>
            <a:ext cx="6858000" cy="219456"/>
          </a:xfrm>
          <a:prstGeom prst="rect">
            <a:avLst/>
          </a:prstGeom>
          <a:noFill/>
          <a:ln/>
        </p:spPr>
        <p:txBody>
          <a:bodyPr wrap="square" lIns="0" tIns="0" rIns="0" bIns="0" rtlCol="0" anchor="ctr"/>
          <a:lstStyle/>
          <a:p>
            <a:pPr indent="0" marL="0">
              <a:buNone/>
            </a:pPr>
            <a:r>
              <a:rPr lang="en-US" sz="950" b="1" dirty="0">
                <a:solidFill>
                  <a:srgbClr val="3D5A80"/>
                </a:solidFill>
                <a:latin typeface="Aptos" pitchFamily="34" charset="0"/>
                <a:ea typeface="Aptos" pitchFamily="34" charset="-122"/>
                <a:cs typeface="Aptos" pitchFamily="34" charset="-120"/>
              </a:rPr>
              <a:t>8.4.2 Electronic Circuits Domain</a:t>
            </a:r>
            <a:endParaRPr lang="en-US" sz="950" dirty="0"/>
          </a:p>
        </p:txBody>
      </p:sp>
      <p:sp>
        <p:nvSpPr>
          <p:cNvPr id="5" name="Text 3"/>
          <p:cNvSpPr/>
          <p:nvPr/>
        </p:nvSpPr>
        <p:spPr>
          <a:xfrm>
            <a:off x="11018520" y="201168"/>
            <a:ext cx="640080" cy="228600"/>
          </a:xfrm>
          <a:prstGeom prst="rect">
            <a:avLst/>
          </a:prstGeom>
          <a:noFill/>
          <a:ln/>
        </p:spPr>
        <p:txBody>
          <a:bodyPr wrap="square" lIns="0" tIns="0" rIns="0" bIns="0" rtlCol="0" anchor="ctr"/>
          <a:lstStyle/>
          <a:p>
            <a:pPr algn="r" indent="0" marL="0">
              <a:buNone/>
            </a:pPr>
            <a:r>
              <a:rPr lang="en-US" sz="900" b="1" dirty="0">
                <a:solidFill>
                  <a:srgbClr val="3D5A80"/>
                </a:solidFill>
              </a:rPr>
              <a:t>104</a:t>
            </a:r>
            <a:endParaRPr lang="en-US" sz="900" dirty="0"/>
          </a:p>
        </p:txBody>
      </p:sp>
      <p:sp>
        <p:nvSpPr>
          <p:cNvPr id="6" name="Text 4"/>
          <p:cNvSpPr/>
          <p:nvPr/>
        </p:nvSpPr>
        <p:spPr>
          <a:xfrm>
            <a:off x="502920" y="566928"/>
            <a:ext cx="11201400" cy="512064"/>
          </a:xfrm>
          <a:prstGeom prst="rect">
            <a:avLst/>
          </a:prstGeom>
          <a:noFill/>
          <a:ln/>
        </p:spPr>
        <p:txBody>
          <a:bodyPr wrap="square" lIns="0" tIns="0" rIns="0" bIns="0" rtlCol="0" anchor="ctr">
            <a:normAutofit/>
          </a:bodyPr>
          <a:lstStyle/>
          <a:p>
            <a:pPr indent="0" marL="0">
              <a:buNone/>
            </a:pPr>
            <a:r>
              <a:rPr lang="en-US" sz="2650" b="1" dirty="0">
                <a:solidFill>
                  <a:srgbClr val="005088"/>
                </a:solidFill>
                <a:latin typeface="Aptos Display" pitchFamily="34" charset="0"/>
                <a:ea typeface="Aptos Display" pitchFamily="34" charset="-122"/>
                <a:cs typeface="Aptos Display" pitchFamily="34" charset="-120"/>
              </a:rPr>
              <a:t>MISSING AXIOMS AND WRONG AXIOMS FAIL DIFFERENTLY</a:t>
            </a:r>
            <a:endParaRPr lang="en-US" sz="2650" dirty="0"/>
          </a:p>
        </p:txBody>
      </p:sp>
      <p:sp>
        <p:nvSpPr>
          <p:cNvPr id="7" name="Shape 5"/>
          <p:cNvSpPr/>
          <p:nvPr/>
        </p:nvSpPr>
        <p:spPr>
          <a:xfrm>
            <a:off x="502920" y="1188720"/>
            <a:ext cx="11109960" cy="0"/>
          </a:xfrm>
          <a:prstGeom prst="line">
            <a:avLst/>
          </a:prstGeom>
          <a:noFill/>
          <a:ln w="12700">
            <a:solidFill>
              <a:srgbClr val="3D5A80"/>
            </a:solidFill>
            <a:prstDash val="solid"/>
          </a:ln>
        </p:spPr>
      </p:sp>
      <p:sp>
        <p:nvSpPr>
          <p:cNvPr id="8" name="Text 6"/>
          <p:cNvSpPr/>
          <p:nvPr/>
        </p:nvSpPr>
        <p:spPr>
          <a:xfrm>
            <a:off x="713232" y="1572768"/>
            <a:ext cx="5440680" cy="4251960"/>
          </a:xfrm>
          <a:prstGeom prst="rect">
            <a:avLst/>
          </a:prstGeom>
          <a:noFill/>
          <a:ln/>
        </p:spPr>
        <p:txBody>
          <a:bodyPr wrap="square" lIns="1016" tIns="1016" rIns="1016" bIns="1016" rtlCol="0" anchor="t">
            <a:normAutofit/>
          </a:bodyPr>
          <a:lstStyle/>
          <a:p>
            <a:pPr indent="0" marL="0">
              <a:buNone/>
            </a:pPr>
            <a:r>
              <a:rPr lang="en-US" sz="1650" dirty="0">
                <a:solidFill>
                  <a:srgbClr val="1E293B"/>
                </a:solidFill>
                <a:latin typeface="Aptos" pitchFamily="34" charset="0"/>
                <a:ea typeface="Aptos" pitchFamily="34" charset="-122"/>
                <a:cs typeface="Aptos" pitchFamily="34" charset="-120"/>
              </a:rPr>
              <a:t>• A missing axiom often produces unknown answers</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A wrong axiom can produce false conclusions confidently</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A weak axiom may prove positive cases but not negative cases</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A test suite should include expected true, false, and unknown cases</a:t>
            </a:r>
            <a:endParaRPr lang="en-US" sz="1650" dirty="0"/>
          </a:p>
        </p:txBody>
      </p:sp>
      <p:sp>
        <p:nvSpPr>
          <p:cNvPr id="9" name="Shape 7"/>
          <p:cNvSpPr/>
          <p:nvPr/>
        </p:nvSpPr>
        <p:spPr>
          <a:xfrm>
            <a:off x="6446520" y="1572768"/>
            <a:ext cx="5074920" cy="1234440"/>
          </a:xfrm>
          <a:prstGeom prst="roundRect">
            <a:avLst>
              <a:gd name="adj" fmla="val 5926"/>
            </a:avLst>
          </a:prstGeom>
          <a:solidFill>
            <a:srgbClr val="FFF6D9"/>
          </a:solidFill>
          <a:ln w="12700">
            <a:solidFill>
              <a:srgbClr val="F4A261"/>
            </a:solidFill>
            <a:prstDash val="solid"/>
          </a:ln>
        </p:spPr>
      </p:sp>
      <p:sp>
        <p:nvSpPr>
          <p:cNvPr id="10" name="Text 8"/>
          <p:cNvSpPr/>
          <p:nvPr/>
        </p:nvSpPr>
        <p:spPr>
          <a:xfrm>
            <a:off x="6629400" y="1709928"/>
            <a:ext cx="4709160" cy="219456"/>
          </a:xfrm>
          <a:prstGeom prst="rect">
            <a:avLst/>
          </a:prstGeom>
          <a:noFill/>
          <a:ln/>
        </p:spPr>
        <p:txBody>
          <a:bodyPr wrap="square" lIns="0" tIns="0" rIns="0" bIns="0" rtlCol="0" anchor="ctr"/>
          <a:lstStyle/>
          <a:p>
            <a:pPr indent="0" marL="0">
              <a:buNone/>
            </a:pPr>
            <a:r>
              <a:rPr lang="en-US" sz="950" b="1" dirty="0">
                <a:solidFill>
                  <a:srgbClr val="B0005D"/>
                </a:solidFill>
              </a:rPr>
              <a:t>ANALOGY</a:t>
            </a:r>
            <a:endParaRPr lang="en-US" sz="950" dirty="0"/>
          </a:p>
        </p:txBody>
      </p:sp>
      <p:sp>
        <p:nvSpPr>
          <p:cNvPr id="11" name="Text 9"/>
          <p:cNvSpPr/>
          <p:nvPr/>
        </p:nvSpPr>
        <p:spPr>
          <a:xfrm>
            <a:off x="6629400" y="1984248"/>
            <a:ext cx="4709160" cy="731520"/>
          </a:xfrm>
          <a:prstGeom prst="rect">
            <a:avLst/>
          </a:prstGeom>
          <a:noFill/>
          <a:ln/>
        </p:spPr>
        <p:txBody>
          <a:bodyPr wrap="square" lIns="254" tIns="254" rIns="254" bIns="254" rtlCol="0" anchor="t">
            <a:normAutofit/>
          </a:bodyPr>
          <a:lstStyle/>
          <a:p>
            <a:pPr indent="0" marL="0">
              <a:buNone/>
            </a:pPr>
            <a:r>
              <a:rPr lang="en-US" sz="1330" dirty="0">
                <a:solidFill>
                  <a:srgbClr val="1E293B"/>
                </a:solidFill>
              </a:rPr>
              <a:t>A missing road sign leaves drivers unsure; a wrong road sign sends drivers the wrong way.</a:t>
            </a:r>
            <a:endParaRPr lang="en-US" sz="1330" dirty="0"/>
          </a:p>
        </p:txBody>
      </p:sp>
      <p:sp>
        <p:nvSpPr>
          <p:cNvPr id="12" name="Shape 10"/>
          <p:cNvSpPr/>
          <p:nvPr/>
        </p:nvSpPr>
        <p:spPr>
          <a:xfrm>
            <a:off x="6446520" y="2999232"/>
            <a:ext cx="5074920" cy="841248"/>
          </a:xfrm>
          <a:prstGeom prst="roundRect">
            <a:avLst>
              <a:gd name="adj" fmla="val 8696"/>
            </a:avLst>
          </a:prstGeom>
          <a:solidFill>
            <a:srgbClr val="FFFFFF">
              <a:alpha val="97000"/>
            </a:srgbClr>
          </a:solidFill>
          <a:ln w="12700">
            <a:solidFill>
              <a:srgbClr val="007C89"/>
            </a:solidFill>
            <a:prstDash val="solid"/>
          </a:ln>
        </p:spPr>
      </p:sp>
      <p:sp>
        <p:nvSpPr>
          <p:cNvPr id="13" name="Text 11"/>
          <p:cNvSpPr/>
          <p:nvPr/>
        </p:nvSpPr>
        <p:spPr>
          <a:xfrm>
            <a:off x="6611112" y="3127248"/>
            <a:ext cx="4745736" cy="658368"/>
          </a:xfrm>
          <a:prstGeom prst="rect">
            <a:avLst/>
          </a:prstGeom>
          <a:noFill/>
          <a:ln/>
        </p:spPr>
        <p:txBody>
          <a:bodyPr wrap="square" lIns="0" tIns="0" rIns="0" bIns="0" rtlCol="0" anchor="ctr">
            <a:normAutofit/>
          </a:bodyPr>
          <a:lstStyle/>
          <a:p>
            <a:pPr algn="ctr" indent="0" marL="0">
              <a:buNone/>
            </a:pPr>
            <a:r>
              <a:rPr lang="en-US" sz="1900" b="1" dirty="0">
                <a:solidFill>
                  <a:srgbClr val="005088"/>
                </a:solidFill>
                <a:latin typeface="Cambria Math" pitchFamily="34" charset="0"/>
                <a:ea typeface="Cambria Math" pitchFamily="34" charset="-122"/>
                <a:cs typeface="Cambria Math" pitchFamily="34" charset="-120"/>
              </a:rPr>
              <a:t>unknown answer ≠ system failure</a:t>
            </a:r>
            <a:endParaRPr lang="en-US" sz="1900" dirty="0"/>
          </a:p>
        </p:txBody>
      </p:sp>
      <p:sp>
        <p:nvSpPr>
          <p:cNvPr id="14" name="Shape 12"/>
          <p:cNvSpPr/>
          <p:nvPr/>
        </p:nvSpPr>
        <p:spPr>
          <a:xfrm>
            <a:off x="6446520" y="4041648"/>
            <a:ext cx="5074920" cy="859536"/>
          </a:xfrm>
          <a:prstGeom prst="roundRect">
            <a:avLst>
              <a:gd name="adj" fmla="val 8511"/>
            </a:avLst>
          </a:prstGeom>
          <a:solidFill>
            <a:srgbClr val="FFE4E6"/>
          </a:solidFill>
          <a:ln w="12700">
            <a:solidFill>
              <a:srgbClr val="FDA4AF"/>
            </a:solidFill>
            <a:prstDash val="solid"/>
          </a:ln>
        </p:spPr>
      </p:sp>
      <p:sp>
        <p:nvSpPr>
          <p:cNvPr id="15" name="Text 13"/>
          <p:cNvSpPr/>
          <p:nvPr/>
        </p:nvSpPr>
        <p:spPr>
          <a:xfrm>
            <a:off x="6629400" y="4178808"/>
            <a:ext cx="4709160" cy="219456"/>
          </a:xfrm>
          <a:prstGeom prst="rect">
            <a:avLst/>
          </a:prstGeom>
          <a:noFill/>
          <a:ln/>
        </p:spPr>
        <p:txBody>
          <a:bodyPr wrap="square" lIns="0" tIns="0" rIns="0" bIns="0" rtlCol="0" anchor="ctr"/>
          <a:lstStyle/>
          <a:p>
            <a:pPr indent="0" marL="0">
              <a:buNone/>
            </a:pPr>
            <a:r>
              <a:rPr lang="en-US" sz="950" b="1" dirty="0">
                <a:solidFill>
                  <a:srgbClr val="C1121F"/>
                </a:solidFill>
              </a:rPr>
              <a:t>STUDENT GOTCHA</a:t>
            </a:r>
            <a:endParaRPr lang="en-US" sz="950" dirty="0"/>
          </a:p>
        </p:txBody>
      </p:sp>
      <p:sp>
        <p:nvSpPr>
          <p:cNvPr id="16" name="Text 14"/>
          <p:cNvSpPr/>
          <p:nvPr/>
        </p:nvSpPr>
        <p:spPr>
          <a:xfrm>
            <a:off x="6629400" y="4453128"/>
            <a:ext cx="4709160" cy="356616"/>
          </a:xfrm>
          <a:prstGeom prst="rect">
            <a:avLst/>
          </a:prstGeom>
          <a:noFill/>
          <a:ln/>
        </p:spPr>
        <p:txBody>
          <a:bodyPr wrap="square" lIns="254" tIns="254" rIns="254" bIns="254" rtlCol="0" anchor="t">
            <a:normAutofit/>
          </a:bodyPr>
          <a:lstStyle/>
          <a:p>
            <a:pPr indent="0" marL="0">
              <a:buNone/>
            </a:pPr>
            <a:r>
              <a:rPr lang="en-US" sz="1250" dirty="0">
                <a:solidFill>
                  <a:srgbClr val="1E293B"/>
                </a:solidFill>
              </a:rPr>
              <a:t>Students may treat every unknown as an error. Sometimes unknown is the correct result from incomplete knowledge.</a:t>
            </a:r>
            <a:endParaRPr lang="en-US" sz="1250" dirty="0"/>
          </a:p>
        </p:txBody>
      </p:sp>
      <p:sp>
        <p:nvSpPr>
          <p:cNvPr id="17" name="Shape 15"/>
          <p:cNvSpPr/>
          <p:nvPr/>
        </p:nvSpPr>
        <p:spPr>
          <a:xfrm>
            <a:off x="6446520" y="5074920"/>
            <a:ext cx="5074920" cy="841248"/>
          </a:xfrm>
          <a:prstGeom prst="roundRect">
            <a:avLst>
              <a:gd name="adj" fmla="val 8696"/>
            </a:avLst>
          </a:prstGeom>
          <a:solidFill>
            <a:srgbClr val="E6FFFA"/>
          </a:solidFill>
          <a:ln w="12700">
            <a:solidFill>
              <a:srgbClr val="2A9D8F"/>
            </a:solidFill>
            <a:prstDash val="solid"/>
          </a:ln>
        </p:spPr>
      </p:sp>
      <p:sp>
        <p:nvSpPr>
          <p:cNvPr id="18" name="Text 16"/>
          <p:cNvSpPr/>
          <p:nvPr/>
        </p:nvSpPr>
        <p:spPr>
          <a:xfrm>
            <a:off x="6629400" y="5212080"/>
            <a:ext cx="4709160" cy="219456"/>
          </a:xfrm>
          <a:prstGeom prst="rect">
            <a:avLst/>
          </a:prstGeom>
          <a:noFill/>
          <a:ln/>
        </p:spPr>
        <p:txBody>
          <a:bodyPr wrap="square" lIns="0" tIns="0" rIns="0" bIns="0" rtlCol="0" anchor="ctr"/>
          <a:lstStyle/>
          <a:p>
            <a:pPr indent="0" marL="0">
              <a:buNone/>
            </a:pPr>
            <a:r>
              <a:rPr lang="en-US" sz="950" b="1" dirty="0">
                <a:solidFill>
                  <a:srgbClr val="007C89"/>
                </a:solidFill>
              </a:rPr>
              <a:t>CLASS CHECK</a:t>
            </a:r>
            <a:endParaRPr lang="en-US" sz="950" dirty="0"/>
          </a:p>
        </p:txBody>
      </p:sp>
      <p:sp>
        <p:nvSpPr>
          <p:cNvPr id="19" name="Text 17"/>
          <p:cNvSpPr/>
          <p:nvPr/>
        </p:nvSpPr>
        <p:spPr>
          <a:xfrm>
            <a:off x="6629400" y="5486400"/>
            <a:ext cx="4709160" cy="338328"/>
          </a:xfrm>
          <a:prstGeom prst="rect">
            <a:avLst/>
          </a:prstGeom>
          <a:noFill/>
          <a:ln/>
        </p:spPr>
        <p:txBody>
          <a:bodyPr wrap="square" lIns="254" tIns="254" rIns="254" bIns="254" rtlCol="0" anchor="t">
            <a:normAutofit/>
          </a:bodyPr>
          <a:lstStyle/>
          <a:p>
            <a:pPr indent="0" marL="0">
              <a:buNone/>
            </a:pPr>
            <a:r>
              <a:rPr lang="en-US" sz="1270" dirty="0">
                <a:solidFill>
                  <a:srgbClr val="1E293B"/>
                </a:solidFill>
              </a:rPr>
              <a:t>Ask students to design one test that would catch a wrong OR gate rule.</a:t>
            </a:r>
            <a:endParaRPr lang="en-US" sz="1270"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5088"/>
          </a:solidFill>
          <a:ln w="12700">
            <a:solidFill>
              <a:srgbClr val="005088"/>
            </a:solidFill>
            <a:prstDash val="solid"/>
          </a:ln>
        </p:spPr>
      </p:sp>
      <p:sp>
        <p:nvSpPr>
          <p:cNvPr id="3" name="Shape 1"/>
          <p:cNvSpPr/>
          <p:nvPr/>
        </p:nvSpPr>
        <p:spPr>
          <a:xfrm>
            <a:off x="0" y="6729984"/>
            <a:ext cx="12191695" cy="128016"/>
          </a:xfrm>
          <a:prstGeom prst="rect">
            <a:avLst/>
          </a:prstGeom>
          <a:solidFill>
            <a:srgbClr val="005088"/>
          </a:solidFill>
          <a:ln w="12700">
            <a:solidFill>
              <a:srgbClr val="005088"/>
            </a:solidFill>
            <a:prstDash val="solid"/>
          </a:ln>
        </p:spPr>
      </p:sp>
      <p:sp>
        <p:nvSpPr>
          <p:cNvPr id="4" name="Text 2"/>
          <p:cNvSpPr/>
          <p:nvPr/>
        </p:nvSpPr>
        <p:spPr>
          <a:xfrm>
            <a:off x="502920" y="210312"/>
            <a:ext cx="6858000" cy="219456"/>
          </a:xfrm>
          <a:prstGeom prst="rect">
            <a:avLst/>
          </a:prstGeom>
          <a:noFill/>
          <a:ln/>
        </p:spPr>
        <p:txBody>
          <a:bodyPr wrap="square" lIns="0" tIns="0" rIns="0" bIns="0" rtlCol="0" anchor="ctr"/>
          <a:lstStyle/>
          <a:p>
            <a:pPr indent="0" marL="0">
              <a:buNone/>
            </a:pPr>
            <a:r>
              <a:rPr lang="en-US" sz="950" b="1" dirty="0">
                <a:solidFill>
                  <a:srgbClr val="3D5A80"/>
                </a:solidFill>
                <a:latin typeface="Aptos" pitchFamily="34" charset="0"/>
                <a:ea typeface="Aptos" pitchFamily="34" charset="-122"/>
                <a:cs typeface="Aptos" pitchFamily="34" charset="-120"/>
              </a:rPr>
              <a:t>Chapter 8 Summary</a:t>
            </a:r>
            <a:endParaRPr lang="en-US" sz="950" dirty="0"/>
          </a:p>
        </p:txBody>
      </p:sp>
      <p:sp>
        <p:nvSpPr>
          <p:cNvPr id="5" name="Text 3"/>
          <p:cNvSpPr/>
          <p:nvPr/>
        </p:nvSpPr>
        <p:spPr>
          <a:xfrm>
            <a:off x="11018520" y="201168"/>
            <a:ext cx="640080" cy="228600"/>
          </a:xfrm>
          <a:prstGeom prst="rect">
            <a:avLst/>
          </a:prstGeom>
          <a:noFill/>
          <a:ln/>
        </p:spPr>
        <p:txBody>
          <a:bodyPr wrap="square" lIns="0" tIns="0" rIns="0" bIns="0" rtlCol="0" anchor="ctr"/>
          <a:lstStyle/>
          <a:p>
            <a:pPr algn="r" indent="0" marL="0">
              <a:buNone/>
            </a:pPr>
            <a:r>
              <a:rPr lang="en-US" sz="900" b="1" dirty="0">
                <a:solidFill>
                  <a:srgbClr val="3D5A80"/>
                </a:solidFill>
              </a:rPr>
              <a:t>105</a:t>
            </a:r>
            <a:endParaRPr lang="en-US" sz="900" dirty="0"/>
          </a:p>
        </p:txBody>
      </p:sp>
      <p:sp>
        <p:nvSpPr>
          <p:cNvPr id="6" name="Text 4"/>
          <p:cNvSpPr/>
          <p:nvPr/>
        </p:nvSpPr>
        <p:spPr>
          <a:xfrm>
            <a:off x="502920" y="566928"/>
            <a:ext cx="11201400" cy="512064"/>
          </a:xfrm>
          <a:prstGeom prst="rect">
            <a:avLst/>
          </a:prstGeom>
          <a:noFill/>
          <a:ln/>
        </p:spPr>
        <p:txBody>
          <a:bodyPr wrap="square" lIns="0" tIns="0" rIns="0" bIns="0" rtlCol="0" anchor="ctr">
            <a:normAutofit/>
          </a:bodyPr>
          <a:lstStyle/>
          <a:p>
            <a:pPr indent="0" marL="0">
              <a:buNone/>
            </a:pPr>
            <a:r>
              <a:rPr lang="en-US" sz="2650" b="1" dirty="0">
                <a:solidFill>
                  <a:srgbClr val="005088"/>
                </a:solidFill>
                <a:latin typeface="Aptos Display" pitchFamily="34" charset="0"/>
                <a:ea typeface="Aptos Display" pitchFamily="34" charset="-122"/>
                <a:cs typeface="Aptos Display" pitchFamily="34" charset="-120"/>
              </a:rPr>
              <a:t>LIMITS OF FIRST-ORDER LOGIC</a:t>
            </a:r>
            <a:endParaRPr lang="en-US" sz="2650" dirty="0"/>
          </a:p>
        </p:txBody>
      </p:sp>
      <p:sp>
        <p:nvSpPr>
          <p:cNvPr id="7" name="Shape 5"/>
          <p:cNvSpPr/>
          <p:nvPr/>
        </p:nvSpPr>
        <p:spPr>
          <a:xfrm>
            <a:off x="502920" y="1188720"/>
            <a:ext cx="11109960" cy="0"/>
          </a:xfrm>
          <a:prstGeom prst="line">
            <a:avLst/>
          </a:prstGeom>
          <a:noFill/>
          <a:ln w="12700">
            <a:solidFill>
              <a:srgbClr val="3D5A80"/>
            </a:solidFill>
            <a:prstDash val="solid"/>
          </a:ln>
        </p:spPr>
      </p:sp>
      <p:sp>
        <p:nvSpPr>
          <p:cNvPr id="8" name="Text 6"/>
          <p:cNvSpPr/>
          <p:nvPr/>
        </p:nvSpPr>
        <p:spPr>
          <a:xfrm>
            <a:off x="713232" y="1572768"/>
            <a:ext cx="5440680" cy="4251960"/>
          </a:xfrm>
          <a:prstGeom prst="rect">
            <a:avLst/>
          </a:prstGeom>
          <a:noFill/>
          <a:ln/>
        </p:spPr>
        <p:txBody>
          <a:bodyPr wrap="square" lIns="1016" tIns="1016" rIns="1016" bIns="1016" rtlCol="0" anchor="t">
            <a:normAutofit/>
          </a:bodyPr>
          <a:lstStyle/>
          <a:p>
            <a:pPr indent="0" marL="0">
              <a:buNone/>
            </a:pPr>
            <a:r>
              <a:rPr lang="en-US" sz="1650" dirty="0">
                <a:solidFill>
                  <a:srgbClr val="1E293B"/>
                </a:solidFill>
                <a:latin typeface="Aptos" pitchFamily="34" charset="0"/>
                <a:ea typeface="Aptos" pitchFamily="34" charset="-122"/>
                <a:cs typeface="Aptos" pitchFamily="34" charset="-120"/>
              </a:rPr>
              <a:t>• More expressiveness can make reasoning harder</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Vague predicates such as Tall(x) need precise definitions</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Uncertainty often requires probability rather than true, false, or unknown</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Large knowledge bases require careful engineering and testing</a:t>
            </a:r>
            <a:endParaRPr lang="en-US" sz="1650" dirty="0"/>
          </a:p>
        </p:txBody>
      </p:sp>
      <p:sp>
        <p:nvSpPr>
          <p:cNvPr id="9" name="Shape 7"/>
          <p:cNvSpPr/>
          <p:nvPr/>
        </p:nvSpPr>
        <p:spPr>
          <a:xfrm>
            <a:off x="6446520" y="1572768"/>
            <a:ext cx="5074920" cy="1234440"/>
          </a:xfrm>
          <a:prstGeom prst="roundRect">
            <a:avLst>
              <a:gd name="adj" fmla="val 5926"/>
            </a:avLst>
          </a:prstGeom>
          <a:solidFill>
            <a:srgbClr val="FFF6D9"/>
          </a:solidFill>
          <a:ln w="12700">
            <a:solidFill>
              <a:srgbClr val="F4A261"/>
            </a:solidFill>
            <a:prstDash val="solid"/>
          </a:ln>
        </p:spPr>
      </p:sp>
      <p:sp>
        <p:nvSpPr>
          <p:cNvPr id="10" name="Text 8"/>
          <p:cNvSpPr/>
          <p:nvPr/>
        </p:nvSpPr>
        <p:spPr>
          <a:xfrm>
            <a:off x="6629400" y="1709928"/>
            <a:ext cx="4709160" cy="219456"/>
          </a:xfrm>
          <a:prstGeom prst="rect">
            <a:avLst/>
          </a:prstGeom>
          <a:noFill/>
          <a:ln/>
        </p:spPr>
        <p:txBody>
          <a:bodyPr wrap="square" lIns="0" tIns="0" rIns="0" bIns="0" rtlCol="0" anchor="ctr"/>
          <a:lstStyle/>
          <a:p>
            <a:pPr indent="0" marL="0">
              <a:buNone/>
            </a:pPr>
            <a:r>
              <a:rPr lang="en-US" sz="950" b="1" dirty="0">
                <a:solidFill>
                  <a:srgbClr val="B0005D"/>
                </a:solidFill>
              </a:rPr>
              <a:t>ANALOGY</a:t>
            </a:r>
            <a:endParaRPr lang="en-US" sz="950" dirty="0"/>
          </a:p>
        </p:txBody>
      </p:sp>
      <p:sp>
        <p:nvSpPr>
          <p:cNvPr id="11" name="Text 9"/>
          <p:cNvSpPr/>
          <p:nvPr/>
        </p:nvSpPr>
        <p:spPr>
          <a:xfrm>
            <a:off x="6629400" y="1984248"/>
            <a:ext cx="4709160" cy="731520"/>
          </a:xfrm>
          <a:prstGeom prst="rect">
            <a:avLst/>
          </a:prstGeom>
          <a:noFill/>
          <a:ln/>
        </p:spPr>
        <p:txBody>
          <a:bodyPr wrap="square" lIns="254" tIns="254" rIns="254" bIns="254" rtlCol="0" anchor="t">
            <a:normAutofit/>
          </a:bodyPr>
          <a:lstStyle/>
          <a:p>
            <a:pPr indent="0" marL="0">
              <a:buNone/>
            </a:pPr>
            <a:r>
              <a:rPr lang="en-US" sz="1330" dirty="0">
                <a:solidFill>
                  <a:srgbClr val="1E293B"/>
                </a:solidFill>
              </a:rPr>
              <a:t>A recipe can say “add enough salt,” but formal logic struggles with “enough” unless the threshold is defined.</a:t>
            </a:r>
            <a:endParaRPr lang="en-US" sz="1330" dirty="0"/>
          </a:p>
        </p:txBody>
      </p:sp>
      <p:sp>
        <p:nvSpPr>
          <p:cNvPr id="12" name="Shape 10"/>
          <p:cNvSpPr/>
          <p:nvPr/>
        </p:nvSpPr>
        <p:spPr>
          <a:xfrm>
            <a:off x="6446520" y="2999232"/>
            <a:ext cx="5074920" cy="841248"/>
          </a:xfrm>
          <a:prstGeom prst="roundRect">
            <a:avLst>
              <a:gd name="adj" fmla="val 8696"/>
            </a:avLst>
          </a:prstGeom>
          <a:solidFill>
            <a:srgbClr val="FFFFFF">
              <a:alpha val="97000"/>
            </a:srgbClr>
          </a:solidFill>
          <a:ln w="12700">
            <a:solidFill>
              <a:srgbClr val="007C89"/>
            </a:solidFill>
            <a:prstDash val="solid"/>
          </a:ln>
        </p:spPr>
      </p:sp>
      <p:sp>
        <p:nvSpPr>
          <p:cNvPr id="13" name="Text 11"/>
          <p:cNvSpPr/>
          <p:nvPr/>
        </p:nvSpPr>
        <p:spPr>
          <a:xfrm>
            <a:off x="6611112" y="3127248"/>
            <a:ext cx="4745736" cy="658368"/>
          </a:xfrm>
          <a:prstGeom prst="rect">
            <a:avLst/>
          </a:prstGeom>
          <a:noFill/>
          <a:ln/>
        </p:spPr>
        <p:txBody>
          <a:bodyPr wrap="square" lIns="0" tIns="0" rIns="0" bIns="0" rtlCol="0" anchor="ctr">
            <a:normAutofit/>
          </a:bodyPr>
          <a:lstStyle/>
          <a:p>
            <a:pPr algn="ctr" indent="0" marL="0">
              <a:buNone/>
            </a:pPr>
            <a:r>
              <a:rPr lang="en-US" sz="1450" b="1" dirty="0">
                <a:solidFill>
                  <a:srgbClr val="005088"/>
                </a:solidFill>
                <a:latin typeface="Cambria Math" pitchFamily="34" charset="0"/>
                <a:ea typeface="Cambria Math" pitchFamily="34" charset="-122"/>
                <a:cs typeface="Cambria Math" pitchFamily="34" charset="-120"/>
              </a:rPr>
              <a:t>precise language is powerful, but not everything is precise</a:t>
            </a:r>
            <a:endParaRPr lang="en-US" sz="1450" dirty="0"/>
          </a:p>
        </p:txBody>
      </p:sp>
      <p:sp>
        <p:nvSpPr>
          <p:cNvPr id="14" name="Shape 12"/>
          <p:cNvSpPr/>
          <p:nvPr/>
        </p:nvSpPr>
        <p:spPr>
          <a:xfrm>
            <a:off x="6446520" y="4041648"/>
            <a:ext cx="5074920" cy="859536"/>
          </a:xfrm>
          <a:prstGeom prst="roundRect">
            <a:avLst>
              <a:gd name="adj" fmla="val 8511"/>
            </a:avLst>
          </a:prstGeom>
          <a:solidFill>
            <a:srgbClr val="FFE4E6"/>
          </a:solidFill>
          <a:ln w="12700">
            <a:solidFill>
              <a:srgbClr val="FDA4AF"/>
            </a:solidFill>
            <a:prstDash val="solid"/>
          </a:ln>
        </p:spPr>
      </p:sp>
      <p:sp>
        <p:nvSpPr>
          <p:cNvPr id="15" name="Text 13"/>
          <p:cNvSpPr/>
          <p:nvPr/>
        </p:nvSpPr>
        <p:spPr>
          <a:xfrm>
            <a:off x="6629400" y="4178808"/>
            <a:ext cx="4709160" cy="219456"/>
          </a:xfrm>
          <a:prstGeom prst="rect">
            <a:avLst/>
          </a:prstGeom>
          <a:noFill/>
          <a:ln/>
        </p:spPr>
        <p:txBody>
          <a:bodyPr wrap="square" lIns="0" tIns="0" rIns="0" bIns="0" rtlCol="0" anchor="ctr"/>
          <a:lstStyle/>
          <a:p>
            <a:pPr indent="0" marL="0">
              <a:buNone/>
            </a:pPr>
            <a:r>
              <a:rPr lang="en-US" sz="950" b="1" dirty="0">
                <a:solidFill>
                  <a:srgbClr val="C1121F"/>
                </a:solidFill>
              </a:rPr>
              <a:t>STUDENT GOTCHA</a:t>
            </a:r>
            <a:endParaRPr lang="en-US" sz="950" dirty="0"/>
          </a:p>
        </p:txBody>
      </p:sp>
      <p:sp>
        <p:nvSpPr>
          <p:cNvPr id="16" name="Text 14"/>
          <p:cNvSpPr/>
          <p:nvPr/>
        </p:nvSpPr>
        <p:spPr>
          <a:xfrm>
            <a:off x="6629400" y="4453128"/>
            <a:ext cx="4709160" cy="356616"/>
          </a:xfrm>
          <a:prstGeom prst="rect">
            <a:avLst/>
          </a:prstGeom>
          <a:noFill/>
          <a:ln/>
        </p:spPr>
        <p:txBody>
          <a:bodyPr wrap="square" lIns="254" tIns="254" rIns="254" bIns="254" rtlCol="0" anchor="t">
            <a:normAutofit/>
          </a:bodyPr>
          <a:lstStyle/>
          <a:p>
            <a:pPr indent="0" marL="0">
              <a:buNone/>
            </a:pPr>
            <a:r>
              <a:rPr lang="en-US" sz="1250" dirty="0">
                <a:solidFill>
                  <a:srgbClr val="1E293B"/>
                </a:solidFill>
              </a:rPr>
              <a:t>First-order logic is not a complete solution to every Artificial Intelligence representation problem.</a:t>
            </a:r>
            <a:endParaRPr lang="en-US" sz="1250" dirty="0"/>
          </a:p>
        </p:txBody>
      </p:sp>
      <p:sp>
        <p:nvSpPr>
          <p:cNvPr id="17" name="Shape 15"/>
          <p:cNvSpPr/>
          <p:nvPr/>
        </p:nvSpPr>
        <p:spPr>
          <a:xfrm>
            <a:off x="6446520" y="5074920"/>
            <a:ext cx="5074920" cy="841248"/>
          </a:xfrm>
          <a:prstGeom prst="roundRect">
            <a:avLst>
              <a:gd name="adj" fmla="val 8696"/>
            </a:avLst>
          </a:prstGeom>
          <a:solidFill>
            <a:srgbClr val="E6FFFA"/>
          </a:solidFill>
          <a:ln w="12700">
            <a:solidFill>
              <a:srgbClr val="2A9D8F"/>
            </a:solidFill>
            <a:prstDash val="solid"/>
          </a:ln>
        </p:spPr>
      </p:sp>
      <p:sp>
        <p:nvSpPr>
          <p:cNvPr id="18" name="Text 16"/>
          <p:cNvSpPr/>
          <p:nvPr/>
        </p:nvSpPr>
        <p:spPr>
          <a:xfrm>
            <a:off x="6629400" y="5212080"/>
            <a:ext cx="4709160" cy="219456"/>
          </a:xfrm>
          <a:prstGeom prst="rect">
            <a:avLst/>
          </a:prstGeom>
          <a:noFill/>
          <a:ln/>
        </p:spPr>
        <p:txBody>
          <a:bodyPr wrap="square" lIns="0" tIns="0" rIns="0" bIns="0" rtlCol="0" anchor="ctr"/>
          <a:lstStyle/>
          <a:p>
            <a:pPr indent="0" marL="0">
              <a:buNone/>
            </a:pPr>
            <a:r>
              <a:rPr lang="en-US" sz="950" b="1" dirty="0">
                <a:solidFill>
                  <a:srgbClr val="007C89"/>
                </a:solidFill>
              </a:rPr>
              <a:t>CLASS CHECK</a:t>
            </a:r>
            <a:endParaRPr lang="en-US" sz="950" dirty="0"/>
          </a:p>
        </p:txBody>
      </p:sp>
      <p:sp>
        <p:nvSpPr>
          <p:cNvPr id="19" name="Text 17"/>
          <p:cNvSpPr/>
          <p:nvPr/>
        </p:nvSpPr>
        <p:spPr>
          <a:xfrm>
            <a:off x="6629400" y="5486400"/>
            <a:ext cx="4709160" cy="338328"/>
          </a:xfrm>
          <a:prstGeom prst="rect">
            <a:avLst/>
          </a:prstGeom>
          <a:noFill/>
          <a:ln/>
        </p:spPr>
        <p:txBody>
          <a:bodyPr wrap="square" lIns="254" tIns="254" rIns="254" bIns="254" rtlCol="0" anchor="t">
            <a:normAutofit/>
          </a:bodyPr>
          <a:lstStyle/>
          <a:p>
            <a:pPr indent="0" marL="0">
              <a:buNone/>
            </a:pPr>
            <a:r>
              <a:rPr lang="en-US" sz="1270" dirty="0">
                <a:solidFill>
                  <a:srgbClr val="1E293B"/>
                </a:solidFill>
              </a:rPr>
              <a:t>Ask: Is GoodRestaurant(x) a clean logical predicate?</a:t>
            </a:r>
            <a:endParaRPr lang="en-US" sz="1270"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5088"/>
          </a:solidFill>
          <a:ln w="12700">
            <a:solidFill>
              <a:srgbClr val="005088"/>
            </a:solidFill>
            <a:prstDash val="solid"/>
          </a:ln>
        </p:spPr>
      </p:sp>
      <p:sp>
        <p:nvSpPr>
          <p:cNvPr id="3" name="Shape 1"/>
          <p:cNvSpPr/>
          <p:nvPr/>
        </p:nvSpPr>
        <p:spPr>
          <a:xfrm>
            <a:off x="0" y="6729984"/>
            <a:ext cx="12191695" cy="128016"/>
          </a:xfrm>
          <a:prstGeom prst="rect">
            <a:avLst/>
          </a:prstGeom>
          <a:solidFill>
            <a:srgbClr val="005088"/>
          </a:solidFill>
          <a:ln w="12700">
            <a:solidFill>
              <a:srgbClr val="005088"/>
            </a:solidFill>
            <a:prstDash val="solid"/>
          </a:ln>
        </p:spPr>
      </p:sp>
      <p:sp>
        <p:nvSpPr>
          <p:cNvPr id="4" name="Text 2"/>
          <p:cNvSpPr/>
          <p:nvPr/>
        </p:nvSpPr>
        <p:spPr>
          <a:xfrm>
            <a:off x="502920" y="210312"/>
            <a:ext cx="6858000" cy="219456"/>
          </a:xfrm>
          <a:prstGeom prst="rect">
            <a:avLst/>
          </a:prstGeom>
          <a:noFill/>
          <a:ln/>
        </p:spPr>
        <p:txBody>
          <a:bodyPr wrap="square" lIns="0" tIns="0" rIns="0" bIns="0" rtlCol="0" anchor="ctr"/>
          <a:lstStyle/>
          <a:p>
            <a:pPr indent="0" marL="0">
              <a:buNone/>
            </a:pPr>
            <a:r>
              <a:rPr lang="en-US" sz="950" b="1" dirty="0">
                <a:solidFill>
                  <a:srgbClr val="3D5A80"/>
                </a:solidFill>
                <a:latin typeface="Aptos" pitchFamily="34" charset="0"/>
                <a:ea typeface="Aptos" pitchFamily="34" charset="-122"/>
                <a:cs typeface="Aptos" pitchFamily="34" charset="-120"/>
              </a:rPr>
              <a:t>Chapter 8 Summary</a:t>
            </a:r>
            <a:endParaRPr lang="en-US" sz="950" dirty="0"/>
          </a:p>
        </p:txBody>
      </p:sp>
      <p:sp>
        <p:nvSpPr>
          <p:cNvPr id="5" name="Text 3"/>
          <p:cNvSpPr/>
          <p:nvPr/>
        </p:nvSpPr>
        <p:spPr>
          <a:xfrm>
            <a:off x="11018520" y="201168"/>
            <a:ext cx="640080" cy="228600"/>
          </a:xfrm>
          <a:prstGeom prst="rect">
            <a:avLst/>
          </a:prstGeom>
          <a:noFill/>
          <a:ln/>
        </p:spPr>
        <p:txBody>
          <a:bodyPr wrap="square" lIns="0" tIns="0" rIns="0" bIns="0" rtlCol="0" anchor="ctr"/>
          <a:lstStyle/>
          <a:p>
            <a:pPr algn="r" indent="0" marL="0">
              <a:buNone/>
            </a:pPr>
            <a:r>
              <a:rPr lang="en-US" sz="900" b="1" dirty="0">
                <a:solidFill>
                  <a:srgbClr val="3D5A80"/>
                </a:solidFill>
              </a:rPr>
              <a:t>106</a:t>
            </a:r>
            <a:endParaRPr lang="en-US" sz="900" dirty="0"/>
          </a:p>
        </p:txBody>
      </p:sp>
      <p:sp>
        <p:nvSpPr>
          <p:cNvPr id="6" name="Text 4"/>
          <p:cNvSpPr/>
          <p:nvPr/>
        </p:nvSpPr>
        <p:spPr>
          <a:xfrm>
            <a:off x="502920" y="566928"/>
            <a:ext cx="11201400" cy="512064"/>
          </a:xfrm>
          <a:prstGeom prst="rect">
            <a:avLst/>
          </a:prstGeom>
          <a:noFill/>
          <a:ln/>
        </p:spPr>
        <p:txBody>
          <a:bodyPr wrap="square" lIns="0" tIns="0" rIns="0" bIns="0" rtlCol="0" anchor="ctr">
            <a:normAutofit/>
          </a:bodyPr>
          <a:lstStyle/>
          <a:p>
            <a:pPr indent="0" marL="0">
              <a:buNone/>
            </a:pPr>
            <a:r>
              <a:rPr lang="en-US" sz="2650" b="1" dirty="0">
                <a:solidFill>
                  <a:srgbClr val="005088"/>
                </a:solidFill>
                <a:latin typeface="Aptos Display" pitchFamily="34" charset="0"/>
                <a:ea typeface="Aptos Display" pitchFamily="34" charset="-122"/>
                <a:cs typeface="Aptos Display" pitchFamily="34" charset="-120"/>
              </a:rPr>
              <a:t>WHY THIS MATTERS FOR INTELLIGENT AGENTS</a:t>
            </a:r>
            <a:endParaRPr lang="en-US" sz="2650" dirty="0"/>
          </a:p>
        </p:txBody>
      </p:sp>
      <p:sp>
        <p:nvSpPr>
          <p:cNvPr id="7" name="Shape 5"/>
          <p:cNvSpPr/>
          <p:nvPr/>
        </p:nvSpPr>
        <p:spPr>
          <a:xfrm>
            <a:off x="502920" y="1188720"/>
            <a:ext cx="11109960" cy="0"/>
          </a:xfrm>
          <a:prstGeom prst="line">
            <a:avLst/>
          </a:prstGeom>
          <a:noFill/>
          <a:ln w="12700">
            <a:solidFill>
              <a:srgbClr val="3D5A80"/>
            </a:solidFill>
            <a:prstDash val="solid"/>
          </a:ln>
        </p:spPr>
      </p:sp>
      <p:sp>
        <p:nvSpPr>
          <p:cNvPr id="8" name="Text 6"/>
          <p:cNvSpPr/>
          <p:nvPr/>
        </p:nvSpPr>
        <p:spPr>
          <a:xfrm>
            <a:off x="713232" y="1572768"/>
            <a:ext cx="5440680" cy="4251960"/>
          </a:xfrm>
          <a:prstGeom prst="rect">
            <a:avLst/>
          </a:prstGeom>
          <a:noFill/>
          <a:ln/>
        </p:spPr>
        <p:txBody>
          <a:bodyPr wrap="square" lIns="1016" tIns="1016" rIns="1016" bIns="1016" rtlCol="0" anchor="t">
            <a:normAutofit/>
          </a:bodyPr>
          <a:lstStyle/>
          <a:p>
            <a:pPr indent="0" marL="0">
              <a:buNone/>
            </a:pPr>
            <a:r>
              <a:rPr lang="en-US" sz="1650" dirty="0">
                <a:solidFill>
                  <a:srgbClr val="1E293B"/>
                </a:solidFill>
                <a:latin typeface="Aptos" pitchFamily="34" charset="0"/>
                <a:ea typeface="Aptos" pitchFamily="34" charset="-122"/>
                <a:cs typeface="Aptos" pitchFamily="34" charset="-120"/>
              </a:rPr>
              <a:t>• Agents need knowledge, not only search procedures</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First-order logic lets agents state general rules</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Inference derives new facts from represented knowledge</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Knowledge engineering connects Artificial Intelligence to real domains</a:t>
            </a:r>
            <a:endParaRPr lang="en-US" sz="1650" dirty="0"/>
          </a:p>
        </p:txBody>
      </p:sp>
      <p:sp>
        <p:nvSpPr>
          <p:cNvPr id="9" name="Shape 7"/>
          <p:cNvSpPr/>
          <p:nvPr/>
        </p:nvSpPr>
        <p:spPr>
          <a:xfrm>
            <a:off x="6446520" y="1572768"/>
            <a:ext cx="5074920" cy="1234440"/>
          </a:xfrm>
          <a:prstGeom prst="roundRect">
            <a:avLst>
              <a:gd name="adj" fmla="val 5926"/>
            </a:avLst>
          </a:prstGeom>
          <a:solidFill>
            <a:srgbClr val="FFF6D9"/>
          </a:solidFill>
          <a:ln w="12700">
            <a:solidFill>
              <a:srgbClr val="F4A261"/>
            </a:solidFill>
            <a:prstDash val="solid"/>
          </a:ln>
        </p:spPr>
      </p:sp>
      <p:sp>
        <p:nvSpPr>
          <p:cNvPr id="10" name="Text 8"/>
          <p:cNvSpPr/>
          <p:nvPr/>
        </p:nvSpPr>
        <p:spPr>
          <a:xfrm>
            <a:off x="6629400" y="1709928"/>
            <a:ext cx="4709160" cy="219456"/>
          </a:xfrm>
          <a:prstGeom prst="rect">
            <a:avLst/>
          </a:prstGeom>
          <a:noFill/>
          <a:ln/>
        </p:spPr>
        <p:txBody>
          <a:bodyPr wrap="square" lIns="0" tIns="0" rIns="0" bIns="0" rtlCol="0" anchor="ctr"/>
          <a:lstStyle/>
          <a:p>
            <a:pPr indent="0" marL="0">
              <a:buNone/>
            </a:pPr>
            <a:r>
              <a:rPr lang="en-US" sz="950" b="1" dirty="0">
                <a:solidFill>
                  <a:srgbClr val="B0005D"/>
                </a:solidFill>
              </a:rPr>
              <a:t>ANALOGY</a:t>
            </a:r>
            <a:endParaRPr lang="en-US" sz="950" dirty="0"/>
          </a:p>
        </p:txBody>
      </p:sp>
      <p:sp>
        <p:nvSpPr>
          <p:cNvPr id="11" name="Text 9"/>
          <p:cNvSpPr/>
          <p:nvPr/>
        </p:nvSpPr>
        <p:spPr>
          <a:xfrm>
            <a:off x="6629400" y="1984248"/>
            <a:ext cx="4709160" cy="731520"/>
          </a:xfrm>
          <a:prstGeom prst="rect">
            <a:avLst/>
          </a:prstGeom>
          <a:noFill/>
          <a:ln/>
        </p:spPr>
        <p:txBody>
          <a:bodyPr wrap="square" lIns="254" tIns="254" rIns="254" bIns="254" rtlCol="0" anchor="t">
            <a:normAutofit/>
          </a:bodyPr>
          <a:lstStyle/>
          <a:p>
            <a:pPr indent="0" marL="0">
              <a:buNone/>
            </a:pPr>
            <a:r>
              <a:rPr lang="en-US" sz="1330" dirty="0">
                <a:solidFill>
                  <a:srgbClr val="1E293B"/>
                </a:solidFill>
              </a:rPr>
              <a:t>A delivery robot needs more than a path. It needs to know doors, rooms, people, permissions, hazards, and relationships.</a:t>
            </a:r>
            <a:endParaRPr lang="en-US" sz="1330" dirty="0"/>
          </a:p>
        </p:txBody>
      </p:sp>
      <p:sp>
        <p:nvSpPr>
          <p:cNvPr id="12" name="Shape 10"/>
          <p:cNvSpPr/>
          <p:nvPr/>
        </p:nvSpPr>
        <p:spPr>
          <a:xfrm>
            <a:off x="6446520" y="2999232"/>
            <a:ext cx="5074920" cy="841248"/>
          </a:xfrm>
          <a:prstGeom prst="roundRect">
            <a:avLst>
              <a:gd name="adj" fmla="val 8696"/>
            </a:avLst>
          </a:prstGeom>
          <a:solidFill>
            <a:srgbClr val="FFFFFF">
              <a:alpha val="97000"/>
            </a:srgbClr>
          </a:solidFill>
          <a:ln w="12700">
            <a:solidFill>
              <a:srgbClr val="007C89"/>
            </a:solidFill>
            <a:prstDash val="solid"/>
          </a:ln>
        </p:spPr>
      </p:sp>
      <p:sp>
        <p:nvSpPr>
          <p:cNvPr id="13" name="Text 11"/>
          <p:cNvSpPr/>
          <p:nvPr/>
        </p:nvSpPr>
        <p:spPr>
          <a:xfrm>
            <a:off x="6611112" y="3127248"/>
            <a:ext cx="4745736" cy="658368"/>
          </a:xfrm>
          <a:prstGeom prst="rect">
            <a:avLst/>
          </a:prstGeom>
          <a:noFill/>
          <a:ln/>
        </p:spPr>
        <p:txBody>
          <a:bodyPr wrap="square" lIns="0" tIns="0" rIns="0" bIns="0" rtlCol="0" anchor="ctr">
            <a:normAutofit/>
          </a:bodyPr>
          <a:lstStyle/>
          <a:p>
            <a:pPr algn="ctr" indent="0" marL="0">
              <a:buNone/>
            </a:pPr>
            <a:r>
              <a:rPr lang="en-US" sz="2000" b="1" dirty="0">
                <a:solidFill>
                  <a:srgbClr val="005088"/>
                </a:solidFill>
                <a:latin typeface="Cambria Math" pitchFamily="34" charset="0"/>
                <a:ea typeface="Cambria Math" pitchFamily="34" charset="-122"/>
                <a:cs typeface="Cambria Math" pitchFamily="34" charset="-120"/>
              </a:rPr>
              <a:t>representation → inference → action</a:t>
            </a:r>
            <a:endParaRPr lang="en-US" sz="2000" dirty="0"/>
          </a:p>
        </p:txBody>
      </p:sp>
      <p:sp>
        <p:nvSpPr>
          <p:cNvPr id="14" name="Shape 12"/>
          <p:cNvSpPr/>
          <p:nvPr/>
        </p:nvSpPr>
        <p:spPr>
          <a:xfrm>
            <a:off x="6446520" y="4041648"/>
            <a:ext cx="5074920" cy="859536"/>
          </a:xfrm>
          <a:prstGeom prst="roundRect">
            <a:avLst>
              <a:gd name="adj" fmla="val 8511"/>
            </a:avLst>
          </a:prstGeom>
          <a:solidFill>
            <a:srgbClr val="FFE4E6"/>
          </a:solidFill>
          <a:ln w="12700">
            <a:solidFill>
              <a:srgbClr val="FDA4AF"/>
            </a:solidFill>
            <a:prstDash val="solid"/>
          </a:ln>
        </p:spPr>
      </p:sp>
      <p:sp>
        <p:nvSpPr>
          <p:cNvPr id="15" name="Text 13"/>
          <p:cNvSpPr/>
          <p:nvPr/>
        </p:nvSpPr>
        <p:spPr>
          <a:xfrm>
            <a:off x="6629400" y="4178808"/>
            <a:ext cx="4709160" cy="219456"/>
          </a:xfrm>
          <a:prstGeom prst="rect">
            <a:avLst/>
          </a:prstGeom>
          <a:noFill/>
          <a:ln/>
        </p:spPr>
        <p:txBody>
          <a:bodyPr wrap="square" lIns="0" tIns="0" rIns="0" bIns="0" rtlCol="0" anchor="ctr"/>
          <a:lstStyle/>
          <a:p>
            <a:pPr indent="0" marL="0">
              <a:buNone/>
            </a:pPr>
            <a:r>
              <a:rPr lang="en-US" sz="950" b="1" dirty="0">
                <a:solidFill>
                  <a:srgbClr val="C1121F"/>
                </a:solidFill>
              </a:rPr>
              <a:t>STUDENT GOTCHA</a:t>
            </a:r>
            <a:endParaRPr lang="en-US" sz="950" dirty="0"/>
          </a:p>
        </p:txBody>
      </p:sp>
      <p:sp>
        <p:nvSpPr>
          <p:cNvPr id="16" name="Text 14"/>
          <p:cNvSpPr/>
          <p:nvPr/>
        </p:nvSpPr>
        <p:spPr>
          <a:xfrm>
            <a:off x="6629400" y="4453128"/>
            <a:ext cx="4709160" cy="356616"/>
          </a:xfrm>
          <a:prstGeom prst="rect">
            <a:avLst/>
          </a:prstGeom>
          <a:noFill/>
          <a:ln/>
        </p:spPr>
        <p:txBody>
          <a:bodyPr wrap="square" lIns="254" tIns="254" rIns="254" bIns="254" rtlCol="0" anchor="t">
            <a:normAutofit/>
          </a:bodyPr>
          <a:lstStyle/>
          <a:p>
            <a:pPr indent="0" marL="0">
              <a:buNone/>
            </a:pPr>
            <a:r>
              <a:rPr lang="en-US" sz="1250" dirty="0">
                <a:solidFill>
                  <a:srgbClr val="1E293B"/>
                </a:solidFill>
              </a:rPr>
              <a:t>A well-designed knowledge representation can make later decisions easier; a poor one can make simple reasoning impossible.</a:t>
            </a:r>
            <a:endParaRPr lang="en-US" sz="1250" dirty="0"/>
          </a:p>
        </p:txBody>
      </p:sp>
      <p:sp>
        <p:nvSpPr>
          <p:cNvPr id="17" name="Shape 15"/>
          <p:cNvSpPr/>
          <p:nvPr/>
        </p:nvSpPr>
        <p:spPr>
          <a:xfrm>
            <a:off x="6446520" y="5074920"/>
            <a:ext cx="5074920" cy="841248"/>
          </a:xfrm>
          <a:prstGeom prst="roundRect">
            <a:avLst>
              <a:gd name="adj" fmla="val 8696"/>
            </a:avLst>
          </a:prstGeom>
          <a:solidFill>
            <a:srgbClr val="E6FFFA"/>
          </a:solidFill>
          <a:ln w="12700">
            <a:solidFill>
              <a:srgbClr val="2A9D8F"/>
            </a:solidFill>
            <a:prstDash val="solid"/>
          </a:ln>
        </p:spPr>
      </p:sp>
      <p:sp>
        <p:nvSpPr>
          <p:cNvPr id="18" name="Text 16"/>
          <p:cNvSpPr/>
          <p:nvPr/>
        </p:nvSpPr>
        <p:spPr>
          <a:xfrm>
            <a:off x="6629400" y="5212080"/>
            <a:ext cx="4709160" cy="219456"/>
          </a:xfrm>
          <a:prstGeom prst="rect">
            <a:avLst/>
          </a:prstGeom>
          <a:noFill/>
          <a:ln/>
        </p:spPr>
        <p:txBody>
          <a:bodyPr wrap="square" lIns="0" tIns="0" rIns="0" bIns="0" rtlCol="0" anchor="ctr"/>
          <a:lstStyle/>
          <a:p>
            <a:pPr indent="0" marL="0">
              <a:buNone/>
            </a:pPr>
            <a:r>
              <a:rPr lang="en-US" sz="950" b="1" dirty="0">
                <a:solidFill>
                  <a:srgbClr val="007C89"/>
                </a:solidFill>
              </a:rPr>
              <a:t>CLASS CHECK</a:t>
            </a:r>
            <a:endParaRPr lang="en-US" sz="950" dirty="0"/>
          </a:p>
        </p:txBody>
      </p:sp>
      <p:sp>
        <p:nvSpPr>
          <p:cNvPr id="19" name="Text 17"/>
          <p:cNvSpPr/>
          <p:nvPr/>
        </p:nvSpPr>
        <p:spPr>
          <a:xfrm>
            <a:off x="6629400" y="5486400"/>
            <a:ext cx="4709160" cy="338328"/>
          </a:xfrm>
          <a:prstGeom prst="rect">
            <a:avLst/>
          </a:prstGeom>
          <a:noFill/>
          <a:ln/>
        </p:spPr>
        <p:txBody>
          <a:bodyPr wrap="square" lIns="254" tIns="254" rIns="254" bIns="254" rtlCol="0" anchor="t">
            <a:normAutofit/>
          </a:bodyPr>
          <a:lstStyle/>
          <a:p>
            <a:pPr indent="0" marL="0">
              <a:buNone/>
            </a:pPr>
            <a:r>
              <a:rPr lang="en-US" sz="1270" dirty="0">
                <a:solidFill>
                  <a:srgbClr val="1E293B"/>
                </a:solidFill>
              </a:rPr>
              <a:t>Ask which parts of a campus robot’s world require objects and relations.</a:t>
            </a:r>
            <a:endParaRPr lang="en-US" sz="1270"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5088"/>
          </a:solidFill>
          <a:ln w="12700">
            <a:solidFill>
              <a:srgbClr val="005088"/>
            </a:solidFill>
            <a:prstDash val="solid"/>
          </a:ln>
        </p:spPr>
      </p:sp>
      <p:sp>
        <p:nvSpPr>
          <p:cNvPr id="3" name="Shape 1"/>
          <p:cNvSpPr/>
          <p:nvPr/>
        </p:nvSpPr>
        <p:spPr>
          <a:xfrm>
            <a:off x="0" y="6729984"/>
            <a:ext cx="12191695" cy="128016"/>
          </a:xfrm>
          <a:prstGeom prst="rect">
            <a:avLst/>
          </a:prstGeom>
          <a:solidFill>
            <a:srgbClr val="005088"/>
          </a:solidFill>
          <a:ln w="12700">
            <a:solidFill>
              <a:srgbClr val="005088"/>
            </a:solidFill>
            <a:prstDash val="solid"/>
          </a:ln>
        </p:spPr>
      </p:sp>
      <p:sp>
        <p:nvSpPr>
          <p:cNvPr id="4" name="Text 2"/>
          <p:cNvSpPr/>
          <p:nvPr/>
        </p:nvSpPr>
        <p:spPr>
          <a:xfrm>
            <a:off x="502920" y="210312"/>
            <a:ext cx="6858000" cy="219456"/>
          </a:xfrm>
          <a:prstGeom prst="rect">
            <a:avLst/>
          </a:prstGeom>
          <a:noFill/>
          <a:ln/>
        </p:spPr>
        <p:txBody>
          <a:bodyPr wrap="square" lIns="0" tIns="0" rIns="0" bIns="0" rtlCol="0" anchor="ctr"/>
          <a:lstStyle/>
          <a:p>
            <a:pPr indent="0" marL="0">
              <a:buNone/>
            </a:pPr>
            <a:r>
              <a:rPr lang="en-US" sz="950" b="1" dirty="0">
                <a:solidFill>
                  <a:srgbClr val="3D5A80"/>
                </a:solidFill>
                <a:latin typeface="Aptos" pitchFamily="34" charset="0"/>
                <a:ea typeface="Aptos" pitchFamily="34" charset="-122"/>
                <a:cs typeface="Aptos" pitchFamily="34" charset="-120"/>
              </a:rPr>
              <a:t>Chapter 8 Summary</a:t>
            </a:r>
            <a:endParaRPr lang="en-US" sz="950" dirty="0"/>
          </a:p>
        </p:txBody>
      </p:sp>
      <p:sp>
        <p:nvSpPr>
          <p:cNvPr id="5" name="Text 3"/>
          <p:cNvSpPr/>
          <p:nvPr/>
        </p:nvSpPr>
        <p:spPr>
          <a:xfrm>
            <a:off x="11018520" y="201168"/>
            <a:ext cx="640080" cy="228600"/>
          </a:xfrm>
          <a:prstGeom prst="rect">
            <a:avLst/>
          </a:prstGeom>
          <a:noFill/>
          <a:ln/>
        </p:spPr>
        <p:txBody>
          <a:bodyPr wrap="square" lIns="0" tIns="0" rIns="0" bIns="0" rtlCol="0" anchor="ctr"/>
          <a:lstStyle/>
          <a:p>
            <a:pPr algn="r" indent="0" marL="0">
              <a:buNone/>
            </a:pPr>
            <a:r>
              <a:rPr lang="en-US" sz="900" b="1" dirty="0">
                <a:solidFill>
                  <a:srgbClr val="3D5A80"/>
                </a:solidFill>
              </a:rPr>
              <a:t>107</a:t>
            </a:r>
            <a:endParaRPr lang="en-US" sz="900" dirty="0"/>
          </a:p>
        </p:txBody>
      </p:sp>
      <p:sp>
        <p:nvSpPr>
          <p:cNvPr id="6" name="Text 4"/>
          <p:cNvSpPr/>
          <p:nvPr/>
        </p:nvSpPr>
        <p:spPr>
          <a:xfrm>
            <a:off x="502920" y="566928"/>
            <a:ext cx="11201400" cy="512064"/>
          </a:xfrm>
          <a:prstGeom prst="rect">
            <a:avLst/>
          </a:prstGeom>
          <a:noFill/>
          <a:ln/>
        </p:spPr>
        <p:txBody>
          <a:bodyPr wrap="square" lIns="0" tIns="0" rIns="0" bIns="0" rtlCol="0" anchor="ctr">
            <a:normAutofit/>
          </a:bodyPr>
          <a:lstStyle/>
          <a:p>
            <a:pPr indent="0" marL="0">
              <a:buNone/>
            </a:pPr>
            <a:r>
              <a:rPr lang="en-US" sz="2650" b="1" dirty="0">
                <a:solidFill>
                  <a:srgbClr val="005088"/>
                </a:solidFill>
                <a:latin typeface="Aptos Display" pitchFamily="34" charset="0"/>
                <a:ea typeface="Aptos Display" pitchFamily="34" charset="-122"/>
                <a:cs typeface="Aptos Display" pitchFamily="34" charset="-120"/>
              </a:rPr>
              <a:t>CHAPTER 8 SUMMARY AND REVIEW</a:t>
            </a:r>
            <a:endParaRPr lang="en-US" sz="2650" dirty="0"/>
          </a:p>
        </p:txBody>
      </p:sp>
      <p:sp>
        <p:nvSpPr>
          <p:cNvPr id="7" name="Shape 5"/>
          <p:cNvSpPr/>
          <p:nvPr/>
        </p:nvSpPr>
        <p:spPr>
          <a:xfrm>
            <a:off x="502920" y="1188720"/>
            <a:ext cx="11109960" cy="0"/>
          </a:xfrm>
          <a:prstGeom prst="line">
            <a:avLst/>
          </a:prstGeom>
          <a:noFill/>
          <a:ln w="12700">
            <a:solidFill>
              <a:srgbClr val="3D5A80"/>
            </a:solidFill>
            <a:prstDash val="solid"/>
          </a:ln>
        </p:spPr>
      </p:sp>
      <p:sp>
        <p:nvSpPr>
          <p:cNvPr id="8" name="Text 6"/>
          <p:cNvSpPr/>
          <p:nvPr/>
        </p:nvSpPr>
        <p:spPr>
          <a:xfrm>
            <a:off x="713232" y="1572768"/>
            <a:ext cx="10744200" cy="3886200"/>
          </a:xfrm>
          <a:prstGeom prst="rect">
            <a:avLst/>
          </a:prstGeom>
          <a:noFill/>
          <a:ln/>
        </p:spPr>
        <p:txBody>
          <a:bodyPr wrap="square" lIns="1016" tIns="1016" rIns="1016" bIns="1016" rtlCol="0" anchor="t">
            <a:normAutofit/>
          </a:bodyPr>
          <a:lstStyle/>
          <a:p>
            <a:pPr indent="0" marL="0">
              <a:buNone/>
            </a:pPr>
            <a:r>
              <a:rPr lang="en-US" sz="1650" dirty="0">
                <a:solidFill>
                  <a:srgbClr val="1E293B"/>
                </a:solidFill>
                <a:latin typeface="Aptos" pitchFamily="34" charset="0"/>
                <a:ea typeface="Aptos" pitchFamily="34" charset="-122"/>
                <a:cs typeface="Aptos" pitchFamily="34" charset="-120"/>
              </a:rPr>
              <a:t>• First-order logic represents objects, relations, functions, and quantified rules</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A model contains a domain and an interpretation that gives symbols meaning</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Terms refer to objects; sentences are true or false in a model</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Universal and existential quantifiers express all and some objects</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Quantifier order and connective choice can completely change meaning</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Database semantics adds useful assumptions for complete records</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Knowledge engineering turns domain expertise into a queryable knowledge base</a:t>
            </a:r>
            <a:endParaRPr lang="en-US" sz="1650" dirty="0"/>
          </a:p>
        </p:txBody>
      </p:sp>
      <p:sp>
        <p:nvSpPr>
          <p:cNvPr id="9" name="Shape 7"/>
          <p:cNvSpPr/>
          <p:nvPr/>
        </p:nvSpPr>
        <p:spPr>
          <a:xfrm>
            <a:off x="777240" y="4846320"/>
            <a:ext cx="10652760" cy="749808"/>
          </a:xfrm>
          <a:prstGeom prst="roundRect">
            <a:avLst>
              <a:gd name="adj" fmla="val 9756"/>
            </a:avLst>
          </a:prstGeom>
          <a:solidFill>
            <a:srgbClr val="FFFFFF">
              <a:alpha val="97000"/>
            </a:srgbClr>
          </a:solidFill>
          <a:ln w="12700">
            <a:solidFill>
              <a:srgbClr val="007C89"/>
            </a:solidFill>
            <a:prstDash val="solid"/>
          </a:ln>
        </p:spPr>
      </p:sp>
      <p:sp>
        <p:nvSpPr>
          <p:cNvPr id="10" name="Text 8"/>
          <p:cNvSpPr/>
          <p:nvPr/>
        </p:nvSpPr>
        <p:spPr>
          <a:xfrm>
            <a:off x="941832" y="4974336"/>
            <a:ext cx="10323576" cy="566928"/>
          </a:xfrm>
          <a:prstGeom prst="rect">
            <a:avLst/>
          </a:prstGeom>
          <a:noFill/>
          <a:ln/>
        </p:spPr>
        <p:txBody>
          <a:bodyPr wrap="square" lIns="0" tIns="0" rIns="0" bIns="0" rtlCol="0" anchor="ctr">
            <a:normAutofit/>
          </a:bodyPr>
          <a:lstStyle/>
          <a:p>
            <a:pPr algn="ctr" indent="0" marL="0">
              <a:buNone/>
            </a:pPr>
            <a:r>
              <a:rPr lang="en-US" sz="1600" b="1" dirty="0">
                <a:solidFill>
                  <a:srgbClr val="005088"/>
                </a:solidFill>
                <a:latin typeface="Cambria Math" pitchFamily="34" charset="0"/>
                <a:ea typeface="Cambria Math" pitchFamily="34" charset="-122"/>
                <a:cs typeface="Cambria Math" pitchFamily="34" charset="-120"/>
              </a:rPr>
              <a:t>Big analogy: first-order logic is a blueprint language for knowledge.</a:t>
            </a:r>
            <a:endParaRPr lang="en-US" sz="1600"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5088"/>
          </a:solidFill>
          <a:ln w="12700">
            <a:solidFill>
              <a:srgbClr val="005088"/>
            </a:solidFill>
            <a:prstDash val="solid"/>
          </a:ln>
        </p:spPr>
      </p:sp>
      <p:sp>
        <p:nvSpPr>
          <p:cNvPr id="3" name="Shape 1"/>
          <p:cNvSpPr/>
          <p:nvPr/>
        </p:nvSpPr>
        <p:spPr>
          <a:xfrm>
            <a:off x="0" y="6729984"/>
            <a:ext cx="12191695" cy="128016"/>
          </a:xfrm>
          <a:prstGeom prst="rect">
            <a:avLst/>
          </a:prstGeom>
          <a:solidFill>
            <a:srgbClr val="005088"/>
          </a:solidFill>
          <a:ln w="12700">
            <a:solidFill>
              <a:srgbClr val="005088"/>
            </a:solidFill>
            <a:prstDash val="solid"/>
          </a:ln>
        </p:spPr>
      </p:sp>
      <p:sp>
        <p:nvSpPr>
          <p:cNvPr id="4" name="Text 2"/>
          <p:cNvSpPr/>
          <p:nvPr/>
        </p:nvSpPr>
        <p:spPr>
          <a:xfrm>
            <a:off x="502920" y="210312"/>
            <a:ext cx="6858000" cy="219456"/>
          </a:xfrm>
          <a:prstGeom prst="rect">
            <a:avLst/>
          </a:prstGeom>
          <a:noFill/>
          <a:ln/>
        </p:spPr>
        <p:txBody>
          <a:bodyPr wrap="square" lIns="0" tIns="0" rIns="0" bIns="0" rtlCol="0" anchor="ctr"/>
          <a:lstStyle/>
          <a:p>
            <a:pPr indent="0" marL="0">
              <a:buNone/>
            </a:pPr>
            <a:r>
              <a:rPr lang="en-US" sz="950" b="1" dirty="0">
                <a:solidFill>
                  <a:srgbClr val="3D5A80"/>
                </a:solidFill>
                <a:latin typeface="Aptos" pitchFamily="34" charset="0"/>
                <a:ea typeface="Aptos" pitchFamily="34" charset="-122"/>
                <a:cs typeface="Aptos" pitchFamily="34" charset="-120"/>
              </a:rPr>
              <a:t>Practice and review</a:t>
            </a:r>
            <a:endParaRPr lang="en-US" sz="950" dirty="0"/>
          </a:p>
        </p:txBody>
      </p:sp>
      <p:sp>
        <p:nvSpPr>
          <p:cNvPr id="5" name="Text 3"/>
          <p:cNvSpPr/>
          <p:nvPr/>
        </p:nvSpPr>
        <p:spPr>
          <a:xfrm>
            <a:off x="11018520" y="201168"/>
            <a:ext cx="640080" cy="228600"/>
          </a:xfrm>
          <a:prstGeom prst="rect">
            <a:avLst/>
          </a:prstGeom>
          <a:noFill/>
          <a:ln/>
        </p:spPr>
        <p:txBody>
          <a:bodyPr wrap="square" lIns="0" tIns="0" rIns="0" bIns="0" rtlCol="0" anchor="ctr"/>
          <a:lstStyle/>
          <a:p>
            <a:pPr algn="r" indent="0" marL="0">
              <a:buNone/>
            </a:pPr>
            <a:r>
              <a:rPr lang="en-US" sz="900" b="1" dirty="0">
                <a:solidFill>
                  <a:srgbClr val="3D5A80"/>
                </a:solidFill>
              </a:rPr>
              <a:t>108</a:t>
            </a:r>
            <a:endParaRPr lang="en-US" sz="900" dirty="0"/>
          </a:p>
        </p:txBody>
      </p:sp>
      <p:sp>
        <p:nvSpPr>
          <p:cNvPr id="6" name="Text 4"/>
          <p:cNvSpPr/>
          <p:nvPr/>
        </p:nvSpPr>
        <p:spPr>
          <a:xfrm>
            <a:off x="502920" y="566928"/>
            <a:ext cx="11201400" cy="512064"/>
          </a:xfrm>
          <a:prstGeom prst="rect">
            <a:avLst/>
          </a:prstGeom>
          <a:noFill/>
          <a:ln/>
        </p:spPr>
        <p:txBody>
          <a:bodyPr wrap="square" lIns="0" tIns="0" rIns="0" bIns="0" rtlCol="0" anchor="ctr">
            <a:normAutofit/>
          </a:bodyPr>
          <a:lstStyle/>
          <a:p>
            <a:pPr indent="0" marL="0">
              <a:buNone/>
            </a:pPr>
            <a:r>
              <a:rPr lang="en-US" sz="2650" b="1" dirty="0">
                <a:solidFill>
                  <a:srgbClr val="005088"/>
                </a:solidFill>
                <a:latin typeface="Aptos Display" pitchFamily="34" charset="0"/>
                <a:ea typeface="Aptos Display" pitchFamily="34" charset="-122"/>
                <a:cs typeface="Aptos Display" pitchFamily="34" charset="-120"/>
              </a:rPr>
              <a:t>FIVE-MINUTE EXIT TICKET</a:t>
            </a:r>
            <a:endParaRPr lang="en-US" sz="2650" dirty="0"/>
          </a:p>
        </p:txBody>
      </p:sp>
      <p:sp>
        <p:nvSpPr>
          <p:cNvPr id="7" name="Shape 5"/>
          <p:cNvSpPr/>
          <p:nvPr/>
        </p:nvSpPr>
        <p:spPr>
          <a:xfrm>
            <a:off x="502920" y="1188720"/>
            <a:ext cx="11109960" cy="0"/>
          </a:xfrm>
          <a:prstGeom prst="line">
            <a:avLst/>
          </a:prstGeom>
          <a:noFill/>
          <a:ln w="12700">
            <a:solidFill>
              <a:srgbClr val="3D5A80"/>
            </a:solidFill>
            <a:prstDash val="solid"/>
          </a:ln>
        </p:spPr>
      </p:sp>
      <p:sp>
        <p:nvSpPr>
          <p:cNvPr id="8" name="Text 6"/>
          <p:cNvSpPr/>
          <p:nvPr/>
        </p:nvSpPr>
        <p:spPr>
          <a:xfrm>
            <a:off x="713232" y="1572768"/>
            <a:ext cx="10744200" cy="3886200"/>
          </a:xfrm>
          <a:prstGeom prst="rect">
            <a:avLst/>
          </a:prstGeom>
          <a:noFill/>
          <a:ln/>
        </p:spPr>
        <p:txBody>
          <a:bodyPr wrap="square" lIns="1016" tIns="1016" rIns="1016" bIns="1016" rtlCol="0" anchor="t">
            <a:normAutofit/>
          </a:bodyPr>
          <a:lstStyle/>
          <a:p>
            <a:pPr indent="0" marL="0">
              <a:buNone/>
            </a:pPr>
            <a:r>
              <a:rPr lang="en-US" sz="1650" dirty="0">
                <a:solidFill>
                  <a:srgbClr val="1E293B"/>
                </a:solidFill>
                <a:latin typeface="Aptos" pitchFamily="34" charset="0"/>
                <a:ea typeface="Aptos" pitchFamily="34" charset="-122"/>
                <a:cs typeface="Aptos" pitchFamily="34" charset="-120"/>
              </a:rPr>
              <a:t>• Translate: “Every course has an instructor.”</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Translate: “Some student is enrolled in Computer Science 469.”</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Explain why ∀x ∃y Advisor(x,y) differs from ∃y ∀x Advisor(x,y).</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Name one database semantics assumption.</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Write one test query for the circuit knowledge base.</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Explain the difference between a term and an atomic sentence.</a:t>
            </a:r>
            <a:endParaRPr lang="en-US" sz="1650" dirty="0"/>
          </a:p>
        </p:txBody>
      </p:sp>
      <p:sp>
        <p:nvSpPr>
          <p:cNvPr id="9" name="Shape 7"/>
          <p:cNvSpPr/>
          <p:nvPr/>
        </p:nvSpPr>
        <p:spPr>
          <a:xfrm>
            <a:off x="777240" y="4846320"/>
            <a:ext cx="10652760" cy="749808"/>
          </a:xfrm>
          <a:prstGeom prst="roundRect">
            <a:avLst>
              <a:gd name="adj" fmla="val 9756"/>
            </a:avLst>
          </a:prstGeom>
          <a:solidFill>
            <a:srgbClr val="FFFFFF">
              <a:alpha val="97000"/>
            </a:srgbClr>
          </a:solidFill>
          <a:ln w="12700">
            <a:solidFill>
              <a:srgbClr val="007C89"/>
            </a:solidFill>
            <a:prstDash val="solid"/>
          </a:ln>
        </p:spPr>
      </p:sp>
      <p:sp>
        <p:nvSpPr>
          <p:cNvPr id="10" name="Text 8"/>
          <p:cNvSpPr/>
          <p:nvPr/>
        </p:nvSpPr>
        <p:spPr>
          <a:xfrm>
            <a:off x="941832" y="4974336"/>
            <a:ext cx="10323576" cy="566928"/>
          </a:xfrm>
          <a:prstGeom prst="rect">
            <a:avLst/>
          </a:prstGeom>
          <a:noFill/>
          <a:ln/>
        </p:spPr>
        <p:txBody>
          <a:bodyPr wrap="square" lIns="0" tIns="0" rIns="0" bIns="0" rtlCol="0" anchor="ctr">
            <a:normAutofit/>
          </a:bodyPr>
          <a:lstStyle/>
          <a:p>
            <a:pPr algn="ctr" indent="0" marL="0">
              <a:buNone/>
            </a:pPr>
            <a:r>
              <a:rPr lang="en-US" sz="1600" b="1" dirty="0">
                <a:solidFill>
                  <a:srgbClr val="005088"/>
                </a:solidFill>
                <a:latin typeface="Cambria Math" pitchFamily="34" charset="0"/>
                <a:ea typeface="Cambria Math" pitchFamily="34" charset="-122"/>
                <a:cs typeface="Cambria Math" pitchFamily="34" charset="-120"/>
              </a:rPr>
              <a:t>Use this as a low-stakes diagnostic before Chapter 9.</a:t>
            </a:r>
            <a:endParaRPr lang="en-US" sz="1600"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5088"/>
          </a:solidFill>
          <a:ln w="12700">
            <a:solidFill>
              <a:srgbClr val="005088"/>
            </a:solidFill>
            <a:prstDash val="solid"/>
          </a:ln>
        </p:spPr>
      </p:sp>
      <p:sp>
        <p:nvSpPr>
          <p:cNvPr id="3" name="Shape 1"/>
          <p:cNvSpPr/>
          <p:nvPr/>
        </p:nvSpPr>
        <p:spPr>
          <a:xfrm>
            <a:off x="0" y="6729984"/>
            <a:ext cx="12191695" cy="128016"/>
          </a:xfrm>
          <a:prstGeom prst="rect">
            <a:avLst/>
          </a:prstGeom>
          <a:solidFill>
            <a:srgbClr val="005088"/>
          </a:solidFill>
          <a:ln w="12700">
            <a:solidFill>
              <a:srgbClr val="005088"/>
            </a:solidFill>
            <a:prstDash val="solid"/>
          </a:ln>
        </p:spPr>
      </p:sp>
      <p:sp>
        <p:nvSpPr>
          <p:cNvPr id="4" name="Text 2"/>
          <p:cNvSpPr/>
          <p:nvPr/>
        </p:nvSpPr>
        <p:spPr>
          <a:xfrm>
            <a:off x="502920" y="210312"/>
            <a:ext cx="6858000" cy="219456"/>
          </a:xfrm>
          <a:prstGeom prst="rect">
            <a:avLst/>
          </a:prstGeom>
          <a:noFill/>
          <a:ln/>
        </p:spPr>
        <p:txBody>
          <a:bodyPr wrap="square" lIns="0" tIns="0" rIns="0" bIns="0" rtlCol="0" anchor="ctr"/>
          <a:lstStyle/>
          <a:p>
            <a:pPr indent="0" marL="0">
              <a:buNone/>
            </a:pPr>
            <a:r>
              <a:rPr lang="en-US" sz="950" b="1" dirty="0">
                <a:solidFill>
                  <a:srgbClr val="3D5A80"/>
                </a:solidFill>
                <a:latin typeface="Aptos" pitchFamily="34" charset="0"/>
                <a:ea typeface="Aptos" pitchFamily="34" charset="-122"/>
                <a:cs typeface="Aptos" pitchFamily="34" charset="-120"/>
              </a:rPr>
              <a:t>Practice and review</a:t>
            </a:r>
            <a:endParaRPr lang="en-US" sz="950" dirty="0"/>
          </a:p>
        </p:txBody>
      </p:sp>
      <p:sp>
        <p:nvSpPr>
          <p:cNvPr id="5" name="Text 3"/>
          <p:cNvSpPr/>
          <p:nvPr/>
        </p:nvSpPr>
        <p:spPr>
          <a:xfrm>
            <a:off x="11018520" y="201168"/>
            <a:ext cx="640080" cy="228600"/>
          </a:xfrm>
          <a:prstGeom prst="rect">
            <a:avLst/>
          </a:prstGeom>
          <a:noFill/>
          <a:ln/>
        </p:spPr>
        <p:txBody>
          <a:bodyPr wrap="square" lIns="0" tIns="0" rIns="0" bIns="0" rtlCol="0" anchor="ctr"/>
          <a:lstStyle/>
          <a:p>
            <a:pPr algn="r" indent="0" marL="0">
              <a:buNone/>
            </a:pPr>
            <a:r>
              <a:rPr lang="en-US" sz="900" b="1" dirty="0">
                <a:solidFill>
                  <a:srgbClr val="3D5A80"/>
                </a:solidFill>
              </a:rPr>
              <a:t>109</a:t>
            </a:r>
            <a:endParaRPr lang="en-US" sz="900" dirty="0"/>
          </a:p>
        </p:txBody>
      </p:sp>
      <p:sp>
        <p:nvSpPr>
          <p:cNvPr id="6" name="Text 4"/>
          <p:cNvSpPr/>
          <p:nvPr/>
        </p:nvSpPr>
        <p:spPr>
          <a:xfrm>
            <a:off x="502920" y="566928"/>
            <a:ext cx="11201400" cy="512064"/>
          </a:xfrm>
          <a:prstGeom prst="rect">
            <a:avLst/>
          </a:prstGeom>
          <a:noFill/>
          <a:ln/>
        </p:spPr>
        <p:txBody>
          <a:bodyPr wrap="square" lIns="0" tIns="0" rIns="0" bIns="0" rtlCol="0" anchor="ctr">
            <a:normAutofit/>
          </a:bodyPr>
          <a:lstStyle/>
          <a:p>
            <a:pPr indent="0" marL="0">
              <a:buNone/>
            </a:pPr>
            <a:r>
              <a:rPr lang="en-US" sz="2650" b="1" dirty="0">
                <a:solidFill>
                  <a:srgbClr val="005088"/>
                </a:solidFill>
                <a:latin typeface="Aptos Display" pitchFamily="34" charset="0"/>
                <a:ea typeface="Aptos Display" pitchFamily="34" charset="-122"/>
                <a:cs typeface="Aptos Display" pitchFamily="34" charset="-120"/>
              </a:rPr>
              <a:t>COMMON STUDENT GOTCHAS TO REVISIT</a:t>
            </a:r>
            <a:endParaRPr lang="en-US" sz="2650" dirty="0"/>
          </a:p>
        </p:txBody>
      </p:sp>
      <p:sp>
        <p:nvSpPr>
          <p:cNvPr id="7" name="Shape 5"/>
          <p:cNvSpPr/>
          <p:nvPr/>
        </p:nvSpPr>
        <p:spPr>
          <a:xfrm>
            <a:off x="502920" y="1188720"/>
            <a:ext cx="11109960" cy="0"/>
          </a:xfrm>
          <a:prstGeom prst="line">
            <a:avLst/>
          </a:prstGeom>
          <a:noFill/>
          <a:ln w="12700">
            <a:solidFill>
              <a:srgbClr val="3D5A80"/>
            </a:solidFill>
            <a:prstDash val="solid"/>
          </a:ln>
        </p:spPr>
      </p:sp>
      <p:sp>
        <p:nvSpPr>
          <p:cNvPr id="8" name="Text 6"/>
          <p:cNvSpPr/>
          <p:nvPr/>
        </p:nvSpPr>
        <p:spPr>
          <a:xfrm>
            <a:off x="713232" y="1572768"/>
            <a:ext cx="10744200" cy="3886200"/>
          </a:xfrm>
          <a:prstGeom prst="rect">
            <a:avLst/>
          </a:prstGeom>
          <a:noFill/>
          <a:ln/>
        </p:spPr>
        <p:txBody>
          <a:bodyPr wrap="square" lIns="1016" tIns="1016" rIns="1016" bIns="1016" rtlCol="0" anchor="t">
            <a:normAutofit/>
          </a:bodyPr>
          <a:lstStyle/>
          <a:p>
            <a:pPr indent="0" marL="0">
              <a:buNone/>
            </a:pPr>
            <a:r>
              <a:rPr lang="en-US" sz="1650" dirty="0">
                <a:solidFill>
                  <a:srgbClr val="1E293B"/>
                </a:solidFill>
                <a:latin typeface="Aptos" pitchFamily="34" charset="0"/>
                <a:ea typeface="Aptos" pitchFamily="34" charset="-122"/>
                <a:cs typeface="Aptos" pitchFamily="34" charset="-120"/>
              </a:rPr>
              <a:t>• Different names do not automatically mean different objects in standard semantics</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Unknown does not automatically mean false</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Functions are object-referring terms, not procedures</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Universal rules usually use implication</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Existence claims usually use conjunction</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Quantifier order matters whenever the quantifiers differ</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A missing axiom may produce silence instead of an obvious error</a:t>
            </a:r>
            <a:endParaRPr lang="en-US" sz="1650" dirty="0"/>
          </a:p>
        </p:txBody>
      </p:sp>
      <p:sp>
        <p:nvSpPr>
          <p:cNvPr id="9" name="Shape 7"/>
          <p:cNvSpPr/>
          <p:nvPr/>
        </p:nvSpPr>
        <p:spPr>
          <a:xfrm>
            <a:off x="777240" y="4846320"/>
            <a:ext cx="10652760" cy="749808"/>
          </a:xfrm>
          <a:prstGeom prst="roundRect">
            <a:avLst>
              <a:gd name="adj" fmla="val 9756"/>
            </a:avLst>
          </a:prstGeom>
          <a:solidFill>
            <a:srgbClr val="FFFFFF">
              <a:alpha val="97000"/>
            </a:srgbClr>
          </a:solidFill>
          <a:ln w="12700">
            <a:solidFill>
              <a:srgbClr val="007C89"/>
            </a:solidFill>
            <a:prstDash val="solid"/>
          </a:ln>
        </p:spPr>
      </p:sp>
      <p:sp>
        <p:nvSpPr>
          <p:cNvPr id="10" name="Text 8"/>
          <p:cNvSpPr/>
          <p:nvPr/>
        </p:nvSpPr>
        <p:spPr>
          <a:xfrm>
            <a:off x="941832" y="4974336"/>
            <a:ext cx="10323576" cy="566928"/>
          </a:xfrm>
          <a:prstGeom prst="rect">
            <a:avLst/>
          </a:prstGeom>
          <a:noFill/>
          <a:ln/>
        </p:spPr>
        <p:txBody>
          <a:bodyPr wrap="square" lIns="0" tIns="0" rIns="0" bIns="0" rtlCol="0" anchor="ctr">
            <a:normAutofit/>
          </a:bodyPr>
          <a:lstStyle/>
          <a:p>
            <a:pPr algn="ctr" indent="0" marL="0">
              <a:buNone/>
            </a:pPr>
            <a:r>
              <a:rPr lang="en-US" sz="1600" b="1" dirty="0">
                <a:solidFill>
                  <a:srgbClr val="005088"/>
                </a:solidFill>
                <a:latin typeface="Cambria Math" pitchFamily="34" charset="0"/>
                <a:ea typeface="Cambria Math" pitchFamily="34" charset="-122"/>
                <a:cs typeface="Cambria Math" pitchFamily="34" charset="-120"/>
              </a:rPr>
              <a:t>When stuck, ask: What exists? What relation holds? What follows?</a:t>
            </a:r>
            <a:endParaRPr lang="en-US" sz="1600"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10">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5088"/>
          </a:solidFill>
          <a:ln w="12700">
            <a:solidFill>
              <a:srgbClr val="005088"/>
            </a:solidFill>
            <a:prstDash val="solid"/>
          </a:ln>
        </p:spPr>
      </p:sp>
      <p:sp>
        <p:nvSpPr>
          <p:cNvPr id="3" name="Shape 1"/>
          <p:cNvSpPr/>
          <p:nvPr/>
        </p:nvSpPr>
        <p:spPr>
          <a:xfrm>
            <a:off x="0" y="6729984"/>
            <a:ext cx="12191695" cy="128016"/>
          </a:xfrm>
          <a:prstGeom prst="rect">
            <a:avLst/>
          </a:prstGeom>
          <a:solidFill>
            <a:srgbClr val="005088"/>
          </a:solidFill>
          <a:ln w="12700">
            <a:solidFill>
              <a:srgbClr val="005088"/>
            </a:solidFill>
            <a:prstDash val="solid"/>
          </a:ln>
        </p:spPr>
      </p:sp>
      <p:sp>
        <p:nvSpPr>
          <p:cNvPr id="4" name="Text 2"/>
          <p:cNvSpPr/>
          <p:nvPr/>
        </p:nvSpPr>
        <p:spPr>
          <a:xfrm>
            <a:off x="502920" y="210312"/>
            <a:ext cx="6858000" cy="219456"/>
          </a:xfrm>
          <a:prstGeom prst="rect">
            <a:avLst/>
          </a:prstGeom>
          <a:noFill/>
          <a:ln/>
        </p:spPr>
        <p:txBody>
          <a:bodyPr wrap="square" lIns="0" tIns="0" rIns="0" bIns="0" rtlCol="0" anchor="ctr"/>
          <a:lstStyle/>
          <a:p>
            <a:pPr indent="0" marL="0">
              <a:buNone/>
            </a:pPr>
            <a:r>
              <a:rPr lang="en-US" sz="950" b="1" dirty="0">
                <a:solidFill>
                  <a:srgbClr val="3D5A80"/>
                </a:solidFill>
                <a:latin typeface="Aptos" pitchFamily="34" charset="0"/>
                <a:ea typeface="Aptos" pitchFamily="34" charset="-122"/>
                <a:cs typeface="Aptos" pitchFamily="34" charset="-120"/>
              </a:rPr>
              <a:t>References</a:t>
            </a:r>
            <a:endParaRPr lang="en-US" sz="950" dirty="0"/>
          </a:p>
        </p:txBody>
      </p:sp>
      <p:sp>
        <p:nvSpPr>
          <p:cNvPr id="5" name="Text 3"/>
          <p:cNvSpPr/>
          <p:nvPr/>
        </p:nvSpPr>
        <p:spPr>
          <a:xfrm>
            <a:off x="11018520" y="201168"/>
            <a:ext cx="640080" cy="228600"/>
          </a:xfrm>
          <a:prstGeom prst="rect">
            <a:avLst/>
          </a:prstGeom>
          <a:noFill/>
          <a:ln/>
        </p:spPr>
        <p:txBody>
          <a:bodyPr wrap="square" lIns="0" tIns="0" rIns="0" bIns="0" rtlCol="0" anchor="ctr"/>
          <a:lstStyle/>
          <a:p>
            <a:pPr algn="r" indent="0" marL="0">
              <a:buNone/>
            </a:pPr>
            <a:r>
              <a:rPr lang="en-US" sz="900" b="1" dirty="0">
                <a:solidFill>
                  <a:srgbClr val="3D5A80"/>
                </a:solidFill>
              </a:rPr>
              <a:t>110</a:t>
            </a:r>
            <a:endParaRPr lang="en-US" sz="900" dirty="0"/>
          </a:p>
        </p:txBody>
      </p:sp>
      <p:sp>
        <p:nvSpPr>
          <p:cNvPr id="6" name="Text 4"/>
          <p:cNvSpPr/>
          <p:nvPr/>
        </p:nvSpPr>
        <p:spPr>
          <a:xfrm>
            <a:off x="502920" y="566928"/>
            <a:ext cx="11201400" cy="512064"/>
          </a:xfrm>
          <a:prstGeom prst="rect">
            <a:avLst/>
          </a:prstGeom>
          <a:noFill/>
          <a:ln/>
        </p:spPr>
        <p:txBody>
          <a:bodyPr wrap="square" lIns="0" tIns="0" rIns="0" bIns="0" rtlCol="0" anchor="ctr">
            <a:normAutofit/>
          </a:bodyPr>
          <a:lstStyle/>
          <a:p>
            <a:pPr indent="0" marL="0">
              <a:buNone/>
            </a:pPr>
            <a:r>
              <a:rPr lang="en-US" sz="2650" b="1" dirty="0">
                <a:solidFill>
                  <a:srgbClr val="005088"/>
                </a:solidFill>
                <a:latin typeface="Aptos Display" pitchFamily="34" charset="0"/>
                <a:ea typeface="Aptos Display" pitchFamily="34" charset="-122"/>
                <a:cs typeface="Aptos Display" pitchFamily="34" charset="-120"/>
              </a:rPr>
              <a:t>REFERENCE AND TEACHING RESOURCES</a:t>
            </a:r>
            <a:endParaRPr lang="en-US" sz="2650" dirty="0"/>
          </a:p>
        </p:txBody>
      </p:sp>
      <p:sp>
        <p:nvSpPr>
          <p:cNvPr id="7" name="Shape 5"/>
          <p:cNvSpPr/>
          <p:nvPr/>
        </p:nvSpPr>
        <p:spPr>
          <a:xfrm>
            <a:off x="502920" y="1188720"/>
            <a:ext cx="11109960" cy="0"/>
          </a:xfrm>
          <a:prstGeom prst="line">
            <a:avLst/>
          </a:prstGeom>
          <a:noFill/>
          <a:ln w="12700">
            <a:solidFill>
              <a:srgbClr val="3D5A80"/>
            </a:solidFill>
            <a:prstDash val="solid"/>
          </a:ln>
        </p:spPr>
      </p:sp>
      <p:graphicFrame>
        <p:nvGraphicFramePr>
          <p:cNvPr id="111" name="Table 0"/>
          <p:cNvGraphicFramePr>
            <a:graphicFrameLocks noGrp="1"/>
          </p:cNvGraphicFramePr>
          <p:nvPr>
            <p:extLst>
              <p:ext uri="{D42A27DB-BD31-4B8C-83A1-F6EECF244321}">
                <p14:modId xmlns:p14="http://schemas.microsoft.com/office/powerpoint/2010/main" val="1579011935"/>
              </p:ext>
            </p:extLst>
          </p:nvPr>
        </p:nvGraphicFramePr>
        <p:xfrm>
          <a:off x="777240" y="1508760"/>
          <a:ext cx="10698480" cy="4023360"/>
        </p:xfrm>
        <a:graphic>
          <a:graphicData uri="http://schemas.openxmlformats.org/drawingml/2006/table">
            <a:tbl>
              <a:tblPr/>
              <a:tblGrid>
                <a:gridCol w="3566160"/>
                <a:gridCol w="3566160"/>
                <a:gridCol w="3566160"/>
              </a:tblGrid>
              <a:tr h="670560">
                <a:tc>
                  <a:txBody>
                    <a:bodyPr/>
                    <a:lstStyle/>
                    <a:p>
                      <a:pPr indent="0" marL="0">
                        <a:buNone/>
                      </a:pPr>
                      <a:r>
                        <a:rPr lang="en-US" sz="980" b="1" dirty="0">
                          <a:solidFill>
                            <a:srgbClr val="FFFFFF"/>
                          </a:solidFill>
                        </a:rPr>
                        <a:t>Resource</a:t>
                      </a:r>
                      <a:endParaRPr lang="en-US" sz="980" dirty="0"/>
                    </a:p>
                  </a:txBody>
                  <a:tcPr marL="54864" marR="54864" marT="54864" marB="54864" anchor="mid">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05088"/>
                    </a:solidFill>
                  </a:tcPr>
                </a:tc>
                <a:tc>
                  <a:txBody>
                    <a:bodyPr/>
                    <a:lstStyle/>
                    <a:p>
                      <a:pPr indent="0" marL="0">
                        <a:buNone/>
                      </a:pPr>
                      <a:r>
                        <a:rPr lang="en-US" sz="980" b="1" dirty="0">
                          <a:solidFill>
                            <a:srgbClr val="FFFFFF"/>
                          </a:solidFill>
                        </a:rPr>
                        <a:t>Use in class</a:t>
                      </a:r>
                      <a:endParaRPr lang="en-US" sz="980" dirty="0"/>
                    </a:p>
                  </a:txBody>
                  <a:tcPr marL="54864" marR="54864" marT="54864" marB="54864" anchor="mid">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05088"/>
                    </a:solidFill>
                  </a:tcPr>
                </a:tc>
                <a:tc>
                  <a:txBody>
                    <a:bodyPr/>
                    <a:lstStyle/>
                    <a:p>
                      <a:pPr indent="0" marL="0">
                        <a:buNone/>
                      </a:pPr>
                      <a:r>
                        <a:rPr lang="en-US" sz="980" b="1" dirty="0">
                          <a:solidFill>
                            <a:srgbClr val="FFFFFF"/>
                          </a:solidFill>
                        </a:rPr>
                        <a:t>Web address</a:t>
                      </a:r>
                      <a:endParaRPr lang="en-US" sz="980" dirty="0"/>
                    </a:p>
                  </a:txBody>
                  <a:tcPr marL="54864" marR="54864" marT="54864" marB="54864" anchor="mid">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05088"/>
                    </a:solidFill>
                  </a:tcPr>
                </a:tc>
              </a:tr>
              <a:tr h="670560">
                <a:tc>
                  <a:txBody>
                    <a:bodyPr/>
                    <a:lstStyle/>
                    <a:p>
                      <a:pPr indent="0" marL="0">
                        <a:buNone/>
                      </a:pPr>
                      <a:r>
                        <a:rPr lang="en-US" sz="980" dirty="0">
                          <a:solidFill>
                            <a:srgbClr val="1E293B"/>
                          </a:solidFill>
                        </a:rPr>
                        <a:t>Russell and Norvig, Artificial Intelligence: A Modern Approach, Fourth United States edition</a:t>
                      </a:r>
                      <a:endParaRPr lang="en-US" sz="980" dirty="0"/>
                    </a:p>
                  </a:txBody>
                  <a:tcPr marL="54864" marR="54864" marT="54864" marB="54864" anchor="mid">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80" dirty="0">
                          <a:solidFill>
                            <a:srgbClr val="1E293B"/>
                          </a:solidFill>
                        </a:rPr>
                        <a:t>Primary textbook source for Chapter 8</a:t>
                      </a:r>
                      <a:endParaRPr lang="en-US" sz="980" dirty="0"/>
                    </a:p>
                  </a:txBody>
                  <a:tcPr marL="54864" marR="54864" marT="54864" marB="54864" anchor="mid">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80" dirty="0">
                          <a:solidFill>
                            <a:srgbClr val="1E293B"/>
                          </a:solidFill>
                        </a:rPr>
                        <a:t>https://aima.cs.berkeley.edu/</a:t>
                      </a:r>
                      <a:endParaRPr lang="en-US" sz="980" dirty="0"/>
                    </a:p>
                  </a:txBody>
                  <a:tcPr marL="54864" marR="54864" marT="54864" marB="54864" anchor="mid">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670560">
                <a:tc>
                  <a:txBody>
                    <a:bodyPr/>
                    <a:lstStyle/>
                    <a:p>
                      <a:pPr indent="0" marL="0">
                        <a:buNone/>
                      </a:pPr>
                      <a:r>
                        <a:rPr lang="en-US" sz="980" dirty="0">
                          <a:solidFill>
                            <a:srgbClr val="1E293B"/>
                          </a:solidFill>
                        </a:rPr>
                        <a:t>Artificial Intelligence: A Modern Approach Python code repository</a:t>
                      </a:r>
                      <a:endParaRPr lang="en-US" sz="980" dirty="0"/>
                    </a:p>
                  </a:txBody>
                  <a:tcPr marL="54864" marR="54864" marT="54864" marB="54864" anchor="mid">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980" dirty="0">
                          <a:solidFill>
                            <a:srgbClr val="1E293B"/>
                          </a:solidFill>
                        </a:rPr>
                        <a:t>Optional code reference for logic representations and inference</a:t>
                      </a:r>
                      <a:endParaRPr lang="en-US" sz="980" dirty="0"/>
                    </a:p>
                  </a:txBody>
                  <a:tcPr marL="54864" marR="54864" marT="54864" marB="54864" anchor="mid">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980" dirty="0">
                          <a:solidFill>
                            <a:srgbClr val="1E293B"/>
                          </a:solidFill>
                        </a:rPr>
                        <a:t>https://github.com/aimacode/aima-python</a:t>
                      </a:r>
                      <a:endParaRPr lang="en-US" sz="980" dirty="0"/>
                    </a:p>
                  </a:txBody>
                  <a:tcPr marL="54864" marR="54864" marT="54864" marB="54864" anchor="mid">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r>
              <a:tr h="670560">
                <a:tc>
                  <a:txBody>
                    <a:bodyPr/>
                    <a:lstStyle/>
                    <a:p>
                      <a:pPr indent="0" marL="0">
                        <a:buNone/>
                      </a:pPr>
                      <a:r>
                        <a:rPr lang="en-US" sz="980" dirty="0">
                          <a:solidFill>
                            <a:srgbClr val="1E293B"/>
                          </a:solidFill>
                        </a:rPr>
                        <a:t>Berkeley Introduction to Artificial Intelligence logic notes</a:t>
                      </a:r>
                      <a:endParaRPr lang="en-US" sz="980" dirty="0"/>
                    </a:p>
                  </a:txBody>
                  <a:tcPr marL="54864" marR="54864" marT="54864" marB="54864" anchor="mid">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80" dirty="0">
                          <a:solidFill>
                            <a:srgbClr val="1E293B"/>
                          </a:solidFill>
                        </a:rPr>
                        <a:t>Supplemental explanation and examples</a:t>
                      </a:r>
                      <a:endParaRPr lang="en-US" sz="980" dirty="0"/>
                    </a:p>
                  </a:txBody>
                  <a:tcPr marL="54864" marR="54864" marT="54864" marB="54864" anchor="mid">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80" dirty="0">
                          <a:solidFill>
                            <a:srgbClr val="1E293B"/>
                          </a:solidFill>
                        </a:rPr>
                        <a:t>https://inst.eecs.berkeley.edu/~cs188/textbook/logic/</a:t>
                      </a:r>
                      <a:endParaRPr lang="en-US" sz="980" dirty="0"/>
                    </a:p>
                  </a:txBody>
                  <a:tcPr marL="54864" marR="54864" marT="54864" marB="54864" anchor="mid">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670560">
                <a:tc>
                  <a:txBody>
                    <a:bodyPr/>
                    <a:lstStyle/>
                    <a:p>
                      <a:pPr indent="0" marL="0">
                        <a:buNone/>
                      </a:pPr>
                      <a:r>
                        <a:rPr lang="en-US" sz="980" dirty="0">
                          <a:solidFill>
                            <a:srgbClr val="1E293B"/>
                          </a:solidFill>
                        </a:rPr>
                        <a:t>Chapter 8 visual playground provided with this course</a:t>
                      </a:r>
                      <a:endParaRPr lang="en-US" sz="980" dirty="0"/>
                    </a:p>
                  </a:txBody>
                  <a:tcPr marL="54864" marR="54864" marT="54864" marB="54864" anchor="mid">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980" dirty="0">
                          <a:solidFill>
                            <a:srgbClr val="1E293B"/>
                          </a:solidFill>
                        </a:rPr>
                        <a:t>Instructor demo for quantifiers, Wumpus World rules, and circuits</a:t>
                      </a:r>
                      <a:endParaRPr lang="en-US" sz="980" dirty="0"/>
                    </a:p>
                  </a:txBody>
                  <a:tcPr marL="54864" marR="54864" marT="54864" marB="54864" anchor="mid">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980" dirty="0">
                          <a:solidFill>
                            <a:srgbClr val="1E293B"/>
                          </a:solidFill>
                        </a:rPr>
                        <a:t>chapter8_fol_visual_playground.html</a:t>
                      </a:r>
                      <a:endParaRPr lang="en-US" sz="980" dirty="0"/>
                    </a:p>
                  </a:txBody>
                  <a:tcPr marL="54864" marR="54864" marT="54864" marB="54864" anchor="mid">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8FAFC"/>
                    </a:solidFill>
                  </a:tcPr>
                </a:tc>
              </a:tr>
              <a:tr h="670560">
                <a:tc>
                  <a:txBody>
                    <a:bodyPr/>
                    <a:lstStyle/>
                    <a:p>
                      <a:pPr indent="0" marL="0">
                        <a:buNone/>
                      </a:pPr>
                      <a:r>
                        <a:rPr lang="en-US" sz="980" dirty="0">
                          <a:solidFill>
                            <a:srgbClr val="1E293B"/>
                          </a:solidFill>
                        </a:rPr>
                        <a:t>Chapter 8 Jupyter labs provided with this course</a:t>
                      </a:r>
                      <a:endParaRPr lang="en-US" sz="980" dirty="0"/>
                    </a:p>
                  </a:txBody>
                  <a:tcPr marL="54864" marR="54864" marT="54864" marB="54864" anchor="mid">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80" dirty="0">
                          <a:solidFill>
                            <a:srgbClr val="1E293B"/>
                          </a:solidFill>
                        </a:rPr>
                        <a:t>Hands-on notebooks for models, quantifiers, Wumpus World, circuits, and limits</a:t>
                      </a:r>
                      <a:endParaRPr lang="en-US" sz="980" dirty="0"/>
                    </a:p>
                  </a:txBody>
                  <a:tcPr marL="54864" marR="54864" marT="54864" marB="54864" anchor="mid">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80" dirty="0">
                          <a:solidFill>
                            <a:srgbClr val="1E293B"/>
                          </a:solidFill>
                        </a:rPr>
                        <a:t>Lab 08A through Lab 08E</a:t>
                      </a:r>
                      <a:endParaRPr lang="en-US" sz="980" dirty="0"/>
                    </a:p>
                  </a:txBody>
                  <a:tcPr marL="54864" marR="54864" marT="54864" marB="54864" anchor="mid">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1">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5088"/>
          </a:solidFill>
          <a:ln w="12700">
            <a:solidFill>
              <a:srgbClr val="005088"/>
            </a:solidFill>
            <a:prstDash val="solid"/>
          </a:ln>
        </p:spPr>
      </p:sp>
      <p:sp>
        <p:nvSpPr>
          <p:cNvPr id="3" name="Shape 1"/>
          <p:cNvSpPr/>
          <p:nvPr/>
        </p:nvSpPr>
        <p:spPr>
          <a:xfrm>
            <a:off x="0" y="6729984"/>
            <a:ext cx="12191695" cy="128016"/>
          </a:xfrm>
          <a:prstGeom prst="rect">
            <a:avLst/>
          </a:prstGeom>
          <a:solidFill>
            <a:srgbClr val="005088"/>
          </a:solidFill>
          <a:ln w="12700">
            <a:solidFill>
              <a:srgbClr val="005088"/>
            </a:solidFill>
            <a:prstDash val="solid"/>
          </a:ln>
        </p:spPr>
      </p:sp>
      <p:sp>
        <p:nvSpPr>
          <p:cNvPr id="4" name="Text 2"/>
          <p:cNvSpPr/>
          <p:nvPr/>
        </p:nvSpPr>
        <p:spPr>
          <a:xfrm>
            <a:off x="502920" y="210312"/>
            <a:ext cx="6858000" cy="219456"/>
          </a:xfrm>
          <a:prstGeom prst="rect">
            <a:avLst/>
          </a:prstGeom>
          <a:noFill/>
          <a:ln/>
        </p:spPr>
        <p:txBody>
          <a:bodyPr wrap="square" lIns="0" tIns="0" rIns="0" bIns="0" rtlCol="0" anchor="ctr"/>
          <a:lstStyle/>
          <a:p>
            <a:pPr indent="0" marL="0">
              <a:buNone/>
            </a:pPr>
            <a:r>
              <a:rPr lang="en-US" sz="950" b="1" dirty="0">
                <a:solidFill>
                  <a:srgbClr val="3D5A80"/>
                </a:solidFill>
                <a:latin typeface="Aptos" pitchFamily="34" charset="0"/>
                <a:ea typeface="Aptos" pitchFamily="34" charset="-122"/>
                <a:cs typeface="Aptos" pitchFamily="34" charset="-120"/>
              </a:rPr>
              <a:t>Course map</a:t>
            </a:r>
            <a:endParaRPr lang="en-US" sz="950" dirty="0"/>
          </a:p>
        </p:txBody>
      </p:sp>
      <p:sp>
        <p:nvSpPr>
          <p:cNvPr id="5" name="Text 3"/>
          <p:cNvSpPr/>
          <p:nvPr/>
        </p:nvSpPr>
        <p:spPr>
          <a:xfrm>
            <a:off x="11018520" y="201168"/>
            <a:ext cx="640080" cy="228600"/>
          </a:xfrm>
          <a:prstGeom prst="rect">
            <a:avLst/>
          </a:prstGeom>
          <a:noFill/>
          <a:ln/>
        </p:spPr>
        <p:txBody>
          <a:bodyPr wrap="square" lIns="0" tIns="0" rIns="0" bIns="0" rtlCol="0" anchor="ctr"/>
          <a:lstStyle/>
          <a:p>
            <a:pPr algn="r" indent="0" marL="0">
              <a:buNone/>
            </a:pPr>
            <a:r>
              <a:rPr lang="en-US" sz="900" b="1" dirty="0">
                <a:solidFill>
                  <a:srgbClr val="3D5A80"/>
                </a:solidFill>
              </a:rPr>
              <a:t>111</a:t>
            </a:r>
            <a:endParaRPr lang="en-US" sz="900" dirty="0"/>
          </a:p>
        </p:txBody>
      </p:sp>
      <p:sp>
        <p:nvSpPr>
          <p:cNvPr id="6" name="Text 4"/>
          <p:cNvSpPr/>
          <p:nvPr/>
        </p:nvSpPr>
        <p:spPr>
          <a:xfrm>
            <a:off x="502920" y="566928"/>
            <a:ext cx="11201400" cy="512064"/>
          </a:xfrm>
          <a:prstGeom prst="rect">
            <a:avLst/>
          </a:prstGeom>
          <a:noFill/>
          <a:ln/>
        </p:spPr>
        <p:txBody>
          <a:bodyPr wrap="square" lIns="0" tIns="0" rIns="0" bIns="0" rtlCol="0" anchor="ctr">
            <a:normAutofit/>
          </a:bodyPr>
          <a:lstStyle/>
          <a:p>
            <a:pPr indent="0" marL="0">
              <a:buNone/>
            </a:pPr>
            <a:r>
              <a:rPr lang="en-US" sz="2650" b="1" dirty="0">
                <a:solidFill>
                  <a:srgbClr val="005088"/>
                </a:solidFill>
                <a:latin typeface="Aptos Display" pitchFamily="34" charset="0"/>
                <a:ea typeface="Aptos Display" pitchFamily="34" charset="-122"/>
                <a:cs typeface="Aptos Display" pitchFamily="34" charset="-120"/>
              </a:rPr>
              <a:t>NEXT CLASS CONNECTION</a:t>
            </a:r>
            <a:endParaRPr lang="en-US" sz="2650" dirty="0"/>
          </a:p>
        </p:txBody>
      </p:sp>
      <p:sp>
        <p:nvSpPr>
          <p:cNvPr id="7" name="Shape 5"/>
          <p:cNvSpPr/>
          <p:nvPr/>
        </p:nvSpPr>
        <p:spPr>
          <a:xfrm>
            <a:off x="502920" y="1188720"/>
            <a:ext cx="11109960" cy="0"/>
          </a:xfrm>
          <a:prstGeom prst="line">
            <a:avLst/>
          </a:prstGeom>
          <a:noFill/>
          <a:ln w="12700">
            <a:solidFill>
              <a:srgbClr val="3D5A80"/>
            </a:solidFill>
            <a:prstDash val="solid"/>
          </a:ln>
        </p:spPr>
      </p:sp>
      <p:sp>
        <p:nvSpPr>
          <p:cNvPr id="8" name="Text 6"/>
          <p:cNvSpPr/>
          <p:nvPr/>
        </p:nvSpPr>
        <p:spPr>
          <a:xfrm>
            <a:off x="713232" y="1572768"/>
            <a:ext cx="10744200" cy="3886200"/>
          </a:xfrm>
          <a:prstGeom prst="rect">
            <a:avLst/>
          </a:prstGeom>
          <a:noFill/>
          <a:ln/>
        </p:spPr>
        <p:txBody>
          <a:bodyPr wrap="square" lIns="1016" tIns="1016" rIns="1016" bIns="1016" rtlCol="0" anchor="t">
            <a:normAutofit/>
          </a:bodyPr>
          <a:lstStyle/>
          <a:p>
            <a:pPr indent="0" marL="0">
              <a:buNone/>
            </a:pPr>
            <a:r>
              <a:rPr lang="en-US" sz="1650" dirty="0">
                <a:solidFill>
                  <a:srgbClr val="1E293B"/>
                </a:solidFill>
                <a:latin typeface="Aptos" pitchFamily="34" charset="0"/>
                <a:ea typeface="Aptos" pitchFamily="34" charset="-122"/>
                <a:cs typeface="Aptos" pitchFamily="34" charset="-120"/>
              </a:rPr>
              <a:t>• Chapter 8 explains what first-order sentences mean</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The next step is inference: how to derive useful conclusions efficiently</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Students should be comfortable reading formulas before proving with them</a:t>
            </a:r>
            <a:endParaRPr lang="en-US" sz="1650" dirty="0"/>
          </a:p>
          <a:p>
            <a:pPr indent="0" marL="0">
              <a:buNone/>
            </a:pPr>
            <a:r>
              <a:rPr lang="en-US" sz="1650" dirty="0">
                <a:solidFill>
                  <a:srgbClr val="1E293B"/>
                </a:solidFill>
                <a:latin typeface="Aptos" pitchFamily="34" charset="0"/>
                <a:ea typeface="Aptos" pitchFamily="34" charset="-122"/>
                <a:cs typeface="Aptos" pitchFamily="34" charset="-120"/>
              </a:rPr>
              <a:t>• Keep practicing English-to-logic and logic-to-English translation</a:t>
            </a:r>
            <a:endParaRPr lang="en-US" sz="1650" dirty="0"/>
          </a:p>
        </p:txBody>
      </p:sp>
      <p:sp>
        <p:nvSpPr>
          <p:cNvPr id="9" name="Shape 7"/>
          <p:cNvSpPr/>
          <p:nvPr/>
        </p:nvSpPr>
        <p:spPr>
          <a:xfrm>
            <a:off x="777240" y="4846320"/>
            <a:ext cx="10652760" cy="749808"/>
          </a:xfrm>
          <a:prstGeom prst="roundRect">
            <a:avLst>
              <a:gd name="adj" fmla="val 9756"/>
            </a:avLst>
          </a:prstGeom>
          <a:solidFill>
            <a:srgbClr val="FFFFFF">
              <a:alpha val="97000"/>
            </a:srgbClr>
          </a:solidFill>
          <a:ln w="12700">
            <a:solidFill>
              <a:srgbClr val="007C89"/>
            </a:solidFill>
            <a:prstDash val="solid"/>
          </a:ln>
        </p:spPr>
      </p:sp>
      <p:sp>
        <p:nvSpPr>
          <p:cNvPr id="10" name="Text 8"/>
          <p:cNvSpPr/>
          <p:nvPr/>
        </p:nvSpPr>
        <p:spPr>
          <a:xfrm>
            <a:off x="941832" y="4974336"/>
            <a:ext cx="10323576" cy="566928"/>
          </a:xfrm>
          <a:prstGeom prst="rect">
            <a:avLst/>
          </a:prstGeom>
          <a:noFill/>
          <a:ln/>
        </p:spPr>
        <p:txBody>
          <a:bodyPr wrap="square" lIns="0" tIns="0" rIns="0" bIns="0" rtlCol="0" anchor="ctr">
            <a:normAutofit/>
          </a:bodyPr>
          <a:lstStyle/>
          <a:p>
            <a:pPr algn="ctr" indent="0" marL="0">
              <a:buNone/>
            </a:pPr>
            <a:r>
              <a:rPr lang="en-US" sz="1800" b="1" dirty="0">
                <a:solidFill>
                  <a:srgbClr val="005088"/>
                </a:solidFill>
                <a:latin typeface="Cambria Math" pitchFamily="34" charset="0"/>
                <a:ea typeface="Cambria Math" pitchFamily="34" charset="-122"/>
                <a:cs typeface="Cambria Math" pitchFamily="34" charset="-120"/>
              </a:rPr>
              <a:t>Next step: from representation to inference</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111</Slides>
  <Notes>111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111</vt:i4>
      </vt:variant>
    </vt:vector>
  </HeadingPairs>
  <TitlesOfParts>
    <vt:vector size="1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vector>
  </TitlesOfParts>
  <Company>California State University Channel Islands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First-Order Logic Detailed Teaching Deck</dc:title>
  <dc:subject>Introduction to Artificial Intelligence, Chapter 8</dc:subject>
  <dc:creator>Juan Test, Computer Science 469</dc:creator>
  <cp:lastModifiedBy>Juan Test, Computer Science 469</cp:lastModifiedBy>
  <cp:revision>1</cp:revision>
  <dcterms:created xsi:type="dcterms:W3CDTF">2026-07-13T02:27:07Z</dcterms:created>
  <dcterms:modified xsi:type="dcterms:W3CDTF">2026-07-13T02:27:07Z</dcterms:modified>
</cp:coreProperties>
</file>