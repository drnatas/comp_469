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Chapter title
Teaching notes: Open by telling students that this chapter changes the question from “What can the agent prove?” to “What should the agent believe and do when proof is unavailable?” Frame probability as a tool for rational action, not just a math topic. Explain that logic is still useful, but real agents often face partial observations, noisy sensors, unpredictable actions, and other agents.
Analogy to use: Logic is like a light switch: true, false, or unknown. Probability is like a dimmer switch: it represents degrees of belief.
Class prompt: Ask students to name a real decision they made recently without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Agenda and teaching path
Teaching notes: Use this slide as the roadmap. Emphasize that each section introduces one new tool for the same core problem: how a rational agent acts when it cannot know the world with certainty. Preview that the chapter starts with motivation, then notation, then computation, then scalable structure.
Analogy to use: The lecture is a map from uncertainty to action: observe clues, update beliefs, compare choices, and act.
Class prompt: Which part sounds most familiar from previous chapters: belief states, logic, search, or actions?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Learning outcomes for Chapter 12
Teaching notes: Read these outcomes at the start so students know the expected level of mastery. Tell them the math is not separate from intelligent behavior; probability is the language the agent uses to summarize what it does not know. Reinforce that the course is moving from symbolic reasoning to uncertainty-aware reasoning.
Analogy to use: A good weather forecast does not guarantee rain; it helps you decide whether to carry an umbrella.
Student gotcha: The goal is not to make uncertainty disappear. The goal is to represent uncertainty well enough to act rationally.
Class prompt: What would a robot need to know probabilistically before crossing a busy street?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Chapter 12 in one sentence
Teaching notes: This slide should become the anchor for the whole lecture. Probability says what may happen; utility says what the agent cares about. Expected utility combines them. Use the airport example immediately: leaving very early increases the chance of arriving on time but reduces utility because waiting is costly.
Analogy to use: Beliefs are a map of what might happen; utilities are the agent’s priorities; action is the route chosen from both.
Student gotcha: High probability alone does not mean “best action.” A likely outcome can still have low value.
Class prompt: Could the safest plan ever be irrational? Think about leaving for the airport 24 hours early.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From logical agents to probabilistic agents
Teaching notes: Connect this slide to Chapter 7. In the Wumpus World, logic could often prove safe, prove unsafe, or leave a square unknown. Probability helps when several squares are unknown but not equally risky. Reinforce that the actual world is definite; the probability describes the agent’s knowledge state.
Analogy to use: Logic gives a yes/no checklist. Probability gives a risk score for every unchecked item.
Student gotcha: Probability does not say a fact is “partly true.” It says the agent is uncertain about whether the fact is true.
Class prompt: How is “unknown” different from “40% likely”?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12.1 - Acting under uncertainty
Teaching notes: Explain that this section motivates the entire chapter. Students should hear the core problem before seeing notation: when the world is partially observable, nondeterministic, or adversarial, an agent may not be able to prove that a plan will succeed. It still must act.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Where uncertainty comes from
Teaching notes: Give one example for each source. A robot vacuum has partial observability. A self-driving car has nondeterministic traffic behavior. A cybersecurity system faces adversaries. A medical diagnosis has incomplete tests and uncertain causal mechanisms. This prepares students to accept probability as necessary rather than optional.
Analogy to use: Driving with a foggy windshield: you still steer, but you cannot see the whole road.
Student gotcha: Uncertainty is not always sensor error. Sometimes the world itself or other agents make outcomes hard to predict.
Class prompt: Which uncertainty source appears in online shopping delivery estimates?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Belief states helped, but they are not enough
Teaching notes: Remind students of Chapter 4 and logical agents. Sets of possible states are valuable, but they do not distinguish common explanations from bizarre ones. Probability lets the agent focus on plausible alternatives while still acknowledging uncertainty.
Analogy to use: A belief state is like carrying every possible map version because you do not know which road is closed.
Student gotcha: A belief state says “possible,” but not “how likely.” Probability adds the missing ranking.
Class prompt: Should an agent treat a meteor strike and a traffic jam as equally important possibilities?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Three drawbacks of all-possibilities reasoning
Teaching notes: Use commuting or exams: leaving four hours early may nearly guarantee arriving on time, but the wasted time matters. This slide leads directly to expected utility. Explain that rationality includes costs, preferences, and probabilities.
Analogy to use: Planning a picnic by listing every possible disaster is not practical; a forecast gives a usable summary.
Student gotcha: A guaranteed plan is not always the best plan if the guarantee is too expensive.
Class prompt: What is an example of a plan that is almost guaranteed but unreasonable?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Airport taxi example
Teaching notes: This is the chapter’s main intuitive example. Ask students to compare leaving 60, 90, 180 minutes, or 24 hours early. The best choice depends on the probability of being late and the cost of waiting. This motivates maximum expected utility before students see formulas.
Analogy to use: Choosing when to leave for the airport is a probability problem disguised as common sense.
Student gotcha: More time is not automatically better. The utility of waiting matters.
Class prompt: Would your answer change for a vacation flight versus an emergency medical flight?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The logical qualification problem
Teaching notes: Emphasize that the problem is not that logic is useless; it is that strict implication is too strong for messy domains. Probability gives a practical representation for unlisted or hard-to-model conditions.
Analogy to use: A recipe that lists every way cooking could fail would be longer than the cookbook.
Student gotcha: Logic requires exception-free rules. Real plans almost never have exception-free rules.
Class prompt: What exception would you add to the airport example?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Rational does not mean guaranteed
Teaching notes: This is a key conceptual point. Outcome quality and decision quality are different. A rational choice is one that best uses the information and preferences available, even if chance leads to a bad result.
Analogy to use: A good poker decision can lose a hand; that does not make it a bad decision.
Student gotcha: Students often judge the decision after seeing the outcome. AI evaluates the choice using the agent’s knowledge at decision time.
Class prompt: Can a rational medical test return a false positive?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The action question
Teaching notes: Introduce expected utility slowly. Use average as the plain-language translation of “expected.” The agent is not predicting one outcome; it is averaging over possible outcomes. This is the bridge between probability and rational action.
Analogy to use: Expected utility is like a grade average where each assignment is weighted by how likely it is to occur.
Student gotcha: Do not multiply probability by “truth.” Multiply probability by utility, which represents preference.
Class prompt: What utility would you assign to missing a final exam?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Checkpoint: uncertainty and rationality
Teaching notes: Use this checkpoint after Section 12.1. Answers should emphasize that rationality compares expected outcomes, not guaranteed outcomes. Listen for students confusing possibility with likelihood or likelihood with utility.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12.1.1 - Summarizing uncertainty
Teaching notes: Transition from action choice to diagnosis. The dental example shows why strict logical rules are too strong in everyday domains. The goal is to make students comfortable with degrees of belief before formal notation.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Dental diagnosis: the running example
Teaching notes: Use the toothache and cavity example throughout the lecture. It is small enough for calculations but realistic enough to show uncertainty. Ask students to supply alternative causes; this demonstrates why the implication Toothache implies Cavity is false.
Analogy to use: A smoke alarm suggests fire, but it could be toast, steam, or a low battery.
Student gotcha: A strong association is not the same as a logical implication.
Class prompt: What else besides a cavity can cause a toothache?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Why strict diagnostic rules fail
Teaching notes: Students should notice two different directions: causal and diagnostic. Cavity causing toothache is causal. Toothache suggesting cavity is diagnostic. Bayes rule later connects these two directions.
Analogy to use: A detective clue narrows suspects; it does not logically prove guilt by itself.
Class prompt: Which direction feels more causal: cavity to toothache or toothache to cavity?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Three reasons certainty breaks down
Teaching notes: Use examples beyond dentistry: cybersecurity alerts, car repair, fraud detection, and weather. Explain that uncertainty can come from incomplete theory, missing observations, or simply practical limitations on computation and data collection.
Analogy to use: A doctor may know a lot, but still not run every possible test before making a preliminary diagnosis.
Student gotcha: “Laziness” here is technical: it means the cost of representing every detail is too high.
Class prompt: Which reason applies most to weather forecasting?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Degrees of belief
Teaching notes: This is a common philosophical sticking point. Make clear that probability statements are relative to knowledge. The world has a definite condition, but the agent does not know it. Probability summarizes uncertainty over worlds that are indistinguishable given the agent’s evidence.
Analogy to use: A dimmer switch is not half-on because light is half-true; it reflects a degree on a scale.
Student gotcha: The patient either has a cavity or does not. The probability describes the agent’s uncertainty before knowing.
Class prompt: What does P(rain tomorrow) = 0.7 mean in plain English?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Probability is relative to evidence
Teaching notes: Walk students through how information changes the question. The patient’s physical state is not changing; the agent’s knowledge state is changing. The vertical bar means “given,” and everything after it is evidence being conditioned on.
Analogy to use: A mystery novel changes your suspect ranking after each new clue, even though the culprit never changed.
Student gotcha: A prior probability can remain mathematically valid after new evidence, but it is no longer the right probability for a decision.
Class prompt: What evidence would lower your belief that a toothache is from a cavity?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Evidence changes the knowledge state
Teaching notes: Use this slide to connect probability with the agent loop. Percepts update the belief state. In probabilistic agents, the belief state is not just a set of possible worlds; it includes probabilities over those worlds.
Analogy to use: Belief updating is like GPS recalculating a route after receiving traffic information.
Class prompt: Which step is closest to the agent’s percept in earlier chapters?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Common mistake: probability is not logical implication
Teaching notes: This is one of the biggest student gotchas in the chapter. Put “given” in words every time you see the vertical bar. Logical implication is a truth relationship; conditional probability is a belief measure under evidence.
Analogy to use: A campus parking lot being crowded suggests an event, but it does not prove one.
Student gotcha: Never read the vertical bar as “implies.” It means “given.”
Class prompt: How would you explain the difference between “given” and “implies” to a friend?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Checkpoint: summarizing uncertainty
Teaching notes: Use this after the dental example. Good answers should mention alternative causes, incomplete theory, practical limits, and evidence-relative belief. Make students say “given” out loud when interpreting conditional probabilities.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12.1.2 - Uncertainty and rational decisions
Teaching notes: Now return to actions. Decision theory requires both probability and utility. Students should see that the chapter is not only about predicting; it is about choosing.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Outcomes are complete states
Teaching notes: Explain that utilities are assigned to outcomes, and outcomes must include the factors the performance measure cares about. If wait time matters but is omitted, the decision may be wrong even if the probability calculations are correct.
Analogy to use: A restaurant review is not just “ate food.” It includes cost, taste, service, wait time, and whether you got sick.
Student gotcha: Reducing outcomes to one binary success variable can hide important trade-offs.
Class prompt: What outcome features matter for an autonomous delivery robot?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Utilities represent preferences
Teaching notes: Use chess or transportation examples. In chess, checkmating the opponent is high utility for one player and low utility for the other. Utilities encode preferences, so they must be designed carefully. This previews value alignment and performance measures.
Analogy to use: Utility is the agent’s “scoreboard,” but the scoreboard can include more than points.
Student gotcha: Utilities are not probabilities. A utility of 100 does not mean 100 percent likely.
Class prompt: What should have higher utility for a campus shuttle: speed or safety?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Decision theory combines belief and value
Teaching notes: Make this slide a conceptual anchor. Probability answers “What may happen?” Utility answers “How much do we care?” Decision theory answers “What should the agent do?”
Analogy to use: A navigation app estimates traffic probabilities; your priorities decide whether fastest, cheapest, or safest route wins.
Student gotcha: A probability model cannot choose actions unless it is paired with utilities.
Class prompt: What happens if two people share the same beliefs but have different utilities?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Principle of maximum expected utility
Teaching notes: Define the summation carefully. The agent considers each outcome s, multiplies its probability by its utility, and adds the results. The action with the largest sum is chosen. Emphasize that the formula is a decision rule, not a guarantee.
Analogy to use: Like comparing investments by average payoff, not just best-case payoff.
Student gotcha: The action is chosen before the actual outcome is known.
Class prompt: Which part of the formula is probability and which part is preference?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Worked example: airport expected utility
Teaching notes: Walk through the arithmetic slowly. Leave 60 minutes has a good chance of success but a severe downside. Leave 180 minutes is very safe but has low utility because of waiting. Leave 90 minutes wins in this utility model. Then ask students how the best plan changes if the flight is extremely important.
Analogy to use: Expected utility is like comparing routes by travel time plus tolls plus risk, not just distance.
Class prompt: What changes if missing the flight has utility -5000 instead of -500?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Decision-theoretic agent workflow
Teaching notes: Show the figure on the right and map each line to the agent loop students already know. The important upgrade is that the belief state contains probabilities. The action selection step uses expected utility, so the agent is doing both inference and decision-making.
Analogy to use: The agent is like a careful driver: observe traffic, update beliefs, forecast routes, then choose.
Student gotcha: Do not read the algorithm as one fixed domain solution. It is a reusable agent pattern.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Expected utility gotchas
Teaching notes: This slide helps students avoid simplistic thinking. Probability and utility interact. A rare but catastrophic outcome can dominate a decision. Also, utility design matters; if the performance measure is wrong, the agent may optimize the wrong behavior.
Analogy to use: Buying insurance is rational not because disaster is likely, but because disaster is costly.
Student gotcha: Expected utility is only as good as the probabilities and utilities supplied to it.
Class prompt: Why do rare cybersecurity breaches still get attention?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Demo idea: change the utilities, change the decision
Teaching notes: This is an easy live demonstration in a spreadsheet, Python cell, or even on the board. Use the same probabilities and change utilities. Students should see that preferences matter. This is a good bridge to later chapters on utility theory and decision-making.
Analogy to use: Two students can make different rational choices with the same facts if one values risk differently.
Student gotcha: Different utility functions do not always mean one agent is irrational.
Class prompt: What utility would CSUCI assign to student safety versus shuttle speed?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12.2 - Basic probability notation
Teaching notes: Now shift from intuition to notation. Stress that probability notation is a language, just as logic was a language in Chapter 7. The objects of probability statements are possible worlds, events, propositions, and random variables.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Probabilities are about possible worlds
Teaching notes: Connect to possible-world semantics from logic. A logical sentence rules out worlds; a probability model ranks worlds. The Greek letter Omega denotes the sample space, while lowercase omega denotes one possible world.
Analogy to use: The sample space is a complete set of sealed envelopes; reality opens exactly one envelope.
Student gotcha: The sample space is chosen by the modeler. A poor sample space can make later reasoning misleading.
Class prompt: What is the sample space for flipping one coin twice?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Dice world: sample space and events
Teaching notes: Use this visual to anchor the definition of a sample space. The 36 cells are complete and mutually exclusive: exactly one cell is the actual outcome after a roll. Then explain an event as a set of cells. For Total = 11, students should physically point to the two highlighted cells.
Analogy to use: A sample space is like a menu of every possible outcome. An event is not a single item unless the question is very specific; it is usually a subset of the menu.
Student gotcha: Make sure students do not accidentally treat distinguishable dice as unordered. If one die is red and one die is blue, red-five blue-six differs from red-six blue-five.
Class prompt: Ask students to count the event Doubles and compare it with Total =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Events and propositions
Teaching notes: This slide introduces the sum-over-worlds idea that drives the full joint distribution later. For dice, Total = 11 is two worlds. Doubles is six worlds. For a medical domain, toothache is all possible worlds in which Toothache is true.
Analogy to use: A search filter selects rows from a database; an event selects worlds from the sample space.
Student gotcha: An event can contain many possible worlds. Do not assume one event equals one outcome.
Class prompt: How many worlds are in the event Doubles for two dice?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Probability model axioms
Teaching notes: Use the belief budget analogy. If the sample space is complete, all probability mass must go somewhere. If worlds overlap or are missing, the model is poorly specified. This is why sample-space design matters.
Analogy to use: Probability is a budget of one dollar spread across all possible worlds.
Student gotcha: The total must be 1 across mutually exclusive and exhaustive worlds, not across arbitrary overlapping events.
Class prompt: What is wrong if three possible worlds have probabilities 0.5, 0.6, and 0.2?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Example: probability of Total = 11
Teaching notes: This calculation is intentionally simple. It reinforces that probability of a proposition is a sum over worlds. After this, remind students that real AI examples usually do not have equal probabilities.
Analogy to use: You count the winning tickets and divide by the total tickets when each ticket is equally likely.
Student gotcha: If dice are loaded, the worlds are still the same, but their probabilities may not be equal.
Class prompt: What is P(doubles) for fair dice?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Prior and posterior probabilities
Teaching notes: Explain that “prior” and “posterior” are relative to evidence. A probability can be prior at one point and posterior after earlier evidence. Students should not think “prior” means ancient or wrong; it means before the evidence being considered.
Analogy to use: A weather forecast before looking outside is a prior; after seeing dark clouds, your updated forecast is a posterior.
Class prompt: Why is P(cavity) still true but less useful after observing toothache?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Conditional probability
Teaching notes: This is foundational. Draw a box of all worlds if needed, then circle the b worlds and show that P(a | b) is the fraction of b-world probability that also satisfies a. Make students practice reading “given” aloud.
Analogy to use: Conditioning is zooming in on only the rows of a spreadsheet where the evidence column is true.
Student gotcha: Do not read the vertical bar as implication. It is not a logical arrow.
Class prompt: What does P(doubles | first die = 5) mean?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Product rule
Teaching notes: Use this slide to prepare for Bayes rule. Write P(a and b) = P(a | b)P(b) and P(a and b) = P(b | a)P(a). Equating them leads directly to Bayes rule.
Analogy to use: To enter a restricted lab, first be in the building, then have lab access given you are in the building.
Student gotcha: The order in the multiplication can change the conditional term, but the joint event is the same.
Class prompt: How could you also write P(a and b) using P(b | a)?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Random variables
Teaching notes: Define random variables concretely. For each possible world in the dice example, Die1 has a value and Total has a value. In medical diagnosis, Cavity has true or false. Random variables are the building blocks of factored probability models.
Analogy to use: A random variable is a question you can ask about every possible world.
Student gotcha: “Random” does not mean arbitrary; it means the value may vary across possible worlds.
Class prompt: What is the range of Total for two dice?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Boolean abbreviations
Teaching notes: The chapter uses lowercase abbreviations for Boolean propositions. In class, expand these often so students do not lose track of random variables and values. This also helps later with conditional distributions.
Analogy to use: Saying “lights on” is shorthand for “the LightSwitch variable has value on.”
Student gotcha: Make sure students know which words are variables and which words are values.
Class prompt: What is the full version of P(not cavity | toothache)?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Probability distributions over variables
Teaching notes: Explain bold P notation if needed: it returns a vector or table rather than one scalar. For a discrete variable, the probabilities across all values sum to one. This prepares students for full joint distributions.
Analogy to use: A distribution is like a pie chart of belief divided among possible values.
Student gotcha: A distribution is not one number unless the variable has only one queried value.
Class prompt: Why does P(Weather) need four numbers in this example?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Continuous variables and density
Teaching notes: Do not go too deep into calculus unless the class needs it. The main teaching point is the difference between discrete probabilities and continuous densities. AI systems often discretize or use parametric density functions.
Analogy to use: A density is like spreading paint across a ruler; probability over an interval is the amount of paint on that section.
Student gotcha: For continuous variables, the probability of one exact value is usually zero; intervals are meaningful.
Class prompt: Why is “exactly 20.000000°C” less useful than “between 19°C and 21°C”?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Possible worlds as assignments
Teaching notes: This slide makes the connection to full joints explicit. If there are two Boolean variables and one four-valued variable, there are 2 x 2 x 4 worlds. A full joint assigns probabilities to all complete rows.
Analogy to use: A possible world is one completed row in a spreadsheet where every column has a value.
Student gotcha: A partial assignment is evidence or an event, not necessarily a complete possible world.
Class prompt: How many worlds for Cavity, Toothache, and Weather with four weather values?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The full joint distribution is the foundation
Teaching notes: This slide sets up Section 12.3. The full joint is powerful because it is complete; it is impractical because it grows as 2 to the number of Boolean variables. Later structure and independence help avoid explicit full joints.
Analogy to use: The full joint is the master spreadsheet of every possible world row and its probability.
Student gotcha: Complete does not mean practical. A full joint is often too large to build explicitly.
Class prompt: How many rows for 20 Boolean variables?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Axioms constrain related beliefs
Teaching notes: Introduce complement and inclusion-exclusion as consequences of the axioms. Use a Venn diagram verbally: adding P(a) and P(b) counts their intersection twice, so subtract the overlap.
Analogy to use: You cannot spend the same dollar twice; probability overlap must be counted once.
Student gotcha: P(a or b) is not always P(a)+P(b). That only works for mutually exclusive events.
Class prompt: What is P(a or b) if P(a)=0.4, P(b)=0.3, and a,b cannot both happen?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Dutch book intuition: incoherent beliefs are exploitable
Teaching notes: Use the figure to discuss the idea that probability axioms are not arbitrary. Inconsistent beliefs can force irrational behavior. The chapter uses de Finetti’s betting argument to motivate why rational degrees of belief should obey probability rules.
Analogy to use: A price list with contradictions lets someone buy low and sell high against you every time.
Student gotcha: Students may think the betting example is artificial. Explain it models any decision with uncertain payoffs.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Why coherence matters for artificial intelligence
Teaching notes: This slide separates coherence from accuracy. A model can obey all axioms and still be wrong about the world. Good AI needs both coherent probability theory and good estimation or learning.
Analogy to use: A budgeting app with inconsistent totals will eventually recommend impossible spending.
Student gotcha: Coherence does not guarantee the probabilities are accurate; it only means they are not self-contradictory.
Class prompt: Can an agent have coherent but badly estimated probabilities?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Checkpoint: probability notation
Teaching notes: Use this before moving to full joint inference. Correct answers should include: an event is a set of worlds; the sample space is exhaustive and mutually exclusive; vertical bar means given; the simple addition rule only applies when events are mutually exclusive.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12.3 - Inference using full joint distributions
Teaching notes: This section gives students the mechanical heart of probability inference. The full joint distribution is the knowledge base. Queries are answered by filtering, summing, and normalizing.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The Toothache, Cavity, Catch world
Teaching notes: Spend time reading one cell. For example, 0.108 means Cavity is true, Toothache is true, and Catch is true. It is a probability of a complete world row. This distinction matters for the calculations that follow.
Analogy to use: The table is a complete spreadsheet of every patient-world combination in this tiny model.
Student gotcha: Cells are not conditional probabilities. They are joint probabilities of complete assignments.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The full joint as a knowledge base
Teaching notes: Use database language because students understand filtering rows. The full joint distribution can answer anything, but explicit enumeration is costly. This is similar to truth tables in Chapter 7: complete but not always practical.
Analogy to use: A full joint table is like a complete database; inference is a query over rows.
Student gotcha: “In principle” does a lot of work: the table may be too large in realistic domains.
Class prompt: Which rows would match Cavity = true?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Marginalization: summing out variables
Teaching notes: Explain that marginalization is a workhorse operation. If the query is about Cavity, then Toothache and Catch are not being ignored in a careless way; their possible values are all included in the sum.
Analogy to use: To find total sales by product, sum over all stores and all days.
Student gotcha: Summing out is not deleting information randomly; it adds over all possibilities for variables you are not asking about.
Class prompt: Which variables must be summed out to compute P(cavity)?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Worked example: P(cavity)
Teaching notes: Use the Figure 12.3 table. Ask students to identify the four cells before you reveal the sum. Then ask why not-cavity is 0.8. Reinforce that the whole table sums to 1.
Analogy to use: Add every receipt for one category to get the category total.
Student gotcha: Do not include the not-cavity row when computing P(cavity).
Class prompt: What cells are added for P(not cavity)?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Worked example: disjunction query
Teaching notes: This example helps students connect probability rules to actual table cells. It also reinforces inclusion-exclusion. If students struggle, have them highlight cells that satisfy the proposition.
Analogy to use: Counting students who are computer science majors or math minors requires not double-counting those who are both.
Student gotcha: The word “or” is inclusive unless otherwise stated.
Class prompt: Which not-cavity cells still count because toothache is true?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Conditioning from the full joint table
Teaching notes: This is a central worked example. Show the numerator 0.108 + 0.012 = 0.12 and denominator 0.108 + 0.012 + 0.016 + 0.064 = 0.20. Then compute 0.12 / 0.20 = 0.60.
Analogy to use: Among people in the “has toothache” room, what fraction also have a cavity?
Student gotcha: The denominator is not the whole table; it is the probability of the evidence.
Class prompt: Which table cells make up P(toothache)?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Worked example: P(cavity | toothache)
Teaching notes: Emphasize the denominator. It normalizes the evidence world. Then preview Bayes rule by noting that cause given symptom is not the same as symptom given cause.
Analogy to use: After entering the toothache room, ignore everyone outside that room and count the cavity cases inside.
Student gotcha: P(cavity | toothache) and P(toothache | cavity) are different questions.
Class prompt: How would the calculation change for P(cavity | toothache and catch)?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Normalization shortcut
Teaching notes: Students often dislike alpha. Explain that alpha is shorthand for 1 divided by the sum of the scores. It is used because many calculations only need relative scores before final normalization.
Analogy to use: Normalize scores like converting raw points into percentages that sum to 100%.
Student gotcha: The normalizing constant is not a mysterious probability; it is a scaling factor.
Class prompt: What factor turns raw scores 0.12 and 0.08 into probabilities that sum to 1?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General inference by enumeration
Teaching notes: Use the formula as a general version of the previous example. If X is Cavity and evidence is toothache, Catch is the hidden variable. In bigger domains, there can be many hidden variables, and enumeration becomes expensive.
Analogy to use: For each possible answer, add every hidden scenario that would still fit the evidence.
Student gotcha: The formula looks abstract, but it is the same row-filtering method from the table.
Class prompt: In the toothache query, which variable was hidden and summed out?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Why full joints do not scale
Teaching notes: Compare to truth tables from Chapter 7. Truth tables were complete but exponential; full joints are similar. This motivates independence and conditional independence as ways to exploit structure.
Analogy to use: A full joint is like a census form with every possible combination of answers; combinations explode quickly.
Student gotcha: The problem is not only computer memory. Estimating every probability from data is also unrealistic.
Class prompt: How many entries for 10 Boolean variables? 20? 30?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The full joint is still important
Teaching notes: This slide bridges to independence. Explain that many AI representations are compact encodings of a full joint distribution. Understanding the full joint helps students trust what later algorithms are doing.
Analogy to use: A complete city map may be too large to carry, but it explains what your GPS is approximating and compressing.
Student gotcha: Do not dismiss the full joint just because it is impractical. It is the conceptual foundation.
Class prompt: How is this like truth tables for propositional logic?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Checkpoint: full joint inference
Teaching notes: Use this after Section 12.3. Correct answers should mention complete assignments, summing over hidden variables, scaling scores to sum to 1, and exponential growth.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12.4 - Independence
Teaching notes: This section introduces the first structural simplification. Absolute independence is powerful but rare. It gives students the idea of factoring before conditional independence becomes the main tool.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Why independence helps
Teaching notes: Give examples of independent coin flips and dental variables versus weather. Then give counterexamples: umbrella use and weather are not independent, even if they are stored in different databases.
Analogy to use: If lunch choice and coin flip are unrelated, you do not need one giant lunch-coin table.
Student gotcha: Independence is a claim about a probability model, not a visual absence of arrows on a slide.
Class prompt: Name two variables that are plausibly independent in everyday life.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Figure: factoring with absolute independence
Teaching notes: Use the figure to show two decompositions. For weather and dental problems, the intuition is straightforward. For n coin flips, the storage reduction is dramatic: instead of a table of 2^n combinations, use n single-coin distributions.
Analogy to use: Separate file cabinets are enough when two topics never cross-reference each other.
Student gotcha: Most real domains are not this clean; indirect connections often break independence.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Equivalent forms of independence
Teaching notes: This is a good place to contrast independence with mutual exclusivity. If a die roll is 6, then it is definitely even; that changes belief, so they are not independent. This helps prevent a common mistake.
Analogy to use: If two students choose lunch independently, learning one order tells you nothing about the other.
Student gotcha: Independence is not the same as mutual exclusivity. Mutually exclusive events are usually dependent.
Class prompt: Are “roll is 6” and “roll is even” independent on one die?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Weather and dentistry example
Teaching notes: Point out that some indirect or special connection could break independence, such as weather affecting clinic attendance or dental pain sensitivity. Models are simplifications; independence is useful when the simplification is appropriate.
Analogy to use: A dentist does not usually need a meteorology report to interpret a cavity test.
Student gotcha: Independence assumptions should be justified by domain knowledge, not convenience alone.
Class prompt: When might weather and toothache stop being independent?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Coin flips show the scaling benefit
Teaching notes: Use numbers: 20 flips has over one million outcomes, but only 20 single-coin distributions if flips are independent. For fair coins, even those distributions are identical, reducing the model further.
Analogy to use: Instead of listing every possible sequence of heads and tails, describe the same coin process once per flip.
Student gotcha: This only works if flips are independent. A biased coin can still be independent across flips if each flip does not affect the next.
Class prompt: How many entries in a full joint for 20 coin flips?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Independence is powerful but rare
Teaching notes: This slide prepares students for conditional independence. Absolute independence is a strong claim. Conditional independence says variables can become independent once a relevant third variable is known.
Analogy to use: Two departments may seem separate until a shared budget connects their decisions.
Student gotcha: If evidence links two variables through a common cause, assuming independence can be badly wrong.
Class prompt: Are rain and wet grass independent? What about after knowing the sprinkler was on?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Absolute independence versus conditional independence
Teaching notes: Do not fully derive conditional independence yet; just preview it. Use the dental example: Toothache and Catch are both effects of Cavity. Once Cavity is known, one effect may not tell much more about the other.
Analogy to use: Two smoke alarms are related because of a fire; once you know whether there is a fire, one alarm adds less about the other.
Class prompt: What variable could make Toothache and Catch conditionally independent?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Checkpoint: independence
Teaching notes: Good answers should mention that learning b does not change belief in a, factoring reduces combinations, mutually exclusive events affect each other, and real domains often have indirect connections.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12.5 - Bayes rule and its use
Teaching notes: This is the most famous part of the chapter. Emphasize that Bayes rule is not magic; it comes from the product rule. Its power comes from reversing the direction of inference from evidence back to causes.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Deriving Bayes rule from the product rule
Teaching notes: Show the derivation on the board if time allows. Students are less intimidated when they see that Bayes rule is a rearrangement of the product rule. Introduce vocabulary: prior, likelihood, evidence, posterior.
Analogy to use: Two routes reach the same intersection; equating them lets you solve for the missing road segment.
Student gotcha: Bayes rule is algebra from conditional probability, not a separate belief rule invented from nowhere.
Class prompt: Which term is the prior in this formula?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Causal direction versus diagnostic direction
Teaching notes: This slide is crucial. Many probabilities are easier to estimate in the causal direction, but decisions often require the diagnostic direction. Bayes rule bridges that gap.
Analogy to use: A fire causes smoke, but seeing smoke requires reasoning backward to possible fire.
Class prompt: Which direction does a doctor usually observe first: disease or symptom?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Meningitis base-rate example
Teaching notes: This is the classic base-rate lesson. Students often see 70 percent and expect a large posterior. The low prior probability of meningitis and higher overall probability of stiff neck dominate the calculation.
Analogy to use: A rare cause can strongly produce a symptom, but most symptom cases may still come from common causes.
Student gotcha: The probability of symptom given disease is not the probability of disease given symptom.
Class prompt: Why does a strong symptom relationship still produce a small posterior here?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Base rates matter
Teaching notes: Use examples like disease testing, spam detection, or fraud alarms. If fraud is rare, a moderately accurate alert can still produce many false positives. This sets up why calibration matters.
Analogy to use: If almost nobody in a stadium is a professor, seeing glasses does not make a random person likely to be a professor.
Student gotcha: Do not confuse a sensitive symptom with a conclusive symptom.
Class prompt: How does this relate to false alarms in security systems?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Bayes rule with normalization
Teaching notes: Connect this to the earlier alpha shortcut. In many inference problems, the denominator P(x) is the same for all values of Y, so we can compute relative scores and normalize.
Analogy to use: Score every suspect by clue fit times prior plausibility, then convert scores into percentages.
Student gotcha: Normalization does not change the ranking; it changes raw scores into probabilities.
Class prompt: What are the raw scores for cavity and not cavity given toothache?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Dental example with Bayes rule
Teaching notes: This slide ties Bayes rule to the full joint numbers. Show that we get the same answer as enumeration. The normalized raw scores make the computation intuitive.
Analogy to use: Combine how common a cause is with how well it explains the evidence.
Student gotcha: A cause needs both a reasonable prior and a strong likelihood to dominate.
Class prompt: What happens if cavities are much rarer in the population?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Conditional independence definition
Teaching notes: Use the dental model: Toothache and Catch are both effects of Cavity. Without knowing Cavity, they are related. Given Cavity, they may be modeled as independent because the shared cause has been accounted for.
Analogy to use: Two classmates’ wet umbrellas are related by the weather; once you know it rained, one umbrella tells less about the other.
Student gotcha: Conditional independence does not mean X and Y are always independent.
Class prompt: What variable explains the connection between Toothache and Catch?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Dentist domain: Toothache and Catch given Cavity
Teaching notes: This slide is a conceptual setup for naive Bayes. Conditional independence is the reason we can scale probabilistic models. It corresponds to causal structure: a common cause explains multiple effects.
Analogy to use: Two smoke alarms are linked because of fire; given whether there is fire, their readings can be treated separately in a simple model.
Student gotcha: This is a modeling assumption. It can be approximately useful even if not perfectly true.
Class prompt: Can you think of a reason Toothache and Catch might still be related even given Cavity?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83: Conditional independence reduces complexity
Teaching notes: Use this slide to stress scalability. Going from 7 to 5 independent numbers in the tiny dental example seems small, but with dozens or hundreds of symptoms the difference becomes enormous.
Analogy to use: Instead of surveying every combination of symptoms, store how each symptom relates to the cause.
Student gotcha: The savings depend on having the right independence structure.
Class prompt: Why does one shared cause make symptoms easier to model?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84: Common mistakes with Bayes rule
Teaching notes: This is a good stopping point for questions. Ask students to explain each mistake in the context of disease diagnosis or spam detection. Focus especially on prior probability and normalization.
Analogy to use: Bayes rule is like a balance scale; likelihood and prior both need to be on the scale.
Student gotcha: The base rate is often the term students forget, and it is often the term that changes the answer most.
Class prompt: Which mistake is easiest to make in medical testing?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85: Checkpoint: Bayes rule
Teaching notes: Good answers should mention effects versus causes, low base rates, turning raw scores into a distribution, and conditional independence among symptoms given a cause.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86: 12.6 - Naive Bayes models
Teaching notes: Naive Bayes is the chapter’s most practical model. It assumes many effects are conditionally independent given a cause or category. It is often wrong in detail but useful in ranking categories.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87: The naive Bayes pattern
Teaching notes: Introduce naive Bayes as a simple cause-and-effects model. In classification, the cause is often the class label, such as spam/not spam or business/weather. The effects are observed features, such as words.
Analogy to use: A newspaper section explains why many words appear; once you know the section, model words separately.
Student gotcha: “Naive” means the independence assumption is simplified, not that the model is useless.
Class prompt: What might be the cause variable in spam filtering?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88: Why it is called naive
Teaching notes: Use the chapter’s “first quarter” example. Word dependencies violate the naive assumption. However, for classification, correct ranking can matter more than perfectly calibrated probabilities.
Analogy to use: A teacher may grade each question separately even though skills overlap; the simplification can still be useful.
Student gotcha: Naive Bayes can be overconfident even when the top-ranked class is correct.
Class prompt: Why are the words “first” and “quarter” not independent in a business article?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89: Naive Bayes inference in words
Teaching notes: This is the algorithmic core. For introductory students, focus on scoring and normalizing. Mention log probabilities as a practical implementation detail without making it the main lesson.
Analogy to use: Each feature casts a vote, but votes are weighted by how typical that feature is for the category.
Student gotcha: Multiplying many small probabilities can cause numerical underflow in real systems; log probabilities are used in practice.
Class prompt: What feature would strongly support the weather category?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90: Text classification setup
Teaching notes: Use the chapter’s example sentences about stocks and heavy rain. Students can easily see that words are evidence for categories. This makes naive Bayes intuitive before formulas.
Analogy to use: A newspaper section acts like a theme that makes certain words more likely.
Student gotcha: The absence of a word can also be evidence, depending on how the model is built.
Class prompt: Which words would suggest “business”? Which words suggest “weather”?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91: Training from counts
Teaching notes: Explain that probabilities are estimated from data. Smoothing is important because a word absent from small training data should not make a category impossible. This is a practical issue students will encounter in machine learning.
Analogy to use: Training is like learning which words usually appear in each newspaper section.
Class prompt: Why would zero probability for an unseen word be dangerous?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92: Classifying a new document
Teaching notes: Tie classification back to decisions. If all errors have equal cost, choose the highest posterior category. If errors have different utilities, use expected utility instead.
Analogy to use: Like sorting mail by clues: envelope words, sender, and topic hints.
Class prompt: Would you always choose the highest-probability category if errors have different costs?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93: Smoothing and zero probabilities
Teaching notes: Although smoothing may not be emphasized in the chapter, it is a valuable teaching extension for implementation. In text classification, vocabularies are huge and training sets are limited, so zero counts are common.
Analogy to use: If no student in a tiny sample owns a bicycle, you should not conclude the probability is exactly zero for the whole campus.
Student gotcha: Zero probabilities are sticky: once multiplied by zero, the whole category score becomes zero.
Class prompt: Why is smoothing especially important for text?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94: Overconfidence versus useful ranking
Teaching notes: This is a nuanced slide. For search results or spam ranking, a good ordering may be useful. For medical treatment or safety decisions, calibrated probabilities matter. This helps students understand model appropriateness.
Analogy to use: A confident friend may exaggerate certainty but still point you in the right direction.
Student gotcha: Do not use overconfident probabilities blindly in high-stakes decisions.
Class prompt: When is ranking enough, and when do exact probabilities matter?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95: When naive Bayes is not enough
Teaching notes: Tie the slide to the next chapter. Naive Bayes is a useful baseline and teaching tool, but more sophisticated models represent dependencies among variables explicitly.
Analogy to use: A quick checklist can triage patients, but surgery requires a more careful diagnostic model.
Student gotcha: Simple and fast is not the same as appropriate for every task.
Class prompt: Would naive Bayes be acceptable for recommending music? For diagnosing appendicitis?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96: Mini example: business versus weather
Teaching notes: Use this as a live activity. Put two short sentences on the board and ask students which words are strongest evidence. Then show how naive Bayes formalizes that intuition.
Analogy to use: Each word is a clue; the category is the explanation that makes the clues likely.
Student gotcha: Words are not truly independent, but the approximation can still rank categories well.
Class prompt: How would the word “quarter” behave differently in business and sports?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97: Checkpoint: naive Bayes
Teaching notes: Students should identify the category as the hidden variable and word presence as evidence. Listen for understanding that independence is an approximation and that zero probabilities can break multiplication.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98: 12.7 - The Wumpus World revisited
Teaching notes: Return to a familiar environment from logical agents. This section demonstrates the value of probability when logic leaves multiple candidate squares unknown.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99: Why the Wumpus agent is uncertain
Teaching notes: Reintroduce the Wumpus World briefly. We ignore the Wumpus and gold in this probabilistic example and focus on pit variables. The goal is to compute risk, not prove absolute safety.
Analogy to use: A hiker hears rocks shifting nearby but cannot see which path has the cliff.
Student gotcha: Unknown squares are not necessarily equally risky.
Class prompt: Why might a square adjacent to two breezes be more suspicious than one adjacent to one breeze?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100: Figure: no known safe square to explore
Teaching notes: Use the figure to identify Known, Query, Frontier, and Other. Point out that [2,2] is adjacent to both breezes, which foreshadows its higher pit probability.
Analogy to use: When every route has some risk, a risk estimate is better than random choice.
Student gotcha: The query square and frontier variables are separated because they play different roles in the computation.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101: Random variables for pits and breezes
Teaching notes: Translate notation carefully. Pij is not a probability function here; it is the name of a Boolean random variable for a pit. This can confuse students because P also denotes probability.
Analogy to use: Each square carries a hidden risk label; breezes are clues about nearby labels.
Student gotcha: A breeze is observed evidence; a pit is usually a hidden variable.
Class prompt: Which variables are evidence and which variables are hidden?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102: Wumpus full joint idea
Teaching notes: Explain that inference enumerates possible pit configurations. Observed breezes filter configurations. The independent pit prior weights configurations by how many pits they contain.
Analogy to use: Imagine trying every hidden map of pits, throwing out maps inconsistent with breezes, and weighting the rest.
Student gotcha: The breeze variables are not random noise in this example; they are deterministic effects of pit placement.
Class prompt: Why do inconsistent pit maps get probability weight zero after evidence?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103: Known, query, frontier, and other variables
Teaching notes: This is the local reasoning insight. If all variables adjacent to observed breezes are accounted for, distant pit variables do not affect those breezes. This is an example of conditional independence.
Analogy to use: For a smoke smell in one hallway, distant rooms may be irrelevant once nearby rooms are accounted for.
Student gotcha: Other variables are not impossible; they are irrelevant to this query after conditioning on local variables.
Class prompt: Why is [4,4] unlikely to affect belief about a pit in [1,3]?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104: Conditional independence in the Wumpus query
Teaching notes: Translate the formal statement verbally. This is one of the most important intuitions for Bayesian networks: local evidence depends on local causes, and conditional independence makes inference tractable.
Analogy to use: To explain a smell in this room, nearby trash cans matter more than trash cans across campus.
Student gotcha: The distant squares can still contain pits; they just do not affect this local query after conditioning.
Class prompt: Which variables are local enough to explain the breezes?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105: Figure: consistent frontier models
Teaching notes: Use the figure to show how enumeration becomes visual. The purple circles are pit placements in frontier/query squares. The weights are products of pit and no-pit priors.
Analogy to use: Only maps that explain the clues stay on the table; then we weigh how plausible each map was before evidence.
Student gotcha: A model with more pits usually has lower prior weight because each pit has probability 0.2.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106: Pit probabilities after evidence
Teaching notes: This is the payoff slide for Wumpus. Logic alone could not rank the unknown squares. Probability ranks them based on how well each pit placement explains the observed breezes and how likely each pit configuration was a priori.
Analogy to use: Logic says several doors are unverified; probability says one door is much more likely to hide danger.
Student gotcha: Unknown does not mean 50-50, and it does not mean all unknowns are equal.
Class prompt: Why is [2,2] more dangerous than [1,3] or [3,1]?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107: What probability adds beyond logic
Teaching notes: Wrap up the Wumpus example by connecting it to the chapter theme. Probability is useful precisely when logic cannot make a definitive distinction among possibilities.
Analogy to use: Logic says “I cannot prove this bridge is safe.” Probability estimates the chance the bridge fails.
Student gotcha: Probabilistic reasoning still depends on modeling assumptions, priors, and evidence quality.
Class prompt: Where else would ranking unknown risks be valuable?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108: Checkpoint: probabilistic Wumpus World
Teaching notes: Students should explain variables, the limits of logical entailment, the effect of being adjacent to multiple breezes, and the local nature of breeze evidence. This is a good capstone for the chapter.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109: Chapter summary - Review and consolidation
Teaching notes: Use the final section to consolidate the chapter. The next chapter will use graph structure to represent conditional independence and perform inference efficiently.
Analogy to use: Treat this section divider like a road sign on a long trip. Tell students where we have been, what problem we are solving now, and what concept they should listen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110: Ten takeaways, part 1
Teaching notes: Review the conceptual half of the chapter. Ask students to connect each takeaway to an example: airport, toothache, dice, or Wumpus.
Analogy to use: The chapter turns “I do not know” into a usable numeric belief state.
Student gotcha: A probability is evidence-relative; always ask “given what?”
Class prompt: Which takeaway connects most directly to Chapter 2 rational agents?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111: Ten takeaways, part 2
Teaching notes: Review the computational half of the chapter. Emphasize that Chapter 13 will make conditional independence explicit using graphs. This helps students see the course progression.
Analogy to use: The full joint is the complete atlas; independence is the folding pattern that makes it portable.
Student gotcha: Do not confuse a compact model with a different semantics; it still represents a full joint distribution implicitly.
Class prompt: Which concept prepares us most directly for Bayesian networks?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112: One-page formula review
Teaching notes: Use this as a calm consolidation slide after a symbol-heavy chapter. Do not ask students to memorize formulas as isolated artifacts. For each row, ask what operation is happening to possible worlds: complement removes, union adds, conditional filters, product chains, Bayes reverses direction, normalization rescales.
Student gotcha: Students often memorize Bayes rule but cannot interpret it. Reconnect each term to prior, likelihood, evidence, and posterior.
Class prompt: Ask students to explain the conditional probability row using the dice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113: Common student gotchas
Teaching notes: Use this as a diagnostic teaching slide. Have students write a correction for one gotcha. For example, “P(cavity | toothache) is not toothache implies cavity; it is belief in cavity among worlds with toothache evidence.”
Analogy to use: Most errors come from mixing up the question being asked, like answering “how common is the clue?” when asked “how likely is the suspect?”
Student gotcha: Ask students to state every probability sentence in plain English before calculating.
Class prompt: Which gotcha has caused the most errors in your notes?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114: Final review questions
Teaching notes: Use this as an exit ticket or exam review. Strong answers should connect probability to evidence, full joint row sums, priors and likelihoods, factoring, and risk ranking in Wumpus World.
Suggested use: Give students 90 seconds alone, then 2 minutes with a neighbor, then call on two groups. For computational questions, ask students to explain their reasoning, not just the numeric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115: Suggested references and support materials
Teaching notes: Include this slide for instructor transparency and student follow-up. The deck is based on the attached Chapter 12 materials and enhanced with teaching analogies, gotchas, and examples. Encourage students to use the official AIMA resources if they want additional examples or code.
Analogy to use: References are the “sources of evidence” for the lecture itself; students should know where to go next.
Student gotcha: Do not overload students with outside reading before they can explain the core formulas in plain language.
Class prompt: Which reference would help with code practice? Which one helps with textbook reading?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116: Bridge to Chapter 13
Teaching notes: End by previewing Bayesian networks. Draw or describe a simple graph with Cavity pointing to Toothache and Catch. Tell students that the next step is making conditional independence explicit and using it for efficient inference.
Analogy to use: Chapter 12 teaches the arithmetic of uncertainty; Chapter 13 teaches the map that keeps the arithmetic manageable.
Student gotcha: The next chapter is not a different topic; it is a more efficient representation of the same probabilistic ideas.
Class prompt: What structure would you draw for Cavity causing Toothache and Catch?
Teaching move: read the slide briefly, then use the notes to expand with a concrete example before moving on. Ask students to restate the concept in their own words when the topic is symbol-heavy.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11C5B"/>
          </a:solidFill>
          <a:ln w="12700">
            <a:solidFill>
              <a:srgbClr val="A11C5B">
                <a:alpha val="0"/>
              </a:srgbClr>
            </a:solidFill>
            <a:prstDash val="solid"/>
          </a:ln>
        </p:spPr>
      </p:sp>
      <p:sp>
        <p:nvSpPr>
          <p:cNvPr id="3" name="Text 1"/>
          <p:cNvSpPr/>
          <p:nvPr/>
        </p:nvSpPr>
        <p:spPr>
          <a:xfrm>
            <a:off x="685800" y="658368"/>
            <a:ext cx="8686800" cy="228600"/>
          </a:xfrm>
          <a:prstGeom prst="rect">
            <a:avLst/>
          </a:prstGeom>
          <a:noFill/>
          <a:ln/>
        </p:spPr>
        <p:txBody>
          <a:bodyPr wrap="square" lIns="0" tIns="0" rIns="0" bIns="0" rtlCol="0" anchor="ctr"/>
          <a:lstStyle/>
          <a:p>
            <a:pPr indent="0" marL="0">
              <a:buNone/>
            </a:pPr>
            <a:r>
              <a:rPr lang="en-US" sz="1050" b="1" dirty="0">
                <a:solidFill>
                  <a:srgbClr val="C5F6FA"/>
                </a:solidFill>
                <a:latin typeface="Aptos" pitchFamily="34" charset="0"/>
                <a:ea typeface="Aptos" pitchFamily="34" charset="-122"/>
                <a:cs typeface="Aptos" pitchFamily="34" charset="-120"/>
              </a:rPr>
              <a:t>COMP 469  ·  INTRODUCTION TO ARTIFICIAL INTELLIGENCE</a:t>
            </a:r>
            <a:endParaRPr lang="en-US" sz="1050" dirty="0"/>
          </a:p>
        </p:txBody>
      </p:sp>
      <p:sp>
        <p:nvSpPr>
          <p:cNvPr id="4" name="Text 2"/>
          <p:cNvSpPr/>
          <p:nvPr/>
        </p:nvSpPr>
        <p:spPr>
          <a:xfrm>
            <a:off x="685800" y="1417320"/>
            <a:ext cx="10789920" cy="1234440"/>
          </a:xfrm>
          <a:prstGeom prst="rect">
            <a:avLst/>
          </a:prstGeom>
          <a:noFill/>
          <a:ln/>
        </p:spPr>
        <p:txBody>
          <a:bodyPr wrap="square" lIns="0" tIns="0" rIns="0" bIns="0" rtlCol="0" anchor="ctr">
            <a:normAutofit/>
          </a:bodyPr>
          <a:lstStyle/>
          <a:p>
            <a:pPr indent="0" marL="0">
              <a:buNone/>
            </a:pPr>
            <a:r>
              <a:rPr lang="en-US" sz="5100" b="1" dirty="0">
                <a:solidFill>
                  <a:srgbClr val="FFFFFF"/>
                </a:solidFill>
                <a:latin typeface="Aptos Display" pitchFamily="34" charset="0"/>
                <a:ea typeface="Aptos Display" pitchFamily="34" charset="-122"/>
                <a:cs typeface="Aptos Display" pitchFamily="34" charset="-120"/>
              </a:rPr>
              <a:t>Chapter 12: Quantifying Uncertainty</a:t>
            </a:r>
            <a:endParaRPr lang="en-US" sz="5100" dirty="0"/>
          </a:p>
        </p:txBody>
      </p:sp>
      <p:sp>
        <p:nvSpPr>
          <p:cNvPr id="5" name="Shape 3"/>
          <p:cNvSpPr/>
          <p:nvPr/>
        </p:nvSpPr>
        <p:spPr>
          <a:xfrm>
            <a:off x="685800" y="2852928"/>
            <a:ext cx="2011680" cy="73152"/>
          </a:xfrm>
          <a:prstGeom prst="rect">
            <a:avLst/>
          </a:prstGeom>
          <a:solidFill>
            <a:srgbClr val="F5C542"/>
          </a:solidFill>
          <a:ln w="12700">
            <a:solidFill>
              <a:srgbClr val="F5C542">
                <a:alpha val="0"/>
              </a:srgbClr>
            </a:solidFill>
            <a:prstDash val="solid"/>
          </a:ln>
        </p:spPr>
      </p:sp>
      <p:sp>
        <p:nvSpPr>
          <p:cNvPr id="6" name="Text 4"/>
          <p:cNvSpPr/>
          <p:nvPr/>
        </p:nvSpPr>
        <p:spPr>
          <a:xfrm>
            <a:off x="685800" y="3246120"/>
            <a:ext cx="10149840" cy="640080"/>
          </a:xfrm>
          <a:prstGeom prst="rect">
            <a:avLst/>
          </a:prstGeom>
          <a:noFill/>
          <a:ln/>
        </p:spPr>
        <p:txBody>
          <a:bodyPr wrap="square" lIns="0" tIns="0" rIns="0" bIns="0" rtlCol="0" anchor="ctr">
            <a:normAutofit/>
          </a:bodyPr>
          <a:lstStyle/>
          <a:p>
            <a:pPr indent="0" marL="0">
              <a:buNone/>
            </a:pPr>
            <a:r>
              <a:rPr lang="en-US" sz="2400" dirty="0">
                <a:solidFill>
                  <a:srgbClr val="E9F5FF"/>
                </a:solidFill>
                <a:latin typeface="Aptos" pitchFamily="34" charset="0"/>
                <a:ea typeface="Aptos" pitchFamily="34" charset="-122"/>
                <a:cs typeface="Aptos" pitchFamily="34" charset="-120"/>
              </a:rPr>
              <a:t>Probability, evidence, and rational decisions for intelligent agents</a:t>
            </a:r>
            <a:endParaRPr lang="en-US" sz="2400" dirty="0"/>
          </a:p>
        </p:txBody>
      </p:sp>
      <p:sp>
        <p:nvSpPr>
          <p:cNvPr id="7" name="Text 5"/>
          <p:cNvSpPr/>
          <p:nvPr/>
        </p:nvSpPr>
        <p:spPr>
          <a:xfrm>
            <a:off x="685800" y="5074920"/>
            <a:ext cx="9875520" cy="320040"/>
          </a:xfrm>
          <a:prstGeom prst="rect">
            <a:avLst/>
          </a:prstGeom>
          <a:noFill/>
          <a:ln/>
        </p:spPr>
        <p:txBody>
          <a:bodyPr wrap="square" lIns="0" tIns="0" rIns="0" bIns="0" rtlCol="0" anchor="ctr"/>
          <a:lstStyle/>
          <a:p>
            <a:pPr indent="0" marL="0">
              <a:buNone/>
            </a:pPr>
            <a:r>
              <a:rPr lang="en-US" sz="1600" dirty="0">
                <a:solidFill>
                  <a:srgbClr val="B8DDF0"/>
                </a:solidFill>
                <a:latin typeface="Aptos" pitchFamily="34" charset="0"/>
                <a:ea typeface="Aptos" pitchFamily="34" charset="-122"/>
                <a:cs typeface="Aptos" pitchFamily="34" charset="-120"/>
              </a:rPr>
              <a:t>CSU Channel Islands · COMP 469 · Introduction to Artificial Intelligence</a:t>
            </a:r>
            <a:endParaRPr lang="en-US" sz="1600" dirty="0"/>
          </a:p>
        </p:txBody>
      </p:sp>
      <p:sp>
        <p:nvSpPr>
          <p:cNvPr id="8" name="Text 6"/>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Course setup</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Agenda and teaching path</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31520"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9" name="Text 7"/>
          <p:cNvSpPr/>
          <p:nvPr/>
        </p:nvSpPr>
        <p:spPr>
          <a:xfrm>
            <a:off x="1161288"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Why uncertainty matters</a:t>
            </a:r>
            <a:endParaRPr lang="en-US" sz="1800" dirty="0"/>
          </a:p>
        </p:txBody>
      </p:sp>
      <p:sp>
        <p:nvSpPr>
          <p:cNvPr id="10" name="Text 8"/>
          <p:cNvSpPr/>
          <p:nvPr/>
        </p:nvSpPr>
        <p:spPr>
          <a:xfrm>
            <a:off x="658368"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Partial observability, nondeterminism, adversaries, and the qualification problem.</a:t>
            </a:r>
            <a:endParaRPr lang="en-US" sz="1530" dirty="0"/>
          </a:p>
        </p:txBody>
      </p:sp>
      <p:sp>
        <p:nvSpPr>
          <p:cNvPr id="11" name="Text 9"/>
          <p:cNvSpPr/>
          <p:nvPr/>
        </p:nvSpPr>
        <p:spPr>
          <a:xfrm>
            <a:off x="3241548"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3506724"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3" name="Text 11"/>
          <p:cNvSpPr/>
          <p:nvPr/>
        </p:nvSpPr>
        <p:spPr>
          <a:xfrm>
            <a:off x="3936492"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Probability language</a:t>
            </a:r>
            <a:endParaRPr lang="en-US" sz="1800" dirty="0"/>
          </a:p>
        </p:txBody>
      </p:sp>
      <p:sp>
        <p:nvSpPr>
          <p:cNvPr id="14" name="Text 12"/>
          <p:cNvSpPr/>
          <p:nvPr/>
        </p:nvSpPr>
        <p:spPr>
          <a:xfrm>
            <a:off x="3433572"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Possible worlds, events, random variables, priors, posteriors, and conditional probability.</a:t>
            </a:r>
            <a:endParaRPr lang="en-US" sz="1530" dirty="0"/>
          </a:p>
        </p:txBody>
      </p:sp>
      <p:sp>
        <p:nvSpPr>
          <p:cNvPr id="15" name="Text 13"/>
          <p:cNvSpPr/>
          <p:nvPr/>
        </p:nvSpPr>
        <p:spPr>
          <a:xfrm>
            <a:off x="6016752"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6" name="Text 14"/>
          <p:cNvSpPr/>
          <p:nvPr/>
        </p:nvSpPr>
        <p:spPr>
          <a:xfrm>
            <a:off x="6281928"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17" name="Text 15"/>
          <p:cNvSpPr/>
          <p:nvPr/>
        </p:nvSpPr>
        <p:spPr>
          <a:xfrm>
            <a:off x="6711696"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Inference</a:t>
            </a:r>
            <a:endParaRPr lang="en-US" sz="1800" dirty="0"/>
          </a:p>
        </p:txBody>
      </p:sp>
      <p:sp>
        <p:nvSpPr>
          <p:cNvPr id="18" name="Text 16"/>
          <p:cNvSpPr/>
          <p:nvPr/>
        </p:nvSpPr>
        <p:spPr>
          <a:xfrm>
            <a:off x="6208776"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Full joint distributions, marginalization, normalization, and why explicit tables do not scale.</a:t>
            </a:r>
            <a:endParaRPr lang="en-US" sz="1530" dirty="0"/>
          </a:p>
        </p:txBody>
      </p:sp>
      <p:sp>
        <p:nvSpPr>
          <p:cNvPr id="19" name="Text 17"/>
          <p:cNvSpPr/>
          <p:nvPr/>
        </p:nvSpPr>
        <p:spPr>
          <a:xfrm>
            <a:off x="8791956"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20" name="Text 18"/>
          <p:cNvSpPr/>
          <p:nvPr/>
        </p:nvSpPr>
        <p:spPr>
          <a:xfrm>
            <a:off x="9057132"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4</a:t>
            </a:r>
            <a:endParaRPr lang="en-US" sz="1500" dirty="0"/>
          </a:p>
        </p:txBody>
      </p:sp>
      <p:sp>
        <p:nvSpPr>
          <p:cNvPr id="21" name="Text 19"/>
          <p:cNvSpPr/>
          <p:nvPr/>
        </p:nvSpPr>
        <p:spPr>
          <a:xfrm>
            <a:off x="9486900"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Structure</a:t>
            </a:r>
            <a:endParaRPr lang="en-US" sz="1800" dirty="0"/>
          </a:p>
        </p:txBody>
      </p:sp>
      <p:sp>
        <p:nvSpPr>
          <p:cNvPr id="22" name="Text 20"/>
          <p:cNvSpPr/>
          <p:nvPr/>
        </p:nvSpPr>
        <p:spPr>
          <a:xfrm>
            <a:off x="8983980"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Independence, Bayes rule, conditional independence, naive Bayes, and Wumpus risk.</a:t>
            </a:r>
            <a:endParaRPr lang="en-US" sz="1530" dirty="0"/>
          </a:p>
        </p:txBody>
      </p:sp>
      <p:sp>
        <p:nvSpPr>
          <p:cNvPr id="23" name="Text 21"/>
          <p:cNvSpPr/>
          <p:nvPr/>
        </p:nvSpPr>
        <p:spPr>
          <a:xfrm>
            <a:off x="822960" y="4983480"/>
            <a:ext cx="1051560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50" dirty="0">
                <a:solidFill>
                  <a:srgbClr val="12304A"/>
                </a:solidFill>
                <a:latin typeface="Aptos" pitchFamily="34" charset="0"/>
                <a:ea typeface="Aptos" pitchFamily="34" charset="-122"/>
                <a:cs typeface="Aptos" pitchFamily="34" charset="-120"/>
              </a:rPr>
              <a:t>Analogy: The lecture is a map from uncertainty to action: observe clues, update beliefs, compare choices, and act.</a:t>
            </a:r>
            <a:endParaRPr lang="en-US" sz="1650" dirty="0"/>
          </a:p>
        </p:txBody>
      </p:sp>
      <p:sp>
        <p:nvSpPr>
          <p:cNvPr id="24" name="Text 22"/>
          <p:cNvSpPr/>
          <p:nvPr/>
        </p:nvSpPr>
        <p:spPr>
          <a:xfrm>
            <a:off x="822960" y="5779008"/>
            <a:ext cx="10515600" cy="365760"/>
          </a:xfrm>
          <a:prstGeom prst="roundRect">
            <a:avLst/>
          </a:prstGeom>
          <a:solidFill>
            <a:srgbClr val="D6F0E8"/>
          </a:solidFill>
          <a:ln w="12700">
            <a:solidFill>
              <a:srgbClr val="0E7C86"/>
            </a:solidFill>
          </a:ln>
        </p:spPr>
        <p:txBody>
          <a:bodyPr wrap="square" lIns="1016" tIns="1016" rIns="1016" bIns="1016" rtlCol="0" anchor="ctr">
            <a:normAutofit/>
          </a:bodyPr>
          <a:lstStyle/>
          <a:p>
            <a:pPr indent="0" marL="0">
              <a:buNone/>
            </a:pPr>
            <a:r>
              <a:rPr lang="en-US" sz="1350" i="1" dirty="0">
                <a:solidFill>
                  <a:srgbClr val="0A5F68"/>
                </a:solidFill>
                <a:latin typeface="Aptos" pitchFamily="34" charset="0"/>
                <a:ea typeface="Aptos" pitchFamily="34" charset="-122"/>
                <a:cs typeface="Aptos" pitchFamily="34" charset="-120"/>
              </a:rPr>
              <a:t>Class prompt: Which part sounds most familiar from previous chapters: belief states, logic, search, or actions?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Course setup</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Learning outcomes for Chapter 12</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Explain why certainty-based agents are too brittle for many environments.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Read probability statements involving possible worlds, evidence, and random variables.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Compute small posterior probabilities from a full joint distribution.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Use Bayes rule to reverse from observed effects back to likely causes.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Explain independence, conditional independence, and naive Bayes in plain language.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Connect probabilistic beliefs to rational actions through expected utility.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good weather forecast does not guarantee rain; it helps you decide whether to carry an umbrella.</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goal is not to make uncertainty disappear. The goal is to represent uncertainty well enough to act rationally.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would a robot need to know probabilistically before crossing a busy street?</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Course setup</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Chapter 12 in one sentence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Real agents rarely know the exact current state of the world.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assigns numeric degrees of belief to possible worlds and propositions.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Utility assigns values to outcomes.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Decision theory combines belief and value to choose actions.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Decision theory = probability theory + utility theory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Beliefs are a map of what might happen; utilities are the agent’s priorities; action is the route chosen from both.</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High probability alone does not mean “best action.” A likely outcome can still have low value.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Could the safest plan ever be irrational? Think about leaving for the airport 24 hours early.</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Course setup</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From logical agents to probabilistic agents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Logical agents: true, false, or unknown.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Probabilistic agents: degree of belief from 0 to 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Logical inference rules out impossible worlds.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Probabilistic inference ranks remaining worlds by plausibility.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Both approaches reason over representations of the world.</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Logic gives a yes/no checklist. Probability gives a risk score for every unchecked item.</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Probability does not say a fact is “partly true.” It says the agent is uncertain about whether the fact is true.</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is “unknown” different from “40% likely”?</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12.1</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Acting under uncertainty</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Why a rational agent needs degrees of belief instead of certainty.</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Where uncertainty comes from</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Partial observability: sensors reveal only part of the state.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Nondeterminism: actions can have several possible outcomes.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Adversaries: other agents may actively affect the result.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Large domains: too many details to model perfectly.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Driving with a foggy windshield: you still steer, but you cannot see the whole road.</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Uncertainty is not always sensor error. Sometimes the world itself or other agents make outcomes hard to predict.</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uncertainty source appears in online shopping delivery estimates?</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Belief states helped, but they are not enough</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Earlier agents tracked sets of possible states.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contingency plan handled every possible percept.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works for small toy worlds.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It becomes unwieldy when unlikely possibilities multiply.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belief state = set of possible worlds</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belief state is like carrying every possible map version because you do not know which road is closed.</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belief state says “possible,” but not “how likely.” Probability adds the missing ranking.</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Should an agent treat a meteor strike and a traffic jam as equally important possibilities?</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09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Three drawbacks of all-possibilities reasoning</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It must track every explanation, even wildly unlikely ones.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guaranteed contingency plan can grow extremely large.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Sometimes no guaranteed plan exists, yet the agent must act.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Rational choice requires comparing imperfect plans.</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Planning a picnic by listing every possible disaster is not practical; a forecast gives a usable summary.</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guaranteed plan is not always the best plan if the guarantee is too expensive.</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an example of a plan that is almost guaranteed but unreasonable?</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Airport taxi example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Goal: get passenger to the airport on time.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Plan leaving 90 minutes early is usually sensible.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But success cannot be proven with absolute certainty.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Earlier departure increases on-time probability but may reduce comfort and productivity.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rational decision balances risk and cost.</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Choosing when to leave for the airport is a probability problem disguised as common sense.</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More time is not automatically better. The utility of waiting matters.</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Would your answer change for a vacation flight versus an emergency medical flight?</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logical qualification problem</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plan succeeds only if many exceptions do not occur.</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Exceptions include breakdowns, accidents, closures, weather, and rare disasters.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Listing every exception creates endless logical qualifications.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summarizes the leftover uncertainty.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A90 succeeds if no breakdown AND no accident AND no closure AND ...</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recipe that lists every way cooking could fail would be longer than the cookbook.</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Logic requires exception-free rules. Real plans almost never have exception-free rules.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exception would you add to the airport example?</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Rational does not mean guaranteed</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best action can still fail.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Rationality is judged using information available before the outcome.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Likelihood matters, but consequences matter too.</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rational action maximizes expected performance, not guaranteed success.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choose the action with the best probability-weighted outcome value</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good poker decision can lose a hand; that does not make it a bad decision.</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Students often judge the decision after seeing the outcome. AI evaluates the choice using the agent’s knowledge at decision time.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Can a rational medical test return a false positive?</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 Acting under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action question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Expected utility = sum over outcomes [ probability(outcome) x utility(outcome) ]</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Belief question: How likely is each outcome?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Preference question: How good or bad is each outcome?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Action question: Which action has the best weighted average?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chapter builds the belief side first, then connects it to decisions.</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Expected utility is like a grade average where each assignment is weighted by how likely it is to occur.</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multiply probability by “truth.” Multiply probability by utility, which represents preference.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utility would you assign to missing a final exam?</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uncertainty and rationality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Why is “the plan might fail” not enough to reject a plan?</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What does probability add beyond a plain belief state?</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Why might leaving for the airport 24 hours early have low utility?</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Name one domain where a rational action can still produce a bad outcome.</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12.1.1</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Summarizing uncertainty</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Probability as a practical summary of laziness and ignorance.</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Dental diagnosis: the running example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Observation: a patient has a toothache.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Possible cause: a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But toothaches have many possible causes.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Cavities do not always cause tooth pain.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relationship is useful but uncertain.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P(cavity | toothache) is useful; toothache -&gt; cavity is too strong</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smoke alarm suggests fire, but it could be toast, steam, or a low battery.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strong association is not the same as a logical implication.</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else besides a cavity can cause a toothache?</a:t>
            </a:r>
            <a:endParaRPr lang="en-US" sz="13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strict diagnostic rules fail</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68580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Rule 1: symptom implies cause</a:t>
            </a:r>
            <a:endParaRPr lang="en-US" sz="2200" dirty="0"/>
          </a:p>
        </p:txBody>
      </p:sp>
      <p:sp>
        <p:nvSpPr>
          <p:cNvPr id="9" name="Text 7"/>
          <p:cNvSpPr/>
          <p:nvPr/>
        </p:nvSpPr>
        <p:spPr>
          <a:xfrm>
            <a:off x="685800" y="1783080"/>
            <a:ext cx="5166360" cy="3200400"/>
          </a:xfrm>
          <a:prstGeom prst="roundRect">
            <a:avLst/>
          </a:prstGeom>
          <a:solidFill>
            <a:srgbClr val="FFFFFF"/>
          </a:solidFill>
          <a:ln w="12700">
            <a:solidFill>
              <a:srgbClr val="0E7C86"/>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Toothache -&gt; Cavity</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Too strong: not every toothache is a cavity.</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Needs an endless list of alternative causes.</a:t>
            </a:r>
            <a:endParaRPr lang="en-US" sz="1720" dirty="0"/>
          </a:p>
        </p:txBody>
      </p:sp>
      <p:sp>
        <p:nvSpPr>
          <p:cNvPr id="10" name="Text 8"/>
          <p:cNvSpPr/>
          <p:nvPr/>
        </p:nvSpPr>
        <p:spPr>
          <a:xfrm>
            <a:off x="635508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Rule 2: cause implies symptom</a:t>
            </a:r>
            <a:endParaRPr lang="en-US" sz="2200" dirty="0"/>
          </a:p>
        </p:txBody>
      </p:sp>
      <p:sp>
        <p:nvSpPr>
          <p:cNvPr id="11" name="Text 9"/>
          <p:cNvSpPr/>
          <p:nvPr/>
        </p:nvSpPr>
        <p:spPr>
          <a:xfrm>
            <a:off x="6355080" y="1783080"/>
            <a:ext cx="5166360" cy="3200400"/>
          </a:xfrm>
          <a:prstGeom prst="roundRect">
            <a:avLst/>
          </a:prstGeom>
          <a:solidFill>
            <a:srgbClr val="FFFFFF"/>
          </a:solidFill>
          <a:ln w="12700">
            <a:solidFill>
              <a:srgbClr val="A11C5B"/>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Cavity -&gt; Toothache</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Too strong: not every cavity hurts.</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Needs endless conditions for pain to occur.</a:t>
            </a:r>
            <a:endParaRPr lang="en-US" sz="1720" dirty="0"/>
          </a:p>
        </p:txBody>
      </p:sp>
      <p:sp>
        <p:nvSpPr>
          <p:cNvPr id="12" name="Text 10"/>
          <p:cNvSpPr/>
          <p:nvPr/>
        </p:nvSpPr>
        <p:spPr>
          <a:xfrm>
            <a:off x="1097280" y="5349240"/>
            <a:ext cx="996696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00" dirty="0">
                <a:solidFill>
                  <a:srgbClr val="12304A"/>
                </a:solidFill>
                <a:latin typeface="Aptos" pitchFamily="34" charset="0"/>
                <a:ea typeface="Aptos" pitchFamily="34" charset="-122"/>
                <a:cs typeface="Aptos" pitchFamily="34" charset="-120"/>
              </a:rPr>
              <a:t>Analogy: A detective clue narrows suspects; it does not logically prove guilt by itself.</a:t>
            </a:r>
            <a:endParaRPr lang="en-US" sz="1600" dirty="0"/>
          </a:p>
        </p:txBody>
      </p:sp>
      <p:sp>
        <p:nvSpPr>
          <p:cNvPr id="13" name="Text 11"/>
          <p:cNvSpPr/>
          <p:nvPr/>
        </p:nvSpPr>
        <p:spPr>
          <a:xfrm>
            <a:off x="1097280" y="6108192"/>
            <a:ext cx="9966960" cy="292608"/>
          </a:xfrm>
          <a:prstGeom prst="rect">
            <a:avLst/>
          </a:prstGeom>
          <a:noFill/>
          <a:ln/>
        </p:spPr>
        <p:txBody>
          <a:bodyPr wrap="square" lIns="0" tIns="0" rIns="0" bIns="0" rtlCol="0" anchor="ctr"/>
          <a:lstStyle/>
          <a:p>
            <a:pPr algn="ctr" indent="0" marL="0">
              <a:buNone/>
            </a:pPr>
            <a:r>
              <a:rPr lang="en-US" sz="1100" i="1" dirty="0">
                <a:solidFill>
                  <a:srgbClr val="0A5F68"/>
                </a:solidFill>
                <a:latin typeface="Aptos" pitchFamily="34" charset="0"/>
                <a:ea typeface="Aptos" pitchFamily="34" charset="-122"/>
                <a:cs typeface="Aptos" pitchFamily="34" charset="-120"/>
              </a:rPr>
              <a:t>Prompt: Which direction feels more causal: cavity to toothache or toothache to cavity?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Three reasons certainty breaks down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Laziness: complete rules are too much work to write and use.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Theoretical ignorance: the science may not be complete.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Practical ignorance: needed tests may be unavailable or costly.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summarizes uncertainty from all three sources.</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doctor may know a lot, but still not run every possible test before making a preliminary diagnosis.</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“Laziness” here is technical: it means the cost of representing every detail is too high.</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reason applies most to weather forecasting?</a:t>
            </a:r>
            <a:endParaRPr lang="en-US" sz="13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Degrees of belief</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probabilistic agent assigns values between 0 and 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0 means impossible under the current model.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1 means certain under the current model.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Intermediate values summarize uncertainty.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number describes the agent’s knowledge, not partial truth.</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0 &lt;= P(proposition) &lt;= 1</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dimmer switch is not half-on because light is half-true; it reflects a degree on a scale.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patient either has a cavity or does not. The probability describes the agent’s uncertainty before knowing.</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does P(rain tomorrow) = 0.7 mean in plain English?</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Probability is relative to evidence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Before symptoms: ask P(cavity).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After toothache: ask P(cavity | toothache).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After a dental exam: condition on the exam result too.</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Different evidence states can produce different probabilities without contradiction.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P(cavity | toothache) may differ from P(cavity | toothache, gum history)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mystery novel changes your suspect ranking after each new clue, even though the culprit never changed.</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prior probability can remain mathematically valid after new evidence, but it is no longer the right probability for a decision.</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evidence would lower your belief that a toothache is from a cavity?</a:t>
            </a:r>
            <a:endParaRPr lang="en-US" sz="13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Evidence changes the knowledge state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31520"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9" name="Text 7"/>
          <p:cNvSpPr/>
          <p:nvPr/>
        </p:nvSpPr>
        <p:spPr>
          <a:xfrm>
            <a:off x="1161288"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Prior</a:t>
            </a:r>
            <a:endParaRPr lang="en-US" sz="1800" dirty="0"/>
          </a:p>
        </p:txBody>
      </p:sp>
      <p:sp>
        <p:nvSpPr>
          <p:cNvPr id="10" name="Text 8"/>
          <p:cNvSpPr/>
          <p:nvPr/>
        </p:nvSpPr>
        <p:spPr>
          <a:xfrm>
            <a:off x="658368"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Before seeing evidence, use general background probability.</a:t>
            </a:r>
            <a:endParaRPr lang="en-US" sz="1530" dirty="0"/>
          </a:p>
        </p:txBody>
      </p:sp>
      <p:sp>
        <p:nvSpPr>
          <p:cNvPr id="11" name="Text 9"/>
          <p:cNvSpPr/>
          <p:nvPr/>
        </p:nvSpPr>
        <p:spPr>
          <a:xfrm>
            <a:off x="3241548"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3506724"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3" name="Text 11"/>
          <p:cNvSpPr/>
          <p:nvPr/>
        </p:nvSpPr>
        <p:spPr>
          <a:xfrm>
            <a:off x="3936492"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Symptom</a:t>
            </a:r>
            <a:endParaRPr lang="en-US" sz="1800" dirty="0"/>
          </a:p>
        </p:txBody>
      </p:sp>
      <p:sp>
        <p:nvSpPr>
          <p:cNvPr id="14" name="Text 12"/>
          <p:cNvSpPr/>
          <p:nvPr/>
        </p:nvSpPr>
        <p:spPr>
          <a:xfrm>
            <a:off x="3433572"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Observe toothache and shift to a conditional probability.</a:t>
            </a:r>
            <a:endParaRPr lang="en-US" sz="1530" dirty="0"/>
          </a:p>
        </p:txBody>
      </p:sp>
      <p:sp>
        <p:nvSpPr>
          <p:cNvPr id="15" name="Text 13"/>
          <p:cNvSpPr/>
          <p:nvPr/>
        </p:nvSpPr>
        <p:spPr>
          <a:xfrm>
            <a:off x="6016752"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6" name="Text 14"/>
          <p:cNvSpPr/>
          <p:nvPr/>
        </p:nvSpPr>
        <p:spPr>
          <a:xfrm>
            <a:off x="6281928"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17" name="Text 15"/>
          <p:cNvSpPr/>
          <p:nvPr/>
        </p:nvSpPr>
        <p:spPr>
          <a:xfrm>
            <a:off x="6711696"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History</a:t>
            </a:r>
            <a:endParaRPr lang="en-US" sz="1800" dirty="0"/>
          </a:p>
        </p:txBody>
      </p:sp>
      <p:sp>
        <p:nvSpPr>
          <p:cNvPr id="18" name="Text 16"/>
          <p:cNvSpPr/>
          <p:nvPr/>
        </p:nvSpPr>
        <p:spPr>
          <a:xfrm>
            <a:off x="6208776"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Add gum disease history or dental record; condition on more evidence.</a:t>
            </a:r>
            <a:endParaRPr lang="en-US" sz="1530" dirty="0"/>
          </a:p>
        </p:txBody>
      </p:sp>
      <p:sp>
        <p:nvSpPr>
          <p:cNvPr id="19" name="Text 17"/>
          <p:cNvSpPr/>
          <p:nvPr/>
        </p:nvSpPr>
        <p:spPr>
          <a:xfrm>
            <a:off x="8791956"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20" name="Text 18"/>
          <p:cNvSpPr/>
          <p:nvPr/>
        </p:nvSpPr>
        <p:spPr>
          <a:xfrm>
            <a:off x="9057132"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4</a:t>
            </a:r>
            <a:endParaRPr lang="en-US" sz="1500" dirty="0"/>
          </a:p>
        </p:txBody>
      </p:sp>
      <p:sp>
        <p:nvSpPr>
          <p:cNvPr id="21" name="Text 19"/>
          <p:cNvSpPr/>
          <p:nvPr/>
        </p:nvSpPr>
        <p:spPr>
          <a:xfrm>
            <a:off x="9486900"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Test result</a:t>
            </a:r>
            <a:endParaRPr lang="en-US" sz="1800" dirty="0"/>
          </a:p>
        </p:txBody>
      </p:sp>
      <p:sp>
        <p:nvSpPr>
          <p:cNvPr id="22" name="Text 20"/>
          <p:cNvSpPr/>
          <p:nvPr/>
        </p:nvSpPr>
        <p:spPr>
          <a:xfrm>
            <a:off x="8983980"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After exam or X-ray, update again and act on the new belief.</a:t>
            </a:r>
            <a:endParaRPr lang="en-US" sz="1530" dirty="0"/>
          </a:p>
        </p:txBody>
      </p:sp>
      <p:sp>
        <p:nvSpPr>
          <p:cNvPr id="23" name="Text 21"/>
          <p:cNvSpPr/>
          <p:nvPr/>
        </p:nvSpPr>
        <p:spPr>
          <a:xfrm>
            <a:off x="822960" y="4983480"/>
            <a:ext cx="1051560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50" dirty="0">
                <a:solidFill>
                  <a:srgbClr val="12304A"/>
                </a:solidFill>
                <a:latin typeface="Aptos" pitchFamily="34" charset="0"/>
                <a:ea typeface="Aptos" pitchFamily="34" charset="-122"/>
                <a:cs typeface="Aptos" pitchFamily="34" charset="-120"/>
              </a:rPr>
              <a:t>Analogy: Belief updating is like GPS recalculating a route after receiving traffic information.</a:t>
            </a:r>
            <a:endParaRPr lang="en-US" sz="1650" dirty="0"/>
          </a:p>
        </p:txBody>
      </p:sp>
      <p:sp>
        <p:nvSpPr>
          <p:cNvPr id="24" name="Text 22"/>
          <p:cNvSpPr/>
          <p:nvPr/>
        </p:nvSpPr>
        <p:spPr>
          <a:xfrm>
            <a:off x="822960" y="5779008"/>
            <a:ext cx="10515600" cy="365760"/>
          </a:xfrm>
          <a:prstGeom prst="roundRect">
            <a:avLst/>
          </a:prstGeom>
          <a:solidFill>
            <a:srgbClr val="D6F0E8"/>
          </a:solidFill>
          <a:ln w="12700">
            <a:solidFill>
              <a:srgbClr val="0E7C86"/>
            </a:solidFill>
          </a:ln>
        </p:spPr>
        <p:txBody>
          <a:bodyPr wrap="square" lIns="1016" tIns="1016" rIns="1016" bIns="1016" rtlCol="0" anchor="ctr">
            <a:normAutofit/>
          </a:bodyPr>
          <a:lstStyle/>
          <a:p>
            <a:pPr indent="0" marL="0">
              <a:buNone/>
            </a:pPr>
            <a:r>
              <a:rPr lang="en-US" sz="1350" i="1" dirty="0">
                <a:solidFill>
                  <a:srgbClr val="0A5F68"/>
                </a:solidFill>
                <a:latin typeface="Aptos" pitchFamily="34" charset="0"/>
                <a:ea typeface="Aptos" pitchFamily="34" charset="-122"/>
                <a:cs typeface="Aptos" pitchFamily="34" charset="-120"/>
              </a:rPr>
              <a:t>Class prompt: Which step is closest to the agent’s percept in earlier chapters?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12.1.1 Summarizing uncertainty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Common mistake: probability is not logical implication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P(cavity | toothache) = 0.8 does not mean toothache logically proves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It means: among worlds matching the evidence, 80 percent have a cavity under the model.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More evidence can change the value.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Logical implication has no exceptions; conditional probability permits exceptions.</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campus parking lot being crowded suggests an event, but it does not prove one.</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Never read the vertical bar as “implies.” It means “given.”</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would you explain the difference between “given” and “implies” to a friend?</a:t>
            </a:r>
            <a:endParaRPr lang="en-US" sz="13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summarizing uncertainty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Why is Toothache -&gt; Cavity not a valid logical rule?</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What are the three reasons certainty breaks down?</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What does P(cavity | toothache) describe: the world or the agent’s knowledge?</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Why can two different conditional probabilities about the same patient both be valid?</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12.1.2</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Uncertainty and rational decisions</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Combining beliefs with preferences using expected utility.</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Outcomes are complete states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An outcome includes everything relevant to performance.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For the taxi: on-time status, wait time, tickets, safety, stress, and fuel.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Comparing plans requires comparing full outcomes, not just success or failure.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Different agents may value outcomes differently.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restaurant review is not just “ate food.” It includes cost, taste, service, wait time, and whether you got sick.</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Reducing outcomes to one binary success variable can hide important trade-offs.</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outcome features matter for an autonomous delivery robot?</a:t>
            </a:r>
            <a:endParaRPr lang="en-US" sz="13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Utilities represent preferences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utility function assigns usefulness to outcomes.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Higher utility means the agent prefers that outcome.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Utilities are relative to the agent and its goals.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Utilities can include cost, safety, time, comfort, fairness, or altruism.</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Utility is the agent’s “scoreboard,” but the scoreboard can include more than points.</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Utilities are not probabilities. A utility of 100 does not mean 100 percent likely.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should have higher utility for a campus shuttle: speed or safety?</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Decision theory combines belief and value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Probability theory represents belief under uncertainty.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Utility theory represents preference among outcomes.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Decision theory combines them into rational action.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rational action has the highest expected utility.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decision theory = probability theory + utility theory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navigation app estimates traffic probabilities; your priorities decide whether fastest, cheapest, or safest route wins.</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probability model cannot choose actions unless it is paired with utilities.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happens if two people share the same beliefs but have different utilities?</a:t>
            </a:r>
            <a:endParaRPr lang="en-US" sz="13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Principle of maximum expected utility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Choose action a with max over outcomes: P(result | action, evidence) x Utility(result)</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List possible outcomes for each action.</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Estimate the probability of each outcome.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Assign utility to each outcome.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Choose the action with the best probability-weighted average.</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Like comparing investments by average payoff, not just best-case payoff.</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action is chosen before the actual outcome is known.</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part of the formula is probability and which part is preference?</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29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Worked example: airport expected utility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658368" y="1298448"/>
            <a:ext cx="4663440" cy="1097280"/>
          </a:xfrm>
          <a:prstGeom prst="rect">
            <a:avLst/>
          </a:prstGeom>
          <a:noFill/>
          <a:ln/>
        </p:spPr>
        <p:txBody>
          <a:bodyPr wrap="square" lIns="635" tIns="635" rIns="635" bIns="635" rtlCol="0" anchor="ctr">
            <a:normAutofit/>
          </a:bodyPr>
          <a:lstStyle/>
          <a:p>
            <a:pPr indent="0" marL="0">
              <a:buNone/>
            </a:pPr>
            <a:r>
              <a:rPr lang="en-US" sz="1650" dirty="0">
                <a:solidFill>
                  <a:srgbClr val="243B53"/>
                </a:solidFill>
                <a:latin typeface="Aptos" pitchFamily="34" charset="0"/>
                <a:ea typeface="Aptos" pitchFamily="34" charset="-122"/>
                <a:cs typeface="Aptos" pitchFamily="34" charset="-120"/>
              </a:rPr>
              <a:t>• This example shows why the highest success probability may not be the best plan.</a:t>
            </a:r>
            <a:endParaRPr lang="en-US" sz="1650" dirty="0"/>
          </a:p>
          <a:p>
            <a:pPr indent="0" marL="0">
              <a:buNone/>
            </a:pPr>
            <a:r>
              <a:rPr lang="en-US" sz="1650" dirty="0">
                <a:solidFill>
                  <a:srgbClr val="243B53"/>
                </a:solidFill>
                <a:latin typeface="Aptos" pitchFamily="34" charset="0"/>
                <a:ea typeface="Aptos" pitchFamily="34" charset="-122"/>
                <a:cs typeface="Aptos" pitchFamily="34" charset="-120"/>
              </a:rPr>
              <a:t>• Missing the flight is costly, but waiting also has a cost.</a:t>
            </a:r>
            <a:endParaRPr lang="en-US" sz="1650" dirty="0"/>
          </a:p>
        </p:txBody>
      </p:sp>
      <p:sp>
        <p:nvSpPr>
          <p:cNvPr id="9" name="Text 7"/>
          <p:cNvSpPr/>
          <p:nvPr/>
        </p:nvSpPr>
        <p:spPr>
          <a:xfrm>
            <a:off x="658368" y="2514600"/>
            <a:ext cx="1640434" cy="561442"/>
          </a:xfrm>
          <a:prstGeom prst="rect">
            <a:avLst/>
          </a:prstGeom>
          <a:solidFill>
            <a:srgbClr val="DCEAF7"/>
          </a:solidFill>
          <a:ln w="6350">
            <a:solidFill>
              <a:srgbClr val="D0D7DE"/>
            </a:solidFill>
          </a:ln>
        </p:spPr>
        <p:txBody>
          <a:bodyPr wrap="square" lIns="508" tIns="508" rIns="508" bIns="508" rtlCol="0" anchor="ctr">
            <a:normAutofit/>
          </a:bodyPr>
          <a:lstStyle/>
          <a:p>
            <a:pPr algn="l" indent="0" marL="0">
              <a:buNone/>
            </a:pPr>
            <a:r>
              <a:rPr lang="en-US" sz="1200" b="1" dirty="0">
                <a:solidFill>
                  <a:srgbClr val="243B53"/>
                </a:solidFill>
                <a:latin typeface="Aptos" pitchFamily="34" charset="0"/>
                <a:ea typeface="Aptos" pitchFamily="34" charset="-122"/>
                <a:cs typeface="Aptos" pitchFamily="34" charset="-120"/>
              </a:rPr>
              <a:t>Plan</a:t>
            </a:r>
            <a:endParaRPr lang="en-US" sz="1200" dirty="0"/>
          </a:p>
        </p:txBody>
      </p:sp>
      <p:sp>
        <p:nvSpPr>
          <p:cNvPr id="10" name="Text 8"/>
          <p:cNvSpPr/>
          <p:nvPr/>
        </p:nvSpPr>
        <p:spPr>
          <a:xfrm>
            <a:off x="2304288" y="2514600"/>
            <a:ext cx="2051914" cy="561442"/>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200" b="1" dirty="0">
                <a:solidFill>
                  <a:srgbClr val="243B53"/>
                </a:solidFill>
                <a:latin typeface="Aptos" pitchFamily="34" charset="0"/>
                <a:ea typeface="Aptos" pitchFamily="34" charset="-122"/>
                <a:cs typeface="Aptos" pitchFamily="34" charset="-120"/>
              </a:rPr>
              <a:t>Likely outcome</a:t>
            </a:r>
            <a:endParaRPr lang="en-US" sz="1200" dirty="0"/>
          </a:p>
        </p:txBody>
      </p:sp>
      <p:sp>
        <p:nvSpPr>
          <p:cNvPr id="11" name="Text 9"/>
          <p:cNvSpPr/>
          <p:nvPr/>
        </p:nvSpPr>
        <p:spPr>
          <a:xfrm>
            <a:off x="4361688" y="2514600"/>
            <a:ext cx="2051914" cy="561442"/>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200" b="1" dirty="0">
                <a:solidFill>
                  <a:srgbClr val="243B53"/>
                </a:solidFill>
                <a:latin typeface="Aptos" pitchFamily="34" charset="0"/>
                <a:ea typeface="Aptos" pitchFamily="34" charset="-122"/>
                <a:cs typeface="Aptos" pitchFamily="34" charset="-120"/>
              </a:rPr>
              <a:t>Bad outcome</a:t>
            </a:r>
            <a:endParaRPr lang="en-US" sz="1200" dirty="0"/>
          </a:p>
        </p:txBody>
      </p:sp>
      <p:sp>
        <p:nvSpPr>
          <p:cNvPr id="12" name="Text 10"/>
          <p:cNvSpPr/>
          <p:nvPr/>
        </p:nvSpPr>
        <p:spPr>
          <a:xfrm>
            <a:off x="6419088" y="2514600"/>
            <a:ext cx="1548994" cy="561442"/>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200" b="1" dirty="0">
                <a:solidFill>
                  <a:srgbClr val="243B53"/>
                </a:solidFill>
                <a:latin typeface="Aptos" pitchFamily="34" charset="0"/>
                <a:ea typeface="Aptos" pitchFamily="34" charset="-122"/>
                <a:cs typeface="Aptos" pitchFamily="34" charset="-120"/>
              </a:rPr>
              <a:t>Expected utility</a:t>
            </a:r>
            <a:endParaRPr lang="en-US" sz="1200" dirty="0"/>
          </a:p>
        </p:txBody>
      </p:sp>
      <p:sp>
        <p:nvSpPr>
          <p:cNvPr id="13" name="Text 11"/>
          <p:cNvSpPr/>
          <p:nvPr/>
        </p:nvSpPr>
        <p:spPr>
          <a:xfrm>
            <a:off x="7973568" y="2514600"/>
            <a:ext cx="3514954" cy="561442"/>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200" b="1" dirty="0">
                <a:solidFill>
                  <a:srgbClr val="243B53"/>
                </a:solidFill>
                <a:latin typeface="Aptos" pitchFamily="34" charset="0"/>
                <a:ea typeface="Aptos" pitchFamily="34" charset="-122"/>
                <a:cs typeface="Aptos" pitchFamily="34" charset="-120"/>
              </a:rPr>
              <a:t>Decision intuition</a:t>
            </a:r>
            <a:endParaRPr lang="en-US" sz="1200" dirty="0"/>
          </a:p>
        </p:txBody>
      </p:sp>
      <p:sp>
        <p:nvSpPr>
          <p:cNvPr id="14" name="Text 12"/>
          <p:cNvSpPr/>
          <p:nvPr/>
        </p:nvSpPr>
        <p:spPr>
          <a:xfrm>
            <a:off x="658368" y="3081528"/>
            <a:ext cx="1640434" cy="561442"/>
          </a:xfrm>
          <a:prstGeom prst="rect">
            <a:avLst/>
          </a:prstGeom>
          <a:solidFill>
            <a:srgbClr val="FFFFFF"/>
          </a:solidFill>
          <a:ln w="6350">
            <a:solidFill>
              <a:srgbClr val="D0D7DE"/>
            </a:solidFill>
          </a:ln>
        </p:spPr>
        <p:txBody>
          <a:bodyPr wrap="square" lIns="508" tIns="508" rIns="508" bIns="508" rtlCol="0" anchor="ctr">
            <a:normAutofit/>
          </a:bodyPr>
          <a:lstStyle/>
          <a:p>
            <a:pPr algn="l" indent="0" marL="0">
              <a:buNone/>
            </a:pPr>
            <a:r>
              <a:rPr lang="en-US" sz="1200" dirty="0">
                <a:solidFill>
                  <a:srgbClr val="243B53"/>
                </a:solidFill>
                <a:latin typeface="Aptos" pitchFamily="34" charset="0"/>
                <a:ea typeface="Aptos" pitchFamily="34" charset="-122"/>
                <a:cs typeface="Aptos" pitchFamily="34" charset="-120"/>
              </a:rPr>
              <a:t>Leave 60 min</a:t>
            </a:r>
            <a:endParaRPr lang="en-US" sz="1200" dirty="0"/>
          </a:p>
        </p:txBody>
      </p:sp>
      <p:sp>
        <p:nvSpPr>
          <p:cNvPr id="15" name="Text 13"/>
          <p:cNvSpPr/>
          <p:nvPr/>
        </p:nvSpPr>
        <p:spPr>
          <a:xfrm>
            <a:off x="2304288" y="3081528"/>
            <a:ext cx="205191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0.80 x 100</a:t>
            </a:r>
            <a:endParaRPr lang="en-US" sz="1200" dirty="0"/>
          </a:p>
        </p:txBody>
      </p:sp>
      <p:sp>
        <p:nvSpPr>
          <p:cNvPr id="16" name="Text 14"/>
          <p:cNvSpPr/>
          <p:nvPr/>
        </p:nvSpPr>
        <p:spPr>
          <a:xfrm>
            <a:off x="4361688" y="3081528"/>
            <a:ext cx="205191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0.20 x -500</a:t>
            </a:r>
            <a:endParaRPr lang="en-US" sz="1200" dirty="0"/>
          </a:p>
        </p:txBody>
      </p:sp>
      <p:sp>
        <p:nvSpPr>
          <p:cNvPr id="17" name="Text 15"/>
          <p:cNvSpPr/>
          <p:nvPr/>
        </p:nvSpPr>
        <p:spPr>
          <a:xfrm>
            <a:off x="6419088" y="3081528"/>
            <a:ext cx="154899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-20</a:t>
            </a:r>
            <a:endParaRPr lang="en-US" sz="1200" dirty="0"/>
          </a:p>
        </p:txBody>
      </p:sp>
      <p:sp>
        <p:nvSpPr>
          <p:cNvPr id="18" name="Text 16"/>
          <p:cNvSpPr/>
          <p:nvPr/>
        </p:nvSpPr>
        <p:spPr>
          <a:xfrm>
            <a:off x="7973568" y="3081528"/>
            <a:ext cx="351495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Too risky</a:t>
            </a:r>
            <a:endParaRPr lang="en-US" sz="1200" dirty="0"/>
          </a:p>
        </p:txBody>
      </p:sp>
      <p:sp>
        <p:nvSpPr>
          <p:cNvPr id="19" name="Text 17"/>
          <p:cNvSpPr/>
          <p:nvPr/>
        </p:nvSpPr>
        <p:spPr>
          <a:xfrm>
            <a:off x="658368" y="3648456"/>
            <a:ext cx="1640434" cy="561442"/>
          </a:xfrm>
          <a:prstGeom prst="rect">
            <a:avLst/>
          </a:prstGeom>
          <a:solidFill>
            <a:srgbClr val="FAFBFC"/>
          </a:solidFill>
          <a:ln w="6350">
            <a:solidFill>
              <a:srgbClr val="D0D7DE"/>
            </a:solidFill>
          </a:ln>
        </p:spPr>
        <p:txBody>
          <a:bodyPr wrap="square" lIns="508" tIns="508" rIns="508" bIns="508" rtlCol="0" anchor="ctr">
            <a:normAutofit/>
          </a:bodyPr>
          <a:lstStyle/>
          <a:p>
            <a:pPr algn="l" indent="0" marL="0">
              <a:buNone/>
            </a:pPr>
            <a:r>
              <a:rPr lang="en-US" sz="1200" dirty="0">
                <a:solidFill>
                  <a:srgbClr val="243B53"/>
                </a:solidFill>
                <a:latin typeface="Aptos" pitchFamily="34" charset="0"/>
                <a:ea typeface="Aptos" pitchFamily="34" charset="-122"/>
                <a:cs typeface="Aptos" pitchFamily="34" charset="-120"/>
              </a:rPr>
              <a:t>Leave 90 min</a:t>
            </a:r>
            <a:endParaRPr lang="en-US" sz="1200" dirty="0"/>
          </a:p>
        </p:txBody>
      </p:sp>
      <p:sp>
        <p:nvSpPr>
          <p:cNvPr id="20" name="Text 18"/>
          <p:cNvSpPr/>
          <p:nvPr/>
        </p:nvSpPr>
        <p:spPr>
          <a:xfrm>
            <a:off x="2304288" y="3648456"/>
            <a:ext cx="2051914" cy="561442"/>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0.97 x 90</a:t>
            </a:r>
            <a:endParaRPr lang="en-US" sz="1200" dirty="0"/>
          </a:p>
        </p:txBody>
      </p:sp>
      <p:sp>
        <p:nvSpPr>
          <p:cNvPr id="21" name="Text 19"/>
          <p:cNvSpPr/>
          <p:nvPr/>
        </p:nvSpPr>
        <p:spPr>
          <a:xfrm>
            <a:off x="4361688" y="3648456"/>
            <a:ext cx="2051914" cy="561442"/>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0.03 x -500</a:t>
            </a:r>
            <a:endParaRPr lang="en-US" sz="1200" dirty="0"/>
          </a:p>
        </p:txBody>
      </p:sp>
      <p:sp>
        <p:nvSpPr>
          <p:cNvPr id="22" name="Text 20"/>
          <p:cNvSpPr/>
          <p:nvPr/>
        </p:nvSpPr>
        <p:spPr>
          <a:xfrm>
            <a:off x="6419088" y="3648456"/>
            <a:ext cx="1548994" cy="561442"/>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72.3</a:t>
            </a:r>
            <a:endParaRPr lang="en-US" sz="1200" dirty="0"/>
          </a:p>
        </p:txBody>
      </p:sp>
      <p:sp>
        <p:nvSpPr>
          <p:cNvPr id="23" name="Text 21"/>
          <p:cNvSpPr/>
          <p:nvPr/>
        </p:nvSpPr>
        <p:spPr>
          <a:xfrm>
            <a:off x="7973568" y="3648456"/>
            <a:ext cx="3514954" cy="561442"/>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Balanced</a:t>
            </a:r>
            <a:endParaRPr lang="en-US" sz="1200" dirty="0"/>
          </a:p>
        </p:txBody>
      </p:sp>
      <p:sp>
        <p:nvSpPr>
          <p:cNvPr id="24" name="Text 22"/>
          <p:cNvSpPr/>
          <p:nvPr/>
        </p:nvSpPr>
        <p:spPr>
          <a:xfrm>
            <a:off x="658368" y="4215384"/>
            <a:ext cx="1640434" cy="561442"/>
          </a:xfrm>
          <a:prstGeom prst="rect">
            <a:avLst/>
          </a:prstGeom>
          <a:solidFill>
            <a:srgbClr val="FFFFFF"/>
          </a:solidFill>
          <a:ln w="6350">
            <a:solidFill>
              <a:srgbClr val="D0D7DE"/>
            </a:solidFill>
          </a:ln>
        </p:spPr>
        <p:txBody>
          <a:bodyPr wrap="square" lIns="508" tIns="508" rIns="508" bIns="508" rtlCol="0" anchor="ctr">
            <a:normAutofit/>
          </a:bodyPr>
          <a:lstStyle/>
          <a:p>
            <a:pPr algn="l" indent="0" marL="0">
              <a:buNone/>
            </a:pPr>
            <a:r>
              <a:rPr lang="en-US" sz="1200" dirty="0">
                <a:solidFill>
                  <a:srgbClr val="243B53"/>
                </a:solidFill>
                <a:latin typeface="Aptos" pitchFamily="34" charset="0"/>
                <a:ea typeface="Aptos" pitchFamily="34" charset="-122"/>
                <a:cs typeface="Aptos" pitchFamily="34" charset="-120"/>
              </a:rPr>
              <a:t>Leave 180 min</a:t>
            </a:r>
            <a:endParaRPr lang="en-US" sz="1200" dirty="0"/>
          </a:p>
        </p:txBody>
      </p:sp>
      <p:sp>
        <p:nvSpPr>
          <p:cNvPr id="25" name="Text 23"/>
          <p:cNvSpPr/>
          <p:nvPr/>
        </p:nvSpPr>
        <p:spPr>
          <a:xfrm>
            <a:off x="2304288" y="4215384"/>
            <a:ext cx="205191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0.995 x 40</a:t>
            </a:r>
            <a:endParaRPr lang="en-US" sz="1200" dirty="0"/>
          </a:p>
        </p:txBody>
      </p:sp>
      <p:sp>
        <p:nvSpPr>
          <p:cNvPr id="26" name="Text 24"/>
          <p:cNvSpPr/>
          <p:nvPr/>
        </p:nvSpPr>
        <p:spPr>
          <a:xfrm>
            <a:off x="4361688" y="4215384"/>
            <a:ext cx="205191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0.005 x -500</a:t>
            </a:r>
            <a:endParaRPr lang="en-US" sz="1200" dirty="0"/>
          </a:p>
        </p:txBody>
      </p:sp>
      <p:sp>
        <p:nvSpPr>
          <p:cNvPr id="27" name="Text 25"/>
          <p:cNvSpPr/>
          <p:nvPr/>
        </p:nvSpPr>
        <p:spPr>
          <a:xfrm>
            <a:off x="6419088" y="4215384"/>
            <a:ext cx="154899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37.3</a:t>
            </a:r>
            <a:endParaRPr lang="en-US" sz="1200" dirty="0"/>
          </a:p>
        </p:txBody>
      </p:sp>
      <p:sp>
        <p:nvSpPr>
          <p:cNvPr id="28" name="Text 26"/>
          <p:cNvSpPr/>
          <p:nvPr/>
        </p:nvSpPr>
        <p:spPr>
          <a:xfrm>
            <a:off x="7973568" y="4215384"/>
            <a:ext cx="3514954" cy="561442"/>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200" dirty="0">
                <a:solidFill>
                  <a:srgbClr val="243B53"/>
                </a:solidFill>
                <a:latin typeface="Aptos" pitchFamily="34" charset="0"/>
                <a:ea typeface="Aptos" pitchFamily="34" charset="-122"/>
                <a:cs typeface="Aptos" pitchFamily="34" charset="-120"/>
              </a:rPr>
              <a:t>Safer but much waiting</a:t>
            </a:r>
            <a:endParaRPr lang="en-US" sz="1200" dirty="0"/>
          </a:p>
        </p:txBody>
      </p:sp>
      <p:sp>
        <p:nvSpPr>
          <p:cNvPr id="29" name="Text 27"/>
          <p:cNvSpPr/>
          <p:nvPr/>
        </p:nvSpPr>
        <p:spPr>
          <a:xfrm>
            <a:off x="868680" y="5623560"/>
            <a:ext cx="10241280" cy="438912"/>
          </a:xfrm>
          <a:prstGeom prst="roundRect">
            <a:avLst/>
          </a:prstGeom>
          <a:solidFill>
            <a:srgbClr val="FFF9EF"/>
          </a:solidFill>
          <a:ln w="12700">
            <a:solidFill>
              <a:srgbClr val="F5C542"/>
            </a:solidFill>
          </a:ln>
        </p:spPr>
        <p:txBody>
          <a:bodyPr wrap="square" lIns="1016" tIns="1016" rIns="1016" bIns="1016" rtlCol="0" anchor="ctr">
            <a:normAutofit/>
          </a:bodyPr>
          <a:lstStyle/>
          <a:p>
            <a:pPr indent="0" marL="0">
              <a:buNone/>
            </a:pPr>
            <a:r>
              <a:rPr lang="en-US" sz="1400" dirty="0">
                <a:solidFill>
                  <a:srgbClr val="12304A"/>
                </a:solidFill>
                <a:latin typeface="Aptos" pitchFamily="34" charset="0"/>
                <a:ea typeface="Aptos" pitchFamily="34" charset="-122"/>
                <a:cs typeface="Aptos" pitchFamily="34" charset="-120"/>
              </a:rPr>
              <a:t>Analogy: Expected utility is like comparing routes by travel time plus tolls plus risk, not just distance.</a:t>
            </a:r>
            <a:endParaRPr lang="en-US" sz="1400" dirty="0"/>
          </a:p>
        </p:txBody>
      </p:sp>
      <p:sp>
        <p:nvSpPr>
          <p:cNvPr id="30" name="Text 28"/>
          <p:cNvSpPr/>
          <p:nvPr/>
        </p:nvSpPr>
        <p:spPr>
          <a:xfrm>
            <a:off x="868680" y="6144768"/>
            <a:ext cx="10241280" cy="274320"/>
          </a:xfrm>
          <a:prstGeom prst="rect">
            <a:avLst/>
          </a:prstGeom>
          <a:noFill/>
          <a:ln/>
        </p:spPr>
        <p:txBody>
          <a:bodyPr wrap="square" lIns="0" tIns="0" rIns="0" bIns="0" rtlCol="0" anchor="ctr"/>
          <a:lstStyle/>
          <a:p>
            <a:pPr algn="ctr" indent="0" marL="0">
              <a:buNone/>
            </a:pPr>
            <a:r>
              <a:rPr lang="en-US" sz="1150" i="1" dirty="0">
                <a:solidFill>
                  <a:srgbClr val="0A5F68"/>
                </a:solidFill>
                <a:latin typeface="Aptos" pitchFamily="34" charset="0"/>
                <a:ea typeface="Aptos" pitchFamily="34" charset="-122"/>
                <a:cs typeface="Aptos" pitchFamily="34" charset="-120"/>
              </a:rPr>
              <a:t>Prompt: What changes if missing the flight has utility -5000 instead of -500?</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Decision-theoretic agent workflow</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Maintain probabilistic beliefs about the current world.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Update beliefs from the previous action and new percept.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Predict outcome probabilities for candidate actions.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Select the action with the highest expected utility.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Return the chosen action.</a:t>
            </a:r>
            <a:endParaRPr lang="en-US" sz="1820" dirty="0"/>
          </a:p>
        </p:txBody>
      </p:sp>
      <p:pic>
        <p:nvPicPr>
          <p:cNvPr id="9" name="Image 0" descr="/mnt/data/ch12_work/assets/fig12_1_dt_agent.png">    </p:cNvPr>
          <p:cNvPicPr>
            <a:picLocks noChangeAspect="1"/>
          </p:cNvPicPr>
          <p:nvPr/>
        </p:nvPicPr>
        <p:blipFill>
          <a:blip r:embed="rId1"/>
          <a:stretch>
            <a:fillRect/>
          </a:stretch>
        </p:blipFill>
        <p:spPr>
          <a:xfrm>
            <a:off x="6537960" y="1984985"/>
            <a:ext cx="5074920" cy="1964485"/>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12.1: decision-theoretic agent algorithm</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agent is like a careful driver: observe traffic, update beliefs, forecast routes, then choose.</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read the algorithm as one fixed domain solution. It is a reusable agent pattern.</a:t>
            </a:r>
            <a:endParaRPr lang="en-US" sz="13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12.1.2 Uncertainty and rational decisions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Expected utility gotchas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rational action can have a bad outcome by chance.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high-probability action can be bad if the downside is severe.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low-probability event can matter if its utility impact is huge.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Changing the utility function can change the rational action.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Utilities must reflect the actual performance measure.</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Buying insurance is rational not because disaster is likely, but because disaster is costly.</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Expected utility is only as good as the probabilities and utilities supplied to it.</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do rare cybersecurity breaches still get attention?</a:t>
            </a:r>
            <a:endParaRPr lang="en-US" sz="13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Instructor demo</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Demo idea: change the utilities, change the decision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Start with the taxi plan table.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Increase the penalty for missing the flight.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Increase the penalty for waiting too long.</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Show that the same probabilities can produce different rational actions.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Connect this back to performance measures from Chapter 2.</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Expected utility(action) = sum of probability x utility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Two students can make different rational choices with the same facts if one values risk differently.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Different utility functions do not always mean one agent is irrational.</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utility would CSUCI assign to student safety versus shuttle speed?</a:t>
            </a:r>
            <a:endParaRPr lang="en-US" sz="13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12.2</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Basic probability notation</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A formal language for uncertainty over possible worlds.</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Probabilities are about possible worlds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sample space contains all possible worlds under consideration.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Possible worlds are mutually exclusive: only one actual world can hold.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Possible worlds are exhaustive: one of them must be actual.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probability model assigns numbers to possible worlds.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Sample space = {world1, world2, world3, ...}</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sample space is a complete set of sealed envelopes; reality opens exactly one envelope.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sample space is chosen by the modeler. A poor sample space can make later reasoning misleading.</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the sample space for flipping one coin twice?</a:t>
            </a:r>
            <a:endParaRPr lang="en-US" sz="13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Dice world: sample space and events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94360" y="1280160"/>
            <a:ext cx="5486400" cy="320040"/>
          </a:xfrm>
          <a:prstGeom prst="rect">
            <a:avLst/>
          </a:prstGeom>
          <a:noFill/>
          <a:ln/>
        </p:spPr>
        <p:txBody>
          <a:bodyPr wrap="square" lIns="0" tIns="0" rIns="0" bIns="0" rtlCol="0" anchor="ctr"/>
          <a:lstStyle/>
          <a:p>
            <a:pPr indent="0" marL="0">
              <a:buNone/>
            </a:pPr>
            <a:r>
              <a:rPr lang="en-US" sz="1700" dirty="0">
                <a:solidFill>
                  <a:srgbClr val="243B53"/>
                </a:solidFill>
                <a:latin typeface="Aptos" pitchFamily="34" charset="0"/>
                <a:ea typeface="Aptos" pitchFamily="34" charset="-122"/>
                <a:cs typeface="Aptos" pitchFamily="34" charset="-120"/>
              </a:rPr>
              <a:t>Two distinguishable dice create 36 mutually exclusive possible worlds.</a:t>
            </a:r>
            <a:endParaRPr lang="en-US" sz="1700" dirty="0"/>
          </a:p>
        </p:txBody>
      </p:sp>
      <p:sp>
        <p:nvSpPr>
          <p:cNvPr id="9" name="Text 7"/>
          <p:cNvSpPr/>
          <p:nvPr/>
        </p:nvSpPr>
        <p:spPr>
          <a:xfrm>
            <a:off x="731520" y="1783080"/>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1,1</a:t>
            </a:r>
            <a:endParaRPr lang="en-US" sz="850" dirty="0"/>
          </a:p>
        </p:txBody>
      </p:sp>
      <p:sp>
        <p:nvSpPr>
          <p:cNvPr id="10" name="Text 8"/>
          <p:cNvSpPr/>
          <p:nvPr/>
        </p:nvSpPr>
        <p:spPr>
          <a:xfrm>
            <a:off x="1152144" y="178308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1,2</a:t>
            </a:r>
            <a:endParaRPr lang="en-US" sz="850" dirty="0"/>
          </a:p>
        </p:txBody>
      </p:sp>
      <p:sp>
        <p:nvSpPr>
          <p:cNvPr id="11" name="Text 9"/>
          <p:cNvSpPr/>
          <p:nvPr/>
        </p:nvSpPr>
        <p:spPr>
          <a:xfrm>
            <a:off x="1572768" y="178308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1,3</a:t>
            </a:r>
            <a:endParaRPr lang="en-US" sz="850" dirty="0"/>
          </a:p>
        </p:txBody>
      </p:sp>
      <p:sp>
        <p:nvSpPr>
          <p:cNvPr id="12" name="Text 10"/>
          <p:cNvSpPr/>
          <p:nvPr/>
        </p:nvSpPr>
        <p:spPr>
          <a:xfrm>
            <a:off x="1993392" y="178308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1,4</a:t>
            </a:r>
            <a:endParaRPr lang="en-US" sz="850" dirty="0"/>
          </a:p>
        </p:txBody>
      </p:sp>
      <p:sp>
        <p:nvSpPr>
          <p:cNvPr id="13" name="Text 11"/>
          <p:cNvSpPr/>
          <p:nvPr/>
        </p:nvSpPr>
        <p:spPr>
          <a:xfrm>
            <a:off x="2414016" y="178308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1,5</a:t>
            </a:r>
            <a:endParaRPr lang="en-US" sz="850" dirty="0"/>
          </a:p>
        </p:txBody>
      </p:sp>
      <p:sp>
        <p:nvSpPr>
          <p:cNvPr id="14" name="Text 12"/>
          <p:cNvSpPr/>
          <p:nvPr/>
        </p:nvSpPr>
        <p:spPr>
          <a:xfrm>
            <a:off x="2834640" y="178308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1,6</a:t>
            </a:r>
            <a:endParaRPr lang="en-US" sz="850" dirty="0"/>
          </a:p>
        </p:txBody>
      </p:sp>
      <p:sp>
        <p:nvSpPr>
          <p:cNvPr id="15" name="Text 13"/>
          <p:cNvSpPr/>
          <p:nvPr/>
        </p:nvSpPr>
        <p:spPr>
          <a:xfrm>
            <a:off x="731520" y="2203704"/>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2,1</a:t>
            </a:r>
            <a:endParaRPr lang="en-US" sz="850" dirty="0"/>
          </a:p>
        </p:txBody>
      </p:sp>
      <p:sp>
        <p:nvSpPr>
          <p:cNvPr id="16" name="Text 14"/>
          <p:cNvSpPr/>
          <p:nvPr/>
        </p:nvSpPr>
        <p:spPr>
          <a:xfrm>
            <a:off x="1152144" y="2203704"/>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2,2</a:t>
            </a:r>
            <a:endParaRPr lang="en-US" sz="850" dirty="0"/>
          </a:p>
        </p:txBody>
      </p:sp>
      <p:sp>
        <p:nvSpPr>
          <p:cNvPr id="17" name="Text 15"/>
          <p:cNvSpPr/>
          <p:nvPr/>
        </p:nvSpPr>
        <p:spPr>
          <a:xfrm>
            <a:off x="1572768" y="2203704"/>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2,3</a:t>
            </a:r>
            <a:endParaRPr lang="en-US" sz="850" dirty="0"/>
          </a:p>
        </p:txBody>
      </p:sp>
      <p:sp>
        <p:nvSpPr>
          <p:cNvPr id="18" name="Text 16"/>
          <p:cNvSpPr/>
          <p:nvPr/>
        </p:nvSpPr>
        <p:spPr>
          <a:xfrm>
            <a:off x="1993392" y="2203704"/>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2,4</a:t>
            </a:r>
            <a:endParaRPr lang="en-US" sz="850" dirty="0"/>
          </a:p>
        </p:txBody>
      </p:sp>
      <p:sp>
        <p:nvSpPr>
          <p:cNvPr id="19" name="Text 17"/>
          <p:cNvSpPr/>
          <p:nvPr/>
        </p:nvSpPr>
        <p:spPr>
          <a:xfrm>
            <a:off x="2414016" y="2203704"/>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2,5</a:t>
            </a:r>
            <a:endParaRPr lang="en-US" sz="850" dirty="0"/>
          </a:p>
        </p:txBody>
      </p:sp>
      <p:sp>
        <p:nvSpPr>
          <p:cNvPr id="20" name="Text 18"/>
          <p:cNvSpPr/>
          <p:nvPr/>
        </p:nvSpPr>
        <p:spPr>
          <a:xfrm>
            <a:off x="2834640" y="2203704"/>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2,6</a:t>
            </a:r>
            <a:endParaRPr lang="en-US" sz="850" dirty="0"/>
          </a:p>
        </p:txBody>
      </p:sp>
      <p:sp>
        <p:nvSpPr>
          <p:cNvPr id="21" name="Text 19"/>
          <p:cNvSpPr/>
          <p:nvPr/>
        </p:nvSpPr>
        <p:spPr>
          <a:xfrm>
            <a:off x="731520" y="2624328"/>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3,1</a:t>
            </a:r>
            <a:endParaRPr lang="en-US" sz="850" dirty="0"/>
          </a:p>
        </p:txBody>
      </p:sp>
      <p:sp>
        <p:nvSpPr>
          <p:cNvPr id="22" name="Text 20"/>
          <p:cNvSpPr/>
          <p:nvPr/>
        </p:nvSpPr>
        <p:spPr>
          <a:xfrm>
            <a:off x="1152144" y="2624328"/>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3,2</a:t>
            </a:r>
            <a:endParaRPr lang="en-US" sz="850" dirty="0"/>
          </a:p>
        </p:txBody>
      </p:sp>
      <p:sp>
        <p:nvSpPr>
          <p:cNvPr id="23" name="Text 21"/>
          <p:cNvSpPr/>
          <p:nvPr/>
        </p:nvSpPr>
        <p:spPr>
          <a:xfrm>
            <a:off x="1572768" y="2624328"/>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3,3</a:t>
            </a:r>
            <a:endParaRPr lang="en-US" sz="850" dirty="0"/>
          </a:p>
        </p:txBody>
      </p:sp>
      <p:sp>
        <p:nvSpPr>
          <p:cNvPr id="24" name="Text 22"/>
          <p:cNvSpPr/>
          <p:nvPr/>
        </p:nvSpPr>
        <p:spPr>
          <a:xfrm>
            <a:off x="1993392" y="2624328"/>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3,4</a:t>
            </a:r>
            <a:endParaRPr lang="en-US" sz="850" dirty="0"/>
          </a:p>
        </p:txBody>
      </p:sp>
      <p:sp>
        <p:nvSpPr>
          <p:cNvPr id="25" name="Text 23"/>
          <p:cNvSpPr/>
          <p:nvPr/>
        </p:nvSpPr>
        <p:spPr>
          <a:xfrm>
            <a:off x="2414016" y="2624328"/>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3,5</a:t>
            </a:r>
            <a:endParaRPr lang="en-US" sz="850" dirty="0"/>
          </a:p>
        </p:txBody>
      </p:sp>
      <p:sp>
        <p:nvSpPr>
          <p:cNvPr id="26" name="Text 24"/>
          <p:cNvSpPr/>
          <p:nvPr/>
        </p:nvSpPr>
        <p:spPr>
          <a:xfrm>
            <a:off x="2834640" y="2624328"/>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3,6</a:t>
            </a:r>
            <a:endParaRPr lang="en-US" sz="850" dirty="0"/>
          </a:p>
        </p:txBody>
      </p:sp>
      <p:sp>
        <p:nvSpPr>
          <p:cNvPr id="27" name="Text 25"/>
          <p:cNvSpPr/>
          <p:nvPr/>
        </p:nvSpPr>
        <p:spPr>
          <a:xfrm>
            <a:off x="731520" y="3044952"/>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4,1</a:t>
            </a:r>
            <a:endParaRPr lang="en-US" sz="850" dirty="0"/>
          </a:p>
        </p:txBody>
      </p:sp>
      <p:sp>
        <p:nvSpPr>
          <p:cNvPr id="28" name="Text 26"/>
          <p:cNvSpPr/>
          <p:nvPr/>
        </p:nvSpPr>
        <p:spPr>
          <a:xfrm>
            <a:off x="1152144" y="3044952"/>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4,2</a:t>
            </a:r>
            <a:endParaRPr lang="en-US" sz="850" dirty="0"/>
          </a:p>
        </p:txBody>
      </p:sp>
      <p:sp>
        <p:nvSpPr>
          <p:cNvPr id="29" name="Text 27"/>
          <p:cNvSpPr/>
          <p:nvPr/>
        </p:nvSpPr>
        <p:spPr>
          <a:xfrm>
            <a:off x="1572768" y="3044952"/>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4,3</a:t>
            </a:r>
            <a:endParaRPr lang="en-US" sz="850" dirty="0"/>
          </a:p>
        </p:txBody>
      </p:sp>
      <p:sp>
        <p:nvSpPr>
          <p:cNvPr id="30" name="Text 28"/>
          <p:cNvSpPr/>
          <p:nvPr/>
        </p:nvSpPr>
        <p:spPr>
          <a:xfrm>
            <a:off x="1993392" y="3044952"/>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4,4</a:t>
            </a:r>
            <a:endParaRPr lang="en-US" sz="850" dirty="0"/>
          </a:p>
        </p:txBody>
      </p:sp>
      <p:sp>
        <p:nvSpPr>
          <p:cNvPr id="31" name="Text 29"/>
          <p:cNvSpPr/>
          <p:nvPr/>
        </p:nvSpPr>
        <p:spPr>
          <a:xfrm>
            <a:off x="2414016" y="3044952"/>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4,5</a:t>
            </a:r>
            <a:endParaRPr lang="en-US" sz="850" dirty="0"/>
          </a:p>
        </p:txBody>
      </p:sp>
      <p:sp>
        <p:nvSpPr>
          <p:cNvPr id="32" name="Text 30"/>
          <p:cNvSpPr/>
          <p:nvPr/>
        </p:nvSpPr>
        <p:spPr>
          <a:xfrm>
            <a:off x="2834640" y="3044952"/>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4,6</a:t>
            </a:r>
            <a:endParaRPr lang="en-US" sz="850" dirty="0"/>
          </a:p>
        </p:txBody>
      </p:sp>
      <p:sp>
        <p:nvSpPr>
          <p:cNvPr id="33" name="Text 31"/>
          <p:cNvSpPr/>
          <p:nvPr/>
        </p:nvSpPr>
        <p:spPr>
          <a:xfrm>
            <a:off x="731520" y="3465576"/>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5,1</a:t>
            </a:r>
            <a:endParaRPr lang="en-US" sz="850" dirty="0"/>
          </a:p>
        </p:txBody>
      </p:sp>
      <p:sp>
        <p:nvSpPr>
          <p:cNvPr id="34" name="Text 32"/>
          <p:cNvSpPr/>
          <p:nvPr/>
        </p:nvSpPr>
        <p:spPr>
          <a:xfrm>
            <a:off x="1152144" y="3465576"/>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5,2</a:t>
            </a:r>
            <a:endParaRPr lang="en-US" sz="850" dirty="0"/>
          </a:p>
        </p:txBody>
      </p:sp>
      <p:sp>
        <p:nvSpPr>
          <p:cNvPr id="35" name="Text 33"/>
          <p:cNvSpPr/>
          <p:nvPr/>
        </p:nvSpPr>
        <p:spPr>
          <a:xfrm>
            <a:off x="1572768" y="3465576"/>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5,3</a:t>
            </a:r>
            <a:endParaRPr lang="en-US" sz="850" dirty="0"/>
          </a:p>
        </p:txBody>
      </p:sp>
      <p:sp>
        <p:nvSpPr>
          <p:cNvPr id="36" name="Text 34"/>
          <p:cNvSpPr/>
          <p:nvPr/>
        </p:nvSpPr>
        <p:spPr>
          <a:xfrm>
            <a:off x="1993392" y="3465576"/>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5,4</a:t>
            </a:r>
            <a:endParaRPr lang="en-US" sz="850" dirty="0"/>
          </a:p>
        </p:txBody>
      </p:sp>
      <p:sp>
        <p:nvSpPr>
          <p:cNvPr id="37" name="Text 35"/>
          <p:cNvSpPr/>
          <p:nvPr/>
        </p:nvSpPr>
        <p:spPr>
          <a:xfrm>
            <a:off x="2414016" y="3465576"/>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5,5</a:t>
            </a:r>
            <a:endParaRPr lang="en-US" sz="850" dirty="0"/>
          </a:p>
        </p:txBody>
      </p:sp>
      <p:sp>
        <p:nvSpPr>
          <p:cNvPr id="38" name="Text 36"/>
          <p:cNvSpPr/>
          <p:nvPr/>
        </p:nvSpPr>
        <p:spPr>
          <a:xfrm>
            <a:off x="2834640" y="3465576"/>
            <a:ext cx="402336" cy="402336"/>
          </a:xfrm>
          <a:prstGeom prst="roundRect">
            <a:avLst/>
          </a:prstGeom>
          <a:solidFill>
            <a:srgbClr val="FDEBCF"/>
          </a:solidFill>
          <a:ln w="6350">
            <a:solidFill>
              <a:srgbClr val="F2A541"/>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5,6</a:t>
            </a:r>
            <a:endParaRPr lang="en-US" sz="850" dirty="0"/>
          </a:p>
        </p:txBody>
      </p:sp>
      <p:sp>
        <p:nvSpPr>
          <p:cNvPr id="39" name="Text 37"/>
          <p:cNvSpPr/>
          <p:nvPr/>
        </p:nvSpPr>
        <p:spPr>
          <a:xfrm>
            <a:off x="731520" y="388620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6,1</a:t>
            </a:r>
            <a:endParaRPr lang="en-US" sz="850" dirty="0"/>
          </a:p>
        </p:txBody>
      </p:sp>
      <p:sp>
        <p:nvSpPr>
          <p:cNvPr id="40" name="Text 38"/>
          <p:cNvSpPr/>
          <p:nvPr/>
        </p:nvSpPr>
        <p:spPr>
          <a:xfrm>
            <a:off x="1152144" y="388620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6,2</a:t>
            </a:r>
            <a:endParaRPr lang="en-US" sz="850" dirty="0"/>
          </a:p>
        </p:txBody>
      </p:sp>
      <p:sp>
        <p:nvSpPr>
          <p:cNvPr id="41" name="Text 39"/>
          <p:cNvSpPr/>
          <p:nvPr/>
        </p:nvSpPr>
        <p:spPr>
          <a:xfrm>
            <a:off x="1572768" y="388620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6,3</a:t>
            </a:r>
            <a:endParaRPr lang="en-US" sz="850" dirty="0"/>
          </a:p>
        </p:txBody>
      </p:sp>
      <p:sp>
        <p:nvSpPr>
          <p:cNvPr id="42" name="Text 40"/>
          <p:cNvSpPr/>
          <p:nvPr/>
        </p:nvSpPr>
        <p:spPr>
          <a:xfrm>
            <a:off x="1993392" y="3886200"/>
            <a:ext cx="402336" cy="402336"/>
          </a:xfrm>
          <a:prstGeom prst="roundRect">
            <a:avLst/>
          </a:prstGeom>
          <a:solidFill>
            <a:srgbClr val="FFFFFF"/>
          </a:solidFill>
          <a:ln w="6350">
            <a:solidFill>
              <a:srgbClr val="D2D6DC"/>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6,4</a:t>
            </a:r>
            <a:endParaRPr lang="en-US" sz="850" dirty="0"/>
          </a:p>
        </p:txBody>
      </p:sp>
      <p:sp>
        <p:nvSpPr>
          <p:cNvPr id="43" name="Text 41"/>
          <p:cNvSpPr/>
          <p:nvPr/>
        </p:nvSpPr>
        <p:spPr>
          <a:xfrm>
            <a:off x="2414016" y="3886200"/>
            <a:ext cx="402336" cy="402336"/>
          </a:xfrm>
          <a:prstGeom prst="roundRect">
            <a:avLst/>
          </a:prstGeom>
          <a:solidFill>
            <a:srgbClr val="FDEBCF"/>
          </a:solidFill>
          <a:ln w="6350">
            <a:solidFill>
              <a:srgbClr val="F2A541"/>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6,5</a:t>
            </a:r>
            <a:endParaRPr lang="en-US" sz="850" dirty="0"/>
          </a:p>
        </p:txBody>
      </p:sp>
      <p:sp>
        <p:nvSpPr>
          <p:cNvPr id="44" name="Text 42"/>
          <p:cNvSpPr/>
          <p:nvPr/>
        </p:nvSpPr>
        <p:spPr>
          <a:xfrm>
            <a:off x="2834640" y="3886200"/>
            <a:ext cx="402336" cy="402336"/>
          </a:xfrm>
          <a:prstGeom prst="roundRect">
            <a:avLst/>
          </a:prstGeom>
          <a:solidFill>
            <a:srgbClr val="D6F0E8"/>
          </a:solidFill>
          <a:ln w="6350">
            <a:solidFill>
              <a:srgbClr val="0E7C86"/>
            </a:solidFill>
          </a:ln>
        </p:spPr>
        <p:txBody>
          <a:bodyPr wrap="square" lIns="0" tIns="0" rIns="0" bIns="0" rtlCol="0" anchor="ctr"/>
          <a:lstStyle/>
          <a:p>
            <a:pPr algn="ctr" indent="0" marL="0">
              <a:buNone/>
            </a:pPr>
            <a:r>
              <a:rPr lang="en-US" sz="850" dirty="0">
                <a:solidFill>
                  <a:srgbClr val="243B53"/>
                </a:solidFill>
                <a:latin typeface="Aptos" pitchFamily="34" charset="0"/>
                <a:ea typeface="Aptos" pitchFamily="34" charset="-122"/>
                <a:cs typeface="Aptos" pitchFamily="34" charset="-120"/>
              </a:rPr>
              <a:t>6,6</a:t>
            </a:r>
            <a:endParaRPr lang="en-US" sz="850" dirty="0"/>
          </a:p>
        </p:txBody>
      </p:sp>
      <p:sp>
        <p:nvSpPr>
          <p:cNvPr id="45" name="Text 43"/>
          <p:cNvSpPr/>
          <p:nvPr/>
        </p:nvSpPr>
        <p:spPr>
          <a:xfrm>
            <a:off x="3657600" y="1828800"/>
            <a:ext cx="2926080" cy="320040"/>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Event: Total = 11</a:t>
            </a:r>
            <a:endParaRPr lang="en-US" sz="2200" dirty="0"/>
          </a:p>
        </p:txBody>
      </p:sp>
      <p:sp>
        <p:nvSpPr>
          <p:cNvPr id="46" name="Text 44"/>
          <p:cNvSpPr/>
          <p:nvPr/>
        </p:nvSpPr>
        <p:spPr>
          <a:xfrm>
            <a:off x="3657600" y="2331720"/>
            <a:ext cx="2926080" cy="731520"/>
          </a:xfrm>
          <a:prstGeom prst="rect">
            <a:avLst/>
          </a:prstGeom>
          <a:noFill/>
          <a:ln/>
        </p:spPr>
        <p:txBody>
          <a:bodyPr wrap="square" lIns="0" tIns="0" rIns="0" bIns="0" rtlCol="0" anchor="ctr">
            <a:normAutofit/>
          </a:bodyPr>
          <a:lstStyle/>
          <a:p>
            <a:pPr indent="0" marL="0">
              <a:buNone/>
            </a:pPr>
            <a:r>
              <a:rPr lang="en-US" sz="1600" dirty="0">
                <a:solidFill>
                  <a:srgbClr val="243B53"/>
                </a:solidFill>
                <a:latin typeface="Aptos" pitchFamily="34" charset="0"/>
                <a:ea typeface="Aptos" pitchFamily="34" charset="-122"/>
                <a:cs typeface="Aptos" pitchFamily="34" charset="-120"/>
              </a:rPr>
              <a:t>The event contains exactly two worlds: (5,6) and (6,5).</a:t>
            </a:r>
            <a:endParaRPr lang="en-US" sz="1600" dirty="0"/>
          </a:p>
        </p:txBody>
      </p:sp>
      <p:sp>
        <p:nvSpPr>
          <p:cNvPr id="47" name="Text 45"/>
          <p:cNvSpPr/>
          <p:nvPr/>
        </p:nvSpPr>
        <p:spPr>
          <a:xfrm>
            <a:off x="3657600" y="3337560"/>
            <a:ext cx="3017520" cy="502920"/>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00" b="1" dirty="0">
                <a:solidFill>
                  <a:srgbClr val="12304A"/>
                </a:solidFill>
                <a:latin typeface="Consolas" pitchFamily="34" charset="0"/>
                <a:ea typeface="Consolas" pitchFamily="34" charset="-122"/>
                <a:cs typeface="Consolas" pitchFamily="34" charset="-120"/>
              </a:rPr>
              <a:t>P(Total = 11) = 2/36 = 1/18</a:t>
            </a:r>
            <a:endParaRPr lang="en-US" sz="1600" dirty="0"/>
          </a:p>
        </p:txBody>
      </p:sp>
      <p:sp>
        <p:nvSpPr>
          <p:cNvPr id="48" name="Text 46"/>
          <p:cNvSpPr/>
          <p:nvPr/>
        </p:nvSpPr>
        <p:spPr>
          <a:xfrm>
            <a:off x="7086600" y="1783080"/>
            <a:ext cx="4114800" cy="114300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500" dirty="0">
                <a:solidFill>
                  <a:srgbClr val="12304A"/>
                </a:solidFill>
                <a:latin typeface="Aptos" pitchFamily="34" charset="0"/>
                <a:ea typeface="Aptos" pitchFamily="34" charset="-122"/>
                <a:cs typeface="Aptos" pitchFamily="34" charset="-120"/>
              </a:rPr>
              <a:t>Analogy: The sample space is the complete menu of outcomes. An event is the subset of menu items you care about.</a:t>
            </a:r>
            <a:endParaRPr lang="en-US" sz="1500" dirty="0"/>
          </a:p>
        </p:txBody>
      </p:sp>
      <p:sp>
        <p:nvSpPr>
          <p:cNvPr id="49" name="Text 47"/>
          <p:cNvSpPr/>
          <p:nvPr/>
        </p:nvSpPr>
        <p:spPr>
          <a:xfrm>
            <a:off x="7086600" y="3154680"/>
            <a:ext cx="4114800" cy="114300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400" dirty="0">
                <a:solidFill>
                  <a:srgbClr val="B94A48"/>
                </a:solidFill>
                <a:latin typeface="Aptos" pitchFamily="34" charset="0"/>
                <a:ea typeface="Aptos" pitchFamily="34" charset="-122"/>
                <a:cs typeface="Aptos" pitchFamily="34" charset="-120"/>
              </a:rPr>
              <a:t>Gotcha: Students often count unordered dice as if (5,6) and (6,5) were the same. They are different worlds for distinguishable dice.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Events and propositions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probability query is often about a set of worlds, not one world.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 probability theory, such a set is called an event.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 logic language, the same idea is a proposition.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probability of a proposition is the sum of worlds where it is true.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P(proposition) = sum of P(world) over worlds where proposition is true</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search filter selects rows from a database; an event selects worlds from the sample space.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An event can contain many possible worlds. Do not assume one event equals one outcome.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many worlds are in the event Doubles for two dice?</a:t>
            </a:r>
            <a:endParaRPr lang="en-US" sz="13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Probability model axioms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For every world: 0 &lt;= P(world) &lt;= 1; total over all worlds = 1</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Each possible world receives a nonnegative probability.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total probability across the sample space is exactly 1.</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model distributes one full unit of belief over possible worlds.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These constraints keep beliefs coherent.</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Probability is a budget of one dollar spread across all possible worlds.</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total must be 1 across mutually exclusive and exhaustive worlds, not across arbitrary overlapping events.</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is wrong if three possible worlds have probabilities 0.5, 0.6, and 0.2?</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Example: probability of Total = 11</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With two fair dice, each ordered pair has probability 1/36.</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Total = 11 is true in two worlds: (5,6) and (6,5).</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Add the probabilities of those worlds.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probability is 2/36 = 1/18.</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P(Total = 11) = P(5,6) + P(6,5) = 1/18</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You count the winning tickets and divide by the total tickets when each ticket is equally likely.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If dice are loaded, the worlds are still the same, but their probabilities may not be equal.</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P(doubles) for fair dice?</a:t>
            </a:r>
            <a:endParaRPr lang="en-US" sz="13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39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Prior and posterior probabilities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68580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Prior probability</a:t>
            </a:r>
            <a:endParaRPr lang="en-US" sz="2200" dirty="0"/>
          </a:p>
        </p:txBody>
      </p:sp>
      <p:sp>
        <p:nvSpPr>
          <p:cNvPr id="9" name="Text 7"/>
          <p:cNvSpPr/>
          <p:nvPr/>
        </p:nvSpPr>
        <p:spPr>
          <a:xfrm>
            <a:off x="685800" y="1783080"/>
            <a:ext cx="5166360" cy="3200400"/>
          </a:xfrm>
          <a:prstGeom prst="roundRect">
            <a:avLst/>
          </a:prstGeom>
          <a:solidFill>
            <a:srgbClr val="FFFFFF"/>
          </a:solidFill>
          <a:ln w="12700">
            <a:solidFill>
              <a:srgbClr val="0E7C86"/>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Belief before new evidence is observed.</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P(cavity).</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Useful for background prevalence or base rate.</a:t>
            </a:r>
            <a:endParaRPr lang="en-US" sz="1720" dirty="0"/>
          </a:p>
        </p:txBody>
      </p:sp>
      <p:sp>
        <p:nvSpPr>
          <p:cNvPr id="10" name="Text 8"/>
          <p:cNvSpPr/>
          <p:nvPr/>
        </p:nvSpPr>
        <p:spPr>
          <a:xfrm>
            <a:off x="635508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Posterior probability</a:t>
            </a:r>
            <a:endParaRPr lang="en-US" sz="2200" dirty="0"/>
          </a:p>
        </p:txBody>
      </p:sp>
      <p:sp>
        <p:nvSpPr>
          <p:cNvPr id="11" name="Text 9"/>
          <p:cNvSpPr/>
          <p:nvPr/>
        </p:nvSpPr>
        <p:spPr>
          <a:xfrm>
            <a:off x="6355080" y="1783080"/>
            <a:ext cx="5166360" cy="3200400"/>
          </a:xfrm>
          <a:prstGeom prst="roundRect">
            <a:avLst/>
          </a:prstGeom>
          <a:solidFill>
            <a:srgbClr val="FFFFFF"/>
          </a:solidFill>
          <a:ln w="12700">
            <a:solidFill>
              <a:srgbClr val="A11C5B"/>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Belief after conditioning on evidence.</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P(cavity | toothache).</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Usually more relevant for action after observing.</a:t>
            </a:r>
            <a:endParaRPr lang="en-US" sz="1720" dirty="0"/>
          </a:p>
        </p:txBody>
      </p:sp>
      <p:sp>
        <p:nvSpPr>
          <p:cNvPr id="12" name="Text 10"/>
          <p:cNvSpPr/>
          <p:nvPr/>
        </p:nvSpPr>
        <p:spPr>
          <a:xfrm>
            <a:off x="1097280" y="5349240"/>
            <a:ext cx="996696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00" dirty="0">
                <a:solidFill>
                  <a:srgbClr val="12304A"/>
                </a:solidFill>
                <a:latin typeface="Aptos" pitchFamily="34" charset="0"/>
                <a:ea typeface="Aptos" pitchFamily="34" charset="-122"/>
                <a:cs typeface="Aptos" pitchFamily="34" charset="-120"/>
              </a:rPr>
              <a:t>Analogy: A weather forecast before looking outside is a prior; after seeing dark clouds, your updated forecast is a posterior.</a:t>
            </a:r>
            <a:endParaRPr lang="en-US" sz="1600" dirty="0"/>
          </a:p>
        </p:txBody>
      </p:sp>
      <p:sp>
        <p:nvSpPr>
          <p:cNvPr id="13" name="Text 11"/>
          <p:cNvSpPr/>
          <p:nvPr/>
        </p:nvSpPr>
        <p:spPr>
          <a:xfrm>
            <a:off x="1097280" y="6108192"/>
            <a:ext cx="9966960" cy="292608"/>
          </a:xfrm>
          <a:prstGeom prst="rect">
            <a:avLst/>
          </a:prstGeom>
          <a:noFill/>
          <a:ln/>
        </p:spPr>
        <p:txBody>
          <a:bodyPr wrap="square" lIns="0" tIns="0" rIns="0" bIns="0" rtlCol="0" anchor="ctr"/>
          <a:lstStyle/>
          <a:p>
            <a:pPr algn="ctr" indent="0" marL="0">
              <a:buNone/>
            </a:pPr>
            <a:r>
              <a:rPr lang="en-US" sz="1100" i="1" dirty="0">
                <a:solidFill>
                  <a:srgbClr val="0A5F68"/>
                </a:solidFill>
                <a:latin typeface="Aptos" pitchFamily="34" charset="0"/>
                <a:ea typeface="Aptos" pitchFamily="34" charset="-122"/>
                <a:cs typeface="Aptos" pitchFamily="34" charset="-120"/>
              </a:rPr>
              <a:t>Prompt: Why is P(cavity) still true but less useful after observing toothache?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Conditional probability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P(a | b) = P(a and b) / P(b), when P(b) &gt; 0</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Read the vertical bar as “given.”</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Evidence b restricts attention to worlds where b is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numerator keeps worlds where both a and b are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denominator rescales the remaining world set.</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Conditioning is zooming in on only the rows of a spreadsheet where the evidence column is true.</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read the vertical bar as implication. It is not a logical arrow.</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does P(doubles | first die = 5) mean?</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Product rule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P(a and b) = P(a | b) P(b)</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The product rule is just conditional probability rearranged.</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It says: to have both a and b, first have b, then have a given b.</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It is one of the main algebraic tools used in this chapter.</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Bayes rule comes from writing this product in two directions.</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To enter a restricted lab, first be in the building, then have lab access given you are in the building.</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order in the multiplication can change the conditional term, but the joint event is the same.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How could you also write P(a and b) using P(b | a)?</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Random variables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random variable maps possible worlds to values.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Names usually begin with uppercase letters.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Examples: Die1, Total, Weather,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variable has a range: the set of values it can take.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Boolean variables have values true or false.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Weather values = {sun, rain, cloud, snow}</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random variable is a question you can ask about every possible world.</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“Random” does not mean arbitrary; it means the value may vary across possible worlds.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the range of Total for two dice?</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Boolean abbreviations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For a Boolean variable Cavity, Cavity = true is often written as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Cavity = false is often written as not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keeps probability statements short.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abbreviation is convenient but can hide what variable is being discussed.</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P(cavity | toothache) means P(Cavity = true | Toothache = true)</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Saying “lights on” is shorthand for “the LightSwitch variable has value on.”</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Make sure students know which words are variables and which words are values.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the full version of P(not cavity | toothache)?</a:t>
            </a:r>
            <a:endParaRPr lang="en-US" sz="13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Probability distributions over variables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distribution assigns a probability to every possible value of a variable.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For Weather, the result can be a vector of probabilities.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values must sum to 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Conditional distributions assign a distribution for each evidence condition.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P(Weather) = (0.60, 0.10, 0.29, 0.01) for (sun, rain, cloud, snow)</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distribution is like a pie chart of belief divided among possible values.</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distribution is not one number unless the variable has only one queried value.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does P(Weather) need four numbers in this example?</a:t>
            </a:r>
            <a:endParaRPr lang="en-US" sz="13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Continuous variables and density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Some variables have infinitely many values.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Temperature, speed, time, and distance may be continuous.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probability density function describes how probability is spread over intervals.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probability of an interval comes from area under the density curve.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P(18°C &lt;= NoonTemp &lt;= 26°C) = 1 in a uniform 18-26 model</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density is like spreading paint across a ruler; probability over an interval is the amount of paint on that section.</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For continuous variables, the probability of one exact value is usually zero; intervals are meaningful.</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is “exactly 20.000000°C” less useful than “between 19°C and 21°C”?</a:t>
            </a:r>
            <a:endParaRPr lang="en-US" sz="13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Possible worlds as assignments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possible world assigns a value to every random variable in the model.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Example: Cavity = true, Toothache = false, Weather = rain.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mirrors propositional logic truth assignments.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full joint distribution covers complete assignments.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world = {Cavity=true, Toothache=false, Catch=true, ...}</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possible world is one completed row in a spreadsheet where every column has a value.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partial assignment is evidence or an event, not necessarily a complete possible world.</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many worlds for Cavity, Toothache, and Weather with four weather values?</a:t>
            </a:r>
            <a:endParaRPr lang="en-US" sz="13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 Basic probability notation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full joint distribution is the foundation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full joint distribution gives probabilities for complete assignments.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 principle, it can answer any probability query over the variables.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proposition’s probability is found by summing matching rows.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problem is that the table grows exponentially.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P(Cavity, Toothache, Catch)</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full joint is the master spreadsheet of every possible world row and its probability.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Complete does not mean practical. A full joint is often too large to build explicitly.</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many rows for 20 Boolean variables?</a:t>
            </a:r>
            <a:endParaRPr lang="en-US" sz="13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12.2.3 Probability axioms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Axioms constrain related beliefs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axioms imply relationships among logically related propositions.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probability of not a is 1 minus the probability of a.</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probability of a or b must avoid double-counting overlap.</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Coherent beliefs must respect these relationships.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P(not a) = 1 - P(a)   |   P(a or b) = P(a)+P(b)-P(a and b)</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You cannot spend the same dollar twice; probability overlap must be counted once.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P(a or b) is not always P(a)+P(b). That only works for mutually exclusive events.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is P(a or b) if P(a)=0.4, P(b)=0.3, and a,b cannot both happen?</a:t>
            </a:r>
            <a:endParaRPr lang="en-US" sz="13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12.2.3 Probability axioms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49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Dutch book intuition: incoherent beliefs are exploitable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If beliefs violate probability axioms, they are internally inconsistent.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clever opponent can set up bets that guarantee a loss.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point is not gambling; it is coherence of rational action.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Every action under uncertainty is like a bet on outcomes.</a:t>
            </a:r>
            <a:endParaRPr lang="en-US" sz="1820" dirty="0"/>
          </a:p>
        </p:txBody>
      </p:sp>
      <p:pic>
        <p:nvPicPr>
          <p:cNvPr id="9" name="Image 0" descr="/mnt/data/ch12_work/assets/fig12_2_dutch_book.png">    </p:cNvPr>
          <p:cNvPicPr>
            <a:picLocks noChangeAspect="1"/>
          </p:cNvPicPr>
          <p:nvPr/>
        </p:nvPicPr>
        <p:blipFill>
          <a:blip r:embed="rId1"/>
          <a:stretch>
            <a:fillRect/>
          </a:stretch>
        </p:blipFill>
        <p:spPr>
          <a:xfrm>
            <a:off x="6537960" y="2040302"/>
            <a:ext cx="5074920" cy="1853852"/>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12.2: inconsistent beliefs and guaranteed loss</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price list with contradictions lets someone buy low and sell high against you every time.</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Students may think the betting example is artificial. Explain it models any decision with uncertain payoffs.</a:t>
            </a:r>
            <a:endParaRPr lang="en-US" sz="13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12.2.3 Probability axioms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coherence matters for artificial intelligence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Agents act on beliefs, not just store them.</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Inconsistent beliefs can produce dominated decisions.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axioms prevent certain kinds of irrational behavior.</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Practical success of probabilistic systems reinforces the theory.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budgeting app with inconsistent totals will eventually recommend impossible spending.</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Coherence does not guarantee the probabilities are accurate; it only means they are not self-contradictory.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Can an agent have coherent but badly estimated probabilities?</a:t>
            </a:r>
            <a:endParaRPr lang="en-US" sz="13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probability notation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is the difference between a possible world and an event?</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Why must probabilities over a complete sample space sum to 1?</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Read P(cavity | toothache) in words.</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When is P(a or b) equal to P(a) + P(b)?</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12.3</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Inference using full joint distributions</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Answering probabilistic queries by summing rows in a complete table.</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Toothache, Cavity, Catch world</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Three Boolean random variables create 2 x 2 x 2 = 8 worlds.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full joint distribution assigns a probability to each world.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Every entry is one complete assignment.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entries sum to 1.</a:t>
            </a:r>
            <a:endParaRPr lang="en-US" sz="1820" dirty="0"/>
          </a:p>
        </p:txBody>
      </p:sp>
      <p:pic>
        <p:nvPicPr>
          <p:cNvPr id="9" name="Image 0" descr="/mnt/data/ch12_work/assets/fig12_3_full_joint.png">    </p:cNvPr>
          <p:cNvPicPr>
            <a:picLocks noChangeAspect="1"/>
          </p:cNvPicPr>
          <p:nvPr/>
        </p:nvPicPr>
        <p:blipFill>
          <a:blip r:embed="rId1"/>
          <a:stretch>
            <a:fillRect/>
          </a:stretch>
        </p:blipFill>
        <p:spPr>
          <a:xfrm>
            <a:off x="6537960" y="2260447"/>
            <a:ext cx="5074920" cy="1413562"/>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12.3: full joint distribution for Toothache, Cavity, Catch</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table is a complete spreadsheet of every patient-world combination in this tiny model.</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Cells are not conditional probabilities. They are joint probabilities of complete assignments.</a:t>
            </a:r>
            <a:endParaRPr lang="en-US" sz="13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full joint as a knowledge base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Given a full joint, any query can be answered in principle.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Find worlds consistent with the query and evidence.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Add their probabilities.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Normalize when computing a distribution conditioned on evidence.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query = filter rows + sum probabilities + normalize if needed</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full joint table is like a complete database; inference is a query over rows.</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“In principle” does a lot of work: the table may be too large in realistic domains.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rows would match Cavity = true?</a:t>
            </a:r>
            <a:endParaRPr lang="en-US" sz="13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Marginalization: summing out variables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P(Y) = sum over z of P(Y, Z = z)</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To compute a probability about Y, sum over values of the other variables.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unwanted variables “disappear” by being added over.</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process is called marginalization or summing out.</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It is the table version of ignoring columns after accounting for all their rows.</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To find total sales by product, sum over all stores and all days.</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Summing out is not deleting information randomly; it adds over all possibilities for variables you are not asking about.</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variables must be summed out to compute P(cavity)?</a:t>
            </a:r>
            <a:endParaRPr lang="en-US" sz="14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Worked example: P(cavity)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 0.108 + 0.012 + 0.072 + 0.008 = 0.20</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Select the row where Cavity is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Add across all values of Toothache and Catch.</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result is the marginal probability of a cavity.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complementary probability is P(not cavity) = 0.80.</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Add every receipt for one category to get the category total.</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include the not-cavity row when computing P(cavity).</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cells are added for P(not cavity)?</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Worked example: disjunction query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or toothache) = 0.28</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Select all worlds where cavity is true or toothache is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includes the cavity row plus toothache cells in the not-cavity row.</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table method avoids double-counting if you select worlds carefully.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formula P(a or b) = P(a)+P(b)-P(a and b) gives the same idea.</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Counting students who are computer science majors or math minors requires not double-counting those who are both.</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word “or” is inclusive unless otherwise stated.</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not-cavity cells still count because toothache is true?</a:t>
            </a:r>
            <a:endParaRPr lang="en-US" sz="14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Conditioning from the full joint table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 toothache) = P(cavity and toothache) / P(toothache)</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The numerator adds worlds with both cavity and toothache.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denominator adds all worlds with toothache.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restricts attention to toothache worlds.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result is the fraction of toothache probability mass with a cavity.</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Among people in the “has toothache” room, what fraction also have a cavity?</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denominator is not the whole table; it is the probability of the evidence.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table cells make up P(toothache)?</a:t>
            </a:r>
            <a:endParaRPr lang="en-US" sz="14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59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Worked example: P(cavity | toothache)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 toothache) = (0.108 + 0.012) / (0.108 + 0.012 + 0.016 + 0.064) = 0.60</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Evidence: Toothache is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Query: Is Cavity true?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Only toothache columns matter after conditioning.</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answer is 0.60, while P(not cavity | toothache) is 0.40.</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After entering the toothache room, ignore everyone outside that room and count the cavity cases inside.</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P(cavity | toothache) and P(toothache | cavity) are different questions.</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How would the calculation change for P(cavity | toothache and catch)?</a:t>
            </a:r>
            <a:endParaRPr lang="en-US" sz="14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Normalization shortcut</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 toothache) = normalize(0.12, 0.08) = (0.60, 0.40)</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Compute unnormalized scores for each value of Cavity.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scores 0.12 and 0.08 have the correct relative proportions.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Normalize by dividing by their sum, 0.20.</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normalizing constant means “whatever makes the distribution sum to 1.”</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Normalize scores like converting raw points into percentages that sum to 100%.</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normalizing constant is not a mysterious probability; it is a scaling factor.</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factor turns raw scores 0.12 and 0.08 into probabilities that sum to 1?</a:t>
            </a:r>
            <a:endParaRPr lang="en-US" sz="14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General inference by enumeration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P(X | e) = normalize over X [ sum over hidden y of P(X, e, y) ]</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X is the query variable.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e is the observed evidence.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y ranges over hidden variables not in the query or evidence.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Sum hidden variables out, then normalize.</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For each possible answer, add every hidden scenario that would still fit the evidence.</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formula looks abstract, but it is the same row-filtering method from the table.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In the toothache query, which variable was hidden and summed out?</a:t>
            </a:r>
            <a:endParaRPr lang="en-US" sz="14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full joints do not scale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For n Boolean variables, the full joint has 2^n entries.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100 Boolean variables would require about 10^30 entries.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Each entry must be stored, computed, or estimated from data.</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full joint is a theoretical foundation, not a practical table for large systems.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n Boolean variables -&gt; 2^n complete worlds</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full joint is like a census form with every possible combination of answers; combinations explode quickly.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problem is not only computer memory. Estimating every probability from data is also unrealistic.</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many entries for 10 Boolean variables? 20? 30?</a:t>
            </a:r>
            <a:endParaRPr lang="en-US" sz="13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12.3 Full joint distributions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full joint is still important</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It defines the semantics of probabilistic inference.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It proves that every query has a well-defined answer in principle.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Smaller models can be understood as compact ways to represent full joints.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Bayesian networks in the next chapter will make this compact structure explicit.</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complete city map may be too large to carry, but it explains what your GPS is approximating and compressing.</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dismiss the full joint just because it is impractical. It is the conceptual foundation.</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is this like truth tables for propositional logic?</a:t>
            </a:r>
            <a:endParaRPr lang="en-US" sz="13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full joint inference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does one cell in the Toothache, Cavity, Catch table represent?</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How do you compute P(cavity) from the full joint?</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Why does normalization appear in conditional distributions?</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Why does an explicit full joint become impractical for many variables?</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12.4</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Independence</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Factoring large distributions when parts of the world do not influence each other.</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independence helps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 full joint over many variables is usually too large.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Independence lets us break a large distribution into smaller pieces.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If two parts of the world do not affect each other, their probabilities can factor.</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Factoring reduces both storage and inference cost.</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P(X, Y) = P(X)P(Y) when X and Y are independent</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If lunch choice and coin flip are unrelated, you do not need one giant lunch-coin table.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Independence is a claim about a probability model, not a visual absence of arrows on a slide.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Name two variables that are plausibly independent in everyday life.</a:t>
            </a:r>
            <a:endParaRPr lang="en-US" sz="13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Figure: factoring with absolute independence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Weather and dental problems can be modeled separately.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Independent coin flips factor into individual coin distributions.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large joint distribution decomposes into smaller distributions.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is the first example of structure reducing complexity.</a:t>
            </a:r>
            <a:endParaRPr lang="en-US" sz="1820" dirty="0"/>
          </a:p>
        </p:txBody>
      </p:sp>
      <p:pic>
        <p:nvPicPr>
          <p:cNvPr id="9" name="Image 0" descr="/mnt/data/ch12_work/assets/fig12_4_independence.png">    </p:cNvPr>
          <p:cNvPicPr>
            <a:picLocks noChangeAspect="1"/>
          </p:cNvPicPr>
          <p:nvPr/>
        </p:nvPicPr>
        <p:blipFill>
          <a:blip r:embed="rId1"/>
          <a:stretch>
            <a:fillRect/>
          </a:stretch>
        </p:blipFill>
        <p:spPr>
          <a:xfrm>
            <a:off x="6537960" y="1911824"/>
            <a:ext cx="5074920" cy="2110807"/>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12.4: factoring a large joint distribution using independence</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Separate file cabinets are enough when two topics never cross-reference each other.</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Most real domains are not this clean; indirect connections often break independence.</a:t>
            </a:r>
            <a:endParaRPr lang="en-US" sz="13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Equivalent forms of independence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P(a | b) = P(a)   or   P(b | a) = P(b)   or   P(a and b) = P(a)P(b)</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Knowing b does not change belief in a.</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Knowing a does not change belief in b.</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joint probability factors into a product.</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These are equivalent when probabilities are defined.</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If two students choose lunch independently, learning one order tells you nothing about the other.</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Independence is not the same as mutual exclusivity. Mutually exclusive events are usually dependent.</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Are “roll is 6” and “roll is even” independent on one die?</a:t>
            </a:r>
            <a:endParaRPr lang="en-US" sz="14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69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Weather and dentistry example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Adding Weather to the dental domain creates a larger joint table.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If Weather is independent of Toothache, Catch, and Cavity, the table factors.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One 32-entry table can be built from an 8-entry dental table and a 4-entry weather table.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Domain knowledge justifies the independence assumption.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P(Toothache, Catch, Cavity, Weather) = P(Toothache, Catch, Cavity) P(Weather)</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dentist does not usually need a meteorology report to interpret a cavity test.</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Independence assumptions should be justified by domain knowledge, not convenience alone.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When might weather and toothache stop being independent?</a:t>
            </a:r>
            <a:endParaRPr lang="en-US" sz="13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Coin flips show the scaling benefit</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n independent coin flips have 2^n complete outcomes.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full joint table has 2^n entries.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With independence, represent the model as n single-coin distributions.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Storage grows linearly instead of exponentially.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P(C1, ..., Cn) = P(C1) x ... x P(Cn)</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Instead of listing every possible sequence of heads and tails, describe the same coin process once per flip.</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This only works if flips are independent. A biased coin can still be independent across flips if each flip does not affect the next.</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many entries in a full joint for 20 coin flips?</a:t>
            </a:r>
            <a:endParaRPr lang="en-US" sz="13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Independence is powerful but rare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Clean separation of entire variable sets is uncommon.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Indirect connections can create dependence.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Large domains often contain many interrelated variables.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Conditional independence is usually more useful than absolute independence.</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Two departments may seem separate until a shared budget connects their decisions.</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If evidence links two variables through a common cause, assuming independence can be badly wrong.</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Are rain and wet grass independent? What about after knowing the sprinkler was on?</a:t>
            </a:r>
            <a:endParaRPr lang="en-US" sz="138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12.4 Independence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Absolute independence versus conditional independence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68580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Absolute independence</a:t>
            </a:r>
            <a:endParaRPr lang="en-US" sz="2200" dirty="0"/>
          </a:p>
        </p:txBody>
      </p:sp>
      <p:sp>
        <p:nvSpPr>
          <p:cNvPr id="9" name="Text 7"/>
          <p:cNvSpPr/>
          <p:nvPr/>
        </p:nvSpPr>
        <p:spPr>
          <a:xfrm>
            <a:off x="685800" y="1783080"/>
            <a:ext cx="5166360" cy="3200400"/>
          </a:xfrm>
          <a:prstGeom prst="roundRect">
            <a:avLst/>
          </a:prstGeom>
          <a:solidFill>
            <a:srgbClr val="FFFFFF"/>
          </a:solidFill>
          <a:ln w="12700">
            <a:solidFill>
              <a:srgbClr val="0E7C86"/>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X tells us nothing about Y.</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No conditioning variable required.</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Useful but often too strong.</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independent coin flips.</a:t>
            </a:r>
            <a:endParaRPr lang="en-US" sz="1720" dirty="0"/>
          </a:p>
        </p:txBody>
      </p:sp>
      <p:sp>
        <p:nvSpPr>
          <p:cNvPr id="10" name="Text 8"/>
          <p:cNvSpPr/>
          <p:nvPr/>
        </p:nvSpPr>
        <p:spPr>
          <a:xfrm>
            <a:off x="635508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Conditional independence</a:t>
            </a:r>
            <a:endParaRPr lang="en-US" sz="2200" dirty="0"/>
          </a:p>
        </p:txBody>
      </p:sp>
      <p:sp>
        <p:nvSpPr>
          <p:cNvPr id="11" name="Text 9"/>
          <p:cNvSpPr/>
          <p:nvPr/>
        </p:nvSpPr>
        <p:spPr>
          <a:xfrm>
            <a:off x="6355080" y="1783080"/>
            <a:ext cx="5166360" cy="3200400"/>
          </a:xfrm>
          <a:prstGeom prst="roundRect">
            <a:avLst/>
          </a:prstGeom>
          <a:solidFill>
            <a:srgbClr val="FFFFFF"/>
          </a:solidFill>
          <a:ln w="12700">
            <a:solidFill>
              <a:srgbClr val="A11C5B"/>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X tells us nothing more about Y once Z is known.</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The conditioning variable explains the connection.</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Very common in causal domains.</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symptoms given disease.</a:t>
            </a:r>
            <a:endParaRPr lang="en-US" sz="1720" dirty="0"/>
          </a:p>
        </p:txBody>
      </p:sp>
      <p:sp>
        <p:nvSpPr>
          <p:cNvPr id="12" name="Text 10"/>
          <p:cNvSpPr/>
          <p:nvPr/>
        </p:nvSpPr>
        <p:spPr>
          <a:xfrm>
            <a:off x="1097280" y="5349240"/>
            <a:ext cx="996696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00" dirty="0">
                <a:solidFill>
                  <a:srgbClr val="12304A"/>
                </a:solidFill>
                <a:latin typeface="Aptos" pitchFamily="34" charset="0"/>
                <a:ea typeface="Aptos" pitchFamily="34" charset="-122"/>
                <a:cs typeface="Aptos" pitchFamily="34" charset="-120"/>
              </a:rPr>
              <a:t>Analogy: Two smoke alarms are related because of a fire; once you know whether there is a fire, one alarm adds less about the other.</a:t>
            </a:r>
            <a:endParaRPr lang="en-US" sz="1600" dirty="0"/>
          </a:p>
        </p:txBody>
      </p:sp>
      <p:sp>
        <p:nvSpPr>
          <p:cNvPr id="13" name="Text 11"/>
          <p:cNvSpPr/>
          <p:nvPr/>
        </p:nvSpPr>
        <p:spPr>
          <a:xfrm>
            <a:off x="1097280" y="6108192"/>
            <a:ext cx="9966960" cy="292608"/>
          </a:xfrm>
          <a:prstGeom prst="rect">
            <a:avLst/>
          </a:prstGeom>
          <a:noFill/>
          <a:ln/>
        </p:spPr>
        <p:txBody>
          <a:bodyPr wrap="square" lIns="0" tIns="0" rIns="0" bIns="0" rtlCol="0" anchor="ctr"/>
          <a:lstStyle/>
          <a:p>
            <a:pPr algn="ctr" indent="0" marL="0">
              <a:buNone/>
            </a:pPr>
            <a:r>
              <a:rPr lang="en-US" sz="1100" i="1" dirty="0">
                <a:solidFill>
                  <a:srgbClr val="0A5F68"/>
                </a:solidFill>
                <a:latin typeface="Aptos" pitchFamily="34" charset="0"/>
                <a:ea typeface="Aptos" pitchFamily="34" charset="-122"/>
                <a:cs typeface="Aptos" pitchFamily="34" charset="-120"/>
              </a:rPr>
              <a:t>Prompt: What variable could make Toothache and Catch conditionally independent?</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independence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State independence in words using P(a | b) = P(a).</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Why does independence reduce table size?</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What is the difference between independence and mutual exclusivity?</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Why is absolute independence uncommon in real domains?</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12.5</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Bayes rule and its use</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Reversing from observed effects to likely causes.</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Deriving Bayes rule from the product rule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P(b | a) = P(a | b) P(b) / P(a)</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Write the joint event two ways.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P(a and b) = P(a | b)P(b).</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P(a and b) = P(b | a)P(a).</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Set them equal and solve for P(b | a).</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Two routes reach the same intersection; equating them lets you solve for the missing road segment.</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Bayes rule is algebra from conditional probability, not a separate belief rule invented from nowhere.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term is the prior in this formula?</a:t>
            </a:r>
            <a:endParaRPr lang="en-US" sz="14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Causal direction versus diagnostic direction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68580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Causal direction</a:t>
            </a:r>
            <a:endParaRPr lang="en-US" sz="2200" dirty="0"/>
          </a:p>
        </p:txBody>
      </p:sp>
      <p:sp>
        <p:nvSpPr>
          <p:cNvPr id="9" name="Text 7"/>
          <p:cNvSpPr/>
          <p:nvPr/>
        </p:nvSpPr>
        <p:spPr>
          <a:xfrm>
            <a:off x="685800" y="1783080"/>
            <a:ext cx="5166360" cy="3200400"/>
          </a:xfrm>
          <a:prstGeom prst="roundRect">
            <a:avLst/>
          </a:prstGeom>
          <a:solidFill>
            <a:srgbClr val="FFFFFF"/>
          </a:solidFill>
          <a:ln w="12700">
            <a:solidFill>
              <a:srgbClr val="0E7C86"/>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Cause to effect.</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Often easier to estimate.</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P(stiff neck | meningitis).</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Matches scientific or domain knowledge.</a:t>
            </a:r>
            <a:endParaRPr lang="en-US" sz="1720" dirty="0"/>
          </a:p>
        </p:txBody>
      </p:sp>
      <p:sp>
        <p:nvSpPr>
          <p:cNvPr id="10" name="Text 8"/>
          <p:cNvSpPr/>
          <p:nvPr/>
        </p:nvSpPr>
        <p:spPr>
          <a:xfrm>
            <a:off x="6355080" y="1325880"/>
            <a:ext cx="5166360" cy="384048"/>
          </a:xfrm>
          <a:prstGeom prst="rect">
            <a:avLst/>
          </a:prstGeom>
          <a:noFill/>
          <a:ln/>
        </p:spPr>
        <p:txBody>
          <a:bodyPr wrap="square" lIns="0" tIns="0" rIns="0" bIns="0" rtlCol="0" anchor="ctr"/>
          <a:lstStyle/>
          <a:p>
            <a:pPr indent="0" marL="0">
              <a:buNone/>
            </a:pPr>
            <a:r>
              <a:rPr lang="en-US" sz="2200" b="1" dirty="0">
                <a:solidFill>
                  <a:srgbClr val="12304A"/>
                </a:solidFill>
                <a:latin typeface="Aptos Display" pitchFamily="34" charset="0"/>
                <a:ea typeface="Aptos Display" pitchFamily="34" charset="-122"/>
                <a:cs typeface="Aptos Display" pitchFamily="34" charset="-120"/>
              </a:rPr>
              <a:t>Diagnostic direction</a:t>
            </a:r>
            <a:endParaRPr lang="en-US" sz="2200" dirty="0"/>
          </a:p>
        </p:txBody>
      </p:sp>
      <p:sp>
        <p:nvSpPr>
          <p:cNvPr id="11" name="Text 9"/>
          <p:cNvSpPr/>
          <p:nvPr/>
        </p:nvSpPr>
        <p:spPr>
          <a:xfrm>
            <a:off x="6355080" y="1783080"/>
            <a:ext cx="5166360" cy="3200400"/>
          </a:xfrm>
          <a:prstGeom prst="roundRect">
            <a:avLst/>
          </a:prstGeom>
          <a:solidFill>
            <a:srgbClr val="FFFFFF"/>
          </a:solidFill>
          <a:ln w="12700">
            <a:solidFill>
              <a:srgbClr val="A11C5B"/>
            </a:solidFill>
          </a:ln>
        </p:spPr>
        <p:txBody>
          <a:bodyPr wrap="square" lIns="1270" tIns="1270" rIns="1270" bIns="1270" rtlCol="0" anchor="ctr">
            <a:normAutofit/>
          </a:bodyPr>
          <a:lstStyle/>
          <a:p>
            <a:pPr indent="0" marL="0">
              <a:buNone/>
            </a:pPr>
            <a:r>
              <a:rPr lang="en-US" sz="1720" dirty="0">
                <a:solidFill>
                  <a:srgbClr val="243B53"/>
                </a:solidFill>
                <a:latin typeface="Aptos" pitchFamily="34" charset="0"/>
                <a:ea typeface="Aptos" pitchFamily="34" charset="-122"/>
                <a:cs typeface="Aptos" pitchFamily="34" charset="-120"/>
              </a:rPr>
              <a:t>• Effect to cause.</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Often what the agent needs.</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Example: P(meningitis | stiff neck).</a:t>
            </a:r>
            <a:endParaRPr lang="en-US" sz="1720" dirty="0"/>
          </a:p>
          <a:p>
            <a:pPr indent="0" marL="0">
              <a:buNone/>
            </a:pPr>
            <a:r>
              <a:rPr lang="en-US" sz="1720" dirty="0">
                <a:solidFill>
                  <a:srgbClr val="243B53"/>
                </a:solidFill>
                <a:latin typeface="Aptos" pitchFamily="34" charset="0"/>
                <a:ea typeface="Aptos" pitchFamily="34" charset="-122"/>
                <a:cs typeface="Aptos" pitchFamily="34" charset="-120"/>
              </a:rPr>
              <a:t>• Requires Bayes rule and base rates.</a:t>
            </a:r>
            <a:endParaRPr lang="en-US" sz="1720" dirty="0"/>
          </a:p>
        </p:txBody>
      </p:sp>
      <p:sp>
        <p:nvSpPr>
          <p:cNvPr id="12" name="Text 10"/>
          <p:cNvSpPr/>
          <p:nvPr/>
        </p:nvSpPr>
        <p:spPr>
          <a:xfrm>
            <a:off x="1097280" y="5349240"/>
            <a:ext cx="996696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00" dirty="0">
                <a:solidFill>
                  <a:srgbClr val="12304A"/>
                </a:solidFill>
                <a:latin typeface="Aptos" pitchFamily="34" charset="0"/>
                <a:ea typeface="Aptos" pitchFamily="34" charset="-122"/>
                <a:cs typeface="Aptos" pitchFamily="34" charset="-120"/>
              </a:rPr>
              <a:t>Analogy: A fire causes smoke, but seeing smoke requires reasoning backward to possible fire.</a:t>
            </a:r>
            <a:endParaRPr lang="en-US" sz="1600" dirty="0"/>
          </a:p>
        </p:txBody>
      </p:sp>
      <p:sp>
        <p:nvSpPr>
          <p:cNvPr id="13" name="Text 11"/>
          <p:cNvSpPr/>
          <p:nvPr/>
        </p:nvSpPr>
        <p:spPr>
          <a:xfrm>
            <a:off x="1097280" y="6108192"/>
            <a:ext cx="9966960" cy="292608"/>
          </a:xfrm>
          <a:prstGeom prst="rect">
            <a:avLst/>
          </a:prstGeom>
          <a:noFill/>
          <a:ln/>
        </p:spPr>
        <p:txBody>
          <a:bodyPr wrap="square" lIns="0" tIns="0" rIns="0" bIns="0" rtlCol="0" anchor="ctr"/>
          <a:lstStyle/>
          <a:p>
            <a:pPr algn="ctr" indent="0" marL="0">
              <a:buNone/>
            </a:pPr>
            <a:r>
              <a:rPr lang="en-US" sz="1100" i="1" dirty="0">
                <a:solidFill>
                  <a:srgbClr val="0A5F68"/>
                </a:solidFill>
                <a:latin typeface="Aptos" pitchFamily="34" charset="0"/>
                <a:ea typeface="Aptos" pitchFamily="34" charset="-122"/>
                <a:cs typeface="Aptos" pitchFamily="34" charset="-120"/>
              </a:rPr>
              <a:t>Prompt: Which direction does a doctor usually observe first: disease or symptom?</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Meningitis base-rate example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P(meningitis | stiff neck) = (0.70 x 1/50000) / 0.01, about 0.0014</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Meningitis often causes stiff neck.</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But meningitis is very rare.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Stiff neck has many other causes.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posterior remains small because the base rate is tiny.</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rare cause can strongly produce a symptom, but most symptom cases may still come from common causes.</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probability of symptom given disease is not the probability of disease given symptom.</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Why does a strong symptom relationship still produce a small posterior here?</a:t>
            </a:r>
            <a:endParaRPr lang="en-US" sz="14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Base rates matter</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prior probability can strongly affect the posterior.</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Rare causes may remain unlikely even after suggestive evidence.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Common causes can dominate unless evidence is very specific.</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Ignoring base rates is a common human reasoning error.</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If almost nobody in a stadium is a professor, seeing glasses does not make a random person likely to be a professor.</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confuse a sensitive symptom with a conclusive symptom.</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does this relate to false alarms in security systems?</a:t>
            </a:r>
            <a:endParaRPr lang="en-US" sz="138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79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Bayes rule with normalization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P(Y | x) = normalize over Y [ P(x | Y) P(Y) ]</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Compute one score for each possible value of 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Each score is likelihood times prior.</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Normalize the scores so they sum to 1.</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avoids explicitly computing P(x) in many examples.</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Score every suspect by clue fit times prior plausibility, then convert scores into percentages.</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Normalization does not change the ranking; it changes raw scores into probabilities.</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are the raw scores for cavity and not cavity given toothache?</a:t>
            </a:r>
            <a:endParaRPr lang="en-US" sz="14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Dental example with Bayes rule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P(Cavity | toothache) = normalize [ P(toothache | Cavity) P(Cavity) ]</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Prior: P(Cavity) = 0.20.</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Likelihood: P(toothache | Cavity) = 0.60.</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Score for cavity: 0.60 x 0.20 = 0.12.</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Score for not cavity: 0.10 x 0.80 = 0.08.</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Normalize to get (0.60, 0.40).</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Combine how common a cause is with how well it explains the evidence.</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cause needs both a reasonable prior and a strong likelihood to dominate.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happens if cavities are much rarer in the population?</a:t>
            </a:r>
            <a:endParaRPr lang="en-US" sz="14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Conditional independence definition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P(X, Y | Z) = P(X | Z) P(Y | Z)</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X and Y may be dependent overall.</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They become independent once Z is known.</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Z explains the relationship between X and 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is more common and useful than absolute independence.</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Two classmates’ wet umbrellas are related by the weather; once you know it rained, one umbrella tells less about the other.</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Conditional independence does not mean X and Y are always independent.</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variable explains the connection between Toothache and Catch?</a:t>
            </a:r>
            <a:endParaRPr lang="en-US" sz="14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Dentist domain: Toothache and Catch given Cavity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Toothache and Catch are both evidence related to Cavity.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Once Cavity is known, one symptom may add no extra information about the other.</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conditional independence lets the joint distribution decompose.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Smaller conditional tables replace one large table.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P(Toothache, Catch | Cavity) = P(Toothache | Cavity) P(Catch | Cavity)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Two smoke alarms are linked because of fire; given whether there is fire, their readings can be treated separately in a simple model.</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This is a modeling assumption. It can be approximately useful even if not perfectly true.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Can you think of a reason Toothache and Catch might still be related even given Cavity?</a:t>
            </a:r>
            <a:endParaRPr lang="en-US" sz="138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Conditional independence reduces complexity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original 3-variable full joint has 8 entries and 7 independent numbers.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With conditional independence, use smaller pieces.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For many symptoms, the savings grow dramatically.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Representation can grow linearly instead of exponentially in simple cause-effect models.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P(Cavity, Toothache, Catch) = P(Cavity) P(Toothache | Cavity) P(Catch | Cavity)</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Instead of surveying every combination of symptoms, store how each symptom relates to the cause.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savings depend on having the right independence structure.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does one shared cause make symptoms easier to model?</a:t>
            </a:r>
            <a:endParaRPr lang="en-US" sz="138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12.5 Bayes rule</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Common mistakes with Bayes rule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Confusing P(effect | cause) with P(cause | effect).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Ignoring the prior probability or base rate.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Forgetting to normalize scores.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Assuming evidence variables are independent when they are not.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Treating a posterior as a guarantee.</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Bayes rule is like a balance scale; likelihood and prior both need to be on the scale.</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base rate is often the term students forget, and it is often the term that changes the answer most.</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mistake is easiest to make in medical testing?</a:t>
            </a:r>
            <a:endParaRPr lang="en-US" sz="138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Bayes rule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is the difference between causal and diagnostic direction?</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Why can P(symptom | disease) be high while P(disease | symptom) is low?</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What does normalization do in Bayes rule?</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In the dental domain, what does Cavity explain?</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12.6</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Naive Bayes models</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A simple scalable model for classification with many evidence variables.</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86</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 Naive Bayes models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The naive Bayes pattern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One cause or category directly influences many effects or features.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Effects are assumed conditionally independent given the cause.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full joint distribution factors into smaller conditional distributions.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Inference becomes fast even with many observed features.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Joint = prior cause x likelihood of feature 1 x ... x likelihood of feature n</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newspaper section explains why many words appear; once you know the section, model words separately.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“Naive” means the independence assumption is simplified, not that the model is useless.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might be the cause variable in spam filtering?</a:t>
            </a:r>
            <a:endParaRPr lang="en-US" sz="138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 Naive Bayes models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it is called naive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model assumes features are independent given the category.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assumption is often false in real data.</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Words, symptoms, and sensor readings can be correlated.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Despite this, the model can classify well in many tasks.</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teacher may grade each question separately even though skills overlap; the simplification can still be useful.</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Naive Bayes can be overconfident even when the top-ranked class is correct.</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are the words “first” and “quarter” not independent in a business article?</a:t>
            </a:r>
            <a:endParaRPr lang="en-US" sz="138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 Naive Bayes models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89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Naive Bayes inference in words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score(category) = prior category x all observed feature likelihoods</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Compute a score for every possible category.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Start with how common the category is.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Multiply by how likely each observed feature is in that category.</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Normalize scores if you need probabilities.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Choose the category with the highest posterior probability.</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Each feature casts a vote, but votes are weighted by how typical that feature is for the category.</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Multiplying many small probabilities can cause numerical underflow in real systems; log probabilities are used in practice.</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What feature would strongly support the weather category?</a:t>
            </a:r>
            <a:endParaRPr lang="en-US" sz="14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Text classification setup</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Task: assign a document to a category.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Possible categories: business, weather, sports, news, entertainment.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Evidence variables: whether key words appear in the document.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category is treated as the hidden cause of word appearances.</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Category -&gt; HasWord1, HasWord2, ..., HasWordn</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newspaper section acts like a theme that makes certain words more likely.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absence of a word can also be evidence, depending on how the model is built.</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words would suggest “business”? Which words suggest “weather”?</a:t>
            </a:r>
            <a:endParaRPr lang="en-US" sz="138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Training from counts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31520"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9" name="Text 7"/>
          <p:cNvSpPr/>
          <p:nvPr/>
        </p:nvSpPr>
        <p:spPr>
          <a:xfrm>
            <a:off x="1161288"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Collect documents</a:t>
            </a:r>
            <a:endParaRPr lang="en-US" sz="1800" dirty="0"/>
          </a:p>
        </p:txBody>
      </p:sp>
      <p:sp>
        <p:nvSpPr>
          <p:cNvPr id="10" name="Text 8"/>
          <p:cNvSpPr/>
          <p:nvPr/>
        </p:nvSpPr>
        <p:spPr>
          <a:xfrm>
            <a:off x="658368"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Use labeled examples from each category.</a:t>
            </a:r>
            <a:endParaRPr lang="en-US" sz="1530" dirty="0"/>
          </a:p>
        </p:txBody>
      </p:sp>
      <p:sp>
        <p:nvSpPr>
          <p:cNvPr id="11" name="Text 9"/>
          <p:cNvSpPr/>
          <p:nvPr/>
        </p:nvSpPr>
        <p:spPr>
          <a:xfrm>
            <a:off x="3241548"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3506724"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3" name="Text 11"/>
          <p:cNvSpPr/>
          <p:nvPr/>
        </p:nvSpPr>
        <p:spPr>
          <a:xfrm>
            <a:off x="3936492"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Count categories</a:t>
            </a:r>
            <a:endParaRPr lang="en-US" sz="1800" dirty="0"/>
          </a:p>
        </p:txBody>
      </p:sp>
      <p:sp>
        <p:nvSpPr>
          <p:cNvPr id="14" name="Text 12"/>
          <p:cNvSpPr/>
          <p:nvPr/>
        </p:nvSpPr>
        <p:spPr>
          <a:xfrm>
            <a:off x="3433572"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Estimate P(Category) from category frequencies.</a:t>
            </a:r>
            <a:endParaRPr lang="en-US" sz="1530" dirty="0"/>
          </a:p>
        </p:txBody>
      </p:sp>
      <p:sp>
        <p:nvSpPr>
          <p:cNvPr id="15" name="Text 13"/>
          <p:cNvSpPr/>
          <p:nvPr/>
        </p:nvSpPr>
        <p:spPr>
          <a:xfrm>
            <a:off x="6016752"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6" name="Text 14"/>
          <p:cNvSpPr/>
          <p:nvPr/>
        </p:nvSpPr>
        <p:spPr>
          <a:xfrm>
            <a:off x="6281928"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17" name="Text 15"/>
          <p:cNvSpPr/>
          <p:nvPr/>
        </p:nvSpPr>
        <p:spPr>
          <a:xfrm>
            <a:off x="6711696"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Count words</a:t>
            </a:r>
            <a:endParaRPr lang="en-US" sz="1800" dirty="0"/>
          </a:p>
        </p:txBody>
      </p:sp>
      <p:sp>
        <p:nvSpPr>
          <p:cNvPr id="18" name="Text 16"/>
          <p:cNvSpPr/>
          <p:nvPr/>
        </p:nvSpPr>
        <p:spPr>
          <a:xfrm>
            <a:off x="6208776"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Estimate P(HasWord | Category) from word frequencies inside each category.</a:t>
            </a:r>
            <a:endParaRPr lang="en-US" sz="1530" dirty="0"/>
          </a:p>
        </p:txBody>
      </p:sp>
      <p:sp>
        <p:nvSpPr>
          <p:cNvPr id="19" name="Text 17"/>
          <p:cNvSpPr/>
          <p:nvPr/>
        </p:nvSpPr>
        <p:spPr>
          <a:xfrm>
            <a:off x="8791956"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20" name="Text 18"/>
          <p:cNvSpPr/>
          <p:nvPr/>
        </p:nvSpPr>
        <p:spPr>
          <a:xfrm>
            <a:off x="9057132"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4</a:t>
            </a:r>
            <a:endParaRPr lang="en-US" sz="1500" dirty="0"/>
          </a:p>
        </p:txBody>
      </p:sp>
      <p:sp>
        <p:nvSpPr>
          <p:cNvPr id="21" name="Text 19"/>
          <p:cNvSpPr/>
          <p:nvPr/>
        </p:nvSpPr>
        <p:spPr>
          <a:xfrm>
            <a:off x="9486900"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Smooth</a:t>
            </a:r>
            <a:endParaRPr lang="en-US" sz="1800" dirty="0"/>
          </a:p>
        </p:txBody>
      </p:sp>
      <p:sp>
        <p:nvSpPr>
          <p:cNvPr id="22" name="Text 20"/>
          <p:cNvSpPr/>
          <p:nvPr/>
        </p:nvSpPr>
        <p:spPr>
          <a:xfrm>
            <a:off x="8983980"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Add small counts so unseen words do not force probability zero.</a:t>
            </a:r>
            <a:endParaRPr lang="en-US" sz="1530" dirty="0"/>
          </a:p>
        </p:txBody>
      </p:sp>
      <p:sp>
        <p:nvSpPr>
          <p:cNvPr id="23" name="Text 21"/>
          <p:cNvSpPr/>
          <p:nvPr/>
        </p:nvSpPr>
        <p:spPr>
          <a:xfrm>
            <a:off x="822960" y="4983480"/>
            <a:ext cx="1051560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50" dirty="0">
                <a:solidFill>
                  <a:srgbClr val="12304A"/>
                </a:solidFill>
                <a:latin typeface="Aptos" pitchFamily="34" charset="0"/>
                <a:ea typeface="Aptos" pitchFamily="34" charset="-122"/>
                <a:cs typeface="Aptos" pitchFamily="34" charset="-120"/>
              </a:rPr>
              <a:t>Analogy: Training is like learning which words usually appear in each newspaper section.</a:t>
            </a:r>
            <a:endParaRPr lang="en-US" sz="1650" dirty="0"/>
          </a:p>
        </p:txBody>
      </p:sp>
      <p:sp>
        <p:nvSpPr>
          <p:cNvPr id="24" name="Text 22"/>
          <p:cNvSpPr/>
          <p:nvPr/>
        </p:nvSpPr>
        <p:spPr>
          <a:xfrm>
            <a:off x="822960" y="5779008"/>
            <a:ext cx="10515600" cy="365760"/>
          </a:xfrm>
          <a:prstGeom prst="roundRect">
            <a:avLst/>
          </a:prstGeom>
          <a:solidFill>
            <a:srgbClr val="D6F0E8"/>
          </a:solidFill>
          <a:ln w="12700">
            <a:solidFill>
              <a:srgbClr val="0E7C86"/>
            </a:solidFill>
          </a:ln>
        </p:spPr>
        <p:txBody>
          <a:bodyPr wrap="square" lIns="1016" tIns="1016" rIns="1016" bIns="1016" rtlCol="0" anchor="ctr">
            <a:normAutofit/>
          </a:bodyPr>
          <a:lstStyle/>
          <a:p>
            <a:pPr indent="0" marL="0">
              <a:buNone/>
            </a:pPr>
            <a:r>
              <a:rPr lang="en-US" sz="1350" i="1" dirty="0">
                <a:solidFill>
                  <a:srgbClr val="0A5F68"/>
                </a:solidFill>
                <a:latin typeface="Aptos" pitchFamily="34" charset="0"/>
                <a:ea typeface="Aptos" pitchFamily="34" charset="-122"/>
                <a:cs typeface="Aptos" pitchFamily="34" charset="-120"/>
              </a:rPr>
              <a:t>Class prompt: Why would zero probability for an unseen word be dangerous?</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Classifying a new document</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31520"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1</a:t>
            </a:r>
            <a:endParaRPr lang="en-US" sz="1500" dirty="0"/>
          </a:p>
        </p:txBody>
      </p:sp>
      <p:sp>
        <p:nvSpPr>
          <p:cNvPr id="9" name="Text 7"/>
          <p:cNvSpPr/>
          <p:nvPr/>
        </p:nvSpPr>
        <p:spPr>
          <a:xfrm>
            <a:off x="1161288"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Observe words</a:t>
            </a:r>
            <a:endParaRPr lang="en-US" sz="1800" dirty="0"/>
          </a:p>
        </p:txBody>
      </p:sp>
      <p:sp>
        <p:nvSpPr>
          <p:cNvPr id="10" name="Text 8"/>
          <p:cNvSpPr/>
          <p:nvPr/>
        </p:nvSpPr>
        <p:spPr>
          <a:xfrm>
            <a:off x="658368"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Convert the document into observed word features.</a:t>
            </a:r>
            <a:endParaRPr lang="en-US" sz="1530" dirty="0"/>
          </a:p>
        </p:txBody>
      </p:sp>
      <p:sp>
        <p:nvSpPr>
          <p:cNvPr id="11" name="Text 9"/>
          <p:cNvSpPr/>
          <p:nvPr/>
        </p:nvSpPr>
        <p:spPr>
          <a:xfrm>
            <a:off x="3241548"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3506724"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2</a:t>
            </a:r>
            <a:endParaRPr lang="en-US" sz="1500" dirty="0"/>
          </a:p>
        </p:txBody>
      </p:sp>
      <p:sp>
        <p:nvSpPr>
          <p:cNvPr id="13" name="Text 11"/>
          <p:cNvSpPr/>
          <p:nvPr/>
        </p:nvSpPr>
        <p:spPr>
          <a:xfrm>
            <a:off x="3936492"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Score categories</a:t>
            </a:r>
            <a:endParaRPr lang="en-US" sz="1800" dirty="0"/>
          </a:p>
        </p:txBody>
      </p:sp>
      <p:sp>
        <p:nvSpPr>
          <p:cNvPr id="14" name="Text 12"/>
          <p:cNvSpPr/>
          <p:nvPr/>
        </p:nvSpPr>
        <p:spPr>
          <a:xfrm>
            <a:off x="3433572"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For each category, multiply prior by feature likelihoods.</a:t>
            </a:r>
            <a:endParaRPr lang="en-US" sz="1530" dirty="0"/>
          </a:p>
        </p:txBody>
      </p:sp>
      <p:sp>
        <p:nvSpPr>
          <p:cNvPr id="15" name="Text 13"/>
          <p:cNvSpPr/>
          <p:nvPr/>
        </p:nvSpPr>
        <p:spPr>
          <a:xfrm>
            <a:off x="6016752"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16" name="Text 14"/>
          <p:cNvSpPr/>
          <p:nvPr/>
        </p:nvSpPr>
        <p:spPr>
          <a:xfrm>
            <a:off x="6281928"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3</a:t>
            </a:r>
            <a:endParaRPr lang="en-US" sz="1500" dirty="0"/>
          </a:p>
        </p:txBody>
      </p:sp>
      <p:sp>
        <p:nvSpPr>
          <p:cNvPr id="17" name="Text 15"/>
          <p:cNvSpPr/>
          <p:nvPr/>
        </p:nvSpPr>
        <p:spPr>
          <a:xfrm>
            <a:off x="6711696"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Normalize</a:t>
            </a:r>
            <a:endParaRPr lang="en-US" sz="1800" dirty="0"/>
          </a:p>
        </p:txBody>
      </p:sp>
      <p:sp>
        <p:nvSpPr>
          <p:cNvPr id="18" name="Text 16"/>
          <p:cNvSpPr/>
          <p:nvPr/>
        </p:nvSpPr>
        <p:spPr>
          <a:xfrm>
            <a:off x="6208776" y="1901952"/>
            <a:ext cx="2555748" cy="2560320"/>
          </a:xfrm>
          <a:prstGeom prst="roundRect">
            <a:avLst/>
          </a:prstGeom>
          <a:solidFill>
            <a:srgbClr val="FFFFFF"/>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Convert scores into posterior probabilities if needed.</a:t>
            </a:r>
            <a:endParaRPr lang="en-US" sz="1530" dirty="0"/>
          </a:p>
        </p:txBody>
      </p:sp>
      <p:sp>
        <p:nvSpPr>
          <p:cNvPr id="19" name="Text 17"/>
          <p:cNvSpPr/>
          <p:nvPr/>
        </p:nvSpPr>
        <p:spPr>
          <a:xfrm>
            <a:off x="8791956" y="2971800"/>
            <a:ext cx="164592" cy="274320"/>
          </a:xfrm>
          <a:prstGeom prst="rect">
            <a:avLst/>
          </a:prstGeom>
          <a:noFill/>
          <a:ln/>
        </p:spPr>
        <p:txBody>
          <a:bodyPr wrap="square" lIns="0" tIns="0" rIns="0" bIns="0" rtlCol="0" anchor="ctr"/>
          <a:lstStyle/>
          <a:p>
            <a:pPr indent="0" marL="0">
              <a:buNone/>
            </a:pPr>
            <a:r>
              <a:rPr lang="en-US" sz="1800" b="1" dirty="0">
                <a:solidFill>
                  <a:srgbClr val="0E7C86"/>
                </a:solidFill>
                <a:latin typeface="Aptos Display" pitchFamily="34" charset="0"/>
                <a:ea typeface="Aptos Display" pitchFamily="34" charset="-122"/>
                <a:cs typeface="Aptos Display" pitchFamily="34" charset="-120"/>
              </a:rPr>
              <a:t>→</a:t>
            </a:r>
            <a:endParaRPr lang="en-US" sz="1800" dirty="0"/>
          </a:p>
        </p:txBody>
      </p:sp>
      <p:sp>
        <p:nvSpPr>
          <p:cNvPr id="20" name="Text 18"/>
          <p:cNvSpPr/>
          <p:nvPr/>
        </p:nvSpPr>
        <p:spPr>
          <a:xfrm>
            <a:off x="9057132" y="1417320"/>
            <a:ext cx="384048" cy="384048"/>
          </a:xfrm>
          <a:prstGeom prst="ellipse">
            <a:avLst/>
          </a:prstGeom>
          <a:solidFill>
            <a:srgbClr val="A11C5B"/>
          </a:solidFill>
          <a:ln>
            <a:solidFill>
              <a:srgbClr val="A11C5B"/>
            </a:solidFill>
          </a:ln>
        </p:spPr>
        <p:txBody>
          <a:bodyPr wrap="square" lIns="0" tIns="0" rIns="0" bIns="0" rtlCol="0" anchor="ctr"/>
          <a:lstStyle/>
          <a:p>
            <a:pPr algn="ctr" indent="0" marL="0">
              <a:buNone/>
            </a:pPr>
            <a:r>
              <a:rPr lang="en-US" sz="1500" b="1" dirty="0">
                <a:solidFill>
                  <a:srgbClr val="FFFFFF"/>
                </a:solidFill>
                <a:latin typeface="Aptos Display" pitchFamily="34" charset="0"/>
                <a:ea typeface="Aptos Display" pitchFamily="34" charset="-122"/>
                <a:cs typeface="Aptos Display" pitchFamily="34" charset="-120"/>
              </a:rPr>
              <a:t>4</a:t>
            </a:r>
            <a:endParaRPr lang="en-US" sz="1500" dirty="0"/>
          </a:p>
        </p:txBody>
      </p:sp>
      <p:sp>
        <p:nvSpPr>
          <p:cNvPr id="21" name="Text 19"/>
          <p:cNvSpPr/>
          <p:nvPr/>
        </p:nvSpPr>
        <p:spPr>
          <a:xfrm>
            <a:off x="9486900" y="1389888"/>
            <a:ext cx="2007108" cy="411480"/>
          </a:xfrm>
          <a:prstGeom prst="rect">
            <a:avLst/>
          </a:prstGeom>
          <a:noFill/>
          <a:ln/>
        </p:spPr>
        <p:txBody>
          <a:bodyPr wrap="square" lIns="0" tIns="0" rIns="0" bIns="0" rtlCol="0" anchor="ctr">
            <a:normAutofit/>
          </a:bodyPr>
          <a:lstStyle/>
          <a:p>
            <a:pPr indent="0" marL="0">
              <a:buNone/>
            </a:pPr>
            <a:r>
              <a:rPr lang="en-US" sz="1800" b="1" dirty="0">
                <a:solidFill>
                  <a:srgbClr val="12304A"/>
                </a:solidFill>
                <a:latin typeface="Aptos Display" pitchFamily="34" charset="0"/>
                <a:ea typeface="Aptos Display" pitchFamily="34" charset="-122"/>
                <a:cs typeface="Aptos Display" pitchFamily="34" charset="-120"/>
              </a:rPr>
              <a:t>Choose</a:t>
            </a:r>
            <a:endParaRPr lang="en-US" sz="1800" dirty="0"/>
          </a:p>
        </p:txBody>
      </p:sp>
      <p:sp>
        <p:nvSpPr>
          <p:cNvPr id="22" name="Text 20"/>
          <p:cNvSpPr/>
          <p:nvPr/>
        </p:nvSpPr>
        <p:spPr>
          <a:xfrm>
            <a:off x="8983980" y="1901952"/>
            <a:ext cx="2555748" cy="2560320"/>
          </a:xfrm>
          <a:prstGeom prst="roundRect">
            <a:avLst/>
          </a:prstGeom>
          <a:solidFill>
            <a:srgbClr val="DCEAF7"/>
          </a:solidFill>
          <a:ln w="12700">
            <a:solidFill>
              <a:srgbClr val="0E7C86"/>
            </a:solidFill>
          </a:ln>
        </p:spPr>
        <p:txBody>
          <a:bodyPr wrap="square" lIns="1524" tIns="1524" rIns="1524" bIns="1524" rtlCol="0" anchor="ctr">
            <a:normAutofit/>
          </a:bodyPr>
          <a:lstStyle/>
          <a:p>
            <a:pPr indent="0" marL="0">
              <a:buNone/>
            </a:pPr>
            <a:r>
              <a:rPr lang="en-US" sz="1530" dirty="0">
                <a:solidFill>
                  <a:srgbClr val="243B53"/>
                </a:solidFill>
                <a:latin typeface="Aptos" pitchFamily="34" charset="0"/>
                <a:ea typeface="Aptos" pitchFamily="34" charset="-122"/>
                <a:cs typeface="Aptos" pitchFamily="34" charset="-120"/>
              </a:rPr>
              <a:t>Pick the category with the highest posterior or take a decision based on utility.</a:t>
            </a:r>
            <a:endParaRPr lang="en-US" sz="1530" dirty="0"/>
          </a:p>
        </p:txBody>
      </p:sp>
      <p:sp>
        <p:nvSpPr>
          <p:cNvPr id="23" name="Text 21"/>
          <p:cNvSpPr/>
          <p:nvPr/>
        </p:nvSpPr>
        <p:spPr>
          <a:xfrm>
            <a:off x="822960" y="4983480"/>
            <a:ext cx="10515600" cy="64008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650" dirty="0">
                <a:solidFill>
                  <a:srgbClr val="12304A"/>
                </a:solidFill>
                <a:latin typeface="Aptos" pitchFamily="34" charset="0"/>
                <a:ea typeface="Aptos" pitchFamily="34" charset="-122"/>
                <a:cs typeface="Aptos" pitchFamily="34" charset="-120"/>
              </a:rPr>
              <a:t>Analogy: Like sorting mail by clues: envelope words, sender, and topic hints.</a:t>
            </a:r>
            <a:endParaRPr lang="en-US" sz="1650" dirty="0"/>
          </a:p>
        </p:txBody>
      </p:sp>
      <p:sp>
        <p:nvSpPr>
          <p:cNvPr id="24" name="Text 22"/>
          <p:cNvSpPr/>
          <p:nvPr/>
        </p:nvSpPr>
        <p:spPr>
          <a:xfrm>
            <a:off x="822960" y="5779008"/>
            <a:ext cx="10515600" cy="365760"/>
          </a:xfrm>
          <a:prstGeom prst="roundRect">
            <a:avLst/>
          </a:prstGeom>
          <a:solidFill>
            <a:srgbClr val="D6F0E8"/>
          </a:solidFill>
          <a:ln w="12700">
            <a:solidFill>
              <a:srgbClr val="0E7C86"/>
            </a:solidFill>
          </a:ln>
        </p:spPr>
        <p:txBody>
          <a:bodyPr wrap="square" lIns="1016" tIns="1016" rIns="1016" bIns="1016" rtlCol="0" anchor="ctr">
            <a:normAutofit/>
          </a:bodyPr>
          <a:lstStyle/>
          <a:p>
            <a:pPr indent="0" marL="0">
              <a:buNone/>
            </a:pPr>
            <a:r>
              <a:rPr lang="en-US" sz="1350" i="1" dirty="0">
                <a:solidFill>
                  <a:srgbClr val="0A5F68"/>
                </a:solidFill>
                <a:latin typeface="Aptos" pitchFamily="34" charset="0"/>
                <a:ea typeface="Aptos" pitchFamily="34" charset="-122"/>
                <a:cs typeface="Aptos" pitchFamily="34" charset="-120"/>
              </a:rPr>
              <a:t>Class prompt: Would you always choose the highest-probability category if errors have different costs?</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Smoothing and zero probabilities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Without smoothing, one unseen word can make a category score zero.</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Small training sets rarely contain every useful word.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Smoothing adds small pseudo-counts to avoid overreacting to missing data.</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This is a practical fix, not a change to Bayes rule itself.</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If no student in a tiny sample owns a bicycle, you should not conclude the probability is exactly zero for the whole campus.</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Zero probabilities are sticky: once multiplied by zero, the whole category score becomes zero.</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is smoothing especially important for text?</a:t>
            </a:r>
            <a:endParaRPr lang="en-US" sz="138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Overconfidence versus useful ranking</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Naive Bayes often violates true independence.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Correlated features make posterior probabilities too extreme.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model may still rank categories correctly.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Ranking accuracy and probability calibration are different.</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confident friend may exaggerate certainty but still point you in the right direction.</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use overconfident probabilities blindly in high-stakes decisions.</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When is ranking enough, and when do exact probabilities matter?</a:t>
            </a:r>
            <a:endParaRPr lang="en-US" sz="138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12.6.1 Text classification</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When naive Bayes is not enough</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High-stakes decisions need well-calibrated probabilities.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Correlated symptoms can cause dangerous overconfidence.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Models with richer dependency structure may be preferred.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Bayesian networks in the next chapter address these dependencies directly.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quick checklist can triage patients, but surgery requires a more careful diagnostic model.</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Simple and fast is not the same as appropriate for every task.</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Would naive Bayes be acceptable for recommending music? For diagnosing appendicitis?</a:t>
            </a:r>
            <a:endParaRPr lang="en-US" sz="138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Instructor demo</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Mini example: business versus weather</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Business sentence: “stocks rallied, indexes gained, earnings season.”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Weather sentence: “heavy rain, flood warnings, east coast.”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Observed words become evidence variables.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Each category receives a prior times keyword likelihood score.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Normalize and choose the highest-scoring category.</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score(business) ∝ P(business) P(stocks | business) P(rain | business) ...</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Each word is a clue; the category is the explanation that makes the clues likely.</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Words are not truly independent, but the approximation can still rank categories well.</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How would the word “quarter” behave differently in business and sports?</a:t>
            </a:r>
            <a:endParaRPr lang="en-US" sz="138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naive Bayes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is the “cause” or category variable in text classification?</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Why is the independence assumption called naive?</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Why can naive Bayes be overconfident but still classify well?</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Why is smoothing helpful with word features?</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12.7</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The Wumpus World revisited</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Using probability when logic cannot identify a guaranteed safe move.</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98</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99</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Why the Wumpus agent is uncertain</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Sensors provide partial information about nearby squares.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breeze indicates at least one neighboring pit.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After breezes in [1,2] and [2,1], several reachable squares remain possible pits.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Pure logic may not know which unknown square is safest.</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A hiker hears rocks shifting nearby but cannot see which path has the cliff.</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Unknown squares are not necessarily equally risky.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might a square adjacent to two breezes be more suspicious than one adjacent to one breeze?</a:t>
            </a:r>
            <a:endParaRPr lang="en-US" sz="138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Figure: no known safe square to explore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agent has observed breezes in [1,2] and [2,1].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Reachable unvisited squares include [1,3], [2,2], and [3,1].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Logic cannot rank the risk of these unknown squares.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can assign each square a pit probability.</a:t>
            </a:r>
            <a:endParaRPr lang="en-US" sz="1820" dirty="0"/>
          </a:p>
        </p:txBody>
      </p:sp>
      <p:pic>
        <p:nvPicPr>
          <p:cNvPr id="9" name="Image 0" descr="/mnt/data/ch12_work/assets/fig12_5_wumpus_partition.png">    </p:cNvPr>
          <p:cNvPicPr>
            <a:picLocks noChangeAspect="1"/>
          </p:cNvPicPr>
          <p:nvPr/>
        </p:nvPicPr>
        <p:blipFill>
          <a:blip r:embed="rId1"/>
          <a:stretch>
            <a:fillRect/>
          </a:stretch>
        </p:blipFill>
        <p:spPr>
          <a:xfrm>
            <a:off x="6537960" y="1462716"/>
            <a:ext cx="5074920" cy="3009023"/>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12.5: Wumpus World known, query, frontier, and other squares</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When every route has some risk, a risk estimate is better than random choice.</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query square and frontier variables are separated because they play different roles in the computation.</a:t>
            </a:r>
            <a:endParaRPr lang="en-US" sz="138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Random variables for pits and breezes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Pij is true if square [i,j] contains a pit.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Bij is true if square [i,j] is breezy.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Breeze variables are included for observed squares.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example focuses on pits and ignores Wumpus and gold.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Each non-start square has prior pit probability 0.2.</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P(Pij = true) = 0.2 for non-start squares</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Each square carries a hidden risk label; breezes are clues about nearby labels.</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breeze is observed evidence; a pit is usually a hidden variable.</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variables are evidence and which variables are hidden?</a:t>
            </a:r>
            <a:endParaRPr lang="en-US" sz="138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Wumpus full joint idea</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full joint could include all pit variables and observed breeze variables.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Breeze consistency is deterministic given a pit configuration.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If a pit configuration explains the breezes, its breeze likelihood is 1.</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If it contradicts the breezes, its likelihood is 0.</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Pit configurations are weighted by the independent pit prior.</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P(pit configuration with n pits) = 0.2^n x 0.8^(15-n)</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Imagine trying every hidden map of pits, throwing out maps inconsistent with breezes, and weighting the rest.</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breeze variables are not random noise in this example; they are deterministic effects of pit placement.</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do inconsistent pit maps get probability weight zero after evidence?</a:t>
            </a:r>
            <a:endParaRPr lang="en-US" sz="138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Known, query, frontier, and other variables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Known squares: visited or proven safe facts.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Query square: the square whose pit probability we ask about.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Frontier variables: unknown squares adjacent to observed breezes.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Other variables: distant unknown squares.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Conditional independence can remove Other from the calculation.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Unknown = Frontier + Other</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For a smoke smell in one hallway, distant rooms may be irrelevant once nearby rooms are accounted for.</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Other variables are not impossible; they are irrelevant to this query after conditioning on local variables.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is [4,4] unlikely to affect belief about a pit in [1,3]?</a:t>
            </a:r>
            <a:endParaRPr lang="en-US" sz="138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Conditional independence in the Wumpus query</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822960" y="1508760"/>
            <a:ext cx="10515600" cy="1097280"/>
          </a:xfrm>
          <a:prstGeom prst="roundRect">
            <a:avLst/>
          </a:prstGeom>
          <a:solidFill>
            <a:srgbClr val="DCEAF7"/>
          </a:solidFill>
          <a:ln w="15240">
            <a:solidFill>
              <a:srgbClr val="0E7C86"/>
            </a:solidFill>
          </a:ln>
        </p:spPr>
        <p:txBody>
          <a:bodyPr wrap="square" lIns="1270" tIns="1270" rIns="1270" bIns="1270" rtlCol="0" anchor="ctr">
            <a:normAutofit/>
          </a:bodyPr>
          <a:lstStyle/>
          <a:p>
            <a:pPr algn="ctr" indent="0" marL="0">
              <a:buNone/>
            </a:pPr>
            <a:r>
              <a:rPr lang="en-US" sz="2400" b="1" dirty="0">
                <a:solidFill>
                  <a:srgbClr val="12304A"/>
                </a:solidFill>
                <a:latin typeface="Aptos" pitchFamily="34" charset="0"/>
                <a:ea typeface="Aptos" pitchFamily="34" charset="-122"/>
                <a:cs typeface="Aptos" pitchFamily="34" charset="-120"/>
              </a:rPr>
              <a:t>breeze evidence is independent of Other given Known, Query, and Frontier</a:t>
            </a:r>
            <a:endParaRPr lang="en-US" sz="2400" dirty="0"/>
          </a:p>
        </p:txBody>
      </p:sp>
      <p:sp>
        <p:nvSpPr>
          <p:cNvPr id="9" name="Text 7"/>
          <p:cNvSpPr/>
          <p:nvPr/>
        </p:nvSpPr>
        <p:spPr>
          <a:xfrm>
            <a:off x="914400" y="2880360"/>
            <a:ext cx="5669280" cy="2286000"/>
          </a:xfrm>
          <a:prstGeom prst="rect">
            <a:avLst/>
          </a:prstGeom>
          <a:no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 Observed breezes depend only on nearby pit variables.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Distant pits cannot change the local breeze evidence.</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This lets the summation ignore many distant variables.</a:t>
            </a:r>
            <a:endParaRPr lang="en-US" sz="1800" dirty="0"/>
          </a:p>
          <a:p>
            <a:pPr indent="0" marL="0">
              <a:buNone/>
            </a:pPr>
            <a:r>
              <a:rPr lang="en-US" sz="1800" dirty="0">
                <a:solidFill>
                  <a:srgbClr val="243B53"/>
                </a:solidFill>
                <a:latin typeface="Aptos" pitchFamily="34" charset="0"/>
                <a:ea typeface="Aptos" pitchFamily="34" charset="-122"/>
                <a:cs typeface="Aptos" pitchFamily="34" charset="-120"/>
              </a:rPr>
              <a:t>• The computation shrinks from thousands of terms to a few frontier cases.</a:t>
            </a:r>
            <a:endParaRPr lang="en-US" sz="1800" dirty="0"/>
          </a:p>
        </p:txBody>
      </p:sp>
      <p:sp>
        <p:nvSpPr>
          <p:cNvPr id="10" name="Text 8"/>
          <p:cNvSpPr/>
          <p:nvPr/>
        </p:nvSpPr>
        <p:spPr>
          <a:xfrm>
            <a:off x="6903720" y="2880360"/>
            <a:ext cx="4069080" cy="100584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To explain a smell in this room, nearby trash cans matter more than trash cans across campus.</a:t>
            </a:r>
            <a:endParaRPr lang="en-US" sz="1450" dirty="0"/>
          </a:p>
        </p:txBody>
      </p:sp>
      <p:sp>
        <p:nvSpPr>
          <p:cNvPr id="11" name="Text 9"/>
          <p:cNvSpPr/>
          <p:nvPr/>
        </p:nvSpPr>
        <p:spPr>
          <a:xfrm>
            <a:off x="6903720" y="4069080"/>
            <a:ext cx="4069080" cy="777240"/>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distant squares can still contain pits; they just do not affect this local query after conditioning.</a:t>
            </a:r>
            <a:endParaRPr lang="en-US" sz="1380" dirty="0"/>
          </a:p>
        </p:txBody>
      </p:sp>
      <p:sp>
        <p:nvSpPr>
          <p:cNvPr id="12" name="Text 10"/>
          <p:cNvSpPr/>
          <p:nvPr/>
        </p:nvSpPr>
        <p:spPr>
          <a:xfrm>
            <a:off x="914400" y="5532120"/>
            <a:ext cx="10424160" cy="457200"/>
          </a:xfrm>
          <a:prstGeom prst="roundRect">
            <a:avLst/>
          </a:prstGeom>
          <a:solidFill>
            <a:srgbClr val="D6F0E8"/>
          </a:solidFill>
          <a:ln w="12700">
            <a:solidFill>
              <a:srgbClr val="0E7C86"/>
            </a:solidFill>
          </a:ln>
        </p:spPr>
        <p:txBody>
          <a:bodyPr wrap="square" lIns="1270" tIns="1270" rIns="1270" bIns="1270" rtlCol="0" anchor="ctr">
            <a:normAutofit/>
          </a:bodyPr>
          <a:lstStyle/>
          <a:p>
            <a:pPr indent="0" marL="0">
              <a:buNone/>
            </a:pPr>
            <a:r>
              <a:rPr lang="en-US" sz="1450" i="1" dirty="0">
                <a:solidFill>
                  <a:srgbClr val="0A5F68"/>
                </a:solidFill>
                <a:latin typeface="Aptos" pitchFamily="34" charset="0"/>
                <a:ea typeface="Aptos" pitchFamily="34" charset="-122"/>
                <a:cs typeface="Aptos" pitchFamily="34" charset="-120"/>
              </a:rPr>
              <a:t>Prompt: Which variables are local enough to explain the breezes?</a:t>
            </a:r>
            <a:endParaRPr lang="en-US" sz="14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Figure: consistent frontier models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57150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Figure 12.6 lists frontier models consistent with the breeze evidence.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Each model gets a prior weight from the 0.2 pit probability.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Models with P1,3 true and false are compared.</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Normalizing the weights gives pit probabilities for candidate squares.</a:t>
            </a:r>
            <a:endParaRPr lang="en-US" sz="1820" dirty="0"/>
          </a:p>
        </p:txBody>
      </p:sp>
      <p:pic>
        <p:nvPicPr>
          <p:cNvPr id="9" name="Image 0" descr="/mnt/data/ch12_work/assets/fig12_6_wumpus_models.png">    </p:cNvPr>
          <p:cNvPicPr>
            <a:picLocks noChangeAspect="1"/>
          </p:cNvPicPr>
          <p:nvPr/>
        </p:nvPicPr>
        <p:blipFill>
          <a:blip r:embed="rId1"/>
          <a:stretch>
            <a:fillRect/>
          </a:stretch>
        </p:blipFill>
        <p:spPr>
          <a:xfrm>
            <a:off x="6537960" y="1675430"/>
            <a:ext cx="5074920" cy="2583596"/>
          </a:xfrm>
          <a:prstGeom prst="rect">
            <a:avLst/>
          </a:prstGeom>
        </p:spPr>
      </p:pic>
      <p:sp>
        <p:nvSpPr>
          <p:cNvPr id="10" name="Text 7"/>
          <p:cNvSpPr/>
          <p:nvPr/>
        </p:nvSpPr>
        <p:spPr>
          <a:xfrm>
            <a:off x="6537960" y="4663440"/>
            <a:ext cx="5074920" cy="256032"/>
          </a:xfrm>
          <a:prstGeom prst="rect">
            <a:avLst/>
          </a:prstGeom>
          <a:noFill/>
          <a:ln/>
        </p:spPr>
        <p:txBody>
          <a:bodyPr wrap="square" lIns="0" tIns="0" rIns="0" bIns="0" rtlCol="0" anchor="ctr"/>
          <a:lstStyle/>
          <a:p>
            <a:pPr algn="ctr" indent="0" marL="0">
              <a:buNone/>
            </a:pPr>
            <a:r>
              <a:rPr lang="en-US" sz="950" i="1" dirty="0">
                <a:solidFill>
                  <a:srgbClr val="5A6675"/>
                </a:solidFill>
                <a:latin typeface="Aptos" pitchFamily="34" charset="0"/>
                <a:ea typeface="Aptos" pitchFamily="34" charset="-122"/>
                <a:cs typeface="Aptos" pitchFamily="34" charset="-120"/>
              </a:rPr>
              <a:t>Figure 12.6: consistent frontier models and prior weights</a:t>
            </a:r>
            <a:endParaRPr lang="en-US" sz="950" dirty="0"/>
          </a:p>
        </p:txBody>
      </p:sp>
      <p:sp>
        <p:nvSpPr>
          <p:cNvPr id="11" name="Text 8"/>
          <p:cNvSpPr/>
          <p:nvPr/>
        </p:nvSpPr>
        <p:spPr>
          <a:xfrm>
            <a:off x="6537960" y="4983480"/>
            <a:ext cx="4251960" cy="8229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Only maps that explain the clues stay on the table; then we weigh how plausible each map was before evidence.</a:t>
            </a:r>
            <a:endParaRPr lang="en-US" sz="1450" dirty="0"/>
          </a:p>
        </p:txBody>
      </p:sp>
      <p:sp>
        <p:nvSpPr>
          <p:cNvPr id="12" name="Text 9"/>
          <p:cNvSpPr/>
          <p:nvPr/>
        </p:nvSpPr>
        <p:spPr>
          <a:xfrm>
            <a:off x="6537960" y="5879592"/>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model with more pits usually has lower prior weight because each pit has probability 0.2.</a:t>
            </a:r>
            <a:endParaRPr lang="en-US" sz="138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Pit probabilities after evidence</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[1,3] contains a pit with probability about 31 percent.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[3,1] is symmetric and also about 31 percent.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[2,2] contains a pit with probability about 86 percent.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reveals which unknown square is more dangerous.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 rational agent should avoid [2,2] if possible.</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Pit risk: [1,3] = 0.31; [2,2] = 0.86; [3,1] = 0.31</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Logic says several doors are unverified; probability says one door is much more likely to hide danger.</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Unknown does not mean 50-50, and it does not mean all unknowns are equal.</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Why is [2,2] more dangerous than [1,3] or [3,1]?</a:t>
            </a:r>
            <a:endParaRPr lang="en-US" sz="138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12.7 Wumpus World revisited</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107</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What probability adds beyond logic</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Logic can label a square safe, unsafe, or unknown.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grades unknown possibilities by risk.</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Risk estimates support better action choices.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same idea applies to diagnosis, robotics, classification, and security.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does not replace logic; it extends decision-making under uncertainty.</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Logic says “I cannot prove this bridge is safe.” Probability estimates the chance the bridge fails.</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Probabilistic reasoning still depends on modeling assumptions, priors, and evidence quality.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Where else would ranking unknown risks be valuable?</a:t>
            </a:r>
            <a:endParaRPr lang="en-US" sz="138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108</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Checkpoint: probabilistic Wumpus World</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does a pit variable represent?</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Why can a logical agent get stuck after observing breezes?</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Why does [2,2] have a higher pit probability than [1,3]?</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What conditional independence removes distant Other squares from the query?</a:t>
            </a:r>
            <a:endParaRPr lang="en-US" sz="1800" dirty="0"/>
          </a:p>
        </p:txBody>
      </p:sp>
      <p:sp>
        <p:nvSpPr>
          <p:cNvPr id="12" name="Text 10"/>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685800" y="1051560"/>
            <a:ext cx="1463040" cy="73152"/>
          </a:xfrm>
          <a:prstGeom prst="rect">
            <a:avLst/>
          </a:prstGeom>
          <a:solidFill>
            <a:srgbClr val="F5C542"/>
          </a:solidFill>
          <a:ln w="12700">
            <a:solidFill>
              <a:srgbClr val="F5C542">
                <a:alpha val="0"/>
              </a:srgbClr>
            </a:solidFill>
            <a:prstDash val="solid"/>
          </a:ln>
        </p:spPr>
      </p:sp>
      <p:sp>
        <p:nvSpPr>
          <p:cNvPr id="3" name="Text 1"/>
          <p:cNvSpPr/>
          <p:nvPr/>
        </p:nvSpPr>
        <p:spPr>
          <a:xfrm>
            <a:off x="685800" y="1325880"/>
            <a:ext cx="3657600" cy="320040"/>
          </a:xfrm>
          <a:prstGeom prst="rect">
            <a:avLst/>
          </a:prstGeom>
          <a:noFill/>
          <a:ln/>
        </p:spPr>
        <p:txBody>
          <a:bodyPr wrap="square" lIns="0" tIns="0" rIns="0" bIns="0" rtlCol="0" anchor="ctr"/>
          <a:lstStyle/>
          <a:p>
            <a:pPr indent="0" marL="0">
              <a:buNone/>
            </a:pPr>
            <a:r>
              <a:rPr lang="en-US" sz="1500" b="1" dirty="0">
                <a:solidFill>
                  <a:srgbClr val="B8DDF0"/>
                </a:solidFill>
                <a:latin typeface="Aptos" pitchFamily="34" charset="0"/>
                <a:ea typeface="Aptos" pitchFamily="34" charset="-122"/>
                <a:cs typeface="Aptos" pitchFamily="34" charset="-120"/>
              </a:rPr>
              <a:t>Chapter summary</a:t>
            </a:r>
            <a:endParaRPr lang="en-US" sz="1500" dirty="0"/>
          </a:p>
        </p:txBody>
      </p:sp>
      <p:sp>
        <p:nvSpPr>
          <p:cNvPr id="4" name="Text 2"/>
          <p:cNvSpPr/>
          <p:nvPr/>
        </p:nvSpPr>
        <p:spPr>
          <a:xfrm>
            <a:off x="685800" y="1874520"/>
            <a:ext cx="1069848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Review and consolidation</a:t>
            </a:r>
            <a:endParaRPr lang="en-US" sz="4200" dirty="0"/>
          </a:p>
        </p:txBody>
      </p:sp>
      <p:sp>
        <p:nvSpPr>
          <p:cNvPr id="5" name="Text 3"/>
          <p:cNvSpPr/>
          <p:nvPr/>
        </p:nvSpPr>
        <p:spPr>
          <a:xfrm>
            <a:off x="685800" y="2971800"/>
            <a:ext cx="10332720" cy="502920"/>
          </a:xfrm>
          <a:prstGeom prst="rect">
            <a:avLst/>
          </a:prstGeom>
          <a:noFill/>
          <a:ln/>
        </p:spPr>
        <p:txBody>
          <a:bodyPr wrap="square" lIns="0" tIns="0" rIns="0" bIns="0" rtlCol="0" anchor="ctr">
            <a:normAutofit/>
          </a:bodyPr>
          <a:lstStyle/>
          <a:p>
            <a:pPr indent="0" marL="0">
              <a:buNone/>
            </a:pPr>
            <a:r>
              <a:rPr lang="en-US" sz="2200" dirty="0">
                <a:solidFill>
                  <a:srgbClr val="E9F5FF"/>
                </a:solidFill>
                <a:latin typeface="Aptos" pitchFamily="34" charset="0"/>
                <a:ea typeface="Aptos" pitchFamily="34" charset="-122"/>
                <a:cs typeface="Aptos" pitchFamily="34" charset="-120"/>
              </a:rPr>
              <a:t>The concepts students should retain before Bayesian networks.</a:t>
            </a:r>
            <a:endParaRPr lang="en-US" sz="2200" dirty="0"/>
          </a:p>
        </p:txBody>
      </p:sp>
      <p:sp>
        <p:nvSpPr>
          <p:cNvPr id="6" name="Text 4"/>
          <p:cNvSpPr/>
          <p:nvPr/>
        </p:nvSpPr>
        <p:spPr>
          <a:xfrm>
            <a:off x="685800" y="6080760"/>
            <a:ext cx="5486400" cy="274320"/>
          </a:xfrm>
          <a:prstGeom prst="rect">
            <a:avLst/>
          </a:prstGeom>
          <a:noFill/>
          <a:ln/>
        </p:spPr>
        <p:txBody>
          <a:bodyPr wrap="square" lIns="0" tIns="0" rIns="0" bIns="0" rtlCol="0" anchor="ctr"/>
          <a:lstStyle/>
          <a:p>
            <a:pPr indent="0" marL="0">
              <a:buNone/>
            </a:pPr>
            <a:r>
              <a:rPr lang="en-US" sz="1200" dirty="0">
                <a:solidFill>
                  <a:srgbClr val="B8DDF0"/>
                </a:solidFill>
                <a:latin typeface="Aptos" pitchFamily="34" charset="0"/>
                <a:ea typeface="Aptos" pitchFamily="34" charset="-122"/>
                <a:cs typeface="Aptos" pitchFamily="34" charset="-120"/>
              </a:rPr>
              <a:t>Chapter 12: Quantifying Uncertainty</a:t>
            </a:r>
            <a:endParaRPr lang="en-US" sz="1200" dirty="0"/>
          </a:p>
        </p:txBody>
      </p:sp>
      <p:sp>
        <p:nvSpPr>
          <p:cNvPr id="7" name="Text 5"/>
          <p:cNvSpPr/>
          <p:nvPr/>
        </p:nvSpPr>
        <p:spPr>
          <a:xfrm>
            <a:off x="11384280" y="6263640"/>
            <a:ext cx="411480" cy="274320"/>
          </a:xfrm>
          <a:prstGeom prst="rect">
            <a:avLst/>
          </a:prstGeom>
          <a:noFill/>
          <a:ln/>
        </p:spPr>
        <p:txBody>
          <a:bodyPr wrap="square" lIns="0" tIns="0" rIns="0" bIns="0" rtlCol="0" anchor="ctr"/>
          <a:lstStyle/>
          <a:p>
            <a:pPr indent="0" marL="0">
              <a:buNone/>
            </a:pPr>
            <a:r>
              <a:rPr lang="en-US" sz="1200" b="1" dirty="0">
                <a:solidFill>
                  <a:srgbClr val="B8DDF0"/>
                </a:solidFill>
                <a:latin typeface="Aptos" pitchFamily="34" charset="0"/>
                <a:ea typeface="Aptos" pitchFamily="34" charset="-122"/>
                <a:cs typeface="Aptos" pitchFamily="34" charset="-120"/>
              </a:rPr>
              <a:t>109</a:t>
            </a:r>
            <a:endParaRPr 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Chapter summary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110</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Ten takeaways, part 1</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Uncertainty is unavoidable in complex, partially observable environments.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represents graded belief relative to evidence.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Decision theory combines probabilities with utilities.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Expected utility chooses the best average outcome value.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Probability statements are about possible worlds and events.</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chapter turns “I do not know” into a usable numeric belief state.</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 probability is evidence-relative; always ask “given what?”</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takeaway connects most directly to Chapter 2 rational agents?</a:t>
            </a:r>
            <a:endParaRPr lang="en-US" sz="138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Chapter summary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111</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Ten takeaways, part 2</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Full joint distributions can answer any query in principle.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Explicit full joints grow exponentially and do not scale.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Independence and conditional independence factor distributions.</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Bayes rule reverses from effects to causes and makes base rates visible.</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Naive Bayes is simple, fast, and useful, but can be overconfident.</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The full joint is the complete atlas; independence is the folding pattern that makes it portable.</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confuse a compact model with a different semantics; it still represents a full joint distribution implicitly.</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concept prepares us most directly for Bayesian networks?</a:t>
            </a:r>
            <a:endParaRPr lang="en-US" sz="138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Chapter summary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112</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One-page formula review</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94360" y="1325880"/>
            <a:ext cx="1914754" cy="616306"/>
          </a:xfrm>
          <a:prstGeom prst="rect">
            <a:avLst/>
          </a:prstGeom>
          <a:solidFill>
            <a:srgbClr val="DCEAF7"/>
          </a:solidFill>
          <a:ln w="6350">
            <a:solidFill>
              <a:srgbClr val="D0D7DE"/>
            </a:solidFill>
          </a:ln>
        </p:spPr>
        <p:txBody>
          <a:bodyPr wrap="square" lIns="508" tIns="508" rIns="508" bIns="508" rtlCol="0" anchor="ctr">
            <a:normAutofit/>
          </a:bodyPr>
          <a:lstStyle/>
          <a:p>
            <a:pPr algn="l" indent="0" marL="0">
              <a:buNone/>
            </a:pPr>
            <a:r>
              <a:rPr lang="en-US" sz="1140" b="1" dirty="0">
                <a:solidFill>
                  <a:srgbClr val="243B53"/>
                </a:solidFill>
                <a:latin typeface="Aptos" pitchFamily="34" charset="0"/>
                <a:ea typeface="Aptos" pitchFamily="34" charset="-122"/>
                <a:cs typeface="Aptos" pitchFamily="34" charset="-120"/>
              </a:rPr>
              <a:t>Idea</a:t>
            </a:r>
            <a:endParaRPr lang="en-US" sz="1140" dirty="0"/>
          </a:p>
        </p:txBody>
      </p:sp>
      <p:sp>
        <p:nvSpPr>
          <p:cNvPr id="9" name="Text 7"/>
          <p:cNvSpPr/>
          <p:nvPr/>
        </p:nvSpPr>
        <p:spPr>
          <a:xfrm>
            <a:off x="2514600" y="1325880"/>
            <a:ext cx="4155034" cy="616306"/>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140" b="1" dirty="0">
                <a:solidFill>
                  <a:srgbClr val="243B53"/>
                </a:solidFill>
                <a:latin typeface="Aptos" pitchFamily="34" charset="0"/>
                <a:ea typeface="Aptos" pitchFamily="34" charset="-122"/>
                <a:cs typeface="Aptos" pitchFamily="34" charset="-120"/>
              </a:rPr>
              <a:t>Formula</a:t>
            </a:r>
            <a:endParaRPr lang="en-US" sz="1140" dirty="0"/>
          </a:p>
        </p:txBody>
      </p:sp>
      <p:sp>
        <p:nvSpPr>
          <p:cNvPr id="10" name="Text 8"/>
          <p:cNvSpPr/>
          <p:nvPr/>
        </p:nvSpPr>
        <p:spPr>
          <a:xfrm>
            <a:off x="6675120" y="1325880"/>
            <a:ext cx="4886554" cy="616306"/>
          </a:xfrm>
          <a:prstGeom prst="rect">
            <a:avLst/>
          </a:prstGeom>
          <a:solidFill>
            <a:srgbClr val="DCEAF7"/>
          </a:solidFill>
          <a:ln w="6350">
            <a:solidFill>
              <a:srgbClr val="D0D7DE"/>
            </a:solidFill>
          </a:ln>
        </p:spPr>
        <p:txBody>
          <a:bodyPr wrap="square" lIns="508" tIns="508" rIns="508" bIns="508" rtlCol="0" anchor="ctr">
            <a:normAutofit/>
          </a:bodyPr>
          <a:lstStyle/>
          <a:p>
            <a:pPr algn="ctr" indent="0" marL="0">
              <a:buNone/>
            </a:pPr>
            <a:r>
              <a:rPr lang="en-US" sz="1140" b="1" dirty="0">
                <a:solidFill>
                  <a:srgbClr val="243B53"/>
                </a:solidFill>
                <a:latin typeface="Aptos" pitchFamily="34" charset="0"/>
                <a:ea typeface="Aptos" pitchFamily="34" charset="-122"/>
                <a:cs typeface="Aptos" pitchFamily="34" charset="-120"/>
              </a:rPr>
              <a:t>Plain-language meaning</a:t>
            </a:r>
            <a:endParaRPr lang="en-US" sz="1140" dirty="0"/>
          </a:p>
        </p:txBody>
      </p:sp>
      <p:sp>
        <p:nvSpPr>
          <p:cNvPr id="11" name="Text 9"/>
          <p:cNvSpPr/>
          <p:nvPr/>
        </p:nvSpPr>
        <p:spPr>
          <a:xfrm>
            <a:off x="594360" y="1947672"/>
            <a:ext cx="1914754" cy="616306"/>
          </a:xfrm>
          <a:prstGeom prst="rect">
            <a:avLst/>
          </a:prstGeom>
          <a:solidFill>
            <a:srgbClr val="FFFFFF"/>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Complement</a:t>
            </a:r>
            <a:endParaRPr lang="en-US" sz="1140" dirty="0"/>
          </a:p>
        </p:txBody>
      </p:sp>
      <p:sp>
        <p:nvSpPr>
          <p:cNvPr id="12" name="Text 10"/>
          <p:cNvSpPr/>
          <p:nvPr/>
        </p:nvSpPr>
        <p:spPr>
          <a:xfrm>
            <a:off x="2514600" y="1947672"/>
            <a:ext cx="415503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P(not a) = 1 - P(a)</a:t>
            </a:r>
            <a:endParaRPr lang="en-US" sz="1140" dirty="0"/>
          </a:p>
        </p:txBody>
      </p:sp>
      <p:sp>
        <p:nvSpPr>
          <p:cNvPr id="13" name="Text 11"/>
          <p:cNvSpPr/>
          <p:nvPr/>
        </p:nvSpPr>
        <p:spPr>
          <a:xfrm>
            <a:off x="6675120" y="1947672"/>
            <a:ext cx="488655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Everything outside event a</a:t>
            </a:r>
            <a:endParaRPr lang="en-US" sz="1140" dirty="0"/>
          </a:p>
        </p:txBody>
      </p:sp>
      <p:sp>
        <p:nvSpPr>
          <p:cNvPr id="14" name="Text 12"/>
          <p:cNvSpPr/>
          <p:nvPr/>
        </p:nvSpPr>
        <p:spPr>
          <a:xfrm>
            <a:off x="594360" y="2569464"/>
            <a:ext cx="1914754" cy="616306"/>
          </a:xfrm>
          <a:prstGeom prst="rect">
            <a:avLst/>
          </a:prstGeom>
          <a:solidFill>
            <a:srgbClr val="FAFBFC"/>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Union</a:t>
            </a:r>
            <a:endParaRPr lang="en-US" sz="1140" dirty="0"/>
          </a:p>
        </p:txBody>
      </p:sp>
      <p:sp>
        <p:nvSpPr>
          <p:cNvPr id="15" name="Text 13"/>
          <p:cNvSpPr/>
          <p:nvPr/>
        </p:nvSpPr>
        <p:spPr>
          <a:xfrm>
            <a:off x="2514600" y="2569464"/>
            <a:ext cx="415503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P(a or b) = P(a) + P(b) - P(a and b)</a:t>
            </a:r>
            <a:endParaRPr lang="en-US" sz="1140" dirty="0"/>
          </a:p>
        </p:txBody>
      </p:sp>
      <p:sp>
        <p:nvSpPr>
          <p:cNvPr id="16" name="Text 14"/>
          <p:cNvSpPr/>
          <p:nvPr/>
        </p:nvSpPr>
        <p:spPr>
          <a:xfrm>
            <a:off x="6675120" y="2569464"/>
            <a:ext cx="488655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Add both, subtract double-counted overlap</a:t>
            </a:r>
            <a:endParaRPr lang="en-US" sz="1140" dirty="0"/>
          </a:p>
        </p:txBody>
      </p:sp>
      <p:sp>
        <p:nvSpPr>
          <p:cNvPr id="17" name="Text 15"/>
          <p:cNvSpPr/>
          <p:nvPr/>
        </p:nvSpPr>
        <p:spPr>
          <a:xfrm>
            <a:off x="594360" y="3191256"/>
            <a:ext cx="1914754" cy="616306"/>
          </a:xfrm>
          <a:prstGeom prst="rect">
            <a:avLst/>
          </a:prstGeom>
          <a:solidFill>
            <a:srgbClr val="FFFFFF"/>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Conditional</a:t>
            </a:r>
            <a:endParaRPr lang="en-US" sz="1140" dirty="0"/>
          </a:p>
        </p:txBody>
      </p:sp>
      <p:sp>
        <p:nvSpPr>
          <p:cNvPr id="18" name="Text 16"/>
          <p:cNvSpPr/>
          <p:nvPr/>
        </p:nvSpPr>
        <p:spPr>
          <a:xfrm>
            <a:off x="2514600" y="3191256"/>
            <a:ext cx="415503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P(a | b) = P(a and b) / P(b)</a:t>
            </a:r>
            <a:endParaRPr lang="en-US" sz="1140" dirty="0"/>
          </a:p>
        </p:txBody>
      </p:sp>
      <p:sp>
        <p:nvSpPr>
          <p:cNvPr id="19" name="Text 17"/>
          <p:cNvSpPr/>
          <p:nvPr/>
        </p:nvSpPr>
        <p:spPr>
          <a:xfrm>
            <a:off x="6675120" y="3191256"/>
            <a:ext cx="488655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Restrict the world to cases where b is true</a:t>
            </a:r>
            <a:endParaRPr lang="en-US" sz="1140" dirty="0"/>
          </a:p>
        </p:txBody>
      </p:sp>
      <p:sp>
        <p:nvSpPr>
          <p:cNvPr id="20" name="Text 18"/>
          <p:cNvSpPr/>
          <p:nvPr/>
        </p:nvSpPr>
        <p:spPr>
          <a:xfrm>
            <a:off x="594360" y="3813048"/>
            <a:ext cx="1914754" cy="616306"/>
          </a:xfrm>
          <a:prstGeom prst="rect">
            <a:avLst/>
          </a:prstGeom>
          <a:solidFill>
            <a:srgbClr val="FAFBFC"/>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Product rule</a:t>
            </a:r>
            <a:endParaRPr lang="en-US" sz="1140" dirty="0"/>
          </a:p>
        </p:txBody>
      </p:sp>
      <p:sp>
        <p:nvSpPr>
          <p:cNvPr id="21" name="Text 19"/>
          <p:cNvSpPr/>
          <p:nvPr/>
        </p:nvSpPr>
        <p:spPr>
          <a:xfrm>
            <a:off x="2514600" y="3813048"/>
            <a:ext cx="415503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P(a and b) = P(a | b)P(b)</a:t>
            </a:r>
            <a:endParaRPr lang="en-US" sz="1140" dirty="0"/>
          </a:p>
        </p:txBody>
      </p:sp>
      <p:sp>
        <p:nvSpPr>
          <p:cNvPr id="22" name="Text 20"/>
          <p:cNvSpPr/>
          <p:nvPr/>
        </p:nvSpPr>
        <p:spPr>
          <a:xfrm>
            <a:off x="6675120" y="3813048"/>
            <a:ext cx="488655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Probability of b, then a given b</a:t>
            </a:r>
            <a:endParaRPr lang="en-US" sz="1140" dirty="0"/>
          </a:p>
        </p:txBody>
      </p:sp>
      <p:sp>
        <p:nvSpPr>
          <p:cNvPr id="23" name="Text 21"/>
          <p:cNvSpPr/>
          <p:nvPr/>
        </p:nvSpPr>
        <p:spPr>
          <a:xfrm>
            <a:off x="594360" y="4434840"/>
            <a:ext cx="1914754" cy="616306"/>
          </a:xfrm>
          <a:prstGeom prst="rect">
            <a:avLst/>
          </a:prstGeom>
          <a:solidFill>
            <a:srgbClr val="FFFFFF"/>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Bayes rule</a:t>
            </a:r>
            <a:endParaRPr lang="en-US" sz="1140" dirty="0"/>
          </a:p>
        </p:txBody>
      </p:sp>
      <p:sp>
        <p:nvSpPr>
          <p:cNvPr id="24" name="Text 22"/>
          <p:cNvSpPr/>
          <p:nvPr/>
        </p:nvSpPr>
        <p:spPr>
          <a:xfrm>
            <a:off x="2514600" y="4434840"/>
            <a:ext cx="415503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P(cause | effect) = P(effect | cause)P(cause) / P(effect)</a:t>
            </a:r>
            <a:endParaRPr lang="en-US" sz="1140" dirty="0"/>
          </a:p>
        </p:txBody>
      </p:sp>
      <p:sp>
        <p:nvSpPr>
          <p:cNvPr id="25" name="Text 23"/>
          <p:cNvSpPr/>
          <p:nvPr/>
        </p:nvSpPr>
        <p:spPr>
          <a:xfrm>
            <a:off x="6675120" y="4434840"/>
            <a:ext cx="4886554" cy="616306"/>
          </a:xfrm>
          <a:prstGeom prst="rect">
            <a:avLst/>
          </a:prstGeom>
          <a:solidFill>
            <a:srgbClr val="FFFFFF"/>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Reverse evidence from effect back to cause</a:t>
            </a:r>
            <a:endParaRPr lang="en-US" sz="1140" dirty="0"/>
          </a:p>
        </p:txBody>
      </p:sp>
      <p:sp>
        <p:nvSpPr>
          <p:cNvPr id="26" name="Text 24"/>
          <p:cNvSpPr/>
          <p:nvPr/>
        </p:nvSpPr>
        <p:spPr>
          <a:xfrm>
            <a:off x="594360" y="5056632"/>
            <a:ext cx="1914754" cy="616306"/>
          </a:xfrm>
          <a:prstGeom prst="rect">
            <a:avLst/>
          </a:prstGeom>
          <a:solidFill>
            <a:srgbClr val="FAFBFC"/>
          </a:solidFill>
          <a:ln w="6350">
            <a:solidFill>
              <a:srgbClr val="D0D7DE"/>
            </a:solidFill>
          </a:ln>
        </p:spPr>
        <p:txBody>
          <a:bodyPr wrap="square" lIns="508" tIns="508" rIns="508" bIns="508" rtlCol="0" anchor="ctr">
            <a:normAutofit/>
          </a:bodyPr>
          <a:lstStyle/>
          <a:p>
            <a:pPr algn="l" indent="0" marL="0">
              <a:buNone/>
            </a:pPr>
            <a:r>
              <a:rPr lang="en-US" sz="1140" dirty="0">
                <a:solidFill>
                  <a:srgbClr val="243B53"/>
                </a:solidFill>
                <a:latin typeface="Aptos" pitchFamily="34" charset="0"/>
                <a:ea typeface="Aptos" pitchFamily="34" charset="-122"/>
                <a:cs typeface="Aptos" pitchFamily="34" charset="-120"/>
              </a:rPr>
              <a:t>Normalize</a:t>
            </a:r>
            <a:endParaRPr lang="en-US" sz="1140" dirty="0"/>
          </a:p>
        </p:txBody>
      </p:sp>
      <p:sp>
        <p:nvSpPr>
          <p:cNvPr id="27" name="Text 25"/>
          <p:cNvSpPr/>
          <p:nvPr/>
        </p:nvSpPr>
        <p:spPr>
          <a:xfrm>
            <a:off x="2514600" y="5056632"/>
            <a:ext cx="415503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alpha times scores</a:t>
            </a:r>
            <a:endParaRPr lang="en-US" sz="1140" dirty="0"/>
          </a:p>
        </p:txBody>
      </p:sp>
      <p:sp>
        <p:nvSpPr>
          <p:cNvPr id="28" name="Text 26"/>
          <p:cNvSpPr/>
          <p:nvPr/>
        </p:nvSpPr>
        <p:spPr>
          <a:xfrm>
            <a:off x="6675120" y="5056632"/>
            <a:ext cx="4886554" cy="616306"/>
          </a:xfrm>
          <a:prstGeom prst="rect">
            <a:avLst/>
          </a:prstGeom>
          <a:solidFill>
            <a:srgbClr val="FAFBFC"/>
          </a:solidFill>
          <a:ln w="6350">
            <a:solidFill>
              <a:srgbClr val="D0D7DE"/>
            </a:solidFill>
          </a:ln>
        </p:spPr>
        <p:txBody>
          <a:bodyPr wrap="square" lIns="508" tIns="508" rIns="508" bIns="508" rtlCol="0" anchor="ctr">
            <a:normAutofit/>
          </a:bodyPr>
          <a:lstStyle/>
          <a:p>
            <a:pPr algn="ctr" indent="0" marL="0">
              <a:buNone/>
            </a:pPr>
            <a:r>
              <a:rPr lang="en-US" sz="1140" dirty="0">
                <a:solidFill>
                  <a:srgbClr val="243B53"/>
                </a:solidFill>
                <a:latin typeface="Aptos" pitchFamily="34" charset="0"/>
                <a:ea typeface="Aptos" pitchFamily="34" charset="-122"/>
                <a:cs typeface="Aptos" pitchFamily="34" charset="-120"/>
              </a:rPr>
              <a:t>Scale relative scores so they sum to 1</a:t>
            </a:r>
            <a:endParaRPr lang="en-US" sz="114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Chapter summary</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113</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Common student gotchas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Reading “given” as logical implication.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Confusing P(effect | cause) with P(cause | effect).</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Ignoring base rates in diagnostic reasoning.</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Adding probabilities of overlapping events without subtracting overlap.</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Treating unknown possibilities as equally likely.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Assuming independence just because it would make math easier.</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Most errors come from mixing up the question being asked, like answering “how common is the clue?” when asked “how likely is the suspect?”</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Ask students to state every probability sentence in plain English before calculating.</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gotcha has caused the most errors in your notes?</a:t>
            </a:r>
            <a:endParaRPr lang="en-US" sz="138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Classroom check</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114</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Final review questions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777240" y="1325880"/>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1. What does it mean for probability to summarize laziness and ignorance?</a:t>
            </a:r>
            <a:endParaRPr lang="en-US" sz="1800" dirty="0"/>
          </a:p>
        </p:txBody>
      </p:sp>
      <p:sp>
        <p:nvSpPr>
          <p:cNvPr id="9" name="Text 7"/>
          <p:cNvSpPr/>
          <p:nvPr/>
        </p:nvSpPr>
        <p:spPr>
          <a:xfrm>
            <a:off x="777240" y="2112264"/>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2. How do you compute a posterior from a full joint distribution?</a:t>
            </a:r>
            <a:endParaRPr lang="en-US" sz="1800" dirty="0"/>
          </a:p>
        </p:txBody>
      </p:sp>
      <p:sp>
        <p:nvSpPr>
          <p:cNvPr id="10" name="Text 8"/>
          <p:cNvSpPr/>
          <p:nvPr/>
        </p:nvSpPr>
        <p:spPr>
          <a:xfrm>
            <a:off x="777240" y="2898648"/>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3. Why does Bayes rule make base rates important?</a:t>
            </a:r>
            <a:endParaRPr lang="en-US" sz="1800" dirty="0"/>
          </a:p>
        </p:txBody>
      </p:sp>
      <p:sp>
        <p:nvSpPr>
          <p:cNvPr id="11" name="Text 9"/>
          <p:cNvSpPr/>
          <p:nvPr/>
        </p:nvSpPr>
        <p:spPr>
          <a:xfrm>
            <a:off x="777240" y="3685032"/>
            <a:ext cx="10607040" cy="502920"/>
          </a:xfrm>
          <a:prstGeom prst="roundRect">
            <a:avLst/>
          </a:prstGeom>
          <a:solidFill>
            <a:srgbClr val="DCEAF7"/>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4. Why is conditional independence the key to scaling probabilistic reasoning?</a:t>
            </a:r>
            <a:endParaRPr lang="en-US" sz="1800" dirty="0"/>
          </a:p>
        </p:txBody>
      </p:sp>
      <p:sp>
        <p:nvSpPr>
          <p:cNvPr id="12" name="Text 10"/>
          <p:cNvSpPr/>
          <p:nvPr/>
        </p:nvSpPr>
        <p:spPr>
          <a:xfrm>
            <a:off x="777240" y="4471416"/>
            <a:ext cx="10607040" cy="502920"/>
          </a:xfrm>
          <a:prstGeom prst="roundRect">
            <a:avLst/>
          </a:prstGeom>
          <a:solidFill>
            <a:srgbClr val="FFFFFF"/>
          </a:solidFill>
          <a:ln w="8890">
            <a:solidFill>
              <a:srgbClr val="D0D7DE"/>
            </a:solidFill>
          </a:ln>
        </p:spPr>
        <p:txBody>
          <a:bodyPr wrap="square" lIns="1016" tIns="1016" rIns="1016" bIns="1016" rtlCol="0" anchor="ctr">
            <a:normAutofit/>
          </a:bodyPr>
          <a:lstStyle/>
          <a:p>
            <a:pPr indent="0" marL="0">
              <a:buNone/>
            </a:pPr>
            <a:r>
              <a:rPr lang="en-US" sz="1800" dirty="0">
                <a:solidFill>
                  <a:srgbClr val="243B53"/>
                </a:solidFill>
                <a:latin typeface="Aptos" pitchFamily="34" charset="0"/>
                <a:ea typeface="Aptos" pitchFamily="34" charset="-122"/>
                <a:cs typeface="Aptos" pitchFamily="34" charset="-120"/>
              </a:rPr>
              <a:t>5. How did probability improve the Wumpus agent’s decision?</a:t>
            </a:r>
            <a:endParaRPr lang="en-US" sz="1800" dirty="0"/>
          </a:p>
        </p:txBody>
      </p:sp>
      <p:sp>
        <p:nvSpPr>
          <p:cNvPr id="13" name="Text 11"/>
          <p:cNvSpPr/>
          <p:nvPr/>
        </p:nvSpPr>
        <p:spPr>
          <a:xfrm>
            <a:off x="1097280" y="5806440"/>
            <a:ext cx="9875520" cy="411480"/>
          </a:xfrm>
          <a:prstGeom prst="roundRect">
            <a:avLst/>
          </a:prstGeom>
          <a:solidFill>
            <a:srgbClr val="D6F0E8"/>
          </a:solidFill>
          <a:ln w="12700">
            <a:solidFill>
              <a:srgbClr val="0E7C86"/>
            </a:solidFill>
          </a:ln>
        </p:spPr>
        <p:txBody>
          <a:bodyPr wrap="square" lIns="635" tIns="635" rIns="635" bIns="635" rtlCol="0" anchor="ctr">
            <a:normAutofit/>
          </a:bodyPr>
          <a:lstStyle/>
          <a:p>
            <a:pPr algn="ctr" indent="0" marL="0">
              <a:buNone/>
            </a:pPr>
            <a:r>
              <a:rPr lang="en-US" sz="1500" i="1" dirty="0">
                <a:solidFill>
                  <a:srgbClr val="0A5F68"/>
                </a:solidFill>
                <a:latin typeface="Aptos" pitchFamily="34" charset="0"/>
                <a:ea typeface="Aptos" pitchFamily="34" charset="-122"/>
                <a:cs typeface="Aptos" pitchFamily="34" charset="-120"/>
              </a:rPr>
              <a:t>Use as think-pair-share or an exit ticket.</a:t>
            </a:r>
            <a:endParaRPr lang="en-US" sz="15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Teaching resources</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115</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Suggested references and support materials</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Russell and Norvig, Artificial Intelligence: A Modern Approach, Chapter 12.</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AIMA official site: https://aima.cs.berkeley.edu/</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AIMA Python code: https://github.com/aimacode/aima-python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Berkeley CS188 probability notes: https://inst.eecs.berkeley.edu/~cs188/textbook/probability/</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Use the uploaded Chapter 12 image PDF for figures 12.1 through 12.6.</a:t>
            </a:r>
            <a:endParaRPr lang="en-US" sz="1820" dirty="0"/>
          </a:p>
        </p:txBody>
      </p:sp>
      <p:sp>
        <p:nvSpPr>
          <p:cNvPr id="9" name="Text 7"/>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References are the “sources of evidence” for the lecture itself; students should know where to go next.</a:t>
            </a:r>
            <a:endParaRPr lang="en-US" sz="1450" dirty="0"/>
          </a:p>
        </p:txBody>
      </p:sp>
      <p:sp>
        <p:nvSpPr>
          <p:cNvPr id="10" name="Text 8"/>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Do not overload students with outside reading before they can explain the core formulas in plain language.</a:t>
            </a:r>
            <a:endParaRPr lang="en-US" sz="1380" dirty="0"/>
          </a:p>
        </p:txBody>
      </p:sp>
      <p:sp>
        <p:nvSpPr>
          <p:cNvPr id="11" name="Text 9"/>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Which reference would help with code practice? Which one helps with textbook reading?</a:t>
            </a:r>
            <a:endParaRPr lang="en-US" sz="138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E7C86"/>
          </a:solidFill>
          <a:ln w="12700">
            <a:solidFill>
              <a:srgbClr val="0E7C86">
                <a:alpha val="0"/>
              </a:srgbClr>
            </a:solidFill>
            <a:prstDash val="solid"/>
          </a:ln>
        </p:spPr>
      </p:sp>
      <p:sp>
        <p:nvSpPr>
          <p:cNvPr id="3" name="Shape 1"/>
          <p:cNvSpPr/>
          <p:nvPr/>
        </p:nvSpPr>
        <p:spPr>
          <a:xfrm>
            <a:off x="0" y="0"/>
            <a:ext cx="73152" cy="6748272"/>
          </a:xfrm>
          <a:prstGeom prst="rect">
            <a:avLst/>
          </a:prstGeom>
          <a:solidFill>
            <a:srgbClr val="A11C5B"/>
          </a:solidFill>
          <a:ln w="12700">
            <a:solidFill>
              <a:srgbClr val="A11C5B">
                <a:alpha val="0"/>
              </a:srgbClr>
            </a:solidFill>
            <a:prstDash val="solid"/>
          </a:ln>
        </p:spPr>
      </p:sp>
      <p:sp>
        <p:nvSpPr>
          <p:cNvPr id="4" name="Text 2"/>
          <p:cNvSpPr/>
          <p:nvPr/>
        </p:nvSpPr>
        <p:spPr>
          <a:xfrm>
            <a:off x="411480" y="210312"/>
            <a:ext cx="3291840" cy="228600"/>
          </a:xfrm>
          <a:prstGeom prst="rect">
            <a:avLst/>
          </a:prstGeom>
          <a:noFill/>
          <a:ln/>
        </p:spPr>
        <p:txBody>
          <a:bodyPr wrap="square" lIns="0" tIns="0" rIns="0" bIns="0" rtlCol="0" anchor="ctr"/>
          <a:lstStyle/>
          <a:p>
            <a:pPr indent="0" marL="0">
              <a:buNone/>
            </a:pPr>
            <a:r>
              <a:rPr lang="en-US" sz="850" b="1" dirty="0">
                <a:solidFill>
                  <a:srgbClr val="0E7C86"/>
                </a:solidFill>
                <a:latin typeface="Aptos" pitchFamily="34" charset="0"/>
                <a:ea typeface="Aptos" pitchFamily="34" charset="-122"/>
                <a:cs typeface="Aptos" pitchFamily="34" charset="-120"/>
              </a:rPr>
              <a:t>Closing</a:t>
            </a:r>
            <a:endParaRPr lang="en-US" sz="850" dirty="0"/>
          </a:p>
        </p:txBody>
      </p:sp>
      <p:sp>
        <p:nvSpPr>
          <p:cNvPr id="5" name="Text 3"/>
          <p:cNvSpPr/>
          <p:nvPr/>
        </p:nvSpPr>
        <p:spPr>
          <a:xfrm>
            <a:off x="11384280" y="201168"/>
            <a:ext cx="411480" cy="228600"/>
          </a:xfrm>
          <a:prstGeom prst="rect">
            <a:avLst/>
          </a:prstGeom>
          <a:noFill/>
          <a:ln/>
        </p:spPr>
        <p:txBody>
          <a:bodyPr wrap="square" lIns="0" tIns="0" rIns="0" bIns="0" rtlCol="0" anchor="ctr"/>
          <a:lstStyle/>
          <a:p>
            <a:pPr algn="r" indent="0" marL="0">
              <a:buNone/>
            </a:pPr>
            <a:r>
              <a:rPr lang="en-US" sz="900" b="1" dirty="0">
                <a:solidFill>
                  <a:srgbClr val="5A6675"/>
                </a:solidFill>
                <a:latin typeface="Aptos" pitchFamily="34" charset="0"/>
                <a:ea typeface="Aptos" pitchFamily="34" charset="-122"/>
                <a:cs typeface="Aptos" pitchFamily="34" charset="-120"/>
              </a:rPr>
              <a:t>116</a:t>
            </a:r>
            <a:endParaRPr lang="en-US" sz="900" dirty="0"/>
          </a:p>
        </p:txBody>
      </p:sp>
      <p:sp>
        <p:nvSpPr>
          <p:cNvPr id="6" name="Text 4"/>
          <p:cNvSpPr/>
          <p:nvPr/>
        </p:nvSpPr>
        <p:spPr>
          <a:xfrm>
            <a:off x="411480" y="502920"/>
            <a:ext cx="11201400" cy="475488"/>
          </a:xfrm>
          <a:prstGeom prst="rect">
            <a:avLst/>
          </a:prstGeom>
          <a:noFill/>
          <a:ln/>
        </p:spPr>
        <p:txBody>
          <a:bodyPr wrap="square" lIns="0" tIns="0" rIns="0" bIns="0" rtlCol="0" anchor="ctr">
            <a:normAutofit/>
          </a:bodyPr>
          <a:lstStyle/>
          <a:p>
            <a:pPr indent="0" marL="0">
              <a:buNone/>
            </a:pPr>
            <a:r>
              <a:rPr lang="en-US" sz="2500" b="1" dirty="0">
                <a:solidFill>
                  <a:srgbClr val="12304A"/>
                </a:solidFill>
                <a:latin typeface="Aptos Display" pitchFamily="34" charset="0"/>
                <a:ea typeface="Aptos Display" pitchFamily="34" charset="-122"/>
                <a:cs typeface="Aptos Display" pitchFamily="34" charset="-120"/>
              </a:rPr>
              <a:t>Bridge to Chapter 13</a:t>
            </a:r>
            <a:endParaRPr lang="en-US" sz="2500" dirty="0"/>
          </a:p>
        </p:txBody>
      </p:sp>
      <p:sp>
        <p:nvSpPr>
          <p:cNvPr id="7" name="Shape 5"/>
          <p:cNvSpPr/>
          <p:nvPr/>
        </p:nvSpPr>
        <p:spPr>
          <a:xfrm>
            <a:off x="411480" y="1078992"/>
            <a:ext cx="11201400" cy="22860"/>
          </a:xfrm>
          <a:prstGeom prst="rect">
            <a:avLst/>
          </a:prstGeom>
          <a:solidFill>
            <a:srgbClr val="0E7C86"/>
          </a:solidFill>
          <a:ln w="12700">
            <a:solidFill>
              <a:srgbClr val="0E7C86">
                <a:alpha val="0"/>
              </a:srgbClr>
            </a:solidFill>
            <a:prstDash val="solid"/>
          </a:ln>
        </p:spPr>
      </p:sp>
      <p:sp>
        <p:nvSpPr>
          <p:cNvPr id="8" name="Text 6"/>
          <p:cNvSpPr/>
          <p:nvPr/>
        </p:nvSpPr>
        <p:spPr>
          <a:xfrm>
            <a:off x="566928" y="1325880"/>
            <a:ext cx="6629400" cy="3337560"/>
          </a:xfrm>
          <a:prstGeom prst="rect">
            <a:avLst/>
          </a:prstGeom>
          <a:noFill/>
          <a:ln/>
        </p:spPr>
        <p:txBody>
          <a:bodyPr wrap="square" lIns="1016" tIns="1016" rIns="1016" bIns="1016" rtlCol="0" anchor="t">
            <a:normAutofit/>
          </a:bodyPr>
          <a:lstStyle/>
          <a:p>
            <a:pPr indent="0" marL="0">
              <a:buNone/>
            </a:pPr>
            <a:r>
              <a:rPr lang="en-US" sz="1820" dirty="0">
                <a:solidFill>
                  <a:srgbClr val="243B53"/>
                </a:solidFill>
                <a:latin typeface="Aptos" pitchFamily="34" charset="0"/>
                <a:ea typeface="Aptos" pitchFamily="34" charset="-122"/>
                <a:cs typeface="Aptos" pitchFamily="34" charset="-120"/>
              </a:rPr>
              <a:t>• The full joint distribution is the foundation.</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Independence assumptions make probability practical.</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Conditional independence is the key structural idea.</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Bayesian networks will make that structure visible as a graph.</a:t>
            </a:r>
            <a:endParaRPr lang="en-US" sz="1820" dirty="0"/>
          </a:p>
          <a:p>
            <a:pPr indent="0" marL="0">
              <a:buNone/>
            </a:pPr>
            <a:r>
              <a:rPr lang="en-US" sz="1820" dirty="0">
                <a:solidFill>
                  <a:srgbClr val="243B53"/>
                </a:solidFill>
                <a:latin typeface="Aptos" pitchFamily="34" charset="0"/>
                <a:ea typeface="Aptos" pitchFamily="34" charset="-122"/>
                <a:cs typeface="Aptos" pitchFamily="34" charset="-120"/>
              </a:rPr>
              <a:t>• The central skill: know what to condition on.</a:t>
            </a:r>
            <a:endParaRPr lang="en-US" sz="1820" dirty="0"/>
          </a:p>
        </p:txBody>
      </p:sp>
      <p:sp>
        <p:nvSpPr>
          <p:cNvPr id="9" name="Text 7"/>
          <p:cNvSpPr/>
          <p:nvPr/>
        </p:nvSpPr>
        <p:spPr>
          <a:xfrm>
            <a:off x="566928" y="4754880"/>
            <a:ext cx="6126480" cy="676656"/>
          </a:xfrm>
          <a:prstGeom prst="roundRect">
            <a:avLst/>
          </a:prstGeom>
          <a:solidFill>
            <a:srgbClr val="DCEAF7"/>
          </a:solidFill>
          <a:ln w="12700">
            <a:solidFill>
              <a:srgbClr val="0E7C86"/>
            </a:solidFill>
          </a:ln>
        </p:spPr>
        <p:txBody>
          <a:bodyPr wrap="square" lIns="635" tIns="635" rIns="635" bIns="635" rtlCol="0" anchor="ctr">
            <a:normAutofit/>
          </a:bodyPr>
          <a:lstStyle/>
          <a:p>
            <a:pPr algn="ctr" indent="0" marL="0">
              <a:buNone/>
            </a:pPr>
            <a:r>
              <a:rPr lang="en-US" sz="1650" b="1" dirty="0">
                <a:solidFill>
                  <a:srgbClr val="12304A"/>
                </a:solidFill>
                <a:latin typeface="Aptos" pitchFamily="34" charset="0"/>
                <a:ea typeface="Aptos" pitchFamily="34" charset="-122"/>
                <a:cs typeface="Aptos" pitchFamily="34" charset="-120"/>
              </a:rPr>
              <a:t>belief + evidence + structure -&gt; tractable probabilistic inference</a:t>
            </a:r>
            <a:endParaRPr lang="en-US" sz="1650" dirty="0"/>
          </a:p>
        </p:txBody>
      </p:sp>
      <p:sp>
        <p:nvSpPr>
          <p:cNvPr id="10" name="Text 8"/>
          <p:cNvSpPr/>
          <p:nvPr/>
        </p:nvSpPr>
        <p:spPr>
          <a:xfrm>
            <a:off x="7360920" y="1417320"/>
            <a:ext cx="4251960" cy="1508760"/>
          </a:xfrm>
          <a:prstGeom prst="roundRect">
            <a:avLst/>
          </a:prstGeom>
          <a:solidFill>
            <a:srgbClr val="FFF9EF"/>
          </a:solidFill>
          <a:ln w="12700">
            <a:solidFill>
              <a:srgbClr val="F5C542"/>
            </a:solidFill>
          </a:ln>
        </p:spPr>
        <p:txBody>
          <a:bodyPr wrap="square" lIns="1524" tIns="1524" rIns="1524" bIns="1524" rtlCol="0" anchor="ctr">
            <a:normAutofit/>
          </a:bodyPr>
          <a:lstStyle/>
          <a:p>
            <a:pPr indent="0" marL="0">
              <a:buNone/>
            </a:pPr>
            <a:r>
              <a:rPr lang="en-US" sz="1450" dirty="0">
                <a:solidFill>
                  <a:srgbClr val="12304A"/>
                </a:solidFill>
                <a:latin typeface="Aptos" pitchFamily="34" charset="0"/>
                <a:ea typeface="Aptos" pitchFamily="34" charset="-122"/>
                <a:cs typeface="Aptos" pitchFamily="34" charset="-120"/>
              </a:rPr>
              <a:t>Analogy: Chapter 12 teaches the arithmetic of uncertainty; Chapter 13 teaches the map that keeps the arithmetic manageable.</a:t>
            </a:r>
            <a:endParaRPr lang="en-US" sz="1450" dirty="0"/>
          </a:p>
        </p:txBody>
      </p:sp>
      <p:sp>
        <p:nvSpPr>
          <p:cNvPr id="11" name="Text 9"/>
          <p:cNvSpPr/>
          <p:nvPr/>
        </p:nvSpPr>
        <p:spPr>
          <a:xfrm>
            <a:off x="7360920" y="3154680"/>
            <a:ext cx="4251960" cy="749808"/>
          </a:xfrm>
          <a:prstGeom prst="roundRect">
            <a:avLst/>
          </a:prstGeom>
          <a:solidFill>
            <a:srgbClr val="F9E1DF"/>
          </a:solidFill>
          <a:ln w="12700">
            <a:solidFill>
              <a:srgbClr val="B94A48"/>
            </a:solidFill>
          </a:ln>
        </p:spPr>
        <p:txBody>
          <a:bodyPr wrap="square" lIns="1524" tIns="1524" rIns="1524" bIns="1524" rtlCol="0" anchor="ctr">
            <a:normAutofit/>
          </a:bodyPr>
          <a:lstStyle/>
          <a:p>
            <a:pPr indent="0" marL="0">
              <a:buNone/>
            </a:pPr>
            <a:r>
              <a:rPr lang="en-US" sz="1380" dirty="0">
                <a:solidFill>
                  <a:srgbClr val="B94A48"/>
                </a:solidFill>
                <a:latin typeface="Aptos" pitchFamily="34" charset="0"/>
                <a:ea typeface="Aptos" pitchFamily="34" charset="-122"/>
                <a:cs typeface="Aptos" pitchFamily="34" charset="-120"/>
              </a:rPr>
              <a:t>Gotcha: The next chapter is not a different topic; it is a more efficient representation of the same probabilistic ideas.</a:t>
            </a:r>
            <a:endParaRPr lang="en-US" sz="1380" dirty="0"/>
          </a:p>
        </p:txBody>
      </p:sp>
      <p:sp>
        <p:nvSpPr>
          <p:cNvPr id="12" name="Text 10"/>
          <p:cNvSpPr/>
          <p:nvPr/>
        </p:nvSpPr>
        <p:spPr>
          <a:xfrm>
            <a:off x="7360920" y="4846320"/>
            <a:ext cx="4251960" cy="749808"/>
          </a:xfrm>
          <a:prstGeom prst="roundRect">
            <a:avLst/>
          </a:prstGeom>
          <a:solidFill>
            <a:srgbClr val="D6F0E8"/>
          </a:solidFill>
          <a:ln w="12700">
            <a:solidFill>
              <a:srgbClr val="0E7C86"/>
            </a:solidFill>
          </a:ln>
        </p:spPr>
        <p:txBody>
          <a:bodyPr wrap="square" lIns="1524" tIns="1524" rIns="1524" bIns="1524" rtlCol="0" anchor="ctr">
            <a:normAutofit/>
          </a:bodyPr>
          <a:lstStyle/>
          <a:p>
            <a:pPr indent="0" marL="0">
              <a:buNone/>
            </a:pPr>
            <a:r>
              <a:rPr lang="en-US" sz="1380" dirty="0">
                <a:solidFill>
                  <a:srgbClr val="0A5F68"/>
                </a:solidFill>
                <a:latin typeface="Aptos" pitchFamily="34" charset="0"/>
                <a:ea typeface="Aptos" pitchFamily="34" charset="-122"/>
                <a:cs typeface="Aptos" pitchFamily="34" charset="-120"/>
              </a:rPr>
              <a:t>Ask students: What structure would you draw for Cavity causing Toothache and Catch?</a:t>
            </a:r>
            <a:endParaRPr lang="en-US" sz="13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12 - Quantifying Uncertainty</dc:title>
  <dc:subject>COMP 469 - Introduction to Artificial Intelligence - Chapter 12 Quantifying Uncertainty</dc:subject>
  <dc:creator>OpenAI</dc:creator>
  <cp:lastModifiedBy>OpenAI</cp:lastModifiedBy>
  <cp:revision>1</cp:revision>
  <dcterms:created xsi:type="dcterms:W3CDTF">2026-07-13T03:42:54Z</dcterms:created>
  <dcterms:modified xsi:type="dcterms:W3CDTF">2026-07-13T03:42:54Z</dcterms:modified>
</cp:coreProperties>
</file>