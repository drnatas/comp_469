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328" r:id="rId18"/>
    <p:sldId id="272" r:id="rId19"/>
    <p:sldId id="273" r:id="rId20"/>
    <p:sldId id="274" r:id="rId21"/>
    <p:sldId id="275" r:id="rId22"/>
    <p:sldId id="326"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316" r:id="rId45"/>
    <p:sldId id="317" r:id="rId46"/>
    <p:sldId id="329" r:id="rId47"/>
    <p:sldId id="297" r:id="rId48"/>
    <p:sldId id="330" r:id="rId49"/>
    <p:sldId id="318" r:id="rId50"/>
    <p:sldId id="299" r:id="rId51"/>
    <p:sldId id="300" r:id="rId52"/>
    <p:sldId id="301" r:id="rId53"/>
    <p:sldId id="302" r:id="rId54"/>
    <p:sldId id="303" r:id="rId55"/>
    <p:sldId id="304" r:id="rId56"/>
    <p:sldId id="305" r:id="rId57"/>
    <p:sldId id="306" r:id="rId58"/>
    <p:sldId id="307" r:id="rId59"/>
    <p:sldId id="308" r:id="rId60"/>
    <p:sldId id="319" r:id="rId61"/>
    <p:sldId id="320" r:id="rId62"/>
    <p:sldId id="321" r:id="rId63"/>
    <p:sldId id="309" r:id="rId64"/>
    <p:sldId id="310" r:id="rId65"/>
    <p:sldId id="311" r:id="rId66"/>
    <p:sldId id="322" r:id="rId67"/>
    <p:sldId id="323" r:id="rId68"/>
    <p:sldId id="312" r:id="rId69"/>
    <p:sldId id="324" r:id="rId70"/>
    <p:sldId id="325" r:id="rId71"/>
    <p:sldId id="313" r:id="rId72"/>
    <p:sldId id="314" r:id="rId73"/>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42" autoAdjust="0"/>
  </p:normalViewPr>
  <p:slideViewPr>
    <p:cSldViewPr snapToGrid="0">
      <p:cViewPr varScale="1">
        <p:scale>
          <a:sx n="133" d="100"/>
          <a:sy n="133" d="100"/>
        </p:scale>
        <p:origin x="27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6B03665-A6A4-4501-ACA4-2DDDAE94154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20"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Today we cover Chapter 3, Sections 3.1 through 3.4. We focus on how an intelligent agent can look ahead when the next action is not obvious: it formulates a goal, builds an abstract problem model, searches possible action sequences, and executes a selected solution. We are not using heuristics or A* yet; those come in the next lecture.</a:t>
            </a:r>
            <a:endParaRPr lang="en-US"/>
          </a:p>
        </p:txBody>
      </p:sp>
      <p:sp>
        <p:nvSpPr>
          <p:cNvPr id="142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A35A65-B105-4101-8170-887C26B490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2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In this lecture we stay within Sections 3.1 through 3.4. We first define problem-solving agents, then practice formulating example search problems, then distinguish state-space graphs from search trees, and finally compare uninformed search strategies. Heuristics, greedy best-first search, A*, admissibility, and consistency are outside today’s scope.</a:t>
            </a:r>
            <a:endParaRPr lang="en-US"/>
          </a:p>
        </p:txBody>
      </p:sp>
      <p:sp>
        <p:nvSpPr>
          <p:cNvPr id="142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DADCC93-DE3E-4926-8122-D19CD63B4051}"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2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Here we connect the previous agent material to search. A reflex agent reacts to the current percept, but a problem-solving agent looks ahead by simulating possible action sequences. Search is the computational process of exploring those possible futures inside a model before acting in the real world.</a:t>
            </a:r>
            <a:endParaRPr lang="en-US"/>
          </a:p>
        </p:txBody>
      </p:sp>
      <p:sp>
        <p:nvSpPr>
          <p:cNvPr id="142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E873E-4A4D-46FE-816A-5BDC717646F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2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Here we compare reflex agents with planning agents. A reflex agent chooses an action from what is currently perceived, while a planning agent asks what would happen after different action sequences. For this chapter, we treat states as atomic: the search algorithm sees each state as a whole object rather than inspecting its internal structure.</a:t>
            </a:r>
            <a:endParaRPr lang="en-US"/>
          </a:p>
        </p:txBody>
      </p:sp>
      <p:sp>
        <p:nvSpPr>
          <p:cNvPr id="143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CEE9E3-1F68-492D-B1D6-F22C36A6D6FC}"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3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We should read the four phases in order. First, the agent chooses a goal. Second, it formulates a search problem by selecting states, actions, transitions, goals, and costs. Third, it searches inside the model. Fourth, it executes the returned action sequence in the real environment. The Romania route problem is the running example.</a:t>
            </a:r>
            <a:endParaRPr lang="en-US"/>
          </a:p>
        </p:txBody>
      </p:sp>
      <p:sp>
        <p:nvSpPr>
          <p:cNvPr id="143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95F574-FFDF-4165-A94D-DBE121DA1F9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3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For this part of the chapter, we assume a relatively simple environment: fully observable, deterministic, known, static, discrete, and single-agent. Under these assumptions, a solution can be a fixed action sequence, also called an open-loop plan. If the model can be wrong or the world can change, the agent needs monitoring, contingency planning, or replanning.</a:t>
            </a:r>
            <a:endParaRPr lang="en-US"/>
          </a:p>
        </p:txBody>
      </p:sp>
      <p:sp>
        <p:nvSpPr>
          <p:cNvPr id="143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734D9B-F353-4FDB-8FB9-4C8241408DA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3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 search problem is defined by six parts: the state space, the initial state, the goal test, the applicable actions, the transition model, and the action cost. We should use this list as a checklist. If any of these six parts is unclear, the problem has not yet been fully formulated as a search problem.</a:t>
            </a:r>
            <a:endParaRPr lang="en-US"/>
          </a:p>
        </p:txBody>
      </p:sp>
      <p:sp>
        <p:nvSpPr>
          <p:cNvPr id="144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602FE-491E-49C4-8560-959229DCCCA0}"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4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In the Romania route example, cities are states and roads define the available actions. The transition model moves from one city to an adjacent city, and the cost can represent road distance, travel time, fuel, or another performance measure. This example shows how a map becomes a formal search problem.</a:t>
            </a:r>
            <a:endParaRPr lang="en-US"/>
          </a:p>
        </p:txBody>
      </p:sp>
      <p:sp>
        <p:nvSpPr>
          <p:cNvPr id="144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D3A22D-F8F8-42A3-9B08-CCBEA607746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4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 search problem is an abstraction, not the full real world. A useful abstraction drops details that do not matter while keeping enough structure to produce an executable solution. If the abstraction is too detailed, search becomes impractical; if it is too coarse, the resulting plan may not actually work.</a:t>
            </a:r>
            <a:endParaRPr lang="en-US"/>
          </a:p>
        </p:txBody>
      </p:sp>
      <p:sp>
        <p:nvSpPr>
          <p:cNvPr id="144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E9EB0-8C41-47A7-82E6-4C96EA6D2509}"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4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Search operates over a model. The agent does not physically try every road, tile movement, or action sequence while planning. Instead, it simulates actions in an abstract state space. The quality of the answer depends on whether the model captures the details that matter for the goal and the cost function.</a:t>
            </a:r>
            <a:endParaRPr lang="en-US"/>
          </a:p>
        </p:txBody>
      </p:sp>
      <p:sp>
        <p:nvSpPr>
          <p:cNvPr id="144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3361DC-9148-4712-8C38-5DEF73BEE56B}"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5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Section 3.2 shows that the same search vocabulary applies across many domains. Standardized problems help us compare algorithms cleanly, while real-world problems introduce messy details such as sensors, constraints, changing costs, and failure modes. The formulation often determines whether a search algorithm is useful in practice.</a:t>
            </a:r>
            <a:endParaRPr lang="en-US"/>
          </a:p>
        </p:txBody>
      </p:sp>
      <p:sp>
        <p:nvSpPr>
          <p:cNvPr id="145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6F6583-46F0-48B0-A42D-219C72D996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5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Grid worlds illustrate how formulation choices change the state space. If actions are absolute, such as Up or Left, orientation can be omitted from the state. If actions are egocentric, such as Forward or TurnLeft, facing direction must be part of the state. Sokoban then shows how quickly the state space grows once boxes and storage locations must also be tracked.</a:t>
            </a:r>
            <a:endParaRPr lang="en-US"/>
          </a:p>
        </p:txBody>
      </p:sp>
      <p:sp>
        <p:nvSpPr>
          <p:cNvPr id="145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EFA286-C579-49C3-AA8B-194178FA45D3}"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56"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We can formulate the 8-puzzle with the same six-part checklist. A state records the locations of all tiles and the blank. Actions are most simply described as moving the blank, which gives a compact action set. The parity property explains why only half of the possible tile configurations are reachable from any given goal.</a:t>
            </a:r>
            <a:endParaRPr lang="en-US"/>
          </a:p>
        </p:txBody>
      </p:sp>
      <p:sp>
        <p:nvSpPr>
          <p:cNvPr id="145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B89774D-8E55-4A5B-844F-F090B1F3A50A}"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5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Knuth’s 4 problem shows why infinite state spaces require care. A search can generate a brand-new state at every step and still fail to be complete, because it may never reach large parts of the space. Completeness requires a systematic search order, not merely avoiding repeated states.</a:t>
            </a:r>
            <a:endParaRPr lang="en-US"/>
          </a:p>
        </p:txBody>
      </p:sp>
      <p:sp>
        <p:nvSpPr>
          <p:cNvPr id="146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1082E4-95E0-46DB-A81D-A2A76AB564DB}"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6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vacuum world makes combinatorial growth concrete. A two-cell version has 2 locations times 2 dirt choices for A times 2 dirt choices for B, giving 8 states. With n cells, the count becomes n times 2 to the n. Every unnecessary state variable multiplies the size of the search space.</a:t>
            </a:r>
            <a:endParaRPr lang="en-US"/>
          </a:p>
        </p:txBody>
      </p:sp>
      <p:sp>
        <p:nvSpPr>
          <p:cNvPr id="146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017E52-DF6D-497F-AD2F-D6A72FEC35A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6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 world state contains every detail of the environment, but a search state should contain only what the planning problem needs. For simple pathing, position may be enough. For eating all dots, dot status must be included. For safe passage, power pellets and timers may also matter. The task determines the state representation.</a:t>
            </a:r>
            <a:endParaRPr lang="en-US"/>
          </a:p>
        </p:txBody>
      </p:sp>
      <p:sp>
        <p:nvSpPr>
          <p:cNvPr id="146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530EAB-717F-4B33-8FC5-299D400047CE}"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a:t>To count a state space, we identify the independent variables the algorithm must remember. In this example, possible variables include the agent position, food configuration, ghost positions, and facing direction. The total number of states is the product of the sizes of these components, but not every task needs every world variable.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68"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same maze can produce very different search spaces depending on the problem. If the goal is simple pathing, we may only need position. If the goal is to eat all dots, we also need food booleans. If the goal involves safe passage, we may need power-pellet and timer information. We should drop any variable the goal test and cost function never read.</a:t>
            </a:r>
            <a:endParaRPr lang="en-US"/>
          </a:p>
        </p:txBody>
      </p:sp>
      <p:sp>
        <p:nvSpPr>
          <p:cNvPr id="147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2AF48E-86BA-470B-B5FF-8AD6A6B3434A}"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71"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Airline planning shows that a state may need to include history. If the cost of a flight segment depends on the fare basis or earlier segments, then airport and current time alone are not enough. A variable belongs in the state when the goal test or cost function needs it to evaluate the problem correctly.</a:t>
            </a:r>
            <a:endParaRPr lang="en-US"/>
          </a:p>
        </p:txBody>
      </p:sp>
      <p:sp>
        <p:nvSpPr>
          <p:cNvPr id="147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9B6935-4D90-4530-B587-09D4AF80DEA0}"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7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For this exercise, we formulate the water-jug problem using all six parts of a search problem. The important discipline is to define states, initial state, actions, transition model, goal test, and action cost before debating implementation details. We should avoid adding variables that the goal test or cost function never use.</a:t>
            </a:r>
            <a:endParaRPr lang="en-US"/>
          </a:p>
        </p:txBody>
      </p:sp>
      <p:sp>
        <p:nvSpPr>
          <p:cNvPr id="147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F011A7-B5ED-4884-9DF3-A095AE4FBFCE}"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7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One correct formulation uses the ordered pair (a, b), where a is the amount in the 3-litre jug and b is the amount in the 5-litre jug. The actions fill, empty, or pour between jugs. The target value belongs in the goal test, not as a separate state variable. Total water used and elapsed time are also unnecessary under unit action cost.</a:t>
            </a:r>
            <a:endParaRPr lang="en-US"/>
          </a:p>
        </p:txBody>
      </p:sp>
      <p:sp>
        <p:nvSpPr>
          <p:cNvPr id="147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C0DF06-12F5-4262-954E-3EF0C5336019}" type="slidenum">
              <a:rPr lang="en-US" sz="1200" b="0" u="none" strike="noStrike">
                <a:solidFill>
                  <a:srgbClr val="000000"/>
                </a:solidFill>
                <a:effectLst/>
                <a:uFillTx/>
                <a:latin typeface="Times New Roman"/>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a:t>The jug state space is a Cartesian product. The 3-litre jug can contain 0, 1, 2, or 3 litres, and the 5-litre jug can contain 0 through 5 litres, so there are 4 times 6 equals 24 capacity pairs. The transition equations update only the two jug amounts, and the goal is reached when the 5-litre jug contains exactly 4 litres.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8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We now move from problem formulation to search algorithms. The key distinction is between the state-space graph, which represents the problem, and the search tree, which represents possible paths through that problem. That distinction explains frontiers, repeated states, and reached tables.</a:t>
            </a:r>
            <a:endParaRPr lang="en-US"/>
          </a:p>
        </p:txBody>
      </p:sp>
      <p:sp>
        <p:nvSpPr>
          <p:cNvPr id="148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9E04C1B-5EF3-425B-B384-D6E3778A1CDB}"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8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state-space graph has one vertex per state and edges for actions. The search tree has one node per path from the start. Because different paths can reach the same state, the same state can appear multiple times in the search tree even though it appears once in the graph.</a:t>
            </a:r>
            <a:endParaRPr lang="en-US"/>
          </a:p>
        </p:txBody>
      </p:sp>
      <p:sp>
        <p:nvSpPr>
          <p:cNvPr id="148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355C1C-E12B-41D1-9735-9B74D4EF7558}"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8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state-space graph is a mathematical representation of the problem. Each abstract state appears once, and each arc represents the result of an action. In most realistic problems, we do not store the whole graph in memory; we generate the needed parts while searching.</a:t>
            </a:r>
            <a:endParaRPr lang="en-US"/>
          </a:p>
        </p:txBody>
      </p:sp>
      <p:sp>
        <p:nvSpPr>
          <p:cNvPr id="1488"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189F13-0FCA-4A6C-9AC2-9A6B93703B7F}"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8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search tree starts with the initial state as its root. Expanding the root applies the available actions and creates child nodes. The frontier is the set of generated nodes that have not yet been expanded.</a:t>
            </a:r>
            <a:endParaRPr lang="en-US"/>
          </a:p>
        </p:txBody>
      </p:sp>
      <p:sp>
        <p:nvSpPr>
          <p:cNvPr id="149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1D7C86-A8B5-456C-B2AF-9FDF3A41C58F}"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9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Repeated states appear because the search tree records paths, not just states. Two different paths can end in the same graph state, so that state can appear in multiple tree nodes. This redundancy is the reason reached tables and cycle checks matter.</a:t>
            </a:r>
            <a:endParaRPr lang="en-US"/>
          </a:p>
        </p:txBody>
      </p:sp>
      <p:sp>
        <p:nvSpPr>
          <p:cNvPr id="149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FC114C-FAA2-4A59-8A11-E1A15D4FE767}"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9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This example has only four states in the graph, but its search tree is infinite because the search can traverse back and forth between a and b forever. The lesson is that a finite state-space graph can still produce an infinite number of paths if cycles are allowed.</a:t>
            </a:r>
            <a:endParaRPr lang="en-US"/>
          </a:p>
        </p:txBody>
      </p:sp>
      <p:sp>
        <p:nvSpPr>
          <p:cNvPr id="149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CB5F2C-5D56-44DC-8FAD-7CE3BBE61BEE}" type="slidenum">
              <a:rPr lang="en-US"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49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frontier contains generated but unexpanded leaf nodes. Expansion removes one node from the frontier, applies its available actions, and creates successors. The reached table records states that have already been generated, often with the best node found so far. The search strategy is the rule for deciding which frontier node to pop next.</a:t>
            </a:r>
            <a:endParaRPr lang="en-US"/>
          </a:p>
        </p:txBody>
      </p:sp>
      <p:sp>
        <p:nvSpPr>
          <p:cNvPr id="150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1FB58A-5D90-4A0B-99F8-88D1F4617C35}"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0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frontier separates expanded states from states that have not yet been reached. The algorithm only needs to keep the boundary and the reached information needed to avoid redundant work. This is why frontier size is central to space complexity. Reached and frontier are different: reached includes expanded states and frontier states.</a:t>
            </a:r>
            <a:endParaRPr lang="en-US"/>
          </a:p>
        </p:txBody>
      </p:sp>
      <p:sp>
        <p:nvSpPr>
          <p:cNvPr id="150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B66B15-AEC1-402D-8D12-D04A68579ED6}"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0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Best-first search is a general template: pop the frontier node with the smallest value of f(n). Breadth-first search, uniform-cost search, and depth-first search can be understood as different choices of this evaluation rule. The re-add rule matters when a cheaper path to an already reached state is discovered.</a:t>
            </a:r>
            <a:endParaRPr lang="en-US"/>
          </a:p>
        </p:txBody>
      </p:sp>
      <p:sp>
        <p:nvSpPr>
          <p:cNvPr id="150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E83995C-FF51-40E2-97C1-2F0A08EF3449}" type="slidenum">
              <a:rPr lang="en-US" sz="1200" b="0" u="none" strike="noStrike">
                <a:solidFill>
                  <a:srgbClr val="000000"/>
                </a:solidFill>
                <a:effectLst/>
                <a:uFillTx/>
                <a:latin typeface="Times New Roman"/>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0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same search loop can implement multiple algorithms by changing the frontier rule. BFS uses a FIFO queue and expands shallowest nodes first. UCS uses a priority queue ordered by path cost. DFS uses a LIFO stack and expands deepest nodes first. The frontier ordering is the core algorithmic difference.</a:t>
            </a:r>
            <a:endParaRPr lang="en-US"/>
          </a:p>
        </p:txBody>
      </p:sp>
      <p:sp>
        <p:nvSpPr>
          <p:cNvPr id="150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A5DD0E-C292-4C50-BA4C-9BE2E345F8F2}"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1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 search node is more than a state. It also stores the parent node, the action that produced it, and the path cost g(n). Parent pointers let us reconstruct the final solution path after a goal node is found.</a:t>
            </a:r>
            <a:endParaRPr lang="en-US"/>
          </a:p>
        </p:txBody>
      </p:sp>
      <p:sp>
        <p:nvSpPr>
          <p:cNvPr id="151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AC1FD6-8525-4F1A-8B6E-9B24EDB253FB}"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1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search tree can become much larger than the state space because of repeated paths and cycles. A reached table can eliminate redundant paths when memory is available. Cycle checking is a cheaper compromise that catches paths returning to a state already on the same path.</a:t>
            </a:r>
            <a:endParaRPr lang="en-US"/>
          </a:p>
        </p:txBody>
      </p:sp>
      <p:sp>
        <p:nvSpPr>
          <p:cNvPr id="151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0D2B37-8279-46B9-BDF3-5AAAA71C9AC0}"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16"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Graph search remembers reached states and can avoid redundant paths. Tree-like search does not keep a reached table, which saves memory but may revisit the same state many times. Cycle checking sits between these options by walking the parent chain to catch loops without storing every reached state.</a:t>
            </a:r>
            <a:endParaRPr lang="en-US"/>
          </a:p>
        </p:txBody>
      </p:sp>
      <p:sp>
        <p:nvSpPr>
          <p:cNvPr id="151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F0836-5B6E-46AE-B623-0C5C102A2941}"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1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We evaluate search algorithms by asking whether they are complete, whether they are cost-optimal, how much time they require, and how much memory they require. The symbols b, d, and m describe the implicit problem: branching factor, shallowest solution depth, and maximum path depth.</a:t>
            </a:r>
            <a:endParaRPr lang="en-US"/>
          </a:p>
        </p:txBody>
      </p:sp>
      <p:sp>
        <p:nvSpPr>
          <p:cNvPr id="152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AF7E45-D133-44A5-8A4E-A0AC975DC914}"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22"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Completeness is not the same as avoiding repeated states. In infinite spaces, a search can generate new states forever while still missing entire regions. A complete search must be systematic: if a state is reachable from the start, the search order must eventually reach it. If an infinite problem has no solution, a sound algorithm may never be able to terminate.</a:t>
            </a:r>
            <a:endParaRPr lang="en-US"/>
          </a:p>
        </p:txBody>
      </p:sp>
      <p:sp>
        <p:nvSpPr>
          <p:cNvPr id="152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DCC2AE-3BBB-491E-9838-D17CC8632CB2}" type="slidenum">
              <a:rPr lang="en-US" sz="1200" b="0" u="none" strike="noStrike">
                <a:solidFill>
                  <a:srgbClr val="000000"/>
                </a:solidFill>
                <a:effectLst/>
                <a:uFillTx/>
                <a:latin typeface="Times New Roman"/>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2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We now focus on uninformed search strategies. These algorithms know the problem definition but do not have a heuristic estimate of distance to the goal. They differ mainly in how they order the frontier.</a:t>
            </a:r>
            <a:endParaRPr lang="en-US"/>
          </a:p>
        </p:txBody>
      </p:sp>
      <p:sp>
        <p:nvSpPr>
          <p:cNvPr id="152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9314A1-9E3C-4868-9756-3D6805360BF1}"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2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Breadth-first search expands nodes by increasing depth: depth 0, then depth 1, then depth 2, and so on. A FIFO queue produces this behavior. BFS is complete and finds a fewest-action solution, but it is cost-optimal only when all actions have equal cost.</a:t>
            </a:r>
            <a:endParaRPr lang="en-US"/>
          </a:p>
        </p:txBody>
      </p:sp>
      <p:sp>
        <p:nvSpPr>
          <p:cNvPr id="153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1B6505-A44C-46B9-9AFC-5287DCE5B79E}"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3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BFS begins with only the start node in the frontier. At this point, the next expansion is forced: the root node is popped first.</a:t>
            </a:r>
            <a:endParaRPr lang="en-US"/>
          </a:p>
        </p:txBody>
      </p:sp>
      <p:sp>
        <p:nvSpPr>
          <p:cNvPr id="153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B7AB6D-9A5D-4C96-B739-FCEE058EC926}"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3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After expanding the start node, its children are added to the back of the FIFO queue. Because BFS uses oldest-generated-first behavior, all nodes at depth 1 are expanded before any node at depth 2.</a:t>
            </a:r>
            <a:endParaRPr lang="en-US"/>
          </a:p>
        </p:txBody>
      </p:sp>
      <p:sp>
        <p:nvSpPr>
          <p:cNvPr id="153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310FAA-5C23-41F1-9C00-069CDA43EF97}"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3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BFS expands one entire tier before moving deeper. This makes the search systematic and gives BFS its fewest-action guarantee under equal action costs. The cost is memory: the frontier can become extremely large because it may need to hold a full layer of the tree.</a:t>
            </a:r>
            <a:endParaRPr lang="en-US"/>
          </a:p>
        </p:txBody>
      </p:sp>
      <p:sp>
        <p:nvSpPr>
          <p:cNvPr id="153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45E215-33AB-4B6F-A9E2-7672391F0B8B}"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4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BFS generates exponentially many nodes. With branching factor b and shallowest solution depth d, both time and space are O(b^d). In practice, the memory needed to store the frontier and reached table often becomes the limiting factor before the arithmetic of expansion itself.</a:t>
            </a:r>
            <a:endParaRPr lang="en-US"/>
          </a:p>
        </p:txBody>
      </p:sp>
      <p:sp>
        <p:nvSpPr>
          <p:cNvPr id="154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764A61A-8669-4B8E-B4B0-431B3230FCB2}" type="slidenum">
              <a:rPr lang="en-US" sz="1200" b="0" u="none" strike="noStrike">
                <a:solidFill>
                  <a:schemeClr val="dk1"/>
                </a:solidFill>
                <a:effectLst/>
                <a:uFillTx/>
                <a:latin typeface="+mn-lt"/>
                <a:ea typeface="+mn-ea"/>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BFS pseudocode uses a FIFO queue and a reached set. The start state is tested first, then each generated child is tested for the goal before being added to the frontier. This early goal test is safe for BFS because the first path found to a state is already the shallowest path to that state.</a:t>
            </a:r>
            <a:endParaRPr lang="en-US"/>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Line by line, BFS wraps the initial state in a node, stores generated states in a FIFO queue, expands the shallowest unexpanded node, and discards states already reached. A common implementation mistake is using the wrong end of a deque: changing FIFO behavior into LIFO behavior silently turns BFS into DFS.</a:t>
            </a:r>
            <a:endParaRPr lang="en-US"/>
          </a:p>
        </p:txBody>
      </p:sp>
    </p:spTree>
  </p:cSld>
  <p:clrMapOvr>
    <a:masterClrMapping/>
  </p:clrMapOvr>
</p:notes>
</file>

<file path=ppt/notesSlides/notesSlide4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a:t>BFS worst-case time and space come from the geometric series 1 + b + b^2 + ... + b^d. When b is greater than 1, the final level dominates the sum, so the complexity is O(b^d). The worked example shows why a simple algorithm can still require impractical memory.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ns2:creationId val="1024086991"/>
      </p:ext>
    </p:extLst>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Early and late goal tests are not interchangeable. BFS can test when a node is generated because a later path to that state cannot be shallower. UCS must test when a node is popped, because a goal can be generated on an expensive path before a cheaper path to the same goal is discovered.</a:t>
            </a:r>
            <a:endParaRPr lang="en-US"/>
          </a:p>
        </p:txBody>
      </p:sp>
      <p:sp>
        <p:nvSpPr>
          <p:cNvPr id="154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F009C7-3FAA-4B98-9676-E5064DA3E70F}" type="slidenum">
              <a:rPr lang="en-US" sz="1200" b="0" u="none" strike="noStrike">
                <a:solidFill>
                  <a:srgbClr val="000000"/>
                </a:solidFill>
                <a:effectLst/>
                <a:uFillTx/>
                <a:latin typeface="Times New Roman"/>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idx="1"/>
          </p:nvPr>
        </p:nvSpPr>
        <p:spPr/>
        <p:txBody>
          <a:bodyPr/>
          <a:lstStyle/>
          <a:p>
            <a:r>
              <a:rPr lang="en-US"/>
              <a:t>Uniform-cost search expands the frontier node with the lowest cumulative path cost g(n). It uses a priority queue and updates priorities when cheaper paths are found. UCS is complete and cost-optimal when every action cost is at least some positive epsilon, but it spreads by cost contours rather than by depth.</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ns2:creationId val="1024086991"/>
      </p:ext>
    </p:extLst>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Uniform-cost search is best-first search with f(n) equal to path cost. Compared with BFS, it needs three important changes: priority by g(n), goal testing on expansion, and a reached structure that can replace an existing entry when a cheaper path appears. When all action costs are 1, UCS behaves like BFS.</a:t>
            </a:r>
            <a:endParaRPr lang="en-US"/>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49"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In the Sibiu-to-Bucharest example, Bucharest can be generated through Fagaras at cost 310 before a cheaper path through Rimnicu Vilcea and Pitesti reaches it at cost 278. UCS must not stop when the goal is first generated. It stops only when the lowest-cost popped node is a goal.</a:t>
            </a:r>
            <a:endParaRPr lang="en-US"/>
          </a:p>
        </p:txBody>
      </p:sp>
      <p:sp>
        <p:nvSpPr>
          <p:cNvPr id="155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5EF84E-2BE9-49D4-9EA1-349142770B6E}"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52"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In this trace exercise, we follow UCS by recording the node popped and the full frontier after each pop. The key checks are whether we delay the goal test until a node is popped and whether we replace an expensive reached entry when a cheaper path to the same state is found.</a:t>
            </a:r>
            <a:endParaRPr lang="en-US"/>
          </a:p>
        </p:txBody>
      </p:sp>
      <p:sp>
        <p:nvSpPr>
          <p:cNvPr id="155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58DA26-7E4A-4825-B2DF-0617C0462136}" type="slidenum">
              <a:rPr lang="en-US" sz="1200" b="0" u="none" strike="noStrike">
                <a:solidFill>
                  <a:srgbClr val="000000"/>
                </a:solidFill>
                <a:effectLst/>
                <a:uFillTx/>
                <a:latin typeface="Times New Roman"/>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5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worked trace shows why UCS tests goals on expansion. G appears early at cost 9, but the optimal path reaches G at cost 6. On pop 4, the cheaper G entry replaces the older expensive one, and UCS returns the optimal path on pop 5.</a:t>
            </a:r>
            <a:endParaRPr lang="en-US"/>
          </a:p>
        </p:txBody>
      </p:sp>
      <p:sp>
        <p:nvSpPr>
          <p:cNvPr id="155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BD254F8-94D9-4234-A8A1-9FB2A90A1F83}"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5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UCS complexity depends on C*, the optimal solution cost, and epsilon, the positive lower bound on action costs. The positive-cost assumption prevents infinitely many zero-cost or arbitrarily tiny-cost actions from preventing progress toward a finite-cost goal.</a:t>
            </a:r>
            <a:endParaRPr lang="en-US"/>
          </a:p>
        </p:txBody>
      </p:sp>
      <p:sp>
        <p:nvSpPr>
          <p:cNvPr id="156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809D26-44CB-4967-9345-351E3C42A9EA}"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61"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UCS expands outward in all directions by accumulated cost. It knows how expensive the path has been so far, but it has no information about which direction is promising. The next lecture adds a heuristic h(n), which estimates remaining cost and can bias the search toward the goal.</a:t>
            </a:r>
            <a:endParaRPr lang="en-US"/>
          </a:p>
        </p:txBody>
      </p:sp>
      <p:sp>
        <p:nvSpPr>
          <p:cNvPr id="156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DF59040-3FC9-4E9B-B2F2-90D6490A0584}" type="slidenum">
              <a:rPr lang="en-US" sz="1200" b="0" u="none" strike="noStrike">
                <a:solidFill>
                  <a:srgbClr val="000000"/>
                </a:solidFill>
                <a:effectLst/>
                <a:uFillTx/>
                <a:latin typeface="Times New Roman"/>
              </a:rPr>
              <a:t>54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6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Depth-first search expands the deepest frontier node first. A LIFO stack or recursion gives this behavior. DFS is attractive because it uses much less memory than BFS, but it does not guarantee the shallowest or cheapest solution.</a:t>
            </a:r>
            <a:endParaRPr lang="en-US"/>
          </a:p>
        </p:txBody>
      </p:sp>
      <p:sp>
        <p:nvSpPr>
          <p:cNvPr id="156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382714-EB0F-438A-896A-B55C54116B94}" type="slidenum">
              <a:rPr lang="en-US" sz="1200" b="0" u="none" strike="noStrike">
                <a:solidFill>
                  <a:schemeClr val="dk1"/>
                </a:solidFill>
                <a:effectLst/>
                <a:uFillTx/>
                <a:latin typeface="+mn-lt"/>
                <a:ea typeface="+mn-ea"/>
              </a:rPr>
              <a:t>55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6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DFS follows one branch as far as possible and then backtracks to the most recent node with unexplored successors. This produces low memory use because it stores a path and nearby alternatives, but it can miss shallow solutions while spending time deep in another branch.</a:t>
            </a:r>
            <a:endParaRPr lang="en-US"/>
          </a:p>
        </p:txBody>
      </p:sp>
      <p:sp>
        <p:nvSpPr>
          <p:cNvPr id="156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E7CF0D-2DA7-4D63-9F67-2076A7218F55}" type="slidenum">
              <a:rPr lang="en-US" sz="1200" b="0" u="none" strike="noStrike">
                <a:solidFill>
                  <a:schemeClr val="dk1"/>
                </a:solidFill>
                <a:effectLst/>
                <a:uFillTx/>
                <a:latin typeface="+mn-lt"/>
                <a:ea typeface="+mn-ea"/>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7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DFS has important failure modes. In cyclic spaces, it can loop forever without cycle checks. In infinite spaces, it can follow one infinite branch and never return. With repeated states, it can waste substantial work. Backtracking reduces memory by generating one successor at a time and undoing choices.</a:t>
            </a:r>
            <a:endParaRPr lang="en-US"/>
          </a:p>
        </p:txBody>
      </p:sp>
      <p:sp>
        <p:nvSpPr>
          <p:cNvPr id="157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048A000-F176-47A2-B1C0-6F52F4D3D38E}" type="slidenum">
              <a:rPr lang="en-US" sz="1200" b="0" u="none" strike="noStrike">
                <a:solidFill>
                  <a:schemeClr val="dk1"/>
                </a:solidFill>
                <a:effectLst/>
                <a:uFillTx/>
                <a:latin typeface="+mn-lt"/>
                <a:ea typeface="+mn-ea"/>
              </a:rPr>
              <a:t>57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73"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BFS tends to win when the solution is shallow, when fewest-action optimality matters, and when memory is available. DFS tends to win when solutions are deep or dense, the space behaves like a finite tree, memory is tight, and any solution is acceptable. We should reason from the frontier rule rather than memorize the table.</a:t>
            </a:r>
            <a:endParaRPr lang="en-US"/>
          </a:p>
        </p:txBody>
      </p:sp>
      <p:sp>
        <p:nvSpPr>
          <p:cNvPr id="157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08E898-AA62-4663-9EFB-CAE6154171CB}" type="slidenum">
              <a:rPr lang="en-US" sz="1200" b="0" u="none" strike="noStrike">
                <a:solidFill>
                  <a:srgbClr val="000000"/>
                </a:solidFill>
                <a:effectLst/>
                <a:uFillTx/>
                <a:latin typeface="Times New Roman"/>
              </a:rPr>
              <a:t>58</a:t>
            </a:fld>
            <a:endParaRPr lang="en-US" sz="1200" b="0" u="none" strike="noStrike">
              <a:solidFill>
                <a:srgbClr val="000000"/>
              </a:solidFill>
              <a:effectLst/>
              <a:uFillTx/>
              <a:latin typeface="Times New Roman"/>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7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Depth-limited search adds a maximum depth to DFS, treating nodes at that depth as if they have no successors. Iterative deepening repeatedly runs depth-limited search with limits 0, 1, 2, and so on. IDS combines DFS-like memory use with BFS-like behavior for shallow solutions.</a:t>
            </a:r>
            <a:endParaRPr lang="en-US"/>
          </a:p>
        </p:txBody>
      </p:sp>
      <p:sp>
        <p:nvSpPr>
          <p:cNvPr id="157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6E175D-0455-495A-9487-38BEAF70F1E3}" type="slidenum">
              <a:rPr lang="en-US" sz="1200" b="0" u="none" strike="noStrike">
                <a:solidFill>
                  <a:schemeClr val="dk1"/>
                </a:solidFill>
                <a:effectLst/>
                <a:uFillTx/>
                <a:latin typeface="+mn-lt"/>
                <a:ea typeface="+mn-ea"/>
              </a:rPr>
              <a:t>59</a:t>
            </a:fld>
            <a:endParaRPr lang="en-US" sz="1200" b="0" u="none" strike="noStrike">
              <a:solidFill>
                <a:srgbClr val="000000"/>
              </a:solidFill>
              <a:effectLst/>
              <a:uFillTx/>
              <a:latin typeface="Times New Roman"/>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Depth-limited search is DFS with a depth governor. It uses a LIFO frontier, does not keep a full reached table, and can return a solution, failure, or cutoff. The cutoff result means the limit may have prevented the search from seeing a deeper solution, so it is not the same as failure.</a:t>
            </a:r>
            <a:endParaRPr lang="en-US"/>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Failure and cutoff mean different things. Failure says the reachable space was exhausted without finding a goal and without truncating any branch. Cutoff says at least one branch reached the limit, so a deeper solution may still exist. One truncated branch is enough to prevent a trustworthy failure result.</a:t>
            </a:r>
            <a:endParaRPr lang="en-US"/>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Iterative deepening is a driver loop around depth-limited search. If the result is cutoff, the next iteration tries a deeper limit. If the result is a solution or failure, the loop returns it. Each iteration starts over, which preserves linear memory while still finding a shallowest solution when one exists.</a:t>
            </a:r>
            <a:endParaRPr lang="en-US"/>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7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Iterative deepening repeats some work, but the overhead is usually modest because most nodes are on the deepest level. The benefit is substantial memory savings compared with BFS. A fixed depth limit is difficult to choose because the graph diameter or shallowest solution depth is usually unknown in advance.</a:t>
            </a:r>
            <a:endParaRPr lang="en-US"/>
          </a:p>
        </p:txBody>
      </p:sp>
      <p:sp>
        <p:nvSpPr>
          <p:cNvPr id="158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83E677-DAFF-4A1B-9750-A6AC49E4888C}" type="slidenum">
              <a:rPr lang="en-US" sz="1200" b="0" u="none" strike="noStrike">
                <a:solidFill>
                  <a:srgbClr val="000000"/>
                </a:solidFill>
                <a:effectLst/>
                <a:uFillTx/>
                <a:latin typeface="Times New Roman"/>
              </a:rPr>
              <a:t>63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8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Bidirectional search works from both directions: forward from the initial state and backward from the goal. Two searches to depth d/2 can be much smaller than one search to depth d. The method requires a clear goal state, a way to generate predecessors, and a way to detect when the frontiers meet.</a:t>
            </a:r>
            <a:endParaRPr lang="en-US"/>
          </a:p>
        </p:txBody>
      </p:sp>
      <p:sp>
        <p:nvSpPr>
          <p:cNvPr id="158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B74AF9-5424-4DB0-9C1F-82968C9F0874}" type="slidenum">
              <a:rPr lang="en-US" sz="1200" b="0" u="none" strike="noStrike">
                <a:solidFill>
                  <a:schemeClr val="dk1"/>
                </a:solidFill>
                <a:effectLst/>
                <a:uFillTx/>
                <a:latin typeface="+mn-lt"/>
                <a:ea typeface="+mn-ea"/>
              </a:rPr>
              <a:t>64</a:t>
            </a:fld>
            <a:endParaRPr lang="en-US" sz="1200" b="0" u="none" strike="noStrike">
              <a:solidFill>
                <a:srgbClr val="000000"/>
              </a:solidFill>
              <a:effectLst/>
              <a:uFillTx/>
              <a:latin typeface="Times New Roman"/>
            </a:endParaRPr>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8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Bidirectional search can save a large amount of work, but it has practical requirements. We need an explicit goal state rather than only a broad goal test, an inverse transition model for backward search, and careful termination logic. A first frontier collision is not always enough to prove optimality.</a:t>
            </a:r>
            <a:endParaRPr lang="en-US"/>
          </a:p>
        </p:txBody>
      </p:sp>
      <p:sp>
        <p:nvSpPr>
          <p:cNvPr id="158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A1B4AD9-0E2C-472B-963C-5DAD7198333E}" type="slidenum">
              <a:rPr lang="en-US" sz="1200" b="0" u="none" strike="noStrike">
                <a:solidFill>
                  <a:srgbClr val="000000"/>
                </a:solidFill>
                <a:effectLst/>
                <a:uFillTx/>
                <a:latin typeface="Times New Roman"/>
              </a:rPr>
              <a:t>65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Bidirectional best-first search keeps two frontiers and two reached tables, one for each direction. It expands whichever side currently has the cheaper top node rather than simply alternating. The backward direction is the limiting requirement because not every problem can generate predecessor states easily.</a:t>
            </a:r>
            <a:endParaRPr lang="en-US"/>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PROCEED step is where the two searches interact. Each side still performs ordinary best-first expansion, but when a generated state appears in the opposite reached table, the algorithm has found a candidate complete path. It keeps the best solution found so far instead of stopping at the first contact.</a:t>
            </a:r>
            <a:endParaRPr lang="en-US"/>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88"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This comparison summarizes the main tradeoffs. BFS is complete and optimal for equal action costs but memory-heavy. UCS is cost-optimal under positive costs. DFS is memory-efficient but unreliable in infinite or cyclic spaces. IDS is often the best uninformed option when solution depth is unknown and memory is limited.</a:t>
            </a:r>
            <a:endParaRPr lang="en-US"/>
          </a:p>
        </p:txBody>
      </p:sp>
      <p:sp>
        <p:nvSpPr>
          <p:cNvPr id="159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BF8638-A7A3-4615-9A96-5E9C22A1F1D8}" type="slidenum">
              <a:rPr lang="en-US" sz="1200" b="0" u="none" strike="noStrike">
                <a:solidFill>
                  <a:schemeClr val="dk1"/>
                </a:solidFill>
                <a:effectLst/>
                <a:uFillTx/>
                <a:latin typeface="+mn-lt"/>
                <a:ea typeface="+mn-ea"/>
              </a:rPr>
              <a:t>68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comparison table should be read with its assumptions and superscripts. Completeness and optimality often depend on conditions such as finite branching, positive costs, or equal action costs. The table describes tree-like versions unless repeated-state checking is explicitly included, so graph search can change some guarantees and complexity bounds.</a:t>
            </a:r>
            <a:endParaRPr lang="en-US"/>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Most entries in the comparison table follow directly from frontier behavior. Oldest-node expansion creates tiers and high memory use. Newest-node expansion creates one deep path and low memory use. Uniform-cost expansion follows path cost. Iterative deepening repeats depth-first searches with increasing limits, giving O(bd) space rather than O(b^d).</a:t>
            </a:r>
            <a:endParaRPr lang="en-US"/>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9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15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The main takeaway from Sections 3.1 through 3.4 is the sequence: formulate the problem, understand the state-space graph, recognize how the search tree grows, and choose a frontier strategy. Uninformed search gives useful guarantees, but its growth is rapid without heuristic guidance.</a:t>
            </a:r>
            <a:endParaRPr lang="en-US"/>
          </a:p>
        </p:txBody>
      </p:sp>
      <p:sp>
        <p:nvSpPr>
          <p:cNvPr id="159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251AF-FB34-4229-B018-B6090D528600}" type="slidenum">
              <a:rPr lang="en-US" sz="1200" b="0" u="none" strike="noStrike">
                <a:solidFill>
                  <a:schemeClr val="dk1"/>
                </a:solidFill>
                <a:effectLst/>
                <a:uFillTx/>
                <a:latin typeface="+mn-lt"/>
                <a:ea typeface="+mn-ea"/>
              </a:rPr>
              <a:t>71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1594"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US"/>
          </a:p>
        </p:txBody>
      </p:sp>
      <p:sp>
        <p:nvSpPr>
          <p:cNvPr id="15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r>
              <a:rPr lang="en-US"/>
              <a:t>Uninformed search reasons from the problem definition and the cost already incurred. It does not estimate the remaining distance to the goal. The next step is to add h(n), a heuristic estimate of remaining cost, so the same general search framework can be directed more intelligently toward promising states.</a:t>
            </a:r>
            <a:endParaRPr lang="en-US"/>
          </a:p>
        </p:txBody>
      </p:sp>
      <p:sp>
        <p:nvSpPr>
          <p:cNvPr id="159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C7E1C2-64BB-4EF7-AF08-56D348B879CB}" type="slidenum">
              <a:rPr lang="en-US" sz="1200" b="0" u="none" strike="noStrike">
                <a:solidFill>
                  <a:srgbClr val="000000"/>
                </a:solidFill>
                <a:effectLst/>
                <a:uFillTx/>
                <a:latin typeface="Times New Roman"/>
              </a:rPr>
              <a:t>72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EEF5F8"/>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5"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SUCI_STYLE">
    <p:bg>
      <p:bgPr>
        <a:solidFill>
          <a:srgbClr val="EAF2F6"/>
        </a:solidFill>
        <a:effectLst/>
      </p:bgPr>
    </p:bg>
    <p:spTree>
      <p:nvGrpSpPr>
        <p:cNvPr id="1" name=""/>
        <p:cNvGrpSpPr/>
        <p:nvPr/>
      </p:nvGrpSpPr>
      <p:grpSpPr>
        <a:xfrm>
          <a:off x="0" y="0"/>
          <a:ext cx="0" cy="0"/>
          <a:chOff x="0" y="0"/>
          <a:chExt cx="0" cy="0"/>
        </a:xfrm>
      </p:grpSpPr>
      <p:sp>
        <p:nvSpPr>
          <p:cNvPr id="2" name="Shape 0"/>
          <p:cNvSpPr/>
          <p:nvPr/>
        </p:nvSpPr>
        <p:spPr>
          <a:xfrm>
            <a:off x="228600" y="219456"/>
            <a:ext cx="11731752" cy="749808"/>
          </a:xfrm>
          <a:prstGeom prst="rect">
            <a:avLst/>
          </a:prstGeom>
          <a:solidFill>
            <a:srgbClr val="153965"/>
          </a:solidFill>
          <a:ln w="12700">
            <a:solidFill>
              <a:srgbClr val="153965"/>
            </a:solidFill>
            <a:prstDash val="solid"/>
          </a:ln>
        </p:spPr>
        <p:txBody>
          <a:bodyPr/>
          <a:lstStyle/>
          <a:p>
            <a:endParaRPr lang="en-US"/>
          </a:p>
        </p:txBody>
      </p:sp>
      <p:sp>
        <p:nvSpPr>
          <p:cNvPr id="3" name="Shape 1"/>
          <p:cNvSpPr/>
          <p:nvPr/>
        </p:nvSpPr>
        <p:spPr>
          <a:xfrm>
            <a:off x="228600" y="960120"/>
            <a:ext cx="11731752" cy="82296"/>
          </a:xfrm>
          <a:prstGeom prst="rect">
            <a:avLst/>
          </a:prstGeom>
          <a:solidFill>
            <a:srgbClr val="F6A21A"/>
          </a:solidFill>
          <a:ln w="12700">
            <a:solidFill>
              <a:srgbClr val="F6A21A"/>
            </a:solidFill>
            <a:prstDash val="solid"/>
          </a:ln>
        </p:spPr>
        <p:txBody>
          <a:bodyPr/>
          <a:lstStyle/>
          <a:p>
            <a:endParaRPr lang="en-US"/>
          </a:p>
        </p:txBody>
      </p:sp>
      <p:sp>
        <p:nvSpPr>
          <p:cNvPr id="4" name="Text 2"/>
          <p:cNvSpPr/>
          <p:nvPr/>
        </p:nvSpPr>
        <p:spPr>
          <a:xfrm>
            <a:off x="502920" y="6583680"/>
            <a:ext cx="3840480" cy="146304"/>
          </a:xfrm>
          <a:prstGeom prst="rect">
            <a:avLst/>
          </a:prstGeom>
          <a:noFill/>
          <a:ln/>
        </p:spPr>
        <p:txBody>
          <a:bodyPr wrap="square" lIns="0" tIns="0" rIns="0" bIns="0" rtlCol="0" anchor="ctr"/>
          <a:lstStyle/>
          <a:p>
            <a:pPr marL="0" indent="0">
              <a:buNone/>
            </a:pPr>
            <a:r>
              <a:rPr lang="en-US" sz="750" dirty="0">
                <a:solidFill>
                  <a:srgbClr val="506987"/>
                </a:solidFill>
              </a:rPr>
              <a:t>CSU Channel Islands · Department of Computer Science</a:t>
            </a:r>
            <a:endParaRPr lang="en-US" sz="750" dirty="0"/>
          </a:p>
        </p:txBody>
      </p:sp>
      <p:sp>
        <p:nvSpPr>
          <p:cNvPr id="5" name="Text 3"/>
          <p:cNvSpPr/>
          <p:nvPr/>
        </p:nvSpPr>
        <p:spPr>
          <a:xfrm>
            <a:off x="8732520" y="6583680"/>
            <a:ext cx="3063240" cy="146304"/>
          </a:xfrm>
          <a:prstGeom prst="rect">
            <a:avLst/>
          </a:prstGeom>
          <a:noFill/>
          <a:ln/>
        </p:spPr>
        <p:txBody>
          <a:bodyPr wrap="square" lIns="0" tIns="0" rIns="0" bIns="0" rtlCol="0" anchor="ctr"/>
          <a:lstStyle/>
          <a:p>
            <a:pPr marL="0" indent="0" algn="r">
              <a:buNone/>
            </a:pPr>
            <a:r>
              <a:rPr lang="en-US" sz="750" dirty="0">
                <a:solidFill>
                  <a:srgbClr val="506987"/>
                </a:solidFill>
              </a:rPr>
              <a:t>COMP 469 · Chapter 3 · Sections 3.1-3.4</a:t>
            </a:r>
            <a:endParaRPr lang="en-US" sz="750" dirty="0"/>
          </a:p>
        </p:txBody>
      </p:sp>
      <p:sp>
        <p:nvSpPr>
          <p:cNvPr id="25"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506987"/>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882066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472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SUCI">
    <p:bg>
      <p:bgPr>
        <a:solidFill>
          <a:srgbClr val="EAF3F8"/>
        </a:solidFill>
        <a:effectLst/>
      </p:bgPr>
    </p:bg>
    <p:spTree>
      <p:nvGrpSpPr>
        <p:cNvPr id="1" name=""/>
        <p:cNvGrpSpPr/>
        <p:nvPr/>
      </p:nvGrpSpPr>
      <p:grpSpPr>
        <a:xfrm>
          <a:off x="0" y="0"/>
          <a:ext cx="0" cy="0"/>
          <a:chOff x="0" y="0"/>
          <a:chExt cx="0" cy="0"/>
        </a:xfrm>
      </p:grpSpPr>
      <p:sp>
        <p:nvSpPr>
          <p:cNvPr id="2" name="Shape 0"/>
          <p:cNvSpPr/>
          <p:nvPr/>
        </p:nvSpPr>
        <p:spPr>
          <a:xfrm>
            <a:off x="228600" y="219456"/>
            <a:ext cx="11740896" cy="749808"/>
          </a:xfrm>
          <a:prstGeom prst="rect">
            <a:avLst/>
          </a:prstGeom>
          <a:solidFill>
            <a:srgbClr val="143764"/>
          </a:solidFill>
          <a:ln w="12700">
            <a:solidFill>
              <a:srgbClr val="143764"/>
            </a:solidFill>
            <a:prstDash val="solid"/>
          </a:ln>
        </p:spPr>
        <p:txBody>
          <a:bodyPr/>
          <a:lstStyle/>
          <a:p>
            <a:endParaRPr lang="en-US"/>
          </a:p>
        </p:txBody>
      </p:sp>
      <p:sp>
        <p:nvSpPr>
          <p:cNvPr id="3" name="Shape 1"/>
          <p:cNvSpPr/>
          <p:nvPr/>
        </p:nvSpPr>
        <p:spPr>
          <a:xfrm>
            <a:off x="228600" y="969264"/>
            <a:ext cx="11740896" cy="91440"/>
          </a:xfrm>
          <a:prstGeom prst="rect">
            <a:avLst/>
          </a:prstGeom>
          <a:solidFill>
            <a:srgbClr val="F59E0B"/>
          </a:solidFill>
          <a:ln w="12700">
            <a:solidFill>
              <a:srgbClr val="F59E0B"/>
            </a:solidFill>
            <a:prstDash val="solid"/>
          </a:ln>
        </p:spPr>
        <p:txBody>
          <a:bodyPr/>
          <a:lstStyle/>
          <a:p>
            <a:endParaRPr lang="en-US"/>
          </a:p>
        </p:txBody>
      </p:sp>
      <p:sp>
        <p:nvSpPr>
          <p:cNvPr id="4" name="Text 2"/>
          <p:cNvSpPr/>
          <p:nvPr/>
        </p:nvSpPr>
        <p:spPr>
          <a:xfrm>
            <a:off x="502920" y="6547104"/>
            <a:ext cx="3657600" cy="137160"/>
          </a:xfrm>
          <a:prstGeom prst="rect">
            <a:avLst/>
          </a:prstGeom>
          <a:noFill/>
          <a:ln/>
        </p:spPr>
        <p:txBody>
          <a:bodyPr wrap="square" rtlCol="0" anchor="ctr"/>
          <a:lstStyle/>
          <a:p>
            <a:pPr marL="0" indent="0">
              <a:buNone/>
            </a:pPr>
            <a:r>
              <a:rPr lang="en-US" sz="750" dirty="0">
                <a:solidFill>
                  <a:srgbClr val="46627F"/>
                </a:solidFill>
                <a:latin typeface="Aptos" pitchFamily="34" charset="0"/>
                <a:ea typeface="Aptos" pitchFamily="34" charset="-122"/>
                <a:cs typeface="Aptos" pitchFamily="34" charset="-120"/>
              </a:rPr>
              <a:t>CSU Channel Islands · Department of Computer Science</a:t>
            </a:r>
            <a:endParaRPr lang="en-US" sz="750" dirty="0"/>
          </a:p>
        </p:txBody>
      </p:sp>
      <p:sp>
        <p:nvSpPr>
          <p:cNvPr id="5" name="Text 3"/>
          <p:cNvSpPr/>
          <p:nvPr/>
        </p:nvSpPr>
        <p:spPr>
          <a:xfrm>
            <a:off x="9509760" y="6547104"/>
            <a:ext cx="2377440" cy="137160"/>
          </a:xfrm>
          <a:prstGeom prst="rect">
            <a:avLst/>
          </a:prstGeom>
          <a:noFill/>
          <a:ln/>
        </p:spPr>
        <p:txBody>
          <a:bodyPr wrap="square" rtlCol="0" anchor="ctr"/>
          <a:lstStyle/>
          <a:p>
            <a:pPr marL="0" indent="0" algn="r">
              <a:buNone/>
            </a:pPr>
            <a:r>
              <a:rPr lang="en-US" sz="750" dirty="0">
                <a:solidFill>
                  <a:srgbClr val="46627F"/>
                </a:solidFill>
                <a:latin typeface="Aptos" pitchFamily="34" charset="0"/>
                <a:ea typeface="Aptos" pitchFamily="34" charset="-122"/>
                <a:cs typeface="Aptos" pitchFamily="34" charset="-120"/>
              </a:rPr>
              <a:t>COMP 469 · Chapter 3 · Sections 3.1–3.4</a:t>
            </a:r>
            <a:endParaRPr lang="en-US" sz="750" dirty="0"/>
          </a:p>
        </p:txBody>
      </p:sp>
    </p:spTree>
    <p:extLst>
      <p:ext uri="{BB962C8B-B14F-4D97-AF65-F5344CB8AC3E}">
        <p14:creationId xmlns:p14="http://schemas.microsoft.com/office/powerpoint/2010/main" val="12638831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Cartesian_product"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 name="Shape 1"/>
          <p:cNvSpPr/>
          <p:nvPr/>
        </p:nvSpPr>
        <p:spPr>
          <a:xfrm>
            <a:off x="0" y="58978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 name="Text 2"/>
          <p:cNvSpPr/>
          <p:nvPr/>
        </p:nvSpPr>
        <p:spPr>
          <a:xfrm>
            <a:off x="640080" y="777240"/>
            <a:ext cx="109724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DCE8FF"/>
                </a:solidFill>
                <a:effectLst/>
                <a:uFillTx/>
                <a:latin typeface="Aptos"/>
              </a:rPr>
              <a:t>COMP 469</a:t>
            </a:r>
            <a:endParaRPr lang="en-US" sz="2000" b="0" u="none" strike="noStrike">
              <a:solidFill>
                <a:srgbClr val="FFFFFF"/>
              </a:solidFill>
              <a:effectLst/>
              <a:uFillTx/>
              <a:latin typeface="Arial"/>
            </a:endParaRPr>
          </a:p>
        </p:txBody>
      </p:sp>
      <p:sp>
        <p:nvSpPr>
          <p:cNvPr id="15" name="Text 3"/>
          <p:cNvSpPr/>
          <p:nvPr/>
        </p:nvSpPr>
        <p:spPr>
          <a:xfrm>
            <a:off x="640080" y="1417320"/>
            <a:ext cx="109724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3400" b="1" u="none" strike="noStrike">
                <a:solidFill>
                  <a:srgbClr val="FFFFFF"/>
                </a:solidFill>
                <a:effectLst/>
                <a:uFillTx/>
                <a:latin typeface="Aptos"/>
              </a:rPr>
              <a:t>Chapter 3: Solving Problems by Searching</a:t>
            </a:r>
            <a:endParaRPr lang="en-US" sz="3400" b="0" u="none" strike="noStrike">
              <a:solidFill>
                <a:srgbClr val="FFFFFF"/>
              </a:solidFill>
              <a:effectLst/>
              <a:uFillTx/>
              <a:latin typeface="Arial"/>
            </a:endParaRPr>
          </a:p>
        </p:txBody>
      </p:sp>
      <p:sp>
        <p:nvSpPr>
          <p:cNvPr id="16" name="Text 4"/>
          <p:cNvSpPr/>
          <p:nvPr/>
        </p:nvSpPr>
        <p:spPr>
          <a:xfrm>
            <a:off x="1051560" y="2148840"/>
            <a:ext cx="1005804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dirty="0">
                <a:solidFill>
                  <a:srgbClr val="DCE8FF"/>
                </a:solidFill>
                <a:effectLst/>
                <a:uFillTx/>
                <a:latin typeface="Aptos"/>
              </a:rPr>
              <a:t>Sections 3.1-3.4 · Problem-solving agents, search problems, search algorithms, and uninformed search</a:t>
            </a:r>
            <a:endParaRPr lang="en-US" sz="1600" b="0" u="none" strike="noStrike" dirty="0">
              <a:solidFill>
                <a:srgbClr val="FFFFFF"/>
              </a:solidFill>
              <a:effectLst/>
              <a:uFillTx/>
              <a:latin typeface="Arial"/>
            </a:endParaRPr>
          </a:p>
        </p:txBody>
      </p:sp>
      <p:sp>
        <p:nvSpPr>
          <p:cNvPr id="17" name="Text 5"/>
          <p:cNvSpPr/>
          <p:nvPr/>
        </p:nvSpPr>
        <p:spPr>
          <a:xfrm>
            <a:off x="128016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Goal</a:t>
            </a:r>
            <a:endParaRPr lang="en-US" sz="1500" b="0" u="none" strike="noStrike">
              <a:solidFill>
                <a:srgbClr val="000000"/>
              </a:solidFill>
              <a:effectLst/>
              <a:uFillTx/>
              <a:latin typeface="Arial"/>
            </a:endParaRPr>
          </a:p>
        </p:txBody>
      </p:sp>
      <p:sp>
        <p:nvSpPr>
          <p:cNvPr id="18" name="Shape 6"/>
          <p:cNvSpPr/>
          <p:nvPr/>
        </p:nvSpPr>
        <p:spPr>
          <a:xfrm>
            <a:off x="2514600" y="3949920"/>
            <a:ext cx="5486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 name="Text 7"/>
          <p:cNvSpPr/>
          <p:nvPr/>
        </p:nvSpPr>
        <p:spPr>
          <a:xfrm>
            <a:off x="306324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Problem</a:t>
            </a:r>
            <a:endParaRPr lang="en-US" sz="1500" b="0" u="none" strike="noStrike">
              <a:solidFill>
                <a:srgbClr val="000000"/>
              </a:solidFill>
              <a:effectLst/>
              <a:uFillTx/>
              <a:latin typeface="Arial"/>
            </a:endParaRPr>
          </a:p>
        </p:txBody>
      </p:sp>
      <p:sp>
        <p:nvSpPr>
          <p:cNvPr id="20" name="Shape 8"/>
          <p:cNvSpPr/>
          <p:nvPr/>
        </p:nvSpPr>
        <p:spPr>
          <a:xfrm>
            <a:off x="429768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 name="Text 9"/>
          <p:cNvSpPr/>
          <p:nvPr/>
        </p:nvSpPr>
        <p:spPr>
          <a:xfrm>
            <a:off x="507492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Search</a:t>
            </a:r>
            <a:endParaRPr lang="en-US" sz="1500" b="0" u="none" strike="noStrike">
              <a:solidFill>
                <a:srgbClr val="000000"/>
              </a:solidFill>
              <a:effectLst/>
              <a:uFillTx/>
              <a:latin typeface="Arial"/>
            </a:endParaRPr>
          </a:p>
        </p:txBody>
      </p:sp>
      <p:sp>
        <p:nvSpPr>
          <p:cNvPr id="22" name="Shape 10"/>
          <p:cNvSpPr/>
          <p:nvPr/>
        </p:nvSpPr>
        <p:spPr>
          <a:xfrm>
            <a:off x="630936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3" name="Text 11"/>
          <p:cNvSpPr/>
          <p:nvPr/>
        </p:nvSpPr>
        <p:spPr>
          <a:xfrm>
            <a:off x="708660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Solution</a:t>
            </a:r>
            <a:endParaRPr lang="en-US" sz="1500" b="0" u="none" strike="noStrike">
              <a:solidFill>
                <a:srgbClr val="000000"/>
              </a:solidFill>
              <a:effectLst/>
              <a:uFillTx/>
              <a:latin typeface="Arial"/>
            </a:endParaRPr>
          </a:p>
        </p:txBody>
      </p:sp>
      <p:sp>
        <p:nvSpPr>
          <p:cNvPr id="24" name="Shape 12"/>
          <p:cNvSpPr/>
          <p:nvPr/>
        </p:nvSpPr>
        <p:spPr>
          <a:xfrm>
            <a:off x="8321040" y="3949920"/>
            <a:ext cx="77724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 name="Text 13"/>
          <p:cNvSpPr/>
          <p:nvPr/>
        </p:nvSpPr>
        <p:spPr>
          <a:xfrm>
            <a:off x="9098280" y="3657600"/>
            <a:ext cx="1234080" cy="594000"/>
          </a:xfrm>
          <a:prstGeom prst="roundRect">
            <a:avLst>
              <a:gd name="adj" fmla="val 12308"/>
            </a:avLst>
          </a:prstGeom>
          <a:solidFill>
            <a:srgbClr val="D9E9FF"/>
          </a:solidFill>
          <a:ln w="15240">
            <a:solidFill>
              <a:srgbClr val="FFFFFF"/>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Execute</a:t>
            </a:r>
            <a:endParaRPr lang="en-US" sz="1500" b="0" u="none" strike="noStrike">
              <a:solidFill>
                <a:srgbClr val="000000"/>
              </a:solidFill>
              <a:effectLst/>
              <a:uFillTx/>
              <a:latin typeface="Arial"/>
            </a:endParaRPr>
          </a:p>
        </p:txBody>
      </p:sp>
      <p:sp>
        <p:nvSpPr>
          <p:cNvPr id="26" name="Text 14"/>
          <p:cNvSpPr/>
          <p:nvPr/>
        </p:nvSpPr>
        <p:spPr>
          <a:xfrm>
            <a:off x="640080" y="6263640"/>
            <a:ext cx="109724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00" b="0" u="none" strike="noStrike" dirty="0">
                <a:solidFill>
                  <a:srgbClr val="DCE8FF"/>
                </a:solidFill>
                <a:effectLst/>
                <a:uFillTx/>
                <a:latin typeface="Aptos"/>
              </a:rPr>
              <a:t>CSU Channel Islands · Department of Computer Science</a:t>
            </a:r>
            <a:endParaRPr lang="en-US" sz="1100" b="0" u="none" strike="noStrike" dirty="0">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Scope and Learning Targets</a:t>
            </a:r>
            <a:endParaRPr lang="en-US" sz="2600" b="0" u="none" strike="noStrike" dirty="0">
              <a:solidFill>
                <a:srgbClr val="000000"/>
              </a:solidFill>
              <a:effectLst/>
              <a:uFillTx/>
              <a:latin typeface="Arial"/>
            </a:endParaRPr>
          </a:p>
        </p:txBody>
      </p:sp>
      <p:sp>
        <p:nvSpPr>
          <p:cNvPr id="3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 name="Text 5"/>
          <p:cNvSpPr/>
          <p:nvPr/>
        </p:nvSpPr>
        <p:spPr>
          <a:xfrm>
            <a:off x="777240" y="1417320"/>
            <a:ext cx="959760" cy="502560"/>
          </a:xfrm>
          <a:prstGeom prst="roundRect">
            <a:avLst>
              <a:gd name="adj" fmla="val 14545"/>
            </a:avLst>
          </a:prstGeom>
          <a:solidFill>
            <a:srgbClr val="2F7FD5"/>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3.1</a:t>
            </a:r>
            <a:endParaRPr lang="en-US" sz="1500" b="0" u="none" strike="noStrike">
              <a:solidFill>
                <a:srgbClr val="FFFFFF"/>
              </a:solidFill>
              <a:effectLst/>
              <a:uFillTx/>
              <a:latin typeface="Arial"/>
            </a:endParaRPr>
          </a:p>
        </p:txBody>
      </p:sp>
      <p:sp>
        <p:nvSpPr>
          <p:cNvPr id="33" name="Text 6"/>
          <p:cNvSpPr/>
          <p:nvPr/>
        </p:nvSpPr>
        <p:spPr>
          <a:xfrm>
            <a:off x="1965960" y="139896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Problem-solving agents</a:t>
            </a:r>
            <a:endParaRPr lang="en-US" sz="1800" b="0" u="none" strike="noStrike">
              <a:solidFill>
                <a:srgbClr val="000000"/>
              </a:solidFill>
              <a:effectLst/>
              <a:uFillTx/>
              <a:latin typeface="Arial"/>
            </a:endParaRPr>
          </a:p>
        </p:txBody>
      </p:sp>
      <p:sp>
        <p:nvSpPr>
          <p:cNvPr id="34" name="Text 7"/>
          <p:cNvSpPr/>
          <p:nvPr/>
        </p:nvSpPr>
        <p:spPr>
          <a:xfrm>
            <a:off x="1965960" y="171000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5C6B80"/>
                </a:solidFill>
                <a:effectLst/>
                <a:uFillTx/>
                <a:latin typeface="Aptos"/>
              </a:rPr>
              <a:t>goal formulation, problem formulation, search, execution</a:t>
            </a:r>
            <a:endParaRPr lang="en-US" sz="1350" b="0" u="none" strike="noStrike">
              <a:solidFill>
                <a:srgbClr val="000000"/>
              </a:solidFill>
              <a:effectLst/>
              <a:uFillTx/>
              <a:latin typeface="Arial"/>
            </a:endParaRPr>
          </a:p>
        </p:txBody>
      </p:sp>
      <p:sp>
        <p:nvSpPr>
          <p:cNvPr id="35" name="Text 8"/>
          <p:cNvSpPr/>
          <p:nvPr/>
        </p:nvSpPr>
        <p:spPr>
          <a:xfrm>
            <a:off x="777240" y="2468880"/>
            <a:ext cx="959760" cy="502560"/>
          </a:xfrm>
          <a:prstGeom prst="roundRect">
            <a:avLst>
              <a:gd name="adj" fmla="val 14545"/>
            </a:avLst>
          </a:prstGeom>
          <a:solidFill>
            <a:srgbClr val="177245"/>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3.2</a:t>
            </a:r>
            <a:endParaRPr lang="en-US" sz="1500" b="0" u="none" strike="noStrike">
              <a:solidFill>
                <a:srgbClr val="FFFFFF"/>
              </a:solidFill>
              <a:effectLst/>
              <a:uFillTx/>
              <a:latin typeface="Arial"/>
            </a:endParaRPr>
          </a:p>
        </p:txBody>
      </p:sp>
      <p:sp>
        <p:nvSpPr>
          <p:cNvPr id="36" name="Text 9"/>
          <p:cNvSpPr/>
          <p:nvPr/>
        </p:nvSpPr>
        <p:spPr>
          <a:xfrm>
            <a:off x="1965960" y="245052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Example problems</a:t>
            </a:r>
            <a:endParaRPr lang="en-US" sz="1800" b="0" u="none" strike="noStrike">
              <a:solidFill>
                <a:srgbClr val="000000"/>
              </a:solidFill>
              <a:effectLst/>
              <a:uFillTx/>
              <a:latin typeface="Arial"/>
            </a:endParaRPr>
          </a:p>
        </p:txBody>
      </p:sp>
      <p:sp>
        <p:nvSpPr>
          <p:cNvPr id="37" name="Text 10"/>
          <p:cNvSpPr/>
          <p:nvPr/>
        </p:nvSpPr>
        <p:spPr>
          <a:xfrm>
            <a:off x="1965960" y="276156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grid worlds, puzzles, route-finding, TSP, VLSI, robot navigation</a:t>
            </a:r>
            <a:endParaRPr lang="en-US" sz="1350" b="0" u="none" strike="noStrike" dirty="0">
              <a:solidFill>
                <a:srgbClr val="000000"/>
              </a:solidFill>
              <a:effectLst/>
              <a:uFillTx/>
              <a:latin typeface="Arial"/>
            </a:endParaRPr>
          </a:p>
        </p:txBody>
      </p:sp>
      <p:sp>
        <p:nvSpPr>
          <p:cNvPr id="38" name="Text 11"/>
          <p:cNvSpPr/>
          <p:nvPr/>
        </p:nvSpPr>
        <p:spPr>
          <a:xfrm>
            <a:off x="777240" y="3520440"/>
            <a:ext cx="959760" cy="502560"/>
          </a:xfrm>
          <a:prstGeom prst="roundRect">
            <a:avLst>
              <a:gd name="adj" fmla="val 14545"/>
            </a:avLst>
          </a:prstGeom>
          <a:solidFill>
            <a:srgbClr val="743A6D"/>
          </a:solidFill>
          <a:ln w="15240">
            <a:solidFill>
              <a:srgbClr val="743A6D"/>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3.3</a:t>
            </a:r>
            <a:endParaRPr lang="en-US" sz="1500" b="0" u="none" strike="noStrike">
              <a:solidFill>
                <a:srgbClr val="FFFFFF"/>
              </a:solidFill>
              <a:effectLst/>
              <a:uFillTx/>
              <a:latin typeface="Arial"/>
            </a:endParaRPr>
          </a:p>
        </p:txBody>
      </p:sp>
      <p:sp>
        <p:nvSpPr>
          <p:cNvPr id="39" name="Text 12"/>
          <p:cNvSpPr/>
          <p:nvPr/>
        </p:nvSpPr>
        <p:spPr>
          <a:xfrm>
            <a:off x="1965960" y="350208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Search algorithms</a:t>
            </a:r>
            <a:endParaRPr lang="en-US" sz="1800" b="0" u="none" strike="noStrike">
              <a:solidFill>
                <a:srgbClr val="000000"/>
              </a:solidFill>
              <a:effectLst/>
              <a:uFillTx/>
              <a:latin typeface="Arial"/>
            </a:endParaRPr>
          </a:p>
        </p:txBody>
      </p:sp>
      <p:sp>
        <p:nvSpPr>
          <p:cNvPr id="40" name="Text 13"/>
          <p:cNvSpPr/>
          <p:nvPr/>
        </p:nvSpPr>
        <p:spPr>
          <a:xfrm>
            <a:off x="1965960" y="381312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state-space graph, search tree, frontier, reached table</a:t>
            </a:r>
            <a:endParaRPr lang="en-US" sz="1350" b="0" u="none" strike="noStrike" dirty="0">
              <a:solidFill>
                <a:srgbClr val="000000"/>
              </a:solidFill>
              <a:effectLst/>
              <a:uFillTx/>
              <a:latin typeface="Arial"/>
            </a:endParaRPr>
          </a:p>
        </p:txBody>
      </p:sp>
      <p:sp>
        <p:nvSpPr>
          <p:cNvPr id="41" name="Text 14"/>
          <p:cNvSpPr/>
          <p:nvPr/>
        </p:nvSpPr>
        <p:spPr>
          <a:xfrm>
            <a:off x="777240" y="4572000"/>
            <a:ext cx="959760" cy="502560"/>
          </a:xfrm>
          <a:prstGeom prst="roundRect">
            <a:avLst>
              <a:gd name="adj" fmla="val 14545"/>
            </a:avLst>
          </a:prstGeom>
          <a:solidFill>
            <a:srgbClr val="9B1C1C"/>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FFFFFF"/>
                </a:solidFill>
                <a:effectLst/>
                <a:uFillTx/>
                <a:latin typeface="Aptos"/>
              </a:rPr>
              <a:t>3.4</a:t>
            </a:r>
            <a:endParaRPr lang="en-US" sz="1500" b="0" u="none" strike="noStrike">
              <a:solidFill>
                <a:srgbClr val="FFFFFF"/>
              </a:solidFill>
              <a:effectLst/>
              <a:uFillTx/>
              <a:latin typeface="Arial"/>
            </a:endParaRPr>
          </a:p>
        </p:txBody>
      </p:sp>
      <p:sp>
        <p:nvSpPr>
          <p:cNvPr id="42" name="Text 15"/>
          <p:cNvSpPr/>
          <p:nvPr/>
        </p:nvSpPr>
        <p:spPr>
          <a:xfrm>
            <a:off x="1965960" y="4553640"/>
            <a:ext cx="274284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800" b="1" u="none" strike="noStrike">
                <a:solidFill>
                  <a:srgbClr val="102A4C"/>
                </a:solidFill>
                <a:effectLst/>
                <a:uFillTx/>
                <a:latin typeface="Aptos"/>
              </a:rPr>
              <a:t>Uninformed search</a:t>
            </a:r>
            <a:endParaRPr lang="en-US" sz="1800" b="0" u="none" strike="noStrike">
              <a:solidFill>
                <a:srgbClr val="000000"/>
              </a:solidFill>
              <a:effectLst/>
              <a:uFillTx/>
              <a:latin typeface="Arial"/>
            </a:endParaRPr>
          </a:p>
        </p:txBody>
      </p:sp>
      <p:sp>
        <p:nvSpPr>
          <p:cNvPr id="43" name="Text 16"/>
          <p:cNvSpPr/>
          <p:nvPr/>
        </p:nvSpPr>
        <p:spPr>
          <a:xfrm>
            <a:off x="1965960" y="4864680"/>
            <a:ext cx="809208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dirty="0">
                <a:solidFill>
                  <a:srgbClr val="5C6B80"/>
                </a:solidFill>
                <a:effectLst/>
                <a:uFillTx/>
                <a:latin typeface="Aptos"/>
              </a:rPr>
              <a:t>BFS, UCS, DFS, depth-limited, IDS, bidirectional search</a:t>
            </a:r>
            <a:endParaRPr lang="en-US" sz="1350" b="0" u="none" strike="noStrike" dirty="0">
              <a:solidFill>
                <a:srgbClr val="000000"/>
              </a:solidFill>
              <a:effectLst/>
              <a:uFillTx/>
              <a:latin typeface="Arial"/>
            </a:endParaRPr>
          </a:p>
        </p:txBody>
      </p:sp>
      <p:sp>
        <p:nvSpPr>
          <p:cNvPr id="44" name="Text 17"/>
          <p:cNvSpPr/>
          <p:nvPr/>
        </p:nvSpPr>
        <p:spPr>
          <a:xfrm>
            <a:off x="1005840" y="5623560"/>
            <a:ext cx="100580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dirty="0">
                <a:solidFill>
                  <a:srgbClr val="9B1C1C"/>
                </a:solidFill>
                <a:effectLst/>
                <a:uFillTx/>
                <a:latin typeface="Aptos"/>
              </a:rPr>
              <a:t>Not today: heuristics, greedy best-first search, A*, consistency, admissibility.</a:t>
            </a:r>
            <a:endParaRPr lang="en-US" sz="16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Why Search? Agents That Look Ahead</a:t>
            </a:r>
            <a:endParaRPr lang="en-US" sz="2600" b="0" u="none" strike="noStrike">
              <a:solidFill>
                <a:srgbClr val="000000"/>
              </a:solidFill>
              <a:effectLst/>
              <a:uFillTx/>
              <a:latin typeface="Arial"/>
            </a:endParaRPr>
          </a:p>
        </p:txBody>
      </p:sp>
      <p:sp>
        <p:nvSpPr>
          <p:cNvPr id="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0" name="Text 5"/>
          <p:cNvSpPr/>
          <p:nvPr/>
        </p:nvSpPr>
        <p:spPr>
          <a:xfrm>
            <a:off x="822960" y="1325880"/>
            <a:ext cx="1024092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2100" b="1" u="none" strike="noStrike">
                <a:solidFill>
                  <a:srgbClr val="102A4C"/>
                </a:solidFill>
                <a:effectLst/>
                <a:uFillTx/>
                <a:latin typeface="Aptos"/>
              </a:rPr>
              <a:t>A problem-solving agent is a goal-based agent that searches for a sequence of actions before acting.</a:t>
            </a:r>
            <a:endParaRPr lang="en-US" sz="2100" b="0" u="none" strike="noStrike">
              <a:solidFill>
                <a:srgbClr val="000000"/>
              </a:solidFill>
              <a:effectLst/>
              <a:uFillTx/>
              <a:latin typeface="Arial"/>
            </a:endParaRPr>
          </a:p>
        </p:txBody>
      </p:sp>
      <p:sp>
        <p:nvSpPr>
          <p:cNvPr id="51" name="Text 6"/>
          <p:cNvSpPr/>
          <p:nvPr/>
        </p:nvSpPr>
        <p:spPr>
          <a:xfrm>
            <a:off x="685800" y="2377440"/>
            <a:ext cx="132552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Current state</a:t>
            </a:r>
            <a:endParaRPr lang="en-US" sz="1400" b="0" u="none" strike="noStrike">
              <a:solidFill>
                <a:srgbClr val="000000"/>
              </a:solidFill>
              <a:effectLst/>
              <a:uFillTx/>
              <a:latin typeface="Arial"/>
            </a:endParaRPr>
          </a:p>
        </p:txBody>
      </p:sp>
      <p:sp>
        <p:nvSpPr>
          <p:cNvPr id="52" name="Text 7"/>
          <p:cNvSpPr/>
          <p:nvPr/>
        </p:nvSpPr>
        <p:spPr>
          <a:xfrm>
            <a:off x="61272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is true now?</a:t>
            </a:r>
            <a:endParaRPr lang="en-US" sz="1120" b="0" u="none" strike="noStrike">
              <a:solidFill>
                <a:srgbClr val="000000"/>
              </a:solidFill>
              <a:effectLst/>
              <a:uFillTx/>
              <a:latin typeface="Arial"/>
            </a:endParaRPr>
          </a:p>
        </p:txBody>
      </p:sp>
      <p:sp>
        <p:nvSpPr>
          <p:cNvPr id="53" name="Shape 8"/>
          <p:cNvSpPr/>
          <p:nvPr/>
        </p:nvSpPr>
        <p:spPr>
          <a:xfrm>
            <a:off x="201168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4" name="Text 9"/>
          <p:cNvSpPr/>
          <p:nvPr/>
        </p:nvSpPr>
        <p:spPr>
          <a:xfrm>
            <a:off x="295344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55" name="Text 10"/>
          <p:cNvSpPr/>
          <p:nvPr/>
        </p:nvSpPr>
        <p:spPr>
          <a:xfrm>
            <a:off x="288036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can I do?</a:t>
            </a:r>
            <a:endParaRPr lang="en-US" sz="1120" b="0" u="none" strike="noStrike">
              <a:solidFill>
                <a:srgbClr val="000000"/>
              </a:solidFill>
              <a:effectLst/>
              <a:uFillTx/>
              <a:latin typeface="Arial"/>
            </a:endParaRPr>
          </a:p>
        </p:txBody>
      </p:sp>
      <p:sp>
        <p:nvSpPr>
          <p:cNvPr id="56" name="Shape 11"/>
          <p:cNvSpPr/>
          <p:nvPr/>
        </p:nvSpPr>
        <p:spPr>
          <a:xfrm>
            <a:off x="427932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7" name="Text 12"/>
          <p:cNvSpPr/>
          <p:nvPr/>
        </p:nvSpPr>
        <p:spPr>
          <a:xfrm>
            <a:off x="522108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Futures</a:t>
            </a:r>
            <a:endParaRPr lang="en-US" sz="1400" b="0" u="none" strike="noStrike">
              <a:solidFill>
                <a:srgbClr val="000000"/>
              </a:solidFill>
              <a:effectLst/>
              <a:uFillTx/>
              <a:latin typeface="Arial"/>
            </a:endParaRPr>
          </a:p>
        </p:txBody>
      </p:sp>
      <p:sp>
        <p:nvSpPr>
          <p:cNvPr id="58" name="Text 13"/>
          <p:cNvSpPr/>
          <p:nvPr/>
        </p:nvSpPr>
        <p:spPr>
          <a:xfrm>
            <a:off x="514800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would happen?</a:t>
            </a:r>
            <a:endParaRPr lang="en-US" sz="1120" b="0" u="none" strike="noStrike">
              <a:solidFill>
                <a:srgbClr val="000000"/>
              </a:solidFill>
              <a:effectLst/>
              <a:uFillTx/>
              <a:latin typeface="Arial"/>
            </a:endParaRPr>
          </a:p>
        </p:txBody>
      </p:sp>
      <p:sp>
        <p:nvSpPr>
          <p:cNvPr id="59" name="Shape 14"/>
          <p:cNvSpPr/>
          <p:nvPr/>
        </p:nvSpPr>
        <p:spPr>
          <a:xfrm>
            <a:off x="654696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0" name="Text 15"/>
          <p:cNvSpPr/>
          <p:nvPr/>
        </p:nvSpPr>
        <p:spPr>
          <a:xfrm>
            <a:off x="7489080" y="2377440"/>
            <a:ext cx="1325520" cy="502560"/>
          </a:xfrm>
          <a:prstGeom prst="roundRect">
            <a:avLst>
              <a:gd name="adj" fmla="val 14545"/>
            </a:avLst>
          </a:prstGeom>
          <a:solidFill>
            <a:srgbClr val="DBF1E3"/>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a:t>
            </a:r>
            <a:endParaRPr lang="en-US" sz="1400" b="0" u="none" strike="noStrike">
              <a:solidFill>
                <a:srgbClr val="000000"/>
              </a:solidFill>
              <a:effectLst/>
              <a:uFillTx/>
              <a:latin typeface="Arial"/>
            </a:endParaRPr>
          </a:p>
        </p:txBody>
      </p:sp>
      <p:sp>
        <p:nvSpPr>
          <p:cNvPr id="61" name="Text 16"/>
          <p:cNvSpPr/>
          <p:nvPr/>
        </p:nvSpPr>
        <p:spPr>
          <a:xfrm>
            <a:off x="7415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Did I get there?</a:t>
            </a:r>
            <a:endParaRPr lang="en-US" sz="1120" b="0" u="none" strike="noStrike">
              <a:solidFill>
                <a:srgbClr val="000000"/>
              </a:solidFill>
              <a:effectLst/>
              <a:uFillTx/>
              <a:latin typeface="Arial"/>
            </a:endParaRPr>
          </a:p>
        </p:txBody>
      </p:sp>
      <p:sp>
        <p:nvSpPr>
          <p:cNvPr id="62" name="Shape 17"/>
          <p:cNvSpPr/>
          <p:nvPr/>
        </p:nvSpPr>
        <p:spPr>
          <a:xfrm>
            <a:off x="8814600" y="2633400"/>
            <a:ext cx="941760" cy="360"/>
          </a:xfrm>
          <a:prstGeom prst="line">
            <a:avLst/>
          </a:prstGeom>
          <a:ln w="2794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3" name="Text 18"/>
          <p:cNvSpPr/>
          <p:nvPr/>
        </p:nvSpPr>
        <p:spPr>
          <a:xfrm>
            <a:off x="9756720" y="2377440"/>
            <a:ext cx="132552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Plan</a:t>
            </a:r>
            <a:endParaRPr lang="en-US" sz="1400" b="0" u="none" strike="noStrike">
              <a:solidFill>
                <a:srgbClr val="000000"/>
              </a:solidFill>
              <a:effectLst/>
              <a:uFillTx/>
              <a:latin typeface="Arial"/>
            </a:endParaRPr>
          </a:p>
        </p:txBody>
      </p:sp>
      <p:sp>
        <p:nvSpPr>
          <p:cNvPr id="64" name="Text 19"/>
          <p:cNvSpPr/>
          <p:nvPr/>
        </p:nvSpPr>
        <p:spPr>
          <a:xfrm>
            <a:off x="9683640" y="2971800"/>
            <a:ext cx="14626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120" b="0" u="none" strike="noStrike">
                <a:solidFill>
                  <a:srgbClr val="5C6B80"/>
                </a:solidFill>
                <a:effectLst/>
                <a:uFillTx/>
                <a:latin typeface="Aptos"/>
              </a:rPr>
              <a:t>What sequence works?</a:t>
            </a:r>
            <a:endParaRPr lang="en-US" sz="1120" b="0" u="none" strike="noStrike">
              <a:solidFill>
                <a:srgbClr val="000000"/>
              </a:solidFill>
              <a:effectLst/>
              <a:uFillTx/>
              <a:latin typeface="Arial"/>
            </a:endParaRPr>
          </a:p>
        </p:txBody>
      </p:sp>
      <p:sp>
        <p:nvSpPr>
          <p:cNvPr id="65" name="Text 20"/>
          <p:cNvSpPr/>
          <p:nvPr/>
        </p:nvSpPr>
        <p:spPr>
          <a:xfrm>
            <a:off x="1097280" y="425196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1" u="none" strike="noStrike">
                <a:solidFill>
                  <a:srgbClr val="112E5C"/>
                </a:solidFill>
                <a:effectLst/>
                <a:uFillTx/>
                <a:latin typeface="Aptos"/>
              </a:rPr>
              <a:t>Search happens in the model, not by physically trying every action in the real world.</a:t>
            </a:r>
            <a:endParaRPr lang="en-US" sz="19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Reflex Agents vs. Planning Agents</a:t>
            </a:r>
            <a:endParaRPr lang="en-US" sz="2600" b="0" u="none" strike="noStrike">
              <a:solidFill>
                <a:srgbClr val="000000"/>
              </a:solidFill>
              <a:effectLst/>
              <a:uFillTx/>
              <a:latin typeface="Arial"/>
            </a:endParaRPr>
          </a:p>
        </p:txBody>
      </p:sp>
      <p:sp>
        <p:nvSpPr>
          <p:cNvPr id="6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1" name="Rounded Rectangle 6"/>
          <p:cNvSpPr/>
          <p:nvPr/>
        </p:nvSpPr>
        <p:spPr>
          <a:xfrm>
            <a:off x="77724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Reflex agent</a:t>
            </a:r>
            <a:endParaRPr lang="en-US" sz="1500" b="0" u="none" strike="noStrike">
              <a:solidFill>
                <a:srgbClr val="000000"/>
              </a:solidFill>
              <a:effectLst/>
              <a:uFillTx/>
              <a:latin typeface="Arial"/>
            </a:endParaRPr>
          </a:p>
        </p:txBody>
      </p:sp>
      <p:sp>
        <p:nvSpPr>
          <p:cNvPr id="72" name="Rounded Rectangle 7"/>
          <p:cNvSpPr/>
          <p:nvPr/>
        </p:nvSpPr>
        <p:spPr>
          <a:xfrm>
            <a:off x="6385680" y="1417320"/>
            <a:ext cx="5028840" cy="47520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Planning agent</a:t>
            </a:r>
            <a:endParaRPr lang="en-US" sz="1500" b="0" u="none" strike="noStrike">
              <a:solidFill>
                <a:srgbClr val="000000"/>
              </a:solidFill>
              <a:effectLst/>
              <a:uFillTx/>
              <a:latin typeface="Arial"/>
            </a:endParaRPr>
          </a:p>
        </p:txBody>
      </p:sp>
      <p:sp>
        <p:nvSpPr>
          <p:cNvPr id="73" name="Rounded Rectangle 8"/>
          <p:cNvSpPr/>
          <p:nvPr/>
        </p:nvSpPr>
        <p:spPr>
          <a:xfrm>
            <a:off x="77724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4" name="Rounded Rectangle 9"/>
          <p:cNvSpPr/>
          <p:nvPr/>
        </p:nvSpPr>
        <p:spPr>
          <a:xfrm>
            <a:off x="6385680" y="2011680"/>
            <a:ext cx="5028840" cy="18741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5" name="Rectangle 10"/>
          <p:cNvSpPr/>
          <p:nvPr/>
        </p:nvSpPr>
        <p:spPr>
          <a:xfrm>
            <a:off x="100584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Selects an action from the current percept, plus memory at most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May hold a model of the world's current state</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Does not evaluate the consequences of its actions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Fast, shallow, and easy to fool</a:t>
            </a:r>
            <a:endParaRPr lang="en-US" sz="1350" b="0" u="none" strike="noStrike">
              <a:solidFill>
                <a:srgbClr val="000000"/>
              </a:solidFill>
              <a:effectLst/>
              <a:uFillTx/>
              <a:latin typeface="Arial"/>
            </a:endParaRPr>
          </a:p>
        </p:txBody>
      </p:sp>
      <p:sp>
        <p:nvSpPr>
          <p:cNvPr id="76" name="Rectangle 11"/>
          <p:cNvSpPr/>
          <p:nvPr/>
        </p:nvSpPr>
        <p:spPr>
          <a:xfrm>
            <a:off x="6614280" y="219456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50" b="0" u="none" strike="noStrike">
                <a:solidFill>
                  <a:srgbClr val="102A4C"/>
                </a:solidFill>
                <a:effectLst/>
                <a:uFillTx/>
                <a:latin typeface="Aptos"/>
              </a:rPr>
              <a:t>•  Asks “what if” before committing to anything</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Decides from the hypothesized consequences of action sequences</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Requires a transition model and an explicit goal test</a:t>
            </a:r>
            <a:endParaRPr lang="en-US" sz="1350" b="0" u="none" strike="noStrike">
              <a:solidFill>
                <a:srgbClr val="000000"/>
              </a:solidFill>
              <a:effectLst/>
              <a:uFillTx/>
              <a:latin typeface="Arial"/>
            </a:endParaRPr>
          </a:p>
          <a:p>
            <a:pPr defTabSz="914400">
              <a:lnSpc>
                <a:spcPct val="100000"/>
              </a:lnSpc>
              <a:spcAft>
                <a:spcPts val="700"/>
              </a:spcAft>
            </a:pPr>
            <a:r>
              <a:rPr lang="en-US" sz="1350" b="0" u="none" strike="noStrike">
                <a:solidFill>
                  <a:srgbClr val="102A4C"/>
                </a:solidFill>
                <a:effectLst/>
                <a:uFillTx/>
                <a:latin typeface="Aptos"/>
              </a:rPr>
              <a:t>•  Slower, but can reason about futures it has never seen</a:t>
            </a:r>
            <a:endParaRPr lang="en-US" sz="1350" b="0" u="none" strike="noStrike">
              <a:solidFill>
                <a:srgbClr val="000000"/>
              </a:solidFill>
              <a:effectLst/>
              <a:uFillTx/>
              <a:latin typeface="Arial"/>
            </a:endParaRPr>
          </a:p>
        </p:txBody>
      </p:sp>
      <p:sp>
        <p:nvSpPr>
          <p:cNvPr id="77" name="Rectangle 12"/>
          <p:cNvSpPr/>
          <p:nvPr/>
        </p:nvSpPr>
        <p:spPr>
          <a:xfrm>
            <a:off x="77724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IS</a:t>
            </a:r>
            <a:endParaRPr lang="en-US" sz="1600" b="0" u="none" strike="noStrike">
              <a:solidFill>
                <a:srgbClr val="000000"/>
              </a:solidFill>
              <a:effectLst/>
              <a:uFillTx/>
              <a:latin typeface="Arial"/>
            </a:endParaRPr>
          </a:p>
        </p:txBody>
      </p:sp>
      <p:sp>
        <p:nvSpPr>
          <p:cNvPr id="78" name="Rectangle 13"/>
          <p:cNvSpPr/>
          <p:nvPr/>
        </p:nvSpPr>
        <p:spPr>
          <a:xfrm>
            <a:off x="6385680" y="4023360"/>
            <a:ext cx="502884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a:solidFill>
                  <a:srgbClr val="9B1C1C"/>
                </a:solidFill>
                <a:effectLst/>
                <a:uFillTx/>
                <a:latin typeface="Aptos"/>
              </a:rPr>
              <a:t>Considers how the world WOULD BE</a:t>
            </a:r>
            <a:endParaRPr lang="en-US" sz="1600" b="0" u="none" strike="noStrike">
              <a:solidFill>
                <a:srgbClr val="000000"/>
              </a:solidFill>
              <a:effectLst/>
              <a:uFillTx/>
              <a:latin typeface="Arial"/>
            </a:endParaRPr>
          </a:p>
        </p:txBody>
      </p:sp>
      <p:sp>
        <p:nvSpPr>
          <p:cNvPr id="79" name="Rectangle 1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Chapter 3 agents use atomic state representations: a state is a whole, with no internal structure visible to the algorithm.</a:t>
            </a:r>
            <a:endParaRPr lang="en-US" sz="1700" b="0" u="none" strike="noStrike">
              <a:solidFill>
                <a:srgbClr val="000000"/>
              </a:solidFill>
              <a:effectLst/>
              <a:uFillTx/>
              <a:latin typeface="Arial"/>
            </a:endParaRPr>
          </a:p>
        </p:txBody>
      </p:sp>
      <p:sp>
        <p:nvSpPr>
          <p:cNvPr id="80" name="Rectangle 1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Agents that use factored or structured states are planning agents (Chapters 7 and 11).</a:t>
            </a:r>
            <a:endParaRPr lang="en-US" sz="1400" b="0" u="none" strike="noStrike">
              <a:solidFill>
                <a:srgbClr val="000000"/>
              </a:solidFill>
              <a:effectLst/>
              <a:uFillTx/>
              <a:latin typeface="Arial"/>
            </a:endParaRPr>
          </a:p>
        </p:txBody>
      </p:sp>
      <p:sp>
        <p:nvSpPr>
          <p:cNvPr id="81" name="Rounded Rectangle 16"/>
          <p:cNvSpPr/>
          <p:nvPr/>
        </p:nvSpPr>
        <p:spPr>
          <a:xfrm>
            <a:off x="914400" y="5486400"/>
            <a:ext cx="10423800" cy="502560"/>
          </a:xfrm>
          <a:prstGeom prst="roundRect">
            <a:avLst>
              <a:gd name="adj" fmla="val 11000"/>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Discussion: can a reflex agent ever be rational? Under what conditions does looking ahead buy you nothing?</a:t>
            </a:r>
            <a:endParaRPr lang="en-US" sz="15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The Four-Phase Problem-Solving Process</a:t>
            </a:r>
            <a:endParaRPr lang="en-US" sz="2600" b="0" u="none" strike="noStrike">
              <a:solidFill>
                <a:srgbClr val="000000"/>
              </a:solidFill>
              <a:effectLst/>
              <a:uFillTx/>
              <a:latin typeface="Arial"/>
            </a:endParaRPr>
          </a:p>
        </p:txBody>
      </p:sp>
      <p:sp>
        <p:nvSpPr>
          <p:cNvPr id="8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7" name="Text 5"/>
          <p:cNvSpPr/>
          <p:nvPr/>
        </p:nvSpPr>
        <p:spPr>
          <a:xfrm>
            <a:off x="68580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88" name="Text 6"/>
          <p:cNvSpPr/>
          <p:nvPr/>
        </p:nvSpPr>
        <p:spPr>
          <a:xfrm>
            <a:off x="137160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Goal formulation</a:t>
            </a:r>
            <a:endParaRPr lang="en-US" sz="1600" b="0" u="none" strike="noStrike">
              <a:solidFill>
                <a:srgbClr val="000000"/>
              </a:solidFill>
              <a:effectLst/>
              <a:uFillTx/>
              <a:latin typeface="Arial"/>
            </a:endParaRPr>
          </a:p>
        </p:txBody>
      </p:sp>
      <p:sp>
        <p:nvSpPr>
          <p:cNvPr id="89" name="Text 7"/>
          <p:cNvSpPr/>
          <p:nvPr/>
        </p:nvSpPr>
        <p:spPr>
          <a:xfrm>
            <a:off x="77724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Adopt a goal such as reaching Bucharest.</a:t>
            </a:r>
            <a:endParaRPr lang="en-US" sz="1350" b="0" u="none" strike="noStrike">
              <a:solidFill>
                <a:srgbClr val="000000"/>
              </a:solidFill>
              <a:effectLst/>
              <a:uFillTx/>
              <a:latin typeface="Arial"/>
            </a:endParaRPr>
          </a:p>
        </p:txBody>
      </p:sp>
      <p:sp>
        <p:nvSpPr>
          <p:cNvPr id="90" name="Shape 8"/>
          <p:cNvSpPr/>
          <p:nvPr/>
        </p:nvSpPr>
        <p:spPr>
          <a:xfrm>
            <a:off x="329184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1" name="Text 9"/>
          <p:cNvSpPr/>
          <p:nvPr/>
        </p:nvSpPr>
        <p:spPr>
          <a:xfrm>
            <a:off x="356616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92" name="Text 10"/>
          <p:cNvSpPr/>
          <p:nvPr/>
        </p:nvSpPr>
        <p:spPr>
          <a:xfrm>
            <a:off x="425196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Problem formulation</a:t>
            </a:r>
            <a:endParaRPr lang="en-US" sz="1600" b="0" u="none" strike="noStrike">
              <a:solidFill>
                <a:srgbClr val="000000"/>
              </a:solidFill>
              <a:effectLst/>
              <a:uFillTx/>
              <a:latin typeface="Arial"/>
            </a:endParaRPr>
          </a:p>
        </p:txBody>
      </p:sp>
      <p:sp>
        <p:nvSpPr>
          <p:cNvPr id="93" name="Text 11"/>
          <p:cNvSpPr/>
          <p:nvPr/>
        </p:nvSpPr>
        <p:spPr>
          <a:xfrm>
            <a:off x="365760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Build an abstract model of states, actions, transitions, goals, and costs.</a:t>
            </a:r>
            <a:endParaRPr lang="en-US" sz="1350" b="0" u="none" strike="noStrike">
              <a:solidFill>
                <a:srgbClr val="000000"/>
              </a:solidFill>
              <a:effectLst/>
              <a:uFillTx/>
              <a:latin typeface="Arial"/>
            </a:endParaRPr>
          </a:p>
        </p:txBody>
      </p:sp>
      <p:sp>
        <p:nvSpPr>
          <p:cNvPr id="94" name="Shape 12"/>
          <p:cNvSpPr/>
          <p:nvPr/>
        </p:nvSpPr>
        <p:spPr>
          <a:xfrm>
            <a:off x="617220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5" name="Text 13"/>
          <p:cNvSpPr/>
          <p:nvPr/>
        </p:nvSpPr>
        <p:spPr>
          <a:xfrm>
            <a:off x="644652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96" name="Text 14"/>
          <p:cNvSpPr/>
          <p:nvPr/>
        </p:nvSpPr>
        <p:spPr>
          <a:xfrm>
            <a:off x="713232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Search</a:t>
            </a:r>
            <a:endParaRPr lang="en-US" sz="1600" b="0" u="none" strike="noStrike">
              <a:solidFill>
                <a:srgbClr val="000000"/>
              </a:solidFill>
              <a:effectLst/>
              <a:uFillTx/>
              <a:latin typeface="Arial"/>
            </a:endParaRPr>
          </a:p>
        </p:txBody>
      </p:sp>
      <p:sp>
        <p:nvSpPr>
          <p:cNvPr id="97" name="Text 15"/>
          <p:cNvSpPr/>
          <p:nvPr/>
        </p:nvSpPr>
        <p:spPr>
          <a:xfrm>
            <a:off x="653796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Simulate action sequences until one reaches a goal or failure is proven.</a:t>
            </a:r>
            <a:endParaRPr lang="en-US" sz="1350" b="0" u="none" strike="noStrike">
              <a:solidFill>
                <a:srgbClr val="000000"/>
              </a:solidFill>
              <a:effectLst/>
              <a:uFillTx/>
              <a:latin typeface="Arial"/>
            </a:endParaRPr>
          </a:p>
        </p:txBody>
      </p:sp>
      <p:sp>
        <p:nvSpPr>
          <p:cNvPr id="98" name="Shape 16"/>
          <p:cNvSpPr/>
          <p:nvPr/>
        </p:nvSpPr>
        <p:spPr>
          <a:xfrm>
            <a:off x="9052560" y="1700640"/>
            <a:ext cx="24660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99" name="Text 17"/>
          <p:cNvSpPr/>
          <p:nvPr/>
        </p:nvSpPr>
        <p:spPr>
          <a:xfrm>
            <a:off x="9326880" y="1417320"/>
            <a:ext cx="548280" cy="548280"/>
          </a:xfrm>
          <a:prstGeom prst="roundRect">
            <a:avLst>
              <a:gd name="adj" fmla="val 13333"/>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100" name="Text 18"/>
          <p:cNvSpPr/>
          <p:nvPr/>
        </p:nvSpPr>
        <p:spPr>
          <a:xfrm>
            <a:off x="10012680" y="1417320"/>
            <a:ext cx="1919880" cy="255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1" u="none" strike="noStrike">
                <a:solidFill>
                  <a:srgbClr val="102A4C"/>
                </a:solidFill>
                <a:effectLst/>
                <a:uFillTx/>
                <a:latin typeface="Aptos"/>
              </a:rPr>
              <a:t>Execution</a:t>
            </a:r>
            <a:endParaRPr lang="en-US" sz="1600" b="0" u="none" strike="noStrike">
              <a:solidFill>
                <a:srgbClr val="000000"/>
              </a:solidFill>
              <a:effectLst/>
              <a:uFillTx/>
              <a:latin typeface="Arial"/>
            </a:endParaRPr>
          </a:p>
        </p:txBody>
      </p:sp>
      <p:sp>
        <p:nvSpPr>
          <p:cNvPr id="101" name="Text 19"/>
          <p:cNvSpPr/>
          <p:nvPr/>
        </p:nvSpPr>
        <p:spPr>
          <a:xfrm>
            <a:off x="9418320" y="1965960"/>
            <a:ext cx="2514240" cy="10054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350" b="0" u="none" strike="noStrike">
                <a:solidFill>
                  <a:srgbClr val="102A4C"/>
                </a:solidFill>
                <a:effectLst/>
                <a:uFillTx/>
                <a:latin typeface="Aptos"/>
              </a:rPr>
              <a:t>Carry out the solution actions in the real environment.</a:t>
            </a:r>
            <a:endParaRPr lang="en-US" sz="1350" b="0" u="none" strike="noStrike">
              <a:solidFill>
                <a:srgbClr val="000000"/>
              </a:solidFill>
              <a:effectLst/>
              <a:uFillTx/>
              <a:latin typeface="Arial"/>
            </a:endParaRPr>
          </a:p>
        </p:txBody>
      </p:sp>
      <p:sp>
        <p:nvSpPr>
          <p:cNvPr id="102" name="Text 20"/>
          <p:cNvSpPr/>
          <p:nvPr/>
        </p:nvSpPr>
        <p:spPr>
          <a:xfrm>
            <a:off x="2194560" y="4343400"/>
            <a:ext cx="7772040" cy="594000"/>
          </a:xfrm>
          <a:prstGeom prst="roundRect">
            <a:avLst>
              <a:gd name="adj" fmla="val 12308"/>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Example path: Arad → Sibiu → Făgăraș → Bucharest</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0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Environment Assumptions: When a Fixed Plan Works</a:t>
            </a:r>
            <a:endParaRPr lang="en-US" sz="2600" b="0" u="none" strike="noStrike">
              <a:solidFill>
                <a:srgbClr val="000000"/>
              </a:solidFill>
              <a:effectLst/>
              <a:uFillTx/>
              <a:latin typeface="Arial"/>
            </a:endParaRPr>
          </a:p>
        </p:txBody>
      </p:sp>
      <p:sp>
        <p:nvSpPr>
          <p:cNvPr id="10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8" name="Text 5"/>
          <p:cNvSpPr/>
          <p:nvPr/>
        </p:nvSpPr>
        <p:spPr>
          <a:xfrm>
            <a:off x="7772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Fully observable</a:t>
            </a:r>
            <a:endParaRPr lang="en-US" sz="1500" b="0" u="none" strike="noStrike">
              <a:solidFill>
                <a:srgbClr val="000000"/>
              </a:solidFill>
              <a:effectLst/>
              <a:uFillTx/>
              <a:latin typeface="Arial"/>
            </a:endParaRPr>
          </a:p>
        </p:txBody>
      </p:sp>
      <p:sp>
        <p:nvSpPr>
          <p:cNvPr id="109" name="Text 6"/>
          <p:cNvSpPr/>
          <p:nvPr/>
        </p:nvSpPr>
        <p:spPr>
          <a:xfrm>
            <a:off x="9417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relevant state is known</a:t>
            </a:r>
            <a:endParaRPr lang="en-US" sz="1250" b="0" u="none" strike="noStrike">
              <a:solidFill>
                <a:srgbClr val="000000"/>
              </a:solidFill>
              <a:effectLst/>
              <a:uFillTx/>
              <a:latin typeface="Arial"/>
            </a:endParaRPr>
          </a:p>
        </p:txBody>
      </p:sp>
      <p:sp>
        <p:nvSpPr>
          <p:cNvPr id="110" name="Text 7"/>
          <p:cNvSpPr/>
          <p:nvPr/>
        </p:nvSpPr>
        <p:spPr>
          <a:xfrm>
            <a:off x="4434840" y="141732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Deterministic</a:t>
            </a:r>
            <a:endParaRPr lang="en-US" sz="1500" b="0" u="none" strike="noStrike">
              <a:solidFill>
                <a:srgbClr val="000000"/>
              </a:solidFill>
              <a:effectLst/>
              <a:uFillTx/>
              <a:latin typeface="Arial"/>
            </a:endParaRPr>
          </a:p>
        </p:txBody>
      </p:sp>
      <p:sp>
        <p:nvSpPr>
          <p:cNvPr id="111" name="Text 8"/>
          <p:cNvSpPr/>
          <p:nvPr/>
        </p:nvSpPr>
        <p:spPr>
          <a:xfrm>
            <a:off x="45993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actions have predictable results</a:t>
            </a:r>
            <a:endParaRPr lang="en-US" sz="1250" b="0" u="none" strike="noStrike">
              <a:solidFill>
                <a:srgbClr val="000000"/>
              </a:solidFill>
              <a:effectLst/>
              <a:uFillTx/>
              <a:latin typeface="Arial"/>
            </a:endParaRPr>
          </a:p>
        </p:txBody>
      </p:sp>
      <p:sp>
        <p:nvSpPr>
          <p:cNvPr id="112" name="Text 9"/>
          <p:cNvSpPr/>
          <p:nvPr/>
        </p:nvSpPr>
        <p:spPr>
          <a:xfrm>
            <a:off x="8092440" y="141732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Known</a:t>
            </a:r>
            <a:endParaRPr lang="en-US" sz="1500" b="0" u="none" strike="noStrike">
              <a:solidFill>
                <a:srgbClr val="000000"/>
              </a:solidFill>
              <a:effectLst/>
              <a:uFillTx/>
              <a:latin typeface="Arial"/>
            </a:endParaRPr>
          </a:p>
        </p:txBody>
      </p:sp>
      <p:sp>
        <p:nvSpPr>
          <p:cNvPr id="113" name="Text 10"/>
          <p:cNvSpPr/>
          <p:nvPr/>
        </p:nvSpPr>
        <p:spPr>
          <a:xfrm>
            <a:off x="8256960" y="19843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map/model is available</a:t>
            </a:r>
            <a:endParaRPr lang="en-US" sz="1250" b="0" u="none" strike="noStrike">
              <a:solidFill>
                <a:srgbClr val="000000"/>
              </a:solidFill>
              <a:effectLst/>
              <a:uFillTx/>
              <a:latin typeface="Arial"/>
            </a:endParaRPr>
          </a:p>
        </p:txBody>
      </p:sp>
      <p:sp>
        <p:nvSpPr>
          <p:cNvPr id="114" name="Text 11"/>
          <p:cNvSpPr/>
          <p:nvPr/>
        </p:nvSpPr>
        <p:spPr>
          <a:xfrm>
            <a:off x="7772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Static</a:t>
            </a:r>
            <a:endParaRPr lang="en-US" sz="1500" b="0" u="none" strike="noStrike">
              <a:solidFill>
                <a:srgbClr val="000000"/>
              </a:solidFill>
              <a:effectLst/>
              <a:uFillTx/>
              <a:latin typeface="Arial"/>
            </a:endParaRPr>
          </a:p>
        </p:txBody>
      </p:sp>
      <p:sp>
        <p:nvSpPr>
          <p:cNvPr id="115" name="Text 12"/>
          <p:cNvSpPr/>
          <p:nvPr/>
        </p:nvSpPr>
        <p:spPr>
          <a:xfrm>
            <a:off x="9417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world does not change during search</a:t>
            </a:r>
            <a:endParaRPr lang="en-US" sz="1250" b="0" u="none" strike="noStrike">
              <a:solidFill>
                <a:srgbClr val="000000"/>
              </a:solidFill>
              <a:effectLst/>
              <a:uFillTx/>
              <a:latin typeface="Arial"/>
            </a:endParaRPr>
          </a:p>
        </p:txBody>
      </p:sp>
      <p:sp>
        <p:nvSpPr>
          <p:cNvPr id="116" name="Text 13"/>
          <p:cNvSpPr/>
          <p:nvPr/>
        </p:nvSpPr>
        <p:spPr>
          <a:xfrm>
            <a:off x="4434840" y="2651760"/>
            <a:ext cx="3062880" cy="475200"/>
          </a:xfrm>
          <a:prstGeom prst="roundRect">
            <a:avLst>
              <a:gd name="adj" fmla="val 1538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Discrete</a:t>
            </a:r>
            <a:endParaRPr lang="en-US" sz="1500" b="0" u="none" strike="noStrike">
              <a:solidFill>
                <a:srgbClr val="000000"/>
              </a:solidFill>
              <a:effectLst/>
              <a:uFillTx/>
              <a:latin typeface="Arial"/>
            </a:endParaRPr>
          </a:p>
        </p:txBody>
      </p:sp>
      <p:sp>
        <p:nvSpPr>
          <p:cNvPr id="117" name="Text 14"/>
          <p:cNvSpPr/>
          <p:nvPr/>
        </p:nvSpPr>
        <p:spPr>
          <a:xfrm>
            <a:off x="45993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states/actions can be enumerated</a:t>
            </a:r>
            <a:endParaRPr lang="en-US" sz="1250" b="0" u="none" strike="noStrike">
              <a:solidFill>
                <a:srgbClr val="000000"/>
              </a:solidFill>
              <a:effectLst/>
              <a:uFillTx/>
              <a:latin typeface="Arial"/>
            </a:endParaRPr>
          </a:p>
        </p:txBody>
      </p:sp>
      <p:sp>
        <p:nvSpPr>
          <p:cNvPr id="118" name="Text 15"/>
          <p:cNvSpPr/>
          <p:nvPr/>
        </p:nvSpPr>
        <p:spPr>
          <a:xfrm>
            <a:off x="8092440" y="2651760"/>
            <a:ext cx="3062880" cy="475200"/>
          </a:xfrm>
          <a:prstGeom prst="roundRect">
            <a:avLst>
              <a:gd name="adj" fmla="val 1538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Single-agent</a:t>
            </a:r>
            <a:endParaRPr lang="en-US" sz="1500" b="0" u="none" strike="noStrike">
              <a:solidFill>
                <a:srgbClr val="000000"/>
              </a:solidFill>
              <a:effectLst/>
              <a:uFillTx/>
              <a:latin typeface="Arial"/>
            </a:endParaRPr>
          </a:p>
        </p:txBody>
      </p:sp>
      <p:sp>
        <p:nvSpPr>
          <p:cNvPr id="119" name="Text 16"/>
          <p:cNvSpPr/>
          <p:nvPr/>
        </p:nvSpPr>
        <p:spPr>
          <a:xfrm>
            <a:off x="8256960" y="3218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250" b="0" u="none" strike="noStrike">
                <a:solidFill>
                  <a:srgbClr val="5C6B80"/>
                </a:solidFill>
                <a:effectLst/>
                <a:uFillTx/>
                <a:latin typeface="Aptos"/>
              </a:rPr>
              <a:t>no adversary changes the state</a:t>
            </a:r>
            <a:endParaRPr lang="en-US" sz="1250" b="0" u="none" strike="noStrike">
              <a:solidFill>
                <a:srgbClr val="000000"/>
              </a:solidFill>
              <a:effectLst/>
              <a:uFillTx/>
              <a:latin typeface="Arial"/>
            </a:endParaRPr>
          </a:p>
        </p:txBody>
      </p:sp>
      <p:sp>
        <p:nvSpPr>
          <p:cNvPr id="120" name="Text 17"/>
          <p:cNvSpPr/>
          <p:nvPr/>
        </p:nvSpPr>
        <p:spPr>
          <a:xfrm>
            <a:off x="914400" y="461772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Open-loop execution: if the model is correct, execute the fixed sequence without checking percepts.</a:t>
            </a:r>
            <a:endParaRPr lang="en-US" sz="1700" b="0" u="none" strike="noStrike">
              <a:solidFill>
                <a:srgbClr val="000000"/>
              </a:solidFill>
              <a:effectLst/>
              <a:uFillTx/>
              <a:latin typeface="Arial"/>
            </a:endParaRPr>
          </a:p>
        </p:txBody>
      </p:sp>
      <p:sp>
        <p:nvSpPr>
          <p:cNvPr id="121" name="Text 18"/>
          <p:cNvSpPr/>
          <p:nvPr/>
        </p:nvSpPr>
        <p:spPr>
          <a:xfrm>
            <a:off x="914400" y="5166360"/>
            <a:ext cx="10423800" cy="328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50" b="0" u="none" strike="noStrike">
                <a:solidFill>
                  <a:srgbClr val="9B1C1C"/>
                </a:solidFill>
                <a:effectLst/>
                <a:uFillTx/>
                <a:latin typeface="Aptos"/>
              </a:rPr>
              <a:t>If the model may be wrong or the world changes, use closed-loop monitoring, contingency plans, or replanning.</a:t>
            </a:r>
            <a:endParaRPr lang="en-US" sz="15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Formal Definition of a Search Problem</a:t>
            </a:r>
            <a:endParaRPr lang="en-US" sz="2600" b="0" u="none" strike="noStrike">
              <a:solidFill>
                <a:srgbClr val="000000"/>
              </a:solidFill>
              <a:effectLst/>
              <a:uFillTx/>
              <a:latin typeface="Arial"/>
            </a:endParaRPr>
          </a:p>
        </p:txBody>
      </p:sp>
      <p:sp>
        <p:nvSpPr>
          <p:cNvPr id="12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 name="Text 5"/>
          <p:cNvSpPr/>
          <p:nvPr/>
        </p:nvSpPr>
        <p:spPr>
          <a:xfrm>
            <a:off x="77724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State space</a:t>
            </a:r>
            <a:endParaRPr lang="en-US" sz="1400" b="0" u="none" strike="noStrike">
              <a:solidFill>
                <a:srgbClr val="000000"/>
              </a:solidFill>
              <a:effectLst/>
              <a:uFillTx/>
              <a:latin typeface="Arial"/>
            </a:endParaRPr>
          </a:p>
        </p:txBody>
      </p:sp>
      <p:sp>
        <p:nvSpPr>
          <p:cNvPr id="128" name="Text 6"/>
          <p:cNvSpPr/>
          <p:nvPr/>
        </p:nvSpPr>
        <p:spPr>
          <a:xfrm>
            <a:off x="324612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Set of possible states</a:t>
            </a:r>
            <a:endParaRPr lang="en-US" sz="1400" b="0" u="none" strike="noStrike">
              <a:solidFill>
                <a:srgbClr val="000000"/>
              </a:solidFill>
              <a:effectLst/>
              <a:uFillTx/>
              <a:latin typeface="Arial"/>
            </a:endParaRPr>
          </a:p>
        </p:txBody>
      </p:sp>
      <p:sp>
        <p:nvSpPr>
          <p:cNvPr id="129" name="Text 7"/>
          <p:cNvSpPr/>
          <p:nvPr/>
        </p:nvSpPr>
        <p:spPr>
          <a:xfrm>
            <a:off x="77724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Initial state</a:t>
            </a:r>
            <a:endParaRPr lang="en-US" sz="1400" b="0" u="none" strike="noStrike">
              <a:solidFill>
                <a:srgbClr val="000000"/>
              </a:solidFill>
              <a:effectLst/>
              <a:uFillTx/>
              <a:latin typeface="Arial"/>
            </a:endParaRPr>
          </a:p>
        </p:txBody>
      </p:sp>
      <p:sp>
        <p:nvSpPr>
          <p:cNvPr id="130" name="Text 8"/>
          <p:cNvSpPr/>
          <p:nvPr/>
        </p:nvSpPr>
        <p:spPr>
          <a:xfrm>
            <a:off x="324612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Where the agent starts</a:t>
            </a:r>
            <a:endParaRPr lang="en-US" sz="1400" b="0" u="none" strike="noStrike">
              <a:solidFill>
                <a:srgbClr val="000000"/>
              </a:solidFill>
              <a:effectLst/>
              <a:uFillTx/>
              <a:latin typeface="Arial"/>
            </a:endParaRPr>
          </a:p>
        </p:txBody>
      </p:sp>
      <p:sp>
        <p:nvSpPr>
          <p:cNvPr id="131" name="Text 9"/>
          <p:cNvSpPr/>
          <p:nvPr/>
        </p:nvSpPr>
        <p:spPr>
          <a:xfrm>
            <a:off x="77724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Goal test</a:t>
            </a:r>
            <a:endParaRPr lang="en-US" sz="1400" b="0" u="none" strike="noStrike">
              <a:solidFill>
                <a:srgbClr val="000000"/>
              </a:solidFill>
              <a:effectLst/>
              <a:uFillTx/>
              <a:latin typeface="Arial"/>
            </a:endParaRPr>
          </a:p>
        </p:txBody>
      </p:sp>
      <p:sp>
        <p:nvSpPr>
          <p:cNvPr id="132" name="Text 10"/>
          <p:cNvSpPr/>
          <p:nvPr/>
        </p:nvSpPr>
        <p:spPr>
          <a:xfrm>
            <a:off x="324612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Is-Goal(s): property or set of goal states</a:t>
            </a:r>
            <a:endParaRPr lang="en-US" sz="1400" b="0" u="none" strike="noStrike">
              <a:solidFill>
                <a:srgbClr val="000000"/>
              </a:solidFill>
              <a:effectLst/>
              <a:uFillTx/>
              <a:latin typeface="Arial"/>
            </a:endParaRPr>
          </a:p>
        </p:txBody>
      </p:sp>
      <p:sp>
        <p:nvSpPr>
          <p:cNvPr id="133" name="Text 11"/>
          <p:cNvSpPr/>
          <p:nvPr/>
        </p:nvSpPr>
        <p:spPr>
          <a:xfrm>
            <a:off x="6172200" y="141732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Actions</a:t>
            </a:r>
            <a:endParaRPr lang="en-US" sz="1400" b="0" u="none" strike="noStrike">
              <a:solidFill>
                <a:srgbClr val="000000"/>
              </a:solidFill>
              <a:effectLst/>
              <a:uFillTx/>
              <a:latin typeface="Arial"/>
            </a:endParaRPr>
          </a:p>
        </p:txBody>
      </p:sp>
      <p:sp>
        <p:nvSpPr>
          <p:cNvPr id="134" name="Text 12"/>
          <p:cNvSpPr/>
          <p:nvPr/>
        </p:nvSpPr>
        <p:spPr>
          <a:xfrm>
            <a:off x="8641080" y="144468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ACTIONS(s): actions applicable in state s</a:t>
            </a:r>
            <a:endParaRPr lang="en-US" sz="1400" b="0" u="none" strike="noStrike">
              <a:solidFill>
                <a:srgbClr val="000000"/>
              </a:solidFill>
              <a:effectLst/>
              <a:uFillTx/>
              <a:latin typeface="Arial"/>
            </a:endParaRPr>
          </a:p>
        </p:txBody>
      </p:sp>
      <p:sp>
        <p:nvSpPr>
          <p:cNvPr id="135" name="Text 13"/>
          <p:cNvSpPr/>
          <p:nvPr/>
        </p:nvSpPr>
        <p:spPr>
          <a:xfrm>
            <a:off x="6172200" y="265176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Transition model</a:t>
            </a:r>
            <a:endParaRPr lang="en-US" sz="1400" b="0" u="none" strike="noStrike">
              <a:solidFill>
                <a:srgbClr val="000000"/>
              </a:solidFill>
              <a:effectLst/>
              <a:uFillTx/>
              <a:latin typeface="Arial"/>
            </a:endParaRPr>
          </a:p>
        </p:txBody>
      </p:sp>
      <p:sp>
        <p:nvSpPr>
          <p:cNvPr id="136" name="Text 14"/>
          <p:cNvSpPr/>
          <p:nvPr/>
        </p:nvSpPr>
        <p:spPr>
          <a:xfrm>
            <a:off x="8641080" y="267912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RESULT(s,a): state reached after action a</a:t>
            </a:r>
            <a:endParaRPr lang="en-US" sz="1400" b="0" u="none" strike="noStrike">
              <a:solidFill>
                <a:srgbClr val="000000"/>
              </a:solidFill>
              <a:effectLst/>
              <a:uFillTx/>
              <a:latin typeface="Arial"/>
            </a:endParaRPr>
          </a:p>
        </p:txBody>
      </p:sp>
      <p:sp>
        <p:nvSpPr>
          <p:cNvPr id="137" name="Text 15"/>
          <p:cNvSpPr/>
          <p:nvPr/>
        </p:nvSpPr>
        <p:spPr>
          <a:xfrm>
            <a:off x="6172200" y="3886200"/>
            <a:ext cx="228564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400" b="1" u="none" strike="noStrike">
                <a:solidFill>
                  <a:srgbClr val="112E5C"/>
                </a:solidFill>
                <a:effectLst/>
                <a:uFillTx/>
                <a:latin typeface="Aptos"/>
              </a:rPr>
              <a:t>Action cost</a:t>
            </a:r>
            <a:endParaRPr lang="en-US" sz="1400" b="0" u="none" strike="noStrike">
              <a:solidFill>
                <a:srgbClr val="000000"/>
              </a:solidFill>
              <a:effectLst/>
              <a:uFillTx/>
              <a:latin typeface="Arial"/>
            </a:endParaRPr>
          </a:p>
        </p:txBody>
      </p:sp>
      <p:sp>
        <p:nvSpPr>
          <p:cNvPr id="138" name="Text 16"/>
          <p:cNvSpPr/>
          <p:nvPr/>
        </p:nvSpPr>
        <p:spPr>
          <a:xfrm>
            <a:off x="8641080" y="3913560"/>
            <a:ext cx="28342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400" b="0" u="none" strike="noStrike">
                <a:solidFill>
                  <a:srgbClr val="102A4C"/>
                </a:solidFill>
                <a:effectLst/>
                <a:uFillTx/>
                <a:latin typeface="Aptos"/>
              </a:rPr>
              <a:t>c(s,a,s′): numeric cost of applying an action</a:t>
            </a:r>
            <a:endParaRPr lang="en-US" sz="14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Romania Route-Finding Example</a:t>
            </a:r>
            <a:endParaRPr lang="en-US" sz="2600" b="0" u="none" strike="noStrike">
              <a:solidFill>
                <a:srgbClr val="000000"/>
              </a:solidFill>
              <a:effectLst/>
              <a:uFillTx/>
              <a:latin typeface="Arial"/>
            </a:endParaRPr>
          </a:p>
        </p:txBody>
      </p:sp>
      <p:sp>
        <p:nvSpPr>
          <p:cNvPr id="14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4" name="Shape 5"/>
          <p:cNvSpPr/>
          <p:nvPr/>
        </p:nvSpPr>
        <p:spPr>
          <a:xfrm flipV="1">
            <a:off x="1005840" y="21031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5" name="Text 6"/>
          <p:cNvSpPr/>
          <p:nvPr/>
        </p:nvSpPr>
        <p:spPr>
          <a:xfrm>
            <a:off x="1847160" y="24321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140</a:t>
            </a:r>
            <a:endParaRPr lang="en-US" sz="850" b="0" u="none" strike="noStrike">
              <a:solidFill>
                <a:srgbClr val="000000"/>
              </a:solidFill>
              <a:effectLst/>
              <a:uFillTx/>
              <a:latin typeface="Arial"/>
            </a:endParaRPr>
          </a:p>
        </p:txBody>
      </p:sp>
      <p:sp>
        <p:nvSpPr>
          <p:cNvPr id="146" name="Shape 7"/>
          <p:cNvSpPr/>
          <p:nvPr/>
        </p:nvSpPr>
        <p:spPr>
          <a:xfrm>
            <a:off x="1005840" y="3017520"/>
            <a:ext cx="201168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7" name="Text 8"/>
          <p:cNvSpPr/>
          <p:nvPr/>
        </p:nvSpPr>
        <p:spPr>
          <a:xfrm>
            <a:off x="1847160" y="28893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118</a:t>
            </a:r>
            <a:endParaRPr lang="en-US" sz="850" b="0" u="none" strike="noStrike">
              <a:solidFill>
                <a:srgbClr val="000000"/>
              </a:solidFill>
              <a:effectLst/>
              <a:uFillTx/>
              <a:latin typeface="Arial"/>
            </a:endParaRPr>
          </a:p>
        </p:txBody>
      </p:sp>
      <p:sp>
        <p:nvSpPr>
          <p:cNvPr id="148" name="Shape 9"/>
          <p:cNvSpPr/>
          <p:nvPr/>
        </p:nvSpPr>
        <p:spPr>
          <a:xfrm>
            <a:off x="1005840" y="3017520"/>
            <a:ext cx="2011680" cy="91440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9" name="Text 10"/>
          <p:cNvSpPr/>
          <p:nvPr/>
        </p:nvSpPr>
        <p:spPr>
          <a:xfrm>
            <a:off x="1847160" y="334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75</a:t>
            </a:r>
            <a:endParaRPr lang="en-US" sz="850" b="0" u="none" strike="noStrike">
              <a:solidFill>
                <a:srgbClr val="000000"/>
              </a:solidFill>
              <a:effectLst/>
              <a:uFillTx/>
              <a:latin typeface="Arial"/>
            </a:endParaRPr>
          </a:p>
        </p:txBody>
      </p:sp>
      <p:sp>
        <p:nvSpPr>
          <p:cNvPr id="150" name="Shape 11"/>
          <p:cNvSpPr/>
          <p:nvPr/>
        </p:nvSpPr>
        <p:spPr>
          <a:xfrm flipV="1">
            <a:off x="3017520" y="1828800"/>
            <a:ext cx="2057400" cy="2743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1" name="Text 12"/>
          <p:cNvSpPr/>
          <p:nvPr/>
        </p:nvSpPr>
        <p:spPr>
          <a:xfrm>
            <a:off x="3881520" y="18378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99</a:t>
            </a:r>
            <a:endParaRPr lang="en-US" sz="850" b="0" u="none" strike="noStrike">
              <a:solidFill>
                <a:srgbClr val="000000"/>
              </a:solidFill>
              <a:effectLst/>
              <a:uFillTx/>
              <a:latin typeface="Arial"/>
            </a:endParaRPr>
          </a:p>
        </p:txBody>
      </p:sp>
      <p:sp>
        <p:nvSpPr>
          <p:cNvPr id="152" name="Shape 13"/>
          <p:cNvSpPr/>
          <p:nvPr/>
        </p:nvSpPr>
        <p:spPr>
          <a:xfrm>
            <a:off x="3017520" y="2103120"/>
            <a:ext cx="2057400" cy="6400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3" name="Text 14"/>
          <p:cNvSpPr/>
          <p:nvPr/>
        </p:nvSpPr>
        <p:spPr>
          <a:xfrm>
            <a:off x="3881520" y="229500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80</a:t>
            </a:r>
            <a:endParaRPr lang="en-US" sz="850" b="0" u="none" strike="noStrike">
              <a:solidFill>
                <a:srgbClr val="000000"/>
              </a:solidFill>
              <a:effectLst/>
              <a:uFillTx/>
              <a:latin typeface="Arial"/>
            </a:endParaRPr>
          </a:p>
        </p:txBody>
      </p:sp>
      <p:sp>
        <p:nvSpPr>
          <p:cNvPr id="154" name="Shape 15"/>
          <p:cNvSpPr/>
          <p:nvPr/>
        </p:nvSpPr>
        <p:spPr>
          <a:xfrm>
            <a:off x="5074920" y="2743200"/>
            <a:ext cx="1920240" cy="36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55" name="Text 16"/>
          <p:cNvSpPr/>
          <p:nvPr/>
        </p:nvSpPr>
        <p:spPr>
          <a:xfrm>
            <a:off x="5870520" y="261504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97</a:t>
            </a:r>
            <a:endParaRPr lang="en-US" sz="850" b="0" u="none" strike="noStrike">
              <a:solidFill>
                <a:srgbClr val="000000"/>
              </a:solidFill>
              <a:effectLst/>
              <a:uFillTx/>
              <a:latin typeface="Arial"/>
            </a:endParaRPr>
          </a:p>
        </p:txBody>
      </p:sp>
      <p:sp>
        <p:nvSpPr>
          <p:cNvPr id="156" name="Shape 17"/>
          <p:cNvSpPr/>
          <p:nvPr/>
        </p:nvSpPr>
        <p:spPr>
          <a:xfrm flipV="1">
            <a:off x="6995160" y="2240280"/>
            <a:ext cx="2011680" cy="50292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7" name="Text 18"/>
          <p:cNvSpPr/>
          <p:nvPr/>
        </p:nvSpPr>
        <p:spPr>
          <a:xfrm>
            <a:off x="7836480" y="23637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101</a:t>
            </a:r>
            <a:endParaRPr lang="en-US" sz="850" b="0" u="none" strike="noStrike">
              <a:solidFill>
                <a:srgbClr val="000000"/>
              </a:solidFill>
              <a:effectLst/>
              <a:uFillTx/>
              <a:latin typeface="Arial"/>
            </a:endParaRPr>
          </a:p>
        </p:txBody>
      </p:sp>
      <p:sp>
        <p:nvSpPr>
          <p:cNvPr id="158" name="Shape 19"/>
          <p:cNvSpPr/>
          <p:nvPr/>
        </p:nvSpPr>
        <p:spPr>
          <a:xfrm>
            <a:off x="5074920" y="1828800"/>
            <a:ext cx="3931920" cy="411480"/>
          </a:xfrm>
          <a:prstGeom prst="line">
            <a:avLst/>
          </a:prstGeom>
          <a:ln w="1651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9" name="Text 20"/>
          <p:cNvSpPr/>
          <p:nvPr/>
        </p:nvSpPr>
        <p:spPr>
          <a:xfrm>
            <a:off x="6876360" y="1906560"/>
            <a:ext cx="3286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5C6B80"/>
                </a:solidFill>
                <a:effectLst/>
                <a:uFillTx/>
                <a:latin typeface="Aptos"/>
              </a:rPr>
              <a:t>211</a:t>
            </a:r>
            <a:endParaRPr lang="en-US" sz="850" b="0" u="none" strike="noStrike">
              <a:solidFill>
                <a:srgbClr val="000000"/>
              </a:solidFill>
              <a:effectLst/>
              <a:uFillTx/>
              <a:latin typeface="Arial"/>
            </a:endParaRPr>
          </a:p>
        </p:txBody>
      </p:sp>
      <p:sp>
        <p:nvSpPr>
          <p:cNvPr id="160" name="Text 21"/>
          <p:cNvSpPr/>
          <p:nvPr/>
        </p:nvSpPr>
        <p:spPr>
          <a:xfrm>
            <a:off x="841320" y="2853000"/>
            <a:ext cx="328680" cy="32868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61" name="Text 22"/>
          <p:cNvSpPr/>
          <p:nvPr/>
        </p:nvSpPr>
        <p:spPr>
          <a:xfrm>
            <a:off x="53028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Arad</a:t>
            </a:r>
            <a:endParaRPr lang="en-US" sz="850" b="0" u="none" strike="noStrike">
              <a:solidFill>
                <a:srgbClr val="000000"/>
              </a:solidFill>
              <a:effectLst/>
              <a:uFillTx/>
              <a:latin typeface="Arial"/>
            </a:endParaRPr>
          </a:p>
        </p:txBody>
      </p:sp>
      <p:sp>
        <p:nvSpPr>
          <p:cNvPr id="162" name="Text 23"/>
          <p:cNvSpPr/>
          <p:nvPr/>
        </p:nvSpPr>
        <p:spPr>
          <a:xfrm>
            <a:off x="2853000" y="19386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63" name="Text 24"/>
          <p:cNvSpPr/>
          <p:nvPr/>
        </p:nvSpPr>
        <p:spPr>
          <a:xfrm>
            <a:off x="2541960" y="23317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Sibiu</a:t>
            </a:r>
            <a:endParaRPr lang="en-US" sz="850" b="0" u="none" strike="noStrike">
              <a:solidFill>
                <a:srgbClr val="000000"/>
              </a:solidFill>
              <a:effectLst/>
              <a:uFillTx/>
              <a:latin typeface="Arial"/>
            </a:endParaRPr>
          </a:p>
        </p:txBody>
      </p:sp>
      <p:sp>
        <p:nvSpPr>
          <p:cNvPr id="164" name="Text 25"/>
          <p:cNvSpPr/>
          <p:nvPr/>
        </p:nvSpPr>
        <p:spPr>
          <a:xfrm>
            <a:off x="2853000" y="28530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T</a:t>
            </a:r>
            <a:endParaRPr lang="en-US" sz="900" b="0" u="none" strike="noStrike">
              <a:solidFill>
                <a:srgbClr val="000000"/>
              </a:solidFill>
              <a:effectLst/>
              <a:uFillTx/>
              <a:latin typeface="Arial"/>
            </a:endParaRPr>
          </a:p>
        </p:txBody>
      </p:sp>
      <p:sp>
        <p:nvSpPr>
          <p:cNvPr id="165" name="Text 26"/>
          <p:cNvSpPr/>
          <p:nvPr/>
        </p:nvSpPr>
        <p:spPr>
          <a:xfrm>
            <a:off x="2541960" y="32461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Timisoara</a:t>
            </a:r>
            <a:endParaRPr lang="en-US" sz="850" b="0" u="none" strike="noStrike">
              <a:solidFill>
                <a:srgbClr val="000000"/>
              </a:solidFill>
              <a:effectLst/>
              <a:uFillTx/>
              <a:latin typeface="Arial"/>
            </a:endParaRPr>
          </a:p>
        </p:txBody>
      </p:sp>
      <p:sp>
        <p:nvSpPr>
          <p:cNvPr id="166" name="Text 27"/>
          <p:cNvSpPr/>
          <p:nvPr/>
        </p:nvSpPr>
        <p:spPr>
          <a:xfrm>
            <a:off x="2853000" y="376740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Z</a:t>
            </a:r>
            <a:endParaRPr lang="en-US" sz="900" b="0" u="none" strike="noStrike">
              <a:solidFill>
                <a:srgbClr val="000000"/>
              </a:solidFill>
              <a:effectLst/>
              <a:uFillTx/>
              <a:latin typeface="Arial"/>
            </a:endParaRPr>
          </a:p>
        </p:txBody>
      </p:sp>
      <p:sp>
        <p:nvSpPr>
          <p:cNvPr id="167" name="Text 28"/>
          <p:cNvSpPr/>
          <p:nvPr/>
        </p:nvSpPr>
        <p:spPr>
          <a:xfrm>
            <a:off x="2541960" y="416052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Zerind</a:t>
            </a:r>
            <a:endParaRPr lang="en-US" sz="850" b="0" u="none" strike="noStrike">
              <a:solidFill>
                <a:srgbClr val="000000"/>
              </a:solidFill>
              <a:effectLst/>
              <a:uFillTx/>
              <a:latin typeface="Arial"/>
            </a:endParaRPr>
          </a:p>
        </p:txBody>
      </p:sp>
      <p:sp>
        <p:nvSpPr>
          <p:cNvPr id="168" name="Text 29"/>
          <p:cNvSpPr/>
          <p:nvPr/>
        </p:nvSpPr>
        <p:spPr>
          <a:xfrm>
            <a:off x="4910400" y="16642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69" name="Text 30"/>
          <p:cNvSpPr/>
          <p:nvPr/>
        </p:nvSpPr>
        <p:spPr>
          <a:xfrm>
            <a:off x="4599360" y="20574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Fagaras</a:t>
            </a:r>
            <a:endParaRPr lang="en-US" sz="850" b="0" u="none" strike="noStrike">
              <a:solidFill>
                <a:srgbClr val="000000"/>
              </a:solidFill>
              <a:effectLst/>
              <a:uFillTx/>
              <a:latin typeface="Arial"/>
            </a:endParaRPr>
          </a:p>
        </p:txBody>
      </p:sp>
      <p:sp>
        <p:nvSpPr>
          <p:cNvPr id="170" name="Text 31"/>
          <p:cNvSpPr/>
          <p:nvPr/>
        </p:nvSpPr>
        <p:spPr>
          <a:xfrm>
            <a:off x="491040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71" name="Text 32"/>
          <p:cNvSpPr/>
          <p:nvPr/>
        </p:nvSpPr>
        <p:spPr>
          <a:xfrm>
            <a:off x="459936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Rimnicu</a:t>
            </a:r>
            <a:endParaRPr lang="en-US" sz="850" b="0" u="none" strike="noStrike">
              <a:solidFill>
                <a:srgbClr val="000000"/>
              </a:solidFill>
              <a:effectLst/>
              <a:uFillTx/>
              <a:latin typeface="Arial"/>
            </a:endParaRPr>
          </a:p>
        </p:txBody>
      </p:sp>
      <p:sp>
        <p:nvSpPr>
          <p:cNvPr id="172" name="Text 33"/>
          <p:cNvSpPr/>
          <p:nvPr/>
        </p:nvSpPr>
        <p:spPr>
          <a:xfrm>
            <a:off x="6830640" y="2578680"/>
            <a:ext cx="328680" cy="32868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73" name="Text 34"/>
          <p:cNvSpPr/>
          <p:nvPr/>
        </p:nvSpPr>
        <p:spPr>
          <a:xfrm>
            <a:off x="6519600" y="297180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Pitesti</a:t>
            </a:r>
            <a:endParaRPr lang="en-US" sz="850" b="0" u="none" strike="noStrike">
              <a:solidFill>
                <a:srgbClr val="000000"/>
              </a:solidFill>
              <a:effectLst/>
              <a:uFillTx/>
              <a:latin typeface="Arial"/>
            </a:endParaRPr>
          </a:p>
        </p:txBody>
      </p:sp>
      <p:sp>
        <p:nvSpPr>
          <p:cNvPr id="174" name="Text 35"/>
          <p:cNvSpPr/>
          <p:nvPr/>
        </p:nvSpPr>
        <p:spPr>
          <a:xfrm>
            <a:off x="8842320" y="2075760"/>
            <a:ext cx="328680" cy="32868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75" name="Text 36"/>
          <p:cNvSpPr/>
          <p:nvPr/>
        </p:nvSpPr>
        <p:spPr>
          <a:xfrm>
            <a:off x="8531280" y="2468880"/>
            <a:ext cx="950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0" u="none" strike="noStrike">
                <a:solidFill>
                  <a:srgbClr val="102A4C"/>
                </a:solidFill>
                <a:effectLst/>
                <a:uFillTx/>
                <a:latin typeface="Aptos"/>
              </a:rPr>
              <a:t>Bucharest</a:t>
            </a:r>
            <a:endParaRPr lang="en-US" sz="850" b="0" u="none" strike="noStrike">
              <a:solidFill>
                <a:srgbClr val="000000"/>
              </a:solidFill>
              <a:effectLst/>
              <a:uFillTx/>
              <a:latin typeface="Arial"/>
            </a:endParaRPr>
          </a:p>
        </p:txBody>
      </p:sp>
      <p:sp>
        <p:nvSpPr>
          <p:cNvPr id="176" name="Text 37"/>
          <p:cNvSpPr/>
          <p:nvPr/>
        </p:nvSpPr>
        <p:spPr>
          <a:xfrm>
            <a:off x="822960" y="4709160"/>
            <a:ext cx="1033236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pPr>
            <a:r>
              <a:rPr lang="en-US" sz="1350" b="0" u="none" strike="noStrike">
                <a:solidFill>
                  <a:srgbClr val="102A4C"/>
                </a:solidFill>
                <a:effectLst/>
                <a:uFillTx/>
                <a:latin typeface="Aptos"/>
              </a:rPr>
              <a:t>State space: cities</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Initial state: Arad</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Goal test: current city is Bucharest</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Actions: drive to adjacent city</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Cost: road distance, time, or fuel</a:t>
            </a:r>
            <a:endParaRPr lang="en-US" sz="13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7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7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Abstraction: Keep What Matters, Drop What Does Not</a:t>
            </a:r>
            <a:endParaRPr lang="en-US" sz="2600" b="0" u="none" strike="noStrike">
              <a:solidFill>
                <a:srgbClr val="000000"/>
              </a:solidFill>
              <a:effectLst/>
              <a:uFillTx/>
              <a:latin typeface="Arial"/>
            </a:endParaRPr>
          </a:p>
        </p:txBody>
      </p:sp>
      <p:sp>
        <p:nvSpPr>
          <p:cNvPr id="18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8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82" name="Text 5"/>
          <p:cNvSpPr/>
          <p:nvPr/>
        </p:nvSpPr>
        <p:spPr>
          <a:xfrm>
            <a:off x="868680" y="1417320"/>
            <a:ext cx="3017160" cy="502560"/>
          </a:xfrm>
          <a:prstGeom prst="roundRect">
            <a:avLst>
              <a:gd name="adj" fmla="val 14545"/>
            </a:avLst>
          </a:prstGeom>
          <a:solidFill>
            <a:srgbClr val="F7D7D7"/>
          </a:solidFill>
          <a:ln w="15240">
            <a:solidFill>
              <a:srgbClr val="9B1C1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9B1C1C"/>
                </a:solidFill>
                <a:effectLst/>
                <a:uFillTx/>
                <a:latin typeface="Aptos"/>
              </a:rPr>
              <a:t>Too detailed</a:t>
            </a:r>
            <a:endParaRPr lang="en-US" sz="1600" b="0" u="none" strike="noStrike">
              <a:solidFill>
                <a:srgbClr val="000000"/>
              </a:solidFill>
              <a:effectLst/>
              <a:uFillTx/>
              <a:latin typeface="Arial"/>
            </a:endParaRPr>
          </a:p>
        </p:txBody>
      </p:sp>
      <p:sp>
        <p:nvSpPr>
          <p:cNvPr id="183" name="Text 6"/>
          <p:cNvSpPr/>
          <p:nvPr/>
        </p:nvSpPr>
        <p:spPr>
          <a:xfrm>
            <a:off x="86868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Move right foot forward one centimeter; turn steering wheel one degree; track radio station and scenery.</a:t>
            </a:r>
            <a:endParaRPr lang="en-US" sz="1400" b="0" u="none" strike="noStrike">
              <a:solidFill>
                <a:srgbClr val="000000"/>
              </a:solidFill>
              <a:effectLst/>
              <a:uFillTx/>
              <a:latin typeface="Arial"/>
            </a:endParaRPr>
          </a:p>
        </p:txBody>
      </p:sp>
      <p:sp>
        <p:nvSpPr>
          <p:cNvPr id="184" name="Text 7"/>
          <p:cNvSpPr/>
          <p:nvPr/>
        </p:nvSpPr>
        <p:spPr>
          <a:xfrm>
            <a:off x="4572000" y="1417320"/>
            <a:ext cx="301716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Useful abstraction</a:t>
            </a:r>
            <a:endParaRPr lang="en-US" sz="1600" b="0" u="none" strike="noStrike">
              <a:solidFill>
                <a:srgbClr val="000000"/>
              </a:solidFill>
              <a:effectLst/>
              <a:uFillTx/>
              <a:latin typeface="Arial"/>
            </a:endParaRPr>
          </a:p>
        </p:txBody>
      </p:sp>
      <p:sp>
        <p:nvSpPr>
          <p:cNvPr id="185" name="Text 8"/>
          <p:cNvSpPr/>
          <p:nvPr/>
        </p:nvSpPr>
        <p:spPr>
          <a:xfrm>
            <a:off x="4572000" y="2030040"/>
            <a:ext cx="301716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00" b="0" u="none" strike="noStrike">
                <a:solidFill>
                  <a:srgbClr val="102A4C"/>
                </a:solidFill>
                <a:effectLst/>
                <a:uFillTx/>
                <a:latin typeface="Aptos"/>
              </a:rPr>
              <a:t>Drive from Arad to Sibiu. The action is detailed enough to plan with and simple enough to execute.</a:t>
            </a:r>
            <a:endParaRPr lang="en-US" sz="1400" b="0" u="none" strike="noStrike">
              <a:solidFill>
                <a:srgbClr val="000000"/>
              </a:solidFill>
              <a:effectLst/>
              <a:uFillTx/>
              <a:latin typeface="Arial"/>
            </a:endParaRPr>
          </a:p>
        </p:txBody>
      </p:sp>
      <p:sp>
        <p:nvSpPr>
          <p:cNvPr id="186" name="Text 9"/>
          <p:cNvSpPr/>
          <p:nvPr/>
        </p:nvSpPr>
        <p:spPr>
          <a:xfrm>
            <a:off x="8275320" y="1417320"/>
            <a:ext cx="301716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Good formulation</a:t>
            </a:r>
            <a:endParaRPr lang="en-US" sz="1600" b="0" u="none" strike="noStrike">
              <a:solidFill>
                <a:srgbClr val="000000"/>
              </a:solidFill>
              <a:effectLst/>
              <a:uFillTx/>
              <a:latin typeface="Arial"/>
            </a:endParaRPr>
          </a:p>
        </p:txBody>
      </p:sp>
      <p:sp>
        <p:nvSpPr>
          <p:cNvPr id="187" name="Text 10"/>
          <p:cNvSpPr/>
          <p:nvPr/>
        </p:nvSpPr>
        <p:spPr>
          <a:xfrm>
            <a:off x="8275320" y="1965960"/>
            <a:ext cx="3062880" cy="1371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350" b="0" u="none" strike="noStrike">
                <a:solidFill>
                  <a:srgbClr val="102A4C"/>
                </a:solidFill>
                <a:effectLst/>
                <a:uFillTx/>
                <a:latin typeface="Aptos"/>
              </a:rPr>
              <a:t>Valid: abstract solution can be elaborated into a real solution</a:t>
            </a:r>
            <a:endParaRPr lang="en-US" sz="1350" b="0" u="none" strike="noStrike">
              <a:solidFill>
                <a:srgbClr val="000000"/>
              </a:solidFill>
              <a:effectLst/>
              <a:uFillTx/>
              <a:latin typeface="Arial"/>
            </a:endParaRPr>
          </a:p>
          <a:p>
            <a:pPr defTabSz="914400">
              <a:lnSpc>
                <a:spcPct val="100000"/>
              </a:lnSpc>
            </a:pPr>
            <a:r>
              <a:rPr lang="en-US" sz="1350" b="0" u="none" strike="noStrike">
                <a:solidFill>
                  <a:srgbClr val="102A4C"/>
                </a:solidFill>
                <a:effectLst/>
                <a:uFillTx/>
                <a:latin typeface="Aptos"/>
              </a:rPr>
              <a:t>Useful: each abstract action is easier than solving the original problem</a:t>
            </a:r>
            <a:endParaRPr lang="en-US" sz="1350" b="0" u="none" strike="noStrike">
              <a:solidFill>
                <a:srgbClr val="000000"/>
              </a:solidFill>
              <a:effectLst/>
              <a:uFillTx/>
              <a:latin typeface="Arial"/>
            </a:endParaRPr>
          </a:p>
        </p:txBody>
      </p:sp>
      <p:sp>
        <p:nvSpPr>
          <p:cNvPr id="188" name="Text 11"/>
          <p:cNvSpPr/>
          <p:nvPr/>
        </p:nvSpPr>
        <p:spPr>
          <a:xfrm>
            <a:off x="1097280" y="4617720"/>
            <a:ext cx="99666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Remove as much detail as possible while preserving validity and executable actions.</a:t>
            </a:r>
            <a:endParaRPr lang="en-US" sz="20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8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9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Problems Are Models</a:t>
            </a:r>
            <a:endParaRPr lang="en-US" sz="2600" b="0" u="none" strike="noStrike">
              <a:solidFill>
                <a:srgbClr val="000000"/>
              </a:solidFill>
              <a:effectLst/>
              <a:uFillTx/>
              <a:latin typeface="Arial"/>
            </a:endParaRPr>
          </a:p>
        </p:txBody>
      </p:sp>
      <p:sp>
        <p:nvSpPr>
          <p:cNvPr id="19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9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94" name="Text 5"/>
          <p:cNvSpPr/>
          <p:nvPr/>
        </p:nvSpPr>
        <p:spPr>
          <a:xfrm>
            <a:off x="822960" y="1463040"/>
            <a:ext cx="502884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tabLst>
                <a:tab pos="0" algn="l"/>
              </a:tabLst>
            </a:pPr>
            <a:r>
              <a:rPr lang="en-US" sz="2100" b="1" u="none" strike="noStrike">
                <a:solidFill>
                  <a:srgbClr val="102A4C"/>
                </a:solidFill>
                <a:effectLst/>
                <a:uFillTx/>
                <a:latin typeface="Aptos"/>
              </a:rPr>
              <a:t>The agent does not try every plan in the real world.</a:t>
            </a:r>
            <a:endParaRPr lang="en-US" sz="2100" b="0" u="none" strike="noStrike">
              <a:solidFill>
                <a:srgbClr val="000000"/>
              </a:solidFill>
              <a:effectLst/>
              <a:uFillTx/>
              <a:latin typeface="Arial"/>
            </a:endParaRPr>
          </a:p>
        </p:txBody>
      </p:sp>
      <p:sp>
        <p:nvSpPr>
          <p:cNvPr id="195" name="Text 6"/>
          <p:cNvSpPr/>
          <p:nvPr/>
        </p:nvSpPr>
        <p:spPr>
          <a:xfrm>
            <a:off x="914400" y="2148840"/>
            <a:ext cx="5028840" cy="2742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600" b="0" u="none" strike="noStrike">
                <a:solidFill>
                  <a:srgbClr val="102A4C"/>
                </a:solidFill>
                <a:effectLst/>
                <a:uFillTx/>
                <a:latin typeface="Aptos"/>
              </a:rPr>
              <a:t>The search problem is an abstract model of the environment.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Planning happens “in simulation.”</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Your search is only as good as your model.</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102A4C"/>
                </a:solidFill>
                <a:effectLst/>
                <a:uFillTx/>
                <a:latin typeface="Aptos"/>
              </a:rPr>
              <a:t>Bad state/action/cost choices can produce bad behavior.</a:t>
            </a:r>
            <a:endParaRPr lang="en-US" sz="1600" b="0" u="none" strike="noStrike">
              <a:solidFill>
                <a:srgbClr val="000000"/>
              </a:solidFill>
              <a:effectLst/>
              <a:uFillTx/>
              <a:latin typeface="Arial"/>
            </a:endParaRPr>
          </a:p>
        </p:txBody>
      </p:sp>
      <p:sp>
        <p:nvSpPr>
          <p:cNvPr id="196" name="Text 7"/>
          <p:cNvSpPr/>
          <p:nvPr/>
        </p:nvSpPr>
        <p:spPr>
          <a:xfrm>
            <a:off x="6629400" y="1645920"/>
            <a:ext cx="1919880" cy="502560"/>
          </a:xfrm>
          <a:prstGeom prst="roundRect">
            <a:avLst>
              <a:gd name="adj" fmla="val 14545"/>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Real world</a:t>
            </a:r>
            <a:endParaRPr lang="en-US" sz="1500" b="0" u="none" strike="noStrike">
              <a:solidFill>
                <a:srgbClr val="000000"/>
              </a:solidFill>
              <a:effectLst/>
              <a:uFillTx/>
              <a:latin typeface="Arial"/>
            </a:endParaRPr>
          </a:p>
        </p:txBody>
      </p:sp>
      <p:sp>
        <p:nvSpPr>
          <p:cNvPr id="197" name="Text 8"/>
          <p:cNvSpPr/>
          <p:nvPr/>
        </p:nvSpPr>
        <p:spPr>
          <a:xfrm>
            <a:off x="9326880" y="1645920"/>
            <a:ext cx="191988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Search model</a:t>
            </a:r>
            <a:endParaRPr lang="en-US" sz="1500" b="0" u="none" strike="noStrike">
              <a:solidFill>
                <a:srgbClr val="000000"/>
              </a:solidFill>
              <a:effectLst/>
              <a:uFillTx/>
              <a:latin typeface="Arial"/>
            </a:endParaRPr>
          </a:p>
        </p:txBody>
      </p:sp>
      <p:sp>
        <p:nvSpPr>
          <p:cNvPr id="198" name="Shape 9"/>
          <p:cNvSpPr/>
          <p:nvPr/>
        </p:nvSpPr>
        <p:spPr>
          <a:xfrm>
            <a:off x="8549640" y="1892520"/>
            <a:ext cx="777240" cy="360"/>
          </a:xfrm>
          <a:prstGeom prst="line">
            <a:avLst/>
          </a:prstGeom>
          <a:ln w="2540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9" name="Text 10"/>
          <p:cNvSpPr/>
          <p:nvPr/>
        </p:nvSpPr>
        <p:spPr>
          <a:xfrm>
            <a:off x="671184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0" name="Text 11"/>
          <p:cNvSpPr/>
          <p:nvPr/>
        </p:nvSpPr>
        <p:spPr>
          <a:xfrm>
            <a:off x="712332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1" name="Text 12"/>
          <p:cNvSpPr/>
          <p:nvPr/>
        </p:nvSpPr>
        <p:spPr>
          <a:xfrm>
            <a:off x="753480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2" name="Text 13"/>
          <p:cNvSpPr/>
          <p:nvPr/>
        </p:nvSpPr>
        <p:spPr>
          <a:xfrm>
            <a:off x="7946280" y="245988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3" name="Text 14"/>
          <p:cNvSpPr/>
          <p:nvPr/>
        </p:nvSpPr>
        <p:spPr>
          <a:xfrm>
            <a:off x="671184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4" name="Text 15"/>
          <p:cNvSpPr/>
          <p:nvPr/>
        </p:nvSpPr>
        <p:spPr>
          <a:xfrm>
            <a:off x="712332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5" name="Text 16"/>
          <p:cNvSpPr/>
          <p:nvPr/>
        </p:nvSpPr>
        <p:spPr>
          <a:xfrm>
            <a:off x="753480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6" name="Text 17"/>
          <p:cNvSpPr/>
          <p:nvPr/>
        </p:nvSpPr>
        <p:spPr>
          <a:xfrm>
            <a:off x="7946280" y="2962800"/>
            <a:ext cx="292320" cy="292320"/>
          </a:xfrm>
          <a:prstGeom prst="ellipse">
            <a:avLst/>
          </a:prstGeom>
          <a:solidFill>
            <a:srgbClr val="FFFFFF"/>
          </a:solidFill>
          <a:ln w="15240">
            <a:solidFill>
              <a:srgbClr val="D8DEE8"/>
            </a:solidFill>
            <a:round/>
          </a:ln>
        </p:spPr>
        <p:style>
          <a:lnRef idx="0">
            <a:scrgbClr r="0" g="0" b="0"/>
          </a:lnRef>
          <a:fillRef idx="0">
            <a:scrgbClr r="0" g="0" b="0"/>
          </a:fillRef>
          <a:effectRef idx="0">
            <a:scrgbClr r="0" g="0" b="0"/>
          </a:effectRef>
          <a:fontRef idx="minor"/>
        </p:style>
        <p:txBody>
          <a:bodyPr lIns="0" tIns="0" rIns="0" bIns="0" anchor="ctr">
            <a:normAutofit/>
          </a:bodyPr>
          <a:lstStyle/>
          <a:p>
            <a:endParaRPr lang="en-US" sz="900" b="0" u="none" strike="noStrike">
              <a:solidFill>
                <a:schemeClr val="dk1"/>
              </a:solidFill>
              <a:effectLst/>
              <a:uFillTx/>
              <a:latin typeface="Aptos"/>
            </a:endParaRPr>
          </a:p>
        </p:txBody>
      </p:sp>
      <p:sp>
        <p:nvSpPr>
          <p:cNvPr id="207" name="Text 18"/>
          <p:cNvSpPr/>
          <p:nvPr/>
        </p:nvSpPr>
        <p:spPr>
          <a:xfrm>
            <a:off x="940932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A</a:t>
            </a:r>
            <a:endParaRPr lang="en-US" sz="800" b="0" u="none" strike="noStrike">
              <a:solidFill>
                <a:srgbClr val="000000"/>
              </a:solidFill>
              <a:effectLst/>
              <a:uFillTx/>
              <a:latin typeface="Arial"/>
            </a:endParaRPr>
          </a:p>
        </p:txBody>
      </p:sp>
      <p:sp>
        <p:nvSpPr>
          <p:cNvPr id="208" name="Shape 19"/>
          <p:cNvSpPr/>
          <p:nvPr/>
        </p:nvSpPr>
        <p:spPr>
          <a:xfrm>
            <a:off x="955548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9" name="Text 20"/>
          <p:cNvSpPr/>
          <p:nvPr/>
        </p:nvSpPr>
        <p:spPr>
          <a:xfrm>
            <a:off x="977508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B</a:t>
            </a:r>
            <a:endParaRPr lang="en-US" sz="800" b="0" u="none" strike="noStrike">
              <a:solidFill>
                <a:srgbClr val="000000"/>
              </a:solidFill>
              <a:effectLst/>
              <a:uFillTx/>
              <a:latin typeface="Arial"/>
            </a:endParaRPr>
          </a:p>
        </p:txBody>
      </p:sp>
      <p:sp>
        <p:nvSpPr>
          <p:cNvPr id="210" name="Shape 21"/>
          <p:cNvSpPr/>
          <p:nvPr/>
        </p:nvSpPr>
        <p:spPr>
          <a:xfrm>
            <a:off x="992124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1" name="Text 22"/>
          <p:cNvSpPr/>
          <p:nvPr/>
        </p:nvSpPr>
        <p:spPr>
          <a:xfrm>
            <a:off x="1014084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C</a:t>
            </a:r>
            <a:endParaRPr lang="en-US" sz="800" b="0" u="none" strike="noStrike">
              <a:solidFill>
                <a:srgbClr val="000000"/>
              </a:solidFill>
              <a:effectLst/>
              <a:uFillTx/>
              <a:latin typeface="Arial"/>
            </a:endParaRPr>
          </a:p>
        </p:txBody>
      </p:sp>
      <p:sp>
        <p:nvSpPr>
          <p:cNvPr id="212" name="Shape 23"/>
          <p:cNvSpPr/>
          <p:nvPr/>
        </p:nvSpPr>
        <p:spPr>
          <a:xfrm>
            <a:off x="10287000" y="2880360"/>
            <a:ext cx="365760" cy="360"/>
          </a:xfrm>
          <a:prstGeom prst="line">
            <a:avLst/>
          </a:prstGeom>
          <a:ln w="15240">
            <a:solidFill>
              <a:srgbClr val="17724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3" name="Text 24"/>
          <p:cNvSpPr/>
          <p:nvPr/>
        </p:nvSpPr>
        <p:spPr>
          <a:xfrm>
            <a:off x="10506600" y="27342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00" b="1" u="none" strike="noStrike">
                <a:solidFill>
                  <a:srgbClr val="102A4C"/>
                </a:solidFill>
                <a:effectLst/>
                <a:uFillTx/>
                <a:latin typeface="Aptos"/>
              </a:rPr>
              <a:t>D</a:t>
            </a:r>
            <a:endParaRPr lang="en-US" sz="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1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21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Section 3.2: Example Search Problems</a:t>
            </a:r>
            <a:endParaRPr lang="en-US" sz="2600" b="0" u="none" strike="noStrike">
              <a:solidFill>
                <a:srgbClr val="000000"/>
              </a:solidFill>
              <a:effectLst/>
              <a:uFillTx/>
              <a:latin typeface="Arial"/>
            </a:endParaRPr>
          </a:p>
        </p:txBody>
      </p:sp>
      <p:sp>
        <p:nvSpPr>
          <p:cNvPr id="21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1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19" name="Text 5"/>
          <p:cNvSpPr/>
          <p:nvPr/>
        </p:nvSpPr>
        <p:spPr>
          <a:xfrm>
            <a:off x="822960" y="1508760"/>
            <a:ext cx="502884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Standardized problems</a:t>
            </a:r>
            <a:endParaRPr lang="en-US" sz="1700" b="0" u="none" strike="noStrike">
              <a:solidFill>
                <a:srgbClr val="000000"/>
              </a:solidFill>
              <a:effectLst/>
              <a:uFillTx/>
              <a:latin typeface="Arial"/>
            </a:endParaRPr>
          </a:p>
        </p:txBody>
      </p:sp>
      <p:sp>
        <p:nvSpPr>
          <p:cNvPr id="220" name="Text 6"/>
          <p:cNvSpPr/>
          <p:nvPr/>
        </p:nvSpPr>
        <p:spPr>
          <a:xfrm>
            <a:off x="105156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Grid worlds, vacuum world, Sokoban, sliding-tile puzzles, Knuth’s 4 problem</a:t>
            </a:r>
            <a:endParaRPr lang="en-US" sz="1600" b="0" u="none" strike="noStrike">
              <a:solidFill>
                <a:srgbClr val="000000"/>
              </a:solidFill>
              <a:effectLst/>
              <a:uFillTx/>
              <a:latin typeface="Arial"/>
            </a:endParaRPr>
          </a:p>
        </p:txBody>
      </p:sp>
      <p:sp>
        <p:nvSpPr>
          <p:cNvPr id="221" name="Text 7"/>
          <p:cNvSpPr/>
          <p:nvPr/>
        </p:nvSpPr>
        <p:spPr>
          <a:xfrm>
            <a:off x="105156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designed for precise algorithm comparison</a:t>
            </a:r>
            <a:endParaRPr lang="en-US" sz="1400" b="0" u="none" strike="noStrike">
              <a:solidFill>
                <a:srgbClr val="000000"/>
              </a:solidFill>
              <a:effectLst/>
              <a:uFillTx/>
              <a:latin typeface="Arial"/>
            </a:endParaRPr>
          </a:p>
        </p:txBody>
      </p:sp>
      <p:sp>
        <p:nvSpPr>
          <p:cNvPr id="222" name="Text 8"/>
          <p:cNvSpPr/>
          <p:nvPr/>
        </p:nvSpPr>
        <p:spPr>
          <a:xfrm>
            <a:off x="6400800" y="1508760"/>
            <a:ext cx="502884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Real-world problems</a:t>
            </a:r>
            <a:endParaRPr lang="en-US" sz="1700" b="0" u="none" strike="noStrike">
              <a:solidFill>
                <a:srgbClr val="000000"/>
              </a:solidFill>
              <a:effectLst/>
              <a:uFillTx/>
              <a:latin typeface="Arial"/>
            </a:endParaRPr>
          </a:p>
        </p:txBody>
      </p:sp>
      <p:sp>
        <p:nvSpPr>
          <p:cNvPr id="223" name="Text 9"/>
          <p:cNvSpPr/>
          <p:nvPr/>
        </p:nvSpPr>
        <p:spPr>
          <a:xfrm>
            <a:off x="6629400" y="2331720"/>
            <a:ext cx="45716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Route finding, airline planning, TSP, VLSI layout, robot navigation, assembly sequencing</a:t>
            </a:r>
            <a:endParaRPr lang="en-US" sz="1600" b="0" u="none" strike="noStrike">
              <a:solidFill>
                <a:srgbClr val="000000"/>
              </a:solidFill>
              <a:effectLst/>
              <a:uFillTx/>
              <a:latin typeface="Arial"/>
            </a:endParaRPr>
          </a:p>
        </p:txBody>
      </p:sp>
      <p:sp>
        <p:nvSpPr>
          <p:cNvPr id="224" name="Text 10"/>
          <p:cNvSpPr/>
          <p:nvPr/>
        </p:nvSpPr>
        <p:spPr>
          <a:xfrm>
            <a:off x="6629400" y="3657600"/>
            <a:ext cx="457164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5C6B80"/>
                </a:solidFill>
                <a:effectLst/>
                <a:uFillTx/>
                <a:latin typeface="Aptos"/>
              </a:rPr>
              <a:t>messy sensors, constraints, costs, and failure modes</a:t>
            </a:r>
            <a:endParaRPr lang="en-US" sz="1400" b="0" u="none" strike="noStrike">
              <a:solidFill>
                <a:srgbClr val="000000"/>
              </a:solidFill>
              <a:effectLst/>
              <a:uFillTx/>
              <a:latin typeface="Arial"/>
            </a:endParaRPr>
          </a:p>
        </p:txBody>
      </p:sp>
      <p:sp>
        <p:nvSpPr>
          <p:cNvPr id="225" name="Text 11"/>
          <p:cNvSpPr/>
          <p:nvPr/>
        </p:nvSpPr>
        <p:spPr>
          <a:xfrm>
            <a:off x="914400" y="5166360"/>
            <a:ext cx="103323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Benchmarking teaches algorithms; formulation determines whether algorithms help in practice.</a:t>
            </a:r>
            <a:endParaRPr lang="en-US"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26"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7"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28"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Grid Worlds and Sokoban</a:t>
            </a:r>
            <a:endParaRPr lang="en-US" sz="2600" b="0" u="none" strike="noStrike">
              <a:solidFill>
                <a:srgbClr val="000000"/>
              </a:solidFill>
              <a:effectLst/>
              <a:uFillTx/>
              <a:latin typeface="Arial"/>
            </a:endParaRPr>
          </a:p>
        </p:txBody>
      </p:sp>
      <p:sp>
        <p:nvSpPr>
          <p:cNvPr id="229"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30"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31" name="Rounded Rectangle 6"/>
          <p:cNvSpPr/>
          <p:nvPr/>
        </p:nvSpPr>
        <p:spPr>
          <a:xfrm>
            <a:off x="77724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Grid world: the general pattern</a:t>
            </a:r>
            <a:endParaRPr lang="en-US" sz="1400" b="0" u="none" strike="noStrike">
              <a:solidFill>
                <a:srgbClr val="000000"/>
              </a:solidFill>
              <a:effectLst/>
              <a:uFillTx/>
              <a:latin typeface="Arial"/>
            </a:endParaRPr>
          </a:p>
        </p:txBody>
      </p:sp>
      <p:sp>
        <p:nvSpPr>
          <p:cNvPr id="232" name="Rounded Rectangle 7"/>
          <p:cNvSpPr/>
          <p:nvPr/>
        </p:nvSpPr>
        <p:spPr>
          <a:xfrm>
            <a:off x="777240" y="187452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3" name="Rectangle 8"/>
          <p:cNvSpPr/>
          <p:nvPr/>
        </p:nvSpPr>
        <p:spPr>
          <a:xfrm>
            <a:off x="1005840" y="201168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rectangular array of cells; the agent moves between obstacle-free adjacent cells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Cells may hold objects the agent can pick up or push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Walls and obstacles block movement entirely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The vacuum world is a grid world: n cells gives n · 2ⁿ states</a:t>
            </a:r>
            <a:endParaRPr lang="en-US" sz="1300" b="0" u="none" strike="noStrike">
              <a:solidFill>
                <a:srgbClr val="000000"/>
              </a:solidFill>
              <a:effectLst/>
              <a:uFillTx/>
              <a:latin typeface="Arial"/>
            </a:endParaRPr>
          </a:p>
        </p:txBody>
      </p:sp>
      <p:sp>
        <p:nvSpPr>
          <p:cNvPr id="234" name="Rounded Rectangle 9"/>
          <p:cNvSpPr/>
          <p:nvPr/>
        </p:nvSpPr>
        <p:spPr>
          <a:xfrm>
            <a:off x="777240" y="3703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A real design choice: how to name the actions</a:t>
            </a:r>
            <a:endParaRPr lang="en-US" sz="1350" b="0" u="none" strike="noStrike">
              <a:solidFill>
                <a:srgbClr val="000000"/>
              </a:solidFill>
              <a:effectLst/>
              <a:uFillTx/>
              <a:latin typeface="Arial"/>
            </a:endParaRPr>
          </a:p>
        </p:txBody>
      </p:sp>
      <p:sp>
        <p:nvSpPr>
          <p:cNvPr id="235" name="Rounded Rectangle 10"/>
          <p:cNvSpPr/>
          <p:nvPr/>
        </p:nvSpPr>
        <p:spPr>
          <a:xfrm>
            <a:off x="777240" y="4160520"/>
            <a:ext cx="502884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6" name="Rectangle 11"/>
          <p:cNvSpPr/>
          <p:nvPr/>
        </p:nvSpPr>
        <p:spPr>
          <a:xfrm>
            <a:off x="1005840" y="4251960"/>
            <a:ext cx="45716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50" b="0" u="none" strike="noStrike">
                <a:solidFill>
                  <a:srgbClr val="102A4C"/>
                </a:solidFill>
                <a:effectLst/>
                <a:uFillTx/>
                <a:latin typeface="Aptos"/>
              </a:rPr>
              <a:t>Absolute: Up, Down, Left, Right — four actions, no orientation in the state.   Egocentric: Forward, Backward, TurnLeft, TurnRight — fewer move actions, but the state must now carry a facing.</a:t>
            </a:r>
            <a:endParaRPr lang="en-US" sz="1250" b="0" u="none" strike="noStrike">
              <a:solidFill>
                <a:srgbClr val="000000"/>
              </a:solidFill>
              <a:effectLst/>
              <a:uFillTx/>
              <a:latin typeface="Arial"/>
            </a:endParaRPr>
          </a:p>
        </p:txBody>
      </p:sp>
      <p:sp>
        <p:nvSpPr>
          <p:cNvPr id="237" name="Rounded Rectangle 12"/>
          <p:cNvSpPr/>
          <p:nvPr/>
        </p:nvSpPr>
        <p:spPr>
          <a:xfrm>
            <a:off x="638568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Sokoban</a:t>
            </a:r>
            <a:endParaRPr lang="en-US" sz="1400" b="0" u="none" strike="noStrike">
              <a:solidFill>
                <a:srgbClr val="000000"/>
              </a:solidFill>
              <a:effectLst/>
              <a:uFillTx/>
              <a:latin typeface="Arial"/>
            </a:endParaRPr>
          </a:p>
        </p:txBody>
      </p:sp>
      <p:sp>
        <p:nvSpPr>
          <p:cNvPr id="238" name="Rectangle 13"/>
          <p:cNvSpPr/>
          <p:nvPr/>
        </p:nvSpPr>
        <p:spPr>
          <a:xfrm>
            <a:off x="67057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39" name="Rectangle 14"/>
          <p:cNvSpPr/>
          <p:nvPr/>
        </p:nvSpPr>
        <p:spPr>
          <a:xfrm>
            <a:off x="702576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0" name="Rectangle 15"/>
          <p:cNvSpPr/>
          <p:nvPr/>
        </p:nvSpPr>
        <p:spPr>
          <a:xfrm>
            <a:off x="734580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1" name="Rectangle 16"/>
          <p:cNvSpPr/>
          <p:nvPr/>
        </p:nvSpPr>
        <p:spPr>
          <a:xfrm>
            <a:off x="766584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2" name="Rectangle 17"/>
          <p:cNvSpPr/>
          <p:nvPr/>
        </p:nvSpPr>
        <p:spPr>
          <a:xfrm>
            <a:off x="7985880" y="196596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3" name="Rectangle 18"/>
          <p:cNvSpPr/>
          <p:nvPr/>
        </p:nvSpPr>
        <p:spPr>
          <a:xfrm>
            <a:off x="8305920" y="196596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4" name="Rectangle 19"/>
          <p:cNvSpPr/>
          <p:nvPr/>
        </p:nvSpPr>
        <p:spPr>
          <a:xfrm>
            <a:off x="67057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5" name="Rectangle 20"/>
          <p:cNvSpPr/>
          <p:nvPr/>
        </p:nvSpPr>
        <p:spPr>
          <a:xfrm>
            <a:off x="702576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6" name="Rectangle 21"/>
          <p:cNvSpPr/>
          <p:nvPr/>
        </p:nvSpPr>
        <p:spPr>
          <a:xfrm>
            <a:off x="734580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7" name="Rectangle 22"/>
          <p:cNvSpPr/>
          <p:nvPr/>
        </p:nvSpPr>
        <p:spPr>
          <a:xfrm>
            <a:off x="7414200" y="235476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8" name="Rectangle 23"/>
          <p:cNvSpPr/>
          <p:nvPr/>
        </p:nvSpPr>
        <p:spPr>
          <a:xfrm>
            <a:off x="766584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49" name="Rectangle 24"/>
          <p:cNvSpPr/>
          <p:nvPr/>
        </p:nvSpPr>
        <p:spPr>
          <a:xfrm>
            <a:off x="798588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0" name="Rectangle 25"/>
          <p:cNvSpPr/>
          <p:nvPr/>
        </p:nvSpPr>
        <p:spPr>
          <a:xfrm>
            <a:off x="8305920" y="228600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1" name="Rectangle 26"/>
          <p:cNvSpPr/>
          <p:nvPr/>
        </p:nvSpPr>
        <p:spPr>
          <a:xfrm>
            <a:off x="67057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2" name="Rectangle 27"/>
          <p:cNvSpPr/>
          <p:nvPr/>
        </p:nvSpPr>
        <p:spPr>
          <a:xfrm>
            <a:off x="702576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3" name="Oval 28"/>
          <p:cNvSpPr/>
          <p:nvPr/>
        </p:nvSpPr>
        <p:spPr>
          <a:xfrm>
            <a:off x="7082640" y="2663280"/>
            <a:ext cx="205560" cy="205560"/>
          </a:xfrm>
          <a:prstGeom prst="ellipse">
            <a:avLst/>
          </a:prstGeom>
          <a:solidFill>
            <a:srgbClr val="2F7FD5"/>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254" name="Rectangle 29"/>
          <p:cNvSpPr/>
          <p:nvPr/>
        </p:nvSpPr>
        <p:spPr>
          <a:xfrm>
            <a:off x="734580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5" name="Rectangle 30"/>
          <p:cNvSpPr/>
          <p:nvPr/>
        </p:nvSpPr>
        <p:spPr>
          <a:xfrm>
            <a:off x="766584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6" name="Rectangle 31"/>
          <p:cNvSpPr/>
          <p:nvPr/>
        </p:nvSpPr>
        <p:spPr>
          <a:xfrm>
            <a:off x="7734240" y="2674800"/>
            <a:ext cx="182520" cy="182520"/>
          </a:xfrm>
          <a:prstGeom prst="rect">
            <a:avLst/>
          </a:prstGeom>
          <a:solidFill>
            <a:srgbClr val="112E5C"/>
          </a:solidFill>
          <a:ln w="9525">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7" name="Rectangle 32"/>
          <p:cNvSpPr/>
          <p:nvPr/>
        </p:nvSpPr>
        <p:spPr>
          <a:xfrm>
            <a:off x="798588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8" name="Rectangle 33"/>
          <p:cNvSpPr/>
          <p:nvPr/>
        </p:nvSpPr>
        <p:spPr>
          <a:xfrm>
            <a:off x="8305920" y="260604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59" name="Rectangle 34"/>
          <p:cNvSpPr/>
          <p:nvPr/>
        </p:nvSpPr>
        <p:spPr>
          <a:xfrm>
            <a:off x="67057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0" name="Rectangle 35"/>
          <p:cNvSpPr/>
          <p:nvPr/>
        </p:nvSpPr>
        <p:spPr>
          <a:xfrm>
            <a:off x="702576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1" name="Rectangle 36"/>
          <p:cNvSpPr/>
          <p:nvPr/>
        </p:nvSpPr>
        <p:spPr>
          <a:xfrm>
            <a:off x="734580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2" name="Rectangle 37"/>
          <p:cNvSpPr/>
          <p:nvPr/>
        </p:nvSpPr>
        <p:spPr>
          <a:xfrm>
            <a:off x="766584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3" name="Rectangle 38"/>
          <p:cNvSpPr/>
          <p:nvPr/>
        </p:nvSpPr>
        <p:spPr>
          <a:xfrm>
            <a:off x="7985880" y="2926080"/>
            <a:ext cx="319680" cy="319680"/>
          </a:xfrm>
          <a:prstGeom prst="rect">
            <a:avLst/>
          </a:prstGeom>
          <a:solidFill>
            <a:srgbClr val="FFE5B6"/>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4" name="Rectangle 39"/>
          <p:cNvSpPr/>
          <p:nvPr/>
        </p:nvSpPr>
        <p:spPr>
          <a:xfrm>
            <a:off x="8305920" y="292608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5" name="Rectangle 40"/>
          <p:cNvSpPr/>
          <p:nvPr/>
        </p:nvSpPr>
        <p:spPr>
          <a:xfrm>
            <a:off x="67057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6" name="Rectangle 41"/>
          <p:cNvSpPr/>
          <p:nvPr/>
        </p:nvSpPr>
        <p:spPr>
          <a:xfrm>
            <a:off x="702576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7" name="Rectangle 42"/>
          <p:cNvSpPr/>
          <p:nvPr/>
        </p:nvSpPr>
        <p:spPr>
          <a:xfrm>
            <a:off x="734580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8" name="Rectangle 43"/>
          <p:cNvSpPr/>
          <p:nvPr/>
        </p:nvSpPr>
        <p:spPr>
          <a:xfrm>
            <a:off x="766584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69" name="Rectangle 44"/>
          <p:cNvSpPr/>
          <p:nvPr/>
        </p:nvSpPr>
        <p:spPr>
          <a:xfrm>
            <a:off x="7985880" y="3246120"/>
            <a:ext cx="319680" cy="31968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0" name="Rectangle 45"/>
          <p:cNvSpPr/>
          <p:nvPr/>
        </p:nvSpPr>
        <p:spPr>
          <a:xfrm>
            <a:off x="8305920" y="3246120"/>
            <a:ext cx="319680" cy="319680"/>
          </a:xfrm>
          <a:prstGeom prst="rect">
            <a:avLst/>
          </a:prstGeom>
          <a:solidFill>
            <a:srgbClr val="D8DEE8"/>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1" name="Rectangle 46"/>
          <p:cNvSpPr/>
          <p:nvPr/>
        </p:nvSpPr>
        <p:spPr>
          <a:xfrm>
            <a:off x="670572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2F7FD5"/>
                </a:solidFill>
                <a:effectLst/>
                <a:uFillTx/>
                <a:latin typeface="Aptos"/>
              </a:rPr>
              <a:t>agent</a:t>
            </a:r>
            <a:endParaRPr lang="en-US" sz="1100" b="0" u="none" strike="noStrike">
              <a:solidFill>
                <a:srgbClr val="000000"/>
              </a:solidFill>
              <a:effectLst/>
              <a:uFillTx/>
              <a:latin typeface="Arial"/>
            </a:endParaRPr>
          </a:p>
        </p:txBody>
      </p:sp>
      <p:sp>
        <p:nvSpPr>
          <p:cNvPr id="272" name="Rectangle 47"/>
          <p:cNvSpPr/>
          <p:nvPr/>
        </p:nvSpPr>
        <p:spPr>
          <a:xfrm>
            <a:off x="812304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112E5C"/>
                </a:solidFill>
                <a:effectLst/>
                <a:uFillTx/>
                <a:latin typeface="Aptos"/>
              </a:rPr>
              <a:t>box</a:t>
            </a:r>
            <a:endParaRPr lang="en-US" sz="1100" b="0" u="none" strike="noStrike">
              <a:solidFill>
                <a:srgbClr val="000000"/>
              </a:solidFill>
              <a:effectLst/>
              <a:uFillTx/>
              <a:latin typeface="Arial"/>
            </a:endParaRPr>
          </a:p>
        </p:txBody>
      </p:sp>
      <p:sp>
        <p:nvSpPr>
          <p:cNvPr id="273" name="Rectangle 48"/>
          <p:cNvSpPr/>
          <p:nvPr/>
        </p:nvSpPr>
        <p:spPr>
          <a:xfrm>
            <a:off x="9586080" y="3611880"/>
            <a:ext cx="118836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00" b="1" u="none" strike="noStrike">
                <a:solidFill>
                  <a:srgbClr val="F6A01A"/>
                </a:solidFill>
                <a:effectLst/>
                <a:uFillTx/>
                <a:latin typeface="Aptos"/>
              </a:rPr>
              <a:t>storage</a:t>
            </a:r>
            <a:endParaRPr lang="en-US" sz="1100" b="0" u="none" strike="noStrike">
              <a:solidFill>
                <a:srgbClr val="000000"/>
              </a:solidFill>
              <a:effectLst/>
              <a:uFillTx/>
              <a:latin typeface="Arial"/>
            </a:endParaRPr>
          </a:p>
        </p:txBody>
      </p:sp>
      <p:sp>
        <p:nvSpPr>
          <p:cNvPr id="274" name="Rounded Rectangle 49"/>
          <p:cNvSpPr/>
          <p:nvPr/>
        </p:nvSpPr>
        <p:spPr>
          <a:xfrm>
            <a:off x="6385680" y="3931920"/>
            <a:ext cx="5028840" cy="10512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5" name="Rectangle 50"/>
          <p:cNvSpPr/>
          <p:nvPr/>
        </p:nvSpPr>
        <p:spPr>
          <a:xfrm>
            <a:off x="6614280" y="4023360"/>
            <a:ext cx="4571640" cy="86832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Push a box only if the cell beyond it is empty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At most one box per cell; no pushing a box into a box or a wall</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An 8 × 8 grid with a dozen boxes: over 200 trillion states</a:t>
            </a:r>
            <a:endParaRPr lang="en-US" sz="1250" b="0" u="none" strike="noStrike">
              <a:solidFill>
                <a:srgbClr val="000000"/>
              </a:solidFill>
              <a:effectLst/>
              <a:uFillTx/>
              <a:latin typeface="Arial"/>
            </a:endParaRPr>
          </a:p>
        </p:txBody>
      </p:sp>
      <p:sp>
        <p:nvSpPr>
          <p:cNvPr id="276" name="Rectangle 51"/>
          <p:cNvSpPr/>
          <p:nvPr/>
        </p:nvSpPr>
        <p:spPr>
          <a:xfrm>
            <a:off x="914400" y="5166360"/>
            <a:ext cx="1042380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Same movement rules, wildly different state spaces because Sokoban's state must track where every box is.</a:t>
            </a:r>
            <a:endParaRPr lang="en-US" sz="17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7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7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Worked Example: The 8-Puzzle</a:t>
            </a:r>
            <a:endParaRPr lang="en-US" sz="2600" b="0" u="none" strike="noStrike">
              <a:solidFill>
                <a:srgbClr val="000000"/>
              </a:solidFill>
              <a:effectLst/>
              <a:uFillTx/>
              <a:latin typeface="Arial"/>
            </a:endParaRPr>
          </a:p>
        </p:txBody>
      </p:sp>
      <p:sp>
        <p:nvSpPr>
          <p:cNvPr id="28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28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82" name="Rectangle 6"/>
          <p:cNvSpPr/>
          <p:nvPr/>
        </p:nvSpPr>
        <p:spPr>
          <a:xfrm>
            <a:off x="100584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283" name="Rectangle 7"/>
          <p:cNvSpPr/>
          <p:nvPr/>
        </p:nvSpPr>
        <p:spPr>
          <a:xfrm>
            <a:off x="150876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84" name="Rectangle 8"/>
          <p:cNvSpPr/>
          <p:nvPr/>
        </p:nvSpPr>
        <p:spPr>
          <a:xfrm>
            <a:off x="201168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85" name="Rectangle 9"/>
          <p:cNvSpPr/>
          <p:nvPr/>
        </p:nvSpPr>
        <p:spPr>
          <a:xfrm>
            <a:off x="100584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86" name="Rectangle 10"/>
          <p:cNvSpPr/>
          <p:nvPr/>
        </p:nvSpPr>
        <p:spPr>
          <a:xfrm>
            <a:off x="1508760" y="246888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87" name="Rectangle 11"/>
          <p:cNvSpPr/>
          <p:nvPr/>
        </p:nvSpPr>
        <p:spPr>
          <a:xfrm>
            <a:off x="2011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88" name="Rectangle 12"/>
          <p:cNvSpPr/>
          <p:nvPr/>
        </p:nvSpPr>
        <p:spPr>
          <a:xfrm>
            <a:off x="100584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289" name="Rectangle 13"/>
          <p:cNvSpPr/>
          <p:nvPr/>
        </p:nvSpPr>
        <p:spPr>
          <a:xfrm>
            <a:off x="150876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0" name="Rectangle 14"/>
          <p:cNvSpPr/>
          <p:nvPr/>
        </p:nvSpPr>
        <p:spPr>
          <a:xfrm>
            <a:off x="2011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1" name="Rectangle 15"/>
          <p:cNvSpPr/>
          <p:nvPr/>
        </p:nvSpPr>
        <p:spPr>
          <a:xfrm>
            <a:off x="86868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Start state</a:t>
            </a:r>
            <a:endParaRPr lang="en-US" sz="1150" b="0" u="none" strike="noStrike">
              <a:solidFill>
                <a:srgbClr val="000000"/>
              </a:solidFill>
              <a:effectLst/>
              <a:uFillTx/>
              <a:latin typeface="Arial"/>
            </a:endParaRPr>
          </a:p>
        </p:txBody>
      </p:sp>
      <p:sp>
        <p:nvSpPr>
          <p:cNvPr id="292" name="Rectangle 16"/>
          <p:cNvSpPr/>
          <p:nvPr/>
        </p:nvSpPr>
        <p:spPr>
          <a:xfrm>
            <a:off x="3154680" y="1965960"/>
            <a:ext cx="502560" cy="502560"/>
          </a:xfrm>
          <a:prstGeom prst="rect">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293" name="Rectangle 17"/>
          <p:cNvSpPr/>
          <p:nvPr/>
        </p:nvSpPr>
        <p:spPr>
          <a:xfrm>
            <a:off x="365760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1</a:t>
            </a:r>
            <a:endParaRPr lang="en-US" sz="1700" b="0" u="none" strike="noStrike">
              <a:solidFill>
                <a:srgbClr val="000000"/>
              </a:solidFill>
              <a:effectLst/>
              <a:uFillTx/>
              <a:latin typeface="Arial"/>
            </a:endParaRPr>
          </a:p>
        </p:txBody>
      </p:sp>
      <p:sp>
        <p:nvSpPr>
          <p:cNvPr id="294" name="Rectangle 18"/>
          <p:cNvSpPr/>
          <p:nvPr/>
        </p:nvSpPr>
        <p:spPr>
          <a:xfrm>
            <a:off x="4160520" y="196596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2</a:t>
            </a:r>
            <a:endParaRPr lang="en-US" sz="1700" b="0" u="none" strike="noStrike">
              <a:solidFill>
                <a:srgbClr val="000000"/>
              </a:solidFill>
              <a:effectLst/>
              <a:uFillTx/>
              <a:latin typeface="Arial"/>
            </a:endParaRPr>
          </a:p>
        </p:txBody>
      </p:sp>
      <p:sp>
        <p:nvSpPr>
          <p:cNvPr id="295" name="Rectangle 19"/>
          <p:cNvSpPr/>
          <p:nvPr/>
        </p:nvSpPr>
        <p:spPr>
          <a:xfrm>
            <a:off x="315468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3</a:t>
            </a:r>
            <a:endParaRPr lang="en-US" sz="1700" b="0" u="none" strike="noStrike">
              <a:solidFill>
                <a:srgbClr val="000000"/>
              </a:solidFill>
              <a:effectLst/>
              <a:uFillTx/>
              <a:latin typeface="Arial"/>
            </a:endParaRPr>
          </a:p>
        </p:txBody>
      </p:sp>
      <p:sp>
        <p:nvSpPr>
          <p:cNvPr id="296" name="Rectangle 20"/>
          <p:cNvSpPr/>
          <p:nvPr/>
        </p:nvSpPr>
        <p:spPr>
          <a:xfrm>
            <a:off x="365760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4</a:t>
            </a:r>
            <a:endParaRPr lang="en-US" sz="1700" b="0" u="none" strike="noStrike">
              <a:solidFill>
                <a:srgbClr val="000000"/>
              </a:solidFill>
              <a:effectLst/>
              <a:uFillTx/>
              <a:latin typeface="Arial"/>
            </a:endParaRPr>
          </a:p>
        </p:txBody>
      </p:sp>
      <p:sp>
        <p:nvSpPr>
          <p:cNvPr id="297" name="Rectangle 21"/>
          <p:cNvSpPr/>
          <p:nvPr/>
        </p:nvSpPr>
        <p:spPr>
          <a:xfrm>
            <a:off x="4160520" y="246888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5</a:t>
            </a:r>
            <a:endParaRPr lang="en-US" sz="1700" b="0" u="none" strike="noStrike">
              <a:solidFill>
                <a:srgbClr val="000000"/>
              </a:solidFill>
              <a:effectLst/>
              <a:uFillTx/>
              <a:latin typeface="Arial"/>
            </a:endParaRPr>
          </a:p>
        </p:txBody>
      </p:sp>
      <p:sp>
        <p:nvSpPr>
          <p:cNvPr id="298" name="Rectangle 22"/>
          <p:cNvSpPr/>
          <p:nvPr/>
        </p:nvSpPr>
        <p:spPr>
          <a:xfrm>
            <a:off x="315468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6</a:t>
            </a:r>
            <a:endParaRPr lang="en-US" sz="1700" b="0" u="none" strike="noStrike">
              <a:solidFill>
                <a:srgbClr val="000000"/>
              </a:solidFill>
              <a:effectLst/>
              <a:uFillTx/>
              <a:latin typeface="Arial"/>
            </a:endParaRPr>
          </a:p>
        </p:txBody>
      </p:sp>
      <p:sp>
        <p:nvSpPr>
          <p:cNvPr id="299" name="Rectangle 23"/>
          <p:cNvSpPr/>
          <p:nvPr/>
        </p:nvSpPr>
        <p:spPr>
          <a:xfrm>
            <a:off x="365760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7</a:t>
            </a:r>
            <a:endParaRPr lang="en-US" sz="1700" b="0" u="none" strike="noStrike">
              <a:solidFill>
                <a:srgbClr val="000000"/>
              </a:solidFill>
              <a:effectLst/>
              <a:uFillTx/>
              <a:latin typeface="Arial"/>
            </a:endParaRPr>
          </a:p>
        </p:txBody>
      </p:sp>
      <p:sp>
        <p:nvSpPr>
          <p:cNvPr id="300" name="Rectangle 24"/>
          <p:cNvSpPr/>
          <p:nvPr/>
        </p:nvSpPr>
        <p:spPr>
          <a:xfrm>
            <a:off x="4160520" y="2971800"/>
            <a:ext cx="502560" cy="502560"/>
          </a:xfrm>
          <a:prstGeom prst="rect">
            <a:avLst/>
          </a:prstGeom>
          <a:solidFill>
            <a:srgbClr val="FFFF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112E5C"/>
                </a:solidFill>
                <a:effectLst/>
                <a:uFillTx/>
                <a:latin typeface="Aptos"/>
              </a:rPr>
              <a:t>8</a:t>
            </a:r>
            <a:endParaRPr lang="en-US" sz="1700" b="0" u="none" strike="noStrike">
              <a:solidFill>
                <a:srgbClr val="000000"/>
              </a:solidFill>
              <a:effectLst/>
              <a:uFillTx/>
              <a:latin typeface="Arial"/>
            </a:endParaRPr>
          </a:p>
        </p:txBody>
      </p:sp>
      <p:sp>
        <p:nvSpPr>
          <p:cNvPr id="301" name="Rectangle 25"/>
          <p:cNvSpPr/>
          <p:nvPr/>
        </p:nvSpPr>
        <p:spPr>
          <a:xfrm>
            <a:off x="3017520" y="3566160"/>
            <a:ext cx="17827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Goal state</a:t>
            </a:r>
            <a:endParaRPr lang="en-US" sz="1150" b="0" u="none" strike="noStrike">
              <a:solidFill>
                <a:srgbClr val="000000"/>
              </a:solidFill>
              <a:effectLst/>
              <a:uFillTx/>
              <a:latin typeface="Arial"/>
            </a:endParaRPr>
          </a:p>
        </p:txBody>
      </p:sp>
      <p:sp>
        <p:nvSpPr>
          <p:cNvPr id="302" name="Right Arrow 26"/>
          <p:cNvSpPr/>
          <p:nvPr/>
        </p:nvSpPr>
        <p:spPr>
          <a:xfrm>
            <a:off x="2606040" y="3017520"/>
            <a:ext cx="456840" cy="228240"/>
          </a:xfrm>
          <a:prstGeom prst="rightArrow">
            <a:avLst>
              <a:gd name="adj1" fmla="val 50000"/>
              <a:gd name="adj2" fmla="val 50000"/>
            </a:avLst>
          </a:prstGeom>
          <a:solidFill>
            <a:srgbClr val="F6A01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Aptos"/>
            </a:endParaRPr>
          </a:p>
        </p:txBody>
      </p:sp>
      <p:sp>
        <p:nvSpPr>
          <p:cNvPr id="303" name="Rounded Rectangle 27"/>
          <p:cNvSpPr/>
          <p:nvPr/>
        </p:nvSpPr>
        <p:spPr>
          <a:xfrm>
            <a:off x="530352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304" name="Rectangle 28"/>
          <p:cNvSpPr/>
          <p:nvPr/>
        </p:nvSpPr>
        <p:spPr>
          <a:xfrm>
            <a:off x="7223760" y="14173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Location of each tile and of the blank in the 3 × 3 grid</a:t>
            </a:r>
            <a:endParaRPr lang="en-US" sz="1300" b="0" u="none" strike="noStrike">
              <a:solidFill>
                <a:srgbClr val="000000"/>
              </a:solidFill>
              <a:effectLst/>
              <a:uFillTx/>
              <a:latin typeface="Arial"/>
            </a:endParaRPr>
          </a:p>
        </p:txBody>
      </p:sp>
      <p:sp>
        <p:nvSpPr>
          <p:cNvPr id="305" name="Rounded Rectangle 29"/>
          <p:cNvSpPr/>
          <p:nvPr/>
        </p:nvSpPr>
        <p:spPr>
          <a:xfrm>
            <a:off x="5303520" y="19659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306" name="Rectangle 30"/>
          <p:cNvSpPr/>
          <p:nvPr/>
        </p:nvSpPr>
        <p:spPr>
          <a:xfrm>
            <a:off x="7223760" y="196596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configuration; a parity property makes only half reachable</a:t>
            </a:r>
            <a:endParaRPr lang="en-US" sz="1300" b="0" u="none" strike="noStrike">
              <a:solidFill>
                <a:srgbClr val="000000"/>
              </a:solidFill>
              <a:effectLst/>
              <a:uFillTx/>
              <a:latin typeface="Arial"/>
            </a:endParaRPr>
          </a:p>
        </p:txBody>
      </p:sp>
      <p:sp>
        <p:nvSpPr>
          <p:cNvPr id="307" name="Rounded Rectangle 31"/>
          <p:cNvSpPr/>
          <p:nvPr/>
        </p:nvSpPr>
        <p:spPr>
          <a:xfrm>
            <a:off x="5303520" y="25146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308" name="Rectangle 32"/>
          <p:cNvSpPr/>
          <p:nvPr/>
        </p:nvSpPr>
        <p:spPr>
          <a:xfrm>
            <a:off x="7223760" y="251460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Move the blank Left, Right, Up, or Down</a:t>
            </a:r>
            <a:endParaRPr lang="en-US" sz="1300" b="0" u="none" strike="noStrike">
              <a:solidFill>
                <a:srgbClr val="000000"/>
              </a:solidFill>
              <a:effectLst/>
              <a:uFillTx/>
              <a:latin typeface="Arial"/>
            </a:endParaRPr>
          </a:p>
        </p:txBody>
      </p:sp>
      <p:sp>
        <p:nvSpPr>
          <p:cNvPr id="309" name="Rounded Rectangle 33"/>
          <p:cNvSpPr/>
          <p:nvPr/>
        </p:nvSpPr>
        <p:spPr>
          <a:xfrm>
            <a:off x="5303520" y="3063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310" name="Rectangle 34"/>
          <p:cNvSpPr/>
          <p:nvPr/>
        </p:nvSpPr>
        <p:spPr>
          <a:xfrm>
            <a:off x="7223760" y="306324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Applying Left to the start state swaps the 5 and the blank</a:t>
            </a:r>
            <a:endParaRPr lang="en-US" sz="1300" b="0" u="none" strike="noStrike">
              <a:solidFill>
                <a:srgbClr val="000000"/>
              </a:solidFill>
              <a:effectLst/>
              <a:uFillTx/>
              <a:latin typeface="Arial"/>
            </a:endParaRPr>
          </a:p>
        </p:txBody>
      </p:sp>
      <p:sp>
        <p:nvSpPr>
          <p:cNvPr id="311" name="Rounded Rectangle 35"/>
          <p:cNvSpPr/>
          <p:nvPr/>
        </p:nvSpPr>
        <p:spPr>
          <a:xfrm>
            <a:off x="5303520" y="36118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312" name="Rectangle 36"/>
          <p:cNvSpPr/>
          <p:nvPr/>
        </p:nvSpPr>
        <p:spPr>
          <a:xfrm>
            <a:off x="7223760" y="361188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Tiles in the specified order, blank in the corner</a:t>
            </a:r>
            <a:endParaRPr lang="en-US" sz="1300" b="0" u="none" strike="noStrike">
              <a:solidFill>
                <a:srgbClr val="000000"/>
              </a:solidFill>
              <a:effectLst/>
              <a:uFillTx/>
              <a:latin typeface="Arial"/>
            </a:endParaRPr>
          </a:p>
        </p:txBody>
      </p:sp>
      <p:sp>
        <p:nvSpPr>
          <p:cNvPr id="313" name="Rounded Rectangle 37"/>
          <p:cNvSpPr/>
          <p:nvPr/>
        </p:nvSpPr>
        <p:spPr>
          <a:xfrm>
            <a:off x="5303520" y="41605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314" name="Rectangle 38"/>
          <p:cNvSpPr/>
          <p:nvPr/>
        </p:nvSpPr>
        <p:spPr>
          <a:xfrm>
            <a:off x="7223760" y="4160520"/>
            <a:ext cx="419076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move, so path cost = number of moves</a:t>
            </a:r>
            <a:endParaRPr lang="en-US" sz="1300" b="0" u="none" strike="noStrike">
              <a:solidFill>
                <a:srgbClr val="000000"/>
              </a:solidFill>
              <a:effectLst/>
              <a:uFillTx/>
              <a:latin typeface="Arial"/>
            </a:endParaRPr>
          </a:p>
        </p:txBody>
      </p:sp>
      <p:sp>
        <p:nvSpPr>
          <p:cNvPr id="315" name="Rectangle 39"/>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8-puzzle: 9!/2 = 181,440 reachable states.   15-puzzle: about 1.3 trillion.   24-puzzle: about 10²⁵.</a:t>
            </a:r>
            <a:endParaRPr lang="en-US" sz="1700" b="0" u="none" strike="noStrike">
              <a:solidFill>
                <a:srgbClr val="000000"/>
              </a:solidFill>
              <a:effectLst/>
              <a:uFillTx/>
              <a:latin typeface="Arial"/>
            </a:endParaRPr>
          </a:p>
        </p:txBody>
      </p:sp>
      <p:sp>
        <p:nvSpPr>
          <p:cNvPr id="316" name="Rectangle 40"/>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Even this is an abstraction: no sliding motion, no shaking the board, no prying tiles out with a knife.</a:t>
            </a:r>
            <a:endParaRPr lang="en-US" sz="15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1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1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Infinite State Spaces: Knuth's “4” Problem</a:t>
            </a:r>
            <a:endParaRPr lang="en-US" sz="2600" b="0" u="none" strike="noStrike">
              <a:solidFill>
                <a:srgbClr val="000000"/>
              </a:solidFill>
              <a:effectLst/>
              <a:uFillTx/>
              <a:latin typeface="Arial"/>
            </a:endParaRPr>
          </a:p>
        </p:txBody>
      </p:sp>
      <p:sp>
        <p:nvSpPr>
          <p:cNvPr id="32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2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22" name="Rounded Rectangle 6"/>
          <p:cNvSpPr/>
          <p:nvPr/>
        </p:nvSpPr>
        <p:spPr>
          <a:xfrm>
            <a:off x="777240" y="1417320"/>
            <a:ext cx="5028840" cy="25599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3" name="Rounded Rectangle 7"/>
          <p:cNvSpPr/>
          <p:nvPr/>
        </p:nvSpPr>
        <p:spPr>
          <a:xfrm>
            <a:off x="1005840" y="1280160"/>
            <a:ext cx="20113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The formulation</a:t>
            </a:r>
            <a:endParaRPr lang="en-US" sz="1300" b="0" u="none" strike="noStrike">
              <a:solidFill>
                <a:srgbClr val="000000"/>
              </a:solidFill>
              <a:effectLst/>
              <a:uFillTx/>
              <a:latin typeface="Arial"/>
            </a:endParaRPr>
          </a:p>
        </p:txBody>
      </p:sp>
      <p:sp>
        <p:nvSpPr>
          <p:cNvPr id="324" name="Rectangle 8"/>
          <p:cNvSpPr/>
          <p:nvPr/>
        </p:nvSpPr>
        <p:spPr>
          <a:xfrm>
            <a:off x="1051560" y="1920240"/>
            <a:ext cx="4480200" cy="191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1" u="none" strike="noStrike">
                <a:solidFill>
                  <a:srgbClr val="112E5C"/>
                </a:solidFill>
                <a:effectLst/>
                <a:uFillTx/>
                <a:latin typeface="Aptos"/>
              </a:rPr>
              <a:t>States:  </a:t>
            </a:r>
            <a:r>
              <a:rPr lang="en-US" sz="1350" b="0" u="none" strike="noStrike">
                <a:solidFill>
                  <a:srgbClr val="102A4C"/>
                </a:solidFill>
                <a:effectLst/>
                <a:uFillTx/>
                <a:latin typeface="Aptos"/>
              </a:rPr>
              <a:t>positive real numbers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Initial state:  </a:t>
            </a:r>
            <a:r>
              <a:rPr lang="en-US" sz="1350" b="0" u="none" strike="noStrike">
                <a:solidFill>
                  <a:srgbClr val="102A4C"/>
                </a:solidFill>
                <a:effectLst/>
                <a:uFillTx/>
                <a:latin typeface="Aptos"/>
              </a:rPr>
              <a:t>4</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Actions:  </a:t>
            </a:r>
            <a:r>
              <a:rPr lang="en-US" sz="1350" b="0" u="none" strike="noStrike">
                <a:solidFill>
                  <a:srgbClr val="102A4C"/>
                </a:solidFill>
                <a:effectLst/>
                <a:uFillTx/>
                <a:latin typeface="Aptos"/>
              </a:rPr>
              <a:t>square root, floor, factorial (factorial on integers only)</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Transition:  </a:t>
            </a:r>
            <a:r>
              <a:rPr lang="en-US" sz="1350" b="0" u="none" strike="noStrike">
                <a:solidFill>
                  <a:srgbClr val="102A4C"/>
                </a:solidFill>
                <a:effectLst/>
                <a:uFillTx/>
                <a:latin typeface="Aptos"/>
              </a:rPr>
              <a:t>as given by the mathematical definitions</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Goal state:  </a:t>
            </a:r>
            <a:r>
              <a:rPr lang="en-US" sz="1350" b="0" u="none" strike="noStrike">
                <a:solidFill>
                  <a:srgbClr val="102A4C"/>
                </a:solidFill>
                <a:effectLst/>
                <a:uFillTx/>
                <a:latin typeface="Aptos"/>
              </a:rPr>
              <a:t>the desired positive integer</a:t>
            </a:r>
            <a:endParaRPr lang="en-US" sz="1350" b="0" u="none" strike="noStrike">
              <a:solidFill>
                <a:srgbClr val="000000"/>
              </a:solidFill>
              <a:effectLst/>
              <a:uFillTx/>
              <a:latin typeface="Arial"/>
            </a:endParaRPr>
          </a:p>
          <a:p>
            <a:pPr defTabSz="914400">
              <a:lnSpc>
                <a:spcPct val="100000"/>
              </a:lnSpc>
              <a:spcAft>
                <a:spcPts val="799"/>
              </a:spcAft>
            </a:pPr>
            <a:r>
              <a:rPr lang="en-US" sz="1350" b="1" u="none" strike="noStrike">
                <a:solidFill>
                  <a:srgbClr val="112E5C"/>
                </a:solidFill>
                <a:effectLst/>
                <a:uFillTx/>
                <a:latin typeface="Aptos"/>
              </a:rPr>
              <a:t>Action cost:  </a:t>
            </a:r>
            <a:r>
              <a:rPr lang="en-US" sz="1350" b="0" u="none" strike="noStrike">
                <a:solidFill>
                  <a:srgbClr val="102A4C"/>
                </a:solidFill>
                <a:effectLst/>
                <a:uFillTx/>
                <a:latin typeface="Aptos"/>
              </a:rPr>
              <a:t>1 per operation</a:t>
            </a:r>
            <a:endParaRPr lang="en-US" sz="1350" b="0" u="none" strike="noStrike">
              <a:solidFill>
                <a:srgbClr val="000000"/>
              </a:solidFill>
              <a:effectLst/>
              <a:uFillTx/>
              <a:latin typeface="Arial"/>
            </a:endParaRPr>
          </a:p>
        </p:txBody>
      </p:sp>
      <p:sp>
        <p:nvSpPr>
          <p:cNvPr id="325" name="Rectangle 9"/>
          <p:cNvSpPr/>
          <p:nvPr/>
        </p:nvSpPr>
        <p:spPr>
          <a:xfrm>
            <a:off x="6385680" y="1554480"/>
            <a:ext cx="5028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000" b="1" u="none" strike="noStrike">
                <a:solidFill>
                  <a:srgbClr val="112E5C"/>
                </a:solidFill>
                <a:effectLst/>
                <a:uFillTx/>
                <a:latin typeface="Aptos"/>
              </a:rPr>
              <a:t>(4!)!</a:t>
            </a:r>
            <a:endParaRPr lang="en-US" sz="4000" b="0" u="none" strike="noStrike">
              <a:solidFill>
                <a:srgbClr val="000000"/>
              </a:solidFill>
              <a:effectLst/>
              <a:uFillTx/>
              <a:latin typeface="Arial"/>
            </a:endParaRPr>
          </a:p>
        </p:txBody>
      </p:sp>
      <p:sp>
        <p:nvSpPr>
          <p:cNvPr id="326" name="Rectangle 10"/>
          <p:cNvSpPr/>
          <p:nvPr/>
        </p:nvSpPr>
        <p:spPr>
          <a:xfrm>
            <a:off x="6385680" y="2057400"/>
            <a:ext cx="5028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the second step on the way to 5</a:t>
            </a:r>
            <a:endParaRPr lang="en-US" sz="1200" b="0" u="none" strike="noStrike">
              <a:solidFill>
                <a:srgbClr val="000000"/>
              </a:solidFill>
              <a:effectLst/>
              <a:uFillTx/>
              <a:latin typeface="Arial"/>
            </a:endParaRPr>
          </a:p>
        </p:txBody>
      </p:sp>
      <p:sp>
        <p:nvSpPr>
          <p:cNvPr id="327" name="Rectangle 11"/>
          <p:cNvSpPr/>
          <p:nvPr/>
        </p:nvSpPr>
        <p:spPr>
          <a:xfrm>
            <a:off x="6385680" y="242316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700" b="1" u="none" strike="noStrike">
                <a:solidFill>
                  <a:srgbClr val="9B1C1C"/>
                </a:solidFill>
                <a:effectLst/>
                <a:uFillTx/>
                <a:latin typeface="Aptos"/>
              </a:rPr>
              <a:t>620,448,401,733,239,439,360,000</a:t>
            </a:r>
            <a:endParaRPr lang="en-US" sz="1700" b="0" u="none" strike="noStrike">
              <a:solidFill>
                <a:srgbClr val="000000"/>
              </a:solidFill>
              <a:effectLst/>
              <a:uFillTx/>
              <a:latin typeface="Arial"/>
            </a:endParaRPr>
          </a:p>
        </p:txBody>
      </p:sp>
      <p:sp>
        <p:nvSpPr>
          <p:cNvPr id="328" name="Rounded Rectangle 12"/>
          <p:cNvSpPr/>
          <p:nvPr/>
        </p:nvSpPr>
        <p:spPr>
          <a:xfrm>
            <a:off x="6385680" y="2971800"/>
            <a:ext cx="5028840" cy="100548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29" name="Rectangle 13"/>
          <p:cNvSpPr/>
          <p:nvPr/>
        </p:nvSpPr>
        <p:spPr>
          <a:xfrm>
            <a:off x="6614280" y="306324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0" u="none" strike="noStrike">
                <a:solidFill>
                  <a:srgbClr val="112E5C"/>
                </a:solidFill>
                <a:effectLst/>
                <a:uFillTx/>
                <a:latin typeface="Aptos"/>
              </a:rPr>
              <a:t>Knuth conjectured that starting from 4, some sequence of square root, floor, and factorial reaches any desired positive integer.</a:t>
            </a:r>
            <a:endParaRPr lang="en-US" sz="1350" b="0" u="none" strike="noStrike">
              <a:solidFill>
                <a:srgbClr val="000000"/>
              </a:solidFill>
              <a:effectLst/>
              <a:uFillTx/>
              <a:latin typeface="Arial"/>
            </a:endParaRPr>
          </a:p>
        </p:txBody>
      </p:sp>
      <p:sp>
        <p:nvSpPr>
          <p:cNvPr id="330"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space is infinite: for any integer greater than 2, factorial always yields a larger integer.</a:t>
            </a:r>
            <a:endParaRPr lang="en-US" sz="1700" b="0" u="none" strike="noStrike">
              <a:solidFill>
                <a:srgbClr val="000000"/>
              </a:solidFill>
              <a:effectLst/>
              <a:uFillTx/>
              <a:latin typeface="Arial"/>
            </a:endParaRPr>
          </a:p>
        </p:txBody>
      </p:sp>
      <p:sp>
        <p:nvSpPr>
          <p:cNvPr id="331" name="Rectangle 15"/>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So an algorithm can generate a new state on every single step and still never reach most of the space. That is the completeness problem in Section 3.3.4.</a:t>
            </a:r>
            <a:endParaRPr lang="en-US" sz="1500" b="0" u="none" strike="noStrike">
              <a:solidFill>
                <a:srgbClr val="000000"/>
              </a:solidFill>
              <a:effectLst/>
              <a:uFillTx/>
              <a:latin typeface="Arial"/>
            </a:endParaRPr>
          </a:p>
        </p:txBody>
      </p:sp>
      <p:sp>
        <p:nvSpPr>
          <p:cNvPr id="332" name="Rectangle 16"/>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Infinite state spaces arise whenever the task generates mathematical expressions, circuits, proofs, programs, or other recursively defined objects.</a:t>
            </a:r>
            <a:endParaRPr lang="en-US" sz="13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3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3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State Space Size: Small Rules, Large Spaces</a:t>
            </a:r>
            <a:endParaRPr lang="en-US" sz="2600" b="0" u="none" strike="noStrike">
              <a:solidFill>
                <a:srgbClr val="000000"/>
              </a:solidFill>
              <a:effectLst/>
              <a:uFillTx/>
              <a:latin typeface="Arial"/>
            </a:endParaRPr>
          </a:p>
        </p:txBody>
      </p:sp>
      <p:sp>
        <p:nvSpPr>
          <p:cNvPr id="33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3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38" name="Text 5"/>
          <p:cNvSpPr/>
          <p:nvPr/>
        </p:nvSpPr>
        <p:spPr>
          <a:xfrm>
            <a:off x="868680" y="1417320"/>
            <a:ext cx="3291480" cy="502560"/>
          </a:xfrm>
          <a:prstGeom prst="roundRect">
            <a:avLst>
              <a:gd name="adj" fmla="val 14545"/>
            </a:avLst>
          </a:prstGeom>
          <a:solidFill>
            <a:srgbClr val="D9E9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Two-cell vacuum world</a:t>
            </a:r>
            <a:endParaRPr lang="en-US" sz="1600" b="0" u="none" strike="noStrike">
              <a:solidFill>
                <a:srgbClr val="000000"/>
              </a:solidFill>
              <a:effectLst/>
              <a:uFillTx/>
              <a:latin typeface="Arial"/>
            </a:endParaRPr>
          </a:p>
        </p:txBody>
      </p:sp>
      <p:sp>
        <p:nvSpPr>
          <p:cNvPr id="339" name="Text 6"/>
          <p:cNvSpPr/>
          <p:nvPr/>
        </p:nvSpPr>
        <p:spPr>
          <a:xfrm>
            <a:off x="86868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2 locations × dirt in A × dirt in B = 2 × 2 × 2 = 8 states</a:t>
            </a:r>
            <a:endParaRPr lang="en-US" sz="1700" b="0" u="none" strike="noStrike">
              <a:solidFill>
                <a:srgbClr val="000000"/>
              </a:solidFill>
              <a:effectLst/>
              <a:uFillTx/>
              <a:latin typeface="Arial"/>
            </a:endParaRPr>
          </a:p>
        </p:txBody>
      </p:sp>
      <p:sp>
        <p:nvSpPr>
          <p:cNvPr id="340" name="Text 7"/>
          <p:cNvSpPr/>
          <p:nvPr/>
        </p:nvSpPr>
        <p:spPr>
          <a:xfrm>
            <a:off x="4480560" y="1417320"/>
            <a:ext cx="329148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n-cell vacuum world</a:t>
            </a:r>
            <a:endParaRPr lang="en-US" sz="1600" b="0" u="none" strike="noStrike">
              <a:solidFill>
                <a:srgbClr val="000000"/>
              </a:solidFill>
              <a:effectLst/>
              <a:uFillTx/>
              <a:latin typeface="Arial"/>
            </a:endParaRPr>
          </a:p>
        </p:txBody>
      </p:sp>
      <p:sp>
        <p:nvSpPr>
          <p:cNvPr id="341" name="Text 8"/>
          <p:cNvSpPr/>
          <p:nvPr/>
        </p:nvSpPr>
        <p:spPr>
          <a:xfrm>
            <a:off x="448056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02A4C"/>
                </a:solidFill>
                <a:effectLst/>
                <a:uFillTx/>
                <a:latin typeface="Aptos"/>
              </a:rPr>
              <a:t>n possible locations × 2ⁿ dirt configurations = n·2ⁿ states</a:t>
            </a:r>
            <a:endParaRPr lang="en-US" sz="1700" b="0" u="none" strike="noStrike">
              <a:solidFill>
                <a:srgbClr val="000000"/>
              </a:solidFill>
              <a:effectLst/>
              <a:uFillTx/>
              <a:latin typeface="Arial"/>
            </a:endParaRPr>
          </a:p>
        </p:txBody>
      </p:sp>
      <p:sp>
        <p:nvSpPr>
          <p:cNvPr id="342" name="Text 9"/>
          <p:cNvSpPr/>
          <p:nvPr/>
        </p:nvSpPr>
        <p:spPr>
          <a:xfrm>
            <a:off x="8092440" y="1417320"/>
            <a:ext cx="329148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Search design lesson</a:t>
            </a:r>
            <a:endParaRPr lang="en-US" sz="1600" b="0" u="none" strike="noStrike">
              <a:solidFill>
                <a:srgbClr val="000000"/>
              </a:solidFill>
              <a:effectLst/>
              <a:uFillTx/>
              <a:latin typeface="Arial"/>
            </a:endParaRPr>
          </a:p>
        </p:txBody>
      </p:sp>
      <p:sp>
        <p:nvSpPr>
          <p:cNvPr id="343" name="Text 10"/>
          <p:cNvSpPr/>
          <p:nvPr/>
        </p:nvSpPr>
        <p:spPr>
          <a:xfrm>
            <a:off x="8092440" y="2011680"/>
            <a:ext cx="3291480" cy="776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02A4C"/>
                </a:solidFill>
                <a:effectLst/>
                <a:uFillTx/>
                <a:latin typeface="Aptos"/>
              </a:rPr>
              <a:t>Include only state variables needed for planning. Extra variables multiply the state space.</a:t>
            </a:r>
            <a:endParaRPr lang="en-US" sz="1600" b="0" u="none" strike="noStrike">
              <a:solidFill>
                <a:srgbClr val="000000"/>
              </a:solidFill>
              <a:effectLst/>
              <a:uFillTx/>
              <a:latin typeface="Arial"/>
            </a:endParaRPr>
          </a:p>
        </p:txBody>
      </p:sp>
      <p:sp>
        <p:nvSpPr>
          <p:cNvPr id="344" name="Text 11"/>
          <p:cNvSpPr/>
          <p:nvPr/>
        </p:nvSpPr>
        <p:spPr>
          <a:xfrm>
            <a:off x="914400" y="4343400"/>
            <a:ext cx="1024092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2000" b="1" u="none" strike="noStrike">
                <a:solidFill>
                  <a:srgbClr val="112E5C"/>
                </a:solidFill>
                <a:effectLst/>
                <a:uFillTx/>
                <a:latin typeface="Aptos"/>
              </a:rPr>
              <a:t>Even simple environments grow quickly once location and object configurations are included.</a:t>
            </a:r>
            <a:endParaRPr lang="en-US" sz="20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4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34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What Goes Into the Search State?</a:t>
            </a:r>
            <a:endParaRPr lang="en-US" sz="2600" b="0" u="none" strike="noStrike">
              <a:solidFill>
                <a:srgbClr val="000000"/>
              </a:solidFill>
              <a:effectLst/>
              <a:uFillTx/>
              <a:latin typeface="Arial"/>
            </a:endParaRPr>
          </a:p>
        </p:txBody>
      </p:sp>
      <p:sp>
        <p:nvSpPr>
          <p:cNvPr id="34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4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50" name="Text 5"/>
          <p:cNvSpPr/>
          <p:nvPr/>
        </p:nvSpPr>
        <p:spPr>
          <a:xfrm>
            <a:off x="868680" y="1417320"/>
            <a:ext cx="4388760" cy="529920"/>
          </a:xfrm>
          <a:prstGeom prst="roundRect">
            <a:avLst>
              <a:gd name="adj" fmla="val 1379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World state</a:t>
            </a:r>
            <a:endParaRPr lang="en-US" sz="1800" b="0" u="none" strike="noStrike">
              <a:solidFill>
                <a:srgbClr val="000000"/>
              </a:solidFill>
              <a:effectLst/>
              <a:uFillTx/>
              <a:latin typeface="Arial"/>
            </a:endParaRPr>
          </a:p>
        </p:txBody>
      </p:sp>
      <p:sp>
        <p:nvSpPr>
          <p:cNvPr id="351" name="Text 6"/>
          <p:cNvSpPr/>
          <p:nvPr/>
        </p:nvSpPr>
        <p:spPr>
          <a:xfrm>
            <a:off x="100584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Every last detail of the environment: agent location, dot status, ghost locations, orientation, timers, hidden variables, and irrelevant facts.</a:t>
            </a:r>
            <a:endParaRPr lang="en-US" sz="1600" b="0" u="none" strike="noStrike">
              <a:solidFill>
                <a:srgbClr val="000000"/>
              </a:solidFill>
              <a:effectLst/>
              <a:uFillTx/>
              <a:latin typeface="Arial"/>
            </a:endParaRPr>
          </a:p>
        </p:txBody>
      </p:sp>
      <p:sp>
        <p:nvSpPr>
          <p:cNvPr id="352" name="Text 7"/>
          <p:cNvSpPr/>
          <p:nvPr/>
        </p:nvSpPr>
        <p:spPr>
          <a:xfrm>
            <a:off x="6903720" y="1417320"/>
            <a:ext cx="4388760" cy="529920"/>
          </a:xfrm>
          <a:prstGeom prst="roundRect">
            <a:avLst>
              <a:gd name="adj" fmla="val 13793"/>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Search state</a:t>
            </a:r>
            <a:endParaRPr lang="en-US" sz="1800" b="0" u="none" strike="noStrike">
              <a:solidFill>
                <a:srgbClr val="000000"/>
              </a:solidFill>
              <a:effectLst/>
              <a:uFillTx/>
              <a:latin typeface="Arial"/>
            </a:endParaRPr>
          </a:p>
        </p:txBody>
      </p:sp>
      <p:sp>
        <p:nvSpPr>
          <p:cNvPr id="353" name="Text 8"/>
          <p:cNvSpPr/>
          <p:nvPr/>
        </p:nvSpPr>
        <p:spPr>
          <a:xfrm>
            <a:off x="7040880" y="2148840"/>
            <a:ext cx="4114440" cy="1416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Only the details needed for planning. Abstraction makes search possible by removing irrelevant detail.</a:t>
            </a:r>
            <a:endParaRPr lang="en-US" sz="1600" b="0" u="none" strike="noStrike">
              <a:solidFill>
                <a:srgbClr val="000000"/>
              </a:solidFill>
              <a:effectLst/>
              <a:uFillTx/>
              <a:latin typeface="Arial"/>
            </a:endParaRPr>
          </a:p>
        </p:txBody>
      </p:sp>
      <p:sp>
        <p:nvSpPr>
          <p:cNvPr id="354" name="Shape 9"/>
          <p:cNvSpPr/>
          <p:nvPr/>
        </p:nvSpPr>
        <p:spPr>
          <a:xfrm>
            <a:off x="5440680" y="2468880"/>
            <a:ext cx="1280160" cy="360"/>
          </a:xfrm>
          <a:prstGeom prst="line">
            <a:avLst/>
          </a:prstGeom>
          <a:ln w="31750">
            <a:solidFill>
              <a:srgbClr val="F6A01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55" name="Text 10"/>
          <p:cNvSpPr/>
          <p:nvPr/>
        </p:nvSpPr>
        <p:spPr>
          <a:xfrm>
            <a:off x="96012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Pathing</a:t>
            </a:r>
            <a:endParaRPr lang="en-US" sz="1500" b="0" u="none" strike="noStrike">
              <a:solidFill>
                <a:srgbClr val="000000"/>
              </a:solidFill>
              <a:effectLst/>
              <a:uFillTx/>
              <a:latin typeface="Arial"/>
            </a:endParaRPr>
          </a:p>
        </p:txBody>
      </p:sp>
      <p:sp>
        <p:nvSpPr>
          <p:cNvPr id="356" name="Text 11"/>
          <p:cNvSpPr/>
          <p:nvPr/>
        </p:nvSpPr>
        <p:spPr>
          <a:xfrm>
            <a:off x="114300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only</a:t>
            </a:r>
            <a:endParaRPr lang="en-US" sz="1350" b="0" u="none" strike="noStrike">
              <a:solidFill>
                <a:srgbClr val="000000"/>
              </a:solidFill>
              <a:effectLst/>
              <a:uFillTx/>
              <a:latin typeface="Arial"/>
            </a:endParaRPr>
          </a:p>
        </p:txBody>
      </p:sp>
      <p:sp>
        <p:nvSpPr>
          <p:cNvPr id="357" name="Text 12"/>
          <p:cNvSpPr/>
          <p:nvPr/>
        </p:nvSpPr>
        <p:spPr>
          <a:xfrm>
            <a:off x="466344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Eat-all-dots</a:t>
            </a:r>
            <a:endParaRPr lang="en-US" sz="1500" b="0" u="none" strike="noStrike">
              <a:solidFill>
                <a:srgbClr val="000000"/>
              </a:solidFill>
              <a:effectLst/>
              <a:uFillTx/>
              <a:latin typeface="Arial"/>
            </a:endParaRPr>
          </a:p>
        </p:txBody>
      </p:sp>
      <p:sp>
        <p:nvSpPr>
          <p:cNvPr id="358" name="Text 13"/>
          <p:cNvSpPr/>
          <p:nvPr/>
        </p:nvSpPr>
        <p:spPr>
          <a:xfrm>
            <a:off x="484632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350" b="0" u="none" strike="noStrike">
                <a:solidFill>
                  <a:srgbClr val="5C6B80"/>
                </a:solidFill>
                <a:effectLst/>
                <a:uFillTx/>
                <a:latin typeface="Aptos"/>
              </a:rPr>
              <a:t>position + dot booleans</a:t>
            </a:r>
            <a:endParaRPr lang="en-US" sz="1350" b="0" u="none" strike="noStrike">
              <a:solidFill>
                <a:srgbClr val="000000"/>
              </a:solidFill>
              <a:effectLst/>
              <a:uFillTx/>
              <a:latin typeface="Arial"/>
            </a:endParaRPr>
          </a:p>
        </p:txBody>
      </p:sp>
      <p:sp>
        <p:nvSpPr>
          <p:cNvPr id="359" name="Text 14"/>
          <p:cNvSpPr/>
          <p:nvPr/>
        </p:nvSpPr>
        <p:spPr>
          <a:xfrm>
            <a:off x="8366760" y="4251960"/>
            <a:ext cx="2834280" cy="456840"/>
          </a:xfrm>
          <a:prstGeom prst="roundRect">
            <a:avLst>
              <a:gd name="adj" fmla="val 16000"/>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Safe passage</a:t>
            </a:r>
            <a:endParaRPr lang="en-US" sz="1500" b="0" u="none" strike="noStrike">
              <a:solidFill>
                <a:srgbClr val="000000"/>
              </a:solidFill>
              <a:effectLst/>
              <a:uFillTx/>
              <a:latin typeface="Arial"/>
            </a:endParaRPr>
          </a:p>
        </p:txBody>
      </p:sp>
      <p:sp>
        <p:nvSpPr>
          <p:cNvPr id="360" name="Text 15"/>
          <p:cNvSpPr/>
          <p:nvPr/>
        </p:nvSpPr>
        <p:spPr>
          <a:xfrm>
            <a:off x="8549640" y="4800600"/>
            <a:ext cx="24685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1350" b="0" u="none" strike="noStrike">
                <a:solidFill>
                  <a:srgbClr val="5C6B80"/>
                </a:solidFill>
                <a:effectLst/>
                <a:uFillTx/>
                <a:latin typeface="Aptos"/>
              </a:rPr>
              <a:t>position + dots + power pellets + scared timer</a:t>
            </a:r>
            <a:endParaRPr lang="en-US" sz="135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19456" y="219456"/>
            <a:ext cx="11759184" cy="841248"/>
          </a:xfrm>
          <a:prstGeom prst="rect">
            <a:avLst/>
          </a:prstGeom>
          <a:solidFill>
            <a:srgbClr val="153761"/>
          </a:solidFill>
          <a:ln w="12700">
            <a:solidFill>
              <a:srgbClr val="153761"/>
            </a:solidFill>
            <a:prstDash val="solid"/>
          </a:ln>
        </p:spPr>
        <p:txBody>
          <a:bodyPr/>
          <a:lstStyle/>
          <a:p>
            <a:endParaRPr lang="en-US"/>
          </a:p>
        </p:txBody>
      </p:sp>
      <p:sp>
        <p:nvSpPr>
          <p:cNvPr id="3" name="Shape 1"/>
          <p:cNvSpPr/>
          <p:nvPr/>
        </p:nvSpPr>
        <p:spPr>
          <a:xfrm>
            <a:off x="219456" y="1060704"/>
            <a:ext cx="11759184" cy="82296"/>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502920" y="393192"/>
            <a:ext cx="1106424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State Space Sizes? Count the Variables</a:t>
            </a:r>
            <a:endParaRPr lang="en-US" sz="2400" dirty="0"/>
          </a:p>
        </p:txBody>
      </p:sp>
      <p:sp>
        <p:nvSpPr>
          <p:cNvPr id="5" name="Text 3"/>
          <p:cNvSpPr/>
          <p:nvPr/>
        </p:nvSpPr>
        <p:spPr>
          <a:xfrm>
            <a:off x="502920" y="6574536"/>
            <a:ext cx="3291840" cy="137160"/>
          </a:xfrm>
          <a:prstGeom prst="rect">
            <a:avLst/>
          </a:prstGeom>
          <a:noFill/>
          <a:ln/>
        </p:spPr>
        <p:txBody>
          <a:bodyPr wrap="square" lIns="0" tIns="0" rIns="0" bIns="0" rtlCol="0" anchor="ctr"/>
          <a:lstStyle/>
          <a:p>
            <a:pPr marL="0" indent="0">
              <a:buNone/>
            </a:pPr>
            <a:r>
              <a:rPr lang="en-US" sz="750" dirty="0">
                <a:solidFill>
                  <a:srgbClr val="335577"/>
                </a:solidFill>
              </a:rPr>
              <a:t>CSU Channel Islands · Department of Computer Science</a:t>
            </a:r>
            <a:endParaRPr lang="en-US" sz="750" dirty="0"/>
          </a:p>
        </p:txBody>
      </p:sp>
      <p:sp>
        <p:nvSpPr>
          <p:cNvPr id="6" name="Text 4"/>
          <p:cNvSpPr/>
          <p:nvPr/>
        </p:nvSpPr>
        <p:spPr>
          <a:xfrm>
            <a:off x="9738360" y="6574536"/>
            <a:ext cx="2240280" cy="137160"/>
          </a:xfrm>
          <a:prstGeom prst="rect">
            <a:avLst/>
          </a:prstGeom>
          <a:noFill/>
          <a:ln/>
        </p:spPr>
        <p:txBody>
          <a:bodyPr wrap="square" lIns="0" tIns="0" rIns="0" bIns="0" rtlCol="0" anchor="ctr"/>
          <a:lstStyle/>
          <a:p>
            <a:pPr marL="0" indent="0" algn="r">
              <a:buNone/>
            </a:pPr>
            <a:r>
              <a:rPr lang="en-US" sz="750" dirty="0">
                <a:solidFill>
                  <a:srgbClr val="335577"/>
                </a:solidFill>
              </a:rPr>
              <a:t>COMP 469 · Chapter 3 · Sections 3.1-3.4</a:t>
            </a:r>
            <a:endParaRPr lang="en-US" sz="750" dirty="0"/>
          </a:p>
        </p:txBody>
      </p:sp>
      <p:sp>
        <p:nvSpPr>
          <p:cNvPr id="7" name="Text 5"/>
          <p:cNvSpPr/>
          <p:nvPr/>
        </p:nvSpPr>
        <p:spPr>
          <a:xfrm>
            <a:off x="777240" y="1536192"/>
            <a:ext cx="10652760" cy="384048"/>
          </a:xfrm>
          <a:prstGeom prst="rect">
            <a:avLst/>
          </a:prstGeom>
          <a:noFill/>
          <a:ln/>
        </p:spPr>
        <p:txBody>
          <a:bodyPr wrap="square" lIns="0" tIns="0" rIns="0" bIns="0" rtlCol="0" anchor="ctr"/>
          <a:lstStyle/>
          <a:p>
            <a:pPr marL="0" indent="0" algn="ctr">
              <a:buNone/>
            </a:pPr>
            <a:r>
              <a:rPr lang="en-US" sz="1850" b="1" dirty="0">
                <a:solidFill>
                  <a:srgbClr val="082B55"/>
                </a:solidFill>
              </a:rPr>
              <a:t>State = the information the algorithm must remember at one point in the search.</a:t>
            </a:r>
            <a:endParaRPr lang="en-US" sz="1850" dirty="0"/>
          </a:p>
        </p:txBody>
      </p:sp>
      <p:sp>
        <p:nvSpPr>
          <p:cNvPr id="8" name="Shape 6"/>
          <p:cNvSpPr/>
          <p:nvPr/>
        </p:nvSpPr>
        <p:spPr>
          <a:xfrm>
            <a:off x="804672" y="1993392"/>
            <a:ext cx="3383280" cy="2615184"/>
          </a:xfrm>
          <a:prstGeom prst="rect">
            <a:avLst/>
          </a:prstGeom>
          <a:solidFill>
            <a:srgbClr val="000000"/>
          </a:solidFill>
          <a:ln w="12700">
            <a:solidFill>
              <a:srgbClr val="000000"/>
            </a:solidFill>
            <a:prstDash val="solid"/>
          </a:ln>
        </p:spPr>
        <p:txBody>
          <a:bodyPr/>
          <a:lstStyle/>
          <a:p>
            <a:endParaRPr lang="en-US"/>
          </a:p>
        </p:txBody>
      </p:sp>
      <p:sp>
        <p:nvSpPr>
          <p:cNvPr id="9" name="Shape 7"/>
          <p:cNvSpPr/>
          <p:nvPr/>
        </p:nvSpPr>
        <p:spPr>
          <a:xfrm>
            <a:off x="896112" y="2084832"/>
            <a:ext cx="3200400" cy="2432304"/>
          </a:xfrm>
          <a:prstGeom prst="rect">
            <a:avLst/>
          </a:prstGeom>
          <a:solidFill>
            <a:srgbClr val="000000">
              <a:alpha val="0"/>
            </a:srgbClr>
          </a:solidFill>
          <a:ln w="17780">
            <a:solidFill>
              <a:srgbClr val="0B5CFF"/>
            </a:solidFill>
            <a:prstDash val="solid"/>
          </a:ln>
        </p:spPr>
        <p:txBody>
          <a:bodyPr/>
          <a:lstStyle/>
          <a:p>
            <a:endParaRPr lang="en-US"/>
          </a:p>
        </p:txBody>
      </p:sp>
      <p:sp>
        <p:nvSpPr>
          <p:cNvPr id="10" name="Shape 8"/>
          <p:cNvSpPr/>
          <p:nvPr/>
        </p:nvSpPr>
        <p:spPr>
          <a:xfrm>
            <a:off x="3578962" y="2130552"/>
            <a:ext cx="405994" cy="2340864"/>
          </a:xfrm>
          <a:prstGeom prst="rect">
            <a:avLst/>
          </a:prstGeom>
          <a:solidFill>
            <a:srgbClr val="000000">
              <a:alpha val="0"/>
            </a:srgbClr>
          </a:solidFill>
          <a:ln w="15240">
            <a:solidFill>
              <a:srgbClr val="0B5CFF"/>
            </a:solidFill>
            <a:prstDash val="solid"/>
          </a:ln>
        </p:spPr>
        <p:txBody>
          <a:bodyPr/>
          <a:lstStyle/>
          <a:p>
            <a:endParaRPr lang="en-US"/>
          </a:p>
        </p:txBody>
      </p:sp>
      <p:sp>
        <p:nvSpPr>
          <p:cNvPr id="11" name="Shape 9"/>
          <p:cNvSpPr/>
          <p:nvPr/>
        </p:nvSpPr>
        <p:spPr>
          <a:xfrm>
            <a:off x="1010412"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1484071"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3" name="Shape 11"/>
          <p:cNvSpPr/>
          <p:nvPr/>
        </p:nvSpPr>
        <p:spPr>
          <a:xfrm>
            <a:off x="1957730"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4" name="Shape 12"/>
          <p:cNvSpPr/>
          <p:nvPr/>
        </p:nvSpPr>
        <p:spPr>
          <a:xfrm>
            <a:off x="2431390"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5" name="Shape 13"/>
          <p:cNvSpPr/>
          <p:nvPr/>
        </p:nvSpPr>
        <p:spPr>
          <a:xfrm>
            <a:off x="2905049" y="2244852"/>
            <a:ext cx="45720" cy="45720"/>
          </a:xfrm>
          <a:prstGeom prst="ellipse">
            <a:avLst/>
          </a:prstGeom>
          <a:solidFill>
            <a:srgbClr val="FFFFFF"/>
          </a:solidFill>
          <a:ln w="12700">
            <a:solidFill>
              <a:srgbClr val="FFFFFF"/>
            </a:solidFill>
            <a:prstDash val="solid"/>
          </a:ln>
        </p:spPr>
        <p:txBody>
          <a:bodyPr/>
          <a:lstStyle/>
          <a:p>
            <a:endParaRPr lang="en-US"/>
          </a:p>
        </p:txBody>
      </p:sp>
      <p:sp>
        <p:nvSpPr>
          <p:cNvPr id="16" name="Shape 14"/>
          <p:cNvSpPr/>
          <p:nvPr/>
        </p:nvSpPr>
        <p:spPr>
          <a:xfrm>
            <a:off x="1010412"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7" name="Shape 15"/>
          <p:cNvSpPr/>
          <p:nvPr/>
        </p:nvSpPr>
        <p:spPr>
          <a:xfrm>
            <a:off x="1484071"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8" name="Shape 16"/>
          <p:cNvSpPr/>
          <p:nvPr/>
        </p:nvSpPr>
        <p:spPr>
          <a:xfrm>
            <a:off x="1957730"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19" name="Shape 17"/>
          <p:cNvSpPr/>
          <p:nvPr/>
        </p:nvSpPr>
        <p:spPr>
          <a:xfrm>
            <a:off x="2431390"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2905049" y="2610978"/>
            <a:ext cx="45720" cy="45720"/>
          </a:xfrm>
          <a:prstGeom prst="ellipse">
            <a:avLst/>
          </a:prstGeom>
          <a:solidFill>
            <a:srgbClr val="FFFFFF"/>
          </a:solidFill>
          <a:ln w="12700">
            <a:solidFill>
              <a:srgbClr val="FFFFFF"/>
            </a:solidFill>
            <a:prstDash val="solid"/>
          </a:ln>
        </p:spPr>
        <p:txBody>
          <a:bodyPr/>
          <a:lstStyle/>
          <a:p>
            <a:endParaRPr lang="en-US"/>
          </a:p>
        </p:txBody>
      </p:sp>
      <p:sp>
        <p:nvSpPr>
          <p:cNvPr id="21" name="Shape 19"/>
          <p:cNvSpPr/>
          <p:nvPr/>
        </p:nvSpPr>
        <p:spPr>
          <a:xfrm>
            <a:off x="1010412"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2" name="Shape 20"/>
          <p:cNvSpPr/>
          <p:nvPr/>
        </p:nvSpPr>
        <p:spPr>
          <a:xfrm>
            <a:off x="1484071"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3" name="Shape 21"/>
          <p:cNvSpPr/>
          <p:nvPr/>
        </p:nvSpPr>
        <p:spPr>
          <a:xfrm>
            <a:off x="1957730"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4" name="Shape 22"/>
          <p:cNvSpPr/>
          <p:nvPr/>
        </p:nvSpPr>
        <p:spPr>
          <a:xfrm>
            <a:off x="2431390"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5" name="Shape 23"/>
          <p:cNvSpPr/>
          <p:nvPr/>
        </p:nvSpPr>
        <p:spPr>
          <a:xfrm>
            <a:off x="2905049" y="2977104"/>
            <a:ext cx="45720" cy="45720"/>
          </a:xfrm>
          <a:prstGeom prst="ellipse">
            <a:avLst/>
          </a:prstGeom>
          <a:solidFill>
            <a:srgbClr val="FFFFFF"/>
          </a:solidFill>
          <a:ln w="12700">
            <a:solidFill>
              <a:srgbClr val="FFFFFF"/>
            </a:solidFill>
            <a:prstDash val="solid"/>
          </a:ln>
        </p:spPr>
        <p:txBody>
          <a:bodyPr/>
          <a:lstStyle/>
          <a:p>
            <a:endParaRPr lang="en-US"/>
          </a:p>
        </p:txBody>
      </p:sp>
      <p:sp>
        <p:nvSpPr>
          <p:cNvPr id="26" name="Shape 24"/>
          <p:cNvSpPr/>
          <p:nvPr/>
        </p:nvSpPr>
        <p:spPr>
          <a:xfrm>
            <a:off x="1010412"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7" name="Shape 25"/>
          <p:cNvSpPr/>
          <p:nvPr/>
        </p:nvSpPr>
        <p:spPr>
          <a:xfrm>
            <a:off x="1484071"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8" name="Shape 26"/>
          <p:cNvSpPr/>
          <p:nvPr/>
        </p:nvSpPr>
        <p:spPr>
          <a:xfrm>
            <a:off x="1957730"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29" name="Shape 27"/>
          <p:cNvSpPr/>
          <p:nvPr/>
        </p:nvSpPr>
        <p:spPr>
          <a:xfrm>
            <a:off x="2431390"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30" name="Shape 28"/>
          <p:cNvSpPr/>
          <p:nvPr/>
        </p:nvSpPr>
        <p:spPr>
          <a:xfrm>
            <a:off x="2905049" y="3343229"/>
            <a:ext cx="45720" cy="45720"/>
          </a:xfrm>
          <a:prstGeom prst="ellipse">
            <a:avLst/>
          </a:prstGeom>
          <a:solidFill>
            <a:srgbClr val="FFFFFF"/>
          </a:solidFill>
          <a:ln w="12700">
            <a:solidFill>
              <a:srgbClr val="FFFFFF"/>
            </a:solidFill>
            <a:prstDash val="solid"/>
          </a:ln>
        </p:spPr>
        <p:txBody>
          <a:bodyPr/>
          <a:lstStyle/>
          <a:p>
            <a:endParaRPr lang="en-US"/>
          </a:p>
        </p:txBody>
      </p:sp>
      <p:sp>
        <p:nvSpPr>
          <p:cNvPr id="31" name="Shape 29"/>
          <p:cNvSpPr/>
          <p:nvPr/>
        </p:nvSpPr>
        <p:spPr>
          <a:xfrm>
            <a:off x="1010412"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2" name="Shape 30"/>
          <p:cNvSpPr/>
          <p:nvPr/>
        </p:nvSpPr>
        <p:spPr>
          <a:xfrm>
            <a:off x="1484071"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3" name="Shape 31"/>
          <p:cNvSpPr/>
          <p:nvPr/>
        </p:nvSpPr>
        <p:spPr>
          <a:xfrm>
            <a:off x="1957730"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4" name="Shape 32"/>
          <p:cNvSpPr/>
          <p:nvPr/>
        </p:nvSpPr>
        <p:spPr>
          <a:xfrm>
            <a:off x="2905049" y="3709355"/>
            <a:ext cx="45720" cy="45720"/>
          </a:xfrm>
          <a:prstGeom prst="ellipse">
            <a:avLst/>
          </a:prstGeom>
          <a:solidFill>
            <a:srgbClr val="FFFFFF"/>
          </a:solidFill>
          <a:ln w="12700">
            <a:solidFill>
              <a:srgbClr val="FFFFFF"/>
            </a:solidFill>
            <a:prstDash val="solid"/>
          </a:ln>
        </p:spPr>
        <p:txBody>
          <a:bodyPr/>
          <a:lstStyle/>
          <a:p>
            <a:endParaRPr lang="en-US"/>
          </a:p>
        </p:txBody>
      </p:sp>
      <p:sp>
        <p:nvSpPr>
          <p:cNvPr id="35" name="Shape 33"/>
          <p:cNvSpPr/>
          <p:nvPr/>
        </p:nvSpPr>
        <p:spPr>
          <a:xfrm>
            <a:off x="1010412"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6" name="Shape 34"/>
          <p:cNvSpPr/>
          <p:nvPr/>
        </p:nvSpPr>
        <p:spPr>
          <a:xfrm>
            <a:off x="1484071"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7" name="Shape 35"/>
          <p:cNvSpPr/>
          <p:nvPr/>
        </p:nvSpPr>
        <p:spPr>
          <a:xfrm>
            <a:off x="1957730"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8" name="Shape 36"/>
          <p:cNvSpPr/>
          <p:nvPr/>
        </p:nvSpPr>
        <p:spPr>
          <a:xfrm>
            <a:off x="2431390"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39" name="Shape 37"/>
          <p:cNvSpPr/>
          <p:nvPr/>
        </p:nvSpPr>
        <p:spPr>
          <a:xfrm>
            <a:off x="2905049" y="4075481"/>
            <a:ext cx="45720" cy="45720"/>
          </a:xfrm>
          <a:prstGeom prst="ellipse">
            <a:avLst/>
          </a:prstGeom>
          <a:solidFill>
            <a:srgbClr val="FFFFFF"/>
          </a:solidFill>
          <a:ln w="12700">
            <a:solidFill>
              <a:srgbClr val="FFFFFF"/>
            </a:solidFill>
            <a:prstDash val="solid"/>
          </a:ln>
        </p:spPr>
        <p:txBody>
          <a:bodyPr/>
          <a:lstStyle/>
          <a:p>
            <a:endParaRPr lang="en-US"/>
          </a:p>
        </p:txBody>
      </p:sp>
      <p:sp>
        <p:nvSpPr>
          <p:cNvPr id="41" name="Text 39"/>
          <p:cNvSpPr/>
          <p:nvPr/>
        </p:nvSpPr>
        <p:spPr>
          <a:xfrm>
            <a:off x="2428646" y="3525195"/>
            <a:ext cx="228600" cy="80010"/>
          </a:xfrm>
          <a:prstGeom prst="rect">
            <a:avLst/>
          </a:prstGeom>
          <a:noFill/>
          <a:ln/>
        </p:spPr>
        <p:txBody>
          <a:bodyPr wrap="square" lIns="0" tIns="0" rIns="0" bIns="0" rtlCol="0" anchor="ctr"/>
          <a:lstStyle/>
          <a:p>
            <a:pPr marL="0" indent="0" algn="ctr">
              <a:buNone/>
            </a:pPr>
            <a:r>
              <a:rPr lang="en-US" sz="800" b="1" dirty="0">
                <a:solidFill>
                  <a:srgbClr val="000000"/>
                </a:solidFill>
              </a:rPr>
              <a:t>P</a:t>
            </a:r>
            <a:endParaRPr lang="en-US" sz="800" dirty="0"/>
          </a:p>
        </p:txBody>
      </p:sp>
      <p:sp>
        <p:nvSpPr>
          <p:cNvPr id="46" name="Text 44"/>
          <p:cNvSpPr/>
          <p:nvPr/>
        </p:nvSpPr>
        <p:spPr>
          <a:xfrm>
            <a:off x="758952" y="4681728"/>
            <a:ext cx="1143000" cy="164592"/>
          </a:xfrm>
          <a:prstGeom prst="rect">
            <a:avLst/>
          </a:prstGeom>
          <a:noFill/>
          <a:ln/>
        </p:spPr>
        <p:txBody>
          <a:bodyPr wrap="square" lIns="0" tIns="0" rIns="0" bIns="0" rtlCol="0" anchor="ctr"/>
          <a:lstStyle/>
          <a:p>
            <a:pPr marL="0" indent="0">
              <a:buNone/>
            </a:pPr>
            <a:r>
              <a:rPr lang="en-US" sz="800" dirty="0">
                <a:solidFill>
                  <a:srgbClr val="506580"/>
                </a:solidFill>
              </a:rPr>
              <a:t>grid positions: 120</a:t>
            </a:r>
            <a:endParaRPr lang="en-US" sz="800" dirty="0"/>
          </a:p>
        </p:txBody>
      </p:sp>
      <p:sp>
        <p:nvSpPr>
          <p:cNvPr id="47" name="Text 45"/>
          <p:cNvSpPr/>
          <p:nvPr/>
        </p:nvSpPr>
        <p:spPr>
          <a:xfrm>
            <a:off x="2103120" y="4681728"/>
            <a:ext cx="1143000" cy="164592"/>
          </a:xfrm>
          <a:prstGeom prst="rect">
            <a:avLst/>
          </a:prstGeom>
          <a:noFill/>
          <a:ln/>
        </p:spPr>
        <p:txBody>
          <a:bodyPr wrap="square" lIns="0" tIns="0" rIns="0" bIns="0" rtlCol="0" anchor="ctr"/>
          <a:lstStyle/>
          <a:p>
            <a:pPr marL="0" indent="0" algn="ctr">
              <a:buNone/>
            </a:pPr>
            <a:r>
              <a:rPr lang="en-US" sz="800" dirty="0">
                <a:solidFill>
                  <a:srgbClr val="506580"/>
                </a:solidFill>
              </a:rPr>
              <a:t>food booleans: 30</a:t>
            </a:r>
            <a:endParaRPr lang="en-US" sz="800" dirty="0"/>
          </a:p>
        </p:txBody>
      </p:sp>
      <p:sp>
        <p:nvSpPr>
          <p:cNvPr id="48" name="Text 46"/>
          <p:cNvSpPr/>
          <p:nvPr/>
        </p:nvSpPr>
        <p:spPr>
          <a:xfrm>
            <a:off x="3346704" y="4681728"/>
            <a:ext cx="1005840" cy="164592"/>
          </a:xfrm>
          <a:prstGeom prst="rect">
            <a:avLst/>
          </a:prstGeom>
          <a:noFill/>
          <a:ln/>
        </p:spPr>
        <p:txBody>
          <a:bodyPr wrap="square" lIns="0" tIns="0" rIns="0" bIns="0" rtlCol="0" anchor="ctr"/>
          <a:lstStyle/>
          <a:p>
            <a:pPr marL="0" indent="0" algn="r">
              <a:buNone/>
            </a:pPr>
            <a:r>
              <a:rPr lang="en-US" sz="800" dirty="0">
                <a:solidFill>
                  <a:srgbClr val="506580"/>
                </a:solidFill>
              </a:rPr>
              <a:t>ghost positions: 12 each</a:t>
            </a:r>
            <a:endParaRPr lang="en-US" sz="800" dirty="0"/>
          </a:p>
        </p:txBody>
      </p:sp>
      <p:sp>
        <p:nvSpPr>
          <p:cNvPr id="49" name="Shape 47"/>
          <p:cNvSpPr/>
          <p:nvPr/>
        </p:nvSpPr>
        <p:spPr>
          <a:xfrm>
            <a:off x="4617720" y="1965960"/>
            <a:ext cx="2788920" cy="420624"/>
          </a:xfrm>
          <a:prstGeom prst="roundRect">
            <a:avLst>
              <a:gd name="adj" fmla="val 15217"/>
            </a:avLst>
          </a:prstGeom>
          <a:solidFill>
            <a:srgbClr val="FFE5B3"/>
          </a:solidFill>
          <a:ln w="15240">
            <a:solidFill>
              <a:srgbClr val="F5A623"/>
            </a:solidFill>
            <a:prstDash val="solid"/>
          </a:ln>
        </p:spPr>
        <p:txBody>
          <a:bodyPr/>
          <a:lstStyle/>
          <a:p>
            <a:endParaRPr lang="en-US"/>
          </a:p>
        </p:txBody>
      </p:sp>
      <p:sp>
        <p:nvSpPr>
          <p:cNvPr id="50" name="Text 48"/>
          <p:cNvSpPr/>
          <p:nvPr/>
        </p:nvSpPr>
        <p:spPr>
          <a:xfrm>
            <a:off x="4617720" y="2052828"/>
            <a:ext cx="2788920" cy="182880"/>
          </a:xfrm>
          <a:prstGeom prst="rect">
            <a:avLst/>
          </a:prstGeom>
          <a:noFill/>
          <a:ln/>
        </p:spPr>
        <p:txBody>
          <a:bodyPr wrap="square" lIns="0" tIns="0" rIns="0" bIns="0" rtlCol="0" anchor="ctr"/>
          <a:lstStyle/>
          <a:p>
            <a:pPr marL="0" indent="0" algn="ctr">
              <a:buNone/>
            </a:pPr>
            <a:r>
              <a:rPr lang="en-US" sz="1350" b="1" dirty="0">
                <a:solidFill>
                  <a:srgbClr val="082B55"/>
                </a:solidFill>
              </a:rPr>
              <a:t>World variables</a:t>
            </a:r>
            <a:endParaRPr lang="en-US" sz="1350" dirty="0"/>
          </a:p>
        </p:txBody>
      </p:sp>
      <p:sp>
        <p:nvSpPr>
          <p:cNvPr id="51" name="Text 49"/>
          <p:cNvSpPr/>
          <p:nvPr/>
        </p:nvSpPr>
        <p:spPr>
          <a:xfrm>
            <a:off x="4617720" y="2578608"/>
            <a:ext cx="2944368" cy="1508760"/>
          </a:xfrm>
          <a:prstGeom prst="rect">
            <a:avLst/>
          </a:prstGeom>
          <a:noFill/>
          <a:ln/>
        </p:spPr>
        <p:txBody>
          <a:bodyPr wrap="square" lIns="381" tIns="381" rIns="381" bIns="381" rtlCol="0" anchor="ctr">
            <a:normAutofit/>
          </a:bodyPr>
          <a:lstStyle/>
          <a:p>
            <a:pPr marL="0" indent="0">
              <a:buNone/>
            </a:pPr>
            <a:r>
              <a:rPr lang="en-US" sz="1320" b="1" dirty="0">
                <a:solidFill>
                  <a:srgbClr val="082B55"/>
                </a:solidFill>
              </a:rPr>
              <a:t>agent position</a:t>
            </a:r>
            <a:r>
              <a:rPr lang="en-US" sz="1320" dirty="0">
                <a:solidFill>
                  <a:srgbClr val="082B55"/>
                </a:solidFill>
              </a:rPr>
              <a:t>: 120
</a:t>
            </a:r>
            <a:r>
              <a:rPr lang="en-US" sz="1320" b="1" dirty="0">
                <a:solidFill>
                  <a:srgbClr val="082B55"/>
                </a:solidFill>
              </a:rPr>
              <a:t>food status</a:t>
            </a:r>
            <a:r>
              <a:rPr lang="en-US" sz="1320" dirty="0">
                <a:solidFill>
                  <a:srgbClr val="082B55"/>
                </a:solidFill>
              </a:rPr>
              <a:t>: 30 binary choices
</a:t>
            </a:r>
            <a:r>
              <a:rPr lang="en-US" sz="1320" b="1" dirty="0">
                <a:solidFill>
                  <a:srgbClr val="082B55"/>
                </a:solidFill>
              </a:rPr>
              <a:t>ghost positions</a:t>
            </a:r>
            <a:r>
              <a:rPr lang="en-US" sz="1320" dirty="0">
                <a:solidFill>
                  <a:srgbClr val="082B55"/>
                </a:solidFill>
              </a:rPr>
              <a:t>: two ghosts, 12 each
</a:t>
            </a:r>
            <a:r>
              <a:rPr lang="en-US" sz="1320" b="1" dirty="0">
                <a:solidFill>
                  <a:srgbClr val="082B55"/>
                </a:solidFill>
              </a:rPr>
              <a:t>facing direction</a:t>
            </a:r>
            <a:r>
              <a:rPr lang="en-US" sz="1320" dirty="0">
                <a:solidFill>
                  <a:srgbClr val="082B55"/>
                </a:solidFill>
              </a:rPr>
              <a:t>: N, S, E, or W</a:t>
            </a:r>
            <a:endParaRPr lang="en-US" sz="1320" dirty="0"/>
          </a:p>
        </p:txBody>
      </p:sp>
      <p:sp>
        <p:nvSpPr>
          <p:cNvPr id="52" name="Shape 50"/>
          <p:cNvSpPr/>
          <p:nvPr/>
        </p:nvSpPr>
        <p:spPr>
          <a:xfrm>
            <a:off x="7955280" y="1965960"/>
            <a:ext cx="3401568" cy="420624"/>
          </a:xfrm>
          <a:prstGeom prst="roundRect">
            <a:avLst>
              <a:gd name="adj" fmla="val 15217"/>
            </a:avLst>
          </a:prstGeom>
          <a:solidFill>
            <a:srgbClr val="D9E9FF"/>
          </a:solidFill>
          <a:ln w="15240">
            <a:solidFill>
              <a:srgbClr val="2F7DE1"/>
            </a:solidFill>
            <a:prstDash val="solid"/>
          </a:ln>
        </p:spPr>
        <p:txBody>
          <a:bodyPr/>
          <a:lstStyle/>
          <a:p>
            <a:endParaRPr lang="en-US"/>
          </a:p>
        </p:txBody>
      </p:sp>
      <p:sp>
        <p:nvSpPr>
          <p:cNvPr id="53" name="Text 51"/>
          <p:cNvSpPr/>
          <p:nvPr/>
        </p:nvSpPr>
        <p:spPr>
          <a:xfrm>
            <a:off x="7955280" y="2052828"/>
            <a:ext cx="3401568" cy="182880"/>
          </a:xfrm>
          <a:prstGeom prst="rect">
            <a:avLst/>
          </a:prstGeom>
          <a:noFill/>
          <a:ln/>
        </p:spPr>
        <p:txBody>
          <a:bodyPr wrap="square" lIns="0" tIns="0" rIns="0" bIns="0" rtlCol="0" anchor="ctr"/>
          <a:lstStyle/>
          <a:p>
            <a:pPr marL="0" indent="0" algn="ctr">
              <a:buNone/>
            </a:pPr>
            <a:r>
              <a:rPr lang="en-US" sz="1350" b="1" dirty="0">
                <a:solidFill>
                  <a:srgbClr val="082B55"/>
                </a:solidFill>
              </a:rPr>
              <a:t>Tuple formulation</a:t>
            </a:r>
            <a:endParaRPr lang="en-US" sz="1350" dirty="0"/>
          </a:p>
        </p:txBody>
      </p:sp>
      <p:sp>
        <p:nvSpPr>
          <p:cNvPr id="54" name="Text 52"/>
          <p:cNvSpPr/>
          <p:nvPr/>
        </p:nvSpPr>
        <p:spPr>
          <a:xfrm>
            <a:off x="7900416" y="2633472"/>
            <a:ext cx="3547872" cy="594360"/>
          </a:xfrm>
          <a:prstGeom prst="rect">
            <a:avLst/>
          </a:prstGeom>
          <a:noFill/>
          <a:ln/>
        </p:spPr>
        <p:txBody>
          <a:bodyPr wrap="square" lIns="254" tIns="254" rIns="254" bIns="254" rtlCol="0" anchor="ctr">
            <a:normAutofit/>
          </a:bodyPr>
          <a:lstStyle/>
          <a:p>
            <a:pPr marL="0" indent="0" algn="ctr">
              <a:buNone/>
            </a:pPr>
            <a:r>
              <a:rPr lang="en-US" sz="1420" b="1" dirty="0">
                <a:solidFill>
                  <a:srgbClr val="082B55"/>
                </a:solidFill>
              </a:rPr>
              <a:t>s = (agent position, food mask, ghost 1, ghost 2, facing)</a:t>
            </a:r>
            <a:endParaRPr lang="en-US" sz="1420" dirty="0"/>
          </a:p>
        </p:txBody>
      </p:sp>
      <p:sp>
        <p:nvSpPr>
          <p:cNvPr id="55" name="Text 53"/>
          <p:cNvSpPr/>
          <p:nvPr/>
        </p:nvSpPr>
        <p:spPr>
          <a:xfrm>
            <a:off x="8010144" y="3456432"/>
            <a:ext cx="3328416" cy="594360"/>
          </a:xfrm>
          <a:prstGeom prst="rect">
            <a:avLst/>
          </a:prstGeom>
          <a:noFill/>
          <a:ln/>
        </p:spPr>
        <p:txBody>
          <a:bodyPr wrap="square" lIns="254" tIns="254" rIns="254" bIns="254" rtlCol="0" anchor="ctr"/>
          <a:lstStyle/>
          <a:p>
            <a:pPr marL="0" indent="0" algn="ctr">
              <a:buNone/>
            </a:pPr>
            <a:r>
              <a:rPr lang="en-US" sz="1240" dirty="0">
                <a:solidFill>
                  <a:srgbClr val="506580"/>
                </a:solidFill>
              </a:rPr>
              <a:t>Each independent component multiplies the number of possible states.</a:t>
            </a:r>
            <a:endParaRPr lang="en-US" sz="1240" dirty="0"/>
          </a:p>
        </p:txBody>
      </p:sp>
      <p:sp>
        <p:nvSpPr>
          <p:cNvPr id="56" name="Shape 54"/>
          <p:cNvSpPr/>
          <p:nvPr/>
        </p:nvSpPr>
        <p:spPr>
          <a:xfrm>
            <a:off x="4617720" y="4617720"/>
            <a:ext cx="6766560" cy="0"/>
          </a:xfrm>
          <a:prstGeom prst="line">
            <a:avLst/>
          </a:prstGeom>
          <a:noFill/>
          <a:ln w="15240">
            <a:solidFill>
              <a:srgbClr val="D2DCE8"/>
            </a:solidFill>
            <a:prstDash val="solid"/>
          </a:ln>
        </p:spPr>
        <p:txBody>
          <a:bodyPr/>
          <a:lstStyle/>
          <a:p>
            <a:endParaRPr lang="en-US"/>
          </a:p>
        </p:txBody>
      </p:sp>
      <p:sp>
        <p:nvSpPr>
          <p:cNvPr id="57" name="Text 55"/>
          <p:cNvSpPr/>
          <p:nvPr/>
        </p:nvSpPr>
        <p:spPr>
          <a:xfrm>
            <a:off x="1920240" y="4974336"/>
            <a:ext cx="8321040" cy="411480"/>
          </a:xfrm>
          <a:prstGeom prst="rect">
            <a:avLst/>
          </a:prstGeom>
          <a:noFill/>
          <a:ln/>
        </p:spPr>
        <p:txBody>
          <a:bodyPr wrap="square" lIns="0" tIns="0" rIns="0" bIns="0" rtlCol="0" anchor="ctr"/>
          <a:lstStyle/>
          <a:p>
            <a:pPr marL="0" indent="0" algn="ctr">
              <a:buNone/>
            </a:pPr>
            <a:r>
              <a:rPr lang="en-US" sz="2600" b="1" dirty="0">
                <a:solidFill>
                  <a:srgbClr val="A81919"/>
                </a:solidFill>
              </a:rPr>
              <a:t>|S| = 120 × 2³⁰ × 12² × 4</a:t>
            </a:r>
            <a:endParaRPr lang="en-US" sz="2600" dirty="0"/>
          </a:p>
        </p:txBody>
      </p:sp>
      <p:sp>
        <p:nvSpPr>
          <p:cNvPr id="58" name="Text 56"/>
          <p:cNvSpPr/>
          <p:nvPr/>
        </p:nvSpPr>
        <p:spPr>
          <a:xfrm>
            <a:off x="2057400" y="5596128"/>
            <a:ext cx="8046720" cy="274320"/>
          </a:xfrm>
          <a:prstGeom prst="rect">
            <a:avLst/>
          </a:prstGeom>
          <a:noFill/>
          <a:ln/>
        </p:spPr>
        <p:txBody>
          <a:bodyPr wrap="square" lIns="0" tIns="0" rIns="0" bIns="0" rtlCol="0" anchor="ctr"/>
          <a:lstStyle/>
          <a:p>
            <a:pPr marL="0" indent="0" algn="ctr">
              <a:buNone/>
            </a:pPr>
            <a:r>
              <a:rPr lang="en-US" sz="1620" b="1" dirty="0">
                <a:solidFill>
                  <a:srgbClr val="082B55"/>
                </a:solidFill>
              </a:rPr>
              <a:t>Key transition to the next slide: not every problem needs every world variable.</a:t>
            </a:r>
            <a:endParaRPr lang="en-US" sz="1620" dirty="0"/>
          </a:p>
        </p:txBody>
      </p:sp>
      <p:sp>
        <p:nvSpPr>
          <p:cNvPr id="59" name="Text 57"/>
          <p:cNvSpPr/>
          <p:nvPr/>
        </p:nvSpPr>
        <p:spPr>
          <a:xfrm>
            <a:off x="2926080" y="5961888"/>
            <a:ext cx="6309360" cy="237744"/>
          </a:xfrm>
          <a:prstGeom prst="rect">
            <a:avLst/>
          </a:prstGeom>
          <a:noFill/>
          <a:ln/>
        </p:spPr>
        <p:txBody>
          <a:bodyPr wrap="square" lIns="0" tIns="0" rIns="0" bIns="0" rtlCol="0" anchor="ctr"/>
          <a:lstStyle/>
          <a:p>
            <a:pPr marL="0" indent="0" algn="ctr">
              <a:buNone/>
            </a:pPr>
            <a:r>
              <a:rPr lang="en-US" sz="1320" dirty="0">
                <a:solidFill>
                  <a:srgbClr val="506580"/>
                </a:solidFill>
              </a:rPr>
              <a:t>Drop variables the goal test and cost function never read.</a:t>
            </a:r>
            <a:endParaRPr lang="en-US" sz="1320" dirty="0"/>
          </a:p>
        </p:txBody>
      </p:sp>
      <p:sp>
        <p:nvSpPr>
          <p:cNvPr id="61" name="Shape 27">
            <a:extLst>
              <a:ext uri="{FF2B5EF4-FFF2-40B4-BE49-F238E27FC236}">
                <a16:creationId xmlns:a16="http://schemas.microsoft.com/office/drawing/2014/main" id="{2DE92C9B-6B31-CE76-FD7A-58F77CC068F0}"/>
              </a:ext>
            </a:extLst>
          </p:cNvPr>
          <p:cNvSpPr/>
          <p:nvPr/>
        </p:nvSpPr>
        <p:spPr>
          <a:xfrm>
            <a:off x="2432590" y="3718829"/>
            <a:ext cx="45720" cy="45720"/>
          </a:xfrm>
          <a:prstGeom prst="ellipse">
            <a:avLst/>
          </a:prstGeom>
          <a:solidFill>
            <a:srgbClr val="FFFFFF"/>
          </a:solidFill>
          <a:ln w="12700">
            <a:solidFill>
              <a:srgbClr val="FFFFFF"/>
            </a:solidFill>
            <a:prstDash val="solid"/>
          </a:ln>
        </p:spPr>
        <p:txBody>
          <a:bodyPr/>
          <a:lstStyle/>
          <a:p>
            <a:endParaRPr lang="en-US"/>
          </a:p>
        </p:txBody>
      </p:sp>
      <p:pic>
        <p:nvPicPr>
          <p:cNvPr id="63" name="Picture 62">
            <a:extLst>
              <a:ext uri="{FF2B5EF4-FFF2-40B4-BE49-F238E27FC236}">
                <a16:creationId xmlns:a16="http://schemas.microsoft.com/office/drawing/2014/main" id="{8D79BDDB-3434-BEC9-A32C-4E5A369F72D8}"/>
              </a:ext>
            </a:extLst>
          </p:cNvPr>
          <p:cNvPicPr>
            <a:picLocks noChangeAspect="1"/>
          </p:cNvPicPr>
          <p:nvPr/>
        </p:nvPicPr>
        <p:blipFill>
          <a:blip r:embed="rId3"/>
          <a:stretch>
            <a:fillRect/>
          </a:stretch>
        </p:blipFill>
        <p:spPr>
          <a:xfrm>
            <a:off x="2574036" y="3582309"/>
            <a:ext cx="201168" cy="205775"/>
          </a:xfrm>
          <a:prstGeom prst="rect">
            <a:avLst/>
          </a:prstGeom>
        </p:spPr>
      </p:pic>
      <p:pic>
        <p:nvPicPr>
          <p:cNvPr id="65" name="Picture 64">
            <a:extLst>
              <a:ext uri="{FF2B5EF4-FFF2-40B4-BE49-F238E27FC236}">
                <a16:creationId xmlns:a16="http://schemas.microsoft.com/office/drawing/2014/main" id="{6005CBDB-B211-5113-5743-A5D468DF8733}"/>
              </a:ext>
            </a:extLst>
          </p:cNvPr>
          <p:cNvPicPr>
            <a:picLocks noChangeAspect="1"/>
          </p:cNvPicPr>
          <p:nvPr/>
        </p:nvPicPr>
        <p:blipFill>
          <a:blip r:embed="rId4"/>
          <a:stretch>
            <a:fillRect/>
          </a:stretch>
        </p:blipFill>
        <p:spPr>
          <a:xfrm>
            <a:off x="3651743" y="2619211"/>
            <a:ext cx="252622" cy="225276"/>
          </a:xfrm>
          <a:prstGeom prst="rect">
            <a:avLst/>
          </a:prstGeom>
        </p:spPr>
      </p:pic>
      <p:pic>
        <p:nvPicPr>
          <p:cNvPr id="67" name="Picture 66">
            <a:extLst>
              <a:ext uri="{FF2B5EF4-FFF2-40B4-BE49-F238E27FC236}">
                <a16:creationId xmlns:a16="http://schemas.microsoft.com/office/drawing/2014/main" id="{6AD8615D-D5F6-56AF-943B-0DABCC4C07A6}"/>
              </a:ext>
            </a:extLst>
          </p:cNvPr>
          <p:cNvPicPr>
            <a:picLocks noChangeAspect="1"/>
          </p:cNvPicPr>
          <p:nvPr/>
        </p:nvPicPr>
        <p:blipFill>
          <a:blip r:embed="rId5"/>
          <a:stretch>
            <a:fillRect/>
          </a:stretch>
        </p:blipFill>
        <p:spPr>
          <a:xfrm>
            <a:off x="3663206" y="3703750"/>
            <a:ext cx="263107" cy="191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6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Counting a State Space: Pac-Man</a:t>
            </a:r>
            <a:endParaRPr lang="en-US" sz="2600" b="0" u="none" strike="noStrike">
              <a:solidFill>
                <a:srgbClr val="000000"/>
              </a:solidFill>
              <a:effectLst/>
              <a:uFillTx/>
              <a:latin typeface="Arial"/>
            </a:endParaRPr>
          </a:p>
        </p:txBody>
      </p:sp>
      <p:sp>
        <p:nvSpPr>
          <p:cNvPr id="36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36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66" name="Rounded Rectangle 6"/>
          <p:cNvSpPr/>
          <p:nvPr/>
        </p:nvSpPr>
        <p:spPr>
          <a:xfrm>
            <a:off x="77724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World state: every last detail</a:t>
            </a:r>
            <a:endParaRPr lang="en-US" sz="1400" b="0" u="none" strike="noStrike">
              <a:solidFill>
                <a:srgbClr val="000000"/>
              </a:solidFill>
              <a:effectLst/>
              <a:uFillTx/>
              <a:latin typeface="Arial"/>
            </a:endParaRPr>
          </a:p>
        </p:txBody>
      </p:sp>
      <p:sp>
        <p:nvSpPr>
          <p:cNvPr id="367" name="Rounded Rectangle 7"/>
          <p:cNvSpPr/>
          <p:nvPr/>
        </p:nvSpPr>
        <p:spPr>
          <a:xfrm>
            <a:off x="777240" y="196596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68" name="Rectangle 8"/>
          <p:cNvSpPr/>
          <p:nvPr/>
        </p:nvSpPr>
        <p:spPr>
          <a:xfrm>
            <a:off x="96012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position</a:t>
            </a:r>
            <a:endParaRPr lang="en-US" sz="1300" b="0" u="none" strike="noStrike">
              <a:solidFill>
                <a:srgbClr val="000000"/>
              </a:solidFill>
              <a:effectLst/>
              <a:uFillTx/>
              <a:latin typeface="Arial"/>
            </a:endParaRPr>
          </a:p>
        </p:txBody>
      </p:sp>
      <p:sp>
        <p:nvSpPr>
          <p:cNvPr id="369" name="Rectangle 9"/>
          <p:cNvSpPr/>
          <p:nvPr/>
        </p:nvSpPr>
        <p:spPr>
          <a:xfrm>
            <a:off x="2971800" y="196596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12 × 10 grid</a:t>
            </a:r>
            <a:endParaRPr lang="en-US" sz="1150" b="0" u="none" strike="noStrike">
              <a:solidFill>
                <a:srgbClr val="000000"/>
              </a:solidFill>
              <a:effectLst/>
              <a:uFillTx/>
              <a:latin typeface="Arial"/>
            </a:endParaRPr>
          </a:p>
        </p:txBody>
      </p:sp>
      <p:sp>
        <p:nvSpPr>
          <p:cNvPr id="370" name="Rectangle 10"/>
          <p:cNvSpPr/>
          <p:nvPr/>
        </p:nvSpPr>
        <p:spPr>
          <a:xfrm>
            <a:off x="4983480" y="196596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120</a:t>
            </a:r>
            <a:endParaRPr lang="en-US" sz="1500" b="0" u="none" strike="noStrike">
              <a:solidFill>
                <a:srgbClr val="000000"/>
              </a:solidFill>
              <a:effectLst/>
              <a:uFillTx/>
              <a:latin typeface="Arial"/>
            </a:endParaRPr>
          </a:p>
        </p:txBody>
      </p:sp>
      <p:sp>
        <p:nvSpPr>
          <p:cNvPr id="371" name="Rounded Rectangle 11"/>
          <p:cNvSpPr/>
          <p:nvPr/>
        </p:nvSpPr>
        <p:spPr>
          <a:xfrm>
            <a:off x="777240" y="256032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2" name="Rectangle 12"/>
          <p:cNvSpPr/>
          <p:nvPr/>
        </p:nvSpPr>
        <p:spPr>
          <a:xfrm>
            <a:off x="96012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Dot status</a:t>
            </a:r>
            <a:endParaRPr lang="en-US" sz="1300" b="0" u="none" strike="noStrike">
              <a:solidFill>
                <a:srgbClr val="000000"/>
              </a:solidFill>
              <a:effectLst/>
              <a:uFillTx/>
              <a:latin typeface="Arial"/>
            </a:endParaRPr>
          </a:p>
        </p:txBody>
      </p:sp>
      <p:sp>
        <p:nvSpPr>
          <p:cNvPr id="373" name="Rectangle 13"/>
          <p:cNvSpPr/>
          <p:nvPr/>
        </p:nvSpPr>
        <p:spPr>
          <a:xfrm>
            <a:off x="2971800" y="25603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30 dots, each eaten or not</a:t>
            </a:r>
            <a:endParaRPr lang="en-US" sz="1150" b="0" u="none" strike="noStrike">
              <a:solidFill>
                <a:srgbClr val="000000"/>
              </a:solidFill>
              <a:effectLst/>
              <a:uFillTx/>
              <a:latin typeface="Arial"/>
            </a:endParaRPr>
          </a:p>
        </p:txBody>
      </p:sp>
      <p:sp>
        <p:nvSpPr>
          <p:cNvPr id="374" name="Rectangle 14"/>
          <p:cNvSpPr/>
          <p:nvPr/>
        </p:nvSpPr>
        <p:spPr>
          <a:xfrm>
            <a:off x="4983480" y="256032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2³⁰</a:t>
            </a:r>
            <a:endParaRPr lang="en-US" sz="1500" b="0" u="none" strike="noStrike">
              <a:solidFill>
                <a:srgbClr val="000000"/>
              </a:solidFill>
              <a:effectLst/>
              <a:uFillTx/>
              <a:latin typeface="Arial"/>
            </a:endParaRPr>
          </a:p>
        </p:txBody>
      </p:sp>
      <p:sp>
        <p:nvSpPr>
          <p:cNvPr id="375" name="Rounded Rectangle 15"/>
          <p:cNvSpPr/>
          <p:nvPr/>
        </p:nvSpPr>
        <p:spPr>
          <a:xfrm>
            <a:off x="777240" y="315468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76" name="Rectangle 16"/>
          <p:cNvSpPr/>
          <p:nvPr/>
        </p:nvSpPr>
        <p:spPr>
          <a:xfrm>
            <a:off x="96012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Ghost positions</a:t>
            </a:r>
            <a:endParaRPr lang="en-US" sz="1300" b="0" u="none" strike="noStrike">
              <a:solidFill>
                <a:srgbClr val="000000"/>
              </a:solidFill>
              <a:effectLst/>
              <a:uFillTx/>
              <a:latin typeface="Arial"/>
            </a:endParaRPr>
          </a:p>
        </p:txBody>
      </p:sp>
      <p:sp>
        <p:nvSpPr>
          <p:cNvPr id="377" name="Rectangle 17"/>
          <p:cNvSpPr/>
          <p:nvPr/>
        </p:nvSpPr>
        <p:spPr>
          <a:xfrm>
            <a:off x="2971800" y="315468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two ghosts, 12 × 1 lane</a:t>
            </a:r>
            <a:endParaRPr lang="en-US" sz="1150" b="0" u="none" strike="noStrike">
              <a:solidFill>
                <a:srgbClr val="000000"/>
              </a:solidFill>
              <a:effectLst/>
              <a:uFillTx/>
              <a:latin typeface="Arial"/>
            </a:endParaRPr>
          </a:p>
        </p:txBody>
      </p:sp>
      <p:sp>
        <p:nvSpPr>
          <p:cNvPr id="378" name="Rectangle 18"/>
          <p:cNvSpPr/>
          <p:nvPr/>
        </p:nvSpPr>
        <p:spPr>
          <a:xfrm>
            <a:off x="4983480" y="315468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12²</a:t>
            </a:r>
            <a:endParaRPr lang="en-US" sz="1500" b="0" u="none" strike="noStrike">
              <a:solidFill>
                <a:srgbClr val="000000"/>
              </a:solidFill>
              <a:effectLst/>
              <a:uFillTx/>
              <a:latin typeface="Arial"/>
            </a:endParaRPr>
          </a:p>
        </p:txBody>
      </p:sp>
      <p:sp>
        <p:nvSpPr>
          <p:cNvPr id="379" name="Rounded Rectangle 19"/>
          <p:cNvSpPr/>
          <p:nvPr/>
        </p:nvSpPr>
        <p:spPr>
          <a:xfrm>
            <a:off x="777240" y="3749040"/>
            <a:ext cx="5028840" cy="50256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0" name="Rectangle 20"/>
          <p:cNvSpPr/>
          <p:nvPr/>
        </p:nvSpPr>
        <p:spPr>
          <a:xfrm>
            <a:off x="96012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Agent facing</a:t>
            </a:r>
            <a:endParaRPr lang="en-US" sz="1300" b="0" u="none" strike="noStrike">
              <a:solidFill>
                <a:srgbClr val="000000"/>
              </a:solidFill>
              <a:effectLst/>
              <a:uFillTx/>
              <a:latin typeface="Arial"/>
            </a:endParaRPr>
          </a:p>
        </p:txBody>
      </p:sp>
      <p:sp>
        <p:nvSpPr>
          <p:cNvPr id="381" name="Rectangle 21"/>
          <p:cNvSpPr/>
          <p:nvPr/>
        </p:nvSpPr>
        <p:spPr>
          <a:xfrm>
            <a:off x="2971800" y="374904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N, S, E, or W</a:t>
            </a:r>
            <a:endParaRPr lang="en-US" sz="1150" b="0" u="none" strike="noStrike">
              <a:solidFill>
                <a:srgbClr val="000000"/>
              </a:solidFill>
              <a:effectLst/>
              <a:uFillTx/>
              <a:latin typeface="Arial"/>
            </a:endParaRPr>
          </a:p>
        </p:txBody>
      </p:sp>
      <p:sp>
        <p:nvSpPr>
          <p:cNvPr id="382" name="Rectangle 22"/>
          <p:cNvSpPr/>
          <p:nvPr/>
        </p:nvSpPr>
        <p:spPr>
          <a:xfrm>
            <a:off x="4983480" y="3749040"/>
            <a:ext cx="63972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4</a:t>
            </a:r>
            <a:endParaRPr lang="en-US" sz="1500" b="0" u="none" strike="noStrike">
              <a:solidFill>
                <a:srgbClr val="000000"/>
              </a:solidFill>
              <a:effectLst/>
              <a:uFillTx/>
              <a:latin typeface="Arial"/>
            </a:endParaRPr>
          </a:p>
        </p:txBody>
      </p:sp>
      <p:sp>
        <p:nvSpPr>
          <p:cNvPr id="383" name="Rounded Rectangle 23"/>
          <p:cNvSpPr/>
          <p:nvPr/>
        </p:nvSpPr>
        <p:spPr>
          <a:xfrm>
            <a:off x="6385680" y="1417320"/>
            <a:ext cx="502884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Search state: only what planning needs</a:t>
            </a:r>
            <a:endParaRPr lang="en-US" sz="1400" b="0" u="none" strike="noStrike">
              <a:solidFill>
                <a:srgbClr val="000000"/>
              </a:solidFill>
              <a:effectLst/>
              <a:uFillTx/>
              <a:latin typeface="Arial"/>
            </a:endParaRPr>
          </a:p>
        </p:txBody>
      </p:sp>
      <p:sp>
        <p:nvSpPr>
          <p:cNvPr id="384" name="Rounded Rectangle 24"/>
          <p:cNvSpPr/>
          <p:nvPr/>
        </p:nvSpPr>
        <p:spPr>
          <a:xfrm>
            <a:off x="6385680" y="196596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5" name="Rectangle 25"/>
          <p:cNvSpPr/>
          <p:nvPr/>
        </p:nvSpPr>
        <p:spPr>
          <a:xfrm>
            <a:off x="6568560" y="205740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Pathing</a:t>
            </a:r>
            <a:endParaRPr lang="en-US" sz="1350" b="0" u="none" strike="noStrike">
              <a:solidFill>
                <a:srgbClr val="000000"/>
              </a:solidFill>
              <a:effectLst/>
              <a:uFillTx/>
              <a:latin typeface="Arial"/>
            </a:endParaRPr>
          </a:p>
        </p:txBody>
      </p:sp>
      <p:sp>
        <p:nvSpPr>
          <p:cNvPr id="386" name="Rectangle 26"/>
          <p:cNvSpPr/>
          <p:nvPr/>
        </p:nvSpPr>
        <p:spPr>
          <a:xfrm>
            <a:off x="6568560" y="231660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only</a:t>
            </a:r>
            <a:endParaRPr lang="en-US" sz="1150" b="0" u="none" strike="noStrike">
              <a:solidFill>
                <a:srgbClr val="000000"/>
              </a:solidFill>
              <a:effectLst/>
              <a:uFillTx/>
              <a:latin typeface="Arial"/>
            </a:endParaRPr>
          </a:p>
        </p:txBody>
      </p:sp>
      <p:sp>
        <p:nvSpPr>
          <p:cNvPr id="387" name="Rectangle 27"/>
          <p:cNvSpPr/>
          <p:nvPr/>
        </p:nvSpPr>
        <p:spPr>
          <a:xfrm>
            <a:off x="9768960" y="196596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a:t>
            </a:r>
            <a:endParaRPr lang="en-US" sz="1400" b="0" u="none" strike="noStrike">
              <a:solidFill>
                <a:srgbClr val="000000"/>
              </a:solidFill>
              <a:effectLst/>
              <a:uFillTx/>
              <a:latin typeface="Arial"/>
            </a:endParaRPr>
          </a:p>
        </p:txBody>
      </p:sp>
      <p:sp>
        <p:nvSpPr>
          <p:cNvPr id="388" name="Rounded Rectangle 28"/>
          <p:cNvSpPr/>
          <p:nvPr/>
        </p:nvSpPr>
        <p:spPr>
          <a:xfrm>
            <a:off x="6385680" y="274320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89" name="Rectangle 29"/>
          <p:cNvSpPr/>
          <p:nvPr/>
        </p:nvSpPr>
        <p:spPr>
          <a:xfrm>
            <a:off x="6568560" y="283464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Eat-all-dots</a:t>
            </a:r>
            <a:endParaRPr lang="en-US" sz="1350" b="0" u="none" strike="noStrike">
              <a:solidFill>
                <a:srgbClr val="000000"/>
              </a:solidFill>
              <a:effectLst/>
              <a:uFillTx/>
              <a:latin typeface="Arial"/>
            </a:endParaRPr>
          </a:p>
        </p:txBody>
      </p:sp>
      <p:sp>
        <p:nvSpPr>
          <p:cNvPr id="390" name="Rectangle 30"/>
          <p:cNvSpPr/>
          <p:nvPr/>
        </p:nvSpPr>
        <p:spPr>
          <a:xfrm>
            <a:off x="6568560" y="309384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 booleans</a:t>
            </a:r>
            <a:endParaRPr lang="en-US" sz="1150" b="0" u="none" strike="noStrike">
              <a:solidFill>
                <a:srgbClr val="000000"/>
              </a:solidFill>
              <a:effectLst/>
              <a:uFillTx/>
              <a:latin typeface="Arial"/>
            </a:endParaRPr>
          </a:p>
        </p:txBody>
      </p:sp>
      <p:sp>
        <p:nvSpPr>
          <p:cNvPr id="391" name="Rectangle 31"/>
          <p:cNvSpPr/>
          <p:nvPr/>
        </p:nvSpPr>
        <p:spPr>
          <a:xfrm>
            <a:off x="9768960" y="274320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a:t>
            </a:r>
            <a:endParaRPr lang="en-US" sz="1400" b="0" u="none" strike="noStrike">
              <a:solidFill>
                <a:srgbClr val="000000"/>
              </a:solidFill>
              <a:effectLst/>
              <a:uFillTx/>
              <a:latin typeface="Arial"/>
            </a:endParaRPr>
          </a:p>
        </p:txBody>
      </p:sp>
      <p:sp>
        <p:nvSpPr>
          <p:cNvPr id="392" name="Rounded Rectangle 32"/>
          <p:cNvSpPr/>
          <p:nvPr/>
        </p:nvSpPr>
        <p:spPr>
          <a:xfrm>
            <a:off x="6385680" y="3520440"/>
            <a:ext cx="502884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393" name="Rectangle 33"/>
          <p:cNvSpPr/>
          <p:nvPr/>
        </p:nvSpPr>
        <p:spPr>
          <a:xfrm>
            <a:off x="6568560" y="3611880"/>
            <a:ext cx="201132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Safe passage</a:t>
            </a:r>
            <a:endParaRPr lang="en-US" sz="1350" b="0" u="none" strike="noStrike">
              <a:solidFill>
                <a:srgbClr val="000000"/>
              </a:solidFill>
              <a:effectLst/>
              <a:uFillTx/>
              <a:latin typeface="Arial"/>
            </a:endParaRPr>
          </a:p>
        </p:txBody>
      </p:sp>
      <p:sp>
        <p:nvSpPr>
          <p:cNvPr id="394" name="Rectangle 34"/>
          <p:cNvSpPr/>
          <p:nvPr/>
        </p:nvSpPr>
        <p:spPr>
          <a:xfrm>
            <a:off x="6568560" y="3871080"/>
            <a:ext cx="32000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position + dots + power pellets + scared timer</a:t>
            </a:r>
            <a:endParaRPr lang="en-US" sz="1150" b="0" u="none" strike="noStrike">
              <a:solidFill>
                <a:srgbClr val="000000"/>
              </a:solidFill>
              <a:effectLst/>
              <a:uFillTx/>
              <a:latin typeface="Arial"/>
            </a:endParaRPr>
          </a:p>
        </p:txBody>
      </p:sp>
      <p:sp>
        <p:nvSpPr>
          <p:cNvPr id="395" name="Rectangle 35"/>
          <p:cNvSpPr/>
          <p:nvPr/>
        </p:nvSpPr>
        <p:spPr>
          <a:xfrm>
            <a:off x="9768960" y="3520440"/>
            <a:ext cx="1462680" cy="6854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400" b="1" u="none" strike="noStrike">
                <a:solidFill>
                  <a:srgbClr val="177245"/>
                </a:solidFill>
                <a:effectLst/>
                <a:uFillTx/>
                <a:latin typeface="Aptos"/>
              </a:rPr>
              <a:t>120 × 2³⁰ × 2⁴ × t</a:t>
            </a:r>
            <a:endParaRPr lang="en-US" sz="1400" b="0" u="none" strike="noStrike">
              <a:solidFill>
                <a:srgbClr val="000000"/>
              </a:solidFill>
              <a:effectLst/>
              <a:uFillTx/>
              <a:latin typeface="Arial"/>
            </a:endParaRPr>
          </a:p>
        </p:txBody>
      </p:sp>
      <p:sp>
        <p:nvSpPr>
          <p:cNvPr id="396" name="Rectangle 36"/>
          <p:cNvSpPr/>
          <p:nvPr/>
        </p:nvSpPr>
        <p:spPr>
          <a:xfrm>
            <a:off x="914400" y="4389120"/>
            <a:ext cx="10423800" cy="4568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800" b="1" u="none" strike="noStrike">
                <a:solidFill>
                  <a:srgbClr val="112E5C"/>
                </a:solidFill>
                <a:effectLst/>
                <a:uFillTx/>
                <a:latin typeface="Aptos"/>
              </a:rPr>
              <a:t>World states:  </a:t>
            </a:r>
            <a:r>
              <a:rPr lang="en-US" sz="2200" b="1" u="none" strike="noStrike">
                <a:solidFill>
                  <a:srgbClr val="9B1C1C"/>
                </a:solidFill>
                <a:effectLst/>
                <a:uFillTx/>
                <a:latin typeface="Aptos"/>
              </a:rPr>
              <a:t>120 × 2³⁰ × 12² × 4  ≈  1.9 × 10¹³</a:t>
            </a:r>
            <a:endParaRPr lang="en-US" sz="2200" b="0" u="none" strike="noStrike">
              <a:solidFill>
                <a:srgbClr val="000000"/>
              </a:solidFill>
              <a:effectLst/>
              <a:uFillTx/>
              <a:latin typeface="Arial"/>
            </a:endParaRPr>
          </a:p>
        </p:txBody>
      </p:sp>
      <p:sp>
        <p:nvSpPr>
          <p:cNvPr id="397" name="Rectangle 37"/>
          <p:cNvSpPr/>
          <p:nvPr/>
        </p:nvSpPr>
        <p:spPr>
          <a:xfrm>
            <a:off x="914400" y="49834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One maze, three different problems. The state space is a consequence of the question you are asking, not of the world.</a:t>
            </a:r>
            <a:endParaRPr lang="en-US" sz="1700" b="0" u="none" strike="noStrike">
              <a:solidFill>
                <a:srgbClr val="000000"/>
              </a:solidFill>
              <a:effectLst/>
              <a:uFillTx/>
              <a:latin typeface="Arial"/>
            </a:endParaRPr>
          </a:p>
        </p:txBody>
      </p:sp>
      <p:sp>
        <p:nvSpPr>
          <p:cNvPr id="398" name="Rectangle 38"/>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Every extra state variable multiplies the space. Drop any variable the goal test and the cost function never read.</a:t>
            </a:r>
            <a:endParaRPr lang="en-US" sz="14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399"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0"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01"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Real-World Formulation: Airline Travel Planning</a:t>
            </a:r>
            <a:endParaRPr lang="en-US" sz="2600" b="0" u="none" strike="noStrike">
              <a:solidFill>
                <a:srgbClr val="000000"/>
              </a:solidFill>
              <a:effectLst/>
              <a:uFillTx/>
              <a:latin typeface="Arial"/>
            </a:endParaRPr>
          </a:p>
        </p:txBody>
      </p:sp>
      <p:sp>
        <p:nvSpPr>
          <p:cNvPr id="402"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03"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04" name="Rounded Rectangle 6"/>
          <p:cNvSpPr/>
          <p:nvPr/>
        </p:nvSpPr>
        <p:spPr>
          <a:xfrm>
            <a:off x="777240" y="14173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05"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Airport, current time, and historical information about earlier segments</a:t>
            </a:r>
            <a:endParaRPr lang="en-US" sz="1300" b="0" u="none" strike="noStrike">
              <a:solidFill>
                <a:srgbClr val="000000"/>
              </a:solidFill>
              <a:effectLst/>
              <a:uFillTx/>
              <a:latin typeface="Arial"/>
            </a:endParaRPr>
          </a:p>
        </p:txBody>
      </p:sp>
      <p:sp>
        <p:nvSpPr>
          <p:cNvPr id="406" name="Rounded Rectangle 8"/>
          <p:cNvSpPr/>
          <p:nvPr/>
        </p:nvSpPr>
        <p:spPr>
          <a:xfrm>
            <a:off x="777240" y="192024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07"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The traveller's home airport</a:t>
            </a:r>
            <a:endParaRPr lang="en-US" sz="1300" b="0" u="none" strike="noStrike">
              <a:solidFill>
                <a:srgbClr val="000000"/>
              </a:solidFill>
              <a:effectLst/>
              <a:uFillTx/>
              <a:latin typeface="Arial"/>
            </a:endParaRPr>
          </a:p>
        </p:txBody>
      </p:sp>
      <p:sp>
        <p:nvSpPr>
          <p:cNvPr id="408" name="Rounded Rectangle 10"/>
          <p:cNvSpPr/>
          <p:nvPr/>
        </p:nvSpPr>
        <p:spPr>
          <a:xfrm>
            <a:off x="777240" y="242316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09"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Any flight leaving after the current time, in any seat class, allowing transfer time</a:t>
            </a:r>
            <a:endParaRPr lang="en-US" sz="1300" b="0" u="none" strike="noStrike">
              <a:solidFill>
                <a:srgbClr val="000000"/>
              </a:solidFill>
              <a:effectLst/>
              <a:uFillTx/>
              <a:latin typeface="Arial"/>
            </a:endParaRPr>
          </a:p>
        </p:txBody>
      </p:sp>
      <p:sp>
        <p:nvSpPr>
          <p:cNvPr id="410" name="Rounded Rectangle 12"/>
          <p:cNvSpPr/>
          <p:nvPr/>
        </p:nvSpPr>
        <p:spPr>
          <a:xfrm>
            <a:off x="777240" y="29260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11"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New location is the destination; new time is the arrival time</a:t>
            </a:r>
            <a:endParaRPr lang="en-US" sz="1300" b="0" u="none" strike="noStrike">
              <a:solidFill>
                <a:srgbClr val="000000"/>
              </a:solidFill>
              <a:effectLst/>
              <a:uFillTx/>
              <a:latin typeface="Arial"/>
            </a:endParaRPr>
          </a:p>
        </p:txBody>
      </p:sp>
      <p:sp>
        <p:nvSpPr>
          <p:cNvPr id="412" name="Rounded Rectangle 14"/>
          <p:cNvSpPr/>
          <p:nvPr/>
        </p:nvSpPr>
        <p:spPr>
          <a:xfrm>
            <a:off x="777240" y="342900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state</a:t>
            </a:r>
            <a:endParaRPr lang="en-US" sz="1300" b="0" u="none" strike="noStrike">
              <a:solidFill>
                <a:srgbClr val="000000"/>
              </a:solidFill>
              <a:effectLst/>
              <a:uFillTx/>
              <a:latin typeface="Arial"/>
            </a:endParaRPr>
          </a:p>
        </p:txBody>
      </p:sp>
      <p:sp>
        <p:nvSpPr>
          <p:cNvPr id="413"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destination city — or something richer, like arriving on a nonstop flight</a:t>
            </a:r>
            <a:endParaRPr lang="en-US" sz="1300" b="0" u="none" strike="noStrike">
              <a:solidFill>
                <a:srgbClr val="000000"/>
              </a:solidFill>
              <a:effectLst/>
              <a:uFillTx/>
              <a:latin typeface="Arial"/>
            </a:endParaRPr>
          </a:p>
        </p:txBody>
      </p:sp>
      <p:sp>
        <p:nvSpPr>
          <p:cNvPr id="414" name="Rounded Rectangle 16"/>
          <p:cNvSpPr/>
          <p:nvPr/>
        </p:nvSpPr>
        <p:spPr>
          <a:xfrm>
            <a:off x="777240" y="393192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15"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Money, waiting time, flight time, customs, seat quality, aircraft type, reward points</a:t>
            </a:r>
            <a:endParaRPr lang="en-US" sz="1300" b="0" u="none" strike="noStrike">
              <a:solidFill>
                <a:srgbClr val="000000"/>
              </a:solidFill>
              <a:effectLst/>
              <a:uFillTx/>
              <a:latin typeface="Arial"/>
            </a:endParaRPr>
          </a:p>
        </p:txBody>
      </p:sp>
      <p:sp>
        <p:nvSpPr>
          <p:cNvPr id="416" name="Rounded Rectangle 18"/>
          <p:cNvSpPr/>
          <p:nvPr/>
        </p:nvSpPr>
        <p:spPr>
          <a:xfrm>
            <a:off x="8686800" y="1417320"/>
            <a:ext cx="2742840" cy="2011320"/>
          </a:xfrm>
          <a:prstGeom prst="roundRect">
            <a:avLst>
              <a:gd name="adj" fmla="val 45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17" name="Rectangle 19"/>
          <p:cNvSpPr/>
          <p:nvPr/>
        </p:nvSpPr>
        <p:spPr>
          <a:xfrm>
            <a:off x="8869680" y="1600200"/>
            <a:ext cx="2377080" cy="1645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r>
              <a:rPr lang="en-US" sz="1300" b="0" u="none" strike="noStrike">
                <a:solidFill>
                  <a:srgbClr val="FFFFFF"/>
                </a:solidFill>
                <a:effectLst/>
                <a:uFillTx/>
                <a:latin typeface="Aptos"/>
              </a:rPr>
              <a:t>Why does the state carry history?</a:t>
            </a:r>
            <a:endParaRPr lang="en-US" sz="1300" b="0" u="none" strike="noStrike">
              <a:solidFill>
                <a:srgbClr val="000000"/>
              </a:solidFill>
              <a:effectLst/>
              <a:uFillTx/>
              <a:latin typeface="Arial"/>
            </a:endParaRPr>
          </a:p>
          <a:p>
            <a:endParaRPr lang="en-US" sz="1300" b="0" u="none" strike="noStrike">
              <a:solidFill>
                <a:srgbClr val="000000"/>
              </a:solidFill>
              <a:effectLst/>
              <a:uFillTx/>
              <a:latin typeface="Arial"/>
            </a:endParaRPr>
          </a:p>
          <a:p>
            <a:pPr defTabSz="914400">
              <a:lnSpc>
                <a:spcPct val="100000"/>
              </a:lnSpc>
              <a:spcAft>
                <a:spcPts val="400"/>
              </a:spcAft>
            </a:pPr>
            <a:r>
              <a:rPr lang="en-US" sz="1300" b="0" u="none" strike="noStrike">
                <a:solidFill>
                  <a:srgbClr val="FFFFFF"/>
                </a:solidFill>
                <a:effectLst/>
                <a:uFillTx/>
                <a:latin typeface="Aptos"/>
              </a:rPr>
              <a:t>Because the cost of a flight segment depends on the fare basis of the segments already taken.</a:t>
            </a:r>
            <a:endParaRPr lang="en-US" sz="1300" b="0" u="none" strike="noStrike">
              <a:solidFill>
                <a:srgbClr val="000000"/>
              </a:solidFill>
              <a:effectLst/>
              <a:uFillTx/>
              <a:latin typeface="Arial"/>
            </a:endParaRPr>
          </a:p>
        </p:txBody>
      </p:sp>
      <p:sp>
        <p:nvSpPr>
          <p:cNvPr id="418" name="Rectangle 20"/>
          <p:cNvSpPr/>
          <p:nvPr/>
        </p:nvSpPr>
        <p:spPr>
          <a:xfrm>
            <a:off x="8686800" y="3611880"/>
            <a:ext cx="274284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50" b="1" u="none" strike="noStrike">
                <a:solidFill>
                  <a:srgbClr val="9B1C1C"/>
                </a:solidFill>
                <a:effectLst/>
                <a:uFillTx/>
                <a:latin typeface="Aptos"/>
              </a:rPr>
              <a:t>The cost function reads it, so it belongs in the state.</a:t>
            </a:r>
            <a:endParaRPr lang="en-US" sz="1250" b="0" u="none" strike="noStrike">
              <a:solidFill>
                <a:srgbClr val="000000"/>
              </a:solidFill>
              <a:effectLst/>
              <a:uFillTx/>
              <a:latin typeface="Arial"/>
            </a:endParaRPr>
          </a:p>
        </p:txBody>
      </p:sp>
      <p:sp>
        <p:nvSpPr>
          <p:cNvPr id="419" name="Rectangle 21"/>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Compare with the Pac-Man rule: drop any variable the goal test and the cost function never read.</a:t>
            </a:r>
            <a:endParaRPr lang="en-US" sz="1700" b="0" u="none" strike="noStrike">
              <a:solidFill>
                <a:srgbClr val="000000"/>
              </a:solidFill>
              <a:effectLst/>
              <a:uFillTx/>
              <a:latin typeface="Arial"/>
            </a:endParaRPr>
          </a:p>
        </p:txBody>
      </p:sp>
      <p:sp>
        <p:nvSpPr>
          <p:cNvPr id="420" name="Rectangle 22"/>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Here the cost function does read the past, so the past has to be part of the present state.</a:t>
            </a:r>
            <a:endParaRPr lang="en-US" sz="1500" b="0" u="none" strike="noStrike">
              <a:solidFill>
                <a:srgbClr val="000000"/>
              </a:solidFill>
              <a:effectLst/>
              <a:uFillTx/>
              <a:latin typeface="Arial"/>
            </a:endParaRPr>
          </a:p>
        </p:txBody>
      </p:sp>
      <p:sp>
        <p:nvSpPr>
          <p:cNvPr id="421"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And any usable system needs contingency plans for delays and missed connections — which is Chapter 4, not this one.</a:t>
            </a:r>
            <a:endParaRPr lang="en-US" sz="13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2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Formulate a Search Problem</a:t>
            </a:r>
            <a:endParaRPr lang="en-US" sz="2600" b="0" u="none" strike="noStrike">
              <a:solidFill>
                <a:srgbClr val="000000"/>
              </a:solidFill>
              <a:effectLst/>
              <a:uFillTx/>
              <a:latin typeface="Arial"/>
            </a:endParaRPr>
          </a:p>
        </p:txBody>
      </p:sp>
      <p:sp>
        <p:nvSpPr>
          <p:cNvPr id="42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2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27" name="Rounded Rectangle 6"/>
          <p:cNvSpPr/>
          <p:nvPr/>
        </p:nvSpPr>
        <p:spPr>
          <a:xfrm>
            <a:off x="777240" y="1417320"/>
            <a:ext cx="10637280" cy="68544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28" name="Rectangle 7"/>
          <p:cNvSpPr/>
          <p:nvPr/>
        </p:nvSpPr>
        <p:spPr>
          <a:xfrm>
            <a:off x="1051560" y="1508760"/>
            <a:ext cx="100886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600" b="1" u="none" strike="noStrike" dirty="0">
                <a:solidFill>
                  <a:srgbClr val="112E5C"/>
                </a:solidFill>
                <a:effectLst/>
                <a:uFillTx/>
                <a:latin typeface="Aptos"/>
              </a:rPr>
              <a:t>You have a 3-litre jug and a 5-litre jug, neither with any markings, and an unlimited supply of water. Measure out exactly 4 litres.</a:t>
            </a:r>
            <a:endParaRPr lang="en-US" sz="1600" b="0" u="none" strike="noStrike" dirty="0">
              <a:solidFill>
                <a:srgbClr val="000000"/>
              </a:solidFill>
              <a:effectLst/>
              <a:uFillTx/>
              <a:latin typeface="Arial"/>
            </a:endParaRPr>
          </a:p>
        </p:txBody>
      </p:sp>
      <p:sp>
        <p:nvSpPr>
          <p:cNvPr id="429" name="Rounded Rectangle 8"/>
          <p:cNvSpPr/>
          <p:nvPr/>
        </p:nvSpPr>
        <p:spPr>
          <a:xfrm>
            <a:off x="7772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30" name="Rounded Rectangle 9"/>
          <p:cNvSpPr/>
          <p:nvPr/>
        </p:nvSpPr>
        <p:spPr>
          <a:xfrm>
            <a:off x="26974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1" name="Rounded Rectangle 10"/>
          <p:cNvSpPr/>
          <p:nvPr/>
        </p:nvSpPr>
        <p:spPr>
          <a:xfrm>
            <a:off x="6263640" y="22860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32" name="Rounded Rectangle 11"/>
          <p:cNvSpPr/>
          <p:nvPr/>
        </p:nvSpPr>
        <p:spPr>
          <a:xfrm>
            <a:off x="8183880" y="22860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3" name="Rounded Rectangle 12"/>
          <p:cNvSpPr/>
          <p:nvPr/>
        </p:nvSpPr>
        <p:spPr>
          <a:xfrm>
            <a:off x="7772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34" name="Rounded Rectangle 13"/>
          <p:cNvSpPr/>
          <p:nvPr/>
        </p:nvSpPr>
        <p:spPr>
          <a:xfrm>
            <a:off x="26974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5" name="Rounded Rectangle 14"/>
          <p:cNvSpPr/>
          <p:nvPr/>
        </p:nvSpPr>
        <p:spPr>
          <a:xfrm>
            <a:off x="6263640" y="29718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 model</a:t>
            </a:r>
            <a:endParaRPr lang="en-US" sz="1300" b="0" u="none" strike="noStrike">
              <a:solidFill>
                <a:srgbClr val="000000"/>
              </a:solidFill>
              <a:effectLst/>
              <a:uFillTx/>
              <a:latin typeface="Arial"/>
            </a:endParaRPr>
          </a:p>
        </p:txBody>
      </p:sp>
      <p:sp>
        <p:nvSpPr>
          <p:cNvPr id="436" name="Rounded Rectangle 15"/>
          <p:cNvSpPr/>
          <p:nvPr/>
        </p:nvSpPr>
        <p:spPr>
          <a:xfrm>
            <a:off x="8183880" y="29718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37" name="Rounded Rectangle 16"/>
          <p:cNvSpPr/>
          <p:nvPr/>
        </p:nvSpPr>
        <p:spPr>
          <a:xfrm>
            <a:off x="7772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38" name="Rounded Rectangle 17"/>
          <p:cNvSpPr/>
          <p:nvPr/>
        </p:nvSpPr>
        <p:spPr>
          <a:xfrm>
            <a:off x="26974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39" name="Rounded Rectangle 18"/>
          <p:cNvSpPr/>
          <p:nvPr/>
        </p:nvSpPr>
        <p:spPr>
          <a:xfrm>
            <a:off x="6263640" y="3657600"/>
            <a:ext cx="1782720" cy="45684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40" name="Rounded Rectangle 19"/>
          <p:cNvSpPr/>
          <p:nvPr/>
        </p:nvSpPr>
        <p:spPr>
          <a:xfrm>
            <a:off x="8183880" y="3657600"/>
            <a:ext cx="3229560" cy="456840"/>
          </a:xfrm>
          <a:prstGeom prst="roundRect">
            <a:avLst>
              <a:gd name="adj" fmla="val 6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dirty="0">
              <a:solidFill>
                <a:schemeClr val="lt1"/>
              </a:solidFill>
              <a:effectLst/>
              <a:uFillTx/>
              <a:latin typeface="Aptos"/>
            </a:endParaRPr>
          </a:p>
        </p:txBody>
      </p:sp>
      <p:sp>
        <p:nvSpPr>
          <p:cNvPr id="441" name="Rectangle 20"/>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Work in pairs. Five minutes. Write all six parts before you argue about any of them.</a:t>
            </a:r>
            <a:endParaRPr lang="en-US" sz="1700" b="0" u="none" strike="noStrike">
              <a:solidFill>
                <a:srgbClr val="000000"/>
              </a:solidFill>
              <a:effectLst/>
              <a:uFillTx/>
              <a:latin typeface="Arial"/>
            </a:endParaRPr>
          </a:p>
        </p:txBody>
      </p:sp>
      <p:sp>
        <p:nvSpPr>
          <p:cNvPr id="442" name="Rounded Rectangle 21"/>
          <p:cNvSpPr/>
          <p:nvPr/>
        </p:nvSpPr>
        <p:spPr>
          <a:xfrm>
            <a:off x="914400" y="4983480"/>
            <a:ext cx="10423800" cy="6397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3" name="Rectangle 22"/>
          <p:cNvSpPr/>
          <p:nvPr/>
        </p:nvSpPr>
        <p:spPr>
          <a:xfrm>
            <a:off x="1097280" y="5074920"/>
            <a:ext cx="1005804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9B1C1C"/>
                </a:solidFill>
                <a:effectLst/>
                <a:uFillTx/>
                <a:latin typeface="Aptos"/>
              </a:rPr>
              <a:t>Watch for the trap: at least one variable you are tempted to include is never read by the goal test or the cost function.</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4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44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One Correct Formulation</a:t>
            </a:r>
            <a:endParaRPr lang="en-US" sz="2600" b="0" u="none" strike="noStrike">
              <a:solidFill>
                <a:srgbClr val="000000"/>
              </a:solidFill>
              <a:effectLst/>
              <a:uFillTx/>
              <a:latin typeface="Arial"/>
            </a:endParaRPr>
          </a:p>
        </p:txBody>
      </p:sp>
      <p:sp>
        <p:nvSpPr>
          <p:cNvPr id="44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4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49" name="Rounded Rectangle 6"/>
          <p:cNvSpPr/>
          <p:nvPr/>
        </p:nvSpPr>
        <p:spPr>
          <a:xfrm>
            <a:off x="777240" y="14173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States</a:t>
            </a:r>
            <a:endParaRPr lang="en-US" sz="1300" b="0" u="none" strike="noStrike">
              <a:solidFill>
                <a:srgbClr val="000000"/>
              </a:solidFill>
              <a:effectLst/>
              <a:uFillTx/>
              <a:latin typeface="Arial"/>
            </a:endParaRPr>
          </a:p>
        </p:txBody>
      </p:sp>
      <p:sp>
        <p:nvSpPr>
          <p:cNvPr id="450" name="Rectangle 7"/>
          <p:cNvSpPr/>
          <p:nvPr/>
        </p:nvSpPr>
        <p:spPr>
          <a:xfrm>
            <a:off x="2697480" y="14173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b) where a is the content of the 3-litre jug and b of the 5-litre jug</a:t>
            </a:r>
            <a:endParaRPr lang="en-US" sz="1300" b="0" u="none" strike="noStrike">
              <a:solidFill>
                <a:srgbClr val="000000"/>
              </a:solidFill>
              <a:effectLst/>
              <a:uFillTx/>
              <a:latin typeface="Arial"/>
            </a:endParaRPr>
          </a:p>
        </p:txBody>
      </p:sp>
      <p:sp>
        <p:nvSpPr>
          <p:cNvPr id="451" name="Rounded Rectangle 8"/>
          <p:cNvSpPr/>
          <p:nvPr/>
        </p:nvSpPr>
        <p:spPr>
          <a:xfrm>
            <a:off x="777240" y="192024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Initial state</a:t>
            </a:r>
            <a:endParaRPr lang="en-US" sz="1300" b="0" u="none" strike="noStrike">
              <a:solidFill>
                <a:srgbClr val="000000"/>
              </a:solidFill>
              <a:effectLst/>
              <a:uFillTx/>
              <a:latin typeface="Arial"/>
            </a:endParaRPr>
          </a:p>
        </p:txBody>
      </p:sp>
      <p:sp>
        <p:nvSpPr>
          <p:cNvPr id="452" name="Rectangle 9"/>
          <p:cNvSpPr/>
          <p:nvPr/>
        </p:nvSpPr>
        <p:spPr>
          <a:xfrm>
            <a:off x="2697480" y="192024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(0, 0)</a:t>
            </a:r>
            <a:endParaRPr lang="en-US" sz="1300" b="0" u="none" strike="noStrike">
              <a:solidFill>
                <a:srgbClr val="000000"/>
              </a:solidFill>
              <a:effectLst/>
              <a:uFillTx/>
              <a:latin typeface="Arial"/>
            </a:endParaRPr>
          </a:p>
        </p:txBody>
      </p:sp>
      <p:sp>
        <p:nvSpPr>
          <p:cNvPr id="453" name="Rounded Rectangle 10"/>
          <p:cNvSpPr/>
          <p:nvPr/>
        </p:nvSpPr>
        <p:spPr>
          <a:xfrm>
            <a:off x="777240" y="242316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Actions</a:t>
            </a:r>
            <a:endParaRPr lang="en-US" sz="1300" b="0" u="none" strike="noStrike">
              <a:solidFill>
                <a:srgbClr val="000000"/>
              </a:solidFill>
              <a:effectLst/>
              <a:uFillTx/>
              <a:latin typeface="Arial"/>
            </a:endParaRPr>
          </a:p>
        </p:txBody>
      </p:sp>
      <p:sp>
        <p:nvSpPr>
          <p:cNvPr id="454" name="Rectangle 11"/>
          <p:cNvSpPr/>
          <p:nvPr/>
        </p:nvSpPr>
        <p:spPr>
          <a:xfrm>
            <a:off x="2697480" y="242316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Fill A, Fill B, Empty A, Empty B, Pour A→B, Pour B→A</a:t>
            </a:r>
            <a:endParaRPr lang="en-US" sz="1300" b="0" u="none" strike="noStrike">
              <a:solidFill>
                <a:srgbClr val="000000"/>
              </a:solidFill>
              <a:effectLst/>
              <a:uFillTx/>
              <a:latin typeface="Arial"/>
            </a:endParaRPr>
          </a:p>
        </p:txBody>
      </p:sp>
      <p:sp>
        <p:nvSpPr>
          <p:cNvPr id="455" name="Rounded Rectangle 12"/>
          <p:cNvSpPr/>
          <p:nvPr/>
        </p:nvSpPr>
        <p:spPr>
          <a:xfrm>
            <a:off x="777240" y="292608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Transition</a:t>
            </a:r>
            <a:endParaRPr lang="en-US" sz="1300" b="0" u="none" strike="noStrike">
              <a:solidFill>
                <a:srgbClr val="000000"/>
              </a:solidFill>
              <a:effectLst/>
              <a:uFillTx/>
              <a:latin typeface="Arial"/>
            </a:endParaRPr>
          </a:p>
        </p:txBody>
      </p:sp>
      <p:sp>
        <p:nvSpPr>
          <p:cNvPr id="456" name="Rectangle 13"/>
          <p:cNvSpPr/>
          <p:nvPr/>
        </p:nvSpPr>
        <p:spPr>
          <a:xfrm>
            <a:off x="2697480" y="292608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pour transfers min(source, capacity of destination − destination)</a:t>
            </a:r>
            <a:endParaRPr lang="en-US" sz="1300" b="0" u="none" strike="noStrike">
              <a:solidFill>
                <a:srgbClr val="000000"/>
              </a:solidFill>
              <a:effectLst/>
              <a:uFillTx/>
              <a:latin typeface="Arial"/>
            </a:endParaRPr>
          </a:p>
        </p:txBody>
      </p:sp>
      <p:sp>
        <p:nvSpPr>
          <p:cNvPr id="457" name="Rounded Rectangle 14"/>
          <p:cNvSpPr/>
          <p:nvPr/>
        </p:nvSpPr>
        <p:spPr>
          <a:xfrm>
            <a:off x="777240" y="342900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Goal test</a:t>
            </a:r>
            <a:endParaRPr lang="en-US" sz="1300" b="0" u="none" strike="noStrike">
              <a:solidFill>
                <a:srgbClr val="000000"/>
              </a:solidFill>
              <a:effectLst/>
              <a:uFillTx/>
              <a:latin typeface="Arial"/>
            </a:endParaRPr>
          </a:p>
        </p:txBody>
      </p:sp>
      <p:sp>
        <p:nvSpPr>
          <p:cNvPr id="458" name="Rectangle 15"/>
          <p:cNvSpPr/>
          <p:nvPr/>
        </p:nvSpPr>
        <p:spPr>
          <a:xfrm>
            <a:off x="2697480" y="342900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a = 4 or b = 4</a:t>
            </a:r>
            <a:endParaRPr lang="en-US" sz="1300" b="0" u="none" strike="noStrike">
              <a:solidFill>
                <a:srgbClr val="000000"/>
              </a:solidFill>
              <a:effectLst/>
              <a:uFillTx/>
              <a:latin typeface="Arial"/>
            </a:endParaRPr>
          </a:p>
        </p:txBody>
      </p:sp>
      <p:sp>
        <p:nvSpPr>
          <p:cNvPr id="459" name="Rounded Rectangle 16"/>
          <p:cNvSpPr/>
          <p:nvPr/>
        </p:nvSpPr>
        <p:spPr>
          <a:xfrm>
            <a:off x="777240" y="3931920"/>
            <a:ext cx="17827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112E5C"/>
                </a:solidFill>
                <a:effectLst/>
                <a:uFillTx/>
                <a:latin typeface="Aptos"/>
              </a:rPr>
              <a:t>Action cost</a:t>
            </a:r>
            <a:endParaRPr lang="en-US" sz="1300" b="0" u="none" strike="noStrike">
              <a:solidFill>
                <a:srgbClr val="000000"/>
              </a:solidFill>
              <a:effectLst/>
              <a:uFillTx/>
              <a:latin typeface="Arial"/>
            </a:endParaRPr>
          </a:p>
        </p:txBody>
      </p:sp>
      <p:sp>
        <p:nvSpPr>
          <p:cNvPr id="460" name="Rectangle 17"/>
          <p:cNvSpPr/>
          <p:nvPr/>
        </p:nvSpPr>
        <p:spPr>
          <a:xfrm>
            <a:off x="2697480" y="3931920"/>
            <a:ext cx="59432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1 per action, so path cost is the number of actions</a:t>
            </a:r>
            <a:endParaRPr lang="en-US" sz="1300" b="0" u="none" strike="noStrike">
              <a:solidFill>
                <a:srgbClr val="000000"/>
              </a:solidFill>
              <a:effectLst/>
              <a:uFillTx/>
              <a:latin typeface="Arial"/>
            </a:endParaRPr>
          </a:p>
        </p:txBody>
      </p:sp>
      <p:sp>
        <p:nvSpPr>
          <p:cNvPr id="461" name="Rectangle 18"/>
          <p:cNvSpPr/>
          <p:nvPr/>
        </p:nvSpPr>
        <p:spPr>
          <a:xfrm>
            <a:off x="9339240" y="135222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dirty="0">
                <a:solidFill>
                  <a:srgbClr val="112E5C"/>
                </a:solidFill>
                <a:effectLst/>
                <a:uFillTx/>
                <a:latin typeface="Aptos"/>
              </a:rPr>
              <a:t>24</a:t>
            </a:r>
            <a:endParaRPr lang="en-US" sz="2600" b="0" u="none" strike="noStrike" dirty="0">
              <a:solidFill>
                <a:srgbClr val="000000"/>
              </a:solidFill>
              <a:effectLst/>
              <a:uFillTx/>
              <a:latin typeface="Arial"/>
            </a:endParaRPr>
          </a:p>
        </p:txBody>
      </p:sp>
      <p:sp>
        <p:nvSpPr>
          <p:cNvPr id="462" name="Rectangle 19"/>
          <p:cNvSpPr/>
          <p:nvPr/>
        </p:nvSpPr>
        <p:spPr>
          <a:xfrm>
            <a:off x="9339240" y="185514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states: 4 × 6</a:t>
            </a:r>
            <a:endParaRPr lang="en-US" sz="1200" b="0" u="none" strike="noStrike">
              <a:solidFill>
                <a:srgbClr val="000000"/>
              </a:solidFill>
              <a:effectLst/>
              <a:uFillTx/>
              <a:latin typeface="Arial"/>
            </a:endParaRPr>
          </a:p>
        </p:txBody>
      </p:sp>
      <p:sp>
        <p:nvSpPr>
          <p:cNvPr id="463" name="Rectangle 20"/>
          <p:cNvSpPr/>
          <p:nvPr/>
        </p:nvSpPr>
        <p:spPr>
          <a:xfrm>
            <a:off x="9339240" y="217518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4" name="Rectangle 21"/>
          <p:cNvSpPr/>
          <p:nvPr/>
        </p:nvSpPr>
        <p:spPr>
          <a:xfrm>
            <a:off x="9339240" y="267810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a:t>
            </a:r>
            <a:endParaRPr lang="en-US" sz="1200" b="0" u="none" strike="noStrike">
              <a:solidFill>
                <a:srgbClr val="000000"/>
              </a:solidFill>
              <a:effectLst/>
              <a:uFillTx/>
              <a:latin typeface="Arial"/>
            </a:endParaRPr>
          </a:p>
        </p:txBody>
      </p:sp>
      <p:sp>
        <p:nvSpPr>
          <p:cNvPr id="465" name="Rectangle 22"/>
          <p:cNvSpPr/>
          <p:nvPr/>
        </p:nvSpPr>
        <p:spPr>
          <a:xfrm>
            <a:off x="9339240" y="2998140"/>
            <a:ext cx="27428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600" b="1" u="none" strike="noStrike">
                <a:solidFill>
                  <a:srgbClr val="112E5C"/>
                </a:solidFill>
                <a:effectLst/>
                <a:uFillTx/>
                <a:latin typeface="Aptos"/>
              </a:rPr>
              <a:t>6</a:t>
            </a:r>
            <a:endParaRPr lang="en-US" sz="2600" b="0" u="none" strike="noStrike">
              <a:solidFill>
                <a:srgbClr val="000000"/>
              </a:solidFill>
              <a:effectLst/>
              <a:uFillTx/>
              <a:latin typeface="Arial"/>
            </a:endParaRPr>
          </a:p>
        </p:txBody>
      </p:sp>
      <p:sp>
        <p:nvSpPr>
          <p:cNvPr id="466" name="Rectangle 23"/>
          <p:cNvSpPr/>
          <p:nvPr/>
        </p:nvSpPr>
        <p:spPr>
          <a:xfrm>
            <a:off x="9339240" y="3501060"/>
            <a:ext cx="2742840" cy="2466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actions in the shortest solution</a:t>
            </a:r>
            <a:endParaRPr lang="en-US" sz="1200" b="0" u="none" strike="noStrike">
              <a:solidFill>
                <a:srgbClr val="000000"/>
              </a:solidFill>
              <a:effectLst/>
              <a:uFillTx/>
              <a:latin typeface="Arial"/>
            </a:endParaRPr>
          </a:p>
        </p:txBody>
      </p:sp>
      <p:sp>
        <p:nvSpPr>
          <p:cNvPr id="467" name="Rectangle 24"/>
          <p:cNvSpPr/>
          <p:nvPr/>
        </p:nvSpPr>
        <p:spPr>
          <a:xfrm>
            <a:off x="914400" y="4526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state is exactly the pair of jug contents. Nothing else is ever consulted.</a:t>
            </a:r>
            <a:endParaRPr lang="en-US" sz="1700" b="0" u="none" strike="noStrike">
              <a:solidFill>
                <a:srgbClr val="000000"/>
              </a:solidFill>
              <a:effectLst/>
              <a:uFillTx/>
              <a:latin typeface="Arial"/>
            </a:endParaRPr>
          </a:p>
        </p:txBody>
      </p:sp>
      <p:sp>
        <p:nvSpPr>
          <p:cNvPr id="468"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Not in the state: how much water you have poured in total, how long it took, or the number 4 itself.</a:t>
            </a:r>
            <a:endParaRPr lang="en-US" sz="1500" b="0" u="none" strike="noStrike">
              <a:solidFill>
                <a:srgbClr val="000000"/>
              </a:solidFill>
              <a:effectLst/>
              <a:uFillTx/>
              <a:latin typeface="Arial"/>
            </a:endParaRPr>
          </a:p>
        </p:txBody>
      </p:sp>
      <p:sp>
        <p:nvSpPr>
          <p:cNvPr id="469" name="Rectangle 26"/>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The goal is a property of a state, not a state you have to name in advance.</a:t>
            </a:r>
            <a:endParaRPr lang="en-US" sz="135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438912"/>
            <a:ext cx="9875520" cy="310896"/>
          </a:xfrm>
          <a:prstGeom prst="rect">
            <a:avLst/>
          </a:prstGeom>
          <a:noFill/>
          <a:ln/>
        </p:spPr>
        <p:txBody>
          <a:bodyPr wrap="square" lIns="0" tIns="0" rIns="0" bIns="0" rtlCol="0" anchor="ctr"/>
          <a:lstStyle/>
          <a:p>
            <a:pPr marL="0" indent="0">
              <a:buNone/>
            </a:pPr>
            <a:r>
              <a:rPr lang="en-US" sz="2300" b="1" dirty="0">
                <a:solidFill>
                  <a:srgbClr val="FFFFFF"/>
                </a:solidFill>
                <a:latin typeface="Aptos Display" pitchFamily="34" charset="0"/>
                <a:ea typeface="Aptos Display" pitchFamily="34" charset="-122"/>
                <a:cs typeface="Aptos Display" pitchFamily="34" charset="-120"/>
              </a:rPr>
              <a:t>The Math Behind the Jug State Space</a:t>
            </a:r>
            <a:endParaRPr lang="en-US" sz="2300" dirty="0"/>
          </a:p>
        </p:txBody>
      </p:sp>
      <p:sp>
        <p:nvSpPr>
          <p:cNvPr id="3" name="Shape 1"/>
          <p:cNvSpPr/>
          <p:nvPr/>
        </p:nvSpPr>
        <p:spPr>
          <a:xfrm>
            <a:off x="566928" y="1344168"/>
            <a:ext cx="1874520" cy="438912"/>
          </a:xfrm>
          <a:prstGeom prst="roundRect">
            <a:avLst>
              <a:gd name="adj" fmla="val 16667"/>
            </a:avLst>
          </a:prstGeom>
          <a:solidFill>
            <a:srgbClr val="DDEFE5"/>
          </a:solidFill>
          <a:ln w="15240">
            <a:solidFill>
              <a:srgbClr val="153965"/>
            </a:solidFill>
            <a:prstDash val="solid"/>
          </a:ln>
        </p:spPr>
        <p:txBody>
          <a:bodyPr/>
          <a:lstStyle/>
          <a:p>
            <a:endParaRPr lang="en-US"/>
          </a:p>
        </p:txBody>
      </p:sp>
      <p:sp>
        <p:nvSpPr>
          <p:cNvPr id="4" name="Text 2"/>
          <p:cNvSpPr/>
          <p:nvPr/>
        </p:nvSpPr>
        <p:spPr>
          <a:xfrm>
            <a:off x="566928" y="1389888"/>
            <a:ext cx="1874520" cy="347472"/>
          </a:xfrm>
          <a:prstGeom prst="rect">
            <a:avLst/>
          </a:prstGeom>
          <a:noFill/>
          <a:ln/>
        </p:spPr>
        <p:txBody>
          <a:bodyPr wrap="square" lIns="254" tIns="254" rIns="254" bIns="254"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State variables</a:t>
            </a:r>
            <a:endParaRPr lang="en-US" sz="1500" dirty="0"/>
          </a:p>
        </p:txBody>
      </p:sp>
      <p:sp>
        <p:nvSpPr>
          <p:cNvPr id="5" name="Text 3"/>
          <p:cNvSpPr/>
          <p:nvPr/>
        </p:nvSpPr>
        <p:spPr>
          <a:xfrm>
            <a:off x="2633472" y="1298448"/>
            <a:ext cx="2148840" cy="310896"/>
          </a:xfrm>
          <a:prstGeom prst="rect">
            <a:avLst/>
          </a:prstGeom>
          <a:noFill/>
          <a:ln/>
        </p:spPr>
        <p:txBody>
          <a:bodyPr wrap="square" lIns="0" tIns="0" rIns="0" bIns="0" rtlCol="0" anchor="ctr"/>
          <a:lstStyle/>
          <a:p>
            <a:pPr marL="0" indent="0">
              <a:buNone/>
            </a:pPr>
            <a:r>
              <a:rPr lang="en-US" sz="1850" b="1" dirty="0">
                <a:solidFill>
                  <a:srgbClr val="0D2F5F"/>
                </a:solidFill>
              </a:rPr>
              <a:t>State = (a, b)</a:t>
            </a:r>
            <a:endParaRPr lang="en-US" sz="1850" dirty="0"/>
          </a:p>
        </p:txBody>
      </p:sp>
      <p:sp>
        <p:nvSpPr>
          <p:cNvPr id="6" name="Text 4"/>
          <p:cNvSpPr/>
          <p:nvPr/>
        </p:nvSpPr>
        <p:spPr>
          <a:xfrm>
            <a:off x="2633472" y="1627632"/>
            <a:ext cx="3429000" cy="420624"/>
          </a:xfrm>
          <a:prstGeom prst="rect">
            <a:avLst/>
          </a:prstGeom>
          <a:noFill/>
          <a:ln/>
        </p:spPr>
        <p:txBody>
          <a:bodyPr wrap="square" lIns="0" tIns="0" rIns="0" bIns="0" rtlCol="0" anchor="ctr"/>
          <a:lstStyle/>
          <a:p>
            <a:pPr marL="0" indent="0">
              <a:buNone/>
            </a:pPr>
            <a:r>
              <a:rPr lang="en-US" sz="1210" dirty="0">
                <a:solidFill>
                  <a:srgbClr val="102B4C"/>
                </a:solidFill>
              </a:rPr>
              <a:t>a = amount in the 3-litre jug</a:t>
            </a:r>
            <a:endParaRPr lang="en-US" sz="1210" dirty="0"/>
          </a:p>
          <a:p>
            <a:pPr marL="0" indent="0">
              <a:buNone/>
            </a:pPr>
            <a:r>
              <a:rPr lang="en-US" sz="1210" dirty="0">
                <a:solidFill>
                  <a:srgbClr val="102B4C"/>
                </a:solidFill>
              </a:rPr>
              <a:t>b = amount in the 5-litre jug</a:t>
            </a:r>
            <a:endParaRPr lang="en-US" sz="1210" dirty="0"/>
          </a:p>
        </p:txBody>
      </p:sp>
      <p:sp>
        <p:nvSpPr>
          <p:cNvPr id="7" name="Shape 5"/>
          <p:cNvSpPr/>
          <p:nvPr/>
        </p:nvSpPr>
        <p:spPr>
          <a:xfrm>
            <a:off x="566928" y="2157984"/>
            <a:ext cx="1874520" cy="438912"/>
          </a:xfrm>
          <a:prstGeom prst="roundRect">
            <a:avLst>
              <a:gd name="adj" fmla="val 16667"/>
            </a:avLst>
          </a:prstGeom>
          <a:solidFill>
            <a:srgbClr val="DDEFE5"/>
          </a:solidFill>
          <a:ln w="15240">
            <a:solidFill>
              <a:srgbClr val="153965"/>
            </a:solidFill>
            <a:prstDash val="solid"/>
          </a:ln>
        </p:spPr>
        <p:txBody>
          <a:bodyPr/>
          <a:lstStyle/>
          <a:p>
            <a:endParaRPr lang="en-US"/>
          </a:p>
        </p:txBody>
      </p:sp>
      <p:sp>
        <p:nvSpPr>
          <p:cNvPr id="8" name="Text 6"/>
          <p:cNvSpPr/>
          <p:nvPr/>
        </p:nvSpPr>
        <p:spPr>
          <a:xfrm>
            <a:off x="566928" y="2203704"/>
            <a:ext cx="1874520" cy="347472"/>
          </a:xfrm>
          <a:prstGeom prst="rect">
            <a:avLst/>
          </a:prstGeom>
          <a:noFill/>
          <a:ln/>
        </p:spPr>
        <p:txBody>
          <a:bodyPr wrap="square" lIns="254" tIns="254" rIns="254" bIns="254" rtlCol="0" anchor="ctr">
            <a:normAutofit/>
          </a:bodyPr>
          <a:lstStyle/>
          <a:p>
            <a:pPr marL="0" indent="0" algn="ctr">
              <a:buNone/>
            </a:pPr>
            <a:r>
              <a:rPr lang="en-US" sz="1500" b="1" dirty="0">
                <a:solidFill>
                  <a:srgbClr val="0D2F5F"/>
                </a:solidFill>
                <a:latin typeface="Aptos" pitchFamily="34" charset="0"/>
                <a:ea typeface="Aptos" pitchFamily="34" charset="-122"/>
                <a:cs typeface="Aptos" pitchFamily="34" charset="-120"/>
              </a:rPr>
              <a:t>Domains</a:t>
            </a:r>
            <a:endParaRPr lang="en-US" sz="1500" dirty="0"/>
          </a:p>
        </p:txBody>
      </p:sp>
      <p:sp>
        <p:nvSpPr>
          <p:cNvPr id="9" name="Text 7"/>
          <p:cNvSpPr/>
          <p:nvPr/>
        </p:nvSpPr>
        <p:spPr>
          <a:xfrm>
            <a:off x="2633472" y="2139696"/>
            <a:ext cx="3749040" cy="548640"/>
          </a:xfrm>
          <a:prstGeom prst="rect">
            <a:avLst/>
          </a:prstGeom>
          <a:noFill/>
          <a:ln/>
        </p:spPr>
        <p:txBody>
          <a:bodyPr wrap="square" lIns="0" tIns="0" rIns="0" bIns="0" rtlCol="0" anchor="ctr"/>
          <a:lstStyle/>
          <a:p>
            <a:pPr marL="0" indent="0">
              <a:buNone/>
            </a:pPr>
            <a:r>
              <a:rPr lang="en-US" sz="1380" dirty="0">
                <a:solidFill>
                  <a:srgbClr val="102B4C"/>
                </a:solidFill>
              </a:rPr>
              <a:t>a ∈ {0,1,2,3}  ⇒  4 values</a:t>
            </a:r>
            <a:endParaRPr lang="en-US" sz="1380" dirty="0"/>
          </a:p>
          <a:p>
            <a:pPr marL="0" indent="0">
              <a:buNone/>
            </a:pPr>
            <a:r>
              <a:rPr lang="en-US" sz="1380" dirty="0">
                <a:solidFill>
                  <a:srgbClr val="102B4C"/>
                </a:solidFill>
              </a:rPr>
              <a:t>b ∈ {0,1,2,3,4,5}  ⇒  6 values</a:t>
            </a:r>
            <a:endParaRPr lang="en-US" sz="1380" dirty="0"/>
          </a:p>
        </p:txBody>
      </p:sp>
      <p:sp>
        <p:nvSpPr>
          <p:cNvPr id="10" name="Shape 8"/>
          <p:cNvSpPr/>
          <p:nvPr/>
        </p:nvSpPr>
        <p:spPr>
          <a:xfrm>
            <a:off x="566928" y="2999232"/>
            <a:ext cx="5458968" cy="950976"/>
          </a:xfrm>
          <a:prstGeom prst="roundRect">
            <a:avLst>
              <a:gd name="adj" fmla="val 7692"/>
            </a:avLst>
          </a:prstGeom>
          <a:solidFill>
            <a:srgbClr val="DCEBFF"/>
          </a:solidFill>
          <a:ln w="13970">
            <a:solidFill>
              <a:srgbClr val="2B73D2"/>
            </a:solidFill>
            <a:prstDash val="solid"/>
          </a:ln>
        </p:spPr>
        <p:txBody>
          <a:bodyPr/>
          <a:lstStyle/>
          <a:p>
            <a:endParaRPr lang="en-US"/>
          </a:p>
        </p:txBody>
      </p:sp>
      <p:sp>
        <p:nvSpPr>
          <p:cNvPr id="11" name="Text 9"/>
          <p:cNvSpPr/>
          <p:nvPr/>
        </p:nvSpPr>
        <p:spPr>
          <a:xfrm>
            <a:off x="713232" y="3172968"/>
            <a:ext cx="5148072" cy="384048"/>
          </a:xfrm>
          <a:prstGeom prst="rect">
            <a:avLst/>
          </a:prstGeom>
          <a:noFill/>
          <a:ln/>
        </p:spPr>
        <p:txBody>
          <a:bodyPr wrap="square" lIns="0" tIns="0" rIns="0" bIns="0" rtlCol="0" anchor="ctr"/>
          <a:lstStyle/>
          <a:p>
            <a:pPr marL="0" indent="0" algn="ctr">
              <a:buNone/>
            </a:pPr>
            <a:r>
              <a:rPr lang="en-US" sz="2200" b="1" dirty="0">
                <a:solidFill>
                  <a:srgbClr val="0D2F5F"/>
                </a:solidFill>
              </a:rPr>
              <a:t>|S| = |A| × |B| = 4 × 6 = 24</a:t>
            </a:r>
            <a:endParaRPr lang="en-US" sz="2200" dirty="0"/>
          </a:p>
        </p:txBody>
      </p:sp>
      <p:sp>
        <p:nvSpPr>
          <p:cNvPr id="12" name="Text 10"/>
          <p:cNvSpPr/>
          <p:nvPr/>
        </p:nvSpPr>
        <p:spPr>
          <a:xfrm>
            <a:off x="822960" y="3602736"/>
            <a:ext cx="4919472" cy="201168"/>
          </a:xfrm>
          <a:prstGeom prst="rect">
            <a:avLst/>
          </a:prstGeom>
          <a:noFill/>
          <a:ln/>
        </p:spPr>
        <p:txBody>
          <a:bodyPr wrap="square" lIns="0" tIns="0" rIns="0" bIns="0" rtlCol="0" anchor="ctr"/>
          <a:lstStyle/>
          <a:p>
            <a:pPr marL="0" indent="0" algn="ctr">
              <a:buNone/>
            </a:pPr>
            <a:r>
              <a:rPr lang="en-US" sz="980" dirty="0">
                <a:solidFill>
                  <a:srgbClr val="506987"/>
                </a:solidFill>
              </a:rPr>
              <a:t>This is a </a:t>
            </a:r>
            <a:r>
              <a:rPr lang="en-US" sz="980" dirty="0">
                <a:solidFill>
                  <a:srgbClr val="506987"/>
                </a:solidFill>
                <a:hlinkClick r:id="rId3"/>
              </a:rPr>
              <a:t>Cartesian product</a:t>
            </a:r>
            <a:r>
              <a:rPr lang="en-US" sz="980" dirty="0">
                <a:solidFill>
                  <a:srgbClr val="506987"/>
                </a:solidFill>
              </a:rPr>
              <a:t>: every possible a-value paired with every possible b-value.</a:t>
            </a:r>
            <a:endParaRPr lang="en-US" sz="980" dirty="0"/>
          </a:p>
        </p:txBody>
      </p:sp>
      <p:sp>
        <p:nvSpPr>
          <p:cNvPr id="13" name="Text 11"/>
          <p:cNvSpPr/>
          <p:nvPr/>
        </p:nvSpPr>
        <p:spPr>
          <a:xfrm>
            <a:off x="6446520" y="1298448"/>
            <a:ext cx="2926080" cy="256032"/>
          </a:xfrm>
          <a:prstGeom prst="rect">
            <a:avLst/>
          </a:prstGeom>
          <a:noFill/>
          <a:ln/>
        </p:spPr>
        <p:txBody>
          <a:bodyPr wrap="square" lIns="0" tIns="0" rIns="0" bIns="0" rtlCol="0" anchor="ctr"/>
          <a:lstStyle/>
          <a:p>
            <a:pPr marL="0" indent="0">
              <a:buNone/>
            </a:pPr>
            <a:r>
              <a:rPr lang="en-US" sz="1500" b="1" dirty="0">
                <a:solidFill>
                  <a:srgbClr val="0D2F5F"/>
                </a:solidFill>
              </a:rPr>
              <a:t>All valid capacity pairs</a:t>
            </a:r>
            <a:endParaRPr lang="en-US" sz="1500" dirty="0"/>
          </a:p>
        </p:txBody>
      </p:sp>
      <p:sp>
        <p:nvSpPr>
          <p:cNvPr id="14" name="Text 12"/>
          <p:cNvSpPr/>
          <p:nvPr/>
        </p:nvSpPr>
        <p:spPr>
          <a:xfrm>
            <a:off x="6446520" y="1581912"/>
            <a:ext cx="3840480" cy="164592"/>
          </a:xfrm>
          <a:prstGeom prst="rect">
            <a:avLst/>
          </a:prstGeom>
          <a:noFill/>
          <a:ln/>
        </p:spPr>
        <p:txBody>
          <a:bodyPr wrap="square" lIns="0" tIns="0" rIns="0" bIns="0" rtlCol="0" anchor="ctr"/>
          <a:lstStyle/>
          <a:p>
            <a:pPr marL="0" indent="0">
              <a:buNone/>
            </a:pPr>
            <a:r>
              <a:rPr lang="en-US" sz="960" dirty="0">
                <a:solidFill>
                  <a:srgbClr val="506987"/>
                </a:solidFill>
              </a:rPr>
              <a:t>columns = 5-litre jug b; rows = 3-litre jug a</a:t>
            </a:r>
            <a:endParaRPr lang="en-US" sz="960" dirty="0"/>
          </a:p>
        </p:txBody>
      </p:sp>
      <p:sp>
        <p:nvSpPr>
          <p:cNvPr id="15" name="Text 13"/>
          <p:cNvSpPr/>
          <p:nvPr/>
        </p:nvSpPr>
        <p:spPr>
          <a:xfrm>
            <a:off x="6958584"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0</a:t>
            </a:r>
            <a:endParaRPr lang="en-US" sz="950" dirty="0"/>
          </a:p>
        </p:txBody>
      </p:sp>
      <p:sp>
        <p:nvSpPr>
          <p:cNvPr id="16" name="Text 14"/>
          <p:cNvSpPr/>
          <p:nvPr/>
        </p:nvSpPr>
        <p:spPr>
          <a:xfrm>
            <a:off x="7671816"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1</a:t>
            </a:r>
            <a:endParaRPr lang="en-US" sz="950" dirty="0"/>
          </a:p>
        </p:txBody>
      </p:sp>
      <p:sp>
        <p:nvSpPr>
          <p:cNvPr id="17" name="Text 15"/>
          <p:cNvSpPr/>
          <p:nvPr/>
        </p:nvSpPr>
        <p:spPr>
          <a:xfrm>
            <a:off x="8385048"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2</a:t>
            </a:r>
            <a:endParaRPr lang="en-US" sz="950" dirty="0"/>
          </a:p>
        </p:txBody>
      </p:sp>
      <p:sp>
        <p:nvSpPr>
          <p:cNvPr id="18" name="Text 16"/>
          <p:cNvSpPr/>
          <p:nvPr/>
        </p:nvSpPr>
        <p:spPr>
          <a:xfrm>
            <a:off x="9098280"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3</a:t>
            </a:r>
            <a:endParaRPr lang="en-US" sz="950" dirty="0"/>
          </a:p>
        </p:txBody>
      </p:sp>
      <p:sp>
        <p:nvSpPr>
          <p:cNvPr id="19" name="Text 17"/>
          <p:cNvSpPr/>
          <p:nvPr/>
        </p:nvSpPr>
        <p:spPr>
          <a:xfrm>
            <a:off x="9811512"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4</a:t>
            </a:r>
            <a:endParaRPr lang="en-US" sz="950" dirty="0"/>
          </a:p>
        </p:txBody>
      </p:sp>
      <p:sp>
        <p:nvSpPr>
          <p:cNvPr id="20" name="Text 18"/>
          <p:cNvSpPr/>
          <p:nvPr/>
        </p:nvSpPr>
        <p:spPr>
          <a:xfrm>
            <a:off x="10524744" y="1938528"/>
            <a:ext cx="713232" cy="164592"/>
          </a:xfrm>
          <a:prstGeom prst="rect">
            <a:avLst/>
          </a:prstGeom>
          <a:noFill/>
          <a:ln/>
        </p:spPr>
        <p:txBody>
          <a:bodyPr wrap="square" lIns="0" tIns="0" rIns="0" bIns="0" rtlCol="0" anchor="ctr"/>
          <a:lstStyle/>
          <a:p>
            <a:pPr marL="0" indent="0" algn="ctr">
              <a:buNone/>
            </a:pPr>
            <a:r>
              <a:rPr lang="en-US" sz="950" b="1" dirty="0">
                <a:solidFill>
                  <a:srgbClr val="0D2F5F"/>
                </a:solidFill>
              </a:rPr>
              <a:t>5</a:t>
            </a:r>
            <a:endParaRPr lang="en-US" sz="950" dirty="0"/>
          </a:p>
        </p:txBody>
      </p:sp>
      <p:sp>
        <p:nvSpPr>
          <p:cNvPr id="21" name="Text 19"/>
          <p:cNvSpPr/>
          <p:nvPr/>
        </p:nvSpPr>
        <p:spPr>
          <a:xfrm>
            <a:off x="11329416" y="1929384"/>
            <a:ext cx="219456" cy="164592"/>
          </a:xfrm>
          <a:prstGeom prst="rect">
            <a:avLst/>
          </a:prstGeom>
          <a:noFill/>
          <a:ln/>
        </p:spPr>
        <p:txBody>
          <a:bodyPr wrap="square" lIns="0" tIns="0" rIns="0" bIns="0" rtlCol="0" anchor="ctr"/>
          <a:lstStyle/>
          <a:p>
            <a:pPr marL="0" indent="0">
              <a:buNone/>
            </a:pPr>
            <a:r>
              <a:rPr lang="en-US" sz="950" b="1" dirty="0">
                <a:solidFill>
                  <a:srgbClr val="0D2F5F"/>
                </a:solidFill>
              </a:rPr>
              <a:t>b</a:t>
            </a:r>
            <a:endParaRPr lang="en-US" sz="950" dirty="0"/>
          </a:p>
        </p:txBody>
      </p:sp>
      <p:sp>
        <p:nvSpPr>
          <p:cNvPr id="22" name="Text 20"/>
          <p:cNvSpPr/>
          <p:nvPr/>
        </p:nvSpPr>
        <p:spPr>
          <a:xfrm>
            <a:off x="6583680" y="2331720"/>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0</a:t>
            </a:r>
            <a:endParaRPr lang="en-US" sz="950" dirty="0"/>
          </a:p>
        </p:txBody>
      </p:sp>
      <p:sp>
        <p:nvSpPr>
          <p:cNvPr id="23" name="Shape 21"/>
          <p:cNvSpPr/>
          <p:nvPr/>
        </p:nvSpPr>
        <p:spPr>
          <a:xfrm>
            <a:off x="6958584" y="2212848"/>
            <a:ext cx="713232" cy="420624"/>
          </a:xfrm>
          <a:prstGeom prst="rect">
            <a:avLst/>
          </a:prstGeom>
          <a:solidFill>
            <a:srgbClr val="E4F2E8"/>
          </a:solidFill>
          <a:ln w="8255">
            <a:solidFill>
              <a:srgbClr val="B9C8D8"/>
            </a:solidFill>
            <a:prstDash val="solid"/>
          </a:ln>
        </p:spPr>
        <p:txBody>
          <a:bodyPr/>
          <a:lstStyle/>
          <a:p>
            <a:endParaRPr lang="en-US"/>
          </a:p>
        </p:txBody>
      </p:sp>
      <p:sp>
        <p:nvSpPr>
          <p:cNvPr id="24" name="Text 22"/>
          <p:cNvSpPr/>
          <p:nvPr/>
        </p:nvSpPr>
        <p:spPr>
          <a:xfrm>
            <a:off x="6958584" y="2345436"/>
            <a:ext cx="713232" cy="137160"/>
          </a:xfrm>
          <a:prstGeom prst="rect">
            <a:avLst/>
          </a:prstGeom>
          <a:noFill/>
          <a:ln/>
        </p:spPr>
        <p:txBody>
          <a:bodyPr wrap="square" lIns="0" tIns="0" rIns="0" bIns="0" rtlCol="0" anchor="ctr"/>
          <a:lstStyle/>
          <a:p>
            <a:pPr marL="0" indent="0" algn="ctr">
              <a:buNone/>
            </a:pPr>
            <a:r>
              <a:rPr lang="en-US" sz="860" b="1" dirty="0">
                <a:solidFill>
                  <a:srgbClr val="102B4C"/>
                </a:solidFill>
              </a:rPr>
              <a:t>(0,0)</a:t>
            </a:r>
            <a:endParaRPr lang="en-US" sz="860" dirty="0"/>
          </a:p>
        </p:txBody>
      </p:sp>
      <p:sp>
        <p:nvSpPr>
          <p:cNvPr id="25" name="Shape 23"/>
          <p:cNvSpPr/>
          <p:nvPr/>
        </p:nvSpPr>
        <p:spPr>
          <a:xfrm>
            <a:off x="7671816"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26" name="Text 24"/>
          <p:cNvSpPr/>
          <p:nvPr/>
        </p:nvSpPr>
        <p:spPr>
          <a:xfrm>
            <a:off x="7671816"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(0,1)</a:t>
            </a:r>
            <a:endParaRPr lang="en-US" sz="860" dirty="0"/>
          </a:p>
        </p:txBody>
      </p:sp>
      <p:sp>
        <p:nvSpPr>
          <p:cNvPr id="27" name="Shape 25"/>
          <p:cNvSpPr/>
          <p:nvPr/>
        </p:nvSpPr>
        <p:spPr>
          <a:xfrm>
            <a:off x="8385048"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28" name="Text 26"/>
          <p:cNvSpPr/>
          <p:nvPr/>
        </p:nvSpPr>
        <p:spPr>
          <a:xfrm>
            <a:off x="8385048"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(0,2)</a:t>
            </a:r>
            <a:endParaRPr lang="en-US" sz="860" dirty="0"/>
          </a:p>
        </p:txBody>
      </p:sp>
      <p:sp>
        <p:nvSpPr>
          <p:cNvPr id="29" name="Shape 27"/>
          <p:cNvSpPr/>
          <p:nvPr/>
        </p:nvSpPr>
        <p:spPr>
          <a:xfrm>
            <a:off x="9098280"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30" name="Text 28"/>
          <p:cNvSpPr/>
          <p:nvPr/>
        </p:nvSpPr>
        <p:spPr>
          <a:xfrm>
            <a:off x="9098280"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(0,3)</a:t>
            </a:r>
            <a:endParaRPr lang="en-US" sz="860" dirty="0"/>
          </a:p>
        </p:txBody>
      </p:sp>
      <p:sp>
        <p:nvSpPr>
          <p:cNvPr id="31" name="Shape 29"/>
          <p:cNvSpPr/>
          <p:nvPr/>
        </p:nvSpPr>
        <p:spPr>
          <a:xfrm>
            <a:off x="9811512" y="2212848"/>
            <a:ext cx="713232" cy="420624"/>
          </a:xfrm>
          <a:prstGeom prst="rect">
            <a:avLst/>
          </a:prstGeom>
          <a:solidFill>
            <a:srgbClr val="FFE8E8"/>
          </a:solidFill>
          <a:ln w="15240">
            <a:solidFill>
              <a:srgbClr val="A61B1B"/>
            </a:solidFill>
            <a:prstDash val="solid"/>
          </a:ln>
        </p:spPr>
        <p:txBody>
          <a:bodyPr/>
          <a:lstStyle/>
          <a:p>
            <a:endParaRPr lang="en-US"/>
          </a:p>
        </p:txBody>
      </p:sp>
      <p:sp>
        <p:nvSpPr>
          <p:cNvPr id="32" name="Text 30"/>
          <p:cNvSpPr/>
          <p:nvPr/>
        </p:nvSpPr>
        <p:spPr>
          <a:xfrm>
            <a:off x="9811512" y="2345436"/>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(0,4)</a:t>
            </a:r>
            <a:endParaRPr lang="en-US" sz="860" dirty="0"/>
          </a:p>
        </p:txBody>
      </p:sp>
      <p:sp>
        <p:nvSpPr>
          <p:cNvPr id="33" name="Shape 31"/>
          <p:cNvSpPr/>
          <p:nvPr/>
        </p:nvSpPr>
        <p:spPr>
          <a:xfrm>
            <a:off x="10524744" y="2212848"/>
            <a:ext cx="713232" cy="420624"/>
          </a:xfrm>
          <a:prstGeom prst="rect">
            <a:avLst/>
          </a:prstGeom>
          <a:solidFill>
            <a:srgbClr val="FFFFFF"/>
          </a:solidFill>
          <a:ln w="8255">
            <a:solidFill>
              <a:srgbClr val="B9C8D8"/>
            </a:solidFill>
            <a:prstDash val="solid"/>
          </a:ln>
        </p:spPr>
        <p:txBody>
          <a:bodyPr/>
          <a:lstStyle/>
          <a:p>
            <a:endParaRPr lang="en-US"/>
          </a:p>
        </p:txBody>
      </p:sp>
      <p:sp>
        <p:nvSpPr>
          <p:cNvPr id="34" name="Text 32"/>
          <p:cNvSpPr/>
          <p:nvPr/>
        </p:nvSpPr>
        <p:spPr>
          <a:xfrm>
            <a:off x="10524744" y="2345436"/>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(0,5)</a:t>
            </a:r>
            <a:endParaRPr lang="en-US" sz="860" dirty="0"/>
          </a:p>
        </p:txBody>
      </p:sp>
      <p:sp>
        <p:nvSpPr>
          <p:cNvPr id="35" name="Text 33"/>
          <p:cNvSpPr/>
          <p:nvPr/>
        </p:nvSpPr>
        <p:spPr>
          <a:xfrm>
            <a:off x="6583680" y="2752344"/>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1</a:t>
            </a:r>
            <a:endParaRPr lang="en-US" sz="950" dirty="0"/>
          </a:p>
        </p:txBody>
      </p:sp>
      <p:sp>
        <p:nvSpPr>
          <p:cNvPr id="36" name="Shape 34"/>
          <p:cNvSpPr/>
          <p:nvPr/>
        </p:nvSpPr>
        <p:spPr>
          <a:xfrm>
            <a:off x="6958584"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37" name="Text 35"/>
          <p:cNvSpPr/>
          <p:nvPr/>
        </p:nvSpPr>
        <p:spPr>
          <a:xfrm>
            <a:off x="6958584"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(1,0)</a:t>
            </a:r>
            <a:endParaRPr lang="en-US" sz="860" dirty="0"/>
          </a:p>
        </p:txBody>
      </p:sp>
      <p:sp>
        <p:nvSpPr>
          <p:cNvPr id="38" name="Shape 36"/>
          <p:cNvSpPr/>
          <p:nvPr/>
        </p:nvSpPr>
        <p:spPr>
          <a:xfrm>
            <a:off x="7671816"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39" name="Text 37"/>
          <p:cNvSpPr/>
          <p:nvPr/>
        </p:nvSpPr>
        <p:spPr>
          <a:xfrm>
            <a:off x="7671816"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(1,1)</a:t>
            </a:r>
            <a:endParaRPr lang="en-US" sz="860" dirty="0"/>
          </a:p>
        </p:txBody>
      </p:sp>
      <p:sp>
        <p:nvSpPr>
          <p:cNvPr id="40" name="Shape 38"/>
          <p:cNvSpPr/>
          <p:nvPr/>
        </p:nvSpPr>
        <p:spPr>
          <a:xfrm>
            <a:off x="8385048"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1" name="Text 39"/>
          <p:cNvSpPr/>
          <p:nvPr/>
        </p:nvSpPr>
        <p:spPr>
          <a:xfrm>
            <a:off x="8385048"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(1,2)</a:t>
            </a:r>
            <a:endParaRPr lang="en-US" sz="860" dirty="0"/>
          </a:p>
        </p:txBody>
      </p:sp>
      <p:sp>
        <p:nvSpPr>
          <p:cNvPr id="42" name="Shape 40"/>
          <p:cNvSpPr/>
          <p:nvPr/>
        </p:nvSpPr>
        <p:spPr>
          <a:xfrm>
            <a:off x="9098280"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3" name="Text 41"/>
          <p:cNvSpPr/>
          <p:nvPr/>
        </p:nvSpPr>
        <p:spPr>
          <a:xfrm>
            <a:off x="9098280"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(1,3)</a:t>
            </a:r>
            <a:endParaRPr lang="en-US" sz="860" dirty="0"/>
          </a:p>
        </p:txBody>
      </p:sp>
      <p:sp>
        <p:nvSpPr>
          <p:cNvPr id="44" name="Shape 42"/>
          <p:cNvSpPr/>
          <p:nvPr/>
        </p:nvSpPr>
        <p:spPr>
          <a:xfrm>
            <a:off x="9811512" y="2633472"/>
            <a:ext cx="713232" cy="420624"/>
          </a:xfrm>
          <a:prstGeom prst="rect">
            <a:avLst/>
          </a:prstGeom>
          <a:solidFill>
            <a:srgbClr val="FFE8E8"/>
          </a:solidFill>
          <a:ln w="15240">
            <a:solidFill>
              <a:srgbClr val="A61B1B"/>
            </a:solidFill>
            <a:prstDash val="solid"/>
          </a:ln>
        </p:spPr>
        <p:txBody>
          <a:bodyPr/>
          <a:lstStyle/>
          <a:p>
            <a:endParaRPr lang="en-US"/>
          </a:p>
        </p:txBody>
      </p:sp>
      <p:sp>
        <p:nvSpPr>
          <p:cNvPr id="45" name="Text 43"/>
          <p:cNvSpPr/>
          <p:nvPr/>
        </p:nvSpPr>
        <p:spPr>
          <a:xfrm>
            <a:off x="9811512" y="2766060"/>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(1,4)</a:t>
            </a:r>
            <a:endParaRPr lang="en-US" sz="860" dirty="0"/>
          </a:p>
        </p:txBody>
      </p:sp>
      <p:sp>
        <p:nvSpPr>
          <p:cNvPr id="46" name="Shape 44"/>
          <p:cNvSpPr/>
          <p:nvPr/>
        </p:nvSpPr>
        <p:spPr>
          <a:xfrm>
            <a:off x="10524744" y="2633472"/>
            <a:ext cx="713232" cy="420624"/>
          </a:xfrm>
          <a:prstGeom prst="rect">
            <a:avLst/>
          </a:prstGeom>
          <a:solidFill>
            <a:srgbClr val="FFFFFF"/>
          </a:solidFill>
          <a:ln w="8255">
            <a:solidFill>
              <a:srgbClr val="B9C8D8"/>
            </a:solidFill>
            <a:prstDash val="solid"/>
          </a:ln>
        </p:spPr>
        <p:txBody>
          <a:bodyPr/>
          <a:lstStyle/>
          <a:p>
            <a:endParaRPr lang="en-US"/>
          </a:p>
        </p:txBody>
      </p:sp>
      <p:sp>
        <p:nvSpPr>
          <p:cNvPr id="47" name="Text 45"/>
          <p:cNvSpPr/>
          <p:nvPr/>
        </p:nvSpPr>
        <p:spPr>
          <a:xfrm>
            <a:off x="10524744" y="2766060"/>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(1,5)</a:t>
            </a:r>
            <a:endParaRPr lang="en-US" sz="860" dirty="0"/>
          </a:p>
        </p:txBody>
      </p:sp>
      <p:sp>
        <p:nvSpPr>
          <p:cNvPr id="48" name="Text 46"/>
          <p:cNvSpPr/>
          <p:nvPr/>
        </p:nvSpPr>
        <p:spPr>
          <a:xfrm>
            <a:off x="6583680" y="3172968"/>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2</a:t>
            </a:r>
            <a:endParaRPr lang="en-US" sz="950" dirty="0"/>
          </a:p>
        </p:txBody>
      </p:sp>
      <p:sp>
        <p:nvSpPr>
          <p:cNvPr id="49" name="Shape 47"/>
          <p:cNvSpPr/>
          <p:nvPr/>
        </p:nvSpPr>
        <p:spPr>
          <a:xfrm>
            <a:off x="6958584"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0" name="Text 48"/>
          <p:cNvSpPr/>
          <p:nvPr/>
        </p:nvSpPr>
        <p:spPr>
          <a:xfrm>
            <a:off x="6958584"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(2,0)</a:t>
            </a:r>
            <a:endParaRPr lang="en-US" sz="860" dirty="0"/>
          </a:p>
        </p:txBody>
      </p:sp>
      <p:sp>
        <p:nvSpPr>
          <p:cNvPr id="51" name="Shape 49"/>
          <p:cNvSpPr/>
          <p:nvPr/>
        </p:nvSpPr>
        <p:spPr>
          <a:xfrm>
            <a:off x="7671816"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2" name="Text 50"/>
          <p:cNvSpPr/>
          <p:nvPr/>
        </p:nvSpPr>
        <p:spPr>
          <a:xfrm>
            <a:off x="7671816"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(2,1)</a:t>
            </a:r>
            <a:endParaRPr lang="en-US" sz="860" dirty="0"/>
          </a:p>
        </p:txBody>
      </p:sp>
      <p:sp>
        <p:nvSpPr>
          <p:cNvPr id="53" name="Shape 51"/>
          <p:cNvSpPr/>
          <p:nvPr/>
        </p:nvSpPr>
        <p:spPr>
          <a:xfrm>
            <a:off x="8385048"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4" name="Text 52"/>
          <p:cNvSpPr/>
          <p:nvPr/>
        </p:nvSpPr>
        <p:spPr>
          <a:xfrm>
            <a:off x="8385048"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(2,2)</a:t>
            </a:r>
            <a:endParaRPr lang="en-US" sz="860" dirty="0"/>
          </a:p>
        </p:txBody>
      </p:sp>
      <p:sp>
        <p:nvSpPr>
          <p:cNvPr id="55" name="Shape 53"/>
          <p:cNvSpPr/>
          <p:nvPr/>
        </p:nvSpPr>
        <p:spPr>
          <a:xfrm>
            <a:off x="9098280"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56" name="Text 54"/>
          <p:cNvSpPr/>
          <p:nvPr/>
        </p:nvSpPr>
        <p:spPr>
          <a:xfrm>
            <a:off x="9098280"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(2,3)</a:t>
            </a:r>
            <a:endParaRPr lang="en-US" sz="860" dirty="0"/>
          </a:p>
        </p:txBody>
      </p:sp>
      <p:sp>
        <p:nvSpPr>
          <p:cNvPr id="57" name="Shape 55"/>
          <p:cNvSpPr/>
          <p:nvPr/>
        </p:nvSpPr>
        <p:spPr>
          <a:xfrm>
            <a:off x="9811512" y="3054096"/>
            <a:ext cx="713232" cy="420624"/>
          </a:xfrm>
          <a:prstGeom prst="rect">
            <a:avLst/>
          </a:prstGeom>
          <a:solidFill>
            <a:srgbClr val="FFE8E8"/>
          </a:solidFill>
          <a:ln w="15240">
            <a:solidFill>
              <a:srgbClr val="A61B1B"/>
            </a:solidFill>
            <a:prstDash val="solid"/>
          </a:ln>
        </p:spPr>
        <p:txBody>
          <a:bodyPr/>
          <a:lstStyle/>
          <a:p>
            <a:endParaRPr lang="en-US"/>
          </a:p>
        </p:txBody>
      </p:sp>
      <p:sp>
        <p:nvSpPr>
          <p:cNvPr id="58" name="Text 56"/>
          <p:cNvSpPr/>
          <p:nvPr/>
        </p:nvSpPr>
        <p:spPr>
          <a:xfrm>
            <a:off x="9811512" y="3186684"/>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(2,4)</a:t>
            </a:r>
            <a:endParaRPr lang="en-US" sz="860" dirty="0"/>
          </a:p>
        </p:txBody>
      </p:sp>
      <p:sp>
        <p:nvSpPr>
          <p:cNvPr id="59" name="Shape 57"/>
          <p:cNvSpPr/>
          <p:nvPr/>
        </p:nvSpPr>
        <p:spPr>
          <a:xfrm>
            <a:off x="10524744" y="3054096"/>
            <a:ext cx="713232" cy="420624"/>
          </a:xfrm>
          <a:prstGeom prst="rect">
            <a:avLst/>
          </a:prstGeom>
          <a:solidFill>
            <a:srgbClr val="FFFFFF"/>
          </a:solidFill>
          <a:ln w="8255">
            <a:solidFill>
              <a:srgbClr val="B9C8D8"/>
            </a:solidFill>
            <a:prstDash val="solid"/>
          </a:ln>
        </p:spPr>
        <p:txBody>
          <a:bodyPr/>
          <a:lstStyle/>
          <a:p>
            <a:endParaRPr lang="en-US"/>
          </a:p>
        </p:txBody>
      </p:sp>
      <p:sp>
        <p:nvSpPr>
          <p:cNvPr id="60" name="Text 58"/>
          <p:cNvSpPr/>
          <p:nvPr/>
        </p:nvSpPr>
        <p:spPr>
          <a:xfrm>
            <a:off x="10524744" y="3186684"/>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(2,5)</a:t>
            </a:r>
            <a:endParaRPr lang="en-US" sz="860" dirty="0"/>
          </a:p>
        </p:txBody>
      </p:sp>
      <p:sp>
        <p:nvSpPr>
          <p:cNvPr id="61" name="Text 59"/>
          <p:cNvSpPr/>
          <p:nvPr/>
        </p:nvSpPr>
        <p:spPr>
          <a:xfrm>
            <a:off x="6583680" y="3593592"/>
            <a:ext cx="228600" cy="146304"/>
          </a:xfrm>
          <a:prstGeom prst="rect">
            <a:avLst/>
          </a:prstGeom>
          <a:noFill/>
          <a:ln/>
        </p:spPr>
        <p:txBody>
          <a:bodyPr wrap="square" lIns="0" tIns="0" rIns="0" bIns="0" rtlCol="0" anchor="ctr"/>
          <a:lstStyle/>
          <a:p>
            <a:pPr marL="0" indent="0" algn="ctr">
              <a:buNone/>
            </a:pPr>
            <a:r>
              <a:rPr lang="en-US" sz="950" b="1" dirty="0">
                <a:solidFill>
                  <a:srgbClr val="0D2F5F"/>
                </a:solidFill>
              </a:rPr>
              <a:t>3</a:t>
            </a:r>
            <a:endParaRPr lang="en-US" sz="950" dirty="0"/>
          </a:p>
        </p:txBody>
      </p:sp>
      <p:sp>
        <p:nvSpPr>
          <p:cNvPr id="62" name="Shape 60"/>
          <p:cNvSpPr/>
          <p:nvPr/>
        </p:nvSpPr>
        <p:spPr>
          <a:xfrm>
            <a:off x="6958584"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3" name="Text 61"/>
          <p:cNvSpPr/>
          <p:nvPr/>
        </p:nvSpPr>
        <p:spPr>
          <a:xfrm>
            <a:off x="6958584"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(3,0)</a:t>
            </a:r>
            <a:endParaRPr lang="en-US" sz="860" dirty="0"/>
          </a:p>
        </p:txBody>
      </p:sp>
      <p:sp>
        <p:nvSpPr>
          <p:cNvPr id="64" name="Shape 62"/>
          <p:cNvSpPr/>
          <p:nvPr/>
        </p:nvSpPr>
        <p:spPr>
          <a:xfrm>
            <a:off x="7671816"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5" name="Text 63"/>
          <p:cNvSpPr/>
          <p:nvPr/>
        </p:nvSpPr>
        <p:spPr>
          <a:xfrm>
            <a:off x="7671816"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(3,1)</a:t>
            </a:r>
            <a:endParaRPr lang="en-US" sz="860" dirty="0"/>
          </a:p>
        </p:txBody>
      </p:sp>
      <p:sp>
        <p:nvSpPr>
          <p:cNvPr id="66" name="Shape 64"/>
          <p:cNvSpPr/>
          <p:nvPr/>
        </p:nvSpPr>
        <p:spPr>
          <a:xfrm>
            <a:off x="8385048"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7" name="Text 65"/>
          <p:cNvSpPr/>
          <p:nvPr/>
        </p:nvSpPr>
        <p:spPr>
          <a:xfrm>
            <a:off x="8385048"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(3,2)</a:t>
            </a:r>
            <a:endParaRPr lang="en-US" sz="860" dirty="0"/>
          </a:p>
        </p:txBody>
      </p:sp>
      <p:sp>
        <p:nvSpPr>
          <p:cNvPr id="68" name="Shape 66"/>
          <p:cNvSpPr/>
          <p:nvPr/>
        </p:nvSpPr>
        <p:spPr>
          <a:xfrm>
            <a:off x="9098280"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69" name="Text 67"/>
          <p:cNvSpPr/>
          <p:nvPr/>
        </p:nvSpPr>
        <p:spPr>
          <a:xfrm>
            <a:off x="9098280"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(3,3)</a:t>
            </a:r>
            <a:endParaRPr lang="en-US" sz="860" dirty="0"/>
          </a:p>
        </p:txBody>
      </p:sp>
      <p:sp>
        <p:nvSpPr>
          <p:cNvPr id="70" name="Shape 68"/>
          <p:cNvSpPr/>
          <p:nvPr/>
        </p:nvSpPr>
        <p:spPr>
          <a:xfrm>
            <a:off x="9811512" y="3474720"/>
            <a:ext cx="713232" cy="420624"/>
          </a:xfrm>
          <a:prstGeom prst="rect">
            <a:avLst/>
          </a:prstGeom>
          <a:solidFill>
            <a:srgbClr val="FFE8E8"/>
          </a:solidFill>
          <a:ln w="15240">
            <a:solidFill>
              <a:srgbClr val="A61B1B"/>
            </a:solidFill>
            <a:prstDash val="solid"/>
          </a:ln>
        </p:spPr>
        <p:txBody>
          <a:bodyPr/>
          <a:lstStyle/>
          <a:p>
            <a:endParaRPr lang="en-US"/>
          </a:p>
        </p:txBody>
      </p:sp>
      <p:sp>
        <p:nvSpPr>
          <p:cNvPr id="71" name="Text 69"/>
          <p:cNvSpPr/>
          <p:nvPr/>
        </p:nvSpPr>
        <p:spPr>
          <a:xfrm>
            <a:off x="9811512" y="3607308"/>
            <a:ext cx="713232" cy="137160"/>
          </a:xfrm>
          <a:prstGeom prst="rect">
            <a:avLst/>
          </a:prstGeom>
          <a:noFill/>
          <a:ln/>
        </p:spPr>
        <p:txBody>
          <a:bodyPr wrap="square" lIns="0" tIns="0" rIns="0" bIns="0" rtlCol="0" anchor="ctr"/>
          <a:lstStyle/>
          <a:p>
            <a:pPr marL="0" indent="0" algn="ctr">
              <a:buNone/>
            </a:pPr>
            <a:r>
              <a:rPr lang="en-US" sz="860" b="1" dirty="0">
                <a:solidFill>
                  <a:srgbClr val="A61B1B"/>
                </a:solidFill>
              </a:rPr>
              <a:t>(3,4)</a:t>
            </a:r>
            <a:endParaRPr lang="en-US" sz="860" dirty="0"/>
          </a:p>
        </p:txBody>
      </p:sp>
      <p:sp>
        <p:nvSpPr>
          <p:cNvPr id="72" name="Shape 70"/>
          <p:cNvSpPr/>
          <p:nvPr/>
        </p:nvSpPr>
        <p:spPr>
          <a:xfrm>
            <a:off x="10524744" y="3474720"/>
            <a:ext cx="713232" cy="420624"/>
          </a:xfrm>
          <a:prstGeom prst="rect">
            <a:avLst/>
          </a:prstGeom>
          <a:solidFill>
            <a:srgbClr val="FFFFFF"/>
          </a:solidFill>
          <a:ln w="8255">
            <a:solidFill>
              <a:srgbClr val="B9C8D8"/>
            </a:solidFill>
            <a:prstDash val="solid"/>
          </a:ln>
        </p:spPr>
        <p:txBody>
          <a:bodyPr/>
          <a:lstStyle/>
          <a:p>
            <a:endParaRPr lang="en-US"/>
          </a:p>
        </p:txBody>
      </p:sp>
      <p:sp>
        <p:nvSpPr>
          <p:cNvPr id="73" name="Text 71"/>
          <p:cNvSpPr/>
          <p:nvPr/>
        </p:nvSpPr>
        <p:spPr>
          <a:xfrm>
            <a:off x="10524744" y="3607308"/>
            <a:ext cx="713232" cy="137160"/>
          </a:xfrm>
          <a:prstGeom prst="rect">
            <a:avLst/>
          </a:prstGeom>
          <a:noFill/>
          <a:ln/>
        </p:spPr>
        <p:txBody>
          <a:bodyPr wrap="square" lIns="0" tIns="0" rIns="0" bIns="0" rtlCol="0" anchor="ctr"/>
          <a:lstStyle/>
          <a:p>
            <a:pPr marL="0" indent="0" algn="ctr">
              <a:buNone/>
            </a:pPr>
            <a:r>
              <a:rPr lang="en-US" sz="860" dirty="0">
                <a:solidFill>
                  <a:srgbClr val="102B4C"/>
                </a:solidFill>
              </a:rPr>
              <a:t>(3,5)</a:t>
            </a:r>
            <a:endParaRPr lang="en-US" sz="860" dirty="0"/>
          </a:p>
        </p:txBody>
      </p:sp>
      <p:sp>
        <p:nvSpPr>
          <p:cNvPr id="74" name="Text 72"/>
          <p:cNvSpPr/>
          <p:nvPr/>
        </p:nvSpPr>
        <p:spPr>
          <a:xfrm>
            <a:off x="6446520" y="4078224"/>
            <a:ext cx="2103120" cy="182880"/>
          </a:xfrm>
          <a:prstGeom prst="rect">
            <a:avLst/>
          </a:prstGeom>
          <a:noFill/>
          <a:ln/>
        </p:spPr>
        <p:txBody>
          <a:bodyPr wrap="square" lIns="0" tIns="0" rIns="0" bIns="0" rtlCol="0" anchor="ctr"/>
          <a:lstStyle/>
          <a:p>
            <a:pPr marL="0" indent="0">
              <a:buNone/>
            </a:pPr>
            <a:r>
              <a:rPr lang="en-US" sz="1020" b="1" dirty="0">
                <a:solidFill>
                  <a:srgbClr val="A61B1B"/>
                </a:solidFill>
              </a:rPr>
              <a:t>Goal column: b = 4</a:t>
            </a:r>
            <a:endParaRPr lang="en-US" sz="1020" dirty="0"/>
          </a:p>
        </p:txBody>
      </p:sp>
      <p:sp>
        <p:nvSpPr>
          <p:cNvPr id="75" name="Text 73"/>
          <p:cNvSpPr/>
          <p:nvPr/>
        </p:nvSpPr>
        <p:spPr>
          <a:xfrm>
            <a:off x="8915400" y="4078224"/>
            <a:ext cx="2194560" cy="182880"/>
          </a:xfrm>
          <a:prstGeom prst="rect">
            <a:avLst/>
          </a:prstGeom>
          <a:noFill/>
          <a:ln/>
        </p:spPr>
        <p:txBody>
          <a:bodyPr wrap="square" lIns="0" tIns="0" rIns="0" bIns="0" rtlCol="0" anchor="ctr"/>
          <a:lstStyle/>
          <a:p>
            <a:pPr marL="0" indent="0">
              <a:buNone/>
            </a:pPr>
            <a:r>
              <a:rPr lang="en-US" sz="1020" b="1" dirty="0">
                <a:solidFill>
                  <a:srgbClr val="1C6A3E"/>
                </a:solidFill>
              </a:rPr>
              <a:t>Initial state: (0,0)</a:t>
            </a:r>
            <a:endParaRPr lang="en-US" sz="1020" dirty="0"/>
          </a:p>
        </p:txBody>
      </p:sp>
      <p:sp>
        <p:nvSpPr>
          <p:cNvPr id="76" name="Shape 74"/>
          <p:cNvSpPr/>
          <p:nvPr/>
        </p:nvSpPr>
        <p:spPr>
          <a:xfrm>
            <a:off x="566928" y="4407408"/>
            <a:ext cx="3547872"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77" name="Text 75"/>
          <p:cNvSpPr/>
          <p:nvPr/>
        </p:nvSpPr>
        <p:spPr>
          <a:xfrm>
            <a:off x="713232" y="4517136"/>
            <a:ext cx="3255264"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Transition model</a:t>
            </a:r>
            <a:endParaRPr lang="en-US" sz="1250" dirty="0"/>
          </a:p>
        </p:txBody>
      </p:sp>
      <p:sp>
        <p:nvSpPr>
          <p:cNvPr id="78" name="Text 76"/>
          <p:cNvSpPr/>
          <p:nvPr/>
        </p:nvSpPr>
        <p:spPr>
          <a:xfrm>
            <a:off x="713232" y="4837176"/>
            <a:ext cx="3255264" cy="493776"/>
          </a:xfrm>
          <a:prstGeom prst="rect">
            <a:avLst/>
          </a:prstGeom>
          <a:noFill/>
          <a:ln/>
        </p:spPr>
        <p:txBody>
          <a:bodyPr wrap="square" lIns="0" tIns="0" rIns="0" bIns="0" rtlCol="0" anchor="ctr">
            <a:normAutofit fontScale="92500"/>
          </a:bodyPr>
          <a:lstStyle/>
          <a:p>
            <a:pPr marL="0" indent="0">
              <a:buNone/>
            </a:pPr>
            <a:r>
              <a:rPr lang="en-US" sz="1070" dirty="0">
                <a:solidFill>
                  <a:srgbClr val="102B4C"/>
                </a:solidFill>
                <a:latin typeface="Aptos" pitchFamily="34" charset="0"/>
                <a:ea typeface="Aptos" pitchFamily="34" charset="-122"/>
                <a:cs typeface="Aptos" pitchFamily="34" charset="-120"/>
              </a:rPr>
              <a:t>Fill: set one jug to capacity</a:t>
            </a:r>
            <a:endParaRPr lang="en-US" sz="1070" dirty="0"/>
          </a:p>
          <a:p>
            <a:pPr marL="0" indent="0">
              <a:buNone/>
            </a:pPr>
            <a:r>
              <a:rPr lang="en-US" sz="1070" dirty="0">
                <a:solidFill>
                  <a:srgbClr val="102B4C"/>
                </a:solidFill>
                <a:latin typeface="Aptos" pitchFamily="34" charset="0"/>
                <a:ea typeface="Aptos" pitchFamily="34" charset="-122"/>
                <a:cs typeface="Aptos" pitchFamily="34" charset="-120"/>
              </a:rPr>
              <a:t>Empty: set one jug to 0</a:t>
            </a:r>
            <a:endParaRPr lang="en-US" sz="1070" dirty="0"/>
          </a:p>
          <a:p>
            <a:pPr marL="0" indent="0">
              <a:buNone/>
            </a:pPr>
            <a:r>
              <a:rPr lang="en-US" sz="1070" dirty="0">
                <a:solidFill>
                  <a:srgbClr val="102B4C"/>
                </a:solidFill>
                <a:latin typeface="Aptos" pitchFamily="34" charset="0"/>
                <a:ea typeface="Aptos" pitchFamily="34" charset="-122"/>
                <a:cs typeface="Aptos" pitchFamily="34" charset="-120"/>
              </a:rPr>
              <a:t>Pour: move water until source is empty or destination is full</a:t>
            </a:r>
            <a:endParaRPr lang="en-US" sz="1070" dirty="0"/>
          </a:p>
        </p:txBody>
      </p:sp>
      <p:sp>
        <p:nvSpPr>
          <p:cNvPr id="79" name="Shape 77"/>
          <p:cNvSpPr/>
          <p:nvPr/>
        </p:nvSpPr>
        <p:spPr>
          <a:xfrm>
            <a:off x="4352544" y="4407408"/>
            <a:ext cx="3703320"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80" name="Text 78"/>
          <p:cNvSpPr/>
          <p:nvPr/>
        </p:nvSpPr>
        <p:spPr>
          <a:xfrm>
            <a:off x="4498848" y="4517136"/>
            <a:ext cx="3410712"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Pour equations</a:t>
            </a:r>
            <a:endParaRPr lang="en-US" sz="1250" dirty="0"/>
          </a:p>
        </p:txBody>
      </p:sp>
      <p:sp>
        <p:nvSpPr>
          <p:cNvPr id="81" name="Text 79"/>
          <p:cNvSpPr/>
          <p:nvPr/>
        </p:nvSpPr>
        <p:spPr>
          <a:xfrm>
            <a:off x="4498848" y="4837176"/>
            <a:ext cx="3410712" cy="493776"/>
          </a:xfrm>
          <a:prstGeom prst="rect">
            <a:avLst/>
          </a:prstGeom>
          <a:noFill/>
          <a:ln/>
        </p:spPr>
        <p:txBody>
          <a:bodyPr wrap="square" lIns="0" tIns="0" rIns="0" bIns="0" rtlCol="0" anchor="ctr">
            <a:normAutofit/>
          </a:bodyPr>
          <a:lstStyle/>
          <a:p>
            <a:pPr marL="0" indent="0">
              <a:buNone/>
            </a:pPr>
            <a:r>
              <a:rPr lang="en-US" sz="1050" dirty="0">
                <a:solidFill>
                  <a:srgbClr val="102B4C"/>
                </a:solidFill>
                <a:latin typeface="Aptos" pitchFamily="34" charset="0"/>
                <a:ea typeface="Aptos" pitchFamily="34" charset="-122"/>
                <a:cs typeface="Aptos" pitchFamily="34" charset="-120"/>
              </a:rPr>
              <a:t>A→B: t = min(a, 5 − b), next = (a − t, b + t)</a:t>
            </a:r>
            <a:endParaRPr lang="en-US" sz="1050" dirty="0"/>
          </a:p>
          <a:p>
            <a:pPr marL="0" indent="0">
              <a:buNone/>
            </a:pPr>
            <a:r>
              <a:rPr lang="en-US" sz="1050" dirty="0">
                <a:solidFill>
                  <a:srgbClr val="102B4C"/>
                </a:solidFill>
                <a:latin typeface="Aptos" pitchFamily="34" charset="0"/>
                <a:ea typeface="Aptos" pitchFamily="34" charset="-122"/>
                <a:cs typeface="Aptos" pitchFamily="34" charset="-120"/>
              </a:rPr>
              <a:t>B→A: t = min(b, 3 − a), next = (a + t, b − t)</a:t>
            </a:r>
            <a:endParaRPr lang="en-US" sz="1050" dirty="0"/>
          </a:p>
        </p:txBody>
      </p:sp>
      <p:sp>
        <p:nvSpPr>
          <p:cNvPr id="82" name="Shape 80"/>
          <p:cNvSpPr/>
          <p:nvPr/>
        </p:nvSpPr>
        <p:spPr>
          <a:xfrm>
            <a:off x="8302752" y="4407408"/>
            <a:ext cx="3310128" cy="1024128"/>
          </a:xfrm>
          <a:prstGeom prst="roundRect">
            <a:avLst>
              <a:gd name="adj" fmla="val 7143"/>
            </a:avLst>
          </a:prstGeom>
          <a:solidFill>
            <a:srgbClr val="FFFFFF"/>
          </a:solidFill>
          <a:ln w="12700">
            <a:solidFill>
              <a:srgbClr val="CFD9E6"/>
            </a:solidFill>
            <a:prstDash val="solid"/>
          </a:ln>
        </p:spPr>
        <p:txBody>
          <a:bodyPr/>
          <a:lstStyle/>
          <a:p>
            <a:endParaRPr lang="en-US"/>
          </a:p>
        </p:txBody>
      </p:sp>
      <p:sp>
        <p:nvSpPr>
          <p:cNvPr id="83" name="Text 81"/>
          <p:cNvSpPr/>
          <p:nvPr/>
        </p:nvSpPr>
        <p:spPr>
          <a:xfrm>
            <a:off x="8449056" y="4517136"/>
            <a:ext cx="3017520" cy="228600"/>
          </a:xfrm>
          <a:prstGeom prst="rect">
            <a:avLst/>
          </a:prstGeom>
          <a:noFill/>
          <a:ln/>
        </p:spPr>
        <p:txBody>
          <a:bodyPr wrap="square" lIns="0" tIns="0" rIns="0" bIns="0" rtlCol="0" anchor="ctr"/>
          <a:lstStyle/>
          <a:p>
            <a:pPr marL="0" indent="0">
              <a:buNone/>
            </a:pPr>
            <a:r>
              <a:rPr lang="en-US" sz="1250" b="1" dirty="0">
                <a:solidFill>
                  <a:srgbClr val="0D2F5F"/>
                </a:solidFill>
                <a:latin typeface="Aptos" pitchFamily="34" charset="0"/>
                <a:ea typeface="Aptos" pitchFamily="34" charset="-122"/>
                <a:cs typeface="Aptos" pitchFamily="34" charset="-120"/>
              </a:rPr>
              <a:t>Goal and cost</a:t>
            </a:r>
            <a:endParaRPr lang="en-US" sz="1250" dirty="0"/>
          </a:p>
        </p:txBody>
      </p:sp>
      <p:sp>
        <p:nvSpPr>
          <p:cNvPr id="84" name="Text 82"/>
          <p:cNvSpPr/>
          <p:nvPr/>
        </p:nvSpPr>
        <p:spPr>
          <a:xfrm>
            <a:off x="8449056" y="4837176"/>
            <a:ext cx="3017520" cy="493776"/>
          </a:xfrm>
          <a:prstGeom prst="rect">
            <a:avLst/>
          </a:prstGeom>
          <a:noFill/>
          <a:ln/>
        </p:spPr>
        <p:txBody>
          <a:bodyPr wrap="square" lIns="0" tIns="0" rIns="0" bIns="0" rtlCol="0" anchor="ctr">
            <a:normAutofit lnSpcReduction="10000"/>
          </a:bodyPr>
          <a:lstStyle/>
          <a:p>
            <a:pPr marL="0" indent="0">
              <a:buNone/>
            </a:pPr>
            <a:r>
              <a:rPr lang="en-US" sz="1100" dirty="0">
                <a:solidFill>
                  <a:srgbClr val="102B4C"/>
                </a:solidFill>
                <a:latin typeface="Aptos" pitchFamily="34" charset="0"/>
                <a:ea typeface="Aptos" pitchFamily="34" charset="-122"/>
                <a:cs typeface="Aptos" pitchFamily="34" charset="-120"/>
              </a:rPr>
              <a:t>Goal test: b = 4</a:t>
            </a:r>
            <a:endParaRPr lang="en-US" sz="1100" dirty="0"/>
          </a:p>
          <a:p>
            <a:pPr marL="0" indent="0">
              <a:buNone/>
            </a:pPr>
            <a:r>
              <a:rPr lang="en-US" sz="1100" dirty="0">
                <a:solidFill>
                  <a:srgbClr val="102B4C"/>
                </a:solidFill>
                <a:latin typeface="Aptos" pitchFamily="34" charset="0"/>
                <a:ea typeface="Aptos" pitchFamily="34" charset="-122"/>
                <a:cs typeface="Aptos" pitchFamily="34" charset="-120"/>
              </a:rPr>
              <a:t>Cost: 1 per action</a:t>
            </a:r>
            <a:endParaRPr lang="en-US" sz="1100" dirty="0"/>
          </a:p>
          <a:p>
            <a:pPr marL="0" indent="0">
              <a:buNone/>
            </a:pPr>
            <a:r>
              <a:rPr lang="en-US" sz="1100" dirty="0">
                <a:solidFill>
                  <a:srgbClr val="102B4C"/>
                </a:solidFill>
                <a:latin typeface="Aptos" pitchFamily="34" charset="0"/>
                <a:ea typeface="Aptos" pitchFamily="34" charset="-122"/>
                <a:cs typeface="Aptos" pitchFamily="34" charset="-120"/>
              </a:rPr>
              <a:t>Path cost = number of actions</a:t>
            </a:r>
            <a:endParaRPr lang="en-US" sz="1100" dirty="0"/>
          </a:p>
        </p:txBody>
      </p:sp>
      <p:sp>
        <p:nvSpPr>
          <p:cNvPr id="85" name="Shape 83"/>
          <p:cNvSpPr/>
          <p:nvPr/>
        </p:nvSpPr>
        <p:spPr>
          <a:xfrm>
            <a:off x="566928" y="5650992"/>
            <a:ext cx="11045952" cy="676656"/>
          </a:xfrm>
          <a:prstGeom prst="roundRect">
            <a:avLst>
              <a:gd name="adj" fmla="val 10811"/>
            </a:avLst>
          </a:prstGeom>
          <a:solidFill>
            <a:srgbClr val="FFF5E0"/>
          </a:solidFill>
          <a:ln w="12700">
            <a:solidFill>
              <a:srgbClr val="F6A21A"/>
            </a:solidFill>
            <a:prstDash val="solid"/>
          </a:ln>
        </p:spPr>
        <p:txBody>
          <a:bodyPr/>
          <a:lstStyle/>
          <a:p>
            <a:endParaRPr lang="en-US"/>
          </a:p>
        </p:txBody>
      </p:sp>
      <p:sp>
        <p:nvSpPr>
          <p:cNvPr id="86" name="Text 84"/>
          <p:cNvSpPr/>
          <p:nvPr/>
        </p:nvSpPr>
        <p:spPr>
          <a:xfrm>
            <a:off x="786384" y="5797296"/>
            <a:ext cx="1645920" cy="164592"/>
          </a:xfrm>
          <a:prstGeom prst="rect">
            <a:avLst/>
          </a:prstGeom>
          <a:noFill/>
          <a:ln/>
        </p:spPr>
        <p:txBody>
          <a:bodyPr wrap="square" lIns="0" tIns="0" rIns="0" bIns="0" rtlCol="0" anchor="ctr"/>
          <a:lstStyle/>
          <a:p>
            <a:pPr marL="0" indent="0">
              <a:buNone/>
            </a:pPr>
            <a:r>
              <a:rPr lang="en-US" sz="1080" b="1" dirty="0">
                <a:solidFill>
                  <a:srgbClr val="0D2F5F"/>
                </a:solidFill>
              </a:rPr>
              <a:t>Shortest 6-action path:</a:t>
            </a:r>
            <a:endParaRPr lang="en-US" sz="1080" dirty="0"/>
          </a:p>
        </p:txBody>
      </p:sp>
      <p:sp>
        <p:nvSpPr>
          <p:cNvPr id="87" name="Text 85"/>
          <p:cNvSpPr/>
          <p:nvPr/>
        </p:nvSpPr>
        <p:spPr>
          <a:xfrm>
            <a:off x="2651760" y="5760720"/>
            <a:ext cx="7818120" cy="210312"/>
          </a:xfrm>
          <a:prstGeom prst="rect">
            <a:avLst/>
          </a:prstGeom>
          <a:noFill/>
          <a:ln/>
        </p:spPr>
        <p:txBody>
          <a:bodyPr wrap="square" lIns="0" tIns="0" rIns="0" bIns="0" rtlCol="0" anchor="ctr">
            <a:normAutofit/>
          </a:bodyPr>
          <a:lstStyle/>
          <a:p>
            <a:pPr marL="0" indent="0">
              <a:buNone/>
            </a:pPr>
            <a:r>
              <a:rPr lang="en-US" sz="1200" b="1" dirty="0">
                <a:solidFill>
                  <a:srgbClr val="102B4C"/>
                </a:solidFill>
              </a:rPr>
              <a:t>(0,0) → (0,5) → (3,2) → (0,2) → (2,0) → (2,5) → (3,4)</a:t>
            </a:r>
            <a:endParaRPr lang="en-US" sz="1200" dirty="0"/>
          </a:p>
        </p:txBody>
      </p:sp>
      <p:sp>
        <p:nvSpPr>
          <p:cNvPr id="88" name="Text 86"/>
          <p:cNvSpPr/>
          <p:nvPr/>
        </p:nvSpPr>
        <p:spPr>
          <a:xfrm>
            <a:off x="786384" y="6044184"/>
            <a:ext cx="5303520" cy="155448"/>
          </a:xfrm>
          <a:prstGeom prst="rect">
            <a:avLst/>
          </a:prstGeom>
          <a:noFill/>
          <a:ln/>
        </p:spPr>
        <p:txBody>
          <a:bodyPr wrap="square" lIns="0" tIns="0" rIns="0" bIns="0" rtlCol="0" anchor="ctr"/>
          <a:lstStyle/>
          <a:p>
            <a:pPr marL="0" indent="0">
              <a:buNone/>
            </a:pPr>
            <a:r>
              <a:rPr lang="en-US" sz="940" dirty="0">
                <a:solidFill>
                  <a:srgbClr val="506987"/>
                </a:solidFill>
              </a:rPr>
              <a:t>At (3,4), the 5-litre jug contains exactly 4 litres.</a:t>
            </a:r>
            <a:endParaRPr lang="en-US" sz="940" dirty="0"/>
          </a:p>
        </p:txBody>
      </p:sp>
      <p:sp>
        <p:nvSpPr>
          <p:cNvPr id="89" name="Text 87"/>
          <p:cNvSpPr/>
          <p:nvPr/>
        </p:nvSpPr>
        <p:spPr>
          <a:xfrm>
            <a:off x="6263640" y="6044184"/>
            <a:ext cx="5029200" cy="155448"/>
          </a:xfrm>
          <a:prstGeom prst="rect">
            <a:avLst/>
          </a:prstGeom>
          <a:noFill/>
          <a:ln/>
        </p:spPr>
        <p:txBody>
          <a:bodyPr wrap="square" lIns="0" tIns="0" rIns="0" bIns="0" rtlCol="0" anchor="ctr"/>
          <a:lstStyle/>
          <a:p>
            <a:pPr marL="0" indent="0">
              <a:buNone/>
            </a:pPr>
            <a:r>
              <a:rPr lang="en-US" sz="940" b="1" dirty="0">
                <a:solidFill>
                  <a:srgbClr val="A61B1B"/>
                </a:solidFill>
              </a:rPr>
              <a:t>The target value 4 is not stored separately; it is checked by the goal test.</a:t>
            </a:r>
            <a:endParaRPr lang="en-US" sz="940" dirty="0"/>
          </a:p>
        </p:txBody>
      </p:sp>
      <p:sp>
        <p:nvSpPr>
          <p:cNvPr id="90" name="Slide Number Placeholder 0"/>
          <p:cNvSpPr>
            <a:spLocks noGrp="1"/>
          </p:cNvSpPr>
          <p:nvPr>
            <p:ph type="sldNum" sz="quarter" idx="4294967295"/>
          </p:nvPr>
        </p:nvSpPr>
        <p:spPr>
          <a:xfrm>
            <a:off x="11475720" y="6547104"/>
            <a:ext cx="800000" cy="3000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700" kern="1200">
                <a:solidFill>
                  <a:srgbClr val="506987"/>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470"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1"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2"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3.3</a:t>
            </a:r>
            <a:endParaRPr lang="en-US" sz="3600" b="0" u="none" strike="noStrike">
              <a:solidFill>
                <a:srgbClr val="FFFFFF"/>
              </a:solidFill>
              <a:effectLst/>
              <a:uFillTx/>
              <a:latin typeface="Arial"/>
            </a:endParaRPr>
          </a:p>
        </p:txBody>
      </p:sp>
      <p:sp>
        <p:nvSpPr>
          <p:cNvPr id="473"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dirty="0">
                <a:solidFill>
                  <a:srgbClr val="DCE8FF"/>
                </a:solidFill>
                <a:effectLst/>
                <a:uFillTx/>
                <a:latin typeface="Aptos"/>
              </a:rPr>
              <a:t>Search Algorithms: state space, search tree, frontier, reached table</a:t>
            </a:r>
            <a:endParaRPr lang="en-US" sz="1700" b="0" u="none" strike="noStrike" dirty="0">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47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7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State Space Graph vs. Search Tree</a:t>
            </a:r>
            <a:endParaRPr lang="en-US" sz="2600" b="0" u="none" strike="noStrike" dirty="0">
              <a:solidFill>
                <a:srgbClr val="000000"/>
              </a:solidFill>
              <a:effectLst/>
              <a:uFillTx/>
              <a:latin typeface="Arial"/>
            </a:endParaRPr>
          </a:p>
        </p:txBody>
      </p:sp>
      <p:sp>
        <p:nvSpPr>
          <p:cNvPr id="47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7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479" name="Text 5"/>
          <p:cNvSpPr/>
          <p:nvPr/>
        </p:nvSpPr>
        <p:spPr>
          <a:xfrm>
            <a:off x="777240" y="1325880"/>
            <a:ext cx="40230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State space graph</a:t>
            </a:r>
            <a:endParaRPr lang="en-US" sz="1700" b="0" u="none" strike="noStrike">
              <a:solidFill>
                <a:srgbClr val="000000"/>
              </a:solidFill>
              <a:effectLst/>
              <a:uFillTx/>
              <a:latin typeface="Arial"/>
            </a:endParaRPr>
          </a:p>
        </p:txBody>
      </p:sp>
      <p:sp>
        <p:nvSpPr>
          <p:cNvPr id="480" name="Text 6"/>
          <p:cNvSpPr/>
          <p:nvPr/>
        </p:nvSpPr>
        <p:spPr>
          <a:xfrm>
            <a:off x="9144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a:solidFill>
                  <a:srgbClr val="102A4C"/>
                </a:solidFill>
                <a:effectLst/>
                <a:uFillTx/>
                <a:latin typeface="Aptos"/>
              </a:rPr>
              <a:t>States are vertices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Actions are directed edges</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Each state appears once</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102A4C"/>
                </a:solidFill>
                <a:effectLst/>
                <a:uFillTx/>
                <a:latin typeface="Aptos"/>
              </a:rPr>
              <a:t>Usually too large to build fully</a:t>
            </a:r>
            <a:endParaRPr lang="en-US" sz="1500" b="0" u="none" strike="noStrike">
              <a:solidFill>
                <a:srgbClr val="000000"/>
              </a:solidFill>
              <a:effectLst/>
              <a:uFillTx/>
              <a:latin typeface="Arial"/>
            </a:endParaRPr>
          </a:p>
        </p:txBody>
      </p:sp>
      <p:sp>
        <p:nvSpPr>
          <p:cNvPr id="481" name="Text 7"/>
          <p:cNvSpPr/>
          <p:nvPr/>
        </p:nvSpPr>
        <p:spPr>
          <a:xfrm>
            <a:off x="7406640" y="1325880"/>
            <a:ext cx="40230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dirty="0">
                <a:solidFill>
                  <a:srgbClr val="112E5C"/>
                </a:solidFill>
                <a:effectLst/>
                <a:uFillTx/>
                <a:latin typeface="Aptos"/>
              </a:rPr>
              <a:t>Search tree</a:t>
            </a:r>
            <a:endParaRPr lang="en-US" sz="1700" b="0" u="none" strike="noStrike" dirty="0">
              <a:solidFill>
                <a:srgbClr val="000000"/>
              </a:solidFill>
              <a:effectLst/>
              <a:uFillTx/>
              <a:latin typeface="Arial"/>
            </a:endParaRPr>
          </a:p>
        </p:txBody>
      </p:sp>
      <p:sp>
        <p:nvSpPr>
          <p:cNvPr id="482" name="Text 8"/>
          <p:cNvSpPr/>
          <p:nvPr/>
        </p:nvSpPr>
        <p:spPr>
          <a:xfrm>
            <a:off x="7543800" y="1965960"/>
            <a:ext cx="3748680" cy="23770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0" u="none" strike="noStrike" dirty="0">
                <a:solidFill>
                  <a:srgbClr val="102A4C"/>
                </a:solidFill>
                <a:effectLst/>
                <a:uFillTx/>
                <a:latin typeface="Aptos"/>
              </a:rPr>
              <a:t>Nodes represent paths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Root is the initial 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Children are successors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Same state can appear many times</a:t>
            </a:r>
            <a:endParaRPr lang="en-US" sz="1500" b="0" u="none" strike="noStrike" dirty="0">
              <a:solidFill>
                <a:srgbClr val="000000"/>
              </a:solidFill>
              <a:effectLst/>
              <a:uFillTx/>
              <a:latin typeface="Arial"/>
            </a:endParaRPr>
          </a:p>
        </p:txBody>
      </p:sp>
      <p:sp>
        <p:nvSpPr>
          <p:cNvPr id="483" name="Shape 9"/>
          <p:cNvSpPr/>
          <p:nvPr/>
        </p:nvSpPr>
        <p:spPr>
          <a:xfrm>
            <a:off x="3995738" y="3154500"/>
            <a:ext cx="2816182" cy="0"/>
          </a:xfrm>
          <a:prstGeom prst="line">
            <a:avLst/>
          </a:prstGeom>
          <a:ln w="2540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84" name="Text 10"/>
          <p:cNvSpPr/>
          <p:nvPr/>
        </p:nvSpPr>
        <p:spPr>
          <a:xfrm>
            <a:off x="2743200" y="4846320"/>
            <a:ext cx="676620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algn="ctr" defTabSz="914400">
              <a:lnSpc>
                <a:spcPct val="100000"/>
              </a:lnSpc>
              <a:tabLst>
                <a:tab pos="0" algn="l"/>
              </a:tabLst>
            </a:pPr>
            <a:r>
              <a:rPr lang="en-US" sz="1900" b="1" u="none" strike="noStrike" dirty="0">
                <a:solidFill>
                  <a:srgbClr val="112E5C"/>
                </a:solidFill>
                <a:effectLst/>
                <a:uFillTx/>
                <a:latin typeface="Aptos"/>
              </a:rPr>
              <a:t>Search overlays a tree of possible plans on top of the state-space graph.</a:t>
            </a:r>
            <a:endParaRPr lang="en-US" sz="1900" b="0" u="none" strike="noStrike" dirty="0">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45" name="Shape 7">
            <a:extLst>
              <a:ext uri="{FF2B5EF4-FFF2-40B4-BE49-F238E27FC236}">
                <a16:creationId xmlns:a16="http://schemas.microsoft.com/office/drawing/2014/main" id="{B49E7085-E554-7B11-CDF4-797E06C5F85D}"/>
              </a:ext>
            </a:extLst>
          </p:cNvPr>
          <p:cNvSpPr/>
          <p:nvPr/>
        </p:nvSpPr>
        <p:spPr>
          <a:xfrm>
            <a:off x="2457892" y="2327382"/>
            <a:ext cx="223388" cy="69013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5" name="Shape 10">
            <a:extLst>
              <a:ext uri="{FF2B5EF4-FFF2-40B4-BE49-F238E27FC236}">
                <a16:creationId xmlns:a16="http://schemas.microsoft.com/office/drawing/2014/main" id="{AB617C86-589D-A826-C45A-253227BF4813}"/>
              </a:ext>
            </a:extLst>
          </p:cNvPr>
          <p:cNvSpPr/>
          <p:nvPr/>
        </p:nvSpPr>
        <p:spPr>
          <a:xfrm flipV="1">
            <a:off x="2933639" y="18701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33" name="Shape 7">
            <a:extLst>
              <a:ext uri="{FF2B5EF4-FFF2-40B4-BE49-F238E27FC236}">
                <a16:creationId xmlns:a16="http://schemas.microsoft.com/office/drawing/2014/main" id="{0EB8CE70-CC9A-D119-722E-8EE0B70343BC}"/>
              </a:ext>
            </a:extLst>
          </p:cNvPr>
          <p:cNvSpPr/>
          <p:nvPr/>
        </p:nvSpPr>
        <p:spPr>
          <a:xfrm flipV="1">
            <a:off x="1913116" y="232738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4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State Space Graph</a:t>
            </a:r>
            <a:endParaRPr lang="en-US" sz="2600" b="0" u="none" strike="noStrike">
              <a:solidFill>
                <a:srgbClr val="000000"/>
              </a:solidFill>
              <a:effectLst/>
              <a:uFillTx/>
              <a:latin typeface="Arial"/>
            </a:endParaRPr>
          </a:p>
        </p:txBody>
      </p:sp>
      <p:sp>
        <p:nvSpPr>
          <p:cNvPr id="4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19" name="Text 34"/>
          <p:cNvSpPr/>
          <p:nvPr/>
        </p:nvSpPr>
        <p:spPr>
          <a:xfrm>
            <a:off x="6858000" y="1828800"/>
            <a:ext cx="4388760" cy="8226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02A4C"/>
                </a:solidFill>
                <a:effectLst/>
                <a:uFillTx/>
                <a:latin typeface="Aptos"/>
              </a:rPr>
              <a:t>Graph view: one node per abstract state, arcs represent action results.</a:t>
            </a:r>
            <a:endParaRPr lang="en-US" sz="2000" b="0" u="none" strike="noStrike">
              <a:solidFill>
                <a:srgbClr val="000000"/>
              </a:solidFill>
              <a:effectLst/>
              <a:uFillTx/>
              <a:latin typeface="Arial"/>
            </a:endParaRPr>
          </a:p>
        </p:txBody>
      </p:sp>
      <p:sp>
        <p:nvSpPr>
          <p:cNvPr id="520" name="Text 35"/>
          <p:cNvSpPr/>
          <p:nvPr/>
        </p:nvSpPr>
        <p:spPr>
          <a:xfrm>
            <a:off x="6903720" y="3017520"/>
            <a:ext cx="4297320" cy="10969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5C6B80"/>
                </a:solidFill>
                <a:effectLst/>
                <a:uFillTx/>
                <a:latin typeface="Aptos"/>
              </a:rPr>
              <a:t>This graph is a mathematical representation of the problem. We rarely store the whole thing in memory.</a:t>
            </a:r>
            <a:endParaRPr lang="en-US" sz="1600" b="0" u="none" strike="noStrike">
              <a:solidFill>
                <a:srgbClr val="000000"/>
              </a:solidFill>
              <a:effectLst/>
              <a:uFillTx/>
              <a:latin typeface="Arial"/>
            </a:endParaRPr>
          </a:p>
        </p:txBody>
      </p:sp>
      <p:sp>
        <p:nvSpPr>
          <p:cNvPr id="57" name="Shape 21">
            <a:extLst>
              <a:ext uri="{FF2B5EF4-FFF2-40B4-BE49-F238E27FC236}">
                <a16:creationId xmlns:a16="http://schemas.microsoft.com/office/drawing/2014/main" id="{51EEB682-D6A0-D91A-F1E1-3FA74D553576}"/>
              </a:ext>
            </a:extLst>
          </p:cNvPr>
          <p:cNvSpPr/>
          <p:nvPr/>
        </p:nvSpPr>
        <p:spPr>
          <a:xfrm flipH="1" flipV="1">
            <a:off x="4096252" y="1998341"/>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 name="Shape 8">
            <a:extLst>
              <a:ext uri="{FF2B5EF4-FFF2-40B4-BE49-F238E27FC236}">
                <a16:creationId xmlns:a16="http://schemas.microsoft.com/office/drawing/2014/main" id="{2AC50907-3E65-EBB9-9740-D727BA3BDD61}"/>
              </a:ext>
            </a:extLst>
          </p:cNvPr>
          <p:cNvSpPr/>
          <p:nvPr/>
        </p:nvSpPr>
        <p:spPr>
          <a:xfrm>
            <a:off x="3889612" y="2493513"/>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 name="Shape 8">
            <a:extLst>
              <a:ext uri="{FF2B5EF4-FFF2-40B4-BE49-F238E27FC236}">
                <a16:creationId xmlns:a16="http://schemas.microsoft.com/office/drawing/2014/main" id="{D0770E31-67DF-B485-7D8A-7A550F8D487F}"/>
              </a:ext>
            </a:extLst>
          </p:cNvPr>
          <p:cNvSpPr/>
          <p:nvPr/>
        </p:nvSpPr>
        <p:spPr>
          <a:xfrm flipH="1">
            <a:off x="3034439" y="3124421"/>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 name="Shape 8">
            <a:extLst>
              <a:ext uri="{FF2B5EF4-FFF2-40B4-BE49-F238E27FC236}">
                <a16:creationId xmlns:a16="http://schemas.microsoft.com/office/drawing/2014/main" id="{D847C71F-3661-DF44-B0AA-82065335D26D}"/>
              </a:ext>
            </a:extLst>
          </p:cNvPr>
          <p:cNvSpPr/>
          <p:nvPr/>
        </p:nvSpPr>
        <p:spPr>
          <a:xfrm>
            <a:off x="3420775" y="3107861"/>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49" name="Shape 8">
            <a:extLst>
              <a:ext uri="{FF2B5EF4-FFF2-40B4-BE49-F238E27FC236}">
                <a16:creationId xmlns:a16="http://schemas.microsoft.com/office/drawing/2014/main" id="{64A787BA-3B5B-233F-FC37-3517B893045A}"/>
              </a:ext>
            </a:extLst>
          </p:cNvPr>
          <p:cNvSpPr/>
          <p:nvPr/>
        </p:nvSpPr>
        <p:spPr>
          <a:xfrm>
            <a:off x="1981338" y="2692061"/>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1" name="Shape 8">
            <a:extLst>
              <a:ext uri="{FF2B5EF4-FFF2-40B4-BE49-F238E27FC236}">
                <a16:creationId xmlns:a16="http://schemas.microsoft.com/office/drawing/2014/main" id="{ED3D60FA-45B0-8997-34C2-52F576E75167}"/>
              </a:ext>
            </a:extLst>
          </p:cNvPr>
          <p:cNvSpPr/>
          <p:nvPr/>
        </p:nvSpPr>
        <p:spPr>
          <a:xfrm flipH="1">
            <a:off x="2651039" y="2024981"/>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3" name="Shape 14">
            <a:extLst>
              <a:ext uri="{FF2B5EF4-FFF2-40B4-BE49-F238E27FC236}">
                <a16:creationId xmlns:a16="http://schemas.microsoft.com/office/drawing/2014/main" id="{7426521B-4003-9349-CE64-98826F82AA18}"/>
              </a:ext>
            </a:extLst>
          </p:cNvPr>
          <p:cNvSpPr/>
          <p:nvPr/>
        </p:nvSpPr>
        <p:spPr>
          <a:xfrm flipV="1">
            <a:off x="2724120" y="2469941"/>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55" name="Shape 14">
            <a:extLst>
              <a:ext uri="{FF2B5EF4-FFF2-40B4-BE49-F238E27FC236}">
                <a16:creationId xmlns:a16="http://schemas.microsoft.com/office/drawing/2014/main" id="{3602F5E0-8CF5-F48D-20A8-2EFB2EE2559A}"/>
              </a:ext>
            </a:extLst>
          </p:cNvPr>
          <p:cNvSpPr/>
          <p:nvPr/>
        </p:nvSpPr>
        <p:spPr>
          <a:xfrm flipV="1">
            <a:off x="2725215" y="3028661"/>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459" name="Shape 6">
            <a:extLst>
              <a:ext uri="{FF2B5EF4-FFF2-40B4-BE49-F238E27FC236}">
                <a16:creationId xmlns:a16="http://schemas.microsoft.com/office/drawing/2014/main" id="{4E7E6B8D-6FEF-1E1D-F0B3-B0B67B83ECC7}"/>
              </a:ext>
            </a:extLst>
          </p:cNvPr>
          <p:cNvSpPr/>
          <p:nvPr/>
        </p:nvSpPr>
        <p:spPr>
          <a:xfrm>
            <a:off x="1857599" y="2622941"/>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1" name="Shape 7">
            <a:extLst>
              <a:ext uri="{FF2B5EF4-FFF2-40B4-BE49-F238E27FC236}">
                <a16:creationId xmlns:a16="http://schemas.microsoft.com/office/drawing/2014/main" id="{63022242-4CA4-996A-ED36-D4DE3FA5B554}"/>
              </a:ext>
            </a:extLst>
          </p:cNvPr>
          <p:cNvSpPr/>
          <p:nvPr/>
        </p:nvSpPr>
        <p:spPr>
          <a:xfrm flipV="1">
            <a:off x="2428199" y="207250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3" name="Shape 8">
            <a:extLst>
              <a:ext uri="{FF2B5EF4-FFF2-40B4-BE49-F238E27FC236}">
                <a16:creationId xmlns:a16="http://schemas.microsoft.com/office/drawing/2014/main" id="{6E667A85-5D2D-40C5-B6B9-8DFAB777DC6E}"/>
              </a:ext>
            </a:extLst>
          </p:cNvPr>
          <p:cNvSpPr/>
          <p:nvPr/>
        </p:nvSpPr>
        <p:spPr>
          <a:xfrm flipV="1">
            <a:off x="2428199" y="2024981"/>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7" name="Shape 10">
            <a:extLst>
              <a:ext uri="{FF2B5EF4-FFF2-40B4-BE49-F238E27FC236}">
                <a16:creationId xmlns:a16="http://schemas.microsoft.com/office/drawing/2014/main" id="{0A3F4715-09E2-888B-74C5-6AA76729BDCA}"/>
              </a:ext>
            </a:extLst>
          </p:cNvPr>
          <p:cNvSpPr/>
          <p:nvPr/>
        </p:nvSpPr>
        <p:spPr>
          <a:xfrm flipV="1">
            <a:off x="2927519" y="18737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69" name="Shape 16">
            <a:extLst>
              <a:ext uri="{FF2B5EF4-FFF2-40B4-BE49-F238E27FC236}">
                <a16:creationId xmlns:a16="http://schemas.microsoft.com/office/drawing/2014/main" id="{A2DA7FA3-9FE8-0E9B-8F3A-8D3AC0F19B20}"/>
              </a:ext>
            </a:extLst>
          </p:cNvPr>
          <p:cNvSpPr/>
          <p:nvPr/>
        </p:nvSpPr>
        <p:spPr>
          <a:xfrm>
            <a:off x="2960695" y="4290821"/>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71" name="Shape 21">
            <a:extLst>
              <a:ext uri="{FF2B5EF4-FFF2-40B4-BE49-F238E27FC236}">
                <a16:creationId xmlns:a16="http://schemas.microsoft.com/office/drawing/2014/main" id="{73D195E6-EFAF-9710-97FC-E27043455289}"/>
              </a:ext>
            </a:extLst>
          </p:cNvPr>
          <p:cNvSpPr/>
          <p:nvPr/>
        </p:nvSpPr>
        <p:spPr>
          <a:xfrm flipV="1">
            <a:off x="4615560" y="2236301"/>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77" name="Text 24">
            <a:extLst>
              <a:ext uri="{FF2B5EF4-FFF2-40B4-BE49-F238E27FC236}">
                <a16:creationId xmlns:a16="http://schemas.microsoft.com/office/drawing/2014/main" id="{738516B3-3FDB-9956-495A-A39AA239E33F}"/>
              </a:ext>
            </a:extLst>
          </p:cNvPr>
          <p:cNvSpPr/>
          <p:nvPr/>
        </p:nvSpPr>
        <p:spPr>
          <a:xfrm>
            <a:off x="2814535" y="41446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479" name="Text 25">
            <a:extLst>
              <a:ext uri="{FF2B5EF4-FFF2-40B4-BE49-F238E27FC236}">
                <a16:creationId xmlns:a16="http://schemas.microsoft.com/office/drawing/2014/main" id="{B8D933A0-7C19-CBAC-6DC0-F17AFB74DBD9}"/>
              </a:ext>
            </a:extLst>
          </p:cNvPr>
          <p:cNvSpPr/>
          <p:nvPr/>
        </p:nvSpPr>
        <p:spPr>
          <a:xfrm>
            <a:off x="2781360" y="18824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481" name="Text 26">
            <a:extLst>
              <a:ext uri="{FF2B5EF4-FFF2-40B4-BE49-F238E27FC236}">
                <a16:creationId xmlns:a16="http://schemas.microsoft.com/office/drawing/2014/main" id="{3F85AB3F-C600-9E5E-4FF4-C527C263190B}"/>
              </a:ext>
            </a:extLst>
          </p:cNvPr>
          <p:cNvSpPr/>
          <p:nvPr/>
        </p:nvSpPr>
        <p:spPr>
          <a:xfrm>
            <a:off x="3967067" y="1868343"/>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21" name="Text 28">
            <a:extLst>
              <a:ext uri="{FF2B5EF4-FFF2-40B4-BE49-F238E27FC236}">
                <a16:creationId xmlns:a16="http://schemas.microsoft.com/office/drawing/2014/main" id="{87BE142A-5937-96CD-CA85-3A1E9024E5F1}"/>
              </a:ext>
            </a:extLst>
          </p:cNvPr>
          <p:cNvSpPr/>
          <p:nvPr/>
        </p:nvSpPr>
        <p:spPr>
          <a:xfrm>
            <a:off x="3280680" y="28810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23" name="Text 29">
            <a:extLst>
              <a:ext uri="{FF2B5EF4-FFF2-40B4-BE49-F238E27FC236}">
                <a16:creationId xmlns:a16="http://schemas.microsoft.com/office/drawing/2014/main" id="{8F9F32AD-CFE2-91F5-D3E1-894F50BBFBCD}"/>
              </a:ext>
            </a:extLst>
          </p:cNvPr>
          <p:cNvSpPr/>
          <p:nvPr/>
        </p:nvSpPr>
        <p:spPr>
          <a:xfrm>
            <a:off x="3337615" y="45489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25" name="Text 31">
            <a:extLst>
              <a:ext uri="{FF2B5EF4-FFF2-40B4-BE49-F238E27FC236}">
                <a16:creationId xmlns:a16="http://schemas.microsoft.com/office/drawing/2014/main" id="{D2E0E684-C309-0223-A616-78C8CC1A2D9A}"/>
              </a:ext>
            </a:extLst>
          </p:cNvPr>
          <p:cNvSpPr/>
          <p:nvPr/>
        </p:nvSpPr>
        <p:spPr>
          <a:xfrm>
            <a:off x="3602880" y="23277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527" name="Text 32">
            <a:extLst>
              <a:ext uri="{FF2B5EF4-FFF2-40B4-BE49-F238E27FC236}">
                <a16:creationId xmlns:a16="http://schemas.microsoft.com/office/drawing/2014/main" id="{3741D6A4-CE31-2866-ADAD-595E4EFA37F3}"/>
              </a:ext>
            </a:extLst>
          </p:cNvPr>
          <p:cNvSpPr/>
          <p:nvPr/>
        </p:nvSpPr>
        <p:spPr>
          <a:xfrm>
            <a:off x="4469400" y="25718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29" name="Text 33">
            <a:extLst>
              <a:ext uri="{FF2B5EF4-FFF2-40B4-BE49-F238E27FC236}">
                <a16:creationId xmlns:a16="http://schemas.microsoft.com/office/drawing/2014/main" id="{86F5CB14-C88D-6922-4E55-DF1950229E8B}"/>
              </a:ext>
            </a:extLst>
          </p:cNvPr>
          <p:cNvSpPr/>
          <p:nvPr/>
        </p:nvSpPr>
        <p:spPr>
          <a:xfrm>
            <a:off x="4873680" y="207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31" name="Text 28">
            <a:extLst>
              <a:ext uri="{FF2B5EF4-FFF2-40B4-BE49-F238E27FC236}">
                <a16:creationId xmlns:a16="http://schemas.microsoft.com/office/drawing/2014/main" id="{DABAFC47-0285-D543-C35A-E88F26F0D460}"/>
              </a:ext>
            </a:extLst>
          </p:cNvPr>
          <p:cNvSpPr/>
          <p:nvPr/>
        </p:nvSpPr>
        <p:spPr>
          <a:xfrm>
            <a:off x="1697702" y="24465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s</a:t>
            </a:r>
            <a:endParaRPr lang="en-US" sz="900" b="0" u="none" strike="noStrike" dirty="0">
              <a:solidFill>
                <a:srgbClr val="000000"/>
              </a:solidFill>
              <a:effectLst/>
              <a:uFillTx/>
              <a:latin typeface="Arial"/>
            </a:endParaRPr>
          </a:p>
        </p:txBody>
      </p:sp>
      <p:sp>
        <p:nvSpPr>
          <p:cNvPr id="537" name="Text 30">
            <a:extLst>
              <a:ext uri="{FF2B5EF4-FFF2-40B4-BE49-F238E27FC236}">
                <a16:creationId xmlns:a16="http://schemas.microsoft.com/office/drawing/2014/main" id="{124C91A1-D592-4F27-7A6F-A47E7BEF4879}"/>
              </a:ext>
            </a:extLst>
          </p:cNvPr>
          <p:cNvSpPr/>
          <p:nvPr/>
        </p:nvSpPr>
        <p:spPr>
          <a:xfrm>
            <a:off x="3310560" y="171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41" name="Text 28">
            <a:extLst>
              <a:ext uri="{FF2B5EF4-FFF2-40B4-BE49-F238E27FC236}">
                <a16:creationId xmlns:a16="http://schemas.microsoft.com/office/drawing/2014/main" id="{9B19BB29-7A81-1855-5AEB-921F18F85247}"/>
              </a:ext>
            </a:extLst>
          </p:cNvPr>
          <p:cNvSpPr/>
          <p:nvPr/>
        </p:nvSpPr>
        <p:spPr>
          <a:xfrm>
            <a:off x="2282039" y="21481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b</a:t>
            </a:r>
            <a:endParaRPr lang="en-US" sz="900" b="0" u="none" strike="noStrike" dirty="0">
              <a:solidFill>
                <a:srgbClr val="000000"/>
              </a:solidFill>
              <a:effectLst/>
              <a:uFillTx/>
              <a:latin typeface="Arial"/>
            </a:endParaRPr>
          </a:p>
        </p:txBody>
      </p:sp>
      <p:sp>
        <p:nvSpPr>
          <p:cNvPr id="543" name="Text 28">
            <a:extLst>
              <a:ext uri="{FF2B5EF4-FFF2-40B4-BE49-F238E27FC236}">
                <a16:creationId xmlns:a16="http://schemas.microsoft.com/office/drawing/2014/main" id="{26227339-7FF6-71D1-D4AE-92C04D0333A2}"/>
              </a:ext>
            </a:extLst>
          </p:cNvPr>
          <p:cNvSpPr/>
          <p:nvPr/>
        </p:nvSpPr>
        <p:spPr>
          <a:xfrm>
            <a:off x="2503086" y="288581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e</a:t>
            </a:r>
            <a:endParaRPr lang="en-US" sz="900" b="0" u="none" strike="noStrike" dirty="0">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52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2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Search Tree Root and First Frontier</a:t>
            </a:r>
            <a:endParaRPr lang="en-US" sz="2600" b="0" u="none" strike="noStrike">
              <a:solidFill>
                <a:srgbClr val="000000"/>
              </a:solidFill>
              <a:effectLst/>
              <a:uFillTx/>
              <a:latin typeface="Arial"/>
            </a:endParaRPr>
          </a:p>
        </p:txBody>
      </p:sp>
      <p:sp>
        <p:nvSpPr>
          <p:cNvPr id="52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2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55" name="Shape 34"/>
          <p:cNvSpPr/>
          <p:nvPr/>
        </p:nvSpPr>
        <p:spPr>
          <a:xfrm flipH="1">
            <a:off x="811224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6" name="Shape 35"/>
          <p:cNvSpPr/>
          <p:nvPr/>
        </p:nvSpPr>
        <p:spPr>
          <a:xfrm>
            <a:off x="946764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7" name="Shape 36"/>
          <p:cNvSpPr/>
          <p:nvPr/>
        </p:nvSpPr>
        <p:spPr>
          <a:xfrm>
            <a:off x="946764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58" name="Text 37"/>
          <p:cNvSpPr/>
          <p:nvPr/>
        </p:nvSpPr>
        <p:spPr>
          <a:xfrm>
            <a:off x="9321480" y="1735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59" name="Text 38"/>
          <p:cNvSpPr/>
          <p:nvPr/>
        </p:nvSpPr>
        <p:spPr>
          <a:xfrm>
            <a:off x="79660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60" name="Text 39"/>
          <p:cNvSpPr/>
          <p:nvPr/>
        </p:nvSpPr>
        <p:spPr>
          <a:xfrm>
            <a:off x="932148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561" name="Text 40"/>
          <p:cNvSpPr/>
          <p:nvPr/>
        </p:nvSpPr>
        <p:spPr>
          <a:xfrm>
            <a:off x="10676520" y="23774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62" name="Text 41"/>
          <p:cNvSpPr/>
          <p:nvPr/>
        </p:nvSpPr>
        <p:spPr>
          <a:xfrm>
            <a:off x="960120" y="5166360"/>
            <a:ext cx="1005804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The root node is the initial state. Expanding it generates children and creates the frontier.</a:t>
            </a:r>
            <a:endParaRPr lang="en-US" sz="1800" b="0" u="none" strike="noStrike">
              <a:solidFill>
                <a:srgbClr val="000000"/>
              </a:solidFill>
              <a:effectLst/>
              <a:uFillTx/>
              <a:latin typeface="Arial"/>
            </a:endParaRPr>
          </a:p>
        </p:txBody>
      </p:sp>
      <p:sp>
        <p:nvSpPr>
          <p:cNvPr id="609" name="Shape 7">
            <a:extLst>
              <a:ext uri="{FF2B5EF4-FFF2-40B4-BE49-F238E27FC236}">
                <a16:creationId xmlns:a16="http://schemas.microsoft.com/office/drawing/2014/main" id="{2F5D5EC3-C5B1-2F51-55A7-7D4EC84018F9}"/>
              </a:ext>
            </a:extLst>
          </p:cNvPr>
          <p:cNvSpPr/>
          <p:nvPr/>
        </p:nvSpPr>
        <p:spPr>
          <a:xfrm>
            <a:off x="2457892" y="2327382"/>
            <a:ext cx="223388" cy="69013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1" name="Shape 10">
            <a:extLst>
              <a:ext uri="{FF2B5EF4-FFF2-40B4-BE49-F238E27FC236}">
                <a16:creationId xmlns:a16="http://schemas.microsoft.com/office/drawing/2014/main" id="{7E1E2EB9-9D38-C0CE-E9D1-ECE4256761EF}"/>
              </a:ext>
            </a:extLst>
          </p:cNvPr>
          <p:cNvSpPr/>
          <p:nvPr/>
        </p:nvSpPr>
        <p:spPr>
          <a:xfrm flipV="1">
            <a:off x="2933639" y="18701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3" name="Shape 7">
            <a:extLst>
              <a:ext uri="{FF2B5EF4-FFF2-40B4-BE49-F238E27FC236}">
                <a16:creationId xmlns:a16="http://schemas.microsoft.com/office/drawing/2014/main" id="{AA2277FF-D975-D855-FC77-3F949299D3E9}"/>
              </a:ext>
            </a:extLst>
          </p:cNvPr>
          <p:cNvSpPr/>
          <p:nvPr/>
        </p:nvSpPr>
        <p:spPr>
          <a:xfrm flipV="1">
            <a:off x="1913116" y="232738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5" name="Shape 21">
            <a:extLst>
              <a:ext uri="{FF2B5EF4-FFF2-40B4-BE49-F238E27FC236}">
                <a16:creationId xmlns:a16="http://schemas.microsoft.com/office/drawing/2014/main" id="{F01A09C6-2415-CD5E-D63D-FAE3E765C1E8}"/>
              </a:ext>
            </a:extLst>
          </p:cNvPr>
          <p:cNvSpPr/>
          <p:nvPr/>
        </p:nvSpPr>
        <p:spPr>
          <a:xfrm flipH="1" flipV="1">
            <a:off x="4096252" y="1998341"/>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7" name="Shape 8">
            <a:extLst>
              <a:ext uri="{FF2B5EF4-FFF2-40B4-BE49-F238E27FC236}">
                <a16:creationId xmlns:a16="http://schemas.microsoft.com/office/drawing/2014/main" id="{BA2DD4D3-4E52-416B-8B12-55FBF94B56F9}"/>
              </a:ext>
            </a:extLst>
          </p:cNvPr>
          <p:cNvSpPr/>
          <p:nvPr/>
        </p:nvSpPr>
        <p:spPr>
          <a:xfrm>
            <a:off x="3889612" y="2493513"/>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9" name="Shape 8">
            <a:extLst>
              <a:ext uri="{FF2B5EF4-FFF2-40B4-BE49-F238E27FC236}">
                <a16:creationId xmlns:a16="http://schemas.microsoft.com/office/drawing/2014/main" id="{DDCC266B-E2E5-0F69-09EB-7EFB15E62C28}"/>
              </a:ext>
            </a:extLst>
          </p:cNvPr>
          <p:cNvSpPr/>
          <p:nvPr/>
        </p:nvSpPr>
        <p:spPr>
          <a:xfrm flipH="1">
            <a:off x="3034439" y="3124421"/>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1" name="Shape 8">
            <a:extLst>
              <a:ext uri="{FF2B5EF4-FFF2-40B4-BE49-F238E27FC236}">
                <a16:creationId xmlns:a16="http://schemas.microsoft.com/office/drawing/2014/main" id="{709B3AAA-204E-94C2-84C8-A5CE8A1C6735}"/>
              </a:ext>
            </a:extLst>
          </p:cNvPr>
          <p:cNvSpPr/>
          <p:nvPr/>
        </p:nvSpPr>
        <p:spPr>
          <a:xfrm>
            <a:off x="3420775" y="3107861"/>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3" name="Shape 8">
            <a:extLst>
              <a:ext uri="{FF2B5EF4-FFF2-40B4-BE49-F238E27FC236}">
                <a16:creationId xmlns:a16="http://schemas.microsoft.com/office/drawing/2014/main" id="{AB5F4728-FBF0-7FAF-2838-052AB83FCBDC}"/>
              </a:ext>
            </a:extLst>
          </p:cNvPr>
          <p:cNvSpPr/>
          <p:nvPr/>
        </p:nvSpPr>
        <p:spPr>
          <a:xfrm>
            <a:off x="1981338" y="2692061"/>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5" name="Shape 8">
            <a:extLst>
              <a:ext uri="{FF2B5EF4-FFF2-40B4-BE49-F238E27FC236}">
                <a16:creationId xmlns:a16="http://schemas.microsoft.com/office/drawing/2014/main" id="{E8397504-A943-A7E5-9A3A-1D3D4901921D}"/>
              </a:ext>
            </a:extLst>
          </p:cNvPr>
          <p:cNvSpPr/>
          <p:nvPr/>
        </p:nvSpPr>
        <p:spPr>
          <a:xfrm flipH="1">
            <a:off x="2651039" y="2024981"/>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7" name="Shape 14">
            <a:extLst>
              <a:ext uri="{FF2B5EF4-FFF2-40B4-BE49-F238E27FC236}">
                <a16:creationId xmlns:a16="http://schemas.microsoft.com/office/drawing/2014/main" id="{7ECF894A-C218-99FC-A292-4E200B8B46DC}"/>
              </a:ext>
            </a:extLst>
          </p:cNvPr>
          <p:cNvSpPr/>
          <p:nvPr/>
        </p:nvSpPr>
        <p:spPr>
          <a:xfrm flipV="1">
            <a:off x="2724120" y="2469941"/>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29" name="Shape 14">
            <a:extLst>
              <a:ext uri="{FF2B5EF4-FFF2-40B4-BE49-F238E27FC236}">
                <a16:creationId xmlns:a16="http://schemas.microsoft.com/office/drawing/2014/main" id="{3D71F271-CA6D-3AEF-DB96-4E29B96E539F}"/>
              </a:ext>
            </a:extLst>
          </p:cNvPr>
          <p:cNvSpPr/>
          <p:nvPr/>
        </p:nvSpPr>
        <p:spPr>
          <a:xfrm flipV="1">
            <a:off x="2725215" y="3028661"/>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631" name="Shape 6">
            <a:extLst>
              <a:ext uri="{FF2B5EF4-FFF2-40B4-BE49-F238E27FC236}">
                <a16:creationId xmlns:a16="http://schemas.microsoft.com/office/drawing/2014/main" id="{DB1CC847-6CA4-BD8F-89BF-AF4E87259DF9}"/>
              </a:ext>
            </a:extLst>
          </p:cNvPr>
          <p:cNvSpPr/>
          <p:nvPr/>
        </p:nvSpPr>
        <p:spPr>
          <a:xfrm>
            <a:off x="1857599" y="2622941"/>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3" name="Shape 7">
            <a:extLst>
              <a:ext uri="{FF2B5EF4-FFF2-40B4-BE49-F238E27FC236}">
                <a16:creationId xmlns:a16="http://schemas.microsoft.com/office/drawing/2014/main" id="{3471DC4C-5211-2420-233A-FBE28BC7FD73}"/>
              </a:ext>
            </a:extLst>
          </p:cNvPr>
          <p:cNvSpPr/>
          <p:nvPr/>
        </p:nvSpPr>
        <p:spPr>
          <a:xfrm flipV="1">
            <a:off x="2428199" y="2072501"/>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5" name="Shape 8">
            <a:extLst>
              <a:ext uri="{FF2B5EF4-FFF2-40B4-BE49-F238E27FC236}">
                <a16:creationId xmlns:a16="http://schemas.microsoft.com/office/drawing/2014/main" id="{464ADB30-36DF-675D-3FC4-9071F14A3D2B}"/>
              </a:ext>
            </a:extLst>
          </p:cNvPr>
          <p:cNvSpPr/>
          <p:nvPr/>
        </p:nvSpPr>
        <p:spPr>
          <a:xfrm flipV="1">
            <a:off x="2428199" y="2024981"/>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7" name="Shape 10">
            <a:extLst>
              <a:ext uri="{FF2B5EF4-FFF2-40B4-BE49-F238E27FC236}">
                <a16:creationId xmlns:a16="http://schemas.microsoft.com/office/drawing/2014/main" id="{6A9C7719-A1F4-7737-E5DB-CFF688FE7767}"/>
              </a:ext>
            </a:extLst>
          </p:cNvPr>
          <p:cNvSpPr/>
          <p:nvPr/>
        </p:nvSpPr>
        <p:spPr>
          <a:xfrm flipV="1">
            <a:off x="2927519" y="1873781"/>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39" name="Shape 16">
            <a:extLst>
              <a:ext uri="{FF2B5EF4-FFF2-40B4-BE49-F238E27FC236}">
                <a16:creationId xmlns:a16="http://schemas.microsoft.com/office/drawing/2014/main" id="{D4E54B3F-C642-D1CD-0B31-B867018E0A93}"/>
              </a:ext>
            </a:extLst>
          </p:cNvPr>
          <p:cNvSpPr/>
          <p:nvPr/>
        </p:nvSpPr>
        <p:spPr>
          <a:xfrm>
            <a:off x="2960695" y="4290821"/>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41" name="Shape 21">
            <a:extLst>
              <a:ext uri="{FF2B5EF4-FFF2-40B4-BE49-F238E27FC236}">
                <a16:creationId xmlns:a16="http://schemas.microsoft.com/office/drawing/2014/main" id="{4246541D-46CC-B491-5959-64545D560F72}"/>
              </a:ext>
            </a:extLst>
          </p:cNvPr>
          <p:cNvSpPr/>
          <p:nvPr/>
        </p:nvSpPr>
        <p:spPr>
          <a:xfrm flipV="1">
            <a:off x="4615560" y="2236301"/>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43" name="Text 24">
            <a:extLst>
              <a:ext uri="{FF2B5EF4-FFF2-40B4-BE49-F238E27FC236}">
                <a16:creationId xmlns:a16="http://schemas.microsoft.com/office/drawing/2014/main" id="{39F4F544-F0A0-88D3-0269-21708A7E41F2}"/>
              </a:ext>
            </a:extLst>
          </p:cNvPr>
          <p:cNvSpPr/>
          <p:nvPr/>
        </p:nvSpPr>
        <p:spPr>
          <a:xfrm>
            <a:off x="2814535" y="41446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45" name="Text 25">
            <a:extLst>
              <a:ext uri="{FF2B5EF4-FFF2-40B4-BE49-F238E27FC236}">
                <a16:creationId xmlns:a16="http://schemas.microsoft.com/office/drawing/2014/main" id="{1983610C-EAC0-2F3F-1E89-39764B752D8F}"/>
              </a:ext>
            </a:extLst>
          </p:cNvPr>
          <p:cNvSpPr/>
          <p:nvPr/>
        </p:nvSpPr>
        <p:spPr>
          <a:xfrm>
            <a:off x="2781360" y="18824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47" name="Text 26">
            <a:extLst>
              <a:ext uri="{FF2B5EF4-FFF2-40B4-BE49-F238E27FC236}">
                <a16:creationId xmlns:a16="http://schemas.microsoft.com/office/drawing/2014/main" id="{F145D32E-8A91-90CC-B990-413073001930}"/>
              </a:ext>
            </a:extLst>
          </p:cNvPr>
          <p:cNvSpPr/>
          <p:nvPr/>
        </p:nvSpPr>
        <p:spPr>
          <a:xfrm>
            <a:off x="3967067" y="1868343"/>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49" name="Text 28">
            <a:extLst>
              <a:ext uri="{FF2B5EF4-FFF2-40B4-BE49-F238E27FC236}">
                <a16:creationId xmlns:a16="http://schemas.microsoft.com/office/drawing/2014/main" id="{07EE0062-2FB5-D3A1-E662-086E705ED89D}"/>
              </a:ext>
            </a:extLst>
          </p:cNvPr>
          <p:cNvSpPr/>
          <p:nvPr/>
        </p:nvSpPr>
        <p:spPr>
          <a:xfrm>
            <a:off x="3280680" y="288106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51" name="Text 29">
            <a:extLst>
              <a:ext uri="{FF2B5EF4-FFF2-40B4-BE49-F238E27FC236}">
                <a16:creationId xmlns:a16="http://schemas.microsoft.com/office/drawing/2014/main" id="{D3BEA067-C1CC-CAC6-4191-68E8852BC1CF}"/>
              </a:ext>
            </a:extLst>
          </p:cNvPr>
          <p:cNvSpPr/>
          <p:nvPr/>
        </p:nvSpPr>
        <p:spPr>
          <a:xfrm>
            <a:off x="3337615" y="45489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53" name="Text 31">
            <a:extLst>
              <a:ext uri="{FF2B5EF4-FFF2-40B4-BE49-F238E27FC236}">
                <a16:creationId xmlns:a16="http://schemas.microsoft.com/office/drawing/2014/main" id="{FCB881A9-E543-8BC7-5C4E-B4D2BA837505}"/>
              </a:ext>
            </a:extLst>
          </p:cNvPr>
          <p:cNvSpPr/>
          <p:nvPr/>
        </p:nvSpPr>
        <p:spPr>
          <a:xfrm>
            <a:off x="3602880" y="232774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655" name="Text 32">
            <a:extLst>
              <a:ext uri="{FF2B5EF4-FFF2-40B4-BE49-F238E27FC236}">
                <a16:creationId xmlns:a16="http://schemas.microsoft.com/office/drawing/2014/main" id="{8B7CB3E8-5FF1-55A4-7375-DFA865784EF4}"/>
              </a:ext>
            </a:extLst>
          </p:cNvPr>
          <p:cNvSpPr/>
          <p:nvPr/>
        </p:nvSpPr>
        <p:spPr>
          <a:xfrm>
            <a:off x="4469400" y="257182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57" name="Text 33">
            <a:extLst>
              <a:ext uri="{FF2B5EF4-FFF2-40B4-BE49-F238E27FC236}">
                <a16:creationId xmlns:a16="http://schemas.microsoft.com/office/drawing/2014/main" id="{60339F72-CDCC-8EA6-B3CD-79ED58CB01A6}"/>
              </a:ext>
            </a:extLst>
          </p:cNvPr>
          <p:cNvSpPr/>
          <p:nvPr/>
        </p:nvSpPr>
        <p:spPr>
          <a:xfrm>
            <a:off x="4873680" y="207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61" name="Text 30">
            <a:extLst>
              <a:ext uri="{FF2B5EF4-FFF2-40B4-BE49-F238E27FC236}">
                <a16:creationId xmlns:a16="http://schemas.microsoft.com/office/drawing/2014/main" id="{53FE8605-FDBB-7AD6-5CB5-A1816AF443AC}"/>
              </a:ext>
            </a:extLst>
          </p:cNvPr>
          <p:cNvSpPr/>
          <p:nvPr/>
        </p:nvSpPr>
        <p:spPr>
          <a:xfrm>
            <a:off x="3310560" y="17125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63" name="Text 28">
            <a:extLst>
              <a:ext uri="{FF2B5EF4-FFF2-40B4-BE49-F238E27FC236}">
                <a16:creationId xmlns:a16="http://schemas.microsoft.com/office/drawing/2014/main" id="{73D09102-2B6D-43D7-0B0B-E38900F6F42C}"/>
              </a:ext>
            </a:extLst>
          </p:cNvPr>
          <p:cNvSpPr/>
          <p:nvPr/>
        </p:nvSpPr>
        <p:spPr>
          <a:xfrm>
            <a:off x="2282039" y="2148101"/>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b</a:t>
            </a:r>
            <a:endParaRPr lang="en-US" sz="900" b="0" u="none" strike="noStrike" dirty="0">
              <a:solidFill>
                <a:srgbClr val="000000"/>
              </a:solidFill>
              <a:effectLst/>
              <a:uFillTx/>
              <a:latin typeface="Arial"/>
            </a:endParaRPr>
          </a:p>
        </p:txBody>
      </p:sp>
      <p:sp>
        <p:nvSpPr>
          <p:cNvPr id="665" name="Text 28">
            <a:extLst>
              <a:ext uri="{FF2B5EF4-FFF2-40B4-BE49-F238E27FC236}">
                <a16:creationId xmlns:a16="http://schemas.microsoft.com/office/drawing/2014/main" id="{17D3B7FD-F6BB-511F-1B37-BB5529CAF665}"/>
              </a:ext>
            </a:extLst>
          </p:cNvPr>
          <p:cNvSpPr/>
          <p:nvPr/>
        </p:nvSpPr>
        <p:spPr>
          <a:xfrm>
            <a:off x="2503086" y="288581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e</a:t>
            </a:r>
            <a:endParaRPr lang="en-US" sz="900" b="0" u="none" strike="noStrike" dirty="0">
              <a:solidFill>
                <a:srgbClr val="000000"/>
              </a:solidFill>
              <a:effectLst/>
              <a:uFillTx/>
              <a:latin typeface="Arial"/>
            </a:endParaRPr>
          </a:p>
        </p:txBody>
      </p:sp>
      <p:sp>
        <p:nvSpPr>
          <p:cNvPr id="667" name="Text 37">
            <a:extLst>
              <a:ext uri="{FF2B5EF4-FFF2-40B4-BE49-F238E27FC236}">
                <a16:creationId xmlns:a16="http://schemas.microsoft.com/office/drawing/2014/main" id="{1D8B7284-17BB-B7E1-347F-0579EC079053}"/>
              </a:ext>
            </a:extLst>
          </p:cNvPr>
          <p:cNvSpPr/>
          <p:nvPr/>
        </p:nvSpPr>
        <p:spPr>
          <a:xfrm>
            <a:off x="1699089" y="2447261"/>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dirty="0">
                <a:solidFill>
                  <a:srgbClr val="102A4C"/>
                </a:solidFill>
                <a:latin typeface="Aptos"/>
              </a:rPr>
              <a:t>s</a:t>
            </a:r>
            <a:endParaRPr lang="en-US" sz="900" b="0" u="none" strike="noStrike" dirty="0">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9" name="Shape 21">
            <a:extLst>
              <a:ext uri="{FF2B5EF4-FFF2-40B4-BE49-F238E27FC236}">
                <a16:creationId xmlns:a16="http://schemas.microsoft.com/office/drawing/2014/main" id="{5BF3D8FC-F288-DC93-7726-185B1BF24348}"/>
              </a:ext>
            </a:extLst>
          </p:cNvPr>
          <p:cNvSpPr/>
          <p:nvPr/>
        </p:nvSpPr>
        <p:spPr>
          <a:xfrm flipH="1" flipV="1">
            <a:off x="3304612" y="1666800"/>
            <a:ext cx="525599" cy="719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7" name="Shape 8">
            <a:extLst>
              <a:ext uri="{FF2B5EF4-FFF2-40B4-BE49-F238E27FC236}">
                <a16:creationId xmlns:a16="http://schemas.microsoft.com/office/drawing/2014/main" id="{123B1E7A-D854-377E-EE92-14FA3084D3E1}"/>
              </a:ext>
            </a:extLst>
          </p:cNvPr>
          <p:cNvSpPr/>
          <p:nvPr/>
        </p:nvSpPr>
        <p:spPr>
          <a:xfrm>
            <a:off x="3097972" y="2161972"/>
            <a:ext cx="670320" cy="246068"/>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3" name="Shape 8">
            <a:extLst>
              <a:ext uri="{FF2B5EF4-FFF2-40B4-BE49-F238E27FC236}">
                <a16:creationId xmlns:a16="http://schemas.microsoft.com/office/drawing/2014/main" id="{979A6A20-890E-4F4F-07DC-94BA16207A27}"/>
              </a:ext>
            </a:extLst>
          </p:cNvPr>
          <p:cNvSpPr/>
          <p:nvPr/>
        </p:nvSpPr>
        <p:spPr>
          <a:xfrm flipH="1">
            <a:off x="2242799" y="2792880"/>
            <a:ext cx="374640" cy="1043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 name="Shape 8">
            <a:extLst>
              <a:ext uri="{FF2B5EF4-FFF2-40B4-BE49-F238E27FC236}">
                <a16:creationId xmlns:a16="http://schemas.microsoft.com/office/drawing/2014/main" id="{150C8965-083A-9F44-A8DC-7E29E1916854}"/>
              </a:ext>
            </a:extLst>
          </p:cNvPr>
          <p:cNvSpPr/>
          <p:nvPr/>
        </p:nvSpPr>
        <p:spPr>
          <a:xfrm>
            <a:off x="2629135" y="2776320"/>
            <a:ext cx="42839" cy="1441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 name="Shape 8">
            <a:extLst>
              <a:ext uri="{FF2B5EF4-FFF2-40B4-BE49-F238E27FC236}">
                <a16:creationId xmlns:a16="http://schemas.microsoft.com/office/drawing/2014/main" id="{D1F42FCE-57E2-B5BA-812C-0C77AE8E7E94}"/>
              </a:ext>
            </a:extLst>
          </p:cNvPr>
          <p:cNvSpPr/>
          <p:nvPr/>
        </p:nvSpPr>
        <p:spPr>
          <a:xfrm>
            <a:off x="1189698" y="2360520"/>
            <a:ext cx="635862" cy="367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 name="Shape 8">
            <a:extLst>
              <a:ext uri="{FF2B5EF4-FFF2-40B4-BE49-F238E27FC236}">
                <a16:creationId xmlns:a16="http://schemas.microsoft.com/office/drawing/2014/main" id="{068F8D98-BDD8-52AC-DF8F-53C77B995B62}"/>
              </a:ext>
            </a:extLst>
          </p:cNvPr>
          <p:cNvSpPr/>
          <p:nvPr/>
        </p:nvSpPr>
        <p:spPr>
          <a:xfrm flipH="1">
            <a:off x="1859399" y="1693440"/>
            <a:ext cx="1358281" cy="1003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 name="Shape 14">
            <a:extLst>
              <a:ext uri="{FF2B5EF4-FFF2-40B4-BE49-F238E27FC236}">
                <a16:creationId xmlns:a16="http://schemas.microsoft.com/office/drawing/2014/main" id="{B3BE0B50-034C-12AC-12A1-90E07C049999}"/>
              </a:ext>
            </a:extLst>
          </p:cNvPr>
          <p:cNvSpPr/>
          <p:nvPr/>
        </p:nvSpPr>
        <p:spPr>
          <a:xfrm flipV="1">
            <a:off x="1932480" y="2138400"/>
            <a:ext cx="1018972" cy="611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 name="Shape 14">
            <a:extLst>
              <a:ext uri="{FF2B5EF4-FFF2-40B4-BE49-F238E27FC236}">
                <a16:creationId xmlns:a16="http://schemas.microsoft.com/office/drawing/2014/main" id="{D839F680-27D8-6ABE-C3F4-73C73FF048A3}"/>
              </a:ext>
            </a:extLst>
          </p:cNvPr>
          <p:cNvSpPr/>
          <p:nvPr/>
        </p:nvSpPr>
        <p:spPr>
          <a:xfrm flipV="1">
            <a:off x="1933575" y="2697120"/>
            <a:ext cx="695200" cy="79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
        <p:nvSpPr>
          <p:cNvPr id="56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56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Build: Repeated States in the Search Tree</a:t>
            </a:r>
            <a:endParaRPr lang="en-US" sz="2600" b="0" u="none" strike="noStrike">
              <a:solidFill>
                <a:srgbClr val="000000"/>
              </a:solidFill>
              <a:effectLst/>
              <a:uFillTx/>
              <a:latin typeface="Arial"/>
            </a:endParaRPr>
          </a:p>
        </p:txBody>
      </p:sp>
      <p:sp>
        <p:nvSpPr>
          <p:cNvPr id="56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6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568" name="Shape 5"/>
          <p:cNvSpPr/>
          <p:nvPr/>
        </p:nvSpPr>
        <p:spPr>
          <a:xfrm flipV="1">
            <a:off x="1065960" y="1996200"/>
            <a:ext cx="536760" cy="29520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69" name="Shape 6"/>
          <p:cNvSpPr/>
          <p:nvPr/>
        </p:nvSpPr>
        <p:spPr>
          <a:xfrm>
            <a:off x="1065959" y="2291400"/>
            <a:ext cx="974881" cy="1582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0" name="Shape 7"/>
          <p:cNvSpPr/>
          <p:nvPr/>
        </p:nvSpPr>
        <p:spPr>
          <a:xfrm flipV="1">
            <a:off x="1636559" y="1740960"/>
            <a:ext cx="462241" cy="217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1" name="Shape 8"/>
          <p:cNvSpPr/>
          <p:nvPr/>
        </p:nvSpPr>
        <p:spPr>
          <a:xfrm flipV="1">
            <a:off x="1636559" y="1693440"/>
            <a:ext cx="1668616" cy="2649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2" name="Shape 9"/>
          <p:cNvSpPr/>
          <p:nvPr/>
        </p:nvSpPr>
        <p:spPr>
          <a:xfrm>
            <a:off x="1636559" y="1958400"/>
            <a:ext cx="208425" cy="770040"/>
          </a:xfrm>
          <a:prstGeom prst="line">
            <a:avLst/>
          </a:prstGeom>
          <a:ln w="3429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3" name="Shape 10"/>
          <p:cNvSpPr/>
          <p:nvPr/>
        </p:nvSpPr>
        <p:spPr>
          <a:xfrm flipV="1">
            <a:off x="2135879" y="1542240"/>
            <a:ext cx="481559" cy="1548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79" name="Shape 16"/>
          <p:cNvSpPr/>
          <p:nvPr/>
        </p:nvSpPr>
        <p:spPr>
          <a:xfrm>
            <a:off x="2169055" y="3959280"/>
            <a:ext cx="523080" cy="4042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4" name="Shape 21"/>
          <p:cNvSpPr/>
          <p:nvPr/>
        </p:nvSpPr>
        <p:spPr>
          <a:xfrm flipV="1">
            <a:off x="3823920" y="1904760"/>
            <a:ext cx="392400" cy="481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85" name="Text 22"/>
          <p:cNvSpPr/>
          <p:nvPr/>
        </p:nvSpPr>
        <p:spPr>
          <a:xfrm>
            <a:off x="919800" y="2145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586" name="Text 23"/>
          <p:cNvSpPr/>
          <p:nvPr/>
        </p:nvSpPr>
        <p:spPr>
          <a:xfrm>
            <a:off x="1490400" y="18122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587" name="Text 24"/>
          <p:cNvSpPr/>
          <p:nvPr/>
        </p:nvSpPr>
        <p:spPr>
          <a:xfrm>
            <a:off x="2022895" y="38131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588" name="Text 25"/>
          <p:cNvSpPr/>
          <p:nvPr/>
        </p:nvSpPr>
        <p:spPr>
          <a:xfrm>
            <a:off x="1989720" y="1550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589" name="Text 26"/>
          <p:cNvSpPr/>
          <p:nvPr/>
        </p:nvSpPr>
        <p:spPr>
          <a:xfrm>
            <a:off x="3175427" y="1536802"/>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590" name="Text 27"/>
          <p:cNvSpPr/>
          <p:nvPr/>
        </p:nvSpPr>
        <p:spPr>
          <a:xfrm>
            <a:off x="1705132" y="261864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e</a:t>
            </a:r>
            <a:endParaRPr lang="en-US" sz="900" b="0" u="none" strike="noStrike" dirty="0">
              <a:solidFill>
                <a:srgbClr val="000000"/>
              </a:solidFill>
              <a:effectLst/>
              <a:uFillTx/>
              <a:latin typeface="Arial"/>
            </a:endParaRPr>
          </a:p>
        </p:txBody>
      </p:sp>
      <p:sp>
        <p:nvSpPr>
          <p:cNvPr id="591" name="Text 28"/>
          <p:cNvSpPr/>
          <p:nvPr/>
        </p:nvSpPr>
        <p:spPr>
          <a:xfrm>
            <a:off x="2489040" y="2549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592" name="Text 29"/>
          <p:cNvSpPr/>
          <p:nvPr/>
        </p:nvSpPr>
        <p:spPr>
          <a:xfrm>
            <a:off x="2545975" y="4217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593" name="Text 30"/>
          <p:cNvSpPr/>
          <p:nvPr/>
        </p:nvSpPr>
        <p:spPr>
          <a:xfrm>
            <a:off x="2512800" y="13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594" name="Text 31"/>
          <p:cNvSpPr/>
          <p:nvPr/>
        </p:nvSpPr>
        <p:spPr>
          <a:xfrm>
            <a:off x="2811240" y="1996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dirty="0">
                <a:solidFill>
                  <a:srgbClr val="102A4C"/>
                </a:solidFill>
                <a:effectLst/>
                <a:uFillTx/>
                <a:latin typeface="Aptos"/>
              </a:rPr>
              <a:t>r</a:t>
            </a:r>
            <a:endParaRPr lang="en-US" sz="900" b="0" u="none" strike="noStrike" dirty="0">
              <a:solidFill>
                <a:srgbClr val="000000"/>
              </a:solidFill>
              <a:effectLst/>
              <a:uFillTx/>
              <a:latin typeface="Arial"/>
            </a:endParaRPr>
          </a:p>
        </p:txBody>
      </p:sp>
      <p:sp>
        <p:nvSpPr>
          <p:cNvPr id="595" name="Text 32"/>
          <p:cNvSpPr/>
          <p:nvPr/>
        </p:nvSpPr>
        <p:spPr>
          <a:xfrm>
            <a:off x="3677760" y="22402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596" name="Text 33"/>
          <p:cNvSpPr/>
          <p:nvPr/>
        </p:nvSpPr>
        <p:spPr>
          <a:xfrm>
            <a:off x="4082040" y="1740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597" name="Shape 34"/>
          <p:cNvSpPr/>
          <p:nvPr/>
        </p:nvSpPr>
        <p:spPr>
          <a:xfrm flipH="1">
            <a:off x="8112240" y="16988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8" name="Shape 35"/>
          <p:cNvSpPr/>
          <p:nvPr/>
        </p:nvSpPr>
        <p:spPr>
          <a:xfrm>
            <a:off x="9467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599" name="Shape 36"/>
          <p:cNvSpPr/>
          <p:nvPr/>
        </p:nvSpPr>
        <p:spPr>
          <a:xfrm>
            <a:off x="9467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0" name="Shape 37"/>
          <p:cNvSpPr/>
          <p:nvPr/>
        </p:nvSpPr>
        <p:spPr>
          <a:xfrm flipH="1">
            <a:off x="7506000" y="23407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1" name="Shape 38"/>
          <p:cNvSpPr/>
          <p:nvPr/>
        </p:nvSpPr>
        <p:spPr>
          <a:xfrm>
            <a:off x="811224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2" name="Shape 39"/>
          <p:cNvSpPr/>
          <p:nvPr/>
        </p:nvSpPr>
        <p:spPr>
          <a:xfrm>
            <a:off x="8112240" y="23407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3" name="Shape 40"/>
          <p:cNvSpPr/>
          <p:nvPr/>
        </p:nvSpPr>
        <p:spPr>
          <a:xfrm flipH="1">
            <a:off x="9075240" y="23407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4" name="Shape 41"/>
          <p:cNvSpPr/>
          <p:nvPr/>
        </p:nvSpPr>
        <p:spPr>
          <a:xfrm>
            <a:off x="9467640" y="23407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5" name="Shape 42"/>
          <p:cNvSpPr/>
          <p:nvPr/>
        </p:nvSpPr>
        <p:spPr>
          <a:xfrm>
            <a:off x="10822680" y="23407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6" name="Shape 43"/>
          <p:cNvSpPr/>
          <p:nvPr/>
        </p:nvSpPr>
        <p:spPr>
          <a:xfrm flipH="1">
            <a:off x="729216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7" name="Shape 44"/>
          <p:cNvSpPr/>
          <p:nvPr/>
        </p:nvSpPr>
        <p:spPr>
          <a:xfrm flipH="1">
            <a:off x="789840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8" name="Shape 45"/>
          <p:cNvSpPr/>
          <p:nvPr/>
        </p:nvSpPr>
        <p:spPr>
          <a:xfrm flipH="1">
            <a:off x="8504640" y="30182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09" name="Shape 46"/>
          <p:cNvSpPr/>
          <p:nvPr/>
        </p:nvSpPr>
        <p:spPr>
          <a:xfrm>
            <a:off x="8718480" y="30182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0" name="Shape 47"/>
          <p:cNvSpPr/>
          <p:nvPr/>
        </p:nvSpPr>
        <p:spPr>
          <a:xfrm>
            <a:off x="9075240" y="30182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1" name="Shape 48"/>
          <p:cNvSpPr/>
          <p:nvPr/>
        </p:nvSpPr>
        <p:spPr>
          <a:xfrm>
            <a:off x="9075240" y="30182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2" name="Shape 49"/>
          <p:cNvSpPr/>
          <p:nvPr/>
        </p:nvSpPr>
        <p:spPr>
          <a:xfrm>
            <a:off x="9859680" y="30182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3" name="Shape 50"/>
          <p:cNvSpPr/>
          <p:nvPr/>
        </p:nvSpPr>
        <p:spPr>
          <a:xfrm flipH="1">
            <a:off x="10216440" y="36244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4" name="Shape 51"/>
          <p:cNvSpPr/>
          <p:nvPr/>
        </p:nvSpPr>
        <p:spPr>
          <a:xfrm>
            <a:off x="10430280" y="36244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615" name="Text 52"/>
          <p:cNvSpPr/>
          <p:nvPr/>
        </p:nvSpPr>
        <p:spPr>
          <a:xfrm>
            <a:off x="9321480" y="1552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616" name="Text 53"/>
          <p:cNvSpPr/>
          <p:nvPr/>
        </p:nvSpPr>
        <p:spPr>
          <a:xfrm>
            <a:off x="796608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617" name="Text 54"/>
          <p:cNvSpPr/>
          <p:nvPr/>
        </p:nvSpPr>
        <p:spPr>
          <a:xfrm>
            <a:off x="9321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18" name="Text 55"/>
          <p:cNvSpPr/>
          <p:nvPr/>
        </p:nvSpPr>
        <p:spPr>
          <a:xfrm>
            <a:off x="10676520" y="219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19" name="Text 56"/>
          <p:cNvSpPr/>
          <p:nvPr/>
        </p:nvSpPr>
        <p:spPr>
          <a:xfrm>
            <a:off x="735984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620" name="Text 57"/>
          <p:cNvSpPr/>
          <p:nvPr/>
        </p:nvSpPr>
        <p:spPr>
          <a:xfrm>
            <a:off x="7966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21" name="Text 58"/>
          <p:cNvSpPr/>
          <p:nvPr/>
        </p:nvSpPr>
        <p:spPr>
          <a:xfrm>
            <a:off x="8572680" y="28720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622" name="Text 59"/>
          <p:cNvSpPr/>
          <p:nvPr/>
        </p:nvSpPr>
        <p:spPr>
          <a:xfrm>
            <a:off x="892908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3" name="Text 60"/>
          <p:cNvSpPr/>
          <p:nvPr/>
        </p:nvSpPr>
        <p:spPr>
          <a:xfrm>
            <a:off x="9713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4" name="Text 61"/>
          <p:cNvSpPr/>
          <p:nvPr/>
        </p:nvSpPr>
        <p:spPr>
          <a:xfrm>
            <a:off x="10676520" y="28720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25" name="Text 62"/>
          <p:cNvSpPr/>
          <p:nvPr/>
        </p:nvSpPr>
        <p:spPr>
          <a:xfrm>
            <a:off x="71460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6" name="Text 63"/>
          <p:cNvSpPr/>
          <p:nvPr/>
        </p:nvSpPr>
        <p:spPr>
          <a:xfrm>
            <a:off x="77522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627" name="Text 64"/>
          <p:cNvSpPr/>
          <p:nvPr/>
        </p:nvSpPr>
        <p:spPr>
          <a:xfrm>
            <a:off x="835848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628" name="Text 65"/>
          <p:cNvSpPr/>
          <p:nvPr/>
        </p:nvSpPr>
        <p:spPr>
          <a:xfrm>
            <a:off x="89647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629" name="Text 66"/>
          <p:cNvSpPr/>
          <p:nvPr/>
        </p:nvSpPr>
        <p:spPr>
          <a:xfrm>
            <a:off x="942840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630" name="Text 67"/>
          <p:cNvSpPr/>
          <p:nvPr/>
        </p:nvSpPr>
        <p:spPr>
          <a:xfrm>
            <a:off x="985644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631" name="Text 68"/>
          <p:cNvSpPr/>
          <p:nvPr/>
        </p:nvSpPr>
        <p:spPr>
          <a:xfrm>
            <a:off x="10284120" y="34783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632" name="Text 69"/>
          <p:cNvSpPr/>
          <p:nvPr/>
        </p:nvSpPr>
        <p:spPr>
          <a:xfrm>
            <a:off x="1007028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633" name="Text 70"/>
          <p:cNvSpPr/>
          <p:nvPr/>
        </p:nvSpPr>
        <p:spPr>
          <a:xfrm>
            <a:off x="10569600" y="4084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634" name="Text 71"/>
          <p:cNvSpPr/>
          <p:nvPr/>
        </p:nvSpPr>
        <p:spPr>
          <a:xfrm>
            <a:off x="868680" y="5303520"/>
            <a:ext cx="1042380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Same state can appear in multiple search-tree nodes because each tree node is a different path.</a:t>
            </a:r>
            <a:endParaRPr lang="en-US" sz="18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3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3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Quiz: How Big Is the Search Tree?</a:t>
            </a:r>
            <a:endParaRPr lang="en-US" sz="2600" b="0" u="none" strike="noStrike" dirty="0">
              <a:solidFill>
                <a:srgbClr val="000000"/>
              </a:solidFill>
              <a:effectLst/>
              <a:uFillTx/>
              <a:latin typeface="Arial"/>
            </a:endParaRPr>
          </a:p>
        </p:txBody>
      </p:sp>
      <p:sp>
        <p:nvSpPr>
          <p:cNvPr id="63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3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40" name="Rectangle 6"/>
          <p:cNvSpPr/>
          <p:nvPr/>
        </p:nvSpPr>
        <p:spPr>
          <a:xfrm>
            <a:off x="777240" y="141732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Consider this four-state graph</a:t>
            </a:r>
            <a:endParaRPr lang="en-US" sz="1400" b="0" u="none" strike="noStrike" dirty="0">
              <a:solidFill>
                <a:srgbClr val="000000"/>
              </a:solidFill>
              <a:effectLst/>
              <a:uFillTx/>
              <a:latin typeface="Arial"/>
            </a:endParaRPr>
          </a:p>
        </p:txBody>
      </p:sp>
      <p:sp>
        <p:nvSpPr>
          <p:cNvPr id="641" name="Oval 12"/>
          <p:cNvSpPr/>
          <p:nvPr/>
        </p:nvSpPr>
        <p:spPr>
          <a:xfrm>
            <a:off x="1074600" y="308628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642" name="Oval 13"/>
          <p:cNvSpPr/>
          <p:nvPr/>
        </p:nvSpPr>
        <p:spPr>
          <a:xfrm>
            <a:off x="2446200" y="21718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643" name="Oval 14"/>
          <p:cNvSpPr/>
          <p:nvPr/>
        </p:nvSpPr>
        <p:spPr>
          <a:xfrm>
            <a:off x="2446200" y="400068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644" name="Oval 15"/>
          <p:cNvSpPr/>
          <p:nvPr/>
        </p:nvSpPr>
        <p:spPr>
          <a:xfrm>
            <a:off x="3817800" y="308628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645" name="Rectangle 16"/>
          <p:cNvSpPr/>
          <p:nvPr/>
        </p:nvSpPr>
        <p:spPr>
          <a:xfrm>
            <a:off x="777240" y="4663440"/>
            <a:ext cx="41144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a and b are connected in both directions</a:t>
            </a:r>
            <a:endParaRPr lang="en-US" sz="1200" b="0" u="none" strike="noStrike">
              <a:solidFill>
                <a:srgbClr val="000000"/>
              </a:solidFill>
              <a:effectLst/>
              <a:uFillTx/>
              <a:latin typeface="Arial"/>
            </a:endParaRPr>
          </a:p>
        </p:txBody>
      </p:sp>
      <p:sp>
        <p:nvSpPr>
          <p:cNvPr id="646" name="Rectangle 17"/>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12E5C"/>
                </a:solidFill>
                <a:effectLst/>
                <a:uFillTx/>
                <a:latin typeface="Aptos"/>
              </a:rPr>
              <a:t>How big is its search tree, rooted at S?</a:t>
            </a:r>
            <a:endParaRPr lang="en-US" sz="1400" b="0" u="none" strike="noStrike" dirty="0">
              <a:solidFill>
                <a:srgbClr val="000000"/>
              </a:solidFill>
              <a:effectLst/>
              <a:uFillTx/>
              <a:latin typeface="Arial"/>
            </a:endParaRPr>
          </a:p>
        </p:txBody>
      </p:sp>
      <p:cxnSp>
        <p:nvCxnSpPr>
          <p:cNvPr id="647" name="Connector 18"/>
          <p:cNvCxnSpPr/>
          <p:nvPr/>
        </p:nvCxnSpPr>
        <p:spPr>
          <a:xfrm flipH="1">
            <a:off x="7315200" y="1965960"/>
            <a:ext cx="1067040" cy="777600"/>
          </a:xfrm>
          <a:prstGeom prst="straightConnector1">
            <a:avLst/>
          </a:prstGeom>
          <a:ln w="15240">
            <a:solidFill>
              <a:srgbClr val="5C6B80"/>
            </a:solidFill>
          </a:ln>
        </p:spPr>
      </p:cxnSp>
      <p:cxnSp>
        <p:nvCxnSpPr>
          <p:cNvPr id="648" name="Connector 19"/>
          <p:cNvCxnSpPr/>
          <p:nvPr/>
        </p:nvCxnSpPr>
        <p:spPr>
          <a:xfrm>
            <a:off x="8381880" y="1965960"/>
            <a:ext cx="1067040" cy="777600"/>
          </a:xfrm>
          <a:prstGeom prst="straightConnector1">
            <a:avLst/>
          </a:prstGeom>
          <a:ln w="15240">
            <a:solidFill>
              <a:srgbClr val="5C6B80"/>
            </a:solidFill>
          </a:ln>
        </p:spPr>
      </p:cxnSp>
      <p:cxnSp>
        <p:nvCxnSpPr>
          <p:cNvPr id="649" name="Connector 20"/>
          <p:cNvCxnSpPr/>
          <p:nvPr/>
        </p:nvCxnSpPr>
        <p:spPr>
          <a:xfrm flipH="1">
            <a:off x="6629400" y="2743200"/>
            <a:ext cx="686160" cy="777600"/>
          </a:xfrm>
          <a:prstGeom prst="straightConnector1">
            <a:avLst/>
          </a:prstGeom>
          <a:ln w="15240">
            <a:solidFill>
              <a:srgbClr val="5C6B80"/>
            </a:solidFill>
          </a:ln>
        </p:spPr>
      </p:cxnSp>
      <p:cxnSp>
        <p:nvCxnSpPr>
          <p:cNvPr id="650" name="Connector 21"/>
          <p:cNvCxnSpPr/>
          <p:nvPr/>
        </p:nvCxnSpPr>
        <p:spPr>
          <a:xfrm>
            <a:off x="7315200" y="2743200"/>
            <a:ext cx="686160" cy="777600"/>
          </a:xfrm>
          <a:prstGeom prst="straightConnector1">
            <a:avLst/>
          </a:prstGeom>
          <a:ln w="15240">
            <a:solidFill>
              <a:srgbClr val="5C6B80"/>
            </a:solidFill>
          </a:ln>
        </p:spPr>
      </p:cxnSp>
      <p:cxnSp>
        <p:nvCxnSpPr>
          <p:cNvPr id="651" name="Connector 22"/>
          <p:cNvCxnSpPr/>
          <p:nvPr/>
        </p:nvCxnSpPr>
        <p:spPr>
          <a:xfrm flipH="1">
            <a:off x="8762760" y="2743200"/>
            <a:ext cx="686160" cy="777600"/>
          </a:xfrm>
          <a:prstGeom prst="straightConnector1">
            <a:avLst/>
          </a:prstGeom>
          <a:ln w="15240">
            <a:solidFill>
              <a:srgbClr val="5C6B80"/>
            </a:solidFill>
          </a:ln>
        </p:spPr>
      </p:cxnSp>
      <p:cxnSp>
        <p:nvCxnSpPr>
          <p:cNvPr id="652" name="Connector 23"/>
          <p:cNvCxnSpPr/>
          <p:nvPr/>
        </p:nvCxnSpPr>
        <p:spPr>
          <a:xfrm>
            <a:off x="9448560" y="2743200"/>
            <a:ext cx="686160" cy="777600"/>
          </a:xfrm>
          <a:prstGeom prst="straightConnector1">
            <a:avLst/>
          </a:prstGeom>
          <a:ln w="15240">
            <a:solidFill>
              <a:srgbClr val="5C6B80"/>
            </a:solidFill>
          </a:ln>
        </p:spPr>
      </p:cxnSp>
      <p:cxnSp>
        <p:nvCxnSpPr>
          <p:cNvPr id="653" name="Connector 24"/>
          <p:cNvCxnSpPr/>
          <p:nvPr/>
        </p:nvCxnSpPr>
        <p:spPr>
          <a:xfrm flipH="1">
            <a:off x="6263640" y="3520440"/>
            <a:ext cx="366120" cy="640440"/>
          </a:xfrm>
          <a:prstGeom prst="straightConnector1">
            <a:avLst/>
          </a:prstGeom>
          <a:ln w="15240">
            <a:solidFill>
              <a:srgbClr val="5C6B80"/>
            </a:solidFill>
            <a:prstDash val="sysDash"/>
          </a:ln>
        </p:spPr>
      </p:cxnSp>
      <p:cxnSp>
        <p:nvCxnSpPr>
          <p:cNvPr id="654" name="Connector 25"/>
          <p:cNvCxnSpPr/>
          <p:nvPr/>
        </p:nvCxnSpPr>
        <p:spPr>
          <a:xfrm>
            <a:off x="6629400" y="3520440"/>
            <a:ext cx="366120" cy="640440"/>
          </a:xfrm>
          <a:prstGeom prst="straightConnector1">
            <a:avLst/>
          </a:prstGeom>
          <a:ln w="15240">
            <a:solidFill>
              <a:srgbClr val="5C6B80"/>
            </a:solidFill>
            <a:prstDash val="sysDash"/>
          </a:ln>
        </p:spPr>
      </p:cxnSp>
      <p:cxnSp>
        <p:nvCxnSpPr>
          <p:cNvPr id="655" name="Connector 26"/>
          <p:cNvCxnSpPr/>
          <p:nvPr/>
        </p:nvCxnSpPr>
        <p:spPr>
          <a:xfrm flipH="1">
            <a:off x="8397000" y="3520440"/>
            <a:ext cx="366120" cy="640440"/>
          </a:xfrm>
          <a:prstGeom prst="straightConnector1">
            <a:avLst/>
          </a:prstGeom>
          <a:ln w="15240">
            <a:solidFill>
              <a:srgbClr val="5C6B80"/>
            </a:solidFill>
            <a:prstDash val="sysDash"/>
          </a:ln>
        </p:spPr>
      </p:cxnSp>
      <p:cxnSp>
        <p:nvCxnSpPr>
          <p:cNvPr id="656" name="Connector 27"/>
          <p:cNvCxnSpPr/>
          <p:nvPr/>
        </p:nvCxnSpPr>
        <p:spPr>
          <a:xfrm>
            <a:off x="8762760" y="3520440"/>
            <a:ext cx="366120" cy="640440"/>
          </a:xfrm>
          <a:prstGeom prst="straightConnector1">
            <a:avLst/>
          </a:prstGeom>
          <a:ln w="15240">
            <a:solidFill>
              <a:srgbClr val="5C6B80"/>
            </a:solidFill>
            <a:prstDash val="sysDash"/>
          </a:ln>
        </p:spPr>
      </p:cxnSp>
      <p:sp>
        <p:nvSpPr>
          <p:cNvPr id="657" name="Oval 28"/>
          <p:cNvSpPr/>
          <p:nvPr/>
        </p:nvSpPr>
        <p:spPr>
          <a:xfrm>
            <a:off x="8153280" y="173736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s</a:t>
            </a:r>
            <a:endParaRPr lang="en-US" sz="1200" b="0" u="none" strike="noStrike">
              <a:solidFill>
                <a:srgbClr val="000000"/>
              </a:solidFill>
              <a:effectLst/>
              <a:uFillTx/>
              <a:latin typeface="Arial"/>
            </a:endParaRPr>
          </a:p>
        </p:txBody>
      </p:sp>
      <p:sp>
        <p:nvSpPr>
          <p:cNvPr id="658" name="Oval 29"/>
          <p:cNvSpPr/>
          <p:nvPr/>
        </p:nvSpPr>
        <p:spPr>
          <a:xfrm>
            <a:off x="708660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59" name="Oval 30"/>
          <p:cNvSpPr/>
          <p:nvPr/>
        </p:nvSpPr>
        <p:spPr>
          <a:xfrm>
            <a:off x="9220320" y="251460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0" name="Oval 31"/>
          <p:cNvSpPr/>
          <p:nvPr/>
        </p:nvSpPr>
        <p:spPr>
          <a:xfrm>
            <a:off x="64008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b</a:t>
            </a:r>
            <a:endParaRPr lang="en-US" sz="1200" b="0" u="none" strike="noStrike">
              <a:solidFill>
                <a:srgbClr val="000000"/>
              </a:solidFill>
              <a:effectLst/>
              <a:uFillTx/>
              <a:latin typeface="Arial"/>
            </a:endParaRPr>
          </a:p>
        </p:txBody>
      </p:sp>
      <p:sp>
        <p:nvSpPr>
          <p:cNvPr id="661" name="Oval 32"/>
          <p:cNvSpPr/>
          <p:nvPr/>
        </p:nvSpPr>
        <p:spPr>
          <a:xfrm>
            <a:off x="777240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2" name="Oval 33"/>
          <p:cNvSpPr/>
          <p:nvPr/>
        </p:nvSpPr>
        <p:spPr>
          <a:xfrm>
            <a:off x="85345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a</a:t>
            </a:r>
            <a:endParaRPr lang="en-US" sz="1200" b="0" u="none" strike="noStrike">
              <a:solidFill>
                <a:srgbClr val="000000"/>
              </a:solidFill>
              <a:effectLst/>
              <a:uFillTx/>
              <a:latin typeface="Arial"/>
            </a:endParaRPr>
          </a:p>
        </p:txBody>
      </p:sp>
      <p:sp>
        <p:nvSpPr>
          <p:cNvPr id="663" name="Oval 34"/>
          <p:cNvSpPr/>
          <p:nvPr/>
        </p:nvSpPr>
        <p:spPr>
          <a:xfrm>
            <a:off x="9906120" y="3291840"/>
            <a:ext cx="456840" cy="45684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200" b="1" u="none" strike="noStrike">
                <a:solidFill>
                  <a:srgbClr val="112E5C"/>
                </a:solidFill>
                <a:effectLst/>
                <a:uFillTx/>
                <a:latin typeface="Aptos"/>
              </a:rPr>
              <a:t>G</a:t>
            </a:r>
            <a:endParaRPr lang="en-US" sz="1200" b="0" u="none" strike="noStrike">
              <a:solidFill>
                <a:srgbClr val="000000"/>
              </a:solidFill>
              <a:effectLst/>
              <a:uFillTx/>
              <a:latin typeface="Arial"/>
            </a:endParaRPr>
          </a:p>
        </p:txBody>
      </p:sp>
      <p:sp>
        <p:nvSpPr>
          <p:cNvPr id="664" name="Rectangle 35"/>
          <p:cNvSpPr/>
          <p:nvPr/>
        </p:nvSpPr>
        <p:spPr>
          <a:xfrm>
            <a:off x="608076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5" name="Rectangle 36"/>
          <p:cNvSpPr/>
          <p:nvPr/>
        </p:nvSpPr>
        <p:spPr>
          <a:xfrm>
            <a:off x="8214480" y="4297680"/>
            <a:ext cx="109692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800" b="0" u="none" strike="noStrike">
                <a:solidFill>
                  <a:srgbClr val="5C6B80"/>
                </a:solidFill>
                <a:effectLst/>
                <a:uFillTx/>
                <a:latin typeface="Aptos"/>
              </a:rPr>
              <a:t>…</a:t>
            </a:r>
            <a:endParaRPr lang="en-US" sz="1800" b="0" u="none" strike="noStrike">
              <a:solidFill>
                <a:srgbClr val="000000"/>
              </a:solidFill>
              <a:effectLst/>
              <a:uFillTx/>
              <a:latin typeface="Arial"/>
            </a:endParaRPr>
          </a:p>
        </p:txBody>
      </p:sp>
      <p:sp>
        <p:nvSpPr>
          <p:cNvPr id="666" name="Rectangle 37"/>
          <p:cNvSpPr/>
          <p:nvPr/>
        </p:nvSpPr>
        <p:spPr>
          <a:xfrm>
            <a:off x="10515600" y="4114800"/>
            <a:ext cx="898920" cy="59400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4400" b="1" u="none" strike="noStrike">
                <a:solidFill>
                  <a:srgbClr val="9B1C1C"/>
                </a:solidFill>
                <a:effectLst/>
                <a:uFillTx/>
                <a:latin typeface="Aptos"/>
              </a:rPr>
              <a:t>∞</a:t>
            </a:r>
            <a:endParaRPr lang="en-US" sz="4400" b="0" u="none" strike="noStrike">
              <a:solidFill>
                <a:srgbClr val="000000"/>
              </a:solidFill>
              <a:effectLst/>
              <a:uFillTx/>
              <a:latin typeface="Arial"/>
            </a:endParaRPr>
          </a:p>
        </p:txBody>
      </p:sp>
      <p:sp>
        <p:nvSpPr>
          <p:cNvPr id="667" name="Rectangle 38"/>
          <p:cNvSpPr/>
          <p:nvPr/>
        </p:nvSpPr>
        <p:spPr>
          <a:xfrm>
            <a:off x="914400" y="50292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Four states. An infinite search tree, because a ↔ b can be traversed forever.</a:t>
            </a:r>
            <a:endParaRPr lang="en-US" sz="1700" b="0" u="none" strike="noStrike" dirty="0">
              <a:solidFill>
                <a:srgbClr val="000000"/>
              </a:solidFill>
              <a:effectLst/>
              <a:uFillTx/>
              <a:latin typeface="Arial"/>
            </a:endParaRPr>
          </a:p>
        </p:txBody>
      </p:sp>
      <p:sp>
        <p:nvSpPr>
          <p:cNvPr id="668" name="Rectangle 39"/>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The repeated structure in the tree is the entire motivation for the reached table and for cycle checking.</a:t>
            </a:r>
            <a:endParaRPr lang="en-US" sz="1500" b="0" u="none" strike="noStrike" dirty="0">
              <a:solidFill>
                <a:srgbClr val="000000"/>
              </a:solidFill>
              <a:effectLst/>
              <a:uFillTx/>
              <a:latin typeface="Arial"/>
            </a:endParaRPr>
          </a:p>
        </p:txBody>
      </p:sp>
      <p:sp>
        <p:nvSpPr>
          <p:cNvPr id="669" name="Straight Connector 668"/>
          <p:cNvSpPr/>
          <p:nvPr/>
        </p:nvSpPr>
        <p:spPr>
          <a:xfrm flipH="1">
            <a:off x="1542600" y="2514600"/>
            <a:ext cx="903600" cy="6076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0" name="Straight Connector 669"/>
          <p:cNvSpPr/>
          <p:nvPr/>
        </p:nvSpPr>
        <p:spPr>
          <a:xfrm flipH="1" flipV="1">
            <a:off x="3040200" y="2514600"/>
            <a:ext cx="846000" cy="6858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671" name="Straight Connector 670"/>
          <p:cNvSpPr/>
          <p:nvPr/>
        </p:nvSpPr>
        <p:spPr>
          <a:xfrm flipH="1" flipV="1">
            <a:off x="1611360" y="3549960"/>
            <a:ext cx="834120" cy="64044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3" name="Straight Connector 2">
            <a:extLst>
              <a:ext uri="{FF2B5EF4-FFF2-40B4-BE49-F238E27FC236}">
                <a16:creationId xmlns:a16="http://schemas.microsoft.com/office/drawing/2014/main" id="{1A8DE0DA-666E-42A8-D7BF-147518B5DC73}"/>
              </a:ext>
            </a:extLst>
          </p:cNvPr>
          <p:cNvSpPr/>
          <p:nvPr/>
        </p:nvSpPr>
        <p:spPr>
          <a:xfrm>
            <a:off x="2811240" y="2765880"/>
            <a:ext cx="1690" cy="124750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5" name="Straight Connector 4">
            <a:extLst>
              <a:ext uri="{FF2B5EF4-FFF2-40B4-BE49-F238E27FC236}">
                <a16:creationId xmlns:a16="http://schemas.microsoft.com/office/drawing/2014/main" id="{D71CE6C5-155A-9D62-F226-BD6084A4B5CD}"/>
              </a:ext>
            </a:extLst>
          </p:cNvPr>
          <p:cNvSpPr/>
          <p:nvPr/>
        </p:nvSpPr>
        <p:spPr>
          <a:xfrm flipH="1" flipV="1">
            <a:off x="2628900" y="2743020"/>
            <a:ext cx="19050" cy="127036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
        <p:nvSpPr>
          <p:cNvPr id="7" name="Straight Connector 6">
            <a:extLst>
              <a:ext uri="{FF2B5EF4-FFF2-40B4-BE49-F238E27FC236}">
                <a16:creationId xmlns:a16="http://schemas.microsoft.com/office/drawing/2014/main" id="{1E4DB1BC-9086-0E8D-F18F-074053023FB7}"/>
              </a:ext>
            </a:extLst>
          </p:cNvPr>
          <p:cNvSpPr/>
          <p:nvPr/>
        </p:nvSpPr>
        <p:spPr>
          <a:xfrm flipH="1">
            <a:off x="3013710" y="3600540"/>
            <a:ext cx="890490" cy="552780"/>
          </a:xfrm>
          <a:prstGeom prst="line">
            <a:avLst/>
          </a:prstGeom>
          <a:ln w="18360">
            <a:solidFill>
              <a:srgbClr val="3465A4"/>
            </a:solidFill>
            <a:round/>
            <a:head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6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 grpId="0" animBg="1"/>
      <p:bldP spid="659" grpId="0" animBg="1"/>
      <p:bldP spid="660" grpId="0" animBg="1"/>
      <p:bldP spid="661" grpId="0" animBg="1"/>
      <p:bldP spid="662" grpId="0" animBg="1"/>
      <p:bldP spid="663" grpId="0" animBg="1"/>
      <p:bldP spid="664" grpId="0"/>
      <p:bldP spid="665" grpId="0"/>
      <p:bldP spid="666" grpId="0"/>
      <p:bldP spid="667" grpId="0"/>
      <p:bldP spid="668"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7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67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Frontier, Reached, and Expansion</a:t>
            </a:r>
            <a:endParaRPr lang="en-US" sz="2600" b="0" u="none" strike="noStrike">
              <a:solidFill>
                <a:srgbClr val="000000"/>
              </a:solidFill>
              <a:effectLst/>
              <a:uFillTx/>
              <a:latin typeface="Arial"/>
            </a:endParaRPr>
          </a:p>
        </p:txBody>
      </p:sp>
      <p:sp>
        <p:nvSpPr>
          <p:cNvPr id="67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7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77" name="Text 5"/>
          <p:cNvSpPr/>
          <p:nvPr/>
        </p:nvSpPr>
        <p:spPr>
          <a:xfrm>
            <a:off x="77724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1</a:t>
            </a:r>
            <a:endParaRPr lang="en-US" sz="1800" b="0" u="none" strike="noStrike">
              <a:solidFill>
                <a:srgbClr val="000000"/>
              </a:solidFill>
              <a:effectLst/>
              <a:uFillTx/>
              <a:latin typeface="Arial"/>
            </a:endParaRPr>
          </a:p>
        </p:txBody>
      </p:sp>
      <p:sp>
        <p:nvSpPr>
          <p:cNvPr id="678" name="Text 6"/>
          <p:cNvSpPr/>
          <p:nvPr/>
        </p:nvSpPr>
        <p:spPr>
          <a:xfrm>
            <a:off x="141732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POP a frontier node</a:t>
            </a:r>
            <a:endParaRPr lang="en-US" sz="1550" b="0" u="none" strike="noStrike">
              <a:solidFill>
                <a:srgbClr val="000000"/>
              </a:solidFill>
              <a:effectLst/>
              <a:uFillTx/>
              <a:latin typeface="Arial"/>
            </a:endParaRPr>
          </a:p>
        </p:txBody>
      </p:sp>
      <p:sp>
        <p:nvSpPr>
          <p:cNvPr id="679" name="Shape 7"/>
          <p:cNvSpPr/>
          <p:nvPr/>
        </p:nvSpPr>
        <p:spPr>
          <a:xfrm>
            <a:off x="329184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0" name="Text 8"/>
          <p:cNvSpPr/>
          <p:nvPr/>
        </p:nvSpPr>
        <p:spPr>
          <a:xfrm>
            <a:off x="361188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2</a:t>
            </a:r>
            <a:endParaRPr lang="en-US" sz="1800" b="0" u="none" strike="noStrike">
              <a:solidFill>
                <a:srgbClr val="000000"/>
              </a:solidFill>
              <a:effectLst/>
              <a:uFillTx/>
              <a:latin typeface="Arial"/>
            </a:endParaRPr>
          </a:p>
        </p:txBody>
      </p:sp>
      <p:sp>
        <p:nvSpPr>
          <p:cNvPr id="681" name="Text 9"/>
          <p:cNvSpPr/>
          <p:nvPr/>
        </p:nvSpPr>
        <p:spPr>
          <a:xfrm>
            <a:off x="425196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Goal-test the node</a:t>
            </a:r>
            <a:endParaRPr lang="en-US" sz="1550" b="0" u="none" strike="noStrike">
              <a:solidFill>
                <a:srgbClr val="000000"/>
              </a:solidFill>
              <a:effectLst/>
              <a:uFillTx/>
              <a:latin typeface="Arial"/>
            </a:endParaRPr>
          </a:p>
        </p:txBody>
      </p:sp>
      <p:sp>
        <p:nvSpPr>
          <p:cNvPr id="682" name="Shape 10"/>
          <p:cNvSpPr/>
          <p:nvPr/>
        </p:nvSpPr>
        <p:spPr>
          <a:xfrm>
            <a:off x="612648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3" name="Text 11"/>
          <p:cNvSpPr/>
          <p:nvPr/>
        </p:nvSpPr>
        <p:spPr>
          <a:xfrm>
            <a:off x="644652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3</a:t>
            </a:r>
            <a:endParaRPr lang="en-US" sz="1800" b="0" u="none" strike="noStrike">
              <a:solidFill>
                <a:srgbClr val="000000"/>
              </a:solidFill>
              <a:effectLst/>
              <a:uFillTx/>
              <a:latin typeface="Arial"/>
            </a:endParaRPr>
          </a:p>
        </p:txBody>
      </p:sp>
      <p:sp>
        <p:nvSpPr>
          <p:cNvPr id="684" name="Text 12"/>
          <p:cNvSpPr/>
          <p:nvPr/>
        </p:nvSpPr>
        <p:spPr>
          <a:xfrm>
            <a:off x="708660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550" b="1" u="none" strike="noStrike">
                <a:solidFill>
                  <a:srgbClr val="102A4C"/>
                </a:solidFill>
                <a:effectLst/>
                <a:uFillTx/>
                <a:latin typeface="Aptos"/>
              </a:rPr>
              <a:t>EXPAND successors</a:t>
            </a:r>
            <a:endParaRPr lang="en-US" sz="1550" b="0" u="none" strike="noStrike">
              <a:solidFill>
                <a:srgbClr val="000000"/>
              </a:solidFill>
              <a:effectLst/>
              <a:uFillTx/>
              <a:latin typeface="Arial"/>
            </a:endParaRPr>
          </a:p>
        </p:txBody>
      </p:sp>
      <p:sp>
        <p:nvSpPr>
          <p:cNvPr id="685" name="Shape 13"/>
          <p:cNvSpPr/>
          <p:nvPr/>
        </p:nvSpPr>
        <p:spPr>
          <a:xfrm>
            <a:off x="8961120" y="1719000"/>
            <a:ext cx="274320" cy="360"/>
          </a:xfrm>
          <a:prstGeom prst="line">
            <a:avLst/>
          </a:prstGeom>
          <a:ln w="2286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86" name="Text 14"/>
          <p:cNvSpPr/>
          <p:nvPr/>
        </p:nvSpPr>
        <p:spPr>
          <a:xfrm>
            <a:off x="9281160" y="1463040"/>
            <a:ext cx="502560" cy="502560"/>
          </a:xfrm>
          <a:prstGeom prst="roundRect">
            <a:avLst>
              <a:gd name="adj" fmla="val 14545"/>
            </a:avLst>
          </a:prstGeom>
          <a:solidFill>
            <a:srgbClr val="F6A01A"/>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4</a:t>
            </a:r>
            <a:endParaRPr lang="en-US" sz="1800" b="0" u="none" strike="noStrike">
              <a:solidFill>
                <a:srgbClr val="000000"/>
              </a:solidFill>
              <a:effectLst/>
              <a:uFillTx/>
              <a:latin typeface="Arial"/>
            </a:endParaRPr>
          </a:p>
        </p:txBody>
      </p:sp>
      <p:sp>
        <p:nvSpPr>
          <p:cNvPr id="687" name="Text 15"/>
          <p:cNvSpPr/>
          <p:nvPr/>
        </p:nvSpPr>
        <p:spPr>
          <a:xfrm>
            <a:off x="9921240" y="1508760"/>
            <a:ext cx="1919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77500" lnSpcReduction="20000"/>
          </a:bodyPr>
          <a:lstStyle/>
          <a:p>
            <a:pPr defTabSz="914400">
              <a:lnSpc>
                <a:spcPct val="100000"/>
              </a:lnSpc>
              <a:tabLst>
                <a:tab pos="0" algn="l"/>
              </a:tabLst>
            </a:pPr>
            <a:r>
              <a:rPr lang="en-US" sz="1550" b="1" u="none" strike="noStrike">
                <a:solidFill>
                  <a:srgbClr val="102A4C"/>
                </a:solidFill>
                <a:effectLst/>
                <a:uFillTx/>
                <a:latin typeface="Aptos"/>
              </a:rPr>
              <a:t>Update frontier and reached</a:t>
            </a:r>
            <a:endParaRPr lang="en-US" sz="1550" b="0" u="none" strike="noStrike">
              <a:solidFill>
                <a:srgbClr val="000000"/>
              </a:solidFill>
              <a:effectLst/>
              <a:uFillTx/>
              <a:latin typeface="Arial"/>
            </a:endParaRPr>
          </a:p>
        </p:txBody>
      </p:sp>
      <p:sp>
        <p:nvSpPr>
          <p:cNvPr id="688" name="Text 16"/>
          <p:cNvSpPr/>
          <p:nvPr/>
        </p:nvSpPr>
        <p:spPr>
          <a:xfrm>
            <a:off x="1188720" y="297180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Frontier</a:t>
            </a:r>
            <a:endParaRPr lang="en-US" sz="1700" b="0" u="none" strike="noStrike">
              <a:solidFill>
                <a:srgbClr val="000000"/>
              </a:solidFill>
              <a:effectLst/>
              <a:uFillTx/>
              <a:latin typeface="Arial"/>
            </a:endParaRPr>
          </a:p>
        </p:txBody>
      </p:sp>
      <p:sp>
        <p:nvSpPr>
          <p:cNvPr id="689" name="Text 17"/>
          <p:cNvSpPr/>
          <p:nvPr/>
        </p:nvSpPr>
        <p:spPr>
          <a:xfrm>
            <a:off x="960120" y="3611880"/>
            <a:ext cx="2651400" cy="5482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Generated but unexpanded leaf nodes.</a:t>
            </a:r>
            <a:endParaRPr lang="en-US" sz="1400" b="0" u="none" strike="noStrike">
              <a:solidFill>
                <a:srgbClr val="000000"/>
              </a:solidFill>
              <a:effectLst/>
              <a:uFillTx/>
              <a:latin typeface="Arial"/>
            </a:endParaRPr>
          </a:p>
        </p:txBody>
      </p:sp>
      <p:sp>
        <p:nvSpPr>
          <p:cNvPr id="690" name="Text 18"/>
          <p:cNvSpPr/>
          <p:nvPr/>
        </p:nvSpPr>
        <p:spPr>
          <a:xfrm>
            <a:off x="5029200" y="297180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Reached table</a:t>
            </a:r>
            <a:endParaRPr lang="en-US" sz="1700" b="0" u="none" strike="noStrike">
              <a:solidFill>
                <a:srgbClr val="000000"/>
              </a:solidFill>
              <a:effectLst/>
              <a:uFillTx/>
              <a:latin typeface="Arial"/>
            </a:endParaRPr>
          </a:p>
        </p:txBody>
      </p:sp>
      <p:sp>
        <p:nvSpPr>
          <p:cNvPr id="691" name="Text 19"/>
          <p:cNvSpPr/>
          <p:nvPr/>
        </p:nvSpPr>
        <p:spPr>
          <a:xfrm>
            <a:off x="4572000" y="3611880"/>
            <a:ext cx="310860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States already generated; often stores best node so far.</a:t>
            </a:r>
            <a:endParaRPr lang="en-US" sz="1400" b="0" u="none" strike="noStrike">
              <a:solidFill>
                <a:srgbClr val="000000"/>
              </a:solidFill>
              <a:effectLst/>
              <a:uFillTx/>
              <a:latin typeface="Arial"/>
            </a:endParaRPr>
          </a:p>
        </p:txBody>
      </p:sp>
      <p:sp>
        <p:nvSpPr>
          <p:cNvPr id="692" name="Text 20"/>
          <p:cNvSpPr/>
          <p:nvPr/>
        </p:nvSpPr>
        <p:spPr>
          <a:xfrm>
            <a:off x="8869680" y="2971800"/>
            <a:ext cx="219420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Strategy</a:t>
            </a:r>
            <a:endParaRPr lang="en-US" sz="1700" b="0" u="none" strike="noStrike">
              <a:solidFill>
                <a:srgbClr val="000000"/>
              </a:solidFill>
              <a:effectLst/>
              <a:uFillTx/>
              <a:latin typeface="Arial"/>
            </a:endParaRPr>
          </a:p>
        </p:txBody>
      </p:sp>
      <p:sp>
        <p:nvSpPr>
          <p:cNvPr id="693" name="Text 21"/>
          <p:cNvSpPr/>
          <p:nvPr/>
        </p:nvSpPr>
        <p:spPr>
          <a:xfrm>
            <a:off x="8458200" y="3611880"/>
            <a:ext cx="301716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400" b="0" u="none" strike="noStrike">
                <a:solidFill>
                  <a:srgbClr val="102A4C"/>
                </a:solidFill>
                <a:effectLst/>
                <a:uFillTx/>
                <a:latin typeface="Aptos"/>
              </a:rPr>
              <a:t>Rule for choosing which frontier node to expand next.</a:t>
            </a:r>
            <a:endParaRPr lang="en-US" sz="14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69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69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The Frontier Separates Two Regions</a:t>
            </a:r>
            <a:endParaRPr lang="en-US" sz="2600" b="0" u="none" strike="noStrike">
              <a:solidFill>
                <a:srgbClr val="000000"/>
              </a:solidFill>
              <a:effectLst/>
              <a:uFillTx/>
              <a:latin typeface="Arial"/>
            </a:endParaRPr>
          </a:p>
        </p:txBody>
      </p:sp>
      <p:sp>
        <p:nvSpPr>
          <p:cNvPr id="69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69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99" name="Oval 6"/>
          <p:cNvSpPr/>
          <p:nvPr/>
        </p:nvSpPr>
        <p:spPr>
          <a:xfrm>
            <a:off x="7025760" y="1463040"/>
            <a:ext cx="3474360" cy="347436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0" name="Oval 7"/>
          <p:cNvSpPr/>
          <p:nvPr/>
        </p:nvSpPr>
        <p:spPr>
          <a:xfrm>
            <a:off x="7574400" y="2011680"/>
            <a:ext cx="2377080" cy="2377080"/>
          </a:xfrm>
          <a:prstGeom prst="ellipse">
            <a:avLst/>
          </a:prstGeom>
          <a:solidFill>
            <a:srgbClr val="FFE5B6"/>
          </a:solidFill>
          <a:ln w="15240">
            <a:solidFill>
              <a:srgbClr val="F6A01A"/>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1" name="Oval 8"/>
          <p:cNvSpPr/>
          <p:nvPr/>
        </p:nvSpPr>
        <p:spPr>
          <a:xfrm>
            <a:off x="8077320" y="2514600"/>
            <a:ext cx="1371240" cy="137124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702" name="Rectangle 9"/>
          <p:cNvSpPr/>
          <p:nvPr/>
        </p:nvSpPr>
        <p:spPr>
          <a:xfrm>
            <a:off x="8077320" y="3063240"/>
            <a:ext cx="1371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a:solidFill>
                  <a:srgbClr val="112E5C"/>
                </a:solidFill>
                <a:effectLst/>
                <a:uFillTx/>
                <a:latin typeface="Aptos"/>
              </a:rPr>
              <a:t>expanded</a:t>
            </a:r>
            <a:endParaRPr lang="en-US" sz="1150" b="0" u="none" strike="noStrike">
              <a:solidFill>
                <a:srgbClr val="000000"/>
              </a:solidFill>
              <a:effectLst/>
              <a:uFillTx/>
              <a:latin typeface="Arial"/>
            </a:endParaRPr>
          </a:p>
        </p:txBody>
      </p:sp>
      <p:sp>
        <p:nvSpPr>
          <p:cNvPr id="703" name="Rectangle 10"/>
          <p:cNvSpPr/>
          <p:nvPr/>
        </p:nvSpPr>
        <p:spPr>
          <a:xfrm>
            <a:off x="8039220" y="2149200"/>
            <a:ext cx="13712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dirty="0">
                <a:solidFill>
                  <a:srgbClr val="112E5C"/>
                </a:solidFill>
                <a:effectLst/>
                <a:uFillTx/>
                <a:latin typeface="Aptos"/>
              </a:rPr>
              <a:t>frontier</a:t>
            </a:r>
            <a:endParaRPr lang="en-US" sz="1150" b="0" u="none" strike="noStrike" dirty="0">
              <a:solidFill>
                <a:srgbClr val="000000"/>
              </a:solidFill>
              <a:effectLst/>
              <a:uFillTx/>
              <a:latin typeface="Arial"/>
            </a:endParaRPr>
          </a:p>
        </p:txBody>
      </p:sp>
      <p:sp>
        <p:nvSpPr>
          <p:cNvPr id="704" name="Rectangle 11"/>
          <p:cNvSpPr/>
          <p:nvPr/>
        </p:nvSpPr>
        <p:spPr>
          <a:xfrm>
            <a:off x="7574400" y="1614060"/>
            <a:ext cx="237708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not yet reached</a:t>
            </a:r>
            <a:endParaRPr lang="en-US" sz="1150" b="0" u="none" strike="noStrike">
              <a:solidFill>
                <a:srgbClr val="000000"/>
              </a:solidFill>
              <a:effectLst/>
              <a:uFillTx/>
              <a:latin typeface="Arial"/>
            </a:endParaRPr>
          </a:p>
        </p:txBody>
      </p:sp>
      <p:sp>
        <p:nvSpPr>
          <p:cNvPr id="705" name="Rounded Rectangle 12"/>
          <p:cNvSpPr/>
          <p:nvPr/>
        </p:nvSpPr>
        <p:spPr>
          <a:xfrm>
            <a:off x="777240" y="1554480"/>
            <a:ext cx="17827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Interior</a:t>
            </a:r>
            <a:endParaRPr lang="en-US" sz="1350" b="0" u="none" strike="noStrike">
              <a:solidFill>
                <a:srgbClr val="000000"/>
              </a:solidFill>
              <a:effectLst/>
              <a:uFillTx/>
              <a:latin typeface="Arial"/>
            </a:endParaRPr>
          </a:p>
        </p:txBody>
      </p:sp>
      <p:sp>
        <p:nvSpPr>
          <p:cNvPr id="706" name="Rectangle 13"/>
          <p:cNvSpPr/>
          <p:nvPr/>
        </p:nvSpPr>
        <p:spPr>
          <a:xfrm>
            <a:off x="2697480" y="155448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Every state here has already been expanded.</a:t>
            </a:r>
            <a:endParaRPr lang="en-US" sz="1300" b="0" u="none" strike="noStrike">
              <a:solidFill>
                <a:srgbClr val="000000"/>
              </a:solidFill>
              <a:effectLst/>
              <a:uFillTx/>
              <a:latin typeface="Arial"/>
            </a:endParaRPr>
          </a:p>
        </p:txBody>
      </p:sp>
      <p:sp>
        <p:nvSpPr>
          <p:cNvPr id="707" name="Rounded Rectangle 14"/>
          <p:cNvSpPr/>
          <p:nvPr/>
        </p:nvSpPr>
        <p:spPr>
          <a:xfrm>
            <a:off x="777240" y="2286000"/>
            <a:ext cx="17827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Frontier</a:t>
            </a:r>
            <a:endParaRPr lang="en-US" sz="1350" b="0" u="none" strike="noStrike">
              <a:solidFill>
                <a:srgbClr val="000000"/>
              </a:solidFill>
              <a:effectLst/>
              <a:uFillTx/>
              <a:latin typeface="Arial"/>
            </a:endParaRPr>
          </a:p>
        </p:txBody>
      </p:sp>
      <p:sp>
        <p:nvSpPr>
          <p:cNvPr id="708" name="Rectangle 15"/>
          <p:cNvSpPr/>
          <p:nvPr/>
        </p:nvSpPr>
        <p:spPr>
          <a:xfrm>
            <a:off x="2697480" y="228600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Generated but not yet expanded. The boundary itself.</a:t>
            </a:r>
            <a:endParaRPr lang="en-US" sz="1300" b="0" u="none" strike="noStrike">
              <a:solidFill>
                <a:srgbClr val="000000"/>
              </a:solidFill>
              <a:effectLst/>
              <a:uFillTx/>
              <a:latin typeface="Arial"/>
            </a:endParaRPr>
          </a:p>
        </p:txBody>
      </p:sp>
      <p:sp>
        <p:nvSpPr>
          <p:cNvPr id="709" name="Rounded Rectangle 16"/>
          <p:cNvSpPr/>
          <p:nvPr/>
        </p:nvSpPr>
        <p:spPr>
          <a:xfrm>
            <a:off x="777240" y="3017520"/>
            <a:ext cx="1782720" cy="411120"/>
          </a:xfrm>
          <a:prstGeom prst="roundRect">
            <a:avLst>
              <a:gd name="adj" fmla="val 15384"/>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50" b="1" u="none" strike="noStrike">
                <a:solidFill>
                  <a:srgbClr val="112E5C"/>
                </a:solidFill>
                <a:effectLst/>
                <a:uFillTx/>
                <a:latin typeface="Aptos"/>
              </a:rPr>
              <a:t>Exterior</a:t>
            </a:r>
            <a:endParaRPr lang="en-US" sz="1350" b="0" u="none" strike="noStrike">
              <a:solidFill>
                <a:srgbClr val="000000"/>
              </a:solidFill>
              <a:effectLst/>
              <a:uFillTx/>
              <a:latin typeface="Arial"/>
            </a:endParaRPr>
          </a:p>
        </p:txBody>
      </p:sp>
      <p:sp>
        <p:nvSpPr>
          <p:cNvPr id="710" name="Rectangle 17"/>
          <p:cNvSpPr/>
          <p:nvPr/>
        </p:nvSpPr>
        <p:spPr>
          <a:xfrm>
            <a:off x="2697480" y="3017520"/>
            <a:ext cx="32000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Not yet reached. No node has been generated for it.</a:t>
            </a:r>
            <a:endParaRPr lang="en-US" sz="1300" b="0" u="none" strike="noStrike">
              <a:solidFill>
                <a:srgbClr val="000000"/>
              </a:solidFill>
              <a:effectLst/>
              <a:uFillTx/>
              <a:latin typeface="Arial"/>
            </a:endParaRPr>
          </a:p>
        </p:txBody>
      </p:sp>
      <p:sp>
        <p:nvSpPr>
          <p:cNvPr id="711" name="Rectangle 18"/>
          <p:cNvSpPr/>
          <p:nvPr/>
        </p:nvSpPr>
        <p:spPr>
          <a:xfrm>
            <a:off x="993600" y="51116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Every path from an expanded state to an unreached state must cross the frontier.</a:t>
            </a:r>
            <a:endParaRPr lang="en-US" sz="1700" b="0" u="none" strike="noStrike" dirty="0">
              <a:solidFill>
                <a:srgbClr val="000000"/>
              </a:solidFill>
              <a:effectLst/>
              <a:uFillTx/>
              <a:latin typeface="Arial"/>
            </a:endParaRPr>
          </a:p>
        </p:txBody>
      </p:sp>
      <p:sp>
        <p:nvSpPr>
          <p:cNvPr id="712" name="Rectangle 19"/>
          <p:cNvSpPr/>
          <p:nvPr/>
        </p:nvSpPr>
        <p:spPr>
          <a:xfrm>
            <a:off x="633600" y="5592240"/>
            <a:ext cx="112752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That is why the frontier is the only thing the algorithm has to hold on to and why its size is the space complexity of the search.</a:t>
            </a:r>
            <a:endParaRPr lang="en-US" sz="1500" b="0" u="none" strike="noStrike" dirty="0">
              <a:solidFill>
                <a:srgbClr val="000000"/>
              </a:solidFill>
              <a:effectLst/>
              <a:uFillTx/>
              <a:latin typeface="Arial"/>
            </a:endParaRPr>
          </a:p>
        </p:txBody>
      </p:sp>
      <p:sp>
        <p:nvSpPr>
          <p:cNvPr id="713" name="Rectangle 20"/>
          <p:cNvSpPr/>
          <p:nvPr/>
        </p:nvSpPr>
        <p:spPr>
          <a:xfrm>
            <a:off x="868680" y="59941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dirty="0">
                <a:solidFill>
                  <a:srgbClr val="5C6B80"/>
                </a:solidFill>
                <a:effectLst/>
                <a:uFillTx/>
                <a:latin typeface="Aptos"/>
              </a:rPr>
              <a:t>Reached is a separate structure: the set of states any node has been generated for, whether or not that node has been expanded.</a:t>
            </a:r>
            <a:endParaRPr lang="en-US" sz="1350" b="0" u="none" strike="noStrike" dirty="0">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Best-First Search: One Algorithm, Many Instances</a:t>
            </a:r>
            <a:endParaRPr lang="en-US" sz="2600" b="0" u="none" strike="noStrike">
              <a:solidFill>
                <a:srgbClr val="000000"/>
              </a:solidFill>
              <a:effectLst/>
              <a:uFillTx/>
              <a:latin typeface="Arial"/>
            </a:endParaRPr>
          </a:p>
        </p:txBody>
      </p:sp>
      <p:sp>
        <p:nvSpPr>
          <p:cNvPr id="7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21" name="Rounded Rectangle 8"/>
          <p:cNvSpPr/>
          <p:nvPr/>
        </p:nvSpPr>
        <p:spPr>
          <a:xfrm>
            <a:off x="6660000" y="1417320"/>
            <a:ext cx="4754520" cy="50256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0" u="none" strike="noStrike">
                <a:solidFill>
                  <a:srgbClr val="FFFFFF"/>
                </a:solidFill>
                <a:effectLst/>
                <a:uFillTx/>
                <a:latin typeface="Aptos"/>
              </a:rPr>
              <a:t>Pop the frontier node with minimum  </a:t>
            </a:r>
            <a:r>
              <a:rPr lang="en-US" sz="1700" b="1" u="none" strike="noStrike">
                <a:solidFill>
                  <a:srgbClr val="FFFFFF"/>
                </a:solidFill>
                <a:effectLst/>
                <a:uFillTx/>
                <a:latin typeface="Aptos"/>
              </a:rPr>
              <a:t>f(n)</a:t>
            </a:r>
            <a:endParaRPr lang="en-US" sz="1700" b="0" u="none" strike="noStrike">
              <a:solidFill>
                <a:srgbClr val="FFFFFF"/>
              </a:solidFill>
              <a:effectLst/>
              <a:uFillTx/>
              <a:latin typeface="Arial"/>
            </a:endParaRPr>
          </a:p>
        </p:txBody>
      </p:sp>
      <p:sp>
        <p:nvSpPr>
          <p:cNvPr id="722" name="Rounded Rectangle 9"/>
          <p:cNvSpPr/>
          <p:nvPr/>
        </p:nvSpPr>
        <p:spPr>
          <a:xfrm>
            <a:off x="6660000" y="2103120"/>
            <a:ext cx="1096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BFS</a:t>
            </a:r>
            <a:endParaRPr lang="en-US" sz="1400" b="0" u="none" strike="noStrike">
              <a:solidFill>
                <a:srgbClr val="000000"/>
              </a:solidFill>
              <a:effectLst/>
              <a:uFillTx/>
              <a:latin typeface="Arial"/>
            </a:endParaRPr>
          </a:p>
        </p:txBody>
      </p:sp>
      <p:sp>
        <p:nvSpPr>
          <p:cNvPr id="723" name="Rectangle 10"/>
          <p:cNvSpPr/>
          <p:nvPr/>
        </p:nvSpPr>
        <p:spPr>
          <a:xfrm>
            <a:off x="7894440" y="210312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4" name="Rounded Rectangle 11"/>
          <p:cNvSpPr/>
          <p:nvPr/>
        </p:nvSpPr>
        <p:spPr>
          <a:xfrm>
            <a:off x="6660000" y="2697480"/>
            <a:ext cx="1096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dirty="0">
                <a:solidFill>
                  <a:srgbClr val="112E5C"/>
                </a:solidFill>
                <a:effectLst/>
                <a:uFillTx/>
                <a:latin typeface="Aptos"/>
              </a:rPr>
              <a:t>UCS</a:t>
            </a:r>
            <a:endParaRPr lang="en-US" sz="1400" b="0" u="none" strike="noStrike" dirty="0">
              <a:solidFill>
                <a:srgbClr val="000000"/>
              </a:solidFill>
              <a:effectLst/>
              <a:uFillTx/>
              <a:latin typeface="Arial"/>
            </a:endParaRPr>
          </a:p>
        </p:txBody>
      </p:sp>
      <p:sp>
        <p:nvSpPr>
          <p:cNvPr id="725" name="Rectangle 12"/>
          <p:cNvSpPr/>
          <p:nvPr/>
        </p:nvSpPr>
        <p:spPr>
          <a:xfrm>
            <a:off x="7894440" y="269748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a:solidFill>
                  <a:srgbClr val="102A4C"/>
                </a:solidFill>
                <a:effectLst/>
                <a:uFillTx/>
                <a:latin typeface="Aptos"/>
              </a:rPr>
              <a:t>f(n) = g(n), the path cost</a:t>
            </a:r>
            <a:endParaRPr lang="en-US" sz="1400" b="0" u="none" strike="noStrike">
              <a:solidFill>
                <a:srgbClr val="000000"/>
              </a:solidFill>
              <a:effectLst/>
              <a:uFillTx/>
              <a:latin typeface="Arial"/>
            </a:endParaRPr>
          </a:p>
        </p:txBody>
      </p:sp>
      <p:sp>
        <p:nvSpPr>
          <p:cNvPr id="726" name="Rounded Rectangle 13"/>
          <p:cNvSpPr/>
          <p:nvPr/>
        </p:nvSpPr>
        <p:spPr>
          <a:xfrm>
            <a:off x="6660000" y="3291840"/>
            <a:ext cx="1096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DFS</a:t>
            </a:r>
            <a:endParaRPr lang="en-US" sz="1400" b="0" u="none" strike="noStrike">
              <a:solidFill>
                <a:srgbClr val="000000"/>
              </a:solidFill>
              <a:effectLst/>
              <a:uFillTx/>
              <a:latin typeface="Arial"/>
            </a:endParaRPr>
          </a:p>
        </p:txBody>
      </p:sp>
      <p:sp>
        <p:nvSpPr>
          <p:cNvPr id="727" name="Rectangle 14"/>
          <p:cNvSpPr/>
          <p:nvPr/>
        </p:nvSpPr>
        <p:spPr>
          <a:xfrm>
            <a:off x="7894440" y="3291840"/>
            <a:ext cx="3520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400" b="1" u="none" strike="noStrike" dirty="0">
                <a:solidFill>
                  <a:srgbClr val="102A4C"/>
                </a:solidFill>
                <a:effectLst/>
                <a:uFillTx/>
                <a:latin typeface="Aptos"/>
              </a:rPr>
              <a:t>f(n) = −depth(n)</a:t>
            </a:r>
            <a:endParaRPr lang="en-US" sz="1400" b="0" u="none" strike="noStrike" dirty="0">
              <a:solidFill>
                <a:srgbClr val="000000"/>
              </a:solidFill>
              <a:effectLst/>
              <a:uFillTx/>
              <a:latin typeface="Arial"/>
            </a:endParaRPr>
          </a:p>
        </p:txBody>
      </p:sp>
      <p:sp>
        <p:nvSpPr>
          <p:cNvPr id="728" name="Rounded Rectangle 15"/>
          <p:cNvSpPr/>
          <p:nvPr/>
        </p:nvSpPr>
        <p:spPr>
          <a:xfrm>
            <a:off x="6660000" y="3977640"/>
            <a:ext cx="4754520" cy="8226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29" name="Rectangle 16"/>
          <p:cNvSpPr/>
          <p:nvPr/>
        </p:nvSpPr>
        <p:spPr>
          <a:xfrm>
            <a:off x="6842880" y="4069080"/>
            <a:ext cx="4388760" cy="6397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dirty="0">
                <a:solidFill>
                  <a:srgbClr val="112E5C"/>
                </a:solidFill>
                <a:effectLst/>
                <a:uFillTx/>
                <a:latin typeface="Aptos"/>
              </a:rPr>
              <a:t>Next lecture adds: </a:t>
            </a:r>
            <a:r>
              <a:rPr lang="en-US" sz="1350" b="0" u="none" strike="noStrike" dirty="0">
                <a:solidFill>
                  <a:schemeClr val="accent6"/>
                </a:solidFill>
                <a:effectLst/>
                <a:uFillTx/>
                <a:latin typeface="Aptos"/>
              </a:rPr>
              <a:t>f(n) = h(n) </a:t>
            </a:r>
            <a:r>
              <a:rPr lang="en-US" sz="1350" b="0" u="none" strike="noStrike" dirty="0">
                <a:solidFill>
                  <a:schemeClr val="accent5">
                    <a:lumMod val="75000"/>
                  </a:schemeClr>
                </a:solidFill>
                <a:effectLst/>
                <a:uFillTx/>
                <a:latin typeface="Aptos"/>
              </a:rPr>
              <a:t>for</a:t>
            </a:r>
            <a:r>
              <a:rPr lang="en-US" sz="1350" b="0" u="none" strike="noStrike" dirty="0">
                <a:solidFill>
                  <a:schemeClr val="accent6"/>
                </a:solidFill>
                <a:effectLst/>
                <a:uFillTx/>
                <a:latin typeface="Aptos"/>
              </a:rPr>
              <a:t> greedy best-first</a:t>
            </a:r>
            <a:r>
              <a:rPr lang="en-US" sz="1350" b="0" u="none" strike="noStrike" dirty="0">
                <a:solidFill>
                  <a:srgbClr val="112E5C"/>
                </a:solidFill>
                <a:effectLst/>
                <a:uFillTx/>
                <a:latin typeface="Aptos"/>
              </a:rPr>
              <a:t>, and </a:t>
            </a:r>
            <a:r>
              <a:rPr lang="en-US" sz="1350" b="0" u="none" strike="noStrike" dirty="0">
                <a:solidFill>
                  <a:schemeClr val="accent1"/>
                </a:solidFill>
                <a:effectLst/>
                <a:uFillTx/>
                <a:latin typeface="Aptos"/>
              </a:rPr>
              <a:t>f(n) = g(n) + h(n)</a:t>
            </a:r>
            <a:r>
              <a:rPr lang="en-US" sz="1350" b="0" u="none" strike="noStrike" dirty="0">
                <a:solidFill>
                  <a:srgbClr val="112E5C"/>
                </a:solidFill>
                <a:effectLst/>
                <a:uFillTx/>
                <a:latin typeface="Aptos"/>
              </a:rPr>
              <a:t> for </a:t>
            </a:r>
            <a:r>
              <a:rPr lang="en-US" sz="1350" b="0" u="none" strike="noStrike" dirty="0">
                <a:solidFill>
                  <a:schemeClr val="accent1"/>
                </a:solidFill>
                <a:effectLst/>
                <a:uFillTx/>
                <a:latin typeface="Aptos"/>
              </a:rPr>
              <a:t>A*</a:t>
            </a:r>
            <a:r>
              <a:rPr lang="en-US" sz="1350" b="0" u="none" strike="noStrike" dirty="0">
                <a:solidFill>
                  <a:srgbClr val="112E5C"/>
                </a:solidFill>
                <a:effectLst/>
                <a:uFillTx/>
                <a:latin typeface="Aptos"/>
              </a:rPr>
              <a:t>. Same loop, different f.</a:t>
            </a:r>
            <a:endParaRPr lang="en-US" sz="1350" b="0" u="none" strike="noStrike" dirty="0">
              <a:solidFill>
                <a:srgbClr val="000000"/>
              </a:solidFill>
              <a:effectLst/>
              <a:uFillTx/>
              <a:latin typeface="Arial"/>
            </a:endParaRPr>
          </a:p>
        </p:txBody>
      </p:sp>
      <p:sp>
        <p:nvSpPr>
          <p:cNvPr id="730" name="Rectangle 17"/>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Change f and you change the algorithm. Everything in Section 3.4 is this loop with a different priority.</a:t>
            </a:r>
            <a:endParaRPr lang="en-US" sz="1700" b="0" u="none" strike="noStrike" dirty="0">
              <a:solidFill>
                <a:srgbClr val="000000"/>
              </a:solidFill>
              <a:effectLst/>
              <a:uFillTx/>
              <a:latin typeface="Arial"/>
            </a:endParaRPr>
          </a:p>
        </p:txBody>
      </p:sp>
      <p:sp>
        <p:nvSpPr>
          <p:cNvPr id="731" name="Rectangle 18"/>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1" u="none" strike="noStrike">
                <a:solidFill>
                  <a:srgbClr val="9B1C1C"/>
                </a:solidFill>
                <a:effectLst/>
                <a:uFillTx/>
                <a:latin typeface="Aptos"/>
              </a:rPr>
              <a:t>Note the re-add rule: a node already in reached is replaced when a cheaper path to the same state turns up.</a:t>
            </a:r>
            <a:endParaRPr lang="en-US" sz="1400" b="0" u="none" strike="noStrike">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C8AA0570-C3EB-B524-A009-6E406FAA26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6520" y="1347925"/>
            <a:ext cx="5769780" cy="311022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One Search Engine, Different Frontier Rules</a:t>
            </a:r>
            <a:endParaRPr lang="en-US" sz="2600" b="0" u="none" strike="noStrike">
              <a:solidFill>
                <a:srgbClr val="000000"/>
              </a:solidFill>
              <a:effectLst/>
              <a:uFillTx/>
              <a:latin typeface="Arial"/>
            </a:endParaRPr>
          </a:p>
        </p:txBody>
      </p:sp>
      <p:sp>
        <p:nvSpPr>
          <p:cNvPr id="7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39" name="Text 7"/>
          <p:cNvSpPr/>
          <p:nvPr/>
        </p:nvSpPr>
        <p:spPr>
          <a:xfrm>
            <a:off x="6720840" y="1691640"/>
            <a:ext cx="1142640" cy="456840"/>
          </a:xfrm>
          <a:prstGeom prst="roundRect">
            <a:avLst>
              <a:gd name="adj" fmla="val 16000"/>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2F7FD5"/>
                </a:solidFill>
                <a:effectLst/>
                <a:uFillTx/>
                <a:latin typeface="Aptos"/>
              </a:rPr>
              <a:t>BFS</a:t>
            </a:r>
            <a:endParaRPr lang="en-US" sz="1500" b="0" u="none" strike="noStrike">
              <a:solidFill>
                <a:srgbClr val="000000"/>
              </a:solidFill>
              <a:effectLst/>
              <a:uFillTx/>
              <a:latin typeface="Arial"/>
            </a:endParaRPr>
          </a:p>
        </p:txBody>
      </p:sp>
      <p:sp>
        <p:nvSpPr>
          <p:cNvPr id="740" name="Text 8"/>
          <p:cNvSpPr/>
          <p:nvPr/>
        </p:nvSpPr>
        <p:spPr>
          <a:xfrm>
            <a:off x="8092440" y="169164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FIFO queue</a:t>
            </a:r>
            <a:endParaRPr lang="en-US" sz="1500" b="0" u="none" strike="noStrike">
              <a:solidFill>
                <a:srgbClr val="000000"/>
              </a:solidFill>
              <a:effectLst/>
              <a:uFillTx/>
              <a:latin typeface="Arial"/>
            </a:endParaRPr>
          </a:p>
        </p:txBody>
      </p:sp>
      <p:sp>
        <p:nvSpPr>
          <p:cNvPr id="741" name="Text 9"/>
          <p:cNvSpPr/>
          <p:nvPr/>
        </p:nvSpPr>
        <p:spPr>
          <a:xfrm>
            <a:off x="8092440" y="19843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shallowest first</a:t>
            </a:r>
            <a:endParaRPr lang="en-US" sz="1250" b="0" u="none" strike="noStrike">
              <a:solidFill>
                <a:srgbClr val="000000"/>
              </a:solidFill>
              <a:effectLst/>
              <a:uFillTx/>
              <a:latin typeface="Arial"/>
            </a:endParaRPr>
          </a:p>
        </p:txBody>
      </p:sp>
      <p:sp>
        <p:nvSpPr>
          <p:cNvPr id="742" name="Text 10"/>
          <p:cNvSpPr/>
          <p:nvPr/>
        </p:nvSpPr>
        <p:spPr>
          <a:xfrm>
            <a:off x="6720840" y="2862000"/>
            <a:ext cx="1142640" cy="456840"/>
          </a:xfrm>
          <a:prstGeom prst="roundRect">
            <a:avLst>
              <a:gd name="adj" fmla="val 16000"/>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dirty="0">
                <a:solidFill>
                  <a:srgbClr val="177245"/>
                </a:solidFill>
                <a:effectLst/>
                <a:uFillTx/>
                <a:latin typeface="Aptos"/>
              </a:rPr>
              <a:t>UCS</a:t>
            </a:r>
            <a:endParaRPr lang="en-US" sz="1500" b="0" u="none" strike="noStrike" dirty="0">
              <a:solidFill>
                <a:srgbClr val="000000"/>
              </a:solidFill>
              <a:effectLst/>
              <a:uFillTx/>
              <a:latin typeface="Arial"/>
            </a:endParaRPr>
          </a:p>
        </p:txBody>
      </p:sp>
      <p:sp>
        <p:nvSpPr>
          <p:cNvPr id="743" name="Text 11"/>
          <p:cNvSpPr/>
          <p:nvPr/>
        </p:nvSpPr>
        <p:spPr>
          <a:xfrm>
            <a:off x="8092440" y="286200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priority by g(n)</a:t>
            </a:r>
            <a:endParaRPr lang="en-US" sz="1500" b="0" u="none" strike="noStrike">
              <a:solidFill>
                <a:srgbClr val="000000"/>
              </a:solidFill>
              <a:effectLst/>
              <a:uFillTx/>
              <a:latin typeface="Arial"/>
            </a:endParaRPr>
          </a:p>
        </p:txBody>
      </p:sp>
      <p:sp>
        <p:nvSpPr>
          <p:cNvPr id="744" name="Text 12"/>
          <p:cNvSpPr/>
          <p:nvPr/>
        </p:nvSpPr>
        <p:spPr>
          <a:xfrm>
            <a:off x="8092440" y="31546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a:solidFill>
                  <a:srgbClr val="5C6B80"/>
                </a:solidFill>
                <a:effectLst/>
                <a:uFillTx/>
                <a:latin typeface="Aptos"/>
              </a:rPr>
              <a:t>cheapest path first</a:t>
            </a:r>
            <a:endParaRPr lang="en-US" sz="1250" b="0" u="none" strike="noStrike">
              <a:solidFill>
                <a:srgbClr val="000000"/>
              </a:solidFill>
              <a:effectLst/>
              <a:uFillTx/>
              <a:latin typeface="Arial"/>
            </a:endParaRPr>
          </a:p>
        </p:txBody>
      </p:sp>
      <p:sp>
        <p:nvSpPr>
          <p:cNvPr id="745" name="Text 13"/>
          <p:cNvSpPr/>
          <p:nvPr/>
        </p:nvSpPr>
        <p:spPr>
          <a:xfrm>
            <a:off x="6720840" y="4032360"/>
            <a:ext cx="1142640" cy="456840"/>
          </a:xfrm>
          <a:prstGeom prst="roundRect">
            <a:avLst>
              <a:gd name="adj" fmla="val 16000"/>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500" b="1" u="none" strike="noStrike">
                <a:solidFill>
                  <a:srgbClr val="112E5C"/>
                </a:solidFill>
                <a:effectLst/>
                <a:uFillTx/>
                <a:latin typeface="Aptos"/>
              </a:rPr>
              <a:t>DFS</a:t>
            </a:r>
            <a:endParaRPr lang="en-US" sz="1500" b="0" u="none" strike="noStrike">
              <a:solidFill>
                <a:srgbClr val="000000"/>
              </a:solidFill>
              <a:effectLst/>
              <a:uFillTx/>
              <a:latin typeface="Arial"/>
            </a:endParaRPr>
          </a:p>
        </p:txBody>
      </p:sp>
      <p:sp>
        <p:nvSpPr>
          <p:cNvPr id="746" name="Text 14"/>
          <p:cNvSpPr/>
          <p:nvPr/>
        </p:nvSpPr>
        <p:spPr>
          <a:xfrm>
            <a:off x="8092440" y="4032360"/>
            <a:ext cx="2011320" cy="2192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defTabSz="914400">
              <a:lnSpc>
                <a:spcPct val="100000"/>
              </a:lnSpc>
              <a:tabLst>
                <a:tab pos="0" algn="l"/>
              </a:tabLst>
            </a:pPr>
            <a:r>
              <a:rPr lang="en-US" sz="1500" b="1" u="none" strike="noStrike">
                <a:solidFill>
                  <a:srgbClr val="102A4C"/>
                </a:solidFill>
                <a:effectLst/>
                <a:uFillTx/>
                <a:latin typeface="Aptos"/>
              </a:rPr>
              <a:t>LIFO stack</a:t>
            </a:r>
            <a:endParaRPr lang="en-US" sz="1500" b="0" u="none" strike="noStrike">
              <a:solidFill>
                <a:srgbClr val="000000"/>
              </a:solidFill>
              <a:effectLst/>
              <a:uFillTx/>
              <a:latin typeface="Arial"/>
            </a:endParaRPr>
          </a:p>
        </p:txBody>
      </p:sp>
      <p:sp>
        <p:nvSpPr>
          <p:cNvPr id="747" name="Text 15"/>
          <p:cNvSpPr/>
          <p:nvPr/>
        </p:nvSpPr>
        <p:spPr>
          <a:xfrm>
            <a:off x="8092440" y="43250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250" b="0" u="none" strike="noStrike" dirty="0">
                <a:solidFill>
                  <a:srgbClr val="5C6B80"/>
                </a:solidFill>
                <a:effectLst/>
                <a:uFillTx/>
                <a:latin typeface="Aptos"/>
              </a:rPr>
              <a:t>deepest first</a:t>
            </a:r>
            <a:endParaRPr lang="en-US" sz="1250" b="0" u="none" strike="noStrike" dirty="0">
              <a:solidFill>
                <a:srgbClr val="000000"/>
              </a:solidFill>
              <a:effectLst/>
              <a:uFillTx/>
              <a:latin typeface="Arial"/>
            </a:endParaRPr>
          </a:p>
        </p:txBody>
      </p:sp>
      <p:sp>
        <p:nvSpPr>
          <p:cNvPr id="748" name="Text 16"/>
          <p:cNvSpPr/>
          <p:nvPr/>
        </p:nvSpPr>
        <p:spPr>
          <a:xfrm>
            <a:off x="6583680" y="5257800"/>
            <a:ext cx="47088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9999"/>
          </a:bodyPr>
          <a:lstStyle/>
          <a:p>
            <a:pPr algn="ctr" defTabSz="914400">
              <a:lnSpc>
                <a:spcPct val="100000"/>
              </a:lnSpc>
              <a:tabLst>
                <a:tab pos="0" algn="l"/>
              </a:tabLst>
            </a:pPr>
            <a:r>
              <a:rPr lang="en-US" sz="1700" b="1" u="none" strike="noStrike" dirty="0">
                <a:solidFill>
                  <a:srgbClr val="112E5C"/>
                </a:solidFill>
                <a:effectLst/>
                <a:uFillTx/>
                <a:latin typeface="Aptos"/>
              </a:rPr>
              <a:t>The algorithm changes mainly by changing how the frontier/</a:t>
            </a:r>
            <a:r>
              <a:rPr lang="en-US" sz="1700" b="1" u="none" strike="noStrike" dirty="0" err="1">
                <a:solidFill>
                  <a:srgbClr val="112E5C"/>
                </a:solidFill>
                <a:effectLst/>
                <a:uFillTx/>
                <a:latin typeface="Aptos"/>
              </a:rPr>
              <a:t>frindge</a:t>
            </a:r>
            <a:r>
              <a:rPr lang="en-US" sz="1700" b="1" u="none" strike="noStrike" dirty="0">
                <a:solidFill>
                  <a:srgbClr val="112E5C"/>
                </a:solidFill>
                <a:effectLst/>
                <a:uFillTx/>
                <a:latin typeface="Aptos"/>
              </a:rPr>
              <a:t> is ordered.</a:t>
            </a:r>
            <a:endParaRPr lang="en-US" sz="1700" b="0" u="none" strike="noStrike" dirty="0">
              <a:solidFill>
                <a:srgbClr val="000000"/>
              </a:solidFill>
              <a:effectLst/>
              <a:uFillTx/>
              <a:latin typeface="Arial"/>
            </a:endParaRPr>
          </a:p>
        </p:txBody>
      </p:sp>
      <p:pic>
        <p:nvPicPr>
          <p:cNvPr id="3" name="Image 0" descr="preencoded.png">
            <a:extLst>
              <a:ext uri="{FF2B5EF4-FFF2-40B4-BE49-F238E27FC236}">
                <a16:creationId xmlns:a16="http://schemas.microsoft.com/office/drawing/2014/main" id="{E3670071-1405-191E-90AC-D2B153B9A3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600" y="1727964"/>
            <a:ext cx="6297662" cy="248731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4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5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Search Data Structures</a:t>
            </a:r>
            <a:endParaRPr lang="en-US" sz="2600" b="0" u="none" strike="noStrike">
              <a:solidFill>
                <a:srgbClr val="000000"/>
              </a:solidFill>
              <a:effectLst/>
              <a:uFillTx/>
              <a:latin typeface="Arial"/>
            </a:endParaRPr>
          </a:p>
        </p:txBody>
      </p:sp>
      <p:sp>
        <p:nvSpPr>
          <p:cNvPr id="75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5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54" name="Text 5"/>
          <p:cNvSpPr/>
          <p:nvPr/>
        </p:nvSpPr>
        <p:spPr>
          <a:xfrm>
            <a:off x="702310" y="1486120"/>
            <a:ext cx="5760360" cy="34106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Search node fields</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node.PARENT</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node.ACTION</a:t>
            </a:r>
            <a:endParaRPr lang="en-US" sz="1500" b="0" u="none" strike="noStrike" dirty="0">
              <a:solidFill>
                <a:srgbClr val="000000"/>
              </a:solidFill>
              <a:effectLst/>
              <a:uFillTx/>
              <a:latin typeface="Arial"/>
            </a:endParaRPr>
          </a:p>
          <a:p>
            <a:pPr defTabSz="914400">
              <a:lnSpc>
                <a:spcPct val="100000"/>
              </a:lnSpc>
            </a:pPr>
            <a:r>
              <a:rPr lang="en-US" sz="1500" b="0" u="none" strike="noStrike" dirty="0" err="1">
                <a:solidFill>
                  <a:srgbClr val="102A4C"/>
                </a:solidFill>
                <a:effectLst/>
                <a:uFillTx/>
                <a:latin typeface="Aptos"/>
              </a:rPr>
              <a:t>node.PATH</a:t>
            </a:r>
            <a:r>
              <a:rPr lang="en-US" sz="1500" b="0" u="none" strike="noStrike" dirty="0">
                <a:solidFill>
                  <a:srgbClr val="102A4C"/>
                </a:solidFill>
                <a:effectLst/>
                <a:uFillTx/>
                <a:latin typeface="Aptos"/>
              </a:rPr>
              <a:t>-COST, also written g(node)</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Frontier operations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IS-EMPTY(frontier), POP(frontier), TOP(frontier), ADD(node, frontier)</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743A6D"/>
                </a:solidFill>
                <a:effectLst/>
                <a:uFillTx/>
                <a:latin typeface="Aptos"/>
              </a:rPr>
              <a:t>Queues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Priority queue for best-first/UCS; FIFO for BFS; LIFO stack for DFS</a:t>
            </a:r>
            <a:endParaRPr lang="en-US" sz="1500" b="0" u="none" strike="noStrike" dirty="0">
              <a:solidFill>
                <a:srgbClr val="000000"/>
              </a:solidFill>
              <a:effectLst/>
              <a:uFillTx/>
              <a:latin typeface="Arial"/>
            </a:endParaRPr>
          </a:p>
        </p:txBody>
      </p:sp>
      <p:sp>
        <p:nvSpPr>
          <p:cNvPr id="755" name="Text 6"/>
          <p:cNvSpPr/>
          <p:nvPr/>
        </p:nvSpPr>
        <p:spPr>
          <a:xfrm>
            <a:off x="7406640" y="1508760"/>
            <a:ext cx="292572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Node</a:t>
            </a:r>
            <a:endParaRPr lang="en-US" sz="1700" b="0" u="none" strike="noStrike">
              <a:solidFill>
                <a:srgbClr val="000000"/>
              </a:solidFill>
              <a:effectLst/>
              <a:uFillTx/>
              <a:latin typeface="Arial"/>
            </a:endParaRPr>
          </a:p>
        </p:txBody>
      </p:sp>
      <p:sp>
        <p:nvSpPr>
          <p:cNvPr id="756" name="Text 7"/>
          <p:cNvSpPr/>
          <p:nvPr/>
        </p:nvSpPr>
        <p:spPr>
          <a:xfrm>
            <a:off x="7726680" y="2286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STATE</a:t>
            </a:r>
            <a:endParaRPr lang="en-US" sz="1200" b="0" u="none" strike="noStrike">
              <a:solidFill>
                <a:srgbClr val="000000"/>
              </a:solidFill>
              <a:effectLst/>
              <a:uFillTx/>
              <a:latin typeface="Arial"/>
            </a:endParaRPr>
          </a:p>
        </p:txBody>
      </p:sp>
      <p:sp>
        <p:nvSpPr>
          <p:cNvPr id="757" name="Text 8"/>
          <p:cNvSpPr/>
          <p:nvPr/>
        </p:nvSpPr>
        <p:spPr>
          <a:xfrm>
            <a:off x="7726680" y="2853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PARENT</a:t>
            </a:r>
            <a:endParaRPr lang="en-US" sz="1200" b="0" u="none" strike="noStrike">
              <a:solidFill>
                <a:srgbClr val="000000"/>
              </a:solidFill>
              <a:effectLst/>
              <a:uFillTx/>
              <a:latin typeface="Arial"/>
            </a:endParaRPr>
          </a:p>
        </p:txBody>
      </p:sp>
      <p:sp>
        <p:nvSpPr>
          <p:cNvPr id="758" name="Text 9"/>
          <p:cNvSpPr/>
          <p:nvPr/>
        </p:nvSpPr>
        <p:spPr>
          <a:xfrm>
            <a:off x="7726680" y="342000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ACTION</a:t>
            </a:r>
            <a:endParaRPr lang="en-US" sz="1200" b="0" u="none" strike="noStrike">
              <a:solidFill>
                <a:srgbClr val="000000"/>
              </a:solidFill>
              <a:effectLst/>
              <a:uFillTx/>
              <a:latin typeface="Arial"/>
            </a:endParaRPr>
          </a:p>
        </p:txBody>
      </p:sp>
      <p:sp>
        <p:nvSpPr>
          <p:cNvPr id="759" name="Text 10"/>
          <p:cNvSpPr/>
          <p:nvPr/>
        </p:nvSpPr>
        <p:spPr>
          <a:xfrm>
            <a:off x="7726680" y="3986640"/>
            <a:ext cx="2285640" cy="383760"/>
          </a:xfrm>
          <a:prstGeom prst="roundRect">
            <a:avLst>
              <a:gd name="adj" fmla="val 19048"/>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200" b="1" u="none" strike="noStrike">
                <a:solidFill>
                  <a:srgbClr val="112E5C"/>
                </a:solidFill>
                <a:effectLst/>
                <a:uFillTx/>
                <a:latin typeface="Aptos"/>
              </a:rPr>
              <a:t>PATH-COST</a:t>
            </a:r>
            <a:endParaRPr lang="en-US" sz="1200" b="0" u="none" strike="noStrike">
              <a:solidFill>
                <a:srgbClr val="000000"/>
              </a:solidFill>
              <a:effectLst/>
              <a:uFillTx/>
              <a:latin typeface="Arial"/>
            </a:endParaRPr>
          </a:p>
        </p:txBody>
      </p:sp>
      <p:sp>
        <p:nvSpPr>
          <p:cNvPr id="760" name="Text 11"/>
          <p:cNvSpPr/>
          <p:nvPr/>
        </p:nvSpPr>
        <p:spPr>
          <a:xfrm>
            <a:off x="6903720" y="4892040"/>
            <a:ext cx="402300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600" b="1" u="none" strike="noStrike">
                <a:solidFill>
                  <a:srgbClr val="112E5C"/>
                </a:solidFill>
                <a:effectLst/>
                <a:uFillTx/>
                <a:latin typeface="Aptos"/>
              </a:rPr>
              <a:t>Parent pointers recover the final solution path.</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7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Redundant Paths and Cycles</a:t>
            </a:r>
            <a:endParaRPr lang="en-US" sz="2600" b="0" u="none" strike="noStrike">
              <a:solidFill>
                <a:srgbClr val="000000"/>
              </a:solidFill>
              <a:effectLst/>
              <a:uFillTx/>
              <a:latin typeface="Arial"/>
            </a:endParaRPr>
          </a:p>
        </p:txBody>
      </p:sp>
      <p:sp>
        <p:nvSpPr>
          <p:cNvPr id="7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766" name="Shape 5"/>
          <p:cNvSpPr/>
          <p:nvPr/>
        </p:nvSpPr>
        <p:spPr>
          <a:xfrm flipV="1">
            <a:off x="1064160" y="2119320"/>
            <a:ext cx="63648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7" name="Shape 6"/>
          <p:cNvSpPr/>
          <p:nvPr/>
        </p:nvSpPr>
        <p:spPr>
          <a:xfrm>
            <a:off x="1064160" y="2490480"/>
            <a:ext cx="636480" cy="4244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8" name="Shape 7"/>
          <p:cNvSpPr/>
          <p:nvPr/>
        </p:nvSpPr>
        <p:spPr>
          <a:xfrm flipV="1">
            <a:off x="1700640" y="1827720"/>
            <a:ext cx="556920" cy="2916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69" name="Shape 8"/>
          <p:cNvSpPr/>
          <p:nvPr/>
        </p:nvSpPr>
        <p:spPr>
          <a:xfrm>
            <a:off x="1700640" y="2119320"/>
            <a:ext cx="689400" cy="3448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0" name="Shape 9"/>
          <p:cNvSpPr/>
          <p:nvPr/>
        </p:nvSpPr>
        <p:spPr>
          <a:xfrm>
            <a:off x="1700640" y="2119320"/>
            <a:ext cx="1352520" cy="2386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1" name="Shape 10"/>
          <p:cNvSpPr/>
          <p:nvPr/>
        </p:nvSpPr>
        <p:spPr>
          <a:xfrm flipV="1">
            <a:off x="2257560" y="1641960"/>
            <a:ext cx="583200" cy="1857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2" name="Shape 11"/>
          <p:cNvSpPr/>
          <p:nvPr/>
        </p:nvSpPr>
        <p:spPr>
          <a:xfrm flipH="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3" name="Shape 12"/>
          <p:cNvSpPr/>
          <p:nvPr/>
        </p:nvSpPr>
        <p:spPr>
          <a:xfrm flipV="1">
            <a:off x="2390040" y="1641960"/>
            <a:ext cx="450720" cy="8222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4" name="Shape 13"/>
          <p:cNvSpPr/>
          <p:nvPr/>
        </p:nvSpPr>
        <p:spPr>
          <a:xfrm flipV="1">
            <a:off x="2390040" y="2358000"/>
            <a:ext cx="663120" cy="10620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5" name="Shape 14"/>
          <p:cNvSpPr/>
          <p:nvPr/>
        </p:nvSpPr>
        <p:spPr>
          <a:xfrm flipH="1">
            <a:off x="2814480" y="2358000"/>
            <a:ext cx="238680" cy="5835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6" name="Shape 15"/>
          <p:cNvSpPr/>
          <p:nvPr/>
        </p:nvSpPr>
        <p:spPr>
          <a:xfrm flipH="1" flipV="1">
            <a:off x="1700640" y="2914920"/>
            <a:ext cx="1113840" cy="266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18360" rIns="90000" bIns="-18360" anchor="t" anchorCtr="1">
            <a:noAutofit/>
          </a:bodyPr>
          <a:lstStyle/>
          <a:p>
            <a:endParaRPr lang="en-US" sz="1800" b="0" u="none" strike="noStrike">
              <a:solidFill>
                <a:srgbClr val="000000"/>
              </a:solidFill>
              <a:effectLst/>
              <a:uFillTx/>
              <a:latin typeface="Arial"/>
            </a:endParaRPr>
          </a:p>
        </p:txBody>
      </p:sp>
      <p:sp>
        <p:nvSpPr>
          <p:cNvPr id="777" name="Shape 16"/>
          <p:cNvSpPr/>
          <p:nvPr/>
        </p:nvSpPr>
        <p:spPr>
          <a:xfrm>
            <a:off x="1700640" y="2914920"/>
            <a:ext cx="583200" cy="4507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8" name="Shape 17"/>
          <p:cNvSpPr/>
          <p:nvPr/>
        </p:nvSpPr>
        <p:spPr>
          <a:xfrm flipV="1">
            <a:off x="2283840" y="2941560"/>
            <a:ext cx="530640" cy="4240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79" name="Shape 18"/>
          <p:cNvSpPr/>
          <p:nvPr/>
        </p:nvSpPr>
        <p:spPr>
          <a:xfrm>
            <a:off x="3053160" y="2358000"/>
            <a:ext cx="583200" cy="60984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0" name="Shape 19"/>
          <p:cNvSpPr/>
          <p:nvPr/>
        </p:nvSpPr>
        <p:spPr>
          <a:xfrm flipV="1">
            <a:off x="3636360" y="2596680"/>
            <a:ext cx="504000" cy="37116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1" name="Shape 20"/>
          <p:cNvSpPr/>
          <p:nvPr/>
        </p:nvSpPr>
        <p:spPr>
          <a:xfrm flipH="1" flipV="1">
            <a:off x="2390040" y="2464200"/>
            <a:ext cx="1750320" cy="13248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2" name="Shape 21"/>
          <p:cNvSpPr/>
          <p:nvPr/>
        </p:nvSpPr>
        <p:spPr>
          <a:xfrm flipV="1">
            <a:off x="4140360" y="2039760"/>
            <a:ext cx="450720" cy="556920"/>
          </a:xfrm>
          <a:prstGeom prst="line">
            <a:avLst/>
          </a:prstGeom>
          <a:ln w="1397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3" name="Text 22"/>
          <p:cNvSpPr/>
          <p:nvPr/>
        </p:nvSpPr>
        <p:spPr>
          <a:xfrm>
            <a:off x="918000" y="2344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784" name="Text 23"/>
          <p:cNvSpPr/>
          <p:nvPr/>
        </p:nvSpPr>
        <p:spPr>
          <a:xfrm>
            <a:off x="1554480" y="19731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785" name="Text 24"/>
          <p:cNvSpPr/>
          <p:nvPr/>
        </p:nvSpPr>
        <p:spPr>
          <a:xfrm>
            <a:off x="1554480" y="2768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786" name="Text 25"/>
          <p:cNvSpPr/>
          <p:nvPr/>
        </p:nvSpPr>
        <p:spPr>
          <a:xfrm>
            <a:off x="2111400" y="1681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787" name="Text 26"/>
          <p:cNvSpPr/>
          <p:nvPr/>
        </p:nvSpPr>
        <p:spPr>
          <a:xfrm>
            <a:off x="2243880" y="23180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788" name="Text 27"/>
          <p:cNvSpPr/>
          <p:nvPr/>
        </p:nvSpPr>
        <p:spPr>
          <a:xfrm>
            <a:off x="2907000" y="2211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789" name="Text 28"/>
          <p:cNvSpPr/>
          <p:nvPr/>
        </p:nvSpPr>
        <p:spPr>
          <a:xfrm>
            <a:off x="2668320" y="27954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790" name="Text 29"/>
          <p:cNvSpPr/>
          <p:nvPr/>
        </p:nvSpPr>
        <p:spPr>
          <a:xfrm>
            <a:off x="2138040" y="32194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791" name="Text 30"/>
          <p:cNvSpPr/>
          <p:nvPr/>
        </p:nvSpPr>
        <p:spPr>
          <a:xfrm>
            <a:off x="2694600" y="14958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792" name="Text 31"/>
          <p:cNvSpPr/>
          <p:nvPr/>
        </p:nvSpPr>
        <p:spPr>
          <a:xfrm>
            <a:off x="3490200" y="28216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793" name="Text 32"/>
          <p:cNvSpPr/>
          <p:nvPr/>
        </p:nvSpPr>
        <p:spPr>
          <a:xfrm>
            <a:off x="3994200" y="2450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794" name="Text 33"/>
          <p:cNvSpPr/>
          <p:nvPr/>
        </p:nvSpPr>
        <p:spPr>
          <a:xfrm>
            <a:off x="4444920" y="18936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795" name="Text 34"/>
          <p:cNvSpPr/>
          <p:nvPr/>
        </p:nvSpPr>
        <p:spPr>
          <a:xfrm>
            <a:off x="6675120" y="1417320"/>
            <a:ext cx="46630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00" b="1" u="none" strike="noStrike" dirty="0">
                <a:solidFill>
                  <a:srgbClr val="112E5C"/>
                </a:solidFill>
                <a:effectLst/>
                <a:uFillTx/>
                <a:latin typeface="Aptos"/>
              </a:rPr>
              <a:t>Repeated state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same state reached by different paths</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9B1C1C"/>
                </a:solidFill>
                <a:effectLst/>
                <a:uFillTx/>
                <a:latin typeface="Aptos"/>
              </a:rPr>
              <a:t>Cycle</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path returns to a state already on the same path</a:t>
            </a:r>
            <a:endParaRPr lang="en-US" sz="1500" b="0" u="none" strike="noStrike" dirty="0">
              <a:solidFill>
                <a:srgbClr val="000000"/>
              </a:solidFill>
              <a:effectLst/>
              <a:uFillTx/>
              <a:latin typeface="Arial"/>
            </a:endParaRPr>
          </a:p>
          <a:p>
            <a:pPr defTabSz="914400">
              <a:lnSpc>
                <a:spcPct val="100000"/>
              </a:lnSpc>
            </a:pPr>
            <a:r>
              <a:rPr lang="en-US" sz="1500" b="1" u="none" strike="noStrike" dirty="0">
                <a:solidFill>
                  <a:srgbClr val="177245"/>
                </a:solidFill>
                <a:effectLst/>
                <a:uFillTx/>
                <a:latin typeface="Aptos"/>
              </a:rPr>
              <a:t>Options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remember all reached states</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ignore repeats to save memory</a:t>
            </a:r>
            <a:endParaRPr lang="en-US" sz="1500" b="0" u="none" strike="noStrike" dirty="0">
              <a:solidFill>
                <a:srgbClr val="000000"/>
              </a:solidFill>
              <a:effectLst/>
              <a:uFillTx/>
              <a:latin typeface="Arial"/>
            </a:endParaRPr>
          </a:p>
          <a:p>
            <a:pPr defTabSz="914400">
              <a:lnSpc>
                <a:spcPct val="100000"/>
              </a:lnSpc>
            </a:pPr>
            <a:r>
              <a:rPr lang="en-US" sz="1500" b="0" u="none" strike="noStrike" dirty="0">
                <a:solidFill>
                  <a:srgbClr val="102A4C"/>
                </a:solidFill>
                <a:effectLst/>
                <a:uFillTx/>
                <a:latin typeface="Aptos"/>
              </a:rPr>
              <a:t>check only cycles as a compromise</a:t>
            </a:r>
            <a:endParaRPr lang="en-US" sz="1500" b="0" u="none" strike="noStrike" dirty="0">
              <a:solidFill>
                <a:srgbClr val="000000"/>
              </a:solidFill>
              <a:effectLst/>
              <a:uFillTx/>
              <a:latin typeface="Arial"/>
            </a:endParaRPr>
          </a:p>
        </p:txBody>
      </p:sp>
      <p:sp>
        <p:nvSpPr>
          <p:cNvPr id="796" name="Text 35"/>
          <p:cNvSpPr/>
          <p:nvPr/>
        </p:nvSpPr>
        <p:spPr>
          <a:xfrm>
            <a:off x="1005840" y="5669280"/>
            <a:ext cx="1024092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9B1C1C"/>
                </a:solidFill>
                <a:effectLst/>
                <a:uFillTx/>
                <a:latin typeface="Aptos"/>
              </a:rPr>
              <a:t>Without memory, search may repeat itself indefinitely or waste massive work.</a:t>
            </a:r>
            <a:endParaRPr lang="en-US" sz="18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79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79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dirty="0">
                <a:solidFill>
                  <a:srgbClr val="FFFFFF"/>
                </a:solidFill>
                <a:effectLst/>
                <a:uFillTx/>
                <a:latin typeface="Aptos"/>
              </a:rPr>
              <a:t>Graph Search vs. Tree-Like Search</a:t>
            </a:r>
            <a:endParaRPr lang="en-US" sz="2600" b="0" u="none" strike="noStrike" dirty="0">
              <a:solidFill>
                <a:srgbClr val="000000"/>
              </a:solidFill>
              <a:effectLst/>
              <a:uFillTx/>
              <a:latin typeface="Arial"/>
            </a:endParaRPr>
          </a:p>
        </p:txBody>
      </p:sp>
      <p:sp>
        <p:nvSpPr>
          <p:cNvPr id="80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dirty="0">
                <a:solidFill>
                  <a:srgbClr val="5C6B80"/>
                </a:solidFill>
                <a:effectLst/>
                <a:uFillTx/>
                <a:latin typeface="Aptos"/>
              </a:rPr>
              <a:t>CSU Channel Islands · Department of Computer Science</a:t>
            </a:r>
            <a:endParaRPr lang="en-US" sz="850" b="0" u="none" strike="noStrike" dirty="0">
              <a:solidFill>
                <a:srgbClr val="000000"/>
              </a:solidFill>
              <a:effectLst/>
              <a:uFillTx/>
              <a:latin typeface="Arial"/>
            </a:endParaRPr>
          </a:p>
        </p:txBody>
      </p:sp>
      <p:sp>
        <p:nvSpPr>
          <p:cNvPr id="80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02" name="Rounded Rectangle 6"/>
          <p:cNvSpPr/>
          <p:nvPr/>
        </p:nvSpPr>
        <p:spPr>
          <a:xfrm>
            <a:off x="777240" y="1417320"/>
            <a:ext cx="3382920" cy="41112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Graph search</a:t>
            </a:r>
            <a:endParaRPr lang="en-US" sz="1450" b="0" u="none" strike="noStrike">
              <a:solidFill>
                <a:srgbClr val="000000"/>
              </a:solidFill>
              <a:effectLst/>
              <a:uFillTx/>
              <a:latin typeface="Arial"/>
            </a:endParaRPr>
          </a:p>
        </p:txBody>
      </p:sp>
      <p:sp>
        <p:nvSpPr>
          <p:cNvPr id="803" name="Rectangle 7"/>
          <p:cNvSpPr/>
          <p:nvPr/>
        </p:nvSpPr>
        <p:spPr>
          <a:xfrm>
            <a:off x="777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Remembers every reached state</a:t>
            </a:r>
            <a:endParaRPr lang="en-US" sz="1150" b="0" u="none" strike="noStrike">
              <a:solidFill>
                <a:srgbClr val="000000"/>
              </a:solidFill>
              <a:effectLst/>
              <a:uFillTx/>
              <a:latin typeface="Arial"/>
            </a:endParaRPr>
          </a:p>
        </p:txBody>
      </p:sp>
      <p:sp>
        <p:nvSpPr>
          <p:cNvPr id="804" name="Rounded Rectangle 8"/>
          <p:cNvSpPr/>
          <p:nvPr/>
        </p:nvSpPr>
        <p:spPr>
          <a:xfrm>
            <a:off x="777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5" name="Rectangle 9"/>
          <p:cNvSpPr/>
          <p:nvPr/>
        </p:nvSpPr>
        <p:spPr>
          <a:xfrm>
            <a:off x="960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Keeps the full reached table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Detects all redundant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Keeps only the best path to each state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Preferred whenever the table fits in memory</a:t>
            </a:r>
            <a:endParaRPr lang="en-US" sz="1250" b="0" u="none" strike="noStrike">
              <a:solidFill>
                <a:srgbClr val="000000"/>
              </a:solidFill>
              <a:effectLst/>
              <a:uFillTx/>
              <a:latin typeface="Arial"/>
            </a:endParaRPr>
          </a:p>
        </p:txBody>
      </p:sp>
      <p:sp>
        <p:nvSpPr>
          <p:cNvPr id="806" name="Rounded Rectangle 10"/>
          <p:cNvSpPr/>
          <p:nvPr/>
        </p:nvSpPr>
        <p:spPr>
          <a:xfrm>
            <a:off x="4404240" y="1417320"/>
            <a:ext cx="338292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Cycle checking</a:t>
            </a:r>
            <a:endParaRPr lang="en-US" sz="1450" b="0" u="none" strike="noStrike">
              <a:solidFill>
                <a:srgbClr val="000000"/>
              </a:solidFill>
              <a:effectLst/>
              <a:uFillTx/>
              <a:latin typeface="Arial"/>
            </a:endParaRPr>
          </a:p>
        </p:txBody>
      </p:sp>
      <p:sp>
        <p:nvSpPr>
          <p:cNvPr id="807" name="Rectangle 11"/>
          <p:cNvSpPr/>
          <p:nvPr/>
        </p:nvSpPr>
        <p:spPr>
          <a:xfrm>
            <a:off x="440424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The middle option</a:t>
            </a:r>
            <a:endParaRPr lang="en-US" sz="1150" b="0" u="none" strike="noStrike">
              <a:solidFill>
                <a:srgbClr val="000000"/>
              </a:solidFill>
              <a:effectLst/>
              <a:uFillTx/>
              <a:latin typeface="Arial"/>
            </a:endParaRPr>
          </a:p>
        </p:txBody>
      </p:sp>
      <p:sp>
        <p:nvSpPr>
          <p:cNvPr id="808" name="Rounded Rectangle 12"/>
          <p:cNvSpPr/>
          <p:nvPr/>
        </p:nvSpPr>
        <p:spPr>
          <a:xfrm>
            <a:off x="440424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09" name="Rectangle 13"/>
          <p:cNvSpPr/>
          <p:nvPr/>
        </p:nvSpPr>
        <p:spPr>
          <a:xfrm>
            <a:off x="458712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Walks up the parent chain from a node</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Needs no additional memory at all</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Check all the way up, or only a few links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Catches loops, misses general redundancy</a:t>
            </a:r>
            <a:endParaRPr lang="en-US" sz="1250" b="0" u="none" strike="noStrike">
              <a:solidFill>
                <a:srgbClr val="000000"/>
              </a:solidFill>
              <a:effectLst/>
              <a:uFillTx/>
              <a:latin typeface="Arial"/>
            </a:endParaRPr>
          </a:p>
        </p:txBody>
      </p:sp>
      <p:sp>
        <p:nvSpPr>
          <p:cNvPr id="810" name="Rounded Rectangle 14"/>
          <p:cNvSpPr/>
          <p:nvPr/>
        </p:nvSpPr>
        <p:spPr>
          <a:xfrm>
            <a:off x="8031600" y="1417320"/>
            <a:ext cx="338292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Tree-like search</a:t>
            </a:r>
            <a:endParaRPr lang="en-US" sz="1450" b="0" u="none" strike="noStrike">
              <a:solidFill>
                <a:srgbClr val="000000"/>
              </a:solidFill>
              <a:effectLst/>
              <a:uFillTx/>
              <a:latin typeface="Arial"/>
            </a:endParaRPr>
          </a:p>
        </p:txBody>
      </p:sp>
      <p:sp>
        <p:nvSpPr>
          <p:cNvPr id="811" name="Rectangle 15"/>
          <p:cNvSpPr/>
          <p:nvPr/>
        </p:nvSpPr>
        <p:spPr>
          <a:xfrm>
            <a:off x="8031600" y="1874520"/>
            <a:ext cx="338292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0" u="none" strike="noStrike">
                <a:solidFill>
                  <a:srgbClr val="5C6B80"/>
                </a:solidFill>
                <a:effectLst/>
                <a:uFillTx/>
                <a:latin typeface="Aptos"/>
              </a:rPr>
              <a:t>Does not check at all</a:t>
            </a:r>
            <a:endParaRPr lang="en-US" sz="1150" b="0" u="none" strike="noStrike">
              <a:solidFill>
                <a:srgbClr val="000000"/>
              </a:solidFill>
              <a:effectLst/>
              <a:uFillTx/>
              <a:latin typeface="Arial"/>
            </a:endParaRPr>
          </a:p>
        </p:txBody>
      </p:sp>
      <p:sp>
        <p:nvSpPr>
          <p:cNvPr id="812" name="Rounded Rectangle 16"/>
          <p:cNvSpPr/>
          <p:nvPr/>
        </p:nvSpPr>
        <p:spPr>
          <a:xfrm>
            <a:off x="8031600" y="2194560"/>
            <a:ext cx="338292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3" name="Rectangle 17"/>
          <p:cNvSpPr/>
          <p:nvPr/>
        </p:nvSpPr>
        <p:spPr>
          <a:xfrm>
            <a:off x="8214480" y="2331720"/>
            <a:ext cx="301716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No reached table is kept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Much smaller memory footprint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Re-examines the same state via many paths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Fine when two paths rarely meet</a:t>
            </a:r>
            <a:endParaRPr lang="en-US" sz="1250" b="0" u="none" strike="noStrike">
              <a:solidFill>
                <a:srgbClr val="000000"/>
              </a:solidFill>
              <a:effectLst/>
              <a:uFillTx/>
              <a:latin typeface="Arial"/>
            </a:endParaRPr>
          </a:p>
        </p:txBody>
      </p:sp>
      <p:sp>
        <p:nvSpPr>
          <p:cNvPr id="814" name="Rounded Rectangle 18"/>
          <p:cNvSpPr/>
          <p:nvPr/>
        </p:nvSpPr>
        <p:spPr>
          <a:xfrm>
            <a:off x="914400" y="411480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15" name="Rectangle 19"/>
          <p:cNvSpPr/>
          <p:nvPr/>
        </p:nvSpPr>
        <p:spPr>
          <a:xfrm>
            <a:off x="109728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100</a:t>
            </a:r>
            <a:endParaRPr lang="en-US" sz="2400" b="0" u="none" strike="noStrike">
              <a:solidFill>
                <a:srgbClr val="000000"/>
              </a:solidFill>
              <a:effectLst/>
              <a:uFillTx/>
              <a:latin typeface="Arial"/>
            </a:endParaRPr>
          </a:p>
        </p:txBody>
      </p:sp>
      <p:sp>
        <p:nvSpPr>
          <p:cNvPr id="816" name="Rectangle 20"/>
          <p:cNvSpPr/>
          <p:nvPr/>
        </p:nvSpPr>
        <p:spPr>
          <a:xfrm>
            <a:off x="237744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cells in a 10 × 10 grid world</a:t>
            </a:r>
            <a:endParaRPr lang="en-US" sz="1200" b="0" u="none" strike="noStrike">
              <a:solidFill>
                <a:srgbClr val="000000"/>
              </a:solidFill>
              <a:effectLst/>
              <a:uFillTx/>
              <a:latin typeface="Arial"/>
            </a:endParaRPr>
          </a:p>
        </p:txBody>
      </p:sp>
      <p:sp>
        <p:nvSpPr>
          <p:cNvPr id="817" name="Rectangle 21"/>
          <p:cNvSpPr/>
          <p:nvPr/>
        </p:nvSpPr>
        <p:spPr>
          <a:xfrm>
            <a:off x="448056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9</a:t>
            </a:r>
            <a:endParaRPr lang="en-US" sz="2400" b="0" u="none" strike="noStrike">
              <a:solidFill>
                <a:srgbClr val="000000"/>
              </a:solidFill>
              <a:effectLst/>
              <a:uFillTx/>
              <a:latin typeface="Arial"/>
            </a:endParaRPr>
          </a:p>
        </p:txBody>
      </p:sp>
      <p:sp>
        <p:nvSpPr>
          <p:cNvPr id="818" name="Rectangle 22"/>
          <p:cNvSpPr/>
          <p:nvPr/>
        </p:nvSpPr>
        <p:spPr>
          <a:xfrm>
            <a:off x="576072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moves to reach any of them</a:t>
            </a:r>
            <a:endParaRPr lang="en-US" sz="1200" b="0" u="none" strike="noStrike">
              <a:solidFill>
                <a:srgbClr val="000000"/>
              </a:solidFill>
              <a:effectLst/>
              <a:uFillTx/>
              <a:latin typeface="Arial"/>
            </a:endParaRPr>
          </a:p>
        </p:txBody>
      </p:sp>
      <p:sp>
        <p:nvSpPr>
          <p:cNvPr id="819" name="Rectangle 23"/>
          <p:cNvSpPr/>
          <p:nvPr/>
        </p:nvSpPr>
        <p:spPr>
          <a:xfrm>
            <a:off x="7863840" y="4160520"/>
            <a:ext cx="118836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2400" b="1" u="none" strike="noStrike">
                <a:solidFill>
                  <a:srgbClr val="9B1C1C"/>
                </a:solidFill>
                <a:effectLst/>
                <a:uFillTx/>
                <a:latin typeface="Aptos"/>
              </a:rPr>
              <a:t>≈ 8⁹</a:t>
            </a:r>
            <a:endParaRPr lang="en-US" sz="2400" b="0" u="none" strike="noStrike">
              <a:solidFill>
                <a:srgbClr val="000000"/>
              </a:solidFill>
              <a:effectLst/>
              <a:uFillTx/>
              <a:latin typeface="Arial"/>
            </a:endParaRPr>
          </a:p>
        </p:txBody>
      </p:sp>
      <p:sp>
        <p:nvSpPr>
          <p:cNvPr id="820" name="Rectangle 24"/>
          <p:cNvSpPr/>
          <p:nvPr/>
        </p:nvSpPr>
        <p:spPr>
          <a:xfrm>
            <a:off x="9144000" y="4160520"/>
            <a:ext cx="191988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0" u="none" strike="noStrike">
                <a:solidFill>
                  <a:srgbClr val="5C6B80"/>
                </a:solidFill>
                <a:effectLst/>
                <a:uFillTx/>
                <a:latin typeface="Aptos"/>
              </a:rPr>
              <a:t>paths of length 9 — over 100 million</a:t>
            </a:r>
            <a:endParaRPr lang="en-US" sz="1200" b="0" u="none" strike="noStrike">
              <a:solidFill>
                <a:srgbClr val="000000"/>
              </a:solidFill>
              <a:effectLst/>
              <a:uFillTx/>
              <a:latin typeface="Arial"/>
            </a:endParaRPr>
          </a:p>
        </p:txBody>
      </p:sp>
      <p:sp>
        <p:nvSpPr>
          <p:cNvPr id="821" name="Rectangle 25"/>
          <p:cNvSpPr/>
          <p:nvPr/>
        </p:nvSpPr>
        <p:spPr>
          <a:xfrm>
            <a:off x="914400" y="49377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Eliminate redundant paths and this search finishes roughly a million times faster.</a:t>
            </a:r>
            <a:endParaRPr lang="en-US" sz="1700" b="0" u="none" strike="noStrike">
              <a:solidFill>
                <a:srgbClr val="000000"/>
              </a:solidFill>
              <a:effectLst/>
              <a:uFillTx/>
              <a:latin typeface="Arial"/>
            </a:endParaRPr>
          </a:p>
        </p:txBody>
      </p:sp>
      <p:sp>
        <p:nvSpPr>
          <p:cNvPr id="822" name="Rectangle 26"/>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Algorithms that cannot remember the past are doomed to repeat it. Caution: the Figure 3.15 comparison table assumes the tree-like versions.</a:t>
            </a:r>
            <a:endParaRPr lang="en-US" sz="15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2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2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How We Evaluate Search Algorithms</a:t>
            </a:r>
            <a:endParaRPr lang="en-US" sz="2600" b="0" u="none" strike="noStrike">
              <a:solidFill>
                <a:srgbClr val="000000"/>
              </a:solidFill>
              <a:effectLst/>
              <a:uFillTx/>
              <a:latin typeface="Arial"/>
            </a:endParaRPr>
          </a:p>
        </p:txBody>
      </p:sp>
      <p:sp>
        <p:nvSpPr>
          <p:cNvPr id="82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2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28" name="Text 5"/>
          <p:cNvSpPr/>
          <p:nvPr/>
        </p:nvSpPr>
        <p:spPr>
          <a:xfrm>
            <a:off x="8686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Complete?</a:t>
            </a:r>
            <a:endParaRPr lang="en-US" sz="1600" b="0" u="none" strike="noStrike">
              <a:solidFill>
                <a:srgbClr val="000000"/>
              </a:solidFill>
              <a:effectLst/>
              <a:uFillTx/>
              <a:latin typeface="Arial"/>
            </a:endParaRPr>
          </a:p>
        </p:txBody>
      </p:sp>
      <p:sp>
        <p:nvSpPr>
          <p:cNvPr id="829" name="Text 6"/>
          <p:cNvSpPr/>
          <p:nvPr/>
        </p:nvSpPr>
        <p:spPr>
          <a:xfrm>
            <a:off x="32918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a solution if one exists.</a:t>
            </a:r>
            <a:endParaRPr lang="en-US" sz="1450" b="0" u="none" strike="noStrike">
              <a:solidFill>
                <a:srgbClr val="000000"/>
              </a:solidFill>
              <a:effectLst/>
              <a:uFillTx/>
              <a:latin typeface="Arial"/>
            </a:endParaRPr>
          </a:p>
        </p:txBody>
      </p:sp>
      <p:sp>
        <p:nvSpPr>
          <p:cNvPr id="830" name="Text 7"/>
          <p:cNvSpPr/>
          <p:nvPr/>
        </p:nvSpPr>
        <p:spPr>
          <a:xfrm>
            <a:off x="6355080" y="1508760"/>
            <a:ext cx="219420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Cost-optimal?</a:t>
            </a:r>
            <a:endParaRPr lang="en-US" sz="1600" b="0" u="none" strike="noStrike">
              <a:solidFill>
                <a:srgbClr val="000000"/>
              </a:solidFill>
              <a:effectLst/>
              <a:uFillTx/>
              <a:latin typeface="Arial"/>
            </a:endParaRPr>
          </a:p>
        </p:txBody>
      </p:sp>
      <p:sp>
        <p:nvSpPr>
          <p:cNvPr id="831" name="Text 8"/>
          <p:cNvSpPr/>
          <p:nvPr/>
        </p:nvSpPr>
        <p:spPr>
          <a:xfrm>
            <a:off x="8778240" y="156348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Guaranteed to find the least-cost solution.</a:t>
            </a:r>
            <a:endParaRPr lang="en-US" sz="1450" b="0" u="none" strike="noStrike">
              <a:solidFill>
                <a:srgbClr val="000000"/>
              </a:solidFill>
              <a:effectLst/>
              <a:uFillTx/>
              <a:latin typeface="Arial"/>
            </a:endParaRPr>
          </a:p>
        </p:txBody>
      </p:sp>
      <p:sp>
        <p:nvSpPr>
          <p:cNvPr id="832" name="Text 9"/>
          <p:cNvSpPr/>
          <p:nvPr/>
        </p:nvSpPr>
        <p:spPr>
          <a:xfrm>
            <a:off x="8686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Time complexity</a:t>
            </a:r>
            <a:endParaRPr lang="en-US" sz="1600" b="0" u="none" strike="noStrike">
              <a:solidFill>
                <a:srgbClr val="000000"/>
              </a:solidFill>
              <a:effectLst/>
              <a:uFillTx/>
              <a:latin typeface="Arial"/>
            </a:endParaRPr>
          </a:p>
        </p:txBody>
      </p:sp>
      <p:sp>
        <p:nvSpPr>
          <p:cNvPr id="833" name="Text 10"/>
          <p:cNvSpPr/>
          <p:nvPr/>
        </p:nvSpPr>
        <p:spPr>
          <a:xfrm>
            <a:off x="32918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lnSpcReduction="10000"/>
          </a:bodyPr>
          <a:lstStyle/>
          <a:p>
            <a:pPr defTabSz="914400">
              <a:lnSpc>
                <a:spcPct val="100000"/>
              </a:lnSpc>
              <a:tabLst>
                <a:tab pos="0" algn="l"/>
              </a:tabLst>
            </a:pPr>
            <a:r>
              <a:rPr lang="en-US" sz="1450" b="0" u="none" strike="noStrike">
                <a:solidFill>
                  <a:srgbClr val="102A4C"/>
                </a:solidFill>
                <a:effectLst/>
                <a:uFillTx/>
                <a:latin typeface="Aptos"/>
              </a:rPr>
              <a:t>How many states/actions are considered.</a:t>
            </a:r>
            <a:endParaRPr lang="en-US" sz="1450" b="0" u="none" strike="noStrike">
              <a:solidFill>
                <a:srgbClr val="000000"/>
              </a:solidFill>
              <a:effectLst/>
              <a:uFillTx/>
              <a:latin typeface="Arial"/>
            </a:endParaRPr>
          </a:p>
        </p:txBody>
      </p:sp>
      <p:sp>
        <p:nvSpPr>
          <p:cNvPr id="834" name="Text 11"/>
          <p:cNvSpPr/>
          <p:nvPr/>
        </p:nvSpPr>
        <p:spPr>
          <a:xfrm>
            <a:off x="6355080" y="3063240"/>
            <a:ext cx="219420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Space complexity</a:t>
            </a:r>
            <a:endParaRPr lang="en-US" sz="1600" b="0" u="none" strike="noStrike">
              <a:solidFill>
                <a:srgbClr val="000000"/>
              </a:solidFill>
              <a:effectLst/>
              <a:uFillTx/>
              <a:latin typeface="Arial"/>
            </a:endParaRPr>
          </a:p>
        </p:txBody>
      </p:sp>
      <p:sp>
        <p:nvSpPr>
          <p:cNvPr id="835" name="Text 12"/>
          <p:cNvSpPr/>
          <p:nvPr/>
        </p:nvSpPr>
        <p:spPr>
          <a:xfrm>
            <a:off x="8778240" y="3117960"/>
            <a:ext cx="265140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450" b="0" u="none" strike="noStrike">
                <a:solidFill>
                  <a:srgbClr val="102A4C"/>
                </a:solidFill>
                <a:effectLst/>
                <a:uFillTx/>
                <a:latin typeface="Aptos"/>
              </a:rPr>
              <a:t>How much memory is required.</a:t>
            </a:r>
            <a:endParaRPr lang="en-US" sz="1450" b="0" u="none" strike="noStrike">
              <a:solidFill>
                <a:srgbClr val="000000"/>
              </a:solidFill>
              <a:effectLst/>
              <a:uFillTx/>
              <a:latin typeface="Arial"/>
            </a:endParaRPr>
          </a:p>
        </p:txBody>
      </p:sp>
      <p:sp>
        <p:nvSpPr>
          <p:cNvPr id="836" name="Text 13"/>
          <p:cNvSpPr/>
          <p:nvPr/>
        </p:nvSpPr>
        <p:spPr>
          <a:xfrm>
            <a:off x="914400" y="5074920"/>
            <a:ext cx="1024092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algn="ctr" defTabSz="914400">
              <a:lnSpc>
                <a:spcPct val="100000"/>
              </a:lnSpc>
              <a:tabLst>
                <a:tab pos="0" algn="l"/>
              </a:tabLst>
            </a:pPr>
            <a:r>
              <a:rPr lang="en-US" sz="1700" b="1" u="none" strike="noStrike" dirty="0">
                <a:solidFill>
                  <a:srgbClr val="112E5C"/>
                </a:solidFill>
                <a:effectLst/>
                <a:uFillTx/>
                <a:latin typeface="Aptos"/>
              </a:rPr>
              <a:t>Implicit problem parameters: b = branching factor, d = shallowest solution depth, m = maximum path depth.</a:t>
            </a:r>
            <a:endParaRPr lang="en-US" sz="1700" b="0" u="none" strike="noStrike" dirty="0">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37"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8"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39"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Completeness Is Harder Than “Never Repeat a State”</a:t>
            </a:r>
            <a:endParaRPr lang="en-US" sz="2600" b="0" u="none" strike="noStrike">
              <a:solidFill>
                <a:srgbClr val="000000"/>
              </a:solidFill>
              <a:effectLst/>
              <a:uFillTx/>
              <a:latin typeface="Arial"/>
            </a:endParaRPr>
          </a:p>
        </p:txBody>
      </p:sp>
      <p:sp>
        <p:nvSpPr>
          <p:cNvPr id="840"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41"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42" name="Rounded Rectangle 6"/>
          <p:cNvSpPr/>
          <p:nvPr/>
        </p:nvSpPr>
        <p:spPr>
          <a:xfrm>
            <a:off x="777240" y="141732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Finite state spaces</a:t>
            </a:r>
            <a:endParaRPr lang="en-US" sz="1450" b="0" u="none" strike="noStrike">
              <a:solidFill>
                <a:srgbClr val="000000"/>
              </a:solidFill>
              <a:effectLst/>
              <a:uFillTx/>
              <a:latin typeface="Arial"/>
            </a:endParaRPr>
          </a:p>
        </p:txBody>
      </p:sp>
      <p:sp>
        <p:nvSpPr>
          <p:cNvPr id="843" name="Rounded Rectangle 7"/>
          <p:cNvSpPr/>
          <p:nvPr/>
        </p:nvSpPr>
        <p:spPr>
          <a:xfrm>
            <a:off x="77724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4" name="Rectangle 8"/>
          <p:cNvSpPr/>
          <p:nvPr/>
        </p:nvSpPr>
        <p:spPr>
          <a:xfrm>
            <a:off x="100584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Track paths, cut off cycles, and you will eventually reach every state reachable from the initial state. Completeness is straightforward.</a:t>
            </a:r>
            <a:endParaRPr lang="en-US" sz="1350" b="0" u="none" strike="noStrike">
              <a:solidFill>
                <a:srgbClr val="000000"/>
              </a:solidFill>
              <a:effectLst/>
              <a:uFillTx/>
              <a:latin typeface="Arial"/>
            </a:endParaRPr>
          </a:p>
        </p:txBody>
      </p:sp>
      <p:sp>
        <p:nvSpPr>
          <p:cNvPr id="845" name="Rounded Rectangle 9"/>
          <p:cNvSpPr/>
          <p:nvPr/>
        </p:nvSpPr>
        <p:spPr>
          <a:xfrm>
            <a:off x="6385680" y="141732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Infinite state spaces</a:t>
            </a:r>
            <a:endParaRPr lang="en-US" sz="1450" b="0" u="none" strike="noStrike">
              <a:solidFill>
                <a:srgbClr val="000000"/>
              </a:solidFill>
              <a:effectLst/>
              <a:uFillTx/>
              <a:latin typeface="Arial"/>
            </a:endParaRPr>
          </a:p>
        </p:txBody>
      </p:sp>
      <p:sp>
        <p:nvSpPr>
          <p:cNvPr id="846" name="Rounded Rectangle 10"/>
          <p:cNvSpPr/>
          <p:nvPr/>
        </p:nvSpPr>
        <p:spPr>
          <a:xfrm>
            <a:off x="6385680" y="1874520"/>
            <a:ext cx="5028840" cy="100548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7" name="Rectangle 11"/>
          <p:cNvSpPr/>
          <p:nvPr/>
        </p:nvSpPr>
        <p:spPr>
          <a:xfrm>
            <a:off x="6614280" y="1965960"/>
            <a:ext cx="4571640" cy="822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An algorithm can generate a brand-new state on every step and still be incomplete, because whole regions are never reached.</a:t>
            </a:r>
            <a:endParaRPr lang="en-US" sz="1350" b="0" u="none" strike="noStrike">
              <a:solidFill>
                <a:srgbClr val="000000"/>
              </a:solidFill>
              <a:effectLst/>
              <a:uFillTx/>
              <a:latin typeface="Arial"/>
            </a:endParaRPr>
          </a:p>
        </p:txBody>
      </p:sp>
      <p:sp>
        <p:nvSpPr>
          <p:cNvPr id="848" name="Rounded Rectangle 12"/>
          <p:cNvSpPr/>
          <p:nvPr/>
        </p:nvSpPr>
        <p:spPr>
          <a:xfrm>
            <a:off x="777240" y="306324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49" name="Rectangle 13"/>
          <p:cNvSpPr/>
          <p:nvPr/>
        </p:nvSpPr>
        <p:spPr>
          <a:xfrm>
            <a:off x="960120" y="306324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Knuth's “4”</a:t>
            </a:r>
            <a:endParaRPr lang="en-US" sz="1300" b="0" u="none" strike="noStrike">
              <a:solidFill>
                <a:srgbClr val="000000"/>
              </a:solidFill>
              <a:effectLst/>
              <a:uFillTx/>
              <a:latin typeface="Arial"/>
            </a:endParaRPr>
          </a:p>
        </p:txBody>
      </p:sp>
      <p:sp>
        <p:nvSpPr>
          <p:cNvPr id="850" name="Rectangle 14"/>
          <p:cNvSpPr/>
          <p:nvPr/>
        </p:nvSpPr>
        <p:spPr>
          <a:xfrm>
            <a:off x="3063240" y="306324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4 → 4! → (4!)! → … every state is new, and almost nothing is ever reached</a:t>
            </a:r>
            <a:endParaRPr lang="en-US" sz="1300" b="0" u="none" strike="noStrike">
              <a:solidFill>
                <a:srgbClr val="000000"/>
              </a:solidFill>
              <a:effectLst/>
              <a:uFillTx/>
              <a:latin typeface="Arial"/>
            </a:endParaRPr>
          </a:p>
        </p:txBody>
      </p:sp>
      <p:sp>
        <p:nvSpPr>
          <p:cNvPr id="851" name="Rounded Rectangle 15"/>
          <p:cNvSpPr/>
          <p:nvPr/>
        </p:nvSpPr>
        <p:spPr>
          <a:xfrm>
            <a:off x="777240" y="3611880"/>
            <a:ext cx="10637280" cy="45684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852" name="Rectangle 16"/>
          <p:cNvSpPr/>
          <p:nvPr/>
        </p:nvSpPr>
        <p:spPr>
          <a:xfrm>
            <a:off x="960120" y="3611880"/>
            <a:ext cx="201132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9B1C1C"/>
                </a:solidFill>
                <a:effectLst/>
                <a:uFillTx/>
                <a:latin typeface="Aptos"/>
              </a:rPr>
              <a:t>Infinite grid</a:t>
            </a:r>
            <a:endParaRPr lang="en-US" sz="1300" b="0" u="none" strike="noStrike">
              <a:solidFill>
                <a:srgbClr val="000000"/>
              </a:solidFill>
              <a:effectLst/>
              <a:uFillTx/>
              <a:latin typeface="Arial"/>
            </a:endParaRPr>
          </a:p>
        </p:txBody>
      </p:sp>
      <p:sp>
        <p:nvSpPr>
          <p:cNvPr id="853" name="Rectangle 17"/>
          <p:cNvSpPr/>
          <p:nvPr/>
        </p:nvSpPr>
        <p:spPr>
          <a:xfrm>
            <a:off x="3063240" y="3611880"/>
            <a:ext cx="8137800" cy="4568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0" u="none" strike="noStrike">
                <a:solidFill>
                  <a:srgbClr val="102A4C"/>
                </a:solidFill>
                <a:effectLst/>
                <a:uFillTx/>
                <a:latin typeface="Aptos"/>
              </a:rPr>
              <a:t>walk north forever: no repeats, no cycles, no coverage</a:t>
            </a:r>
            <a:endParaRPr lang="en-US" sz="1300" b="0" u="none" strike="noStrike">
              <a:solidFill>
                <a:srgbClr val="000000"/>
              </a:solidFill>
              <a:effectLst/>
              <a:uFillTx/>
              <a:latin typeface="Arial"/>
            </a:endParaRPr>
          </a:p>
        </p:txBody>
      </p:sp>
      <p:sp>
        <p:nvSpPr>
          <p:cNvPr id="854" name="Rectangle 18"/>
          <p:cNvSpPr/>
          <p:nvPr/>
        </p:nvSpPr>
        <p:spPr>
          <a:xfrm>
            <a:off x="914400" y="4297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To be complete, a search must be systematic: it must eventually reach any state connected to the initial state.</a:t>
            </a:r>
            <a:endParaRPr lang="en-US" sz="1700" b="0" u="none" strike="noStrike">
              <a:solidFill>
                <a:srgbClr val="000000"/>
              </a:solidFill>
              <a:effectLst/>
              <a:uFillTx/>
              <a:latin typeface="Arial"/>
            </a:endParaRPr>
          </a:p>
        </p:txBody>
      </p:sp>
      <p:sp>
        <p:nvSpPr>
          <p:cNvPr id="855" name="Rectangle 19"/>
          <p:cNvSpPr/>
          <p:nvPr/>
        </p:nvSpPr>
        <p:spPr>
          <a:xfrm>
            <a:off x="914400" y="4892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50" b="0" u="none" strike="noStrike">
                <a:solidFill>
                  <a:srgbClr val="5C6B80"/>
                </a:solidFill>
                <a:effectLst/>
                <a:uFillTx/>
                <a:latin typeface="Aptos"/>
              </a:rPr>
              <a:t>On an infinite grid, one systematic order is an outward spiral — cover every cell s steps away before moving to s + 1.</a:t>
            </a:r>
            <a:endParaRPr lang="en-US" sz="1450" b="0" u="none" strike="noStrike">
              <a:solidFill>
                <a:srgbClr val="000000"/>
              </a:solidFill>
              <a:effectLst/>
              <a:uFillTx/>
              <a:latin typeface="Arial"/>
            </a:endParaRPr>
          </a:p>
        </p:txBody>
      </p:sp>
      <p:sp>
        <p:nvSpPr>
          <p:cNvPr id="856" name="Rectangle 20"/>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And in an infinite space with no solution, a sound algorithm can never terminate: it cannot rule out that the next state is a goal.</a:t>
            </a:r>
            <a:endParaRPr lang="en-US" sz="15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2E5C"/>
        </a:solidFill>
        <a:effectLst/>
      </p:bgPr>
    </p:bg>
    <p:spTree>
      <p:nvGrpSpPr>
        <p:cNvPr id="1" name=""/>
        <p:cNvGrpSpPr/>
        <p:nvPr/>
      </p:nvGrpSpPr>
      <p:grpSpPr>
        <a:xfrm>
          <a:off x="0" y="0"/>
          <a:ext cx="0" cy="0"/>
          <a:chOff x="0" y="0"/>
          <a:chExt cx="0" cy="0"/>
        </a:xfrm>
      </p:grpSpPr>
      <p:sp>
        <p:nvSpPr>
          <p:cNvPr id="857" name="Shape 0"/>
          <p:cNvSpPr/>
          <p:nvPr/>
        </p:nvSpPr>
        <p:spPr>
          <a:xfrm>
            <a:off x="0" y="0"/>
            <a:ext cx="12191400" cy="685764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8" name="Shape 1"/>
          <p:cNvSpPr/>
          <p:nvPr/>
        </p:nvSpPr>
        <p:spPr>
          <a:xfrm>
            <a:off x="0" y="5440680"/>
            <a:ext cx="12191400" cy="10944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9" name="Text 2"/>
          <p:cNvSpPr/>
          <p:nvPr/>
        </p:nvSpPr>
        <p:spPr>
          <a:xfrm>
            <a:off x="914400" y="2240280"/>
            <a:ext cx="1033236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3600" b="1" u="none" strike="noStrike">
                <a:solidFill>
                  <a:srgbClr val="FFFFFF"/>
                </a:solidFill>
                <a:effectLst/>
                <a:uFillTx/>
                <a:latin typeface="Aptos"/>
              </a:rPr>
              <a:t>Section 3.4</a:t>
            </a:r>
            <a:endParaRPr lang="en-US" sz="3600" b="0" u="none" strike="noStrike">
              <a:solidFill>
                <a:srgbClr val="FFFFFF"/>
              </a:solidFill>
              <a:effectLst/>
              <a:uFillTx/>
              <a:latin typeface="Arial"/>
            </a:endParaRPr>
          </a:p>
        </p:txBody>
      </p:sp>
      <p:sp>
        <p:nvSpPr>
          <p:cNvPr id="860" name="Text 3"/>
          <p:cNvSpPr/>
          <p:nvPr/>
        </p:nvSpPr>
        <p:spPr>
          <a:xfrm>
            <a:off x="914400" y="2971800"/>
            <a:ext cx="10332360" cy="3654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900" b="0" u="none" strike="noStrike">
                <a:solidFill>
                  <a:srgbClr val="DCE8FF"/>
                </a:solidFill>
                <a:effectLst/>
                <a:uFillTx/>
                <a:latin typeface="Aptos"/>
              </a:rPr>
              <a:t>Uninformed Search Strategies</a:t>
            </a:r>
            <a:endParaRPr lang="en-US" sz="1900" b="0" u="none" strike="noStrike">
              <a:solidFill>
                <a:srgbClr val="FFFFFF"/>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861"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62"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863"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Breadth-First Search (BFS)</a:t>
            </a:r>
            <a:endParaRPr lang="en-US" sz="2600" b="0" u="none" strike="noStrike" dirty="0">
              <a:solidFill>
                <a:srgbClr val="000000"/>
              </a:solidFill>
              <a:effectLst/>
              <a:uFillTx/>
              <a:latin typeface="Arial"/>
            </a:endParaRPr>
          </a:p>
        </p:txBody>
      </p:sp>
      <p:sp>
        <p:nvSpPr>
          <p:cNvPr id="864"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865"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866" name="Text 5"/>
          <p:cNvSpPr/>
          <p:nvPr/>
        </p:nvSpPr>
        <p:spPr>
          <a:xfrm>
            <a:off x="492760" y="19062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867" name="Text 6"/>
          <p:cNvSpPr/>
          <p:nvPr/>
        </p:nvSpPr>
        <p:spPr>
          <a:xfrm>
            <a:off x="2550160" y="1951990"/>
            <a:ext cx="420588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shallowest node first.</a:t>
            </a:r>
            <a:endParaRPr lang="en-US" sz="1700" b="0" u="none" strike="noStrike">
              <a:solidFill>
                <a:srgbClr val="000000"/>
              </a:solidFill>
              <a:effectLst/>
              <a:uFillTx/>
              <a:latin typeface="Arial"/>
            </a:endParaRPr>
          </a:p>
        </p:txBody>
      </p:sp>
      <p:sp>
        <p:nvSpPr>
          <p:cNvPr id="868" name="Text 7"/>
          <p:cNvSpPr/>
          <p:nvPr/>
        </p:nvSpPr>
        <p:spPr>
          <a:xfrm>
            <a:off x="492760" y="27292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869" name="Text 8"/>
          <p:cNvSpPr/>
          <p:nvPr/>
        </p:nvSpPr>
        <p:spPr>
          <a:xfrm>
            <a:off x="2550160" y="2774950"/>
            <a:ext cx="43887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FIFO queue: oldest generated nodes expand first.</a:t>
            </a:r>
            <a:endParaRPr lang="en-US" sz="1600" b="0" u="none" strike="noStrike">
              <a:solidFill>
                <a:srgbClr val="000000"/>
              </a:solidFill>
              <a:effectLst/>
              <a:uFillTx/>
              <a:latin typeface="Arial"/>
            </a:endParaRPr>
          </a:p>
        </p:txBody>
      </p:sp>
      <p:sp>
        <p:nvSpPr>
          <p:cNvPr id="870" name="Text 9"/>
          <p:cNvSpPr/>
          <p:nvPr/>
        </p:nvSpPr>
        <p:spPr>
          <a:xfrm>
            <a:off x="492760" y="35521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Guarantees</a:t>
            </a:r>
            <a:endParaRPr lang="en-US" sz="1600" b="0" u="none" strike="noStrike">
              <a:solidFill>
                <a:srgbClr val="000000"/>
              </a:solidFill>
              <a:effectLst/>
              <a:uFillTx/>
              <a:latin typeface="Arial"/>
            </a:endParaRPr>
          </a:p>
        </p:txBody>
      </p:sp>
      <p:sp>
        <p:nvSpPr>
          <p:cNvPr id="871" name="Text 10"/>
          <p:cNvSpPr/>
          <p:nvPr/>
        </p:nvSpPr>
        <p:spPr>
          <a:xfrm>
            <a:off x="2550160" y="3597910"/>
            <a:ext cx="5028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85000" lnSpcReduction="9999"/>
          </a:bodyPr>
          <a:lstStyle/>
          <a:p>
            <a:pPr defTabSz="914400">
              <a:lnSpc>
                <a:spcPct val="100000"/>
              </a:lnSpc>
              <a:tabLst>
                <a:tab pos="0" algn="l"/>
              </a:tabLst>
            </a:pPr>
            <a:r>
              <a:rPr lang="en-US" sz="1600" b="0" u="none" strike="noStrike">
                <a:solidFill>
                  <a:srgbClr val="102A4C"/>
                </a:solidFill>
                <a:effectLst/>
                <a:uFillTx/>
                <a:latin typeface="Aptos"/>
              </a:rPr>
              <a:t>Complete; cost-optimal only when all actions have equal cost.</a:t>
            </a:r>
            <a:endParaRPr lang="en-US" sz="1600" b="0" u="none" strike="noStrike">
              <a:solidFill>
                <a:srgbClr val="000000"/>
              </a:solidFill>
              <a:effectLst/>
              <a:uFillTx/>
              <a:latin typeface="Arial"/>
            </a:endParaRPr>
          </a:p>
        </p:txBody>
      </p:sp>
      <p:sp>
        <p:nvSpPr>
          <p:cNvPr id="872" name="Shape 11"/>
          <p:cNvSpPr/>
          <p:nvPr/>
        </p:nvSpPr>
        <p:spPr>
          <a:xfrm flipH="1">
            <a:off x="8530070" y="18817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3" name="Shape 12"/>
          <p:cNvSpPr/>
          <p:nvPr/>
        </p:nvSpPr>
        <p:spPr>
          <a:xfrm>
            <a:off x="9885470" y="18817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4" name="Shape 13"/>
          <p:cNvSpPr/>
          <p:nvPr/>
        </p:nvSpPr>
        <p:spPr>
          <a:xfrm>
            <a:off x="9885470" y="18817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5" name="Shape 14"/>
          <p:cNvSpPr/>
          <p:nvPr/>
        </p:nvSpPr>
        <p:spPr>
          <a:xfrm flipH="1">
            <a:off x="792383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6" name="Shape 15"/>
          <p:cNvSpPr/>
          <p:nvPr/>
        </p:nvSpPr>
        <p:spPr>
          <a:xfrm>
            <a:off x="853007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7" name="Shape 16"/>
          <p:cNvSpPr/>
          <p:nvPr/>
        </p:nvSpPr>
        <p:spPr>
          <a:xfrm>
            <a:off x="8530070" y="25236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8" name="Shape 17"/>
          <p:cNvSpPr/>
          <p:nvPr/>
        </p:nvSpPr>
        <p:spPr>
          <a:xfrm flipH="1">
            <a:off x="9493070" y="25236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79" name="Shape 18"/>
          <p:cNvSpPr/>
          <p:nvPr/>
        </p:nvSpPr>
        <p:spPr>
          <a:xfrm>
            <a:off x="9885470" y="25236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0" name="Shape 19"/>
          <p:cNvSpPr/>
          <p:nvPr/>
        </p:nvSpPr>
        <p:spPr>
          <a:xfrm>
            <a:off x="11240510" y="25236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1" name="Shape 20"/>
          <p:cNvSpPr/>
          <p:nvPr/>
        </p:nvSpPr>
        <p:spPr>
          <a:xfrm flipH="1">
            <a:off x="770999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2" name="Shape 21"/>
          <p:cNvSpPr/>
          <p:nvPr/>
        </p:nvSpPr>
        <p:spPr>
          <a:xfrm flipH="1">
            <a:off x="831623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3" name="Shape 22"/>
          <p:cNvSpPr/>
          <p:nvPr/>
        </p:nvSpPr>
        <p:spPr>
          <a:xfrm flipH="1">
            <a:off x="8922470" y="32011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4" name="Shape 23"/>
          <p:cNvSpPr/>
          <p:nvPr/>
        </p:nvSpPr>
        <p:spPr>
          <a:xfrm>
            <a:off x="9136310" y="320112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5" name="Shape 24"/>
          <p:cNvSpPr/>
          <p:nvPr/>
        </p:nvSpPr>
        <p:spPr>
          <a:xfrm>
            <a:off x="9493070" y="320112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6" name="Shape 25"/>
          <p:cNvSpPr/>
          <p:nvPr/>
        </p:nvSpPr>
        <p:spPr>
          <a:xfrm>
            <a:off x="9493070" y="320112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7" name="Shape 26"/>
          <p:cNvSpPr/>
          <p:nvPr/>
        </p:nvSpPr>
        <p:spPr>
          <a:xfrm>
            <a:off x="10277510" y="320112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8" name="Shape 27"/>
          <p:cNvSpPr/>
          <p:nvPr/>
        </p:nvSpPr>
        <p:spPr>
          <a:xfrm flipH="1">
            <a:off x="10634270" y="380736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89" name="Shape 28"/>
          <p:cNvSpPr/>
          <p:nvPr/>
        </p:nvSpPr>
        <p:spPr>
          <a:xfrm>
            <a:off x="10848110" y="380736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890" name="Text 29"/>
          <p:cNvSpPr/>
          <p:nvPr/>
        </p:nvSpPr>
        <p:spPr>
          <a:xfrm>
            <a:off x="9739310" y="17355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891" name="Text 30"/>
          <p:cNvSpPr/>
          <p:nvPr/>
        </p:nvSpPr>
        <p:spPr>
          <a:xfrm>
            <a:off x="83839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892" name="Text 31"/>
          <p:cNvSpPr/>
          <p:nvPr/>
        </p:nvSpPr>
        <p:spPr>
          <a:xfrm>
            <a:off x="973931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3" name="Text 32"/>
          <p:cNvSpPr/>
          <p:nvPr/>
        </p:nvSpPr>
        <p:spPr>
          <a:xfrm>
            <a:off x="11094350" y="237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894" name="Text 33"/>
          <p:cNvSpPr/>
          <p:nvPr/>
        </p:nvSpPr>
        <p:spPr>
          <a:xfrm>
            <a:off x="777767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895" name="Text 34"/>
          <p:cNvSpPr/>
          <p:nvPr/>
        </p:nvSpPr>
        <p:spPr>
          <a:xfrm>
            <a:off x="8383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896" name="Text 35"/>
          <p:cNvSpPr/>
          <p:nvPr/>
        </p:nvSpPr>
        <p:spPr>
          <a:xfrm>
            <a:off x="89905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897" name="Text 36"/>
          <p:cNvSpPr/>
          <p:nvPr/>
        </p:nvSpPr>
        <p:spPr>
          <a:xfrm>
            <a:off x="934691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898" name="Text 37"/>
          <p:cNvSpPr/>
          <p:nvPr/>
        </p:nvSpPr>
        <p:spPr>
          <a:xfrm>
            <a:off x="10131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899" name="Text 38"/>
          <p:cNvSpPr/>
          <p:nvPr/>
        </p:nvSpPr>
        <p:spPr>
          <a:xfrm>
            <a:off x="11094350" y="3054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0" name="Text 39"/>
          <p:cNvSpPr/>
          <p:nvPr/>
        </p:nvSpPr>
        <p:spPr>
          <a:xfrm>
            <a:off x="75638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1" name="Text 40"/>
          <p:cNvSpPr/>
          <p:nvPr/>
        </p:nvSpPr>
        <p:spPr>
          <a:xfrm>
            <a:off x="81700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902" name="Text 41"/>
          <p:cNvSpPr/>
          <p:nvPr/>
        </p:nvSpPr>
        <p:spPr>
          <a:xfrm>
            <a:off x="877631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03" name="Text 42"/>
          <p:cNvSpPr/>
          <p:nvPr/>
        </p:nvSpPr>
        <p:spPr>
          <a:xfrm>
            <a:off x="93825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04" name="Text 43"/>
          <p:cNvSpPr/>
          <p:nvPr/>
        </p:nvSpPr>
        <p:spPr>
          <a:xfrm>
            <a:off x="984623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05" name="Text 44"/>
          <p:cNvSpPr/>
          <p:nvPr/>
        </p:nvSpPr>
        <p:spPr>
          <a:xfrm>
            <a:off x="1027427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06" name="Text 45"/>
          <p:cNvSpPr/>
          <p:nvPr/>
        </p:nvSpPr>
        <p:spPr>
          <a:xfrm>
            <a:off x="10701950" y="36612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907" name="Text 46"/>
          <p:cNvSpPr/>
          <p:nvPr/>
        </p:nvSpPr>
        <p:spPr>
          <a:xfrm>
            <a:off x="1048811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08" name="Text 47"/>
          <p:cNvSpPr/>
          <p:nvPr/>
        </p:nvSpPr>
        <p:spPr>
          <a:xfrm>
            <a:off x="10987430" y="42674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909" name="Text 48"/>
          <p:cNvSpPr/>
          <p:nvPr/>
        </p:nvSpPr>
        <p:spPr>
          <a:xfrm>
            <a:off x="7909560" y="5074920"/>
            <a:ext cx="27428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Layer by layer</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0"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1"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12"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1: Start at Depth 0</a:t>
            </a:r>
            <a:endParaRPr lang="en-US" sz="2600" b="0" u="none" strike="noStrike">
              <a:solidFill>
                <a:srgbClr val="000000"/>
              </a:solidFill>
              <a:effectLst/>
              <a:uFillTx/>
              <a:latin typeface="Arial"/>
            </a:endParaRPr>
          </a:p>
        </p:txBody>
      </p:sp>
      <p:sp>
        <p:nvSpPr>
          <p:cNvPr id="913"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14"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15" name="Text 5"/>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16" name="Text 6"/>
          <p:cNvSpPr/>
          <p:nvPr/>
        </p:nvSpPr>
        <p:spPr>
          <a:xfrm>
            <a:off x="7315200" y="2057400"/>
            <a:ext cx="3291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[S]</a:t>
            </a:r>
            <a:endParaRPr lang="en-US" sz="1800" b="0" u="none" strike="noStrike">
              <a:solidFill>
                <a:srgbClr val="000000"/>
              </a:solidFill>
              <a:effectLst/>
              <a:uFillTx/>
              <a:latin typeface="Arial"/>
            </a:endParaRPr>
          </a:p>
        </p:txBody>
      </p:sp>
      <p:sp>
        <p:nvSpPr>
          <p:cNvPr id="917" name="Text 7"/>
          <p:cNvSpPr/>
          <p:nvPr/>
        </p:nvSpPr>
        <p:spPr>
          <a:xfrm>
            <a:off x="7315200" y="2971800"/>
            <a:ext cx="329148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BFS starts with the root node.</a:t>
            </a:r>
            <a:endParaRPr lang="en-US" sz="16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1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2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2: Expand Depth 1</a:t>
            </a:r>
            <a:endParaRPr lang="en-US" sz="2600" b="0" u="none" strike="noStrike">
              <a:solidFill>
                <a:srgbClr val="000000"/>
              </a:solidFill>
              <a:effectLst/>
              <a:uFillTx/>
              <a:latin typeface="Arial"/>
            </a:endParaRPr>
          </a:p>
        </p:txBody>
      </p:sp>
      <p:sp>
        <p:nvSpPr>
          <p:cNvPr id="92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2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23" name="Shape 5"/>
          <p:cNvSpPr/>
          <p:nvPr/>
        </p:nvSpPr>
        <p:spPr>
          <a:xfrm flipH="1">
            <a:off x="3540240" y="169884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4" name="Shape 6"/>
          <p:cNvSpPr/>
          <p:nvPr/>
        </p:nvSpPr>
        <p:spPr>
          <a:xfrm>
            <a:off x="4895640" y="16988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5" name="Shape 7"/>
          <p:cNvSpPr/>
          <p:nvPr/>
        </p:nvSpPr>
        <p:spPr>
          <a:xfrm>
            <a:off x="4895640" y="16988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26" name="Text 8"/>
          <p:cNvSpPr/>
          <p:nvPr/>
        </p:nvSpPr>
        <p:spPr>
          <a:xfrm>
            <a:off x="4749480" y="15526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27" name="Text 9"/>
          <p:cNvSpPr/>
          <p:nvPr/>
        </p:nvSpPr>
        <p:spPr>
          <a:xfrm>
            <a:off x="33940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28" name="Text 10"/>
          <p:cNvSpPr/>
          <p:nvPr/>
        </p:nvSpPr>
        <p:spPr>
          <a:xfrm>
            <a:off x="474948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29" name="Text 11"/>
          <p:cNvSpPr/>
          <p:nvPr/>
        </p:nvSpPr>
        <p:spPr>
          <a:xfrm>
            <a:off x="6104520" y="21945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30" name="Text 12"/>
          <p:cNvSpPr/>
          <p:nvPr/>
        </p:nvSpPr>
        <p:spPr>
          <a:xfrm>
            <a:off x="7132320" y="1920240"/>
            <a:ext cx="365724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800" b="1" u="none" strike="noStrike">
                <a:solidFill>
                  <a:srgbClr val="2F7FD5"/>
                </a:solidFill>
                <a:effectLst/>
                <a:uFillTx/>
                <a:latin typeface="Aptos"/>
              </a:rPr>
              <a:t>Frontier = [d, e, p]</a:t>
            </a:r>
            <a:endParaRPr lang="en-US" sz="1800" b="0" u="none" strike="noStrike">
              <a:solidFill>
                <a:srgbClr val="000000"/>
              </a:solidFill>
              <a:effectLst/>
              <a:uFillTx/>
              <a:latin typeface="Arial"/>
            </a:endParaRPr>
          </a:p>
        </p:txBody>
      </p:sp>
      <p:sp>
        <p:nvSpPr>
          <p:cNvPr id="931" name="Text 13"/>
          <p:cNvSpPr/>
          <p:nvPr/>
        </p:nvSpPr>
        <p:spPr>
          <a:xfrm>
            <a:off x="7086600" y="2880360"/>
            <a:ext cx="3748680" cy="7311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The children of S are added to the back of the FIFO queue.</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32"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33"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34"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BFS Build 3: Expand by Tiers</a:t>
            </a:r>
            <a:endParaRPr lang="en-US" sz="2600" b="0" u="none" strike="noStrike">
              <a:solidFill>
                <a:srgbClr val="000000"/>
              </a:solidFill>
              <a:effectLst/>
              <a:uFillTx/>
              <a:latin typeface="Arial"/>
            </a:endParaRPr>
          </a:p>
        </p:txBody>
      </p:sp>
      <p:sp>
        <p:nvSpPr>
          <p:cNvPr id="935"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36"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37" name="Shape 5"/>
          <p:cNvSpPr/>
          <p:nvPr/>
        </p:nvSpPr>
        <p:spPr>
          <a:xfrm flipH="1">
            <a:off x="3540240" y="1653120"/>
            <a:ext cx="135540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8" name="Shape 6"/>
          <p:cNvSpPr/>
          <p:nvPr/>
        </p:nvSpPr>
        <p:spPr>
          <a:xfrm>
            <a:off x="4895640" y="165312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39" name="Shape 7"/>
          <p:cNvSpPr/>
          <p:nvPr/>
        </p:nvSpPr>
        <p:spPr>
          <a:xfrm>
            <a:off x="4895640" y="165312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0" name="Shape 8"/>
          <p:cNvSpPr/>
          <p:nvPr/>
        </p:nvSpPr>
        <p:spPr>
          <a:xfrm flipH="1">
            <a:off x="293400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1" name="Shape 9"/>
          <p:cNvSpPr/>
          <p:nvPr/>
        </p:nvSpPr>
        <p:spPr>
          <a:xfrm>
            <a:off x="354024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2" name="Shape 10"/>
          <p:cNvSpPr/>
          <p:nvPr/>
        </p:nvSpPr>
        <p:spPr>
          <a:xfrm>
            <a:off x="3540240" y="229500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3" name="Shape 11"/>
          <p:cNvSpPr/>
          <p:nvPr/>
        </p:nvSpPr>
        <p:spPr>
          <a:xfrm flipH="1">
            <a:off x="4503240" y="229500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4" name="Shape 12"/>
          <p:cNvSpPr/>
          <p:nvPr/>
        </p:nvSpPr>
        <p:spPr>
          <a:xfrm>
            <a:off x="4895640" y="229500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5" name="Shape 13"/>
          <p:cNvSpPr/>
          <p:nvPr/>
        </p:nvSpPr>
        <p:spPr>
          <a:xfrm>
            <a:off x="6250680" y="229500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946" name="Text 14"/>
          <p:cNvSpPr/>
          <p:nvPr/>
        </p:nvSpPr>
        <p:spPr>
          <a:xfrm>
            <a:off x="4749480" y="15069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947" name="Text 15"/>
          <p:cNvSpPr/>
          <p:nvPr/>
        </p:nvSpPr>
        <p:spPr>
          <a:xfrm>
            <a:off x="33940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948" name="Text 16"/>
          <p:cNvSpPr/>
          <p:nvPr/>
        </p:nvSpPr>
        <p:spPr>
          <a:xfrm>
            <a:off x="474948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49" name="Text 17"/>
          <p:cNvSpPr/>
          <p:nvPr/>
        </p:nvSpPr>
        <p:spPr>
          <a:xfrm>
            <a:off x="6104520" y="2148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950" name="Text 18"/>
          <p:cNvSpPr/>
          <p:nvPr/>
        </p:nvSpPr>
        <p:spPr>
          <a:xfrm>
            <a:off x="278784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951" name="Text 19"/>
          <p:cNvSpPr/>
          <p:nvPr/>
        </p:nvSpPr>
        <p:spPr>
          <a:xfrm>
            <a:off x="3394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952" name="Text 20"/>
          <p:cNvSpPr/>
          <p:nvPr/>
        </p:nvSpPr>
        <p:spPr>
          <a:xfrm>
            <a:off x="40006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953" name="Text 21"/>
          <p:cNvSpPr/>
          <p:nvPr/>
        </p:nvSpPr>
        <p:spPr>
          <a:xfrm>
            <a:off x="435708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954" name="Text 22"/>
          <p:cNvSpPr/>
          <p:nvPr/>
        </p:nvSpPr>
        <p:spPr>
          <a:xfrm>
            <a:off x="5141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955" name="Text 23"/>
          <p:cNvSpPr/>
          <p:nvPr/>
        </p:nvSpPr>
        <p:spPr>
          <a:xfrm>
            <a:off x="6104520" y="28263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956" name="Text 24"/>
          <p:cNvSpPr/>
          <p:nvPr/>
        </p:nvSpPr>
        <p:spPr>
          <a:xfrm>
            <a:off x="7040880" y="2011680"/>
            <a:ext cx="3840120" cy="594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lnSpcReduction="10000"/>
          </a:bodyPr>
          <a:lstStyle/>
          <a:p>
            <a:pPr algn="ctr" defTabSz="914400">
              <a:lnSpc>
                <a:spcPct val="100000"/>
              </a:lnSpc>
              <a:tabLst>
                <a:tab pos="0" algn="l"/>
              </a:tabLst>
            </a:pPr>
            <a:r>
              <a:rPr lang="en-US" sz="2000" b="1" u="none" strike="noStrike">
                <a:solidFill>
                  <a:srgbClr val="112E5C"/>
                </a:solidFill>
                <a:effectLst/>
                <a:uFillTx/>
                <a:latin typeface="Aptos"/>
              </a:rPr>
              <a:t>BFS finishes one entire tier before moving deeper.</a:t>
            </a:r>
            <a:endParaRPr lang="en-US" sz="2000" b="0" u="none" strike="noStrike">
              <a:solidFill>
                <a:srgbClr val="000000"/>
              </a:solidFill>
              <a:effectLst/>
              <a:uFillTx/>
              <a:latin typeface="Arial"/>
            </a:endParaRPr>
          </a:p>
        </p:txBody>
      </p:sp>
      <p:sp>
        <p:nvSpPr>
          <p:cNvPr id="957" name="Text 25"/>
          <p:cNvSpPr/>
          <p:nvPr/>
        </p:nvSpPr>
        <p:spPr>
          <a:xfrm>
            <a:off x="7040880" y="2971800"/>
            <a:ext cx="38858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This gives completeness and fewest-action optimality, but the frontier can become extremely large.</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58"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59"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60"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dirty="0">
                <a:solidFill>
                  <a:srgbClr val="FFFFFF"/>
                </a:solidFill>
                <a:effectLst/>
                <a:uFillTx/>
                <a:latin typeface="Aptos"/>
              </a:rPr>
              <a:t>Breath-Frist Search</a:t>
            </a:r>
            <a:endParaRPr lang="en-US" sz="2600" b="0" u="none" strike="noStrike" dirty="0">
              <a:solidFill>
                <a:srgbClr val="000000"/>
              </a:solidFill>
              <a:effectLst/>
              <a:uFillTx/>
              <a:latin typeface="Arial"/>
            </a:endParaRPr>
          </a:p>
        </p:txBody>
      </p:sp>
      <p:sp>
        <p:nvSpPr>
          <p:cNvPr id="961"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62"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4A884947-E876-7015-FD6C-9F4A660705BB}"/>
              </a:ext>
            </a:extLst>
          </p:cNvPr>
          <p:cNvPicPr>
            <a:picLocks noChangeAspect="1"/>
          </p:cNvPicPr>
          <p:nvPr/>
        </p:nvPicPr>
        <p:blipFill>
          <a:blip r:embed="rId3"/>
          <a:stretch>
            <a:fillRect/>
          </a:stretch>
        </p:blipFill>
        <p:spPr>
          <a:xfrm>
            <a:off x="2019300" y="1128450"/>
            <a:ext cx="7943850" cy="52959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324718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000" b="1" u="none" strike="noStrike" dirty="0">
                <a:solidFill>
                  <a:srgbClr val="F6A01A"/>
                </a:solidFill>
                <a:effectLst/>
                <a:uFillTx/>
                <a:latin typeface="Consolas"/>
              </a:rPr>
              <a:t>function</a:t>
            </a:r>
            <a:r>
              <a:rPr lang="en-US" sz="1000" b="0" u="none" strike="noStrike" dirty="0">
                <a:solidFill>
                  <a:srgbClr val="EAF2FF"/>
                </a:solidFill>
                <a:effectLst/>
                <a:uFillTx/>
                <a:latin typeface="Consolas"/>
              </a:rPr>
              <a:t> BREADTH-FIRST-SEARCH(problem) </a:t>
            </a:r>
            <a:r>
              <a:rPr lang="en-US" sz="1000" b="1" u="none" strike="noStrike" dirty="0">
                <a:solidFill>
                  <a:srgbClr val="F6A01A"/>
                </a:solidFill>
                <a:effectLst/>
                <a:uFillTx/>
                <a:latin typeface="Consolas"/>
              </a:rPr>
              <a:t>returns</a:t>
            </a:r>
            <a:r>
              <a:rPr lang="en-US" sz="1000" b="0" u="none" strike="noStrike" dirty="0">
                <a:solidFill>
                  <a:srgbClr val="EAF2FF"/>
                </a:solidFill>
                <a:effectLst/>
                <a:uFillTx/>
                <a:latin typeface="Consolas"/>
              </a:rPr>
              <a:t> a solution node </a:t>
            </a:r>
            <a:r>
              <a:rPr lang="en-US" sz="1000" b="1" u="none" strike="noStrike" dirty="0">
                <a:solidFill>
                  <a:srgbClr val="F6A01A"/>
                </a:solidFill>
                <a:effectLst/>
                <a:uFillTx/>
                <a:latin typeface="Consolas"/>
              </a:rPr>
              <a:t>or</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NODE(problem.INITIAL)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problem.IS-GOAL(node.STATE)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node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frontier ← a FIFO queue, with node as an element</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reached ← {problem.INITIAL}</a:t>
            </a:r>
            <a:endParaRPr lang="en-US" sz="1000" b="0" u="none" strike="noStrike" dirty="0">
              <a:solidFill>
                <a:srgbClr val="000000"/>
              </a:solidFill>
              <a:effectLst/>
              <a:uFillTx/>
              <a:latin typeface="Arial"/>
            </a:endParaRPr>
          </a:p>
          <a:p>
            <a:pPr algn="l" defTabSz="914400">
              <a:lnSpc>
                <a:spcPct val="100000"/>
              </a:lnSpc>
              <a:spcAft>
                <a:spcPts val="120"/>
              </a:spcAft>
              <a:buNone/>
            </a:pP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while</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IS-EMPTY(frontier)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node ← POP(frontier)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for</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each</a:t>
            </a:r>
            <a:r>
              <a:rPr lang="en-US" sz="1000" b="0" u="none" strike="noStrike" dirty="0">
                <a:solidFill>
                  <a:srgbClr val="EAF2FF"/>
                </a:solidFill>
                <a:effectLst/>
                <a:uFillTx/>
                <a:latin typeface="Consolas"/>
              </a:rPr>
              <a:t> child in EXPAND(problem, node) </a:t>
            </a:r>
            <a:r>
              <a:rPr lang="en-US" sz="1000" b="1" u="none" strike="noStrike" dirty="0">
                <a:solidFill>
                  <a:srgbClr val="F6A01A"/>
                </a:solidFill>
                <a:effectLst/>
                <a:uFillTx/>
                <a:latin typeface="Consolas"/>
              </a:rPr>
              <a:t>do</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s ← child.STATE</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problem.IS-GOAL(s) </a:t>
            </a:r>
            <a:r>
              <a:rPr lang="en-US" sz="1000" b="1" u="none" strike="noStrike" dirty="0">
                <a:solidFill>
                  <a:srgbClr val="F6A01A"/>
                </a:solidFill>
                <a:effectLst/>
                <a:uFillTx/>
                <a:latin typeface="Consolas"/>
              </a:rPr>
              <a:t>then</a:t>
            </a: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child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if</a:t>
            </a:r>
            <a:r>
              <a:rPr lang="en-US" sz="1000" b="0" u="none" strike="noStrike" dirty="0">
                <a:solidFill>
                  <a:srgbClr val="EAF2FF"/>
                </a:solidFill>
                <a:effectLst/>
                <a:uFillTx/>
                <a:latin typeface="Consolas"/>
              </a:rPr>
              <a:t> s is </a:t>
            </a:r>
            <a:r>
              <a:rPr lang="en-US" sz="1000" b="1" u="none" strike="noStrike" dirty="0">
                <a:solidFill>
                  <a:srgbClr val="F6A01A"/>
                </a:solidFill>
                <a:effectLst/>
                <a:uFillTx/>
                <a:latin typeface="Consolas"/>
              </a:rPr>
              <a:t>not</a:t>
            </a:r>
            <a:r>
              <a:rPr lang="en-US" sz="1000" b="0" u="none" strike="noStrike" dirty="0">
                <a:solidFill>
                  <a:srgbClr val="EAF2FF"/>
                </a:solidFill>
                <a:effectLst/>
                <a:uFillTx/>
                <a:latin typeface="Consolas"/>
              </a:rPr>
              <a:t> in reached </a:t>
            </a:r>
            <a:r>
              <a:rPr lang="en-US" sz="1000" b="1" u="none" strike="noStrike" dirty="0">
                <a:solidFill>
                  <a:srgbClr val="F6A01A"/>
                </a:solidFill>
                <a:effectLst/>
                <a:uFillTx/>
                <a:latin typeface="Consolas"/>
              </a:rPr>
              <a:t>then</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s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reached</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add child </a:t>
            </a:r>
            <a:r>
              <a:rPr lang="en-US" sz="1000" b="1" u="none" strike="noStrike" dirty="0">
                <a:solidFill>
                  <a:srgbClr val="F6A01A"/>
                </a:solidFill>
                <a:effectLst/>
                <a:uFillTx/>
                <a:latin typeface="Consolas"/>
              </a:rPr>
              <a:t>to</a:t>
            </a:r>
            <a:r>
              <a:rPr lang="en-US" sz="1000" b="0" u="none" strike="noStrike" dirty="0">
                <a:solidFill>
                  <a:srgbClr val="EAF2FF"/>
                </a:solidFill>
                <a:effectLst/>
                <a:uFillTx/>
                <a:latin typeface="Consolas"/>
              </a:rPr>
              <a:t> frontier</a:t>
            </a:r>
            <a:endParaRPr lang="en-US" sz="1000" b="0" u="none" strike="noStrike" dirty="0">
              <a:solidFill>
                <a:srgbClr val="000000"/>
              </a:solidFill>
              <a:effectLst/>
              <a:uFillTx/>
              <a:latin typeface="Arial"/>
            </a:endParaRPr>
          </a:p>
          <a:p>
            <a:pPr algn="l" defTabSz="914400">
              <a:lnSpc>
                <a:spcPct val="100000"/>
              </a:lnSpc>
              <a:spcAft>
                <a:spcPts val="120"/>
              </a:spcAft>
              <a:buNone/>
            </a:pPr>
            <a:r>
              <a:rPr lang="en-US" sz="1000" b="0" u="none" strike="noStrike" dirty="0">
                <a:solidFill>
                  <a:srgbClr val="EAF2FF"/>
                </a:solidFill>
                <a:effectLst/>
                <a:uFillTx/>
                <a:latin typeface="Consolas"/>
              </a:rPr>
              <a:t>    </a:t>
            </a:r>
            <a:r>
              <a:rPr lang="en-US" sz="1000" b="1" u="none" strike="noStrike" dirty="0">
                <a:solidFill>
                  <a:srgbClr val="F6A01A"/>
                </a:solidFill>
                <a:effectLst/>
                <a:uFillTx/>
                <a:latin typeface="Consolas"/>
              </a:rPr>
              <a:t>return</a:t>
            </a:r>
            <a:r>
              <a:rPr lang="en-US" sz="1000" b="0" u="none" strike="noStrike" dirty="0">
                <a:solidFill>
                  <a:srgbClr val="EAF2FF"/>
                </a:solidFill>
                <a:effectLst/>
                <a:uFillTx/>
                <a:latin typeface="Consolas"/>
              </a:rPr>
              <a:t> </a:t>
            </a:r>
            <a:r>
              <a:rPr lang="en-US" sz="1000" b="1" u="none" strike="noStrike" dirty="0">
                <a:solidFill>
                  <a:srgbClr val="F2A0A0"/>
                </a:solidFill>
                <a:effectLst/>
                <a:uFillTx/>
                <a:latin typeface="Consolas"/>
              </a:rPr>
              <a:t>failure</a:t>
            </a:r>
            <a:endParaRPr lang="en-US" sz="1000" b="0" u="none" strike="noStrike" dirty="0">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2 · the early goal test</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root is tested before the loop begins, so a start state that is already a goal returns at once.</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4 · a FIFO queue, not a heap</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oldest node. Every node at depth k is expanded before any node at depth k+1. That is all BFS is.</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10 · test on generation</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The goal is returned the moment a child is created, which saves expanding an entire final tier of nodes.</a:t>
            </a:r>
            <a:endParaRPr lang="en-US" sz="1100" b="0" u="none" strike="noStrike" dirty="0">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Line 5 · reached is a set of states</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Not a state-to-node map. BFS never replaces an entry: the first path it finds to a state is already the shallowest.</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This is not best-first search with f(n) = depth. Figure 3.9 is a specialised rewrite that exploits three facts only BFS can rely on.</a:t>
            </a:r>
            <a:endParaRPr lang="en-US" sz="1100" b="0" u="none" strike="noStrike" dirty="0">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Because depth can never improve on a second visit, BFS is allowed to test on generation, store bare states instead of nodes, and use a plain queue instead of a priority queue.</a:t>
            </a:r>
            <a:endParaRPr lang="en-US" sz="1100" b="0" u="none" strike="noStrike" dirty="0">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Breadth-First Search, Line by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Text 2006"/>
          <p:cNvSpPr/>
          <p:nvPr/>
        </p:nvSpPr>
        <p:spPr>
          <a:xfrm>
            <a:off x="50292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SETUP · before the loop</a:t>
            </a:r>
            <a:endParaRPr lang="en-US" sz="1100" b="0" u="none" strike="noStrike">
              <a:solidFill>
                <a:srgbClr val="000000"/>
              </a:solidFill>
              <a:effectLst/>
              <a:uFillTx/>
              <a:latin typeface="Arial"/>
            </a:endParaRPr>
          </a:p>
        </p:txBody>
      </p:sp>
      <p:sp>
        <p:nvSpPr>
          <p:cNvPr id="2007" name="Text 2007"/>
          <p:cNvSpPr/>
          <p:nvPr/>
        </p:nvSpPr>
        <p:spPr>
          <a:xfrm>
            <a:off x="6239080" y="1180000"/>
            <a:ext cx="545000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00" b="1" u="none" strike="noStrike" dirty="0">
                <a:solidFill>
                  <a:srgbClr val="F6A01A"/>
                </a:solidFill>
                <a:effectLst/>
                <a:uFillTx/>
                <a:latin typeface="Aptos"/>
              </a:rPr>
              <a:t>THE LOOP · until the frontier empties</a:t>
            </a:r>
            <a:endParaRPr lang="en-US" sz="1100" b="0" u="none" strike="noStrike">
              <a:solidFill>
                <a:srgbClr val="000000"/>
              </a:solidFill>
              <a:effectLst/>
              <a:uFillTx/>
              <a:latin typeface="Arial"/>
            </a:endParaRPr>
          </a:p>
        </p:txBody>
      </p:sp>
      <p:sp>
        <p:nvSpPr>
          <p:cNvPr id="2008" name="Row 2008"/>
          <p:cNvSpPr/>
          <p:nvPr/>
        </p:nvSpPr>
        <p:spPr>
          <a:xfrm>
            <a:off x="502920" y="152000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9" name="Text 2009"/>
          <p:cNvSpPr/>
          <p:nvPr/>
        </p:nvSpPr>
        <p:spPr>
          <a:xfrm>
            <a:off x="68580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1  </a:t>
            </a:r>
            <a:r>
              <a:rPr lang="en-US" sz="950" b="1" u="none" strike="noStrike" dirty="0">
                <a:solidFill>
                  <a:srgbClr val="112E5C"/>
                </a:solidFill>
                <a:effectLst/>
                <a:uFillTx/>
                <a:latin typeface="Consolas"/>
              </a:rPr>
              <a:t>node ← NODE(problem.INITIAL)</a:t>
            </a:r>
            <a:endParaRPr lang="en-US" sz="1100" b="0" u="none" strike="noStrike">
              <a:solidFill>
                <a:srgbClr val="000000"/>
              </a:solidFill>
              <a:effectLst/>
              <a:uFillTx/>
              <a:latin typeface="Arial"/>
            </a:endParaRPr>
          </a:p>
        </p:txBody>
      </p:sp>
      <p:sp>
        <p:nvSpPr>
          <p:cNvPr id="2010" name="Text 2010"/>
          <p:cNvSpPr/>
          <p:nvPr/>
        </p:nvSpPr>
        <p:spPr>
          <a:xfrm>
            <a:off x="685800" y="187052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Wrap the start state in a search node: state, parent = none, action = none, path-cost = 0.</a:t>
            </a:r>
            <a:endParaRPr lang="en-US" sz="1100" b="0" u="none" strike="noStrike">
              <a:solidFill>
                <a:srgbClr val="000000"/>
              </a:solidFill>
              <a:effectLst/>
              <a:uFillTx/>
              <a:latin typeface="Arial"/>
            </a:endParaRPr>
          </a:p>
        </p:txBody>
      </p:sp>
      <p:sp>
        <p:nvSpPr>
          <p:cNvPr id="2011" name="Row 2011"/>
          <p:cNvSpPr/>
          <p:nvPr/>
        </p:nvSpPr>
        <p:spPr>
          <a:xfrm>
            <a:off x="502920" y="247179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2" name="Text 2012"/>
          <p:cNvSpPr/>
          <p:nvPr/>
        </p:nvSpPr>
        <p:spPr>
          <a:xfrm>
            <a:off x="685800" y="259371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2  </a:t>
            </a:r>
            <a:r>
              <a:rPr lang="en-US" sz="950" b="1" u="none" strike="noStrike" dirty="0">
                <a:solidFill>
                  <a:srgbClr val="112E5C"/>
                </a:solidFill>
                <a:effectLst/>
                <a:uFillTx/>
                <a:latin typeface="Consolas"/>
              </a:rPr>
              <a:t>if IS-GOAL(node.STATE) then return node</a:t>
            </a:r>
            <a:endParaRPr lang="en-US" sz="1100" b="0" u="none" strike="noStrike">
              <a:solidFill>
                <a:srgbClr val="000000"/>
              </a:solidFill>
              <a:effectLst/>
              <a:uFillTx/>
              <a:latin typeface="Arial"/>
            </a:endParaRPr>
          </a:p>
        </p:txBody>
      </p:sp>
      <p:sp>
        <p:nvSpPr>
          <p:cNvPr id="2013" name="Text 2013"/>
          <p:cNvSpPr/>
          <p:nvPr/>
        </p:nvSpPr>
        <p:spPr>
          <a:xfrm>
            <a:off x="685800" y="282231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Covers the degenerate case where the agent already stands on a goal state.</a:t>
            </a:r>
            <a:endParaRPr lang="en-US" sz="1100" b="0" u="none" strike="noStrike">
              <a:solidFill>
                <a:srgbClr val="000000"/>
              </a:solidFill>
              <a:effectLst/>
              <a:uFillTx/>
              <a:latin typeface="Arial"/>
            </a:endParaRPr>
          </a:p>
        </p:txBody>
      </p:sp>
      <p:sp>
        <p:nvSpPr>
          <p:cNvPr id="2014" name="Row 2014"/>
          <p:cNvSpPr/>
          <p:nvPr/>
        </p:nvSpPr>
        <p:spPr>
          <a:xfrm>
            <a:off x="502920" y="342358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5" name="Text 2015"/>
          <p:cNvSpPr/>
          <p:nvPr/>
        </p:nvSpPr>
        <p:spPr>
          <a:xfrm>
            <a:off x="685800" y="354550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3  </a:t>
            </a:r>
            <a:r>
              <a:rPr lang="en-US" sz="950" b="1" u="none" strike="noStrike" dirty="0">
                <a:solidFill>
                  <a:srgbClr val="112E5C"/>
                </a:solidFill>
                <a:effectLst/>
                <a:uFillTx/>
                <a:latin typeface="Consolas"/>
              </a:rPr>
              <a:t>frontier ← a FIFO queue</a:t>
            </a:r>
            <a:endParaRPr lang="en-US" sz="1100" b="0" u="none" strike="noStrike">
              <a:solidFill>
                <a:srgbClr val="000000"/>
              </a:solidFill>
              <a:effectLst/>
              <a:uFillTx/>
              <a:latin typeface="Arial"/>
            </a:endParaRPr>
          </a:p>
        </p:txBody>
      </p:sp>
      <p:sp>
        <p:nvSpPr>
          <p:cNvPr id="2016" name="Text 2016"/>
          <p:cNvSpPr/>
          <p:nvPr/>
        </p:nvSpPr>
        <p:spPr>
          <a:xfrm>
            <a:off x="685800" y="377410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Oldest in, first out. This single choice is the entire difference between BFS and DFS.</a:t>
            </a:r>
            <a:endParaRPr lang="en-US" sz="1100" b="0" u="none" strike="noStrike">
              <a:solidFill>
                <a:srgbClr val="000000"/>
              </a:solidFill>
              <a:effectLst/>
              <a:uFillTx/>
              <a:latin typeface="Arial"/>
            </a:endParaRPr>
          </a:p>
        </p:txBody>
      </p:sp>
      <p:sp>
        <p:nvSpPr>
          <p:cNvPr id="2017" name="Row 2017"/>
          <p:cNvSpPr/>
          <p:nvPr/>
        </p:nvSpPr>
        <p:spPr>
          <a:xfrm>
            <a:off x="502920" y="4375370"/>
            <a:ext cx="5450000" cy="81463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8" name="Text 2018"/>
          <p:cNvSpPr/>
          <p:nvPr/>
        </p:nvSpPr>
        <p:spPr>
          <a:xfrm>
            <a:off x="685800" y="449729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4  </a:t>
            </a:r>
            <a:r>
              <a:rPr lang="en-US" sz="950" b="1" u="none" strike="noStrike" dirty="0">
                <a:solidFill>
                  <a:srgbClr val="112E5C"/>
                </a:solidFill>
                <a:effectLst/>
                <a:uFillTx/>
                <a:latin typeface="Consolas"/>
              </a:rPr>
              <a:t>reached ← {problem.INITIAL}</a:t>
            </a:r>
            <a:endParaRPr lang="en-US" sz="1100" b="0" u="none" strike="noStrike">
              <a:solidFill>
                <a:srgbClr val="000000"/>
              </a:solidFill>
              <a:effectLst/>
              <a:uFillTx/>
              <a:latin typeface="Arial"/>
            </a:endParaRPr>
          </a:p>
        </p:txBody>
      </p:sp>
      <p:sp>
        <p:nvSpPr>
          <p:cNvPr id="2019" name="Text 2019"/>
          <p:cNvSpPr/>
          <p:nvPr/>
        </p:nvSpPr>
        <p:spPr>
          <a:xfrm>
            <a:off x="685800" y="4725890"/>
            <a:ext cx="5084240" cy="34219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A set of states. Nothing else about the start node ever needs remembering.</a:t>
            </a:r>
            <a:endParaRPr lang="en-US" sz="1100" b="0" u="none" strike="noStrike">
              <a:solidFill>
                <a:srgbClr val="000000"/>
              </a:solidFill>
              <a:effectLst/>
              <a:uFillTx/>
              <a:latin typeface="Arial"/>
            </a:endParaRPr>
          </a:p>
        </p:txBody>
      </p:sp>
      <p:sp>
        <p:nvSpPr>
          <p:cNvPr id="2020" name="Row 2020"/>
          <p:cNvSpPr/>
          <p:nvPr/>
        </p:nvSpPr>
        <p:spPr>
          <a:xfrm>
            <a:off x="6239080" y="1520000"/>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1" name="Text 2021"/>
          <p:cNvSpPr/>
          <p:nvPr/>
        </p:nvSpPr>
        <p:spPr>
          <a:xfrm>
            <a:off x="6421960" y="1641920"/>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5  </a:t>
            </a:r>
            <a:r>
              <a:rPr lang="en-US" sz="950" b="1" u="none" strike="noStrike" dirty="0">
                <a:solidFill>
                  <a:srgbClr val="112E5C"/>
                </a:solidFill>
                <a:effectLst/>
                <a:uFillTx/>
                <a:latin typeface="Consolas"/>
              </a:rPr>
              <a:t>node ← POP(frontier)</a:t>
            </a:r>
            <a:endParaRPr lang="en-US" sz="1100" b="0" u="none" strike="noStrike">
              <a:solidFill>
                <a:srgbClr val="000000"/>
              </a:solidFill>
              <a:effectLst/>
              <a:uFillTx/>
              <a:latin typeface="Arial"/>
            </a:endParaRPr>
          </a:p>
        </p:txBody>
      </p:sp>
      <p:sp>
        <p:nvSpPr>
          <p:cNvPr id="2022" name="Text 2022"/>
          <p:cNvSpPr/>
          <p:nvPr/>
        </p:nvSpPr>
        <p:spPr>
          <a:xfrm>
            <a:off x="6421960" y="1870520"/>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Removes the shallowest unexpanded node — the front of the queue.</a:t>
            </a:r>
            <a:endParaRPr lang="en-US" sz="1100" b="0" u="none" strike="noStrike">
              <a:solidFill>
                <a:srgbClr val="000000"/>
              </a:solidFill>
              <a:effectLst/>
              <a:uFillTx/>
              <a:latin typeface="Arial"/>
            </a:endParaRPr>
          </a:p>
        </p:txBody>
      </p:sp>
      <p:sp>
        <p:nvSpPr>
          <p:cNvPr id="2023" name="Row 2023"/>
          <p:cNvSpPr/>
          <p:nvPr/>
        </p:nvSpPr>
        <p:spPr>
          <a:xfrm>
            <a:off x="6239080" y="2281432"/>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4" name="Text 2024"/>
          <p:cNvSpPr/>
          <p:nvPr/>
        </p:nvSpPr>
        <p:spPr>
          <a:xfrm>
            <a:off x="6421960" y="2403352"/>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6  </a:t>
            </a:r>
            <a:r>
              <a:rPr lang="en-US" sz="950" b="1" u="none" strike="noStrike" dirty="0">
                <a:solidFill>
                  <a:srgbClr val="112E5C"/>
                </a:solidFill>
                <a:effectLst/>
                <a:uFillTx/>
                <a:latin typeface="Consolas"/>
              </a:rPr>
              <a:t>for each child in EXPAND(problem, node)</a:t>
            </a:r>
            <a:endParaRPr lang="en-US" sz="1100" b="0" u="none" strike="noStrike">
              <a:solidFill>
                <a:srgbClr val="000000"/>
              </a:solidFill>
              <a:effectLst/>
              <a:uFillTx/>
              <a:latin typeface="Arial"/>
            </a:endParaRPr>
          </a:p>
        </p:txBody>
      </p:sp>
      <p:sp>
        <p:nvSpPr>
          <p:cNvPr id="2025" name="Text 2025"/>
          <p:cNvSpPr/>
          <p:nvPr/>
        </p:nvSpPr>
        <p:spPr>
          <a:xfrm>
            <a:off x="6421960" y="2631952"/>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Every applicable action fires; each result becomes a child with a parent pointer.</a:t>
            </a:r>
            <a:endParaRPr lang="en-US" sz="1100" b="0" u="none" strike="noStrike">
              <a:solidFill>
                <a:srgbClr val="000000"/>
              </a:solidFill>
              <a:effectLst/>
              <a:uFillTx/>
              <a:latin typeface="Arial"/>
            </a:endParaRPr>
          </a:p>
        </p:txBody>
      </p:sp>
      <p:sp>
        <p:nvSpPr>
          <p:cNvPr id="2026" name="Row 2026"/>
          <p:cNvSpPr/>
          <p:nvPr/>
        </p:nvSpPr>
        <p:spPr>
          <a:xfrm>
            <a:off x="6239080" y="3042864"/>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7" name="Text 2027"/>
          <p:cNvSpPr/>
          <p:nvPr/>
        </p:nvSpPr>
        <p:spPr>
          <a:xfrm>
            <a:off x="6421960" y="3164784"/>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7  </a:t>
            </a:r>
            <a:r>
              <a:rPr lang="en-US" sz="950" b="1" u="none" strike="noStrike" dirty="0">
                <a:solidFill>
                  <a:srgbClr val="112E5C"/>
                </a:solidFill>
                <a:effectLst/>
                <a:uFillTx/>
                <a:latin typeface="Consolas"/>
              </a:rPr>
              <a:t>if IS-GOAL(s) then return child</a:t>
            </a:r>
            <a:endParaRPr lang="en-US" sz="1100" b="0" u="none" strike="noStrike">
              <a:solidFill>
                <a:srgbClr val="000000"/>
              </a:solidFill>
              <a:effectLst/>
              <a:uFillTx/>
              <a:latin typeface="Arial"/>
            </a:endParaRPr>
          </a:p>
        </p:txBody>
      </p:sp>
      <p:sp>
        <p:nvSpPr>
          <p:cNvPr id="2028" name="Text 2028"/>
          <p:cNvSpPr/>
          <p:nvPr/>
        </p:nvSpPr>
        <p:spPr>
          <a:xfrm>
            <a:off x="6421960" y="3393384"/>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Early goal test. Recover the path by walking parent pointers back to the root.</a:t>
            </a:r>
            <a:endParaRPr lang="en-US" sz="1100" b="0" u="none" strike="noStrike">
              <a:solidFill>
                <a:srgbClr val="000000"/>
              </a:solidFill>
              <a:effectLst/>
              <a:uFillTx/>
              <a:latin typeface="Arial"/>
            </a:endParaRPr>
          </a:p>
        </p:txBody>
      </p:sp>
      <p:sp>
        <p:nvSpPr>
          <p:cNvPr id="2029" name="Row 2029"/>
          <p:cNvSpPr/>
          <p:nvPr/>
        </p:nvSpPr>
        <p:spPr>
          <a:xfrm>
            <a:off x="6239080" y="3804296"/>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0" name="Text 2030"/>
          <p:cNvSpPr/>
          <p:nvPr/>
        </p:nvSpPr>
        <p:spPr>
          <a:xfrm>
            <a:off x="6421960" y="3926216"/>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8  </a:t>
            </a:r>
            <a:r>
              <a:rPr lang="en-US" sz="950" b="1" u="none" strike="noStrike" dirty="0">
                <a:solidFill>
                  <a:srgbClr val="112E5C"/>
                </a:solidFill>
                <a:effectLst/>
                <a:uFillTx/>
                <a:latin typeface="Consolas"/>
              </a:rPr>
              <a:t>if s is not in reached then</a:t>
            </a:r>
            <a:endParaRPr lang="en-US" sz="1100" b="0" u="none" strike="noStrike">
              <a:solidFill>
                <a:srgbClr val="000000"/>
              </a:solidFill>
              <a:effectLst/>
              <a:uFillTx/>
              <a:latin typeface="Arial"/>
            </a:endParaRPr>
          </a:p>
        </p:txBody>
      </p:sp>
      <p:sp>
        <p:nvSpPr>
          <p:cNvPr id="2031" name="Text 2031"/>
          <p:cNvSpPr/>
          <p:nvPr/>
        </p:nvSpPr>
        <p:spPr>
          <a:xfrm>
            <a:off x="6421960" y="4154816"/>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Discard any state already generated — its first path was no deeper than this one.</a:t>
            </a:r>
            <a:endParaRPr lang="en-US" sz="1100" b="0" u="none" strike="noStrike">
              <a:solidFill>
                <a:srgbClr val="000000"/>
              </a:solidFill>
              <a:effectLst/>
              <a:uFillTx/>
              <a:latin typeface="Arial"/>
            </a:endParaRPr>
          </a:p>
        </p:txBody>
      </p:sp>
      <p:sp>
        <p:nvSpPr>
          <p:cNvPr id="2032" name="Row 2032"/>
          <p:cNvSpPr/>
          <p:nvPr/>
        </p:nvSpPr>
        <p:spPr>
          <a:xfrm>
            <a:off x="6239080" y="4565728"/>
            <a:ext cx="5450000" cy="624272"/>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3" name="Text 2033"/>
          <p:cNvSpPr/>
          <p:nvPr/>
        </p:nvSpPr>
        <p:spPr>
          <a:xfrm>
            <a:off x="6421960" y="4687648"/>
            <a:ext cx="508424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50" b="1" u="none" strike="noStrike" dirty="0">
                <a:solidFill>
                  <a:srgbClr val="F6A01A"/>
                </a:solidFill>
                <a:effectLst/>
                <a:uFillTx/>
                <a:latin typeface="Aptos"/>
              </a:rPr>
              <a:t>9  </a:t>
            </a:r>
            <a:r>
              <a:rPr lang="en-US" sz="950" b="1" u="none" strike="noStrike" dirty="0">
                <a:solidFill>
                  <a:srgbClr val="112E5C"/>
                </a:solidFill>
                <a:effectLst/>
                <a:uFillTx/>
                <a:latin typeface="Consolas"/>
              </a:rPr>
              <a:t>return failure</a:t>
            </a:r>
            <a:endParaRPr lang="en-US" sz="1100" b="0" u="none" strike="noStrike">
              <a:solidFill>
                <a:srgbClr val="000000"/>
              </a:solidFill>
              <a:effectLst/>
              <a:uFillTx/>
              <a:latin typeface="Arial"/>
            </a:endParaRPr>
          </a:p>
        </p:txBody>
      </p:sp>
      <p:sp>
        <p:nvSpPr>
          <p:cNvPr id="2034" name="Text 2034"/>
          <p:cNvSpPr/>
          <p:nvPr/>
        </p:nvSpPr>
        <p:spPr>
          <a:xfrm>
            <a:off x="6421960" y="4916248"/>
            <a:ext cx="5084240" cy="151832"/>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5C6B80"/>
                </a:solidFill>
                <a:effectLst/>
                <a:uFillTx/>
                <a:latin typeface="Aptos"/>
              </a:rPr>
              <a:t>The frontier emptied with no goal, so no goal is reachable from the start.</a:t>
            </a:r>
            <a:endParaRPr lang="en-US" sz="1100" b="0" u="none" strike="noStrike">
              <a:solidFill>
                <a:srgbClr val="000000"/>
              </a:solidFill>
              <a:effectLst/>
              <a:uFillTx/>
              <a:latin typeface="Arial"/>
            </a:endParaRPr>
          </a:p>
        </p:txBody>
      </p:sp>
      <p:sp>
        <p:nvSpPr>
          <p:cNvPr id="2035" name="Banner 2035"/>
          <p:cNvSpPr/>
          <p:nvPr/>
        </p:nvSpPr>
        <p:spPr>
          <a:xfrm>
            <a:off x="502920" y="5420000"/>
            <a:ext cx="11186160" cy="800000"/>
          </a:xfrm>
          <a:prstGeom prst="roundRect">
            <a:avLst>
              <a:gd name="adj" fmla="val 3000"/>
            </a:avLst>
          </a:prstGeom>
          <a:solidFill>
            <a:srgbClr val="F7D7D7"/>
          </a:solidFill>
          <a:ln w="12700">
            <a:solidFill>
              <a:srgbClr val="F7D7D7"/>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050" b="1" u="none" strike="noStrike" dirty="0">
                <a:solidFill>
                  <a:srgbClr val="9B1C1C"/>
                </a:solidFill>
                <a:effectLst/>
                <a:uFillTx/>
                <a:latin typeface="Aptos"/>
              </a:rPr>
              <a:t>Silent bug worth demonstrating in lab:  </a:t>
            </a:r>
            <a:r>
              <a:rPr lang="en-US" sz="1050" b="0" u="none" strike="noStrike" dirty="0">
                <a:solidFill>
                  <a:srgbClr val="102A4C"/>
                </a:solidFill>
                <a:effectLst/>
                <a:uFillTx/>
                <a:latin typeface="Aptos"/>
              </a:rPr>
              <a:t>a Python deque with .pop() instead of .popleft() turns this exact code into depth-first search.</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Nothing crashes and nothing raises. The function still returns a valid path — just not the shallowest one, and not the one the test expects.</a:t>
            </a:r>
            <a:endParaRPr lang="en-US" sz="11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411480"/>
            <a:ext cx="11064240" cy="320040"/>
          </a:xfrm>
          <a:prstGeom prst="rect">
            <a:avLst/>
          </a:prstGeom>
          <a:noFill/>
          <a:ln/>
        </p:spPr>
        <p:txBody>
          <a:bodyPr wrap="square" lIns="508" tIns="508" rIns="508" bIns="508" rtlCol="0" anchor="ctr">
            <a:normAutofit fontScale="92500" lnSpcReduction="10000"/>
          </a:bodyPr>
          <a:lstStyle/>
          <a:p>
            <a:pPr marL="0" indent="0" algn="l">
              <a:buNone/>
            </a:pPr>
            <a:r>
              <a:rPr lang="en-US" sz="2350" b="1" dirty="0">
                <a:solidFill>
                  <a:srgbClr val="FFFFFF"/>
                </a:solidFill>
                <a:latin typeface="Aptos Display" pitchFamily="34" charset="0"/>
                <a:ea typeface="Aptos Display" pitchFamily="34" charset="-122"/>
                <a:cs typeface="Aptos Display" pitchFamily="34" charset="-120"/>
              </a:rPr>
              <a:t>BFS Complexity: The Frontier Becomes the Bottleneck</a:t>
            </a:r>
            <a:endParaRPr lang="en-US" sz="2350" dirty="0"/>
          </a:p>
        </p:txBody>
      </p:sp>
      <p:sp>
        <p:nvSpPr>
          <p:cNvPr id="3" name="Shape 1"/>
          <p:cNvSpPr/>
          <p:nvPr/>
        </p:nvSpPr>
        <p:spPr>
          <a:xfrm>
            <a:off x="502920" y="1261872"/>
            <a:ext cx="2331720" cy="960120"/>
          </a:xfrm>
          <a:prstGeom prst="roundRect">
            <a:avLst>
              <a:gd name="adj" fmla="val 7619"/>
            </a:avLst>
          </a:prstGeom>
          <a:solidFill>
            <a:srgbClr val="F3F8FD"/>
          </a:solidFill>
          <a:ln w="12700">
            <a:solidFill>
              <a:srgbClr val="B8CEE8"/>
            </a:solidFill>
            <a:prstDash val="solid"/>
          </a:ln>
          <a:effectLst>
            <a:outerShdw blurRad="12700" dist="6985" dir="2700000" algn="bl" rotWithShape="0">
              <a:srgbClr val="000000">
                <a:alpha val="11000"/>
              </a:srgbClr>
            </a:outerShdw>
          </a:effectLst>
        </p:spPr>
        <p:txBody>
          <a:bodyPr/>
          <a:lstStyle/>
          <a:p>
            <a:endParaRPr lang="en-US"/>
          </a:p>
        </p:txBody>
      </p:sp>
      <p:sp>
        <p:nvSpPr>
          <p:cNvPr id="4" name="Text 2"/>
          <p:cNvSpPr/>
          <p:nvPr/>
        </p:nvSpPr>
        <p:spPr>
          <a:xfrm>
            <a:off x="713232" y="1389888"/>
            <a:ext cx="1874520" cy="164592"/>
          </a:xfrm>
          <a:prstGeom prst="rect">
            <a:avLst/>
          </a:prstGeom>
          <a:noFill/>
          <a:ln/>
        </p:spPr>
        <p:txBody>
          <a:bodyPr wrap="square" lIns="508" tIns="508" rIns="508" bIns="508" rtlCol="0" anchor="ctr">
            <a:normAutofit lnSpcReduction="10000"/>
          </a:bodyPr>
          <a:lstStyle/>
          <a:p>
            <a:pPr marL="0" indent="0" algn="l">
              <a:buNone/>
            </a:pPr>
            <a:r>
              <a:rPr lang="en-US" sz="1120" b="1" dirty="0">
                <a:solidFill>
                  <a:srgbClr val="082A55"/>
                </a:solidFill>
                <a:latin typeface="Aptos" pitchFamily="34" charset="0"/>
                <a:ea typeface="Aptos" pitchFamily="34" charset="-122"/>
                <a:cs typeface="Aptos" pitchFamily="34" charset="-120"/>
              </a:rPr>
              <a:t>Definitions</a:t>
            </a:r>
            <a:endParaRPr lang="en-US" sz="1120" dirty="0"/>
          </a:p>
        </p:txBody>
      </p:sp>
      <p:sp>
        <p:nvSpPr>
          <p:cNvPr id="5" name="Text 3"/>
          <p:cNvSpPr/>
          <p:nvPr/>
        </p:nvSpPr>
        <p:spPr>
          <a:xfrm>
            <a:off x="713232" y="1627632"/>
            <a:ext cx="1874520" cy="310896"/>
          </a:xfrm>
          <a:prstGeom prst="rect">
            <a:avLst/>
          </a:prstGeom>
          <a:noFill/>
          <a:ln/>
        </p:spPr>
        <p:txBody>
          <a:bodyPr wrap="square" lIns="508" tIns="508" rIns="508" bIns="508" rtlCol="0" anchor="ctr">
            <a:normAutofit/>
          </a:bodyPr>
          <a:lstStyle/>
          <a:p>
            <a:pPr marL="0" indent="0" algn="l">
              <a:buNone/>
            </a:pPr>
            <a:r>
              <a:rPr lang="en-US" sz="980" dirty="0">
                <a:solidFill>
                  <a:srgbClr val="213B5A"/>
                </a:solidFill>
                <a:latin typeface="Aptos" pitchFamily="34" charset="0"/>
                <a:ea typeface="Aptos" pitchFamily="34" charset="-122"/>
                <a:cs typeface="Aptos" pitchFamily="34" charset="-120"/>
              </a:rPr>
              <a:t>b = branching factor</a:t>
            </a:r>
            <a:endParaRPr lang="en-US" sz="980" dirty="0"/>
          </a:p>
          <a:p>
            <a:pPr marL="0" indent="0" algn="l">
              <a:buNone/>
            </a:pPr>
            <a:r>
              <a:rPr lang="en-US" sz="980" dirty="0">
                <a:solidFill>
                  <a:srgbClr val="213B5A"/>
                </a:solidFill>
                <a:latin typeface="Aptos" pitchFamily="34" charset="0"/>
                <a:ea typeface="Aptos" pitchFamily="34" charset="-122"/>
                <a:cs typeface="Aptos" pitchFamily="34" charset="-120"/>
              </a:rPr>
              <a:t>d = depth of shallowest goal</a:t>
            </a:r>
            <a:endParaRPr lang="en-US" sz="980" dirty="0"/>
          </a:p>
        </p:txBody>
      </p:sp>
      <p:sp>
        <p:nvSpPr>
          <p:cNvPr id="6" name="Shape 4"/>
          <p:cNvSpPr/>
          <p:nvPr/>
        </p:nvSpPr>
        <p:spPr>
          <a:xfrm>
            <a:off x="3063240" y="1261872"/>
            <a:ext cx="2011680" cy="960120"/>
          </a:xfrm>
          <a:prstGeom prst="roundRect">
            <a:avLst>
              <a:gd name="adj" fmla="val 7619"/>
            </a:avLst>
          </a:prstGeom>
          <a:solidFill>
            <a:srgbClr val="FFFFFF"/>
          </a:solidFill>
          <a:ln w="16510">
            <a:solidFill>
              <a:srgbClr val="143764"/>
            </a:solidFill>
            <a:prstDash val="solid"/>
          </a:ln>
          <a:effectLst>
            <a:outerShdw blurRad="12700" dist="6985" dir="2700000" algn="bl" rotWithShape="0">
              <a:srgbClr val="000000">
                <a:alpha val="11000"/>
              </a:srgbClr>
            </a:outerShdw>
          </a:effectLst>
        </p:spPr>
        <p:txBody>
          <a:bodyPr/>
          <a:lstStyle/>
          <a:p>
            <a:endParaRPr lang="en-US"/>
          </a:p>
        </p:txBody>
      </p:sp>
      <p:sp>
        <p:nvSpPr>
          <p:cNvPr id="7" name="Text 5"/>
          <p:cNvSpPr/>
          <p:nvPr/>
        </p:nvSpPr>
        <p:spPr>
          <a:xfrm>
            <a:off x="3209544" y="1371600"/>
            <a:ext cx="1719072" cy="182880"/>
          </a:xfrm>
          <a:prstGeom prst="rect">
            <a:avLst/>
          </a:prstGeom>
          <a:noFill/>
          <a:ln/>
        </p:spPr>
        <p:txBody>
          <a:bodyPr wrap="square" lIns="508" tIns="508" rIns="508" bIns="508" rtlCol="0" anchor="ctr">
            <a:normAutofit/>
          </a:bodyPr>
          <a:lstStyle/>
          <a:p>
            <a:pPr marL="0" indent="0" algn="ctr">
              <a:buNone/>
            </a:pPr>
            <a:r>
              <a:rPr lang="en-US" sz="1060" b="1" dirty="0">
                <a:solidFill>
                  <a:srgbClr val="143764"/>
                </a:solidFill>
                <a:latin typeface="Aptos" pitchFamily="34" charset="0"/>
                <a:ea typeface="Aptos" pitchFamily="34" charset="-122"/>
                <a:cs typeface="Aptos" pitchFamily="34" charset="-120"/>
              </a:rPr>
              <a:t>Time</a:t>
            </a:r>
            <a:endParaRPr lang="en-US" sz="1060" dirty="0"/>
          </a:p>
        </p:txBody>
      </p:sp>
      <p:sp>
        <p:nvSpPr>
          <p:cNvPr id="8" name="Text 6"/>
          <p:cNvSpPr/>
          <p:nvPr/>
        </p:nvSpPr>
        <p:spPr>
          <a:xfrm>
            <a:off x="3200400" y="1609344"/>
            <a:ext cx="1737360" cy="292608"/>
          </a:xfrm>
          <a:prstGeom prst="rect">
            <a:avLst/>
          </a:prstGeom>
          <a:noFill/>
          <a:ln/>
        </p:spPr>
        <p:txBody>
          <a:bodyPr wrap="square" lIns="508" tIns="508" rIns="508" bIns="508" rtlCol="0" anchor="ctr">
            <a:normAutofit fontScale="92500" lnSpcReduction="10000"/>
          </a:bodyPr>
          <a:lstStyle/>
          <a:p>
            <a:pPr marL="0" indent="0" algn="ctr">
              <a:buNone/>
            </a:pPr>
            <a:r>
              <a:rPr lang="en-US" sz="2300" b="1" dirty="0">
                <a:solidFill>
                  <a:srgbClr val="143764"/>
                </a:solidFill>
                <a:latin typeface="Aptos" pitchFamily="34" charset="0"/>
                <a:ea typeface="Aptos" pitchFamily="34" charset="-122"/>
                <a:cs typeface="Aptos" pitchFamily="34" charset="-120"/>
              </a:rPr>
              <a:t>O(bᵈ)</a:t>
            </a:r>
            <a:endParaRPr lang="en-US" sz="2300" dirty="0"/>
          </a:p>
        </p:txBody>
      </p:sp>
      <p:sp>
        <p:nvSpPr>
          <p:cNvPr id="9" name="Text 7"/>
          <p:cNvSpPr/>
          <p:nvPr/>
        </p:nvSpPr>
        <p:spPr>
          <a:xfrm>
            <a:off x="3200400" y="1975104"/>
            <a:ext cx="1737360" cy="182880"/>
          </a:xfrm>
          <a:prstGeom prst="rect">
            <a:avLst/>
          </a:prstGeom>
          <a:noFill/>
          <a:ln/>
        </p:spPr>
        <p:txBody>
          <a:bodyPr wrap="square" lIns="508" tIns="508" rIns="508" bIns="508" rtlCol="0" anchor="ctr">
            <a:normAutofit/>
          </a:bodyPr>
          <a:lstStyle/>
          <a:p>
            <a:pPr marL="0" indent="0" algn="ctr">
              <a:buNone/>
            </a:pPr>
            <a:r>
              <a:rPr lang="en-US" sz="870" dirty="0">
                <a:solidFill>
                  <a:srgbClr val="52677F"/>
                </a:solidFill>
                <a:latin typeface="Aptos" pitchFamily="34" charset="0"/>
                <a:ea typeface="Aptos" pitchFamily="34" charset="-122"/>
                <a:cs typeface="Aptos" pitchFamily="34" charset="-120"/>
              </a:rPr>
              <a:t>generate nodes through depth d</a:t>
            </a:r>
            <a:endParaRPr lang="en-US" sz="870" dirty="0"/>
          </a:p>
        </p:txBody>
      </p:sp>
      <p:sp>
        <p:nvSpPr>
          <p:cNvPr id="10" name="Shape 8"/>
          <p:cNvSpPr/>
          <p:nvPr/>
        </p:nvSpPr>
        <p:spPr>
          <a:xfrm>
            <a:off x="5394960" y="1261872"/>
            <a:ext cx="2057400" cy="960120"/>
          </a:xfrm>
          <a:prstGeom prst="roundRect">
            <a:avLst>
              <a:gd name="adj" fmla="val 7619"/>
            </a:avLst>
          </a:prstGeom>
          <a:solidFill>
            <a:srgbClr val="FFFFFF"/>
          </a:solidFill>
          <a:ln w="16510">
            <a:solidFill>
              <a:srgbClr val="A6191D"/>
            </a:solidFill>
            <a:prstDash val="solid"/>
          </a:ln>
          <a:effectLst>
            <a:outerShdw blurRad="12700" dist="6985" dir="2700000" algn="bl" rotWithShape="0">
              <a:srgbClr val="000000">
                <a:alpha val="11000"/>
              </a:srgbClr>
            </a:outerShdw>
          </a:effectLst>
        </p:spPr>
        <p:txBody>
          <a:bodyPr/>
          <a:lstStyle/>
          <a:p>
            <a:endParaRPr lang="en-US"/>
          </a:p>
        </p:txBody>
      </p:sp>
      <p:sp>
        <p:nvSpPr>
          <p:cNvPr id="11" name="Text 9"/>
          <p:cNvSpPr/>
          <p:nvPr/>
        </p:nvSpPr>
        <p:spPr>
          <a:xfrm>
            <a:off x="5541264" y="1371600"/>
            <a:ext cx="1764792" cy="182880"/>
          </a:xfrm>
          <a:prstGeom prst="rect">
            <a:avLst/>
          </a:prstGeom>
          <a:noFill/>
          <a:ln/>
        </p:spPr>
        <p:txBody>
          <a:bodyPr wrap="square" lIns="508" tIns="508" rIns="508" bIns="508" rtlCol="0" anchor="ctr">
            <a:normAutofit/>
          </a:bodyPr>
          <a:lstStyle/>
          <a:p>
            <a:pPr marL="0" indent="0" algn="ctr">
              <a:buNone/>
            </a:pPr>
            <a:r>
              <a:rPr lang="en-US" sz="1060" b="1" dirty="0">
                <a:solidFill>
                  <a:srgbClr val="A6191D"/>
                </a:solidFill>
                <a:latin typeface="Aptos" pitchFamily="34" charset="0"/>
                <a:ea typeface="Aptos" pitchFamily="34" charset="-122"/>
                <a:cs typeface="Aptos" pitchFamily="34" charset="-120"/>
              </a:rPr>
              <a:t>Space</a:t>
            </a:r>
            <a:endParaRPr lang="en-US" sz="1060" dirty="0"/>
          </a:p>
        </p:txBody>
      </p:sp>
      <p:sp>
        <p:nvSpPr>
          <p:cNvPr id="12" name="Text 10"/>
          <p:cNvSpPr/>
          <p:nvPr/>
        </p:nvSpPr>
        <p:spPr>
          <a:xfrm>
            <a:off x="5532120" y="1609344"/>
            <a:ext cx="1783080" cy="292608"/>
          </a:xfrm>
          <a:prstGeom prst="rect">
            <a:avLst/>
          </a:prstGeom>
          <a:noFill/>
          <a:ln/>
        </p:spPr>
        <p:txBody>
          <a:bodyPr wrap="square" lIns="508" tIns="508" rIns="508" bIns="508" rtlCol="0" anchor="ctr">
            <a:normAutofit fontScale="92500" lnSpcReduction="10000"/>
          </a:bodyPr>
          <a:lstStyle/>
          <a:p>
            <a:pPr marL="0" indent="0" algn="ctr">
              <a:buNone/>
            </a:pPr>
            <a:r>
              <a:rPr lang="en-US" sz="2300" b="1" dirty="0">
                <a:solidFill>
                  <a:srgbClr val="A6191D"/>
                </a:solidFill>
                <a:latin typeface="Aptos" pitchFamily="34" charset="0"/>
                <a:ea typeface="Aptos" pitchFamily="34" charset="-122"/>
                <a:cs typeface="Aptos" pitchFamily="34" charset="-120"/>
              </a:rPr>
              <a:t>O(bᵈ)</a:t>
            </a:r>
            <a:endParaRPr lang="en-US" sz="2300" dirty="0"/>
          </a:p>
        </p:txBody>
      </p:sp>
      <p:sp>
        <p:nvSpPr>
          <p:cNvPr id="13" name="Text 11"/>
          <p:cNvSpPr/>
          <p:nvPr/>
        </p:nvSpPr>
        <p:spPr>
          <a:xfrm>
            <a:off x="5532120" y="1975104"/>
            <a:ext cx="1783080" cy="182880"/>
          </a:xfrm>
          <a:prstGeom prst="rect">
            <a:avLst/>
          </a:prstGeom>
          <a:noFill/>
          <a:ln/>
        </p:spPr>
        <p:txBody>
          <a:bodyPr wrap="square" lIns="508" tIns="508" rIns="508" bIns="508" rtlCol="0" anchor="ctr">
            <a:normAutofit/>
          </a:bodyPr>
          <a:lstStyle/>
          <a:p>
            <a:pPr marL="0" indent="0" algn="ctr">
              <a:buNone/>
            </a:pPr>
            <a:r>
              <a:rPr lang="en-US" sz="870" dirty="0">
                <a:solidFill>
                  <a:srgbClr val="52677F"/>
                </a:solidFill>
                <a:latin typeface="Aptos" pitchFamily="34" charset="0"/>
                <a:ea typeface="Aptos" pitchFamily="34" charset="-122"/>
                <a:cs typeface="Aptos" pitchFamily="34" charset="-120"/>
              </a:rPr>
              <a:t>retain frontier and reached table</a:t>
            </a:r>
            <a:endParaRPr lang="en-US" sz="870" dirty="0"/>
          </a:p>
        </p:txBody>
      </p:sp>
      <p:sp>
        <p:nvSpPr>
          <p:cNvPr id="14" name="Shape 12"/>
          <p:cNvSpPr/>
          <p:nvPr/>
        </p:nvSpPr>
        <p:spPr>
          <a:xfrm>
            <a:off x="7772400" y="1261872"/>
            <a:ext cx="3886200" cy="960120"/>
          </a:xfrm>
          <a:prstGeom prst="roundRect">
            <a:avLst>
              <a:gd name="adj" fmla="val 7619"/>
            </a:avLst>
          </a:prstGeom>
          <a:solidFill>
            <a:srgbClr val="FFFFFF"/>
          </a:solidFill>
          <a:ln w="12700">
            <a:solidFill>
              <a:srgbClr val="D6DEE8"/>
            </a:solidFill>
            <a:prstDash val="solid"/>
          </a:ln>
          <a:effectLst>
            <a:outerShdw blurRad="12700" dist="6985" dir="2700000" algn="bl" rotWithShape="0">
              <a:srgbClr val="000000">
                <a:alpha val="11000"/>
              </a:srgbClr>
            </a:outerShdw>
          </a:effectLst>
        </p:spPr>
        <p:txBody>
          <a:bodyPr/>
          <a:lstStyle/>
          <a:p>
            <a:endParaRPr lang="en-US"/>
          </a:p>
        </p:txBody>
      </p:sp>
      <p:sp>
        <p:nvSpPr>
          <p:cNvPr id="15" name="Text 13"/>
          <p:cNvSpPr/>
          <p:nvPr/>
        </p:nvSpPr>
        <p:spPr>
          <a:xfrm>
            <a:off x="8001000" y="1408176"/>
            <a:ext cx="3429000" cy="182880"/>
          </a:xfrm>
          <a:prstGeom prst="rect">
            <a:avLst/>
          </a:prstGeom>
          <a:noFill/>
          <a:ln/>
        </p:spPr>
        <p:txBody>
          <a:bodyPr wrap="square" lIns="508" tIns="508" rIns="508" bIns="508" rtlCol="0" anchor="ctr">
            <a:normAutofit/>
          </a:bodyPr>
          <a:lstStyle/>
          <a:p>
            <a:pPr marL="0" indent="0" algn="ctr">
              <a:buNone/>
            </a:pPr>
            <a:r>
              <a:rPr lang="en-US" sz="1080" b="1" dirty="0">
                <a:solidFill>
                  <a:srgbClr val="082A55"/>
                </a:solidFill>
                <a:latin typeface="Aptos" pitchFamily="34" charset="0"/>
                <a:ea typeface="Aptos" pitchFamily="34" charset="-122"/>
                <a:cs typeface="Aptos" pitchFamily="34" charset="-120"/>
              </a:rPr>
              <a:t>Generated nodes through depth d</a:t>
            </a:r>
            <a:endParaRPr lang="en-US" sz="1080" dirty="0"/>
          </a:p>
        </p:txBody>
      </p:sp>
      <p:sp>
        <p:nvSpPr>
          <p:cNvPr id="16" name="Text 14"/>
          <p:cNvSpPr/>
          <p:nvPr/>
        </p:nvSpPr>
        <p:spPr>
          <a:xfrm>
            <a:off x="7973568" y="1755648"/>
            <a:ext cx="3493008" cy="182880"/>
          </a:xfrm>
          <a:prstGeom prst="rect">
            <a:avLst/>
          </a:prstGeom>
          <a:noFill/>
          <a:ln/>
        </p:spPr>
        <p:txBody>
          <a:bodyPr wrap="square" lIns="508" tIns="508" rIns="508" bIns="508" rtlCol="0" anchor="ctr">
            <a:normAutofit/>
          </a:bodyPr>
          <a:lstStyle/>
          <a:p>
            <a:pPr marL="0" indent="0" algn="ctr">
              <a:buNone/>
            </a:pPr>
            <a:r>
              <a:rPr lang="en-US" sz="1120" b="1" dirty="0">
                <a:solidFill>
                  <a:srgbClr val="082A55"/>
                </a:solidFill>
                <a:latin typeface="Aptos" pitchFamily="34" charset="0"/>
                <a:ea typeface="Aptos" pitchFamily="34" charset="-122"/>
                <a:cs typeface="Aptos" pitchFamily="34" charset="-120"/>
              </a:rPr>
              <a:t>1 + b + b² + … + bᵈ = (bᵈ⁺¹ − 1)/(b − 1) = O(bᵈ)</a:t>
            </a:r>
            <a:endParaRPr lang="en-US" sz="1120" dirty="0"/>
          </a:p>
        </p:txBody>
      </p:sp>
      <p:sp>
        <p:nvSpPr>
          <p:cNvPr id="17" name="Shape 15"/>
          <p:cNvSpPr/>
          <p:nvPr/>
        </p:nvSpPr>
        <p:spPr>
          <a:xfrm>
            <a:off x="502920" y="2612664"/>
            <a:ext cx="6446520" cy="2697480"/>
          </a:xfrm>
          <a:prstGeom prst="roundRect">
            <a:avLst>
              <a:gd name="adj" fmla="val 2712"/>
            </a:avLst>
          </a:prstGeom>
          <a:solidFill>
            <a:srgbClr val="FFFFFF"/>
          </a:solidFill>
          <a:ln w="12700">
            <a:solidFill>
              <a:srgbClr val="D6DEE8"/>
            </a:solidFill>
            <a:prstDash val="solid"/>
          </a:ln>
          <a:effectLst>
            <a:outerShdw blurRad="12700" dist="6985" dir="2700000" algn="bl" rotWithShape="0">
              <a:srgbClr val="000000">
                <a:alpha val="11000"/>
              </a:srgbClr>
            </a:outerShdw>
          </a:effectLst>
        </p:spPr>
        <p:txBody>
          <a:bodyPr/>
          <a:lstStyle/>
          <a:p>
            <a:endParaRPr lang="en-US"/>
          </a:p>
        </p:txBody>
      </p:sp>
      <p:sp>
        <p:nvSpPr>
          <p:cNvPr id="18" name="Text 16"/>
          <p:cNvSpPr/>
          <p:nvPr/>
        </p:nvSpPr>
        <p:spPr>
          <a:xfrm>
            <a:off x="749808" y="2743200"/>
            <a:ext cx="2560320" cy="201168"/>
          </a:xfrm>
          <a:prstGeom prst="rect">
            <a:avLst/>
          </a:prstGeom>
          <a:noFill/>
          <a:ln/>
        </p:spPr>
        <p:txBody>
          <a:bodyPr wrap="square" lIns="508" tIns="508" rIns="508" bIns="508" rtlCol="0" anchor="ctr">
            <a:normAutofit/>
          </a:bodyPr>
          <a:lstStyle/>
          <a:p>
            <a:pPr marL="0" indent="0" algn="l">
              <a:buNone/>
            </a:pPr>
            <a:r>
              <a:rPr lang="en-US" sz="1300" b="1" dirty="0">
                <a:solidFill>
                  <a:srgbClr val="082A55"/>
                </a:solidFill>
                <a:latin typeface="Aptos" pitchFamily="34" charset="0"/>
                <a:ea typeface="Aptos" pitchFamily="34" charset="-122"/>
                <a:cs typeface="Aptos" pitchFamily="34" charset="-120"/>
              </a:rPr>
              <a:t>Level-by-level growth</a:t>
            </a:r>
            <a:endParaRPr lang="en-US" sz="1300" dirty="0"/>
          </a:p>
        </p:txBody>
      </p:sp>
      <p:sp>
        <p:nvSpPr>
          <p:cNvPr id="19" name="Text 17"/>
          <p:cNvSpPr/>
          <p:nvPr/>
        </p:nvSpPr>
        <p:spPr>
          <a:xfrm>
            <a:off x="749808" y="3063240"/>
            <a:ext cx="5623560" cy="256032"/>
          </a:xfrm>
          <a:prstGeom prst="rect">
            <a:avLst/>
          </a:prstGeom>
          <a:noFill/>
          <a:ln/>
        </p:spPr>
        <p:txBody>
          <a:bodyPr wrap="square" lIns="508" tIns="508" rIns="508" bIns="508" rtlCol="0" anchor="ctr">
            <a:normAutofit/>
          </a:bodyPr>
          <a:lstStyle/>
          <a:p>
            <a:pPr marL="0" indent="0" algn="l">
              <a:buNone/>
            </a:pPr>
            <a:r>
              <a:rPr lang="en-US" sz="1020" dirty="0">
                <a:solidFill>
                  <a:srgbClr val="213B5A"/>
                </a:solidFill>
                <a:latin typeface="Aptos" pitchFamily="34" charset="0"/>
                <a:ea typeface="Aptos" pitchFamily="34" charset="-122"/>
                <a:cs typeface="Aptos" pitchFamily="34" charset="-120"/>
              </a:rPr>
              <a:t>For b = 10, each level is ten times larger than the previous level. The last level dominates the total.</a:t>
            </a:r>
            <a:endParaRPr lang="en-US" sz="1020" dirty="0"/>
          </a:p>
        </p:txBody>
      </p:sp>
      <p:sp>
        <p:nvSpPr>
          <p:cNvPr id="20" name="Text 18"/>
          <p:cNvSpPr/>
          <p:nvPr/>
        </p:nvSpPr>
        <p:spPr>
          <a:xfrm>
            <a:off x="777240" y="3584448"/>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0</a:t>
            </a:r>
            <a:endParaRPr lang="en-US" sz="1000" dirty="0"/>
          </a:p>
        </p:txBody>
      </p:sp>
      <p:sp>
        <p:nvSpPr>
          <p:cNvPr id="21" name="Shape 19"/>
          <p:cNvSpPr/>
          <p:nvPr/>
        </p:nvSpPr>
        <p:spPr>
          <a:xfrm>
            <a:off x="1920240" y="3602736"/>
            <a:ext cx="222962" cy="146304"/>
          </a:xfrm>
          <a:prstGeom prst="rect">
            <a:avLst/>
          </a:prstGeom>
          <a:solidFill>
            <a:srgbClr val="143764"/>
          </a:solidFill>
          <a:ln w="12700">
            <a:solidFill>
              <a:srgbClr val="143764"/>
            </a:solidFill>
            <a:prstDash val="solid"/>
          </a:ln>
        </p:spPr>
        <p:txBody>
          <a:bodyPr/>
          <a:lstStyle/>
          <a:p>
            <a:endParaRPr lang="en-US"/>
          </a:p>
        </p:txBody>
      </p:sp>
      <p:sp>
        <p:nvSpPr>
          <p:cNvPr id="22" name="Text 20"/>
          <p:cNvSpPr/>
          <p:nvPr/>
        </p:nvSpPr>
        <p:spPr>
          <a:xfrm>
            <a:off x="5779008" y="3575304"/>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 nodes</a:t>
            </a:r>
            <a:endParaRPr lang="en-US" sz="850" dirty="0"/>
          </a:p>
        </p:txBody>
      </p:sp>
      <p:sp>
        <p:nvSpPr>
          <p:cNvPr id="23" name="Text 21"/>
          <p:cNvSpPr/>
          <p:nvPr/>
        </p:nvSpPr>
        <p:spPr>
          <a:xfrm>
            <a:off x="777240" y="3877056"/>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1</a:t>
            </a:r>
            <a:endParaRPr lang="en-US" sz="1000" dirty="0"/>
          </a:p>
        </p:txBody>
      </p:sp>
      <p:sp>
        <p:nvSpPr>
          <p:cNvPr id="24" name="Shape 22"/>
          <p:cNvSpPr/>
          <p:nvPr/>
        </p:nvSpPr>
        <p:spPr>
          <a:xfrm>
            <a:off x="1920240" y="3895344"/>
            <a:ext cx="771321" cy="146304"/>
          </a:xfrm>
          <a:prstGeom prst="rect">
            <a:avLst/>
          </a:prstGeom>
          <a:solidFill>
            <a:srgbClr val="143764"/>
          </a:solidFill>
          <a:ln w="12700">
            <a:solidFill>
              <a:srgbClr val="143764"/>
            </a:solidFill>
            <a:prstDash val="solid"/>
          </a:ln>
        </p:spPr>
        <p:txBody>
          <a:bodyPr/>
          <a:lstStyle/>
          <a:p>
            <a:endParaRPr lang="en-US"/>
          </a:p>
        </p:txBody>
      </p:sp>
      <p:sp>
        <p:nvSpPr>
          <p:cNvPr id="25" name="Text 23"/>
          <p:cNvSpPr/>
          <p:nvPr/>
        </p:nvSpPr>
        <p:spPr>
          <a:xfrm>
            <a:off x="5779008" y="3867912"/>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 nodes</a:t>
            </a:r>
            <a:endParaRPr lang="en-US" sz="850" dirty="0"/>
          </a:p>
        </p:txBody>
      </p:sp>
      <p:sp>
        <p:nvSpPr>
          <p:cNvPr id="26" name="Text 24"/>
          <p:cNvSpPr/>
          <p:nvPr/>
        </p:nvSpPr>
        <p:spPr>
          <a:xfrm>
            <a:off x="777240" y="4169664"/>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2</a:t>
            </a:r>
            <a:endParaRPr lang="en-US" sz="1000" dirty="0"/>
          </a:p>
        </p:txBody>
      </p:sp>
      <p:sp>
        <p:nvSpPr>
          <p:cNvPr id="27" name="Shape 25"/>
          <p:cNvSpPr/>
          <p:nvPr/>
        </p:nvSpPr>
        <p:spPr>
          <a:xfrm>
            <a:off x="1920240" y="4187952"/>
            <a:ext cx="1484527" cy="146304"/>
          </a:xfrm>
          <a:prstGeom prst="rect">
            <a:avLst/>
          </a:prstGeom>
          <a:solidFill>
            <a:srgbClr val="143764"/>
          </a:solidFill>
          <a:ln w="12700">
            <a:solidFill>
              <a:srgbClr val="143764"/>
            </a:solidFill>
            <a:prstDash val="solid"/>
          </a:ln>
        </p:spPr>
        <p:txBody>
          <a:bodyPr/>
          <a:lstStyle/>
          <a:p>
            <a:endParaRPr lang="en-US"/>
          </a:p>
        </p:txBody>
      </p:sp>
      <p:sp>
        <p:nvSpPr>
          <p:cNvPr id="28" name="Text 26"/>
          <p:cNvSpPr/>
          <p:nvPr/>
        </p:nvSpPr>
        <p:spPr>
          <a:xfrm>
            <a:off x="5779008" y="4160520"/>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 nodes</a:t>
            </a:r>
            <a:endParaRPr lang="en-US" sz="850" dirty="0"/>
          </a:p>
        </p:txBody>
      </p:sp>
      <p:sp>
        <p:nvSpPr>
          <p:cNvPr id="29" name="Text 27"/>
          <p:cNvSpPr/>
          <p:nvPr/>
        </p:nvSpPr>
        <p:spPr>
          <a:xfrm>
            <a:off x="777240" y="4462272"/>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3</a:t>
            </a:r>
            <a:endParaRPr lang="en-US" sz="1000" dirty="0"/>
          </a:p>
        </p:txBody>
      </p:sp>
      <p:sp>
        <p:nvSpPr>
          <p:cNvPr id="30" name="Shape 28"/>
          <p:cNvSpPr/>
          <p:nvPr/>
        </p:nvSpPr>
        <p:spPr>
          <a:xfrm>
            <a:off x="1920240" y="4480560"/>
            <a:ext cx="2222312" cy="146304"/>
          </a:xfrm>
          <a:prstGeom prst="rect">
            <a:avLst/>
          </a:prstGeom>
          <a:solidFill>
            <a:srgbClr val="143764"/>
          </a:solidFill>
          <a:ln w="12700">
            <a:solidFill>
              <a:srgbClr val="143764"/>
            </a:solidFill>
            <a:prstDash val="solid"/>
          </a:ln>
        </p:spPr>
        <p:txBody>
          <a:bodyPr/>
          <a:lstStyle/>
          <a:p>
            <a:endParaRPr lang="en-US"/>
          </a:p>
        </p:txBody>
      </p:sp>
      <p:sp>
        <p:nvSpPr>
          <p:cNvPr id="31" name="Text 29"/>
          <p:cNvSpPr/>
          <p:nvPr/>
        </p:nvSpPr>
        <p:spPr>
          <a:xfrm>
            <a:off x="5779008" y="4453128"/>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1,000 nodes</a:t>
            </a:r>
            <a:endParaRPr lang="en-US" sz="850" dirty="0"/>
          </a:p>
        </p:txBody>
      </p:sp>
      <p:sp>
        <p:nvSpPr>
          <p:cNvPr id="32" name="Text 30"/>
          <p:cNvSpPr/>
          <p:nvPr/>
        </p:nvSpPr>
        <p:spPr>
          <a:xfrm>
            <a:off x="777240" y="4754880"/>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4</a:t>
            </a:r>
            <a:endParaRPr lang="en-US" sz="1000" dirty="0"/>
          </a:p>
        </p:txBody>
      </p:sp>
      <p:sp>
        <p:nvSpPr>
          <p:cNvPr id="33" name="Shape 31"/>
          <p:cNvSpPr/>
          <p:nvPr/>
        </p:nvSpPr>
        <p:spPr>
          <a:xfrm>
            <a:off x="1920240" y="4773168"/>
            <a:ext cx="2962686" cy="146304"/>
          </a:xfrm>
          <a:prstGeom prst="rect">
            <a:avLst/>
          </a:prstGeom>
          <a:solidFill>
            <a:srgbClr val="143764"/>
          </a:solidFill>
          <a:ln w="12700">
            <a:solidFill>
              <a:srgbClr val="143764"/>
            </a:solidFill>
            <a:prstDash val="solid"/>
          </a:ln>
        </p:spPr>
        <p:txBody>
          <a:bodyPr/>
          <a:lstStyle/>
          <a:p>
            <a:endParaRPr lang="en-US"/>
          </a:p>
        </p:txBody>
      </p:sp>
      <p:sp>
        <p:nvSpPr>
          <p:cNvPr id="34" name="Text 32"/>
          <p:cNvSpPr/>
          <p:nvPr/>
        </p:nvSpPr>
        <p:spPr>
          <a:xfrm>
            <a:off x="5779008" y="4745736"/>
            <a:ext cx="914400" cy="164592"/>
          </a:xfrm>
          <a:prstGeom prst="rect">
            <a:avLst/>
          </a:prstGeom>
          <a:noFill/>
          <a:ln/>
        </p:spPr>
        <p:txBody>
          <a:bodyPr wrap="square" lIns="508" tIns="508" rIns="508" bIns="508" rtlCol="0" anchor="ctr">
            <a:normAutofit/>
          </a:bodyPr>
          <a:lstStyle/>
          <a:p>
            <a:pPr marL="0" indent="0" algn="l">
              <a:buNone/>
            </a:pPr>
            <a:r>
              <a:rPr lang="en-US" sz="850" dirty="0">
                <a:solidFill>
                  <a:srgbClr val="213B5A"/>
                </a:solidFill>
                <a:latin typeface="Aptos" pitchFamily="34" charset="0"/>
                <a:ea typeface="Aptos" pitchFamily="34" charset="-122"/>
                <a:cs typeface="Aptos" pitchFamily="34" charset="-120"/>
              </a:rPr>
              <a:t>10,000 nodes</a:t>
            </a:r>
            <a:endParaRPr lang="en-US" sz="850" dirty="0"/>
          </a:p>
        </p:txBody>
      </p:sp>
      <p:sp>
        <p:nvSpPr>
          <p:cNvPr id="35" name="Text 33"/>
          <p:cNvSpPr/>
          <p:nvPr/>
        </p:nvSpPr>
        <p:spPr>
          <a:xfrm>
            <a:off x="777240" y="5047488"/>
            <a:ext cx="960120" cy="164592"/>
          </a:xfrm>
          <a:prstGeom prst="rect">
            <a:avLst/>
          </a:prstGeom>
          <a:noFill/>
          <a:ln/>
        </p:spPr>
        <p:txBody>
          <a:bodyPr wrap="square" lIns="508" tIns="508" rIns="508" bIns="508" rtlCol="0" anchor="ctr">
            <a:normAutofit/>
          </a:bodyPr>
          <a:lstStyle/>
          <a:p>
            <a:pPr marL="0" indent="0" algn="r">
              <a:buNone/>
            </a:pPr>
            <a:r>
              <a:rPr lang="en-US" sz="1000" b="1" dirty="0">
                <a:solidFill>
                  <a:srgbClr val="082A55"/>
                </a:solidFill>
                <a:latin typeface="Aptos" pitchFamily="34" charset="0"/>
                <a:ea typeface="Aptos" pitchFamily="34" charset="-122"/>
                <a:cs typeface="Aptos" pitchFamily="34" charset="-120"/>
              </a:rPr>
              <a:t>depth d</a:t>
            </a:r>
            <a:endParaRPr lang="en-US" sz="1000" dirty="0"/>
          </a:p>
        </p:txBody>
      </p:sp>
      <p:sp>
        <p:nvSpPr>
          <p:cNvPr id="36" name="Shape 34"/>
          <p:cNvSpPr/>
          <p:nvPr/>
        </p:nvSpPr>
        <p:spPr>
          <a:xfrm>
            <a:off x="1920240" y="5065776"/>
            <a:ext cx="3703320" cy="146304"/>
          </a:xfrm>
          <a:prstGeom prst="rect">
            <a:avLst/>
          </a:prstGeom>
          <a:solidFill>
            <a:srgbClr val="A6191D"/>
          </a:solidFill>
          <a:ln w="12700">
            <a:solidFill>
              <a:srgbClr val="A6191D"/>
            </a:solidFill>
            <a:prstDash val="solid"/>
          </a:ln>
        </p:spPr>
        <p:txBody>
          <a:bodyPr/>
          <a:lstStyle/>
          <a:p>
            <a:endParaRPr lang="en-US"/>
          </a:p>
        </p:txBody>
      </p:sp>
      <p:sp>
        <p:nvSpPr>
          <p:cNvPr id="37" name="Text 35"/>
          <p:cNvSpPr/>
          <p:nvPr/>
        </p:nvSpPr>
        <p:spPr>
          <a:xfrm>
            <a:off x="5779008" y="5038344"/>
            <a:ext cx="914400" cy="164592"/>
          </a:xfrm>
          <a:prstGeom prst="rect">
            <a:avLst/>
          </a:prstGeom>
          <a:noFill/>
          <a:ln/>
        </p:spPr>
        <p:txBody>
          <a:bodyPr wrap="square" lIns="508" tIns="508" rIns="508" bIns="508" rtlCol="0" anchor="ctr">
            <a:normAutofit/>
          </a:bodyPr>
          <a:lstStyle/>
          <a:p>
            <a:pPr marL="0" indent="0" algn="l">
              <a:buNone/>
            </a:pPr>
            <a:r>
              <a:rPr lang="en-US" sz="850" b="1" dirty="0">
                <a:solidFill>
                  <a:srgbClr val="A6191D"/>
                </a:solidFill>
                <a:latin typeface="Aptos" pitchFamily="34" charset="0"/>
                <a:ea typeface="Aptos" pitchFamily="34" charset="-122"/>
                <a:cs typeface="Aptos" pitchFamily="34" charset="-120"/>
              </a:rPr>
              <a:t>100,000 nodes</a:t>
            </a:r>
            <a:endParaRPr lang="en-US" sz="850" dirty="0"/>
          </a:p>
        </p:txBody>
      </p:sp>
      <p:sp>
        <p:nvSpPr>
          <p:cNvPr id="38" name="Shape 36"/>
          <p:cNvSpPr/>
          <p:nvPr/>
        </p:nvSpPr>
        <p:spPr>
          <a:xfrm>
            <a:off x="7360920" y="2619756"/>
            <a:ext cx="4297680" cy="2697480"/>
          </a:xfrm>
          <a:prstGeom prst="roundRect">
            <a:avLst>
              <a:gd name="adj" fmla="val 2712"/>
            </a:avLst>
          </a:prstGeom>
          <a:solidFill>
            <a:srgbClr val="FFF7ED"/>
          </a:solidFill>
          <a:ln w="15240">
            <a:solidFill>
              <a:srgbClr val="F59E0B"/>
            </a:solidFill>
            <a:prstDash val="solid"/>
          </a:ln>
          <a:effectLst>
            <a:outerShdw blurRad="12700" dist="6985" dir="2700000" algn="bl" rotWithShape="0">
              <a:srgbClr val="000000">
                <a:alpha val="11000"/>
              </a:srgbClr>
            </a:outerShdw>
          </a:effectLst>
        </p:spPr>
        <p:txBody>
          <a:bodyPr/>
          <a:lstStyle/>
          <a:p>
            <a:endParaRPr lang="en-US"/>
          </a:p>
        </p:txBody>
      </p:sp>
      <p:sp>
        <p:nvSpPr>
          <p:cNvPr id="39" name="Text 37"/>
          <p:cNvSpPr/>
          <p:nvPr/>
        </p:nvSpPr>
        <p:spPr>
          <a:xfrm>
            <a:off x="7635240" y="2743200"/>
            <a:ext cx="3730752" cy="201168"/>
          </a:xfrm>
          <a:prstGeom prst="rect">
            <a:avLst/>
          </a:prstGeom>
          <a:noFill/>
          <a:ln/>
        </p:spPr>
        <p:txBody>
          <a:bodyPr wrap="square" lIns="508" tIns="508" rIns="508" bIns="508" rtlCol="0" anchor="ctr">
            <a:normAutofit/>
          </a:bodyPr>
          <a:lstStyle/>
          <a:p>
            <a:pPr marL="0" indent="0" algn="ctr">
              <a:buNone/>
            </a:pPr>
            <a:r>
              <a:rPr lang="en-US" sz="1300" b="1" dirty="0">
                <a:solidFill>
                  <a:srgbClr val="A6191D"/>
                </a:solidFill>
                <a:latin typeface="Aptos" pitchFamily="34" charset="0"/>
                <a:ea typeface="Aptos" pitchFamily="34" charset="-122"/>
                <a:cs typeface="Aptos" pitchFamily="34" charset="-120"/>
              </a:rPr>
              <a:t>Worked example</a:t>
            </a:r>
            <a:endParaRPr lang="en-US" sz="1300" dirty="0"/>
          </a:p>
        </p:txBody>
      </p:sp>
      <p:sp>
        <p:nvSpPr>
          <p:cNvPr id="40" name="Text 38"/>
          <p:cNvSpPr/>
          <p:nvPr/>
        </p:nvSpPr>
        <p:spPr>
          <a:xfrm>
            <a:off x="7708392" y="3072384"/>
            <a:ext cx="3584448" cy="256032"/>
          </a:xfrm>
          <a:prstGeom prst="rect">
            <a:avLst/>
          </a:prstGeom>
          <a:noFill/>
          <a:ln/>
        </p:spPr>
        <p:txBody>
          <a:bodyPr wrap="square" lIns="508" tIns="508" rIns="508" bIns="508" rtlCol="0" anchor="ctr">
            <a:normAutofit/>
          </a:bodyPr>
          <a:lstStyle/>
          <a:p>
            <a:pPr marL="0" indent="0" algn="ctr">
              <a:buNone/>
            </a:pPr>
            <a:r>
              <a:rPr lang="en-US" sz="1020" dirty="0">
                <a:solidFill>
                  <a:srgbClr val="213B5A"/>
                </a:solidFill>
                <a:latin typeface="Aptos" pitchFamily="34" charset="0"/>
                <a:ea typeface="Aptos" pitchFamily="34" charset="-122"/>
                <a:cs typeface="Aptos" pitchFamily="34" charset="-120"/>
              </a:rPr>
              <a:t>Let b = 10, d = 10, and store about 1 KB per node.</a:t>
            </a:r>
            <a:endParaRPr lang="en-US" sz="1020" dirty="0"/>
          </a:p>
        </p:txBody>
      </p:sp>
      <p:sp>
        <p:nvSpPr>
          <p:cNvPr id="41" name="Text 39"/>
          <p:cNvSpPr/>
          <p:nvPr/>
        </p:nvSpPr>
        <p:spPr>
          <a:xfrm>
            <a:off x="7708392" y="3675888"/>
            <a:ext cx="3584448" cy="237744"/>
          </a:xfrm>
          <a:prstGeom prst="rect">
            <a:avLst/>
          </a:prstGeom>
          <a:noFill/>
          <a:ln/>
        </p:spPr>
        <p:txBody>
          <a:bodyPr wrap="square" lIns="508" tIns="508" rIns="508" bIns="508" rtlCol="0" anchor="ctr">
            <a:normAutofit/>
          </a:bodyPr>
          <a:lstStyle/>
          <a:p>
            <a:pPr marL="0" indent="0" algn="ctr">
              <a:buNone/>
            </a:pPr>
            <a:r>
              <a:rPr lang="en-US" sz="1300" b="1" dirty="0">
                <a:solidFill>
                  <a:srgbClr val="A6191D"/>
                </a:solidFill>
                <a:latin typeface="Aptos" pitchFamily="34" charset="0"/>
                <a:ea typeface="Aptos" pitchFamily="34" charset="-122"/>
                <a:cs typeface="Aptos" pitchFamily="34" charset="-120"/>
              </a:rPr>
              <a:t>(10¹¹ − 1) / 9 ≈ 11.1 billion nodes</a:t>
            </a:r>
            <a:endParaRPr lang="en-US" sz="1300" dirty="0"/>
          </a:p>
        </p:txBody>
      </p:sp>
      <p:sp>
        <p:nvSpPr>
          <p:cNvPr id="42" name="Text 40"/>
          <p:cNvSpPr/>
          <p:nvPr/>
        </p:nvSpPr>
        <p:spPr>
          <a:xfrm>
            <a:off x="7708392" y="4169664"/>
            <a:ext cx="3584448" cy="274320"/>
          </a:xfrm>
          <a:prstGeom prst="rect">
            <a:avLst/>
          </a:prstGeom>
          <a:noFill/>
          <a:ln/>
        </p:spPr>
        <p:txBody>
          <a:bodyPr wrap="square" lIns="508" tIns="508" rIns="508" bIns="508" rtlCol="0" anchor="ctr">
            <a:normAutofit/>
          </a:bodyPr>
          <a:lstStyle/>
          <a:p>
            <a:pPr marL="0" indent="0" algn="ctr">
              <a:buNone/>
            </a:pPr>
            <a:r>
              <a:rPr lang="en-US" sz="1500" b="1" dirty="0">
                <a:solidFill>
                  <a:srgbClr val="A6191D"/>
                </a:solidFill>
                <a:latin typeface="Aptos" pitchFamily="34" charset="0"/>
                <a:ea typeface="Aptos" pitchFamily="34" charset="-122"/>
                <a:cs typeface="Aptos" pitchFamily="34" charset="-120"/>
              </a:rPr>
              <a:t>11.1 billion × 1 KB ≈ 11 TB</a:t>
            </a:r>
            <a:endParaRPr lang="en-US" sz="1500" dirty="0"/>
          </a:p>
        </p:txBody>
      </p:sp>
      <p:sp>
        <p:nvSpPr>
          <p:cNvPr id="43" name="Text 41"/>
          <p:cNvSpPr/>
          <p:nvPr/>
        </p:nvSpPr>
        <p:spPr>
          <a:xfrm>
            <a:off x="7708392" y="4727448"/>
            <a:ext cx="3584448" cy="274320"/>
          </a:xfrm>
          <a:prstGeom prst="rect">
            <a:avLst/>
          </a:prstGeom>
          <a:noFill/>
          <a:ln/>
        </p:spPr>
        <p:txBody>
          <a:bodyPr wrap="square" lIns="508" tIns="508" rIns="508" bIns="508" rtlCol="0" anchor="ctr">
            <a:normAutofit lnSpcReduction="10000"/>
          </a:bodyPr>
          <a:lstStyle/>
          <a:p>
            <a:pPr marL="0" indent="0" algn="ctr">
              <a:buNone/>
            </a:pPr>
            <a:r>
              <a:rPr lang="en-US" sz="950" dirty="0">
                <a:solidFill>
                  <a:srgbClr val="52677F"/>
                </a:solidFill>
                <a:latin typeface="Aptos" pitchFamily="34" charset="0"/>
                <a:ea typeface="Aptos" pitchFamily="34" charset="-122"/>
                <a:cs typeface="Aptos" pitchFamily="34" charset="-120"/>
              </a:rPr>
              <a:t>The practical limit is usually memory, not the simplicity of the algorithm.</a:t>
            </a:r>
            <a:endParaRPr lang="en-US" sz="950" dirty="0"/>
          </a:p>
        </p:txBody>
      </p:sp>
      <p:sp>
        <p:nvSpPr>
          <p:cNvPr id="44" name="Shape 42"/>
          <p:cNvSpPr/>
          <p:nvPr/>
        </p:nvSpPr>
        <p:spPr>
          <a:xfrm>
            <a:off x="685800" y="5559552"/>
            <a:ext cx="10835640" cy="640080"/>
          </a:xfrm>
          <a:prstGeom prst="roundRect">
            <a:avLst>
              <a:gd name="adj" fmla="val 11429"/>
            </a:avLst>
          </a:prstGeom>
          <a:solidFill>
            <a:srgbClr val="EFF6FF"/>
          </a:solidFill>
          <a:ln w="12700">
            <a:solidFill>
              <a:srgbClr val="C4D7F2"/>
            </a:solidFill>
            <a:prstDash val="solid"/>
          </a:ln>
        </p:spPr>
        <p:txBody>
          <a:bodyPr/>
          <a:lstStyle/>
          <a:p>
            <a:endParaRPr lang="en-US"/>
          </a:p>
        </p:txBody>
      </p:sp>
      <p:sp>
        <p:nvSpPr>
          <p:cNvPr id="45" name="Text 43"/>
          <p:cNvSpPr/>
          <p:nvPr/>
        </p:nvSpPr>
        <p:spPr>
          <a:xfrm>
            <a:off x="960120" y="5715000"/>
            <a:ext cx="1371600" cy="164592"/>
          </a:xfrm>
          <a:prstGeom prst="rect">
            <a:avLst/>
          </a:prstGeom>
          <a:noFill/>
          <a:ln/>
        </p:spPr>
        <p:txBody>
          <a:bodyPr wrap="square" lIns="508" tIns="508" rIns="508" bIns="508" rtlCol="0" anchor="ctr">
            <a:normAutofit lnSpcReduction="10000"/>
          </a:bodyPr>
          <a:lstStyle/>
          <a:p>
            <a:pPr marL="0" indent="0" algn="l">
              <a:buNone/>
            </a:pPr>
            <a:r>
              <a:rPr lang="en-US" sz="1150" b="1" dirty="0">
                <a:solidFill>
                  <a:srgbClr val="082A55"/>
                </a:solidFill>
                <a:latin typeface="Aptos" pitchFamily="34" charset="0"/>
                <a:ea typeface="Aptos" pitchFamily="34" charset="-122"/>
                <a:cs typeface="Aptos" pitchFamily="34" charset="-120"/>
              </a:rPr>
              <a:t>Key takeaway</a:t>
            </a:r>
            <a:endParaRPr lang="en-US" sz="1150" dirty="0"/>
          </a:p>
        </p:txBody>
      </p:sp>
      <p:sp>
        <p:nvSpPr>
          <p:cNvPr id="46" name="Text 44"/>
          <p:cNvSpPr/>
          <p:nvPr/>
        </p:nvSpPr>
        <p:spPr>
          <a:xfrm>
            <a:off x="2331720" y="5687568"/>
            <a:ext cx="8851392" cy="219456"/>
          </a:xfrm>
          <a:prstGeom prst="rect">
            <a:avLst/>
          </a:prstGeom>
          <a:noFill/>
          <a:ln/>
        </p:spPr>
        <p:txBody>
          <a:bodyPr wrap="square" lIns="508" tIns="508" rIns="508" bIns="508" rtlCol="0" anchor="ctr">
            <a:normAutofit/>
          </a:bodyPr>
          <a:lstStyle/>
          <a:p>
            <a:pPr marL="0" indent="0" algn="ctr">
              <a:buNone/>
            </a:pPr>
            <a:r>
              <a:rPr lang="en-US" sz="1300" b="1" dirty="0">
                <a:solidFill>
                  <a:srgbClr val="082A55"/>
                </a:solidFill>
                <a:latin typeface="Aptos" pitchFamily="34" charset="0"/>
                <a:ea typeface="Aptos" pitchFamily="34" charset="-122"/>
                <a:cs typeface="Aptos" pitchFamily="34" charset="-120"/>
              </a:rPr>
              <a:t>BFS is complete and optimal when every action has equal cost, but its frontier grows exponentially.</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68"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69"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0"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Early Goal Test vs. Late Goal Test</a:t>
            </a:r>
            <a:endParaRPr lang="en-US" sz="2600" b="0" u="none" strike="noStrike">
              <a:solidFill>
                <a:srgbClr val="000000"/>
              </a:solidFill>
              <a:effectLst/>
              <a:uFillTx/>
              <a:latin typeface="Arial"/>
            </a:endParaRPr>
          </a:p>
        </p:txBody>
      </p:sp>
      <p:sp>
        <p:nvSpPr>
          <p:cNvPr id="971"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972"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73"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Early: test when a node is generated</a:t>
            </a:r>
            <a:endParaRPr lang="en-US" sz="1400" b="0" u="none" strike="noStrike">
              <a:solidFill>
                <a:srgbClr val="000000"/>
              </a:solidFill>
              <a:effectLst/>
              <a:uFillTx/>
              <a:latin typeface="Arial"/>
            </a:endParaRPr>
          </a:p>
        </p:txBody>
      </p:sp>
      <p:sp>
        <p:nvSpPr>
          <p:cNvPr id="974"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5"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Used by breadth-first search</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Safe there, because BFS can never later find a better path to a state it has already reached</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Saves expanding an entire final tier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Lets reached be a plain set of states, not a state → node map</a:t>
            </a:r>
            <a:endParaRPr lang="en-US" sz="1300" b="0" u="none" strike="noStrike">
              <a:solidFill>
                <a:srgbClr val="000000"/>
              </a:solidFill>
              <a:effectLst/>
              <a:uFillTx/>
              <a:latin typeface="Arial"/>
            </a:endParaRPr>
          </a:p>
        </p:txBody>
      </p:sp>
      <p:sp>
        <p:nvSpPr>
          <p:cNvPr id="976"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Late: test when a node is popped</a:t>
            </a:r>
            <a:endParaRPr lang="en-US" sz="1400" b="0" u="none" strike="noStrike">
              <a:solidFill>
                <a:srgbClr val="000000"/>
              </a:solidFill>
              <a:effectLst/>
              <a:uFillTx/>
              <a:latin typeface="Arial"/>
            </a:endParaRPr>
          </a:p>
        </p:txBody>
      </p:sp>
      <p:sp>
        <p:nvSpPr>
          <p:cNvPr id="977"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78"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dirty="0">
                <a:solidFill>
                  <a:srgbClr val="102A4C"/>
                </a:solidFill>
                <a:effectLst/>
                <a:uFillTx/>
                <a:latin typeface="Aptos"/>
              </a:rPr>
              <a:t>•  Used by best-first search and uniform-cost search</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Required, not optional: a goal can be generated on an expensive path before a cheaper path to it is found</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The goal is returned only when it is the cheapest thing on the frontier</a:t>
            </a:r>
            <a:endParaRPr lang="en-US" sz="1300" b="0" u="none" strike="noStrike" dirty="0">
              <a:solidFill>
                <a:srgbClr val="000000"/>
              </a:solidFill>
              <a:effectLst/>
              <a:uFillTx/>
              <a:latin typeface="Arial"/>
            </a:endParaRPr>
          </a:p>
          <a:p>
            <a:pPr defTabSz="914400">
              <a:lnSpc>
                <a:spcPct val="100000"/>
              </a:lnSpc>
              <a:spcAft>
                <a:spcPts val="700"/>
              </a:spcAft>
            </a:pPr>
            <a:r>
              <a:rPr lang="en-US" sz="1300" b="0" u="none" strike="noStrike" dirty="0">
                <a:solidFill>
                  <a:srgbClr val="102A4C"/>
                </a:solidFill>
                <a:effectLst/>
                <a:uFillTx/>
                <a:latin typeface="Aptos"/>
              </a:rPr>
              <a:t>•  This is exactly what makes UCS cost-optimal</a:t>
            </a:r>
            <a:endParaRPr lang="en-US" sz="1300" b="0" u="none" strike="noStrike" dirty="0">
              <a:solidFill>
                <a:srgbClr val="000000"/>
              </a:solidFill>
              <a:effectLst/>
              <a:uFillTx/>
              <a:latin typeface="Arial"/>
            </a:endParaRPr>
          </a:p>
        </p:txBody>
      </p:sp>
      <p:sp>
        <p:nvSpPr>
          <p:cNvPr id="979" name="Rounded Rectangle 12"/>
          <p:cNvSpPr/>
          <p:nvPr/>
        </p:nvSpPr>
        <p:spPr>
          <a:xfrm>
            <a:off x="914400" y="3931920"/>
            <a:ext cx="10423800" cy="6854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980" name="Rectangle 13"/>
          <p:cNvSpPr/>
          <p:nvPr/>
        </p:nvSpPr>
        <p:spPr>
          <a:xfrm>
            <a:off x="1097280" y="402336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500" b="1" u="none" strike="noStrike">
                <a:solidFill>
                  <a:srgbClr val="112E5C"/>
                </a:solidFill>
                <a:effectLst/>
                <a:uFillTx/>
                <a:latin typeface="Aptos"/>
              </a:rPr>
              <a:t>Sibiu → Bucharest:  Fagaras generates Bucharest at 310.  Pitesti later generates Bucharest at 278.</a:t>
            </a:r>
            <a:endParaRPr lang="en-US" sz="1500" b="0" u="none" strike="noStrike">
              <a:solidFill>
                <a:srgbClr val="000000"/>
              </a:solidFill>
              <a:effectLst/>
              <a:uFillTx/>
              <a:latin typeface="Arial"/>
            </a:endParaRPr>
          </a:p>
        </p:txBody>
      </p:sp>
      <p:sp>
        <p:nvSpPr>
          <p:cNvPr id="981" name="Rectangle 14"/>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dirty="0">
                <a:solidFill>
                  <a:srgbClr val="102A4C"/>
                </a:solidFill>
                <a:effectLst/>
                <a:uFillTx/>
                <a:latin typeface="Aptos"/>
              </a:rPr>
              <a:t>Test on generation here and UCS returns 310. Test on expansion and it returns 278.</a:t>
            </a:r>
            <a:endParaRPr lang="en-US" sz="1700" b="0" u="none" strike="noStrike" dirty="0">
              <a:solidFill>
                <a:srgbClr val="000000"/>
              </a:solidFill>
              <a:effectLst/>
              <a:uFillTx/>
              <a:latin typeface="Arial"/>
            </a:endParaRPr>
          </a:p>
        </p:txBody>
      </p:sp>
      <p:sp>
        <p:nvSpPr>
          <p:cNvPr id="982" name="Rectangle 15"/>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dirty="0">
                <a:solidFill>
                  <a:srgbClr val="9B1C1C"/>
                </a:solidFill>
                <a:effectLst/>
                <a:uFillTx/>
                <a:latin typeface="Aptos"/>
              </a:rPr>
              <a:t>One line of the algorithm, and the difference between correct and merely plausible.</a:t>
            </a:r>
            <a:endParaRPr lang="en-US" sz="1500" b="0" u="none" strike="noStrike" dirty="0">
              <a:solidFill>
                <a:srgbClr val="000000"/>
              </a:solidFill>
              <a:effectLst/>
              <a:uFillTx/>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8600" y="228600"/>
            <a:ext cx="11750040" cy="749808"/>
          </a:xfrm>
          <a:prstGeom prst="rect">
            <a:avLst/>
          </a:prstGeom>
          <a:solidFill>
            <a:srgbClr val="143763"/>
          </a:solidFill>
          <a:ln w="12700">
            <a:solidFill>
              <a:srgbClr val="143763"/>
            </a:solidFill>
            <a:prstDash val="solid"/>
          </a:ln>
        </p:spPr>
        <p:txBody>
          <a:bodyPr/>
          <a:lstStyle/>
          <a:p>
            <a:endParaRPr lang="en-US"/>
          </a:p>
        </p:txBody>
      </p:sp>
      <p:sp>
        <p:nvSpPr>
          <p:cNvPr id="3" name="Shape 1"/>
          <p:cNvSpPr/>
          <p:nvPr/>
        </p:nvSpPr>
        <p:spPr>
          <a:xfrm>
            <a:off x="228600" y="978408"/>
            <a:ext cx="11750040" cy="82296"/>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521208" y="384048"/>
            <a:ext cx="10789920" cy="34747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Uniform-Cost Search (UCS) / Dijkstra - "Dye-kstra"</a:t>
            </a:r>
            <a:endParaRPr lang="en-US" sz="2000" dirty="0"/>
          </a:p>
        </p:txBody>
      </p:sp>
      <p:sp>
        <p:nvSpPr>
          <p:cNvPr id="5" name="Text 3"/>
          <p:cNvSpPr/>
          <p:nvPr/>
        </p:nvSpPr>
        <p:spPr>
          <a:xfrm>
            <a:off x="502920" y="6565392"/>
            <a:ext cx="3108960" cy="118872"/>
          </a:xfrm>
          <a:prstGeom prst="rect">
            <a:avLst/>
          </a:prstGeom>
          <a:noFill/>
          <a:ln/>
        </p:spPr>
        <p:txBody>
          <a:bodyPr wrap="square" lIns="0" tIns="0" rIns="0" bIns="0" rtlCol="0" anchor="ctr"/>
          <a:lstStyle/>
          <a:p>
            <a:pPr marL="0" indent="0">
              <a:buNone/>
            </a:pPr>
            <a:r>
              <a:rPr lang="en-US" sz="700" dirty="0">
                <a:solidFill>
                  <a:srgbClr val="143763"/>
                </a:solidFill>
              </a:rPr>
              <a:t>CSU Channel Islands · Department of Computer Science</a:t>
            </a:r>
            <a:endParaRPr lang="en-US" sz="700" dirty="0"/>
          </a:p>
        </p:txBody>
      </p:sp>
      <p:sp>
        <p:nvSpPr>
          <p:cNvPr id="6" name="Text 4"/>
          <p:cNvSpPr/>
          <p:nvPr/>
        </p:nvSpPr>
        <p:spPr>
          <a:xfrm>
            <a:off x="9784080" y="6565392"/>
            <a:ext cx="2011680" cy="118872"/>
          </a:xfrm>
          <a:prstGeom prst="rect">
            <a:avLst/>
          </a:prstGeom>
          <a:noFill/>
          <a:ln/>
        </p:spPr>
        <p:txBody>
          <a:bodyPr wrap="square" lIns="0" tIns="0" rIns="0" bIns="0" rtlCol="0" anchor="ctr"/>
          <a:lstStyle/>
          <a:p>
            <a:pPr marL="0" indent="0" algn="r">
              <a:buNone/>
            </a:pPr>
            <a:r>
              <a:rPr lang="en-US" sz="700" dirty="0">
                <a:solidFill>
                  <a:srgbClr val="143763"/>
                </a:solidFill>
              </a:rPr>
              <a:t>COMP 469 · Chapter 3 · Sections 3.1-3.4</a:t>
            </a:r>
            <a:endParaRPr lang="en-US" sz="700" dirty="0"/>
          </a:p>
        </p:txBody>
      </p:sp>
      <p:sp>
        <p:nvSpPr>
          <p:cNvPr id="7" name="Text 5"/>
          <p:cNvSpPr/>
          <p:nvPr/>
        </p:nvSpPr>
        <p:spPr>
          <a:xfrm>
            <a:off x="822960" y="1417320"/>
            <a:ext cx="1847088" cy="384048"/>
          </a:xfrm>
          <a:prstGeom prst="roundRect">
            <a:avLst>
              <a:gd name="adj" fmla="val 11905"/>
            </a:avLst>
          </a:prstGeom>
          <a:solidFill>
            <a:srgbClr val="D8E8FF"/>
          </a:solidFill>
          <a:ln w="15875">
            <a:solidFill>
              <a:srgbClr val="2B7DE9"/>
            </a:solidFill>
          </a:ln>
        </p:spPr>
        <p:txBody>
          <a:bodyPr wrap="square" lIns="0" tIns="0" rIns="0" bIns="0" rtlCol="0" anchor="ctr"/>
          <a:lstStyle/>
          <a:p>
            <a:pPr marL="0" indent="0" algn="ctr">
              <a:buNone/>
            </a:pPr>
            <a:r>
              <a:rPr lang="en-US" sz="1300" b="1" dirty="0">
                <a:solidFill>
                  <a:srgbClr val="2B7DE9"/>
                </a:solidFill>
                <a:latin typeface="Aptos Display" pitchFamily="34" charset="0"/>
                <a:ea typeface="Aptos Display" pitchFamily="34" charset="-122"/>
                <a:cs typeface="Aptos Display" pitchFamily="34" charset="-120"/>
              </a:rPr>
              <a:t>Strategy</a:t>
            </a:r>
            <a:endParaRPr lang="en-US" sz="1300" dirty="0"/>
          </a:p>
        </p:txBody>
      </p:sp>
      <p:sp>
        <p:nvSpPr>
          <p:cNvPr id="8" name="Text 6"/>
          <p:cNvSpPr/>
          <p:nvPr/>
        </p:nvSpPr>
        <p:spPr>
          <a:xfrm>
            <a:off x="2880360" y="1481328"/>
            <a:ext cx="4343400" cy="292608"/>
          </a:xfrm>
          <a:prstGeom prst="rect">
            <a:avLst/>
          </a:prstGeom>
          <a:noFill/>
          <a:ln/>
        </p:spPr>
        <p:txBody>
          <a:bodyPr wrap="square" lIns="0" tIns="0" rIns="0" bIns="0" rtlCol="0" anchor="ctr">
            <a:normAutofit fontScale="85000" lnSpcReduction="10000"/>
          </a:bodyPr>
          <a:lstStyle/>
          <a:p>
            <a:pPr marL="0" indent="0">
              <a:buNone/>
            </a:pPr>
            <a:r>
              <a:rPr lang="en-US" sz="1250" b="1" dirty="0">
                <a:solidFill>
                  <a:srgbClr val="002D5B"/>
                </a:solidFill>
              </a:rPr>
              <a:t>Expand the frontier node with the lowest cumulative path cost g(n).</a:t>
            </a:r>
            <a:endParaRPr lang="en-US" sz="1250" dirty="0"/>
          </a:p>
        </p:txBody>
      </p:sp>
      <p:sp>
        <p:nvSpPr>
          <p:cNvPr id="9" name="Text 7"/>
          <p:cNvSpPr/>
          <p:nvPr/>
        </p:nvSpPr>
        <p:spPr>
          <a:xfrm>
            <a:off x="822960" y="2103120"/>
            <a:ext cx="1847088" cy="384048"/>
          </a:xfrm>
          <a:prstGeom prst="roundRect">
            <a:avLst>
              <a:gd name="adj" fmla="val 11905"/>
            </a:avLst>
          </a:prstGeom>
          <a:solidFill>
            <a:srgbClr val="DDF4E7"/>
          </a:solidFill>
          <a:ln w="15875">
            <a:solidFill>
              <a:srgbClr val="0F7A44"/>
            </a:solidFill>
          </a:ln>
        </p:spPr>
        <p:txBody>
          <a:bodyPr wrap="square" lIns="0" tIns="0" rIns="0" bIns="0" rtlCol="0" anchor="ctr"/>
          <a:lstStyle/>
          <a:p>
            <a:pPr marL="0" indent="0" algn="ctr">
              <a:buNone/>
            </a:pPr>
            <a:r>
              <a:rPr lang="en-US" sz="1300" b="1" dirty="0">
                <a:solidFill>
                  <a:srgbClr val="0F7A44"/>
                </a:solidFill>
                <a:latin typeface="Aptos Display" pitchFamily="34" charset="0"/>
                <a:ea typeface="Aptos Display" pitchFamily="34" charset="-122"/>
                <a:cs typeface="Aptos Display" pitchFamily="34" charset="-120"/>
              </a:rPr>
              <a:t>Implementation</a:t>
            </a:r>
            <a:endParaRPr lang="en-US" sz="1300" dirty="0"/>
          </a:p>
        </p:txBody>
      </p:sp>
      <p:sp>
        <p:nvSpPr>
          <p:cNvPr id="10" name="Text 8"/>
          <p:cNvSpPr/>
          <p:nvPr/>
        </p:nvSpPr>
        <p:spPr>
          <a:xfrm>
            <a:off x="2880360" y="2093976"/>
            <a:ext cx="4343400" cy="438912"/>
          </a:xfrm>
          <a:prstGeom prst="rect">
            <a:avLst/>
          </a:prstGeom>
          <a:noFill/>
          <a:ln/>
        </p:spPr>
        <p:txBody>
          <a:bodyPr wrap="square" lIns="0" tIns="0" rIns="0" bIns="0" rtlCol="0" anchor="ctr">
            <a:normAutofit/>
          </a:bodyPr>
          <a:lstStyle/>
          <a:p>
            <a:pPr marL="0" indent="0">
              <a:buNone/>
            </a:pPr>
            <a:r>
              <a:rPr lang="en-US" sz="1220" dirty="0">
                <a:solidFill>
                  <a:srgbClr val="002D5B"/>
                </a:solidFill>
              </a:rPr>
              <a:t>Priority queue ordered by path cost from the start; re-prioritize when a cheaper path is discovered.</a:t>
            </a:r>
            <a:endParaRPr lang="en-US" sz="1220" dirty="0"/>
          </a:p>
        </p:txBody>
      </p:sp>
      <p:sp>
        <p:nvSpPr>
          <p:cNvPr id="11" name="Text 9"/>
          <p:cNvSpPr/>
          <p:nvPr/>
        </p:nvSpPr>
        <p:spPr>
          <a:xfrm>
            <a:off x="822960" y="2816352"/>
            <a:ext cx="1847088" cy="384048"/>
          </a:xfrm>
          <a:prstGeom prst="roundRect">
            <a:avLst>
              <a:gd name="adj" fmla="val 11905"/>
            </a:avLst>
          </a:prstGeom>
          <a:solidFill>
            <a:srgbClr val="FFE4AE"/>
          </a:solidFill>
          <a:ln w="15875">
            <a:solidFill>
              <a:srgbClr val="F5A623"/>
            </a:solidFill>
          </a:ln>
        </p:spPr>
        <p:txBody>
          <a:bodyPr wrap="square" lIns="0" tIns="0" rIns="0" bIns="0" rtlCol="0" anchor="ctr"/>
          <a:lstStyle/>
          <a:p>
            <a:pPr marL="0" indent="0" algn="ctr">
              <a:buNone/>
            </a:pPr>
            <a:r>
              <a:rPr lang="en-US" sz="1300" b="1" dirty="0">
                <a:solidFill>
                  <a:srgbClr val="143763"/>
                </a:solidFill>
                <a:latin typeface="Aptos Display" pitchFamily="34" charset="0"/>
                <a:ea typeface="Aptos Display" pitchFamily="34" charset="-122"/>
                <a:cs typeface="Aptos Display" pitchFamily="34" charset="-120"/>
              </a:rPr>
              <a:t>Guarantee</a:t>
            </a:r>
            <a:endParaRPr lang="en-US" sz="1300" dirty="0"/>
          </a:p>
        </p:txBody>
      </p:sp>
      <p:sp>
        <p:nvSpPr>
          <p:cNvPr id="12" name="Text 10"/>
          <p:cNvSpPr/>
          <p:nvPr/>
        </p:nvSpPr>
        <p:spPr>
          <a:xfrm>
            <a:off x="2880360" y="2871216"/>
            <a:ext cx="4343400" cy="310896"/>
          </a:xfrm>
          <a:prstGeom prst="rect">
            <a:avLst/>
          </a:prstGeom>
          <a:noFill/>
          <a:ln/>
        </p:spPr>
        <p:txBody>
          <a:bodyPr wrap="square" lIns="0" tIns="0" rIns="0" bIns="0" rtlCol="0" anchor="ctr">
            <a:normAutofit fontScale="92500"/>
          </a:bodyPr>
          <a:lstStyle/>
          <a:p>
            <a:pPr marL="0" indent="0">
              <a:buNone/>
            </a:pPr>
            <a:r>
              <a:rPr lang="en-US" sz="1220" dirty="0">
                <a:solidFill>
                  <a:srgbClr val="002D5B"/>
                </a:solidFill>
              </a:rPr>
              <a:t>Complete and cost-optimal when every action cost is at least ε &gt; 0.</a:t>
            </a:r>
            <a:endParaRPr lang="en-US" sz="1220" dirty="0"/>
          </a:p>
        </p:txBody>
      </p:sp>
      <p:sp>
        <p:nvSpPr>
          <p:cNvPr id="13" name="Shape 11"/>
          <p:cNvSpPr/>
          <p:nvPr/>
        </p:nvSpPr>
        <p:spPr>
          <a:xfrm>
            <a:off x="822960" y="3675888"/>
            <a:ext cx="6217920" cy="1261872"/>
          </a:xfrm>
          <a:prstGeom prst="roundRect">
            <a:avLst>
              <a:gd name="adj" fmla="val 3623"/>
            </a:avLst>
          </a:prstGeom>
          <a:solidFill>
            <a:srgbClr val="FFFFFF">
              <a:alpha val="98000"/>
            </a:srgbClr>
          </a:solidFill>
          <a:ln w="10160">
            <a:solidFill>
              <a:srgbClr val="B6C7D8"/>
            </a:solidFill>
            <a:prstDash val="solid"/>
          </a:ln>
        </p:spPr>
        <p:txBody>
          <a:bodyPr/>
          <a:lstStyle/>
          <a:p>
            <a:endParaRPr lang="en-US"/>
          </a:p>
        </p:txBody>
      </p:sp>
      <p:sp>
        <p:nvSpPr>
          <p:cNvPr id="14" name="Text 12"/>
          <p:cNvSpPr/>
          <p:nvPr/>
        </p:nvSpPr>
        <p:spPr>
          <a:xfrm>
            <a:off x="1042416" y="3822192"/>
            <a:ext cx="1645920" cy="201168"/>
          </a:xfrm>
          <a:prstGeom prst="rect">
            <a:avLst/>
          </a:prstGeom>
          <a:noFill/>
          <a:ln/>
        </p:spPr>
        <p:txBody>
          <a:bodyPr wrap="square" lIns="0" tIns="0" rIns="0" bIns="0" rtlCol="0" anchor="ctr"/>
          <a:lstStyle/>
          <a:p>
            <a:pPr marL="0" indent="0">
              <a:buNone/>
            </a:pPr>
            <a:r>
              <a:rPr lang="en-US" sz="1250" b="1" dirty="0">
                <a:solidFill>
                  <a:srgbClr val="143763"/>
                </a:solidFill>
              </a:rPr>
              <a:t>UCS properties</a:t>
            </a:r>
            <a:endParaRPr lang="en-US" sz="1250" dirty="0"/>
          </a:p>
        </p:txBody>
      </p:sp>
      <p:sp>
        <p:nvSpPr>
          <p:cNvPr id="15" name="Text 13"/>
          <p:cNvSpPr/>
          <p:nvPr/>
        </p:nvSpPr>
        <p:spPr>
          <a:xfrm>
            <a:off x="1078992" y="4096512"/>
            <a:ext cx="5532120" cy="603504"/>
          </a:xfrm>
          <a:prstGeom prst="rect">
            <a:avLst/>
          </a:prstGeom>
          <a:noFill/>
          <a:ln/>
        </p:spPr>
        <p:txBody>
          <a:bodyPr wrap="square" lIns="254" tIns="254" rIns="254" bIns="254" rtlCol="0" anchor="ctr">
            <a:normAutofit/>
          </a:bodyPr>
          <a:lstStyle/>
          <a:p>
            <a:pPr marL="0" indent="0">
              <a:buNone/>
            </a:pPr>
            <a:r>
              <a:rPr lang="en-US" sz="1080" dirty="0">
                <a:solidFill>
                  <a:srgbClr val="143763"/>
                </a:solidFill>
              </a:rPr>
              <a:t>• Expands all nodes with cost &lt; C* before the cheapest solution.</a:t>
            </a:r>
            <a:endParaRPr lang="en-US" sz="1080" dirty="0"/>
          </a:p>
          <a:p>
            <a:pPr marL="0" indent="0">
              <a:buNone/>
            </a:pPr>
            <a:r>
              <a:rPr lang="en-US" sz="1080" dirty="0">
                <a:solidFill>
                  <a:srgbClr val="143763"/>
                </a:solidFill>
              </a:rPr>
              <a:t>• Effective depth is approximately C*/ε; worst-case nodes are O(b^(C*/ε)).</a:t>
            </a:r>
            <a:endParaRPr lang="en-US" sz="1080" dirty="0"/>
          </a:p>
          <a:p>
            <a:pPr marL="0" indent="0">
              <a:buNone/>
            </a:pPr>
            <a:r>
              <a:rPr lang="en-US" sz="1080" dirty="0">
                <a:solidFill>
                  <a:srgbClr val="143763"/>
                </a:solidFill>
              </a:rPr>
              <a:t>• Frontier storage is roughly the last cost tier.</a:t>
            </a:r>
            <a:endParaRPr lang="en-US" sz="1080" dirty="0"/>
          </a:p>
        </p:txBody>
      </p:sp>
      <p:sp>
        <p:nvSpPr>
          <p:cNvPr id="16" name="Shape 14"/>
          <p:cNvSpPr/>
          <p:nvPr/>
        </p:nvSpPr>
        <p:spPr>
          <a:xfrm>
            <a:off x="2670048" y="5504688"/>
            <a:ext cx="6949440" cy="512064"/>
          </a:xfrm>
          <a:prstGeom prst="roundRect">
            <a:avLst>
              <a:gd name="adj" fmla="val 7143"/>
            </a:avLst>
          </a:prstGeom>
          <a:solidFill>
            <a:srgbClr val="143763"/>
          </a:solidFill>
          <a:ln w="12700">
            <a:solidFill>
              <a:srgbClr val="143763"/>
            </a:solidFill>
            <a:prstDash val="solid"/>
          </a:ln>
        </p:spPr>
        <p:txBody>
          <a:bodyPr/>
          <a:lstStyle/>
          <a:p>
            <a:endParaRPr lang="en-US"/>
          </a:p>
        </p:txBody>
      </p:sp>
      <p:sp>
        <p:nvSpPr>
          <p:cNvPr id="17" name="Text 15"/>
          <p:cNvSpPr/>
          <p:nvPr/>
        </p:nvSpPr>
        <p:spPr>
          <a:xfrm>
            <a:off x="2852928" y="5650992"/>
            <a:ext cx="6583680" cy="201168"/>
          </a:xfrm>
          <a:prstGeom prst="rect">
            <a:avLst/>
          </a:prstGeom>
          <a:noFill/>
          <a:ln/>
        </p:spPr>
        <p:txBody>
          <a:bodyPr wrap="square" lIns="0" tIns="0" rIns="0" bIns="0" rtlCol="0" anchor="ctr"/>
          <a:lstStyle/>
          <a:p>
            <a:pPr marL="0" indent="0" algn="ctr">
              <a:buNone/>
            </a:pPr>
            <a:r>
              <a:rPr lang="en-US" sz="1600" b="1" dirty="0">
                <a:solidFill>
                  <a:srgbClr val="FFFFFF"/>
                </a:solidFill>
              </a:rPr>
              <a:t>BFS spreads by depth. UCS spreads by cost contours.</a:t>
            </a:r>
            <a:endParaRPr lang="en-US" sz="1600" dirty="0"/>
          </a:p>
        </p:txBody>
      </p:sp>
      <p:pic>
        <p:nvPicPr>
          <p:cNvPr id="1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52360" y="1426464"/>
            <a:ext cx="3977640" cy="39776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Uniform-Cost Search Is One Line</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11186160" cy="11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1063752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3.9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10637520" cy="3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1100" b="1" u="none" strike="noStrike" dirty="0">
                <a:solidFill>
                  <a:srgbClr val="F6A01A"/>
                </a:solidFill>
                <a:effectLst/>
                <a:uFillTx/>
                <a:latin typeface="Consolas"/>
              </a:rPr>
              <a:t>function</a:t>
            </a:r>
            <a:r>
              <a:rPr lang="en-US" sz="1100" b="0" u="none" strike="noStrike" dirty="0">
                <a:solidFill>
                  <a:srgbClr val="EAF2FF"/>
                </a:solidFill>
                <a:effectLst/>
                <a:uFillTx/>
                <a:latin typeface="Consolas"/>
              </a:rPr>
              <a:t> UNIFORM-COST-SEARCH(problem) </a:t>
            </a:r>
            <a:r>
              <a:rPr lang="en-US" sz="1100" b="1" u="none" strike="noStrike" dirty="0">
                <a:solidFill>
                  <a:srgbClr val="F6A01A"/>
                </a:solidFill>
                <a:effectLst/>
                <a:uFillTx/>
                <a:latin typeface="Consolas"/>
              </a:rPr>
              <a:t>returns</a:t>
            </a:r>
            <a:r>
              <a:rPr lang="en-US" sz="1100" b="0" u="none" strike="noStrike" dirty="0">
                <a:solidFill>
                  <a:srgbClr val="EAF2FF"/>
                </a:solidFill>
                <a:effectLst/>
                <a:uFillTx/>
                <a:latin typeface="Consolas"/>
              </a:rPr>
              <a:t> a solution node, </a:t>
            </a:r>
            <a:r>
              <a:rPr lang="en-US" sz="1100" b="1" u="none" strike="noStrike" dirty="0">
                <a:solidFill>
                  <a:srgbClr val="F6A01A"/>
                </a:solidFill>
                <a:effectLst/>
                <a:uFillTx/>
                <a:latin typeface="Consolas"/>
              </a:rPr>
              <a:t>or</a:t>
            </a:r>
            <a:r>
              <a:rPr lang="en-US" sz="1100" b="0" u="none" strike="noStrike" dirty="0">
                <a:solidFill>
                  <a:srgbClr val="EAF2FF"/>
                </a:solidFill>
                <a:effectLst/>
                <a:uFillTx/>
                <a:latin typeface="Consolas"/>
              </a:rPr>
              <a:t> </a:t>
            </a:r>
            <a:r>
              <a:rPr lang="en-US" sz="1100" b="1" u="none" strike="noStrike" dirty="0">
                <a:solidFill>
                  <a:srgbClr val="F2A0A0"/>
                </a:solidFill>
                <a:effectLst/>
                <a:uFillTx/>
                <a:latin typeface="Consolas"/>
              </a:rPr>
              <a:t>failure</a:t>
            </a:r>
            <a:endParaRPr lang="en-US" sz="1100" b="0" u="none" strike="noStrike">
              <a:solidFill>
                <a:srgbClr val="000000"/>
              </a:solidFill>
              <a:effectLst/>
              <a:uFillTx/>
              <a:latin typeface="Arial"/>
            </a:endParaRPr>
          </a:p>
          <a:p>
            <a:pPr algn="l" defTabSz="914400">
              <a:lnSpc>
                <a:spcPct val="100000"/>
              </a:lnSpc>
              <a:spcAft>
                <a:spcPts val="120"/>
              </a:spcAft>
              <a:buNone/>
            </a:pPr>
            <a:r>
              <a:rPr lang="en-US" sz="1100" b="0" u="none" strike="noStrike" dirty="0">
                <a:solidFill>
                  <a:srgbClr val="EAF2FF"/>
                </a:solidFill>
                <a:effectLst/>
                <a:uFillTx/>
                <a:latin typeface="Consolas"/>
              </a:rPr>
              <a:t>    </a:t>
            </a:r>
            <a:r>
              <a:rPr lang="en-US" sz="1100" b="1" u="none" strike="noStrike" dirty="0">
                <a:solidFill>
                  <a:srgbClr val="F6A01A"/>
                </a:solidFill>
                <a:effectLst/>
                <a:uFillTx/>
                <a:latin typeface="Consolas"/>
              </a:rPr>
              <a:t>return</a:t>
            </a:r>
            <a:r>
              <a:rPr lang="en-US" sz="1100" b="0" u="none" strike="noStrike" dirty="0">
                <a:solidFill>
                  <a:srgbClr val="EAF2FF"/>
                </a:solidFill>
                <a:effectLst/>
                <a:uFillTx/>
                <a:latin typeface="Consolas"/>
              </a:rPr>
              <a:t> BEST-FIRST-SEARCH(problem, PATH-COST)</a:t>
            </a:r>
            <a:endParaRPr lang="en-US" sz="1100" b="0" u="none" strike="noStrike">
              <a:solidFill>
                <a:srgbClr val="000000"/>
              </a:solidFill>
              <a:effectLst/>
              <a:uFillTx/>
              <a:latin typeface="Arial"/>
            </a:endParaRPr>
          </a:p>
        </p:txBody>
      </p:sp>
      <p:sp>
        <p:nvSpPr>
          <p:cNvPr id="2009" name="Text 2009"/>
          <p:cNvSpPr/>
          <p:nvPr/>
        </p:nvSpPr>
        <p:spPr>
          <a:xfrm>
            <a:off x="502920" y="2560000"/>
            <a:ext cx="11186160" cy="26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So what did BFS change, and why can uniform-cost search not copy it?</a:t>
            </a:r>
            <a:endParaRPr lang="en-US" sz="1100" b="0" u="none" strike="noStrike">
              <a:solidFill>
                <a:srgbClr val="000000"/>
              </a:solidFill>
              <a:effectLst/>
              <a:uFillTx/>
              <a:latin typeface="Arial"/>
            </a:endParaRPr>
          </a:p>
        </p:txBody>
      </p:sp>
      <p:sp>
        <p:nvSpPr>
          <p:cNvPr id="2010" name="Cmp 2010"/>
          <p:cNvSpPr/>
          <p:nvPr/>
        </p:nvSpPr>
        <p:spPr>
          <a:xfrm>
            <a:off x="50292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1" name="Text 2011"/>
          <p:cNvSpPr/>
          <p:nvPr/>
        </p:nvSpPr>
        <p:spPr>
          <a:xfrm>
            <a:off x="70866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frontier</a:t>
            </a:r>
            <a:endParaRPr lang="en-US" sz="1100" b="0" u="none" strike="noStrike">
              <a:solidFill>
                <a:srgbClr val="000000"/>
              </a:solidFill>
              <a:effectLst/>
              <a:uFillTx/>
              <a:latin typeface="Arial"/>
            </a:endParaRPr>
          </a:p>
        </p:txBody>
      </p:sp>
      <p:sp>
        <p:nvSpPr>
          <p:cNvPr id="2012" name="Text 2012"/>
          <p:cNvSpPr/>
          <p:nvPr/>
        </p:nvSpPr>
        <p:spPr>
          <a:xfrm>
            <a:off x="70866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FIFO queue — depth order</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priority queue on g(n) — cost order</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With unequal action costs, the shallowest path is no longer the cheapest one.</a:t>
            </a:r>
            <a:endParaRPr lang="en-US" sz="1100" b="0" u="none" strike="noStrike">
              <a:solidFill>
                <a:srgbClr val="000000"/>
              </a:solidFill>
              <a:effectLst/>
              <a:uFillTx/>
              <a:latin typeface="Arial"/>
            </a:endParaRPr>
          </a:p>
        </p:txBody>
      </p:sp>
      <p:sp>
        <p:nvSpPr>
          <p:cNvPr id="2013" name="Cmp 2013"/>
          <p:cNvSpPr/>
          <p:nvPr/>
        </p:nvSpPr>
        <p:spPr>
          <a:xfrm>
            <a:off x="432308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4" name="Text 2014"/>
          <p:cNvSpPr/>
          <p:nvPr/>
        </p:nvSpPr>
        <p:spPr>
          <a:xfrm>
            <a:off x="452882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goal test</a:t>
            </a:r>
            <a:endParaRPr lang="en-US" sz="1100" b="0" u="none" strike="noStrike">
              <a:solidFill>
                <a:srgbClr val="000000"/>
              </a:solidFill>
              <a:effectLst/>
              <a:uFillTx/>
              <a:latin typeface="Arial"/>
            </a:endParaRPr>
          </a:p>
        </p:txBody>
      </p:sp>
      <p:sp>
        <p:nvSpPr>
          <p:cNvPr id="2015" name="Text 2015"/>
          <p:cNvSpPr/>
          <p:nvPr/>
        </p:nvSpPr>
        <p:spPr>
          <a:xfrm>
            <a:off x="452882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on generation</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on expansion, when the node is popped</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goal can be generated on an expensive path long before a cheaper path to it is found.</a:t>
            </a:r>
            <a:endParaRPr lang="en-US" sz="1100" b="0" u="none" strike="noStrike">
              <a:solidFill>
                <a:srgbClr val="000000"/>
              </a:solidFill>
              <a:effectLst/>
              <a:uFillTx/>
              <a:latin typeface="Arial"/>
            </a:endParaRPr>
          </a:p>
        </p:txBody>
      </p:sp>
      <p:sp>
        <p:nvSpPr>
          <p:cNvPr id="2016" name="Cmp 2016"/>
          <p:cNvSpPr/>
          <p:nvPr/>
        </p:nvSpPr>
        <p:spPr>
          <a:xfrm>
            <a:off x="8143240" y="2900000"/>
            <a:ext cx="3545840" cy="198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7" name="Text 2017"/>
          <p:cNvSpPr/>
          <p:nvPr/>
        </p:nvSpPr>
        <p:spPr>
          <a:xfrm>
            <a:off x="8348980" y="3060020"/>
            <a:ext cx="3134360" cy="24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reached table</a:t>
            </a:r>
            <a:endParaRPr lang="en-US" sz="1100" b="0" u="none" strike="noStrike">
              <a:solidFill>
                <a:srgbClr val="000000"/>
              </a:solidFill>
              <a:effectLst/>
              <a:uFillTx/>
              <a:latin typeface="Arial"/>
            </a:endParaRPr>
          </a:p>
        </p:txBody>
      </p:sp>
      <p:sp>
        <p:nvSpPr>
          <p:cNvPr id="2018" name="Text 2018"/>
          <p:cNvSpPr/>
          <p:nvPr/>
        </p:nvSpPr>
        <p:spPr>
          <a:xfrm>
            <a:off x="8348980" y="3360020"/>
            <a:ext cx="3134360" cy="1359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900" b="1" u="none" strike="noStrike" dirty="0">
                <a:solidFill>
                  <a:srgbClr val="5C6B80"/>
                </a:solidFill>
                <a:effectLst/>
                <a:uFillTx/>
                <a:latin typeface="Aptos"/>
              </a:rPr>
              <a:t>BFS   </a:t>
            </a:r>
            <a:r>
              <a:rPr lang="en-US" sz="950" b="0" u="none" strike="noStrike" dirty="0">
                <a:solidFill>
                  <a:srgbClr val="102A4C"/>
                </a:solidFill>
                <a:effectLst/>
                <a:uFillTx/>
                <a:latin typeface="Aptos"/>
              </a:rPr>
              <a:t>a set of states</a:t>
            </a:r>
            <a:endParaRPr lang="en-US" sz="1100" b="0" u="none" strike="noStrike">
              <a:solidFill>
                <a:srgbClr val="000000"/>
              </a:solidFill>
              <a:effectLst/>
              <a:uFillTx/>
              <a:latin typeface="Arial"/>
            </a:endParaRPr>
          </a:p>
          <a:p>
            <a:pPr algn="l" defTabSz="914400">
              <a:lnSpc>
                <a:spcPct val="104000"/>
              </a:lnSpc>
              <a:spcAft>
                <a:spcPts val="340"/>
              </a:spcAft>
              <a:buNone/>
            </a:pPr>
            <a:r>
              <a:rPr lang="en-US" sz="900" b="1" u="none" strike="noStrike" dirty="0">
                <a:solidFill>
                  <a:srgbClr val="F6A01A"/>
                </a:solidFill>
                <a:effectLst/>
                <a:uFillTx/>
                <a:latin typeface="Aptos"/>
              </a:rPr>
              <a:t>UCS   </a:t>
            </a:r>
            <a:r>
              <a:rPr lang="en-US" sz="950" b="0" u="none" strike="noStrike" dirty="0">
                <a:solidFill>
                  <a:srgbClr val="102A4C"/>
                </a:solidFill>
                <a:effectLst/>
                <a:uFillTx/>
                <a:latin typeface="Aptos"/>
              </a:rPr>
              <a:t>a state-to-node map, plus the re-add rule</a:t>
            </a:r>
            <a:endParaRPr lang="en-US" sz="1100" b="0" u="none" strike="noStrike">
              <a:solidFill>
                <a:srgbClr val="000000"/>
              </a:solidFill>
              <a:effectLst/>
              <a:uFillTx/>
              <a:latin typeface="Arial"/>
            </a:endParaRPr>
          </a:p>
          <a:p>
            <a:pPr algn="l" defTabSz="914400">
              <a:lnSpc>
                <a:spcPct val="104000"/>
              </a:lnSpc>
              <a:buNone/>
            </a:pPr>
            <a:r>
              <a:rPr lang="en-US" sz="900" b="1" u="none" strike="noStrike" dirty="0">
                <a:solidFill>
                  <a:srgbClr val="9B1C1C"/>
                </a:solidFill>
                <a:effectLst/>
                <a:uFillTx/>
                <a:latin typeface="Aptos"/>
              </a:rPr>
              <a:t>Why  </a:t>
            </a:r>
            <a:r>
              <a:rPr lang="en-US" sz="900" b="0" u="none" strike="noStrike" dirty="0">
                <a:solidFill>
                  <a:srgbClr val="5C6B80"/>
                </a:solidFill>
                <a:effectLst/>
                <a:uFillTx/>
                <a:latin typeface="Aptos"/>
              </a:rPr>
              <a:t>A cheaper path to an already-reached state has to be able to replace the entry.</a:t>
            </a:r>
            <a:endParaRPr lang="en-US" sz="1100" b="0" u="none" strike="noStrike">
              <a:solidFill>
                <a:srgbClr val="000000"/>
              </a:solidFill>
              <a:effectLst/>
              <a:uFillTx/>
              <a:latin typeface="Arial"/>
            </a:endParaRPr>
          </a:p>
        </p:txBody>
      </p:sp>
      <p:sp>
        <p:nvSpPr>
          <p:cNvPr id="2019" name="Banner 2019"/>
          <p:cNvSpPr/>
          <p:nvPr/>
        </p:nvSpPr>
        <p:spPr>
          <a:xfrm>
            <a:off x="502920" y="5090000"/>
            <a:ext cx="11186160" cy="10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Set every action cost to 1 and uniform-cost search expands nodes in exactly BFS's order.</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Breadth-first search is the special case, not a different algorithm. That is why Figure 3.9 prints them together — and why the whole of Section 3.4 is one loop with a different priority.</a:t>
            </a:r>
            <a:endParaRPr lang="en-US" sz="110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99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99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Build: Do Not Stop When a Goal Is Generated</a:t>
            </a:r>
            <a:endParaRPr lang="en-US" sz="2600" b="0" u="none" strike="noStrike">
              <a:solidFill>
                <a:srgbClr val="000000"/>
              </a:solidFill>
              <a:effectLst/>
              <a:uFillTx/>
              <a:latin typeface="Arial"/>
            </a:endParaRPr>
          </a:p>
        </p:txBody>
      </p:sp>
      <p:sp>
        <p:nvSpPr>
          <p:cNvPr id="99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99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00" name="Shape 5"/>
          <p:cNvSpPr/>
          <p:nvPr/>
        </p:nvSpPr>
        <p:spPr>
          <a:xfrm>
            <a:off x="1078230" y="2213610"/>
            <a:ext cx="182880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1" name="Text 6"/>
          <p:cNvSpPr/>
          <p:nvPr/>
        </p:nvSpPr>
        <p:spPr>
          <a:xfrm>
            <a:off x="1946730" y="251917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80</a:t>
            </a:r>
            <a:endParaRPr lang="en-US" sz="900" b="0" u="none" strike="noStrike" dirty="0">
              <a:solidFill>
                <a:srgbClr val="000000"/>
              </a:solidFill>
              <a:effectLst/>
              <a:uFillTx/>
              <a:latin typeface="Arial"/>
            </a:endParaRPr>
          </a:p>
        </p:txBody>
      </p:sp>
      <p:sp>
        <p:nvSpPr>
          <p:cNvPr id="1002" name="Shape 7"/>
          <p:cNvSpPr/>
          <p:nvPr/>
        </p:nvSpPr>
        <p:spPr>
          <a:xfrm flipV="1">
            <a:off x="1078230" y="1482090"/>
            <a:ext cx="182880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3" name="Text 8"/>
          <p:cNvSpPr/>
          <p:nvPr/>
        </p:nvSpPr>
        <p:spPr>
          <a:xfrm>
            <a:off x="1838780" y="169948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99</a:t>
            </a:r>
            <a:endParaRPr lang="en-US" sz="900" b="0" u="none" strike="noStrike" dirty="0">
              <a:solidFill>
                <a:srgbClr val="000000"/>
              </a:solidFill>
              <a:effectLst/>
              <a:uFillTx/>
              <a:latin typeface="Arial"/>
            </a:endParaRPr>
          </a:p>
        </p:txBody>
      </p:sp>
      <p:sp>
        <p:nvSpPr>
          <p:cNvPr id="1004" name="Shape 9"/>
          <p:cNvSpPr/>
          <p:nvPr/>
        </p:nvSpPr>
        <p:spPr>
          <a:xfrm>
            <a:off x="2907030" y="3128010"/>
            <a:ext cx="1965960" cy="36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05" name="Text 10"/>
          <p:cNvSpPr/>
          <p:nvPr/>
        </p:nvSpPr>
        <p:spPr>
          <a:xfrm>
            <a:off x="3753030" y="29908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97</a:t>
            </a:r>
            <a:endParaRPr lang="en-US" sz="900" b="0" u="none" strike="noStrike">
              <a:solidFill>
                <a:srgbClr val="000000"/>
              </a:solidFill>
              <a:effectLst/>
              <a:uFillTx/>
              <a:latin typeface="Arial"/>
            </a:endParaRPr>
          </a:p>
        </p:txBody>
      </p:sp>
      <p:sp>
        <p:nvSpPr>
          <p:cNvPr id="1006" name="Shape 11"/>
          <p:cNvSpPr/>
          <p:nvPr/>
        </p:nvSpPr>
        <p:spPr>
          <a:xfrm flipV="1">
            <a:off x="4872990" y="2213610"/>
            <a:ext cx="1874520" cy="91440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7" name="Text 12"/>
          <p:cNvSpPr/>
          <p:nvPr/>
        </p:nvSpPr>
        <p:spPr>
          <a:xfrm>
            <a:off x="5628420" y="253365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5C6B80"/>
                </a:solidFill>
                <a:effectLst/>
                <a:uFillTx/>
                <a:latin typeface="Aptos"/>
              </a:rPr>
              <a:t>101</a:t>
            </a:r>
            <a:endParaRPr lang="en-US" sz="900" b="0" u="none" strike="noStrike" dirty="0">
              <a:solidFill>
                <a:srgbClr val="000000"/>
              </a:solidFill>
              <a:effectLst/>
              <a:uFillTx/>
              <a:latin typeface="Arial"/>
            </a:endParaRPr>
          </a:p>
        </p:txBody>
      </p:sp>
      <p:sp>
        <p:nvSpPr>
          <p:cNvPr id="1008" name="Shape 13"/>
          <p:cNvSpPr/>
          <p:nvPr/>
        </p:nvSpPr>
        <p:spPr>
          <a:xfrm>
            <a:off x="2907030" y="1482090"/>
            <a:ext cx="3840480" cy="731520"/>
          </a:xfrm>
          <a:prstGeom prst="line">
            <a:avLst/>
          </a:prstGeom>
          <a:ln w="2032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009" name="Text 14"/>
          <p:cNvSpPr/>
          <p:nvPr/>
        </p:nvSpPr>
        <p:spPr>
          <a:xfrm>
            <a:off x="4709160" y="1691640"/>
            <a:ext cx="273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5C6B80"/>
                </a:solidFill>
                <a:effectLst/>
                <a:uFillTx/>
                <a:latin typeface="Aptos"/>
              </a:rPr>
              <a:t>211</a:t>
            </a:r>
            <a:endParaRPr lang="en-US" sz="900" b="0" u="none" strike="noStrike">
              <a:solidFill>
                <a:srgbClr val="000000"/>
              </a:solidFill>
              <a:effectLst/>
              <a:uFillTx/>
              <a:latin typeface="Arial"/>
            </a:endParaRPr>
          </a:p>
        </p:txBody>
      </p:sp>
      <p:sp>
        <p:nvSpPr>
          <p:cNvPr id="1010" name="Text 15"/>
          <p:cNvSpPr/>
          <p:nvPr/>
        </p:nvSpPr>
        <p:spPr>
          <a:xfrm>
            <a:off x="932070" y="2067450"/>
            <a:ext cx="292320" cy="292320"/>
          </a:xfrm>
          <a:prstGeom prst="ellipse">
            <a:avLst/>
          </a:prstGeom>
          <a:solidFill>
            <a:srgbClr val="FFE5B6"/>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011" name="Text 16"/>
          <p:cNvSpPr/>
          <p:nvPr/>
        </p:nvSpPr>
        <p:spPr>
          <a:xfrm>
            <a:off x="55626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a:solidFill>
                  <a:srgbClr val="102A4C"/>
                </a:solidFill>
                <a:effectLst/>
                <a:uFillTx/>
                <a:latin typeface="Aptos"/>
              </a:rPr>
              <a:t>Sibiu</a:t>
            </a:r>
            <a:endParaRPr lang="en-US" sz="900" b="0" u="none" strike="noStrike" dirty="0">
              <a:solidFill>
                <a:srgbClr val="000000"/>
              </a:solidFill>
              <a:effectLst/>
              <a:uFillTx/>
              <a:latin typeface="Arial"/>
            </a:endParaRPr>
          </a:p>
        </p:txBody>
      </p:sp>
      <p:sp>
        <p:nvSpPr>
          <p:cNvPr id="1012" name="Text 17"/>
          <p:cNvSpPr/>
          <p:nvPr/>
        </p:nvSpPr>
        <p:spPr>
          <a:xfrm>
            <a:off x="276087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013" name="Text 18"/>
          <p:cNvSpPr/>
          <p:nvPr/>
        </p:nvSpPr>
        <p:spPr>
          <a:xfrm>
            <a:off x="240411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Rimnicu</a:t>
            </a:r>
            <a:endParaRPr lang="en-US" sz="900" b="0" u="none" strike="noStrike">
              <a:solidFill>
                <a:srgbClr val="000000"/>
              </a:solidFill>
              <a:effectLst/>
              <a:uFillTx/>
              <a:latin typeface="Arial"/>
            </a:endParaRPr>
          </a:p>
        </p:txBody>
      </p:sp>
      <p:sp>
        <p:nvSpPr>
          <p:cNvPr id="1014" name="Text 19"/>
          <p:cNvSpPr/>
          <p:nvPr/>
        </p:nvSpPr>
        <p:spPr>
          <a:xfrm>
            <a:off x="2779920" y="13168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015" name="Text 20"/>
          <p:cNvSpPr/>
          <p:nvPr/>
        </p:nvSpPr>
        <p:spPr>
          <a:xfrm>
            <a:off x="2423340" y="1646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dirty="0" err="1">
                <a:solidFill>
                  <a:srgbClr val="102A4C"/>
                </a:solidFill>
                <a:effectLst/>
                <a:uFillTx/>
                <a:latin typeface="Aptos"/>
              </a:rPr>
              <a:t>Fagaras</a:t>
            </a:r>
            <a:endParaRPr lang="en-US" sz="900" b="0" u="none" strike="noStrike" dirty="0">
              <a:solidFill>
                <a:srgbClr val="000000"/>
              </a:solidFill>
              <a:effectLst/>
              <a:uFillTx/>
              <a:latin typeface="Arial"/>
            </a:endParaRPr>
          </a:p>
        </p:txBody>
      </p:sp>
      <p:sp>
        <p:nvSpPr>
          <p:cNvPr id="1016" name="Text 21"/>
          <p:cNvSpPr/>
          <p:nvPr/>
        </p:nvSpPr>
        <p:spPr>
          <a:xfrm>
            <a:off x="4726830" y="298185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017" name="Text 22"/>
          <p:cNvSpPr/>
          <p:nvPr/>
        </p:nvSpPr>
        <p:spPr>
          <a:xfrm>
            <a:off x="4370070" y="338397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Pitesti</a:t>
            </a:r>
            <a:endParaRPr lang="en-US" sz="900" b="0" u="none" strike="noStrike">
              <a:solidFill>
                <a:srgbClr val="000000"/>
              </a:solidFill>
              <a:effectLst/>
              <a:uFillTx/>
              <a:latin typeface="Arial"/>
            </a:endParaRPr>
          </a:p>
        </p:txBody>
      </p:sp>
      <p:sp>
        <p:nvSpPr>
          <p:cNvPr id="1018" name="Text 23"/>
          <p:cNvSpPr/>
          <p:nvPr/>
        </p:nvSpPr>
        <p:spPr>
          <a:xfrm>
            <a:off x="6620400" y="204840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019" name="Text 24"/>
          <p:cNvSpPr/>
          <p:nvPr/>
        </p:nvSpPr>
        <p:spPr>
          <a:xfrm>
            <a:off x="6263640" y="2450520"/>
            <a:ext cx="1005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0" u="none" strike="noStrike">
                <a:solidFill>
                  <a:srgbClr val="102A4C"/>
                </a:solidFill>
                <a:effectLst/>
                <a:uFillTx/>
                <a:latin typeface="Aptos"/>
              </a:rPr>
              <a:t>Bucharest</a:t>
            </a:r>
            <a:endParaRPr lang="en-US" sz="900" b="0" u="none" strike="noStrike">
              <a:solidFill>
                <a:srgbClr val="000000"/>
              </a:solidFill>
              <a:effectLst/>
              <a:uFillTx/>
              <a:latin typeface="Arial"/>
            </a:endParaRPr>
          </a:p>
        </p:txBody>
      </p:sp>
      <p:sp>
        <p:nvSpPr>
          <p:cNvPr id="1020" name="Text 25"/>
          <p:cNvSpPr/>
          <p:nvPr/>
        </p:nvSpPr>
        <p:spPr>
          <a:xfrm>
            <a:off x="7635240" y="1417320"/>
            <a:ext cx="3748680" cy="402300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450" b="0" u="none" strike="noStrike">
                <a:solidFill>
                  <a:srgbClr val="102A4C"/>
                </a:solidFill>
                <a:effectLst/>
                <a:uFillTx/>
                <a:latin typeface="Aptos"/>
              </a:rPr>
              <a:t>From Sibiu: Rimnicu = 80; Fagaras = 99</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Expand Rimnicu first, then Fagaras</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Fagaras generates Bucharest with cost 310</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But Pitesti later generates Bucharest with cost 278</a:t>
            </a:r>
            <a:endParaRPr lang="en-US" sz="1450" b="0" u="none" strike="noStrike">
              <a:solidFill>
                <a:srgbClr val="000000"/>
              </a:solidFill>
              <a:effectLst/>
              <a:uFillTx/>
              <a:latin typeface="Arial"/>
            </a:endParaRPr>
          </a:p>
          <a:p>
            <a:pPr defTabSz="914400">
              <a:lnSpc>
                <a:spcPct val="100000"/>
              </a:lnSpc>
            </a:pPr>
            <a:r>
              <a:rPr lang="en-US" sz="1450" b="0" u="none" strike="noStrike">
                <a:solidFill>
                  <a:srgbClr val="102A4C"/>
                </a:solidFill>
                <a:effectLst/>
                <a:uFillTx/>
                <a:latin typeface="Aptos"/>
              </a:rPr>
              <a:t>Stop only when the lowest-cost selected node is a goal</a:t>
            </a:r>
            <a:endParaRPr lang="en-US" sz="14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B9C997EA-CB03-4CEB-97C6-6D55D5D2BEC5}"/>
              </a:ext>
            </a:extLst>
          </p:cNvPr>
          <p:cNvPicPr>
            <a:picLocks noChangeAspect="1"/>
          </p:cNvPicPr>
          <p:nvPr/>
        </p:nvPicPr>
        <p:blipFill>
          <a:blip r:embed="rId3"/>
          <a:stretch>
            <a:fillRect/>
          </a:stretch>
        </p:blipFill>
        <p:spPr>
          <a:xfrm>
            <a:off x="0" y="226493"/>
            <a:ext cx="12192000" cy="6405014"/>
          </a:xfrm>
          <a:prstGeom prst="rect">
            <a:avLst/>
          </a:prstGeom>
        </p:spPr>
      </p:pic>
      <p:pic>
        <p:nvPicPr>
          <p:cNvPr id="5" name="Picture 4">
            <a:extLst>
              <a:ext uri="{FF2B5EF4-FFF2-40B4-BE49-F238E27FC236}">
                <a16:creationId xmlns:a16="http://schemas.microsoft.com/office/drawing/2014/main" id="{7A4832F8-41FA-0BF0-85BE-EDE33B0D234C}"/>
              </a:ext>
            </a:extLst>
          </p:cNvPr>
          <p:cNvPicPr>
            <a:picLocks noChangeAspect="1"/>
          </p:cNvPicPr>
          <p:nvPr/>
        </p:nvPicPr>
        <p:blipFill>
          <a:blip r:embed="rId3"/>
          <a:stretch>
            <a:fillRect/>
          </a:stretch>
        </p:blipFill>
        <p:spPr>
          <a:xfrm>
            <a:off x="0" y="226493"/>
            <a:ext cx="12192000" cy="640501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21"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2"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23"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Trace Uniform-Cost Search</a:t>
            </a:r>
            <a:endParaRPr lang="en-US" sz="2600" b="0" u="none" strike="noStrike">
              <a:solidFill>
                <a:srgbClr val="000000"/>
              </a:solidFill>
              <a:effectLst/>
              <a:uFillTx/>
              <a:latin typeface="Arial"/>
            </a:endParaRPr>
          </a:p>
        </p:txBody>
      </p:sp>
      <p:sp>
        <p:nvSpPr>
          <p:cNvPr id="1024"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25"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26" name="Connector 6"/>
          <p:cNvCxnSpPr/>
          <p:nvPr/>
        </p:nvCxnSpPr>
        <p:spPr>
          <a:xfrm flipV="1">
            <a:off x="1371600" y="2286000"/>
            <a:ext cx="1600560" cy="914760"/>
          </a:xfrm>
          <a:prstGeom prst="straightConnector1">
            <a:avLst/>
          </a:prstGeom>
          <a:ln w="19050">
            <a:solidFill>
              <a:srgbClr val="5C6B80"/>
            </a:solidFill>
          </a:ln>
        </p:spPr>
      </p:cxnSp>
      <p:sp>
        <p:nvSpPr>
          <p:cNvPr id="1027"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28" name="Connector 8"/>
          <p:cNvCxnSpPr/>
          <p:nvPr/>
        </p:nvCxnSpPr>
        <p:spPr>
          <a:xfrm>
            <a:off x="1371600" y="3200400"/>
            <a:ext cx="1600560" cy="914760"/>
          </a:xfrm>
          <a:prstGeom prst="straightConnector1">
            <a:avLst/>
          </a:prstGeom>
          <a:ln w="19050">
            <a:solidFill>
              <a:srgbClr val="5C6B80"/>
            </a:solidFill>
          </a:ln>
        </p:spPr>
      </p:cxnSp>
      <p:sp>
        <p:nvSpPr>
          <p:cNvPr id="1029"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30" name="Connector 10"/>
          <p:cNvCxnSpPr/>
          <p:nvPr/>
        </p:nvCxnSpPr>
        <p:spPr>
          <a:xfrm>
            <a:off x="2971800" y="2286000"/>
            <a:ext cx="2514960" cy="914760"/>
          </a:xfrm>
          <a:prstGeom prst="straightConnector1">
            <a:avLst/>
          </a:prstGeom>
          <a:ln w="19050">
            <a:solidFill>
              <a:srgbClr val="5C6B80"/>
            </a:solidFill>
          </a:ln>
        </p:spPr>
      </p:cxnSp>
      <p:sp>
        <p:nvSpPr>
          <p:cNvPr id="1031"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32" name="Connector 12"/>
          <p:cNvCxnSpPr/>
          <p:nvPr/>
        </p:nvCxnSpPr>
        <p:spPr>
          <a:xfrm>
            <a:off x="2971800" y="4114800"/>
            <a:ext cx="1371960" cy="360"/>
          </a:xfrm>
          <a:prstGeom prst="straightConnector1">
            <a:avLst/>
          </a:prstGeom>
          <a:ln w="19050">
            <a:solidFill>
              <a:srgbClr val="5C6B80"/>
            </a:solidFill>
          </a:ln>
        </p:spPr>
      </p:cxnSp>
      <p:sp>
        <p:nvSpPr>
          <p:cNvPr id="1033"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34" name="Connector 14"/>
          <p:cNvCxnSpPr/>
          <p:nvPr/>
        </p:nvCxnSpPr>
        <p:spPr>
          <a:xfrm flipV="1">
            <a:off x="4343400" y="3200400"/>
            <a:ext cx="1143360" cy="914760"/>
          </a:xfrm>
          <a:prstGeom prst="straightConnector1">
            <a:avLst/>
          </a:prstGeom>
          <a:ln w="19050">
            <a:solidFill>
              <a:srgbClr val="5C6B80"/>
            </a:solidFill>
          </a:ln>
        </p:spPr>
      </p:cxnSp>
      <p:sp>
        <p:nvSpPr>
          <p:cNvPr id="1035"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36"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37"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38"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39"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40"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41" name="Rectangle 21"/>
          <p:cNvSpPr/>
          <p:nvPr/>
        </p:nvSpPr>
        <p:spPr>
          <a:xfrm>
            <a:off x="777240" y="4846320"/>
            <a:ext cx="48002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200" b="0" u="none" strike="noStrike">
                <a:solidFill>
                  <a:srgbClr val="5C6B80"/>
                </a:solidFill>
                <a:effectLst/>
                <a:uFillTx/>
                <a:latin typeface="Aptos"/>
              </a:rPr>
              <a:t>Edge labels are action costs. Start at S, goal is G.</a:t>
            </a:r>
            <a:endParaRPr lang="en-US" sz="1200" b="0" u="none" strike="noStrike">
              <a:solidFill>
                <a:srgbClr val="000000"/>
              </a:solidFill>
              <a:effectLst/>
              <a:uFillTx/>
              <a:latin typeface="Arial"/>
            </a:endParaRPr>
          </a:p>
        </p:txBody>
      </p:sp>
      <p:sp>
        <p:nvSpPr>
          <p:cNvPr id="1042" name="Rectangle 22"/>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43" name="Rectangle 23"/>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44" name="Rectangle 24"/>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45" name="Rectangle 25"/>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1</a:t>
            </a:r>
            <a:endParaRPr lang="en-US" sz="1200" b="0" u="none" strike="noStrike">
              <a:solidFill>
                <a:srgbClr val="000000"/>
              </a:solidFill>
              <a:effectLst/>
              <a:uFillTx/>
              <a:latin typeface="Arial"/>
            </a:endParaRPr>
          </a:p>
        </p:txBody>
      </p:sp>
      <p:sp>
        <p:nvSpPr>
          <p:cNvPr id="1046" name="Rectangle 26"/>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7" name="Rectangle 27"/>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48" name="Rectangle 28"/>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2</a:t>
            </a:r>
            <a:endParaRPr lang="en-US" sz="1200" b="0" u="none" strike="noStrike">
              <a:solidFill>
                <a:srgbClr val="000000"/>
              </a:solidFill>
              <a:effectLst/>
              <a:uFillTx/>
              <a:latin typeface="Arial"/>
            </a:endParaRPr>
          </a:p>
        </p:txBody>
      </p:sp>
      <p:sp>
        <p:nvSpPr>
          <p:cNvPr id="1049" name="Rectangle 29"/>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0" name="Rectangle 30"/>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1" name="Rectangle 31"/>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3</a:t>
            </a:r>
            <a:endParaRPr lang="en-US" sz="1200" b="0" u="none" strike="noStrike">
              <a:solidFill>
                <a:srgbClr val="000000"/>
              </a:solidFill>
              <a:effectLst/>
              <a:uFillTx/>
              <a:latin typeface="Arial"/>
            </a:endParaRPr>
          </a:p>
        </p:txBody>
      </p:sp>
      <p:sp>
        <p:nvSpPr>
          <p:cNvPr id="1052" name="Rectangle 32"/>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3" name="Rectangle 33"/>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4" name="Rectangle 34"/>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4</a:t>
            </a:r>
            <a:endParaRPr lang="en-US" sz="1200" b="0" u="none" strike="noStrike">
              <a:solidFill>
                <a:srgbClr val="000000"/>
              </a:solidFill>
              <a:effectLst/>
              <a:uFillTx/>
              <a:latin typeface="Arial"/>
            </a:endParaRPr>
          </a:p>
        </p:txBody>
      </p:sp>
      <p:sp>
        <p:nvSpPr>
          <p:cNvPr id="1055" name="Rectangle 35"/>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6" name="Rectangle 36"/>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7" name="Rectangle 37"/>
          <p:cNvSpPr/>
          <p:nvPr/>
        </p:nvSpPr>
        <p:spPr>
          <a:xfrm>
            <a:off x="6385680" y="342900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5C6B80"/>
                </a:solidFill>
                <a:effectLst/>
                <a:uFillTx/>
                <a:latin typeface="Aptos"/>
              </a:rPr>
              <a:t>5</a:t>
            </a:r>
            <a:endParaRPr lang="en-US" sz="1200" b="0" u="none" strike="noStrike">
              <a:solidFill>
                <a:srgbClr val="000000"/>
              </a:solidFill>
              <a:effectLst/>
              <a:uFillTx/>
              <a:latin typeface="Arial"/>
            </a:endParaRPr>
          </a:p>
        </p:txBody>
      </p:sp>
      <p:sp>
        <p:nvSpPr>
          <p:cNvPr id="1058" name="Rectangle 38"/>
          <p:cNvSpPr/>
          <p:nvPr/>
        </p:nvSpPr>
        <p:spPr>
          <a:xfrm>
            <a:off x="7025760" y="342900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59" name="Rectangle 39"/>
          <p:cNvSpPr/>
          <p:nvPr/>
        </p:nvSpPr>
        <p:spPr>
          <a:xfrm>
            <a:off x="8580240" y="342900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0" name="Rectangle 40"/>
          <p:cNvSpPr/>
          <p:nvPr/>
        </p:nvSpPr>
        <p:spPr>
          <a:xfrm>
            <a:off x="6385680" y="370332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350" b="1" u="none" strike="noStrike">
                <a:solidFill>
                  <a:srgbClr val="112E5C"/>
                </a:solidFill>
                <a:effectLst/>
                <a:uFillTx/>
                <a:latin typeface="Aptos"/>
              </a:rPr>
              <a:t>Which node is returned, at what cost, and on which pop?</a:t>
            </a:r>
            <a:endParaRPr lang="en-US" sz="1350" b="0" u="none" strike="noStrike">
              <a:solidFill>
                <a:srgbClr val="000000"/>
              </a:solidFill>
              <a:effectLst/>
              <a:uFillTx/>
              <a:latin typeface="Arial"/>
            </a:endParaRPr>
          </a:p>
        </p:txBody>
      </p:sp>
      <p:sp>
        <p:nvSpPr>
          <p:cNvPr id="1061" name="Rectangle 41"/>
          <p:cNvSpPr/>
          <p:nvPr/>
        </p:nvSpPr>
        <p:spPr>
          <a:xfrm>
            <a:off x="914400" y="52578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Remember: the goal test happens when a node is popped, not when it is generated.</a:t>
            </a:r>
            <a:endParaRPr lang="en-US" sz="170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06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06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Your Turn: The Trace, Worked</a:t>
            </a:r>
            <a:endParaRPr lang="en-US" sz="2600" b="0" u="none" strike="noStrike">
              <a:solidFill>
                <a:srgbClr val="000000"/>
              </a:solidFill>
              <a:effectLst/>
              <a:uFillTx/>
              <a:latin typeface="Arial"/>
            </a:endParaRPr>
          </a:p>
        </p:txBody>
      </p:sp>
      <p:sp>
        <p:nvSpPr>
          <p:cNvPr id="106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06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cxnSp>
        <p:nvCxnSpPr>
          <p:cNvPr id="1067" name="Connector 6"/>
          <p:cNvCxnSpPr/>
          <p:nvPr/>
        </p:nvCxnSpPr>
        <p:spPr>
          <a:xfrm flipV="1">
            <a:off x="1371600" y="2286000"/>
            <a:ext cx="1600560" cy="914760"/>
          </a:xfrm>
          <a:prstGeom prst="straightConnector1">
            <a:avLst/>
          </a:prstGeom>
          <a:ln w="19050">
            <a:solidFill>
              <a:srgbClr val="5C6B80"/>
            </a:solidFill>
          </a:ln>
        </p:spPr>
      </p:cxnSp>
      <p:sp>
        <p:nvSpPr>
          <p:cNvPr id="1068" name="Rectangle 7"/>
          <p:cNvSpPr/>
          <p:nvPr/>
        </p:nvSpPr>
        <p:spPr>
          <a:xfrm>
            <a:off x="19432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69" name="Connector 8"/>
          <p:cNvCxnSpPr/>
          <p:nvPr/>
        </p:nvCxnSpPr>
        <p:spPr>
          <a:xfrm>
            <a:off x="1371600" y="3200400"/>
            <a:ext cx="1600560" cy="914760"/>
          </a:xfrm>
          <a:prstGeom prst="straightConnector1">
            <a:avLst/>
          </a:prstGeom>
          <a:ln w="19050">
            <a:solidFill>
              <a:srgbClr val="5C6B80"/>
            </a:solidFill>
          </a:ln>
        </p:spPr>
      </p:cxnSp>
      <p:sp>
        <p:nvSpPr>
          <p:cNvPr id="1070" name="Rectangle 9"/>
          <p:cNvSpPr/>
          <p:nvPr/>
        </p:nvSpPr>
        <p:spPr>
          <a:xfrm>
            <a:off x="19432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2</a:t>
            </a:r>
            <a:endParaRPr lang="en-US" sz="1300" b="0" u="none" strike="noStrike">
              <a:solidFill>
                <a:srgbClr val="000000"/>
              </a:solidFill>
              <a:effectLst/>
              <a:uFillTx/>
              <a:latin typeface="Arial"/>
            </a:endParaRPr>
          </a:p>
        </p:txBody>
      </p:sp>
      <p:cxnSp>
        <p:nvCxnSpPr>
          <p:cNvPr id="1071" name="Connector 10"/>
          <p:cNvCxnSpPr/>
          <p:nvPr/>
        </p:nvCxnSpPr>
        <p:spPr>
          <a:xfrm>
            <a:off x="2971800" y="2286000"/>
            <a:ext cx="2514960" cy="914760"/>
          </a:xfrm>
          <a:prstGeom prst="straightConnector1">
            <a:avLst/>
          </a:prstGeom>
          <a:ln w="19050">
            <a:solidFill>
              <a:srgbClr val="5C6B80"/>
            </a:solidFill>
          </a:ln>
        </p:spPr>
      </p:cxnSp>
      <p:sp>
        <p:nvSpPr>
          <p:cNvPr id="1072" name="Rectangle 11"/>
          <p:cNvSpPr/>
          <p:nvPr/>
        </p:nvSpPr>
        <p:spPr>
          <a:xfrm>
            <a:off x="4000680" y="25376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8</a:t>
            </a:r>
            <a:endParaRPr lang="en-US" sz="1300" b="0" u="none" strike="noStrike">
              <a:solidFill>
                <a:srgbClr val="000000"/>
              </a:solidFill>
              <a:effectLst/>
              <a:uFillTx/>
              <a:latin typeface="Arial"/>
            </a:endParaRPr>
          </a:p>
        </p:txBody>
      </p:sp>
      <p:cxnSp>
        <p:nvCxnSpPr>
          <p:cNvPr id="1073" name="Connector 12"/>
          <p:cNvCxnSpPr/>
          <p:nvPr/>
        </p:nvCxnSpPr>
        <p:spPr>
          <a:xfrm>
            <a:off x="2971800" y="4114800"/>
            <a:ext cx="1371960" cy="360"/>
          </a:xfrm>
          <a:prstGeom prst="straightConnector1">
            <a:avLst/>
          </a:prstGeom>
          <a:ln w="19050">
            <a:solidFill>
              <a:srgbClr val="5C6B80"/>
            </a:solidFill>
          </a:ln>
        </p:spPr>
      </p:cxnSp>
      <p:sp>
        <p:nvSpPr>
          <p:cNvPr id="1074" name="Rectangle 13"/>
          <p:cNvSpPr/>
          <p:nvPr/>
        </p:nvSpPr>
        <p:spPr>
          <a:xfrm>
            <a:off x="3429000" y="39092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1</a:t>
            </a:r>
            <a:endParaRPr lang="en-US" sz="1300" b="0" u="none" strike="noStrike">
              <a:solidFill>
                <a:srgbClr val="000000"/>
              </a:solidFill>
              <a:effectLst/>
              <a:uFillTx/>
              <a:latin typeface="Arial"/>
            </a:endParaRPr>
          </a:p>
        </p:txBody>
      </p:sp>
      <p:cxnSp>
        <p:nvCxnSpPr>
          <p:cNvPr id="1075" name="Connector 14"/>
          <p:cNvCxnSpPr/>
          <p:nvPr/>
        </p:nvCxnSpPr>
        <p:spPr>
          <a:xfrm flipV="1">
            <a:off x="4343400" y="3200400"/>
            <a:ext cx="1143360" cy="914760"/>
          </a:xfrm>
          <a:prstGeom prst="straightConnector1">
            <a:avLst/>
          </a:prstGeom>
          <a:ln w="19050">
            <a:solidFill>
              <a:srgbClr val="5C6B80"/>
            </a:solidFill>
          </a:ln>
        </p:spPr>
      </p:cxnSp>
      <p:sp>
        <p:nvSpPr>
          <p:cNvPr id="1076" name="Rectangle 15"/>
          <p:cNvSpPr/>
          <p:nvPr/>
        </p:nvSpPr>
        <p:spPr>
          <a:xfrm>
            <a:off x="4686480" y="3452040"/>
            <a:ext cx="456840" cy="273960"/>
          </a:xfrm>
          <a:prstGeom prst="rect">
            <a:avLst/>
          </a:prstGeom>
          <a:solidFill>
            <a:srgbClr val="EEF5F8"/>
          </a:solid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300" b="1" u="none" strike="noStrike">
                <a:solidFill>
                  <a:srgbClr val="9B1C1C"/>
                </a:solidFill>
                <a:effectLst/>
                <a:uFillTx/>
                <a:latin typeface="Aptos"/>
              </a:rPr>
              <a:t>3</a:t>
            </a:r>
            <a:endParaRPr lang="en-US" sz="1300" b="0" u="none" strike="noStrike">
              <a:solidFill>
                <a:srgbClr val="000000"/>
              </a:solidFill>
              <a:effectLst/>
              <a:uFillTx/>
              <a:latin typeface="Arial"/>
            </a:endParaRPr>
          </a:p>
        </p:txBody>
      </p:sp>
      <p:sp>
        <p:nvSpPr>
          <p:cNvPr id="1077" name="Oval 16"/>
          <p:cNvSpPr/>
          <p:nvPr/>
        </p:nvSpPr>
        <p:spPr>
          <a:xfrm>
            <a:off x="1074600" y="2903400"/>
            <a:ext cx="594000" cy="59400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S</a:t>
            </a:r>
            <a:endParaRPr lang="en-US" sz="1500" b="0" u="none" strike="noStrike">
              <a:solidFill>
                <a:srgbClr val="000000"/>
              </a:solidFill>
              <a:effectLst/>
              <a:uFillTx/>
              <a:latin typeface="Arial"/>
            </a:endParaRPr>
          </a:p>
        </p:txBody>
      </p:sp>
      <p:sp>
        <p:nvSpPr>
          <p:cNvPr id="1078" name="Oval 17"/>
          <p:cNvSpPr/>
          <p:nvPr/>
        </p:nvSpPr>
        <p:spPr>
          <a:xfrm>
            <a:off x="2674800" y="19890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A</a:t>
            </a:r>
            <a:endParaRPr lang="en-US" sz="1500" b="0" u="none" strike="noStrike">
              <a:solidFill>
                <a:srgbClr val="000000"/>
              </a:solidFill>
              <a:effectLst/>
              <a:uFillTx/>
              <a:latin typeface="Arial"/>
            </a:endParaRPr>
          </a:p>
        </p:txBody>
      </p:sp>
      <p:sp>
        <p:nvSpPr>
          <p:cNvPr id="1079" name="Oval 18"/>
          <p:cNvSpPr/>
          <p:nvPr/>
        </p:nvSpPr>
        <p:spPr>
          <a:xfrm>
            <a:off x="26748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B</a:t>
            </a:r>
            <a:endParaRPr lang="en-US" sz="1500" b="0" u="none" strike="noStrike">
              <a:solidFill>
                <a:srgbClr val="000000"/>
              </a:solidFill>
              <a:effectLst/>
              <a:uFillTx/>
              <a:latin typeface="Arial"/>
            </a:endParaRPr>
          </a:p>
        </p:txBody>
      </p:sp>
      <p:sp>
        <p:nvSpPr>
          <p:cNvPr id="1080" name="Oval 19"/>
          <p:cNvSpPr/>
          <p:nvPr/>
        </p:nvSpPr>
        <p:spPr>
          <a:xfrm>
            <a:off x="4046400" y="3817800"/>
            <a:ext cx="594000" cy="594000"/>
          </a:xfrm>
          <a:prstGeom prst="ellipse">
            <a:avLst/>
          </a:prstGeom>
          <a:solidFill>
            <a:srgbClr val="FFFF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C</a:t>
            </a:r>
            <a:endParaRPr lang="en-US" sz="1500" b="0" u="none" strike="noStrike">
              <a:solidFill>
                <a:srgbClr val="000000"/>
              </a:solidFill>
              <a:effectLst/>
              <a:uFillTx/>
              <a:latin typeface="Arial"/>
            </a:endParaRPr>
          </a:p>
        </p:txBody>
      </p:sp>
      <p:sp>
        <p:nvSpPr>
          <p:cNvPr id="1081" name="Oval 20"/>
          <p:cNvSpPr/>
          <p:nvPr/>
        </p:nvSpPr>
        <p:spPr>
          <a:xfrm>
            <a:off x="5189400" y="2903400"/>
            <a:ext cx="594000" cy="59400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500" b="1" u="none" strike="noStrike">
                <a:solidFill>
                  <a:srgbClr val="112E5C"/>
                </a:solidFill>
                <a:effectLst/>
                <a:uFillTx/>
                <a:latin typeface="Aptos"/>
              </a:rPr>
              <a:t>G</a:t>
            </a:r>
            <a:endParaRPr lang="en-US" sz="1500" b="0" u="none" strike="noStrike">
              <a:solidFill>
                <a:srgbClr val="000000"/>
              </a:solidFill>
              <a:effectLst/>
              <a:uFillTx/>
              <a:latin typeface="Arial"/>
            </a:endParaRPr>
          </a:p>
        </p:txBody>
      </p:sp>
      <p:sp>
        <p:nvSpPr>
          <p:cNvPr id="1082" name="Rectangle 21"/>
          <p:cNvSpPr/>
          <p:nvPr/>
        </p:nvSpPr>
        <p:spPr>
          <a:xfrm>
            <a:off x="6385680" y="1417320"/>
            <a:ext cx="6397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Pop #</a:t>
            </a:r>
            <a:endParaRPr lang="en-US" sz="1200" b="0" u="none" strike="noStrike">
              <a:solidFill>
                <a:srgbClr val="FFFFFF"/>
              </a:solidFill>
              <a:effectLst/>
              <a:uFillTx/>
              <a:latin typeface="Arial"/>
            </a:endParaRPr>
          </a:p>
        </p:txBody>
      </p:sp>
      <p:sp>
        <p:nvSpPr>
          <p:cNvPr id="1083" name="Rectangle 22"/>
          <p:cNvSpPr/>
          <p:nvPr/>
        </p:nvSpPr>
        <p:spPr>
          <a:xfrm>
            <a:off x="7025760" y="1417320"/>
            <a:ext cx="155412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Node popped (g)</a:t>
            </a:r>
            <a:endParaRPr lang="en-US" sz="1200" b="0" u="none" strike="noStrike">
              <a:solidFill>
                <a:srgbClr val="FFFFFF"/>
              </a:solidFill>
              <a:effectLst/>
              <a:uFillTx/>
              <a:latin typeface="Arial"/>
            </a:endParaRPr>
          </a:p>
        </p:txBody>
      </p:sp>
      <p:sp>
        <p:nvSpPr>
          <p:cNvPr id="1084" name="Rectangle 23"/>
          <p:cNvSpPr/>
          <p:nvPr/>
        </p:nvSpPr>
        <p:spPr>
          <a:xfrm>
            <a:off x="8580240" y="1417320"/>
            <a:ext cx="2834280" cy="3654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FFFFFF"/>
                </a:solidFill>
                <a:effectLst/>
                <a:uFillTx/>
                <a:latin typeface="Aptos"/>
              </a:rPr>
              <a:t>Frontier afterwards</a:t>
            </a:r>
            <a:endParaRPr lang="en-US" sz="1200" b="0" u="none" strike="noStrike">
              <a:solidFill>
                <a:srgbClr val="FFFFFF"/>
              </a:solidFill>
              <a:effectLst/>
              <a:uFillTx/>
              <a:latin typeface="Arial"/>
            </a:endParaRPr>
          </a:p>
        </p:txBody>
      </p:sp>
      <p:sp>
        <p:nvSpPr>
          <p:cNvPr id="1085" name="Rectangle 24"/>
          <p:cNvSpPr/>
          <p:nvPr/>
        </p:nvSpPr>
        <p:spPr>
          <a:xfrm>
            <a:off x="6385680" y="178308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1</a:t>
            </a:r>
            <a:endParaRPr lang="en-US" sz="1200" b="0" u="none" strike="noStrike">
              <a:solidFill>
                <a:srgbClr val="000000"/>
              </a:solidFill>
              <a:effectLst/>
              <a:uFillTx/>
              <a:latin typeface="Arial"/>
            </a:endParaRPr>
          </a:p>
        </p:txBody>
      </p:sp>
      <p:sp>
        <p:nvSpPr>
          <p:cNvPr id="1086" name="Rectangle 25"/>
          <p:cNvSpPr/>
          <p:nvPr/>
        </p:nvSpPr>
        <p:spPr>
          <a:xfrm>
            <a:off x="7025760" y="178308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S (0)</a:t>
            </a:r>
            <a:endParaRPr lang="en-US" sz="1200" b="0" u="none" strike="noStrike">
              <a:solidFill>
                <a:srgbClr val="000000"/>
              </a:solidFill>
              <a:effectLst/>
              <a:uFillTx/>
              <a:latin typeface="Arial"/>
            </a:endParaRPr>
          </a:p>
        </p:txBody>
      </p:sp>
      <p:sp>
        <p:nvSpPr>
          <p:cNvPr id="1087" name="Rectangle 26"/>
          <p:cNvSpPr/>
          <p:nvPr/>
        </p:nvSpPr>
        <p:spPr>
          <a:xfrm>
            <a:off x="8580240" y="178308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A(1), B(2)</a:t>
            </a:r>
            <a:endParaRPr lang="en-US" sz="1200" b="0" u="none" strike="noStrike">
              <a:solidFill>
                <a:srgbClr val="000000"/>
              </a:solidFill>
              <a:effectLst/>
              <a:uFillTx/>
              <a:latin typeface="Arial"/>
            </a:endParaRPr>
          </a:p>
        </p:txBody>
      </p:sp>
      <p:sp>
        <p:nvSpPr>
          <p:cNvPr id="1088" name="Rectangle 27"/>
          <p:cNvSpPr/>
          <p:nvPr/>
        </p:nvSpPr>
        <p:spPr>
          <a:xfrm>
            <a:off x="6385680" y="219456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2</a:t>
            </a:r>
            <a:endParaRPr lang="en-US" sz="1200" b="0" u="none" strike="noStrike">
              <a:solidFill>
                <a:srgbClr val="000000"/>
              </a:solidFill>
              <a:effectLst/>
              <a:uFillTx/>
              <a:latin typeface="Arial"/>
            </a:endParaRPr>
          </a:p>
        </p:txBody>
      </p:sp>
      <p:sp>
        <p:nvSpPr>
          <p:cNvPr id="1089" name="Rectangle 28"/>
          <p:cNvSpPr/>
          <p:nvPr/>
        </p:nvSpPr>
        <p:spPr>
          <a:xfrm>
            <a:off x="7025760" y="219456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A (1)</a:t>
            </a:r>
            <a:endParaRPr lang="en-US" sz="1200" b="0" u="none" strike="noStrike">
              <a:solidFill>
                <a:srgbClr val="000000"/>
              </a:solidFill>
              <a:effectLst/>
              <a:uFillTx/>
              <a:latin typeface="Arial"/>
            </a:endParaRPr>
          </a:p>
        </p:txBody>
      </p:sp>
      <p:sp>
        <p:nvSpPr>
          <p:cNvPr id="1090" name="Rectangle 29"/>
          <p:cNvSpPr/>
          <p:nvPr/>
        </p:nvSpPr>
        <p:spPr>
          <a:xfrm>
            <a:off x="8580240" y="219456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B(2), G(9)</a:t>
            </a:r>
            <a:endParaRPr lang="en-US" sz="1200" b="0" u="none" strike="noStrike">
              <a:solidFill>
                <a:srgbClr val="000000"/>
              </a:solidFill>
              <a:effectLst/>
              <a:uFillTx/>
              <a:latin typeface="Arial"/>
            </a:endParaRPr>
          </a:p>
        </p:txBody>
      </p:sp>
      <p:sp>
        <p:nvSpPr>
          <p:cNvPr id="1091" name="Rectangle 30"/>
          <p:cNvSpPr/>
          <p:nvPr/>
        </p:nvSpPr>
        <p:spPr>
          <a:xfrm>
            <a:off x="6385680" y="260604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3</a:t>
            </a:r>
            <a:endParaRPr lang="en-US" sz="1200" b="0" u="none" strike="noStrike">
              <a:solidFill>
                <a:srgbClr val="000000"/>
              </a:solidFill>
              <a:effectLst/>
              <a:uFillTx/>
              <a:latin typeface="Arial"/>
            </a:endParaRPr>
          </a:p>
        </p:txBody>
      </p:sp>
      <p:sp>
        <p:nvSpPr>
          <p:cNvPr id="1092" name="Rectangle 31"/>
          <p:cNvSpPr/>
          <p:nvPr/>
        </p:nvSpPr>
        <p:spPr>
          <a:xfrm>
            <a:off x="7025760" y="260604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B (2)</a:t>
            </a:r>
            <a:endParaRPr lang="en-US" sz="1200" b="0" u="none" strike="noStrike">
              <a:solidFill>
                <a:srgbClr val="000000"/>
              </a:solidFill>
              <a:effectLst/>
              <a:uFillTx/>
              <a:latin typeface="Arial"/>
            </a:endParaRPr>
          </a:p>
        </p:txBody>
      </p:sp>
      <p:sp>
        <p:nvSpPr>
          <p:cNvPr id="1093" name="Rectangle 32"/>
          <p:cNvSpPr/>
          <p:nvPr/>
        </p:nvSpPr>
        <p:spPr>
          <a:xfrm>
            <a:off x="8580240" y="260604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C(3), G(9)</a:t>
            </a:r>
            <a:endParaRPr lang="en-US" sz="1200" b="0" u="none" strike="noStrike">
              <a:solidFill>
                <a:srgbClr val="000000"/>
              </a:solidFill>
              <a:effectLst/>
              <a:uFillTx/>
              <a:latin typeface="Arial"/>
            </a:endParaRPr>
          </a:p>
        </p:txBody>
      </p:sp>
      <p:sp>
        <p:nvSpPr>
          <p:cNvPr id="1094" name="Rectangle 33"/>
          <p:cNvSpPr/>
          <p:nvPr/>
        </p:nvSpPr>
        <p:spPr>
          <a:xfrm>
            <a:off x="6385680" y="3017520"/>
            <a:ext cx="6397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0" u="none" strike="noStrike">
                <a:solidFill>
                  <a:srgbClr val="102A4C"/>
                </a:solidFill>
                <a:effectLst/>
                <a:uFillTx/>
                <a:latin typeface="Aptos"/>
              </a:rPr>
              <a:t>4</a:t>
            </a:r>
            <a:endParaRPr lang="en-US" sz="1200" b="0" u="none" strike="noStrike">
              <a:solidFill>
                <a:srgbClr val="000000"/>
              </a:solidFill>
              <a:effectLst/>
              <a:uFillTx/>
              <a:latin typeface="Arial"/>
            </a:endParaRPr>
          </a:p>
        </p:txBody>
      </p:sp>
      <p:sp>
        <p:nvSpPr>
          <p:cNvPr id="1095" name="Rectangle 34"/>
          <p:cNvSpPr/>
          <p:nvPr/>
        </p:nvSpPr>
        <p:spPr>
          <a:xfrm>
            <a:off x="7025760" y="3017520"/>
            <a:ext cx="155412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C (3)</a:t>
            </a:r>
            <a:endParaRPr lang="en-US" sz="1200" b="0" u="none" strike="noStrike">
              <a:solidFill>
                <a:srgbClr val="000000"/>
              </a:solidFill>
              <a:effectLst/>
              <a:uFillTx/>
              <a:latin typeface="Arial"/>
            </a:endParaRPr>
          </a:p>
        </p:txBody>
      </p:sp>
      <p:sp>
        <p:nvSpPr>
          <p:cNvPr id="1096" name="Rectangle 35"/>
          <p:cNvSpPr/>
          <p:nvPr/>
        </p:nvSpPr>
        <p:spPr>
          <a:xfrm>
            <a:off x="8580240" y="3017520"/>
            <a:ext cx="2834280" cy="411120"/>
          </a:xfrm>
          <a:prstGeom prst="rect">
            <a:avLst/>
          </a:prstGeom>
          <a:solidFill>
            <a:srgbClr val="FFFFFF"/>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0" u="none" strike="noStrike">
                <a:solidFill>
                  <a:srgbClr val="102A4C"/>
                </a:solidFill>
                <a:effectLst/>
                <a:uFillTx/>
                <a:latin typeface="Aptos"/>
              </a:rPr>
              <a:t>G(6)</a:t>
            </a:r>
            <a:endParaRPr lang="en-US" sz="1200" b="0" u="none" strike="noStrike">
              <a:solidFill>
                <a:srgbClr val="000000"/>
              </a:solidFill>
              <a:effectLst/>
              <a:uFillTx/>
              <a:latin typeface="Arial"/>
            </a:endParaRPr>
          </a:p>
        </p:txBody>
      </p:sp>
      <p:sp>
        <p:nvSpPr>
          <p:cNvPr id="1097" name="Rectangle 36"/>
          <p:cNvSpPr/>
          <p:nvPr/>
        </p:nvSpPr>
        <p:spPr>
          <a:xfrm>
            <a:off x="6385680" y="3429000"/>
            <a:ext cx="6397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200" b="1" u="none" strike="noStrike">
                <a:solidFill>
                  <a:srgbClr val="177245"/>
                </a:solidFill>
                <a:effectLst/>
                <a:uFillTx/>
                <a:latin typeface="Aptos"/>
              </a:rPr>
              <a:t>5</a:t>
            </a:r>
            <a:endParaRPr lang="en-US" sz="1200" b="0" u="none" strike="noStrike">
              <a:solidFill>
                <a:srgbClr val="000000"/>
              </a:solidFill>
              <a:effectLst/>
              <a:uFillTx/>
              <a:latin typeface="Arial"/>
            </a:endParaRPr>
          </a:p>
        </p:txBody>
      </p:sp>
      <p:sp>
        <p:nvSpPr>
          <p:cNvPr id="1098" name="Rectangle 37"/>
          <p:cNvSpPr/>
          <p:nvPr/>
        </p:nvSpPr>
        <p:spPr>
          <a:xfrm>
            <a:off x="7025760" y="3429000"/>
            <a:ext cx="155412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 (6)</a:t>
            </a:r>
            <a:endParaRPr lang="en-US" sz="1200" b="0" u="none" strike="noStrike">
              <a:solidFill>
                <a:srgbClr val="000000"/>
              </a:solidFill>
              <a:effectLst/>
              <a:uFillTx/>
              <a:latin typeface="Arial"/>
            </a:endParaRPr>
          </a:p>
        </p:txBody>
      </p:sp>
      <p:sp>
        <p:nvSpPr>
          <p:cNvPr id="1099" name="Rectangle 38"/>
          <p:cNvSpPr/>
          <p:nvPr/>
        </p:nvSpPr>
        <p:spPr>
          <a:xfrm>
            <a:off x="8580240" y="3429000"/>
            <a:ext cx="2834280" cy="411120"/>
          </a:xfrm>
          <a:prstGeom prst="rect">
            <a:avLst/>
          </a:prstGeom>
          <a:solidFill>
            <a:srgbClr val="DBF1E3"/>
          </a:solidFill>
          <a:ln w="9525">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1200" b="1" u="none" strike="noStrike">
                <a:solidFill>
                  <a:srgbClr val="177245"/>
                </a:solidFill>
                <a:effectLst/>
                <a:uFillTx/>
                <a:latin typeface="Aptos"/>
              </a:rPr>
              <a:t>goal test passes — return</a:t>
            </a:r>
            <a:endParaRPr lang="en-US" sz="1200" b="0" u="none" strike="noStrike">
              <a:solidFill>
                <a:srgbClr val="000000"/>
              </a:solidFill>
              <a:effectLst/>
              <a:uFillTx/>
              <a:latin typeface="Arial"/>
            </a:endParaRPr>
          </a:p>
        </p:txBody>
      </p:sp>
      <p:sp>
        <p:nvSpPr>
          <p:cNvPr id="1100" name="Rectangle 39"/>
          <p:cNvSpPr/>
          <p:nvPr/>
        </p:nvSpPr>
        <p:spPr>
          <a:xfrm>
            <a:off x="6309360" y="3808800"/>
            <a:ext cx="502884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dirty="0">
                <a:solidFill>
                  <a:srgbClr val="112E5C"/>
                </a:solidFill>
                <a:effectLst/>
                <a:uFillTx/>
                <a:latin typeface="Aptos"/>
              </a:rPr>
              <a:t>Returned: S → B → C → G, cost 6, on the fifth pop.</a:t>
            </a:r>
            <a:endParaRPr lang="en-US" sz="1400" b="0" u="none" strike="noStrike" dirty="0">
              <a:solidFill>
                <a:srgbClr val="000000"/>
              </a:solidFill>
              <a:effectLst/>
              <a:uFillTx/>
              <a:latin typeface="Arial"/>
            </a:endParaRPr>
          </a:p>
        </p:txBody>
      </p:sp>
      <p:sp>
        <p:nvSpPr>
          <p:cNvPr id="1101" name="Rectangle 40"/>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 was generated on pop 2 at cost 9. Returning it there would have cost you 50 percent more than the optimum.</a:t>
            </a:r>
            <a:endParaRPr lang="en-US" sz="1700" b="0" u="none" strike="noStrike">
              <a:solidFill>
                <a:srgbClr val="000000"/>
              </a:solidFill>
              <a:effectLst/>
              <a:uFillTx/>
              <a:latin typeface="Arial"/>
            </a:endParaRPr>
          </a:p>
        </p:txBody>
      </p:sp>
      <p:sp>
        <p:nvSpPr>
          <p:cNvPr id="1102" name="Rectangle 41"/>
          <p:cNvSpPr/>
          <p:nvPr/>
        </p:nvSpPr>
        <p:spPr>
          <a:xfrm>
            <a:off x="914400" y="53035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On pop 4 the cheaper G(6) replaced G(9) in reached — the re-add rule from the best-first slide, doing real work.</a:t>
            </a:r>
            <a:endParaRPr lang="en-US" sz="1500" b="0" u="none" strike="noStrike">
              <a:solidFill>
                <a:srgbClr val="000000"/>
              </a:solidFill>
              <a:effectLst/>
              <a:uFillTx/>
              <a:latin typeface="Arial"/>
            </a:endParaRPr>
          </a:p>
        </p:txBody>
      </p:sp>
      <p:sp>
        <p:nvSpPr>
          <p:cNvPr id="1103" name="Rectangle 42"/>
          <p:cNvSpPr/>
          <p:nvPr/>
        </p:nvSpPr>
        <p:spPr>
          <a:xfrm>
            <a:off x="914400" y="58064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Both behaviours come from a single design decision: test on expansion, not on generation.</a:t>
            </a:r>
            <a:endParaRPr lang="en-US" sz="1350" b="0" u="none" strike="noStrike">
              <a:solidFill>
                <a:srgbClr val="000000"/>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04"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5"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06"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UCS Complexity and the Positive-Cost Assumption</a:t>
            </a:r>
            <a:endParaRPr lang="en-US" sz="2600" b="0" u="none" strike="noStrike">
              <a:solidFill>
                <a:srgbClr val="000000"/>
              </a:solidFill>
              <a:effectLst/>
              <a:uFillTx/>
              <a:latin typeface="Arial"/>
            </a:endParaRPr>
          </a:p>
        </p:txBody>
      </p:sp>
      <p:sp>
        <p:nvSpPr>
          <p:cNvPr id="1107"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08"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09" name="Text 5"/>
          <p:cNvSpPr/>
          <p:nvPr/>
        </p:nvSpPr>
        <p:spPr>
          <a:xfrm>
            <a:off x="868680" y="1417320"/>
            <a:ext cx="36572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800" b="1" u="none" strike="noStrike">
                <a:solidFill>
                  <a:srgbClr val="112E5C"/>
                </a:solidFill>
                <a:effectLst/>
                <a:uFillTx/>
                <a:latin typeface="Aptos"/>
              </a:rPr>
              <a:t>C* = optimal solution cost</a:t>
            </a:r>
            <a:endParaRPr lang="en-US" sz="1800" b="0" u="none" strike="noStrike">
              <a:solidFill>
                <a:srgbClr val="000000"/>
              </a:solidFill>
              <a:effectLst/>
              <a:uFillTx/>
              <a:latin typeface="Arial"/>
            </a:endParaRPr>
          </a:p>
        </p:txBody>
      </p:sp>
      <p:sp>
        <p:nvSpPr>
          <p:cNvPr id="1110" name="Text 6"/>
          <p:cNvSpPr/>
          <p:nvPr/>
        </p:nvSpPr>
        <p:spPr>
          <a:xfrm>
            <a:off x="868680" y="1874520"/>
            <a:ext cx="41144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800" b="1" u="none" strike="noStrike">
                <a:solidFill>
                  <a:srgbClr val="112E5C"/>
                </a:solidFill>
                <a:effectLst/>
                <a:uFillTx/>
                <a:latin typeface="Aptos"/>
              </a:rPr>
              <a:t>ε = positive lower bound on action costs</a:t>
            </a:r>
            <a:endParaRPr lang="en-US" sz="1800" b="0" u="none" strike="noStrike">
              <a:solidFill>
                <a:srgbClr val="000000"/>
              </a:solidFill>
              <a:effectLst/>
              <a:uFillTx/>
              <a:latin typeface="Arial"/>
            </a:endParaRPr>
          </a:p>
        </p:txBody>
      </p:sp>
      <p:sp>
        <p:nvSpPr>
          <p:cNvPr id="1111" name="Text 7"/>
          <p:cNvSpPr/>
          <p:nvPr/>
        </p:nvSpPr>
        <p:spPr>
          <a:xfrm>
            <a:off x="914400" y="2880360"/>
            <a:ext cx="10058040" cy="5025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600" b="1" u="none" strike="noStrike">
                <a:solidFill>
                  <a:srgbClr val="9B1C1C"/>
                </a:solidFill>
                <a:effectLst/>
                <a:uFillTx/>
                <a:latin typeface="Aptos"/>
              </a:rPr>
              <a:t>Time and space: O(b^(1 + ⌊C*/ε⌋))</a:t>
            </a:r>
            <a:endParaRPr lang="en-US" sz="2600" b="0" u="none" strike="noStrike">
              <a:solidFill>
                <a:srgbClr val="000000"/>
              </a:solidFill>
              <a:effectLst/>
              <a:uFillTx/>
              <a:latin typeface="Arial"/>
            </a:endParaRPr>
          </a:p>
        </p:txBody>
      </p:sp>
      <p:sp>
        <p:nvSpPr>
          <p:cNvPr id="1112" name="Text 8"/>
          <p:cNvSpPr/>
          <p:nvPr/>
        </p:nvSpPr>
        <p:spPr>
          <a:xfrm>
            <a:off x="1097280" y="406908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0" u="none" strike="noStrike">
                <a:solidFill>
                  <a:srgbClr val="102A4C"/>
                </a:solidFill>
                <a:effectLst/>
                <a:uFillTx/>
                <a:latin typeface="Aptos"/>
              </a:rPr>
              <a:t>UCS may explore many cheap but unhelpful actions before taking a costly useful action.</a:t>
            </a:r>
            <a:endParaRPr lang="en-US" sz="1800" b="0" u="none" strike="noStrike">
              <a:solidFill>
                <a:srgbClr val="000000"/>
              </a:solidFill>
              <a:effectLst/>
              <a:uFillTx/>
              <a:latin typeface="Arial"/>
            </a:endParaRPr>
          </a:p>
        </p:txBody>
      </p:sp>
      <p:sp>
        <p:nvSpPr>
          <p:cNvPr id="1113" name="Text 9"/>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77245"/>
                </a:solidFill>
                <a:effectLst/>
                <a:uFillTx/>
                <a:latin typeface="Aptos"/>
              </a:rPr>
              <a:t>Complete and optimal if costs are positive and the best solution has finite cost.</a:t>
            </a:r>
            <a:endParaRPr lang="en-US" sz="1800" b="0" u="none" strike="noStrike">
              <a:solidFill>
                <a:srgbClr val="000000"/>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14"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5"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16"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UCS Explores Cost Contours — In Every Direction</a:t>
            </a:r>
            <a:endParaRPr lang="en-US" sz="2600" b="0" u="none" strike="noStrike">
              <a:solidFill>
                <a:srgbClr val="000000"/>
              </a:solidFill>
              <a:effectLst/>
              <a:uFillTx/>
              <a:latin typeface="Arial"/>
            </a:endParaRPr>
          </a:p>
        </p:txBody>
      </p:sp>
      <p:sp>
        <p:nvSpPr>
          <p:cNvPr id="1117"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18"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19" name="Oval 6"/>
          <p:cNvSpPr/>
          <p:nvPr/>
        </p:nvSpPr>
        <p:spPr>
          <a:xfrm>
            <a:off x="6705720" y="1371600"/>
            <a:ext cx="3657240" cy="3657240"/>
          </a:xfrm>
          <a:prstGeom prst="ellipse">
            <a:avLst/>
          </a:prstGeom>
          <a:solidFill>
            <a:srgbClr val="FFFFFF"/>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0" name="Rectangle 7"/>
          <p:cNvSpPr/>
          <p:nvPr/>
        </p:nvSpPr>
        <p:spPr>
          <a:xfrm>
            <a:off x="8077320" y="148608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3</a:t>
            </a:r>
            <a:endParaRPr lang="en-US" sz="1050" b="0" u="none" strike="noStrike">
              <a:solidFill>
                <a:srgbClr val="000000"/>
              </a:solidFill>
              <a:effectLst/>
              <a:uFillTx/>
              <a:latin typeface="Arial"/>
            </a:endParaRPr>
          </a:p>
        </p:txBody>
      </p:sp>
      <p:sp>
        <p:nvSpPr>
          <p:cNvPr id="1121" name="Oval 8"/>
          <p:cNvSpPr/>
          <p:nvPr/>
        </p:nvSpPr>
        <p:spPr>
          <a:xfrm>
            <a:off x="7254360" y="1920240"/>
            <a:ext cx="2559960" cy="2559960"/>
          </a:xfrm>
          <a:prstGeom prst="ellipse">
            <a:avLst/>
          </a:prstGeom>
          <a:solidFill>
            <a:srgbClr val="F7F9FC"/>
          </a:solidFill>
          <a:ln w="15240">
            <a:solidFill>
              <a:srgbClr val="D8DEE8"/>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2" name="Rectangle 9"/>
          <p:cNvSpPr/>
          <p:nvPr/>
        </p:nvSpPr>
        <p:spPr>
          <a:xfrm>
            <a:off x="8077320" y="203472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2</a:t>
            </a:r>
            <a:endParaRPr lang="en-US" sz="1050" b="0" u="none" strike="noStrike">
              <a:solidFill>
                <a:srgbClr val="000000"/>
              </a:solidFill>
              <a:effectLst/>
              <a:uFillTx/>
              <a:latin typeface="Arial"/>
            </a:endParaRPr>
          </a:p>
        </p:txBody>
      </p:sp>
      <p:sp>
        <p:nvSpPr>
          <p:cNvPr id="1123" name="Oval 10"/>
          <p:cNvSpPr/>
          <p:nvPr/>
        </p:nvSpPr>
        <p:spPr>
          <a:xfrm>
            <a:off x="7803000" y="2468880"/>
            <a:ext cx="1462680" cy="1462680"/>
          </a:xfrm>
          <a:prstGeom prst="ellipse">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124" name="Rectangle 11"/>
          <p:cNvSpPr/>
          <p:nvPr/>
        </p:nvSpPr>
        <p:spPr>
          <a:xfrm>
            <a:off x="8077320" y="2583360"/>
            <a:ext cx="9140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050" b="0" u="none" strike="noStrike">
                <a:solidFill>
                  <a:srgbClr val="5C6B80"/>
                </a:solidFill>
                <a:effectLst/>
                <a:uFillTx/>
                <a:latin typeface="Aptos"/>
              </a:rPr>
              <a:t>c ≤ 1</a:t>
            </a:r>
            <a:endParaRPr lang="en-US" sz="1050" b="0" u="none" strike="noStrike">
              <a:solidFill>
                <a:srgbClr val="000000"/>
              </a:solidFill>
              <a:effectLst/>
              <a:uFillTx/>
              <a:latin typeface="Arial"/>
            </a:endParaRPr>
          </a:p>
        </p:txBody>
      </p:sp>
      <p:sp>
        <p:nvSpPr>
          <p:cNvPr id="1125" name="Oval 12"/>
          <p:cNvSpPr/>
          <p:nvPr/>
        </p:nvSpPr>
        <p:spPr>
          <a:xfrm>
            <a:off x="8351640" y="3017520"/>
            <a:ext cx="365400" cy="365400"/>
          </a:xfrm>
          <a:prstGeom prst="ellipse">
            <a:avLst/>
          </a:prstGeom>
          <a:solidFill>
            <a:srgbClr val="112E5C"/>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FFFFFF"/>
              </a:solidFill>
              <a:effectLst/>
              <a:uFillTx/>
              <a:latin typeface="Arial"/>
            </a:endParaRPr>
          </a:p>
        </p:txBody>
      </p:sp>
      <p:sp>
        <p:nvSpPr>
          <p:cNvPr id="1126" name="Rectangle 13"/>
          <p:cNvSpPr/>
          <p:nvPr/>
        </p:nvSpPr>
        <p:spPr>
          <a:xfrm>
            <a:off x="7848720" y="342900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112E5C"/>
                </a:solidFill>
                <a:effectLst/>
                <a:uFillTx/>
                <a:latin typeface="Aptos"/>
              </a:rPr>
              <a:t>start</a:t>
            </a:r>
            <a:endParaRPr lang="en-US" sz="1100" b="0" u="none" strike="noStrike">
              <a:solidFill>
                <a:srgbClr val="000000"/>
              </a:solidFill>
              <a:effectLst/>
              <a:uFillTx/>
              <a:latin typeface="Arial"/>
            </a:endParaRPr>
          </a:p>
        </p:txBody>
      </p:sp>
      <p:sp>
        <p:nvSpPr>
          <p:cNvPr id="1127" name="Rectangle 14"/>
          <p:cNvSpPr/>
          <p:nvPr/>
        </p:nvSpPr>
        <p:spPr>
          <a:xfrm>
            <a:off x="10927080" y="3063240"/>
            <a:ext cx="411120" cy="273960"/>
          </a:xfrm>
          <a:prstGeom prst="rect">
            <a:avLst/>
          </a:prstGeom>
          <a:solidFill>
            <a:srgbClr val="9B1C1C"/>
          </a:solidFill>
          <a:ln w="12700">
            <a:solidFill>
              <a:srgbClr val="9B1C1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28" name="Rectangle 15"/>
          <p:cNvSpPr/>
          <p:nvPr/>
        </p:nvSpPr>
        <p:spPr>
          <a:xfrm>
            <a:off x="10607040" y="3383280"/>
            <a:ext cx="105120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goal</a:t>
            </a:r>
            <a:endParaRPr lang="en-US" sz="1100" b="0" u="none" strike="noStrike">
              <a:solidFill>
                <a:srgbClr val="000000"/>
              </a:solidFill>
              <a:effectLst/>
              <a:uFillTx/>
              <a:latin typeface="Arial"/>
            </a:endParaRPr>
          </a:p>
        </p:txBody>
      </p:sp>
      <p:sp>
        <p:nvSpPr>
          <p:cNvPr id="1129" name="Rounded Rectangle 16"/>
          <p:cNvSpPr/>
          <p:nvPr/>
        </p:nvSpPr>
        <p:spPr>
          <a:xfrm>
            <a:off x="777240" y="1417320"/>
            <a:ext cx="45716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good</a:t>
            </a:r>
            <a:endParaRPr lang="en-US" sz="1400" b="0" u="none" strike="noStrike">
              <a:solidFill>
                <a:srgbClr val="000000"/>
              </a:solidFill>
              <a:effectLst/>
              <a:uFillTx/>
              <a:latin typeface="Arial"/>
            </a:endParaRPr>
          </a:p>
        </p:txBody>
      </p:sp>
      <p:sp>
        <p:nvSpPr>
          <p:cNvPr id="1130" name="Rounded Rectangle 17"/>
          <p:cNvSpPr/>
          <p:nvPr/>
        </p:nvSpPr>
        <p:spPr>
          <a:xfrm>
            <a:off x="777240" y="1874520"/>
            <a:ext cx="4571640" cy="91404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1" name="Rectangle 18"/>
          <p:cNvSpPr/>
          <p:nvPr/>
        </p:nvSpPr>
        <p:spPr>
          <a:xfrm>
            <a:off x="960120" y="1965960"/>
            <a:ext cx="4205880" cy="7311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0" u="none" strike="noStrike">
                <a:solidFill>
                  <a:srgbClr val="102A4C"/>
                </a:solidFill>
                <a:effectLst/>
                <a:uFillTx/>
                <a:latin typeface="Aptos"/>
              </a:rPr>
              <a:t>Complete and cost-optimal whenever every action costs at least ε &gt; 0.</a:t>
            </a:r>
            <a:endParaRPr lang="en-US" sz="1350" b="0" u="none" strike="noStrike">
              <a:solidFill>
                <a:srgbClr val="000000"/>
              </a:solidFill>
              <a:effectLst/>
              <a:uFillTx/>
              <a:latin typeface="Arial"/>
            </a:endParaRPr>
          </a:p>
        </p:txBody>
      </p:sp>
      <p:sp>
        <p:nvSpPr>
          <p:cNvPr id="1132" name="Rounded Rectangle 19"/>
          <p:cNvSpPr/>
          <p:nvPr/>
        </p:nvSpPr>
        <p:spPr>
          <a:xfrm>
            <a:off x="777240" y="2971800"/>
            <a:ext cx="45716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The bad</a:t>
            </a:r>
            <a:endParaRPr lang="en-US" sz="1400" b="0" u="none" strike="noStrike">
              <a:solidFill>
                <a:srgbClr val="000000"/>
              </a:solidFill>
              <a:effectLst/>
              <a:uFillTx/>
              <a:latin typeface="Arial"/>
            </a:endParaRPr>
          </a:p>
        </p:txBody>
      </p:sp>
      <p:sp>
        <p:nvSpPr>
          <p:cNvPr id="1133" name="Rounded Rectangle 20"/>
          <p:cNvSpPr/>
          <p:nvPr/>
        </p:nvSpPr>
        <p:spPr>
          <a:xfrm>
            <a:off x="777240" y="3429000"/>
            <a:ext cx="4571640" cy="118836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134" name="Rectangle 21"/>
          <p:cNvSpPr/>
          <p:nvPr/>
        </p:nvSpPr>
        <p:spPr>
          <a:xfrm>
            <a:off x="960120" y="3520440"/>
            <a:ext cx="4205880" cy="10054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499"/>
              </a:spcAft>
            </a:pPr>
            <a:r>
              <a:rPr lang="en-US" sz="1250" b="0" u="none" strike="noStrike">
                <a:solidFill>
                  <a:srgbClr val="102A4C"/>
                </a:solidFill>
                <a:effectLst/>
                <a:uFillTx/>
                <a:latin typeface="Aptos"/>
              </a:rPr>
              <a:t>•  Expands outward in every direction equally</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Has no information about where the goal is</a:t>
            </a:r>
            <a:endParaRPr lang="en-US" sz="1250" b="0" u="none" strike="noStrike">
              <a:solidFill>
                <a:srgbClr val="000000"/>
              </a:solidFill>
              <a:effectLst/>
              <a:uFillTx/>
              <a:latin typeface="Arial"/>
            </a:endParaRPr>
          </a:p>
          <a:p>
            <a:pPr defTabSz="914400">
              <a:lnSpc>
                <a:spcPct val="100000"/>
              </a:lnSpc>
              <a:spcAft>
                <a:spcPts val="499"/>
              </a:spcAft>
            </a:pPr>
            <a:r>
              <a:rPr lang="en-US" sz="1250" b="0" u="none" strike="noStrike">
                <a:solidFill>
                  <a:srgbClr val="102A4C"/>
                </a:solidFill>
                <a:effectLst/>
                <a:uFillTx/>
                <a:latin typeface="Aptos"/>
              </a:rPr>
              <a:t>•  Spends effort behind it as readily as in front</a:t>
            </a:r>
            <a:endParaRPr lang="en-US" sz="1250" b="0" u="none" strike="noStrike">
              <a:solidFill>
                <a:srgbClr val="000000"/>
              </a:solidFill>
              <a:effectLst/>
              <a:uFillTx/>
              <a:latin typeface="Arial"/>
            </a:endParaRPr>
          </a:p>
        </p:txBody>
      </p:sp>
      <p:sp>
        <p:nvSpPr>
          <p:cNvPr id="1135" name="Rectangle 22"/>
          <p:cNvSpPr/>
          <p:nvPr/>
        </p:nvSpPr>
        <p:spPr>
          <a:xfrm>
            <a:off x="914400" y="48463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Uniform-cost search is blind. It knows the cost of the past and nothing about the future.</a:t>
            </a:r>
            <a:endParaRPr lang="en-US" sz="1700" b="0" u="none" strike="noStrike">
              <a:solidFill>
                <a:srgbClr val="000000"/>
              </a:solidFill>
              <a:effectLst/>
              <a:uFillTx/>
              <a:latin typeface="Arial"/>
            </a:endParaRPr>
          </a:p>
        </p:txBody>
      </p:sp>
      <p:sp>
        <p:nvSpPr>
          <p:cNvPr id="1136" name="Rectangle 23"/>
          <p:cNvSpPr/>
          <p:nvPr/>
        </p:nvSpPr>
        <p:spPr>
          <a:xfrm>
            <a:off x="914400" y="54406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Section 3.5 adds a heuristic h(n), and the contours stretch toward the goal instead of surrounding the start.</a:t>
            </a:r>
            <a:endParaRPr lang="en-US" sz="1500" b="0" u="none" strike="noStrike">
              <a:solidFill>
                <a:srgbClr val="000000"/>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Depth-First Search (DFS)</a:t>
            </a:r>
            <a:endParaRPr lang="en-US" sz="2600" b="0" u="none" strike="noStrike">
              <a:solidFill>
                <a:srgbClr val="000000"/>
              </a:solidFill>
              <a:effectLst/>
              <a:uFillTx/>
              <a:latin typeface="Arial"/>
            </a:endParaRPr>
          </a:p>
        </p:txBody>
      </p:sp>
      <p:sp>
        <p:nvSpPr>
          <p:cNvPr id="11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42" name="Text 5"/>
          <p:cNvSpPr/>
          <p:nvPr/>
        </p:nvSpPr>
        <p:spPr>
          <a:xfrm>
            <a:off x="499110" y="2096770"/>
            <a:ext cx="1828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Strategy</a:t>
            </a:r>
            <a:endParaRPr lang="en-US" sz="1600" b="0" u="none" strike="noStrike">
              <a:solidFill>
                <a:srgbClr val="000000"/>
              </a:solidFill>
              <a:effectLst/>
              <a:uFillTx/>
              <a:latin typeface="Arial"/>
            </a:endParaRPr>
          </a:p>
        </p:txBody>
      </p:sp>
      <p:sp>
        <p:nvSpPr>
          <p:cNvPr id="1143" name="Text 6"/>
          <p:cNvSpPr/>
          <p:nvPr/>
        </p:nvSpPr>
        <p:spPr>
          <a:xfrm>
            <a:off x="2556510" y="2142490"/>
            <a:ext cx="475452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700" b="1" u="none" strike="noStrike">
                <a:solidFill>
                  <a:srgbClr val="102A4C"/>
                </a:solidFill>
                <a:effectLst/>
                <a:uFillTx/>
                <a:latin typeface="Aptos"/>
              </a:rPr>
              <a:t>Expand the deepest node in the frontier first.</a:t>
            </a:r>
            <a:endParaRPr lang="en-US" sz="1700" b="0" u="none" strike="noStrike">
              <a:solidFill>
                <a:srgbClr val="000000"/>
              </a:solidFill>
              <a:effectLst/>
              <a:uFillTx/>
              <a:latin typeface="Arial"/>
            </a:endParaRPr>
          </a:p>
        </p:txBody>
      </p:sp>
      <p:sp>
        <p:nvSpPr>
          <p:cNvPr id="1144" name="Text 7"/>
          <p:cNvSpPr/>
          <p:nvPr/>
        </p:nvSpPr>
        <p:spPr>
          <a:xfrm>
            <a:off x="499110" y="2919730"/>
            <a:ext cx="182844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77245"/>
                </a:solidFill>
                <a:effectLst/>
                <a:uFillTx/>
                <a:latin typeface="Aptos"/>
              </a:rPr>
              <a:t>Implementation</a:t>
            </a:r>
            <a:endParaRPr lang="en-US" sz="1600" b="0" u="none" strike="noStrike">
              <a:solidFill>
                <a:srgbClr val="000000"/>
              </a:solidFill>
              <a:effectLst/>
              <a:uFillTx/>
              <a:latin typeface="Arial"/>
            </a:endParaRPr>
          </a:p>
        </p:txBody>
      </p:sp>
      <p:sp>
        <p:nvSpPr>
          <p:cNvPr id="1145" name="Text 8"/>
          <p:cNvSpPr/>
          <p:nvPr/>
        </p:nvSpPr>
        <p:spPr>
          <a:xfrm>
            <a:off x="2556510" y="2965450"/>
            <a:ext cx="411444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tabLst>
                <a:tab pos="0" algn="l"/>
              </a:tabLst>
            </a:pPr>
            <a:r>
              <a:rPr lang="en-US" sz="1600" b="0" u="none" strike="noStrike">
                <a:solidFill>
                  <a:srgbClr val="102A4C"/>
                </a:solidFill>
                <a:effectLst/>
                <a:uFillTx/>
                <a:latin typeface="Aptos"/>
              </a:rPr>
              <a:t>LIFO stack or recursive tree-like search.</a:t>
            </a:r>
            <a:endParaRPr lang="en-US" sz="1600" b="0" u="none" strike="noStrike">
              <a:solidFill>
                <a:srgbClr val="000000"/>
              </a:solidFill>
              <a:effectLst/>
              <a:uFillTx/>
              <a:latin typeface="Arial"/>
            </a:endParaRPr>
          </a:p>
        </p:txBody>
      </p:sp>
      <p:sp>
        <p:nvSpPr>
          <p:cNvPr id="1146" name="Text 9"/>
          <p:cNvSpPr/>
          <p:nvPr/>
        </p:nvSpPr>
        <p:spPr>
          <a:xfrm>
            <a:off x="499110" y="3742690"/>
            <a:ext cx="1828440" cy="502560"/>
          </a:xfrm>
          <a:prstGeom prst="roundRect">
            <a:avLst>
              <a:gd name="adj" fmla="val 14545"/>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112E5C"/>
                </a:solidFill>
                <a:effectLst/>
                <a:uFillTx/>
                <a:latin typeface="Aptos"/>
              </a:rPr>
              <a:t>Main appeal</a:t>
            </a:r>
            <a:endParaRPr lang="en-US" sz="1600" b="0" u="none" strike="noStrike">
              <a:solidFill>
                <a:srgbClr val="000000"/>
              </a:solidFill>
              <a:effectLst/>
              <a:uFillTx/>
              <a:latin typeface="Arial"/>
            </a:endParaRPr>
          </a:p>
        </p:txBody>
      </p:sp>
      <p:sp>
        <p:nvSpPr>
          <p:cNvPr id="1147" name="Text 10"/>
          <p:cNvSpPr/>
          <p:nvPr/>
        </p:nvSpPr>
        <p:spPr>
          <a:xfrm>
            <a:off x="2556510" y="3788410"/>
            <a:ext cx="4845960" cy="3196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fontScale="92500"/>
          </a:bodyPr>
          <a:lstStyle/>
          <a:p>
            <a:pPr defTabSz="914400">
              <a:lnSpc>
                <a:spcPct val="100000"/>
              </a:lnSpc>
              <a:tabLst>
                <a:tab pos="0" algn="l"/>
              </a:tabLst>
            </a:pPr>
            <a:r>
              <a:rPr lang="en-US" sz="1600" b="0" u="none" strike="noStrike">
                <a:solidFill>
                  <a:srgbClr val="102A4C"/>
                </a:solidFill>
                <a:effectLst/>
                <a:uFillTx/>
                <a:latin typeface="Aptos"/>
              </a:rPr>
              <a:t>Low memory: stores a path and siblings, not entire layers.</a:t>
            </a:r>
            <a:endParaRPr lang="en-US" sz="1600" b="0" u="none" strike="noStrike">
              <a:solidFill>
                <a:srgbClr val="000000"/>
              </a:solidFill>
              <a:effectLst/>
              <a:uFillTx/>
              <a:latin typeface="Arial"/>
            </a:endParaRPr>
          </a:p>
        </p:txBody>
      </p:sp>
      <p:sp>
        <p:nvSpPr>
          <p:cNvPr id="1148" name="Shape 11"/>
          <p:cNvSpPr/>
          <p:nvPr/>
        </p:nvSpPr>
        <p:spPr>
          <a:xfrm flipH="1">
            <a:off x="8879320" y="179028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49" name="Shape 12"/>
          <p:cNvSpPr/>
          <p:nvPr/>
        </p:nvSpPr>
        <p:spPr>
          <a:xfrm>
            <a:off x="10234720" y="179028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0" name="Shape 13"/>
          <p:cNvSpPr/>
          <p:nvPr/>
        </p:nvSpPr>
        <p:spPr>
          <a:xfrm>
            <a:off x="10234720" y="179028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1" name="Shape 14"/>
          <p:cNvSpPr/>
          <p:nvPr/>
        </p:nvSpPr>
        <p:spPr>
          <a:xfrm flipH="1">
            <a:off x="8273080" y="243216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2" name="Shape 15"/>
          <p:cNvSpPr/>
          <p:nvPr/>
        </p:nvSpPr>
        <p:spPr>
          <a:xfrm>
            <a:off x="887932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3" name="Shape 16"/>
          <p:cNvSpPr/>
          <p:nvPr/>
        </p:nvSpPr>
        <p:spPr>
          <a:xfrm>
            <a:off x="8879320" y="243216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4" name="Shape 17"/>
          <p:cNvSpPr/>
          <p:nvPr/>
        </p:nvSpPr>
        <p:spPr>
          <a:xfrm flipH="1">
            <a:off x="9842320" y="243216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5" name="Shape 18"/>
          <p:cNvSpPr/>
          <p:nvPr/>
        </p:nvSpPr>
        <p:spPr>
          <a:xfrm>
            <a:off x="10234720" y="243216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6" name="Shape 19"/>
          <p:cNvSpPr/>
          <p:nvPr/>
        </p:nvSpPr>
        <p:spPr>
          <a:xfrm>
            <a:off x="11589760" y="243216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7" name="Shape 20"/>
          <p:cNvSpPr/>
          <p:nvPr/>
        </p:nvSpPr>
        <p:spPr>
          <a:xfrm flipH="1">
            <a:off x="8059240" y="310968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8" name="Shape 21"/>
          <p:cNvSpPr/>
          <p:nvPr/>
        </p:nvSpPr>
        <p:spPr>
          <a:xfrm flipH="1">
            <a:off x="866548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59" name="Shape 22"/>
          <p:cNvSpPr/>
          <p:nvPr/>
        </p:nvSpPr>
        <p:spPr>
          <a:xfrm flipH="1">
            <a:off x="9271720" y="31096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0" name="Shape 23"/>
          <p:cNvSpPr/>
          <p:nvPr/>
        </p:nvSpPr>
        <p:spPr>
          <a:xfrm>
            <a:off x="9485560" y="310968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1" name="Shape 24"/>
          <p:cNvSpPr/>
          <p:nvPr/>
        </p:nvSpPr>
        <p:spPr>
          <a:xfrm>
            <a:off x="9842320" y="310968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2" name="Shape 25"/>
          <p:cNvSpPr/>
          <p:nvPr/>
        </p:nvSpPr>
        <p:spPr>
          <a:xfrm>
            <a:off x="9842320" y="310968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3" name="Shape 26"/>
          <p:cNvSpPr/>
          <p:nvPr/>
        </p:nvSpPr>
        <p:spPr>
          <a:xfrm>
            <a:off x="10626760" y="310968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4" name="Shape 27"/>
          <p:cNvSpPr/>
          <p:nvPr/>
        </p:nvSpPr>
        <p:spPr>
          <a:xfrm flipH="1">
            <a:off x="10983520" y="371592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5" name="Shape 28"/>
          <p:cNvSpPr/>
          <p:nvPr/>
        </p:nvSpPr>
        <p:spPr>
          <a:xfrm>
            <a:off x="11197360" y="371592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66" name="Text 29"/>
          <p:cNvSpPr/>
          <p:nvPr/>
        </p:nvSpPr>
        <p:spPr>
          <a:xfrm>
            <a:off x="10088560" y="16441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167" name="Text 30"/>
          <p:cNvSpPr/>
          <p:nvPr/>
        </p:nvSpPr>
        <p:spPr>
          <a:xfrm>
            <a:off x="8733160" y="228600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168" name="Text 31"/>
          <p:cNvSpPr/>
          <p:nvPr/>
        </p:nvSpPr>
        <p:spPr>
          <a:xfrm>
            <a:off x="1008856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69" name="Text 32"/>
          <p:cNvSpPr/>
          <p:nvPr/>
        </p:nvSpPr>
        <p:spPr>
          <a:xfrm>
            <a:off x="11443600" y="228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70" name="Text 33"/>
          <p:cNvSpPr/>
          <p:nvPr/>
        </p:nvSpPr>
        <p:spPr>
          <a:xfrm>
            <a:off x="8126920" y="29635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171" name="Text 34"/>
          <p:cNvSpPr/>
          <p:nvPr/>
        </p:nvSpPr>
        <p:spPr>
          <a:xfrm>
            <a:off x="8733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72" name="Text 35"/>
          <p:cNvSpPr/>
          <p:nvPr/>
        </p:nvSpPr>
        <p:spPr>
          <a:xfrm>
            <a:off x="93397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173" name="Text 36"/>
          <p:cNvSpPr/>
          <p:nvPr/>
        </p:nvSpPr>
        <p:spPr>
          <a:xfrm>
            <a:off x="969616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4" name="Text 37"/>
          <p:cNvSpPr/>
          <p:nvPr/>
        </p:nvSpPr>
        <p:spPr>
          <a:xfrm>
            <a:off x="10480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75" name="Text 38"/>
          <p:cNvSpPr/>
          <p:nvPr/>
        </p:nvSpPr>
        <p:spPr>
          <a:xfrm>
            <a:off x="11443600" y="29635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76" name="Text 39"/>
          <p:cNvSpPr/>
          <p:nvPr/>
        </p:nvSpPr>
        <p:spPr>
          <a:xfrm>
            <a:off x="7913080" y="35697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7" name="Text 40"/>
          <p:cNvSpPr/>
          <p:nvPr/>
        </p:nvSpPr>
        <p:spPr>
          <a:xfrm>
            <a:off x="85193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178" name="Text 41"/>
          <p:cNvSpPr/>
          <p:nvPr/>
        </p:nvSpPr>
        <p:spPr>
          <a:xfrm>
            <a:off x="912556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179" name="Text 42"/>
          <p:cNvSpPr/>
          <p:nvPr/>
        </p:nvSpPr>
        <p:spPr>
          <a:xfrm>
            <a:off x="97318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180" name="Text 43"/>
          <p:cNvSpPr/>
          <p:nvPr/>
        </p:nvSpPr>
        <p:spPr>
          <a:xfrm>
            <a:off x="1019548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181" name="Text 44"/>
          <p:cNvSpPr/>
          <p:nvPr/>
        </p:nvSpPr>
        <p:spPr>
          <a:xfrm>
            <a:off x="1062352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182" name="Text 45"/>
          <p:cNvSpPr/>
          <p:nvPr/>
        </p:nvSpPr>
        <p:spPr>
          <a:xfrm>
            <a:off x="11051200" y="35697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183" name="Text 46"/>
          <p:cNvSpPr/>
          <p:nvPr/>
        </p:nvSpPr>
        <p:spPr>
          <a:xfrm>
            <a:off x="1083736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184" name="Text 47"/>
          <p:cNvSpPr/>
          <p:nvPr/>
        </p:nvSpPr>
        <p:spPr>
          <a:xfrm>
            <a:off x="11336680" y="417600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185"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86"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187"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Build: Follow One Branch Deep</a:t>
            </a:r>
            <a:endParaRPr lang="en-US" sz="2600" b="0" u="none" strike="noStrike">
              <a:solidFill>
                <a:srgbClr val="000000"/>
              </a:solidFill>
              <a:effectLst/>
              <a:uFillTx/>
              <a:latin typeface="Arial"/>
            </a:endParaRPr>
          </a:p>
        </p:txBody>
      </p:sp>
      <p:sp>
        <p:nvSpPr>
          <p:cNvPr id="1188"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189"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190" name="Shape 5"/>
          <p:cNvSpPr/>
          <p:nvPr/>
        </p:nvSpPr>
        <p:spPr>
          <a:xfrm flipH="1">
            <a:off x="2393430" y="1658340"/>
            <a:ext cx="1355400" cy="64188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1" name="Shape 6"/>
          <p:cNvSpPr/>
          <p:nvPr/>
        </p:nvSpPr>
        <p:spPr>
          <a:xfrm>
            <a:off x="3748830" y="1658340"/>
            <a:ext cx="36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2" name="Shape 7"/>
          <p:cNvSpPr/>
          <p:nvPr/>
        </p:nvSpPr>
        <p:spPr>
          <a:xfrm>
            <a:off x="3748830" y="1658340"/>
            <a:ext cx="1355040" cy="64188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3" name="Shape 8"/>
          <p:cNvSpPr/>
          <p:nvPr/>
        </p:nvSpPr>
        <p:spPr>
          <a:xfrm flipH="1">
            <a:off x="1787190" y="2300220"/>
            <a:ext cx="606240" cy="67752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4" name="Shape 9"/>
          <p:cNvSpPr/>
          <p:nvPr/>
        </p:nvSpPr>
        <p:spPr>
          <a:xfrm>
            <a:off x="239343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5" name="Shape 10"/>
          <p:cNvSpPr/>
          <p:nvPr/>
        </p:nvSpPr>
        <p:spPr>
          <a:xfrm>
            <a:off x="2393430" y="2300220"/>
            <a:ext cx="6062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6" name="Shape 11"/>
          <p:cNvSpPr/>
          <p:nvPr/>
        </p:nvSpPr>
        <p:spPr>
          <a:xfrm flipH="1">
            <a:off x="3356430" y="2300220"/>
            <a:ext cx="39240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7" name="Shape 12"/>
          <p:cNvSpPr/>
          <p:nvPr/>
        </p:nvSpPr>
        <p:spPr>
          <a:xfrm>
            <a:off x="3748830" y="2300220"/>
            <a:ext cx="39204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8" name="Shape 13"/>
          <p:cNvSpPr/>
          <p:nvPr/>
        </p:nvSpPr>
        <p:spPr>
          <a:xfrm>
            <a:off x="5103870" y="2300220"/>
            <a:ext cx="360" cy="67752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99" name="Shape 14"/>
          <p:cNvSpPr/>
          <p:nvPr/>
        </p:nvSpPr>
        <p:spPr>
          <a:xfrm flipH="1">
            <a:off x="1573350" y="2977740"/>
            <a:ext cx="213840" cy="606240"/>
          </a:xfrm>
          <a:prstGeom prst="line">
            <a:avLst/>
          </a:prstGeom>
          <a:ln w="31750">
            <a:solidFill>
              <a:srgbClr val="9B1C1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0" name="Shape 15"/>
          <p:cNvSpPr/>
          <p:nvPr/>
        </p:nvSpPr>
        <p:spPr>
          <a:xfrm flipH="1">
            <a:off x="217959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1" name="Shape 16"/>
          <p:cNvSpPr/>
          <p:nvPr/>
        </p:nvSpPr>
        <p:spPr>
          <a:xfrm flipH="1">
            <a:off x="2785830" y="297774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2" name="Shape 17"/>
          <p:cNvSpPr/>
          <p:nvPr/>
        </p:nvSpPr>
        <p:spPr>
          <a:xfrm>
            <a:off x="2999670" y="2977740"/>
            <a:ext cx="3924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3" name="Shape 18"/>
          <p:cNvSpPr/>
          <p:nvPr/>
        </p:nvSpPr>
        <p:spPr>
          <a:xfrm>
            <a:off x="3356430" y="2977740"/>
            <a:ext cx="49932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4" name="Shape 19"/>
          <p:cNvSpPr/>
          <p:nvPr/>
        </p:nvSpPr>
        <p:spPr>
          <a:xfrm>
            <a:off x="3356430" y="2977740"/>
            <a:ext cx="92736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5" name="Shape 20"/>
          <p:cNvSpPr/>
          <p:nvPr/>
        </p:nvSpPr>
        <p:spPr>
          <a:xfrm>
            <a:off x="4140870" y="2977740"/>
            <a:ext cx="57060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6" name="Shape 21"/>
          <p:cNvSpPr/>
          <p:nvPr/>
        </p:nvSpPr>
        <p:spPr>
          <a:xfrm flipH="1">
            <a:off x="4497630" y="3583980"/>
            <a:ext cx="21384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7" name="Shape 22"/>
          <p:cNvSpPr/>
          <p:nvPr/>
        </p:nvSpPr>
        <p:spPr>
          <a:xfrm>
            <a:off x="4711470" y="3583980"/>
            <a:ext cx="285480" cy="606240"/>
          </a:xfrm>
          <a:prstGeom prst="line">
            <a:avLst/>
          </a:prstGeom>
          <a:ln w="1397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08" name="Text 23"/>
          <p:cNvSpPr/>
          <p:nvPr/>
        </p:nvSpPr>
        <p:spPr>
          <a:xfrm>
            <a:off x="3602670" y="15121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09" name="Text 24"/>
          <p:cNvSpPr/>
          <p:nvPr/>
        </p:nvSpPr>
        <p:spPr>
          <a:xfrm>
            <a:off x="2247270" y="215406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d</a:t>
            </a:r>
            <a:endParaRPr lang="en-US" sz="900" b="0" u="none" strike="noStrike">
              <a:solidFill>
                <a:srgbClr val="000000"/>
              </a:solidFill>
              <a:effectLst/>
              <a:uFillTx/>
              <a:latin typeface="Arial"/>
            </a:endParaRPr>
          </a:p>
        </p:txBody>
      </p:sp>
      <p:sp>
        <p:nvSpPr>
          <p:cNvPr id="1210" name="Text 25"/>
          <p:cNvSpPr/>
          <p:nvPr/>
        </p:nvSpPr>
        <p:spPr>
          <a:xfrm>
            <a:off x="360267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1" name="Text 26"/>
          <p:cNvSpPr/>
          <p:nvPr/>
        </p:nvSpPr>
        <p:spPr>
          <a:xfrm>
            <a:off x="4957710" y="215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12" name="Text 27"/>
          <p:cNvSpPr/>
          <p:nvPr/>
        </p:nvSpPr>
        <p:spPr>
          <a:xfrm>
            <a:off x="1641030" y="283158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13" name="Text 28"/>
          <p:cNvSpPr/>
          <p:nvPr/>
        </p:nvSpPr>
        <p:spPr>
          <a:xfrm>
            <a:off x="2247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14" name="Text 29"/>
          <p:cNvSpPr/>
          <p:nvPr/>
        </p:nvSpPr>
        <p:spPr>
          <a:xfrm>
            <a:off x="28538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e</a:t>
            </a:r>
            <a:endParaRPr lang="en-US" sz="900" b="0" u="none" strike="noStrike">
              <a:solidFill>
                <a:srgbClr val="000000"/>
              </a:solidFill>
              <a:effectLst/>
              <a:uFillTx/>
              <a:latin typeface="Arial"/>
            </a:endParaRPr>
          </a:p>
        </p:txBody>
      </p:sp>
      <p:sp>
        <p:nvSpPr>
          <p:cNvPr id="1215" name="Text 30"/>
          <p:cNvSpPr/>
          <p:nvPr/>
        </p:nvSpPr>
        <p:spPr>
          <a:xfrm>
            <a:off x="321027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16" name="Text 31"/>
          <p:cNvSpPr/>
          <p:nvPr/>
        </p:nvSpPr>
        <p:spPr>
          <a:xfrm>
            <a:off x="3994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17" name="Text 32"/>
          <p:cNvSpPr/>
          <p:nvPr/>
        </p:nvSpPr>
        <p:spPr>
          <a:xfrm>
            <a:off x="4957710" y="283158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18" name="Text 33"/>
          <p:cNvSpPr/>
          <p:nvPr/>
        </p:nvSpPr>
        <p:spPr>
          <a:xfrm>
            <a:off x="1427190" y="3437820"/>
            <a:ext cx="292320" cy="292320"/>
          </a:xfrm>
          <a:prstGeom prst="ellipse">
            <a:avLst/>
          </a:prstGeom>
          <a:solidFill>
            <a:srgbClr val="FFE5B6"/>
          </a:solidFill>
          <a:ln w="15240">
            <a:solidFill>
              <a:srgbClr val="9B1C1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19" name="Text 34"/>
          <p:cNvSpPr/>
          <p:nvPr/>
        </p:nvSpPr>
        <p:spPr>
          <a:xfrm>
            <a:off x="20334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20" name="Text 35"/>
          <p:cNvSpPr/>
          <p:nvPr/>
        </p:nvSpPr>
        <p:spPr>
          <a:xfrm>
            <a:off x="263967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h</a:t>
            </a:r>
            <a:endParaRPr lang="en-US" sz="900" b="0" u="none" strike="noStrike">
              <a:solidFill>
                <a:srgbClr val="000000"/>
              </a:solidFill>
              <a:effectLst/>
              <a:uFillTx/>
              <a:latin typeface="Arial"/>
            </a:endParaRPr>
          </a:p>
        </p:txBody>
      </p:sp>
      <p:sp>
        <p:nvSpPr>
          <p:cNvPr id="1221" name="Text 36"/>
          <p:cNvSpPr/>
          <p:nvPr/>
        </p:nvSpPr>
        <p:spPr>
          <a:xfrm>
            <a:off x="32459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r</a:t>
            </a:r>
            <a:endParaRPr lang="en-US" sz="900" b="0" u="none" strike="noStrike">
              <a:solidFill>
                <a:srgbClr val="000000"/>
              </a:solidFill>
              <a:effectLst/>
              <a:uFillTx/>
              <a:latin typeface="Arial"/>
            </a:endParaRPr>
          </a:p>
        </p:txBody>
      </p:sp>
      <p:sp>
        <p:nvSpPr>
          <p:cNvPr id="1222" name="Text 37"/>
          <p:cNvSpPr/>
          <p:nvPr/>
        </p:nvSpPr>
        <p:spPr>
          <a:xfrm>
            <a:off x="370959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p</a:t>
            </a:r>
            <a:endParaRPr lang="en-US" sz="900" b="0" u="none" strike="noStrike">
              <a:solidFill>
                <a:srgbClr val="000000"/>
              </a:solidFill>
              <a:effectLst/>
              <a:uFillTx/>
              <a:latin typeface="Arial"/>
            </a:endParaRPr>
          </a:p>
        </p:txBody>
      </p:sp>
      <p:sp>
        <p:nvSpPr>
          <p:cNvPr id="1223" name="Text 38"/>
          <p:cNvSpPr/>
          <p:nvPr/>
        </p:nvSpPr>
        <p:spPr>
          <a:xfrm>
            <a:off x="413763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q</a:t>
            </a:r>
            <a:endParaRPr lang="en-US" sz="900" b="0" u="none" strike="noStrike">
              <a:solidFill>
                <a:srgbClr val="000000"/>
              </a:solidFill>
              <a:effectLst/>
              <a:uFillTx/>
              <a:latin typeface="Arial"/>
            </a:endParaRPr>
          </a:p>
        </p:txBody>
      </p:sp>
      <p:sp>
        <p:nvSpPr>
          <p:cNvPr id="1224" name="Text 39"/>
          <p:cNvSpPr/>
          <p:nvPr/>
        </p:nvSpPr>
        <p:spPr>
          <a:xfrm>
            <a:off x="4565310" y="343782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f</a:t>
            </a:r>
            <a:endParaRPr lang="en-US" sz="900" b="0" u="none" strike="noStrike">
              <a:solidFill>
                <a:srgbClr val="000000"/>
              </a:solidFill>
              <a:effectLst/>
              <a:uFillTx/>
              <a:latin typeface="Arial"/>
            </a:endParaRPr>
          </a:p>
        </p:txBody>
      </p:sp>
      <p:sp>
        <p:nvSpPr>
          <p:cNvPr id="1225" name="Text 40"/>
          <p:cNvSpPr/>
          <p:nvPr/>
        </p:nvSpPr>
        <p:spPr>
          <a:xfrm>
            <a:off x="435147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26" name="Text 41"/>
          <p:cNvSpPr/>
          <p:nvPr/>
        </p:nvSpPr>
        <p:spPr>
          <a:xfrm>
            <a:off x="4850790" y="40440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227" name="Text 42"/>
          <p:cNvSpPr/>
          <p:nvPr/>
        </p:nvSpPr>
        <p:spPr>
          <a:xfrm>
            <a:off x="7040880" y="1828800"/>
            <a:ext cx="3840120" cy="6854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100" b="1" u="none" strike="noStrike">
                <a:solidFill>
                  <a:srgbClr val="112E5C"/>
                </a:solidFill>
                <a:effectLst/>
                <a:uFillTx/>
                <a:latin typeface="Aptos"/>
              </a:rPr>
              <a:t>DFS follows one branch as far as possible, then backtracks.</a:t>
            </a:r>
            <a:endParaRPr lang="en-US" sz="2100" b="0" u="none" strike="noStrike">
              <a:solidFill>
                <a:srgbClr val="000000"/>
              </a:solidFill>
              <a:effectLst/>
              <a:uFillTx/>
              <a:latin typeface="Arial"/>
            </a:endParaRPr>
          </a:p>
        </p:txBody>
      </p:sp>
      <p:sp>
        <p:nvSpPr>
          <p:cNvPr id="1228" name="Text 43"/>
          <p:cNvSpPr/>
          <p:nvPr/>
        </p:nvSpPr>
        <p:spPr>
          <a:xfrm>
            <a:off x="7040880" y="2971800"/>
            <a:ext cx="384012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102A4C"/>
                </a:solidFill>
                <a:effectLst/>
                <a:uFillTx/>
                <a:latin typeface="Aptos"/>
              </a:rPr>
              <a:t>Good: small fringe. Bad: may miss a shallow solution while exploring a deep branch.</a:t>
            </a:r>
            <a:endParaRPr lang="en-US" sz="1600" b="0" u="none" strike="noStrike">
              <a:solidFill>
                <a:srgbClr val="000000"/>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2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3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3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DFS Failure Modes and Backtracking</a:t>
            </a:r>
            <a:endParaRPr lang="en-US" sz="2600" b="0" u="none" strike="noStrike">
              <a:solidFill>
                <a:srgbClr val="000000"/>
              </a:solidFill>
              <a:effectLst/>
              <a:uFillTx/>
              <a:latin typeface="Arial"/>
            </a:endParaRPr>
          </a:p>
        </p:txBody>
      </p:sp>
      <p:sp>
        <p:nvSpPr>
          <p:cNvPr id="123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3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34" name="Text 5"/>
          <p:cNvSpPr/>
          <p:nvPr/>
        </p:nvSpPr>
        <p:spPr>
          <a:xfrm>
            <a:off x="822960" y="1417320"/>
            <a:ext cx="5668920" cy="420588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1550" b="1" u="none" strike="noStrike">
                <a:solidFill>
                  <a:srgbClr val="9B1C1C"/>
                </a:solidFill>
                <a:effectLst/>
                <a:uFillTx/>
                <a:latin typeface="Aptos"/>
              </a:rPr>
              <a:t>Cyclic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loop forever without cycle checks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Infinite spaces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follow one infinite path and never return</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9B1C1C"/>
                </a:solidFill>
                <a:effectLst/>
                <a:uFillTx/>
                <a:latin typeface="Aptos"/>
              </a:rPr>
              <a:t>Repeated states</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DFS can revisit the same state many times</a:t>
            </a:r>
            <a:endParaRPr lang="en-US" sz="1550" b="0" u="none" strike="noStrike">
              <a:solidFill>
                <a:srgbClr val="000000"/>
              </a:solidFill>
              <a:effectLst/>
              <a:uFillTx/>
              <a:latin typeface="Arial"/>
            </a:endParaRPr>
          </a:p>
          <a:p>
            <a:pPr defTabSz="914400">
              <a:lnSpc>
                <a:spcPct val="100000"/>
              </a:lnSpc>
            </a:pPr>
            <a:r>
              <a:rPr lang="en-US" sz="1550" b="1" u="none" strike="noStrike">
                <a:solidFill>
                  <a:srgbClr val="177245"/>
                </a:solidFill>
                <a:effectLst/>
                <a:uFillTx/>
                <a:latin typeface="Aptos"/>
              </a:rPr>
              <a:t>Backtracking search</a:t>
            </a:r>
            <a:endParaRPr lang="en-US" sz="1550" b="0" u="none" strike="noStrike">
              <a:solidFill>
                <a:srgbClr val="000000"/>
              </a:solidFill>
              <a:effectLst/>
              <a:uFillTx/>
              <a:latin typeface="Arial"/>
            </a:endParaRPr>
          </a:p>
          <a:p>
            <a:pPr defTabSz="914400">
              <a:lnSpc>
                <a:spcPct val="100000"/>
              </a:lnSpc>
            </a:pPr>
            <a:r>
              <a:rPr lang="en-US" sz="1550" b="0" u="none" strike="noStrike">
                <a:solidFill>
                  <a:srgbClr val="102A4C"/>
                </a:solidFill>
                <a:effectLst/>
                <a:uFillTx/>
                <a:latin typeface="Aptos"/>
              </a:rPr>
              <a:t>generates one successor at a time and undoes actions to reduce memory</a:t>
            </a:r>
            <a:endParaRPr lang="en-US" sz="1550" b="0" u="none" strike="noStrike">
              <a:solidFill>
                <a:srgbClr val="000000"/>
              </a:solidFill>
              <a:effectLst/>
              <a:uFillTx/>
              <a:latin typeface="Arial"/>
            </a:endParaRPr>
          </a:p>
        </p:txBody>
      </p:sp>
      <p:sp>
        <p:nvSpPr>
          <p:cNvPr id="1235" name="Text 6"/>
          <p:cNvSpPr/>
          <p:nvPr/>
        </p:nvSpPr>
        <p:spPr>
          <a:xfrm>
            <a:off x="7169040" y="14083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A</a:t>
            </a:r>
            <a:endParaRPr lang="en-US" sz="900" b="0" u="none" strike="noStrike">
              <a:solidFill>
                <a:srgbClr val="000000"/>
              </a:solidFill>
              <a:effectLst/>
              <a:uFillTx/>
              <a:latin typeface="Arial"/>
            </a:endParaRPr>
          </a:p>
        </p:txBody>
      </p:sp>
      <p:sp>
        <p:nvSpPr>
          <p:cNvPr id="1236" name="Text 7"/>
          <p:cNvSpPr/>
          <p:nvPr/>
        </p:nvSpPr>
        <p:spPr>
          <a:xfrm>
            <a:off x="8357760" y="213984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B</a:t>
            </a:r>
            <a:endParaRPr lang="en-US" sz="900" b="0" u="none" strike="noStrike">
              <a:solidFill>
                <a:srgbClr val="000000"/>
              </a:solidFill>
              <a:effectLst/>
              <a:uFillTx/>
              <a:latin typeface="Arial"/>
            </a:endParaRPr>
          </a:p>
        </p:txBody>
      </p:sp>
      <p:sp>
        <p:nvSpPr>
          <p:cNvPr id="1237" name="Text 8"/>
          <p:cNvSpPr/>
          <p:nvPr/>
        </p:nvSpPr>
        <p:spPr>
          <a:xfrm>
            <a:off x="7169040" y="2871360"/>
            <a:ext cx="292320" cy="292320"/>
          </a:xfrm>
          <a:prstGeom prst="ellipse">
            <a:avLst/>
          </a:prstGeom>
          <a:solidFill>
            <a:srgbClr val="FFFFFF"/>
          </a:solidFill>
          <a:ln w="15240">
            <a:solidFill>
              <a:srgbClr val="112E5C"/>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C</a:t>
            </a:r>
            <a:endParaRPr lang="en-US" sz="900" b="0" u="none" strike="noStrike">
              <a:solidFill>
                <a:srgbClr val="000000"/>
              </a:solidFill>
              <a:effectLst/>
              <a:uFillTx/>
              <a:latin typeface="Arial"/>
            </a:endParaRPr>
          </a:p>
        </p:txBody>
      </p:sp>
      <p:sp>
        <p:nvSpPr>
          <p:cNvPr id="1238" name="Shape 9"/>
          <p:cNvSpPr/>
          <p:nvPr/>
        </p:nvSpPr>
        <p:spPr>
          <a:xfrm>
            <a:off x="7315200" y="155448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39" name="Shape 10"/>
          <p:cNvSpPr/>
          <p:nvPr/>
        </p:nvSpPr>
        <p:spPr>
          <a:xfrm flipH="1">
            <a:off x="7315200" y="2286000"/>
            <a:ext cx="1188720" cy="731520"/>
          </a:xfrm>
          <a:prstGeom prst="line">
            <a:avLst/>
          </a:prstGeom>
          <a:ln w="19050">
            <a:solidFill>
              <a:srgbClr val="5C6B80"/>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0" name="Shape 11"/>
          <p:cNvSpPr/>
          <p:nvPr/>
        </p:nvSpPr>
        <p:spPr>
          <a:xfrm flipV="1">
            <a:off x="7315200" y="1554480"/>
            <a:ext cx="360" cy="1463040"/>
          </a:xfrm>
          <a:prstGeom prst="line">
            <a:avLst/>
          </a:prstGeom>
          <a:ln w="25400">
            <a:solidFill>
              <a:srgbClr val="9B1C1C"/>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41" name="Text 12"/>
          <p:cNvSpPr/>
          <p:nvPr/>
        </p:nvSpPr>
        <p:spPr>
          <a:xfrm>
            <a:off x="7726680" y="2514600"/>
            <a:ext cx="1096920" cy="273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1" u="none" strike="noStrike">
                <a:solidFill>
                  <a:srgbClr val="9B1C1C"/>
                </a:solidFill>
                <a:effectLst/>
                <a:uFillTx/>
                <a:latin typeface="Aptos"/>
              </a:rPr>
              <a:t>Cycle</a:t>
            </a:r>
            <a:endParaRPr lang="en-US" sz="1500" b="0" u="none" strike="noStrike">
              <a:solidFill>
                <a:srgbClr val="000000"/>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42"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3"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4"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Quiz: When Does Each Strategy Win?</a:t>
            </a:r>
            <a:endParaRPr lang="en-US" sz="2600" b="0" u="none" strike="noStrike">
              <a:solidFill>
                <a:srgbClr val="000000"/>
              </a:solidFill>
              <a:effectLst/>
              <a:uFillTx/>
              <a:latin typeface="Arial"/>
            </a:endParaRPr>
          </a:p>
        </p:txBody>
      </p:sp>
      <p:sp>
        <p:nvSpPr>
          <p:cNvPr id="1245"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46"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47" name="Rounded Rectangle 6"/>
          <p:cNvSpPr/>
          <p:nvPr/>
        </p:nvSpPr>
        <p:spPr>
          <a:xfrm>
            <a:off x="777240" y="1417320"/>
            <a:ext cx="5028840" cy="502560"/>
          </a:xfrm>
          <a:prstGeom prst="roundRect">
            <a:avLst>
              <a:gd name="adj" fmla="val 15384"/>
            </a:avLst>
          </a:prstGeom>
          <a:solidFill>
            <a:srgbClr val="D9E9FF"/>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BFS outperform DFS?</a:t>
            </a:r>
            <a:endParaRPr lang="en-US" sz="1550" b="0" u="none" strike="noStrike">
              <a:solidFill>
                <a:srgbClr val="000000"/>
              </a:solidFill>
              <a:effectLst/>
              <a:uFillTx/>
              <a:latin typeface="Arial"/>
            </a:endParaRPr>
          </a:p>
        </p:txBody>
      </p:sp>
      <p:sp>
        <p:nvSpPr>
          <p:cNvPr id="1248" name="Rounded Rectangle 7"/>
          <p:cNvSpPr/>
          <p:nvPr/>
        </p:nvSpPr>
        <p:spPr>
          <a:xfrm>
            <a:off x="77724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49" name="Rectangle 8"/>
          <p:cNvSpPr/>
          <p:nvPr/>
        </p:nvSpPr>
        <p:spPr>
          <a:xfrm>
            <a:off x="100584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0" name="Rectangle 9"/>
          <p:cNvSpPr/>
          <p:nvPr/>
        </p:nvSpPr>
        <p:spPr>
          <a:xfrm>
            <a:off x="100584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a:solidFill>
                  <a:srgbClr val="102A4C"/>
                </a:solidFill>
                <a:effectLst/>
                <a:uFillTx/>
                <a:latin typeface="Aptos"/>
              </a:rPr>
              <a:t>•  The solution is shallow relative to the tree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Branches are deep, cyclic, or infinite</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You need the fewest-action solution</a:t>
            </a:r>
            <a:endParaRPr lang="en-US" sz="1350" b="0" u="none" strike="noStrike">
              <a:solidFill>
                <a:srgbClr val="000000"/>
              </a:solidFill>
              <a:effectLst/>
              <a:uFillTx/>
              <a:latin typeface="Arial"/>
            </a:endParaRPr>
          </a:p>
          <a:p>
            <a:pPr defTabSz="914400">
              <a:lnSpc>
                <a:spcPct val="100000"/>
              </a:lnSpc>
              <a:spcAft>
                <a:spcPts val="799"/>
              </a:spcAft>
            </a:pPr>
            <a:r>
              <a:rPr lang="en-US" sz="1350" b="0" u="none" strike="noStrike">
                <a:solidFill>
                  <a:srgbClr val="102A4C"/>
                </a:solidFill>
                <a:effectLst/>
                <a:uFillTx/>
                <a:latin typeface="Aptos"/>
              </a:rPr>
              <a:t>•  Memory is available and the tier fits</a:t>
            </a:r>
            <a:endParaRPr lang="en-US" sz="1350" b="0" u="none" strike="noStrike">
              <a:solidFill>
                <a:srgbClr val="000000"/>
              </a:solidFill>
              <a:effectLst/>
              <a:uFillTx/>
              <a:latin typeface="Arial"/>
            </a:endParaRPr>
          </a:p>
        </p:txBody>
      </p:sp>
      <p:sp>
        <p:nvSpPr>
          <p:cNvPr id="1251" name="Rounded Rectangle 10"/>
          <p:cNvSpPr/>
          <p:nvPr/>
        </p:nvSpPr>
        <p:spPr>
          <a:xfrm>
            <a:off x="6385680" y="1417320"/>
            <a:ext cx="5028840" cy="50256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50" b="1" u="none" strike="noStrike">
                <a:solidFill>
                  <a:srgbClr val="112E5C"/>
                </a:solidFill>
                <a:effectLst/>
                <a:uFillTx/>
                <a:latin typeface="Aptos"/>
              </a:rPr>
              <a:t>When will DFS outperform BFS?</a:t>
            </a:r>
            <a:endParaRPr lang="en-US" sz="1550" b="0" u="none" strike="noStrike">
              <a:solidFill>
                <a:srgbClr val="000000"/>
              </a:solidFill>
              <a:effectLst/>
              <a:uFillTx/>
              <a:latin typeface="Arial"/>
            </a:endParaRPr>
          </a:p>
        </p:txBody>
      </p:sp>
      <p:sp>
        <p:nvSpPr>
          <p:cNvPr id="1252" name="Rounded Rectangle 11"/>
          <p:cNvSpPr/>
          <p:nvPr/>
        </p:nvSpPr>
        <p:spPr>
          <a:xfrm>
            <a:off x="6385680" y="2103120"/>
            <a:ext cx="5028840" cy="201132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3" name="Rectangle 12"/>
          <p:cNvSpPr/>
          <p:nvPr/>
        </p:nvSpPr>
        <p:spPr>
          <a:xfrm>
            <a:off x="6614280" y="2194560"/>
            <a:ext cx="4571640" cy="24660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200" b="1" u="none" strike="noStrike">
                <a:solidFill>
                  <a:srgbClr val="5C6B80"/>
                </a:solidFill>
                <a:effectLst/>
                <a:uFillTx/>
                <a:latin typeface="Aptos"/>
              </a:rPr>
              <a:t>Look for:</a:t>
            </a:r>
            <a:endParaRPr lang="en-US" sz="1200" b="0" u="none" strike="noStrike">
              <a:solidFill>
                <a:srgbClr val="000000"/>
              </a:solidFill>
              <a:effectLst/>
              <a:uFillTx/>
              <a:latin typeface="Arial"/>
            </a:endParaRPr>
          </a:p>
        </p:txBody>
      </p:sp>
      <p:sp>
        <p:nvSpPr>
          <p:cNvPr id="1254" name="Rectangle 13"/>
          <p:cNvSpPr/>
          <p:nvPr/>
        </p:nvSpPr>
        <p:spPr>
          <a:xfrm>
            <a:off x="6614280" y="2514600"/>
            <a:ext cx="457164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99"/>
              </a:spcAft>
            </a:pPr>
            <a:r>
              <a:rPr lang="en-US" sz="1350" b="0" u="none" strike="noStrike" dirty="0">
                <a:solidFill>
                  <a:srgbClr val="102A4C"/>
                </a:solidFill>
                <a:effectLst/>
                <a:uFillTx/>
                <a:latin typeface="Aptos"/>
              </a:rPr>
              <a:t>•  Solutions are dense and lie deep</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The space is a finite tree with no cycles</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Memory is the binding constraint</a:t>
            </a:r>
            <a:endParaRPr lang="en-US" sz="1350" b="0" u="none" strike="noStrike" dirty="0">
              <a:solidFill>
                <a:srgbClr val="000000"/>
              </a:solidFill>
              <a:effectLst/>
              <a:uFillTx/>
              <a:latin typeface="Arial"/>
            </a:endParaRPr>
          </a:p>
          <a:p>
            <a:pPr defTabSz="914400">
              <a:lnSpc>
                <a:spcPct val="100000"/>
              </a:lnSpc>
              <a:spcAft>
                <a:spcPts val="799"/>
              </a:spcAft>
            </a:pPr>
            <a:r>
              <a:rPr lang="en-US" sz="1350" b="0" u="none" strike="noStrike" dirty="0">
                <a:solidFill>
                  <a:srgbClr val="102A4C"/>
                </a:solidFill>
                <a:effectLst/>
                <a:uFillTx/>
                <a:latin typeface="Aptos"/>
              </a:rPr>
              <a:t>•  Any solution will do; cost is not the point</a:t>
            </a:r>
            <a:endParaRPr lang="en-US" sz="1350" b="0" u="none" strike="noStrike" dirty="0">
              <a:solidFill>
                <a:srgbClr val="000000"/>
              </a:solidFill>
              <a:effectLst/>
              <a:uFillTx/>
              <a:latin typeface="Arial"/>
            </a:endParaRPr>
          </a:p>
        </p:txBody>
      </p:sp>
      <p:sp>
        <p:nvSpPr>
          <p:cNvPr id="1255" name="Rectangle 14"/>
          <p:cNvSpPr/>
          <p:nvPr/>
        </p:nvSpPr>
        <p:spPr>
          <a:xfrm>
            <a:off x="914400" y="4389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Reason from the frontier, do not memorise the table.</a:t>
            </a:r>
            <a:endParaRPr lang="en-US" sz="1700" b="0" u="none" strike="noStrike">
              <a:solidFill>
                <a:srgbClr val="000000"/>
              </a:solidFill>
              <a:effectLst/>
              <a:uFillTx/>
              <a:latin typeface="Arial"/>
            </a:endParaRPr>
          </a:p>
        </p:txBody>
      </p:sp>
      <p:sp>
        <p:nvSpPr>
          <p:cNvPr id="1256" name="Rounded Rectangle 15"/>
          <p:cNvSpPr/>
          <p:nvPr/>
        </p:nvSpPr>
        <p:spPr>
          <a:xfrm>
            <a:off x="914400" y="4754880"/>
            <a:ext cx="10423800" cy="594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57" name="Rectangle 16"/>
          <p:cNvSpPr/>
          <p:nvPr/>
        </p:nvSpPr>
        <p:spPr>
          <a:xfrm>
            <a:off x="1097280" y="4800600"/>
            <a:ext cx="1005804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1" u="none" strike="noStrike">
                <a:solidFill>
                  <a:srgbClr val="112E5C"/>
                </a:solidFill>
                <a:effectLst/>
                <a:uFillTx/>
                <a:latin typeface="Aptos"/>
              </a:rPr>
              <a:t>BFS holds an entire tier: </a:t>
            </a:r>
            <a:r>
              <a:rPr lang="en-US" sz="1800" b="1" u="none" strike="noStrike">
                <a:solidFill>
                  <a:srgbClr val="9B1C1C"/>
                </a:solidFill>
                <a:effectLst/>
                <a:uFillTx/>
                <a:latin typeface="Aptos"/>
              </a:rPr>
              <a:t>O(bᵈ)</a:t>
            </a:r>
            <a:r>
              <a:rPr lang="en-US" sz="1500" b="1" u="none" strike="noStrike">
                <a:solidFill>
                  <a:srgbClr val="112E5C"/>
                </a:solidFill>
                <a:effectLst/>
                <a:uFillTx/>
                <a:latin typeface="Aptos"/>
              </a:rPr>
              <a:t>     DFS holds one path and its siblings: </a:t>
            </a:r>
            <a:r>
              <a:rPr lang="en-US" sz="1800" b="1" u="none" strike="noStrike">
                <a:solidFill>
                  <a:srgbClr val="177245"/>
                </a:solidFill>
                <a:effectLst/>
                <a:uFillTx/>
                <a:latin typeface="Aptos"/>
              </a:rPr>
              <a:t>O(bm)</a:t>
            </a:r>
            <a:endParaRPr lang="en-US" sz="1800" b="0" u="none" strike="noStrike">
              <a:solidFill>
                <a:srgbClr val="000000"/>
              </a:solidFill>
              <a:effectLst/>
              <a:uFillTx/>
              <a:latin typeface="Arial"/>
            </a:endParaRPr>
          </a:p>
        </p:txBody>
      </p:sp>
      <p:sp>
        <p:nvSpPr>
          <p:cNvPr id="1258" name="Rectangle 17"/>
          <p:cNvSpPr/>
          <p:nvPr/>
        </p:nvSpPr>
        <p:spPr>
          <a:xfrm>
            <a:off x="914400" y="548640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a:solidFill>
                  <a:srgbClr val="5C6B80"/>
                </a:solidFill>
                <a:effectLst/>
                <a:uFillTx/>
                <a:latin typeface="Aptos"/>
              </a:rPr>
              <a:t>Every property on the comparison table falls out of which node the frontier hands back next.</a:t>
            </a:r>
            <a:endParaRPr lang="en-US" sz="1350" b="0" u="none" strike="noStrike">
              <a:solidFill>
                <a:srgbClr val="000000"/>
              </a:solidFill>
              <a:effectLst/>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5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6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Depth-Limited and Iterative Deepening Search</a:t>
            </a:r>
            <a:endParaRPr lang="en-US" sz="2600" b="0" u="none" strike="noStrike">
              <a:solidFill>
                <a:srgbClr val="000000"/>
              </a:solidFill>
              <a:effectLst/>
              <a:uFillTx/>
              <a:latin typeface="Arial"/>
            </a:endParaRPr>
          </a:p>
        </p:txBody>
      </p:sp>
      <p:sp>
        <p:nvSpPr>
          <p:cNvPr id="126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6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64" name="Text 5"/>
          <p:cNvSpPr/>
          <p:nvPr/>
        </p:nvSpPr>
        <p:spPr>
          <a:xfrm>
            <a:off x="822960" y="1417320"/>
            <a:ext cx="4114440" cy="502560"/>
          </a:xfrm>
          <a:prstGeom prst="roundRect">
            <a:avLst>
              <a:gd name="adj" fmla="val 14545"/>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2F7FD5"/>
                </a:solidFill>
                <a:effectLst/>
                <a:uFillTx/>
                <a:latin typeface="Aptos"/>
              </a:rPr>
              <a:t>Depth-limited search</a:t>
            </a:r>
            <a:endParaRPr lang="en-US" sz="1700" b="0" u="none" strike="noStrike">
              <a:solidFill>
                <a:srgbClr val="000000"/>
              </a:solidFill>
              <a:effectLst/>
              <a:uFillTx/>
              <a:latin typeface="Arial"/>
            </a:endParaRPr>
          </a:p>
        </p:txBody>
      </p:sp>
      <p:sp>
        <p:nvSpPr>
          <p:cNvPr id="1265" name="Text 6"/>
          <p:cNvSpPr/>
          <p:nvPr/>
        </p:nvSpPr>
        <p:spPr>
          <a:xfrm>
            <a:off x="914400" y="2057400"/>
            <a:ext cx="402300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Set a depth limit ℓ. Nodes at depth ℓ are treated as if they have no successors.</a:t>
            </a:r>
            <a:endParaRPr lang="en-US" sz="1500" b="0" u="none" strike="noStrike">
              <a:solidFill>
                <a:srgbClr val="000000"/>
              </a:solidFill>
              <a:effectLst/>
              <a:uFillTx/>
              <a:latin typeface="Arial"/>
            </a:endParaRPr>
          </a:p>
        </p:txBody>
      </p:sp>
      <p:sp>
        <p:nvSpPr>
          <p:cNvPr id="1266" name="Text 7"/>
          <p:cNvSpPr/>
          <p:nvPr/>
        </p:nvSpPr>
        <p:spPr>
          <a:xfrm>
            <a:off x="6400800" y="1417320"/>
            <a:ext cx="4297320" cy="502560"/>
          </a:xfrm>
          <a:prstGeom prst="roundRect">
            <a:avLst>
              <a:gd name="adj" fmla="val 14545"/>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700" b="1" u="none" strike="noStrike">
                <a:solidFill>
                  <a:srgbClr val="177245"/>
                </a:solidFill>
                <a:effectLst/>
                <a:uFillTx/>
                <a:latin typeface="Aptos"/>
              </a:rPr>
              <a:t>Iterative deepening search</a:t>
            </a:r>
            <a:endParaRPr lang="en-US" sz="1700" b="0" u="none" strike="noStrike">
              <a:solidFill>
                <a:srgbClr val="000000"/>
              </a:solidFill>
              <a:effectLst/>
              <a:uFillTx/>
              <a:latin typeface="Arial"/>
            </a:endParaRPr>
          </a:p>
        </p:txBody>
      </p:sp>
      <p:sp>
        <p:nvSpPr>
          <p:cNvPr id="1267" name="Text 8"/>
          <p:cNvSpPr/>
          <p:nvPr/>
        </p:nvSpPr>
        <p:spPr>
          <a:xfrm>
            <a:off x="6492240" y="2057400"/>
            <a:ext cx="4114440" cy="914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500" b="0" u="none" strike="noStrike">
                <a:solidFill>
                  <a:srgbClr val="102A4C"/>
                </a:solidFill>
                <a:effectLst/>
                <a:uFillTx/>
                <a:latin typeface="Aptos"/>
              </a:rPr>
              <a:t>Run depth-limited search with limits 0, 1, 2, … until a solution is found.</a:t>
            </a:r>
            <a:endParaRPr lang="en-US" sz="1500" b="0" u="none" strike="noStrike">
              <a:solidFill>
                <a:srgbClr val="000000"/>
              </a:solidFill>
              <a:effectLst/>
              <a:uFillTx/>
              <a:latin typeface="Arial"/>
            </a:endParaRPr>
          </a:p>
        </p:txBody>
      </p:sp>
      <p:sp>
        <p:nvSpPr>
          <p:cNvPr id="1268" name="Text 9"/>
          <p:cNvSpPr/>
          <p:nvPr/>
        </p:nvSpPr>
        <p:spPr>
          <a:xfrm>
            <a:off x="1097280" y="4069080"/>
            <a:ext cx="9875160" cy="4568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2000" b="1" u="none" strike="noStrike">
                <a:solidFill>
                  <a:srgbClr val="112E5C"/>
                </a:solidFill>
                <a:effectLst/>
                <a:uFillTx/>
                <a:latin typeface="Aptos"/>
              </a:rPr>
              <a:t>IDS combines DFS-like memory with BFS-like shallow-solution behavior.</a:t>
            </a:r>
            <a:endParaRPr lang="en-US" sz="2000" b="0" u="none" strike="noStrike">
              <a:solidFill>
                <a:srgbClr val="000000"/>
              </a:solidFill>
              <a:effectLst/>
              <a:uFillTx/>
              <a:latin typeface="Arial"/>
            </a:endParaRPr>
          </a:p>
        </p:txBody>
      </p:sp>
      <p:sp>
        <p:nvSpPr>
          <p:cNvPr id="1269" name="Text 10"/>
          <p:cNvSpPr/>
          <p:nvPr/>
        </p:nvSpPr>
        <p:spPr>
          <a:xfrm>
            <a:off x="1097280" y="4800600"/>
            <a:ext cx="9875160" cy="41112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0" u="none" strike="noStrike">
                <a:solidFill>
                  <a:srgbClr val="102A4C"/>
                </a:solidFill>
                <a:effectLst/>
                <a:uFillTx/>
                <a:latin typeface="Aptos"/>
              </a:rPr>
              <a:t>IDS time: O(b^d). IDS memory: O(bd). Preferred when depth is unknown and memory is limited.</a:t>
            </a:r>
            <a:endParaRPr lang="en-US" sz="1700" b="0" u="none" strike="noStrike">
              <a:solidFill>
                <a:srgbClr val="000000"/>
              </a:solidFill>
              <a:effectLst/>
              <a:uFillTx/>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Depth-Limited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295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219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DEPTH-LIMITED-SEARCH(problem, ℓ)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frontier ← a LIFO queue (stack) with NODE(problem.INITIAL) as an element</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while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IS-EMPTY(frontier)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node ← POP(frontier)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problem.IS-GOAL(node.STATE)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node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DEPTH(node) &gt; ℓ </a:t>
            </a:r>
            <a:r>
              <a:rPr lang="en-US" sz="950" b="1" u="none" strike="noStrike" dirty="0">
                <a:solidFill>
                  <a:srgbClr val="F6A01A"/>
                </a:solidFill>
                <a:effectLst/>
                <a:uFillTx/>
                <a:latin typeface="Consolas"/>
              </a:rPr>
              <a:t>then</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else</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not</a:t>
            </a:r>
            <a:r>
              <a:rPr lang="en-US" sz="950" b="0" u="none" strike="noStrike" dirty="0">
                <a:solidFill>
                  <a:srgbClr val="EAF2FF"/>
                </a:solidFill>
                <a:effectLst/>
                <a:uFillTx/>
                <a:latin typeface="Consolas"/>
              </a:rPr>
              <a:t> IS-CYCLE(node)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each</a:t>
            </a:r>
            <a:r>
              <a:rPr lang="en-US" sz="950" b="0" u="none" strike="noStrike" dirty="0">
                <a:solidFill>
                  <a:srgbClr val="EAF2FF"/>
                </a:solidFill>
                <a:effectLst/>
                <a:uFillTx/>
                <a:latin typeface="Consolas"/>
              </a:rPr>
              <a:t> child in EXPAND(problem, node)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add child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frontier</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NoteCard 2009"/>
          <p:cNvSpPr/>
          <p:nvPr/>
        </p:nvSpPr>
        <p:spPr>
          <a:xfrm>
            <a:off x="502920" y="4350020"/>
            <a:ext cx="6300000" cy="78998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708660" y="4487180"/>
            <a:ext cx="588852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F6A01A"/>
                </a:solidFill>
                <a:effectLst/>
                <a:uFillTx/>
                <a:latin typeface="Aptos"/>
              </a:rPr>
              <a:t>Notice what is not here</a:t>
            </a:r>
            <a:endParaRPr lang="en-US" sz="1100" b="0" u="none" strike="noStrike">
              <a:solidFill>
                <a:srgbClr val="000000"/>
              </a:solidFill>
              <a:effectLst/>
              <a:uFillTx/>
              <a:latin typeface="Arial"/>
            </a:endParaRPr>
          </a:p>
        </p:txBody>
      </p:sp>
      <p:sp>
        <p:nvSpPr>
          <p:cNvPr id="2011" name="CardBody 2011"/>
          <p:cNvSpPr/>
          <p:nvPr/>
        </p:nvSpPr>
        <p:spPr>
          <a:xfrm>
            <a:off x="708660" y="4715780"/>
            <a:ext cx="5888520" cy="2870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Set ℓ = ∞ and delete the DEPTH test and this is plain depth-first search. The textbook never gives DFS its own figure, because this is it.</a:t>
            </a:r>
            <a:endParaRPr lang="en-US" sz="1100" b="0" u="none" strike="noStrike">
              <a:solidFill>
                <a:srgbClr val="000000"/>
              </a:solidFill>
              <a:effectLst/>
              <a:uFillTx/>
              <a:latin typeface="Arial"/>
            </a:endParaRPr>
          </a:p>
        </p:txBody>
      </p:sp>
      <p:sp>
        <p:nvSpPr>
          <p:cNvPr id="2012" name="NoteCard 2012"/>
          <p:cNvSpPr/>
          <p:nvPr/>
        </p:nvSpPr>
        <p:spPr>
          <a:xfrm>
            <a:off x="7077240" y="124000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A LIFO stack</a:t>
            </a:r>
            <a:endParaRPr lang="en-US" sz="1100" b="0" u="none" strike="noStrike">
              <a:solidFill>
                <a:srgbClr val="000000"/>
              </a:solidFill>
              <a:effectLst/>
              <a:uFillTx/>
              <a:latin typeface="Arial"/>
            </a:endParaRPr>
          </a:p>
        </p:txBody>
      </p:sp>
      <p:sp>
        <p:nvSpPr>
          <p:cNvPr id="2014" name="CardBody 2014"/>
          <p:cNvSpPr/>
          <p:nvPr/>
        </p:nvSpPr>
        <p:spPr>
          <a:xfrm>
            <a:off x="7282980" y="160576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POP returns the newest node, so the search drives down one branch before touching any sibling.</a:t>
            </a:r>
            <a:endParaRPr lang="en-US" sz="1100" b="0" u="none" strike="noStrike">
              <a:solidFill>
                <a:srgbClr val="000000"/>
              </a:solidFill>
              <a:effectLst/>
              <a:uFillTx/>
              <a:latin typeface="Arial"/>
            </a:endParaRPr>
          </a:p>
        </p:txBody>
      </p:sp>
      <p:sp>
        <p:nvSpPr>
          <p:cNvPr id="2015" name="NoteCard 2015"/>
          <p:cNvSpPr/>
          <p:nvPr/>
        </p:nvSpPr>
        <p:spPr>
          <a:xfrm>
            <a:off x="7077240" y="225500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282980" y="239216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Three possible answers</a:t>
            </a:r>
            <a:endParaRPr lang="en-US" sz="1100" b="0" u="none" strike="noStrike">
              <a:solidFill>
                <a:srgbClr val="000000"/>
              </a:solidFill>
              <a:effectLst/>
              <a:uFillTx/>
              <a:latin typeface="Arial"/>
            </a:endParaRPr>
          </a:p>
        </p:txBody>
      </p:sp>
      <p:sp>
        <p:nvSpPr>
          <p:cNvPr id="2017" name="CardBody 2017"/>
          <p:cNvSpPr/>
          <p:nvPr/>
        </p:nvSpPr>
        <p:spPr>
          <a:xfrm>
            <a:off x="7282980" y="262076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failure, or cutoff. The last two are not the same thing, and confusing them is the classic exam error.</a:t>
            </a:r>
            <a:endParaRPr lang="en-US" sz="1100" b="0" u="none" strike="noStrike">
              <a:solidFill>
                <a:srgbClr val="000000"/>
              </a:solidFill>
              <a:effectLst/>
              <a:uFillTx/>
              <a:latin typeface="Arial"/>
            </a:endParaRPr>
          </a:p>
        </p:txBody>
      </p:sp>
      <p:sp>
        <p:nvSpPr>
          <p:cNvPr id="2018" name="NoteCard 2018"/>
          <p:cNvSpPr/>
          <p:nvPr/>
        </p:nvSpPr>
        <p:spPr>
          <a:xfrm>
            <a:off x="7077240" y="3270010"/>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282980" y="340717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No reached table at all</a:t>
            </a:r>
            <a:endParaRPr lang="en-US" sz="1100" b="0" u="none" strike="noStrike">
              <a:solidFill>
                <a:srgbClr val="000000"/>
              </a:solidFill>
              <a:effectLst/>
              <a:uFillTx/>
              <a:latin typeface="Arial"/>
            </a:endParaRPr>
          </a:p>
        </p:txBody>
      </p:sp>
      <p:sp>
        <p:nvSpPr>
          <p:cNvPr id="2020" name="CardBody 2020"/>
          <p:cNvSpPr/>
          <p:nvPr/>
        </p:nvSpPr>
        <p:spPr>
          <a:xfrm>
            <a:off x="7282980" y="3635770"/>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This is tree-like search. Memory is O(bℓ): one path plus the siblings along it, never a stored tier.</a:t>
            </a:r>
            <a:endParaRPr lang="en-US" sz="1100" b="0" u="none" strike="noStrike">
              <a:solidFill>
                <a:srgbClr val="000000"/>
              </a:solidFill>
              <a:effectLst/>
              <a:uFillTx/>
              <a:latin typeface="Arial"/>
            </a:endParaRPr>
          </a:p>
        </p:txBody>
      </p:sp>
      <p:sp>
        <p:nvSpPr>
          <p:cNvPr id="2021" name="NoteCard 2021"/>
          <p:cNvSpPr/>
          <p:nvPr/>
        </p:nvSpPr>
        <p:spPr>
          <a:xfrm>
            <a:off x="7077240" y="4285015"/>
            <a:ext cx="4611840" cy="854985"/>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2" name="CardHead 2022"/>
          <p:cNvSpPr/>
          <p:nvPr/>
        </p:nvSpPr>
        <p:spPr>
          <a:xfrm>
            <a:off x="7282980" y="4422175"/>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IS-CYCLE(node)</a:t>
            </a:r>
            <a:endParaRPr lang="en-US" sz="1100" b="0" u="none" strike="noStrike">
              <a:solidFill>
                <a:srgbClr val="000000"/>
              </a:solidFill>
              <a:effectLst/>
              <a:uFillTx/>
              <a:latin typeface="Arial"/>
            </a:endParaRPr>
          </a:p>
        </p:txBody>
      </p:sp>
      <p:sp>
        <p:nvSpPr>
          <p:cNvPr id="2023" name="CardBody 2023"/>
          <p:cNvSpPr/>
          <p:nvPr/>
        </p:nvSpPr>
        <p:spPr>
          <a:xfrm>
            <a:off x="7282980" y="4650775"/>
            <a:ext cx="4200360" cy="352065"/>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Walks the parent chain looking for a repeated state. Check a few links for cheap safety, or all the way up for full safety.</a:t>
            </a:r>
            <a:endParaRPr lang="en-US" sz="1100" b="0" u="none" strike="noStrike">
              <a:solidFill>
                <a:srgbClr val="000000"/>
              </a:solidFill>
              <a:effectLst/>
              <a:uFillTx/>
              <a:latin typeface="Arial"/>
            </a:endParaRPr>
          </a:p>
        </p:txBody>
      </p:sp>
      <p:sp>
        <p:nvSpPr>
          <p:cNvPr id="2024" name="Banner 2024"/>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Depth-limited search is depth-first search with a governor bolted on. The limit ℓ makes the search terminate; it does not make the search correct.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If ℓ is smaller than the shallowest solution, the answer comes back as cutoff — the algorithm's way of telling you not to read the result as “there is no solution”.</a:t>
            </a:r>
            <a:endParaRPr lang="en-US" sz="1100" b="0" u="none" strike="noStrike">
              <a:solidFill>
                <a:srgbClr val="000000"/>
              </a:solidFill>
              <a:effectLst/>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Failure Is Not Cutoff</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Outcome 2006"/>
          <p:cNvSpPr/>
          <p:nvPr/>
        </p:nvSpPr>
        <p:spPr>
          <a:xfrm>
            <a:off x="502920" y="1240000"/>
            <a:ext cx="3545840" cy="2100000"/>
          </a:xfrm>
          <a:prstGeom prst="roundRect">
            <a:avLst>
              <a:gd name="adj" fmla="val 3000"/>
            </a:avLst>
          </a:prstGeom>
          <a:solidFill>
            <a:srgbClr val="DBF1E3"/>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Text 2007"/>
          <p:cNvSpPr/>
          <p:nvPr/>
        </p:nvSpPr>
        <p:spPr>
          <a:xfrm>
            <a:off x="70866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177245"/>
                </a:solidFill>
                <a:effectLst/>
                <a:uFillTx/>
                <a:latin typeface="Consolas"/>
              </a:rPr>
              <a:t>solution node</a:t>
            </a:r>
            <a:endParaRPr lang="en-US" sz="1100" b="0" u="none" strike="noStrike">
              <a:solidFill>
                <a:srgbClr val="000000"/>
              </a:solidFill>
              <a:effectLst/>
              <a:uFillTx/>
              <a:latin typeface="Arial"/>
            </a:endParaRPr>
          </a:p>
        </p:txBody>
      </p:sp>
      <p:sp>
        <p:nvSpPr>
          <p:cNvPr id="2008" name="Text 2008"/>
          <p:cNvSpPr/>
          <p:nvPr/>
        </p:nvSpPr>
        <p:spPr>
          <a:xfrm>
            <a:off x="70866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A goal state was popped at depth ≤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done. The path is real, and it lies inside the limit you set.</a:t>
            </a:r>
            <a:endParaRPr lang="en-US" sz="1100" b="0" u="none" strike="noStrike">
              <a:solidFill>
                <a:srgbClr val="000000"/>
              </a:solidFill>
              <a:effectLst/>
              <a:uFillTx/>
              <a:latin typeface="Arial"/>
            </a:endParaRPr>
          </a:p>
        </p:txBody>
      </p:sp>
      <p:sp>
        <p:nvSpPr>
          <p:cNvPr id="2009" name="Outcome 2009"/>
          <p:cNvSpPr/>
          <p:nvPr/>
        </p:nvSpPr>
        <p:spPr>
          <a:xfrm>
            <a:off x="4323080" y="1240000"/>
            <a:ext cx="3545840" cy="2100000"/>
          </a:xfrm>
          <a:prstGeom prst="roundRect">
            <a:avLst>
              <a:gd name="adj" fmla="val 3000"/>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Text 2010"/>
          <p:cNvSpPr/>
          <p:nvPr/>
        </p:nvSpPr>
        <p:spPr>
          <a:xfrm>
            <a:off x="452882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9B1C1C"/>
                </a:solidFill>
                <a:effectLst/>
                <a:uFillTx/>
                <a:latin typeface="Consolas"/>
              </a:rPr>
              <a:t>failure</a:t>
            </a:r>
            <a:endParaRPr lang="en-US" sz="1100" b="0" u="none" strike="noStrike">
              <a:solidFill>
                <a:srgbClr val="000000"/>
              </a:solidFill>
              <a:effectLst/>
              <a:uFillTx/>
              <a:latin typeface="Arial"/>
            </a:endParaRPr>
          </a:p>
        </p:txBody>
      </p:sp>
      <p:sp>
        <p:nvSpPr>
          <p:cNvPr id="2011" name="Text 2011"/>
          <p:cNvSpPr/>
          <p:nvPr/>
        </p:nvSpPr>
        <p:spPr>
          <a:xfrm>
            <a:off x="452882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and no node was ever truncated at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the reachable space was exhausted. There is no solution — full stop.</a:t>
            </a:r>
            <a:endParaRPr lang="en-US" sz="1100" b="0" u="none" strike="noStrike">
              <a:solidFill>
                <a:srgbClr val="000000"/>
              </a:solidFill>
              <a:effectLst/>
              <a:uFillTx/>
              <a:latin typeface="Arial"/>
            </a:endParaRPr>
          </a:p>
        </p:txBody>
      </p:sp>
      <p:sp>
        <p:nvSpPr>
          <p:cNvPr id="2012" name="Outcome 2012"/>
          <p:cNvSpPr/>
          <p:nvPr/>
        </p:nvSpPr>
        <p:spPr>
          <a:xfrm>
            <a:off x="8143240" y="1240000"/>
            <a:ext cx="3545840" cy="2100000"/>
          </a:xfrm>
          <a:prstGeom prst="roundRect">
            <a:avLst>
              <a:gd name="adj" fmla="val 3000"/>
            </a:avLst>
          </a:prstGeom>
          <a:solidFill>
            <a:srgbClr val="FFE5B6"/>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Text 2013"/>
          <p:cNvSpPr/>
          <p:nvPr/>
        </p:nvSpPr>
        <p:spPr>
          <a:xfrm>
            <a:off x="8348980" y="1445740"/>
            <a:ext cx="3134360" cy="3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500" b="1" u="none" strike="noStrike" dirty="0">
                <a:solidFill>
                  <a:srgbClr val="8A5A00"/>
                </a:solidFill>
                <a:effectLst/>
                <a:uFillTx/>
                <a:latin typeface="Consolas"/>
              </a:rPr>
              <a:t>cutoff</a:t>
            </a:r>
            <a:endParaRPr lang="en-US" sz="1100" b="0" u="none" strike="noStrike">
              <a:solidFill>
                <a:srgbClr val="000000"/>
              </a:solidFill>
              <a:effectLst/>
              <a:uFillTx/>
              <a:latin typeface="Arial"/>
            </a:endParaRPr>
          </a:p>
        </p:txBody>
      </p:sp>
      <p:sp>
        <p:nvSpPr>
          <p:cNvPr id="2014" name="Text 2014"/>
          <p:cNvSpPr/>
          <p:nvPr/>
        </p:nvSpPr>
        <p:spPr>
          <a:xfrm>
            <a:off x="8348980" y="1860000"/>
            <a:ext cx="3134360" cy="127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340"/>
              </a:spcAft>
              <a:buNone/>
            </a:pPr>
            <a:r>
              <a:rPr lang="en-US" sz="1000" b="1" u="none" strike="noStrike" dirty="0">
                <a:solidFill>
                  <a:srgbClr val="102A4C"/>
                </a:solidFill>
                <a:effectLst/>
                <a:uFillTx/>
                <a:latin typeface="Aptos"/>
              </a:rPr>
              <a:t>The stack emptied, but at least one node was cut off at depth ℓ.</a:t>
            </a:r>
            <a:endParaRPr lang="en-US" sz="1100" b="0" u="none" strike="noStrike">
              <a:solidFill>
                <a:srgbClr val="000000"/>
              </a:solidFill>
              <a:effectLst/>
              <a:uFillTx/>
              <a:latin typeface="Arial"/>
            </a:endParaRPr>
          </a:p>
          <a:p>
            <a:pPr algn="l" defTabSz="914400">
              <a:lnSpc>
                <a:spcPct val="104000"/>
              </a:lnSpc>
              <a:buNone/>
            </a:pPr>
            <a:r>
              <a:rPr lang="en-US" sz="950" b="0" u="none" strike="noStrike" dirty="0">
                <a:solidFill>
                  <a:srgbClr val="5C6B80"/>
                </a:solidFill>
                <a:effectLst/>
                <a:uFillTx/>
                <a:latin typeface="Aptos"/>
              </a:rPr>
              <a:t>Means: unknown. There may be a solution deeper down; you simply did not look.</a:t>
            </a:r>
            <a:endParaRPr lang="en-US" sz="1100" b="0" u="none" strike="noStrike">
              <a:solidFill>
                <a:srgbClr val="000000"/>
              </a:solidFill>
              <a:effectLst/>
              <a:uFillTx/>
              <a:latin typeface="Arial"/>
            </a:endParaRPr>
          </a:p>
        </p:txBody>
      </p:sp>
      <p:sp>
        <p:nvSpPr>
          <p:cNvPr id="2015" name="NoteCard 2015"/>
          <p:cNvSpPr/>
          <p:nvPr/>
        </p:nvSpPr>
        <p:spPr>
          <a:xfrm>
            <a:off x="50292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70866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result is a variable, not a return</a:t>
            </a:r>
            <a:endParaRPr lang="en-US" sz="1100" b="0" u="none" strike="noStrike">
              <a:solidFill>
                <a:srgbClr val="000000"/>
              </a:solidFill>
              <a:effectLst/>
              <a:uFillTx/>
              <a:latin typeface="Arial"/>
            </a:endParaRPr>
          </a:p>
        </p:txBody>
      </p:sp>
      <p:sp>
        <p:nvSpPr>
          <p:cNvPr id="2017" name="CardBody 2017"/>
          <p:cNvSpPr/>
          <p:nvPr/>
        </p:nvSpPr>
        <p:spPr>
          <a:xfrm>
            <a:off x="70866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spcAft>
                <a:spcPts val="280"/>
              </a:spcAft>
              <a:buNone/>
            </a:pPr>
            <a:r>
              <a:rPr lang="en-US" sz="1000" b="0" u="none" strike="noStrike" dirty="0">
                <a:solidFill>
                  <a:srgbClr val="102A4C"/>
                </a:solidFill>
                <a:effectLst/>
                <a:uFillTx/>
                <a:latin typeface="Aptos"/>
              </a:rPr>
              <a:t>result starts at failure and is upgraded to cutoff the first time a node is truncated. The function returns only after the stack empties, so the answer describes the whole search rather than the first branch that ran out of room.</a:t>
            </a:r>
            <a:endParaRPr lang="en-US" sz="1100" b="0" u="none" strike="noStrike">
              <a:solidFill>
                <a:srgbClr val="000000"/>
              </a:solidFill>
              <a:effectLst/>
              <a:uFillTx/>
              <a:latin typeface="Arial"/>
            </a:endParaRPr>
          </a:p>
          <a:p>
            <a:pPr algn="l" defTabSz="914400">
              <a:lnSpc>
                <a:spcPct val="104000"/>
              </a:lnSpc>
              <a:buNone/>
            </a:pPr>
            <a:r>
              <a:rPr lang="en-US" sz="1000" b="1" u="none" strike="noStrike" dirty="0">
                <a:solidFill>
                  <a:srgbClr val="9B1C1C"/>
                </a:solidFill>
                <a:effectLst/>
                <a:uFillTx/>
                <a:latin typeface="Aptos"/>
              </a:rPr>
              <a:t>One truncated branch anywhere is enough to void a failure.</a:t>
            </a:r>
            <a:endParaRPr lang="en-US" sz="1100" b="0" u="none" strike="noStrike">
              <a:solidFill>
                <a:srgbClr val="000000"/>
              </a:solidFill>
              <a:effectLst/>
              <a:uFillTx/>
              <a:latin typeface="Arial"/>
            </a:endParaRPr>
          </a:p>
        </p:txBody>
      </p:sp>
      <p:sp>
        <p:nvSpPr>
          <p:cNvPr id="2018" name="NoteCard 2018"/>
          <p:cNvSpPr/>
          <p:nvPr/>
        </p:nvSpPr>
        <p:spPr>
          <a:xfrm>
            <a:off x="6233160" y="3520000"/>
            <a:ext cx="5455920" cy="17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6438900" y="3657160"/>
            <a:ext cx="504444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Choosing ℓ, using the Romania map</a:t>
            </a:r>
            <a:endParaRPr lang="en-US" sz="1100" b="0" u="none" strike="noStrike">
              <a:solidFill>
                <a:srgbClr val="000000"/>
              </a:solidFill>
              <a:effectLst/>
              <a:uFillTx/>
              <a:latin typeface="Arial"/>
            </a:endParaRPr>
          </a:p>
        </p:txBody>
      </p:sp>
      <p:sp>
        <p:nvSpPr>
          <p:cNvPr id="2020" name="CardBody 2020"/>
          <p:cNvSpPr/>
          <p:nvPr/>
        </p:nvSpPr>
        <p:spPr>
          <a:xfrm>
            <a:off x="6438900" y="3885760"/>
            <a:ext cx="5044440" cy="11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19 is always safe. </a:t>
            </a:r>
            <a:r>
              <a:rPr lang="en-US" sz="950" b="0" u="none" strike="noStrike" dirty="0">
                <a:solidFill>
                  <a:srgbClr val="102A4C"/>
                </a:solidFill>
                <a:effectLst/>
                <a:uFillTx/>
                <a:latin typeface="Aptos"/>
              </a:rPr>
              <a:t>20 cities, so no solution path needs more than 19 actions.</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9 is the good limit. </a:t>
            </a:r>
            <a:r>
              <a:rPr lang="en-US" sz="950" b="0" u="none" strike="noStrike" dirty="0">
                <a:solidFill>
                  <a:srgbClr val="102A4C"/>
                </a:solidFill>
                <a:effectLst/>
                <a:uFillTx/>
                <a:latin typeface="Aptos"/>
              </a:rPr>
              <a:t>That is the diameter of the graph — any city reaches any other in 9.</a:t>
            </a:r>
            <a:endParaRPr lang="en-US" sz="950" b="0" u="none" strike="noStrike">
              <a:solidFill>
                <a:srgbClr val="000000"/>
              </a:solidFill>
              <a:effectLst/>
              <a:uFillTx/>
              <a:latin typeface="Arial"/>
            </a:endParaRPr>
          </a:p>
          <a:p>
            <a:pPr marL="137160" indent="-137160" algn="l" defTabSz="914400">
              <a:lnSpc>
                <a:spcPct val="104000"/>
              </a:lnSpc>
              <a:spcAft>
                <a:spcPts val="260"/>
              </a:spcAft>
              <a:buNone/>
            </a:pPr>
            <a:r>
              <a:rPr lang="en-US" sz="950" b="1" u="none" strike="noStrike" dirty="0">
                <a:solidFill>
                  <a:srgbClr val="F6A01A"/>
                </a:solidFill>
                <a:effectLst/>
                <a:uFillTx/>
                <a:latin typeface="Aptos"/>
              </a:rPr>
              <a:t>• </a:t>
            </a:r>
            <a:r>
              <a:rPr lang="en-US" sz="950" b="1" u="none" strike="noStrike" dirty="0">
                <a:solidFill>
                  <a:srgbClr val="102A4C"/>
                </a:solidFill>
                <a:effectLst/>
                <a:uFillTx/>
                <a:latin typeface="Aptos"/>
              </a:rPr>
              <a:t>ℓ = 8 returns cutoff </a:t>
            </a:r>
            <a:r>
              <a:rPr lang="en-US" sz="950" b="0" u="none" strike="noStrike" dirty="0">
                <a:solidFill>
                  <a:srgbClr val="102A4C"/>
                </a:solidFill>
                <a:effectLst/>
                <a:uFillTx/>
                <a:latin typeface="Aptos"/>
              </a:rPr>
              <a:t>on a solvable problem, and that word is the only warning you get.</a:t>
            </a:r>
            <a:endParaRPr lang="en-US" sz="950" b="0" u="none" strike="noStrike">
              <a:solidFill>
                <a:srgbClr val="000000"/>
              </a:solidFill>
              <a:effectLst/>
              <a:uFillTx/>
              <a:latin typeface="Arial"/>
            </a:endParaRPr>
          </a:p>
        </p:txBody>
      </p:sp>
      <p:sp>
        <p:nvSpPr>
          <p:cNvPr id="2021" name="Banner 2021"/>
          <p:cNvSpPr/>
          <p:nvPr/>
        </p:nvSpPr>
        <p:spPr>
          <a:xfrm>
            <a:off x="502920" y="5430000"/>
            <a:ext cx="11186160" cy="79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70"/>
              </a:spcAft>
              <a:buNone/>
            </a:pPr>
            <a:r>
              <a:rPr lang="en-US" sz="1100" b="1" u="none" strike="noStrike" dirty="0">
                <a:solidFill>
                  <a:srgbClr val="102A4C"/>
                </a:solidFill>
                <a:effectLst/>
                <a:uFillTx/>
                <a:latin typeface="Aptos"/>
              </a:rPr>
              <a:t>In general the diameter is not known until the problem is solved — which is precisely why iterative deepening exists.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It removes the one parameter depth-limited search cannot choose for you, by trying every value in order.</a:t>
            </a:r>
            <a:endParaRPr lang="en-US" sz="1100" b="0" u="none" strike="noStrike">
              <a:solidFill>
                <a:srgbClr val="000000"/>
              </a:solidFill>
              <a:effectLst/>
              <a:uFillTx/>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Iterative Deepening: The Driver Loop</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6300000" cy="142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57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3.12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5751360" cy="66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50" b="1" u="none" strike="noStrike" dirty="0">
                <a:solidFill>
                  <a:srgbClr val="F6A01A"/>
                </a:solidFill>
                <a:effectLst/>
                <a:uFillTx/>
                <a:latin typeface="Consolas"/>
              </a:rPr>
              <a:t>function</a:t>
            </a:r>
            <a:r>
              <a:rPr lang="en-US" sz="950" b="0" u="none" strike="noStrike" dirty="0">
                <a:solidFill>
                  <a:srgbClr val="EAF2FF"/>
                </a:solidFill>
                <a:effectLst/>
                <a:uFillTx/>
                <a:latin typeface="Consolas"/>
              </a:rPr>
              <a:t> ITERATIVE-DEEPENING-SEARCH(problem) </a:t>
            </a:r>
            <a:r>
              <a:rPr lang="en-US" sz="950" b="1" u="none" strike="noStrike" dirty="0">
                <a:solidFill>
                  <a:srgbClr val="F6A01A"/>
                </a:solidFill>
                <a:effectLst/>
                <a:uFillTx/>
                <a:latin typeface="Consolas"/>
              </a:rPr>
              <a:t>returns</a:t>
            </a:r>
            <a:r>
              <a:rPr lang="en-US" sz="950" b="0" u="none" strike="noStrike" dirty="0">
                <a:solidFill>
                  <a:srgbClr val="EAF2FF"/>
                </a:solidFill>
                <a:effectLst/>
                <a:uFillTx/>
                <a:latin typeface="Consolas"/>
              </a:rPr>
              <a:t> a solution node </a:t>
            </a:r>
            <a:r>
              <a:rPr lang="en-US" sz="950" b="1" u="none" strike="noStrike" dirty="0">
                <a:solidFill>
                  <a:srgbClr val="F6A01A"/>
                </a:solidFill>
                <a:effectLst/>
                <a:uFillTx/>
                <a:latin typeface="Consolas"/>
              </a:rPr>
              <a:t>or</a:t>
            </a:r>
            <a:r>
              <a:rPr lang="en-US" sz="950" b="0" u="none" strike="noStrike" dirty="0">
                <a:solidFill>
                  <a:srgbClr val="EAF2FF"/>
                </a:solidFill>
                <a:effectLst/>
                <a:uFillTx/>
                <a:latin typeface="Consolas"/>
              </a:rPr>
              <a:t> </a:t>
            </a:r>
            <a:r>
              <a:rPr lang="en-US" sz="950" b="1" u="none" strike="noStrike" dirty="0">
                <a:solidFill>
                  <a:srgbClr val="F2A0A0"/>
                </a:solidFill>
                <a:effectLst/>
                <a:uFillTx/>
                <a:latin typeface="Consolas"/>
              </a:rPr>
              <a:t>failure</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for</a:t>
            </a:r>
            <a:r>
              <a:rPr lang="en-US" sz="950" b="0" u="none" strike="noStrike" dirty="0">
                <a:solidFill>
                  <a:srgbClr val="EAF2FF"/>
                </a:solidFill>
                <a:effectLst/>
                <a:uFillTx/>
                <a:latin typeface="Consolas"/>
              </a:rPr>
              <a:t> depth = 0 </a:t>
            </a:r>
            <a:r>
              <a:rPr lang="en-US" sz="950" b="1" u="none" strike="noStrike" dirty="0">
                <a:solidFill>
                  <a:srgbClr val="F6A01A"/>
                </a:solidFill>
                <a:effectLst/>
                <a:uFillTx/>
                <a:latin typeface="Consolas"/>
              </a:rPr>
              <a:t>to</a:t>
            </a:r>
            <a:r>
              <a:rPr lang="en-US" sz="950" b="0" u="none" strike="noStrike" dirty="0">
                <a:solidFill>
                  <a:srgbClr val="EAF2FF"/>
                </a:solidFill>
                <a:effectLst/>
                <a:uFillTx/>
                <a:latin typeface="Consolas"/>
              </a:rPr>
              <a:t> ∞ </a:t>
            </a:r>
            <a:r>
              <a:rPr lang="en-US" sz="950" b="1" u="none" strike="noStrike" dirty="0">
                <a:solidFill>
                  <a:srgbClr val="F6A01A"/>
                </a:solidFill>
                <a:effectLst/>
                <a:uFillTx/>
                <a:latin typeface="Consolas"/>
              </a:rPr>
              <a:t>do</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result ← DEPTH-LIMITED-SEARCH(problem, depth)</a:t>
            </a:r>
            <a:endParaRPr lang="en-US" sz="950" b="0" u="none" strike="noStrike">
              <a:solidFill>
                <a:srgbClr val="000000"/>
              </a:solidFill>
              <a:effectLst/>
              <a:uFillTx/>
              <a:latin typeface="Arial"/>
            </a:endParaRPr>
          </a:p>
          <a:p>
            <a:pPr algn="l" defTabSz="914400">
              <a:lnSpc>
                <a:spcPct val="100000"/>
              </a:lnSpc>
              <a:spcAft>
                <a:spcPts val="120"/>
              </a:spcAft>
              <a:buNone/>
            </a:pP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if</a:t>
            </a:r>
            <a:r>
              <a:rPr lang="en-US" sz="950" b="0" u="none" strike="noStrike" dirty="0">
                <a:solidFill>
                  <a:srgbClr val="EAF2FF"/>
                </a:solidFill>
                <a:effectLst/>
                <a:uFillTx/>
                <a:latin typeface="Consolas"/>
              </a:rPr>
              <a:t> result ≠ </a:t>
            </a:r>
            <a:r>
              <a:rPr lang="en-US" sz="950" b="1" u="none" strike="noStrike" dirty="0">
                <a:solidFill>
                  <a:srgbClr val="FFD27A"/>
                </a:solidFill>
                <a:effectLst/>
                <a:uFillTx/>
                <a:latin typeface="Consolas"/>
              </a:rPr>
              <a:t>cutoff</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then</a:t>
            </a:r>
            <a:r>
              <a:rPr lang="en-US" sz="950" b="0" u="none" strike="noStrike" dirty="0">
                <a:solidFill>
                  <a:srgbClr val="EAF2FF"/>
                </a:solidFill>
                <a:effectLst/>
                <a:uFillTx/>
                <a:latin typeface="Consolas"/>
              </a:rPr>
              <a:t> </a:t>
            </a:r>
            <a:r>
              <a:rPr lang="en-US" sz="950" b="1" u="none" strike="noStrike" dirty="0">
                <a:solidFill>
                  <a:srgbClr val="F6A01A"/>
                </a:solidFill>
                <a:effectLst/>
                <a:uFillTx/>
                <a:latin typeface="Consolas"/>
              </a:rPr>
              <a:t>return</a:t>
            </a:r>
            <a:r>
              <a:rPr lang="en-US" sz="950" b="0" u="none" strike="noStrike" dirty="0">
                <a:solidFill>
                  <a:srgbClr val="EAF2FF"/>
                </a:solidFill>
                <a:effectLst/>
                <a:uFillTx/>
                <a:latin typeface="Consolas"/>
              </a:rPr>
              <a:t> result</a:t>
            </a:r>
            <a:endParaRPr lang="en-US" sz="950" b="0" u="none" strike="noStrike">
              <a:solidFill>
                <a:srgbClr val="000000"/>
              </a:solidFill>
              <a:effectLst/>
              <a:uFillTx/>
              <a:latin typeface="Arial"/>
            </a:endParaRPr>
          </a:p>
        </p:txBody>
      </p:sp>
      <p:sp>
        <p:nvSpPr>
          <p:cNvPr id="2009" name="TT 2009"/>
          <p:cNvSpPr/>
          <p:nvPr/>
        </p:nvSpPr>
        <p:spPr>
          <a:xfrm>
            <a:off x="502920" y="2860000"/>
            <a:ext cx="1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limit ℓ</a:t>
            </a:r>
            <a:endParaRPr lang="en-US" sz="1100" b="0" u="none" strike="noStrike">
              <a:solidFill>
                <a:srgbClr val="000000"/>
              </a:solidFill>
              <a:effectLst/>
              <a:uFillTx/>
              <a:latin typeface="Arial"/>
            </a:endParaRPr>
          </a:p>
        </p:txBody>
      </p:sp>
      <p:sp>
        <p:nvSpPr>
          <p:cNvPr id="2010" name="TT 2010"/>
          <p:cNvSpPr/>
          <p:nvPr/>
        </p:nvSpPr>
        <p:spPr>
          <a:xfrm>
            <a:off x="2002920" y="2860000"/>
            <a:ext cx="23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DEPTH-LIMITED-SEARCH returns</a:t>
            </a:r>
            <a:endParaRPr lang="en-US" sz="1100" b="0" u="none" strike="noStrike">
              <a:solidFill>
                <a:srgbClr val="000000"/>
              </a:solidFill>
              <a:effectLst/>
              <a:uFillTx/>
              <a:latin typeface="Arial"/>
            </a:endParaRPr>
          </a:p>
        </p:txBody>
      </p:sp>
      <p:sp>
        <p:nvSpPr>
          <p:cNvPr id="2011" name="TT 2011"/>
          <p:cNvSpPr/>
          <p:nvPr/>
        </p:nvSpPr>
        <p:spPr>
          <a:xfrm>
            <a:off x="4302920" y="2860000"/>
            <a:ext cx="2500000" cy="420000"/>
          </a:xfrm>
          <a:prstGeom prst="rect">
            <a:avLst/>
          </a:prstGeom>
          <a:solidFill>
            <a:srgbClr val="112E5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1" u="none" strike="noStrike" dirty="0">
                <a:solidFill>
                  <a:srgbClr val="FFFFFF"/>
                </a:solidFill>
                <a:effectLst/>
                <a:uFillTx/>
                <a:latin typeface="Aptos"/>
              </a:rPr>
              <a:t>so IDS…</a:t>
            </a:r>
            <a:endParaRPr lang="en-US" sz="1100" b="0" u="none" strike="noStrike">
              <a:solidFill>
                <a:srgbClr val="000000"/>
              </a:solidFill>
              <a:effectLst/>
              <a:uFillTx/>
              <a:latin typeface="Arial"/>
            </a:endParaRPr>
          </a:p>
        </p:txBody>
      </p:sp>
      <p:sp>
        <p:nvSpPr>
          <p:cNvPr id="2012" name="TT 2012"/>
          <p:cNvSpPr/>
          <p:nvPr/>
        </p:nvSpPr>
        <p:spPr>
          <a:xfrm>
            <a:off x="502920" y="328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0</a:t>
            </a:r>
            <a:endParaRPr lang="en-US" sz="1100" b="0" u="none" strike="noStrike">
              <a:solidFill>
                <a:srgbClr val="000000"/>
              </a:solidFill>
              <a:effectLst/>
              <a:uFillTx/>
              <a:latin typeface="Arial"/>
            </a:endParaRPr>
          </a:p>
        </p:txBody>
      </p:sp>
      <p:sp>
        <p:nvSpPr>
          <p:cNvPr id="2013" name="TT 2013"/>
          <p:cNvSpPr/>
          <p:nvPr/>
        </p:nvSpPr>
        <p:spPr>
          <a:xfrm>
            <a:off x="2002920" y="328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4" name="TT 2014"/>
          <p:cNvSpPr/>
          <p:nvPr/>
        </p:nvSpPr>
        <p:spPr>
          <a:xfrm>
            <a:off x="4302920" y="328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5" name="TT 2015"/>
          <p:cNvSpPr/>
          <p:nvPr/>
        </p:nvSpPr>
        <p:spPr>
          <a:xfrm>
            <a:off x="502920" y="366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1</a:t>
            </a:r>
            <a:endParaRPr lang="en-US" sz="1100" b="0" u="none" strike="noStrike">
              <a:solidFill>
                <a:srgbClr val="000000"/>
              </a:solidFill>
              <a:effectLst/>
              <a:uFillTx/>
              <a:latin typeface="Arial"/>
            </a:endParaRPr>
          </a:p>
        </p:txBody>
      </p:sp>
      <p:sp>
        <p:nvSpPr>
          <p:cNvPr id="2016" name="TT 2016"/>
          <p:cNvSpPr/>
          <p:nvPr/>
        </p:nvSpPr>
        <p:spPr>
          <a:xfrm>
            <a:off x="2002920" y="366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17" name="TT 2017"/>
          <p:cNvSpPr/>
          <p:nvPr/>
        </p:nvSpPr>
        <p:spPr>
          <a:xfrm>
            <a:off x="4302920" y="366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18" name="TT 2018"/>
          <p:cNvSpPr/>
          <p:nvPr/>
        </p:nvSpPr>
        <p:spPr>
          <a:xfrm>
            <a:off x="502920" y="4040000"/>
            <a:ext cx="1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2</a:t>
            </a:r>
            <a:endParaRPr lang="en-US" sz="1100" b="0" u="none" strike="noStrike">
              <a:solidFill>
                <a:srgbClr val="000000"/>
              </a:solidFill>
              <a:effectLst/>
              <a:uFillTx/>
              <a:latin typeface="Arial"/>
            </a:endParaRPr>
          </a:p>
        </p:txBody>
      </p:sp>
      <p:sp>
        <p:nvSpPr>
          <p:cNvPr id="2019" name="TT 2019"/>
          <p:cNvSpPr/>
          <p:nvPr/>
        </p:nvSpPr>
        <p:spPr>
          <a:xfrm>
            <a:off x="2002920" y="4040000"/>
            <a:ext cx="23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cutoff</a:t>
            </a:r>
            <a:endParaRPr lang="en-US" sz="1100" b="0" u="none" strike="noStrike">
              <a:solidFill>
                <a:srgbClr val="000000"/>
              </a:solidFill>
              <a:effectLst/>
              <a:uFillTx/>
              <a:latin typeface="Arial"/>
            </a:endParaRPr>
          </a:p>
        </p:txBody>
      </p:sp>
      <p:sp>
        <p:nvSpPr>
          <p:cNvPr id="2020" name="TT 2020"/>
          <p:cNvSpPr/>
          <p:nvPr/>
        </p:nvSpPr>
        <p:spPr>
          <a:xfrm>
            <a:off x="4302920" y="4040000"/>
            <a:ext cx="2500000" cy="38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go one level deeper</a:t>
            </a:r>
            <a:endParaRPr lang="en-US" sz="1100" b="0" u="none" strike="noStrike">
              <a:solidFill>
                <a:srgbClr val="000000"/>
              </a:solidFill>
              <a:effectLst/>
              <a:uFillTx/>
              <a:latin typeface="Arial"/>
            </a:endParaRPr>
          </a:p>
        </p:txBody>
      </p:sp>
      <p:sp>
        <p:nvSpPr>
          <p:cNvPr id="2021" name="TT 2021"/>
          <p:cNvSpPr/>
          <p:nvPr/>
        </p:nvSpPr>
        <p:spPr>
          <a:xfrm>
            <a:off x="502920" y="4420000"/>
            <a:ext cx="1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3</a:t>
            </a:r>
            <a:endParaRPr lang="en-US" sz="1100" b="0" u="none" strike="noStrike">
              <a:solidFill>
                <a:srgbClr val="000000"/>
              </a:solidFill>
              <a:effectLst/>
              <a:uFillTx/>
              <a:latin typeface="Arial"/>
            </a:endParaRPr>
          </a:p>
        </p:txBody>
      </p:sp>
      <p:sp>
        <p:nvSpPr>
          <p:cNvPr id="2022" name="TT 2022"/>
          <p:cNvSpPr/>
          <p:nvPr/>
        </p:nvSpPr>
        <p:spPr>
          <a:xfrm>
            <a:off x="2002920" y="4420000"/>
            <a:ext cx="23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solution node</a:t>
            </a:r>
            <a:endParaRPr lang="en-US" sz="1100" b="0" u="none" strike="noStrike">
              <a:solidFill>
                <a:srgbClr val="000000"/>
              </a:solidFill>
              <a:effectLst/>
              <a:uFillTx/>
              <a:latin typeface="Arial"/>
            </a:endParaRPr>
          </a:p>
        </p:txBody>
      </p:sp>
      <p:sp>
        <p:nvSpPr>
          <p:cNvPr id="2023" name="TT 2023"/>
          <p:cNvSpPr/>
          <p:nvPr/>
        </p:nvSpPr>
        <p:spPr>
          <a:xfrm>
            <a:off x="4302920" y="4420000"/>
            <a:ext cx="2500000" cy="38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it — and it is shallowest</a:t>
            </a:r>
            <a:endParaRPr lang="en-US" sz="1100" b="0" u="none" strike="noStrike">
              <a:solidFill>
                <a:srgbClr val="000000"/>
              </a:solidFill>
              <a:effectLst/>
              <a:uFillTx/>
              <a:latin typeface="Arial"/>
            </a:endParaRPr>
          </a:p>
        </p:txBody>
      </p:sp>
      <p:sp>
        <p:nvSpPr>
          <p:cNvPr id="2024" name="TT 2024"/>
          <p:cNvSpPr/>
          <p:nvPr/>
        </p:nvSpPr>
        <p:spPr>
          <a:xfrm>
            <a:off x="502920" y="4800000"/>
            <a:ext cx="1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any</a:t>
            </a:r>
            <a:endParaRPr lang="en-US" sz="1100" b="0" u="none" strike="noStrike">
              <a:solidFill>
                <a:srgbClr val="000000"/>
              </a:solidFill>
              <a:effectLst/>
              <a:uFillTx/>
              <a:latin typeface="Arial"/>
            </a:endParaRPr>
          </a:p>
        </p:txBody>
      </p:sp>
      <p:sp>
        <p:nvSpPr>
          <p:cNvPr id="2025" name="TT 2025"/>
          <p:cNvSpPr/>
          <p:nvPr/>
        </p:nvSpPr>
        <p:spPr>
          <a:xfrm>
            <a:off x="2002920" y="4800000"/>
            <a:ext cx="23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Consolas"/>
              </a:rPr>
              <a:t>failure</a:t>
            </a:r>
            <a:endParaRPr lang="en-US" sz="1100" b="0" u="none" strike="noStrike">
              <a:solidFill>
                <a:srgbClr val="000000"/>
              </a:solidFill>
              <a:effectLst/>
              <a:uFillTx/>
              <a:latin typeface="Arial"/>
            </a:endParaRPr>
          </a:p>
        </p:txBody>
      </p:sp>
      <p:sp>
        <p:nvSpPr>
          <p:cNvPr id="2026" name="TT 2026"/>
          <p:cNvSpPr/>
          <p:nvPr/>
        </p:nvSpPr>
        <p:spPr>
          <a:xfrm>
            <a:off x="4302920" y="4800000"/>
            <a:ext cx="2500000" cy="380000"/>
          </a:xfrm>
          <a:prstGeom prst="rect">
            <a:avLst/>
          </a:prstGeom>
          <a:solidFill>
            <a:srgbClr val="F7D7D7"/>
          </a:solidFill>
          <a:ln w="12700">
            <a:solidFill>
              <a:srgbClr val="D8DEE8"/>
            </a:solidFill>
          </a:ln>
        </p:spPr>
        <p:style>
          <a:lnRef idx="1">
            <a:schemeClr val="accent1"/>
          </a:lnRef>
          <a:fillRef idx="3">
            <a:schemeClr val="accent1"/>
          </a:fillRef>
          <a:effectRef idx="2">
            <a:schemeClr val="accent1"/>
          </a:effectRef>
          <a:fontRef idx="minor"/>
        </p:style>
        <p:txBody>
          <a:bodyPr lIns="68580" tIns="68580" rIns="68580" bIns="68580" anchor="ctr">
            <a:noAutofit/>
          </a:bodyPr>
          <a:lstStyle/>
          <a:p>
            <a:pPr algn="ctr" defTabSz="914400">
              <a:lnSpc>
                <a:spcPct val="100000"/>
              </a:lnSpc>
              <a:buNone/>
            </a:pPr>
            <a:r>
              <a:rPr lang="en-US" sz="950" b="0" u="none" strike="noStrike" dirty="0">
                <a:solidFill>
                  <a:srgbClr val="102A4C"/>
                </a:solidFill>
                <a:effectLst/>
                <a:uFillTx/>
                <a:latin typeface="Aptos"/>
              </a:rPr>
              <a:t>return failure — space exhausted</a:t>
            </a:r>
            <a:endParaRPr lang="en-US" sz="1100" b="0" u="none" strike="noStrike">
              <a:solidFill>
                <a:srgbClr val="000000"/>
              </a:solidFill>
              <a:effectLst/>
              <a:uFillTx/>
              <a:latin typeface="Arial"/>
            </a:endParaRPr>
          </a:p>
        </p:txBody>
      </p:sp>
      <p:sp>
        <p:nvSpPr>
          <p:cNvPr id="2027" name="NoteCard 2027"/>
          <p:cNvSpPr/>
          <p:nvPr/>
        </p:nvSpPr>
        <p:spPr>
          <a:xfrm>
            <a:off x="7077240" y="1240000"/>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28" name="CardHead 2028"/>
          <p:cNvSpPr/>
          <p:nvPr/>
        </p:nvSpPr>
        <p:spPr>
          <a:xfrm>
            <a:off x="7282980" y="1377160"/>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Four lines, because it delegates</a:t>
            </a:r>
            <a:endParaRPr lang="en-US" sz="1100" b="0" u="none" strike="noStrike">
              <a:solidFill>
                <a:srgbClr val="000000"/>
              </a:solidFill>
              <a:effectLst/>
              <a:uFillTx/>
              <a:latin typeface="Arial"/>
            </a:endParaRPr>
          </a:p>
        </p:txBody>
      </p:sp>
      <p:sp>
        <p:nvSpPr>
          <p:cNvPr id="2029" name="CardBody 2029"/>
          <p:cNvSpPr/>
          <p:nvPr/>
        </p:nvSpPr>
        <p:spPr>
          <a:xfrm>
            <a:off x="7282980" y="1605760"/>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Every iteration is an independent depth-limited search that starts from scratch. Nothing carries over but the limit.</a:t>
            </a:r>
            <a:endParaRPr lang="en-US" sz="1100" b="0" u="none" strike="noStrike">
              <a:solidFill>
                <a:srgbClr val="000000"/>
              </a:solidFill>
              <a:effectLst/>
              <a:uFillTx/>
              <a:latin typeface="Arial"/>
            </a:endParaRPr>
          </a:p>
        </p:txBody>
      </p:sp>
      <p:sp>
        <p:nvSpPr>
          <p:cNvPr id="2030" name="NoteCard 2030"/>
          <p:cNvSpPr/>
          <p:nvPr/>
        </p:nvSpPr>
        <p:spPr>
          <a:xfrm>
            <a:off x="7077240" y="2614293"/>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1" name="CardHead 2031"/>
          <p:cNvSpPr/>
          <p:nvPr/>
        </p:nvSpPr>
        <p:spPr>
          <a:xfrm>
            <a:off x="7282980" y="2751453"/>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 cutoff returns two things</a:t>
            </a:r>
            <a:endParaRPr lang="en-US" sz="1100" b="0" u="none" strike="noStrike">
              <a:solidFill>
                <a:srgbClr val="000000"/>
              </a:solidFill>
              <a:effectLst/>
              <a:uFillTx/>
              <a:latin typeface="Arial"/>
            </a:endParaRPr>
          </a:p>
        </p:txBody>
      </p:sp>
      <p:sp>
        <p:nvSpPr>
          <p:cNvPr id="2032" name="CardBody 2032"/>
          <p:cNvSpPr/>
          <p:nvPr/>
        </p:nvSpPr>
        <p:spPr>
          <a:xfrm>
            <a:off x="7282980" y="2980053"/>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A solution node, obviously. But also failure — because failure means nothing was truncated, so no deeper limit could help.</a:t>
            </a:r>
            <a:endParaRPr lang="en-US" sz="1100" b="0" u="none" strike="noStrike">
              <a:solidFill>
                <a:srgbClr val="000000"/>
              </a:solidFill>
              <a:effectLst/>
              <a:uFillTx/>
              <a:latin typeface="Arial"/>
            </a:endParaRPr>
          </a:p>
        </p:txBody>
      </p:sp>
      <p:sp>
        <p:nvSpPr>
          <p:cNvPr id="2033" name="NoteCard 2033"/>
          <p:cNvSpPr/>
          <p:nvPr/>
        </p:nvSpPr>
        <p:spPr>
          <a:xfrm>
            <a:off x="7077240" y="3988586"/>
            <a:ext cx="4611840" cy="119141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34" name="CardHead 2034"/>
          <p:cNvSpPr/>
          <p:nvPr/>
        </p:nvSpPr>
        <p:spPr>
          <a:xfrm>
            <a:off x="7282980" y="4125746"/>
            <a:ext cx="42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50" b="1" u="none" strike="noStrike" dirty="0">
                <a:solidFill>
                  <a:srgbClr val="112E5C"/>
                </a:solidFill>
                <a:effectLst/>
                <a:uFillTx/>
                <a:latin typeface="Aptos"/>
              </a:rPr>
              <a:t>Memory stays linear</a:t>
            </a:r>
            <a:endParaRPr lang="en-US" sz="1100" b="0" u="none" strike="noStrike">
              <a:solidFill>
                <a:srgbClr val="000000"/>
              </a:solidFill>
              <a:effectLst/>
              <a:uFillTx/>
              <a:latin typeface="Arial"/>
            </a:endParaRPr>
          </a:p>
        </p:txBody>
      </p:sp>
      <p:sp>
        <p:nvSpPr>
          <p:cNvPr id="2035" name="CardBody 2035"/>
          <p:cNvSpPr/>
          <p:nvPr/>
        </p:nvSpPr>
        <p:spPr>
          <a:xfrm>
            <a:off x="7282980" y="4354346"/>
            <a:ext cx="4200360" cy="68849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50" b="0" u="none" strike="noStrike" dirty="0">
                <a:solidFill>
                  <a:srgbClr val="102A4C"/>
                </a:solidFill>
                <a:effectLst/>
                <a:uFillTx/>
                <a:latin typeface="Aptos"/>
              </a:rPr>
              <a:t>Each call holds one path plus its siblings: O(bd). IDS never stores a tier, which is what the extra node generations buy.</a:t>
            </a:r>
            <a:endParaRPr lang="en-US" sz="1100" b="0" u="none" strike="noStrike">
              <a:solidFill>
                <a:srgbClr val="000000"/>
              </a:solidFill>
              <a:effectLst/>
              <a:uFillTx/>
              <a:latin typeface="Arial"/>
            </a:endParaRPr>
          </a:p>
        </p:txBody>
      </p:sp>
      <p:sp>
        <p:nvSpPr>
          <p:cNvPr id="2036" name="Banner 2036"/>
          <p:cNvSpPr/>
          <p:nvPr/>
        </p:nvSpPr>
        <p:spPr>
          <a:xfrm>
            <a:off x="502920" y="5320000"/>
            <a:ext cx="11186160" cy="90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On an infinite space with no solution, every call returns cutoff and the loop never ends.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That is not a defect in the pseudocode. It is the non-termination result from the completeness slide, showing up in code you can actually run.</a:t>
            </a:r>
            <a:endParaRPr lang="en-US" sz="1100" b="0" u="none" strike="noStrike">
              <a:solidFill>
                <a:srgbClr val="000000"/>
              </a:solidFill>
              <a:effectLst/>
              <a:uFillTx/>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7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Is Iterative Deepening Wasteful?</a:t>
            </a:r>
            <a:endParaRPr lang="en-US" sz="2600" b="0" u="none" strike="noStrike">
              <a:solidFill>
                <a:srgbClr val="000000"/>
              </a:solidFill>
              <a:effectLst/>
              <a:uFillTx/>
              <a:latin typeface="Arial"/>
            </a:endParaRPr>
          </a:p>
        </p:txBody>
      </p:sp>
      <p:sp>
        <p:nvSpPr>
          <p:cNvPr id="127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7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75" name="Rectangle 6"/>
          <p:cNvSpPr/>
          <p:nvPr/>
        </p:nvSpPr>
        <p:spPr>
          <a:xfrm>
            <a:off x="77724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Nodes generated for b = 10, d = 5</a:t>
            </a:r>
            <a:endParaRPr lang="en-US" sz="1350" b="0" u="none" strike="noStrike">
              <a:solidFill>
                <a:srgbClr val="000000"/>
              </a:solidFill>
              <a:effectLst/>
              <a:uFillTx/>
              <a:latin typeface="Arial"/>
            </a:endParaRPr>
          </a:p>
        </p:txBody>
      </p:sp>
      <p:sp>
        <p:nvSpPr>
          <p:cNvPr id="1276" name="Rounded Rectangle 7"/>
          <p:cNvSpPr/>
          <p:nvPr/>
        </p:nvSpPr>
        <p:spPr>
          <a:xfrm>
            <a:off x="77724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77" name="Rectangle 8"/>
          <p:cNvSpPr/>
          <p:nvPr/>
        </p:nvSpPr>
        <p:spPr>
          <a:xfrm>
            <a:off x="960120" y="19202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N(IDS)</a:t>
            </a:r>
            <a:endParaRPr lang="en-US" sz="1300" b="0" u="none" strike="noStrike">
              <a:solidFill>
                <a:srgbClr val="000000"/>
              </a:solidFill>
              <a:effectLst/>
              <a:uFillTx/>
              <a:latin typeface="Arial"/>
            </a:endParaRPr>
          </a:p>
        </p:txBody>
      </p:sp>
      <p:sp>
        <p:nvSpPr>
          <p:cNvPr id="1278" name="Rectangle 9"/>
          <p:cNvSpPr/>
          <p:nvPr/>
        </p:nvSpPr>
        <p:spPr>
          <a:xfrm>
            <a:off x="1965960" y="19202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50 + 400 + 3,000 + 20,000 + 100,000</a:t>
            </a:r>
            <a:endParaRPr lang="en-US" sz="1150" b="0" u="none" strike="noStrike">
              <a:solidFill>
                <a:srgbClr val="000000"/>
              </a:solidFill>
              <a:effectLst/>
              <a:uFillTx/>
              <a:latin typeface="Arial"/>
            </a:endParaRPr>
          </a:p>
        </p:txBody>
      </p:sp>
      <p:sp>
        <p:nvSpPr>
          <p:cNvPr id="1279" name="Rectangle 10"/>
          <p:cNvSpPr/>
          <p:nvPr/>
        </p:nvSpPr>
        <p:spPr>
          <a:xfrm>
            <a:off x="4434840" y="19202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9B1C1C"/>
                </a:solidFill>
                <a:effectLst/>
                <a:uFillTx/>
                <a:latin typeface="Aptos"/>
              </a:rPr>
              <a:t>123,450</a:t>
            </a:r>
            <a:endParaRPr lang="en-US" sz="1500" b="0" u="none" strike="noStrike">
              <a:solidFill>
                <a:srgbClr val="000000"/>
              </a:solidFill>
              <a:effectLst/>
              <a:uFillTx/>
              <a:latin typeface="Arial"/>
            </a:endParaRPr>
          </a:p>
        </p:txBody>
      </p:sp>
      <p:sp>
        <p:nvSpPr>
          <p:cNvPr id="1280" name="Rectangle 11"/>
          <p:cNvSpPr/>
          <p:nvPr/>
        </p:nvSpPr>
        <p:spPr>
          <a:xfrm>
            <a:off x="960120" y="2377440"/>
            <a:ext cx="9140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00" b="1" u="none" strike="noStrike">
                <a:solidFill>
                  <a:srgbClr val="112E5C"/>
                </a:solidFill>
                <a:effectLst/>
                <a:uFillTx/>
                <a:latin typeface="Aptos"/>
              </a:rPr>
              <a:t>N(BFS)</a:t>
            </a:r>
            <a:endParaRPr lang="en-US" sz="1300" b="0" u="none" strike="noStrike">
              <a:solidFill>
                <a:srgbClr val="000000"/>
              </a:solidFill>
              <a:effectLst/>
              <a:uFillTx/>
              <a:latin typeface="Arial"/>
            </a:endParaRPr>
          </a:p>
        </p:txBody>
      </p:sp>
      <p:sp>
        <p:nvSpPr>
          <p:cNvPr id="1281" name="Rectangle 12"/>
          <p:cNvSpPr/>
          <p:nvPr/>
        </p:nvSpPr>
        <p:spPr>
          <a:xfrm>
            <a:off x="1965960" y="2377440"/>
            <a:ext cx="237708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150" b="0" u="none" strike="noStrike">
                <a:solidFill>
                  <a:srgbClr val="5C6B80"/>
                </a:solidFill>
                <a:effectLst/>
                <a:uFillTx/>
                <a:latin typeface="Aptos"/>
              </a:rPr>
              <a:t>10 + 100 + 1,000 + 10,000 + 100,000</a:t>
            </a:r>
            <a:endParaRPr lang="en-US" sz="1150" b="0" u="none" strike="noStrike">
              <a:solidFill>
                <a:srgbClr val="000000"/>
              </a:solidFill>
              <a:effectLst/>
              <a:uFillTx/>
              <a:latin typeface="Arial"/>
            </a:endParaRPr>
          </a:p>
        </p:txBody>
      </p:sp>
      <p:sp>
        <p:nvSpPr>
          <p:cNvPr id="1282" name="Rectangle 13"/>
          <p:cNvSpPr/>
          <p:nvPr/>
        </p:nvSpPr>
        <p:spPr>
          <a:xfrm>
            <a:off x="4434840" y="2377440"/>
            <a:ext cx="118836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r" defTabSz="914400">
              <a:lnSpc>
                <a:spcPct val="100000"/>
              </a:lnSpc>
              <a:spcAft>
                <a:spcPts val="400"/>
              </a:spcAft>
            </a:pPr>
            <a:r>
              <a:rPr lang="en-US" sz="1500" b="1" u="none" strike="noStrike">
                <a:solidFill>
                  <a:srgbClr val="177245"/>
                </a:solidFill>
                <a:effectLst/>
                <a:uFillTx/>
                <a:latin typeface="Aptos"/>
              </a:rPr>
              <a:t>111,110</a:t>
            </a:r>
            <a:endParaRPr lang="en-US" sz="1500" b="0" u="none" strike="noStrike">
              <a:solidFill>
                <a:srgbClr val="000000"/>
              </a:solidFill>
              <a:effectLst/>
              <a:uFillTx/>
              <a:latin typeface="Arial"/>
            </a:endParaRPr>
          </a:p>
        </p:txBody>
      </p:sp>
      <p:cxnSp>
        <p:nvCxnSpPr>
          <p:cNvPr id="1283" name="Connector 14"/>
          <p:cNvCxnSpPr/>
          <p:nvPr/>
        </p:nvCxnSpPr>
        <p:spPr>
          <a:xfrm>
            <a:off x="960120" y="2880360"/>
            <a:ext cx="4663800" cy="360"/>
          </a:xfrm>
          <a:prstGeom prst="straightConnector1">
            <a:avLst/>
          </a:prstGeom>
          <a:ln>
            <a:solidFill>
              <a:srgbClr val="D8DEE8"/>
            </a:solidFill>
          </a:ln>
        </p:spPr>
      </p:cxnSp>
      <p:sp>
        <p:nvSpPr>
          <p:cNvPr id="1284" name="Rectangle 15"/>
          <p:cNvSpPr/>
          <p:nvPr/>
        </p:nvSpPr>
        <p:spPr>
          <a:xfrm>
            <a:off x="960120" y="2971800"/>
            <a:ext cx="4663080" cy="41112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Overhead: about 11 percent, and asymptotically O(bᵈ) either way.</a:t>
            </a:r>
            <a:endParaRPr lang="en-US" sz="1400" b="0" u="none" strike="noStrike">
              <a:solidFill>
                <a:srgbClr val="000000"/>
              </a:solidFill>
              <a:effectLst/>
              <a:uFillTx/>
              <a:latin typeface="Arial"/>
            </a:endParaRPr>
          </a:p>
        </p:txBody>
      </p:sp>
      <p:sp>
        <p:nvSpPr>
          <p:cNvPr id="1285" name="Rectangle 16"/>
          <p:cNvSpPr/>
          <p:nvPr/>
        </p:nvSpPr>
        <p:spPr>
          <a:xfrm>
            <a:off x="6385680" y="1417320"/>
            <a:ext cx="5028840" cy="27396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defTabSz="914400">
              <a:lnSpc>
                <a:spcPct val="100000"/>
              </a:lnSpc>
              <a:spcAft>
                <a:spcPts val="400"/>
              </a:spcAft>
            </a:pPr>
            <a:r>
              <a:rPr lang="en-US" sz="1350" b="1" u="none" strike="noStrike">
                <a:solidFill>
                  <a:srgbClr val="112E5C"/>
                </a:solidFill>
                <a:effectLst/>
                <a:uFillTx/>
                <a:latin typeface="Aptos"/>
              </a:rPr>
              <a:t>Choosing the depth limit ℓ</a:t>
            </a:r>
            <a:endParaRPr lang="en-US" sz="1350" b="0" u="none" strike="noStrike">
              <a:solidFill>
                <a:srgbClr val="000000"/>
              </a:solidFill>
              <a:effectLst/>
              <a:uFillTx/>
              <a:latin typeface="Arial"/>
            </a:endParaRPr>
          </a:p>
        </p:txBody>
      </p:sp>
      <p:sp>
        <p:nvSpPr>
          <p:cNvPr id="1286" name="Rounded Rectangle 17"/>
          <p:cNvSpPr/>
          <p:nvPr/>
        </p:nvSpPr>
        <p:spPr>
          <a:xfrm>
            <a:off x="6385680" y="1783080"/>
            <a:ext cx="5028840" cy="173700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87" name="Rectangle 18"/>
          <p:cNvSpPr/>
          <p:nvPr/>
        </p:nvSpPr>
        <p:spPr>
          <a:xfrm>
            <a:off x="6568560" y="1920240"/>
            <a:ext cx="4663080" cy="15084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Romania has 20 cities, so ℓ = 19 is always valid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But any city is reachable from any other in at most 9 actions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That number is the diameter of the state-space graph, and it gives a far better limit</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For most problems the diameter is unknown until the problem is solved</a:t>
            </a:r>
            <a:endParaRPr lang="en-US" sz="1250" b="0" u="none" strike="noStrike">
              <a:solidFill>
                <a:srgbClr val="000000"/>
              </a:solidFill>
              <a:effectLst/>
              <a:uFillTx/>
              <a:latin typeface="Arial"/>
            </a:endParaRPr>
          </a:p>
        </p:txBody>
      </p:sp>
      <p:sp>
        <p:nvSpPr>
          <p:cNvPr id="1288" name="Rectangle 19"/>
          <p:cNvSpPr/>
          <p:nvPr/>
        </p:nvSpPr>
        <p:spPr>
          <a:xfrm>
            <a:off x="914400" y="37490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Most of the nodes are in the bottom tier, so re-generating the upper tiers costs almost nothing.</a:t>
            </a:r>
            <a:endParaRPr lang="en-US" sz="1700" b="0" u="none" strike="noStrike">
              <a:solidFill>
                <a:srgbClr val="000000"/>
              </a:solidFill>
              <a:effectLst/>
              <a:uFillTx/>
              <a:latin typeface="Arial"/>
            </a:endParaRPr>
          </a:p>
        </p:txBody>
      </p:sp>
      <p:sp>
        <p:nvSpPr>
          <p:cNvPr id="1289" name="Rectangle 20"/>
          <p:cNvSpPr/>
          <p:nvPr/>
        </p:nvSpPr>
        <p:spPr>
          <a:xfrm>
            <a:off x="914400" y="42519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400" b="0" u="none" strike="noStrike">
                <a:solidFill>
                  <a:srgbClr val="5C6B80"/>
                </a:solidFill>
                <a:effectLst/>
                <a:uFillTx/>
                <a:latin typeface="Aptos"/>
              </a:rPr>
              <a:t>The children of the root are generated d times; the bottom level exactly once.</a:t>
            </a:r>
            <a:endParaRPr lang="en-US" sz="1400" b="0" u="none" strike="noStrike">
              <a:solidFill>
                <a:srgbClr val="000000"/>
              </a:solidFill>
              <a:effectLst/>
              <a:uFillTx/>
              <a:latin typeface="Arial"/>
            </a:endParaRPr>
          </a:p>
        </p:txBody>
      </p:sp>
      <p:sp>
        <p:nvSpPr>
          <p:cNvPr id="1290" name="Rounded Rectangle 21"/>
          <p:cNvSpPr/>
          <p:nvPr/>
        </p:nvSpPr>
        <p:spPr>
          <a:xfrm>
            <a:off x="914400" y="4617720"/>
            <a:ext cx="10423800" cy="731160"/>
          </a:xfrm>
          <a:prstGeom prst="roundRect">
            <a:avLst>
              <a:gd name="adj" fmla="val 4500"/>
            </a:avLst>
          </a:prstGeom>
          <a:solidFill>
            <a:srgbClr val="D9E9FF"/>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291" name="Rectangle 22"/>
          <p:cNvSpPr/>
          <p:nvPr/>
        </p:nvSpPr>
        <p:spPr>
          <a:xfrm>
            <a:off x="1097280" y="4709160"/>
            <a:ext cx="10058040" cy="5482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400" b="1" u="none" strike="noStrike">
                <a:solidFill>
                  <a:srgbClr val="112E5C"/>
                </a:solidFill>
                <a:effectLst/>
                <a:uFillTx/>
                <a:latin typeface="Aptos"/>
              </a:rPr>
              <a:t>Hybrid worth mentioning: run BFS until memory is nearly exhausted, then run iterative deepening from every node left on the frontier.</a:t>
            </a:r>
            <a:endParaRPr lang="en-US" sz="1400" b="0" u="none" strike="noStrike">
              <a:solidFill>
                <a:srgbClr val="000000"/>
              </a:solidFill>
              <a:effectLst/>
              <a:uFillTx/>
              <a:latin typeface="Arial"/>
            </a:endParaRPr>
          </a:p>
        </p:txBody>
      </p:sp>
      <p:sp>
        <p:nvSpPr>
          <p:cNvPr id="1292" name="Rectangle 23"/>
          <p:cNvSpPr/>
          <p:nvPr/>
        </p:nvSpPr>
        <p:spPr>
          <a:xfrm>
            <a:off x="914400" y="553212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IDS is the preferred uninformed method when the state space exceeds memory and the solution depth is unknown.</a:t>
            </a:r>
            <a:endParaRPr lang="en-US" sz="1500" b="0" u="none" strike="noStrike">
              <a:solidFill>
                <a:srgbClr val="000000"/>
              </a:solidFill>
              <a:effectLst/>
              <a:uFillTx/>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293"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4"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295"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Bidirectional Search</a:t>
            </a:r>
            <a:endParaRPr lang="en-US" sz="2600" b="0" u="none" strike="noStrike">
              <a:solidFill>
                <a:srgbClr val="000000"/>
              </a:solidFill>
              <a:effectLst/>
              <a:uFillTx/>
              <a:latin typeface="Arial"/>
            </a:endParaRPr>
          </a:p>
        </p:txBody>
      </p:sp>
      <p:sp>
        <p:nvSpPr>
          <p:cNvPr id="1296"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297"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298" name="Text 5"/>
          <p:cNvSpPr/>
          <p:nvPr/>
        </p:nvSpPr>
        <p:spPr>
          <a:xfrm>
            <a:off x="1179720" y="2779920"/>
            <a:ext cx="292320" cy="292320"/>
          </a:xfrm>
          <a:prstGeom prst="ellipse">
            <a:avLst/>
          </a:prstGeom>
          <a:solidFill>
            <a:srgbClr val="FFE5B6"/>
          </a:solidFill>
          <a:ln w="15240">
            <a:solidFill>
              <a:srgbClr val="F6A01A"/>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S</a:t>
            </a:r>
            <a:endParaRPr lang="en-US" sz="900" b="0" u="none" strike="noStrike">
              <a:solidFill>
                <a:srgbClr val="000000"/>
              </a:solidFill>
              <a:effectLst/>
              <a:uFillTx/>
              <a:latin typeface="Arial"/>
            </a:endParaRPr>
          </a:p>
        </p:txBody>
      </p:sp>
      <p:sp>
        <p:nvSpPr>
          <p:cNvPr id="1299" name="Text 6"/>
          <p:cNvSpPr/>
          <p:nvPr/>
        </p:nvSpPr>
        <p:spPr>
          <a:xfrm>
            <a:off x="10506600" y="2779920"/>
            <a:ext cx="292320" cy="292320"/>
          </a:xfrm>
          <a:prstGeom prst="ellipse">
            <a:avLst/>
          </a:prstGeom>
          <a:solidFill>
            <a:srgbClr val="DBF1E3"/>
          </a:solidFill>
          <a:ln w="15240">
            <a:solidFill>
              <a:srgbClr val="177245"/>
            </a:solidFill>
            <a:round/>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00" b="1" u="none" strike="noStrike">
                <a:solidFill>
                  <a:srgbClr val="102A4C"/>
                </a:solidFill>
                <a:effectLst/>
                <a:uFillTx/>
                <a:latin typeface="Aptos"/>
              </a:rPr>
              <a:t>G</a:t>
            </a:r>
            <a:endParaRPr lang="en-US" sz="900" b="0" u="none" strike="noStrike">
              <a:solidFill>
                <a:srgbClr val="000000"/>
              </a:solidFill>
              <a:effectLst/>
              <a:uFillTx/>
              <a:latin typeface="Arial"/>
            </a:endParaRPr>
          </a:p>
        </p:txBody>
      </p:sp>
      <p:sp>
        <p:nvSpPr>
          <p:cNvPr id="1300" name="Shape 7"/>
          <p:cNvSpPr/>
          <p:nvPr/>
        </p:nvSpPr>
        <p:spPr>
          <a:xfrm>
            <a:off x="896040" y="2578680"/>
            <a:ext cx="859320" cy="69444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1" name="Shape 8"/>
          <p:cNvSpPr/>
          <p:nvPr/>
        </p:nvSpPr>
        <p:spPr>
          <a:xfrm>
            <a:off x="10222920" y="2578680"/>
            <a:ext cx="859320" cy="69444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2" name="Shape 9"/>
          <p:cNvSpPr/>
          <p:nvPr/>
        </p:nvSpPr>
        <p:spPr>
          <a:xfrm>
            <a:off x="466200" y="2231280"/>
            <a:ext cx="1718640" cy="13896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3" name="Shape 10"/>
          <p:cNvSpPr/>
          <p:nvPr/>
        </p:nvSpPr>
        <p:spPr>
          <a:xfrm>
            <a:off x="9793080" y="2231280"/>
            <a:ext cx="1718640" cy="13896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4" name="Shape 11"/>
          <p:cNvSpPr/>
          <p:nvPr/>
        </p:nvSpPr>
        <p:spPr>
          <a:xfrm>
            <a:off x="36720" y="1883520"/>
            <a:ext cx="2578320" cy="2084400"/>
          </a:xfrm>
          <a:prstGeom prst="ellipse">
            <a:avLst/>
          </a:prstGeom>
          <a:noFill/>
          <a:ln w="15240">
            <a:solidFill>
              <a:srgbClr val="F6A01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5" name="Shape 12"/>
          <p:cNvSpPr/>
          <p:nvPr/>
        </p:nvSpPr>
        <p:spPr>
          <a:xfrm>
            <a:off x="9363600" y="1883520"/>
            <a:ext cx="2578320" cy="2084400"/>
          </a:xfrm>
          <a:prstGeom prst="ellipse">
            <a:avLst/>
          </a:prstGeom>
          <a:noFill/>
          <a:ln w="15240">
            <a:solidFill>
              <a:srgbClr val="1772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6" name="Shape 13"/>
          <p:cNvSpPr/>
          <p:nvPr/>
        </p:nvSpPr>
        <p:spPr>
          <a:xfrm>
            <a:off x="2651760" y="2926080"/>
            <a:ext cx="6675120" cy="360"/>
          </a:xfrm>
          <a:prstGeom prst="line">
            <a:avLst/>
          </a:prstGeom>
          <a:ln w="19050">
            <a:solidFill>
              <a:srgbClr val="5C6B8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307" name="Text 14"/>
          <p:cNvSpPr/>
          <p:nvPr/>
        </p:nvSpPr>
        <p:spPr>
          <a:xfrm>
            <a:off x="4983480" y="2606040"/>
            <a:ext cx="2148480" cy="548280"/>
          </a:xfrm>
          <a:prstGeom prst="roundRect">
            <a:avLst>
              <a:gd name="adj" fmla="val 13333"/>
            </a:avLst>
          </a:prstGeom>
          <a:solidFill>
            <a:srgbClr val="D9E9FF"/>
          </a:solidFill>
          <a:ln w="15240">
            <a:solidFill>
              <a:srgbClr val="2F7FD5"/>
            </a:solidFill>
            <a:round/>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tabLst>
                <a:tab pos="0" algn="l"/>
              </a:tabLst>
            </a:pPr>
            <a:r>
              <a:rPr lang="en-US" sz="1600" b="1" u="none" strike="noStrike">
                <a:solidFill>
                  <a:srgbClr val="2F7FD5"/>
                </a:solidFill>
                <a:effectLst/>
                <a:uFillTx/>
                <a:latin typeface="Aptos"/>
              </a:rPr>
              <a:t>frontiers meet</a:t>
            </a:r>
            <a:endParaRPr lang="en-US" sz="1600" b="0" u="none" strike="noStrike">
              <a:solidFill>
                <a:srgbClr val="000000"/>
              </a:solidFill>
              <a:effectLst/>
              <a:uFillTx/>
              <a:latin typeface="Arial"/>
            </a:endParaRPr>
          </a:p>
        </p:txBody>
      </p:sp>
      <p:sp>
        <p:nvSpPr>
          <p:cNvPr id="1308" name="Text 15"/>
          <p:cNvSpPr/>
          <p:nvPr/>
        </p:nvSpPr>
        <p:spPr>
          <a:xfrm>
            <a:off x="1097280" y="4663440"/>
            <a:ext cx="9875160" cy="3837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800" b="1" u="none" strike="noStrike">
                <a:solidFill>
                  <a:srgbClr val="112E5C"/>
                </a:solidFill>
                <a:effectLst/>
                <a:uFillTx/>
                <a:latin typeface="Aptos"/>
              </a:rPr>
              <a:t>Motivation: b^(d/2) + b^(d/2) is much smaller than b^d.</a:t>
            </a:r>
            <a:endParaRPr lang="en-US" sz="1800" b="0" u="none" strike="noStrike">
              <a:solidFill>
                <a:srgbClr val="000000"/>
              </a:solidFill>
              <a:effectLst/>
              <a:uFillTx/>
              <a:latin typeface="Arial"/>
            </a:endParaRPr>
          </a:p>
        </p:txBody>
      </p:sp>
      <p:sp>
        <p:nvSpPr>
          <p:cNvPr id="1309" name="Text 16"/>
          <p:cNvSpPr/>
          <p:nvPr/>
        </p:nvSpPr>
        <p:spPr>
          <a:xfrm>
            <a:off x="1097280" y="5257800"/>
            <a:ext cx="987516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600" b="0" u="none" strike="noStrike">
                <a:solidFill>
                  <a:srgbClr val="9B1C1C"/>
                </a:solidFill>
                <a:effectLst/>
                <a:uFillTx/>
                <a:latin typeface="Aptos"/>
              </a:rPr>
              <a:t>Challenge: backward actions and specific goal descriptions must be available.</a:t>
            </a:r>
            <a:endParaRPr lang="en-US" sz="1600" b="0" u="none" strike="noStrike">
              <a:solidFill>
                <a:srgbClr val="000000"/>
              </a:solidFill>
              <a:effectLst/>
              <a:uFillTx/>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10"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1"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12"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Bidirectional Search: Mechanics and Cautions</a:t>
            </a:r>
            <a:endParaRPr lang="en-US" sz="2600" b="0" u="none" strike="noStrike">
              <a:solidFill>
                <a:srgbClr val="000000"/>
              </a:solidFill>
              <a:effectLst/>
              <a:uFillTx/>
              <a:latin typeface="Arial"/>
            </a:endParaRPr>
          </a:p>
        </p:txBody>
      </p:sp>
      <p:sp>
        <p:nvSpPr>
          <p:cNvPr id="1313"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14"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15" name="Oval 6"/>
          <p:cNvSpPr/>
          <p:nvPr/>
        </p:nvSpPr>
        <p:spPr>
          <a:xfrm>
            <a:off x="2057400" y="2148840"/>
            <a:ext cx="456840" cy="456840"/>
          </a:xfrm>
          <a:prstGeom prst="ellipse">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S</a:t>
            </a:r>
            <a:endParaRPr lang="en-US" sz="1300" b="0" u="none" strike="noStrike">
              <a:solidFill>
                <a:srgbClr val="000000"/>
              </a:solidFill>
              <a:effectLst/>
              <a:uFillTx/>
              <a:latin typeface="Arial"/>
            </a:endParaRPr>
          </a:p>
        </p:txBody>
      </p:sp>
      <p:sp>
        <p:nvSpPr>
          <p:cNvPr id="1316" name="Oval 7"/>
          <p:cNvSpPr/>
          <p:nvPr/>
        </p:nvSpPr>
        <p:spPr>
          <a:xfrm>
            <a:off x="9677520" y="2148840"/>
            <a:ext cx="456840" cy="456840"/>
          </a:xfrm>
          <a:prstGeom prst="ellipse">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0" tIns="0" rIns="0" bIns="0" anchor="ctr">
            <a:noAutofit/>
          </a:bodyPr>
          <a:lstStyle/>
          <a:p>
            <a:pPr algn="ctr" defTabSz="914400">
              <a:lnSpc>
                <a:spcPct val="100000"/>
              </a:lnSpc>
            </a:pPr>
            <a:r>
              <a:rPr lang="en-US" sz="1300" b="1" u="none" strike="noStrike">
                <a:solidFill>
                  <a:srgbClr val="112E5C"/>
                </a:solidFill>
                <a:effectLst/>
                <a:uFillTx/>
                <a:latin typeface="Aptos"/>
              </a:rPr>
              <a:t>G</a:t>
            </a:r>
            <a:endParaRPr lang="en-US" sz="1300" b="0" u="none" strike="noStrike">
              <a:solidFill>
                <a:srgbClr val="000000"/>
              </a:solidFill>
              <a:effectLst/>
              <a:uFillTx/>
              <a:latin typeface="Arial"/>
            </a:endParaRPr>
          </a:p>
        </p:txBody>
      </p:sp>
      <p:sp>
        <p:nvSpPr>
          <p:cNvPr id="1317" name="Oval 8"/>
          <p:cNvSpPr/>
          <p:nvPr/>
        </p:nvSpPr>
        <p:spPr>
          <a:xfrm>
            <a:off x="3017520" y="2194560"/>
            <a:ext cx="365400" cy="36540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8" name="Oval 9"/>
          <p:cNvSpPr/>
          <p:nvPr/>
        </p:nvSpPr>
        <p:spPr>
          <a:xfrm>
            <a:off x="3886200" y="2148840"/>
            <a:ext cx="456840" cy="45684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19" name="Oval 10"/>
          <p:cNvSpPr/>
          <p:nvPr/>
        </p:nvSpPr>
        <p:spPr>
          <a:xfrm>
            <a:off x="4754880" y="2103120"/>
            <a:ext cx="548280" cy="54828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0" name="Oval 11"/>
          <p:cNvSpPr/>
          <p:nvPr/>
        </p:nvSpPr>
        <p:spPr>
          <a:xfrm>
            <a:off x="5394960" y="2057400"/>
            <a:ext cx="639720" cy="639720"/>
          </a:xfrm>
          <a:prstGeom prst="ellipse">
            <a:avLst/>
          </a:prstGeom>
          <a:solidFill>
            <a:srgbClr val="FFFFFF"/>
          </a:solidFill>
          <a:ln w="15240">
            <a:solidFill>
              <a:srgbClr val="2F7FD5"/>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1" name="Oval 12"/>
          <p:cNvSpPr/>
          <p:nvPr/>
        </p:nvSpPr>
        <p:spPr>
          <a:xfrm>
            <a:off x="8808840" y="2194560"/>
            <a:ext cx="365400" cy="36540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2" name="Oval 13"/>
          <p:cNvSpPr/>
          <p:nvPr/>
        </p:nvSpPr>
        <p:spPr>
          <a:xfrm>
            <a:off x="7848720" y="2148840"/>
            <a:ext cx="456840" cy="45684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3" name="Oval 14"/>
          <p:cNvSpPr/>
          <p:nvPr/>
        </p:nvSpPr>
        <p:spPr>
          <a:xfrm>
            <a:off x="6888600" y="2103120"/>
            <a:ext cx="548280" cy="54828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sp>
        <p:nvSpPr>
          <p:cNvPr id="1324" name="Oval 15"/>
          <p:cNvSpPr/>
          <p:nvPr/>
        </p:nvSpPr>
        <p:spPr>
          <a:xfrm>
            <a:off x="6157080" y="2057400"/>
            <a:ext cx="639720" cy="639720"/>
          </a:xfrm>
          <a:prstGeom prst="ellipse">
            <a:avLst/>
          </a:prstGeom>
          <a:solidFill>
            <a:srgbClr val="FFFFFF"/>
          </a:solidFill>
          <a:ln w="15240">
            <a:solidFill>
              <a:srgbClr val="9B1C1C"/>
            </a:solidFill>
          </a:ln>
        </p:spPr>
        <p:style>
          <a:lnRef idx="1">
            <a:schemeClr val="accent1"/>
          </a:lnRef>
          <a:fillRef idx="3">
            <a:schemeClr val="accent1"/>
          </a:fillRef>
          <a:effectRef idx="2">
            <a:schemeClr val="accent1"/>
          </a:effectRef>
          <a:fontRef idx="minor"/>
        </p:style>
        <p:txBody>
          <a:bodyPr lIns="0" tIns="0" rIns="0" bIns="0" anchor="ctr">
            <a:noAutofit/>
          </a:bodyPr>
          <a:lstStyle/>
          <a:p>
            <a:endParaRPr lang="en-US" sz="1800" b="0" u="none" strike="noStrike">
              <a:solidFill>
                <a:srgbClr val="000000"/>
              </a:solidFill>
              <a:effectLst/>
              <a:uFillTx/>
              <a:latin typeface="Arial"/>
            </a:endParaRPr>
          </a:p>
        </p:txBody>
      </p:sp>
      <p:cxnSp>
        <p:nvCxnSpPr>
          <p:cNvPr id="1325" name="Connector 16"/>
          <p:cNvCxnSpPr/>
          <p:nvPr/>
        </p:nvCxnSpPr>
        <p:spPr>
          <a:xfrm>
            <a:off x="6095520" y="1691640"/>
            <a:ext cx="360" cy="1371960"/>
          </a:xfrm>
          <a:prstGeom prst="straightConnector1">
            <a:avLst/>
          </a:prstGeom>
          <a:ln w="28575">
            <a:solidFill>
              <a:srgbClr val="F6A01A"/>
            </a:solidFill>
            <a:prstDash val="sysDash"/>
          </a:ln>
        </p:spPr>
      </p:cxnSp>
      <p:sp>
        <p:nvSpPr>
          <p:cNvPr id="1326" name="Rectangle 17"/>
          <p:cNvSpPr/>
          <p:nvPr/>
        </p:nvSpPr>
        <p:spPr>
          <a:xfrm>
            <a:off x="5181300" y="2992500"/>
            <a:ext cx="18284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50" b="1" u="none" strike="noStrike" dirty="0">
                <a:solidFill>
                  <a:srgbClr val="112E5C"/>
                </a:solidFill>
                <a:effectLst/>
                <a:uFillTx/>
                <a:latin typeface="Aptos"/>
              </a:rPr>
              <a:t>frontiers collide</a:t>
            </a:r>
            <a:endParaRPr lang="en-US" sz="1150" b="0" u="none" strike="noStrike" dirty="0">
              <a:solidFill>
                <a:srgbClr val="000000"/>
              </a:solidFill>
              <a:effectLst/>
              <a:uFillTx/>
              <a:latin typeface="Arial"/>
            </a:endParaRPr>
          </a:p>
        </p:txBody>
      </p:sp>
      <p:sp>
        <p:nvSpPr>
          <p:cNvPr id="1327" name="Rectangle 18"/>
          <p:cNvSpPr/>
          <p:nvPr/>
        </p:nvSpPr>
        <p:spPr>
          <a:xfrm>
            <a:off x="228600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2F7FD5"/>
                </a:solidFill>
                <a:effectLst/>
                <a:uFillTx/>
                <a:latin typeface="Aptos"/>
              </a:rPr>
              <a:t>forward</a:t>
            </a:r>
            <a:endParaRPr lang="en-US" sz="1100" b="0" u="none" strike="noStrike">
              <a:solidFill>
                <a:srgbClr val="000000"/>
              </a:solidFill>
              <a:effectLst/>
              <a:uFillTx/>
              <a:latin typeface="Arial"/>
            </a:endParaRPr>
          </a:p>
        </p:txBody>
      </p:sp>
      <p:sp>
        <p:nvSpPr>
          <p:cNvPr id="1328" name="Rectangle 19"/>
          <p:cNvSpPr/>
          <p:nvPr/>
        </p:nvSpPr>
        <p:spPr>
          <a:xfrm>
            <a:off x="9220320" y="1554480"/>
            <a:ext cx="1371240" cy="21924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spcAft>
                <a:spcPts val="400"/>
              </a:spcAft>
            </a:pPr>
            <a:r>
              <a:rPr lang="en-US" sz="1100" b="1" u="none" strike="noStrike">
                <a:solidFill>
                  <a:srgbClr val="9B1C1C"/>
                </a:solidFill>
                <a:effectLst/>
                <a:uFillTx/>
                <a:latin typeface="Aptos"/>
              </a:rPr>
              <a:t>backward</a:t>
            </a:r>
            <a:endParaRPr lang="en-US" sz="1100" b="0" u="none" strike="noStrike">
              <a:solidFill>
                <a:srgbClr val="000000"/>
              </a:solidFill>
              <a:effectLst/>
              <a:uFillTx/>
              <a:latin typeface="Arial"/>
            </a:endParaRPr>
          </a:p>
        </p:txBody>
      </p:sp>
      <p:sp>
        <p:nvSpPr>
          <p:cNvPr id="1329" name="Rounded Rectangle 20"/>
          <p:cNvSpPr/>
          <p:nvPr/>
        </p:nvSpPr>
        <p:spPr>
          <a:xfrm>
            <a:off x="777240" y="3200400"/>
            <a:ext cx="5028840" cy="41112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requires</a:t>
            </a:r>
            <a:endParaRPr lang="en-US" sz="1400" b="0" u="none" strike="noStrike">
              <a:solidFill>
                <a:srgbClr val="000000"/>
              </a:solidFill>
              <a:effectLst/>
              <a:uFillTx/>
              <a:latin typeface="Arial"/>
            </a:endParaRPr>
          </a:p>
        </p:txBody>
      </p:sp>
      <p:sp>
        <p:nvSpPr>
          <p:cNvPr id="1330" name="Rounded Rectangle 21"/>
          <p:cNvSpPr/>
          <p:nvPr/>
        </p:nvSpPr>
        <p:spPr>
          <a:xfrm>
            <a:off x="77724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1" name="Rectangle 22"/>
          <p:cNvSpPr/>
          <p:nvPr/>
        </p:nvSpPr>
        <p:spPr>
          <a:xfrm>
            <a:off x="960120" y="3749040"/>
            <a:ext cx="4663080" cy="13712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Two frontiers and two reached tables</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Reversible reasoning: if s′ follows s forward, s must follow s′ backward</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An explicit goal state, not merely a goal property</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A collision test, plus a best-solution-so-far until Terminated proves nothing better remains</a:t>
            </a:r>
            <a:endParaRPr lang="en-US" sz="1250" b="0" u="none" strike="noStrike">
              <a:solidFill>
                <a:srgbClr val="000000"/>
              </a:solidFill>
              <a:effectLst/>
              <a:uFillTx/>
              <a:latin typeface="Arial"/>
            </a:endParaRPr>
          </a:p>
        </p:txBody>
      </p:sp>
      <p:sp>
        <p:nvSpPr>
          <p:cNvPr id="1332" name="Rounded Rectangle 23"/>
          <p:cNvSpPr/>
          <p:nvPr/>
        </p:nvSpPr>
        <p:spPr>
          <a:xfrm>
            <a:off x="6385680" y="3200400"/>
            <a:ext cx="5028840" cy="41112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00" b="1" u="none" strike="noStrike">
                <a:solidFill>
                  <a:srgbClr val="112E5C"/>
                </a:solidFill>
                <a:effectLst/>
                <a:uFillTx/>
                <a:latin typeface="Aptos"/>
              </a:rPr>
              <a:t>What it buys</a:t>
            </a:r>
            <a:endParaRPr lang="en-US" sz="1400" b="0" u="none" strike="noStrike">
              <a:solidFill>
                <a:srgbClr val="000000"/>
              </a:solidFill>
              <a:effectLst/>
              <a:uFillTx/>
              <a:latin typeface="Arial"/>
            </a:endParaRPr>
          </a:p>
        </p:txBody>
      </p:sp>
      <p:sp>
        <p:nvSpPr>
          <p:cNvPr id="1333" name="Rounded Rectangle 24"/>
          <p:cNvSpPr/>
          <p:nvPr/>
        </p:nvSpPr>
        <p:spPr>
          <a:xfrm>
            <a:off x="6385680" y="3657600"/>
            <a:ext cx="5028840" cy="1554120"/>
          </a:xfrm>
          <a:prstGeom prst="roundRect">
            <a:avLst>
              <a:gd name="adj" fmla="val 4500"/>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334" name="Rectangle 25"/>
          <p:cNvSpPr/>
          <p:nvPr/>
        </p:nvSpPr>
        <p:spPr>
          <a:xfrm>
            <a:off x="6568560" y="3749040"/>
            <a:ext cx="4663080" cy="50256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112E5C"/>
                </a:solidFill>
                <a:effectLst/>
                <a:uFillTx/>
                <a:latin typeface="Aptos"/>
              </a:rPr>
              <a:t>b</a:t>
            </a:r>
            <a:r>
              <a:rPr lang="en-US" sz="1400" b="1" u="none" strike="noStrike">
                <a:solidFill>
                  <a:srgbClr val="112E5C"/>
                </a:solidFill>
                <a:effectLst/>
                <a:uFillTx/>
                <a:latin typeface="Aptos"/>
              </a:rPr>
              <a:t>d/2</a:t>
            </a:r>
            <a:r>
              <a:rPr lang="en-US" sz="2000" b="1" u="none" strike="noStrike">
                <a:solidFill>
                  <a:srgbClr val="5C6B80"/>
                </a:solidFill>
                <a:effectLst/>
                <a:uFillTx/>
                <a:latin typeface="Aptos"/>
              </a:rPr>
              <a:t>   ≪   </a:t>
            </a:r>
            <a:r>
              <a:rPr lang="en-US" sz="2400" b="1" u="none" strike="noStrike">
                <a:solidFill>
                  <a:srgbClr val="9B1C1C"/>
                </a:solidFill>
                <a:effectLst/>
                <a:uFillTx/>
                <a:latin typeface="Aptos"/>
              </a:rPr>
              <a:t>b</a:t>
            </a:r>
            <a:r>
              <a:rPr lang="en-US" sz="1400" b="1" u="none" strike="noStrike">
                <a:solidFill>
                  <a:srgbClr val="9B1C1C"/>
                </a:solidFill>
                <a:effectLst/>
                <a:uFillTx/>
                <a:latin typeface="Aptos"/>
              </a:rPr>
              <a:t>d</a:t>
            </a:r>
            <a:endParaRPr lang="en-US" sz="1400" b="0" u="none" strike="noStrike">
              <a:solidFill>
                <a:srgbClr val="000000"/>
              </a:solidFill>
              <a:effectLst/>
              <a:uFillTx/>
              <a:latin typeface="Arial"/>
            </a:endParaRPr>
          </a:p>
        </p:txBody>
      </p:sp>
      <p:sp>
        <p:nvSpPr>
          <p:cNvPr id="1335" name="Rectangle 26"/>
          <p:cNvSpPr/>
          <p:nvPr/>
        </p:nvSpPr>
        <p:spPr>
          <a:xfrm>
            <a:off x="6568560" y="4297680"/>
            <a:ext cx="4663080" cy="8226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601"/>
              </a:spcAft>
            </a:pPr>
            <a:r>
              <a:rPr lang="en-US" sz="1250" b="0" u="none" strike="noStrike">
                <a:solidFill>
                  <a:srgbClr val="102A4C"/>
                </a:solidFill>
                <a:effectLst/>
                <a:uFillTx/>
                <a:latin typeface="Aptos"/>
              </a:rPr>
              <a:t>•  About 50,000 times fewer nodes when b = d = 10</a:t>
            </a:r>
            <a:endParaRPr lang="en-US" sz="1250" b="0" u="none" strike="noStrike">
              <a:solidFill>
                <a:srgbClr val="000000"/>
              </a:solidFill>
              <a:effectLst/>
              <a:uFillTx/>
              <a:latin typeface="Arial"/>
            </a:endParaRPr>
          </a:p>
          <a:p>
            <a:pPr defTabSz="914400">
              <a:lnSpc>
                <a:spcPct val="100000"/>
              </a:lnSpc>
              <a:spcAft>
                <a:spcPts val="601"/>
              </a:spcAft>
            </a:pPr>
            <a:r>
              <a:rPr lang="en-US" sz="1250" b="0" u="none" strike="noStrike">
                <a:solidFill>
                  <a:srgbClr val="102A4C"/>
                </a:solidFill>
                <a:effectLst/>
                <a:uFillTx/>
                <a:latin typeface="Aptos"/>
              </a:rPr>
              <a:t>•  With f = path cost, no node above C* / 2 is ever expanded</a:t>
            </a:r>
            <a:endParaRPr lang="en-US" sz="1250" b="0" u="none" strike="noStrike">
              <a:solidFill>
                <a:srgbClr val="000000"/>
              </a:solidFill>
              <a:effectLst/>
              <a:uFillTx/>
              <a:latin typeface="Arial"/>
            </a:endParaRPr>
          </a:p>
        </p:txBody>
      </p:sp>
      <p:sp>
        <p:nvSpPr>
          <p:cNvPr id="1336" name="Rectangle 27"/>
          <p:cNvSpPr/>
          <p:nvPr/>
        </p:nvSpPr>
        <p:spPr>
          <a:xfrm>
            <a:off x="914400" y="534924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The expansion rule is global: expand the minimum-f node across either frontier, not one from each in turn.</a:t>
            </a:r>
            <a:endParaRPr lang="en-US" sz="1700" b="0" u="none" strike="noStrike">
              <a:solidFill>
                <a:srgbClr val="000000"/>
              </a:solidFill>
              <a:effectLst/>
              <a:uFillTx/>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Bidirectional Best-First Search: The Algorithm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8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(upper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20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BiBF-SEARCH(problemF, fF, problemB, fB)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 node,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nodeF ← NODE(problemF.INITIAL)      </a:t>
            </a:r>
            <a:r>
              <a:rPr lang="en-US" sz="900" b="0" i="1" u="none" strike="noStrike" dirty="0">
                <a:solidFill>
                  <a:srgbClr val="7E8CA0"/>
                </a:solidFill>
                <a:effectLst/>
                <a:uFillTx/>
                <a:latin typeface="Consolas"/>
              </a:rPr>
              <a:t>// node for a start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nodeB ← NODE(problemB.INITIAL)      </a:t>
            </a:r>
            <a:r>
              <a:rPr lang="en-US" sz="900" b="0" i="1" u="none" strike="noStrike" dirty="0">
                <a:solidFill>
                  <a:srgbClr val="7E8CA0"/>
                </a:solidFill>
                <a:effectLst/>
                <a:uFillTx/>
                <a:latin typeface="Consolas"/>
              </a:rPr>
              <a:t>// node for a goal state</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frontierF ← a priority queue ordered by fF, with nodeF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frontierB ← a priority queue ordered by fB, with nodeB as an element</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reachedF ← a lookup table, key nodeF.STATE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nodeF</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reachedB ← a lookup table, key nodeB.STATE </a:t>
            </a:r>
            <a:r>
              <a:rPr lang="en-US" sz="900" b="1" u="none" strike="noStrike" dirty="0">
                <a:solidFill>
                  <a:srgbClr val="F6A01A"/>
                </a:solidFill>
                <a:effectLst/>
                <a:uFillTx/>
                <a:latin typeface="Consolas"/>
              </a:rPr>
              <a:t>and</a:t>
            </a:r>
            <a:r>
              <a:rPr lang="en-US" sz="900" b="0" u="none" strike="noStrike" dirty="0">
                <a:solidFill>
                  <a:srgbClr val="EAF2FF"/>
                </a:solidFill>
                <a:effectLst/>
                <a:uFillTx/>
                <a:latin typeface="Consolas"/>
              </a:rPr>
              <a:t> value nodeB</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a:t>
            </a:r>
            <a:r>
              <a:rPr lang="en-US" sz="900" b="1" u="none" strike="noStrike" dirty="0">
                <a:solidFill>
                  <a:srgbClr val="F2A0A0"/>
                </a:solidFill>
                <a:effectLst/>
                <a:uFillTx/>
                <a:latin typeface="Consolas"/>
              </a:rPr>
              <a:t>failure</a:t>
            </a:r>
            <a:endParaRPr lang="en-US" sz="900" b="0" u="none" strike="noStrike" dirty="0">
              <a:solidFill>
                <a:srgbClr val="000000"/>
              </a:solidFill>
              <a:effectLst/>
              <a:uFillTx/>
              <a:latin typeface="Arial"/>
            </a:endParaRPr>
          </a:p>
          <a:p>
            <a:pPr algn="l" defTabSz="914400">
              <a:lnSpc>
                <a:spcPct val="100000"/>
              </a:lnSpc>
              <a:spcAft>
                <a:spcPts val="120"/>
              </a:spcAft>
              <a:buNone/>
            </a:pP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while</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TERMINATED(solution, frontierF, frontierB) </a:t>
            </a:r>
            <a:r>
              <a:rPr lang="en-US" sz="900" b="1" u="none" strike="noStrike" dirty="0">
                <a:solidFill>
                  <a:srgbClr val="F6A01A"/>
                </a:solidFill>
                <a:effectLst/>
                <a:uFillTx/>
                <a:latin typeface="Consolas"/>
              </a:rPr>
              <a:t>do</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fF(TOP(frontierF)) &lt; fB(TOP(frontierB)) </a:t>
            </a:r>
            <a:r>
              <a:rPr lang="en-US" sz="900" b="1" u="none" strike="noStrike" dirty="0">
                <a:solidFill>
                  <a:srgbClr val="F6A01A"/>
                </a:solidFill>
                <a:effectLst/>
                <a:uFillTx/>
                <a:latin typeface="Consolas"/>
              </a:rPr>
              <a:t>then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PROCEED(F, problemF, frontierF, reachedF, reachedB,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else</a:t>
            </a:r>
            <a:r>
              <a:rPr lang="en-US" sz="900" b="0" u="none" strike="noStrike" dirty="0">
                <a:solidFill>
                  <a:srgbClr val="EAF2FF"/>
                </a:solidFill>
                <a:effectLst/>
                <a:uFillTx/>
                <a:latin typeface="Consolas"/>
              </a:rPr>
              <a:t> solution ← PROCEED(B, problemB, frontierB, reachedB, reachedF, solution)</a:t>
            </a:r>
            <a:endParaRPr lang="en-US" sz="900" b="0" u="none" strike="noStrike" dirty="0">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dirty="0">
              <a:solidFill>
                <a:srgbClr val="000000"/>
              </a:solidFill>
              <a:effectLst/>
              <a:uFillTx/>
              <a:latin typeface="Arial"/>
            </a:endParaRPr>
          </a:p>
        </p:txBody>
      </p:sp>
      <p:sp>
        <p:nvSpPr>
          <p:cNvPr id="2009" name="NoteCard 2009"/>
          <p:cNvSpPr/>
          <p:nvPr/>
        </p:nvSpPr>
        <p:spPr>
          <a:xfrm>
            <a:off x="8177240" y="1240000"/>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Everything is doubled</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Two frontiers, two reached tables, two evaluation functions — one set growing from the start, one from the goal.</a:t>
            </a:r>
            <a:endParaRPr lang="en-US" sz="1100" b="0" u="none" strike="noStrike">
              <a:solidFill>
                <a:srgbClr val="000000"/>
              </a:solidFill>
              <a:effectLst/>
              <a:uFillTx/>
              <a:latin typeface="Arial"/>
            </a:endParaRPr>
          </a:p>
        </p:txBody>
      </p:sp>
      <p:sp>
        <p:nvSpPr>
          <p:cNvPr id="2012" name="NoteCard 2012"/>
          <p:cNvSpPr/>
          <p:nvPr/>
        </p:nvSpPr>
        <p:spPr>
          <a:xfrm>
            <a:off x="8177240" y="2219053"/>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356213"/>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One comparison picks the side</a:t>
            </a:r>
            <a:endParaRPr lang="en-US" sz="1100" b="0" u="none" strike="noStrike">
              <a:solidFill>
                <a:srgbClr val="000000"/>
              </a:solidFill>
              <a:effectLst/>
              <a:uFillTx/>
              <a:latin typeface="Arial"/>
            </a:endParaRPr>
          </a:p>
        </p:txBody>
      </p:sp>
      <p:sp>
        <p:nvSpPr>
          <p:cNvPr id="2014" name="CardBody 2014"/>
          <p:cNvSpPr/>
          <p:nvPr/>
        </p:nvSpPr>
        <p:spPr>
          <a:xfrm>
            <a:off x="8382980" y="2584813"/>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Expand whichever frontier has the smaller f at the top of its queue. The two halves do not take turns.</a:t>
            </a:r>
            <a:endParaRPr lang="en-US" sz="1100" b="0" u="none" strike="noStrike">
              <a:solidFill>
                <a:srgbClr val="000000"/>
              </a:solidFill>
              <a:effectLst/>
              <a:uFillTx/>
              <a:latin typeface="Arial"/>
            </a:endParaRPr>
          </a:p>
        </p:txBody>
      </p:sp>
      <p:sp>
        <p:nvSpPr>
          <p:cNvPr id="2015" name="NoteCard 2015"/>
          <p:cNvSpPr/>
          <p:nvPr/>
        </p:nvSpPr>
        <p:spPr>
          <a:xfrm>
            <a:off x="8177240" y="3198106"/>
            <a:ext cx="3511840" cy="841893"/>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33526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solution starts at failure</a:t>
            </a:r>
            <a:endParaRPr lang="en-US" sz="1100" b="0" u="none" strike="noStrike">
              <a:solidFill>
                <a:srgbClr val="000000"/>
              </a:solidFill>
              <a:effectLst/>
              <a:uFillTx/>
              <a:latin typeface="Arial"/>
            </a:endParaRPr>
          </a:p>
        </p:txBody>
      </p:sp>
      <p:sp>
        <p:nvSpPr>
          <p:cNvPr id="2017" name="CardBody 2017"/>
          <p:cNvSpPr/>
          <p:nvPr/>
        </p:nvSpPr>
        <p:spPr>
          <a:xfrm>
            <a:off x="8382980" y="3563866"/>
            <a:ext cx="3100360" cy="338973"/>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And the loop keeps running. The first collision need not be the best, so TERMINATED decides when to stop.</a:t>
            </a:r>
            <a:endParaRPr lang="en-US" sz="1100" b="0" u="none" strike="noStrike">
              <a:solidFill>
                <a:srgbClr val="000000"/>
              </a:solidFill>
              <a:effectLst/>
              <a:uFillTx/>
              <a:latin typeface="Arial"/>
            </a:endParaRPr>
          </a:p>
        </p:txBody>
      </p:sp>
      <p:sp>
        <p:nvSpPr>
          <p:cNvPr id="2018" name="NoteCard 2018"/>
          <p:cNvSpPr/>
          <p:nvPr/>
        </p:nvSpPr>
        <p:spPr>
          <a:xfrm>
            <a:off x="502920" y="4268600"/>
            <a:ext cx="11186160" cy="110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4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9B1C1C"/>
                </a:solidFill>
                <a:effectLst/>
                <a:uFillTx/>
                <a:latin typeface="Aptos"/>
              </a:rPr>
              <a:t>The precondition students skip: what problemB actually is</a:t>
            </a:r>
            <a:endParaRPr lang="en-US" sz="1100" b="0" u="none" strike="noStrike" dirty="0">
              <a:solidFill>
                <a:srgbClr val="000000"/>
              </a:solidFill>
              <a:effectLst/>
              <a:uFillTx/>
              <a:latin typeface="Arial"/>
            </a:endParaRPr>
          </a:p>
        </p:txBody>
      </p:sp>
      <p:sp>
        <p:nvSpPr>
          <p:cNvPr id="2020" name="CardBody 2020"/>
          <p:cNvSpPr/>
          <p:nvPr/>
        </p:nvSpPr>
        <p:spPr>
          <a:xfrm>
            <a:off x="708660" y="4634360"/>
            <a:ext cx="10774680" cy="59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problemB.INITIAL is the goal state, and problemB's actions are the reverses of the forward ones — if s′ follows s going forward, then s must follow s′ going backward. So bidirectional search needs an explicit goal state, not merely a goal test, and it needs an invertible transition model. Neither is available when the goal is stated as a property (“any configuration with the tiles in order”) or when actions destroy information.</a:t>
            </a:r>
            <a:endParaRPr lang="en-US" sz="1100" b="0" u="none" strike="noStrike">
              <a:solidFill>
                <a:srgbClr val="000000"/>
              </a:solidFill>
              <a:effectLst/>
              <a:uFillTx/>
              <a:latin typeface="Arial"/>
            </a:endParaRPr>
          </a:p>
        </p:txBody>
      </p:sp>
      <p:sp>
        <p:nvSpPr>
          <p:cNvPr id="2021" name="Banner 2021"/>
          <p:cNvSpPr/>
          <p:nvPr/>
        </p:nvSpPr>
        <p:spPr>
          <a:xfrm>
            <a:off x="502920" y="5470000"/>
            <a:ext cx="11186160" cy="75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50"/>
              </a:spcAft>
              <a:buNone/>
            </a:pPr>
            <a:r>
              <a:rPr lang="en-US" sz="1050" b="1" u="none" strike="noStrike" dirty="0">
                <a:solidFill>
                  <a:srgbClr val="102A4C"/>
                </a:solidFill>
                <a:effectLst/>
                <a:uFillTx/>
                <a:latin typeface="Aptos"/>
              </a:rPr>
              <a:t>Figure 3.14 is bidirectional best-first search. Pass path cost as both fF and fB and you have bidirectional uniform-cost search — the version that carries the guarantees.</a:t>
            </a:r>
            <a:endParaRPr lang="en-US" sz="1100" b="0" u="none" strike="noStrike">
              <a:solidFill>
                <a:srgbClr val="000000"/>
              </a:solidFill>
              <a:effectLst/>
              <a:uFillTx/>
              <a:latin typeface="Arial"/>
            </a:endParaRPr>
          </a:p>
          <a:p>
            <a:pPr algn="l" defTabSz="914400">
              <a:lnSpc>
                <a:spcPct val="100000"/>
              </a:lnSpc>
              <a:buNone/>
            </a:pPr>
            <a:r>
              <a:rPr lang="en-US" sz="950" b="0" u="none" strike="noStrike" dirty="0">
                <a:solidFill>
                  <a:srgbClr val="5C6B80"/>
                </a:solidFill>
                <a:effectLst/>
                <a:uFillTx/>
                <a:latin typeface="Aptos"/>
              </a:rPr>
              <a:t>Pass depth as both and you have the bidirectional BFS most textbooks draw as two circles growing toward each other.</a:t>
            </a:r>
            <a:endParaRPr lang="en-US" sz="1100" b="0" u="none" strike="noStrike">
              <a:solidFill>
                <a:srgbClr val="000000"/>
              </a:solidFill>
              <a:effectLst/>
              <a:uFillTx/>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Inside PROCEED: Where the Two Searches Meet</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CodeCard 2006"/>
          <p:cNvSpPr/>
          <p:nvPr/>
        </p:nvSpPr>
        <p:spPr>
          <a:xfrm>
            <a:off x="502920" y="1240000"/>
            <a:ext cx="7400000" cy="2600000"/>
          </a:xfrm>
          <a:prstGeom prst="roundRect">
            <a:avLst>
              <a:gd name="adj" fmla="val 4500"/>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odeCap 2007"/>
          <p:cNvSpPr/>
          <p:nvPr/>
        </p:nvSpPr>
        <p:spPr>
          <a:xfrm>
            <a:off x="777240" y="1468600"/>
            <a:ext cx="6851360" cy="20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900" b="1" u="none" strike="noStrike" dirty="0">
                <a:solidFill>
                  <a:srgbClr val="F6A01A"/>
                </a:solidFill>
                <a:effectLst/>
                <a:uFillTx/>
                <a:latin typeface="Aptos"/>
              </a:rPr>
              <a:t>AIMA 4th ed., Figure 3.14 (lower half)</a:t>
            </a:r>
            <a:endParaRPr lang="en-US" sz="1100" b="0" u="none" strike="noStrike">
              <a:solidFill>
                <a:srgbClr val="000000"/>
              </a:solidFill>
              <a:effectLst/>
              <a:uFillTx/>
              <a:latin typeface="Arial"/>
            </a:endParaRPr>
          </a:p>
        </p:txBody>
      </p:sp>
      <p:sp>
        <p:nvSpPr>
          <p:cNvPr id="2008" name="CodeBody 2008"/>
          <p:cNvSpPr/>
          <p:nvPr/>
        </p:nvSpPr>
        <p:spPr>
          <a:xfrm>
            <a:off x="777240" y="1768600"/>
            <a:ext cx="6851360" cy="18428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120"/>
              </a:spcAft>
              <a:buNone/>
            </a:pPr>
            <a:r>
              <a:rPr lang="en-US" sz="900" b="1" u="none" strike="noStrike" dirty="0">
                <a:solidFill>
                  <a:srgbClr val="F6A01A"/>
                </a:solidFill>
                <a:effectLst/>
                <a:uFillTx/>
                <a:latin typeface="Consolas"/>
              </a:rPr>
              <a:t>function</a:t>
            </a:r>
            <a:r>
              <a:rPr lang="en-US" sz="900" b="0" u="none" strike="noStrike" dirty="0">
                <a:solidFill>
                  <a:srgbClr val="EAF2FF"/>
                </a:solidFill>
                <a:effectLst/>
                <a:uFillTx/>
                <a:latin typeface="Consolas"/>
              </a:rPr>
              <a:t> PROCEED(dir, problem, frontier, reached, reached2, solution) </a:t>
            </a:r>
            <a:r>
              <a:rPr lang="en-US" sz="900" b="1" u="none" strike="noStrike" dirty="0">
                <a:solidFill>
                  <a:srgbClr val="F6A01A"/>
                </a:solidFill>
                <a:effectLst/>
                <a:uFillTx/>
                <a:latin typeface="Consolas"/>
              </a:rPr>
              <a:t>returns</a:t>
            </a:r>
            <a:r>
              <a:rPr lang="en-US" sz="900" b="0" u="none" strike="noStrike" dirty="0">
                <a:solidFill>
                  <a:srgbClr val="EAF2FF"/>
                </a:solidFill>
                <a:effectLst/>
                <a:uFillTx/>
                <a:latin typeface="Consolas"/>
              </a:rPr>
              <a:t> a solution</a:t>
            </a:r>
            <a:endParaRPr lang="en-US" sz="900" b="0" u="none" strike="noStrike">
              <a:solidFill>
                <a:srgbClr val="000000"/>
              </a:solidFill>
              <a:effectLst/>
              <a:uFillTx/>
              <a:latin typeface="Arial"/>
            </a:endParaRPr>
          </a:p>
          <a:p>
            <a:pPr algn="l" defTabSz="914400">
              <a:lnSpc>
                <a:spcPct val="100000"/>
              </a:lnSpc>
              <a:spcAft>
                <a:spcPts val="120"/>
              </a:spcAft>
              <a:buNone/>
            </a:pP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node ← POP(frontier)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for</a:t>
            </a: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each</a:t>
            </a:r>
            <a:r>
              <a:rPr lang="en-US" sz="900" b="0" u="none" strike="noStrike" dirty="0">
                <a:solidFill>
                  <a:srgbClr val="EAF2FF"/>
                </a:solidFill>
                <a:effectLst/>
                <a:uFillTx/>
                <a:latin typeface="Consolas"/>
              </a:rPr>
              <a:t> child in EXPAND(problem, node) </a:t>
            </a:r>
            <a:r>
              <a:rPr lang="en-US" sz="900" b="1" u="none" strike="noStrike" dirty="0">
                <a:solidFill>
                  <a:srgbClr val="F6A01A"/>
                </a:solidFill>
                <a:effectLst/>
                <a:uFillTx/>
                <a:latin typeface="Consolas"/>
              </a:rPr>
              <a:t>do</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 ← child.STATE</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a:t>
            </a:r>
            <a:r>
              <a:rPr lang="en-US" sz="900" b="1" u="none" strike="noStrike" dirty="0">
                <a:solidFill>
                  <a:srgbClr val="F6A01A"/>
                </a:solidFill>
                <a:effectLst/>
                <a:uFillTx/>
                <a:latin typeface="Consolas"/>
              </a:rPr>
              <a:t>not</a:t>
            </a:r>
            <a:r>
              <a:rPr lang="en-US" sz="900" b="0" u="none" strike="noStrike" dirty="0">
                <a:solidFill>
                  <a:srgbClr val="EAF2FF"/>
                </a:solidFill>
                <a:effectLst/>
                <a:uFillTx/>
                <a:latin typeface="Consolas"/>
              </a:rPr>
              <a:t> in reached </a:t>
            </a:r>
            <a:r>
              <a:rPr lang="en-US" sz="900" b="1" u="none" strike="noStrike" dirty="0">
                <a:solidFill>
                  <a:srgbClr val="F6A01A"/>
                </a:solidFill>
                <a:effectLst/>
                <a:uFillTx/>
                <a:latin typeface="Consolas"/>
              </a:rPr>
              <a:t>or</a:t>
            </a:r>
            <a:r>
              <a:rPr lang="en-US" sz="900" b="0" u="none" strike="noStrike" dirty="0">
                <a:solidFill>
                  <a:srgbClr val="EAF2FF"/>
                </a:solidFill>
                <a:effectLst/>
                <a:uFillTx/>
                <a:latin typeface="Consolas"/>
              </a:rPr>
              <a:t> PATH-COST(child) &lt; PATH-COST(reached[s])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reached[s] ← child</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add child </a:t>
            </a:r>
            <a:r>
              <a:rPr lang="en-US" sz="900" b="1" u="none" strike="noStrike" dirty="0">
                <a:solidFill>
                  <a:srgbClr val="F6A01A"/>
                </a:solidFill>
                <a:effectLst/>
                <a:uFillTx/>
                <a:latin typeface="Consolas"/>
              </a:rPr>
              <a:t>to</a:t>
            </a:r>
            <a:r>
              <a:rPr lang="en-US" sz="900" b="0" u="none" strike="noStrike" dirty="0">
                <a:solidFill>
                  <a:srgbClr val="EAF2FF"/>
                </a:solidFill>
                <a:effectLst/>
                <a:uFillTx/>
                <a:latin typeface="Consolas"/>
              </a:rPr>
              <a:t> frontier</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s is in reached2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solution2 ← JOIN-NODES(dir, child, reached2[s])</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if</a:t>
            </a:r>
            <a:r>
              <a:rPr lang="en-US" sz="900" b="0" u="none" strike="noStrike" dirty="0">
                <a:solidFill>
                  <a:srgbClr val="EAF2FF"/>
                </a:solidFill>
                <a:effectLst/>
                <a:uFillTx/>
                <a:latin typeface="Consolas"/>
              </a:rPr>
              <a:t> PATH-COST(solution2) &lt; PATH-COST(solution) </a:t>
            </a:r>
            <a:r>
              <a:rPr lang="en-US" sz="900" b="1" u="none" strike="noStrike" dirty="0">
                <a:solidFill>
                  <a:srgbClr val="F6A01A"/>
                </a:solidFill>
                <a:effectLst/>
                <a:uFillTx/>
                <a:latin typeface="Consolas"/>
              </a:rPr>
              <a:t>then</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solution ← solution2</a:t>
            </a:r>
            <a:endParaRPr lang="en-US" sz="900" b="0" u="none" strike="noStrike">
              <a:solidFill>
                <a:srgbClr val="000000"/>
              </a:solidFill>
              <a:effectLst/>
              <a:uFillTx/>
              <a:latin typeface="Arial"/>
            </a:endParaRPr>
          </a:p>
          <a:p>
            <a:pPr algn="l" defTabSz="914400">
              <a:lnSpc>
                <a:spcPct val="100000"/>
              </a:lnSpc>
              <a:spcAft>
                <a:spcPts val="120"/>
              </a:spcAft>
              <a:buNone/>
            </a:pPr>
            <a:r>
              <a:rPr lang="en-US" sz="900" b="0" u="none" strike="noStrike" dirty="0">
                <a:solidFill>
                  <a:srgbClr val="EAF2FF"/>
                </a:solidFill>
                <a:effectLst/>
                <a:uFillTx/>
                <a:latin typeface="Consolas"/>
              </a:rPr>
              <a:t>    </a:t>
            </a:r>
            <a:r>
              <a:rPr lang="en-US" sz="900" b="1" u="none" strike="noStrike" dirty="0">
                <a:solidFill>
                  <a:srgbClr val="F6A01A"/>
                </a:solidFill>
                <a:effectLst/>
                <a:uFillTx/>
                <a:latin typeface="Consolas"/>
              </a:rPr>
              <a:t>return</a:t>
            </a:r>
            <a:r>
              <a:rPr lang="en-US" sz="900" b="0" u="none" strike="noStrike" dirty="0">
                <a:solidFill>
                  <a:srgbClr val="EAF2FF"/>
                </a:solidFill>
                <a:effectLst/>
                <a:uFillTx/>
                <a:latin typeface="Consolas"/>
              </a:rPr>
              <a:t> solution</a:t>
            </a:r>
            <a:endParaRPr lang="en-US" sz="900" b="0" u="none" strike="noStrike">
              <a:solidFill>
                <a:srgbClr val="000000"/>
              </a:solidFill>
              <a:effectLst/>
              <a:uFillTx/>
              <a:latin typeface="Arial"/>
            </a:endParaRPr>
          </a:p>
        </p:txBody>
      </p:sp>
      <p:sp>
        <p:nvSpPr>
          <p:cNvPr id="2009" name="NoteCard 2009"/>
          <p:cNvSpPr/>
          <p:nvPr/>
        </p:nvSpPr>
        <p:spPr>
          <a:xfrm>
            <a:off x="8177240" y="1240000"/>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8382980" y="1377160"/>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①  An ordinary expansion</a:t>
            </a:r>
            <a:endParaRPr lang="en-US" sz="1100" b="0" u="none" strike="noStrike">
              <a:solidFill>
                <a:srgbClr val="000000"/>
              </a:solidFill>
              <a:effectLst/>
              <a:uFillTx/>
              <a:latin typeface="Arial"/>
            </a:endParaRPr>
          </a:p>
        </p:txBody>
      </p:sp>
      <p:sp>
        <p:nvSpPr>
          <p:cNvPr id="2011" name="CardBody 2011"/>
          <p:cNvSpPr/>
          <p:nvPr/>
        </p:nvSpPr>
        <p:spPr>
          <a:xfrm>
            <a:off x="8382980" y="1605760"/>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Pop, expand, and apply the same re-add rule you already met in best-first search.</a:t>
            </a:r>
            <a:endParaRPr lang="en-US" sz="1100" b="0" u="none" strike="noStrike">
              <a:solidFill>
                <a:srgbClr val="000000"/>
              </a:solidFill>
              <a:effectLst/>
              <a:uFillTx/>
              <a:latin typeface="Arial"/>
            </a:endParaRPr>
          </a:p>
        </p:txBody>
      </p:sp>
      <p:sp>
        <p:nvSpPr>
          <p:cNvPr id="2012" name="NoteCard 2012"/>
          <p:cNvSpPr/>
          <p:nvPr/>
        </p:nvSpPr>
        <p:spPr>
          <a:xfrm>
            <a:off x="8177240" y="2152386"/>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82980" y="2289546"/>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②  The collision test</a:t>
            </a:r>
            <a:endParaRPr lang="en-US" sz="1100" b="0" u="none" strike="noStrike">
              <a:solidFill>
                <a:srgbClr val="000000"/>
              </a:solidFill>
              <a:effectLst/>
              <a:uFillTx/>
              <a:latin typeface="Arial"/>
            </a:endParaRPr>
          </a:p>
        </p:txBody>
      </p:sp>
      <p:sp>
        <p:nvSpPr>
          <p:cNvPr id="2014" name="CardBody 2014"/>
          <p:cNvSpPr/>
          <p:nvPr/>
        </p:nvSpPr>
        <p:spPr>
          <a:xfrm>
            <a:off x="8382980" y="2518146"/>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if s is in reached2 — the state this half just reached was already reached by the other half.</a:t>
            </a:r>
            <a:endParaRPr lang="en-US" sz="1100" b="0" u="none" strike="noStrike">
              <a:solidFill>
                <a:srgbClr val="000000"/>
              </a:solidFill>
              <a:effectLst/>
              <a:uFillTx/>
              <a:latin typeface="Arial"/>
            </a:endParaRPr>
          </a:p>
        </p:txBody>
      </p:sp>
      <p:sp>
        <p:nvSpPr>
          <p:cNvPr id="2015" name="NoteCard 2015"/>
          <p:cNvSpPr/>
          <p:nvPr/>
        </p:nvSpPr>
        <p:spPr>
          <a:xfrm>
            <a:off x="8177240" y="3064772"/>
            <a:ext cx="3511840" cy="775226"/>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6" name="CardHead 2016"/>
          <p:cNvSpPr/>
          <p:nvPr/>
        </p:nvSpPr>
        <p:spPr>
          <a:xfrm>
            <a:off x="8382980" y="3201932"/>
            <a:ext cx="3100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000" b="1" u="none" strike="noStrike" dirty="0">
                <a:solidFill>
                  <a:srgbClr val="112E5C"/>
                </a:solidFill>
                <a:effectLst/>
                <a:uFillTx/>
                <a:latin typeface="Aptos"/>
              </a:rPr>
              <a:t>③  Join, then compare</a:t>
            </a:r>
            <a:endParaRPr lang="en-US" sz="1100" b="0" u="none" strike="noStrike">
              <a:solidFill>
                <a:srgbClr val="000000"/>
              </a:solidFill>
              <a:effectLst/>
              <a:uFillTx/>
              <a:latin typeface="Arial"/>
            </a:endParaRPr>
          </a:p>
        </p:txBody>
      </p:sp>
      <p:sp>
        <p:nvSpPr>
          <p:cNvPr id="2017" name="CardBody 2017"/>
          <p:cNvSpPr/>
          <p:nvPr/>
        </p:nvSpPr>
        <p:spPr>
          <a:xfrm>
            <a:off x="8382980" y="3430532"/>
            <a:ext cx="3100360" cy="272306"/>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900" b="0" u="none" strike="noStrike" dirty="0">
                <a:solidFill>
                  <a:srgbClr val="102A4C"/>
                </a:solidFill>
                <a:effectLst/>
                <a:uFillTx/>
                <a:latin typeface="Aptos"/>
              </a:rPr>
              <a:t>JOIN-NODES glues the two half-paths, reversing the backward one — and keeps it only if it beats the best so far.</a:t>
            </a:r>
            <a:endParaRPr lang="en-US" sz="1100" b="0" u="none" strike="noStrike">
              <a:solidFill>
                <a:srgbClr val="000000"/>
              </a:solidFill>
              <a:effectLst/>
              <a:uFillTx/>
              <a:latin typeface="Arial"/>
            </a:endParaRPr>
          </a:p>
        </p:txBody>
      </p:sp>
      <p:sp>
        <p:nvSpPr>
          <p:cNvPr id="2018" name="NoteCard 2018"/>
          <p:cNvSpPr/>
          <p:nvPr/>
        </p:nvSpPr>
        <p:spPr>
          <a:xfrm>
            <a:off x="502920" y="4068600"/>
            <a:ext cx="11186160" cy="115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9" name="CardHead 2019"/>
          <p:cNvSpPr/>
          <p:nvPr/>
        </p:nvSpPr>
        <p:spPr>
          <a:xfrm>
            <a:off x="708660" y="4205760"/>
            <a:ext cx="1077468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200" b="1" u="none" strike="noStrike" dirty="0">
                <a:solidFill>
                  <a:srgbClr val="112E5C"/>
                </a:solidFill>
                <a:effectLst/>
                <a:uFillTx/>
                <a:latin typeface="Aptos"/>
              </a:rPr>
              <a:t>Why the first meeting is not the answer</a:t>
            </a:r>
            <a:endParaRPr lang="en-US" sz="1100" b="0" u="none" strike="noStrike">
              <a:solidFill>
                <a:srgbClr val="000000"/>
              </a:solidFill>
              <a:effectLst/>
              <a:uFillTx/>
              <a:latin typeface="Arial"/>
            </a:endParaRPr>
          </a:p>
        </p:txBody>
      </p:sp>
      <p:sp>
        <p:nvSpPr>
          <p:cNvPr id="2020" name="CardBody 2020"/>
          <p:cNvSpPr/>
          <p:nvPr/>
        </p:nvSpPr>
        <p:spPr>
          <a:xfrm>
            <a:off x="708660" y="4434360"/>
            <a:ext cx="10774680" cy="6470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4000"/>
              </a:lnSpc>
              <a:buNone/>
            </a:pPr>
            <a:r>
              <a:rPr lang="en-US" sz="1000" b="0" u="none" strike="noStrike" dirty="0">
                <a:solidFill>
                  <a:srgbClr val="102A4C"/>
                </a:solidFill>
                <a:effectLst/>
                <a:uFillTx/>
                <a:latin typeface="Aptos"/>
              </a:rPr>
              <a:t>When the frontiers first touch you have a complete start-to-goal path, but not necessarily the cheapest one: a shorter joint may still be assembled from nodes already sitting on both frontiers. So PROCEED records the best joint found so far and lets TERMINATED decide when no better one can remain. With path cost as both evaluation functions the bound is sharp — no node with g(n) greater than C*/2 is ever expanded, and that is exactly where the O(b</a:t>
            </a:r>
            <a:r>
              <a:rPr lang="en-US" sz="1000" b="0" u="none" strike="noStrike" baseline="30000" dirty="0">
                <a:solidFill>
                  <a:srgbClr val="102A4C"/>
                </a:solidFill>
                <a:effectLst/>
                <a:uFillTx/>
                <a:latin typeface="Aptos"/>
              </a:rPr>
              <a:t>d/2</a:t>
            </a:r>
            <a:r>
              <a:rPr lang="en-US" sz="1000" b="0" u="none" strike="noStrike" dirty="0">
                <a:solidFill>
                  <a:srgbClr val="102A4C"/>
                </a:solidFill>
                <a:effectLst/>
                <a:uFillTx/>
                <a:latin typeface="Aptos"/>
              </a:rPr>
              <a:t>) saving comes from.</a:t>
            </a:r>
            <a:endParaRPr lang="en-US" sz="1100" b="0" u="none" strike="noStrike">
              <a:solidFill>
                <a:srgbClr val="000000"/>
              </a:solidFill>
              <a:effectLst/>
              <a:uFillTx/>
              <a:latin typeface="Arial"/>
            </a:endParaRPr>
          </a:p>
        </p:txBody>
      </p:sp>
      <p:sp>
        <p:nvSpPr>
          <p:cNvPr id="2021" name="Banner 2021"/>
          <p:cNvSpPr/>
          <p:nvPr/>
        </p:nvSpPr>
        <p:spPr>
          <a:xfrm>
            <a:off x="502920" y="5340000"/>
            <a:ext cx="11186160" cy="8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180"/>
              </a:spcAft>
              <a:buNone/>
            </a:pPr>
            <a:r>
              <a:rPr lang="en-US" sz="1100" b="1" u="none" strike="noStrike" dirty="0">
                <a:solidFill>
                  <a:srgbClr val="102A4C"/>
                </a:solidFill>
                <a:effectLst/>
                <a:uFillTx/>
                <a:latin typeface="Aptos"/>
              </a:rPr>
              <a:t>Trace it on the Romania map: run forward from Arad and backward from Bucharest.</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The first city to appear in both reached tables is the collision, and the returned solution is the concatenation of two paths you already had in hand — one of them read backwards.</a:t>
            </a:r>
            <a:endParaRPr lang="en-US" sz="1100" b="0" u="none" strike="noStrike">
              <a:solidFill>
                <a:srgbClr val="000000"/>
              </a:solidFill>
              <a:effectLst/>
              <a:uFillTx/>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37"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38"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339"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Comparing Uninformed Search Algorithms</a:t>
            </a:r>
            <a:endParaRPr lang="en-US" sz="2600" b="0" u="none" strike="noStrike">
              <a:solidFill>
                <a:srgbClr val="000000"/>
              </a:solidFill>
              <a:effectLst/>
              <a:uFillTx/>
              <a:latin typeface="Arial"/>
            </a:endParaRPr>
          </a:p>
        </p:txBody>
      </p:sp>
      <p:sp>
        <p:nvSpPr>
          <p:cNvPr id="1340"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341"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342" name="Shape 5"/>
          <p:cNvSpPr/>
          <p:nvPr/>
        </p:nvSpPr>
        <p:spPr>
          <a:xfrm>
            <a:off x="685800" y="1325880"/>
            <a:ext cx="20113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3" name="Text 6"/>
          <p:cNvSpPr/>
          <p:nvPr/>
        </p:nvSpPr>
        <p:spPr>
          <a:xfrm>
            <a:off x="731520" y="143568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Algorithm</a:t>
            </a:r>
            <a:endParaRPr lang="en-US" sz="1300" b="0" u="none" strike="noStrike">
              <a:solidFill>
                <a:srgbClr val="000000"/>
              </a:solidFill>
              <a:effectLst/>
              <a:uFillTx/>
              <a:latin typeface="Arial"/>
            </a:endParaRPr>
          </a:p>
        </p:txBody>
      </p:sp>
      <p:sp>
        <p:nvSpPr>
          <p:cNvPr id="1344" name="Shape 7"/>
          <p:cNvSpPr/>
          <p:nvPr/>
        </p:nvSpPr>
        <p:spPr>
          <a:xfrm>
            <a:off x="2697480" y="1325880"/>
            <a:ext cx="292572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5" name="Text 8"/>
          <p:cNvSpPr/>
          <p:nvPr/>
        </p:nvSpPr>
        <p:spPr>
          <a:xfrm>
            <a:off x="2743200" y="1435680"/>
            <a:ext cx="2834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Complete?</a:t>
            </a:r>
            <a:endParaRPr lang="en-US" sz="1300" b="0" u="none" strike="noStrike">
              <a:solidFill>
                <a:srgbClr val="000000"/>
              </a:solidFill>
              <a:effectLst/>
              <a:uFillTx/>
              <a:latin typeface="Arial"/>
            </a:endParaRPr>
          </a:p>
        </p:txBody>
      </p:sp>
      <p:sp>
        <p:nvSpPr>
          <p:cNvPr id="1346" name="Shape 9"/>
          <p:cNvSpPr/>
          <p:nvPr/>
        </p:nvSpPr>
        <p:spPr>
          <a:xfrm>
            <a:off x="5623560" y="1325880"/>
            <a:ext cx="255996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7" name="Text 10"/>
          <p:cNvSpPr/>
          <p:nvPr/>
        </p:nvSpPr>
        <p:spPr>
          <a:xfrm>
            <a:off x="5669280" y="1435680"/>
            <a:ext cx="24685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Optimal?</a:t>
            </a:r>
            <a:endParaRPr lang="en-US" sz="1300" b="0" u="none" strike="noStrike">
              <a:solidFill>
                <a:srgbClr val="000000"/>
              </a:solidFill>
              <a:effectLst/>
              <a:uFillTx/>
              <a:latin typeface="Arial"/>
            </a:endParaRPr>
          </a:p>
        </p:txBody>
      </p:sp>
      <p:sp>
        <p:nvSpPr>
          <p:cNvPr id="1348" name="Shape 11"/>
          <p:cNvSpPr/>
          <p:nvPr/>
        </p:nvSpPr>
        <p:spPr>
          <a:xfrm>
            <a:off x="8183880" y="1325880"/>
            <a:ext cx="2834280" cy="529920"/>
          </a:xfrm>
          <a:prstGeom prst="rect">
            <a:avLst/>
          </a:prstGeom>
          <a:solidFill>
            <a:srgbClr val="112E5C"/>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49" name="Text 12"/>
          <p:cNvSpPr/>
          <p:nvPr/>
        </p:nvSpPr>
        <p:spPr>
          <a:xfrm>
            <a:off x="8229600" y="143568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FFFFF"/>
                </a:solidFill>
                <a:effectLst/>
                <a:uFillTx/>
                <a:latin typeface="Aptos"/>
              </a:rPr>
              <a:t>Memory</a:t>
            </a:r>
            <a:endParaRPr lang="en-US" sz="1300" b="0" u="none" strike="noStrike">
              <a:solidFill>
                <a:srgbClr val="000000"/>
              </a:solidFill>
              <a:effectLst/>
              <a:uFillTx/>
              <a:latin typeface="Arial"/>
            </a:endParaRPr>
          </a:p>
        </p:txBody>
      </p:sp>
      <p:sp>
        <p:nvSpPr>
          <p:cNvPr id="1350" name="Shape 13"/>
          <p:cNvSpPr/>
          <p:nvPr/>
        </p:nvSpPr>
        <p:spPr>
          <a:xfrm>
            <a:off x="685800" y="185616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1" name="Text 14"/>
          <p:cNvSpPr/>
          <p:nvPr/>
        </p:nvSpPr>
        <p:spPr>
          <a:xfrm>
            <a:off x="731520" y="19749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BFS</a:t>
            </a:r>
            <a:endParaRPr lang="en-US" sz="1150" b="0" u="none" strike="noStrike">
              <a:solidFill>
                <a:srgbClr val="000000"/>
              </a:solidFill>
              <a:effectLst/>
              <a:uFillTx/>
              <a:latin typeface="Arial"/>
            </a:endParaRPr>
          </a:p>
        </p:txBody>
      </p:sp>
      <p:sp>
        <p:nvSpPr>
          <p:cNvPr id="1352" name="Shape 15"/>
          <p:cNvSpPr/>
          <p:nvPr/>
        </p:nvSpPr>
        <p:spPr>
          <a:xfrm>
            <a:off x="2697480" y="185616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3" name="Text 16"/>
          <p:cNvSpPr/>
          <p:nvPr/>
        </p:nvSpPr>
        <p:spPr>
          <a:xfrm>
            <a:off x="2743200" y="19749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54" name="Shape 17"/>
          <p:cNvSpPr/>
          <p:nvPr/>
        </p:nvSpPr>
        <p:spPr>
          <a:xfrm>
            <a:off x="5623560" y="185616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5" name="Text 18"/>
          <p:cNvSpPr/>
          <p:nvPr/>
        </p:nvSpPr>
        <p:spPr>
          <a:xfrm>
            <a:off x="5669280" y="19749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56" name="Shape 19"/>
          <p:cNvSpPr/>
          <p:nvPr/>
        </p:nvSpPr>
        <p:spPr>
          <a:xfrm>
            <a:off x="8183880" y="185616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7" name="Text 20"/>
          <p:cNvSpPr/>
          <p:nvPr/>
        </p:nvSpPr>
        <p:spPr>
          <a:xfrm>
            <a:off x="8229600" y="19749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58" name="Shape 21"/>
          <p:cNvSpPr/>
          <p:nvPr/>
        </p:nvSpPr>
        <p:spPr>
          <a:xfrm>
            <a:off x="685800" y="238644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9" name="Text 22"/>
          <p:cNvSpPr/>
          <p:nvPr/>
        </p:nvSpPr>
        <p:spPr>
          <a:xfrm>
            <a:off x="731520" y="250560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UCS</a:t>
            </a:r>
            <a:endParaRPr lang="en-US" sz="1150" b="0" u="none" strike="noStrike">
              <a:solidFill>
                <a:srgbClr val="000000"/>
              </a:solidFill>
              <a:effectLst/>
              <a:uFillTx/>
              <a:latin typeface="Arial"/>
            </a:endParaRPr>
          </a:p>
        </p:txBody>
      </p:sp>
      <p:sp>
        <p:nvSpPr>
          <p:cNvPr id="1360" name="Shape 23"/>
          <p:cNvSpPr/>
          <p:nvPr/>
        </p:nvSpPr>
        <p:spPr>
          <a:xfrm>
            <a:off x="2697480" y="238644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1" name="Text 24"/>
          <p:cNvSpPr/>
          <p:nvPr/>
        </p:nvSpPr>
        <p:spPr>
          <a:xfrm>
            <a:off x="2743200" y="250560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ε&gt;0</a:t>
            </a:r>
            <a:endParaRPr lang="en-US" sz="1150" b="0" u="none" strike="noStrike">
              <a:solidFill>
                <a:srgbClr val="000000"/>
              </a:solidFill>
              <a:effectLst/>
              <a:uFillTx/>
              <a:latin typeface="Arial"/>
            </a:endParaRPr>
          </a:p>
        </p:txBody>
      </p:sp>
      <p:sp>
        <p:nvSpPr>
          <p:cNvPr id="1362" name="Shape 25"/>
          <p:cNvSpPr/>
          <p:nvPr/>
        </p:nvSpPr>
        <p:spPr>
          <a:xfrm>
            <a:off x="5623560" y="238644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3" name="Text 26"/>
          <p:cNvSpPr/>
          <p:nvPr/>
        </p:nvSpPr>
        <p:spPr>
          <a:xfrm>
            <a:off x="5669280" y="250560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a:t>
            </a:r>
            <a:endParaRPr lang="en-US" sz="1150" b="0" u="none" strike="noStrike">
              <a:solidFill>
                <a:srgbClr val="000000"/>
              </a:solidFill>
              <a:effectLst/>
              <a:uFillTx/>
              <a:latin typeface="Arial"/>
            </a:endParaRPr>
          </a:p>
        </p:txBody>
      </p:sp>
      <p:sp>
        <p:nvSpPr>
          <p:cNvPr id="1364" name="Shape 27"/>
          <p:cNvSpPr/>
          <p:nvPr/>
        </p:nvSpPr>
        <p:spPr>
          <a:xfrm>
            <a:off x="8183880" y="238644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5" name="Text 28"/>
          <p:cNvSpPr/>
          <p:nvPr/>
        </p:nvSpPr>
        <p:spPr>
          <a:xfrm>
            <a:off x="8229600" y="250560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O(b^(1+C*/ε))</a:t>
            </a:r>
            <a:endParaRPr lang="en-US" sz="1150" b="0" u="none" strike="noStrike">
              <a:solidFill>
                <a:srgbClr val="000000"/>
              </a:solidFill>
              <a:effectLst/>
              <a:uFillTx/>
              <a:latin typeface="Arial"/>
            </a:endParaRPr>
          </a:p>
        </p:txBody>
      </p:sp>
      <p:sp>
        <p:nvSpPr>
          <p:cNvPr id="1366" name="Shape 29"/>
          <p:cNvSpPr/>
          <p:nvPr/>
        </p:nvSpPr>
        <p:spPr>
          <a:xfrm>
            <a:off x="685800" y="291708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7" name="Text 30"/>
          <p:cNvSpPr/>
          <p:nvPr/>
        </p:nvSpPr>
        <p:spPr>
          <a:xfrm>
            <a:off x="731520" y="303588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DFS</a:t>
            </a:r>
            <a:endParaRPr lang="en-US" sz="1150" b="0" u="none" strike="noStrike">
              <a:solidFill>
                <a:srgbClr val="000000"/>
              </a:solidFill>
              <a:effectLst/>
              <a:uFillTx/>
              <a:latin typeface="Arial"/>
            </a:endParaRPr>
          </a:p>
        </p:txBody>
      </p:sp>
      <p:sp>
        <p:nvSpPr>
          <p:cNvPr id="1368" name="Shape 31"/>
          <p:cNvSpPr/>
          <p:nvPr/>
        </p:nvSpPr>
        <p:spPr>
          <a:xfrm>
            <a:off x="2697480" y="291708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9" name="Text 32"/>
          <p:cNvSpPr/>
          <p:nvPr/>
        </p:nvSpPr>
        <p:spPr>
          <a:xfrm>
            <a:off x="2743200" y="303588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 in infinite/cyclic</a:t>
            </a:r>
            <a:endParaRPr lang="en-US" sz="1150" b="0" u="none" strike="noStrike">
              <a:solidFill>
                <a:srgbClr val="000000"/>
              </a:solidFill>
              <a:effectLst/>
              <a:uFillTx/>
              <a:latin typeface="Arial"/>
            </a:endParaRPr>
          </a:p>
        </p:txBody>
      </p:sp>
      <p:sp>
        <p:nvSpPr>
          <p:cNvPr id="1370" name="Shape 33"/>
          <p:cNvSpPr/>
          <p:nvPr/>
        </p:nvSpPr>
        <p:spPr>
          <a:xfrm>
            <a:off x="5623560" y="291708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1" name="Text 34"/>
          <p:cNvSpPr/>
          <p:nvPr/>
        </p:nvSpPr>
        <p:spPr>
          <a:xfrm>
            <a:off x="5669280" y="303588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72" name="Shape 35"/>
          <p:cNvSpPr/>
          <p:nvPr/>
        </p:nvSpPr>
        <p:spPr>
          <a:xfrm>
            <a:off x="8183880" y="291708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3" name="Text 36"/>
          <p:cNvSpPr/>
          <p:nvPr/>
        </p:nvSpPr>
        <p:spPr>
          <a:xfrm>
            <a:off x="8229600" y="303588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O(bm)</a:t>
            </a:r>
            <a:endParaRPr lang="en-US" sz="1150" b="0" u="none" strike="noStrike">
              <a:solidFill>
                <a:srgbClr val="000000"/>
              </a:solidFill>
              <a:effectLst/>
              <a:uFillTx/>
              <a:latin typeface="Arial"/>
            </a:endParaRPr>
          </a:p>
        </p:txBody>
      </p:sp>
      <p:sp>
        <p:nvSpPr>
          <p:cNvPr id="1374" name="Shape 37"/>
          <p:cNvSpPr/>
          <p:nvPr/>
        </p:nvSpPr>
        <p:spPr>
          <a:xfrm>
            <a:off x="685800" y="344736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5" name="Text 38"/>
          <p:cNvSpPr/>
          <p:nvPr/>
        </p:nvSpPr>
        <p:spPr>
          <a:xfrm>
            <a:off x="731520" y="356616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DLS</a:t>
            </a:r>
            <a:endParaRPr lang="en-US" sz="1150" b="0" u="none" strike="noStrike">
              <a:solidFill>
                <a:srgbClr val="000000"/>
              </a:solidFill>
              <a:effectLst/>
              <a:uFillTx/>
              <a:latin typeface="Arial"/>
            </a:endParaRPr>
          </a:p>
        </p:txBody>
      </p:sp>
      <p:sp>
        <p:nvSpPr>
          <p:cNvPr id="1376" name="Shape 39"/>
          <p:cNvSpPr/>
          <p:nvPr/>
        </p:nvSpPr>
        <p:spPr>
          <a:xfrm>
            <a:off x="2697480" y="344736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7" name="Text 40"/>
          <p:cNvSpPr/>
          <p:nvPr/>
        </p:nvSpPr>
        <p:spPr>
          <a:xfrm>
            <a:off x="2743200" y="356616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If limit adequate</a:t>
            </a:r>
            <a:endParaRPr lang="en-US" sz="1150" b="0" u="none" strike="noStrike">
              <a:solidFill>
                <a:srgbClr val="000000"/>
              </a:solidFill>
              <a:effectLst/>
              <a:uFillTx/>
              <a:latin typeface="Arial"/>
            </a:endParaRPr>
          </a:p>
        </p:txBody>
      </p:sp>
      <p:sp>
        <p:nvSpPr>
          <p:cNvPr id="1378" name="Shape 41"/>
          <p:cNvSpPr/>
          <p:nvPr/>
        </p:nvSpPr>
        <p:spPr>
          <a:xfrm>
            <a:off x="5623560" y="344736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9" name="Text 42"/>
          <p:cNvSpPr/>
          <p:nvPr/>
        </p:nvSpPr>
        <p:spPr>
          <a:xfrm>
            <a:off x="5669280" y="356616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No</a:t>
            </a:r>
            <a:endParaRPr lang="en-US" sz="1150" b="0" u="none" strike="noStrike">
              <a:solidFill>
                <a:srgbClr val="000000"/>
              </a:solidFill>
              <a:effectLst/>
              <a:uFillTx/>
              <a:latin typeface="Arial"/>
            </a:endParaRPr>
          </a:p>
        </p:txBody>
      </p:sp>
      <p:sp>
        <p:nvSpPr>
          <p:cNvPr id="1380" name="Shape 43"/>
          <p:cNvSpPr/>
          <p:nvPr/>
        </p:nvSpPr>
        <p:spPr>
          <a:xfrm>
            <a:off x="8183880" y="344736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1" name="Text 44"/>
          <p:cNvSpPr/>
          <p:nvPr/>
        </p:nvSpPr>
        <p:spPr>
          <a:xfrm>
            <a:off x="8229600" y="356616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O(bℓ)</a:t>
            </a:r>
            <a:endParaRPr lang="en-US" sz="1150" b="0" u="none" strike="noStrike">
              <a:solidFill>
                <a:srgbClr val="000000"/>
              </a:solidFill>
              <a:effectLst/>
              <a:uFillTx/>
              <a:latin typeface="Arial"/>
            </a:endParaRPr>
          </a:p>
        </p:txBody>
      </p:sp>
      <p:sp>
        <p:nvSpPr>
          <p:cNvPr id="1382" name="Shape 45"/>
          <p:cNvSpPr/>
          <p:nvPr/>
        </p:nvSpPr>
        <p:spPr>
          <a:xfrm>
            <a:off x="685800" y="3977640"/>
            <a:ext cx="20113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3" name="Text 46"/>
          <p:cNvSpPr/>
          <p:nvPr/>
        </p:nvSpPr>
        <p:spPr>
          <a:xfrm>
            <a:off x="731520" y="409644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IDS</a:t>
            </a:r>
            <a:endParaRPr lang="en-US" sz="1150" b="0" u="none" strike="noStrike">
              <a:solidFill>
                <a:srgbClr val="000000"/>
              </a:solidFill>
              <a:effectLst/>
              <a:uFillTx/>
              <a:latin typeface="Arial"/>
            </a:endParaRPr>
          </a:p>
        </p:txBody>
      </p:sp>
      <p:sp>
        <p:nvSpPr>
          <p:cNvPr id="1384" name="Shape 47"/>
          <p:cNvSpPr/>
          <p:nvPr/>
        </p:nvSpPr>
        <p:spPr>
          <a:xfrm>
            <a:off x="2697480" y="3977640"/>
            <a:ext cx="292572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5" name="Text 48"/>
          <p:cNvSpPr/>
          <p:nvPr/>
        </p:nvSpPr>
        <p:spPr>
          <a:xfrm>
            <a:off x="2743200" y="409644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Yes in many finite cases</a:t>
            </a:r>
            <a:endParaRPr lang="en-US" sz="1150" b="0" u="none" strike="noStrike">
              <a:solidFill>
                <a:srgbClr val="000000"/>
              </a:solidFill>
              <a:effectLst/>
              <a:uFillTx/>
              <a:latin typeface="Arial"/>
            </a:endParaRPr>
          </a:p>
        </p:txBody>
      </p:sp>
      <p:sp>
        <p:nvSpPr>
          <p:cNvPr id="1386" name="Shape 49"/>
          <p:cNvSpPr/>
          <p:nvPr/>
        </p:nvSpPr>
        <p:spPr>
          <a:xfrm>
            <a:off x="5623560" y="3977640"/>
            <a:ext cx="255996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7" name="Text 50"/>
          <p:cNvSpPr/>
          <p:nvPr/>
        </p:nvSpPr>
        <p:spPr>
          <a:xfrm>
            <a:off x="5669280" y="409644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Unit costs</a:t>
            </a:r>
            <a:endParaRPr lang="en-US" sz="1150" b="0" u="none" strike="noStrike">
              <a:solidFill>
                <a:srgbClr val="000000"/>
              </a:solidFill>
              <a:effectLst/>
              <a:uFillTx/>
              <a:latin typeface="Arial"/>
            </a:endParaRPr>
          </a:p>
        </p:txBody>
      </p:sp>
      <p:sp>
        <p:nvSpPr>
          <p:cNvPr id="1388" name="Shape 51"/>
          <p:cNvSpPr/>
          <p:nvPr/>
        </p:nvSpPr>
        <p:spPr>
          <a:xfrm>
            <a:off x="8183880" y="3977640"/>
            <a:ext cx="2834280" cy="529920"/>
          </a:xfrm>
          <a:prstGeom prst="rect">
            <a:avLst/>
          </a:prstGeom>
          <a:solidFill>
            <a:srgbClr val="F7F9FC"/>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9" name="Text 52"/>
          <p:cNvSpPr/>
          <p:nvPr/>
        </p:nvSpPr>
        <p:spPr>
          <a:xfrm>
            <a:off x="8229600" y="409644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O(bd)</a:t>
            </a:r>
            <a:endParaRPr lang="en-US" sz="1150" b="0" u="none" strike="noStrike">
              <a:solidFill>
                <a:srgbClr val="000000"/>
              </a:solidFill>
              <a:effectLst/>
              <a:uFillTx/>
              <a:latin typeface="Arial"/>
            </a:endParaRPr>
          </a:p>
        </p:txBody>
      </p:sp>
      <p:sp>
        <p:nvSpPr>
          <p:cNvPr id="1390" name="Shape 53"/>
          <p:cNvSpPr/>
          <p:nvPr/>
        </p:nvSpPr>
        <p:spPr>
          <a:xfrm>
            <a:off x="685800" y="4507920"/>
            <a:ext cx="20113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1" name="Text 54"/>
          <p:cNvSpPr/>
          <p:nvPr/>
        </p:nvSpPr>
        <p:spPr>
          <a:xfrm>
            <a:off x="731520" y="4626720"/>
            <a:ext cx="1919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1" u="none" strike="noStrike">
                <a:solidFill>
                  <a:srgbClr val="112E5C"/>
                </a:solidFill>
                <a:effectLst/>
                <a:uFillTx/>
                <a:latin typeface="Aptos"/>
              </a:rPr>
              <a:t>Bidirectional</a:t>
            </a:r>
            <a:endParaRPr lang="en-US" sz="1150" b="0" u="none" strike="noStrike">
              <a:solidFill>
                <a:srgbClr val="000000"/>
              </a:solidFill>
              <a:effectLst/>
              <a:uFillTx/>
              <a:latin typeface="Arial"/>
            </a:endParaRPr>
          </a:p>
        </p:txBody>
      </p:sp>
      <p:sp>
        <p:nvSpPr>
          <p:cNvPr id="1392" name="Shape 55"/>
          <p:cNvSpPr/>
          <p:nvPr/>
        </p:nvSpPr>
        <p:spPr>
          <a:xfrm>
            <a:off x="2697480" y="4507920"/>
            <a:ext cx="292572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3" name="Text 56"/>
          <p:cNvSpPr/>
          <p:nvPr/>
        </p:nvSpPr>
        <p:spPr>
          <a:xfrm>
            <a:off x="2743200" y="4626720"/>
            <a:ext cx="28342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4" name="Shape 57"/>
          <p:cNvSpPr/>
          <p:nvPr/>
        </p:nvSpPr>
        <p:spPr>
          <a:xfrm>
            <a:off x="5623560" y="4507920"/>
            <a:ext cx="255996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5" name="Text 58"/>
          <p:cNvSpPr/>
          <p:nvPr/>
        </p:nvSpPr>
        <p:spPr>
          <a:xfrm>
            <a:off x="5669280" y="4626720"/>
            <a:ext cx="24685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Depends</a:t>
            </a:r>
            <a:endParaRPr lang="en-US" sz="1150" b="0" u="none" strike="noStrike">
              <a:solidFill>
                <a:srgbClr val="000000"/>
              </a:solidFill>
              <a:effectLst/>
              <a:uFillTx/>
              <a:latin typeface="Arial"/>
            </a:endParaRPr>
          </a:p>
        </p:txBody>
      </p:sp>
      <p:sp>
        <p:nvSpPr>
          <p:cNvPr id="1396" name="Shape 59"/>
          <p:cNvSpPr/>
          <p:nvPr/>
        </p:nvSpPr>
        <p:spPr>
          <a:xfrm>
            <a:off x="8183880" y="4507920"/>
            <a:ext cx="2834280" cy="529920"/>
          </a:xfrm>
          <a:prstGeom prst="rect">
            <a:avLst/>
          </a:prstGeom>
          <a:solidFill>
            <a:srgbClr val="FFFFFF"/>
          </a:solidFill>
          <a:ln w="6350">
            <a:solidFill>
              <a:srgbClr val="D8DE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7" name="Text 60"/>
          <p:cNvSpPr/>
          <p:nvPr/>
        </p:nvSpPr>
        <p:spPr>
          <a:xfrm>
            <a:off x="8229600" y="4626720"/>
            <a:ext cx="27428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50" b="0" u="none" strike="noStrike">
                <a:solidFill>
                  <a:srgbClr val="102A4C"/>
                </a:solidFill>
                <a:effectLst/>
                <a:uFillTx/>
                <a:latin typeface="Aptos"/>
              </a:rPr>
              <a:t>often lower</a:t>
            </a:r>
            <a:endParaRPr lang="en-US" sz="1150" b="0" u="none" strike="noStrike">
              <a:solidFill>
                <a:srgbClr val="000000"/>
              </a:solidFill>
              <a:effectLst/>
              <a:uFillTx/>
              <a:latin typeface="Arial"/>
            </a:endParaRPr>
          </a:p>
        </p:txBody>
      </p:sp>
      <p:sp>
        <p:nvSpPr>
          <p:cNvPr id="1398" name="Text 61"/>
          <p:cNvSpPr/>
          <p:nvPr/>
        </p:nvSpPr>
        <p:spPr>
          <a:xfrm>
            <a:off x="914400" y="5715000"/>
            <a:ext cx="10058040" cy="34704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algn="ctr" defTabSz="914400">
              <a:lnSpc>
                <a:spcPct val="100000"/>
              </a:lnSpc>
              <a:tabLst>
                <a:tab pos="0" algn="l"/>
              </a:tabLst>
            </a:pPr>
            <a:r>
              <a:rPr lang="en-US" sz="1700" b="1" u="none" strike="noStrike">
                <a:solidFill>
                  <a:srgbClr val="112E5C"/>
                </a:solidFill>
                <a:effectLst/>
                <a:uFillTx/>
                <a:latin typeface="Aptos"/>
              </a:rPr>
              <a:t>Reason from the frontier rule; do not memorize without understanding.</a:t>
            </a:r>
            <a:endParaRPr lang="en-US" sz="17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Figure 3.15: Comparing Uninformed Search Algorithms</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H 2006"/>
          <p:cNvSpPr/>
          <p:nvPr/>
        </p:nvSpPr>
        <p:spPr>
          <a:xfrm>
            <a:off x="502920" y="1300000"/>
            <a:ext cx="1700000"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FFFFFF"/>
                </a:solidFill>
                <a:effectLst/>
                <a:uFillTx/>
                <a:latin typeface="Aptos"/>
              </a:rPr>
              <a:t>Criterion</a:t>
            </a:r>
            <a:endParaRPr lang="en-US" sz="1100" b="0" u="none" strike="noStrike">
              <a:solidFill>
                <a:srgbClr val="000000"/>
              </a:solidFill>
              <a:effectLst/>
              <a:uFillTx/>
              <a:latin typeface="Arial"/>
            </a:endParaRPr>
          </a:p>
        </p:txBody>
      </p:sp>
      <p:sp>
        <p:nvSpPr>
          <p:cNvPr id="2007" name="H 2007"/>
          <p:cNvSpPr/>
          <p:nvPr/>
        </p:nvSpPr>
        <p:spPr>
          <a:xfrm>
            <a:off x="220292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Breadth-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08" name="H 2008"/>
          <p:cNvSpPr/>
          <p:nvPr/>
        </p:nvSpPr>
        <p:spPr>
          <a:xfrm>
            <a:off x="3783946"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Uniform-</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Cost</a:t>
            </a:r>
            <a:endParaRPr lang="en-US" sz="1100" b="0" u="none" strike="noStrike">
              <a:solidFill>
                <a:srgbClr val="000000"/>
              </a:solidFill>
              <a:effectLst/>
              <a:uFillTx/>
              <a:latin typeface="Arial"/>
            </a:endParaRPr>
          </a:p>
        </p:txBody>
      </p:sp>
      <p:sp>
        <p:nvSpPr>
          <p:cNvPr id="2009" name="H 2009"/>
          <p:cNvSpPr/>
          <p:nvPr/>
        </p:nvSpPr>
        <p:spPr>
          <a:xfrm>
            <a:off x="5364972"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First</a:t>
            </a:r>
            <a:endParaRPr lang="en-US" sz="1100" b="0" u="none" strike="noStrike">
              <a:solidFill>
                <a:srgbClr val="000000"/>
              </a:solidFill>
              <a:effectLst/>
              <a:uFillTx/>
              <a:latin typeface="Arial"/>
            </a:endParaRPr>
          </a:p>
        </p:txBody>
      </p:sp>
      <p:sp>
        <p:nvSpPr>
          <p:cNvPr id="2010" name="H 2010"/>
          <p:cNvSpPr/>
          <p:nvPr/>
        </p:nvSpPr>
        <p:spPr>
          <a:xfrm>
            <a:off x="6945998"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Depth-</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Limited</a:t>
            </a:r>
            <a:endParaRPr lang="en-US" sz="1100" b="0" u="none" strike="noStrike">
              <a:solidFill>
                <a:srgbClr val="000000"/>
              </a:solidFill>
              <a:effectLst/>
              <a:uFillTx/>
              <a:latin typeface="Arial"/>
            </a:endParaRPr>
          </a:p>
        </p:txBody>
      </p:sp>
      <p:sp>
        <p:nvSpPr>
          <p:cNvPr id="2011" name="H 2011"/>
          <p:cNvSpPr/>
          <p:nvPr/>
        </p:nvSpPr>
        <p:spPr>
          <a:xfrm>
            <a:off x="8527024"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Iterative</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Deepening</a:t>
            </a:r>
            <a:endParaRPr lang="en-US" sz="1100" b="0" u="none" strike="noStrike">
              <a:solidFill>
                <a:srgbClr val="000000"/>
              </a:solidFill>
              <a:effectLst/>
              <a:uFillTx/>
              <a:latin typeface="Arial"/>
            </a:endParaRPr>
          </a:p>
        </p:txBody>
      </p:sp>
      <p:sp>
        <p:nvSpPr>
          <p:cNvPr id="2012" name="H 2012"/>
          <p:cNvSpPr/>
          <p:nvPr/>
        </p:nvSpPr>
        <p:spPr>
          <a:xfrm>
            <a:off x="10108050" y="1300000"/>
            <a:ext cx="1581026" cy="62000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spcAft>
                <a:spcPts val="60"/>
              </a:spcAft>
              <a:buNone/>
            </a:pPr>
            <a:r>
              <a:rPr lang="en-US" sz="950" b="1" u="none" strike="noStrike" dirty="0">
                <a:solidFill>
                  <a:srgbClr val="FFFFFF"/>
                </a:solidFill>
                <a:effectLst/>
                <a:uFillTx/>
                <a:latin typeface="Aptos"/>
              </a:rPr>
              <a:t>Bidirectional</a:t>
            </a:r>
            <a:endParaRPr lang="en-US" sz="1100" b="0" u="none" strike="noStrike">
              <a:solidFill>
                <a:srgbClr val="000000"/>
              </a:solidFill>
              <a:effectLst/>
              <a:uFillTx/>
              <a:latin typeface="Arial"/>
            </a:endParaRPr>
          </a:p>
          <a:p>
            <a:pPr algn="ctr" defTabSz="914400">
              <a:lnSpc>
                <a:spcPct val="100000"/>
              </a:lnSpc>
              <a:buNone/>
            </a:pPr>
            <a:r>
              <a:rPr lang="en-US" sz="950" b="1" u="none" strike="noStrike" dirty="0">
                <a:solidFill>
                  <a:srgbClr val="FFFFFF"/>
                </a:solidFill>
                <a:effectLst/>
                <a:uFillTx/>
                <a:latin typeface="Aptos"/>
              </a:rPr>
              <a:t>(if applicable)</a:t>
            </a:r>
            <a:endParaRPr lang="en-US" sz="1100" b="0" u="none" strike="noStrike">
              <a:solidFill>
                <a:srgbClr val="000000"/>
              </a:solidFill>
              <a:effectLst/>
              <a:uFillTx/>
              <a:latin typeface="Arial"/>
            </a:endParaRPr>
          </a:p>
        </p:txBody>
      </p:sp>
      <p:sp>
        <p:nvSpPr>
          <p:cNvPr id="2013" name="C 2013"/>
          <p:cNvSpPr/>
          <p:nvPr/>
        </p:nvSpPr>
        <p:spPr>
          <a:xfrm>
            <a:off x="502920" y="192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Complete?</a:t>
            </a:r>
            <a:endParaRPr lang="en-US" sz="1100" b="0" u="none" strike="noStrike">
              <a:solidFill>
                <a:srgbClr val="000000"/>
              </a:solidFill>
              <a:effectLst/>
              <a:uFillTx/>
              <a:latin typeface="Arial"/>
            </a:endParaRPr>
          </a:p>
        </p:txBody>
      </p:sp>
      <p:sp>
        <p:nvSpPr>
          <p:cNvPr id="2014" name="C 2014"/>
          <p:cNvSpPr/>
          <p:nvPr/>
        </p:nvSpPr>
        <p:spPr>
          <a:xfrm>
            <a:off x="220292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5" name="C 2015"/>
          <p:cNvSpPr/>
          <p:nvPr/>
        </p:nvSpPr>
        <p:spPr>
          <a:xfrm>
            <a:off x="3783946"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1,2</a:t>
            </a:r>
            <a:endParaRPr lang="en-US" sz="1100" b="0" u="none" strike="noStrike">
              <a:solidFill>
                <a:srgbClr val="000000"/>
              </a:solidFill>
              <a:effectLst/>
              <a:uFillTx/>
              <a:latin typeface="Arial"/>
            </a:endParaRPr>
          </a:p>
        </p:txBody>
      </p:sp>
      <p:sp>
        <p:nvSpPr>
          <p:cNvPr id="2016" name="C 2016"/>
          <p:cNvSpPr/>
          <p:nvPr/>
        </p:nvSpPr>
        <p:spPr>
          <a:xfrm>
            <a:off x="5364972"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7" name="C 2017"/>
          <p:cNvSpPr/>
          <p:nvPr/>
        </p:nvSpPr>
        <p:spPr>
          <a:xfrm>
            <a:off x="6945998"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18" name="C 2018"/>
          <p:cNvSpPr/>
          <p:nvPr/>
        </p:nvSpPr>
        <p:spPr>
          <a:xfrm>
            <a:off x="8527024"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a:t>
            </a:r>
            <a:endParaRPr lang="en-US" sz="1100" b="0" u="none" strike="noStrike">
              <a:solidFill>
                <a:srgbClr val="000000"/>
              </a:solidFill>
              <a:effectLst/>
              <a:uFillTx/>
              <a:latin typeface="Arial"/>
            </a:endParaRPr>
          </a:p>
        </p:txBody>
      </p:sp>
      <p:sp>
        <p:nvSpPr>
          <p:cNvPr id="2019" name="C 2019"/>
          <p:cNvSpPr/>
          <p:nvPr/>
        </p:nvSpPr>
        <p:spPr>
          <a:xfrm>
            <a:off x="10108050" y="192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1,4</a:t>
            </a:r>
            <a:endParaRPr lang="en-US" sz="1100" b="0" u="none" strike="noStrike">
              <a:solidFill>
                <a:srgbClr val="000000"/>
              </a:solidFill>
              <a:effectLst/>
              <a:uFillTx/>
              <a:latin typeface="Arial"/>
            </a:endParaRPr>
          </a:p>
        </p:txBody>
      </p:sp>
      <p:sp>
        <p:nvSpPr>
          <p:cNvPr id="2020" name="C 2020"/>
          <p:cNvSpPr/>
          <p:nvPr/>
        </p:nvSpPr>
        <p:spPr>
          <a:xfrm>
            <a:off x="502920" y="239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Optimal cost?</a:t>
            </a:r>
            <a:endParaRPr lang="en-US" sz="1100" b="0" u="none" strike="noStrike">
              <a:solidFill>
                <a:srgbClr val="000000"/>
              </a:solidFill>
              <a:effectLst/>
              <a:uFillTx/>
              <a:latin typeface="Arial"/>
            </a:endParaRPr>
          </a:p>
        </p:txBody>
      </p:sp>
      <p:sp>
        <p:nvSpPr>
          <p:cNvPr id="2021" name="C 2021"/>
          <p:cNvSpPr/>
          <p:nvPr/>
        </p:nvSpPr>
        <p:spPr>
          <a:xfrm>
            <a:off x="220292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2" name="C 2022"/>
          <p:cNvSpPr/>
          <p:nvPr/>
        </p:nvSpPr>
        <p:spPr>
          <a:xfrm>
            <a:off x="3783946"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endParaRPr lang="en-US" sz="1100" b="0" u="none" strike="noStrike">
              <a:solidFill>
                <a:srgbClr val="000000"/>
              </a:solidFill>
              <a:effectLst/>
              <a:uFillTx/>
              <a:latin typeface="Arial"/>
            </a:endParaRPr>
          </a:p>
        </p:txBody>
      </p:sp>
      <p:sp>
        <p:nvSpPr>
          <p:cNvPr id="2023" name="C 2023"/>
          <p:cNvSpPr/>
          <p:nvPr/>
        </p:nvSpPr>
        <p:spPr>
          <a:xfrm>
            <a:off x="5364972"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4" name="C 2024"/>
          <p:cNvSpPr/>
          <p:nvPr/>
        </p:nvSpPr>
        <p:spPr>
          <a:xfrm>
            <a:off x="6945998"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No</a:t>
            </a:r>
            <a:endParaRPr lang="en-US" sz="1100" b="0" u="none" strike="noStrike">
              <a:solidFill>
                <a:srgbClr val="000000"/>
              </a:solidFill>
              <a:effectLst/>
              <a:uFillTx/>
              <a:latin typeface="Arial"/>
            </a:endParaRPr>
          </a:p>
        </p:txBody>
      </p:sp>
      <p:sp>
        <p:nvSpPr>
          <p:cNvPr id="2025" name="C 2025"/>
          <p:cNvSpPr/>
          <p:nvPr/>
        </p:nvSpPr>
        <p:spPr>
          <a:xfrm>
            <a:off x="8527024"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a:t>
            </a:r>
            <a:endParaRPr lang="en-US" sz="1100" b="0" u="none" strike="noStrike">
              <a:solidFill>
                <a:srgbClr val="000000"/>
              </a:solidFill>
              <a:effectLst/>
              <a:uFillTx/>
              <a:latin typeface="Arial"/>
            </a:endParaRPr>
          </a:p>
        </p:txBody>
      </p:sp>
      <p:sp>
        <p:nvSpPr>
          <p:cNvPr id="2026" name="C 2026"/>
          <p:cNvSpPr/>
          <p:nvPr/>
        </p:nvSpPr>
        <p:spPr>
          <a:xfrm>
            <a:off x="10108050" y="239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Yes</a:t>
            </a:r>
            <a:r>
              <a:rPr lang="en-US" sz="950" b="0" u="none" strike="noStrike" baseline="30000" dirty="0">
                <a:solidFill>
                  <a:srgbClr val="102A4C"/>
                </a:solidFill>
                <a:effectLst/>
                <a:uFillTx/>
                <a:latin typeface="Aptos"/>
              </a:rPr>
              <a:t>3,4</a:t>
            </a:r>
            <a:endParaRPr lang="en-US" sz="1100" b="0" u="none" strike="noStrike">
              <a:solidFill>
                <a:srgbClr val="000000"/>
              </a:solidFill>
              <a:effectLst/>
              <a:uFillTx/>
              <a:latin typeface="Arial"/>
            </a:endParaRPr>
          </a:p>
        </p:txBody>
      </p:sp>
      <p:sp>
        <p:nvSpPr>
          <p:cNvPr id="2027" name="C 2027"/>
          <p:cNvSpPr/>
          <p:nvPr/>
        </p:nvSpPr>
        <p:spPr>
          <a:xfrm>
            <a:off x="502920" y="2860000"/>
            <a:ext cx="1700000"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Time</a:t>
            </a:r>
            <a:endParaRPr lang="en-US" sz="1100" b="0" u="none" strike="noStrike">
              <a:solidFill>
                <a:srgbClr val="000000"/>
              </a:solidFill>
              <a:effectLst/>
              <a:uFillTx/>
              <a:latin typeface="Arial"/>
            </a:endParaRPr>
          </a:p>
        </p:txBody>
      </p:sp>
      <p:sp>
        <p:nvSpPr>
          <p:cNvPr id="2028" name="C 2028"/>
          <p:cNvSpPr/>
          <p:nvPr/>
        </p:nvSpPr>
        <p:spPr>
          <a:xfrm>
            <a:off x="220292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29" name="C 2029"/>
          <p:cNvSpPr/>
          <p:nvPr/>
        </p:nvSpPr>
        <p:spPr>
          <a:xfrm>
            <a:off x="3783946"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0" name="C 2030"/>
          <p:cNvSpPr/>
          <p:nvPr/>
        </p:nvSpPr>
        <p:spPr>
          <a:xfrm>
            <a:off x="5364972"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1" name="C 2031"/>
          <p:cNvSpPr/>
          <p:nvPr/>
        </p:nvSpPr>
        <p:spPr>
          <a:xfrm>
            <a:off x="6945998"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2" name="C 2032"/>
          <p:cNvSpPr/>
          <p:nvPr/>
        </p:nvSpPr>
        <p:spPr>
          <a:xfrm>
            <a:off x="8527024"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3" name="C 2033"/>
          <p:cNvSpPr/>
          <p:nvPr/>
        </p:nvSpPr>
        <p:spPr>
          <a:xfrm>
            <a:off x="10108050" y="2860000"/>
            <a:ext cx="1581026" cy="470000"/>
          </a:xfrm>
          <a:prstGeom prst="rect">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4" name="C 2034"/>
          <p:cNvSpPr/>
          <p:nvPr/>
        </p:nvSpPr>
        <p:spPr>
          <a:xfrm>
            <a:off x="502920" y="3330000"/>
            <a:ext cx="1700000"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91440" tIns="91440" rIns="91440" bIns="91440" anchor="ctr">
            <a:noAutofit/>
          </a:bodyPr>
          <a:lstStyle/>
          <a:p>
            <a:pPr algn="l" defTabSz="914400">
              <a:lnSpc>
                <a:spcPct val="100000"/>
              </a:lnSpc>
              <a:buNone/>
            </a:pPr>
            <a:r>
              <a:rPr lang="en-US" sz="1000" b="1" u="none" strike="noStrike" dirty="0">
                <a:solidFill>
                  <a:srgbClr val="112E5C"/>
                </a:solidFill>
                <a:effectLst/>
                <a:uFillTx/>
                <a:latin typeface="Aptos"/>
              </a:rPr>
              <a:t>Space</a:t>
            </a:r>
            <a:endParaRPr lang="en-US" sz="1100" b="0" u="none" strike="noStrike">
              <a:solidFill>
                <a:srgbClr val="000000"/>
              </a:solidFill>
              <a:effectLst/>
              <a:uFillTx/>
              <a:latin typeface="Arial"/>
            </a:endParaRPr>
          </a:p>
        </p:txBody>
      </p:sp>
      <p:sp>
        <p:nvSpPr>
          <p:cNvPr id="2035" name="C 2035"/>
          <p:cNvSpPr/>
          <p:nvPr/>
        </p:nvSpPr>
        <p:spPr>
          <a:xfrm>
            <a:off x="220292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6" name="C 2036"/>
          <p:cNvSpPr/>
          <p:nvPr/>
        </p:nvSpPr>
        <p:spPr>
          <a:xfrm>
            <a:off x="3783946"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1+⌊C*/ε⌋</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37" name="C 2037"/>
          <p:cNvSpPr/>
          <p:nvPr/>
        </p:nvSpPr>
        <p:spPr>
          <a:xfrm>
            <a:off x="5364972"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O(bm)</a:t>
            </a:r>
            <a:endParaRPr lang="en-US" sz="1100" b="0" u="none" strike="noStrike">
              <a:solidFill>
                <a:srgbClr val="000000"/>
              </a:solidFill>
              <a:effectLst/>
              <a:uFillTx/>
              <a:latin typeface="Arial"/>
            </a:endParaRPr>
          </a:p>
        </p:txBody>
      </p:sp>
      <p:sp>
        <p:nvSpPr>
          <p:cNvPr id="2038" name="C 2038"/>
          <p:cNvSpPr/>
          <p:nvPr/>
        </p:nvSpPr>
        <p:spPr>
          <a:xfrm>
            <a:off x="6945998"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O(bℓ)</a:t>
            </a:r>
            <a:endParaRPr lang="en-US" sz="1100" b="0" u="none" strike="noStrike">
              <a:solidFill>
                <a:srgbClr val="000000"/>
              </a:solidFill>
              <a:effectLst/>
              <a:uFillTx/>
              <a:latin typeface="Arial"/>
            </a:endParaRPr>
          </a:p>
        </p:txBody>
      </p:sp>
      <p:sp>
        <p:nvSpPr>
          <p:cNvPr id="2039" name="C 2039"/>
          <p:cNvSpPr/>
          <p:nvPr/>
        </p:nvSpPr>
        <p:spPr>
          <a:xfrm>
            <a:off x="8527024"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O(bd)</a:t>
            </a:r>
            <a:endParaRPr lang="en-US" sz="1100" b="0" u="none" strike="noStrike">
              <a:solidFill>
                <a:srgbClr val="000000"/>
              </a:solidFill>
              <a:effectLst/>
              <a:uFillTx/>
              <a:latin typeface="Arial"/>
            </a:endParaRPr>
          </a:p>
        </p:txBody>
      </p:sp>
      <p:sp>
        <p:nvSpPr>
          <p:cNvPr id="2040" name="C 2040"/>
          <p:cNvSpPr/>
          <p:nvPr/>
        </p:nvSpPr>
        <p:spPr>
          <a:xfrm>
            <a:off x="10108050" y="3330000"/>
            <a:ext cx="1581026" cy="470000"/>
          </a:xfrm>
          <a:prstGeom prst="rect">
            <a:avLst/>
          </a:prstGeom>
          <a:solidFill>
            <a:srgbClr val="F7F9FC"/>
          </a:solidFill>
          <a:ln w="12700">
            <a:solidFill>
              <a:srgbClr val="D8DEE8"/>
            </a:solidFill>
          </a:ln>
        </p:spPr>
        <p:style>
          <a:lnRef idx="1">
            <a:schemeClr val="accent1"/>
          </a:lnRef>
          <a:fillRef idx="3">
            <a:schemeClr val="accent1"/>
          </a:fillRef>
          <a:effectRef idx="2">
            <a:schemeClr val="accent1"/>
          </a:effectRef>
          <a:fontRef idx="minor"/>
        </p:style>
        <p:txBody>
          <a:bodyPr lIns="45720" tIns="45720" rIns="45720" bIns="45720" anchor="ctr">
            <a:noAutofit/>
          </a:bodyPr>
          <a:lstStyle/>
          <a:p>
            <a:pPr algn="ctr" defTabSz="914400">
              <a:lnSpc>
                <a:spcPct val="100000"/>
              </a:lnSpc>
              <a:buNone/>
            </a:pPr>
            <a:r>
              <a:rPr lang="en-US" sz="950" b="0" u="none" strike="noStrike" dirty="0">
                <a:solidFill>
                  <a:srgbClr val="102A4C"/>
                </a:solidFill>
                <a:effectLst/>
                <a:uFillTx/>
                <a:latin typeface="Aptos"/>
              </a:rPr>
              <a:t>O(b</a:t>
            </a:r>
            <a:r>
              <a:rPr lang="en-US" sz="950" b="0" u="none" strike="noStrike" baseline="30000" dirty="0">
                <a:solidFill>
                  <a:srgbClr val="102A4C"/>
                </a:solidFill>
                <a:effectLst/>
                <a:uFillTx/>
                <a:latin typeface="Aptos"/>
              </a:rPr>
              <a:t>d/2</a:t>
            </a:r>
            <a:r>
              <a:rPr lang="en-US" sz="950" b="0" u="none" strike="noStrike" dirty="0">
                <a:solidFill>
                  <a:srgbClr val="102A4C"/>
                </a:solidFill>
                <a:effectLst/>
                <a:uFillTx/>
                <a:latin typeface="Aptos"/>
              </a:rPr>
              <a:t>)</a:t>
            </a:r>
            <a:endParaRPr lang="en-US" sz="1100" b="0" u="none" strike="noStrike">
              <a:solidFill>
                <a:srgbClr val="000000"/>
              </a:solidFill>
              <a:effectLst/>
              <a:uFillTx/>
              <a:latin typeface="Arial"/>
            </a:endParaRPr>
          </a:p>
        </p:txBody>
      </p:sp>
      <p:sp>
        <p:nvSpPr>
          <p:cNvPr id="2041" name="FN 2041"/>
          <p:cNvSpPr/>
          <p:nvPr/>
        </p:nvSpPr>
        <p:spPr>
          <a:xfrm>
            <a:off x="502920" y="4000000"/>
            <a:ext cx="11186160" cy="113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42" name="Text 2042"/>
          <p:cNvSpPr/>
          <p:nvPr/>
        </p:nvSpPr>
        <p:spPr>
          <a:xfrm>
            <a:off x="708660" y="4150000"/>
            <a:ext cx="10774680" cy="8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spcAft>
                <a:spcPts val="280"/>
              </a:spcAft>
              <a:buNone/>
            </a:pPr>
            <a:r>
              <a:rPr lang="en-US" sz="950" b="1" u="none" strike="noStrike" dirty="0">
                <a:solidFill>
                  <a:srgbClr val="112E5C"/>
                </a:solidFill>
                <a:effectLst/>
                <a:uFillTx/>
                <a:latin typeface="Aptos"/>
              </a:rPr>
              <a:t>b</a:t>
            </a:r>
            <a:r>
              <a:rPr lang="en-US" sz="950" b="0" u="none" strike="noStrike" dirty="0">
                <a:solidFill>
                  <a:srgbClr val="5C6B80"/>
                </a:solidFill>
                <a:effectLst/>
                <a:uFillTx/>
                <a:latin typeface="Aptos"/>
              </a:rPr>
              <a:t> = branching factor    </a:t>
            </a:r>
            <a:r>
              <a:rPr lang="en-US" sz="950" b="1" u="none" strike="noStrike" dirty="0">
                <a:solidFill>
                  <a:srgbClr val="112E5C"/>
                </a:solidFill>
                <a:effectLst/>
                <a:uFillTx/>
                <a:latin typeface="Aptos"/>
              </a:rPr>
              <a:t>d</a:t>
            </a:r>
            <a:r>
              <a:rPr lang="en-US" sz="950" b="0" u="none" strike="noStrike" dirty="0">
                <a:solidFill>
                  <a:srgbClr val="5C6B80"/>
                </a:solidFill>
                <a:effectLst/>
                <a:uFillTx/>
                <a:latin typeface="Aptos"/>
              </a:rPr>
              <a:t> = depth of the shallowest solution    </a:t>
            </a:r>
            <a:r>
              <a:rPr lang="en-US" sz="950" b="1" u="none" strike="noStrike" dirty="0">
                <a:solidFill>
                  <a:srgbClr val="112E5C"/>
                </a:solidFill>
                <a:effectLst/>
                <a:uFillTx/>
                <a:latin typeface="Aptos"/>
              </a:rPr>
              <a:t>m</a:t>
            </a:r>
            <a:r>
              <a:rPr lang="en-US" sz="950" b="0" u="none" strike="noStrike" dirty="0">
                <a:solidFill>
                  <a:srgbClr val="5C6B80"/>
                </a:solidFill>
                <a:effectLst/>
                <a:uFillTx/>
                <a:latin typeface="Aptos"/>
              </a:rPr>
              <a:t> = maximum depth of the search tree    </a:t>
            </a:r>
            <a:r>
              <a:rPr lang="en-US" sz="950" b="1" u="none" strike="noStrike" dirty="0">
                <a:solidFill>
                  <a:srgbClr val="112E5C"/>
                </a:solidFill>
                <a:effectLst/>
                <a:uFillTx/>
                <a:latin typeface="Aptos"/>
              </a:rPr>
              <a:t>ℓ</a:t>
            </a:r>
            <a:r>
              <a:rPr lang="en-US" sz="950" b="0" u="none" strike="noStrike" dirty="0">
                <a:solidFill>
                  <a:srgbClr val="5C6B80"/>
                </a:solidFill>
                <a:effectLst/>
                <a:uFillTx/>
                <a:latin typeface="Aptos"/>
              </a:rPr>
              <a:t> = the depth limit</a:t>
            </a:r>
            <a:endParaRPr lang="en-US" sz="1100" b="0" u="none" strike="noStrike">
              <a:solidFill>
                <a:srgbClr val="000000"/>
              </a:solidFill>
              <a:effectLst/>
              <a:uFillTx/>
              <a:latin typeface="Arial"/>
            </a:endParaRPr>
          </a:p>
          <a:p>
            <a:pPr algn="l" defTabSz="914400">
              <a:lnSpc>
                <a:spcPct val="100000"/>
              </a:lnSpc>
              <a:spcAft>
                <a:spcPts val="200"/>
              </a:spcAft>
              <a:buNone/>
            </a:pPr>
            <a:r>
              <a:rPr lang="en-US" sz="900" b="1" u="none" strike="noStrike" baseline="30000" dirty="0">
                <a:solidFill>
                  <a:srgbClr val="9B1C1C"/>
                </a:solidFill>
                <a:effectLst/>
                <a:uFillTx/>
                <a:latin typeface="Aptos"/>
              </a:rPr>
              <a:t>1</a:t>
            </a:r>
            <a:r>
              <a:rPr lang="en-US" sz="900" b="0" u="none" strike="noStrike" dirty="0">
                <a:solidFill>
                  <a:srgbClr val="102A4C"/>
                </a:solidFill>
                <a:effectLst/>
                <a:uFillTx/>
                <a:latin typeface="Aptos"/>
              </a:rPr>
              <a:t> complete if b is finite, and the state space either has a solution or is finite        </a:t>
            </a:r>
            <a:r>
              <a:rPr lang="en-US" sz="900" b="1" u="none" strike="noStrike" baseline="30000" dirty="0">
                <a:solidFill>
                  <a:srgbClr val="9B1C1C"/>
                </a:solidFill>
                <a:effectLst/>
                <a:uFillTx/>
                <a:latin typeface="Aptos"/>
              </a:rPr>
              <a:t>2</a:t>
            </a:r>
            <a:r>
              <a:rPr lang="en-US" sz="900" b="0" u="none" strike="noStrike" dirty="0">
                <a:solidFill>
                  <a:srgbClr val="102A4C"/>
                </a:solidFill>
                <a:effectLst/>
                <a:uFillTx/>
                <a:latin typeface="Aptos"/>
              </a:rPr>
              <a:t> complete if all action costs are ≥ ε &gt; 0</a:t>
            </a:r>
            <a:endParaRPr lang="en-US" sz="1100" b="0" u="none" strike="noStrike">
              <a:solidFill>
                <a:srgbClr val="000000"/>
              </a:solidFill>
              <a:effectLst/>
              <a:uFillTx/>
              <a:latin typeface="Arial"/>
            </a:endParaRPr>
          </a:p>
          <a:p>
            <a:pPr algn="l" defTabSz="914400">
              <a:lnSpc>
                <a:spcPct val="100000"/>
              </a:lnSpc>
              <a:buNone/>
            </a:pPr>
            <a:r>
              <a:rPr lang="en-US" sz="900" b="1" u="none" strike="noStrike" baseline="30000" dirty="0">
                <a:solidFill>
                  <a:srgbClr val="9B1C1C"/>
                </a:solidFill>
                <a:effectLst/>
                <a:uFillTx/>
                <a:latin typeface="Aptos"/>
              </a:rPr>
              <a:t>3</a:t>
            </a:r>
            <a:r>
              <a:rPr lang="en-US" sz="900" b="0" u="none" strike="noStrike" dirty="0">
                <a:solidFill>
                  <a:srgbClr val="102A4C"/>
                </a:solidFill>
                <a:effectLst/>
                <a:uFillTx/>
                <a:latin typeface="Aptos"/>
              </a:rPr>
              <a:t> cost-optimal if action costs are all identical        </a:t>
            </a:r>
            <a:r>
              <a:rPr lang="en-US" sz="900" b="1" u="none" strike="noStrike" baseline="30000" dirty="0">
                <a:solidFill>
                  <a:srgbClr val="9B1C1C"/>
                </a:solidFill>
                <a:effectLst/>
                <a:uFillTx/>
                <a:latin typeface="Aptos"/>
              </a:rPr>
              <a:t>4</a:t>
            </a:r>
            <a:r>
              <a:rPr lang="en-US" sz="900" b="0" u="none" strike="noStrike" dirty="0">
                <a:solidFill>
                  <a:srgbClr val="102A4C"/>
                </a:solidFill>
                <a:effectLst/>
                <a:uFillTx/>
                <a:latin typeface="Aptos"/>
              </a:rPr>
              <a:t> if both directions are breadth-first or uniform-cost</a:t>
            </a:r>
            <a:endParaRPr lang="en-US" sz="1100" b="0" u="none" strike="noStrike">
              <a:solidFill>
                <a:srgbClr val="000000"/>
              </a:solidFill>
              <a:effectLst/>
              <a:uFillTx/>
              <a:latin typeface="Arial"/>
            </a:endParaRPr>
          </a:p>
        </p:txBody>
      </p:sp>
      <p:sp>
        <p:nvSpPr>
          <p:cNvPr id="2043" name="Banner 2043"/>
          <p:cNvSpPr/>
          <p:nvPr/>
        </p:nvSpPr>
        <p:spPr>
          <a:xfrm>
            <a:off x="502920" y="5240000"/>
            <a:ext cx="11186160" cy="980000"/>
          </a:xfrm>
          <a:prstGeom prst="roundRect">
            <a:avLst>
              <a:gd name="adj" fmla="val 3000"/>
            </a:avLst>
          </a:prstGeom>
          <a:solidFill>
            <a:srgbClr val="FFE5B6"/>
          </a:solidFill>
          <a:ln w="12700">
            <a:solidFill>
              <a:srgbClr val="FFE5B6"/>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spcAft>
                <a:spcPts val="200"/>
              </a:spcAft>
              <a:buNone/>
            </a:pPr>
            <a:r>
              <a:rPr lang="en-US" sz="1100" b="1" u="none" strike="noStrike" dirty="0">
                <a:solidFill>
                  <a:srgbClr val="102A4C"/>
                </a:solidFill>
                <a:effectLst/>
                <a:uFillTx/>
                <a:latin typeface="Aptos"/>
              </a:rPr>
              <a:t>These entries are for the tree-like versions, which do not check for repeated states.</a:t>
            </a:r>
            <a:endParaRPr lang="en-US" sz="1100" b="0" u="none" strike="noStrike">
              <a:solidFill>
                <a:srgbClr val="000000"/>
              </a:solidFill>
              <a:effectLst/>
              <a:uFillTx/>
              <a:latin typeface="Arial"/>
            </a:endParaRPr>
          </a:p>
          <a:p>
            <a:pPr algn="l" defTabSz="914400">
              <a:lnSpc>
                <a:spcPct val="100000"/>
              </a:lnSpc>
              <a:buNone/>
            </a:pPr>
            <a:r>
              <a:rPr lang="en-US" sz="1000" b="0" u="none" strike="noStrike" dirty="0">
                <a:solidFill>
                  <a:srgbClr val="5C6B80"/>
                </a:solidFill>
                <a:effectLst/>
                <a:uFillTx/>
                <a:latin typeface="Aptos"/>
              </a:rPr>
              <a:t>Add a reached table and the table changes: depth-first search becomes complete on finite state spaces, and time and space are bounded by the size of the state space, |V| + |E|, rather than by b and m.</a:t>
            </a:r>
            <a:endParaRPr lang="en-US" sz="1100" b="0" u="none" strike="noStrike">
              <a:solidFill>
                <a:srgbClr val="000000"/>
              </a:solidFill>
              <a:effectLst/>
              <a:uFillTx/>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2001" name="HeaderBar 200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2" name="AccentBar 200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3" name="Title 200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2600" b="1" u="none" strike="noStrike" dirty="0">
                <a:solidFill>
                  <a:srgbClr val="FFFFFF"/>
                </a:solidFill>
                <a:effectLst/>
                <a:uFillTx/>
                <a:latin typeface="Aptos"/>
              </a:rPr>
              <a:t>Reading Figure 3.15: Where Each Entry Comes From</a:t>
            </a:r>
            <a:endParaRPr lang="en-US" sz="1100" b="0" u="none" strike="noStrike">
              <a:solidFill>
                <a:srgbClr val="000000"/>
              </a:solidFill>
              <a:effectLst/>
              <a:uFillTx/>
              <a:latin typeface="Arial"/>
            </a:endParaRPr>
          </a:p>
        </p:txBody>
      </p:sp>
      <p:sp>
        <p:nvSpPr>
          <p:cNvPr id="2004" name="FooterL 200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l" defTabSz="914400">
              <a:lnSpc>
                <a:spcPct val="100000"/>
              </a:lnSpc>
              <a:buNone/>
            </a:pPr>
            <a:r>
              <a:rPr lang="en-US" sz="850" b="0" u="none" strike="noStrike" dirty="0">
                <a:solidFill>
                  <a:srgbClr val="5C6B80"/>
                </a:solidFill>
                <a:effectLst/>
                <a:uFillTx/>
                <a:latin typeface="Aptos"/>
              </a:rPr>
              <a:t>CSU Channel Islands · Department of Computer Science</a:t>
            </a:r>
            <a:endParaRPr lang="en-US" sz="1100" b="0" u="none" strike="noStrike">
              <a:solidFill>
                <a:srgbClr val="000000"/>
              </a:solidFill>
              <a:effectLst/>
              <a:uFillTx/>
              <a:latin typeface="Arial"/>
            </a:endParaRPr>
          </a:p>
        </p:txBody>
      </p:sp>
      <p:sp>
        <p:nvSpPr>
          <p:cNvPr id="2005" name="FooterR 200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ctr">
            <a:noAutofit/>
          </a:bodyPr>
          <a:lstStyle/>
          <a:p>
            <a:pPr algn="r" defTabSz="914400">
              <a:lnSpc>
                <a:spcPct val="100000"/>
              </a:lnSpc>
              <a:buNone/>
            </a:pPr>
            <a:r>
              <a:rPr lang="en-US" sz="850" b="0" u="none" strike="noStrike" dirty="0">
                <a:solidFill>
                  <a:srgbClr val="5C6B80"/>
                </a:solidFill>
                <a:effectLst/>
                <a:uFillTx/>
                <a:latin typeface="Aptos"/>
              </a:rPr>
              <a:t>COMP 469 · Chapter 3 · Sections 3.1-3.4</a:t>
            </a:r>
            <a:endParaRPr lang="en-US" sz="1100" b="0" u="none" strike="noStrike">
              <a:solidFill>
                <a:srgbClr val="000000"/>
              </a:solidFill>
              <a:effectLst/>
              <a:uFillTx/>
              <a:latin typeface="Arial"/>
            </a:endParaRPr>
          </a:p>
        </p:txBody>
      </p:sp>
      <p:sp>
        <p:nvSpPr>
          <p:cNvPr id="2006" name="NoteCard 2006"/>
          <p:cNvSpPr/>
          <p:nvPr/>
        </p:nvSpPr>
        <p:spPr>
          <a:xfrm>
            <a:off x="50292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07" name="CardHead 2007"/>
          <p:cNvSpPr/>
          <p:nvPr/>
        </p:nvSpPr>
        <p:spPr>
          <a:xfrm>
            <a:off x="70866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Every entry falls out of the frontier rule</a:t>
            </a:r>
            <a:endParaRPr lang="en-US" sz="1100" b="0" u="none" strike="noStrike">
              <a:solidFill>
                <a:srgbClr val="000000"/>
              </a:solidFill>
              <a:effectLst/>
              <a:uFillTx/>
              <a:latin typeface="Arial"/>
            </a:endParaRPr>
          </a:p>
        </p:txBody>
      </p:sp>
      <p:sp>
        <p:nvSpPr>
          <p:cNvPr id="2008" name="CardBody 2008"/>
          <p:cNvSpPr/>
          <p:nvPr/>
        </p:nvSpPr>
        <p:spPr>
          <a:xfrm>
            <a:off x="70866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BFS pops the </a:t>
            </a:r>
            <a:r>
              <a:rPr lang="en-US" sz="950" b="1" u="none" strike="noStrike" dirty="0">
                <a:solidFill>
                  <a:srgbClr val="102A4C"/>
                </a:solidFill>
                <a:effectLst/>
                <a:uFillTx/>
                <a:latin typeface="Aptos"/>
              </a:rPr>
              <a:t>oldest</a:t>
            </a:r>
            <a:r>
              <a:rPr lang="en-US" sz="950" b="0" u="none" strike="noStrike" dirty="0">
                <a:solidFill>
                  <a:srgbClr val="102A4C"/>
                </a:solidFill>
                <a:effectLst/>
                <a:uFillTx/>
                <a:latin typeface="Aptos"/>
              </a:rPr>
              <a:t> node, so it holds a whole tier — O(b</a:t>
            </a:r>
            <a:r>
              <a:rPr lang="en-US" sz="950" b="0" u="none" strike="noStrike" baseline="30000" dirty="0">
                <a:solidFill>
                  <a:srgbClr val="102A4C"/>
                </a:solidFill>
                <a:effectLst/>
                <a:uFillTx/>
                <a:latin typeface="Aptos"/>
              </a:rPr>
              <a:t>d</a:t>
            </a:r>
            <a:r>
              <a:rPr lang="en-US" sz="950" b="0" u="none" strike="noStrike" dirty="0">
                <a:solidFill>
                  <a:srgbClr val="102A4C"/>
                </a:solidFill>
                <a:effectLst/>
                <a:uFillTx/>
                <a:latin typeface="Aptos"/>
              </a:rPr>
              <a:t>) space.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pops the </a:t>
            </a:r>
            <a:r>
              <a:rPr lang="en-US" sz="950" b="1" u="none" strike="noStrike" dirty="0">
                <a:solidFill>
                  <a:srgbClr val="102A4C"/>
                </a:solidFill>
                <a:effectLst/>
                <a:uFillTx/>
                <a:latin typeface="Aptos"/>
              </a:rPr>
              <a:t>newest</a:t>
            </a:r>
            <a:r>
              <a:rPr lang="en-US" sz="950" b="0" u="none" strike="noStrike" dirty="0">
                <a:solidFill>
                  <a:srgbClr val="102A4C"/>
                </a:solidFill>
                <a:effectLst/>
                <a:uFillTx/>
                <a:latin typeface="Aptos"/>
              </a:rPr>
              <a:t>, so it holds one path and its siblings — O(bm).</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IDS reruns DFS with growing limits, buying BFS's order at DFS's memory.</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Nothing here needs memorising if you can say which node the frontier hands back next.</a:t>
            </a:r>
            <a:endParaRPr lang="en-US" sz="950" b="0" u="none" strike="noStrike">
              <a:solidFill>
                <a:srgbClr val="000000"/>
              </a:solidFill>
              <a:effectLst/>
              <a:uFillTx/>
              <a:latin typeface="Arial"/>
            </a:endParaRPr>
          </a:p>
        </p:txBody>
      </p:sp>
      <p:sp>
        <p:nvSpPr>
          <p:cNvPr id="2009" name="NoteCard 2009"/>
          <p:cNvSpPr/>
          <p:nvPr/>
        </p:nvSpPr>
        <p:spPr>
          <a:xfrm>
            <a:off x="432308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0" name="CardHead 2010"/>
          <p:cNvSpPr/>
          <p:nvPr/>
        </p:nvSpPr>
        <p:spPr>
          <a:xfrm>
            <a:off x="452882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Two pairs that look alike and are not</a:t>
            </a:r>
            <a:endParaRPr lang="en-US" sz="1100" b="0" u="none" strike="noStrike">
              <a:solidFill>
                <a:srgbClr val="000000"/>
              </a:solidFill>
              <a:effectLst/>
              <a:uFillTx/>
              <a:latin typeface="Arial"/>
            </a:endParaRPr>
          </a:p>
        </p:txBody>
      </p:sp>
      <p:sp>
        <p:nvSpPr>
          <p:cNvPr id="2011" name="CardBody 2011"/>
          <p:cNvSpPr/>
          <p:nvPr/>
        </p:nvSpPr>
        <p:spPr>
          <a:xfrm>
            <a:off x="452882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DFS time O(b</a:t>
            </a:r>
            <a:r>
              <a:rPr lang="en-US" sz="950" b="0" u="none" strike="noStrike" baseline="30000" dirty="0">
                <a:solidFill>
                  <a:srgbClr val="102A4C"/>
                </a:solidFill>
                <a:effectLst/>
                <a:uFillTx/>
                <a:latin typeface="Aptos"/>
              </a:rPr>
              <a:t>m</a:t>
            </a:r>
            <a:r>
              <a:rPr lang="en-US" sz="950" b="0" u="none" strike="noStrike" dirty="0">
                <a:solidFill>
                  <a:srgbClr val="102A4C"/>
                </a:solidFill>
                <a:effectLst/>
                <a:uFillTx/>
                <a:latin typeface="Aptos"/>
              </a:rPr>
              <a:t>): m is the deepest path in the tree, and may be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DLS time O(b</a:t>
            </a:r>
            <a:r>
              <a:rPr lang="en-US" sz="950" b="0" u="none" strike="noStrike" baseline="30000" dirty="0">
                <a:solidFill>
                  <a:srgbClr val="102A4C"/>
                </a:solidFill>
                <a:effectLst/>
                <a:uFillTx/>
                <a:latin typeface="Aptos"/>
              </a:rPr>
              <a:t>ℓ</a:t>
            </a:r>
            <a:r>
              <a:rPr lang="en-US" sz="950" b="0" u="none" strike="noStrike" dirty="0">
                <a:solidFill>
                  <a:srgbClr val="102A4C"/>
                </a:solidFill>
                <a:effectLst/>
                <a:uFillTx/>
                <a:latin typeface="Aptos"/>
              </a:rPr>
              <a:t>): ℓ is the limit </a:t>
            </a:r>
            <a:r>
              <a:rPr lang="en-US" sz="950" b="1" u="none" strike="noStrike" dirty="0">
                <a:solidFill>
                  <a:srgbClr val="102A4C"/>
                </a:solidFill>
                <a:effectLst/>
                <a:uFillTx/>
                <a:latin typeface="Aptos"/>
              </a:rPr>
              <a:t>you</a:t>
            </a:r>
            <a:r>
              <a:rPr lang="en-US" sz="950" b="0" u="none" strike="noStrike" dirty="0">
                <a:solidFill>
                  <a:srgbClr val="102A4C"/>
                </a:solidFill>
                <a:effectLst/>
                <a:uFillTx/>
                <a:latin typeface="Aptos"/>
              </a:rPr>
              <a:t> chose — a bound you bought, possibly with a cutoff attached.</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1" u="none" strike="noStrike" dirty="0">
                <a:solidFill>
                  <a:srgbClr val="9B1C1C"/>
                </a:solidFill>
                <a:effectLst/>
                <a:uFillTx/>
                <a:latin typeface="Aptos"/>
              </a:rPr>
              <a:t>IDS space is O(bd), not O(b</a:t>
            </a:r>
            <a:r>
              <a:rPr lang="en-US" sz="950" b="1" u="none" strike="noStrike" baseline="30000" dirty="0">
                <a:solidFill>
                  <a:srgbClr val="9B1C1C"/>
                </a:solidFill>
                <a:effectLst/>
                <a:uFillTx/>
                <a:latin typeface="Aptos"/>
              </a:rPr>
              <a:t>d</a:t>
            </a:r>
            <a:r>
              <a:rPr lang="en-US" sz="950" b="0" u="none" strike="noStrike" dirty="0">
                <a:solidFill>
                  <a:srgbClr val="102A4C"/>
                </a:solidFill>
                <a:effectLst/>
                <a:uFillTx/>
                <a:latin typeface="Aptos"/>
              </a:rPr>
              <a:t>). Linear, not exponential — the whole reason IDS exists.</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dirty="0">
                <a:solidFill>
                  <a:srgbClr val="102A4C"/>
                </a:solidFill>
                <a:effectLst/>
                <a:uFillTx/>
                <a:latin typeface="Aptos"/>
              </a:rPr>
              <a:t>UCS is written in C* and ε, not d, because with unequal costs depth measures nothing.</a:t>
            </a:r>
            <a:endParaRPr lang="en-US" sz="950" b="0" u="none" strike="noStrike">
              <a:solidFill>
                <a:srgbClr val="000000"/>
              </a:solidFill>
              <a:effectLst/>
              <a:uFillTx/>
              <a:latin typeface="Arial"/>
            </a:endParaRPr>
          </a:p>
        </p:txBody>
      </p:sp>
      <p:sp>
        <p:nvSpPr>
          <p:cNvPr id="2012" name="NoteCard 2012"/>
          <p:cNvSpPr/>
          <p:nvPr/>
        </p:nvSpPr>
        <p:spPr>
          <a:xfrm>
            <a:off x="8143240" y="1240000"/>
            <a:ext cx="3545840" cy="332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0" tIns="0" rIns="0" bIns="0" anchor="t">
            <a:noAutofit/>
          </a:bodyPr>
          <a:lstStyle/>
          <a:p>
            <a:endParaRPr lang="en-US" sz="1200" b="0" u="none" strike="noStrike">
              <a:solidFill>
                <a:srgbClr val="000000"/>
              </a:solidFill>
              <a:effectLst/>
              <a:uFillTx/>
              <a:latin typeface="Aptos"/>
            </a:endParaRPr>
          </a:p>
        </p:txBody>
      </p:sp>
      <p:sp>
        <p:nvSpPr>
          <p:cNvPr id="2013" name="CardHead 2013"/>
          <p:cNvSpPr/>
          <p:nvPr/>
        </p:nvSpPr>
        <p:spPr>
          <a:xfrm>
            <a:off x="8348980" y="1377160"/>
            <a:ext cx="3134360" cy="23000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algn="l" defTabSz="914400">
              <a:lnSpc>
                <a:spcPct val="100000"/>
              </a:lnSpc>
              <a:buNone/>
            </a:pPr>
            <a:r>
              <a:rPr lang="en-US" sz="1150" b="1" u="none" strike="noStrike" dirty="0">
                <a:solidFill>
                  <a:srgbClr val="112E5C"/>
                </a:solidFill>
                <a:effectLst/>
                <a:uFillTx/>
                <a:latin typeface="Aptos"/>
              </a:rPr>
              <a:t>The superscripts are the exam questions</a:t>
            </a:r>
            <a:endParaRPr lang="en-US" sz="1100" b="0" u="none" strike="noStrike">
              <a:solidFill>
                <a:srgbClr val="000000"/>
              </a:solidFill>
              <a:effectLst/>
              <a:uFillTx/>
              <a:latin typeface="Arial"/>
            </a:endParaRPr>
          </a:p>
        </p:txBody>
      </p:sp>
      <p:sp>
        <p:nvSpPr>
          <p:cNvPr id="2014" name="CardBody 2014"/>
          <p:cNvSpPr/>
          <p:nvPr/>
        </p:nvSpPr>
        <p:spPr>
          <a:xfrm>
            <a:off x="8348980" y="1707160"/>
            <a:ext cx="3134360" cy="271568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1</a:t>
            </a:r>
            <a:r>
              <a:rPr lang="en-US" sz="950" b="0" u="none" strike="noStrike" dirty="0">
                <a:solidFill>
                  <a:srgbClr val="102A4C"/>
                </a:solidFill>
                <a:effectLst/>
                <a:uFillTx/>
                <a:latin typeface="Aptos"/>
              </a:rPr>
              <a:t>  Nothing is complete when the branching factor is infinite.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2</a:t>
            </a:r>
            <a:r>
              <a:rPr lang="en-US" sz="950" b="0" u="none" strike="noStrike" dirty="0">
                <a:solidFill>
                  <a:srgbClr val="102A4C"/>
                </a:solidFill>
                <a:effectLst/>
                <a:uFillTx/>
                <a:latin typeface="Aptos"/>
              </a:rPr>
              <a:t>  UCS needs a positive floor ε on action costs, or near-zero steps defeat it.</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3</a:t>
            </a:r>
            <a:r>
              <a:rPr lang="en-US" sz="950" b="0" u="none" strike="noStrike" dirty="0">
                <a:solidFill>
                  <a:srgbClr val="102A4C"/>
                </a:solidFill>
                <a:effectLst/>
                <a:uFillTx/>
                <a:latin typeface="Aptos"/>
              </a:rPr>
              <a:t>  BFS and IDS are cost-optimal only for unit costs. UCS carries no such footnote.</a:t>
            </a:r>
            <a:endParaRPr lang="en-US" sz="950" b="0" u="none" strike="noStrike">
              <a:solidFill>
                <a:srgbClr val="000000"/>
              </a:solidFill>
              <a:effectLst/>
              <a:uFillTx/>
              <a:latin typeface="Arial"/>
            </a:endParaRPr>
          </a:p>
          <a:p>
            <a:pPr marL="137160" indent="-137160" algn="l" defTabSz="914400">
              <a:lnSpc>
                <a:spcPct val="104000"/>
              </a:lnSpc>
              <a:spcAft>
                <a:spcPts val="380"/>
              </a:spcAft>
              <a:buNone/>
            </a:pPr>
            <a:r>
              <a:rPr lang="en-US" sz="950" b="1" u="none" strike="noStrike" dirty="0">
                <a:solidFill>
                  <a:srgbClr val="F6A01A"/>
                </a:solidFill>
                <a:effectLst/>
                <a:uFillTx/>
                <a:latin typeface="Aptos"/>
              </a:rPr>
              <a:t>• </a:t>
            </a:r>
            <a:r>
              <a:rPr lang="en-US" sz="950" b="0" u="none" strike="noStrike" baseline="30000" dirty="0">
                <a:solidFill>
                  <a:srgbClr val="102A4C"/>
                </a:solidFill>
                <a:effectLst/>
                <a:uFillTx/>
                <a:latin typeface="Aptos"/>
              </a:rPr>
              <a:t>4</a:t>
            </a:r>
            <a:r>
              <a:rPr lang="en-US" sz="950" b="0" u="none" strike="noStrike" dirty="0">
                <a:solidFill>
                  <a:srgbClr val="102A4C"/>
                </a:solidFill>
                <a:effectLst/>
                <a:uFillTx/>
                <a:latin typeface="Aptos"/>
              </a:rPr>
              <a:t>  Bidirectional inherits its guarantees only if both halves are BFS or UCS.</a:t>
            </a:r>
            <a:endParaRPr lang="en-US" sz="950" b="0" u="none" strike="noStrike">
              <a:solidFill>
                <a:srgbClr val="000000"/>
              </a:solidFill>
              <a:effectLst/>
              <a:uFillTx/>
              <a:latin typeface="Arial"/>
            </a:endParaRPr>
          </a:p>
        </p:txBody>
      </p:sp>
      <p:sp>
        <p:nvSpPr>
          <p:cNvPr id="2015" name="Banner 2015"/>
          <p:cNvSpPr/>
          <p:nvPr/>
        </p:nvSpPr>
        <p:spPr>
          <a:xfrm>
            <a:off x="502920" y="4700000"/>
            <a:ext cx="11186160" cy="740000"/>
          </a:xfrm>
          <a:prstGeom prst="roundRect">
            <a:avLst>
              <a:gd name="adj" fmla="val 30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02A4C"/>
                </a:solidFill>
                <a:effectLst/>
                <a:uFillTx/>
                <a:latin typeface="Aptos"/>
              </a:rPr>
              <a:t>The one algorithm missing from Figure 3.15 is best-first search itself — because it is not a strategy, it is the loop the other six fill in. Change f(n) and you move across the columns.</a:t>
            </a:r>
            <a:endParaRPr lang="en-US" sz="1100" b="0" u="none" strike="noStrike">
              <a:solidFill>
                <a:srgbClr val="000000"/>
              </a:solidFill>
              <a:effectLst/>
              <a:uFillTx/>
              <a:latin typeface="Arial"/>
            </a:endParaRPr>
          </a:p>
        </p:txBody>
      </p:sp>
      <p:sp>
        <p:nvSpPr>
          <p:cNvPr id="2016" name="Banner 2016"/>
          <p:cNvSpPr/>
          <p:nvPr/>
        </p:nvSpPr>
        <p:spPr>
          <a:xfrm>
            <a:off x="502920" y="5560000"/>
            <a:ext cx="11186160" cy="660000"/>
          </a:xfrm>
          <a:prstGeom prst="roundRect">
            <a:avLst>
              <a:gd name="adj" fmla="val 3000"/>
            </a:avLst>
          </a:prstGeom>
          <a:solidFill>
            <a:srgbClr val="D9E9FF"/>
          </a:solidFill>
          <a:ln w="12700">
            <a:solidFill>
              <a:srgbClr val="D9E9FF"/>
            </a:solidFill>
          </a:ln>
        </p:spPr>
        <p:style>
          <a:lnRef idx="1">
            <a:schemeClr val="accent1"/>
          </a:lnRef>
          <a:fillRef idx="3">
            <a:schemeClr val="accent1"/>
          </a:fillRef>
          <a:effectRef idx="2">
            <a:schemeClr val="accent1"/>
          </a:effectRef>
          <a:fontRef idx="minor"/>
        </p:style>
        <p:txBody>
          <a:bodyPr lIns="182880" tIns="182880" rIns="182880" bIns="182880" anchor="ctr">
            <a:noAutofit/>
          </a:bodyPr>
          <a:lstStyle/>
          <a:p>
            <a:pPr algn="l" defTabSz="914400">
              <a:lnSpc>
                <a:spcPct val="100000"/>
              </a:lnSpc>
              <a:buNone/>
            </a:pPr>
            <a:r>
              <a:rPr lang="en-US" sz="1050" b="1" u="none" strike="noStrike" dirty="0">
                <a:solidFill>
                  <a:srgbClr val="112E5C"/>
                </a:solidFill>
                <a:effectLst/>
                <a:uFillTx/>
                <a:latin typeface="Aptos"/>
              </a:rPr>
              <a:t>Next lecture adds f(n) = g(n) + h(n) — and this table gains a column that dominates almost every entry in it.</a:t>
            </a:r>
            <a:endParaRPr lang="en-US" sz="1100" b="0" u="none" strike="noStrike">
              <a:solidFill>
                <a:srgbClr val="000000"/>
              </a:solidFill>
              <a:effectLst/>
              <a:uFillTx/>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399" name="Shape 0"/>
          <p:cNvSpPr/>
          <p:nvPr/>
        </p:nvSpPr>
        <p:spPr>
          <a:xfrm>
            <a:off x="228600" y="228600"/>
            <a:ext cx="11749680" cy="749520"/>
          </a:xfrm>
          <a:prstGeom prst="rect">
            <a:avLst/>
          </a:prstGeom>
          <a:solidFill>
            <a:srgbClr val="112E5C"/>
          </a:solidFill>
          <a:ln w="12700">
            <a:solidFill>
              <a:srgbClr val="112E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00" name="Shape 1"/>
          <p:cNvSpPr/>
          <p:nvPr/>
        </p:nvSpPr>
        <p:spPr>
          <a:xfrm>
            <a:off x="228600" y="978480"/>
            <a:ext cx="11749680" cy="63720"/>
          </a:xfrm>
          <a:prstGeom prst="rect">
            <a:avLst/>
          </a:prstGeom>
          <a:solidFill>
            <a:srgbClr val="F6A01A"/>
          </a:solidFill>
          <a:ln w="12700">
            <a:solidFill>
              <a:srgbClr val="F6A01A"/>
            </a:solidFill>
            <a:round/>
          </a:ln>
        </p:spPr>
        <p:style>
          <a:lnRef idx="0">
            <a:scrgbClr r="0" g="0" b="0"/>
          </a:lnRef>
          <a:fillRef idx="0">
            <a:scrgbClr r="0" g="0" b="0"/>
          </a:fillRef>
          <a:effectRef idx="0">
            <a:scrgbClr r="0" g="0" b="0"/>
          </a:effectRef>
          <a:fontRef idx="minor"/>
        </p:style>
        <p:txBody>
          <a:bodyPr lIns="90000" tIns="19080" rIns="90000" bIns="19080" anchor="t">
            <a:noAutofit/>
          </a:bodyPr>
          <a:lstStyle/>
          <a:p>
            <a:endParaRPr lang="en-US" sz="1800" b="0" u="none" strike="noStrike">
              <a:solidFill>
                <a:srgbClr val="000000"/>
              </a:solidFill>
              <a:effectLst/>
              <a:uFillTx/>
              <a:latin typeface="Arial"/>
            </a:endParaRPr>
          </a:p>
        </p:txBody>
      </p:sp>
      <p:sp>
        <p:nvSpPr>
          <p:cNvPr id="1401" name="Text 2"/>
          <p:cNvSpPr/>
          <p:nvPr/>
        </p:nvSpPr>
        <p:spPr>
          <a:xfrm>
            <a:off x="502920" y="393120"/>
            <a:ext cx="10789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0000"/>
          </a:bodyPr>
          <a:lstStyle/>
          <a:p>
            <a:pPr defTabSz="914400">
              <a:lnSpc>
                <a:spcPct val="100000"/>
              </a:lnSpc>
              <a:tabLst>
                <a:tab pos="0" algn="l"/>
              </a:tabLst>
            </a:pPr>
            <a:r>
              <a:rPr lang="en-US" sz="2600" b="1" u="none" strike="noStrike">
                <a:solidFill>
                  <a:srgbClr val="FFFFFF"/>
                </a:solidFill>
                <a:effectLst/>
                <a:uFillTx/>
                <a:latin typeface="Aptos"/>
              </a:rPr>
              <a:t>Chapter 3.1-3.4 Takeaways</a:t>
            </a:r>
            <a:endParaRPr lang="en-US" sz="2600" b="0" u="none" strike="noStrike">
              <a:solidFill>
                <a:srgbClr val="000000"/>
              </a:solidFill>
              <a:effectLst/>
              <a:uFillTx/>
              <a:latin typeface="Arial"/>
            </a:endParaRPr>
          </a:p>
        </p:txBody>
      </p:sp>
      <p:sp>
        <p:nvSpPr>
          <p:cNvPr id="1402" name="Text 3"/>
          <p:cNvSpPr/>
          <p:nvPr/>
        </p:nvSpPr>
        <p:spPr>
          <a:xfrm>
            <a:off x="8869680" y="651060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03" name="Text 4"/>
          <p:cNvSpPr/>
          <p:nvPr/>
        </p:nvSpPr>
        <p:spPr>
          <a:xfrm>
            <a:off x="502920" y="6510600"/>
            <a:ext cx="46630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4" name="Text 5"/>
          <p:cNvSpPr/>
          <p:nvPr/>
        </p:nvSpPr>
        <p:spPr>
          <a:xfrm>
            <a:off x="914400" y="1325880"/>
            <a:ext cx="9966600" cy="4845960"/>
          </a:xfrm>
          <a:prstGeom prst="rect">
            <a:avLst/>
          </a:prstGeom>
          <a:noFill/>
          <a:ln w="0">
            <a:noFill/>
          </a:ln>
        </p:spPr>
        <p:style>
          <a:lnRef idx="0">
            <a:scrgbClr r="0" g="0" b="0"/>
          </a:lnRef>
          <a:fillRef idx="0">
            <a:scrgbClr r="0" g="0" b="0"/>
          </a:fillRef>
          <a:effectRef idx="0">
            <a:scrgbClr r="0" g="0" b="0"/>
          </a:effectRef>
          <a:fontRef idx="minor"/>
        </p:style>
        <p:txBody>
          <a:bodyPr lIns="720" tIns="720" rIns="720" bIns="720" anchor="ctr">
            <a:normAutofit/>
          </a:bodyPr>
          <a:lstStyle/>
          <a:p>
            <a:pPr defTabSz="914400">
              <a:lnSpc>
                <a:spcPct val="100000"/>
              </a:lnSpc>
            </a:pPr>
            <a:r>
              <a:rPr lang="en-US" sz="2000" b="1" u="none" strike="noStrike" dirty="0">
                <a:solidFill>
                  <a:srgbClr val="112E5C"/>
                </a:solidFill>
                <a:effectLst/>
                <a:uFillTx/>
                <a:latin typeface="Aptos"/>
              </a:rPr>
              <a:t>Formulation comes first</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define states, initial state, actions, result, goal test, and costs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12E5C"/>
                </a:solidFill>
                <a:effectLst/>
                <a:uFillTx/>
                <a:latin typeface="Aptos"/>
              </a:rPr>
              <a:t>Search trees are paths</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the same state can appear many times through different paths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12E5C"/>
                </a:solidFill>
                <a:effectLst/>
                <a:uFillTx/>
                <a:latin typeface="Aptos"/>
              </a:rPr>
              <a:t>Frontier strategy matters</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BFS, UCS, and DFS mainly differ in which node is expanded next</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9B1C1C"/>
                </a:solidFill>
                <a:effectLst/>
                <a:uFillTx/>
                <a:latin typeface="Aptos"/>
              </a:rPr>
              <a:t>Uninformed search is expensive</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without a goal-distance estimate, exponential growth dominates</a:t>
            </a:r>
            <a:endParaRPr lang="en-US" sz="2000" b="0" u="none" strike="noStrike" dirty="0">
              <a:solidFill>
                <a:srgbClr val="000000"/>
              </a:solidFill>
              <a:effectLst/>
              <a:uFillTx/>
              <a:latin typeface="Arial"/>
            </a:endParaRPr>
          </a:p>
          <a:p>
            <a:pPr defTabSz="914400">
              <a:lnSpc>
                <a:spcPct val="100000"/>
              </a:lnSpc>
            </a:pPr>
            <a:r>
              <a:rPr lang="en-US" sz="2000" b="1" u="none" strike="noStrike" dirty="0">
                <a:solidFill>
                  <a:srgbClr val="177245"/>
                </a:solidFill>
                <a:effectLst/>
                <a:uFillTx/>
                <a:latin typeface="Aptos"/>
              </a:rPr>
              <a:t>Tradeoffs are unavoidable</a:t>
            </a:r>
            <a:endParaRPr lang="en-US" sz="2000" b="0" u="none" strike="noStrike" dirty="0">
              <a:solidFill>
                <a:srgbClr val="000000"/>
              </a:solidFill>
              <a:effectLst/>
              <a:uFillTx/>
              <a:latin typeface="Arial"/>
            </a:endParaRPr>
          </a:p>
          <a:p>
            <a:pPr defTabSz="914400">
              <a:lnSpc>
                <a:spcPct val="100000"/>
              </a:lnSpc>
            </a:pPr>
            <a:r>
              <a:rPr lang="en-US" sz="2000" b="0" u="none" strike="noStrike" dirty="0">
                <a:solidFill>
                  <a:srgbClr val="102A4C"/>
                </a:solidFill>
                <a:effectLst/>
                <a:uFillTx/>
                <a:latin typeface="Aptos"/>
              </a:rPr>
              <a:t>completeness, optimality, time, and memory determine the right strategy</a:t>
            </a:r>
            <a:endParaRPr lang="en-US" sz="2000" b="0" u="none" strike="noStrike" dirty="0">
              <a:solidFill>
                <a:srgbClr val="000000"/>
              </a:solidFill>
              <a:effectLst/>
              <a:uFillTx/>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EEF5F8"/>
        </a:solidFill>
        <a:effectLst/>
      </p:bgPr>
    </p:bg>
    <p:spTree>
      <p:nvGrpSpPr>
        <p:cNvPr id="1" name=""/>
        <p:cNvGrpSpPr/>
        <p:nvPr/>
      </p:nvGrpSpPr>
      <p:grpSpPr>
        <a:xfrm>
          <a:off x="0" y="0"/>
          <a:ext cx="0" cy="0"/>
          <a:chOff x="0" y="0"/>
          <a:chExt cx="0" cy="0"/>
        </a:xfrm>
      </p:grpSpPr>
      <p:sp>
        <p:nvSpPr>
          <p:cNvPr id="1405" name="Rectangle 1"/>
          <p:cNvSpPr/>
          <p:nvPr/>
        </p:nvSpPr>
        <p:spPr>
          <a:xfrm>
            <a:off x="228600" y="228600"/>
            <a:ext cx="11749680" cy="749520"/>
          </a:xfrm>
          <a:prstGeom prst="rect">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6" name="Rectangle 2"/>
          <p:cNvSpPr/>
          <p:nvPr/>
        </p:nvSpPr>
        <p:spPr>
          <a:xfrm>
            <a:off x="228600" y="978480"/>
            <a:ext cx="11749680" cy="63720"/>
          </a:xfrm>
          <a:prstGeom prst="rect">
            <a:avLst/>
          </a:prstGeom>
          <a:solidFill>
            <a:srgbClr val="F6A01A"/>
          </a:solidFill>
          <a:ln w="12700">
            <a:solidFill>
              <a:srgbClr val="F6A01A"/>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07" name="Rectangle 3"/>
          <p:cNvSpPr/>
          <p:nvPr/>
        </p:nvSpPr>
        <p:spPr>
          <a:xfrm>
            <a:off x="502920" y="393120"/>
            <a:ext cx="10789560" cy="34704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2600" b="1" u="none" strike="noStrike">
                <a:solidFill>
                  <a:srgbClr val="FFFFFF"/>
                </a:solidFill>
                <a:effectLst/>
                <a:uFillTx/>
                <a:latin typeface="Aptos"/>
              </a:rPr>
              <a:t>What Uninformed Search Cannot Do</a:t>
            </a:r>
            <a:endParaRPr lang="en-US" sz="2600" b="0" u="none" strike="noStrike">
              <a:solidFill>
                <a:srgbClr val="000000"/>
              </a:solidFill>
              <a:effectLst/>
              <a:uFillTx/>
              <a:latin typeface="Arial"/>
            </a:endParaRPr>
          </a:p>
        </p:txBody>
      </p:sp>
      <p:sp>
        <p:nvSpPr>
          <p:cNvPr id="1408" name="Rectangle 4"/>
          <p:cNvSpPr/>
          <p:nvPr/>
        </p:nvSpPr>
        <p:spPr>
          <a:xfrm>
            <a:off x="502920" y="6510600"/>
            <a:ext cx="466308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defTabSz="914400">
              <a:lnSpc>
                <a:spcPct val="100000"/>
              </a:lnSpc>
            </a:pPr>
            <a:r>
              <a:rPr lang="en-US" sz="850" b="0" u="none" strike="noStrike">
                <a:solidFill>
                  <a:srgbClr val="5C6B80"/>
                </a:solidFill>
                <a:effectLst/>
                <a:uFillTx/>
                <a:latin typeface="Aptos"/>
              </a:rPr>
              <a:t>CSU Channel Islands · Department of Computer Science</a:t>
            </a:r>
            <a:endParaRPr lang="en-US" sz="850" b="0" u="none" strike="noStrike">
              <a:solidFill>
                <a:srgbClr val="000000"/>
              </a:solidFill>
              <a:effectLst/>
              <a:uFillTx/>
              <a:latin typeface="Arial"/>
            </a:endParaRPr>
          </a:p>
        </p:txBody>
      </p:sp>
      <p:sp>
        <p:nvSpPr>
          <p:cNvPr id="1409" name="Rectangle 5"/>
          <p:cNvSpPr/>
          <p:nvPr/>
        </p:nvSpPr>
        <p:spPr>
          <a:xfrm>
            <a:off x="8869680" y="6510600"/>
            <a:ext cx="2788560" cy="209880"/>
          </a:xfrm>
          <a:prstGeom prst="rect">
            <a:avLst/>
          </a:prstGeom>
          <a:noFill/>
          <a:ln>
            <a:no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r" defTabSz="914400">
              <a:lnSpc>
                <a:spcPct val="100000"/>
              </a:lnSpc>
            </a:pPr>
            <a:r>
              <a:rPr lang="en-US" sz="850" b="0" u="none" strike="noStrike">
                <a:solidFill>
                  <a:srgbClr val="5C6B80"/>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10" name="Rounded Rectangle 6"/>
          <p:cNvSpPr/>
          <p:nvPr/>
        </p:nvSpPr>
        <p:spPr>
          <a:xfrm>
            <a:off x="777240" y="1417320"/>
            <a:ext cx="5028840" cy="475200"/>
          </a:xfrm>
          <a:prstGeom prst="roundRect">
            <a:avLst>
              <a:gd name="adj" fmla="val 15384"/>
            </a:avLst>
          </a:prstGeom>
          <a:solidFill>
            <a:srgbClr val="DBF1E3"/>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we have after 3.1-3.4</a:t>
            </a:r>
            <a:endParaRPr lang="en-US" sz="1450" b="0" u="none" strike="noStrike">
              <a:solidFill>
                <a:srgbClr val="000000"/>
              </a:solidFill>
              <a:effectLst/>
              <a:uFillTx/>
              <a:latin typeface="Arial"/>
            </a:endParaRPr>
          </a:p>
        </p:txBody>
      </p:sp>
      <p:sp>
        <p:nvSpPr>
          <p:cNvPr id="1411" name="Rounded Rectangle 7"/>
          <p:cNvSpPr/>
          <p:nvPr/>
        </p:nvSpPr>
        <p:spPr>
          <a:xfrm>
            <a:off x="77724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2" name="Rectangle 8"/>
          <p:cNvSpPr/>
          <p:nvPr/>
        </p:nvSpPr>
        <p:spPr>
          <a:xfrm>
            <a:off x="100584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A formulation discipline: six parts, every time</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One algorithm, best-first search, with a swappable f(n)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Completeness and cost-optimality we can actually argue for</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And an exponential bill we cannot pay</a:t>
            </a:r>
            <a:endParaRPr lang="en-US" sz="1300" b="0" u="none" strike="noStrike">
              <a:solidFill>
                <a:srgbClr val="000000"/>
              </a:solidFill>
              <a:effectLst/>
              <a:uFillTx/>
              <a:latin typeface="Arial"/>
            </a:endParaRPr>
          </a:p>
        </p:txBody>
      </p:sp>
      <p:sp>
        <p:nvSpPr>
          <p:cNvPr id="1413" name="Rounded Rectangle 9"/>
          <p:cNvSpPr/>
          <p:nvPr/>
        </p:nvSpPr>
        <p:spPr>
          <a:xfrm>
            <a:off x="6385680" y="1417320"/>
            <a:ext cx="5028840" cy="475200"/>
          </a:xfrm>
          <a:prstGeom prst="roundRect">
            <a:avLst>
              <a:gd name="adj" fmla="val 15384"/>
            </a:avLst>
          </a:prstGeom>
          <a:solidFill>
            <a:srgbClr val="FFE5B6"/>
          </a:solidFill>
          <a:ln w="1524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450" b="1" u="none" strike="noStrike">
                <a:solidFill>
                  <a:srgbClr val="112E5C"/>
                </a:solidFill>
                <a:effectLst/>
                <a:uFillTx/>
                <a:latin typeface="Aptos"/>
              </a:rPr>
              <a:t>What is still missing</a:t>
            </a:r>
            <a:endParaRPr lang="en-US" sz="1450" b="0" u="none" strike="noStrike">
              <a:solidFill>
                <a:srgbClr val="000000"/>
              </a:solidFill>
              <a:effectLst/>
              <a:uFillTx/>
              <a:latin typeface="Arial"/>
            </a:endParaRPr>
          </a:p>
        </p:txBody>
      </p:sp>
      <p:sp>
        <p:nvSpPr>
          <p:cNvPr id="1414" name="Rounded Rectangle 10"/>
          <p:cNvSpPr/>
          <p:nvPr/>
        </p:nvSpPr>
        <p:spPr>
          <a:xfrm>
            <a:off x="6385680" y="2011680"/>
            <a:ext cx="5028840" cy="1691280"/>
          </a:xfrm>
          <a:prstGeom prst="roundRect">
            <a:avLst>
              <a:gd name="adj" fmla="val 4500"/>
            </a:avLst>
          </a:prstGeom>
          <a:solidFill>
            <a:srgbClr val="FFFFFF"/>
          </a:solidFill>
          <a:ln w="12700">
            <a:solidFill>
              <a:srgbClr val="D8DEE8"/>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endParaRPr lang="en-US" sz="1800" b="0" u="none" strike="noStrike">
              <a:solidFill>
                <a:schemeClr val="lt1"/>
              </a:solidFill>
              <a:effectLst/>
              <a:uFillTx/>
              <a:latin typeface="Aptos"/>
            </a:endParaRPr>
          </a:p>
        </p:txBody>
      </p:sp>
      <p:sp>
        <p:nvSpPr>
          <p:cNvPr id="1415" name="Rectangle 11"/>
          <p:cNvSpPr/>
          <p:nvPr/>
        </p:nvSpPr>
        <p:spPr>
          <a:xfrm>
            <a:off x="6614280" y="2148840"/>
            <a:ext cx="4571640" cy="1416960"/>
          </a:xfrm>
          <a:prstGeom prst="rect">
            <a:avLst/>
          </a:prstGeom>
          <a:noFill/>
          <a:ln>
            <a:noFill/>
          </a:ln>
        </p:spPr>
        <p:style>
          <a:lnRef idx="1">
            <a:schemeClr val="accent1"/>
          </a:lnRef>
          <a:fillRef idx="3">
            <a:schemeClr val="accent1"/>
          </a:fillRef>
          <a:effectRef idx="2">
            <a:schemeClr val="accent1"/>
          </a:effectRef>
          <a:fontRef idx="minor"/>
        </p:style>
        <p:txBody>
          <a:bodyPr lIns="0" tIns="0" rIns="0" bIns="0" anchor="t">
            <a:noAutofit/>
          </a:bodyPr>
          <a:lstStyle/>
          <a:p>
            <a:pPr defTabSz="914400">
              <a:lnSpc>
                <a:spcPct val="100000"/>
              </a:lnSpc>
              <a:spcAft>
                <a:spcPts val="700"/>
              </a:spcAft>
            </a:pPr>
            <a:r>
              <a:rPr lang="en-US" sz="1300" b="0" u="none" strike="noStrike">
                <a:solidFill>
                  <a:srgbClr val="102A4C"/>
                </a:solidFill>
                <a:effectLst/>
                <a:uFillTx/>
                <a:latin typeface="Aptos"/>
              </a:rPr>
              <a:t>•  Every strategy so far knows only where it has been</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None of them has any estimate of how far the goal still is</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So the search spreads in all directions equally</a:t>
            </a:r>
            <a:endParaRPr lang="en-US" sz="1300" b="0" u="none" strike="noStrike">
              <a:solidFill>
                <a:srgbClr val="000000"/>
              </a:solidFill>
              <a:effectLst/>
              <a:uFillTx/>
              <a:latin typeface="Arial"/>
            </a:endParaRPr>
          </a:p>
          <a:p>
            <a:pPr defTabSz="914400">
              <a:lnSpc>
                <a:spcPct val="100000"/>
              </a:lnSpc>
              <a:spcAft>
                <a:spcPts val="700"/>
              </a:spcAft>
            </a:pPr>
            <a:r>
              <a:rPr lang="en-US" sz="1300" b="0" u="none" strike="noStrike">
                <a:solidFill>
                  <a:srgbClr val="102A4C"/>
                </a:solidFill>
                <a:effectLst/>
                <a:uFillTx/>
                <a:latin typeface="Aptos"/>
              </a:rPr>
              <a:t>•  b = 10, d = 14: three and a half years, with infinite memory</a:t>
            </a:r>
            <a:endParaRPr lang="en-US" sz="1300" b="0" u="none" strike="noStrike">
              <a:solidFill>
                <a:srgbClr val="000000"/>
              </a:solidFill>
              <a:effectLst/>
              <a:uFillTx/>
              <a:latin typeface="Arial"/>
            </a:endParaRPr>
          </a:p>
        </p:txBody>
      </p:sp>
      <p:sp>
        <p:nvSpPr>
          <p:cNvPr id="1416" name="Rounded Rectangle 12"/>
          <p:cNvSpPr/>
          <p:nvPr/>
        </p:nvSpPr>
        <p:spPr>
          <a:xfrm>
            <a:off x="914400" y="3977640"/>
            <a:ext cx="10423800" cy="594000"/>
          </a:xfrm>
          <a:prstGeom prst="roundRect">
            <a:avLst>
              <a:gd name="adj" fmla="val 11000"/>
            </a:avLst>
          </a:prstGeom>
          <a:solidFill>
            <a:srgbClr val="112E5C"/>
          </a:solidFill>
          <a:ln w="12700">
            <a:solidFill>
              <a:srgbClr val="112E5C"/>
            </a:solidFill>
          </a:ln>
        </p:spPr>
        <p:style>
          <a:lnRef idx="1">
            <a:schemeClr val="accent1"/>
          </a:lnRef>
          <a:fillRef idx="3">
            <a:schemeClr val="accent1"/>
          </a:fillRef>
          <a:effectRef idx="2">
            <a:schemeClr val="accent1"/>
          </a:effectRef>
          <a:fontRef idx="minor"/>
        </p:style>
        <p:txBody>
          <a:bodyPr lIns="360" tIns="360" rIns="360" bIns="360" anchor="ctr">
            <a:noAutofit/>
          </a:bodyPr>
          <a:lstStyle/>
          <a:p>
            <a:pPr algn="ctr" defTabSz="914400">
              <a:lnSpc>
                <a:spcPct val="100000"/>
              </a:lnSpc>
            </a:pPr>
            <a:r>
              <a:rPr lang="en-US" sz="1500" b="0" u="none" strike="noStrike">
                <a:solidFill>
                  <a:srgbClr val="FFFFFF"/>
                </a:solidFill>
                <a:effectLst/>
                <a:uFillTx/>
                <a:latin typeface="Aptos"/>
              </a:rPr>
              <a:t>Next lecture, one change:  </a:t>
            </a:r>
            <a:r>
              <a:rPr lang="en-US" sz="2200" b="1" u="none" strike="noStrike">
                <a:solidFill>
                  <a:srgbClr val="FFFFFF"/>
                </a:solidFill>
                <a:effectLst/>
                <a:uFillTx/>
                <a:latin typeface="Aptos"/>
              </a:rPr>
              <a:t>f(n) = g(n) + h(n)</a:t>
            </a:r>
            <a:endParaRPr lang="en-US" sz="2200" b="0" u="none" strike="noStrike">
              <a:solidFill>
                <a:srgbClr val="FFFFFF"/>
              </a:solidFill>
              <a:effectLst/>
              <a:uFillTx/>
              <a:latin typeface="Arial"/>
            </a:endParaRPr>
          </a:p>
        </p:txBody>
      </p:sp>
      <p:sp>
        <p:nvSpPr>
          <p:cNvPr id="1417" name="Rectangle 13"/>
          <p:cNvSpPr/>
          <p:nvPr/>
        </p:nvSpPr>
        <p:spPr>
          <a:xfrm>
            <a:off x="914400" y="47548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700" b="1" u="none" strike="noStrike">
                <a:solidFill>
                  <a:srgbClr val="102A4C"/>
                </a:solidFill>
                <a:effectLst/>
                <a:uFillTx/>
                <a:latin typeface="Aptos"/>
              </a:rPr>
              <a:t>g(n) is the cost already paid. h(n) is an estimate of the cost still to come.</a:t>
            </a:r>
            <a:endParaRPr lang="en-US" sz="1700" b="0" u="none" strike="noStrike">
              <a:solidFill>
                <a:srgbClr val="000000"/>
              </a:solidFill>
              <a:effectLst/>
              <a:uFillTx/>
              <a:latin typeface="Arial"/>
            </a:endParaRPr>
          </a:p>
        </p:txBody>
      </p:sp>
      <p:sp>
        <p:nvSpPr>
          <p:cNvPr id="1418" name="Rectangle 14"/>
          <p:cNvSpPr/>
          <p:nvPr/>
        </p:nvSpPr>
        <p:spPr>
          <a:xfrm>
            <a:off x="914400" y="516636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500" b="1" u="none" strike="noStrike">
                <a:solidFill>
                  <a:srgbClr val="9B1C1C"/>
                </a:solidFill>
                <a:effectLst/>
                <a:uFillTx/>
                <a:latin typeface="Aptos"/>
              </a:rPr>
              <a:t>Same loop, same frontier — the contours stop surrounding the start and reach for the goal.</a:t>
            </a:r>
            <a:endParaRPr lang="en-US" sz="1500" b="0" u="none" strike="noStrike">
              <a:solidFill>
                <a:srgbClr val="000000"/>
              </a:solidFill>
              <a:effectLst/>
              <a:uFillTx/>
              <a:latin typeface="Arial"/>
            </a:endParaRPr>
          </a:p>
        </p:txBody>
      </p:sp>
      <p:sp>
        <p:nvSpPr>
          <p:cNvPr id="1419" name="Rectangle 15"/>
          <p:cNvSpPr/>
          <p:nvPr/>
        </p:nvSpPr>
        <p:spPr>
          <a:xfrm>
            <a:off x="914400" y="5669280"/>
            <a:ext cx="10423800" cy="328680"/>
          </a:xfrm>
          <a:prstGeom prst="rect">
            <a:avLst/>
          </a:prstGeom>
          <a:noFill/>
          <a:ln>
            <a:noFill/>
          </a:ln>
        </p:spPr>
        <p:style>
          <a:lnRef idx="1">
            <a:schemeClr val="accent1"/>
          </a:lnRef>
          <a:fillRef idx="3">
            <a:schemeClr val="accent1"/>
          </a:fillRef>
          <a:effectRef idx="2">
            <a:schemeClr val="accent1"/>
          </a:effectRef>
          <a:fontRef idx="minor"/>
        </p:style>
        <p:txBody>
          <a:bodyPr lIns="720" tIns="720" rIns="720" bIns="720" anchor="ctr">
            <a:noAutofit/>
          </a:bodyPr>
          <a:lstStyle/>
          <a:p>
            <a:pPr algn="ctr" defTabSz="914400">
              <a:lnSpc>
                <a:spcPct val="100000"/>
              </a:lnSpc>
            </a:pPr>
            <a:r>
              <a:rPr lang="en-US" sz="1350" b="0" u="none" strike="noStrike" dirty="0">
                <a:solidFill>
                  <a:srgbClr val="5C6B80"/>
                </a:solidFill>
                <a:effectLst/>
                <a:uFillTx/>
                <a:latin typeface="Aptos"/>
              </a:rPr>
              <a:t>Section 3.5: greedy best-first search, A*, admissibility, and consistency.</a:t>
            </a:r>
            <a:endParaRPr lang="en-US" sz="1350" b="0" u="none" strike="noStrike" dirty="0">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TotalTime>
  <Words>17119</Words>
  <Application>Microsoft Office PowerPoint</Application>
  <PresentationFormat>Widescreen</PresentationFormat>
  <Paragraphs>1587</Paragraphs>
  <Slides>72</Slides>
  <Notes>72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Aptos</vt:lpstr>
      <vt:lpstr>Aptos Display</vt:lpstr>
      <vt:lpstr>Arial</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3 Solving Problems by Searching - CSUCI Clean Enhanced</dc:title>
  <dc:subject>AIMA Chapter 3 Sections 3.1-3.4</dc:subject>
  <dc:creator>COMP 469</dc:creator>
  <dc:description/>
  <cp:lastModifiedBy>Rios, Juan</cp:lastModifiedBy>
  <cp:revision>26</cp:revision>
  <dcterms:created xsi:type="dcterms:W3CDTF">2026-08-01T09:17:29Z</dcterms:created>
  <dcterms:modified xsi:type="dcterms:W3CDTF">2026-08-02T10:20:41Z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38</vt:i4>
  </property>
  <property fmtid="{D5CDD505-2E9C-101B-9397-08002B2CF9AE}" pid="3" name="PresentationFormat">
    <vt:lpwstr>On-screen Show (16:9)</vt:lpwstr>
  </property>
  <property fmtid="{D5CDD505-2E9C-101B-9397-08002B2CF9AE}" pid="4" name="Slides">
    <vt:i4>38</vt:i4>
  </property>
</Properties>
</file>