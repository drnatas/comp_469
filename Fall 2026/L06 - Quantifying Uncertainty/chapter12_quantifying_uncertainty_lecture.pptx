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notesMasterIdLst>
    <p:notesMasterId r:id="rId10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notesMaster" Target="notesMasters/notesMaster1.xml"/><Relationship Id="rId105" Type="http://schemas.openxmlformats.org/officeDocument/2006/relationships/presProps" Target="presProps.xml"/><Relationship Id="rId106" Type="http://schemas.openxmlformats.org/officeDocument/2006/relationships/viewProps" Target="viewProps.xml"/><Relationship Id="rId107" Type="http://schemas.openxmlformats.org/officeDocument/2006/relationships/theme" Target="theme/theme1.xml"/><Relationship Id="rId10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chapter as the bridge from logic-based agents to probabilistic agents. Emphasize that the goal is not to eliminate uncertainty; the goal is to represent it numerically so an agent can act 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leave able to read the notation and perform small calculations. Reinforce that the chapter is conceptual and computational: notation, inference, and decision-making all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pacing aid. The deck has more slides than needed for a strict two-hour session so you can choose depth, skip examples, or expand code demonstrations.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chapter’s big picture now. Probability by itself does not choose actions; utility by itself does not handle uncertainty. Decision theory needs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earlier logical agents to agents in real worlds. The key question is how an agent should act when no plan can be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examples: a robot with noisy sensors, a car in traffic, a game-playing agent facing an opponent. Uncertainty is not only lack of data; sometimes the world itself or other agents make outcomes hard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a belief state is a set of possible worlds. The issue is not that belief states are wrong; it is that treating all possibilities equally can lead to huge state sets and overly conservative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of every rare event that could disrupt a simple commute. A purely logical guarantee has to qualify all of them. Rational action requires comparing imperfect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example concrete. A90 may be best because it balances lateness risk with waiting time. A1440 almost guarantees arrival but has terrible utility because of the long airport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the qualification problem: action rules need endless conditions to be exception-free. Probability provides a way to proceed without proving all exceptions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conceptual point. Students often equate rationality with success. In uncertain environments, rationality is about choosing well before the outcome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MEU without going too deep yet. The formula helps students see why a probability alone is not enough and why utilities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action selection to uncertain diagnosis. The dental example shows why strict logical rules fail in ordinary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running example for the first half of the chapter. The relationship between cavity and toothache is causal but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logical implication requires no exceptions. A diagnostic association can be useful even when it is not exception-free.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categories are useful beyond dentistry. Ask students for examples in cybersecurity, medicine, weather, or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a patient either has a cavity or does not. The probability expresses the agent’s uncertainty before all evidence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phrase “given what is known.” A probability statement is incomplete unless the evidence context is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why P(cavity) is still valid after observing toothache but less useful for the decision. This sets up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uncertainty back to action. Decision theory uses probabilities for beliefs and utilities for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 outcome can be a state or a sequence of states. Utility lets us compress preferences over complex outcomes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chess as an example: checkmate is high utility for one player and low for the other. Utilities are not objective facts; they model the agent’s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become a mental anchor. Probability answers “what may happen?” Utility answers “how much do we care?” Decision theory answers “what should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argmax gently. The agent compares actions by averaging utility across possible outcomes weighted by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corresponds to the chapter’s DT-agent algorithm. Explain that it has the same high-level loop as earlier agents but its belief state contains probabilities, not just possible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runnable demo. Ask students what happens if missing the flight is less costly or waiting is more costly. This demonstrates that probability alone does not determine rational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now builds a notation that aligns probability with the possible-world semantics students saw in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logic: a logical assertion rules out worlds. A probability model ranks worlds by degrees of belief.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concrete way to see sample spaces and events. Highlight that a single event can include multiple possible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The rest of the chapter relies on this sum-over-worlds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know logic should recognize propositions. Probability does not discard logic; it adds weights to the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terms prior and posterior repeatedly. The chapter uses both naming conventions: unconditional/conditional and prior/posterior.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denominator as the size of the evidence set. The numerator is the part of that evidence set where the query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Bayes’ rule will come from equating the two product-rule forms. This helps Bayes feel less mysterious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variable is not a variable that randomly changes by itself. It is a function from worlds to a value. The uncertainty is in which world is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notation so students are not confused by lowercase cavity. It means Cavity=true.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Weather as an intuitive categorical distribution. The bold P notation is a compact shorthand for multiple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find this counterintuitive. Use the uniform temperature example: the chance of an exact real-valued temperature is zero, but intervals have positive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students for Section 12.3. A full joint is powerful but usually too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logic to probability notation. Worlds are mutually exclusive because a variable cannot take two values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detail helps students understand that a full joint can include variables that are constrained by logic. Probability and logical consistency interact.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comes directly from the sample-space axioms. It is simple but foundational.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two overlapping circles on the board if helpful. In the deck, the formula is enough; ask what happens when a and b are mutually exclusive.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Dutch book argument as an intuition, not a gambling lesson. Incoherent beliefs can be exploited by a set of bets that guarantee 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mirrors the chapter’s inconsistent probability example. Ask students which equation is being violated.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joint distribution is the theoretical foundation. The method is simple: identify worlds consistent with the query and evidence, add their probabilities, and normalize.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table layout. The row indicates cavity or not. The columns combine toothache and catch values. The entries sum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 sum slowly. This is the first concrete calculation students should be able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phrase “summing out” because it appears throughout probabilistic inference. The variable is removed from the expression by adding over its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numerical examples. Ask students which table cells go into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normalization as rescaling. The relative weights are already correct; α turns them into a proper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formula generalizes all full-joint inference in the chapter. It is simple and exact, but not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for independence and Bayesian networks. The full joint is like a truth table: theoretically complete but often computationally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code demo. Use it to reinforce the table semantics. Ask students to modify the evidence to include catch and compare the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is the first major complexity-reduction idea. It says some variables carry no information about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dentistry and meteorology example. The point is not that all domains separate cleanly; it is that when they do, the math can exploit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equivalent forms because students will see them in different contexts. Emphasize that independence is usually a domain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T=Toothache, C=Catch, V=Cavity, W=Weather. Avoid overloading C for cavity and catch in class; spell it out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makes the contrast vivid. The sample space is still huge, but the representation is small because of repeated independent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Bayes rule with multiple evidence variables. Absolute independence is useful but not enough for realistic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rule is a direct consequence of the product rule, but it is one of the central tools in probabilistic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Derivation matters because Bayes’ rule is often memorized without understanding. It simply equates two ways to write the same joint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medical diagnosis: doctors may know how a disease generates symptoms, but the patient presents symptoms and asks for the disease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argument for causal/model-based knowledge. If meningitis becomes more common, P(m) changes, but P(stiff neck | meningitis) may stay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important because it fights base-rate neglect. A symptom strongly associated with a rare disease can still lead to a low posterior because many other causes produce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bar will appear tiny on purpose. Explain that scale is the lesson: the prior is tiny, so the posterior remains small despite a high likelihood.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this back to α from full-joint inference. Normalization is a recurring trick for posterior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adding evidence seems simple for two variables but becomes impossible for many symptoms if we need every possible symptom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the full joint scaling wall. Bayes’ rule alone does not solve scale; independence assumptions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causal diagram is the key intuition. The effects are correlated overall because they share a cause, but conditionally independent when the cause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“weaker” here: X and Y may still be dependent before conditioning on Z. Conditional independence is the central idea behind Bayesian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algebraic payoff. The full joint has 7 independent numbers; the factored model needs fewer. With many symptoms, the savings become dramatic.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Bayesian networks. Conditional independence is not just a math trick; it is the representation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Naive Bayes is the chapter’s practical classifier example. It is easy to implement and good for code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star shape: the class or cause in the center, features or effects around it. The model ignores dependencies among effects once the cause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product symbol. The model multiplies each observed effect’s likelihood given the candidate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algorithm students will implement. It is the same normalization pattern from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phenomenon in probabilistic inference. It is a good place to ask why unobserved symptoms should not require explicit enumeration in the final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chapter’s two sentences: one about stocks and indexes, one about heavy rain and flood warnings. The observed words become evidence for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describes simple frequency estimates. In a practical classifier, smoothing is essential because one zero likelihood can eliminate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follow this algorithm by hand for a tiny vocabulary. The code demo will do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nuanced lesson. A model can have inaccurate probabilities but still make good classifications. Distinguish calibration from ranking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appendectomy or security-response examples. If a decision has high cost, overconfident probabilities can be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code package contains a complete version. Use the slide only to orient students before running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a familiar AI environment. The section shows how probabilistic reasoning improves decisions when logical inference says multiple squares are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rule: a pit causes breezes in adjacent squares. The map shows known safe squares and possible frontier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see that the same random-variable notation applies to grid worlds. Each square contributes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separates the deterministic sensor model from the independent pit prior. This factorization makes the calculation understandable.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interpret known, query, frontier, and other. The query square is the square whose pit probability we are calculating.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full-joint enumeration formula applied to Wumpus. Ask students why [4,4] should not affect a breeze near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structural insight as before, now in a spatial domain. Evidence is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symbol verbally: b is conditionally independent of Other given known, query, and frontier. This is an intuitive local Markov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punchline. Logic says these squares are uncertain; probability ranks them. The agent should avoid [2,2]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wrap-up of the chapter’s motivation. Probabilistic reasoning is not replacing logic; it extends decision-making when logic cannot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code is more readable than a slide-sized snippet. Run it after presenting the formulas so students can see exact enumeration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final section to consolidate the chapter. The next chapter will use graphs to represent conditional independence more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five takeaways. Emphasize that uncertainty is not a temporary problem; it is a core feature of intelligent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second five takeaways. End by previewing graphical models: they make the independence structure visible and computable.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questions for a quick think-pair-share or exit ticket. They cover the main conceptual traps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practice problems are designed to be flexible. You can assign them during class, as homework, or as lab exercises using the code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provided Python script and notebook. The demos are intentionally small and dependency-light so they can run in a classroom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linking Chapter 12 to Chapter 13. Students should understand why graphical models are needed before seeing the formal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Shape 1"/>
          <p:cNvSpPr/>
          <p:nvPr/>
        </p:nvSpPr>
        <p:spPr>
          <a:xfrm>
            <a:off x="0" y="0"/>
            <a:ext cx="164592" cy="6858000"/>
          </a:xfrm>
          <a:prstGeom prst="rect">
            <a:avLst/>
          </a:prstGeom>
          <a:solidFill>
            <a:srgbClr val="FCA311"/>
          </a:solidFill>
          <a:ln w="12700">
            <a:solidFill>
              <a:srgbClr val="FCA311">
                <a:alpha val="0"/>
              </a:srgbClr>
            </a:solidFill>
            <a:prstDash val="solid"/>
          </a:ln>
        </p:spPr>
      </p:sp>
      <p:sp>
        <p:nvSpPr>
          <p:cNvPr id="4" name="Text 2"/>
          <p:cNvSpPr/>
          <p:nvPr/>
        </p:nvSpPr>
        <p:spPr>
          <a:xfrm>
            <a:off x="777240" y="1508760"/>
            <a:ext cx="9875520" cy="100584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Chapter 12: Quantifying Uncertainty</a:t>
            </a:r>
            <a:endParaRPr lang="en-US" sz="4400" dirty="0"/>
          </a:p>
        </p:txBody>
      </p:sp>
      <p:sp>
        <p:nvSpPr>
          <p:cNvPr id="5" name="Text 3"/>
          <p:cNvSpPr/>
          <p:nvPr/>
        </p:nvSpPr>
        <p:spPr>
          <a:xfrm>
            <a:off x="822960" y="2743200"/>
            <a:ext cx="8961120" cy="411480"/>
          </a:xfrm>
          <a:prstGeom prst="rect">
            <a:avLst/>
          </a:prstGeom>
          <a:noFill/>
          <a:ln/>
        </p:spPr>
        <p:txBody>
          <a:bodyPr wrap="square" lIns="0" tIns="0" rIns="0" bIns="0" rtlCol="0" anchor="ctr"/>
          <a:lstStyle/>
          <a:p>
            <a:pPr indent="0" marL="0">
              <a:buNone/>
            </a:pPr>
            <a:r>
              <a:rPr lang="en-US" sz="2000" dirty="0">
                <a:solidFill>
                  <a:srgbClr val="DDE7F0"/>
                </a:solidFill>
              </a:rPr>
              <a:t>A two-hour lecture deck with instructor notes and runnable demos</a:t>
            </a:r>
            <a:endParaRPr lang="en-US" sz="2000" dirty="0"/>
          </a:p>
        </p:txBody>
      </p:sp>
      <p:sp>
        <p:nvSpPr>
          <p:cNvPr id="6" name="Text 4"/>
          <p:cNvSpPr/>
          <p:nvPr/>
        </p:nvSpPr>
        <p:spPr>
          <a:xfrm>
            <a:off x="822960" y="6172200"/>
            <a:ext cx="7772400" cy="320040"/>
          </a:xfrm>
          <a:prstGeom prst="rect">
            <a:avLst/>
          </a:prstGeom>
          <a:noFill/>
          <a:ln/>
        </p:spPr>
        <p:txBody>
          <a:bodyPr wrap="square" lIns="0" tIns="0" rIns="0" bIns="0" rtlCol="0" anchor="ctr"/>
          <a:lstStyle/>
          <a:p>
            <a:pPr indent="0" marL="0">
              <a:buNone/>
            </a:pPr>
            <a:r>
              <a:rPr lang="en-US" sz="1250" dirty="0">
                <a:solidFill>
                  <a:srgbClr val="B9C3D0"/>
                </a:solidFill>
              </a:rPr>
              <a:t>Artificial Intelligence: probability, uncertainty, and rational decisions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Course setup</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Course setup</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Learning outcomes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Explain why real agents cannot rely on certainty alone.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Use probability notation for worlds, events, evidence, and random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Compute simple posteriors from a full joint distribution.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Apply Bayes’ rule, independence, conditional independence, and naive Bayes.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Connect probabilistic inference to action choice through expected utility.</a:t>
            </a:r>
            <a:endParaRPr lang="en-US" sz="2000" dirty="0"/>
          </a:p>
        </p:txBody>
      </p:sp>
      <p:sp>
        <p:nvSpPr>
          <p:cNvPr id="9" name="Text 7"/>
          <p:cNvSpPr/>
          <p:nvPr/>
        </p:nvSpPr>
        <p:spPr>
          <a:xfrm>
            <a:off x="7269480" y="1298448"/>
            <a:ext cx="1325880" cy="1051560"/>
          </a:xfrm>
          <a:prstGeom prst="ellipse">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Beliefs</a:t>
            </a:r>
            <a:endParaRPr lang="en-US" sz="1400" dirty="0"/>
          </a:p>
        </p:txBody>
      </p:sp>
      <p:sp>
        <p:nvSpPr>
          <p:cNvPr id="10" name="Text 8"/>
          <p:cNvSpPr/>
          <p:nvPr/>
        </p:nvSpPr>
        <p:spPr>
          <a:xfrm>
            <a:off x="9646920" y="1298448"/>
            <a:ext cx="1325880" cy="1051560"/>
          </a:xfrm>
          <a:prstGeom prst="ellipse">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Evidence</a:t>
            </a:r>
            <a:endParaRPr lang="en-US" sz="1400" dirty="0"/>
          </a:p>
        </p:txBody>
      </p:sp>
      <p:sp>
        <p:nvSpPr>
          <p:cNvPr id="11" name="Text 9"/>
          <p:cNvSpPr/>
          <p:nvPr/>
        </p:nvSpPr>
        <p:spPr>
          <a:xfrm>
            <a:off x="8458200" y="4005072"/>
            <a:ext cx="1325880" cy="1051560"/>
          </a:xfrm>
          <a:prstGeom prst="ellipse">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Actions</a:t>
            </a:r>
            <a:endParaRPr lang="en-US" sz="1400" dirty="0"/>
          </a:p>
        </p:txBody>
      </p:sp>
      <p:sp>
        <p:nvSpPr>
          <p:cNvPr id="12" name="Text 10"/>
          <p:cNvSpPr/>
          <p:nvPr/>
        </p:nvSpPr>
        <p:spPr>
          <a:xfrm>
            <a:off x="8001000" y="2724912"/>
            <a:ext cx="2286000" cy="676656"/>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Rational choice</a:t>
            </a:r>
            <a:endParaRPr lang="en-US" sz="1600" dirty="0"/>
          </a:p>
        </p:txBody>
      </p:sp>
      <p:sp>
        <p:nvSpPr>
          <p:cNvPr id="13" name="Shape 11"/>
          <p:cNvSpPr/>
          <p:nvPr/>
        </p:nvSpPr>
        <p:spPr>
          <a:xfrm>
            <a:off x="7845552" y="2359152"/>
            <a:ext cx="384048" cy="347472"/>
          </a:xfrm>
          <a:prstGeom prst="line">
            <a:avLst/>
          </a:prstGeom>
          <a:noFill/>
          <a:ln w="15240">
            <a:solidFill>
              <a:srgbClr val="6B7280"/>
            </a:solidFill>
            <a:prstDash val="solid"/>
            <a:tailEnd type="triangle"/>
          </a:ln>
        </p:spPr>
      </p:sp>
      <p:sp>
        <p:nvSpPr>
          <p:cNvPr id="14" name="Shape 12"/>
          <p:cNvSpPr/>
          <p:nvPr/>
        </p:nvSpPr>
        <p:spPr>
          <a:xfrm>
            <a:off x="10131552" y="2359152"/>
            <a:ext cx="-137160" cy="347472"/>
          </a:xfrm>
          <a:prstGeom prst="line">
            <a:avLst/>
          </a:prstGeom>
          <a:noFill/>
          <a:ln w="15240">
            <a:solidFill>
              <a:srgbClr val="6B7280"/>
            </a:solidFill>
            <a:prstDash val="solid"/>
            <a:tailEnd type="triangle"/>
          </a:ln>
        </p:spPr>
      </p:sp>
      <p:sp>
        <p:nvSpPr>
          <p:cNvPr id="15" name="Shape 13"/>
          <p:cNvSpPr/>
          <p:nvPr/>
        </p:nvSpPr>
        <p:spPr>
          <a:xfrm>
            <a:off x="9125712" y="3977640"/>
            <a:ext cx="0" cy="-539496"/>
          </a:xfrm>
          <a:prstGeom prst="line">
            <a:avLst/>
          </a:prstGeom>
          <a:noFill/>
          <a:ln w="15240">
            <a:solidFill>
              <a:srgbClr val="6B7280"/>
            </a:solidFill>
            <a:prstDash val="solid"/>
            <a:tailEnd type="triangle"/>
          </a:ln>
        </p:spPr>
      </p:sp>
      <p:sp>
        <p:nvSpPr>
          <p:cNvPr id="16" name="Text 14"/>
          <p:cNvSpPr/>
          <p:nvPr/>
        </p:nvSpPr>
        <p:spPr>
          <a:xfrm>
            <a:off x="6720840" y="5440680"/>
            <a:ext cx="4572000" cy="384048"/>
          </a:xfrm>
          <a:prstGeom prst="rect">
            <a:avLst/>
          </a:prstGeom>
          <a:noFill/>
          <a:ln/>
        </p:spPr>
        <p:txBody>
          <a:bodyPr wrap="square" lIns="254" tIns="254" rIns="254" bIns="254" rtlCol="0" anchor="ctr"/>
          <a:lstStyle/>
          <a:p>
            <a:pPr algn="ctr" indent="0" marL="0">
              <a:buNone/>
            </a:pPr>
            <a:r>
              <a:rPr lang="en-US" sz="1250" dirty="0">
                <a:solidFill>
                  <a:srgbClr val="6B7280"/>
                </a:solidFill>
              </a:rPr>
              <a:t>The chapter connects what the agent knows, observes, and does.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Course setup</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Course setup</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Suggested two-hour roadmap</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0-15 min: why uncertainty matters and expected utility.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15-40 min: probability notation and probability axioms.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40-65 min: full joint distributions and inference.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65-90 min: independence, Bayes’ rule, and conditional independence.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90-115 min: naive Bayes and wumpus-world reasoning.</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115-120 min: review questions and next chapter bridge.</a:t>
            </a:r>
            <a:endParaRPr lang="en-US" sz="2000" dirty="0"/>
          </a:p>
        </p:txBody>
      </p:sp>
      <p:sp>
        <p:nvSpPr>
          <p:cNvPr id="9" name="Shape 7"/>
          <p:cNvSpPr/>
          <p:nvPr/>
        </p:nvSpPr>
        <p:spPr>
          <a:xfrm>
            <a:off x="6720840" y="2788920"/>
            <a:ext cx="4800600" cy="0"/>
          </a:xfrm>
          <a:prstGeom prst="line">
            <a:avLst/>
          </a:prstGeom>
          <a:noFill/>
          <a:ln w="38100">
            <a:solidFill>
              <a:srgbClr val="0F8B8D"/>
            </a:solidFill>
            <a:prstDash val="solid"/>
          </a:ln>
        </p:spPr>
      </p:sp>
      <p:sp>
        <p:nvSpPr>
          <p:cNvPr id="10" name="Text 8"/>
          <p:cNvSpPr/>
          <p:nvPr/>
        </p:nvSpPr>
        <p:spPr>
          <a:xfrm>
            <a:off x="679399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1</a:t>
            </a:r>
            <a:endParaRPr lang="en-US" sz="950" dirty="0"/>
          </a:p>
        </p:txBody>
      </p:sp>
      <p:sp>
        <p:nvSpPr>
          <p:cNvPr id="11" name="Text 9"/>
          <p:cNvSpPr/>
          <p:nvPr/>
        </p:nvSpPr>
        <p:spPr>
          <a:xfrm>
            <a:off x="639165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Motivation</a:t>
            </a:r>
            <a:endParaRPr lang="en-US" sz="1220" dirty="0"/>
          </a:p>
        </p:txBody>
      </p:sp>
      <p:sp>
        <p:nvSpPr>
          <p:cNvPr id="12" name="Text 10"/>
          <p:cNvSpPr/>
          <p:nvPr/>
        </p:nvSpPr>
        <p:spPr>
          <a:xfrm>
            <a:off x="639165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uncertain agents</a:t>
            </a:r>
            <a:endParaRPr lang="en-US" sz="1030" dirty="0"/>
          </a:p>
        </p:txBody>
      </p:sp>
      <p:sp>
        <p:nvSpPr>
          <p:cNvPr id="13" name="Text 11"/>
          <p:cNvSpPr/>
          <p:nvPr/>
        </p:nvSpPr>
        <p:spPr>
          <a:xfrm>
            <a:off x="821131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2</a:t>
            </a:r>
            <a:endParaRPr lang="en-US" sz="950" dirty="0"/>
          </a:p>
        </p:txBody>
      </p:sp>
      <p:sp>
        <p:nvSpPr>
          <p:cNvPr id="14" name="Text 12"/>
          <p:cNvSpPr/>
          <p:nvPr/>
        </p:nvSpPr>
        <p:spPr>
          <a:xfrm>
            <a:off x="780897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Notation</a:t>
            </a:r>
            <a:endParaRPr lang="en-US" sz="1220" dirty="0"/>
          </a:p>
        </p:txBody>
      </p:sp>
      <p:sp>
        <p:nvSpPr>
          <p:cNvPr id="15" name="Text 13"/>
          <p:cNvSpPr/>
          <p:nvPr/>
        </p:nvSpPr>
        <p:spPr>
          <a:xfrm>
            <a:off x="780897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probability language</a:t>
            </a:r>
            <a:endParaRPr lang="en-US" sz="1030" dirty="0"/>
          </a:p>
        </p:txBody>
      </p:sp>
      <p:sp>
        <p:nvSpPr>
          <p:cNvPr id="16" name="Text 14"/>
          <p:cNvSpPr/>
          <p:nvPr/>
        </p:nvSpPr>
        <p:spPr>
          <a:xfrm>
            <a:off x="962863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3</a:t>
            </a:r>
            <a:endParaRPr lang="en-US" sz="950" dirty="0"/>
          </a:p>
        </p:txBody>
      </p:sp>
      <p:sp>
        <p:nvSpPr>
          <p:cNvPr id="17" name="Text 15"/>
          <p:cNvSpPr/>
          <p:nvPr/>
        </p:nvSpPr>
        <p:spPr>
          <a:xfrm>
            <a:off x="922629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Inference</a:t>
            </a:r>
            <a:endParaRPr lang="en-US" sz="1220" dirty="0"/>
          </a:p>
        </p:txBody>
      </p:sp>
      <p:sp>
        <p:nvSpPr>
          <p:cNvPr id="18" name="Text 16"/>
          <p:cNvSpPr/>
          <p:nvPr/>
        </p:nvSpPr>
        <p:spPr>
          <a:xfrm>
            <a:off x="922629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full joint</a:t>
            </a:r>
            <a:endParaRPr lang="en-US" sz="1030" dirty="0"/>
          </a:p>
        </p:txBody>
      </p:sp>
      <p:sp>
        <p:nvSpPr>
          <p:cNvPr id="19" name="Text 17"/>
          <p:cNvSpPr/>
          <p:nvPr/>
        </p:nvSpPr>
        <p:spPr>
          <a:xfrm>
            <a:off x="1104595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4</a:t>
            </a:r>
            <a:endParaRPr lang="en-US" sz="950" dirty="0"/>
          </a:p>
        </p:txBody>
      </p:sp>
      <p:sp>
        <p:nvSpPr>
          <p:cNvPr id="20" name="Text 18"/>
          <p:cNvSpPr/>
          <p:nvPr/>
        </p:nvSpPr>
        <p:spPr>
          <a:xfrm>
            <a:off x="1064361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Structure</a:t>
            </a:r>
            <a:endParaRPr lang="en-US" sz="1220" dirty="0"/>
          </a:p>
        </p:txBody>
      </p:sp>
      <p:sp>
        <p:nvSpPr>
          <p:cNvPr id="21" name="Text 19"/>
          <p:cNvSpPr/>
          <p:nvPr/>
        </p:nvSpPr>
        <p:spPr>
          <a:xfrm>
            <a:off x="1064361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Bayes and independence</a:t>
            </a:r>
            <a:endParaRPr lang="en-US" sz="10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Course setup</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Course setup</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central idea</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Uncertainty is normal in real environments.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is a language for graded belief.</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Utility is a language for preference.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Decision theory combines both to choose actions.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400" b="1" dirty="0">
                <a:solidFill>
                  <a:srgbClr val="14213D"/>
                </a:solidFill>
                <a:latin typeface="Cambria Math" pitchFamily="34" charset="0"/>
                <a:ea typeface="Cambria Math" pitchFamily="34" charset="-122"/>
                <a:cs typeface="Cambria Math" pitchFamily="34" charset="-120"/>
              </a:rPr>
              <a:t>Decision theory</a:t>
            </a:r>
            <a:endParaRPr lang="en-US" sz="2400" dirty="0"/>
          </a:p>
          <a:p>
            <a:pPr algn="ctr" indent="0" marL="0">
              <a:buNone/>
            </a:pPr>
            <a:r>
              <a:rPr lang="en-US" sz="2400" b="1" dirty="0">
                <a:solidFill>
                  <a:srgbClr val="14213D"/>
                </a:solidFill>
                <a:latin typeface="Cambria Math" pitchFamily="34" charset="0"/>
                <a:ea typeface="Cambria Math" pitchFamily="34" charset="-122"/>
                <a:cs typeface="Cambria Math" pitchFamily="34" charset="-120"/>
              </a:rPr>
              <a:t>= probability + utility</a:t>
            </a:r>
            <a:endParaRPr lang="en-US" sz="24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Beliefs tell us what may happen. Utilities tell us what matters.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12.1</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12.1 Acting under uncertainty</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Why a rational agent needs degrees of belief instead of certainty.</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Where uncertainty comes from</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Partial observability: sensors reveal only part of the state.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Nondeterminism: actions can have multiple outcomes.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Adversaries: other agents may actively oppose the plan.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agent may not know exactly where it is or where it will end up.</a:t>
            </a:r>
            <a:endParaRPr lang="en-US" sz="2000" dirty="0"/>
          </a:p>
        </p:txBody>
      </p:sp>
      <p:sp>
        <p:nvSpPr>
          <p:cNvPr id="9" name="Text 7"/>
          <p:cNvSpPr/>
          <p:nvPr/>
        </p:nvSpPr>
        <p:spPr>
          <a:xfrm>
            <a:off x="7269480" y="1298448"/>
            <a:ext cx="1325880" cy="1051560"/>
          </a:xfrm>
          <a:prstGeom prst="ellipse">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Partial</a:t>
            </a:r>
            <a:endParaRPr lang="en-US" sz="1400" dirty="0"/>
          </a:p>
          <a:p>
            <a:pPr algn="ctr" indent="0" marL="0">
              <a:buNone/>
            </a:pPr>
            <a:r>
              <a:rPr lang="en-US" sz="1400" b="1" dirty="0">
                <a:solidFill>
                  <a:srgbClr val="14213D"/>
                </a:solidFill>
                <a:latin typeface="Aptos" pitchFamily="34" charset="0"/>
                <a:ea typeface="Aptos" pitchFamily="34" charset="-122"/>
                <a:cs typeface="Aptos" pitchFamily="34" charset="-120"/>
              </a:rPr>
              <a:t>observability</a:t>
            </a:r>
            <a:endParaRPr lang="en-US" sz="1400" dirty="0"/>
          </a:p>
        </p:txBody>
      </p:sp>
      <p:sp>
        <p:nvSpPr>
          <p:cNvPr id="10" name="Text 8"/>
          <p:cNvSpPr/>
          <p:nvPr/>
        </p:nvSpPr>
        <p:spPr>
          <a:xfrm>
            <a:off x="9646920" y="1298448"/>
            <a:ext cx="1325880" cy="1051560"/>
          </a:xfrm>
          <a:prstGeom prst="ellipse">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Nondeterminism</a:t>
            </a:r>
            <a:endParaRPr lang="en-US" sz="1400" dirty="0"/>
          </a:p>
        </p:txBody>
      </p:sp>
      <p:sp>
        <p:nvSpPr>
          <p:cNvPr id="11" name="Text 9"/>
          <p:cNvSpPr/>
          <p:nvPr/>
        </p:nvSpPr>
        <p:spPr>
          <a:xfrm>
            <a:off x="8458200" y="4005072"/>
            <a:ext cx="1325880" cy="1051560"/>
          </a:xfrm>
          <a:prstGeom prst="ellipse">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Adversaries</a:t>
            </a:r>
            <a:endParaRPr lang="en-US" sz="1400" dirty="0"/>
          </a:p>
        </p:txBody>
      </p:sp>
      <p:sp>
        <p:nvSpPr>
          <p:cNvPr id="12" name="Text 10"/>
          <p:cNvSpPr/>
          <p:nvPr/>
        </p:nvSpPr>
        <p:spPr>
          <a:xfrm>
            <a:off x="8001000" y="2724912"/>
            <a:ext cx="2286000" cy="676656"/>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Uncertainty</a:t>
            </a:r>
            <a:endParaRPr lang="en-US" sz="1600" dirty="0"/>
          </a:p>
        </p:txBody>
      </p:sp>
      <p:sp>
        <p:nvSpPr>
          <p:cNvPr id="13" name="Shape 11"/>
          <p:cNvSpPr/>
          <p:nvPr/>
        </p:nvSpPr>
        <p:spPr>
          <a:xfrm>
            <a:off x="7845552" y="2359152"/>
            <a:ext cx="384048" cy="347472"/>
          </a:xfrm>
          <a:prstGeom prst="line">
            <a:avLst/>
          </a:prstGeom>
          <a:noFill/>
          <a:ln w="15240">
            <a:solidFill>
              <a:srgbClr val="6B7280"/>
            </a:solidFill>
            <a:prstDash val="solid"/>
            <a:tailEnd type="triangle"/>
          </a:ln>
        </p:spPr>
      </p:sp>
      <p:sp>
        <p:nvSpPr>
          <p:cNvPr id="14" name="Shape 12"/>
          <p:cNvSpPr/>
          <p:nvPr/>
        </p:nvSpPr>
        <p:spPr>
          <a:xfrm>
            <a:off x="10131552" y="2359152"/>
            <a:ext cx="-137160" cy="347472"/>
          </a:xfrm>
          <a:prstGeom prst="line">
            <a:avLst/>
          </a:prstGeom>
          <a:noFill/>
          <a:ln w="15240">
            <a:solidFill>
              <a:srgbClr val="6B7280"/>
            </a:solidFill>
            <a:prstDash val="solid"/>
            <a:tailEnd type="triangle"/>
          </a:ln>
        </p:spPr>
      </p:sp>
      <p:sp>
        <p:nvSpPr>
          <p:cNvPr id="15" name="Shape 13"/>
          <p:cNvSpPr/>
          <p:nvPr/>
        </p:nvSpPr>
        <p:spPr>
          <a:xfrm>
            <a:off x="9125712" y="3977640"/>
            <a:ext cx="0" cy="-539496"/>
          </a:xfrm>
          <a:prstGeom prst="line">
            <a:avLst/>
          </a:prstGeom>
          <a:noFill/>
          <a:ln w="15240">
            <a:solidFill>
              <a:srgbClr val="6B7280"/>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Belief states helped, but not enough</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Earlier agents tracked a set of possible world states.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contingency plan tried to handle every sensor result.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works for small toy problems.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It becomes unwieldy when unlikely possibilities multiply.</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Percepts</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Belief state</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Contingency plan</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Action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three drawbacks of all-possibilities reasoning</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It must track every explanation, even wildly unlikely ones.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guaranteed plan can grow arbitrarily large.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Sometimes no guaranteed plan exists, yet the agent still must act.</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C94C4C"/>
                </a:solidFill>
                <a:latin typeface="Aptos Display" pitchFamily="34" charset="0"/>
                <a:ea typeface="Aptos Display" pitchFamily="34" charset="-122"/>
                <a:cs typeface="Aptos Display" pitchFamily="34" charset="-120"/>
              </a:rPr>
              <a:t>Certainty is expensive</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Planning for every possible contingency can dominate the real task.</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Probability lets us focus on plausible possibilities.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Airport taxi example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Goal: deliver a passenger to the airport on time.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Plan A90 leaves 90 minutes before departure.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logical agent cannot prove success with certainty.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rational agent compares expected outcomes.</a:t>
            </a:r>
            <a:endParaRPr lang="en-US" sz="2000" dirty="0"/>
          </a:p>
        </p:txBody>
      </p:sp>
      <p:sp>
        <p:nvSpPr>
          <p:cNvPr id="9" name="Shape 7"/>
          <p:cNvSpPr/>
          <p:nvPr/>
        </p:nvSpPr>
        <p:spPr>
          <a:xfrm>
            <a:off x="6720840" y="2788920"/>
            <a:ext cx="4800600" cy="0"/>
          </a:xfrm>
          <a:prstGeom prst="line">
            <a:avLst/>
          </a:prstGeom>
          <a:noFill/>
          <a:ln w="38100">
            <a:solidFill>
              <a:srgbClr val="0F8B8D"/>
            </a:solidFill>
            <a:prstDash val="solid"/>
          </a:ln>
        </p:spPr>
      </p:sp>
      <p:sp>
        <p:nvSpPr>
          <p:cNvPr id="10" name="Text 8"/>
          <p:cNvSpPr/>
          <p:nvPr/>
        </p:nvSpPr>
        <p:spPr>
          <a:xfrm>
            <a:off x="679399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A60</a:t>
            </a:r>
            <a:endParaRPr lang="en-US" sz="950" dirty="0"/>
          </a:p>
        </p:txBody>
      </p:sp>
      <p:sp>
        <p:nvSpPr>
          <p:cNvPr id="11" name="Text 9"/>
          <p:cNvSpPr/>
          <p:nvPr/>
        </p:nvSpPr>
        <p:spPr>
          <a:xfrm>
            <a:off x="639165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Leave 60 min</a:t>
            </a:r>
            <a:endParaRPr lang="en-US" sz="1220" dirty="0"/>
          </a:p>
        </p:txBody>
      </p:sp>
      <p:sp>
        <p:nvSpPr>
          <p:cNvPr id="12" name="Text 10"/>
          <p:cNvSpPr/>
          <p:nvPr/>
        </p:nvSpPr>
        <p:spPr>
          <a:xfrm>
            <a:off x="639165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risky</a:t>
            </a:r>
            <a:endParaRPr lang="en-US" sz="1030" dirty="0"/>
          </a:p>
        </p:txBody>
      </p:sp>
      <p:sp>
        <p:nvSpPr>
          <p:cNvPr id="13" name="Text 11"/>
          <p:cNvSpPr/>
          <p:nvPr/>
        </p:nvSpPr>
        <p:spPr>
          <a:xfrm>
            <a:off x="821131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A90</a:t>
            </a:r>
            <a:endParaRPr lang="en-US" sz="950" dirty="0"/>
          </a:p>
        </p:txBody>
      </p:sp>
      <p:sp>
        <p:nvSpPr>
          <p:cNvPr id="14" name="Text 12"/>
          <p:cNvSpPr/>
          <p:nvPr/>
        </p:nvSpPr>
        <p:spPr>
          <a:xfrm>
            <a:off x="780897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Leave 90 min</a:t>
            </a:r>
            <a:endParaRPr lang="en-US" sz="1220" dirty="0"/>
          </a:p>
        </p:txBody>
      </p:sp>
      <p:sp>
        <p:nvSpPr>
          <p:cNvPr id="15" name="Text 13"/>
          <p:cNvSpPr/>
          <p:nvPr/>
        </p:nvSpPr>
        <p:spPr>
          <a:xfrm>
            <a:off x="780897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balanced</a:t>
            </a:r>
            <a:endParaRPr lang="en-US" sz="1030" dirty="0"/>
          </a:p>
        </p:txBody>
      </p:sp>
      <p:sp>
        <p:nvSpPr>
          <p:cNvPr id="16" name="Text 14"/>
          <p:cNvSpPr/>
          <p:nvPr/>
        </p:nvSpPr>
        <p:spPr>
          <a:xfrm>
            <a:off x="962863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A180</a:t>
            </a:r>
            <a:endParaRPr lang="en-US" sz="950" dirty="0"/>
          </a:p>
        </p:txBody>
      </p:sp>
      <p:sp>
        <p:nvSpPr>
          <p:cNvPr id="17" name="Text 15"/>
          <p:cNvSpPr/>
          <p:nvPr/>
        </p:nvSpPr>
        <p:spPr>
          <a:xfrm>
            <a:off x="922629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Leave 180 min</a:t>
            </a:r>
            <a:endParaRPr lang="en-US" sz="1220" dirty="0"/>
          </a:p>
        </p:txBody>
      </p:sp>
      <p:sp>
        <p:nvSpPr>
          <p:cNvPr id="18" name="Text 16"/>
          <p:cNvSpPr/>
          <p:nvPr/>
        </p:nvSpPr>
        <p:spPr>
          <a:xfrm>
            <a:off x="922629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safer</a:t>
            </a:r>
            <a:endParaRPr lang="en-US" sz="1030" dirty="0"/>
          </a:p>
        </p:txBody>
      </p:sp>
      <p:sp>
        <p:nvSpPr>
          <p:cNvPr id="19" name="Text 17"/>
          <p:cNvSpPr/>
          <p:nvPr/>
        </p:nvSpPr>
        <p:spPr>
          <a:xfrm>
            <a:off x="11045952" y="2505456"/>
            <a:ext cx="402336" cy="402336"/>
          </a:xfrm>
          <a:prstGeom prst="ellipse">
            <a:avLst/>
          </a:prstGeom>
          <a:solidFill>
            <a:srgbClr val="FFFFFF"/>
          </a:solidFill>
          <a:ln w="12700">
            <a:solidFill>
              <a:srgbClr val="0F8B8D"/>
            </a:solidFill>
          </a:ln>
        </p:spPr>
        <p:txBody>
          <a:bodyPr wrap="square" lIns="1016" tIns="1016" rIns="1016" bIns="1016" rtlCol="0" anchor="ctr">
            <a:normAutofit/>
          </a:bodyPr>
          <a:lstStyle/>
          <a:p>
            <a:pPr algn="ctr" indent="0" marL="0">
              <a:buNone/>
            </a:pPr>
            <a:r>
              <a:rPr lang="en-US" sz="950" b="1" dirty="0">
                <a:solidFill>
                  <a:srgbClr val="0F8B8D"/>
                </a:solidFill>
                <a:latin typeface="Aptos" pitchFamily="34" charset="0"/>
                <a:ea typeface="Aptos" pitchFamily="34" charset="-122"/>
                <a:cs typeface="Aptos" pitchFamily="34" charset="-120"/>
              </a:rPr>
              <a:t>A1440</a:t>
            </a:r>
            <a:endParaRPr lang="en-US" sz="950" dirty="0"/>
          </a:p>
        </p:txBody>
      </p:sp>
      <p:sp>
        <p:nvSpPr>
          <p:cNvPr id="20" name="Text 18"/>
          <p:cNvSpPr/>
          <p:nvPr/>
        </p:nvSpPr>
        <p:spPr>
          <a:xfrm>
            <a:off x="10643616" y="3209544"/>
            <a:ext cx="1207008" cy="530352"/>
          </a:xfrm>
          <a:prstGeom prst="rect">
            <a:avLst/>
          </a:prstGeom>
          <a:noFill/>
          <a:ln/>
        </p:spPr>
        <p:txBody>
          <a:bodyPr wrap="square" lIns="254" tIns="254" rIns="254" bIns="254" rtlCol="0" anchor="ctr">
            <a:normAutofit/>
          </a:bodyPr>
          <a:lstStyle/>
          <a:p>
            <a:pPr algn="ctr" indent="0" marL="0">
              <a:buNone/>
            </a:pPr>
            <a:r>
              <a:rPr lang="en-US" sz="1220" b="1" dirty="0">
                <a:solidFill>
                  <a:srgbClr val="14213D"/>
                </a:solidFill>
              </a:rPr>
              <a:t>Leave 24 hr</a:t>
            </a:r>
            <a:endParaRPr lang="en-US" sz="1220" dirty="0"/>
          </a:p>
        </p:txBody>
      </p:sp>
      <p:sp>
        <p:nvSpPr>
          <p:cNvPr id="21" name="Text 19"/>
          <p:cNvSpPr/>
          <p:nvPr/>
        </p:nvSpPr>
        <p:spPr>
          <a:xfrm>
            <a:off x="10643616" y="3867912"/>
            <a:ext cx="1207008" cy="384048"/>
          </a:xfrm>
          <a:prstGeom prst="rect">
            <a:avLst/>
          </a:prstGeom>
          <a:noFill/>
          <a:ln/>
        </p:spPr>
        <p:txBody>
          <a:bodyPr wrap="square" lIns="254" tIns="254" rIns="254" bIns="254" rtlCol="0" anchor="ctr">
            <a:normAutofit/>
          </a:bodyPr>
          <a:lstStyle/>
          <a:p>
            <a:pPr algn="ctr" indent="0" marL="0">
              <a:buNone/>
            </a:pPr>
            <a:r>
              <a:rPr lang="en-US" sz="1030" dirty="0">
                <a:solidFill>
                  <a:srgbClr val="6B7280"/>
                </a:solidFill>
              </a:rPr>
              <a:t>excessive</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logical qualification problem</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plan is rarely guaranteed unless every exception is ruled out.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Exceptions can include breakdowns, accidents, closures, extreme events, and more.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Listing all qualifications is not practical.</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summarizes the remaining uncertainty.</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FCA311"/>
                </a:solidFill>
                <a:latin typeface="Aptos Display" pitchFamily="34" charset="0"/>
                <a:ea typeface="Aptos Display" pitchFamily="34" charset="-122"/>
                <a:cs typeface="Aptos Display" pitchFamily="34" charset="-120"/>
              </a:rPr>
              <a:t>A90 succeeds if...</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no breakdown</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no accident</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no closure</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no rare disaster</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The list does not end.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Rational does not mean guaranteed</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best action may still fail.</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rational action maximizes expected performance given current knowledge.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Likelihood matters, but so does the value of each outcome.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plan with higher success probability may still be worse overall.</a:t>
            </a:r>
            <a:endParaRPr lang="en-US" sz="2000" dirty="0"/>
          </a:p>
        </p:txBody>
      </p:sp>
      <p:sp>
        <p:nvSpPr>
          <p:cNvPr id="9" name="Text 7"/>
          <p:cNvSpPr/>
          <p:nvPr/>
        </p:nvSpPr>
        <p:spPr>
          <a:xfrm>
            <a:off x="6537960" y="1600200"/>
            <a:ext cx="2057400" cy="82296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More likely</a:t>
            </a:r>
            <a:endParaRPr lang="en-US" sz="1600" dirty="0"/>
          </a:p>
        </p:txBody>
      </p:sp>
      <p:sp>
        <p:nvSpPr>
          <p:cNvPr id="10" name="Text 8"/>
          <p:cNvSpPr/>
          <p:nvPr/>
        </p:nvSpPr>
        <p:spPr>
          <a:xfrm>
            <a:off x="9189720" y="1600200"/>
            <a:ext cx="2057400" cy="82296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More useful</a:t>
            </a:r>
            <a:endParaRPr lang="en-US" sz="1600" dirty="0"/>
          </a:p>
        </p:txBody>
      </p:sp>
      <p:sp>
        <p:nvSpPr>
          <p:cNvPr id="11" name="Shape 9"/>
          <p:cNvSpPr/>
          <p:nvPr/>
        </p:nvSpPr>
        <p:spPr>
          <a:xfrm>
            <a:off x="8622792" y="2011680"/>
            <a:ext cx="502920" cy="0"/>
          </a:xfrm>
          <a:prstGeom prst="line">
            <a:avLst/>
          </a:prstGeom>
          <a:noFill/>
          <a:ln w="19050">
            <a:solidFill>
              <a:srgbClr val="6B7280"/>
            </a:solidFill>
            <a:prstDash val="solid"/>
            <a:tailEnd type="triangle"/>
          </a:ln>
        </p:spPr>
      </p:sp>
      <p:sp>
        <p:nvSpPr>
          <p:cNvPr id="12" name="Text 10"/>
          <p:cNvSpPr/>
          <p:nvPr/>
        </p:nvSpPr>
        <p:spPr>
          <a:xfrm>
            <a:off x="7635240" y="3246120"/>
            <a:ext cx="2514600" cy="6858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Expected utility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 Acting under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 Acting under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Two questions every uncertain agent asks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Belief question: How likely is each possible outcome?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Preference question: How good or bad is each outcome?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Action question: Which action has the best average payoff?</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chapter builds the belief side first, then connects it to decisions.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200" b="1" dirty="0">
                <a:solidFill>
                  <a:srgbClr val="14213D"/>
                </a:solidFill>
                <a:latin typeface="Cambria Math" pitchFamily="34" charset="0"/>
                <a:ea typeface="Cambria Math" pitchFamily="34" charset="-122"/>
                <a:cs typeface="Cambria Math" pitchFamily="34" charset="-120"/>
              </a:rPr>
              <a:t>Expected utility</a:t>
            </a:r>
            <a:endParaRPr lang="en-US" sz="2200" dirty="0"/>
          </a:p>
          <a:p>
            <a:pPr algn="ctr" indent="0" marL="0">
              <a:buNone/>
            </a:pPr>
            <a:r>
              <a:rPr lang="en-US" sz="2200" b="1" dirty="0">
                <a:solidFill>
                  <a:srgbClr val="14213D"/>
                </a:solidFill>
                <a:latin typeface="Cambria Math" pitchFamily="34" charset="0"/>
                <a:ea typeface="Cambria Math" pitchFamily="34" charset="-122"/>
                <a:cs typeface="Cambria Math" pitchFamily="34" charset="-120"/>
              </a:rPr>
              <a:t>= Σ probability × utility</a:t>
            </a:r>
            <a:endParaRPr lang="en-US" sz="22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Average over outcomes, weighted by likelihood.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12.1.1</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12.1.1 Summarizing uncertainty</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Probability as a practical summary of laziness and ignorance.</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Dental diagnosis: a simple but powerful example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Observation: a patient has a toothache.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Possible cause: a cavity.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But toothaches can have many causes.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Cavities do not always cause pain.</a:t>
            </a:r>
            <a:endParaRPr lang="en-US" sz="2000" dirty="0"/>
          </a:p>
        </p:txBody>
      </p:sp>
      <p:sp>
        <p:nvSpPr>
          <p:cNvPr id="9" name="Text 7"/>
          <p:cNvSpPr/>
          <p:nvPr/>
        </p:nvSpPr>
        <p:spPr>
          <a:xfrm>
            <a:off x="8321040" y="1508760"/>
            <a:ext cx="1417320" cy="64008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Cavity</a:t>
            </a:r>
            <a:endParaRPr lang="en-US" sz="1600" dirty="0"/>
          </a:p>
        </p:txBody>
      </p:sp>
      <p:sp>
        <p:nvSpPr>
          <p:cNvPr id="10" name="Shape 8"/>
          <p:cNvSpPr/>
          <p:nvPr/>
        </p:nvSpPr>
        <p:spPr>
          <a:xfrm>
            <a:off x="8641080" y="2157984"/>
            <a:ext cx="-914400" cy="841248"/>
          </a:xfrm>
          <a:prstGeom prst="line">
            <a:avLst/>
          </a:prstGeom>
          <a:noFill/>
          <a:ln w="19050">
            <a:solidFill>
              <a:srgbClr val="6B7280"/>
            </a:solidFill>
            <a:prstDash val="solid"/>
            <a:tailEnd type="triangle"/>
          </a:ln>
        </p:spPr>
      </p:sp>
      <p:sp>
        <p:nvSpPr>
          <p:cNvPr id="11" name="Shape 9"/>
          <p:cNvSpPr/>
          <p:nvPr/>
        </p:nvSpPr>
        <p:spPr>
          <a:xfrm>
            <a:off x="9372600" y="2157984"/>
            <a:ext cx="822960" cy="841248"/>
          </a:xfrm>
          <a:prstGeom prst="line">
            <a:avLst/>
          </a:prstGeom>
          <a:noFill/>
          <a:ln w="19050">
            <a:solidFill>
              <a:srgbClr val="6B7280"/>
            </a:solidFill>
            <a:prstDash val="solid"/>
            <a:tailEnd type="triangle"/>
          </a:ln>
        </p:spPr>
      </p:sp>
      <p:sp>
        <p:nvSpPr>
          <p:cNvPr id="12" name="Text 10"/>
          <p:cNvSpPr/>
          <p:nvPr/>
        </p:nvSpPr>
        <p:spPr>
          <a:xfrm>
            <a:off x="6675120" y="306324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Toothache</a:t>
            </a:r>
            <a:endParaRPr lang="en-US" sz="1600" dirty="0"/>
          </a:p>
        </p:txBody>
      </p:sp>
      <p:sp>
        <p:nvSpPr>
          <p:cNvPr id="13" name="Text 11"/>
          <p:cNvSpPr/>
          <p:nvPr/>
        </p:nvSpPr>
        <p:spPr>
          <a:xfrm>
            <a:off x="9829800" y="3063240"/>
            <a:ext cx="1691640" cy="640080"/>
          </a:xfrm>
          <a:prstGeom prst="roundRect">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Catch</a:t>
            </a:r>
            <a:endParaRPr lang="en-US" sz="1600" dirty="0"/>
          </a:p>
        </p:txBody>
      </p:sp>
      <p:sp>
        <p:nvSpPr>
          <p:cNvPr id="14" name="Text 12"/>
          <p:cNvSpPr/>
          <p:nvPr/>
        </p:nvSpPr>
        <p:spPr>
          <a:xfrm>
            <a:off x="7452360" y="4617720"/>
            <a:ext cx="3337560" cy="5029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dirty="0">
                <a:solidFill>
                  <a:srgbClr val="6B7280"/>
                </a:solidFill>
                <a:latin typeface="Aptos" pitchFamily="34" charset="0"/>
                <a:ea typeface="Aptos" pitchFamily="34" charset="-122"/>
                <a:cs typeface="Aptos" pitchFamily="34" charset="-120"/>
              </a:rPr>
              <a:t>No direct arrow between effects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Why strict rules fail</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Toothache implies cavity is too strong.</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Cavity implies toothache is also too strong.</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Adding every exception creates unmanageable rules.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Most real diagnostic domains have this pattern.</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300" b="1" dirty="0">
                <a:solidFill>
                  <a:srgbClr val="14213D"/>
                </a:solidFill>
                <a:latin typeface="Cambria Math" pitchFamily="34" charset="0"/>
                <a:ea typeface="Cambria Math" pitchFamily="34" charset="-122"/>
                <a:cs typeface="Cambria Math" pitchFamily="34" charset="-120"/>
              </a:rPr>
              <a:t>Toothache ⇒ Cavity</a:t>
            </a:r>
            <a:endParaRPr lang="en-US" sz="2300" dirty="0"/>
          </a:p>
          <a:p>
            <a:pPr algn="ctr" indent="0" marL="0">
              <a:buNone/>
            </a:pPr>
            <a:r>
              <a:rPr lang="en-US" sz="2300" b="1" dirty="0">
                <a:solidFill>
                  <a:srgbClr val="14213D"/>
                </a:solidFill>
                <a:latin typeface="Cambria Math" pitchFamily="34" charset="0"/>
                <a:ea typeface="Cambria Math" pitchFamily="34" charset="-122"/>
                <a:cs typeface="Cambria Math" pitchFamily="34" charset="-120"/>
              </a:rPr>
              <a:t>Cavity ⇒ Toothache</a:t>
            </a:r>
            <a:endParaRPr lang="en-US" sz="23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Both rules are useful intuitions, but neither is logically valid.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Three reasons certainty breaks down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Laziness: complete rules are too much work to write and 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Theoretical ignorance: the science may not be complete.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Practical ignorance: tests may be unavailable, costly, or not yet run.</a:t>
            </a:r>
            <a:endParaRPr lang="en-US" sz="2000" dirty="0"/>
          </a:p>
        </p:txBody>
      </p:sp>
      <p:sp>
        <p:nvSpPr>
          <p:cNvPr id="9" name="Text 7"/>
          <p:cNvSpPr/>
          <p:nvPr/>
        </p:nvSpPr>
        <p:spPr>
          <a:xfrm>
            <a:off x="7269480" y="1298448"/>
            <a:ext cx="1325880" cy="1051560"/>
          </a:xfrm>
          <a:prstGeom prst="ellipse">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Laziness</a:t>
            </a:r>
            <a:endParaRPr lang="en-US" sz="1400" dirty="0"/>
          </a:p>
        </p:txBody>
      </p:sp>
      <p:sp>
        <p:nvSpPr>
          <p:cNvPr id="10" name="Text 8"/>
          <p:cNvSpPr/>
          <p:nvPr/>
        </p:nvSpPr>
        <p:spPr>
          <a:xfrm>
            <a:off x="9646920" y="1298448"/>
            <a:ext cx="1325880" cy="1051560"/>
          </a:xfrm>
          <a:prstGeom prst="ellipse">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Theoretical</a:t>
            </a:r>
            <a:endParaRPr lang="en-US" sz="1400" dirty="0"/>
          </a:p>
          <a:p>
            <a:pPr algn="ctr" indent="0" marL="0">
              <a:buNone/>
            </a:pPr>
            <a:r>
              <a:rPr lang="en-US" sz="1400" b="1" dirty="0">
                <a:solidFill>
                  <a:srgbClr val="14213D"/>
                </a:solidFill>
                <a:latin typeface="Aptos" pitchFamily="34" charset="0"/>
                <a:ea typeface="Aptos" pitchFamily="34" charset="-122"/>
                <a:cs typeface="Aptos" pitchFamily="34" charset="-120"/>
              </a:rPr>
              <a:t>ignorance</a:t>
            </a:r>
            <a:endParaRPr lang="en-US" sz="1400" dirty="0"/>
          </a:p>
        </p:txBody>
      </p:sp>
      <p:sp>
        <p:nvSpPr>
          <p:cNvPr id="11" name="Text 9"/>
          <p:cNvSpPr/>
          <p:nvPr/>
        </p:nvSpPr>
        <p:spPr>
          <a:xfrm>
            <a:off x="8458200" y="4005072"/>
            <a:ext cx="1325880" cy="1051560"/>
          </a:xfrm>
          <a:prstGeom prst="ellipse">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Practical</a:t>
            </a:r>
            <a:endParaRPr lang="en-US" sz="1400" dirty="0"/>
          </a:p>
          <a:p>
            <a:pPr algn="ctr" indent="0" marL="0">
              <a:buNone/>
            </a:pPr>
            <a:r>
              <a:rPr lang="en-US" sz="1400" b="1" dirty="0">
                <a:solidFill>
                  <a:srgbClr val="14213D"/>
                </a:solidFill>
                <a:latin typeface="Aptos" pitchFamily="34" charset="0"/>
                <a:ea typeface="Aptos" pitchFamily="34" charset="-122"/>
                <a:cs typeface="Aptos" pitchFamily="34" charset="-120"/>
              </a:rPr>
              <a:t>ignorance</a:t>
            </a:r>
            <a:endParaRPr lang="en-US" sz="1400" dirty="0"/>
          </a:p>
        </p:txBody>
      </p:sp>
      <p:sp>
        <p:nvSpPr>
          <p:cNvPr id="12" name="Text 10"/>
          <p:cNvSpPr/>
          <p:nvPr/>
        </p:nvSpPr>
        <p:spPr>
          <a:xfrm>
            <a:off x="8001000" y="2724912"/>
            <a:ext cx="2286000" cy="676656"/>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Need probability</a:t>
            </a:r>
            <a:endParaRPr lang="en-US" sz="1600" dirty="0"/>
          </a:p>
        </p:txBody>
      </p:sp>
      <p:sp>
        <p:nvSpPr>
          <p:cNvPr id="13" name="Shape 11"/>
          <p:cNvSpPr/>
          <p:nvPr/>
        </p:nvSpPr>
        <p:spPr>
          <a:xfrm>
            <a:off x="7845552" y="2359152"/>
            <a:ext cx="384048" cy="347472"/>
          </a:xfrm>
          <a:prstGeom prst="line">
            <a:avLst/>
          </a:prstGeom>
          <a:noFill/>
          <a:ln w="15240">
            <a:solidFill>
              <a:srgbClr val="6B7280"/>
            </a:solidFill>
            <a:prstDash val="solid"/>
            <a:tailEnd type="triangle"/>
          </a:ln>
        </p:spPr>
      </p:sp>
      <p:sp>
        <p:nvSpPr>
          <p:cNvPr id="14" name="Shape 12"/>
          <p:cNvSpPr/>
          <p:nvPr/>
        </p:nvSpPr>
        <p:spPr>
          <a:xfrm>
            <a:off x="10131552" y="2359152"/>
            <a:ext cx="-137160" cy="347472"/>
          </a:xfrm>
          <a:prstGeom prst="line">
            <a:avLst/>
          </a:prstGeom>
          <a:noFill/>
          <a:ln w="15240">
            <a:solidFill>
              <a:srgbClr val="6B7280"/>
            </a:solidFill>
            <a:prstDash val="solid"/>
            <a:tailEnd type="triangle"/>
          </a:ln>
        </p:spPr>
      </p:sp>
      <p:sp>
        <p:nvSpPr>
          <p:cNvPr id="15" name="Shape 13"/>
          <p:cNvSpPr/>
          <p:nvPr/>
        </p:nvSpPr>
        <p:spPr>
          <a:xfrm>
            <a:off x="9125712" y="3977640"/>
            <a:ext cx="0" cy="-539496"/>
          </a:xfrm>
          <a:prstGeom prst="line">
            <a:avLst/>
          </a:prstGeom>
          <a:noFill/>
          <a:ln w="15240">
            <a:solidFill>
              <a:srgbClr val="6B7280"/>
            </a:solidFill>
            <a:prstDash val="solid"/>
            <a:tailEnd type="triangle"/>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Degrees of belief</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probabilistic agent can assign values between 0 and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0 means impossible under the model; 1 means certain under the model.</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Intermediate values summarize uncertainty.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number is about the agent’s knowledge, not a partially true fact.</a:t>
            </a:r>
            <a:endParaRPr lang="en-US" sz="2000" dirty="0"/>
          </a:p>
        </p:txBody>
      </p:sp>
      <p:sp>
        <p:nvSpPr>
          <p:cNvPr id="9" name="Text 7"/>
          <p:cNvSpPr/>
          <p:nvPr/>
        </p:nvSpPr>
        <p:spPr>
          <a:xfrm>
            <a:off x="6583680" y="1508760"/>
            <a:ext cx="1645920" cy="256032"/>
          </a:xfrm>
          <a:prstGeom prst="rect">
            <a:avLst/>
          </a:prstGeom>
          <a:noFill/>
          <a:ln/>
        </p:spPr>
        <p:txBody>
          <a:bodyPr wrap="square" lIns="0" tIns="0" rIns="0" bIns="0" rtlCol="0" anchor="ctr"/>
          <a:lstStyle/>
          <a:p>
            <a:pPr indent="0" marL="0">
              <a:buNone/>
            </a:pPr>
            <a:r>
              <a:rPr lang="en-US" sz="1200" dirty="0">
                <a:solidFill>
                  <a:srgbClr val="14213D"/>
                </a:solidFill>
              </a:rPr>
              <a:t>impossible</a:t>
            </a:r>
            <a:endParaRPr lang="en-US" sz="1200" dirty="0"/>
          </a:p>
        </p:txBody>
      </p:sp>
      <p:sp>
        <p:nvSpPr>
          <p:cNvPr id="10" name="Shape 8"/>
          <p:cNvSpPr/>
          <p:nvPr/>
        </p:nvSpPr>
        <p:spPr>
          <a:xfrm>
            <a:off x="8366760" y="1508760"/>
            <a:ext cx="2743200" cy="256032"/>
          </a:xfrm>
          <a:prstGeom prst="rect">
            <a:avLst/>
          </a:prstGeom>
          <a:solidFill>
            <a:srgbClr val="E5E7EB"/>
          </a:solidFill>
          <a:ln w="12700">
            <a:solidFill>
              <a:srgbClr val="E5E7EB">
                <a:alpha val="0"/>
              </a:srgbClr>
            </a:solidFill>
            <a:prstDash val="solid"/>
          </a:ln>
        </p:spPr>
      </p:sp>
      <p:sp>
        <p:nvSpPr>
          <p:cNvPr id="11" name="Shape 9"/>
          <p:cNvSpPr/>
          <p:nvPr/>
        </p:nvSpPr>
        <p:spPr>
          <a:xfrm>
            <a:off x="8366760" y="1508760"/>
            <a:ext cx="9144" cy="256032"/>
          </a:xfrm>
          <a:prstGeom prst="rect">
            <a:avLst/>
          </a:prstGeom>
          <a:solidFill>
            <a:srgbClr val="C94C4C"/>
          </a:solidFill>
          <a:ln w="12700">
            <a:solidFill>
              <a:srgbClr val="C94C4C">
                <a:alpha val="0"/>
              </a:srgbClr>
            </a:solidFill>
            <a:prstDash val="solid"/>
          </a:ln>
        </p:spPr>
      </p:sp>
      <p:sp>
        <p:nvSpPr>
          <p:cNvPr id="12" name="Text 10"/>
          <p:cNvSpPr/>
          <p:nvPr/>
        </p:nvSpPr>
        <p:spPr>
          <a:xfrm>
            <a:off x="11201400" y="1472184"/>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0%</a:t>
            </a:r>
            <a:endParaRPr lang="en-US" sz="1100" dirty="0"/>
          </a:p>
        </p:txBody>
      </p:sp>
      <p:sp>
        <p:nvSpPr>
          <p:cNvPr id="13" name="Text 11"/>
          <p:cNvSpPr/>
          <p:nvPr/>
        </p:nvSpPr>
        <p:spPr>
          <a:xfrm>
            <a:off x="6583680" y="2258568"/>
            <a:ext cx="1645920" cy="256032"/>
          </a:xfrm>
          <a:prstGeom prst="rect">
            <a:avLst/>
          </a:prstGeom>
          <a:noFill/>
          <a:ln/>
        </p:spPr>
        <p:txBody>
          <a:bodyPr wrap="square" lIns="0" tIns="0" rIns="0" bIns="0" rtlCol="0" anchor="ctr"/>
          <a:lstStyle/>
          <a:p>
            <a:pPr indent="0" marL="0">
              <a:buNone/>
            </a:pPr>
            <a:r>
              <a:rPr lang="en-US" sz="1200" dirty="0">
                <a:solidFill>
                  <a:srgbClr val="14213D"/>
                </a:solidFill>
              </a:rPr>
              <a:t>unlikely</a:t>
            </a:r>
            <a:endParaRPr lang="en-US" sz="1200" dirty="0"/>
          </a:p>
        </p:txBody>
      </p:sp>
      <p:sp>
        <p:nvSpPr>
          <p:cNvPr id="14" name="Shape 12"/>
          <p:cNvSpPr/>
          <p:nvPr/>
        </p:nvSpPr>
        <p:spPr>
          <a:xfrm>
            <a:off x="8366760" y="2258568"/>
            <a:ext cx="2743200" cy="256032"/>
          </a:xfrm>
          <a:prstGeom prst="rect">
            <a:avLst/>
          </a:prstGeom>
          <a:solidFill>
            <a:srgbClr val="E5E7EB"/>
          </a:solidFill>
          <a:ln w="12700">
            <a:solidFill>
              <a:srgbClr val="E5E7EB">
                <a:alpha val="0"/>
              </a:srgbClr>
            </a:solidFill>
            <a:prstDash val="solid"/>
          </a:ln>
        </p:spPr>
      </p:sp>
      <p:sp>
        <p:nvSpPr>
          <p:cNvPr id="15" name="Shape 13"/>
          <p:cNvSpPr/>
          <p:nvPr/>
        </p:nvSpPr>
        <p:spPr>
          <a:xfrm>
            <a:off x="8366760" y="2258568"/>
            <a:ext cx="548640" cy="256032"/>
          </a:xfrm>
          <a:prstGeom prst="rect">
            <a:avLst/>
          </a:prstGeom>
          <a:solidFill>
            <a:srgbClr val="FCA311"/>
          </a:solidFill>
          <a:ln w="12700">
            <a:solidFill>
              <a:srgbClr val="FCA311">
                <a:alpha val="0"/>
              </a:srgbClr>
            </a:solidFill>
            <a:prstDash val="solid"/>
          </a:ln>
        </p:spPr>
      </p:sp>
      <p:sp>
        <p:nvSpPr>
          <p:cNvPr id="16" name="Text 14"/>
          <p:cNvSpPr/>
          <p:nvPr/>
        </p:nvSpPr>
        <p:spPr>
          <a:xfrm>
            <a:off x="11201400" y="2221992"/>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20%</a:t>
            </a:r>
            <a:endParaRPr lang="en-US" sz="1100" dirty="0"/>
          </a:p>
        </p:txBody>
      </p:sp>
      <p:sp>
        <p:nvSpPr>
          <p:cNvPr id="17" name="Text 15"/>
          <p:cNvSpPr/>
          <p:nvPr/>
        </p:nvSpPr>
        <p:spPr>
          <a:xfrm>
            <a:off x="6583680" y="3008376"/>
            <a:ext cx="1645920" cy="256032"/>
          </a:xfrm>
          <a:prstGeom prst="rect">
            <a:avLst/>
          </a:prstGeom>
          <a:noFill/>
          <a:ln/>
        </p:spPr>
        <p:txBody>
          <a:bodyPr wrap="square" lIns="0" tIns="0" rIns="0" bIns="0" rtlCol="0" anchor="ctr"/>
          <a:lstStyle/>
          <a:p>
            <a:pPr indent="0" marL="0">
              <a:buNone/>
            </a:pPr>
            <a:r>
              <a:rPr lang="en-US" sz="1200" dirty="0">
                <a:solidFill>
                  <a:srgbClr val="14213D"/>
                </a:solidFill>
              </a:rPr>
              <a:t>plausible</a:t>
            </a:r>
            <a:endParaRPr lang="en-US" sz="1200" dirty="0"/>
          </a:p>
        </p:txBody>
      </p:sp>
      <p:sp>
        <p:nvSpPr>
          <p:cNvPr id="18" name="Shape 16"/>
          <p:cNvSpPr/>
          <p:nvPr/>
        </p:nvSpPr>
        <p:spPr>
          <a:xfrm>
            <a:off x="8366760" y="3008376"/>
            <a:ext cx="2743200" cy="256032"/>
          </a:xfrm>
          <a:prstGeom prst="rect">
            <a:avLst/>
          </a:prstGeom>
          <a:solidFill>
            <a:srgbClr val="E5E7EB"/>
          </a:solidFill>
          <a:ln w="12700">
            <a:solidFill>
              <a:srgbClr val="E5E7EB">
                <a:alpha val="0"/>
              </a:srgbClr>
            </a:solidFill>
            <a:prstDash val="solid"/>
          </a:ln>
        </p:spPr>
      </p:sp>
      <p:sp>
        <p:nvSpPr>
          <p:cNvPr id="19" name="Shape 17"/>
          <p:cNvSpPr/>
          <p:nvPr/>
        </p:nvSpPr>
        <p:spPr>
          <a:xfrm>
            <a:off x="8366760" y="3008376"/>
            <a:ext cx="1645920" cy="256032"/>
          </a:xfrm>
          <a:prstGeom prst="rect">
            <a:avLst/>
          </a:prstGeom>
          <a:solidFill>
            <a:srgbClr val="0F8B8D"/>
          </a:solidFill>
          <a:ln w="12700">
            <a:solidFill>
              <a:srgbClr val="0F8B8D">
                <a:alpha val="0"/>
              </a:srgbClr>
            </a:solidFill>
            <a:prstDash val="solid"/>
          </a:ln>
        </p:spPr>
      </p:sp>
      <p:sp>
        <p:nvSpPr>
          <p:cNvPr id="20" name="Text 18"/>
          <p:cNvSpPr/>
          <p:nvPr/>
        </p:nvSpPr>
        <p:spPr>
          <a:xfrm>
            <a:off x="11201400" y="2971800"/>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60%</a:t>
            </a:r>
            <a:endParaRPr lang="en-US" sz="1100" dirty="0"/>
          </a:p>
        </p:txBody>
      </p:sp>
      <p:sp>
        <p:nvSpPr>
          <p:cNvPr id="21" name="Text 19"/>
          <p:cNvSpPr/>
          <p:nvPr/>
        </p:nvSpPr>
        <p:spPr>
          <a:xfrm>
            <a:off x="6583680" y="3758184"/>
            <a:ext cx="1645920" cy="256032"/>
          </a:xfrm>
          <a:prstGeom prst="rect">
            <a:avLst/>
          </a:prstGeom>
          <a:noFill/>
          <a:ln/>
        </p:spPr>
        <p:txBody>
          <a:bodyPr wrap="square" lIns="0" tIns="0" rIns="0" bIns="0" rtlCol="0" anchor="ctr"/>
          <a:lstStyle/>
          <a:p>
            <a:pPr indent="0" marL="0">
              <a:buNone/>
            </a:pPr>
            <a:r>
              <a:rPr lang="en-US" sz="1200" dirty="0">
                <a:solidFill>
                  <a:srgbClr val="14213D"/>
                </a:solidFill>
              </a:rPr>
              <a:t>certain</a:t>
            </a:r>
            <a:endParaRPr lang="en-US" sz="1200" dirty="0"/>
          </a:p>
        </p:txBody>
      </p:sp>
      <p:sp>
        <p:nvSpPr>
          <p:cNvPr id="22" name="Shape 20"/>
          <p:cNvSpPr/>
          <p:nvPr/>
        </p:nvSpPr>
        <p:spPr>
          <a:xfrm>
            <a:off x="8366760" y="3758184"/>
            <a:ext cx="2743200" cy="256032"/>
          </a:xfrm>
          <a:prstGeom prst="rect">
            <a:avLst/>
          </a:prstGeom>
          <a:solidFill>
            <a:srgbClr val="2A9D8F"/>
          </a:solidFill>
          <a:ln w="12700">
            <a:solidFill>
              <a:srgbClr val="2A9D8F">
                <a:alpha val="0"/>
              </a:srgbClr>
            </a:solidFill>
            <a:prstDash val="solid"/>
          </a:ln>
        </p:spPr>
      </p:sp>
      <p:sp>
        <p:nvSpPr>
          <p:cNvPr id="23" name="Text 21"/>
          <p:cNvSpPr/>
          <p:nvPr/>
        </p:nvSpPr>
        <p:spPr>
          <a:xfrm>
            <a:off x="11201400" y="3721608"/>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100%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Probability is relative to evidence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P(cavity | toothache) may differ from P(cavity | toothache, gum history).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New evidence changes the knowledge state.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Different conditional probabilities do not contradict each other.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agent should condition on all relevant observed evidence.</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Prior belief</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Observe toothache</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Add history</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Update belief</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12.1.1 Summarizing uncertainty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12.1.1 Summarizing uncertainty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Checkpoint: evidence changes the question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Before symptoms: What is P(cavity)?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After toothache: What is P(cavity | toothache)?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After exam: What is P(cavity | toothache, exam result)?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Each is a different question about a different knowledge state.</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0F8B8D"/>
                </a:solidFill>
                <a:latin typeface="Aptos Display" pitchFamily="34" charset="0"/>
                <a:ea typeface="Aptos Display" pitchFamily="34" charset="-122"/>
                <a:cs typeface="Aptos Display" pitchFamily="34" charset="-120"/>
              </a:rPr>
              <a:t>Same world, different knowledge</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The patient’s condition did not change.</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The agent’s information changed.</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12.1.2</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12.1.2 Uncertainty and rational decisions</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Combining beliefs with preferences using expected utility.</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Outcomes are complete states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An outcome includes everything relevant to the agent’s performance measure.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the taxi: on-time status, wait time, tickets, stress, and safety.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Comparing plans requires comparing outcomes, not just success/failure.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Different agents may value outcomes differently.</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2A9D8F"/>
                </a:solidFill>
                <a:latin typeface="Aptos Display" pitchFamily="34" charset="0"/>
                <a:ea typeface="Aptos Display" pitchFamily="34" charset="-122"/>
                <a:cs typeface="Aptos Display" pitchFamily="34" charset="-120"/>
              </a:rPr>
              <a:t>Outcome</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arrive on time</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wait 30 min</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no ticket</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low stress</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A fully specified result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Utilities represent preferences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utility function assigns usefulness to outcomes.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Higher utility means the agent prefers that outcome.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Utilities are relative to the agent.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They can include altruism, risk, comfort, cost, and other values.</a:t>
            </a:r>
            <a:endParaRPr lang="en-US" sz="2000" dirty="0"/>
          </a:p>
        </p:txBody>
      </p:sp>
      <p:sp>
        <p:nvSpPr>
          <p:cNvPr id="9" name="Text 7"/>
          <p:cNvSpPr/>
          <p:nvPr/>
        </p:nvSpPr>
        <p:spPr>
          <a:xfrm>
            <a:off x="6492240" y="2011680"/>
            <a:ext cx="1645920" cy="73152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Low utility</a:t>
            </a:r>
            <a:endParaRPr lang="en-US" sz="1600" dirty="0"/>
          </a:p>
        </p:txBody>
      </p:sp>
      <p:sp>
        <p:nvSpPr>
          <p:cNvPr id="10" name="Text 8"/>
          <p:cNvSpPr/>
          <p:nvPr/>
        </p:nvSpPr>
        <p:spPr>
          <a:xfrm>
            <a:off x="9829800" y="2011680"/>
            <a:ext cx="1645920" cy="731520"/>
          </a:xfrm>
          <a:prstGeom prst="roundRect">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High utility</a:t>
            </a:r>
            <a:endParaRPr lang="en-US" sz="1600" dirty="0"/>
          </a:p>
        </p:txBody>
      </p:sp>
      <p:sp>
        <p:nvSpPr>
          <p:cNvPr id="11" name="Shape 9"/>
          <p:cNvSpPr/>
          <p:nvPr/>
        </p:nvSpPr>
        <p:spPr>
          <a:xfrm>
            <a:off x="8183880" y="2377440"/>
            <a:ext cx="1600200" cy="0"/>
          </a:xfrm>
          <a:prstGeom prst="line">
            <a:avLst/>
          </a:prstGeom>
          <a:noFill/>
          <a:ln w="25400">
            <a:solidFill>
              <a:srgbClr val="6B7280"/>
            </a:solidFill>
            <a:prstDash val="solid"/>
            <a:tailEnd type="triangle"/>
          </a:ln>
        </p:spPr>
      </p:sp>
      <p:sp>
        <p:nvSpPr>
          <p:cNvPr id="12" name="Text 10"/>
          <p:cNvSpPr/>
          <p:nvPr/>
        </p:nvSpPr>
        <p:spPr>
          <a:xfrm>
            <a:off x="8046720" y="3063240"/>
            <a:ext cx="1783080" cy="7315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Preference scale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Decision theory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theory represents belief.</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Utility theory represents desire or preference.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Decision theory combines them.</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rational action maximizes expected utility.</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200" b="1" dirty="0">
                <a:solidFill>
                  <a:srgbClr val="14213D"/>
                </a:solidFill>
                <a:latin typeface="Cambria Math" pitchFamily="34" charset="0"/>
                <a:ea typeface="Cambria Math" pitchFamily="34" charset="-122"/>
                <a:cs typeface="Cambria Math" pitchFamily="34" charset="-120"/>
              </a:rPr>
              <a:t>Decision theory</a:t>
            </a:r>
            <a:endParaRPr lang="en-US" sz="2200" dirty="0"/>
          </a:p>
          <a:p>
            <a:pPr algn="ctr" indent="0" marL="0">
              <a:buNone/>
            </a:pPr>
            <a:r>
              <a:rPr lang="en-US" sz="2200" b="1" dirty="0">
                <a:solidFill>
                  <a:srgbClr val="14213D"/>
                </a:solidFill>
                <a:latin typeface="Cambria Math" pitchFamily="34" charset="0"/>
                <a:ea typeface="Cambria Math" pitchFamily="34" charset="-122"/>
                <a:cs typeface="Cambria Math" pitchFamily="34" charset="-120"/>
              </a:rPr>
              <a:t>= probability theory</a:t>
            </a:r>
            <a:endParaRPr lang="en-US" sz="2200" dirty="0"/>
          </a:p>
          <a:p>
            <a:pPr algn="ctr" indent="0" marL="0">
              <a:buNone/>
            </a:pPr>
            <a:r>
              <a:rPr lang="en-US" sz="2200" b="1" dirty="0">
                <a:solidFill>
                  <a:srgbClr val="14213D"/>
                </a:solidFill>
                <a:latin typeface="Cambria Math" pitchFamily="34" charset="0"/>
                <a:ea typeface="Cambria Math" pitchFamily="34" charset="-122"/>
                <a:cs typeface="Cambria Math" pitchFamily="34" charset="-120"/>
              </a:rPr>
              <a:t>+ utility theory</a:t>
            </a:r>
            <a:endParaRPr lang="en-US" sz="22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Beliefs plus values produce choices.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Maximum expected utility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List possible outcomes for each action.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Estimate each outcome’s probability.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Assign each outcome a utility.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Choose the action with the highest probability-weighted average utility.</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000" b="1" dirty="0">
                <a:solidFill>
                  <a:srgbClr val="14213D"/>
                </a:solidFill>
                <a:latin typeface="Cambria Math" pitchFamily="34" charset="0"/>
                <a:ea typeface="Cambria Math" pitchFamily="34" charset="-122"/>
                <a:cs typeface="Cambria Math" pitchFamily="34" charset="-120"/>
              </a:rPr>
              <a:t>MEU action</a:t>
            </a:r>
            <a:endParaRPr lang="en-US" sz="2000" dirty="0"/>
          </a:p>
          <a:p>
            <a:pPr algn="ctr" indent="0" marL="0">
              <a:buNone/>
            </a:pPr>
            <a:r>
              <a:rPr lang="en-US" sz="2000" b="1" dirty="0">
                <a:solidFill>
                  <a:srgbClr val="14213D"/>
                </a:solidFill>
                <a:latin typeface="Cambria Math" pitchFamily="34" charset="0"/>
                <a:ea typeface="Cambria Math" pitchFamily="34" charset="-122"/>
                <a:cs typeface="Cambria Math" pitchFamily="34" charset="-120"/>
              </a:rPr>
              <a:t>= argmaxₐ Σₛ P(s | a) U(s)</a:t>
            </a:r>
            <a:endParaRPr lang="en-US" sz="20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The action is chosen before the world reveals the actual outcome.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Decision-theoretic agent workflow</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Maintain probabilistic beliefs about the current world.</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Update beliefs using the last action and new percept.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Predict outcome probabilities for candidate actions.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Select the action with highest expected utility.</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Percept</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Update belief</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Predict outcomes</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Choose MEU</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12.1.2 Uncertainty and rational decisions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12.1.2 Uncertainty and rational decisions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Instructor demo: expected utility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Use a small dictionary of taxi plans.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Compute expected utility by summing probability times utility.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Change utilities to show how preferences change the best plan.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Use this demo before moving into probability notation.</a:t>
            </a:r>
            <a:endParaRPr lang="en-US" sz="2000" dirty="0"/>
          </a:p>
        </p:txBody>
      </p:sp>
      <p:sp>
        <p:nvSpPr>
          <p:cNvPr id="9" name="Text 7"/>
          <p:cNvSpPr/>
          <p:nvPr/>
        </p:nvSpPr>
        <p:spPr>
          <a:xfrm>
            <a:off x="6355080" y="1371600"/>
            <a:ext cx="5166360" cy="4800600"/>
          </a:xfrm>
          <a:prstGeom prst="rect">
            <a:avLst/>
          </a:prstGeom>
          <a:solidFill>
            <a:srgbClr val="1E1E1E"/>
          </a:solidFill>
          <a:ln>
            <a:solidFill>
              <a:srgbClr val="1E1E1E"/>
            </a:solidFill>
          </a:ln>
        </p:spPr>
        <p:txBody>
          <a:bodyPr wrap="square" lIns="1524" tIns="1524" rIns="1524" bIns="1524" rtlCol="0" anchor="t">
            <a:normAutofit/>
          </a:bodyPr>
          <a:lstStyle/>
          <a:p>
            <a:pPr indent="0" marL="0">
              <a:buNone/>
            </a:pPr>
            <a:r>
              <a:rPr lang="en-US" sz="1020" dirty="0">
                <a:solidFill>
                  <a:srgbClr val="FFFFFF"/>
                </a:solidFill>
                <a:latin typeface="Liberation Mono" pitchFamily="34" charset="0"/>
                <a:ea typeface="Liberation Mono" pitchFamily="34" charset="-122"/>
                <a:cs typeface="Liberation Mono" pitchFamily="34" charset="-120"/>
              </a:rPr>
              <a:t>plans = {</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"A60":  [(0.80, 100), (0.20, -500)],</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"A90":  [(0.97,  90), (0.03, -500)],</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"A180": [(0.995, 40), (0.005, -500)],</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a:t>
            </a:r>
            <a:endParaRPr lang="en-US" sz="1020" dirty="0"/>
          </a:p>
          <a:p>
            <a:pPr indent="0" marL="0">
              <a:buNone/>
            </a:pP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def expected_utility(outcomes):</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return sum(p * u for p, u in outcomes)</a:t>
            </a:r>
            <a:endParaRPr lang="en-US" sz="1020" dirty="0"/>
          </a:p>
          <a:p>
            <a:pPr indent="0" marL="0">
              <a:buNone/>
            </a:pP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for plan, outcomes in plans.items():</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print(plan, expected_utility(outcomes))</a:t>
            </a:r>
            <a:endParaRPr lang="en-US" sz="10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12.2</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12.2 Basic probability notation</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A formal language for uncertainty over possible worlds.</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Probabilities are about possible worlds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sample space Ω contains all possible worlds under consideration.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Each possible world is mutually exclusive with the others.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worlds are exhaustive: one of them must be the actual case.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probability model assigns each world a number.</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0F8B8D"/>
                </a:solidFill>
                <a:latin typeface="Aptos Display" pitchFamily="34" charset="0"/>
                <a:ea typeface="Aptos Display" pitchFamily="34" charset="-122"/>
                <a:cs typeface="Aptos Display" pitchFamily="34" charset="-120"/>
              </a:rPr>
              <a:t>Ω</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{ω₁, ω₂, ω₃, ...}</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sample space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29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Dice world: 36 possible worlds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Two distinguishable dice produce ordered pairs.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fair model assigns each pair probability 1/36.</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Events are sets of possible worlds.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Total = 11, the event contains (5,6) and (6,5).</a:t>
            </a:r>
            <a:endParaRPr lang="en-US" sz="2000" dirty="0"/>
          </a:p>
        </p:txBody>
      </p:sp>
      <p:sp>
        <p:nvSpPr>
          <p:cNvPr id="9" name="Text 7"/>
          <p:cNvSpPr/>
          <p:nvPr/>
        </p:nvSpPr>
        <p:spPr>
          <a:xfrm>
            <a:off x="6675120" y="141732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1,1</a:t>
            </a:r>
            <a:endParaRPr lang="en-US" sz="850" dirty="0"/>
          </a:p>
        </p:txBody>
      </p:sp>
      <p:sp>
        <p:nvSpPr>
          <p:cNvPr id="10" name="Text 8"/>
          <p:cNvSpPr/>
          <p:nvPr/>
        </p:nvSpPr>
        <p:spPr>
          <a:xfrm>
            <a:off x="7178040" y="14173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1,2</a:t>
            </a:r>
            <a:endParaRPr lang="en-US" sz="850" dirty="0"/>
          </a:p>
        </p:txBody>
      </p:sp>
      <p:sp>
        <p:nvSpPr>
          <p:cNvPr id="11" name="Text 9"/>
          <p:cNvSpPr/>
          <p:nvPr/>
        </p:nvSpPr>
        <p:spPr>
          <a:xfrm>
            <a:off x="7680960" y="14173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1,3</a:t>
            </a:r>
            <a:endParaRPr lang="en-US" sz="850" dirty="0"/>
          </a:p>
        </p:txBody>
      </p:sp>
      <p:sp>
        <p:nvSpPr>
          <p:cNvPr id="12" name="Text 10"/>
          <p:cNvSpPr/>
          <p:nvPr/>
        </p:nvSpPr>
        <p:spPr>
          <a:xfrm>
            <a:off x="8183880" y="14173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1,4</a:t>
            </a:r>
            <a:endParaRPr lang="en-US" sz="850" dirty="0"/>
          </a:p>
        </p:txBody>
      </p:sp>
      <p:sp>
        <p:nvSpPr>
          <p:cNvPr id="13" name="Text 11"/>
          <p:cNvSpPr/>
          <p:nvPr/>
        </p:nvSpPr>
        <p:spPr>
          <a:xfrm>
            <a:off x="8686800" y="14173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1,5</a:t>
            </a:r>
            <a:endParaRPr lang="en-US" sz="850" dirty="0"/>
          </a:p>
        </p:txBody>
      </p:sp>
      <p:sp>
        <p:nvSpPr>
          <p:cNvPr id="14" name="Text 12"/>
          <p:cNvSpPr/>
          <p:nvPr/>
        </p:nvSpPr>
        <p:spPr>
          <a:xfrm>
            <a:off x="9189720" y="14173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1,6</a:t>
            </a:r>
            <a:endParaRPr lang="en-US" sz="850" dirty="0"/>
          </a:p>
        </p:txBody>
      </p:sp>
      <p:sp>
        <p:nvSpPr>
          <p:cNvPr id="15" name="Text 13"/>
          <p:cNvSpPr/>
          <p:nvPr/>
        </p:nvSpPr>
        <p:spPr>
          <a:xfrm>
            <a:off x="6675120" y="192024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2,1</a:t>
            </a:r>
            <a:endParaRPr lang="en-US" sz="850" dirty="0"/>
          </a:p>
        </p:txBody>
      </p:sp>
      <p:sp>
        <p:nvSpPr>
          <p:cNvPr id="16" name="Text 14"/>
          <p:cNvSpPr/>
          <p:nvPr/>
        </p:nvSpPr>
        <p:spPr>
          <a:xfrm>
            <a:off x="7178040" y="192024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2,2</a:t>
            </a:r>
            <a:endParaRPr lang="en-US" sz="850" dirty="0"/>
          </a:p>
        </p:txBody>
      </p:sp>
      <p:sp>
        <p:nvSpPr>
          <p:cNvPr id="17" name="Text 15"/>
          <p:cNvSpPr/>
          <p:nvPr/>
        </p:nvSpPr>
        <p:spPr>
          <a:xfrm>
            <a:off x="7680960" y="192024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2,3</a:t>
            </a:r>
            <a:endParaRPr lang="en-US" sz="850" dirty="0"/>
          </a:p>
        </p:txBody>
      </p:sp>
      <p:sp>
        <p:nvSpPr>
          <p:cNvPr id="18" name="Text 16"/>
          <p:cNvSpPr/>
          <p:nvPr/>
        </p:nvSpPr>
        <p:spPr>
          <a:xfrm>
            <a:off x="8183880" y="192024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2,4</a:t>
            </a:r>
            <a:endParaRPr lang="en-US" sz="850" dirty="0"/>
          </a:p>
        </p:txBody>
      </p:sp>
      <p:sp>
        <p:nvSpPr>
          <p:cNvPr id="19" name="Text 17"/>
          <p:cNvSpPr/>
          <p:nvPr/>
        </p:nvSpPr>
        <p:spPr>
          <a:xfrm>
            <a:off x="8686800" y="192024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2,5</a:t>
            </a:r>
            <a:endParaRPr lang="en-US" sz="850" dirty="0"/>
          </a:p>
        </p:txBody>
      </p:sp>
      <p:sp>
        <p:nvSpPr>
          <p:cNvPr id="20" name="Text 18"/>
          <p:cNvSpPr/>
          <p:nvPr/>
        </p:nvSpPr>
        <p:spPr>
          <a:xfrm>
            <a:off x="9189720" y="192024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2,6</a:t>
            </a:r>
            <a:endParaRPr lang="en-US" sz="850" dirty="0"/>
          </a:p>
        </p:txBody>
      </p:sp>
      <p:sp>
        <p:nvSpPr>
          <p:cNvPr id="21" name="Text 19"/>
          <p:cNvSpPr/>
          <p:nvPr/>
        </p:nvSpPr>
        <p:spPr>
          <a:xfrm>
            <a:off x="6675120" y="242316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3,1</a:t>
            </a:r>
            <a:endParaRPr lang="en-US" sz="850" dirty="0"/>
          </a:p>
        </p:txBody>
      </p:sp>
      <p:sp>
        <p:nvSpPr>
          <p:cNvPr id="22" name="Text 20"/>
          <p:cNvSpPr/>
          <p:nvPr/>
        </p:nvSpPr>
        <p:spPr>
          <a:xfrm>
            <a:off x="7178040" y="242316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3,2</a:t>
            </a:r>
            <a:endParaRPr lang="en-US" sz="850" dirty="0"/>
          </a:p>
        </p:txBody>
      </p:sp>
      <p:sp>
        <p:nvSpPr>
          <p:cNvPr id="23" name="Text 21"/>
          <p:cNvSpPr/>
          <p:nvPr/>
        </p:nvSpPr>
        <p:spPr>
          <a:xfrm>
            <a:off x="7680960" y="242316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3,3</a:t>
            </a:r>
            <a:endParaRPr lang="en-US" sz="850" dirty="0"/>
          </a:p>
        </p:txBody>
      </p:sp>
      <p:sp>
        <p:nvSpPr>
          <p:cNvPr id="24" name="Text 22"/>
          <p:cNvSpPr/>
          <p:nvPr/>
        </p:nvSpPr>
        <p:spPr>
          <a:xfrm>
            <a:off x="8183880" y="242316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3,4</a:t>
            </a:r>
            <a:endParaRPr lang="en-US" sz="850" dirty="0"/>
          </a:p>
        </p:txBody>
      </p:sp>
      <p:sp>
        <p:nvSpPr>
          <p:cNvPr id="25" name="Text 23"/>
          <p:cNvSpPr/>
          <p:nvPr/>
        </p:nvSpPr>
        <p:spPr>
          <a:xfrm>
            <a:off x="8686800" y="242316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3,5</a:t>
            </a:r>
            <a:endParaRPr lang="en-US" sz="850" dirty="0"/>
          </a:p>
        </p:txBody>
      </p:sp>
      <p:sp>
        <p:nvSpPr>
          <p:cNvPr id="26" name="Text 24"/>
          <p:cNvSpPr/>
          <p:nvPr/>
        </p:nvSpPr>
        <p:spPr>
          <a:xfrm>
            <a:off x="9189720" y="242316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3,6</a:t>
            </a:r>
            <a:endParaRPr lang="en-US" sz="850" dirty="0"/>
          </a:p>
        </p:txBody>
      </p:sp>
      <p:sp>
        <p:nvSpPr>
          <p:cNvPr id="27" name="Text 25"/>
          <p:cNvSpPr/>
          <p:nvPr/>
        </p:nvSpPr>
        <p:spPr>
          <a:xfrm>
            <a:off x="6675120" y="292608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4,1</a:t>
            </a:r>
            <a:endParaRPr lang="en-US" sz="850" dirty="0"/>
          </a:p>
        </p:txBody>
      </p:sp>
      <p:sp>
        <p:nvSpPr>
          <p:cNvPr id="28" name="Text 26"/>
          <p:cNvSpPr/>
          <p:nvPr/>
        </p:nvSpPr>
        <p:spPr>
          <a:xfrm>
            <a:off x="7178040" y="292608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4,2</a:t>
            </a:r>
            <a:endParaRPr lang="en-US" sz="850" dirty="0"/>
          </a:p>
        </p:txBody>
      </p:sp>
      <p:sp>
        <p:nvSpPr>
          <p:cNvPr id="29" name="Text 27"/>
          <p:cNvSpPr/>
          <p:nvPr/>
        </p:nvSpPr>
        <p:spPr>
          <a:xfrm>
            <a:off x="7680960" y="292608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4,3</a:t>
            </a:r>
            <a:endParaRPr lang="en-US" sz="850" dirty="0"/>
          </a:p>
        </p:txBody>
      </p:sp>
      <p:sp>
        <p:nvSpPr>
          <p:cNvPr id="30" name="Text 28"/>
          <p:cNvSpPr/>
          <p:nvPr/>
        </p:nvSpPr>
        <p:spPr>
          <a:xfrm>
            <a:off x="8183880" y="292608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4,4</a:t>
            </a:r>
            <a:endParaRPr lang="en-US" sz="850" dirty="0"/>
          </a:p>
        </p:txBody>
      </p:sp>
      <p:sp>
        <p:nvSpPr>
          <p:cNvPr id="31" name="Text 29"/>
          <p:cNvSpPr/>
          <p:nvPr/>
        </p:nvSpPr>
        <p:spPr>
          <a:xfrm>
            <a:off x="8686800" y="292608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4,5</a:t>
            </a:r>
            <a:endParaRPr lang="en-US" sz="850" dirty="0"/>
          </a:p>
        </p:txBody>
      </p:sp>
      <p:sp>
        <p:nvSpPr>
          <p:cNvPr id="32" name="Text 30"/>
          <p:cNvSpPr/>
          <p:nvPr/>
        </p:nvSpPr>
        <p:spPr>
          <a:xfrm>
            <a:off x="9189720" y="292608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4,6</a:t>
            </a:r>
            <a:endParaRPr lang="en-US" sz="850" dirty="0"/>
          </a:p>
        </p:txBody>
      </p:sp>
      <p:sp>
        <p:nvSpPr>
          <p:cNvPr id="33" name="Text 31"/>
          <p:cNvSpPr/>
          <p:nvPr/>
        </p:nvSpPr>
        <p:spPr>
          <a:xfrm>
            <a:off x="6675120" y="342900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5,1</a:t>
            </a:r>
            <a:endParaRPr lang="en-US" sz="850" dirty="0"/>
          </a:p>
        </p:txBody>
      </p:sp>
      <p:sp>
        <p:nvSpPr>
          <p:cNvPr id="34" name="Text 32"/>
          <p:cNvSpPr/>
          <p:nvPr/>
        </p:nvSpPr>
        <p:spPr>
          <a:xfrm>
            <a:off x="7178040" y="342900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5,2</a:t>
            </a:r>
            <a:endParaRPr lang="en-US" sz="850" dirty="0"/>
          </a:p>
        </p:txBody>
      </p:sp>
      <p:sp>
        <p:nvSpPr>
          <p:cNvPr id="35" name="Text 33"/>
          <p:cNvSpPr/>
          <p:nvPr/>
        </p:nvSpPr>
        <p:spPr>
          <a:xfrm>
            <a:off x="7680960" y="342900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5,3</a:t>
            </a:r>
            <a:endParaRPr lang="en-US" sz="850" dirty="0"/>
          </a:p>
        </p:txBody>
      </p:sp>
      <p:sp>
        <p:nvSpPr>
          <p:cNvPr id="36" name="Text 34"/>
          <p:cNvSpPr/>
          <p:nvPr/>
        </p:nvSpPr>
        <p:spPr>
          <a:xfrm>
            <a:off x="8183880" y="342900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5,4</a:t>
            </a:r>
            <a:endParaRPr lang="en-US" sz="850" dirty="0"/>
          </a:p>
        </p:txBody>
      </p:sp>
      <p:sp>
        <p:nvSpPr>
          <p:cNvPr id="37" name="Text 35"/>
          <p:cNvSpPr/>
          <p:nvPr/>
        </p:nvSpPr>
        <p:spPr>
          <a:xfrm>
            <a:off x="8686800" y="342900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5,5</a:t>
            </a:r>
            <a:endParaRPr lang="en-US" sz="850" dirty="0"/>
          </a:p>
        </p:txBody>
      </p:sp>
      <p:sp>
        <p:nvSpPr>
          <p:cNvPr id="38" name="Text 36"/>
          <p:cNvSpPr/>
          <p:nvPr/>
        </p:nvSpPr>
        <p:spPr>
          <a:xfrm>
            <a:off x="9189720" y="3429000"/>
            <a:ext cx="475488" cy="475488"/>
          </a:xfrm>
          <a:prstGeom prst="rect">
            <a:avLst/>
          </a:prstGeom>
          <a:solidFill>
            <a:srgbClr val="FFF3D6"/>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5,6</a:t>
            </a:r>
            <a:endParaRPr lang="en-US" sz="850" dirty="0"/>
          </a:p>
        </p:txBody>
      </p:sp>
      <p:sp>
        <p:nvSpPr>
          <p:cNvPr id="39" name="Text 37"/>
          <p:cNvSpPr/>
          <p:nvPr/>
        </p:nvSpPr>
        <p:spPr>
          <a:xfrm>
            <a:off x="6675120" y="39319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6,1</a:t>
            </a:r>
            <a:endParaRPr lang="en-US" sz="850" dirty="0"/>
          </a:p>
        </p:txBody>
      </p:sp>
      <p:sp>
        <p:nvSpPr>
          <p:cNvPr id="40" name="Text 38"/>
          <p:cNvSpPr/>
          <p:nvPr/>
        </p:nvSpPr>
        <p:spPr>
          <a:xfrm>
            <a:off x="7178040" y="39319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6,2</a:t>
            </a:r>
            <a:endParaRPr lang="en-US" sz="850" dirty="0"/>
          </a:p>
        </p:txBody>
      </p:sp>
      <p:sp>
        <p:nvSpPr>
          <p:cNvPr id="41" name="Text 39"/>
          <p:cNvSpPr/>
          <p:nvPr/>
        </p:nvSpPr>
        <p:spPr>
          <a:xfrm>
            <a:off x="7680960" y="39319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6,3</a:t>
            </a:r>
            <a:endParaRPr lang="en-US" sz="850" dirty="0"/>
          </a:p>
        </p:txBody>
      </p:sp>
      <p:sp>
        <p:nvSpPr>
          <p:cNvPr id="42" name="Text 40"/>
          <p:cNvSpPr/>
          <p:nvPr/>
        </p:nvSpPr>
        <p:spPr>
          <a:xfrm>
            <a:off x="8183880" y="3931920"/>
            <a:ext cx="475488" cy="475488"/>
          </a:xfrm>
          <a:prstGeom prst="rect">
            <a:avLst/>
          </a:prstGeom>
          <a:solidFill>
            <a:srgbClr val="FFFFFF"/>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6,4</a:t>
            </a:r>
            <a:endParaRPr lang="en-US" sz="850" dirty="0"/>
          </a:p>
        </p:txBody>
      </p:sp>
      <p:sp>
        <p:nvSpPr>
          <p:cNvPr id="43" name="Text 41"/>
          <p:cNvSpPr/>
          <p:nvPr/>
        </p:nvSpPr>
        <p:spPr>
          <a:xfrm>
            <a:off x="8686800" y="3931920"/>
            <a:ext cx="475488" cy="475488"/>
          </a:xfrm>
          <a:prstGeom prst="rect">
            <a:avLst/>
          </a:prstGeom>
          <a:solidFill>
            <a:srgbClr val="FFF3D6"/>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6,5</a:t>
            </a:r>
            <a:endParaRPr lang="en-US" sz="850" dirty="0"/>
          </a:p>
        </p:txBody>
      </p:sp>
      <p:sp>
        <p:nvSpPr>
          <p:cNvPr id="44" name="Text 42"/>
          <p:cNvSpPr/>
          <p:nvPr/>
        </p:nvSpPr>
        <p:spPr>
          <a:xfrm>
            <a:off x="9189720" y="3931920"/>
            <a:ext cx="475488" cy="475488"/>
          </a:xfrm>
          <a:prstGeom prst="rect">
            <a:avLst/>
          </a:prstGeom>
          <a:solidFill>
            <a:srgbClr val="EAF4F4"/>
          </a:solidFill>
          <a:ln w="6350">
            <a:solidFill>
              <a:srgbClr val="E5E7EB"/>
            </a:solidFill>
          </a:ln>
        </p:spPr>
        <p:txBody>
          <a:bodyPr wrap="square" lIns="127" tIns="127" rIns="127" bIns="127" rtlCol="0" anchor="ctr"/>
          <a:lstStyle/>
          <a:p>
            <a:pPr algn="ctr" indent="0" marL="0">
              <a:buNone/>
            </a:pPr>
            <a:r>
              <a:rPr lang="en-US" sz="850" dirty="0">
                <a:solidFill>
                  <a:srgbClr val="14213D"/>
                </a:solidFill>
              </a:rPr>
              <a:t>6,6</a:t>
            </a:r>
            <a:endParaRPr lang="en-US" sz="850" dirty="0"/>
          </a:p>
        </p:txBody>
      </p:sp>
      <p:sp>
        <p:nvSpPr>
          <p:cNvPr id="45" name="Text 43"/>
          <p:cNvSpPr/>
          <p:nvPr/>
        </p:nvSpPr>
        <p:spPr>
          <a:xfrm>
            <a:off x="6492240" y="4617720"/>
            <a:ext cx="2194560" cy="54864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36 equally likely worlds</a:t>
            </a:r>
            <a:endParaRPr lang="en-US" sz="1400" dirty="0"/>
          </a:p>
        </p:txBody>
      </p:sp>
      <p:sp>
        <p:nvSpPr>
          <p:cNvPr id="46" name="Text 44"/>
          <p:cNvSpPr/>
          <p:nvPr/>
        </p:nvSpPr>
        <p:spPr>
          <a:xfrm>
            <a:off x="9006840" y="4617720"/>
            <a:ext cx="2240280" cy="5486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Total = 11 has 2 worlds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Probability model axioms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Every world probability is between 0 and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probabilities of all worlds sum to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probability of a proposition is the sum of the worlds where it is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These constraints keep beliefs coherent.</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300" b="1" dirty="0">
                <a:solidFill>
                  <a:srgbClr val="14213D"/>
                </a:solidFill>
                <a:latin typeface="Cambria Math" pitchFamily="34" charset="0"/>
                <a:ea typeface="Cambria Math" pitchFamily="34" charset="-122"/>
                <a:cs typeface="Cambria Math" pitchFamily="34" charset="-120"/>
              </a:rPr>
              <a:t>0 ≤ P(ω) ≤ 1</a:t>
            </a:r>
            <a:endParaRPr lang="en-US" sz="2300" dirty="0"/>
          </a:p>
          <a:p>
            <a:pPr algn="ctr" indent="0" marL="0">
              <a:buNone/>
            </a:pPr>
            <a:r>
              <a:rPr lang="en-US" sz="2300" b="1" dirty="0">
                <a:solidFill>
                  <a:srgbClr val="14213D"/>
                </a:solidFill>
                <a:latin typeface="Cambria Math" pitchFamily="34" charset="0"/>
                <a:ea typeface="Cambria Math" pitchFamily="34" charset="-122"/>
                <a:cs typeface="Cambria Math" pitchFamily="34" charset="-120"/>
              </a:rPr>
              <a:t>Σω∈Ω P(ω) = 1</a:t>
            </a:r>
            <a:endParaRPr lang="en-US" sz="23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The model must distribute one full unit of belief over the sample space.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Events and propositions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An event is a set of possible worlds.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proposition corresponds to the worlds where it is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P(Total = 11) sums the probability of all worlds with total 11.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queries are usually about events, not individual worlds.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300" b="1" dirty="0">
                <a:solidFill>
                  <a:srgbClr val="14213D"/>
                </a:solidFill>
                <a:latin typeface="Cambria Math" pitchFamily="34" charset="0"/>
                <a:ea typeface="Cambria Math" pitchFamily="34" charset="-122"/>
                <a:cs typeface="Cambria Math" pitchFamily="34" charset="-120"/>
              </a:rPr>
              <a:t>P(φ) = Σω:φ holds P(ω)</a:t>
            </a:r>
            <a:endParaRPr lang="en-US" sz="23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 proposition gathers worlds; probability adds their weights.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Prior and posterior probabilities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prior or unconditional probability is before new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posterior or conditional probability is after evidence is known.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Evidence changes what should be conditioned 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P(cavity) and P(cavity | toothache) answer different questions.</a:t>
            </a:r>
            <a:endParaRPr lang="en-US" sz="2000" dirty="0"/>
          </a:p>
        </p:txBody>
      </p:sp>
      <p:sp>
        <p:nvSpPr>
          <p:cNvPr id="9" name="Text 7"/>
          <p:cNvSpPr/>
          <p:nvPr/>
        </p:nvSpPr>
        <p:spPr>
          <a:xfrm>
            <a:off x="6537960" y="1600200"/>
            <a:ext cx="2057400" cy="82296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Prior</a:t>
            </a:r>
            <a:endParaRPr lang="en-US" sz="1600" dirty="0"/>
          </a:p>
          <a:p>
            <a:pPr algn="ctr" indent="0" marL="0">
              <a:buNone/>
            </a:pPr>
            <a:r>
              <a:rPr lang="en-US" sz="1600" b="1" dirty="0">
                <a:solidFill>
                  <a:srgbClr val="111827"/>
                </a:solidFill>
                <a:latin typeface="Aptos" pitchFamily="34" charset="0"/>
                <a:ea typeface="Aptos" pitchFamily="34" charset="-122"/>
                <a:cs typeface="Aptos" pitchFamily="34" charset="-120"/>
              </a:rPr>
              <a:t>P(H)</a:t>
            </a:r>
            <a:endParaRPr lang="en-US" sz="1600" dirty="0"/>
          </a:p>
        </p:txBody>
      </p:sp>
      <p:sp>
        <p:nvSpPr>
          <p:cNvPr id="10" name="Text 8"/>
          <p:cNvSpPr/>
          <p:nvPr/>
        </p:nvSpPr>
        <p:spPr>
          <a:xfrm>
            <a:off x="9189720" y="1600200"/>
            <a:ext cx="2057400" cy="82296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Posterior</a:t>
            </a:r>
            <a:endParaRPr lang="en-US" sz="1600" dirty="0"/>
          </a:p>
          <a:p>
            <a:pPr algn="ctr" indent="0" marL="0">
              <a:buNone/>
            </a:pPr>
            <a:r>
              <a:rPr lang="en-US" sz="1600" b="1" dirty="0">
                <a:solidFill>
                  <a:srgbClr val="111827"/>
                </a:solidFill>
                <a:latin typeface="Aptos" pitchFamily="34" charset="0"/>
                <a:ea typeface="Aptos" pitchFamily="34" charset="-122"/>
                <a:cs typeface="Aptos" pitchFamily="34" charset="-120"/>
              </a:rPr>
              <a:t>P(H | E)</a:t>
            </a:r>
            <a:endParaRPr lang="en-US" sz="1600" dirty="0"/>
          </a:p>
        </p:txBody>
      </p:sp>
      <p:sp>
        <p:nvSpPr>
          <p:cNvPr id="11" name="Shape 9"/>
          <p:cNvSpPr/>
          <p:nvPr/>
        </p:nvSpPr>
        <p:spPr>
          <a:xfrm>
            <a:off x="8622792" y="2011680"/>
            <a:ext cx="502920" cy="0"/>
          </a:xfrm>
          <a:prstGeom prst="line">
            <a:avLst/>
          </a:prstGeom>
          <a:noFill/>
          <a:ln w="19050">
            <a:solidFill>
              <a:srgbClr val="6B7280"/>
            </a:solidFill>
            <a:prstDash val="solid"/>
            <a:tailEnd type="triangle"/>
          </a:ln>
        </p:spPr>
      </p:sp>
      <p:sp>
        <p:nvSpPr>
          <p:cNvPr id="12" name="Text 10"/>
          <p:cNvSpPr/>
          <p:nvPr/>
        </p:nvSpPr>
        <p:spPr>
          <a:xfrm>
            <a:off x="7635240" y="3246120"/>
            <a:ext cx="2514600" cy="6858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observe evidence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Conditional probability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means probability of a given 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It is defined only when P(b) &gt; 0.</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Conditioning removes worlds where b is false.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remaining worlds are renormalized.</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P(a | b) = P(a ∧ b) / P(b)</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Within the b-worlds, ask what fraction also satisfies a.</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Product rule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conditional probability definition can be rearranged.</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 P(a | b) P(b).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It says both facts hold when b holds and a holds given 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product rule is the seed of Bayes’ rule.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P(a ∧ b) = P(a | b) P(b)</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Also: P(a ∧ b) = P(b | a) P(a).</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Random variables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random variable maps possible worlds to values.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Variable names usually start with uppercase letters.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Values are written lowercase.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Examples: Weather, Total, Die1, Cavity.</a:t>
            </a:r>
            <a:endParaRPr lang="en-US" sz="2000" dirty="0"/>
          </a:p>
        </p:txBody>
      </p:sp>
      <p:sp>
        <p:nvSpPr>
          <p:cNvPr id="9" name="Text 7"/>
          <p:cNvSpPr/>
          <p:nvPr/>
        </p:nvSpPr>
        <p:spPr>
          <a:xfrm>
            <a:off x="6400800" y="1417320"/>
            <a:ext cx="156972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world ω</a:t>
            </a:r>
            <a:endParaRPr lang="en-US" sz="1300" dirty="0"/>
          </a:p>
        </p:txBody>
      </p:sp>
      <p:sp>
        <p:nvSpPr>
          <p:cNvPr id="10" name="Shape 8"/>
          <p:cNvSpPr/>
          <p:nvPr/>
        </p:nvSpPr>
        <p:spPr>
          <a:xfrm>
            <a:off x="7970520" y="1801368"/>
            <a:ext cx="109728" cy="914400"/>
          </a:xfrm>
          <a:prstGeom prst="line">
            <a:avLst/>
          </a:prstGeom>
          <a:noFill/>
          <a:ln w="15240">
            <a:solidFill>
              <a:srgbClr val="6B7280"/>
            </a:solidFill>
            <a:prstDash val="solid"/>
            <a:tailEnd type="triangle"/>
          </a:ln>
        </p:spPr>
      </p:sp>
      <p:sp>
        <p:nvSpPr>
          <p:cNvPr id="11" name="Text 9"/>
          <p:cNvSpPr/>
          <p:nvPr/>
        </p:nvSpPr>
        <p:spPr>
          <a:xfrm>
            <a:off x="8107680" y="2331720"/>
            <a:ext cx="156972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random variable X</a:t>
            </a:r>
            <a:endParaRPr lang="en-US" sz="1300" dirty="0"/>
          </a:p>
        </p:txBody>
      </p:sp>
      <p:sp>
        <p:nvSpPr>
          <p:cNvPr id="12" name="Shape 10"/>
          <p:cNvSpPr/>
          <p:nvPr/>
        </p:nvSpPr>
        <p:spPr>
          <a:xfrm>
            <a:off x="9677400" y="2715768"/>
            <a:ext cx="109728" cy="-914400"/>
          </a:xfrm>
          <a:prstGeom prst="line">
            <a:avLst/>
          </a:prstGeom>
          <a:noFill/>
          <a:ln w="15240">
            <a:solidFill>
              <a:srgbClr val="6B7280"/>
            </a:solidFill>
            <a:prstDash val="solid"/>
            <a:tailEnd type="triangle"/>
          </a:ln>
        </p:spPr>
      </p:sp>
      <p:sp>
        <p:nvSpPr>
          <p:cNvPr id="13" name="Text 11"/>
          <p:cNvSpPr/>
          <p:nvPr/>
        </p:nvSpPr>
        <p:spPr>
          <a:xfrm>
            <a:off x="9814560" y="1417320"/>
            <a:ext cx="156972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value x</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Boolean shorthand and categories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Boolean variable has values true and false.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 true is often abbreviated as a.</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 false is often abbreviated as ¬a.</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Categorical variables have named values such as sun, rain, cloud, snow.</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0F8B8D"/>
                </a:solidFill>
                <a:latin typeface="Aptos Display" pitchFamily="34" charset="0"/>
                <a:ea typeface="Aptos Display" pitchFamily="34" charset="-122"/>
                <a:cs typeface="Aptos Display" pitchFamily="34" charset="-120"/>
              </a:rPr>
              <a:t>Weather</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sun | rain | cloud | snow</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categorical random variable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Probability distributions as vectors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distribution assigns probabilities to every value of a random variable.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Weather, the probabilities must sum to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Bold P notation can stand for the whole vector.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Conditional distributions list probabilities for each evidence value.</a:t>
            </a:r>
            <a:endParaRPr lang="en-US" sz="2000" dirty="0"/>
          </a:p>
        </p:txBody>
      </p:sp>
      <p:sp>
        <p:nvSpPr>
          <p:cNvPr id="9" name="Text 7"/>
          <p:cNvSpPr/>
          <p:nvPr/>
        </p:nvSpPr>
        <p:spPr>
          <a:xfrm>
            <a:off x="6583680" y="1508760"/>
            <a:ext cx="1645920" cy="256032"/>
          </a:xfrm>
          <a:prstGeom prst="rect">
            <a:avLst/>
          </a:prstGeom>
          <a:noFill/>
          <a:ln/>
        </p:spPr>
        <p:txBody>
          <a:bodyPr wrap="square" lIns="0" tIns="0" rIns="0" bIns="0" rtlCol="0" anchor="ctr"/>
          <a:lstStyle/>
          <a:p>
            <a:pPr indent="0" marL="0">
              <a:buNone/>
            </a:pPr>
            <a:r>
              <a:rPr lang="en-US" sz="1200" dirty="0">
                <a:solidFill>
                  <a:srgbClr val="14213D"/>
                </a:solidFill>
              </a:rPr>
              <a:t>sun</a:t>
            </a:r>
            <a:endParaRPr lang="en-US" sz="1200" dirty="0"/>
          </a:p>
        </p:txBody>
      </p:sp>
      <p:sp>
        <p:nvSpPr>
          <p:cNvPr id="10" name="Shape 8"/>
          <p:cNvSpPr/>
          <p:nvPr/>
        </p:nvSpPr>
        <p:spPr>
          <a:xfrm>
            <a:off x="8366760" y="1508760"/>
            <a:ext cx="2743200" cy="256032"/>
          </a:xfrm>
          <a:prstGeom prst="rect">
            <a:avLst/>
          </a:prstGeom>
          <a:solidFill>
            <a:srgbClr val="E5E7EB"/>
          </a:solidFill>
          <a:ln w="12700">
            <a:solidFill>
              <a:srgbClr val="E5E7EB">
                <a:alpha val="0"/>
              </a:srgbClr>
            </a:solidFill>
            <a:prstDash val="solid"/>
          </a:ln>
        </p:spPr>
      </p:sp>
      <p:sp>
        <p:nvSpPr>
          <p:cNvPr id="11" name="Shape 9"/>
          <p:cNvSpPr/>
          <p:nvPr/>
        </p:nvSpPr>
        <p:spPr>
          <a:xfrm>
            <a:off x="8366760" y="1508760"/>
            <a:ext cx="1645920" cy="256032"/>
          </a:xfrm>
          <a:prstGeom prst="rect">
            <a:avLst/>
          </a:prstGeom>
          <a:solidFill>
            <a:srgbClr val="FCA311"/>
          </a:solidFill>
          <a:ln w="12700">
            <a:solidFill>
              <a:srgbClr val="FCA311">
                <a:alpha val="0"/>
              </a:srgbClr>
            </a:solidFill>
            <a:prstDash val="solid"/>
          </a:ln>
        </p:spPr>
      </p:sp>
      <p:sp>
        <p:nvSpPr>
          <p:cNvPr id="12" name="Text 10"/>
          <p:cNvSpPr/>
          <p:nvPr/>
        </p:nvSpPr>
        <p:spPr>
          <a:xfrm>
            <a:off x="11201400" y="1472184"/>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60%</a:t>
            </a:r>
            <a:endParaRPr lang="en-US" sz="1100" dirty="0"/>
          </a:p>
        </p:txBody>
      </p:sp>
      <p:sp>
        <p:nvSpPr>
          <p:cNvPr id="13" name="Text 11"/>
          <p:cNvSpPr/>
          <p:nvPr/>
        </p:nvSpPr>
        <p:spPr>
          <a:xfrm>
            <a:off x="6583680" y="2258568"/>
            <a:ext cx="1645920" cy="256032"/>
          </a:xfrm>
          <a:prstGeom prst="rect">
            <a:avLst/>
          </a:prstGeom>
          <a:noFill/>
          <a:ln/>
        </p:spPr>
        <p:txBody>
          <a:bodyPr wrap="square" lIns="0" tIns="0" rIns="0" bIns="0" rtlCol="0" anchor="ctr"/>
          <a:lstStyle/>
          <a:p>
            <a:pPr indent="0" marL="0">
              <a:buNone/>
            </a:pPr>
            <a:r>
              <a:rPr lang="en-US" sz="1200" dirty="0">
                <a:solidFill>
                  <a:srgbClr val="14213D"/>
                </a:solidFill>
              </a:rPr>
              <a:t>rain</a:t>
            </a:r>
            <a:endParaRPr lang="en-US" sz="1200" dirty="0"/>
          </a:p>
        </p:txBody>
      </p:sp>
      <p:sp>
        <p:nvSpPr>
          <p:cNvPr id="14" name="Shape 12"/>
          <p:cNvSpPr/>
          <p:nvPr/>
        </p:nvSpPr>
        <p:spPr>
          <a:xfrm>
            <a:off x="8366760" y="2258568"/>
            <a:ext cx="2743200" cy="256032"/>
          </a:xfrm>
          <a:prstGeom prst="rect">
            <a:avLst/>
          </a:prstGeom>
          <a:solidFill>
            <a:srgbClr val="E5E7EB"/>
          </a:solidFill>
          <a:ln w="12700">
            <a:solidFill>
              <a:srgbClr val="E5E7EB">
                <a:alpha val="0"/>
              </a:srgbClr>
            </a:solidFill>
            <a:prstDash val="solid"/>
          </a:ln>
        </p:spPr>
      </p:sp>
      <p:sp>
        <p:nvSpPr>
          <p:cNvPr id="15" name="Shape 13"/>
          <p:cNvSpPr/>
          <p:nvPr/>
        </p:nvSpPr>
        <p:spPr>
          <a:xfrm>
            <a:off x="8366760" y="2258568"/>
            <a:ext cx="274320" cy="256032"/>
          </a:xfrm>
          <a:prstGeom prst="rect">
            <a:avLst/>
          </a:prstGeom>
          <a:solidFill>
            <a:srgbClr val="0F8B8D"/>
          </a:solidFill>
          <a:ln w="12700">
            <a:solidFill>
              <a:srgbClr val="0F8B8D">
                <a:alpha val="0"/>
              </a:srgbClr>
            </a:solidFill>
            <a:prstDash val="solid"/>
          </a:ln>
        </p:spPr>
      </p:sp>
      <p:sp>
        <p:nvSpPr>
          <p:cNvPr id="16" name="Text 14"/>
          <p:cNvSpPr/>
          <p:nvPr/>
        </p:nvSpPr>
        <p:spPr>
          <a:xfrm>
            <a:off x="11201400" y="2221992"/>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10%</a:t>
            </a:r>
            <a:endParaRPr lang="en-US" sz="1100" dirty="0"/>
          </a:p>
        </p:txBody>
      </p:sp>
      <p:sp>
        <p:nvSpPr>
          <p:cNvPr id="17" name="Text 15"/>
          <p:cNvSpPr/>
          <p:nvPr/>
        </p:nvSpPr>
        <p:spPr>
          <a:xfrm>
            <a:off x="6583680" y="3008376"/>
            <a:ext cx="1645920" cy="256032"/>
          </a:xfrm>
          <a:prstGeom prst="rect">
            <a:avLst/>
          </a:prstGeom>
          <a:noFill/>
          <a:ln/>
        </p:spPr>
        <p:txBody>
          <a:bodyPr wrap="square" lIns="0" tIns="0" rIns="0" bIns="0" rtlCol="0" anchor="ctr"/>
          <a:lstStyle/>
          <a:p>
            <a:pPr indent="0" marL="0">
              <a:buNone/>
            </a:pPr>
            <a:r>
              <a:rPr lang="en-US" sz="1200" dirty="0">
                <a:solidFill>
                  <a:srgbClr val="14213D"/>
                </a:solidFill>
              </a:rPr>
              <a:t>cloud</a:t>
            </a:r>
            <a:endParaRPr lang="en-US" sz="1200" dirty="0"/>
          </a:p>
        </p:txBody>
      </p:sp>
      <p:sp>
        <p:nvSpPr>
          <p:cNvPr id="18" name="Shape 16"/>
          <p:cNvSpPr/>
          <p:nvPr/>
        </p:nvSpPr>
        <p:spPr>
          <a:xfrm>
            <a:off x="8366760" y="3008376"/>
            <a:ext cx="2743200" cy="256032"/>
          </a:xfrm>
          <a:prstGeom prst="rect">
            <a:avLst/>
          </a:prstGeom>
          <a:solidFill>
            <a:srgbClr val="E5E7EB"/>
          </a:solidFill>
          <a:ln w="12700">
            <a:solidFill>
              <a:srgbClr val="E5E7EB">
                <a:alpha val="0"/>
              </a:srgbClr>
            </a:solidFill>
            <a:prstDash val="solid"/>
          </a:ln>
        </p:spPr>
      </p:sp>
      <p:sp>
        <p:nvSpPr>
          <p:cNvPr id="19" name="Shape 17"/>
          <p:cNvSpPr/>
          <p:nvPr/>
        </p:nvSpPr>
        <p:spPr>
          <a:xfrm>
            <a:off x="8366760" y="3008376"/>
            <a:ext cx="795528" cy="256032"/>
          </a:xfrm>
          <a:prstGeom prst="rect">
            <a:avLst/>
          </a:prstGeom>
          <a:solidFill>
            <a:srgbClr val="6B7280"/>
          </a:solidFill>
          <a:ln w="12700">
            <a:solidFill>
              <a:srgbClr val="6B7280">
                <a:alpha val="0"/>
              </a:srgbClr>
            </a:solidFill>
            <a:prstDash val="solid"/>
          </a:ln>
        </p:spPr>
      </p:sp>
      <p:sp>
        <p:nvSpPr>
          <p:cNvPr id="20" name="Text 18"/>
          <p:cNvSpPr/>
          <p:nvPr/>
        </p:nvSpPr>
        <p:spPr>
          <a:xfrm>
            <a:off x="11201400" y="2971800"/>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29%</a:t>
            </a:r>
            <a:endParaRPr lang="en-US" sz="1100" dirty="0"/>
          </a:p>
        </p:txBody>
      </p:sp>
      <p:sp>
        <p:nvSpPr>
          <p:cNvPr id="21" name="Text 19"/>
          <p:cNvSpPr/>
          <p:nvPr/>
        </p:nvSpPr>
        <p:spPr>
          <a:xfrm>
            <a:off x="6583680" y="3758184"/>
            <a:ext cx="1645920" cy="256032"/>
          </a:xfrm>
          <a:prstGeom prst="rect">
            <a:avLst/>
          </a:prstGeom>
          <a:noFill/>
          <a:ln/>
        </p:spPr>
        <p:txBody>
          <a:bodyPr wrap="square" lIns="0" tIns="0" rIns="0" bIns="0" rtlCol="0" anchor="ctr"/>
          <a:lstStyle/>
          <a:p>
            <a:pPr indent="0" marL="0">
              <a:buNone/>
            </a:pPr>
            <a:r>
              <a:rPr lang="en-US" sz="1200" dirty="0">
                <a:solidFill>
                  <a:srgbClr val="14213D"/>
                </a:solidFill>
              </a:rPr>
              <a:t>snow</a:t>
            </a:r>
            <a:endParaRPr lang="en-US" sz="1200" dirty="0"/>
          </a:p>
        </p:txBody>
      </p:sp>
      <p:sp>
        <p:nvSpPr>
          <p:cNvPr id="22" name="Shape 20"/>
          <p:cNvSpPr/>
          <p:nvPr/>
        </p:nvSpPr>
        <p:spPr>
          <a:xfrm>
            <a:off x="8366760" y="3758184"/>
            <a:ext cx="2743200" cy="256032"/>
          </a:xfrm>
          <a:prstGeom prst="rect">
            <a:avLst/>
          </a:prstGeom>
          <a:solidFill>
            <a:srgbClr val="E5E7EB"/>
          </a:solidFill>
          <a:ln w="12700">
            <a:solidFill>
              <a:srgbClr val="E5E7EB">
                <a:alpha val="0"/>
              </a:srgbClr>
            </a:solidFill>
            <a:prstDash val="solid"/>
          </a:ln>
        </p:spPr>
      </p:sp>
      <p:sp>
        <p:nvSpPr>
          <p:cNvPr id="23" name="Shape 21"/>
          <p:cNvSpPr/>
          <p:nvPr/>
        </p:nvSpPr>
        <p:spPr>
          <a:xfrm>
            <a:off x="8366760" y="3758184"/>
            <a:ext cx="27432" cy="256032"/>
          </a:xfrm>
          <a:prstGeom prst="rect">
            <a:avLst/>
          </a:prstGeom>
          <a:solidFill>
            <a:srgbClr val="C94C4C"/>
          </a:solidFill>
          <a:ln w="12700">
            <a:solidFill>
              <a:srgbClr val="C94C4C">
                <a:alpha val="0"/>
              </a:srgbClr>
            </a:solidFill>
            <a:prstDash val="solid"/>
          </a:ln>
        </p:spPr>
      </p:sp>
      <p:sp>
        <p:nvSpPr>
          <p:cNvPr id="24" name="Text 22"/>
          <p:cNvSpPr/>
          <p:nvPr/>
        </p:nvSpPr>
        <p:spPr>
          <a:xfrm>
            <a:off x="11201400" y="3721608"/>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Continuous variables use density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Continuous variables can take infinitely many values.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density is not the same as a probability mass at one exact value.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Probabilities come from intervals under the density curve.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Density has units; probability does not.</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900" b="1" dirty="0">
                <a:solidFill>
                  <a:srgbClr val="14213D"/>
                </a:solidFill>
                <a:latin typeface="Cambria Math" pitchFamily="34" charset="0"/>
                <a:ea typeface="Cambria Math" pitchFamily="34" charset="-122"/>
                <a:cs typeface="Cambria Math" pitchFamily="34" charset="-120"/>
              </a:rPr>
              <a:t>P(18 ≤ Temp ≤ 26) = 1</a:t>
            </a:r>
            <a:endParaRPr lang="en-US" sz="1900" dirty="0"/>
          </a:p>
          <a:p>
            <a:pPr algn="ctr" indent="0" marL="0">
              <a:buNone/>
            </a:pPr>
            <a:r>
              <a:rPr lang="en-US" sz="1900" b="1" dirty="0">
                <a:solidFill>
                  <a:srgbClr val="14213D"/>
                </a:solidFill>
                <a:latin typeface="Cambria Math" pitchFamily="34" charset="0"/>
                <a:ea typeface="Cambria Math" pitchFamily="34" charset="-122"/>
                <a:cs typeface="Cambria Math" pitchFamily="34" charset="-120"/>
              </a:rPr>
              <a:t>P(20.18 exactly) = 0</a:t>
            </a:r>
            <a:endParaRPr lang="en-US" sz="19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For continuous variables, intervals have probability; exact points have zero probability.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39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Joint distributions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joint distribution covers combinations of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P(Weather, Cavity) is a table over all weather-cavity combinations.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full joint distribution covers every variable in the domain.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In principle, a full joint can answer any probability query.</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FCA311"/>
                </a:solidFill>
                <a:latin typeface="Aptos Display" pitchFamily="34" charset="0"/>
                <a:ea typeface="Aptos Display" pitchFamily="34" charset="-122"/>
                <a:cs typeface="Aptos Display" pitchFamily="34" charset="-120"/>
              </a:rPr>
              <a:t>P(X, Y, Z)</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one table over</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complete assignments</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full joint when it includes all variables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Possible worlds as assignments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With factored variables, a world assigns one value to every random variable.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Example: Cavity=true, Toothache=false, Weather=sun.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Cavity, Toothache, Weather there are 2 × 2 × 4 = 16 worlds.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proposition is evaluated using the same truth ideas as propositional logic.</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000" b="1" dirty="0">
                <a:solidFill>
                  <a:srgbClr val="14213D"/>
                </a:solidFill>
                <a:latin typeface="Cambria Math" pitchFamily="34" charset="0"/>
                <a:ea typeface="Cambria Math" pitchFamily="34" charset="-122"/>
                <a:cs typeface="Cambria Math" pitchFamily="34" charset="-120"/>
              </a:rPr>
              <a:t>world = {X₁=x₁, X₂=x₂, ..., Xₙ=xₙ}</a:t>
            </a:r>
            <a:endParaRPr lang="en-US" sz="20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 complete assignment picks exactly one value for each variable.</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 Basic probability notation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 Basic probability notation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Redundant variables and impossible worlds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Some variables are determined by others.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Doubles is true exactly when Die1 = Die2.</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Adding redundant variables may create logically impossible assignments.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Impossible worlds receive probability 0.</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2A9D8F"/>
                </a:solidFill>
                <a:latin typeface="Aptos Display" pitchFamily="34" charset="0"/>
                <a:ea typeface="Aptos Display" pitchFamily="34" charset="-122"/>
                <a:cs typeface="Aptos Display" pitchFamily="34" charset="-120"/>
              </a:rPr>
              <a:t>Doubles</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true iff</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Die1 = Die2</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derived variable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12.2.3 Probability axioms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12.2.3 Probability axioms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Negation rule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probability of not-a is one minus the probability of a.</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follows from the worlds where a holds and the worlds where it does not.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two sets partition the sample space.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Use this rule constantly in binary-variable problems.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600" b="1" dirty="0">
                <a:solidFill>
                  <a:srgbClr val="14213D"/>
                </a:solidFill>
                <a:latin typeface="Cambria Math" pitchFamily="34" charset="0"/>
                <a:ea typeface="Cambria Math" pitchFamily="34" charset="-122"/>
                <a:cs typeface="Cambria Math" pitchFamily="34" charset="-120"/>
              </a:rPr>
              <a:t>P(¬a) = 1 - P(a)</a:t>
            </a:r>
            <a:endParaRPr lang="en-US" sz="26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a-worlds and not-a-worlds fill the whole sample space.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12.2.3 Probability axioms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12.2.3 Probability axioms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Inclusion-exclusion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is not usually P(a) + P(b).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overlap a ∧ b gets counted twice.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Subtract the intersection once.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the probability version of avoiding double counting.</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100" b="1" dirty="0">
                <a:solidFill>
                  <a:srgbClr val="14213D"/>
                </a:solidFill>
                <a:latin typeface="Cambria Math" pitchFamily="34" charset="0"/>
                <a:ea typeface="Cambria Math" pitchFamily="34" charset="-122"/>
                <a:cs typeface="Cambria Math" pitchFamily="34" charset="-120"/>
              </a:rPr>
              <a:t>P(a ∨ b) = P(a) + P(b) - P(a ∧ b)</a:t>
            </a:r>
            <a:endParaRPr lang="en-US" sz="21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Add both sets, then correct for the overlap.</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12.2.3 Probability axioms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12.2.3 Probability axioms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Why probability axioms matter</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Probabilities are about an agent’s state of knowledge.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Still, logically related propositions cannot have arbitrary numbers.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Violating the axioms leads to incoherent behavior.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Dutch book idea makes this practical.</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C94C4C"/>
                </a:solidFill>
                <a:latin typeface="Aptos Display" pitchFamily="34" charset="0"/>
                <a:ea typeface="Aptos Display" pitchFamily="34" charset="-122"/>
                <a:cs typeface="Aptos Display" pitchFamily="34" charset="-120"/>
              </a:rPr>
              <a:t>Coherence</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No guaranteed loss</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from your own stated beliefs</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de Finetti’s betting argument</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12.2.3 Probability axioms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12.2.3 Probability axioms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Example of inconsistent beliefs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Suppose P(a)=0.4 and P(b)=0.3.</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Suppose also P(a ∧ b)=0.0.</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Then P(a ∨ b) should be 0.7.</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Claiming P(a ∨ b)=0.8 violates inclusion-exclusion.</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0.4 + 0.3 - 0.0 = 0.7</a:t>
            </a:r>
            <a:endParaRPr lang="en-US" sz="2500" dirty="0"/>
          </a:p>
          <a:p>
            <a:pPr algn="ctr" indent="0" marL="0">
              <a:buNone/>
            </a:pPr>
            <a:r>
              <a:rPr lang="en-US" sz="2500" b="1" dirty="0">
                <a:solidFill>
                  <a:srgbClr val="14213D"/>
                </a:solidFill>
                <a:latin typeface="Cambria Math" pitchFamily="34" charset="0"/>
                <a:ea typeface="Cambria Math" pitchFamily="34" charset="-122"/>
                <a:cs typeface="Cambria Math" pitchFamily="34" charset="-120"/>
              </a:rPr>
              <a:t>not 0.8</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The numbers cannot all be coherent at the same time.</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12.3</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12.3 Inference using full joint distributions</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Answering probability queries by summing entries in a complete table.</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46</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Full joint as a knowledge base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full joint distribution assigns probabilities to complete assignments.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It can answer any query over the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method is direct but expensive.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chapter uses Toothache, Cavity, and Catch.</a:t>
            </a:r>
            <a:endParaRPr lang="en-US" sz="2000" dirty="0"/>
          </a:p>
        </p:txBody>
      </p:sp>
      <p:sp>
        <p:nvSpPr>
          <p:cNvPr id="9" name="Text 7"/>
          <p:cNvSpPr/>
          <p:nvPr/>
        </p:nvSpPr>
        <p:spPr>
          <a:xfrm>
            <a:off x="6473952" y="1600200"/>
            <a:ext cx="960120" cy="621792"/>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endParaRPr lang="en-US" sz="880" dirty="0"/>
          </a:p>
        </p:txBody>
      </p:sp>
      <p:sp>
        <p:nvSpPr>
          <p:cNvPr id="10" name="Text 8"/>
          <p:cNvSpPr/>
          <p:nvPr/>
        </p:nvSpPr>
        <p:spPr>
          <a:xfrm>
            <a:off x="7434072" y="1600200"/>
            <a:ext cx="1005840" cy="621792"/>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880" b="1" dirty="0">
                <a:solidFill>
                  <a:srgbClr val="14213D"/>
                </a:solidFill>
                <a:latin typeface="Aptos" pitchFamily="34" charset="0"/>
                <a:ea typeface="Aptos" pitchFamily="34" charset="-122"/>
                <a:cs typeface="Aptos" pitchFamily="34" charset="-120"/>
              </a:rPr>
              <a:t>toothache</a:t>
            </a:r>
            <a:endParaRPr lang="en-US" sz="880" dirty="0"/>
          </a:p>
          <a:p>
            <a:pPr algn="ctr" indent="0" marL="0">
              <a:buNone/>
            </a:pPr>
            <a:r>
              <a:rPr lang="en-US" sz="880" b="1" dirty="0">
                <a:solidFill>
                  <a:srgbClr val="14213D"/>
                </a:solidFill>
                <a:latin typeface="Aptos" pitchFamily="34" charset="0"/>
                <a:ea typeface="Aptos" pitchFamily="34" charset="-122"/>
                <a:cs typeface="Aptos" pitchFamily="34" charset="-120"/>
              </a:rPr>
              <a:t>catch</a:t>
            </a:r>
            <a:endParaRPr lang="en-US" sz="880" dirty="0"/>
          </a:p>
        </p:txBody>
      </p:sp>
      <p:sp>
        <p:nvSpPr>
          <p:cNvPr id="11" name="Text 9"/>
          <p:cNvSpPr/>
          <p:nvPr/>
        </p:nvSpPr>
        <p:spPr>
          <a:xfrm>
            <a:off x="8439912" y="1600200"/>
            <a:ext cx="1005840" cy="621792"/>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880" b="1" dirty="0">
                <a:solidFill>
                  <a:srgbClr val="14213D"/>
                </a:solidFill>
                <a:latin typeface="Aptos" pitchFamily="34" charset="0"/>
                <a:ea typeface="Aptos" pitchFamily="34" charset="-122"/>
                <a:cs typeface="Aptos" pitchFamily="34" charset="-120"/>
              </a:rPr>
              <a:t>toothache</a:t>
            </a:r>
            <a:endParaRPr lang="en-US" sz="880" dirty="0"/>
          </a:p>
          <a:p>
            <a:pPr algn="ctr" indent="0" marL="0">
              <a:buNone/>
            </a:pPr>
            <a:r>
              <a:rPr lang="en-US" sz="880" b="1" dirty="0">
                <a:solidFill>
                  <a:srgbClr val="14213D"/>
                </a:solidFill>
                <a:latin typeface="Aptos" pitchFamily="34" charset="0"/>
                <a:ea typeface="Aptos" pitchFamily="34" charset="-122"/>
                <a:cs typeface="Aptos" pitchFamily="34" charset="-120"/>
              </a:rPr>
              <a:t>no catch</a:t>
            </a:r>
            <a:endParaRPr lang="en-US" sz="880" dirty="0"/>
          </a:p>
        </p:txBody>
      </p:sp>
      <p:sp>
        <p:nvSpPr>
          <p:cNvPr id="12" name="Text 10"/>
          <p:cNvSpPr/>
          <p:nvPr/>
        </p:nvSpPr>
        <p:spPr>
          <a:xfrm>
            <a:off x="9445752" y="1600200"/>
            <a:ext cx="1005840" cy="621792"/>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880" b="1" dirty="0">
                <a:solidFill>
                  <a:srgbClr val="14213D"/>
                </a:solidFill>
                <a:latin typeface="Aptos" pitchFamily="34" charset="0"/>
                <a:ea typeface="Aptos" pitchFamily="34" charset="-122"/>
                <a:cs typeface="Aptos" pitchFamily="34" charset="-120"/>
              </a:rPr>
              <a:t>no toothache</a:t>
            </a:r>
            <a:endParaRPr lang="en-US" sz="880" dirty="0"/>
          </a:p>
          <a:p>
            <a:pPr algn="ctr" indent="0" marL="0">
              <a:buNone/>
            </a:pPr>
            <a:r>
              <a:rPr lang="en-US" sz="880" b="1" dirty="0">
                <a:solidFill>
                  <a:srgbClr val="14213D"/>
                </a:solidFill>
                <a:latin typeface="Aptos" pitchFamily="34" charset="0"/>
                <a:ea typeface="Aptos" pitchFamily="34" charset="-122"/>
                <a:cs typeface="Aptos" pitchFamily="34" charset="-120"/>
              </a:rPr>
              <a:t>catch</a:t>
            </a:r>
            <a:endParaRPr lang="en-US" sz="880" dirty="0"/>
          </a:p>
        </p:txBody>
      </p:sp>
      <p:sp>
        <p:nvSpPr>
          <p:cNvPr id="13" name="Text 11"/>
          <p:cNvSpPr/>
          <p:nvPr/>
        </p:nvSpPr>
        <p:spPr>
          <a:xfrm>
            <a:off x="10451592" y="1600200"/>
            <a:ext cx="1005840" cy="621792"/>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880" b="1" dirty="0">
                <a:solidFill>
                  <a:srgbClr val="14213D"/>
                </a:solidFill>
                <a:latin typeface="Aptos" pitchFamily="34" charset="0"/>
                <a:ea typeface="Aptos" pitchFamily="34" charset="-122"/>
                <a:cs typeface="Aptos" pitchFamily="34" charset="-120"/>
              </a:rPr>
              <a:t>no toothache</a:t>
            </a:r>
            <a:endParaRPr lang="en-US" sz="880" dirty="0"/>
          </a:p>
          <a:p>
            <a:pPr algn="ctr" indent="0" marL="0">
              <a:buNone/>
            </a:pPr>
            <a:r>
              <a:rPr lang="en-US" sz="880" b="1" dirty="0">
                <a:solidFill>
                  <a:srgbClr val="14213D"/>
                </a:solidFill>
                <a:latin typeface="Aptos" pitchFamily="34" charset="0"/>
                <a:ea typeface="Aptos" pitchFamily="34" charset="-122"/>
                <a:cs typeface="Aptos" pitchFamily="34" charset="-120"/>
              </a:rPr>
              <a:t>no catch</a:t>
            </a:r>
            <a:endParaRPr lang="en-US" sz="880" dirty="0"/>
          </a:p>
        </p:txBody>
      </p:sp>
      <p:sp>
        <p:nvSpPr>
          <p:cNvPr id="14" name="Text 12"/>
          <p:cNvSpPr/>
          <p:nvPr/>
        </p:nvSpPr>
        <p:spPr>
          <a:xfrm>
            <a:off x="6473952" y="2221992"/>
            <a:ext cx="960120" cy="502920"/>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1050" b="1" dirty="0">
                <a:solidFill>
                  <a:srgbClr val="14213D"/>
                </a:solidFill>
                <a:latin typeface="Aptos" pitchFamily="34" charset="0"/>
                <a:ea typeface="Aptos" pitchFamily="34" charset="-122"/>
                <a:cs typeface="Aptos" pitchFamily="34" charset="-120"/>
              </a:rPr>
              <a:t>cavity</a:t>
            </a:r>
            <a:endParaRPr lang="en-US" sz="1050" dirty="0"/>
          </a:p>
        </p:txBody>
      </p:sp>
      <p:sp>
        <p:nvSpPr>
          <p:cNvPr id="15" name="Text 13"/>
          <p:cNvSpPr/>
          <p:nvPr/>
        </p:nvSpPr>
        <p:spPr>
          <a:xfrm>
            <a:off x="7434072" y="222199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0.108</a:t>
            </a:r>
            <a:endParaRPr lang="en-US" sz="1050" dirty="0"/>
          </a:p>
        </p:txBody>
      </p:sp>
      <p:sp>
        <p:nvSpPr>
          <p:cNvPr id="16" name="Text 14"/>
          <p:cNvSpPr/>
          <p:nvPr/>
        </p:nvSpPr>
        <p:spPr>
          <a:xfrm>
            <a:off x="8439912" y="222199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0.012</a:t>
            </a:r>
            <a:endParaRPr lang="en-US" sz="1050" dirty="0"/>
          </a:p>
        </p:txBody>
      </p:sp>
      <p:sp>
        <p:nvSpPr>
          <p:cNvPr id="17" name="Text 15"/>
          <p:cNvSpPr/>
          <p:nvPr/>
        </p:nvSpPr>
        <p:spPr>
          <a:xfrm>
            <a:off x="9445752" y="222199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0.072</a:t>
            </a:r>
            <a:endParaRPr lang="en-US" sz="1050" dirty="0"/>
          </a:p>
        </p:txBody>
      </p:sp>
      <p:sp>
        <p:nvSpPr>
          <p:cNvPr id="18" name="Text 16"/>
          <p:cNvSpPr/>
          <p:nvPr/>
        </p:nvSpPr>
        <p:spPr>
          <a:xfrm>
            <a:off x="10451592" y="222199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0.008</a:t>
            </a:r>
            <a:endParaRPr lang="en-US" sz="1050" dirty="0"/>
          </a:p>
        </p:txBody>
      </p:sp>
      <p:sp>
        <p:nvSpPr>
          <p:cNvPr id="19" name="Text 17"/>
          <p:cNvSpPr/>
          <p:nvPr/>
        </p:nvSpPr>
        <p:spPr>
          <a:xfrm>
            <a:off x="6473952" y="2724912"/>
            <a:ext cx="960120" cy="502920"/>
          </a:xfrm>
          <a:prstGeom prst="rect">
            <a:avLst/>
          </a:prstGeom>
          <a:solidFill>
            <a:srgbClr val="EAF4F4"/>
          </a:solidFill>
          <a:ln w="7620">
            <a:solidFill>
              <a:srgbClr val="E5E7EB"/>
            </a:solidFill>
          </a:ln>
        </p:spPr>
        <p:txBody>
          <a:bodyPr wrap="square" lIns="254" tIns="254" rIns="254" bIns="254" rtlCol="0" anchor="ctr">
            <a:normAutofit/>
          </a:bodyPr>
          <a:lstStyle/>
          <a:p>
            <a:pPr algn="ctr" indent="0" marL="0">
              <a:buNone/>
            </a:pPr>
            <a:r>
              <a:rPr lang="en-US" sz="1050" b="1" dirty="0">
                <a:solidFill>
                  <a:srgbClr val="14213D"/>
                </a:solidFill>
                <a:latin typeface="Aptos" pitchFamily="34" charset="0"/>
                <a:ea typeface="Aptos" pitchFamily="34" charset="-122"/>
                <a:cs typeface="Aptos" pitchFamily="34" charset="-120"/>
              </a:rPr>
              <a:t>no cavity</a:t>
            </a:r>
            <a:endParaRPr lang="en-US" sz="1050" dirty="0"/>
          </a:p>
        </p:txBody>
      </p:sp>
      <p:sp>
        <p:nvSpPr>
          <p:cNvPr id="20" name="Text 18"/>
          <p:cNvSpPr/>
          <p:nvPr/>
        </p:nvSpPr>
        <p:spPr>
          <a:xfrm>
            <a:off x="7434072" y="272491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0.016</a:t>
            </a:r>
            <a:endParaRPr lang="en-US" sz="1050" dirty="0"/>
          </a:p>
        </p:txBody>
      </p:sp>
      <p:sp>
        <p:nvSpPr>
          <p:cNvPr id="21" name="Text 19"/>
          <p:cNvSpPr/>
          <p:nvPr/>
        </p:nvSpPr>
        <p:spPr>
          <a:xfrm>
            <a:off x="8439912" y="272491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0.064</a:t>
            </a:r>
            <a:endParaRPr lang="en-US" sz="1050" dirty="0"/>
          </a:p>
        </p:txBody>
      </p:sp>
      <p:sp>
        <p:nvSpPr>
          <p:cNvPr id="22" name="Text 20"/>
          <p:cNvSpPr/>
          <p:nvPr/>
        </p:nvSpPr>
        <p:spPr>
          <a:xfrm>
            <a:off x="9445752" y="272491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0.144</a:t>
            </a:r>
            <a:endParaRPr lang="en-US" sz="1050" dirty="0"/>
          </a:p>
        </p:txBody>
      </p:sp>
      <p:sp>
        <p:nvSpPr>
          <p:cNvPr id="23" name="Text 21"/>
          <p:cNvSpPr/>
          <p:nvPr/>
        </p:nvSpPr>
        <p:spPr>
          <a:xfrm>
            <a:off x="10451592" y="2724912"/>
            <a:ext cx="1005840" cy="502920"/>
          </a:xfrm>
          <a:prstGeom prst="rect">
            <a:avLst/>
          </a:prstGeom>
          <a:solidFill>
            <a:srgbClr val="FFFFFF"/>
          </a:solidFill>
          <a:ln w="7620">
            <a:solidFill>
              <a:srgbClr val="E5E7EB"/>
            </a:solidFill>
          </a:ln>
        </p:spPr>
        <p:txBody>
          <a:bodyPr wrap="square" lIns="254" tIns="254" rIns="254" bIns="254" rtlCol="0" anchor="ctr">
            <a:normAutofit/>
          </a:bodyPr>
          <a:lstStyle/>
          <a:p>
            <a:pPr algn="ctr" indent="0" marL="0">
              <a:buNone/>
            </a:pPr>
            <a:r>
              <a:rPr lang="en-US" sz="1050" dirty="0">
                <a:solidFill>
                  <a:srgbClr val="14213D"/>
                </a:solidFill>
                <a:latin typeface="Aptos" pitchFamily="34" charset="0"/>
                <a:ea typeface="Aptos" pitchFamily="34" charset="-122"/>
                <a:cs typeface="Aptos" pitchFamily="34" charset="-120"/>
              </a:rPr>
              <a:t>0.576</a:t>
            </a:r>
            <a:endParaRPr lang="en-US" sz="1050" dirty="0"/>
          </a:p>
        </p:txBody>
      </p:sp>
      <p:sp>
        <p:nvSpPr>
          <p:cNvPr id="24" name="Text 22"/>
          <p:cNvSpPr/>
          <p:nvPr/>
        </p:nvSpPr>
        <p:spPr>
          <a:xfrm>
            <a:off x="6583680" y="3703320"/>
            <a:ext cx="2148840" cy="50292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Rows sum to P(Cavity)</a:t>
            </a:r>
            <a:endParaRPr lang="en-US" sz="1300" dirty="0"/>
          </a:p>
        </p:txBody>
      </p:sp>
      <p:sp>
        <p:nvSpPr>
          <p:cNvPr id="25" name="Text 23"/>
          <p:cNvSpPr/>
          <p:nvPr/>
        </p:nvSpPr>
        <p:spPr>
          <a:xfrm>
            <a:off x="9006840" y="3703320"/>
            <a:ext cx="2148840" cy="50292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All 8 entries sum to 1</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Summing entries answers propositions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To compute P(cavity), add every entry where cavity is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To compute P(toothache), add every entry where toothache is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To compute P(cavity ∨ toothache), add entries where either condition is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table is just a compact list of possible worlds.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800" b="1" dirty="0">
                <a:solidFill>
                  <a:srgbClr val="14213D"/>
                </a:solidFill>
                <a:latin typeface="Cambria Math" pitchFamily="34" charset="0"/>
                <a:ea typeface="Cambria Math" pitchFamily="34" charset="-122"/>
                <a:cs typeface="Cambria Math" pitchFamily="34" charset="-120"/>
              </a:rPr>
              <a:t>P(cavity)</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 0.108+0.012+0.072+0.008</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 0.20</a:t>
            </a:r>
            <a:endParaRPr lang="en-US" sz="18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Marginal probability from a row sum.</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49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Marginalization: summing out</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marginal probability ignores some variables by summing over them.</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Summing out Z gives P(Y).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works for one variable or many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Marginalization is a recurring operation in probabilistic inference.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600" b="1" dirty="0">
                <a:solidFill>
                  <a:srgbClr val="14213D"/>
                </a:solidFill>
                <a:latin typeface="Cambria Math" pitchFamily="34" charset="0"/>
                <a:ea typeface="Cambria Math" pitchFamily="34" charset="-122"/>
                <a:cs typeface="Cambria Math" pitchFamily="34" charset="-120"/>
              </a:rPr>
              <a:t>P(Y) = Σz P(Y, Z=z)</a:t>
            </a:r>
            <a:endParaRPr lang="en-US" sz="26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Ignore Z by adding over every value of Z.</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Conditioning from a full joint</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P(cavity | toothache), restrict to worlds with toothache.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Add the cavity and toothache entries for the numerator.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Add all toothache entries for the denominator.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result is 0.6 for cavity and 0.4 for no cavity.</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550" b="1" dirty="0">
                <a:solidFill>
                  <a:srgbClr val="14213D"/>
                </a:solidFill>
                <a:latin typeface="Cambria Math" pitchFamily="34" charset="0"/>
                <a:ea typeface="Cambria Math" pitchFamily="34" charset="-122"/>
                <a:cs typeface="Cambria Math" pitchFamily="34" charset="-120"/>
              </a:rPr>
              <a:t>P(cavity | toothache)</a:t>
            </a:r>
            <a:endParaRPr lang="en-US" sz="1550" dirty="0"/>
          </a:p>
          <a:p>
            <a:pPr algn="ctr" indent="0" marL="0">
              <a:buNone/>
            </a:pPr>
            <a:r>
              <a:rPr lang="en-US" sz="1550" b="1" dirty="0">
                <a:solidFill>
                  <a:srgbClr val="14213D"/>
                </a:solidFill>
                <a:latin typeface="Cambria Math" pitchFamily="34" charset="0"/>
                <a:ea typeface="Cambria Math" pitchFamily="34" charset="-122"/>
                <a:cs typeface="Cambria Math" pitchFamily="34" charset="-120"/>
              </a:rPr>
              <a:t>= (0.108+0.012) / (0.108+0.012+0.016+0.064)</a:t>
            </a:r>
            <a:endParaRPr lang="en-US" sz="1550" dirty="0"/>
          </a:p>
          <a:p>
            <a:pPr algn="ctr" indent="0" marL="0">
              <a:buNone/>
            </a:pPr>
            <a:r>
              <a:rPr lang="en-US" sz="1550" b="1" dirty="0">
                <a:solidFill>
                  <a:srgbClr val="14213D"/>
                </a:solidFill>
                <a:latin typeface="Cambria Math" pitchFamily="34" charset="0"/>
                <a:ea typeface="Cambria Math" pitchFamily="34" charset="-122"/>
                <a:cs typeface="Cambria Math" pitchFamily="34" charset="-120"/>
              </a:rPr>
              <a:t>= 0.60</a:t>
            </a:r>
            <a:endParaRPr lang="en-US" sz="155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Evidence filters worlds before normalization.</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Normalization constant α</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Often the denominator is the same for every value of the query variable.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Compute unnormalized scores first.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so the scores sum to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symbol α represents the normalizing constant.</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α(0.12, 0.08) = (0.60, 0.40)</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Divide each score by 0.12 + 0.08.</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General enumeration query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X is the query variable.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 is the observed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Y are the remaining unobserved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Sum over Y, then normalize.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P(X | e) = α Σy P(X, e, y)</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Enumeration over hidden variables answers the query.</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scaling wall</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n Boolean variables, the full joint has 2^n entries.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Inference by enumeration can require O(2^n) time.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With 100 Boolean variables, the table is astronomically large.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table is a foundation, not a practical system design.</a:t>
            </a:r>
            <a:endParaRPr lang="en-US" sz="2000" dirty="0"/>
          </a:p>
        </p:txBody>
      </p:sp>
      <p:sp>
        <p:nvSpPr>
          <p:cNvPr id="9" name="Text 7"/>
          <p:cNvSpPr/>
          <p:nvPr/>
        </p:nvSpPr>
        <p:spPr>
          <a:xfrm>
            <a:off x="6629400" y="150876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 variables</a:t>
            </a:r>
            <a:endParaRPr lang="en-US" sz="1400" dirty="0"/>
          </a:p>
        </p:txBody>
      </p:sp>
      <p:sp>
        <p:nvSpPr>
          <p:cNvPr id="10" name="Shape 8"/>
          <p:cNvSpPr/>
          <p:nvPr/>
        </p:nvSpPr>
        <p:spPr>
          <a:xfrm>
            <a:off x="8412480" y="1828800"/>
            <a:ext cx="640080" cy="0"/>
          </a:xfrm>
          <a:prstGeom prst="line">
            <a:avLst/>
          </a:prstGeom>
          <a:noFill/>
          <a:ln w="15240">
            <a:solidFill>
              <a:srgbClr val="6B7280"/>
            </a:solidFill>
            <a:prstDash val="solid"/>
            <a:tailEnd type="triangle"/>
          </a:ln>
        </p:spPr>
      </p:sp>
      <p:sp>
        <p:nvSpPr>
          <p:cNvPr id="11" name="Text 9"/>
          <p:cNvSpPr/>
          <p:nvPr/>
        </p:nvSpPr>
        <p:spPr>
          <a:xfrm>
            <a:off x="9144000" y="1508760"/>
            <a:ext cx="2057400" cy="64008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1,024 entries</a:t>
            </a:r>
            <a:endParaRPr lang="en-US" sz="1400" dirty="0"/>
          </a:p>
        </p:txBody>
      </p:sp>
      <p:sp>
        <p:nvSpPr>
          <p:cNvPr id="12" name="Text 10"/>
          <p:cNvSpPr/>
          <p:nvPr/>
        </p:nvSpPr>
        <p:spPr>
          <a:xfrm>
            <a:off x="6629400" y="274320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30 variables</a:t>
            </a:r>
            <a:endParaRPr lang="en-US" sz="1400" dirty="0"/>
          </a:p>
        </p:txBody>
      </p:sp>
      <p:sp>
        <p:nvSpPr>
          <p:cNvPr id="13" name="Shape 11"/>
          <p:cNvSpPr/>
          <p:nvPr/>
        </p:nvSpPr>
        <p:spPr>
          <a:xfrm>
            <a:off x="8412480" y="3063240"/>
            <a:ext cx="640080" cy="0"/>
          </a:xfrm>
          <a:prstGeom prst="line">
            <a:avLst/>
          </a:prstGeom>
          <a:noFill/>
          <a:ln w="15240">
            <a:solidFill>
              <a:srgbClr val="6B7280"/>
            </a:solidFill>
            <a:prstDash val="solid"/>
            <a:tailEnd type="triangle"/>
          </a:ln>
        </p:spPr>
      </p:sp>
      <p:sp>
        <p:nvSpPr>
          <p:cNvPr id="14" name="Text 12"/>
          <p:cNvSpPr/>
          <p:nvPr/>
        </p:nvSpPr>
        <p:spPr>
          <a:xfrm>
            <a:off x="9144000" y="2743200"/>
            <a:ext cx="2057400" cy="64008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about 1 billion</a:t>
            </a:r>
            <a:endParaRPr lang="en-US" sz="1400" dirty="0"/>
          </a:p>
        </p:txBody>
      </p:sp>
      <p:sp>
        <p:nvSpPr>
          <p:cNvPr id="15" name="Text 13"/>
          <p:cNvSpPr/>
          <p:nvPr/>
        </p:nvSpPr>
        <p:spPr>
          <a:xfrm>
            <a:off x="6629400" y="397764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100 variables</a:t>
            </a:r>
            <a:endParaRPr lang="en-US" sz="1400" dirty="0"/>
          </a:p>
        </p:txBody>
      </p:sp>
      <p:sp>
        <p:nvSpPr>
          <p:cNvPr id="16" name="Shape 14"/>
          <p:cNvSpPr/>
          <p:nvPr/>
        </p:nvSpPr>
        <p:spPr>
          <a:xfrm>
            <a:off x="8412480" y="4297680"/>
            <a:ext cx="640080" cy="0"/>
          </a:xfrm>
          <a:prstGeom prst="line">
            <a:avLst/>
          </a:prstGeom>
          <a:noFill/>
          <a:ln w="15240">
            <a:solidFill>
              <a:srgbClr val="6B7280"/>
            </a:solidFill>
            <a:prstDash val="solid"/>
            <a:tailEnd type="triangle"/>
          </a:ln>
        </p:spPr>
      </p:sp>
      <p:sp>
        <p:nvSpPr>
          <p:cNvPr id="17" name="Text 15"/>
          <p:cNvSpPr/>
          <p:nvPr/>
        </p:nvSpPr>
        <p:spPr>
          <a:xfrm>
            <a:off x="9144000" y="3977640"/>
            <a:ext cx="2057400" cy="64008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about 10^30</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12.3 Full joint inference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12.3 Full joint inference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Instructor demo: full-joint inference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Represent each possible world as a tuple.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Filter worlds by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Sum matching probabilities.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to obtain a posterior distribution.</a:t>
            </a:r>
            <a:endParaRPr lang="en-US" sz="2000" dirty="0"/>
          </a:p>
        </p:txBody>
      </p:sp>
      <p:sp>
        <p:nvSpPr>
          <p:cNvPr id="9" name="Text 7"/>
          <p:cNvSpPr/>
          <p:nvPr/>
        </p:nvSpPr>
        <p:spPr>
          <a:xfrm>
            <a:off x="6355080" y="1371600"/>
            <a:ext cx="5166360" cy="4800600"/>
          </a:xfrm>
          <a:prstGeom prst="rect">
            <a:avLst/>
          </a:prstGeom>
          <a:solidFill>
            <a:srgbClr val="1E1E1E"/>
          </a:solidFill>
          <a:ln>
            <a:solidFill>
              <a:srgbClr val="1E1E1E"/>
            </a:solidFill>
          </a:ln>
        </p:spPr>
        <p:txBody>
          <a:bodyPr wrap="square" lIns="1524" tIns="1524" rIns="1524" bIns="1524" rtlCol="0" anchor="t">
            <a:normAutofit/>
          </a:bodyPr>
          <a:lstStyle/>
          <a:p>
            <a:pPr indent="0" marL="0">
              <a:buNone/>
            </a:pPr>
            <a:r>
              <a:rPr lang="en-US" sz="1020" dirty="0">
                <a:solidFill>
                  <a:srgbClr val="FFFFFF"/>
                </a:solidFill>
                <a:latin typeface="Liberation Mono" pitchFamily="34" charset="0"/>
                <a:ea typeface="Liberation Mono" pitchFamily="34" charset="-122"/>
                <a:cs typeface="Liberation Mono" pitchFamily="34" charset="-120"/>
              </a:rPr>
              <a:t>joint = {</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(1,1,1): 0.108, (1,1,0): 0.012,</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(1,0,1): 0.072, (1,0,0): 0.008,</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(0,1,1): 0.016, (0,1,0): 0.064,</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(0,0,1): 0.144, (0,0,0): 0.576,</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tuple = (cavity, toothache, catch)</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num = sum(p for (c,t,cg), p in joint.items() if c and 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den = sum(p for (c,t,cg), p in joint.items() if 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print(num / den)</a:t>
            </a:r>
            <a:endParaRPr lang="en-US" sz="102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12.4</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12.4 Independence</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When separate parts of the world can be factored.</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55</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12.4 Independence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12.4 Independence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Independence intuition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Knowing one proposition does not change belief in the other.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Weather should not affect dental variables in the chapter’s example.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If variables are independent, their joint distribution factors.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can greatly reduce storage and computation.</a:t>
            </a:r>
            <a:endParaRPr lang="en-US" sz="2000" dirty="0"/>
          </a:p>
        </p:txBody>
      </p:sp>
      <p:sp>
        <p:nvSpPr>
          <p:cNvPr id="9" name="Text 7"/>
          <p:cNvSpPr/>
          <p:nvPr/>
        </p:nvSpPr>
        <p:spPr>
          <a:xfrm>
            <a:off x="6537960" y="1600200"/>
            <a:ext cx="2057400" cy="82296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Weather</a:t>
            </a:r>
            <a:endParaRPr lang="en-US" sz="1600" dirty="0"/>
          </a:p>
        </p:txBody>
      </p:sp>
      <p:sp>
        <p:nvSpPr>
          <p:cNvPr id="10" name="Text 8"/>
          <p:cNvSpPr/>
          <p:nvPr/>
        </p:nvSpPr>
        <p:spPr>
          <a:xfrm>
            <a:off x="9189720" y="1600200"/>
            <a:ext cx="2057400" cy="82296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Dental state</a:t>
            </a:r>
            <a:endParaRPr lang="en-US" sz="1600" dirty="0"/>
          </a:p>
        </p:txBody>
      </p:sp>
      <p:sp>
        <p:nvSpPr>
          <p:cNvPr id="11" name="Shape 9"/>
          <p:cNvSpPr/>
          <p:nvPr/>
        </p:nvSpPr>
        <p:spPr>
          <a:xfrm>
            <a:off x="8622792" y="2011680"/>
            <a:ext cx="502920" cy="0"/>
          </a:xfrm>
          <a:prstGeom prst="line">
            <a:avLst/>
          </a:prstGeom>
          <a:noFill/>
          <a:ln w="19050">
            <a:solidFill>
              <a:srgbClr val="6B7280"/>
            </a:solidFill>
            <a:prstDash val="solid"/>
            <a:tailEnd type="triangle"/>
          </a:ln>
        </p:spPr>
      </p:sp>
      <p:sp>
        <p:nvSpPr>
          <p:cNvPr id="12" name="Text 10"/>
          <p:cNvSpPr/>
          <p:nvPr/>
        </p:nvSpPr>
        <p:spPr>
          <a:xfrm>
            <a:off x="7635240" y="3246120"/>
            <a:ext cx="2514600" cy="6858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no influence</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12.4 Independence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12.4 Independence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Formal independence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 P(a).</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Equivalently, P(b | a) = P(b).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Equivalently, P(a ∧ b) = P(a)P(b).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variables: P(X, Y) = P(X)P(Y).</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600" b="1" dirty="0">
                <a:solidFill>
                  <a:srgbClr val="14213D"/>
                </a:solidFill>
                <a:latin typeface="Cambria Math" pitchFamily="34" charset="0"/>
                <a:ea typeface="Cambria Math" pitchFamily="34" charset="-122"/>
                <a:cs typeface="Cambria Math" pitchFamily="34" charset="-120"/>
              </a:rPr>
              <a:t>P(X, Y) = P(X) P(Y)</a:t>
            </a:r>
            <a:endParaRPr lang="en-US" sz="26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The joint can be factored into two smaller distributions.</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12.4 Independence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12.4 Independence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Factorization example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Adding Weather to the dental world doubles or quadruples table size.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If Weather is independent of dental variables, keep two smaller tables.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P(Toothache, Catch, Cavity, Weather) factors into dental × weather.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a huge gain when many variables are independent.</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300" b="1" dirty="0">
                <a:solidFill>
                  <a:srgbClr val="14213D"/>
                </a:solidFill>
                <a:latin typeface="Cambria Math" pitchFamily="34" charset="0"/>
                <a:ea typeface="Cambria Math" pitchFamily="34" charset="-122"/>
                <a:cs typeface="Cambria Math" pitchFamily="34" charset="-120"/>
              </a:rPr>
              <a:t>P(T,C,V,W)</a:t>
            </a:r>
            <a:endParaRPr lang="en-US" sz="2300" dirty="0"/>
          </a:p>
          <a:p>
            <a:pPr algn="ctr" indent="0" marL="0">
              <a:buNone/>
            </a:pPr>
            <a:r>
              <a:rPr lang="en-US" sz="2300" b="1" dirty="0">
                <a:solidFill>
                  <a:srgbClr val="14213D"/>
                </a:solidFill>
                <a:latin typeface="Cambria Math" pitchFamily="34" charset="0"/>
                <a:ea typeface="Cambria Math" pitchFamily="34" charset="-122"/>
                <a:cs typeface="Cambria Math" pitchFamily="34" charset="-120"/>
              </a:rPr>
              <a:t>= P(T,C,V) P(W)</a:t>
            </a:r>
            <a:endParaRPr lang="en-US" sz="23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The chapter uses Weather to show how independent pieces separate.</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12.4 Independence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59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12.4 Independence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Independent coin flips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 independent coin flips have 2^n possible outcomes.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But the model can be represented as n one-variable distributions.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independence assumption is a compact representation.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the core computational benefit.</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P(C₁, ..., Cₙ) = Πᵢ P(Cᵢ)</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 product of small terms replaces a huge table.</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12.4 Independence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12.4 Independence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Why absolute independence is rare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Any indirect connection can break independence.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Large domains often have many interrelated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Dentistry itself may involve many diseases and symptoms.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We need a more local idea: conditional independence.</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C94C4C"/>
                </a:solidFill>
                <a:latin typeface="Aptos Display" pitchFamily="34" charset="0"/>
                <a:ea typeface="Aptos Display" pitchFamily="34" charset="-122"/>
                <a:cs typeface="Aptos Display" pitchFamily="34" charset="-120"/>
              </a:rPr>
              <a:t>Too clean</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Whole-variable independence</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is powerful but uncommon.</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Next: independence given a cause</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12.5</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12.5 Bayes’ rule and its use</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Turning causal knowledge into diagnostic inference.</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61</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 Bayes’ rule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 Bayes’ rule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Deriving Bayes’ rule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Start with two forms of the product rule.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 P(a | b)P(b).</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P(a ∧ b) = P(b | a)P(a).</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Equate them and solve for the unknown conditional.</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400" b="1" dirty="0">
                <a:solidFill>
                  <a:srgbClr val="14213D"/>
                </a:solidFill>
                <a:latin typeface="Cambria Math" pitchFamily="34" charset="0"/>
                <a:ea typeface="Cambria Math" pitchFamily="34" charset="-122"/>
                <a:cs typeface="Cambria Math" pitchFamily="34" charset="-120"/>
              </a:rPr>
              <a:t>P(b | a) = P(a | b) P(b) / P(a)</a:t>
            </a:r>
            <a:endParaRPr lang="en-US" sz="24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Same joint event, two factorizations.</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 Bayes’ rule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 Bayes’ rule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Bayes’ rule for causes and effects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Causal direction: P(effect | cause).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Diagnostic direction: P(cause | effect).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Often causal probabilities are easier to estimate or model.</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rule reverses the direction.</a:t>
            </a:r>
            <a:endParaRPr lang="en-US" sz="2000" dirty="0"/>
          </a:p>
        </p:txBody>
      </p:sp>
      <p:sp>
        <p:nvSpPr>
          <p:cNvPr id="9" name="Text 7"/>
          <p:cNvSpPr/>
          <p:nvPr/>
        </p:nvSpPr>
        <p:spPr>
          <a:xfrm>
            <a:off x="6537960" y="1508760"/>
            <a:ext cx="4892040" cy="146304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000" b="1" dirty="0">
                <a:solidFill>
                  <a:srgbClr val="14213D"/>
                </a:solidFill>
                <a:latin typeface="Cambria Math" pitchFamily="34" charset="0"/>
                <a:ea typeface="Cambria Math" pitchFamily="34" charset="-122"/>
                <a:cs typeface="Cambria Math" pitchFamily="34" charset="-120"/>
              </a:rPr>
              <a:t>P(cause | effect) =</a:t>
            </a:r>
            <a:endParaRPr lang="en-US" sz="2000" dirty="0"/>
          </a:p>
          <a:p>
            <a:pPr algn="ctr" indent="0" marL="0">
              <a:buNone/>
            </a:pPr>
            <a:r>
              <a:rPr lang="en-US" sz="2000" b="1" dirty="0">
                <a:solidFill>
                  <a:srgbClr val="14213D"/>
                </a:solidFill>
                <a:latin typeface="Cambria Math" pitchFamily="34" charset="0"/>
                <a:ea typeface="Cambria Math" pitchFamily="34" charset="-122"/>
                <a:cs typeface="Cambria Math" pitchFamily="34" charset="-120"/>
              </a:rPr>
              <a:t>P(effect | cause) P(cause) / P(effect)</a:t>
            </a:r>
            <a:endParaRPr lang="en-US" sz="2000" dirty="0"/>
          </a:p>
        </p:txBody>
      </p:sp>
      <p:sp>
        <p:nvSpPr>
          <p:cNvPr id="10" name="Text 8"/>
          <p:cNvSpPr/>
          <p:nvPr/>
        </p:nvSpPr>
        <p:spPr>
          <a:xfrm>
            <a:off x="6537960" y="317296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Use what is easier to estimate in the causal direction, then invert it.</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 Bayes’ rule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 Bayes’ rule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Causal knowledge can be more robust</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disease mechanism may stay stable across populations.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prior rate of the disease may change during an outbreak.</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direct diagnostic statistic may become outdated.</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lets the posterior update when priors change.</a:t>
            </a:r>
            <a:endParaRPr lang="en-US" sz="2000" dirty="0"/>
          </a:p>
        </p:txBody>
      </p:sp>
      <p:sp>
        <p:nvSpPr>
          <p:cNvPr id="9" name="Text 7"/>
          <p:cNvSpPr/>
          <p:nvPr/>
        </p:nvSpPr>
        <p:spPr>
          <a:xfrm>
            <a:off x="6537960" y="1600200"/>
            <a:ext cx="2057400" cy="82296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P(symptom | disease)</a:t>
            </a:r>
            <a:endParaRPr lang="en-US" sz="1600" dirty="0"/>
          </a:p>
        </p:txBody>
      </p:sp>
      <p:sp>
        <p:nvSpPr>
          <p:cNvPr id="10" name="Text 8"/>
          <p:cNvSpPr/>
          <p:nvPr/>
        </p:nvSpPr>
        <p:spPr>
          <a:xfrm>
            <a:off x="9189720" y="1600200"/>
            <a:ext cx="2057400" cy="82296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P(disease)</a:t>
            </a:r>
            <a:endParaRPr lang="en-US" sz="1600" dirty="0"/>
          </a:p>
        </p:txBody>
      </p:sp>
      <p:sp>
        <p:nvSpPr>
          <p:cNvPr id="11" name="Shape 9"/>
          <p:cNvSpPr/>
          <p:nvPr/>
        </p:nvSpPr>
        <p:spPr>
          <a:xfrm>
            <a:off x="8622792" y="2011680"/>
            <a:ext cx="502920" cy="0"/>
          </a:xfrm>
          <a:prstGeom prst="line">
            <a:avLst/>
          </a:prstGeom>
          <a:noFill/>
          <a:ln w="19050">
            <a:solidFill>
              <a:srgbClr val="6B7280"/>
            </a:solidFill>
            <a:prstDash val="solid"/>
            <a:tailEnd type="triangle"/>
          </a:ln>
        </p:spPr>
      </p:sp>
      <p:sp>
        <p:nvSpPr>
          <p:cNvPr id="12" name="Text 10"/>
          <p:cNvSpPr/>
          <p:nvPr/>
        </p:nvSpPr>
        <p:spPr>
          <a:xfrm>
            <a:off x="7635240" y="3246120"/>
            <a:ext cx="2514600" cy="6858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updated posterior</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12.5.1 Simple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12.5.1 Simple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Meningitis and stiff neck example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P(stiff neck | meningitis) = 0.70.</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P(meningitis) = 1/50,000.</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P(stiff neck) = 0.01.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Posterior P(meningitis | stiff neck) = 0.0014.</a:t>
            </a:r>
            <a:endParaRPr lang="en-US" sz="2000" dirty="0"/>
          </a:p>
        </p:txBody>
      </p:sp>
      <p:sp>
        <p:nvSpPr>
          <p:cNvPr id="9" name="Text 7"/>
          <p:cNvSpPr/>
          <p:nvPr/>
        </p:nvSpPr>
        <p:spPr>
          <a:xfrm>
            <a:off x="6537960" y="1417320"/>
            <a:ext cx="4754880" cy="50292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P(stiff | meningitis) = 0.70</a:t>
            </a:r>
            <a:endParaRPr lang="en-US" sz="1400" dirty="0"/>
          </a:p>
        </p:txBody>
      </p:sp>
      <p:sp>
        <p:nvSpPr>
          <p:cNvPr id="10" name="Text 8"/>
          <p:cNvSpPr/>
          <p:nvPr/>
        </p:nvSpPr>
        <p:spPr>
          <a:xfrm>
            <a:off x="6537960" y="2103120"/>
            <a:ext cx="4754880" cy="50292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P(meningitis) = 1 / 50,000</a:t>
            </a:r>
            <a:endParaRPr lang="en-US" sz="1400" dirty="0"/>
          </a:p>
        </p:txBody>
      </p:sp>
      <p:sp>
        <p:nvSpPr>
          <p:cNvPr id="11" name="Text 9"/>
          <p:cNvSpPr/>
          <p:nvPr/>
        </p:nvSpPr>
        <p:spPr>
          <a:xfrm>
            <a:off x="6537960" y="2788920"/>
            <a:ext cx="4754880" cy="5029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P(stiff) = 0.01</a:t>
            </a:r>
            <a:endParaRPr lang="en-US" sz="1400" dirty="0"/>
          </a:p>
        </p:txBody>
      </p:sp>
      <p:sp>
        <p:nvSpPr>
          <p:cNvPr id="12" name="Text 10"/>
          <p:cNvSpPr/>
          <p:nvPr/>
        </p:nvSpPr>
        <p:spPr>
          <a:xfrm>
            <a:off x="6537960" y="3703320"/>
            <a:ext cx="4754880" cy="68580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2000" b="1" dirty="0">
                <a:solidFill>
                  <a:srgbClr val="111827"/>
                </a:solidFill>
                <a:latin typeface="Aptos" pitchFamily="34" charset="0"/>
                <a:ea typeface="Aptos" pitchFamily="34" charset="-122"/>
                <a:cs typeface="Aptos" pitchFamily="34" charset="-120"/>
              </a:rPr>
              <a:t>P(meningitis | stiff) = 0.0014</a:t>
            </a:r>
            <a:endParaRPr lang="en-US" sz="2000" dirty="0"/>
          </a:p>
        </p:txBody>
      </p:sp>
      <p:sp>
        <p:nvSpPr>
          <p:cNvPr id="13" name="Text 11"/>
          <p:cNvSpPr/>
          <p:nvPr/>
        </p:nvSpPr>
        <p:spPr>
          <a:xfrm>
            <a:off x="6583680" y="4617720"/>
            <a:ext cx="4663440" cy="658368"/>
          </a:xfrm>
          <a:prstGeom prst="rect">
            <a:avLst/>
          </a:prstGeom>
          <a:noFill/>
          <a:ln/>
        </p:spPr>
        <p:txBody>
          <a:bodyPr wrap="square" lIns="254" tIns="254" rIns="254" bIns="254" rtlCol="0" anchor="ctr">
            <a:normAutofit/>
          </a:bodyPr>
          <a:lstStyle/>
          <a:p>
            <a:pPr algn="ctr" indent="0" marL="0">
              <a:buNone/>
            </a:pPr>
            <a:r>
              <a:rPr lang="en-US" sz="1500" dirty="0">
                <a:solidFill>
                  <a:srgbClr val="6B7280"/>
                </a:solidFill>
              </a:rPr>
              <a:t>A strong symptom can still imply a low posterior when the disease is rare.</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12.5.1 Simple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12.5.1 Simple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Base rates matter</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prior probability can dominate the posterior.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Rare causes remain rare unless evidence is very specific.</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Ignoring base rates leads to overdiagnosis and false alarms.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rule forces the prior into the calculation.</a:t>
            </a:r>
            <a:endParaRPr lang="en-US" sz="2000" dirty="0"/>
          </a:p>
        </p:txBody>
      </p:sp>
      <p:sp>
        <p:nvSpPr>
          <p:cNvPr id="9" name="Text 7"/>
          <p:cNvSpPr/>
          <p:nvPr/>
        </p:nvSpPr>
        <p:spPr>
          <a:xfrm>
            <a:off x="6583680" y="1508760"/>
            <a:ext cx="1645920" cy="256032"/>
          </a:xfrm>
          <a:prstGeom prst="rect">
            <a:avLst/>
          </a:prstGeom>
          <a:noFill/>
          <a:ln/>
        </p:spPr>
        <p:txBody>
          <a:bodyPr wrap="square" lIns="0" tIns="0" rIns="0" bIns="0" rtlCol="0" anchor="ctr"/>
          <a:lstStyle/>
          <a:p>
            <a:pPr indent="0" marL="0">
              <a:buNone/>
            </a:pPr>
            <a:r>
              <a:rPr lang="en-US" sz="1200" dirty="0">
                <a:solidFill>
                  <a:srgbClr val="14213D"/>
                </a:solidFill>
              </a:rPr>
              <a:t>disease prior</a:t>
            </a:r>
            <a:endParaRPr lang="en-US" sz="1200" dirty="0"/>
          </a:p>
        </p:txBody>
      </p:sp>
      <p:sp>
        <p:nvSpPr>
          <p:cNvPr id="10" name="Shape 8"/>
          <p:cNvSpPr/>
          <p:nvPr/>
        </p:nvSpPr>
        <p:spPr>
          <a:xfrm>
            <a:off x="8366760" y="1508760"/>
            <a:ext cx="2743200" cy="256032"/>
          </a:xfrm>
          <a:prstGeom prst="rect">
            <a:avLst/>
          </a:prstGeom>
          <a:solidFill>
            <a:srgbClr val="E5E7EB"/>
          </a:solidFill>
          <a:ln w="12700">
            <a:solidFill>
              <a:srgbClr val="E5E7EB">
                <a:alpha val="0"/>
              </a:srgbClr>
            </a:solidFill>
            <a:prstDash val="solid"/>
          </a:ln>
        </p:spPr>
      </p:sp>
      <p:sp>
        <p:nvSpPr>
          <p:cNvPr id="11" name="Shape 9"/>
          <p:cNvSpPr/>
          <p:nvPr/>
        </p:nvSpPr>
        <p:spPr>
          <a:xfrm>
            <a:off x="8366760" y="1508760"/>
            <a:ext cx="9144" cy="256032"/>
          </a:xfrm>
          <a:prstGeom prst="rect">
            <a:avLst/>
          </a:prstGeom>
          <a:solidFill>
            <a:srgbClr val="C94C4C"/>
          </a:solidFill>
          <a:ln w="12700">
            <a:solidFill>
              <a:srgbClr val="C94C4C">
                <a:alpha val="0"/>
              </a:srgbClr>
            </a:solidFill>
            <a:prstDash val="solid"/>
          </a:ln>
        </p:spPr>
      </p:sp>
      <p:sp>
        <p:nvSpPr>
          <p:cNvPr id="12" name="Text 10"/>
          <p:cNvSpPr/>
          <p:nvPr/>
        </p:nvSpPr>
        <p:spPr>
          <a:xfrm>
            <a:off x="11201400" y="1472184"/>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0.002%</a:t>
            </a:r>
            <a:endParaRPr lang="en-US" sz="1100" dirty="0"/>
          </a:p>
        </p:txBody>
      </p:sp>
      <p:sp>
        <p:nvSpPr>
          <p:cNvPr id="13" name="Text 11"/>
          <p:cNvSpPr/>
          <p:nvPr/>
        </p:nvSpPr>
        <p:spPr>
          <a:xfrm>
            <a:off x="6583680" y="2258568"/>
            <a:ext cx="1645920" cy="256032"/>
          </a:xfrm>
          <a:prstGeom prst="rect">
            <a:avLst/>
          </a:prstGeom>
          <a:noFill/>
          <a:ln/>
        </p:spPr>
        <p:txBody>
          <a:bodyPr wrap="square" lIns="0" tIns="0" rIns="0" bIns="0" rtlCol="0" anchor="ctr"/>
          <a:lstStyle/>
          <a:p>
            <a:pPr indent="0" marL="0">
              <a:buNone/>
            </a:pPr>
            <a:r>
              <a:rPr lang="en-US" sz="1200" dirty="0">
                <a:solidFill>
                  <a:srgbClr val="14213D"/>
                </a:solidFill>
              </a:rPr>
              <a:t>stiff if disease</a:t>
            </a:r>
            <a:endParaRPr lang="en-US" sz="1200" dirty="0"/>
          </a:p>
        </p:txBody>
      </p:sp>
      <p:sp>
        <p:nvSpPr>
          <p:cNvPr id="14" name="Shape 12"/>
          <p:cNvSpPr/>
          <p:nvPr/>
        </p:nvSpPr>
        <p:spPr>
          <a:xfrm>
            <a:off x="8366760" y="2258568"/>
            <a:ext cx="2743200" cy="256032"/>
          </a:xfrm>
          <a:prstGeom prst="rect">
            <a:avLst/>
          </a:prstGeom>
          <a:solidFill>
            <a:srgbClr val="E5E7EB"/>
          </a:solidFill>
          <a:ln w="12700">
            <a:solidFill>
              <a:srgbClr val="E5E7EB">
                <a:alpha val="0"/>
              </a:srgbClr>
            </a:solidFill>
            <a:prstDash val="solid"/>
          </a:ln>
        </p:spPr>
      </p:sp>
      <p:sp>
        <p:nvSpPr>
          <p:cNvPr id="15" name="Shape 13"/>
          <p:cNvSpPr/>
          <p:nvPr/>
        </p:nvSpPr>
        <p:spPr>
          <a:xfrm>
            <a:off x="8366760" y="2258568"/>
            <a:ext cx="1920240" cy="256032"/>
          </a:xfrm>
          <a:prstGeom prst="rect">
            <a:avLst/>
          </a:prstGeom>
          <a:solidFill>
            <a:srgbClr val="0F8B8D"/>
          </a:solidFill>
          <a:ln w="12700">
            <a:solidFill>
              <a:srgbClr val="0F8B8D">
                <a:alpha val="0"/>
              </a:srgbClr>
            </a:solidFill>
            <a:prstDash val="solid"/>
          </a:ln>
        </p:spPr>
      </p:sp>
      <p:sp>
        <p:nvSpPr>
          <p:cNvPr id="16" name="Text 14"/>
          <p:cNvSpPr/>
          <p:nvPr/>
        </p:nvSpPr>
        <p:spPr>
          <a:xfrm>
            <a:off x="11201400" y="2221992"/>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70%</a:t>
            </a:r>
            <a:endParaRPr lang="en-US" sz="1100" dirty="0"/>
          </a:p>
        </p:txBody>
      </p:sp>
      <p:sp>
        <p:nvSpPr>
          <p:cNvPr id="17" name="Text 15"/>
          <p:cNvSpPr/>
          <p:nvPr/>
        </p:nvSpPr>
        <p:spPr>
          <a:xfrm>
            <a:off x="6583680" y="3008376"/>
            <a:ext cx="1645920" cy="256032"/>
          </a:xfrm>
          <a:prstGeom prst="rect">
            <a:avLst/>
          </a:prstGeom>
          <a:noFill/>
          <a:ln/>
        </p:spPr>
        <p:txBody>
          <a:bodyPr wrap="square" lIns="0" tIns="0" rIns="0" bIns="0" rtlCol="0" anchor="ctr"/>
          <a:lstStyle/>
          <a:p>
            <a:pPr indent="0" marL="0">
              <a:buNone/>
            </a:pPr>
            <a:r>
              <a:rPr lang="en-US" sz="1200" dirty="0">
                <a:solidFill>
                  <a:srgbClr val="14213D"/>
                </a:solidFill>
              </a:rPr>
              <a:t>stiff overall</a:t>
            </a:r>
            <a:endParaRPr lang="en-US" sz="1200" dirty="0"/>
          </a:p>
        </p:txBody>
      </p:sp>
      <p:sp>
        <p:nvSpPr>
          <p:cNvPr id="18" name="Shape 16"/>
          <p:cNvSpPr/>
          <p:nvPr/>
        </p:nvSpPr>
        <p:spPr>
          <a:xfrm>
            <a:off x="8366760" y="3008376"/>
            <a:ext cx="2743200" cy="256032"/>
          </a:xfrm>
          <a:prstGeom prst="rect">
            <a:avLst/>
          </a:prstGeom>
          <a:solidFill>
            <a:srgbClr val="E5E7EB"/>
          </a:solidFill>
          <a:ln w="12700">
            <a:solidFill>
              <a:srgbClr val="E5E7EB">
                <a:alpha val="0"/>
              </a:srgbClr>
            </a:solidFill>
            <a:prstDash val="solid"/>
          </a:ln>
        </p:spPr>
      </p:sp>
      <p:sp>
        <p:nvSpPr>
          <p:cNvPr id="19" name="Shape 17"/>
          <p:cNvSpPr/>
          <p:nvPr/>
        </p:nvSpPr>
        <p:spPr>
          <a:xfrm>
            <a:off x="8366760" y="3008376"/>
            <a:ext cx="27432" cy="256032"/>
          </a:xfrm>
          <a:prstGeom prst="rect">
            <a:avLst/>
          </a:prstGeom>
          <a:solidFill>
            <a:srgbClr val="FCA311"/>
          </a:solidFill>
          <a:ln w="12700">
            <a:solidFill>
              <a:srgbClr val="FCA311">
                <a:alpha val="0"/>
              </a:srgbClr>
            </a:solidFill>
            <a:prstDash val="solid"/>
          </a:ln>
        </p:spPr>
      </p:sp>
      <p:sp>
        <p:nvSpPr>
          <p:cNvPr id="20" name="Text 18"/>
          <p:cNvSpPr/>
          <p:nvPr/>
        </p:nvSpPr>
        <p:spPr>
          <a:xfrm>
            <a:off x="11201400" y="2971800"/>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1%</a:t>
            </a:r>
            <a:endParaRPr lang="en-US" sz="1100" dirty="0"/>
          </a:p>
        </p:txBody>
      </p:sp>
      <p:sp>
        <p:nvSpPr>
          <p:cNvPr id="21" name="Text 19"/>
          <p:cNvSpPr/>
          <p:nvPr/>
        </p:nvSpPr>
        <p:spPr>
          <a:xfrm>
            <a:off x="6583680" y="3758184"/>
            <a:ext cx="1645920" cy="256032"/>
          </a:xfrm>
          <a:prstGeom prst="rect">
            <a:avLst/>
          </a:prstGeom>
          <a:noFill/>
          <a:ln/>
        </p:spPr>
        <p:txBody>
          <a:bodyPr wrap="square" lIns="0" tIns="0" rIns="0" bIns="0" rtlCol="0" anchor="ctr"/>
          <a:lstStyle/>
          <a:p>
            <a:pPr indent="0" marL="0">
              <a:buNone/>
            </a:pPr>
            <a:r>
              <a:rPr lang="en-US" sz="1200" dirty="0">
                <a:solidFill>
                  <a:srgbClr val="14213D"/>
                </a:solidFill>
              </a:rPr>
              <a:t>posterior</a:t>
            </a:r>
            <a:endParaRPr lang="en-US" sz="1200" dirty="0"/>
          </a:p>
        </p:txBody>
      </p:sp>
      <p:sp>
        <p:nvSpPr>
          <p:cNvPr id="22" name="Shape 20"/>
          <p:cNvSpPr/>
          <p:nvPr/>
        </p:nvSpPr>
        <p:spPr>
          <a:xfrm>
            <a:off x="8366760" y="3758184"/>
            <a:ext cx="2743200" cy="256032"/>
          </a:xfrm>
          <a:prstGeom prst="rect">
            <a:avLst/>
          </a:prstGeom>
          <a:solidFill>
            <a:srgbClr val="E5E7EB"/>
          </a:solidFill>
          <a:ln w="12700">
            <a:solidFill>
              <a:srgbClr val="E5E7EB">
                <a:alpha val="0"/>
              </a:srgbClr>
            </a:solidFill>
            <a:prstDash val="solid"/>
          </a:ln>
        </p:spPr>
      </p:sp>
      <p:sp>
        <p:nvSpPr>
          <p:cNvPr id="23" name="Shape 21"/>
          <p:cNvSpPr/>
          <p:nvPr/>
        </p:nvSpPr>
        <p:spPr>
          <a:xfrm>
            <a:off x="8366760" y="3758184"/>
            <a:ext cx="9144" cy="256032"/>
          </a:xfrm>
          <a:prstGeom prst="rect">
            <a:avLst/>
          </a:prstGeom>
          <a:solidFill>
            <a:srgbClr val="C94C4C"/>
          </a:solidFill>
          <a:ln w="12700">
            <a:solidFill>
              <a:srgbClr val="C94C4C">
                <a:alpha val="0"/>
              </a:srgbClr>
            </a:solidFill>
            <a:prstDash val="solid"/>
          </a:ln>
        </p:spPr>
      </p:sp>
      <p:sp>
        <p:nvSpPr>
          <p:cNvPr id="24" name="Text 22"/>
          <p:cNvSpPr/>
          <p:nvPr/>
        </p:nvSpPr>
        <p:spPr>
          <a:xfrm>
            <a:off x="11201400" y="3721608"/>
            <a:ext cx="502920" cy="320040"/>
          </a:xfrm>
          <a:prstGeom prst="rect">
            <a:avLst/>
          </a:prstGeom>
          <a:noFill/>
          <a:ln/>
        </p:spPr>
        <p:txBody>
          <a:bodyPr wrap="square" lIns="0" tIns="0" rIns="0" bIns="0" rtlCol="0" anchor="ctr"/>
          <a:lstStyle/>
          <a:p>
            <a:pPr algn="r" indent="0" marL="0">
              <a:buNone/>
            </a:pPr>
            <a:r>
              <a:rPr lang="en-US" sz="1100" dirty="0">
                <a:solidFill>
                  <a:srgbClr val="6B7280"/>
                </a:solidFill>
              </a:rPr>
              <a:t>0.140%</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12.5.1 Simple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12.5.1 Simple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Bayes with normalization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Sometimes P(evidence) is hard to estimate directly.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Compute a score for each possible cause value.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Score = likelihood × prior.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scores so they sum to 1.</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P(Y | X) = α P(X | Y) P(Y)</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α is chosen so the resulting distribution sums to 1.</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Multiple pieces of evidence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patient may have toothache and probe catch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full joint gives P(Cavity | toothache, catch) ≈ 0.871.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can rewrite the query.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But naive conjunctions of evidence do not scale.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000" b="1" dirty="0">
                <a:solidFill>
                  <a:srgbClr val="14213D"/>
                </a:solidFill>
                <a:latin typeface="Cambria Math" pitchFamily="34" charset="0"/>
                <a:ea typeface="Cambria Math" pitchFamily="34" charset="-122"/>
                <a:cs typeface="Cambria Math" pitchFamily="34" charset="-120"/>
              </a:rPr>
              <a:t>P(Cavity | toothache ∧ catch)</a:t>
            </a:r>
            <a:endParaRPr lang="en-US" sz="2000" dirty="0"/>
          </a:p>
          <a:p>
            <a:pPr algn="ctr" indent="0" marL="0">
              <a:buNone/>
            </a:pPr>
            <a:r>
              <a:rPr lang="en-US" sz="2000" b="1" dirty="0">
                <a:solidFill>
                  <a:srgbClr val="14213D"/>
                </a:solidFill>
                <a:latin typeface="Cambria Math" pitchFamily="34" charset="0"/>
                <a:ea typeface="Cambria Math" pitchFamily="34" charset="-122"/>
                <a:cs typeface="Cambria Math" pitchFamily="34" charset="-120"/>
              </a:rPr>
              <a:t>≈ (0.871, 0.129)</a:t>
            </a:r>
            <a:endParaRPr lang="en-US" sz="20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Two evidence variables sharpen belief, but the joint evidence term grows quickly.</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69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conjunction problem</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With n possible evidence variables, there are 2^n evidence combinations.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Estimating P(all evidence | cause) for every combination is not scalable.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the same exponential wall in a different form.</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We need structure inside the evidence.</a:t>
            </a:r>
            <a:endParaRPr lang="en-US" sz="2000" dirty="0"/>
          </a:p>
        </p:txBody>
      </p:sp>
      <p:sp>
        <p:nvSpPr>
          <p:cNvPr id="9" name="Text 7"/>
          <p:cNvSpPr/>
          <p:nvPr/>
        </p:nvSpPr>
        <p:spPr>
          <a:xfrm>
            <a:off x="6629400" y="150876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 variables</a:t>
            </a:r>
            <a:endParaRPr lang="en-US" sz="1400" dirty="0"/>
          </a:p>
        </p:txBody>
      </p:sp>
      <p:sp>
        <p:nvSpPr>
          <p:cNvPr id="10" name="Shape 8"/>
          <p:cNvSpPr/>
          <p:nvPr/>
        </p:nvSpPr>
        <p:spPr>
          <a:xfrm>
            <a:off x="8412480" y="1828800"/>
            <a:ext cx="640080" cy="0"/>
          </a:xfrm>
          <a:prstGeom prst="line">
            <a:avLst/>
          </a:prstGeom>
          <a:noFill/>
          <a:ln w="15240">
            <a:solidFill>
              <a:srgbClr val="6B7280"/>
            </a:solidFill>
            <a:prstDash val="solid"/>
            <a:tailEnd type="triangle"/>
          </a:ln>
        </p:spPr>
      </p:sp>
      <p:sp>
        <p:nvSpPr>
          <p:cNvPr id="11" name="Text 9"/>
          <p:cNvSpPr/>
          <p:nvPr/>
        </p:nvSpPr>
        <p:spPr>
          <a:xfrm>
            <a:off x="9144000" y="1508760"/>
            <a:ext cx="2057400" cy="64008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1,024 entries</a:t>
            </a:r>
            <a:endParaRPr lang="en-US" sz="1400" dirty="0"/>
          </a:p>
        </p:txBody>
      </p:sp>
      <p:sp>
        <p:nvSpPr>
          <p:cNvPr id="12" name="Text 10"/>
          <p:cNvSpPr/>
          <p:nvPr/>
        </p:nvSpPr>
        <p:spPr>
          <a:xfrm>
            <a:off x="6629400" y="274320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30 variables</a:t>
            </a:r>
            <a:endParaRPr lang="en-US" sz="1400" dirty="0"/>
          </a:p>
        </p:txBody>
      </p:sp>
      <p:sp>
        <p:nvSpPr>
          <p:cNvPr id="13" name="Shape 11"/>
          <p:cNvSpPr/>
          <p:nvPr/>
        </p:nvSpPr>
        <p:spPr>
          <a:xfrm>
            <a:off x="8412480" y="3063240"/>
            <a:ext cx="640080" cy="0"/>
          </a:xfrm>
          <a:prstGeom prst="line">
            <a:avLst/>
          </a:prstGeom>
          <a:noFill/>
          <a:ln w="15240">
            <a:solidFill>
              <a:srgbClr val="6B7280"/>
            </a:solidFill>
            <a:prstDash val="solid"/>
            <a:tailEnd type="triangle"/>
          </a:ln>
        </p:spPr>
      </p:sp>
      <p:sp>
        <p:nvSpPr>
          <p:cNvPr id="14" name="Text 12"/>
          <p:cNvSpPr/>
          <p:nvPr/>
        </p:nvSpPr>
        <p:spPr>
          <a:xfrm>
            <a:off x="9144000" y="2743200"/>
            <a:ext cx="2057400" cy="64008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about 1 billion</a:t>
            </a:r>
            <a:endParaRPr lang="en-US" sz="1400" dirty="0"/>
          </a:p>
        </p:txBody>
      </p:sp>
      <p:sp>
        <p:nvSpPr>
          <p:cNvPr id="15" name="Text 13"/>
          <p:cNvSpPr/>
          <p:nvPr/>
        </p:nvSpPr>
        <p:spPr>
          <a:xfrm>
            <a:off x="6629400" y="397764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100 variables</a:t>
            </a:r>
            <a:endParaRPr lang="en-US" sz="1400" dirty="0"/>
          </a:p>
        </p:txBody>
      </p:sp>
      <p:sp>
        <p:nvSpPr>
          <p:cNvPr id="16" name="Shape 14"/>
          <p:cNvSpPr/>
          <p:nvPr/>
        </p:nvSpPr>
        <p:spPr>
          <a:xfrm>
            <a:off x="8412480" y="4297680"/>
            <a:ext cx="640080" cy="0"/>
          </a:xfrm>
          <a:prstGeom prst="line">
            <a:avLst/>
          </a:prstGeom>
          <a:noFill/>
          <a:ln w="15240">
            <a:solidFill>
              <a:srgbClr val="6B7280"/>
            </a:solidFill>
            <a:prstDash val="solid"/>
            <a:tailEnd type="triangle"/>
          </a:ln>
        </p:spPr>
      </p:sp>
      <p:sp>
        <p:nvSpPr>
          <p:cNvPr id="17" name="Text 15"/>
          <p:cNvSpPr/>
          <p:nvPr/>
        </p:nvSpPr>
        <p:spPr>
          <a:xfrm>
            <a:off x="9144000" y="3977640"/>
            <a:ext cx="2057400" cy="64008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about 10^30</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Conditional independence intuition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Toothache and probe catch are not absolutely independent.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Both are related through the cavity state.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Given whether a cavity exists, one effect gives no direct extra information about the other.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conditional independence.</a:t>
            </a:r>
            <a:endParaRPr lang="en-US" sz="2000" dirty="0"/>
          </a:p>
        </p:txBody>
      </p:sp>
      <p:sp>
        <p:nvSpPr>
          <p:cNvPr id="9" name="Text 7"/>
          <p:cNvSpPr/>
          <p:nvPr/>
        </p:nvSpPr>
        <p:spPr>
          <a:xfrm>
            <a:off x="8321040" y="1508760"/>
            <a:ext cx="1417320" cy="64008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Cavity</a:t>
            </a:r>
            <a:endParaRPr lang="en-US" sz="1600" dirty="0"/>
          </a:p>
        </p:txBody>
      </p:sp>
      <p:sp>
        <p:nvSpPr>
          <p:cNvPr id="10" name="Shape 8"/>
          <p:cNvSpPr/>
          <p:nvPr/>
        </p:nvSpPr>
        <p:spPr>
          <a:xfrm>
            <a:off x="8641080" y="2157984"/>
            <a:ext cx="-914400" cy="841248"/>
          </a:xfrm>
          <a:prstGeom prst="line">
            <a:avLst/>
          </a:prstGeom>
          <a:noFill/>
          <a:ln w="19050">
            <a:solidFill>
              <a:srgbClr val="6B7280"/>
            </a:solidFill>
            <a:prstDash val="solid"/>
            <a:tailEnd type="triangle"/>
          </a:ln>
        </p:spPr>
      </p:sp>
      <p:sp>
        <p:nvSpPr>
          <p:cNvPr id="11" name="Shape 9"/>
          <p:cNvSpPr/>
          <p:nvPr/>
        </p:nvSpPr>
        <p:spPr>
          <a:xfrm>
            <a:off x="9372600" y="2157984"/>
            <a:ext cx="822960" cy="841248"/>
          </a:xfrm>
          <a:prstGeom prst="line">
            <a:avLst/>
          </a:prstGeom>
          <a:noFill/>
          <a:ln w="19050">
            <a:solidFill>
              <a:srgbClr val="6B7280"/>
            </a:solidFill>
            <a:prstDash val="solid"/>
            <a:tailEnd type="triangle"/>
          </a:ln>
        </p:spPr>
      </p:sp>
      <p:sp>
        <p:nvSpPr>
          <p:cNvPr id="12" name="Text 10"/>
          <p:cNvSpPr/>
          <p:nvPr/>
        </p:nvSpPr>
        <p:spPr>
          <a:xfrm>
            <a:off x="6675120" y="3063240"/>
            <a:ext cx="1691640" cy="64008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Toothache</a:t>
            </a:r>
            <a:endParaRPr lang="en-US" sz="1600" dirty="0"/>
          </a:p>
        </p:txBody>
      </p:sp>
      <p:sp>
        <p:nvSpPr>
          <p:cNvPr id="13" name="Text 11"/>
          <p:cNvSpPr/>
          <p:nvPr/>
        </p:nvSpPr>
        <p:spPr>
          <a:xfrm>
            <a:off x="9829800" y="3063240"/>
            <a:ext cx="1691640" cy="640080"/>
          </a:xfrm>
          <a:prstGeom prst="roundRect">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Catch</a:t>
            </a:r>
            <a:endParaRPr lang="en-US" sz="1600" dirty="0"/>
          </a:p>
        </p:txBody>
      </p:sp>
      <p:sp>
        <p:nvSpPr>
          <p:cNvPr id="14" name="Text 12"/>
          <p:cNvSpPr/>
          <p:nvPr/>
        </p:nvSpPr>
        <p:spPr>
          <a:xfrm>
            <a:off x="7452360" y="4617720"/>
            <a:ext cx="3337560" cy="5029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dirty="0">
                <a:solidFill>
                  <a:srgbClr val="6B7280"/>
                </a:solidFill>
                <a:latin typeface="Aptos" pitchFamily="34" charset="0"/>
                <a:ea typeface="Aptos" pitchFamily="34" charset="-122"/>
                <a:cs typeface="Aptos" pitchFamily="34" charset="-120"/>
              </a:rPr>
              <a:t>No direct arrow between effects</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Conditional independence formula</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variables X and Y given Z:</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P(X, Y | Z) = P(X | Z)P(Y | Z).</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Equivalent forms remove one variable from the condition.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weaker and more useful than absolute independence.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400" b="1" dirty="0">
                <a:solidFill>
                  <a:srgbClr val="14213D"/>
                </a:solidFill>
                <a:latin typeface="Cambria Math" pitchFamily="34" charset="0"/>
                <a:ea typeface="Cambria Math" pitchFamily="34" charset="-122"/>
                <a:cs typeface="Cambria Math" pitchFamily="34" charset="-120"/>
              </a:rPr>
              <a:t>P(X, Y | Z) = P(X | Z) P(Y | Z)</a:t>
            </a:r>
            <a:endParaRPr lang="en-US" sz="24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Once Z is known, X and Y separate.</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Dental factorization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Assume Toothache and Catch are conditionally independent given Cavity.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joint can be decomposed into smaller conditional tables.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P(Toothache, Catch, Cavity) = P(Toothache | Cavity)P(Catch | Cavity)P(Cavity).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representation shrinks, especially with many symptoms.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800" b="1" dirty="0">
                <a:solidFill>
                  <a:srgbClr val="14213D"/>
                </a:solidFill>
                <a:latin typeface="Cambria Math" pitchFamily="34" charset="0"/>
                <a:ea typeface="Cambria Math" pitchFamily="34" charset="-122"/>
                <a:cs typeface="Cambria Math" pitchFamily="34" charset="-120"/>
              </a:rPr>
              <a:t>P(T, Catch, Cavity)</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 P(T | Cavity) P(Catch | Cavity) P(Cavity)</a:t>
            </a:r>
            <a:endParaRPr lang="en-US" sz="18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One prior and two effect models replace a larger joint table.</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12.5.2 Combining evidence</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12.5.2 Combining evidence</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Scaling gain from conditional independence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n symptoms conditionally independent given a cause, representation grows linearly.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Without the assumption, combinations grow exponentially.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is why causal structure matters in AI.</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next chapter formalizes these structures as graphical models.</a:t>
            </a:r>
            <a:endParaRPr lang="en-US" sz="2000" dirty="0"/>
          </a:p>
        </p:txBody>
      </p:sp>
      <p:sp>
        <p:nvSpPr>
          <p:cNvPr id="9" name="Text 7"/>
          <p:cNvSpPr/>
          <p:nvPr/>
        </p:nvSpPr>
        <p:spPr>
          <a:xfrm>
            <a:off x="6537960" y="1600200"/>
            <a:ext cx="2057400" cy="82296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O(2^n)</a:t>
            </a:r>
            <a:endParaRPr lang="en-US" sz="1600" dirty="0"/>
          </a:p>
          <a:p>
            <a:pPr algn="ctr" indent="0" marL="0">
              <a:buNone/>
            </a:pPr>
            <a:r>
              <a:rPr lang="en-US" sz="1600" b="1" dirty="0">
                <a:solidFill>
                  <a:srgbClr val="111827"/>
                </a:solidFill>
                <a:latin typeface="Aptos" pitchFamily="34" charset="0"/>
                <a:ea typeface="Aptos" pitchFamily="34" charset="-122"/>
                <a:cs typeface="Aptos" pitchFamily="34" charset="-120"/>
              </a:rPr>
              <a:t>combinations</a:t>
            </a:r>
            <a:endParaRPr lang="en-US" sz="1600" dirty="0"/>
          </a:p>
        </p:txBody>
      </p:sp>
      <p:sp>
        <p:nvSpPr>
          <p:cNvPr id="10" name="Text 8"/>
          <p:cNvSpPr/>
          <p:nvPr/>
        </p:nvSpPr>
        <p:spPr>
          <a:xfrm>
            <a:off x="9189720" y="1600200"/>
            <a:ext cx="2057400" cy="82296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O(n)</a:t>
            </a:r>
            <a:endParaRPr lang="en-US" sz="1600" dirty="0"/>
          </a:p>
          <a:p>
            <a:pPr algn="ctr" indent="0" marL="0">
              <a:buNone/>
            </a:pPr>
            <a:r>
              <a:rPr lang="en-US" sz="1600" b="1" dirty="0">
                <a:solidFill>
                  <a:srgbClr val="111827"/>
                </a:solidFill>
                <a:latin typeface="Aptos" pitchFamily="34" charset="0"/>
                <a:ea typeface="Aptos" pitchFamily="34" charset="-122"/>
                <a:cs typeface="Aptos" pitchFamily="34" charset="-120"/>
              </a:rPr>
              <a:t>conditionals</a:t>
            </a:r>
            <a:endParaRPr lang="en-US" sz="1600" dirty="0"/>
          </a:p>
        </p:txBody>
      </p:sp>
      <p:sp>
        <p:nvSpPr>
          <p:cNvPr id="11" name="Shape 9"/>
          <p:cNvSpPr/>
          <p:nvPr/>
        </p:nvSpPr>
        <p:spPr>
          <a:xfrm>
            <a:off x="8622792" y="2011680"/>
            <a:ext cx="502920" cy="0"/>
          </a:xfrm>
          <a:prstGeom prst="line">
            <a:avLst/>
          </a:prstGeom>
          <a:noFill/>
          <a:ln w="19050">
            <a:solidFill>
              <a:srgbClr val="6B7280"/>
            </a:solidFill>
            <a:prstDash val="solid"/>
            <a:tailEnd type="triangle"/>
          </a:ln>
        </p:spPr>
      </p:sp>
      <p:sp>
        <p:nvSpPr>
          <p:cNvPr id="12" name="Text 10"/>
          <p:cNvSpPr/>
          <p:nvPr/>
        </p:nvSpPr>
        <p:spPr>
          <a:xfrm>
            <a:off x="7635240" y="3246120"/>
            <a:ext cx="2514600" cy="6858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structure saves scale</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12.6</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12.6 Naive Bayes models</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A simple conditional independence model that often works surprisingly well.</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74</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 Naive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 Naive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Single cause, many effects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cause directly influences many effect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Effects are assumed conditionally independent given the cause.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assumption is “naive” because it is often not exactly true.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model can still perform well in classification tasks.</a:t>
            </a:r>
            <a:endParaRPr lang="en-US" sz="2000" dirty="0"/>
          </a:p>
        </p:txBody>
      </p:sp>
      <p:sp>
        <p:nvSpPr>
          <p:cNvPr id="9" name="Text 7"/>
          <p:cNvSpPr/>
          <p:nvPr/>
        </p:nvSpPr>
        <p:spPr>
          <a:xfrm>
            <a:off x="8549640" y="1234440"/>
            <a:ext cx="1463040" cy="658368"/>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Cause</a:t>
            </a:r>
            <a:endParaRPr lang="en-US" sz="1600" dirty="0"/>
          </a:p>
        </p:txBody>
      </p:sp>
      <p:sp>
        <p:nvSpPr>
          <p:cNvPr id="10" name="Text 8"/>
          <p:cNvSpPr/>
          <p:nvPr/>
        </p:nvSpPr>
        <p:spPr>
          <a:xfrm>
            <a:off x="6629400" y="2834640"/>
            <a:ext cx="1005840" cy="5486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E1</a:t>
            </a:r>
            <a:endParaRPr lang="en-US" sz="1600" dirty="0"/>
          </a:p>
        </p:txBody>
      </p:sp>
      <p:sp>
        <p:nvSpPr>
          <p:cNvPr id="11" name="Text 9"/>
          <p:cNvSpPr/>
          <p:nvPr/>
        </p:nvSpPr>
        <p:spPr>
          <a:xfrm>
            <a:off x="8092440" y="3703320"/>
            <a:ext cx="1005840" cy="5486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E2</a:t>
            </a:r>
            <a:endParaRPr lang="en-US" sz="1600" dirty="0"/>
          </a:p>
        </p:txBody>
      </p:sp>
      <p:sp>
        <p:nvSpPr>
          <p:cNvPr id="12" name="Text 10"/>
          <p:cNvSpPr/>
          <p:nvPr/>
        </p:nvSpPr>
        <p:spPr>
          <a:xfrm>
            <a:off x="9555480" y="2834640"/>
            <a:ext cx="1005840" cy="5486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E3</a:t>
            </a:r>
            <a:endParaRPr lang="en-US" sz="1600" dirty="0"/>
          </a:p>
        </p:txBody>
      </p:sp>
      <p:sp>
        <p:nvSpPr>
          <p:cNvPr id="13" name="Text 11"/>
          <p:cNvSpPr/>
          <p:nvPr/>
        </p:nvSpPr>
        <p:spPr>
          <a:xfrm>
            <a:off x="9555480" y="4526280"/>
            <a:ext cx="1005840" cy="5486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E4</a:t>
            </a:r>
            <a:endParaRPr lang="en-US" sz="1600" dirty="0"/>
          </a:p>
        </p:txBody>
      </p:sp>
      <p:sp>
        <p:nvSpPr>
          <p:cNvPr id="14" name="Text 12"/>
          <p:cNvSpPr/>
          <p:nvPr/>
        </p:nvSpPr>
        <p:spPr>
          <a:xfrm>
            <a:off x="6766560" y="2103120"/>
            <a:ext cx="4480560" cy="4572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300" dirty="0">
                <a:solidFill>
                  <a:srgbClr val="6B7280"/>
                </a:solidFill>
                <a:latin typeface="Aptos" pitchFamily="34" charset="0"/>
                <a:ea typeface="Aptos" pitchFamily="34" charset="-122"/>
                <a:cs typeface="Aptos" pitchFamily="34" charset="-120"/>
              </a:rPr>
              <a:t>conditional effect models</a:t>
            </a:r>
            <a:endParaRPr lang="en-US" sz="1300" dirty="0"/>
          </a:p>
        </p:txBody>
      </p:sp>
      <p:sp>
        <p:nvSpPr>
          <p:cNvPr id="15" name="Text 13"/>
          <p:cNvSpPr/>
          <p:nvPr/>
        </p:nvSpPr>
        <p:spPr>
          <a:xfrm>
            <a:off x="6766560" y="5532120"/>
            <a:ext cx="4480560" cy="45720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300" dirty="0">
                <a:solidFill>
                  <a:srgbClr val="6B7280"/>
                </a:solidFill>
                <a:latin typeface="Aptos" pitchFamily="34" charset="0"/>
                <a:ea typeface="Aptos" pitchFamily="34" charset="-122"/>
                <a:cs typeface="Aptos" pitchFamily="34" charset="-120"/>
              </a:rPr>
              <a:t>effects independent given cause</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 Naive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 Naive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Naive Bayes joint distribution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full joint factors into a prior and a product of conditional effects.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One table for P(Cause).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One conditional table for each effect given the cause.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This makes storage grow with the number of effects.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800" b="1" dirty="0">
                <a:solidFill>
                  <a:srgbClr val="14213D"/>
                </a:solidFill>
                <a:latin typeface="Cambria Math" pitchFamily="34" charset="0"/>
                <a:ea typeface="Cambria Math" pitchFamily="34" charset="-122"/>
                <a:cs typeface="Cambria Math" pitchFamily="34" charset="-120"/>
              </a:rPr>
              <a:t>P(Cause, E₁,...,Eₙ)</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 P(Cause) Πᵢ P(Eᵢ | Cause)</a:t>
            </a:r>
            <a:endParaRPr lang="en-US" sz="18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A compact representation of a large joint distribution.</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 Naive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 Naive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Inference in words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each possible cause: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Start with the cause prior.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Multiply by each observed effect likelihood.</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across causes.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Choose the cause with highest posterior if a single label is needed.</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prior</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 likelihoods</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normalize</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rank causes</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 Naive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 Naive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Unobserved effects disappear</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chapter separates observed effects from unobserved effects.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When summing over unobserved effect values, their probabilities sum to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So only observed effects affect the posterior calculation.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Runtime is linear in the number of observed effects.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500" b="1" dirty="0">
                <a:solidFill>
                  <a:srgbClr val="14213D"/>
                </a:solidFill>
                <a:latin typeface="Cambria Math" pitchFamily="34" charset="0"/>
                <a:ea typeface="Cambria Math" pitchFamily="34" charset="-122"/>
                <a:cs typeface="Cambria Math" pitchFamily="34" charset="-120"/>
              </a:rPr>
              <a:t>Σy P(y | Cause) = 1</a:t>
            </a:r>
            <a:endParaRPr lang="en-US" sz="25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Unobserved variables can vanish from the calculation.</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12.6.1 Text classification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79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12.6.1 Text classification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Text classification setup</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cause variable is Category.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Effects are word-presence variables such as HasWord_stocks.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P(Category) comes from category frequencies in training documents.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P(HasWord | Category) comes from word frequencies within categories.</a:t>
            </a:r>
            <a:endParaRPr lang="en-US" sz="2000" dirty="0"/>
          </a:p>
        </p:txBody>
      </p:sp>
      <p:sp>
        <p:nvSpPr>
          <p:cNvPr id="9" name="Text 7"/>
          <p:cNvSpPr/>
          <p:nvPr/>
        </p:nvSpPr>
        <p:spPr>
          <a:xfrm>
            <a:off x="6629400" y="1417320"/>
            <a:ext cx="1417320" cy="566928"/>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400" b="1" dirty="0">
                <a:solidFill>
                  <a:srgbClr val="111827"/>
                </a:solidFill>
                <a:latin typeface="Aptos" pitchFamily="34" charset="0"/>
                <a:ea typeface="Aptos" pitchFamily="34" charset="-122"/>
                <a:cs typeface="Aptos" pitchFamily="34" charset="-120"/>
              </a:rPr>
              <a:t>Category</a:t>
            </a:r>
            <a:endParaRPr lang="en-US" sz="1400" dirty="0"/>
          </a:p>
        </p:txBody>
      </p:sp>
      <p:sp>
        <p:nvSpPr>
          <p:cNvPr id="10" name="Text 8"/>
          <p:cNvSpPr/>
          <p:nvPr/>
        </p:nvSpPr>
        <p:spPr>
          <a:xfrm>
            <a:off x="8229600" y="1417320"/>
            <a:ext cx="3017520" cy="566928"/>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6B7280"/>
                </a:solidFill>
                <a:latin typeface="Aptos" pitchFamily="34" charset="0"/>
                <a:ea typeface="Aptos" pitchFamily="34" charset="-122"/>
                <a:cs typeface="Aptos" pitchFamily="34" charset="-120"/>
              </a:rPr>
              <a:t>word evidence</a:t>
            </a:r>
            <a:endParaRPr lang="en-US" sz="1400" dirty="0"/>
          </a:p>
        </p:txBody>
      </p:sp>
      <p:sp>
        <p:nvSpPr>
          <p:cNvPr id="11" name="Text 9"/>
          <p:cNvSpPr/>
          <p:nvPr/>
        </p:nvSpPr>
        <p:spPr>
          <a:xfrm>
            <a:off x="8229600" y="2240280"/>
            <a:ext cx="1234440" cy="475488"/>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stocks</a:t>
            </a:r>
            <a:endParaRPr lang="en-US" sz="1200" dirty="0"/>
          </a:p>
        </p:txBody>
      </p:sp>
      <p:sp>
        <p:nvSpPr>
          <p:cNvPr id="12" name="Text 10"/>
          <p:cNvSpPr/>
          <p:nvPr/>
        </p:nvSpPr>
        <p:spPr>
          <a:xfrm>
            <a:off x="9784080" y="2240280"/>
            <a:ext cx="1234440" cy="475488"/>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rain</a:t>
            </a:r>
            <a:endParaRPr lang="en-US" sz="1200" dirty="0"/>
          </a:p>
        </p:txBody>
      </p:sp>
      <p:sp>
        <p:nvSpPr>
          <p:cNvPr id="13" name="Text 11"/>
          <p:cNvSpPr/>
          <p:nvPr/>
        </p:nvSpPr>
        <p:spPr>
          <a:xfrm>
            <a:off x="8229600" y="3044952"/>
            <a:ext cx="1234440" cy="475488"/>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flood</a:t>
            </a:r>
            <a:endParaRPr lang="en-US" sz="1200" dirty="0"/>
          </a:p>
        </p:txBody>
      </p:sp>
      <p:sp>
        <p:nvSpPr>
          <p:cNvPr id="14" name="Text 12"/>
          <p:cNvSpPr/>
          <p:nvPr/>
        </p:nvSpPr>
        <p:spPr>
          <a:xfrm>
            <a:off x="9784080" y="3044952"/>
            <a:ext cx="1234440" cy="475488"/>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indexes</a:t>
            </a:r>
            <a:endParaRPr lang="en-US" sz="1200" dirty="0"/>
          </a:p>
        </p:txBody>
      </p:sp>
      <p:sp>
        <p:nvSpPr>
          <p:cNvPr id="15" name="Text 13"/>
          <p:cNvSpPr/>
          <p:nvPr/>
        </p:nvSpPr>
        <p:spPr>
          <a:xfrm>
            <a:off x="6812280" y="4434840"/>
            <a:ext cx="4297680" cy="64008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600" b="1" dirty="0">
                <a:solidFill>
                  <a:srgbClr val="14213D"/>
                </a:solidFill>
                <a:latin typeface="Aptos" pitchFamily="34" charset="0"/>
                <a:ea typeface="Aptos" pitchFamily="34" charset="-122"/>
                <a:cs typeface="Aptos" pitchFamily="34" charset="-120"/>
              </a:rPr>
              <a:t>business vs weather vs sports...</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12.6.1 Text classification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12.6.1 Text classification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Training from counts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Count how many training documents belong to each category.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Count how often each keyword appears inside each category.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Convert counts to probabilities.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Smoothing prevents zero probabilities for unseen words.</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documents</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counts</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probabilities</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classifier</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12.6.1 Text classification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12.6.1 Text classification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Classifying a new document</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Check which keywords appear.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For each category, multiply prior × keyword likelihoods.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scores to get posterior probabilities.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Pick the category with highest posterior.</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300" b="1" dirty="0">
                <a:solidFill>
                  <a:srgbClr val="14213D"/>
                </a:solidFill>
                <a:latin typeface="Cambria Math" pitchFamily="34" charset="0"/>
                <a:ea typeface="Cambria Math" pitchFamily="34" charset="-122"/>
                <a:cs typeface="Cambria Math" pitchFamily="34" charset="-120"/>
              </a:rPr>
              <a:t>score(c) = P(c) Πj P(wordj | c)</a:t>
            </a:r>
            <a:endParaRPr lang="en-US" sz="23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Scores become probabilities after normalization.</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12.6.1 Text classification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12.6.1 Text classification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The independence assumption is false but useful</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Words are not truly independent.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Phrases such as “first quarter” create dependencies.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Naive Bayes can become overconfident.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ranking of categories can still be accurate.</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FCA311"/>
                </a:solidFill>
                <a:latin typeface="Aptos Display" pitchFamily="34" charset="0"/>
                <a:ea typeface="Aptos Display" pitchFamily="34" charset="-122"/>
                <a:cs typeface="Aptos Display" pitchFamily="34" charset="-120"/>
              </a:rPr>
              <a:t>Naive</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wrong assumption</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useful classifier</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especially for text, spam, and language ID</a:t>
            </a:r>
            <a:endParaRPr lang="en-US" sz="15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12.6.1 Text classification</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12.6.1 Text classification</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When naive Bayes is not enough</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Some tasks need well-calibrated posterior probabilities.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Medical decisions may depend on the exact probability value.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Correlated symptoms can cause overconfidence.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More sophisticated models are preferred when probability values drive high-stakes actions.</a:t>
            </a:r>
            <a:endParaRPr lang="en-US" sz="2000" dirty="0"/>
          </a:p>
        </p:txBody>
      </p:sp>
      <p:sp>
        <p:nvSpPr>
          <p:cNvPr id="9" name="Text 7"/>
          <p:cNvSpPr/>
          <p:nvPr/>
        </p:nvSpPr>
        <p:spPr>
          <a:xfrm>
            <a:off x="6492240" y="2011680"/>
            <a:ext cx="1645920" cy="73152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rough ranking</a:t>
            </a:r>
            <a:endParaRPr lang="en-US" sz="1600" dirty="0"/>
          </a:p>
        </p:txBody>
      </p:sp>
      <p:sp>
        <p:nvSpPr>
          <p:cNvPr id="10" name="Text 8"/>
          <p:cNvSpPr/>
          <p:nvPr/>
        </p:nvSpPr>
        <p:spPr>
          <a:xfrm>
            <a:off x="9829800" y="2011680"/>
            <a:ext cx="1645920" cy="731520"/>
          </a:xfrm>
          <a:prstGeom prst="roundRect">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calibrated risk</a:t>
            </a:r>
            <a:endParaRPr lang="en-US" sz="1600" dirty="0"/>
          </a:p>
        </p:txBody>
      </p:sp>
      <p:sp>
        <p:nvSpPr>
          <p:cNvPr id="11" name="Shape 9"/>
          <p:cNvSpPr/>
          <p:nvPr/>
        </p:nvSpPr>
        <p:spPr>
          <a:xfrm>
            <a:off x="8183880" y="2377440"/>
            <a:ext cx="1600200" cy="0"/>
          </a:xfrm>
          <a:prstGeom prst="line">
            <a:avLst/>
          </a:prstGeom>
          <a:noFill/>
          <a:ln w="25400">
            <a:solidFill>
              <a:srgbClr val="6B7280"/>
            </a:solidFill>
            <a:prstDash val="solid"/>
            <a:tailEnd type="triangle"/>
          </a:ln>
        </p:spPr>
      </p:sp>
      <p:sp>
        <p:nvSpPr>
          <p:cNvPr id="12" name="Text 10"/>
          <p:cNvSpPr/>
          <p:nvPr/>
        </p:nvSpPr>
        <p:spPr>
          <a:xfrm>
            <a:off x="8046720" y="3063240"/>
            <a:ext cx="1783080" cy="7315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model choice</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12.6 Naive Bayes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12.6 Naive Bayes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Instructor demo: naive Bayes text classifier</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Build a tiny training set from scratch.</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Estimate priors and keyword likelihoods.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Classify short business/weather sentences.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Show how words can drive category ranking.</a:t>
            </a:r>
            <a:endParaRPr lang="en-US" sz="2000" dirty="0"/>
          </a:p>
        </p:txBody>
      </p:sp>
      <p:sp>
        <p:nvSpPr>
          <p:cNvPr id="9" name="Text 7"/>
          <p:cNvSpPr/>
          <p:nvPr/>
        </p:nvSpPr>
        <p:spPr>
          <a:xfrm>
            <a:off x="6355080" y="1371600"/>
            <a:ext cx="5166360" cy="4800600"/>
          </a:xfrm>
          <a:prstGeom prst="rect">
            <a:avLst/>
          </a:prstGeom>
          <a:solidFill>
            <a:srgbClr val="1E1E1E"/>
          </a:solidFill>
          <a:ln>
            <a:solidFill>
              <a:srgbClr val="1E1E1E"/>
            </a:solidFill>
          </a:ln>
        </p:spPr>
        <p:txBody>
          <a:bodyPr wrap="square" lIns="1524" tIns="1524" rIns="1524" bIns="1524" rtlCol="0" anchor="t">
            <a:normAutofit/>
          </a:bodyPr>
          <a:lstStyle/>
          <a:p>
            <a:pPr indent="0" marL="0">
              <a:buNone/>
            </a:pPr>
            <a:r>
              <a:rPr lang="en-US" sz="1020" dirty="0">
                <a:solidFill>
                  <a:srgbClr val="FFFFFF"/>
                </a:solidFill>
                <a:latin typeface="Liberation Mono" pitchFamily="34" charset="0"/>
                <a:ea typeface="Liberation Mono" pitchFamily="34" charset="-122"/>
                <a:cs typeface="Liberation Mono" pitchFamily="34" charset="-120"/>
              </a:rPr>
              <a:t>docs = [</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("business", "stocks earnings market"),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("business", "stocks indexes rallied"),</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("weather", "rain flood warnings"),</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("weather", "heavy rain coast"),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a:t>
            </a:r>
            <a:endParaRPr lang="en-US" sz="1020" dirty="0"/>
          </a:p>
          <a:p>
            <a:pPr indent="0" marL="0">
              <a:buNone/>
            </a:pP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demo file trains counts, applies smoothing,</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then scores new documents by category.</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Run: python chapter12_uncertainty_demos.py naive_bayes</a:t>
            </a:r>
            <a:endParaRPr lang="en-US" sz="102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Section 12.7</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12.7 The Wumpus world revisited</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Using probability when logic cannot identify a guaranteed safe move.</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85</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86</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Why the wumpus agent is uncertain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Sensors provide partial information.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breeze indicates at least one neighboring pit.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After breezes in [1,2] and [2,1], three reachable squares are uncertain.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logical agent may not know which square is safest.</a:t>
            </a:r>
            <a:endParaRPr lang="en-US" sz="2000" dirty="0"/>
          </a:p>
        </p:txBody>
      </p:sp>
      <p:sp>
        <p:nvSpPr>
          <p:cNvPr id="9" name="Shape 7"/>
          <p:cNvSpPr/>
          <p:nvPr/>
        </p:nvSpPr>
        <p:spPr>
          <a:xfrm>
            <a:off x="6492240" y="1280160"/>
            <a:ext cx="804672" cy="804672"/>
          </a:xfrm>
          <a:prstGeom prst="rect">
            <a:avLst/>
          </a:prstGeom>
          <a:solidFill>
            <a:srgbClr val="FFFFFF"/>
          </a:solidFill>
          <a:ln w="8890">
            <a:solidFill>
              <a:srgbClr val="E5E7EB"/>
            </a:solidFill>
            <a:prstDash val="solid"/>
          </a:ln>
        </p:spPr>
      </p:sp>
      <p:sp>
        <p:nvSpPr>
          <p:cNvPr id="10" name="Text 8"/>
          <p:cNvSpPr/>
          <p:nvPr/>
        </p:nvSpPr>
        <p:spPr>
          <a:xfrm>
            <a:off x="652881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1,4</a:t>
            </a:r>
            <a:endParaRPr lang="en-US" sz="680" dirty="0"/>
          </a:p>
        </p:txBody>
      </p:sp>
      <p:sp>
        <p:nvSpPr>
          <p:cNvPr id="11" name="Shape 9"/>
          <p:cNvSpPr/>
          <p:nvPr/>
        </p:nvSpPr>
        <p:spPr>
          <a:xfrm>
            <a:off x="7315200" y="1280160"/>
            <a:ext cx="804672" cy="804672"/>
          </a:xfrm>
          <a:prstGeom prst="rect">
            <a:avLst/>
          </a:prstGeom>
          <a:solidFill>
            <a:srgbClr val="FFFFFF"/>
          </a:solidFill>
          <a:ln w="8890">
            <a:solidFill>
              <a:srgbClr val="E5E7EB"/>
            </a:solidFill>
            <a:prstDash val="solid"/>
          </a:ln>
        </p:spPr>
      </p:sp>
      <p:sp>
        <p:nvSpPr>
          <p:cNvPr id="12" name="Text 10"/>
          <p:cNvSpPr/>
          <p:nvPr/>
        </p:nvSpPr>
        <p:spPr>
          <a:xfrm>
            <a:off x="735177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2,4</a:t>
            </a:r>
            <a:endParaRPr lang="en-US" sz="680" dirty="0"/>
          </a:p>
        </p:txBody>
      </p:sp>
      <p:sp>
        <p:nvSpPr>
          <p:cNvPr id="13" name="Shape 11"/>
          <p:cNvSpPr/>
          <p:nvPr/>
        </p:nvSpPr>
        <p:spPr>
          <a:xfrm>
            <a:off x="8138160" y="1280160"/>
            <a:ext cx="804672" cy="804672"/>
          </a:xfrm>
          <a:prstGeom prst="rect">
            <a:avLst/>
          </a:prstGeom>
          <a:solidFill>
            <a:srgbClr val="FFFFFF"/>
          </a:solidFill>
          <a:ln w="8890">
            <a:solidFill>
              <a:srgbClr val="E5E7EB"/>
            </a:solidFill>
            <a:prstDash val="solid"/>
          </a:ln>
        </p:spPr>
      </p:sp>
      <p:sp>
        <p:nvSpPr>
          <p:cNvPr id="14" name="Text 12"/>
          <p:cNvSpPr/>
          <p:nvPr/>
        </p:nvSpPr>
        <p:spPr>
          <a:xfrm>
            <a:off x="817473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3,4</a:t>
            </a:r>
            <a:endParaRPr lang="en-US" sz="680" dirty="0"/>
          </a:p>
        </p:txBody>
      </p:sp>
      <p:sp>
        <p:nvSpPr>
          <p:cNvPr id="15" name="Shape 13"/>
          <p:cNvSpPr/>
          <p:nvPr/>
        </p:nvSpPr>
        <p:spPr>
          <a:xfrm>
            <a:off x="8961120" y="1280160"/>
            <a:ext cx="804672" cy="804672"/>
          </a:xfrm>
          <a:prstGeom prst="rect">
            <a:avLst/>
          </a:prstGeom>
          <a:solidFill>
            <a:srgbClr val="FFFFFF"/>
          </a:solidFill>
          <a:ln w="8890">
            <a:solidFill>
              <a:srgbClr val="E5E7EB"/>
            </a:solidFill>
            <a:prstDash val="solid"/>
          </a:ln>
        </p:spPr>
      </p:sp>
      <p:sp>
        <p:nvSpPr>
          <p:cNvPr id="16" name="Text 14"/>
          <p:cNvSpPr/>
          <p:nvPr/>
        </p:nvSpPr>
        <p:spPr>
          <a:xfrm>
            <a:off x="899769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4,4</a:t>
            </a:r>
            <a:endParaRPr lang="en-US" sz="680" dirty="0"/>
          </a:p>
        </p:txBody>
      </p:sp>
      <p:sp>
        <p:nvSpPr>
          <p:cNvPr id="17" name="Shape 15"/>
          <p:cNvSpPr/>
          <p:nvPr/>
        </p:nvSpPr>
        <p:spPr>
          <a:xfrm>
            <a:off x="6492240" y="2103120"/>
            <a:ext cx="804672" cy="804672"/>
          </a:xfrm>
          <a:prstGeom prst="rect">
            <a:avLst/>
          </a:prstGeom>
          <a:solidFill>
            <a:srgbClr val="EAF4F4"/>
          </a:solidFill>
          <a:ln w="8890">
            <a:solidFill>
              <a:srgbClr val="E5E7EB"/>
            </a:solidFill>
            <a:prstDash val="solid"/>
          </a:ln>
        </p:spPr>
      </p:sp>
      <p:sp>
        <p:nvSpPr>
          <p:cNvPr id="18" name="Text 16"/>
          <p:cNvSpPr/>
          <p:nvPr/>
        </p:nvSpPr>
        <p:spPr>
          <a:xfrm>
            <a:off x="652881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1,3</a:t>
            </a:r>
            <a:endParaRPr lang="en-US" sz="680" dirty="0"/>
          </a:p>
        </p:txBody>
      </p:sp>
      <p:sp>
        <p:nvSpPr>
          <p:cNvPr id="19" name="Shape 17"/>
          <p:cNvSpPr/>
          <p:nvPr/>
        </p:nvSpPr>
        <p:spPr>
          <a:xfrm>
            <a:off x="7315200" y="2103120"/>
            <a:ext cx="804672" cy="804672"/>
          </a:xfrm>
          <a:prstGeom prst="rect">
            <a:avLst/>
          </a:prstGeom>
          <a:solidFill>
            <a:srgbClr val="FFFFFF"/>
          </a:solidFill>
          <a:ln w="8890">
            <a:solidFill>
              <a:srgbClr val="E5E7EB"/>
            </a:solidFill>
            <a:prstDash val="solid"/>
          </a:ln>
        </p:spPr>
      </p:sp>
      <p:sp>
        <p:nvSpPr>
          <p:cNvPr id="20" name="Text 18"/>
          <p:cNvSpPr/>
          <p:nvPr/>
        </p:nvSpPr>
        <p:spPr>
          <a:xfrm>
            <a:off x="735177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2,3</a:t>
            </a:r>
            <a:endParaRPr lang="en-US" sz="680" dirty="0"/>
          </a:p>
        </p:txBody>
      </p:sp>
      <p:sp>
        <p:nvSpPr>
          <p:cNvPr id="21" name="Shape 19"/>
          <p:cNvSpPr/>
          <p:nvPr/>
        </p:nvSpPr>
        <p:spPr>
          <a:xfrm>
            <a:off x="8138160" y="2103120"/>
            <a:ext cx="804672" cy="804672"/>
          </a:xfrm>
          <a:prstGeom prst="rect">
            <a:avLst/>
          </a:prstGeom>
          <a:solidFill>
            <a:srgbClr val="FFFFFF"/>
          </a:solidFill>
          <a:ln w="8890">
            <a:solidFill>
              <a:srgbClr val="E5E7EB"/>
            </a:solidFill>
            <a:prstDash val="solid"/>
          </a:ln>
        </p:spPr>
      </p:sp>
      <p:sp>
        <p:nvSpPr>
          <p:cNvPr id="22" name="Text 20"/>
          <p:cNvSpPr/>
          <p:nvPr/>
        </p:nvSpPr>
        <p:spPr>
          <a:xfrm>
            <a:off x="817473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3,3</a:t>
            </a:r>
            <a:endParaRPr lang="en-US" sz="680" dirty="0"/>
          </a:p>
        </p:txBody>
      </p:sp>
      <p:sp>
        <p:nvSpPr>
          <p:cNvPr id="23" name="Shape 21"/>
          <p:cNvSpPr/>
          <p:nvPr/>
        </p:nvSpPr>
        <p:spPr>
          <a:xfrm>
            <a:off x="8961120" y="2103120"/>
            <a:ext cx="804672" cy="804672"/>
          </a:xfrm>
          <a:prstGeom prst="rect">
            <a:avLst/>
          </a:prstGeom>
          <a:solidFill>
            <a:srgbClr val="FFFFFF"/>
          </a:solidFill>
          <a:ln w="8890">
            <a:solidFill>
              <a:srgbClr val="E5E7EB"/>
            </a:solidFill>
            <a:prstDash val="solid"/>
          </a:ln>
        </p:spPr>
      </p:sp>
      <p:sp>
        <p:nvSpPr>
          <p:cNvPr id="24" name="Text 22"/>
          <p:cNvSpPr/>
          <p:nvPr/>
        </p:nvSpPr>
        <p:spPr>
          <a:xfrm>
            <a:off x="899769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4,3</a:t>
            </a:r>
            <a:endParaRPr lang="en-US" sz="680" dirty="0"/>
          </a:p>
        </p:txBody>
      </p:sp>
      <p:sp>
        <p:nvSpPr>
          <p:cNvPr id="25" name="Shape 23"/>
          <p:cNvSpPr/>
          <p:nvPr/>
        </p:nvSpPr>
        <p:spPr>
          <a:xfrm>
            <a:off x="6492240" y="2926080"/>
            <a:ext cx="804672" cy="804672"/>
          </a:xfrm>
          <a:prstGeom prst="rect">
            <a:avLst/>
          </a:prstGeom>
          <a:solidFill>
            <a:srgbClr val="FDFDFD"/>
          </a:solidFill>
          <a:ln w="8890">
            <a:solidFill>
              <a:srgbClr val="E5E7EB"/>
            </a:solidFill>
            <a:prstDash val="solid"/>
          </a:ln>
        </p:spPr>
      </p:sp>
      <p:sp>
        <p:nvSpPr>
          <p:cNvPr id="26" name="Text 24"/>
          <p:cNvSpPr/>
          <p:nvPr/>
        </p:nvSpPr>
        <p:spPr>
          <a:xfrm>
            <a:off x="656539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27" name="Shape 25"/>
          <p:cNvSpPr/>
          <p:nvPr/>
        </p:nvSpPr>
        <p:spPr>
          <a:xfrm>
            <a:off x="7315200" y="2926080"/>
            <a:ext cx="804672" cy="804672"/>
          </a:xfrm>
          <a:prstGeom prst="rect">
            <a:avLst/>
          </a:prstGeom>
          <a:solidFill>
            <a:srgbClr val="EAF4F4"/>
          </a:solidFill>
          <a:ln w="8890">
            <a:solidFill>
              <a:srgbClr val="E5E7EB"/>
            </a:solidFill>
            <a:prstDash val="solid"/>
          </a:ln>
        </p:spPr>
      </p:sp>
      <p:sp>
        <p:nvSpPr>
          <p:cNvPr id="28" name="Text 26"/>
          <p:cNvSpPr/>
          <p:nvPr/>
        </p:nvSpPr>
        <p:spPr>
          <a:xfrm>
            <a:off x="735177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2,2</a:t>
            </a:r>
            <a:endParaRPr lang="en-US" sz="680" dirty="0"/>
          </a:p>
        </p:txBody>
      </p:sp>
      <p:sp>
        <p:nvSpPr>
          <p:cNvPr id="29" name="Shape 27"/>
          <p:cNvSpPr/>
          <p:nvPr/>
        </p:nvSpPr>
        <p:spPr>
          <a:xfrm>
            <a:off x="8138160" y="2926080"/>
            <a:ext cx="804672" cy="804672"/>
          </a:xfrm>
          <a:prstGeom prst="rect">
            <a:avLst/>
          </a:prstGeom>
          <a:solidFill>
            <a:srgbClr val="FFFFFF"/>
          </a:solidFill>
          <a:ln w="8890">
            <a:solidFill>
              <a:srgbClr val="E5E7EB"/>
            </a:solidFill>
            <a:prstDash val="solid"/>
          </a:ln>
        </p:spPr>
      </p:sp>
      <p:sp>
        <p:nvSpPr>
          <p:cNvPr id="30" name="Text 28"/>
          <p:cNvSpPr/>
          <p:nvPr/>
        </p:nvSpPr>
        <p:spPr>
          <a:xfrm>
            <a:off x="817473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3,2</a:t>
            </a:r>
            <a:endParaRPr lang="en-US" sz="680" dirty="0"/>
          </a:p>
        </p:txBody>
      </p:sp>
      <p:sp>
        <p:nvSpPr>
          <p:cNvPr id="31" name="Shape 29"/>
          <p:cNvSpPr/>
          <p:nvPr/>
        </p:nvSpPr>
        <p:spPr>
          <a:xfrm>
            <a:off x="8961120" y="2926080"/>
            <a:ext cx="804672" cy="804672"/>
          </a:xfrm>
          <a:prstGeom prst="rect">
            <a:avLst/>
          </a:prstGeom>
          <a:solidFill>
            <a:srgbClr val="FFFFFF"/>
          </a:solidFill>
          <a:ln w="8890">
            <a:solidFill>
              <a:srgbClr val="E5E7EB"/>
            </a:solidFill>
            <a:prstDash val="solid"/>
          </a:ln>
        </p:spPr>
      </p:sp>
      <p:sp>
        <p:nvSpPr>
          <p:cNvPr id="32" name="Text 30"/>
          <p:cNvSpPr/>
          <p:nvPr/>
        </p:nvSpPr>
        <p:spPr>
          <a:xfrm>
            <a:off x="899769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4,2</a:t>
            </a:r>
            <a:endParaRPr lang="en-US" sz="680" dirty="0"/>
          </a:p>
        </p:txBody>
      </p:sp>
      <p:sp>
        <p:nvSpPr>
          <p:cNvPr id="33" name="Shape 31"/>
          <p:cNvSpPr/>
          <p:nvPr/>
        </p:nvSpPr>
        <p:spPr>
          <a:xfrm>
            <a:off x="6492240" y="3749040"/>
            <a:ext cx="804672" cy="804672"/>
          </a:xfrm>
          <a:prstGeom prst="rect">
            <a:avLst/>
          </a:prstGeom>
          <a:solidFill>
            <a:srgbClr val="FDFDFD"/>
          </a:solidFill>
          <a:ln w="8890">
            <a:solidFill>
              <a:srgbClr val="E5E7EB"/>
            </a:solidFill>
            <a:prstDash val="solid"/>
          </a:ln>
        </p:spPr>
      </p:sp>
      <p:sp>
        <p:nvSpPr>
          <p:cNvPr id="34" name="Text 32"/>
          <p:cNvSpPr/>
          <p:nvPr/>
        </p:nvSpPr>
        <p:spPr>
          <a:xfrm>
            <a:off x="6565392" y="3986784"/>
            <a:ext cx="658368" cy="329184"/>
          </a:xfrm>
          <a:prstGeom prst="roundRect">
            <a:avLst/>
          </a:prstGeom>
          <a:solidFill>
            <a:srgbClr val="EAF7F3"/>
          </a:solidFill>
          <a:ln w="12700">
            <a:solidFill>
              <a:srgbClr val="2A9D8F"/>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OK</a:t>
            </a:r>
            <a:endParaRPr lang="en-US" sz="760" dirty="0"/>
          </a:p>
        </p:txBody>
      </p:sp>
      <p:sp>
        <p:nvSpPr>
          <p:cNvPr id="35" name="Shape 33"/>
          <p:cNvSpPr/>
          <p:nvPr/>
        </p:nvSpPr>
        <p:spPr>
          <a:xfrm>
            <a:off x="7315200" y="3749040"/>
            <a:ext cx="804672" cy="804672"/>
          </a:xfrm>
          <a:prstGeom prst="rect">
            <a:avLst/>
          </a:prstGeom>
          <a:solidFill>
            <a:srgbClr val="FDFDFD"/>
          </a:solidFill>
          <a:ln w="8890">
            <a:solidFill>
              <a:srgbClr val="E5E7EB"/>
            </a:solidFill>
            <a:prstDash val="solid"/>
          </a:ln>
        </p:spPr>
      </p:sp>
      <p:sp>
        <p:nvSpPr>
          <p:cNvPr id="36" name="Text 34"/>
          <p:cNvSpPr/>
          <p:nvPr/>
        </p:nvSpPr>
        <p:spPr>
          <a:xfrm>
            <a:off x="738835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37" name="Shape 35"/>
          <p:cNvSpPr/>
          <p:nvPr/>
        </p:nvSpPr>
        <p:spPr>
          <a:xfrm>
            <a:off x="8138160" y="3749040"/>
            <a:ext cx="804672" cy="804672"/>
          </a:xfrm>
          <a:prstGeom prst="rect">
            <a:avLst/>
          </a:prstGeom>
          <a:solidFill>
            <a:srgbClr val="EAF4F4"/>
          </a:solidFill>
          <a:ln w="8890">
            <a:solidFill>
              <a:srgbClr val="E5E7EB"/>
            </a:solidFill>
            <a:prstDash val="solid"/>
          </a:ln>
        </p:spPr>
      </p:sp>
      <p:sp>
        <p:nvSpPr>
          <p:cNvPr id="38" name="Text 36"/>
          <p:cNvSpPr/>
          <p:nvPr/>
        </p:nvSpPr>
        <p:spPr>
          <a:xfrm>
            <a:off x="8174736" y="3785616"/>
            <a:ext cx="347472" cy="146304"/>
          </a:xfrm>
          <a:prstGeom prst="rect">
            <a:avLst/>
          </a:prstGeom>
          <a:noFill/>
          <a:ln/>
        </p:spPr>
        <p:txBody>
          <a:bodyPr wrap="square" lIns="0" tIns="0" rIns="0" bIns="0" rtlCol="0" anchor="ctr"/>
          <a:lstStyle/>
          <a:p>
            <a:pPr indent="0" marL="0">
              <a:buNone/>
            </a:pPr>
            <a:r>
              <a:rPr lang="en-US" sz="680" dirty="0">
                <a:solidFill>
                  <a:srgbClr val="6B7280"/>
                </a:solidFill>
              </a:rPr>
              <a:t>3,1</a:t>
            </a:r>
            <a:endParaRPr lang="en-US" sz="680" dirty="0"/>
          </a:p>
        </p:txBody>
      </p:sp>
      <p:sp>
        <p:nvSpPr>
          <p:cNvPr id="39" name="Shape 37"/>
          <p:cNvSpPr/>
          <p:nvPr/>
        </p:nvSpPr>
        <p:spPr>
          <a:xfrm>
            <a:off x="8961120" y="3749040"/>
            <a:ext cx="804672" cy="804672"/>
          </a:xfrm>
          <a:prstGeom prst="rect">
            <a:avLst/>
          </a:prstGeom>
          <a:solidFill>
            <a:srgbClr val="FFFFFF"/>
          </a:solidFill>
          <a:ln w="8890">
            <a:solidFill>
              <a:srgbClr val="E5E7EB"/>
            </a:solidFill>
            <a:prstDash val="solid"/>
          </a:ln>
        </p:spPr>
      </p:sp>
      <p:sp>
        <p:nvSpPr>
          <p:cNvPr id="40" name="Text 38"/>
          <p:cNvSpPr/>
          <p:nvPr/>
        </p:nvSpPr>
        <p:spPr>
          <a:xfrm>
            <a:off x="8997696" y="3785616"/>
            <a:ext cx="347472" cy="146304"/>
          </a:xfrm>
          <a:prstGeom prst="rect">
            <a:avLst/>
          </a:prstGeom>
          <a:noFill/>
          <a:ln/>
        </p:spPr>
        <p:txBody>
          <a:bodyPr wrap="square" lIns="0" tIns="0" rIns="0" bIns="0" rtlCol="0" anchor="ctr"/>
          <a:lstStyle/>
          <a:p>
            <a:pPr indent="0" marL="0">
              <a:buNone/>
            </a:pPr>
            <a:r>
              <a:rPr lang="en-US" sz="680" dirty="0">
                <a:solidFill>
                  <a:srgbClr val="6B7280"/>
                </a:solidFill>
              </a:rPr>
              <a:t>4,1</a:t>
            </a:r>
            <a:endParaRPr lang="en-US" sz="680" dirty="0"/>
          </a:p>
        </p:txBody>
      </p:sp>
      <p:sp>
        <p:nvSpPr>
          <p:cNvPr id="41" name="Text 39"/>
          <p:cNvSpPr/>
          <p:nvPr/>
        </p:nvSpPr>
        <p:spPr>
          <a:xfrm>
            <a:off x="6492240" y="4736592"/>
            <a:ext cx="3246120" cy="274320"/>
          </a:xfrm>
          <a:prstGeom prst="rect">
            <a:avLst/>
          </a:prstGeom>
          <a:noFill/>
          <a:ln/>
        </p:spPr>
        <p:txBody>
          <a:bodyPr wrap="square" lIns="0" tIns="0" rIns="0" bIns="0" rtlCol="0" anchor="ctr"/>
          <a:lstStyle/>
          <a:p>
            <a:pPr algn="ctr" indent="0" marL="0">
              <a:buNone/>
            </a:pPr>
            <a:r>
              <a:rPr lang="en-US" sz="1000" dirty="0">
                <a:solidFill>
                  <a:srgbClr val="6B7280"/>
                </a:solidFill>
              </a:rPr>
              <a:t>Wumpus world local map</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Random variables for pits and breezes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Pij is true if square [i,j] contains a pit.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Bij is true if square [i,j] is breezy.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Breeze variables are included for observed squares.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example ignores the wumpus and gold to focus on pits.</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0F8B8D"/>
                </a:solidFill>
                <a:latin typeface="Aptos Display" pitchFamily="34" charset="0"/>
                <a:ea typeface="Aptos Display" pitchFamily="34" charset="-122"/>
                <a:cs typeface="Aptos Display" pitchFamily="34" charset="-120"/>
              </a:rPr>
              <a:t>Pij and Bij</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pit variables</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breeze variables</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Boolean random variables over grid squares</a:t>
            </a:r>
            <a:endParaRPr lang="en-US" sz="15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Wumpus full joint idea</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full joint could include all pit variables and observed breeze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Breeze consistency is deterministic given a pit configuration.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 breeze probability is 1 if pits explain it and 0 otherwise.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Pit priors are independent with probability 0.2 per non-start square.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800" b="1" dirty="0">
                <a:solidFill>
                  <a:srgbClr val="14213D"/>
                </a:solidFill>
                <a:latin typeface="Cambria Math" pitchFamily="34" charset="0"/>
                <a:ea typeface="Cambria Math" pitchFamily="34" charset="-122"/>
                <a:cs typeface="Cambria Math" pitchFamily="34" charset="-120"/>
              </a:rPr>
              <a:t>P(B | pits) ∈ {0, 1}</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P(pit configuration) = 0.2ⁿ 0.8^(16-n)</a:t>
            </a:r>
            <a:endParaRPr lang="en-US" sz="18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n is the number of pits in the configuration.</a:t>
            </a:r>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89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Evidence and query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Known squares [1,1], [1,2], and [2,1] have no pits.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Observed breezes: no breeze at [1,1], breeze at [1,2], breeze at [2,1].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Query example: P(P13 | known, breezes).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same method can query [2,2] or [3,1].</a:t>
            </a:r>
            <a:endParaRPr lang="en-US" sz="2000" dirty="0"/>
          </a:p>
        </p:txBody>
      </p:sp>
      <p:sp>
        <p:nvSpPr>
          <p:cNvPr id="9" name="Shape 7"/>
          <p:cNvSpPr/>
          <p:nvPr/>
        </p:nvSpPr>
        <p:spPr>
          <a:xfrm>
            <a:off x="6492240" y="1280160"/>
            <a:ext cx="804672" cy="804672"/>
          </a:xfrm>
          <a:prstGeom prst="rect">
            <a:avLst/>
          </a:prstGeom>
          <a:solidFill>
            <a:srgbClr val="FFFFFF"/>
          </a:solidFill>
          <a:ln w="8890">
            <a:solidFill>
              <a:srgbClr val="E5E7EB"/>
            </a:solidFill>
            <a:prstDash val="solid"/>
          </a:ln>
        </p:spPr>
      </p:sp>
      <p:sp>
        <p:nvSpPr>
          <p:cNvPr id="10" name="Text 8"/>
          <p:cNvSpPr/>
          <p:nvPr/>
        </p:nvSpPr>
        <p:spPr>
          <a:xfrm>
            <a:off x="652881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1,4</a:t>
            </a:r>
            <a:endParaRPr lang="en-US" sz="680" dirty="0"/>
          </a:p>
        </p:txBody>
      </p:sp>
      <p:sp>
        <p:nvSpPr>
          <p:cNvPr id="11" name="Shape 9"/>
          <p:cNvSpPr/>
          <p:nvPr/>
        </p:nvSpPr>
        <p:spPr>
          <a:xfrm>
            <a:off x="7315200" y="1280160"/>
            <a:ext cx="804672" cy="804672"/>
          </a:xfrm>
          <a:prstGeom prst="rect">
            <a:avLst/>
          </a:prstGeom>
          <a:solidFill>
            <a:srgbClr val="FFFFFF"/>
          </a:solidFill>
          <a:ln w="8890">
            <a:solidFill>
              <a:srgbClr val="E5E7EB"/>
            </a:solidFill>
            <a:prstDash val="solid"/>
          </a:ln>
        </p:spPr>
      </p:sp>
      <p:sp>
        <p:nvSpPr>
          <p:cNvPr id="12" name="Text 10"/>
          <p:cNvSpPr/>
          <p:nvPr/>
        </p:nvSpPr>
        <p:spPr>
          <a:xfrm>
            <a:off x="735177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2,4</a:t>
            </a:r>
            <a:endParaRPr lang="en-US" sz="680" dirty="0"/>
          </a:p>
        </p:txBody>
      </p:sp>
      <p:sp>
        <p:nvSpPr>
          <p:cNvPr id="13" name="Shape 11"/>
          <p:cNvSpPr/>
          <p:nvPr/>
        </p:nvSpPr>
        <p:spPr>
          <a:xfrm>
            <a:off x="8138160" y="1280160"/>
            <a:ext cx="804672" cy="804672"/>
          </a:xfrm>
          <a:prstGeom prst="rect">
            <a:avLst/>
          </a:prstGeom>
          <a:solidFill>
            <a:srgbClr val="FFFFFF"/>
          </a:solidFill>
          <a:ln w="8890">
            <a:solidFill>
              <a:srgbClr val="E5E7EB"/>
            </a:solidFill>
            <a:prstDash val="solid"/>
          </a:ln>
        </p:spPr>
      </p:sp>
      <p:sp>
        <p:nvSpPr>
          <p:cNvPr id="14" name="Text 12"/>
          <p:cNvSpPr/>
          <p:nvPr/>
        </p:nvSpPr>
        <p:spPr>
          <a:xfrm>
            <a:off x="817473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3,4</a:t>
            </a:r>
            <a:endParaRPr lang="en-US" sz="680" dirty="0"/>
          </a:p>
        </p:txBody>
      </p:sp>
      <p:sp>
        <p:nvSpPr>
          <p:cNvPr id="15" name="Shape 13"/>
          <p:cNvSpPr/>
          <p:nvPr/>
        </p:nvSpPr>
        <p:spPr>
          <a:xfrm>
            <a:off x="8961120" y="1280160"/>
            <a:ext cx="804672" cy="804672"/>
          </a:xfrm>
          <a:prstGeom prst="rect">
            <a:avLst/>
          </a:prstGeom>
          <a:solidFill>
            <a:srgbClr val="FFFFFF"/>
          </a:solidFill>
          <a:ln w="8890">
            <a:solidFill>
              <a:srgbClr val="E5E7EB"/>
            </a:solidFill>
            <a:prstDash val="solid"/>
          </a:ln>
        </p:spPr>
      </p:sp>
      <p:sp>
        <p:nvSpPr>
          <p:cNvPr id="16" name="Text 14"/>
          <p:cNvSpPr/>
          <p:nvPr/>
        </p:nvSpPr>
        <p:spPr>
          <a:xfrm>
            <a:off x="899769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4,4</a:t>
            </a:r>
            <a:endParaRPr lang="en-US" sz="680" dirty="0"/>
          </a:p>
        </p:txBody>
      </p:sp>
      <p:sp>
        <p:nvSpPr>
          <p:cNvPr id="17" name="Shape 15"/>
          <p:cNvSpPr/>
          <p:nvPr/>
        </p:nvSpPr>
        <p:spPr>
          <a:xfrm>
            <a:off x="6492240" y="2103120"/>
            <a:ext cx="804672" cy="804672"/>
          </a:xfrm>
          <a:prstGeom prst="rect">
            <a:avLst/>
          </a:prstGeom>
          <a:solidFill>
            <a:srgbClr val="EAF4F4"/>
          </a:solidFill>
          <a:ln w="8890">
            <a:solidFill>
              <a:srgbClr val="E5E7EB"/>
            </a:solidFill>
            <a:prstDash val="solid"/>
          </a:ln>
        </p:spPr>
      </p:sp>
      <p:sp>
        <p:nvSpPr>
          <p:cNvPr id="18" name="Text 16"/>
          <p:cNvSpPr/>
          <p:nvPr/>
        </p:nvSpPr>
        <p:spPr>
          <a:xfrm>
            <a:off x="6565392" y="234086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QUERY</a:t>
            </a:r>
            <a:endParaRPr lang="en-US" sz="760" dirty="0"/>
          </a:p>
        </p:txBody>
      </p:sp>
      <p:sp>
        <p:nvSpPr>
          <p:cNvPr id="19" name="Shape 17"/>
          <p:cNvSpPr/>
          <p:nvPr/>
        </p:nvSpPr>
        <p:spPr>
          <a:xfrm>
            <a:off x="7315200" y="2103120"/>
            <a:ext cx="804672" cy="804672"/>
          </a:xfrm>
          <a:prstGeom prst="rect">
            <a:avLst/>
          </a:prstGeom>
          <a:solidFill>
            <a:srgbClr val="FFFFFF"/>
          </a:solidFill>
          <a:ln w="8890">
            <a:solidFill>
              <a:srgbClr val="E5E7EB"/>
            </a:solidFill>
            <a:prstDash val="solid"/>
          </a:ln>
        </p:spPr>
      </p:sp>
      <p:sp>
        <p:nvSpPr>
          <p:cNvPr id="20" name="Text 18"/>
          <p:cNvSpPr/>
          <p:nvPr/>
        </p:nvSpPr>
        <p:spPr>
          <a:xfrm>
            <a:off x="735177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2,3</a:t>
            </a:r>
            <a:endParaRPr lang="en-US" sz="680" dirty="0"/>
          </a:p>
        </p:txBody>
      </p:sp>
      <p:sp>
        <p:nvSpPr>
          <p:cNvPr id="21" name="Shape 19"/>
          <p:cNvSpPr/>
          <p:nvPr/>
        </p:nvSpPr>
        <p:spPr>
          <a:xfrm>
            <a:off x="8138160" y="2103120"/>
            <a:ext cx="804672" cy="804672"/>
          </a:xfrm>
          <a:prstGeom prst="rect">
            <a:avLst/>
          </a:prstGeom>
          <a:solidFill>
            <a:srgbClr val="FFFFFF"/>
          </a:solidFill>
          <a:ln w="8890">
            <a:solidFill>
              <a:srgbClr val="E5E7EB"/>
            </a:solidFill>
            <a:prstDash val="solid"/>
          </a:ln>
        </p:spPr>
      </p:sp>
      <p:sp>
        <p:nvSpPr>
          <p:cNvPr id="22" name="Text 20"/>
          <p:cNvSpPr/>
          <p:nvPr/>
        </p:nvSpPr>
        <p:spPr>
          <a:xfrm>
            <a:off x="817473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3,3</a:t>
            </a:r>
            <a:endParaRPr lang="en-US" sz="680" dirty="0"/>
          </a:p>
        </p:txBody>
      </p:sp>
      <p:sp>
        <p:nvSpPr>
          <p:cNvPr id="23" name="Shape 21"/>
          <p:cNvSpPr/>
          <p:nvPr/>
        </p:nvSpPr>
        <p:spPr>
          <a:xfrm>
            <a:off x="8961120" y="2103120"/>
            <a:ext cx="804672" cy="804672"/>
          </a:xfrm>
          <a:prstGeom prst="rect">
            <a:avLst/>
          </a:prstGeom>
          <a:solidFill>
            <a:srgbClr val="FFFFFF"/>
          </a:solidFill>
          <a:ln w="8890">
            <a:solidFill>
              <a:srgbClr val="E5E7EB"/>
            </a:solidFill>
            <a:prstDash val="solid"/>
          </a:ln>
        </p:spPr>
      </p:sp>
      <p:sp>
        <p:nvSpPr>
          <p:cNvPr id="24" name="Text 22"/>
          <p:cNvSpPr/>
          <p:nvPr/>
        </p:nvSpPr>
        <p:spPr>
          <a:xfrm>
            <a:off x="899769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4,3</a:t>
            </a:r>
            <a:endParaRPr lang="en-US" sz="680" dirty="0"/>
          </a:p>
        </p:txBody>
      </p:sp>
      <p:sp>
        <p:nvSpPr>
          <p:cNvPr id="25" name="Shape 23"/>
          <p:cNvSpPr/>
          <p:nvPr/>
        </p:nvSpPr>
        <p:spPr>
          <a:xfrm>
            <a:off x="6492240" y="2926080"/>
            <a:ext cx="804672" cy="804672"/>
          </a:xfrm>
          <a:prstGeom prst="rect">
            <a:avLst/>
          </a:prstGeom>
          <a:solidFill>
            <a:srgbClr val="FDFDFD"/>
          </a:solidFill>
          <a:ln w="8890">
            <a:solidFill>
              <a:srgbClr val="E5E7EB"/>
            </a:solidFill>
            <a:prstDash val="solid"/>
          </a:ln>
        </p:spPr>
      </p:sp>
      <p:sp>
        <p:nvSpPr>
          <p:cNvPr id="26" name="Text 24"/>
          <p:cNvSpPr/>
          <p:nvPr/>
        </p:nvSpPr>
        <p:spPr>
          <a:xfrm>
            <a:off x="656539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27" name="Shape 25"/>
          <p:cNvSpPr/>
          <p:nvPr/>
        </p:nvSpPr>
        <p:spPr>
          <a:xfrm>
            <a:off x="7315200" y="2926080"/>
            <a:ext cx="804672" cy="804672"/>
          </a:xfrm>
          <a:prstGeom prst="rect">
            <a:avLst/>
          </a:prstGeom>
          <a:solidFill>
            <a:srgbClr val="EAF4F4"/>
          </a:solidFill>
          <a:ln w="8890">
            <a:solidFill>
              <a:srgbClr val="E5E7EB"/>
            </a:solidFill>
            <a:prstDash val="solid"/>
          </a:ln>
        </p:spPr>
      </p:sp>
      <p:sp>
        <p:nvSpPr>
          <p:cNvPr id="28" name="Text 26"/>
          <p:cNvSpPr/>
          <p:nvPr/>
        </p:nvSpPr>
        <p:spPr>
          <a:xfrm>
            <a:off x="738835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FRONTIER</a:t>
            </a:r>
            <a:endParaRPr lang="en-US" sz="760" dirty="0"/>
          </a:p>
        </p:txBody>
      </p:sp>
      <p:sp>
        <p:nvSpPr>
          <p:cNvPr id="29" name="Shape 27"/>
          <p:cNvSpPr/>
          <p:nvPr/>
        </p:nvSpPr>
        <p:spPr>
          <a:xfrm>
            <a:off x="8138160" y="2926080"/>
            <a:ext cx="804672" cy="804672"/>
          </a:xfrm>
          <a:prstGeom prst="rect">
            <a:avLst/>
          </a:prstGeom>
          <a:solidFill>
            <a:srgbClr val="FFFFFF"/>
          </a:solidFill>
          <a:ln w="8890">
            <a:solidFill>
              <a:srgbClr val="E5E7EB"/>
            </a:solidFill>
            <a:prstDash val="solid"/>
          </a:ln>
        </p:spPr>
      </p:sp>
      <p:sp>
        <p:nvSpPr>
          <p:cNvPr id="30" name="Text 28"/>
          <p:cNvSpPr/>
          <p:nvPr/>
        </p:nvSpPr>
        <p:spPr>
          <a:xfrm>
            <a:off x="817473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3,2</a:t>
            </a:r>
            <a:endParaRPr lang="en-US" sz="680" dirty="0"/>
          </a:p>
        </p:txBody>
      </p:sp>
      <p:sp>
        <p:nvSpPr>
          <p:cNvPr id="31" name="Shape 29"/>
          <p:cNvSpPr/>
          <p:nvPr/>
        </p:nvSpPr>
        <p:spPr>
          <a:xfrm>
            <a:off x="8961120" y="2926080"/>
            <a:ext cx="804672" cy="804672"/>
          </a:xfrm>
          <a:prstGeom prst="rect">
            <a:avLst/>
          </a:prstGeom>
          <a:solidFill>
            <a:srgbClr val="FFFFFF"/>
          </a:solidFill>
          <a:ln w="8890">
            <a:solidFill>
              <a:srgbClr val="E5E7EB"/>
            </a:solidFill>
            <a:prstDash val="solid"/>
          </a:ln>
        </p:spPr>
      </p:sp>
      <p:sp>
        <p:nvSpPr>
          <p:cNvPr id="32" name="Text 30"/>
          <p:cNvSpPr/>
          <p:nvPr/>
        </p:nvSpPr>
        <p:spPr>
          <a:xfrm>
            <a:off x="899769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4,2</a:t>
            </a:r>
            <a:endParaRPr lang="en-US" sz="680" dirty="0"/>
          </a:p>
        </p:txBody>
      </p:sp>
      <p:sp>
        <p:nvSpPr>
          <p:cNvPr id="33" name="Shape 31"/>
          <p:cNvSpPr/>
          <p:nvPr/>
        </p:nvSpPr>
        <p:spPr>
          <a:xfrm>
            <a:off x="6492240" y="3749040"/>
            <a:ext cx="804672" cy="804672"/>
          </a:xfrm>
          <a:prstGeom prst="rect">
            <a:avLst/>
          </a:prstGeom>
          <a:solidFill>
            <a:srgbClr val="FDFDFD"/>
          </a:solidFill>
          <a:ln w="8890">
            <a:solidFill>
              <a:srgbClr val="E5E7EB"/>
            </a:solidFill>
            <a:prstDash val="solid"/>
          </a:ln>
        </p:spPr>
      </p:sp>
      <p:sp>
        <p:nvSpPr>
          <p:cNvPr id="34" name="Text 32"/>
          <p:cNvSpPr/>
          <p:nvPr/>
        </p:nvSpPr>
        <p:spPr>
          <a:xfrm>
            <a:off x="6565392" y="3986784"/>
            <a:ext cx="658368" cy="329184"/>
          </a:xfrm>
          <a:prstGeom prst="roundRect">
            <a:avLst/>
          </a:prstGeom>
          <a:solidFill>
            <a:srgbClr val="EAF7F3"/>
          </a:solidFill>
          <a:ln w="12700">
            <a:solidFill>
              <a:srgbClr val="2A9D8F"/>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OK</a:t>
            </a:r>
            <a:endParaRPr lang="en-US" sz="760" dirty="0"/>
          </a:p>
        </p:txBody>
      </p:sp>
      <p:sp>
        <p:nvSpPr>
          <p:cNvPr id="35" name="Shape 33"/>
          <p:cNvSpPr/>
          <p:nvPr/>
        </p:nvSpPr>
        <p:spPr>
          <a:xfrm>
            <a:off x="7315200" y="3749040"/>
            <a:ext cx="804672" cy="804672"/>
          </a:xfrm>
          <a:prstGeom prst="rect">
            <a:avLst/>
          </a:prstGeom>
          <a:solidFill>
            <a:srgbClr val="FDFDFD"/>
          </a:solidFill>
          <a:ln w="8890">
            <a:solidFill>
              <a:srgbClr val="E5E7EB"/>
            </a:solidFill>
            <a:prstDash val="solid"/>
          </a:ln>
        </p:spPr>
      </p:sp>
      <p:sp>
        <p:nvSpPr>
          <p:cNvPr id="36" name="Text 34"/>
          <p:cNvSpPr/>
          <p:nvPr/>
        </p:nvSpPr>
        <p:spPr>
          <a:xfrm>
            <a:off x="738835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37" name="Shape 35"/>
          <p:cNvSpPr/>
          <p:nvPr/>
        </p:nvSpPr>
        <p:spPr>
          <a:xfrm>
            <a:off x="8138160" y="3749040"/>
            <a:ext cx="804672" cy="804672"/>
          </a:xfrm>
          <a:prstGeom prst="rect">
            <a:avLst/>
          </a:prstGeom>
          <a:solidFill>
            <a:srgbClr val="EAF4F4"/>
          </a:solidFill>
          <a:ln w="8890">
            <a:solidFill>
              <a:srgbClr val="E5E7EB"/>
            </a:solidFill>
            <a:prstDash val="solid"/>
          </a:ln>
        </p:spPr>
      </p:sp>
      <p:sp>
        <p:nvSpPr>
          <p:cNvPr id="38" name="Text 36"/>
          <p:cNvSpPr/>
          <p:nvPr/>
        </p:nvSpPr>
        <p:spPr>
          <a:xfrm>
            <a:off x="821131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FRONTIER</a:t>
            </a:r>
            <a:endParaRPr lang="en-US" sz="760" dirty="0"/>
          </a:p>
        </p:txBody>
      </p:sp>
      <p:sp>
        <p:nvSpPr>
          <p:cNvPr id="39" name="Shape 37"/>
          <p:cNvSpPr/>
          <p:nvPr/>
        </p:nvSpPr>
        <p:spPr>
          <a:xfrm>
            <a:off x="8961120" y="3749040"/>
            <a:ext cx="804672" cy="804672"/>
          </a:xfrm>
          <a:prstGeom prst="rect">
            <a:avLst/>
          </a:prstGeom>
          <a:solidFill>
            <a:srgbClr val="FFFFFF"/>
          </a:solidFill>
          <a:ln w="8890">
            <a:solidFill>
              <a:srgbClr val="E5E7EB"/>
            </a:solidFill>
            <a:prstDash val="solid"/>
          </a:ln>
        </p:spPr>
      </p:sp>
      <p:sp>
        <p:nvSpPr>
          <p:cNvPr id="40" name="Text 38"/>
          <p:cNvSpPr/>
          <p:nvPr/>
        </p:nvSpPr>
        <p:spPr>
          <a:xfrm>
            <a:off x="8997696" y="3785616"/>
            <a:ext cx="347472" cy="146304"/>
          </a:xfrm>
          <a:prstGeom prst="rect">
            <a:avLst/>
          </a:prstGeom>
          <a:noFill/>
          <a:ln/>
        </p:spPr>
        <p:txBody>
          <a:bodyPr wrap="square" lIns="0" tIns="0" rIns="0" bIns="0" rtlCol="0" anchor="ctr"/>
          <a:lstStyle/>
          <a:p>
            <a:pPr indent="0" marL="0">
              <a:buNone/>
            </a:pPr>
            <a:r>
              <a:rPr lang="en-US" sz="680" dirty="0">
                <a:solidFill>
                  <a:srgbClr val="6B7280"/>
                </a:solidFill>
              </a:rPr>
              <a:t>4,1</a:t>
            </a:r>
            <a:endParaRPr lang="en-US" sz="680" dirty="0"/>
          </a:p>
        </p:txBody>
      </p:sp>
      <p:sp>
        <p:nvSpPr>
          <p:cNvPr id="41" name="Text 39"/>
          <p:cNvSpPr/>
          <p:nvPr/>
        </p:nvSpPr>
        <p:spPr>
          <a:xfrm>
            <a:off x="9985248" y="1444752"/>
            <a:ext cx="1051560" cy="320040"/>
          </a:xfrm>
          <a:prstGeom prst="roundRect">
            <a:avLst/>
          </a:prstGeom>
          <a:solidFill>
            <a:srgbClr val="FFFFFF"/>
          </a:solidFill>
          <a:ln w="12700">
            <a:solidFill>
              <a:srgbClr val="6B7280"/>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OTHER</a:t>
            </a:r>
            <a:endParaRPr lang="en-US" sz="800" dirty="0"/>
          </a:p>
        </p:txBody>
      </p:sp>
      <p:sp>
        <p:nvSpPr>
          <p:cNvPr id="42" name="Text 40"/>
          <p:cNvSpPr/>
          <p:nvPr/>
        </p:nvSpPr>
        <p:spPr>
          <a:xfrm>
            <a:off x="6492240" y="4736592"/>
            <a:ext cx="3246120" cy="274320"/>
          </a:xfrm>
          <a:prstGeom prst="rect">
            <a:avLst/>
          </a:prstGeom>
          <a:noFill/>
          <a:ln/>
        </p:spPr>
        <p:txBody>
          <a:bodyPr wrap="square" lIns="0" tIns="0" rIns="0" bIns="0" rtlCol="0" anchor="ctr"/>
          <a:lstStyle/>
          <a:p>
            <a:pPr algn="ctr" indent="0" marL="0">
              <a:buNone/>
            </a:pPr>
            <a:r>
              <a:rPr lang="en-US" sz="1000" dirty="0">
                <a:solidFill>
                  <a:srgbClr val="6B7280"/>
                </a:solidFill>
              </a:rPr>
              <a:t>Wumpus world local map</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Naive enumeration is costly</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After fixing the known squares and query square, many unknown pit variables remain.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direct summation can contain 2^12 = 4096 terms for one query.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number grows exponentially with grid size.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But many faraway squares should be irrelevant to local breezes.</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1800" b="1" dirty="0">
                <a:solidFill>
                  <a:srgbClr val="14213D"/>
                </a:solidFill>
                <a:latin typeface="Cambria Math" pitchFamily="34" charset="0"/>
                <a:ea typeface="Cambria Math" pitchFamily="34" charset="-122"/>
                <a:cs typeface="Cambria Math" pitchFamily="34" charset="-120"/>
              </a:rPr>
              <a:t>P(P13 | known, b)</a:t>
            </a:r>
            <a:endParaRPr lang="en-US" sz="1800" dirty="0"/>
          </a:p>
          <a:p>
            <a:pPr algn="ctr" indent="0" marL="0">
              <a:buNone/>
            </a:pPr>
            <a:r>
              <a:rPr lang="en-US" sz="1800" b="1" dirty="0">
                <a:solidFill>
                  <a:srgbClr val="14213D"/>
                </a:solidFill>
                <a:latin typeface="Cambria Math" pitchFamily="34" charset="0"/>
                <a:ea typeface="Cambria Math" pitchFamily="34" charset="-122"/>
                <a:cs typeface="Cambria Math" pitchFamily="34" charset="-120"/>
              </a:rPr>
              <a:t>= α Σunknown P(P13, known, b, unknown)</a:t>
            </a:r>
            <a:endParaRPr lang="en-US" sz="18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Exact but inefficient without exploiting structure.</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Frontier versus Other</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Frontier variables are adjacent to visited squares.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Other variables are distant unknown squares.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Breeze evidence depends only on known, query, and frontier variables.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Conditional independence lets the Other variables be summed away.</a:t>
            </a:r>
            <a:endParaRPr lang="en-US" sz="2000" dirty="0"/>
          </a:p>
        </p:txBody>
      </p:sp>
      <p:sp>
        <p:nvSpPr>
          <p:cNvPr id="9" name="Shape 7"/>
          <p:cNvSpPr/>
          <p:nvPr/>
        </p:nvSpPr>
        <p:spPr>
          <a:xfrm>
            <a:off x="6492240" y="1280160"/>
            <a:ext cx="804672" cy="804672"/>
          </a:xfrm>
          <a:prstGeom prst="rect">
            <a:avLst/>
          </a:prstGeom>
          <a:solidFill>
            <a:srgbClr val="FFFFFF"/>
          </a:solidFill>
          <a:ln w="8890">
            <a:solidFill>
              <a:srgbClr val="E5E7EB"/>
            </a:solidFill>
            <a:prstDash val="solid"/>
          </a:ln>
        </p:spPr>
      </p:sp>
      <p:sp>
        <p:nvSpPr>
          <p:cNvPr id="10" name="Text 8"/>
          <p:cNvSpPr/>
          <p:nvPr/>
        </p:nvSpPr>
        <p:spPr>
          <a:xfrm>
            <a:off x="652881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1,4</a:t>
            </a:r>
            <a:endParaRPr lang="en-US" sz="680" dirty="0"/>
          </a:p>
        </p:txBody>
      </p:sp>
      <p:sp>
        <p:nvSpPr>
          <p:cNvPr id="11" name="Shape 9"/>
          <p:cNvSpPr/>
          <p:nvPr/>
        </p:nvSpPr>
        <p:spPr>
          <a:xfrm>
            <a:off x="7315200" y="1280160"/>
            <a:ext cx="804672" cy="804672"/>
          </a:xfrm>
          <a:prstGeom prst="rect">
            <a:avLst/>
          </a:prstGeom>
          <a:solidFill>
            <a:srgbClr val="FFFFFF"/>
          </a:solidFill>
          <a:ln w="8890">
            <a:solidFill>
              <a:srgbClr val="E5E7EB"/>
            </a:solidFill>
            <a:prstDash val="solid"/>
          </a:ln>
        </p:spPr>
      </p:sp>
      <p:sp>
        <p:nvSpPr>
          <p:cNvPr id="12" name="Text 10"/>
          <p:cNvSpPr/>
          <p:nvPr/>
        </p:nvSpPr>
        <p:spPr>
          <a:xfrm>
            <a:off x="735177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2,4</a:t>
            </a:r>
            <a:endParaRPr lang="en-US" sz="680" dirty="0"/>
          </a:p>
        </p:txBody>
      </p:sp>
      <p:sp>
        <p:nvSpPr>
          <p:cNvPr id="13" name="Shape 11"/>
          <p:cNvSpPr/>
          <p:nvPr/>
        </p:nvSpPr>
        <p:spPr>
          <a:xfrm>
            <a:off x="8138160" y="1280160"/>
            <a:ext cx="804672" cy="804672"/>
          </a:xfrm>
          <a:prstGeom prst="rect">
            <a:avLst/>
          </a:prstGeom>
          <a:solidFill>
            <a:srgbClr val="FFFFFF"/>
          </a:solidFill>
          <a:ln w="8890">
            <a:solidFill>
              <a:srgbClr val="E5E7EB"/>
            </a:solidFill>
            <a:prstDash val="solid"/>
          </a:ln>
        </p:spPr>
      </p:sp>
      <p:sp>
        <p:nvSpPr>
          <p:cNvPr id="14" name="Text 12"/>
          <p:cNvSpPr/>
          <p:nvPr/>
        </p:nvSpPr>
        <p:spPr>
          <a:xfrm>
            <a:off x="817473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3,4</a:t>
            </a:r>
            <a:endParaRPr lang="en-US" sz="680" dirty="0"/>
          </a:p>
        </p:txBody>
      </p:sp>
      <p:sp>
        <p:nvSpPr>
          <p:cNvPr id="15" name="Shape 13"/>
          <p:cNvSpPr/>
          <p:nvPr/>
        </p:nvSpPr>
        <p:spPr>
          <a:xfrm>
            <a:off x="8961120" y="1280160"/>
            <a:ext cx="804672" cy="804672"/>
          </a:xfrm>
          <a:prstGeom prst="rect">
            <a:avLst/>
          </a:prstGeom>
          <a:solidFill>
            <a:srgbClr val="FFFFFF"/>
          </a:solidFill>
          <a:ln w="8890">
            <a:solidFill>
              <a:srgbClr val="E5E7EB"/>
            </a:solidFill>
            <a:prstDash val="solid"/>
          </a:ln>
        </p:spPr>
      </p:sp>
      <p:sp>
        <p:nvSpPr>
          <p:cNvPr id="16" name="Text 14"/>
          <p:cNvSpPr/>
          <p:nvPr/>
        </p:nvSpPr>
        <p:spPr>
          <a:xfrm>
            <a:off x="899769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4,4</a:t>
            </a:r>
            <a:endParaRPr lang="en-US" sz="680" dirty="0"/>
          </a:p>
        </p:txBody>
      </p:sp>
      <p:sp>
        <p:nvSpPr>
          <p:cNvPr id="17" name="Shape 15"/>
          <p:cNvSpPr/>
          <p:nvPr/>
        </p:nvSpPr>
        <p:spPr>
          <a:xfrm>
            <a:off x="6492240" y="2103120"/>
            <a:ext cx="804672" cy="804672"/>
          </a:xfrm>
          <a:prstGeom prst="rect">
            <a:avLst/>
          </a:prstGeom>
          <a:solidFill>
            <a:srgbClr val="EAF4F4"/>
          </a:solidFill>
          <a:ln w="8890">
            <a:solidFill>
              <a:srgbClr val="E5E7EB"/>
            </a:solidFill>
            <a:prstDash val="solid"/>
          </a:ln>
        </p:spPr>
      </p:sp>
      <p:sp>
        <p:nvSpPr>
          <p:cNvPr id="18" name="Text 16"/>
          <p:cNvSpPr/>
          <p:nvPr/>
        </p:nvSpPr>
        <p:spPr>
          <a:xfrm>
            <a:off x="6565392" y="234086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QUERY</a:t>
            </a:r>
            <a:endParaRPr lang="en-US" sz="760" dirty="0"/>
          </a:p>
        </p:txBody>
      </p:sp>
      <p:sp>
        <p:nvSpPr>
          <p:cNvPr id="19" name="Shape 17"/>
          <p:cNvSpPr/>
          <p:nvPr/>
        </p:nvSpPr>
        <p:spPr>
          <a:xfrm>
            <a:off x="7315200" y="2103120"/>
            <a:ext cx="804672" cy="804672"/>
          </a:xfrm>
          <a:prstGeom prst="rect">
            <a:avLst/>
          </a:prstGeom>
          <a:solidFill>
            <a:srgbClr val="FFFFFF"/>
          </a:solidFill>
          <a:ln w="8890">
            <a:solidFill>
              <a:srgbClr val="E5E7EB"/>
            </a:solidFill>
            <a:prstDash val="solid"/>
          </a:ln>
        </p:spPr>
      </p:sp>
      <p:sp>
        <p:nvSpPr>
          <p:cNvPr id="20" name="Text 18"/>
          <p:cNvSpPr/>
          <p:nvPr/>
        </p:nvSpPr>
        <p:spPr>
          <a:xfrm>
            <a:off x="735177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2,3</a:t>
            </a:r>
            <a:endParaRPr lang="en-US" sz="680" dirty="0"/>
          </a:p>
        </p:txBody>
      </p:sp>
      <p:sp>
        <p:nvSpPr>
          <p:cNvPr id="21" name="Shape 19"/>
          <p:cNvSpPr/>
          <p:nvPr/>
        </p:nvSpPr>
        <p:spPr>
          <a:xfrm>
            <a:off x="8138160" y="2103120"/>
            <a:ext cx="804672" cy="804672"/>
          </a:xfrm>
          <a:prstGeom prst="rect">
            <a:avLst/>
          </a:prstGeom>
          <a:solidFill>
            <a:srgbClr val="FFFFFF"/>
          </a:solidFill>
          <a:ln w="8890">
            <a:solidFill>
              <a:srgbClr val="E5E7EB"/>
            </a:solidFill>
            <a:prstDash val="solid"/>
          </a:ln>
        </p:spPr>
      </p:sp>
      <p:sp>
        <p:nvSpPr>
          <p:cNvPr id="22" name="Text 20"/>
          <p:cNvSpPr/>
          <p:nvPr/>
        </p:nvSpPr>
        <p:spPr>
          <a:xfrm>
            <a:off x="817473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3,3</a:t>
            </a:r>
            <a:endParaRPr lang="en-US" sz="680" dirty="0"/>
          </a:p>
        </p:txBody>
      </p:sp>
      <p:sp>
        <p:nvSpPr>
          <p:cNvPr id="23" name="Shape 21"/>
          <p:cNvSpPr/>
          <p:nvPr/>
        </p:nvSpPr>
        <p:spPr>
          <a:xfrm>
            <a:off x="8961120" y="2103120"/>
            <a:ext cx="804672" cy="804672"/>
          </a:xfrm>
          <a:prstGeom prst="rect">
            <a:avLst/>
          </a:prstGeom>
          <a:solidFill>
            <a:srgbClr val="FFFFFF"/>
          </a:solidFill>
          <a:ln w="8890">
            <a:solidFill>
              <a:srgbClr val="E5E7EB"/>
            </a:solidFill>
            <a:prstDash val="solid"/>
          </a:ln>
        </p:spPr>
      </p:sp>
      <p:sp>
        <p:nvSpPr>
          <p:cNvPr id="24" name="Text 22"/>
          <p:cNvSpPr/>
          <p:nvPr/>
        </p:nvSpPr>
        <p:spPr>
          <a:xfrm>
            <a:off x="899769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4,3</a:t>
            </a:r>
            <a:endParaRPr lang="en-US" sz="680" dirty="0"/>
          </a:p>
        </p:txBody>
      </p:sp>
      <p:sp>
        <p:nvSpPr>
          <p:cNvPr id="25" name="Shape 23"/>
          <p:cNvSpPr/>
          <p:nvPr/>
        </p:nvSpPr>
        <p:spPr>
          <a:xfrm>
            <a:off x="6492240" y="2926080"/>
            <a:ext cx="804672" cy="804672"/>
          </a:xfrm>
          <a:prstGeom prst="rect">
            <a:avLst/>
          </a:prstGeom>
          <a:solidFill>
            <a:srgbClr val="FDFDFD"/>
          </a:solidFill>
          <a:ln w="8890">
            <a:solidFill>
              <a:srgbClr val="E5E7EB"/>
            </a:solidFill>
            <a:prstDash val="solid"/>
          </a:ln>
        </p:spPr>
      </p:sp>
      <p:sp>
        <p:nvSpPr>
          <p:cNvPr id="26" name="Text 24"/>
          <p:cNvSpPr/>
          <p:nvPr/>
        </p:nvSpPr>
        <p:spPr>
          <a:xfrm>
            <a:off x="656539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27" name="Shape 25"/>
          <p:cNvSpPr/>
          <p:nvPr/>
        </p:nvSpPr>
        <p:spPr>
          <a:xfrm>
            <a:off x="7315200" y="2926080"/>
            <a:ext cx="804672" cy="804672"/>
          </a:xfrm>
          <a:prstGeom prst="rect">
            <a:avLst/>
          </a:prstGeom>
          <a:solidFill>
            <a:srgbClr val="EAF4F4"/>
          </a:solidFill>
          <a:ln w="8890">
            <a:solidFill>
              <a:srgbClr val="E5E7EB"/>
            </a:solidFill>
            <a:prstDash val="solid"/>
          </a:ln>
        </p:spPr>
      </p:sp>
      <p:sp>
        <p:nvSpPr>
          <p:cNvPr id="28" name="Text 26"/>
          <p:cNvSpPr/>
          <p:nvPr/>
        </p:nvSpPr>
        <p:spPr>
          <a:xfrm>
            <a:off x="738835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FRONTIER</a:t>
            </a:r>
            <a:endParaRPr lang="en-US" sz="760" dirty="0"/>
          </a:p>
        </p:txBody>
      </p:sp>
      <p:sp>
        <p:nvSpPr>
          <p:cNvPr id="29" name="Shape 27"/>
          <p:cNvSpPr/>
          <p:nvPr/>
        </p:nvSpPr>
        <p:spPr>
          <a:xfrm>
            <a:off x="8138160" y="2926080"/>
            <a:ext cx="804672" cy="804672"/>
          </a:xfrm>
          <a:prstGeom prst="rect">
            <a:avLst/>
          </a:prstGeom>
          <a:solidFill>
            <a:srgbClr val="FFFFFF"/>
          </a:solidFill>
          <a:ln w="8890">
            <a:solidFill>
              <a:srgbClr val="E5E7EB"/>
            </a:solidFill>
            <a:prstDash val="solid"/>
          </a:ln>
        </p:spPr>
      </p:sp>
      <p:sp>
        <p:nvSpPr>
          <p:cNvPr id="30" name="Text 28"/>
          <p:cNvSpPr/>
          <p:nvPr/>
        </p:nvSpPr>
        <p:spPr>
          <a:xfrm>
            <a:off x="817473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3,2</a:t>
            </a:r>
            <a:endParaRPr lang="en-US" sz="680" dirty="0"/>
          </a:p>
        </p:txBody>
      </p:sp>
      <p:sp>
        <p:nvSpPr>
          <p:cNvPr id="31" name="Shape 29"/>
          <p:cNvSpPr/>
          <p:nvPr/>
        </p:nvSpPr>
        <p:spPr>
          <a:xfrm>
            <a:off x="8961120" y="2926080"/>
            <a:ext cx="804672" cy="804672"/>
          </a:xfrm>
          <a:prstGeom prst="rect">
            <a:avLst/>
          </a:prstGeom>
          <a:solidFill>
            <a:srgbClr val="FFFFFF"/>
          </a:solidFill>
          <a:ln w="8890">
            <a:solidFill>
              <a:srgbClr val="E5E7EB"/>
            </a:solidFill>
            <a:prstDash val="solid"/>
          </a:ln>
        </p:spPr>
      </p:sp>
      <p:sp>
        <p:nvSpPr>
          <p:cNvPr id="32" name="Text 30"/>
          <p:cNvSpPr/>
          <p:nvPr/>
        </p:nvSpPr>
        <p:spPr>
          <a:xfrm>
            <a:off x="899769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4,2</a:t>
            </a:r>
            <a:endParaRPr lang="en-US" sz="680" dirty="0"/>
          </a:p>
        </p:txBody>
      </p:sp>
      <p:sp>
        <p:nvSpPr>
          <p:cNvPr id="33" name="Shape 31"/>
          <p:cNvSpPr/>
          <p:nvPr/>
        </p:nvSpPr>
        <p:spPr>
          <a:xfrm>
            <a:off x="6492240" y="3749040"/>
            <a:ext cx="804672" cy="804672"/>
          </a:xfrm>
          <a:prstGeom prst="rect">
            <a:avLst/>
          </a:prstGeom>
          <a:solidFill>
            <a:srgbClr val="FDFDFD"/>
          </a:solidFill>
          <a:ln w="8890">
            <a:solidFill>
              <a:srgbClr val="E5E7EB"/>
            </a:solidFill>
            <a:prstDash val="solid"/>
          </a:ln>
        </p:spPr>
      </p:sp>
      <p:sp>
        <p:nvSpPr>
          <p:cNvPr id="34" name="Text 32"/>
          <p:cNvSpPr/>
          <p:nvPr/>
        </p:nvSpPr>
        <p:spPr>
          <a:xfrm>
            <a:off x="6565392" y="3986784"/>
            <a:ext cx="658368" cy="329184"/>
          </a:xfrm>
          <a:prstGeom prst="roundRect">
            <a:avLst/>
          </a:prstGeom>
          <a:solidFill>
            <a:srgbClr val="EAF7F3"/>
          </a:solidFill>
          <a:ln w="12700">
            <a:solidFill>
              <a:srgbClr val="2A9D8F"/>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OK</a:t>
            </a:r>
            <a:endParaRPr lang="en-US" sz="760" dirty="0"/>
          </a:p>
        </p:txBody>
      </p:sp>
      <p:sp>
        <p:nvSpPr>
          <p:cNvPr id="35" name="Shape 33"/>
          <p:cNvSpPr/>
          <p:nvPr/>
        </p:nvSpPr>
        <p:spPr>
          <a:xfrm>
            <a:off x="7315200" y="3749040"/>
            <a:ext cx="804672" cy="804672"/>
          </a:xfrm>
          <a:prstGeom prst="rect">
            <a:avLst/>
          </a:prstGeom>
          <a:solidFill>
            <a:srgbClr val="FDFDFD"/>
          </a:solidFill>
          <a:ln w="8890">
            <a:solidFill>
              <a:srgbClr val="E5E7EB"/>
            </a:solidFill>
            <a:prstDash val="solid"/>
          </a:ln>
        </p:spPr>
      </p:sp>
      <p:sp>
        <p:nvSpPr>
          <p:cNvPr id="36" name="Text 34"/>
          <p:cNvSpPr/>
          <p:nvPr/>
        </p:nvSpPr>
        <p:spPr>
          <a:xfrm>
            <a:off x="738835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B</a:t>
            </a:r>
            <a:endParaRPr lang="en-US" sz="760" dirty="0"/>
          </a:p>
        </p:txBody>
      </p:sp>
      <p:sp>
        <p:nvSpPr>
          <p:cNvPr id="37" name="Shape 35"/>
          <p:cNvSpPr/>
          <p:nvPr/>
        </p:nvSpPr>
        <p:spPr>
          <a:xfrm>
            <a:off x="8138160" y="3749040"/>
            <a:ext cx="804672" cy="804672"/>
          </a:xfrm>
          <a:prstGeom prst="rect">
            <a:avLst/>
          </a:prstGeom>
          <a:solidFill>
            <a:srgbClr val="EAF4F4"/>
          </a:solidFill>
          <a:ln w="8890">
            <a:solidFill>
              <a:srgbClr val="E5E7EB"/>
            </a:solidFill>
            <a:prstDash val="solid"/>
          </a:ln>
        </p:spPr>
      </p:sp>
      <p:sp>
        <p:nvSpPr>
          <p:cNvPr id="38" name="Text 36"/>
          <p:cNvSpPr/>
          <p:nvPr/>
        </p:nvSpPr>
        <p:spPr>
          <a:xfrm>
            <a:off x="821131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760" b="1" dirty="0">
                <a:solidFill>
                  <a:srgbClr val="111827"/>
                </a:solidFill>
                <a:latin typeface="Aptos" pitchFamily="34" charset="0"/>
                <a:ea typeface="Aptos" pitchFamily="34" charset="-122"/>
                <a:cs typeface="Aptos" pitchFamily="34" charset="-120"/>
              </a:rPr>
              <a:t>FRONTIER</a:t>
            </a:r>
            <a:endParaRPr lang="en-US" sz="760" dirty="0"/>
          </a:p>
        </p:txBody>
      </p:sp>
      <p:sp>
        <p:nvSpPr>
          <p:cNvPr id="39" name="Shape 37"/>
          <p:cNvSpPr/>
          <p:nvPr/>
        </p:nvSpPr>
        <p:spPr>
          <a:xfrm>
            <a:off x="8961120" y="3749040"/>
            <a:ext cx="804672" cy="804672"/>
          </a:xfrm>
          <a:prstGeom prst="rect">
            <a:avLst/>
          </a:prstGeom>
          <a:solidFill>
            <a:srgbClr val="FFFFFF"/>
          </a:solidFill>
          <a:ln w="8890">
            <a:solidFill>
              <a:srgbClr val="E5E7EB"/>
            </a:solidFill>
            <a:prstDash val="solid"/>
          </a:ln>
        </p:spPr>
      </p:sp>
      <p:sp>
        <p:nvSpPr>
          <p:cNvPr id="40" name="Text 38"/>
          <p:cNvSpPr/>
          <p:nvPr/>
        </p:nvSpPr>
        <p:spPr>
          <a:xfrm>
            <a:off x="8997696" y="3785616"/>
            <a:ext cx="347472" cy="146304"/>
          </a:xfrm>
          <a:prstGeom prst="rect">
            <a:avLst/>
          </a:prstGeom>
          <a:noFill/>
          <a:ln/>
        </p:spPr>
        <p:txBody>
          <a:bodyPr wrap="square" lIns="0" tIns="0" rIns="0" bIns="0" rtlCol="0" anchor="ctr"/>
          <a:lstStyle/>
          <a:p>
            <a:pPr indent="0" marL="0">
              <a:buNone/>
            </a:pPr>
            <a:r>
              <a:rPr lang="en-US" sz="680" dirty="0">
                <a:solidFill>
                  <a:srgbClr val="6B7280"/>
                </a:solidFill>
              </a:rPr>
              <a:t>4,1</a:t>
            </a:r>
            <a:endParaRPr lang="en-US" sz="680" dirty="0"/>
          </a:p>
        </p:txBody>
      </p:sp>
      <p:sp>
        <p:nvSpPr>
          <p:cNvPr id="41" name="Text 39"/>
          <p:cNvSpPr/>
          <p:nvPr/>
        </p:nvSpPr>
        <p:spPr>
          <a:xfrm>
            <a:off x="9985248" y="1444752"/>
            <a:ext cx="1051560" cy="320040"/>
          </a:xfrm>
          <a:prstGeom prst="roundRect">
            <a:avLst/>
          </a:prstGeom>
          <a:solidFill>
            <a:srgbClr val="FFFFFF"/>
          </a:solidFill>
          <a:ln w="12700">
            <a:solidFill>
              <a:srgbClr val="6B7280"/>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OTHER</a:t>
            </a:r>
            <a:endParaRPr lang="en-US" sz="800" dirty="0"/>
          </a:p>
        </p:txBody>
      </p:sp>
      <p:sp>
        <p:nvSpPr>
          <p:cNvPr id="42" name="Text 40"/>
          <p:cNvSpPr/>
          <p:nvPr/>
        </p:nvSpPr>
        <p:spPr>
          <a:xfrm>
            <a:off x="6492240" y="4736592"/>
            <a:ext cx="3246120" cy="274320"/>
          </a:xfrm>
          <a:prstGeom prst="rect">
            <a:avLst/>
          </a:prstGeom>
          <a:noFill/>
          <a:ln/>
        </p:spPr>
        <p:txBody>
          <a:bodyPr wrap="square" lIns="0" tIns="0" rIns="0" bIns="0" rtlCol="0" anchor="ctr"/>
          <a:lstStyle/>
          <a:p>
            <a:pPr algn="ctr" indent="0" marL="0">
              <a:buNone/>
            </a:pPr>
            <a:r>
              <a:rPr lang="en-US" sz="1000" dirty="0">
                <a:solidFill>
                  <a:srgbClr val="6B7280"/>
                </a:solidFill>
              </a:rPr>
              <a:t>Wumpus world local map</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Conditional independence in the grid</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Given the relevant neighboring pit variables, distant pits do not affect observed breezes.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summation over Other becomes 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Only four frontier assignments remain for P22 and P31.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computation becomes tractable.</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200" b="1" dirty="0">
                <a:solidFill>
                  <a:srgbClr val="14213D"/>
                </a:solidFill>
                <a:latin typeface="Cambria Math" pitchFamily="34" charset="0"/>
                <a:ea typeface="Cambria Math" pitchFamily="34" charset="-122"/>
                <a:cs typeface="Cambria Math" pitchFamily="34" charset="-120"/>
              </a:rPr>
              <a:t>b ⫫ Other | known, query, frontier</a:t>
            </a:r>
            <a:endParaRPr lang="en-US" sz="22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Observed breezes are independent of distant pits once nearby pits are known.</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93</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Pit probabilities after evidence</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[1,3] contains a pit with probability about 31%.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[3,1] is symmetric and also about 31%.</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[2,2] contains a pit with probability about 86%.</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reveals which unknown square is more dangerous.</a:t>
            </a:r>
            <a:endParaRPr lang="en-US" sz="2000" dirty="0"/>
          </a:p>
        </p:txBody>
      </p:sp>
      <p:sp>
        <p:nvSpPr>
          <p:cNvPr id="9" name="Shape 7"/>
          <p:cNvSpPr/>
          <p:nvPr/>
        </p:nvSpPr>
        <p:spPr>
          <a:xfrm>
            <a:off x="6492240" y="1280160"/>
            <a:ext cx="804672" cy="804672"/>
          </a:xfrm>
          <a:prstGeom prst="rect">
            <a:avLst/>
          </a:prstGeom>
          <a:solidFill>
            <a:srgbClr val="FFFFFF"/>
          </a:solidFill>
          <a:ln w="8890">
            <a:solidFill>
              <a:srgbClr val="E5E7EB"/>
            </a:solidFill>
            <a:prstDash val="solid"/>
          </a:ln>
        </p:spPr>
      </p:sp>
      <p:sp>
        <p:nvSpPr>
          <p:cNvPr id="10" name="Text 8"/>
          <p:cNvSpPr/>
          <p:nvPr/>
        </p:nvSpPr>
        <p:spPr>
          <a:xfrm>
            <a:off x="652881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1,4</a:t>
            </a:r>
            <a:endParaRPr lang="en-US" sz="680" dirty="0"/>
          </a:p>
        </p:txBody>
      </p:sp>
      <p:sp>
        <p:nvSpPr>
          <p:cNvPr id="11" name="Shape 9"/>
          <p:cNvSpPr/>
          <p:nvPr/>
        </p:nvSpPr>
        <p:spPr>
          <a:xfrm>
            <a:off x="7315200" y="1280160"/>
            <a:ext cx="804672" cy="804672"/>
          </a:xfrm>
          <a:prstGeom prst="rect">
            <a:avLst/>
          </a:prstGeom>
          <a:solidFill>
            <a:srgbClr val="FFFFFF"/>
          </a:solidFill>
          <a:ln w="8890">
            <a:solidFill>
              <a:srgbClr val="E5E7EB"/>
            </a:solidFill>
            <a:prstDash val="solid"/>
          </a:ln>
        </p:spPr>
      </p:sp>
      <p:sp>
        <p:nvSpPr>
          <p:cNvPr id="12" name="Text 10"/>
          <p:cNvSpPr/>
          <p:nvPr/>
        </p:nvSpPr>
        <p:spPr>
          <a:xfrm>
            <a:off x="735177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2,4</a:t>
            </a:r>
            <a:endParaRPr lang="en-US" sz="680" dirty="0"/>
          </a:p>
        </p:txBody>
      </p:sp>
      <p:sp>
        <p:nvSpPr>
          <p:cNvPr id="13" name="Shape 11"/>
          <p:cNvSpPr/>
          <p:nvPr/>
        </p:nvSpPr>
        <p:spPr>
          <a:xfrm>
            <a:off x="8138160" y="1280160"/>
            <a:ext cx="804672" cy="804672"/>
          </a:xfrm>
          <a:prstGeom prst="rect">
            <a:avLst/>
          </a:prstGeom>
          <a:solidFill>
            <a:srgbClr val="FFFFFF"/>
          </a:solidFill>
          <a:ln w="8890">
            <a:solidFill>
              <a:srgbClr val="E5E7EB"/>
            </a:solidFill>
            <a:prstDash val="solid"/>
          </a:ln>
        </p:spPr>
      </p:sp>
      <p:sp>
        <p:nvSpPr>
          <p:cNvPr id="14" name="Text 12"/>
          <p:cNvSpPr/>
          <p:nvPr/>
        </p:nvSpPr>
        <p:spPr>
          <a:xfrm>
            <a:off x="817473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3,4</a:t>
            </a:r>
            <a:endParaRPr lang="en-US" sz="680" dirty="0"/>
          </a:p>
        </p:txBody>
      </p:sp>
      <p:sp>
        <p:nvSpPr>
          <p:cNvPr id="15" name="Shape 13"/>
          <p:cNvSpPr/>
          <p:nvPr/>
        </p:nvSpPr>
        <p:spPr>
          <a:xfrm>
            <a:off x="8961120" y="1280160"/>
            <a:ext cx="804672" cy="804672"/>
          </a:xfrm>
          <a:prstGeom prst="rect">
            <a:avLst/>
          </a:prstGeom>
          <a:solidFill>
            <a:srgbClr val="FFFFFF"/>
          </a:solidFill>
          <a:ln w="8890">
            <a:solidFill>
              <a:srgbClr val="E5E7EB"/>
            </a:solidFill>
            <a:prstDash val="solid"/>
          </a:ln>
        </p:spPr>
      </p:sp>
      <p:sp>
        <p:nvSpPr>
          <p:cNvPr id="16" name="Text 14"/>
          <p:cNvSpPr/>
          <p:nvPr/>
        </p:nvSpPr>
        <p:spPr>
          <a:xfrm>
            <a:off x="8997696" y="1316736"/>
            <a:ext cx="347472" cy="146304"/>
          </a:xfrm>
          <a:prstGeom prst="rect">
            <a:avLst/>
          </a:prstGeom>
          <a:noFill/>
          <a:ln/>
        </p:spPr>
        <p:txBody>
          <a:bodyPr wrap="square" lIns="0" tIns="0" rIns="0" bIns="0" rtlCol="0" anchor="ctr"/>
          <a:lstStyle/>
          <a:p>
            <a:pPr indent="0" marL="0">
              <a:buNone/>
            </a:pPr>
            <a:r>
              <a:rPr lang="en-US" sz="680" dirty="0">
                <a:solidFill>
                  <a:srgbClr val="6B7280"/>
                </a:solidFill>
              </a:rPr>
              <a:t>4,4</a:t>
            </a:r>
            <a:endParaRPr lang="en-US" sz="680" dirty="0"/>
          </a:p>
        </p:txBody>
      </p:sp>
      <p:sp>
        <p:nvSpPr>
          <p:cNvPr id="17" name="Shape 15"/>
          <p:cNvSpPr/>
          <p:nvPr/>
        </p:nvSpPr>
        <p:spPr>
          <a:xfrm>
            <a:off x="6492240" y="2103120"/>
            <a:ext cx="804672" cy="804672"/>
          </a:xfrm>
          <a:prstGeom prst="rect">
            <a:avLst/>
          </a:prstGeom>
          <a:solidFill>
            <a:srgbClr val="EAF4F4"/>
          </a:solidFill>
          <a:ln w="8890">
            <a:solidFill>
              <a:srgbClr val="E5E7EB"/>
            </a:solidFill>
            <a:prstDash val="solid"/>
          </a:ln>
        </p:spPr>
      </p:sp>
      <p:sp>
        <p:nvSpPr>
          <p:cNvPr id="18" name="Text 16"/>
          <p:cNvSpPr/>
          <p:nvPr/>
        </p:nvSpPr>
        <p:spPr>
          <a:xfrm>
            <a:off x="6565392" y="2340864"/>
            <a:ext cx="658368" cy="329184"/>
          </a:xfrm>
          <a:prstGeom prst="roundRect">
            <a:avLst/>
          </a:prstGeom>
          <a:solidFill>
            <a:srgbClr val="FFF3D6"/>
          </a:solidFill>
          <a:ln w="12700">
            <a:solidFill>
              <a:srgbClr val="FCA311"/>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[1,3]</a:t>
            </a:r>
            <a:endParaRPr lang="en-US" sz="800" dirty="0"/>
          </a:p>
          <a:p>
            <a:pPr algn="ctr" indent="0" marL="0">
              <a:buNone/>
            </a:pPr>
            <a:r>
              <a:rPr lang="en-US" sz="800" b="1" dirty="0">
                <a:solidFill>
                  <a:srgbClr val="111827"/>
                </a:solidFill>
                <a:latin typeface="Aptos" pitchFamily="34" charset="0"/>
                <a:ea typeface="Aptos" pitchFamily="34" charset="-122"/>
                <a:cs typeface="Aptos" pitchFamily="34" charset="-120"/>
              </a:rPr>
              <a:t>31%</a:t>
            </a:r>
            <a:endParaRPr lang="en-US" sz="800" dirty="0"/>
          </a:p>
        </p:txBody>
      </p:sp>
      <p:sp>
        <p:nvSpPr>
          <p:cNvPr id="19" name="Shape 17"/>
          <p:cNvSpPr/>
          <p:nvPr/>
        </p:nvSpPr>
        <p:spPr>
          <a:xfrm>
            <a:off x="7315200" y="2103120"/>
            <a:ext cx="804672" cy="804672"/>
          </a:xfrm>
          <a:prstGeom prst="rect">
            <a:avLst/>
          </a:prstGeom>
          <a:solidFill>
            <a:srgbClr val="FFFFFF"/>
          </a:solidFill>
          <a:ln w="8890">
            <a:solidFill>
              <a:srgbClr val="E5E7EB"/>
            </a:solidFill>
            <a:prstDash val="solid"/>
          </a:ln>
        </p:spPr>
      </p:sp>
      <p:sp>
        <p:nvSpPr>
          <p:cNvPr id="20" name="Text 18"/>
          <p:cNvSpPr/>
          <p:nvPr/>
        </p:nvSpPr>
        <p:spPr>
          <a:xfrm>
            <a:off x="735177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2,3</a:t>
            </a:r>
            <a:endParaRPr lang="en-US" sz="680" dirty="0"/>
          </a:p>
        </p:txBody>
      </p:sp>
      <p:sp>
        <p:nvSpPr>
          <p:cNvPr id="21" name="Shape 19"/>
          <p:cNvSpPr/>
          <p:nvPr/>
        </p:nvSpPr>
        <p:spPr>
          <a:xfrm>
            <a:off x="8138160" y="2103120"/>
            <a:ext cx="804672" cy="804672"/>
          </a:xfrm>
          <a:prstGeom prst="rect">
            <a:avLst/>
          </a:prstGeom>
          <a:solidFill>
            <a:srgbClr val="FFFFFF"/>
          </a:solidFill>
          <a:ln w="8890">
            <a:solidFill>
              <a:srgbClr val="E5E7EB"/>
            </a:solidFill>
            <a:prstDash val="solid"/>
          </a:ln>
        </p:spPr>
      </p:sp>
      <p:sp>
        <p:nvSpPr>
          <p:cNvPr id="22" name="Text 20"/>
          <p:cNvSpPr/>
          <p:nvPr/>
        </p:nvSpPr>
        <p:spPr>
          <a:xfrm>
            <a:off x="817473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3,3</a:t>
            </a:r>
            <a:endParaRPr lang="en-US" sz="680" dirty="0"/>
          </a:p>
        </p:txBody>
      </p:sp>
      <p:sp>
        <p:nvSpPr>
          <p:cNvPr id="23" name="Shape 21"/>
          <p:cNvSpPr/>
          <p:nvPr/>
        </p:nvSpPr>
        <p:spPr>
          <a:xfrm>
            <a:off x="8961120" y="2103120"/>
            <a:ext cx="804672" cy="804672"/>
          </a:xfrm>
          <a:prstGeom prst="rect">
            <a:avLst/>
          </a:prstGeom>
          <a:solidFill>
            <a:srgbClr val="FFFFFF"/>
          </a:solidFill>
          <a:ln w="8890">
            <a:solidFill>
              <a:srgbClr val="E5E7EB"/>
            </a:solidFill>
            <a:prstDash val="solid"/>
          </a:ln>
        </p:spPr>
      </p:sp>
      <p:sp>
        <p:nvSpPr>
          <p:cNvPr id="24" name="Text 22"/>
          <p:cNvSpPr/>
          <p:nvPr/>
        </p:nvSpPr>
        <p:spPr>
          <a:xfrm>
            <a:off x="8997696" y="2139696"/>
            <a:ext cx="347472" cy="146304"/>
          </a:xfrm>
          <a:prstGeom prst="rect">
            <a:avLst/>
          </a:prstGeom>
          <a:noFill/>
          <a:ln/>
        </p:spPr>
        <p:txBody>
          <a:bodyPr wrap="square" lIns="0" tIns="0" rIns="0" bIns="0" rtlCol="0" anchor="ctr"/>
          <a:lstStyle/>
          <a:p>
            <a:pPr indent="0" marL="0">
              <a:buNone/>
            </a:pPr>
            <a:r>
              <a:rPr lang="en-US" sz="680" dirty="0">
                <a:solidFill>
                  <a:srgbClr val="6B7280"/>
                </a:solidFill>
              </a:rPr>
              <a:t>4,3</a:t>
            </a:r>
            <a:endParaRPr lang="en-US" sz="680" dirty="0"/>
          </a:p>
        </p:txBody>
      </p:sp>
      <p:sp>
        <p:nvSpPr>
          <p:cNvPr id="25" name="Shape 23"/>
          <p:cNvSpPr/>
          <p:nvPr/>
        </p:nvSpPr>
        <p:spPr>
          <a:xfrm>
            <a:off x="6492240" y="2926080"/>
            <a:ext cx="804672" cy="804672"/>
          </a:xfrm>
          <a:prstGeom prst="rect">
            <a:avLst/>
          </a:prstGeom>
          <a:solidFill>
            <a:srgbClr val="FDFDFD"/>
          </a:solidFill>
          <a:ln w="8890">
            <a:solidFill>
              <a:srgbClr val="E5E7EB"/>
            </a:solidFill>
            <a:prstDash val="solid"/>
          </a:ln>
        </p:spPr>
      </p:sp>
      <p:sp>
        <p:nvSpPr>
          <p:cNvPr id="26" name="Text 24"/>
          <p:cNvSpPr/>
          <p:nvPr/>
        </p:nvSpPr>
        <p:spPr>
          <a:xfrm>
            <a:off x="6565392" y="316382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B</a:t>
            </a:r>
            <a:endParaRPr lang="en-US" sz="800" dirty="0"/>
          </a:p>
        </p:txBody>
      </p:sp>
      <p:sp>
        <p:nvSpPr>
          <p:cNvPr id="27" name="Shape 25"/>
          <p:cNvSpPr/>
          <p:nvPr/>
        </p:nvSpPr>
        <p:spPr>
          <a:xfrm>
            <a:off x="7315200" y="2926080"/>
            <a:ext cx="804672" cy="804672"/>
          </a:xfrm>
          <a:prstGeom prst="rect">
            <a:avLst/>
          </a:prstGeom>
          <a:solidFill>
            <a:srgbClr val="EAF4F4"/>
          </a:solidFill>
          <a:ln w="8890">
            <a:solidFill>
              <a:srgbClr val="E5E7EB"/>
            </a:solidFill>
            <a:prstDash val="solid"/>
          </a:ln>
        </p:spPr>
      </p:sp>
      <p:sp>
        <p:nvSpPr>
          <p:cNvPr id="28" name="Text 26"/>
          <p:cNvSpPr/>
          <p:nvPr/>
        </p:nvSpPr>
        <p:spPr>
          <a:xfrm>
            <a:off x="7388352" y="3163824"/>
            <a:ext cx="658368" cy="329184"/>
          </a:xfrm>
          <a:prstGeom prst="roundRect">
            <a:avLst/>
          </a:prstGeom>
          <a:solidFill>
            <a:srgbClr val="FDEAEA"/>
          </a:solidFill>
          <a:ln w="12700">
            <a:solidFill>
              <a:srgbClr val="C94C4C"/>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[2,2]</a:t>
            </a:r>
            <a:endParaRPr lang="en-US" sz="800" dirty="0"/>
          </a:p>
          <a:p>
            <a:pPr algn="ctr" indent="0" marL="0">
              <a:buNone/>
            </a:pPr>
            <a:r>
              <a:rPr lang="en-US" sz="800" b="1" dirty="0">
                <a:solidFill>
                  <a:srgbClr val="111827"/>
                </a:solidFill>
                <a:latin typeface="Aptos" pitchFamily="34" charset="0"/>
                <a:ea typeface="Aptos" pitchFamily="34" charset="-122"/>
                <a:cs typeface="Aptos" pitchFamily="34" charset="-120"/>
              </a:rPr>
              <a:t>86%</a:t>
            </a:r>
            <a:endParaRPr lang="en-US" sz="800" dirty="0"/>
          </a:p>
        </p:txBody>
      </p:sp>
      <p:sp>
        <p:nvSpPr>
          <p:cNvPr id="29" name="Shape 27"/>
          <p:cNvSpPr/>
          <p:nvPr/>
        </p:nvSpPr>
        <p:spPr>
          <a:xfrm>
            <a:off x="8138160" y="2926080"/>
            <a:ext cx="804672" cy="804672"/>
          </a:xfrm>
          <a:prstGeom prst="rect">
            <a:avLst/>
          </a:prstGeom>
          <a:solidFill>
            <a:srgbClr val="FFFFFF"/>
          </a:solidFill>
          <a:ln w="8890">
            <a:solidFill>
              <a:srgbClr val="E5E7EB"/>
            </a:solidFill>
            <a:prstDash val="solid"/>
          </a:ln>
        </p:spPr>
      </p:sp>
      <p:sp>
        <p:nvSpPr>
          <p:cNvPr id="30" name="Text 28"/>
          <p:cNvSpPr/>
          <p:nvPr/>
        </p:nvSpPr>
        <p:spPr>
          <a:xfrm>
            <a:off x="817473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3,2</a:t>
            </a:r>
            <a:endParaRPr lang="en-US" sz="680" dirty="0"/>
          </a:p>
        </p:txBody>
      </p:sp>
      <p:sp>
        <p:nvSpPr>
          <p:cNvPr id="31" name="Shape 29"/>
          <p:cNvSpPr/>
          <p:nvPr/>
        </p:nvSpPr>
        <p:spPr>
          <a:xfrm>
            <a:off x="8961120" y="2926080"/>
            <a:ext cx="804672" cy="804672"/>
          </a:xfrm>
          <a:prstGeom prst="rect">
            <a:avLst/>
          </a:prstGeom>
          <a:solidFill>
            <a:srgbClr val="FFFFFF"/>
          </a:solidFill>
          <a:ln w="8890">
            <a:solidFill>
              <a:srgbClr val="E5E7EB"/>
            </a:solidFill>
            <a:prstDash val="solid"/>
          </a:ln>
        </p:spPr>
      </p:sp>
      <p:sp>
        <p:nvSpPr>
          <p:cNvPr id="32" name="Text 30"/>
          <p:cNvSpPr/>
          <p:nvPr/>
        </p:nvSpPr>
        <p:spPr>
          <a:xfrm>
            <a:off x="8997696" y="2962656"/>
            <a:ext cx="347472" cy="146304"/>
          </a:xfrm>
          <a:prstGeom prst="rect">
            <a:avLst/>
          </a:prstGeom>
          <a:noFill/>
          <a:ln/>
        </p:spPr>
        <p:txBody>
          <a:bodyPr wrap="square" lIns="0" tIns="0" rIns="0" bIns="0" rtlCol="0" anchor="ctr"/>
          <a:lstStyle/>
          <a:p>
            <a:pPr indent="0" marL="0">
              <a:buNone/>
            </a:pPr>
            <a:r>
              <a:rPr lang="en-US" sz="680" dirty="0">
                <a:solidFill>
                  <a:srgbClr val="6B7280"/>
                </a:solidFill>
              </a:rPr>
              <a:t>4,2</a:t>
            </a:r>
            <a:endParaRPr lang="en-US" sz="680" dirty="0"/>
          </a:p>
        </p:txBody>
      </p:sp>
      <p:sp>
        <p:nvSpPr>
          <p:cNvPr id="33" name="Shape 31"/>
          <p:cNvSpPr/>
          <p:nvPr/>
        </p:nvSpPr>
        <p:spPr>
          <a:xfrm>
            <a:off x="6492240" y="3749040"/>
            <a:ext cx="804672" cy="804672"/>
          </a:xfrm>
          <a:prstGeom prst="rect">
            <a:avLst/>
          </a:prstGeom>
          <a:solidFill>
            <a:srgbClr val="FDFDFD"/>
          </a:solidFill>
          <a:ln w="8890">
            <a:solidFill>
              <a:srgbClr val="E5E7EB"/>
            </a:solidFill>
            <a:prstDash val="solid"/>
          </a:ln>
        </p:spPr>
      </p:sp>
      <p:sp>
        <p:nvSpPr>
          <p:cNvPr id="34" name="Text 32"/>
          <p:cNvSpPr/>
          <p:nvPr/>
        </p:nvSpPr>
        <p:spPr>
          <a:xfrm>
            <a:off x="6565392" y="3986784"/>
            <a:ext cx="658368" cy="329184"/>
          </a:xfrm>
          <a:prstGeom prst="roundRect">
            <a:avLst/>
          </a:prstGeom>
          <a:solidFill>
            <a:srgbClr val="EAF7F3"/>
          </a:solidFill>
          <a:ln w="12700">
            <a:solidFill>
              <a:srgbClr val="2A9D8F"/>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OK</a:t>
            </a:r>
            <a:endParaRPr lang="en-US" sz="800" dirty="0"/>
          </a:p>
        </p:txBody>
      </p:sp>
      <p:sp>
        <p:nvSpPr>
          <p:cNvPr id="35" name="Shape 33"/>
          <p:cNvSpPr/>
          <p:nvPr/>
        </p:nvSpPr>
        <p:spPr>
          <a:xfrm>
            <a:off x="7315200" y="3749040"/>
            <a:ext cx="804672" cy="804672"/>
          </a:xfrm>
          <a:prstGeom prst="rect">
            <a:avLst/>
          </a:prstGeom>
          <a:solidFill>
            <a:srgbClr val="FDFDFD"/>
          </a:solidFill>
          <a:ln w="8890">
            <a:solidFill>
              <a:srgbClr val="E5E7EB"/>
            </a:solidFill>
            <a:prstDash val="solid"/>
          </a:ln>
        </p:spPr>
      </p:sp>
      <p:sp>
        <p:nvSpPr>
          <p:cNvPr id="36" name="Text 34"/>
          <p:cNvSpPr/>
          <p:nvPr/>
        </p:nvSpPr>
        <p:spPr>
          <a:xfrm>
            <a:off x="7388352" y="3986784"/>
            <a:ext cx="658368" cy="329184"/>
          </a:xfrm>
          <a:prstGeom prst="roundRect">
            <a:avLst/>
          </a:prstGeom>
          <a:solidFill>
            <a:srgbClr val="EAF4F4"/>
          </a:solidFill>
          <a:ln w="12700">
            <a:solidFill>
              <a:srgbClr val="0F8B8D"/>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B</a:t>
            </a:r>
            <a:endParaRPr lang="en-US" sz="800" dirty="0"/>
          </a:p>
        </p:txBody>
      </p:sp>
      <p:sp>
        <p:nvSpPr>
          <p:cNvPr id="37" name="Shape 35"/>
          <p:cNvSpPr/>
          <p:nvPr/>
        </p:nvSpPr>
        <p:spPr>
          <a:xfrm>
            <a:off x="8138160" y="3749040"/>
            <a:ext cx="804672" cy="804672"/>
          </a:xfrm>
          <a:prstGeom prst="rect">
            <a:avLst/>
          </a:prstGeom>
          <a:solidFill>
            <a:srgbClr val="EAF4F4"/>
          </a:solidFill>
          <a:ln w="8890">
            <a:solidFill>
              <a:srgbClr val="E5E7EB"/>
            </a:solidFill>
            <a:prstDash val="solid"/>
          </a:ln>
        </p:spPr>
      </p:sp>
      <p:sp>
        <p:nvSpPr>
          <p:cNvPr id="38" name="Text 36"/>
          <p:cNvSpPr/>
          <p:nvPr/>
        </p:nvSpPr>
        <p:spPr>
          <a:xfrm>
            <a:off x="8211312" y="3986784"/>
            <a:ext cx="658368" cy="329184"/>
          </a:xfrm>
          <a:prstGeom prst="roundRect">
            <a:avLst/>
          </a:prstGeom>
          <a:solidFill>
            <a:srgbClr val="FFF3D6"/>
          </a:solidFill>
          <a:ln w="12700">
            <a:solidFill>
              <a:srgbClr val="FCA311"/>
            </a:solidFill>
          </a:ln>
        </p:spPr>
        <p:txBody>
          <a:bodyPr wrap="square" lIns="127" tIns="127" rIns="127" bIns="127" rtlCol="0" anchor="ctr">
            <a:normAutofit/>
          </a:bodyPr>
          <a:lstStyle/>
          <a:p>
            <a:pPr algn="ctr" indent="0" marL="0">
              <a:buNone/>
            </a:pPr>
            <a:r>
              <a:rPr lang="en-US" sz="800" b="1" dirty="0">
                <a:solidFill>
                  <a:srgbClr val="111827"/>
                </a:solidFill>
                <a:latin typeface="Aptos" pitchFamily="34" charset="0"/>
                <a:ea typeface="Aptos" pitchFamily="34" charset="-122"/>
                <a:cs typeface="Aptos" pitchFamily="34" charset="-120"/>
              </a:rPr>
              <a:t>[3,1]</a:t>
            </a:r>
            <a:endParaRPr lang="en-US" sz="800" dirty="0"/>
          </a:p>
          <a:p>
            <a:pPr algn="ctr" indent="0" marL="0">
              <a:buNone/>
            </a:pPr>
            <a:r>
              <a:rPr lang="en-US" sz="800" b="1" dirty="0">
                <a:solidFill>
                  <a:srgbClr val="111827"/>
                </a:solidFill>
                <a:latin typeface="Aptos" pitchFamily="34" charset="0"/>
                <a:ea typeface="Aptos" pitchFamily="34" charset="-122"/>
                <a:cs typeface="Aptos" pitchFamily="34" charset="-120"/>
              </a:rPr>
              <a:t>31%</a:t>
            </a:r>
            <a:endParaRPr lang="en-US" sz="800" dirty="0"/>
          </a:p>
        </p:txBody>
      </p:sp>
      <p:sp>
        <p:nvSpPr>
          <p:cNvPr id="39" name="Shape 37"/>
          <p:cNvSpPr/>
          <p:nvPr/>
        </p:nvSpPr>
        <p:spPr>
          <a:xfrm>
            <a:off x="8961120" y="3749040"/>
            <a:ext cx="804672" cy="804672"/>
          </a:xfrm>
          <a:prstGeom prst="rect">
            <a:avLst/>
          </a:prstGeom>
          <a:solidFill>
            <a:srgbClr val="FFFFFF"/>
          </a:solidFill>
          <a:ln w="8890">
            <a:solidFill>
              <a:srgbClr val="E5E7EB"/>
            </a:solidFill>
            <a:prstDash val="solid"/>
          </a:ln>
        </p:spPr>
      </p:sp>
      <p:sp>
        <p:nvSpPr>
          <p:cNvPr id="40" name="Text 38"/>
          <p:cNvSpPr/>
          <p:nvPr/>
        </p:nvSpPr>
        <p:spPr>
          <a:xfrm>
            <a:off x="8997696" y="3785616"/>
            <a:ext cx="347472" cy="146304"/>
          </a:xfrm>
          <a:prstGeom prst="rect">
            <a:avLst/>
          </a:prstGeom>
          <a:noFill/>
          <a:ln/>
        </p:spPr>
        <p:txBody>
          <a:bodyPr wrap="square" lIns="0" tIns="0" rIns="0" bIns="0" rtlCol="0" anchor="ctr"/>
          <a:lstStyle/>
          <a:p>
            <a:pPr indent="0" marL="0">
              <a:buNone/>
            </a:pPr>
            <a:r>
              <a:rPr lang="en-US" sz="680" dirty="0">
                <a:solidFill>
                  <a:srgbClr val="6B7280"/>
                </a:solidFill>
              </a:rPr>
              <a:t>4,1</a:t>
            </a:r>
            <a:endParaRPr lang="en-US" sz="680" dirty="0"/>
          </a:p>
        </p:txBody>
      </p:sp>
      <p:sp>
        <p:nvSpPr>
          <p:cNvPr id="41" name="Text 39"/>
          <p:cNvSpPr/>
          <p:nvPr/>
        </p:nvSpPr>
        <p:spPr>
          <a:xfrm>
            <a:off x="6492240" y="4736592"/>
            <a:ext cx="3246120" cy="274320"/>
          </a:xfrm>
          <a:prstGeom prst="rect">
            <a:avLst/>
          </a:prstGeom>
          <a:noFill/>
          <a:ln/>
        </p:spPr>
        <p:txBody>
          <a:bodyPr wrap="square" lIns="0" tIns="0" rIns="0" bIns="0" rtlCol="0" anchor="ctr"/>
          <a:lstStyle/>
          <a:p>
            <a:pPr algn="ctr" indent="0" marL="0">
              <a:buNone/>
            </a:pPr>
            <a:r>
              <a:rPr lang="en-US" sz="1000" dirty="0">
                <a:solidFill>
                  <a:srgbClr val="6B7280"/>
                </a:solidFill>
              </a:rPr>
              <a:t>Wumpus world local map</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94</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What probability adds beyond logic</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Logic can say a square is known safe, known unsafe, or unknown.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can grade unknown possibilities.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Those grades support better action choices.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same idea applies to diagnosis, classification, robotics, and security.</a:t>
            </a:r>
            <a:endParaRPr lang="en-US" sz="2000" dirty="0"/>
          </a:p>
        </p:txBody>
      </p:sp>
      <p:sp>
        <p:nvSpPr>
          <p:cNvPr id="9" name="Text 7"/>
          <p:cNvSpPr/>
          <p:nvPr/>
        </p:nvSpPr>
        <p:spPr>
          <a:xfrm>
            <a:off x="6492240" y="2011680"/>
            <a:ext cx="1645920" cy="731520"/>
          </a:xfrm>
          <a:prstGeom prst="roundRect">
            <a:avLst/>
          </a:prstGeom>
          <a:solidFill>
            <a:srgbClr val="FDEAEA"/>
          </a:solidFill>
          <a:ln w="12700">
            <a:solidFill>
              <a:srgbClr val="C94C4C"/>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unknown</a:t>
            </a:r>
            <a:endParaRPr lang="en-US" sz="1600" dirty="0"/>
          </a:p>
        </p:txBody>
      </p:sp>
      <p:sp>
        <p:nvSpPr>
          <p:cNvPr id="10" name="Text 8"/>
          <p:cNvSpPr/>
          <p:nvPr/>
        </p:nvSpPr>
        <p:spPr>
          <a:xfrm>
            <a:off x="9829800" y="2011680"/>
            <a:ext cx="1645920" cy="731520"/>
          </a:xfrm>
          <a:prstGeom prst="roundRect">
            <a:avLst/>
          </a:prstGeom>
          <a:solidFill>
            <a:srgbClr val="EAF7F3"/>
          </a:solidFill>
          <a:ln w="12700">
            <a:solidFill>
              <a:srgbClr val="2A9D8F"/>
            </a:solidFill>
          </a:ln>
        </p:spPr>
        <p:txBody>
          <a:bodyPr wrap="square" lIns="1016" tIns="1016" rIns="1016" bIns="1016" rtlCol="0" anchor="ctr">
            <a:normAutofit/>
          </a:bodyPr>
          <a:lstStyle/>
          <a:p>
            <a:pPr algn="ctr" indent="0" marL="0">
              <a:buNone/>
            </a:pPr>
            <a:r>
              <a:rPr lang="en-US" sz="1600" b="1" dirty="0">
                <a:solidFill>
                  <a:srgbClr val="111827"/>
                </a:solidFill>
                <a:latin typeface="Aptos" pitchFamily="34" charset="0"/>
                <a:ea typeface="Aptos" pitchFamily="34" charset="-122"/>
                <a:cs typeface="Aptos" pitchFamily="34" charset="-120"/>
              </a:rPr>
              <a:t>ranked risk</a:t>
            </a:r>
            <a:endParaRPr lang="en-US" sz="1600" dirty="0"/>
          </a:p>
        </p:txBody>
      </p:sp>
      <p:sp>
        <p:nvSpPr>
          <p:cNvPr id="11" name="Shape 9"/>
          <p:cNvSpPr/>
          <p:nvPr/>
        </p:nvSpPr>
        <p:spPr>
          <a:xfrm>
            <a:off x="8183880" y="2377440"/>
            <a:ext cx="1600200" cy="0"/>
          </a:xfrm>
          <a:prstGeom prst="line">
            <a:avLst/>
          </a:prstGeom>
          <a:noFill/>
          <a:ln w="25400">
            <a:solidFill>
              <a:srgbClr val="6B7280"/>
            </a:solidFill>
            <a:prstDash val="solid"/>
            <a:tailEnd type="triangle"/>
          </a:ln>
        </p:spPr>
      </p:sp>
      <p:sp>
        <p:nvSpPr>
          <p:cNvPr id="12" name="Text 10"/>
          <p:cNvSpPr/>
          <p:nvPr/>
        </p:nvSpPr>
        <p:spPr>
          <a:xfrm>
            <a:off x="8046720" y="3063240"/>
            <a:ext cx="1783080" cy="7315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1400" b="1" dirty="0">
                <a:solidFill>
                  <a:srgbClr val="14213D"/>
                </a:solidFill>
                <a:latin typeface="Aptos" pitchFamily="34" charset="0"/>
                <a:ea typeface="Aptos" pitchFamily="34" charset="-122"/>
                <a:cs typeface="Aptos" pitchFamily="34" charset="-120"/>
              </a:rPr>
              <a:t>probability</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12.7 Wumpus world</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95</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12.7 Wumpus world</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Instructor demo: wumpus enumeration</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Enumerate pit configurations.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Keep only configurations consistent with breeze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Weight each configuration by the independent pit prior.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Normalize to get pit probabilities for candidate squares.</a:t>
            </a:r>
            <a:endParaRPr lang="en-US" sz="2000" dirty="0"/>
          </a:p>
        </p:txBody>
      </p:sp>
      <p:sp>
        <p:nvSpPr>
          <p:cNvPr id="9" name="Text 7"/>
          <p:cNvSpPr/>
          <p:nvPr/>
        </p:nvSpPr>
        <p:spPr>
          <a:xfrm>
            <a:off x="6355080" y="1371600"/>
            <a:ext cx="5166360" cy="4800600"/>
          </a:xfrm>
          <a:prstGeom prst="rect">
            <a:avLst/>
          </a:prstGeom>
          <a:solidFill>
            <a:srgbClr val="1E1E1E"/>
          </a:solidFill>
          <a:ln>
            <a:solidFill>
              <a:srgbClr val="1E1E1E"/>
            </a:solidFill>
          </a:ln>
        </p:spPr>
        <p:txBody>
          <a:bodyPr wrap="square" lIns="1524" tIns="1524" rIns="1524" bIns="1524" rtlCol="0" anchor="t">
            <a:normAutofit/>
          </a:bodyPr>
          <a:lstStyle/>
          <a:p>
            <a:pPr indent="0" marL="0">
              <a:buNone/>
            </a:pPr>
            <a:r>
              <a:rPr lang="en-US" sz="1020" dirty="0">
                <a:solidFill>
                  <a:srgbClr val="FFFFFF"/>
                </a:solidFill>
                <a:latin typeface="Liberation Mono" pitchFamily="34" charset="0"/>
                <a:ea typeface="Liberation Mono" pitchFamily="34" charset="-122"/>
                <a:cs typeface="Liberation Mono" pitchFamily="34" charset="-120"/>
              </a:rPr>
              <a:t># Run the full demo file:</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python chapter12_uncertainty_demos.py wumpus</a:t>
            </a:r>
            <a:endParaRPr lang="en-US" sz="1020" dirty="0"/>
          </a:p>
          <a:p>
            <a:pPr indent="0" marL="0">
              <a:buNone/>
            </a:pP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Expected output:</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P(pit at (1,3) | evidence) ≈ 0.310</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P(pit at (2,2) | evidence) ≈ 0.862</a:t>
            </a:r>
            <a:endParaRPr lang="en-US" sz="1020" dirty="0"/>
          </a:p>
          <a:p>
            <a:pPr indent="0" marL="0">
              <a:buNone/>
            </a:pPr>
            <a:r>
              <a:rPr lang="en-US" sz="1020" dirty="0">
                <a:solidFill>
                  <a:srgbClr val="FFFFFF"/>
                </a:solidFill>
                <a:latin typeface="Liberation Mono" pitchFamily="34" charset="0"/>
                <a:ea typeface="Liberation Mono" pitchFamily="34" charset="-122"/>
                <a:cs typeface="Liberation Mono" pitchFamily="34" charset="-120"/>
              </a:rPr>
              <a:t># P(pit at (3,1) | evidence) ≈ 0.310</a:t>
            </a:r>
            <a:endParaRPr lang="en-US" sz="102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w="12700">
            <a:solidFill>
              <a:srgbClr val="14213D">
                <a:alpha val="0"/>
              </a:srgbClr>
            </a:solidFill>
            <a:prstDash val="solid"/>
          </a:ln>
        </p:spPr>
      </p:sp>
      <p:sp>
        <p:nvSpPr>
          <p:cNvPr id="3" name="Text 1"/>
          <p:cNvSpPr/>
          <p:nvPr/>
        </p:nvSpPr>
        <p:spPr>
          <a:xfrm>
            <a:off x="777240" y="1234440"/>
            <a:ext cx="8686800" cy="320040"/>
          </a:xfrm>
          <a:prstGeom prst="rect">
            <a:avLst/>
          </a:prstGeom>
          <a:noFill/>
          <a:ln/>
        </p:spPr>
        <p:txBody>
          <a:bodyPr wrap="square" lIns="0" tIns="0" rIns="0" bIns="0" rtlCol="0" anchor="ctr"/>
          <a:lstStyle/>
          <a:p>
            <a:pPr indent="0" marL="0">
              <a:buNone/>
            </a:pPr>
            <a:r>
              <a:rPr lang="en-US" sz="1400" b="1" dirty="0">
                <a:solidFill>
                  <a:srgbClr val="FCA311"/>
                </a:solidFill>
              </a:rPr>
              <a:t>Summary</a:t>
            </a:r>
            <a:endParaRPr lang="en-US" sz="1400" dirty="0"/>
          </a:p>
        </p:txBody>
      </p:sp>
      <p:sp>
        <p:nvSpPr>
          <p:cNvPr id="4" name="Text 2"/>
          <p:cNvSpPr/>
          <p:nvPr/>
        </p:nvSpPr>
        <p:spPr>
          <a:xfrm>
            <a:off x="777240" y="1691640"/>
            <a:ext cx="9601200" cy="109728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Chapter 12 wrap-up</a:t>
            </a:r>
            <a:endParaRPr lang="en-US" sz="4000" dirty="0"/>
          </a:p>
        </p:txBody>
      </p:sp>
      <p:sp>
        <p:nvSpPr>
          <p:cNvPr id="5" name="Text 3"/>
          <p:cNvSpPr/>
          <p:nvPr/>
        </p:nvSpPr>
        <p:spPr>
          <a:xfrm>
            <a:off x="822960" y="3063240"/>
            <a:ext cx="8686800" cy="457200"/>
          </a:xfrm>
          <a:prstGeom prst="rect">
            <a:avLst/>
          </a:prstGeom>
          <a:noFill/>
          <a:ln/>
        </p:spPr>
        <p:txBody>
          <a:bodyPr wrap="square" lIns="0" tIns="0" rIns="0" bIns="0" rtlCol="0" anchor="ctr">
            <a:normAutofit/>
          </a:bodyPr>
          <a:lstStyle/>
          <a:p>
            <a:pPr indent="0" marL="0">
              <a:buNone/>
            </a:pPr>
            <a:r>
              <a:rPr lang="en-US" sz="1800" dirty="0">
                <a:solidFill>
                  <a:srgbClr val="DDE7F0"/>
                </a:solidFill>
              </a:rPr>
              <a:t>The concepts to retain before Bayesian networks and probabilistic planning.</a:t>
            </a:r>
            <a:endParaRPr lang="en-US" sz="1800" dirty="0"/>
          </a:p>
        </p:txBody>
      </p:sp>
      <p:sp>
        <p:nvSpPr>
          <p:cNvPr id="6" name="Text 4"/>
          <p:cNvSpPr/>
          <p:nvPr/>
        </p:nvSpPr>
        <p:spPr>
          <a:xfrm>
            <a:off x="11475720" y="6519672"/>
            <a:ext cx="365760" cy="201168"/>
          </a:xfrm>
          <a:prstGeom prst="rect">
            <a:avLst/>
          </a:prstGeom>
          <a:noFill/>
          <a:ln/>
        </p:spPr>
        <p:txBody>
          <a:bodyPr wrap="square" lIns="0" tIns="0" rIns="0" bIns="0" rtlCol="0" anchor="ctr"/>
          <a:lstStyle/>
          <a:p>
            <a:pPr algn="r" indent="0" marL="0">
              <a:buNone/>
            </a:pPr>
            <a:r>
              <a:rPr lang="en-US" sz="850" dirty="0">
                <a:solidFill>
                  <a:srgbClr val="B9C3D0"/>
                </a:solidFill>
              </a:rPr>
              <a:t>96</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Chapter summary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97</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Chapter summary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Ten takeaways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Uncertainty is unavoidable in complex, partially observable environments.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Probability represents graded belief relative to evidence.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Decision theory combines probabilities with utilities.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Full joints are complete but exponentially large.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Independence and conditional independence make inference scalable.</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0F8B8D"/>
                </a:solidFill>
                <a:latin typeface="Aptos Display" pitchFamily="34" charset="0"/>
                <a:ea typeface="Aptos Display" pitchFamily="34" charset="-122"/>
                <a:cs typeface="Aptos Display" pitchFamily="34" charset="-120"/>
              </a:rPr>
              <a:t>Belief → Inference → Action</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probability</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Bayes</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MEU</a:t>
            </a:r>
            <a:endParaRPr lang="en-US" sz="2200" dirty="0"/>
          </a:p>
        </p:txBody>
      </p:sp>
      <p:sp>
        <p:nvSpPr>
          <p:cNvPr id="11" name="Text 9"/>
          <p:cNvSpPr/>
          <p:nvPr/>
        </p:nvSpPr>
        <p:spPr>
          <a:xfrm>
            <a:off x="6931152" y="4983480"/>
            <a:ext cx="4160520" cy="566928"/>
          </a:xfrm>
          <a:prstGeom prst="roundRect">
            <a:avLst/>
          </a:prstGeom>
          <a:solidFill>
            <a:srgbClr val="EAF4F4"/>
          </a:solidFill>
          <a:ln w="12700">
            <a:solidFill>
              <a:srgbClr val="EAF4F4"/>
            </a:solidFill>
          </a:ln>
        </p:spPr>
        <p:txBody>
          <a:bodyPr wrap="square" lIns="1016" tIns="1016" rIns="1016" bIns="1016" rtlCol="0" anchor="ctr">
            <a:normAutofit/>
          </a:bodyPr>
          <a:lstStyle/>
          <a:p>
            <a:pPr algn="ctr" indent="0" marL="0">
              <a:buNone/>
            </a:pPr>
            <a:r>
              <a:rPr lang="en-US" sz="1500" dirty="0">
                <a:solidFill>
                  <a:srgbClr val="6B7280"/>
                </a:solidFill>
                <a:latin typeface="Aptos" pitchFamily="34" charset="0"/>
                <a:ea typeface="Aptos" pitchFamily="34" charset="-122"/>
                <a:cs typeface="Aptos" pitchFamily="34" charset="-120"/>
              </a:rPr>
              <a:t>chapter arc</a:t>
            </a:r>
            <a:endParaRPr 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Chapter summary</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98</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Chapter summary</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More takeaways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rule reverses conditionals and supports diagnostic reasoning.</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Base rates matter.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Naive Bayes is simple, fast, and often useful despite imperfect assumptions.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Probabilistic Wumpus reasoning ranks risky squares.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next step is representing conditional independence explicitly.</a:t>
            </a:r>
            <a:endParaRPr lang="en-US" sz="2000" dirty="0"/>
          </a:p>
        </p:txBody>
      </p:sp>
      <p:sp>
        <p:nvSpPr>
          <p:cNvPr id="9" name="Text 7"/>
          <p:cNvSpPr/>
          <p:nvPr/>
        </p:nvSpPr>
        <p:spPr>
          <a:xfrm>
            <a:off x="640080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Bayes</a:t>
            </a:r>
            <a:endParaRPr lang="en-US" sz="1300" dirty="0"/>
          </a:p>
        </p:txBody>
      </p:sp>
      <p:sp>
        <p:nvSpPr>
          <p:cNvPr id="10" name="Shape 8"/>
          <p:cNvSpPr/>
          <p:nvPr/>
        </p:nvSpPr>
        <p:spPr>
          <a:xfrm>
            <a:off x="7543800" y="1801368"/>
            <a:ext cx="109728" cy="914400"/>
          </a:xfrm>
          <a:prstGeom prst="line">
            <a:avLst/>
          </a:prstGeom>
          <a:noFill/>
          <a:ln w="15240">
            <a:solidFill>
              <a:srgbClr val="6B7280"/>
            </a:solidFill>
            <a:prstDash val="solid"/>
            <a:tailEnd type="triangle"/>
          </a:ln>
        </p:spPr>
      </p:sp>
      <p:sp>
        <p:nvSpPr>
          <p:cNvPr id="11" name="Text 9"/>
          <p:cNvSpPr/>
          <p:nvPr/>
        </p:nvSpPr>
        <p:spPr>
          <a:xfrm>
            <a:off x="768096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conditional independence</a:t>
            </a:r>
            <a:endParaRPr lang="en-US" sz="1300" dirty="0"/>
          </a:p>
        </p:txBody>
      </p:sp>
      <p:sp>
        <p:nvSpPr>
          <p:cNvPr id="12" name="Shape 10"/>
          <p:cNvSpPr/>
          <p:nvPr/>
        </p:nvSpPr>
        <p:spPr>
          <a:xfrm>
            <a:off x="8823960" y="2715768"/>
            <a:ext cx="109728" cy="-914400"/>
          </a:xfrm>
          <a:prstGeom prst="line">
            <a:avLst/>
          </a:prstGeom>
          <a:noFill/>
          <a:ln w="15240">
            <a:solidFill>
              <a:srgbClr val="6B7280"/>
            </a:solidFill>
            <a:prstDash val="solid"/>
            <a:tailEnd type="triangle"/>
          </a:ln>
        </p:spPr>
      </p:sp>
      <p:sp>
        <p:nvSpPr>
          <p:cNvPr id="13" name="Text 11"/>
          <p:cNvSpPr/>
          <p:nvPr/>
        </p:nvSpPr>
        <p:spPr>
          <a:xfrm>
            <a:off x="8961120" y="1417320"/>
            <a:ext cx="1143000"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naive Bayes</a:t>
            </a:r>
            <a:endParaRPr lang="en-US" sz="1300" dirty="0"/>
          </a:p>
        </p:txBody>
      </p:sp>
      <p:sp>
        <p:nvSpPr>
          <p:cNvPr id="14" name="Shape 12"/>
          <p:cNvSpPr/>
          <p:nvPr/>
        </p:nvSpPr>
        <p:spPr>
          <a:xfrm>
            <a:off x="10104120" y="1801368"/>
            <a:ext cx="109728" cy="914400"/>
          </a:xfrm>
          <a:prstGeom prst="line">
            <a:avLst/>
          </a:prstGeom>
          <a:noFill/>
          <a:ln w="15240">
            <a:solidFill>
              <a:srgbClr val="6B7280"/>
            </a:solidFill>
            <a:prstDash val="solid"/>
            <a:tailEnd type="triangle"/>
          </a:ln>
        </p:spPr>
      </p:sp>
      <p:sp>
        <p:nvSpPr>
          <p:cNvPr id="15" name="Text 13"/>
          <p:cNvSpPr/>
          <p:nvPr/>
        </p:nvSpPr>
        <p:spPr>
          <a:xfrm>
            <a:off x="10241280" y="2331720"/>
            <a:ext cx="1143000"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Bayesian networks</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Review</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99</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Review</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Active recall questions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What is the difference between a prior and a posterior?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Why does P(cavity | toothache) not mean toothache logically implies cavity?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How does normalization turn scores into probabilities?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Why can conditional independence reduce complexity?</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Why can naive Bayes be overconfident but still classify well?</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FCA311"/>
                </a:solidFill>
                <a:latin typeface="Aptos Display" pitchFamily="34" charset="0"/>
                <a:ea typeface="Aptos Display" pitchFamily="34" charset="-122"/>
                <a:cs typeface="Aptos Display" pitchFamily="34" charset="-120"/>
              </a:rPr>
              <a:t>Check understanding</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Ask students to answer without notes first, then compare in pairs.</a:t>
            </a:r>
            <a:endParaRPr lang="en-US" sz="2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Review</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100</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Review</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In-class practice problems</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Compute P(no cavity | toothache) from the full joint table.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Change the meningitis prior and recompute the posterior.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Identify whether two variables are independent, conditionally independent, or neither.</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Train a tiny naive Bayes classifier with three categories.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Use the wumpus demo to test a different pit prior.</a:t>
            </a:r>
            <a:endParaRPr lang="en-US" sz="2000" dirty="0"/>
          </a:p>
        </p:txBody>
      </p:sp>
      <p:sp>
        <p:nvSpPr>
          <p:cNvPr id="9" name="Text 7"/>
          <p:cNvSpPr/>
          <p:nvPr/>
        </p:nvSpPr>
        <p:spPr>
          <a:xfrm>
            <a:off x="6565392" y="1371600"/>
            <a:ext cx="4892040" cy="960120"/>
          </a:xfrm>
          <a:prstGeom prst="roundRect">
            <a:avLst/>
          </a:prstGeom>
          <a:solidFill>
            <a:srgbClr val="FFFFFF"/>
          </a:solidFill>
          <a:ln w="12700">
            <a:solidFill>
              <a:srgbClr val="E5E7EB"/>
            </a:solidFill>
          </a:ln>
        </p:spPr>
        <p:txBody>
          <a:bodyPr wrap="square" lIns="1016" tIns="1016" rIns="1016" bIns="1016" rtlCol="0" anchor="ctr">
            <a:normAutofit/>
          </a:bodyPr>
          <a:lstStyle/>
          <a:p>
            <a:pPr algn="ctr" indent="0" marL="0">
              <a:buNone/>
            </a:pPr>
            <a:r>
              <a:rPr lang="en-US" sz="2600" b="1" dirty="0">
                <a:solidFill>
                  <a:srgbClr val="2A9D8F"/>
                </a:solidFill>
                <a:latin typeface="Aptos Display" pitchFamily="34" charset="0"/>
                <a:ea typeface="Aptos Display" pitchFamily="34" charset="-122"/>
                <a:cs typeface="Aptos Display" pitchFamily="34" charset="-120"/>
              </a:rPr>
              <a:t>Practice loop</a:t>
            </a:r>
            <a:endParaRPr lang="en-US" sz="2600" dirty="0"/>
          </a:p>
        </p:txBody>
      </p:sp>
      <p:sp>
        <p:nvSpPr>
          <p:cNvPr id="10" name="Text 8"/>
          <p:cNvSpPr/>
          <p:nvPr/>
        </p:nvSpPr>
        <p:spPr>
          <a:xfrm>
            <a:off x="6720840" y="2514600"/>
            <a:ext cx="4572000" cy="2240280"/>
          </a:xfrm>
          <a:prstGeom prst="rect">
            <a:avLst/>
          </a:prstGeom>
          <a:noFill/>
          <a:ln/>
        </p:spPr>
        <p:txBody>
          <a:bodyPr wrap="square" lIns="1016" tIns="1016" rIns="1016" bIns="1016" rtlCol="0" anchor="ctr">
            <a:normAutofit/>
          </a:bodyPr>
          <a:lstStyle/>
          <a:p>
            <a:pPr algn="ctr" indent="0" marL="0">
              <a:buNone/>
            </a:pPr>
            <a:r>
              <a:rPr lang="en-US" sz="2200" b="1" dirty="0">
                <a:solidFill>
                  <a:srgbClr val="14213D"/>
                </a:solidFill>
                <a:latin typeface="Aptos" pitchFamily="34" charset="0"/>
                <a:ea typeface="Aptos" pitchFamily="34" charset="-122"/>
                <a:cs typeface="Aptos" pitchFamily="34" charset="-120"/>
              </a:rPr>
              <a:t>calculate</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interpret</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modify</a:t>
            </a:r>
            <a:endParaRPr lang="en-US" sz="2200" dirty="0"/>
          </a:p>
          <a:p>
            <a:pPr algn="ctr" indent="0" marL="0">
              <a:buNone/>
            </a:pPr>
            <a:r>
              <a:rPr lang="en-US" sz="2200" b="1" dirty="0">
                <a:solidFill>
                  <a:srgbClr val="14213D"/>
                </a:solidFill>
                <a:latin typeface="Aptos" pitchFamily="34" charset="0"/>
                <a:ea typeface="Aptos" pitchFamily="34" charset="-122"/>
                <a:cs typeface="Aptos" pitchFamily="34" charset="-120"/>
              </a:rPr>
              <a:t>explain</a:t>
            </a:r>
            <a:endParaRPr lang="en-US" sz="2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Teaching demos</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101</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Teaching demos</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Code package map</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expected_utility: compare airport plans by MEU.</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full_joint: compute marginals and posteriors from a table.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 explore base-rate effects in the meningitis example.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naive_bayes: classify toy text documents.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wumpus: enumerate pit configurations and compute risk.</a:t>
            </a:r>
            <a:endParaRPr lang="en-US" sz="2000" dirty="0"/>
          </a:p>
        </p:txBody>
      </p:sp>
      <p:sp>
        <p:nvSpPr>
          <p:cNvPr id="9" name="Text 7"/>
          <p:cNvSpPr/>
          <p:nvPr/>
        </p:nvSpPr>
        <p:spPr>
          <a:xfrm>
            <a:off x="6400800" y="1417320"/>
            <a:ext cx="886968"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expected utility</a:t>
            </a:r>
            <a:endParaRPr lang="en-US" sz="1300" dirty="0"/>
          </a:p>
        </p:txBody>
      </p:sp>
      <p:sp>
        <p:nvSpPr>
          <p:cNvPr id="10" name="Shape 8"/>
          <p:cNvSpPr/>
          <p:nvPr/>
        </p:nvSpPr>
        <p:spPr>
          <a:xfrm>
            <a:off x="7287768" y="1801368"/>
            <a:ext cx="109728" cy="914400"/>
          </a:xfrm>
          <a:prstGeom prst="line">
            <a:avLst/>
          </a:prstGeom>
          <a:noFill/>
          <a:ln w="15240">
            <a:solidFill>
              <a:srgbClr val="6B7280"/>
            </a:solidFill>
            <a:prstDash val="solid"/>
            <a:tailEnd type="triangle"/>
          </a:ln>
        </p:spPr>
      </p:sp>
      <p:sp>
        <p:nvSpPr>
          <p:cNvPr id="11" name="Text 9"/>
          <p:cNvSpPr/>
          <p:nvPr/>
        </p:nvSpPr>
        <p:spPr>
          <a:xfrm>
            <a:off x="7424928" y="2331720"/>
            <a:ext cx="886968"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full joint</a:t>
            </a:r>
            <a:endParaRPr lang="en-US" sz="1300" dirty="0"/>
          </a:p>
        </p:txBody>
      </p:sp>
      <p:sp>
        <p:nvSpPr>
          <p:cNvPr id="12" name="Shape 10"/>
          <p:cNvSpPr/>
          <p:nvPr/>
        </p:nvSpPr>
        <p:spPr>
          <a:xfrm>
            <a:off x="8311896" y="2715768"/>
            <a:ext cx="109728" cy="-914400"/>
          </a:xfrm>
          <a:prstGeom prst="line">
            <a:avLst/>
          </a:prstGeom>
          <a:noFill/>
          <a:ln w="15240">
            <a:solidFill>
              <a:srgbClr val="6B7280"/>
            </a:solidFill>
            <a:prstDash val="solid"/>
            <a:tailEnd type="triangle"/>
          </a:ln>
        </p:spPr>
      </p:sp>
      <p:sp>
        <p:nvSpPr>
          <p:cNvPr id="13" name="Text 11"/>
          <p:cNvSpPr/>
          <p:nvPr/>
        </p:nvSpPr>
        <p:spPr>
          <a:xfrm>
            <a:off x="8449056" y="1417320"/>
            <a:ext cx="886968"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Bayes</a:t>
            </a:r>
            <a:endParaRPr lang="en-US" sz="1300" dirty="0"/>
          </a:p>
        </p:txBody>
      </p:sp>
      <p:sp>
        <p:nvSpPr>
          <p:cNvPr id="14" name="Shape 12"/>
          <p:cNvSpPr/>
          <p:nvPr/>
        </p:nvSpPr>
        <p:spPr>
          <a:xfrm>
            <a:off x="9336024" y="1801368"/>
            <a:ext cx="109728" cy="914400"/>
          </a:xfrm>
          <a:prstGeom prst="line">
            <a:avLst/>
          </a:prstGeom>
          <a:noFill/>
          <a:ln w="15240">
            <a:solidFill>
              <a:srgbClr val="6B7280"/>
            </a:solidFill>
            <a:prstDash val="solid"/>
            <a:tailEnd type="triangle"/>
          </a:ln>
        </p:spPr>
      </p:sp>
      <p:sp>
        <p:nvSpPr>
          <p:cNvPr id="15" name="Text 13"/>
          <p:cNvSpPr/>
          <p:nvPr/>
        </p:nvSpPr>
        <p:spPr>
          <a:xfrm>
            <a:off x="9473184" y="2331720"/>
            <a:ext cx="886968" cy="777240"/>
          </a:xfrm>
          <a:prstGeom prst="roundRect">
            <a:avLst/>
          </a:prstGeom>
          <a:solidFill>
            <a:srgbClr val="FFF3D6"/>
          </a:solidFill>
          <a:ln w="12700">
            <a:solidFill>
              <a:srgbClr val="FCA311"/>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naive Bayes</a:t>
            </a:r>
            <a:endParaRPr lang="en-US" sz="1300" dirty="0"/>
          </a:p>
        </p:txBody>
      </p:sp>
      <p:sp>
        <p:nvSpPr>
          <p:cNvPr id="16" name="Shape 14"/>
          <p:cNvSpPr/>
          <p:nvPr/>
        </p:nvSpPr>
        <p:spPr>
          <a:xfrm>
            <a:off x="10360152" y="2715768"/>
            <a:ext cx="109728" cy="-914400"/>
          </a:xfrm>
          <a:prstGeom prst="line">
            <a:avLst/>
          </a:prstGeom>
          <a:noFill/>
          <a:ln w="15240">
            <a:solidFill>
              <a:srgbClr val="6B7280"/>
            </a:solidFill>
            <a:prstDash val="solid"/>
            <a:tailEnd type="triangle"/>
          </a:ln>
        </p:spPr>
      </p:sp>
      <p:sp>
        <p:nvSpPr>
          <p:cNvPr id="17" name="Text 15"/>
          <p:cNvSpPr/>
          <p:nvPr/>
        </p:nvSpPr>
        <p:spPr>
          <a:xfrm>
            <a:off x="10497312" y="1417320"/>
            <a:ext cx="886968" cy="777240"/>
          </a:xfrm>
          <a:prstGeom prst="roundRect">
            <a:avLst/>
          </a:prstGeom>
          <a:solidFill>
            <a:srgbClr val="EAF4F4"/>
          </a:solidFill>
          <a:ln w="12700">
            <a:solidFill>
              <a:srgbClr val="0F8B8D"/>
            </a:solidFill>
          </a:ln>
        </p:spPr>
        <p:txBody>
          <a:bodyPr wrap="square" lIns="1016" tIns="1016" rIns="1016" bIns="1016" rtlCol="0" anchor="ctr">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Wumpus</a:t>
            </a:r>
            <a:endParaRPr lang="en-US" sz="13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F8B8D"/>
          </a:solidFill>
          <a:ln w="12700">
            <a:solidFill>
              <a:srgbClr val="0F8B8D">
                <a:alpha val="0"/>
              </a:srgbClr>
            </a:solidFill>
            <a:prstDash val="solid"/>
          </a:ln>
        </p:spPr>
      </p:sp>
      <p:sp>
        <p:nvSpPr>
          <p:cNvPr id="3" name="Text 1"/>
          <p:cNvSpPr/>
          <p:nvPr/>
        </p:nvSpPr>
        <p:spPr>
          <a:xfrm>
            <a:off x="502920" y="6519672"/>
            <a:ext cx="7132320" cy="201168"/>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Closing</a:t>
            </a:r>
            <a:endParaRPr lang="en-US" sz="850" dirty="0"/>
          </a:p>
        </p:txBody>
      </p:sp>
      <p:sp>
        <p:nvSpPr>
          <p:cNvPr id="4" name="Text 2"/>
          <p:cNvSpPr/>
          <p:nvPr/>
        </p:nvSpPr>
        <p:spPr>
          <a:xfrm>
            <a:off x="11448288" y="6519672"/>
            <a:ext cx="365760" cy="201168"/>
          </a:xfrm>
          <a:prstGeom prst="rect">
            <a:avLst/>
          </a:prstGeom>
          <a:noFill/>
          <a:ln/>
        </p:spPr>
        <p:txBody>
          <a:bodyPr wrap="square" lIns="0" tIns="0" rIns="0" bIns="0" rtlCol="0" anchor="ctr"/>
          <a:lstStyle/>
          <a:p>
            <a:pPr algn="r" indent="0" marL="0">
              <a:buNone/>
            </a:pPr>
            <a:r>
              <a:rPr lang="en-US" sz="850" dirty="0">
                <a:solidFill>
                  <a:srgbClr val="6B7280"/>
                </a:solidFill>
                <a:latin typeface="Aptos" pitchFamily="34" charset="0"/>
                <a:ea typeface="Aptos" pitchFamily="34" charset="-122"/>
                <a:cs typeface="Aptos" pitchFamily="34" charset="-120"/>
              </a:rPr>
              <a:t>102</a:t>
            </a:r>
            <a:endParaRPr lang="en-US" sz="850" dirty="0"/>
          </a:p>
        </p:txBody>
      </p:sp>
      <p:sp>
        <p:nvSpPr>
          <p:cNvPr id="5" name="Text 3"/>
          <p:cNvSpPr/>
          <p:nvPr/>
        </p:nvSpPr>
        <p:spPr>
          <a:xfrm>
            <a:off x="640080" y="228600"/>
            <a:ext cx="7772400" cy="219456"/>
          </a:xfrm>
          <a:prstGeom prst="rect">
            <a:avLst/>
          </a:prstGeom>
          <a:noFill/>
          <a:ln/>
        </p:spPr>
        <p:txBody>
          <a:bodyPr wrap="square" lIns="0" tIns="0" rIns="0" bIns="0" rtlCol="0" anchor="ctr"/>
          <a:lstStyle/>
          <a:p>
            <a:pPr indent="0" marL="0">
              <a:buNone/>
            </a:pPr>
            <a:r>
              <a:rPr lang="en-US" sz="1000" b="1" dirty="0">
                <a:solidFill>
                  <a:srgbClr val="0F8B8D"/>
                </a:solidFill>
                <a:latin typeface="Aptos" pitchFamily="34" charset="0"/>
                <a:ea typeface="Aptos" pitchFamily="34" charset="-122"/>
                <a:cs typeface="Aptos" pitchFamily="34" charset="-120"/>
              </a:rPr>
              <a:t>Closing</a:t>
            </a:r>
            <a:endParaRPr lang="en-US" sz="1000" dirty="0"/>
          </a:p>
        </p:txBody>
      </p:sp>
      <p:sp>
        <p:nvSpPr>
          <p:cNvPr id="6" name="Text 4"/>
          <p:cNvSpPr/>
          <p:nvPr/>
        </p:nvSpPr>
        <p:spPr>
          <a:xfrm>
            <a:off x="640080" y="502920"/>
            <a:ext cx="10881360" cy="475488"/>
          </a:xfrm>
          <a:prstGeom prst="rect">
            <a:avLst/>
          </a:prstGeom>
          <a:noFill/>
          <a:ln/>
        </p:spPr>
        <p:txBody>
          <a:bodyPr wrap="square" lIns="254" tIns="254" rIns="254" bIns="254" rtlCol="0" anchor="ctr">
            <a:normAutofit/>
          </a:bodyPr>
          <a:lstStyle/>
          <a:p>
            <a:pPr indent="0" marL="0">
              <a:buNone/>
            </a:pPr>
            <a:r>
              <a:rPr lang="en-US" sz="2900" b="1" dirty="0">
                <a:solidFill>
                  <a:srgbClr val="14213D"/>
                </a:solidFill>
                <a:latin typeface="Aptos Display" pitchFamily="34" charset="0"/>
                <a:ea typeface="Aptos Display" pitchFamily="34" charset="-122"/>
                <a:cs typeface="Aptos Display" pitchFamily="34" charset="-120"/>
              </a:rPr>
              <a:t>Bridge to what comes next</a:t>
            </a:r>
            <a:endParaRPr lang="en-US" sz="2900" dirty="0"/>
          </a:p>
        </p:txBody>
      </p:sp>
      <p:sp>
        <p:nvSpPr>
          <p:cNvPr id="7" name="Shape 5"/>
          <p:cNvSpPr/>
          <p:nvPr/>
        </p:nvSpPr>
        <p:spPr>
          <a:xfrm>
            <a:off x="640080" y="1060704"/>
            <a:ext cx="10881360" cy="0"/>
          </a:xfrm>
          <a:prstGeom prst="line">
            <a:avLst/>
          </a:prstGeom>
          <a:noFill/>
          <a:ln w="12700">
            <a:solidFill>
              <a:srgbClr val="E5E7EB"/>
            </a:solidFill>
            <a:prstDash val="solid"/>
          </a:ln>
        </p:spPr>
      </p:sp>
      <p:sp>
        <p:nvSpPr>
          <p:cNvPr id="8" name="Text 6"/>
          <p:cNvSpPr/>
          <p:nvPr/>
        </p:nvSpPr>
        <p:spPr>
          <a:xfrm>
            <a:off x="685800" y="1353312"/>
            <a:ext cx="5440680" cy="4892040"/>
          </a:xfrm>
          <a:prstGeom prst="rect">
            <a:avLst/>
          </a:prstGeom>
          <a:noFill/>
          <a:ln/>
        </p:spPr>
        <p:txBody>
          <a:bodyPr wrap="square" lIns="254" tIns="254" rIns="254" bIns="254" rtlCol="0" anchor="t">
            <a:normAutofit/>
          </a:bodyPr>
          <a:lstStyle/>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full joint distribution is the foundation.</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Independence assumptions create compact structure.</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Bayesian networks make that structure explicit.</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Later chapters add time, planning, and multiagent settings.</a:t>
            </a:r>
            <a:endParaRPr lang="en-US" sz="2000" dirty="0"/>
          </a:p>
          <a:p>
            <a:pPr marL="152400" indent="-152400">
              <a:buSzPct val="100000"/>
              <a:buChar char="•"/>
            </a:pPr>
            <a:r>
              <a:rPr lang="en-US" sz="2000" dirty="0">
                <a:solidFill>
                  <a:srgbClr val="111827"/>
                </a:solidFill>
                <a:latin typeface="Aptos" pitchFamily="34" charset="0"/>
                <a:ea typeface="Aptos" pitchFamily="34" charset="-122"/>
                <a:cs typeface="Aptos" pitchFamily="34" charset="-120"/>
              </a:rPr>
              <a:t>The main skill is learning what to condition on.</a:t>
            </a:r>
            <a:endParaRPr lang="en-US" sz="2000" dirty="0"/>
          </a:p>
        </p:txBody>
      </p:sp>
      <p:sp>
        <p:nvSpPr>
          <p:cNvPr id="9" name="Text 7"/>
          <p:cNvSpPr/>
          <p:nvPr/>
        </p:nvSpPr>
        <p:spPr>
          <a:xfrm>
            <a:off x="6537960" y="1508760"/>
            <a:ext cx="4892040" cy="1143000"/>
          </a:xfrm>
          <a:prstGeom prst="roundRect">
            <a:avLst/>
          </a:prstGeom>
          <a:solidFill>
            <a:srgbClr val="FFFFFF"/>
          </a:solidFill>
          <a:ln w="19050">
            <a:solidFill>
              <a:srgbClr val="0F8B8D"/>
            </a:solidFill>
          </a:ln>
        </p:spPr>
        <p:txBody>
          <a:bodyPr wrap="square" lIns="1016" tIns="1016" rIns="1016" bIns="1016" rtlCol="0" anchor="ctr">
            <a:normAutofit/>
          </a:bodyPr>
          <a:lstStyle/>
          <a:p>
            <a:pPr algn="ctr" indent="0" marL="0">
              <a:buNone/>
            </a:pPr>
            <a:r>
              <a:rPr lang="en-US" sz="2600" b="1" dirty="0">
                <a:solidFill>
                  <a:srgbClr val="14213D"/>
                </a:solidFill>
                <a:latin typeface="Cambria Math" pitchFamily="34" charset="0"/>
                <a:ea typeface="Cambria Math" pitchFamily="34" charset="-122"/>
                <a:cs typeface="Cambria Math" pitchFamily="34" charset="-120"/>
              </a:rPr>
              <a:t>Structure makes probability practical</a:t>
            </a:r>
            <a:endParaRPr lang="en-US" sz="2600" dirty="0"/>
          </a:p>
        </p:txBody>
      </p:sp>
      <p:sp>
        <p:nvSpPr>
          <p:cNvPr id="10" name="Text 8"/>
          <p:cNvSpPr/>
          <p:nvPr/>
        </p:nvSpPr>
        <p:spPr>
          <a:xfrm>
            <a:off x="6537960" y="2852928"/>
            <a:ext cx="4892040" cy="1005840"/>
          </a:xfrm>
          <a:prstGeom prst="rect">
            <a:avLst/>
          </a:prstGeom>
          <a:noFill/>
          <a:ln/>
        </p:spPr>
        <p:txBody>
          <a:bodyPr wrap="square" lIns="635" tIns="635" rIns="635" bIns="635" rtlCol="0" anchor="ctr">
            <a:normAutofit/>
          </a:bodyPr>
          <a:lstStyle/>
          <a:p>
            <a:pPr algn="ctr" indent="0" marL="0">
              <a:buNone/>
            </a:pPr>
            <a:r>
              <a:rPr lang="en-US" sz="1600" dirty="0">
                <a:solidFill>
                  <a:srgbClr val="6B7280"/>
                </a:solidFill>
                <a:latin typeface="Aptos" pitchFamily="34" charset="0"/>
                <a:ea typeface="Aptos" pitchFamily="34" charset="-122"/>
                <a:cs typeface="Aptos" pitchFamily="34" charset="-120"/>
              </a:rPr>
              <a:t>Chapter 13 turns conditional independence into a representation.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102</Slides>
  <Notes>102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102</vt:i4>
      </vt:variant>
    </vt:vector>
  </HeadingPairs>
  <TitlesOfParts>
    <vt:vector size="10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Quantifying Uncertainty</dc:title>
  <dc:subject>Chapter 12 Quantifying Uncertainty</dc:subject>
  <dc:creator>OpenAI</dc:creator>
  <cp:lastModifiedBy>OpenAI</cp:lastModifiedBy>
  <cp:revision>1</cp:revision>
  <dcterms:created xsi:type="dcterms:W3CDTF">2026-06-14T21:59:35Z</dcterms:created>
  <dcterms:modified xsi:type="dcterms:W3CDTF">2026-06-14T21:59:35Z</dcterms:modified>
</cp:coreProperties>
</file>