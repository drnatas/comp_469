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8 title
Frame the lecture as a shift from “AI that searches” to “AI that represents and reasons.” In Chapters 3 and 5, agents searched over states and moves; in Chapter 7, agents used propositional logic. Chapter 8 makes logic more expressive by adding objects, relations, functions, and quantifiers. Useful opening analogy: propositional logic is like labeling individual sticky notes; first-order logic is like designing a language for the whole room and the relationships among everything in it.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Keep the roadmap visible: representation first, syntax/semantics second, then knowledge engineering. Emphasize that FOL is not just “more notation.” It changes what an AI system can talk about. Students may be intimidated by symbols; repeatedly connect each symbol back to English sentences and small domains.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idea: structured representation
Use this as a bridge from Chapter 2’s representation types. Propositional logic can say that a specific square is breezy; FOL can say why any square is breezy. The analogy helps students see that the main upgrade is not truth values, but relational structure.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 Representation Revisited
The first section asks what we want from a knowledge representation language. The key distinction is procedural code versus declarative knowledge. Tell students: a program can store facts, but logic lets us derive facts.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Programming data vs. logical knowledge
Use the Wumpus array example. In Python, World[2,2] = Pit stores one fact. It does not automatically know that adjacent squares are breezy unless the programmer writes the procedure. In logic, the rule is represented and inference can apply it. The figure helps students compare languages by what they assume exists and what kind of belief values are allowed.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Declarative vs. procedural knowledge
Students often think “logic is code.” Clarify that a logic sentence is not an instruction to execute; it is an assertion. Inference procedures use assertions, but the domain rule itself is not a Python if-statement.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Propositional logic: useful but verbose
Tie this to Chapter 7. Students already saw propositional Wumpus World. The problem is not that propositional logic is wrong; it is that it lacks variables and quantifiers, so it cannot naturally say a general rule once.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 say the rule once
Use the formula as the center of the lecture. Read it in English slowly: for every square s, s is breezy iff there exists a square p such that p has a pit and p is adjacent to s. Students should hear FOL as structured English, not as decoration.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Representation language goals
This slide previews the chapter summary. Compositionality is important: if students know the meaning of parts, they can evaluate the whole. Natural language is expressive, but not reliably context-independent or unambiguous.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language is not a clean KB
Students may ask why we do not just use English. Acknowledge modern NLP, but stress that Chapter 8 is about formal semantics: exact conditions under which a sentence is true. Natural language requires context, common sense, and pragmatics.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First-order logic in one sentence
Use this as a low-stakes exercise. Objects: students, chairs, laptop, projector. Relations: SittingIn, ConnectedTo, Teaches, Owns. This grounds the notation in everyday modeling.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 Syntax and Semantics of FOL
This is the technical core. Keep returning to “syntax is grammar, semantics is truth.” The syntax tells us what strings are legal. The semantics tells us what those strings mean in a model.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Syntax vs. semantics
This is a recurring gotcha: valid grammar does not imply truth. “King(Richard)” can be well-formed and false in the intended model. Make students separate form from truth.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language commitments
Use the table to define two vocabulary words. Ontological commitment: what the language assumes exists. Epistemological commitment: what beliefs or truth statuses the language can express. FOL still uses true/false/unknown, but the things it talks about are richer.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for first-order logic
Walk through the picture: two people, a crown, two legs, brother relation, on-head relation, properties like person/king/crown, and LeftLeg as a function. The point is not medieval history; it is how a possible world is structured.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the universe of objects
Students often assume names and objects are one-to-one. Standard FOL does not assume that. Multiple constants may name the same object, and some objects may have no constant name. Database semantics later changes this.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Relations as tuples
Explain that relations are not magic verbs. Formally, a relation is a set of tuples. For asymmetric relations like Parent(x,y), order matters greatly. For symmetric relations like Sibling(x,y), the KB needs an axiom to ensure both directions.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Functions as unique mappings
This is a surprising technical point. FOL functions must have a value for every input, even weird ones. Tell students: as long as we avoid asking irrelevant questions, the weird total-function cases do not matter.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Interpretations: symbols need meaning
Emphasize that the interpretation is the bridge between symbols and the world. Without it, symbols are just marks. The KB can rule out unintended interpretations by adding sentences like John ≠ Richard.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 syntax: the grammar of sentences
Do not dwell on every line of the grammar. Use it to show the hierarchy: terms are object expressions; predicates form atomic sentences; connectives and quantifiers build complex sentences. The key is to help students parse formulas without panic.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Constants, variables, predicates, functions
Use examples from their labs: Square(1,2), Pit(s), Adjacent(s,p), Signal(t). Students should classify symbols before translating. This prevents later mistakes with arity and function/predicate confusion.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Arity: how many arguments?
Arity errors are easy for students to make. They should learn to check every predicate like a function signature in programming. Unlike Python, a logic text may not immediately throw a runtime error; it may just be malformed.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Terms: object-referring expressions
Make the distinction clear: terms refer to objects; sentences are true or false. King(John) is an atomic sentence because it makes a claim. LeftLeg(John) is a term because it names an object.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Atomic sentences: basic claims
Atoms are simple but powerful. Remind students that truth depends on the model and interpretation. The sentence is not true because it is written; it is true if the appropriate tuple is in the relation.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Complex sentences: connect atoms
Students have already seen connectives in Chapter 7. The new part is that the atoms can now contain terms and variables. Use this slide as a confidence builder before quantifiers.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Universal quantification: ∀
Stress the convention: use implication with universal rules. “For every x, if x is a king, then x is a person.” It does not say every object is a king. It says any object that is a king must also be a person.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Existential quantification: ∃
The answer is no: existential quantification guarantees at least one object. It does not guarantee uniqueness. If the lesson needs uniqueness, add equality/inequality constraints.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Quantifier connective gotcha
This is one of the most important teaching gotchas. An existential implication can be true merely because some object fails the premise. Use a non-student object like a chair: if Chair is not a student, then Student(Chair) ⇒ HasID(Chair) is true.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Nested quantifiers: order matters
This concept often clicks with examples. Use favorite restaurants, passwords, tutors, or parking spaces. The formula order is not notation decoration; it changes the world being described.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Nested quantifier examples
Use this slide to slow down. Ask students to point to where the “choice” of y happens. In ∀x∃y, y can depend on x. In ∃y∀x, y is chosen before x varies.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 scope and shadowing
Students with programming experience know variable scope. Lean on that analogy. In logic, sloppy variable naming can make correct sentences hard to read and wrong sentences hard to debug.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Quantifier negation: De Morgan for ∀ and ∃
This slide is essential for proofs and for reading negated knowledge. The everyday phrasing is easier than the symbols, so do the English first.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Equality and inequality
This prepares database semantics. Students may assume different names automatically mean different objects. Standard FOL does not. Add explicit inequality when distinctness matters.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universe of all FOL models
Use this figure to contrast Chapter 7 truth tables. Propositional model checking enumerates truth assignments. FOL has unbounded domains and interpretations, so brute-force enumeration is not generally available. This is why inference in FOL becomes a deeper topic in Chapter 9.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8.2.8 Database Semantics
The uploaded chapter places database semantics after the summary text, but conceptually it belongs in the syntax/semantics section. Present it here because it directly follows standard FOL semantics and equality.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FOL vs. database thinking
Answer: yes, unless the KB rules it out. This is the open-world assumption. Students who use SQL may expect database behavior by default; clarify that logic systems can choose semantics.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semantics assumptions
Database semantics is convenient but risky when the world is incomplete. For AI agents in messy environments, absence of evidence is not always evidence of absence.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semantics models
Connect the figure to the assumptions. In Figure 8.5, R and J are fixed and distinct. The relation can vary over the four possible ordered pairs. With two objects and one binary relation, there are 2^4 = 16 possible relation extensions.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one correct semantics
This slide reinforces the practical skill. Logic is not only symbol manipulation; it is choosing assumptions that fit the environment and the data.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 Using First-Order Logic
Although the uploaded chapter excerpt emphasizes Wumpus World, family/king examples, and circuits, the core skill is translation: choose vocabulary, write axioms, ask queries.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Translation workflow
Students often translate too literally. Show that “has a crown” can become ∃x Crown(x) ∧ OnHead(x,John), not a predicate HasACrown(John) unless that predicate is useful.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compression in Wumpus World
Answer: in the definitions of Breezy, Pit, and Adjacent. The sentence is compact, but the predicates must still be chosen and defined carefully.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Wumpus smell rule
This connects directly to the knowledge-engineering debug example: if the KB only says Smelly(s) ⇒ Adjacent(Home(Wumpus),s), it may fail to prove absence of Wumpus. Biconditionals matter when reasoning in both directions.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ASKVARS-style questions
Chapter 8 uses ASKVARS in the circuit example. The idea is that a query with variables returns bindings that make the query entailed. This is a precursor to logic programming and database queries.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Objects or predicates?
This is a major conceptual skill. FOL does not force a single ontology. The “right” choice is often the one that supports the intended inferences naturally.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 Knowledge Engineering in FOL
This final section is the engineering side: how to build and debug a KB. Position this as the practical takeaway: good AI reasoning depends on good modeling.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engineering: the big picture
The answers are usually correct relative to the KB as written. If they are surprising, the issue may be missing knowledge, wrong ontology, or weak axioms. This distinction is important for students.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identify the questions
This echoes PEAS from Chapter 2. If the questions are about gate-level functionality, we do not need wire color or physical cost. If questions change, the ontology may need to change.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assemble relevant knowledge
Students may try to include everything. Explain that knowledge engineering is also abstraction. The right abstraction is task-specific.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choose vocabulary / ontology
This is a good place to connect to software design: class names, methods, and relationships. FOL is not object-oriented programming, but the modeling instincts overlap.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encode general knowledge
The circuit domain ignores wire faults and delays. The axiom is reasonable for a simplified functional model but not for diagnosing electrical faults. This is a great abstraction discussion.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Electronic circuit domain
Use the figure to show why FOL is natural: circuits contain parts and connections. The KB can ask questions about function and structure. Students do not need electrical engineering background; it is a clean relational domain.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Circuit ontology
Have students classify each term. Circuit(c), Gate(g), Terminal(t), Connected are predicates. Type, In, Out, Signal are functions. This exercise reinforces syntax.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behavior axioms
Students may be more familiar with truth tables. Explain that FOL can encode truth table behavior generically for every gate of a type, not just for a specific gate.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encode the problem instance
General rules are reusable across circuits. Instance facts describe this particular circuit. This separation is the main benefit of a declarative KB.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pose queries
The answer is 110, 101, 011. Connect this to full-adder behavior: exactly two input bits are 1. The KB can prove this from the structure and gate axioms.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Full-adder truth table check
This slide gives students a concrete target for circuit verification. The KB is not doing arithmetic by magic; it derives signal relationships from the gate structure. Rows with Sum=0 and Carry=1 correspond to exactly two input bits being high: 011, 101, and 110.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debug and evaluate
Use the chapter’s XOR example: if the system cannot infer 1 ≠ 0, it cannot prove XOR outputs for cases where inputs differ. This is a concrete example of a missing axiom.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Debugging weak biconditionals
This is a critical practical gotcha. Students may write only one direction of rules because it is easier. But if the agent needs to prove absence, it may need the reverse direction too.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with a test suite
Good tests include: all-zero input returns zero outputs; XOR output is 1 for 10 and 01; carry is 1 when at least two inputs are high. Tests reveal missing equality, incorrect gate types, or missing connections.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and Next Steps
Close the chapter by showing why FOL is powerful but not the whole story. FOL improves representation but makes inference more complex. Chapter 9 focuses on inference procedures.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of FOL
The chapter summary notes that propositional and first-order logic both struggle with vague propositions. This prepares students for probability and uncertainty later in the course.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for AI agents
Tie back to the course. Search answers “how do I get there?” Logic answers “what is there, what follows, and what can I safely assume?” AI systems often need both.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 review
Use this as the recap before moving to exercises. Ask students to explain the difference between a term and a sentence, then the difference between ∀x∃y and ∃y∀x. If they can do those two things, they have the foundation for Chapter 9 inference.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Suggested answers: ∀c Course(c) ⇒ ∃i Instructor(i,c) if Instructor is a relation; ∃s Student(s) ∧ Enrolled(s, COMP469); the first allows different advisors for different students while the second says one advisor for everyone; database assumptions include unique names, closed world, and domain closure.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These references can be shown at the end or posted in Canvas. Emphasize that AIMA Python is useful for code examples, while CS188 notes are often helpful as alternate explanations. Students should not use them as a substitute for understanding the semantics of models and quantifiers.
Teaching gotcha: Students often memorize symbols but miss the modeling choice. Keep asking: what exists in our world, what names do we give it, and what can the KB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65760"/>
          </a:xfrm>
          <a:prstGeom prst="rect">
            <a:avLst/>
          </a:prstGeom>
          <a:noFill/>
          <a:ln/>
        </p:spPr>
        <p:txBody>
          <a:bodyPr wrap="square" lIns="0" tIns="0" rIns="0" bIns="0" rtlCol="0" anchor="ctr"/>
          <a:lstStyle/>
          <a:p>
            <a:pPr indent="0" marL="0">
              <a:buNone/>
            </a:pPr>
            <a:r>
              <a:rPr lang="en-US" sz="1600" b="1" dirty="0">
                <a:solidFill>
                  <a:srgbClr val="A5F3FC"/>
                </a:solidFill>
              </a:rPr>
              <a:t>COMP 469</a:t>
            </a:r>
            <a:endParaRPr lang="en-US" sz="1600" dirty="0"/>
          </a:p>
        </p:txBody>
      </p:sp>
      <p:sp>
        <p:nvSpPr>
          <p:cNvPr id="3" name="Text 1"/>
          <p:cNvSpPr/>
          <p:nvPr/>
        </p:nvSpPr>
        <p:spPr>
          <a:xfrm>
            <a:off x="685800" y="868680"/>
            <a:ext cx="6126480" cy="320040"/>
          </a:xfrm>
          <a:prstGeom prst="rect">
            <a:avLst/>
          </a:prstGeom>
          <a:noFill/>
          <a:ln/>
        </p:spPr>
        <p:txBody>
          <a:bodyPr wrap="square" lIns="0" tIns="0" rIns="0" bIns="0" rtlCol="0" anchor="ctr"/>
          <a:lstStyle/>
          <a:p>
            <a:pPr indent="0" marL="0">
              <a:buNone/>
            </a:pPr>
            <a:r>
              <a:rPr lang="en-US" sz="1500" dirty="0">
                <a:solidFill>
                  <a:srgbClr val="D9F99D"/>
                </a:solidFill>
              </a:rPr>
              <a:t>Introduction to Artificial Intelligence</a:t>
            </a:r>
            <a:endParaRPr lang="en-US" sz="1500" dirty="0"/>
          </a:p>
        </p:txBody>
      </p:sp>
      <p:sp>
        <p:nvSpPr>
          <p:cNvPr id="4" name="Text 2"/>
          <p:cNvSpPr/>
          <p:nvPr/>
        </p:nvSpPr>
        <p:spPr>
          <a:xfrm>
            <a:off x="685800" y="1828800"/>
            <a:ext cx="3657600" cy="411480"/>
          </a:xfrm>
          <a:prstGeom prst="rect">
            <a:avLst/>
          </a:prstGeom>
          <a:noFill/>
          <a:ln/>
        </p:spPr>
        <p:txBody>
          <a:bodyPr wrap="square" lIns="0" tIns="0" rIns="0" bIns="0" rtlCol="0" anchor="ctr"/>
          <a:lstStyle/>
          <a:p>
            <a:pPr indent="0" marL="0">
              <a:buNone/>
            </a:pPr>
            <a:r>
              <a:rPr lang="en-US" sz="2400" b="1" dirty="0">
                <a:solidFill>
                  <a:srgbClr val="A5F3FC"/>
                </a:solidFill>
              </a:rPr>
              <a:t>Chapter 8</a:t>
            </a:r>
            <a:endParaRPr lang="en-US" sz="2400" dirty="0"/>
          </a:p>
        </p:txBody>
      </p:sp>
      <p:sp>
        <p:nvSpPr>
          <p:cNvPr id="5" name="Text 3"/>
          <p:cNvSpPr/>
          <p:nvPr/>
        </p:nvSpPr>
        <p:spPr>
          <a:xfrm>
            <a:off x="685800" y="2267712"/>
            <a:ext cx="10789920" cy="914400"/>
          </a:xfrm>
          <a:prstGeom prst="rect">
            <a:avLst/>
          </a:prstGeom>
          <a:noFill/>
          <a:ln/>
        </p:spPr>
        <p:txBody>
          <a:bodyPr wrap="square" lIns="0" tIns="0" rIns="0" bIns="0" rtlCol="0" anchor="ctr">
            <a:normAutofit/>
          </a:bodyPr>
          <a:lstStyle/>
          <a:p>
            <a:pPr indent="0" marL="0">
              <a:buNone/>
            </a:pPr>
            <a:r>
              <a:rPr lang="en-US" sz="5400" b="1" dirty="0">
                <a:solidFill>
                  <a:srgbClr val="F4F1DE"/>
                </a:solidFill>
              </a:rPr>
              <a:t>First-Order Logic</a:t>
            </a:r>
            <a:endParaRPr lang="en-US" sz="5400" dirty="0"/>
          </a:p>
        </p:txBody>
      </p:sp>
      <p:sp>
        <p:nvSpPr>
          <p:cNvPr id="6" name="Text 4"/>
          <p:cNvSpPr/>
          <p:nvPr/>
        </p:nvSpPr>
        <p:spPr>
          <a:xfrm>
            <a:off x="713232" y="3310128"/>
            <a:ext cx="10515600" cy="365760"/>
          </a:xfrm>
          <a:prstGeom prst="rect">
            <a:avLst/>
          </a:prstGeom>
          <a:noFill/>
          <a:ln/>
        </p:spPr>
        <p:txBody>
          <a:bodyPr wrap="square" lIns="0" tIns="0" rIns="0" bIns="0" rtlCol="0" anchor="ctr"/>
          <a:lstStyle/>
          <a:p>
            <a:pPr indent="0" marL="0">
              <a:buNone/>
            </a:pPr>
            <a:r>
              <a:rPr lang="en-US" sz="1900" dirty="0">
                <a:solidFill>
                  <a:srgbClr val="E0F2FE"/>
                </a:solidFill>
              </a:rPr>
              <a:t>Objects • Relations • Quantifiers • Knowledge Engineering</a:t>
            </a:r>
            <a:endParaRPr lang="en-US" sz="1900" dirty="0"/>
          </a:p>
        </p:txBody>
      </p:sp>
      <p:sp>
        <p:nvSpPr>
          <p:cNvPr id="7" name="Shape 5"/>
          <p:cNvSpPr/>
          <p:nvPr/>
        </p:nvSpPr>
        <p:spPr>
          <a:xfrm>
            <a:off x="685800" y="3986784"/>
            <a:ext cx="1920240" cy="54864"/>
          </a:xfrm>
          <a:prstGeom prst="rect">
            <a:avLst/>
          </a:prstGeom>
          <a:solidFill>
            <a:srgbClr val="D9F99D"/>
          </a:solidFill>
          <a:ln w="12700">
            <a:solidFill>
              <a:srgbClr val="D9F99D"/>
            </a:solidFill>
            <a:prstDash val="solid"/>
          </a:ln>
        </p:spPr>
      </p:sp>
      <p:sp>
        <p:nvSpPr>
          <p:cNvPr id="8" name="Text 6"/>
          <p:cNvSpPr/>
          <p:nvPr/>
        </p:nvSpPr>
        <p:spPr>
          <a:xfrm>
            <a:off x="713232" y="5897880"/>
            <a:ext cx="6858000" cy="292608"/>
          </a:xfrm>
          <a:prstGeom prst="rect">
            <a:avLst/>
          </a:prstGeom>
          <a:noFill/>
          <a:ln/>
        </p:spPr>
        <p:txBody>
          <a:bodyPr wrap="square" lIns="0" tIns="0" rIns="0" bIns="0" rtlCol="0" anchor="ctr"/>
          <a:lstStyle/>
          <a:p>
            <a:pPr indent="0" marL="0">
              <a:buNone/>
            </a:pPr>
            <a:r>
              <a:rPr lang="en-US" sz="1300" dirty="0">
                <a:solidFill>
                  <a:srgbClr val="C7D2FE"/>
                </a:solidFill>
              </a:rPr>
              <a:t>CSU Channel Islands • University-level AI lecture deck</a:t>
            </a:r>
            <a:endParaRPr lang="en-US" sz="1300" dirty="0"/>
          </a:p>
        </p:txBody>
      </p:sp>
      <p:sp>
        <p:nvSpPr>
          <p:cNvPr id="9" name="Text 7"/>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Course map</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02</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TODAY’S AGENDA</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530352" y="1298448"/>
            <a:ext cx="10972800" cy="310896"/>
          </a:xfrm>
          <a:prstGeom prst="rect">
            <a:avLst/>
          </a:prstGeom>
          <a:noFill/>
          <a:ln/>
        </p:spPr>
        <p:txBody>
          <a:bodyPr wrap="square" lIns="0" tIns="0" rIns="0" bIns="0" rtlCol="0" anchor="ctr"/>
          <a:lstStyle/>
          <a:p>
            <a:pPr indent="0" marL="0">
              <a:buNone/>
            </a:pPr>
            <a:r>
              <a:rPr lang="en-US" sz="1350" dirty="0">
                <a:solidFill>
                  <a:srgbClr val="64748B"/>
                </a:solidFill>
              </a:rPr>
              <a:t>One chapter, one story: from facts to structured knowledge.</a:t>
            </a:r>
            <a:endParaRPr lang="en-US" sz="1350" dirty="0"/>
          </a:p>
        </p:txBody>
      </p:sp>
      <p:sp>
        <p:nvSpPr>
          <p:cNvPr id="9" name="Text 7"/>
          <p:cNvSpPr/>
          <p:nvPr/>
        </p:nvSpPr>
        <p:spPr>
          <a:xfrm>
            <a:off x="731520" y="1700784"/>
            <a:ext cx="5669280" cy="406908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Why propositional logic is not enough</a:t>
            </a:r>
            <a:endParaRPr lang="en-US" sz="1800" dirty="0"/>
          </a:p>
          <a:p>
            <a:r>
              <a:rPr lang="en-US" sz="1800" dirty="0">
                <a:solidFill>
                  <a:srgbClr val="1E293B"/>
                </a:solidFill>
                <a:latin typeface="Aptos" pitchFamily="34" charset="0"/>
                <a:ea typeface="Aptos" pitchFamily="34" charset="-122"/>
                <a:cs typeface="Aptos" pitchFamily="34" charset="-120"/>
              </a:rPr>
              <a:t>What first-order logic adds: objects, relations, functions</a:t>
            </a:r>
            <a:endParaRPr lang="en-US" sz="1800" dirty="0"/>
          </a:p>
          <a:p>
            <a:r>
              <a:rPr lang="en-US" sz="1800" dirty="0">
                <a:solidFill>
                  <a:srgbClr val="1E293B"/>
                </a:solidFill>
                <a:latin typeface="Aptos" pitchFamily="34" charset="0"/>
                <a:ea typeface="Aptos" pitchFamily="34" charset="-122"/>
                <a:cs typeface="Aptos" pitchFamily="34" charset="-120"/>
              </a:rPr>
              <a:t>How quantifiers let us say “all” and “some”</a:t>
            </a:r>
            <a:endParaRPr lang="en-US" sz="1800" dirty="0"/>
          </a:p>
          <a:p>
            <a:r>
              <a:rPr lang="en-US" sz="1800" dirty="0">
                <a:solidFill>
                  <a:srgbClr val="1E293B"/>
                </a:solidFill>
                <a:latin typeface="Aptos" pitchFamily="34" charset="0"/>
                <a:ea typeface="Aptos" pitchFamily="34" charset="-122"/>
                <a:cs typeface="Aptos" pitchFamily="34" charset="-120"/>
              </a:rPr>
              <a:t>How database semantics changes the rules</a:t>
            </a:r>
            <a:endParaRPr lang="en-US" sz="1800" dirty="0"/>
          </a:p>
          <a:p>
            <a:r>
              <a:rPr lang="en-US" sz="1800" dirty="0">
                <a:solidFill>
                  <a:srgbClr val="1E293B"/>
                </a:solidFill>
                <a:latin typeface="Aptos" pitchFamily="34" charset="0"/>
                <a:ea typeface="Aptos" pitchFamily="34" charset="-122"/>
                <a:cs typeface="Aptos" pitchFamily="34" charset="-120"/>
              </a:rPr>
              <a:t>How knowledge engineering builds a useful KB</a:t>
            </a:r>
            <a:endParaRPr lang="en-US" sz="1800" dirty="0"/>
          </a:p>
        </p:txBody>
      </p:sp>
      <p:sp>
        <p:nvSpPr>
          <p:cNvPr id="10" name="Shape 8"/>
          <p:cNvSpPr/>
          <p:nvPr/>
        </p:nvSpPr>
        <p:spPr>
          <a:xfrm>
            <a:off x="6629400" y="1737360"/>
            <a:ext cx="4800600" cy="1417320"/>
          </a:xfrm>
          <a:prstGeom prst="roundRect">
            <a:avLst>
              <a:gd name="adj" fmla="val 5161"/>
            </a:avLst>
          </a:prstGeom>
          <a:solidFill>
            <a:srgbClr val="FFF6D9"/>
          </a:solidFill>
          <a:ln w="12700">
            <a:solidFill>
              <a:srgbClr val="F4A261"/>
            </a:solidFill>
            <a:prstDash val="solid"/>
          </a:ln>
        </p:spPr>
      </p:sp>
      <p:sp>
        <p:nvSpPr>
          <p:cNvPr id="11" name="Text 9"/>
          <p:cNvSpPr/>
          <p:nvPr/>
        </p:nvSpPr>
        <p:spPr>
          <a:xfrm>
            <a:off x="6830568" y="188366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2" name="Text 10"/>
          <p:cNvSpPr/>
          <p:nvPr/>
        </p:nvSpPr>
        <p:spPr>
          <a:xfrm>
            <a:off x="6830568" y="2176272"/>
            <a:ext cx="4398264" cy="85039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Think of this lecture as upgrading from a spreadsheet of isolated cells to a map of people, objects, and relationships.</a:t>
            </a:r>
            <a:endParaRPr lang="en-US" sz="1520" dirty="0"/>
          </a:p>
        </p:txBody>
      </p:sp>
      <p:sp>
        <p:nvSpPr>
          <p:cNvPr id="13" name="Shape 11"/>
          <p:cNvSpPr/>
          <p:nvPr/>
        </p:nvSpPr>
        <p:spPr>
          <a:xfrm>
            <a:off x="6629400" y="3429000"/>
            <a:ext cx="4800600" cy="1005840"/>
          </a:xfrm>
          <a:prstGeom prst="roundRect">
            <a:avLst>
              <a:gd name="adj" fmla="val 7273"/>
            </a:avLst>
          </a:prstGeom>
          <a:solidFill>
            <a:srgbClr val="E6FFFA"/>
          </a:solidFill>
          <a:ln w="12700">
            <a:solidFill>
              <a:srgbClr val="2A9D8F"/>
            </a:solidFill>
            <a:prstDash val="solid"/>
          </a:ln>
        </p:spPr>
      </p:sp>
      <p:sp>
        <p:nvSpPr>
          <p:cNvPr id="14" name="Text 12"/>
          <p:cNvSpPr/>
          <p:nvPr/>
        </p:nvSpPr>
        <p:spPr>
          <a:xfrm>
            <a:off x="6812280" y="355701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5" name="Text 13"/>
          <p:cNvSpPr/>
          <p:nvPr/>
        </p:nvSpPr>
        <p:spPr>
          <a:xfrm>
            <a:off x="6812280" y="3831336"/>
            <a:ext cx="4434840" cy="548640"/>
          </a:xfrm>
          <a:prstGeom prst="rect">
            <a:avLst/>
          </a:prstGeom>
          <a:noFill/>
          <a:ln/>
        </p:spPr>
        <p:txBody>
          <a:bodyPr wrap="square" lIns="0" tIns="0" rIns="0" bIns="0" rtlCol="0" anchor="ctr">
            <a:normAutofit/>
          </a:bodyPr>
          <a:lstStyle/>
          <a:p>
            <a:pPr indent="0" marL="0">
              <a:buNone/>
            </a:pPr>
            <a:r>
              <a:rPr lang="en-US" sz="1400" dirty="0">
                <a:solidFill>
                  <a:srgbClr val="1E293B"/>
                </a:solidFill>
              </a:rPr>
              <a:t>By the end, students should translate English rules into FOL and explain what a model makes true.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03</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BIG IDEA: STRUCTURED REPRESENTATION</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Atomic states hide internal structure</a:t>
            </a:r>
            <a:endParaRPr lang="en-US" sz="1800" dirty="0"/>
          </a:p>
          <a:p>
            <a:r>
              <a:rPr lang="en-US" sz="1800" dirty="0">
                <a:solidFill>
                  <a:srgbClr val="1E293B"/>
                </a:solidFill>
                <a:latin typeface="Aptos" pitchFamily="34" charset="0"/>
                <a:ea typeface="Aptos" pitchFamily="34" charset="-122"/>
                <a:cs typeface="Aptos" pitchFamily="34" charset="-120"/>
              </a:rPr>
              <a:t>Factored states expose variables</a:t>
            </a:r>
            <a:endParaRPr lang="en-US" sz="1800" dirty="0"/>
          </a:p>
          <a:p>
            <a:r>
              <a:rPr lang="en-US" sz="1800" dirty="0">
                <a:solidFill>
                  <a:srgbClr val="1E293B"/>
                </a:solidFill>
                <a:latin typeface="Aptos" pitchFamily="34" charset="0"/>
                <a:ea typeface="Aptos" pitchFamily="34" charset="-122"/>
                <a:cs typeface="Aptos" pitchFamily="34" charset="-120"/>
              </a:rPr>
              <a:t>Structured representations expose objects and relationships</a:t>
            </a:r>
            <a:endParaRPr lang="en-US" sz="1800" dirty="0"/>
          </a:p>
          <a:p>
            <a:r>
              <a:rPr lang="en-US" sz="1800" dirty="0">
                <a:solidFill>
                  <a:srgbClr val="1E293B"/>
                </a:solidFill>
                <a:latin typeface="Aptos" pitchFamily="34" charset="0"/>
                <a:ea typeface="Aptos" pitchFamily="34" charset="-122"/>
                <a:cs typeface="Aptos" pitchFamily="34" charset="-120"/>
              </a:rPr>
              <a:t>FOL lets agents reason about whole classes of things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phone contact list stores names and numbers; a social network stores people and relationships. FOL is closer to the social network.</a:t>
            </a:r>
            <a:endParaRPr lang="en-US" sz="1520" dirty="0"/>
          </a:p>
        </p:txBody>
      </p:sp>
      <p:sp>
        <p:nvSpPr>
          <p:cNvPr id="12" name="Shape 10"/>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3" name="Text 11"/>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4" name="Text 12"/>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Ask: What is easier to represent in FOL than propositional logic: “all safe squares,” or “S2,3 is safe”?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65760"/>
          </a:xfrm>
          <a:prstGeom prst="rect">
            <a:avLst/>
          </a:prstGeom>
          <a:noFill/>
          <a:ln/>
        </p:spPr>
        <p:txBody>
          <a:bodyPr wrap="square" lIns="0" tIns="0" rIns="0" bIns="0" rtlCol="0" anchor="ctr"/>
          <a:lstStyle/>
          <a:p>
            <a:pPr indent="0" marL="0">
              <a:buNone/>
            </a:pPr>
            <a:r>
              <a:rPr lang="en-US" sz="1600" b="1" dirty="0">
                <a:solidFill>
                  <a:srgbClr val="A5F3FC"/>
                </a:solidFill>
              </a:rPr>
              <a:t>COMP 469</a:t>
            </a:r>
            <a:endParaRPr lang="en-US" sz="1600" dirty="0"/>
          </a:p>
        </p:txBody>
      </p:sp>
      <p:sp>
        <p:nvSpPr>
          <p:cNvPr id="3" name="Text 1"/>
          <p:cNvSpPr/>
          <p:nvPr/>
        </p:nvSpPr>
        <p:spPr>
          <a:xfrm>
            <a:off x="685800" y="1920240"/>
            <a:ext cx="10698480" cy="822960"/>
          </a:xfrm>
          <a:prstGeom prst="rect">
            <a:avLst/>
          </a:prstGeom>
          <a:noFill/>
          <a:ln/>
        </p:spPr>
        <p:txBody>
          <a:bodyPr wrap="square" lIns="0" tIns="0" rIns="0" bIns="0" rtlCol="0" anchor="ctr">
            <a:normAutofit/>
          </a:bodyPr>
          <a:lstStyle/>
          <a:p>
            <a:pPr indent="0" marL="0">
              <a:buNone/>
            </a:pPr>
            <a:r>
              <a:rPr lang="en-US" sz="4400" b="1" dirty="0">
                <a:solidFill>
                  <a:srgbClr val="F4F1DE"/>
                </a:solidFill>
              </a:rPr>
              <a:t>8.1 Representation Revisited</a:t>
            </a:r>
            <a:endParaRPr lang="en-US" sz="4400" dirty="0"/>
          </a:p>
        </p:txBody>
      </p:sp>
      <p:sp>
        <p:nvSpPr>
          <p:cNvPr id="4" name="Text 2"/>
          <p:cNvSpPr/>
          <p:nvPr/>
        </p:nvSpPr>
        <p:spPr>
          <a:xfrm>
            <a:off x="713232" y="2880360"/>
            <a:ext cx="9875520" cy="457200"/>
          </a:xfrm>
          <a:prstGeom prst="rect">
            <a:avLst/>
          </a:prstGeom>
          <a:noFill/>
          <a:ln/>
        </p:spPr>
        <p:txBody>
          <a:bodyPr wrap="square" lIns="0" tIns="0" rIns="0" bIns="0" rtlCol="0" anchor="ctr"/>
          <a:lstStyle/>
          <a:p>
            <a:pPr indent="0" marL="0">
              <a:buNone/>
            </a:pPr>
            <a:r>
              <a:rPr lang="en-US" sz="2000" dirty="0">
                <a:solidFill>
                  <a:srgbClr val="D9F99D"/>
                </a:solidFill>
              </a:rPr>
              <a:t>Why representation language matters</a:t>
            </a:r>
            <a:endParaRPr lang="en-US" sz="2000" dirty="0"/>
          </a:p>
        </p:txBody>
      </p:sp>
      <p:sp>
        <p:nvSpPr>
          <p:cNvPr id="5" name="Text 3"/>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05</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PROGRAMMING DATA VS. LOGICAL KNOWLEDGE</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685800" y="1536192"/>
            <a:ext cx="5257800" cy="4297680"/>
          </a:xfrm>
          <a:prstGeom prst="rect">
            <a:avLst/>
          </a:prstGeom>
          <a:noFill/>
          <a:ln/>
        </p:spPr>
        <p:txBody>
          <a:bodyPr wrap="square" lIns="1016" tIns="1016" rIns="1016" bIns="1016" rtlCol="0" anchor="t">
            <a:normAutofit/>
          </a:bodyPr>
          <a:lstStyle/>
          <a:p>
            <a:r>
              <a:rPr lang="en-US" sz="1750" dirty="0">
                <a:solidFill>
                  <a:srgbClr val="1E293B"/>
                </a:solidFill>
                <a:latin typeface="Aptos" pitchFamily="34" charset="0"/>
                <a:ea typeface="Aptos" pitchFamily="34" charset="-122"/>
                <a:cs typeface="Aptos" pitchFamily="34" charset="-120"/>
              </a:rPr>
              <a:t>Data structures can store facts</a:t>
            </a:r>
            <a:endParaRPr lang="en-US" sz="1750" dirty="0"/>
          </a:p>
          <a:p>
            <a:r>
              <a:rPr lang="en-US" sz="1750" dirty="0">
                <a:solidFill>
                  <a:srgbClr val="1E293B"/>
                </a:solidFill>
                <a:latin typeface="Aptos" pitchFamily="34" charset="0"/>
                <a:ea typeface="Aptos" pitchFamily="34" charset="-122"/>
                <a:cs typeface="Aptos" pitchFamily="34" charset="-120"/>
              </a:rPr>
              <a:t>But they do not infer general consequences by themselves</a:t>
            </a:r>
            <a:endParaRPr lang="en-US" sz="1750" dirty="0"/>
          </a:p>
          <a:p>
            <a:r>
              <a:rPr lang="en-US" sz="1750" dirty="0">
                <a:solidFill>
                  <a:srgbClr val="1E293B"/>
                </a:solidFill>
                <a:latin typeface="Aptos" pitchFamily="34" charset="0"/>
                <a:ea typeface="Aptos" pitchFamily="34" charset="-122"/>
                <a:cs typeface="Aptos" pitchFamily="34" charset="-120"/>
              </a:rPr>
              <a:t>Logic separates knowledge from inference</a:t>
            </a:r>
            <a:endParaRPr lang="en-US" sz="1750" dirty="0"/>
          </a:p>
          <a:p>
            <a:r>
              <a:rPr lang="en-US" sz="1750" dirty="0">
                <a:solidFill>
                  <a:srgbClr val="1E293B"/>
                </a:solidFill>
                <a:latin typeface="Aptos" pitchFamily="34" charset="0"/>
                <a:ea typeface="Aptos" pitchFamily="34" charset="-122"/>
                <a:cs typeface="Aptos" pitchFamily="34" charset="-120"/>
              </a:rPr>
              <a:t>This is the declarative advantage</a:t>
            </a:r>
            <a:endParaRPr lang="en-US" sz="1750" dirty="0"/>
          </a:p>
        </p:txBody>
      </p:sp>
      <p:sp>
        <p:nvSpPr>
          <p:cNvPr id="9" name="Shape 7"/>
          <p:cNvSpPr/>
          <p:nvPr/>
        </p:nvSpPr>
        <p:spPr>
          <a:xfrm>
            <a:off x="6318504" y="1563624"/>
            <a:ext cx="5239512" cy="4096512"/>
          </a:xfrm>
          <a:prstGeom prst="roundRect">
            <a:avLst>
              <a:gd name="adj" fmla="val 1563"/>
            </a:avLst>
          </a:prstGeom>
          <a:solidFill>
            <a:srgbClr val="FFFFFF"/>
          </a:solidFill>
          <a:ln w="12700">
            <a:solidFill>
              <a:srgbClr val="CBD5E1"/>
            </a:solidFill>
            <a:prstDash val="solid"/>
          </a:ln>
        </p:spPr>
      </p:sp>
      <p:pic>
        <p:nvPicPr>
          <p:cNvPr id="10" name="Image 0" descr="/mnt/data/ch8_ppt_assets/fig8_1_commitments.png">    </p:cNvPr>
          <p:cNvPicPr>
            <a:picLocks noChangeAspect="1"/>
          </p:cNvPicPr>
          <p:nvPr/>
        </p:nvPicPr>
        <p:blipFill>
          <a:blip r:embed="rId1"/>
          <a:stretch>
            <a:fillRect/>
          </a:stretch>
        </p:blipFill>
        <p:spPr>
          <a:xfrm>
            <a:off x="6355080" y="2858993"/>
            <a:ext cx="5166360" cy="1505773"/>
          </a:xfrm>
          <a:prstGeom prst="rect">
            <a:avLst/>
          </a:prstGeom>
        </p:spPr>
      </p:pic>
      <p:sp>
        <p:nvSpPr>
          <p:cNvPr id="11" name="Text 8"/>
          <p:cNvSpPr/>
          <p:nvPr/>
        </p:nvSpPr>
        <p:spPr>
          <a:xfrm>
            <a:off x="6355080" y="5696712"/>
            <a:ext cx="5166360" cy="320040"/>
          </a:xfrm>
          <a:prstGeom prst="rect">
            <a:avLst/>
          </a:prstGeom>
          <a:noFill/>
          <a:ln/>
        </p:spPr>
        <p:txBody>
          <a:bodyPr wrap="square" lIns="0" tIns="0" rIns="0" bIns="0" rtlCol="0" anchor="ctr">
            <a:normAutofit/>
          </a:bodyPr>
          <a:lstStyle/>
          <a:p>
            <a:pPr indent="0" marL="0">
              <a:buNone/>
            </a:pPr>
            <a:r>
              <a:rPr lang="en-US" sz="1050" i="1" dirty="0">
                <a:solidFill>
                  <a:srgbClr val="64748B"/>
                </a:solidFill>
              </a:rPr>
              <a:t>Figure 8.1 compares commitments of formal languages.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06</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DECLARATIVE VS. PROCEDURAL KNOWLEDGE</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Procedural: “how to compute it”</a:t>
            </a:r>
            <a:endParaRPr lang="en-US" sz="1800" dirty="0"/>
          </a:p>
          <a:p>
            <a:r>
              <a:rPr lang="en-US" sz="1800" dirty="0">
                <a:solidFill>
                  <a:srgbClr val="1E293B"/>
                </a:solidFill>
                <a:latin typeface="Aptos" pitchFamily="34" charset="0"/>
                <a:ea typeface="Aptos" pitchFamily="34" charset="-122"/>
                <a:cs typeface="Aptos" pitchFamily="34" charset="-120"/>
              </a:rPr>
              <a:t>Declarative: “what is true”</a:t>
            </a:r>
            <a:endParaRPr lang="en-US" sz="1800" dirty="0"/>
          </a:p>
          <a:p>
            <a:r>
              <a:rPr lang="en-US" sz="1800" dirty="0">
                <a:solidFill>
                  <a:srgbClr val="1E293B"/>
                </a:solidFill>
                <a:latin typeface="Aptos" pitchFamily="34" charset="0"/>
                <a:ea typeface="Aptos" pitchFamily="34" charset="-122"/>
                <a:cs typeface="Aptos" pitchFamily="34" charset="-120"/>
              </a:rPr>
              <a:t>Inference engine handles consequences</a:t>
            </a:r>
            <a:endParaRPr lang="en-US" sz="1800" dirty="0"/>
          </a:p>
          <a:p>
            <a:r>
              <a:rPr lang="en-US" sz="1800" dirty="0">
                <a:solidFill>
                  <a:srgbClr val="1E293B"/>
                </a:solidFill>
                <a:latin typeface="Aptos" pitchFamily="34" charset="0"/>
                <a:ea typeface="Aptos" pitchFamily="34" charset="-122"/>
                <a:cs typeface="Aptos" pitchFamily="34" charset="-120"/>
              </a:rPr>
              <a:t>Domain knowledge becomes easier to inspect</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recipe tells you how to bake a cake; a nutrition label tells you what is true about ingredients. Logic is more like the label plus rules for reasoning.</a:t>
            </a:r>
            <a:endParaRPr lang="en-US" sz="1520" dirty="0"/>
          </a:p>
        </p:txBody>
      </p:sp>
      <p:sp>
        <p:nvSpPr>
          <p:cNvPr id="12" name="Shape 10"/>
          <p:cNvSpPr/>
          <p:nvPr/>
        </p:nvSpPr>
        <p:spPr>
          <a:xfrm>
            <a:off x="6629400" y="333756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502152"/>
            <a:ext cx="4471416" cy="52120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KB + inference ⇒ new facts</a:t>
            </a:r>
            <a:endParaRPr lang="en-US" sz="17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Which is easier to debug: hidden code logic or explicit domain rules?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07</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PROPOSITIONAL LOGIC: USEFUL BUT VERBOSE</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Each proposition names one fact</a:t>
            </a:r>
            <a:endParaRPr lang="en-US" sz="1800" dirty="0"/>
          </a:p>
          <a:p>
            <a:r>
              <a:rPr lang="en-US" sz="1800" dirty="0">
                <a:solidFill>
                  <a:srgbClr val="1E293B"/>
                </a:solidFill>
                <a:latin typeface="Aptos" pitchFamily="34" charset="0"/>
                <a:ea typeface="Aptos" pitchFamily="34" charset="-122"/>
                <a:cs typeface="Aptos" pitchFamily="34" charset="-120"/>
              </a:rPr>
              <a:t>Good for small fixed worlds</a:t>
            </a:r>
            <a:endParaRPr lang="en-US" sz="1800" dirty="0"/>
          </a:p>
          <a:p>
            <a:r>
              <a:rPr lang="en-US" sz="1800" dirty="0">
                <a:solidFill>
                  <a:srgbClr val="1E293B"/>
                </a:solidFill>
                <a:latin typeface="Aptos" pitchFamily="34" charset="0"/>
                <a:ea typeface="Aptos" pitchFamily="34" charset="-122"/>
                <a:cs typeface="Aptos" pitchFamily="34" charset="-120"/>
              </a:rPr>
              <a:t>Poor at repeated structure</a:t>
            </a:r>
            <a:endParaRPr lang="en-US" sz="1800" dirty="0"/>
          </a:p>
          <a:p>
            <a:r>
              <a:rPr lang="en-US" sz="1800" dirty="0">
                <a:solidFill>
                  <a:srgbClr val="1E293B"/>
                </a:solidFill>
                <a:latin typeface="Aptos" pitchFamily="34" charset="0"/>
                <a:ea typeface="Aptos" pitchFamily="34" charset="-122"/>
                <a:cs typeface="Aptos" pitchFamily="34" charset="-120"/>
              </a:rPr>
              <a:t>Rules must be copied for each square/time/object</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Writing one breeze rule per Wumpus square is like printing a separate syllabus for every student with only the name changed.</a:t>
            </a:r>
            <a:endParaRPr lang="en-US" sz="1520" dirty="0"/>
          </a:p>
        </p:txBody>
      </p:sp>
      <p:sp>
        <p:nvSpPr>
          <p:cNvPr id="12" name="Shape 10"/>
          <p:cNvSpPr/>
          <p:nvPr/>
        </p:nvSpPr>
        <p:spPr>
          <a:xfrm>
            <a:off x="6629400" y="333756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502152"/>
            <a:ext cx="4471416" cy="521208"/>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B₁,₁ ⇔ (P₁,₂ ∨ P₂,₁)</a:t>
            </a:r>
            <a:endParaRPr lang="en-US" sz="16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How many breeze rules for a 100 x 100 grid?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08</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FOL: SAY THE RULE ONCE</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Objects: squares, agents, pits</a:t>
            </a:r>
            <a:endParaRPr lang="en-US" sz="1800" dirty="0"/>
          </a:p>
          <a:p>
            <a:r>
              <a:rPr lang="en-US" sz="1800" dirty="0">
                <a:solidFill>
                  <a:srgbClr val="1E293B"/>
                </a:solidFill>
                <a:latin typeface="Aptos" pitchFamily="34" charset="0"/>
                <a:ea typeface="Aptos" pitchFamily="34" charset="-122"/>
                <a:cs typeface="Aptos" pitchFamily="34" charset="-120"/>
              </a:rPr>
              <a:t>Relations: Adjacent(x,y), Pit(x)</a:t>
            </a:r>
            <a:endParaRPr lang="en-US" sz="1800" dirty="0"/>
          </a:p>
          <a:p>
            <a:r>
              <a:rPr lang="en-US" sz="1800" dirty="0">
                <a:solidFill>
                  <a:srgbClr val="1E293B"/>
                </a:solidFill>
                <a:latin typeface="Aptos" pitchFamily="34" charset="0"/>
                <a:ea typeface="Aptos" pitchFamily="34" charset="-122"/>
                <a:cs typeface="Aptos" pitchFamily="34" charset="-120"/>
              </a:rPr>
              <a:t>Variables: reusable placeholders</a:t>
            </a:r>
            <a:endParaRPr lang="en-US" sz="1800" dirty="0"/>
          </a:p>
          <a:p>
            <a:r>
              <a:rPr lang="en-US" sz="1800" dirty="0">
                <a:solidFill>
                  <a:srgbClr val="1E293B"/>
                </a:solidFill>
                <a:latin typeface="Aptos" pitchFamily="34" charset="0"/>
                <a:ea typeface="Aptos" pitchFamily="34" charset="-122"/>
                <a:cs typeface="Aptos" pitchFamily="34" charset="-120"/>
              </a:rPr>
              <a:t>Quantifiers: all/some objects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Instead of writing individual parking tickets by hand, write a parking rule that applies to every car in the lot.</a:t>
            </a:r>
            <a:endParaRPr lang="en-US" sz="1520" dirty="0"/>
          </a:p>
        </p:txBody>
      </p:sp>
      <p:sp>
        <p:nvSpPr>
          <p:cNvPr id="12" name="Shape 10"/>
          <p:cNvSpPr/>
          <p:nvPr/>
        </p:nvSpPr>
        <p:spPr>
          <a:xfrm>
            <a:off x="6629400" y="3108960"/>
            <a:ext cx="4800600" cy="960120"/>
          </a:xfrm>
          <a:prstGeom prst="roundRect">
            <a:avLst>
              <a:gd name="adj" fmla="val 7619"/>
            </a:avLst>
          </a:prstGeom>
          <a:solidFill>
            <a:srgbClr val="FFFFFF">
              <a:alpha val="92000"/>
            </a:srgbClr>
          </a:solidFill>
          <a:ln w="12700">
            <a:solidFill>
              <a:srgbClr val="007C89"/>
            </a:solidFill>
            <a:prstDash val="solid"/>
          </a:ln>
        </p:spPr>
      </p:sp>
      <p:sp>
        <p:nvSpPr>
          <p:cNvPr id="13" name="Text 11"/>
          <p:cNvSpPr/>
          <p:nvPr/>
        </p:nvSpPr>
        <p:spPr>
          <a:xfrm>
            <a:off x="6793992" y="3273552"/>
            <a:ext cx="4471416" cy="731520"/>
          </a:xfrm>
          <a:prstGeom prst="rect">
            <a:avLst/>
          </a:prstGeom>
          <a:noFill/>
          <a:ln/>
        </p:spPr>
        <p:txBody>
          <a:bodyPr wrap="square" lIns="0" tIns="0" rIns="0" bIns="0" rtlCol="0" anchor="ctr">
            <a:normAutofit/>
          </a:bodyPr>
          <a:lstStyle/>
          <a:p>
            <a:pPr algn="ctr" indent="0" marL="0">
              <a:buNone/>
            </a:pPr>
            <a:r>
              <a:rPr lang="en-US" sz="1500" b="1" dirty="0">
                <a:solidFill>
                  <a:srgbClr val="005088"/>
                </a:solidFill>
                <a:latin typeface="Cambria Math" pitchFamily="34" charset="0"/>
                <a:ea typeface="Cambria Math" pitchFamily="34" charset="-122"/>
                <a:cs typeface="Cambria Math" pitchFamily="34" charset="-120"/>
              </a:rPr>
              <a:t>∀s Breezy(s) ⇔ ∃p(Pit(p) ∧ Adjacent(p,s))</a:t>
            </a:r>
            <a:endParaRPr lang="en-US" sz="15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What does p stand for? A specific pit? Any possible pit?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09</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REPRESENTATION LANGUAGE GOALS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Declarative: facts are stated explicitly</a:t>
            </a:r>
            <a:endParaRPr lang="en-US" sz="1800" dirty="0"/>
          </a:p>
          <a:p>
            <a:r>
              <a:rPr lang="en-US" sz="1800" dirty="0">
                <a:solidFill>
                  <a:srgbClr val="1E293B"/>
                </a:solidFill>
                <a:latin typeface="Aptos" pitchFamily="34" charset="0"/>
                <a:ea typeface="Aptos" pitchFamily="34" charset="-122"/>
                <a:cs typeface="Aptos" pitchFamily="34" charset="-120"/>
              </a:rPr>
              <a:t>Compositional: meaning comes from parts</a:t>
            </a:r>
            <a:endParaRPr lang="en-US" sz="1800" dirty="0"/>
          </a:p>
          <a:p>
            <a:r>
              <a:rPr lang="en-US" sz="1800" dirty="0">
                <a:solidFill>
                  <a:srgbClr val="1E293B"/>
                </a:solidFill>
                <a:latin typeface="Aptos" pitchFamily="34" charset="0"/>
                <a:ea typeface="Aptos" pitchFamily="34" charset="-122"/>
                <a:cs typeface="Aptos" pitchFamily="34" charset="-120"/>
              </a:rPr>
              <a:t>Expressive: can handle partial information</a:t>
            </a:r>
            <a:endParaRPr lang="en-US" sz="1800" dirty="0"/>
          </a:p>
          <a:p>
            <a:r>
              <a:rPr lang="en-US" sz="1800" dirty="0">
                <a:solidFill>
                  <a:srgbClr val="1E293B"/>
                </a:solidFill>
                <a:latin typeface="Aptos" pitchFamily="34" charset="0"/>
                <a:ea typeface="Aptos" pitchFamily="34" charset="-122"/>
                <a:cs typeface="Aptos" pitchFamily="34" charset="-120"/>
              </a:rPr>
              <a:t>Unambiguous: avoids ordinary language confusion</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LEGO bricks are compositional: meaning comes from how pieces combine. FOL sentences work the same way.</a:t>
            </a:r>
            <a:endParaRPr lang="en-US" sz="1520" dirty="0"/>
          </a:p>
        </p:txBody>
      </p:sp>
      <p:sp>
        <p:nvSpPr>
          <p:cNvPr id="12" name="Shape 10"/>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3" name="Text 11"/>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4" name="Text 12"/>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Point to a sentence and ask: which pieces carry meaning?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10</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NATURAL LANGUAGE IS NOT A CLEAN KB</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Very expressive, but context-dependent</a:t>
            </a:r>
            <a:endParaRPr lang="en-US" sz="1800" dirty="0"/>
          </a:p>
          <a:p>
            <a:r>
              <a:rPr lang="en-US" sz="1800" dirty="0">
                <a:solidFill>
                  <a:srgbClr val="1E293B"/>
                </a:solidFill>
                <a:latin typeface="Aptos" pitchFamily="34" charset="0"/>
                <a:ea typeface="Aptos" pitchFamily="34" charset="-122"/>
                <a:cs typeface="Aptos" pitchFamily="34" charset="-120"/>
              </a:rPr>
              <a:t>Ambiguous words break formal reasoning</a:t>
            </a:r>
            <a:endParaRPr lang="en-US" sz="1800" dirty="0"/>
          </a:p>
          <a:p>
            <a:r>
              <a:rPr lang="en-US" sz="1800" dirty="0">
                <a:solidFill>
                  <a:srgbClr val="1E293B"/>
                </a:solidFill>
                <a:latin typeface="Aptos" pitchFamily="34" charset="0"/>
                <a:ea typeface="Aptos" pitchFamily="34" charset="-122"/>
                <a:cs typeface="Aptos" pitchFamily="34" charset="-120"/>
              </a:rPr>
              <a:t>“Look!” means different things in different contexts</a:t>
            </a:r>
            <a:endParaRPr lang="en-US" sz="1800" dirty="0"/>
          </a:p>
          <a:p>
            <a:r>
              <a:rPr lang="en-US" sz="1800" dirty="0">
                <a:solidFill>
                  <a:srgbClr val="1E293B"/>
                </a:solidFill>
                <a:latin typeface="Aptos" pitchFamily="34" charset="0"/>
                <a:ea typeface="Aptos" pitchFamily="34" charset="-122"/>
                <a:cs typeface="Aptos" pitchFamily="34" charset="-120"/>
              </a:rPr>
              <a:t>Formal logic trades flexibility for precision</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text message saying “it’s cold” could mean weather, food, attitude, or a computer lab. A KB needs the intended meaning.</a:t>
            </a:r>
            <a:endParaRPr lang="en-US" sz="1520" dirty="0"/>
          </a:p>
        </p:txBody>
      </p:sp>
      <p:sp>
        <p:nvSpPr>
          <p:cNvPr id="12" name="Shape 10"/>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3" name="Text 11"/>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4" name="Text 12"/>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Ask: What would a robot need to know to interpret “put it over there”?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11</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FIRST-ORDER LOGIC IN ONE SENTENCE</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FOL talks about individual objects</a:t>
            </a:r>
            <a:endParaRPr lang="en-US" sz="1800" dirty="0"/>
          </a:p>
          <a:p>
            <a:r>
              <a:rPr lang="en-US" sz="1800" dirty="0">
                <a:solidFill>
                  <a:srgbClr val="1E293B"/>
                </a:solidFill>
                <a:latin typeface="Aptos" pitchFamily="34" charset="0"/>
                <a:ea typeface="Aptos" pitchFamily="34" charset="-122"/>
                <a:cs typeface="Aptos" pitchFamily="34" charset="-120"/>
              </a:rPr>
              <a:t>It names relationships among objects</a:t>
            </a:r>
            <a:endParaRPr lang="en-US" sz="1800" dirty="0"/>
          </a:p>
          <a:p>
            <a:r>
              <a:rPr lang="en-US" sz="1800" dirty="0">
                <a:solidFill>
                  <a:srgbClr val="1E293B"/>
                </a:solidFill>
                <a:latin typeface="Aptos" pitchFamily="34" charset="0"/>
                <a:ea typeface="Aptos" pitchFamily="34" charset="-122"/>
                <a:cs typeface="Aptos" pitchFamily="34" charset="-120"/>
              </a:rPr>
              <a:t>It uses variables to state general patterns</a:t>
            </a:r>
            <a:endParaRPr lang="en-US" sz="1800" dirty="0"/>
          </a:p>
          <a:p>
            <a:r>
              <a:rPr lang="en-US" sz="1800" dirty="0">
                <a:solidFill>
                  <a:srgbClr val="1E293B"/>
                </a:solidFill>
                <a:latin typeface="Aptos" pitchFamily="34" charset="0"/>
                <a:ea typeface="Aptos" pitchFamily="34" charset="-122"/>
                <a:cs typeface="Aptos" pitchFamily="34" charset="-120"/>
              </a:rPr>
              <a:t>It supports sound, model-based semantics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classroom seating chart names people; FOL also represents who sits next to whom, who teaches whom, and rules about all students.</a:t>
            </a:r>
            <a:endParaRPr lang="en-US" sz="1520" dirty="0"/>
          </a:p>
        </p:txBody>
      </p:sp>
      <p:sp>
        <p:nvSpPr>
          <p:cNvPr id="12" name="Shape 10"/>
          <p:cNvSpPr/>
          <p:nvPr/>
        </p:nvSpPr>
        <p:spPr>
          <a:xfrm>
            <a:off x="6629400" y="333756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502152"/>
            <a:ext cx="4471416" cy="521208"/>
          </a:xfrm>
          <a:prstGeom prst="rect">
            <a:avLst/>
          </a:prstGeom>
          <a:noFill/>
          <a:ln/>
        </p:spPr>
        <p:txBody>
          <a:bodyPr wrap="square" lIns="0" tIns="0" rIns="0" bIns="0" rtlCol="0" anchor="ctr">
            <a:normAutofit/>
          </a:bodyPr>
          <a:lstStyle/>
          <a:p>
            <a:pPr algn="ctr" indent="0" marL="0">
              <a:buNone/>
            </a:pPr>
            <a:r>
              <a:rPr lang="en-US" sz="2000" b="1" dirty="0">
                <a:solidFill>
                  <a:srgbClr val="005088"/>
                </a:solidFill>
                <a:latin typeface="Cambria Math" pitchFamily="34" charset="0"/>
                <a:ea typeface="Cambria Math" pitchFamily="34" charset="-122"/>
                <a:cs typeface="Cambria Math" pitchFamily="34" charset="-120"/>
              </a:rPr>
              <a:t>Objects + Relations + Quantifiers</a:t>
            </a:r>
            <a:endParaRPr lang="en-US" sz="20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Have students name 3 objects and 2 relations in this room.</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65760"/>
          </a:xfrm>
          <a:prstGeom prst="rect">
            <a:avLst/>
          </a:prstGeom>
          <a:noFill/>
          <a:ln/>
        </p:spPr>
        <p:txBody>
          <a:bodyPr wrap="square" lIns="0" tIns="0" rIns="0" bIns="0" rtlCol="0" anchor="ctr"/>
          <a:lstStyle/>
          <a:p>
            <a:pPr indent="0" marL="0">
              <a:buNone/>
            </a:pPr>
            <a:r>
              <a:rPr lang="en-US" sz="1600" b="1" dirty="0">
                <a:solidFill>
                  <a:srgbClr val="A5F3FC"/>
                </a:solidFill>
              </a:rPr>
              <a:t>COMP 469</a:t>
            </a:r>
            <a:endParaRPr lang="en-US" sz="1600" dirty="0"/>
          </a:p>
        </p:txBody>
      </p:sp>
      <p:sp>
        <p:nvSpPr>
          <p:cNvPr id="3" name="Text 1"/>
          <p:cNvSpPr/>
          <p:nvPr/>
        </p:nvSpPr>
        <p:spPr>
          <a:xfrm>
            <a:off x="685800" y="1920240"/>
            <a:ext cx="10698480" cy="822960"/>
          </a:xfrm>
          <a:prstGeom prst="rect">
            <a:avLst/>
          </a:prstGeom>
          <a:noFill/>
          <a:ln/>
        </p:spPr>
        <p:txBody>
          <a:bodyPr wrap="square" lIns="0" tIns="0" rIns="0" bIns="0" rtlCol="0" anchor="ctr">
            <a:normAutofit/>
          </a:bodyPr>
          <a:lstStyle/>
          <a:p>
            <a:pPr indent="0" marL="0">
              <a:buNone/>
            </a:pPr>
            <a:r>
              <a:rPr lang="en-US" sz="4400" b="1" dirty="0">
                <a:solidFill>
                  <a:srgbClr val="F4F1DE"/>
                </a:solidFill>
              </a:rPr>
              <a:t>8.2 Syntax and Semantics of FOL</a:t>
            </a:r>
            <a:endParaRPr lang="en-US" sz="4400" dirty="0"/>
          </a:p>
        </p:txBody>
      </p:sp>
      <p:sp>
        <p:nvSpPr>
          <p:cNvPr id="4" name="Text 2"/>
          <p:cNvSpPr/>
          <p:nvPr/>
        </p:nvSpPr>
        <p:spPr>
          <a:xfrm>
            <a:off x="713232" y="2880360"/>
            <a:ext cx="9875520" cy="457200"/>
          </a:xfrm>
          <a:prstGeom prst="rect">
            <a:avLst/>
          </a:prstGeom>
          <a:noFill/>
          <a:ln/>
        </p:spPr>
        <p:txBody>
          <a:bodyPr wrap="square" lIns="0" tIns="0" rIns="0" bIns="0" rtlCol="0" anchor="ctr"/>
          <a:lstStyle/>
          <a:p>
            <a:pPr indent="0" marL="0">
              <a:buNone/>
            </a:pPr>
            <a:r>
              <a:rPr lang="en-US" sz="2000" dirty="0">
                <a:solidFill>
                  <a:srgbClr val="D9F99D"/>
                </a:solidFill>
              </a:rPr>
              <a:t>How FOL sentences get meaning</a:t>
            </a:r>
            <a:endParaRPr lang="en-US" sz="2000" dirty="0"/>
          </a:p>
        </p:txBody>
      </p:sp>
      <p:sp>
        <p:nvSpPr>
          <p:cNvPr id="5" name="Text 3"/>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13</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SYNTAX VS. SEMANTICS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Syntax: what counts as a legal sentence</a:t>
            </a:r>
            <a:endParaRPr lang="en-US" sz="1800" dirty="0"/>
          </a:p>
          <a:p>
            <a:r>
              <a:rPr lang="en-US" sz="1800" dirty="0">
                <a:solidFill>
                  <a:srgbClr val="1E293B"/>
                </a:solidFill>
                <a:latin typeface="Aptos" pitchFamily="34" charset="0"/>
                <a:ea typeface="Aptos" pitchFamily="34" charset="-122"/>
                <a:cs typeface="Aptos" pitchFamily="34" charset="-120"/>
              </a:rPr>
              <a:t>Semantics: what makes a sentence true</a:t>
            </a:r>
            <a:endParaRPr lang="en-US" sz="1800" dirty="0"/>
          </a:p>
          <a:p>
            <a:r>
              <a:rPr lang="en-US" sz="1800" dirty="0">
                <a:solidFill>
                  <a:srgbClr val="1E293B"/>
                </a:solidFill>
                <a:latin typeface="Aptos" pitchFamily="34" charset="0"/>
                <a:ea typeface="Aptos" pitchFamily="34" charset="-122"/>
                <a:cs typeface="Aptos" pitchFamily="34" charset="-120"/>
              </a:rPr>
              <a:t>Models connect symbols to a world</a:t>
            </a:r>
            <a:endParaRPr lang="en-US" sz="1800" dirty="0"/>
          </a:p>
          <a:p>
            <a:r>
              <a:rPr lang="en-US" sz="1800" dirty="0">
                <a:solidFill>
                  <a:srgbClr val="1E293B"/>
                </a:solidFill>
                <a:latin typeface="Aptos" pitchFamily="34" charset="0"/>
                <a:ea typeface="Aptos" pitchFamily="34" charset="-122"/>
                <a:cs typeface="Aptos" pitchFamily="34" charset="-120"/>
              </a:rPr>
              <a:t>Inference relies on truth across models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Syntax is like grammar rules; semantics is whether the sentence actually describes the room we are in.</a:t>
            </a:r>
            <a:endParaRPr lang="en-US" sz="1520" dirty="0"/>
          </a:p>
        </p:txBody>
      </p:sp>
      <p:sp>
        <p:nvSpPr>
          <p:cNvPr id="12" name="Shape 10"/>
          <p:cNvSpPr/>
          <p:nvPr/>
        </p:nvSpPr>
        <p:spPr>
          <a:xfrm>
            <a:off x="6629400" y="333756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502152"/>
            <a:ext cx="4471416" cy="521208"/>
          </a:xfrm>
          <a:prstGeom prst="rect">
            <a:avLst/>
          </a:prstGeom>
          <a:noFill/>
          <a:ln/>
        </p:spPr>
        <p:txBody>
          <a:bodyPr wrap="square" lIns="0" tIns="0" rIns="0" bIns="0" rtlCol="0" anchor="ctr">
            <a:normAutofit/>
          </a:bodyPr>
          <a:lstStyle/>
          <a:p>
            <a:pPr algn="ctr" indent="0" marL="0">
              <a:buNone/>
            </a:pPr>
            <a:r>
              <a:rPr lang="en-US" sz="1900" b="1" dirty="0">
                <a:solidFill>
                  <a:srgbClr val="005088"/>
                </a:solidFill>
                <a:latin typeface="Cambria Math" pitchFamily="34" charset="0"/>
                <a:ea typeface="Cambria Math" pitchFamily="34" charset="-122"/>
                <a:cs typeface="Cambria Math" pitchFamily="34" charset="-120"/>
              </a:rPr>
              <a:t>model ⟹ truth value</a:t>
            </a:r>
            <a:endParaRPr lang="en-US" sz="19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Can a syntactically valid sentence be false? Yes.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14</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FORMAL LANGUAGE COMMITMENTS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685800" y="1536192"/>
            <a:ext cx="5257800" cy="4297680"/>
          </a:xfrm>
          <a:prstGeom prst="rect">
            <a:avLst/>
          </a:prstGeom>
          <a:noFill/>
          <a:ln/>
        </p:spPr>
        <p:txBody>
          <a:bodyPr wrap="square" lIns="1016" tIns="1016" rIns="1016" bIns="1016" rtlCol="0" anchor="t">
            <a:normAutofit/>
          </a:bodyPr>
          <a:lstStyle/>
          <a:p>
            <a:r>
              <a:rPr lang="en-US" sz="1750" dirty="0">
                <a:solidFill>
                  <a:srgbClr val="1E293B"/>
                </a:solidFill>
                <a:latin typeface="Aptos" pitchFamily="34" charset="0"/>
                <a:ea typeface="Aptos" pitchFamily="34" charset="-122"/>
                <a:cs typeface="Aptos" pitchFamily="34" charset="-120"/>
              </a:rPr>
              <a:t>Languages differ in what they assume exists</a:t>
            </a:r>
            <a:endParaRPr lang="en-US" sz="1750" dirty="0"/>
          </a:p>
          <a:p>
            <a:r>
              <a:rPr lang="en-US" sz="1750" dirty="0">
                <a:solidFill>
                  <a:srgbClr val="1E293B"/>
                </a:solidFill>
                <a:latin typeface="Aptos" pitchFamily="34" charset="0"/>
                <a:ea typeface="Aptos" pitchFamily="34" charset="-122"/>
                <a:cs typeface="Aptos" pitchFamily="34" charset="-120"/>
              </a:rPr>
              <a:t>FOL adds objects and relations to facts</a:t>
            </a:r>
            <a:endParaRPr lang="en-US" sz="1750" dirty="0"/>
          </a:p>
          <a:p>
            <a:r>
              <a:rPr lang="en-US" sz="1750" dirty="0">
                <a:solidFill>
                  <a:srgbClr val="1E293B"/>
                </a:solidFill>
                <a:latin typeface="Aptos" pitchFamily="34" charset="0"/>
                <a:ea typeface="Aptos" pitchFamily="34" charset="-122"/>
                <a:cs typeface="Aptos" pitchFamily="34" charset="-120"/>
              </a:rPr>
              <a:t>Probability adds degrees of belief</a:t>
            </a:r>
            <a:endParaRPr lang="en-US" sz="1750" dirty="0"/>
          </a:p>
          <a:p>
            <a:r>
              <a:rPr lang="en-US" sz="1750" dirty="0">
                <a:solidFill>
                  <a:srgbClr val="1E293B"/>
                </a:solidFill>
                <a:latin typeface="Aptos" pitchFamily="34" charset="0"/>
                <a:ea typeface="Aptos" pitchFamily="34" charset="-122"/>
                <a:cs typeface="Aptos" pitchFamily="34" charset="-120"/>
              </a:rPr>
              <a:t>Fuzzy logic changes truth values</a:t>
            </a:r>
            <a:endParaRPr lang="en-US" sz="1750" dirty="0"/>
          </a:p>
        </p:txBody>
      </p:sp>
      <p:sp>
        <p:nvSpPr>
          <p:cNvPr id="9" name="Shape 7"/>
          <p:cNvSpPr/>
          <p:nvPr/>
        </p:nvSpPr>
        <p:spPr>
          <a:xfrm>
            <a:off x="6318504" y="1563624"/>
            <a:ext cx="5239512" cy="4096512"/>
          </a:xfrm>
          <a:prstGeom prst="roundRect">
            <a:avLst>
              <a:gd name="adj" fmla="val 1563"/>
            </a:avLst>
          </a:prstGeom>
          <a:solidFill>
            <a:srgbClr val="FFFFFF"/>
          </a:solidFill>
          <a:ln w="12700">
            <a:solidFill>
              <a:srgbClr val="CBD5E1"/>
            </a:solidFill>
            <a:prstDash val="solid"/>
          </a:ln>
        </p:spPr>
      </p:sp>
      <p:pic>
        <p:nvPicPr>
          <p:cNvPr id="10" name="Image 0" descr="/mnt/data/ch8_ppt_assets/fig8_1_commitments.png">    </p:cNvPr>
          <p:cNvPicPr>
            <a:picLocks noChangeAspect="1"/>
          </p:cNvPicPr>
          <p:nvPr/>
        </p:nvPicPr>
        <p:blipFill>
          <a:blip r:embed="rId1"/>
          <a:stretch>
            <a:fillRect/>
          </a:stretch>
        </p:blipFill>
        <p:spPr>
          <a:xfrm>
            <a:off x="6355080" y="2858993"/>
            <a:ext cx="5166360" cy="1505773"/>
          </a:xfrm>
          <a:prstGeom prst="rect">
            <a:avLst/>
          </a:prstGeom>
        </p:spPr>
      </p:pic>
      <p:sp>
        <p:nvSpPr>
          <p:cNvPr id="11" name="Text 8"/>
          <p:cNvSpPr/>
          <p:nvPr/>
        </p:nvSpPr>
        <p:spPr>
          <a:xfrm>
            <a:off x="6355080" y="5696712"/>
            <a:ext cx="5166360" cy="320040"/>
          </a:xfrm>
          <a:prstGeom prst="rect">
            <a:avLst/>
          </a:prstGeom>
          <a:noFill/>
          <a:ln/>
        </p:spPr>
        <p:txBody>
          <a:bodyPr wrap="square" lIns="0" tIns="0" rIns="0" bIns="0" rtlCol="0" anchor="ctr">
            <a:normAutofit/>
          </a:bodyPr>
          <a:lstStyle/>
          <a:p>
            <a:pPr indent="0" marL="0">
              <a:buNone/>
            </a:pPr>
            <a:r>
              <a:rPr lang="en-US" sz="1050" i="1" dirty="0">
                <a:solidFill>
                  <a:srgbClr val="64748B"/>
                </a:solidFill>
              </a:rPr>
              <a:t>Figure 8.1: ontological and epistemological commitments.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15</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MODELS FOR FIRST-ORDER LOGIC</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685800" y="1536192"/>
            <a:ext cx="5257800" cy="4297680"/>
          </a:xfrm>
          <a:prstGeom prst="rect">
            <a:avLst/>
          </a:prstGeom>
          <a:noFill/>
          <a:ln/>
        </p:spPr>
        <p:txBody>
          <a:bodyPr wrap="square" lIns="1016" tIns="1016" rIns="1016" bIns="1016" rtlCol="0" anchor="t">
            <a:normAutofit/>
          </a:bodyPr>
          <a:lstStyle/>
          <a:p>
            <a:r>
              <a:rPr lang="en-US" sz="1750" dirty="0">
                <a:solidFill>
                  <a:srgbClr val="1E293B"/>
                </a:solidFill>
                <a:latin typeface="Aptos" pitchFamily="34" charset="0"/>
                <a:ea typeface="Aptos" pitchFamily="34" charset="-122"/>
                <a:cs typeface="Aptos" pitchFamily="34" charset="-120"/>
              </a:rPr>
              <a:t>A model contains objects</a:t>
            </a:r>
            <a:endParaRPr lang="en-US" sz="1750" dirty="0"/>
          </a:p>
          <a:p>
            <a:r>
              <a:rPr lang="en-US" sz="1750" dirty="0">
                <a:solidFill>
                  <a:srgbClr val="1E293B"/>
                </a:solidFill>
                <a:latin typeface="Aptos" pitchFamily="34" charset="0"/>
                <a:ea typeface="Aptos" pitchFamily="34" charset="-122"/>
                <a:cs typeface="Aptos" pitchFamily="34" charset="-120"/>
              </a:rPr>
              <a:t>Relations are sets of tuples</a:t>
            </a:r>
            <a:endParaRPr lang="en-US" sz="1750" dirty="0"/>
          </a:p>
          <a:p>
            <a:r>
              <a:rPr lang="en-US" sz="1750" dirty="0">
                <a:solidFill>
                  <a:srgbClr val="1E293B"/>
                </a:solidFill>
                <a:latin typeface="Aptos" pitchFamily="34" charset="0"/>
                <a:ea typeface="Aptos" pitchFamily="34" charset="-122"/>
                <a:cs typeface="Aptos" pitchFamily="34" charset="-120"/>
              </a:rPr>
              <a:t>Functions map objects to objects</a:t>
            </a:r>
            <a:endParaRPr lang="en-US" sz="1750" dirty="0"/>
          </a:p>
          <a:p>
            <a:r>
              <a:rPr lang="en-US" sz="1750" dirty="0">
                <a:solidFill>
                  <a:srgbClr val="1E293B"/>
                </a:solidFill>
                <a:latin typeface="Aptos" pitchFamily="34" charset="0"/>
                <a:ea typeface="Aptos" pitchFamily="34" charset="-122"/>
                <a:cs typeface="Aptos" pitchFamily="34" charset="-120"/>
              </a:rPr>
              <a:t>Truth depends on the interpretation</a:t>
            </a:r>
            <a:endParaRPr lang="en-US" sz="1750" dirty="0"/>
          </a:p>
        </p:txBody>
      </p:sp>
      <p:sp>
        <p:nvSpPr>
          <p:cNvPr id="9" name="Shape 7"/>
          <p:cNvSpPr/>
          <p:nvPr/>
        </p:nvSpPr>
        <p:spPr>
          <a:xfrm>
            <a:off x="6318504" y="1563624"/>
            <a:ext cx="5239512" cy="4096512"/>
          </a:xfrm>
          <a:prstGeom prst="roundRect">
            <a:avLst>
              <a:gd name="adj" fmla="val 1563"/>
            </a:avLst>
          </a:prstGeom>
          <a:solidFill>
            <a:srgbClr val="FFFFFF"/>
          </a:solidFill>
          <a:ln w="12700">
            <a:solidFill>
              <a:srgbClr val="CBD5E1"/>
            </a:solidFill>
            <a:prstDash val="solid"/>
          </a:ln>
        </p:spPr>
      </p:sp>
      <p:pic>
        <p:nvPicPr>
          <p:cNvPr id="10" name="Image 0" descr="/mnt/data/ch8_ppt_assets/fig8_2_model.png">    </p:cNvPr>
          <p:cNvPicPr>
            <a:picLocks noChangeAspect="1"/>
          </p:cNvPicPr>
          <p:nvPr/>
        </p:nvPicPr>
        <p:blipFill>
          <a:blip r:embed="rId1"/>
          <a:stretch>
            <a:fillRect/>
          </a:stretch>
        </p:blipFill>
        <p:spPr>
          <a:xfrm>
            <a:off x="6355080" y="1795981"/>
            <a:ext cx="5166360" cy="3631798"/>
          </a:xfrm>
          <a:prstGeom prst="rect">
            <a:avLst/>
          </a:prstGeom>
        </p:spPr>
      </p:pic>
      <p:sp>
        <p:nvSpPr>
          <p:cNvPr id="11" name="Text 8"/>
          <p:cNvSpPr/>
          <p:nvPr/>
        </p:nvSpPr>
        <p:spPr>
          <a:xfrm>
            <a:off x="6355080" y="5696712"/>
            <a:ext cx="5166360" cy="320040"/>
          </a:xfrm>
          <a:prstGeom prst="rect">
            <a:avLst/>
          </a:prstGeom>
          <a:noFill/>
          <a:ln/>
        </p:spPr>
        <p:txBody>
          <a:bodyPr wrap="square" lIns="0" tIns="0" rIns="0" bIns="0" rtlCol="0" anchor="ctr">
            <a:normAutofit/>
          </a:bodyPr>
          <a:lstStyle/>
          <a:p>
            <a:pPr indent="0" marL="0">
              <a:buNone/>
            </a:pPr>
            <a:r>
              <a:rPr lang="en-US" sz="1050" i="1" dirty="0">
                <a:solidFill>
                  <a:srgbClr val="64748B"/>
                </a:solidFill>
              </a:rPr>
              <a:t>Figure 8.2: Richard, John, crown, relations, and left-leg function.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16</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DOMAIN: THE UNIVERSE OF OBJECTS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Every FOL model has a nonempty domain</a:t>
            </a:r>
            <a:endParaRPr lang="en-US" sz="1800" dirty="0"/>
          </a:p>
          <a:p>
            <a:r>
              <a:rPr lang="en-US" sz="1800" dirty="0">
                <a:solidFill>
                  <a:srgbClr val="1E293B"/>
                </a:solidFill>
                <a:latin typeface="Aptos" pitchFamily="34" charset="0"/>
                <a:ea typeface="Aptos" pitchFamily="34" charset="-122"/>
                <a:cs typeface="Aptos" pitchFamily="34" charset="-120"/>
              </a:rPr>
              <a:t>Objects may be named or unnamed</a:t>
            </a:r>
            <a:endParaRPr lang="en-US" sz="1800" dirty="0"/>
          </a:p>
          <a:p>
            <a:r>
              <a:rPr lang="en-US" sz="1800" dirty="0">
                <a:solidFill>
                  <a:srgbClr val="1E293B"/>
                </a:solidFill>
                <a:latin typeface="Aptos" pitchFamily="34" charset="0"/>
                <a:ea typeface="Aptos" pitchFamily="34" charset="-122"/>
                <a:cs typeface="Aptos" pitchFamily="34" charset="-120"/>
              </a:rPr>
              <a:t>Objects can have multiple names unless ruled out</a:t>
            </a:r>
            <a:endParaRPr lang="en-US" sz="1800" dirty="0"/>
          </a:p>
          <a:p>
            <a:r>
              <a:rPr lang="en-US" sz="1800" dirty="0">
                <a:solidFill>
                  <a:srgbClr val="1E293B"/>
                </a:solidFill>
                <a:latin typeface="Aptos" pitchFamily="34" charset="0"/>
                <a:ea typeface="Aptos" pitchFamily="34" charset="-122"/>
                <a:cs typeface="Aptos" pitchFamily="34" charset="-120"/>
              </a:rPr>
              <a:t>The KB restricts which models are possible</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The domain is the cast list of a play. Not every character must have a speaking role or a name.</a:t>
            </a:r>
            <a:endParaRPr lang="en-US" sz="1520" dirty="0"/>
          </a:p>
        </p:txBody>
      </p:sp>
      <p:sp>
        <p:nvSpPr>
          <p:cNvPr id="12" name="Shape 10"/>
          <p:cNvSpPr/>
          <p:nvPr/>
        </p:nvSpPr>
        <p:spPr>
          <a:xfrm>
            <a:off x="6629400" y="324612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410712"/>
            <a:ext cx="4471416" cy="521208"/>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Domain = {objects in the possible world}</a:t>
            </a:r>
            <a:endParaRPr lang="en-US" sz="16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Can an object exist in a model without a constant symbol naming it?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17</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RELATIONS AS TUPLES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Unary relations are properties: Person(x)</a:t>
            </a:r>
            <a:endParaRPr lang="en-US" sz="1800" dirty="0"/>
          </a:p>
          <a:p>
            <a:r>
              <a:rPr lang="en-US" sz="1800" dirty="0">
                <a:solidFill>
                  <a:srgbClr val="1E293B"/>
                </a:solidFill>
                <a:latin typeface="Aptos" pitchFamily="34" charset="0"/>
                <a:ea typeface="Aptos" pitchFamily="34" charset="-122"/>
                <a:cs typeface="Aptos" pitchFamily="34" charset="-120"/>
              </a:rPr>
              <a:t>Binary relations connect pairs: Brother(x,y)</a:t>
            </a:r>
            <a:endParaRPr lang="en-US" sz="1800" dirty="0"/>
          </a:p>
          <a:p>
            <a:r>
              <a:rPr lang="en-US" sz="1800" dirty="0">
                <a:solidFill>
                  <a:srgbClr val="1E293B"/>
                </a:solidFill>
                <a:latin typeface="Aptos" pitchFamily="34" charset="0"/>
                <a:ea typeface="Aptos" pitchFamily="34" charset="-122"/>
                <a:cs typeface="Aptos" pitchFamily="34" charset="-120"/>
              </a:rPr>
              <a:t>Higher-arity relations connect ordered tuples</a:t>
            </a:r>
            <a:endParaRPr lang="en-US" sz="1800" dirty="0"/>
          </a:p>
          <a:p>
            <a:r>
              <a:rPr lang="en-US" sz="1800" dirty="0">
                <a:solidFill>
                  <a:srgbClr val="1E293B"/>
                </a:solidFill>
                <a:latin typeface="Aptos" pitchFamily="34" charset="0"/>
                <a:ea typeface="Aptos" pitchFamily="34" charset="-122"/>
                <a:cs typeface="Aptos" pitchFamily="34" charset="-120"/>
              </a:rPr>
              <a:t>A relation is true for selected tuples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class roster is a unary relation: Student(x). A group project table is a relation among several people.</a:t>
            </a:r>
            <a:endParaRPr lang="en-US" sz="1520" dirty="0"/>
          </a:p>
        </p:txBody>
      </p:sp>
      <p:sp>
        <p:nvSpPr>
          <p:cNvPr id="12" name="Shape 10"/>
          <p:cNvSpPr/>
          <p:nvPr/>
        </p:nvSpPr>
        <p:spPr>
          <a:xfrm>
            <a:off x="6629400" y="3154680"/>
            <a:ext cx="4800600" cy="914400"/>
          </a:xfrm>
          <a:prstGeom prst="roundRect">
            <a:avLst>
              <a:gd name="adj" fmla="val 8000"/>
            </a:avLst>
          </a:prstGeom>
          <a:solidFill>
            <a:srgbClr val="FFFFFF">
              <a:alpha val="92000"/>
            </a:srgbClr>
          </a:solidFill>
          <a:ln w="12700">
            <a:solidFill>
              <a:srgbClr val="007C89"/>
            </a:solidFill>
            <a:prstDash val="solid"/>
          </a:ln>
        </p:spPr>
      </p:sp>
      <p:sp>
        <p:nvSpPr>
          <p:cNvPr id="13" name="Text 11"/>
          <p:cNvSpPr/>
          <p:nvPr/>
        </p:nvSpPr>
        <p:spPr>
          <a:xfrm>
            <a:off x="6793992" y="3319272"/>
            <a:ext cx="4471416" cy="685800"/>
          </a:xfrm>
          <a:prstGeom prst="rect">
            <a:avLst/>
          </a:prstGeom>
          <a:noFill/>
          <a:ln/>
        </p:spPr>
        <p:txBody>
          <a:bodyPr wrap="square" lIns="0" tIns="0" rIns="0" bIns="0" rtlCol="0" anchor="ctr">
            <a:normAutofit/>
          </a:bodyPr>
          <a:lstStyle/>
          <a:p>
            <a:pPr algn="ctr" indent="0" marL="0">
              <a:buNone/>
            </a:pPr>
            <a:r>
              <a:rPr lang="en-US" sz="1500" b="1" dirty="0">
                <a:solidFill>
                  <a:srgbClr val="005088"/>
                </a:solidFill>
                <a:latin typeface="Cambria Math" pitchFamily="34" charset="0"/>
                <a:ea typeface="Cambria Math" pitchFamily="34" charset="-122"/>
                <a:cs typeface="Cambria Math" pitchFamily="34" charset="-120"/>
              </a:rPr>
              <a:t>Brother = {〈Richard, John〉, 〈John, Richard〉}</a:t>
            </a:r>
            <a:endParaRPr lang="en-US" sz="15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Why does order matter in Brother(x,y) less than in Parent(x,y)?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18</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FUNCTIONS AS UNIQUE MAPPINGS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A function returns exactly one object for each input tuple</a:t>
            </a:r>
            <a:endParaRPr lang="en-US" sz="1800" dirty="0"/>
          </a:p>
          <a:p>
            <a:r>
              <a:rPr lang="en-US" sz="1800" dirty="0">
                <a:solidFill>
                  <a:srgbClr val="1E293B"/>
                </a:solidFill>
                <a:latin typeface="Aptos" pitchFamily="34" charset="0"/>
                <a:ea typeface="Aptos" pitchFamily="34" charset="-122"/>
                <a:cs typeface="Aptos" pitchFamily="34" charset="-120"/>
              </a:rPr>
              <a:t>Example: LeftLeg(John)</a:t>
            </a:r>
            <a:endParaRPr lang="en-US" sz="1800" dirty="0"/>
          </a:p>
          <a:p>
            <a:r>
              <a:rPr lang="en-US" sz="1800" dirty="0">
                <a:solidFill>
                  <a:srgbClr val="1E293B"/>
                </a:solidFill>
                <a:latin typeface="Aptos" pitchFamily="34" charset="0"/>
                <a:ea typeface="Aptos" pitchFamily="34" charset="-122"/>
                <a:cs typeface="Aptos" pitchFamily="34" charset="-120"/>
              </a:rPr>
              <a:t>In FOL, functions are total</a:t>
            </a:r>
            <a:endParaRPr lang="en-US" sz="1800" dirty="0"/>
          </a:p>
          <a:p>
            <a:r>
              <a:rPr lang="en-US" sz="1800" dirty="0">
                <a:solidFill>
                  <a:srgbClr val="1E293B"/>
                </a:solidFill>
                <a:latin typeface="Aptos" pitchFamily="34" charset="0"/>
                <a:ea typeface="Aptos" pitchFamily="34" charset="-122"/>
                <a:cs typeface="Aptos" pitchFamily="34" charset="-120"/>
              </a:rPr>
              <a:t>Function terms are names, not subroutines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student ID function maps each student to one ID number. It is not a program call; it is a naming relationship.</a:t>
            </a:r>
            <a:endParaRPr lang="en-US" sz="1520" dirty="0"/>
          </a:p>
        </p:txBody>
      </p:sp>
      <p:sp>
        <p:nvSpPr>
          <p:cNvPr id="12" name="Shape 10"/>
          <p:cNvSpPr/>
          <p:nvPr/>
        </p:nvSpPr>
        <p:spPr>
          <a:xfrm>
            <a:off x="6629400" y="320040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364992"/>
            <a:ext cx="4471416" cy="52120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LeftLeg(John) refers to one object</a:t>
            </a:r>
            <a:endParaRPr lang="en-US" sz="17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Gotcha: What does LeftLeg(Crown) mean under total-function semantics?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19</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INTERPRETATIONS: SYMBOLS NEED MEANING</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Constants map to objects</a:t>
            </a:r>
            <a:endParaRPr lang="en-US" sz="1800" dirty="0"/>
          </a:p>
          <a:p>
            <a:r>
              <a:rPr lang="en-US" sz="1800" dirty="0">
                <a:solidFill>
                  <a:srgbClr val="1E293B"/>
                </a:solidFill>
                <a:latin typeface="Aptos" pitchFamily="34" charset="0"/>
                <a:ea typeface="Aptos" pitchFamily="34" charset="-122"/>
                <a:cs typeface="Aptos" pitchFamily="34" charset="-120"/>
              </a:rPr>
              <a:t>Predicates map to relations</a:t>
            </a:r>
            <a:endParaRPr lang="en-US" sz="1800" dirty="0"/>
          </a:p>
          <a:p>
            <a:r>
              <a:rPr lang="en-US" sz="1800" dirty="0">
                <a:solidFill>
                  <a:srgbClr val="1E293B"/>
                </a:solidFill>
                <a:latin typeface="Aptos" pitchFamily="34" charset="0"/>
                <a:ea typeface="Aptos" pitchFamily="34" charset="-122"/>
                <a:cs typeface="Aptos" pitchFamily="34" charset="-120"/>
              </a:rPr>
              <a:t>Functions map to functions</a:t>
            </a:r>
            <a:endParaRPr lang="en-US" sz="1800" dirty="0"/>
          </a:p>
          <a:p>
            <a:r>
              <a:rPr lang="en-US" sz="1800" dirty="0">
                <a:solidFill>
                  <a:srgbClr val="1E293B"/>
                </a:solidFill>
                <a:latin typeface="Aptos" pitchFamily="34" charset="0"/>
                <a:ea typeface="Aptos" pitchFamily="34" charset="-122"/>
                <a:cs typeface="Aptos" pitchFamily="34" charset="-120"/>
              </a:rPr>
              <a:t>Different interpretations can make different sentences true</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label on a moving box is only useful if everyone agrees which box it points to.</a:t>
            </a:r>
            <a:endParaRPr lang="en-US" sz="1520" dirty="0"/>
          </a:p>
        </p:txBody>
      </p:sp>
      <p:sp>
        <p:nvSpPr>
          <p:cNvPr id="12" name="Shape 10"/>
          <p:cNvSpPr/>
          <p:nvPr/>
        </p:nvSpPr>
        <p:spPr>
          <a:xfrm>
            <a:off x="6629400" y="324612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410712"/>
            <a:ext cx="4471416" cy="52120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John ↦ King John</a:t>
            </a:r>
            <a:endParaRPr lang="en-US" sz="18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If John and Richard both point to the crown, is that allowed in standard FOL?</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20</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FOL SYNTAX: THE GRAMMAR OF SENTENCES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685800" y="1536192"/>
            <a:ext cx="5257800" cy="4297680"/>
          </a:xfrm>
          <a:prstGeom prst="rect">
            <a:avLst/>
          </a:prstGeom>
          <a:noFill/>
          <a:ln/>
        </p:spPr>
        <p:txBody>
          <a:bodyPr wrap="square" lIns="1016" tIns="1016" rIns="1016" bIns="1016" rtlCol="0" anchor="t">
            <a:normAutofit/>
          </a:bodyPr>
          <a:lstStyle/>
          <a:p>
            <a:r>
              <a:rPr lang="en-US" sz="1750" dirty="0">
                <a:solidFill>
                  <a:srgbClr val="1E293B"/>
                </a:solidFill>
                <a:latin typeface="Aptos" pitchFamily="34" charset="0"/>
                <a:ea typeface="Aptos" pitchFamily="34" charset="-122"/>
                <a:cs typeface="Aptos" pitchFamily="34" charset="-120"/>
              </a:rPr>
              <a:t>Sentences can be atomic or complex</a:t>
            </a:r>
            <a:endParaRPr lang="en-US" sz="1750" dirty="0"/>
          </a:p>
          <a:p>
            <a:r>
              <a:rPr lang="en-US" sz="1750" dirty="0">
                <a:solidFill>
                  <a:srgbClr val="1E293B"/>
                </a:solidFill>
                <a:latin typeface="Aptos" pitchFamily="34" charset="0"/>
                <a:ea typeface="Aptos" pitchFamily="34" charset="-122"/>
                <a:cs typeface="Aptos" pitchFamily="34" charset="-120"/>
              </a:rPr>
              <a:t>Terms refer to objects</a:t>
            </a:r>
            <a:endParaRPr lang="en-US" sz="1750" dirty="0"/>
          </a:p>
          <a:p>
            <a:r>
              <a:rPr lang="en-US" sz="1750" dirty="0">
                <a:solidFill>
                  <a:srgbClr val="1E293B"/>
                </a:solidFill>
                <a:latin typeface="Aptos" pitchFamily="34" charset="0"/>
                <a:ea typeface="Aptos" pitchFamily="34" charset="-122"/>
                <a:cs typeface="Aptos" pitchFamily="34" charset="-120"/>
              </a:rPr>
              <a:t>Predicates make claims about terms</a:t>
            </a:r>
            <a:endParaRPr lang="en-US" sz="1750" dirty="0"/>
          </a:p>
          <a:p>
            <a:r>
              <a:rPr lang="en-US" sz="1750" dirty="0">
                <a:solidFill>
                  <a:srgbClr val="1E293B"/>
                </a:solidFill>
                <a:latin typeface="Aptos" pitchFamily="34" charset="0"/>
                <a:ea typeface="Aptos" pitchFamily="34" charset="-122"/>
                <a:cs typeface="Aptos" pitchFamily="34" charset="-120"/>
              </a:rPr>
              <a:t>Quantifiers bind variables</a:t>
            </a:r>
            <a:endParaRPr lang="en-US" sz="1750" dirty="0"/>
          </a:p>
        </p:txBody>
      </p:sp>
      <p:sp>
        <p:nvSpPr>
          <p:cNvPr id="9" name="Shape 7"/>
          <p:cNvSpPr/>
          <p:nvPr/>
        </p:nvSpPr>
        <p:spPr>
          <a:xfrm>
            <a:off x="6318504" y="1563624"/>
            <a:ext cx="5239512" cy="4096512"/>
          </a:xfrm>
          <a:prstGeom prst="roundRect">
            <a:avLst>
              <a:gd name="adj" fmla="val 1563"/>
            </a:avLst>
          </a:prstGeom>
          <a:solidFill>
            <a:srgbClr val="FFFFFF"/>
          </a:solidFill>
          <a:ln w="12700">
            <a:solidFill>
              <a:srgbClr val="CBD5E1"/>
            </a:solidFill>
            <a:prstDash val="solid"/>
          </a:ln>
        </p:spPr>
      </p:sp>
      <p:pic>
        <p:nvPicPr>
          <p:cNvPr id="10" name="Image 0" descr="/mnt/data/ch8_ppt_assets/fig8_3_syntax.png">    </p:cNvPr>
          <p:cNvPicPr>
            <a:picLocks noChangeAspect="1"/>
          </p:cNvPicPr>
          <p:nvPr/>
        </p:nvPicPr>
        <p:blipFill>
          <a:blip r:embed="rId1"/>
          <a:stretch>
            <a:fillRect/>
          </a:stretch>
        </p:blipFill>
        <p:spPr>
          <a:xfrm>
            <a:off x="6516793" y="1600200"/>
            <a:ext cx="4842933" cy="4023360"/>
          </a:xfrm>
          <a:prstGeom prst="rect">
            <a:avLst/>
          </a:prstGeom>
        </p:spPr>
      </p:pic>
      <p:sp>
        <p:nvSpPr>
          <p:cNvPr id="11" name="Text 8"/>
          <p:cNvSpPr/>
          <p:nvPr/>
        </p:nvSpPr>
        <p:spPr>
          <a:xfrm>
            <a:off x="6355080" y="5696712"/>
            <a:ext cx="5166360" cy="320040"/>
          </a:xfrm>
          <a:prstGeom prst="rect">
            <a:avLst/>
          </a:prstGeom>
          <a:noFill/>
          <a:ln/>
        </p:spPr>
        <p:txBody>
          <a:bodyPr wrap="square" lIns="0" tIns="0" rIns="0" bIns="0" rtlCol="0" anchor="ctr">
            <a:normAutofit/>
          </a:bodyPr>
          <a:lstStyle/>
          <a:p>
            <a:pPr indent="0" marL="0">
              <a:buNone/>
            </a:pPr>
            <a:r>
              <a:rPr lang="en-US" sz="1050" i="1" dirty="0">
                <a:solidFill>
                  <a:srgbClr val="64748B"/>
                </a:solidFill>
              </a:rPr>
              <a:t>Figure 8.3: Backus–Naur grammar for FOL.</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21</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CONSTANTS, VARIABLES, PREDICATES, FUNCTIONS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Constants: Richard, John, C₁</a:t>
            </a:r>
            <a:endParaRPr lang="en-US" sz="1800" dirty="0"/>
          </a:p>
          <a:p>
            <a:r>
              <a:rPr lang="en-US" sz="1800" dirty="0">
                <a:solidFill>
                  <a:srgbClr val="1E293B"/>
                </a:solidFill>
                <a:latin typeface="Aptos" pitchFamily="34" charset="0"/>
                <a:ea typeface="Aptos" pitchFamily="34" charset="-122"/>
                <a:cs typeface="Aptos" pitchFamily="34" charset="-120"/>
              </a:rPr>
              <a:t>Variables: x, y, s, t</a:t>
            </a:r>
            <a:endParaRPr lang="en-US" sz="1800" dirty="0"/>
          </a:p>
          <a:p>
            <a:r>
              <a:rPr lang="en-US" sz="1800" dirty="0">
                <a:solidFill>
                  <a:srgbClr val="1E293B"/>
                </a:solidFill>
                <a:latin typeface="Aptos" pitchFamily="34" charset="0"/>
                <a:ea typeface="Aptos" pitchFamily="34" charset="-122"/>
                <a:cs typeface="Aptos" pitchFamily="34" charset="-120"/>
              </a:rPr>
              <a:t>Predicates: King(x), Gate(g)</a:t>
            </a:r>
            <a:endParaRPr lang="en-US" sz="1800" dirty="0"/>
          </a:p>
          <a:p>
            <a:r>
              <a:rPr lang="en-US" sz="1800" dirty="0">
                <a:solidFill>
                  <a:srgbClr val="1E293B"/>
                </a:solidFill>
                <a:latin typeface="Aptos" pitchFamily="34" charset="0"/>
                <a:ea typeface="Aptos" pitchFamily="34" charset="-122"/>
                <a:cs typeface="Aptos" pitchFamily="34" charset="-120"/>
              </a:rPr>
              <a:t>Functions: LeftLeg(x), In(1,C₁)</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Constants are named people on a guest list; variables are blank lines; predicates are claims; functions are unique references.</a:t>
            </a:r>
            <a:endParaRPr lang="en-US" sz="1520" dirty="0"/>
          </a:p>
        </p:txBody>
      </p:sp>
      <p:sp>
        <p:nvSpPr>
          <p:cNvPr id="12" name="Shape 10"/>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3" name="Text 11"/>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4" name="Text 12"/>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Which symbol type is Student(x)? Which type is Mother(x)?</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22</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ARITY: HOW MANY ARGUMENTS?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Predicate and function symbols have arity</a:t>
            </a:r>
            <a:endParaRPr lang="en-US" sz="1800" dirty="0"/>
          </a:p>
          <a:p>
            <a:r>
              <a:rPr lang="en-US" sz="1800" dirty="0">
                <a:solidFill>
                  <a:srgbClr val="1E293B"/>
                </a:solidFill>
                <a:latin typeface="Aptos" pitchFamily="34" charset="0"/>
                <a:ea typeface="Aptos" pitchFamily="34" charset="-122"/>
                <a:cs typeface="Aptos" pitchFamily="34" charset="-120"/>
              </a:rPr>
              <a:t>Person(x) has arity 1</a:t>
            </a:r>
            <a:endParaRPr lang="en-US" sz="1800" dirty="0"/>
          </a:p>
          <a:p>
            <a:r>
              <a:rPr lang="en-US" sz="1800" dirty="0">
                <a:solidFill>
                  <a:srgbClr val="1E293B"/>
                </a:solidFill>
                <a:latin typeface="Aptos" pitchFamily="34" charset="0"/>
                <a:ea typeface="Aptos" pitchFamily="34" charset="-122"/>
                <a:cs typeface="Aptos" pitchFamily="34" charset="-120"/>
              </a:rPr>
              <a:t>Brother(x,y) has arity 2</a:t>
            </a:r>
            <a:endParaRPr lang="en-US" sz="1800" dirty="0"/>
          </a:p>
          <a:p>
            <a:r>
              <a:rPr lang="en-US" sz="1800" dirty="0">
                <a:solidFill>
                  <a:srgbClr val="1E293B"/>
                </a:solidFill>
                <a:latin typeface="Aptos" pitchFamily="34" charset="0"/>
                <a:ea typeface="Aptos" pitchFamily="34" charset="-122"/>
                <a:cs typeface="Aptos" pitchFamily="34" charset="-120"/>
              </a:rPr>
              <a:t>Connected(t₁,t₂) has arity 2</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Arity is like the number of seats at a table. A two-seat predicate expects exactly two objects.</a:t>
            </a:r>
            <a:endParaRPr lang="en-US" sz="1520" dirty="0"/>
          </a:p>
        </p:txBody>
      </p:sp>
      <p:sp>
        <p:nvSpPr>
          <p:cNvPr id="12" name="Shape 10"/>
          <p:cNvSpPr/>
          <p:nvPr/>
        </p:nvSpPr>
        <p:spPr>
          <a:xfrm>
            <a:off x="6629400" y="3108960"/>
            <a:ext cx="4800600" cy="914400"/>
          </a:xfrm>
          <a:prstGeom prst="roundRect">
            <a:avLst>
              <a:gd name="adj" fmla="val 8000"/>
            </a:avLst>
          </a:prstGeom>
          <a:solidFill>
            <a:srgbClr val="FFFFFF">
              <a:alpha val="92000"/>
            </a:srgbClr>
          </a:solidFill>
          <a:ln w="12700">
            <a:solidFill>
              <a:srgbClr val="007C89"/>
            </a:solidFill>
            <a:prstDash val="solid"/>
          </a:ln>
        </p:spPr>
      </p:sp>
      <p:sp>
        <p:nvSpPr>
          <p:cNvPr id="13" name="Text 11"/>
          <p:cNvSpPr/>
          <p:nvPr/>
        </p:nvSpPr>
        <p:spPr>
          <a:xfrm>
            <a:off x="6793992" y="3273552"/>
            <a:ext cx="4471416" cy="685800"/>
          </a:xfrm>
          <a:prstGeom prst="rect">
            <a:avLst/>
          </a:prstGeom>
          <a:noFill/>
          <a:ln/>
        </p:spPr>
        <p:txBody>
          <a:bodyPr wrap="square" lIns="0" tIns="0" rIns="0" bIns="0" rtlCol="0" anchor="ctr">
            <a:normAutofit/>
          </a:bodyPr>
          <a:lstStyle/>
          <a:p>
            <a:pPr algn="ctr" indent="0" marL="0">
              <a:buNone/>
            </a:pPr>
            <a:r>
              <a:rPr lang="en-US" sz="1500" b="1" dirty="0">
                <a:solidFill>
                  <a:srgbClr val="005088"/>
                </a:solidFill>
                <a:latin typeface="Cambria Math" pitchFamily="34" charset="0"/>
                <a:ea typeface="Cambria Math" pitchFamily="34" charset="-122"/>
                <a:cs typeface="Cambria Math" pitchFamily="34" charset="-120"/>
              </a:rPr>
              <a:t>Connected(Out(1,X₁), In(1,X₂))</a:t>
            </a:r>
            <a:endParaRPr lang="en-US" sz="15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What goes wrong with Brother(Richard)?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23</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TERMS: OBJECT-REFERRING EXPRESSIONS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Constants are terms</a:t>
            </a:r>
            <a:endParaRPr lang="en-US" sz="1800" dirty="0"/>
          </a:p>
          <a:p>
            <a:r>
              <a:rPr lang="en-US" sz="1800" dirty="0">
                <a:solidFill>
                  <a:srgbClr val="1E293B"/>
                </a:solidFill>
                <a:latin typeface="Aptos" pitchFamily="34" charset="0"/>
                <a:ea typeface="Aptos" pitchFamily="34" charset="-122"/>
                <a:cs typeface="Aptos" pitchFamily="34" charset="-120"/>
              </a:rPr>
              <a:t>Variables are terms</a:t>
            </a:r>
            <a:endParaRPr lang="en-US" sz="1800" dirty="0"/>
          </a:p>
          <a:p>
            <a:r>
              <a:rPr lang="en-US" sz="1800" dirty="0">
                <a:solidFill>
                  <a:srgbClr val="1E293B"/>
                </a:solidFill>
                <a:latin typeface="Aptos" pitchFamily="34" charset="0"/>
                <a:ea typeface="Aptos" pitchFamily="34" charset="-122"/>
                <a:cs typeface="Aptos" pitchFamily="34" charset="-120"/>
              </a:rPr>
              <a:t>Function applied to terms is a term</a:t>
            </a:r>
            <a:endParaRPr lang="en-US" sz="1800" dirty="0"/>
          </a:p>
          <a:p>
            <a:r>
              <a:rPr lang="en-US" sz="1800" dirty="0">
                <a:solidFill>
                  <a:srgbClr val="1E293B"/>
                </a:solidFill>
                <a:latin typeface="Aptos" pitchFamily="34" charset="0"/>
                <a:ea typeface="Aptos" pitchFamily="34" charset="-122"/>
                <a:cs typeface="Aptos" pitchFamily="34" charset="-120"/>
              </a:rPr>
              <a:t>A ground term has no variables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“The instructor of COMP 469” is a complex name. It refers to an object without using that object’s personal name.</a:t>
            </a:r>
            <a:endParaRPr lang="en-US" sz="1520" dirty="0"/>
          </a:p>
        </p:txBody>
      </p:sp>
      <p:sp>
        <p:nvSpPr>
          <p:cNvPr id="12" name="Shape 10"/>
          <p:cNvSpPr/>
          <p:nvPr/>
        </p:nvSpPr>
        <p:spPr>
          <a:xfrm>
            <a:off x="6629400" y="320040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364992"/>
            <a:ext cx="4471416" cy="521208"/>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LeftLeg(John), Mother(John), In(1,C₁)</a:t>
            </a:r>
            <a:endParaRPr lang="en-US" sz="155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Is King(John) a term or a sentence?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24</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ATOMIC SENTENCES: BASIC CLAIMS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An atom applies a predicate to terms</a:t>
            </a:r>
            <a:endParaRPr lang="en-US" sz="1800" dirty="0"/>
          </a:p>
          <a:p>
            <a:r>
              <a:rPr lang="en-US" sz="1800" dirty="0">
                <a:solidFill>
                  <a:srgbClr val="1E293B"/>
                </a:solidFill>
                <a:latin typeface="Aptos" pitchFamily="34" charset="0"/>
                <a:ea typeface="Aptos" pitchFamily="34" charset="-122"/>
                <a:cs typeface="Aptos" pitchFamily="34" charset="-120"/>
              </a:rPr>
              <a:t>It is true if the relation holds in the model</a:t>
            </a:r>
            <a:endParaRPr lang="en-US" sz="1800" dirty="0"/>
          </a:p>
          <a:p>
            <a:r>
              <a:rPr lang="en-US" sz="1800" dirty="0">
                <a:solidFill>
                  <a:srgbClr val="1E293B"/>
                </a:solidFill>
                <a:latin typeface="Aptos" pitchFamily="34" charset="0"/>
                <a:ea typeface="Aptos" pitchFamily="34" charset="-122"/>
                <a:cs typeface="Aptos" pitchFamily="34" charset="-120"/>
              </a:rPr>
              <a:t>Atoms are the building blocks of FOL</a:t>
            </a:r>
            <a:endParaRPr lang="en-US" sz="1800" dirty="0"/>
          </a:p>
          <a:p>
            <a:r>
              <a:rPr lang="en-US" sz="1800" dirty="0">
                <a:solidFill>
                  <a:srgbClr val="1E293B"/>
                </a:solidFill>
                <a:latin typeface="Aptos" pitchFamily="34" charset="0"/>
                <a:ea typeface="Aptos" pitchFamily="34" charset="-122"/>
                <a:cs typeface="Aptos" pitchFamily="34" charset="-120"/>
              </a:rPr>
              <a:t>Equality is also atomic</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basic database row like Enrolled(Ana, COMP469) is an atomic fact.</a:t>
            </a:r>
            <a:endParaRPr lang="en-US" sz="1520" dirty="0"/>
          </a:p>
        </p:txBody>
      </p:sp>
      <p:sp>
        <p:nvSpPr>
          <p:cNvPr id="12" name="Shape 10"/>
          <p:cNvSpPr/>
          <p:nvPr/>
        </p:nvSpPr>
        <p:spPr>
          <a:xfrm>
            <a:off x="6629400" y="315468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319272"/>
            <a:ext cx="4471416" cy="52120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Brother(Richard, John)</a:t>
            </a:r>
            <a:endParaRPr lang="en-US" sz="18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What relation must hold for this atom to be true?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25</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COMPLEX SENTENCES: CONNECT ATOMS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Use ¬, ∧, ∨, ⇒, ⇔ just like propositional logic</a:t>
            </a:r>
            <a:endParaRPr lang="en-US" sz="1800" dirty="0"/>
          </a:p>
          <a:p>
            <a:r>
              <a:rPr lang="en-US" sz="1800" dirty="0">
                <a:solidFill>
                  <a:srgbClr val="1E293B"/>
                </a:solidFill>
                <a:latin typeface="Aptos" pitchFamily="34" charset="0"/>
                <a:ea typeface="Aptos" pitchFamily="34" charset="-122"/>
                <a:cs typeface="Aptos" pitchFamily="34" charset="-120"/>
              </a:rPr>
              <a:t>FOL adds richer atoms underneath</a:t>
            </a:r>
            <a:endParaRPr lang="en-US" sz="1800" dirty="0"/>
          </a:p>
          <a:p>
            <a:r>
              <a:rPr lang="en-US" sz="1800" dirty="0">
                <a:solidFill>
                  <a:srgbClr val="1E293B"/>
                </a:solidFill>
                <a:latin typeface="Aptos" pitchFamily="34" charset="0"/>
                <a:ea typeface="Aptos" pitchFamily="34" charset="-122"/>
                <a:cs typeface="Aptos" pitchFamily="34" charset="-120"/>
              </a:rPr>
              <a:t>Connectives do not change object references</a:t>
            </a:r>
            <a:endParaRPr lang="en-US" sz="1800" dirty="0"/>
          </a:p>
          <a:p>
            <a:r>
              <a:rPr lang="en-US" sz="1800" dirty="0">
                <a:solidFill>
                  <a:srgbClr val="1E293B"/>
                </a:solidFill>
                <a:latin typeface="Aptos" pitchFamily="34" charset="0"/>
                <a:ea typeface="Aptos" pitchFamily="34" charset="-122"/>
                <a:cs typeface="Aptos" pitchFamily="34" charset="-120"/>
              </a:rPr>
              <a:t>They combine truth conditions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Complex sentences are like combining simple statements with “and,” “or,” “if,” and “if and only if.”</a:t>
            </a:r>
            <a:endParaRPr lang="en-US" sz="1520" dirty="0"/>
          </a:p>
        </p:txBody>
      </p:sp>
      <p:sp>
        <p:nvSpPr>
          <p:cNvPr id="12" name="Shape 10"/>
          <p:cNvSpPr/>
          <p:nvPr/>
        </p:nvSpPr>
        <p:spPr>
          <a:xfrm>
            <a:off x="6629400" y="324612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410712"/>
            <a:ext cx="4471416" cy="52120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King(John) ∧ ¬King(Richard)</a:t>
            </a:r>
            <a:endParaRPr lang="en-US" sz="18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What are the two atomic claims inside this sentence?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26</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UNIVERSAL QUANTIFICATION: ∀</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Means “for all objects” in the domain</a:t>
            </a:r>
            <a:endParaRPr lang="en-US" sz="1800" dirty="0"/>
          </a:p>
          <a:p>
            <a:r>
              <a:rPr lang="en-US" sz="1800" dirty="0">
                <a:solidFill>
                  <a:srgbClr val="1E293B"/>
                </a:solidFill>
                <a:latin typeface="Aptos" pitchFamily="34" charset="0"/>
                <a:ea typeface="Aptos" pitchFamily="34" charset="-122"/>
                <a:cs typeface="Aptos" pitchFamily="34" charset="-120"/>
              </a:rPr>
              <a:t>Used for general rules</a:t>
            </a:r>
            <a:endParaRPr lang="en-US" sz="1800" dirty="0"/>
          </a:p>
          <a:p>
            <a:r>
              <a:rPr lang="en-US" sz="1800" dirty="0">
                <a:solidFill>
                  <a:srgbClr val="1E293B"/>
                </a:solidFill>
                <a:latin typeface="Aptos" pitchFamily="34" charset="0"/>
                <a:ea typeface="Aptos" pitchFamily="34" charset="-122"/>
                <a:cs typeface="Aptos" pitchFamily="34" charset="-120"/>
              </a:rPr>
              <a:t>Often paired with implication</a:t>
            </a:r>
            <a:endParaRPr lang="en-US" sz="1800" dirty="0"/>
          </a:p>
          <a:p>
            <a:r>
              <a:rPr lang="en-US" sz="1800" dirty="0">
                <a:solidFill>
                  <a:srgbClr val="1E293B"/>
                </a:solidFill>
                <a:latin typeface="Aptos" pitchFamily="34" charset="0"/>
                <a:ea typeface="Aptos" pitchFamily="34" charset="-122"/>
                <a:cs typeface="Aptos" pitchFamily="34" charset="-120"/>
              </a:rPr>
              <a:t>Equivalent to a big AND over all objects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campus policy says every student must have an ID. It is not about one student; it covers the whole domain of students.</a:t>
            </a:r>
            <a:endParaRPr lang="en-US" sz="1520" dirty="0"/>
          </a:p>
        </p:txBody>
      </p:sp>
      <p:sp>
        <p:nvSpPr>
          <p:cNvPr id="12" name="Shape 10"/>
          <p:cNvSpPr/>
          <p:nvPr/>
        </p:nvSpPr>
        <p:spPr>
          <a:xfrm>
            <a:off x="6629400" y="320040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364992"/>
            <a:ext cx="4471416" cy="521208"/>
          </a:xfrm>
          <a:prstGeom prst="rect">
            <a:avLst/>
          </a:prstGeom>
          <a:noFill/>
          <a:ln/>
        </p:spPr>
        <p:txBody>
          <a:bodyPr wrap="square" lIns="0" tIns="0" rIns="0" bIns="0" rtlCol="0" anchor="ctr">
            <a:normAutofit/>
          </a:bodyPr>
          <a:lstStyle/>
          <a:p>
            <a:pPr algn="ctr" indent="0" marL="0">
              <a:buNone/>
            </a:pPr>
            <a:r>
              <a:rPr lang="en-US" sz="1800" b="1" dirty="0">
                <a:solidFill>
                  <a:srgbClr val="005088"/>
                </a:solidFill>
                <a:latin typeface="Cambria Math" pitchFamily="34" charset="0"/>
                <a:ea typeface="Cambria Math" pitchFamily="34" charset="-122"/>
                <a:cs typeface="Cambria Math" pitchFamily="34" charset="-120"/>
              </a:rPr>
              <a:t>∀x King(x) ⇒ Person(x)</a:t>
            </a:r>
            <a:endParaRPr lang="en-US" sz="18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Read this aloud in English before analyzing it.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27</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EXISTENTIAL QUANTIFICATION: ∃</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Means “there exists at least one”</a:t>
            </a:r>
            <a:endParaRPr lang="en-US" sz="1800" dirty="0"/>
          </a:p>
          <a:p>
            <a:r>
              <a:rPr lang="en-US" sz="1800" dirty="0">
                <a:solidFill>
                  <a:srgbClr val="1E293B"/>
                </a:solidFill>
                <a:latin typeface="Aptos" pitchFamily="34" charset="0"/>
                <a:ea typeface="Aptos" pitchFamily="34" charset="-122"/>
                <a:cs typeface="Aptos" pitchFamily="34" charset="-120"/>
              </a:rPr>
              <a:t>Used when something exists but may be unnamed</a:t>
            </a:r>
            <a:endParaRPr lang="en-US" sz="1800" dirty="0"/>
          </a:p>
          <a:p>
            <a:r>
              <a:rPr lang="en-US" sz="1800" dirty="0">
                <a:solidFill>
                  <a:srgbClr val="1E293B"/>
                </a:solidFill>
                <a:latin typeface="Aptos" pitchFamily="34" charset="0"/>
                <a:ea typeface="Aptos" pitchFamily="34" charset="-122"/>
                <a:cs typeface="Aptos" pitchFamily="34" charset="-120"/>
              </a:rPr>
              <a:t>Often paired with conjunction</a:t>
            </a:r>
            <a:endParaRPr lang="en-US" sz="1800" dirty="0"/>
          </a:p>
          <a:p>
            <a:r>
              <a:rPr lang="en-US" sz="1800" dirty="0">
                <a:solidFill>
                  <a:srgbClr val="1E293B"/>
                </a:solidFill>
                <a:latin typeface="Aptos" pitchFamily="34" charset="0"/>
                <a:ea typeface="Aptos" pitchFamily="34" charset="-122"/>
                <a:cs typeface="Aptos" pitchFamily="34" charset="-120"/>
              </a:rPr>
              <a:t>Equivalent to a big OR over all objects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lost-and-found note says “someone left a laptop.” It identifies existence without naming the person.</a:t>
            </a:r>
            <a:endParaRPr lang="en-US" sz="1520" dirty="0"/>
          </a:p>
        </p:txBody>
      </p:sp>
      <p:sp>
        <p:nvSpPr>
          <p:cNvPr id="12" name="Shape 10"/>
          <p:cNvSpPr/>
          <p:nvPr/>
        </p:nvSpPr>
        <p:spPr>
          <a:xfrm>
            <a:off x="6629400" y="3154680"/>
            <a:ext cx="4800600" cy="822960"/>
          </a:xfrm>
          <a:prstGeom prst="roundRect">
            <a:avLst>
              <a:gd name="adj" fmla="val 8889"/>
            </a:avLst>
          </a:prstGeom>
          <a:solidFill>
            <a:srgbClr val="FFFFFF">
              <a:alpha val="92000"/>
            </a:srgbClr>
          </a:solidFill>
          <a:ln w="12700">
            <a:solidFill>
              <a:srgbClr val="007C89"/>
            </a:solidFill>
            <a:prstDash val="solid"/>
          </a:ln>
        </p:spPr>
      </p:sp>
      <p:sp>
        <p:nvSpPr>
          <p:cNvPr id="13" name="Text 11"/>
          <p:cNvSpPr/>
          <p:nvPr/>
        </p:nvSpPr>
        <p:spPr>
          <a:xfrm>
            <a:off x="6793992" y="3319272"/>
            <a:ext cx="4471416" cy="594360"/>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∃x Crown(x) ∧ OnHead(x, John)</a:t>
            </a:r>
            <a:endParaRPr lang="en-US" sz="17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Does this say John has exactly one crown?</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28</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QUANTIFIER CONNECTIVE GOTCHA</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Use ∀ with ⇒ for category rules</a:t>
            </a:r>
            <a:endParaRPr lang="en-US" sz="1800" dirty="0"/>
          </a:p>
          <a:p>
            <a:r>
              <a:rPr lang="en-US" sz="1800" dirty="0">
                <a:solidFill>
                  <a:srgbClr val="1E293B"/>
                </a:solidFill>
                <a:latin typeface="Aptos" pitchFamily="34" charset="0"/>
                <a:ea typeface="Aptos" pitchFamily="34" charset="-122"/>
                <a:cs typeface="Aptos" pitchFamily="34" charset="-120"/>
              </a:rPr>
              <a:t>Use ∃ with ∧ for existence claims</a:t>
            </a:r>
            <a:endParaRPr lang="en-US" sz="1800" dirty="0"/>
          </a:p>
          <a:p>
            <a:r>
              <a:rPr lang="en-US" sz="1800" dirty="0">
                <a:solidFill>
                  <a:srgbClr val="1E293B"/>
                </a:solidFill>
                <a:latin typeface="Aptos" pitchFamily="34" charset="0"/>
                <a:ea typeface="Aptos" pitchFamily="34" charset="-122"/>
                <a:cs typeface="Aptos" pitchFamily="34" charset="-120"/>
              </a:rPr>
              <a:t>∀ with ∧ is often too strong</a:t>
            </a:r>
            <a:endParaRPr lang="en-US" sz="1800" dirty="0"/>
          </a:p>
          <a:p>
            <a:r>
              <a:rPr lang="en-US" sz="1800" dirty="0">
                <a:solidFill>
                  <a:srgbClr val="1E293B"/>
                </a:solidFill>
                <a:latin typeface="Aptos" pitchFamily="34" charset="0"/>
                <a:ea typeface="Aptos" pitchFamily="34" charset="-122"/>
                <a:cs typeface="Aptos" pitchFamily="34" charset="-120"/>
              </a:rPr>
              <a:t>∃ with ⇒ is usually too weak</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rule “all students who submit pass” uses if-then. A claim “some student submitted and passed” uses and.</a:t>
            </a:r>
            <a:endParaRPr lang="en-US" sz="1520" dirty="0"/>
          </a:p>
        </p:txBody>
      </p:sp>
      <p:sp>
        <p:nvSpPr>
          <p:cNvPr id="12" name="Shape 10"/>
          <p:cNvSpPr/>
          <p:nvPr/>
        </p:nvSpPr>
        <p:spPr>
          <a:xfrm>
            <a:off x="6629400" y="3154680"/>
            <a:ext cx="4800600" cy="960120"/>
          </a:xfrm>
          <a:prstGeom prst="roundRect">
            <a:avLst>
              <a:gd name="adj" fmla="val 7619"/>
            </a:avLst>
          </a:prstGeom>
          <a:solidFill>
            <a:srgbClr val="FFFFFF">
              <a:alpha val="92000"/>
            </a:srgbClr>
          </a:solidFill>
          <a:ln w="12700">
            <a:solidFill>
              <a:srgbClr val="007C89"/>
            </a:solidFill>
            <a:prstDash val="solid"/>
          </a:ln>
        </p:spPr>
      </p:sp>
      <p:sp>
        <p:nvSpPr>
          <p:cNvPr id="13" name="Text 11"/>
          <p:cNvSpPr/>
          <p:nvPr/>
        </p:nvSpPr>
        <p:spPr>
          <a:xfrm>
            <a:off x="6793992" y="3319272"/>
            <a:ext cx="4471416" cy="731520"/>
          </a:xfrm>
          <a:prstGeom prst="rect">
            <a:avLst/>
          </a:prstGeom>
          <a:noFill/>
          <a:ln/>
        </p:spPr>
        <p:txBody>
          <a:bodyPr wrap="square" lIns="0" tIns="0" rIns="0" bIns="0" rtlCol="0" anchor="ctr">
            <a:normAutofit/>
          </a:bodyPr>
          <a:lstStyle/>
          <a:p>
            <a:pPr algn="ctr" indent="0" marL="0">
              <a:buNone/>
            </a:pPr>
            <a:r>
              <a:rPr lang="en-US" sz="1550" b="1" dirty="0">
                <a:solidFill>
                  <a:srgbClr val="005088"/>
                </a:solidFill>
                <a:latin typeface="Cambria Math" pitchFamily="34" charset="0"/>
                <a:ea typeface="Cambria Math" pitchFamily="34" charset="-122"/>
                <a:cs typeface="Cambria Math" pitchFamily="34" charset="-120"/>
              </a:rPr>
              <a:t>∀x Student(x) ⇒ HasID(x)</a:t>
            </a:r>
            <a:endParaRPr lang="en-US" sz="1550" dirty="0"/>
          </a:p>
          <a:p>
            <a:pPr algn="ctr" indent="0" marL="0">
              <a:buNone/>
            </a:pPr>
            <a:r>
              <a:rPr lang="en-US" sz="1550" b="1" dirty="0">
                <a:solidFill>
                  <a:srgbClr val="005088"/>
                </a:solidFill>
                <a:latin typeface="Cambria Math" pitchFamily="34" charset="0"/>
                <a:ea typeface="Cambria Math" pitchFamily="34" charset="-122"/>
                <a:cs typeface="Cambria Math" pitchFamily="34" charset="-120"/>
              </a:rPr>
              <a:t>∃x Student(x) ∧ HasID(x)</a:t>
            </a:r>
            <a:endParaRPr lang="en-US" sz="155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Ask students to explain why ∃x Student(x) ⇒ HasID(x) is weak.</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29</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NESTED QUANTIFIERS: ORDER MATTERS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∀x ∃y: everyone has someone</a:t>
            </a:r>
            <a:endParaRPr lang="en-US" sz="1800" dirty="0"/>
          </a:p>
          <a:p>
            <a:r>
              <a:rPr lang="en-US" sz="1800" dirty="0">
                <a:solidFill>
                  <a:srgbClr val="1E293B"/>
                </a:solidFill>
                <a:latin typeface="Aptos" pitchFamily="34" charset="0"/>
                <a:ea typeface="Aptos" pitchFamily="34" charset="-122"/>
                <a:cs typeface="Aptos" pitchFamily="34" charset="-120"/>
              </a:rPr>
              <a:t>∃y ∀x: one thing works for everyone</a:t>
            </a:r>
            <a:endParaRPr lang="en-US" sz="1800" dirty="0"/>
          </a:p>
          <a:p>
            <a:r>
              <a:rPr lang="en-US" sz="1800" dirty="0">
                <a:solidFill>
                  <a:srgbClr val="1E293B"/>
                </a:solidFill>
                <a:latin typeface="Aptos" pitchFamily="34" charset="0"/>
                <a:ea typeface="Aptos" pitchFamily="34" charset="-122"/>
                <a:cs typeface="Aptos" pitchFamily="34" charset="-120"/>
              </a:rPr>
              <a:t>Changing order changes meaning</a:t>
            </a:r>
            <a:endParaRPr lang="en-US" sz="1800" dirty="0"/>
          </a:p>
          <a:p>
            <a:r>
              <a:rPr lang="en-US" sz="1800" dirty="0">
                <a:solidFill>
                  <a:srgbClr val="1E293B"/>
                </a:solidFill>
                <a:latin typeface="Aptos" pitchFamily="34" charset="0"/>
                <a:ea typeface="Aptos" pitchFamily="34" charset="-122"/>
                <a:cs typeface="Aptos" pitchFamily="34" charset="-120"/>
              </a:rPr>
              <a:t>Parentheses make scope visible</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“Every student has a favorite song” is not the same as “there is one song every student loves.”</a:t>
            </a:r>
            <a:endParaRPr lang="en-US" sz="1520" dirty="0"/>
          </a:p>
        </p:txBody>
      </p:sp>
      <p:sp>
        <p:nvSpPr>
          <p:cNvPr id="12" name="Shape 10"/>
          <p:cNvSpPr/>
          <p:nvPr/>
        </p:nvSpPr>
        <p:spPr>
          <a:xfrm>
            <a:off x="6629400" y="3108960"/>
            <a:ext cx="4800600" cy="868680"/>
          </a:xfrm>
          <a:prstGeom prst="roundRect">
            <a:avLst>
              <a:gd name="adj" fmla="val 8421"/>
            </a:avLst>
          </a:prstGeom>
          <a:solidFill>
            <a:srgbClr val="FFFFFF">
              <a:alpha val="92000"/>
            </a:srgbClr>
          </a:solidFill>
          <a:ln w="12700">
            <a:solidFill>
              <a:srgbClr val="007C89"/>
            </a:solidFill>
            <a:prstDash val="solid"/>
          </a:ln>
        </p:spPr>
      </p:sp>
      <p:sp>
        <p:nvSpPr>
          <p:cNvPr id="13" name="Text 11"/>
          <p:cNvSpPr/>
          <p:nvPr/>
        </p:nvSpPr>
        <p:spPr>
          <a:xfrm>
            <a:off x="6793992" y="3273552"/>
            <a:ext cx="4471416" cy="640080"/>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∀x ∃y Loves(x,y) ≠ ∃y ∀x Loves(x,y)</a:t>
            </a:r>
            <a:endParaRPr lang="en-US" sz="16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Give students 30 seconds to invent a real-world pair.</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30</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NESTED QUANTIFIER EXAMPLES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685800" y="1417320"/>
            <a:ext cx="5257800" cy="320040"/>
          </a:xfrm>
          <a:prstGeom prst="rect">
            <a:avLst/>
          </a:prstGeom>
          <a:noFill/>
          <a:ln/>
        </p:spPr>
        <p:txBody>
          <a:bodyPr wrap="square" lIns="0" tIns="0" rIns="0" bIns="0" rtlCol="0" anchor="ctr"/>
          <a:lstStyle/>
          <a:p>
            <a:pPr indent="0" marL="0">
              <a:buNone/>
            </a:pPr>
            <a:r>
              <a:rPr lang="en-US" sz="1600" b="1" dirty="0">
                <a:solidFill>
                  <a:srgbClr val="B0005D"/>
                </a:solidFill>
              </a:rPr>
              <a:t>Everybody loves somebody</a:t>
            </a:r>
            <a:endParaRPr lang="en-US" sz="1600" dirty="0"/>
          </a:p>
        </p:txBody>
      </p:sp>
      <p:sp>
        <p:nvSpPr>
          <p:cNvPr id="9" name="Text 7"/>
          <p:cNvSpPr/>
          <p:nvPr/>
        </p:nvSpPr>
        <p:spPr>
          <a:xfrm>
            <a:off x="731520" y="1783080"/>
            <a:ext cx="5074920" cy="3200400"/>
          </a:xfrm>
          <a:prstGeom prst="rect">
            <a:avLst/>
          </a:prstGeom>
          <a:noFill/>
          <a:ln/>
        </p:spPr>
        <p:txBody>
          <a:bodyPr wrap="square" lIns="1016" tIns="1016" rIns="1016" bIns="1016" rtlCol="0" anchor="t">
            <a:normAutofit/>
          </a:bodyPr>
          <a:lstStyle/>
          <a:p>
            <a:r>
              <a:rPr lang="en-US" sz="1650" dirty="0">
                <a:solidFill>
                  <a:srgbClr val="1E293B"/>
                </a:solidFill>
                <a:latin typeface="Aptos" pitchFamily="34" charset="0"/>
                <a:ea typeface="Aptos" pitchFamily="34" charset="-122"/>
                <a:cs typeface="Aptos" pitchFamily="34" charset="-120"/>
              </a:rPr>
              <a:t>For each person x</a:t>
            </a:r>
            <a:endParaRPr lang="en-US" sz="1650" dirty="0"/>
          </a:p>
          <a:p>
            <a:r>
              <a:rPr lang="en-US" sz="1650" dirty="0">
                <a:solidFill>
                  <a:srgbClr val="1E293B"/>
                </a:solidFill>
                <a:latin typeface="Aptos" pitchFamily="34" charset="0"/>
                <a:ea typeface="Aptos" pitchFamily="34" charset="-122"/>
                <a:cs typeface="Aptos" pitchFamily="34" charset="-120"/>
              </a:rPr>
              <a:t>There may be a different y</a:t>
            </a:r>
            <a:endParaRPr lang="en-US" sz="1650" dirty="0"/>
          </a:p>
          <a:p>
            <a:r>
              <a:rPr lang="en-US" sz="1650" dirty="0">
                <a:solidFill>
                  <a:srgbClr val="1E293B"/>
                </a:solidFill>
                <a:latin typeface="Aptos" pitchFamily="34" charset="0"/>
                <a:ea typeface="Aptos" pitchFamily="34" charset="-122"/>
                <a:cs typeface="Aptos" pitchFamily="34" charset="-120"/>
              </a:rPr>
              <a:t>Many targets are allowed</a:t>
            </a:r>
            <a:endParaRPr lang="en-US" sz="1650" dirty="0"/>
          </a:p>
        </p:txBody>
      </p:sp>
      <p:sp>
        <p:nvSpPr>
          <p:cNvPr id="10" name="Text 8"/>
          <p:cNvSpPr/>
          <p:nvPr/>
        </p:nvSpPr>
        <p:spPr>
          <a:xfrm>
            <a:off x="6309360" y="1417320"/>
            <a:ext cx="5257800" cy="320040"/>
          </a:xfrm>
          <a:prstGeom prst="rect">
            <a:avLst/>
          </a:prstGeom>
          <a:noFill/>
          <a:ln/>
        </p:spPr>
        <p:txBody>
          <a:bodyPr wrap="square" lIns="0" tIns="0" rIns="0" bIns="0" rtlCol="0" anchor="ctr"/>
          <a:lstStyle/>
          <a:p>
            <a:pPr indent="0" marL="0">
              <a:buNone/>
            </a:pPr>
            <a:r>
              <a:rPr lang="en-US" sz="1600" b="1" dirty="0">
                <a:solidFill>
                  <a:srgbClr val="007C89"/>
                </a:solidFill>
              </a:rPr>
              <a:t>Somebody is loved by everybody</a:t>
            </a:r>
            <a:endParaRPr lang="en-US" sz="1600" dirty="0"/>
          </a:p>
        </p:txBody>
      </p:sp>
      <p:sp>
        <p:nvSpPr>
          <p:cNvPr id="11" name="Text 9"/>
          <p:cNvSpPr/>
          <p:nvPr/>
        </p:nvSpPr>
        <p:spPr>
          <a:xfrm>
            <a:off x="6355080" y="1783080"/>
            <a:ext cx="5074920" cy="3200400"/>
          </a:xfrm>
          <a:prstGeom prst="rect">
            <a:avLst/>
          </a:prstGeom>
          <a:noFill/>
          <a:ln/>
        </p:spPr>
        <p:txBody>
          <a:bodyPr wrap="square" lIns="1016" tIns="1016" rIns="1016" bIns="1016" rtlCol="0" anchor="t">
            <a:normAutofit/>
          </a:bodyPr>
          <a:lstStyle/>
          <a:p>
            <a:r>
              <a:rPr lang="en-US" sz="1650" dirty="0">
                <a:solidFill>
                  <a:srgbClr val="1E293B"/>
                </a:solidFill>
                <a:latin typeface="Aptos" pitchFamily="34" charset="0"/>
                <a:ea typeface="Aptos" pitchFamily="34" charset="-122"/>
                <a:cs typeface="Aptos" pitchFamily="34" charset="-120"/>
              </a:rPr>
              <a:t>There is one y first</a:t>
            </a:r>
            <a:endParaRPr lang="en-US" sz="1650" dirty="0"/>
          </a:p>
          <a:p>
            <a:r>
              <a:rPr lang="en-US" sz="1650" dirty="0">
                <a:solidFill>
                  <a:srgbClr val="1E293B"/>
                </a:solidFill>
                <a:latin typeface="Aptos" pitchFamily="34" charset="0"/>
                <a:ea typeface="Aptos" pitchFamily="34" charset="-122"/>
                <a:cs typeface="Aptos" pitchFamily="34" charset="-120"/>
              </a:rPr>
              <a:t>That same y works for all x</a:t>
            </a:r>
            <a:endParaRPr lang="en-US" sz="1650" dirty="0"/>
          </a:p>
          <a:p>
            <a:r>
              <a:rPr lang="en-US" sz="1650" dirty="0">
                <a:solidFill>
                  <a:srgbClr val="1E293B"/>
                </a:solidFill>
                <a:latin typeface="Aptos" pitchFamily="34" charset="0"/>
                <a:ea typeface="Aptos" pitchFamily="34" charset="-122"/>
                <a:cs typeface="Aptos" pitchFamily="34" charset="-120"/>
              </a:rPr>
              <a:t>Much stronger claim</a:t>
            </a:r>
            <a:endParaRPr lang="en-US" sz="1650" dirty="0"/>
          </a:p>
        </p:txBody>
      </p:sp>
      <p:sp>
        <p:nvSpPr>
          <p:cNvPr id="12" name="Shape 10"/>
          <p:cNvSpPr/>
          <p:nvPr/>
        </p:nvSpPr>
        <p:spPr>
          <a:xfrm>
            <a:off x="822960" y="5074920"/>
            <a:ext cx="10515600" cy="685800"/>
          </a:xfrm>
          <a:prstGeom prst="roundRect">
            <a:avLst>
              <a:gd name="adj" fmla="val 10667"/>
            </a:avLst>
          </a:prstGeom>
          <a:solidFill>
            <a:srgbClr val="FFF6D9"/>
          </a:solidFill>
          <a:ln w="12700">
            <a:solidFill>
              <a:srgbClr val="F4A261"/>
            </a:solidFill>
            <a:prstDash val="solid"/>
          </a:ln>
        </p:spPr>
      </p:sp>
      <p:sp>
        <p:nvSpPr>
          <p:cNvPr id="13" name="Text 11"/>
          <p:cNvSpPr/>
          <p:nvPr/>
        </p:nvSpPr>
        <p:spPr>
          <a:xfrm>
            <a:off x="1024128" y="5221224"/>
            <a:ext cx="10113264" cy="228600"/>
          </a:xfrm>
          <a:prstGeom prst="rect">
            <a:avLst/>
          </a:prstGeom>
          <a:noFill/>
          <a:ln/>
        </p:spPr>
        <p:txBody>
          <a:bodyPr wrap="square" lIns="0" tIns="0" rIns="0" bIns="0" rtlCol="0" anchor="ctr"/>
          <a:lstStyle/>
          <a:p>
            <a:pPr indent="0" marL="0">
              <a:buNone/>
            </a:pPr>
            <a:r>
              <a:rPr lang="en-US" sz="1100" b="1" dirty="0">
                <a:solidFill>
                  <a:srgbClr val="B0005D"/>
                </a:solidFill>
              </a:rPr>
              <a:t>Bridge analogy</a:t>
            </a:r>
            <a:endParaRPr lang="en-US" sz="1100" dirty="0"/>
          </a:p>
        </p:txBody>
      </p:sp>
      <p:sp>
        <p:nvSpPr>
          <p:cNvPr id="14" name="Text 12"/>
          <p:cNvSpPr/>
          <p:nvPr/>
        </p:nvSpPr>
        <p:spPr>
          <a:xfrm>
            <a:off x="1024128" y="5513832"/>
            <a:ext cx="10113264" cy="11887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Imagine assigning advisors: “everyone has an advisor” versus “one advisor advises everyone.”</a:t>
            </a:r>
            <a:endParaRPr lang="en-US" sz="15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31</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VARIABLE SCOPE AND SHADOWING</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A variable belongs to the innermost quantifier that mentions it</a:t>
            </a:r>
            <a:endParaRPr lang="en-US" sz="1800" dirty="0"/>
          </a:p>
          <a:p>
            <a:r>
              <a:rPr lang="en-US" sz="1800" dirty="0">
                <a:solidFill>
                  <a:srgbClr val="1E293B"/>
                </a:solidFill>
                <a:latin typeface="Aptos" pitchFamily="34" charset="0"/>
                <a:ea typeface="Aptos" pitchFamily="34" charset="-122"/>
                <a:cs typeface="Aptos" pitchFamily="34" charset="-120"/>
              </a:rPr>
              <a:t>Reusing names can hide meaning</a:t>
            </a:r>
            <a:endParaRPr lang="en-US" sz="1800" dirty="0"/>
          </a:p>
          <a:p>
            <a:r>
              <a:rPr lang="en-US" sz="1800" dirty="0">
                <a:solidFill>
                  <a:srgbClr val="1E293B"/>
                </a:solidFill>
                <a:latin typeface="Aptos" pitchFamily="34" charset="0"/>
                <a:ea typeface="Aptos" pitchFamily="34" charset="-122"/>
                <a:cs typeface="Aptos" pitchFamily="34" charset="-120"/>
              </a:rPr>
              <a:t>Use different variables in nested scopes</a:t>
            </a:r>
            <a:endParaRPr lang="en-US" sz="1800" dirty="0"/>
          </a:p>
          <a:p>
            <a:r>
              <a:rPr lang="en-US" sz="1800" dirty="0">
                <a:solidFill>
                  <a:srgbClr val="1E293B"/>
                </a:solidFill>
                <a:latin typeface="Aptos" pitchFamily="34" charset="0"/>
                <a:ea typeface="Aptos" pitchFamily="34" charset="-122"/>
                <a:cs typeface="Aptos" pitchFamily="34" charset="-120"/>
              </a:rPr>
              <a:t>Clear notation prevents false readings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Programming analogy: an inner-loop variable can shadow an outer variable.</a:t>
            </a:r>
            <a:endParaRPr lang="en-US" sz="1520" dirty="0"/>
          </a:p>
        </p:txBody>
      </p:sp>
      <p:sp>
        <p:nvSpPr>
          <p:cNvPr id="12" name="Shape 10"/>
          <p:cNvSpPr/>
          <p:nvPr/>
        </p:nvSpPr>
        <p:spPr>
          <a:xfrm>
            <a:off x="6629400" y="3108960"/>
            <a:ext cx="4800600" cy="914400"/>
          </a:xfrm>
          <a:prstGeom prst="roundRect">
            <a:avLst>
              <a:gd name="adj" fmla="val 8000"/>
            </a:avLst>
          </a:prstGeom>
          <a:solidFill>
            <a:srgbClr val="FFFFFF">
              <a:alpha val="92000"/>
            </a:srgbClr>
          </a:solidFill>
          <a:ln w="12700">
            <a:solidFill>
              <a:srgbClr val="007C89"/>
            </a:solidFill>
            <a:prstDash val="solid"/>
          </a:ln>
        </p:spPr>
      </p:sp>
      <p:sp>
        <p:nvSpPr>
          <p:cNvPr id="13" name="Text 11"/>
          <p:cNvSpPr/>
          <p:nvPr/>
        </p:nvSpPr>
        <p:spPr>
          <a:xfrm>
            <a:off x="6793992" y="3273552"/>
            <a:ext cx="4471416" cy="685800"/>
          </a:xfrm>
          <a:prstGeom prst="rect">
            <a:avLst/>
          </a:prstGeom>
          <a:noFill/>
          <a:ln/>
        </p:spPr>
        <p:txBody>
          <a:bodyPr wrap="square" lIns="0" tIns="0" rIns="0" bIns="0" rtlCol="0" anchor="ctr">
            <a:normAutofit/>
          </a:bodyPr>
          <a:lstStyle/>
          <a:p>
            <a:pPr algn="ctr" indent="0" marL="0">
              <a:buNone/>
            </a:pPr>
            <a:r>
              <a:rPr lang="en-US" sz="1500" b="1" dirty="0">
                <a:solidFill>
                  <a:srgbClr val="005088"/>
                </a:solidFill>
                <a:latin typeface="Cambria Math" pitchFamily="34" charset="0"/>
                <a:ea typeface="Cambria Math" pitchFamily="34" charset="-122"/>
                <a:cs typeface="Cambria Math" pitchFamily="34" charset="-120"/>
              </a:rPr>
              <a:t>∀x (Crown(x) ∨ ∃z Brother(Richard,z))</a:t>
            </a:r>
            <a:endParaRPr lang="en-US" sz="15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Why is z clearer than reusing x?</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32</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QUANTIFIER NEGATION: DE MORGAN FOR ∀ AND ∃</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¬∃x P means ∀x ¬P</a:t>
            </a:r>
            <a:endParaRPr lang="en-US" sz="1800" dirty="0"/>
          </a:p>
          <a:p>
            <a:r>
              <a:rPr lang="en-US" sz="1800" dirty="0">
                <a:solidFill>
                  <a:srgbClr val="1E293B"/>
                </a:solidFill>
                <a:latin typeface="Aptos" pitchFamily="34" charset="0"/>
                <a:ea typeface="Aptos" pitchFamily="34" charset="-122"/>
                <a:cs typeface="Aptos" pitchFamily="34" charset="-120"/>
              </a:rPr>
              <a:t>¬∀x P means ∃x ¬P</a:t>
            </a:r>
            <a:endParaRPr lang="en-US" sz="1800" dirty="0"/>
          </a:p>
          <a:p>
            <a:r>
              <a:rPr lang="en-US" sz="1800" dirty="0">
                <a:solidFill>
                  <a:srgbClr val="1E293B"/>
                </a:solidFill>
                <a:latin typeface="Aptos" pitchFamily="34" charset="0"/>
                <a:ea typeface="Aptos" pitchFamily="34" charset="-122"/>
                <a:cs typeface="Aptos" pitchFamily="34" charset="-120"/>
              </a:rPr>
              <a:t>“Not everyone” means “someone not”</a:t>
            </a:r>
            <a:endParaRPr lang="en-US" sz="1800" dirty="0"/>
          </a:p>
          <a:p>
            <a:r>
              <a:rPr lang="en-US" sz="1800" dirty="0">
                <a:solidFill>
                  <a:srgbClr val="1E293B"/>
                </a:solidFill>
                <a:latin typeface="Aptos" pitchFamily="34" charset="0"/>
                <a:ea typeface="Aptos" pitchFamily="34" charset="-122"/>
                <a:cs typeface="Aptos" pitchFamily="34" charset="-120"/>
              </a:rPr>
              <a:t>“No one” means “everyone not”</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“Not every student passed” means at least one student did not pass. It does not mean everyone failed.</a:t>
            </a:r>
            <a:endParaRPr lang="en-US" sz="1520" dirty="0"/>
          </a:p>
        </p:txBody>
      </p:sp>
      <p:sp>
        <p:nvSpPr>
          <p:cNvPr id="12" name="Shape 10"/>
          <p:cNvSpPr/>
          <p:nvPr/>
        </p:nvSpPr>
        <p:spPr>
          <a:xfrm>
            <a:off x="6629400" y="3154680"/>
            <a:ext cx="4800600" cy="822960"/>
          </a:xfrm>
          <a:prstGeom prst="roundRect">
            <a:avLst>
              <a:gd name="adj" fmla="val 8889"/>
            </a:avLst>
          </a:prstGeom>
          <a:solidFill>
            <a:srgbClr val="FFFFFF">
              <a:alpha val="92000"/>
            </a:srgbClr>
          </a:solidFill>
          <a:ln w="12700">
            <a:solidFill>
              <a:srgbClr val="007C89"/>
            </a:solidFill>
            <a:prstDash val="solid"/>
          </a:ln>
        </p:spPr>
      </p:sp>
      <p:sp>
        <p:nvSpPr>
          <p:cNvPr id="13" name="Text 11"/>
          <p:cNvSpPr/>
          <p:nvPr/>
        </p:nvSpPr>
        <p:spPr>
          <a:xfrm>
            <a:off x="6793992" y="3319272"/>
            <a:ext cx="4471416" cy="594360"/>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¬∀x Passed(x) ≡ ∃x ¬Passed(x)</a:t>
            </a:r>
            <a:endParaRPr lang="en-US" sz="17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Translate “nobody likes parsnips.”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33</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EQUALITY AND INEQUALITY</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Term = Term is an atomic sentence</a:t>
            </a:r>
            <a:endParaRPr lang="en-US" sz="1800" dirty="0"/>
          </a:p>
          <a:p>
            <a:r>
              <a:rPr lang="en-US" sz="1800" dirty="0">
                <a:solidFill>
                  <a:srgbClr val="1E293B"/>
                </a:solidFill>
                <a:latin typeface="Aptos" pitchFamily="34" charset="0"/>
                <a:ea typeface="Aptos" pitchFamily="34" charset="-122"/>
                <a:cs typeface="Aptos" pitchFamily="34" charset="-120"/>
              </a:rPr>
              <a:t>Use ≠ to distinguish objects</a:t>
            </a:r>
            <a:endParaRPr lang="en-US" sz="1800" dirty="0"/>
          </a:p>
          <a:p>
            <a:r>
              <a:rPr lang="en-US" sz="1800" dirty="0">
                <a:solidFill>
                  <a:srgbClr val="1E293B"/>
                </a:solidFill>
                <a:latin typeface="Aptos" pitchFamily="34" charset="0"/>
                <a:ea typeface="Aptos" pitchFamily="34" charset="-122"/>
                <a:cs typeface="Aptos" pitchFamily="34" charset="-120"/>
              </a:rPr>
              <a:t>Standard FOL does not assume unique names</a:t>
            </a:r>
            <a:endParaRPr lang="en-US" sz="1800" dirty="0"/>
          </a:p>
          <a:p>
            <a:r>
              <a:rPr lang="en-US" sz="1800" dirty="0">
                <a:solidFill>
                  <a:srgbClr val="1E293B"/>
                </a:solidFill>
                <a:latin typeface="Aptos" pitchFamily="34" charset="0"/>
                <a:ea typeface="Aptos" pitchFamily="34" charset="-122"/>
                <a:cs typeface="Aptos" pitchFamily="34" charset="-120"/>
              </a:rPr>
              <a:t>Equality supports exact translations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Two email addresses may belong to the same person unless the system has evidence they are different.</a:t>
            </a:r>
            <a:endParaRPr lang="en-US" sz="1520" dirty="0"/>
          </a:p>
        </p:txBody>
      </p:sp>
      <p:sp>
        <p:nvSpPr>
          <p:cNvPr id="12" name="Shape 10"/>
          <p:cNvSpPr/>
          <p:nvPr/>
        </p:nvSpPr>
        <p:spPr>
          <a:xfrm>
            <a:off x="6629400" y="324612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410712"/>
            <a:ext cx="4471416" cy="521208"/>
          </a:xfrm>
          <a:prstGeom prst="rect">
            <a:avLst/>
          </a:prstGeom>
          <a:noFill/>
          <a:ln/>
        </p:spPr>
        <p:txBody>
          <a:bodyPr wrap="square" lIns="0" tIns="0" rIns="0" bIns="0" rtlCol="0" anchor="ctr">
            <a:normAutofit/>
          </a:bodyPr>
          <a:lstStyle/>
          <a:p>
            <a:pPr algn="ctr" indent="0" marL="0">
              <a:buNone/>
            </a:pPr>
            <a:r>
              <a:rPr lang="en-US" sz="1900" b="1" dirty="0">
                <a:solidFill>
                  <a:srgbClr val="005088"/>
                </a:solidFill>
                <a:latin typeface="Cambria Math" pitchFamily="34" charset="0"/>
                <a:ea typeface="Cambria Math" pitchFamily="34" charset="-122"/>
                <a:cs typeface="Cambria Math" pitchFamily="34" charset="-120"/>
              </a:rPr>
              <a:t>John ≠ Geoffrey</a:t>
            </a:r>
            <a:endParaRPr lang="en-US" sz="19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Why do we need John ≠ Geoffrey to say Richard has two brothers?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34</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THE UNIVERSE OF ALL FOL MODELS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685800" y="1536192"/>
            <a:ext cx="5257800" cy="4297680"/>
          </a:xfrm>
          <a:prstGeom prst="rect">
            <a:avLst/>
          </a:prstGeom>
          <a:noFill/>
          <a:ln/>
        </p:spPr>
        <p:txBody>
          <a:bodyPr wrap="square" lIns="1016" tIns="1016" rIns="1016" bIns="1016" rtlCol="0" anchor="t">
            <a:normAutofit/>
          </a:bodyPr>
          <a:lstStyle/>
          <a:p>
            <a:r>
              <a:rPr lang="en-US" sz="1750" dirty="0">
                <a:solidFill>
                  <a:srgbClr val="1E293B"/>
                </a:solidFill>
                <a:latin typeface="Aptos" pitchFamily="34" charset="0"/>
                <a:ea typeface="Aptos" pitchFamily="34" charset="-122"/>
                <a:cs typeface="Aptos" pitchFamily="34" charset="-120"/>
              </a:rPr>
              <a:t>Models can have different domain sizes</a:t>
            </a:r>
            <a:endParaRPr lang="en-US" sz="1750" dirty="0"/>
          </a:p>
          <a:p>
            <a:r>
              <a:rPr lang="en-US" sz="1750" dirty="0">
                <a:solidFill>
                  <a:srgbClr val="1E293B"/>
                </a:solidFill>
                <a:latin typeface="Aptos" pitchFamily="34" charset="0"/>
                <a:ea typeface="Aptos" pitchFamily="34" charset="-122"/>
                <a:cs typeface="Aptos" pitchFamily="34" charset="-120"/>
              </a:rPr>
              <a:t>Constants can map to objects in many ways</a:t>
            </a:r>
            <a:endParaRPr lang="en-US" sz="1750" dirty="0"/>
          </a:p>
          <a:p>
            <a:r>
              <a:rPr lang="en-US" sz="1750" dirty="0">
                <a:solidFill>
                  <a:srgbClr val="1E293B"/>
                </a:solidFill>
                <a:latin typeface="Aptos" pitchFamily="34" charset="0"/>
                <a:ea typeface="Aptos" pitchFamily="34" charset="-122"/>
                <a:cs typeface="Aptos" pitchFamily="34" charset="-120"/>
              </a:rPr>
              <a:t>Relations can include many tuple sets</a:t>
            </a:r>
            <a:endParaRPr lang="en-US" sz="1750" dirty="0"/>
          </a:p>
          <a:p>
            <a:r>
              <a:rPr lang="en-US" sz="1750" dirty="0">
                <a:solidFill>
                  <a:srgbClr val="1E293B"/>
                </a:solidFill>
                <a:latin typeface="Aptos" pitchFamily="34" charset="0"/>
                <a:ea typeface="Aptos" pitchFamily="34" charset="-122"/>
                <a:cs typeface="Aptos" pitchFamily="34" charset="-120"/>
              </a:rPr>
              <a:t>Entailment cannot enumerate all models</a:t>
            </a:r>
            <a:endParaRPr lang="en-US" sz="1750" dirty="0"/>
          </a:p>
        </p:txBody>
      </p:sp>
      <p:sp>
        <p:nvSpPr>
          <p:cNvPr id="9" name="Shape 7"/>
          <p:cNvSpPr/>
          <p:nvPr/>
        </p:nvSpPr>
        <p:spPr>
          <a:xfrm>
            <a:off x="6318504" y="1563624"/>
            <a:ext cx="5239512" cy="4096512"/>
          </a:xfrm>
          <a:prstGeom prst="roundRect">
            <a:avLst>
              <a:gd name="adj" fmla="val 1563"/>
            </a:avLst>
          </a:prstGeom>
          <a:solidFill>
            <a:srgbClr val="FFFFFF"/>
          </a:solidFill>
          <a:ln w="12700">
            <a:solidFill>
              <a:srgbClr val="CBD5E1"/>
            </a:solidFill>
            <a:prstDash val="solid"/>
          </a:ln>
        </p:spPr>
      </p:sp>
      <p:pic>
        <p:nvPicPr>
          <p:cNvPr id="10" name="Image 0" descr="/mnt/data/ch8_ppt_assets/fig8_4_models.png">    </p:cNvPr>
          <p:cNvPicPr>
            <a:picLocks noChangeAspect="1"/>
          </p:cNvPicPr>
          <p:nvPr/>
        </p:nvPicPr>
        <p:blipFill>
          <a:blip r:embed="rId1"/>
          <a:stretch>
            <a:fillRect/>
          </a:stretch>
        </p:blipFill>
        <p:spPr>
          <a:xfrm>
            <a:off x="6355080" y="2779798"/>
            <a:ext cx="5166360" cy="1664164"/>
          </a:xfrm>
          <a:prstGeom prst="rect">
            <a:avLst/>
          </a:prstGeom>
        </p:spPr>
      </p:pic>
      <p:sp>
        <p:nvSpPr>
          <p:cNvPr id="11" name="Text 8"/>
          <p:cNvSpPr/>
          <p:nvPr/>
        </p:nvSpPr>
        <p:spPr>
          <a:xfrm>
            <a:off x="6355080" y="5696712"/>
            <a:ext cx="5166360" cy="320040"/>
          </a:xfrm>
          <a:prstGeom prst="rect">
            <a:avLst/>
          </a:prstGeom>
          <a:noFill/>
          <a:ln/>
        </p:spPr>
        <p:txBody>
          <a:bodyPr wrap="square" lIns="0" tIns="0" rIns="0" bIns="0" rtlCol="0" anchor="ctr">
            <a:normAutofit/>
          </a:bodyPr>
          <a:lstStyle/>
          <a:p>
            <a:pPr indent="0" marL="0">
              <a:buNone/>
            </a:pPr>
            <a:r>
              <a:rPr lang="en-US" sz="1050" i="1" dirty="0">
                <a:solidFill>
                  <a:srgbClr val="64748B"/>
                </a:solidFill>
              </a:rPr>
              <a:t>Figure 8.4: many possible models for R, J, and one relation.</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65760"/>
          </a:xfrm>
          <a:prstGeom prst="rect">
            <a:avLst/>
          </a:prstGeom>
          <a:noFill/>
          <a:ln/>
        </p:spPr>
        <p:txBody>
          <a:bodyPr wrap="square" lIns="0" tIns="0" rIns="0" bIns="0" rtlCol="0" anchor="ctr"/>
          <a:lstStyle/>
          <a:p>
            <a:pPr indent="0" marL="0">
              <a:buNone/>
            </a:pPr>
            <a:r>
              <a:rPr lang="en-US" sz="1600" b="1" dirty="0">
                <a:solidFill>
                  <a:srgbClr val="A5F3FC"/>
                </a:solidFill>
              </a:rPr>
              <a:t>COMP 469</a:t>
            </a:r>
            <a:endParaRPr lang="en-US" sz="1600" dirty="0"/>
          </a:p>
        </p:txBody>
      </p:sp>
      <p:sp>
        <p:nvSpPr>
          <p:cNvPr id="3" name="Text 1"/>
          <p:cNvSpPr/>
          <p:nvPr/>
        </p:nvSpPr>
        <p:spPr>
          <a:xfrm>
            <a:off x="685800" y="1920240"/>
            <a:ext cx="10698480" cy="822960"/>
          </a:xfrm>
          <a:prstGeom prst="rect">
            <a:avLst/>
          </a:prstGeom>
          <a:noFill/>
          <a:ln/>
        </p:spPr>
        <p:txBody>
          <a:bodyPr wrap="square" lIns="0" tIns="0" rIns="0" bIns="0" rtlCol="0" anchor="ctr">
            <a:normAutofit/>
          </a:bodyPr>
          <a:lstStyle/>
          <a:p>
            <a:pPr indent="0" marL="0">
              <a:buNone/>
            </a:pPr>
            <a:r>
              <a:rPr lang="en-US" sz="4400" b="1" dirty="0">
                <a:solidFill>
                  <a:srgbClr val="F4F1DE"/>
                </a:solidFill>
              </a:rPr>
              <a:t>8.2.8 Database Semantics</a:t>
            </a:r>
            <a:endParaRPr lang="en-US" sz="4400" dirty="0"/>
          </a:p>
        </p:txBody>
      </p:sp>
      <p:sp>
        <p:nvSpPr>
          <p:cNvPr id="4" name="Text 2"/>
          <p:cNvSpPr/>
          <p:nvPr/>
        </p:nvSpPr>
        <p:spPr>
          <a:xfrm>
            <a:off x="713232" y="2880360"/>
            <a:ext cx="9875520" cy="457200"/>
          </a:xfrm>
          <a:prstGeom prst="rect">
            <a:avLst/>
          </a:prstGeom>
          <a:noFill/>
          <a:ln/>
        </p:spPr>
        <p:txBody>
          <a:bodyPr wrap="square" lIns="0" tIns="0" rIns="0" bIns="0" rtlCol="0" anchor="ctr"/>
          <a:lstStyle/>
          <a:p>
            <a:pPr indent="0" marL="0">
              <a:buNone/>
            </a:pPr>
            <a:r>
              <a:rPr lang="en-US" sz="2000" dirty="0">
                <a:solidFill>
                  <a:srgbClr val="D9F99D"/>
                </a:solidFill>
              </a:rPr>
              <a:t>A different interpretation style</a:t>
            </a:r>
            <a:endParaRPr lang="en-US" sz="2000" dirty="0"/>
          </a:p>
        </p:txBody>
      </p:sp>
      <p:sp>
        <p:nvSpPr>
          <p:cNvPr id="5" name="Text 3"/>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36</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STANDARD FOL VS. DATABASE THINKING</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Standard FOL is open-world</a:t>
            </a:r>
            <a:endParaRPr lang="en-US" sz="1800" dirty="0"/>
          </a:p>
          <a:p>
            <a:r>
              <a:rPr lang="en-US" sz="1800" dirty="0">
                <a:solidFill>
                  <a:srgbClr val="1E293B"/>
                </a:solidFill>
                <a:latin typeface="Aptos" pitchFamily="34" charset="0"/>
                <a:ea typeface="Aptos" pitchFamily="34" charset="-122"/>
                <a:cs typeface="Aptos" pitchFamily="34" charset="-120"/>
              </a:rPr>
              <a:t>Different names may refer to same object</a:t>
            </a:r>
            <a:endParaRPr lang="en-US" sz="1800" dirty="0"/>
          </a:p>
          <a:p>
            <a:r>
              <a:rPr lang="en-US" sz="1800" dirty="0">
                <a:solidFill>
                  <a:srgbClr val="1E293B"/>
                </a:solidFill>
                <a:latin typeface="Aptos" pitchFamily="34" charset="0"/>
                <a:ea typeface="Aptos" pitchFamily="34" charset="-122"/>
                <a:cs typeface="Aptos" pitchFamily="34" charset="-120"/>
              </a:rPr>
              <a:t>Unknown facts are not automatically false</a:t>
            </a:r>
            <a:endParaRPr lang="en-US" sz="1800" dirty="0"/>
          </a:p>
          <a:p>
            <a:r>
              <a:rPr lang="en-US" sz="1800" dirty="0">
                <a:solidFill>
                  <a:srgbClr val="1E293B"/>
                </a:solidFill>
                <a:latin typeface="Aptos" pitchFamily="34" charset="0"/>
                <a:ea typeface="Aptos" pitchFamily="34" charset="-122"/>
                <a:cs typeface="Aptos" pitchFamily="34" charset="-120"/>
              </a:rPr>
              <a:t>Databases often assume more certainty</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detective board stays open to unknown suspects; a completed attendance sheet assumes only listed students are present.</a:t>
            </a:r>
            <a:endParaRPr lang="en-US" sz="1520" dirty="0"/>
          </a:p>
        </p:txBody>
      </p:sp>
      <p:sp>
        <p:nvSpPr>
          <p:cNvPr id="12" name="Shape 10"/>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3" name="Text 11"/>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4" name="Text 12"/>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In standard FOL, can Richard have another brother not named in the KB?</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37</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DATABASE SEMANTICS ASSUMPTIONS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Unique names: different constants are different objects</a:t>
            </a:r>
            <a:endParaRPr lang="en-US" sz="1800" dirty="0"/>
          </a:p>
          <a:p>
            <a:r>
              <a:rPr lang="en-US" sz="1800" dirty="0">
                <a:solidFill>
                  <a:srgbClr val="1E293B"/>
                </a:solidFill>
                <a:latin typeface="Aptos" pitchFamily="34" charset="0"/>
                <a:ea typeface="Aptos" pitchFamily="34" charset="-122"/>
                <a:cs typeface="Aptos" pitchFamily="34" charset="-120"/>
              </a:rPr>
              <a:t>Closed world: unknown atomic facts are false</a:t>
            </a:r>
            <a:endParaRPr lang="en-US" sz="1800" dirty="0"/>
          </a:p>
          <a:p>
            <a:r>
              <a:rPr lang="en-US" sz="1800" dirty="0">
                <a:solidFill>
                  <a:srgbClr val="1E293B"/>
                </a:solidFill>
                <a:latin typeface="Aptos" pitchFamily="34" charset="0"/>
                <a:ea typeface="Aptos" pitchFamily="34" charset="-122"/>
                <a:cs typeface="Aptos" pitchFamily="34" charset="-120"/>
              </a:rPr>
              <a:t>Domain closure: no unnamed domain objects</a:t>
            </a:r>
            <a:endParaRPr lang="en-US" sz="1800" dirty="0"/>
          </a:p>
          <a:p>
            <a:r>
              <a:rPr lang="en-US" sz="1800" dirty="0">
                <a:solidFill>
                  <a:srgbClr val="1E293B"/>
                </a:solidFill>
                <a:latin typeface="Aptos" pitchFamily="34" charset="0"/>
                <a:ea typeface="Aptos" pitchFamily="34" charset="-122"/>
                <a:cs typeface="Aptos" pitchFamily="34" charset="-120"/>
              </a:rPr>
              <a:t>Useful when data is complete</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restaurant reservation list: if your name is not on the list, the host treats that as “not reserved.”</a:t>
            </a:r>
            <a:endParaRPr lang="en-US" sz="1520" dirty="0"/>
          </a:p>
        </p:txBody>
      </p:sp>
      <p:sp>
        <p:nvSpPr>
          <p:cNvPr id="12" name="Shape 10"/>
          <p:cNvSpPr/>
          <p:nvPr/>
        </p:nvSpPr>
        <p:spPr>
          <a:xfrm>
            <a:off x="6629400" y="329184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456432"/>
            <a:ext cx="4471416" cy="521208"/>
          </a:xfrm>
          <a:prstGeom prst="rect">
            <a:avLst/>
          </a:prstGeom>
          <a:noFill/>
          <a:ln/>
        </p:spPr>
        <p:txBody>
          <a:bodyPr wrap="square" lIns="0" tIns="0" rIns="0" bIns="0" rtlCol="0" anchor="ctr">
            <a:normAutofit/>
          </a:bodyPr>
          <a:lstStyle/>
          <a:p>
            <a:pPr algn="ctr" indent="0" marL="0">
              <a:buNone/>
            </a:pPr>
            <a:r>
              <a:rPr lang="en-US" sz="2000" b="1" dirty="0">
                <a:solidFill>
                  <a:srgbClr val="005088"/>
                </a:solidFill>
                <a:latin typeface="Cambria Math" pitchFamily="34" charset="0"/>
                <a:ea typeface="Cambria Math" pitchFamily="34" charset="-122"/>
                <a:cs typeface="Cambria Math" pitchFamily="34" charset="-120"/>
              </a:rPr>
              <a:t>not in table ⇒ false</a:t>
            </a:r>
            <a:endParaRPr lang="en-US" sz="20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When would this be dangerous?</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38</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DATABASE SEMANTICS MODELS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685800" y="1536192"/>
            <a:ext cx="5257800" cy="4297680"/>
          </a:xfrm>
          <a:prstGeom prst="rect">
            <a:avLst/>
          </a:prstGeom>
          <a:noFill/>
          <a:ln/>
        </p:spPr>
        <p:txBody>
          <a:bodyPr wrap="square" lIns="1016" tIns="1016" rIns="1016" bIns="1016" rtlCol="0" anchor="t">
            <a:normAutofit/>
          </a:bodyPr>
          <a:lstStyle/>
          <a:p>
            <a:r>
              <a:rPr lang="en-US" sz="1750" dirty="0">
                <a:solidFill>
                  <a:srgbClr val="1E293B"/>
                </a:solidFill>
                <a:latin typeface="Aptos" pitchFamily="34" charset="0"/>
                <a:ea typeface="Aptos" pitchFamily="34" charset="-122"/>
                <a:cs typeface="Aptos" pitchFamily="34" charset="-120"/>
              </a:rPr>
              <a:t>Constants have fixed distinct objects</a:t>
            </a:r>
            <a:endParaRPr lang="en-US" sz="1750" dirty="0"/>
          </a:p>
          <a:p>
            <a:r>
              <a:rPr lang="en-US" sz="1750" dirty="0">
                <a:solidFill>
                  <a:srgbClr val="1E293B"/>
                </a:solidFill>
                <a:latin typeface="Aptos" pitchFamily="34" charset="0"/>
                <a:ea typeface="Aptos" pitchFamily="34" charset="-122"/>
                <a:cs typeface="Aptos" pitchFamily="34" charset="-120"/>
              </a:rPr>
              <a:t>Only named objects exist</a:t>
            </a:r>
            <a:endParaRPr lang="en-US" sz="1750" dirty="0"/>
          </a:p>
          <a:p>
            <a:r>
              <a:rPr lang="en-US" sz="1750" dirty="0">
                <a:solidFill>
                  <a:srgbClr val="1E293B"/>
                </a:solidFill>
                <a:latin typeface="Aptos" pitchFamily="34" charset="0"/>
                <a:ea typeface="Aptos" pitchFamily="34" charset="-122"/>
                <a:cs typeface="Aptos" pitchFamily="34" charset="-120"/>
              </a:rPr>
              <a:t>Relation tuples vary over fixed objects</a:t>
            </a:r>
            <a:endParaRPr lang="en-US" sz="1750" dirty="0"/>
          </a:p>
          <a:p>
            <a:r>
              <a:rPr lang="en-US" sz="1750" dirty="0">
                <a:solidFill>
                  <a:srgbClr val="1E293B"/>
                </a:solidFill>
                <a:latin typeface="Aptos" pitchFamily="34" charset="0"/>
                <a:ea typeface="Aptos" pitchFamily="34" charset="-122"/>
                <a:cs typeface="Aptos" pitchFamily="34" charset="-120"/>
              </a:rPr>
              <a:t>Much fewer models than standard FOL</a:t>
            </a:r>
            <a:endParaRPr lang="en-US" sz="1750" dirty="0"/>
          </a:p>
        </p:txBody>
      </p:sp>
      <p:sp>
        <p:nvSpPr>
          <p:cNvPr id="9" name="Shape 7"/>
          <p:cNvSpPr/>
          <p:nvPr/>
        </p:nvSpPr>
        <p:spPr>
          <a:xfrm>
            <a:off x="6318504" y="1563624"/>
            <a:ext cx="5239512" cy="4096512"/>
          </a:xfrm>
          <a:prstGeom prst="roundRect">
            <a:avLst>
              <a:gd name="adj" fmla="val 1563"/>
            </a:avLst>
          </a:prstGeom>
          <a:solidFill>
            <a:srgbClr val="FFFFFF"/>
          </a:solidFill>
          <a:ln w="12700">
            <a:solidFill>
              <a:srgbClr val="CBD5E1"/>
            </a:solidFill>
            <a:prstDash val="solid"/>
          </a:ln>
        </p:spPr>
      </p:sp>
      <p:pic>
        <p:nvPicPr>
          <p:cNvPr id="10" name="Image 0" descr="/mnt/data/ch8_ppt_assets/fig8_5_database_models.png">    </p:cNvPr>
          <p:cNvPicPr>
            <a:picLocks noChangeAspect="1"/>
          </p:cNvPicPr>
          <p:nvPr/>
        </p:nvPicPr>
        <p:blipFill>
          <a:blip r:embed="rId1"/>
          <a:stretch>
            <a:fillRect/>
          </a:stretch>
        </p:blipFill>
        <p:spPr>
          <a:xfrm>
            <a:off x="6355080" y="2678355"/>
            <a:ext cx="5166360" cy="1867051"/>
          </a:xfrm>
          <a:prstGeom prst="rect">
            <a:avLst/>
          </a:prstGeom>
        </p:spPr>
      </p:pic>
      <p:sp>
        <p:nvSpPr>
          <p:cNvPr id="11" name="Text 8"/>
          <p:cNvSpPr/>
          <p:nvPr/>
        </p:nvSpPr>
        <p:spPr>
          <a:xfrm>
            <a:off x="6355080" y="5696712"/>
            <a:ext cx="5166360" cy="320040"/>
          </a:xfrm>
          <a:prstGeom prst="rect">
            <a:avLst/>
          </a:prstGeom>
          <a:noFill/>
          <a:ln/>
        </p:spPr>
        <p:txBody>
          <a:bodyPr wrap="square" lIns="0" tIns="0" rIns="0" bIns="0" rtlCol="0" anchor="ctr">
            <a:normAutofit/>
          </a:bodyPr>
          <a:lstStyle/>
          <a:p>
            <a:pPr indent="0" marL="0">
              <a:buNone/>
            </a:pPr>
            <a:r>
              <a:rPr lang="en-US" sz="1050" i="1" dirty="0">
                <a:solidFill>
                  <a:srgbClr val="64748B"/>
                </a:solidFill>
              </a:rPr>
              <a:t>Figure 8.5: models under database semantics.</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39</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NO ONE CORRECT SEMANTICS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Semantics are modeling choices</a:t>
            </a:r>
            <a:endParaRPr lang="en-US" sz="1800" dirty="0"/>
          </a:p>
          <a:p>
            <a:r>
              <a:rPr lang="en-US" sz="1800" dirty="0">
                <a:solidFill>
                  <a:srgbClr val="1E293B"/>
                </a:solidFill>
                <a:latin typeface="Aptos" pitchFamily="34" charset="0"/>
                <a:ea typeface="Aptos" pitchFamily="34" charset="-122"/>
                <a:cs typeface="Aptos" pitchFamily="34" charset="-120"/>
              </a:rPr>
              <a:t>Standard FOL works well with incomplete knowledge</a:t>
            </a:r>
            <a:endParaRPr lang="en-US" sz="1800" dirty="0"/>
          </a:p>
          <a:p>
            <a:r>
              <a:rPr lang="en-US" sz="1800" dirty="0">
                <a:solidFill>
                  <a:srgbClr val="1E293B"/>
                </a:solidFill>
                <a:latin typeface="Aptos" pitchFamily="34" charset="0"/>
                <a:ea typeface="Aptos" pitchFamily="34" charset="-122"/>
                <a:cs typeface="Aptos" pitchFamily="34" charset="-120"/>
              </a:rPr>
              <a:t>Database semantics works well with complete records</a:t>
            </a:r>
            <a:endParaRPr lang="en-US" sz="1800" dirty="0"/>
          </a:p>
          <a:p>
            <a:r>
              <a:rPr lang="en-US" sz="1800" dirty="0">
                <a:solidFill>
                  <a:srgbClr val="1E293B"/>
                </a:solidFill>
                <a:latin typeface="Aptos" pitchFamily="34" charset="0"/>
                <a:ea typeface="Aptos" pitchFamily="34" charset="-122"/>
                <a:cs typeface="Aptos" pitchFamily="34" charset="-120"/>
              </a:rPr>
              <a:t>Choose based on the task</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weather forecast app should not assume “not reported” means “not raining”; a gradebook may safely treat missing assignment as zero by policy.</a:t>
            </a:r>
            <a:endParaRPr lang="en-US" sz="1520" dirty="0"/>
          </a:p>
        </p:txBody>
      </p:sp>
      <p:sp>
        <p:nvSpPr>
          <p:cNvPr id="12" name="Shape 10"/>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3" name="Text 11"/>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4" name="Text 12"/>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Ask students to classify: medical diagnosis KB or course enrollment database?</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65760"/>
          </a:xfrm>
          <a:prstGeom prst="rect">
            <a:avLst/>
          </a:prstGeom>
          <a:noFill/>
          <a:ln/>
        </p:spPr>
        <p:txBody>
          <a:bodyPr wrap="square" lIns="0" tIns="0" rIns="0" bIns="0" rtlCol="0" anchor="ctr"/>
          <a:lstStyle/>
          <a:p>
            <a:pPr indent="0" marL="0">
              <a:buNone/>
            </a:pPr>
            <a:r>
              <a:rPr lang="en-US" sz="1600" b="1" dirty="0">
                <a:solidFill>
                  <a:srgbClr val="A5F3FC"/>
                </a:solidFill>
              </a:rPr>
              <a:t>COMP 469</a:t>
            </a:r>
            <a:endParaRPr lang="en-US" sz="1600" dirty="0"/>
          </a:p>
        </p:txBody>
      </p:sp>
      <p:sp>
        <p:nvSpPr>
          <p:cNvPr id="3" name="Text 1"/>
          <p:cNvSpPr/>
          <p:nvPr/>
        </p:nvSpPr>
        <p:spPr>
          <a:xfrm>
            <a:off x="685800" y="1920240"/>
            <a:ext cx="10698480" cy="822960"/>
          </a:xfrm>
          <a:prstGeom prst="rect">
            <a:avLst/>
          </a:prstGeom>
          <a:noFill/>
          <a:ln/>
        </p:spPr>
        <p:txBody>
          <a:bodyPr wrap="square" lIns="0" tIns="0" rIns="0" bIns="0" rtlCol="0" anchor="ctr">
            <a:normAutofit/>
          </a:bodyPr>
          <a:lstStyle/>
          <a:p>
            <a:pPr indent="0" marL="0">
              <a:buNone/>
            </a:pPr>
            <a:r>
              <a:rPr lang="en-US" sz="4400" b="1" dirty="0">
                <a:solidFill>
                  <a:srgbClr val="F4F1DE"/>
                </a:solidFill>
              </a:rPr>
              <a:t>8.3 Using First-Order Logic</a:t>
            </a:r>
            <a:endParaRPr lang="en-US" sz="4400" dirty="0"/>
          </a:p>
        </p:txBody>
      </p:sp>
      <p:sp>
        <p:nvSpPr>
          <p:cNvPr id="4" name="Text 2"/>
          <p:cNvSpPr/>
          <p:nvPr/>
        </p:nvSpPr>
        <p:spPr>
          <a:xfrm>
            <a:off x="713232" y="2880360"/>
            <a:ext cx="9875520" cy="457200"/>
          </a:xfrm>
          <a:prstGeom prst="rect">
            <a:avLst/>
          </a:prstGeom>
          <a:noFill/>
          <a:ln/>
        </p:spPr>
        <p:txBody>
          <a:bodyPr wrap="square" lIns="0" tIns="0" rIns="0" bIns="0" rtlCol="0" anchor="ctr"/>
          <a:lstStyle/>
          <a:p>
            <a:pPr indent="0" marL="0">
              <a:buNone/>
            </a:pPr>
            <a:r>
              <a:rPr lang="en-US" sz="2000" dirty="0">
                <a:solidFill>
                  <a:srgbClr val="D9F99D"/>
                </a:solidFill>
              </a:rPr>
              <a:t>Writing useful knowledge, not just legal formulas</a:t>
            </a:r>
            <a:endParaRPr lang="en-US" sz="2000" dirty="0"/>
          </a:p>
        </p:txBody>
      </p:sp>
      <p:sp>
        <p:nvSpPr>
          <p:cNvPr id="5" name="Text 3"/>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41</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TRANSLATION WORKFLOW</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Identify objects in the domain</a:t>
            </a:r>
            <a:endParaRPr lang="en-US" sz="1800" dirty="0"/>
          </a:p>
          <a:p>
            <a:r>
              <a:rPr lang="en-US" sz="1800" dirty="0">
                <a:solidFill>
                  <a:srgbClr val="1E293B"/>
                </a:solidFill>
                <a:latin typeface="Aptos" pitchFamily="34" charset="0"/>
                <a:ea typeface="Aptos" pitchFamily="34" charset="-122"/>
                <a:cs typeface="Aptos" pitchFamily="34" charset="-120"/>
              </a:rPr>
              <a:t>Choose predicates for properties/relations</a:t>
            </a:r>
            <a:endParaRPr lang="en-US" sz="1800" dirty="0"/>
          </a:p>
          <a:p>
            <a:r>
              <a:rPr lang="en-US" sz="1800" dirty="0">
                <a:solidFill>
                  <a:srgbClr val="1E293B"/>
                </a:solidFill>
                <a:latin typeface="Aptos" pitchFamily="34" charset="0"/>
                <a:ea typeface="Aptos" pitchFamily="34" charset="-122"/>
                <a:cs typeface="Aptos" pitchFamily="34" charset="-120"/>
              </a:rPr>
              <a:t>Choose functions for unique mappings</a:t>
            </a:r>
            <a:endParaRPr lang="en-US" sz="1800" dirty="0"/>
          </a:p>
          <a:p>
            <a:r>
              <a:rPr lang="en-US" sz="1800" dirty="0">
                <a:solidFill>
                  <a:srgbClr val="1E293B"/>
                </a:solidFill>
                <a:latin typeface="Aptos" pitchFamily="34" charset="0"/>
                <a:ea typeface="Aptos" pitchFamily="34" charset="-122"/>
                <a:cs typeface="Aptos" pitchFamily="34" charset="-120"/>
              </a:rPr>
              <a:t>Write rules with quantifiers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Translation is like designing a database schema before entering data.</a:t>
            </a:r>
            <a:endParaRPr lang="en-US" sz="1520" dirty="0"/>
          </a:p>
        </p:txBody>
      </p:sp>
      <p:sp>
        <p:nvSpPr>
          <p:cNvPr id="12" name="Shape 10"/>
          <p:cNvSpPr/>
          <p:nvPr/>
        </p:nvSpPr>
        <p:spPr>
          <a:xfrm>
            <a:off x="6629400" y="333756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502152"/>
            <a:ext cx="4471416" cy="521208"/>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English → vocabulary → FOL sentence</a:t>
            </a:r>
            <a:endParaRPr lang="en-US" sz="17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Do not translate word-by-word; translate meaning.</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42</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RULE COMPRESSION IN WUMPUS WORLD</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Propositional logic repeats rules by square</a:t>
            </a:r>
            <a:endParaRPr lang="en-US" sz="1800" dirty="0"/>
          </a:p>
          <a:p>
            <a:r>
              <a:rPr lang="en-US" sz="1800" dirty="0">
                <a:solidFill>
                  <a:srgbClr val="1E293B"/>
                </a:solidFill>
                <a:latin typeface="Aptos" pitchFamily="34" charset="0"/>
                <a:ea typeface="Aptos" pitchFamily="34" charset="-122"/>
                <a:cs typeface="Aptos" pitchFamily="34" charset="-120"/>
              </a:rPr>
              <a:t>FOL introduces square variables</a:t>
            </a:r>
            <a:endParaRPr lang="en-US" sz="1800" dirty="0"/>
          </a:p>
          <a:p>
            <a:r>
              <a:rPr lang="en-US" sz="1800" dirty="0">
                <a:solidFill>
                  <a:srgbClr val="1E293B"/>
                </a:solidFill>
                <a:latin typeface="Aptos" pitchFamily="34" charset="0"/>
                <a:ea typeface="Aptos" pitchFamily="34" charset="-122"/>
                <a:cs typeface="Aptos" pitchFamily="34" charset="-120"/>
              </a:rPr>
              <a:t>Adjacency becomes a reusable relation</a:t>
            </a:r>
            <a:endParaRPr lang="en-US" sz="1800" dirty="0"/>
          </a:p>
          <a:p>
            <a:r>
              <a:rPr lang="en-US" sz="1800" dirty="0">
                <a:solidFill>
                  <a:srgbClr val="1E293B"/>
                </a:solidFill>
                <a:latin typeface="Aptos" pitchFamily="34" charset="0"/>
                <a:ea typeface="Aptos" pitchFamily="34" charset="-122"/>
                <a:cs typeface="Aptos" pitchFamily="34" charset="-120"/>
              </a:rPr>
              <a:t>One schema covers the grid</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Instead of writing separate safety instructions for every room, write one rule about rooms adjacent to hazards.</a:t>
            </a:r>
            <a:endParaRPr lang="en-US" sz="1520" dirty="0"/>
          </a:p>
        </p:txBody>
      </p:sp>
      <p:sp>
        <p:nvSpPr>
          <p:cNvPr id="12" name="Shape 10"/>
          <p:cNvSpPr/>
          <p:nvPr/>
        </p:nvSpPr>
        <p:spPr>
          <a:xfrm>
            <a:off x="6629400" y="3108960"/>
            <a:ext cx="4800600" cy="960120"/>
          </a:xfrm>
          <a:prstGeom prst="roundRect">
            <a:avLst>
              <a:gd name="adj" fmla="val 7619"/>
            </a:avLst>
          </a:prstGeom>
          <a:solidFill>
            <a:srgbClr val="FFFFFF">
              <a:alpha val="92000"/>
            </a:srgbClr>
          </a:solidFill>
          <a:ln w="12700">
            <a:solidFill>
              <a:srgbClr val="007C89"/>
            </a:solidFill>
            <a:prstDash val="solid"/>
          </a:ln>
        </p:spPr>
      </p:sp>
      <p:sp>
        <p:nvSpPr>
          <p:cNvPr id="13" name="Text 11"/>
          <p:cNvSpPr/>
          <p:nvPr/>
        </p:nvSpPr>
        <p:spPr>
          <a:xfrm>
            <a:off x="6793992" y="3273552"/>
            <a:ext cx="4471416" cy="731520"/>
          </a:xfrm>
          <a:prstGeom prst="rect">
            <a:avLst/>
          </a:prstGeom>
          <a:noFill/>
          <a:ln/>
        </p:spPr>
        <p:txBody>
          <a:bodyPr wrap="square" lIns="0" tIns="0" rIns="0" bIns="0" rtlCol="0" anchor="ctr">
            <a:normAutofit/>
          </a:bodyPr>
          <a:lstStyle/>
          <a:p>
            <a:pPr algn="ctr" indent="0" marL="0">
              <a:buNone/>
            </a:pPr>
            <a:r>
              <a:rPr lang="en-US" sz="1500" b="1" dirty="0">
                <a:solidFill>
                  <a:srgbClr val="005088"/>
                </a:solidFill>
                <a:latin typeface="Cambria Math" pitchFamily="34" charset="0"/>
                <a:ea typeface="Cambria Math" pitchFamily="34" charset="-122"/>
                <a:cs typeface="Cambria Math" pitchFamily="34" charset="-120"/>
              </a:rPr>
              <a:t>∀s Breezy(s) ⇔ ∃p(Pit(p) ∧ Adjacent(p,s))</a:t>
            </a:r>
            <a:endParaRPr lang="en-US" sz="15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Where is the domain knowledge hidden in this sentence?</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43</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WUMPUS SMELL RULE</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The same pattern handles Wumpus location</a:t>
            </a:r>
            <a:endParaRPr lang="en-US" sz="1800" dirty="0"/>
          </a:p>
          <a:p>
            <a:r>
              <a:rPr lang="en-US" sz="1800" dirty="0">
                <a:solidFill>
                  <a:srgbClr val="1E293B"/>
                </a:solidFill>
                <a:latin typeface="Aptos" pitchFamily="34" charset="0"/>
                <a:ea typeface="Aptos" pitchFamily="34" charset="-122"/>
                <a:cs typeface="Aptos" pitchFamily="34" charset="-120"/>
              </a:rPr>
              <a:t>Smelly squares are adjacent to the Wumpus</a:t>
            </a:r>
            <a:endParaRPr lang="en-US" sz="1800" dirty="0"/>
          </a:p>
          <a:p>
            <a:r>
              <a:rPr lang="en-US" sz="1800" dirty="0">
                <a:solidFill>
                  <a:srgbClr val="1E293B"/>
                </a:solidFill>
                <a:latin typeface="Aptos" pitchFamily="34" charset="0"/>
                <a:ea typeface="Aptos" pitchFamily="34" charset="-122"/>
                <a:cs typeface="Aptos" pitchFamily="34" charset="-120"/>
              </a:rPr>
              <a:t>Biconditional supports positive and negative inference</a:t>
            </a:r>
            <a:endParaRPr lang="en-US" sz="1800" dirty="0"/>
          </a:p>
          <a:p>
            <a:r>
              <a:rPr lang="en-US" sz="1800" dirty="0">
                <a:solidFill>
                  <a:srgbClr val="1E293B"/>
                </a:solidFill>
                <a:latin typeface="Aptos" pitchFamily="34" charset="0"/>
                <a:ea typeface="Aptos" pitchFamily="34" charset="-122"/>
                <a:cs typeface="Aptos" pitchFamily="34" charset="-120"/>
              </a:rPr>
              <a:t>A one-way rule may be too weak</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smoke detector rule: smoke near fire and fire near smoke are not the same unless both directions are specified.</a:t>
            </a:r>
            <a:endParaRPr lang="en-US" sz="1520" dirty="0"/>
          </a:p>
        </p:txBody>
      </p:sp>
      <p:sp>
        <p:nvSpPr>
          <p:cNvPr id="12" name="Shape 10"/>
          <p:cNvSpPr/>
          <p:nvPr/>
        </p:nvSpPr>
        <p:spPr>
          <a:xfrm>
            <a:off x="6629400" y="3108960"/>
            <a:ext cx="4800600" cy="960120"/>
          </a:xfrm>
          <a:prstGeom prst="roundRect">
            <a:avLst>
              <a:gd name="adj" fmla="val 7619"/>
            </a:avLst>
          </a:prstGeom>
          <a:solidFill>
            <a:srgbClr val="FFFFFF">
              <a:alpha val="92000"/>
            </a:srgbClr>
          </a:solidFill>
          <a:ln w="12700">
            <a:solidFill>
              <a:srgbClr val="007C89"/>
            </a:solidFill>
            <a:prstDash val="solid"/>
          </a:ln>
        </p:spPr>
      </p:sp>
      <p:sp>
        <p:nvSpPr>
          <p:cNvPr id="13" name="Text 11"/>
          <p:cNvSpPr/>
          <p:nvPr/>
        </p:nvSpPr>
        <p:spPr>
          <a:xfrm>
            <a:off x="6793992" y="3273552"/>
            <a:ext cx="4471416" cy="731520"/>
          </a:xfrm>
          <a:prstGeom prst="rect">
            <a:avLst/>
          </a:prstGeom>
          <a:noFill/>
          <a:ln/>
        </p:spPr>
        <p:txBody>
          <a:bodyPr wrap="square" lIns="0" tIns="0" rIns="0" bIns="0" rtlCol="0" anchor="ctr">
            <a:normAutofit/>
          </a:bodyPr>
          <a:lstStyle/>
          <a:p>
            <a:pPr algn="ctr" indent="0" marL="0">
              <a:buNone/>
            </a:pPr>
            <a:r>
              <a:rPr lang="en-US" sz="1450" b="1" dirty="0">
                <a:solidFill>
                  <a:srgbClr val="005088"/>
                </a:solidFill>
                <a:latin typeface="Cambria Math" pitchFamily="34" charset="0"/>
                <a:ea typeface="Cambria Math" pitchFamily="34" charset="-122"/>
                <a:cs typeface="Cambria Math" pitchFamily="34" charset="-120"/>
              </a:rPr>
              <a:t>∀s Smelly(s) ⇔ ∃w(Wumpus(w) ∧ Adjacent(w,s))</a:t>
            </a:r>
            <a:endParaRPr lang="en-US" sz="145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Why might ⇒ be insufficient if the agent needs to prove safety?</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44</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ASKVARS-STYLE QUESTIONS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Queries can ask for objects, not just true/false</a:t>
            </a:r>
            <a:endParaRPr lang="en-US" sz="1800" dirty="0"/>
          </a:p>
          <a:p>
            <a:r>
              <a:rPr lang="en-US" sz="1800" dirty="0">
                <a:solidFill>
                  <a:srgbClr val="1E293B"/>
                </a:solidFill>
                <a:latin typeface="Aptos" pitchFamily="34" charset="0"/>
                <a:ea typeface="Aptos" pitchFamily="34" charset="-122"/>
                <a:cs typeface="Aptos" pitchFamily="34" charset="-120"/>
              </a:rPr>
              <a:t>Variables in queries become answer slots</a:t>
            </a:r>
            <a:endParaRPr lang="en-US" sz="1800" dirty="0"/>
          </a:p>
          <a:p>
            <a:r>
              <a:rPr lang="en-US" sz="1800" dirty="0">
                <a:solidFill>
                  <a:srgbClr val="1E293B"/>
                </a:solidFill>
                <a:latin typeface="Aptos" pitchFamily="34" charset="0"/>
                <a:ea typeface="Aptos" pitchFamily="34" charset="-122"/>
                <a:cs typeface="Aptos" pitchFamily="34" charset="-120"/>
              </a:rPr>
              <a:t>Answers are substitutions</a:t>
            </a:r>
            <a:endParaRPr lang="en-US" sz="1800" dirty="0"/>
          </a:p>
          <a:p>
            <a:r>
              <a:rPr lang="en-US" sz="1800" dirty="0">
                <a:solidFill>
                  <a:srgbClr val="1E293B"/>
                </a:solidFill>
                <a:latin typeface="Aptos" pitchFamily="34" charset="0"/>
                <a:ea typeface="Aptos" pitchFamily="34" charset="-122"/>
                <a:cs typeface="Aptos" pitchFamily="34" charset="-120"/>
              </a:rPr>
              <a:t>Useful for planning and diagnosis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Instead of asking “is there a safe square?”, ask “which squares are safe?”</a:t>
            </a:r>
            <a:endParaRPr lang="en-US" sz="1520" dirty="0"/>
          </a:p>
        </p:txBody>
      </p:sp>
      <p:sp>
        <p:nvSpPr>
          <p:cNvPr id="12" name="Shape 10"/>
          <p:cNvSpPr/>
          <p:nvPr/>
        </p:nvSpPr>
        <p:spPr>
          <a:xfrm>
            <a:off x="6629400" y="324612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410712"/>
            <a:ext cx="4471416" cy="521208"/>
          </a:xfrm>
          <a:prstGeom prst="rect">
            <a:avLst/>
          </a:prstGeom>
          <a:noFill/>
          <a:ln/>
        </p:spPr>
        <p:txBody>
          <a:bodyPr wrap="square" lIns="0" tIns="0" rIns="0" bIns="0" rtlCol="0" anchor="ctr">
            <a:normAutofit/>
          </a:bodyPr>
          <a:lstStyle/>
          <a:p>
            <a:pPr algn="ctr" indent="0" marL="0">
              <a:buNone/>
            </a:pPr>
            <a:r>
              <a:rPr lang="en-US" sz="1900" b="1" dirty="0">
                <a:solidFill>
                  <a:srgbClr val="005088"/>
                </a:solidFill>
                <a:latin typeface="Cambria Math" pitchFamily="34" charset="0"/>
                <a:ea typeface="Cambria Math" pitchFamily="34" charset="-122"/>
                <a:cs typeface="Cambria Math" pitchFamily="34" charset="-120"/>
              </a:rPr>
              <a:t>ASKVARS x: Safe(x)</a:t>
            </a:r>
            <a:endParaRPr lang="en-US" sz="19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What should the answer format look like?</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45</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OBJECTS OR PREDICATES?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Pit as object: Pit₁ located at S₂₂</a:t>
            </a:r>
            <a:endParaRPr lang="en-US" sz="1800" dirty="0"/>
          </a:p>
          <a:p>
            <a:r>
              <a:rPr lang="en-US" sz="1800" dirty="0">
                <a:solidFill>
                  <a:srgbClr val="1E293B"/>
                </a:solidFill>
                <a:latin typeface="Aptos" pitchFamily="34" charset="0"/>
                <a:ea typeface="Aptos" pitchFamily="34" charset="-122"/>
                <a:cs typeface="Aptos" pitchFamily="34" charset="-120"/>
              </a:rPr>
              <a:t>Pit as predicate: Pit(S₂₂)</a:t>
            </a:r>
            <a:endParaRPr lang="en-US" sz="1800" dirty="0"/>
          </a:p>
          <a:p>
            <a:r>
              <a:rPr lang="en-US" sz="1800" dirty="0">
                <a:solidFill>
                  <a:srgbClr val="1E293B"/>
                </a:solidFill>
                <a:latin typeface="Aptos" pitchFamily="34" charset="0"/>
                <a:ea typeface="Aptos" pitchFamily="34" charset="-122"/>
                <a:cs typeface="Aptos" pitchFamily="34" charset="-120"/>
              </a:rPr>
              <a:t>Both can be legal</a:t>
            </a:r>
            <a:endParaRPr lang="en-US" sz="1800" dirty="0"/>
          </a:p>
          <a:p>
            <a:r>
              <a:rPr lang="en-US" sz="1800" dirty="0">
                <a:solidFill>
                  <a:srgbClr val="1E293B"/>
                </a:solidFill>
                <a:latin typeface="Aptos" pitchFamily="34" charset="0"/>
                <a:ea typeface="Aptos" pitchFamily="34" charset="-122"/>
                <a:cs typeface="Aptos" pitchFamily="34" charset="-120"/>
              </a:rPr>
              <a:t>Good ontology depends on questions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Modeling is like choosing classes in software design: more than one design works, but some make later questions easier.</a:t>
            </a:r>
            <a:endParaRPr lang="en-US" sz="1520" dirty="0"/>
          </a:p>
        </p:txBody>
      </p:sp>
      <p:sp>
        <p:nvSpPr>
          <p:cNvPr id="12" name="Shape 10"/>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3" name="Text 11"/>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4" name="Text 12"/>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Would you represent Course as an object or Enrolled as a relation?</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65760"/>
          </a:xfrm>
          <a:prstGeom prst="rect">
            <a:avLst/>
          </a:prstGeom>
          <a:noFill/>
          <a:ln/>
        </p:spPr>
        <p:txBody>
          <a:bodyPr wrap="square" lIns="0" tIns="0" rIns="0" bIns="0" rtlCol="0" anchor="ctr"/>
          <a:lstStyle/>
          <a:p>
            <a:pPr indent="0" marL="0">
              <a:buNone/>
            </a:pPr>
            <a:r>
              <a:rPr lang="en-US" sz="1600" b="1" dirty="0">
                <a:solidFill>
                  <a:srgbClr val="A5F3FC"/>
                </a:solidFill>
              </a:rPr>
              <a:t>COMP 469</a:t>
            </a:r>
            <a:endParaRPr lang="en-US" sz="1600" dirty="0"/>
          </a:p>
        </p:txBody>
      </p:sp>
      <p:sp>
        <p:nvSpPr>
          <p:cNvPr id="3" name="Text 1"/>
          <p:cNvSpPr/>
          <p:nvPr/>
        </p:nvSpPr>
        <p:spPr>
          <a:xfrm>
            <a:off x="685800" y="1920240"/>
            <a:ext cx="10698480" cy="822960"/>
          </a:xfrm>
          <a:prstGeom prst="rect">
            <a:avLst/>
          </a:prstGeom>
          <a:noFill/>
          <a:ln/>
        </p:spPr>
        <p:txBody>
          <a:bodyPr wrap="square" lIns="0" tIns="0" rIns="0" bIns="0" rtlCol="0" anchor="ctr">
            <a:normAutofit/>
          </a:bodyPr>
          <a:lstStyle/>
          <a:p>
            <a:pPr indent="0" marL="0">
              <a:buNone/>
            </a:pPr>
            <a:r>
              <a:rPr lang="en-US" sz="4400" b="1" dirty="0">
                <a:solidFill>
                  <a:srgbClr val="F4F1DE"/>
                </a:solidFill>
              </a:rPr>
              <a:t>8.4 Knowledge Engineering in FOL</a:t>
            </a:r>
            <a:endParaRPr lang="en-US" sz="4400" dirty="0"/>
          </a:p>
        </p:txBody>
      </p:sp>
      <p:sp>
        <p:nvSpPr>
          <p:cNvPr id="4" name="Text 2"/>
          <p:cNvSpPr/>
          <p:nvPr/>
        </p:nvSpPr>
        <p:spPr>
          <a:xfrm>
            <a:off x="713232" y="2880360"/>
            <a:ext cx="9875520" cy="457200"/>
          </a:xfrm>
          <a:prstGeom prst="rect">
            <a:avLst/>
          </a:prstGeom>
          <a:noFill/>
          <a:ln/>
        </p:spPr>
        <p:txBody>
          <a:bodyPr wrap="square" lIns="0" tIns="0" rIns="0" bIns="0" rtlCol="0" anchor="ctr"/>
          <a:lstStyle/>
          <a:p>
            <a:pPr indent="0" marL="0">
              <a:buNone/>
            </a:pPr>
            <a:r>
              <a:rPr lang="en-US" sz="2000" dirty="0">
                <a:solidFill>
                  <a:srgbClr val="D9F99D"/>
                </a:solidFill>
              </a:rPr>
              <a:t>From formulas to a working knowledge base</a:t>
            </a:r>
            <a:endParaRPr lang="en-US" sz="2000" dirty="0"/>
          </a:p>
        </p:txBody>
      </p:sp>
      <p:sp>
        <p:nvSpPr>
          <p:cNvPr id="5" name="Text 3"/>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47</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KNOWLEDGE ENGINEERING: THE BIG PICTURE</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Investigate the domain</a:t>
            </a:r>
            <a:endParaRPr lang="en-US" sz="1800" dirty="0"/>
          </a:p>
          <a:p>
            <a:r>
              <a:rPr lang="en-US" sz="1800" dirty="0">
                <a:solidFill>
                  <a:srgbClr val="1E293B"/>
                </a:solidFill>
                <a:latin typeface="Aptos" pitchFamily="34" charset="0"/>
                <a:ea typeface="Aptos" pitchFamily="34" charset="-122"/>
                <a:cs typeface="Aptos" pitchFamily="34" charset="-120"/>
              </a:rPr>
              <a:t>Choose an ontology</a:t>
            </a:r>
            <a:endParaRPr lang="en-US" sz="1800" dirty="0"/>
          </a:p>
          <a:p>
            <a:r>
              <a:rPr lang="en-US" sz="1800" dirty="0">
                <a:solidFill>
                  <a:srgbClr val="1E293B"/>
                </a:solidFill>
                <a:latin typeface="Aptos" pitchFamily="34" charset="0"/>
                <a:ea typeface="Aptos" pitchFamily="34" charset="-122"/>
                <a:cs typeface="Aptos" pitchFamily="34" charset="-120"/>
              </a:rPr>
              <a:t>Encode general axioms</a:t>
            </a:r>
            <a:endParaRPr lang="en-US" sz="1800" dirty="0"/>
          </a:p>
          <a:p>
            <a:r>
              <a:rPr lang="en-US" sz="1800" dirty="0">
                <a:solidFill>
                  <a:srgbClr val="1E293B"/>
                </a:solidFill>
                <a:latin typeface="Aptos" pitchFamily="34" charset="0"/>
                <a:ea typeface="Aptos" pitchFamily="34" charset="-122"/>
                <a:cs typeface="Aptos" pitchFamily="34" charset="-120"/>
              </a:rPr>
              <a:t>Add problem facts and ask queries</a:t>
            </a:r>
            <a:endParaRPr lang="en-US" sz="1800" dirty="0"/>
          </a:p>
          <a:p>
            <a:r>
              <a:rPr lang="en-US" sz="1800" dirty="0">
                <a:solidFill>
                  <a:srgbClr val="1E293B"/>
                </a:solidFill>
                <a:latin typeface="Aptos" pitchFamily="34" charset="0"/>
                <a:ea typeface="Aptos" pitchFamily="34" charset="-122"/>
                <a:cs typeface="Aptos" pitchFamily="34" charset="-120"/>
              </a:rPr>
              <a:t>Debug against expected answers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Building a KB is like designing a lab experiment: define what you measure, control variables, then test whether results make sense.</a:t>
            </a:r>
            <a:endParaRPr lang="en-US" sz="1520" dirty="0"/>
          </a:p>
        </p:txBody>
      </p:sp>
      <p:sp>
        <p:nvSpPr>
          <p:cNvPr id="12" name="Shape 10"/>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3" name="Text 11"/>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4" name="Text 12"/>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Why is “debugging the KB” different from debugging Python code?</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48</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STEP 1: IDENTIFY THE QUESTIONS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What must the KB answer?</a:t>
            </a:r>
            <a:endParaRPr lang="en-US" sz="1800" dirty="0"/>
          </a:p>
          <a:p>
            <a:r>
              <a:rPr lang="en-US" sz="1800" dirty="0">
                <a:solidFill>
                  <a:srgbClr val="1E293B"/>
                </a:solidFill>
                <a:latin typeface="Aptos" pitchFamily="34" charset="0"/>
                <a:ea typeface="Aptos" pitchFamily="34" charset="-122"/>
                <a:cs typeface="Aptos" pitchFamily="34" charset="-120"/>
              </a:rPr>
              <a:t>What facts will be given?</a:t>
            </a:r>
            <a:endParaRPr lang="en-US" sz="1800" dirty="0"/>
          </a:p>
          <a:p>
            <a:r>
              <a:rPr lang="en-US" sz="1800" dirty="0">
                <a:solidFill>
                  <a:srgbClr val="1E293B"/>
                </a:solidFill>
                <a:latin typeface="Aptos" pitchFamily="34" charset="0"/>
                <a:ea typeface="Aptos" pitchFamily="34" charset="-122"/>
                <a:cs typeface="Aptos" pitchFamily="34" charset="-120"/>
              </a:rPr>
              <a:t>What level of detail is needed?</a:t>
            </a:r>
            <a:endParaRPr lang="en-US" sz="1800" dirty="0"/>
          </a:p>
          <a:p>
            <a:r>
              <a:rPr lang="en-US" sz="1800" dirty="0">
                <a:solidFill>
                  <a:srgbClr val="1E293B"/>
                </a:solidFill>
                <a:latin typeface="Aptos" pitchFamily="34" charset="0"/>
                <a:ea typeface="Aptos" pitchFamily="34" charset="-122"/>
                <a:cs typeface="Aptos" pitchFamily="34" charset="-120"/>
              </a:rPr>
              <a:t>The task determines the vocabulary</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Before building a GPS app, decide whether it needs routes, traffic, gas stations, or scenic stops.</a:t>
            </a:r>
            <a:endParaRPr lang="en-US" sz="1520" dirty="0"/>
          </a:p>
        </p:txBody>
      </p:sp>
      <p:sp>
        <p:nvSpPr>
          <p:cNvPr id="12" name="Shape 10"/>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3" name="Text 11"/>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4" name="Text 12"/>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Circuit example: functionality? connectivity? timing? power?</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49</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STEP 2: ASSEMBLE RELEVANT KNOWLEDGE</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Talk to experts or inspect the domain</a:t>
            </a:r>
            <a:endParaRPr lang="en-US" sz="1800" dirty="0"/>
          </a:p>
          <a:p>
            <a:r>
              <a:rPr lang="en-US" sz="1800" dirty="0">
                <a:solidFill>
                  <a:srgbClr val="1E293B"/>
                </a:solidFill>
                <a:latin typeface="Aptos" pitchFamily="34" charset="0"/>
                <a:ea typeface="Aptos" pitchFamily="34" charset="-122"/>
                <a:cs typeface="Aptos" pitchFamily="34" charset="-120"/>
              </a:rPr>
              <a:t>Separate relevant from irrelevant facts</a:t>
            </a:r>
            <a:endParaRPr lang="en-US" sz="1800" dirty="0"/>
          </a:p>
          <a:p>
            <a:r>
              <a:rPr lang="en-US" sz="1800" dirty="0">
                <a:solidFill>
                  <a:srgbClr val="1E293B"/>
                </a:solidFill>
                <a:latin typeface="Aptos" pitchFamily="34" charset="0"/>
                <a:ea typeface="Aptos" pitchFamily="34" charset="-122"/>
                <a:cs typeface="Aptos" pitchFamily="34" charset="-120"/>
              </a:rPr>
              <a:t>Know the domain before formalizing it</a:t>
            </a:r>
            <a:endParaRPr lang="en-US" sz="1800" dirty="0"/>
          </a:p>
          <a:p>
            <a:r>
              <a:rPr lang="en-US" sz="1800" dirty="0">
                <a:solidFill>
                  <a:srgbClr val="1E293B"/>
                </a:solidFill>
                <a:latin typeface="Aptos" pitchFamily="34" charset="0"/>
                <a:ea typeface="Aptos" pitchFamily="34" charset="-122"/>
                <a:cs typeface="Aptos" pitchFamily="34" charset="-120"/>
              </a:rPr>
              <a:t>Artificial domains are easier than real ones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Packing for a trip: bring what supports the goal, not everything in the closet.</a:t>
            </a:r>
            <a:endParaRPr lang="en-US" sz="1520" dirty="0"/>
          </a:p>
        </p:txBody>
      </p:sp>
      <p:sp>
        <p:nvSpPr>
          <p:cNvPr id="12" name="Shape 10"/>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3" name="Text 11"/>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4" name="Text 12"/>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For circuits, do we need wire length? It depends on whether timing matters.</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50</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STEP 3: CHOOSE VOCABULARY / ONTOLOGY</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Constants name specific objects</a:t>
            </a:r>
            <a:endParaRPr lang="en-US" sz="1800" dirty="0"/>
          </a:p>
          <a:p>
            <a:r>
              <a:rPr lang="en-US" sz="1800" dirty="0">
                <a:solidFill>
                  <a:srgbClr val="1E293B"/>
                </a:solidFill>
                <a:latin typeface="Aptos" pitchFamily="34" charset="0"/>
                <a:ea typeface="Aptos" pitchFamily="34" charset="-122"/>
                <a:cs typeface="Aptos" pitchFamily="34" charset="-120"/>
              </a:rPr>
              <a:t>Predicates classify and relate objects</a:t>
            </a:r>
            <a:endParaRPr lang="en-US" sz="1800" dirty="0"/>
          </a:p>
          <a:p>
            <a:r>
              <a:rPr lang="en-US" sz="1800" dirty="0">
                <a:solidFill>
                  <a:srgbClr val="1E293B"/>
                </a:solidFill>
                <a:latin typeface="Aptos" pitchFamily="34" charset="0"/>
                <a:ea typeface="Aptos" pitchFamily="34" charset="-122"/>
                <a:cs typeface="Aptos" pitchFamily="34" charset="-120"/>
              </a:rPr>
              <a:t>Functions capture unique mappings</a:t>
            </a:r>
            <a:endParaRPr lang="en-US" sz="1800" dirty="0"/>
          </a:p>
          <a:p>
            <a:r>
              <a:rPr lang="en-US" sz="1800" dirty="0">
                <a:solidFill>
                  <a:srgbClr val="1E293B"/>
                </a:solidFill>
                <a:latin typeface="Aptos" pitchFamily="34" charset="0"/>
                <a:ea typeface="Aptos" pitchFamily="34" charset="-122"/>
                <a:cs typeface="Aptos" pitchFamily="34" charset="-120"/>
              </a:rPr>
              <a:t>Ontology determines what kinds of things exist</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An ontology is like the noun-and-verb list for a domain-specific language.</a:t>
            </a:r>
            <a:endParaRPr lang="en-US" sz="1520" dirty="0"/>
          </a:p>
        </p:txBody>
      </p:sp>
      <p:sp>
        <p:nvSpPr>
          <p:cNvPr id="12" name="Shape 10"/>
          <p:cNvSpPr/>
          <p:nvPr/>
        </p:nvSpPr>
        <p:spPr>
          <a:xfrm>
            <a:off x="6629400" y="3108960"/>
            <a:ext cx="4800600" cy="960120"/>
          </a:xfrm>
          <a:prstGeom prst="roundRect">
            <a:avLst>
              <a:gd name="adj" fmla="val 7619"/>
            </a:avLst>
          </a:prstGeom>
          <a:solidFill>
            <a:srgbClr val="FFFFFF">
              <a:alpha val="92000"/>
            </a:srgbClr>
          </a:solidFill>
          <a:ln w="12700">
            <a:solidFill>
              <a:srgbClr val="007C89"/>
            </a:solidFill>
            <a:prstDash val="solid"/>
          </a:ln>
        </p:spPr>
      </p:sp>
      <p:sp>
        <p:nvSpPr>
          <p:cNvPr id="13" name="Text 11"/>
          <p:cNvSpPr/>
          <p:nvPr/>
        </p:nvSpPr>
        <p:spPr>
          <a:xfrm>
            <a:off x="6793992" y="3273552"/>
            <a:ext cx="4471416" cy="731520"/>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Gate(X₁), Type(X₁)=XOR, In(1,C₁)</a:t>
            </a:r>
            <a:endParaRPr lang="en-US" sz="16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What vocabulary would you choose for course enrollment?</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51</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STEP 4: ENCODE GENERAL KNOWLEDGE</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Write axioms for vocabulary terms</a:t>
            </a:r>
            <a:endParaRPr lang="en-US" sz="1800" dirty="0"/>
          </a:p>
          <a:p>
            <a:r>
              <a:rPr lang="en-US" sz="1800" dirty="0">
                <a:solidFill>
                  <a:srgbClr val="1E293B"/>
                </a:solidFill>
                <a:latin typeface="Aptos" pitchFamily="34" charset="0"/>
                <a:ea typeface="Aptos" pitchFamily="34" charset="-122"/>
                <a:cs typeface="Aptos" pitchFamily="34" charset="-120"/>
              </a:rPr>
              <a:t>Prefer clear general rules</a:t>
            </a:r>
            <a:endParaRPr lang="en-US" sz="1800" dirty="0"/>
          </a:p>
          <a:p>
            <a:r>
              <a:rPr lang="en-US" sz="1800" dirty="0">
                <a:solidFill>
                  <a:srgbClr val="1E293B"/>
                </a:solidFill>
                <a:latin typeface="Aptos" pitchFamily="34" charset="0"/>
                <a:ea typeface="Aptos" pitchFamily="34" charset="-122"/>
                <a:cs typeface="Aptos" pitchFamily="34" charset="-120"/>
              </a:rPr>
              <a:t>Use biconditionals when both directions matter</a:t>
            </a:r>
            <a:endParaRPr lang="en-US" sz="1800" dirty="0"/>
          </a:p>
          <a:p>
            <a:r>
              <a:rPr lang="en-US" sz="1800" dirty="0">
                <a:solidFill>
                  <a:srgbClr val="1E293B"/>
                </a:solidFill>
                <a:latin typeface="Aptos" pitchFamily="34" charset="0"/>
                <a:ea typeface="Aptos" pitchFamily="34" charset="-122"/>
                <a:cs typeface="Aptos" pitchFamily="34" charset="-120"/>
              </a:rPr>
              <a:t>Check for missing assumptions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Axioms are the operating manual for the world the KB understands.</a:t>
            </a:r>
            <a:endParaRPr lang="en-US" sz="1520" dirty="0"/>
          </a:p>
        </p:txBody>
      </p:sp>
      <p:sp>
        <p:nvSpPr>
          <p:cNvPr id="12" name="Shape 10"/>
          <p:cNvSpPr/>
          <p:nvPr/>
        </p:nvSpPr>
        <p:spPr>
          <a:xfrm>
            <a:off x="6629400" y="3154680"/>
            <a:ext cx="4800600" cy="868680"/>
          </a:xfrm>
          <a:prstGeom prst="roundRect">
            <a:avLst>
              <a:gd name="adj" fmla="val 8421"/>
            </a:avLst>
          </a:prstGeom>
          <a:solidFill>
            <a:srgbClr val="FFFFFF">
              <a:alpha val="92000"/>
            </a:srgbClr>
          </a:solidFill>
          <a:ln w="12700">
            <a:solidFill>
              <a:srgbClr val="007C89"/>
            </a:solidFill>
            <a:prstDash val="solid"/>
          </a:ln>
        </p:spPr>
      </p:sp>
      <p:sp>
        <p:nvSpPr>
          <p:cNvPr id="13" name="Text 11"/>
          <p:cNvSpPr/>
          <p:nvPr/>
        </p:nvSpPr>
        <p:spPr>
          <a:xfrm>
            <a:off x="6793992" y="3319272"/>
            <a:ext cx="4471416" cy="640080"/>
          </a:xfrm>
          <a:prstGeom prst="rect">
            <a:avLst/>
          </a:prstGeom>
          <a:noFill/>
          <a:ln/>
        </p:spPr>
        <p:txBody>
          <a:bodyPr wrap="square" lIns="0" tIns="0" rIns="0" bIns="0" rtlCol="0" anchor="ctr">
            <a:normAutofit/>
          </a:bodyPr>
          <a:lstStyle/>
          <a:p>
            <a:pPr algn="ctr" indent="0" marL="0">
              <a:buNone/>
            </a:pPr>
            <a:r>
              <a:rPr lang="en-US" sz="1500" b="1" dirty="0">
                <a:solidFill>
                  <a:srgbClr val="005088"/>
                </a:solidFill>
                <a:latin typeface="Cambria Math" pitchFamily="34" charset="0"/>
                <a:ea typeface="Cambria Math" pitchFamily="34" charset="-122"/>
                <a:cs typeface="Cambria Math" pitchFamily="34" charset="-120"/>
              </a:rPr>
              <a:t>Connected(t₁,t₂) ⇒ Signal(t₁)=Signal(t₂)</a:t>
            </a:r>
            <a:endParaRPr lang="en-US" sz="15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What does this axiom assume about wires?</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52</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ELECTRONIC CIRCUIT DOMAIN</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685800" y="1536192"/>
            <a:ext cx="5257800" cy="4297680"/>
          </a:xfrm>
          <a:prstGeom prst="rect">
            <a:avLst/>
          </a:prstGeom>
          <a:noFill/>
          <a:ln/>
        </p:spPr>
        <p:txBody>
          <a:bodyPr wrap="square" lIns="1016" tIns="1016" rIns="1016" bIns="1016" rtlCol="0" anchor="t">
            <a:normAutofit/>
          </a:bodyPr>
          <a:lstStyle/>
          <a:p>
            <a:r>
              <a:rPr lang="en-US" sz="1750" dirty="0">
                <a:solidFill>
                  <a:srgbClr val="1E293B"/>
                </a:solidFill>
                <a:latin typeface="Aptos" pitchFamily="34" charset="0"/>
                <a:ea typeface="Aptos" pitchFamily="34" charset="-122"/>
                <a:cs typeface="Aptos" pitchFamily="34" charset="-120"/>
              </a:rPr>
              <a:t>The circuit is a one-bit full adder</a:t>
            </a:r>
            <a:endParaRPr lang="en-US" sz="1750" dirty="0"/>
          </a:p>
          <a:p>
            <a:r>
              <a:rPr lang="en-US" sz="1750" dirty="0">
                <a:solidFill>
                  <a:srgbClr val="1E293B"/>
                </a:solidFill>
                <a:latin typeface="Aptos" pitchFamily="34" charset="0"/>
                <a:ea typeface="Aptos" pitchFamily="34" charset="-122"/>
                <a:cs typeface="Aptos" pitchFamily="34" charset="-120"/>
              </a:rPr>
              <a:t>Inputs: two bits plus carry-in</a:t>
            </a:r>
            <a:endParaRPr lang="en-US" sz="1750" dirty="0"/>
          </a:p>
          <a:p>
            <a:r>
              <a:rPr lang="en-US" sz="1750" dirty="0">
                <a:solidFill>
                  <a:srgbClr val="1E293B"/>
                </a:solidFill>
                <a:latin typeface="Aptos" pitchFamily="34" charset="0"/>
                <a:ea typeface="Aptos" pitchFamily="34" charset="-122"/>
                <a:cs typeface="Aptos" pitchFamily="34" charset="-120"/>
              </a:rPr>
              <a:t>Outputs: sum and carry-out</a:t>
            </a:r>
            <a:endParaRPr lang="en-US" sz="1750" dirty="0"/>
          </a:p>
          <a:p>
            <a:r>
              <a:rPr lang="en-US" sz="1750" dirty="0">
                <a:solidFill>
                  <a:srgbClr val="1E293B"/>
                </a:solidFill>
                <a:latin typeface="Aptos" pitchFamily="34" charset="0"/>
                <a:ea typeface="Aptos" pitchFamily="34" charset="-122"/>
                <a:cs typeface="Aptos" pitchFamily="34" charset="-120"/>
              </a:rPr>
              <a:t>Gates: XOR, AND, OR</a:t>
            </a:r>
            <a:endParaRPr lang="en-US" sz="1750" dirty="0"/>
          </a:p>
        </p:txBody>
      </p:sp>
      <p:sp>
        <p:nvSpPr>
          <p:cNvPr id="9" name="Shape 7"/>
          <p:cNvSpPr/>
          <p:nvPr/>
        </p:nvSpPr>
        <p:spPr>
          <a:xfrm>
            <a:off x="6318504" y="1563624"/>
            <a:ext cx="5239512" cy="4096512"/>
          </a:xfrm>
          <a:prstGeom prst="roundRect">
            <a:avLst>
              <a:gd name="adj" fmla="val 1563"/>
            </a:avLst>
          </a:prstGeom>
          <a:solidFill>
            <a:srgbClr val="FFFFFF"/>
          </a:solidFill>
          <a:ln w="12700">
            <a:solidFill>
              <a:srgbClr val="CBD5E1"/>
            </a:solidFill>
            <a:prstDash val="solid"/>
          </a:ln>
        </p:spPr>
      </p:sp>
      <p:pic>
        <p:nvPicPr>
          <p:cNvPr id="10" name="Image 0" descr="/mnt/data/ch8_ppt_assets/fig8_6_circuit.png">    </p:cNvPr>
          <p:cNvPicPr>
            <a:picLocks noChangeAspect="1"/>
          </p:cNvPicPr>
          <p:nvPr/>
        </p:nvPicPr>
        <p:blipFill>
          <a:blip r:embed="rId1"/>
          <a:stretch>
            <a:fillRect/>
          </a:stretch>
        </p:blipFill>
        <p:spPr>
          <a:xfrm>
            <a:off x="6355080" y="2291588"/>
            <a:ext cx="5166360" cy="2640584"/>
          </a:xfrm>
          <a:prstGeom prst="rect">
            <a:avLst/>
          </a:prstGeom>
        </p:spPr>
      </p:pic>
      <p:sp>
        <p:nvSpPr>
          <p:cNvPr id="11" name="Text 8"/>
          <p:cNvSpPr/>
          <p:nvPr/>
        </p:nvSpPr>
        <p:spPr>
          <a:xfrm>
            <a:off x="6355080" y="5696712"/>
            <a:ext cx="5166360" cy="320040"/>
          </a:xfrm>
          <a:prstGeom prst="rect">
            <a:avLst/>
          </a:prstGeom>
          <a:noFill/>
          <a:ln/>
        </p:spPr>
        <p:txBody>
          <a:bodyPr wrap="square" lIns="0" tIns="0" rIns="0" bIns="0" rtlCol="0" anchor="ctr">
            <a:normAutofit/>
          </a:bodyPr>
          <a:lstStyle/>
          <a:p>
            <a:pPr indent="0" marL="0">
              <a:buNone/>
            </a:pPr>
            <a:r>
              <a:rPr lang="en-US" sz="1050" i="1" dirty="0">
                <a:solidFill>
                  <a:srgbClr val="64748B"/>
                </a:solidFill>
              </a:rPr>
              <a:t>Figure 8.6: circuit C₁ with X₁, X₂, A₁, A₂, O₁.</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53</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CIRCUIT ONTOLOGY</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Circuit(c), Gate(g), Terminal(t)</a:t>
            </a:r>
            <a:endParaRPr lang="en-US" sz="1800" dirty="0"/>
          </a:p>
          <a:p>
            <a:r>
              <a:rPr lang="en-US" sz="1800" dirty="0">
                <a:solidFill>
                  <a:srgbClr val="1E293B"/>
                </a:solidFill>
                <a:latin typeface="Aptos" pitchFamily="34" charset="0"/>
                <a:ea typeface="Aptos" pitchFamily="34" charset="-122"/>
                <a:cs typeface="Aptos" pitchFamily="34" charset="-120"/>
              </a:rPr>
              <a:t>Type(g) = AND/OR/XOR/NOT</a:t>
            </a:r>
            <a:endParaRPr lang="en-US" sz="1800" dirty="0"/>
          </a:p>
          <a:p>
            <a:r>
              <a:rPr lang="en-US" sz="1800" dirty="0">
                <a:solidFill>
                  <a:srgbClr val="1E293B"/>
                </a:solidFill>
                <a:latin typeface="Aptos" pitchFamily="34" charset="0"/>
                <a:ea typeface="Aptos" pitchFamily="34" charset="-122"/>
                <a:cs typeface="Aptos" pitchFamily="34" charset="-120"/>
              </a:rPr>
              <a:t>In(n,c), Out(n,c)</a:t>
            </a:r>
            <a:endParaRPr lang="en-US" sz="1800" dirty="0"/>
          </a:p>
          <a:p>
            <a:r>
              <a:rPr lang="en-US" sz="1800" dirty="0">
                <a:solidFill>
                  <a:srgbClr val="1E293B"/>
                </a:solidFill>
                <a:latin typeface="Aptos" pitchFamily="34" charset="0"/>
                <a:ea typeface="Aptos" pitchFamily="34" charset="-122"/>
                <a:cs typeface="Aptos" pitchFamily="34" charset="-120"/>
              </a:rPr>
              <a:t>Connected(t₁,t₂), Signal(t)</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The ontology is a parts list plus a wiring diagram plus signal values.</a:t>
            </a:r>
            <a:endParaRPr lang="en-US" sz="1520" dirty="0"/>
          </a:p>
        </p:txBody>
      </p:sp>
      <p:sp>
        <p:nvSpPr>
          <p:cNvPr id="12" name="Shape 10"/>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3" name="Text 11"/>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4" name="Text 12"/>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Which are predicates and which are functions?</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54</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GATE BEHAVIOR AXIOMS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AND output is 0 if any input is 0</a:t>
            </a:r>
            <a:endParaRPr lang="en-US" sz="1800" dirty="0"/>
          </a:p>
          <a:p>
            <a:r>
              <a:rPr lang="en-US" sz="1800" dirty="0">
                <a:solidFill>
                  <a:srgbClr val="1E293B"/>
                </a:solidFill>
                <a:latin typeface="Aptos" pitchFamily="34" charset="0"/>
                <a:ea typeface="Aptos" pitchFamily="34" charset="-122"/>
                <a:cs typeface="Aptos" pitchFamily="34" charset="-120"/>
              </a:rPr>
              <a:t>OR output is 1 if any input is 1</a:t>
            </a:r>
            <a:endParaRPr lang="en-US" sz="1800" dirty="0"/>
          </a:p>
          <a:p>
            <a:r>
              <a:rPr lang="en-US" sz="1800" dirty="0">
                <a:solidFill>
                  <a:srgbClr val="1E293B"/>
                </a:solidFill>
                <a:latin typeface="Aptos" pitchFamily="34" charset="0"/>
                <a:ea typeface="Aptos" pitchFamily="34" charset="-122"/>
                <a:cs typeface="Aptos" pitchFamily="34" charset="-120"/>
              </a:rPr>
              <a:t>XOR output is 1 if inputs differ</a:t>
            </a:r>
            <a:endParaRPr lang="en-US" sz="1800" dirty="0"/>
          </a:p>
          <a:p>
            <a:r>
              <a:rPr lang="en-US" sz="1800" dirty="0">
                <a:solidFill>
                  <a:srgbClr val="1E293B"/>
                </a:solidFill>
                <a:latin typeface="Aptos" pitchFamily="34" charset="0"/>
                <a:ea typeface="Aptos" pitchFamily="34" charset="-122"/>
                <a:cs typeface="Aptos" pitchFamily="34" charset="-120"/>
              </a:rPr>
              <a:t>NOT output differs from input</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gate axiom is like a truth table compressed into a reusable rule.</a:t>
            </a:r>
            <a:endParaRPr lang="en-US" sz="1520" dirty="0"/>
          </a:p>
        </p:txBody>
      </p:sp>
      <p:sp>
        <p:nvSpPr>
          <p:cNvPr id="12" name="Shape 10"/>
          <p:cNvSpPr/>
          <p:nvPr/>
        </p:nvSpPr>
        <p:spPr>
          <a:xfrm>
            <a:off x="6629400" y="3182112"/>
            <a:ext cx="4800600" cy="914400"/>
          </a:xfrm>
          <a:prstGeom prst="roundRect">
            <a:avLst>
              <a:gd name="adj" fmla="val 8000"/>
            </a:avLst>
          </a:prstGeom>
          <a:solidFill>
            <a:srgbClr val="FFFFFF">
              <a:alpha val="92000"/>
            </a:srgbClr>
          </a:solidFill>
          <a:ln w="12700">
            <a:solidFill>
              <a:srgbClr val="007C89"/>
            </a:solidFill>
            <a:prstDash val="solid"/>
          </a:ln>
        </p:spPr>
      </p:sp>
      <p:sp>
        <p:nvSpPr>
          <p:cNvPr id="13" name="Text 11"/>
          <p:cNvSpPr/>
          <p:nvPr/>
        </p:nvSpPr>
        <p:spPr>
          <a:xfrm>
            <a:off x="6793992" y="3346704"/>
            <a:ext cx="4471416" cy="685800"/>
          </a:xfrm>
          <a:prstGeom prst="rect">
            <a:avLst/>
          </a:prstGeom>
          <a:noFill/>
          <a:ln/>
        </p:spPr>
        <p:txBody>
          <a:bodyPr wrap="square" lIns="0" tIns="0" rIns="0" bIns="0" rtlCol="0" anchor="ctr">
            <a:normAutofit/>
          </a:bodyPr>
          <a:lstStyle/>
          <a:p>
            <a:pPr algn="ctr" indent="0" marL="0">
              <a:buNone/>
            </a:pPr>
            <a:r>
              <a:rPr lang="en-US" sz="1200" b="1" dirty="0">
                <a:solidFill>
                  <a:srgbClr val="005088"/>
                </a:solidFill>
                <a:latin typeface="Cambria Math" pitchFamily="34" charset="0"/>
                <a:ea typeface="Cambria Math" pitchFamily="34" charset="-122"/>
                <a:cs typeface="Cambria Math" pitchFamily="34" charset="-120"/>
              </a:rPr>
              <a:t>Type(g)=XOR ⇒ Signal(Out(1,g))=1 ⇔ Signal(In(1,g))≠Signal(In(2,g))</a:t>
            </a:r>
            <a:endParaRPr lang="en-US" sz="12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Why is XOR harder to express than AND/OR?</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55</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STEP 5: ENCODE THE PROBLEM INSTANCE</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Assert C₁ is a circuit with arity 3,2</a:t>
            </a:r>
            <a:endParaRPr lang="en-US" sz="1800" dirty="0"/>
          </a:p>
          <a:p>
            <a:r>
              <a:rPr lang="en-US" sz="1800" dirty="0">
                <a:solidFill>
                  <a:srgbClr val="1E293B"/>
                </a:solidFill>
                <a:latin typeface="Aptos" pitchFamily="34" charset="0"/>
                <a:ea typeface="Aptos" pitchFamily="34" charset="-122"/>
                <a:cs typeface="Aptos" pitchFamily="34" charset="-120"/>
              </a:rPr>
              <a:t>Declare X₁, X₂, A₁, A₂, O₁ as gates</a:t>
            </a:r>
            <a:endParaRPr lang="en-US" sz="1800" dirty="0"/>
          </a:p>
          <a:p>
            <a:r>
              <a:rPr lang="en-US" sz="1800" dirty="0">
                <a:solidFill>
                  <a:srgbClr val="1E293B"/>
                </a:solidFill>
                <a:latin typeface="Aptos" pitchFamily="34" charset="0"/>
                <a:ea typeface="Aptos" pitchFamily="34" charset="-122"/>
                <a:cs typeface="Aptos" pitchFamily="34" charset="-120"/>
              </a:rPr>
              <a:t>Assign each gate type</a:t>
            </a:r>
            <a:endParaRPr lang="en-US" sz="1800" dirty="0"/>
          </a:p>
          <a:p>
            <a:r>
              <a:rPr lang="en-US" sz="1800" dirty="0">
                <a:solidFill>
                  <a:srgbClr val="1E293B"/>
                </a:solidFill>
                <a:latin typeface="Aptos" pitchFamily="34" charset="0"/>
                <a:ea typeface="Aptos" pitchFamily="34" charset="-122"/>
                <a:cs typeface="Aptos" pitchFamily="34" charset="-120"/>
              </a:rPr>
              <a:t>Assert all terminal connections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The ontology is the template; the problem instance is today’s actual circuit on the bench.</a:t>
            </a:r>
            <a:endParaRPr lang="en-US" sz="1520" dirty="0"/>
          </a:p>
        </p:txBody>
      </p:sp>
      <p:sp>
        <p:nvSpPr>
          <p:cNvPr id="12" name="Shape 10"/>
          <p:cNvSpPr/>
          <p:nvPr/>
        </p:nvSpPr>
        <p:spPr>
          <a:xfrm>
            <a:off x="6629400" y="3154680"/>
            <a:ext cx="4800600" cy="822960"/>
          </a:xfrm>
          <a:prstGeom prst="roundRect">
            <a:avLst>
              <a:gd name="adj" fmla="val 8889"/>
            </a:avLst>
          </a:prstGeom>
          <a:solidFill>
            <a:srgbClr val="FFFFFF">
              <a:alpha val="92000"/>
            </a:srgbClr>
          </a:solidFill>
          <a:ln w="12700">
            <a:solidFill>
              <a:srgbClr val="007C89"/>
            </a:solidFill>
            <a:prstDash val="solid"/>
          </a:ln>
        </p:spPr>
      </p:sp>
      <p:sp>
        <p:nvSpPr>
          <p:cNvPr id="13" name="Text 11"/>
          <p:cNvSpPr/>
          <p:nvPr/>
        </p:nvSpPr>
        <p:spPr>
          <a:xfrm>
            <a:off x="6793992" y="3319272"/>
            <a:ext cx="4471416" cy="594360"/>
          </a:xfrm>
          <a:prstGeom prst="rect">
            <a:avLst/>
          </a:prstGeom>
          <a:noFill/>
          <a:ln/>
        </p:spPr>
        <p:txBody>
          <a:bodyPr wrap="square" lIns="0" tIns="0" rIns="0" bIns="0" rtlCol="0" anchor="ctr">
            <a:normAutofit/>
          </a:bodyPr>
          <a:lstStyle/>
          <a:p>
            <a:pPr algn="ctr" indent="0" marL="0">
              <a:buNone/>
            </a:pPr>
            <a:r>
              <a:rPr lang="en-US" sz="1700" b="1" dirty="0">
                <a:solidFill>
                  <a:srgbClr val="005088"/>
                </a:solidFill>
                <a:latin typeface="Cambria Math" pitchFamily="34" charset="0"/>
                <a:ea typeface="Cambria Math" pitchFamily="34" charset="-122"/>
                <a:cs typeface="Cambria Math" pitchFamily="34" charset="-120"/>
              </a:rPr>
              <a:t>Gate(X₁) ∧ Type(X₁)=XOR</a:t>
            </a:r>
            <a:endParaRPr lang="en-US" sz="17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Why do we separate general rules from instance facts?</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56</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STEP 6: POSE QUERIES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Ask for input combinations</a:t>
            </a:r>
            <a:endParaRPr lang="en-US" sz="1800" dirty="0"/>
          </a:p>
          <a:p>
            <a:r>
              <a:rPr lang="en-US" sz="1800" dirty="0">
                <a:solidFill>
                  <a:srgbClr val="1E293B"/>
                </a:solidFill>
                <a:latin typeface="Aptos" pitchFamily="34" charset="0"/>
                <a:ea typeface="Aptos" pitchFamily="34" charset="-122"/>
                <a:cs typeface="Aptos" pitchFamily="34" charset="-120"/>
              </a:rPr>
              <a:t>Ask for output values</a:t>
            </a:r>
            <a:endParaRPr lang="en-US" sz="1800" dirty="0"/>
          </a:p>
          <a:p>
            <a:r>
              <a:rPr lang="en-US" sz="1800" dirty="0">
                <a:solidFill>
                  <a:srgbClr val="1E293B"/>
                </a:solidFill>
                <a:latin typeface="Aptos" pitchFamily="34" charset="0"/>
                <a:ea typeface="Aptos" pitchFamily="34" charset="-122"/>
                <a:cs typeface="Aptos" pitchFamily="34" charset="-120"/>
              </a:rPr>
              <a:t>Ask for connected components</a:t>
            </a:r>
            <a:endParaRPr lang="en-US" sz="1800" dirty="0"/>
          </a:p>
          <a:p>
            <a:r>
              <a:rPr lang="en-US" sz="1800" dirty="0">
                <a:solidFill>
                  <a:srgbClr val="1E293B"/>
                </a:solidFill>
                <a:latin typeface="Aptos" pitchFamily="34" charset="0"/>
                <a:ea typeface="Aptos" pitchFamily="34" charset="-122"/>
                <a:cs typeface="Aptos" pitchFamily="34" charset="-120"/>
              </a:rPr>
              <a:t>Answers are entailed substitutions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Like SQL SELECT, a FOL query can return variable bindings that satisfy conditions.</a:t>
            </a:r>
            <a:endParaRPr lang="en-US" sz="1520" dirty="0"/>
          </a:p>
        </p:txBody>
      </p:sp>
      <p:sp>
        <p:nvSpPr>
          <p:cNvPr id="12" name="Shape 10"/>
          <p:cNvSpPr/>
          <p:nvPr/>
        </p:nvSpPr>
        <p:spPr>
          <a:xfrm>
            <a:off x="6629400" y="3108960"/>
            <a:ext cx="4800600" cy="914400"/>
          </a:xfrm>
          <a:prstGeom prst="roundRect">
            <a:avLst>
              <a:gd name="adj" fmla="val 8000"/>
            </a:avLst>
          </a:prstGeom>
          <a:solidFill>
            <a:srgbClr val="FFFFFF">
              <a:alpha val="92000"/>
            </a:srgbClr>
          </a:solidFill>
          <a:ln w="12700">
            <a:solidFill>
              <a:srgbClr val="007C89"/>
            </a:solidFill>
            <a:prstDash val="solid"/>
          </a:ln>
        </p:spPr>
      </p:sp>
      <p:sp>
        <p:nvSpPr>
          <p:cNvPr id="13" name="Text 11"/>
          <p:cNvSpPr/>
          <p:nvPr/>
        </p:nvSpPr>
        <p:spPr>
          <a:xfrm>
            <a:off x="6793992" y="3273552"/>
            <a:ext cx="4471416" cy="685800"/>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∃i₁,i₂,i₃: outputs are sum=0, carry=1</a:t>
            </a:r>
            <a:endParaRPr lang="en-US" sz="16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Predict the three inputs that produce carry=1 and sum=0.</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8.4 Circuit verification</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57</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FULL-ADDER TRUTH TABLE CHECK</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Shape 6"/>
          <p:cNvSpPr/>
          <p:nvPr/>
        </p:nvSpPr>
        <p:spPr>
          <a:xfrm>
            <a:off x="822960" y="1600200"/>
            <a:ext cx="5212080" cy="3886200"/>
          </a:xfrm>
          <a:prstGeom prst="roundRect">
            <a:avLst>
              <a:gd name="adj" fmla="val 1882"/>
            </a:avLst>
          </a:prstGeom>
          <a:solidFill>
            <a:srgbClr val="FFFFFF"/>
          </a:solidFill>
          <a:ln w="12700">
            <a:solidFill>
              <a:srgbClr val="CBD5E1"/>
            </a:solidFill>
            <a:prstDash val="solid"/>
          </a:ln>
        </p:spPr>
      </p:sp>
      <p:sp>
        <p:nvSpPr>
          <p:cNvPr id="9" name="Text 7"/>
          <p:cNvSpPr/>
          <p:nvPr/>
        </p:nvSpPr>
        <p:spPr>
          <a:xfrm>
            <a:off x="1078992" y="1828800"/>
            <a:ext cx="4709160" cy="3383280"/>
          </a:xfrm>
          <a:prstGeom prst="rect">
            <a:avLst/>
          </a:prstGeom>
          <a:noFill/>
          <a:ln/>
        </p:spPr>
        <p:txBody>
          <a:bodyPr wrap="square" lIns="635" tIns="635" rIns="635" bIns="635" rtlCol="0" anchor="ctr">
            <a:normAutofit/>
          </a:bodyPr>
          <a:lstStyle/>
          <a:p>
            <a:pPr indent="0" marL="0">
              <a:buNone/>
            </a:pPr>
            <a:r>
              <a:rPr lang="en-US" sz="1600" dirty="0">
                <a:solidFill>
                  <a:srgbClr val="1E293B"/>
                </a:solidFill>
                <a:latin typeface="Courier New" pitchFamily="34" charset="0"/>
                <a:ea typeface="Courier New" pitchFamily="34" charset="-122"/>
                <a:cs typeface="Courier New" pitchFamily="34" charset="-120"/>
              </a:rPr>
              <a:t>A  B  Cin  |  Sum  Carry</a:t>
            </a:r>
            <a:endParaRPr lang="en-US" sz="1600" dirty="0"/>
          </a:p>
          <a:p>
            <a:pPr indent="0" marL="0">
              <a:buNone/>
            </a:pPr>
            <a:r>
              <a:rPr lang="en-US" sz="1600" dirty="0">
                <a:solidFill>
                  <a:srgbClr val="1E293B"/>
                </a:solidFill>
                <a:latin typeface="Courier New" pitchFamily="34" charset="0"/>
                <a:ea typeface="Courier New" pitchFamily="34" charset="-122"/>
                <a:cs typeface="Courier New" pitchFamily="34" charset="-120"/>
              </a:rPr>
              <a:t>0  0   0   |   0     0</a:t>
            </a:r>
            <a:endParaRPr lang="en-US" sz="1600" dirty="0"/>
          </a:p>
          <a:p>
            <a:pPr indent="0" marL="0">
              <a:buNone/>
            </a:pPr>
            <a:r>
              <a:rPr lang="en-US" sz="1600" dirty="0">
                <a:solidFill>
                  <a:srgbClr val="1E293B"/>
                </a:solidFill>
                <a:latin typeface="Courier New" pitchFamily="34" charset="0"/>
                <a:ea typeface="Courier New" pitchFamily="34" charset="-122"/>
                <a:cs typeface="Courier New" pitchFamily="34" charset="-120"/>
              </a:rPr>
              <a:t>0  0   1   |   1     0</a:t>
            </a:r>
            <a:endParaRPr lang="en-US" sz="1600" dirty="0"/>
          </a:p>
          <a:p>
            <a:pPr indent="0" marL="0">
              <a:buNone/>
            </a:pPr>
            <a:r>
              <a:rPr lang="en-US" sz="1600" dirty="0">
                <a:solidFill>
                  <a:srgbClr val="1E293B"/>
                </a:solidFill>
                <a:latin typeface="Courier New" pitchFamily="34" charset="0"/>
                <a:ea typeface="Courier New" pitchFamily="34" charset="-122"/>
                <a:cs typeface="Courier New" pitchFamily="34" charset="-120"/>
              </a:rPr>
              <a:t>0  1   0   |   1     0</a:t>
            </a:r>
            <a:endParaRPr lang="en-US" sz="1600" dirty="0"/>
          </a:p>
          <a:p>
            <a:pPr indent="0" marL="0">
              <a:buNone/>
            </a:pPr>
            <a:r>
              <a:rPr lang="en-US" sz="1600" dirty="0">
                <a:solidFill>
                  <a:srgbClr val="1E293B"/>
                </a:solidFill>
                <a:latin typeface="Courier New" pitchFamily="34" charset="0"/>
                <a:ea typeface="Courier New" pitchFamily="34" charset="-122"/>
                <a:cs typeface="Courier New" pitchFamily="34" charset="-120"/>
              </a:rPr>
              <a:t>0  1   1   |   0     1</a:t>
            </a:r>
            <a:endParaRPr lang="en-US" sz="1600" dirty="0"/>
          </a:p>
          <a:p>
            <a:pPr indent="0" marL="0">
              <a:buNone/>
            </a:pPr>
            <a:r>
              <a:rPr lang="en-US" sz="1600" dirty="0">
                <a:solidFill>
                  <a:srgbClr val="1E293B"/>
                </a:solidFill>
                <a:latin typeface="Courier New" pitchFamily="34" charset="0"/>
                <a:ea typeface="Courier New" pitchFamily="34" charset="-122"/>
                <a:cs typeface="Courier New" pitchFamily="34" charset="-120"/>
              </a:rPr>
              <a:t>1  0   0   |   1     0</a:t>
            </a:r>
            <a:endParaRPr lang="en-US" sz="1600" dirty="0"/>
          </a:p>
          <a:p>
            <a:pPr indent="0" marL="0">
              <a:buNone/>
            </a:pPr>
            <a:r>
              <a:rPr lang="en-US" sz="1600" dirty="0">
                <a:solidFill>
                  <a:srgbClr val="1E293B"/>
                </a:solidFill>
                <a:latin typeface="Courier New" pitchFamily="34" charset="0"/>
                <a:ea typeface="Courier New" pitchFamily="34" charset="-122"/>
                <a:cs typeface="Courier New" pitchFamily="34" charset="-120"/>
              </a:rPr>
              <a:t>1  0   1   |   0     1</a:t>
            </a:r>
            <a:endParaRPr lang="en-US" sz="1600" dirty="0"/>
          </a:p>
          <a:p>
            <a:pPr indent="0" marL="0">
              <a:buNone/>
            </a:pPr>
            <a:r>
              <a:rPr lang="en-US" sz="1600" dirty="0">
                <a:solidFill>
                  <a:srgbClr val="1E293B"/>
                </a:solidFill>
                <a:latin typeface="Courier New" pitchFamily="34" charset="0"/>
                <a:ea typeface="Courier New" pitchFamily="34" charset="-122"/>
                <a:cs typeface="Courier New" pitchFamily="34" charset="-120"/>
              </a:rPr>
              <a:t>1  1   0   |   0     1</a:t>
            </a:r>
            <a:endParaRPr lang="en-US" sz="1600" dirty="0"/>
          </a:p>
          <a:p>
            <a:pPr indent="0" marL="0">
              <a:buNone/>
            </a:pPr>
            <a:r>
              <a:rPr lang="en-US" sz="1600" dirty="0">
                <a:solidFill>
                  <a:srgbClr val="1E293B"/>
                </a:solidFill>
                <a:latin typeface="Courier New" pitchFamily="34" charset="0"/>
                <a:ea typeface="Courier New" pitchFamily="34" charset="-122"/>
                <a:cs typeface="Courier New" pitchFamily="34" charset="-120"/>
              </a:rPr>
              <a:t>1  1   1   |   1     1</a:t>
            </a:r>
            <a:endParaRPr lang="en-US" sz="1600" dirty="0"/>
          </a:p>
        </p:txBody>
      </p:sp>
      <p:sp>
        <p:nvSpPr>
          <p:cNvPr id="10" name="Shape 8"/>
          <p:cNvSpPr/>
          <p:nvPr/>
        </p:nvSpPr>
        <p:spPr>
          <a:xfrm>
            <a:off x="6537960" y="1691640"/>
            <a:ext cx="4709160" cy="1280160"/>
          </a:xfrm>
          <a:prstGeom prst="roundRect">
            <a:avLst>
              <a:gd name="adj" fmla="val 5714"/>
            </a:avLst>
          </a:prstGeom>
          <a:solidFill>
            <a:srgbClr val="FFF6D9"/>
          </a:solidFill>
          <a:ln w="12700">
            <a:solidFill>
              <a:srgbClr val="F4A261"/>
            </a:solidFill>
            <a:prstDash val="solid"/>
          </a:ln>
        </p:spPr>
      </p:sp>
      <p:sp>
        <p:nvSpPr>
          <p:cNvPr id="11" name="Text 9"/>
          <p:cNvSpPr/>
          <p:nvPr/>
        </p:nvSpPr>
        <p:spPr>
          <a:xfrm>
            <a:off x="6739128" y="1837944"/>
            <a:ext cx="430682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2" name="Text 10"/>
          <p:cNvSpPr/>
          <p:nvPr/>
        </p:nvSpPr>
        <p:spPr>
          <a:xfrm>
            <a:off x="6739128" y="2130552"/>
            <a:ext cx="4306824" cy="71323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Verification is like checking every row of a recipe conversion chart: the KB must match expected behavior for all cases.</a:t>
            </a:r>
            <a:endParaRPr lang="en-US" sz="1520" dirty="0"/>
          </a:p>
        </p:txBody>
      </p:sp>
      <p:sp>
        <p:nvSpPr>
          <p:cNvPr id="13" name="Shape 11"/>
          <p:cNvSpPr/>
          <p:nvPr/>
        </p:nvSpPr>
        <p:spPr>
          <a:xfrm>
            <a:off x="6537960" y="3246120"/>
            <a:ext cx="4709160" cy="868680"/>
          </a:xfrm>
          <a:prstGeom prst="roundRect">
            <a:avLst>
              <a:gd name="adj" fmla="val 8421"/>
            </a:avLst>
          </a:prstGeom>
          <a:solidFill>
            <a:srgbClr val="FFFFFF">
              <a:alpha val="92000"/>
            </a:srgbClr>
          </a:solidFill>
          <a:ln w="12700">
            <a:solidFill>
              <a:srgbClr val="007C89"/>
            </a:solidFill>
            <a:prstDash val="solid"/>
          </a:ln>
        </p:spPr>
      </p:sp>
      <p:sp>
        <p:nvSpPr>
          <p:cNvPr id="14" name="Text 12"/>
          <p:cNvSpPr/>
          <p:nvPr/>
        </p:nvSpPr>
        <p:spPr>
          <a:xfrm>
            <a:off x="6702552" y="3410712"/>
            <a:ext cx="4379976" cy="640080"/>
          </a:xfrm>
          <a:prstGeom prst="rect">
            <a:avLst/>
          </a:prstGeom>
          <a:noFill/>
          <a:ln/>
        </p:spPr>
        <p:txBody>
          <a:bodyPr wrap="square" lIns="0" tIns="0" rIns="0" bIns="0" rtlCol="0" anchor="ctr">
            <a:normAutofit/>
          </a:bodyPr>
          <a:lstStyle/>
          <a:p>
            <a:pPr algn="ctr" indent="0" marL="0">
              <a:buNone/>
            </a:pPr>
            <a:r>
              <a:rPr lang="en-US" sz="1500" b="1" dirty="0">
                <a:solidFill>
                  <a:srgbClr val="005088"/>
                </a:solidFill>
                <a:latin typeface="Cambria Math" pitchFamily="34" charset="0"/>
                <a:ea typeface="Cambria Math" pitchFamily="34" charset="-122"/>
                <a:cs typeface="Cambria Math" pitchFamily="34" charset="-120"/>
              </a:rPr>
              <a:t>ASKVARS → substitutions that satisfy the query</a:t>
            </a:r>
            <a:endParaRPr lang="en-US" sz="1500" dirty="0"/>
          </a:p>
        </p:txBody>
      </p:sp>
      <p:sp>
        <p:nvSpPr>
          <p:cNvPr id="15" name="Shape 13"/>
          <p:cNvSpPr/>
          <p:nvPr/>
        </p:nvSpPr>
        <p:spPr>
          <a:xfrm>
            <a:off x="6537960" y="4434840"/>
            <a:ext cx="4709160" cy="822960"/>
          </a:xfrm>
          <a:prstGeom prst="roundRect">
            <a:avLst>
              <a:gd name="adj" fmla="val 8889"/>
            </a:avLst>
          </a:prstGeom>
          <a:solidFill>
            <a:srgbClr val="E6FFFA"/>
          </a:solidFill>
          <a:ln w="12700">
            <a:solidFill>
              <a:srgbClr val="2A9D8F"/>
            </a:solidFill>
            <a:prstDash val="solid"/>
          </a:ln>
        </p:spPr>
      </p:sp>
      <p:sp>
        <p:nvSpPr>
          <p:cNvPr id="16" name="Text 14"/>
          <p:cNvSpPr/>
          <p:nvPr/>
        </p:nvSpPr>
        <p:spPr>
          <a:xfrm>
            <a:off x="6720840" y="4562856"/>
            <a:ext cx="434340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7" name="Text 15"/>
          <p:cNvSpPr/>
          <p:nvPr/>
        </p:nvSpPr>
        <p:spPr>
          <a:xfrm>
            <a:off x="6720840" y="4837176"/>
            <a:ext cx="4343400" cy="365760"/>
          </a:xfrm>
          <a:prstGeom prst="rect">
            <a:avLst/>
          </a:prstGeom>
          <a:noFill/>
          <a:ln/>
        </p:spPr>
        <p:txBody>
          <a:bodyPr wrap="square" lIns="0" tIns="0" rIns="0" bIns="0" rtlCol="0" anchor="ctr">
            <a:normAutofit/>
          </a:bodyPr>
          <a:lstStyle/>
          <a:p>
            <a:pPr indent="0" marL="0">
              <a:buNone/>
            </a:pPr>
            <a:r>
              <a:rPr lang="en-US" sz="1400" dirty="0">
                <a:solidFill>
                  <a:srgbClr val="1E293B"/>
                </a:solidFill>
              </a:rPr>
              <a:t>Which rows have Sum=0 and Carry=1?</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58</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STEP 7: DEBUG AND EVALUATE</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Unexpected answers reveal modeling problems</a:t>
            </a:r>
            <a:endParaRPr lang="en-US" sz="1800" dirty="0"/>
          </a:p>
          <a:p>
            <a:r>
              <a:rPr lang="en-US" sz="1800" dirty="0">
                <a:solidFill>
                  <a:srgbClr val="1E293B"/>
                </a:solidFill>
                <a:latin typeface="Aptos" pitchFamily="34" charset="0"/>
                <a:ea typeface="Aptos" pitchFamily="34" charset="-122"/>
                <a:cs typeface="Aptos" pitchFamily="34" charset="-120"/>
              </a:rPr>
              <a:t>Missing axioms stop reasoning chains</a:t>
            </a:r>
            <a:endParaRPr lang="en-US" sz="1800" dirty="0"/>
          </a:p>
          <a:p>
            <a:r>
              <a:rPr lang="en-US" sz="1800" dirty="0">
                <a:solidFill>
                  <a:srgbClr val="1E293B"/>
                </a:solidFill>
                <a:latin typeface="Aptos" pitchFamily="34" charset="0"/>
                <a:ea typeface="Aptos" pitchFamily="34" charset="-122"/>
                <a:cs typeface="Aptos" pitchFamily="34" charset="-120"/>
              </a:rPr>
              <a:t>Weak axioms fail to prove negative facts</a:t>
            </a:r>
            <a:endParaRPr lang="en-US" sz="1800" dirty="0"/>
          </a:p>
          <a:p>
            <a:r>
              <a:rPr lang="en-US" sz="1800" dirty="0">
                <a:solidFill>
                  <a:srgbClr val="1E293B"/>
                </a:solidFill>
                <a:latin typeface="Aptos" pitchFamily="34" charset="0"/>
                <a:ea typeface="Aptos" pitchFamily="34" charset="-122"/>
                <a:cs typeface="Aptos" pitchFamily="34" charset="-120"/>
              </a:rPr>
              <a:t>Use test queries, not intuition alone</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Debugging a KB is like debugging a legal contract: the text may be internally valid but not say what you intended.</a:t>
            </a:r>
            <a:endParaRPr lang="en-US" sz="1520" dirty="0"/>
          </a:p>
        </p:txBody>
      </p:sp>
      <p:sp>
        <p:nvSpPr>
          <p:cNvPr id="12" name="Shape 10"/>
          <p:cNvSpPr/>
          <p:nvPr/>
        </p:nvSpPr>
        <p:spPr>
          <a:xfrm>
            <a:off x="6629400" y="320040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364992"/>
            <a:ext cx="4471416" cy="521208"/>
          </a:xfrm>
          <a:prstGeom prst="rect">
            <a:avLst/>
          </a:prstGeom>
          <a:noFill/>
          <a:ln/>
        </p:spPr>
        <p:txBody>
          <a:bodyPr wrap="square" lIns="0" tIns="0" rIns="0" bIns="0" rtlCol="0" anchor="ctr">
            <a:normAutofit/>
          </a:bodyPr>
          <a:lstStyle/>
          <a:p>
            <a:pPr algn="ctr" indent="0" marL="0">
              <a:buNone/>
            </a:pPr>
            <a:r>
              <a:rPr lang="en-US" sz="2000" b="1" dirty="0">
                <a:solidFill>
                  <a:srgbClr val="005088"/>
                </a:solidFill>
                <a:latin typeface="Cambria Math" pitchFamily="34" charset="0"/>
                <a:ea typeface="Cambria Math" pitchFamily="34" charset="-122"/>
                <a:cs typeface="Cambria Math" pitchFamily="34" charset="-120"/>
              </a:rPr>
              <a:t>Missing: 1 ≠ 0</a:t>
            </a:r>
            <a:endParaRPr lang="en-US" sz="20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What breaks if the KB does not know 1 and 0 are different?</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59</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DEBUGGING WEAK BICONDITIONALS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One-way rules may not support absence proofs</a:t>
            </a:r>
            <a:endParaRPr lang="en-US" sz="1800" dirty="0"/>
          </a:p>
          <a:p>
            <a:r>
              <a:rPr lang="en-US" sz="1800" dirty="0">
                <a:solidFill>
                  <a:srgbClr val="1E293B"/>
                </a:solidFill>
                <a:latin typeface="Aptos" pitchFamily="34" charset="0"/>
                <a:ea typeface="Aptos" pitchFamily="34" charset="-122"/>
                <a:cs typeface="Aptos" pitchFamily="34" charset="-120"/>
              </a:rPr>
              <a:t>Biconditionals are stronger but must be true</a:t>
            </a:r>
            <a:endParaRPr lang="en-US" sz="1800" dirty="0"/>
          </a:p>
          <a:p>
            <a:r>
              <a:rPr lang="en-US" sz="1800" dirty="0">
                <a:solidFill>
                  <a:srgbClr val="1E293B"/>
                </a:solidFill>
                <a:latin typeface="Aptos" pitchFamily="34" charset="0"/>
                <a:ea typeface="Aptos" pitchFamily="34" charset="-122"/>
                <a:cs typeface="Aptos" pitchFamily="34" charset="-120"/>
              </a:rPr>
              <a:t>Too strong axioms create false entailments</a:t>
            </a:r>
            <a:endParaRPr lang="en-US" sz="1800" dirty="0"/>
          </a:p>
          <a:p>
            <a:r>
              <a:rPr lang="en-US" sz="1800" dirty="0">
                <a:solidFill>
                  <a:srgbClr val="1E293B"/>
                </a:solidFill>
                <a:latin typeface="Aptos" pitchFamily="34" charset="0"/>
                <a:ea typeface="Aptos" pitchFamily="34" charset="-122"/>
                <a:cs typeface="Aptos" pitchFamily="34" charset="-120"/>
              </a:rPr>
              <a:t>Test both positive and negative queries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sign “fire causes smoke” does not prove that no smoke means no fire unless the rule is biconditional and complete.</a:t>
            </a:r>
            <a:endParaRPr lang="en-US" sz="1520" dirty="0"/>
          </a:p>
        </p:txBody>
      </p:sp>
      <p:sp>
        <p:nvSpPr>
          <p:cNvPr id="12" name="Shape 10"/>
          <p:cNvSpPr/>
          <p:nvPr/>
        </p:nvSpPr>
        <p:spPr>
          <a:xfrm>
            <a:off x="6629400" y="3154680"/>
            <a:ext cx="4800600" cy="822960"/>
          </a:xfrm>
          <a:prstGeom prst="roundRect">
            <a:avLst>
              <a:gd name="adj" fmla="val 8889"/>
            </a:avLst>
          </a:prstGeom>
          <a:solidFill>
            <a:srgbClr val="FFFFFF">
              <a:alpha val="92000"/>
            </a:srgbClr>
          </a:solidFill>
          <a:ln w="12700">
            <a:solidFill>
              <a:srgbClr val="007C89"/>
            </a:solidFill>
            <a:prstDash val="solid"/>
          </a:ln>
        </p:spPr>
      </p:sp>
      <p:sp>
        <p:nvSpPr>
          <p:cNvPr id="13" name="Text 11"/>
          <p:cNvSpPr/>
          <p:nvPr/>
        </p:nvSpPr>
        <p:spPr>
          <a:xfrm>
            <a:off x="6793992" y="3319272"/>
            <a:ext cx="4471416" cy="594360"/>
          </a:xfrm>
          <a:prstGeom prst="rect">
            <a:avLst/>
          </a:prstGeom>
          <a:noFill/>
          <a:ln/>
        </p:spPr>
        <p:txBody>
          <a:bodyPr wrap="square" lIns="0" tIns="0" rIns="0" bIns="0" rtlCol="0" anchor="ctr">
            <a:normAutofit/>
          </a:bodyPr>
          <a:lstStyle/>
          <a:p>
            <a:pPr algn="ctr" indent="0" marL="0">
              <a:buNone/>
            </a:pPr>
            <a:r>
              <a:rPr lang="en-US" sz="1600" b="1" dirty="0">
                <a:solidFill>
                  <a:srgbClr val="005088"/>
                </a:solidFill>
                <a:latin typeface="Cambria Math" pitchFamily="34" charset="0"/>
                <a:ea typeface="Cambria Math" pitchFamily="34" charset="-122"/>
                <a:cs typeface="Cambria Math" pitchFamily="34" charset="-120"/>
              </a:rPr>
              <a:t>Smelly(s) ⇔ Adjacent(Home(Wumpus),s)</a:t>
            </a:r>
            <a:endParaRPr lang="en-US" sz="16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Why can a one-way smell rule fail a safe-square query?</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60</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EVALUATE WITH A TEST SUITE</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Define expected answers before grading the KB</a:t>
            </a:r>
            <a:endParaRPr lang="en-US" sz="1800" dirty="0"/>
          </a:p>
          <a:p>
            <a:r>
              <a:rPr lang="en-US" sz="1800" dirty="0">
                <a:solidFill>
                  <a:srgbClr val="1E293B"/>
                </a:solidFill>
                <a:latin typeface="Aptos" pitchFamily="34" charset="0"/>
                <a:ea typeface="Aptos" pitchFamily="34" charset="-122"/>
                <a:cs typeface="Aptos" pitchFamily="34" charset="-120"/>
              </a:rPr>
              <a:t>Include edge cases and negative cases</a:t>
            </a:r>
            <a:endParaRPr lang="en-US" sz="1800" dirty="0"/>
          </a:p>
          <a:p>
            <a:r>
              <a:rPr lang="en-US" sz="1800" dirty="0">
                <a:solidFill>
                  <a:srgbClr val="1E293B"/>
                </a:solidFill>
                <a:latin typeface="Aptos" pitchFamily="34" charset="0"/>
                <a:ea typeface="Aptos" pitchFamily="34" charset="-122"/>
                <a:cs typeface="Aptos" pitchFamily="34" charset="-120"/>
              </a:rPr>
              <a:t>Measure correctness objectively</a:t>
            </a:r>
            <a:endParaRPr lang="en-US" sz="1800" dirty="0"/>
          </a:p>
          <a:p>
            <a:r>
              <a:rPr lang="en-US" sz="1800" dirty="0">
                <a:solidFill>
                  <a:srgbClr val="1E293B"/>
                </a:solidFill>
                <a:latin typeface="Aptos" pitchFamily="34" charset="0"/>
                <a:ea typeface="Aptos" pitchFamily="34" charset="-122"/>
                <a:cs typeface="Aptos" pitchFamily="34" charset="-120"/>
              </a:rPr>
              <a:t>Revise ontology or axioms when needed</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KB test suite is like unit tests for a Python project, but tests the model of the world.</a:t>
            </a:r>
            <a:endParaRPr lang="en-US" sz="1520" dirty="0"/>
          </a:p>
        </p:txBody>
      </p:sp>
      <p:sp>
        <p:nvSpPr>
          <p:cNvPr id="12" name="Shape 10"/>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3" name="Text 11"/>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4" name="Text 12"/>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Have students design three tests for the circuit KB.</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05088"/>
        </a:solidFill>
      </p:bgPr>
    </p:bg>
    <p:spTree>
      <p:nvGrpSpPr>
        <p:cNvPr id="1" name=""/>
        <p:cNvGrpSpPr/>
        <p:nvPr/>
      </p:nvGrpSpPr>
      <p:grpSpPr>
        <a:xfrm>
          <a:off x="0" y="0"/>
          <a:ext cx="0" cy="0"/>
          <a:chOff x="0" y="0"/>
          <a:chExt cx="0" cy="0"/>
        </a:xfrm>
      </p:grpSpPr>
      <p:sp>
        <p:nvSpPr>
          <p:cNvPr id="2" name="Text 0"/>
          <p:cNvSpPr/>
          <p:nvPr/>
        </p:nvSpPr>
        <p:spPr>
          <a:xfrm>
            <a:off x="685800" y="502920"/>
            <a:ext cx="2194560" cy="365760"/>
          </a:xfrm>
          <a:prstGeom prst="rect">
            <a:avLst/>
          </a:prstGeom>
          <a:noFill/>
          <a:ln/>
        </p:spPr>
        <p:txBody>
          <a:bodyPr wrap="square" lIns="0" tIns="0" rIns="0" bIns="0" rtlCol="0" anchor="ctr"/>
          <a:lstStyle/>
          <a:p>
            <a:pPr indent="0" marL="0">
              <a:buNone/>
            </a:pPr>
            <a:r>
              <a:rPr lang="en-US" sz="1600" b="1" dirty="0">
                <a:solidFill>
                  <a:srgbClr val="A5F3FC"/>
                </a:solidFill>
              </a:rPr>
              <a:t>COMP 469</a:t>
            </a:r>
            <a:endParaRPr lang="en-US" sz="1600" dirty="0"/>
          </a:p>
        </p:txBody>
      </p:sp>
      <p:sp>
        <p:nvSpPr>
          <p:cNvPr id="3" name="Text 1"/>
          <p:cNvSpPr/>
          <p:nvPr/>
        </p:nvSpPr>
        <p:spPr>
          <a:xfrm>
            <a:off x="685800" y="1920240"/>
            <a:ext cx="10698480" cy="822960"/>
          </a:xfrm>
          <a:prstGeom prst="rect">
            <a:avLst/>
          </a:prstGeom>
          <a:noFill/>
          <a:ln/>
        </p:spPr>
        <p:txBody>
          <a:bodyPr wrap="square" lIns="0" tIns="0" rIns="0" bIns="0" rtlCol="0" anchor="ctr">
            <a:normAutofit/>
          </a:bodyPr>
          <a:lstStyle/>
          <a:p>
            <a:pPr indent="0" marL="0">
              <a:buNone/>
            </a:pPr>
            <a:r>
              <a:rPr lang="en-US" sz="4400" b="1" dirty="0">
                <a:solidFill>
                  <a:srgbClr val="F4F1DE"/>
                </a:solidFill>
              </a:rPr>
              <a:t>Limits and Next Steps</a:t>
            </a:r>
            <a:endParaRPr lang="en-US" sz="4400" dirty="0"/>
          </a:p>
        </p:txBody>
      </p:sp>
      <p:sp>
        <p:nvSpPr>
          <p:cNvPr id="4" name="Text 2"/>
          <p:cNvSpPr/>
          <p:nvPr/>
        </p:nvSpPr>
        <p:spPr>
          <a:xfrm>
            <a:off x="713232" y="2880360"/>
            <a:ext cx="9875520" cy="457200"/>
          </a:xfrm>
          <a:prstGeom prst="rect">
            <a:avLst/>
          </a:prstGeom>
          <a:noFill/>
          <a:ln/>
        </p:spPr>
        <p:txBody>
          <a:bodyPr wrap="square" lIns="0" tIns="0" rIns="0" bIns="0" rtlCol="0" anchor="ctr"/>
          <a:lstStyle/>
          <a:p>
            <a:pPr indent="0" marL="0">
              <a:buNone/>
            </a:pPr>
            <a:r>
              <a:rPr lang="en-US" sz="2000" dirty="0">
                <a:solidFill>
                  <a:srgbClr val="D9F99D"/>
                </a:solidFill>
              </a:rPr>
              <a:t>Why Chapter 8 leads to Chapter 9 and beyond</a:t>
            </a:r>
            <a:endParaRPr lang="en-US" sz="2000" dirty="0"/>
          </a:p>
        </p:txBody>
      </p:sp>
      <p:sp>
        <p:nvSpPr>
          <p:cNvPr id="5" name="Text 3"/>
          <p:cNvSpPr/>
          <p:nvPr/>
        </p:nvSpPr>
        <p:spPr>
          <a:xfrm>
            <a:off x="11018520" y="6172200"/>
            <a:ext cx="548640" cy="274320"/>
          </a:xfrm>
          <a:prstGeom prst="rect">
            <a:avLst/>
          </a:prstGeom>
          <a:noFill/>
          <a:ln/>
        </p:spPr>
        <p:txBody>
          <a:bodyPr wrap="square" lIns="0" tIns="0" rIns="0" bIns="0" rtlCol="0" anchor="ctr"/>
          <a:lstStyle/>
          <a:p>
            <a:pPr algn="r" indent="0" marL="0">
              <a:buNone/>
            </a:pPr>
            <a:r>
              <a:rPr lang="en-US" sz="1200" b="1" dirty="0">
                <a:solidFill>
                  <a:srgbClr val="D9F99D"/>
                </a:solidFill>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62</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LIMITS OF FOL</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More expressive languages can be harder to reason with</a:t>
            </a:r>
            <a:endParaRPr lang="en-US" sz="1800" dirty="0"/>
          </a:p>
          <a:p>
            <a:r>
              <a:rPr lang="en-US" sz="1800" dirty="0">
                <a:solidFill>
                  <a:srgbClr val="1E293B"/>
                </a:solidFill>
                <a:latin typeface="Aptos" pitchFamily="34" charset="0"/>
                <a:ea typeface="Aptos" pitchFamily="34" charset="-122"/>
                <a:cs typeface="Aptos" pitchFamily="34" charset="-120"/>
              </a:rPr>
              <a:t>Vague predicates are difficult: Tall(x), Tasty(x)</a:t>
            </a:r>
            <a:endParaRPr lang="en-US" sz="1800" dirty="0"/>
          </a:p>
          <a:p>
            <a:r>
              <a:rPr lang="en-US" sz="1800" dirty="0">
                <a:solidFill>
                  <a:srgbClr val="1E293B"/>
                </a:solidFill>
                <a:latin typeface="Aptos" pitchFamily="34" charset="0"/>
                <a:ea typeface="Aptos" pitchFamily="34" charset="-122"/>
                <a:cs typeface="Aptos" pitchFamily="34" charset="-120"/>
              </a:rPr>
              <a:t>Uncertainty needs probability, not just true/false/unknown</a:t>
            </a:r>
            <a:endParaRPr lang="en-US" sz="1800" dirty="0"/>
          </a:p>
          <a:p>
            <a:r>
              <a:rPr lang="en-US" sz="1800" dirty="0">
                <a:solidFill>
                  <a:srgbClr val="1E293B"/>
                </a:solidFill>
                <a:latin typeface="Aptos" pitchFamily="34" charset="0"/>
                <a:ea typeface="Aptos" pitchFamily="34" charset="-122"/>
                <a:cs typeface="Aptos" pitchFamily="34" charset="-120"/>
              </a:rPr>
              <a:t>Large KBs require careful engineering</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recipe can state “add enough salt,” but formal logic struggles with “enough” unless we define it precisely.</a:t>
            </a:r>
            <a:endParaRPr lang="en-US" sz="1520" dirty="0"/>
          </a:p>
        </p:txBody>
      </p:sp>
      <p:sp>
        <p:nvSpPr>
          <p:cNvPr id="12" name="Shape 10"/>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3" name="Text 11"/>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4" name="Text 12"/>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Ask: Is GoodRestaurant(x) a clean logical predicate?</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Chapter 8</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63</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WHY THIS MATTERS FOR AI AGENTS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13232" y="1508760"/>
            <a:ext cx="5577840" cy="4251960"/>
          </a:xfrm>
          <a:prstGeom prst="rect">
            <a:avLst/>
          </a:prstGeom>
          <a:noFill/>
          <a:ln/>
        </p:spPr>
        <p:txBody>
          <a:bodyPr wrap="square" lIns="1016" tIns="1016" rIns="1016" bIns="1016" rtlCol="0" anchor="t">
            <a:normAutofit/>
          </a:bodyPr>
          <a:lstStyle/>
          <a:p>
            <a:r>
              <a:rPr lang="en-US" sz="1800" dirty="0">
                <a:solidFill>
                  <a:srgbClr val="1E293B"/>
                </a:solidFill>
                <a:latin typeface="Aptos" pitchFamily="34" charset="0"/>
                <a:ea typeface="Aptos" pitchFamily="34" charset="-122"/>
                <a:cs typeface="Aptos" pitchFamily="34" charset="-120"/>
              </a:rPr>
              <a:t>Agents need knowledge, not just search</a:t>
            </a:r>
            <a:endParaRPr lang="en-US" sz="1800" dirty="0"/>
          </a:p>
          <a:p>
            <a:r>
              <a:rPr lang="en-US" sz="1800" dirty="0">
                <a:solidFill>
                  <a:srgbClr val="1E293B"/>
                </a:solidFill>
                <a:latin typeface="Aptos" pitchFamily="34" charset="0"/>
                <a:ea typeface="Aptos" pitchFamily="34" charset="-122"/>
                <a:cs typeface="Aptos" pitchFamily="34" charset="-120"/>
              </a:rPr>
              <a:t>FOL lets agents generalize rules</a:t>
            </a:r>
            <a:endParaRPr lang="en-US" sz="1800" dirty="0"/>
          </a:p>
          <a:p>
            <a:r>
              <a:rPr lang="en-US" sz="1800" dirty="0">
                <a:solidFill>
                  <a:srgbClr val="1E293B"/>
                </a:solidFill>
                <a:latin typeface="Aptos" pitchFamily="34" charset="0"/>
                <a:ea typeface="Aptos" pitchFamily="34" charset="-122"/>
                <a:cs typeface="Aptos" pitchFamily="34" charset="-120"/>
              </a:rPr>
              <a:t>Inference derives new facts from old facts</a:t>
            </a:r>
            <a:endParaRPr lang="en-US" sz="1800" dirty="0"/>
          </a:p>
          <a:p>
            <a:r>
              <a:rPr lang="en-US" sz="1800" dirty="0">
                <a:solidFill>
                  <a:srgbClr val="1E293B"/>
                </a:solidFill>
                <a:latin typeface="Aptos" pitchFamily="34" charset="0"/>
                <a:ea typeface="Aptos" pitchFamily="34" charset="-122"/>
                <a:cs typeface="Aptos" pitchFamily="34" charset="-120"/>
              </a:rPr>
              <a:t>Knowledge engineering connects AI to domains</a:t>
            </a:r>
            <a:endParaRPr lang="en-US" sz="1800" dirty="0"/>
          </a:p>
        </p:txBody>
      </p:sp>
      <p:sp>
        <p:nvSpPr>
          <p:cNvPr id="9" name="Shape 7"/>
          <p:cNvSpPr/>
          <p:nvPr/>
        </p:nvSpPr>
        <p:spPr>
          <a:xfrm>
            <a:off x="6629400" y="1691640"/>
            <a:ext cx="4800600" cy="1325880"/>
          </a:xfrm>
          <a:prstGeom prst="roundRect">
            <a:avLst>
              <a:gd name="adj" fmla="val 5517"/>
            </a:avLst>
          </a:prstGeom>
          <a:solidFill>
            <a:srgbClr val="FFF6D9"/>
          </a:solidFill>
          <a:ln w="12700">
            <a:solidFill>
              <a:srgbClr val="F4A261"/>
            </a:solidFill>
            <a:prstDash val="solid"/>
          </a:ln>
        </p:spPr>
      </p:sp>
      <p:sp>
        <p:nvSpPr>
          <p:cNvPr id="10" name="Text 8"/>
          <p:cNvSpPr/>
          <p:nvPr/>
        </p:nvSpPr>
        <p:spPr>
          <a:xfrm>
            <a:off x="6830568" y="1837944"/>
            <a:ext cx="4398264" cy="228600"/>
          </a:xfrm>
          <a:prstGeom prst="rect">
            <a:avLst/>
          </a:prstGeom>
          <a:noFill/>
          <a:ln/>
        </p:spPr>
        <p:txBody>
          <a:bodyPr wrap="square" lIns="0" tIns="0" rIns="0" bIns="0" rtlCol="0" anchor="ctr"/>
          <a:lstStyle/>
          <a:p>
            <a:pPr indent="0" marL="0">
              <a:buNone/>
            </a:pPr>
            <a:r>
              <a:rPr lang="en-US" sz="1100" b="1" dirty="0">
                <a:solidFill>
                  <a:srgbClr val="B0005D"/>
                </a:solidFill>
              </a:rPr>
              <a:t>Analogy</a:t>
            </a:r>
            <a:endParaRPr lang="en-US" sz="1100" dirty="0"/>
          </a:p>
        </p:txBody>
      </p:sp>
      <p:sp>
        <p:nvSpPr>
          <p:cNvPr id="11" name="Text 9"/>
          <p:cNvSpPr/>
          <p:nvPr/>
        </p:nvSpPr>
        <p:spPr>
          <a:xfrm>
            <a:off x="6830568" y="2130552"/>
            <a:ext cx="4398264" cy="75895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A delivery robot needs more than a map: it needs to know doors, people, rooms, permissions, and relationships.</a:t>
            </a:r>
            <a:endParaRPr lang="en-US" sz="1520" dirty="0"/>
          </a:p>
        </p:txBody>
      </p:sp>
      <p:sp>
        <p:nvSpPr>
          <p:cNvPr id="12" name="Shape 10"/>
          <p:cNvSpPr/>
          <p:nvPr/>
        </p:nvSpPr>
        <p:spPr>
          <a:xfrm>
            <a:off x="6629400" y="3246120"/>
            <a:ext cx="4800600" cy="749808"/>
          </a:xfrm>
          <a:prstGeom prst="roundRect">
            <a:avLst>
              <a:gd name="adj" fmla="val 9756"/>
            </a:avLst>
          </a:prstGeom>
          <a:solidFill>
            <a:srgbClr val="FFFFFF">
              <a:alpha val="92000"/>
            </a:srgbClr>
          </a:solidFill>
          <a:ln w="12700">
            <a:solidFill>
              <a:srgbClr val="007C89"/>
            </a:solidFill>
            <a:prstDash val="solid"/>
          </a:ln>
        </p:spPr>
      </p:sp>
      <p:sp>
        <p:nvSpPr>
          <p:cNvPr id="13" name="Text 11"/>
          <p:cNvSpPr/>
          <p:nvPr/>
        </p:nvSpPr>
        <p:spPr>
          <a:xfrm>
            <a:off x="6793992" y="3410712"/>
            <a:ext cx="4471416" cy="521208"/>
          </a:xfrm>
          <a:prstGeom prst="rect">
            <a:avLst/>
          </a:prstGeom>
          <a:noFill/>
          <a:ln/>
        </p:spPr>
        <p:txBody>
          <a:bodyPr wrap="square" lIns="0" tIns="0" rIns="0" bIns="0" rtlCol="0" anchor="ctr">
            <a:normAutofit/>
          </a:bodyPr>
          <a:lstStyle/>
          <a:p>
            <a:pPr algn="ctr" indent="0" marL="0">
              <a:buNone/>
            </a:pPr>
            <a:r>
              <a:rPr lang="en-US" sz="1900" b="1" dirty="0">
                <a:solidFill>
                  <a:srgbClr val="005088"/>
                </a:solidFill>
                <a:latin typeface="Cambria Math" pitchFamily="34" charset="0"/>
                <a:ea typeface="Cambria Math" pitchFamily="34" charset="-122"/>
                <a:cs typeface="Cambria Math" pitchFamily="34" charset="-120"/>
              </a:rPr>
              <a:t>representation → inference → action</a:t>
            </a:r>
            <a:endParaRPr lang="en-US" sz="1900" dirty="0"/>
          </a:p>
        </p:txBody>
      </p:sp>
      <p:sp>
        <p:nvSpPr>
          <p:cNvPr id="14" name="Shape 12"/>
          <p:cNvSpPr/>
          <p:nvPr/>
        </p:nvSpPr>
        <p:spPr>
          <a:xfrm>
            <a:off x="6629400" y="4251960"/>
            <a:ext cx="4800600" cy="1051560"/>
          </a:xfrm>
          <a:prstGeom prst="roundRect">
            <a:avLst>
              <a:gd name="adj" fmla="val 6957"/>
            </a:avLst>
          </a:prstGeom>
          <a:solidFill>
            <a:srgbClr val="E6FFFA"/>
          </a:solidFill>
          <a:ln w="12700">
            <a:solidFill>
              <a:srgbClr val="2A9D8F"/>
            </a:solidFill>
            <a:prstDash val="solid"/>
          </a:ln>
        </p:spPr>
      </p:sp>
      <p:sp>
        <p:nvSpPr>
          <p:cNvPr id="15" name="Text 13"/>
          <p:cNvSpPr/>
          <p:nvPr/>
        </p:nvSpPr>
        <p:spPr>
          <a:xfrm>
            <a:off x="6812280" y="4379976"/>
            <a:ext cx="4434840" cy="228600"/>
          </a:xfrm>
          <a:prstGeom prst="rect">
            <a:avLst/>
          </a:prstGeom>
          <a:noFill/>
          <a:ln/>
        </p:spPr>
        <p:txBody>
          <a:bodyPr wrap="square" lIns="0" tIns="0" rIns="0" bIns="0" rtlCol="0" anchor="ctr"/>
          <a:lstStyle/>
          <a:p>
            <a:pPr indent="0" marL="0">
              <a:buNone/>
            </a:pPr>
            <a:r>
              <a:rPr lang="en-US" sz="1100" b="1" dirty="0">
                <a:solidFill>
                  <a:srgbClr val="007C89"/>
                </a:solidFill>
              </a:rPr>
              <a:t>Class check</a:t>
            </a:r>
            <a:endParaRPr lang="en-US" sz="1100" dirty="0"/>
          </a:p>
        </p:txBody>
      </p:sp>
      <p:sp>
        <p:nvSpPr>
          <p:cNvPr id="16" name="Text 14"/>
          <p:cNvSpPr/>
          <p:nvPr/>
        </p:nvSpPr>
        <p:spPr>
          <a:xfrm>
            <a:off x="6812280" y="4654296"/>
            <a:ext cx="4434840" cy="594360"/>
          </a:xfrm>
          <a:prstGeom prst="rect">
            <a:avLst/>
          </a:prstGeom>
          <a:noFill/>
          <a:ln/>
        </p:spPr>
        <p:txBody>
          <a:bodyPr wrap="square" lIns="0" tIns="0" rIns="0" bIns="0" rtlCol="0" anchor="ctr">
            <a:normAutofit/>
          </a:bodyPr>
          <a:lstStyle/>
          <a:p>
            <a:pPr indent="0" marL="0">
              <a:buNone/>
            </a:pPr>
            <a:r>
              <a:rPr lang="en-US" sz="1400" dirty="0">
                <a:solidFill>
                  <a:srgbClr val="1E293B"/>
                </a:solidFill>
              </a:rPr>
              <a:t>Which parts of a campus robot’s world require objects and relations?</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Review</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64</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CHAPTER 8 SUMMARY / REVIEW</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31520" y="1508760"/>
            <a:ext cx="10652760" cy="3474720"/>
          </a:xfrm>
          <a:prstGeom prst="rect">
            <a:avLst/>
          </a:prstGeom>
          <a:noFill/>
          <a:ln/>
        </p:spPr>
        <p:txBody>
          <a:bodyPr wrap="square" lIns="1016" tIns="1016" rIns="1016" bIns="1016" rtlCol="0" anchor="t">
            <a:normAutofit/>
          </a:bodyPr>
          <a:lstStyle/>
          <a:p>
            <a:r>
              <a:rPr lang="en-US" sz="1750" dirty="0">
                <a:solidFill>
                  <a:srgbClr val="1E293B"/>
                </a:solidFill>
                <a:latin typeface="Aptos" pitchFamily="34" charset="0"/>
                <a:ea typeface="Aptos" pitchFamily="34" charset="-122"/>
                <a:cs typeface="Aptos" pitchFamily="34" charset="-120"/>
              </a:rPr>
              <a:t>FOL represents objects, relations, functions, and quantified rules</a:t>
            </a:r>
            <a:endParaRPr lang="en-US" sz="1750" dirty="0"/>
          </a:p>
          <a:p>
            <a:r>
              <a:rPr lang="en-US" sz="1750" dirty="0">
                <a:solidFill>
                  <a:srgbClr val="1E293B"/>
                </a:solidFill>
                <a:latin typeface="Aptos" pitchFamily="34" charset="0"/>
                <a:ea typeface="Aptos" pitchFamily="34" charset="-122"/>
                <a:cs typeface="Aptos" pitchFamily="34" charset="-120"/>
              </a:rPr>
              <a:t>A model gives meaning through a domain and interpretation</a:t>
            </a:r>
            <a:endParaRPr lang="en-US" sz="1750" dirty="0"/>
          </a:p>
          <a:p>
            <a:r>
              <a:rPr lang="en-US" sz="1750" dirty="0">
                <a:solidFill>
                  <a:srgbClr val="1E293B"/>
                </a:solidFill>
                <a:latin typeface="Aptos" pitchFamily="34" charset="0"/>
                <a:ea typeface="Aptos" pitchFamily="34" charset="-122"/>
                <a:cs typeface="Aptos" pitchFamily="34" charset="-120"/>
              </a:rPr>
              <a:t>Quantifier order and connective choice change meaning</a:t>
            </a:r>
            <a:endParaRPr lang="en-US" sz="1750" dirty="0"/>
          </a:p>
          <a:p>
            <a:r>
              <a:rPr lang="en-US" sz="1750" dirty="0">
                <a:solidFill>
                  <a:srgbClr val="1E293B"/>
                </a:solidFill>
                <a:latin typeface="Aptos" pitchFamily="34" charset="0"/>
                <a:ea typeface="Aptos" pitchFamily="34" charset="-122"/>
                <a:cs typeface="Aptos" pitchFamily="34" charset="-120"/>
              </a:rPr>
              <a:t>Database semantics adds unique-name, closed-world, and domain-closure assumptions</a:t>
            </a:r>
            <a:endParaRPr lang="en-US" sz="1750" dirty="0"/>
          </a:p>
          <a:p>
            <a:r>
              <a:rPr lang="en-US" sz="1750" dirty="0">
                <a:solidFill>
                  <a:srgbClr val="1E293B"/>
                </a:solidFill>
                <a:latin typeface="Aptos" pitchFamily="34" charset="0"/>
                <a:ea typeface="Aptos" pitchFamily="34" charset="-122"/>
                <a:cs typeface="Aptos" pitchFamily="34" charset="-120"/>
              </a:rPr>
              <a:t>Knowledge engineering turns domain expertise into a queryable KB</a:t>
            </a:r>
            <a:endParaRPr lang="en-US" sz="1750" dirty="0"/>
          </a:p>
        </p:txBody>
      </p:sp>
      <p:sp>
        <p:nvSpPr>
          <p:cNvPr id="9" name="Shape 7"/>
          <p:cNvSpPr/>
          <p:nvPr/>
        </p:nvSpPr>
        <p:spPr>
          <a:xfrm>
            <a:off x="914400" y="5166360"/>
            <a:ext cx="10332720" cy="685800"/>
          </a:xfrm>
          <a:prstGeom prst="roundRect">
            <a:avLst>
              <a:gd name="adj" fmla="val 10667"/>
            </a:avLst>
          </a:prstGeom>
          <a:solidFill>
            <a:srgbClr val="FFF6D9"/>
          </a:solidFill>
          <a:ln w="12700">
            <a:solidFill>
              <a:srgbClr val="F4A261"/>
            </a:solidFill>
            <a:prstDash val="solid"/>
          </a:ln>
        </p:spPr>
      </p:sp>
      <p:sp>
        <p:nvSpPr>
          <p:cNvPr id="10" name="Text 8"/>
          <p:cNvSpPr/>
          <p:nvPr/>
        </p:nvSpPr>
        <p:spPr>
          <a:xfrm>
            <a:off x="1115568" y="5312664"/>
            <a:ext cx="9930384" cy="228600"/>
          </a:xfrm>
          <a:prstGeom prst="rect">
            <a:avLst/>
          </a:prstGeom>
          <a:noFill/>
          <a:ln/>
        </p:spPr>
        <p:txBody>
          <a:bodyPr wrap="square" lIns="0" tIns="0" rIns="0" bIns="0" rtlCol="0" anchor="ctr"/>
          <a:lstStyle/>
          <a:p>
            <a:pPr indent="0" marL="0">
              <a:buNone/>
            </a:pPr>
            <a:r>
              <a:rPr lang="en-US" sz="1100" b="1" dirty="0">
                <a:solidFill>
                  <a:srgbClr val="B0005D"/>
                </a:solidFill>
              </a:rPr>
              <a:t>Big analogy</a:t>
            </a:r>
            <a:endParaRPr lang="en-US" sz="1100" dirty="0"/>
          </a:p>
        </p:txBody>
      </p:sp>
      <p:sp>
        <p:nvSpPr>
          <p:cNvPr id="11" name="Text 9"/>
          <p:cNvSpPr/>
          <p:nvPr/>
        </p:nvSpPr>
        <p:spPr>
          <a:xfrm>
            <a:off x="1115568" y="5605272"/>
            <a:ext cx="9930384" cy="11887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FOL is a blueprint language for knowledge: it names the parts, draws the relationships, and lets inference inspect the structure.</a:t>
            </a:r>
            <a:endParaRPr lang="en-US" sz="152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Practice</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65</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EXIT TICKET: 5-MINUTE CHECK</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31520" y="1508760"/>
            <a:ext cx="10652760" cy="3749040"/>
          </a:xfrm>
          <a:prstGeom prst="rect">
            <a:avLst/>
          </a:prstGeom>
          <a:noFill/>
          <a:ln/>
        </p:spPr>
        <p:txBody>
          <a:bodyPr wrap="square" lIns="1016" tIns="1016" rIns="1016" bIns="1016" rtlCol="0" anchor="t">
            <a:normAutofit/>
          </a:bodyPr>
          <a:lstStyle/>
          <a:p>
            <a:r>
              <a:rPr lang="en-US" sz="1750" dirty="0">
                <a:solidFill>
                  <a:srgbClr val="1E293B"/>
                </a:solidFill>
                <a:latin typeface="Aptos" pitchFamily="34" charset="0"/>
                <a:ea typeface="Aptos" pitchFamily="34" charset="-122"/>
                <a:cs typeface="Aptos" pitchFamily="34" charset="-120"/>
              </a:rPr>
              <a:t>Translate: “Every course has an instructor.”</a:t>
            </a:r>
            <a:endParaRPr lang="en-US" sz="1750" dirty="0"/>
          </a:p>
          <a:p>
            <a:r>
              <a:rPr lang="en-US" sz="1750" dirty="0">
                <a:solidFill>
                  <a:srgbClr val="1E293B"/>
                </a:solidFill>
                <a:latin typeface="Aptos" pitchFamily="34" charset="0"/>
                <a:ea typeface="Aptos" pitchFamily="34" charset="-122"/>
                <a:cs typeface="Aptos" pitchFamily="34" charset="-120"/>
              </a:rPr>
              <a:t>Translate: “Some student is enrolled in COMP 469.”</a:t>
            </a:r>
            <a:endParaRPr lang="en-US" sz="1750" dirty="0"/>
          </a:p>
          <a:p>
            <a:r>
              <a:rPr lang="en-US" sz="1750" dirty="0">
                <a:solidFill>
                  <a:srgbClr val="1E293B"/>
                </a:solidFill>
                <a:latin typeface="Aptos" pitchFamily="34" charset="0"/>
                <a:ea typeface="Aptos" pitchFamily="34" charset="-122"/>
                <a:cs typeface="Aptos" pitchFamily="34" charset="-120"/>
              </a:rPr>
              <a:t>Explain why ∀x∃y Advisor(x,y) differs from ∃y∀x Advisor(x,y).</a:t>
            </a:r>
            <a:endParaRPr lang="en-US" sz="1750" dirty="0"/>
          </a:p>
          <a:p>
            <a:r>
              <a:rPr lang="en-US" sz="1750" dirty="0">
                <a:solidFill>
                  <a:srgbClr val="1E293B"/>
                </a:solidFill>
                <a:latin typeface="Aptos" pitchFamily="34" charset="0"/>
                <a:ea typeface="Aptos" pitchFamily="34" charset="-122"/>
                <a:cs typeface="Aptos" pitchFamily="34" charset="-120"/>
              </a:rPr>
              <a:t>Name one database-semantics assumption.</a:t>
            </a:r>
            <a:endParaRPr lang="en-US" sz="1750" dirty="0"/>
          </a:p>
          <a:p>
            <a:r>
              <a:rPr lang="en-US" sz="1750" dirty="0">
                <a:solidFill>
                  <a:srgbClr val="1E293B"/>
                </a:solidFill>
                <a:latin typeface="Aptos" pitchFamily="34" charset="0"/>
                <a:ea typeface="Aptos" pitchFamily="34" charset="-122"/>
                <a:cs typeface="Aptos" pitchFamily="34" charset="-120"/>
              </a:rPr>
              <a:t>Write one test query for the circuit KB.</a:t>
            </a:r>
            <a:endParaRPr lang="en-US" sz="1750" dirty="0"/>
          </a:p>
        </p:txBody>
      </p:sp>
      <p:sp>
        <p:nvSpPr>
          <p:cNvPr id="9" name="Shape 7"/>
          <p:cNvSpPr/>
          <p:nvPr/>
        </p:nvSpPr>
        <p:spPr>
          <a:xfrm>
            <a:off x="914400" y="5349240"/>
            <a:ext cx="10332720" cy="594360"/>
          </a:xfrm>
          <a:prstGeom prst="roundRect">
            <a:avLst>
              <a:gd name="adj" fmla="val 12308"/>
            </a:avLst>
          </a:prstGeom>
          <a:solidFill>
            <a:srgbClr val="FFF6D9"/>
          </a:solidFill>
          <a:ln w="12700">
            <a:solidFill>
              <a:srgbClr val="F4A261"/>
            </a:solidFill>
            <a:prstDash val="solid"/>
          </a:ln>
        </p:spPr>
      </p:sp>
      <p:sp>
        <p:nvSpPr>
          <p:cNvPr id="10" name="Text 8"/>
          <p:cNvSpPr/>
          <p:nvPr/>
        </p:nvSpPr>
        <p:spPr>
          <a:xfrm>
            <a:off x="1115568" y="5495544"/>
            <a:ext cx="9930384" cy="228600"/>
          </a:xfrm>
          <a:prstGeom prst="rect">
            <a:avLst/>
          </a:prstGeom>
          <a:noFill/>
          <a:ln/>
        </p:spPr>
        <p:txBody>
          <a:bodyPr wrap="square" lIns="0" tIns="0" rIns="0" bIns="0" rtlCol="0" anchor="ctr"/>
          <a:lstStyle/>
          <a:p>
            <a:pPr indent="0" marL="0">
              <a:buNone/>
            </a:pPr>
            <a:r>
              <a:rPr lang="en-US" sz="1100" b="1" dirty="0">
                <a:solidFill>
                  <a:srgbClr val="B0005D"/>
                </a:solidFill>
              </a:rPr>
              <a:t>Instructor use</a:t>
            </a:r>
            <a:endParaRPr lang="en-US" sz="1100" dirty="0"/>
          </a:p>
        </p:txBody>
      </p:sp>
      <p:sp>
        <p:nvSpPr>
          <p:cNvPr id="11" name="Text 9"/>
          <p:cNvSpPr/>
          <p:nvPr/>
        </p:nvSpPr>
        <p:spPr>
          <a:xfrm>
            <a:off x="1115568" y="5788152"/>
            <a:ext cx="9930384" cy="27432"/>
          </a:xfrm>
          <a:prstGeom prst="rect">
            <a:avLst/>
          </a:prstGeom>
          <a:noFill/>
          <a:ln/>
        </p:spPr>
        <p:txBody>
          <a:bodyPr wrap="square" lIns="254" tIns="254" rIns="254" bIns="254" rtlCol="0" anchor="ctr">
            <a:normAutofit/>
          </a:bodyPr>
          <a:lstStyle/>
          <a:p>
            <a:pPr indent="0" marL="0">
              <a:buNone/>
            </a:pPr>
            <a:r>
              <a:rPr lang="en-US" sz="1520" dirty="0">
                <a:solidFill>
                  <a:srgbClr val="1E293B"/>
                </a:solidFill>
              </a:rPr>
              <a:t>This is a diagnostic, not a trick. The goal is to catch symbol misunderstandings before Chapter 9.</a:t>
            </a:r>
            <a:endParaRPr lang="en-US" sz="152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4F1D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5088"/>
          </a:solidFill>
          <a:ln w="12700">
            <a:solidFill>
              <a:srgbClr val="005088"/>
            </a:solidFill>
            <a:prstDash val="solid"/>
          </a:ln>
        </p:spPr>
      </p:sp>
      <p:sp>
        <p:nvSpPr>
          <p:cNvPr id="3" name="Shape 1"/>
          <p:cNvSpPr/>
          <p:nvPr/>
        </p:nvSpPr>
        <p:spPr>
          <a:xfrm>
            <a:off x="0" y="6729984"/>
            <a:ext cx="12191695" cy="128016"/>
          </a:xfrm>
          <a:prstGeom prst="rect">
            <a:avLst/>
          </a:prstGeom>
          <a:solidFill>
            <a:srgbClr val="005088"/>
          </a:solidFill>
          <a:ln w="12700">
            <a:solidFill>
              <a:srgbClr val="005088"/>
            </a:solidFill>
            <a:prstDash val="solid"/>
          </a:ln>
        </p:spPr>
      </p:sp>
      <p:sp>
        <p:nvSpPr>
          <p:cNvPr id="4" name="Text 2"/>
          <p:cNvSpPr/>
          <p:nvPr/>
        </p:nvSpPr>
        <p:spPr>
          <a:xfrm>
            <a:off x="502920" y="210312"/>
            <a:ext cx="4206240" cy="228600"/>
          </a:xfrm>
          <a:prstGeom prst="rect">
            <a:avLst/>
          </a:prstGeom>
          <a:noFill/>
          <a:ln/>
        </p:spPr>
        <p:txBody>
          <a:bodyPr wrap="square" lIns="0" tIns="0" rIns="0" bIns="0" rtlCol="0" anchor="ctr"/>
          <a:lstStyle/>
          <a:p>
            <a:pPr indent="0" marL="0">
              <a:buNone/>
            </a:pPr>
            <a:r>
              <a:rPr lang="en-US" sz="950" b="1" dirty="0">
                <a:solidFill>
                  <a:srgbClr val="3D5A80"/>
                </a:solidFill>
                <a:latin typeface="Aptos" pitchFamily="34" charset="0"/>
                <a:ea typeface="Aptos" pitchFamily="34" charset="-122"/>
                <a:cs typeface="Aptos" pitchFamily="34" charset="-120"/>
              </a:rPr>
              <a:t>References</a:t>
            </a:r>
            <a:endParaRPr lang="en-US" sz="950" dirty="0"/>
          </a:p>
        </p:txBody>
      </p:sp>
      <p:sp>
        <p:nvSpPr>
          <p:cNvPr id="5" name="Text 3"/>
          <p:cNvSpPr/>
          <p:nvPr/>
        </p:nvSpPr>
        <p:spPr>
          <a:xfrm>
            <a:off x="11292840" y="201168"/>
            <a:ext cx="411480" cy="228600"/>
          </a:xfrm>
          <a:prstGeom prst="rect">
            <a:avLst/>
          </a:prstGeom>
          <a:noFill/>
          <a:ln/>
        </p:spPr>
        <p:txBody>
          <a:bodyPr wrap="square" lIns="0" tIns="0" rIns="0" bIns="0" rtlCol="0" anchor="ctr"/>
          <a:lstStyle/>
          <a:p>
            <a:pPr algn="r" indent="0" marL="0">
              <a:buNone/>
            </a:pPr>
            <a:r>
              <a:rPr lang="en-US" sz="900" b="1" dirty="0">
                <a:solidFill>
                  <a:srgbClr val="3D5A80"/>
                </a:solidFill>
              </a:rPr>
              <a:t>66</a:t>
            </a:r>
            <a:endParaRPr lang="en-US" sz="900" dirty="0"/>
          </a:p>
        </p:txBody>
      </p:sp>
      <p:sp>
        <p:nvSpPr>
          <p:cNvPr id="6" name="Text 4"/>
          <p:cNvSpPr/>
          <p:nvPr/>
        </p:nvSpPr>
        <p:spPr>
          <a:xfrm>
            <a:off x="502920" y="566928"/>
            <a:ext cx="11201400" cy="530352"/>
          </a:xfrm>
          <a:prstGeom prst="rect">
            <a:avLst/>
          </a:prstGeom>
          <a:noFill/>
          <a:ln/>
        </p:spPr>
        <p:txBody>
          <a:bodyPr wrap="square" lIns="0" tIns="0" rIns="0" bIns="0" rtlCol="0" anchor="ctr">
            <a:normAutofit/>
          </a:bodyPr>
          <a:lstStyle/>
          <a:p>
            <a:pPr indent="0" marL="0">
              <a:buNone/>
            </a:pPr>
            <a:r>
              <a:rPr lang="en-US" sz="2900" b="1" dirty="0">
                <a:solidFill>
                  <a:srgbClr val="005088"/>
                </a:solidFill>
                <a:latin typeface="Aptos Display" pitchFamily="34" charset="0"/>
                <a:ea typeface="Aptos Display" pitchFamily="34" charset="-122"/>
                <a:cs typeface="Aptos Display" pitchFamily="34" charset="-120"/>
              </a:rPr>
              <a:t>REFERENCES AND TEACHING RESOURCES</a:t>
            </a:r>
            <a:endParaRPr lang="en-US" sz="2900" dirty="0"/>
          </a:p>
        </p:txBody>
      </p:sp>
      <p:sp>
        <p:nvSpPr>
          <p:cNvPr id="7" name="Shape 5"/>
          <p:cNvSpPr/>
          <p:nvPr/>
        </p:nvSpPr>
        <p:spPr>
          <a:xfrm>
            <a:off x="502920" y="1225296"/>
            <a:ext cx="11064240" cy="0"/>
          </a:xfrm>
          <a:prstGeom prst="line">
            <a:avLst/>
          </a:prstGeom>
          <a:noFill/>
          <a:ln w="12700">
            <a:solidFill>
              <a:srgbClr val="3D5A80"/>
            </a:solidFill>
            <a:prstDash val="solid"/>
          </a:ln>
        </p:spPr>
      </p:sp>
      <p:sp>
        <p:nvSpPr>
          <p:cNvPr id="8" name="Text 6"/>
          <p:cNvSpPr/>
          <p:nvPr/>
        </p:nvSpPr>
        <p:spPr>
          <a:xfrm>
            <a:off x="731520" y="1508760"/>
            <a:ext cx="10698480" cy="4251960"/>
          </a:xfrm>
          <a:prstGeom prst="rect">
            <a:avLst/>
          </a:prstGeom>
          <a:noFill/>
          <a:ln/>
        </p:spPr>
        <p:txBody>
          <a:bodyPr wrap="square" lIns="1016" tIns="1016" rIns="1016" bIns="1016" rtlCol="0" anchor="t">
            <a:normAutofit/>
          </a:bodyPr>
          <a:lstStyle/>
          <a:p>
            <a:r>
              <a:rPr lang="en-US" sz="1550" dirty="0">
                <a:solidFill>
                  <a:srgbClr val="1E293B"/>
                </a:solidFill>
                <a:latin typeface="Aptos" pitchFamily="34" charset="0"/>
                <a:ea typeface="Aptos" pitchFamily="34" charset="-122"/>
                <a:cs typeface="Aptos" pitchFamily="34" charset="-120"/>
              </a:rPr>
              <a:t>Russell &amp; Norvig, Artificial Intelligence: A Modern Approach, 4th ed., Chapter 8</a:t>
            </a:r>
            <a:endParaRPr lang="en-US" sz="1550" dirty="0"/>
          </a:p>
          <a:p>
            <a:r>
              <a:rPr lang="en-US" sz="1550" dirty="0">
                <a:solidFill>
                  <a:srgbClr val="1E293B"/>
                </a:solidFill>
                <a:latin typeface="Aptos" pitchFamily="34" charset="0"/>
                <a:ea typeface="Aptos" pitchFamily="34" charset="-122"/>
                <a:cs typeface="Aptos" pitchFamily="34" charset="-120"/>
              </a:rPr>
              <a:t>AIMA official site: https://aima.cs.berkeley.edu/</a:t>
            </a:r>
            <a:endParaRPr lang="en-US" sz="1550" dirty="0"/>
          </a:p>
          <a:p>
            <a:r>
              <a:rPr lang="en-US" sz="1550" dirty="0">
                <a:solidFill>
                  <a:srgbClr val="1E293B"/>
                </a:solidFill>
                <a:latin typeface="Aptos" pitchFamily="34" charset="0"/>
                <a:ea typeface="Aptos" pitchFamily="34" charset="-122"/>
                <a:cs typeface="Aptos" pitchFamily="34" charset="-120"/>
              </a:rPr>
              <a:t>AIMA Python logic code: https://github.com/aimacode/aima-python/blob/master/aima/logic.py</a:t>
            </a:r>
            <a:endParaRPr lang="en-US" sz="1550" dirty="0"/>
          </a:p>
          <a:p>
            <a:r>
              <a:rPr lang="en-US" sz="1550" dirty="0">
                <a:solidFill>
                  <a:srgbClr val="1E293B"/>
                </a:solidFill>
                <a:latin typeface="Aptos" pitchFamily="34" charset="0"/>
                <a:ea typeface="Aptos" pitchFamily="34" charset="-122"/>
                <a:cs typeface="Aptos" pitchFamily="34" charset="-120"/>
              </a:rPr>
              <a:t>Berkeley CS188 logic notes: https://inst.eecs.berkeley.edu/~cs188/</a:t>
            </a:r>
            <a:endParaRPr lang="en-US" sz="1550" dirty="0"/>
          </a:p>
          <a:p>
            <a:r>
              <a:rPr lang="en-US" sz="1550" dirty="0">
                <a:solidFill>
                  <a:srgbClr val="1E293B"/>
                </a:solidFill>
                <a:latin typeface="Aptos" pitchFamily="34" charset="0"/>
                <a:ea typeface="Aptos" pitchFamily="34" charset="-122"/>
                <a:cs typeface="Aptos" pitchFamily="34" charset="-120"/>
              </a:rPr>
              <a:t>AIMA FOL exercises: https://aimacode.github.io/aima-exercises/fol-exercises/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CSU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Chapter 8 - First-Order Logic</dc:title>
  <dc:subject>Chapter 8: First-Order Logic</dc:subject>
  <dc:creator>COMP 469 - CSU Channel Islands</dc:creator>
  <cp:lastModifiedBy>COMP 469 - CSU Channel Islands</cp:lastModifiedBy>
  <cp:revision>1</cp:revision>
  <dcterms:created xsi:type="dcterms:W3CDTF">2026-07-13T02:00:42Z</dcterms:created>
  <dcterms:modified xsi:type="dcterms:W3CDTF">2026-07-13T02:00:42Z</dcterms:modified>
</cp:coreProperties>
</file>