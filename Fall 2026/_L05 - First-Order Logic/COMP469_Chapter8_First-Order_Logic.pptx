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1.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1097280" y="640080"/>
            <a:ext cx="1280160" cy="365760"/>
          </a:xfrm>
          <a:prstGeom prst="line">
            <a:avLst/>
          </a:prstGeom>
          <a:noFill/>
          <a:ln w="15875">
            <a:solidFill>
              <a:srgbClr val="2A3A5C"/>
            </a:solidFill>
            <a:prstDash val="solid"/>
          </a:ln>
        </p:spPr>
      </p:sp>
      <p:sp>
        <p:nvSpPr>
          <p:cNvPr id="3" name="Shape 1"/>
          <p:cNvSpPr/>
          <p:nvPr/>
        </p:nvSpPr>
        <p:spPr>
          <a:xfrm>
            <a:off x="2377440" y="640080"/>
            <a:ext cx="1280160" cy="640080"/>
          </a:xfrm>
          <a:prstGeom prst="line">
            <a:avLst/>
          </a:prstGeom>
          <a:noFill/>
          <a:ln w="15875">
            <a:solidFill>
              <a:srgbClr val="2A3A5C"/>
            </a:solidFill>
            <a:prstDash val="solid"/>
          </a:ln>
        </p:spPr>
      </p:sp>
      <p:sp>
        <p:nvSpPr>
          <p:cNvPr id="4" name="Shape 2"/>
          <p:cNvSpPr/>
          <p:nvPr/>
        </p:nvSpPr>
        <p:spPr>
          <a:xfrm>
            <a:off x="1097280" y="1005840"/>
            <a:ext cx="548640" cy="1005840"/>
          </a:xfrm>
          <a:prstGeom prst="line">
            <a:avLst/>
          </a:prstGeom>
          <a:noFill/>
          <a:ln w="15875">
            <a:solidFill>
              <a:srgbClr val="2A3A5C"/>
            </a:solidFill>
            <a:prstDash val="solid"/>
          </a:ln>
        </p:spPr>
      </p:sp>
      <p:sp>
        <p:nvSpPr>
          <p:cNvPr id="5" name="Shape 3"/>
          <p:cNvSpPr/>
          <p:nvPr/>
        </p:nvSpPr>
        <p:spPr>
          <a:xfrm>
            <a:off x="1645920" y="2011680"/>
            <a:ext cx="1463040" cy="182880"/>
          </a:xfrm>
          <a:prstGeom prst="line">
            <a:avLst/>
          </a:prstGeom>
          <a:noFill/>
          <a:ln w="15875">
            <a:solidFill>
              <a:srgbClr val="2A3A5C"/>
            </a:solidFill>
            <a:prstDash val="solid"/>
          </a:ln>
        </p:spPr>
      </p:sp>
      <p:sp>
        <p:nvSpPr>
          <p:cNvPr id="6" name="Shape 4"/>
          <p:cNvSpPr/>
          <p:nvPr/>
        </p:nvSpPr>
        <p:spPr>
          <a:xfrm>
            <a:off x="3108960" y="1280160"/>
            <a:ext cx="548640" cy="914400"/>
          </a:xfrm>
          <a:prstGeom prst="line">
            <a:avLst/>
          </a:prstGeom>
          <a:noFill/>
          <a:ln w="15875">
            <a:solidFill>
              <a:srgbClr val="2A3A5C"/>
            </a:solidFill>
            <a:prstDash val="solid"/>
          </a:ln>
        </p:spPr>
      </p:sp>
      <p:sp>
        <p:nvSpPr>
          <p:cNvPr id="7" name="Shape 5"/>
          <p:cNvSpPr/>
          <p:nvPr/>
        </p:nvSpPr>
        <p:spPr>
          <a:xfrm>
            <a:off x="1051560" y="960120"/>
            <a:ext cx="91440" cy="91440"/>
          </a:xfrm>
          <a:prstGeom prst="ellipse">
            <a:avLst/>
          </a:prstGeom>
          <a:solidFill>
            <a:srgbClr val="4FD1E8"/>
          </a:solidFill>
          <a:ln/>
        </p:spPr>
      </p:sp>
      <p:sp>
        <p:nvSpPr>
          <p:cNvPr id="8" name="Shape 6"/>
          <p:cNvSpPr/>
          <p:nvPr/>
        </p:nvSpPr>
        <p:spPr>
          <a:xfrm>
            <a:off x="2331720" y="594360"/>
            <a:ext cx="91440" cy="91440"/>
          </a:xfrm>
          <a:prstGeom prst="ellipse">
            <a:avLst/>
          </a:prstGeom>
          <a:solidFill>
            <a:srgbClr val="4FD1E8"/>
          </a:solidFill>
          <a:ln/>
        </p:spPr>
      </p:sp>
      <p:sp>
        <p:nvSpPr>
          <p:cNvPr id="9" name="Shape 7"/>
          <p:cNvSpPr/>
          <p:nvPr/>
        </p:nvSpPr>
        <p:spPr>
          <a:xfrm>
            <a:off x="3611880" y="1234440"/>
            <a:ext cx="91440" cy="91440"/>
          </a:xfrm>
          <a:prstGeom prst="ellipse">
            <a:avLst/>
          </a:prstGeom>
          <a:solidFill>
            <a:srgbClr val="4FD1E8"/>
          </a:solidFill>
          <a:ln/>
        </p:spPr>
      </p:sp>
      <p:sp>
        <p:nvSpPr>
          <p:cNvPr id="10" name="Shape 8"/>
          <p:cNvSpPr/>
          <p:nvPr/>
        </p:nvSpPr>
        <p:spPr>
          <a:xfrm>
            <a:off x="1600200" y="1965960"/>
            <a:ext cx="91440" cy="91440"/>
          </a:xfrm>
          <a:prstGeom prst="ellipse">
            <a:avLst/>
          </a:prstGeom>
          <a:solidFill>
            <a:srgbClr val="4FD1E8"/>
          </a:solidFill>
          <a:ln/>
        </p:spPr>
      </p:sp>
      <p:sp>
        <p:nvSpPr>
          <p:cNvPr id="11" name="Shape 9"/>
          <p:cNvSpPr/>
          <p:nvPr/>
        </p:nvSpPr>
        <p:spPr>
          <a:xfrm>
            <a:off x="3063240" y="2148840"/>
            <a:ext cx="91440" cy="91440"/>
          </a:xfrm>
          <a:prstGeom prst="ellipse">
            <a:avLst/>
          </a:prstGeom>
          <a:solidFill>
            <a:srgbClr val="4FD1E8"/>
          </a:solidFill>
          <a:ln/>
        </p:spPr>
      </p:sp>
      <p:sp>
        <p:nvSpPr>
          <p:cNvPr id="12" name="Text 10"/>
          <p:cNvSpPr/>
          <p:nvPr/>
        </p:nvSpPr>
        <p:spPr>
          <a:xfrm>
            <a:off x="548640" y="2606040"/>
            <a:ext cx="9144000" cy="365760"/>
          </a:xfrm>
          <a:prstGeom prst="rect">
            <a:avLst/>
          </a:prstGeom>
          <a:noFill/>
          <a:ln/>
        </p:spPr>
        <p:txBody>
          <a:bodyPr wrap="square" rtlCol="0" anchor="ctr"/>
          <a:lstStyle/>
          <a:p>
            <a:pPr indent="0" marL="0">
              <a:buNone/>
            </a:pPr>
            <a:r>
              <a:rPr lang="en-US" sz="1400" b="1" spc="200" kern="0" dirty="0">
                <a:solidFill>
                  <a:srgbClr val="4FD1E8"/>
                </a:solidFill>
                <a:latin typeface="Calibri" pitchFamily="34" charset="0"/>
                <a:ea typeface="Calibri" pitchFamily="34" charset="-122"/>
                <a:cs typeface="Calibri" pitchFamily="34" charset="-120"/>
              </a:rPr>
              <a:t>COMP 469  ·  INTRODUCTION TO ARTIFICIAL INTELLIGENCE</a:t>
            </a:r>
            <a:endParaRPr lang="en-US" sz="1400" dirty="0"/>
          </a:p>
        </p:txBody>
      </p:sp>
      <p:sp>
        <p:nvSpPr>
          <p:cNvPr id="13" name="Text 11"/>
          <p:cNvSpPr/>
          <p:nvPr/>
        </p:nvSpPr>
        <p:spPr>
          <a:xfrm>
            <a:off x="502920" y="2971800"/>
            <a:ext cx="10515600" cy="1371600"/>
          </a:xfrm>
          <a:prstGeom prst="rect">
            <a:avLst/>
          </a:prstGeom>
          <a:noFill/>
          <a:ln/>
        </p:spPr>
        <p:txBody>
          <a:bodyPr wrap="square" rtlCol="0" anchor="ctr"/>
          <a:lstStyle/>
          <a:p>
            <a:pPr indent="0" marL="0">
              <a:buNone/>
            </a:pPr>
            <a:r>
              <a:rPr lang="en-US" sz="5800" b="1" dirty="0">
                <a:solidFill>
                  <a:srgbClr val="F4F7FB"/>
                </a:solidFill>
                <a:latin typeface="Calibri" pitchFamily="34" charset="0"/>
                <a:ea typeface="Calibri" pitchFamily="34" charset="-122"/>
                <a:cs typeface="Calibri" pitchFamily="34" charset="-120"/>
              </a:rPr>
              <a:t>First-Order Logic</a:t>
            </a:r>
            <a:endParaRPr lang="en-US" sz="5800" dirty="0"/>
          </a:p>
        </p:txBody>
      </p:sp>
      <p:sp>
        <p:nvSpPr>
          <p:cNvPr id="14" name="Text 12"/>
          <p:cNvSpPr/>
          <p:nvPr/>
        </p:nvSpPr>
        <p:spPr>
          <a:xfrm>
            <a:off x="548640" y="4251960"/>
            <a:ext cx="9601200" cy="548640"/>
          </a:xfrm>
          <a:prstGeom prst="rect">
            <a:avLst/>
          </a:prstGeom>
          <a:noFill/>
          <a:ln/>
        </p:spPr>
        <p:txBody>
          <a:bodyPr wrap="square" rtlCol="0" anchor="ctr"/>
          <a:lstStyle/>
          <a:p>
            <a:pPr indent="0" marL="0">
              <a:buNone/>
            </a:pPr>
            <a:r>
              <a:rPr lang="en-US" sz="1700" i="1" dirty="0">
                <a:solidFill>
                  <a:srgbClr val="9FB1CC"/>
                </a:solidFill>
                <a:latin typeface="Calibri" pitchFamily="34" charset="0"/>
                <a:ea typeface="Calibri" pitchFamily="34" charset="-122"/>
                <a:cs typeface="Calibri" pitchFamily="34" charset="-120"/>
              </a:rPr>
              <a:t>Chapter 8 — teaching objects, relations, and quantifiers to a reasoning machine</a:t>
            </a:r>
            <a:endParaRPr lang="en-US" sz="1700" dirty="0"/>
          </a:p>
        </p:txBody>
      </p:sp>
      <p:sp>
        <p:nvSpPr>
          <p:cNvPr id="15" name="Shape 13"/>
          <p:cNvSpPr/>
          <p:nvPr/>
        </p:nvSpPr>
        <p:spPr>
          <a:xfrm>
            <a:off x="548640" y="4892040"/>
            <a:ext cx="1188720" cy="0"/>
          </a:xfrm>
          <a:prstGeom prst="line">
            <a:avLst/>
          </a:prstGeom>
          <a:noFill/>
          <a:ln w="38100">
            <a:solidFill>
              <a:srgbClr val="FFC857"/>
            </a:solidFill>
            <a:prstDash val="solid"/>
          </a:ln>
        </p:spPr>
      </p:sp>
      <p:sp>
        <p:nvSpPr>
          <p:cNvPr id="16" name="Text 14"/>
          <p:cNvSpPr/>
          <p:nvPr/>
        </p:nvSpPr>
        <p:spPr>
          <a:xfrm>
            <a:off x="548640" y="5074920"/>
            <a:ext cx="8229600" cy="365760"/>
          </a:xfrm>
          <a:prstGeom prst="rect">
            <a:avLst/>
          </a:prstGeom>
          <a:noFill/>
          <a:ln/>
        </p:spPr>
        <p:txBody>
          <a:bodyPr wrap="square" rtlCol="0" anchor="ctr"/>
          <a:lstStyle/>
          <a:p>
            <a:pPr indent="0" marL="0">
              <a:buNone/>
            </a:pPr>
            <a:r>
              <a:rPr lang="en-US" sz="1300" dirty="0">
                <a:solidFill>
                  <a:srgbClr val="9FB1CC"/>
                </a:solidFill>
                <a:latin typeface="Calibri" pitchFamily="34" charset="0"/>
                <a:ea typeface="Calibri" pitchFamily="34" charset="-122"/>
                <a:cs typeface="Calibri" pitchFamily="34" charset="-120"/>
              </a:rPr>
              <a:t>Every concept paired with a plain-language analogy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400" b="1" dirty="0">
                <a:solidFill>
                  <a:srgbClr val="F4F7FB"/>
                </a:solidFill>
                <a:latin typeface="Calibri" pitchFamily="34" charset="0"/>
                <a:ea typeface="Calibri" pitchFamily="34" charset="-122"/>
                <a:cs typeface="Calibri" pitchFamily="34" charset="-120"/>
              </a:rPr>
              <a:t>What we'll cover</a:t>
            </a:r>
            <a:endParaRPr lang="en-US" sz="3400" dirty="0"/>
          </a:p>
        </p:txBody>
      </p:sp>
      <p:sp>
        <p:nvSpPr>
          <p:cNvPr id="4" name="Shape 2"/>
          <p:cNvSpPr/>
          <p:nvPr/>
        </p:nvSpPr>
        <p:spPr>
          <a:xfrm>
            <a:off x="548640" y="1691640"/>
            <a:ext cx="5349240" cy="1051560"/>
          </a:xfrm>
          <a:prstGeom prst="roundRect">
            <a:avLst>
              <a:gd name="adj" fmla="val 6957"/>
            </a:avLst>
          </a:prstGeom>
          <a:solidFill>
            <a:srgbClr val="121B2E"/>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77240" y="1920240"/>
            <a:ext cx="640080" cy="594360"/>
          </a:xfrm>
          <a:prstGeom prst="roundRect">
            <a:avLst>
              <a:gd name="adj" fmla="val 15385"/>
            </a:avLst>
          </a:prstGeom>
          <a:solidFill>
            <a:srgbClr val="1B2740"/>
          </a:solidFill>
          <a:ln w="12700">
            <a:solidFill>
              <a:srgbClr val="4FD1E8"/>
            </a:solidFill>
            <a:prstDash val="solid"/>
          </a:ln>
        </p:spPr>
      </p:sp>
      <p:sp>
        <p:nvSpPr>
          <p:cNvPr id="6" name="Text 4"/>
          <p:cNvSpPr/>
          <p:nvPr/>
        </p:nvSpPr>
        <p:spPr>
          <a:xfrm>
            <a:off x="777240" y="1920240"/>
            <a:ext cx="640080" cy="594360"/>
          </a:xfrm>
          <a:prstGeom prst="rect">
            <a:avLst/>
          </a:prstGeom>
          <a:noFill/>
          <a:ln/>
        </p:spPr>
        <p:txBody>
          <a:bodyPr wrap="square" rtlCol="0" anchor="ctr"/>
          <a:lstStyle/>
          <a:p>
            <a:pPr algn="ctr" indent="0" marL="0">
              <a:buNone/>
            </a:pPr>
            <a:r>
              <a:rPr lang="en-US" sz="1800" b="1" dirty="0">
                <a:solidFill>
                  <a:srgbClr val="4FD1E8"/>
                </a:solidFill>
                <a:latin typeface="Calibri" pitchFamily="34" charset="0"/>
                <a:ea typeface="Calibri" pitchFamily="34" charset="-122"/>
                <a:cs typeface="Calibri" pitchFamily="34" charset="-120"/>
              </a:rPr>
              <a:t>8.1</a:t>
            </a:r>
            <a:endParaRPr lang="en-US" sz="1800" dirty="0"/>
          </a:p>
        </p:txBody>
      </p:sp>
      <p:sp>
        <p:nvSpPr>
          <p:cNvPr id="7" name="Text 5"/>
          <p:cNvSpPr/>
          <p:nvPr/>
        </p:nvSpPr>
        <p:spPr>
          <a:xfrm>
            <a:off x="1554480" y="1856232"/>
            <a:ext cx="4160520" cy="365760"/>
          </a:xfrm>
          <a:prstGeom prst="rect">
            <a:avLst/>
          </a:prstGeom>
          <a:noFill/>
          <a:ln/>
        </p:spPr>
        <p:txBody>
          <a:bodyPr wrap="square"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Representation Revisited</a:t>
            </a:r>
            <a:endParaRPr lang="en-US" sz="1600" dirty="0"/>
          </a:p>
        </p:txBody>
      </p:sp>
      <p:sp>
        <p:nvSpPr>
          <p:cNvPr id="8" name="Text 6"/>
          <p:cNvSpPr/>
          <p:nvPr/>
        </p:nvSpPr>
        <p:spPr>
          <a:xfrm>
            <a:off x="1554480" y="2221992"/>
            <a:ext cx="4160520" cy="457200"/>
          </a:xfrm>
          <a:prstGeom prst="rect">
            <a:avLst/>
          </a:prstGeom>
          <a:noFill/>
          <a:ln/>
        </p:spPr>
        <p:txBody>
          <a:bodyPr wrap="square" rtlCol="0" anchor="ctr"/>
          <a:lstStyle/>
          <a:p>
            <a:pPr indent="0" marL="0">
              <a:lnSpc>
                <a:spcPct val="115000"/>
              </a:lnSpc>
              <a:buNone/>
            </a:pPr>
            <a:r>
              <a:rPr lang="en-US" sz="1250" dirty="0">
                <a:solidFill>
                  <a:srgbClr val="9FB1CC"/>
                </a:solidFill>
                <a:latin typeface="Calibri" pitchFamily="34" charset="0"/>
                <a:ea typeface="Calibri" pitchFamily="34" charset="-122"/>
                <a:cs typeface="Calibri" pitchFamily="34" charset="-120"/>
              </a:rPr>
              <a:t>Why propositional logic runs out of road</a:t>
            </a:r>
            <a:endParaRPr lang="en-US" sz="1250" dirty="0"/>
          </a:p>
        </p:txBody>
      </p:sp>
      <p:sp>
        <p:nvSpPr>
          <p:cNvPr id="9" name="Shape 7"/>
          <p:cNvSpPr/>
          <p:nvPr/>
        </p:nvSpPr>
        <p:spPr>
          <a:xfrm>
            <a:off x="6263640" y="1691640"/>
            <a:ext cx="5349240" cy="1051560"/>
          </a:xfrm>
          <a:prstGeom prst="roundRect">
            <a:avLst>
              <a:gd name="adj" fmla="val 6957"/>
            </a:avLst>
          </a:prstGeom>
          <a:solidFill>
            <a:srgbClr val="121B2E"/>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0" name="Shape 8"/>
          <p:cNvSpPr/>
          <p:nvPr/>
        </p:nvSpPr>
        <p:spPr>
          <a:xfrm>
            <a:off x="6492240" y="1920240"/>
            <a:ext cx="640080" cy="594360"/>
          </a:xfrm>
          <a:prstGeom prst="roundRect">
            <a:avLst>
              <a:gd name="adj" fmla="val 15385"/>
            </a:avLst>
          </a:prstGeom>
          <a:solidFill>
            <a:srgbClr val="1B2740"/>
          </a:solidFill>
          <a:ln w="12700">
            <a:solidFill>
              <a:srgbClr val="4FD1E8"/>
            </a:solidFill>
            <a:prstDash val="solid"/>
          </a:ln>
        </p:spPr>
      </p:sp>
      <p:sp>
        <p:nvSpPr>
          <p:cNvPr id="11" name="Text 9"/>
          <p:cNvSpPr/>
          <p:nvPr/>
        </p:nvSpPr>
        <p:spPr>
          <a:xfrm>
            <a:off x="6492240" y="1920240"/>
            <a:ext cx="640080" cy="594360"/>
          </a:xfrm>
          <a:prstGeom prst="rect">
            <a:avLst/>
          </a:prstGeom>
          <a:noFill/>
          <a:ln/>
        </p:spPr>
        <p:txBody>
          <a:bodyPr wrap="square" rtlCol="0" anchor="ctr"/>
          <a:lstStyle/>
          <a:p>
            <a:pPr algn="ctr" indent="0" marL="0">
              <a:buNone/>
            </a:pPr>
            <a:r>
              <a:rPr lang="en-US" sz="1800" b="1" dirty="0">
                <a:solidFill>
                  <a:srgbClr val="4FD1E8"/>
                </a:solidFill>
                <a:latin typeface="Calibri" pitchFamily="34" charset="0"/>
                <a:ea typeface="Calibri" pitchFamily="34" charset="-122"/>
                <a:cs typeface="Calibri" pitchFamily="34" charset="-120"/>
              </a:rPr>
              <a:t>8.2</a:t>
            </a:r>
            <a:endParaRPr lang="en-US" sz="1800" dirty="0"/>
          </a:p>
        </p:txBody>
      </p:sp>
      <p:sp>
        <p:nvSpPr>
          <p:cNvPr id="12" name="Text 10"/>
          <p:cNvSpPr/>
          <p:nvPr/>
        </p:nvSpPr>
        <p:spPr>
          <a:xfrm>
            <a:off x="7269480" y="1856232"/>
            <a:ext cx="4160520" cy="365760"/>
          </a:xfrm>
          <a:prstGeom prst="rect">
            <a:avLst/>
          </a:prstGeom>
          <a:noFill/>
          <a:ln/>
        </p:spPr>
        <p:txBody>
          <a:bodyPr wrap="square"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Syntax &amp; Semantics of FOL</a:t>
            </a:r>
            <a:endParaRPr lang="en-US" sz="1600" dirty="0"/>
          </a:p>
        </p:txBody>
      </p:sp>
      <p:sp>
        <p:nvSpPr>
          <p:cNvPr id="13" name="Text 11"/>
          <p:cNvSpPr/>
          <p:nvPr/>
        </p:nvSpPr>
        <p:spPr>
          <a:xfrm>
            <a:off x="7269480" y="2221992"/>
            <a:ext cx="4160520" cy="457200"/>
          </a:xfrm>
          <a:prstGeom prst="rect">
            <a:avLst/>
          </a:prstGeom>
          <a:noFill/>
          <a:ln/>
        </p:spPr>
        <p:txBody>
          <a:bodyPr wrap="square" rtlCol="0" anchor="ctr"/>
          <a:lstStyle/>
          <a:p>
            <a:pPr indent="0" marL="0">
              <a:lnSpc>
                <a:spcPct val="115000"/>
              </a:lnSpc>
              <a:buNone/>
            </a:pPr>
            <a:r>
              <a:rPr lang="en-US" sz="1250" dirty="0">
                <a:solidFill>
                  <a:srgbClr val="9FB1CC"/>
                </a:solidFill>
                <a:latin typeface="Calibri" pitchFamily="34" charset="0"/>
                <a:ea typeface="Calibri" pitchFamily="34" charset="-122"/>
                <a:cs typeface="Calibri" pitchFamily="34" charset="-120"/>
              </a:rPr>
              <a:t>Objects, relations, terms, sentences, quantifiers</a:t>
            </a:r>
            <a:endParaRPr lang="en-US" sz="1250" dirty="0"/>
          </a:p>
        </p:txBody>
      </p:sp>
      <p:sp>
        <p:nvSpPr>
          <p:cNvPr id="14" name="Shape 12"/>
          <p:cNvSpPr/>
          <p:nvPr/>
        </p:nvSpPr>
        <p:spPr>
          <a:xfrm>
            <a:off x="548640" y="3063240"/>
            <a:ext cx="5349240" cy="1051560"/>
          </a:xfrm>
          <a:prstGeom prst="roundRect">
            <a:avLst>
              <a:gd name="adj" fmla="val 6957"/>
            </a:avLst>
          </a:prstGeom>
          <a:solidFill>
            <a:srgbClr val="121B2E"/>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5" name="Shape 13"/>
          <p:cNvSpPr/>
          <p:nvPr/>
        </p:nvSpPr>
        <p:spPr>
          <a:xfrm>
            <a:off x="777240" y="3291840"/>
            <a:ext cx="640080" cy="594360"/>
          </a:xfrm>
          <a:prstGeom prst="roundRect">
            <a:avLst>
              <a:gd name="adj" fmla="val 15385"/>
            </a:avLst>
          </a:prstGeom>
          <a:solidFill>
            <a:srgbClr val="1B2740"/>
          </a:solidFill>
          <a:ln w="12700">
            <a:solidFill>
              <a:srgbClr val="4FD1E8"/>
            </a:solidFill>
            <a:prstDash val="solid"/>
          </a:ln>
        </p:spPr>
      </p:sp>
      <p:sp>
        <p:nvSpPr>
          <p:cNvPr id="16" name="Text 14"/>
          <p:cNvSpPr/>
          <p:nvPr/>
        </p:nvSpPr>
        <p:spPr>
          <a:xfrm>
            <a:off x="777240" y="3291840"/>
            <a:ext cx="640080" cy="594360"/>
          </a:xfrm>
          <a:prstGeom prst="rect">
            <a:avLst/>
          </a:prstGeom>
          <a:noFill/>
          <a:ln/>
        </p:spPr>
        <p:txBody>
          <a:bodyPr wrap="square" rtlCol="0" anchor="ctr"/>
          <a:lstStyle/>
          <a:p>
            <a:pPr algn="ctr" indent="0" marL="0">
              <a:buNone/>
            </a:pPr>
            <a:r>
              <a:rPr lang="en-US" sz="1800" b="1" dirty="0">
                <a:solidFill>
                  <a:srgbClr val="4FD1E8"/>
                </a:solidFill>
                <a:latin typeface="Calibri" pitchFamily="34" charset="0"/>
                <a:ea typeface="Calibri" pitchFamily="34" charset="-122"/>
                <a:cs typeface="Calibri" pitchFamily="34" charset="-120"/>
              </a:rPr>
              <a:t>8.3</a:t>
            </a:r>
            <a:endParaRPr lang="en-US" sz="1800" dirty="0"/>
          </a:p>
        </p:txBody>
      </p:sp>
      <p:sp>
        <p:nvSpPr>
          <p:cNvPr id="17" name="Text 15"/>
          <p:cNvSpPr/>
          <p:nvPr/>
        </p:nvSpPr>
        <p:spPr>
          <a:xfrm>
            <a:off x="1554480" y="3227832"/>
            <a:ext cx="4160520" cy="365760"/>
          </a:xfrm>
          <a:prstGeom prst="rect">
            <a:avLst/>
          </a:prstGeom>
          <a:noFill/>
          <a:ln/>
        </p:spPr>
        <p:txBody>
          <a:bodyPr wrap="square"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Reasoning About Worlds</a:t>
            </a:r>
            <a:endParaRPr lang="en-US" sz="1600" dirty="0"/>
          </a:p>
        </p:txBody>
      </p:sp>
      <p:sp>
        <p:nvSpPr>
          <p:cNvPr id="18" name="Text 16"/>
          <p:cNvSpPr/>
          <p:nvPr/>
        </p:nvSpPr>
        <p:spPr>
          <a:xfrm>
            <a:off x="1554480" y="3593592"/>
            <a:ext cx="4160520" cy="457200"/>
          </a:xfrm>
          <a:prstGeom prst="rect">
            <a:avLst/>
          </a:prstGeom>
          <a:noFill/>
          <a:ln/>
        </p:spPr>
        <p:txBody>
          <a:bodyPr wrap="square" rtlCol="0" anchor="ctr"/>
          <a:lstStyle/>
          <a:p>
            <a:pPr indent="0" marL="0">
              <a:lnSpc>
                <a:spcPct val="115000"/>
              </a:lnSpc>
              <a:buNone/>
            </a:pPr>
            <a:r>
              <a:rPr lang="en-US" sz="1250" dirty="0">
                <a:solidFill>
                  <a:srgbClr val="9FB1CC"/>
                </a:solidFill>
                <a:latin typeface="Calibri" pitchFamily="34" charset="0"/>
                <a:ea typeface="Calibri" pitchFamily="34" charset="-122"/>
                <a:cs typeface="Calibri" pitchFamily="34" charset="-120"/>
              </a:rPr>
              <a:t>Nested quantifiers, De Morgan's rules, database semantics</a:t>
            </a:r>
            <a:endParaRPr lang="en-US" sz="1250" dirty="0"/>
          </a:p>
        </p:txBody>
      </p:sp>
      <p:sp>
        <p:nvSpPr>
          <p:cNvPr id="19" name="Shape 17"/>
          <p:cNvSpPr/>
          <p:nvPr/>
        </p:nvSpPr>
        <p:spPr>
          <a:xfrm>
            <a:off x="6263640" y="3063240"/>
            <a:ext cx="5349240" cy="1051560"/>
          </a:xfrm>
          <a:prstGeom prst="roundRect">
            <a:avLst>
              <a:gd name="adj" fmla="val 6957"/>
            </a:avLst>
          </a:prstGeom>
          <a:solidFill>
            <a:srgbClr val="121B2E"/>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0" name="Shape 18"/>
          <p:cNvSpPr/>
          <p:nvPr/>
        </p:nvSpPr>
        <p:spPr>
          <a:xfrm>
            <a:off x="6492240" y="3291840"/>
            <a:ext cx="640080" cy="594360"/>
          </a:xfrm>
          <a:prstGeom prst="roundRect">
            <a:avLst>
              <a:gd name="adj" fmla="val 15385"/>
            </a:avLst>
          </a:prstGeom>
          <a:solidFill>
            <a:srgbClr val="1B2740"/>
          </a:solidFill>
          <a:ln w="12700">
            <a:solidFill>
              <a:srgbClr val="4FD1E8"/>
            </a:solidFill>
            <a:prstDash val="solid"/>
          </a:ln>
        </p:spPr>
      </p:sp>
      <p:sp>
        <p:nvSpPr>
          <p:cNvPr id="21" name="Text 19"/>
          <p:cNvSpPr/>
          <p:nvPr/>
        </p:nvSpPr>
        <p:spPr>
          <a:xfrm>
            <a:off x="6492240" y="3291840"/>
            <a:ext cx="640080" cy="594360"/>
          </a:xfrm>
          <a:prstGeom prst="rect">
            <a:avLst/>
          </a:prstGeom>
          <a:noFill/>
          <a:ln/>
        </p:spPr>
        <p:txBody>
          <a:bodyPr wrap="square" rtlCol="0" anchor="ctr"/>
          <a:lstStyle/>
          <a:p>
            <a:pPr algn="ctr" indent="0" marL="0">
              <a:buNone/>
            </a:pPr>
            <a:r>
              <a:rPr lang="en-US" sz="1800" b="1" dirty="0">
                <a:solidFill>
                  <a:srgbClr val="4FD1E8"/>
                </a:solidFill>
                <a:latin typeface="Calibri" pitchFamily="34" charset="0"/>
                <a:ea typeface="Calibri" pitchFamily="34" charset="-122"/>
                <a:cs typeface="Calibri" pitchFamily="34" charset="-120"/>
              </a:rPr>
              <a:t>8.4</a:t>
            </a:r>
            <a:endParaRPr lang="en-US" sz="1800" dirty="0"/>
          </a:p>
        </p:txBody>
      </p:sp>
      <p:sp>
        <p:nvSpPr>
          <p:cNvPr id="22" name="Text 20"/>
          <p:cNvSpPr/>
          <p:nvPr/>
        </p:nvSpPr>
        <p:spPr>
          <a:xfrm>
            <a:off x="7269480" y="3227832"/>
            <a:ext cx="4160520" cy="365760"/>
          </a:xfrm>
          <a:prstGeom prst="rect">
            <a:avLst/>
          </a:prstGeom>
          <a:noFill/>
          <a:ln/>
        </p:spPr>
        <p:txBody>
          <a:bodyPr wrap="square"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Knowledge Engineering</a:t>
            </a:r>
            <a:endParaRPr lang="en-US" sz="1600" dirty="0"/>
          </a:p>
        </p:txBody>
      </p:sp>
      <p:sp>
        <p:nvSpPr>
          <p:cNvPr id="23" name="Text 21"/>
          <p:cNvSpPr/>
          <p:nvPr/>
        </p:nvSpPr>
        <p:spPr>
          <a:xfrm>
            <a:off x="7269480" y="3593592"/>
            <a:ext cx="4160520" cy="457200"/>
          </a:xfrm>
          <a:prstGeom prst="rect">
            <a:avLst/>
          </a:prstGeom>
          <a:noFill/>
          <a:ln/>
        </p:spPr>
        <p:txBody>
          <a:bodyPr wrap="square" rtlCol="0" anchor="ctr"/>
          <a:lstStyle/>
          <a:p>
            <a:pPr indent="0" marL="0">
              <a:lnSpc>
                <a:spcPct val="115000"/>
              </a:lnSpc>
              <a:buNone/>
            </a:pPr>
            <a:r>
              <a:rPr lang="en-US" sz="1250" dirty="0">
                <a:solidFill>
                  <a:srgbClr val="9FB1CC"/>
                </a:solidFill>
                <a:latin typeface="Calibri" pitchFamily="34" charset="0"/>
                <a:ea typeface="Calibri" pitchFamily="34" charset="-122"/>
                <a:cs typeface="Calibri" pitchFamily="34" charset="-120"/>
              </a:rPr>
              <a:t>The 7-step process, built on a digital circuit case study</a:t>
            </a:r>
            <a:endParaRPr lang="en-US" sz="1250" dirty="0"/>
          </a:p>
        </p:txBody>
      </p:sp>
      <p:sp>
        <p:nvSpPr>
          <p:cNvPr id="24" name="Text 22"/>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8.1 REPRESENTATION REVISITED</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Propositional logic runs out of road</a:t>
            </a:r>
            <a:endParaRPr lang="en-US" sz="3000" dirty="0"/>
          </a:p>
        </p:txBody>
      </p:sp>
      <p:sp>
        <p:nvSpPr>
          <p:cNvPr id="4" name="Shape 2"/>
          <p:cNvSpPr/>
          <p:nvPr/>
        </p:nvSpPr>
        <p:spPr>
          <a:xfrm>
            <a:off x="548640" y="1691640"/>
            <a:ext cx="5943600" cy="4206240"/>
          </a:xfrm>
          <a:prstGeom prst="roundRect">
            <a:avLst>
              <a:gd name="adj" fmla="val 1739"/>
            </a:avLst>
          </a:prstGeom>
          <a:solidFill>
            <a:srgbClr val="121B2E"/>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920240"/>
            <a:ext cx="4572000" cy="365760"/>
          </a:xfrm>
          <a:prstGeom prst="rect">
            <a:avLst/>
          </a:prstGeom>
          <a:noFill/>
          <a:ln/>
        </p:spPr>
        <p:txBody>
          <a:bodyPr wrap="square" rtlCol="0" anchor="ctr"/>
          <a:lstStyle/>
          <a:p>
            <a:pPr indent="0" marL="0">
              <a:buNone/>
            </a:pPr>
            <a:r>
              <a:rPr lang="en-US" sz="1500" b="1" dirty="0">
                <a:solidFill>
                  <a:srgbClr val="4FD1E8"/>
                </a:solidFill>
                <a:latin typeface="Calibri" pitchFamily="34" charset="0"/>
                <a:ea typeface="Calibri" pitchFamily="34" charset="-122"/>
                <a:cs typeface="Calibri" pitchFamily="34" charset="-120"/>
              </a:rPr>
              <a:t>The problem</a:t>
            </a:r>
            <a:endParaRPr lang="en-US" sz="1500" dirty="0"/>
          </a:p>
        </p:txBody>
      </p:sp>
      <p:sp>
        <p:nvSpPr>
          <p:cNvPr id="6" name="Text 4"/>
          <p:cNvSpPr/>
          <p:nvPr/>
        </p:nvSpPr>
        <p:spPr>
          <a:xfrm>
            <a:off x="868680" y="2331720"/>
            <a:ext cx="5349240" cy="3383280"/>
          </a:xfrm>
          <a:prstGeom prst="rect">
            <a:avLst/>
          </a:prstGeom>
          <a:noFill/>
          <a:ln/>
        </p:spPr>
        <p:txBody>
          <a:bodyPr wrap="square" rtlCol="0" anchor="t"/>
          <a:lstStyle/>
          <a:p>
            <a:pPr indent="0" marL="0">
              <a:lnSpc>
                <a:spcPct val="125000"/>
              </a:lnSpc>
              <a:buNone/>
            </a:pPr>
            <a:r>
              <a:rPr lang="en-US" sz="1350" dirty="0">
                <a:solidFill>
                  <a:srgbClr val="F4F7FB"/>
                </a:solidFill>
              </a:rPr>
              <a:t>Propositional logic only has whole facts (true/false symbols). To say “squares next to pits are breezy,” you must write one rule per square:
</a:t>
            </a:r>
            <a:pPr indent="0" marL="0">
              <a:lnSpc>
                <a:spcPct val="125000"/>
              </a:lnSpc>
              <a:buNone/>
            </a:pPr>
            <a:r>
              <a:rPr lang="en-US" sz="1400" dirty="0">
                <a:solidFill>
                  <a:srgbClr val="FFC857"/>
                </a:solidFill>
                <a:latin typeface="Consolas" pitchFamily="34" charset="0"/>
                <a:ea typeface="Consolas" pitchFamily="34" charset="-122"/>
                <a:cs typeface="Consolas" pitchFamily="34" charset="-120"/>
              </a:rPr>
              <a:t>B₁ⱼ₁ ⇔ (P₁ⱼ₂ ∨ P₂ⱼ₁)</a:t>
            </a:r>
            <a:endParaRPr lang="en-US" sz="1350" dirty="0"/>
          </a:p>
          <a:p>
            <a:pPr indent="0" marL="0">
              <a:lnSpc>
                <a:spcPct val="125000"/>
              </a:lnSpc>
              <a:buNone/>
            </a:pPr>
            <a:r>
              <a:rPr lang="en-US" sz="1400" dirty="0">
                <a:solidFill>
                  <a:srgbClr val="FFC857"/>
                </a:solidFill>
                <a:latin typeface="Consolas" pitchFamily="34" charset="0"/>
                <a:ea typeface="Consolas" pitchFamily="34" charset="-122"/>
                <a:cs typeface="Consolas" pitchFamily="34" charset="-120"/>
              </a:rPr>
              <a:t>B₁ⱼ₂ ⇔ (P₁ⱼ₁ ∨ P₁ⱼ₃ ∨ P₂ⱼ₂)</a:t>
            </a:r>
            <a:endParaRPr lang="en-US" sz="1350" dirty="0"/>
          </a:p>
          <a:p>
            <a:pPr indent="0" marL="0">
              <a:lnSpc>
                <a:spcPct val="125000"/>
              </a:lnSpc>
              <a:buNone/>
            </a:pPr>
            <a:r>
              <a:rPr lang="en-US" sz="1400" dirty="0">
                <a:solidFill>
                  <a:srgbClr val="FFC857"/>
                </a:solidFill>
                <a:latin typeface="Consolas" pitchFamily="34" charset="0"/>
                <a:ea typeface="Consolas" pitchFamily="34" charset="-122"/>
                <a:cs typeface="Consolas" pitchFamily="34" charset="-120"/>
              </a:rPr>
              <a:t>...one line per square, forever.</a:t>
            </a:r>
            <a:endParaRPr lang="en-US" sz="1350" dirty="0"/>
          </a:p>
        </p:txBody>
      </p:sp>
      <p:sp>
        <p:nvSpPr>
          <p:cNvPr id="7" name="Shape 5"/>
          <p:cNvSpPr/>
          <p:nvPr/>
        </p:nvSpPr>
        <p:spPr>
          <a:xfrm>
            <a:off x="6720840" y="1691640"/>
            <a:ext cx="4937760" cy="4206240"/>
          </a:xfrm>
          <a:prstGeom prst="roundRect">
            <a:avLst>
              <a:gd name="adj" fmla="val 173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8" name="Text 6"/>
          <p:cNvSpPr/>
          <p:nvPr/>
        </p:nvSpPr>
        <p:spPr>
          <a:xfrm>
            <a:off x="7040880" y="1920240"/>
            <a:ext cx="4389120" cy="365760"/>
          </a:xfrm>
          <a:prstGeom prst="rect">
            <a:avLst/>
          </a:prstGeom>
          <a:noFill/>
          <a:ln/>
        </p:spPr>
        <p:txBody>
          <a:bodyPr wrap="square" rtlCol="0" anchor="ctr"/>
          <a:lstStyle/>
          <a:p>
            <a:pPr indent="0" marL="0">
              <a:buNone/>
            </a:pPr>
            <a:r>
              <a:rPr lang="en-US" sz="1500" b="1" dirty="0">
                <a:solidFill>
                  <a:srgbClr val="40D17D"/>
                </a:solidFill>
                <a:latin typeface="Calibri" pitchFamily="34" charset="0"/>
                <a:ea typeface="Calibri" pitchFamily="34" charset="-122"/>
                <a:cs typeface="Calibri" pitchFamily="34" charset="-120"/>
              </a:rPr>
              <a:t>The fix, in one line</a:t>
            </a:r>
            <a:endParaRPr lang="en-US" sz="1500" dirty="0"/>
          </a:p>
        </p:txBody>
      </p:sp>
      <p:sp>
        <p:nvSpPr>
          <p:cNvPr id="9" name="Text 7"/>
          <p:cNvSpPr/>
          <p:nvPr/>
        </p:nvSpPr>
        <p:spPr>
          <a:xfrm>
            <a:off x="7040880" y="2331720"/>
            <a:ext cx="4343400" cy="1188720"/>
          </a:xfrm>
          <a:prstGeom prst="rect">
            <a:avLst/>
          </a:prstGeom>
          <a:noFill/>
          <a:ln/>
        </p:spPr>
        <p:txBody>
          <a:bodyPr wrap="square" rtlCol="0" anchor="ctr"/>
          <a:lstStyle/>
          <a:p>
            <a:pPr indent="0" marL="0">
              <a:lnSpc>
                <a:spcPct val="125000"/>
              </a:lnSpc>
              <a:buNone/>
            </a:pPr>
            <a:r>
              <a:rPr lang="en-US" sz="1350" dirty="0">
                <a:solidFill>
                  <a:srgbClr val="F4F7FB"/>
                </a:solidFill>
                <a:latin typeface="Calibri" pitchFamily="34" charset="0"/>
                <a:ea typeface="Calibri" pitchFamily="34" charset="-122"/>
                <a:cs typeface="Calibri" pitchFamily="34" charset="-120"/>
              </a:rPr>
              <a:t>First-order logic adds objects, relations, and variables — so the whole family of rules collapses into a single general sentence:</a:t>
            </a:r>
            <a:endParaRPr lang="en-US" sz="1350" dirty="0"/>
          </a:p>
        </p:txBody>
      </p:sp>
      <p:sp>
        <p:nvSpPr>
          <p:cNvPr id="10" name="Shape 8"/>
          <p:cNvSpPr/>
          <p:nvPr/>
        </p:nvSpPr>
        <p:spPr>
          <a:xfrm>
            <a:off x="7040880" y="3611880"/>
            <a:ext cx="4343400" cy="914400"/>
          </a:xfrm>
          <a:prstGeom prst="roundRect">
            <a:avLst>
              <a:gd name="adj" fmla="val 8000"/>
            </a:avLst>
          </a:prstGeom>
          <a:solidFill>
            <a:srgbClr val="0B1220"/>
          </a:solidFill>
          <a:ln/>
          <a:effectLst>
            <a:outerShdw sx="100000" sy="100000" kx="0" ky="0" algn="bl" rotWithShape="0" blurRad="127000" dist="38100" dir="5400000">
              <a:srgbClr val="000000">
                <a:alpha val="35000"/>
              </a:srgbClr>
            </a:outerShdw>
          </a:effectLst>
        </p:spPr>
      </p:sp>
      <p:sp>
        <p:nvSpPr>
          <p:cNvPr id="11" name="Text 9"/>
          <p:cNvSpPr/>
          <p:nvPr/>
        </p:nvSpPr>
        <p:spPr>
          <a:xfrm>
            <a:off x="7178040" y="3611880"/>
            <a:ext cx="4114800" cy="914400"/>
          </a:xfrm>
          <a:prstGeom prst="rect">
            <a:avLst/>
          </a:prstGeom>
          <a:noFill/>
          <a:ln/>
        </p:spPr>
        <p:txBody>
          <a:bodyPr wrap="square" rtlCol="0" anchor="ctr"/>
          <a:lstStyle/>
          <a:p>
            <a:pPr algn="ctr" indent="0" marL="0">
              <a:buNone/>
            </a:pPr>
            <a:r>
              <a:rPr lang="en-US" sz="1600" b="1" dirty="0">
                <a:solidFill>
                  <a:srgbClr val="4FD1E8"/>
                </a:solidFill>
                <a:latin typeface="Consolas" pitchFamily="34" charset="0"/>
                <a:ea typeface="Consolas" pitchFamily="34" charset="-122"/>
                <a:cs typeface="Consolas" pitchFamily="34" charset="-120"/>
              </a:rPr>
              <a:t>∀s Breezy(s) ⇔ ∃p (Pit(p) ∧ Adjacent(p,s))</a:t>
            </a:r>
            <a:endParaRPr lang="en-US" sz="1600" dirty="0"/>
          </a:p>
        </p:txBody>
      </p:sp>
      <p:sp>
        <p:nvSpPr>
          <p:cNvPr id="12" name="Text 10"/>
          <p:cNvSpPr/>
          <p:nvPr/>
        </p:nvSpPr>
        <p:spPr>
          <a:xfrm>
            <a:off x="7040880" y="4663440"/>
            <a:ext cx="4343400" cy="457200"/>
          </a:xfrm>
          <a:prstGeom prst="rect">
            <a:avLst/>
          </a:prstGeom>
          <a:noFill/>
          <a:ln/>
        </p:spPr>
        <p:txBody>
          <a:bodyPr wrap="square" rtlCol="0" anchor="ctr"/>
          <a:lstStyle/>
          <a:p>
            <a:pPr indent="0" marL="0">
              <a:buNone/>
            </a:pPr>
            <a:r>
              <a:rPr lang="en-US" sz="1200" i="1" dirty="0">
                <a:solidFill>
                  <a:srgbClr val="9FB1CC"/>
                </a:solidFill>
                <a:latin typeface="Calibri" pitchFamily="34" charset="0"/>
                <a:ea typeface="Calibri" pitchFamily="34" charset="-122"/>
                <a:cs typeface="Calibri" pitchFamily="34" charset="-120"/>
              </a:rPr>
              <a:t>One schema replaces thousands of hand-written rules.</a:t>
            </a:r>
            <a:endParaRPr lang="en-US" sz="1200" dirty="0"/>
          </a:p>
        </p:txBody>
      </p:sp>
      <p:sp>
        <p:nvSpPr>
          <p:cNvPr id="13" name="Shape 11"/>
          <p:cNvSpPr/>
          <p:nvPr/>
        </p:nvSpPr>
        <p:spPr>
          <a:xfrm>
            <a:off x="548640" y="6080760"/>
            <a:ext cx="11109960" cy="594360"/>
          </a:xfrm>
          <a:prstGeom prst="roundRect">
            <a:avLst>
              <a:gd name="adj" fmla="val 12308"/>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4" name="Shape 12"/>
          <p:cNvSpPr/>
          <p:nvPr/>
        </p:nvSpPr>
        <p:spPr>
          <a:xfrm>
            <a:off x="749808" y="6281928"/>
            <a:ext cx="384048" cy="384048"/>
          </a:xfrm>
          <a:prstGeom prst="ellipse">
            <a:avLst/>
          </a:prstGeom>
          <a:solidFill>
            <a:srgbClr val="A78BFA"/>
          </a:solidFill>
          <a:ln/>
        </p:spPr>
      </p:sp>
      <p:sp>
        <p:nvSpPr>
          <p:cNvPr id="15" name="Text 13"/>
          <p:cNvSpPr/>
          <p:nvPr/>
        </p:nvSpPr>
        <p:spPr>
          <a:xfrm>
            <a:off x="749808" y="628192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6" name="Text 14"/>
          <p:cNvSpPr/>
          <p:nvPr/>
        </p:nvSpPr>
        <p:spPr>
          <a:xfrm>
            <a:off x="1280160" y="6263640"/>
            <a:ext cx="10195560" cy="274320"/>
          </a:xfrm>
          <a:prstGeom prst="rect">
            <a:avLst/>
          </a:prstGeom>
          <a:noFill/>
          <a:ln/>
        </p:spPr>
        <p:txBody>
          <a:bodyPr wrap="square" rtlCol="0" anchor="ctr"/>
          <a:lstStyle/>
          <a:p>
            <a:pPr indent="0" marL="0">
              <a:buNone/>
            </a:pPr>
            <a:r>
              <a:rPr lang="en-US" sz="1200" b="1" spc="100" kern="0" dirty="0">
                <a:solidFill>
                  <a:srgbClr val="A78BFA"/>
                </a:solidFill>
                <a:latin typeface="Calibri" pitchFamily="34" charset="0"/>
                <a:ea typeface="Calibri" pitchFamily="34" charset="-122"/>
                <a:cs typeface="Calibri" pitchFamily="34" charset="-120"/>
              </a:rPr>
              <a:t>ANALOGY</a:t>
            </a:r>
            <a:endParaRPr lang="en-US" sz="1200" dirty="0"/>
          </a:p>
        </p:txBody>
      </p:sp>
      <p:sp>
        <p:nvSpPr>
          <p:cNvPr id="17" name="Text 15"/>
          <p:cNvSpPr/>
          <p:nvPr/>
        </p:nvSpPr>
        <p:spPr>
          <a:xfrm>
            <a:off x="1280160" y="6556248"/>
            <a:ext cx="10149840" cy="-64008"/>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Propositional logic is a city code that lists every house's address one by one. FOL is a zoning law: “any house within one block of a fire hydrant needs a red curb” — one rule, every house.</a:t>
            </a:r>
            <a:endParaRPr lang="en-US" sz="1350" dirty="0"/>
          </a:p>
        </p:txBody>
      </p:sp>
      <p:sp>
        <p:nvSpPr>
          <p:cNvPr id="18" name="Text 16"/>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8.1 REPRESENTATION REVISITED</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What programming languages lack</a:t>
            </a:r>
            <a:endParaRPr lang="en-US" sz="3000" dirty="0"/>
          </a:p>
        </p:txBody>
      </p:sp>
      <p:sp>
        <p:nvSpPr>
          <p:cNvPr id="4" name="Shape 2"/>
          <p:cNvSpPr/>
          <p:nvPr/>
        </p:nvSpPr>
        <p:spPr>
          <a:xfrm>
            <a:off x="548640" y="1691640"/>
            <a:ext cx="5349240" cy="3200400"/>
          </a:xfrm>
          <a:prstGeom prst="roundRect">
            <a:avLst>
              <a:gd name="adj" fmla="val 228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22960" y="1874520"/>
            <a:ext cx="4572000" cy="320040"/>
          </a:xfrm>
          <a:prstGeom prst="rect">
            <a:avLst/>
          </a:prstGeom>
          <a:noFill/>
          <a:ln/>
        </p:spPr>
        <p:txBody>
          <a:bodyPr wrap="square" rtlCol="0" anchor="ctr"/>
          <a:lstStyle/>
          <a:p>
            <a:pPr indent="0" marL="0">
              <a:buNone/>
            </a:pPr>
            <a:r>
              <a:rPr lang="en-US" sz="1300" b="1" spc="100" kern="0" dirty="0">
                <a:solidFill>
                  <a:srgbClr val="FF5D73"/>
                </a:solidFill>
                <a:latin typeface="Calibri" pitchFamily="34" charset="0"/>
                <a:ea typeface="Calibri" pitchFamily="34" charset="-122"/>
                <a:cs typeface="Calibri" pitchFamily="34" charset="-120"/>
              </a:rPr>
              <a:t>PROCEDURAL</a:t>
            </a:r>
            <a:endParaRPr lang="en-US" sz="1300" dirty="0"/>
          </a:p>
        </p:txBody>
      </p:sp>
      <p:sp>
        <p:nvSpPr>
          <p:cNvPr id="6" name="Text 4"/>
          <p:cNvSpPr/>
          <p:nvPr/>
        </p:nvSpPr>
        <p:spPr>
          <a:xfrm>
            <a:off x="822960" y="2240280"/>
            <a:ext cx="4846320" cy="457200"/>
          </a:xfrm>
          <a:prstGeom prst="rect">
            <a:avLst/>
          </a:prstGeom>
          <a:noFill/>
          <a:ln/>
        </p:spPr>
        <p:txBody>
          <a:bodyPr wrap="square" rtlCol="0" anchor="ctr"/>
          <a:lstStyle/>
          <a:p>
            <a:pPr indent="0" marL="0">
              <a:buNone/>
            </a:pPr>
            <a:r>
              <a:rPr lang="en-US" sz="1600" dirty="0">
                <a:solidFill>
                  <a:srgbClr val="F4F7FB"/>
                </a:solidFill>
                <a:latin typeface="Consolas" pitchFamily="34" charset="0"/>
                <a:ea typeface="Consolas" pitchFamily="34" charset="-122"/>
                <a:cs typeface="Consolas" pitchFamily="34" charset="-120"/>
              </a:rPr>
              <a:t>World[2,2] ← Pit</a:t>
            </a:r>
            <a:endParaRPr lang="en-US" sz="1600" dirty="0"/>
          </a:p>
        </p:txBody>
      </p:sp>
      <p:sp>
        <p:nvSpPr>
          <p:cNvPr id="7" name="Text 5"/>
          <p:cNvSpPr/>
          <p:nvPr/>
        </p:nvSpPr>
        <p:spPr>
          <a:xfrm>
            <a:off x="822960" y="2788920"/>
            <a:ext cx="4846320" cy="1920240"/>
          </a:xfrm>
          <a:prstGeom prst="rect">
            <a:avLst/>
          </a:prstGeom>
          <a:noFill/>
          <a:ln/>
        </p:spPr>
        <p:txBody>
          <a:bodyPr wrap="square" rtlCol="0" anchor="ctr"/>
          <a:lstStyle/>
          <a:p>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A domain-specific procedure updates a data structure directly. Each rule for deriving new facts must be coded by hand — the language has no built-in inference.</a:t>
            </a:r>
            <a:endParaRPr lang="en-US" sz="1350" dirty="0"/>
          </a:p>
        </p:txBody>
      </p:sp>
      <p:sp>
        <p:nvSpPr>
          <p:cNvPr id="8" name="Shape 6"/>
          <p:cNvSpPr/>
          <p:nvPr/>
        </p:nvSpPr>
        <p:spPr>
          <a:xfrm>
            <a:off x="6263640" y="1691640"/>
            <a:ext cx="5349240" cy="3200400"/>
          </a:xfrm>
          <a:prstGeom prst="roundRect">
            <a:avLst>
              <a:gd name="adj" fmla="val 228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9" name="Text 7"/>
          <p:cNvSpPr/>
          <p:nvPr/>
        </p:nvSpPr>
        <p:spPr>
          <a:xfrm>
            <a:off x="6537960" y="1874520"/>
            <a:ext cx="4572000" cy="320040"/>
          </a:xfrm>
          <a:prstGeom prst="rect">
            <a:avLst/>
          </a:prstGeom>
          <a:noFill/>
          <a:ln/>
        </p:spPr>
        <p:txBody>
          <a:bodyPr wrap="square" rtlCol="0" anchor="ctr"/>
          <a:lstStyle/>
          <a:p>
            <a:pPr indent="0" marL="0">
              <a:buNone/>
            </a:pPr>
            <a:r>
              <a:rPr lang="en-US" sz="1300" b="1" spc="100" kern="0" dirty="0">
                <a:solidFill>
                  <a:srgbClr val="40D17D"/>
                </a:solidFill>
                <a:latin typeface="Calibri" pitchFamily="34" charset="0"/>
                <a:ea typeface="Calibri" pitchFamily="34" charset="-122"/>
                <a:cs typeface="Calibri" pitchFamily="34" charset="-120"/>
              </a:rPr>
              <a:t>DECLARATIVE</a:t>
            </a:r>
            <a:endParaRPr lang="en-US" sz="1300" dirty="0"/>
          </a:p>
        </p:txBody>
      </p:sp>
      <p:sp>
        <p:nvSpPr>
          <p:cNvPr id="10" name="Text 8"/>
          <p:cNvSpPr/>
          <p:nvPr/>
        </p:nvSpPr>
        <p:spPr>
          <a:xfrm>
            <a:off x="6537960" y="2240280"/>
            <a:ext cx="4846320" cy="457200"/>
          </a:xfrm>
          <a:prstGeom prst="rect">
            <a:avLst/>
          </a:prstGeom>
          <a:noFill/>
          <a:ln/>
        </p:spPr>
        <p:txBody>
          <a:bodyPr wrap="square" rtlCol="0" anchor="ctr"/>
          <a:lstStyle/>
          <a:p>
            <a:pPr indent="0" marL="0">
              <a:buNone/>
            </a:pPr>
            <a:r>
              <a:rPr lang="en-US" sz="1600" dirty="0">
                <a:solidFill>
                  <a:srgbClr val="F4F7FB"/>
                </a:solidFill>
                <a:latin typeface="Consolas" pitchFamily="34" charset="0"/>
                <a:ea typeface="Consolas" pitchFamily="34" charset="-122"/>
                <a:cs typeface="Consolas" pitchFamily="34" charset="-120"/>
              </a:rPr>
              <a:t>Pit(2,2)  ∨  Pit(3,1)</a:t>
            </a:r>
            <a:endParaRPr lang="en-US" sz="1600" dirty="0"/>
          </a:p>
        </p:txBody>
      </p:sp>
      <p:sp>
        <p:nvSpPr>
          <p:cNvPr id="11" name="Text 9"/>
          <p:cNvSpPr/>
          <p:nvPr/>
        </p:nvSpPr>
        <p:spPr>
          <a:xfrm>
            <a:off x="6537960" y="2788920"/>
            <a:ext cx="4846320" cy="1920240"/>
          </a:xfrm>
          <a:prstGeom prst="rect">
            <a:avLst/>
          </a:prstGeom>
          <a:noFill/>
          <a:ln/>
        </p:spPr>
        <p:txBody>
          <a:bodyPr wrap="square" rtlCol="0" anchor="ctr"/>
          <a:lstStyle/>
          <a:p>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Knowledge and inference are separate. Partial information (“a pit is here OR there”) and negation are expressible directly — and inference stays domain-independent.</a:t>
            </a:r>
            <a:endParaRPr lang="en-US" sz="1350" dirty="0"/>
          </a:p>
        </p:txBody>
      </p:sp>
      <p:sp>
        <p:nvSpPr>
          <p:cNvPr id="12" name="Shape 10"/>
          <p:cNvSpPr/>
          <p:nvPr/>
        </p:nvSpPr>
        <p:spPr>
          <a:xfrm>
            <a:off x="548640" y="5074920"/>
            <a:ext cx="11109960" cy="1234440"/>
          </a:xfrm>
          <a:prstGeom prst="roundRect">
            <a:avLst>
              <a:gd name="adj" fmla="val 592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Shape 11"/>
          <p:cNvSpPr/>
          <p:nvPr/>
        </p:nvSpPr>
        <p:spPr>
          <a:xfrm>
            <a:off x="749808" y="5276088"/>
            <a:ext cx="384048" cy="384048"/>
          </a:xfrm>
          <a:prstGeom prst="ellipse">
            <a:avLst/>
          </a:prstGeom>
          <a:solidFill>
            <a:srgbClr val="4FD1E8"/>
          </a:solidFill>
          <a:ln/>
        </p:spPr>
      </p:sp>
      <p:sp>
        <p:nvSpPr>
          <p:cNvPr id="14" name="Text 12"/>
          <p:cNvSpPr/>
          <p:nvPr/>
        </p:nvSpPr>
        <p:spPr>
          <a:xfrm>
            <a:off x="749808" y="527608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5" name="Text 13"/>
          <p:cNvSpPr/>
          <p:nvPr/>
        </p:nvSpPr>
        <p:spPr>
          <a:xfrm>
            <a:off x="1280160" y="5257800"/>
            <a:ext cx="10195560" cy="274320"/>
          </a:xfrm>
          <a:prstGeom prst="rect">
            <a:avLst/>
          </a:prstGeom>
          <a:noFill/>
          <a:ln/>
        </p:spPr>
        <p:txBody>
          <a:bodyPr wrap="square" rtlCol="0" anchor="ctr"/>
          <a:lstStyle/>
          <a:p>
            <a:pPr indent="0" marL="0">
              <a:buNone/>
            </a:pPr>
            <a:r>
              <a:rPr lang="en-US" sz="1200" b="1" spc="100" kern="0" dirty="0">
                <a:solidFill>
                  <a:srgbClr val="4FD1E8"/>
                </a:solidFill>
                <a:latin typeface="Calibri" pitchFamily="34" charset="0"/>
                <a:ea typeface="Calibri" pitchFamily="34" charset="-122"/>
                <a:cs typeface="Calibri" pitchFamily="34" charset="-120"/>
              </a:rPr>
              <a:t>ANALOGY</a:t>
            </a:r>
            <a:endParaRPr lang="en-US" sz="1200" dirty="0"/>
          </a:p>
        </p:txBody>
      </p:sp>
      <p:sp>
        <p:nvSpPr>
          <p:cNvPr id="16" name="Text 14"/>
          <p:cNvSpPr/>
          <p:nvPr/>
        </p:nvSpPr>
        <p:spPr>
          <a:xfrm>
            <a:off x="1280160" y="5550408"/>
            <a:ext cx="10149840" cy="5760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A procedural program is a step-by-step recipe: “preheat, crack two eggs, whisk...” It only produces what it's told to. A declarative sentence is the finished dish's description: “fluffy, golden, slightly sweet” — a general inference engine can then figure out valid ways to get there, or answer questions the recipe never anticipated.</a:t>
            </a:r>
            <a:endParaRPr lang="en-US" sz="1350" dirty="0"/>
          </a:p>
        </p:txBody>
      </p:sp>
      <p:sp>
        <p:nvSpPr>
          <p:cNvPr id="17" name="Text 15"/>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8.1 REPRESENTATION REVISITED</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700" b="1" dirty="0">
                <a:solidFill>
                  <a:srgbClr val="F4F7FB"/>
                </a:solidFill>
                <a:latin typeface="Calibri" pitchFamily="34" charset="0"/>
                <a:ea typeface="Calibri" pitchFamily="34" charset="-122"/>
                <a:cs typeface="Calibri" pitchFamily="34" charset="-120"/>
              </a:rPr>
              <a:t>Ontological vs. epistemological commitments</a:t>
            </a:r>
            <a:endParaRPr lang="en-US" sz="2700" dirty="0"/>
          </a:p>
        </p:txBody>
      </p:sp>
      <p:pic>
        <p:nvPicPr>
          <p:cNvPr id="4" name="Image 0" descr="fig8_1.jpg">    </p:cNvPr>
          <p:cNvPicPr>
            <a:picLocks noChangeAspect="1"/>
          </p:cNvPicPr>
          <p:nvPr/>
        </p:nvPicPr>
        <p:blipFill>
          <a:blip r:embed="rId1"/>
          <a:stretch>
            <a:fillRect/>
          </a:stretch>
        </p:blipFill>
        <p:spPr>
          <a:xfrm>
            <a:off x="548640" y="1600200"/>
            <a:ext cx="7040880" cy="2331720"/>
          </a:xfrm>
          <a:prstGeom prst="rect">
            <a:avLst/>
          </a:prstGeom>
        </p:spPr>
      </p:pic>
      <p:sp>
        <p:nvSpPr>
          <p:cNvPr id="5" name="Shape 2"/>
          <p:cNvSpPr/>
          <p:nvPr/>
        </p:nvSpPr>
        <p:spPr>
          <a:xfrm>
            <a:off x="548640" y="1600200"/>
            <a:ext cx="7040880" cy="2331720"/>
          </a:xfrm>
          <a:prstGeom prst="roundRect">
            <a:avLst>
              <a:gd name="adj" fmla="val 3137"/>
            </a:avLst>
          </a:prstGeom>
          <a:solidFill>
            <a:srgbClr val="FFFFFF"/>
          </a:solidFill>
          <a:ln/>
        </p:spPr>
      </p:sp>
      <p:pic>
        <p:nvPicPr>
          <p:cNvPr id="6" name="Image 1" descr="fig8_1.jpg">    </p:cNvPr>
          <p:cNvPicPr>
            <a:picLocks noChangeAspect="1"/>
          </p:cNvPicPr>
          <p:nvPr/>
        </p:nvPicPr>
        <p:blipFill>
          <a:blip r:embed="rId2"/>
          <a:stretch>
            <a:fillRect/>
          </a:stretch>
        </p:blipFill>
        <p:spPr>
          <a:xfrm>
            <a:off x="548640" y="1600200"/>
            <a:ext cx="7040880" cy="2331720"/>
          </a:xfrm>
          <a:prstGeom prst="rect">
            <a:avLst/>
          </a:prstGeom>
        </p:spPr>
      </p:pic>
      <p:sp>
        <p:nvSpPr>
          <p:cNvPr id="7" name="Shape 3"/>
          <p:cNvSpPr/>
          <p:nvPr/>
        </p:nvSpPr>
        <p:spPr>
          <a:xfrm>
            <a:off x="7818120" y="1600200"/>
            <a:ext cx="3840480" cy="2331720"/>
          </a:xfrm>
          <a:prstGeom prst="roundRect">
            <a:avLst>
              <a:gd name="adj" fmla="val 3137"/>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8" name="Text 4"/>
          <p:cNvSpPr/>
          <p:nvPr/>
        </p:nvSpPr>
        <p:spPr>
          <a:xfrm>
            <a:off x="8092440" y="1783080"/>
            <a:ext cx="3337560" cy="914400"/>
          </a:xfrm>
          <a:prstGeom prst="rect">
            <a:avLst/>
          </a:prstGeom>
          <a:noFill/>
          <a:ln/>
        </p:spPr>
        <p:txBody>
          <a:bodyPr wrap="square" rtlCol="0" anchor="ctr"/>
          <a:lstStyle/>
          <a:p>
            <a:pPr indent="0" marL="0">
              <a:lnSpc>
                <a:spcPct val="130000"/>
              </a:lnSpc>
              <a:buNone/>
            </a:pPr>
            <a:r>
              <a:rPr lang="en-US" sz="1350" b="1" dirty="0">
                <a:solidFill>
                  <a:srgbClr val="4FD1E8"/>
                </a:solidFill>
                <a:latin typeface="Calibri" pitchFamily="34" charset="0"/>
                <a:ea typeface="Calibri" pitchFamily="34" charset="-122"/>
                <a:cs typeface="Calibri" pitchFamily="34" charset="-120"/>
              </a:rPr>
              <a:t>Ontological = what exists</a:t>
            </a:r>
            <a:endParaRPr lang="en-US" sz="1350" dirty="0"/>
          </a:p>
          <a:p>
            <a:pPr indent="0" marL="0">
              <a:lnSpc>
                <a:spcPct val="130000"/>
              </a:lnSpc>
              <a:buNone/>
            </a:pPr>
            <a:r>
              <a:rPr lang="en-US" sz="1350" b="1" dirty="0">
                <a:solidFill>
                  <a:srgbClr val="4FD1E8"/>
                </a:solidFill>
                <a:latin typeface="Calibri" pitchFamily="34" charset="0"/>
                <a:ea typeface="Calibri" pitchFamily="34" charset="-122"/>
                <a:cs typeface="Calibri" pitchFamily="34" charset="-120"/>
              </a:rPr>
              <a:t>Epistemological = what an agent can believe</a:t>
            </a:r>
            <a:endParaRPr lang="en-US" sz="1350" dirty="0"/>
          </a:p>
        </p:txBody>
      </p:sp>
      <p:sp>
        <p:nvSpPr>
          <p:cNvPr id="9" name="Text 5"/>
          <p:cNvSpPr/>
          <p:nvPr/>
        </p:nvSpPr>
        <p:spPr>
          <a:xfrm>
            <a:off x="8092440" y="2697480"/>
            <a:ext cx="3337560" cy="1143000"/>
          </a:xfrm>
          <a:prstGeom prst="rect">
            <a:avLst/>
          </a:prstGeom>
          <a:noFill/>
          <a:ln/>
        </p:spPr>
        <p:txBody>
          <a:bodyPr wrap="square" rtlCol="0" anchor="ctr"/>
          <a:lstStyle/>
          <a:p>
            <a:pPr indent="0" marL="0">
              <a:lnSpc>
                <a:spcPct val="125000"/>
              </a:lnSpc>
              <a:buNone/>
            </a:pPr>
            <a:r>
              <a:rPr lang="en-US" sz="1250" dirty="0">
                <a:solidFill>
                  <a:srgbClr val="9FB1CC"/>
                </a:solidFill>
                <a:latin typeface="Calibri" pitchFamily="34" charset="0"/>
                <a:ea typeface="Calibri" pitchFamily="34" charset="-122"/>
                <a:cs typeface="Calibri" pitchFamily="34" charset="-120"/>
              </a:rPr>
              <a:t>FOL keeps true/false/unknown like propositional logic, but upgrades its ontology to include objects and relations, not just bare facts.</a:t>
            </a:r>
            <a:endParaRPr lang="en-US" sz="1250" dirty="0"/>
          </a:p>
        </p:txBody>
      </p:sp>
      <p:sp>
        <p:nvSpPr>
          <p:cNvPr id="10" name="Shape 6"/>
          <p:cNvSpPr/>
          <p:nvPr/>
        </p:nvSpPr>
        <p:spPr>
          <a:xfrm>
            <a:off x="548640" y="4160520"/>
            <a:ext cx="11109960" cy="2148840"/>
          </a:xfrm>
          <a:prstGeom prst="roundRect">
            <a:avLst>
              <a:gd name="adj" fmla="val 3404"/>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1" name="Shape 7"/>
          <p:cNvSpPr/>
          <p:nvPr/>
        </p:nvSpPr>
        <p:spPr>
          <a:xfrm>
            <a:off x="749808" y="4361688"/>
            <a:ext cx="384048" cy="384048"/>
          </a:xfrm>
          <a:prstGeom prst="ellipse">
            <a:avLst/>
          </a:prstGeom>
          <a:solidFill>
            <a:srgbClr val="FFC857"/>
          </a:solidFill>
          <a:ln/>
        </p:spPr>
      </p:sp>
      <p:sp>
        <p:nvSpPr>
          <p:cNvPr id="12" name="Text 8"/>
          <p:cNvSpPr/>
          <p:nvPr/>
        </p:nvSpPr>
        <p:spPr>
          <a:xfrm>
            <a:off x="749808" y="436168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3" name="Text 9"/>
          <p:cNvSpPr/>
          <p:nvPr/>
        </p:nvSpPr>
        <p:spPr>
          <a:xfrm>
            <a:off x="1280160" y="4343400"/>
            <a:ext cx="1019556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14" name="Text 10"/>
          <p:cNvSpPr/>
          <p:nvPr/>
        </p:nvSpPr>
        <p:spPr>
          <a:xfrm>
            <a:off x="1280160" y="4636008"/>
            <a:ext cx="10149840" cy="14904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Think of ontology as the cast list of a play (who and what can appear on stage — people, props, relationships) and epistemology as the audience's certainty about the plot (do we know for sure who the killer is, or just suspect it?). Propositional logic has a cast of one type of thing: bare facts. First-order logic gives the cast real characters — objects — who can have relationships with each other, while the audience's knowledge can still be true, false, or unknown.</a:t>
            </a:r>
            <a:endParaRPr lang="en-US" sz="1350" dirty="0"/>
          </a:p>
        </p:txBody>
      </p:sp>
      <p:sp>
        <p:nvSpPr>
          <p:cNvPr id="15" name="Text 11"/>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8.1 REPRESENTATION REVISITED</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A good language is compositional</a:t>
            </a:r>
            <a:endParaRPr lang="en-US" sz="3000" dirty="0"/>
          </a:p>
        </p:txBody>
      </p:sp>
      <p:sp>
        <p:nvSpPr>
          <p:cNvPr id="4" name="Shape 2"/>
          <p:cNvSpPr/>
          <p:nvPr/>
        </p:nvSpPr>
        <p:spPr>
          <a:xfrm>
            <a:off x="548640" y="1691640"/>
            <a:ext cx="11109960" cy="1737360"/>
          </a:xfrm>
          <a:prstGeom prst="roundRect">
            <a:avLst>
              <a:gd name="adj" fmla="val 42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874520"/>
            <a:ext cx="10424160" cy="457200"/>
          </a:xfrm>
          <a:prstGeom prst="rect">
            <a:avLst/>
          </a:prstGeom>
          <a:noFill/>
          <a:ln/>
        </p:spPr>
        <p:txBody>
          <a:bodyPr wrap="square"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In a compositional language, the meaning of a sentence is built from the meaning of its parts.</a:t>
            </a:r>
            <a:endParaRPr lang="en-US" sz="1500" dirty="0"/>
          </a:p>
        </p:txBody>
      </p:sp>
      <p:sp>
        <p:nvSpPr>
          <p:cNvPr id="6" name="Text 4"/>
          <p:cNvSpPr/>
          <p:nvPr/>
        </p:nvSpPr>
        <p:spPr>
          <a:xfrm>
            <a:off x="868680" y="2331720"/>
            <a:ext cx="10424160" cy="1005840"/>
          </a:xfrm>
          <a:prstGeom prst="rect">
            <a:avLst/>
          </a:prstGeom>
          <a:noFill/>
          <a:ln/>
        </p:spPr>
        <p:txBody>
          <a:bodyPr wrap="square" rtlCol="0" anchor="ctr"/>
          <a:lstStyle/>
          <a:p>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S</a:t>
            </a:r>
            <a:pPr indent="0" marL="0">
              <a:lnSpc>
                <a:spcPct val="125000"/>
              </a:lnSpc>
              <a:buNone/>
            </a:pPr>
            <a:r>
              <a:rPr lang="en-US" sz="1350" baseline="-40000" dirty="0">
                <a:solidFill>
                  <a:srgbClr val="9FB1CC"/>
                </a:solidFill>
                <a:latin typeface="Calibri" pitchFamily="34" charset="0"/>
                <a:ea typeface="Calibri" pitchFamily="34" charset="-122"/>
                <a:cs typeface="Calibri" pitchFamily="34" charset="-120"/>
              </a:rPr>
              <a:t>1,4</a:t>
            </a:r>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  means “stench in [1,4]” and </a:t>
            </a:r>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S</a:t>
            </a:r>
            <a:pPr indent="0" marL="0">
              <a:lnSpc>
                <a:spcPct val="125000"/>
              </a:lnSpc>
              <a:buNone/>
            </a:pPr>
            <a:r>
              <a:rPr lang="en-US" sz="1350" baseline="-40000" dirty="0">
                <a:solidFill>
                  <a:srgbClr val="9FB1CC"/>
                </a:solidFill>
                <a:latin typeface="Calibri" pitchFamily="34" charset="0"/>
                <a:ea typeface="Calibri" pitchFamily="34" charset="-122"/>
                <a:cs typeface="Calibri" pitchFamily="34" charset="-120"/>
              </a:rPr>
              <a:t>1,2</a:t>
            </a:r>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  means “stench in [1,2]” — so </a:t>
            </a:r>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S</a:t>
            </a:r>
            <a:pPr indent="0" marL="0">
              <a:lnSpc>
                <a:spcPct val="125000"/>
              </a:lnSpc>
              <a:buNone/>
            </a:pPr>
            <a:r>
              <a:rPr lang="en-US" sz="1350" baseline="-40000" dirty="0">
                <a:solidFill>
                  <a:srgbClr val="9FB1CC"/>
                </a:solidFill>
                <a:latin typeface="Calibri" pitchFamily="34" charset="0"/>
                <a:ea typeface="Calibri" pitchFamily="34" charset="-122"/>
                <a:cs typeface="Calibri" pitchFamily="34" charset="-120"/>
              </a:rPr>
              <a:t>1,4</a:t>
            </a:r>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 ∧ </a:t>
            </a:r>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S</a:t>
            </a:r>
            <a:pPr indent="0" marL="0">
              <a:lnSpc>
                <a:spcPct val="125000"/>
              </a:lnSpc>
              <a:buNone/>
            </a:pPr>
            <a:r>
              <a:rPr lang="en-US" sz="1350" baseline="-40000" dirty="0">
                <a:solidFill>
                  <a:srgbClr val="9FB1CC"/>
                </a:solidFill>
                <a:latin typeface="Calibri" pitchFamily="34" charset="0"/>
                <a:ea typeface="Calibri" pitchFamily="34" charset="-122"/>
                <a:cs typeface="Calibri" pitchFamily="34" charset="-120"/>
              </a:rPr>
              <a:t>1,2</a:t>
            </a:r>
            <a:pPr indent="0" marL="0">
              <a:lnSpc>
                <a:spcPct val="125000"/>
              </a:lnSpc>
              <a:buNone/>
            </a:pPr>
            <a:r>
              <a:rPr lang="en-US" sz="1350" dirty="0">
                <a:solidFill>
                  <a:srgbClr val="9FB1CC"/>
                </a:solidFill>
                <a:latin typeface="Calibri" pitchFamily="34" charset="0"/>
                <a:ea typeface="Calibri" pitchFamily="34" charset="-122"/>
                <a:cs typeface="Calibri" pitchFamily="34" charset="-120"/>
              </a:rPr>
              <a:t>  simply means both are true. It would be bizarre if it suddenly meant “France and Poland drew 1–1 in hockey.”</a:t>
            </a:r>
            <a:endParaRPr lang="en-US" sz="1350" dirty="0"/>
          </a:p>
        </p:txBody>
      </p:sp>
      <p:sp>
        <p:nvSpPr>
          <p:cNvPr id="7" name="Shape 5"/>
          <p:cNvSpPr/>
          <p:nvPr/>
        </p:nvSpPr>
        <p:spPr>
          <a:xfrm>
            <a:off x="548640" y="3657600"/>
            <a:ext cx="11109960" cy="1463040"/>
          </a:xfrm>
          <a:prstGeom prst="roundRect">
            <a:avLst>
              <a:gd name="adj" fmla="val 5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8" name="Shape 6"/>
          <p:cNvSpPr/>
          <p:nvPr/>
        </p:nvSpPr>
        <p:spPr>
          <a:xfrm>
            <a:off x="749808" y="3858768"/>
            <a:ext cx="384048" cy="384048"/>
          </a:xfrm>
          <a:prstGeom prst="ellipse">
            <a:avLst/>
          </a:prstGeom>
          <a:solidFill>
            <a:srgbClr val="40D17D"/>
          </a:solidFill>
          <a:ln/>
        </p:spPr>
      </p:sp>
      <p:sp>
        <p:nvSpPr>
          <p:cNvPr id="9" name="Text 7"/>
          <p:cNvSpPr/>
          <p:nvPr/>
        </p:nvSpPr>
        <p:spPr>
          <a:xfrm>
            <a:off x="749808" y="385876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0" name="Text 8"/>
          <p:cNvSpPr/>
          <p:nvPr/>
        </p:nvSpPr>
        <p:spPr>
          <a:xfrm>
            <a:off x="1280160" y="3840480"/>
            <a:ext cx="10195560" cy="274320"/>
          </a:xfrm>
          <a:prstGeom prst="rect">
            <a:avLst/>
          </a:prstGeom>
          <a:noFill/>
          <a:ln/>
        </p:spPr>
        <p:txBody>
          <a:bodyPr wrap="square" rtlCol="0" anchor="ctr"/>
          <a:lstStyle/>
          <a:p>
            <a:pPr indent="0" marL="0">
              <a:buNone/>
            </a:pPr>
            <a:r>
              <a:rPr lang="en-US" sz="1200" b="1" spc="100" kern="0" dirty="0">
                <a:solidFill>
                  <a:srgbClr val="40D17D"/>
                </a:solidFill>
                <a:latin typeface="Calibri" pitchFamily="34" charset="0"/>
                <a:ea typeface="Calibri" pitchFamily="34" charset="-122"/>
                <a:cs typeface="Calibri" pitchFamily="34" charset="-120"/>
              </a:rPr>
              <a:t>ANALOGY</a:t>
            </a:r>
            <a:endParaRPr lang="en-US" sz="1200" dirty="0"/>
          </a:p>
        </p:txBody>
      </p:sp>
      <p:sp>
        <p:nvSpPr>
          <p:cNvPr id="11" name="Text 9"/>
          <p:cNvSpPr/>
          <p:nvPr/>
        </p:nvSpPr>
        <p:spPr>
          <a:xfrm>
            <a:off x="1280160" y="4133088"/>
            <a:ext cx="10149840" cy="8046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Compositionality is why LEGO bricks work: a red 2x4 brick always means the same thing wherever you snap it in, and a model's meaning is just the sum of its bricks' known shapes. A non-compositional “language” would be like a LEGO set where the same brick sometimes builds a wheel and sometimes builds a random unrelated sentence about hockey — you could never predict what a combination means.</a:t>
            </a:r>
            <a:endParaRPr lang="en-US" sz="1350" dirty="0"/>
          </a:p>
        </p:txBody>
      </p:sp>
      <p:sp>
        <p:nvSpPr>
          <p:cNvPr id="12" name="Shape 10"/>
          <p:cNvSpPr/>
          <p:nvPr/>
        </p:nvSpPr>
        <p:spPr>
          <a:xfrm>
            <a:off x="548640" y="5349240"/>
            <a:ext cx="11109960" cy="1005840"/>
          </a:xfrm>
          <a:prstGeom prst="roundRect">
            <a:avLst>
              <a:gd name="adj" fmla="val 727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Text 11"/>
          <p:cNvSpPr/>
          <p:nvPr/>
        </p:nvSpPr>
        <p:spPr>
          <a:xfrm>
            <a:off x="868680" y="5440680"/>
            <a:ext cx="10515600" cy="822960"/>
          </a:xfrm>
          <a:prstGeom prst="rect">
            <a:avLst/>
          </a:prstGeom>
          <a:noFill/>
          <a:ln/>
        </p:spPr>
        <p:txBody>
          <a:bodyPr wrap="square" rtlCol="0" anchor="ctr"/>
          <a:lstStyle/>
          <a:p>
            <a:pPr indent="0" marL="0">
              <a:lnSpc>
                <a:spcPct val="120000"/>
              </a:lnSpc>
              <a:buNone/>
            </a:pPr>
            <a:r>
              <a:rPr lang="en-US" sz="1250" i="1" dirty="0">
                <a:solidFill>
                  <a:srgbClr val="9FB1CC"/>
                </a:solidFill>
                <a:latin typeface="Calibri" pitchFamily="34" charset="0"/>
                <a:ea typeface="Calibri" pitchFamily="34" charset="-122"/>
                <a:cs typeface="Calibri" pitchFamily="34" charset="-120"/>
              </a:rPr>
              <a:t>Why it matters: natural language is expressive, but ambiguous and context-dependent (“Look!” means nothing without shared context). FOL keeps English's descriptive power while staying precise and compositional.</a:t>
            </a:r>
            <a:endParaRPr lang="en-US" sz="1250" dirty="0"/>
          </a:p>
        </p:txBody>
      </p:sp>
      <p:sp>
        <p:nvSpPr>
          <p:cNvPr id="14" name="Text 12"/>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p:spPr>
      </p:sp>
      <p:sp>
        <p:nvSpPr>
          <p:cNvPr id="3" name="Text 1"/>
          <p:cNvSpPr/>
          <p:nvPr/>
        </p:nvSpPr>
        <p:spPr>
          <a:xfrm>
            <a:off x="7863840" y="1005840"/>
            <a:ext cx="4206240" cy="4846320"/>
          </a:xfrm>
          <a:prstGeom prst="rect">
            <a:avLst/>
          </a:prstGeom>
          <a:noFill/>
          <a:ln/>
        </p:spPr>
        <p:txBody>
          <a:bodyPr wrap="square" rtlCol="0" anchor="ctr"/>
          <a:lstStyle/>
          <a:p>
            <a:pPr algn="r" indent="0" marL="0">
              <a:buNone/>
            </a:pPr>
            <a:r>
              <a:rPr lang="en-US" sz="34000" b="1" dirty="0">
                <a:solidFill>
                  <a:srgbClr val="1B2740"/>
                </a:solidFill>
                <a:latin typeface="Cambria" pitchFamily="34" charset="0"/>
                <a:ea typeface="Cambria" pitchFamily="34" charset="-122"/>
                <a:cs typeface="Cambria" pitchFamily="34" charset="-120"/>
              </a:rPr>
              <a:t>8.2</a:t>
            </a:r>
            <a:endParaRPr lang="en-US" sz="34000" dirty="0"/>
          </a:p>
        </p:txBody>
      </p:sp>
      <p:sp>
        <p:nvSpPr>
          <p:cNvPr id="4" name="Shape 2"/>
          <p:cNvSpPr/>
          <p:nvPr/>
        </p:nvSpPr>
        <p:spPr>
          <a:xfrm>
            <a:off x="548640" y="3246120"/>
            <a:ext cx="1005840" cy="0"/>
          </a:xfrm>
          <a:prstGeom prst="line">
            <a:avLst/>
          </a:prstGeom>
          <a:noFill/>
          <a:ln w="38100">
            <a:solidFill>
              <a:srgbClr val="4FD1E8"/>
            </a:solidFill>
            <a:prstDash val="solid"/>
          </a:ln>
        </p:spPr>
      </p:sp>
      <p:sp>
        <p:nvSpPr>
          <p:cNvPr id="5" name="Text 3"/>
          <p:cNvSpPr/>
          <p:nvPr/>
        </p:nvSpPr>
        <p:spPr>
          <a:xfrm>
            <a:off x="548640" y="2331720"/>
            <a:ext cx="5486400" cy="365760"/>
          </a:xfrm>
          <a:prstGeom prst="rect">
            <a:avLst/>
          </a:prstGeom>
          <a:noFill/>
          <a:ln/>
        </p:spPr>
        <p:txBody>
          <a:bodyPr wrap="square" rtlCol="0" anchor="ctr"/>
          <a:lstStyle/>
          <a:p>
            <a:pPr indent="0" marL="0">
              <a:buNone/>
            </a:pPr>
            <a:r>
              <a:rPr lang="en-US" sz="1400" b="1" spc="300" kern="0" dirty="0">
                <a:solidFill>
                  <a:srgbClr val="4FD1E8"/>
                </a:solidFill>
                <a:latin typeface="Calibri" pitchFamily="34" charset="0"/>
                <a:ea typeface="Calibri" pitchFamily="34" charset="-122"/>
                <a:cs typeface="Calibri" pitchFamily="34" charset="-120"/>
              </a:rPr>
              <a:t>SECTION 8.2</a:t>
            </a:r>
            <a:endParaRPr lang="en-US" sz="1400" dirty="0"/>
          </a:p>
        </p:txBody>
      </p:sp>
      <p:sp>
        <p:nvSpPr>
          <p:cNvPr id="6" name="Text 4"/>
          <p:cNvSpPr/>
          <p:nvPr/>
        </p:nvSpPr>
        <p:spPr>
          <a:xfrm>
            <a:off x="548640" y="2743200"/>
            <a:ext cx="7315200" cy="1280160"/>
          </a:xfrm>
          <a:prstGeom prst="rect">
            <a:avLst/>
          </a:prstGeom>
          <a:noFill/>
          <a:ln/>
        </p:spPr>
        <p:txBody>
          <a:bodyPr wrap="square" rtlCol="0" anchor="ctr"/>
          <a:lstStyle/>
          <a:p>
            <a:pPr indent="0" marL="0">
              <a:buNone/>
            </a:pPr>
            <a:r>
              <a:rPr lang="en-US" sz="4200" b="1" dirty="0">
                <a:solidFill>
                  <a:srgbClr val="F4F7FB"/>
                </a:solidFill>
                <a:latin typeface="Calibri" pitchFamily="34" charset="0"/>
                <a:ea typeface="Calibri" pitchFamily="34" charset="-122"/>
                <a:cs typeface="Calibri" pitchFamily="34" charset="-120"/>
              </a:rPr>
              <a:t>Syntax &amp; Semantics of First-Order Logic</a:t>
            </a:r>
            <a:endParaRPr lang="en-US" sz="4200" dirty="0"/>
          </a:p>
        </p:txBody>
      </p:sp>
      <p:sp>
        <p:nvSpPr>
          <p:cNvPr id="7" name="Text 5"/>
          <p:cNvSpPr/>
          <p:nvPr/>
        </p:nvSpPr>
        <p:spPr>
          <a:xfrm>
            <a:off x="548640" y="4023360"/>
            <a:ext cx="6675120" cy="1463040"/>
          </a:xfrm>
          <a:prstGeom prst="rect">
            <a:avLst/>
          </a:prstGeom>
          <a:noFill/>
          <a:ln/>
        </p:spPr>
        <p:txBody>
          <a:bodyPr wrap="square" rtlCol="0" anchor="ctr"/>
          <a:lstStyle/>
          <a:p>
            <a:pPr indent="0" marL="0">
              <a:lnSpc>
                <a:spcPct val="130000"/>
              </a:lnSpc>
              <a:buNone/>
            </a:pPr>
            <a:r>
              <a:rPr lang="en-US" sz="1500" dirty="0">
                <a:solidFill>
                  <a:srgbClr val="9FB1CC"/>
                </a:solidFill>
                <a:latin typeface="Calibri" pitchFamily="34" charset="0"/>
                <a:ea typeface="Calibri" pitchFamily="34" charset="-122"/>
                <a:cs typeface="Calibri" pitchFamily="34" charset="-120"/>
              </a:rPr>
              <a:t>Objects, relations, and functions become first-class citizens. We'll build up the language piece by piece: models, symbols, terms, sentences, and quantifiers.</a:t>
            </a:r>
            <a:endParaRPr lang="en-US" sz="1500" dirty="0"/>
          </a:p>
        </p:txBody>
      </p:sp>
      <p:sp>
        <p:nvSpPr>
          <p:cNvPr id="8" name="Text 6"/>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8.2.1 MODELS FOR FIRST-ORDER LOGIC</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A model is a possible world of objects</a:t>
            </a:r>
            <a:endParaRPr lang="en-US" sz="2800" dirty="0"/>
          </a:p>
        </p:txBody>
      </p:sp>
      <p:sp>
        <p:nvSpPr>
          <p:cNvPr id="4" name="Shape 2"/>
          <p:cNvSpPr/>
          <p:nvPr/>
        </p:nvSpPr>
        <p:spPr>
          <a:xfrm>
            <a:off x="548640" y="1600200"/>
            <a:ext cx="5577840" cy="4434840"/>
          </a:xfrm>
          <a:prstGeom prst="roundRect">
            <a:avLst>
              <a:gd name="adj" fmla="val 1649"/>
            </a:avLst>
          </a:prstGeom>
          <a:solidFill>
            <a:srgbClr val="FFFFFF"/>
          </a:solidFill>
          <a:ln/>
        </p:spPr>
      </p:sp>
      <p:pic>
        <p:nvPicPr>
          <p:cNvPr id="5" name="Image 0" descr="fig8_2.jpg">    </p:cNvPr>
          <p:cNvPicPr>
            <a:picLocks noChangeAspect="1"/>
          </p:cNvPicPr>
          <p:nvPr/>
        </p:nvPicPr>
        <p:blipFill>
          <a:blip r:embed="rId1"/>
          <a:stretch>
            <a:fillRect/>
          </a:stretch>
        </p:blipFill>
        <p:spPr>
          <a:xfrm>
            <a:off x="685800" y="1737360"/>
            <a:ext cx="5303520" cy="4160520"/>
          </a:xfrm>
          <a:prstGeom prst="rect">
            <a:avLst/>
          </a:prstGeom>
        </p:spPr>
      </p:pic>
      <p:sp>
        <p:nvSpPr>
          <p:cNvPr id="6" name="Shape 3"/>
          <p:cNvSpPr/>
          <p:nvPr/>
        </p:nvSpPr>
        <p:spPr>
          <a:xfrm>
            <a:off x="6355080" y="1600200"/>
            <a:ext cx="5303520" cy="4434840"/>
          </a:xfrm>
          <a:prstGeom prst="roundRect">
            <a:avLst>
              <a:gd name="adj" fmla="val 164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7" name="Text 4"/>
          <p:cNvSpPr/>
          <p:nvPr/>
        </p:nvSpPr>
        <p:spPr>
          <a:xfrm>
            <a:off x="6629400" y="1783080"/>
            <a:ext cx="4754880" cy="320040"/>
          </a:xfrm>
          <a:prstGeom prst="rect">
            <a:avLst/>
          </a:prstGeom>
          <a:noFill/>
          <a:ln/>
        </p:spPr>
        <p:txBody>
          <a:bodyPr wrap="square" rtlCol="0" anchor="ctr"/>
          <a:lstStyle/>
          <a:p>
            <a:pPr indent="0" marL="0">
              <a:buNone/>
            </a:pPr>
            <a:r>
              <a:rPr lang="en-US" sz="1400" b="1" dirty="0">
                <a:solidFill>
                  <a:srgbClr val="4FD1E8"/>
                </a:solidFill>
                <a:latin typeface="Calibri" pitchFamily="34" charset="0"/>
                <a:ea typeface="Calibri" pitchFamily="34" charset="-122"/>
                <a:cs typeface="Calibri" pitchFamily="34" charset="-120"/>
              </a:rPr>
              <a:t>Five objects in this world:</a:t>
            </a:r>
            <a:endParaRPr lang="en-US" sz="1400" dirty="0"/>
          </a:p>
        </p:txBody>
      </p:sp>
      <p:sp>
        <p:nvSpPr>
          <p:cNvPr id="8" name="Shape 5"/>
          <p:cNvSpPr/>
          <p:nvPr/>
        </p:nvSpPr>
        <p:spPr>
          <a:xfrm>
            <a:off x="6629400" y="2240280"/>
            <a:ext cx="109728" cy="109728"/>
          </a:xfrm>
          <a:prstGeom prst="ellipse">
            <a:avLst/>
          </a:prstGeom>
          <a:solidFill>
            <a:srgbClr val="FFC857"/>
          </a:solidFill>
          <a:ln/>
        </p:spPr>
      </p:sp>
      <p:sp>
        <p:nvSpPr>
          <p:cNvPr id="9" name="Text 6"/>
          <p:cNvSpPr/>
          <p:nvPr/>
        </p:nvSpPr>
        <p:spPr>
          <a:xfrm>
            <a:off x="6858000" y="2084832"/>
            <a:ext cx="4572000" cy="457200"/>
          </a:xfrm>
          <a:prstGeom prst="rect">
            <a:avLst/>
          </a:prstGeom>
          <a:noFill/>
          <a:ln/>
        </p:spPr>
        <p:txBody>
          <a:bodyPr wrap="square" rtlCol="0" anchor="ctr"/>
          <a:lstStyle/>
          <a:p>
            <a:pPr indent="0" marL="0">
              <a:lnSpc>
                <a:spcPct val="110000"/>
              </a:lnSpc>
              <a:buNone/>
            </a:pPr>
            <a:r>
              <a:rPr lang="en-US" sz="1300" b="1" dirty="0">
                <a:solidFill>
                  <a:srgbClr val="F4F7FB"/>
                </a:solidFill>
                <a:latin typeface="Calibri" pitchFamily="34" charset="0"/>
                <a:ea typeface="Calibri" pitchFamily="34" charset="-122"/>
                <a:cs typeface="Calibri" pitchFamily="34" charset="-120"/>
              </a:rPr>
              <a:t>Richard &amp; John  </a:t>
            </a:r>
            <a:pPr indent="0" marL="0">
              <a:lnSpc>
                <a:spcPct val="110000"/>
              </a:lnSpc>
              <a:buNone/>
            </a:pPr>
            <a:r>
              <a:rPr lang="en-US" sz="1300" dirty="0">
                <a:solidFill>
                  <a:srgbClr val="9FB1CC"/>
                </a:solidFill>
                <a:latin typeface="Calibri" pitchFamily="34" charset="0"/>
                <a:ea typeface="Calibri" pitchFamily="34" charset="-122"/>
                <a:cs typeface="Calibri" pitchFamily="34" charset="-120"/>
              </a:rPr>
              <a:t>person objects (unary relation)</a:t>
            </a:r>
            <a:endParaRPr lang="en-US" sz="1300" dirty="0"/>
          </a:p>
        </p:txBody>
      </p:sp>
      <p:sp>
        <p:nvSpPr>
          <p:cNvPr id="10" name="Shape 7"/>
          <p:cNvSpPr/>
          <p:nvPr/>
        </p:nvSpPr>
        <p:spPr>
          <a:xfrm>
            <a:off x="6629400" y="2807208"/>
            <a:ext cx="109728" cy="109728"/>
          </a:xfrm>
          <a:prstGeom prst="ellipse">
            <a:avLst/>
          </a:prstGeom>
          <a:solidFill>
            <a:srgbClr val="FFC857"/>
          </a:solidFill>
          <a:ln/>
        </p:spPr>
      </p:sp>
      <p:sp>
        <p:nvSpPr>
          <p:cNvPr id="11" name="Text 8"/>
          <p:cNvSpPr/>
          <p:nvPr/>
        </p:nvSpPr>
        <p:spPr>
          <a:xfrm>
            <a:off x="6858000" y="2651760"/>
            <a:ext cx="4572000" cy="457200"/>
          </a:xfrm>
          <a:prstGeom prst="rect">
            <a:avLst/>
          </a:prstGeom>
          <a:noFill/>
          <a:ln/>
        </p:spPr>
        <p:txBody>
          <a:bodyPr wrap="square" rtlCol="0" anchor="ctr"/>
          <a:lstStyle/>
          <a:p>
            <a:pPr indent="0" marL="0">
              <a:lnSpc>
                <a:spcPct val="110000"/>
              </a:lnSpc>
              <a:buNone/>
            </a:pPr>
            <a:r>
              <a:rPr lang="en-US" sz="1300" b="1" dirty="0">
                <a:solidFill>
                  <a:srgbClr val="F4F7FB"/>
                </a:solidFill>
                <a:latin typeface="Calibri" pitchFamily="34" charset="0"/>
                <a:ea typeface="Calibri" pitchFamily="34" charset="-122"/>
                <a:cs typeface="Calibri" pitchFamily="34" charset="-120"/>
              </a:rPr>
              <a:t>a crown  </a:t>
            </a:r>
            <a:pPr indent="0" marL="0">
              <a:lnSpc>
                <a:spcPct val="110000"/>
              </a:lnSpc>
              <a:buNone/>
            </a:pPr>
            <a:r>
              <a:rPr lang="en-US" sz="1300" dirty="0">
                <a:solidFill>
                  <a:srgbClr val="9FB1CC"/>
                </a:solidFill>
                <a:latin typeface="Calibri" pitchFamily="34" charset="0"/>
                <a:ea typeface="Calibri" pitchFamily="34" charset="-122"/>
                <a:cs typeface="Calibri" pitchFamily="34" charset="-120"/>
              </a:rPr>
              <a:t>unary relation ‘Crown’</a:t>
            </a:r>
            <a:endParaRPr lang="en-US" sz="1300" dirty="0"/>
          </a:p>
        </p:txBody>
      </p:sp>
      <p:sp>
        <p:nvSpPr>
          <p:cNvPr id="12" name="Shape 9"/>
          <p:cNvSpPr/>
          <p:nvPr/>
        </p:nvSpPr>
        <p:spPr>
          <a:xfrm>
            <a:off x="6629400" y="3374136"/>
            <a:ext cx="109728" cy="109728"/>
          </a:xfrm>
          <a:prstGeom prst="ellipse">
            <a:avLst/>
          </a:prstGeom>
          <a:solidFill>
            <a:srgbClr val="FFC857"/>
          </a:solidFill>
          <a:ln/>
        </p:spPr>
      </p:sp>
      <p:sp>
        <p:nvSpPr>
          <p:cNvPr id="13" name="Text 10"/>
          <p:cNvSpPr/>
          <p:nvPr/>
        </p:nvSpPr>
        <p:spPr>
          <a:xfrm>
            <a:off x="6858000" y="3218688"/>
            <a:ext cx="4572000" cy="457200"/>
          </a:xfrm>
          <a:prstGeom prst="rect">
            <a:avLst/>
          </a:prstGeom>
          <a:noFill/>
          <a:ln/>
        </p:spPr>
        <p:txBody>
          <a:bodyPr wrap="square" rtlCol="0" anchor="ctr"/>
          <a:lstStyle/>
          <a:p>
            <a:pPr indent="0" marL="0">
              <a:lnSpc>
                <a:spcPct val="110000"/>
              </a:lnSpc>
              <a:buNone/>
            </a:pPr>
            <a:r>
              <a:rPr lang="en-US" sz="1300" b="1" dirty="0">
                <a:solidFill>
                  <a:srgbClr val="F4F7FB"/>
                </a:solidFill>
                <a:latin typeface="Calibri" pitchFamily="34" charset="0"/>
                <a:ea typeface="Calibri" pitchFamily="34" charset="-122"/>
                <a:cs typeface="Calibri" pitchFamily="34" charset="-120"/>
              </a:rPr>
              <a:t>two left legs  </a:t>
            </a:r>
            <a:pPr indent="0" marL="0">
              <a:lnSpc>
                <a:spcPct val="110000"/>
              </a:lnSpc>
              <a:buNone/>
            </a:pPr>
            <a:r>
              <a:rPr lang="en-US" sz="1300" dirty="0">
                <a:solidFill>
                  <a:srgbClr val="9FB1CC"/>
                </a:solidFill>
                <a:latin typeface="Calibri" pitchFamily="34" charset="0"/>
                <a:ea typeface="Calibri" pitchFamily="34" charset="-122"/>
                <a:cs typeface="Calibri" pitchFamily="34" charset="-120"/>
              </a:rPr>
              <a:t>outputs of the LeftLeg function</a:t>
            </a:r>
            <a:endParaRPr lang="en-US" sz="1300" dirty="0"/>
          </a:p>
        </p:txBody>
      </p:sp>
      <p:sp>
        <p:nvSpPr>
          <p:cNvPr id="14" name="Shape 11"/>
          <p:cNvSpPr/>
          <p:nvPr/>
        </p:nvSpPr>
        <p:spPr>
          <a:xfrm>
            <a:off x="6629400" y="3941064"/>
            <a:ext cx="109728" cy="109728"/>
          </a:xfrm>
          <a:prstGeom prst="ellipse">
            <a:avLst/>
          </a:prstGeom>
          <a:solidFill>
            <a:srgbClr val="FFC857"/>
          </a:solidFill>
          <a:ln/>
        </p:spPr>
      </p:sp>
      <p:sp>
        <p:nvSpPr>
          <p:cNvPr id="15" name="Text 12"/>
          <p:cNvSpPr/>
          <p:nvPr/>
        </p:nvSpPr>
        <p:spPr>
          <a:xfrm>
            <a:off x="6858000" y="3785616"/>
            <a:ext cx="4572000" cy="457200"/>
          </a:xfrm>
          <a:prstGeom prst="rect">
            <a:avLst/>
          </a:prstGeom>
          <a:noFill/>
          <a:ln/>
        </p:spPr>
        <p:txBody>
          <a:bodyPr wrap="square" rtlCol="0" anchor="ctr"/>
          <a:lstStyle/>
          <a:p>
            <a:pPr indent="0" marL="0">
              <a:lnSpc>
                <a:spcPct val="110000"/>
              </a:lnSpc>
              <a:buNone/>
            </a:pPr>
            <a:r>
              <a:rPr lang="en-US" sz="1300" b="1" dirty="0">
                <a:solidFill>
                  <a:srgbClr val="F4F7FB"/>
                </a:solidFill>
                <a:latin typeface="Calibri" pitchFamily="34" charset="0"/>
                <a:ea typeface="Calibri" pitchFamily="34" charset="-122"/>
                <a:cs typeface="Calibri" pitchFamily="34" charset="-120"/>
              </a:rPr>
              <a:t>brother / on-head  </a:t>
            </a:r>
            <a:pPr indent="0" marL="0">
              <a:lnSpc>
                <a:spcPct val="110000"/>
              </a:lnSpc>
              <a:buNone/>
            </a:pPr>
            <a:r>
              <a:rPr lang="en-US" sz="1300" dirty="0">
                <a:solidFill>
                  <a:srgbClr val="9FB1CC"/>
                </a:solidFill>
                <a:latin typeface="Calibri" pitchFamily="34" charset="0"/>
                <a:ea typeface="Calibri" pitchFamily="34" charset="-122"/>
                <a:cs typeface="Calibri" pitchFamily="34" charset="-120"/>
              </a:rPr>
              <a:t>binary relations linking objects</a:t>
            </a:r>
            <a:endParaRPr lang="en-US" sz="1300" dirty="0"/>
          </a:p>
        </p:txBody>
      </p:sp>
      <p:sp>
        <p:nvSpPr>
          <p:cNvPr id="16" name="Text 13"/>
          <p:cNvSpPr/>
          <p:nvPr/>
        </p:nvSpPr>
        <p:spPr>
          <a:xfrm>
            <a:off x="6629400" y="4599432"/>
            <a:ext cx="4846320" cy="1554480"/>
          </a:xfrm>
          <a:prstGeom prst="rect">
            <a:avLst/>
          </a:prstGeom>
          <a:noFill/>
          <a:ln/>
        </p:spPr>
        <p:txBody>
          <a:bodyPr wrap="square" rtlCol="0" anchor="ctr"/>
          <a:lstStyle/>
          <a:p>
            <a:pPr indent="0" marL="0">
              <a:lnSpc>
                <a:spcPct val="125000"/>
              </a:lnSpc>
              <a:buNone/>
            </a:pPr>
            <a:r>
              <a:rPr lang="en-US" sz="1250" dirty="0">
                <a:solidFill>
                  <a:srgbClr val="9FB1CC"/>
                </a:solidFill>
                <a:latin typeface="Calibri" pitchFamily="34" charset="0"/>
                <a:ea typeface="Calibri" pitchFamily="34" charset="-122"/>
                <a:cs typeface="Calibri" pitchFamily="34" charset="-120"/>
              </a:rPr>
              <a:t>A relation is just a set of tuples of related objects — e.g. Brother = {⟨Richard,John⟩, ⟨John,Richard⟩}. A function maps each input to exactly one output (everyone has exactly one left leg).</a:t>
            </a:r>
            <a:endParaRPr lang="en-US" sz="1250" dirty="0"/>
          </a:p>
        </p:txBody>
      </p:sp>
      <p:sp>
        <p:nvSpPr>
          <p:cNvPr id="17" name="Text 14"/>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8.2.2 SYMBOLS AND INTERPRETATIONS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Three kinds of symbols</a:t>
            </a:r>
            <a:endParaRPr lang="en-US" sz="3000" dirty="0"/>
          </a:p>
        </p:txBody>
      </p:sp>
      <p:sp>
        <p:nvSpPr>
          <p:cNvPr id="4" name="Shape 2"/>
          <p:cNvSpPr/>
          <p:nvPr/>
        </p:nvSpPr>
        <p:spPr>
          <a:xfrm>
            <a:off x="548640" y="1737360"/>
            <a:ext cx="3520440" cy="2834640"/>
          </a:xfrm>
          <a:prstGeom prst="roundRect">
            <a:avLst>
              <a:gd name="adj" fmla="val 258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2011680"/>
            <a:ext cx="548640" cy="548640"/>
          </a:xfrm>
          <a:prstGeom prst="roundRect">
            <a:avLst>
              <a:gd name="adj" fmla="val 50000"/>
            </a:avLst>
          </a:prstGeom>
          <a:solidFill>
            <a:srgbClr val="4FD1E8"/>
          </a:solidFill>
          <a:ln/>
        </p:spPr>
      </p:sp>
      <p:sp>
        <p:nvSpPr>
          <p:cNvPr id="6" name="Text 4"/>
          <p:cNvSpPr/>
          <p:nvPr/>
        </p:nvSpPr>
        <p:spPr>
          <a:xfrm>
            <a:off x="822960" y="2011680"/>
            <a:ext cx="548640" cy="548640"/>
          </a:xfrm>
          <a:prstGeom prst="rect">
            <a:avLst/>
          </a:prstGeom>
          <a:noFill/>
          <a:ln/>
        </p:spPr>
        <p:txBody>
          <a:bodyPr wrap="square" rtlCol="0" anchor="ctr"/>
          <a:lstStyle/>
          <a:p>
            <a:pPr algn="ctr" indent="0" marL="0">
              <a:buNone/>
            </a:pPr>
            <a:r>
              <a:rPr lang="en-US" sz="2000" b="1" dirty="0">
                <a:solidFill>
                  <a:srgbClr val="0B1220"/>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822960" y="2743200"/>
            <a:ext cx="2971800" cy="365760"/>
          </a:xfrm>
          <a:prstGeom prst="rect">
            <a:avLst/>
          </a:prstGeom>
          <a:noFill/>
          <a:ln/>
        </p:spPr>
        <p:txBody>
          <a:bodyPr wrap="square" rtlCol="0" anchor="ctr"/>
          <a:lstStyle/>
          <a:p>
            <a:pPr indent="0" marL="0">
              <a:buNone/>
            </a:pPr>
            <a:r>
              <a:rPr lang="en-US" sz="1500" b="1" spc="100" kern="0" dirty="0">
                <a:solidFill>
                  <a:srgbClr val="4FD1E8"/>
                </a:solidFill>
                <a:latin typeface="Calibri" pitchFamily="34" charset="0"/>
                <a:ea typeface="Calibri" pitchFamily="34" charset="-122"/>
                <a:cs typeface="Calibri" pitchFamily="34" charset="-120"/>
              </a:rPr>
              <a:t>CONSTANT</a:t>
            </a:r>
            <a:endParaRPr lang="en-US" sz="1500" dirty="0"/>
          </a:p>
        </p:txBody>
      </p:sp>
      <p:sp>
        <p:nvSpPr>
          <p:cNvPr id="8" name="Text 6"/>
          <p:cNvSpPr/>
          <p:nvPr/>
        </p:nvSpPr>
        <p:spPr>
          <a:xfrm>
            <a:off x="822960" y="3154680"/>
            <a:ext cx="2971800" cy="411480"/>
          </a:xfrm>
          <a:prstGeom prst="rect">
            <a:avLst/>
          </a:prstGeom>
          <a:noFill/>
          <a:ln/>
        </p:spPr>
        <p:txBody>
          <a:bodyPr wrap="square" rtlCol="0" anchor="ctr"/>
          <a:lstStyle/>
          <a:p>
            <a:pPr indent="0" marL="0">
              <a:buNone/>
            </a:pPr>
            <a:r>
              <a:rPr lang="en-US" sz="1400" dirty="0">
                <a:solidFill>
                  <a:srgbClr val="F4F7FB"/>
                </a:solidFill>
                <a:latin typeface="Consolas" pitchFamily="34" charset="0"/>
                <a:ea typeface="Consolas" pitchFamily="34" charset="-122"/>
                <a:cs typeface="Consolas" pitchFamily="34" charset="-120"/>
              </a:rPr>
              <a:t>Richard, John</a:t>
            </a:r>
            <a:endParaRPr lang="en-US" sz="1400" dirty="0"/>
          </a:p>
        </p:txBody>
      </p:sp>
      <p:sp>
        <p:nvSpPr>
          <p:cNvPr id="9" name="Text 7"/>
          <p:cNvSpPr/>
          <p:nvPr/>
        </p:nvSpPr>
        <p:spPr>
          <a:xfrm>
            <a:off x="822960" y="3657600"/>
            <a:ext cx="2971800" cy="777240"/>
          </a:xfrm>
          <a:prstGeom prst="rect">
            <a:avLst/>
          </a:prstGeom>
          <a:noFill/>
          <a:ln/>
        </p:spPr>
        <p:txBody>
          <a:bodyPr wrap="square" rtlCol="0" anchor="ctr"/>
          <a:lstStyle/>
          <a:p>
            <a:pPr indent="0" marL="0">
              <a:lnSpc>
                <a:spcPct val="120000"/>
              </a:lnSpc>
              <a:buNone/>
            </a:pPr>
            <a:r>
              <a:rPr lang="en-US" sz="1250" dirty="0">
                <a:solidFill>
                  <a:srgbClr val="9FB1CC"/>
                </a:solidFill>
                <a:latin typeface="Calibri" pitchFamily="34" charset="0"/>
                <a:ea typeface="Calibri" pitchFamily="34" charset="-122"/>
                <a:cs typeface="Calibri" pitchFamily="34" charset="-120"/>
              </a:rPr>
              <a:t>Names a single object</a:t>
            </a:r>
            <a:endParaRPr lang="en-US" sz="1250" dirty="0"/>
          </a:p>
        </p:txBody>
      </p:sp>
      <p:sp>
        <p:nvSpPr>
          <p:cNvPr id="10" name="Shape 8"/>
          <p:cNvSpPr/>
          <p:nvPr/>
        </p:nvSpPr>
        <p:spPr>
          <a:xfrm>
            <a:off x="4343400" y="1737360"/>
            <a:ext cx="3520440" cy="2834640"/>
          </a:xfrm>
          <a:prstGeom prst="roundRect">
            <a:avLst>
              <a:gd name="adj" fmla="val 258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1" name="Shape 9"/>
          <p:cNvSpPr/>
          <p:nvPr/>
        </p:nvSpPr>
        <p:spPr>
          <a:xfrm>
            <a:off x="4617720" y="2011680"/>
            <a:ext cx="548640" cy="548640"/>
          </a:xfrm>
          <a:prstGeom prst="roundRect">
            <a:avLst>
              <a:gd name="adj" fmla="val 50000"/>
            </a:avLst>
          </a:prstGeom>
          <a:solidFill>
            <a:srgbClr val="A78BFA"/>
          </a:solidFill>
          <a:ln/>
        </p:spPr>
      </p:sp>
      <p:sp>
        <p:nvSpPr>
          <p:cNvPr id="12" name="Text 10"/>
          <p:cNvSpPr/>
          <p:nvPr/>
        </p:nvSpPr>
        <p:spPr>
          <a:xfrm>
            <a:off x="4617720" y="2011680"/>
            <a:ext cx="548640" cy="548640"/>
          </a:xfrm>
          <a:prstGeom prst="rect">
            <a:avLst/>
          </a:prstGeom>
          <a:noFill/>
          <a:ln/>
        </p:spPr>
        <p:txBody>
          <a:bodyPr wrap="square" rtlCol="0" anchor="ctr"/>
          <a:lstStyle/>
          <a:p>
            <a:pPr algn="ctr" indent="0" marL="0">
              <a:buNone/>
            </a:pPr>
            <a:r>
              <a:rPr lang="en-US" sz="2000" b="1" dirty="0">
                <a:solidFill>
                  <a:srgbClr val="0B1220"/>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4617720" y="2743200"/>
            <a:ext cx="2971800" cy="365760"/>
          </a:xfrm>
          <a:prstGeom prst="rect">
            <a:avLst/>
          </a:prstGeom>
          <a:noFill/>
          <a:ln/>
        </p:spPr>
        <p:txBody>
          <a:bodyPr wrap="square" rtlCol="0" anchor="ctr"/>
          <a:lstStyle/>
          <a:p>
            <a:pPr indent="0" marL="0">
              <a:buNone/>
            </a:pPr>
            <a:r>
              <a:rPr lang="en-US" sz="1500" b="1" spc="100" kern="0" dirty="0">
                <a:solidFill>
                  <a:srgbClr val="A78BFA"/>
                </a:solidFill>
                <a:latin typeface="Calibri" pitchFamily="34" charset="0"/>
                <a:ea typeface="Calibri" pitchFamily="34" charset="-122"/>
                <a:cs typeface="Calibri" pitchFamily="34" charset="-120"/>
              </a:rPr>
              <a:t>PREDICATE</a:t>
            </a:r>
            <a:endParaRPr lang="en-US" sz="1500" dirty="0"/>
          </a:p>
        </p:txBody>
      </p:sp>
      <p:sp>
        <p:nvSpPr>
          <p:cNvPr id="14" name="Text 12"/>
          <p:cNvSpPr/>
          <p:nvPr/>
        </p:nvSpPr>
        <p:spPr>
          <a:xfrm>
            <a:off x="4617720" y="3154680"/>
            <a:ext cx="2971800" cy="411480"/>
          </a:xfrm>
          <a:prstGeom prst="rect">
            <a:avLst/>
          </a:prstGeom>
          <a:noFill/>
          <a:ln/>
        </p:spPr>
        <p:txBody>
          <a:bodyPr wrap="square" rtlCol="0" anchor="ctr"/>
          <a:lstStyle/>
          <a:p>
            <a:pPr indent="0" marL="0">
              <a:buNone/>
            </a:pPr>
            <a:r>
              <a:rPr lang="en-US" sz="1400" dirty="0">
                <a:solidFill>
                  <a:srgbClr val="F4F7FB"/>
                </a:solidFill>
                <a:latin typeface="Consolas" pitchFamily="34" charset="0"/>
                <a:ea typeface="Consolas" pitchFamily="34" charset="-122"/>
                <a:cs typeface="Consolas" pitchFamily="34" charset="-120"/>
              </a:rPr>
              <a:t>Brother, King, OnHead</a:t>
            </a:r>
            <a:endParaRPr lang="en-US" sz="1400" dirty="0"/>
          </a:p>
        </p:txBody>
      </p:sp>
      <p:sp>
        <p:nvSpPr>
          <p:cNvPr id="15" name="Text 13"/>
          <p:cNvSpPr/>
          <p:nvPr/>
        </p:nvSpPr>
        <p:spPr>
          <a:xfrm>
            <a:off x="4617720" y="3657600"/>
            <a:ext cx="2971800" cy="777240"/>
          </a:xfrm>
          <a:prstGeom prst="rect">
            <a:avLst/>
          </a:prstGeom>
          <a:noFill/>
          <a:ln/>
        </p:spPr>
        <p:txBody>
          <a:bodyPr wrap="square" rtlCol="0" anchor="ctr"/>
          <a:lstStyle/>
          <a:p>
            <a:pPr indent="0" marL="0">
              <a:lnSpc>
                <a:spcPct val="120000"/>
              </a:lnSpc>
              <a:buNone/>
            </a:pPr>
            <a:r>
              <a:rPr lang="en-US" sz="1250" dirty="0">
                <a:solidFill>
                  <a:srgbClr val="9FB1CC"/>
                </a:solidFill>
                <a:latin typeface="Calibri" pitchFamily="34" charset="0"/>
                <a:ea typeface="Calibri" pitchFamily="34" charset="-122"/>
                <a:cs typeface="Calibri" pitchFamily="34" charset="-120"/>
              </a:rPr>
              <a:t>Names a relation among objects</a:t>
            </a:r>
            <a:endParaRPr lang="en-US" sz="1250" dirty="0"/>
          </a:p>
        </p:txBody>
      </p:sp>
      <p:sp>
        <p:nvSpPr>
          <p:cNvPr id="16" name="Shape 14"/>
          <p:cNvSpPr/>
          <p:nvPr/>
        </p:nvSpPr>
        <p:spPr>
          <a:xfrm>
            <a:off x="8138160" y="1737360"/>
            <a:ext cx="3520440" cy="2834640"/>
          </a:xfrm>
          <a:prstGeom prst="roundRect">
            <a:avLst>
              <a:gd name="adj" fmla="val 258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7" name="Shape 15"/>
          <p:cNvSpPr/>
          <p:nvPr/>
        </p:nvSpPr>
        <p:spPr>
          <a:xfrm>
            <a:off x="8412480" y="2011680"/>
            <a:ext cx="548640" cy="548640"/>
          </a:xfrm>
          <a:prstGeom prst="roundRect">
            <a:avLst>
              <a:gd name="adj" fmla="val 50000"/>
            </a:avLst>
          </a:prstGeom>
          <a:solidFill>
            <a:srgbClr val="FFC857"/>
          </a:solidFill>
          <a:ln/>
        </p:spPr>
      </p:sp>
      <p:sp>
        <p:nvSpPr>
          <p:cNvPr id="18" name="Text 16"/>
          <p:cNvSpPr/>
          <p:nvPr/>
        </p:nvSpPr>
        <p:spPr>
          <a:xfrm>
            <a:off x="8412480" y="2011680"/>
            <a:ext cx="548640" cy="548640"/>
          </a:xfrm>
          <a:prstGeom prst="rect">
            <a:avLst/>
          </a:prstGeom>
          <a:noFill/>
          <a:ln/>
        </p:spPr>
        <p:txBody>
          <a:bodyPr wrap="square" rtlCol="0" anchor="ctr"/>
          <a:lstStyle/>
          <a:p>
            <a:pPr algn="ctr" indent="0" marL="0">
              <a:buNone/>
            </a:pPr>
            <a:r>
              <a:rPr lang="en-US" sz="2000" b="1" dirty="0">
                <a:solidFill>
                  <a:srgbClr val="0B1220"/>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8412480" y="2743200"/>
            <a:ext cx="2971800" cy="365760"/>
          </a:xfrm>
          <a:prstGeom prst="rect">
            <a:avLst/>
          </a:prstGeom>
          <a:noFill/>
          <a:ln/>
        </p:spPr>
        <p:txBody>
          <a:bodyPr wrap="square" rtlCol="0" anchor="ctr"/>
          <a:lstStyle/>
          <a:p>
            <a:pPr indent="0" marL="0">
              <a:buNone/>
            </a:pPr>
            <a:r>
              <a:rPr lang="en-US" sz="1500" b="1" spc="100" kern="0" dirty="0">
                <a:solidFill>
                  <a:srgbClr val="FFC857"/>
                </a:solidFill>
                <a:latin typeface="Calibri" pitchFamily="34" charset="0"/>
                <a:ea typeface="Calibri" pitchFamily="34" charset="-122"/>
                <a:cs typeface="Calibri" pitchFamily="34" charset="-120"/>
              </a:rPr>
              <a:t>FUNCTION</a:t>
            </a:r>
            <a:endParaRPr lang="en-US" sz="1500" dirty="0"/>
          </a:p>
        </p:txBody>
      </p:sp>
      <p:sp>
        <p:nvSpPr>
          <p:cNvPr id="20" name="Text 18"/>
          <p:cNvSpPr/>
          <p:nvPr/>
        </p:nvSpPr>
        <p:spPr>
          <a:xfrm>
            <a:off x="8412480" y="3154680"/>
            <a:ext cx="2971800" cy="411480"/>
          </a:xfrm>
          <a:prstGeom prst="rect">
            <a:avLst/>
          </a:prstGeom>
          <a:noFill/>
          <a:ln/>
        </p:spPr>
        <p:txBody>
          <a:bodyPr wrap="square" rtlCol="0" anchor="ctr"/>
          <a:lstStyle/>
          <a:p>
            <a:pPr indent="0" marL="0">
              <a:buNone/>
            </a:pPr>
            <a:r>
              <a:rPr lang="en-US" sz="1400" dirty="0">
                <a:solidFill>
                  <a:srgbClr val="F4F7FB"/>
                </a:solidFill>
                <a:latin typeface="Consolas" pitchFamily="34" charset="0"/>
                <a:ea typeface="Consolas" pitchFamily="34" charset="-122"/>
                <a:cs typeface="Consolas" pitchFamily="34" charset="-120"/>
              </a:rPr>
              <a:t>LeftLeg(x)</a:t>
            </a:r>
            <a:endParaRPr lang="en-US" sz="1400" dirty="0"/>
          </a:p>
        </p:txBody>
      </p:sp>
      <p:sp>
        <p:nvSpPr>
          <p:cNvPr id="21" name="Text 19"/>
          <p:cNvSpPr/>
          <p:nvPr/>
        </p:nvSpPr>
        <p:spPr>
          <a:xfrm>
            <a:off x="8412480" y="3657600"/>
            <a:ext cx="2971800" cy="777240"/>
          </a:xfrm>
          <a:prstGeom prst="rect">
            <a:avLst/>
          </a:prstGeom>
          <a:noFill/>
          <a:ln/>
        </p:spPr>
        <p:txBody>
          <a:bodyPr wrap="square" rtlCol="0" anchor="ctr"/>
          <a:lstStyle/>
          <a:p>
            <a:pPr indent="0" marL="0">
              <a:lnSpc>
                <a:spcPct val="120000"/>
              </a:lnSpc>
              <a:buNone/>
            </a:pPr>
            <a:r>
              <a:rPr lang="en-US" sz="1250" dirty="0">
                <a:solidFill>
                  <a:srgbClr val="9FB1CC"/>
                </a:solidFill>
                <a:latin typeface="Calibri" pitchFamily="34" charset="0"/>
                <a:ea typeface="Calibri" pitchFamily="34" charset="-122"/>
                <a:cs typeface="Calibri" pitchFamily="34" charset="-120"/>
              </a:rPr>
              <a:t>Maps an object to exactly one related object</a:t>
            </a:r>
            <a:endParaRPr lang="en-US" sz="1250" dirty="0"/>
          </a:p>
        </p:txBody>
      </p:sp>
      <p:sp>
        <p:nvSpPr>
          <p:cNvPr id="22" name="Shape 20"/>
          <p:cNvSpPr/>
          <p:nvPr/>
        </p:nvSpPr>
        <p:spPr>
          <a:xfrm>
            <a:off x="548640" y="4800600"/>
            <a:ext cx="11109960" cy="1600200"/>
          </a:xfrm>
          <a:prstGeom prst="roundRect">
            <a:avLst>
              <a:gd name="adj" fmla="val 457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3" name="Shape 21"/>
          <p:cNvSpPr/>
          <p:nvPr/>
        </p:nvSpPr>
        <p:spPr>
          <a:xfrm>
            <a:off x="749808" y="5001768"/>
            <a:ext cx="384048" cy="384048"/>
          </a:xfrm>
          <a:prstGeom prst="ellipse">
            <a:avLst/>
          </a:prstGeom>
          <a:solidFill>
            <a:srgbClr val="FFC857"/>
          </a:solidFill>
          <a:ln/>
        </p:spPr>
      </p:sp>
      <p:sp>
        <p:nvSpPr>
          <p:cNvPr id="24" name="Text 22"/>
          <p:cNvSpPr/>
          <p:nvPr/>
        </p:nvSpPr>
        <p:spPr>
          <a:xfrm>
            <a:off x="749808" y="500176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25" name="Text 23"/>
          <p:cNvSpPr/>
          <p:nvPr/>
        </p:nvSpPr>
        <p:spPr>
          <a:xfrm>
            <a:off x="1280160" y="4983480"/>
            <a:ext cx="1019556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26" name="Text 24"/>
          <p:cNvSpPr/>
          <p:nvPr/>
        </p:nvSpPr>
        <p:spPr>
          <a:xfrm>
            <a:off x="1280160" y="5276088"/>
            <a:ext cx="10149840" cy="94183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It's basic grammar, translated: constants are proper nouns (“John”), predicates are verbs or adjectives that connect nouns (“___ is brother of ___”), and functions are possessive phrases that name something new without giving it its own proper noun (“John's left leg” instead of inventing a name for that leg).</a:t>
            </a:r>
            <a:endParaRPr lang="en-US" sz="1350" dirty="0"/>
          </a:p>
        </p:txBody>
      </p:sp>
      <p:sp>
        <p:nvSpPr>
          <p:cNvPr id="27" name="Text 25"/>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8.2.2 SYMBOLS AND INTERPRETATIONS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One vocabulary, many possible worlds</a:t>
            </a:r>
            <a:endParaRPr lang="en-US" sz="2800" dirty="0"/>
          </a:p>
        </p:txBody>
      </p:sp>
      <p:sp>
        <p:nvSpPr>
          <p:cNvPr id="4" name="Shape 2"/>
          <p:cNvSpPr/>
          <p:nvPr/>
        </p:nvSpPr>
        <p:spPr>
          <a:xfrm>
            <a:off x="548640" y="1645920"/>
            <a:ext cx="6858000" cy="2788920"/>
          </a:xfrm>
          <a:prstGeom prst="roundRect">
            <a:avLst>
              <a:gd name="adj" fmla="val 2623"/>
            </a:avLst>
          </a:prstGeom>
          <a:solidFill>
            <a:srgbClr val="FFFFFF"/>
          </a:solidFill>
          <a:ln/>
        </p:spPr>
      </p:sp>
      <p:pic>
        <p:nvPicPr>
          <p:cNvPr id="5" name="Image 0" descr="fig8_4.jpg">    </p:cNvPr>
          <p:cNvPicPr>
            <a:picLocks noChangeAspect="1"/>
          </p:cNvPicPr>
          <p:nvPr/>
        </p:nvPicPr>
        <p:blipFill>
          <a:blip r:embed="rId1"/>
          <a:stretch>
            <a:fillRect/>
          </a:stretch>
        </p:blipFill>
        <p:spPr>
          <a:xfrm>
            <a:off x="685800" y="1783080"/>
            <a:ext cx="6583680" cy="2514600"/>
          </a:xfrm>
          <a:prstGeom prst="rect">
            <a:avLst/>
          </a:prstGeom>
        </p:spPr>
      </p:pic>
      <p:sp>
        <p:nvSpPr>
          <p:cNvPr id="6" name="Text 3"/>
          <p:cNvSpPr/>
          <p:nvPr/>
        </p:nvSpPr>
        <p:spPr>
          <a:xfrm>
            <a:off x="548640" y="4572000"/>
            <a:ext cx="6858000" cy="822960"/>
          </a:xfrm>
          <a:prstGeom prst="rect">
            <a:avLst/>
          </a:prstGeom>
          <a:noFill/>
          <a:ln/>
        </p:spPr>
        <p:txBody>
          <a:bodyPr wrap="square" rtlCol="0" anchor="ctr"/>
          <a:lstStyle/>
          <a:p>
            <a:pPr indent="0" marL="0">
              <a:lnSpc>
                <a:spcPct val="120000"/>
              </a:lnSpc>
              <a:buNone/>
            </a:pPr>
            <a:r>
              <a:rPr lang="en-US" sz="1200" i="1" dirty="0">
                <a:solidFill>
                  <a:srgbClr val="9FB1CC"/>
                </a:solidFill>
                <a:latin typeface="Calibri" pitchFamily="34" charset="0"/>
                <a:ea typeface="Calibri" pitchFamily="34" charset="-122"/>
                <a:cs typeface="Calibri" pitchFamily="34" charset="-120"/>
              </a:rPr>
              <a:t>Same two constants (R, J) and one relation — but each model wires the arrows differently. With 6 or fewer objects, there are already 137,506,194,466 possible models.</a:t>
            </a:r>
            <a:endParaRPr lang="en-US" sz="1200" dirty="0"/>
          </a:p>
        </p:txBody>
      </p:sp>
      <p:sp>
        <p:nvSpPr>
          <p:cNvPr id="7" name="Shape 4"/>
          <p:cNvSpPr/>
          <p:nvPr/>
        </p:nvSpPr>
        <p:spPr>
          <a:xfrm>
            <a:off x="7635240" y="1645920"/>
            <a:ext cx="4023360" cy="3749040"/>
          </a:xfrm>
          <a:prstGeom prst="roundRect">
            <a:avLst>
              <a:gd name="adj" fmla="val 195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8" name="Text 5"/>
          <p:cNvSpPr/>
          <p:nvPr/>
        </p:nvSpPr>
        <p:spPr>
          <a:xfrm>
            <a:off x="7909560" y="1828800"/>
            <a:ext cx="3566160" cy="320040"/>
          </a:xfrm>
          <a:prstGeom prst="rect">
            <a:avLst/>
          </a:prstGeom>
          <a:noFill/>
          <a:ln/>
        </p:spPr>
        <p:txBody>
          <a:bodyPr wrap="square" rtlCol="0" anchor="ctr"/>
          <a:lstStyle/>
          <a:p>
            <a:pPr indent="0" marL="0">
              <a:buNone/>
            </a:pPr>
            <a:r>
              <a:rPr lang="en-US" sz="1400" b="1" dirty="0">
                <a:solidFill>
                  <a:srgbClr val="4FD1E8"/>
                </a:solidFill>
                <a:latin typeface="Calibri" pitchFamily="34" charset="0"/>
                <a:ea typeface="Calibri" pitchFamily="34" charset="-122"/>
                <a:cs typeface="Calibri" pitchFamily="34" charset="-120"/>
              </a:rPr>
              <a:t>An interpretation fixes:</a:t>
            </a:r>
            <a:endParaRPr lang="en-US" sz="1400" dirty="0"/>
          </a:p>
        </p:txBody>
      </p:sp>
      <p:sp>
        <p:nvSpPr>
          <p:cNvPr id="9" name="Shape 6"/>
          <p:cNvSpPr/>
          <p:nvPr/>
        </p:nvSpPr>
        <p:spPr>
          <a:xfrm>
            <a:off x="7909560" y="2286000"/>
            <a:ext cx="91440" cy="91440"/>
          </a:xfrm>
          <a:prstGeom prst="ellipse">
            <a:avLst/>
          </a:prstGeom>
          <a:solidFill>
            <a:srgbClr val="FFC857"/>
          </a:solidFill>
          <a:ln/>
        </p:spPr>
      </p:sp>
      <p:sp>
        <p:nvSpPr>
          <p:cNvPr id="10" name="Text 7"/>
          <p:cNvSpPr/>
          <p:nvPr/>
        </p:nvSpPr>
        <p:spPr>
          <a:xfrm>
            <a:off x="8138160" y="2176272"/>
            <a:ext cx="3383280" cy="502920"/>
          </a:xfrm>
          <a:prstGeom prst="rect">
            <a:avLst/>
          </a:prstGeom>
          <a:noFill/>
          <a:ln/>
        </p:spPr>
        <p:txBody>
          <a:bodyPr wrap="square" rtlCol="0" anchor="ctr"/>
          <a:lstStyle/>
          <a:p>
            <a:pPr indent="0" marL="0">
              <a:lnSpc>
                <a:spcPct val="115000"/>
              </a:lnSpc>
              <a:buNone/>
            </a:pPr>
            <a:r>
              <a:rPr lang="en-US" sz="1250" dirty="0">
                <a:solidFill>
                  <a:srgbClr val="F4F7FB"/>
                </a:solidFill>
                <a:latin typeface="Calibri" pitchFamily="34" charset="0"/>
                <a:ea typeface="Calibri" pitchFamily="34" charset="-122"/>
                <a:cs typeface="Calibri" pitchFamily="34" charset="-120"/>
              </a:rPr>
              <a:t>Which object each constant names</a:t>
            </a:r>
            <a:endParaRPr lang="en-US" sz="1250" dirty="0"/>
          </a:p>
        </p:txBody>
      </p:sp>
      <p:sp>
        <p:nvSpPr>
          <p:cNvPr id="11" name="Shape 8"/>
          <p:cNvSpPr/>
          <p:nvPr/>
        </p:nvSpPr>
        <p:spPr>
          <a:xfrm>
            <a:off x="7909560" y="2880360"/>
            <a:ext cx="91440" cy="91440"/>
          </a:xfrm>
          <a:prstGeom prst="ellipse">
            <a:avLst/>
          </a:prstGeom>
          <a:solidFill>
            <a:srgbClr val="FFC857"/>
          </a:solidFill>
          <a:ln/>
        </p:spPr>
      </p:sp>
      <p:sp>
        <p:nvSpPr>
          <p:cNvPr id="12" name="Text 9"/>
          <p:cNvSpPr/>
          <p:nvPr/>
        </p:nvSpPr>
        <p:spPr>
          <a:xfrm>
            <a:off x="8138160" y="2770632"/>
            <a:ext cx="3383280" cy="502920"/>
          </a:xfrm>
          <a:prstGeom prst="rect">
            <a:avLst/>
          </a:prstGeom>
          <a:noFill/>
          <a:ln/>
        </p:spPr>
        <p:txBody>
          <a:bodyPr wrap="square" rtlCol="0" anchor="ctr"/>
          <a:lstStyle/>
          <a:p>
            <a:pPr indent="0" marL="0">
              <a:lnSpc>
                <a:spcPct val="115000"/>
              </a:lnSpc>
              <a:buNone/>
            </a:pPr>
            <a:r>
              <a:rPr lang="en-US" sz="1250" dirty="0">
                <a:solidFill>
                  <a:srgbClr val="F4F7FB"/>
                </a:solidFill>
                <a:latin typeface="Calibri" pitchFamily="34" charset="0"/>
                <a:ea typeface="Calibri" pitchFamily="34" charset="-122"/>
                <a:cs typeface="Calibri" pitchFamily="34" charset="-120"/>
              </a:rPr>
              <a:t>Which tuples each predicate holds for</a:t>
            </a:r>
            <a:endParaRPr lang="en-US" sz="1250" dirty="0"/>
          </a:p>
        </p:txBody>
      </p:sp>
      <p:sp>
        <p:nvSpPr>
          <p:cNvPr id="13" name="Shape 10"/>
          <p:cNvSpPr/>
          <p:nvPr/>
        </p:nvSpPr>
        <p:spPr>
          <a:xfrm>
            <a:off x="7909560" y="3474720"/>
            <a:ext cx="91440" cy="91440"/>
          </a:xfrm>
          <a:prstGeom prst="ellipse">
            <a:avLst/>
          </a:prstGeom>
          <a:solidFill>
            <a:srgbClr val="FFC857"/>
          </a:solidFill>
          <a:ln/>
        </p:spPr>
      </p:sp>
      <p:sp>
        <p:nvSpPr>
          <p:cNvPr id="14" name="Text 11"/>
          <p:cNvSpPr/>
          <p:nvPr/>
        </p:nvSpPr>
        <p:spPr>
          <a:xfrm>
            <a:off x="8138160" y="3364992"/>
            <a:ext cx="3383280" cy="502920"/>
          </a:xfrm>
          <a:prstGeom prst="rect">
            <a:avLst/>
          </a:prstGeom>
          <a:noFill/>
          <a:ln/>
        </p:spPr>
        <p:txBody>
          <a:bodyPr wrap="square" rtlCol="0" anchor="ctr"/>
          <a:lstStyle/>
          <a:p>
            <a:pPr indent="0" marL="0">
              <a:lnSpc>
                <a:spcPct val="115000"/>
              </a:lnSpc>
              <a:buNone/>
            </a:pPr>
            <a:r>
              <a:rPr lang="en-US" sz="1250" dirty="0">
                <a:solidFill>
                  <a:srgbClr val="F4F7FB"/>
                </a:solidFill>
                <a:latin typeface="Calibri" pitchFamily="34" charset="0"/>
                <a:ea typeface="Calibri" pitchFamily="34" charset="-122"/>
                <a:cs typeface="Calibri" pitchFamily="34" charset="-120"/>
              </a:rPr>
              <a:t>Which mapping each function computes</a:t>
            </a:r>
            <a:endParaRPr lang="en-US" sz="1250" dirty="0"/>
          </a:p>
        </p:txBody>
      </p:sp>
      <p:sp>
        <p:nvSpPr>
          <p:cNvPr id="15" name="Text 12"/>
          <p:cNvSpPr/>
          <p:nvPr/>
        </p:nvSpPr>
        <p:spPr>
          <a:xfrm>
            <a:off x="7909560" y="4297680"/>
            <a:ext cx="3611880" cy="1005840"/>
          </a:xfrm>
          <a:prstGeom prst="rect">
            <a:avLst/>
          </a:prstGeom>
          <a:noFill/>
          <a:ln/>
        </p:spPr>
        <p:txBody>
          <a:bodyPr wrap="square" rtlCol="0" anchor="ctr"/>
          <a:lstStyle/>
          <a:p>
            <a:pPr indent="0" marL="0">
              <a:lnSpc>
                <a:spcPct val="120000"/>
              </a:lnSpc>
              <a:buNone/>
            </a:pPr>
            <a:r>
              <a:rPr lang="en-US" sz="1200" dirty="0">
                <a:solidFill>
                  <a:srgbClr val="9FB1CC"/>
                </a:solidFill>
                <a:latin typeface="Calibri" pitchFamily="34" charset="0"/>
                <a:ea typeface="Calibri" pitchFamily="34" charset="-122"/>
                <a:cs typeface="Calibri" pitchFamily="34" charset="-120"/>
              </a:rPr>
              <a:t>Not every object needs a name, and one object can even have two names — the knowledge base's job is to rule out the interpretations that contradict what we know.</a:t>
            </a:r>
            <a:endParaRPr lang="en-US" sz="1200" dirty="0"/>
          </a:p>
        </p:txBody>
      </p:sp>
      <p:sp>
        <p:nvSpPr>
          <p:cNvPr id="16" name="Text 13"/>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8.2.3 TERMS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700" b="1" dirty="0">
                <a:solidFill>
                  <a:srgbClr val="F4F7FB"/>
                </a:solidFill>
                <a:latin typeface="Calibri" pitchFamily="34" charset="0"/>
                <a:ea typeface="Calibri" pitchFamily="34" charset="-122"/>
                <a:cs typeface="Calibri" pitchFamily="34" charset="-120"/>
              </a:rPr>
              <a:t>Terms: naming an object without a name tag</a:t>
            </a:r>
            <a:endParaRPr lang="en-US" sz="2700" dirty="0"/>
          </a:p>
        </p:txBody>
      </p:sp>
      <p:sp>
        <p:nvSpPr>
          <p:cNvPr id="4" name="Shape 2"/>
          <p:cNvSpPr/>
          <p:nvPr/>
        </p:nvSpPr>
        <p:spPr>
          <a:xfrm>
            <a:off x="548640" y="1691640"/>
            <a:ext cx="11109960" cy="1554480"/>
          </a:xfrm>
          <a:prstGeom prst="roundRect">
            <a:avLst>
              <a:gd name="adj" fmla="val 470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920240"/>
            <a:ext cx="10515600" cy="640080"/>
          </a:xfrm>
          <a:prstGeom prst="rect">
            <a:avLst/>
          </a:prstGeom>
          <a:noFill/>
          <a:ln/>
        </p:spPr>
        <p:txBody>
          <a:bodyPr wrap="square" rtlCol="0" anchor="ctr"/>
          <a:lstStyle/>
          <a:p>
            <a:pPr indent="0" marL="0">
              <a:buNone/>
            </a:pPr>
            <a:r>
              <a:rPr lang="en-US" sz="2200" b="1" dirty="0">
                <a:solidFill>
                  <a:srgbClr val="4FD1E8"/>
                </a:solidFill>
                <a:latin typeface="Consolas" pitchFamily="34" charset="0"/>
                <a:ea typeface="Consolas" pitchFamily="34" charset="-122"/>
                <a:cs typeface="Consolas" pitchFamily="34" charset="-120"/>
              </a:rPr>
              <a:t>LeftLeg(John)</a:t>
            </a:r>
            <a:pPr indent="0" marL="0">
              <a:buNone/>
            </a:pPr>
            <a:r>
              <a:rPr lang="en-US" sz="1400" dirty="0">
                <a:solidFill>
                  <a:srgbClr val="F4F7FB"/>
                </a:solidFill>
                <a:latin typeface="Calibri" pitchFamily="34" charset="0"/>
                <a:ea typeface="Calibri" pitchFamily="34" charset="-122"/>
                <a:cs typeface="Calibri" pitchFamily="34" charset="-120"/>
              </a:rPr>
              <a:t>   refers to King John's left leg — without inventing a brand-new constant symbol for it.</a:t>
            </a:r>
            <a:endParaRPr lang="en-US" sz="2200" dirty="0"/>
          </a:p>
        </p:txBody>
      </p:sp>
      <p:sp>
        <p:nvSpPr>
          <p:cNvPr id="6" name="Text 4"/>
          <p:cNvSpPr/>
          <p:nvPr/>
        </p:nvSpPr>
        <p:spPr>
          <a:xfrm>
            <a:off x="868680" y="2606040"/>
            <a:ext cx="10515600" cy="594360"/>
          </a:xfrm>
          <a:prstGeom prst="rect">
            <a:avLst/>
          </a:prstGeom>
          <a:noFill/>
          <a:ln/>
        </p:spPr>
        <p:txBody>
          <a:bodyPr wrap="square" rtlCol="0" anchor="ctr"/>
          <a:lstStyle/>
          <a:p>
            <a:pPr indent="0" marL="0">
              <a:lnSpc>
                <a:spcPct val="120000"/>
              </a:lnSpc>
              <a:buNone/>
            </a:pPr>
            <a:r>
              <a:rPr lang="en-US" sz="1250" i="1" dirty="0">
                <a:solidFill>
                  <a:srgbClr val="9FB1CC"/>
                </a:solidFill>
                <a:latin typeface="Calibri" pitchFamily="34" charset="0"/>
                <a:ea typeface="Calibri" pitchFamily="34" charset="-122"/>
                <a:cs typeface="Calibri" pitchFamily="34" charset="-120"/>
              </a:rPr>
              <a:t>Important: LeftLeg is not a subroutine that “runs” and “returns a value.” It's just a complicated name. We can reason about it (“everyone has a left leg”) without ever defining it computationally.</a:t>
            </a:r>
            <a:endParaRPr lang="en-US" sz="1250" dirty="0"/>
          </a:p>
        </p:txBody>
      </p:sp>
      <p:sp>
        <p:nvSpPr>
          <p:cNvPr id="7" name="Shape 5"/>
          <p:cNvSpPr/>
          <p:nvPr/>
        </p:nvSpPr>
        <p:spPr>
          <a:xfrm>
            <a:off x="548640" y="3520440"/>
            <a:ext cx="11109960" cy="1737360"/>
          </a:xfrm>
          <a:prstGeom prst="roundRect">
            <a:avLst>
              <a:gd name="adj" fmla="val 42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8" name="Shape 6"/>
          <p:cNvSpPr/>
          <p:nvPr/>
        </p:nvSpPr>
        <p:spPr>
          <a:xfrm>
            <a:off x="749808" y="3721608"/>
            <a:ext cx="384048" cy="384048"/>
          </a:xfrm>
          <a:prstGeom prst="ellipse">
            <a:avLst/>
          </a:prstGeom>
          <a:solidFill>
            <a:srgbClr val="40D17D"/>
          </a:solidFill>
          <a:ln/>
        </p:spPr>
      </p:sp>
      <p:sp>
        <p:nvSpPr>
          <p:cNvPr id="9" name="Text 7"/>
          <p:cNvSpPr/>
          <p:nvPr/>
        </p:nvSpPr>
        <p:spPr>
          <a:xfrm>
            <a:off x="749808" y="372160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0" name="Text 8"/>
          <p:cNvSpPr/>
          <p:nvPr/>
        </p:nvSpPr>
        <p:spPr>
          <a:xfrm>
            <a:off x="1280160" y="3703320"/>
            <a:ext cx="10195560" cy="274320"/>
          </a:xfrm>
          <a:prstGeom prst="rect">
            <a:avLst/>
          </a:prstGeom>
          <a:noFill/>
          <a:ln/>
        </p:spPr>
        <p:txBody>
          <a:bodyPr wrap="square" rtlCol="0" anchor="ctr"/>
          <a:lstStyle/>
          <a:p>
            <a:pPr indent="0" marL="0">
              <a:buNone/>
            </a:pPr>
            <a:r>
              <a:rPr lang="en-US" sz="1200" b="1" spc="100" kern="0" dirty="0">
                <a:solidFill>
                  <a:srgbClr val="40D17D"/>
                </a:solidFill>
                <a:latin typeface="Calibri" pitchFamily="34" charset="0"/>
                <a:ea typeface="Calibri" pitchFamily="34" charset="-122"/>
                <a:cs typeface="Calibri" pitchFamily="34" charset="-120"/>
              </a:rPr>
              <a:t>ANALOGY</a:t>
            </a:r>
            <a:endParaRPr lang="en-US" sz="1200" dirty="0"/>
          </a:p>
        </p:txBody>
      </p:sp>
      <p:sp>
        <p:nvSpPr>
          <p:cNvPr id="11" name="Text 9"/>
          <p:cNvSpPr/>
          <p:nvPr/>
        </p:nvSpPr>
        <p:spPr>
          <a:xfrm>
            <a:off x="1280160" y="3995928"/>
            <a:ext cx="10149840" cy="107899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This is exactly how we talk about people we haven't formally named: “my mom's coworker” or “the winner of last year's tournament”. You don't need to know their proper name to refer to them precisely and reason about them (“my mom's coworker probably drives to the same office”) — the description itself pins down exactly one person, the same way LeftLeg(John) pins down exactly one leg.</a:t>
            </a:r>
            <a:endParaRPr lang="en-US" sz="1350" dirty="0"/>
          </a:p>
        </p:txBody>
      </p:sp>
      <p:sp>
        <p:nvSpPr>
          <p:cNvPr id="12" name="Shape 10"/>
          <p:cNvSpPr/>
          <p:nvPr/>
        </p:nvSpPr>
        <p:spPr>
          <a:xfrm>
            <a:off x="548640" y="5440680"/>
            <a:ext cx="11109960" cy="914400"/>
          </a:xfrm>
          <a:prstGeom prst="roundRect">
            <a:avLst>
              <a:gd name="adj" fmla="val 8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Text 11"/>
          <p:cNvSpPr/>
          <p:nvPr/>
        </p:nvSpPr>
        <p:spPr>
          <a:xfrm>
            <a:off x="868680" y="5532120"/>
            <a:ext cx="10515600" cy="731520"/>
          </a:xfrm>
          <a:prstGeom prst="rect">
            <a:avLst/>
          </a:prstGeom>
          <a:noFill/>
          <a:ln/>
        </p:spPr>
        <p:txBody>
          <a:bodyPr wrap="square" rtlCol="0" anchor="ctr"/>
          <a:lstStyle/>
          <a:p>
            <a:pPr indent="0" marL="0">
              <a:buNone/>
            </a:pPr>
            <a:r>
              <a:rPr lang="en-US" sz="1250" dirty="0">
                <a:solidFill>
                  <a:srgbClr val="9FB1CC"/>
                </a:solidFill>
                <a:latin typeface="Calibri" pitchFamily="34" charset="0"/>
                <a:ea typeface="Calibri" pitchFamily="34" charset="-122"/>
                <a:cs typeface="Calibri" pitchFamily="34" charset="-120"/>
              </a:rPr>
              <a:t>A term with no variables at all is called a ground term (e.g. LeftLeg(John)). A variable, like x, is itself a term — so LeftLeg(x) is also valid.</a:t>
            </a:r>
            <a:endParaRPr lang="en-US" sz="1250" dirty="0"/>
          </a:p>
        </p:txBody>
      </p:sp>
      <p:sp>
        <p:nvSpPr>
          <p:cNvPr id="14" name="Text 12"/>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8.2.4 ATOMIC SENTENCES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700" b="1" dirty="0">
                <a:solidFill>
                  <a:srgbClr val="F4F7FB"/>
                </a:solidFill>
                <a:latin typeface="Calibri" pitchFamily="34" charset="0"/>
                <a:ea typeface="Calibri" pitchFamily="34" charset="-122"/>
                <a:cs typeface="Calibri" pitchFamily="34" charset="-120"/>
              </a:rPr>
              <a:t>Atomic sentences: the smallest true/false claims</a:t>
            </a:r>
            <a:endParaRPr lang="en-US" sz="2700" dirty="0"/>
          </a:p>
        </p:txBody>
      </p:sp>
      <p:sp>
        <p:nvSpPr>
          <p:cNvPr id="4" name="Shape 2"/>
          <p:cNvSpPr/>
          <p:nvPr/>
        </p:nvSpPr>
        <p:spPr>
          <a:xfrm>
            <a:off x="548640" y="1737360"/>
            <a:ext cx="5394960" cy="4206240"/>
          </a:xfrm>
          <a:prstGeom prst="roundRect">
            <a:avLst>
              <a:gd name="adj" fmla="val 173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965960"/>
            <a:ext cx="4846320" cy="457200"/>
          </a:xfrm>
          <a:prstGeom prst="rect">
            <a:avLst/>
          </a:prstGeom>
          <a:noFill/>
          <a:ln/>
        </p:spPr>
        <p:txBody>
          <a:bodyPr wrap="square" rtlCol="0" anchor="ctr"/>
          <a:lstStyle/>
          <a:p>
            <a:pPr indent="0" marL="0">
              <a:buNone/>
            </a:pPr>
            <a:r>
              <a:rPr lang="en-US" sz="1800" b="1" dirty="0">
                <a:solidFill>
                  <a:srgbClr val="4FD1E8"/>
                </a:solidFill>
                <a:latin typeface="Consolas" pitchFamily="34" charset="0"/>
                <a:ea typeface="Consolas" pitchFamily="34" charset="-122"/>
                <a:cs typeface="Consolas" pitchFamily="34" charset="-120"/>
              </a:rPr>
              <a:t>Brother(Richard, John)</a:t>
            </a:r>
            <a:endParaRPr lang="en-US" sz="1800" dirty="0"/>
          </a:p>
        </p:txBody>
      </p:sp>
      <p:sp>
        <p:nvSpPr>
          <p:cNvPr id="6" name="Text 4"/>
          <p:cNvSpPr/>
          <p:nvPr/>
        </p:nvSpPr>
        <p:spPr>
          <a:xfrm>
            <a:off x="868680" y="2514600"/>
            <a:ext cx="4846320" cy="457200"/>
          </a:xfrm>
          <a:prstGeom prst="rect">
            <a:avLst/>
          </a:prstGeom>
          <a:noFill/>
          <a:ln/>
        </p:spPr>
        <p:txBody>
          <a:bodyPr wrap="square" rtlCol="0" anchor="ctr"/>
          <a:lstStyle/>
          <a:p>
            <a:pPr indent="0" marL="0">
              <a:buNone/>
            </a:pPr>
            <a:r>
              <a:rPr lang="en-US" sz="1350" i="1" dirty="0">
                <a:solidFill>
                  <a:srgbClr val="F4F7FB"/>
                </a:solidFill>
                <a:latin typeface="Calibri" pitchFamily="34" charset="0"/>
                <a:ea typeface="Calibri" pitchFamily="34" charset="-122"/>
                <a:cs typeface="Calibri" pitchFamily="34" charset="-120"/>
              </a:rPr>
              <a:t>“Richard the Lionheart is the brother of King John.”</a:t>
            </a:r>
            <a:endParaRPr lang="en-US" sz="1350" dirty="0"/>
          </a:p>
        </p:txBody>
      </p:sp>
      <p:sp>
        <p:nvSpPr>
          <p:cNvPr id="7" name="Shape 5"/>
          <p:cNvSpPr/>
          <p:nvPr/>
        </p:nvSpPr>
        <p:spPr>
          <a:xfrm>
            <a:off x="868680" y="3154680"/>
            <a:ext cx="4846320" cy="0"/>
          </a:xfrm>
          <a:prstGeom prst="line">
            <a:avLst/>
          </a:prstGeom>
          <a:noFill/>
          <a:ln w="12700">
            <a:solidFill>
              <a:srgbClr val="2A3A5C"/>
            </a:solidFill>
            <a:prstDash val="solid"/>
          </a:ln>
        </p:spPr>
      </p:sp>
      <p:sp>
        <p:nvSpPr>
          <p:cNvPr id="8" name="Text 6"/>
          <p:cNvSpPr/>
          <p:nvPr/>
        </p:nvSpPr>
        <p:spPr>
          <a:xfrm>
            <a:off x="868680" y="3337560"/>
            <a:ext cx="4846320" cy="640080"/>
          </a:xfrm>
          <a:prstGeom prst="rect">
            <a:avLst/>
          </a:prstGeom>
          <a:noFill/>
          <a:ln/>
        </p:spPr>
        <p:txBody>
          <a:bodyPr wrap="square" rtlCol="0" anchor="ctr"/>
          <a:lstStyle/>
          <a:p>
            <a:pPr indent="0" marL="0">
              <a:buNone/>
            </a:pPr>
            <a:r>
              <a:rPr lang="en-US" sz="1500" b="1" dirty="0">
                <a:solidFill>
                  <a:srgbClr val="A78BFA"/>
                </a:solidFill>
                <a:latin typeface="Consolas" pitchFamily="34" charset="0"/>
                <a:ea typeface="Consolas" pitchFamily="34" charset="-122"/>
                <a:cs typeface="Consolas" pitchFamily="34" charset="-120"/>
              </a:rPr>
              <a:t>Married(Father(Richard), Mother(John))</a:t>
            </a:r>
            <a:endParaRPr lang="en-US" sz="1500" dirty="0"/>
          </a:p>
        </p:txBody>
      </p:sp>
      <p:sp>
        <p:nvSpPr>
          <p:cNvPr id="9" name="Text 7"/>
          <p:cNvSpPr/>
          <p:nvPr/>
        </p:nvSpPr>
        <p:spPr>
          <a:xfrm>
            <a:off x="868680" y="4023360"/>
            <a:ext cx="4846320" cy="685800"/>
          </a:xfrm>
          <a:prstGeom prst="rect">
            <a:avLst/>
          </a:prstGeom>
          <a:noFill/>
          <a:ln/>
        </p:spPr>
        <p:txBody>
          <a:bodyPr wrap="square" rtlCol="0" anchor="ctr"/>
          <a:lstStyle/>
          <a:p>
            <a:pPr indent="0" marL="0">
              <a:buNone/>
            </a:pPr>
            <a:r>
              <a:rPr lang="en-US" sz="1350" i="1" dirty="0">
                <a:solidFill>
                  <a:srgbClr val="F4F7FB"/>
                </a:solidFill>
                <a:latin typeface="Calibri" pitchFamily="34" charset="0"/>
                <a:ea typeface="Calibri" pitchFamily="34" charset="-122"/>
                <a:cs typeface="Calibri" pitchFamily="34" charset="-120"/>
              </a:rPr>
              <a:t>Complex terms can be arguments too — “Richard's father is married to John's mother.”</a:t>
            </a:r>
            <a:endParaRPr lang="en-US" sz="1350" dirty="0"/>
          </a:p>
        </p:txBody>
      </p:sp>
      <p:sp>
        <p:nvSpPr>
          <p:cNvPr id="10" name="Text 8"/>
          <p:cNvSpPr/>
          <p:nvPr/>
        </p:nvSpPr>
        <p:spPr>
          <a:xfrm>
            <a:off x="868680" y="4892040"/>
            <a:ext cx="4846320" cy="914400"/>
          </a:xfrm>
          <a:prstGeom prst="rect">
            <a:avLst/>
          </a:prstGeom>
          <a:noFill/>
          <a:ln/>
        </p:spPr>
        <p:txBody>
          <a:bodyPr wrap="square" rtlCol="0" anchor="ctr"/>
          <a:lstStyle/>
          <a:p>
            <a:pPr indent="0" marL="0">
              <a:lnSpc>
                <a:spcPct val="120000"/>
              </a:lnSpc>
              <a:buNone/>
            </a:pPr>
            <a:r>
              <a:rPr lang="en-US" sz="1200" dirty="0">
                <a:solidFill>
                  <a:srgbClr val="9FB1CC"/>
                </a:solidFill>
                <a:latin typeface="Calibri" pitchFamily="34" charset="0"/>
                <a:ea typeface="Calibri" pitchFamily="34" charset="-122"/>
                <a:cs typeface="Calibri" pitchFamily="34" charset="-120"/>
              </a:rPr>
              <a:t>An atomic sentence is true exactly when the relation holds among the objects the terms refer to.</a:t>
            </a:r>
            <a:endParaRPr lang="en-US" sz="1200" dirty="0"/>
          </a:p>
        </p:txBody>
      </p:sp>
      <p:sp>
        <p:nvSpPr>
          <p:cNvPr id="11" name="Shape 9"/>
          <p:cNvSpPr/>
          <p:nvPr/>
        </p:nvSpPr>
        <p:spPr>
          <a:xfrm>
            <a:off x="6217920" y="1737360"/>
            <a:ext cx="5257800" cy="4206240"/>
          </a:xfrm>
          <a:prstGeom prst="roundRect">
            <a:avLst>
              <a:gd name="adj" fmla="val 173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2" name="Shape 10"/>
          <p:cNvSpPr/>
          <p:nvPr/>
        </p:nvSpPr>
        <p:spPr>
          <a:xfrm>
            <a:off x="6419088" y="1938528"/>
            <a:ext cx="384048" cy="384048"/>
          </a:xfrm>
          <a:prstGeom prst="ellipse">
            <a:avLst/>
          </a:prstGeom>
          <a:solidFill>
            <a:srgbClr val="FFC857"/>
          </a:solidFill>
          <a:ln/>
        </p:spPr>
      </p:sp>
      <p:sp>
        <p:nvSpPr>
          <p:cNvPr id="13" name="Text 11"/>
          <p:cNvSpPr/>
          <p:nvPr/>
        </p:nvSpPr>
        <p:spPr>
          <a:xfrm>
            <a:off x="6419088" y="193852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4" name="Text 12"/>
          <p:cNvSpPr/>
          <p:nvPr/>
        </p:nvSpPr>
        <p:spPr>
          <a:xfrm>
            <a:off x="6949440" y="1920240"/>
            <a:ext cx="434340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15" name="Text 13"/>
          <p:cNvSpPr/>
          <p:nvPr/>
        </p:nvSpPr>
        <p:spPr>
          <a:xfrm>
            <a:off x="6949440" y="2212848"/>
            <a:ext cx="4297680" cy="35478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An atomic sentence is a single, minimal claim on a form — like one checkbox on a census form: “Person A is related to Person B as: [ ] sibling.” You can't split it into smaller true/false pieces; it's either checked or it isn't. Sentences get complicated later by combining many of these single checkboxes together.</a:t>
            </a:r>
            <a:endParaRPr lang="en-US" sz="1350" dirty="0"/>
          </a:p>
        </p:txBody>
      </p:sp>
      <p:sp>
        <p:nvSpPr>
          <p:cNvPr id="16" name="Text 14"/>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8.2.5 COMPLEX SENTENCES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Same connectives, richer building blocks</a:t>
            </a:r>
            <a:endParaRPr lang="en-US" sz="2800" dirty="0"/>
          </a:p>
        </p:txBody>
      </p:sp>
      <p:sp>
        <p:nvSpPr>
          <p:cNvPr id="4" name="Shape 2"/>
          <p:cNvSpPr/>
          <p:nvPr/>
        </p:nvSpPr>
        <p:spPr>
          <a:xfrm>
            <a:off x="548640" y="1691640"/>
            <a:ext cx="11109960" cy="822960"/>
          </a:xfrm>
          <a:prstGeom prst="roundRect">
            <a:avLst>
              <a:gd name="adj" fmla="val 888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77240" y="1874520"/>
            <a:ext cx="73152" cy="457200"/>
          </a:xfrm>
          <a:prstGeom prst="roundRect">
            <a:avLst>
              <a:gd name="adj" fmla="val 50000"/>
            </a:avLst>
          </a:prstGeom>
          <a:solidFill>
            <a:srgbClr val="FF5D73"/>
          </a:solidFill>
          <a:ln/>
        </p:spPr>
      </p:sp>
      <p:sp>
        <p:nvSpPr>
          <p:cNvPr id="6" name="Text 4"/>
          <p:cNvSpPr/>
          <p:nvPr/>
        </p:nvSpPr>
        <p:spPr>
          <a:xfrm>
            <a:off x="1005840" y="1764792"/>
            <a:ext cx="6035040" cy="676656"/>
          </a:xfrm>
          <a:prstGeom prst="rect">
            <a:avLst/>
          </a:prstGeom>
          <a:noFill/>
          <a:ln/>
        </p:spPr>
        <p:txBody>
          <a:bodyPr wrap="square" rtlCol="0" anchor="ctr"/>
          <a:lstStyle/>
          <a:p>
            <a:pPr indent="0" marL="0">
              <a:buNone/>
            </a:pPr>
            <a:r>
              <a:rPr lang="en-US" sz="1500" b="1" dirty="0">
                <a:solidFill>
                  <a:srgbClr val="F4F7FB"/>
                </a:solidFill>
                <a:latin typeface="Consolas" pitchFamily="34" charset="0"/>
                <a:ea typeface="Consolas" pitchFamily="34" charset="-122"/>
                <a:cs typeface="Consolas" pitchFamily="34" charset="-120"/>
              </a:rPr>
              <a:t>¬Brother(LeftLeg(Richard), John)</a:t>
            </a:r>
            <a:endParaRPr lang="en-US" sz="1500" dirty="0"/>
          </a:p>
        </p:txBody>
      </p:sp>
      <p:sp>
        <p:nvSpPr>
          <p:cNvPr id="7" name="Text 5"/>
          <p:cNvSpPr/>
          <p:nvPr/>
        </p:nvSpPr>
        <p:spPr>
          <a:xfrm>
            <a:off x="7178040" y="1764792"/>
            <a:ext cx="4343400" cy="676656"/>
          </a:xfrm>
          <a:prstGeom prst="rect">
            <a:avLst/>
          </a:prstGeom>
          <a:noFill/>
          <a:ln/>
        </p:spPr>
        <p:txBody>
          <a:bodyPr wrap="square" rtlCol="0" anchor="ctr"/>
          <a:lstStyle/>
          <a:p>
            <a:pPr indent="0" marL="0">
              <a:buNone/>
            </a:pPr>
            <a:r>
              <a:rPr lang="en-US" sz="1250" i="1" dirty="0">
                <a:solidFill>
                  <a:srgbClr val="9FB1CC"/>
                </a:solidFill>
                <a:latin typeface="Calibri" pitchFamily="34" charset="0"/>
                <a:ea typeface="Calibri" pitchFamily="34" charset="-122"/>
                <a:cs typeface="Calibri" pitchFamily="34" charset="-120"/>
              </a:rPr>
              <a:t>Richard's left leg is not John's brother</a:t>
            </a:r>
            <a:endParaRPr lang="en-US" sz="1250" dirty="0"/>
          </a:p>
        </p:txBody>
      </p:sp>
      <p:sp>
        <p:nvSpPr>
          <p:cNvPr id="8" name="Shape 6"/>
          <p:cNvSpPr/>
          <p:nvPr/>
        </p:nvSpPr>
        <p:spPr>
          <a:xfrm>
            <a:off x="548640" y="2624328"/>
            <a:ext cx="11109960" cy="822960"/>
          </a:xfrm>
          <a:prstGeom prst="roundRect">
            <a:avLst>
              <a:gd name="adj" fmla="val 888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9" name="Shape 7"/>
          <p:cNvSpPr/>
          <p:nvPr/>
        </p:nvSpPr>
        <p:spPr>
          <a:xfrm>
            <a:off x="777240" y="2807208"/>
            <a:ext cx="73152" cy="457200"/>
          </a:xfrm>
          <a:prstGeom prst="roundRect">
            <a:avLst>
              <a:gd name="adj" fmla="val 50000"/>
            </a:avLst>
          </a:prstGeom>
          <a:solidFill>
            <a:srgbClr val="40D17D"/>
          </a:solidFill>
          <a:ln/>
        </p:spPr>
      </p:sp>
      <p:sp>
        <p:nvSpPr>
          <p:cNvPr id="10" name="Text 8"/>
          <p:cNvSpPr/>
          <p:nvPr/>
        </p:nvSpPr>
        <p:spPr>
          <a:xfrm>
            <a:off x="1005840" y="2697480"/>
            <a:ext cx="6035040" cy="676656"/>
          </a:xfrm>
          <a:prstGeom prst="rect">
            <a:avLst/>
          </a:prstGeom>
          <a:noFill/>
          <a:ln/>
        </p:spPr>
        <p:txBody>
          <a:bodyPr wrap="square" rtlCol="0" anchor="ctr"/>
          <a:lstStyle/>
          <a:p>
            <a:pPr indent="0" marL="0">
              <a:buNone/>
            </a:pPr>
            <a:r>
              <a:rPr lang="en-US" sz="1500" b="1" dirty="0">
                <a:solidFill>
                  <a:srgbClr val="F4F7FB"/>
                </a:solidFill>
                <a:latin typeface="Consolas" pitchFamily="34" charset="0"/>
                <a:ea typeface="Consolas" pitchFamily="34" charset="-122"/>
                <a:cs typeface="Consolas" pitchFamily="34" charset="-120"/>
              </a:rPr>
              <a:t>Brother(Richard,John) ∧ Brother(John,Richard)</a:t>
            </a:r>
            <a:endParaRPr lang="en-US" sz="1500" dirty="0"/>
          </a:p>
        </p:txBody>
      </p:sp>
      <p:sp>
        <p:nvSpPr>
          <p:cNvPr id="11" name="Text 9"/>
          <p:cNvSpPr/>
          <p:nvPr/>
        </p:nvSpPr>
        <p:spPr>
          <a:xfrm>
            <a:off x="7178040" y="2697480"/>
            <a:ext cx="4343400" cy="676656"/>
          </a:xfrm>
          <a:prstGeom prst="rect">
            <a:avLst/>
          </a:prstGeom>
          <a:noFill/>
          <a:ln/>
        </p:spPr>
        <p:txBody>
          <a:bodyPr wrap="square" rtlCol="0" anchor="ctr"/>
          <a:lstStyle/>
          <a:p>
            <a:pPr indent="0" marL="0">
              <a:buNone/>
            </a:pPr>
            <a:r>
              <a:rPr lang="en-US" sz="1250" i="1" dirty="0">
                <a:solidFill>
                  <a:srgbClr val="9FB1CC"/>
                </a:solidFill>
                <a:latin typeface="Calibri" pitchFamily="34" charset="0"/>
                <a:ea typeface="Calibri" pitchFamily="34" charset="-122"/>
                <a:cs typeface="Calibri" pitchFamily="34" charset="-120"/>
              </a:rPr>
              <a:t>Both directions of the sibling relation hold</a:t>
            </a:r>
            <a:endParaRPr lang="en-US" sz="1250" dirty="0"/>
          </a:p>
        </p:txBody>
      </p:sp>
      <p:sp>
        <p:nvSpPr>
          <p:cNvPr id="12" name="Shape 10"/>
          <p:cNvSpPr/>
          <p:nvPr/>
        </p:nvSpPr>
        <p:spPr>
          <a:xfrm>
            <a:off x="548640" y="3557016"/>
            <a:ext cx="11109960" cy="822960"/>
          </a:xfrm>
          <a:prstGeom prst="roundRect">
            <a:avLst>
              <a:gd name="adj" fmla="val 888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Shape 11"/>
          <p:cNvSpPr/>
          <p:nvPr/>
        </p:nvSpPr>
        <p:spPr>
          <a:xfrm>
            <a:off x="777240" y="3739896"/>
            <a:ext cx="73152" cy="457200"/>
          </a:xfrm>
          <a:prstGeom prst="roundRect">
            <a:avLst>
              <a:gd name="adj" fmla="val 50000"/>
            </a:avLst>
          </a:prstGeom>
          <a:solidFill>
            <a:srgbClr val="4FD1E8"/>
          </a:solidFill>
          <a:ln/>
        </p:spPr>
      </p:sp>
      <p:sp>
        <p:nvSpPr>
          <p:cNvPr id="14" name="Text 12"/>
          <p:cNvSpPr/>
          <p:nvPr/>
        </p:nvSpPr>
        <p:spPr>
          <a:xfrm>
            <a:off x="1005840" y="3630168"/>
            <a:ext cx="6035040" cy="676656"/>
          </a:xfrm>
          <a:prstGeom prst="rect">
            <a:avLst/>
          </a:prstGeom>
          <a:noFill/>
          <a:ln/>
        </p:spPr>
        <p:txBody>
          <a:bodyPr wrap="square" rtlCol="0" anchor="ctr"/>
          <a:lstStyle/>
          <a:p>
            <a:pPr indent="0" marL="0">
              <a:buNone/>
            </a:pPr>
            <a:r>
              <a:rPr lang="en-US" sz="1500" b="1" dirty="0">
                <a:solidFill>
                  <a:srgbClr val="F4F7FB"/>
                </a:solidFill>
                <a:latin typeface="Consolas" pitchFamily="34" charset="0"/>
                <a:ea typeface="Consolas" pitchFamily="34" charset="-122"/>
                <a:cs typeface="Consolas" pitchFamily="34" charset="-120"/>
              </a:rPr>
              <a:t>King(Richard) ∨ King(John)</a:t>
            </a:r>
            <a:endParaRPr lang="en-US" sz="1500" dirty="0"/>
          </a:p>
        </p:txBody>
      </p:sp>
      <p:sp>
        <p:nvSpPr>
          <p:cNvPr id="15" name="Text 13"/>
          <p:cNvSpPr/>
          <p:nvPr/>
        </p:nvSpPr>
        <p:spPr>
          <a:xfrm>
            <a:off x="7178040" y="3630168"/>
            <a:ext cx="4343400" cy="676656"/>
          </a:xfrm>
          <a:prstGeom prst="rect">
            <a:avLst/>
          </a:prstGeom>
          <a:noFill/>
          <a:ln/>
        </p:spPr>
        <p:txBody>
          <a:bodyPr wrap="square" rtlCol="0" anchor="ctr"/>
          <a:lstStyle/>
          <a:p>
            <a:pPr indent="0" marL="0">
              <a:buNone/>
            </a:pPr>
            <a:r>
              <a:rPr lang="en-US" sz="1250" i="1" dirty="0">
                <a:solidFill>
                  <a:srgbClr val="9FB1CC"/>
                </a:solidFill>
                <a:latin typeface="Calibri" pitchFamily="34" charset="0"/>
                <a:ea typeface="Calibri" pitchFamily="34" charset="-122"/>
                <a:cs typeface="Calibri" pitchFamily="34" charset="-120"/>
              </a:rPr>
              <a:t>At least one of them is king</a:t>
            </a:r>
            <a:endParaRPr lang="en-US" sz="1250" dirty="0"/>
          </a:p>
        </p:txBody>
      </p:sp>
      <p:sp>
        <p:nvSpPr>
          <p:cNvPr id="16" name="Shape 14"/>
          <p:cNvSpPr/>
          <p:nvPr/>
        </p:nvSpPr>
        <p:spPr>
          <a:xfrm>
            <a:off x="548640" y="4489704"/>
            <a:ext cx="11109960" cy="822960"/>
          </a:xfrm>
          <a:prstGeom prst="roundRect">
            <a:avLst>
              <a:gd name="adj" fmla="val 888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7" name="Shape 15"/>
          <p:cNvSpPr/>
          <p:nvPr/>
        </p:nvSpPr>
        <p:spPr>
          <a:xfrm>
            <a:off x="777240" y="4672584"/>
            <a:ext cx="73152" cy="457200"/>
          </a:xfrm>
          <a:prstGeom prst="roundRect">
            <a:avLst>
              <a:gd name="adj" fmla="val 50000"/>
            </a:avLst>
          </a:prstGeom>
          <a:solidFill>
            <a:srgbClr val="A78BFA"/>
          </a:solidFill>
          <a:ln/>
        </p:spPr>
      </p:sp>
      <p:sp>
        <p:nvSpPr>
          <p:cNvPr id="18" name="Text 16"/>
          <p:cNvSpPr/>
          <p:nvPr/>
        </p:nvSpPr>
        <p:spPr>
          <a:xfrm>
            <a:off x="1005840" y="4562856"/>
            <a:ext cx="6035040" cy="676656"/>
          </a:xfrm>
          <a:prstGeom prst="rect">
            <a:avLst/>
          </a:prstGeom>
          <a:noFill/>
          <a:ln/>
        </p:spPr>
        <p:txBody>
          <a:bodyPr wrap="square" rtlCol="0" anchor="ctr"/>
          <a:lstStyle/>
          <a:p>
            <a:pPr indent="0" marL="0">
              <a:buNone/>
            </a:pPr>
            <a:r>
              <a:rPr lang="en-US" sz="1500" b="1" dirty="0">
                <a:solidFill>
                  <a:srgbClr val="F4F7FB"/>
                </a:solidFill>
                <a:latin typeface="Consolas" pitchFamily="34" charset="0"/>
                <a:ea typeface="Consolas" pitchFamily="34" charset="-122"/>
                <a:cs typeface="Consolas" pitchFamily="34" charset="-120"/>
              </a:rPr>
              <a:t>¬King(Richard) ⇒ King(John)</a:t>
            </a:r>
            <a:endParaRPr lang="en-US" sz="1500" dirty="0"/>
          </a:p>
        </p:txBody>
      </p:sp>
      <p:sp>
        <p:nvSpPr>
          <p:cNvPr id="19" name="Text 17"/>
          <p:cNvSpPr/>
          <p:nvPr/>
        </p:nvSpPr>
        <p:spPr>
          <a:xfrm>
            <a:off x="7178040" y="4562856"/>
            <a:ext cx="4343400" cy="676656"/>
          </a:xfrm>
          <a:prstGeom prst="rect">
            <a:avLst/>
          </a:prstGeom>
          <a:noFill/>
          <a:ln/>
        </p:spPr>
        <p:txBody>
          <a:bodyPr wrap="square" rtlCol="0" anchor="ctr"/>
          <a:lstStyle/>
          <a:p>
            <a:pPr indent="0" marL="0">
              <a:buNone/>
            </a:pPr>
            <a:r>
              <a:rPr lang="en-US" sz="1250" i="1" dirty="0">
                <a:solidFill>
                  <a:srgbClr val="9FB1CC"/>
                </a:solidFill>
                <a:latin typeface="Calibri" pitchFamily="34" charset="0"/>
                <a:ea typeface="Calibri" pitchFamily="34" charset="-122"/>
                <a:cs typeface="Calibri" pitchFamily="34" charset="-120"/>
              </a:rPr>
              <a:t>If Richard isn't king, then John is</a:t>
            </a:r>
            <a:endParaRPr lang="en-US" sz="1250" dirty="0"/>
          </a:p>
        </p:txBody>
      </p:sp>
      <p:sp>
        <p:nvSpPr>
          <p:cNvPr id="20" name="Text 18"/>
          <p:cNvSpPr/>
          <p:nvPr/>
        </p:nvSpPr>
        <p:spPr>
          <a:xfrm>
            <a:off x="548640" y="5559552"/>
            <a:ext cx="11109960" cy="457200"/>
          </a:xfrm>
          <a:prstGeom prst="rect">
            <a:avLst/>
          </a:prstGeom>
          <a:noFill/>
          <a:ln/>
        </p:spPr>
        <p:txBody>
          <a:bodyPr wrap="square" rtlCol="0" anchor="ctr"/>
          <a:lstStyle/>
          <a:p>
            <a:pPr indent="0" marL="0">
              <a:buNone/>
            </a:pPr>
            <a:r>
              <a:rPr lang="en-US" sz="1250" i="1" dirty="0">
                <a:solidFill>
                  <a:srgbClr val="9FB1CC"/>
                </a:solidFill>
                <a:latin typeface="Calibri" pitchFamily="34" charset="0"/>
                <a:ea typeface="Calibri" pitchFamily="34" charset="-122"/>
                <a:cs typeface="Calibri" pitchFamily="34" charset="-120"/>
              </a:rPr>
              <a:t>Connectives (¬ ∧ ∨ ⇒ ⇔) keep the exact same syntax and semantics as propositional logic — only the atoms underneath got richer.</a:t>
            </a:r>
            <a:endParaRPr lang="en-US" sz="1250" dirty="0"/>
          </a:p>
        </p:txBody>
      </p:sp>
      <p:sp>
        <p:nvSpPr>
          <p:cNvPr id="21" name="Text 19"/>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8.2.6 QUANTIFIERS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Universal quantification: ∀  — “for all”</a:t>
            </a:r>
            <a:endParaRPr lang="en-US" sz="2800" dirty="0"/>
          </a:p>
        </p:txBody>
      </p:sp>
      <p:sp>
        <p:nvSpPr>
          <p:cNvPr id="4" name="Shape 2"/>
          <p:cNvSpPr/>
          <p:nvPr/>
        </p:nvSpPr>
        <p:spPr>
          <a:xfrm>
            <a:off x="548640" y="1691640"/>
            <a:ext cx="5532120" cy="2331720"/>
          </a:xfrm>
          <a:prstGeom prst="roundRect">
            <a:avLst>
              <a:gd name="adj" fmla="val 3137"/>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920240"/>
            <a:ext cx="4937760" cy="502920"/>
          </a:xfrm>
          <a:prstGeom prst="rect">
            <a:avLst/>
          </a:prstGeom>
          <a:noFill/>
          <a:ln/>
        </p:spPr>
        <p:txBody>
          <a:bodyPr wrap="square" rtlCol="0" anchor="ctr"/>
          <a:lstStyle/>
          <a:p>
            <a:pPr indent="0" marL="0">
              <a:buNone/>
            </a:pPr>
            <a:r>
              <a:rPr lang="en-US" sz="1900" b="1" dirty="0">
                <a:solidFill>
                  <a:srgbClr val="4FD1E8"/>
                </a:solidFill>
                <a:latin typeface="Consolas" pitchFamily="34" charset="0"/>
                <a:ea typeface="Consolas" pitchFamily="34" charset="-122"/>
                <a:cs typeface="Consolas" pitchFamily="34" charset="-120"/>
              </a:rPr>
              <a:t>∀x King(x) ⇒ Person(x)</a:t>
            </a:r>
            <a:endParaRPr lang="en-US" sz="1900" dirty="0"/>
          </a:p>
        </p:txBody>
      </p:sp>
      <p:sp>
        <p:nvSpPr>
          <p:cNvPr id="6" name="Text 4"/>
          <p:cNvSpPr/>
          <p:nvPr/>
        </p:nvSpPr>
        <p:spPr>
          <a:xfrm>
            <a:off x="868680" y="2514600"/>
            <a:ext cx="4937760" cy="457200"/>
          </a:xfrm>
          <a:prstGeom prst="rect">
            <a:avLst/>
          </a:prstGeom>
          <a:noFill/>
          <a:ln/>
        </p:spPr>
        <p:txBody>
          <a:bodyPr wrap="square" rtlCol="0" anchor="ctr"/>
          <a:lstStyle/>
          <a:p>
            <a:pPr indent="0" marL="0">
              <a:buNone/>
            </a:pPr>
            <a:r>
              <a:rPr lang="en-US" sz="1350" i="1" dirty="0">
                <a:solidFill>
                  <a:srgbClr val="F4F7FB"/>
                </a:solidFill>
                <a:latin typeface="Calibri" pitchFamily="34" charset="0"/>
                <a:ea typeface="Calibri" pitchFamily="34" charset="-122"/>
                <a:cs typeface="Calibri" pitchFamily="34" charset="-120"/>
              </a:rPr>
              <a:t>“For every x, if x is a king, then x is a person.”</a:t>
            </a:r>
            <a:endParaRPr lang="en-US" sz="1350" dirty="0"/>
          </a:p>
        </p:txBody>
      </p:sp>
      <p:sp>
        <p:nvSpPr>
          <p:cNvPr id="7" name="Text 5"/>
          <p:cNvSpPr/>
          <p:nvPr/>
        </p:nvSpPr>
        <p:spPr>
          <a:xfrm>
            <a:off x="868680" y="3063240"/>
            <a:ext cx="4937760" cy="914400"/>
          </a:xfrm>
          <a:prstGeom prst="rect">
            <a:avLst/>
          </a:prstGeom>
          <a:noFill/>
          <a:ln/>
        </p:spPr>
        <p:txBody>
          <a:bodyPr wrap="square" rtlCol="0" anchor="ctr"/>
          <a:lstStyle/>
          <a:p>
            <a:pPr indent="0" marL="0">
              <a:lnSpc>
                <a:spcPct val="120000"/>
              </a:lnSpc>
              <a:buNone/>
            </a:pPr>
            <a:r>
              <a:rPr lang="en-US" sz="1200" dirty="0">
                <a:solidFill>
                  <a:srgbClr val="9FB1CC"/>
                </a:solidFill>
                <a:latin typeface="Calibri" pitchFamily="34" charset="0"/>
                <a:ea typeface="Calibri" pitchFamily="34" charset="-122"/>
                <a:cs typeface="Calibri" pitchFamily="34" charset="-120"/>
              </a:rPr>
              <a:t>Formally true when King(x)⇒Person(x) holds under every possible extended interpretation of x — checked against every object in the domain.</a:t>
            </a:r>
            <a:endParaRPr lang="en-US" sz="1200" dirty="0"/>
          </a:p>
        </p:txBody>
      </p:sp>
      <p:sp>
        <p:nvSpPr>
          <p:cNvPr id="8" name="Shape 6"/>
          <p:cNvSpPr/>
          <p:nvPr/>
        </p:nvSpPr>
        <p:spPr>
          <a:xfrm>
            <a:off x="6309360" y="1691640"/>
            <a:ext cx="5349240" cy="2331720"/>
          </a:xfrm>
          <a:prstGeom prst="roundRect">
            <a:avLst>
              <a:gd name="adj" fmla="val 3137"/>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9" name="Text 7"/>
          <p:cNvSpPr/>
          <p:nvPr/>
        </p:nvSpPr>
        <p:spPr>
          <a:xfrm>
            <a:off x="6583680" y="1874520"/>
            <a:ext cx="4754880" cy="320040"/>
          </a:xfrm>
          <a:prstGeom prst="rect">
            <a:avLst/>
          </a:prstGeom>
          <a:noFill/>
          <a:ln/>
        </p:spPr>
        <p:txBody>
          <a:bodyPr wrap="square" rtlCol="0" anchor="ctr"/>
          <a:lstStyle/>
          <a:p>
            <a:pPr indent="0" marL="0">
              <a:buNone/>
            </a:pPr>
            <a:r>
              <a:rPr lang="en-US" sz="1300" b="1" dirty="0">
                <a:solidFill>
                  <a:srgbClr val="FFC857"/>
                </a:solidFill>
                <a:latin typeface="Calibri" pitchFamily="34" charset="0"/>
                <a:ea typeface="Calibri" pitchFamily="34" charset="-122"/>
                <a:cs typeface="Calibri" pitchFamily="34" charset="-120"/>
              </a:rPr>
              <a:t>Watch the connective:</a:t>
            </a:r>
            <a:endParaRPr lang="en-US" sz="1300" dirty="0"/>
          </a:p>
        </p:txBody>
      </p:sp>
      <p:sp>
        <p:nvSpPr>
          <p:cNvPr id="10" name="Text 8"/>
          <p:cNvSpPr/>
          <p:nvPr/>
        </p:nvSpPr>
        <p:spPr>
          <a:xfrm>
            <a:off x="6583680" y="2240280"/>
            <a:ext cx="4754880" cy="914400"/>
          </a:xfrm>
          <a:prstGeom prst="rect">
            <a:avLst/>
          </a:prstGeom>
          <a:noFill/>
          <a:ln/>
        </p:spPr>
        <p:txBody>
          <a:bodyPr wrap="square" rtlCol="0" anchor="ctr"/>
          <a:lstStyle/>
          <a:p>
            <a:pPr indent="0" marL="0">
              <a:lnSpc>
                <a:spcPct val="125000"/>
              </a:lnSpc>
              <a:buNone/>
            </a:pPr>
            <a:r>
              <a:rPr lang="en-US" sz="1300" dirty="0">
                <a:solidFill>
                  <a:srgbClr val="F4F7FB"/>
                </a:solidFill>
                <a:latin typeface="Calibri" pitchFamily="34" charset="0"/>
                <a:ea typeface="Calibri" pitchFamily="34" charset="-122"/>
                <a:cs typeface="Calibri" pitchFamily="34" charset="-120"/>
              </a:rPr>
              <a:t>∀ pairs naturally with ⇒. Using ∧ instead would force EVERY object to be both a king AND a person — far too strong a claim.</a:t>
            </a:r>
            <a:endParaRPr lang="en-US" sz="1300" dirty="0"/>
          </a:p>
        </p:txBody>
      </p:sp>
      <p:sp>
        <p:nvSpPr>
          <p:cNvPr id="11" name="Text 9"/>
          <p:cNvSpPr/>
          <p:nvPr/>
        </p:nvSpPr>
        <p:spPr>
          <a:xfrm>
            <a:off x="6583680" y="3246120"/>
            <a:ext cx="4846320" cy="457200"/>
          </a:xfrm>
          <a:prstGeom prst="rect">
            <a:avLst/>
          </a:prstGeom>
          <a:noFill/>
          <a:ln/>
        </p:spPr>
        <p:txBody>
          <a:bodyPr wrap="square" rtlCol="0" anchor="ctr"/>
          <a:lstStyle/>
          <a:p>
            <a:pPr indent="0" marL="0">
              <a:buNone/>
            </a:pPr>
            <a:r>
              <a:rPr lang="en-US" sz="1300" dirty="0">
                <a:solidFill>
                  <a:srgbClr val="FF5D73"/>
                </a:solidFill>
                <a:latin typeface="Consolas" pitchFamily="34" charset="0"/>
                <a:ea typeface="Consolas" pitchFamily="34" charset="-122"/>
                <a:cs typeface="Consolas" pitchFamily="34" charset="-120"/>
              </a:rPr>
              <a:t>∀x King(x) ∧ Person(x)   ✗  (too strong)</a:t>
            </a:r>
            <a:endParaRPr lang="en-US" sz="1300" dirty="0"/>
          </a:p>
        </p:txBody>
      </p:sp>
      <p:sp>
        <p:nvSpPr>
          <p:cNvPr id="12" name="Shape 10"/>
          <p:cNvSpPr/>
          <p:nvPr/>
        </p:nvSpPr>
        <p:spPr>
          <a:xfrm>
            <a:off x="548640" y="4251960"/>
            <a:ext cx="11109960" cy="2148840"/>
          </a:xfrm>
          <a:prstGeom prst="roundRect">
            <a:avLst>
              <a:gd name="adj" fmla="val 3404"/>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Shape 11"/>
          <p:cNvSpPr/>
          <p:nvPr/>
        </p:nvSpPr>
        <p:spPr>
          <a:xfrm>
            <a:off x="749808" y="4453128"/>
            <a:ext cx="384048" cy="384048"/>
          </a:xfrm>
          <a:prstGeom prst="ellipse">
            <a:avLst/>
          </a:prstGeom>
          <a:solidFill>
            <a:srgbClr val="FFC857"/>
          </a:solidFill>
          <a:ln/>
        </p:spPr>
      </p:sp>
      <p:sp>
        <p:nvSpPr>
          <p:cNvPr id="14" name="Text 12"/>
          <p:cNvSpPr/>
          <p:nvPr/>
        </p:nvSpPr>
        <p:spPr>
          <a:xfrm>
            <a:off x="749808" y="445312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5" name="Text 13"/>
          <p:cNvSpPr/>
          <p:nvPr/>
        </p:nvSpPr>
        <p:spPr>
          <a:xfrm>
            <a:off x="1280160" y="4434840"/>
            <a:ext cx="1019556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16" name="Text 14"/>
          <p:cNvSpPr/>
          <p:nvPr/>
        </p:nvSpPr>
        <p:spPr>
          <a:xfrm>
            <a:off x="1280160" y="4727448"/>
            <a:ext cx="10149840" cy="14904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 is a building inspector who checks every single locker in the school, one after another, and confirms each one has a lock. Miss even one open locker, and the universal claim “every locker is locked” is false. That's why it pairs with ⇒: for lockers that turn out not to be lockers at all (say, a supply closet), the rule just doesn't apply to them — it doesn't force them to also be locked.</a:t>
            </a:r>
            <a:endParaRPr lang="en-US" sz="1350" dirty="0"/>
          </a:p>
        </p:txBody>
      </p:sp>
      <p:sp>
        <p:nvSpPr>
          <p:cNvPr id="17" name="Text 15"/>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8.2.6 QUANTIFIERS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Existential quantification: ∃  — “there exists”</a:t>
            </a:r>
            <a:endParaRPr lang="en-US" sz="2800" dirty="0"/>
          </a:p>
        </p:txBody>
      </p:sp>
      <p:sp>
        <p:nvSpPr>
          <p:cNvPr id="4" name="Shape 2"/>
          <p:cNvSpPr/>
          <p:nvPr/>
        </p:nvSpPr>
        <p:spPr>
          <a:xfrm>
            <a:off x="548640" y="1691640"/>
            <a:ext cx="5532120" cy="2331720"/>
          </a:xfrm>
          <a:prstGeom prst="roundRect">
            <a:avLst>
              <a:gd name="adj" fmla="val 3137"/>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920240"/>
            <a:ext cx="4937760" cy="502920"/>
          </a:xfrm>
          <a:prstGeom prst="rect">
            <a:avLst/>
          </a:prstGeom>
          <a:noFill/>
          <a:ln/>
        </p:spPr>
        <p:txBody>
          <a:bodyPr wrap="square" rtlCol="0" anchor="ctr"/>
          <a:lstStyle/>
          <a:p>
            <a:pPr indent="0" marL="0">
              <a:buNone/>
            </a:pPr>
            <a:r>
              <a:rPr lang="en-US" sz="1700" b="1" dirty="0">
                <a:solidFill>
                  <a:srgbClr val="4FD1E8"/>
                </a:solidFill>
                <a:latin typeface="Consolas" pitchFamily="34" charset="0"/>
                <a:ea typeface="Consolas" pitchFamily="34" charset="-122"/>
                <a:cs typeface="Consolas" pitchFamily="34" charset="-120"/>
              </a:rPr>
              <a:t>∃x Crown(x) ∧ OnHead(x,John)</a:t>
            </a:r>
            <a:endParaRPr lang="en-US" sz="1700" dirty="0"/>
          </a:p>
        </p:txBody>
      </p:sp>
      <p:sp>
        <p:nvSpPr>
          <p:cNvPr id="6" name="Text 4"/>
          <p:cNvSpPr/>
          <p:nvPr/>
        </p:nvSpPr>
        <p:spPr>
          <a:xfrm>
            <a:off x="868680" y="2514600"/>
            <a:ext cx="4937760" cy="457200"/>
          </a:xfrm>
          <a:prstGeom prst="rect">
            <a:avLst/>
          </a:prstGeom>
          <a:noFill/>
          <a:ln/>
        </p:spPr>
        <p:txBody>
          <a:bodyPr wrap="square" rtlCol="0" anchor="ctr"/>
          <a:lstStyle/>
          <a:p>
            <a:pPr indent="0" marL="0">
              <a:buNone/>
            </a:pPr>
            <a:r>
              <a:rPr lang="en-US" sz="1350" i="1" dirty="0">
                <a:solidFill>
                  <a:srgbClr val="F4F7FB"/>
                </a:solidFill>
                <a:latin typeface="Calibri" pitchFamily="34" charset="0"/>
                <a:ea typeface="Calibri" pitchFamily="34" charset="-122"/>
                <a:cs typeface="Calibri" pitchFamily="34" charset="-120"/>
              </a:rPr>
              <a:t>“There is some x that is a crown and is on John's head.”</a:t>
            </a:r>
            <a:endParaRPr lang="en-US" sz="1350" dirty="0"/>
          </a:p>
        </p:txBody>
      </p:sp>
      <p:sp>
        <p:nvSpPr>
          <p:cNvPr id="7" name="Text 5"/>
          <p:cNvSpPr/>
          <p:nvPr/>
        </p:nvSpPr>
        <p:spPr>
          <a:xfrm>
            <a:off x="868680" y="3063240"/>
            <a:ext cx="4937760" cy="914400"/>
          </a:xfrm>
          <a:prstGeom prst="rect">
            <a:avLst/>
          </a:prstGeom>
          <a:noFill/>
          <a:ln/>
        </p:spPr>
        <p:txBody>
          <a:bodyPr wrap="square" rtlCol="0" anchor="ctr"/>
          <a:lstStyle/>
          <a:p>
            <a:pPr indent="0" marL="0">
              <a:lnSpc>
                <a:spcPct val="120000"/>
              </a:lnSpc>
              <a:buNone/>
            </a:pPr>
            <a:r>
              <a:rPr lang="en-US" sz="1200" dirty="0">
                <a:solidFill>
                  <a:srgbClr val="9FB1CC"/>
                </a:solidFill>
                <a:latin typeface="Calibri" pitchFamily="34" charset="0"/>
                <a:ea typeface="Calibri" pitchFamily="34" charset="-122"/>
                <a:cs typeface="Calibri" pitchFamily="34" charset="-120"/>
              </a:rPr>
              <a:t>True as soon as at least one extended interpretation of x makes the sentence true — doesn't rule out John wearing two crowns.</a:t>
            </a:r>
            <a:endParaRPr lang="en-US" sz="1200" dirty="0"/>
          </a:p>
        </p:txBody>
      </p:sp>
      <p:sp>
        <p:nvSpPr>
          <p:cNvPr id="8" name="Shape 6"/>
          <p:cNvSpPr/>
          <p:nvPr/>
        </p:nvSpPr>
        <p:spPr>
          <a:xfrm>
            <a:off x="6309360" y="1691640"/>
            <a:ext cx="5349240" cy="2331720"/>
          </a:xfrm>
          <a:prstGeom prst="roundRect">
            <a:avLst>
              <a:gd name="adj" fmla="val 3137"/>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9" name="Text 7"/>
          <p:cNvSpPr/>
          <p:nvPr/>
        </p:nvSpPr>
        <p:spPr>
          <a:xfrm>
            <a:off x="6583680" y="1874520"/>
            <a:ext cx="4754880" cy="320040"/>
          </a:xfrm>
          <a:prstGeom prst="rect">
            <a:avLst/>
          </a:prstGeom>
          <a:noFill/>
          <a:ln/>
        </p:spPr>
        <p:txBody>
          <a:bodyPr wrap="square" rtlCol="0" anchor="ctr"/>
          <a:lstStyle/>
          <a:p>
            <a:pPr indent="0" marL="0">
              <a:buNone/>
            </a:pPr>
            <a:r>
              <a:rPr lang="en-US" sz="1300" b="1" dirty="0">
                <a:solidFill>
                  <a:srgbClr val="FFC857"/>
                </a:solidFill>
                <a:latin typeface="Calibri" pitchFamily="34" charset="0"/>
                <a:ea typeface="Calibri" pitchFamily="34" charset="-122"/>
                <a:cs typeface="Calibri" pitchFamily="34" charset="-120"/>
              </a:rPr>
              <a:t>Watch the connective:</a:t>
            </a:r>
            <a:endParaRPr lang="en-US" sz="1300" dirty="0"/>
          </a:p>
        </p:txBody>
      </p:sp>
      <p:sp>
        <p:nvSpPr>
          <p:cNvPr id="10" name="Text 8"/>
          <p:cNvSpPr/>
          <p:nvPr/>
        </p:nvSpPr>
        <p:spPr>
          <a:xfrm>
            <a:off x="6583680" y="2240280"/>
            <a:ext cx="4754880" cy="914400"/>
          </a:xfrm>
          <a:prstGeom prst="rect">
            <a:avLst/>
          </a:prstGeom>
          <a:noFill/>
          <a:ln/>
        </p:spPr>
        <p:txBody>
          <a:bodyPr wrap="square" rtlCol="0" anchor="ctr"/>
          <a:lstStyle/>
          <a:p>
            <a:pPr indent="0" marL="0">
              <a:lnSpc>
                <a:spcPct val="125000"/>
              </a:lnSpc>
              <a:buNone/>
            </a:pPr>
            <a:r>
              <a:rPr lang="en-US" sz="1300" dirty="0">
                <a:solidFill>
                  <a:srgbClr val="F4F7FB"/>
                </a:solidFill>
                <a:latin typeface="Calibri" pitchFamily="34" charset="0"/>
                <a:ea typeface="Calibri" pitchFamily="34" charset="-122"/>
                <a:cs typeface="Calibri" pitchFamily="34" charset="-120"/>
              </a:rPr>
              <a:t>∃ pairs naturally with ∧. Using ⇒ instead makes the claim almost meaningless — any object that simply isn't a crown satisfies it.</a:t>
            </a:r>
            <a:endParaRPr lang="en-US" sz="1300" dirty="0"/>
          </a:p>
        </p:txBody>
      </p:sp>
      <p:sp>
        <p:nvSpPr>
          <p:cNvPr id="11" name="Text 9"/>
          <p:cNvSpPr/>
          <p:nvPr/>
        </p:nvSpPr>
        <p:spPr>
          <a:xfrm>
            <a:off x="6583680" y="3246120"/>
            <a:ext cx="4846320" cy="457200"/>
          </a:xfrm>
          <a:prstGeom prst="rect">
            <a:avLst/>
          </a:prstGeom>
          <a:noFill/>
          <a:ln/>
        </p:spPr>
        <p:txBody>
          <a:bodyPr wrap="square" rtlCol="0" anchor="ctr"/>
          <a:lstStyle/>
          <a:p>
            <a:pPr indent="0" marL="0">
              <a:buNone/>
            </a:pPr>
            <a:r>
              <a:rPr lang="en-US" sz="1250" dirty="0">
                <a:solidFill>
                  <a:srgbClr val="FF5D73"/>
                </a:solidFill>
                <a:latin typeface="Consolas" pitchFamily="34" charset="0"/>
                <a:ea typeface="Consolas" pitchFamily="34" charset="-122"/>
                <a:cs typeface="Consolas" pitchFamily="34" charset="-120"/>
              </a:rPr>
              <a:t>∃x Crown(x) ⇒ OnHead(x,John)   ✗  (too weak)</a:t>
            </a:r>
            <a:endParaRPr lang="en-US" sz="1250" dirty="0"/>
          </a:p>
        </p:txBody>
      </p:sp>
      <p:sp>
        <p:nvSpPr>
          <p:cNvPr id="12" name="Shape 10"/>
          <p:cNvSpPr/>
          <p:nvPr/>
        </p:nvSpPr>
        <p:spPr>
          <a:xfrm>
            <a:off x="548640" y="4251960"/>
            <a:ext cx="11109960" cy="2148840"/>
          </a:xfrm>
          <a:prstGeom prst="roundRect">
            <a:avLst>
              <a:gd name="adj" fmla="val 3404"/>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Shape 11"/>
          <p:cNvSpPr/>
          <p:nvPr/>
        </p:nvSpPr>
        <p:spPr>
          <a:xfrm>
            <a:off x="749808" y="4453128"/>
            <a:ext cx="384048" cy="384048"/>
          </a:xfrm>
          <a:prstGeom prst="ellipse">
            <a:avLst/>
          </a:prstGeom>
          <a:solidFill>
            <a:srgbClr val="FFC857"/>
          </a:solidFill>
          <a:ln/>
        </p:spPr>
      </p:sp>
      <p:sp>
        <p:nvSpPr>
          <p:cNvPr id="14" name="Text 12"/>
          <p:cNvSpPr/>
          <p:nvPr/>
        </p:nvSpPr>
        <p:spPr>
          <a:xfrm>
            <a:off x="749808" y="445312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5" name="Text 13"/>
          <p:cNvSpPr/>
          <p:nvPr/>
        </p:nvSpPr>
        <p:spPr>
          <a:xfrm>
            <a:off x="1280160" y="4434840"/>
            <a:ext cx="1019556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16" name="Text 14"/>
          <p:cNvSpPr/>
          <p:nvPr/>
        </p:nvSpPr>
        <p:spPr>
          <a:xfrm>
            <a:off x="1280160" y="4727448"/>
            <a:ext cx="10149840" cy="14904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 is a metal detector sweeping a beach for a lost ring: it only needs to beep once, over one patch of sand, to prove “somewhere on this beach, there is metal.” It pairs with ∧ because you need both conditions true together at that one spot (metal AND in the sand) — not “if this patch has metal then...”, which would let every empty patch of sand “prove” the claim by simply not having metal.</a:t>
            </a:r>
            <a:endParaRPr lang="en-US" sz="1350" dirty="0"/>
          </a:p>
        </p:txBody>
      </p:sp>
      <p:sp>
        <p:nvSpPr>
          <p:cNvPr id="17" name="Text 15"/>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8.2.6 QUANTIFIERS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400" b="1" dirty="0">
                <a:solidFill>
                  <a:srgbClr val="F4F7FB"/>
                </a:solidFill>
                <a:latin typeface="Calibri" pitchFamily="34" charset="0"/>
                <a:ea typeface="Calibri" pitchFamily="34" charset="-122"/>
                <a:cs typeface="Calibri" pitchFamily="34" charset="-120"/>
              </a:rPr>
              <a:t>Order matters: everybody loves somebody ≠ someone loved by everybody</a:t>
            </a:r>
            <a:endParaRPr lang="en-US" sz="2400" dirty="0"/>
          </a:p>
        </p:txBody>
      </p:sp>
      <p:sp>
        <p:nvSpPr>
          <p:cNvPr id="4" name="Shape 2"/>
          <p:cNvSpPr/>
          <p:nvPr/>
        </p:nvSpPr>
        <p:spPr>
          <a:xfrm>
            <a:off x="548640" y="1691640"/>
            <a:ext cx="5349240" cy="3200400"/>
          </a:xfrm>
          <a:prstGeom prst="roundRect">
            <a:avLst>
              <a:gd name="adj" fmla="val 228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22960" y="1874520"/>
            <a:ext cx="4846320" cy="457200"/>
          </a:xfrm>
          <a:prstGeom prst="rect">
            <a:avLst/>
          </a:prstGeom>
          <a:noFill/>
          <a:ln/>
        </p:spPr>
        <p:txBody>
          <a:bodyPr wrap="square" rtlCol="0" anchor="ctr"/>
          <a:lstStyle/>
          <a:p>
            <a:pPr indent="0" marL="0">
              <a:buNone/>
            </a:pPr>
            <a:r>
              <a:rPr lang="en-US" sz="1900" b="1" dirty="0">
                <a:solidFill>
                  <a:srgbClr val="4FD1E8"/>
                </a:solidFill>
                <a:latin typeface="Consolas" pitchFamily="34" charset="0"/>
                <a:ea typeface="Consolas" pitchFamily="34" charset="-122"/>
                <a:cs typeface="Consolas" pitchFamily="34" charset="-120"/>
              </a:rPr>
              <a:t>∀x ∃y Loves(x,y)</a:t>
            </a:r>
            <a:endParaRPr lang="en-US" sz="1900" dirty="0"/>
          </a:p>
        </p:txBody>
      </p:sp>
      <p:sp>
        <p:nvSpPr>
          <p:cNvPr id="6" name="Text 4"/>
          <p:cNvSpPr/>
          <p:nvPr/>
        </p:nvSpPr>
        <p:spPr>
          <a:xfrm>
            <a:off x="822960" y="2377440"/>
            <a:ext cx="4846320" cy="640080"/>
          </a:xfrm>
          <a:prstGeom prst="rect">
            <a:avLst/>
          </a:prstGeom>
          <a:noFill/>
          <a:ln/>
        </p:spPr>
        <p:txBody>
          <a:bodyPr wrap="square" rtlCol="0" anchor="ctr"/>
          <a:lstStyle/>
          <a:p>
            <a:pPr indent="0" marL="0">
              <a:buNone/>
            </a:pPr>
            <a:r>
              <a:rPr lang="en-US" sz="1350" i="1" dirty="0">
                <a:solidFill>
                  <a:srgbClr val="F4F7FB"/>
                </a:solidFill>
                <a:latin typeface="Calibri" pitchFamily="34" charset="0"/>
                <a:ea typeface="Calibri" pitchFamily="34" charset="-122"/>
                <a:cs typeface="Calibri" pitchFamily="34" charset="-120"/>
              </a:rPr>
              <a:t>“Everyone loves somebody” — each person can love a different person.</a:t>
            </a:r>
            <a:endParaRPr lang="en-US" sz="1350" dirty="0"/>
          </a:p>
        </p:txBody>
      </p:sp>
      <p:sp>
        <p:nvSpPr>
          <p:cNvPr id="7" name="Shape 5"/>
          <p:cNvSpPr/>
          <p:nvPr/>
        </p:nvSpPr>
        <p:spPr>
          <a:xfrm>
            <a:off x="868680" y="3246120"/>
            <a:ext cx="502920" cy="502920"/>
          </a:xfrm>
          <a:prstGeom prst="ellipse">
            <a:avLst/>
          </a:prstGeom>
          <a:solidFill>
            <a:srgbClr val="121B2E"/>
          </a:solidFill>
          <a:ln w="19050">
            <a:solidFill>
              <a:srgbClr val="4FD1E8"/>
            </a:solidFill>
            <a:prstDash val="solid"/>
          </a:ln>
        </p:spPr>
      </p:sp>
      <p:sp>
        <p:nvSpPr>
          <p:cNvPr id="8" name="Text 6"/>
          <p:cNvSpPr/>
          <p:nvPr/>
        </p:nvSpPr>
        <p:spPr>
          <a:xfrm>
            <a:off x="868680" y="3246120"/>
            <a:ext cx="502920" cy="502920"/>
          </a:xfrm>
          <a:prstGeom prst="rect">
            <a:avLst/>
          </a:prstGeom>
          <a:noFill/>
          <a:ln/>
        </p:spPr>
        <p:txBody>
          <a:bodyPr wrap="square" rtlCol="0" anchor="ctr"/>
          <a:lstStyle/>
          <a:p>
            <a:pPr algn="ctr" indent="0" marL="0">
              <a:buNone/>
            </a:pPr>
            <a:r>
              <a:rPr lang="en-US" sz="1400" b="1" dirty="0">
                <a:solidFill>
                  <a:srgbClr val="4FD1E8"/>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548640" y="3794760"/>
            <a:ext cx="1143000" cy="274320"/>
          </a:xfrm>
          <a:prstGeom prst="rect">
            <a:avLst/>
          </a:prstGeom>
          <a:noFill/>
          <a:ln/>
        </p:spPr>
        <p:txBody>
          <a:bodyPr wrap="square" rtlCol="0" anchor="ctr"/>
          <a:lstStyle/>
          <a:p>
            <a:pPr algn="ctr" indent="0" marL="0">
              <a:buNone/>
            </a:pPr>
            <a:r>
              <a:rPr lang="en-US" sz="1050" dirty="0">
                <a:solidFill>
                  <a:srgbClr val="9FB1CC"/>
                </a:solidFill>
                <a:latin typeface="Calibri" pitchFamily="34" charset="0"/>
                <a:ea typeface="Calibri" pitchFamily="34" charset="-122"/>
                <a:cs typeface="Calibri" pitchFamily="34" charset="-120"/>
              </a:rPr>
              <a:t>Alice</a:t>
            </a:r>
            <a:endParaRPr lang="en-US" sz="1050" dirty="0"/>
          </a:p>
        </p:txBody>
      </p:sp>
      <p:sp>
        <p:nvSpPr>
          <p:cNvPr id="10" name="Shape 8"/>
          <p:cNvSpPr/>
          <p:nvPr/>
        </p:nvSpPr>
        <p:spPr>
          <a:xfrm>
            <a:off x="2560320" y="3246120"/>
            <a:ext cx="502920" cy="502920"/>
          </a:xfrm>
          <a:prstGeom prst="ellipse">
            <a:avLst/>
          </a:prstGeom>
          <a:solidFill>
            <a:srgbClr val="121B2E"/>
          </a:solidFill>
          <a:ln w="19050">
            <a:solidFill>
              <a:srgbClr val="4FD1E8"/>
            </a:solidFill>
            <a:prstDash val="solid"/>
          </a:ln>
        </p:spPr>
      </p:sp>
      <p:sp>
        <p:nvSpPr>
          <p:cNvPr id="11" name="Text 9"/>
          <p:cNvSpPr/>
          <p:nvPr/>
        </p:nvSpPr>
        <p:spPr>
          <a:xfrm>
            <a:off x="2560320" y="3246120"/>
            <a:ext cx="502920" cy="502920"/>
          </a:xfrm>
          <a:prstGeom prst="rect">
            <a:avLst/>
          </a:prstGeom>
          <a:noFill/>
          <a:ln/>
        </p:spPr>
        <p:txBody>
          <a:bodyPr wrap="square" rtlCol="0" anchor="ctr"/>
          <a:lstStyle/>
          <a:p>
            <a:pPr algn="ctr" indent="0" marL="0">
              <a:buNone/>
            </a:pPr>
            <a:r>
              <a:rPr lang="en-US" sz="1400" b="1" dirty="0">
                <a:solidFill>
                  <a:srgbClr val="4FD1E8"/>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2240280" y="3794760"/>
            <a:ext cx="1143000" cy="274320"/>
          </a:xfrm>
          <a:prstGeom prst="rect">
            <a:avLst/>
          </a:prstGeom>
          <a:noFill/>
          <a:ln/>
        </p:spPr>
        <p:txBody>
          <a:bodyPr wrap="square" rtlCol="0" anchor="ctr"/>
          <a:lstStyle/>
          <a:p>
            <a:pPr algn="ctr" indent="0" marL="0">
              <a:buNone/>
            </a:pPr>
            <a:r>
              <a:rPr lang="en-US" sz="1050" dirty="0">
                <a:solidFill>
                  <a:srgbClr val="9FB1CC"/>
                </a:solidFill>
                <a:latin typeface="Calibri" pitchFamily="34" charset="0"/>
                <a:ea typeface="Calibri" pitchFamily="34" charset="-122"/>
                <a:cs typeface="Calibri" pitchFamily="34" charset="-120"/>
              </a:rPr>
              <a:t>Bob</a:t>
            </a:r>
            <a:endParaRPr lang="en-US" sz="1050" dirty="0"/>
          </a:p>
        </p:txBody>
      </p:sp>
      <p:sp>
        <p:nvSpPr>
          <p:cNvPr id="13" name="Shape 11"/>
          <p:cNvSpPr/>
          <p:nvPr/>
        </p:nvSpPr>
        <p:spPr>
          <a:xfrm>
            <a:off x="4251960" y="3246120"/>
            <a:ext cx="502920" cy="502920"/>
          </a:xfrm>
          <a:prstGeom prst="ellipse">
            <a:avLst/>
          </a:prstGeom>
          <a:solidFill>
            <a:srgbClr val="121B2E"/>
          </a:solidFill>
          <a:ln w="19050">
            <a:solidFill>
              <a:srgbClr val="4FD1E8"/>
            </a:solidFill>
            <a:prstDash val="solid"/>
          </a:ln>
        </p:spPr>
      </p:sp>
      <p:sp>
        <p:nvSpPr>
          <p:cNvPr id="14" name="Text 12"/>
          <p:cNvSpPr/>
          <p:nvPr/>
        </p:nvSpPr>
        <p:spPr>
          <a:xfrm>
            <a:off x="4251960" y="3246120"/>
            <a:ext cx="502920" cy="502920"/>
          </a:xfrm>
          <a:prstGeom prst="rect">
            <a:avLst/>
          </a:prstGeom>
          <a:noFill/>
          <a:ln/>
        </p:spPr>
        <p:txBody>
          <a:bodyPr wrap="square" rtlCol="0" anchor="ctr"/>
          <a:lstStyle/>
          <a:p>
            <a:pPr algn="ctr" indent="0" marL="0">
              <a:buNone/>
            </a:pPr>
            <a:r>
              <a:rPr lang="en-US" sz="1400" b="1" dirty="0">
                <a:solidFill>
                  <a:srgbClr val="4FD1E8"/>
                </a:solidFill>
                <a:latin typeface="Calibri" pitchFamily="34" charset="0"/>
                <a:ea typeface="Calibri" pitchFamily="34" charset="-122"/>
                <a:cs typeface="Calibri" pitchFamily="34" charset="-120"/>
              </a:rPr>
              <a:t>C</a:t>
            </a:r>
            <a:endParaRPr lang="en-US" sz="1400" dirty="0"/>
          </a:p>
        </p:txBody>
      </p:sp>
      <p:sp>
        <p:nvSpPr>
          <p:cNvPr id="15" name="Text 13"/>
          <p:cNvSpPr/>
          <p:nvPr/>
        </p:nvSpPr>
        <p:spPr>
          <a:xfrm>
            <a:off x="3931920" y="3794760"/>
            <a:ext cx="1143000" cy="274320"/>
          </a:xfrm>
          <a:prstGeom prst="rect">
            <a:avLst/>
          </a:prstGeom>
          <a:noFill/>
          <a:ln/>
        </p:spPr>
        <p:txBody>
          <a:bodyPr wrap="square" rtlCol="0" anchor="ctr"/>
          <a:lstStyle/>
          <a:p>
            <a:pPr algn="ctr" indent="0" marL="0">
              <a:buNone/>
            </a:pPr>
            <a:r>
              <a:rPr lang="en-US" sz="1050" dirty="0">
                <a:solidFill>
                  <a:srgbClr val="9FB1CC"/>
                </a:solidFill>
                <a:latin typeface="Calibri" pitchFamily="34" charset="0"/>
                <a:ea typeface="Calibri" pitchFamily="34" charset="-122"/>
                <a:cs typeface="Calibri" pitchFamily="34" charset="-120"/>
              </a:rPr>
              <a:t>Cara</a:t>
            </a:r>
            <a:endParaRPr lang="en-US" sz="1050" dirty="0"/>
          </a:p>
        </p:txBody>
      </p:sp>
      <p:sp>
        <p:nvSpPr>
          <p:cNvPr id="16" name="Text 14"/>
          <p:cNvSpPr/>
          <p:nvPr/>
        </p:nvSpPr>
        <p:spPr>
          <a:xfrm>
            <a:off x="822960" y="4160520"/>
            <a:ext cx="4846320" cy="594360"/>
          </a:xfrm>
          <a:prstGeom prst="rect">
            <a:avLst/>
          </a:prstGeom>
          <a:noFill/>
          <a:ln/>
        </p:spPr>
        <p:txBody>
          <a:bodyPr wrap="square" rtlCol="0" anchor="ctr"/>
          <a:lstStyle/>
          <a:p>
            <a:pPr indent="0" marL="0">
              <a:buNone/>
            </a:pPr>
            <a:r>
              <a:rPr lang="en-US" sz="1150" i="1" dirty="0">
                <a:solidFill>
                  <a:srgbClr val="9FB1CC"/>
                </a:solidFill>
                <a:latin typeface="Calibri" pitchFamily="34" charset="0"/>
                <a:ea typeface="Calibri" pitchFamily="34" charset="-122"/>
                <a:cs typeface="Calibri" pitchFamily="34" charset="-120"/>
              </a:rPr>
              <a:t>Each arrow can point anywhere — loved ones can differ per person.</a:t>
            </a:r>
            <a:endParaRPr lang="en-US" sz="1150" dirty="0"/>
          </a:p>
        </p:txBody>
      </p:sp>
      <p:sp>
        <p:nvSpPr>
          <p:cNvPr id="17" name="Shape 15"/>
          <p:cNvSpPr/>
          <p:nvPr/>
        </p:nvSpPr>
        <p:spPr>
          <a:xfrm>
            <a:off x="6126480" y="1691640"/>
            <a:ext cx="5349240" cy="3200400"/>
          </a:xfrm>
          <a:prstGeom prst="roundRect">
            <a:avLst>
              <a:gd name="adj" fmla="val 228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8" name="Text 16"/>
          <p:cNvSpPr/>
          <p:nvPr/>
        </p:nvSpPr>
        <p:spPr>
          <a:xfrm>
            <a:off x="6400800" y="1874520"/>
            <a:ext cx="4846320" cy="457200"/>
          </a:xfrm>
          <a:prstGeom prst="rect">
            <a:avLst/>
          </a:prstGeom>
          <a:noFill/>
          <a:ln/>
        </p:spPr>
        <p:txBody>
          <a:bodyPr wrap="square" rtlCol="0" anchor="ctr"/>
          <a:lstStyle/>
          <a:p>
            <a:pPr indent="0" marL="0">
              <a:buNone/>
            </a:pPr>
            <a:r>
              <a:rPr lang="en-US" sz="1900" b="1" dirty="0">
                <a:solidFill>
                  <a:srgbClr val="A78BFA"/>
                </a:solidFill>
                <a:latin typeface="Consolas" pitchFamily="34" charset="0"/>
                <a:ea typeface="Consolas" pitchFamily="34" charset="-122"/>
                <a:cs typeface="Consolas" pitchFamily="34" charset="-120"/>
              </a:rPr>
              <a:t>∃y ∀x Loves(x,y)</a:t>
            </a:r>
            <a:endParaRPr lang="en-US" sz="1900" dirty="0"/>
          </a:p>
        </p:txBody>
      </p:sp>
      <p:sp>
        <p:nvSpPr>
          <p:cNvPr id="19" name="Text 17"/>
          <p:cNvSpPr/>
          <p:nvPr/>
        </p:nvSpPr>
        <p:spPr>
          <a:xfrm>
            <a:off x="6400800" y="2377440"/>
            <a:ext cx="4846320" cy="640080"/>
          </a:xfrm>
          <a:prstGeom prst="rect">
            <a:avLst/>
          </a:prstGeom>
          <a:noFill/>
          <a:ln/>
        </p:spPr>
        <p:txBody>
          <a:bodyPr wrap="square" rtlCol="0" anchor="ctr"/>
          <a:lstStyle/>
          <a:p>
            <a:pPr indent="0" marL="0">
              <a:buNone/>
            </a:pPr>
            <a:r>
              <a:rPr lang="en-US" sz="1350" i="1" dirty="0">
                <a:solidFill>
                  <a:srgbClr val="F4F7FB"/>
                </a:solidFill>
                <a:latin typeface="Calibri" pitchFamily="34" charset="0"/>
                <a:ea typeface="Calibri" pitchFamily="34" charset="-122"/>
                <a:cs typeface="Calibri" pitchFamily="34" charset="-120"/>
              </a:rPr>
              <a:t>“Someone is loved by everybody” — one single person, loved by all.</a:t>
            </a:r>
            <a:endParaRPr lang="en-US" sz="1350" dirty="0"/>
          </a:p>
        </p:txBody>
      </p:sp>
      <p:sp>
        <p:nvSpPr>
          <p:cNvPr id="20" name="Shape 18"/>
          <p:cNvSpPr/>
          <p:nvPr/>
        </p:nvSpPr>
        <p:spPr>
          <a:xfrm>
            <a:off x="6446520" y="3246120"/>
            <a:ext cx="502920" cy="502920"/>
          </a:xfrm>
          <a:prstGeom prst="ellipse">
            <a:avLst/>
          </a:prstGeom>
          <a:solidFill>
            <a:srgbClr val="121B2E"/>
          </a:solidFill>
          <a:ln w="19050">
            <a:solidFill>
              <a:srgbClr val="A78BFA"/>
            </a:solidFill>
            <a:prstDash val="solid"/>
          </a:ln>
        </p:spPr>
      </p:sp>
      <p:sp>
        <p:nvSpPr>
          <p:cNvPr id="21" name="Text 19"/>
          <p:cNvSpPr/>
          <p:nvPr/>
        </p:nvSpPr>
        <p:spPr>
          <a:xfrm>
            <a:off x="6446520" y="3246120"/>
            <a:ext cx="502920" cy="502920"/>
          </a:xfrm>
          <a:prstGeom prst="rect">
            <a:avLst/>
          </a:prstGeom>
          <a:noFill/>
          <a:ln/>
        </p:spPr>
        <p:txBody>
          <a:bodyPr wrap="square" rtlCol="0" anchor="ctr"/>
          <a:lstStyle/>
          <a:p>
            <a:pPr algn="ctr" indent="0" marL="0">
              <a:buNone/>
            </a:pPr>
            <a:r>
              <a:rPr lang="en-US" sz="1400" b="1" dirty="0">
                <a:solidFill>
                  <a:srgbClr val="A78BFA"/>
                </a:solidFill>
                <a:latin typeface="Calibri" pitchFamily="34" charset="0"/>
                <a:ea typeface="Calibri" pitchFamily="34" charset="-122"/>
                <a:cs typeface="Calibri" pitchFamily="34" charset="-120"/>
              </a:rPr>
              <a:t>A</a:t>
            </a:r>
            <a:endParaRPr lang="en-US" sz="1400" dirty="0"/>
          </a:p>
        </p:txBody>
      </p:sp>
      <p:sp>
        <p:nvSpPr>
          <p:cNvPr id="22" name="Text 20"/>
          <p:cNvSpPr/>
          <p:nvPr/>
        </p:nvSpPr>
        <p:spPr>
          <a:xfrm>
            <a:off x="6126480" y="3794760"/>
            <a:ext cx="1143000" cy="274320"/>
          </a:xfrm>
          <a:prstGeom prst="rect">
            <a:avLst/>
          </a:prstGeom>
          <a:noFill/>
          <a:ln/>
        </p:spPr>
        <p:txBody>
          <a:bodyPr wrap="square" rtlCol="0" anchor="ctr"/>
          <a:lstStyle/>
          <a:p>
            <a:pPr algn="ctr" indent="0" marL="0">
              <a:buNone/>
            </a:pPr>
            <a:r>
              <a:rPr lang="en-US" sz="1050" dirty="0">
                <a:solidFill>
                  <a:srgbClr val="9FB1CC"/>
                </a:solidFill>
                <a:latin typeface="Calibri" pitchFamily="34" charset="0"/>
                <a:ea typeface="Calibri" pitchFamily="34" charset="-122"/>
                <a:cs typeface="Calibri" pitchFamily="34" charset="-120"/>
              </a:rPr>
              <a:t>Alice</a:t>
            </a:r>
            <a:endParaRPr lang="en-US" sz="1050" dirty="0"/>
          </a:p>
        </p:txBody>
      </p:sp>
      <p:sp>
        <p:nvSpPr>
          <p:cNvPr id="23" name="Shape 21"/>
          <p:cNvSpPr/>
          <p:nvPr/>
        </p:nvSpPr>
        <p:spPr>
          <a:xfrm>
            <a:off x="8138160" y="3246120"/>
            <a:ext cx="502920" cy="502920"/>
          </a:xfrm>
          <a:prstGeom prst="ellipse">
            <a:avLst/>
          </a:prstGeom>
          <a:solidFill>
            <a:srgbClr val="121B2E"/>
          </a:solidFill>
          <a:ln w="19050">
            <a:solidFill>
              <a:srgbClr val="A78BFA"/>
            </a:solidFill>
            <a:prstDash val="solid"/>
          </a:ln>
        </p:spPr>
      </p:sp>
      <p:sp>
        <p:nvSpPr>
          <p:cNvPr id="24" name="Text 22"/>
          <p:cNvSpPr/>
          <p:nvPr/>
        </p:nvSpPr>
        <p:spPr>
          <a:xfrm>
            <a:off x="8138160" y="3246120"/>
            <a:ext cx="502920" cy="502920"/>
          </a:xfrm>
          <a:prstGeom prst="rect">
            <a:avLst/>
          </a:prstGeom>
          <a:noFill/>
          <a:ln/>
        </p:spPr>
        <p:txBody>
          <a:bodyPr wrap="square" rtlCol="0" anchor="ctr"/>
          <a:lstStyle/>
          <a:p>
            <a:pPr algn="ctr" indent="0" marL="0">
              <a:buNone/>
            </a:pPr>
            <a:r>
              <a:rPr lang="en-US" sz="1400" b="1" dirty="0">
                <a:solidFill>
                  <a:srgbClr val="A78BFA"/>
                </a:solidFill>
                <a:latin typeface="Calibri" pitchFamily="34" charset="0"/>
                <a:ea typeface="Calibri" pitchFamily="34" charset="-122"/>
                <a:cs typeface="Calibri" pitchFamily="34" charset="-120"/>
              </a:rPr>
              <a:t>B</a:t>
            </a:r>
            <a:endParaRPr lang="en-US" sz="1400" dirty="0"/>
          </a:p>
        </p:txBody>
      </p:sp>
      <p:sp>
        <p:nvSpPr>
          <p:cNvPr id="25" name="Text 23"/>
          <p:cNvSpPr/>
          <p:nvPr/>
        </p:nvSpPr>
        <p:spPr>
          <a:xfrm>
            <a:off x="7818120" y="3794760"/>
            <a:ext cx="1143000" cy="274320"/>
          </a:xfrm>
          <a:prstGeom prst="rect">
            <a:avLst/>
          </a:prstGeom>
          <a:noFill/>
          <a:ln/>
        </p:spPr>
        <p:txBody>
          <a:bodyPr wrap="square" rtlCol="0" anchor="ctr"/>
          <a:lstStyle/>
          <a:p>
            <a:pPr algn="ctr" indent="0" marL="0">
              <a:buNone/>
            </a:pPr>
            <a:r>
              <a:rPr lang="en-US" sz="1050" dirty="0">
                <a:solidFill>
                  <a:srgbClr val="9FB1CC"/>
                </a:solidFill>
                <a:latin typeface="Calibri" pitchFamily="34" charset="0"/>
                <a:ea typeface="Calibri" pitchFamily="34" charset="-122"/>
                <a:cs typeface="Calibri" pitchFamily="34" charset="-120"/>
              </a:rPr>
              <a:t>Bob</a:t>
            </a:r>
            <a:endParaRPr lang="en-US" sz="1050" dirty="0"/>
          </a:p>
        </p:txBody>
      </p:sp>
      <p:sp>
        <p:nvSpPr>
          <p:cNvPr id="26" name="Shape 24"/>
          <p:cNvSpPr/>
          <p:nvPr/>
        </p:nvSpPr>
        <p:spPr>
          <a:xfrm>
            <a:off x="9829800" y="3246120"/>
            <a:ext cx="502920" cy="502920"/>
          </a:xfrm>
          <a:prstGeom prst="ellipse">
            <a:avLst/>
          </a:prstGeom>
          <a:solidFill>
            <a:srgbClr val="121B2E"/>
          </a:solidFill>
          <a:ln w="19050">
            <a:solidFill>
              <a:srgbClr val="A78BFA"/>
            </a:solidFill>
            <a:prstDash val="solid"/>
          </a:ln>
        </p:spPr>
      </p:sp>
      <p:sp>
        <p:nvSpPr>
          <p:cNvPr id="27" name="Text 25"/>
          <p:cNvSpPr/>
          <p:nvPr/>
        </p:nvSpPr>
        <p:spPr>
          <a:xfrm>
            <a:off x="9829800" y="3246120"/>
            <a:ext cx="502920" cy="502920"/>
          </a:xfrm>
          <a:prstGeom prst="rect">
            <a:avLst/>
          </a:prstGeom>
          <a:noFill/>
          <a:ln/>
        </p:spPr>
        <p:txBody>
          <a:bodyPr wrap="square" rtlCol="0" anchor="ctr"/>
          <a:lstStyle/>
          <a:p>
            <a:pPr algn="ctr" indent="0" marL="0">
              <a:buNone/>
            </a:pPr>
            <a:r>
              <a:rPr lang="en-US" sz="1400" b="1" dirty="0">
                <a:solidFill>
                  <a:srgbClr val="A78BFA"/>
                </a:solidFill>
                <a:latin typeface="Calibri" pitchFamily="34" charset="0"/>
                <a:ea typeface="Calibri" pitchFamily="34" charset="-122"/>
                <a:cs typeface="Calibri" pitchFamily="34" charset="-120"/>
              </a:rPr>
              <a:t>C</a:t>
            </a:r>
            <a:endParaRPr lang="en-US" sz="1400" dirty="0"/>
          </a:p>
        </p:txBody>
      </p:sp>
      <p:sp>
        <p:nvSpPr>
          <p:cNvPr id="28" name="Text 26"/>
          <p:cNvSpPr/>
          <p:nvPr/>
        </p:nvSpPr>
        <p:spPr>
          <a:xfrm>
            <a:off x="9509760" y="3794760"/>
            <a:ext cx="1143000" cy="274320"/>
          </a:xfrm>
          <a:prstGeom prst="rect">
            <a:avLst/>
          </a:prstGeom>
          <a:noFill/>
          <a:ln/>
        </p:spPr>
        <p:txBody>
          <a:bodyPr wrap="square" rtlCol="0" anchor="ctr"/>
          <a:lstStyle/>
          <a:p>
            <a:pPr algn="ctr" indent="0" marL="0">
              <a:buNone/>
            </a:pPr>
            <a:r>
              <a:rPr lang="en-US" sz="1050" dirty="0">
                <a:solidFill>
                  <a:srgbClr val="9FB1CC"/>
                </a:solidFill>
                <a:latin typeface="Calibri" pitchFamily="34" charset="0"/>
                <a:ea typeface="Calibri" pitchFamily="34" charset="-122"/>
                <a:cs typeface="Calibri" pitchFamily="34" charset="-120"/>
              </a:rPr>
              <a:t>Cara</a:t>
            </a:r>
            <a:endParaRPr lang="en-US" sz="1050" dirty="0"/>
          </a:p>
        </p:txBody>
      </p:sp>
      <p:sp>
        <p:nvSpPr>
          <p:cNvPr id="29" name="Shape 27"/>
          <p:cNvSpPr/>
          <p:nvPr/>
        </p:nvSpPr>
        <p:spPr>
          <a:xfrm>
            <a:off x="8183880" y="3246120"/>
            <a:ext cx="502920" cy="502920"/>
          </a:xfrm>
          <a:prstGeom prst="roundRect">
            <a:avLst>
              <a:gd name="adj" fmla="val 50909"/>
            </a:avLst>
          </a:prstGeom>
          <a:solidFill>
            <a:srgbClr val="A78BFA"/>
          </a:solidFill>
          <a:ln/>
        </p:spPr>
      </p:sp>
      <p:sp>
        <p:nvSpPr>
          <p:cNvPr id="30" name="Text 28"/>
          <p:cNvSpPr/>
          <p:nvPr/>
        </p:nvSpPr>
        <p:spPr>
          <a:xfrm>
            <a:off x="8183880" y="3246120"/>
            <a:ext cx="502920" cy="502920"/>
          </a:xfrm>
          <a:prstGeom prst="rect">
            <a:avLst/>
          </a:prstGeom>
          <a:noFill/>
          <a:ln/>
        </p:spPr>
        <p:txBody>
          <a:bodyPr wrap="square" rtlCol="0" anchor="ctr"/>
          <a:lstStyle/>
          <a:p>
            <a:pPr algn="ctr" indent="0" marL="0">
              <a:buNone/>
            </a:pPr>
            <a:r>
              <a:rPr lang="en-US" sz="1600" dirty="0">
                <a:solidFill>
                  <a:srgbClr val="0B1220"/>
                </a:solidFill>
              </a:rPr>
              <a:t>★</a:t>
            </a:r>
            <a:endParaRPr lang="en-US" sz="1600" dirty="0"/>
          </a:p>
        </p:txBody>
      </p:sp>
      <p:sp>
        <p:nvSpPr>
          <p:cNvPr id="31" name="Text 29"/>
          <p:cNvSpPr/>
          <p:nvPr/>
        </p:nvSpPr>
        <p:spPr>
          <a:xfrm>
            <a:off x="6400800" y="4160520"/>
            <a:ext cx="4846320" cy="594360"/>
          </a:xfrm>
          <a:prstGeom prst="rect">
            <a:avLst/>
          </a:prstGeom>
          <a:noFill/>
          <a:ln/>
        </p:spPr>
        <p:txBody>
          <a:bodyPr wrap="square" rtlCol="0" anchor="ctr"/>
          <a:lstStyle/>
          <a:p>
            <a:pPr indent="0" marL="0">
              <a:buNone/>
            </a:pPr>
            <a:r>
              <a:rPr lang="en-US" sz="1150" i="1" dirty="0">
                <a:solidFill>
                  <a:srgbClr val="9FB1CC"/>
                </a:solidFill>
                <a:latin typeface="Calibri" pitchFamily="34" charset="0"/>
                <a:ea typeface="Calibri" pitchFamily="34" charset="-122"/>
                <a:cs typeface="Calibri" pitchFamily="34" charset="-120"/>
              </a:rPr>
              <a:t>All three arrows converge on one single person.</a:t>
            </a:r>
            <a:endParaRPr lang="en-US" sz="1150" dirty="0"/>
          </a:p>
        </p:txBody>
      </p:sp>
      <p:sp>
        <p:nvSpPr>
          <p:cNvPr id="32" name="Shape 30"/>
          <p:cNvSpPr/>
          <p:nvPr/>
        </p:nvSpPr>
        <p:spPr>
          <a:xfrm>
            <a:off x="548640" y="5074920"/>
            <a:ext cx="11109960" cy="1325880"/>
          </a:xfrm>
          <a:prstGeom prst="roundRect">
            <a:avLst>
              <a:gd name="adj" fmla="val 5517"/>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33" name="Shape 31"/>
          <p:cNvSpPr/>
          <p:nvPr/>
        </p:nvSpPr>
        <p:spPr>
          <a:xfrm>
            <a:off x="749808" y="5276088"/>
            <a:ext cx="384048" cy="384048"/>
          </a:xfrm>
          <a:prstGeom prst="ellipse">
            <a:avLst/>
          </a:prstGeom>
          <a:solidFill>
            <a:srgbClr val="FFC857"/>
          </a:solidFill>
          <a:ln/>
        </p:spPr>
      </p:sp>
      <p:sp>
        <p:nvSpPr>
          <p:cNvPr id="34" name="Text 32"/>
          <p:cNvSpPr/>
          <p:nvPr/>
        </p:nvSpPr>
        <p:spPr>
          <a:xfrm>
            <a:off x="749808" y="527608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35" name="Text 33"/>
          <p:cNvSpPr/>
          <p:nvPr/>
        </p:nvSpPr>
        <p:spPr>
          <a:xfrm>
            <a:off x="1280160" y="5257800"/>
            <a:ext cx="1019556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36" name="Text 34"/>
          <p:cNvSpPr/>
          <p:nvPr/>
        </p:nvSpPr>
        <p:spPr>
          <a:xfrm>
            <a:off x="1280160" y="5550408"/>
            <a:ext cx="10149840" cy="66751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“Every kid has a favorite teacher” (different kids, different teachers) vs. “there is one teacher who is every kid's favorite” (one beloved teacher, shared by all). Same words, wildly different claim — the order you read the quantifiers in changes everything.</a:t>
            </a:r>
            <a:endParaRPr lang="en-US" sz="1350" dirty="0"/>
          </a:p>
        </p:txBody>
      </p:sp>
      <p:sp>
        <p:nvSpPr>
          <p:cNvPr id="37" name="Text 35"/>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8.2.6 QUANTIFIERS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 and ∃ are mirror images, through negation</a:t>
            </a:r>
            <a:endParaRPr lang="en-US" sz="2800" dirty="0"/>
          </a:p>
        </p:txBody>
      </p:sp>
      <p:sp>
        <p:nvSpPr>
          <p:cNvPr id="4" name="Shape 2"/>
          <p:cNvSpPr/>
          <p:nvPr/>
        </p:nvSpPr>
        <p:spPr>
          <a:xfrm>
            <a:off x="548640" y="1737360"/>
            <a:ext cx="5394960" cy="4114800"/>
          </a:xfrm>
          <a:prstGeom prst="roundRect">
            <a:avLst>
              <a:gd name="adj" fmla="val 1778"/>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920240"/>
            <a:ext cx="4846320" cy="365760"/>
          </a:xfrm>
          <a:prstGeom prst="rect">
            <a:avLst/>
          </a:prstGeom>
          <a:noFill/>
          <a:ln/>
        </p:spPr>
        <p:txBody>
          <a:bodyPr wrap="square" rtlCol="0" anchor="ctr"/>
          <a:lstStyle/>
          <a:p>
            <a:pPr indent="0" marL="0">
              <a:buNone/>
            </a:pPr>
            <a:r>
              <a:rPr lang="en-US" sz="1400" b="1" dirty="0">
                <a:solidFill>
                  <a:srgbClr val="4FD1E8"/>
                </a:solidFill>
                <a:latin typeface="Calibri" pitchFamily="34" charset="0"/>
                <a:ea typeface="Calibri" pitchFamily="34" charset="-122"/>
                <a:cs typeface="Calibri" pitchFamily="34" charset="-120"/>
              </a:rPr>
              <a:t>De Morgan's rules for quantifiers</a:t>
            </a:r>
            <a:endParaRPr lang="en-US" sz="1400" dirty="0"/>
          </a:p>
        </p:txBody>
      </p:sp>
      <p:sp>
        <p:nvSpPr>
          <p:cNvPr id="6" name="Text 4"/>
          <p:cNvSpPr/>
          <p:nvPr/>
        </p:nvSpPr>
        <p:spPr>
          <a:xfrm>
            <a:off x="868680" y="2377440"/>
            <a:ext cx="4846320" cy="457200"/>
          </a:xfrm>
          <a:prstGeom prst="rect">
            <a:avLst/>
          </a:prstGeom>
          <a:noFill/>
          <a:ln/>
        </p:spPr>
        <p:txBody>
          <a:bodyPr wrap="square" rtlCol="0" anchor="ctr"/>
          <a:lstStyle/>
          <a:p>
            <a:pPr indent="0" marL="0">
              <a:buNone/>
            </a:pPr>
            <a:r>
              <a:rPr lang="en-US" sz="1500" dirty="0">
                <a:solidFill>
                  <a:srgbClr val="FFC857"/>
                </a:solidFill>
                <a:latin typeface="Consolas" pitchFamily="34" charset="0"/>
                <a:ea typeface="Consolas" pitchFamily="34" charset="-122"/>
                <a:cs typeface="Consolas" pitchFamily="34" charset="-120"/>
              </a:rPr>
              <a:t>¬∃x P  ≡  ∀x ¬P</a:t>
            </a:r>
            <a:endParaRPr lang="en-US" sz="1500" dirty="0"/>
          </a:p>
        </p:txBody>
      </p:sp>
      <p:sp>
        <p:nvSpPr>
          <p:cNvPr id="7" name="Text 5"/>
          <p:cNvSpPr/>
          <p:nvPr/>
        </p:nvSpPr>
        <p:spPr>
          <a:xfrm>
            <a:off x="868680" y="2880360"/>
            <a:ext cx="4846320" cy="457200"/>
          </a:xfrm>
          <a:prstGeom prst="rect">
            <a:avLst/>
          </a:prstGeom>
          <a:noFill/>
          <a:ln/>
        </p:spPr>
        <p:txBody>
          <a:bodyPr wrap="square" rtlCol="0" anchor="ctr"/>
          <a:lstStyle/>
          <a:p>
            <a:pPr indent="0" marL="0">
              <a:buNone/>
            </a:pPr>
            <a:r>
              <a:rPr lang="en-US" sz="1500" dirty="0">
                <a:solidFill>
                  <a:srgbClr val="A78BFA"/>
                </a:solidFill>
                <a:latin typeface="Consolas" pitchFamily="34" charset="0"/>
                <a:ea typeface="Consolas" pitchFamily="34" charset="-122"/>
                <a:cs typeface="Consolas" pitchFamily="34" charset="-120"/>
              </a:rPr>
              <a:t>¬∀x P  ≡  ∃x ¬P</a:t>
            </a:r>
            <a:endParaRPr lang="en-US" sz="1500" dirty="0"/>
          </a:p>
        </p:txBody>
      </p:sp>
      <p:sp>
        <p:nvSpPr>
          <p:cNvPr id="8" name="Text 6"/>
          <p:cNvSpPr/>
          <p:nvPr/>
        </p:nvSpPr>
        <p:spPr>
          <a:xfrm>
            <a:off x="868680" y="3383280"/>
            <a:ext cx="4846320" cy="457200"/>
          </a:xfrm>
          <a:prstGeom prst="rect">
            <a:avLst/>
          </a:prstGeom>
          <a:noFill/>
          <a:ln/>
        </p:spPr>
        <p:txBody>
          <a:bodyPr wrap="square" rtlCol="0" anchor="ctr"/>
          <a:lstStyle/>
          <a:p>
            <a:pPr indent="0" marL="0">
              <a:buNone/>
            </a:pPr>
            <a:r>
              <a:rPr lang="en-US" sz="1500" dirty="0">
                <a:solidFill>
                  <a:srgbClr val="FFC857"/>
                </a:solidFill>
                <a:latin typeface="Consolas" pitchFamily="34" charset="0"/>
                <a:ea typeface="Consolas" pitchFamily="34" charset="-122"/>
                <a:cs typeface="Consolas" pitchFamily="34" charset="-120"/>
              </a:rPr>
              <a:t>∀x P  ≡  ¬∃x ¬P</a:t>
            </a:r>
            <a:endParaRPr lang="en-US" sz="1500" dirty="0"/>
          </a:p>
        </p:txBody>
      </p:sp>
      <p:sp>
        <p:nvSpPr>
          <p:cNvPr id="9" name="Text 7"/>
          <p:cNvSpPr/>
          <p:nvPr/>
        </p:nvSpPr>
        <p:spPr>
          <a:xfrm>
            <a:off x="868680" y="3886200"/>
            <a:ext cx="4846320" cy="457200"/>
          </a:xfrm>
          <a:prstGeom prst="rect">
            <a:avLst/>
          </a:prstGeom>
          <a:noFill/>
          <a:ln/>
        </p:spPr>
        <p:txBody>
          <a:bodyPr wrap="square" rtlCol="0" anchor="ctr"/>
          <a:lstStyle/>
          <a:p>
            <a:pPr indent="0" marL="0">
              <a:buNone/>
            </a:pPr>
            <a:r>
              <a:rPr lang="en-US" sz="1500" dirty="0">
                <a:solidFill>
                  <a:srgbClr val="A78BFA"/>
                </a:solidFill>
                <a:latin typeface="Consolas" pitchFamily="34" charset="0"/>
                <a:ea typeface="Consolas" pitchFamily="34" charset="-122"/>
                <a:cs typeface="Consolas" pitchFamily="34" charset="-120"/>
              </a:rPr>
              <a:t>∃x P  ≡  ¬∀x ¬P</a:t>
            </a:r>
            <a:endParaRPr lang="en-US" sz="1500" dirty="0"/>
          </a:p>
        </p:txBody>
      </p:sp>
      <p:sp>
        <p:nvSpPr>
          <p:cNvPr id="10" name="Text 8"/>
          <p:cNvSpPr/>
          <p:nvPr/>
        </p:nvSpPr>
        <p:spPr>
          <a:xfrm>
            <a:off x="868680" y="4526280"/>
            <a:ext cx="4846320" cy="1188720"/>
          </a:xfrm>
          <a:prstGeom prst="rect">
            <a:avLst/>
          </a:prstGeom>
          <a:noFill/>
          <a:ln/>
        </p:spPr>
        <p:txBody>
          <a:bodyPr wrap="square" rtlCol="0" anchor="ctr"/>
          <a:lstStyle/>
          <a:p>
            <a:pPr indent="0" marL="0">
              <a:lnSpc>
                <a:spcPct val="125000"/>
              </a:lnSpc>
              <a:buNone/>
            </a:pPr>
            <a:r>
              <a:rPr lang="en-US" sz="1250" i="1" dirty="0">
                <a:solidFill>
                  <a:srgbClr val="9FB1CC"/>
                </a:solidFill>
                <a:latin typeface="Calibri" pitchFamily="34" charset="0"/>
                <a:ea typeface="Calibri" pitchFamily="34" charset="-122"/>
                <a:cs typeface="Calibri" pitchFamily="34" charset="-120"/>
              </a:rPr>
              <a:t>Exactly like ¬(P∨Q)≡¬P∧¬Q from propositional logic — ∀ behaves like a giant ∧ over all objects, and ∃ like a giant ∨.</a:t>
            </a:r>
            <a:endParaRPr lang="en-US" sz="1250" dirty="0"/>
          </a:p>
        </p:txBody>
      </p:sp>
      <p:sp>
        <p:nvSpPr>
          <p:cNvPr id="11" name="Shape 9"/>
          <p:cNvSpPr/>
          <p:nvPr/>
        </p:nvSpPr>
        <p:spPr>
          <a:xfrm>
            <a:off x="6126480" y="1737360"/>
            <a:ext cx="5532120" cy="1965960"/>
          </a:xfrm>
          <a:prstGeom prst="roundRect">
            <a:avLst>
              <a:gd name="adj" fmla="val 372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2" name="Text 10"/>
          <p:cNvSpPr/>
          <p:nvPr/>
        </p:nvSpPr>
        <p:spPr>
          <a:xfrm>
            <a:off x="6400800" y="1965960"/>
            <a:ext cx="4937760" cy="640080"/>
          </a:xfrm>
          <a:prstGeom prst="rect">
            <a:avLst/>
          </a:prstGeom>
          <a:noFill/>
          <a:ln/>
        </p:spPr>
        <p:txBody>
          <a:bodyPr wrap="square" rtlCol="0" anchor="ctr"/>
          <a:lstStyle/>
          <a:p>
            <a:pPr indent="0" marL="0">
              <a:lnSpc>
                <a:spcPct val="120000"/>
              </a:lnSpc>
              <a:buNone/>
            </a:pPr>
            <a:r>
              <a:rPr lang="en-US" sz="1300" dirty="0">
                <a:solidFill>
                  <a:srgbClr val="F4F7FB"/>
                </a:solidFill>
                <a:latin typeface="Consolas" pitchFamily="34" charset="0"/>
                <a:ea typeface="Consolas" pitchFamily="34" charset="-122"/>
                <a:cs typeface="Consolas" pitchFamily="34" charset="-120"/>
              </a:rPr>
              <a:t>∀x ¬Likes(x,Parsnips)  ≡  ¬∃x Likes(x,Parsnips)</a:t>
            </a:r>
            <a:endParaRPr lang="en-US" sz="1300" dirty="0"/>
          </a:p>
        </p:txBody>
      </p:sp>
      <p:sp>
        <p:nvSpPr>
          <p:cNvPr id="13" name="Text 11"/>
          <p:cNvSpPr/>
          <p:nvPr/>
        </p:nvSpPr>
        <p:spPr>
          <a:xfrm>
            <a:off x="6400800" y="2606040"/>
            <a:ext cx="4937760" cy="457200"/>
          </a:xfrm>
          <a:prstGeom prst="rect">
            <a:avLst/>
          </a:prstGeom>
          <a:noFill/>
          <a:ln/>
        </p:spPr>
        <p:txBody>
          <a:bodyPr wrap="square" rtlCol="0" anchor="ctr"/>
          <a:lstStyle/>
          <a:p>
            <a:pPr indent="0" marL="0">
              <a:buNone/>
            </a:pPr>
            <a:r>
              <a:rPr lang="en-US" sz="1300" i="1" dirty="0">
                <a:solidFill>
                  <a:srgbClr val="9FB1CC"/>
                </a:solidFill>
                <a:latin typeface="Calibri" pitchFamily="34" charset="0"/>
                <a:ea typeface="Calibri" pitchFamily="34" charset="-122"/>
                <a:cs typeface="Calibri" pitchFamily="34" charset="-120"/>
              </a:rPr>
              <a:t>“Everyone dislikes parsnips” = “no one likes parsnips.”</a:t>
            </a:r>
            <a:endParaRPr lang="en-US" sz="1300" dirty="0"/>
          </a:p>
        </p:txBody>
      </p:sp>
      <p:sp>
        <p:nvSpPr>
          <p:cNvPr id="14" name="Shape 12"/>
          <p:cNvSpPr/>
          <p:nvPr/>
        </p:nvSpPr>
        <p:spPr>
          <a:xfrm>
            <a:off x="6400800" y="3108960"/>
            <a:ext cx="4937760" cy="0"/>
          </a:xfrm>
          <a:prstGeom prst="line">
            <a:avLst/>
          </a:prstGeom>
          <a:noFill/>
          <a:ln w="12700">
            <a:solidFill>
              <a:srgbClr val="2A3A5C"/>
            </a:solidFill>
            <a:prstDash val="solid"/>
          </a:ln>
        </p:spPr>
      </p:sp>
      <p:sp>
        <p:nvSpPr>
          <p:cNvPr id="15" name="Text 13"/>
          <p:cNvSpPr/>
          <p:nvPr/>
        </p:nvSpPr>
        <p:spPr>
          <a:xfrm>
            <a:off x="6400800" y="3246120"/>
            <a:ext cx="4937760" cy="822960"/>
          </a:xfrm>
          <a:prstGeom prst="rect">
            <a:avLst/>
          </a:prstGeom>
          <a:noFill/>
          <a:ln/>
        </p:spPr>
        <p:txBody>
          <a:bodyPr wrap="square" rtlCol="0" anchor="ctr"/>
          <a:lstStyle/>
          <a:p>
            <a:pPr indent="0" marL="0">
              <a:lnSpc>
                <a:spcPct val="120000"/>
              </a:lnSpc>
              <a:buNone/>
            </a:pPr>
            <a:r>
              <a:rPr lang="en-US" sz="1150" dirty="0">
                <a:solidFill>
                  <a:srgbClr val="9FB1CC"/>
                </a:solidFill>
                <a:latin typeface="Calibri" pitchFamily="34" charset="0"/>
                <a:ea typeface="Calibri" pitchFamily="34" charset="-122"/>
                <a:cs typeface="Calibri" pitchFamily="34" charset="-120"/>
              </a:rPr>
              <a:t>Variable scope: in ∀x(Crown(x) ∨ ∃x Brother(Richard,x)), the inner x belongs to the nearest ∃ — never reuse a variable name across nested quantifiers.</a:t>
            </a:r>
            <a:endParaRPr lang="en-US" sz="1150" dirty="0"/>
          </a:p>
        </p:txBody>
      </p:sp>
      <p:sp>
        <p:nvSpPr>
          <p:cNvPr id="16" name="Shape 14"/>
          <p:cNvSpPr/>
          <p:nvPr/>
        </p:nvSpPr>
        <p:spPr>
          <a:xfrm>
            <a:off x="6126480" y="3931920"/>
            <a:ext cx="5532120" cy="1920240"/>
          </a:xfrm>
          <a:prstGeom prst="roundRect">
            <a:avLst>
              <a:gd name="adj" fmla="val 381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7" name="Shape 15"/>
          <p:cNvSpPr/>
          <p:nvPr/>
        </p:nvSpPr>
        <p:spPr>
          <a:xfrm>
            <a:off x="6327648" y="4133088"/>
            <a:ext cx="384048" cy="384048"/>
          </a:xfrm>
          <a:prstGeom prst="ellipse">
            <a:avLst/>
          </a:prstGeom>
          <a:solidFill>
            <a:srgbClr val="40D17D"/>
          </a:solidFill>
          <a:ln/>
        </p:spPr>
      </p:sp>
      <p:sp>
        <p:nvSpPr>
          <p:cNvPr id="18" name="Text 16"/>
          <p:cNvSpPr/>
          <p:nvPr/>
        </p:nvSpPr>
        <p:spPr>
          <a:xfrm>
            <a:off x="6327648" y="413308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9" name="Text 17"/>
          <p:cNvSpPr/>
          <p:nvPr/>
        </p:nvSpPr>
        <p:spPr>
          <a:xfrm>
            <a:off x="6858000" y="4114800"/>
            <a:ext cx="4617720" cy="274320"/>
          </a:xfrm>
          <a:prstGeom prst="rect">
            <a:avLst/>
          </a:prstGeom>
          <a:noFill/>
          <a:ln/>
        </p:spPr>
        <p:txBody>
          <a:bodyPr wrap="square" rtlCol="0" anchor="ctr"/>
          <a:lstStyle/>
          <a:p>
            <a:pPr indent="0" marL="0">
              <a:buNone/>
            </a:pPr>
            <a:r>
              <a:rPr lang="en-US" sz="1200" b="1" spc="100" kern="0" dirty="0">
                <a:solidFill>
                  <a:srgbClr val="40D17D"/>
                </a:solidFill>
                <a:latin typeface="Calibri" pitchFamily="34" charset="0"/>
                <a:ea typeface="Calibri" pitchFamily="34" charset="-122"/>
                <a:cs typeface="Calibri" pitchFamily="34" charset="-120"/>
              </a:rPr>
              <a:t>ANALOGY</a:t>
            </a:r>
            <a:endParaRPr lang="en-US" sz="1200" dirty="0"/>
          </a:p>
        </p:txBody>
      </p:sp>
      <p:sp>
        <p:nvSpPr>
          <p:cNvPr id="20" name="Text 18"/>
          <p:cNvSpPr/>
          <p:nvPr/>
        </p:nvSpPr>
        <p:spPr>
          <a:xfrm>
            <a:off x="6858000" y="4407408"/>
            <a:ext cx="4572000" cy="12618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“Nobody in the office likes Mondays” and “there doesn't exist a person in the office who likes Mondays” are the same statement said two ways — exactly how ∀ and ∃ trade places under negation.</a:t>
            </a:r>
            <a:endParaRPr lang="en-US" sz="1350" dirty="0"/>
          </a:p>
        </p:txBody>
      </p:sp>
      <p:sp>
        <p:nvSpPr>
          <p:cNvPr id="21" name="Text 19"/>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8.2.8 DATABASE SEMANTICS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When “the list is the whole truth”</a:t>
            </a:r>
            <a:endParaRPr lang="en-US" sz="2800" dirty="0"/>
          </a:p>
        </p:txBody>
      </p:sp>
      <p:sp>
        <p:nvSpPr>
          <p:cNvPr id="4" name="Shape 2"/>
          <p:cNvSpPr/>
          <p:nvPr/>
        </p:nvSpPr>
        <p:spPr>
          <a:xfrm>
            <a:off x="548640" y="1691640"/>
            <a:ext cx="6080760" cy="2651760"/>
          </a:xfrm>
          <a:prstGeom prst="roundRect">
            <a:avLst>
              <a:gd name="adj" fmla="val 2759"/>
            </a:avLst>
          </a:prstGeom>
          <a:solidFill>
            <a:srgbClr val="FFFFFF"/>
          </a:solidFill>
          <a:ln/>
        </p:spPr>
      </p:sp>
      <p:pic>
        <p:nvPicPr>
          <p:cNvPr id="5" name="Image 0" descr="fig8_5.jpg">    </p:cNvPr>
          <p:cNvPicPr>
            <a:picLocks noChangeAspect="1"/>
          </p:cNvPicPr>
          <p:nvPr/>
        </p:nvPicPr>
        <p:blipFill>
          <a:blip r:embed="rId1"/>
          <a:stretch>
            <a:fillRect/>
          </a:stretch>
        </p:blipFill>
        <p:spPr>
          <a:xfrm>
            <a:off x="685800" y="1828800"/>
            <a:ext cx="5806440" cy="2377440"/>
          </a:xfrm>
          <a:prstGeom prst="rect">
            <a:avLst/>
          </a:prstGeom>
        </p:spPr>
      </p:pic>
      <p:sp>
        <p:nvSpPr>
          <p:cNvPr id="6" name="Text 3"/>
          <p:cNvSpPr/>
          <p:nvPr/>
        </p:nvSpPr>
        <p:spPr>
          <a:xfrm>
            <a:off x="548640" y="4434840"/>
            <a:ext cx="6080760" cy="685800"/>
          </a:xfrm>
          <a:prstGeom prst="rect">
            <a:avLst/>
          </a:prstGeom>
          <a:noFill/>
          <a:ln/>
        </p:spPr>
        <p:txBody>
          <a:bodyPr wrap="square" rtlCol="0" anchor="ctr"/>
          <a:lstStyle/>
          <a:p>
            <a:pPr indent="0" marL="0">
              <a:lnSpc>
                <a:spcPct val="120000"/>
              </a:lnSpc>
              <a:buNone/>
            </a:pPr>
            <a:r>
              <a:rPr lang="en-US" sz="1150" i="1" dirty="0">
                <a:solidFill>
                  <a:srgbClr val="9FB1CC"/>
                </a:solidFill>
                <a:latin typeface="Calibri" pitchFamily="34" charset="0"/>
                <a:ea typeface="Calibri" pitchFamily="34" charset="-122"/>
                <a:cs typeface="Calibri" pitchFamily="34" charset="-120"/>
              </a:rPr>
              <a:t>Only 16 possible models exist here (vs. infinitely many under standard FOL) — because names and objects are locked together.</a:t>
            </a:r>
            <a:endParaRPr lang="en-US" sz="1150" dirty="0"/>
          </a:p>
        </p:txBody>
      </p:sp>
      <p:sp>
        <p:nvSpPr>
          <p:cNvPr id="7" name="Shape 4"/>
          <p:cNvSpPr/>
          <p:nvPr/>
        </p:nvSpPr>
        <p:spPr>
          <a:xfrm>
            <a:off x="6858000" y="1691640"/>
            <a:ext cx="4800600" cy="2651760"/>
          </a:xfrm>
          <a:prstGeom prst="roundRect">
            <a:avLst>
              <a:gd name="adj" fmla="val 275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8" name="Text 5"/>
          <p:cNvSpPr/>
          <p:nvPr/>
        </p:nvSpPr>
        <p:spPr>
          <a:xfrm>
            <a:off x="7132320" y="1874520"/>
            <a:ext cx="4297680" cy="320040"/>
          </a:xfrm>
          <a:prstGeom prst="rect">
            <a:avLst/>
          </a:prstGeom>
          <a:noFill/>
          <a:ln/>
        </p:spPr>
        <p:txBody>
          <a:bodyPr wrap="square" rtlCol="0" anchor="ctr"/>
          <a:lstStyle/>
          <a:p>
            <a:pPr indent="0" marL="0">
              <a:buNone/>
            </a:pPr>
            <a:r>
              <a:rPr lang="en-US" sz="1300" b="1" dirty="0">
                <a:solidFill>
                  <a:srgbClr val="FFC857"/>
                </a:solidFill>
                <a:latin typeface="Calibri" pitchFamily="34" charset="0"/>
                <a:ea typeface="Calibri" pitchFamily="34" charset="-122"/>
                <a:cs typeface="Calibri" pitchFamily="34" charset="-120"/>
              </a:rPr>
              <a:t>Three assumptions:</a:t>
            </a:r>
            <a:endParaRPr lang="en-US" sz="1300" dirty="0"/>
          </a:p>
        </p:txBody>
      </p:sp>
      <p:sp>
        <p:nvSpPr>
          <p:cNvPr id="9" name="Text 6"/>
          <p:cNvSpPr/>
          <p:nvPr/>
        </p:nvSpPr>
        <p:spPr>
          <a:xfrm>
            <a:off x="7132320" y="2286000"/>
            <a:ext cx="4297680" cy="548640"/>
          </a:xfrm>
          <a:prstGeom prst="rect">
            <a:avLst/>
          </a:prstGeom>
          <a:noFill/>
          <a:ln/>
        </p:spPr>
        <p:txBody>
          <a:bodyPr wrap="square" rtlCol="0" anchor="ctr"/>
          <a:lstStyle/>
          <a:p>
            <a:pPr indent="0" marL="0">
              <a:lnSpc>
                <a:spcPct val="115000"/>
              </a:lnSpc>
              <a:buNone/>
            </a:pPr>
            <a:r>
              <a:rPr lang="en-US" sz="1250" b="1" dirty="0">
                <a:solidFill>
                  <a:srgbClr val="F4F7FB"/>
                </a:solidFill>
                <a:latin typeface="Calibri" pitchFamily="34" charset="0"/>
                <a:ea typeface="Calibri" pitchFamily="34" charset="-122"/>
                <a:cs typeface="Calibri" pitchFamily="34" charset="-120"/>
              </a:rPr>
              <a:t>Unique names: </a:t>
            </a:r>
            <a:pPr indent="0" marL="0">
              <a:lnSpc>
                <a:spcPct val="115000"/>
              </a:lnSpc>
              <a:buNone/>
            </a:pPr>
            <a:r>
              <a:rPr lang="en-US" sz="1250" dirty="0">
                <a:solidFill>
                  <a:srgbClr val="9FB1CC"/>
                </a:solidFill>
                <a:latin typeface="Calibri" pitchFamily="34" charset="0"/>
                <a:ea typeface="Calibri" pitchFamily="34" charset="-122"/>
                <a:cs typeface="Calibri" pitchFamily="34" charset="-120"/>
              </a:rPr>
              <a:t>every constant names a different object</a:t>
            </a:r>
            <a:endParaRPr lang="en-US" sz="1250" dirty="0"/>
          </a:p>
        </p:txBody>
      </p:sp>
      <p:sp>
        <p:nvSpPr>
          <p:cNvPr id="10" name="Text 7"/>
          <p:cNvSpPr/>
          <p:nvPr/>
        </p:nvSpPr>
        <p:spPr>
          <a:xfrm>
            <a:off x="7132320" y="2907792"/>
            <a:ext cx="4297680" cy="548640"/>
          </a:xfrm>
          <a:prstGeom prst="rect">
            <a:avLst/>
          </a:prstGeom>
          <a:noFill/>
          <a:ln/>
        </p:spPr>
        <p:txBody>
          <a:bodyPr wrap="square" rtlCol="0" anchor="ctr"/>
          <a:lstStyle/>
          <a:p>
            <a:pPr indent="0" marL="0">
              <a:lnSpc>
                <a:spcPct val="115000"/>
              </a:lnSpc>
              <a:buNone/>
            </a:pPr>
            <a:r>
              <a:rPr lang="en-US" sz="1250" b="1" dirty="0">
                <a:solidFill>
                  <a:srgbClr val="F4F7FB"/>
                </a:solidFill>
                <a:latin typeface="Calibri" pitchFamily="34" charset="0"/>
                <a:ea typeface="Calibri" pitchFamily="34" charset="-122"/>
                <a:cs typeface="Calibri" pitchFamily="34" charset="-120"/>
              </a:rPr>
              <a:t>Closed-world: </a:t>
            </a:r>
            <a:pPr indent="0" marL="0">
              <a:lnSpc>
                <a:spcPct val="115000"/>
              </a:lnSpc>
              <a:buNone/>
            </a:pPr>
            <a:r>
              <a:rPr lang="en-US" sz="1250" dirty="0">
                <a:solidFill>
                  <a:srgbClr val="9FB1CC"/>
                </a:solidFill>
                <a:latin typeface="Calibri" pitchFamily="34" charset="0"/>
                <a:ea typeface="Calibri" pitchFamily="34" charset="-122"/>
                <a:cs typeface="Calibri" pitchFamily="34" charset="-120"/>
              </a:rPr>
              <a:t>unstated atomic facts are false</a:t>
            </a:r>
            <a:endParaRPr lang="en-US" sz="1250" dirty="0"/>
          </a:p>
        </p:txBody>
      </p:sp>
      <p:sp>
        <p:nvSpPr>
          <p:cNvPr id="11" name="Text 8"/>
          <p:cNvSpPr/>
          <p:nvPr/>
        </p:nvSpPr>
        <p:spPr>
          <a:xfrm>
            <a:off x="7132320" y="3529584"/>
            <a:ext cx="4297680" cy="548640"/>
          </a:xfrm>
          <a:prstGeom prst="rect">
            <a:avLst/>
          </a:prstGeom>
          <a:noFill/>
          <a:ln/>
        </p:spPr>
        <p:txBody>
          <a:bodyPr wrap="square" rtlCol="0" anchor="ctr"/>
          <a:lstStyle/>
          <a:p>
            <a:pPr indent="0" marL="0">
              <a:lnSpc>
                <a:spcPct val="115000"/>
              </a:lnSpc>
              <a:buNone/>
            </a:pPr>
            <a:r>
              <a:rPr lang="en-US" sz="1250" b="1" dirty="0">
                <a:solidFill>
                  <a:srgbClr val="F4F7FB"/>
                </a:solidFill>
                <a:latin typeface="Calibri" pitchFamily="34" charset="0"/>
                <a:ea typeface="Calibri" pitchFamily="34" charset="-122"/>
                <a:cs typeface="Calibri" pitchFamily="34" charset="-120"/>
              </a:rPr>
              <a:t>Domain closure: </a:t>
            </a:r>
            <a:pPr indent="0" marL="0">
              <a:lnSpc>
                <a:spcPct val="115000"/>
              </a:lnSpc>
              <a:buNone/>
            </a:pPr>
            <a:r>
              <a:rPr lang="en-US" sz="1250" dirty="0">
                <a:solidFill>
                  <a:srgbClr val="9FB1CC"/>
                </a:solidFill>
                <a:latin typeface="Calibri" pitchFamily="34" charset="0"/>
                <a:ea typeface="Calibri" pitchFamily="34" charset="-122"/>
                <a:cs typeface="Calibri" pitchFamily="34" charset="-120"/>
              </a:rPr>
              <a:t>no objects beyond the named ones</a:t>
            </a:r>
            <a:endParaRPr lang="en-US" sz="1250" dirty="0"/>
          </a:p>
        </p:txBody>
      </p:sp>
      <p:sp>
        <p:nvSpPr>
          <p:cNvPr id="12" name="Shape 9"/>
          <p:cNvSpPr/>
          <p:nvPr/>
        </p:nvSpPr>
        <p:spPr>
          <a:xfrm>
            <a:off x="548640" y="4572000"/>
            <a:ext cx="11109960" cy="1737360"/>
          </a:xfrm>
          <a:prstGeom prst="roundRect">
            <a:avLst>
              <a:gd name="adj" fmla="val 42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Shape 10"/>
          <p:cNvSpPr/>
          <p:nvPr/>
        </p:nvSpPr>
        <p:spPr>
          <a:xfrm>
            <a:off x="749808" y="4773168"/>
            <a:ext cx="384048" cy="384048"/>
          </a:xfrm>
          <a:prstGeom prst="ellipse">
            <a:avLst/>
          </a:prstGeom>
          <a:solidFill>
            <a:srgbClr val="A78BFA"/>
          </a:solidFill>
          <a:ln/>
        </p:spPr>
      </p:sp>
      <p:sp>
        <p:nvSpPr>
          <p:cNvPr id="14" name="Text 11"/>
          <p:cNvSpPr/>
          <p:nvPr/>
        </p:nvSpPr>
        <p:spPr>
          <a:xfrm>
            <a:off x="749808" y="477316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5" name="Text 12"/>
          <p:cNvSpPr/>
          <p:nvPr/>
        </p:nvSpPr>
        <p:spPr>
          <a:xfrm>
            <a:off x="1280160" y="4754880"/>
            <a:ext cx="10195560" cy="274320"/>
          </a:xfrm>
          <a:prstGeom prst="rect">
            <a:avLst/>
          </a:prstGeom>
          <a:noFill/>
          <a:ln/>
        </p:spPr>
        <p:txBody>
          <a:bodyPr wrap="square" rtlCol="0" anchor="ctr"/>
          <a:lstStyle/>
          <a:p>
            <a:pPr indent="0" marL="0">
              <a:buNone/>
            </a:pPr>
            <a:r>
              <a:rPr lang="en-US" sz="1200" b="1" spc="100" kern="0" dirty="0">
                <a:solidFill>
                  <a:srgbClr val="A78BFA"/>
                </a:solidFill>
                <a:latin typeface="Calibri" pitchFamily="34" charset="0"/>
                <a:ea typeface="Calibri" pitchFamily="34" charset="-122"/>
                <a:cs typeface="Calibri" pitchFamily="34" charset="-120"/>
              </a:rPr>
              <a:t>ANALOGY</a:t>
            </a:r>
            <a:endParaRPr lang="en-US" sz="1200" dirty="0"/>
          </a:p>
        </p:txBody>
      </p:sp>
      <p:sp>
        <p:nvSpPr>
          <p:cNvPr id="16" name="Text 13"/>
          <p:cNvSpPr/>
          <p:nvPr/>
        </p:nvSpPr>
        <p:spPr>
          <a:xfrm>
            <a:off x="1280160" y="5047488"/>
            <a:ext cx="10149840" cy="107899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Standard FOL semantics is like an open casting call — saying “John and Geoffrey are Richard's brothers” doesn't rule out a third, unnamed brother showing up later. Database semantics is a final class roster: if a name isn't printed on the sheet, that person isn't in the room, and every name on the sheet is a distinct, separate student. That's why a SQL query can confidently say “no rows found” instead of “unknown.”</a:t>
            </a:r>
            <a:endParaRPr lang="en-US" sz="1350" dirty="0"/>
          </a:p>
        </p:txBody>
      </p:sp>
      <p:sp>
        <p:nvSpPr>
          <p:cNvPr id="17" name="Text 14"/>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APPLYING FOL</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Case in point: compressing the Wumpus World</a:t>
            </a:r>
            <a:endParaRPr lang="en-US" sz="2800" dirty="0"/>
          </a:p>
        </p:txBody>
      </p:sp>
      <p:sp>
        <p:nvSpPr>
          <p:cNvPr id="4" name="Shape 2"/>
          <p:cNvSpPr/>
          <p:nvPr/>
        </p:nvSpPr>
        <p:spPr>
          <a:xfrm>
            <a:off x="548640" y="1691640"/>
            <a:ext cx="5532120" cy="4160520"/>
          </a:xfrm>
          <a:prstGeom prst="roundRect">
            <a:avLst>
              <a:gd name="adj" fmla="val 1758"/>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22960" y="1874520"/>
            <a:ext cx="4937760" cy="365760"/>
          </a:xfrm>
          <a:prstGeom prst="rect">
            <a:avLst/>
          </a:prstGeom>
          <a:noFill/>
          <a:ln/>
        </p:spPr>
        <p:txBody>
          <a:bodyPr wrap="square" rtlCol="0" anchor="ctr"/>
          <a:lstStyle/>
          <a:p>
            <a:pPr indent="0" marL="0">
              <a:buNone/>
            </a:pPr>
            <a:r>
              <a:rPr lang="en-US" sz="1300" b="1" dirty="0">
                <a:solidFill>
                  <a:srgbClr val="FF5D73"/>
                </a:solidFill>
                <a:latin typeface="Calibri" pitchFamily="34" charset="0"/>
                <a:ea typeface="Calibri" pitchFamily="34" charset="-122"/>
                <a:cs typeface="Calibri" pitchFamily="34" charset="-120"/>
              </a:rPr>
              <a:t>Propositional logic (one rule per square):</a:t>
            </a:r>
            <a:endParaRPr lang="en-US" sz="1300" dirty="0"/>
          </a:p>
        </p:txBody>
      </p:sp>
      <p:sp>
        <p:nvSpPr>
          <p:cNvPr id="6" name="Text 4"/>
          <p:cNvSpPr/>
          <p:nvPr/>
        </p:nvSpPr>
        <p:spPr>
          <a:xfrm>
            <a:off x="822960" y="2286000"/>
            <a:ext cx="4937760" cy="1188720"/>
          </a:xfrm>
          <a:prstGeom prst="rect">
            <a:avLst/>
          </a:prstGeom>
          <a:noFill/>
          <a:ln/>
        </p:spPr>
        <p:txBody>
          <a:bodyPr wrap="square" rtlCol="0" anchor="ctr"/>
          <a:lstStyle/>
          <a:p>
            <a:pPr indent="0" marL="0">
              <a:lnSpc>
                <a:spcPct val="130000"/>
              </a:lnSpc>
              <a:buNone/>
            </a:pPr>
            <a:r>
              <a:rPr lang="en-US" sz="1300" dirty="0">
                <a:solidFill>
                  <a:srgbClr val="9FB1CC"/>
                </a:solidFill>
                <a:latin typeface="Consolas" pitchFamily="34" charset="0"/>
                <a:ea typeface="Consolas" pitchFamily="34" charset="-122"/>
                <a:cs typeface="Consolas" pitchFamily="34" charset="-120"/>
              </a:rPr>
              <a:t>B₁ⱼ₁ ⇔ (P₁ⱼ₂ ∨ P₂ⱼ₁)</a:t>
            </a:r>
            <a:endParaRPr lang="en-US" sz="1300" dirty="0"/>
          </a:p>
          <a:p>
            <a:pPr indent="0" marL="0">
              <a:lnSpc>
                <a:spcPct val="130000"/>
              </a:lnSpc>
              <a:buNone/>
            </a:pPr>
            <a:r>
              <a:rPr lang="en-US" sz="1300" dirty="0">
                <a:solidFill>
                  <a:srgbClr val="9FB1CC"/>
                </a:solidFill>
                <a:latin typeface="Consolas" pitchFamily="34" charset="0"/>
                <a:ea typeface="Consolas" pitchFamily="34" charset="-122"/>
                <a:cs typeface="Consolas" pitchFamily="34" charset="-120"/>
              </a:rPr>
              <a:t>B₁ⱼ₂ ⇔ (P₁ⱼ₁ ∨ P₁ⱼ₃ ∨ P₂ⱼ₂)</a:t>
            </a:r>
            <a:endParaRPr lang="en-US" sz="1300" dirty="0"/>
          </a:p>
          <a:p>
            <a:pPr indent="0" marL="0">
              <a:lnSpc>
                <a:spcPct val="130000"/>
              </a:lnSpc>
              <a:buNone/>
            </a:pPr>
            <a:r>
              <a:rPr lang="en-US" sz="1300" dirty="0">
                <a:solidFill>
                  <a:srgbClr val="9FB1CC"/>
                </a:solidFill>
                <a:latin typeface="Consolas" pitchFamily="34" charset="0"/>
                <a:ea typeface="Consolas" pitchFamily="34" charset="-122"/>
                <a:cs typeface="Consolas" pitchFamily="34" charset="-120"/>
              </a:rPr>
              <a:t>B₁ⱼ₃ ⇔ (P₁ⱼ₂ ∨ P₁ⱼ₄ ∨ P₂ⱼ₃)</a:t>
            </a:r>
            <a:endParaRPr lang="en-US" sz="1300" dirty="0"/>
          </a:p>
          <a:p>
            <a:pPr indent="0" marL="0">
              <a:lnSpc>
                <a:spcPct val="130000"/>
              </a:lnSpc>
              <a:buNone/>
            </a:pPr>
            <a:r>
              <a:rPr lang="en-US" sz="1300" dirty="0">
                <a:solidFill>
                  <a:srgbClr val="9FB1CC"/>
                </a:solidFill>
                <a:latin typeface="Consolas" pitchFamily="34" charset="0"/>
                <a:ea typeface="Consolas" pitchFamily="34" charset="-122"/>
                <a:cs typeface="Consolas" pitchFamily="34" charset="-120"/>
              </a:rPr>
              <a:t>...</a:t>
            </a:r>
            <a:endParaRPr lang="en-US" sz="1300" dirty="0"/>
          </a:p>
        </p:txBody>
      </p:sp>
      <p:sp>
        <p:nvSpPr>
          <p:cNvPr id="7" name="Text 5"/>
          <p:cNvSpPr/>
          <p:nvPr/>
        </p:nvSpPr>
        <p:spPr>
          <a:xfrm>
            <a:off x="822960" y="3566160"/>
            <a:ext cx="4937760" cy="365760"/>
          </a:xfrm>
          <a:prstGeom prst="rect">
            <a:avLst/>
          </a:prstGeom>
          <a:noFill/>
          <a:ln/>
        </p:spPr>
        <p:txBody>
          <a:bodyPr wrap="square" rtlCol="0" anchor="ctr"/>
          <a:lstStyle/>
          <a:p>
            <a:pPr indent="0" marL="0">
              <a:buNone/>
            </a:pPr>
            <a:r>
              <a:rPr lang="en-US" sz="1200" i="1" dirty="0">
                <a:solidFill>
                  <a:srgbClr val="9FB1CC"/>
                </a:solidFill>
                <a:latin typeface="Calibri" pitchFamily="34" charset="0"/>
                <a:ea typeface="Calibri" pitchFamily="34" charset="-122"/>
                <a:cs typeface="Calibri" pitchFamily="34" charset="-120"/>
              </a:rPr>
              <a:t>On a 100×100 grid: 10,000 separate rules.</a:t>
            </a:r>
            <a:endParaRPr lang="en-US" sz="1200" dirty="0"/>
          </a:p>
        </p:txBody>
      </p:sp>
      <p:sp>
        <p:nvSpPr>
          <p:cNvPr id="8" name="Shape 6"/>
          <p:cNvSpPr/>
          <p:nvPr/>
        </p:nvSpPr>
        <p:spPr>
          <a:xfrm>
            <a:off x="822960" y="4023360"/>
            <a:ext cx="4937760" cy="0"/>
          </a:xfrm>
          <a:prstGeom prst="line">
            <a:avLst/>
          </a:prstGeom>
          <a:noFill/>
          <a:ln w="12700">
            <a:solidFill>
              <a:srgbClr val="2A3A5C"/>
            </a:solidFill>
            <a:prstDash val="solid"/>
          </a:ln>
        </p:spPr>
      </p:sp>
      <p:sp>
        <p:nvSpPr>
          <p:cNvPr id="9" name="Text 7"/>
          <p:cNvSpPr/>
          <p:nvPr/>
        </p:nvSpPr>
        <p:spPr>
          <a:xfrm>
            <a:off x="822960" y="4160520"/>
            <a:ext cx="4937760" cy="365760"/>
          </a:xfrm>
          <a:prstGeom prst="rect">
            <a:avLst/>
          </a:prstGeom>
          <a:noFill/>
          <a:ln/>
        </p:spPr>
        <p:txBody>
          <a:bodyPr wrap="square" rtlCol="0" anchor="ctr"/>
          <a:lstStyle/>
          <a:p>
            <a:pPr indent="0" marL="0">
              <a:buNone/>
            </a:pPr>
            <a:r>
              <a:rPr lang="en-US" sz="1300" b="1" dirty="0">
                <a:solidFill>
                  <a:srgbClr val="40D17D"/>
                </a:solidFill>
                <a:latin typeface="Calibri" pitchFamily="34" charset="0"/>
                <a:ea typeface="Calibri" pitchFamily="34" charset="-122"/>
                <a:cs typeface="Calibri" pitchFamily="34" charset="-120"/>
              </a:rPr>
              <a:t>First-order logic (one rule, ever):</a:t>
            </a:r>
            <a:endParaRPr lang="en-US" sz="1300" dirty="0"/>
          </a:p>
        </p:txBody>
      </p:sp>
      <p:sp>
        <p:nvSpPr>
          <p:cNvPr id="10" name="Text 8"/>
          <p:cNvSpPr/>
          <p:nvPr/>
        </p:nvSpPr>
        <p:spPr>
          <a:xfrm>
            <a:off x="822960" y="4572000"/>
            <a:ext cx="4937760" cy="548640"/>
          </a:xfrm>
          <a:prstGeom prst="rect">
            <a:avLst/>
          </a:prstGeom>
          <a:noFill/>
          <a:ln/>
        </p:spPr>
        <p:txBody>
          <a:bodyPr wrap="square" rtlCol="0" anchor="ctr"/>
          <a:lstStyle/>
          <a:p>
            <a:pPr indent="0" marL="0">
              <a:buNone/>
            </a:pPr>
            <a:r>
              <a:rPr lang="en-US" sz="1500" b="1" dirty="0">
                <a:solidFill>
                  <a:srgbClr val="4FD1E8"/>
                </a:solidFill>
                <a:latin typeface="Consolas" pitchFamily="34" charset="0"/>
                <a:ea typeface="Consolas" pitchFamily="34" charset="-122"/>
                <a:cs typeface="Consolas" pitchFamily="34" charset="-120"/>
              </a:rPr>
              <a:t>∀s Breezy(s) ⇔ ∃p (Pit(p) ∧ Adjacent(p,s))</a:t>
            </a:r>
            <a:endParaRPr lang="en-US" sz="1500" dirty="0"/>
          </a:p>
        </p:txBody>
      </p:sp>
      <p:sp>
        <p:nvSpPr>
          <p:cNvPr id="11" name="Text 9"/>
          <p:cNvSpPr/>
          <p:nvPr/>
        </p:nvSpPr>
        <p:spPr>
          <a:xfrm>
            <a:off x="822960" y="5166360"/>
            <a:ext cx="4937760" cy="457200"/>
          </a:xfrm>
          <a:prstGeom prst="rect">
            <a:avLst/>
          </a:prstGeom>
          <a:noFill/>
          <a:ln/>
        </p:spPr>
        <p:txBody>
          <a:bodyPr wrap="square" rtlCol="0" anchor="ctr"/>
          <a:lstStyle/>
          <a:p>
            <a:pPr indent="0" marL="0">
              <a:buNone/>
            </a:pPr>
            <a:r>
              <a:rPr lang="en-US" sz="1200" i="1" dirty="0">
                <a:solidFill>
                  <a:srgbClr val="9FB1CC"/>
                </a:solidFill>
                <a:latin typeface="Calibri" pitchFamily="34" charset="0"/>
                <a:ea typeface="Calibri" pitchFamily="34" charset="-122"/>
                <a:cs typeface="Calibri" pitchFamily="34" charset="-120"/>
              </a:rPr>
              <a:t>Same rule holds no matter how big the grid gets.</a:t>
            </a:r>
            <a:endParaRPr lang="en-US" sz="1200" dirty="0"/>
          </a:p>
        </p:txBody>
      </p:sp>
      <p:sp>
        <p:nvSpPr>
          <p:cNvPr id="12" name="Shape 10"/>
          <p:cNvSpPr/>
          <p:nvPr/>
        </p:nvSpPr>
        <p:spPr>
          <a:xfrm>
            <a:off x="6355080" y="1691640"/>
            <a:ext cx="5303520" cy="4160520"/>
          </a:xfrm>
          <a:prstGeom prst="roundRect">
            <a:avLst>
              <a:gd name="adj" fmla="val 1758"/>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Shape 11"/>
          <p:cNvSpPr/>
          <p:nvPr/>
        </p:nvSpPr>
        <p:spPr>
          <a:xfrm>
            <a:off x="6556248" y="1892808"/>
            <a:ext cx="384048" cy="384048"/>
          </a:xfrm>
          <a:prstGeom prst="ellipse">
            <a:avLst/>
          </a:prstGeom>
          <a:solidFill>
            <a:srgbClr val="4FD1E8"/>
          </a:solidFill>
          <a:ln/>
        </p:spPr>
      </p:sp>
      <p:sp>
        <p:nvSpPr>
          <p:cNvPr id="14" name="Text 12"/>
          <p:cNvSpPr/>
          <p:nvPr/>
        </p:nvSpPr>
        <p:spPr>
          <a:xfrm>
            <a:off x="6556248" y="189280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5" name="Text 13"/>
          <p:cNvSpPr/>
          <p:nvPr/>
        </p:nvSpPr>
        <p:spPr>
          <a:xfrm>
            <a:off x="7086600" y="1874520"/>
            <a:ext cx="4389120" cy="274320"/>
          </a:xfrm>
          <a:prstGeom prst="rect">
            <a:avLst/>
          </a:prstGeom>
          <a:noFill/>
          <a:ln/>
        </p:spPr>
        <p:txBody>
          <a:bodyPr wrap="square" rtlCol="0" anchor="ctr"/>
          <a:lstStyle/>
          <a:p>
            <a:pPr indent="0" marL="0">
              <a:buNone/>
            </a:pPr>
            <a:r>
              <a:rPr lang="en-US" sz="1200" b="1" spc="100" kern="0" dirty="0">
                <a:solidFill>
                  <a:srgbClr val="4FD1E8"/>
                </a:solidFill>
                <a:latin typeface="Calibri" pitchFamily="34" charset="0"/>
                <a:ea typeface="Calibri" pitchFamily="34" charset="-122"/>
                <a:cs typeface="Calibri" pitchFamily="34" charset="-120"/>
              </a:rPr>
              <a:t>ANALOGY</a:t>
            </a:r>
            <a:endParaRPr lang="en-US" sz="1200" dirty="0"/>
          </a:p>
        </p:txBody>
      </p:sp>
      <p:sp>
        <p:nvSpPr>
          <p:cNvPr id="16" name="Text 14"/>
          <p:cNvSpPr/>
          <p:nvPr/>
        </p:nvSpPr>
        <p:spPr>
          <a:xfrm>
            <a:off x="7086600" y="2167128"/>
            <a:ext cx="4343400" cy="350215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It's the difference between a hotel posting a separate handwritten sign on every single door (“no smoking,” repeated 400 times) and one policy printed in the welcome folder: “No smoking within 10 feet of any door.” One general policy, backed by a notion of ‘adjacent,’ covers every room the hotel will ever build — including wings that don't exist yet.</a:t>
            </a:r>
            <a:endParaRPr lang="en-US" sz="1350" dirty="0"/>
          </a:p>
        </p:txBody>
      </p:sp>
      <p:sp>
        <p:nvSpPr>
          <p:cNvPr id="17" name="Text 15"/>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p:spPr>
      </p:sp>
      <p:sp>
        <p:nvSpPr>
          <p:cNvPr id="3" name="Text 1"/>
          <p:cNvSpPr/>
          <p:nvPr/>
        </p:nvSpPr>
        <p:spPr>
          <a:xfrm>
            <a:off x="7863840" y="1005840"/>
            <a:ext cx="4206240" cy="4846320"/>
          </a:xfrm>
          <a:prstGeom prst="rect">
            <a:avLst/>
          </a:prstGeom>
          <a:noFill/>
          <a:ln/>
        </p:spPr>
        <p:txBody>
          <a:bodyPr wrap="square" rtlCol="0" anchor="ctr"/>
          <a:lstStyle/>
          <a:p>
            <a:pPr algn="r" indent="0" marL="0">
              <a:buNone/>
            </a:pPr>
            <a:r>
              <a:rPr lang="en-US" sz="34000" b="1" dirty="0">
                <a:solidFill>
                  <a:srgbClr val="1B2740"/>
                </a:solidFill>
                <a:latin typeface="Cambria" pitchFamily="34" charset="0"/>
                <a:ea typeface="Cambria" pitchFamily="34" charset="-122"/>
                <a:cs typeface="Cambria" pitchFamily="34" charset="-120"/>
              </a:rPr>
              <a:t>8.4</a:t>
            </a:r>
            <a:endParaRPr lang="en-US" sz="34000" dirty="0"/>
          </a:p>
        </p:txBody>
      </p:sp>
      <p:sp>
        <p:nvSpPr>
          <p:cNvPr id="4" name="Shape 2"/>
          <p:cNvSpPr/>
          <p:nvPr/>
        </p:nvSpPr>
        <p:spPr>
          <a:xfrm>
            <a:off x="548640" y="3246120"/>
            <a:ext cx="1005840" cy="0"/>
          </a:xfrm>
          <a:prstGeom prst="line">
            <a:avLst/>
          </a:prstGeom>
          <a:noFill/>
          <a:ln w="38100">
            <a:solidFill>
              <a:srgbClr val="4FD1E8"/>
            </a:solidFill>
            <a:prstDash val="solid"/>
          </a:ln>
        </p:spPr>
      </p:sp>
      <p:sp>
        <p:nvSpPr>
          <p:cNvPr id="5" name="Text 3"/>
          <p:cNvSpPr/>
          <p:nvPr/>
        </p:nvSpPr>
        <p:spPr>
          <a:xfrm>
            <a:off x="548640" y="2331720"/>
            <a:ext cx="5486400" cy="365760"/>
          </a:xfrm>
          <a:prstGeom prst="rect">
            <a:avLst/>
          </a:prstGeom>
          <a:noFill/>
          <a:ln/>
        </p:spPr>
        <p:txBody>
          <a:bodyPr wrap="square" rtlCol="0" anchor="ctr"/>
          <a:lstStyle/>
          <a:p>
            <a:pPr indent="0" marL="0">
              <a:buNone/>
            </a:pPr>
            <a:r>
              <a:rPr lang="en-US" sz="1400" b="1" spc="300" kern="0" dirty="0">
                <a:solidFill>
                  <a:srgbClr val="4FD1E8"/>
                </a:solidFill>
                <a:latin typeface="Calibri" pitchFamily="34" charset="0"/>
                <a:ea typeface="Calibri" pitchFamily="34" charset="-122"/>
                <a:cs typeface="Calibri" pitchFamily="34" charset="-120"/>
              </a:rPr>
              <a:t>SECTION 8.4</a:t>
            </a:r>
            <a:endParaRPr lang="en-US" sz="1400" dirty="0"/>
          </a:p>
        </p:txBody>
      </p:sp>
      <p:sp>
        <p:nvSpPr>
          <p:cNvPr id="6" name="Text 4"/>
          <p:cNvSpPr/>
          <p:nvPr/>
        </p:nvSpPr>
        <p:spPr>
          <a:xfrm>
            <a:off x="548640" y="2743200"/>
            <a:ext cx="7315200" cy="1280160"/>
          </a:xfrm>
          <a:prstGeom prst="rect">
            <a:avLst/>
          </a:prstGeom>
          <a:noFill/>
          <a:ln/>
        </p:spPr>
        <p:txBody>
          <a:bodyPr wrap="square" rtlCol="0" anchor="ctr"/>
          <a:lstStyle/>
          <a:p>
            <a:pPr indent="0" marL="0">
              <a:buNone/>
            </a:pPr>
            <a:r>
              <a:rPr lang="en-US" sz="4200" b="1" dirty="0">
                <a:solidFill>
                  <a:srgbClr val="F4F7FB"/>
                </a:solidFill>
                <a:latin typeface="Calibri" pitchFamily="34" charset="0"/>
                <a:ea typeface="Calibri" pitchFamily="34" charset="-122"/>
                <a:cs typeface="Calibri" pitchFamily="34" charset="-120"/>
              </a:rPr>
              <a:t>Knowledge Engineering in First-Order Logic</a:t>
            </a:r>
            <a:endParaRPr lang="en-US" sz="4200" dirty="0"/>
          </a:p>
        </p:txBody>
      </p:sp>
      <p:sp>
        <p:nvSpPr>
          <p:cNvPr id="7" name="Text 5"/>
          <p:cNvSpPr/>
          <p:nvPr/>
        </p:nvSpPr>
        <p:spPr>
          <a:xfrm>
            <a:off x="548640" y="4023360"/>
            <a:ext cx="6675120" cy="1463040"/>
          </a:xfrm>
          <a:prstGeom prst="rect">
            <a:avLst/>
          </a:prstGeom>
          <a:noFill/>
          <a:ln/>
        </p:spPr>
        <p:txBody>
          <a:bodyPr wrap="square" rtlCol="0" anchor="ctr"/>
          <a:lstStyle/>
          <a:p>
            <a:pPr indent="0" marL="0">
              <a:lnSpc>
                <a:spcPct val="130000"/>
              </a:lnSpc>
              <a:buNone/>
            </a:pPr>
            <a:r>
              <a:rPr lang="en-US" sz="1500" dirty="0">
                <a:solidFill>
                  <a:srgbClr val="9FB1CC"/>
                </a:solidFill>
                <a:latin typeface="Calibri" pitchFamily="34" charset="0"/>
                <a:ea typeface="Calibri" pitchFamily="34" charset="-122"/>
                <a:cs typeface="Calibri" pitchFamily="34" charset="-120"/>
              </a:rPr>
              <a:t>Turning a real domain into working FOL axioms is a craft with its own process. We'll walk the 7 steps using a hands-on case study: a one-bit digital adder circuit.</a:t>
            </a:r>
            <a:endParaRPr lang="en-US" sz="1500" dirty="0"/>
          </a:p>
        </p:txBody>
      </p:sp>
      <p:sp>
        <p:nvSpPr>
          <p:cNvPr id="8" name="Text 6"/>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8.4.1 THE KNOWLEDGE ENGINEERING PROCESS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Seven steps, every project</a:t>
            </a:r>
            <a:endParaRPr lang="en-US" sz="3000" dirty="0"/>
          </a:p>
        </p:txBody>
      </p:sp>
      <p:sp>
        <p:nvSpPr>
          <p:cNvPr id="4" name="Shape 2"/>
          <p:cNvSpPr/>
          <p:nvPr/>
        </p:nvSpPr>
        <p:spPr>
          <a:xfrm>
            <a:off x="548640" y="1737360"/>
            <a:ext cx="457200" cy="457200"/>
          </a:xfrm>
          <a:prstGeom prst="roundRect">
            <a:avLst>
              <a:gd name="adj" fmla="val 50000"/>
            </a:avLst>
          </a:prstGeom>
          <a:solidFill>
            <a:srgbClr val="4FD1E8"/>
          </a:solidFill>
          <a:ln/>
        </p:spPr>
      </p:sp>
      <p:sp>
        <p:nvSpPr>
          <p:cNvPr id="5" name="Text 3"/>
          <p:cNvSpPr/>
          <p:nvPr/>
        </p:nvSpPr>
        <p:spPr>
          <a:xfrm>
            <a:off x="548640" y="1737360"/>
            <a:ext cx="457200" cy="457200"/>
          </a:xfrm>
          <a:prstGeom prst="rect">
            <a:avLst/>
          </a:prstGeom>
          <a:noFill/>
          <a:ln/>
        </p:spPr>
        <p:txBody>
          <a:bodyPr wrap="square"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709928"/>
            <a:ext cx="4846320" cy="512064"/>
          </a:xfrm>
          <a:prstGeom prst="rect">
            <a:avLst/>
          </a:prstGeom>
          <a:noFill/>
          <a:ln/>
        </p:spPr>
        <p:txBody>
          <a:bodyPr wrap="square" rtlCol="0" anchor="ctr"/>
          <a:lstStyle/>
          <a:p>
            <a:pPr indent="0" marL="0">
              <a:buNone/>
            </a:pPr>
            <a:r>
              <a:rPr lang="en-US" sz="1350" dirty="0">
                <a:solidFill>
                  <a:srgbClr val="F4F7FB"/>
                </a:solidFill>
                <a:latin typeface="Calibri" pitchFamily="34" charset="0"/>
                <a:ea typeface="Calibri" pitchFamily="34" charset="-122"/>
                <a:cs typeface="Calibri" pitchFamily="34" charset="-120"/>
              </a:rPr>
              <a:t>Identify the questions the KB must answer</a:t>
            </a:r>
            <a:endParaRPr lang="en-US" sz="1350" dirty="0"/>
          </a:p>
        </p:txBody>
      </p:sp>
      <p:sp>
        <p:nvSpPr>
          <p:cNvPr id="7" name="Shape 5"/>
          <p:cNvSpPr/>
          <p:nvPr/>
        </p:nvSpPr>
        <p:spPr>
          <a:xfrm>
            <a:off x="548640" y="2304288"/>
            <a:ext cx="457200" cy="457200"/>
          </a:xfrm>
          <a:prstGeom prst="roundRect">
            <a:avLst>
              <a:gd name="adj" fmla="val 50000"/>
            </a:avLst>
          </a:prstGeom>
          <a:solidFill>
            <a:srgbClr val="A78BFA"/>
          </a:solidFill>
          <a:ln/>
        </p:spPr>
      </p:sp>
      <p:sp>
        <p:nvSpPr>
          <p:cNvPr id="8" name="Text 6"/>
          <p:cNvSpPr/>
          <p:nvPr/>
        </p:nvSpPr>
        <p:spPr>
          <a:xfrm>
            <a:off x="548640" y="2304288"/>
            <a:ext cx="457200" cy="457200"/>
          </a:xfrm>
          <a:prstGeom prst="rect">
            <a:avLst/>
          </a:prstGeom>
          <a:noFill/>
          <a:ln/>
        </p:spPr>
        <p:txBody>
          <a:bodyPr wrap="square"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143000" y="2276856"/>
            <a:ext cx="4846320" cy="512064"/>
          </a:xfrm>
          <a:prstGeom prst="rect">
            <a:avLst/>
          </a:prstGeom>
          <a:noFill/>
          <a:ln/>
        </p:spPr>
        <p:txBody>
          <a:bodyPr wrap="square" rtlCol="0" anchor="ctr"/>
          <a:lstStyle/>
          <a:p>
            <a:pPr indent="0" marL="0">
              <a:buNone/>
            </a:pPr>
            <a:r>
              <a:rPr lang="en-US" sz="1350" dirty="0">
                <a:solidFill>
                  <a:srgbClr val="F4F7FB"/>
                </a:solidFill>
                <a:latin typeface="Calibri" pitchFamily="34" charset="0"/>
                <a:ea typeface="Calibri" pitchFamily="34" charset="-122"/>
                <a:cs typeface="Calibri" pitchFamily="34" charset="-120"/>
              </a:rPr>
              <a:t>Assemble the relevant domain knowledge</a:t>
            </a:r>
            <a:endParaRPr lang="en-US" sz="1350" dirty="0"/>
          </a:p>
        </p:txBody>
      </p:sp>
      <p:sp>
        <p:nvSpPr>
          <p:cNvPr id="10" name="Shape 8"/>
          <p:cNvSpPr/>
          <p:nvPr/>
        </p:nvSpPr>
        <p:spPr>
          <a:xfrm>
            <a:off x="548640" y="2871216"/>
            <a:ext cx="457200" cy="457200"/>
          </a:xfrm>
          <a:prstGeom prst="roundRect">
            <a:avLst>
              <a:gd name="adj" fmla="val 50000"/>
            </a:avLst>
          </a:prstGeom>
          <a:solidFill>
            <a:srgbClr val="4FD1E8"/>
          </a:solidFill>
          <a:ln/>
        </p:spPr>
      </p:sp>
      <p:sp>
        <p:nvSpPr>
          <p:cNvPr id="11" name="Text 9"/>
          <p:cNvSpPr/>
          <p:nvPr/>
        </p:nvSpPr>
        <p:spPr>
          <a:xfrm>
            <a:off x="548640" y="2871216"/>
            <a:ext cx="457200" cy="457200"/>
          </a:xfrm>
          <a:prstGeom prst="rect">
            <a:avLst/>
          </a:prstGeom>
          <a:noFill/>
          <a:ln/>
        </p:spPr>
        <p:txBody>
          <a:bodyPr wrap="square"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143000" y="2843784"/>
            <a:ext cx="4846320" cy="512064"/>
          </a:xfrm>
          <a:prstGeom prst="rect">
            <a:avLst/>
          </a:prstGeom>
          <a:noFill/>
          <a:ln/>
        </p:spPr>
        <p:txBody>
          <a:bodyPr wrap="square" rtlCol="0" anchor="ctr"/>
          <a:lstStyle/>
          <a:p>
            <a:pPr indent="0" marL="0">
              <a:buNone/>
            </a:pPr>
            <a:r>
              <a:rPr lang="en-US" sz="1350" dirty="0">
                <a:solidFill>
                  <a:srgbClr val="F4F7FB"/>
                </a:solidFill>
                <a:latin typeface="Calibri" pitchFamily="34" charset="0"/>
                <a:ea typeface="Calibri" pitchFamily="34" charset="-122"/>
                <a:cs typeface="Calibri" pitchFamily="34" charset="-120"/>
              </a:rPr>
              <a:t>Decide on a vocabulary (the ontology)</a:t>
            </a:r>
            <a:endParaRPr lang="en-US" sz="1350" dirty="0"/>
          </a:p>
        </p:txBody>
      </p:sp>
      <p:sp>
        <p:nvSpPr>
          <p:cNvPr id="13" name="Shape 11"/>
          <p:cNvSpPr/>
          <p:nvPr/>
        </p:nvSpPr>
        <p:spPr>
          <a:xfrm>
            <a:off x="548640" y="3438144"/>
            <a:ext cx="457200" cy="457200"/>
          </a:xfrm>
          <a:prstGeom prst="roundRect">
            <a:avLst>
              <a:gd name="adj" fmla="val 50000"/>
            </a:avLst>
          </a:prstGeom>
          <a:solidFill>
            <a:srgbClr val="A78BFA"/>
          </a:solidFill>
          <a:ln/>
        </p:spPr>
      </p:sp>
      <p:sp>
        <p:nvSpPr>
          <p:cNvPr id="14" name="Text 12"/>
          <p:cNvSpPr/>
          <p:nvPr/>
        </p:nvSpPr>
        <p:spPr>
          <a:xfrm>
            <a:off x="548640" y="3438144"/>
            <a:ext cx="457200" cy="457200"/>
          </a:xfrm>
          <a:prstGeom prst="rect">
            <a:avLst/>
          </a:prstGeom>
          <a:noFill/>
          <a:ln/>
        </p:spPr>
        <p:txBody>
          <a:bodyPr wrap="square"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143000" y="3410712"/>
            <a:ext cx="4846320" cy="512064"/>
          </a:xfrm>
          <a:prstGeom prst="rect">
            <a:avLst/>
          </a:prstGeom>
          <a:noFill/>
          <a:ln/>
        </p:spPr>
        <p:txBody>
          <a:bodyPr wrap="square" rtlCol="0" anchor="ctr"/>
          <a:lstStyle/>
          <a:p>
            <a:pPr indent="0" marL="0">
              <a:buNone/>
            </a:pPr>
            <a:r>
              <a:rPr lang="en-US" sz="1350" dirty="0">
                <a:solidFill>
                  <a:srgbClr val="F4F7FB"/>
                </a:solidFill>
                <a:latin typeface="Calibri" pitchFamily="34" charset="0"/>
                <a:ea typeface="Calibri" pitchFamily="34" charset="-122"/>
                <a:cs typeface="Calibri" pitchFamily="34" charset="-120"/>
              </a:rPr>
              <a:t>Encode general knowledge as axioms</a:t>
            </a:r>
            <a:endParaRPr lang="en-US" sz="1350" dirty="0"/>
          </a:p>
        </p:txBody>
      </p:sp>
      <p:sp>
        <p:nvSpPr>
          <p:cNvPr id="16" name="Shape 14"/>
          <p:cNvSpPr/>
          <p:nvPr/>
        </p:nvSpPr>
        <p:spPr>
          <a:xfrm>
            <a:off x="6309360" y="1737360"/>
            <a:ext cx="457200" cy="457200"/>
          </a:xfrm>
          <a:prstGeom prst="roundRect">
            <a:avLst>
              <a:gd name="adj" fmla="val 50000"/>
            </a:avLst>
          </a:prstGeom>
          <a:solidFill>
            <a:srgbClr val="4FD1E8"/>
          </a:solidFill>
          <a:ln/>
        </p:spPr>
      </p:sp>
      <p:sp>
        <p:nvSpPr>
          <p:cNvPr id="17" name="Text 15"/>
          <p:cNvSpPr/>
          <p:nvPr/>
        </p:nvSpPr>
        <p:spPr>
          <a:xfrm>
            <a:off x="6309360" y="1737360"/>
            <a:ext cx="457200" cy="457200"/>
          </a:xfrm>
          <a:prstGeom prst="rect">
            <a:avLst/>
          </a:prstGeom>
          <a:noFill/>
          <a:ln/>
        </p:spPr>
        <p:txBody>
          <a:bodyPr wrap="square"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6903720" y="1709928"/>
            <a:ext cx="4846320" cy="512064"/>
          </a:xfrm>
          <a:prstGeom prst="rect">
            <a:avLst/>
          </a:prstGeom>
          <a:noFill/>
          <a:ln/>
        </p:spPr>
        <p:txBody>
          <a:bodyPr wrap="square" rtlCol="0" anchor="ctr"/>
          <a:lstStyle/>
          <a:p>
            <a:pPr indent="0" marL="0">
              <a:buNone/>
            </a:pPr>
            <a:r>
              <a:rPr lang="en-US" sz="1350" dirty="0">
                <a:solidFill>
                  <a:srgbClr val="F4F7FB"/>
                </a:solidFill>
                <a:latin typeface="Calibri" pitchFamily="34" charset="0"/>
                <a:ea typeface="Calibri" pitchFamily="34" charset="-122"/>
                <a:cs typeface="Calibri" pitchFamily="34" charset="-120"/>
              </a:rPr>
              <a:t>Encode the specific problem instance</a:t>
            </a:r>
            <a:endParaRPr lang="en-US" sz="1350" dirty="0"/>
          </a:p>
        </p:txBody>
      </p:sp>
      <p:sp>
        <p:nvSpPr>
          <p:cNvPr id="19" name="Shape 17"/>
          <p:cNvSpPr/>
          <p:nvPr/>
        </p:nvSpPr>
        <p:spPr>
          <a:xfrm>
            <a:off x="6309360" y="2304288"/>
            <a:ext cx="457200" cy="457200"/>
          </a:xfrm>
          <a:prstGeom prst="roundRect">
            <a:avLst>
              <a:gd name="adj" fmla="val 50000"/>
            </a:avLst>
          </a:prstGeom>
          <a:solidFill>
            <a:srgbClr val="A78BFA"/>
          </a:solidFill>
          <a:ln/>
        </p:spPr>
      </p:sp>
      <p:sp>
        <p:nvSpPr>
          <p:cNvPr id="20" name="Text 18"/>
          <p:cNvSpPr/>
          <p:nvPr/>
        </p:nvSpPr>
        <p:spPr>
          <a:xfrm>
            <a:off x="6309360" y="2304288"/>
            <a:ext cx="457200" cy="457200"/>
          </a:xfrm>
          <a:prstGeom prst="rect">
            <a:avLst/>
          </a:prstGeom>
          <a:noFill/>
          <a:ln/>
        </p:spPr>
        <p:txBody>
          <a:bodyPr wrap="square"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6</a:t>
            </a:r>
            <a:endParaRPr lang="en-US" sz="1500" dirty="0"/>
          </a:p>
        </p:txBody>
      </p:sp>
      <p:sp>
        <p:nvSpPr>
          <p:cNvPr id="21" name="Text 19"/>
          <p:cNvSpPr/>
          <p:nvPr/>
        </p:nvSpPr>
        <p:spPr>
          <a:xfrm>
            <a:off x="6903720" y="2276856"/>
            <a:ext cx="4846320" cy="512064"/>
          </a:xfrm>
          <a:prstGeom prst="rect">
            <a:avLst/>
          </a:prstGeom>
          <a:noFill/>
          <a:ln/>
        </p:spPr>
        <p:txBody>
          <a:bodyPr wrap="square" rtlCol="0" anchor="ctr"/>
          <a:lstStyle/>
          <a:p>
            <a:pPr indent="0" marL="0">
              <a:buNone/>
            </a:pPr>
            <a:r>
              <a:rPr lang="en-US" sz="1350" dirty="0">
                <a:solidFill>
                  <a:srgbClr val="F4F7FB"/>
                </a:solidFill>
                <a:latin typeface="Calibri" pitchFamily="34" charset="0"/>
                <a:ea typeface="Calibri" pitchFamily="34" charset="-122"/>
                <a:cs typeface="Calibri" pitchFamily="34" charset="-120"/>
              </a:rPr>
              <a:t>Pose queries to the inference procedure</a:t>
            </a:r>
            <a:endParaRPr lang="en-US" sz="1350" dirty="0"/>
          </a:p>
        </p:txBody>
      </p:sp>
      <p:sp>
        <p:nvSpPr>
          <p:cNvPr id="22" name="Shape 20"/>
          <p:cNvSpPr/>
          <p:nvPr/>
        </p:nvSpPr>
        <p:spPr>
          <a:xfrm>
            <a:off x="6309360" y="2871216"/>
            <a:ext cx="457200" cy="457200"/>
          </a:xfrm>
          <a:prstGeom prst="roundRect">
            <a:avLst>
              <a:gd name="adj" fmla="val 50000"/>
            </a:avLst>
          </a:prstGeom>
          <a:solidFill>
            <a:srgbClr val="4FD1E8"/>
          </a:solidFill>
          <a:ln/>
        </p:spPr>
      </p:sp>
      <p:sp>
        <p:nvSpPr>
          <p:cNvPr id="23" name="Text 21"/>
          <p:cNvSpPr/>
          <p:nvPr/>
        </p:nvSpPr>
        <p:spPr>
          <a:xfrm>
            <a:off x="6309360" y="2871216"/>
            <a:ext cx="457200" cy="457200"/>
          </a:xfrm>
          <a:prstGeom prst="rect">
            <a:avLst/>
          </a:prstGeom>
          <a:noFill/>
          <a:ln/>
        </p:spPr>
        <p:txBody>
          <a:bodyPr wrap="square"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7</a:t>
            </a:r>
            <a:endParaRPr lang="en-US" sz="1500" dirty="0"/>
          </a:p>
        </p:txBody>
      </p:sp>
      <p:sp>
        <p:nvSpPr>
          <p:cNvPr id="24" name="Text 22"/>
          <p:cNvSpPr/>
          <p:nvPr/>
        </p:nvSpPr>
        <p:spPr>
          <a:xfrm>
            <a:off x="6903720" y="2843784"/>
            <a:ext cx="4846320" cy="512064"/>
          </a:xfrm>
          <a:prstGeom prst="rect">
            <a:avLst/>
          </a:prstGeom>
          <a:noFill/>
          <a:ln/>
        </p:spPr>
        <p:txBody>
          <a:bodyPr wrap="square" rtlCol="0" anchor="ctr"/>
          <a:lstStyle/>
          <a:p>
            <a:pPr indent="0" marL="0">
              <a:buNone/>
            </a:pPr>
            <a:r>
              <a:rPr lang="en-US" sz="1350" dirty="0">
                <a:solidFill>
                  <a:srgbClr val="F4F7FB"/>
                </a:solidFill>
                <a:latin typeface="Calibri" pitchFamily="34" charset="0"/>
                <a:ea typeface="Calibri" pitchFamily="34" charset="-122"/>
                <a:cs typeface="Calibri" pitchFamily="34" charset="-120"/>
              </a:rPr>
              <a:t>Debug and evaluate the knowledge base</a:t>
            </a:r>
            <a:endParaRPr lang="en-US" sz="1350" dirty="0"/>
          </a:p>
        </p:txBody>
      </p:sp>
      <p:sp>
        <p:nvSpPr>
          <p:cNvPr id="25" name="Shape 23"/>
          <p:cNvSpPr/>
          <p:nvPr/>
        </p:nvSpPr>
        <p:spPr>
          <a:xfrm>
            <a:off x="548640" y="4617720"/>
            <a:ext cx="11109960" cy="1828800"/>
          </a:xfrm>
          <a:prstGeom prst="roundRect">
            <a:avLst>
              <a:gd name="adj" fmla="val 4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6" name="Shape 24"/>
          <p:cNvSpPr/>
          <p:nvPr/>
        </p:nvSpPr>
        <p:spPr>
          <a:xfrm>
            <a:off x="749808" y="4818888"/>
            <a:ext cx="384048" cy="384048"/>
          </a:xfrm>
          <a:prstGeom prst="ellipse">
            <a:avLst/>
          </a:prstGeom>
          <a:solidFill>
            <a:srgbClr val="FFC857"/>
          </a:solidFill>
          <a:ln/>
        </p:spPr>
      </p:sp>
      <p:sp>
        <p:nvSpPr>
          <p:cNvPr id="27" name="Text 25"/>
          <p:cNvSpPr/>
          <p:nvPr/>
        </p:nvSpPr>
        <p:spPr>
          <a:xfrm>
            <a:off x="749808" y="481888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28" name="Text 26"/>
          <p:cNvSpPr/>
          <p:nvPr/>
        </p:nvSpPr>
        <p:spPr>
          <a:xfrm>
            <a:off x="1280160" y="4800600"/>
            <a:ext cx="1019556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29" name="Text 27"/>
          <p:cNvSpPr/>
          <p:nvPr/>
        </p:nvSpPr>
        <p:spPr>
          <a:xfrm>
            <a:off x="1280160" y="5093208"/>
            <a:ext cx="10149840" cy="117043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This mirrors how you'd write documentation for a new codebase you've inherited: first figure out what questions people will actually ask, gather knowledge from whoever understands it, settle on consistent terminology, write down the rules, plug in real examples, test with sample queries, and finally hunt down the bugs the tests reveal. Step 3 (vocabulary) is the make-or-break step — just like naming conventions can make or break a codebase's readability.</a:t>
            </a:r>
            <a:endParaRPr lang="en-US" sz="1350" dirty="0"/>
          </a:p>
        </p:txBody>
      </p:sp>
      <p:sp>
        <p:nvSpPr>
          <p:cNvPr id="30" name="Text 28"/>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8.4.2 THE ELECTRONIC CIRCUITS DOMAIN</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Case study: a one-bit full adder</a:t>
            </a:r>
            <a:endParaRPr lang="en-US" sz="2800" dirty="0"/>
          </a:p>
        </p:txBody>
      </p:sp>
      <p:sp>
        <p:nvSpPr>
          <p:cNvPr id="4" name="Shape 2"/>
          <p:cNvSpPr/>
          <p:nvPr/>
        </p:nvSpPr>
        <p:spPr>
          <a:xfrm>
            <a:off x="548640" y="1691640"/>
            <a:ext cx="6035040" cy="4160520"/>
          </a:xfrm>
          <a:prstGeom prst="roundRect">
            <a:avLst>
              <a:gd name="adj" fmla="val 1758"/>
            </a:avLst>
          </a:prstGeom>
          <a:solidFill>
            <a:srgbClr val="FFFFFF"/>
          </a:solidFill>
          <a:ln/>
        </p:spPr>
      </p:sp>
      <p:pic>
        <p:nvPicPr>
          <p:cNvPr id="5" name="Image 0" descr="fig8_6.jpg">    </p:cNvPr>
          <p:cNvPicPr>
            <a:picLocks noChangeAspect="1"/>
          </p:cNvPicPr>
          <p:nvPr/>
        </p:nvPicPr>
        <p:blipFill>
          <a:blip r:embed="rId1"/>
          <a:stretch>
            <a:fillRect/>
          </a:stretch>
        </p:blipFill>
        <p:spPr>
          <a:xfrm>
            <a:off x="777240" y="1965960"/>
            <a:ext cx="5577840" cy="3566160"/>
          </a:xfrm>
          <a:prstGeom prst="rect">
            <a:avLst/>
          </a:prstGeom>
        </p:spPr>
      </p:pic>
      <p:sp>
        <p:nvSpPr>
          <p:cNvPr id="6" name="Shape 3"/>
          <p:cNvSpPr/>
          <p:nvPr/>
        </p:nvSpPr>
        <p:spPr>
          <a:xfrm>
            <a:off x="6812280" y="1691640"/>
            <a:ext cx="4846320" cy="4160520"/>
          </a:xfrm>
          <a:prstGeom prst="roundRect">
            <a:avLst>
              <a:gd name="adj" fmla="val 1758"/>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7" name="Text 4"/>
          <p:cNvSpPr/>
          <p:nvPr/>
        </p:nvSpPr>
        <p:spPr>
          <a:xfrm>
            <a:off x="7086600" y="1874520"/>
            <a:ext cx="4389120" cy="320040"/>
          </a:xfrm>
          <a:prstGeom prst="rect">
            <a:avLst/>
          </a:prstGeom>
          <a:noFill/>
          <a:ln/>
        </p:spPr>
        <p:txBody>
          <a:bodyPr wrap="square" rtlCol="0" anchor="ctr"/>
          <a:lstStyle/>
          <a:p>
            <a:pPr indent="0" marL="0">
              <a:buNone/>
            </a:pPr>
            <a:r>
              <a:rPr lang="en-US" sz="1400" b="1" dirty="0">
                <a:solidFill>
                  <a:srgbClr val="4FD1E8"/>
                </a:solidFill>
                <a:latin typeface="Calibri" pitchFamily="34" charset="0"/>
                <a:ea typeface="Calibri" pitchFamily="34" charset="-122"/>
                <a:cs typeface="Calibri" pitchFamily="34" charset="-120"/>
              </a:rPr>
              <a:t>Circuit C₁ has:</a:t>
            </a:r>
            <a:endParaRPr lang="en-US" sz="1400" dirty="0"/>
          </a:p>
        </p:txBody>
      </p:sp>
      <p:sp>
        <p:nvSpPr>
          <p:cNvPr id="8" name="Text 5"/>
          <p:cNvSpPr/>
          <p:nvPr/>
        </p:nvSpPr>
        <p:spPr>
          <a:xfrm>
            <a:off x="7086600" y="2286000"/>
            <a:ext cx="4389120" cy="502920"/>
          </a:xfrm>
          <a:prstGeom prst="rect">
            <a:avLst/>
          </a:prstGeom>
          <a:noFill/>
          <a:ln/>
        </p:spPr>
        <p:txBody>
          <a:bodyPr wrap="square" rtlCol="0" anchor="ctr"/>
          <a:lstStyle/>
          <a:p>
            <a:pPr indent="0" marL="0">
              <a:lnSpc>
                <a:spcPct val="115000"/>
              </a:lnSpc>
              <a:buNone/>
            </a:pPr>
            <a:r>
              <a:rPr lang="en-US" sz="1300" b="1" dirty="0">
                <a:solidFill>
                  <a:srgbClr val="F4F7FB"/>
                </a:solidFill>
                <a:latin typeface="Calibri" pitchFamily="34" charset="0"/>
                <a:ea typeface="Calibri" pitchFamily="34" charset="-122"/>
                <a:cs typeface="Calibri" pitchFamily="34" charset="-120"/>
              </a:rPr>
              <a:t>3 inputs  </a:t>
            </a:r>
            <a:pPr indent="0" marL="0">
              <a:lnSpc>
                <a:spcPct val="115000"/>
              </a:lnSpc>
              <a:buNone/>
            </a:pPr>
            <a:r>
              <a:rPr lang="en-US" sz="1300" dirty="0">
                <a:solidFill>
                  <a:srgbClr val="9FB1CC"/>
                </a:solidFill>
                <a:latin typeface="Calibri" pitchFamily="34" charset="0"/>
                <a:ea typeface="Calibri" pitchFamily="34" charset="-122"/>
                <a:cs typeface="Calibri" pitchFamily="34" charset="-120"/>
              </a:rPr>
              <a:t>two bits to add, plus a carry-in</a:t>
            </a:r>
            <a:endParaRPr lang="en-US" sz="1300" dirty="0"/>
          </a:p>
        </p:txBody>
      </p:sp>
      <p:sp>
        <p:nvSpPr>
          <p:cNvPr id="9" name="Text 6"/>
          <p:cNvSpPr/>
          <p:nvPr/>
        </p:nvSpPr>
        <p:spPr>
          <a:xfrm>
            <a:off x="7086600" y="2852928"/>
            <a:ext cx="4389120" cy="502920"/>
          </a:xfrm>
          <a:prstGeom prst="rect">
            <a:avLst/>
          </a:prstGeom>
          <a:noFill/>
          <a:ln/>
        </p:spPr>
        <p:txBody>
          <a:bodyPr wrap="square" rtlCol="0" anchor="ctr"/>
          <a:lstStyle/>
          <a:p>
            <a:pPr indent="0" marL="0">
              <a:lnSpc>
                <a:spcPct val="115000"/>
              </a:lnSpc>
              <a:buNone/>
            </a:pPr>
            <a:r>
              <a:rPr lang="en-US" sz="1300" b="1" dirty="0">
                <a:solidFill>
                  <a:srgbClr val="F4F7FB"/>
                </a:solidFill>
                <a:latin typeface="Calibri" pitchFamily="34" charset="0"/>
                <a:ea typeface="Calibri" pitchFamily="34" charset="-122"/>
                <a:cs typeface="Calibri" pitchFamily="34" charset="-120"/>
              </a:rPr>
              <a:t>2 outputs  </a:t>
            </a:r>
            <a:pPr indent="0" marL="0">
              <a:lnSpc>
                <a:spcPct val="115000"/>
              </a:lnSpc>
              <a:buNone/>
            </a:pPr>
            <a:r>
              <a:rPr lang="en-US" sz="1300" dirty="0">
                <a:solidFill>
                  <a:srgbClr val="9FB1CC"/>
                </a:solidFill>
                <a:latin typeface="Calibri" pitchFamily="34" charset="0"/>
                <a:ea typeface="Calibri" pitchFamily="34" charset="-122"/>
                <a:cs typeface="Calibri" pitchFamily="34" charset="-120"/>
              </a:rPr>
              <a:t>the sum bit, and a carry-out bit</a:t>
            </a:r>
            <a:endParaRPr lang="en-US" sz="1300" dirty="0"/>
          </a:p>
        </p:txBody>
      </p:sp>
      <p:sp>
        <p:nvSpPr>
          <p:cNvPr id="10" name="Text 7"/>
          <p:cNvSpPr/>
          <p:nvPr/>
        </p:nvSpPr>
        <p:spPr>
          <a:xfrm>
            <a:off x="7086600" y="3419856"/>
            <a:ext cx="4389120" cy="502920"/>
          </a:xfrm>
          <a:prstGeom prst="rect">
            <a:avLst/>
          </a:prstGeom>
          <a:noFill/>
          <a:ln/>
        </p:spPr>
        <p:txBody>
          <a:bodyPr wrap="square" rtlCol="0" anchor="ctr"/>
          <a:lstStyle/>
          <a:p>
            <a:pPr indent="0" marL="0">
              <a:lnSpc>
                <a:spcPct val="115000"/>
              </a:lnSpc>
              <a:buNone/>
            </a:pPr>
            <a:r>
              <a:rPr lang="en-US" sz="1300" b="1" dirty="0">
                <a:solidFill>
                  <a:srgbClr val="F4F7FB"/>
                </a:solidFill>
                <a:latin typeface="Calibri" pitchFamily="34" charset="0"/>
                <a:ea typeface="Calibri" pitchFamily="34" charset="-122"/>
                <a:cs typeface="Calibri" pitchFamily="34" charset="-120"/>
              </a:rPr>
              <a:t>5 gates  </a:t>
            </a:r>
            <a:pPr indent="0" marL="0">
              <a:lnSpc>
                <a:spcPct val="115000"/>
              </a:lnSpc>
              <a:buNone/>
            </a:pPr>
            <a:r>
              <a:rPr lang="en-US" sz="1300" dirty="0">
                <a:solidFill>
                  <a:srgbClr val="9FB1CC"/>
                </a:solidFill>
                <a:latin typeface="Calibri" pitchFamily="34" charset="0"/>
                <a:ea typeface="Calibri" pitchFamily="34" charset="-122"/>
                <a:cs typeface="Calibri" pitchFamily="34" charset="-120"/>
              </a:rPr>
              <a:t>two XOR, two AND, one OR</a:t>
            </a:r>
            <a:endParaRPr lang="en-US" sz="1300" dirty="0"/>
          </a:p>
        </p:txBody>
      </p:sp>
      <p:sp>
        <p:nvSpPr>
          <p:cNvPr id="11" name="Text 8"/>
          <p:cNvSpPr/>
          <p:nvPr/>
        </p:nvSpPr>
        <p:spPr>
          <a:xfrm>
            <a:off x="7086600" y="4206240"/>
            <a:ext cx="4389120" cy="1554480"/>
          </a:xfrm>
          <a:prstGeom prst="rect">
            <a:avLst/>
          </a:prstGeom>
          <a:noFill/>
          <a:ln/>
        </p:spPr>
        <p:txBody>
          <a:bodyPr wrap="square" rtlCol="0" anchor="ctr"/>
          <a:lstStyle/>
          <a:p>
            <a:pPr indent="0" marL="0">
              <a:lnSpc>
                <a:spcPct val="125000"/>
              </a:lnSpc>
              <a:buNone/>
            </a:pPr>
            <a:r>
              <a:rPr lang="en-US" sz="1250" i="1" dirty="0">
                <a:solidFill>
                  <a:srgbClr val="9FB1CC"/>
                </a:solidFill>
                <a:latin typeface="Calibri" pitchFamily="34" charset="0"/>
                <a:ea typeface="Calibri" pitchFamily="34" charset="-122"/>
                <a:cs typeface="Calibri" pitchFamily="34" charset="-120"/>
              </a:rPr>
              <a:t>Question we want the KB to answer: does this circuit actually add correctly? What are all the gates connected to the first input? Does it contain feedback loops?</a:t>
            </a:r>
            <a:endParaRPr lang="en-US" sz="1250" dirty="0"/>
          </a:p>
        </p:txBody>
      </p:sp>
      <p:sp>
        <p:nvSpPr>
          <p:cNvPr id="12" name="Text 9"/>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8.4.2 VOCABULARY</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600" b="1" dirty="0">
                <a:solidFill>
                  <a:srgbClr val="F4F7FB"/>
                </a:solidFill>
                <a:latin typeface="Calibri" pitchFamily="34" charset="0"/>
                <a:ea typeface="Calibri" pitchFamily="34" charset="-122"/>
                <a:cs typeface="Calibri" pitchFamily="34" charset="-120"/>
              </a:rPr>
              <a:t>Building the ontology: gates, terminals, signals</a:t>
            </a:r>
            <a:endParaRPr lang="en-US" sz="2600" dirty="0"/>
          </a:p>
        </p:txBody>
      </p:sp>
      <p:sp>
        <p:nvSpPr>
          <p:cNvPr id="4" name="Shape 2"/>
          <p:cNvSpPr/>
          <p:nvPr/>
        </p:nvSpPr>
        <p:spPr>
          <a:xfrm>
            <a:off x="548640" y="1737360"/>
            <a:ext cx="5440680" cy="914400"/>
          </a:xfrm>
          <a:prstGeom prst="roundRect">
            <a:avLst>
              <a:gd name="adj" fmla="val 8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777240" y="1847088"/>
            <a:ext cx="4983480" cy="384048"/>
          </a:xfrm>
          <a:prstGeom prst="rect">
            <a:avLst/>
          </a:prstGeom>
          <a:noFill/>
          <a:ln/>
        </p:spPr>
        <p:txBody>
          <a:bodyPr wrap="square" rtlCol="0" anchor="ctr"/>
          <a:lstStyle/>
          <a:p>
            <a:pPr indent="0" marL="0">
              <a:buNone/>
            </a:pPr>
            <a:r>
              <a:rPr lang="en-US" sz="1500" b="1" dirty="0">
                <a:solidFill>
                  <a:srgbClr val="4FD1E8"/>
                </a:solidFill>
                <a:latin typeface="Consolas" pitchFamily="34" charset="0"/>
                <a:ea typeface="Consolas" pitchFamily="34" charset="-122"/>
                <a:cs typeface="Consolas" pitchFamily="34" charset="-120"/>
              </a:rPr>
              <a:t>Gate(x)</a:t>
            </a:r>
            <a:endParaRPr lang="en-US" sz="1500" dirty="0"/>
          </a:p>
        </p:txBody>
      </p:sp>
      <p:sp>
        <p:nvSpPr>
          <p:cNvPr id="6" name="Text 4"/>
          <p:cNvSpPr/>
          <p:nvPr/>
        </p:nvSpPr>
        <p:spPr>
          <a:xfrm>
            <a:off x="777240" y="2212848"/>
            <a:ext cx="4983480" cy="365760"/>
          </a:xfrm>
          <a:prstGeom prst="rect">
            <a:avLst/>
          </a:prstGeom>
          <a:noFill/>
          <a:ln/>
        </p:spPr>
        <p:txBody>
          <a:bodyPr wrap="square" rtlCol="0" anchor="ctr"/>
          <a:lstStyle/>
          <a:p>
            <a:pPr indent="0" marL="0">
              <a:buNone/>
            </a:pPr>
            <a:r>
              <a:rPr lang="en-US" sz="1200" dirty="0">
                <a:solidFill>
                  <a:srgbClr val="9FB1CC"/>
                </a:solidFill>
                <a:latin typeface="Calibri" pitchFamily="34" charset="0"/>
                <a:ea typeface="Calibri" pitchFamily="34" charset="-122"/>
                <a:cs typeface="Calibri" pitchFamily="34" charset="-120"/>
              </a:rPr>
              <a:t>x is a logic gate</a:t>
            </a:r>
            <a:endParaRPr lang="en-US" sz="1200" dirty="0"/>
          </a:p>
        </p:txBody>
      </p:sp>
      <p:sp>
        <p:nvSpPr>
          <p:cNvPr id="7" name="Shape 5"/>
          <p:cNvSpPr/>
          <p:nvPr/>
        </p:nvSpPr>
        <p:spPr>
          <a:xfrm>
            <a:off x="6309360" y="1737360"/>
            <a:ext cx="5440680" cy="914400"/>
          </a:xfrm>
          <a:prstGeom prst="roundRect">
            <a:avLst>
              <a:gd name="adj" fmla="val 8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8" name="Text 6"/>
          <p:cNvSpPr/>
          <p:nvPr/>
        </p:nvSpPr>
        <p:spPr>
          <a:xfrm>
            <a:off x="6537960" y="1847088"/>
            <a:ext cx="4983480" cy="384048"/>
          </a:xfrm>
          <a:prstGeom prst="rect">
            <a:avLst/>
          </a:prstGeom>
          <a:noFill/>
          <a:ln/>
        </p:spPr>
        <p:txBody>
          <a:bodyPr wrap="square" rtlCol="0" anchor="ctr"/>
          <a:lstStyle/>
          <a:p>
            <a:pPr indent="0" marL="0">
              <a:buNone/>
            </a:pPr>
            <a:r>
              <a:rPr lang="en-US" sz="1500" b="1" dirty="0">
                <a:solidFill>
                  <a:srgbClr val="4FD1E8"/>
                </a:solidFill>
                <a:latin typeface="Consolas" pitchFamily="34" charset="0"/>
                <a:ea typeface="Consolas" pitchFamily="34" charset="-122"/>
                <a:cs typeface="Consolas" pitchFamily="34" charset="-120"/>
              </a:rPr>
              <a:t>Type(g) = XOR</a:t>
            </a:r>
            <a:endParaRPr lang="en-US" sz="1500" dirty="0"/>
          </a:p>
        </p:txBody>
      </p:sp>
      <p:sp>
        <p:nvSpPr>
          <p:cNvPr id="9" name="Text 7"/>
          <p:cNvSpPr/>
          <p:nvPr/>
        </p:nvSpPr>
        <p:spPr>
          <a:xfrm>
            <a:off x="6537960" y="2212848"/>
            <a:ext cx="4983480" cy="365760"/>
          </a:xfrm>
          <a:prstGeom prst="rect">
            <a:avLst/>
          </a:prstGeom>
          <a:noFill/>
          <a:ln/>
        </p:spPr>
        <p:txBody>
          <a:bodyPr wrap="square" rtlCol="0" anchor="ctr"/>
          <a:lstStyle/>
          <a:p>
            <a:pPr indent="0" marL="0">
              <a:buNone/>
            </a:pPr>
            <a:r>
              <a:rPr lang="en-US" sz="1200" dirty="0">
                <a:solidFill>
                  <a:srgbClr val="9FB1CC"/>
                </a:solidFill>
                <a:latin typeface="Calibri" pitchFamily="34" charset="0"/>
                <a:ea typeface="Calibri" pitchFamily="34" charset="-122"/>
                <a:cs typeface="Calibri" pitchFamily="34" charset="-120"/>
              </a:rPr>
              <a:t>a gate's behavior type</a:t>
            </a:r>
            <a:endParaRPr lang="en-US" sz="1200" dirty="0"/>
          </a:p>
        </p:txBody>
      </p:sp>
      <p:sp>
        <p:nvSpPr>
          <p:cNvPr id="10" name="Shape 8"/>
          <p:cNvSpPr/>
          <p:nvPr/>
        </p:nvSpPr>
        <p:spPr>
          <a:xfrm>
            <a:off x="548640" y="2788920"/>
            <a:ext cx="5440680" cy="914400"/>
          </a:xfrm>
          <a:prstGeom prst="roundRect">
            <a:avLst>
              <a:gd name="adj" fmla="val 8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1" name="Text 9"/>
          <p:cNvSpPr/>
          <p:nvPr/>
        </p:nvSpPr>
        <p:spPr>
          <a:xfrm>
            <a:off x="777240" y="2898648"/>
            <a:ext cx="4983480" cy="384048"/>
          </a:xfrm>
          <a:prstGeom prst="rect">
            <a:avLst/>
          </a:prstGeom>
          <a:noFill/>
          <a:ln/>
        </p:spPr>
        <p:txBody>
          <a:bodyPr wrap="square" rtlCol="0" anchor="ctr"/>
          <a:lstStyle/>
          <a:p>
            <a:pPr indent="0" marL="0">
              <a:buNone/>
            </a:pPr>
            <a:r>
              <a:rPr lang="en-US" sz="1500" b="1" dirty="0">
                <a:solidFill>
                  <a:srgbClr val="4FD1E8"/>
                </a:solidFill>
                <a:latin typeface="Consolas" pitchFamily="34" charset="0"/>
                <a:ea typeface="Consolas" pitchFamily="34" charset="-122"/>
                <a:cs typeface="Consolas" pitchFamily="34" charset="-120"/>
              </a:rPr>
              <a:t>Terminal(x)</a:t>
            </a:r>
            <a:endParaRPr lang="en-US" sz="1500" dirty="0"/>
          </a:p>
        </p:txBody>
      </p:sp>
      <p:sp>
        <p:nvSpPr>
          <p:cNvPr id="12" name="Text 10"/>
          <p:cNvSpPr/>
          <p:nvPr/>
        </p:nvSpPr>
        <p:spPr>
          <a:xfrm>
            <a:off x="777240" y="3264408"/>
            <a:ext cx="4983480" cy="365760"/>
          </a:xfrm>
          <a:prstGeom prst="rect">
            <a:avLst/>
          </a:prstGeom>
          <a:noFill/>
          <a:ln/>
        </p:spPr>
        <p:txBody>
          <a:bodyPr wrap="square" rtlCol="0" anchor="ctr"/>
          <a:lstStyle/>
          <a:p>
            <a:pPr indent="0" marL="0">
              <a:buNone/>
            </a:pPr>
            <a:r>
              <a:rPr lang="en-US" sz="1200" dirty="0">
                <a:solidFill>
                  <a:srgbClr val="9FB1CC"/>
                </a:solidFill>
                <a:latin typeface="Calibri" pitchFamily="34" charset="0"/>
                <a:ea typeface="Calibri" pitchFamily="34" charset="-122"/>
                <a:cs typeface="Calibri" pitchFamily="34" charset="-120"/>
              </a:rPr>
              <a:t>x is an input or output pin</a:t>
            </a:r>
            <a:endParaRPr lang="en-US" sz="1200" dirty="0"/>
          </a:p>
        </p:txBody>
      </p:sp>
      <p:sp>
        <p:nvSpPr>
          <p:cNvPr id="13" name="Shape 11"/>
          <p:cNvSpPr/>
          <p:nvPr/>
        </p:nvSpPr>
        <p:spPr>
          <a:xfrm>
            <a:off x="6309360" y="2788920"/>
            <a:ext cx="5440680" cy="914400"/>
          </a:xfrm>
          <a:prstGeom prst="roundRect">
            <a:avLst>
              <a:gd name="adj" fmla="val 8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4" name="Text 12"/>
          <p:cNvSpPr/>
          <p:nvPr/>
        </p:nvSpPr>
        <p:spPr>
          <a:xfrm>
            <a:off x="6537960" y="2898648"/>
            <a:ext cx="4983480" cy="384048"/>
          </a:xfrm>
          <a:prstGeom prst="rect">
            <a:avLst/>
          </a:prstGeom>
          <a:noFill/>
          <a:ln/>
        </p:spPr>
        <p:txBody>
          <a:bodyPr wrap="square" rtlCol="0" anchor="ctr"/>
          <a:lstStyle/>
          <a:p>
            <a:pPr indent="0" marL="0">
              <a:buNone/>
            </a:pPr>
            <a:r>
              <a:rPr lang="en-US" sz="1500" b="1" dirty="0">
                <a:solidFill>
                  <a:srgbClr val="4FD1E8"/>
                </a:solidFill>
                <a:latin typeface="Consolas" pitchFamily="34" charset="0"/>
                <a:ea typeface="Consolas" pitchFamily="34" charset="-122"/>
                <a:cs typeface="Consolas" pitchFamily="34" charset="-120"/>
              </a:rPr>
              <a:t>In(1,X₁) / Out(n,c)</a:t>
            </a:r>
            <a:endParaRPr lang="en-US" sz="1500" dirty="0"/>
          </a:p>
        </p:txBody>
      </p:sp>
      <p:sp>
        <p:nvSpPr>
          <p:cNvPr id="15" name="Text 13"/>
          <p:cNvSpPr/>
          <p:nvPr/>
        </p:nvSpPr>
        <p:spPr>
          <a:xfrm>
            <a:off x="6537960" y="3264408"/>
            <a:ext cx="4983480" cy="365760"/>
          </a:xfrm>
          <a:prstGeom prst="rect">
            <a:avLst/>
          </a:prstGeom>
          <a:noFill/>
          <a:ln/>
        </p:spPr>
        <p:txBody>
          <a:bodyPr wrap="square" rtlCol="0" anchor="ctr"/>
          <a:lstStyle/>
          <a:p>
            <a:pPr indent="0" marL="0">
              <a:buNone/>
            </a:pPr>
            <a:r>
              <a:rPr lang="en-US" sz="1200" dirty="0">
                <a:solidFill>
                  <a:srgbClr val="9FB1CC"/>
                </a:solidFill>
                <a:latin typeface="Calibri" pitchFamily="34" charset="0"/>
                <a:ea typeface="Calibri" pitchFamily="34" charset="-122"/>
                <a:cs typeface="Calibri" pitchFamily="34" charset="-120"/>
              </a:rPr>
              <a:t>the n-th input/output terminal</a:t>
            </a:r>
            <a:endParaRPr lang="en-US" sz="1200" dirty="0"/>
          </a:p>
        </p:txBody>
      </p:sp>
      <p:sp>
        <p:nvSpPr>
          <p:cNvPr id="16" name="Shape 14"/>
          <p:cNvSpPr/>
          <p:nvPr/>
        </p:nvSpPr>
        <p:spPr>
          <a:xfrm>
            <a:off x="548640" y="3840480"/>
            <a:ext cx="5440680" cy="914400"/>
          </a:xfrm>
          <a:prstGeom prst="roundRect">
            <a:avLst>
              <a:gd name="adj" fmla="val 8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7" name="Text 15"/>
          <p:cNvSpPr/>
          <p:nvPr/>
        </p:nvSpPr>
        <p:spPr>
          <a:xfrm>
            <a:off x="777240" y="3950208"/>
            <a:ext cx="4983480" cy="384048"/>
          </a:xfrm>
          <a:prstGeom prst="rect">
            <a:avLst/>
          </a:prstGeom>
          <a:noFill/>
          <a:ln/>
        </p:spPr>
        <p:txBody>
          <a:bodyPr wrap="square" rtlCol="0" anchor="ctr"/>
          <a:lstStyle/>
          <a:p>
            <a:pPr indent="0" marL="0">
              <a:buNone/>
            </a:pPr>
            <a:r>
              <a:rPr lang="en-US" sz="1500" b="1" dirty="0">
                <a:solidFill>
                  <a:srgbClr val="4FD1E8"/>
                </a:solidFill>
                <a:latin typeface="Consolas" pitchFamily="34" charset="0"/>
                <a:ea typeface="Consolas" pitchFamily="34" charset="-122"/>
                <a:cs typeface="Consolas" pitchFamily="34" charset="-120"/>
              </a:rPr>
              <a:t>Connected(t₁,t₂)</a:t>
            </a:r>
            <a:endParaRPr lang="en-US" sz="1500" dirty="0"/>
          </a:p>
        </p:txBody>
      </p:sp>
      <p:sp>
        <p:nvSpPr>
          <p:cNvPr id="18" name="Text 16"/>
          <p:cNvSpPr/>
          <p:nvPr/>
        </p:nvSpPr>
        <p:spPr>
          <a:xfrm>
            <a:off x="777240" y="4315968"/>
            <a:ext cx="4983480" cy="365760"/>
          </a:xfrm>
          <a:prstGeom prst="rect">
            <a:avLst/>
          </a:prstGeom>
          <a:noFill/>
          <a:ln/>
        </p:spPr>
        <p:txBody>
          <a:bodyPr wrap="square" rtlCol="0" anchor="ctr"/>
          <a:lstStyle/>
          <a:p>
            <a:pPr indent="0" marL="0">
              <a:buNone/>
            </a:pPr>
            <a:r>
              <a:rPr lang="en-US" sz="1200" dirty="0">
                <a:solidFill>
                  <a:srgbClr val="9FB1CC"/>
                </a:solidFill>
                <a:latin typeface="Calibri" pitchFamily="34" charset="0"/>
                <a:ea typeface="Calibri" pitchFamily="34" charset="-122"/>
                <a:cs typeface="Calibri" pitchFamily="34" charset="-120"/>
              </a:rPr>
              <a:t>two terminals are wired together</a:t>
            </a:r>
            <a:endParaRPr lang="en-US" sz="1200" dirty="0"/>
          </a:p>
        </p:txBody>
      </p:sp>
      <p:sp>
        <p:nvSpPr>
          <p:cNvPr id="19" name="Shape 17"/>
          <p:cNvSpPr/>
          <p:nvPr/>
        </p:nvSpPr>
        <p:spPr>
          <a:xfrm>
            <a:off x="6309360" y="3840480"/>
            <a:ext cx="5440680" cy="914400"/>
          </a:xfrm>
          <a:prstGeom prst="roundRect">
            <a:avLst>
              <a:gd name="adj" fmla="val 8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0" name="Text 18"/>
          <p:cNvSpPr/>
          <p:nvPr/>
        </p:nvSpPr>
        <p:spPr>
          <a:xfrm>
            <a:off x="6537960" y="3950208"/>
            <a:ext cx="4983480" cy="384048"/>
          </a:xfrm>
          <a:prstGeom prst="rect">
            <a:avLst/>
          </a:prstGeom>
          <a:noFill/>
          <a:ln/>
        </p:spPr>
        <p:txBody>
          <a:bodyPr wrap="square" rtlCol="0" anchor="ctr"/>
          <a:lstStyle/>
          <a:p>
            <a:pPr indent="0" marL="0">
              <a:buNone/>
            </a:pPr>
            <a:r>
              <a:rPr lang="en-US" sz="1500" b="1" dirty="0">
                <a:solidFill>
                  <a:srgbClr val="4FD1E8"/>
                </a:solidFill>
                <a:latin typeface="Consolas" pitchFamily="34" charset="0"/>
                <a:ea typeface="Consolas" pitchFamily="34" charset="-122"/>
                <a:cs typeface="Consolas" pitchFamily="34" charset="-120"/>
              </a:rPr>
              <a:t>Signal(t)</a:t>
            </a:r>
            <a:endParaRPr lang="en-US" sz="1500" dirty="0"/>
          </a:p>
        </p:txBody>
      </p:sp>
      <p:sp>
        <p:nvSpPr>
          <p:cNvPr id="21" name="Text 19"/>
          <p:cNvSpPr/>
          <p:nvPr/>
        </p:nvSpPr>
        <p:spPr>
          <a:xfrm>
            <a:off x="6537960" y="4315968"/>
            <a:ext cx="4983480" cy="365760"/>
          </a:xfrm>
          <a:prstGeom prst="rect">
            <a:avLst/>
          </a:prstGeom>
          <a:noFill/>
          <a:ln/>
        </p:spPr>
        <p:txBody>
          <a:bodyPr wrap="square" rtlCol="0" anchor="ctr"/>
          <a:lstStyle/>
          <a:p>
            <a:pPr indent="0" marL="0">
              <a:buNone/>
            </a:pPr>
            <a:r>
              <a:rPr lang="en-US" sz="1200" dirty="0">
                <a:solidFill>
                  <a:srgbClr val="9FB1CC"/>
                </a:solidFill>
                <a:latin typeface="Calibri" pitchFamily="34" charset="0"/>
                <a:ea typeface="Calibri" pitchFamily="34" charset="-122"/>
                <a:cs typeface="Calibri" pitchFamily="34" charset="-120"/>
              </a:rPr>
              <a:t>the value (1 or 0) at terminal t</a:t>
            </a:r>
            <a:endParaRPr lang="en-US" sz="1200" dirty="0"/>
          </a:p>
        </p:txBody>
      </p:sp>
      <p:sp>
        <p:nvSpPr>
          <p:cNvPr id="22" name="Shape 20"/>
          <p:cNvSpPr/>
          <p:nvPr/>
        </p:nvSpPr>
        <p:spPr>
          <a:xfrm>
            <a:off x="548640" y="5166360"/>
            <a:ext cx="11109960" cy="1234440"/>
          </a:xfrm>
          <a:prstGeom prst="roundRect">
            <a:avLst>
              <a:gd name="adj" fmla="val 592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3" name="Shape 21"/>
          <p:cNvSpPr/>
          <p:nvPr/>
        </p:nvSpPr>
        <p:spPr>
          <a:xfrm>
            <a:off x="749808" y="5367528"/>
            <a:ext cx="384048" cy="384048"/>
          </a:xfrm>
          <a:prstGeom prst="ellipse">
            <a:avLst/>
          </a:prstGeom>
          <a:solidFill>
            <a:srgbClr val="FFC857"/>
          </a:solidFill>
          <a:ln/>
        </p:spPr>
      </p:sp>
      <p:sp>
        <p:nvSpPr>
          <p:cNvPr id="24" name="Text 22"/>
          <p:cNvSpPr/>
          <p:nvPr/>
        </p:nvSpPr>
        <p:spPr>
          <a:xfrm>
            <a:off x="749808" y="536752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25" name="Text 23"/>
          <p:cNvSpPr/>
          <p:nvPr/>
        </p:nvSpPr>
        <p:spPr>
          <a:xfrm>
            <a:off x="1280160" y="5349240"/>
            <a:ext cx="10195560" cy="274320"/>
          </a:xfrm>
          <a:prstGeom prst="rect">
            <a:avLst/>
          </a:prstGeom>
          <a:noFill/>
          <a:ln/>
        </p:spPr>
        <p:txBody>
          <a:bodyPr wrap="square" rtlCol="0" anchor="ctr"/>
          <a:lstStyle/>
          <a:p>
            <a:pPr indent="0" marL="0">
              <a:buNone/>
            </a:pPr>
            <a:r>
              <a:rPr lang="en-US" sz="1200" b="1" spc="100" kern="0" dirty="0">
                <a:solidFill>
                  <a:srgbClr val="FFC857"/>
                </a:solidFill>
                <a:latin typeface="Calibri" pitchFamily="34" charset="0"/>
                <a:ea typeface="Calibri" pitchFamily="34" charset="-122"/>
                <a:cs typeface="Calibri" pitchFamily="34" charset="-120"/>
              </a:rPr>
              <a:t>ANALOGY</a:t>
            </a:r>
            <a:endParaRPr lang="en-US" sz="1200" dirty="0"/>
          </a:p>
        </p:txBody>
      </p:sp>
      <p:sp>
        <p:nvSpPr>
          <p:cNvPr id="26" name="Text 24"/>
          <p:cNvSpPr/>
          <p:nvPr/>
        </p:nvSpPr>
        <p:spPr>
          <a:xfrm>
            <a:off x="1280160" y="5641848"/>
            <a:ext cx="10149840" cy="5760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This is exactly how you'd design a database schema for the circuit: tables for Gate and Terminal, a Type column, a Connected join-table linking terminal pairs, and a Signal column holding each terminal's current value — good ontology design is good schema design.</a:t>
            </a:r>
            <a:endParaRPr lang="en-US" sz="1350" dirty="0"/>
          </a:p>
        </p:txBody>
      </p:sp>
      <p:sp>
        <p:nvSpPr>
          <p:cNvPr id="27" name="Text 25"/>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8.4.2 ENCODING GENERAL KNOWLEDGE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700" b="1" dirty="0">
                <a:solidFill>
                  <a:srgbClr val="F4F7FB"/>
                </a:solidFill>
                <a:latin typeface="Calibri" pitchFamily="34" charset="0"/>
                <a:ea typeface="Calibri" pitchFamily="34" charset="-122"/>
                <a:cs typeface="Calibri" pitchFamily="34" charset="-120"/>
              </a:rPr>
              <a:t>A handful of axioms describe every gate</a:t>
            </a:r>
            <a:endParaRPr lang="en-US" sz="2700" dirty="0"/>
          </a:p>
        </p:txBody>
      </p:sp>
      <p:sp>
        <p:nvSpPr>
          <p:cNvPr id="4" name="Shape 2"/>
          <p:cNvSpPr/>
          <p:nvPr/>
        </p:nvSpPr>
        <p:spPr>
          <a:xfrm>
            <a:off x="548640" y="1691640"/>
            <a:ext cx="6035040" cy="4160520"/>
          </a:xfrm>
          <a:prstGeom prst="roundRect">
            <a:avLst>
              <a:gd name="adj" fmla="val 1758"/>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22960" y="1874520"/>
            <a:ext cx="5394960" cy="292608"/>
          </a:xfrm>
          <a:prstGeom prst="rect">
            <a:avLst/>
          </a:prstGeom>
          <a:noFill/>
          <a:ln/>
        </p:spPr>
        <p:txBody>
          <a:bodyPr wrap="square" rtlCol="0" anchor="ctr"/>
          <a:lstStyle/>
          <a:p>
            <a:pPr indent="0" marL="0">
              <a:buNone/>
            </a:pPr>
            <a:r>
              <a:rPr lang="en-US" sz="1250" b="1" dirty="0">
                <a:solidFill>
                  <a:srgbClr val="F4F7FB"/>
                </a:solidFill>
                <a:latin typeface="Calibri" pitchFamily="34" charset="0"/>
                <a:ea typeface="Calibri" pitchFamily="34" charset="-122"/>
                <a:cs typeface="Calibri" pitchFamily="34" charset="-120"/>
              </a:rPr>
              <a:t>Connected terminals share a signal:</a:t>
            </a:r>
            <a:endParaRPr lang="en-US" sz="1250" dirty="0"/>
          </a:p>
        </p:txBody>
      </p:sp>
      <p:sp>
        <p:nvSpPr>
          <p:cNvPr id="6" name="Text 4"/>
          <p:cNvSpPr/>
          <p:nvPr/>
        </p:nvSpPr>
        <p:spPr>
          <a:xfrm>
            <a:off x="822960" y="2167128"/>
            <a:ext cx="5394960" cy="411480"/>
          </a:xfrm>
          <a:prstGeom prst="rect">
            <a:avLst/>
          </a:prstGeom>
          <a:noFill/>
          <a:ln/>
        </p:spPr>
        <p:txBody>
          <a:bodyPr wrap="square" rtlCol="0" anchor="ctr"/>
          <a:lstStyle/>
          <a:p>
            <a:pPr indent="0" marL="0">
              <a:buNone/>
            </a:pPr>
            <a:r>
              <a:rPr lang="en-US" sz="1150" dirty="0">
                <a:solidFill>
                  <a:srgbClr val="40D17D"/>
                </a:solidFill>
                <a:latin typeface="Consolas" pitchFamily="34" charset="0"/>
                <a:ea typeface="Consolas" pitchFamily="34" charset="-122"/>
                <a:cs typeface="Consolas" pitchFamily="34" charset="-120"/>
              </a:rPr>
              <a:t>Connected(t₁,t₂) ⇒ Signal(t₁)=Signal(t₂)</a:t>
            </a:r>
            <a:endParaRPr lang="en-US" sz="1150" dirty="0"/>
          </a:p>
        </p:txBody>
      </p:sp>
      <p:sp>
        <p:nvSpPr>
          <p:cNvPr id="7" name="Text 5"/>
          <p:cNvSpPr/>
          <p:nvPr/>
        </p:nvSpPr>
        <p:spPr>
          <a:xfrm>
            <a:off x="822960" y="2770632"/>
            <a:ext cx="5394960" cy="292608"/>
          </a:xfrm>
          <a:prstGeom prst="rect">
            <a:avLst/>
          </a:prstGeom>
          <a:noFill/>
          <a:ln/>
        </p:spPr>
        <p:txBody>
          <a:bodyPr wrap="square" rtlCol="0" anchor="ctr"/>
          <a:lstStyle/>
          <a:p>
            <a:pPr indent="0" marL="0">
              <a:buNone/>
            </a:pPr>
            <a:r>
              <a:rPr lang="en-US" sz="1250" b="1" dirty="0">
                <a:solidFill>
                  <a:srgbClr val="F4F7FB"/>
                </a:solidFill>
                <a:latin typeface="Calibri" pitchFamily="34" charset="0"/>
                <a:ea typeface="Calibri" pitchFamily="34" charset="-122"/>
                <a:cs typeface="Calibri" pitchFamily="34" charset="-120"/>
              </a:rPr>
              <a:t>AND is 0 iff any input is 0:</a:t>
            </a:r>
            <a:endParaRPr lang="en-US" sz="1250" dirty="0"/>
          </a:p>
        </p:txBody>
      </p:sp>
      <p:sp>
        <p:nvSpPr>
          <p:cNvPr id="8" name="Text 6"/>
          <p:cNvSpPr/>
          <p:nvPr/>
        </p:nvSpPr>
        <p:spPr>
          <a:xfrm>
            <a:off x="822960" y="3063240"/>
            <a:ext cx="5394960" cy="411480"/>
          </a:xfrm>
          <a:prstGeom prst="rect">
            <a:avLst/>
          </a:prstGeom>
          <a:noFill/>
          <a:ln/>
        </p:spPr>
        <p:txBody>
          <a:bodyPr wrap="square" rtlCol="0" anchor="ctr"/>
          <a:lstStyle/>
          <a:p>
            <a:pPr indent="0" marL="0">
              <a:buNone/>
            </a:pPr>
            <a:r>
              <a:rPr lang="en-US" sz="1150" dirty="0">
                <a:solidFill>
                  <a:srgbClr val="40D17D"/>
                </a:solidFill>
                <a:latin typeface="Consolas" pitchFamily="34" charset="0"/>
                <a:ea typeface="Consolas" pitchFamily="34" charset="-122"/>
                <a:cs typeface="Consolas" pitchFamily="34" charset="-120"/>
              </a:rPr>
              <a:t>Signal(Out(1,g))=0 ⇔ ∃n Signal(In(n,g))=0</a:t>
            </a:r>
            <a:endParaRPr lang="en-US" sz="1150" dirty="0"/>
          </a:p>
        </p:txBody>
      </p:sp>
      <p:sp>
        <p:nvSpPr>
          <p:cNvPr id="9" name="Text 7"/>
          <p:cNvSpPr/>
          <p:nvPr/>
        </p:nvSpPr>
        <p:spPr>
          <a:xfrm>
            <a:off x="822960" y="3666744"/>
            <a:ext cx="5394960" cy="292608"/>
          </a:xfrm>
          <a:prstGeom prst="rect">
            <a:avLst/>
          </a:prstGeom>
          <a:noFill/>
          <a:ln/>
        </p:spPr>
        <p:txBody>
          <a:bodyPr wrap="square" rtlCol="0" anchor="ctr"/>
          <a:lstStyle/>
          <a:p>
            <a:pPr indent="0" marL="0">
              <a:buNone/>
            </a:pPr>
            <a:r>
              <a:rPr lang="en-US" sz="1250" b="1" dirty="0">
                <a:solidFill>
                  <a:srgbClr val="F4F7FB"/>
                </a:solidFill>
                <a:latin typeface="Calibri" pitchFamily="34" charset="0"/>
                <a:ea typeface="Calibri" pitchFamily="34" charset="-122"/>
                <a:cs typeface="Calibri" pitchFamily="34" charset="-120"/>
              </a:rPr>
              <a:t>XOR is 1 iff inputs differ:</a:t>
            </a:r>
            <a:endParaRPr lang="en-US" sz="1250" dirty="0"/>
          </a:p>
        </p:txBody>
      </p:sp>
      <p:sp>
        <p:nvSpPr>
          <p:cNvPr id="10" name="Text 8"/>
          <p:cNvSpPr/>
          <p:nvPr/>
        </p:nvSpPr>
        <p:spPr>
          <a:xfrm>
            <a:off x="822960" y="3959352"/>
            <a:ext cx="5394960" cy="411480"/>
          </a:xfrm>
          <a:prstGeom prst="rect">
            <a:avLst/>
          </a:prstGeom>
          <a:noFill/>
          <a:ln/>
        </p:spPr>
        <p:txBody>
          <a:bodyPr wrap="square" rtlCol="0" anchor="ctr"/>
          <a:lstStyle/>
          <a:p>
            <a:pPr indent="0" marL="0">
              <a:buNone/>
            </a:pPr>
            <a:r>
              <a:rPr lang="en-US" sz="1150" dirty="0">
                <a:solidFill>
                  <a:srgbClr val="40D17D"/>
                </a:solidFill>
                <a:latin typeface="Consolas" pitchFamily="34" charset="0"/>
                <a:ea typeface="Consolas" pitchFamily="34" charset="-122"/>
                <a:cs typeface="Consolas" pitchFamily="34" charset="-120"/>
              </a:rPr>
              <a:t>Signal(Out(1,g))=1 ⇔ Signal(In(1,g))≠Signal(In(2,g))</a:t>
            </a:r>
            <a:endParaRPr lang="en-US" sz="1150" dirty="0"/>
          </a:p>
        </p:txBody>
      </p:sp>
      <p:sp>
        <p:nvSpPr>
          <p:cNvPr id="11" name="Text 9"/>
          <p:cNvSpPr/>
          <p:nvPr/>
        </p:nvSpPr>
        <p:spPr>
          <a:xfrm>
            <a:off x="822960" y="4636008"/>
            <a:ext cx="5394960" cy="868680"/>
          </a:xfrm>
          <a:prstGeom prst="rect">
            <a:avLst/>
          </a:prstGeom>
          <a:noFill/>
          <a:ln/>
        </p:spPr>
        <p:txBody>
          <a:bodyPr wrap="square" rtlCol="0" anchor="ctr"/>
          <a:lstStyle/>
          <a:p>
            <a:pPr indent="0" marL="0">
              <a:lnSpc>
                <a:spcPct val="120000"/>
              </a:lnSpc>
              <a:buNone/>
            </a:pPr>
            <a:r>
              <a:rPr lang="en-US" sz="1150" i="1" dirty="0">
                <a:solidFill>
                  <a:srgbClr val="9FB1CC"/>
                </a:solidFill>
                <a:latin typeface="Calibri" pitchFamily="34" charset="0"/>
                <a:ea typeface="Calibri" pitchFamily="34" charset="-122"/>
                <a:cs typeface="Calibri" pitchFamily="34" charset="-120"/>
              </a:rPr>
              <a:t>...plus rules fixing gate arity, forbidding mixed-up identities (gates ≠ terminals ≠ signals), and stating every gate is itself a circuit.</a:t>
            </a:r>
            <a:endParaRPr lang="en-US" sz="1150" dirty="0"/>
          </a:p>
        </p:txBody>
      </p:sp>
      <p:sp>
        <p:nvSpPr>
          <p:cNvPr id="12" name="Shape 10"/>
          <p:cNvSpPr/>
          <p:nvPr/>
        </p:nvSpPr>
        <p:spPr>
          <a:xfrm>
            <a:off x="6812280" y="1691640"/>
            <a:ext cx="4846320" cy="4160520"/>
          </a:xfrm>
          <a:prstGeom prst="roundRect">
            <a:avLst>
              <a:gd name="adj" fmla="val 1758"/>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Text 11"/>
          <p:cNvSpPr/>
          <p:nvPr/>
        </p:nvSpPr>
        <p:spPr>
          <a:xfrm>
            <a:off x="7086600" y="1874520"/>
            <a:ext cx="4297680" cy="320040"/>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Full adder truth table</a:t>
            </a:r>
            <a:endParaRPr lang="en-US" sz="1300" dirty="0"/>
          </a:p>
        </p:txBody>
      </p:sp>
      <p:sp>
        <p:nvSpPr>
          <p:cNvPr id="14" name="Text 12"/>
          <p:cNvSpPr/>
          <p:nvPr/>
        </p:nvSpPr>
        <p:spPr>
          <a:xfrm>
            <a:off x="7086600" y="2286000"/>
            <a:ext cx="822960" cy="310896"/>
          </a:xfrm>
          <a:prstGeom prst="rect">
            <a:avLst/>
          </a:prstGeom>
          <a:noFill/>
          <a:ln/>
        </p:spPr>
        <p:txBody>
          <a:bodyPr wrap="square" rtlCol="0" anchor="ctr"/>
          <a:lstStyle/>
          <a:p>
            <a:pPr algn="ctr" indent="0" marL="0">
              <a:buNone/>
            </a:pPr>
            <a:r>
              <a:rPr lang="en-US" sz="1150" b="1" dirty="0">
                <a:solidFill>
                  <a:srgbClr val="4FD1E8"/>
                </a:solidFill>
                <a:latin typeface="Calibri" pitchFamily="34" charset="0"/>
                <a:ea typeface="Calibri" pitchFamily="34" charset="-122"/>
                <a:cs typeface="Calibri" pitchFamily="34" charset="-120"/>
              </a:rPr>
              <a:t>A</a:t>
            </a:r>
            <a:endParaRPr lang="en-US" sz="1150" dirty="0"/>
          </a:p>
        </p:txBody>
      </p:sp>
      <p:sp>
        <p:nvSpPr>
          <p:cNvPr id="15" name="Text 13"/>
          <p:cNvSpPr/>
          <p:nvPr/>
        </p:nvSpPr>
        <p:spPr>
          <a:xfrm>
            <a:off x="7909560" y="2286000"/>
            <a:ext cx="822960" cy="310896"/>
          </a:xfrm>
          <a:prstGeom prst="rect">
            <a:avLst/>
          </a:prstGeom>
          <a:noFill/>
          <a:ln/>
        </p:spPr>
        <p:txBody>
          <a:bodyPr wrap="square" rtlCol="0" anchor="ctr"/>
          <a:lstStyle/>
          <a:p>
            <a:pPr algn="ctr" indent="0" marL="0">
              <a:buNone/>
            </a:pPr>
            <a:r>
              <a:rPr lang="en-US" sz="1150" b="1" dirty="0">
                <a:solidFill>
                  <a:srgbClr val="4FD1E8"/>
                </a:solidFill>
                <a:latin typeface="Calibri" pitchFamily="34" charset="0"/>
                <a:ea typeface="Calibri" pitchFamily="34" charset="-122"/>
                <a:cs typeface="Calibri" pitchFamily="34" charset="-120"/>
              </a:rPr>
              <a:t>B</a:t>
            </a:r>
            <a:endParaRPr lang="en-US" sz="1150" dirty="0"/>
          </a:p>
        </p:txBody>
      </p:sp>
      <p:sp>
        <p:nvSpPr>
          <p:cNvPr id="16" name="Text 14"/>
          <p:cNvSpPr/>
          <p:nvPr/>
        </p:nvSpPr>
        <p:spPr>
          <a:xfrm>
            <a:off x="8732520" y="2286000"/>
            <a:ext cx="822960" cy="310896"/>
          </a:xfrm>
          <a:prstGeom prst="rect">
            <a:avLst/>
          </a:prstGeom>
          <a:noFill/>
          <a:ln/>
        </p:spPr>
        <p:txBody>
          <a:bodyPr wrap="square" rtlCol="0" anchor="ctr"/>
          <a:lstStyle/>
          <a:p>
            <a:pPr algn="ctr" indent="0" marL="0">
              <a:buNone/>
            </a:pPr>
            <a:r>
              <a:rPr lang="en-US" sz="1150" b="1" dirty="0">
                <a:solidFill>
                  <a:srgbClr val="4FD1E8"/>
                </a:solidFill>
                <a:latin typeface="Calibri" pitchFamily="34" charset="0"/>
                <a:ea typeface="Calibri" pitchFamily="34" charset="-122"/>
                <a:cs typeface="Calibri" pitchFamily="34" charset="-120"/>
              </a:rPr>
              <a:t>Cin</a:t>
            </a:r>
            <a:endParaRPr lang="en-US" sz="1150" dirty="0"/>
          </a:p>
        </p:txBody>
      </p:sp>
      <p:sp>
        <p:nvSpPr>
          <p:cNvPr id="17" name="Text 15"/>
          <p:cNvSpPr/>
          <p:nvPr/>
        </p:nvSpPr>
        <p:spPr>
          <a:xfrm>
            <a:off x="9555480" y="2286000"/>
            <a:ext cx="822960" cy="310896"/>
          </a:xfrm>
          <a:prstGeom prst="rect">
            <a:avLst/>
          </a:prstGeom>
          <a:noFill/>
          <a:ln/>
        </p:spPr>
        <p:txBody>
          <a:bodyPr wrap="square" rtlCol="0" anchor="ctr"/>
          <a:lstStyle/>
          <a:p>
            <a:pPr algn="ctr" indent="0" marL="0">
              <a:buNone/>
            </a:pPr>
            <a:r>
              <a:rPr lang="en-US" sz="1150" b="1" dirty="0">
                <a:solidFill>
                  <a:srgbClr val="4FD1E8"/>
                </a:solidFill>
                <a:latin typeface="Calibri" pitchFamily="34" charset="0"/>
                <a:ea typeface="Calibri" pitchFamily="34" charset="-122"/>
                <a:cs typeface="Calibri" pitchFamily="34" charset="-120"/>
              </a:rPr>
              <a:t>Sum</a:t>
            </a:r>
            <a:endParaRPr lang="en-US" sz="1150" dirty="0"/>
          </a:p>
        </p:txBody>
      </p:sp>
      <p:sp>
        <p:nvSpPr>
          <p:cNvPr id="18" name="Text 16"/>
          <p:cNvSpPr/>
          <p:nvPr/>
        </p:nvSpPr>
        <p:spPr>
          <a:xfrm>
            <a:off x="10378440" y="2286000"/>
            <a:ext cx="822960" cy="310896"/>
          </a:xfrm>
          <a:prstGeom prst="rect">
            <a:avLst/>
          </a:prstGeom>
          <a:noFill/>
          <a:ln/>
        </p:spPr>
        <p:txBody>
          <a:bodyPr wrap="square" rtlCol="0" anchor="ctr"/>
          <a:lstStyle/>
          <a:p>
            <a:pPr algn="ctr" indent="0" marL="0">
              <a:buNone/>
            </a:pPr>
            <a:r>
              <a:rPr lang="en-US" sz="1150" b="1" dirty="0">
                <a:solidFill>
                  <a:srgbClr val="4FD1E8"/>
                </a:solidFill>
                <a:latin typeface="Calibri" pitchFamily="34" charset="0"/>
                <a:ea typeface="Calibri" pitchFamily="34" charset="-122"/>
                <a:cs typeface="Calibri" pitchFamily="34" charset="-120"/>
              </a:rPr>
              <a:t>Carry</a:t>
            </a:r>
            <a:endParaRPr lang="en-US" sz="1150" dirty="0"/>
          </a:p>
        </p:txBody>
      </p:sp>
      <p:sp>
        <p:nvSpPr>
          <p:cNvPr id="19" name="Text 17"/>
          <p:cNvSpPr/>
          <p:nvPr/>
        </p:nvSpPr>
        <p:spPr>
          <a:xfrm>
            <a:off x="7086600" y="2596896"/>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20" name="Text 18"/>
          <p:cNvSpPr/>
          <p:nvPr/>
        </p:nvSpPr>
        <p:spPr>
          <a:xfrm>
            <a:off x="7909560" y="2596896"/>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21" name="Text 19"/>
          <p:cNvSpPr/>
          <p:nvPr/>
        </p:nvSpPr>
        <p:spPr>
          <a:xfrm>
            <a:off x="8732520" y="2596896"/>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22" name="Text 20"/>
          <p:cNvSpPr/>
          <p:nvPr/>
        </p:nvSpPr>
        <p:spPr>
          <a:xfrm>
            <a:off x="9555480" y="2596896"/>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23" name="Text 21"/>
          <p:cNvSpPr/>
          <p:nvPr/>
        </p:nvSpPr>
        <p:spPr>
          <a:xfrm>
            <a:off x="10378440" y="2596896"/>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24" name="Text 22"/>
          <p:cNvSpPr/>
          <p:nvPr/>
        </p:nvSpPr>
        <p:spPr>
          <a:xfrm>
            <a:off x="7086600" y="2907792"/>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25" name="Text 23"/>
          <p:cNvSpPr/>
          <p:nvPr/>
        </p:nvSpPr>
        <p:spPr>
          <a:xfrm>
            <a:off x="7909560" y="2907792"/>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26" name="Text 24"/>
          <p:cNvSpPr/>
          <p:nvPr/>
        </p:nvSpPr>
        <p:spPr>
          <a:xfrm>
            <a:off x="8732520" y="2907792"/>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27" name="Text 25"/>
          <p:cNvSpPr/>
          <p:nvPr/>
        </p:nvSpPr>
        <p:spPr>
          <a:xfrm>
            <a:off x="9555480" y="2907792"/>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28" name="Text 26"/>
          <p:cNvSpPr/>
          <p:nvPr/>
        </p:nvSpPr>
        <p:spPr>
          <a:xfrm>
            <a:off x="10378440" y="2907792"/>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29" name="Text 27"/>
          <p:cNvSpPr/>
          <p:nvPr/>
        </p:nvSpPr>
        <p:spPr>
          <a:xfrm>
            <a:off x="7086600" y="3218688"/>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30" name="Text 28"/>
          <p:cNvSpPr/>
          <p:nvPr/>
        </p:nvSpPr>
        <p:spPr>
          <a:xfrm>
            <a:off x="7909560" y="3218688"/>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31" name="Text 29"/>
          <p:cNvSpPr/>
          <p:nvPr/>
        </p:nvSpPr>
        <p:spPr>
          <a:xfrm>
            <a:off x="8732520" y="3218688"/>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32" name="Text 30"/>
          <p:cNvSpPr/>
          <p:nvPr/>
        </p:nvSpPr>
        <p:spPr>
          <a:xfrm>
            <a:off x="9555480" y="3218688"/>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33" name="Text 31"/>
          <p:cNvSpPr/>
          <p:nvPr/>
        </p:nvSpPr>
        <p:spPr>
          <a:xfrm>
            <a:off x="10378440" y="3218688"/>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34" name="Text 32"/>
          <p:cNvSpPr/>
          <p:nvPr/>
        </p:nvSpPr>
        <p:spPr>
          <a:xfrm>
            <a:off x="7086600" y="3529584"/>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35" name="Text 33"/>
          <p:cNvSpPr/>
          <p:nvPr/>
        </p:nvSpPr>
        <p:spPr>
          <a:xfrm>
            <a:off x="7909560" y="3529584"/>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36" name="Text 34"/>
          <p:cNvSpPr/>
          <p:nvPr/>
        </p:nvSpPr>
        <p:spPr>
          <a:xfrm>
            <a:off x="8732520" y="3529584"/>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37" name="Text 35"/>
          <p:cNvSpPr/>
          <p:nvPr/>
        </p:nvSpPr>
        <p:spPr>
          <a:xfrm>
            <a:off x="9555480" y="3529584"/>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38" name="Text 36"/>
          <p:cNvSpPr/>
          <p:nvPr/>
        </p:nvSpPr>
        <p:spPr>
          <a:xfrm>
            <a:off x="10378440" y="3529584"/>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39" name="Text 37"/>
          <p:cNvSpPr/>
          <p:nvPr/>
        </p:nvSpPr>
        <p:spPr>
          <a:xfrm>
            <a:off x="7086600" y="3840480"/>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40" name="Text 38"/>
          <p:cNvSpPr/>
          <p:nvPr/>
        </p:nvSpPr>
        <p:spPr>
          <a:xfrm>
            <a:off x="7909560" y="3840480"/>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41" name="Text 39"/>
          <p:cNvSpPr/>
          <p:nvPr/>
        </p:nvSpPr>
        <p:spPr>
          <a:xfrm>
            <a:off x="8732520" y="3840480"/>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42" name="Text 40"/>
          <p:cNvSpPr/>
          <p:nvPr/>
        </p:nvSpPr>
        <p:spPr>
          <a:xfrm>
            <a:off x="9555480" y="3840480"/>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43" name="Text 41"/>
          <p:cNvSpPr/>
          <p:nvPr/>
        </p:nvSpPr>
        <p:spPr>
          <a:xfrm>
            <a:off x="10378440" y="3840480"/>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44" name="Text 42"/>
          <p:cNvSpPr/>
          <p:nvPr/>
        </p:nvSpPr>
        <p:spPr>
          <a:xfrm>
            <a:off x="7086600" y="4151376"/>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45" name="Text 43"/>
          <p:cNvSpPr/>
          <p:nvPr/>
        </p:nvSpPr>
        <p:spPr>
          <a:xfrm>
            <a:off x="7909560" y="4151376"/>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46" name="Text 44"/>
          <p:cNvSpPr/>
          <p:nvPr/>
        </p:nvSpPr>
        <p:spPr>
          <a:xfrm>
            <a:off x="8732520" y="4151376"/>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47" name="Text 45"/>
          <p:cNvSpPr/>
          <p:nvPr/>
        </p:nvSpPr>
        <p:spPr>
          <a:xfrm>
            <a:off x="9555480" y="4151376"/>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48" name="Text 46"/>
          <p:cNvSpPr/>
          <p:nvPr/>
        </p:nvSpPr>
        <p:spPr>
          <a:xfrm>
            <a:off x="10378440" y="4151376"/>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49" name="Text 47"/>
          <p:cNvSpPr/>
          <p:nvPr/>
        </p:nvSpPr>
        <p:spPr>
          <a:xfrm>
            <a:off x="7086600" y="4462272"/>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50" name="Text 48"/>
          <p:cNvSpPr/>
          <p:nvPr/>
        </p:nvSpPr>
        <p:spPr>
          <a:xfrm>
            <a:off x="7909560" y="4462272"/>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51" name="Text 49"/>
          <p:cNvSpPr/>
          <p:nvPr/>
        </p:nvSpPr>
        <p:spPr>
          <a:xfrm>
            <a:off x="8732520" y="4462272"/>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0</a:t>
            </a:r>
            <a:endParaRPr lang="en-US" sz="1200" dirty="0"/>
          </a:p>
        </p:txBody>
      </p:sp>
      <p:sp>
        <p:nvSpPr>
          <p:cNvPr id="52" name="Text 50"/>
          <p:cNvSpPr/>
          <p:nvPr/>
        </p:nvSpPr>
        <p:spPr>
          <a:xfrm>
            <a:off x="9555480" y="4462272"/>
            <a:ext cx="822960" cy="310896"/>
          </a:xfrm>
          <a:prstGeom prst="rect">
            <a:avLst/>
          </a:prstGeom>
          <a:noFill/>
          <a:ln/>
        </p:spPr>
        <p:txBody>
          <a:bodyPr wrap="square" rtlCol="0" anchor="ctr"/>
          <a:lstStyle/>
          <a:p>
            <a:pPr algn="ctr" indent="0" marL="0">
              <a:buNone/>
            </a:pPr>
            <a:r>
              <a:rPr lang="en-US" sz="1200" dirty="0">
                <a:solidFill>
                  <a:srgbClr val="FF5D73"/>
                </a:solidFill>
                <a:latin typeface="Consolas" pitchFamily="34" charset="0"/>
                <a:ea typeface="Consolas" pitchFamily="34" charset="-122"/>
                <a:cs typeface="Consolas" pitchFamily="34" charset="-120"/>
              </a:rPr>
              <a:t>0</a:t>
            </a:r>
            <a:endParaRPr lang="en-US" sz="1200" dirty="0"/>
          </a:p>
        </p:txBody>
      </p:sp>
      <p:sp>
        <p:nvSpPr>
          <p:cNvPr id="53" name="Text 51"/>
          <p:cNvSpPr/>
          <p:nvPr/>
        </p:nvSpPr>
        <p:spPr>
          <a:xfrm>
            <a:off x="10378440" y="4462272"/>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54" name="Text 52"/>
          <p:cNvSpPr/>
          <p:nvPr/>
        </p:nvSpPr>
        <p:spPr>
          <a:xfrm>
            <a:off x="7086600" y="4773168"/>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55" name="Text 53"/>
          <p:cNvSpPr/>
          <p:nvPr/>
        </p:nvSpPr>
        <p:spPr>
          <a:xfrm>
            <a:off x="7909560" y="4773168"/>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56" name="Text 54"/>
          <p:cNvSpPr/>
          <p:nvPr/>
        </p:nvSpPr>
        <p:spPr>
          <a:xfrm>
            <a:off x="8732520" y="4773168"/>
            <a:ext cx="822960" cy="310896"/>
          </a:xfrm>
          <a:prstGeom prst="rect">
            <a:avLst/>
          </a:prstGeom>
          <a:noFill/>
          <a:ln/>
        </p:spPr>
        <p:txBody>
          <a:bodyPr wrap="square" rtlCol="0" anchor="ctr"/>
          <a:lstStyle/>
          <a:p>
            <a:pPr algn="ctr" indent="0" marL="0">
              <a:buNone/>
            </a:pPr>
            <a:r>
              <a:rPr lang="en-US" sz="1200" dirty="0">
                <a:solidFill>
                  <a:srgbClr val="F4F7FB"/>
                </a:solidFill>
                <a:latin typeface="Consolas" pitchFamily="34" charset="0"/>
                <a:ea typeface="Consolas" pitchFamily="34" charset="-122"/>
                <a:cs typeface="Consolas" pitchFamily="34" charset="-120"/>
              </a:rPr>
              <a:t>1</a:t>
            </a:r>
            <a:endParaRPr lang="en-US" sz="1200" dirty="0"/>
          </a:p>
        </p:txBody>
      </p:sp>
      <p:sp>
        <p:nvSpPr>
          <p:cNvPr id="57" name="Text 55"/>
          <p:cNvSpPr/>
          <p:nvPr/>
        </p:nvSpPr>
        <p:spPr>
          <a:xfrm>
            <a:off x="9555480" y="4773168"/>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58" name="Text 56"/>
          <p:cNvSpPr/>
          <p:nvPr/>
        </p:nvSpPr>
        <p:spPr>
          <a:xfrm>
            <a:off x="10378440" y="4773168"/>
            <a:ext cx="822960" cy="310896"/>
          </a:xfrm>
          <a:prstGeom prst="rect">
            <a:avLst/>
          </a:prstGeom>
          <a:noFill/>
          <a:ln/>
        </p:spPr>
        <p:txBody>
          <a:bodyPr wrap="square" rtlCol="0" anchor="ctr"/>
          <a:lstStyle/>
          <a:p>
            <a:pPr algn="ctr" indent="0" marL="0">
              <a:buNone/>
            </a:pPr>
            <a:r>
              <a:rPr lang="en-US" sz="1200" dirty="0">
                <a:solidFill>
                  <a:srgbClr val="40D17D"/>
                </a:solidFill>
                <a:latin typeface="Consolas" pitchFamily="34" charset="0"/>
                <a:ea typeface="Consolas" pitchFamily="34" charset="-122"/>
                <a:cs typeface="Consolas" pitchFamily="34" charset="-120"/>
              </a:rPr>
              <a:t>1</a:t>
            </a:r>
            <a:endParaRPr lang="en-US" sz="1200" dirty="0"/>
          </a:p>
        </p:txBody>
      </p:sp>
      <p:sp>
        <p:nvSpPr>
          <p:cNvPr id="59" name="Text 57"/>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8.4.2 POSING QUERIES</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700" b="1" dirty="0">
                <a:solidFill>
                  <a:srgbClr val="F4F7FB"/>
                </a:solidFill>
                <a:latin typeface="Calibri" pitchFamily="34" charset="0"/>
                <a:ea typeface="Calibri" pitchFamily="34" charset="-122"/>
                <a:cs typeface="Calibri" pitchFamily="34" charset="-120"/>
              </a:rPr>
              <a:t>Ask the KB, don't hand-simulate the circuit</a:t>
            </a:r>
            <a:endParaRPr lang="en-US" sz="2700" dirty="0"/>
          </a:p>
        </p:txBody>
      </p:sp>
      <p:sp>
        <p:nvSpPr>
          <p:cNvPr id="4" name="Shape 2"/>
          <p:cNvSpPr/>
          <p:nvPr/>
        </p:nvSpPr>
        <p:spPr>
          <a:xfrm>
            <a:off x="548640" y="1691640"/>
            <a:ext cx="11109960" cy="1828800"/>
          </a:xfrm>
          <a:prstGeom prst="roundRect">
            <a:avLst>
              <a:gd name="adj" fmla="val 4000"/>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68680" y="1874520"/>
            <a:ext cx="10515600" cy="365760"/>
          </a:xfrm>
          <a:prstGeom prst="rect">
            <a:avLst/>
          </a:prstGeom>
          <a:noFill/>
          <a:ln/>
        </p:spPr>
        <p:txBody>
          <a:bodyPr wrap="square" rtlCol="0" anchor="ctr"/>
          <a:lstStyle/>
          <a:p>
            <a:pPr indent="0" marL="0">
              <a:buNone/>
            </a:pPr>
            <a:r>
              <a:rPr lang="en-US" sz="1400" b="1" dirty="0">
                <a:solidFill>
                  <a:srgbClr val="4FD1E8"/>
                </a:solidFill>
                <a:latin typeface="Calibri" pitchFamily="34" charset="0"/>
                <a:ea typeface="Calibri" pitchFamily="34" charset="-122"/>
                <a:cs typeface="Calibri" pitchFamily="34" charset="-120"/>
              </a:rPr>
              <a:t>Query: which inputs make the sum bit 0 and the carry bit 1?</a:t>
            </a:r>
            <a:endParaRPr lang="en-US" sz="1400" dirty="0"/>
          </a:p>
        </p:txBody>
      </p:sp>
      <p:sp>
        <p:nvSpPr>
          <p:cNvPr id="6" name="Text 4"/>
          <p:cNvSpPr/>
          <p:nvPr/>
        </p:nvSpPr>
        <p:spPr>
          <a:xfrm>
            <a:off x="868680" y="2286000"/>
            <a:ext cx="10515600" cy="548640"/>
          </a:xfrm>
          <a:prstGeom prst="rect">
            <a:avLst/>
          </a:prstGeom>
          <a:noFill/>
          <a:ln/>
        </p:spPr>
        <p:txBody>
          <a:bodyPr wrap="square" rtlCol="0" anchor="ctr"/>
          <a:lstStyle/>
          <a:p>
            <a:pPr indent="0" marL="0">
              <a:buNone/>
            </a:pPr>
            <a:r>
              <a:rPr lang="en-US" sz="1250" dirty="0">
                <a:solidFill>
                  <a:srgbClr val="F4F7FB"/>
                </a:solidFill>
                <a:latin typeface="Consolas" pitchFamily="34" charset="0"/>
                <a:ea typeface="Consolas" pitchFamily="34" charset="-122"/>
                <a:cs typeface="Consolas" pitchFamily="34" charset="-120"/>
              </a:rPr>
              <a:t>∃i₁,i₂,i₃  Signal(In(1,C₁))=i₁ ∧ Signal(In(2,C₁))=i₂ ∧ Signal(In(3,C₁))=i₃ ∧ Signal(Out(1,C₁))=0 ∧ Signal(Out(2,C₁))=1</a:t>
            </a:r>
            <a:endParaRPr lang="en-US" sz="1250" dirty="0"/>
          </a:p>
        </p:txBody>
      </p:sp>
      <p:sp>
        <p:nvSpPr>
          <p:cNvPr id="7" name="Text 5"/>
          <p:cNvSpPr/>
          <p:nvPr/>
        </p:nvSpPr>
        <p:spPr>
          <a:xfrm>
            <a:off x="868680" y="2880360"/>
            <a:ext cx="10515600" cy="457200"/>
          </a:xfrm>
          <a:prstGeom prst="rect">
            <a:avLst/>
          </a:prstGeom>
          <a:noFill/>
          <a:ln/>
        </p:spPr>
        <p:txBody>
          <a:bodyPr wrap="square" rtlCol="0" anchor="ctr"/>
          <a:lstStyle/>
          <a:p>
            <a:pPr indent="0" marL="0">
              <a:buNone/>
            </a:pPr>
            <a:r>
              <a:rPr lang="en-US" sz="1400" b="1" dirty="0">
                <a:solidFill>
                  <a:srgbClr val="FFC857"/>
                </a:solidFill>
                <a:latin typeface="Consolas" pitchFamily="34" charset="0"/>
                <a:ea typeface="Consolas" pitchFamily="34" charset="-122"/>
                <a:cs typeface="Consolas" pitchFamily="34" charset="-120"/>
              </a:rPr>
              <a:t>ASKVARS returns three substitutions: {1,1,0}   {1,0,1}   {0,1,1}</a:t>
            </a:r>
            <a:endParaRPr lang="en-US" sz="1400" dirty="0"/>
          </a:p>
        </p:txBody>
      </p:sp>
      <p:sp>
        <p:nvSpPr>
          <p:cNvPr id="8" name="Shape 6"/>
          <p:cNvSpPr/>
          <p:nvPr/>
        </p:nvSpPr>
        <p:spPr>
          <a:xfrm>
            <a:off x="548640" y="3749040"/>
            <a:ext cx="11109960" cy="1234440"/>
          </a:xfrm>
          <a:prstGeom prst="roundRect">
            <a:avLst>
              <a:gd name="adj" fmla="val 5926"/>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9" name="Shape 7"/>
          <p:cNvSpPr/>
          <p:nvPr/>
        </p:nvSpPr>
        <p:spPr>
          <a:xfrm>
            <a:off x="749808" y="3950208"/>
            <a:ext cx="384048" cy="384048"/>
          </a:xfrm>
          <a:prstGeom prst="ellipse">
            <a:avLst/>
          </a:prstGeom>
          <a:solidFill>
            <a:srgbClr val="4FD1E8"/>
          </a:solidFill>
          <a:ln/>
        </p:spPr>
      </p:sp>
      <p:sp>
        <p:nvSpPr>
          <p:cNvPr id="10" name="Text 8"/>
          <p:cNvSpPr/>
          <p:nvPr/>
        </p:nvSpPr>
        <p:spPr>
          <a:xfrm>
            <a:off x="749808" y="395020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1" name="Text 9"/>
          <p:cNvSpPr/>
          <p:nvPr/>
        </p:nvSpPr>
        <p:spPr>
          <a:xfrm>
            <a:off x="1280160" y="3931920"/>
            <a:ext cx="10195560" cy="274320"/>
          </a:xfrm>
          <a:prstGeom prst="rect">
            <a:avLst/>
          </a:prstGeom>
          <a:noFill/>
          <a:ln/>
        </p:spPr>
        <p:txBody>
          <a:bodyPr wrap="square" rtlCol="0" anchor="ctr"/>
          <a:lstStyle/>
          <a:p>
            <a:pPr indent="0" marL="0">
              <a:buNone/>
            </a:pPr>
            <a:r>
              <a:rPr lang="en-US" sz="1200" b="1" spc="100" kern="0" dirty="0">
                <a:solidFill>
                  <a:srgbClr val="4FD1E8"/>
                </a:solidFill>
                <a:latin typeface="Calibri" pitchFamily="34" charset="0"/>
                <a:ea typeface="Calibri" pitchFamily="34" charset="-122"/>
                <a:cs typeface="Calibri" pitchFamily="34" charset="-120"/>
              </a:rPr>
              <a:t>ANALOGY</a:t>
            </a:r>
            <a:endParaRPr lang="en-US" sz="1200" dirty="0"/>
          </a:p>
        </p:txBody>
      </p:sp>
      <p:sp>
        <p:nvSpPr>
          <p:cNvPr id="12" name="Text 10"/>
          <p:cNvSpPr/>
          <p:nvPr/>
        </p:nvSpPr>
        <p:spPr>
          <a:xfrm>
            <a:off x="1280160" y="4224528"/>
            <a:ext cx="10149840" cy="5760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This is like using a spreadsheet formula to auto-fill every row that satisfies a condition, instead of manually checking each of the 8 possible input combinations by hand. Once the axioms are right, asking a question and testing the whole circuit are the same act — that's circuit verification, for free.</a:t>
            </a:r>
            <a:endParaRPr lang="en-US" sz="1350" dirty="0"/>
          </a:p>
        </p:txBody>
      </p:sp>
      <p:sp>
        <p:nvSpPr>
          <p:cNvPr id="13" name="Shape 11"/>
          <p:cNvSpPr/>
          <p:nvPr/>
        </p:nvSpPr>
        <p:spPr>
          <a:xfrm>
            <a:off x="548640" y="5212080"/>
            <a:ext cx="11109960" cy="1188720"/>
          </a:xfrm>
          <a:prstGeom prst="roundRect">
            <a:avLst>
              <a:gd name="adj" fmla="val 6154"/>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4" name="Text 12"/>
          <p:cNvSpPr/>
          <p:nvPr/>
        </p:nvSpPr>
        <p:spPr>
          <a:xfrm>
            <a:off x="868680" y="5349240"/>
            <a:ext cx="10515600" cy="914400"/>
          </a:xfrm>
          <a:prstGeom prst="rect">
            <a:avLst/>
          </a:prstGeom>
          <a:noFill/>
          <a:ln/>
        </p:spPr>
        <p:txBody>
          <a:bodyPr wrap="square" rtlCol="0" anchor="ctr"/>
          <a:lstStyle/>
          <a:p>
            <a:pPr indent="0" marL="0">
              <a:lnSpc>
                <a:spcPct val="120000"/>
              </a:lnSpc>
              <a:buNone/>
            </a:pPr>
            <a:r>
              <a:rPr lang="en-US" sz="1300" i="1" dirty="0">
                <a:solidFill>
                  <a:srgbClr val="9FB1CC"/>
                </a:solidFill>
                <a:latin typeface="Calibri" pitchFamily="34" charset="0"/>
                <a:ea typeface="Calibri" pitchFamily="34" charset="-122"/>
                <a:cs typeface="Calibri" pitchFamily="34" charset="-120"/>
              </a:rPr>
              <a:t>A broader query — asking for every terminal's value at once — returns the full input–output table, confirming (or disproving) that the circuit really adds.</a:t>
            </a:r>
            <a:endParaRPr lang="en-US" sz="1300" dirty="0"/>
          </a:p>
        </p:txBody>
      </p:sp>
      <p:sp>
        <p:nvSpPr>
          <p:cNvPr id="15" name="Text 13"/>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8.4.2 DEBUG AND EVALUATE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2700" b="1" dirty="0">
                <a:solidFill>
                  <a:srgbClr val="F4F7FB"/>
                </a:solidFill>
                <a:latin typeface="Calibri" pitchFamily="34" charset="0"/>
                <a:ea typeface="Calibri" pitchFamily="34" charset="-122"/>
                <a:cs typeface="Calibri" pitchFamily="34" charset="-120"/>
              </a:rPr>
              <a:t>When the KB goes quiet: missing axioms</a:t>
            </a:r>
            <a:endParaRPr lang="en-US" sz="2700" dirty="0"/>
          </a:p>
        </p:txBody>
      </p:sp>
      <p:sp>
        <p:nvSpPr>
          <p:cNvPr id="4" name="Shape 2"/>
          <p:cNvSpPr/>
          <p:nvPr/>
        </p:nvSpPr>
        <p:spPr>
          <a:xfrm>
            <a:off x="548640" y="1691640"/>
            <a:ext cx="5532120" cy="4206240"/>
          </a:xfrm>
          <a:prstGeom prst="roundRect">
            <a:avLst>
              <a:gd name="adj" fmla="val 173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22960" y="1874520"/>
            <a:ext cx="4937760" cy="320040"/>
          </a:xfrm>
          <a:prstGeom prst="rect">
            <a:avLst/>
          </a:prstGeom>
          <a:noFill/>
          <a:ln/>
        </p:spPr>
        <p:txBody>
          <a:bodyPr wrap="square" rtlCol="0" anchor="ctr"/>
          <a:lstStyle/>
          <a:p>
            <a:pPr indent="0" marL="0">
              <a:buNone/>
            </a:pPr>
            <a:r>
              <a:rPr lang="en-US" sz="1400" b="1" dirty="0">
                <a:solidFill>
                  <a:srgbClr val="FF5D73"/>
                </a:solidFill>
                <a:latin typeface="Calibri" pitchFamily="34" charset="0"/>
                <a:ea typeface="Calibri" pitchFamily="34" charset="-122"/>
                <a:cs typeface="Calibri" pitchFamily="34" charset="-120"/>
              </a:rPr>
              <a:t>The bug</a:t>
            </a:r>
            <a:endParaRPr lang="en-US" sz="1400" dirty="0"/>
          </a:p>
        </p:txBody>
      </p:sp>
      <p:sp>
        <p:nvSpPr>
          <p:cNvPr id="6" name="Text 4"/>
          <p:cNvSpPr/>
          <p:nvPr/>
        </p:nvSpPr>
        <p:spPr>
          <a:xfrm>
            <a:off x="822960" y="2240280"/>
            <a:ext cx="4937760" cy="1005840"/>
          </a:xfrm>
          <a:prstGeom prst="rect">
            <a:avLst/>
          </a:prstGeom>
          <a:noFill/>
          <a:ln/>
        </p:spPr>
        <p:txBody>
          <a:bodyPr wrap="square" rtlCol="0" anchor="ctr"/>
          <a:lstStyle/>
          <a:p>
            <a:pPr indent="0" marL="0">
              <a:lnSpc>
                <a:spcPct val="125000"/>
              </a:lnSpc>
              <a:buNone/>
            </a:pPr>
            <a:r>
              <a:rPr lang="en-US" sz="1300" dirty="0">
                <a:solidFill>
                  <a:srgbClr val="F4F7FB"/>
                </a:solidFill>
                <a:latin typeface="Calibri" pitchFamily="34" charset="0"/>
                <a:ea typeface="Calibri" pitchFamily="34" charset="-122"/>
                <a:cs typeface="Calibri" pitchFamily="34" charset="-120"/>
              </a:rPr>
              <a:t>Forget to assert 1 ≠ 0, and the KB can no longer prove most of the circuit's outputs — only the trivial all-0 and all-1 input cases still work.</a:t>
            </a:r>
            <a:endParaRPr lang="en-US" sz="1300" dirty="0"/>
          </a:p>
        </p:txBody>
      </p:sp>
      <p:sp>
        <p:nvSpPr>
          <p:cNvPr id="7" name="Shape 5"/>
          <p:cNvSpPr/>
          <p:nvPr/>
        </p:nvSpPr>
        <p:spPr>
          <a:xfrm>
            <a:off x="822960" y="3337560"/>
            <a:ext cx="4937760" cy="0"/>
          </a:xfrm>
          <a:prstGeom prst="line">
            <a:avLst/>
          </a:prstGeom>
          <a:noFill/>
          <a:ln w="12700">
            <a:solidFill>
              <a:srgbClr val="2A3A5C"/>
            </a:solidFill>
            <a:prstDash val="solid"/>
          </a:ln>
        </p:spPr>
      </p:sp>
      <p:sp>
        <p:nvSpPr>
          <p:cNvPr id="8" name="Text 6"/>
          <p:cNvSpPr/>
          <p:nvPr/>
        </p:nvSpPr>
        <p:spPr>
          <a:xfrm>
            <a:off x="822960" y="3474720"/>
            <a:ext cx="4937760" cy="320040"/>
          </a:xfrm>
          <a:prstGeom prst="rect">
            <a:avLst/>
          </a:prstGeom>
          <a:noFill/>
          <a:ln/>
        </p:spPr>
        <p:txBody>
          <a:bodyPr wrap="square" rtlCol="0" anchor="ctr"/>
          <a:lstStyle/>
          <a:p>
            <a:pPr indent="0" marL="0">
              <a:buNone/>
            </a:pPr>
            <a:r>
              <a:rPr lang="en-US" sz="1400" b="1" dirty="0">
                <a:solidFill>
                  <a:srgbClr val="40D17D"/>
                </a:solidFill>
                <a:latin typeface="Calibri" pitchFamily="34" charset="0"/>
                <a:ea typeface="Calibri" pitchFamily="34" charset="-122"/>
                <a:cs typeface="Calibri" pitchFamily="34" charset="-120"/>
              </a:rPr>
              <a:t>How it's found</a:t>
            </a:r>
            <a:endParaRPr lang="en-US" sz="1400" dirty="0"/>
          </a:p>
        </p:txBody>
      </p:sp>
      <p:sp>
        <p:nvSpPr>
          <p:cNvPr id="9" name="Text 7"/>
          <p:cNvSpPr/>
          <p:nvPr/>
        </p:nvSpPr>
        <p:spPr>
          <a:xfrm>
            <a:off x="822960" y="3840480"/>
            <a:ext cx="4937760" cy="1188720"/>
          </a:xfrm>
          <a:prstGeom prst="rect">
            <a:avLst/>
          </a:prstGeom>
          <a:noFill/>
          <a:ln/>
        </p:spPr>
        <p:txBody>
          <a:bodyPr wrap="square" rtlCol="0" anchor="ctr"/>
          <a:lstStyle/>
          <a:p>
            <a:pPr indent="0" marL="0">
              <a:lnSpc>
                <a:spcPct val="125000"/>
              </a:lnSpc>
              <a:buNone/>
            </a:pPr>
            <a:r>
              <a:rPr lang="en-US" sz="1300" dirty="0">
                <a:solidFill>
                  <a:srgbClr val="F4F7FB"/>
                </a:solidFill>
                <a:latin typeface="Calibri" pitchFamily="34" charset="0"/>
                <a:ea typeface="Calibri" pitchFamily="34" charset="-122"/>
                <a:cs typeface="Calibri" pitchFamily="34" charset="-120"/>
              </a:rPr>
              <a:t>Query each gate's output directly. X₁'s output is unknown for inputs (1,0) — tracing the XOR axiom shows it reduces to “1 ≠ 0,” which was never stated.</a:t>
            </a:r>
            <a:endParaRPr lang="en-US" sz="1300" dirty="0"/>
          </a:p>
        </p:txBody>
      </p:sp>
      <p:sp>
        <p:nvSpPr>
          <p:cNvPr id="10" name="Text 8"/>
          <p:cNvSpPr/>
          <p:nvPr/>
        </p:nvSpPr>
        <p:spPr>
          <a:xfrm>
            <a:off x="822960" y="5120640"/>
            <a:ext cx="4937760" cy="685800"/>
          </a:xfrm>
          <a:prstGeom prst="rect">
            <a:avLst/>
          </a:prstGeom>
          <a:noFill/>
          <a:ln/>
        </p:spPr>
        <p:txBody>
          <a:bodyPr wrap="square" rtlCol="0" anchor="ctr"/>
          <a:lstStyle/>
          <a:p>
            <a:pPr indent="0" marL="0">
              <a:lnSpc>
                <a:spcPct val="120000"/>
              </a:lnSpc>
              <a:buNone/>
            </a:pPr>
            <a:r>
              <a:rPr lang="en-US" sz="1150" i="1" dirty="0">
                <a:solidFill>
                  <a:srgbClr val="9FB1CC"/>
                </a:solidFill>
                <a:latin typeface="Calibri" pitchFamily="34" charset="0"/>
                <a:ea typeface="Calibri" pitchFamily="34" charset="-122"/>
                <a:cs typeface="Calibri" pitchFamily="34" charset="-120"/>
              </a:rPr>
              <a:t>Missing axioms halt reasoning silently; incorrect axioms produce confidently wrong answers — always test against a query suite, not just “no obvious errors.”</a:t>
            </a:r>
            <a:endParaRPr lang="en-US" sz="1150" dirty="0"/>
          </a:p>
        </p:txBody>
      </p:sp>
      <p:sp>
        <p:nvSpPr>
          <p:cNvPr id="11" name="Shape 9"/>
          <p:cNvSpPr/>
          <p:nvPr/>
        </p:nvSpPr>
        <p:spPr>
          <a:xfrm>
            <a:off x="6355080" y="1691640"/>
            <a:ext cx="5303520" cy="4206240"/>
          </a:xfrm>
          <a:prstGeom prst="roundRect">
            <a:avLst>
              <a:gd name="adj" fmla="val 1739"/>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2" name="Shape 10"/>
          <p:cNvSpPr/>
          <p:nvPr/>
        </p:nvSpPr>
        <p:spPr>
          <a:xfrm>
            <a:off x="6556248" y="1892808"/>
            <a:ext cx="384048" cy="384048"/>
          </a:xfrm>
          <a:prstGeom prst="ellipse">
            <a:avLst/>
          </a:prstGeom>
          <a:solidFill>
            <a:srgbClr val="A78BFA"/>
          </a:solidFill>
          <a:ln/>
        </p:spPr>
      </p:sp>
      <p:sp>
        <p:nvSpPr>
          <p:cNvPr id="13" name="Text 11"/>
          <p:cNvSpPr/>
          <p:nvPr/>
        </p:nvSpPr>
        <p:spPr>
          <a:xfrm>
            <a:off x="6556248" y="1892808"/>
            <a:ext cx="384048" cy="384048"/>
          </a:xfrm>
          <a:prstGeom prst="rect">
            <a:avLst/>
          </a:prstGeom>
          <a:noFill/>
          <a:ln/>
        </p:spPr>
        <p:txBody>
          <a:bodyPr wrap="square" rtlCol="0" anchor="ctr"/>
          <a:lstStyle/>
          <a:p>
            <a:pPr algn="ctr" indent="0" marL="0">
              <a:buNone/>
            </a:pPr>
            <a:r>
              <a:rPr lang="en-US" sz="2000" b="1" i="1" dirty="0">
                <a:solidFill>
                  <a:srgbClr val="0B1220"/>
                </a:solidFill>
                <a:latin typeface="Georgia" pitchFamily="34" charset="0"/>
                <a:ea typeface="Georgia" pitchFamily="34" charset="-122"/>
                <a:cs typeface="Georgia" pitchFamily="34" charset="-120"/>
              </a:rPr>
              <a:t>i</a:t>
            </a:r>
            <a:endParaRPr lang="en-US" sz="2000" dirty="0"/>
          </a:p>
        </p:txBody>
      </p:sp>
      <p:sp>
        <p:nvSpPr>
          <p:cNvPr id="14" name="Text 12"/>
          <p:cNvSpPr/>
          <p:nvPr/>
        </p:nvSpPr>
        <p:spPr>
          <a:xfrm>
            <a:off x="7086600" y="1874520"/>
            <a:ext cx="4389120" cy="274320"/>
          </a:xfrm>
          <a:prstGeom prst="rect">
            <a:avLst/>
          </a:prstGeom>
          <a:noFill/>
          <a:ln/>
        </p:spPr>
        <p:txBody>
          <a:bodyPr wrap="square" rtlCol="0" anchor="ctr"/>
          <a:lstStyle/>
          <a:p>
            <a:pPr indent="0" marL="0">
              <a:buNone/>
            </a:pPr>
            <a:r>
              <a:rPr lang="en-US" sz="1200" b="1" spc="100" kern="0" dirty="0">
                <a:solidFill>
                  <a:srgbClr val="A78BFA"/>
                </a:solidFill>
                <a:latin typeface="Calibri" pitchFamily="34" charset="0"/>
                <a:ea typeface="Calibri" pitchFamily="34" charset="-122"/>
                <a:cs typeface="Calibri" pitchFamily="34" charset="-120"/>
              </a:rPr>
              <a:t>ANALOGY</a:t>
            </a:r>
            <a:endParaRPr lang="en-US" sz="1200" dirty="0"/>
          </a:p>
        </p:txBody>
      </p:sp>
      <p:sp>
        <p:nvSpPr>
          <p:cNvPr id="15" name="Text 13"/>
          <p:cNvSpPr/>
          <p:nvPr/>
        </p:nvSpPr>
        <p:spPr>
          <a:xfrm>
            <a:off x="7086600" y="2167128"/>
            <a:ext cx="4343400" cy="3547872"/>
          </a:xfrm>
          <a:prstGeom prst="rect">
            <a:avLst/>
          </a:prstGeom>
          <a:noFill/>
          <a:ln/>
        </p:spPr>
        <p:txBody>
          <a:bodyPr wrap="square" rtlCol="0" anchor="t"/>
          <a:lstStyle/>
          <a:p>
            <a:pPr indent="0" marL="0">
              <a:lnSpc>
                <a:spcPct val="115000"/>
              </a:lnSpc>
              <a:buNone/>
            </a:pPr>
            <a:r>
              <a:rPr lang="en-US" sz="1350" dirty="0">
                <a:solidFill>
                  <a:srgbClr val="F4F7FB"/>
                </a:solidFill>
                <a:latin typeface="Calibri" pitchFamily="34" charset="0"/>
                <a:ea typeface="Calibri" pitchFamily="34" charset="-122"/>
                <a:cs typeface="Calibri" pitchFamily="34" charset="-120"/>
              </a:rPr>
              <a:t>It's like a legal contract that never states “east” and “west” can't be the same direction — the judge (inference engine) can't rule on any case that depends on that distinction, even though it seems too obvious to write down. Debugging a knowledge base is often less about wrong logic and more about unstated ‘obvious’ assumptions that were never actually written into the axioms.</a:t>
            </a:r>
            <a:endParaRPr lang="en-US" sz="1350" dirty="0"/>
          </a:p>
        </p:txBody>
      </p:sp>
      <p:sp>
        <p:nvSpPr>
          <p:cNvPr id="16" name="Text 14"/>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CHAPTER SUMMARY</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F4F7FB"/>
                </a:solidFill>
                <a:latin typeface="Calibri" pitchFamily="34" charset="0"/>
                <a:ea typeface="Calibri" pitchFamily="34" charset="-122"/>
                <a:cs typeface="Calibri" pitchFamily="34" charset="-120"/>
              </a:rPr>
              <a:t>Key takeaways</a:t>
            </a:r>
            <a:endParaRPr lang="en-US" sz="3200" dirty="0"/>
          </a:p>
        </p:txBody>
      </p:sp>
      <p:sp>
        <p:nvSpPr>
          <p:cNvPr id="4" name="Shape 2"/>
          <p:cNvSpPr/>
          <p:nvPr/>
        </p:nvSpPr>
        <p:spPr>
          <a:xfrm>
            <a:off x="548640" y="1737360"/>
            <a:ext cx="11109960" cy="658368"/>
          </a:xfrm>
          <a:prstGeom prst="roundRect">
            <a:avLst>
              <a:gd name="adj" fmla="val 111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77240" y="1956816"/>
            <a:ext cx="219456" cy="219456"/>
          </a:xfrm>
          <a:prstGeom prst="ellipse">
            <a:avLst/>
          </a:prstGeom>
          <a:solidFill>
            <a:srgbClr val="4FD1E8"/>
          </a:solidFill>
          <a:ln/>
        </p:spPr>
      </p:sp>
      <p:sp>
        <p:nvSpPr>
          <p:cNvPr id="6" name="Text 4"/>
          <p:cNvSpPr/>
          <p:nvPr/>
        </p:nvSpPr>
        <p:spPr>
          <a:xfrm>
            <a:off x="777240" y="1956816"/>
            <a:ext cx="219456" cy="219456"/>
          </a:xfrm>
          <a:prstGeom prst="rect">
            <a:avLst/>
          </a:prstGeom>
          <a:noFill/>
          <a:ln/>
        </p:spPr>
        <p:txBody>
          <a:bodyPr wrap="square"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143000" y="1792224"/>
            <a:ext cx="10332720" cy="548640"/>
          </a:xfrm>
          <a:prstGeom prst="rect">
            <a:avLst/>
          </a:prstGeom>
          <a:noFill/>
          <a:ln/>
        </p:spPr>
        <p:txBody>
          <a:bodyPr wrap="square" rtlCol="0" anchor="ctr"/>
          <a:lstStyle/>
          <a:p>
            <a:pPr indent="0" marL="0">
              <a:buNone/>
            </a:pPr>
            <a:r>
              <a:rPr lang="en-US" sz="1300" dirty="0">
                <a:solidFill>
                  <a:srgbClr val="F4F7FB"/>
                </a:solidFill>
                <a:latin typeface="Calibri" pitchFamily="34" charset="0"/>
                <a:ea typeface="Calibri" pitchFamily="34" charset="-122"/>
                <a:cs typeface="Calibri" pitchFamily="34" charset="-120"/>
              </a:rPr>
              <a:t>Good representation languages are declarative, compositional, expressive, and unambiguous.</a:t>
            </a:r>
            <a:endParaRPr lang="en-US" sz="1300" dirty="0"/>
          </a:p>
        </p:txBody>
      </p:sp>
      <p:sp>
        <p:nvSpPr>
          <p:cNvPr id="8" name="Shape 6"/>
          <p:cNvSpPr/>
          <p:nvPr/>
        </p:nvSpPr>
        <p:spPr>
          <a:xfrm>
            <a:off x="548640" y="2487168"/>
            <a:ext cx="11109960" cy="658368"/>
          </a:xfrm>
          <a:prstGeom prst="roundRect">
            <a:avLst>
              <a:gd name="adj" fmla="val 111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9" name="Shape 7"/>
          <p:cNvSpPr/>
          <p:nvPr/>
        </p:nvSpPr>
        <p:spPr>
          <a:xfrm>
            <a:off x="777240" y="2706624"/>
            <a:ext cx="219456" cy="219456"/>
          </a:xfrm>
          <a:prstGeom prst="ellipse">
            <a:avLst/>
          </a:prstGeom>
          <a:solidFill>
            <a:srgbClr val="A78BFA"/>
          </a:solidFill>
          <a:ln/>
        </p:spPr>
      </p:sp>
      <p:sp>
        <p:nvSpPr>
          <p:cNvPr id="10" name="Text 8"/>
          <p:cNvSpPr/>
          <p:nvPr/>
        </p:nvSpPr>
        <p:spPr>
          <a:xfrm>
            <a:off x="777240" y="2706624"/>
            <a:ext cx="219456" cy="219456"/>
          </a:xfrm>
          <a:prstGeom prst="rect">
            <a:avLst/>
          </a:prstGeom>
          <a:noFill/>
          <a:ln/>
        </p:spPr>
        <p:txBody>
          <a:bodyPr wrap="square"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143000" y="2542032"/>
            <a:ext cx="10332720" cy="548640"/>
          </a:xfrm>
          <a:prstGeom prst="rect">
            <a:avLst/>
          </a:prstGeom>
          <a:noFill/>
          <a:ln/>
        </p:spPr>
        <p:txBody>
          <a:bodyPr wrap="square" rtlCol="0" anchor="ctr"/>
          <a:lstStyle/>
          <a:p>
            <a:pPr indent="0" marL="0">
              <a:buNone/>
            </a:pPr>
            <a:r>
              <a:rPr lang="en-US" sz="1300" dirty="0">
                <a:solidFill>
                  <a:srgbClr val="F4F7FB"/>
                </a:solidFill>
                <a:latin typeface="Calibri" pitchFamily="34" charset="0"/>
                <a:ea typeface="Calibri" pitchFamily="34" charset="-122"/>
                <a:cs typeface="Calibri" pitchFamily="34" charset="-120"/>
              </a:rPr>
              <a:t>FOL commits to objects and relations existing (ontological), while truth stays true/false/unknown (epistemological).</a:t>
            </a:r>
            <a:endParaRPr lang="en-US" sz="1300" dirty="0"/>
          </a:p>
        </p:txBody>
      </p:sp>
      <p:sp>
        <p:nvSpPr>
          <p:cNvPr id="12" name="Shape 10"/>
          <p:cNvSpPr/>
          <p:nvPr/>
        </p:nvSpPr>
        <p:spPr>
          <a:xfrm>
            <a:off x="548640" y="3236976"/>
            <a:ext cx="11109960" cy="658368"/>
          </a:xfrm>
          <a:prstGeom prst="roundRect">
            <a:avLst>
              <a:gd name="adj" fmla="val 111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Shape 11"/>
          <p:cNvSpPr/>
          <p:nvPr/>
        </p:nvSpPr>
        <p:spPr>
          <a:xfrm>
            <a:off x="777240" y="3456432"/>
            <a:ext cx="219456" cy="219456"/>
          </a:xfrm>
          <a:prstGeom prst="ellipse">
            <a:avLst/>
          </a:prstGeom>
          <a:solidFill>
            <a:srgbClr val="4FD1E8"/>
          </a:solidFill>
          <a:ln/>
        </p:spPr>
      </p:sp>
      <p:sp>
        <p:nvSpPr>
          <p:cNvPr id="14" name="Text 12"/>
          <p:cNvSpPr/>
          <p:nvPr/>
        </p:nvSpPr>
        <p:spPr>
          <a:xfrm>
            <a:off x="777240" y="3456432"/>
            <a:ext cx="219456" cy="219456"/>
          </a:xfrm>
          <a:prstGeom prst="rect">
            <a:avLst/>
          </a:prstGeom>
          <a:noFill/>
          <a:ln/>
        </p:spPr>
        <p:txBody>
          <a:bodyPr wrap="square"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143000" y="3291840"/>
            <a:ext cx="10332720" cy="548640"/>
          </a:xfrm>
          <a:prstGeom prst="rect">
            <a:avLst/>
          </a:prstGeom>
          <a:noFill/>
          <a:ln/>
        </p:spPr>
        <p:txBody>
          <a:bodyPr wrap="square"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 model = a domain of objects + an interpretation mapping symbols to objects, relations, and functions.</a:t>
            </a:r>
            <a:endParaRPr lang="en-US" sz="1300" dirty="0"/>
          </a:p>
        </p:txBody>
      </p:sp>
      <p:sp>
        <p:nvSpPr>
          <p:cNvPr id="16" name="Shape 14"/>
          <p:cNvSpPr/>
          <p:nvPr/>
        </p:nvSpPr>
        <p:spPr>
          <a:xfrm>
            <a:off x="548640" y="3986784"/>
            <a:ext cx="11109960" cy="658368"/>
          </a:xfrm>
          <a:prstGeom prst="roundRect">
            <a:avLst>
              <a:gd name="adj" fmla="val 111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7" name="Shape 15"/>
          <p:cNvSpPr/>
          <p:nvPr/>
        </p:nvSpPr>
        <p:spPr>
          <a:xfrm>
            <a:off x="777240" y="4206240"/>
            <a:ext cx="219456" cy="219456"/>
          </a:xfrm>
          <a:prstGeom prst="ellipse">
            <a:avLst/>
          </a:prstGeom>
          <a:solidFill>
            <a:srgbClr val="A78BFA"/>
          </a:solidFill>
          <a:ln/>
        </p:spPr>
      </p:sp>
      <p:sp>
        <p:nvSpPr>
          <p:cNvPr id="18" name="Text 16"/>
          <p:cNvSpPr/>
          <p:nvPr/>
        </p:nvSpPr>
        <p:spPr>
          <a:xfrm>
            <a:off x="777240" y="4206240"/>
            <a:ext cx="219456" cy="219456"/>
          </a:xfrm>
          <a:prstGeom prst="rect">
            <a:avLst/>
          </a:prstGeom>
          <a:noFill/>
          <a:ln/>
        </p:spPr>
        <p:txBody>
          <a:bodyPr wrap="square"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143000" y="4041648"/>
            <a:ext cx="10332720" cy="548640"/>
          </a:xfrm>
          <a:prstGeom prst="rect">
            <a:avLst/>
          </a:prstGeom>
          <a:noFill/>
          <a:ln/>
        </p:spPr>
        <p:txBody>
          <a:bodyPr wrap="square" rtlCol="0" anchor="ctr"/>
          <a:lstStyle/>
          <a:p>
            <a:pPr indent="0" marL="0">
              <a:buNone/>
            </a:pPr>
            <a:r>
              <a:rPr lang="en-US" sz="1300" dirty="0">
                <a:solidFill>
                  <a:srgbClr val="F4F7FB"/>
                </a:solidFill>
                <a:latin typeface="Calibri" pitchFamily="34" charset="0"/>
                <a:ea typeface="Calibri" pitchFamily="34" charset="-122"/>
                <a:cs typeface="Calibri" pitchFamily="34" charset="-120"/>
              </a:rPr>
              <a:t>∀ pairs with ⇒; ∃ pairs with ∧ — mixing them up over- or under-states the claim.</a:t>
            </a:r>
            <a:endParaRPr lang="en-US" sz="1300" dirty="0"/>
          </a:p>
        </p:txBody>
      </p:sp>
      <p:sp>
        <p:nvSpPr>
          <p:cNvPr id="20" name="Shape 18"/>
          <p:cNvSpPr/>
          <p:nvPr/>
        </p:nvSpPr>
        <p:spPr>
          <a:xfrm>
            <a:off x="548640" y="4736592"/>
            <a:ext cx="11109960" cy="658368"/>
          </a:xfrm>
          <a:prstGeom prst="roundRect">
            <a:avLst>
              <a:gd name="adj" fmla="val 111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1" name="Shape 19"/>
          <p:cNvSpPr/>
          <p:nvPr/>
        </p:nvSpPr>
        <p:spPr>
          <a:xfrm>
            <a:off x="777240" y="4956048"/>
            <a:ext cx="219456" cy="219456"/>
          </a:xfrm>
          <a:prstGeom prst="ellipse">
            <a:avLst/>
          </a:prstGeom>
          <a:solidFill>
            <a:srgbClr val="4FD1E8"/>
          </a:solidFill>
          <a:ln/>
        </p:spPr>
      </p:sp>
      <p:sp>
        <p:nvSpPr>
          <p:cNvPr id="22" name="Text 20"/>
          <p:cNvSpPr/>
          <p:nvPr/>
        </p:nvSpPr>
        <p:spPr>
          <a:xfrm>
            <a:off x="777240" y="4956048"/>
            <a:ext cx="219456" cy="219456"/>
          </a:xfrm>
          <a:prstGeom prst="rect">
            <a:avLst/>
          </a:prstGeom>
          <a:noFill/>
          <a:ln/>
        </p:spPr>
        <p:txBody>
          <a:bodyPr wrap="square"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143000" y="4791456"/>
            <a:ext cx="10332720" cy="548640"/>
          </a:xfrm>
          <a:prstGeom prst="rect">
            <a:avLst/>
          </a:prstGeom>
          <a:noFill/>
          <a:ln/>
        </p:spPr>
        <p:txBody>
          <a:bodyPr wrap="square" rtlCol="0" anchor="ctr"/>
          <a:lstStyle/>
          <a:p>
            <a:pPr indent="0" marL="0">
              <a:buNone/>
            </a:pPr>
            <a:r>
              <a:rPr lang="en-US" sz="1300" dirty="0">
                <a:solidFill>
                  <a:srgbClr val="F4F7FB"/>
                </a:solidFill>
                <a:latin typeface="Calibri" pitchFamily="34" charset="0"/>
                <a:ea typeface="Calibri" pitchFamily="34" charset="-122"/>
                <a:cs typeface="Calibri" pitchFamily="34" charset="-120"/>
              </a:rPr>
              <a:t>Quantifier order changes meaning; ∀ and ∃ trade places under negation (De Morgan for logic).</a:t>
            </a:r>
            <a:endParaRPr lang="en-US" sz="1300" dirty="0"/>
          </a:p>
        </p:txBody>
      </p:sp>
      <p:sp>
        <p:nvSpPr>
          <p:cNvPr id="24" name="Shape 22"/>
          <p:cNvSpPr/>
          <p:nvPr/>
        </p:nvSpPr>
        <p:spPr>
          <a:xfrm>
            <a:off x="548640" y="5486400"/>
            <a:ext cx="11109960" cy="658368"/>
          </a:xfrm>
          <a:prstGeom prst="roundRect">
            <a:avLst>
              <a:gd name="adj" fmla="val 11111"/>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5" name="Shape 23"/>
          <p:cNvSpPr/>
          <p:nvPr/>
        </p:nvSpPr>
        <p:spPr>
          <a:xfrm>
            <a:off x="777240" y="5705856"/>
            <a:ext cx="219456" cy="219456"/>
          </a:xfrm>
          <a:prstGeom prst="ellipse">
            <a:avLst/>
          </a:prstGeom>
          <a:solidFill>
            <a:srgbClr val="A78BFA"/>
          </a:solidFill>
          <a:ln/>
        </p:spPr>
      </p:sp>
      <p:sp>
        <p:nvSpPr>
          <p:cNvPr id="26" name="Text 24"/>
          <p:cNvSpPr/>
          <p:nvPr/>
        </p:nvSpPr>
        <p:spPr>
          <a:xfrm>
            <a:off x="777240" y="5705856"/>
            <a:ext cx="219456" cy="219456"/>
          </a:xfrm>
          <a:prstGeom prst="rect">
            <a:avLst/>
          </a:prstGeom>
          <a:noFill/>
          <a:ln/>
        </p:spPr>
        <p:txBody>
          <a:bodyPr wrap="square"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1143000" y="5541264"/>
            <a:ext cx="10332720" cy="548640"/>
          </a:xfrm>
          <a:prstGeom prst="rect">
            <a:avLst/>
          </a:prstGeom>
          <a:noFill/>
          <a:ln/>
        </p:spPr>
        <p:txBody>
          <a:bodyPr wrap="square" rtlCol="0" anchor="ctr"/>
          <a:lstStyle/>
          <a:p>
            <a:pPr indent="0" marL="0">
              <a:buNone/>
            </a:pPr>
            <a:r>
              <a:rPr lang="en-US" sz="1300" dirty="0">
                <a:solidFill>
                  <a:srgbClr val="F4F7FB"/>
                </a:solidFill>
                <a:latin typeface="Calibri" pitchFamily="34" charset="0"/>
                <a:ea typeface="Calibri" pitchFamily="34" charset="-122"/>
                <a:cs typeface="Calibri" pitchFamily="34" charset="-120"/>
              </a:rPr>
              <a:t>Knowledge engineering is a 7-step, iterative process — vocabulary choice is usually the hardest part.</a:t>
            </a:r>
            <a:endParaRPr lang="en-US" sz="1300" dirty="0"/>
          </a:p>
        </p:txBody>
      </p:sp>
      <p:sp>
        <p:nvSpPr>
          <p:cNvPr id="28" name="Text 26"/>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4FD1E8"/>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indent="0" marL="0">
              <a:buNone/>
            </a:pPr>
            <a:r>
              <a:rPr lang="en-US" sz="3000" b="1" dirty="0">
                <a:solidFill>
                  <a:srgbClr val="F4F7FB"/>
                </a:solidFill>
                <a:latin typeface="Calibri" pitchFamily="34" charset="0"/>
                <a:ea typeface="Calibri" pitchFamily="34" charset="-122"/>
                <a:cs typeface="Calibri" pitchFamily="34" charset="-120"/>
              </a:rPr>
              <a:t>The analogy cheat sheet</a:t>
            </a:r>
            <a:endParaRPr lang="en-US" sz="3000" dirty="0"/>
          </a:p>
        </p:txBody>
      </p:sp>
      <p:sp>
        <p:nvSpPr>
          <p:cNvPr id="4" name="Shape 2"/>
          <p:cNvSpPr/>
          <p:nvPr/>
        </p:nvSpPr>
        <p:spPr>
          <a:xfrm>
            <a:off x="548640" y="1691640"/>
            <a:ext cx="11109960" cy="566928"/>
          </a:xfrm>
          <a:prstGeom prst="roundRect">
            <a:avLst>
              <a:gd name="adj" fmla="val 1290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822960" y="1691640"/>
            <a:ext cx="3931920" cy="566928"/>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Propositional → FOL</a:t>
            </a:r>
            <a:endParaRPr lang="en-US" sz="1300" dirty="0"/>
          </a:p>
        </p:txBody>
      </p:sp>
      <p:sp>
        <p:nvSpPr>
          <p:cNvPr id="6" name="Shape 4"/>
          <p:cNvSpPr/>
          <p:nvPr/>
        </p:nvSpPr>
        <p:spPr>
          <a:xfrm>
            <a:off x="4892040" y="1783080"/>
            <a:ext cx="0" cy="384048"/>
          </a:xfrm>
          <a:prstGeom prst="line">
            <a:avLst/>
          </a:prstGeom>
          <a:noFill/>
          <a:ln w="12700">
            <a:solidFill>
              <a:srgbClr val="2A3A5C"/>
            </a:solidFill>
            <a:prstDash val="solid"/>
          </a:ln>
        </p:spPr>
      </p:sp>
      <p:sp>
        <p:nvSpPr>
          <p:cNvPr id="7" name="Text 5"/>
          <p:cNvSpPr/>
          <p:nvPr/>
        </p:nvSpPr>
        <p:spPr>
          <a:xfrm>
            <a:off x="5166360" y="1691640"/>
            <a:ext cx="6309360" cy="566928"/>
          </a:xfrm>
          <a:prstGeom prst="rect">
            <a:avLst/>
          </a:prstGeom>
          <a:noFill/>
          <a:ln/>
        </p:spPr>
        <p:txBody>
          <a:bodyPr wrap="square" rtlCol="0" anchor="ctr"/>
          <a:lstStyle/>
          <a:p>
            <a:pPr indent="0" marL="0">
              <a:buNone/>
            </a:pPr>
            <a:r>
              <a:rPr lang="en-US" sz="1250" i="1" dirty="0">
                <a:solidFill>
                  <a:srgbClr val="F4F7FB"/>
                </a:solidFill>
                <a:latin typeface="Calibri" pitchFamily="34" charset="0"/>
                <a:ea typeface="Calibri" pitchFamily="34" charset="-122"/>
                <a:cs typeface="Calibri" pitchFamily="34" charset="-120"/>
              </a:rPr>
              <a:t>House-by-house code → one zoning law</a:t>
            </a:r>
            <a:endParaRPr lang="en-US" sz="1250" dirty="0"/>
          </a:p>
        </p:txBody>
      </p:sp>
      <p:sp>
        <p:nvSpPr>
          <p:cNvPr id="8" name="Shape 6"/>
          <p:cNvSpPr/>
          <p:nvPr/>
        </p:nvSpPr>
        <p:spPr>
          <a:xfrm>
            <a:off x="548640" y="2350008"/>
            <a:ext cx="11109960" cy="566928"/>
          </a:xfrm>
          <a:prstGeom prst="roundRect">
            <a:avLst>
              <a:gd name="adj" fmla="val 1290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9" name="Text 7"/>
          <p:cNvSpPr/>
          <p:nvPr/>
        </p:nvSpPr>
        <p:spPr>
          <a:xfrm>
            <a:off x="822960" y="2350008"/>
            <a:ext cx="3931920" cy="566928"/>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Declarative vs. procedural</a:t>
            </a:r>
            <a:endParaRPr lang="en-US" sz="1300" dirty="0"/>
          </a:p>
        </p:txBody>
      </p:sp>
      <p:sp>
        <p:nvSpPr>
          <p:cNvPr id="10" name="Shape 8"/>
          <p:cNvSpPr/>
          <p:nvPr/>
        </p:nvSpPr>
        <p:spPr>
          <a:xfrm>
            <a:off x="4892040" y="2441448"/>
            <a:ext cx="0" cy="384048"/>
          </a:xfrm>
          <a:prstGeom prst="line">
            <a:avLst/>
          </a:prstGeom>
          <a:noFill/>
          <a:ln w="12700">
            <a:solidFill>
              <a:srgbClr val="2A3A5C"/>
            </a:solidFill>
            <a:prstDash val="solid"/>
          </a:ln>
        </p:spPr>
      </p:sp>
      <p:sp>
        <p:nvSpPr>
          <p:cNvPr id="11" name="Text 9"/>
          <p:cNvSpPr/>
          <p:nvPr/>
        </p:nvSpPr>
        <p:spPr>
          <a:xfrm>
            <a:off x="5166360" y="2350008"/>
            <a:ext cx="6309360" cy="566928"/>
          </a:xfrm>
          <a:prstGeom prst="rect">
            <a:avLst/>
          </a:prstGeom>
          <a:noFill/>
          <a:ln/>
        </p:spPr>
        <p:txBody>
          <a:bodyPr wrap="square" rtlCol="0" anchor="ctr"/>
          <a:lstStyle/>
          <a:p>
            <a:pPr indent="0" marL="0">
              <a:buNone/>
            </a:pPr>
            <a:r>
              <a:rPr lang="en-US" sz="1250" i="1" dirty="0">
                <a:solidFill>
                  <a:srgbClr val="F4F7FB"/>
                </a:solidFill>
                <a:latin typeface="Calibri" pitchFamily="34" charset="0"/>
                <a:ea typeface="Calibri" pitchFamily="34" charset="-122"/>
                <a:cs typeface="Calibri" pitchFamily="34" charset="-120"/>
              </a:rPr>
              <a:t>The finished dish vs. the recipe</a:t>
            </a:r>
            <a:endParaRPr lang="en-US" sz="1250" dirty="0"/>
          </a:p>
        </p:txBody>
      </p:sp>
      <p:sp>
        <p:nvSpPr>
          <p:cNvPr id="12" name="Shape 10"/>
          <p:cNvSpPr/>
          <p:nvPr/>
        </p:nvSpPr>
        <p:spPr>
          <a:xfrm>
            <a:off x="548640" y="3008376"/>
            <a:ext cx="11109960" cy="566928"/>
          </a:xfrm>
          <a:prstGeom prst="roundRect">
            <a:avLst>
              <a:gd name="adj" fmla="val 1290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3" name="Text 11"/>
          <p:cNvSpPr/>
          <p:nvPr/>
        </p:nvSpPr>
        <p:spPr>
          <a:xfrm>
            <a:off x="822960" y="3008376"/>
            <a:ext cx="3931920" cy="566928"/>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Terms</a:t>
            </a:r>
            <a:endParaRPr lang="en-US" sz="1300" dirty="0"/>
          </a:p>
        </p:txBody>
      </p:sp>
      <p:sp>
        <p:nvSpPr>
          <p:cNvPr id="14" name="Shape 12"/>
          <p:cNvSpPr/>
          <p:nvPr/>
        </p:nvSpPr>
        <p:spPr>
          <a:xfrm>
            <a:off x="4892040" y="3099816"/>
            <a:ext cx="0" cy="384048"/>
          </a:xfrm>
          <a:prstGeom prst="line">
            <a:avLst/>
          </a:prstGeom>
          <a:noFill/>
          <a:ln w="12700">
            <a:solidFill>
              <a:srgbClr val="2A3A5C"/>
            </a:solidFill>
            <a:prstDash val="solid"/>
          </a:ln>
        </p:spPr>
      </p:sp>
      <p:sp>
        <p:nvSpPr>
          <p:cNvPr id="15" name="Text 13"/>
          <p:cNvSpPr/>
          <p:nvPr/>
        </p:nvSpPr>
        <p:spPr>
          <a:xfrm>
            <a:off x="5166360" y="3008376"/>
            <a:ext cx="6309360" cy="566928"/>
          </a:xfrm>
          <a:prstGeom prst="rect">
            <a:avLst/>
          </a:prstGeom>
          <a:noFill/>
          <a:ln/>
        </p:spPr>
        <p:txBody>
          <a:bodyPr wrap="square" rtlCol="0" anchor="ctr"/>
          <a:lstStyle/>
          <a:p>
            <a:pPr indent="0" marL="0">
              <a:buNone/>
            </a:pPr>
            <a:r>
              <a:rPr lang="en-US" sz="1250" i="1" dirty="0">
                <a:solidFill>
                  <a:srgbClr val="F4F7FB"/>
                </a:solidFill>
                <a:latin typeface="Calibri" pitchFamily="34" charset="0"/>
                <a:ea typeface="Calibri" pitchFamily="34" charset="-122"/>
                <a:cs typeface="Calibri" pitchFamily="34" charset="-120"/>
              </a:rPr>
              <a:t>“My mom's coworker” instead of a proper name</a:t>
            </a:r>
            <a:endParaRPr lang="en-US" sz="1250" dirty="0"/>
          </a:p>
        </p:txBody>
      </p:sp>
      <p:sp>
        <p:nvSpPr>
          <p:cNvPr id="16" name="Shape 14"/>
          <p:cNvSpPr/>
          <p:nvPr/>
        </p:nvSpPr>
        <p:spPr>
          <a:xfrm>
            <a:off x="548640" y="3666744"/>
            <a:ext cx="11109960" cy="566928"/>
          </a:xfrm>
          <a:prstGeom prst="roundRect">
            <a:avLst>
              <a:gd name="adj" fmla="val 1290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17" name="Text 15"/>
          <p:cNvSpPr/>
          <p:nvPr/>
        </p:nvSpPr>
        <p:spPr>
          <a:xfrm>
            <a:off x="822960" y="3666744"/>
            <a:ext cx="3931920" cy="566928"/>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 (universal)</a:t>
            </a:r>
            <a:endParaRPr lang="en-US" sz="1300" dirty="0"/>
          </a:p>
        </p:txBody>
      </p:sp>
      <p:sp>
        <p:nvSpPr>
          <p:cNvPr id="18" name="Shape 16"/>
          <p:cNvSpPr/>
          <p:nvPr/>
        </p:nvSpPr>
        <p:spPr>
          <a:xfrm>
            <a:off x="4892040" y="3758184"/>
            <a:ext cx="0" cy="384048"/>
          </a:xfrm>
          <a:prstGeom prst="line">
            <a:avLst/>
          </a:prstGeom>
          <a:noFill/>
          <a:ln w="12700">
            <a:solidFill>
              <a:srgbClr val="2A3A5C"/>
            </a:solidFill>
            <a:prstDash val="solid"/>
          </a:ln>
        </p:spPr>
      </p:sp>
      <p:sp>
        <p:nvSpPr>
          <p:cNvPr id="19" name="Text 17"/>
          <p:cNvSpPr/>
          <p:nvPr/>
        </p:nvSpPr>
        <p:spPr>
          <a:xfrm>
            <a:off x="5166360" y="3666744"/>
            <a:ext cx="6309360" cy="566928"/>
          </a:xfrm>
          <a:prstGeom prst="rect">
            <a:avLst/>
          </a:prstGeom>
          <a:noFill/>
          <a:ln/>
        </p:spPr>
        <p:txBody>
          <a:bodyPr wrap="square" rtlCol="0" anchor="ctr"/>
          <a:lstStyle/>
          <a:p>
            <a:pPr indent="0" marL="0">
              <a:buNone/>
            </a:pPr>
            <a:r>
              <a:rPr lang="en-US" sz="1250" i="1" dirty="0">
                <a:solidFill>
                  <a:srgbClr val="F4F7FB"/>
                </a:solidFill>
                <a:latin typeface="Calibri" pitchFamily="34" charset="0"/>
                <a:ea typeface="Calibri" pitchFamily="34" charset="-122"/>
                <a:cs typeface="Calibri" pitchFamily="34" charset="-120"/>
              </a:rPr>
              <a:t>Inspector checking every locker</a:t>
            </a:r>
            <a:endParaRPr lang="en-US" sz="1250" dirty="0"/>
          </a:p>
        </p:txBody>
      </p:sp>
      <p:sp>
        <p:nvSpPr>
          <p:cNvPr id="20" name="Shape 18"/>
          <p:cNvSpPr/>
          <p:nvPr/>
        </p:nvSpPr>
        <p:spPr>
          <a:xfrm>
            <a:off x="548640" y="4325112"/>
            <a:ext cx="11109960" cy="566928"/>
          </a:xfrm>
          <a:prstGeom prst="roundRect">
            <a:avLst>
              <a:gd name="adj" fmla="val 1290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1" name="Text 19"/>
          <p:cNvSpPr/>
          <p:nvPr/>
        </p:nvSpPr>
        <p:spPr>
          <a:xfrm>
            <a:off x="822960" y="4325112"/>
            <a:ext cx="3931920" cy="566928"/>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 (existential)</a:t>
            </a:r>
            <a:endParaRPr lang="en-US" sz="1300" dirty="0"/>
          </a:p>
        </p:txBody>
      </p:sp>
      <p:sp>
        <p:nvSpPr>
          <p:cNvPr id="22" name="Shape 20"/>
          <p:cNvSpPr/>
          <p:nvPr/>
        </p:nvSpPr>
        <p:spPr>
          <a:xfrm>
            <a:off x="4892040" y="4416552"/>
            <a:ext cx="0" cy="384048"/>
          </a:xfrm>
          <a:prstGeom prst="line">
            <a:avLst/>
          </a:prstGeom>
          <a:noFill/>
          <a:ln w="12700">
            <a:solidFill>
              <a:srgbClr val="2A3A5C"/>
            </a:solidFill>
            <a:prstDash val="solid"/>
          </a:ln>
        </p:spPr>
      </p:sp>
      <p:sp>
        <p:nvSpPr>
          <p:cNvPr id="23" name="Text 21"/>
          <p:cNvSpPr/>
          <p:nvPr/>
        </p:nvSpPr>
        <p:spPr>
          <a:xfrm>
            <a:off x="5166360" y="4325112"/>
            <a:ext cx="6309360" cy="566928"/>
          </a:xfrm>
          <a:prstGeom prst="rect">
            <a:avLst/>
          </a:prstGeom>
          <a:noFill/>
          <a:ln/>
        </p:spPr>
        <p:txBody>
          <a:bodyPr wrap="square" rtlCol="0" anchor="ctr"/>
          <a:lstStyle/>
          <a:p>
            <a:pPr indent="0" marL="0">
              <a:buNone/>
            </a:pPr>
            <a:r>
              <a:rPr lang="en-US" sz="1250" i="1" dirty="0">
                <a:solidFill>
                  <a:srgbClr val="F4F7FB"/>
                </a:solidFill>
                <a:latin typeface="Calibri" pitchFamily="34" charset="0"/>
                <a:ea typeface="Calibri" pitchFamily="34" charset="-122"/>
                <a:cs typeface="Calibri" pitchFamily="34" charset="-120"/>
              </a:rPr>
              <a:t>Metal detector needing one beep</a:t>
            </a:r>
            <a:endParaRPr lang="en-US" sz="1250" dirty="0"/>
          </a:p>
        </p:txBody>
      </p:sp>
      <p:sp>
        <p:nvSpPr>
          <p:cNvPr id="24" name="Shape 22"/>
          <p:cNvSpPr/>
          <p:nvPr/>
        </p:nvSpPr>
        <p:spPr>
          <a:xfrm>
            <a:off x="548640" y="4983480"/>
            <a:ext cx="11109960" cy="566928"/>
          </a:xfrm>
          <a:prstGeom prst="roundRect">
            <a:avLst>
              <a:gd name="adj" fmla="val 1290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5" name="Text 23"/>
          <p:cNvSpPr/>
          <p:nvPr/>
        </p:nvSpPr>
        <p:spPr>
          <a:xfrm>
            <a:off x="822960" y="4983480"/>
            <a:ext cx="3931920" cy="566928"/>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Database semantics</a:t>
            </a:r>
            <a:endParaRPr lang="en-US" sz="1300" dirty="0"/>
          </a:p>
        </p:txBody>
      </p:sp>
      <p:sp>
        <p:nvSpPr>
          <p:cNvPr id="26" name="Shape 24"/>
          <p:cNvSpPr/>
          <p:nvPr/>
        </p:nvSpPr>
        <p:spPr>
          <a:xfrm>
            <a:off x="4892040" y="5074920"/>
            <a:ext cx="0" cy="384048"/>
          </a:xfrm>
          <a:prstGeom prst="line">
            <a:avLst/>
          </a:prstGeom>
          <a:noFill/>
          <a:ln w="12700">
            <a:solidFill>
              <a:srgbClr val="2A3A5C"/>
            </a:solidFill>
            <a:prstDash val="solid"/>
          </a:ln>
        </p:spPr>
      </p:sp>
      <p:sp>
        <p:nvSpPr>
          <p:cNvPr id="27" name="Text 25"/>
          <p:cNvSpPr/>
          <p:nvPr/>
        </p:nvSpPr>
        <p:spPr>
          <a:xfrm>
            <a:off x="5166360" y="4983480"/>
            <a:ext cx="6309360" cy="566928"/>
          </a:xfrm>
          <a:prstGeom prst="rect">
            <a:avLst/>
          </a:prstGeom>
          <a:noFill/>
          <a:ln/>
        </p:spPr>
        <p:txBody>
          <a:bodyPr wrap="square" rtlCol="0" anchor="ctr"/>
          <a:lstStyle/>
          <a:p>
            <a:pPr indent="0" marL="0">
              <a:buNone/>
            </a:pPr>
            <a:r>
              <a:rPr lang="en-US" sz="1250" i="1" dirty="0">
                <a:solidFill>
                  <a:srgbClr val="F4F7FB"/>
                </a:solidFill>
                <a:latin typeface="Calibri" pitchFamily="34" charset="0"/>
                <a:ea typeface="Calibri" pitchFamily="34" charset="-122"/>
                <a:cs typeface="Calibri" pitchFamily="34" charset="-120"/>
              </a:rPr>
              <a:t>A final, closed class roster</a:t>
            </a:r>
            <a:endParaRPr lang="en-US" sz="1250" dirty="0"/>
          </a:p>
        </p:txBody>
      </p:sp>
      <p:sp>
        <p:nvSpPr>
          <p:cNvPr id="28" name="Shape 26"/>
          <p:cNvSpPr/>
          <p:nvPr/>
        </p:nvSpPr>
        <p:spPr>
          <a:xfrm>
            <a:off x="548640" y="5641848"/>
            <a:ext cx="11109960" cy="566928"/>
          </a:xfrm>
          <a:prstGeom prst="roundRect">
            <a:avLst>
              <a:gd name="adj" fmla="val 12903"/>
            </a:avLst>
          </a:prstGeom>
          <a:solidFill>
            <a:srgbClr val="1B2740"/>
          </a:solidFill>
          <a:ln w="12700">
            <a:solidFill>
              <a:srgbClr val="2A3A5C"/>
            </a:solidFill>
            <a:prstDash val="solid"/>
          </a:ln>
          <a:effectLst>
            <a:outerShdw sx="100000" sy="100000" kx="0" ky="0" algn="bl" rotWithShape="0" blurRad="127000" dist="38100" dir="5400000">
              <a:srgbClr val="000000">
                <a:alpha val="35000"/>
              </a:srgbClr>
            </a:outerShdw>
          </a:effectLst>
        </p:spPr>
      </p:sp>
      <p:sp>
        <p:nvSpPr>
          <p:cNvPr id="29" name="Text 27"/>
          <p:cNvSpPr/>
          <p:nvPr/>
        </p:nvSpPr>
        <p:spPr>
          <a:xfrm>
            <a:off x="822960" y="5641848"/>
            <a:ext cx="3931920" cy="566928"/>
          </a:xfrm>
          <a:prstGeom prst="rect">
            <a:avLst/>
          </a:prstGeom>
          <a:noFill/>
          <a:ln/>
        </p:spPr>
        <p:txBody>
          <a:bodyPr wrap="square" rtlCol="0" anchor="ctr"/>
          <a:lstStyle/>
          <a:p>
            <a:pPr indent="0" marL="0">
              <a:buNone/>
            </a:pPr>
            <a:r>
              <a:rPr lang="en-US" sz="1300" b="1" dirty="0">
                <a:solidFill>
                  <a:srgbClr val="4FD1E8"/>
                </a:solidFill>
                <a:latin typeface="Calibri" pitchFamily="34" charset="0"/>
                <a:ea typeface="Calibri" pitchFamily="34" charset="-122"/>
                <a:cs typeface="Calibri" pitchFamily="34" charset="-120"/>
              </a:rPr>
              <a:t>FOL rule compression</a:t>
            </a:r>
            <a:endParaRPr lang="en-US" sz="1300" dirty="0"/>
          </a:p>
        </p:txBody>
      </p:sp>
      <p:sp>
        <p:nvSpPr>
          <p:cNvPr id="30" name="Shape 28"/>
          <p:cNvSpPr/>
          <p:nvPr/>
        </p:nvSpPr>
        <p:spPr>
          <a:xfrm>
            <a:off x="4892040" y="5733288"/>
            <a:ext cx="0" cy="384048"/>
          </a:xfrm>
          <a:prstGeom prst="line">
            <a:avLst/>
          </a:prstGeom>
          <a:noFill/>
          <a:ln w="12700">
            <a:solidFill>
              <a:srgbClr val="2A3A5C"/>
            </a:solidFill>
            <a:prstDash val="solid"/>
          </a:ln>
        </p:spPr>
      </p:sp>
      <p:sp>
        <p:nvSpPr>
          <p:cNvPr id="31" name="Text 29"/>
          <p:cNvSpPr/>
          <p:nvPr/>
        </p:nvSpPr>
        <p:spPr>
          <a:xfrm>
            <a:off x="5166360" y="5641848"/>
            <a:ext cx="6309360" cy="566928"/>
          </a:xfrm>
          <a:prstGeom prst="rect">
            <a:avLst/>
          </a:prstGeom>
          <a:noFill/>
          <a:ln/>
        </p:spPr>
        <p:txBody>
          <a:bodyPr wrap="square" rtlCol="0" anchor="ctr"/>
          <a:lstStyle/>
          <a:p>
            <a:pPr indent="0" marL="0">
              <a:buNone/>
            </a:pPr>
            <a:r>
              <a:rPr lang="en-US" sz="1250" i="1" dirty="0">
                <a:solidFill>
                  <a:srgbClr val="F4F7FB"/>
                </a:solidFill>
                <a:latin typeface="Calibri" pitchFamily="34" charset="0"/>
                <a:ea typeface="Calibri" pitchFamily="34" charset="-122"/>
                <a:cs typeface="Calibri" pitchFamily="34" charset="-120"/>
              </a:rPr>
              <a:t>One hotel policy vs. 400 door signs</a:t>
            </a:r>
            <a:endParaRPr lang="en-US" sz="1250" dirty="0"/>
          </a:p>
        </p:txBody>
      </p:sp>
      <p:sp>
        <p:nvSpPr>
          <p:cNvPr id="32" name="Text 30"/>
          <p:cNvSpPr/>
          <p:nvPr/>
        </p:nvSpPr>
        <p:spPr>
          <a:xfrm>
            <a:off x="548640" y="6446520"/>
            <a:ext cx="8229600" cy="292608"/>
          </a:xfrm>
          <a:prstGeom prst="rect">
            <a:avLst/>
          </a:prstGeom>
          <a:noFill/>
          <a:ln/>
        </p:spPr>
        <p:txBody>
          <a:bodyPr wrap="square" rtlCol="0" anchor="ctr"/>
          <a:lstStyle/>
          <a:p>
            <a:pPr indent="0" marL="0">
              <a:buNone/>
            </a:pPr>
            <a:r>
              <a:rPr lang="en-US" sz="1050" dirty="0">
                <a:solidFill>
                  <a:srgbClr val="9FB1CC"/>
                </a:solidFill>
                <a:latin typeface="Calibri" pitchFamily="34" charset="0"/>
                <a:ea typeface="Calibri" pitchFamily="34" charset="-122"/>
                <a:cs typeface="Calibri" pitchFamily="34" charset="-120"/>
              </a:rPr>
              <a:t>COMP 469 · Introduction to Artificial Intelligence · Chapter 8</a:t>
            </a:r>
            <a:endParaRPr lang="en-US" sz="1050" dirty="0"/>
          </a:p>
        </p:txBody>
      </p:sp>
      <p:sp>
        <p:nvSpPr>
          <p:cNvPr id="33" name="Text 31"/>
          <p:cNvSpPr/>
          <p:nvPr/>
        </p:nvSpPr>
        <p:spPr>
          <a:xfrm>
            <a:off x="11475720" y="6473952"/>
            <a:ext cx="548640" cy="292608"/>
          </a:xfrm>
          <a:prstGeom prst="rect">
            <a:avLst/>
          </a:prstGeom>
          <a:noFill/>
          <a:ln/>
        </p:spPr>
        <p:txBody>
          <a:bodyPr wrap="square" rtlCol="0" anchor="ctr"/>
          <a:lstStyle/>
          <a:p>
            <a:pPr algn="r" indent="0" marL="0">
              <a:buNone/>
            </a:pPr>
            <a:r>
              <a:rPr lang="en-US" sz="1000" dirty="0">
                <a:solidFill>
                  <a:srgbClr val="9FB1CC"/>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2026-07-13T02:05:50Z</dcterms:created>
  <dcterms:modified xsi:type="dcterms:W3CDTF">2026-07-13T02:05:50Z</dcterms:modified>
</cp:coreProperties>
</file>