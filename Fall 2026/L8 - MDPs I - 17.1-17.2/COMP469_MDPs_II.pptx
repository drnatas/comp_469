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notesMasterIdLst>
    <p:notesMasterId r:id="rId6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notesMaster" Target="notesMasters/notesMaster1.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time we defined MDPs and talked about what a policy is. Today is the machinery lecture: we write down what 'optimal' means as a system of equations, then we build three algorithms that all turn out to be the same equation wearing different hats.
Set expectations honestly: today has more equations than any lecture so far, and they will all look alike. That is not a bug. There are about four ideas here, remixed. If students leave able to write down a one-step lookahead from scratch, the lecture worked.
Housekeeping: this material is heavily represented on the exam and is the direct foundation for reinforcement learning, which starts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students before the equations start. Search: deterministic, one agent, you know the successor function. Games: still deterministic transitions, but a second agent picks half the moves, so we introduced min nodes and then chance nodes for expectimax.
Chapter 16 gave us utility theory for a single decision under uncertainty: maximum expected utility. Chapter 17 makes that decision sequential. Chapter 22 keeps the MDP but takes away the transition and reward functions, so you have to learn them by acting.
Emphasize the closing line. If they see the one-step lookahead as the unifying object, the rest of the semester gets easier.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these out. The verbs matter: formalize, justify, derive, compute, analyze. Exam questions are written against these verbs.
Objective 5 is the one students most often skip and most often lose points on. 'It converges' is not an answer; 'the Bellman operator is a gamma-contraction in max norm, so the error shrinks by a factor of gamma every sweep' is an answer.
Tell them the derive objective is literally a common exam prompt: given a variant setup, write the corresponding one-step lookahead.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a real minute here. Half the confusion in this unit is notational, not conceptual. Students read the book at home in P-notation and see T-notation on the slides.
T(s,a,s') and P(s'|s,a) are the same number: the probability of landing in s-prime given that you took a in s. AIMA even says some authors use T; that is us.
The U versus V* point is the important one. In AIMA, U(s) already means 'utility under optimal play' - the star is implicit. When we want the value of a specific, possibly bad policy, AIMA writes U-pi and we write V-pi. I will use the CS188 star notation throughout because we need to talk about non-optimal policies constantly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 do not re-teach this, just reload it. Ask the room for the noise number rather than telling them.
Two things to stress. First, the living reward is invisible in the visualization but it is doing most of the work in shaping behavior; we will see that in a few slides. Second, contrast with chess and minimax: there, reward came only at the end. Here rewards trickle in, which means the timing of a reward matters, not just its size.
The wall-bumping rule creates the counterintuitive corner cases students love: sometimes the optimal action is to walk deliberately into a wall, because the two slip directions are both safe while the intended direction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the 0.8^5 arithmetic on the board - it lands better than reading it. Five moves, each has to go right, 0.8 to the fifth is about a third.
Then ask: what should the agent do if the very first Up slips it east into (2,1)? The plan has no answer. It says 'Up' next, but 'next' was written for a different state. That is the whole argument for policies in one question.
Also worth flagging the 0.32776 detail from the book: there is a second route to the goal going the long way round, so the true success probability of that action sequence is very slightly higher than 0.8^5. It is a nice reminder that you have to sum over all paths, not just the intended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worked example on the right is the one to walk through slowly. From (1,1), Up gives 0.8 to (1,2), 0.1 east to (2,1), and 0.1 west - but west is a wall, so the agent stays at (1,1). Students consistently forget the wall case and end up with probabilities that do not sum to one.
The bottom note matters for the homework: when two slip directions both bounce off walls, they collapse into the same successor and you must add the probabilities. In the code I gave you this is the dictionary accumulation step.
On Markov: push back on the idea that this is restrictive. Chess is Markov if the state includes castling rights and en passant. The assumption is really a contract about what you put in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reward is indexed by all three of s, a, and s'. Many treatments simplify to R(s), and AIMA's own Figure 17.3 is drawn in that older convention - we will hit that discrepancy explicitly in two slides.
Do the 0.64 arithmetic aloud: ten steps means nine ordinary transitions at -0.04 plus the final one worth +1. Ask why it is nine and not ten - the tenth transition is the one that enters the terminal state and is worth +1 instead.
Land the closing line hard. The living reward is the agent's incentive to finish. The book's phrasing is that the agent does not enjoy living in this environment, so it wants to leave as soon as possible. That makes the MDP a stochastic generalization of the search problems from Chapter 3, where path cost played the same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formal definition slide - the one to photograph. Note that methods for solving MDPs are dynamic programming: break the problem into smaller pieces and remember the answers.
Draw the parallel to Chapter 3 explicitly, because it demystifies the whole unit. Before, RESULT(s,a) gave you s'. Now T(s,a,s') gives you a distribution over s'. Everything else - state space, action sets, goal structure - carries over.
The q-state is the concept students find weirdest, so introduce it gently here and revisit it later: a q-state is 'I am in s and I have committed to a, but the dice have not been rolled yet.' It is exactly a chance node in the expectimax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values. Highest near the gem, lowest at (4,1) which is stuck next to the pit. The book's phrasing: utilities are higher for states closer to the +1 exit because fewer steps are required.
The interesting square is (3,1). Going Up is quicker but risks slipping into the -1 at (4,2). Going Left is safer but longer. At r = -0.04 the agent is essentially indifferent, which is why the book says there are two optimal policies for this world. In general, multiple optimal policies are the norm, not the exception.
A quick numbers check students can do at home: these are exactly the values in Figure 17.3. I generated them by running value iteration to convergence, not by copying the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exists because sharp students will notice the mismatch and lose confidence in their own arithmetic. Better to name it than to let them think they are wrong.
The 4th-edition text defines R(s,a,s') with reward collected on the transition. Figure 17.3, inherited from earlier editions, is drawn under R(s). Under the transition convention every non-terminal utility is exactly 0.04 higher, because the agent no longer gets paid for the square it starts on.
The reassuring part, and a preview of Section 17.1.3: shifting all rewards by a constant cannot change which action is best, so the optimal policy is identical either way. That is the affine-invariance result we prove later in the lecture.
Practical advice for their homework: pick a convention, write it at the top of the page, and be 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convinces students reward design is a real engineering activity, not a formality. Same world, same physics, four completely different personalities, produced entirely by the living reward.
Panel 3 is worth pausing on: at r = -0.02 the agent at (4,1) heads downward, deliberately into a wall, because bouncing off a wall is free and the two slip directions are both away from the pit. Students find this delightful and it is a genuine consequence of the model.
Panel 4 is the cautionary one. When r &gt; 0 the agent never terminates and gets infinite total reward. That is a policy that is optimal and useless. It is exactly the failure mode that motivates discounting, which is the next section.
AIMA notes there are nine distinct optimal policies across all ranges of r. Exercise 17.THRC asks for them - a good extra-credit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N=3 versus N=100 example from the book is the cleanest way to make nonstationarity concrete. With three steps left you have no choice but to gamble; with a hundred you can afford to be careful. Same state, different optimal action.
The practical consequence: under a finite horizon your policy is not a table indexed by state, it is a table indexed by state and time remaining. That is N times bigger and you have to recompute it as the clock runs down.
Make the caveat explicit because it confuses people: infinite horizon does not mean infinite episodes. Our 4 x 3 world has terminal states and most policies reach them. Infinite horizon just means no external deadline is imposed.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slide students skim and should not. The uniqueness result is genuinely surprising: from an axiom that sounds like nothing - your ranking of futures should not depend on when you evaluate them - you get geometric discounting and nothing else.
Draw the multiattribute connection if you have time: each transition is an attribute of the history, and stationarity is a preference independence assumption in the sense of Section 16.4.
The payoff for the students is that they stop treating gamma as an arbitrary knob. It is forced on them by the structure of their own preferences.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panel: at gamma = 0.9, a reward twenty steps out is worth about 12 percent of its face value. At gamma = 0.5 it is worth essentially nothing. This is why the discount, not the reward magnitude, often decides behavior.
Right panel previews the convergence argument. Because the series is geometric, the whole infinite future is bounded by R-max over one minus gamma. At gamma = 0.9 that ceiling is 10; at 0.99 it is 100. Notice how sharply it blows up as gamma approaches 1 - that is the same reason value iteration slows down at high gamma.
There is an important student question buried here, which came up in the Berkeley lecture: can I just pick a small gamma to make my algorithm converge faster? No. Gamma is a property of the problem you were handed, not a solver setting. Changing it changes which policy is optimal, so a steeply discounted solve answers a different question than the one you were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this straight back to the four-panel r figure. The fourth panel is a live example of an improper policy - it deliberately never terminates and accumulates unbounded reward. If two such policies both score plus infinity, the algorithms have no way to prefer one.
The geometric series bound on the left is the single inequality we will reuse in the convergence proof, so flag it now as something to remember.
On proper policies: the first three policies in AIMA Figure 17.2(b) are proper, the fourth is not. If you can guarantee properness you may set gamma to 1 safely - which is what we do in the 4 x 3 world.
Average reward gets one sentence and a promise that it exists; do not open that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equivalences in the middle rows are the memorable ones and they make excellent short exam questions.
Interest rate: gamma = 0.9 corresponds to 11.1 percent, because 1/0.9 minus 1 is 0.111. Ask the room to compute the rate for gamma = 0.95 - about 5.3 percent.
The termination interpretation is the one that most changes how students think. Under mild assumptions, discounting by gamma is exactly the same as saying that on every step, independent of your action, there is a 1 - gamma chance the episode simply ends. So a patient agent is one that believes it will probably survive; an impatient one expects to be interrupted.
This reframing is useful in practice: when someone asks you to pick a gamma, ask them how long they expect the process to survive.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on the difference between the three objects on this slide. U-h scores one history. U-pi(s) averages over all histories a policy could generate from s. U(s), equivalently V*(s), is that average for the best policy.
The start-state independence result deserves a moment. It is not obvious a priori, and it is what makes a policy a plain state-to-action table. The intuition in the box is the one from the book: two optimal policies that meet in a third state have no principled reason to disagree there.
Warn them the action sequence obviously does depend on the start state. It is the policy - the function - that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a genuine two minutes and then take answers. Expected responses:
1. With gamma = 0.5 the agent is impatient - a reward five steps away is worth about 3 percent of face value - so it takes the fast route past the pit. Impatience buys risk tolerance. Good place to note that this is the same trade-off as the r-ranges figure, arrived at through a different knob.
2. Yes. The property is that the policy is proper. With proper policies you never compare infinite sequences, so undiscounted additive rewards are well defined. Push a little: is it enough that this one policy is proper, or do you need it for all policies the algorithm might consider? For value iteration you effectively need it broadly, which is why discounting is the safer default.
3. Gamma is part of the problem specification, not a solver parameter. Changing it changes which policy is optimal, so the fast answer is the correct answer to a different question. This is a real mistake people make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two steps deadpan. Students laugh, and then the point lands: the definition is circular, and circularity is exactly what makes it useful. Optimal behavior is defined in terms of optimal behavior one step later.
Set up the distinction that structures the next thirty minutes: the Bellman equations characterize the optimal values, the way a system of linear equations characterizes its solution. Writing the system down does not tell you how to solve it. Value iteration and policy iteration are two different ways to solve it.
If a student asks whether the recursion terminates: good question, hold it, that is the convergence proof later in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q-state is the concept to work hardest on. Say it several ways: I am in s, I have committed to a, the dice have not been rolled. Or: it is a chance node in the expectimax tree. Or: it is the value of doing a now and playing perfectly afterwards.
Two clarifications students need. First, Q*(s,a) does not assume a was a good action - the star refers to everything after a. Second, V*(s) does not mean s is a good state; a state can have a low value and you might not want to be there, but V* still tells you the best you can do from there.
Preview the punchline that returns in forty minutes: values tell you how good your situation is; Q-values tell you what to do. That asymmetry is what reinforcement learning is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It is the easy half of the equation: the value of a state is the best Q-value beneath it, because the agent controls which action is taken.
Plant the flag about the max being the nonlinear part. Students will not appreciate it now, but when we get to policy evaluation and observe that removing the max leaves a linear system solvable by ordinary linear algebra, the callback pays off.
Use the tree diagram: triangle at top is the state, the green dot is the q-state we picked, the triangles at the bottom are possible landing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right-hand side term by term, matching the colored chips. Consider every s-prime that could result; weight it by how likely it is; collect the reward for that specific transition; then add whatever you will earn from s-prime onwards, discounted by gamma because it is one step further out.
The sentence in the dark panel is the load-bearing one. Have the room say it back if you are willing to do that. Reward now, plus discounted future, averaged over outcomes.
A common student error: forgetting that R is inside the sum. Because the reward depends on s-prime, it has to be averaged too. It only comes out of the sum in the special case where R does not depend on the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photograph slide. Say plainly: this is the single most important equation in the course so far, and it returns in reinforcement learning essentially unchanged.
Emphasize that there is one copy of the equation per state, so for the 4 x 3 world that is nine coupled equations in nine unknowns - coupled because V* appears on both sides.
Also note the mutual recursion framing versus the inlined framing are completely equivalent; use whichever is convenient. The mutual version is better when we get to Q-learning, because there we will want to manipulate Q directly.
The uniqueness of the solution is not obvious and we will prove it - it follows from the contraction property in Section 17.2.1.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the abstract equation becomes arithmetic. Walk the Up row term by term against the grid, then let them find the pattern in the others.
The 0.9 coefficients are the teaching moment and they connect back to the transition-model slide. Taking Left from (1,1): 0.8 goes left into a wall and stays, 0.1 slips down into a wall and stays, 0.1 slips up to (1,2). So 0.9 of the mass returns to (1,1). Students who wrote 0.8 and 0.1 separately will get the same answer but should see why collecting them is cleaner.
Notice U(1,1) appears on both sides of its own equation. That is normal and it is exactly why we cannot just read the answer off - we need an algorithm.
If time is tight, do the Up row and assign the other three as a two minute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Equation 17.8 is worth staring at: it expresses Q entirely in terms of Q one step later. No V appears. That self-contained form is precisely what Q-learning will exploit next week, because it means you can learn Q without ever representing V.
The Q-VALUE pseudocode is from the book and it is genuinely how you should structure your homework code. Value iteration, policy evaluation, policy extraction, and policy improvement are all thin wrappers around this one function.
The panel on the right is the thesis of the second half of the lecture. Do not oversell it yet - just plant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square (3,2), just above the pit at (4,2). On the left, the value 0.57 tells you the situation is decent but says nothing about what to do. On the right, the gold outline says immediately: go Up. Its Q of 0.57 beats going East, which is -0.60 because East risks the pit.
That -0.60 is worth calling out. It is the only strongly negative Q-value in the top rows, and it encodes exactly the danger a value function hides from you.
Do the counting aloud: nine non-terminal states with four actions plus two exits gives thirty-eight Q-values, against eleven values. Four times the storage, and it buys you the ability to act without a model.
These numbers are the ones from the Berkeley demo; I regenerated them rather than copying, so they should agree exactly if students run the gridworld code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to have ready:
1. Reward now, plus discounted future, averaged over outcomes, maximized over actions. Insist on the ordering: the max is outside, the sum is inside. Swapping them is a different and wrong equation.
2. They lost the expectation over outcomes - the equation as written is not even well formed, because s-prime is a free variable. Their version would be correct only in a deterministic MDP, where each action has a single outcome with probability 1. That is a nice observation in its own right: in the deterministic case the Bellman equation degenerates into ordinary shortest-path relaxation.
3. Q* is the value of committing to East and then playing optimally. East from (3,2) risks slipping into the pit, so it is a bad commitment. V* is the max over actions, and the max is achieved by Up at 0.57. A state can be fine while a particular action from it is terrible.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slide, mostly setup. The affine invariance result is inherited from Chapter 16 and students should already accept it.
The genuinely useful move is the callback to the convention slide. They saw two tables of numbers differing by 0.04 and were told the policies agree; now they know why, and it is a one-line argument.
End on the question, because the answer is no - the additive decomposition of utility into rewards gives us substantially more freedom than a plain affine map. That is the shaping theorem.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deepest result in 17.1 and it is worth the time. The claim is startling: you may add an essentially arbitrary state-dependent term to the reward, and the optimal policy does not move at all.
For the intuition, take gamma = 1. Along any path from A to B the shaping terms telescope: Phi(s1)-Phi(s0), then Phi(s2)-Phi(s1), and so on, collapsing to Phi(B) - Phi(A). That depends only on the endpoints, so every route between A and B is affected identically and no route is preferred. Adding a path-independent quantity cannot reorder paths.
The proof sketch on the left is fully in the book; do not grind through the algebra unless the room wants it. The key line is the last one: Phi(s) does not depend on a, so it slides out of the arg max.
This result is the theoretical license behind reward shaping in modern RL, and knowing it is what separates principled shaping from the kind that quietly changes the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derivation is four lines and worth walking. The only trick is that U(s) has no dependence on a, so it leaves the arg max untouched.
The no-free-lunch point is important intellectually but the practical message is the one on the right: a decent approximation to U makes a decent potential, and shaped rewards let a learner find good behavior much faster.
Spend real time on the warning box - it is the part they will actually use. Hand-designed bonus rewards that are not potential-based silently redefine the task. The classic failure is a robot rewarded for reducing distance to a goal that learns to oscillate, harvesting the reduction term over and over. The theorem tells you the safe shape; anything else requires you to prove the policy did not move.
Connect it forward: this is a live issue in RL from human feedback, where proxy rewards are shaped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slide: puncture the illusion that MDPs are small. Everything we do today assumes we can loop over all states. That assumption dies quickly.
The 484-entry table for a 4 x 3 grid is a good anchor - trivial. Then Tetris at 10 to the 62 makes the point that you cannot even enumerate the state space, let alone store a value for each state.
Factored representations are the standard answer, and note the phrasing from Chapter 2: DDNs are factored, tables are atomic, and factored representations typically give an exponential advantage.
The bounded-horizon-plus-utility-node trick is the direct bridge to approximate methods and to the depth-limited search we did for games. It is also a preview of function approximation in deep RL: replace the table with something that generalizes.
The Tetris properness remark is a nice aside: every policy reaches a terminal state, because the board fills up despite your best efforts.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equations on this slide differ by almost nothing typographically and by everything conceptually. Say that explicitly, because students conflate them constantly on exams - they will write an assignment when asked for the Bellman equation and vice versa.
Fixed-point framing: we have a system we cannot solve in closed form because of the max, so we iterate an operator with the property that its fixed point is the solution we want.
Tease the next slide. Strictly speaking you do not need to know what V-k means to run the algorithm, but knowing it makes correctness obvious and makes the algorithm impossible to forget.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heart of value iteration, so do not rush it. So far, the value of a state has meant the expected score from acting optimally forever. A time-limited value asks a smaller question: what if the world ends in k steps?
That smaller question has an easy answer. A depth-k expectimax solves it exactly - maybe slowly, but exactly - because the tree genuinely bottoms out. So we already have an algorithm for V-k. The rest of value iteration is just computing V-k efficiently by reusing V-(k-1).
The unit of k is rewards, not moves. A one-step game gives you exactly one R(s,a,s'). Students get this wrong by one all the time.
Note the honest caveat for advanced students: under the R(s) convention the indexing shifts slightly. Stay in one convention.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dynamic programming from the bottom up. Compute V-0 for all states, then V-1 using V-0, then V-2 using V-1. Each blue state in the expectimax tree recurs many times, so caching is the whole point - we compute V-k for a state once, not once per tree path.
The italic sentence at the bottom is the recurrence in English. Have them repeat it back.
The two-copy note matters for the homework autograder. In-place updates (Gauss-Seidel style) converge and are often faster, but then V-k is no longer the depth-k expectimax value and their intermediate outputs will not match the expected ones. Tell them plainly to use two copies.
If a student asks whether the initialization matters: V-0 = 0 is the natural choice because it makes V-k exactly the k-step value. Value iteration converges from any bounded initialization, but you lose the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is easy because it is pure greedy: what can I collect on my very next turn, ignoring everything after? From Cool, Fast pays +2 on either outcome, Slow pays +1, so V-1(Cool) = 2. From Warm, Fast goes straight to Overheated for -10, so you take Slow for +1.
Stress that where you land is irrelevant at V-1: the game ends immediately after, so the landing state contributes nothing. That is the whole reason V-0 = 0 makes the base case work.
Overheated is terminal, so it stays 0 forever. Once you are there you are stuck.
Ask them to predict whether V-2(Cool) will still prefer Fast before you turn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one on the board with the room, slowly. It is the single best inoculation against the equation feeling abstract.
Start from Warm because it has the shortcut: Fast leads straight to Overheated for -10, which obviously will not win the max, so you can skip computing it. Tell them that skipping is legitimate here but that as an exercise they should compute it and confirm.
Then Cool. The subtlety worth naming: both Fast outcomes pay +2 immediately, but they differ in where you land, and V-1(Cool) = 2 while V-1(Warm) = 1. So the average is 0.5(2+2) + 0.5(2+1) = 3.5. Students often forget that the future term differs across outcomes even when the immediate reward does not.
If you have time, ask what V-3(Warm) would be - it starts to reveal that Fast from Cool becomes less attractive as the horizon grows, because overheating becomes a real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the frames. At k=1 only the exit squares are non-zero, because with one reward left the only way to earn anything is to take an exit action. At k=2, the square west of the gem turns 0.72 - it can now reach the exit and take it.
Ask about the square below the gem at k=2. It can reach the pit in two steps, but under optimal play it does not, so it stays at zero. That is a good check of whether they understand the max: bad options within the horizon do not lower a value, they are simply not chosen.
The second effect is subtler and worth calling out. The 0.72 square does not stop at 0.72; it climbs toward 0.85 because longer trajectories - try, slip, recover, succeed - only fit inside a larger horizon. So values grow for two distinct reasons.
Finally, have them watch the arrows across frames. Most sweeps change the numbers without changing any arrow. Park that observation - it is the entire motivation for policy iteration.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 it live rather than asserting it. Ask: what do we loop over? Every state - that is |S|. For each, every action - that is |A|. For each action, every possible outcome - that is another |S| in the worst case.
The nuance in the dark box is worth making. The two |S| factors are not the same kind of thing. The first is genuinely the size of the state space. The second is how many successors an action can have, which in gridworld is at most three or four regardless of how big the grid gets. If you store transitions sparsely, one sweep is closer to O(|S||A|b).
Flag the |A| factor deliberately. In realistic MDPs the action space is large, and we will spend the next section removing that factor from most of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two-trees picture is the one that makes this click. Draw two triangles side by side. They are identical except at the very bottom: the left one has zeros where the right one has real rewards.
Then ask: how different can they possibly be? At most the largest reward magnitude - but everything at that depth is discounted by gamma to the k. Push k out far enough and the difference is as small as you like.
Two assumptions get used and both should be named: rewards are bounded, and gamma &lt; 1. Neither is free.
The last box is the intellectually honest bit. Students want a theorem that always applies. This one does not, because in the undiscounted infinite case the object being computed may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rigorous version of the previous slide, and it is the part that shows up on the exam as a short-answer question: why does value iteration converge? Answer: the Bellman operator is a gamma-contraction in the max norm.
Contraction in one sentence: take any two guesses at the value function, apply one Bellman backup to each, and the worst-case gap between them shrinks by at least a factor of gamma. Since the true V* is itself a fixed point, your error to V* shrinks by gamma every sweep.
Uniqueness is the bonus. We asserted it forty minutes ago; here it is earned.
The second formula is the operationally useful one, because you cannot measure your distance to V* - you do not have V*. You can measure how much the values moved last sweep, and that bounds your true error. Point out the gamma over one-minus-gamma amplification: near gamma = 1, a tiny observed change can still hide a large real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the pedagogical payoff of the whole section. At gamma = 0.9 the greedy policy is already optimal at iteration 10, while the values keep moving measurably for another twenty sweeps.
That gap is pure wasted work if all you wanted was a policy - and a policy is almost always all you wanted. Values are a means.
The bound on the right formalizes what we care about: policy loss is how much worse you do by executing the greedy policy on your approximate values instead of the true optimal policy. Small value error implies small policy loss, with that same one-minus-gamma amplification.
This observation is the direct motivation for the next section. If the arg max stops changing long before the numbers settle, why are we recomputing the arg max over all actions on every single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two trees explicitly. On the left, at each state we branch over all actions and take a max. On the right there is nothing to choose: the policy names the action, so the action layer has branching factor one.
The thing students get wrong: they assume fixing the policy makes everything deterministic. It does not. The chance nodes are identical on both sides. You still slip 20 percent of the time; you just no longer get to deliberate about it.
The cost saving is a clean factor of |A| per sweep, and the tree's value is no longer V* - it is V-pi, the value of that specific, probably mediocre policy. Both facts matter for what comes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how mechanical the derivation is. Take the Bellman equation, delete the max, replace a with pi(s) everywhere it appears - including inside R and T. That is the entire modification.
Students will ask whether the policy has to be good. No. Evaluate a terrible policy and you get small numbers, correctly computed. That generality is the point.
The cost analysis is a nice payoff from the complexity slide earlier: we identified the |A| loop as the target, and here it is gone.
Land the catch. Policy evaluation answers the wrong question, quickly. Policy iteration will be about calling it repeatedly on a sequence of improving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slide as a question to the room, the way the Berkeley lecture does. Put the equations up, tell them to forget it is AI, and ask what the unknowns are. Someone will say it: this is just a linear system.
Then make the connection back. The reason we could not do this to the original Bellman equations is the max - it is nonlinear, and no linear solver will touch it. Fixing the policy removed the max, and the moment it is gone, decades of numerical linear algebra become available.
This is a nice moment to note that a lot of algorithmic progress looks like this: not a new idea, but recognizing that after one simplification your problem is a problem someone else already solved.
Cubic cost is the practical limit; for a few thousand states it is fine, beyond that iterate.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slide for a quick prediction exercise: before showing the numbers, ask which squares will be negative under always-right and why.
Always-right: from the middle column the intended move takes you into fire. The 20 percent noise occasionally saves you by pushing you up or down instead, which is why the top cell manages a slightly positive 1.09 - it can sometimes stumble into the +100 before the fire gets it.
Always-forward is essentially optimal here, and the values decay by roughly gamma per step as you move away from the goal. Ask them to check that 70.20 times 0.9 is about 63, and the next value down is 48.74 - not quite gamma, because noise costs you.
The framing in the box is the important one: evaluation is descriptive, not prescriptive.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feel the difficulty before giving the formula. Put up a grid of values, point at a square, and ask what to do. Someone will say go toward the biggest neighbour. Then remind them of the wall-hugging behaviour from the r-ranges figure, where the optimal action pointed at a wall.
The reason is that you cannot move to a state, you can only take an action, and the mapping from actions to states is stochastic. Evaluating that mapping is exactly the one-step expectimax.
For students who have not seen argmax notation, define it here: max returns the largest value, argmax returns the argument that produced it. Here that argument is an action.
Note this requires knowing T and R. That requirement is what the next slide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for the asymmetry we planted an hour ago. Put the two extraction formulas side by side mentally: one has a sum over successors, a transition function, a reward function, and a discount. The other has an arg max over a handful of numbers.
Say plainly why it matters. In reinforcement learning you do not have T or R - that is the definition of the setting. So a learned value function is not directly actionable, while a learned Q-function is.
The Berkeley framing is worth repeating: this was the key thing that held reinforcement learning back for a long time, and Q-values also come with a further non-obvious property - you can learn optimal Q-values from non-optimal behaviour. That is off-policy learning, and it is next week's headline.
Cost: Q-values need |A| times the storage. Worth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Motivate it from the animation they already saw: the numbers changed every sweep, the arrows almost never did. Value iteration spends an |A| factor on every state on every sweep re-confirming a decision that has not changed in twenty iterations.
Policy iteration flips the loop. Freeze the policy, evaluate it cheaply and thoroughly, then spend the expensive full max exactly once, and freeze again.
The termination argument is genuinely elegant and worth spelling out. The space of policies is finite. Each improvement strictly increases value unless we are at a fixed point. You cannot strictly increase forever in a finite set. Therefore we stop, and we stop at a policy no improvement step can beat - which by the Bellman equation is optimal.
The 262,144 figure makes finiteness concrete without making it sound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both equations up and ask the room to spot the differences before you narrate them. There are exactly three: presence of the max, argmax versus max, and which index is being advanced.
Note the asymmetry in how often each runs. Evaluation runs many times per round - possibly dozens of sweeps - because we want converged values for the fixed policy. Improvement runs once per round.
Flag for the homework: students often forget to use the converged V-pi-i in the improvement step and instead use whatever V they had lying around. That still often works, and in fact truncating evaluation deliberately is a legitimate variant,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Modified policy iteration is what most real implementations actually run, so it deserves the airtime. The insight is that exact evaluation of a policy you are about to throw away is wasted precision.
The spectrum framing is the memorable bit: one evaluation sweep gives you value iteration, full convergence gives you policy iteration, and everything useful is in the middle. It reframes the two algorithms as two ends of one family rather than as rivals.
Asynchronous VI matters for large state spaces where a full sweep is already prohibitive. The convergence condition - every state updated infinitely often - is weak enough to permit aggressive prioritization. Mention prioritized sweeping by name; students will meet it again.
Connect to reachability: in a huge MDP, most states are unreachable under any reasonable policy, and asynchronous methods let you ignore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deliberately did not draw the flattering version of this chart. The standard slide shows rounds only and implies policy iteration is a strict win, which is not honest when evaluation is iterative.
Two real takeaways. First, the round count for policy iteration is almost independent of gamma - three or four at every setting - while value iteration degrades badly, from 16 sweeps at gamma 0.5 to 124 at gamma 0.99. That insensitivity is the genuine structural advantage.
Second, a round is not free. If you evaluate iteratively to full convergence you can easily do more total work than plain value iteration. The fixes are exact linear solves for small state spaces, or truncated evaluation for large ones.
Good exam-style question to pose: under what conditions would you expect policy iteration to win decisively? Large |A|, moderate |S| so the cubic solve is affordable, gamma close to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student reaction at this point is that everything looked identical. Validate that reaction openly, because it is correct and it is the intended lesson.
The right response is not 'you were confused' but 'yes, and here is the small number of dimensions along which they vary': fixed policy or max over actions; returning a value or returning an action; indexed by sweep or by policy round.
Tell them explicitly that exam questions often present a variant setup - a different reward structure, a constrained action set, a modified horizon - and ask them to write the corresponding update. If they understand the four dimensions, they can derive any variant instead of recalling it.
This is a good moment for the second stretch break if the pacing has run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asking the room which machine to play if they get many pulls. They will say Red immediately, and they will be right - expected value $1.50 against $1.00.
The point is not that the answer is hard. The point is how they got it: purely by computation, from a full specification of the game, without pulling a single lever. Over 100 steps with no discount, always-Red is worth 150 and always-Blue is worth 100. That is policy evaluation on a two-state MDP.
Note the faint lines in the right panel. Every one of them is the same optimal policy; they differ only in luck. When we actually play, we will not land on exactly 150, and that variance is going to matter enormously in a moment.
Aside on the two-state encoding: it is a slightly awkward formalization, since the state does not affect anything. The states are there only so that the reward can be attached to a transition.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Ask them what to play, reveal the payouts one at a time from the sequence on the slide, and let the discomfort build. After three zeros somebody will want to switch to Blue.
Then press: how do you know three zeros is bad luck rather than bad odds? Under the original 75 percent odds, three zeros in a row has probability about 1.6 percent - unlikely, but not impossible. And if you switch to Blue permanently, you will never learn otherwise.
Draw out the asymmetry: playing Blue gives you money but no information, since you already know exactly what Blue does. Information only arrives when you play Red. That asymmetry is the seed of the whole exploration-exploitation literature.
Land it: the MDP has not changed at all. Same states, same actions, same structure. Only your knowledge changed, and suddenly the problem is much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what just happened: that was reinforcement learning, and every one of these five ideas came up organically in the last three minutes without anyone defining them.
Exploration versus exploitation is the headline tension and it has no clean resolution - it is a genuine trade-off you manage rather than solve. Note that in this game exploration and exploitation are cleanly separable, since Blue yields no information; in general they are tangled, because the informative action is often also a reasonable one.
Regret is worth defining carefully because it is the standard evaluation criterion in bandit theory: how much worse did you do than an oracle who knew the parameters from the start. Good algorithms do not have zero regret; they have regret that grows slowly.
Setup for next week: we keep the MDP formalism entirely. States and actions are known. T and R are not. Everything we built today gets rebuilt to work from samples instead of from a model - and this is exactly where Q-values pay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brisk - it is a breather slide, not new content. The purpose is to show that MDPs are not a gridworld toy.
The security example is the one to spend thirty seconds on, since several students are in the NETSEC club and it makes the formalism concrete in a domain they care about. Frame the trade-off precisely: disabling an account has a known, immediate, certain cost in disruption; waiting to collect more evidence has an uncertain cost that depends on whether the account is actually compromised and how fast an attacker moves. That is exactly a reward-now versus discounted-future-reward trade-off under a stochastic transition model.
Worth naming honestly: in that domain you almost never know T, which puts you in the reinforcement learning setting, with the additional problem that exploration is expensive and sometimes unethical. That constraint is a real research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these quickly. Every one is drawn from mistakes that show up on homework and exams every term.
The first is the most consequential and has a nice interpretation worth stating: if you put the max inside the sum, you are computing the value of an agent who gets to choose its action after seeing the outcome of the dice. That agent is clairvoyant, and its value is strictly higher than V*. It is the same error as confusing expectimax with max over outcomes.
The gamma point deserves repeating because it is conceptual rather than mechanical, and because it is the one they are most likely to commit in a real project rather than on an exam.
Tell them this slide is a reasonable pre-exam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to photograph this one. It is also a fair statement of what is in scope for the exam from this lecture.
Point out the visual pattern deliberately: rows three through seven are textually almost identical. The differences are exactly the four dimensions we identified - max present or absent, max or argmax, which index advances, and whether the future term is V, V-pi, or Q.
Do not let them treat this as nine things to memorize. It is one thing with nine presentations, and the exam will test whether they know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one-sentence definition of the RL setting, because it is the cleanest way to see that nothing about the formalism changes - only what you are given.
The think-about question is deliberately the hardest thing on the slide. It points at off-policy learning, which is the genuinely surprising property of Q-learning: you can behave badly, even randomly, and still converge to the optimal Q-function. Do not answer it now.
Reiterate the two-copies instruction for the homework; it is the most common autograder failure.
If there is time left, take questions on the Bellman equation specifically rather than general questions - that is where the confusion, if any, will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960120"/>
            <a:ext cx="11057839" cy="365760"/>
          </a:xfrm>
          <a:prstGeom prst="rect">
            <a:avLst/>
          </a:prstGeom>
          <a:noFill/>
          <a:ln/>
        </p:spPr>
        <p:txBody>
          <a:bodyPr wrap="square" lIns="0" tIns="0" rIns="0" bIns="0" rtlCol="0" anchor="ctr"/>
          <a:lstStyle/>
          <a:p>
            <a:pPr indent="0" marL="0">
              <a:buNone/>
            </a:pPr>
            <a:r>
              <a:rPr lang="en-US" sz="1500" spc="160" kern="0" dirty="0">
                <a:solidFill>
                  <a:srgbClr val="6FA8BE"/>
                </a:solidFill>
                <a:latin typeface="Calibri" pitchFamily="34" charset="0"/>
                <a:ea typeface="Calibri" pitchFamily="34" charset="-122"/>
                <a:cs typeface="Calibri" pitchFamily="34" charset="-120"/>
              </a:rPr>
              <a:t>COMP 469  |  Introduction to Artificial Intelligence</a:t>
            </a:r>
            <a:endParaRPr lang="en-US" sz="1500" dirty="0"/>
          </a:p>
        </p:txBody>
      </p:sp>
      <p:sp>
        <p:nvSpPr>
          <p:cNvPr id="3" name="Text 1"/>
          <p:cNvSpPr/>
          <p:nvPr/>
        </p:nvSpPr>
        <p:spPr>
          <a:xfrm>
            <a:off x="566928" y="1737360"/>
            <a:ext cx="10424160" cy="12344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Markov Decision Processes II</a:t>
            </a:r>
            <a:endParaRPr lang="en-US" sz="5200" dirty="0"/>
          </a:p>
        </p:txBody>
      </p:sp>
      <p:sp>
        <p:nvSpPr>
          <p:cNvPr id="4" name="Text 2"/>
          <p:cNvSpPr/>
          <p:nvPr/>
        </p:nvSpPr>
        <p:spPr>
          <a:xfrm>
            <a:off x="566928" y="2962656"/>
            <a:ext cx="10424160" cy="502920"/>
          </a:xfrm>
          <a:prstGeom prst="rect">
            <a:avLst/>
          </a:prstGeom>
          <a:noFill/>
          <a:ln/>
        </p:spPr>
        <p:txBody>
          <a:bodyPr wrap="square" lIns="0" tIns="0" rIns="0" bIns="0" rtlCol="0" anchor="ctr"/>
          <a:lstStyle/>
          <a:p>
            <a:pPr indent="0" marL="0">
              <a:buNone/>
            </a:pPr>
            <a:r>
              <a:rPr lang="en-US" sz="2100" dirty="0">
                <a:solidFill>
                  <a:srgbClr val="E0A32E"/>
                </a:solidFill>
                <a:latin typeface="Calibri" pitchFamily="34" charset="0"/>
                <a:ea typeface="Calibri" pitchFamily="34" charset="-122"/>
                <a:cs typeface="Calibri" pitchFamily="34" charset="-120"/>
              </a:rPr>
              <a:t>Bellman equations, value iteration, and policy methods</a:t>
            </a:r>
            <a:endParaRPr lang="en-US" sz="2100" dirty="0"/>
          </a:p>
        </p:txBody>
      </p:sp>
      <p:sp>
        <p:nvSpPr>
          <p:cNvPr id="5" name="Shape 3"/>
          <p:cNvSpPr/>
          <p:nvPr/>
        </p:nvSpPr>
        <p:spPr>
          <a:xfrm>
            <a:off x="566928" y="3931920"/>
            <a:ext cx="2971800" cy="841248"/>
          </a:xfrm>
          <a:prstGeom prst="roundRect">
            <a:avLst>
              <a:gd name="adj" fmla="val 9783"/>
            </a:avLst>
          </a:prstGeom>
          <a:solidFill>
            <a:srgbClr val="1A3A57"/>
          </a:solidFill>
          <a:ln/>
        </p:spPr>
      </p:sp>
      <p:sp>
        <p:nvSpPr>
          <p:cNvPr id="6" name="Text 4"/>
          <p:cNvSpPr/>
          <p:nvPr/>
        </p:nvSpPr>
        <p:spPr>
          <a:xfrm>
            <a:off x="768096" y="4041648"/>
            <a:ext cx="2651760" cy="274320"/>
          </a:xfrm>
          <a:prstGeom prst="rect">
            <a:avLst/>
          </a:prstGeom>
          <a:noFill/>
          <a:ln/>
        </p:spPr>
        <p:txBody>
          <a:bodyPr wrap="square" lIns="0" tIns="0" rIns="0" bIns="0" rtlCol="0" anchor="ctr"/>
          <a:lstStyle/>
          <a:p>
            <a:pPr indent="0" marL="0">
              <a:buNone/>
            </a:pPr>
            <a:r>
              <a:rPr lang="en-US" sz="1150" b="1" dirty="0">
                <a:solidFill>
                  <a:srgbClr val="E0A32E"/>
                </a:solidFill>
                <a:latin typeface="Calibri" pitchFamily="34" charset="0"/>
                <a:ea typeface="Calibri" pitchFamily="34" charset="-122"/>
                <a:cs typeface="Calibri" pitchFamily="34" charset="-120"/>
              </a:rPr>
              <a:t>AIMA 4e</a:t>
            </a:r>
            <a:endParaRPr lang="en-US" sz="1150" dirty="0"/>
          </a:p>
        </p:txBody>
      </p:sp>
      <p:sp>
        <p:nvSpPr>
          <p:cNvPr id="7" name="Text 5"/>
          <p:cNvSpPr/>
          <p:nvPr/>
        </p:nvSpPr>
        <p:spPr>
          <a:xfrm>
            <a:off x="768096" y="4315968"/>
            <a:ext cx="2651760" cy="31089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Sections 17.1 - 17.2</a:t>
            </a:r>
            <a:endParaRPr lang="en-US" sz="1400" dirty="0"/>
          </a:p>
        </p:txBody>
      </p:sp>
      <p:sp>
        <p:nvSpPr>
          <p:cNvPr id="8" name="Shape 6"/>
          <p:cNvSpPr/>
          <p:nvPr/>
        </p:nvSpPr>
        <p:spPr>
          <a:xfrm>
            <a:off x="3813048" y="3931920"/>
            <a:ext cx="2971800" cy="841248"/>
          </a:xfrm>
          <a:prstGeom prst="roundRect">
            <a:avLst>
              <a:gd name="adj" fmla="val 9783"/>
            </a:avLst>
          </a:prstGeom>
          <a:solidFill>
            <a:srgbClr val="1A3A57"/>
          </a:solidFill>
          <a:ln/>
        </p:spPr>
      </p:sp>
      <p:sp>
        <p:nvSpPr>
          <p:cNvPr id="9" name="Text 7"/>
          <p:cNvSpPr/>
          <p:nvPr/>
        </p:nvSpPr>
        <p:spPr>
          <a:xfrm>
            <a:off x="4014216" y="4041648"/>
            <a:ext cx="2651760" cy="274320"/>
          </a:xfrm>
          <a:prstGeom prst="rect">
            <a:avLst/>
          </a:prstGeom>
          <a:noFill/>
          <a:ln/>
        </p:spPr>
        <p:txBody>
          <a:bodyPr wrap="square" lIns="0" tIns="0" rIns="0" bIns="0" rtlCol="0" anchor="ctr"/>
          <a:lstStyle/>
          <a:p>
            <a:pPr indent="0" marL="0">
              <a:buNone/>
            </a:pPr>
            <a:r>
              <a:rPr lang="en-US" sz="1150" b="1" dirty="0">
                <a:solidFill>
                  <a:srgbClr val="E0A32E"/>
                </a:solidFill>
                <a:latin typeface="Calibri" pitchFamily="34" charset="0"/>
                <a:ea typeface="Calibri" pitchFamily="34" charset="-122"/>
                <a:cs typeface="Calibri" pitchFamily="34" charset="-120"/>
              </a:rPr>
              <a:t>Berkeley CS 188</a:t>
            </a:r>
            <a:endParaRPr lang="en-US" sz="1150" dirty="0"/>
          </a:p>
        </p:txBody>
      </p:sp>
      <p:sp>
        <p:nvSpPr>
          <p:cNvPr id="10" name="Text 8"/>
          <p:cNvSpPr/>
          <p:nvPr/>
        </p:nvSpPr>
        <p:spPr>
          <a:xfrm>
            <a:off x="4014216" y="4315968"/>
            <a:ext cx="2651760" cy="31089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Lecture 10</a:t>
            </a:r>
            <a:endParaRPr lang="en-US" sz="1400" dirty="0"/>
          </a:p>
        </p:txBody>
      </p:sp>
      <p:sp>
        <p:nvSpPr>
          <p:cNvPr id="11" name="Shape 9"/>
          <p:cNvSpPr/>
          <p:nvPr/>
        </p:nvSpPr>
        <p:spPr>
          <a:xfrm>
            <a:off x="7059168" y="3931920"/>
            <a:ext cx="2971800" cy="841248"/>
          </a:xfrm>
          <a:prstGeom prst="roundRect">
            <a:avLst>
              <a:gd name="adj" fmla="val 9783"/>
            </a:avLst>
          </a:prstGeom>
          <a:solidFill>
            <a:srgbClr val="1A3A57"/>
          </a:solidFill>
          <a:ln/>
        </p:spPr>
      </p:sp>
      <p:sp>
        <p:nvSpPr>
          <p:cNvPr id="12" name="Text 10"/>
          <p:cNvSpPr/>
          <p:nvPr/>
        </p:nvSpPr>
        <p:spPr>
          <a:xfrm>
            <a:off x="7260336" y="4041648"/>
            <a:ext cx="2651760" cy="274320"/>
          </a:xfrm>
          <a:prstGeom prst="rect">
            <a:avLst/>
          </a:prstGeom>
          <a:noFill/>
          <a:ln/>
        </p:spPr>
        <p:txBody>
          <a:bodyPr wrap="square" lIns="0" tIns="0" rIns="0" bIns="0" rtlCol="0" anchor="ctr"/>
          <a:lstStyle/>
          <a:p>
            <a:pPr indent="0" marL="0">
              <a:buNone/>
            </a:pPr>
            <a:r>
              <a:rPr lang="en-US" sz="1150" b="1" dirty="0">
                <a:solidFill>
                  <a:srgbClr val="E0A32E"/>
                </a:solidFill>
                <a:latin typeface="Calibri" pitchFamily="34" charset="0"/>
                <a:ea typeface="Calibri" pitchFamily="34" charset="-122"/>
                <a:cs typeface="Calibri" pitchFamily="34" charset="-120"/>
              </a:rPr>
              <a:t>Fall 2026</a:t>
            </a:r>
            <a:endParaRPr lang="en-US" sz="1150" dirty="0"/>
          </a:p>
        </p:txBody>
      </p:sp>
      <p:sp>
        <p:nvSpPr>
          <p:cNvPr id="13" name="Text 11"/>
          <p:cNvSpPr/>
          <p:nvPr/>
        </p:nvSpPr>
        <p:spPr>
          <a:xfrm>
            <a:off x="7260336" y="4315968"/>
            <a:ext cx="2651760" cy="310896"/>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CSU Channel Islands</a:t>
            </a:r>
            <a:endParaRPr lang="en-US" sz="1400" dirty="0"/>
          </a:p>
        </p:txBody>
      </p:sp>
      <p:sp>
        <p:nvSpPr>
          <p:cNvPr id="14" name="Text 12"/>
          <p:cNvSpPr/>
          <p:nvPr/>
        </p:nvSpPr>
        <p:spPr>
          <a:xfrm>
            <a:off x="566928" y="5715000"/>
            <a:ext cx="10424160" cy="548640"/>
          </a:xfrm>
          <a:prstGeom prst="rect">
            <a:avLst/>
          </a:prstGeom>
          <a:noFill/>
          <a:ln/>
        </p:spPr>
        <p:txBody>
          <a:bodyPr wrap="square" lIns="0" tIns="0" rIns="0" bIns="0" rtlCol="0" anchor="ctr"/>
          <a:lstStyle/>
          <a:p>
            <a:pPr indent="0" marL="0">
              <a:buNone/>
            </a:pPr>
            <a:r>
              <a:rPr lang="en-US" sz="1050" dirty="0">
                <a:solidFill>
                  <a:srgbClr val="8FA6B8"/>
                </a:solidFill>
                <a:latin typeface="Calibri" pitchFamily="34" charset="0"/>
                <a:ea typeface="Calibri" pitchFamily="34" charset="-122"/>
                <a:cs typeface="Calibri" pitchFamily="34" charset="-120"/>
              </a:rPr>
              <a:t>Slides adapted from materials by Dan Klein and Pieter Abbeel, UC Berkeley CS188 (ai.berkeley.edu), and from Russell &amp; Norvig, Artificial Intelligence: A Modern Approach, 4th edition.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Where this sits in the course</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a:t>
            </a:r>
            <a:endParaRPr lang="en-US" sz="900" dirty="0"/>
          </a:p>
        </p:txBody>
      </p:sp>
      <p:sp>
        <p:nvSpPr>
          <p:cNvPr id="5" name="Shape 3"/>
          <p:cNvSpPr/>
          <p:nvPr/>
        </p:nvSpPr>
        <p:spPr>
          <a:xfrm>
            <a:off x="566928" y="1691640"/>
            <a:ext cx="2048256" cy="2788920"/>
          </a:xfrm>
          <a:prstGeom prst="roundRect">
            <a:avLst>
              <a:gd name="adj" fmla="val 4018"/>
            </a:avLst>
          </a:prstGeom>
          <a:solidFill>
            <a:srgbClr val="EDF2F5"/>
          </a:solidFill>
          <a:ln/>
        </p:spPr>
      </p:sp>
      <p:sp>
        <p:nvSpPr>
          <p:cNvPr id="6" name="Text 4"/>
          <p:cNvSpPr/>
          <p:nvPr/>
        </p:nvSpPr>
        <p:spPr>
          <a:xfrm>
            <a:off x="713232" y="1847088"/>
            <a:ext cx="1755648" cy="274320"/>
          </a:xfrm>
          <a:prstGeom prst="rect">
            <a:avLst/>
          </a:prstGeom>
          <a:noFill/>
          <a:ln/>
        </p:spPr>
        <p:txBody>
          <a:bodyPr wrap="square" lIns="0" tIns="0" rIns="0" bIns="0" rtlCol="0" anchor="ctr"/>
          <a:lstStyle/>
          <a:p>
            <a:pPr indent="0" marL="0">
              <a:buNone/>
            </a:pPr>
            <a:r>
              <a:rPr lang="en-US" sz="1150" b="1" dirty="0">
                <a:solidFill>
                  <a:srgbClr val="5C7080"/>
                </a:solidFill>
                <a:latin typeface="Calibri" pitchFamily="34" charset="0"/>
                <a:ea typeface="Calibri" pitchFamily="34" charset="-122"/>
                <a:cs typeface="Calibri" pitchFamily="34" charset="-120"/>
              </a:rPr>
              <a:t>Ch. 3-4</a:t>
            </a:r>
            <a:endParaRPr lang="en-US" sz="1150" dirty="0"/>
          </a:p>
        </p:txBody>
      </p:sp>
      <p:sp>
        <p:nvSpPr>
          <p:cNvPr id="7" name="Text 5"/>
          <p:cNvSpPr/>
          <p:nvPr/>
        </p:nvSpPr>
        <p:spPr>
          <a:xfrm>
            <a:off x="713232" y="2139696"/>
            <a:ext cx="1755648" cy="457200"/>
          </a:xfrm>
          <a:prstGeom prst="rect">
            <a:avLst/>
          </a:prstGeom>
          <a:noFill/>
          <a:ln/>
        </p:spPr>
        <p:txBody>
          <a:bodyPr wrap="square" lIns="0" tIns="0" rIns="0" bIns="0" rtlCol="0" anchor="ctr"/>
          <a:lstStyle/>
          <a:p>
            <a:pPr indent="0" marL="0">
              <a:buNone/>
            </a:pPr>
            <a:r>
              <a:rPr lang="en-US" sz="2200" b="1" dirty="0">
                <a:solidFill>
                  <a:srgbClr val="10263B"/>
                </a:solidFill>
                <a:latin typeface="Cambria" pitchFamily="34" charset="0"/>
                <a:ea typeface="Cambria" pitchFamily="34" charset="-122"/>
                <a:cs typeface="Cambria" pitchFamily="34" charset="-120"/>
              </a:rPr>
              <a:t>Search</a:t>
            </a:r>
            <a:endParaRPr lang="en-US" sz="2200" dirty="0"/>
          </a:p>
        </p:txBody>
      </p:sp>
      <p:sp>
        <p:nvSpPr>
          <p:cNvPr id="8" name="Text 6"/>
          <p:cNvSpPr/>
          <p:nvPr/>
        </p:nvSpPr>
        <p:spPr>
          <a:xfrm>
            <a:off x="713232" y="2706624"/>
            <a:ext cx="1755648" cy="1554480"/>
          </a:xfrm>
          <a:prstGeom prst="rect">
            <a:avLst/>
          </a:prstGeom>
          <a:noFill/>
          <a:ln/>
        </p:spPr>
        <p:txBody>
          <a:bodyPr wrap="square" lIns="0" tIns="0" rIns="0" bIns="0" rtlCol="0" anchor="t"/>
          <a:lstStyle/>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Deterministic.</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You know exactly</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what actions do.</a:t>
            </a:r>
            <a:endParaRPr lang="en-US" sz="1250" dirty="0"/>
          </a:p>
        </p:txBody>
      </p:sp>
      <p:sp>
        <p:nvSpPr>
          <p:cNvPr id="9" name="Shape 7"/>
          <p:cNvSpPr/>
          <p:nvPr/>
        </p:nvSpPr>
        <p:spPr>
          <a:xfrm>
            <a:off x="2798064" y="1691640"/>
            <a:ext cx="2048256" cy="2788920"/>
          </a:xfrm>
          <a:prstGeom prst="roundRect">
            <a:avLst>
              <a:gd name="adj" fmla="val 4018"/>
            </a:avLst>
          </a:prstGeom>
          <a:solidFill>
            <a:srgbClr val="EDF2F5"/>
          </a:solidFill>
          <a:ln/>
        </p:spPr>
      </p:sp>
      <p:sp>
        <p:nvSpPr>
          <p:cNvPr id="10" name="Text 8"/>
          <p:cNvSpPr/>
          <p:nvPr/>
        </p:nvSpPr>
        <p:spPr>
          <a:xfrm>
            <a:off x="2944368" y="1847088"/>
            <a:ext cx="1755648" cy="274320"/>
          </a:xfrm>
          <a:prstGeom prst="rect">
            <a:avLst/>
          </a:prstGeom>
          <a:noFill/>
          <a:ln/>
        </p:spPr>
        <p:txBody>
          <a:bodyPr wrap="square" lIns="0" tIns="0" rIns="0" bIns="0" rtlCol="0" anchor="ctr"/>
          <a:lstStyle/>
          <a:p>
            <a:pPr indent="0" marL="0">
              <a:buNone/>
            </a:pPr>
            <a:r>
              <a:rPr lang="en-US" sz="1150" b="1" dirty="0">
                <a:solidFill>
                  <a:srgbClr val="5C7080"/>
                </a:solidFill>
                <a:latin typeface="Calibri" pitchFamily="34" charset="0"/>
                <a:ea typeface="Calibri" pitchFamily="34" charset="-122"/>
                <a:cs typeface="Calibri" pitchFamily="34" charset="-120"/>
              </a:rPr>
              <a:t>Ch. 5</a:t>
            </a:r>
            <a:endParaRPr lang="en-US" sz="1150" dirty="0"/>
          </a:p>
        </p:txBody>
      </p:sp>
      <p:sp>
        <p:nvSpPr>
          <p:cNvPr id="11" name="Text 9"/>
          <p:cNvSpPr/>
          <p:nvPr/>
        </p:nvSpPr>
        <p:spPr>
          <a:xfrm>
            <a:off x="2944368" y="2139696"/>
            <a:ext cx="1755648" cy="457200"/>
          </a:xfrm>
          <a:prstGeom prst="rect">
            <a:avLst/>
          </a:prstGeom>
          <a:noFill/>
          <a:ln/>
        </p:spPr>
        <p:txBody>
          <a:bodyPr wrap="square" lIns="0" tIns="0" rIns="0" bIns="0" rtlCol="0" anchor="ctr"/>
          <a:lstStyle/>
          <a:p>
            <a:pPr indent="0" marL="0">
              <a:buNone/>
            </a:pPr>
            <a:r>
              <a:rPr lang="en-US" sz="2200" b="1" dirty="0">
                <a:solidFill>
                  <a:srgbClr val="10263B"/>
                </a:solidFill>
                <a:latin typeface="Cambria" pitchFamily="34" charset="0"/>
                <a:ea typeface="Cambria" pitchFamily="34" charset="-122"/>
                <a:cs typeface="Cambria" pitchFamily="34" charset="-120"/>
              </a:rPr>
              <a:t>Games</a:t>
            </a:r>
            <a:endParaRPr lang="en-US" sz="2200" dirty="0"/>
          </a:p>
        </p:txBody>
      </p:sp>
      <p:sp>
        <p:nvSpPr>
          <p:cNvPr id="12" name="Text 10"/>
          <p:cNvSpPr/>
          <p:nvPr/>
        </p:nvSpPr>
        <p:spPr>
          <a:xfrm>
            <a:off x="2944368" y="2706624"/>
            <a:ext cx="1755648" cy="1554480"/>
          </a:xfrm>
          <a:prstGeom prst="rect">
            <a:avLst/>
          </a:prstGeom>
          <a:noFill/>
          <a:ln/>
        </p:spPr>
        <p:txBody>
          <a:bodyPr wrap="square" lIns="0" tIns="0" rIns="0" bIns="0" rtlCol="0" anchor="t"/>
          <a:lstStyle/>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An adversary</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chooses some of</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the outcomes.</a:t>
            </a:r>
            <a:endParaRPr lang="en-US" sz="1250" dirty="0"/>
          </a:p>
        </p:txBody>
      </p:sp>
      <p:sp>
        <p:nvSpPr>
          <p:cNvPr id="13" name="Shape 11"/>
          <p:cNvSpPr/>
          <p:nvPr/>
        </p:nvSpPr>
        <p:spPr>
          <a:xfrm>
            <a:off x="5029200" y="1691640"/>
            <a:ext cx="2048256" cy="2788920"/>
          </a:xfrm>
          <a:prstGeom prst="roundRect">
            <a:avLst>
              <a:gd name="adj" fmla="val 4018"/>
            </a:avLst>
          </a:prstGeom>
          <a:solidFill>
            <a:srgbClr val="EDF2F5"/>
          </a:solidFill>
          <a:ln/>
        </p:spPr>
      </p:sp>
      <p:sp>
        <p:nvSpPr>
          <p:cNvPr id="14" name="Text 12"/>
          <p:cNvSpPr/>
          <p:nvPr/>
        </p:nvSpPr>
        <p:spPr>
          <a:xfrm>
            <a:off x="5175504" y="1847088"/>
            <a:ext cx="1755648" cy="274320"/>
          </a:xfrm>
          <a:prstGeom prst="rect">
            <a:avLst/>
          </a:prstGeom>
          <a:noFill/>
          <a:ln/>
        </p:spPr>
        <p:txBody>
          <a:bodyPr wrap="square" lIns="0" tIns="0" rIns="0" bIns="0" rtlCol="0" anchor="ctr"/>
          <a:lstStyle/>
          <a:p>
            <a:pPr indent="0" marL="0">
              <a:buNone/>
            </a:pPr>
            <a:r>
              <a:rPr lang="en-US" sz="1150" b="1" dirty="0">
                <a:solidFill>
                  <a:srgbClr val="5C7080"/>
                </a:solidFill>
                <a:latin typeface="Calibri" pitchFamily="34" charset="0"/>
                <a:ea typeface="Calibri" pitchFamily="34" charset="-122"/>
                <a:cs typeface="Calibri" pitchFamily="34" charset="-120"/>
              </a:rPr>
              <a:t>Ch. 16</a:t>
            </a:r>
            <a:endParaRPr lang="en-US" sz="1150" dirty="0"/>
          </a:p>
        </p:txBody>
      </p:sp>
      <p:sp>
        <p:nvSpPr>
          <p:cNvPr id="15" name="Text 13"/>
          <p:cNvSpPr/>
          <p:nvPr/>
        </p:nvSpPr>
        <p:spPr>
          <a:xfrm>
            <a:off x="5175504" y="2139696"/>
            <a:ext cx="1755648" cy="457200"/>
          </a:xfrm>
          <a:prstGeom prst="rect">
            <a:avLst/>
          </a:prstGeom>
          <a:noFill/>
          <a:ln/>
        </p:spPr>
        <p:txBody>
          <a:bodyPr wrap="square" lIns="0" tIns="0" rIns="0" bIns="0" rtlCol="0" anchor="ctr"/>
          <a:lstStyle/>
          <a:p>
            <a:pPr indent="0" marL="0">
              <a:buNone/>
            </a:pPr>
            <a:r>
              <a:rPr lang="en-US" sz="2200" b="1" dirty="0">
                <a:solidFill>
                  <a:srgbClr val="10263B"/>
                </a:solidFill>
                <a:latin typeface="Cambria" pitchFamily="34" charset="0"/>
                <a:ea typeface="Cambria" pitchFamily="34" charset="-122"/>
                <a:cs typeface="Cambria" pitchFamily="34" charset="-120"/>
              </a:rPr>
              <a:t>Utility</a:t>
            </a:r>
            <a:endParaRPr lang="en-US" sz="2200" dirty="0"/>
          </a:p>
        </p:txBody>
      </p:sp>
      <p:sp>
        <p:nvSpPr>
          <p:cNvPr id="16" name="Text 14"/>
          <p:cNvSpPr/>
          <p:nvPr/>
        </p:nvSpPr>
        <p:spPr>
          <a:xfrm>
            <a:off x="5175504" y="2706624"/>
            <a:ext cx="1755648" cy="1554480"/>
          </a:xfrm>
          <a:prstGeom prst="rect">
            <a:avLst/>
          </a:prstGeom>
          <a:noFill/>
          <a:ln/>
        </p:spPr>
        <p:txBody>
          <a:bodyPr wrap="square" lIns="0" tIns="0" rIns="0" bIns="0" rtlCol="0" anchor="t"/>
          <a:lstStyle/>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One-shot decisions</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under uncertainty.</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MEU.</a:t>
            </a:r>
            <a:endParaRPr lang="en-US" sz="1250" dirty="0"/>
          </a:p>
        </p:txBody>
      </p:sp>
      <p:sp>
        <p:nvSpPr>
          <p:cNvPr id="17" name="Shape 15"/>
          <p:cNvSpPr/>
          <p:nvPr/>
        </p:nvSpPr>
        <p:spPr>
          <a:xfrm>
            <a:off x="7260336" y="1691640"/>
            <a:ext cx="2048256" cy="2788920"/>
          </a:xfrm>
          <a:prstGeom prst="roundRect">
            <a:avLst>
              <a:gd name="adj" fmla="val 4018"/>
            </a:avLst>
          </a:prstGeom>
          <a:solidFill>
            <a:srgbClr val="1C7293"/>
          </a:solidFill>
          <a:ln/>
          <a:effectLst>
            <a:outerShdw sx="100000" sy="100000" kx="0" ky="0" algn="bl" rotWithShape="0" blurRad="101600" dist="17780" dir="5400000">
              <a:srgbClr val="9FB2BF">
                <a:alpha val="20000"/>
              </a:srgbClr>
            </a:outerShdw>
          </a:effectLst>
        </p:spPr>
      </p:sp>
      <p:sp>
        <p:nvSpPr>
          <p:cNvPr id="18" name="Text 16"/>
          <p:cNvSpPr/>
          <p:nvPr/>
        </p:nvSpPr>
        <p:spPr>
          <a:xfrm>
            <a:off x="7406640" y="1847088"/>
            <a:ext cx="1755648" cy="274320"/>
          </a:xfrm>
          <a:prstGeom prst="rect">
            <a:avLst/>
          </a:prstGeom>
          <a:noFill/>
          <a:ln/>
        </p:spPr>
        <p:txBody>
          <a:bodyPr wrap="square" lIns="0" tIns="0" rIns="0" bIns="0" rtlCol="0" anchor="ctr"/>
          <a:lstStyle/>
          <a:p>
            <a:pPr indent="0" marL="0">
              <a:buNone/>
            </a:pPr>
            <a:r>
              <a:rPr lang="en-US" sz="1150" b="1" dirty="0">
                <a:solidFill>
                  <a:srgbClr val="F5DFA8"/>
                </a:solidFill>
                <a:latin typeface="Calibri" pitchFamily="34" charset="0"/>
                <a:ea typeface="Calibri" pitchFamily="34" charset="-122"/>
                <a:cs typeface="Calibri" pitchFamily="34" charset="-120"/>
              </a:rPr>
              <a:t>Ch. 17</a:t>
            </a:r>
            <a:endParaRPr lang="en-US" sz="1150" dirty="0"/>
          </a:p>
        </p:txBody>
      </p:sp>
      <p:sp>
        <p:nvSpPr>
          <p:cNvPr id="19" name="Text 17"/>
          <p:cNvSpPr/>
          <p:nvPr/>
        </p:nvSpPr>
        <p:spPr>
          <a:xfrm>
            <a:off x="7406640" y="2139696"/>
            <a:ext cx="1755648"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MDPs</a:t>
            </a:r>
            <a:endParaRPr lang="en-US" sz="2200" dirty="0"/>
          </a:p>
        </p:txBody>
      </p:sp>
      <p:sp>
        <p:nvSpPr>
          <p:cNvPr id="20" name="Text 18"/>
          <p:cNvSpPr/>
          <p:nvPr/>
        </p:nvSpPr>
        <p:spPr>
          <a:xfrm>
            <a:off x="7406640" y="2706624"/>
            <a:ext cx="1755648" cy="1554480"/>
          </a:xfrm>
          <a:prstGeom prst="rect">
            <a:avLst/>
          </a:prstGeom>
          <a:noFill/>
          <a:ln/>
        </p:spPr>
        <p:txBody>
          <a:bodyPr wrap="square" lIns="0" tIns="0" rIns="0" bIns="0" rtlCol="0" anchor="t"/>
          <a:lstStyle/>
          <a:p>
            <a:pPr indent="0" marL="0">
              <a:lnSpc>
                <a:spcPct val="115000"/>
              </a:lnSpc>
              <a:buNone/>
            </a:pPr>
            <a:r>
              <a:rPr lang="en-US" sz="1250" dirty="0">
                <a:solidFill>
                  <a:srgbClr val="E4EFF4"/>
                </a:solidFill>
                <a:latin typeface="Calibri" pitchFamily="34" charset="0"/>
                <a:ea typeface="Calibri" pitchFamily="34" charset="-122"/>
                <a:cs typeface="Calibri" pitchFamily="34" charset="-120"/>
              </a:rPr>
              <a:t>Sequential decisions</a:t>
            </a:r>
            <a:endParaRPr lang="en-US" sz="1250" dirty="0"/>
          </a:p>
          <a:p>
            <a:pPr indent="0" marL="0">
              <a:lnSpc>
                <a:spcPct val="115000"/>
              </a:lnSpc>
              <a:buNone/>
            </a:pPr>
            <a:r>
              <a:rPr lang="en-US" sz="1250" dirty="0">
                <a:solidFill>
                  <a:srgbClr val="E4EFF4"/>
                </a:solidFill>
                <a:latin typeface="Calibri" pitchFamily="34" charset="0"/>
                <a:ea typeface="Calibri" pitchFamily="34" charset="-122"/>
                <a:cs typeface="Calibri" pitchFamily="34" charset="-120"/>
              </a:rPr>
              <a:t>under uncertainty.</a:t>
            </a:r>
            <a:endParaRPr lang="en-US" sz="1250" dirty="0"/>
          </a:p>
          <a:p>
            <a:pPr indent="0" marL="0">
              <a:lnSpc>
                <a:spcPct val="115000"/>
              </a:lnSpc>
              <a:buNone/>
            </a:pPr>
            <a:r>
              <a:rPr lang="en-US" sz="1250" dirty="0">
                <a:solidFill>
                  <a:srgbClr val="E4EFF4"/>
                </a:solidFill>
                <a:latin typeface="Calibri" pitchFamily="34" charset="0"/>
                <a:ea typeface="Calibri" pitchFamily="34" charset="-122"/>
                <a:cs typeface="Calibri" pitchFamily="34" charset="-120"/>
              </a:rPr>
              <a:t>You are here.</a:t>
            </a:r>
            <a:endParaRPr lang="en-US" sz="1250" dirty="0"/>
          </a:p>
        </p:txBody>
      </p:sp>
      <p:sp>
        <p:nvSpPr>
          <p:cNvPr id="21" name="Shape 19"/>
          <p:cNvSpPr/>
          <p:nvPr/>
        </p:nvSpPr>
        <p:spPr>
          <a:xfrm>
            <a:off x="9491472" y="1691640"/>
            <a:ext cx="2048256" cy="2788920"/>
          </a:xfrm>
          <a:prstGeom prst="roundRect">
            <a:avLst>
              <a:gd name="adj" fmla="val 4018"/>
            </a:avLst>
          </a:prstGeom>
          <a:solidFill>
            <a:srgbClr val="EDF2F5"/>
          </a:solidFill>
          <a:ln/>
        </p:spPr>
      </p:sp>
      <p:sp>
        <p:nvSpPr>
          <p:cNvPr id="22" name="Text 20"/>
          <p:cNvSpPr/>
          <p:nvPr/>
        </p:nvSpPr>
        <p:spPr>
          <a:xfrm>
            <a:off x="9637776" y="1847088"/>
            <a:ext cx="1755648" cy="274320"/>
          </a:xfrm>
          <a:prstGeom prst="rect">
            <a:avLst/>
          </a:prstGeom>
          <a:noFill/>
          <a:ln/>
        </p:spPr>
        <p:txBody>
          <a:bodyPr wrap="square" lIns="0" tIns="0" rIns="0" bIns="0" rtlCol="0" anchor="ctr"/>
          <a:lstStyle/>
          <a:p>
            <a:pPr indent="0" marL="0">
              <a:buNone/>
            </a:pPr>
            <a:r>
              <a:rPr lang="en-US" sz="1150" b="1" dirty="0">
                <a:solidFill>
                  <a:srgbClr val="5C7080"/>
                </a:solidFill>
                <a:latin typeface="Calibri" pitchFamily="34" charset="0"/>
                <a:ea typeface="Calibri" pitchFamily="34" charset="-122"/>
                <a:cs typeface="Calibri" pitchFamily="34" charset="-120"/>
              </a:rPr>
              <a:t>Ch. 22</a:t>
            </a:r>
            <a:endParaRPr lang="en-US" sz="1150" dirty="0"/>
          </a:p>
        </p:txBody>
      </p:sp>
      <p:sp>
        <p:nvSpPr>
          <p:cNvPr id="23" name="Text 21"/>
          <p:cNvSpPr/>
          <p:nvPr/>
        </p:nvSpPr>
        <p:spPr>
          <a:xfrm>
            <a:off x="9637776" y="2139696"/>
            <a:ext cx="1755648" cy="457200"/>
          </a:xfrm>
          <a:prstGeom prst="rect">
            <a:avLst/>
          </a:prstGeom>
          <a:noFill/>
          <a:ln/>
        </p:spPr>
        <p:txBody>
          <a:bodyPr wrap="square" lIns="0" tIns="0" rIns="0" bIns="0" rtlCol="0" anchor="ctr"/>
          <a:lstStyle/>
          <a:p>
            <a:pPr indent="0" marL="0">
              <a:buNone/>
            </a:pPr>
            <a:r>
              <a:rPr lang="en-US" sz="2200" b="1" dirty="0">
                <a:solidFill>
                  <a:srgbClr val="10263B"/>
                </a:solidFill>
                <a:latin typeface="Cambria" pitchFamily="34" charset="0"/>
                <a:ea typeface="Cambria" pitchFamily="34" charset="-122"/>
                <a:cs typeface="Cambria" pitchFamily="34" charset="-120"/>
              </a:rPr>
              <a:t>RL</a:t>
            </a:r>
            <a:endParaRPr lang="en-US" sz="2200" dirty="0"/>
          </a:p>
        </p:txBody>
      </p:sp>
      <p:sp>
        <p:nvSpPr>
          <p:cNvPr id="24" name="Text 22"/>
          <p:cNvSpPr/>
          <p:nvPr/>
        </p:nvSpPr>
        <p:spPr>
          <a:xfrm>
            <a:off x="9637776" y="2706624"/>
            <a:ext cx="1755648" cy="1554480"/>
          </a:xfrm>
          <a:prstGeom prst="rect">
            <a:avLst/>
          </a:prstGeom>
          <a:noFill/>
          <a:ln/>
        </p:spPr>
        <p:txBody>
          <a:bodyPr wrap="square" lIns="0" tIns="0" rIns="0" bIns="0" rtlCol="0" anchor="t"/>
          <a:lstStyle/>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Same problem, but</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the rules are</a:t>
            </a:r>
            <a:endParaRPr lang="en-US" sz="1250" dirty="0"/>
          </a:p>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hidden from you.</a:t>
            </a:r>
            <a:endParaRPr lang="en-US" sz="1250" dirty="0"/>
          </a:p>
        </p:txBody>
      </p:sp>
      <p:sp>
        <p:nvSpPr>
          <p:cNvPr id="25" name="Text 23"/>
          <p:cNvSpPr/>
          <p:nvPr/>
        </p:nvSpPr>
        <p:spPr>
          <a:xfrm>
            <a:off x="566928" y="4800600"/>
            <a:ext cx="11057839" cy="502920"/>
          </a:xfrm>
          <a:prstGeom prst="rect">
            <a:avLst/>
          </a:prstGeom>
          <a:noFill/>
          <a:ln/>
        </p:spPr>
        <p:txBody>
          <a:bodyPr wrap="square" lIns="0" tIns="0" rIns="0" bIns="0" rtlCol="0" anchor="ctr"/>
          <a:lstStyle/>
          <a:p>
            <a:pPr indent="0" marL="0">
              <a:buNone/>
            </a:pPr>
            <a:r>
              <a:rPr lang="en-US" sz="1500" i="1" dirty="0">
                <a:solidFill>
                  <a:srgbClr val="10263B"/>
                </a:solidFill>
                <a:latin typeface="Calibri" pitchFamily="34" charset="0"/>
                <a:ea typeface="Calibri" pitchFamily="34" charset="-122"/>
                <a:cs typeface="Calibri" pitchFamily="34" charset="-120"/>
              </a:rPr>
              <a:t>The through-line: every one of these is a one-step lookahead. What changes is who picks the next step, and how much you know about what happens after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By the end of today you should be able to</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a:t>
            </a:r>
            <a:endParaRPr lang="en-US" sz="900" dirty="0"/>
          </a:p>
        </p:txBody>
      </p:sp>
      <p:sp>
        <p:nvSpPr>
          <p:cNvPr id="5" name="Shape 3"/>
          <p:cNvSpPr/>
          <p:nvPr/>
        </p:nvSpPr>
        <p:spPr>
          <a:xfrm>
            <a:off x="566928" y="1627632"/>
            <a:ext cx="475488" cy="475488"/>
          </a:xfrm>
          <a:prstGeom prst="ellipse">
            <a:avLst/>
          </a:prstGeom>
          <a:solidFill>
            <a:srgbClr val="1C7293"/>
          </a:solidFill>
          <a:ln/>
        </p:spPr>
      </p:sp>
      <p:sp>
        <p:nvSpPr>
          <p:cNvPr id="6" name="Text 4"/>
          <p:cNvSpPr/>
          <p:nvPr/>
        </p:nvSpPr>
        <p:spPr>
          <a:xfrm>
            <a:off x="566928" y="162763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43584" y="1572768"/>
            <a:ext cx="16916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Formalize</a:t>
            </a:r>
            <a:endParaRPr lang="en-US" sz="1600" dirty="0"/>
          </a:p>
        </p:txBody>
      </p:sp>
      <p:sp>
        <p:nvSpPr>
          <p:cNvPr id="8" name="Text 6"/>
          <p:cNvSpPr/>
          <p:nvPr/>
        </p:nvSpPr>
        <p:spPr>
          <a:xfrm>
            <a:off x="2962656" y="1554480"/>
            <a:ext cx="8595360" cy="658368"/>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State an MDP precisely, and explain why a policy - not a plan - is the right notion of a solution.</a:t>
            </a:r>
            <a:endParaRPr lang="en-US" sz="1450" dirty="0"/>
          </a:p>
        </p:txBody>
      </p:sp>
      <p:sp>
        <p:nvSpPr>
          <p:cNvPr id="9" name="Shape 7"/>
          <p:cNvSpPr/>
          <p:nvPr/>
        </p:nvSpPr>
        <p:spPr>
          <a:xfrm>
            <a:off x="566928" y="2560320"/>
            <a:ext cx="475488" cy="475488"/>
          </a:xfrm>
          <a:prstGeom prst="ellipse">
            <a:avLst/>
          </a:prstGeom>
          <a:solidFill>
            <a:srgbClr val="1C7293"/>
          </a:solidFill>
          <a:ln/>
        </p:spPr>
      </p:sp>
      <p:sp>
        <p:nvSpPr>
          <p:cNvPr id="10" name="Text 8"/>
          <p:cNvSpPr/>
          <p:nvPr/>
        </p:nvSpPr>
        <p:spPr>
          <a:xfrm>
            <a:off x="566928" y="256032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243584" y="2505456"/>
            <a:ext cx="16916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Justify</a:t>
            </a:r>
            <a:endParaRPr lang="en-US" sz="1600" dirty="0"/>
          </a:p>
        </p:txBody>
      </p:sp>
      <p:sp>
        <p:nvSpPr>
          <p:cNvPr id="12" name="Text 10"/>
          <p:cNvSpPr/>
          <p:nvPr/>
        </p:nvSpPr>
        <p:spPr>
          <a:xfrm>
            <a:off x="2962656" y="2487168"/>
            <a:ext cx="8595360" cy="658368"/>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Explain why we discount, and what breaks if we do not: infinite utilities, improper policies, nonstationary behavior.</a:t>
            </a:r>
            <a:endParaRPr lang="en-US" sz="1450" dirty="0"/>
          </a:p>
        </p:txBody>
      </p:sp>
      <p:sp>
        <p:nvSpPr>
          <p:cNvPr id="13" name="Shape 11"/>
          <p:cNvSpPr/>
          <p:nvPr/>
        </p:nvSpPr>
        <p:spPr>
          <a:xfrm>
            <a:off x="566928" y="3493008"/>
            <a:ext cx="475488" cy="475488"/>
          </a:xfrm>
          <a:prstGeom prst="ellipse">
            <a:avLst/>
          </a:prstGeom>
          <a:solidFill>
            <a:srgbClr val="1C7293"/>
          </a:solidFill>
          <a:ln/>
        </p:spPr>
      </p:sp>
      <p:sp>
        <p:nvSpPr>
          <p:cNvPr id="14" name="Text 12"/>
          <p:cNvSpPr/>
          <p:nvPr/>
        </p:nvSpPr>
        <p:spPr>
          <a:xfrm>
            <a:off x="566928" y="349300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243584" y="3438144"/>
            <a:ext cx="16916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Derive</a:t>
            </a:r>
            <a:endParaRPr lang="en-US" sz="1600" dirty="0"/>
          </a:p>
        </p:txBody>
      </p:sp>
      <p:sp>
        <p:nvSpPr>
          <p:cNvPr id="16" name="Text 14"/>
          <p:cNvSpPr/>
          <p:nvPr/>
        </p:nvSpPr>
        <p:spPr>
          <a:xfrm>
            <a:off x="2962656" y="3419856"/>
            <a:ext cx="8595360" cy="658368"/>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Write the Bellman equations for V*, Q*, and V-pi from scratch, and read any one of them out loud in English.</a:t>
            </a:r>
            <a:endParaRPr lang="en-US" sz="1450" dirty="0"/>
          </a:p>
        </p:txBody>
      </p:sp>
      <p:sp>
        <p:nvSpPr>
          <p:cNvPr id="17" name="Shape 15"/>
          <p:cNvSpPr/>
          <p:nvPr/>
        </p:nvSpPr>
        <p:spPr>
          <a:xfrm>
            <a:off x="566928" y="4425696"/>
            <a:ext cx="475488" cy="475488"/>
          </a:xfrm>
          <a:prstGeom prst="ellipse">
            <a:avLst/>
          </a:prstGeom>
          <a:solidFill>
            <a:srgbClr val="1C7293"/>
          </a:solidFill>
          <a:ln/>
        </p:spPr>
      </p:sp>
      <p:sp>
        <p:nvSpPr>
          <p:cNvPr id="18" name="Text 16"/>
          <p:cNvSpPr/>
          <p:nvPr/>
        </p:nvSpPr>
        <p:spPr>
          <a:xfrm>
            <a:off x="566928" y="4425696"/>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243584" y="4370832"/>
            <a:ext cx="16916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Compute</a:t>
            </a:r>
            <a:endParaRPr lang="en-US" sz="1600" dirty="0"/>
          </a:p>
        </p:txBody>
      </p:sp>
      <p:sp>
        <p:nvSpPr>
          <p:cNvPr id="20" name="Text 18"/>
          <p:cNvSpPr/>
          <p:nvPr/>
        </p:nvSpPr>
        <p:spPr>
          <a:xfrm>
            <a:off x="2962656" y="4352544"/>
            <a:ext cx="8595360" cy="658368"/>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Run value iteration and policy iteration by hand on a small MDP, and extract a policy from values or from Q-values.</a:t>
            </a:r>
            <a:endParaRPr lang="en-US" sz="1450" dirty="0"/>
          </a:p>
        </p:txBody>
      </p:sp>
      <p:sp>
        <p:nvSpPr>
          <p:cNvPr id="21" name="Shape 19"/>
          <p:cNvSpPr/>
          <p:nvPr/>
        </p:nvSpPr>
        <p:spPr>
          <a:xfrm>
            <a:off x="566928" y="5358384"/>
            <a:ext cx="475488" cy="475488"/>
          </a:xfrm>
          <a:prstGeom prst="ellipse">
            <a:avLst/>
          </a:prstGeom>
          <a:solidFill>
            <a:srgbClr val="1C7293"/>
          </a:solidFill>
          <a:ln/>
        </p:spPr>
      </p:sp>
      <p:sp>
        <p:nvSpPr>
          <p:cNvPr id="22" name="Text 20"/>
          <p:cNvSpPr/>
          <p:nvPr/>
        </p:nvSpPr>
        <p:spPr>
          <a:xfrm>
            <a:off x="566928" y="5358384"/>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1243584" y="5303520"/>
            <a:ext cx="16916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Analyze</a:t>
            </a:r>
            <a:endParaRPr lang="en-US" sz="1600" dirty="0"/>
          </a:p>
        </p:txBody>
      </p:sp>
      <p:sp>
        <p:nvSpPr>
          <p:cNvPr id="24" name="Text 22"/>
          <p:cNvSpPr/>
          <p:nvPr/>
        </p:nvSpPr>
        <p:spPr>
          <a:xfrm>
            <a:off x="2962656" y="5285232"/>
            <a:ext cx="8595360" cy="658368"/>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Say why value iteration converges, how fast, and when to stop - and why the policy is usually right long before the values are.</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One idea, two notations</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Read this slide once now, and again when the textbook and the slides seem to disagree</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011680"/>
          <a:ext cx="11057839" cy="914400"/>
        </p:xfrm>
        <a:graphic>
          <a:graphicData uri="http://schemas.openxmlformats.org/drawingml/2006/table">
            <a:tbl>
              <a:tblPr/>
              <a:tblGrid>
                <a:gridCol w="3566160"/>
                <a:gridCol w="3657600"/>
                <a:gridCol w="3834079"/>
              </a:tblGrid>
              <a:tr h="402336">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Concept</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10263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AIMA 4e (the textbook)</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10263B"/>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Berkeley CS188 (these slides)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10263B"/>
                    </a:solidFill>
                  </a:tcPr>
                </a:tc>
              </a:tr>
              <a:tr h="402336">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Transition model</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P(s' | s, a)</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T(s, a, 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Reward on a transition</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R(s, a, 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R(s, a, 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r>
              <a:tr h="402336">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Utility / value of a state</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U(s)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V*(s)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Value under a fixed policy</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U-pi(s)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V-pi(s)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r>
              <a:tr h="402336">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Action-utility function</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Q(s, a)</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Q*(s, a)</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r>
              <a:tr h="402336">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Optimal policy</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pi*(s)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pi*(s)</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7FAFB"/>
                    </a:solidFill>
                  </a:tcPr>
                </a:tc>
              </a:tr>
              <a:tr h="402336">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Discount factor</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gamma</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0263B"/>
                          </a:solidFill>
                          <a:latin typeface="Calibri" pitchFamily="34" charset="0"/>
                          <a:ea typeface="Calibri" pitchFamily="34" charset="-122"/>
                          <a:cs typeface="Calibri" pitchFamily="34" charset="-120"/>
                        </a:rPr>
                        <a:t>gamma</a:t>
                      </a:r>
                      <a:endParaRPr lang="en-US" sz="1400" dirty="0">
                        <a:latin typeface="Calibri" charset="0"/>
                        <a:ea typeface="Calibri" charset="0"/>
                        <a:cs typeface="Calibri" charset="0"/>
                      </a:endParaRPr>
                    </a:p>
                  </a:txBody>
                  <a:tcPr marL="114300" marR="114300" marT="76200" marB="76200" anchor="ctr">
                    <a:lnL w="9525" cap="flat" cmpd="sng" algn="ctr">
                      <a:solidFill>
                        <a:srgbClr val="D3DDE3"/>
                      </a:solidFill>
                      <a:prstDash val="solid"/>
                      <a:round/>
                      <a:headEnd type="none" w="med" len="med"/>
                      <a:tailEnd type="none" w="med" len="med"/>
                    </a:lnL>
                    <a:lnR w="9525" cap="flat" cmpd="sng" algn="ctr">
                      <a:solidFill>
                        <a:srgbClr val="D3DDE3"/>
                      </a:solidFill>
                      <a:prstDash val="solid"/>
                      <a:round/>
                      <a:headEnd type="none" w="med" len="med"/>
                      <a:tailEnd type="none" w="med" len="med"/>
                    </a:lnR>
                    <a:lnT w="9525" cap="flat" cmpd="sng" algn="ctr">
                      <a:solidFill>
                        <a:srgbClr val="D3DDE3"/>
                      </a:solidFill>
                      <a:prstDash val="solid"/>
                      <a:round/>
                      <a:headEnd type="none" w="med" len="med"/>
                      <a:tailEnd type="none" w="med" len="med"/>
                    </a:lnT>
                    <a:lnB w="9525" cap="flat" cmpd="sng" algn="ctr">
                      <a:solidFill>
                        <a:srgbClr val="D3DD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504688"/>
            <a:ext cx="11057839" cy="713232"/>
          </a:xfrm>
          <a:prstGeom prst="roundRect">
            <a:avLst>
              <a:gd name="adj" fmla="val 11538"/>
            </a:avLst>
          </a:prstGeom>
          <a:solidFill>
            <a:srgbClr val="F5DFA8"/>
          </a:solidFill>
          <a:ln/>
        </p:spPr>
      </p:sp>
      <p:sp>
        <p:nvSpPr>
          <p:cNvPr id="8" name="Text 5"/>
          <p:cNvSpPr/>
          <p:nvPr/>
        </p:nvSpPr>
        <p:spPr>
          <a:xfrm>
            <a:off x="768096" y="5504688"/>
            <a:ext cx="10655503" cy="713232"/>
          </a:xfrm>
          <a:prstGeom prst="rect">
            <a:avLst/>
          </a:prstGeom>
          <a:noFill/>
          <a:ln/>
        </p:spPr>
        <p:txBody>
          <a:bodyPr wrap="square" lIns="0" tIns="0" rIns="0" bIns="0" rtlCol="0" anchor="ctr"/>
          <a:lstStyle/>
          <a:p>
            <a:pPr indent="0" marL="0">
              <a:buNone/>
            </a:pPr>
            <a:r>
              <a:rPr lang="en-US" sz="1350" b="1" dirty="0">
                <a:solidFill>
                  <a:srgbClr val="10263B"/>
                </a:solidFill>
                <a:latin typeface="Calibri" pitchFamily="34" charset="0"/>
                <a:ea typeface="Calibri" pitchFamily="34" charset="-122"/>
                <a:cs typeface="Calibri" pitchFamily="34" charset="-120"/>
              </a:rPr>
              <a:t>The one that trips people up:  </a:t>
            </a:r>
            <a:pPr indent="0" marL="0">
              <a:buNone/>
            </a:pPr>
            <a:r>
              <a:rPr lang="en-US" sz="1350" dirty="0">
                <a:solidFill>
                  <a:srgbClr val="10263B"/>
                </a:solidFill>
                <a:latin typeface="Calibri" pitchFamily="34" charset="0"/>
                <a:ea typeface="Calibri" pitchFamily="34" charset="-122"/>
                <a:cs typeface="Calibri" pitchFamily="34" charset="-120"/>
              </a:rPr>
              <a:t>AIMA writes U(s) for the utility of a state under optimal behavior. That is exactly the same object CS188 calls V*(s). The star is not decoration - it is the difference between V-pi and V*.</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5</a:t>
            </a:r>
            <a:endParaRPr lang="en-US" sz="900" dirty="0"/>
          </a:p>
        </p:txBody>
      </p:sp>
      <p:sp>
        <p:nvSpPr>
          <p:cNvPr id="4" name="Text 2"/>
          <p:cNvSpPr/>
          <p:nvPr/>
        </p:nvSpPr>
        <p:spPr>
          <a:xfrm>
            <a:off x="566928" y="1417320"/>
            <a:ext cx="2926080" cy="1463040"/>
          </a:xfrm>
          <a:prstGeom prst="rect">
            <a:avLst/>
          </a:prstGeom>
          <a:noFill/>
          <a:ln/>
        </p:spPr>
        <p:txBody>
          <a:bodyPr wrap="square" lIns="0" tIns="0" rIns="0" bIns="0" rtlCol="0" anchor="ctr"/>
          <a:lstStyle/>
          <a:p>
            <a:pPr indent="0" marL="0">
              <a:buNone/>
            </a:pPr>
            <a:r>
              <a:rPr lang="en-US" sz="9600" b="1" dirty="0">
                <a:solidFill>
                  <a:srgbClr val="E0A32E"/>
                </a:solidFill>
                <a:latin typeface="Cambria" pitchFamily="34" charset="0"/>
                <a:ea typeface="Cambria" pitchFamily="34" charset="-122"/>
                <a:cs typeface="Cambria" pitchFamily="34" charset="-120"/>
              </a:rPr>
              <a:t>01</a:t>
            </a:r>
            <a:endParaRPr lang="en-US" sz="9600" dirty="0"/>
          </a:p>
        </p:txBody>
      </p:sp>
      <p:sp>
        <p:nvSpPr>
          <p:cNvPr id="5" name="Text 3"/>
          <p:cNvSpPr/>
          <p:nvPr/>
        </p:nvSpPr>
        <p:spPr>
          <a:xfrm>
            <a:off x="566928" y="2880360"/>
            <a:ext cx="768096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Sequential Decision Problems</a:t>
            </a:r>
            <a:endParaRPr lang="en-US" sz="3800" dirty="0"/>
          </a:p>
        </p:txBody>
      </p:sp>
      <p:sp>
        <p:nvSpPr>
          <p:cNvPr id="6" name="Text 4"/>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6FA8BE"/>
                </a:solidFill>
                <a:latin typeface="Calibri" pitchFamily="34" charset="0"/>
                <a:ea typeface="Calibri" pitchFamily="34" charset="-122"/>
                <a:cs typeface="Calibri" pitchFamily="34" charset="-120"/>
              </a:rPr>
              <a:t>AIMA 17.1  |  What the problem is, and what counts as a solution</a:t>
            </a:r>
            <a:endParaRPr lang="en-US" sz="1600" dirty="0"/>
          </a:p>
        </p:txBody>
      </p:sp>
      <p:sp>
        <p:nvSpPr>
          <p:cNvPr id="7" name="Text 5"/>
          <p:cNvSpPr/>
          <p:nvPr/>
        </p:nvSpPr>
        <p:spPr>
          <a:xfrm>
            <a:off x="8549640" y="2834640"/>
            <a:ext cx="310896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The 4 x 3 world</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Transitions and the Markov assumption</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Rewards on transitions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Plans versus policies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How rewards shape behavior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Recap: Grid World</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a:t>
            </a:r>
            <a:endParaRPr lang="en-US" sz="900" dirty="0"/>
          </a:p>
        </p:txBody>
      </p:sp>
      <p:sp>
        <p:nvSpPr>
          <p:cNvPr id="5" name="Shape 3"/>
          <p:cNvSpPr/>
          <p:nvPr/>
        </p:nvSpPr>
        <p:spPr>
          <a:xfrm>
            <a:off x="566928" y="1572768"/>
            <a:ext cx="6583680" cy="1005840"/>
          </a:xfrm>
          <a:prstGeom prst="roundRect">
            <a:avLst>
              <a:gd name="adj" fmla="val 8182"/>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768096" y="1645920"/>
            <a:ext cx="6217920" cy="310896"/>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The board</a:t>
            </a:r>
            <a:endParaRPr lang="en-US" sz="1500" dirty="0"/>
          </a:p>
        </p:txBody>
      </p:sp>
      <p:sp>
        <p:nvSpPr>
          <p:cNvPr id="7" name="Text 5"/>
          <p:cNvSpPr/>
          <p:nvPr/>
        </p:nvSpPr>
        <p:spPr>
          <a:xfrm>
            <a:off x="768096" y="1938528"/>
            <a:ext cx="6217920" cy="566928"/>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The agent lives on a grid. Walls block movement. Two terminal squares end the episode: a gem worth +1 and a pit worth -1.</a:t>
            </a:r>
            <a:endParaRPr lang="en-US" sz="1300" dirty="0"/>
          </a:p>
        </p:txBody>
      </p:sp>
      <p:sp>
        <p:nvSpPr>
          <p:cNvPr id="8" name="Shape 6"/>
          <p:cNvSpPr/>
          <p:nvPr/>
        </p:nvSpPr>
        <p:spPr>
          <a:xfrm>
            <a:off x="566928" y="2706624"/>
            <a:ext cx="6583680" cy="1005840"/>
          </a:xfrm>
          <a:prstGeom prst="roundRect">
            <a:avLst>
              <a:gd name="adj" fmla="val 8182"/>
            </a:avLst>
          </a:prstGeom>
          <a:solidFill>
            <a:srgbClr val="F7FAFB"/>
          </a:solidFill>
          <a:ln/>
          <a:effectLst>
            <a:outerShdw sx="100000" sy="100000" kx="0" ky="0" algn="bl" rotWithShape="0" blurRad="101600" dist="17780" dir="5400000">
              <a:srgbClr val="9FB2BF">
                <a:alpha val="20000"/>
              </a:srgbClr>
            </a:outerShdw>
          </a:effectLst>
        </p:spPr>
      </p:sp>
      <p:sp>
        <p:nvSpPr>
          <p:cNvPr id="9" name="Text 7"/>
          <p:cNvSpPr/>
          <p:nvPr/>
        </p:nvSpPr>
        <p:spPr>
          <a:xfrm>
            <a:off x="768096" y="2779776"/>
            <a:ext cx="6217920" cy="310896"/>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Noisy movement</a:t>
            </a:r>
            <a:endParaRPr lang="en-US" sz="1500" dirty="0"/>
          </a:p>
        </p:txBody>
      </p:sp>
      <p:sp>
        <p:nvSpPr>
          <p:cNvPr id="10" name="Text 8"/>
          <p:cNvSpPr/>
          <p:nvPr/>
        </p:nvSpPr>
        <p:spPr>
          <a:xfrm>
            <a:off x="768096" y="3072384"/>
            <a:ext cx="6217920" cy="566928"/>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The intended action happens 80% of the time. 10% of the time the agent slips 90 degrees left, 10% right. Bumping a wall means you stay put.</a:t>
            </a:r>
            <a:endParaRPr lang="en-US" sz="1300" dirty="0"/>
          </a:p>
        </p:txBody>
      </p:sp>
      <p:sp>
        <p:nvSpPr>
          <p:cNvPr id="11" name="Shape 9"/>
          <p:cNvSpPr/>
          <p:nvPr/>
        </p:nvSpPr>
        <p:spPr>
          <a:xfrm>
            <a:off x="566928" y="3840480"/>
            <a:ext cx="6583680" cy="1005840"/>
          </a:xfrm>
          <a:prstGeom prst="roundRect">
            <a:avLst>
              <a:gd name="adj" fmla="val 8182"/>
            </a:avLst>
          </a:prstGeom>
          <a:solidFill>
            <a:srgbClr val="EDF2F5"/>
          </a:solidFill>
          <a:ln/>
          <a:effectLst>
            <a:outerShdw sx="100000" sy="100000" kx="0" ky="0" algn="bl" rotWithShape="0" blurRad="101600" dist="17780" dir="5400000">
              <a:srgbClr val="9FB2BF">
                <a:alpha val="20000"/>
              </a:srgbClr>
            </a:outerShdw>
          </a:effectLst>
        </p:spPr>
      </p:sp>
      <p:sp>
        <p:nvSpPr>
          <p:cNvPr id="12" name="Text 10"/>
          <p:cNvSpPr/>
          <p:nvPr/>
        </p:nvSpPr>
        <p:spPr>
          <a:xfrm>
            <a:off x="768096" y="3913632"/>
            <a:ext cx="6217920" cy="310896"/>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Rewards</a:t>
            </a:r>
            <a:endParaRPr lang="en-US" sz="1500" dirty="0"/>
          </a:p>
        </p:txBody>
      </p:sp>
      <p:sp>
        <p:nvSpPr>
          <p:cNvPr id="13" name="Text 11"/>
          <p:cNvSpPr/>
          <p:nvPr/>
        </p:nvSpPr>
        <p:spPr>
          <a:xfrm>
            <a:off x="768096" y="4206240"/>
            <a:ext cx="6217920" cy="566928"/>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A small living reward arrives on every single step and can be negative. The big rewards arrive at the end.</a:t>
            </a:r>
            <a:endParaRPr lang="en-US" sz="1300" dirty="0"/>
          </a:p>
        </p:txBody>
      </p:sp>
      <p:sp>
        <p:nvSpPr>
          <p:cNvPr id="14" name="Shape 12"/>
          <p:cNvSpPr/>
          <p:nvPr/>
        </p:nvSpPr>
        <p:spPr>
          <a:xfrm>
            <a:off x="566928" y="4974336"/>
            <a:ext cx="6583680" cy="1005840"/>
          </a:xfrm>
          <a:prstGeom prst="roundRect">
            <a:avLst>
              <a:gd name="adj" fmla="val 8182"/>
            </a:avLst>
          </a:prstGeom>
          <a:solidFill>
            <a:srgbClr val="F7FAFB"/>
          </a:solidFill>
          <a:ln/>
          <a:effectLst>
            <a:outerShdw sx="100000" sy="100000" kx="0" ky="0" algn="bl" rotWithShape="0" blurRad="101600" dist="17780" dir="5400000">
              <a:srgbClr val="9FB2BF">
                <a:alpha val="20000"/>
              </a:srgbClr>
            </a:outerShdw>
          </a:effectLst>
        </p:spPr>
      </p:sp>
      <p:sp>
        <p:nvSpPr>
          <p:cNvPr id="15" name="Text 13"/>
          <p:cNvSpPr/>
          <p:nvPr/>
        </p:nvSpPr>
        <p:spPr>
          <a:xfrm>
            <a:off x="768096" y="5047488"/>
            <a:ext cx="6217920" cy="310896"/>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The goal</a:t>
            </a:r>
            <a:endParaRPr lang="en-US" sz="1500" dirty="0"/>
          </a:p>
        </p:txBody>
      </p:sp>
      <p:sp>
        <p:nvSpPr>
          <p:cNvPr id="16" name="Text 14"/>
          <p:cNvSpPr/>
          <p:nvPr/>
        </p:nvSpPr>
        <p:spPr>
          <a:xfrm>
            <a:off x="768096" y="5340096"/>
            <a:ext cx="6217920" cy="566928"/>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Maximize the sum of (discounted) rewards - not the probability of reaching the gem.</a:t>
            </a:r>
            <a:endParaRPr lang="en-US" sz="1300" dirty="0"/>
          </a:p>
        </p:txBody>
      </p:sp>
      <p:pic>
        <p:nvPicPr>
          <p:cNvPr id="17" name="Image 0" descr="fig_grid43.png">    </p:cNvPr>
          <p:cNvPicPr>
            <a:picLocks noChangeAspect="1"/>
          </p:cNvPicPr>
          <p:nvPr/>
        </p:nvPicPr>
        <p:blipFill>
          <a:blip r:embed="rId1"/>
          <a:srcRect l="0" r="0" t="0" b="0"/>
          <a:stretch/>
        </p:blipFill>
        <p:spPr>
          <a:xfrm>
            <a:off x="7452360" y="1965960"/>
            <a:ext cx="4160520" cy="2377440"/>
          </a:xfrm>
          <a:prstGeom prst="rect">
            <a:avLst/>
          </a:prstGeom>
        </p:spPr>
      </p:pic>
      <p:sp>
        <p:nvSpPr>
          <p:cNvPr id="18" name="Text 15"/>
          <p:cNvSpPr/>
          <p:nvPr/>
        </p:nvSpPr>
        <p:spPr>
          <a:xfrm>
            <a:off x="7452360" y="4480560"/>
            <a:ext cx="4160520" cy="640080"/>
          </a:xfrm>
          <a:prstGeom prst="rect">
            <a:avLst/>
          </a:prstGeom>
          <a:noFill/>
          <a:ln/>
        </p:spPr>
        <p:txBody>
          <a:bodyPr wrap="square" lIns="0" tIns="0" rIns="0" bIns="0" rtlCol="0" anchor="t"/>
          <a:lstStyle/>
          <a:p>
            <a:pPr indent="0" marL="0">
              <a:buNone/>
            </a:pPr>
            <a:r>
              <a:rPr lang="en-US" sz="1250" i="1" dirty="0">
                <a:solidFill>
                  <a:srgbClr val="5C7080"/>
                </a:solidFill>
                <a:latin typeface="Calibri" pitchFamily="34" charset="0"/>
                <a:ea typeface="Calibri" pitchFamily="34" charset="-122"/>
                <a:cs typeface="Calibri" pitchFamily="34" charset="-120"/>
              </a:rPr>
              <a:t>Noise is a property of the environment, not of your solution. You do not get to choose it.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Why a plan is not a solution</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7</a:t>
            </a:r>
            <a:endParaRPr lang="en-US" sz="900" dirty="0"/>
          </a:p>
        </p:txBody>
      </p:sp>
      <p:sp>
        <p:nvSpPr>
          <p:cNvPr id="5" name="Text 3"/>
          <p:cNvSpPr/>
          <p:nvPr/>
        </p:nvSpPr>
        <p:spPr>
          <a:xfrm>
            <a:off x="566928" y="1417320"/>
            <a:ext cx="11057839" cy="329184"/>
          </a:xfrm>
          <a:prstGeom prst="rect">
            <a:avLst/>
          </a:prstGeom>
          <a:noFill/>
          <a:ln/>
        </p:spPr>
        <p:txBody>
          <a:bodyPr wrap="square" lIns="0" tIns="0" rIns="0" bIns="0" rtlCol="0" anchor="ctr"/>
          <a:lstStyle/>
          <a:p>
            <a:pPr indent="0" marL="0">
              <a:buNone/>
            </a:pPr>
            <a:r>
              <a:rPr lang="en-US" sz="1550" dirty="0">
                <a:solidFill>
                  <a:srgbClr val="10263B"/>
                </a:solidFill>
                <a:latin typeface="Calibri" pitchFamily="34" charset="0"/>
                <a:ea typeface="Calibri" pitchFamily="34" charset="-122"/>
                <a:cs typeface="Calibri" pitchFamily="34" charset="-120"/>
              </a:rPr>
              <a:t>If the 4 x 3 world were deterministic, the answer is a five-move plan:</a:t>
            </a:r>
            <a:endParaRPr lang="en-US" sz="1550" dirty="0"/>
          </a:p>
        </p:txBody>
      </p:sp>
      <p:sp>
        <p:nvSpPr>
          <p:cNvPr id="6" name="Shape 4"/>
          <p:cNvSpPr/>
          <p:nvPr/>
        </p:nvSpPr>
        <p:spPr>
          <a:xfrm>
            <a:off x="566928" y="1828800"/>
            <a:ext cx="6309360" cy="603504"/>
          </a:xfrm>
          <a:prstGeom prst="roundRect">
            <a:avLst>
              <a:gd name="adj" fmla="val 9091"/>
            </a:avLst>
          </a:prstGeom>
          <a:solidFill>
            <a:srgbClr val="F7FAFB"/>
          </a:solidFill>
          <a:ln w="12700">
            <a:solidFill>
              <a:srgbClr val="D3DDE3"/>
            </a:solidFill>
            <a:prstDash val="solid"/>
          </a:ln>
        </p:spPr>
      </p:sp>
      <p:sp>
        <p:nvSpPr>
          <p:cNvPr id="7" name="Text 5"/>
          <p:cNvSpPr/>
          <p:nvPr/>
        </p:nvSpPr>
        <p:spPr>
          <a:xfrm>
            <a:off x="676656" y="1828800"/>
            <a:ext cx="6089904" cy="603504"/>
          </a:xfrm>
          <a:prstGeom prst="rect">
            <a:avLst/>
          </a:prstGeom>
          <a:noFill/>
          <a:ln/>
        </p:spPr>
        <p:txBody>
          <a:bodyPr wrap="square" lIns="0" tIns="0" rIns="0" bIns="0" rtlCol="0" anchor="ctr"/>
          <a:lstStyle/>
          <a:p>
            <a:pPr algn="ctr" indent="0" marL="0">
              <a:buNone/>
            </a:pPr>
            <a:r>
              <a:rPr lang="en-US" sz="1800" b="1" dirty="0">
                <a:solidFill>
                  <a:srgbClr val="10263B"/>
                </a:solidFill>
                <a:latin typeface="Cambria" pitchFamily="34" charset="0"/>
                <a:ea typeface="Cambria" pitchFamily="34" charset="-122"/>
                <a:cs typeface="Cambria" pitchFamily="34" charset="-120"/>
              </a:rPr>
              <a:t>[ Up, Up, Right, Right, Right ]</a:t>
            </a:r>
            <a:endParaRPr lang="en-US" sz="1800" dirty="0"/>
          </a:p>
        </p:txBody>
      </p:sp>
      <p:sp>
        <p:nvSpPr>
          <p:cNvPr id="8" name="Text 6"/>
          <p:cNvSpPr/>
          <p:nvPr/>
        </p:nvSpPr>
        <p:spPr>
          <a:xfrm>
            <a:off x="566928" y="2670048"/>
            <a:ext cx="6309360" cy="365760"/>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But actions are unreliable, so that exact sequence only arrives at the gem with probability</a:t>
            </a:r>
            <a:endParaRPr lang="en-US" sz="1450" dirty="0"/>
          </a:p>
        </p:txBody>
      </p:sp>
      <p:sp>
        <p:nvSpPr>
          <p:cNvPr id="9" name="Shape 7"/>
          <p:cNvSpPr/>
          <p:nvPr/>
        </p:nvSpPr>
        <p:spPr>
          <a:xfrm>
            <a:off x="566928" y="3090672"/>
            <a:ext cx="6309360" cy="676656"/>
          </a:xfrm>
          <a:prstGeom prst="roundRect">
            <a:avLst>
              <a:gd name="adj" fmla="val 8108"/>
            </a:avLst>
          </a:prstGeom>
          <a:solidFill>
            <a:srgbClr val="F7FAFB"/>
          </a:solidFill>
          <a:ln w="12700">
            <a:solidFill>
              <a:srgbClr val="D3DDE3"/>
            </a:solidFill>
            <a:prstDash val="solid"/>
          </a:ln>
        </p:spPr>
      </p:sp>
      <p:sp>
        <p:nvSpPr>
          <p:cNvPr id="10" name="Text 8"/>
          <p:cNvSpPr/>
          <p:nvPr/>
        </p:nvSpPr>
        <p:spPr>
          <a:xfrm>
            <a:off x="676656" y="3090672"/>
            <a:ext cx="6089904" cy="676656"/>
          </a:xfrm>
          <a:prstGeom prst="rect">
            <a:avLst/>
          </a:prstGeom>
          <a:noFill/>
          <a:ln/>
        </p:spPr>
        <p:txBody>
          <a:bodyPr wrap="square" lIns="0" tIns="0" rIns="0" bIns="0" rtlCol="0" anchor="ctr"/>
          <a:lstStyle/>
          <a:p>
            <a:pPr algn="ctr" indent="0" marL="0">
              <a:buNone/>
            </a:pPr>
            <a:r>
              <a:rPr lang="en-US" sz="2100" b="1" dirty="0">
                <a:solidFill>
                  <a:srgbClr val="10263B"/>
                </a:solidFill>
                <a:latin typeface="Cambria" pitchFamily="34" charset="0"/>
                <a:ea typeface="Cambria" pitchFamily="34" charset="-122"/>
                <a:cs typeface="Cambria" pitchFamily="34" charset="-120"/>
              </a:rPr>
              <a:t>0.8</a:t>
            </a:r>
            <a:pPr algn="ctr" indent="0" marL="0">
              <a:buNone/>
            </a:pPr>
            <a:r>
              <a:rPr lang="en-US" sz="2100" b="1" baseline="30000" dirty="0">
                <a:solidFill>
                  <a:srgbClr val="10263B"/>
                </a:solidFill>
                <a:latin typeface="Cambria" pitchFamily="34" charset="0"/>
                <a:ea typeface="Cambria" pitchFamily="34" charset="-122"/>
                <a:cs typeface="Cambria" pitchFamily="34" charset="-120"/>
              </a:rPr>
              <a:t>5</a:t>
            </a:r>
            <a:pPr algn="ctr" indent="0" marL="0">
              <a:buNone/>
            </a:pPr>
            <a:r>
              <a:rPr lang="en-US" sz="2100" b="1" dirty="0">
                <a:solidFill>
                  <a:srgbClr val="10263B"/>
                </a:solidFill>
                <a:latin typeface="Cambria" pitchFamily="34" charset="0"/>
                <a:ea typeface="Cambria" pitchFamily="34" charset="-122"/>
                <a:cs typeface="Cambria" pitchFamily="34" charset="-120"/>
              </a:rPr>
              <a:t> = 0.32768</a:t>
            </a:r>
            <a:endParaRPr lang="en-US" sz="2100" dirty="0"/>
          </a:p>
        </p:txBody>
      </p:sp>
      <p:sp>
        <p:nvSpPr>
          <p:cNvPr id="11" name="Text 9"/>
          <p:cNvSpPr/>
          <p:nvPr/>
        </p:nvSpPr>
        <p:spPr>
          <a:xfrm>
            <a:off x="566928" y="3895344"/>
            <a:ext cx="6309360" cy="566928"/>
          </a:xfrm>
          <a:prstGeom prst="rect">
            <a:avLst/>
          </a:prstGeom>
          <a:noFill/>
          <a:ln/>
        </p:spPr>
        <p:txBody>
          <a:bodyPr wrap="square" lIns="0" tIns="0" rIns="0" bIns="0" rtlCol="0" anchor="t"/>
          <a:lstStyle/>
          <a:p>
            <a:pPr indent="0" marL="0">
              <a:buNone/>
            </a:pPr>
            <a:r>
              <a:rPr lang="en-US" sz="1350" dirty="0">
                <a:solidFill>
                  <a:srgbClr val="5C7080"/>
                </a:solidFill>
                <a:latin typeface="Calibri" pitchFamily="34" charset="0"/>
                <a:ea typeface="Calibri" pitchFamily="34" charset="-122"/>
                <a:cs typeface="Calibri" pitchFamily="34" charset="-120"/>
              </a:rPr>
              <a:t>There is also a small chance of stumbling to the goal the long way around, with probability 0.1^4 x 0.8, for a grand total of 0.32776.</a:t>
            </a:r>
            <a:endParaRPr lang="en-US" sz="1350" dirty="0"/>
          </a:p>
        </p:txBody>
      </p:sp>
      <p:sp>
        <p:nvSpPr>
          <p:cNvPr id="12" name="Shape 10"/>
          <p:cNvSpPr/>
          <p:nvPr/>
        </p:nvSpPr>
        <p:spPr>
          <a:xfrm>
            <a:off x="7178040" y="1783080"/>
            <a:ext cx="4434840" cy="3246120"/>
          </a:xfrm>
          <a:prstGeom prst="roundRect">
            <a:avLst>
              <a:gd name="adj" fmla="val 2535"/>
            </a:avLst>
          </a:prstGeom>
          <a:solidFill>
            <a:srgbClr val="10263B"/>
          </a:solidFill>
          <a:ln/>
          <a:effectLst>
            <a:outerShdw sx="100000" sy="100000" kx="0" ky="0" algn="bl" rotWithShape="0" blurRad="101600" dist="17780" dir="5400000">
              <a:srgbClr val="9FB2BF">
                <a:alpha val="20000"/>
              </a:srgbClr>
            </a:outerShdw>
          </a:effectLst>
        </p:spPr>
      </p:sp>
      <p:sp>
        <p:nvSpPr>
          <p:cNvPr id="13" name="Text 11"/>
          <p:cNvSpPr/>
          <p:nvPr/>
        </p:nvSpPr>
        <p:spPr>
          <a:xfrm>
            <a:off x="7406640" y="1965960"/>
            <a:ext cx="3977640" cy="384048"/>
          </a:xfrm>
          <a:prstGeom prst="rect">
            <a:avLst/>
          </a:prstGeom>
          <a:noFill/>
          <a:ln/>
        </p:spPr>
        <p:txBody>
          <a:bodyPr wrap="square" lIns="0" tIns="0" rIns="0" bIns="0" rtlCol="0" anchor="ctr"/>
          <a:lstStyle/>
          <a:p>
            <a:pPr indent="0" marL="0">
              <a:buNone/>
            </a:pPr>
            <a:r>
              <a:rPr lang="en-US" sz="1800" b="1" dirty="0">
                <a:solidFill>
                  <a:srgbClr val="E0A32E"/>
                </a:solidFill>
                <a:latin typeface="Cambria" pitchFamily="34" charset="0"/>
                <a:ea typeface="Cambria" pitchFamily="34" charset="-122"/>
                <a:cs typeface="Cambria" pitchFamily="34" charset="-120"/>
              </a:rPr>
              <a:t>So what is a solution?</a:t>
            </a:r>
            <a:endParaRPr lang="en-US" sz="1800" dirty="0"/>
          </a:p>
        </p:txBody>
      </p:sp>
      <p:sp>
        <p:nvSpPr>
          <p:cNvPr id="14" name="Text 12"/>
          <p:cNvSpPr/>
          <p:nvPr/>
        </p:nvSpPr>
        <p:spPr>
          <a:xfrm>
            <a:off x="7406640" y="2450592"/>
            <a:ext cx="3977640" cy="2423160"/>
          </a:xfrm>
          <a:prstGeom prst="rect">
            <a:avLst/>
          </a:prstGeom>
          <a:noFill/>
          <a:ln/>
        </p:spPr>
        <p:txBody>
          <a:bodyPr wrap="square" lIns="0" tIns="0" rIns="0" bIns="0" rtlCol="0" anchor="t"/>
          <a:lstStyle/>
          <a:p>
            <a:pPr marL="203200" indent="-203200">
              <a:spcAft>
                <a:spcPts val="1000"/>
              </a:spcAft>
              <a:buSzPct val="100000"/>
              <a:buChar char="•"/>
            </a:pPr>
            <a:r>
              <a:rPr lang="en-US" sz="1300" dirty="0">
                <a:solidFill>
                  <a:srgbClr val="DCE7EE"/>
                </a:solidFill>
                <a:latin typeface="Calibri" pitchFamily="34" charset="0"/>
                <a:ea typeface="Calibri" pitchFamily="34" charset="-122"/>
                <a:cs typeface="Calibri" pitchFamily="34" charset="-120"/>
              </a:rPr>
              <a:t>The agent may end up in a state the plan never anticipated.</a:t>
            </a:r>
            <a:endParaRPr lang="en-US" sz="1300" dirty="0"/>
          </a:p>
          <a:p>
            <a:pPr marL="203200" indent="-203200">
              <a:spcAft>
                <a:spcPts val="1000"/>
              </a:spcAft>
              <a:buSzPct val="100000"/>
              <a:buChar char="•"/>
            </a:pPr>
            <a:r>
              <a:rPr lang="en-US" sz="1300" dirty="0">
                <a:solidFill>
                  <a:srgbClr val="DCE7EE"/>
                </a:solidFill>
                <a:latin typeface="Calibri" pitchFamily="34" charset="0"/>
                <a:ea typeface="Calibri" pitchFamily="34" charset="-122"/>
                <a:cs typeface="Calibri" pitchFamily="34" charset="-120"/>
              </a:rPr>
              <a:t>So a solution must say what to do in every state the agent could reach - not what to do at every time step.</a:t>
            </a:r>
            <a:endParaRPr lang="en-US" sz="1300" dirty="0"/>
          </a:p>
          <a:p>
            <a:pPr marL="203200" indent="-203200">
              <a:spcAft>
                <a:spcPts val="1000"/>
              </a:spcAft>
              <a:buSzPct val="100000"/>
              <a:buChar char="•"/>
            </a:pPr>
            <a:r>
              <a:rPr lang="en-US" sz="1300" dirty="0">
                <a:solidFill>
                  <a:srgbClr val="DCE7EE"/>
                </a:solidFill>
                <a:latin typeface="Calibri" pitchFamily="34" charset="0"/>
                <a:ea typeface="Calibri" pitchFamily="34" charset="-122"/>
                <a:cs typeface="Calibri" pitchFamily="34" charset="-120"/>
              </a:rPr>
              <a:t>That object is a policy, written pi. The action it recommends in state s is pi(s).</a:t>
            </a:r>
            <a:endParaRPr lang="en-US" sz="1300" dirty="0"/>
          </a:p>
          <a:p>
            <a:pPr marL="203200" indent="-203200">
              <a:spcAft>
                <a:spcPts val="1000"/>
              </a:spcAft>
              <a:buSzPct val="100000"/>
              <a:buChar char="•"/>
            </a:pPr>
            <a:r>
              <a:rPr lang="en-US" sz="1300" dirty="0">
                <a:solidFill>
                  <a:srgbClr val="DCE7EE"/>
                </a:solidFill>
                <a:latin typeface="Calibri" pitchFamily="34" charset="0"/>
                <a:ea typeface="Calibri" pitchFamily="34" charset="-122"/>
                <a:cs typeface="Calibri" pitchFamily="34" charset="-120"/>
              </a:rPr>
              <a:t>No matter how badly the dice fall, the resulting state is still in the policy, and the agent still knows what to do next.</a:t>
            </a:r>
            <a:endParaRPr lang="en-US" sz="1300" dirty="0"/>
          </a:p>
        </p:txBody>
      </p:sp>
      <p:sp>
        <p:nvSpPr>
          <p:cNvPr id="15" name="Text 13"/>
          <p:cNvSpPr/>
          <p:nvPr/>
        </p:nvSpPr>
        <p:spPr>
          <a:xfrm>
            <a:off x="566928" y="5257800"/>
            <a:ext cx="11057839" cy="457200"/>
          </a:xfrm>
          <a:prstGeom prst="rect">
            <a:avLst/>
          </a:prstGeom>
          <a:noFill/>
          <a:ln/>
        </p:spPr>
        <p:txBody>
          <a:bodyPr wrap="square" lIns="0" tIns="0" rIns="0" bIns="0" rtlCol="0" anchor="ctr"/>
          <a:lstStyle/>
          <a:p>
            <a:pPr indent="0" marL="0">
              <a:buNone/>
            </a:pPr>
            <a:r>
              <a:rPr lang="en-US" sz="1500" i="1" dirty="0">
                <a:solidFill>
                  <a:srgbClr val="10263B"/>
                </a:solidFill>
                <a:latin typeface="Calibri" pitchFamily="34" charset="0"/>
                <a:ea typeface="Calibri" pitchFamily="34" charset="-122"/>
                <a:cs typeface="Calibri" pitchFamily="34" charset="-120"/>
              </a:rPr>
              <a:t>A 32% success rate is not a bug in the plan. It is evidence that plans are the wrong data structure for this problem.</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transition model and the Markov assumption</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8</a:t>
            </a:r>
            <a:endParaRPr lang="en-US" sz="900" dirty="0"/>
          </a:p>
        </p:txBody>
      </p:sp>
      <p:sp>
        <p:nvSpPr>
          <p:cNvPr id="5" name="Text 3"/>
          <p:cNvSpPr/>
          <p:nvPr/>
        </p:nvSpPr>
        <p:spPr>
          <a:xfrm>
            <a:off x="566928" y="1417320"/>
            <a:ext cx="6766560" cy="329184"/>
          </a:xfrm>
          <a:prstGeom prst="rect">
            <a:avLst/>
          </a:prstGeom>
          <a:noFill/>
          <a:ln/>
        </p:spPr>
        <p:txBody>
          <a:bodyPr wrap="square" lIns="0" tIns="0" rIns="0" bIns="0" rtlCol="0" anchor="ctr"/>
          <a:lstStyle/>
          <a:p>
            <a:pPr indent="0" marL="0">
              <a:buNone/>
            </a:pPr>
            <a:r>
              <a:rPr lang="en-US" sz="1550" dirty="0">
                <a:solidFill>
                  <a:srgbClr val="10263B"/>
                </a:solidFill>
                <a:latin typeface="Calibri" pitchFamily="34" charset="0"/>
                <a:ea typeface="Calibri" pitchFamily="34" charset="-122"/>
                <a:cs typeface="Calibri" pitchFamily="34" charset="-120"/>
              </a:rPr>
              <a:t>The outcome of an action is a distribution, not a state:</a:t>
            </a:r>
            <a:endParaRPr lang="en-US" sz="1550" dirty="0"/>
          </a:p>
        </p:txBody>
      </p:sp>
      <p:sp>
        <p:nvSpPr>
          <p:cNvPr id="6" name="Shape 4"/>
          <p:cNvSpPr/>
          <p:nvPr/>
        </p:nvSpPr>
        <p:spPr>
          <a:xfrm>
            <a:off x="566928" y="1828800"/>
            <a:ext cx="6766560" cy="713232"/>
          </a:xfrm>
          <a:prstGeom prst="roundRect">
            <a:avLst>
              <a:gd name="adj" fmla="val 7692"/>
            </a:avLst>
          </a:prstGeom>
          <a:solidFill>
            <a:srgbClr val="F7FAFB"/>
          </a:solidFill>
          <a:ln w="12700">
            <a:solidFill>
              <a:srgbClr val="D3DDE3"/>
            </a:solidFill>
            <a:prstDash val="solid"/>
          </a:ln>
        </p:spPr>
      </p:sp>
      <p:sp>
        <p:nvSpPr>
          <p:cNvPr id="7" name="Text 5"/>
          <p:cNvSpPr/>
          <p:nvPr/>
        </p:nvSpPr>
        <p:spPr>
          <a:xfrm>
            <a:off x="676656" y="1828800"/>
            <a:ext cx="6547104" cy="713232"/>
          </a:xfrm>
          <a:prstGeom prst="rect">
            <a:avLst/>
          </a:prstGeom>
          <a:noFill/>
          <a:ln/>
        </p:spPr>
        <p:txBody>
          <a:bodyPr wrap="square" lIns="0" tIns="0" rIns="0" bIns="0" rtlCol="0" anchor="ctr"/>
          <a:lstStyle/>
          <a:p>
            <a:pPr algn="ctr" indent="0" marL="0">
              <a:buNone/>
            </a:pPr>
            <a:r>
              <a:rPr lang="en-US" sz="2000" b="1" dirty="0">
                <a:solidFill>
                  <a:srgbClr val="10263B"/>
                </a:solidFill>
                <a:latin typeface="Cambria" pitchFamily="34" charset="0"/>
                <a:ea typeface="Cambria" pitchFamily="34" charset="-122"/>
                <a:cs typeface="Cambria" pitchFamily="34" charset="-120"/>
              </a:rPr>
              <a:t>P(s' | s, a)   =   T(s, a, s')</a:t>
            </a:r>
            <a:endParaRPr lang="en-US" sz="2000" dirty="0"/>
          </a:p>
        </p:txBody>
      </p:sp>
      <p:sp>
        <p:nvSpPr>
          <p:cNvPr id="8" name="Text 6"/>
          <p:cNvSpPr/>
          <p:nvPr/>
        </p:nvSpPr>
        <p:spPr>
          <a:xfrm>
            <a:off x="566928" y="2569464"/>
            <a:ext cx="676656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the probability of reaching s' if action a is taken in state s</a:t>
            </a:r>
            <a:endParaRPr lang="en-US" sz="1100" dirty="0"/>
          </a:p>
        </p:txBody>
      </p:sp>
      <p:sp>
        <p:nvSpPr>
          <p:cNvPr id="9" name="Shape 7"/>
          <p:cNvSpPr/>
          <p:nvPr/>
        </p:nvSpPr>
        <p:spPr>
          <a:xfrm>
            <a:off x="566928" y="2999232"/>
            <a:ext cx="6766560" cy="1243584"/>
          </a:xfrm>
          <a:prstGeom prst="roundRect">
            <a:avLst>
              <a:gd name="adj" fmla="val 6618"/>
            </a:avLst>
          </a:prstGeom>
          <a:solidFill>
            <a:srgbClr val="EDF2F5"/>
          </a:solidFill>
          <a:ln/>
          <a:effectLst>
            <a:outerShdw sx="100000" sy="100000" kx="0" ky="0" algn="bl" rotWithShape="0" blurRad="101600" dist="17780" dir="5400000">
              <a:srgbClr val="9FB2BF">
                <a:alpha val="20000"/>
              </a:srgbClr>
            </a:outerShdw>
          </a:effectLst>
        </p:spPr>
      </p:sp>
      <p:sp>
        <p:nvSpPr>
          <p:cNvPr id="10" name="Text 8"/>
          <p:cNvSpPr/>
          <p:nvPr/>
        </p:nvSpPr>
        <p:spPr>
          <a:xfrm>
            <a:off x="786384" y="3108960"/>
            <a:ext cx="6309360" cy="310896"/>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Markovian</a:t>
            </a:r>
            <a:endParaRPr lang="en-US" sz="1500" dirty="0"/>
          </a:p>
        </p:txBody>
      </p:sp>
      <p:sp>
        <p:nvSpPr>
          <p:cNvPr id="11" name="Text 9"/>
          <p:cNvSpPr/>
          <p:nvPr/>
        </p:nvSpPr>
        <p:spPr>
          <a:xfrm>
            <a:off x="786384" y="3419856"/>
            <a:ext cx="6309360" cy="731520"/>
          </a:xfrm>
          <a:prstGeom prst="rect">
            <a:avLst/>
          </a:prstGeom>
          <a:noFill/>
          <a:ln/>
        </p:spPr>
        <p:txBody>
          <a:bodyPr wrap="square" lIns="0" tIns="0" rIns="0" bIns="0" rtlCol="0" anchor="t"/>
          <a:lstStyle/>
          <a:p>
            <a:pPr indent="0" marL="0">
              <a:buNone/>
            </a:pPr>
            <a:r>
              <a:rPr lang="en-US" sz="1350" dirty="0">
                <a:solidFill>
                  <a:srgbClr val="10263B"/>
                </a:solidFill>
                <a:latin typeface="Calibri" pitchFamily="34" charset="0"/>
                <a:ea typeface="Calibri" pitchFamily="34" charset="-122"/>
                <a:cs typeface="Calibri" pitchFamily="34" charset="-120"/>
              </a:rPr>
              <a:t>The probability of reaching s' from s depends only on s and a - never on the history of states that came before. The present state is a sufficient summary of the past.</a:t>
            </a:r>
            <a:endParaRPr lang="en-US" sz="1350" dirty="0"/>
          </a:p>
        </p:txBody>
      </p:sp>
      <p:sp>
        <p:nvSpPr>
          <p:cNvPr id="12" name="Text 10"/>
          <p:cNvSpPr/>
          <p:nvPr/>
        </p:nvSpPr>
        <p:spPr>
          <a:xfrm>
            <a:off x="566928" y="4389120"/>
            <a:ext cx="6766560" cy="658368"/>
          </a:xfrm>
          <a:prstGeom prst="rect">
            <a:avLst/>
          </a:prstGeom>
          <a:noFill/>
          <a:ln/>
        </p:spPr>
        <p:txBody>
          <a:bodyPr wrap="square" lIns="0" tIns="0" rIns="0" bIns="0" rtlCol="0" anchor="t"/>
          <a:lstStyle/>
          <a:p>
            <a:pPr indent="0" marL="0">
              <a:buNone/>
            </a:pPr>
            <a:r>
              <a:rPr lang="en-US" sz="1350" i="1" dirty="0">
                <a:solidFill>
                  <a:srgbClr val="5C7080"/>
                </a:solidFill>
                <a:latin typeface="Calibri" pitchFamily="34" charset="0"/>
                <a:ea typeface="Calibri" pitchFamily="34" charset="-122"/>
                <a:cs typeface="Calibri" pitchFamily="34" charset="-120"/>
              </a:rPr>
              <a:t>This is an assumption about your state representation, not a law of nature. If the future genuinely depends on history, the fix is to put the relevant history into the state.</a:t>
            </a:r>
            <a:endParaRPr lang="en-US" sz="1350" dirty="0"/>
          </a:p>
        </p:txBody>
      </p:sp>
      <p:sp>
        <p:nvSpPr>
          <p:cNvPr id="13" name="Shape 11"/>
          <p:cNvSpPr/>
          <p:nvPr/>
        </p:nvSpPr>
        <p:spPr>
          <a:xfrm>
            <a:off x="7635240" y="1737360"/>
            <a:ext cx="3977640" cy="3566160"/>
          </a:xfrm>
          <a:prstGeom prst="roundRect">
            <a:avLst>
              <a:gd name="adj" fmla="val 2308"/>
            </a:avLst>
          </a:prstGeom>
          <a:solidFill>
            <a:srgbClr val="F7FAFB"/>
          </a:solidFill>
          <a:ln w="12700">
            <a:solidFill>
              <a:srgbClr val="D3DDE3"/>
            </a:solidFill>
            <a:prstDash val="solid"/>
          </a:ln>
          <a:effectLst>
            <a:outerShdw sx="100000" sy="100000" kx="0" ky="0" algn="bl" rotWithShape="0" blurRad="101600" dist="17780" dir="5400000">
              <a:srgbClr val="9FB2BF">
                <a:alpha val="20000"/>
              </a:srgbClr>
            </a:outerShdw>
          </a:effectLst>
        </p:spPr>
      </p:sp>
      <p:sp>
        <p:nvSpPr>
          <p:cNvPr id="14" name="Text 12"/>
          <p:cNvSpPr/>
          <p:nvPr/>
        </p:nvSpPr>
        <p:spPr>
          <a:xfrm>
            <a:off x="7818120" y="1874520"/>
            <a:ext cx="3611880" cy="329184"/>
          </a:xfrm>
          <a:prstGeom prst="rect">
            <a:avLst/>
          </a:prstGeom>
          <a:noFill/>
          <a:ln/>
        </p:spPr>
        <p:txBody>
          <a:bodyPr wrap="square" lIns="0" tIns="0" rIns="0" bIns="0" rtlCol="0" anchor="ctr"/>
          <a:lstStyle/>
          <a:p>
            <a:pPr indent="0" marL="0">
              <a:buNone/>
            </a:pPr>
            <a:r>
              <a:rPr lang="en-US" sz="1400" b="1" dirty="0">
                <a:solidFill>
                  <a:srgbClr val="10263B"/>
                </a:solidFill>
                <a:latin typeface="Cambria" pitchFamily="34" charset="0"/>
                <a:ea typeface="Cambria" pitchFamily="34" charset="-122"/>
                <a:cs typeface="Cambria" pitchFamily="34" charset="-120"/>
              </a:rPr>
              <a:t>Worked example: Up from (1,1)</a:t>
            </a:r>
            <a:endParaRPr lang="en-US" sz="1400" dirty="0"/>
          </a:p>
        </p:txBody>
      </p:sp>
      <p:sp>
        <p:nvSpPr>
          <p:cNvPr id="15" name="Shape 13"/>
          <p:cNvSpPr/>
          <p:nvPr/>
        </p:nvSpPr>
        <p:spPr>
          <a:xfrm>
            <a:off x="7818120" y="2304288"/>
            <a:ext cx="658368" cy="384048"/>
          </a:xfrm>
          <a:prstGeom prst="roundRect">
            <a:avLst>
              <a:gd name="adj" fmla="val 14286"/>
            </a:avLst>
          </a:prstGeom>
          <a:solidFill>
            <a:srgbClr val="2E7D5B"/>
          </a:solidFill>
          <a:ln/>
        </p:spPr>
      </p:sp>
      <p:sp>
        <p:nvSpPr>
          <p:cNvPr id="16" name="Text 14"/>
          <p:cNvSpPr/>
          <p:nvPr/>
        </p:nvSpPr>
        <p:spPr>
          <a:xfrm>
            <a:off x="7818120" y="2304288"/>
            <a:ext cx="65836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0.8</a:t>
            </a:r>
            <a:endParaRPr lang="en-US" sz="1350" dirty="0"/>
          </a:p>
        </p:txBody>
      </p:sp>
      <p:sp>
        <p:nvSpPr>
          <p:cNvPr id="17" name="Text 15"/>
          <p:cNvSpPr/>
          <p:nvPr/>
        </p:nvSpPr>
        <p:spPr>
          <a:xfrm>
            <a:off x="8613648" y="2267712"/>
            <a:ext cx="2834640" cy="566928"/>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moves Up to (1,2)</a:t>
            </a:r>
            <a:endParaRPr lang="en-US" sz="1250" dirty="0"/>
          </a:p>
        </p:txBody>
      </p:sp>
      <p:sp>
        <p:nvSpPr>
          <p:cNvPr id="18" name="Shape 16"/>
          <p:cNvSpPr/>
          <p:nvPr/>
        </p:nvSpPr>
        <p:spPr>
          <a:xfrm>
            <a:off x="7818120" y="3145536"/>
            <a:ext cx="658368" cy="384048"/>
          </a:xfrm>
          <a:prstGeom prst="roundRect">
            <a:avLst>
              <a:gd name="adj" fmla="val 14286"/>
            </a:avLst>
          </a:prstGeom>
          <a:solidFill>
            <a:srgbClr val="E0A32E"/>
          </a:solidFill>
          <a:ln/>
        </p:spPr>
      </p:sp>
      <p:sp>
        <p:nvSpPr>
          <p:cNvPr id="19" name="Text 17"/>
          <p:cNvSpPr/>
          <p:nvPr/>
        </p:nvSpPr>
        <p:spPr>
          <a:xfrm>
            <a:off x="7818120" y="3145536"/>
            <a:ext cx="65836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0.1</a:t>
            </a:r>
            <a:endParaRPr lang="en-US" sz="1350" dirty="0"/>
          </a:p>
        </p:txBody>
      </p:sp>
      <p:sp>
        <p:nvSpPr>
          <p:cNvPr id="20" name="Text 18"/>
          <p:cNvSpPr/>
          <p:nvPr/>
        </p:nvSpPr>
        <p:spPr>
          <a:xfrm>
            <a:off x="8613648" y="3108960"/>
            <a:ext cx="2834640" cy="566928"/>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slips East to (2,1)</a:t>
            </a:r>
            <a:endParaRPr lang="en-US" sz="1250" dirty="0"/>
          </a:p>
        </p:txBody>
      </p:sp>
      <p:sp>
        <p:nvSpPr>
          <p:cNvPr id="21" name="Shape 19"/>
          <p:cNvSpPr/>
          <p:nvPr/>
        </p:nvSpPr>
        <p:spPr>
          <a:xfrm>
            <a:off x="7818120" y="3986784"/>
            <a:ext cx="658368" cy="384048"/>
          </a:xfrm>
          <a:prstGeom prst="roundRect">
            <a:avLst>
              <a:gd name="adj" fmla="val 14286"/>
            </a:avLst>
          </a:prstGeom>
          <a:solidFill>
            <a:srgbClr val="B3341F"/>
          </a:solidFill>
          <a:ln/>
        </p:spPr>
      </p:sp>
      <p:sp>
        <p:nvSpPr>
          <p:cNvPr id="22" name="Text 20"/>
          <p:cNvSpPr/>
          <p:nvPr/>
        </p:nvSpPr>
        <p:spPr>
          <a:xfrm>
            <a:off x="7818120" y="3986784"/>
            <a:ext cx="658368" cy="384048"/>
          </a:xfrm>
          <a:prstGeom prst="rect">
            <a:avLst/>
          </a:prstGeom>
          <a:noFill/>
          <a:ln/>
        </p:spPr>
        <p:txBody>
          <a:bodyPr wrap="square" lIns="0" tIns="0" rIns="0" bIns="0"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0.1</a:t>
            </a:r>
            <a:endParaRPr lang="en-US" sz="1350" dirty="0"/>
          </a:p>
        </p:txBody>
      </p:sp>
      <p:sp>
        <p:nvSpPr>
          <p:cNvPr id="23" name="Text 21"/>
          <p:cNvSpPr/>
          <p:nvPr/>
        </p:nvSpPr>
        <p:spPr>
          <a:xfrm>
            <a:off x="8613648" y="3950208"/>
            <a:ext cx="2834640" cy="566928"/>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slips West into a wall,</a:t>
            </a:r>
            <a:endParaRPr lang="en-US" sz="1250" dirty="0"/>
          </a:p>
          <a:p>
            <a:pPr indent="0" marL="0">
              <a:buNone/>
            </a:pPr>
            <a:r>
              <a:rPr lang="en-US" sz="1250" dirty="0">
                <a:solidFill>
                  <a:srgbClr val="10263B"/>
                </a:solidFill>
                <a:latin typeface="Calibri" pitchFamily="34" charset="0"/>
                <a:ea typeface="Calibri" pitchFamily="34" charset="-122"/>
                <a:cs typeface="Calibri" pitchFamily="34" charset="-120"/>
              </a:rPr>
              <a:t>so it stays at (1,1)</a:t>
            </a:r>
            <a:endParaRPr lang="en-US" sz="1250" dirty="0"/>
          </a:p>
        </p:txBody>
      </p:sp>
      <p:sp>
        <p:nvSpPr>
          <p:cNvPr id="24" name="Text 22"/>
          <p:cNvSpPr/>
          <p:nvPr/>
        </p:nvSpPr>
        <p:spPr>
          <a:xfrm>
            <a:off x="7818120" y="4754880"/>
            <a:ext cx="3611880" cy="502920"/>
          </a:xfrm>
          <a:prstGeom prst="rect">
            <a:avLst/>
          </a:prstGeom>
          <a:noFill/>
          <a:ln/>
        </p:spPr>
        <p:txBody>
          <a:bodyPr wrap="square" lIns="0" tIns="0" rIns="0" bIns="0" rtlCol="0" anchor="t"/>
          <a:lstStyle/>
          <a:p>
            <a:pPr indent="0" marL="0">
              <a:buNone/>
            </a:pPr>
            <a:r>
              <a:rPr lang="en-US" sz="1150" dirty="0">
                <a:solidFill>
                  <a:srgbClr val="5C7080"/>
                </a:solidFill>
                <a:latin typeface="Calibri" pitchFamily="34" charset="0"/>
                <a:ea typeface="Calibri" pitchFamily="34" charset="-122"/>
                <a:cs typeface="Calibri" pitchFamily="34" charset="-120"/>
              </a:rPr>
              <a:t>Note that the three outcomes are not three different states - two of them collide. Always collect duplicate outcomes before you average.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Rewards live on transitions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9</a:t>
            </a:r>
            <a:endParaRPr lang="en-US" sz="900" dirty="0"/>
          </a:p>
        </p:txBody>
      </p:sp>
      <p:sp>
        <p:nvSpPr>
          <p:cNvPr id="5" name="Shape 3"/>
          <p:cNvSpPr/>
          <p:nvPr/>
        </p:nvSpPr>
        <p:spPr>
          <a:xfrm>
            <a:off x="566928" y="1481328"/>
            <a:ext cx="11057839" cy="731520"/>
          </a:xfrm>
          <a:prstGeom prst="roundRect">
            <a:avLst>
              <a:gd name="adj" fmla="val 7500"/>
            </a:avLst>
          </a:prstGeom>
          <a:solidFill>
            <a:srgbClr val="F7FAFB"/>
          </a:solidFill>
          <a:ln w="12700">
            <a:solidFill>
              <a:srgbClr val="D3DDE3"/>
            </a:solidFill>
            <a:prstDash val="solid"/>
          </a:ln>
        </p:spPr>
      </p:sp>
      <p:sp>
        <p:nvSpPr>
          <p:cNvPr id="6" name="Text 4"/>
          <p:cNvSpPr/>
          <p:nvPr/>
        </p:nvSpPr>
        <p:spPr>
          <a:xfrm>
            <a:off x="676656" y="1481328"/>
            <a:ext cx="10838383" cy="731520"/>
          </a:xfrm>
          <a:prstGeom prst="rect">
            <a:avLst/>
          </a:prstGeom>
          <a:noFill/>
          <a:ln/>
        </p:spPr>
        <p:txBody>
          <a:bodyPr wrap="square" lIns="0" tIns="0" rIns="0" bIns="0" rtlCol="0" anchor="ctr"/>
          <a:lstStyle/>
          <a:p>
            <a:pPr algn="ctr" indent="0" marL="0">
              <a:buNone/>
            </a:pPr>
            <a:r>
              <a:rPr lang="en-US" sz="1700" b="1" dirty="0">
                <a:solidFill>
                  <a:srgbClr val="10263B"/>
                </a:solidFill>
                <a:latin typeface="Cambria" pitchFamily="34" charset="0"/>
                <a:ea typeface="Cambria" pitchFamily="34" charset="-122"/>
                <a:cs typeface="Cambria" pitchFamily="34" charset="-120"/>
              </a:rPr>
              <a:t>R(s, a, s')   -   received on the transition from s to s' via action a</a:t>
            </a:r>
            <a:endParaRPr lang="en-US" sz="1700" dirty="0"/>
          </a:p>
        </p:txBody>
      </p:sp>
      <p:sp>
        <p:nvSpPr>
          <p:cNvPr id="7" name="Shape 5"/>
          <p:cNvSpPr/>
          <p:nvPr/>
        </p:nvSpPr>
        <p:spPr>
          <a:xfrm>
            <a:off x="566928" y="2487168"/>
            <a:ext cx="3456432" cy="1691640"/>
          </a:xfrm>
          <a:prstGeom prst="roundRect">
            <a:avLst>
              <a:gd name="adj" fmla="val 4865"/>
            </a:avLst>
          </a:prstGeom>
          <a:solidFill>
            <a:srgbClr val="EDF2F5"/>
          </a:solidFill>
          <a:ln/>
          <a:effectLst>
            <a:outerShdw sx="100000" sy="100000" kx="0" ky="0" algn="bl" rotWithShape="0" blurRad="101600" dist="17780" dir="5400000">
              <a:srgbClr val="9FB2BF">
                <a:alpha val="20000"/>
              </a:srgbClr>
            </a:outerShdw>
          </a:effectLst>
        </p:spPr>
      </p:sp>
      <p:sp>
        <p:nvSpPr>
          <p:cNvPr id="8" name="Shape 6"/>
          <p:cNvSpPr/>
          <p:nvPr/>
        </p:nvSpPr>
        <p:spPr>
          <a:xfrm>
            <a:off x="768096" y="2670048"/>
            <a:ext cx="420624" cy="420624"/>
          </a:xfrm>
          <a:prstGeom prst="ellipse">
            <a:avLst/>
          </a:prstGeom>
          <a:solidFill>
            <a:srgbClr val="1C7293"/>
          </a:solidFill>
          <a:ln/>
        </p:spPr>
      </p:sp>
      <p:sp>
        <p:nvSpPr>
          <p:cNvPr id="9" name="Text 7"/>
          <p:cNvSpPr/>
          <p:nvPr/>
        </p:nvSpPr>
        <p:spPr>
          <a:xfrm>
            <a:off x="768096" y="2670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298448" y="2670048"/>
            <a:ext cx="2560320" cy="420624"/>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Bounded</a:t>
            </a:r>
            <a:endParaRPr lang="en-US" sz="1450" dirty="0"/>
          </a:p>
        </p:txBody>
      </p:sp>
      <p:sp>
        <p:nvSpPr>
          <p:cNvPr id="11" name="Text 9"/>
          <p:cNvSpPr/>
          <p:nvPr/>
        </p:nvSpPr>
        <p:spPr>
          <a:xfrm>
            <a:off x="768096" y="3182112"/>
            <a:ext cx="3054096" cy="91440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Rewards may be positive or negative but are bounded by plus or minus R-max. We will lean on that bound when we prove convergence.</a:t>
            </a:r>
            <a:endParaRPr lang="en-US" sz="1250" dirty="0"/>
          </a:p>
        </p:txBody>
      </p:sp>
      <p:sp>
        <p:nvSpPr>
          <p:cNvPr id="12" name="Shape 10"/>
          <p:cNvSpPr/>
          <p:nvPr/>
        </p:nvSpPr>
        <p:spPr>
          <a:xfrm>
            <a:off x="4297680" y="2487168"/>
            <a:ext cx="3456432" cy="1691640"/>
          </a:xfrm>
          <a:prstGeom prst="roundRect">
            <a:avLst>
              <a:gd name="adj" fmla="val 4865"/>
            </a:avLst>
          </a:prstGeom>
          <a:solidFill>
            <a:srgbClr val="EDF2F5"/>
          </a:solidFill>
          <a:ln/>
          <a:effectLst>
            <a:outerShdw sx="100000" sy="100000" kx="0" ky="0" algn="bl" rotWithShape="0" blurRad="101600" dist="17780" dir="5400000">
              <a:srgbClr val="9FB2BF">
                <a:alpha val="20000"/>
              </a:srgbClr>
            </a:outerShdw>
          </a:effectLst>
        </p:spPr>
      </p:sp>
      <p:sp>
        <p:nvSpPr>
          <p:cNvPr id="13" name="Shape 11"/>
          <p:cNvSpPr/>
          <p:nvPr/>
        </p:nvSpPr>
        <p:spPr>
          <a:xfrm>
            <a:off x="4498848" y="2670048"/>
            <a:ext cx="420624" cy="420624"/>
          </a:xfrm>
          <a:prstGeom prst="ellipse">
            <a:avLst/>
          </a:prstGeom>
          <a:solidFill>
            <a:srgbClr val="1C7293"/>
          </a:solidFill>
          <a:ln/>
        </p:spPr>
      </p:sp>
      <p:sp>
        <p:nvSpPr>
          <p:cNvPr id="14" name="Text 12"/>
          <p:cNvSpPr/>
          <p:nvPr/>
        </p:nvSpPr>
        <p:spPr>
          <a:xfrm>
            <a:off x="4498848" y="2670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5029200" y="2670048"/>
            <a:ext cx="2560320" cy="420624"/>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Additive</a:t>
            </a:r>
            <a:endParaRPr lang="en-US" sz="1450" dirty="0"/>
          </a:p>
        </p:txBody>
      </p:sp>
      <p:sp>
        <p:nvSpPr>
          <p:cNvPr id="16" name="Text 14"/>
          <p:cNvSpPr/>
          <p:nvPr/>
        </p:nvSpPr>
        <p:spPr>
          <a:xfrm>
            <a:off x="4498848" y="3182112"/>
            <a:ext cx="3054096" cy="91440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The utility of a history is (for now) the sum of the rewards received along it.</a:t>
            </a:r>
            <a:endParaRPr lang="en-US" sz="1250" dirty="0"/>
          </a:p>
        </p:txBody>
      </p:sp>
      <p:sp>
        <p:nvSpPr>
          <p:cNvPr id="17" name="Shape 15"/>
          <p:cNvSpPr/>
          <p:nvPr/>
        </p:nvSpPr>
        <p:spPr>
          <a:xfrm>
            <a:off x="8028432" y="2487168"/>
            <a:ext cx="3456432" cy="1691640"/>
          </a:xfrm>
          <a:prstGeom prst="roundRect">
            <a:avLst>
              <a:gd name="adj" fmla="val 4865"/>
            </a:avLst>
          </a:prstGeom>
          <a:solidFill>
            <a:srgbClr val="EDF2F5"/>
          </a:solidFill>
          <a:ln/>
          <a:effectLst>
            <a:outerShdw sx="100000" sy="100000" kx="0" ky="0" algn="bl" rotWithShape="0" blurRad="101600" dist="17780" dir="5400000">
              <a:srgbClr val="9FB2BF">
                <a:alpha val="20000"/>
              </a:srgbClr>
            </a:outerShdw>
          </a:effectLst>
        </p:spPr>
      </p:sp>
      <p:sp>
        <p:nvSpPr>
          <p:cNvPr id="18" name="Shape 16"/>
          <p:cNvSpPr/>
          <p:nvPr/>
        </p:nvSpPr>
        <p:spPr>
          <a:xfrm>
            <a:off x="8229600" y="2670048"/>
            <a:ext cx="420624" cy="420624"/>
          </a:xfrm>
          <a:prstGeom prst="ellipse">
            <a:avLst/>
          </a:prstGeom>
          <a:solidFill>
            <a:srgbClr val="1C7293"/>
          </a:solidFill>
          <a:ln/>
        </p:spPr>
      </p:sp>
      <p:sp>
        <p:nvSpPr>
          <p:cNvPr id="19" name="Text 17"/>
          <p:cNvSpPr/>
          <p:nvPr/>
        </p:nvSpPr>
        <p:spPr>
          <a:xfrm>
            <a:off x="8229600" y="267004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8"/>
          <p:cNvSpPr/>
          <p:nvPr/>
        </p:nvSpPr>
        <p:spPr>
          <a:xfrm>
            <a:off x="8759952" y="2670048"/>
            <a:ext cx="2560320" cy="420624"/>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Instantaneous, not total</a:t>
            </a:r>
            <a:endParaRPr lang="en-US" sz="1450" dirty="0"/>
          </a:p>
        </p:txBody>
      </p:sp>
      <p:sp>
        <p:nvSpPr>
          <p:cNvPr id="21" name="Text 19"/>
          <p:cNvSpPr/>
          <p:nvPr/>
        </p:nvSpPr>
        <p:spPr>
          <a:xfrm>
            <a:off x="8229600" y="3182112"/>
            <a:ext cx="3054096" cy="91440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Keep the reward on one step strictly separate from the utility of the whole episode. Mixing them up is the single most common error in this unit.</a:t>
            </a:r>
            <a:endParaRPr lang="en-US" sz="1250" dirty="0"/>
          </a:p>
        </p:txBody>
      </p:sp>
      <p:sp>
        <p:nvSpPr>
          <p:cNvPr id="22" name="Shape 20"/>
          <p:cNvSpPr/>
          <p:nvPr/>
        </p:nvSpPr>
        <p:spPr>
          <a:xfrm>
            <a:off x="566928" y="4480560"/>
            <a:ext cx="11057839" cy="1298448"/>
          </a:xfrm>
          <a:prstGeom prst="roundRect">
            <a:avLst>
              <a:gd name="adj" fmla="val 6338"/>
            </a:avLst>
          </a:prstGeom>
          <a:solidFill>
            <a:srgbClr val="10263B"/>
          </a:solidFill>
          <a:ln/>
          <a:effectLst>
            <a:outerShdw sx="100000" sy="100000" kx="0" ky="0" algn="bl" rotWithShape="0" blurRad="101600" dist="17780" dir="5400000">
              <a:srgbClr val="9FB2BF">
                <a:alpha val="20000"/>
              </a:srgbClr>
            </a:outerShdw>
          </a:effectLst>
        </p:spPr>
      </p:sp>
      <p:sp>
        <p:nvSpPr>
          <p:cNvPr id="23" name="Text 21"/>
          <p:cNvSpPr/>
          <p:nvPr/>
        </p:nvSpPr>
        <p:spPr>
          <a:xfrm>
            <a:off x="822960" y="4590288"/>
            <a:ext cx="3657600" cy="310896"/>
          </a:xfrm>
          <a:prstGeom prst="rect">
            <a:avLst/>
          </a:prstGeom>
          <a:noFill/>
          <a:ln/>
        </p:spPr>
        <p:txBody>
          <a:bodyPr wrap="square" lIns="0" tIns="0" rIns="0" bIns="0" rtlCol="0" anchor="ctr"/>
          <a:lstStyle/>
          <a:p>
            <a:pPr indent="0" marL="0">
              <a:buNone/>
            </a:pPr>
            <a:r>
              <a:rPr lang="en-US" sz="1400" b="1" dirty="0">
                <a:solidFill>
                  <a:srgbClr val="E0A32E"/>
                </a:solidFill>
                <a:latin typeface="Cambria" pitchFamily="34" charset="0"/>
                <a:ea typeface="Cambria" pitchFamily="34" charset="-122"/>
                <a:cs typeface="Cambria" pitchFamily="34" charset="-120"/>
              </a:rPr>
              <a:t>In the 4 x 3 world</a:t>
            </a:r>
            <a:endParaRPr lang="en-US" sz="1400" dirty="0"/>
          </a:p>
        </p:txBody>
      </p:sp>
      <p:sp>
        <p:nvSpPr>
          <p:cNvPr id="24" name="Text 22"/>
          <p:cNvSpPr/>
          <p:nvPr/>
        </p:nvSpPr>
        <p:spPr>
          <a:xfrm>
            <a:off x="822960" y="4882896"/>
            <a:ext cx="6035040" cy="685800"/>
          </a:xfrm>
          <a:prstGeom prst="rect">
            <a:avLst/>
          </a:prstGeom>
          <a:noFill/>
          <a:ln/>
        </p:spPr>
        <p:txBody>
          <a:bodyPr wrap="square" lIns="0" tIns="0" rIns="0" bIns="0" rtlCol="0" anchor="t"/>
          <a:lstStyle/>
          <a:p>
            <a:pPr indent="0" marL="0">
              <a:buNone/>
            </a:pPr>
            <a:r>
              <a:rPr lang="en-US" sz="1350" dirty="0">
                <a:solidFill>
                  <a:srgbClr val="DCE7EE"/>
                </a:solidFill>
                <a:latin typeface="Calibri" pitchFamily="34" charset="0"/>
                <a:ea typeface="Calibri" pitchFamily="34" charset="-122"/>
                <a:cs typeface="Calibri" pitchFamily="34" charset="-120"/>
              </a:rPr>
              <a:t>Every transition earns -0.04, except those entering a terminal square, which earn +1 or -1. So if the agent reaches the gem after 10 steps, its total utility is</a:t>
            </a:r>
            <a:endParaRPr lang="en-US" sz="1350" dirty="0"/>
          </a:p>
        </p:txBody>
      </p:sp>
      <p:sp>
        <p:nvSpPr>
          <p:cNvPr id="25" name="Text 23"/>
          <p:cNvSpPr/>
          <p:nvPr/>
        </p:nvSpPr>
        <p:spPr>
          <a:xfrm>
            <a:off x="6766560" y="4663440"/>
            <a:ext cx="4754880" cy="91440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( 9  x  -0.04 )  +  1   =   0.64</a:t>
            </a:r>
            <a:endParaRPr lang="en-US" sz="2200" dirty="0"/>
          </a:p>
        </p:txBody>
      </p:sp>
      <p:sp>
        <p:nvSpPr>
          <p:cNvPr id="26" name="Text 24"/>
          <p:cNvSpPr/>
          <p:nvPr/>
        </p:nvSpPr>
        <p:spPr>
          <a:xfrm>
            <a:off x="566928" y="5870448"/>
            <a:ext cx="11057839" cy="365760"/>
          </a:xfrm>
          <a:prstGeom prst="rect">
            <a:avLst/>
          </a:prstGeom>
          <a:noFill/>
          <a:ln/>
        </p:spPr>
        <p:txBody>
          <a:bodyPr wrap="square" lIns="0" tIns="0" rIns="0" bIns="0" rtlCol="0" anchor="ctr"/>
          <a:lstStyle/>
          <a:p>
            <a:pPr indent="0" marL="0">
              <a:buNone/>
            </a:pPr>
            <a:r>
              <a:rPr lang="en-US" sz="1400" i="1" dirty="0">
                <a:solidFill>
                  <a:srgbClr val="5C7080"/>
                </a:solidFill>
                <a:latin typeface="Calibri" pitchFamily="34" charset="0"/>
                <a:ea typeface="Calibri" pitchFamily="34" charset="-122"/>
                <a:cs typeface="Calibri" pitchFamily="34" charset="-120"/>
              </a:rPr>
              <a:t>The -0.04 is not flavor text. It is what makes the agent want to leave. Without it, dawdling is free.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Definition: a Markov decision process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10</a:t>
            </a:r>
            <a:endParaRPr lang="en-US" sz="900" dirty="0"/>
          </a:p>
        </p:txBody>
      </p:sp>
      <p:sp>
        <p:nvSpPr>
          <p:cNvPr id="5" name="Shape 3"/>
          <p:cNvSpPr/>
          <p:nvPr/>
        </p:nvSpPr>
        <p:spPr>
          <a:xfrm>
            <a:off x="566928" y="1444752"/>
            <a:ext cx="6720840" cy="3401568"/>
          </a:xfrm>
          <a:prstGeom prst="roundRect">
            <a:avLst>
              <a:gd name="adj" fmla="val 2419"/>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04672" y="1572768"/>
            <a:ext cx="6263640" cy="658368"/>
          </a:xfrm>
          <a:prstGeom prst="rect">
            <a:avLst/>
          </a:prstGeom>
          <a:noFill/>
          <a:ln/>
        </p:spPr>
        <p:txBody>
          <a:bodyPr wrap="square" lIns="0" tIns="0" rIns="0" bIns="0" rtlCol="0" anchor="t"/>
          <a:lstStyle/>
          <a:p>
            <a:pPr indent="0" marL="0">
              <a:buNone/>
            </a:pPr>
            <a:r>
              <a:rPr lang="en-US" sz="1350" i="1" dirty="0">
                <a:solidFill>
                  <a:srgbClr val="5C7080"/>
                </a:solidFill>
                <a:latin typeface="Calibri" pitchFamily="34" charset="0"/>
                <a:ea typeface="Calibri" pitchFamily="34" charset="-122"/>
                <a:cs typeface="Calibri" pitchFamily="34" charset="-120"/>
              </a:rPr>
              <a:t>A sequential decision problem for a fully observable, stochastic environment with a Markovian transition model and additive rewards consists of:</a:t>
            </a:r>
            <a:endParaRPr lang="en-US" sz="1350" dirty="0"/>
          </a:p>
        </p:txBody>
      </p:sp>
      <p:sp>
        <p:nvSpPr>
          <p:cNvPr id="7" name="Shape 5"/>
          <p:cNvSpPr/>
          <p:nvPr/>
        </p:nvSpPr>
        <p:spPr>
          <a:xfrm>
            <a:off x="804672" y="2304288"/>
            <a:ext cx="1691640" cy="384048"/>
          </a:xfrm>
          <a:prstGeom prst="roundRect">
            <a:avLst>
              <a:gd name="adj" fmla="val 14286"/>
            </a:avLst>
          </a:prstGeom>
          <a:solidFill>
            <a:srgbClr val="1C7293"/>
          </a:solidFill>
          <a:ln/>
        </p:spPr>
      </p:sp>
      <p:sp>
        <p:nvSpPr>
          <p:cNvPr id="8" name="Text 6"/>
          <p:cNvSpPr/>
          <p:nvPr/>
        </p:nvSpPr>
        <p:spPr>
          <a:xfrm>
            <a:off x="804672" y="2304288"/>
            <a:ext cx="1691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S</a:t>
            </a:r>
            <a:endParaRPr lang="en-US" sz="1300" dirty="0"/>
          </a:p>
        </p:txBody>
      </p:sp>
      <p:sp>
        <p:nvSpPr>
          <p:cNvPr id="9" name="Text 7"/>
          <p:cNvSpPr/>
          <p:nvPr/>
        </p:nvSpPr>
        <p:spPr>
          <a:xfrm>
            <a:off x="2651760" y="2304288"/>
            <a:ext cx="4572000" cy="384048"/>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a set of states, with an initial state s-zero</a:t>
            </a:r>
            <a:endParaRPr lang="en-US" sz="1350" dirty="0"/>
          </a:p>
        </p:txBody>
      </p:sp>
      <p:sp>
        <p:nvSpPr>
          <p:cNvPr id="10" name="Shape 8"/>
          <p:cNvSpPr/>
          <p:nvPr/>
        </p:nvSpPr>
        <p:spPr>
          <a:xfrm>
            <a:off x="804672" y="2788920"/>
            <a:ext cx="1691640" cy="384048"/>
          </a:xfrm>
          <a:prstGeom prst="roundRect">
            <a:avLst>
              <a:gd name="adj" fmla="val 14286"/>
            </a:avLst>
          </a:prstGeom>
          <a:solidFill>
            <a:srgbClr val="1C7293"/>
          </a:solidFill>
          <a:ln/>
        </p:spPr>
      </p:sp>
      <p:sp>
        <p:nvSpPr>
          <p:cNvPr id="11" name="Text 9"/>
          <p:cNvSpPr/>
          <p:nvPr/>
        </p:nvSpPr>
        <p:spPr>
          <a:xfrm>
            <a:off x="804672" y="2788920"/>
            <a:ext cx="1691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A(s)</a:t>
            </a:r>
            <a:endParaRPr lang="en-US" sz="1300" dirty="0"/>
          </a:p>
        </p:txBody>
      </p:sp>
      <p:sp>
        <p:nvSpPr>
          <p:cNvPr id="12" name="Text 10"/>
          <p:cNvSpPr/>
          <p:nvPr/>
        </p:nvSpPr>
        <p:spPr>
          <a:xfrm>
            <a:off x="2651760" y="2788920"/>
            <a:ext cx="4572000" cy="384048"/>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the set of actions available in state s</a:t>
            </a:r>
            <a:endParaRPr lang="en-US" sz="1350" dirty="0"/>
          </a:p>
        </p:txBody>
      </p:sp>
      <p:sp>
        <p:nvSpPr>
          <p:cNvPr id="13" name="Shape 11"/>
          <p:cNvSpPr/>
          <p:nvPr/>
        </p:nvSpPr>
        <p:spPr>
          <a:xfrm>
            <a:off x="804672" y="3273552"/>
            <a:ext cx="1691640" cy="384048"/>
          </a:xfrm>
          <a:prstGeom prst="roundRect">
            <a:avLst>
              <a:gd name="adj" fmla="val 14286"/>
            </a:avLst>
          </a:prstGeom>
          <a:solidFill>
            <a:srgbClr val="1C7293"/>
          </a:solidFill>
          <a:ln/>
        </p:spPr>
      </p:sp>
      <p:sp>
        <p:nvSpPr>
          <p:cNvPr id="14" name="Text 12"/>
          <p:cNvSpPr/>
          <p:nvPr/>
        </p:nvSpPr>
        <p:spPr>
          <a:xfrm>
            <a:off x="804672" y="3273552"/>
            <a:ext cx="1691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P(s' | s, a)</a:t>
            </a:r>
            <a:endParaRPr lang="en-US" sz="1300" dirty="0"/>
          </a:p>
        </p:txBody>
      </p:sp>
      <p:sp>
        <p:nvSpPr>
          <p:cNvPr id="15" name="Text 13"/>
          <p:cNvSpPr/>
          <p:nvPr/>
        </p:nvSpPr>
        <p:spPr>
          <a:xfrm>
            <a:off x="2651760" y="3273552"/>
            <a:ext cx="4572000" cy="384048"/>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the transition model</a:t>
            </a:r>
            <a:endParaRPr lang="en-US" sz="1350" dirty="0"/>
          </a:p>
        </p:txBody>
      </p:sp>
      <p:sp>
        <p:nvSpPr>
          <p:cNvPr id="16" name="Shape 14"/>
          <p:cNvSpPr/>
          <p:nvPr/>
        </p:nvSpPr>
        <p:spPr>
          <a:xfrm>
            <a:off x="804672" y="3758184"/>
            <a:ext cx="1691640" cy="384048"/>
          </a:xfrm>
          <a:prstGeom prst="roundRect">
            <a:avLst>
              <a:gd name="adj" fmla="val 14286"/>
            </a:avLst>
          </a:prstGeom>
          <a:solidFill>
            <a:srgbClr val="1C7293"/>
          </a:solidFill>
          <a:ln/>
        </p:spPr>
      </p:sp>
      <p:sp>
        <p:nvSpPr>
          <p:cNvPr id="17" name="Text 15"/>
          <p:cNvSpPr/>
          <p:nvPr/>
        </p:nvSpPr>
        <p:spPr>
          <a:xfrm>
            <a:off x="804672" y="3758184"/>
            <a:ext cx="1691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R(s, a, s')</a:t>
            </a:r>
            <a:endParaRPr lang="en-US" sz="1300" dirty="0"/>
          </a:p>
        </p:txBody>
      </p:sp>
      <p:sp>
        <p:nvSpPr>
          <p:cNvPr id="18" name="Text 16"/>
          <p:cNvSpPr/>
          <p:nvPr/>
        </p:nvSpPr>
        <p:spPr>
          <a:xfrm>
            <a:off x="2651760" y="3758184"/>
            <a:ext cx="4572000" cy="384048"/>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the reward function</a:t>
            </a:r>
            <a:endParaRPr lang="en-US" sz="1350" dirty="0"/>
          </a:p>
        </p:txBody>
      </p:sp>
      <p:sp>
        <p:nvSpPr>
          <p:cNvPr id="19" name="Shape 17"/>
          <p:cNvSpPr/>
          <p:nvPr/>
        </p:nvSpPr>
        <p:spPr>
          <a:xfrm>
            <a:off x="804672" y="4242816"/>
            <a:ext cx="1691640" cy="384048"/>
          </a:xfrm>
          <a:prstGeom prst="roundRect">
            <a:avLst>
              <a:gd name="adj" fmla="val 14286"/>
            </a:avLst>
          </a:prstGeom>
          <a:solidFill>
            <a:srgbClr val="1C7293"/>
          </a:solidFill>
          <a:ln/>
        </p:spPr>
      </p:sp>
      <p:sp>
        <p:nvSpPr>
          <p:cNvPr id="20" name="Text 18"/>
          <p:cNvSpPr/>
          <p:nvPr/>
        </p:nvSpPr>
        <p:spPr>
          <a:xfrm>
            <a:off x="804672" y="4242816"/>
            <a:ext cx="169164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gamma</a:t>
            </a:r>
            <a:endParaRPr lang="en-US" sz="1300" dirty="0"/>
          </a:p>
        </p:txBody>
      </p:sp>
      <p:sp>
        <p:nvSpPr>
          <p:cNvPr id="21" name="Text 19"/>
          <p:cNvSpPr/>
          <p:nvPr/>
        </p:nvSpPr>
        <p:spPr>
          <a:xfrm>
            <a:off x="2651760" y="4242816"/>
            <a:ext cx="4572000" cy="384048"/>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the discount factor, in [0, 1]</a:t>
            </a:r>
            <a:endParaRPr lang="en-US" sz="1350" dirty="0"/>
          </a:p>
        </p:txBody>
      </p:sp>
      <p:sp>
        <p:nvSpPr>
          <p:cNvPr id="22" name="Shape 20"/>
          <p:cNvSpPr/>
          <p:nvPr/>
        </p:nvSpPr>
        <p:spPr>
          <a:xfrm>
            <a:off x="7589520" y="1444752"/>
            <a:ext cx="4023360" cy="3401568"/>
          </a:xfrm>
          <a:prstGeom prst="roundRect">
            <a:avLst>
              <a:gd name="adj" fmla="val 2419"/>
            </a:avLst>
          </a:prstGeom>
          <a:solidFill>
            <a:srgbClr val="10263B"/>
          </a:solidFill>
          <a:ln/>
          <a:effectLst>
            <a:outerShdw sx="100000" sy="100000" kx="0" ky="0" algn="bl" rotWithShape="0" blurRad="101600" dist="17780" dir="5400000">
              <a:srgbClr val="9FB2BF">
                <a:alpha val="20000"/>
              </a:srgbClr>
            </a:outerShdw>
          </a:effectLst>
        </p:spPr>
      </p:sp>
      <p:sp>
        <p:nvSpPr>
          <p:cNvPr id="23" name="Text 21"/>
          <p:cNvSpPr/>
          <p:nvPr/>
        </p:nvSpPr>
        <p:spPr>
          <a:xfrm>
            <a:off x="7808976" y="1591056"/>
            <a:ext cx="361188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The quantities we compute</a:t>
            </a:r>
            <a:endParaRPr lang="en-US" sz="1500" dirty="0"/>
          </a:p>
        </p:txBody>
      </p:sp>
      <p:sp>
        <p:nvSpPr>
          <p:cNvPr id="24" name="Text 22"/>
          <p:cNvSpPr/>
          <p:nvPr/>
        </p:nvSpPr>
        <p:spPr>
          <a:xfrm>
            <a:off x="7808976" y="2048256"/>
            <a:ext cx="3611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Policy</a:t>
            </a:r>
            <a:endParaRPr lang="en-US" sz="1350" dirty="0"/>
          </a:p>
        </p:txBody>
      </p:sp>
      <p:sp>
        <p:nvSpPr>
          <p:cNvPr id="25" name="Text 23"/>
          <p:cNvSpPr/>
          <p:nvPr/>
        </p:nvSpPr>
        <p:spPr>
          <a:xfrm>
            <a:off x="7808976" y="2304288"/>
            <a:ext cx="3611880" cy="365760"/>
          </a:xfrm>
          <a:prstGeom prst="rect">
            <a:avLst/>
          </a:prstGeom>
          <a:noFill/>
          <a:ln/>
        </p:spPr>
        <p:txBody>
          <a:bodyPr wrap="square" lIns="0" tIns="0" rIns="0" bIns="0" rtlCol="0" anchor="t"/>
          <a:lstStyle/>
          <a:p>
            <a:pPr indent="0" marL="0">
              <a:buNone/>
            </a:pPr>
            <a:r>
              <a:rPr lang="en-US" sz="1200" dirty="0">
                <a:solidFill>
                  <a:srgbClr val="A9C0CF"/>
                </a:solidFill>
                <a:latin typeface="Calibri" pitchFamily="34" charset="0"/>
                <a:ea typeface="Calibri" pitchFamily="34" charset="-122"/>
                <a:cs typeface="Calibri" pitchFamily="34" charset="-120"/>
              </a:rPr>
              <a:t>a map from states to actions</a:t>
            </a:r>
            <a:endParaRPr lang="en-US" sz="1200" dirty="0"/>
          </a:p>
        </p:txBody>
      </p:sp>
      <p:sp>
        <p:nvSpPr>
          <p:cNvPr id="26" name="Text 24"/>
          <p:cNvSpPr/>
          <p:nvPr/>
        </p:nvSpPr>
        <p:spPr>
          <a:xfrm>
            <a:off x="7808976" y="2706624"/>
            <a:ext cx="3611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Utility</a:t>
            </a:r>
            <a:endParaRPr lang="en-US" sz="1350" dirty="0"/>
          </a:p>
        </p:txBody>
      </p:sp>
      <p:sp>
        <p:nvSpPr>
          <p:cNvPr id="27" name="Text 25"/>
          <p:cNvSpPr/>
          <p:nvPr/>
        </p:nvSpPr>
        <p:spPr>
          <a:xfrm>
            <a:off x="7808976" y="2962656"/>
            <a:ext cx="3611880" cy="365760"/>
          </a:xfrm>
          <a:prstGeom prst="rect">
            <a:avLst/>
          </a:prstGeom>
          <a:noFill/>
          <a:ln/>
        </p:spPr>
        <p:txBody>
          <a:bodyPr wrap="square" lIns="0" tIns="0" rIns="0" bIns="0" rtlCol="0" anchor="t"/>
          <a:lstStyle/>
          <a:p>
            <a:pPr indent="0" marL="0">
              <a:buNone/>
            </a:pPr>
            <a:r>
              <a:rPr lang="en-US" sz="1200" dirty="0">
                <a:solidFill>
                  <a:srgbClr val="A9C0CF"/>
                </a:solidFill>
                <a:latin typeface="Calibri" pitchFamily="34" charset="0"/>
                <a:ea typeface="Calibri" pitchFamily="34" charset="-122"/>
                <a:cs typeface="Calibri" pitchFamily="34" charset="-120"/>
              </a:rPr>
              <a:t>a sum of discounted rewards along one history</a:t>
            </a:r>
            <a:endParaRPr lang="en-US" sz="1200" dirty="0"/>
          </a:p>
        </p:txBody>
      </p:sp>
      <p:sp>
        <p:nvSpPr>
          <p:cNvPr id="28" name="Text 26"/>
          <p:cNvSpPr/>
          <p:nvPr/>
        </p:nvSpPr>
        <p:spPr>
          <a:xfrm>
            <a:off x="7808976" y="3364992"/>
            <a:ext cx="3611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Value</a:t>
            </a:r>
            <a:endParaRPr lang="en-US" sz="1350" dirty="0"/>
          </a:p>
        </p:txBody>
      </p:sp>
      <p:sp>
        <p:nvSpPr>
          <p:cNvPr id="29" name="Text 27"/>
          <p:cNvSpPr/>
          <p:nvPr/>
        </p:nvSpPr>
        <p:spPr>
          <a:xfrm>
            <a:off x="7808976" y="3621024"/>
            <a:ext cx="3611880" cy="365760"/>
          </a:xfrm>
          <a:prstGeom prst="rect">
            <a:avLst/>
          </a:prstGeom>
          <a:noFill/>
          <a:ln/>
        </p:spPr>
        <p:txBody>
          <a:bodyPr wrap="square" lIns="0" tIns="0" rIns="0" bIns="0" rtlCol="0" anchor="t"/>
          <a:lstStyle/>
          <a:p>
            <a:pPr indent="0" marL="0">
              <a:buNone/>
            </a:pPr>
            <a:r>
              <a:rPr lang="en-US" sz="1200" dirty="0">
                <a:solidFill>
                  <a:srgbClr val="A9C0CF"/>
                </a:solidFill>
                <a:latin typeface="Calibri" pitchFamily="34" charset="0"/>
                <a:ea typeface="Calibri" pitchFamily="34" charset="-122"/>
                <a:cs typeface="Calibri" pitchFamily="34" charset="-120"/>
              </a:rPr>
              <a:t>expected future utility from a state (a max node)</a:t>
            </a:r>
            <a:endParaRPr lang="en-US" sz="1200" dirty="0"/>
          </a:p>
        </p:txBody>
      </p:sp>
      <p:sp>
        <p:nvSpPr>
          <p:cNvPr id="30" name="Text 28"/>
          <p:cNvSpPr/>
          <p:nvPr/>
        </p:nvSpPr>
        <p:spPr>
          <a:xfrm>
            <a:off x="7808976" y="4023360"/>
            <a:ext cx="361188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Q-value</a:t>
            </a:r>
            <a:endParaRPr lang="en-US" sz="1350" dirty="0"/>
          </a:p>
        </p:txBody>
      </p:sp>
      <p:sp>
        <p:nvSpPr>
          <p:cNvPr id="31" name="Text 29"/>
          <p:cNvSpPr/>
          <p:nvPr/>
        </p:nvSpPr>
        <p:spPr>
          <a:xfrm>
            <a:off x="7808976" y="4279392"/>
            <a:ext cx="3611880" cy="365760"/>
          </a:xfrm>
          <a:prstGeom prst="rect">
            <a:avLst/>
          </a:prstGeom>
          <a:noFill/>
          <a:ln/>
        </p:spPr>
        <p:txBody>
          <a:bodyPr wrap="square" lIns="0" tIns="0" rIns="0" bIns="0" rtlCol="0" anchor="t"/>
          <a:lstStyle/>
          <a:p>
            <a:pPr indent="0" marL="0">
              <a:buNone/>
            </a:pPr>
            <a:r>
              <a:rPr lang="en-US" sz="1200" dirty="0">
                <a:solidFill>
                  <a:srgbClr val="A9C0CF"/>
                </a:solidFill>
                <a:latin typeface="Calibri" pitchFamily="34" charset="0"/>
                <a:ea typeface="Calibri" pitchFamily="34" charset="-122"/>
                <a:cs typeface="Calibri" pitchFamily="34" charset="-120"/>
              </a:rPr>
              <a:t>expected future utility from a q-state (a chance node)</a:t>
            </a:r>
            <a:endParaRPr lang="en-US" sz="1200" dirty="0"/>
          </a:p>
        </p:txBody>
      </p:sp>
      <p:sp>
        <p:nvSpPr>
          <p:cNvPr id="32" name="Shape 30"/>
          <p:cNvSpPr/>
          <p:nvPr/>
        </p:nvSpPr>
        <p:spPr>
          <a:xfrm>
            <a:off x="566928" y="5102352"/>
            <a:ext cx="11057839" cy="868680"/>
          </a:xfrm>
          <a:prstGeom prst="roundRect">
            <a:avLst>
              <a:gd name="adj" fmla="val 9474"/>
            </a:avLst>
          </a:prstGeom>
          <a:solidFill>
            <a:srgbClr val="F5DFA8"/>
          </a:solidFill>
          <a:ln/>
        </p:spPr>
      </p:sp>
      <p:sp>
        <p:nvSpPr>
          <p:cNvPr id="33" name="Text 31"/>
          <p:cNvSpPr/>
          <p:nvPr/>
        </p:nvSpPr>
        <p:spPr>
          <a:xfrm>
            <a:off x="786384" y="5102352"/>
            <a:ext cx="10618927" cy="868680"/>
          </a:xfrm>
          <a:prstGeom prst="rect">
            <a:avLst/>
          </a:prstGeom>
          <a:noFill/>
          <a:ln/>
        </p:spPr>
        <p:txBody>
          <a:bodyPr wrap="square" lIns="0" tIns="0" rIns="0" bIns="0" rtlCol="0" anchor="ctr"/>
          <a:lstStyle/>
          <a:p>
            <a:pPr indent="0" marL="0">
              <a:buNone/>
            </a:pPr>
            <a:r>
              <a:rPr lang="en-US" sz="1400" dirty="0">
                <a:solidFill>
                  <a:srgbClr val="10263B"/>
                </a:solidFill>
                <a:latin typeface="Calibri" pitchFamily="34" charset="0"/>
                <a:ea typeface="Calibri" pitchFamily="34" charset="-122"/>
                <a:cs typeface="Calibri" pitchFamily="34" charset="-120"/>
              </a:rPr>
              <a:t>Whenever you see MDP, think: </a:t>
            </a:r>
            <a:pPr indent="0" marL="0">
              <a:buNone/>
            </a:pPr>
            <a:r>
              <a:rPr lang="en-US" sz="1400" b="1" dirty="0">
                <a:solidFill>
                  <a:srgbClr val="10263B"/>
                </a:solidFill>
                <a:latin typeface="Calibri" pitchFamily="34" charset="0"/>
                <a:ea typeface="Calibri" pitchFamily="34" charset="-122"/>
                <a:cs typeface="Calibri" pitchFamily="34" charset="-120"/>
              </a:rPr>
              <a:t>non-deterministic search</a:t>
            </a:r>
            <a:pPr indent="0" marL="0">
              <a:buNone/>
            </a:pPr>
            <a:r>
              <a:rPr lang="en-US" sz="1400" dirty="0">
                <a:solidFill>
                  <a:srgbClr val="10263B"/>
                </a:solidFill>
                <a:latin typeface="Calibri" pitchFamily="34" charset="0"/>
                <a:ea typeface="Calibri" pitchFamily="34" charset="-122"/>
                <a:cs typeface="Calibri" pitchFamily="34" charset="-120"/>
              </a:rPr>
              <a:t>.  Same states, same actions, same successor structure as Chapter 3 - only now the successor function returns a distribution instead of a state, and a reward rides along with each outcome.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Optimal policies and the utilities of states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11</a:t>
            </a:r>
            <a:endParaRPr lang="en-US" sz="900" dirty="0"/>
          </a:p>
        </p:txBody>
      </p:sp>
      <p:pic>
        <p:nvPicPr>
          <p:cNvPr id="5" name="Image 0" descr="fig_grid43.png">    </p:cNvPr>
          <p:cNvPicPr>
            <a:picLocks noChangeAspect="1"/>
          </p:cNvPicPr>
          <p:nvPr/>
        </p:nvPicPr>
        <p:blipFill>
          <a:blip r:embed="rId1"/>
          <a:srcRect l="0" r="0" t="0" b="0"/>
          <a:stretch/>
        </p:blipFill>
        <p:spPr>
          <a:xfrm>
            <a:off x="1340968" y="1444752"/>
            <a:ext cx="9509760" cy="3840480"/>
          </a:xfrm>
          <a:prstGeom prst="rect">
            <a:avLst/>
          </a:prstGeom>
        </p:spPr>
      </p:pic>
      <p:sp>
        <p:nvSpPr>
          <p:cNvPr id="6" name="Text 3"/>
          <p:cNvSpPr/>
          <p:nvPr/>
        </p:nvSpPr>
        <p:spPr>
          <a:xfrm>
            <a:off x="566928" y="5376672"/>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Utilities and an optimal policy for the 4 x 3 world, r = -0.04. Utilities rise as you approach the +1 exit, because fewer steps means less accumulated living cost.</a:t>
            </a:r>
            <a:endParaRPr lang="en-US" sz="1250" dirty="0"/>
          </a:p>
        </p:txBody>
      </p:sp>
      <p:sp>
        <p:nvSpPr>
          <p:cNvPr id="7" name="Text 4"/>
          <p:cNvSpPr/>
          <p:nvPr/>
        </p:nvSpPr>
        <p:spPr>
          <a:xfrm>
            <a:off x="566928" y="5724144"/>
            <a:ext cx="11057839" cy="502920"/>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Note (1,1): the optimal action is Up, and from (3,1) the agent goes Left - the long way around - rather than Up past the pit. There are in fact two optimal policies here, because the agent is exactly indifferent at (3,1).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A convention trap worth knowing about</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Because the textbook is inconsistent with itself here</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566928" y="1810512"/>
            <a:ext cx="5349240" cy="3017520"/>
          </a:xfrm>
          <a:prstGeom prst="roundRect">
            <a:avLst>
              <a:gd name="adj" fmla="val 2727"/>
            </a:avLst>
          </a:prstGeom>
          <a:solidFill>
            <a:srgbClr val="EDF2F5"/>
          </a:solidFill>
          <a:ln/>
          <a:effectLst>
            <a:outerShdw sx="100000" sy="100000" kx="0" ky="0" algn="bl" rotWithShape="0" blurRad="101600" dist="17780" dir="5400000">
              <a:srgbClr val="9FB2BF">
                <a:alpha val="20000"/>
              </a:srgbClr>
            </a:outerShdw>
          </a:effectLst>
        </p:spPr>
      </p:sp>
      <p:sp>
        <p:nvSpPr>
          <p:cNvPr id="7" name="Text 5"/>
          <p:cNvSpPr/>
          <p:nvPr/>
        </p:nvSpPr>
        <p:spPr>
          <a:xfrm>
            <a:off x="804672" y="1956816"/>
            <a:ext cx="4892040"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Reward on the transition</a:t>
            </a:r>
            <a:endParaRPr lang="en-US" sz="1500" dirty="0"/>
          </a:p>
        </p:txBody>
      </p:sp>
      <p:sp>
        <p:nvSpPr>
          <p:cNvPr id="8" name="Text 6"/>
          <p:cNvSpPr/>
          <p:nvPr/>
        </p:nvSpPr>
        <p:spPr>
          <a:xfrm>
            <a:off x="804672" y="2340864"/>
            <a:ext cx="4892040" cy="502920"/>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V(s) = max</a:t>
            </a:r>
            <a:pPr indent="0" marL="0">
              <a:buNone/>
            </a:pPr>
            <a:r>
              <a:rPr lang="en-US" sz="1450" b="1" baseline="-40000" dirty="0">
                <a:solidFill>
                  <a:srgbClr val="10263B"/>
                </a:solidFill>
                <a:latin typeface="Cambria" pitchFamily="34" charset="0"/>
                <a:ea typeface="Cambria" pitchFamily="34" charset="-122"/>
                <a:cs typeface="Cambria" pitchFamily="34" charset="-120"/>
              </a:rPr>
              <a:t>a</a:t>
            </a:r>
            <a:pPr indent="0" marL="0">
              <a:buNone/>
            </a:pPr>
            <a:r>
              <a:rPr lang="en-US" sz="1450" b="1" dirty="0">
                <a:solidFill>
                  <a:srgbClr val="10263B"/>
                </a:solidFill>
                <a:latin typeface="Cambria" pitchFamily="34" charset="0"/>
                <a:ea typeface="Cambria" pitchFamily="34" charset="-122"/>
                <a:cs typeface="Cambria" pitchFamily="34" charset="-120"/>
              </a:rPr>
              <a:t> Σ</a:t>
            </a:r>
            <a:pPr indent="0" marL="0">
              <a:buNone/>
            </a:pPr>
            <a:r>
              <a:rPr lang="en-US" sz="1450" b="1" baseline="-40000" dirty="0">
                <a:solidFill>
                  <a:srgbClr val="10263B"/>
                </a:solidFill>
                <a:latin typeface="Cambria" pitchFamily="34" charset="0"/>
                <a:ea typeface="Cambria" pitchFamily="34" charset="-122"/>
                <a:cs typeface="Cambria" pitchFamily="34" charset="-120"/>
              </a:rPr>
              <a:t>s'</a:t>
            </a:r>
            <a:pPr indent="0" marL="0">
              <a:buNone/>
            </a:pPr>
            <a:r>
              <a:rPr lang="en-US" sz="1450" b="1" dirty="0">
                <a:solidFill>
                  <a:srgbClr val="10263B"/>
                </a:solidFill>
                <a:latin typeface="Cambria" pitchFamily="34" charset="0"/>
                <a:ea typeface="Cambria" pitchFamily="34" charset="-122"/>
                <a:cs typeface="Cambria" pitchFamily="34" charset="-120"/>
              </a:rPr>
              <a:t> T(s,a,s')[ R(s,a,s') + γ V(s') ]</a:t>
            </a:r>
            <a:endParaRPr lang="en-US" sz="1450" dirty="0"/>
          </a:p>
        </p:txBody>
      </p:sp>
      <p:sp>
        <p:nvSpPr>
          <p:cNvPr id="9" name="Text 7"/>
          <p:cNvSpPr/>
          <p:nvPr/>
        </p:nvSpPr>
        <p:spPr>
          <a:xfrm>
            <a:off x="804672" y="2880360"/>
            <a:ext cx="4892040" cy="548640"/>
          </a:xfrm>
          <a:prstGeom prst="rect">
            <a:avLst/>
          </a:prstGeom>
          <a:noFill/>
          <a:ln/>
        </p:spPr>
        <p:txBody>
          <a:bodyPr wrap="square" lIns="0" tIns="0" rIns="0" bIns="0" rtlCol="0" anchor="t"/>
          <a:lstStyle/>
          <a:p>
            <a:pPr indent="0" marL="0">
              <a:buNone/>
            </a:pPr>
            <a:r>
              <a:rPr lang="en-US" sz="1250" dirty="0">
                <a:solidFill>
                  <a:srgbClr val="5C7080"/>
                </a:solidFill>
                <a:latin typeface="Calibri" pitchFamily="34" charset="0"/>
                <a:ea typeface="Calibri" pitchFamily="34" charset="-122"/>
                <a:cs typeface="Calibri" pitchFamily="34" charset="-120"/>
              </a:rPr>
              <a:t>What the 4th-edition text actually defines. The reward is collected as you move.</a:t>
            </a:r>
            <a:endParaRPr lang="en-US" sz="1250" dirty="0"/>
          </a:p>
        </p:txBody>
      </p:sp>
      <p:sp>
        <p:nvSpPr>
          <p:cNvPr id="10" name="Text 8"/>
          <p:cNvSpPr/>
          <p:nvPr/>
        </p:nvSpPr>
        <p:spPr>
          <a:xfrm>
            <a:off x="804672" y="3566160"/>
            <a:ext cx="4892040" cy="457200"/>
          </a:xfrm>
          <a:prstGeom prst="rect">
            <a:avLst/>
          </a:prstGeom>
          <a:noFill/>
          <a:ln/>
        </p:spPr>
        <p:txBody>
          <a:bodyPr wrap="square" lIns="0" tIns="0" rIns="0" bIns="0" rtlCol="0" anchor="ctr"/>
          <a:lstStyle/>
          <a:p>
            <a:pPr indent="0" marL="0">
              <a:buNone/>
            </a:pPr>
            <a:r>
              <a:rPr lang="en-US" sz="2000" b="1" dirty="0">
                <a:solidFill>
                  <a:srgbClr val="10263B"/>
                </a:solidFill>
                <a:latin typeface="Cambria" pitchFamily="34" charset="0"/>
                <a:ea typeface="Cambria" pitchFamily="34" charset="-122"/>
                <a:cs typeface="Cambria" pitchFamily="34" charset="-120"/>
              </a:rPr>
              <a:t>U(1,1) = 0.745</a:t>
            </a:r>
            <a:endParaRPr lang="en-US" sz="2000" dirty="0"/>
          </a:p>
        </p:txBody>
      </p:sp>
      <p:sp>
        <p:nvSpPr>
          <p:cNvPr id="11" name="Text 9"/>
          <p:cNvSpPr/>
          <p:nvPr/>
        </p:nvSpPr>
        <p:spPr>
          <a:xfrm>
            <a:off x="804672" y="4005072"/>
            <a:ext cx="4892040" cy="365760"/>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if you compute it from the stated model</a:t>
            </a:r>
            <a:endParaRPr lang="en-US" sz="1200" dirty="0"/>
          </a:p>
        </p:txBody>
      </p:sp>
      <p:sp>
        <p:nvSpPr>
          <p:cNvPr id="12" name="Shape 10"/>
          <p:cNvSpPr/>
          <p:nvPr/>
        </p:nvSpPr>
        <p:spPr>
          <a:xfrm>
            <a:off x="6291072" y="1810512"/>
            <a:ext cx="5321808" cy="3017520"/>
          </a:xfrm>
          <a:prstGeom prst="roundRect">
            <a:avLst>
              <a:gd name="adj" fmla="val 2727"/>
            </a:avLst>
          </a:prstGeom>
          <a:solidFill>
            <a:srgbClr val="EDF2F5"/>
          </a:solidFill>
          <a:ln/>
          <a:effectLst>
            <a:outerShdw sx="100000" sy="100000" kx="0" ky="0" algn="bl" rotWithShape="0" blurRad="101600" dist="17780" dir="5400000">
              <a:srgbClr val="9FB2BF">
                <a:alpha val="20000"/>
              </a:srgbClr>
            </a:outerShdw>
          </a:effectLst>
        </p:spPr>
      </p:sp>
      <p:sp>
        <p:nvSpPr>
          <p:cNvPr id="13" name="Text 11"/>
          <p:cNvSpPr/>
          <p:nvPr/>
        </p:nvSpPr>
        <p:spPr>
          <a:xfrm>
            <a:off x="6528816" y="1956816"/>
            <a:ext cx="484632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Reward at the state</a:t>
            </a:r>
            <a:endParaRPr lang="en-US" sz="1500" dirty="0"/>
          </a:p>
        </p:txBody>
      </p:sp>
      <p:sp>
        <p:nvSpPr>
          <p:cNvPr id="14" name="Text 12"/>
          <p:cNvSpPr/>
          <p:nvPr/>
        </p:nvSpPr>
        <p:spPr>
          <a:xfrm>
            <a:off x="6528816" y="2340864"/>
            <a:ext cx="4846320" cy="502920"/>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U(s) = R(s) + γ max</a:t>
            </a:r>
            <a:pPr indent="0" marL="0">
              <a:buNone/>
            </a:pPr>
            <a:r>
              <a:rPr lang="en-US" sz="1450" b="1" baseline="-40000" dirty="0">
                <a:solidFill>
                  <a:srgbClr val="10263B"/>
                </a:solidFill>
                <a:latin typeface="Cambria" pitchFamily="34" charset="0"/>
                <a:ea typeface="Cambria" pitchFamily="34" charset="-122"/>
                <a:cs typeface="Cambria" pitchFamily="34" charset="-120"/>
              </a:rPr>
              <a:t>a</a:t>
            </a:r>
            <a:pPr indent="0" marL="0">
              <a:buNone/>
            </a:pPr>
            <a:r>
              <a:rPr lang="en-US" sz="1450" b="1" dirty="0">
                <a:solidFill>
                  <a:srgbClr val="10263B"/>
                </a:solidFill>
                <a:latin typeface="Cambria" pitchFamily="34" charset="0"/>
                <a:ea typeface="Cambria" pitchFamily="34" charset="-122"/>
                <a:cs typeface="Cambria" pitchFamily="34" charset="-120"/>
              </a:rPr>
              <a:t> Σ</a:t>
            </a:r>
            <a:pPr indent="0" marL="0">
              <a:buNone/>
            </a:pPr>
            <a:r>
              <a:rPr lang="en-US" sz="1450" b="1" baseline="-40000" dirty="0">
                <a:solidFill>
                  <a:srgbClr val="10263B"/>
                </a:solidFill>
                <a:latin typeface="Cambria" pitchFamily="34" charset="0"/>
                <a:ea typeface="Cambria" pitchFamily="34" charset="-122"/>
                <a:cs typeface="Cambria" pitchFamily="34" charset="-120"/>
              </a:rPr>
              <a:t>s'</a:t>
            </a:r>
            <a:pPr indent="0" marL="0">
              <a:buNone/>
            </a:pPr>
            <a:r>
              <a:rPr lang="en-US" sz="1450" b="1" dirty="0">
                <a:solidFill>
                  <a:srgbClr val="10263B"/>
                </a:solidFill>
                <a:latin typeface="Cambria" pitchFamily="34" charset="0"/>
                <a:ea typeface="Cambria" pitchFamily="34" charset="-122"/>
                <a:cs typeface="Cambria" pitchFamily="34" charset="-120"/>
              </a:rPr>
              <a:t> P(s'|s,a) U(s')</a:t>
            </a:r>
            <a:endParaRPr lang="en-US" sz="1450" dirty="0"/>
          </a:p>
        </p:txBody>
      </p:sp>
      <p:sp>
        <p:nvSpPr>
          <p:cNvPr id="15" name="Text 13"/>
          <p:cNvSpPr/>
          <p:nvPr/>
        </p:nvSpPr>
        <p:spPr>
          <a:xfrm>
            <a:off x="6528816" y="2880360"/>
            <a:ext cx="4846320" cy="548640"/>
          </a:xfrm>
          <a:prstGeom prst="rect">
            <a:avLst/>
          </a:prstGeom>
          <a:noFill/>
          <a:ln/>
        </p:spPr>
        <p:txBody>
          <a:bodyPr wrap="square" lIns="0" tIns="0" rIns="0" bIns="0" rtlCol="0" anchor="t"/>
          <a:lstStyle/>
          <a:p>
            <a:pPr indent="0" marL="0">
              <a:buNone/>
            </a:pPr>
            <a:r>
              <a:rPr lang="en-US" sz="1250" dirty="0">
                <a:solidFill>
                  <a:srgbClr val="5C7080"/>
                </a:solidFill>
                <a:latin typeface="Calibri" pitchFamily="34" charset="0"/>
                <a:ea typeface="Calibri" pitchFamily="34" charset="-122"/>
                <a:cs typeface="Calibri" pitchFamily="34" charset="-120"/>
              </a:rPr>
              <a:t>The older convention the book's Figure 17.3 was drawn in. You are paid for occupying a state.</a:t>
            </a:r>
            <a:endParaRPr lang="en-US" sz="1250" dirty="0"/>
          </a:p>
        </p:txBody>
      </p:sp>
      <p:sp>
        <p:nvSpPr>
          <p:cNvPr id="16" name="Text 14"/>
          <p:cNvSpPr/>
          <p:nvPr/>
        </p:nvSpPr>
        <p:spPr>
          <a:xfrm>
            <a:off x="6528816" y="3566160"/>
            <a:ext cx="4846320" cy="457200"/>
          </a:xfrm>
          <a:prstGeom prst="rect">
            <a:avLst/>
          </a:prstGeom>
          <a:noFill/>
          <a:ln/>
        </p:spPr>
        <p:txBody>
          <a:bodyPr wrap="square" lIns="0" tIns="0" rIns="0" bIns="0" rtlCol="0" anchor="ctr"/>
          <a:lstStyle/>
          <a:p>
            <a:pPr indent="0" marL="0">
              <a:buNone/>
            </a:pPr>
            <a:r>
              <a:rPr lang="en-US" sz="2000" b="1" dirty="0">
                <a:solidFill>
                  <a:srgbClr val="10263B"/>
                </a:solidFill>
                <a:latin typeface="Cambria" pitchFamily="34" charset="0"/>
                <a:ea typeface="Cambria" pitchFamily="34" charset="-122"/>
                <a:cs typeface="Cambria" pitchFamily="34" charset="-120"/>
              </a:rPr>
              <a:t>U(1,1) = 0.705</a:t>
            </a:r>
            <a:endParaRPr lang="en-US" sz="2000" dirty="0"/>
          </a:p>
        </p:txBody>
      </p:sp>
      <p:sp>
        <p:nvSpPr>
          <p:cNvPr id="17" name="Text 15"/>
          <p:cNvSpPr/>
          <p:nvPr/>
        </p:nvSpPr>
        <p:spPr>
          <a:xfrm>
            <a:off x="6528816" y="4005072"/>
            <a:ext cx="4846320" cy="365760"/>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the number printed in Figure 17.3</a:t>
            </a:r>
            <a:endParaRPr lang="en-US" sz="1200" dirty="0"/>
          </a:p>
        </p:txBody>
      </p:sp>
      <p:sp>
        <p:nvSpPr>
          <p:cNvPr id="18" name="Shape 16"/>
          <p:cNvSpPr/>
          <p:nvPr/>
        </p:nvSpPr>
        <p:spPr>
          <a:xfrm>
            <a:off x="566928" y="5074920"/>
            <a:ext cx="11057839" cy="960120"/>
          </a:xfrm>
          <a:prstGeom prst="roundRect">
            <a:avLst>
              <a:gd name="adj" fmla="val 8571"/>
            </a:avLst>
          </a:prstGeom>
          <a:solidFill>
            <a:srgbClr val="10263B"/>
          </a:solidFill>
          <a:ln/>
          <a:effectLst>
            <a:outerShdw sx="100000" sy="100000" kx="0" ky="0" algn="bl" rotWithShape="0" blurRad="101600" dist="17780" dir="5400000">
              <a:srgbClr val="9FB2BF">
                <a:alpha val="20000"/>
              </a:srgbClr>
            </a:outerShdw>
          </a:effectLst>
        </p:spPr>
      </p:sp>
      <p:sp>
        <p:nvSpPr>
          <p:cNvPr id="19" name="Text 17"/>
          <p:cNvSpPr/>
          <p:nvPr/>
        </p:nvSpPr>
        <p:spPr>
          <a:xfrm>
            <a:off x="822960" y="5074920"/>
            <a:ext cx="10545775" cy="960120"/>
          </a:xfrm>
          <a:prstGeom prst="rect">
            <a:avLst/>
          </a:prstGeom>
          <a:noFill/>
          <a:ln/>
        </p:spPr>
        <p:txBody>
          <a:bodyPr wrap="square" lIns="0" tIns="0" rIns="0" bIns="0" rtlCol="0" anchor="ctr"/>
          <a:lstStyle/>
          <a:p>
            <a:pPr indent="0" marL="0">
              <a:buNone/>
            </a:pPr>
            <a:r>
              <a:rPr lang="en-US" sz="1350" b="1" dirty="0">
                <a:solidFill>
                  <a:srgbClr val="E0A32E"/>
                </a:solidFill>
                <a:latin typeface="Calibri" pitchFamily="34" charset="0"/>
                <a:ea typeface="Calibri" pitchFamily="34" charset="-122"/>
                <a:cs typeface="Calibri" pitchFamily="34" charset="-120"/>
              </a:rPr>
              <a:t>The gap is exactly r, on every non-terminal state.  </a:t>
            </a:r>
            <a:pPr indent="0" marL="0">
              <a:buNone/>
            </a:pPr>
            <a:r>
              <a:rPr lang="en-US" sz="1350" dirty="0">
                <a:solidFill>
                  <a:srgbClr val="DCE7EE"/>
                </a:solidFill>
                <a:latin typeface="Calibri" pitchFamily="34" charset="0"/>
                <a:ea typeface="Calibri" pitchFamily="34" charset="-122"/>
                <a:cs typeface="Calibri" pitchFamily="34" charset="-120"/>
              </a:rPr>
              <a:t>Both conventions give the same optimal policy - an additive constant cannot change an argmax. On the exam I will always state which convention is in force. In your own write-ups, state yours.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Behavior is a function of the living reward</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13</a:t>
            </a:r>
            <a:endParaRPr lang="en-US" sz="900" dirty="0"/>
          </a:p>
        </p:txBody>
      </p:sp>
      <p:pic>
        <p:nvPicPr>
          <p:cNvPr id="5" name="Image 0" descr="fig_rranges.png">    </p:cNvPr>
          <p:cNvPicPr>
            <a:picLocks noChangeAspect="1"/>
          </p:cNvPicPr>
          <p:nvPr/>
        </p:nvPicPr>
        <p:blipFill>
          <a:blip r:embed="rId1"/>
          <a:srcRect l="0" r="0" t="0" b="0"/>
          <a:stretch/>
        </p:blipFill>
        <p:spPr>
          <a:xfrm>
            <a:off x="609448" y="1600200"/>
            <a:ext cx="10972800" cy="3246120"/>
          </a:xfrm>
          <a:prstGeom prst="rect">
            <a:avLst/>
          </a:prstGeom>
        </p:spPr>
      </p:pic>
      <p:sp>
        <p:nvSpPr>
          <p:cNvPr id="6" name="Text 3"/>
          <p:cNvSpPr/>
          <p:nvPr/>
        </p:nvSpPr>
        <p:spPr>
          <a:xfrm>
            <a:off x="566928" y="4937760"/>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Optimal policies for four ranges of r. The transition structure never changes - only the number you get paid per step.</a:t>
            </a:r>
            <a:endParaRPr lang="en-US" sz="1250" dirty="0"/>
          </a:p>
        </p:txBody>
      </p:sp>
      <p:sp>
        <p:nvSpPr>
          <p:cNvPr id="7" name="Shape 4"/>
          <p:cNvSpPr/>
          <p:nvPr/>
        </p:nvSpPr>
        <p:spPr>
          <a:xfrm>
            <a:off x="566928" y="5230368"/>
            <a:ext cx="11057839" cy="868680"/>
          </a:xfrm>
          <a:prstGeom prst="roundRect">
            <a:avLst>
              <a:gd name="adj" fmla="val 9474"/>
            </a:avLst>
          </a:prstGeom>
          <a:solidFill>
            <a:srgbClr val="EDF2F5"/>
          </a:solidFill>
          <a:ln/>
          <a:effectLst>
            <a:outerShdw sx="100000" sy="100000" kx="0" ky="0" algn="bl" rotWithShape="0" blurRad="101600" dist="17780" dir="5400000">
              <a:srgbClr val="9FB2BF">
                <a:alpha val="20000"/>
              </a:srgbClr>
            </a:outerShdw>
          </a:effectLst>
        </p:spPr>
      </p:sp>
      <p:sp>
        <p:nvSpPr>
          <p:cNvPr id="8" name="Text 5"/>
          <p:cNvSpPr/>
          <p:nvPr/>
        </p:nvSpPr>
        <p:spPr>
          <a:xfrm>
            <a:off x="786384" y="5230368"/>
            <a:ext cx="10618927" cy="868680"/>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Left to right:  </a:t>
            </a:r>
            <a:pPr indent="0" marL="0">
              <a:buNone/>
            </a:pPr>
            <a:r>
              <a:rPr lang="en-US" sz="1250" dirty="0">
                <a:solidFill>
                  <a:srgbClr val="10263B"/>
                </a:solidFill>
                <a:latin typeface="Calibri" pitchFamily="34" charset="0"/>
                <a:ea typeface="Calibri" pitchFamily="34" charset="-122"/>
                <a:cs typeface="Calibri" pitchFamily="34" charset="-120"/>
              </a:rPr>
              <a:t>life is so painful that any exit will do, even the -1  |  life is unpleasant enough that from (4,1) the agent dives into the -1 rather than pay for the long trip  |  life is only slightly dreary, so the agent takes no risks and even bangs its head on walls to stay clear of the pit  |  life is enjoyable, so the agent avoids both exits forever and collects infinite reward.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14</a:t>
            </a:r>
            <a:endParaRPr lang="en-US" sz="900" dirty="0"/>
          </a:p>
        </p:txBody>
      </p:sp>
      <p:sp>
        <p:nvSpPr>
          <p:cNvPr id="4" name="Text 2"/>
          <p:cNvSpPr/>
          <p:nvPr/>
        </p:nvSpPr>
        <p:spPr>
          <a:xfrm>
            <a:off x="566928" y="1417320"/>
            <a:ext cx="2926080" cy="1463040"/>
          </a:xfrm>
          <a:prstGeom prst="rect">
            <a:avLst/>
          </a:prstGeom>
          <a:noFill/>
          <a:ln/>
        </p:spPr>
        <p:txBody>
          <a:bodyPr wrap="square" lIns="0" tIns="0" rIns="0" bIns="0" rtlCol="0" anchor="ctr"/>
          <a:lstStyle/>
          <a:p>
            <a:pPr indent="0" marL="0">
              <a:buNone/>
            </a:pPr>
            <a:r>
              <a:rPr lang="en-US" sz="9600" b="1" dirty="0">
                <a:solidFill>
                  <a:srgbClr val="E0A32E"/>
                </a:solidFill>
                <a:latin typeface="Cambria" pitchFamily="34" charset="0"/>
                <a:ea typeface="Cambria" pitchFamily="34" charset="-122"/>
                <a:cs typeface="Cambria" pitchFamily="34" charset="-120"/>
              </a:rPr>
              <a:t>02</a:t>
            </a:r>
            <a:endParaRPr lang="en-US" sz="9600" dirty="0"/>
          </a:p>
        </p:txBody>
      </p:sp>
      <p:sp>
        <p:nvSpPr>
          <p:cNvPr id="5" name="Text 3"/>
          <p:cNvSpPr/>
          <p:nvPr/>
        </p:nvSpPr>
        <p:spPr>
          <a:xfrm>
            <a:off x="566928" y="2880360"/>
            <a:ext cx="768096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Utilities Over Time</a:t>
            </a:r>
            <a:endParaRPr lang="en-US" sz="3800" dirty="0"/>
          </a:p>
        </p:txBody>
      </p:sp>
      <p:sp>
        <p:nvSpPr>
          <p:cNvPr id="6" name="Text 4"/>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6FA8BE"/>
                </a:solidFill>
                <a:latin typeface="Calibri" pitchFamily="34" charset="0"/>
                <a:ea typeface="Calibri" pitchFamily="34" charset="-122"/>
                <a:cs typeface="Calibri" pitchFamily="34" charset="-120"/>
              </a:rPr>
              <a:t>AIMA 17.1.1  |  Why we discount, and what goes wrong if we do not</a:t>
            </a:r>
            <a:endParaRPr lang="en-US" sz="1600" dirty="0"/>
          </a:p>
        </p:txBody>
      </p:sp>
      <p:sp>
        <p:nvSpPr>
          <p:cNvPr id="7" name="Text 5"/>
          <p:cNvSpPr/>
          <p:nvPr/>
        </p:nvSpPr>
        <p:spPr>
          <a:xfrm>
            <a:off x="8549640" y="2834640"/>
            <a:ext cx="310896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Finite vs infinite horizon</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Stationary preferences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Additive discounted rewards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Taming infinite utilities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The utility of a state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First question: is there a deadline?</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15</a:t>
            </a:r>
            <a:endParaRPr lang="en-US" sz="900" dirty="0"/>
          </a:p>
        </p:txBody>
      </p:sp>
      <p:sp>
        <p:nvSpPr>
          <p:cNvPr id="5" name="Shape 3"/>
          <p:cNvSpPr/>
          <p:nvPr/>
        </p:nvSpPr>
        <p:spPr>
          <a:xfrm>
            <a:off x="566928" y="1481328"/>
            <a:ext cx="5394960" cy="3611880"/>
          </a:xfrm>
          <a:prstGeom prst="roundRect">
            <a:avLst>
              <a:gd name="adj" fmla="val 2278"/>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22960" y="1627632"/>
            <a:ext cx="4892040" cy="365760"/>
          </a:xfrm>
          <a:prstGeom prst="rect">
            <a:avLst/>
          </a:prstGeom>
          <a:noFill/>
          <a:ln/>
        </p:spPr>
        <p:txBody>
          <a:bodyPr wrap="square" lIns="0" tIns="0" rIns="0" bIns="0" rtlCol="0" anchor="ctr"/>
          <a:lstStyle/>
          <a:p>
            <a:pPr indent="0" marL="0">
              <a:buNone/>
            </a:pPr>
            <a:r>
              <a:rPr lang="en-US" sz="1800" b="1" dirty="0">
                <a:solidFill>
                  <a:srgbClr val="B3341F"/>
                </a:solidFill>
                <a:latin typeface="Cambria" pitchFamily="34" charset="0"/>
                <a:ea typeface="Cambria" pitchFamily="34" charset="-122"/>
                <a:cs typeface="Cambria" pitchFamily="34" charset="-120"/>
              </a:rPr>
              <a:t>Finite horizon</a:t>
            </a:r>
            <a:endParaRPr lang="en-US" sz="1800" dirty="0"/>
          </a:p>
        </p:txBody>
      </p:sp>
      <p:sp>
        <p:nvSpPr>
          <p:cNvPr id="7" name="Text 5"/>
          <p:cNvSpPr/>
          <p:nvPr/>
        </p:nvSpPr>
        <p:spPr>
          <a:xfrm>
            <a:off x="822960" y="2029968"/>
            <a:ext cx="4892040" cy="502920"/>
          </a:xfrm>
          <a:prstGeom prst="rect">
            <a:avLst/>
          </a:prstGeom>
          <a:noFill/>
          <a:ln/>
        </p:spPr>
        <p:txBody>
          <a:bodyPr wrap="square" lIns="0" tIns="0" rIns="0" bIns="0" rtlCol="0" anchor="t"/>
          <a:lstStyle/>
          <a:p>
            <a:pPr indent="0" marL="0">
              <a:buNone/>
            </a:pPr>
            <a:r>
              <a:rPr lang="en-US" sz="1350" dirty="0">
                <a:solidFill>
                  <a:srgbClr val="10263B"/>
                </a:solidFill>
                <a:latin typeface="Calibri" pitchFamily="34" charset="0"/>
                <a:ea typeface="Calibri" pitchFamily="34" charset="-122"/>
                <a:cs typeface="Calibri" pitchFamily="34" charset="-120"/>
              </a:rPr>
              <a:t>There is a fixed time N after which nothing matters. The game is simply over.</a:t>
            </a:r>
            <a:endParaRPr lang="en-US" sz="1350" dirty="0"/>
          </a:p>
        </p:txBody>
      </p:sp>
      <p:sp>
        <p:nvSpPr>
          <p:cNvPr id="8" name="Text 6"/>
          <p:cNvSpPr/>
          <p:nvPr/>
        </p:nvSpPr>
        <p:spPr>
          <a:xfrm>
            <a:off x="822960" y="2615184"/>
            <a:ext cx="4892040" cy="566928"/>
          </a:xfrm>
          <a:prstGeom prst="rect">
            <a:avLst/>
          </a:prstGeom>
          <a:noFill/>
          <a:ln/>
        </p:spPr>
        <p:txBody>
          <a:bodyPr wrap="square" lIns="0" tIns="0" rIns="0" bIns="0" rtlCol="0" anchor="t"/>
          <a:lstStyle/>
          <a:p>
            <a:pPr indent="0" marL="0">
              <a:buNone/>
            </a:pPr>
            <a:r>
              <a:rPr lang="en-US" sz="1300" dirty="0">
                <a:solidFill>
                  <a:srgbClr val="5C7080"/>
                </a:solidFill>
                <a:latin typeface="Calibri" pitchFamily="34" charset="0"/>
                <a:ea typeface="Calibri" pitchFamily="34" charset="-122"/>
                <a:cs typeface="Calibri" pitchFamily="34" charset="-120"/>
              </a:rPr>
              <a:t>Start at (3,1) with N = 3: the agent must head straight for the gem, so the optimal action is Up.</a:t>
            </a:r>
            <a:endParaRPr lang="en-US" sz="1300" dirty="0"/>
          </a:p>
        </p:txBody>
      </p:sp>
      <p:sp>
        <p:nvSpPr>
          <p:cNvPr id="9" name="Text 7"/>
          <p:cNvSpPr/>
          <p:nvPr/>
        </p:nvSpPr>
        <p:spPr>
          <a:xfrm>
            <a:off x="822960" y="3218688"/>
            <a:ext cx="4892040" cy="566928"/>
          </a:xfrm>
          <a:prstGeom prst="rect">
            <a:avLst/>
          </a:prstGeom>
          <a:noFill/>
          <a:ln/>
        </p:spPr>
        <p:txBody>
          <a:bodyPr wrap="square" lIns="0" tIns="0" rIns="0" bIns="0" rtlCol="0" anchor="t"/>
          <a:lstStyle/>
          <a:p>
            <a:pPr indent="0" marL="0">
              <a:buNone/>
            </a:pPr>
            <a:r>
              <a:rPr lang="en-US" sz="1300" dirty="0">
                <a:solidFill>
                  <a:srgbClr val="5C7080"/>
                </a:solidFill>
                <a:latin typeface="Calibri" pitchFamily="34" charset="0"/>
                <a:ea typeface="Calibri" pitchFamily="34" charset="-122"/>
                <a:cs typeface="Calibri" pitchFamily="34" charset="-120"/>
              </a:rPr>
              <a:t>Start at (3,1) with N = 100: there is plenty of time, so take the safe route and go Left.</a:t>
            </a:r>
            <a:endParaRPr lang="en-US" sz="1300" dirty="0"/>
          </a:p>
        </p:txBody>
      </p:sp>
      <p:sp>
        <p:nvSpPr>
          <p:cNvPr id="10" name="Shape 8"/>
          <p:cNvSpPr/>
          <p:nvPr/>
        </p:nvSpPr>
        <p:spPr>
          <a:xfrm>
            <a:off x="822960" y="3895344"/>
            <a:ext cx="4892040" cy="1005840"/>
          </a:xfrm>
          <a:prstGeom prst="roundRect">
            <a:avLst>
              <a:gd name="adj" fmla="val 8182"/>
            </a:avLst>
          </a:prstGeom>
          <a:solidFill>
            <a:srgbClr val="B3341F"/>
          </a:solidFill>
          <a:ln/>
        </p:spPr>
      </p:sp>
      <p:sp>
        <p:nvSpPr>
          <p:cNvPr id="11" name="Text 9"/>
          <p:cNvSpPr/>
          <p:nvPr/>
        </p:nvSpPr>
        <p:spPr>
          <a:xfrm>
            <a:off x="1005840" y="3895344"/>
            <a:ext cx="4526280" cy="100584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The optimal action depends on how much time is left. A policy that depends on time is called nonstationary - you need a different policy for every remaining horizon.</a:t>
            </a:r>
            <a:endParaRPr lang="en-US" sz="1250" dirty="0"/>
          </a:p>
        </p:txBody>
      </p:sp>
      <p:sp>
        <p:nvSpPr>
          <p:cNvPr id="12" name="Shape 10"/>
          <p:cNvSpPr/>
          <p:nvPr/>
        </p:nvSpPr>
        <p:spPr>
          <a:xfrm>
            <a:off x="6236208" y="1481328"/>
            <a:ext cx="5376672" cy="3611880"/>
          </a:xfrm>
          <a:prstGeom prst="roundRect">
            <a:avLst>
              <a:gd name="adj" fmla="val 2278"/>
            </a:avLst>
          </a:prstGeom>
          <a:solidFill>
            <a:srgbClr val="EDF2F5"/>
          </a:solidFill>
          <a:ln/>
          <a:effectLst>
            <a:outerShdw sx="100000" sy="100000" kx="0" ky="0" algn="bl" rotWithShape="0" blurRad="101600" dist="17780" dir="5400000">
              <a:srgbClr val="9FB2BF">
                <a:alpha val="20000"/>
              </a:srgbClr>
            </a:outerShdw>
          </a:effectLst>
        </p:spPr>
      </p:sp>
      <p:sp>
        <p:nvSpPr>
          <p:cNvPr id="13" name="Text 11"/>
          <p:cNvSpPr/>
          <p:nvPr/>
        </p:nvSpPr>
        <p:spPr>
          <a:xfrm>
            <a:off x="6492240" y="1627632"/>
            <a:ext cx="4864608" cy="365760"/>
          </a:xfrm>
          <a:prstGeom prst="rect">
            <a:avLst/>
          </a:prstGeom>
          <a:noFill/>
          <a:ln/>
        </p:spPr>
        <p:txBody>
          <a:bodyPr wrap="square" lIns="0" tIns="0" rIns="0" bIns="0" rtlCol="0" anchor="ctr"/>
          <a:lstStyle/>
          <a:p>
            <a:pPr indent="0" marL="0">
              <a:buNone/>
            </a:pPr>
            <a:r>
              <a:rPr lang="en-US" sz="1800" b="1" dirty="0">
                <a:solidFill>
                  <a:srgbClr val="2E7D5B"/>
                </a:solidFill>
                <a:latin typeface="Cambria" pitchFamily="34" charset="0"/>
                <a:ea typeface="Cambria" pitchFamily="34" charset="-122"/>
                <a:cs typeface="Cambria" pitchFamily="34" charset="-120"/>
              </a:rPr>
              <a:t>Infinite horizon</a:t>
            </a:r>
            <a:endParaRPr lang="en-US" sz="1800" dirty="0"/>
          </a:p>
        </p:txBody>
      </p:sp>
      <p:sp>
        <p:nvSpPr>
          <p:cNvPr id="14" name="Text 12"/>
          <p:cNvSpPr/>
          <p:nvPr/>
        </p:nvSpPr>
        <p:spPr>
          <a:xfrm>
            <a:off x="6492240" y="2029968"/>
            <a:ext cx="4864608" cy="502920"/>
          </a:xfrm>
          <a:prstGeom prst="rect">
            <a:avLst/>
          </a:prstGeom>
          <a:noFill/>
          <a:ln/>
        </p:spPr>
        <p:txBody>
          <a:bodyPr wrap="square" lIns="0" tIns="0" rIns="0" bIns="0" rtlCol="0" anchor="t"/>
          <a:lstStyle/>
          <a:p>
            <a:pPr indent="0" marL="0">
              <a:buNone/>
            </a:pPr>
            <a:r>
              <a:rPr lang="en-US" sz="1350" dirty="0">
                <a:solidFill>
                  <a:srgbClr val="10263B"/>
                </a:solidFill>
                <a:latin typeface="Calibri" pitchFamily="34" charset="0"/>
                <a:ea typeface="Calibri" pitchFamily="34" charset="-122"/>
                <a:cs typeface="Calibri" pitchFamily="34" charset="-120"/>
              </a:rPr>
              <a:t>No fixed deadline. There is then no reason to behave differently in the same state at different times.</a:t>
            </a:r>
            <a:endParaRPr lang="en-US" sz="1350" dirty="0"/>
          </a:p>
        </p:txBody>
      </p:sp>
      <p:sp>
        <p:nvSpPr>
          <p:cNvPr id="15" name="Text 13"/>
          <p:cNvSpPr/>
          <p:nvPr/>
        </p:nvSpPr>
        <p:spPr>
          <a:xfrm>
            <a:off x="6492240" y="2615184"/>
            <a:ext cx="4864608" cy="731520"/>
          </a:xfrm>
          <a:prstGeom prst="rect">
            <a:avLst/>
          </a:prstGeom>
          <a:noFill/>
          <a:ln/>
        </p:spPr>
        <p:txBody>
          <a:bodyPr wrap="square" lIns="0" tIns="0" rIns="0" bIns="0" rtlCol="0" anchor="t"/>
          <a:lstStyle/>
          <a:p>
            <a:pPr indent="0" marL="0">
              <a:buNone/>
            </a:pPr>
            <a:r>
              <a:rPr lang="en-US" sz="1300" dirty="0">
                <a:solidFill>
                  <a:srgbClr val="5C7080"/>
                </a:solidFill>
                <a:latin typeface="Calibri" pitchFamily="34" charset="0"/>
                <a:ea typeface="Calibri" pitchFamily="34" charset="-122"/>
                <a:cs typeface="Calibri" pitchFamily="34" charset="-120"/>
              </a:rPr>
              <a:t>So the optimal action depends only on the current state, and the optimal policy is stationary: one action recommendation per state, good forever.</a:t>
            </a:r>
            <a:endParaRPr lang="en-US" sz="1300" dirty="0"/>
          </a:p>
        </p:txBody>
      </p:sp>
      <p:sp>
        <p:nvSpPr>
          <p:cNvPr id="16" name="Text 14"/>
          <p:cNvSpPr/>
          <p:nvPr/>
        </p:nvSpPr>
        <p:spPr>
          <a:xfrm>
            <a:off x="6492240" y="3346704"/>
            <a:ext cx="4864608" cy="640080"/>
          </a:xfrm>
          <a:prstGeom prst="rect">
            <a:avLst/>
          </a:prstGeom>
          <a:noFill/>
          <a:ln/>
        </p:spPr>
        <p:txBody>
          <a:bodyPr wrap="square" lIns="0" tIns="0" rIns="0" bIns="0" rtlCol="0" anchor="t"/>
          <a:lstStyle/>
          <a:p>
            <a:pPr indent="0" marL="0">
              <a:buNone/>
            </a:pPr>
            <a:r>
              <a:rPr lang="en-US" sz="1250" i="1" dirty="0">
                <a:solidFill>
                  <a:srgbClr val="5C7080"/>
                </a:solidFill>
                <a:latin typeface="Calibri" pitchFamily="34" charset="0"/>
                <a:ea typeface="Calibri" pitchFamily="34" charset="-122"/>
                <a:cs typeface="Calibri" pitchFamily="34" charset="-120"/>
              </a:rPr>
              <a:t>Careful: infinite horizon does not mean every episode is infinitely long. It means there is no fixed deadline. An infinite-horizon MDP can still contain terminal states.</a:t>
            </a:r>
            <a:endParaRPr lang="en-US" sz="1250" dirty="0"/>
          </a:p>
        </p:txBody>
      </p:sp>
      <p:sp>
        <p:nvSpPr>
          <p:cNvPr id="17" name="Shape 15"/>
          <p:cNvSpPr/>
          <p:nvPr/>
        </p:nvSpPr>
        <p:spPr>
          <a:xfrm>
            <a:off x="6492240" y="4059936"/>
            <a:ext cx="4864608" cy="841248"/>
          </a:xfrm>
          <a:prstGeom prst="roundRect">
            <a:avLst>
              <a:gd name="adj" fmla="val 9783"/>
            </a:avLst>
          </a:prstGeom>
          <a:solidFill>
            <a:srgbClr val="2E7D5B"/>
          </a:solidFill>
          <a:ln/>
        </p:spPr>
      </p:sp>
      <p:sp>
        <p:nvSpPr>
          <p:cNvPr id="18" name="Text 16"/>
          <p:cNvSpPr/>
          <p:nvPr/>
        </p:nvSpPr>
        <p:spPr>
          <a:xfrm>
            <a:off x="6675120" y="4059936"/>
            <a:ext cx="4498848" cy="84124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This is the case we work in for the rest of the chapter. It is strictly simpler.</a:t>
            </a:r>
            <a:endParaRPr lang="en-US" sz="1250" dirty="0"/>
          </a:p>
        </p:txBody>
      </p:sp>
      <p:sp>
        <p:nvSpPr>
          <p:cNvPr id="19" name="Text 17"/>
          <p:cNvSpPr/>
          <p:nvPr/>
        </p:nvSpPr>
        <p:spPr>
          <a:xfrm>
            <a:off x="566928" y="5349240"/>
            <a:ext cx="11057839" cy="457200"/>
          </a:xfrm>
          <a:prstGeom prst="rect">
            <a:avLst/>
          </a:prstGeom>
          <a:noFill/>
          <a:ln/>
        </p:spPr>
        <p:txBody>
          <a:bodyPr wrap="square" lIns="0" tIns="0" rIns="0" bIns="0" rtlCol="0" anchor="ctr"/>
          <a:lstStyle/>
          <a:p>
            <a:pPr indent="0" marL="0">
              <a:buNone/>
            </a:pPr>
            <a:r>
              <a:rPr lang="en-US" sz="1450" i="1" dirty="0">
                <a:solidFill>
                  <a:srgbClr val="10263B"/>
                </a:solidFill>
                <a:latin typeface="Calibri" pitchFamily="34" charset="0"/>
                <a:ea typeface="Calibri" pitchFamily="34" charset="-122"/>
                <a:cs typeface="Calibri" pitchFamily="34" charset="-120"/>
              </a:rPr>
              <a:t>Every algorithm we build today assumes stationarity. That is why a policy can be a plain lookup table from states to actions, with no clock in it.</a:t>
            </a:r>
            <a:endParaRPr lang="en-US" sz="14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Second question: how do we score a whole history?</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16</a:t>
            </a:r>
            <a:endParaRPr lang="en-US" sz="900" dirty="0"/>
          </a:p>
        </p:txBody>
      </p:sp>
      <p:sp>
        <p:nvSpPr>
          <p:cNvPr id="5" name="Text 3"/>
          <p:cNvSpPr/>
          <p:nvPr/>
        </p:nvSpPr>
        <p:spPr>
          <a:xfrm>
            <a:off x="566928" y="1417320"/>
            <a:ext cx="11057839" cy="365760"/>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A history is a sequence of states and actions. Its utility is written U-h. We will use additive discounted rewards:</a:t>
            </a:r>
            <a:endParaRPr lang="en-US" sz="1500" dirty="0"/>
          </a:p>
        </p:txBody>
      </p:sp>
      <p:sp>
        <p:nvSpPr>
          <p:cNvPr id="6" name="Shape 4"/>
          <p:cNvSpPr/>
          <p:nvPr/>
        </p:nvSpPr>
        <p:spPr>
          <a:xfrm>
            <a:off x="566928" y="1847088"/>
            <a:ext cx="11057839" cy="841248"/>
          </a:xfrm>
          <a:prstGeom prst="roundRect">
            <a:avLst>
              <a:gd name="adj" fmla="val 6522"/>
            </a:avLst>
          </a:prstGeom>
          <a:solidFill>
            <a:srgbClr val="F7FAFB"/>
          </a:solidFill>
          <a:ln w="12700">
            <a:solidFill>
              <a:srgbClr val="D3DDE3"/>
            </a:solidFill>
            <a:prstDash val="solid"/>
          </a:ln>
        </p:spPr>
      </p:sp>
      <p:sp>
        <p:nvSpPr>
          <p:cNvPr id="7" name="Text 5"/>
          <p:cNvSpPr/>
          <p:nvPr/>
        </p:nvSpPr>
        <p:spPr>
          <a:xfrm>
            <a:off x="676656" y="1847088"/>
            <a:ext cx="10838383" cy="841248"/>
          </a:xfrm>
          <a:prstGeom prst="rect">
            <a:avLst/>
          </a:prstGeom>
          <a:noFill/>
          <a:ln/>
        </p:spPr>
        <p:txBody>
          <a:bodyPr wrap="square" lIns="0" tIns="0" rIns="0" bIns="0" rtlCol="0" anchor="ctr"/>
          <a:lstStyle/>
          <a:p>
            <a:pPr algn="ctr" indent="0" marL="0">
              <a:buNone/>
            </a:pPr>
            <a:r>
              <a:rPr lang="en-US" sz="1700" b="1" dirty="0">
                <a:solidFill>
                  <a:srgbClr val="10263B"/>
                </a:solidFill>
                <a:latin typeface="Cambria" pitchFamily="34" charset="0"/>
                <a:ea typeface="Cambria" pitchFamily="34" charset="-122"/>
                <a:cs typeface="Cambria" pitchFamily="34" charset="-120"/>
              </a:rPr>
              <a:t>U</a:t>
            </a:r>
            <a:pPr algn="ctr" indent="0" marL="0">
              <a:buNone/>
            </a:pPr>
            <a:r>
              <a:rPr lang="en-US" sz="1700" b="1" baseline="-40000" dirty="0">
                <a:solidFill>
                  <a:srgbClr val="10263B"/>
                </a:solidFill>
                <a:latin typeface="Cambria" pitchFamily="34" charset="0"/>
                <a:ea typeface="Cambria" pitchFamily="34" charset="-122"/>
                <a:cs typeface="Cambria" pitchFamily="34" charset="-120"/>
              </a:rPr>
              <a:t>h</a:t>
            </a:r>
            <a:pPr algn="ctr" indent="0" marL="0">
              <a:buNone/>
            </a:pPr>
            <a:r>
              <a:rPr lang="en-US" sz="1700" b="1" dirty="0">
                <a:solidFill>
                  <a:srgbClr val="10263B"/>
                </a:solidFill>
                <a:latin typeface="Cambria" pitchFamily="34" charset="0"/>
                <a:ea typeface="Cambria" pitchFamily="34" charset="-122"/>
                <a:cs typeface="Cambria" pitchFamily="34" charset="-120"/>
              </a:rPr>
              <a:t>([s</a:t>
            </a:r>
            <a:pPr algn="ctr" indent="0" marL="0">
              <a:buNone/>
            </a:pPr>
            <a:r>
              <a:rPr lang="en-US" sz="1700" b="1" baseline="-40000" dirty="0">
                <a:solidFill>
                  <a:srgbClr val="10263B"/>
                </a:solidFill>
                <a:latin typeface="Cambria" pitchFamily="34" charset="0"/>
                <a:ea typeface="Cambria" pitchFamily="34" charset="-122"/>
                <a:cs typeface="Cambria" pitchFamily="34" charset="-120"/>
              </a:rPr>
              <a:t>0</a:t>
            </a:r>
            <a:pPr algn="ctr" indent="0" marL="0">
              <a:buNone/>
            </a:pPr>
            <a:r>
              <a:rPr lang="en-US" sz="1700" b="1" dirty="0">
                <a:solidFill>
                  <a:srgbClr val="10263B"/>
                </a:solidFill>
                <a:latin typeface="Cambria" pitchFamily="34" charset="0"/>
                <a:ea typeface="Cambria" pitchFamily="34" charset="-122"/>
                <a:cs typeface="Cambria" pitchFamily="34" charset="-120"/>
              </a:rPr>
              <a:t>, a</a:t>
            </a:r>
            <a:pPr algn="ctr" indent="0" marL="0">
              <a:buNone/>
            </a:pPr>
            <a:r>
              <a:rPr lang="en-US" sz="1700" b="1" baseline="-40000" dirty="0">
                <a:solidFill>
                  <a:srgbClr val="10263B"/>
                </a:solidFill>
                <a:latin typeface="Cambria" pitchFamily="34" charset="0"/>
                <a:ea typeface="Cambria" pitchFamily="34" charset="-122"/>
                <a:cs typeface="Cambria" pitchFamily="34" charset="-120"/>
              </a:rPr>
              <a:t>0</a:t>
            </a:r>
            <a:pPr algn="ctr" indent="0" marL="0">
              <a:buNone/>
            </a:pPr>
            <a:r>
              <a:rPr lang="en-US" sz="1700" b="1" dirty="0">
                <a:solidFill>
                  <a:srgbClr val="10263B"/>
                </a:solidFill>
                <a:latin typeface="Cambria" pitchFamily="34" charset="0"/>
                <a:ea typeface="Cambria" pitchFamily="34" charset="-122"/>
                <a:cs typeface="Cambria" pitchFamily="34" charset="-120"/>
              </a:rPr>
              <a:t>, s</a:t>
            </a:r>
            <a:pPr algn="ctr" indent="0" marL="0">
              <a:buNone/>
            </a:pPr>
            <a:r>
              <a:rPr lang="en-US" sz="1700" b="1" baseline="-40000" dirty="0">
                <a:solidFill>
                  <a:srgbClr val="10263B"/>
                </a:solidFill>
                <a:latin typeface="Cambria" pitchFamily="34" charset="0"/>
                <a:ea typeface="Cambria" pitchFamily="34" charset="-122"/>
                <a:cs typeface="Cambria" pitchFamily="34" charset="-120"/>
              </a:rPr>
              <a:t>1</a:t>
            </a:r>
            <a:pPr algn="ctr" indent="0" marL="0">
              <a:buNone/>
            </a:pPr>
            <a:r>
              <a:rPr lang="en-US" sz="1700" b="1" dirty="0">
                <a:solidFill>
                  <a:srgbClr val="10263B"/>
                </a:solidFill>
                <a:latin typeface="Cambria" pitchFamily="34" charset="0"/>
                <a:ea typeface="Cambria" pitchFamily="34" charset="-122"/>
                <a:cs typeface="Cambria" pitchFamily="34" charset="-120"/>
              </a:rPr>
              <a:t>, a</a:t>
            </a:r>
            <a:pPr algn="ctr" indent="0" marL="0">
              <a:buNone/>
            </a:pPr>
            <a:r>
              <a:rPr lang="en-US" sz="1700" b="1" baseline="-40000" dirty="0">
                <a:solidFill>
                  <a:srgbClr val="10263B"/>
                </a:solidFill>
                <a:latin typeface="Cambria" pitchFamily="34" charset="0"/>
                <a:ea typeface="Cambria" pitchFamily="34" charset="-122"/>
                <a:cs typeface="Cambria" pitchFamily="34" charset="-120"/>
              </a:rPr>
              <a:t>1</a:t>
            </a:r>
            <a:pPr algn="ctr" indent="0" marL="0">
              <a:buNone/>
            </a:pPr>
            <a:r>
              <a:rPr lang="en-US" sz="1700" b="1" dirty="0">
                <a:solidFill>
                  <a:srgbClr val="10263B"/>
                </a:solidFill>
                <a:latin typeface="Cambria" pitchFamily="34" charset="0"/>
                <a:ea typeface="Cambria" pitchFamily="34" charset="-122"/>
                <a:cs typeface="Cambria" pitchFamily="34" charset="-120"/>
              </a:rPr>
              <a:t>, s</a:t>
            </a:r>
            <a:pPr algn="ctr" indent="0" marL="0">
              <a:buNone/>
            </a:pPr>
            <a:r>
              <a:rPr lang="en-US" sz="1700" b="1" baseline="-40000" dirty="0">
                <a:solidFill>
                  <a:srgbClr val="10263B"/>
                </a:solidFill>
                <a:latin typeface="Cambria" pitchFamily="34" charset="0"/>
                <a:ea typeface="Cambria" pitchFamily="34" charset="-122"/>
                <a:cs typeface="Cambria" pitchFamily="34" charset="-120"/>
              </a:rPr>
              <a:t>2</a:t>
            </a:r>
            <a:pPr algn="ctr" indent="0" marL="0">
              <a:buNone/>
            </a:pPr>
            <a:r>
              <a:rPr lang="en-US" sz="1700" b="1" dirty="0">
                <a:solidFill>
                  <a:srgbClr val="10263B"/>
                </a:solidFill>
                <a:latin typeface="Cambria" pitchFamily="34" charset="0"/>
                <a:ea typeface="Cambria" pitchFamily="34" charset="-122"/>
                <a:cs typeface="Cambria" pitchFamily="34" charset="-120"/>
              </a:rPr>
              <a:t>, ...])  =  R(s</a:t>
            </a:r>
            <a:pPr algn="ctr" indent="0" marL="0">
              <a:buNone/>
            </a:pPr>
            <a:r>
              <a:rPr lang="en-US" sz="1700" b="1" baseline="-40000" dirty="0">
                <a:solidFill>
                  <a:srgbClr val="10263B"/>
                </a:solidFill>
                <a:latin typeface="Cambria" pitchFamily="34" charset="0"/>
                <a:ea typeface="Cambria" pitchFamily="34" charset="-122"/>
                <a:cs typeface="Cambria" pitchFamily="34" charset="-120"/>
              </a:rPr>
              <a:t>0</a:t>
            </a:r>
            <a:pPr algn="ctr" indent="0" marL="0">
              <a:buNone/>
            </a:pPr>
            <a:r>
              <a:rPr lang="en-US" sz="1700" b="1" dirty="0">
                <a:solidFill>
                  <a:srgbClr val="10263B"/>
                </a:solidFill>
                <a:latin typeface="Cambria" pitchFamily="34" charset="0"/>
                <a:ea typeface="Cambria" pitchFamily="34" charset="-122"/>
                <a:cs typeface="Cambria" pitchFamily="34" charset="-120"/>
              </a:rPr>
              <a:t>,a</a:t>
            </a:r>
            <a:pPr algn="ctr" indent="0" marL="0">
              <a:buNone/>
            </a:pPr>
            <a:r>
              <a:rPr lang="en-US" sz="1700" b="1" baseline="-40000" dirty="0">
                <a:solidFill>
                  <a:srgbClr val="10263B"/>
                </a:solidFill>
                <a:latin typeface="Cambria" pitchFamily="34" charset="0"/>
                <a:ea typeface="Cambria" pitchFamily="34" charset="-122"/>
                <a:cs typeface="Cambria" pitchFamily="34" charset="-120"/>
              </a:rPr>
              <a:t>0</a:t>
            </a:r>
            <a:pPr algn="ctr" indent="0" marL="0">
              <a:buNone/>
            </a:pPr>
            <a:r>
              <a:rPr lang="en-US" sz="1700" b="1" dirty="0">
                <a:solidFill>
                  <a:srgbClr val="10263B"/>
                </a:solidFill>
                <a:latin typeface="Cambria" pitchFamily="34" charset="0"/>
                <a:ea typeface="Cambria" pitchFamily="34" charset="-122"/>
                <a:cs typeface="Cambria" pitchFamily="34" charset="-120"/>
              </a:rPr>
              <a:t>,s</a:t>
            </a:r>
            <a:pPr algn="ctr" indent="0" marL="0">
              <a:buNone/>
            </a:pPr>
            <a:r>
              <a:rPr lang="en-US" sz="1700" b="1" baseline="-40000" dirty="0">
                <a:solidFill>
                  <a:srgbClr val="10263B"/>
                </a:solidFill>
                <a:latin typeface="Cambria" pitchFamily="34" charset="0"/>
                <a:ea typeface="Cambria" pitchFamily="34" charset="-122"/>
                <a:cs typeface="Cambria" pitchFamily="34" charset="-120"/>
              </a:rPr>
              <a:t>1</a:t>
            </a:r>
            <a:pPr algn="ctr" indent="0" marL="0">
              <a:buNone/>
            </a:pPr>
            <a:r>
              <a:rPr lang="en-US" sz="1700" b="1" dirty="0">
                <a:solidFill>
                  <a:srgbClr val="10263B"/>
                </a:solidFill>
                <a:latin typeface="Cambria" pitchFamily="34" charset="0"/>
                <a:ea typeface="Cambria" pitchFamily="34" charset="-122"/>
                <a:cs typeface="Cambria" pitchFamily="34" charset="-120"/>
              </a:rPr>
              <a:t>)  +  γ R(s</a:t>
            </a:r>
            <a:pPr algn="ctr" indent="0" marL="0">
              <a:buNone/>
            </a:pPr>
            <a:r>
              <a:rPr lang="en-US" sz="1700" b="1" baseline="-40000" dirty="0">
                <a:solidFill>
                  <a:srgbClr val="10263B"/>
                </a:solidFill>
                <a:latin typeface="Cambria" pitchFamily="34" charset="0"/>
                <a:ea typeface="Cambria" pitchFamily="34" charset="-122"/>
                <a:cs typeface="Cambria" pitchFamily="34" charset="-120"/>
              </a:rPr>
              <a:t>1</a:t>
            </a:r>
            <a:pPr algn="ctr" indent="0" marL="0">
              <a:buNone/>
            </a:pPr>
            <a:r>
              <a:rPr lang="en-US" sz="1700" b="1" dirty="0">
                <a:solidFill>
                  <a:srgbClr val="10263B"/>
                </a:solidFill>
                <a:latin typeface="Cambria" pitchFamily="34" charset="0"/>
                <a:ea typeface="Cambria" pitchFamily="34" charset="-122"/>
                <a:cs typeface="Cambria" pitchFamily="34" charset="-120"/>
              </a:rPr>
              <a:t>,a</a:t>
            </a:r>
            <a:pPr algn="ctr" indent="0" marL="0">
              <a:buNone/>
            </a:pPr>
            <a:r>
              <a:rPr lang="en-US" sz="1700" b="1" baseline="-40000" dirty="0">
                <a:solidFill>
                  <a:srgbClr val="10263B"/>
                </a:solidFill>
                <a:latin typeface="Cambria" pitchFamily="34" charset="0"/>
                <a:ea typeface="Cambria" pitchFamily="34" charset="-122"/>
                <a:cs typeface="Cambria" pitchFamily="34" charset="-120"/>
              </a:rPr>
              <a:t>1</a:t>
            </a:r>
            <a:pPr algn="ctr" indent="0" marL="0">
              <a:buNone/>
            </a:pPr>
            <a:r>
              <a:rPr lang="en-US" sz="1700" b="1" dirty="0">
                <a:solidFill>
                  <a:srgbClr val="10263B"/>
                </a:solidFill>
                <a:latin typeface="Cambria" pitchFamily="34" charset="0"/>
                <a:ea typeface="Cambria" pitchFamily="34" charset="-122"/>
                <a:cs typeface="Cambria" pitchFamily="34" charset="-120"/>
              </a:rPr>
              <a:t>,s</a:t>
            </a:r>
            <a:pPr algn="ctr" indent="0" marL="0">
              <a:buNone/>
            </a:pPr>
            <a:r>
              <a:rPr lang="en-US" sz="1700" b="1" baseline="-40000" dirty="0">
                <a:solidFill>
                  <a:srgbClr val="10263B"/>
                </a:solidFill>
                <a:latin typeface="Cambria" pitchFamily="34" charset="0"/>
                <a:ea typeface="Cambria" pitchFamily="34" charset="-122"/>
                <a:cs typeface="Cambria" pitchFamily="34" charset="-120"/>
              </a:rPr>
              <a:t>2</a:t>
            </a:r>
            <a:pPr algn="ctr" indent="0" marL="0">
              <a:buNone/>
            </a:pPr>
            <a:r>
              <a:rPr lang="en-US" sz="1700" b="1" dirty="0">
                <a:solidFill>
                  <a:srgbClr val="10263B"/>
                </a:solidFill>
                <a:latin typeface="Cambria" pitchFamily="34" charset="0"/>
                <a:ea typeface="Cambria" pitchFamily="34" charset="-122"/>
                <a:cs typeface="Cambria" pitchFamily="34" charset="-120"/>
              </a:rPr>
              <a:t>)  +  γ</a:t>
            </a:r>
            <a:pPr algn="ctr" indent="0" marL="0">
              <a:buNone/>
            </a:pPr>
            <a:r>
              <a:rPr lang="en-US" sz="1700" b="1" baseline="30000" dirty="0">
                <a:solidFill>
                  <a:srgbClr val="10263B"/>
                </a:solidFill>
                <a:latin typeface="Cambria" pitchFamily="34" charset="0"/>
                <a:ea typeface="Cambria" pitchFamily="34" charset="-122"/>
                <a:cs typeface="Cambria" pitchFamily="34" charset="-120"/>
              </a:rPr>
              <a:t>2</a:t>
            </a:r>
            <a:pPr algn="ctr" indent="0" marL="0">
              <a:buNone/>
            </a:pPr>
            <a:r>
              <a:rPr lang="en-US" sz="1700" b="1" dirty="0">
                <a:solidFill>
                  <a:srgbClr val="10263B"/>
                </a:solidFill>
                <a:latin typeface="Cambria" pitchFamily="34" charset="0"/>
                <a:ea typeface="Cambria" pitchFamily="34" charset="-122"/>
                <a:cs typeface="Cambria" pitchFamily="34" charset="-120"/>
              </a:rPr>
              <a:t> R(s</a:t>
            </a:r>
            <a:pPr algn="ctr" indent="0" marL="0">
              <a:buNone/>
            </a:pPr>
            <a:r>
              <a:rPr lang="en-US" sz="1700" b="1" baseline="-40000" dirty="0">
                <a:solidFill>
                  <a:srgbClr val="10263B"/>
                </a:solidFill>
                <a:latin typeface="Cambria" pitchFamily="34" charset="0"/>
                <a:ea typeface="Cambria" pitchFamily="34" charset="-122"/>
                <a:cs typeface="Cambria" pitchFamily="34" charset="-120"/>
              </a:rPr>
              <a:t>2</a:t>
            </a:r>
            <a:pPr algn="ctr" indent="0" marL="0">
              <a:buNone/>
            </a:pPr>
            <a:r>
              <a:rPr lang="en-US" sz="1700" b="1" dirty="0">
                <a:solidFill>
                  <a:srgbClr val="10263B"/>
                </a:solidFill>
                <a:latin typeface="Cambria" pitchFamily="34" charset="0"/>
                <a:ea typeface="Cambria" pitchFamily="34" charset="-122"/>
                <a:cs typeface="Cambria" pitchFamily="34" charset="-120"/>
              </a:rPr>
              <a:t>,a</a:t>
            </a:r>
            <a:pPr algn="ctr" indent="0" marL="0">
              <a:buNone/>
            </a:pPr>
            <a:r>
              <a:rPr lang="en-US" sz="1700" b="1" baseline="-40000" dirty="0">
                <a:solidFill>
                  <a:srgbClr val="10263B"/>
                </a:solidFill>
                <a:latin typeface="Cambria" pitchFamily="34" charset="0"/>
                <a:ea typeface="Cambria" pitchFamily="34" charset="-122"/>
                <a:cs typeface="Cambria" pitchFamily="34" charset="-120"/>
              </a:rPr>
              <a:t>2</a:t>
            </a:r>
            <a:pPr algn="ctr" indent="0" marL="0">
              <a:buNone/>
            </a:pPr>
            <a:r>
              <a:rPr lang="en-US" sz="1700" b="1" dirty="0">
                <a:solidFill>
                  <a:srgbClr val="10263B"/>
                </a:solidFill>
                <a:latin typeface="Cambria" pitchFamily="34" charset="0"/>
                <a:ea typeface="Cambria" pitchFamily="34" charset="-122"/>
                <a:cs typeface="Cambria" pitchFamily="34" charset="-120"/>
              </a:rPr>
              <a:t>,s</a:t>
            </a:r>
            <a:pPr algn="ctr" indent="0" marL="0">
              <a:buNone/>
            </a:pPr>
            <a:r>
              <a:rPr lang="en-US" sz="1700" b="1" baseline="-40000" dirty="0">
                <a:solidFill>
                  <a:srgbClr val="10263B"/>
                </a:solidFill>
                <a:latin typeface="Cambria" pitchFamily="34" charset="0"/>
                <a:ea typeface="Cambria" pitchFamily="34" charset="-122"/>
                <a:cs typeface="Cambria" pitchFamily="34" charset="-120"/>
              </a:rPr>
              <a:t>3</a:t>
            </a:r>
            <a:pPr algn="ctr" indent="0" marL="0">
              <a:buNone/>
            </a:pPr>
            <a:r>
              <a:rPr lang="en-US" sz="1700" b="1" dirty="0">
                <a:solidFill>
                  <a:srgbClr val="10263B"/>
                </a:solidFill>
                <a:latin typeface="Cambria" pitchFamily="34" charset="0"/>
                <a:ea typeface="Cambria" pitchFamily="34" charset="-122"/>
                <a:cs typeface="Cambria" pitchFamily="34" charset="-120"/>
              </a:rPr>
              <a:t>)  +  ...</a:t>
            </a:r>
            <a:endParaRPr lang="en-US" sz="1700" dirty="0"/>
          </a:p>
        </p:txBody>
      </p:sp>
      <p:sp>
        <p:nvSpPr>
          <p:cNvPr id="8" name="Shape 6"/>
          <p:cNvSpPr/>
          <p:nvPr/>
        </p:nvSpPr>
        <p:spPr>
          <a:xfrm>
            <a:off x="566928" y="2926080"/>
            <a:ext cx="5394960" cy="2240280"/>
          </a:xfrm>
          <a:prstGeom prst="roundRect">
            <a:avLst>
              <a:gd name="adj" fmla="val 3673"/>
            </a:avLst>
          </a:prstGeom>
          <a:solidFill>
            <a:srgbClr val="10263B"/>
          </a:solidFill>
          <a:ln/>
          <a:effectLst>
            <a:outerShdw sx="100000" sy="100000" kx="0" ky="0" algn="bl" rotWithShape="0" blurRad="101600" dist="17780" dir="5400000">
              <a:srgbClr val="9FB2BF">
                <a:alpha val="20000"/>
              </a:srgbClr>
            </a:outerShdw>
          </a:effectLst>
        </p:spPr>
      </p:sp>
      <p:sp>
        <p:nvSpPr>
          <p:cNvPr id="9" name="Text 7"/>
          <p:cNvSpPr/>
          <p:nvPr/>
        </p:nvSpPr>
        <p:spPr>
          <a:xfrm>
            <a:off x="822960" y="3054096"/>
            <a:ext cx="4892040" cy="329184"/>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Stationary preferences</a:t>
            </a:r>
            <a:endParaRPr lang="en-US" sz="1600" dirty="0"/>
          </a:p>
        </p:txBody>
      </p:sp>
      <p:sp>
        <p:nvSpPr>
          <p:cNvPr id="10" name="Text 8"/>
          <p:cNvSpPr/>
          <p:nvPr/>
        </p:nvSpPr>
        <p:spPr>
          <a:xfrm>
            <a:off x="822960" y="3419856"/>
            <a:ext cx="4892040" cy="77724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If two histories start with the same first transition, then they should be ranked the same way as the two histories you get by deleting that shared first step.</a:t>
            </a:r>
            <a:endParaRPr lang="en-US" sz="1300" dirty="0"/>
          </a:p>
        </p:txBody>
      </p:sp>
      <p:sp>
        <p:nvSpPr>
          <p:cNvPr id="11" name="Text 9"/>
          <p:cNvSpPr/>
          <p:nvPr/>
        </p:nvSpPr>
        <p:spPr>
          <a:xfrm>
            <a:off x="822960" y="4224528"/>
            <a:ext cx="4892040" cy="77724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In English: if you prefer one future to another starting tomorrow, you should still prefer it if it started today instead.</a:t>
            </a:r>
            <a:endParaRPr lang="en-US" sz="1300" dirty="0"/>
          </a:p>
        </p:txBody>
      </p:sp>
      <p:sp>
        <p:nvSpPr>
          <p:cNvPr id="12" name="Shape 10"/>
          <p:cNvSpPr/>
          <p:nvPr/>
        </p:nvSpPr>
        <p:spPr>
          <a:xfrm>
            <a:off x="6236208" y="2926080"/>
            <a:ext cx="5376672" cy="2240280"/>
          </a:xfrm>
          <a:prstGeom prst="roundRect">
            <a:avLst>
              <a:gd name="adj" fmla="val 3673"/>
            </a:avLst>
          </a:prstGeom>
          <a:solidFill>
            <a:srgbClr val="F5DFA8"/>
          </a:solidFill>
          <a:ln/>
        </p:spPr>
      </p:sp>
      <p:sp>
        <p:nvSpPr>
          <p:cNvPr id="13" name="Text 11"/>
          <p:cNvSpPr/>
          <p:nvPr/>
        </p:nvSpPr>
        <p:spPr>
          <a:xfrm>
            <a:off x="6492240" y="3054096"/>
            <a:ext cx="4864608" cy="329184"/>
          </a:xfrm>
          <a:prstGeom prst="rect">
            <a:avLst/>
          </a:prstGeom>
          <a:noFill/>
          <a:ln/>
        </p:spPr>
        <p:txBody>
          <a:bodyPr wrap="square" lIns="0" tIns="0" rIns="0" bIns="0" rtlCol="0" anchor="ctr"/>
          <a:lstStyle/>
          <a:p>
            <a:pPr indent="0" marL="0">
              <a:buNone/>
            </a:pPr>
            <a:r>
              <a:rPr lang="en-US" sz="1600" b="1" dirty="0">
                <a:solidFill>
                  <a:srgbClr val="10263B"/>
                </a:solidFill>
                <a:latin typeface="Cambria" pitchFamily="34" charset="0"/>
                <a:ea typeface="Cambria" pitchFamily="34" charset="-122"/>
                <a:cs typeface="Cambria" pitchFamily="34" charset="-120"/>
              </a:rPr>
              <a:t>Why that matters</a:t>
            </a:r>
            <a:endParaRPr lang="en-US" sz="1600" dirty="0"/>
          </a:p>
        </p:txBody>
      </p:sp>
      <p:sp>
        <p:nvSpPr>
          <p:cNvPr id="14" name="Text 12"/>
          <p:cNvSpPr/>
          <p:nvPr/>
        </p:nvSpPr>
        <p:spPr>
          <a:xfrm>
            <a:off x="6492240" y="3419856"/>
            <a:ext cx="4864608" cy="50292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Stationarity looks like a mild, almost invisible assumption. But it is enormously restrictive:</a:t>
            </a:r>
            <a:endParaRPr lang="en-US" sz="1300" dirty="0"/>
          </a:p>
        </p:txBody>
      </p:sp>
      <p:sp>
        <p:nvSpPr>
          <p:cNvPr id="15" name="Text 13"/>
          <p:cNvSpPr/>
          <p:nvPr/>
        </p:nvSpPr>
        <p:spPr>
          <a:xfrm>
            <a:off x="6492240" y="3968496"/>
            <a:ext cx="4864608" cy="594360"/>
          </a:xfrm>
          <a:prstGeom prst="rect">
            <a:avLst/>
          </a:prstGeom>
          <a:noFill/>
          <a:ln/>
        </p:spPr>
        <p:txBody>
          <a:bodyPr wrap="square" lIns="0" tIns="0" rIns="0" bIns="0" rtlCol="0" anchor="t"/>
          <a:lstStyle/>
          <a:p>
            <a:pPr indent="0" marL="0">
              <a:buNone/>
            </a:pPr>
            <a:r>
              <a:rPr lang="en-US" sz="1500" b="1" dirty="0">
                <a:solidFill>
                  <a:srgbClr val="B3341F"/>
                </a:solidFill>
                <a:latin typeface="Cambria" pitchFamily="34" charset="0"/>
                <a:ea typeface="Cambria" pitchFamily="34" charset="-122"/>
                <a:cs typeface="Cambria" pitchFamily="34" charset="-120"/>
              </a:rPr>
              <a:t>Additive discounting is the only form of utility on histories that satisfies it.</a:t>
            </a:r>
            <a:endParaRPr lang="en-US" sz="1500" dirty="0"/>
          </a:p>
        </p:txBody>
      </p:sp>
      <p:sp>
        <p:nvSpPr>
          <p:cNvPr id="16" name="Text 14"/>
          <p:cNvSpPr/>
          <p:nvPr/>
        </p:nvSpPr>
        <p:spPr>
          <a:xfrm>
            <a:off x="6492240" y="4590288"/>
            <a:ext cx="4864608" cy="502920"/>
          </a:xfrm>
          <a:prstGeom prst="rect">
            <a:avLst/>
          </a:prstGeom>
          <a:noFill/>
          <a:ln/>
        </p:spPr>
        <p:txBody>
          <a:bodyPr wrap="square" lIns="0" tIns="0" rIns="0" bIns="0" rtlCol="0" anchor="t"/>
          <a:lstStyle/>
          <a:p>
            <a:pPr indent="0" marL="0">
              <a:buNone/>
            </a:pPr>
            <a:r>
              <a:rPr lang="en-US" sz="1250" dirty="0">
                <a:solidFill>
                  <a:srgbClr val="5C7080"/>
                </a:solidFill>
                <a:latin typeface="Calibri" pitchFamily="34" charset="0"/>
                <a:ea typeface="Calibri" pitchFamily="34" charset="-122"/>
                <a:cs typeface="Calibri" pitchFamily="34" charset="-120"/>
              </a:rPr>
              <a:t>We are not choosing discounting for convenience. Given stationary preferences, we have no other option.</a:t>
            </a:r>
            <a:endParaRPr lang="en-US" sz="1250" dirty="0"/>
          </a:p>
        </p:txBody>
      </p:sp>
      <p:sp>
        <p:nvSpPr>
          <p:cNvPr id="17" name="Text 15"/>
          <p:cNvSpPr/>
          <p:nvPr/>
        </p:nvSpPr>
        <p:spPr>
          <a:xfrm>
            <a:off x="566928" y="5394960"/>
            <a:ext cx="11057839" cy="457200"/>
          </a:xfrm>
          <a:prstGeom prst="rect">
            <a:avLst/>
          </a:prstGeom>
          <a:noFill/>
          <a:ln/>
        </p:spPr>
        <p:txBody>
          <a:bodyPr wrap="square" lIns="0" tIns="0" rIns="0" bIns="0" rtlCol="0" anchor="ctr"/>
          <a:lstStyle/>
          <a:p>
            <a:pPr indent="0" marL="0">
              <a:buNone/>
            </a:pPr>
            <a:r>
              <a:rPr lang="en-US" sz="1350" dirty="0">
                <a:solidFill>
                  <a:srgbClr val="5C7080"/>
                </a:solidFill>
                <a:latin typeface="Calibri" pitchFamily="34" charset="0"/>
                <a:ea typeface="Calibri" pitchFamily="34" charset="-122"/>
                <a:cs typeface="Calibri" pitchFamily="34" charset="-120"/>
              </a:rPr>
              <a:t>Note that gamma = 1 recovers the purely additive case, and that additivity was already lurking in the path-cost functions we used for heuristic search back in Chapter 3.</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What the discount factor actually buys you</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17</a:t>
            </a:r>
            <a:endParaRPr lang="en-US" sz="900" dirty="0"/>
          </a:p>
        </p:txBody>
      </p:sp>
      <p:pic>
        <p:nvPicPr>
          <p:cNvPr id="5" name="Image 0" descr="fig_discount.png">    </p:cNvPr>
          <p:cNvPicPr>
            <a:picLocks noChangeAspect="1"/>
          </p:cNvPicPr>
          <p:nvPr/>
        </p:nvPicPr>
        <p:blipFill>
          <a:blip r:embed="rId1"/>
          <a:srcRect l="0" r="0" t="0" b="0"/>
          <a:stretch/>
        </p:blipFill>
        <p:spPr>
          <a:xfrm>
            <a:off x="1249528" y="1417320"/>
            <a:ext cx="9692640" cy="3520440"/>
          </a:xfrm>
          <a:prstGeom prst="rect">
            <a:avLst/>
          </a:prstGeom>
        </p:spPr>
      </p:pic>
      <p:sp>
        <p:nvSpPr>
          <p:cNvPr id="6" name="Text 3"/>
          <p:cNvSpPr/>
          <p:nvPr/>
        </p:nvSpPr>
        <p:spPr>
          <a:xfrm>
            <a:off x="566928" y="5029200"/>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Left: how quickly a reward t steps away stops mattering. Right: with R-max = 1, the total utility of an infinite history is bounded by 1/(1 - gamma).</a:t>
            </a:r>
            <a:endParaRPr lang="en-US" sz="1250" dirty="0"/>
          </a:p>
        </p:txBody>
      </p:sp>
      <p:sp>
        <p:nvSpPr>
          <p:cNvPr id="7" name="Shape 4"/>
          <p:cNvSpPr/>
          <p:nvPr/>
        </p:nvSpPr>
        <p:spPr>
          <a:xfrm>
            <a:off x="566928" y="5230368"/>
            <a:ext cx="3456432" cy="868680"/>
          </a:xfrm>
          <a:prstGeom prst="roundRect">
            <a:avLst>
              <a:gd name="adj" fmla="val 9474"/>
            </a:avLst>
          </a:prstGeom>
          <a:solidFill>
            <a:srgbClr val="EDF2F5"/>
          </a:solidFill>
          <a:ln/>
        </p:spPr>
      </p:sp>
      <p:sp>
        <p:nvSpPr>
          <p:cNvPr id="8" name="Text 5"/>
          <p:cNvSpPr/>
          <p:nvPr/>
        </p:nvSpPr>
        <p:spPr>
          <a:xfrm>
            <a:off x="749808" y="5303520"/>
            <a:ext cx="3108960" cy="292608"/>
          </a:xfrm>
          <a:prstGeom prst="rect">
            <a:avLst/>
          </a:prstGeom>
          <a:noFill/>
          <a:ln/>
        </p:spPr>
        <p:txBody>
          <a:bodyPr wrap="square" lIns="0" tIns="0" rIns="0" bIns="0" rtlCol="0" anchor="ctr"/>
          <a:lstStyle/>
          <a:p>
            <a:pPr indent="0" marL="0">
              <a:buNone/>
            </a:pPr>
            <a:r>
              <a:rPr lang="en-US" sz="1300" b="1" dirty="0">
                <a:solidFill>
                  <a:srgbClr val="B3341F"/>
                </a:solidFill>
                <a:latin typeface="Cambria" pitchFamily="34" charset="0"/>
                <a:ea typeface="Cambria" pitchFamily="34" charset="-122"/>
                <a:cs typeface="Cambria" pitchFamily="34" charset="-120"/>
              </a:rPr>
              <a:t>gamma near 0</a:t>
            </a:r>
            <a:endParaRPr lang="en-US" sz="1300" dirty="0"/>
          </a:p>
        </p:txBody>
      </p:sp>
      <p:sp>
        <p:nvSpPr>
          <p:cNvPr id="9" name="Text 6"/>
          <p:cNvSpPr/>
          <p:nvPr/>
        </p:nvSpPr>
        <p:spPr>
          <a:xfrm>
            <a:off x="749808" y="5577840"/>
            <a:ext cx="3108960" cy="475488"/>
          </a:xfrm>
          <a:prstGeom prst="rect">
            <a:avLst/>
          </a:prstGeom>
          <a:noFill/>
          <a:ln/>
        </p:spPr>
        <p:txBody>
          <a:bodyPr wrap="square" lIns="0" tIns="0" rIns="0" bIns="0" rtlCol="0" anchor="t"/>
          <a:lstStyle/>
          <a:p>
            <a:pPr indent="0" marL="0">
              <a:buNone/>
            </a:pPr>
            <a:r>
              <a:rPr lang="en-US" sz="1200" dirty="0">
                <a:solidFill>
                  <a:srgbClr val="10263B"/>
                </a:solidFill>
                <a:latin typeface="Calibri" pitchFamily="34" charset="0"/>
                <a:ea typeface="Calibri" pitchFamily="34" charset="-122"/>
                <a:cs typeface="Calibri" pitchFamily="34" charset="-120"/>
              </a:rPr>
              <a:t>The agent is myopic. Distant rewards are noise.</a:t>
            </a:r>
            <a:endParaRPr lang="en-US" sz="1200" dirty="0"/>
          </a:p>
        </p:txBody>
      </p:sp>
      <p:sp>
        <p:nvSpPr>
          <p:cNvPr id="10" name="Shape 7"/>
          <p:cNvSpPr/>
          <p:nvPr/>
        </p:nvSpPr>
        <p:spPr>
          <a:xfrm>
            <a:off x="4297680" y="5230368"/>
            <a:ext cx="3456432" cy="868680"/>
          </a:xfrm>
          <a:prstGeom prst="roundRect">
            <a:avLst>
              <a:gd name="adj" fmla="val 9474"/>
            </a:avLst>
          </a:prstGeom>
          <a:solidFill>
            <a:srgbClr val="EDF2F5"/>
          </a:solidFill>
          <a:ln/>
        </p:spPr>
      </p:sp>
      <p:sp>
        <p:nvSpPr>
          <p:cNvPr id="11" name="Text 8"/>
          <p:cNvSpPr/>
          <p:nvPr/>
        </p:nvSpPr>
        <p:spPr>
          <a:xfrm>
            <a:off x="4480560" y="5303520"/>
            <a:ext cx="3108960" cy="292608"/>
          </a:xfrm>
          <a:prstGeom prst="rect">
            <a:avLst/>
          </a:prstGeom>
          <a:noFill/>
          <a:ln/>
        </p:spPr>
        <p:txBody>
          <a:bodyPr wrap="square" lIns="0" tIns="0" rIns="0" bIns="0" rtlCol="0" anchor="ctr"/>
          <a:lstStyle/>
          <a:p>
            <a:pPr indent="0" marL="0">
              <a:buNone/>
            </a:pPr>
            <a:r>
              <a:rPr lang="en-US" sz="1300" b="1" dirty="0">
                <a:solidFill>
                  <a:srgbClr val="2E7D5B"/>
                </a:solidFill>
                <a:latin typeface="Cambria" pitchFamily="34" charset="0"/>
                <a:ea typeface="Cambria" pitchFamily="34" charset="-122"/>
                <a:cs typeface="Cambria" pitchFamily="34" charset="-120"/>
              </a:rPr>
              <a:t>gamma near 1</a:t>
            </a:r>
            <a:endParaRPr lang="en-US" sz="1300" dirty="0"/>
          </a:p>
        </p:txBody>
      </p:sp>
      <p:sp>
        <p:nvSpPr>
          <p:cNvPr id="12" name="Text 9"/>
          <p:cNvSpPr/>
          <p:nvPr/>
        </p:nvSpPr>
        <p:spPr>
          <a:xfrm>
            <a:off x="4480560" y="5577840"/>
            <a:ext cx="3108960" cy="475488"/>
          </a:xfrm>
          <a:prstGeom prst="rect">
            <a:avLst/>
          </a:prstGeom>
          <a:noFill/>
          <a:ln/>
        </p:spPr>
        <p:txBody>
          <a:bodyPr wrap="square" lIns="0" tIns="0" rIns="0" bIns="0" rtlCol="0" anchor="t"/>
          <a:lstStyle/>
          <a:p>
            <a:pPr indent="0" marL="0">
              <a:buNone/>
            </a:pPr>
            <a:r>
              <a:rPr lang="en-US" sz="1200" dirty="0">
                <a:solidFill>
                  <a:srgbClr val="10263B"/>
                </a:solidFill>
                <a:latin typeface="Calibri" pitchFamily="34" charset="0"/>
                <a:ea typeface="Calibri" pitchFamily="34" charset="-122"/>
                <a:cs typeface="Calibri" pitchFamily="34" charset="-120"/>
              </a:rPr>
              <a:t>The agent is patient and will wait for a payoff.</a:t>
            </a:r>
            <a:endParaRPr lang="en-US" sz="1200" dirty="0"/>
          </a:p>
        </p:txBody>
      </p:sp>
      <p:sp>
        <p:nvSpPr>
          <p:cNvPr id="13" name="Shape 10"/>
          <p:cNvSpPr/>
          <p:nvPr/>
        </p:nvSpPr>
        <p:spPr>
          <a:xfrm>
            <a:off x="8028432" y="5230368"/>
            <a:ext cx="3456432" cy="868680"/>
          </a:xfrm>
          <a:prstGeom prst="roundRect">
            <a:avLst>
              <a:gd name="adj" fmla="val 9474"/>
            </a:avLst>
          </a:prstGeom>
          <a:solidFill>
            <a:srgbClr val="EDF2F5"/>
          </a:solidFill>
          <a:ln/>
        </p:spPr>
      </p:sp>
      <p:sp>
        <p:nvSpPr>
          <p:cNvPr id="14" name="Text 11"/>
          <p:cNvSpPr/>
          <p:nvPr/>
        </p:nvSpPr>
        <p:spPr>
          <a:xfrm>
            <a:off x="8211312" y="5303520"/>
            <a:ext cx="3108960" cy="292608"/>
          </a:xfrm>
          <a:prstGeom prst="rect">
            <a:avLst/>
          </a:prstGeom>
          <a:noFill/>
          <a:ln/>
        </p:spPr>
        <p:txBody>
          <a:bodyPr wrap="square" lIns="0" tIns="0" rIns="0" bIns="0" rtlCol="0" anchor="ctr"/>
          <a:lstStyle/>
          <a:p>
            <a:pPr indent="0" marL="0">
              <a:buNone/>
            </a:pPr>
            <a:r>
              <a:rPr lang="en-US" sz="1300" b="1" dirty="0">
                <a:solidFill>
                  <a:srgbClr val="1C7293"/>
                </a:solidFill>
                <a:latin typeface="Cambria" pitchFamily="34" charset="0"/>
                <a:ea typeface="Cambria" pitchFamily="34" charset="-122"/>
                <a:cs typeface="Cambria" pitchFamily="34" charset="-120"/>
              </a:rPr>
              <a:t>gamma = 1</a:t>
            </a:r>
            <a:endParaRPr lang="en-US" sz="1300" dirty="0"/>
          </a:p>
        </p:txBody>
      </p:sp>
      <p:sp>
        <p:nvSpPr>
          <p:cNvPr id="15" name="Text 12"/>
          <p:cNvSpPr/>
          <p:nvPr/>
        </p:nvSpPr>
        <p:spPr>
          <a:xfrm>
            <a:off x="8211312" y="5577840"/>
            <a:ext cx="3108960" cy="475488"/>
          </a:xfrm>
          <a:prstGeom prst="rect">
            <a:avLst/>
          </a:prstGeom>
          <a:noFill/>
          <a:ln/>
        </p:spPr>
        <p:txBody>
          <a:bodyPr wrap="square" lIns="0" tIns="0" rIns="0" bIns="0" rtlCol="0" anchor="t"/>
          <a:lstStyle/>
          <a:p>
            <a:pPr indent="0" marL="0">
              <a:buNone/>
            </a:pPr>
            <a:r>
              <a:rPr lang="en-US" sz="1200" dirty="0">
                <a:solidFill>
                  <a:srgbClr val="10263B"/>
                </a:solidFill>
                <a:latin typeface="Calibri" pitchFamily="34" charset="0"/>
                <a:ea typeface="Calibri" pitchFamily="34" charset="-122"/>
                <a:cs typeface="Calibri" pitchFamily="34" charset="-120"/>
              </a:rPr>
              <a:t>No discounting at all - the purely additive case.</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Three ways to keep utilities finite</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With no terminal state and no discount, every history scores positive infinity - and infinity is not a useful thing to compare</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66928" y="1920240"/>
            <a:ext cx="3456432" cy="3108960"/>
          </a:xfrm>
          <a:prstGeom prst="roundRect">
            <a:avLst>
              <a:gd name="adj" fmla="val 2647"/>
            </a:avLst>
          </a:prstGeom>
          <a:solidFill>
            <a:srgbClr val="EDF2F5"/>
          </a:solidFill>
          <a:ln/>
          <a:effectLst>
            <a:outerShdw sx="100000" sy="100000" kx="0" ky="0" algn="bl" rotWithShape="0" blurRad="101600" dist="17780" dir="5400000">
              <a:srgbClr val="9FB2BF">
                <a:alpha val="20000"/>
              </a:srgbClr>
            </a:outerShdw>
          </a:effectLst>
        </p:spPr>
      </p:sp>
      <p:sp>
        <p:nvSpPr>
          <p:cNvPr id="7" name="Shape 5"/>
          <p:cNvSpPr/>
          <p:nvPr/>
        </p:nvSpPr>
        <p:spPr>
          <a:xfrm>
            <a:off x="768096" y="2084832"/>
            <a:ext cx="457200" cy="457200"/>
          </a:xfrm>
          <a:prstGeom prst="ellipse">
            <a:avLst/>
          </a:prstGeom>
          <a:solidFill>
            <a:srgbClr val="1C7293"/>
          </a:solidFill>
          <a:ln/>
        </p:spPr>
      </p:sp>
      <p:sp>
        <p:nvSpPr>
          <p:cNvPr id="8" name="Text 6"/>
          <p:cNvSpPr/>
          <p:nvPr/>
        </p:nvSpPr>
        <p:spPr>
          <a:xfrm>
            <a:off x="768096" y="20848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335024" y="2084832"/>
            <a:ext cx="2514600" cy="457200"/>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Discount</a:t>
            </a:r>
            <a:endParaRPr lang="en-US" sz="1600" dirty="0"/>
          </a:p>
        </p:txBody>
      </p:sp>
      <p:sp>
        <p:nvSpPr>
          <p:cNvPr id="10" name="Text 8"/>
          <p:cNvSpPr/>
          <p:nvPr/>
        </p:nvSpPr>
        <p:spPr>
          <a:xfrm>
            <a:off x="768096" y="2615184"/>
            <a:ext cx="3054096" cy="274320"/>
          </a:xfrm>
          <a:prstGeom prst="rect">
            <a:avLst/>
          </a:prstGeom>
          <a:noFill/>
          <a:ln/>
        </p:spPr>
        <p:txBody>
          <a:bodyPr wrap="square" lIns="0" tIns="0" rIns="0" bIns="0" rtlCol="0" anchor="ctr"/>
          <a:lstStyle/>
          <a:p>
            <a:pPr indent="0" marL="0">
              <a:buNone/>
            </a:pPr>
            <a:r>
              <a:rPr lang="en-US" sz="1200" dirty="0">
                <a:solidFill>
                  <a:srgbClr val="5C7080"/>
                </a:solidFill>
                <a:latin typeface="Courier New" pitchFamily="34" charset="0"/>
                <a:ea typeface="Courier New" pitchFamily="34" charset="-122"/>
                <a:cs typeface="Courier New" pitchFamily="34" charset="-120"/>
              </a:rPr>
              <a:t>γ &lt; 1</a:t>
            </a:r>
            <a:endParaRPr lang="en-US" sz="1200" dirty="0"/>
          </a:p>
        </p:txBody>
      </p:sp>
      <p:sp>
        <p:nvSpPr>
          <p:cNvPr id="11" name="Text 9"/>
          <p:cNvSpPr/>
          <p:nvPr/>
        </p:nvSpPr>
        <p:spPr>
          <a:xfrm>
            <a:off x="768096" y="2944368"/>
            <a:ext cx="3054096" cy="132588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With bounded rewards the geometric series converges, so every infinite history has a finite utility.</a:t>
            </a:r>
            <a:endParaRPr lang="en-US" sz="1250" dirty="0"/>
          </a:p>
        </p:txBody>
      </p:sp>
      <p:sp>
        <p:nvSpPr>
          <p:cNvPr id="12" name="Shape 10"/>
          <p:cNvSpPr/>
          <p:nvPr/>
        </p:nvSpPr>
        <p:spPr>
          <a:xfrm>
            <a:off x="768096" y="4315968"/>
            <a:ext cx="3054096" cy="548640"/>
          </a:xfrm>
          <a:prstGeom prst="roundRect">
            <a:avLst>
              <a:gd name="adj" fmla="val 8333"/>
            </a:avLst>
          </a:prstGeom>
          <a:solidFill>
            <a:srgbClr val="FFFFFF"/>
          </a:solidFill>
          <a:ln w="12700">
            <a:solidFill>
              <a:srgbClr val="D3DDE3"/>
            </a:solidFill>
            <a:prstDash val="solid"/>
          </a:ln>
        </p:spPr>
      </p:sp>
      <p:sp>
        <p:nvSpPr>
          <p:cNvPr id="13" name="Text 11"/>
          <p:cNvSpPr/>
          <p:nvPr/>
        </p:nvSpPr>
        <p:spPr>
          <a:xfrm>
            <a:off x="841248" y="4315968"/>
            <a:ext cx="2907792" cy="548640"/>
          </a:xfrm>
          <a:prstGeom prst="rect">
            <a:avLst/>
          </a:prstGeom>
          <a:noFill/>
          <a:ln/>
        </p:spPr>
        <p:txBody>
          <a:bodyPr wrap="square" lIns="0" tIns="0" rIns="0" bIns="0" rtlCol="0" anchor="ctr"/>
          <a:lstStyle/>
          <a:p>
            <a:pPr algn="ctr" indent="0" marL="0">
              <a:buNone/>
            </a:pPr>
            <a:r>
              <a:rPr lang="en-US" sz="1150" b="1" dirty="0">
                <a:solidFill>
                  <a:srgbClr val="10263B"/>
                </a:solidFill>
                <a:latin typeface="Cambria" pitchFamily="34" charset="0"/>
                <a:ea typeface="Cambria" pitchFamily="34" charset="-122"/>
                <a:cs typeface="Cambria" pitchFamily="34" charset="-120"/>
              </a:rPr>
              <a:t>U</a:t>
            </a:r>
            <a:pPr algn="ctr" indent="0" marL="0">
              <a:buNone/>
            </a:pPr>
            <a:r>
              <a:rPr lang="en-US" sz="1150" b="1" baseline="-40000" dirty="0">
                <a:solidFill>
                  <a:srgbClr val="10263B"/>
                </a:solidFill>
                <a:latin typeface="Cambria" pitchFamily="34" charset="0"/>
                <a:ea typeface="Cambria" pitchFamily="34" charset="-122"/>
                <a:cs typeface="Cambria" pitchFamily="34" charset="-120"/>
              </a:rPr>
              <a:t>h</a:t>
            </a:r>
            <a:pPr algn="ctr" indent="0" marL="0">
              <a:buNone/>
            </a:pPr>
            <a:r>
              <a:rPr lang="en-US" sz="1150" b="1" dirty="0">
                <a:solidFill>
                  <a:srgbClr val="10263B"/>
                </a:solidFill>
                <a:latin typeface="Cambria" pitchFamily="34" charset="0"/>
                <a:ea typeface="Cambria" pitchFamily="34" charset="-122"/>
                <a:cs typeface="Cambria" pitchFamily="34" charset="-120"/>
              </a:rPr>
              <a:t> ≤ Σ γ</a:t>
            </a:r>
            <a:pPr algn="ctr" indent="0" marL="0">
              <a:buNone/>
            </a:pPr>
            <a:r>
              <a:rPr lang="en-US" sz="1150" b="1" baseline="30000" dirty="0">
                <a:solidFill>
                  <a:srgbClr val="10263B"/>
                </a:solidFill>
                <a:latin typeface="Cambria" pitchFamily="34" charset="0"/>
                <a:ea typeface="Cambria" pitchFamily="34" charset="-122"/>
                <a:cs typeface="Cambria" pitchFamily="34" charset="-120"/>
              </a:rPr>
              <a:t>t</a:t>
            </a:r>
            <a:pPr algn="ctr" indent="0" marL="0">
              <a:buNone/>
            </a:pPr>
            <a:r>
              <a:rPr lang="en-US" sz="1150" b="1" dirty="0">
                <a:solidFill>
                  <a:srgbClr val="10263B"/>
                </a:solidFill>
                <a:latin typeface="Cambria" pitchFamily="34" charset="0"/>
                <a:ea typeface="Cambria" pitchFamily="34" charset="-122"/>
                <a:cs typeface="Cambria" pitchFamily="34" charset="-120"/>
              </a:rPr>
              <a:t> R</a:t>
            </a:r>
            <a:pPr algn="ctr" indent="0" marL="0">
              <a:buNone/>
            </a:pPr>
            <a:r>
              <a:rPr lang="en-US" sz="1150" b="1" baseline="-40000" dirty="0">
                <a:solidFill>
                  <a:srgbClr val="10263B"/>
                </a:solidFill>
                <a:latin typeface="Cambria" pitchFamily="34" charset="0"/>
                <a:ea typeface="Cambria" pitchFamily="34" charset="-122"/>
                <a:cs typeface="Cambria" pitchFamily="34" charset="-120"/>
              </a:rPr>
              <a:t>max</a:t>
            </a:r>
            <a:pPr algn="ctr" indent="0" marL="0">
              <a:buNone/>
            </a:pPr>
            <a:r>
              <a:rPr lang="en-US" sz="1150" b="1" dirty="0">
                <a:solidFill>
                  <a:srgbClr val="10263B"/>
                </a:solidFill>
                <a:latin typeface="Cambria" pitchFamily="34" charset="0"/>
                <a:ea typeface="Cambria" pitchFamily="34" charset="-122"/>
                <a:cs typeface="Cambria" pitchFamily="34" charset="-120"/>
              </a:rPr>
              <a:t>  =  R</a:t>
            </a:r>
            <a:pPr algn="ctr" indent="0" marL="0">
              <a:buNone/>
            </a:pPr>
            <a:r>
              <a:rPr lang="en-US" sz="1150" b="1" baseline="-40000" dirty="0">
                <a:solidFill>
                  <a:srgbClr val="10263B"/>
                </a:solidFill>
                <a:latin typeface="Cambria" pitchFamily="34" charset="0"/>
                <a:ea typeface="Cambria" pitchFamily="34" charset="-122"/>
                <a:cs typeface="Cambria" pitchFamily="34" charset="-120"/>
              </a:rPr>
              <a:t>max</a:t>
            </a:r>
            <a:pPr algn="ctr" indent="0" marL="0">
              <a:buNone/>
            </a:pPr>
            <a:r>
              <a:rPr lang="en-US" sz="1150" b="1" dirty="0">
                <a:solidFill>
                  <a:srgbClr val="10263B"/>
                </a:solidFill>
                <a:latin typeface="Cambria" pitchFamily="34" charset="0"/>
                <a:ea typeface="Cambria" pitchFamily="34" charset="-122"/>
                <a:cs typeface="Cambria" pitchFamily="34" charset="-120"/>
              </a:rPr>
              <a:t> / (1 - γ)</a:t>
            </a:r>
            <a:endParaRPr lang="en-US" sz="1150" dirty="0"/>
          </a:p>
        </p:txBody>
      </p:sp>
      <p:sp>
        <p:nvSpPr>
          <p:cNvPr id="14" name="Shape 12"/>
          <p:cNvSpPr/>
          <p:nvPr/>
        </p:nvSpPr>
        <p:spPr>
          <a:xfrm>
            <a:off x="4297680" y="1920240"/>
            <a:ext cx="3456432" cy="3108960"/>
          </a:xfrm>
          <a:prstGeom prst="roundRect">
            <a:avLst>
              <a:gd name="adj" fmla="val 2647"/>
            </a:avLst>
          </a:prstGeom>
          <a:solidFill>
            <a:srgbClr val="EDF2F5"/>
          </a:solidFill>
          <a:ln/>
          <a:effectLst>
            <a:outerShdw sx="100000" sy="100000" kx="0" ky="0" algn="bl" rotWithShape="0" blurRad="101600" dist="17780" dir="5400000">
              <a:srgbClr val="9FB2BF">
                <a:alpha val="20000"/>
              </a:srgbClr>
            </a:outerShdw>
          </a:effectLst>
        </p:spPr>
      </p:sp>
      <p:sp>
        <p:nvSpPr>
          <p:cNvPr id="15" name="Shape 13"/>
          <p:cNvSpPr/>
          <p:nvPr/>
        </p:nvSpPr>
        <p:spPr>
          <a:xfrm>
            <a:off x="4498848" y="2084832"/>
            <a:ext cx="457200" cy="457200"/>
          </a:xfrm>
          <a:prstGeom prst="ellipse">
            <a:avLst/>
          </a:prstGeom>
          <a:solidFill>
            <a:srgbClr val="2E7D5B"/>
          </a:solidFill>
          <a:ln/>
        </p:spPr>
      </p:sp>
      <p:sp>
        <p:nvSpPr>
          <p:cNvPr id="16" name="Text 14"/>
          <p:cNvSpPr/>
          <p:nvPr/>
        </p:nvSpPr>
        <p:spPr>
          <a:xfrm>
            <a:off x="4498848" y="20848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5"/>
          <p:cNvSpPr/>
          <p:nvPr/>
        </p:nvSpPr>
        <p:spPr>
          <a:xfrm>
            <a:off x="5065776" y="2084832"/>
            <a:ext cx="2514600" cy="457200"/>
          </a:xfrm>
          <a:prstGeom prst="rect">
            <a:avLst/>
          </a:prstGeom>
          <a:noFill/>
          <a:ln/>
        </p:spPr>
        <p:txBody>
          <a:bodyPr wrap="square" lIns="0" tIns="0" rIns="0" bIns="0" rtlCol="0" anchor="ctr"/>
          <a:lstStyle/>
          <a:p>
            <a:pPr indent="0" marL="0">
              <a:buNone/>
            </a:pPr>
            <a:r>
              <a:rPr lang="en-US" sz="1600" b="1" dirty="0">
                <a:solidFill>
                  <a:srgbClr val="2E7D5B"/>
                </a:solidFill>
                <a:latin typeface="Cambria" pitchFamily="34" charset="0"/>
                <a:ea typeface="Cambria" pitchFamily="34" charset="-122"/>
                <a:cs typeface="Cambria" pitchFamily="34" charset="-120"/>
              </a:rPr>
              <a:t>Proper policies</a:t>
            </a:r>
            <a:endParaRPr lang="en-US" sz="1600" dirty="0"/>
          </a:p>
        </p:txBody>
      </p:sp>
      <p:sp>
        <p:nvSpPr>
          <p:cNvPr id="18" name="Text 16"/>
          <p:cNvSpPr/>
          <p:nvPr/>
        </p:nvSpPr>
        <p:spPr>
          <a:xfrm>
            <a:off x="4498848" y="2615184"/>
            <a:ext cx="3054096" cy="274320"/>
          </a:xfrm>
          <a:prstGeom prst="rect">
            <a:avLst/>
          </a:prstGeom>
          <a:noFill/>
          <a:ln/>
        </p:spPr>
        <p:txBody>
          <a:bodyPr wrap="square" lIns="0" tIns="0" rIns="0" bIns="0" rtlCol="0" anchor="ctr"/>
          <a:lstStyle/>
          <a:p>
            <a:pPr indent="0" marL="0">
              <a:buNone/>
            </a:pPr>
            <a:r>
              <a:rPr lang="en-US" sz="1200" dirty="0">
                <a:solidFill>
                  <a:srgbClr val="5C7080"/>
                </a:solidFill>
                <a:latin typeface="Courier New" pitchFamily="34" charset="0"/>
                <a:ea typeface="Courier New" pitchFamily="34" charset="-122"/>
                <a:cs typeface="Courier New" pitchFamily="34" charset="-120"/>
              </a:rPr>
              <a:t>γ = 1 is safe</a:t>
            </a:r>
            <a:endParaRPr lang="en-US" sz="1200" dirty="0"/>
          </a:p>
        </p:txBody>
      </p:sp>
      <p:sp>
        <p:nvSpPr>
          <p:cNvPr id="19" name="Text 17"/>
          <p:cNvSpPr/>
          <p:nvPr/>
        </p:nvSpPr>
        <p:spPr>
          <a:xfrm>
            <a:off x="4498848" y="2944368"/>
            <a:ext cx="3054096" cy="132588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A policy guaranteed to reach a terminal state is called proper. With proper policies you never have to compare infinite sequences, so undiscounted rewards are fine.</a:t>
            </a:r>
            <a:endParaRPr lang="en-US" sz="1250" dirty="0"/>
          </a:p>
        </p:txBody>
      </p:sp>
      <p:sp>
        <p:nvSpPr>
          <p:cNvPr id="20" name="Shape 18"/>
          <p:cNvSpPr/>
          <p:nvPr/>
        </p:nvSpPr>
        <p:spPr>
          <a:xfrm>
            <a:off x="4498848" y="4315968"/>
            <a:ext cx="3054096" cy="548640"/>
          </a:xfrm>
          <a:prstGeom prst="roundRect">
            <a:avLst>
              <a:gd name="adj" fmla="val 8333"/>
            </a:avLst>
          </a:prstGeom>
          <a:solidFill>
            <a:srgbClr val="FFFFFF"/>
          </a:solidFill>
          <a:ln w="12700">
            <a:solidFill>
              <a:srgbClr val="D3DDE3"/>
            </a:solidFill>
            <a:prstDash val="solid"/>
          </a:ln>
        </p:spPr>
      </p:sp>
      <p:sp>
        <p:nvSpPr>
          <p:cNvPr id="21" name="Text 19"/>
          <p:cNvSpPr/>
          <p:nvPr/>
        </p:nvSpPr>
        <p:spPr>
          <a:xfrm>
            <a:off x="4572000" y="4315968"/>
            <a:ext cx="2907792" cy="548640"/>
          </a:xfrm>
          <a:prstGeom prst="rect">
            <a:avLst/>
          </a:prstGeom>
          <a:noFill/>
          <a:ln/>
        </p:spPr>
        <p:txBody>
          <a:bodyPr wrap="square" lIns="0" tIns="0" rIns="0" bIns="0" rtlCol="0" anchor="ctr"/>
          <a:lstStyle/>
          <a:p>
            <a:pPr algn="ctr" indent="0" marL="0">
              <a:buNone/>
            </a:pPr>
            <a:r>
              <a:rPr lang="en-US" sz="1150" b="1" dirty="0">
                <a:solidFill>
                  <a:srgbClr val="10263B"/>
                </a:solidFill>
                <a:latin typeface="Cambria" pitchFamily="34" charset="0"/>
                <a:ea typeface="Cambria" pitchFamily="34" charset="-122"/>
                <a:cs typeface="Cambria" pitchFamily="34" charset="-120"/>
              </a:rPr>
              <a:t>improper policies break the standard algorithms</a:t>
            </a:r>
            <a:endParaRPr lang="en-US" sz="1150" dirty="0"/>
          </a:p>
        </p:txBody>
      </p:sp>
      <p:sp>
        <p:nvSpPr>
          <p:cNvPr id="22" name="Shape 20"/>
          <p:cNvSpPr/>
          <p:nvPr/>
        </p:nvSpPr>
        <p:spPr>
          <a:xfrm>
            <a:off x="8028432" y="1920240"/>
            <a:ext cx="3456432" cy="3108960"/>
          </a:xfrm>
          <a:prstGeom prst="roundRect">
            <a:avLst>
              <a:gd name="adj" fmla="val 2647"/>
            </a:avLst>
          </a:prstGeom>
          <a:solidFill>
            <a:srgbClr val="EDF2F5"/>
          </a:solidFill>
          <a:ln/>
          <a:effectLst>
            <a:outerShdw sx="100000" sy="100000" kx="0" ky="0" algn="bl" rotWithShape="0" blurRad="101600" dist="17780" dir="5400000">
              <a:srgbClr val="9FB2BF">
                <a:alpha val="20000"/>
              </a:srgbClr>
            </a:outerShdw>
          </a:effectLst>
        </p:spPr>
      </p:sp>
      <p:sp>
        <p:nvSpPr>
          <p:cNvPr id="23" name="Shape 21"/>
          <p:cNvSpPr/>
          <p:nvPr/>
        </p:nvSpPr>
        <p:spPr>
          <a:xfrm>
            <a:off x="8229600" y="2084832"/>
            <a:ext cx="457200" cy="457200"/>
          </a:xfrm>
          <a:prstGeom prst="ellipse">
            <a:avLst/>
          </a:prstGeom>
          <a:solidFill>
            <a:srgbClr val="5C7080"/>
          </a:solidFill>
          <a:ln/>
        </p:spPr>
      </p:sp>
      <p:sp>
        <p:nvSpPr>
          <p:cNvPr id="24" name="Text 22"/>
          <p:cNvSpPr/>
          <p:nvPr/>
        </p:nvSpPr>
        <p:spPr>
          <a:xfrm>
            <a:off x="8229600" y="20848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3"/>
          <p:cNvSpPr/>
          <p:nvPr/>
        </p:nvSpPr>
        <p:spPr>
          <a:xfrm>
            <a:off x="8796528" y="2084832"/>
            <a:ext cx="2514600" cy="457200"/>
          </a:xfrm>
          <a:prstGeom prst="rect">
            <a:avLst/>
          </a:prstGeom>
          <a:noFill/>
          <a:ln/>
        </p:spPr>
        <p:txBody>
          <a:bodyPr wrap="square" lIns="0" tIns="0" rIns="0" bIns="0" rtlCol="0" anchor="ctr"/>
          <a:lstStyle/>
          <a:p>
            <a:pPr indent="0" marL="0">
              <a:buNone/>
            </a:pPr>
            <a:r>
              <a:rPr lang="en-US" sz="1600" b="1" dirty="0">
                <a:solidFill>
                  <a:srgbClr val="5C7080"/>
                </a:solidFill>
                <a:latin typeface="Cambria" pitchFamily="34" charset="0"/>
                <a:ea typeface="Cambria" pitchFamily="34" charset="-122"/>
                <a:cs typeface="Cambria" pitchFamily="34" charset="-120"/>
              </a:rPr>
              <a:t>Average reward</a:t>
            </a:r>
            <a:endParaRPr lang="en-US" sz="1600" dirty="0"/>
          </a:p>
        </p:txBody>
      </p:sp>
      <p:sp>
        <p:nvSpPr>
          <p:cNvPr id="26" name="Text 24"/>
          <p:cNvSpPr/>
          <p:nvPr/>
        </p:nvSpPr>
        <p:spPr>
          <a:xfrm>
            <a:off x="8229600" y="2615184"/>
            <a:ext cx="3054096" cy="274320"/>
          </a:xfrm>
          <a:prstGeom prst="rect">
            <a:avLst/>
          </a:prstGeom>
          <a:noFill/>
          <a:ln/>
        </p:spPr>
        <p:txBody>
          <a:bodyPr wrap="square" lIns="0" tIns="0" rIns="0" bIns="0" rtlCol="0" anchor="ctr"/>
          <a:lstStyle/>
          <a:p>
            <a:pPr indent="0" marL="0">
              <a:buNone/>
            </a:pPr>
            <a:r>
              <a:rPr lang="en-US" sz="1200" dirty="0">
                <a:solidFill>
                  <a:srgbClr val="5C7080"/>
                </a:solidFill>
                <a:latin typeface="Courier New" pitchFamily="34" charset="0"/>
                <a:ea typeface="Courier New" pitchFamily="34" charset="-122"/>
                <a:cs typeface="Courier New" pitchFamily="34" charset="-120"/>
              </a:rPr>
              <a:t>per time step</a:t>
            </a:r>
            <a:endParaRPr lang="en-US" sz="1200" dirty="0"/>
          </a:p>
        </p:txBody>
      </p:sp>
      <p:sp>
        <p:nvSpPr>
          <p:cNvPr id="27" name="Text 25"/>
          <p:cNvSpPr/>
          <p:nvPr/>
        </p:nvSpPr>
        <p:spPr>
          <a:xfrm>
            <a:off x="8229600" y="2944368"/>
            <a:ext cx="3054096" cy="132588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Compare infinite sequences by average reward per step. Useful for some problems, but the analysis gets genuinely hard.</a:t>
            </a:r>
            <a:endParaRPr lang="en-US" sz="1250" dirty="0"/>
          </a:p>
        </p:txBody>
      </p:sp>
      <p:sp>
        <p:nvSpPr>
          <p:cNvPr id="28" name="Shape 26"/>
          <p:cNvSpPr/>
          <p:nvPr/>
        </p:nvSpPr>
        <p:spPr>
          <a:xfrm>
            <a:off x="8229600" y="4315968"/>
            <a:ext cx="3054096" cy="548640"/>
          </a:xfrm>
          <a:prstGeom prst="roundRect">
            <a:avLst>
              <a:gd name="adj" fmla="val 8333"/>
            </a:avLst>
          </a:prstGeom>
          <a:solidFill>
            <a:srgbClr val="FFFFFF"/>
          </a:solidFill>
          <a:ln w="12700">
            <a:solidFill>
              <a:srgbClr val="D3DDE3"/>
            </a:solidFill>
            <a:prstDash val="solid"/>
          </a:ln>
        </p:spPr>
      </p:sp>
      <p:sp>
        <p:nvSpPr>
          <p:cNvPr id="29" name="Text 27"/>
          <p:cNvSpPr/>
          <p:nvPr/>
        </p:nvSpPr>
        <p:spPr>
          <a:xfrm>
            <a:off x="8302752" y="4315968"/>
            <a:ext cx="2907792" cy="548640"/>
          </a:xfrm>
          <a:prstGeom prst="rect">
            <a:avLst/>
          </a:prstGeom>
          <a:noFill/>
          <a:ln/>
        </p:spPr>
        <p:txBody>
          <a:bodyPr wrap="square" lIns="0" tIns="0" rIns="0" bIns="0" rtlCol="0" anchor="ctr"/>
          <a:lstStyle/>
          <a:p>
            <a:pPr algn="ctr" indent="0" marL="0">
              <a:buNone/>
            </a:pPr>
            <a:r>
              <a:rPr lang="en-US" sz="1150" b="1" dirty="0">
                <a:solidFill>
                  <a:srgbClr val="10263B"/>
                </a:solidFill>
                <a:latin typeface="Cambria" pitchFamily="34" charset="0"/>
                <a:ea typeface="Cambria" pitchFamily="34" charset="-122"/>
                <a:cs typeface="Cambria" pitchFamily="34" charset="-120"/>
              </a:rPr>
              <a:t>we will not use this</a:t>
            </a:r>
            <a:endParaRPr lang="en-US" sz="1150" dirty="0"/>
          </a:p>
        </p:txBody>
      </p:sp>
      <p:sp>
        <p:nvSpPr>
          <p:cNvPr id="30" name="Shape 28"/>
          <p:cNvSpPr/>
          <p:nvPr/>
        </p:nvSpPr>
        <p:spPr>
          <a:xfrm>
            <a:off x="566928" y="5230368"/>
            <a:ext cx="11057839" cy="841248"/>
          </a:xfrm>
          <a:prstGeom prst="roundRect">
            <a:avLst>
              <a:gd name="adj" fmla="val 9783"/>
            </a:avLst>
          </a:prstGeom>
          <a:solidFill>
            <a:srgbClr val="10263B"/>
          </a:solidFill>
          <a:ln/>
          <a:effectLst>
            <a:outerShdw sx="100000" sy="100000" kx="0" ky="0" algn="bl" rotWithShape="0" blurRad="101600" dist="17780" dir="5400000">
              <a:srgbClr val="9FB2BF">
                <a:alpha val="20000"/>
              </a:srgbClr>
            </a:outerShdw>
          </a:effectLst>
        </p:spPr>
      </p:sp>
      <p:sp>
        <p:nvSpPr>
          <p:cNvPr id="31" name="Text 29"/>
          <p:cNvSpPr/>
          <p:nvPr/>
        </p:nvSpPr>
        <p:spPr>
          <a:xfrm>
            <a:off x="822960" y="5230368"/>
            <a:ext cx="10545775" cy="841248"/>
          </a:xfrm>
          <a:prstGeom prst="rect">
            <a:avLst/>
          </a:prstGeom>
          <a:noFill/>
          <a:ln/>
        </p:spPr>
        <p:txBody>
          <a:bodyPr wrap="square" lIns="0" tIns="0" rIns="0" bIns="0" rtlCol="0" anchor="ctr"/>
          <a:lstStyle/>
          <a:p>
            <a:pPr indent="0" marL="0">
              <a:buNone/>
            </a:pPr>
            <a:r>
              <a:rPr lang="en-US" sz="1400" dirty="0">
                <a:solidFill>
                  <a:srgbClr val="DCE7EE"/>
                </a:solidFill>
                <a:latin typeface="Calibri" pitchFamily="34" charset="0"/>
                <a:ea typeface="Calibri" pitchFamily="34" charset="-122"/>
                <a:cs typeface="Calibri" pitchFamily="34" charset="-120"/>
              </a:rPr>
              <a:t>Recall the r &gt; 0 panel two slides back: the agent circled forever and earned infinite reward. That policy is improper, and it is precisely why discounting is the default choice.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Four honest reasons to discount</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19</a:t>
            </a:r>
            <a:endParaRPr lang="en-US" sz="900" dirty="0"/>
          </a:p>
        </p:txBody>
      </p:sp>
      <p:sp>
        <p:nvSpPr>
          <p:cNvPr id="5" name="Shape 3"/>
          <p:cNvSpPr/>
          <p:nvPr/>
        </p:nvSpPr>
        <p:spPr>
          <a:xfrm>
            <a:off x="566928" y="1481328"/>
            <a:ext cx="11057839" cy="1060704"/>
          </a:xfrm>
          <a:prstGeom prst="roundRect">
            <a:avLst>
              <a:gd name="adj" fmla="val 7759"/>
            </a:avLst>
          </a:prstGeom>
          <a:solidFill>
            <a:srgbClr val="EDF2F5"/>
          </a:solidFill>
          <a:ln/>
          <a:effectLst>
            <a:outerShdw sx="100000" sy="100000" kx="0" ky="0" algn="bl" rotWithShape="0" blurRad="101600" dist="17780" dir="5400000">
              <a:srgbClr val="9FB2BF">
                <a:alpha val="20000"/>
              </a:srgbClr>
            </a:outerShdw>
          </a:effectLst>
        </p:spPr>
      </p:sp>
      <p:sp>
        <p:nvSpPr>
          <p:cNvPr id="6" name="Shape 4"/>
          <p:cNvSpPr/>
          <p:nvPr/>
        </p:nvSpPr>
        <p:spPr>
          <a:xfrm>
            <a:off x="786384" y="1773936"/>
            <a:ext cx="475488" cy="475488"/>
          </a:xfrm>
          <a:prstGeom prst="ellipse">
            <a:avLst/>
          </a:prstGeom>
          <a:solidFill>
            <a:srgbClr val="1C7293"/>
          </a:solidFill>
          <a:ln/>
        </p:spPr>
      </p:sp>
      <p:sp>
        <p:nvSpPr>
          <p:cNvPr id="7" name="Text 5"/>
          <p:cNvSpPr/>
          <p:nvPr/>
        </p:nvSpPr>
        <p:spPr>
          <a:xfrm>
            <a:off x="786384" y="177393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1408176" y="1609344"/>
            <a:ext cx="19202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Empirical</a:t>
            </a:r>
            <a:endParaRPr lang="en-US" sz="1600" dirty="0"/>
          </a:p>
        </p:txBody>
      </p:sp>
      <p:sp>
        <p:nvSpPr>
          <p:cNvPr id="9" name="Text 7"/>
          <p:cNvSpPr/>
          <p:nvPr/>
        </p:nvSpPr>
        <p:spPr>
          <a:xfrm>
            <a:off x="3355848" y="1609344"/>
            <a:ext cx="4892040" cy="82296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Humans and animals demonstrably value near-term rewards more than distant ones. The model matches the behavior we want to describe.</a:t>
            </a:r>
            <a:endParaRPr lang="en-US" sz="1250" dirty="0"/>
          </a:p>
        </p:txBody>
      </p:sp>
      <p:sp>
        <p:nvSpPr>
          <p:cNvPr id="10" name="Shape 8"/>
          <p:cNvSpPr/>
          <p:nvPr/>
        </p:nvSpPr>
        <p:spPr>
          <a:xfrm>
            <a:off x="566928" y="2670048"/>
            <a:ext cx="11057839" cy="1060704"/>
          </a:xfrm>
          <a:prstGeom prst="roundRect">
            <a:avLst>
              <a:gd name="adj" fmla="val 7759"/>
            </a:avLst>
          </a:prstGeom>
          <a:solidFill>
            <a:srgbClr val="F7FAFB"/>
          </a:solidFill>
          <a:ln/>
          <a:effectLst>
            <a:outerShdw sx="100000" sy="100000" kx="0" ky="0" algn="bl" rotWithShape="0" blurRad="101600" dist="17780" dir="5400000">
              <a:srgbClr val="9FB2BF">
                <a:alpha val="20000"/>
              </a:srgbClr>
            </a:outerShdw>
          </a:effectLst>
        </p:spPr>
      </p:sp>
      <p:sp>
        <p:nvSpPr>
          <p:cNvPr id="11" name="Shape 9"/>
          <p:cNvSpPr/>
          <p:nvPr/>
        </p:nvSpPr>
        <p:spPr>
          <a:xfrm>
            <a:off x="786384" y="2962656"/>
            <a:ext cx="475488" cy="475488"/>
          </a:xfrm>
          <a:prstGeom prst="ellipse">
            <a:avLst/>
          </a:prstGeom>
          <a:solidFill>
            <a:srgbClr val="1C7293"/>
          </a:solidFill>
          <a:ln/>
        </p:spPr>
      </p:sp>
      <p:sp>
        <p:nvSpPr>
          <p:cNvPr id="12" name="Text 10"/>
          <p:cNvSpPr/>
          <p:nvPr/>
        </p:nvSpPr>
        <p:spPr>
          <a:xfrm>
            <a:off x="786384" y="29626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p:nvPr/>
        </p:nvSpPr>
        <p:spPr>
          <a:xfrm>
            <a:off x="1408176" y="2798064"/>
            <a:ext cx="19202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Economic</a:t>
            </a:r>
            <a:endParaRPr lang="en-US" sz="1600" dirty="0"/>
          </a:p>
        </p:txBody>
      </p:sp>
      <p:sp>
        <p:nvSpPr>
          <p:cNvPr id="14" name="Text 12"/>
          <p:cNvSpPr/>
          <p:nvPr/>
        </p:nvSpPr>
        <p:spPr>
          <a:xfrm>
            <a:off x="3355848" y="2798064"/>
            <a:ext cx="4892040" cy="82296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If rewards are money, earlier really is better: early rewards can be invested. A discount of gamma is equivalent to an interest rate of (1/gamma) - 1.</a:t>
            </a:r>
            <a:endParaRPr lang="en-US" sz="1250" dirty="0"/>
          </a:p>
        </p:txBody>
      </p:sp>
      <p:sp>
        <p:nvSpPr>
          <p:cNvPr id="15" name="Shape 13"/>
          <p:cNvSpPr/>
          <p:nvPr/>
        </p:nvSpPr>
        <p:spPr>
          <a:xfrm>
            <a:off x="8430768" y="2907792"/>
            <a:ext cx="3017520" cy="585216"/>
          </a:xfrm>
          <a:prstGeom prst="roundRect">
            <a:avLst>
              <a:gd name="adj" fmla="val 7813"/>
            </a:avLst>
          </a:prstGeom>
          <a:solidFill>
            <a:srgbClr val="FFFFFF"/>
          </a:solidFill>
          <a:ln w="12700">
            <a:solidFill>
              <a:srgbClr val="D3DDE3"/>
            </a:solidFill>
            <a:prstDash val="solid"/>
          </a:ln>
        </p:spPr>
      </p:sp>
      <p:sp>
        <p:nvSpPr>
          <p:cNvPr id="16" name="Text 14"/>
          <p:cNvSpPr/>
          <p:nvPr/>
        </p:nvSpPr>
        <p:spPr>
          <a:xfrm>
            <a:off x="8503920" y="2907792"/>
            <a:ext cx="2871216" cy="585216"/>
          </a:xfrm>
          <a:prstGeom prst="rect">
            <a:avLst/>
          </a:prstGeom>
          <a:noFill/>
          <a:ln/>
        </p:spPr>
        <p:txBody>
          <a:bodyPr wrap="square" lIns="0" tIns="0" rIns="0" bIns="0" rtlCol="0" anchor="ctr"/>
          <a:lstStyle/>
          <a:p>
            <a:pPr algn="ctr" indent="0" marL="0">
              <a:buNone/>
            </a:pPr>
            <a:r>
              <a:rPr lang="en-US" sz="1150" b="1" dirty="0">
                <a:solidFill>
                  <a:srgbClr val="10263B"/>
                </a:solidFill>
                <a:latin typeface="Cambria" pitchFamily="34" charset="0"/>
                <a:ea typeface="Cambria" pitchFamily="34" charset="-122"/>
                <a:cs typeface="Cambria" pitchFamily="34" charset="-120"/>
              </a:rPr>
              <a:t>γ = 0.9  ⇔  interest rate of 11.1%</a:t>
            </a:r>
            <a:endParaRPr lang="en-US" sz="1150" dirty="0"/>
          </a:p>
        </p:txBody>
      </p:sp>
      <p:sp>
        <p:nvSpPr>
          <p:cNvPr id="17" name="Shape 15"/>
          <p:cNvSpPr/>
          <p:nvPr/>
        </p:nvSpPr>
        <p:spPr>
          <a:xfrm>
            <a:off x="566928" y="3858768"/>
            <a:ext cx="11057839" cy="1060704"/>
          </a:xfrm>
          <a:prstGeom prst="roundRect">
            <a:avLst>
              <a:gd name="adj" fmla="val 7759"/>
            </a:avLst>
          </a:prstGeom>
          <a:solidFill>
            <a:srgbClr val="EDF2F5"/>
          </a:solidFill>
          <a:ln/>
          <a:effectLst>
            <a:outerShdw sx="100000" sy="100000" kx="0" ky="0" algn="bl" rotWithShape="0" blurRad="101600" dist="17780" dir="5400000">
              <a:srgbClr val="9FB2BF">
                <a:alpha val="20000"/>
              </a:srgbClr>
            </a:outerShdw>
          </a:effectLst>
        </p:spPr>
      </p:sp>
      <p:sp>
        <p:nvSpPr>
          <p:cNvPr id="18" name="Shape 16"/>
          <p:cNvSpPr/>
          <p:nvPr/>
        </p:nvSpPr>
        <p:spPr>
          <a:xfrm>
            <a:off x="786384" y="4151376"/>
            <a:ext cx="475488" cy="475488"/>
          </a:xfrm>
          <a:prstGeom prst="ellipse">
            <a:avLst/>
          </a:prstGeom>
          <a:solidFill>
            <a:srgbClr val="1C7293"/>
          </a:solidFill>
          <a:ln/>
        </p:spPr>
      </p:sp>
      <p:sp>
        <p:nvSpPr>
          <p:cNvPr id="19" name="Text 17"/>
          <p:cNvSpPr/>
          <p:nvPr/>
        </p:nvSpPr>
        <p:spPr>
          <a:xfrm>
            <a:off x="786384" y="41513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1408176" y="3986784"/>
            <a:ext cx="19202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Uncertainty</a:t>
            </a:r>
            <a:endParaRPr lang="en-US" sz="1600" dirty="0"/>
          </a:p>
        </p:txBody>
      </p:sp>
      <p:sp>
        <p:nvSpPr>
          <p:cNvPr id="21" name="Text 19"/>
          <p:cNvSpPr/>
          <p:nvPr/>
        </p:nvSpPr>
        <p:spPr>
          <a:xfrm>
            <a:off x="3355848" y="3986784"/>
            <a:ext cx="4892040" cy="82296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Rewards may never arrive for reasons your transition model does not capture. A discount of gamma is equivalent to a probability 1 - gamma of accidental termination on every step.</a:t>
            </a:r>
            <a:endParaRPr lang="en-US" sz="1250" dirty="0"/>
          </a:p>
        </p:txBody>
      </p:sp>
      <p:sp>
        <p:nvSpPr>
          <p:cNvPr id="22" name="Shape 20"/>
          <p:cNvSpPr/>
          <p:nvPr/>
        </p:nvSpPr>
        <p:spPr>
          <a:xfrm>
            <a:off x="8430768" y="4096512"/>
            <a:ext cx="3017520" cy="585216"/>
          </a:xfrm>
          <a:prstGeom prst="roundRect">
            <a:avLst>
              <a:gd name="adj" fmla="val 7813"/>
            </a:avLst>
          </a:prstGeom>
          <a:solidFill>
            <a:srgbClr val="FFFFFF"/>
          </a:solidFill>
          <a:ln w="12700">
            <a:solidFill>
              <a:srgbClr val="D3DDE3"/>
            </a:solidFill>
            <a:prstDash val="solid"/>
          </a:ln>
        </p:spPr>
      </p:sp>
      <p:sp>
        <p:nvSpPr>
          <p:cNvPr id="23" name="Text 21"/>
          <p:cNvSpPr/>
          <p:nvPr/>
        </p:nvSpPr>
        <p:spPr>
          <a:xfrm>
            <a:off x="8503920" y="4096512"/>
            <a:ext cx="2871216" cy="585216"/>
          </a:xfrm>
          <a:prstGeom prst="rect">
            <a:avLst/>
          </a:prstGeom>
          <a:noFill/>
          <a:ln/>
        </p:spPr>
        <p:txBody>
          <a:bodyPr wrap="square" lIns="0" tIns="0" rIns="0" bIns="0" rtlCol="0" anchor="ctr"/>
          <a:lstStyle/>
          <a:p>
            <a:pPr algn="ctr" indent="0" marL="0">
              <a:buNone/>
            </a:pPr>
            <a:r>
              <a:rPr lang="en-US" sz="1150" b="1" dirty="0">
                <a:solidFill>
                  <a:srgbClr val="10263B"/>
                </a:solidFill>
                <a:latin typeface="Cambria" pitchFamily="34" charset="0"/>
                <a:ea typeface="Cambria" pitchFamily="34" charset="-122"/>
                <a:cs typeface="Cambria" pitchFamily="34" charset="-120"/>
              </a:rPr>
              <a:t>γ = 0.9  ⇔  10% chance the world ends each step</a:t>
            </a:r>
            <a:endParaRPr lang="en-US" sz="1150" dirty="0"/>
          </a:p>
        </p:txBody>
      </p:sp>
      <p:sp>
        <p:nvSpPr>
          <p:cNvPr id="24" name="Shape 22"/>
          <p:cNvSpPr/>
          <p:nvPr/>
        </p:nvSpPr>
        <p:spPr>
          <a:xfrm>
            <a:off x="566928" y="5047488"/>
            <a:ext cx="11057839" cy="1060704"/>
          </a:xfrm>
          <a:prstGeom prst="roundRect">
            <a:avLst>
              <a:gd name="adj" fmla="val 7759"/>
            </a:avLst>
          </a:prstGeom>
          <a:solidFill>
            <a:srgbClr val="F7FAFB"/>
          </a:solidFill>
          <a:ln/>
          <a:effectLst>
            <a:outerShdw sx="100000" sy="100000" kx="0" ky="0" algn="bl" rotWithShape="0" blurRad="101600" dist="17780" dir="5400000">
              <a:srgbClr val="9FB2BF">
                <a:alpha val="20000"/>
              </a:srgbClr>
            </a:outerShdw>
          </a:effectLst>
        </p:spPr>
      </p:sp>
      <p:sp>
        <p:nvSpPr>
          <p:cNvPr id="25" name="Shape 23"/>
          <p:cNvSpPr/>
          <p:nvPr/>
        </p:nvSpPr>
        <p:spPr>
          <a:xfrm>
            <a:off x="786384" y="5340096"/>
            <a:ext cx="475488" cy="475488"/>
          </a:xfrm>
          <a:prstGeom prst="ellipse">
            <a:avLst/>
          </a:prstGeom>
          <a:solidFill>
            <a:srgbClr val="1C7293"/>
          </a:solidFill>
          <a:ln/>
        </p:spPr>
      </p:sp>
      <p:sp>
        <p:nvSpPr>
          <p:cNvPr id="26" name="Text 24"/>
          <p:cNvSpPr/>
          <p:nvPr/>
        </p:nvSpPr>
        <p:spPr>
          <a:xfrm>
            <a:off x="786384" y="53400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7" name="Text 25"/>
          <p:cNvSpPr/>
          <p:nvPr/>
        </p:nvSpPr>
        <p:spPr>
          <a:xfrm>
            <a:off x="1408176" y="5175504"/>
            <a:ext cx="1920240" cy="384048"/>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Mathematical</a:t>
            </a:r>
            <a:endParaRPr lang="en-US" sz="1600" dirty="0"/>
          </a:p>
        </p:txBody>
      </p:sp>
      <p:sp>
        <p:nvSpPr>
          <p:cNvPr id="28" name="Text 26"/>
          <p:cNvSpPr/>
          <p:nvPr/>
        </p:nvSpPr>
        <p:spPr>
          <a:xfrm>
            <a:off x="3355848" y="5175504"/>
            <a:ext cx="4892040" cy="82296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It makes some nasty infinities go away, and it is the only form of history utility consistent with stationary preferences.</a:t>
            </a:r>
            <a:endParaRPr lang="en-US" sz="1250" dirty="0"/>
          </a:p>
        </p:txBody>
      </p:sp>
      <p:sp>
        <p:nvSpPr>
          <p:cNvPr id="29" name="Shape 27"/>
          <p:cNvSpPr/>
          <p:nvPr/>
        </p:nvSpPr>
        <p:spPr>
          <a:xfrm>
            <a:off x="8430768" y="5285232"/>
            <a:ext cx="3017520" cy="585216"/>
          </a:xfrm>
          <a:prstGeom prst="roundRect">
            <a:avLst>
              <a:gd name="adj" fmla="val 7813"/>
            </a:avLst>
          </a:prstGeom>
          <a:solidFill>
            <a:srgbClr val="FFFFFF"/>
          </a:solidFill>
          <a:ln w="12700">
            <a:solidFill>
              <a:srgbClr val="D3DDE3"/>
            </a:solidFill>
            <a:prstDash val="solid"/>
          </a:ln>
        </p:spPr>
      </p:sp>
      <p:sp>
        <p:nvSpPr>
          <p:cNvPr id="30" name="Text 28"/>
          <p:cNvSpPr/>
          <p:nvPr/>
        </p:nvSpPr>
        <p:spPr>
          <a:xfrm>
            <a:off x="8503920" y="5285232"/>
            <a:ext cx="2871216" cy="585216"/>
          </a:xfrm>
          <a:prstGeom prst="rect">
            <a:avLst/>
          </a:prstGeom>
          <a:noFill/>
          <a:ln/>
        </p:spPr>
        <p:txBody>
          <a:bodyPr wrap="square" lIns="0" tIns="0" rIns="0" bIns="0" rtlCol="0" anchor="ctr"/>
          <a:lstStyle/>
          <a:p>
            <a:pPr algn="ctr" indent="0" marL="0">
              <a:buNone/>
            </a:pPr>
            <a:r>
              <a:rPr lang="en-US" sz="1150" b="1" dirty="0">
                <a:solidFill>
                  <a:srgbClr val="10263B"/>
                </a:solidFill>
                <a:latin typeface="Cambria" pitchFamily="34" charset="0"/>
                <a:ea typeface="Cambria" pitchFamily="34" charset="-122"/>
                <a:cs typeface="Cambria" pitchFamily="34" charset="-120"/>
              </a:rPr>
              <a:t>and it makes the algorithms converge</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utility of a state</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AIMA 17.1.2  |  From scoring histories to scoring states</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20</a:t>
            </a:r>
            <a:endParaRPr lang="en-US" sz="900" dirty="0"/>
          </a:p>
        </p:txBody>
      </p:sp>
      <p:sp>
        <p:nvSpPr>
          <p:cNvPr id="6" name="Text 4"/>
          <p:cNvSpPr/>
          <p:nvPr/>
        </p:nvSpPr>
        <p:spPr>
          <a:xfrm>
            <a:off x="566928" y="1481328"/>
            <a:ext cx="6903720" cy="384048"/>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Executing a policy from s generates a distribution over histories. The expected utility of that distribution is:</a:t>
            </a:r>
            <a:endParaRPr lang="en-US" sz="1450" dirty="0"/>
          </a:p>
        </p:txBody>
      </p:sp>
      <p:sp>
        <p:nvSpPr>
          <p:cNvPr id="7" name="Shape 5"/>
          <p:cNvSpPr/>
          <p:nvPr/>
        </p:nvSpPr>
        <p:spPr>
          <a:xfrm>
            <a:off x="566928" y="1938528"/>
            <a:ext cx="6903720" cy="749808"/>
          </a:xfrm>
          <a:prstGeom prst="roundRect">
            <a:avLst>
              <a:gd name="adj" fmla="val 7317"/>
            </a:avLst>
          </a:prstGeom>
          <a:solidFill>
            <a:srgbClr val="F7FAFB"/>
          </a:solidFill>
          <a:ln w="12700">
            <a:solidFill>
              <a:srgbClr val="D3DDE3"/>
            </a:solidFill>
            <a:prstDash val="solid"/>
          </a:ln>
        </p:spPr>
      </p:sp>
      <p:sp>
        <p:nvSpPr>
          <p:cNvPr id="8" name="Text 6"/>
          <p:cNvSpPr/>
          <p:nvPr/>
        </p:nvSpPr>
        <p:spPr>
          <a:xfrm>
            <a:off x="676656" y="1938528"/>
            <a:ext cx="6684264" cy="749808"/>
          </a:xfrm>
          <a:prstGeom prst="rect">
            <a:avLst/>
          </a:prstGeom>
          <a:noFill/>
          <a:ln/>
        </p:spPr>
        <p:txBody>
          <a:bodyPr wrap="square" lIns="0" tIns="0" rIns="0" bIns="0" rtlCol="0" anchor="ctr"/>
          <a:lstStyle/>
          <a:p>
            <a:pPr algn="ctr" indent="0" marL="0">
              <a:buNone/>
            </a:pPr>
            <a:r>
              <a:rPr lang="en-US" sz="1700" b="1" dirty="0">
                <a:solidFill>
                  <a:srgbClr val="10263B"/>
                </a:solidFill>
                <a:latin typeface="Cambria" pitchFamily="34" charset="0"/>
                <a:ea typeface="Cambria" pitchFamily="34" charset="-122"/>
                <a:cs typeface="Cambria" pitchFamily="34" charset="-120"/>
              </a:rPr>
              <a:t>U</a:t>
            </a:r>
            <a:pPr algn="ctr" indent="0" marL="0">
              <a:buNone/>
            </a:pPr>
            <a:r>
              <a:rPr lang="en-US" sz="1700" b="1" baseline="30000" dirty="0">
                <a:solidFill>
                  <a:srgbClr val="10263B"/>
                </a:solidFill>
                <a:latin typeface="Cambria" pitchFamily="34" charset="0"/>
                <a:ea typeface="Cambria" pitchFamily="34" charset="-122"/>
                <a:cs typeface="Cambria" pitchFamily="34" charset="-120"/>
              </a:rPr>
              <a:t>π</a:t>
            </a:r>
            <a:pPr algn="ctr" indent="0" marL="0">
              <a:buNone/>
            </a:pPr>
            <a:r>
              <a:rPr lang="en-US" sz="1700" b="1" dirty="0">
                <a:solidFill>
                  <a:srgbClr val="10263B"/>
                </a:solidFill>
                <a:latin typeface="Cambria" pitchFamily="34" charset="0"/>
                <a:ea typeface="Cambria" pitchFamily="34" charset="-122"/>
                <a:cs typeface="Cambria" pitchFamily="34" charset="-120"/>
              </a:rPr>
              <a:t>(s)  =  E [ Σ</a:t>
            </a:r>
            <a:pPr algn="ctr" indent="0" marL="0">
              <a:buNone/>
            </a:pPr>
            <a:r>
              <a:rPr lang="en-US" sz="1700" b="1" baseline="-40000" dirty="0">
                <a:solidFill>
                  <a:srgbClr val="10263B"/>
                </a:solidFill>
                <a:latin typeface="Cambria" pitchFamily="34" charset="0"/>
                <a:ea typeface="Cambria" pitchFamily="34" charset="-122"/>
                <a:cs typeface="Cambria" pitchFamily="34" charset="-120"/>
              </a:rPr>
              <a:t>t=0</a:t>
            </a:r>
            <a:pPr algn="ctr" indent="0" marL="0">
              <a:buNone/>
            </a:pPr>
            <a:r>
              <a:rPr lang="en-US" sz="1700" b="1" baseline="30000" dirty="0">
                <a:solidFill>
                  <a:srgbClr val="10263B"/>
                </a:solidFill>
                <a:latin typeface="Cambria" pitchFamily="34" charset="0"/>
                <a:ea typeface="Cambria" pitchFamily="34" charset="-122"/>
                <a:cs typeface="Cambria" pitchFamily="34" charset="-120"/>
              </a:rPr>
              <a:t>∞</a:t>
            </a:r>
            <a:pPr algn="ctr" indent="0" marL="0">
              <a:buNone/>
            </a:pPr>
            <a:r>
              <a:rPr lang="en-US" sz="1700" b="1" dirty="0">
                <a:solidFill>
                  <a:srgbClr val="10263B"/>
                </a:solidFill>
                <a:latin typeface="Cambria" pitchFamily="34" charset="0"/>
                <a:ea typeface="Cambria" pitchFamily="34" charset="-122"/>
                <a:cs typeface="Cambria" pitchFamily="34" charset="-120"/>
              </a:rPr>
              <a:t> γ</a:t>
            </a:r>
            <a:pPr algn="ctr" indent="0" marL="0">
              <a:buNone/>
            </a:pPr>
            <a:r>
              <a:rPr lang="en-US" sz="1700" b="1" baseline="30000" dirty="0">
                <a:solidFill>
                  <a:srgbClr val="10263B"/>
                </a:solidFill>
                <a:latin typeface="Cambria" pitchFamily="34" charset="0"/>
                <a:ea typeface="Cambria" pitchFamily="34" charset="-122"/>
                <a:cs typeface="Cambria" pitchFamily="34" charset="-120"/>
              </a:rPr>
              <a:t>t</a:t>
            </a:r>
            <a:pPr algn="ctr" indent="0" marL="0">
              <a:buNone/>
            </a:pPr>
            <a:r>
              <a:rPr lang="en-US" sz="1700" b="1" dirty="0">
                <a:solidFill>
                  <a:srgbClr val="10263B"/>
                </a:solidFill>
                <a:latin typeface="Cambria" pitchFamily="34" charset="0"/>
                <a:ea typeface="Cambria" pitchFamily="34" charset="-122"/>
                <a:cs typeface="Cambria" pitchFamily="34" charset="-120"/>
              </a:rPr>
              <a:t> R(S</a:t>
            </a:r>
            <a:pPr algn="ctr" indent="0" marL="0">
              <a:buNone/>
            </a:pPr>
            <a:r>
              <a:rPr lang="en-US" sz="1700" b="1" baseline="-40000" dirty="0">
                <a:solidFill>
                  <a:srgbClr val="10263B"/>
                </a:solidFill>
                <a:latin typeface="Cambria" pitchFamily="34" charset="0"/>
                <a:ea typeface="Cambria" pitchFamily="34" charset="-122"/>
                <a:cs typeface="Cambria" pitchFamily="34" charset="-120"/>
              </a:rPr>
              <a:t>t</a:t>
            </a:r>
            <a:pPr algn="ctr" indent="0" marL="0">
              <a:buNone/>
            </a:pPr>
            <a:r>
              <a:rPr lang="en-US" sz="1700" b="1" dirty="0">
                <a:solidFill>
                  <a:srgbClr val="10263B"/>
                </a:solidFill>
                <a:latin typeface="Cambria" pitchFamily="34" charset="0"/>
                <a:ea typeface="Cambria" pitchFamily="34" charset="-122"/>
                <a:cs typeface="Cambria" pitchFamily="34" charset="-120"/>
              </a:rPr>
              <a:t>, π(S</a:t>
            </a:r>
            <a:pPr algn="ctr" indent="0" marL="0">
              <a:buNone/>
            </a:pPr>
            <a:r>
              <a:rPr lang="en-US" sz="1700" b="1" baseline="-40000" dirty="0">
                <a:solidFill>
                  <a:srgbClr val="10263B"/>
                </a:solidFill>
                <a:latin typeface="Cambria" pitchFamily="34" charset="0"/>
                <a:ea typeface="Cambria" pitchFamily="34" charset="-122"/>
                <a:cs typeface="Cambria" pitchFamily="34" charset="-120"/>
              </a:rPr>
              <a:t>t</a:t>
            </a:r>
            <a:pPr algn="ctr" indent="0" marL="0">
              <a:buNone/>
            </a:pPr>
            <a:r>
              <a:rPr lang="en-US" sz="1700" b="1" dirty="0">
                <a:solidFill>
                  <a:srgbClr val="10263B"/>
                </a:solidFill>
                <a:latin typeface="Cambria" pitchFamily="34" charset="0"/>
                <a:ea typeface="Cambria" pitchFamily="34" charset="-122"/>
                <a:cs typeface="Cambria" pitchFamily="34" charset="-120"/>
              </a:rPr>
              <a:t>), S</a:t>
            </a:r>
            <a:pPr algn="ctr" indent="0" marL="0">
              <a:buNone/>
            </a:pPr>
            <a:r>
              <a:rPr lang="en-US" sz="1700" b="1" baseline="-40000" dirty="0">
                <a:solidFill>
                  <a:srgbClr val="10263B"/>
                </a:solidFill>
                <a:latin typeface="Cambria" pitchFamily="34" charset="0"/>
                <a:ea typeface="Cambria" pitchFamily="34" charset="-122"/>
                <a:cs typeface="Cambria" pitchFamily="34" charset="-120"/>
              </a:rPr>
              <a:t>t+1</a:t>
            </a:r>
            <a:pPr algn="ctr" indent="0" marL="0">
              <a:buNone/>
            </a:pPr>
            <a:r>
              <a:rPr lang="en-US" sz="1700" b="1" dirty="0">
                <a:solidFill>
                  <a:srgbClr val="10263B"/>
                </a:solidFill>
                <a:latin typeface="Cambria" pitchFamily="34" charset="0"/>
                <a:ea typeface="Cambria" pitchFamily="34" charset="-122"/>
                <a:cs typeface="Cambria" pitchFamily="34" charset="-120"/>
              </a:rPr>
              <a:t>) ]</a:t>
            </a:r>
            <a:endParaRPr lang="en-US" sz="1700" dirty="0"/>
          </a:p>
        </p:txBody>
      </p:sp>
      <p:sp>
        <p:nvSpPr>
          <p:cNvPr id="9" name="Text 7"/>
          <p:cNvSpPr/>
          <p:nvPr/>
        </p:nvSpPr>
        <p:spPr>
          <a:xfrm>
            <a:off x="566928" y="2715768"/>
            <a:ext cx="690372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equation 17.2</a:t>
            </a:r>
            <a:endParaRPr lang="en-US" sz="1100" dirty="0"/>
          </a:p>
        </p:txBody>
      </p:sp>
      <p:sp>
        <p:nvSpPr>
          <p:cNvPr id="10" name="Text 8"/>
          <p:cNvSpPr/>
          <p:nvPr/>
        </p:nvSpPr>
        <p:spPr>
          <a:xfrm>
            <a:off x="566928" y="3054096"/>
            <a:ext cx="6903720" cy="384048"/>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Among all policies, one or more achieve the highest expected utility starting from s:</a:t>
            </a:r>
            <a:endParaRPr lang="en-US" sz="1450" dirty="0"/>
          </a:p>
        </p:txBody>
      </p:sp>
      <p:sp>
        <p:nvSpPr>
          <p:cNvPr id="11" name="Shape 9"/>
          <p:cNvSpPr/>
          <p:nvPr/>
        </p:nvSpPr>
        <p:spPr>
          <a:xfrm>
            <a:off x="566928" y="3493008"/>
            <a:ext cx="6903720" cy="676656"/>
          </a:xfrm>
          <a:prstGeom prst="roundRect">
            <a:avLst>
              <a:gd name="adj" fmla="val 8108"/>
            </a:avLst>
          </a:prstGeom>
          <a:solidFill>
            <a:srgbClr val="F7FAFB"/>
          </a:solidFill>
          <a:ln w="12700">
            <a:solidFill>
              <a:srgbClr val="D3DDE3"/>
            </a:solidFill>
            <a:prstDash val="solid"/>
          </a:ln>
        </p:spPr>
      </p:sp>
      <p:sp>
        <p:nvSpPr>
          <p:cNvPr id="12" name="Text 10"/>
          <p:cNvSpPr/>
          <p:nvPr/>
        </p:nvSpPr>
        <p:spPr>
          <a:xfrm>
            <a:off x="676656" y="3493008"/>
            <a:ext cx="6684264" cy="676656"/>
          </a:xfrm>
          <a:prstGeom prst="rect">
            <a:avLst/>
          </a:prstGeom>
          <a:noFill/>
          <a:ln/>
        </p:spPr>
        <p:txBody>
          <a:bodyPr wrap="square" lIns="0" tIns="0" rIns="0" bIns="0" rtlCol="0" anchor="ctr"/>
          <a:lstStyle/>
          <a:p>
            <a:pPr algn="ctr" indent="0" marL="0">
              <a:buNone/>
            </a:pPr>
            <a:r>
              <a:rPr lang="en-US" sz="1800" b="1" dirty="0">
                <a:solidFill>
                  <a:srgbClr val="10263B"/>
                </a:solidFill>
                <a:latin typeface="Cambria" pitchFamily="34" charset="0"/>
                <a:ea typeface="Cambria" pitchFamily="34" charset="-122"/>
                <a:cs typeface="Cambria" pitchFamily="34" charset="-120"/>
              </a:rPr>
              <a:t>π</a:t>
            </a:r>
            <a:pPr algn="ctr" indent="0" marL="0">
              <a:buNone/>
            </a:pPr>
            <a:r>
              <a:rPr lang="en-US" sz="1800" b="1" baseline="30000" dirty="0">
                <a:solidFill>
                  <a:srgbClr val="10263B"/>
                </a:solidFill>
                <a:latin typeface="Cambria" pitchFamily="34" charset="0"/>
                <a:ea typeface="Cambria" pitchFamily="34" charset="-122"/>
                <a:cs typeface="Cambria" pitchFamily="34" charset="-120"/>
              </a:rPr>
              <a:t>*</a:t>
            </a:r>
            <a:pPr algn="ctr" indent="0" marL="0">
              <a:buNone/>
            </a:pPr>
            <a:r>
              <a:rPr lang="en-US" sz="1800" b="1" baseline="-40000" dirty="0">
                <a:solidFill>
                  <a:srgbClr val="10263B"/>
                </a:solidFill>
                <a:latin typeface="Cambria" pitchFamily="34" charset="0"/>
                <a:ea typeface="Cambria" pitchFamily="34" charset="-122"/>
                <a:cs typeface="Cambria" pitchFamily="34" charset="-120"/>
              </a:rPr>
              <a:t>s</a:t>
            </a:r>
            <a:pPr algn="ctr" indent="0" marL="0">
              <a:buNone/>
            </a:pPr>
            <a:r>
              <a:rPr lang="en-US" sz="1800" b="1" dirty="0">
                <a:solidFill>
                  <a:srgbClr val="10263B"/>
                </a:solidFill>
                <a:latin typeface="Cambria" pitchFamily="34" charset="0"/>
                <a:ea typeface="Cambria" pitchFamily="34" charset="-122"/>
                <a:cs typeface="Cambria" pitchFamily="34" charset="-120"/>
              </a:rPr>
              <a:t>  =  argmax</a:t>
            </a:r>
            <a:pPr algn="ctr" indent="0" marL="0">
              <a:buNone/>
            </a:pPr>
            <a:r>
              <a:rPr lang="en-US" sz="1800" b="1" baseline="-40000" dirty="0">
                <a:solidFill>
                  <a:srgbClr val="10263B"/>
                </a:solidFill>
                <a:latin typeface="Cambria" pitchFamily="34" charset="0"/>
                <a:ea typeface="Cambria" pitchFamily="34" charset="-122"/>
                <a:cs typeface="Cambria" pitchFamily="34" charset="-120"/>
              </a:rPr>
              <a:t>π</a:t>
            </a:r>
            <a:pPr algn="ctr" indent="0" marL="0">
              <a:buNone/>
            </a:pPr>
            <a:r>
              <a:rPr lang="en-US" sz="1800" b="1" dirty="0">
                <a:solidFill>
                  <a:srgbClr val="10263B"/>
                </a:solidFill>
                <a:latin typeface="Cambria" pitchFamily="34" charset="0"/>
                <a:ea typeface="Cambria" pitchFamily="34" charset="-122"/>
                <a:cs typeface="Cambria" pitchFamily="34" charset="-120"/>
              </a:rPr>
              <a:t>  U</a:t>
            </a:r>
            <a:pPr algn="ctr" indent="0" marL="0">
              <a:buNone/>
            </a:pPr>
            <a:r>
              <a:rPr lang="en-US" sz="1800" b="1" baseline="30000" dirty="0">
                <a:solidFill>
                  <a:srgbClr val="10263B"/>
                </a:solidFill>
                <a:latin typeface="Cambria" pitchFamily="34" charset="0"/>
                <a:ea typeface="Cambria" pitchFamily="34" charset="-122"/>
                <a:cs typeface="Cambria" pitchFamily="34" charset="-120"/>
              </a:rPr>
              <a:t>π</a:t>
            </a:r>
            <a:pPr algn="ctr" indent="0" marL="0">
              <a:buNone/>
            </a:pPr>
            <a:r>
              <a:rPr lang="en-US" sz="1800" b="1" dirty="0">
                <a:solidFill>
                  <a:srgbClr val="10263B"/>
                </a:solidFill>
                <a:latin typeface="Cambria" pitchFamily="34" charset="0"/>
                <a:ea typeface="Cambria" pitchFamily="34" charset="-122"/>
                <a:cs typeface="Cambria" pitchFamily="34" charset="-120"/>
              </a:rPr>
              <a:t>(s)</a:t>
            </a:r>
            <a:endParaRPr lang="en-US" sz="1800" dirty="0"/>
          </a:p>
        </p:txBody>
      </p:sp>
      <p:sp>
        <p:nvSpPr>
          <p:cNvPr id="13" name="Text 11"/>
          <p:cNvSpPr/>
          <p:nvPr/>
        </p:nvSpPr>
        <p:spPr>
          <a:xfrm>
            <a:off x="566928" y="4197096"/>
            <a:ext cx="690372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equation 17.3</a:t>
            </a:r>
            <a:endParaRPr lang="en-US" sz="1100" dirty="0"/>
          </a:p>
        </p:txBody>
      </p:sp>
      <p:sp>
        <p:nvSpPr>
          <p:cNvPr id="14" name="Shape 12"/>
          <p:cNvSpPr/>
          <p:nvPr/>
        </p:nvSpPr>
        <p:spPr>
          <a:xfrm>
            <a:off x="7699248" y="1874520"/>
            <a:ext cx="3913632" cy="3246120"/>
          </a:xfrm>
          <a:prstGeom prst="roundRect">
            <a:avLst>
              <a:gd name="adj" fmla="val 2535"/>
            </a:avLst>
          </a:prstGeom>
          <a:solidFill>
            <a:srgbClr val="10263B"/>
          </a:solidFill>
          <a:ln/>
          <a:effectLst>
            <a:outerShdw sx="100000" sy="100000" kx="0" ky="0" algn="bl" rotWithShape="0" blurRad="101600" dist="17780" dir="5400000">
              <a:srgbClr val="9FB2BF">
                <a:alpha val="20000"/>
              </a:srgbClr>
            </a:outerShdw>
          </a:effectLst>
        </p:spPr>
      </p:sp>
      <p:sp>
        <p:nvSpPr>
          <p:cNvPr id="15" name="Text 13"/>
          <p:cNvSpPr/>
          <p:nvPr/>
        </p:nvSpPr>
        <p:spPr>
          <a:xfrm>
            <a:off x="7918704" y="2011680"/>
            <a:ext cx="35204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A remarkable consequence</a:t>
            </a:r>
            <a:endParaRPr lang="en-US" sz="1500" dirty="0"/>
          </a:p>
        </p:txBody>
      </p:sp>
      <p:sp>
        <p:nvSpPr>
          <p:cNvPr id="16" name="Text 14"/>
          <p:cNvSpPr/>
          <p:nvPr/>
        </p:nvSpPr>
        <p:spPr>
          <a:xfrm>
            <a:off x="7918704" y="2395728"/>
            <a:ext cx="3520440" cy="77724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With discounted utilities over an infinite horizon, the optimal policy does not depend on the starting state.</a:t>
            </a:r>
            <a:endParaRPr lang="en-US" sz="1300" dirty="0"/>
          </a:p>
        </p:txBody>
      </p:sp>
      <p:sp>
        <p:nvSpPr>
          <p:cNvPr id="17" name="Text 15"/>
          <p:cNvSpPr/>
          <p:nvPr/>
        </p:nvSpPr>
        <p:spPr>
          <a:xfrm>
            <a:off x="7918704" y="3218688"/>
            <a:ext cx="3520440" cy="1005840"/>
          </a:xfrm>
          <a:prstGeom prst="rect">
            <a:avLst/>
          </a:prstGeom>
          <a:noFill/>
          <a:ln/>
        </p:spPr>
        <p:txBody>
          <a:bodyPr wrap="square" lIns="0" tIns="0" rIns="0" bIns="0" rtlCol="0" anchor="t"/>
          <a:lstStyle/>
          <a:p>
            <a:pPr indent="0" marL="0">
              <a:buNone/>
            </a:pPr>
            <a:r>
              <a:rPr lang="en-US" sz="1250" i="1" dirty="0">
                <a:solidFill>
                  <a:srgbClr val="A9C0CF"/>
                </a:solidFill>
                <a:latin typeface="Calibri" pitchFamily="34" charset="0"/>
                <a:ea typeface="Calibri" pitchFamily="34" charset="-122"/>
                <a:cs typeface="Calibri" pitchFamily="34" charset="-120"/>
              </a:rPr>
              <a:t>If pi-a is optimal starting at a and pi-b is optimal starting at b, then when both reach a third state c there is no reason for them to disagree about what to do next.</a:t>
            </a:r>
            <a:endParaRPr lang="en-US" sz="1250" dirty="0"/>
          </a:p>
        </p:txBody>
      </p:sp>
      <p:sp>
        <p:nvSpPr>
          <p:cNvPr id="18" name="Text 16"/>
          <p:cNvSpPr/>
          <p:nvPr/>
        </p:nvSpPr>
        <p:spPr>
          <a:xfrm>
            <a:off x="7918704" y="4315968"/>
            <a:ext cx="3520440" cy="640080"/>
          </a:xfrm>
          <a:prstGeom prst="rect">
            <a:avLst/>
          </a:prstGeom>
          <a:noFill/>
          <a:ln/>
        </p:spPr>
        <p:txBody>
          <a:bodyPr wrap="square" lIns="0" tIns="0" rIns="0" bIns="0" rtlCol="0" anchor="t"/>
          <a:lstStyle/>
          <a:p>
            <a:pPr indent="0" marL="0">
              <a:buNone/>
            </a:pPr>
            <a:r>
              <a:rPr lang="en-US" sz="1350" b="1" dirty="0">
                <a:solidFill>
                  <a:srgbClr val="FFFFFF"/>
                </a:solidFill>
                <a:latin typeface="Calibri" pitchFamily="34" charset="0"/>
                <a:ea typeface="Calibri" pitchFamily="34" charset="-122"/>
                <a:cs typeface="Calibri" pitchFamily="34" charset="-120"/>
              </a:rPr>
              <a:t>So we drop the subscript and write just pi*.</a:t>
            </a:r>
            <a:endParaRPr lang="en-US" sz="1350" dirty="0"/>
          </a:p>
        </p:txBody>
      </p:sp>
      <p:sp>
        <p:nvSpPr>
          <p:cNvPr id="19" name="Shape 17"/>
          <p:cNvSpPr/>
          <p:nvPr/>
        </p:nvSpPr>
        <p:spPr>
          <a:xfrm>
            <a:off x="566928" y="5303520"/>
            <a:ext cx="11057839" cy="841248"/>
          </a:xfrm>
          <a:prstGeom prst="roundRect">
            <a:avLst>
              <a:gd name="adj" fmla="val 9783"/>
            </a:avLst>
          </a:prstGeom>
          <a:solidFill>
            <a:srgbClr val="F5DFA8"/>
          </a:solidFill>
          <a:ln/>
        </p:spPr>
      </p:sp>
      <p:sp>
        <p:nvSpPr>
          <p:cNvPr id="20" name="Text 18"/>
          <p:cNvSpPr/>
          <p:nvPr/>
        </p:nvSpPr>
        <p:spPr>
          <a:xfrm>
            <a:off x="804672" y="5303520"/>
            <a:ext cx="10582351" cy="841248"/>
          </a:xfrm>
          <a:prstGeom prst="rect">
            <a:avLst/>
          </a:prstGeom>
          <a:noFill/>
          <a:ln/>
        </p:spPr>
        <p:txBody>
          <a:bodyPr wrap="square" lIns="0" tIns="0" rIns="0" bIns="0" rtlCol="0" anchor="ctr"/>
          <a:lstStyle/>
          <a:p>
            <a:pPr indent="0" marL="0">
              <a:buNone/>
            </a:pPr>
            <a:r>
              <a:rPr lang="en-US" sz="1400" b="1" dirty="0">
                <a:solidFill>
                  <a:srgbClr val="10263B"/>
                </a:solidFill>
                <a:latin typeface="Calibri" pitchFamily="34" charset="0"/>
                <a:ea typeface="Calibri" pitchFamily="34" charset="-122"/>
                <a:cs typeface="Calibri" pitchFamily="34" charset="-120"/>
              </a:rPr>
              <a:t>Definition.  </a:t>
            </a:r>
            <a:pPr indent="0" marL="0">
              <a:buNone/>
            </a:pPr>
            <a:r>
              <a:rPr lang="en-US" sz="1400" dirty="0">
                <a:solidFill>
                  <a:srgbClr val="10263B"/>
                </a:solidFill>
                <a:latin typeface="Calibri" pitchFamily="34" charset="0"/>
                <a:ea typeface="Calibri" pitchFamily="34" charset="-122"/>
                <a:cs typeface="Calibri" pitchFamily="34" charset="-120"/>
              </a:rPr>
              <a:t>The true utility of a state is U(s) = U-pi*(s): the expected sum of discounted rewards if the agent acts optimally from s onward. In CS188 notation, that is V*(s).</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3A57"/>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21</a:t>
            </a:r>
            <a:endParaRPr lang="en-US" sz="900" dirty="0"/>
          </a:p>
        </p:txBody>
      </p:sp>
      <p:sp>
        <p:nvSpPr>
          <p:cNvPr id="4" name="Text 2"/>
          <p:cNvSpPr/>
          <p:nvPr/>
        </p:nvSpPr>
        <p:spPr>
          <a:xfrm>
            <a:off x="566928" y="685800"/>
            <a:ext cx="11057839" cy="457200"/>
          </a:xfrm>
          <a:prstGeom prst="rect">
            <a:avLst/>
          </a:prstGeom>
          <a:noFill/>
          <a:ln/>
        </p:spPr>
        <p:txBody>
          <a:bodyPr wrap="square" lIns="0" tIns="0" rIns="0" bIns="0" rtlCol="0" anchor="ctr"/>
          <a:lstStyle/>
          <a:p>
            <a:pPr indent="0" marL="0">
              <a:buNone/>
            </a:pPr>
            <a:r>
              <a:rPr lang="en-US" sz="1500" spc="200" kern="0" dirty="0">
                <a:solidFill>
                  <a:srgbClr val="E0A32E"/>
                </a:solidFill>
                <a:latin typeface="Calibri" pitchFamily="34" charset="0"/>
                <a:ea typeface="Calibri" pitchFamily="34" charset="-122"/>
                <a:cs typeface="Calibri" pitchFamily="34" charset="-120"/>
              </a:rPr>
              <a:t>Checkpoint</a:t>
            </a:r>
            <a:endParaRPr lang="en-US" sz="1500" dirty="0"/>
          </a:p>
        </p:txBody>
      </p:sp>
      <p:sp>
        <p:nvSpPr>
          <p:cNvPr id="5" name="Text 3"/>
          <p:cNvSpPr/>
          <p:nvPr/>
        </p:nvSpPr>
        <p:spPr>
          <a:xfrm>
            <a:off x="566928" y="1115568"/>
            <a:ext cx="11057839"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Talk to the person next to you for two minutes</a:t>
            </a:r>
            <a:endParaRPr lang="en-US" sz="3000" dirty="0"/>
          </a:p>
        </p:txBody>
      </p:sp>
      <p:sp>
        <p:nvSpPr>
          <p:cNvPr id="6" name="Shape 4"/>
          <p:cNvSpPr/>
          <p:nvPr/>
        </p:nvSpPr>
        <p:spPr>
          <a:xfrm>
            <a:off x="566928" y="2103120"/>
            <a:ext cx="11057839" cy="1115568"/>
          </a:xfrm>
          <a:prstGeom prst="roundRect">
            <a:avLst>
              <a:gd name="adj" fmla="val 7377"/>
            </a:avLst>
          </a:prstGeom>
          <a:solidFill>
            <a:srgbClr val="10263B"/>
          </a:solidFill>
          <a:ln/>
        </p:spPr>
      </p:sp>
      <p:sp>
        <p:nvSpPr>
          <p:cNvPr id="7" name="Shape 5"/>
          <p:cNvSpPr/>
          <p:nvPr/>
        </p:nvSpPr>
        <p:spPr>
          <a:xfrm>
            <a:off x="822960" y="2395728"/>
            <a:ext cx="530352" cy="530352"/>
          </a:xfrm>
          <a:prstGeom prst="ellipse">
            <a:avLst/>
          </a:prstGeom>
          <a:solidFill>
            <a:srgbClr val="E0A32E"/>
          </a:solidFill>
          <a:ln/>
        </p:spPr>
      </p:sp>
      <p:sp>
        <p:nvSpPr>
          <p:cNvPr id="8" name="Text 6"/>
          <p:cNvSpPr/>
          <p:nvPr/>
        </p:nvSpPr>
        <p:spPr>
          <a:xfrm>
            <a:off x="822960" y="2395728"/>
            <a:ext cx="530352" cy="530352"/>
          </a:xfrm>
          <a:prstGeom prst="rect">
            <a:avLst/>
          </a:prstGeom>
          <a:noFill/>
          <a:ln/>
        </p:spPr>
        <p:txBody>
          <a:bodyPr wrap="square" lIns="0" tIns="0" rIns="0" bIns="0" rtlCol="0" anchor="ctr"/>
          <a:lstStyle/>
          <a:p>
            <a:pPr algn="ctr" indent="0" marL="0">
              <a:buNone/>
            </a:pPr>
            <a:r>
              <a:rPr lang="en-US" sz="1700" b="1" dirty="0">
                <a:solidFill>
                  <a:srgbClr val="10263B"/>
                </a:solidFill>
                <a:latin typeface="Calibri" pitchFamily="34" charset="0"/>
                <a:ea typeface="Calibri" pitchFamily="34" charset="-122"/>
                <a:cs typeface="Calibri" pitchFamily="34" charset="-120"/>
              </a:rPr>
              <a:t>1</a:t>
            </a:r>
            <a:endParaRPr lang="en-US" sz="1700" dirty="0"/>
          </a:p>
        </p:txBody>
      </p:sp>
      <p:sp>
        <p:nvSpPr>
          <p:cNvPr id="9" name="Text 7"/>
          <p:cNvSpPr/>
          <p:nvPr/>
        </p:nvSpPr>
        <p:spPr>
          <a:xfrm>
            <a:off x="1536192" y="2194560"/>
            <a:ext cx="9784080" cy="93268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An agent in the 4 x 3 world has gamma = 0.5 and a living reward of 0. Would you expect it to take the safe route around the pit, or the fast route past it? Why?</a:t>
            </a:r>
            <a:endParaRPr lang="en-US" sz="1450" dirty="0"/>
          </a:p>
        </p:txBody>
      </p:sp>
      <p:sp>
        <p:nvSpPr>
          <p:cNvPr id="10" name="Shape 8"/>
          <p:cNvSpPr/>
          <p:nvPr/>
        </p:nvSpPr>
        <p:spPr>
          <a:xfrm>
            <a:off x="566928" y="3401568"/>
            <a:ext cx="11057839" cy="1115568"/>
          </a:xfrm>
          <a:prstGeom prst="roundRect">
            <a:avLst>
              <a:gd name="adj" fmla="val 7377"/>
            </a:avLst>
          </a:prstGeom>
          <a:solidFill>
            <a:srgbClr val="10263B"/>
          </a:solidFill>
          <a:ln/>
        </p:spPr>
      </p:sp>
      <p:sp>
        <p:nvSpPr>
          <p:cNvPr id="11" name="Shape 9"/>
          <p:cNvSpPr/>
          <p:nvPr/>
        </p:nvSpPr>
        <p:spPr>
          <a:xfrm>
            <a:off x="822960" y="3694176"/>
            <a:ext cx="530352" cy="530352"/>
          </a:xfrm>
          <a:prstGeom prst="ellipse">
            <a:avLst/>
          </a:prstGeom>
          <a:solidFill>
            <a:srgbClr val="E0A32E"/>
          </a:solidFill>
          <a:ln/>
        </p:spPr>
      </p:sp>
      <p:sp>
        <p:nvSpPr>
          <p:cNvPr id="12" name="Text 10"/>
          <p:cNvSpPr/>
          <p:nvPr/>
        </p:nvSpPr>
        <p:spPr>
          <a:xfrm>
            <a:off x="822960" y="3694176"/>
            <a:ext cx="530352" cy="530352"/>
          </a:xfrm>
          <a:prstGeom prst="rect">
            <a:avLst/>
          </a:prstGeom>
          <a:noFill/>
          <a:ln/>
        </p:spPr>
        <p:txBody>
          <a:bodyPr wrap="square" lIns="0" tIns="0" rIns="0" bIns="0" rtlCol="0" anchor="ctr"/>
          <a:lstStyle/>
          <a:p>
            <a:pPr algn="ctr" indent="0" marL="0">
              <a:buNone/>
            </a:pPr>
            <a:r>
              <a:rPr lang="en-US" sz="1700" b="1" dirty="0">
                <a:solidFill>
                  <a:srgbClr val="10263B"/>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1536192" y="3493008"/>
            <a:ext cx="9784080" cy="93268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I claim policy pi reaches a terminal state with probability 1, so I am going to set gamma = 1. Am I allowed to? What is the name for the property I just relied on?</a:t>
            </a:r>
            <a:endParaRPr lang="en-US" sz="1450" dirty="0"/>
          </a:p>
        </p:txBody>
      </p:sp>
      <p:sp>
        <p:nvSpPr>
          <p:cNvPr id="14" name="Shape 12"/>
          <p:cNvSpPr/>
          <p:nvPr/>
        </p:nvSpPr>
        <p:spPr>
          <a:xfrm>
            <a:off x="566928" y="4700016"/>
            <a:ext cx="11057839" cy="1115568"/>
          </a:xfrm>
          <a:prstGeom prst="roundRect">
            <a:avLst>
              <a:gd name="adj" fmla="val 7377"/>
            </a:avLst>
          </a:prstGeom>
          <a:solidFill>
            <a:srgbClr val="10263B"/>
          </a:solidFill>
          <a:ln/>
        </p:spPr>
      </p:sp>
      <p:sp>
        <p:nvSpPr>
          <p:cNvPr id="15" name="Shape 13"/>
          <p:cNvSpPr/>
          <p:nvPr/>
        </p:nvSpPr>
        <p:spPr>
          <a:xfrm>
            <a:off x="822960" y="4992624"/>
            <a:ext cx="530352" cy="530352"/>
          </a:xfrm>
          <a:prstGeom prst="ellipse">
            <a:avLst/>
          </a:prstGeom>
          <a:solidFill>
            <a:srgbClr val="E0A32E"/>
          </a:solidFill>
          <a:ln/>
        </p:spPr>
      </p:sp>
      <p:sp>
        <p:nvSpPr>
          <p:cNvPr id="16" name="Text 14"/>
          <p:cNvSpPr/>
          <p:nvPr/>
        </p:nvSpPr>
        <p:spPr>
          <a:xfrm>
            <a:off x="822960" y="4992624"/>
            <a:ext cx="530352" cy="530352"/>
          </a:xfrm>
          <a:prstGeom prst="rect">
            <a:avLst/>
          </a:prstGeom>
          <a:noFill/>
          <a:ln/>
        </p:spPr>
        <p:txBody>
          <a:bodyPr wrap="square" lIns="0" tIns="0" rIns="0" bIns="0" rtlCol="0" anchor="ctr"/>
          <a:lstStyle/>
          <a:p>
            <a:pPr algn="ctr" indent="0" marL="0">
              <a:buNone/>
            </a:pPr>
            <a:r>
              <a:rPr lang="en-US" sz="1700" b="1" dirty="0">
                <a:solidFill>
                  <a:srgbClr val="10263B"/>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536192" y="4791456"/>
            <a:ext cx="9784080" cy="93268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Your colleague says: my value iteration is slow, so I dropped gamma from 0.99 to 0.8 and now it converges in a fifth of the time. What is wrong with that reasoning?</a:t>
            </a:r>
            <a:endParaRPr lang="en-US" sz="14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22</a:t>
            </a:r>
            <a:endParaRPr lang="en-US" sz="900" dirty="0"/>
          </a:p>
        </p:txBody>
      </p:sp>
      <p:sp>
        <p:nvSpPr>
          <p:cNvPr id="4" name="Text 2"/>
          <p:cNvSpPr/>
          <p:nvPr/>
        </p:nvSpPr>
        <p:spPr>
          <a:xfrm>
            <a:off x="566928" y="1417320"/>
            <a:ext cx="2926080" cy="1463040"/>
          </a:xfrm>
          <a:prstGeom prst="rect">
            <a:avLst/>
          </a:prstGeom>
          <a:noFill/>
          <a:ln/>
        </p:spPr>
        <p:txBody>
          <a:bodyPr wrap="square" lIns="0" tIns="0" rIns="0" bIns="0" rtlCol="0" anchor="ctr"/>
          <a:lstStyle/>
          <a:p>
            <a:pPr indent="0" marL="0">
              <a:buNone/>
            </a:pPr>
            <a:r>
              <a:rPr lang="en-US" sz="9600" b="1" dirty="0">
                <a:solidFill>
                  <a:srgbClr val="E0A32E"/>
                </a:solidFill>
                <a:latin typeface="Cambria" pitchFamily="34" charset="0"/>
                <a:ea typeface="Cambria" pitchFamily="34" charset="-122"/>
                <a:cs typeface="Cambria" pitchFamily="34" charset="-120"/>
              </a:rPr>
              <a:t>03</a:t>
            </a:r>
            <a:endParaRPr lang="en-US" sz="9600" dirty="0"/>
          </a:p>
        </p:txBody>
      </p:sp>
      <p:sp>
        <p:nvSpPr>
          <p:cNvPr id="5" name="Text 3"/>
          <p:cNvSpPr/>
          <p:nvPr/>
        </p:nvSpPr>
        <p:spPr>
          <a:xfrm>
            <a:off x="566928" y="2880360"/>
            <a:ext cx="768096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The Bellman Equations</a:t>
            </a:r>
            <a:endParaRPr lang="en-US" sz="3800" dirty="0"/>
          </a:p>
        </p:txBody>
      </p:sp>
      <p:sp>
        <p:nvSpPr>
          <p:cNvPr id="6" name="Text 4"/>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6FA8BE"/>
                </a:solidFill>
                <a:latin typeface="Calibri" pitchFamily="34" charset="0"/>
                <a:ea typeface="Calibri" pitchFamily="34" charset="-122"/>
                <a:cs typeface="Calibri" pitchFamily="34" charset="-120"/>
              </a:rPr>
              <a:t>AIMA 17.1.2  |  Writing down what optimal means</a:t>
            </a:r>
            <a:endParaRPr lang="en-US" sz="1600" dirty="0"/>
          </a:p>
        </p:txBody>
      </p:sp>
      <p:sp>
        <p:nvSpPr>
          <p:cNvPr id="7" name="Text 5"/>
          <p:cNvSpPr/>
          <p:nvPr/>
        </p:nvSpPr>
        <p:spPr>
          <a:xfrm>
            <a:off x="8549640" y="2834640"/>
            <a:ext cx="310896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Optimal quantities V*, Q*, pi*</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One-step lookahead</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The equations, built up piece by piece</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A worked example</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Why Q-values matter</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How to be optimal</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23</a:t>
            </a:r>
            <a:endParaRPr lang="en-US" sz="900" dirty="0"/>
          </a:p>
        </p:txBody>
      </p:sp>
      <p:sp>
        <p:nvSpPr>
          <p:cNvPr id="5" name="Shape 3"/>
          <p:cNvSpPr/>
          <p:nvPr/>
        </p:nvSpPr>
        <p:spPr>
          <a:xfrm>
            <a:off x="1691640" y="1737360"/>
            <a:ext cx="8778240" cy="2331720"/>
          </a:xfrm>
          <a:prstGeom prst="roundRect">
            <a:avLst>
              <a:gd name="adj" fmla="val 3529"/>
            </a:avLst>
          </a:prstGeom>
          <a:solidFill>
            <a:srgbClr val="10263B"/>
          </a:solidFill>
          <a:ln/>
          <a:effectLst>
            <a:outerShdw sx="100000" sy="100000" kx="0" ky="0" algn="bl" rotWithShape="0" blurRad="101600" dist="17780" dir="5400000">
              <a:srgbClr val="9FB2BF">
                <a:alpha val="20000"/>
              </a:srgbClr>
            </a:outerShdw>
          </a:effectLst>
        </p:spPr>
      </p:sp>
      <p:sp>
        <p:nvSpPr>
          <p:cNvPr id="6" name="Text 4"/>
          <p:cNvSpPr/>
          <p:nvPr/>
        </p:nvSpPr>
        <p:spPr>
          <a:xfrm>
            <a:off x="2148840" y="2029968"/>
            <a:ext cx="1828800" cy="411480"/>
          </a:xfrm>
          <a:prstGeom prst="rect">
            <a:avLst/>
          </a:prstGeom>
          <a:noFill/>
          <a:ln/>
        </p:spPr>
        <p:txBody>
          <a:bodyPr wrap="square" lIns="0" tIns="0" rIns="0" bIns="0" rtlCol="0" anchor="ctr"/>
          <a:lstStyle/>
          <a:p>
            <a:pPr indent="0" marL="0">
              <a:buNone/>
            </a:pPr>
            <a:r>
              <a:rPr lang="en-US" sz="1700" b="1" dirty="0">
                <a:solidFill>
                  <a:srgbClr val="E0A32E"/>
                </a:solidFill>
                <a:latin typeface="Cambria" pitchFamily="34" charset="0"/>
                <a:ea typeface="Cambria" pitchFamily="34" charset="-122"/>
                <a:cs typeface="Cambria" pitchFamily="34" charset="-120"/>
              </a:rPr>
              <a:t>Step 1</a:t>
            </a:r>
            <a:endParaRPr lang="en-US" sz="1700" dirty="0"/>
          </a:p>
        </p:txBody>
      </p:sp>
      <p:sp>
        <p:nvSpPr>
          <p:cNvPr id="7" name="Text 5"/>
          <p:cNvSpPr/>
          <p:nvPr/>
        </p:nvSpPr>
        <p:spPr>
          <a:xfrm>
            <a:off x="3977640" y="2029968"/>
            <a:ext cx="6126480" cy="41148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Take the correct first action.</a:t>
            </a:r>
            <a:endParaRPr lang="en-US" sz="2100" dirty="0"/>
          </a:p>
        </p:txBody>
      </p:sp>
      <p:sp>
        <p:nvSpPr>
          <p:cNvPr id="8" name="Text 6"/>
          <p:cNvSpPr/>
          <p:nvPr/>
        </p:nvSpPr>
        <p:spPr>
          <a:xfrm>
            <a:off x="2148840" y="2926080"/>
            <a:ext cx="1828800" cy="411480"/>
          </a:xfrm>
          <a:prstGeom prst="rect">
            <a:avLst/>
          </a:prstGeom>
          <a:noFill/>
          <a:ln/>
        </p:spPr>
        <p:txBody>
          <a:bodyPr wrap="square" lIns="0" tIns="0" rIns="0" bIns="0" rtlCol="0" anchor="ctr"/>
          <a:lstStyle/>
          <a:p>
            <a:pPr indent="0" marL="0">
              <a:buNone/>
            </a:pPr>
            <a:r>
              <a:rPr lang="en-US" sz="1700" b="1" dirty="0">
                <a:solidFill>
                  <a:srgbClr val="E0A32E"/>
                </a:solidFill>
                <a:latin typeface="Cambria" pitchFamily="34" charset="0"/>
                <a:ea typeface="Cambria" pitchFamily="34" charset="-122"/>
                <a:cs typeface="Cambria" pitchFamily="34" charset="-120"/>
              </a:rPr>
              <a:t>Step 2</a:t>
            </a:r>
            <a:endParaRPr lang="en-US" sz="1700" dirty="0"/>
          </a:p>
        </p:txBody>
      </p:sp>
      <p:sp>
        <p:nvSpPr>
          <p:cNvPr id="9" name="Text 7"/>
          <p:cNvSpPr/>
          <p:nvPr/>
        </p:nvSpPr>
        <p:spPr>
          <a:xfrm>
            <a:off x="3977640" y="2926080"/>
            <a:ext cx="6126480" cy="411480"/>
          </a:xfrm>
          <a:prstGeom prst="rect">
            <a:avLst/>
          </a:prstGeom>
          <a:noFill/>
          <a:ln/>
        </p:spPr>
        <p:txBody>
          <a:bodyPr wrap="square" lIns="0" tIns="0" rIns="0" bIns="0" rtlCol="0" anchor="ctr"/>
          <a:lstStyle/>
          <a:p>
            <a:pPr indent="0" marL="0">
              <a:buNone/>
            </a:pPr>
            <a:r>
              <a:rPr lang="en-US" sz="2100" dirty="0">
                <a:solidFill>
                  <a:srgbClr val="FFFFFF"/>
                </a:solidFill>
                <a:latin typeface="Calibri" pitchFamily="34" charset="0"/>
                <a:ea typeface="Calibri" pitchFamily="34" charset="-122"/>
                <a:cs typeface="Calibri" pitchFamily="34" charset="-120"/>
              </a:rPr>
              <a:t>Keep being optimal.</a:t>
            </a:r>
            <a:endParaRPr lang="en-US" sz="2100" dirty="0"/>
          </a:p>
        </p:txBody>
      </p:sp>
      <p:sp>
        <p:nvSpPr>
          <p:cNvPr id="10" name="Text 8"/>
          <p:cNvSpPr/>
          <p:nvPr/>
        </p:nvSpPr>
        <p:spPr>
          <a:xfrm>
            <a:off x="1691640" y="4389120"/>
            <a:ext cx="8778240" cy="658368"/>
          </a:xfrm>
          <a:prstGeom prst="rect">
            <a:avLst/>
          </a:prstGeom>
          <a:noFill/>
          <a:ln/>
        </p:spPr>
        <p:txBody>
          <a:bodyPr wrap="square" lIns="0" tIns="0" rIns="0" bIns="0" rtlCol="0" anchor="ctr"/>
          <a:lstStyle/>
          <a:p>
            <a:pPr algn="ctr" indent="0" marL="0">
              <a:buNone/>
            </a:pPr>
            <a:r>
              <a:rPr lang="en-US" sz="1550" i="1" dirty="0">
                <a:solidFill>
                  <a:srgbClr val="10263B"/>
                </a:solidFill>
                <a:latin typeface="Calibri" pitchFamily="34" charset="0"/>
                <a:ea typeface="Calibri" pitchFamily="34" charset="-122"/>
                <a:cs typeface="Calibri" pitchFamily="34" charset="-120"/>
              </a:rPr>
              <a:t>That is the entire content of the Bellman equations. It looks like a joke, and it is also a complete specification - because "optimal" appearing on both sides makes it a recursion.</a:t>
            </a:r>
            <a:endParaRPr lang="en-US" sz="1550" dirty="0"/>
          </a:p>
        </p:txBody>
      </p:sp>
      <p:sp>
        <p:nvSpPr>
          <p:cNvPr id="11" name="Text 9"/>
          <p:cNvSpPr/>
          <p:nvPr/>
        </p:nvSpPr>
        <p:spPr>
          <a:xfrm>
            <a:off x="1691640" y="5138928"/>
            <a:ext cx="8778240" cy="457200"/>
          </a:xfrm>
          <a:prstGeom prst="rect">
            <a:avLst/>
          </a:prstGeom>
          <a:noFill/>
          <a:ln/>
        </p:spPr>
        <p:txBody>
          <a:bodyPr wrap="square" lIns="0" tIns="0" rIns="0" bIns="0" rtlCol="0" anchor="ctr"/>
          <a:lstStyle/>
          <a:p>
            <a:pPr algn="ctr" indent="0" marL="0">
              <a:buNone/>
            </a:pPr>
            <a:r>
              <a:rPr lang="en-US" sz="1400" dirty="0">
                <a:solidFill>
                  <a:srgbClr val="5C7080"/>
                </a:solidFill>
                <a:latin typeface="Calibri" pitchFamily="34" charset="0"/>
                <a:ea typeface="Calibri" pitchFamily="34" charset="-122"/>
                <a:cs typeface="Calibri" pitchFamily="34" charset="-120"/>
              </a:rPr>
              <a:t>A recursion is not yet an algorithm. First we characterize the solution; then we go compute it.</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three optimal quantities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24</a:t>
            </a:r>
            <a:endParaRPr lang="en-US" sz="900" dirty="0"/>
          </a:p>
        </p:txBody>
      </p:sp>
      <p:sp>
        <p:nvSpPr>
          <p:cNvPr id="5" name="Shape 3"/>
          <p:cNvSpPr/>
          <p:nvPr/>
        </p:nvSpPr>
        <p:spPr>
          <a:xfrm>
            <a:off x="9411462" y="1783080"/>
            <a:ext cx="288036" cy="264993"/>
          </a:xfrm>
          <a:prstGeom prst="triangle">
            <a:avLst/>
          </a:prstGeom>
          <a:solidFill>
            <a:srgbClr val="1C7293"/>
          </a:solidFill>
          <a:ln/>
        </p:spPr>
      </p:sp>
      <p:sp>
        <p:nvSpPr>
          <p:cNvPr id="6" name="Text 4"/>
          <p:cNvSpPr/>
          <p:nvPr/>
        </p:nvSpPr>
        <p:spPr>
          <a:xfrm>
            <a:off x="9745218" y="1764792"/>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7" name="Shape 5"/>
          <p:cNvSpPr/>
          <p:nvPr/>
        </p:nvSpPr>
        <p:spPr>
          <a:xfrm flipH="1">
            <a:off x="8547354" y="2048073"/>
            <a:ext cx="1008126" cy="743133"/>
          </a:xfrm>
          <a:prstGeom prst="line">
            <a:avLst/>
          </a:prstGeom>
          <a:noFill/>
          <a:ln w="12700">
            <a:solidFill>
              <a:srgbClr val="D3DDE3"/>
            </a:solidFill>
            <a:prstDash val="dash"/>
            <a:tailEnd type="none"/>
          </a:ln>
        </p:spPr>
      </p:sp>
      <p:sp>
        <p:nvSpPr>
          <p:cNvPr id="8" name="Shape 6"/>
          <p:cNvSpPr/>
          <p:nvPr/>
        </p:nvSpPr>
        <p:spPr>
          <a:xfrm>
            <a:off x="9555480" y="2048073"/>
            <a:ext cx="0" cy="743133"/>
          </a:xfrm>
          <a:prstGeom prst="line">
            <a:avLst/>
          </a:prstGeom>
          <a:noFill/>
          <a:ln w="25400">
            <a:solidFill>
              <a:srgbClr val="10263B"/>
            </a:solidFill>
            <a:prstDash val="solid"/>
            <a:tailEnd type="triangle"/>
          </a:ln>
        </p:spPr>
      </p:sp>
      <p:sp>
        <p:nvSpPr>
          <p:cNvPr id="9" name="Shape 7"/>
          <p:cNvSpPr/>
          <p:nvPr/>
        </p:nvSpPr>
        <p:spPr>
          <a:xfrm>
            <a:off x="9555480" y="2048073"/>
            <a:ext cx="1008126" cy="743133"/>
          </a:xfrm>
          <a:prstGeom prst="line">
            <a:avLst/>
          </a:prstGeom>
          <a:noFill/>
          <a:ln w="12700">
            <a:solidFill>
              <a:srgbClr val="D3DDE3"/>
            </a:solidFill>
            <a:prstDash val="dash"/>
            <a:tailEnd type="none"/>
          </a:ln>
        </p:spPr>
      </p:sp>
      <p:sp>
        <p:nvSpPr>
          <p:cNvPr id="10" name="Text 8"/>
          <p:cNvSpPr/>
          <p:nvPr/>
        </p:nvSpPr>
        <p:spPr>
          <a:xfrm>
            <a:off x="9637776" y="2215134"/>
            <a:ext cx="91440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a</a:t>
            </a:r>
            <a:endParaRPr lang="en-US" sz="1200" dirty="0"/>
          </a:p>
        </p:txBody>
      </p:sp>
      <p:sp>
        <p:nvSpPr>
          <p:cNvPr id="11" name="Shape 9"/>
          <p:cNvSpPr/>
          <p:nvPr/>
        </p:nvSpPr>
        <p:spPr>
          <a:xfrm>
            <a:off x="9459468" y="2791206"/>
            <a:ext cx="192024" cy="192024"/>
          </a:xfrm>
          <a:prstGeom prst="ellipse">
            <a:avLst/>
          </a:prstGeom>
          <a:solidFill>
            <a:srgbClr val="2E7D5B"/>
          </a:solidFill>
          <a:ln/>
        </p:spPr>
      </p:sp>
      <p:sp>
        <p:nvSpPr>
          <p:cNvPr id="12" name="Text 10"/>
          <p:cNvSpPr/>
          <p:nvPr/>
        </p:nvSpPr>
        <p:spPr>
          <a:xfrm>
            <a:off x="9706356" y="2809494"/>
            <a:ext cx="1097280" cy="237744"/>
          </a:xfrm>
          <a:prstGeom prst="rect">
            <a:avLst/>
          </a:prstGeom>
          <a:noFill/>
          <a:ln/>
        </p:spPr>
        <p:txBody>
          <a:bodyPr wrap="square" lIns="0" tIns="0" rIns="0" bIns="0" rtlCol="0" anchor="ctr"/>
          <a:lstStyle/>
          <a:p>
            <a:pPr indent="0" marL="0">
              <a:buNone/>
            </a:pPr>
            <a:r>
              <a:rPr lang="en-US" sz="1200" dirty="0">
                <a:solidFill>
                  <a:srgbClr val="2E7D5B"/>
                </a:solidFill>
                <a:latin typeface="Calibri" pitchFamily="34" charset="0"/>
                <a:ea typeface="Calibri" pitchFamily="34" charset="-122"/>
                <a:cs typeface="Calibri" pitchFamily="34" charset="-120"/>
              </a:rPr>
              <a:t>s, a</a:t>
            </a:r>
            <a:endParaRPr lang="en-US" sz="1200" dirty="0"/>
          </a:p>
        </p:txBody>
      </p:sp>
      <p:sp>
        <p:nvSpPr>
          <p:cNvPr id="13" name="Shape 11"/>
          <p:cNvSpPr/>
          <p:nvPr/>
        </p:nvSpPr>
        <p:spPr>
          <a:xfrm flipH="1">
            <a:off x="8547354" y="2983230"/>
            <a:ext cx="1008126" cy="816102"/>
          </a:xfrm>
          <a:prstGeom prst="line">
            <a:avLst/>
          </a:prstGeom>
          <a:noFill/>
          <a:ln w="12700">
            <a:solidFill>
              <a:srgbClr val="D3DDE3"/>
            </a:solidFill>
            <a:prstDash val="dash"/>
            <a:tailEnd type="none"/>
          </a:ln>
        </p:spPr>
      </p:sp>
      <p:sp>
        <p:nvSpPr>
          <p:cNvPr id="14" name="Shape 12"/>
          <p:cNvSpPr/>
          <p:nvPr/>
        </p:nvSpPr>
        <p:spPr>
          <a:xfrm>
            <a:off x="9555480" y="2983230"/>
            <a:ext cx="0" cy="816102"/>
          </a:xfrm>
          <a:prstGeom prst="line">
            <a:avLst/>
          </a:prstGeom>
          <a:noFill/>
          <a:ln w="25400">
            <a:solidFill>
              <a:srgbClr val="10263B"/>
            </a:solidFill>
            <a:prstDash val="solid"/>
            <a:tailEnd type="triangle"/>
          </a:ln>
        </p:spPr>
      </p:sp>
      <p:sp>
        <p:nvSpPr>
          <p:cNvPr id="15" name="Shape 13"/>
          <p:cNvSpPr/>
          <p:nvPr/>
        </p:nvSpPr>
        <p:spPr>
          <a:xfrm>
            <a:off x="9555480" y="2983230"/>
            <a:ext cx="1008126" cy="816102"/>
          </a:xfrm>
          <a:prstGeom prst="line">
            <a:avLst/>
          </a:prstGeom>
          <a:noFill/>
          <a:ln w="12700">
            <a:solidFill>
              <a:srgbClr val="D3DDE3"/>
            </a:solidFill>
            <a:prstDash val="dash"/>
            <a:tailEnd type="none"/>
          </a:ln>
        </p:spPr>
      </p:sp>
      <p:sp>
        <p:nvSpPr>
          <p:cNvPr id="16" name="Text 14"/>
          <p:cNvSpPr/>
          <p:nvPr/>
        </p:nvSpPr>
        <p:spPr>
          <a:xfrm>
            <a:off x="8307324" y="3194456"/>
            <a:ext cx="1280160" cy="237744"/>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s, a, s'</a:t>
            </a:r>
            <a:endParaRPr lang="en-US" sz="1050" dirty="0"/>
          </a:p>
        </p:txBody>
      </p:sp>
      <p:sp>
        <p:nvSpPr>
          <p:cNvPr id="17" name="Shape 15"/>
          <p:cNvSpPr/>
          <p:nvPr/>
        </p:nvSpPr>
        <p:spPr>
          <a:xfrm>
            <a:off x="9411462" y="3799332"/>
            <a:ext cx="288036" cy="264993"/>
          </a:xfrm>
          <a:prstGeom prst="triangle">
            <a:avLst/>
          </a:prstGeom>
          <a:solidFill>
            <a:srgbClr val="1C7293"/>
          </a:solidFill>
          <a:ln/>
        </p:spPr>
      </p:sp>
      <p:sp>
        <p:nvSpPr>
          <p:cNvPr id="18" name="Text 16"/>
          <p:cNvSpPr/>
          <p:nvPr/>
        </p:nvSpPr>
        <p:spPr>
          <a:xfrm>
            <a:off x="9745218" y="3781044"/>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19" name="Shape 17"/>
          <p:cNvSpPr/>
          <p:nvPr/>
        </p:nvSpPr>
        <p:spPr>
          <a:xfrm>
            <a:off x="566928" y="1572768"/>
            <a:ext cx="7543800" cy="1325880"/>
          </a:xfrm>
          <a:prstGeom prst="roundRect">
            <a:avLst>
              <a:gd name="adj" fmla="val 6207"/>
            </a:avLst>
          </a:prstGeom>
          <a:solidFill>
            <a:srgbClr val="F7FAFB"/>
          </a:solidFill>
          <a:ln/>
          <a:effectLst>
            <a:outerShdw sx="100000" sy="100000" kx="0" ky="0" algn="bl" rotWithShape="0" blurRad="101600" dist="17780" dir="5400000">
              <a:srgbClr val="9FB2BF">
                <a:alpha val="20000"/>
              </a:srgbClr>
            </a:outerShdw>
          </a:effectLst>
        </p:spPr>
      </p:sp>
      <p:sp>
        <p:nvSpPr>
          <p:cNvPr id="20" name="Text 18"/>
          <p:cNvSpPr/>
          <p:nvPr/>
        </p:nvSpPr>
        <p:spPr>
          <a:xfrm>
            <a:off x="786384" y="1664208"/>
            <a:ext cx="1828800" cy="41148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V</a:t>
            </a:r>
            <a:pPr indent="0" marL="0">
              <a:buNone/>
            </a:pPr>
            <a:r>
              <a:rPr lang="en-US" sz="1900" b="1" baseline="30000" dirty="0">
                <a:solidFill>
                  <a:srgbClr val="1C7293"/>
                </a:solidFill>
                <a:latin typeface="Cambria" pitchFamily="34" charset="0"/>
                <a:ea typeface="Cambria" pitchFamily="34" charset="-122"/>
                <a:cs typeface="Cambria" pitchFamily="34" charset="-120"/>
              </a:rPr>
              <a:t>*</a:t>
            </a:r>
            <a:pPr indent="0" marL="0">
              <a:buNone/>
            </a:pPr>
            <a:r>
              <a:rPr lang="en-US" sz="1900" b="1" dirty="0">
                <a:solidFill>
                  <a:srgbClr val="1C7293"/>
                </a:solidFill>
                <a:latin typeface="Cambria" pitchFamily="34" charset="0"/>
                <a:ea typeface="Cambria" pitchFamily="34" charset="-122"/>
                <a:cs typeface="Cambria" pitchFamily="34" charset="-120"/>
              </a:rPr>
              <a:t>(s)</a:t>
            </a:r>
            <a:endParaRPr lang="en-US" sz="1900" dirty="0"/>
          </a:p>
        </p:txBody>
      </p:sp>
      <p:sp>
        <p:nvSpPr>
          <p:cNvPr id="21" name="Text 19"/>
          <p:cNvSpPr/>
          <p:nvPr/>
        </p:nvSpPr>
        <p:spPr>
          <a:xfrm>
            <a:off x="2670048" y="1664208"/>
            <a:ext cx="5212080" cy="411480"/>
          </a:xfrm>
          <a:prstGeom prst="rect">
            <a:avLst/>
          </a:prstGeom>
          <a:noFill/>
          <a:ln/>
        </p:spPr>
        <p:txBody>
          <a:bodyPr wrap="square" lIns="0" tIns="0" rIns="0" bIns="0" rtlCol="0" anchor="ctr"/>
          <a:lstStyle/>
          <a:p>
            <a:pPr indent="0" marL="0">
              <a:buNone/>
            </a:pPr>
            <a:r>
              <a:rPr lang="en-US" sz="1400" b="1" dirty="0">
                <a:solidFill>
                  <a:srgbClr val="10263B"/>
                </a:solidFill>
                <a:latin typeface="Calibri" pitchFamily="34" charset="0"/>
                <a:ea typeface="Calibri" pitchFamily="34" charset="-122"/>
                <a:cs typeface="Calibri" pitchFamily="34" charset="-120"/>
              </a:rPr>
              <a:t>the value of a state</a:t>
            </a:r>
            <a:endParaRPr lang="en-US" sz="1400" dirty="0"/>
          </a:p>
        </p:txBody>
      </p:sp>
      <p:sp>
        <p:nvSpPr>
          <p:cNvPr id="22" name="Text 20"/>
          <p:cNvSpPr/>
          <p:nvPr/>
        </p:nvSpPr>
        <p:spPr>
          <a:xfrm>
            <a:off x="786384" y="2103120"/>
            <a:ext cx="7086600" cy="73152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The expected utility of starting in s and acting optimally thereafter. In the tree, this is a max node.</a:t>
            </a:r>
            <a:endParaRPr lang="en-US" sz="1250" dirty="0"/>
          </a:p>
        </p:txBody>
      </p:sp>
      <p:sp>
        <p:nvSpPr>
          <p:cNvPr id="23" name="Shape 21"/>
          <p:cNvSpPr/>
          <p:nvPr/>
        </p:nvSpPr>
        <p:spPr>
          <a:xfrm>
            <a:off x="566928" y="3054096"/>
            <a:ext cx="7543800" cy="1325880"/>
          </a:xfrm>
          <a:prstGeom prst="roundRect">
            <a:avLst>
              <a:gd name="adj" fmla="val 6207"/>
            </a:avLst>
          </a:prstGeom>
          <a:solidFill>
            <a:srgbClr val="EDF2F5"/>
          </a:solidFill>
          <a:ln/>
          <a:effectLst>
            <a:outerShdw sx="100000" sy="100000" kx="0" ky="0" algn="bl" rotWithShape="0" blurRad="101600" dist="17780" dir="5400000">
              <a:srgbClr val="9FB2BF">
                <a:alpha val="20000"/>
              </a:srgbClr>
            </a:outerShdw>
          </a:effectLst>
        </p:spPr>
      </p:sp>
      <p:sp>
        <p:nvSpPr>
          <p:cNvPr id="24" name="Text 22"/>
          <p:cNvSpPr/>
          <p:nvPr/>
        </p:nvSpPr>
        <p:spPr>
          <a:xfrm>
            <a:off x="786384" y="3145536"/>
            <a:ext cx="1828800" cy="41148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Q</a:t>
            </a:r>
            <a:pPr indent="0" marL="0">
              <a:buNone/>
            </a:pPr>
            <a:r>
              <a:rPr lang="en-US" sz="1900" b="1" baseline="30000" dirty="0">
                <a:solidFill>
                  <a:srgbClr val="1C7293"/>
                </a:solidFill>
                <a:latin typeface="Cambria" pitchFamily="34" charset="0"/>
                <a:ea typeface="Cambria" pitchFamily="34" charset="-122"/>
                <a:cs typeface="Cambria" pitchFamily="34" charset="-120"/>
              </a:rPr>
              <a:t>*</a:t>
            </a:r>
            <a:pPr indent="0" marL="0">
              <a:buNone/>
            </a:pPr>
            <a:r>
              <a:rPr lang="en-US" sz="1900" b="1" dirty="0">
                <a:solidFill>
                  <a:srgbClr val="1C7293"/>
                </a:solidFill>
                <a:latin typeface="Cambria" pitchFamily="34" charset="0"/>
                <a:ea typeface="Cambria" pitchFamily="34" charset="-122"/>
                <a:cs typeface="Cambria" pitchFamily="34" charset="-120"/>
              </a:rPr>
              <a:t>(s, a)</a:t>
            </a:r>
            <a:endParaRPr lang="en-US" sz="1900" dirty="0"/>
          </a:p>
        </p:txBody>
      </p:sp>
      <p:sp>
        <p:nvSpPr>
          <p:cNvPr id="25" name="Text 23"/>
          <p:cNvSpPr/>
          <p:nvPr/>
        </p:nvSpPr>
        <p:spPr>
          <a:xfrm>
            <a:off x="2670048" y="3145536"/>
            <a:ext cx="5212080" cy="411480"/>
          </a:xfrm>
          <a:prstGeom prst="rect">
            <a:avLst/>
          </a:prstGeom>
          <a:noFill/>
          <a:ln/>
        </p:spPr>
        <p:txBody>
          <a:bodyPr wrap="square" lIns="0" tIns="0" rIns="0" bIns="0" rtlCol="0" anchor="ctr"/>
          <a:lstStyle/>
          <a:p>
            <a:pPr indent="0" marL="0">
              <a:buNone/>
            </a:pPr>
            <a:r>
              <a:rPr lang="en-US" sz="1400" b="1" dirty="0">
                <a:solidFill>
                  <a:srgbClr val="10263B"/>
                </a:solidFill>
                <a:latin typeface="Calibri" pitchFamily="34" charset="0"/>
                <a:ea typeface="Calibri" pitchFamily="34" charset="-122"/>
                <a:cs typeface="Calibri" pitchFamily="34" charset="-120"/>
              </a:rPr>
              <a:t>the value of a q-state</a:t>
            </a:r>
            <a:endParaRPr lang="en-US" sz="1400" dirty="0"/>
          </a:p>
        </p:txBody>
      </p:sp>
      <p:sp>
        <p:nvSpPr>
          <p:cNvPr id="26" name="Text 24"/>
          <p:cNvSpPr/>
          <p:nvPr/>
        </p:nvSpPr>
        <p:spPr>
          <a:xfrm>
            <a:off x="786384" y="3584448"/>
            <a:ext cx="7086600" cy="73152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The expected utility of having already taken action a in state s, and acting optimally from then on. In the tree, this is a chance node. Note that a itself may be a terrible action.</a:t>
            </a:r>
            <a:endParaRPr lang="en-US" sz="1250" dirty="0"/>
          </a:p>
        </p:txBody>
      </p:sp>
      <p:sp>
        <p:nvSpPr>
          <p:cNvPr id="27" name="Shape 25"/>
          <p:cNvSpPr/>
          <p:nvPr/>
        </p:nvSpPr>
        <p:spPr>
          <a:xfrm>
            <a:off x="566928" y="4535424"/>
            <a:ext cx="7543800" cy="1325880"/>
          </a:xfrm>
          <a:prstGeom prst="roundRect">
            <a:avLst>
              <a:gd name="adj" fmla="val 6207"/>
            </a:avLst>
          </a:prstGeom>
          <a:solidFill>
            <a:srgbClr val="F7FAFB"/>
          </a:solidFill>
          <a:ln/>
          <a:effectLst>
            <a:outerShdw sx="100000" sy="100000" kx="0" ky="0" algn="bl" rotWithShape="0" blurRad="101600" dist="17780" dir="5400000">
              <a:srgbClr val="9FB2BF">
                <a:alpha val="20000"/>
              </a:srgbClr>
            </a:outerShdw>
          </a:effectLst>
        </p:spPr>
      </p:sp>
      <p:sp>
        <p:nvSpPr>
          <p:cNvPr id="28" name="Text 26"/>
          <p:cNvSpPr/>
          <p:nvPr/>
        </p:nvSpPr>
        <p:spPr>
          <a:xfrm>
            <a:off x="786384" y="4626864"/>
            <a:ext cx="1828800" cy="411480"/>
          </a:xfrm>
          <a:prstGeom prst="rect">
            <a:avLst/>
          </a:prstGeom>
          <a:noFill/>
          <a:ln/>
        </p:spPr>
        <p:txBody>
          <a:bodyPr wrap="square" lIns="0" tIns="0" rIns="0" bIns="0" rtlCol="0" anchor="ctr"/>
          <a:lstStyle/>
          <a:p>
            <a:pPr indent="0" marL="0">
              <a:buNone/>
            </a:pPr>
            <a:r>
              <a:rPr lang="en-US" sz="1900" b="1" dirty="0">
                <a:solidFill>
                  <a:srgbClr val="1C7293"/>
                </a:solidFill>
                <a:latin typeface="Cambria" pitchFamily="34" charset="0"/>
                <a:ea typeface="Cambria" pitchFamily="34" charset="-122"/>
                <a:cs typeface="Cambria" pitchFamily="34" charset="-120"/>
              </a:rPr>
              <a:t>π</a:t>
            </a:r>
            <a:pPr indent="0" marL="0">
              <a:buNone/>
            </a:pPr>
            <a:r>
              <a:rPr lang="en-US" sz="1900" b="1" baseline="30000" dirty="0">
                <a:solidFill>
                  <a:srgbClr val="1C7293"/>
                </a:solidFill>
                <a:latin typeface="Cambria" pitchFamily="34" charset="0"/>
                <a:ea typeface="Cambria" pitchFamily="34" charset="-122"/>
                <a:cs typeface="Cambria" pitchFamily="34" charset="-120"/>
              </a:rPr>
              <a:t>*</a:t>
            </a:r>
            <a:pPr indent="0" marL="0">
              <a:buNone/>
            </a:pPr>
            <a:r>
              <a:rPr lang="en-US" sz="1900" b="1" dirty="0">
                <a:solidFill>
                  <a:srgbClr val="1C7293"/>
                </a:solidFill>
                <a:latin typeface="Cambria" pitchFamily="34" charset="0"/>
                <a:ea typeface="Cambria" pitchFamily="34" charset="-122"/>
                <a:cs typeface="Cambria" pitchFamily="34" charset="-120"/>
              </a:rPr>
              <a:t>(s)</a:t>
            </a:r>
            <a:endParaRPr lang="en-US" sz="1900" dirty="0"/>
          </a:p>
        </p:txBody>
      </p:sp>
      <p:sp>
        <p:nvSpPr>
          <p:cNvPr id="29" name="Text 27"/>
          <p:cNvSpPr/>
          <p:nvPr/>
        </p:nvSpPr>
        <p:spPr>
          <a:xfrm>
            <a:off x="2670048" y="4626864"/>
            <a:ext cx="5212080" cy="411480"/>
          </a:xfrm>
          <a:prstGeom prst="rect">
            <a:avLst/>
          </a:prstGeom>
          <a:noFill/>
          <a:ln/>
        </p:spPr>
        <p:txBody>
          <a:bodyPr wrap="square" lIns="0" tIns="0" rIns="0" bIns="0" rtlCol="0" anchor="ctr"/>
          <a:lstStyle/>
          <a:p>
            <a:pPr indent="0" marL="0">
              <a:buNone/>
            </a:pPr>
            <a:r>
              <a:rPr lang="en-US" sz="1400" b="1" dirty="0">
                <a:solidFill>
                  <a:srgbClr val="10263B"/>
                </a:solidFill>
                <a:latin typeface="Calibri" pitchFamily="34" charset="0"/>
                <a:ea typeface="Calibri" pitchFamily="34" charset="-122"/>
                <a:cs typeface="Calibri" pitchFamily="34" charset="-120"/>
              </a:rPr>
              <a:t>the optimal policy</a:t>
            </a:r>
            <a:endParaRPr lang="en-US" sz="1400" dirty="0"/>
          </a:p>
        </p:txBody>
      </p:sp>
      <p:sp>
        <p:nvSpPr>
          <p:cNvPr id="30" name="Text 28"/>
          <p:cNvSpPr/>
          <p:nvPr/>
        </p:nvSpPr>
        <p:spPr>
          <a:xfrm>
            <a:off x="786384" y="5065776"/>
            <a:ext cx="7086600" cy="73152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The optimal action to take from state s. Not one lucky action - the policy that is right in every state simultaneously.</a:t>
            </a:r>
            <a:endParaRPr lang="en-US" sz="1250" dirty="0"/>
          </a:p>
        </p:txBody>
      </p:sp>
      <p:sp>
        <p:nvSpPr>
          <p:cNvPr id="31" name="Text 29"/>
          <p:cNvSpPr/>
          <p:nvPr/>
        </p:nvSpPr>
        <p:spPr>
          <a:xfrm>
            <a:off x="8275320" y="5623560"/>
            <a:ext cx="3337560" cy="365760"/>
          </a:xfrm>
          <a:prstGeom prst="rect">
            <a:avLst/>
          </a:prstGeom>
          <a:noFill/>
          <a:ln/>
        </p:spPr>
        <p:txBody>
          <a:bodyPr wrap="square" lIns="0" tIns="0" rIns="0" bIns="0" rtlCol="0" anchor="ctr"/>
          <a:lstStyle/>
          <a:p>
            <a:pPr algn="ctr" indent="0" marL="0">
              <a:buNone/>
            </a:pPr>
            <a:r>
              <a:rPr lang="en-US" sz="1200" i="1" dirty="0">
                <a:solidFill>
                  <a:srgbClr val="5C7080"/>
                </a:solidFill>
                <a:latin typeface="Calibri" pitchFamily="34" charset="0"/>
                <a:ea typeface="Calibri" pitchFamily="34" charset="-122"/>
                <a:cs typeface="Calibri" pitchFamily="34" charset="-120"/>
              </a:rPr>
              <a:t>The star means optimal, everywhere in this deck.</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Building the equations: the max node</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25</a:t>
            </a:r>
            <a:endParaRPr lang="en-US" sz="900" dirty="0"/>
          </a:p>
        </p:txBody>
      </p:sp>
      <p:sp>
        <p:nvSpPr>
          <p:cNvPr id="5" name="Text 3"/>
          <p:cNvSpPr/>
          <p:nvPr/>
        </p:nvSpPr>
        <p:spPr>
          <a:xfrm>
            <a:off x="566928" y="1417320"/>
            <a:ext cx="7589520" cy="457200"/>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The definition of optimal utility via the expectimax recurrence gives a one-step lookahead relationship among optimal values.</a:t>
            </a:r>
            <a:endParaRPr lang="en-US" sz="1500" dirty="0"/>
          </a:p>
        </p:txBody>
      </p:sp>
      <p:sp>
        <p:nvSpPr>
          <p:cNvPr id="6" name="Shape 4"/>
          <p:cNvSpPr/>
          <p:nvPr/>
        </p:nvSpPr>
        <p:spPr>
          <a:xfrm>
            <a:off x="566928" y="2011680"/>
            <a:ext cx="7589520" cy="868680"/>
          </a:xfrm>
          <a:prstGeom prst="roundRect">
            <a:avLst>
              <a:gd name="adj" fmla="val 6316"/>
            </a:avLst>
          </a:prstGeom>
          <a:solidFill>
            <a:srgbClr val="F7FAFB"/>
          </a:solidFill>
          <a:ln w="12700">
            <a:solidFill>
              <a:srgbClr val="D3DDE3"/>
            </a:solidFill>
            <a:prstDash val="solid"/>
          </a:ln>
        </p:spPr>
      </p:sp>
      <p:sp>
        <p:nvSpPr>
          <p:cNvPr id="7" name="Text 5"/>
          <p:cNvSpPr/>
          <p:nvPr/>
        </p:nvSpPr>
        <p:spPr>
          <a:xfrm>
            <a:off x="676656" y="2011680"/>
            <a:ext cx="7370064" cy="868680"/>
          </a:xfrm>
          <a:prstGeom prst="rect">
            <a:avLst/>
          </a:prstGeom>
          <a:noFill/>
          <a:ln/>
        </p:spPr>
        <p:txBody>
          <a:bodyPr wrap="square" lIns="0" tIns="0" rIns="0" bIns="0" rtlCol="0" anchor="ctr"/>
          <a:lstStyle/>
          <a:p>
            <a:pPr algn="ctr" indent="0" marL="0">
              <a:buNone/>
            </a:pPr>
            <a:r>
              <a:rPr lang="en-US" sz="2400" b="1" dirty="0">
                <a:solidFill>
                  <a:srgbClr val="10263B"/>
                </a:solidFill>
                <a:latin typeface="Cambria" pitchFamily="34" charset="0"/>
                <a:ea typeface="Cambria" pitchFamily="34" charset="-122"/>
                <a:cs typeface="Cambria" pitchFamily="34" charset="-120"/>
              </a:rPr>
              <a:t>V</a:t>
            </a:r>
            <a:pPr algn="ctr" indent="0" marL="0">
              <a:buNone/>
            </a:pPr>
            <a:r>
              <a:rPr lang="en-US" sz="2400" b="1" baseline="30000" dirty="0">
                <a:solidFill>
                  <a:srgbClr val="10263B"/>
                </a:solidFill>
                <a:latin typeface="Cambria" pitchFamily="34" charset="0"/>
                <a:ea typeface="Cambria" pitchFamily="34" charset="-122"/>
                <a:cs typeface="Cambria" pitchFamily="34" charset="-120"/>
              </a:rPr>
              <a:t>*</a:t>
            </a:r>
            <a:pPr algn="ctr" indent="0" marL="0">
              <a:buNone/>
            </a:pPr>
            <a:r>
              <a:rPr lang="en-US" sz="2400" b="1" dirty="0">
                <a:solidFill>
                  <a:srgbClr val="10263B"/>
                </a:solidFill>
                <a:latin typeface="Cambria" pitchFamily="34" charset="0"/>
                <a:ea typeface="Cambria" pitchFamily="34" charset="-122"/>
                <a:cs typeface="Cambria" pitchFamily="34" charset="-120"/>
              </a:rPr>
              <a:t>(s)  =  max</a:t>
            </a:r>
            <a:pPr algn="ctr" indent="0" marL="0">
              <a:buNone/>
            </a:pPr>
            <a:r>
              <a:rPr lang="en-US" sz="2400" b="1" baseline="-40000" dirty="0">
                <a:solidFill>
                  <a:srgbClr val="10263B"/>
                </a:solidFill>
                <a:latin typeface="Cambria" pitchFamily="34" charset="0"/>
                <a:ea typeface="Cambria" pitchFamily="34" charset="-122"/>
                <a:cs typeface="Cambria" pitchFamily="34" charset="-120"/>
              </a:rPr>
              <a:t>a</a:t>
            </a:r>
            <a:pPr algn="ctr" indent="0" marL="0">
              <a:buNone/>
            </a:pPr>
            <a:r>
              <a:rPr lang="en-US" sz="2400" b="1" dirty="0">
                <a:solidFill>
                  <a:srgbClr val="10263B"/>
                </a:solidFill>
                <a:latin typeface="Cambria" pitchFamily="34" charset="0"/>
                <a:ea typeface="Cambria" pitchFamily="34" charset="-122"/>
                <a:cs typeface="Cambria" pitchFamily="34" charset="-120"/>
              </a:rPr>
              <a:t>  Q</a:t>
            </a:r>
            <a:pPr algn="ctr" indent="0" marL="0">
              <a:buNone/>
            </a:pPr>
            <a:r>
              <a:rPr lang="en-US" sz="2400" b="1" baseline="30000" dirty="0">
                <a:solidFill>
                  <a:srgbClr val="10263B"/>
                </a:solidFill>
                <a:latin typeface="Cambria" pitchFamily="34" charset="0"/>
                <a:ea typeface="Cambria" pitchFamily="34" charset="-122"/>
                <a:cs typeface="Cambria" pitchFamily="34" charset="-120"/>
              </a:rPr>
              <a:t>*</a:t>
            </a:r>
            <a:pPr algn="ctr" indent="0" marL="0">
              <a:buNone/>
            </a:pPr>
            <a:r>
              <a:rPr lang="en-US" sz="2400" b="1" dirty="0">
                <a:solidFill>
                  <a:srgbClr val="10263B"/>
                </a:solidFill>
                <a:latin typeface="Cambria" pitchFamily="34" charset="0"/>
                <a:ea typeface="Cambria" pitchFamily="34" charset="-122"/>
                <a:cs typeface="Cambria" pitchFamily="34" charset="-120"/>
              </a:rPr>
              <a:t>(s, a)</a:t>
            </a:r>
            <a:endParaRPr lang="en-US" sz="2400" dirty="0"/>
          </a:p>
        </p:txBody>
      </p:sp>
      <p:sp>
        <p:nvSpPr>
          <p:cNvPr id="8" name="Text 6"/>
          <p:cNvSpPr/>
          <p:nvPr/>
        </p:nvSpPr>
        <p:spPr>
          <a:xfrm>
            <a:off x="566928" y="3072384"/>
            <a:ext cx="7589520" cy="548640"/>
          </a:xfrm>
          <a:prstGeom prst="rect">
            <a:avLst/>
          </a:prstGeom>
          <a:noFill/>
          <a:ln/>
        </p:spPr>
        <p:txBody>
          <a:bodyPr wrap="square" lIns="0" tIns="0" rIns="0" bIns="0" rtlCol="0" anchor="t"/>
          <a:lstStyle/>
          <a:p>
            <a:pPr indent="0" marL="0">
              <a:buNone/>
            </a:pPr>
            <a:r>
              <a:rPr lang="en-US" sz="1400" dirty="0">
                <a:solidFill>
                  <a:srgbClr val="5C7080"/>
                </a:solidFill>
                <a:latin typeface="Calibri" pitchFamily="34" charset="0"/>
                <a:ea typeface="Calibri" pitchFamily="34" charset="-122"/>
                <a:cs typeface="Calibri" pitchFamily="34" charset="-120"/>
              </a:rPr>
              <a:t>The value of a state is the value of the best action available from it. Nothing more. You get to choose the action, so you take the maximum.</a:t>
            </a:r>
            <a:endParaRPr lang="en-US" sz="1400" dirty="0"/>
          </a:p>
        </p:txBody>
      </p:sp>
      <p:sp>
        <p:nvSpPr>
          <p:cNvPr id="9" name="Shape 7"/>
          <p:cNvSpPr/>
          <p:nvPr/>
        </p:nvSpPr>
        <p:spPr>
          <a:xfrm>
            <a:off x="566928" y="3803904"/>
            <a:ext cx="7589520" cy="2057400"/>
          </a:xfrm>
          <a:prstGeom prst="roundRect">
            <a:avLst>
              <a:gd name="adj" fmla="val 4000"/>
            </a:avLst>
          </a:prstGeom>
          <a:solidFill>
            <a:srgbClr val="EDF2F5"/>
          </a:solidFill>
          <a:ln/>
          <a:effectLst>
            <a:outerShdw sx="100000" sy="100000" kx="0" ky="0" algn="bl" rotWithShape="0" blurRad="101600" dist="17780" dir="5400000">
              <a:srgbClr val="9FB2BF">
                <a:alpha val="20000"/>
              </a:srgbClr>
            </a:outerShdw>
          </a:effectLst>
        </p:spPr>
      </p:sp>
      <p:sp>
        <p:nvSpPr>
          <p:cNvPr id="10" name="Text 8"/>
          <p:cNvSpPr/>
          <p:nvPr/>
        </p:nvSpPr>
        <p:spPr>
          <a:xfrm>
            <a:off x="804672" y="3950208"/>
            <a:ext cx="7132320" cy="347472"/>
          </a:xfrm>
          <a:prstGeom prst="rect">
            <a:avLst/>
          </a:prstGeom>
          <a:noFill/>
          <a:ln/>
        </p:spPr>
        <p:txBody>
          <a:bodyPr wrap="square" lIns="0" tIns="0" rIns="0" bIns="0" rtlCol="0" anchor="ctr"/>
          <a:lstStyle/>
          <a:p>
            <a:pPr indent="0" marL="0">
              <a:buNone/>
            </a:pPr>
            <a:r>
              <a:rPr lang="en-US" sz="1500" b="1" dirty="0">
                <a:solidFill>
                  <a:srgbClr val="B3341F"/>
                </a:solidFill>
                <a:latin typeface="Cambria" pitchFamily="34" charset="0"/>
                <a:ea typeface="Cambria" pitchFamily="34" charset="-122"/>
                <a:cs typeface="Cambria" pitchFamily="34" charset="-120"/>
              </a:rPr>
              <a:t>This is the nonlinear step</a:t>
            </a:r>
            <a:endParaRPr lang="en-US" sz="1500" dirty="0"/>
          </a:p>
        </p:txBody>
      </p:sp>
      <p:sp>
        <p:nvSpPr>
          <p:cNvPr id="11" name="Text 9"/>
          <p:cNvSpPr/>
          <p:nvPr/>
        </p:nvSpPr>
        <p:spPr>
          <a:xfrm>
            <a:off x="804672" y="4334256"/>
            <a:ext cx="7132320" cy="1325880"/>
          </a:xfrm>
          <a:prstGeom prst="rect">
            <a:avLst/>
          </a:prstGeom>
          <a:noFill/>
          <a:ln/>
        </p:spPr>
        <p:txBody>
          <a:bodyPr wrap="square" lIns="0" tIns="0" rIns="0" bIns="0" rtlCol="0" anchor="t"/>
          <a:lstStyle/>
          <a:p>
            <a:pPr indent="0" marL="0">
              <a:buNone/>
            </a:pPr>
            <a:r>
              <a:rPr lang="en-US" sz="1350" dirty="0">
                <a:solidFill>
                  <a:srgbClr val="10263B"/>
                </a:solidFill>
                <a:latin typeface="Calibri" pitchFamily="34" charset="0"/>
                <a:ea typeface="Calibri" pitchFamily="34" charset="-122"/>
                <a:cs typeface="Calibri" pitchFamily="34" charset="-120"/>
              </a:rPr>
              <a:t>The max is what makes the Bellman equations something other than a linear system. Remember that - when we remove the max later, by fixing a policy, the whole thing collapses into linear algebra and we get a second family of algorithms for free.</a:t>
            </a:r>
            <a:endParaRPr lang="en-US" sz="1350" dirty="0"/>
          </a:p>
        </p:txBody>
      </p:sp>
      <p:sp>
        <p:nvSpPr>
          <p:cNvPr id="12" name="Shape 10"/>
          <p:cNvSpPr/>
          <p:nvPr/>
        </p:nvSpPr>
        <p:spPr>
          <a:xfrm>
            <a:off x="9770364" y="1920240"/>
            <a:ext cx="301752" cy="277612"/>
          </a:xfrm>
          <a:prstGeom prst="triangle">
            <a:avLst/>
          </a:prstGeom>
          <a:solidFill>
            <a:srgbClr val="1C7293"/>
          </a:solidFill>
          <a:ln/>
        </p:spPr>
      </p:sp>
      <p:sp>
        <p:nvSpPr>
          <p:cNvPr id="13" name="Text 11"/>
          <p:cNvSpPr/>
          <p:nvPr/>
        </p:nvSpPr>
        <p:spPr>
          <a:xfrm>
            <a:off x="10117836" y="1901952"/>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14" name="Shape 12"/>
          <p:cNvSpPr/>
          <p:nvPr/>
        </p:nvSpPr>
        <p:spPr>
          <a:xfrm flipH="1">
            <a:off x="8865108" y="2197852"/>
            <a:ext cx="1056132" cy="778520"/>
          </a:xfrm>
          <a:prstGeom prst="line">
            <a:avLst/>
          </a:prstGeom>
          <a:noFill/>
          <a:ln w="12700">
            <a:solidFill>
              <a:srgbClr val="D3DDE3"/>
            </a:solidFill>
            <a:prstDash val="dash"/>
            <a:tailEnd type="none"/>
          </a:ln>
        </p:spPr>
      </p:sp>
      <p:sp>
        <p:nvSpPr>
          <p:cNvPr id="15" name="Shape 13"/>
          <p:cNvSpPr/>
          <p:nvPr/>
        </p:nvSpPr>
        <p:spPr>
          <a:xfrm>
            <a:off x="9921240" y="2197852"/>
            <a:ext cx="0" cy="778520"/>
          </a:xfrm>
          <a:prstGeom prst="line">
            <a:avLst/>
          </a:prstGeom>
          <a:noFill/>
          <a:ln w="25400">
            <a:solidFill>
              <a:srgbClr val="10263B"/>
            </a:solidFill>
            <a:prstDash val="solid"/>
            <a:tailEnd type="triangle"/>
          </a:ln>
        </p:spPr>
      </p:sp>
      <p:sp>
        <p:nvSpPr>
          <p:cNvPr id="16" name="Shape 14"/>
          <p:cNvSpPr/>
          <p:nvPr/>
        </p:nvSpPr>
        <p:spPr>
          <a:xfrm>
            <a:off x="9921240" y="2197852"/>
            <a:ext cx="1056132" cy="778520"/>
          </a:xfrm>
          <a:prstGeom prst="line">
            <a:avLst/>
          </a:prstGeom>
          <a:noFill/>
          <a:ln w="12700">
            <a:solidFill>
              <a:srgbClr val="D3DDE3"/>
            </a:solidFill>
            <a:prstDash val="dash"/>
            <a:tailEnd type="none"/>
          </a:ln>
        </p:spPr>
      </p:sp>
      <p:sp>
        <p:nvSpPr>
          <p:cNvPr id="17" name="Text 15"/>
          <p:cNvSpPr/>
          <p:nvPr/>
        </p:nvSpPr>
        <p:spPr>
          <a:xfrm>
            <a:off x="10003536" y="2372868"/>
            <a:ext cx="91440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a</a:t>
            </a:r>
            <a:endParaRPr lang="en-US" sz="1200" dirty="0"/>
          </a:p>
        </p:txBody>
      </p:sp>
      <p:sp>
        <p:nvSpPr>
          <p:cNvPr id="18" name="Shape 16"/>
          <p:cNvSpPr/>
          <p:nvPr/>
        </p:nvSpPr>
        <p:spPr>
          <a:xfrm>
            <a:off x="9820656" y="2976372"/>
            <a:ext cx="201168" cy="201168"/>
          </a:xfrm>
          <a:prstGeom prst="ellipse">
            <a:avLst/>
          </a:prstGeom>
          <a:solidFill>
            <a:srgbClr val="2E7D5B"/>
          </a:solidFill>
          <a:ln/>
        </p:spPr>
      </p:sp>
      <p:sp>
        <p:nvSpPr>
          <p:cNvPr id="19" name="Text 17"/>
          <p:cNvSpPr/>
          <p:nvPr/>
        </p:nvSpPr>
        <p:spPr>
          <a:xfrm>
            <a:off x="10076688" y="2994660"/>
            <a:ext cx="1097280" cy="237744"/>
          </a:xfrm>
          <a:prstGeom prst="rect">
            <a:avLst/>
          </a:prstGeom>
          <a:noFill/>
          <a:ln/>
        </p:spPr>
        <p:txBody>
          <a:bodyPr wrap="square" lIns="0" tIns="0" rIns="0" bIns="0" rtlCol="0" anchor="ctr"/>
          <a:lstStyle/>
          <a:p>
            <a:pPr indent="0" marL="0">
              <a:buNone/>
            </a:pPr>
            <a:r>
              <a:rPr lang="en-US" sz="1200" dirty="0">
                <a:solidFill>
                  <a:srgbClr val="2E7D5B"/>
                </a:solidFill>
                <a:latin typeface="Calibri" pitchFamily="34" charset="0"/>
                <a:ea typeface="Calibri" pitchFamily="34" charset="-122"/>
                <a:cs typeface="Calibri" pitchFamily="34" charset="-120"/>
              </a:rPr>
              <a:t>s, a</a:t>
            </a:r>
            <a:endParaRPr lang="en-US" sz="1200" dirty="0"/>
          </a:p>
        </p:txBody>
      </p:sp>
      <p:sp>
        <p:nvSpPr>
          <p:cNvPr id="20" name="Shape 18"/>
          <p:cNvSpPr/>
          <p:nvPr/>
        </p:nvSpPr>
        <p:spPr>
          <a:xfrm flipH="1">
            <a:off x="8865108" y="3177540"/>
            <a:ext cx="1056132" cy="854964"/>
          </a:xfrm>
          <a:prstGeom prst="line">
            <a:avLst/>
          </a:prstGeom>
          <a:noFill/>
          <a:ln w="12700">
            <a:solidFill>
              <a:srgbClr val="D3DDE3"/>
            </a:solidFill>
            <a:prstDash val="dash"/>
            <a:tailEnd type="none"/>
          </a:ln>
        </p:spPr>
      </p:sp>
      <p:sp>
        <p:nvSpPr>
          <p:cNvPr id="21" name="Shape 19"/>
          <p:cNvSpPr/>
          <p:nvPr/>
        </p:nvSpPr>
        <p:spPr>
          <a:xfrm>
            <a:off x="9921240" y="3177540"/>
            <a:ext cx="0" cy="854964"/>
          </a:xfrm>
          <a:prstGeom prst="line">
            <a:avLst/>
          </a:prstGeom>
          <a:noFill/>
          <a:ln w="25400">
            <a:solidFill>
              <a:srgbClr val="10263B"/>
            </a:solidFill>
            <a:prstDash val="solid"/>
            <a:tailEnd type="triangle"/>
          </a:ln>
        </p:spPr>
      </p:sp>
      <p:sp>
        <p:nvSpPr>
          <p:cNvPr id="22" name="Shape 20"/>
          <p:cNvSpPr/>
          <p:nvPr/>
        </p:nvSpPr>
        <p:spPr>
          <a:xfrm>
            <a:off x="9921240" y="3177540"/>
            <a:ext cx="1056132" cy="854964"/>
          </a:xfrm>
          <a:prstGeom prst="line">
            <a:avLst/>
          </a:prstGeom>
          <a:noFill/>
          <a:ln w="12700">
            <a:solidFill>
              <a:srgbClr val="D3DDE3"/>
            </a:solidFill>
            <a:prstDash val="dash"/>
            <a:tailEnd type="none"/>
          </a:ln>
        </p:spPr>
      </p:sp>
      <p:sp>
        <p:nvSpPr>
          <p:cNvPr id="23" name="Text 21"/>
          <p:cNvSpPr/>
          <p:nvPr/>
        </p:nvSpPr>
        <p:spPr>
          <a:xfrm>
            <a:off x="8613648" y="3398825"/>
            <a:ext cx="1280160" cy="237744"/>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s, a, s'</a:t>
            </a:r>
            <a:endParaRPr lang="en-US" sz="1050" dirty="0"/>
          </a:p>
        </p:txBody>
      </p:sp>
      <p:sp>
        <p:nvSpPr>
          <p:cNvPr id="24" name="Shape 22"/>
          <p:cNvSpPr/>
          <p:nvPr/>
        </p:nvSpPr>
        <p:spPr>
          <a:xfrm>
            <a:off x="9770364" y="4032504"/>
            <a:ext cx="301752" cy="277612"/>
          </a:xfrm>
          <a:prstGeom prst="triangle">
            <a:avLst/>
          </a:prstGeom>
          <a:solidFill>
            <a:srgbClr val="1C7293"/>
          </a:solidFill>
          <a:ln/>
        </p:spPr>
      </p:sp>
      <p:sp>
        <p:nvSpPr>
          <p:cNvPr id="25" name="Text 23"/>
          <p:cNvSpPr/>
          <p:nvPr/>
        </p:nvSpPr>
        <p:spPr>
          <a:xfrm>
            <a:off x="10117836" y="4014216"/>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Building the equations: the chance node</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26</a:t>
            </a:r>
            <a:endParaRPr lang="en-US" sz="900" dirty="0"/>
          </a:p>
        </p:txBody>
      </p:sp>
      <p:sp>
        <p:nvSpPr>
          <p:cNvPr id="5" name="Text 3"/>
          <p:cNvSpPr/>
          <p:nvPr/>
        </p:nvSpPr>
        <p:spPr>
          <a:xfrm>
            <a:off x="566928" y="1417320"/>
            <a:ext cx="7589520" cy="411480"/>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Now the harder half. We have committed to action a, but we do not control which s' we land in.</a:t>
            </a:r>
            <a:endParaRPr lang="en-US" sz="1500" dirty="0"/>
          </a:p>
        </p:txBody>
      </p:sp>
      <p:sp>
        <p:nvSpPr>
          <p:cNvPr id="6" name="Shape 4"/>
          <p:cNvSpPr/>
          <p:nvPr/>
        </p:nvSpPr>
        <p:spPr>
          <a:xfrm>
            <a:off x="566928" y="1920240"/>
            <a:ext cx="7589520" cy="868680"/>
          </a:xfrm>
          <a:prstGeom prst="roundRect">
            <a:avLst>
              <a:gd name="adj" fmla="val 6316"/>
            </a:avLst>
          </a:prstGeom>
          <a:solidFill>
            <a:srgbClr val="F7FAFB"/>
          </a:solidFill>
          <a:ln w="12700">
            <a:solidFill>
              <a:srgbClr val="D3DDE3"/>
            </a:solidFill>
            <a:prstDash val="solid"/>
          </a:ln>
        </p:spPr>
      </p:sp>
      <p:sp>
        <p:nvSpPr>
          <p:cNvPr id="7" name="Text 5"/>
          <p:cNvSpPr/>
          <p:nvPr/>
        </p:nvSpPr>
        <p:spPr>
          <a:xfrm>
            <a:off x="676656" y="1920240"/>
            <a:ext cx="7370064" cy="868680"/>
          </a:xfrm>
          <a:prstGeom prst="rect">
            <a:avLst/>
          </a:prstGeom>
          <a:noFill/>
          <a:ln/>
        </p:spPr>
        <p:txBody>
          <a:bodyPr wrap="square" lIns="0" tIns="0" rIns="0" bIns="0" rtlCol="0" anchor="ctr"/>
          <a:lstStyle/>
          <a:p>
            <a:pPr algn="ctr" indent="0" marL="0">
              <a:buNone/>
            </a:pPr>
            <a:r>
              <a:rPr lang="en-US" sz="1900" b="1" dirty="0">
                <a:solidFill>
                  <a:srgbClr val="10263B"/>
                </a:solidFill>
                <a:latin typeface="Cambria" pitchFamily="34" charset="0"/>
                <a:ea typeface="Cambria" pitchFamily="34" charset="-122"/>
                <a:cs typeface="Cambria" pitchFamily="34" charset="-120"/>
              </a:rPr>
              <a:t>Q</a:t>
            </a:r>
            <a:pPr algn="ctr" indent="0" marL="0">
              <a:buNone/>
            </a:pPr>
            <a:r>
              <a:rPr lang="en-US" sz="1900" b="1" baseline="30000" dirty="0">
                <a:solidFill>
                  <a:srgbClr val="10263B"/>
                </a:solidFill>
                <a:latin typeface="Cambria" pitchFamily="34" charset="0"/>
                <a:ea typeface="Cambria" pitchFamily="34" charset="-122"/>
                <a:cs typeface="Cambria" pitchFamily="34" charset="-120"/>
              </a:rPr>
              <a:t>*</a:t>
            </a:r>
            <a:pPr algn="ctr" indent="0" marL="0">
              <a:buNone/>
            </a:pPr>
            <a:r>
              <a:rPr lang="en-US" sz="1900" b="1" dirty="0">
                <a:solidFill>
                  <a:srgbClr val="10263B"/>
                </a:solidFill>
                <a:latin typeface="Cambria" pitchFamily="34" charset="0"/>
                <a:ea typeface="Cambria" pitchFamily="34" charset="-122"/>
                <a:cs typeface="Cambria" pitchFamily="34" charset="-120"/>
              </a:rPr>
              <a:t>(s, a)  =  Σ</a:t>
            </a:r>
            <a:pPr algn="ctr" indent="0" marL="0">
              <a:buNone/>
            </a:pPr>
            <a:r>
              <a:rPr lang="en-US" sz="1900" b="1" baseline="-40000" dirty="0">
                <a:solidFill>
                  <a:srgbClr val="10263B"/>
                </a:solidFill>
                <a:latin typeface="Cambria" pitchFamily="34" charset="0"/>
                <a:ea typeface="Cambria" pitchFamily="34" charset="-122"/>
                <a:cs typeface="Cambria" pitchFamily="34" charset="-120"/>
              </a:rPr>
              <a:t>s'</a:t>
            </a:r>
            <a:pPr algn="ctr" indent="0" marL="0">
              <a:buNone/>
            </a:pPr>
            <a:r>
              <a:rPr lang="en-US" sz="1900" b="1" dirty="0">
                <a:solidFill>
                  <a:srgbClr val="10263B"/>
                </a:solidFill>
                <a:latin typeface="Cambria" pitchFamily="34" charset="0"/>
                <a:ea typeface="Cambria" pitchFamily="34" charset="-122"/>
                <a:cs typeface="Cambria" pitchFamily="34" charset="-120"/>
              </a:rPr>
              <a:t>  T(s,a,s') [ R(s,a,s')  +  γ V</a:t>
            </a:r>
            <a:pPr algn="ctr" indent="0" marL="0">
              <a:buNone/>
            </a:pPr>
            <a:r>
              <a:rPr lang="en-US" sz="1900" b="1" baseline="30000" dirty="0">
                <a:solidFill>
                  <a:srgbClr val="10263B"/>
                </a:solidFill>
                <a:latin typeface="Cambria" pitchFamily="34" charset="0"/>
                <a:ea typeface="Cambria" pitchFamily="34" charset="-122"/>
                <a:cs typeface="Cambria" pitchFamily="34" charset="-120"/>
              </a:rPr>
              <a:t>*</a:t>
            </a:r>
            <a:pPr algn="ctr" indent="0" marL="0">
              <a:buNone/>
            </a:pPr>
            <a:r>
              <a:rPr lang="en-US" sz="1900" b="1" dirty="0">
                <a:solidFill>
                  <a:srgbClr val="10263B"/>
                </a:solidFill>
                <a:latin typeface="Cambria" pitchFamily="34" charset="0"/>
                <a:ea typeface="Cambria" pitchFamily="34" charset="-122"/>
                <a:cs typeface="Cambria" pitchFamily="34" charset="-120"/>
              </a:rPr>
              <a:t>(s') ]</a:t>
            </a:r>
            <a:endParaRPr lang="en-US" sz="1900" dirty="0"/>
          </a:p>
        </p:txBody>
      </p:sp>
      <p:sp>
        <p:nvSpPr>
          <p:cNvPr id="8" name="Shape 6"/>
          <p:cNvSpPr/>
          <p:nvPr/>
        </p:nvSpPr>
        <p:spPr>
          <a:xfrm>
            <a:off x="566928" y="3017520"/>
            <a:ext cx="1874520" cy="548640"/>
          </a:xfrm>
          <a:prstGeom prst="roundRect">
            <a:avLst>
              <a:gd name="adj" fmla="val 8333"/>
            </a:avLst>
          </a:prstGeom>
          <a:solidFill>
            <a:srgbClr val="1C7293"/>
          </a:solidFill>
          <a:ln/>
        </p:spPr>
      </p:sp>
      <p:sp>
        <p:nvSpPr>
          <p:cNvPr id="9" name="Text 7"/>
          <p:cNvSpPr/>
          <p:nvPr/>
        </p:nvSpPr>
        <p:spPr>
          <a:xfrm>
            <a:off x="566928" y="301752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Σ over s'</a:t>
            </a:r>
            <a:endParaRPr lang="en-US" sz="1300" dirty="0"/>
          </a:p>
        </p:txBody>
      </p:sp>
      <p:sp>
        <p:nvSpPr>
          <p:cNvPr id="10" name="Text 8"/>
          <p:cNvSpPr/>
          <p:nvPr/>
        </p:nvSpPr>
        <p:spPr>
          <a:xfrm>
            <a:off x="2596896" y="3017520"/>
            <a:ext cx="5486400" cy="5486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average over everything that could happen</a:t>
            </a:r>
            <a:endParaRPr lang="en-US" sz="1350" dirty="0"/>
          </a:p>
        </p:txBody>
      </p:sp>
      <p:sp>
        <p:nvSpPr>
          <p:cNvPr id="11" name="Shape 9"/>
          <p:cNvSpPr/>
          <p:nvPr/>
        </p:nvSpPr>
        <p:spPr>
          <a:xfrm>
            <a:off x="566928" y="3749040"/>
            <a:ext cx="1874520" cy="548640"/>
          </a:xfrm>
          <a:prstGeom prst="roundRect">
            <a:avLst>
              <a:gd name="adj" fmla="val 8333"/>
            </a:avLst>
          </a:prstGeom>
          <a:solidFill>
            <a:srgbClr val="1C7293"/>
          </a:solidFill>
          <a:ln/>
        </p:spPr>
      </p:sp>
      <p:sp>
        <p:nvSpPr>
          <p:cNvPr id="12" name="Text 10"/>
          <p:cNvSpPr/>
          <p:nvPr/>
        </p:nvSpPr>
        <p:spPr>
          <a:xfrm>
            <a:off x="566928" y="374904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T(s,a,s')</a:t>
            </a:r>
            <a:endParaRPr lang="en-US" sz="1300" dirty="0"/>
          </a:p>
        </p:txBody>
      </p:sp>
      <p:sp>
        <p:nvSpPr>
          <p:cNvPr id="13" name="Text 11"/>
          <p:cNvSpPr/>
          <p:nvPr/>
        </p:nvSpPr>
        <p:spPr>
          <a:xfrm>
            <a:off x="2596896" y="3749040"/>
            <a:ext cx="5486400" cy="5486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how likely each outcome is</a:t>
            </a:r>
            <a:endParaRPr lang="en-US" sz="1350" dirty="0"/>
          </a:p>
        </p:txBody>
      </p:sp>
      <p:sp>
        <p:nvSpPr>
          <p:cNvPr id="14" name="Shape 12"/>
          <p:cNvSpPr/>
          <p:nvPr/>
        </p:nvSpPr>
        <p:spPr>
          <a:xfrm>
            <a:off x="566928" y="4480560"/>
            <a:ext cx="1874520" cy="548640"/>
          </a:xfrm>
          <a:prstGeom prst="roundRect">
            <a:avLst>
              <a:gd name="adj" fmla="val 8333"/>
            </a:avLst>
          </a:prstGeom>
          <a:solidFill>
            <a:srgbClr val="2E7D5B"/>
          </a:solidFill>
          <a:ln/>
        </p:spPr>
      </p:sp>
      <p:sp>
        <p:nvSpPr>
          <p:cNvPr id="15" name="Text 13"/>
          <p:cNvSpPr/>
          <p:nvPr/>
        </p:nvSpPr>
        <p:spPr>
          <a:xfrm>
            <a:off x="566928" y="448056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R(s,a,s')</a:t>
            </a:r>
            <a:endParaRPr lang="en-US" sz="1300" dirty="0"/>
          </a:p>
        </p:txBody>
      </p:sp>
      <p:sp>
        <p:nvSpPr>
          <p:cNvPr id="16" name="Text 14"/>
          <p:cNvSpPr/>
          <p:nvPr/>
        </p:nvSpPr>
        <p:spPr>
          <a:xfrm>
            <a:off x="2596896" y="4480560"/>
            <a:ext cx="5486400" cy="5486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the reward you collect right now</a:t>
            </a:r>
            <a:endParaRPr lang="en-US" sz="1350" dirty="0"/>
          </a:p>
        </p:txBody>
      </p:sp>
      <p:sp>
        <p:nvSpPr>
          <p:cNvPr id="17" name="Shape 15"/>
          <p:cNvSpPr/>
          <p:nvPr/>
        </p:nvSpPr>
        <p:spPr>
          <a:xfrm>
            <a:off x="566928" y="5212080"/>
            <a:ext cx="1874520" cy="548640"/>
          </a:xfrm>
          <a:prstGeom prst="roundRect">
            <a:avLst>
              <a:gd name="adj" fmla="val 8333"/>
            </a:avLst>
          </a:prstGeom>
          <a:solidFill>
            <a:srgbClr val="E0A32E"/>
          </a:solidFill>
          <a:ln/>
        </p:spPr>
      </p:sp>
      <p:sp>
        <p:nvSpPr>
          <p:cNvPr id="18" name="Text 16"/>
          <p:cNvSpPr/>
          <p:nvPr/>
        </p:nvSpPr>
        <p:spPr>
          <a:xfrm>
            <a:off x="566928" y="5212080"/>
            <a:ext cx="187452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γ V*(s')</a:t>
            </a:r>
            <a:endParaRPr lang="en-US" sz="1300" dirty="0"/>
          </a:p>
        </p:txBody>
      </p:sp>
      <p:sp>
        <p:nvSpPr>
          <p:cNvPr id="19" name="Text 17"/>
          <p:cNvSpPr/>
          <p:nvPr/>
        </p:nvSpPr>
        <p:spPr>
          <a:xfrm>
            <a:off x="2596896" y="5212080"/>
            <a:ext cx="5486400" cy="5486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everything after that, discounted one step</a:t>
            </a:r>
            <a:endParaRPr lang="en-US" sz="1350" dirty="0"/>
          </a:p>
        </p:txBody>
      </p:sp>
      <p:sp>
        <p:nvSpPr>
          <p:cNvPr id="20" name="Shape 18"/>
          <p:cNvSpPr/>
          <p:nvPr/>
        </p:nvSpPr>
        <p:spPr>
          <a:xfrm>
            <a:off x="8275320" y="1920240"/>
            <a:ext cx="3337560" cy="3977640"/>
          </a:xfrm>
          <a:prstGeom prst="roundRect">
            <a:avLst>
              <a:gd name="adj" fmla="val 2466"/>
            </a:avLst>
          </a:prstGeom>
          <a:solidFill>
            <a:srgbClr val="10263B"/>
          </a:solidFill>
          <a:ln/>
          <a:effectLst>
            <a:outerShdw sx="100000" sy="100000" kx="0" ky="0" algn="bl" rotWithShape="0" blurRad="101600" dist="17780" dir="5400000">
              <a:srgbClr val="9FB2BF">
                <a:alpha val="20000"/>
              </a:srgbClr>
            </a:outerShdw>
          </a:effectLst>
        </p:spPr>
      </p:sp>
      <p:sp>
        <p:nvSpPr>
          <p:cNvPr id="21" name="Text 19"/>
          <p:cNvSpPr/>
          <p:nvPr/>
        </p:nvSpPr>
        <p:spPr>
          <a:xfrm>
            <a:off x="8485632" y="2084832"/>
            <a:ext cx="2926080" cy="329184"/>
          </a:xfrm>
          <a:prstGeom prst="rect">
            <a:avLst/>
          </a:prstGeom>
          <a:noFill/>
          <a:ln/>
        </p:spPr>
        <p:txBody>
          <a:bodyPr wrap="square" lIns="0" tIns="0" rIns="0" bIns="0" rtlCol="0" anchor="ctr"/>
          <a:lstStyle/>
          <a:p>
            <a:pPr indent="0" marL="0">
              <a:buNone/>
            </a:pPr>
            <a:r>
              <a:rPr lang="en-US" sz="1400" b="1" dirty="0">
                <a:solidFill>
                  <a:srgbClr val="E0A32E"/>
                </a:solidFill>
                <a:latin typeface="Cambria" pitchFamily="34" charset="0"/>
                <a:ea typeface="Cambria" pitchFamily="34" charset="-122"/>
                <a:cs typeface="Cambria" pitchFamily="34" charset="-120"/>
              </a:rPr>
              <a:t>Say it out loud</a:t>
            </a:r>
            <a:endParaRPr lang="en-US" sz="1400" dirty="0"/>
          </a:p>
        </p:txBody>
      </p:sp>
      <p:sp>
        <p:nvSpPr>
          <p:cNvPr id="22" name="Text 20"/>
          <p:cNvSpPr/>
          <p:nvPr/>
        </p:nvSpPr>
        <p:spPr>
          <a:xfrm>
            <a:off x="8485632" y="2487168"/>
            <a:ext cx="2926080" cy="1234440"/>
          </a:xfrm>
          <a:prstGeom prst="rect">
            <a:avLst/>
          </a:prstGeom>
          <a:noFill/>
          <a:ln/>
        </p:spPr>
        <p:txBody>
          <a:bodyPr wrap="square" lIns="0" tIns="0" rIns="0" bIns="0" rtlCol="0" anchor="t"/>
          <a:lstStyle/>
          <a:p>
            <a:pPr indent="0" marL="0">
              <a:buNone/>
            </a:pPr>
            <a:r>
              <a:rPr lang="en-US" sz="1500" i="1" dirty="0">
                <a:solidFill>
                  <a:srgbClr val="FFFFFF"/>
                </a:solidFill>
                <a:latin typeface="Calibri" pitchFamily="34" charset="0"/>
                <a:ea typeface="Calibri" pitchFamily="34" charset="-122"/>
                <a:cs typeface="Calibri" pitchFamily="34" charset="-120"/>
              </a:rPr>
              <a:t>"Instantaneous reward, plus discounted future reward, averaged over the outcomes of my action."</a:t>
            </a:r>
            <a:endParaRPr lang="en-US" sz="1500" dirty="0"/>
          </a:p>
        </p:txBody>
      </p:sp>
      <p:sp>
        <p:nvSpPr>
          <p:cNvPr id="23" name="Text 21"/>
          <p:cNvSpPr/>
          <p:nvPr/>
        </p:nvSpPr>
        <p:spPr>
          <a:xfrm>
            <a:off x="8485632" y="3840480"/>
            <a:ext cx="2926080" cy="1005840"/>
          </a:xfrm>
          <a:prstGeom prst="rect">
            <a:avLst/>
          </a:prstGeom>
          <a:noFill/>
          <a:ln/>
        </p:spPr>
        <p:txBody>
          <a:bodyPr wrap="square" lIns="0" tIns="0" rIns="0" bIns="0" rtlCol="0" anchor="t"/>
          <a:lstStyle/>
          <a:p>
            <a:pPr indent="0" marL="0">
              <a:buNone/>
            </a:pPr>
            <a:r>
              <a:rPr lang="en-US" sz="1250" dirty="0">
                <a:solidFill>
                  <a:srgbClr val="A9C0CF"/>
                </a:solidFill>
                <a:latin typeface="Calibri" pitchFamily="34" charset="0"/>
                <a:ea typeface="Calibri" pitchFamily="34" charset="-122"/>
                <a:cs typeface="Calibri" pitchFamily="34" charset="-120"/>
              </a:rPr>
              <a:t>If you remember one sentence from this lecture, make it that one. Every algorithm today is a rearrangement of it.</a:t>
            </a:r>
            <a:endParaRPr lang="en-US" sz="1250" dirty="0"/>
          </a:p>
        </p:txBody>
      </p:sp>
      <p:sp>
        <p:nvSpPr>
          <p:cNvPr id="24" name="Shape 22"/>
          <p:cNvSpPr/>
          <p:nvPr/>
        </p:nvSpPr>
        <p:spPr>
          <a:xfrm>
            <a:off x="9863633" y="4892040"/>
            <a:ext cx="115214" cy="105997"/>
          </a:xfrm>
          <a:prstGeom prst="triangle">
            <a:avLst/>
          </a:prstGeom>
          <a:solidFill>
            <a:srgbClr val="1C7293"/>
          </a:solidFill>
          <a:ln/>
        </p:spPr>
      </p:sp>
      <p:sp>
        <p:nvSpPr>
          <p:cNvPr id="25" name="Text 23"/>
          <p:cNvSpPr/>
          <p:nvPr/>
        </p:nvSpPr>
        <p:spPr>
          <a:xfrm>
            <a:off x="10024567" y="4873752"/>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26" name="Shape 24"/>
          <p:cNvSpPr/>
          <p:nvPr/>
        </p:nvSpPr>
        <p:spPr>
          <a:xfrm flipH="1">
            <a:off x="9517990" y="4998037"/>
            <a:ext cx="403250" cy="297253"/>
          </a:xfrm>
          <a:prstGeom prst="line">
            <a:avLst/>
          </a:prstGeom>
          <a:noFill/>
          <a:ln w="12700">
            <a:solidFill>
              <a:srgbClr val="D3DDE3"/>
            </a:solidFill>
            <a:prstDash val="dash"/>
            <a:tailEnd type="none"/>
          </a:ln>
        </p:spPr>
      </p:sp>
      <p:sp>
        <p:nvSpPr>
          <p:cNvPr id="27" name="Shape 25"/>
          <p:cNvSpPr/>
          <p:nvPr/>
        </p:nvSpPr>
        <p:spPr>
          <a:xfrm>
            <a:off x="9921240" y="4998037"/>
            <a:ext cx="0" cy="297253"/>
          </a:xfrm>
          <a:prstGeom prst="line">
            <a:avLst/>
          </a:prstGeom>
          <a:noFill/>
          <a:ln w="25400">
            <a:solidFill>
              <a:srgbClr val="10263B"/>
            </a:solidFill>
            <a:prstDash val="solid"/>
            <a:tailEnd type="triangle"/>
          </a:ln>
        </p:spPr>
      </p:sp>
      <p:sp>
        <p:nvSpPr>
          <p:cNvPr id="28" name="Shape 26"/>
          <p:cNvSpPr/>
          <p:nvPr/>
        </p:nvSpPr>
        <p:spPr>
          <a:xfrm>
            <a:off x="9921240" y="4998037"/>
            <a:ext cx="403250" cy="297253"/>
          </a:xfrm>
          <a:prstGeom prst="line">
            <a:avLst/>
          </a:prstGeom>
          <a:noFill/>
          <a:ln w="12700">
            <a:solidFill>
              <a:srgbClr val="D3DDE3"/>
            </a:solidFill>
            <a:prstDash val="dash"/>
            <a:tailEnd type="none"/>
          </a:ln>
        </p:spPr>
      </p:sp>
      <p:sp>
        <p:nvSpPr>
          <p:cNvPr id="29" name="Text 27"/>
          <p:cNvSpPr/>
          <p:nvPr/>
        </p:nvSpPr>
        <p:spPr>
          <a:xfrm>
            <a:off x="10003536" y="5064862"/>
            <a:ext cx="91440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a</a:t>
            </a:r>
            <a:endParaRPr lang="en-US" sz="1200" dirty="0"/>
          </a:p>
        </p:txBody>
      </p:sp>
      <p:sp>
        <p:nvSpPr>
          <p:cNvPr id="30" name="Shape 28"/>
          <p:cNvSpPr/>
          <p:nvPr/>
        </p:nvSpPr>
        <p:spPr>
          <a:xfrm>
            <a:off x="9882835" y="5295290"/>
            <a:ext cx="76810" cy="76810"/>
          </a:xfrm>
          <a:prstGeom prst="ellipse">
            <a:avLst/>
          </a:prstGeom>
          <a:solidFill>
            <a:srgbClr val="2E7D5B"/>
          </a:solidFill>
          <a:ln/>
        </p:spPr>
      </p:sp>
      <p:sp>
        <p:nvSpPr>
          <p:cNvPr id="31" name="Text 29"/>
          <p:cNvSpPr/>
          <p:nvPr/>
        </p:nvSpPr>
        <p:spPr>
          <a:xfrm>
            <a:off x="10014509" y="5313578"/>
            <a:ext cx="1097280" cy="237744"/>
          </a:xfrm>
          <a:prstGeom prst="rect">
            <a:avLst/>
          </a:prstGeom>
          <a:noFill/>
          <a:ln/>
        </p:spPr>
        <p:txBody>
          <a:bodyPr wrap="square" lIns="0" tIns="0" rIns="0" bIns="0" rtlCol="0" anchor="ctr"/>
          <a:lstStyle/>
          <a:p>
            <a:pPr indent="0" marL="0">
              <a:buNone/>
            </a:pPr>
            <a:r>
              <a:rPr lang="en-US" sz="1200" dirty="0">
                <a:solidFill>
                  <a:srgbClr val="2E7D5B"/>
                </a:solidFill>
                <a:latin typeface="Calibri" pitchFamily="34" charset="0"/>
                <a:ea typeface="Calibri" pitchFamily="34" charset="-122"/>
                <a:cs typeface="Calibri" pitchFamily="34" charset="-120"/>
              </a:rPr>
              <a:t>s, a</a:t>
            </a:r>
            <a:endParaRPr lang="en-US" sz="1200" dirty="0"/>
          </a:p>
        </p:txBody>
      </p:sp>
      <p:sp>
        <p:nvSpPr>
          <p:cNvPr id="32" name="Shape 30"/>
          <p:cNvSpPr/>
          <p:nvPr/>
        </p:nvSpPr>
        <p:spPr>
          <a:xfrm flipH="1">
            <a:off x="9517990" y="5372100"/>
            <a:ext cx="403250" cy="326441"/>
          </a:xfrm>
          <a:prstGeom prst="line">
            <a:avLst/>
          </a:prstGeom>
          <a:noFill/>
          <a:ln w="12700">
            <a:solidFill>
              <a:srgbClr val="D3DDE3"/>
            </a:solidFill>
            <a:prstDash val="dash"/>
            <a:tailEnd type="none"/>
          </a:ln>
        </p:spPr>
      </p:sp>
      <p:sp>
        <p:nvSpPr>
          <p:cNvPr id="33" name="Shape 31"/>
          <p:cNvSpPr/>
          <p:nvPr/>
        </p:nvSpPr>
        <p:spPr>
          <a:xfrm>
            <a:off x="9921240" y="5372100"/>
            <a:ext cx="0" cy="326441"/>
          </a:xfrm>
          <a:prstGeom prst="line">
            <a:avLst/>
          </a:prstGeom>
          <a:noFill/>
          <a:ln w="25400">
            <a:solidFill>
              <a:srgbClr val="10263B"/>
            </a:solidFill>
            <a:prstDash val="solid"/>
            <a:tailEnd type="triangle"/>
          </a:ln>
        </p:spPr>
      </p:sp>
      <p:sp>
        <p:nvSpPr>
          <p:cNvPr id="34" name="Shape 32"/>
          <p:cNvSpPr/>
          <p:nvPr/>
        </p:nvSpPr>
        <p:spPr>
          <a:xfrm>
            <a:off x="9921240" y="5372100"/>
            <a:ext cx="403250" cy="326441"/>
          </a:xfrm>
          <a:prstGeom prst="line">
            <a:avLst/>
          </a:prstGeom>
          <a:noFill/>
          <a:ln w="12700">
            <a:solidFill>
              <a:srgbClr val="D3DDE3"/>
            </a:solidFill>
            <a:prstDash val="dash"/>
            <a:tailEnd type="none"/>
          </a:ln>
        </p:spPr>
      </p:sp>
      <p:sp>
        <p:nvSpPr>
          <p:cNvPr id="35" name="Text 33"/>
          <p:cNvSpPr/>
          <p:nvPr/>
        </p:nvSpPr>
        <p:spPr>
          <a:xfrm>
            <a:off x="9421978" y="5456591"/>
            <a:ext cx="1280160" cy="237744"/>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s, a, s'</a:t>
            </a:r>
            <a:endParaRPr lang="en-US" sz="1050" dirty="0"/>
          </a:p>
        </p:txBody>
      </p:sp>
      <p:sp>
        <p:nvSpPr>
          <p:cNvPr id="36" name="Shape 34"/>
          <p:cNvSpPr/>
          <p:nvPr/>
        </p:nvSpPr>
        <p:spPr>
          <a:xfrm>
            <a:off x="9863633" y="5698541"/>
            <a:ext cx="115214" cy="105997"/>
          </a:xfrm>
          <a:prstGeom prst="triangle">
            <a:avLst/>
          </a:prstGeom>
          <a:solidFill>
            <a:srgbClr val="1C7293"/>
          </a:solidFill>
          <a:ln/>
        </p:spPr>
      </p:sp>
      <p:sp>
        <p:nvSpPr>
          <p:cNvPr id="37" name="Text 35"/>
          <p:cNvSpPr/>
          <p:nvPr/>
        </p:nvSpPr>
        <p:spPr>
          <a:xfrm>
            <a:off x="10024567" y="5680253"/>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Bellman equations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27</a:t>
            </a:r>
            <a:endParaRPr lang="en-US" sz="900" dirty="0"/>
          </a:p>
        </p:txBody>
      </p:sp>
      <p:sp>
        <p:nvSpPr>
          <p:cNvPr id="5" name="Shape 3"/>
          <p:cNvSpPr/>
          <p:nvPr/>
        </p:nvSpPr>
        <p:spPr>
          <a:xfrm>
            <a:off x="566928" y="1481328"/>
            <a:ext cx="11057839" cy="786384"/>
          </a:xfrm>
          <a:prstGeom prst="roundRect">
            <a:avLst>
              <a:gd name="adj" fmla="val 6977"/>
            </a:avLst>
          </a:prstGeom>
          <a:solidFill>
            <a:srgbClr val="F7FAFB"/>
          </a:solidFill>
          <a:ln w="12700">
            <a:solidFill>
              <a:srgbClr val="D3DDE3"/>
            </a:solidFill>
            <a:prstDash val="solid"/>
          </a:ln>
        </p:spPr>
      </p:sp>
      <p:sp>
        <p:nvSpPr>
          <p:cNvPr id="6" name="Text 4"/>
          <p:cNvSpPr/>
          <p:nvPr/>
        </p:nvSpPr>
        <p:spPr>
          <a:xfrm>
            <a:off x="676656" y="1481328"/>
            <a:ext cx="10838383" cy="786384"/>
          </a:xfrm>
          <a:prstGeom prst="rect">
            <a:avLst/>
          </a:prstGeom>
          <a:noFill/>
          <a:ln/>
        </p:spPr>
        <p:txBody>
          <a:bodyPr wrap="square" lIns="0" tIns="0" rIns="0" bIns="0" rtlCol="0" anchor="ctr"/>
          <a:lstStyle/>
          <a:p>
            <a:pPr algn="ctr" indent="0" marL="0">
              <a:buNone/>
            </a:pPr>
            <a:r>
              <a:rPr lang="en-US" sz="2100" b="1" dirty="0">
                <a:solidFill>
                  <a:srgbClr val="10263B"/>
                </a:solidFill>
                <a:latin typeface="Cambria" pitchFamily="34" charset="0"/>
                <a:ea typeface="Cambria" pitchFamily="34" charset="-122"/>
                <a:cs typeface="Cambria" pitchFamily="34" charset="-120"/>
              </a:rPr>
              <a:t>V</a:t>
            </a:r>
            <a:pPr algn="ctr" indent="0" marL="0">
              <a:buNone/>
            </a:pPr>
            <a:r>
              <a:rPr lang="en-US" sz="2100" b="1" baseline="30000" dirty="0">
                <a:solidFill>
                  <a:srgbClr val="10263B"/>
                </a:solidFill>
                <a:latin typeface="Cambria" pitchFamily="34" charset="0"/>
                <a:ea typeface="Cambria" pitchFamily="34" charset="-122"/>
                <a:cs typeface="Cambria" pitchFamily="34" charset="-120"/>
              </a:rPr>
              <a:t>*</a:t>
            </a:r>
            <a:pPr algn="ctr" indent="0" marL="0">
              <a:buNone/>
            </a:pPr>
            <a:r>
              <a:rPr lang="en-US" sz="2100" b="1" dirty="0">
                <a:solidFill>
                  <a:srgbClr val="10263B"/>
                </a:solidFill>
                <a:latin typeface="Cambria" pitchFamily="34" charset="0"/>
                <a:ea typeface="Cambria" pitchFamily="34" charset="-122"/>
                <a:cs typeface="Cambria" pitchFamily="34" charset="-120"/>
              </a:rPr>
              <a:t>(s)  =  max</a:t>
            </a:r>
            <a:pPr algn="ctr" indent="0" marL="0">
              <a:buNone/>
            </a:pPr>
            <a:r>
              <a:rPr lang="en-US" sz="2100" b="1" baseline="-40000" dirty="0">
                <a:solidFill>
                  <a:srgbClr val="10263B"/>
                </a:solidFill>
                <a:latin typeface="Cambria" pitchFamily="34" charset="0"/>
                <a:ea typeface="Cambria" pitchFamily="34" charset="-122"/>
                <a:cs typeface="Cambria" pitchFamily="34" charset="-120"/>
              </a:rPr>
              <a:t>a</a:t>
            </a:r>
            <a:pPr algn="ctr" indent="0" marL="0">
              <a:buNone/>
            </a:pPr>
            <a:r>
              <a:rPr lang="en-US" sz="2100" b="1" dirty="0">
                <a:solidFill>
                  <a:srgbClr val="10263B"/>
                </a:solidFill>
                <a:latin typeface="Cambria" pitchFamily="34" charset="0"/>
                <a:ea typeface="Cambria" pitchFamily="34" charset="-122"/>
                <a:cs typeface="Cambria" pitchFamily="34" charset="-120"/>
              </a:rPr>
              <a:t>  Q</a:t>
            </a:r>
            <a:pPr algn="ctr" indent="0" marL="0">
              <a:buNone/>
            </a:pPr>
            <a:r>
              <a:rPr lang="en-US" sz="2100" b="1" baseline="30000" dirty="0">
                <a:solidFill>
                  <a:srgbClr val="10263B"/>
                </a:solidFill>
                <a:latin typeface="Cambria" pitchFamily="34" charset="0"/>
                <a:ea typeface="Cambria" pitchFamily="34" charset="-122"/>
                <a:cs typeface="Cambria" pitchFamily="34" charset="-120"/>
              </a:rPr>
              <a:t>*</a:t>
            </a:r>
            <a:pPr algn="ctr" indent="0" marL="0">
              <a:buNone/>
            </a:pPr>
            <a:r>
              <a:rPr lang="en-US" sz="2100" b="1" dirty="0">
                <a:solidFill>
                  <a:srgbClr val="10263B"/>
                </a:solidFill>
                <a:latin typeface="Cambria" pitchFamily="34" charset="0"/>
                <a:ea typeface="Cambria" pitchFamily="34" charset="-122"/>
                <a:cs typeface="Cambria" pitchFamily="34" charset="-120"/>
              </a:rPr>
              <a:t>(s, a)</a:t>
            </a:r>
            <a:endParaRPr lang="en-US" sz="2100" dirty="0"/>
          </a:p>
        </p:txBody>
      </p:sp>
      <p:sp>
        <p:nvSpPr>
          <p:cNvPr id="7" name="Shape 5"/>
          <p:cNvSpPr/>
          <p:nvPr/>
        </p:nvSpPr>
        <p:spPr>
          <a:xfrm>
            <a:off x="566928" y="2395728"/>
            <a:ext cx="11057839" cy="786384"/>
          </a:xfrm>
          <a:prstGeom prst="roundRect">
            <a:avLst>
              <a:gd name="adj" fmla="val 6977"/>
            </a:avLst>
          </a:prstGeom>
          <a:solidFill>
            <a:srgbClr val="F7FAFB"/>
          </a:solidFill>
          <a:ln w="12700">
            <a:solidFill>
              <a:srgbClr val="D3DDE3"/>
            </a:solidFill>
            <a:prstDash val="solid"/>
          </a:ln>
        </p:spPr>
      </p:sp>
      <p:sp>
        <p:nvSpPr>
          <p:cNvPr id="8" name="Text 6"/>
          <p:cNvSpPr/>
          <p:nvPr/>
        </p:nvSpPr>
        <p:spPr>
          <a:xfrm>
            <a:off x="676656" y="2395728"/>
            <a:ext cx="10838383" cy="786384"/>
          </a:xfrm>
          <a:prstGeom prst="rect">
            <a:avLst/>
          </a:prstGeom>
          <a:noFill/>
          <a:ln/>
        </p:spPr>
        <p:txBody>
          <a:bodyPr wrap="square" lIns="0" tIns="0" rIns="0" bIns="0" rtlCol="0" anchor="ctr"/>
          <a:lstStyle/>
          <a:p>
            <a:pPr algn="ctr" indent="0" marL="0">
              <a:buNone/>
            </a:pPr>
            <a:r>
              <a:rPr lang="en-US" sz="1900" b="1" dirty="0">
                <a:solidFill>
                  <a:srgbClr val="10263B"/>
                </a:solidFill>
                <a:latin typeface="Cambria" pitchFamily="34" charset="0"/>
                <a:ea typeface="Cambria" pitchFamily="34" charset="-122"/>
                <a:cs typeface="Cambria" pitchFamily="34" charset="-120"/>
              </a:rPr>
              <a:t>Q</a:t>
            </a:r>
            <a:pPr algn="ctr" indent="0" marL="0">
              <a:buNone/>
            </a:pPr>
            <a:r>
              <a:rPr lang="en-US" sz="1900" b="1" baseline="30000" dirty="0">
                <a:solidFill>
                  <a:srgbClr val="10263B"/>
                </a:solidFill>
                <a:latin typeface="Cambria" pitchFamily="34" charset="0"/>
                <a:ea typeface="Cambria" pitchFamily="34" charset="-122"/>
                <a:cs typeface="Cambria" pitchFamily="34" charset="-120"/>
              </a:rPr>
              <a:t>*</a:t>
            </a:r>
            <a:pPr algn="ctr" indent="0" marL="0">
              <a:buNone/>
            </a:pPr>
            <a:r>
              <a:rPr lang="en-US" sz="1900" b="1" dirty="0">
                <a:solidFill>
                  <a:srgbClr val="10263B"/>
                </a:solidFill>
                <a:latin typeface="Cambria" pitchFamily="34" charset="0"/>
                <a:ea typeface="Cambria" pitchFamily="34" charset="-122"/>
                <a:cs typeface="Cambria" pitchFamily="34" charset="-120"/>
              </a:rPr>
              <a:t>(s, a)  =  Σ</a:t>
            </a:r>
            <a:pPr algn="ctr" indent="0" marL="0">
              <a:buNone/>
            </a:pPr>
            <a:r>
              <a:rPr lang="en-US" sz="1900" b="1" baseline="-40000" dirty="0">
                <a:solidFill>
                  <a:srgbClr val="10263B"/>
                </a:solidFill>
                <a:latin typeface="Cambria" pitchFamily="34" charset="0"/>
                <a:ea typeface="Cambria" pitchFamily="34" charset="-122"/>
                <a:cs typeface="Cambria" pitchFamily="34" charset="-120"/>
              </a:rPr>
              <a:t>s'</a:t>
            </a:r>
            <a:pPr algn="ctr" indent="0" marL="0">
              <a:buNone/>
            </a:pPr>
            <a:r>
              <a:rPr lang="en-US" sz="1900" b="1" dirty="0">
                <a:solidFill>
                  <a:srgbClr val="10263B"/>
                </a:solidFill>
                <a:latin typeface="Cambria" pitchFamily="34" charset="0"/>
                <a:ea typeface="Cambria" pitchFamily="34" charset="-122"/>
                <a:cs typeface="Cambria" pitchFamily="34" charset="-120"/>
              </a:rPr>
              <a:t>  T(s,a,s') [ R(s,a,s')  +  γ V</a:t>
            </a:r>
            <a:pPr algn="ctr" indent="0" marL="0">
              <a:buNone/>
            </a:pPr>
            <a:r>
              <a:rPr lang="en-US" sz="1900" b="1" baseline="30000" dirty="0">
                <a:solidFill>
                  <a:srgbClr val="10263B"/>
                </a:solidFill>
                <a:latin typeface="Cambria" pitchFamily="34" charset="0"/>
                <a:ea typeface="Cambria" pitchFamily="34" charset="-122"/>
                <a:cs typeface="Cambria" pitchFamily="34" charset="-120"/>
              </a:rPr>
              <a:t>*</a:t>
            </a:r>
            <a:pPr algn="ctr" indent="0" marL="0">
              <a:buNone/>
            </a:pPr>
            <a:r>
              <a:rPr lang="en-US" sz="1900" b="1" dirty="0">
                <a:solidFill>
                  <a:srgbClr val="10263B"/>
                </a:solidFill>
                <a:latin typeface="Cambria" pitchFamily="34" charset="0"/>
                <a:ea typeface="Cambria" pitchFamily="34" charset="-122"/>
                <a:cs typeface="Cambria" pitchFamily="34" charset="-120"/>
              </a:rPr>
              <a:t>(s') ]</a:t>
            </a:r>
            <a:endParaRPr lang="en-US" sz="1900" dirty="0"/>
          </a:p>
        </p:txBody>
      </p:sp>
      <p:sp>
        <p:nvSpPr>
          <p:cNvPr id="9" name="Text 7"/>
          <p:cNvSpPr/>
          <p:nvPr/>
        </p:nvSpPr>
        <p:spPr>
          <a:xfrm>
            <a:off x="566928" y="3310128"/>
            <a:ext cx="11057839" cy="384048"/>
          </a:xfrm>
          <a:prstGeom prst="rect">
            <a:avLst/>
          </a:prstGeom>
          <a:noFill/>
          <a:ln/>
        </p:spPr>
        <p:txBody>
          <a:bodyPr wrap="square" lIns="0" tIns="0" rIns="0" bIns="0" rtlCol="0" anchor="ctr"/>
          <a:lstStyle/>
          <a:p>
            <a:pPr algn="ctr" indent="0" marL="0">
              <a:buNone/>
            </a:pPr>
            <a:r>
              <a:rPr lang="en-US" sz="1400" dirty="0">
                <a:solidFill>
                  <a:srgbClr val="5C7080"/>
                </a:solidFill>
                <a:latin typeface="Calibri" pitchFamily="34" charset="0"/>
                <a:ea typeface="Calibri" pitchFamily="34" charset="-122"/>
                <a:cs typeface="Calibri" pitchFamily="34" charset="-120"/>
              </a:rPr>
              <a:t>Inline the second into the first and you get the single equation people usually mean by "the Bellman equation":</a:t>
            </a:r>
            <a:endParaRPr lang="en-US" sz="1400" dirty="0"/>
          </a:p>
        </p:txBody>
      </p:sp>
      <p:sp>
        <p:nvSpPr>
          <p:cNvPr id="10" name="Shape 8"/>
          <p:cNvSpPr/>
          <p:nvPr/>
        </p:nvSpPr>
        <p:spPr>
          <a:xfrm>
            <a:off x="566928" y="3767328"/>
            <a:ext cx="11057839" cy="960120"/>
          </a:xfrm>
          <a:prstGeom prst="roundRect">
            <a:avLst>
              <a:gd name="adj" fmla="val 5714"/>
            </a:avLst>
          </a:prstGeom>
          <a:solidFill>
            <a:srgbClr val="10263B"/>
          </a:solidFill>
          <a:ln w="12700">
            <a:solidFill>
              <a:srgbClr val="10263B"/>
            </a:solidFill>
            <a:prstDash val="solid"/>
          </a:ln>
        </p:spPr>
      </p:sp>
      <p:sp>
        <p:nvSpPr>
          <p:cNvPr id="11" name="Text 9"/>
          <p:cNvSpPr/>
          <p:nvPr/>
        </p:nvSpPr>
        <p:spPr>
          <a:xfrm>
            <a:off x="676656" y="3767328"/>
            <a:ext cx="10838383" cy="96012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V</a:t>
            </a:r>
            <a:pPr algn="ctr" indent="0" marL="0">
              <a:buNone/>
            </a:pPr>
            <a:r>
              <a:rPr lang="en-US" sz="2100" b="1" baseline="30000" dirty="0">
                <a:solidFill>
                  <a:srgbClr val="FFFFFF"/>
                </a:solidFill>
                <a:latin typeface="Cambria" pitchFamily="34" charset="0"/>
                <a:ea typeface="Cambria" pitchFamily="34" charset="-122"/>
                <a:cs typeface="Cambria" pitchFamily="34" charset="-120"/>
              </a:rPr>
              <a:t>*</a:t>
            </a:r>
            <a:pPr algn="ctr" indent="0" marL="0">
              <a:buNone/>
            </a:pPr>
            <a:r>
              <a:rPr lang="en-US" sz="2100" b="1" dirty="0">
                <a:solidFill>
                  <a:srgbClr val="FFFFFF"/>
                </a:solidFill>
                <a:latin typeface="Cambria" pitchFamily="34" charset="0"/>
                <a:ea typeface="Cambria" pitchFamily="34" charset="-122"/>
                <a:cs typeface="Cambria" pitchFamily="34" charset="-120"/>
              </a:rPr>
              <a:t>(s)  =  max</a:t>
            </a:r>
            <a:pPr algn="ctr" indent="0" marL="0">
              <a:buNone/>
            </a:pPr>
            <a:r>
              <a:rPr lang="en-US" sz="2100" b="1" baseline="-40000" dirty="0">
                <a:solidFill>
                  <a:srgbClr val="FFFFFF"/>
                </a:solidFill>
                <a:latin typeface="Cambria" pitchFamily="34" charset="0"/>
                <a:ea typeface="Cambria" pitchFamily="34" charset="-122"/>
                <a:cs typeface="Cambria" pitchFamily="34" charset="-120"/>
              </a:rPr>
              <a:t>a</a:t>
            </a:r>
            <a:pPr algn="ctr" indent="0" marL="0">
              <a:buNone/>
            </a:pPr>
            <a:r>
              <a:rPr lang="en-US" sz="2100" b="1" dirty="0">
                <a:solidFill>
                  <a:srgbClr val="FFFFFF"/>
                </a:solidFill>
                <a:latin typeface="Cambria" pitchFamily="34" charset="0"/>
                <a:ea typeface="Cambria" pitchFamily="34" charset="-122"/>
                <a:cs typeface="Cambria" pitchFamily="34" charset="-120"/>
              </a:rPr>
              <a:t>  Σ</a:t>
            </a:r>
            <a:pPr algn="ctr" indent="0" marL="0">
              <a:buNone/>
            </a:pPr>
            <a:r>
              <a:rPr lang="en-US" sz="2100" b="1" baseline="-40000" dirty="0">
                <a:solidFill>
                  <a:srgbClr val="FFFFFF"/>
                </a:solidFill>
                <a:latin typeface="Cambria" pitchFamily="34" charset="0"/>
                <a:ea typeface="Cambria" pitchFamily="34" charset="-122"/>
                <a:cs typeface="Cambria" pitchFamily="34" charset="-120"/>
              </a:rPr>
              <a:t>s'</a:t>
            </a:r>
            <a:pPr algn="ctr" indent="0" marL="0">
              <a:buNone/>
            </a:pPr>
            <a:r>
              <a:rPr lang="en-US" sz="2100" b="1" dirty="0">
                <a:solidFill>
                  <a:srgbClr val="FFFFFF"/>
                </a:solidFill>
                <a:latin typeface="Cambria" pitchFamily="34" charset="0"/>
                <a:ea typeface="Cambria" pitchFamily="34" charset="-122"/>
                <a:cs typeface="Cambria" pitchFamily="34" charset="-120"/>
              </a:rPr>
              <a:t>  T(s,a,s') [ R(s,a,s')  +  γ V</a:t>
            </a:r>
            <a:pPr algn="ctr" indent="0" marL="0">
              <a:buNone/>
            </a:pPr>
            <a:r>
              <a:rPr lang="en-US" sz="2100" b="1" baseline="30000" dirty="0">
                <a:solidFill>
                  <a:srgbClr val="FFFFFF"/>
                </a:solidFill>
                <a:latin typeface="Cambria" pitchFamily="34" charset="0"/>
                <a:ea typeface="Cambria" pitchFamily="34" charset="-122"/>
                <a:cs typeface="Cambria" pitchFamily="34" charset="-120"/>
              </a:rPr>
              <a:t>*</a:t>
            </a:r>
            <a:pPr algn="ctr" indent="0" marL="0">
              <a:buNone/>
            </a:pPr>
            <a:r>
              <a:rPr lang="en-US" sz="2100" b="1" dirty="0">
                <a:solidFill>
                  <a:srgbClr val="FFFFFF"/>
                </a:solidFill>
                <a:latin typeface="Cambria" pitchFamily="34" charset="0"/>
                <a:ea typeface="Cambria" pitchFamily="34" charset="-122"/>
                <a:cs typeface="Cambria" pitchFamily="34" charset="-120"/>
              </a:rPr>
              <a:t>(s') ]</a:t>
            </a:r>
            <a:endParaRPr lang="en-US" sz="2100" dirty="0"/>
          </a:p>
        </p:txBody>
      </p:sp>
      <p:sp>
        <p:nvSpPr>
          <p:cNvPr id="12" name="Text 10"/>
          <p:cNvSpPr/>
          <p:nvPr/>
        </p:nvSpPr>
        <p:spPr>
          <a:xfrm>
            <a:off x="566928" y="4754880"/>
            <a:ext cx="11057839"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AIMA equation 17.5, in CS188 notation. One copy of this equation for every state s.</a:t>
            </a:r>
            <a:endParaRPr lang="en-US" sz="1100" dirty="0"/>
          </a:p>
        </p:txBody>
      </p:sp>
      <p:sp>
        <p:nvSpPr>
          <p:cNvPr id="13" name="Shape 11"/>
          <p:cNvSpPr/>
          <p:nvPr/>
        </p:nvSpPr>
        <p:spPr>
          <a:xfrm>
            <a:off x="566928" y="5349240"/>
            <a:ext cx="11057839" cy="822960"/>
          </a:xfrm>
          <a:prstGeom prst="roundRect">
            <a:avLst>
              <a:gd name="adj" fmla="val 10000"/>
            </a:avLst>
          </a:prstGeom>
          <a:solidFill>
            <a:srgbClr val="F5DFA8"/>
          </a:solidFill>
          <a:ln/>
        </p:spPr>
      </p:sp>
      <p:sp>
        <p:nvSpPr>
          <p:cNvPr id="14" name="Text 12"/>
          <p:cNvSpPr/>
          <p:nvPr/>
        </p:nvSpPr>
        <p:spPr>
          <a:xfrm>
            <a:off x="804672" y="5349240"/>
            <a:ext cx="10582351" cy="822960"/>
          </a:xfrm>
          <a:prstGeom prst="rect">
            <a:avLst/>
          </a:prstGeom>
          <a:noFill/>
          <a:ln/>
        </p:spPr>
        <p:txBody>
          <a:bodyPr wrap="square" lIns="0" tIns="0" rIns="0" bIns="0" rtlCol="0" anchor="ctr"/>
          <a:lstStyle/>
          <a:p>
            <a:pPr indent="0" marL="0">
              <a:buNone/>
            </a:pPr>
            <a:r>
              <a:rPr lang="en-US" sz="1350" b="1" dirty="0">
                <a:solidFill>
                  <a:srgbClr val="10263B"/>
                </a:solidFill>
                <a:latin typeface="Calibri" pitchFamily="34" charset="0"/>
                <a:ea typeface="Calibri" pitchFamily="34" charset="-122"/>
                <a:cs typeface="Calibri" pitchFamily="34" charset="-120"/>
              </a:rPr>
              <a:t>What this is and is not.  </a:t>
            </a:r>
            <a:pPr indent="0" marL="0">
              <a:buNone/>
            </a:pPr>
            <a:r>
              <a:rPr lang="en-US" sz="1350" dirty="0">
                <a:solidFill>
                  <a:srgbClr val="10263B"/>
                </a:solidFill>
                <a:latin typeface="Calibri" pitchFamily="34" charset="0"/>
                <a:ea typeface="Calibri" pitchFamily="34" charset="-122"/>
                <a:cs typeface="Calibri" pitchFamily="34" charset="-120"/>
              </a:rPr>
              <a:t>These equations characterize the optimal values: whatever the optimal values are, they must satisfy this. They do not tell you how to find them - just as writing 3x + 2y = 7 does not solve it. Solving them is the rest of the lecture.</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A worked Bellman equation: state (1,1)</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One state, four actions, gamma = 1, reward -0.04 on ordinary transitions</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28</a:t>
            </a:r>
            <a:endParaRPr lang="en-US" sz="900" dirty="0"/>
          </a:p>
        </p:txBody>
      </p:sp>
      <p:sp>
        <p:nvSpPr>
          <p:cNvPr id="6" name="Text 4"/>
          <p:cNvSpPr/>
          <p:nvPr/>
        </p:nvSpPr>
        <p:spPr>
          <a:xfrm>
            <a:off x="566928" y="1901952"/>
            <a:ext cx="11057839" cy="347472"/>
          </a:xfrm>
          <a:prstGeom prst="rect">
            <a:avLst/>
          </a:prstGeom>
          <a:noFill/>
          <a:ln/>
        </p:spPr>
        <p:txBody>
          <a:bodyPr wrap="square" lIns="0" tIns="0" rIns="0" bIns="0" rtlCol="0" anchor="ctr"/>
          <a:lstStyle/>
          <a:p>
            <a:pPr indent="0" marL="0">
              <a:buNone/>
            </a:pPr>
            <a:r>
              <a:rPr lang="en-US" sz="1500" b="1" dirty="0">
                <a:solidFill>
                  <a:srgbClr val="10263B"/>
                </a:solidFill>
                <a:latin typeface="Cambria" pitchFamily="34" charset="0"/>
                <a:ea typeface="Cambria" pitchFamily="34" charset="-122"/>
                <a:cs typeface="Cambria" pitchFamily="34" charset="-120"/>
              </a:rPr>
              <a:t>U(1,1)  =  max of the four expressions below:</a:t>
            </a:r>
            <a:endParaRPr lang="en-US" sz="1500" dirty="0"/>
          </a:p>
        </p:txBody>
      </p:sp>
      <p:sp>
        <p:nvSpPr>
          <p:cNvPr id="7" name="Shape 5"/>
          <p:cNvSpPr/>
          <p:nvPr/>
        </p:nvSpPr>
        <p:spPr>
          <a:xfrm>
            <a:off x="566928" y="2359152"/>
            <a:ext cx="9189720" cy="603504"/>
          </a:xfrm>
          <a:prstGeom prst="roundRect">
            <a:avLst>
              <a:gd name="adj" fmla="val 13636"/>
            </a:avLst>
          </a:prstGeom>
          <a:solidFill>
            <a:srgbClr val="1C7293"/>
          </a:solidFill>
          <a:ln/>
        </p:spPr>
      </p:sp>
      <p:sp>
        <p:nvSpPr>
          <p:cNvPr id="8" name="Text 6"/>
          <p:cNvSpPr/>
          <p:nvPr/>
        </p:nvSpPr>
        <p:spPr>
          <a:xfrm>
            <a:off x="749808" y="2359152"/>
            <a:ext cx="914400" cy="603504"/>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Up</a:t>
            </a:r>
            <a:endParaRPr lang="en-US" sz="1350" dirty="0"/>
          </a:p>
        </p:txBody>
      </p:sp>
      <p:sp>
        <p:nvSpPr>
          <p:cNvPr id="9" name="Text 7"/>
          <p:cNvSpPr/>
          <p:nvPr/>
        </p:nvSpPr>
        <p:spPr>
          <a:xfrm>
            <a:off x="1709928" y="2359152"/>
            <a:ext cx="7863840" cy="603504"/>
          </a:xfrm>
          <a:prstGeom prst="rect">
            <a:avLst/>
          </a:prstGeom>
          <a:noFill/>
          <a:ln/>
        </p:spPr>
        <p:txBody>
          <a:bodyPr wrap="square" lIns="0" tIns="0" rIns="0" bIns="0" rtlCol="0" anchor="ctr"/>
          <a:lstStyle/>
          <a:p>
            <a:pPr indent="0" marL="0">
              <a:buNone/>
            </a:pPr>
            <a:r>
              <a:rPr lang="en-US" sz="1300" dirty="0">
                <a:solidFill>
                  <a:srgbClr val="FFFFFF"/>
                </a:solidFill>
                <a:latin typeface="Cambria" pitchFamily="34" charset="0"/>
                <a:ea typeface="Cambria" pitchFamily="34" charset="-122"/>
                <a:cs typeface="Cambria" pitchFamily="34" charset="-120"/>
              </a:rPr>
              <a:t>0.8(-0.04 + γU(1,2))  +  0.1(-0.04 + γU(2,1))  +  0.1(-0.04 + γU(1,1))</a:t>
            </a:r>
            <a:endParaRPr lang="en-US" sz="1300" dirty="0"/>
          </a:p>
        </p:txBody>
      </p:sp>
      <p:sp>
        <p:nvSpPr>
          <p:cNvPr id="10" name="Shape 8"/>
          <p:cNvSpPr/>
          <p:nvPr/>
        </p:nvSpPr>
        <p:spPr>
          <a:xfrm>
            <a:off x="566928" y="3072384"/>
            <a:ext cx="9189720" cy="603504"/>
          </a:xfrm>
          <a:prstGeom prst="roundRect">
            <a:avLst>
              <a:gd name="adj" fmla="val 13636"/>
            </a:avLst>
          </a:prstGeom>
          <a:solidFill>
            <a:srgbClr val="EDF2F5"/>
          </a:solidFill>
          <a:ln/>
        </p:spPr>
      </p:sp>
      <p:sp>
        <p:nvSpPr>
          <p:cNvPr id="11" name="Text 9"/>
          <p:cNvSpPr/>
          <p:nvPr/>
        </p:nvSpPr>
        <p:spPr>
          <a:xfrm>
            <a:off x="749808" y="3072384"/>
            <a:ext cx="914400" cy="603504"/>
          </a:xfrm>
          <a:prstGeom prst="rect">
            <a:avLst/>
          </a:prstGeom>
          <a:noFill/>
          <a:ln/>
        </p:spPr>
        <p:txBody>
          <a:bodyPr wrap="square" lIns="0" tIns="0" rIns="0" bIns="0" rtlCol="0" anchor="ctr"/>
          <a:lstStyle/>
          <a:p>
            <a:pPr indent="0" marL="0">
              <a:buNone/>
            </a:pPr>
            <a:r>
              <a:rPr lang="en-US" sz="1350" b="1" dirty="0">
                <a:solidFill>
                  <a:srgbClr val="5C7080"/>
                </a:solidFill>
                <a:latin typeface="Calibri" pitchFamily="34" charset="0"/>
                <a:ea typeface="Calibri" pitchFamily="34" charset="-122"/>
                <a:cs typeface="Calibri" pitchFamily="34" charset="-120"/>
              </a:rPr>
              <a:t>Left</a:t>
            </a:r>
            <a:endParaRPr lang="en-US" sz="1350" dirty="0"/>
          </a:p>
        </p:txBody>
      </p:sp>
      <p:sp>
        <p:nvSpPr>
          <p:cNvPr id="12" name="Text 10"/>
          <p:cNvSpPr/>
          <p:nvPr/>
        </p:nvSpPr>
        <p:spPr>
          <a:xfrm>
            <a:off x="1709928" y="3072384"/>
            <a:ext cx="7863840" cy="603504"/>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0.9(-0.04 + γU(1,1))  +  0.1(-0.04 + γU(1,2))</a:t>
            </a:r>
            <a:endParaRPr lang="en-US" sz="1300" dirty="0"/>
          </a:p>
        </p:txBody>
      </p:sp>
      <p:sp>
        <p:nvSpPr>
          <p:cNvPr id="13" name="Shape 11"/>
          <p:cNvSpPr/>
          <p:nvPr/>
        </p:nvSpPr>
        <p:spPr>
          <a:xfrm>
            <a:off x="566928" y="3785616"/>
            <a:ext cx="9189720" cy="603504"/>
          </a:xfrm>
          <a:prstGeom prst="roundRect">
            <a:avLst>
              <a:gd name="adj" fmla="val 13636"/>
            </a:avLst>
          </a:prstGeom>
          <a:solidFill>
            <a:srgbClr val="EDF2F5"/>
          </a:solidFill>
          <a:ln/>
        </p:spPr>
      </p:sp>
      <p:sp>
        <p:nvSpPr>
          <p:cNvPr id="14" name="Text 12"/>
          <p:cNvSpPr/>
          <p:nvPr/>
        </p:nvSpPr>
        <p:spPr>
          <a:xfrm>
            <a:off x="749808" y="3785616"/>
            <a:ext cx="914400" cy="603504"/>
          </a:xfrm>
          <a:prstGeom prst="rect">
            <a:avLst/>
          </a:prstGeom>
          <a:noFill/>
          <a:ln/>
        </p:spPr>
        <p:txBody>
          <a:bodyPr wrap="square" lIns="0" tIns="0" rIns="0" bIns="0" rtlCol="0" anchor="ctr"/>
          <a:lstStyle/>
          <a:p>
            <a:pPr indent="0" marL="0">
              <a:buNone/>
            </a:pPr>
            <a:r>
              <a:rPr lang="en-US" sz="1350" b="1" dirty="0">
                <a:solidFill>
                  <a:srgbClr val="5C7080"/>
                </a:solidFill>
                <a:latin typeface="Calibri" pitchFamily="34" charset="0"/>
                <a:ea typeface="Calibri" pitchFamily="34" charset="-122"/>
                <a:cs typeface="Calibri" pitchFamily="34" charset="-120"/>
              </a:rPr>
              <a:t>Down</a:t>
            </a:r>
            <a:endParaRPr lang="en-US" sz="1350" dirty="0"/>
          </a:p>
        </p:txBody>
      </p:sp>
      <p:sp>
        <p:nvSpPr>
          <p:cNvPr id="15" name="Text 13"/>
          <p:cNvSpPr/>
          <p:nvPr/>
        </p:nvSpPr>
        <p:spPr>
          <a:xfrm>
            <a:off x="1709928" y="3785616"/>
            <a:ext cx="7863840" cy="603504"/>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0.9(-0.04 + γU(1,1))  +  0.1(-0.04 + γU(2,1))</a:t>
            </a:r>
            <a:endParaRPr lang="en-US" sz="1300" dirty="0"/>
          </a:p>
        </p:txBody>
      </p:sp>
      <p:sp>
        <p:nvSpPr>
          <p:cNvPr id="16" name="Shape 14"/>
          <p:cNvSpPr/>
          <p:nvPr/>
        </p:nvSpPr>
        <p:spPr>
          <a:xfrm>
            <a:off x="566928" y="4498848"/>
            <a:ext cx="9189720" cy="603504"/>
          </a:xfrm>
          <a:prstGeom prst="roundRect">
            <a:avLst>
              <a:gd name="adj" fmla="val 13636"/>
            </a:avLst>
          </a:prstGeom>
          <a:solidFill>
            <a:srgbClr val="EDF2F5"/>
          </a:solidFill>
          <a:ln/>
        </p:spPr>
      </p:sp>
      <p:sp>
        <p:nvSpPr>
          <p:cNvPr id="17" name="Text 15"/>
          <p:cNvSpPr/>
          <p:nvPr/>
        </p:nvSpPr>
        <p:spPr>
          <a:xfrm>
            <a:off x="749808" y="4498848"/>
            <a:ext cx="914400" cy="603504"/>
          </a:xfrm>
          <a:prstGeom prst="rect">
            <a:avLst/>
          </a:prstGeom>
          <a:noFill/>
          <a:ln/>
        </p:spPr>
        <p:txBody>
          <a:bodyPr wrap="square" lIns="0" tIns="0" rIns="0" bIns="0" rtlCol="0" anchor="ctr"/>
          <a:lstStyle/>
          <a:p>
            <a:pPr indent="0" marL="0">
              <a:buNone/>
            </a:pPr>
            <a:r>
              <a:rPr lang="en-US" sz="1350" b="1" dirty="0">
                <a:solidFill>
                  <a:srgbClr val="5C7080"/>
                </a:solidFill>
                <a:latin typeface="Calibri" pitchFamily="34" charset="0"/>
                <a:ea typeface="Calibri" pitchFamily="34" charset="-122"/>
                <a:cs typeface="Calibri" pitchFamily="34" charset="-120"/>
              </a:rPr>
              <a:t>Right</a:t>
            </a:r>
            <a:endParaRPr lang="en-US" sz="1350" dirty="0"/>
          </a:p>
        </p:txBody>
      </p:sp>
      <p:sp>
        <p:nvSpPr>
          <p:cNvPr id="18" name="Text 16"/>
          <p:cNvSpPr/>
          <p:nvPr/>
        </p:nvSpPr>
        <p:spPr>
          <a:xfrm>
            <a:off x="1709928" y="4498848"/>
            <a:ext cx="7863840" cy="603504"/>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0.8(-0.04 + γU(2,1))  +  0.1(-0.04 + γU(1,2))  +  0.1(-0.04 + γU(1,1))</a:t>
            </a:r>
            <a:endParaRPr lang="en-US" sz="1300" dirty="0"/>
          </a:p>
        </p:txBody>
      </p:sp>
      <p:sp>
        <p:nvSpPr>
          <p:cNvPr id="19" name="Shape 17"/>
          <p:cNvSpPr/>
          <p:nvPr/>
        </p:nvSpPr>
        <p:spPr>
          <a:xfrm>
            <a:off x="9966960" y="2359152"/>
            <a:ext cx="1645920" cy="2834640"/>
          </a:xfrm>
          <a:prstGeom prst="roundRect">
            <a:avLst>
              <a:gd name="adj" fmla="val 5000"/>
            </a:avLst>
          </a:prstGeom>
          <a:solidFill>
            <a:srgbClr val="10263B"/>
          </a:solidFill>
          <a:ln/>
          <a:effectLst>
            <a:outerShdw sx="100000" sy="100000" kx="0" ky="0" algn="bl" rotWithShape="0" blurRad="101600" dist="17780" dir="5400000">
              <a:srgbClr val="9FB2BF">
                <a:alpha val="20000"/>
              </a:srgbClr>
            </a:outerShdw>
          </a:effectLst>
        </p:spPr>
      </p:sp>
      <p:sp>
        <p:nvSpPr>
          <p:cNvPr id="20" name="Text 18"/>
          <p:cNvSpPr/>
          <p:nvPr/>
        </p:nvSpPr>
        <p:spPr>
          <a:xfrm>
            <a:off x="10113264" y="2505456"/>
            <a:ext cx="1371600" cy="914400"/>
          </a:xfrm>
          <a:prstGeom prst="rect">
            <a:avLst/>
          </a:prstGeom>
          <a:noFill/>
          <a:ln/>
        </p:spPr>
        <p:txBody>
          <a:bodyPr wrap="square" lIns="0" tIns="0" rIns="0" bIns="0" rtlCol="0" anchor="t"/>
          <a:lstStyle/>
          <a:p>
            <a:pPr indent="0" marL="0">
              <a:buNone/>
            </a:pPr>
            <a:r>
              <a:rPr lang="en-US" sz="1150" dirty="0">
                <a:solidFill>
                  <a:srgbClr val="A9C0CF"/>
                </a:solidFill>
                <a:latin typeface="Calibri" pitchFamily="34" charset="0"/>
                <a:ea typeface="Calibri" pitchFamily="34" charset="-122"/>
                <a:cs typeface="Calibri" pitchFamily="34" charset="-120"/>
              </a:rPr>
              <a:t>Plug in the numbers from Figure 17.3 and</a:t>
            </a:r>
            <a:endParaRPr lang="en-US" sz="1150" dirty="0"/>
          </a:p>
        </p:txBody>
      </p:sp>
      <p:sp>
        <p:nvSpPr>
          <p:cNvPr id="21" name="Text 19"/>
          <p:cNvSpPr/>
          <p:nvPr/>
        </p:nvSpPr>
        <p:spPr>
          <a:xfrm>
            <a:off x="10113264" y="3520440"/>
            <a:ext cx="1371600" cy="502920"/>
          </a:xfrm>
          <a:prstGeom prst="rect">
            <a:avLst/>
          </a:prstGeom>
          <a:noFill/>
          <a:ln/>
        </p:spPr>
        <p:txBody>
          <a:bodyPr wrap="square" lIns="0" tIns="0" rIns="0" bIns="0" rtlCol="0" anchor="ctr"/>
          <a:lstStyle/>
          <a:p>
            <a:pPr algn="ctr" indent="0" marL="0">
              <a:buNone/>
            </a:pPr>
            <a:r>
              <a:rPr lang="en-US" sz="2600" b="1" dirty="0">
                <a:solidFill>
                  <a:srgbClr val="E0A32E"/>
                </a:solidFill>
                <a:latin typeface="Cambria" pitchFamily="34" charset="0"/>
                <a:ea typeface="Cambria" pitchFamily="34" charset="-122"/>
                <a:cs typeface="Cambria" pitchFamily="34" charset="-120"/>
              </a:rPr>
              <a:t>Up</a:t>
            </a:r>
            <a:endParaRPr lang="en-US" sz="2600" dirty="0"/>
          </a:p>
        </p:txBody>
      </p:sp>
      <p:sp>
        <p:nvSpPr>
          <p:cNvPr id="22" name="Text 20"/>
          <p:cNvSpPr/>
          <p:nvPr/>
        </p:nvSpPr>
        <p:spPr>
          <a:xfrm>
            <a:off x="10113264" y="4059936"/>
            <a:ext cx="1371600" cy="731520"/>
          </a:xfrm>
          <a:prstGeom prst="rect">
            <a:avLst/>
          </a:prstGeom>
          <a:noFill/>
          <a:ln/>
        </p:spPr>
        <p:txBody>
          <a:bodyPr wrap="square" lIns="0" tIns="0" rIns="0" bIns="0" rtlCol="0" anchor="t"/>
          <a:lstStyle/>
          <a:p>
            <a:pPr algn="ctr" indent="0" marL="0">
              <a:buNone/>
            </a:pPr>
            <a:r>
              <a:rPr lang="en-US" sz="1150" dirty="0">
                <a:solidFill>
                  <a:srgbClr val="FFFFFF"/>
                </a:solidFill>
                <a:latin typeface="Calibri" pitchFamily="34" charset="0"/>
                <a:ea typeface="Calibri" pitchFamily="34" charset="-122"/>
                <a:cs typeface="Calibri" pitchFamily="34" charset="-120"/>
              </a:rPr>
              <a:t>is the best action.</a:t>
            </a:r>
            <a:endParaRPr lang="en-US" sz="1150" dirty="0"/>
          </a:p>
        </p:txBody>
      </p:sp>
      <p:sp>
        <p:nvSpPr>
          <p:cNvPr id="23" name="Text 21"/>
          <p:cNvSpPr/>
          <p:nvPr/>
        </p:nvSpPr>
        <p:spPr>
          <a:xfrm>
            <a:off x="566928" y="5376672"/>
            <a:ext cx="11057839" cy="59436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Notice where the 0.9 coefficients come from: taking Left from (1,1), the intended move and one slip direction both bounce off walls, so 0.8 + 0.1 of the probability mass lands back on (1,1).</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Q-function, and why we bother</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29</a:t>
            </a:r>
            <a:endParaRPr lang="en-US" sz="900" dirty="0"/>
          </a:p>
        </p:txBody>
      </p:sp>
      <p:sp>
        <p:nvSpPr>
          <p:cNvPr id="5" name="Text 3"/>
          <p:cNvSpPr/>
          <p:nvPr/>
        </p:nvSpPr>
        <p:spPr>
          <a:xfrm>
            <a:off x="566928" y="1417320"/>
            <a:ext cx="6949440" cy="411480"/>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Q(s,a) is the expected utility of taking action a in state s. It relates to values in the obvious way:</a:t>
            </a:r>
            <a:endParaRPr lang="en-US" sz="1450" dirty="0"/>
          </a:p>
        </p:txBody>
      </p:sp>
      <p:sp>
        <p:nvSpPr>
          <p:cNvPr id="6" name="Shape 4"/>
          <p:cNvSpPr/>
          <p:nvPr/>
        </p:nvSpPr>
        <p:spPr>
          <a:xfrm>
            <a:off x="566928" y="1901952"/>
            <a:ext cx="3364992" cy="658368"/>
          </a:xfrm>
          <a:prstGeom prst="roundRect">
            <a:avLst>
              <a:gd name="adj" fmla="val 8333"/>
            </a:avLst>
          </a:prstGeom>
          <a:solidFill>
            <a:srgbClr val="F7FAFB"/>
          </a:solidFill>
          <a:ln w="12700">
            <a:solidFill>
              <a:srgbClr val="D3DDE3"/>
            </a:solidFill>
            <a:prstDash val="solid"/>
          </a:ln>
        </p:spPr>
      </p:sp>
      <p:sp>
        <p:nvSpPr>
          <p:cNvPr id="7" name="Text 5"/>
          <p:cNvSpPr/>
          <p:nvPr/>
        </p:nvSpPr>
        <p:spPr>
          <a:xfrm>
            <a:off x="676656" y="1901952"/>
            <a:ext cx="3145536" cy="658368"/>
          </a:xfrm>
          <a:prstGeom prst="rect">
            <a:avLst/>
          </a:prstGeom>
          <a:noFill/>
          <a:ln/>
        </p:spPr>
        <p:txBody>
          <a:bodyPr wrap="square" lIns="0" tIns="0" rIns="0" bIns="0" rtlCol="0" anchor="ctr"/>
          <a:lstStyle/>
          <a:p>
            <a:pPr algn="ctr" indent="0" marL="0">
              <a:buNone/>
            </a:pPr>
            <a:r>
              <a:rPr lang="en-US" sz="1600" b="1" dirty="0">
                <a:solidFill>
                  <a:srgbClr val="10263B"/>
                </a:solidFill>
                <a:latin typeface="Cambria" pitchFamily="34" charset="0"/>
                <a:ea typeface="Cambria" pitchFamily="34" charset="-122"/>
                <a:cs typeface="Cambria" pitchFamily="34" charset="-120"/>
              </a:rPr>
              <a:t>U(s)  =  max</a:t>
            </a:r>
            <a:pPr algn="ctr" indent="0" marL="0">
              <a:buNone/>
            </a:pPr>
            <a:r>
              <a:rPr lang="en-US" sz="1600" b="1" baseline="-40000" dirty="0">
                <a:solidFill>
                  <a:srgbClr val="10263B"/>
                </a:solidFill>
                <a:latin typeface="Cambria" pitchFamily="34" charset="0"/>
                <a:ea typeface="Cambria" pitchFamily="34" charset="-122"/>
                <a:cs typeface="Cambria" pitchFamily="34" charset="-120"/>
              </a:rPr>
              <a:t>a</a:t>
            </a:r>
            <a:pPr algn="ctr" indent="0" marL="0">
              <a:buNone/>
            </a:pPr>
            <a:r>
              <a:rPr lang="en-US" sz="1600" b="1" dirty="0">
                <a:solidFill>
                  <a:srgbClr val="10263B"/>
                </a:solidFill>
                <a:latin typeface="Cambria" pitchFamily="34" charset="0"/>
                <a:ea typeface="Cambria" pitchFamily="34" charset="-122"/>
                <a:cs typeface="Cambria" pitchFamily="34" charset="-120"/>
              </a:rPr>
              <a:t> Q(s, a)</a:t>
            </a:r>
            <a:endParaRPr lang="en-US" sz="1600" dirty="0"/>
          </a:p>
        </p:txBody>
      </p:sp>
      <p:sp>
        <p:nvSpPr>
          <p:cNvPr id="8" name="Text 6"/>
          <p:cNvSpPr/>
          <p:nvPr/>
        </p:nvSpPr>
        <p:spPr>
          <a:xfrm>
            <a:off x="566928" y="2587752"/>
            <a:ext cx="3364992"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17.6</a:t>
            </a:r>
            <a:endParaRPr lang="en-US" sz="1100" dirty="0"/>
          </a:p>
        </p:txBody>
      </p:sp>
      <p:sp>
        <p:nvSpPr>
          <p:cNvPr id="9" name="Shape 7"/>
          <p:cNvSpPr/>
          <p:nvPr/>
        </p:nvSpPr>
        <p:spPr>
          <a:xfrm>
            <a:off x="4151376" y="1901952"/>
            <a:ext cx="3364992" cy="658368"/>
          </a:xfrm>
          <a:prstGeom prst="roundRect">
            <a:avLst>
              <a:gd name="adj" fmla="val 8333"/>
            </a:avLst>
          </a:prstGeom>
          <a:solidFill>
            <a:srgbClr val="F7FAFB"/>
          </a:solidFill>
          <a:ln w="12700">
            <a:solidFill>
              <a:srgbClr val="D3DDE3"/>
            </a:solidFill>
            <a:prstDash val="solid"/>
          </a:ln>
        </p:spPr>
      </p:sp>
      <p:sp>
        <p:nvSpPr>
          <p:cNvPr id="10" name="Text 8"/>
          <p:cNvSpPr/>
          <p:nvPr/>
        </p:nvSpPr>
        <p:spPr>
          <a:xfrm>
            <a:off x="4261104" y="1901952"/>
            <a:ext cx="3145536" cy="658368"/>
          </a:xfrm>
          <a:prstGeom prst="rect">
            <a:avLst/>
          </a:prstGeom>
          <a:noFill/>
          <a:ln/>
        </p:spPr>
        <p:txBody>
          <a:bodyPr wrap="square" lIns="0" tIns="0" rIns="0" bIns="0" rtlCol="0" anchor="ctr"/>
          <a:lstStyle/>
          <a:p>
            <a:pPr algn="ctr" indent="0" marL="0">
              <a:buNone/>
            </a:pPr>
            <a:r>
              <a:rPr lang="en-US" sz="1600" b="1" dirty="0">
                <a:solidFill>
                  <a:srgbClr val="10263B"/>
                </a:solidFill>
                <a:latin typeface="Cambria" pitchFamily="34" charset="0"/>
                <a:ea typeface="Cambria" pitchFamily="34" charset="-122"/>
                <a:cs typeface="Cambria" pitchFamily="34" charset="-120"/>
              </a:rPr>
              <a:t>π</a:t>
            </a:r>
            <a:pPr algn="ctr" indent="0" marL="0">
              <a:buNone/>
            </a:pPr>
            <a:r>
              <a:rPr lang="en-US" sz="1600" b="1" baseline="30000" dirty="0">
                <a:solidFill>
                  <a:srgbClr val="10263B"/>
                </a:solidFill>
                <a:latin typeface="Cambria" pitchFamily="34" charset="0"/>
                <a:ea typeface="Cambria" pitchFamily="34" charset="-122"/>
                <a:cs typeface="Cambria" pitchFamily="34" charset="-120"/>
              </a:rPr>
              <a:t>*</a:t>
            </a:r>
            <a:pPr algn="ctr" indent="0" marL="0">
              <a:buNone/>
            </a:pPr>
            <a:r>
              <a:rPr lang="en-US" sz="1600" b="1" dirty="0">
                <a:solidFill>
                  <a:srgbClr val="10263B"/>
                </a:solidFill>
                <a:latin typeface="Cambria" pitchFamily="34" charset="0"/>
                <a:ea typeface="Cambria" pitchFamily="34" charset="-122"/>
                <a:cs typeface="Cambria" pitchFamily="34" charset="-120"/>
              </a:rPr>
              <a:t>(s)  =  argmax</a:t>
            </a:r>
            <a:pPr algn="ctr" indent="0" marL="0">
              <a:buNone/>
            </a:pPr>
            <a:r>
              <a:rPr lang="en-US" sz="1600" b="1" baseline="-40000" dirty="0">
                <a:solidFill>
                  <a:srgbClr val="10263B"/>
                </a:solidFill>
                <a:latin typeface="Cambria" pitchFamily="34" charset="0"/>
                <a:ea typeface="Cambria" pitchFamily="34" charset="-122"/>
                <a:cs typeface="Cambria" pitchFamily="34" charset="-120"/>
              </a:rPr>
              <a:t>a</a:t>
            </a:r>
            <a:pPr algn="ctr" indent="0" marL="0">
              <a:buNone/>
            </a:pPr>
            <a:r>
              <a:rPr lang="en-US" sz="1600" b="1" dirty="0">
                <a:solidFill>
                  <a:srgbClr val="10263B"/>
                </a:solidFill>
                <a:latin typeface="Cambria" pitchFamily="34" charset="0"/>
                <a:ea typeface="Cambria" pitchFamily="34" charset="-122"/>
                <a:cs typeface="Cambria" pitchFamily="34" charset="-120"/>
              </a:rPr>
              <a:t> Q(s, a)</a:t>
            </a:r>
            <a:endParaRPr lang="en-US" sz="1600" dirty="0"/>
          </a:p>
        </p:txBody>
      </p:sp>
      <p:sp>
        <p:nvSpPr>
          <p:cNvPr id="11" name="Text 9"/>
          <p:cNvSpPr/>
          <p:nvPr/>
        </p:nvSpPr>
        <p:spPr>
          <a:xfrm>
            <a:off x="4151376" y="2587752"/>
            <a:ext cx="3364992"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17.7</a:t>
            </a:r>
            <a:endParaRPr lang="en-US" sz="1100" dirty="0"/>
          </a:p>
        </p:txBody>
      </p:sp>
      <p:sp>
        <p:nvSpPr>
          <p:cNvPr id="12" name="Text 10"/>
          <p:cNvSpPr/>
          <p:nvPr/>
        </p:nvSpPr>
        <p:spPr>
          <a:xfrm>
            <a:off x="566928" y="2907792"/>
            <a:ext cx="6949440" cy="411480"/>
          </a:xfrm>
          <a:prstGeom prst="rect">
            <a:avLst/>
          </a:prstGeom>
          <a:noFill/>
          <a:ln/>
        </p:spPr>
        <p:txBody>
          <a:bodyPr wrap="square" lIns="0" tIns="0" rIns="0" bIns="0" rtlCol="0" anchor="ctr"/>
          <a:lstStyle/>
          <a:p>
            <a:pPr indent="0" marL="0">
              <a:buNone/>
            </a:pPr>
            <a:r>
              <a:rPr lang="en-US" sz="1450" dirty="0">
                <a:solidFill>
                  <a:srgbClr val="10263B"/>
                </a:solidFill>
                <a:latin typeface="Calibri" pitchFamily="34" charset="0"/>
                <a:ea typeface="Calibri" pitchFamily="34" charset="-122"/>
                <a:cs typeface="Calibri" pitchFamily="34" charset="-120"/>
              </a:rPr>
              <a:t>And Q has its own Bellman equation, written purely in terms of Q - no V anywhere:</a:t>
            </a:r>
            <a:endParaRPr lang="en-US" sz="1450" dirty="0"/>
          </a:p>
        </p:txBody>
      </p:sp>
      <p:sp>
        <p:nvSpPr>
          <p:cNvPr id="13" name="Shape 11"/>
          <p:cNvSpPr/>
          <p:nvPr/>
        </p:nvSpPr>
        <p:spPr>
          <a:xfrm>
            <a:off x="566928" y="3401568"/>
            <a:ext cx="6949440" cy="896112"/>
          </a:xfrm>
          <a:prstGeom prst="roundRect">
            <a:avLst>
              <a:gd name="adj" fmla="val 6122"/>
            </a:avLst>
          </a:prstGeom>
          <a:solidFill>
            <a:srgbClr val="10263B"/>
          </a:solidFill>
          <a:ln w="12700">
            <a:solidFill>
              <a:srgbClr val="10263B"/>
            </a:solidFill>
            <a:prstDash val="solid"/>
          </a:ln>
        </p:spPr>
      </p:sp>
      <p:sp>
        <p:nvSpPr>
          <p:cNvPr id="14" name="Text 12"/>
          <p:cNvSpPr/>
          <p:nvPr/>
        </p:nvSpPr>
        <p:spPr>
          <a:xfrm>
            <a:off x="676656" y="3401568"/>
            <a:ext cx="6729984" cy="89611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Q(s,a)  =  Σ</a:t>
            </a:r>
            <a:pPr algn="ctr" indent="0" marL="0">
              <a:buNone/>
            </a:pPr>
            <a:r>
              <a:rPr lang="en-US" sz="1600" b="1" baseline="-40000" dirty="0">
                <a:solidFill>
                  <a:srgbClr val="FFFFFF"/>
                </a:solidFill>
                <a:latin typeface="Cambria" pitchFamily="34" charset="0"/>
                <a:ea typeface="Cambria" pitchFamily="34" charset="-122"/>
                <a:cs typeface="Cambria" pitchFamily="34" charset="-120"/>
              </a:rPr>
              <a:t>s'</a:t>
            </a:r>
            <a:pPr algn="ctr" indent="0" marL="0">
              <a:buNone/>
            </a:pPr>
            <a:r>
              <a:rPr lang="en-US" sz="1600" b="1" dirty="0">
                <a:solidFill>
                  <a:srgbClr val="FFFFFF"/>
                </a:solidFill>
                <a:latin typeface="Cambria" pitchFamily="34" charset="0"/>
                <a:ea typeface="Cambria" pitchFamily="34" charset="-122"/>
                <a:cs typeface="Cambria" pitchFamily="34" charset="-120"/>
              </a:rPr>
              <a:t> P(s'|s,a) [ R(s,a,s')  +  γ max</a:t>
            </a:r>
            <a:pPr algn="ctr" indent="0" marL="0">
              <a:buNone/>
            </a:pPr>
            <a:r>
              <a:rPr lang="en-US" sz="1600" b="1" baseline="-40000" dirty="0">
                <a:solidFill>
                  <a:srgbClr val="FFFFFF"/>
                </a:solidFill>
                <a:latin typeface="Cambria" pitchFamily="34" charset="0"/>
                <a:ea typeface="Cambria" pitchFamily="34" charset="-122"/>
                <a:cs typeface="Cambria" pitchFamily="34" charset="-120"/>
              </a:rPr>
              <a:t>a'</a:t>
            </a:r>
            <a:pPr algn="ctr" indent="0" marL="0">
              <a:buNone/>
            </a:pPr>
            <a:r>
              <a:rPr lang="en-US" sz="1600" b="1" dirty="0">
                <a:solidFill>
                  <a:srgbClr val="FFFFFF"/>
                </a:solidFill>
                <a:latin typeface="Cambria" pitchFamily="34" charset="0"/>
                <a:ea typeface="Cambria" pitchFamily="34" charset="-122"/>
                <a:cs typeface="Cambria" pitchFamily="34" charset="-120"/>
              </a:rPr>
              <a:t> Q(s',a') ]</a:t>
            </a:r>
            <a:endParaRPr lang="en-US" sz="1600" dirty="0"/>
          </a:p>
        </p:txBody>
      </p:sp>
      <p:sp>
        <p:nvSpPr>
          <p:cNvPr id="15" name="Text 13"/>
          <p:cNvSpPr/>
          <p:nvPr/>
        </p:nvSpPr>
        <p:spPr>
          <a:xfrm>
            <a:off x="566928" y="4325112"/>
            <a:ext cx="694944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17.8</a:t>
            </a:r>
            <a:endParaRPr lang="en-US" sz="1100" dirty="0"/>
          </a:p>
        </p:txBody>
      </p:sp>
      <p:sp>
        <p:nvSpPr>
          <p:cNvPr id="16" name="Shape 14"/>
          <p:cNvSpPr/>
          <p:nvPr/>
        </p:nvSpPr>
        <p:spPr>
          <a:xfrm>
            <a:off x="566928" y="4663440"/>
            <a:ext cx="6949440" cy="1417320"/>
          </a:xfrm>
          <a:prstGeom prst="roundRect">
            <a:avLst>
              <a:gd name="adj" fmla="val 5806"/>
            </a:avLst>
          </a:prstGeom>
          <a:solidFill>
            <a:srgbClr val="F7FAFB"/>
          </a:solidFill>
          <a:ln w="12700">
            <a:solidFill>
              <a:srgbClr val="D3DDE3"/>
            </a:solidFill>
            <a:prstDash val="solid"/>
          </a:ln>
          <a:effectLst>
            <a:outerShdw sx="100000" sy="100000" kx="0" ky="0" algn="bl" rotWithShape="0" blurRad="101600" dist="17780" dir="5400000">
              <a:srgbClr val="9FB2BF">
                <a:alpha val="20000"/>
              </a:srgbClr>
            </a:outerShdw>
          </a:effectLst>
        </p:spPr>
      </p:sp>
      <p:sp>
        <p:nvSpPr>
          <p:cNvPr id="17" name="Text 15"/>
          <p:cNvSpPr/>
          <p:nvPr/>
        </p:nvSpPr>
        <p:spPr>
          <a:xfrm>
            <a:off x="786384" y="4791456"/>
            <a:ext cx="6492240" cy="329184"/>
          </a:xfrm>
          <a:prstGeom prst="rect">
            <a:avLst/>
          </a:prstGeom>
          <a:noFill/>
          <a:ln/>
        </p:spPr>
        <p:txBody>
          <a:bodyPr wrap="square" lIns="0" tIns="0" rIns="0" bIns="0" rtlCol="0" anchor="ctr"/>
          <a:lstStyle/>
          <a:p>
            <a:pPr indent="0" marL="0">
              <a:buNone/>
            </a:pPr>
            <a:r>
              <a:rPr lang="en-US" sz="1250" b="1" dirty="0">
                <a:solidFill>
                  <a:srgbClr val="10263B"/>
                </a:solidFill>
                <a:latin typeface="Courier New" pitchFamily="34" charset="0"/>
                <a:ea typeface="Courier New" pitchFamily="34" charset="-122"/>
                <a:cs typeface="Courier New" pitchFamily="34" charset="-120"/>
              </a:rPr>
              <a:t>function Q-VALUE(mdp, s, a, U) returns a utility value</a:t>
            </a:r>
            <a:endParaRPr lang="en-US" sz="1250" dirty="0"/>
          </a:p>
        </p:txBody>
      </p:sp>
      <p:sp>
        <p:nvSpPr>
          <p:cNvPr id="18" name="Text 16"/>
          <p:cNvSpPr/>
          <p:nvPr/>
        </p:nvSpPr>
        <p:spPr>
          <a:xfrm>
            <a:off x="1115568" y="5138928"/>
            <a:ext cx="6217920" cy="365760"/>
          </a:xfrm>
          <a:prstGeom prst="rect">
            <a:avLst/>
          </a:prstGeom>
          <a:noFill/>
          <a:ln/>
        </p:spPr>
        <p:txBody>
          <a:bodyPr wrap="square" lIns="0" tIns="0" rIns="0" bIns="0" rtlCol="0" anchor="ctr"/>
          <a:lstStyle/>
          <a:p>
            <a:pPr indent="0" marL="0">
              <a:buNone/>
            </a:pPr>
            <a:r>
              <a:rPr lang="en-US" sz="1300" dirty="0">
                <a:solidFill>
                  <a:srgbClr val="1C7293"/>
                </a:solidFill>
                <a:latin typeface="Courier New" pitchFamily="34" charset="0"/>
                <a:ea typeface="Courier New" pitchFamily="34" charset="-122"/>
                <a:cs typeface="Courier New" pitchFamily="34" charset="-120"/>
              </a:rPr>
              <a:t>return  Σ</a:t>
            </a:r>
            <a:pPr indent="0" marL="0">
              <a:buNone/>
            </a:pPr>
            <a:r>
              <a:rPr lang="en-US" sz="1300" baseline="-40000" dirty="0">
                <a:solidFill>
                  <a:srgbClr val="1C7293"/>
                </a:solidFill>
                <a:latin typeface="Courier New" pitchFamily="34" charset="0"/>
                <a:ea typeface="Courier New" pitchFamily="34" charset="-122"/>
                <a:cs typeface="Courier New" pitchFamily="34" charset="-120"/>
              </a:rPr>
              <a:t>s'</a:t>
            </a:r>
            <a:pPr indent="0" marL="0">
              <a:buNone/>
            </a:pPr>
            <a:r>
              <a:rPr lang="en-US" sz="1300" dirty="0">
                <a:solidFill>
                  <a:srgbClr val="1C7293"/>
                </a:solidFill>
                <a:latin typeface="Courier New" pitchFamily="34" charset="0"/>
                <a:ea typeface="Courier New" pitchFamily="34" charset="-122"/>
                <a:cs typeface="Courier New" pitchFamily="34" charset="-120"/>
              </a:rPr>
              <a:t> P(s'|s,a) [ R(s,a,s') + γ U(s') ]</a:t>
            </a:r>
            <a:endParaRPr lang="en-US" sz="1300" dirty="0"/>
          </a:p>
        </p:txBody>
      </p:sp>
      <p:sp>
        <p:nvSpPr>
          <p:cNvPr id="19" name="Text 17"/>
          <p:cNvSpPr/>
          <p:nvPr/>
        </p:nvSpPr>
        <p:spPr>
          <a:xfrm>
            <a:off x="786384" y="5541264"/>
            <a:ext cx="6492240" cy="411480"/>
          </a:xfrm>
          <a:prstGeom prst="rect">
            <a:avLst/>
          </a:prstGeom>
          <a:noFill/>
          <a:ln/>
        </p:spPr>
        <p:txBody>
          <a:bodyPr wrap="square" lIns="0" tIns="0" rIns="0" bIns="0" rtlCol="0" anchor="t"/>
          <a:lstStyle/>
          <a:p>
            <a:pPr indent="0" marL="0">
              <a:buNone/>
            </a:pPr>
            <a:r>
              <a:rPr lang="en-US" sz="1200" i="1" dirty="0">
                <a:solidFill>
                  <a:srgbClr val="5C7080"/>
                </a:solidFill>
                <a:latin typeface="Calibri" pitchFamily="34" charset="0"/>
                <a:ea typeface="Calibri" pitchFamily="34" charset="-122"/>
                <a:cs typeface="Calibri" pitchFamily="34" charset="-120"/>
              </a:rPr>
              <a:t>This little subroutine shows up inside every algorithm today. Write it once, call it everywhere.</a:t>
            </a:r>
            <a:endParaRPr lang="en-US" sz="1200" dirty="0"/>
          </a:p>
        </p:txBody>
      </p:sp>
      <p:sp>
        <p:nvSpPr>
          <p:cNvPr id="20" name="Shape 18"/>
          <p:cNvSpPr/>
          <p:nvPr/>
        </p:nvSpPr>
        <p:spPr>
          <a:xfrm>
            <a:off x="7699248" y="1901952"/>
            <a:ext cx="3913632" cy="4178808"/>
          </a:xfrm>
          <a:prstGeom prst="roundRect">
            <a:avLst>
              <a:gd name="adj" fmla="val 2103"/>
            </a:avLst>
          </a:prstGeom>
          <a:solidFill>
            <a:srgbClr val="F5DFA8"/>
          </a:solidFill>
          <a:ln/>
        </p:spPr>
      </p:sp>
      <p:sp>
        <p:nvSpPr>
          <p:cNvPr id="21" name="Text 19"/>
          <p:cNvSpPr/>
          <p:nvPr/>
        </p:nvSpPr>
        <p:spPr>
          <a:xfrm>
            <a:off x="7918704" y="2066544"/>
            <a:ext cx="3520440" cy="365760"/>
          </a:xfrm>
          <a:prstGeom prst="rect">
            <a:avLst/>
          </a:prstGeom>
          <a:noFill/>
          <a:ln/>
        </p:spPr>
        <p:txBody>
          <a:bodyPr wrap="square" lIns="0" tIns="0" rIns="0" bIns="0" rtlCol="0" anchor="ctr"/>
          <a:lstStyle/>
          <a:p>
            <a:pPr indent="0" marL="0">
              <a:buNone/>
            </a:pPr>
            <a:r>
              <a:rPr lang="en-US" sz="1500" b="1" dirty="0">
                <a:solidFill>
                  <a:srgbClr val="10263B"/>
                </a:solidFill>
                <a:latin typeface="Cambria" pitchFamily="34" charset="0"/>
                <a:ea typeface="Cambria" pitchFamily="34" charset="-122"/>
                <a:cs typeface="Cambria" pitchFamily="34" charset="-120"/>
              </a:rPr>
              <a:t>The asymmetry that matters</a:t>
            </a:r>
            <a:endParaRPr lang="en-US" sz="1500" dirty="0"/>
          </a:p>
        </p:txBody>
      </p:sp>
      <p:sp>
        <p:nvSpPr>
          <p:cNvPr id="22" name="Text 20"/>
          <p:cNvSpPr/>
          <p:nvPr/>
        </p:nvSpPr>
        <p:spPr>
          <a:xfrm>
            <a:off x="7918704" y="2505456"/>
            <a:ext cx="3520440" cy="3383280"/>
          </a:xfrm>
          <a:prstGeom prst="rect">
            <a:avLst/>
          </a:prstGeom>
          <a:noFill/>
          <a:ln/>
        </p:spPr>
        <p:txBody>
          <a:bodyPr wrap="square" lIns="0" tIns="0" rIns="0" bIns="0" rtlCol="0" anchor="t"/>
          <a:lstStyle/>
          <a:p>
            <a:pPr marL="203200" indent="-203200">
              <a:spcAft>
                <a:spcPts val="1100"/>
              </a:spcAft>
              <a:buSzPct val="100000"/>
              <a:buChar char="•"/>
            </a:pPr>
            <a:r>
              <a:rPr lang="en-US" sz="1250" dirty="0">
                <a:solidFill>
                  <a:srgbClr val="10263B"/>
                </a:solidFill>
                <a:latin typeface="Calibri" pitchFamily="34" charset="0"/>
                <a:ea typeface="Calibri" pitchFamily="34" charset="-122"/>
                <a:cs typeface="Calibri" pitchFamily="34" charset="-120"/>
              </a:rPr>
              <a:t>Given V*, choosing an action still requires a one-step expectimax: you must know T and R to see which action leads somewhere good.</a:t>
            </a:r>
            <a:endParaRPr lang="en-US" sz="1250" dirty="0"/>
          </a:p>
          <a:p>
            <a:pPr marL="203200" indent="-203200">
              <a:spcAft>
                <a:spcPts val="1100"/>
              </a:spcAft>
              <a:buSzPct val="100000"/>
              <a:buChar char="•"/>
            </a:pPr>
            <a:r>
              <a:rPr lang="en-US" sz="1250" dirty="0">
                <a:solidFill>
                  <a:srgbClr val="10263B"/>
                </a:solidFill>
                <a:latin typeface="Calibri" pitchFamily="34" charset="0"/>
                <a:ea typeface="Calibri" pitchFamily="34" charset="-122"/>
                <a:cs typeface="Calibri" pitchFamily="34" charset="-120"/>
              </a:rPr>
              <a:t>Given Q*, choosing an action is a table lookup. Take the arg max. No model needed.</a:t>
            </a:r>
            <a:endParaRPr lang="en-US" sz="1250" dirty="0"/>
          </a:p>
          <a:p>
            <a:pPr marL="203200" indent="-203200">
              <a:spcAft>
                <a:spcPts val="1100"/>
              </a:spcAft>
              <a:buSzPct val="100000"/>
              <a:buChar char="•"/>
            </a:pPr>
            <a:r>
              <a:rPr lang="en-US" sz="1250" dirty="0">
                <a:solidFill>
                  <a:srgbClr val="10263B"/>
                </a:solidFill>
                <a:latin typeface="Calibri" pitchFamily="34" charset="0"/>
                <a:ea typeface="Calibri" pitchFamily="34" charset="-122"/>
                <a:cs typeface="Calibri" pitchFamily="34" charset="-120"/>
              </a:rPr>
              <a:t>That difference is not a convenience. It is the reason modern reinforcement learning learns Q-values rather than values.</a:t>
            </a:r>
            <a:endParaRPr lang="en-US" sz="1250" dirty="0"/>
          </a:p>
          <a:p>
            <a:pPr marL="203200" indent="-203200">
              <a:spcAft>
                <a:spcPts val="1100"/>
              </a:spcAft>
              <a:buSzPct val="100000"/>
              <a:buChar char="•"/>
            </a:pPr>
            <a:r>
              <a:rPr lang="en-US" sz="1250" dirty="0">
                <a:solidFill>
                  <a:srgbClr val="10263B"/>
                </a:solidFill>
                <a:latin typeface="Calibri" pitchFamily="34" charset="0"/>
                <a:ea typeface="Calibri" pitchFamily="34" charset="-122"/>
                <a:cs typeface="Calibri" pitchFamily="34" charset="-120"/>
              </a:rPr>
              <a:t>We come back to this in twenty minutes, and again all next week.</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same optimum, two ways to store it</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30</a:t>
            </a:r>
            <a:endParaRPr lang="en-US" sz="900" dirty="0"/>
          </a:p>
        </p:txBody>
      </p:sp>
      <p:pic>
        <p:nvPicPr>
          <p:cNvPr id="5" name="Image 0" descr="fig_vstar.png">    </p:cNvPr>
          <p:cNvPicPr>
            <a:picLocks noChangeAspect="1"/>
          </p:cNvPicPr>
          <p:nvPr/>
        </p:nvPicPr>
        <p:blipFill>
          <a:blip r:embed="rId1"/>
          <a:srcRect l="0" r="0" t="0" b="0"/>
          <a:stretch/>
        </p:blipFill>
        <p:spPr>
          <a:xfrm>
            <a:off x="685800" y="1389888"/>
            <a:ext cx="5257800" cy="3931920"/>
          </a:xfrm>
          <a:prstGeom prst="rect">
            <a:avLst/>
          </a:prstGeom>
        </p:spPr>
      </p:pic>
      <p:pic>
        <p:nvPicPr>
          <p:cNvPr id="6" name="Image 1" descr="fig_qvalues.png">    </p:cNvPr>
          <p:cNvPicPr>
            <a:picLocks noChangeAspect="1"/>
          </p:cNvPicPr>
          <p:nvPr/>
        </p:nvPicPr>
        <p:blipFill>
          <a:blip r:embed="rId2"/>
          <a:srcRect l="0" r="0" t="0" b="0"/>
          <a:stretch/>
        </p:blipFill>
        <p:spPr>
          <a:xfrm>
            <a:off x="6263640" y="1389888"/>
            <a:ext cx="5257800" cy="3931920"/>
          </a:xfrm>
          <a:prstGeom prst="rect">
            <a:avLst/>
          </a:prstGeom>
        </p:spPr>
      </p:pic>
      <p:sp>
        <p:nvSpPr>
          <p:cNvPr id="7" name="Text 3"/>
          <p:cNvSpPr/>
          <p:nvPr/>
        </p:nvSpPr>
        <p:spPr>
          <a:xfrm>
            <a:off x="685800" y="5413248"/>
            <a:ext cx="5257800" cy="365760"/>
          </a:xfrm>
          <a:prstGeom prst="rect">
            <a:avLst/>
          </a:prstGeom>
          <a:noFill/>
          <a:ln/>
        </p:spPr>
        <p:txBody>
          <a:bodyPr wrap="square" lIns="0" tIns="0" rIns="0" bIns="0" rtlCol="0" anchor="ctr"/>
          <a:lstStyle/>
          <a:p>
            <a:pPr algn="ctr" indent="0" marL="0">
              <a:buNone/>
            </a:pPr>
            <a:r>
              <a:rPr lang="en-US" sz="1300" dirty="0">
                <a:solidFill>
                  <a:srgbClr val="5C7080"/>
                </a:solidFill>
                <a:latin typeface="Calibri" pitchFamily="34" charset="0"/>
                <a:ea typeface="Calibri" pitchFamily="34" charset="-122"/>
                <a:cs typeface="Calibri" pitchFamily="34" charset="-120"/>
              </a:rPr>
              <a:t>Eleven numbers. To act, you still need T and R.</a:t>
            </a:r>
            <a:endParaRPr lang="en-US" sz="1300" dirty="0"/>
          </a:p>
        </p:txBody>
      </p:sp>
      <p:sp>
        <p:nvSpPr>
          <p:cNvPr id="8" name="Text 4"/>
          <p:cNvSpPr/>
          <p:nvPr/>
        </p:nvSpPr>
        <p:spPr>
          <a:xfrm>
            <a:off x="6263640" y="5413248"/>
            <a:ext cx="5257800" cy="365760"/>
          </a:xfrm>
          <a:prstGeom prst="rect">
            <a:avLst/>
          </a:prstGeom>
          <a:noFill/>
          <a:ln/>
        </p:spPr>
        <p:txBody>
          <a:bodyPr wrap="square" lIns="0" tIns="0" rIns="0" bIns="0" rtlCol="0" anchor="ctr"/>
          <a:lstStyle/>
          <a:p>
            <a:pPr algn="ctr" indent="0" marL="0">
              <a:buNone/>
            </a:pPr>
            <a:r>
              <a:rPr lang="en-US" sz="1300" dirty="0">
                <a:solidFill>
                  <a:srgbClr val="5C7080"/>
                </a:solidFill>
                <a:latin typeface="Calibri" pitchFamily="34" charset="0"/>
                <a:ea typeface="Calibri" pitchFamily="34" charset="-122"/>
                <a:cs typeface="Calibri" pitchFamily="34" charset="-120"/>
              </a:rPr>
              <a:t>Thirty-eight numbers. To act, take the arg max.</a:t>
            </a:r>
            <a:endParaRPr lang="en-US" sz="1300" dirty="0"/>
          </a:p>
        </p:txBody>
      </p:sp>
      <p:sp>
        <p:nvSpPr>
          <p:cNvPr id="9" name="Text 5"/>
          <p:cNvSpPr/>
          <p:nvPr/>
        </p:nvSpPr>
        <p:spPr>
          <a:xfrm>
            <a:off x="566928" y="5833872"/>
            <a:ext cx="11057839" cy="411480"/>
          </a:xfrm>
          <a:prstGeom prst="rect">
            <a:avLst/>
          </a:prstGeom>
          <a:noFill/>
          <a:ln/>
        </p:spPr>
        <p:txBody>
          <a:bodyPr wrap="square" lIns="0" tIns="0" rIns="0" bIns="0" rtlCol="0" anchor="ctr"/>
          <a:lstStyle/>
          <a:p>
            <a:pPr algn="ctr" indent="0" marL="0">
              <a:buNone/>
            </a:pPr>
            <a:r>
              <a:rPr lang="en-US" sz="1300" i="1" dirty="0">
                <a:solidFill>
                  <a:srgbClr val="10263B"/>
                </a:solidFill>
                <a:latin typeface="Calibri" pitchFamily="34" charset="0"/>
                <a:ea typeface="Calibri" pitchFamily="34" charset="-122"/>
                <a:cs typeface="Calibri" pitchFamily="34" charset="-120"/>
              </a:rPr>
              <a:t>Gridworld with noise 0.2, gamma 0.9, living reward 0. Q-values cost a factor of |A| more storage and buy you model-free action selection.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A3A57"/>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31</a:t>
            </a:r>
            <a:endParaRPr lang="en-US" sz="900" dirty="0"/>
          </a:p>
        </p:txBody>
      </p:sp>
      <p:sp>
        <p:nvSpPr>
          <p:cNvPr id="4" name="Text 2"/>
          <p:cNvSpPr/>
          <p:nvPr/>
        </p:nvSpPr>
        <p:spPr>
          <a:xfrm>
            <a:off x="566928" y="685800"/>
            <a:ext cx="11057839" cy="457200"/>
          </a:xfrm>
          <a:prstGeom prst="rect">
            <a:avLst/>
          </a:prstGeom>
          <a:noFill/>
          <a:ln/>
        </p:spPr>
        <p:txBody>
          <a:bodyPr wrap="square" lIns="0" tIns="0" rIns="0" bIns="0" rtlCol="0" anchor="ctr"/>
          <a:lstStyle/>
          <a:p>
            <a:pPr indent="0" marL="0">
              <a:buNone/>
            </a:pPr>
            <a:r>
              <a:rPr lang="en-US" sz="1500" spc="200" kern="0" dirty="0">
                <a:solidFill>
                  <a:srgbClr val="E0A32E"/>
                </a:solidFill>
                <a:latin typeface="Calibri" pitchFamily="34" charset="0"/>
                <a:ea typeface="Calibri" pitchFamily="34" charset="-122"/>
                <a:cs typeface="Calibri" pitchFamily="34" charset="-120"/>
              </a:rPr>
              <a:t>Checkpoint</a:t>
            </a:r>
            <a:endParaRPr lang="en-US" sz="1500" dirty="0"/>
          </a:p>
        </p:txBody>
      </p:sp>
      <p:sp>
        <p:nvSpPr>
          <p:cNvPr id="5" name="Text 3"/>
          <p:cNvSpPr/>
          <p:nvPr/>
        </p:nvSpPr>
        <p:spPr>
          <a:xfrm>
            <a:off x="566928" y="1115568"/>
            <a:ext cx="11057839"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Write it down before you look at the next slide</a:t>
            </a:r>
            <a:endParaRPr lang="en-US" sz="3000" dirty="0"/>
          </a:p>
        </p:txBody>
      </p:sp>
      <p:sp>
        <p:nvSpPr>
          <p:cNvPr id="6" name="Shape 4"/>
          <p:cNvSpPr/>
          <p:nvPr/>
        </p:nvSpPr>
        <p:spPr>
          <a:xfrm>
            <a:off x="566928" y="2103120"/>
            <a:ext cx="11057839" cy="1115568"/>
          </a:xfrm>
          <a:prstGeom prst="roundRect">
            <a:avLst>
              <a:gd name="adj" fmla="val 7377"/>
            </a:avLst>
          </a:prstGeom>
          <a:solidFill>
            <a:srgbClr val="10263B"/>
          </a:solidFill>
          <a:ln/>
        </p:spPr>
      </p:sp>
      <p:sp>
        <p:nvSpPr>
          <p:cNvPr id="7" name="Shape 5"/>
          <p:cNvSpPr/>
          <p:nvPr/>
        </p:nvSpPr>
        <p:spPr>
          <a:xfrm>
            <a:off x="822960" y="2395728"/>
            <a:ext cx="530352" cy="530352"/>
          </a:xfrm>
          <a:prstGeom prst="ellipse">
            <a:avLst/>
          </a:prstGeom>
          <a:solidFill>
            <a:srgbClr val="E0A32E"/>
          </a:solidFill>
          <a:ln/>
        </p:spPr>
      </p:sp>
      <p:sp>
        <p:nvSpPr>
          <p:cNvPr id="8" name="Text 6"/>
          <p:cNvSpPr/>
          <p:nvPr/>
        </p:nvSpPr>
        <p:spPr>
          <a:xfrm>
            <a:off x="822960" y="2395728"/>
            <a:ext cx="530352" cy="530352"/>
          </a:xfrm>
          <a:prstGeom prst="rect">
            <a:avLst/>
          </a:prstGeom>
          <a:noFill/>
          <a:ln/>
        </p:spPr>
        <p:txBody>
          <a:bodyPr wrap="square" lIns="0" tIns="0" rIns="0" bIns="0" rtlCol="0" anchor="ctr"/>
          <a:lstStyle/>
          <a:p>
            <a:pPr algn="ctr" indent="0" marL="0">
              <a:buNone/>
            </a:pPr>
            <a:r>
              <a:rPr lang="en-US" sz="1700" b="1" dirty="0">
                <a:solidFill>
                  <a:srgbClr val="10263B"/>
                </a:solidFill>
                <a:latin typeface="Calibri" pitchFamily="34" charset="0"/>
                <a:ea typeface="Calibri" pitchFamily="34" charset="-122"/>
                <a:cs typeface="Calibri" pitchFamily="34" charset="-120"/>
              </a:rPr>
              <a:t>1</a:t>
            </a:r>
            <a:endParaRPr lang="en-US" sz="1700" dirty="0"/>
          </a:p>
        </p:txBody>
      </p:sp>
      <p:sp>
        <p:nvSpPr>
          <p:cNvPr id="9" name="Text 7"/>
          <p:cNvSpPr/>
          <p:nvPr/>
        </p:nvSpPr>
        <p:spPr>
          <a:xfrm>
            <a:off x="1536192" y="2194560"/>
            <a:ext cx="9784080" cy="93268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Without looking: write the Bellman equation for V*(s). Then read it out loud in English, one term at a time.</a:t>
            </a:r>
            <a:endParaRPr lang="en-US" sz="1450" dirty="0"/>
          </a:p>
        </p:txBody>
      </p:sp>
      <p:sp>
        <p:nvSpPr>
          <p:cNvPr id="10" name="Shape 8"/>
          <p:cNvSpPr/>
          <p:nvPr/>
        </p:nvSpPr>
        <p:spPr>
          <a:xfrm>
            <a:off x="566928" y="3401568"/>
            <a:ext cx="11057839" cy="1115568"/>
          </a:xfrm>
          <a:prstGeom prst="roundRect">
            <a:avLst>
              <a:gd name="adj" fmla="val 7377"/>
            </a:avLst>
          </a:prstGeom>
          <a:solidFill>
            <a:srgbClr val="10263B"/>
          </a:solidFill>
          <a:ln/>
        </p:spPr>
      </p:sp>
      <p:sp>
        <p:nvSpPr>
          <p:cNvPr id="11" name="Shape 9"/>
          <p:cNvSpPr/>
          <p:nvPr/>
        </p:nvSpPr>
        <p:spPr>
          <a:xfrm>
            <a:off x="822960" y="3694176"/>
            <a:ext cx="530352" cy="530352"/>
          </a:xfrm>
          <a:prstGeom prst="ellipse">
            <a:avLst/>
          </a:prstGeom>
          <a:solidFill>
            <a:srgbClr val="E0A32E"/>
          </a:solidFill>
          <a:ln/>
        </p:spPr>
      </p:sp>
      <p:sp>
        <p:nvSpPr>
          <p:cNvPr id="12" name="Text 10"/>
          <p:cNvSpPr/>
          <p:nvPr/>
        </p:nvSpPr>
        <p:spPr>
          <a:xfrm>
            <a:off x="822960" y="3694176"/>
            <a:ext cx="530352" cy="530352"/>
          </a:xfrm>
          <a:prstGeom prst="rect">
            <a:avLst/>
          </a:prstGeom>
          <a:noFill/>
          <a:ln/>
        </p:spPr>
        <p:txBody>
          <a:bodyPr wrap="square" lIns="0" tIns="0" rIns="0" bIns="0" rtlCol="0" anchor="ctr"/>
          <a:lstStyle/>
          <a:p>
            <a:pPr algn="ctr" indent="0" marL="0">
              <a:buNone/>
            </a:pPr>
            <a:r>
              <a:rPr lang="en-US" sz="1700" b="1" dirty="0">
                <a:solidFill>
                  <a:srgbClr val="10263B"/>
                </a:solidFill>
                <a:latin typeface="Calibri" pitchFamily="34" charset="0"/>
                <a:ea typeface="Calibri" pitchFamily="34" charset="-122"/>
                <a:cs typeface="Calibri" pitchFamily="34" charset="-120"/>
              </a:rPr>
              <a:t>2</a:t>
            </a:r>
            <a:endParaRPr lang="en-US" sz="1700" dirty="0"/>
          </a:p>
        </p:txBody>
      </p:sp>
      <p:sp>
        <p:nvSpPr>
          <p:cNvPr id="13" name="Text 11"/>
          <p:cNvSpPr/>
          <p:nvPr/>
        </p:nvSpPr>
        <p:spPr>
          <a:xfrm>
            <a:off x="1536192" y="3493008"/>
            <a:ext cx="9784080" cy="93268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A student writes V*(s) = max over a of T(s,a,s')[R + gamma V*(s')] with no summation. What did they lose, and when would their version accidentally be correct?</a:t>
            </a:r>
            <a:endParaRPr lang="en-US" sz="1450" dirty="0"/>
          </a:p>
        </p:txBody>
      </p:sp>
      <p:sp>
        <p:nvSpPr>
          <p:cNvPr id="14" name="Shape 12"/>
          <p:cNvSpPr/>
          <p:nvPr/>
        </p:nvSpPr>
        <p:spPr>
          <a:xfrm>
            <a:off x="566928" y="4700016"/>
            <a:ext cx="11057839" cy="1115568"/>
          </a:xfrm>
          <a:prstGeom prst="roundRect">
            <a:avLst>
              <a:gd name="adj" fmla="val 7377"/>
            </a:avLst>
          </a:prstGeom>
          <a:solidFill>
            <a:srgbClr val="10263B"/>
          </a:solidFill>
          <a:ln/>
        </p:spPr>
      </p:sp>
      <p:sp>
        <p:nvSpPr>
          <p:cNvPr id="15" name="Shape 13"/>
          <p:cNvSpPr/>
          <p:nvPr/>
        </p:nvSpPr>
        <p:spPr>
          <a:xfrm>
            <a:off x="822960" y="4992624"/>
            <a:ext cx="530352" cy="530352"/>
          </a:xfrm>
          <a:prstGeom prst="ellipse">
            <a:avLst/>
          </a:prstGeom>
          <a:solidFill>
            <a:srgbClr val="E0A32E"/>
          </a:solidFill>
          <a:ln/>
        </p:spPr>
      </p:sp>
      <p:sp>
        <p:nvSpPr>
          <p:cNvPr id="16" name="Text 14"/>
          <p:cNvSpPr/>
          <p:nvPr/>
        </p:nvSpPr>
        <p:spPr>
          <a:xfrm>
            <a:off x="822960" y="4992624"/>
            <a:ext cx="530352" cy="530352"/>
          </a:xfrm>
          <a:prstGeom prst="rect">
            <a:avLst/>
          </a:prstGeom>
          <a:noFill/>
          <a:ln/>
        </p:spPr>
        <p:txBody>
          <a:bodyPr wrap="square" lIns="0" tIns="0" rIns="0" bIns="0" rtlCol="0" anchor="ctr"/>
          <a:lstStyle/>
          <a:p>
            <a:pPr algn="ctr" indent="0" marL="0">
              <a:buNone/>
            </a:pPr>
            <a:r>
              <a:rPr lang="en-US" sz="1700" b="1" dirty="0">
                <a:solidFill>
                  <a:srgbClr val="10263B"/>
                </a:solidFill>
                <a:latin typeface="Calibri" pitchFamily="34" charset="0"/>
                <a:ea typeface="Calibri" pitchFamily="34" charset="-122"/>
                <a:cs typeface="Calibri" pitchFamily="34" charset="-120"/>
              </a:rPr>
              <a:t>3</a:t>
            </a:r>
            <a:endParaRPr lang="en-US" sz="1700" dirty="0"/>
          </a:p>
        </p:txBody>
      </p:sp>
      <p:sp>
        <p:nvSpPr>
          <p:cNvPr id="17" name="Text 15"/>
          <p:cNvSpPr/>
          <p:nvPr/>
        </p:nvSpPr>
        <p:spPr>
          <a:xfrm>
            <a:off x="1536192" y="4791456"/>
            <a:ext cx="9784080" cy="932688"/>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In gridworld, Q*((3,2), East) = -0.60 while V*((3,2)) = 0.57. Explain how both can be true at once.</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32</a:t>
            </a:r>
            <a:endParaRPr lang="en-US" sz="900" dirty="0"/>
          </a:p>
        </p:txBody>
      </p:sp>
      <p:sp>
        <p:nvSpPr>
          <p:cNvPr id="4" name="Text 2"/>
          <p:cNvSpPr/>
          <p:nvPr/>
        </p:nvSpPr>
        <p:spPr>
          <a:xfrm>
            <a:off x="566928" y="1417320"/>
            <a:ext cx="2926080" cy="1463040"/>
          </a:xfrm>
          <a:prstGeom prst="rect">
            <a:avLst/>
          </a:prstGeom>
          <a:noFill/>
          <a:ln/>
        </p:spPr>
        <p:txBody>
          <a:bodyPr wrap="square" lIns="0" tIns="0" rIns="0" bIns="0" rtlCol="0" anchor="ctr"/>
          <a:lstStyle/>
          <a:p>
            <a:pPr indent="0" marL="0">
              <a:buNone/>
            </a:pPr>
            <a:r>
              <a:rPr lang="en-US" sz="9600" b="1" dirty="0">
                <a:solidFill>
                  <a:srgbClr val="E0A32E"/>
                </a:solidFill>
                <a:latin typeface="Cambria" pitchFamily="34" charset="0"/>
                <a:ea typeface="Cambria" pitchFamily="34" charset="-122"/>
                <a:cs typeface="Cambria" pitchFamily="34" charset="-120"/>
              </a:rPr>
              <a:t>04</a:t>
            </a:r>
            <a:endParaRPr lang="en-US" sz="9600" dirty="0"/>
          </a:p>
        </p:txBody>
      </p:sp>
      <p:sp>
        <p:nvSpPr>
          <p:cNvPr id="5" name="Text 3"/>
          <p:cNvSpPr/>
          <p:nvPr/>
        </p:nvSpPr>
        <p:spPr>
          <a:xfrm>
            <a:off x="566928" y="2880360"/>
            <a:ext cx="768096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Reward Scales and Representation</a:t>
            </a:r>
            <a:endParaRPr lang="en-US" sz="3800" dirty="0"/>
          </a:p>
        </p:txBody>
      </p:sp>
      <p:sp>
        <p:nvSpPr>
          <p:cNvPr id="6" name="Text 4"/>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6FA8BE"/>
                </a:solidFill>
                <a:latin typeface="Calibri" pitchFamily="34" charset="0"/>
                <a:ea typeface="Calibri" pitchFamily="34" charset="-122"/>
                <a:cs typeface="Calibri" pitchFamily="34" charset="-120"/>
              </a:rPr>
              <a:t>AIMA 17.1.3 - 17.1.4  |  How much freedom do we have in writing rewards?</a:t>
            </a:r>
            <a:endParaRPr lang="en-US" sz="1600" dirty="0"/>
          </a:p>
        </p:txBody>
      </p:sp>
      <p:sp>
        <p:nvSpPr>
          <p:cNvPr id="7" name="Text 5"/>
          <p:cNvSpPr/>
          <p:nvPr/>
        </p:nvSpPr>
        <p:spPr>
          <a:xfrm>
            <a:off x="8549640" y="2834640"/>
            <a:ext cx="310896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Affine transformations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The shaping theorem</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Potentials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Tables, DDNs, and why Tetris is hard</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scale of utilities is arbitrary</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33</a:t>
            </a:r>
            <a:endParaRPr lang="en-US" sz="900" dirty="0"/>
          </a:p>
        </p:txBody>
      </p:sp>
      <p:sp>
        <p:nvSpPr>
          <p:cNvPr id="5" name="Text 3"/>
          <p:cNvSpPr/>
          <p:nvPr/>
        </p:nvSpPr>
        <p:spPr>
          <a:xfrm>
            <a:off x="566928" y="1417320"/>
            <a:ext cx="11057839" cy="384048"/>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From Chapter 16: an affine transformation of utilities leaves every decision unchanged.</a:t>
            </a:r>
            <a:endParaRPr lang="en-US" sz="1500" dirty="0"/>
          </a:p>
        </p:txBody>
      </p:sp>
      <p:sp>
        <p:nvSpPr>
          <p:cNvPr id="6" name="Shape 4"/>
          <p:cNvSpPr/>
          <p:nvPr/>
        </p:nvSpPr>
        <p:spPr>
          <a:xfrm>
            <a:off x="566928" y="1874520"/>
            <a:ext cx="5349240" cy="713232"/>
          </a:xfrm>
          <a:prstGeom prst="roundRect">
            <a:avLst>
              <a:gd name="adj" fmla="val 7692"/>
            </a:avLst>
          </a:prstGeom>
          <a:solidFill>
            <a:srgbClr val="F7FAFB"/>
          </a:solidFill>
          <a:ln w="12700">
            <a:solidFill>
              <a:srgbClr val="D3DDE3"/>
            </a:solidFill>
            <a:prstDash val="solid"/>
          </a:ln>
        </p:spPr>
      </p:sp>
      <p:sp>
        <p:nvSpPr>
          <p:cNvPr id="7" name="Text 5"/>
          <p:cNvSpPr/>
          <p:nvPr/>
        </p:nvSpPr>
        <p:spPr>
          <a:xfrm>
            <a:off x="676656" y="1874520"/>
            <a:ext cx="5129784" cy="713232"/>
          </a:xfrm>
          <a:prstGeom prst="rect">
            <a:avLst/>
          </a:prstGeom>
          <a:noFill/>
          <a:ln/>
        </p:spPr>
        <p:txBody>
          <a:bodyPr wrap="square" lIns="0" tIns="0" rIns="0" bIns="0" rtlCol="0" anchor="ctr"/>
          <a:lstStyle/>
          <a:p>
            <a:pPr algn="ctr" indent="0" marL="0">
              <a:buNone/>
            </a:pPr>
            <a:r>
              <a:rPr lang="en-US" sz="2000" b="1" dirty="0">
                <a:solidFill>
                  <a:srgbClr val="10263B"/>
                </a:solidFill>
                <a:latin typeface="Cambria" pitchFamily="34" charset="0"/>
                <a:ea typeface="Cambria" pitchFamily="34" charset="-122"/>
                <a:cs typeface="Cambria" pitchFamily="34" charset="-120"/>
              </a:rPr>
              <a:t>U'(s)  =  m U(s)  +  b</a:t>
            </a:r>
            <a:endParaRPr lang="en-US" sz="2000" dirty="0"/>
          </a:p>
        </p:txBody>
      </p:sp>
      <p:sp>
        <p:nvSpPr>
          <p:cNvPr id="8" name="Text 6"/>
          <p:cNvSpPr/>
          <p:nvPr/>
        </p:nvSpPr>
        <p:spPr>
          <a:xfrm>
            <a:off x="566928" y="2615184"/>
            <a:ext cx="534924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for any constants m &gt; 0 and b</a:t>
            </a:r>
            <a:endParaRPr lang="en-US" sz="1100" dirty="0"/>
          </a:p>
        </p:txBody>
      </p:sp>
      <p:sp>
        <p:nvSpPr>
          <p:cNvPr id="9" name="Shape 7"/>
          <p:cNvSpPr/>
          <p:nvPr/>
        </p:nvSpPr>
        <p:spPr>
          <a:xfrm>
            <a:off x="6263640" y="1874520"/>
            <a:ext cx="5349240" cy="713232"/>
          </a:xfrm>
          <a:prstGeom prst="roundRect">
            <a:avLst>
              <a:gd name="adj" fmla="val 7692"/>
            </a:avLst>
          </a:prstGeom>
          <a:solidFill>
            <a:srgbClr val="F7FAFB"/>
          </a:solidFill>
          <a:ln w="12700">
            <a:solidFill>
              <a:srgbClr val="D3DDE3"/>
            </a:solidFill>
            <a:prstDash val="solid"/>
          </a:ln>
        </p:spPr>
      </p:sp>
      <p:sp>
        <p:nvSpPr>
          <p:cNvPr id="10" name="Text 8"/>
          <p:cNvSpPr/>
          <p:nvPr/>
        </p:nvSpPr>
        <p:spPr>
          <a:xfrm>
            <a:off x="6373368" y="1874520"/>
            <a:ext cx="5129784" cy="713232"/>
          </a:xfrm>
          <a:prstGeom prst="rect">
            <a:avLst/>
          </a:prstGeom>
          <a:noFill/>
          <a:ln/>
        </p:spPr>
        <p:txBody>
          <a:bodyPr wrap="square" lIns="0" tIns="0" rIns="0" bIns="0" rtlCol="0" anchor="ctr"/>
          <a:lstStyle/>
          <a:p>
            <a:pPr algn="ctr" indent="0" marL="0">
              <a:buNone/>
            </a:pPr>
            <a:r>
              <a:rPr lang="en-US" sz="1800" b="1" dirty="0">
                <a:solidFill>
                  <a:srgbClr val="10263B"/>
                </a:solidFill>
                <a:latin typeface="Cambria" pitchFamily="34" charset="0"/>
                <a:ea typeface="Cambria" pitchFamily="34" charset="-122"/>
                <a:cs typeface="Cambria" pitchFamily="34" charset="-120"/>
              </a:rPr>
              <a:t>R'(s,a,s')  =  m R(s,a,s')  +  b</a:t>
            </a:r>
            <a:endParaRPr lang="en-US" sz="1800" dirty="0"/>
          </a:p>
        </p:txBody>
      </p:sp>
      <p:sp>
        <p:nvSpPr>
          <p:cNvPr id="11" name="Text 9"/>
          <p:cNvSpPr/>
          <p:nvPr/>
        </p:nvSpPr>
        <p:spPr>
          <a:xfrm>
            <a:off x="6263640" y="2615184"/>
            <a:ext cx="534924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the same freedom, applied to rewards</a:t>
            </a:r>
            <a:endParaRPr lang="en-US" sz="1100" dirty="0"/>
          </a:p>
        </p:txBody>
      </p:sp>
      <p:sp>
        <p:nvSpPr>
          <p:cNvPr id="12" name="Shape 10"/>
          <p:cNvSpPr/>
          <p:nvPr/>
        </p:nvSpPr>
        <p:spPr>
          <a:xfrm>
            <a:off x="566928" y="3127248"/>
            <a:ext cx="11057839" cy="1325880"/>
          </a:xfrm>
          <a:prstGeom prst="roundRect">
            <a:avLst>
              <a:gd name="adj" fmla="val 6207"/>
            </a:avLst>
          </a:prstGeom>
          <a:solidFill>
            <a:srgbClr val="EDF2F5"/>
          </a:solidFill>
          <a:ln/>
          <a:effectLst>
            <a:outerShdw sx="100000" sy="100000" kx="0" ky="0" algn="bl" rotWithShape="0" blurRad="101600" dist="17780" dir="5400000">
              <a:srgbClr val="9FB2BF">
                <a:alpha val="20000"/>
              </a:srgbClr>
            </a:outerShdw>
          </a:effectLst>
        </p:spPr>
      </p:sp>
      <p:sp>
        <p:nvSpPr>
          <p:cNvPr id="13" name="Text 11"/>
          <p:cNvSpPr/>
          <p:nvPr/>
        </p:nvSpPr>
        <p:spPr>
          <a:xfrm>
            <a:off x="804672" y="3255264"/>
            <a:ext cx="10515600"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Why this is obvious once you see it</a:t>
            </a:r>
            <a:endParaRPr lang="en-US" sz="1500" dirty="0"/>
          </a:p>
        </p:txBody>
      </p:sp>
      <p:sp>
        <p:nvSpPr>
          <p:cNvPr id="14" name="Text 12"/>
          <p:cNvSpPr/>
          <p:nvPr/>
        </p:nvSpPr>
        <p:spPr>
          <a:xfrm>
            <a:off x="804672" y="3602736"/>
            <a:ext cx="10515600" cy="777240"/>
          </a:xfrm>
          <a:prstGeom prst="rect">
            <a:avLst/>
          </a:prstGeom>
          <a:noFill/>
          <a:ln/>
        </p:spPr>
        <p:txBody>
          <a:bodyPr wrap="square" lIns="0" tIns="0" rIns="0" bIns="0" rtlCol="0" anchor="t"/>
          <a:lstStyle/>
          <a:p>
            <a:pPr indent="0" marL="0">
              <a:buNone/>
            </a:pPr>
            <a:r>
              <a:rPr lang="en-US" sz="1350" dirty="0">
                <a:solidFill>
                  <a:srgbClr val="10263B"/>
                </a:solidFill>
                <a:latin typeface="Calibri" pitchFamily="34" charset="0"/>
                <a:ea typeface="Calibri" pitchFamily="34" charset="-122"/>
                <a:cs typeface="Calibri" pitchFamily="34" charset="-120"/>
              </a:rPr>
              <a:t>Scaling every utility by a positive constant cannot change which one is largest, and adding a constant to all of them shifts them together. An arg max is blind to both. So the optimal policy is identical - only the printed numbers move.</a:t>
            </a:r>
            <a:endParaRPr lang="en-US" sz="1350" dirty="0"/>
          </a:p>
        </p:txBody>
      </p:sp>
      <p:sp>
        <p:nvSpPr>
          <p:cNvPr id="15" name="Shape 13"/>
          <p:cNvSpPr/>
          <p:nvPr/>
        </p:nvSpPr>
        <p:spPr>
          <a:xfrm>
            <a:off x="566928" y="4617720"/>
            <a:ext cx="11057839" cy="1417320"/>
          </a:xfrm>
          <a:prstGeom prst="roundRect">
            <a:avLst>
              <a:gd name="adj" fmla="val 5806"/>
            </a:avLst>
          </a:prstGeom>
          <a:solidFill>
            <a:srgbClr val="10263B"/>
          </a:solidFill>
          <a:ln/>
          <a:effectLst>
            <a:outerShdw sx="100000" sy="100000" kx="0" ky="0" algn="bl" rotWithShape="0" blurRad="101600" dist="17780" dir="5400000">
              <a:srgbClr val="9FB2BF">
                <a:alpha val="20000"/>
              </a:srgbClr>
            </a:outerShdw>
          </a:effectLst>
        </p:spPr>
      </p:sp>
      <p:sp>
        <p:nvSpPr>
          <p:cNvPr id="16" name="Text 14"/>
          <p:cNvSpPr/>
          <p:nvPr/>
        </p:nvSpPr>
        <p:spPr>
          <a:xfrm>
            <a:off x="822960" y="4754880"/>
            <a:ext cx="1042416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This is the formal reason the convention trap earlier was harmless</a:t>
            </a:r>
            <a:endParaRPr lang="en-US" sz="1500" dirty="0"/>
          </a:p>
        </p:txBody>
      </p:sp>
      <p:sp>
        <p:nvSpPr>
          <p:cNvPr id="17" name="Text 15"/>
          <p:cNvSpPr/>
          <p:nvPr/>
        </p:nvSpPr>
        <p:spPr>
          <a:xfrm>
            <a:off x="822960" y="5120640"/>
            <a:ext cx="10424160" cy="822960"/>
          </a:xfrm>
          <a:prstGeom prst="rect">
            <a:avLst/>
          </a:prstGeom>
          <a:noFill/>
          <a:ln/>
        </p:spPr>
        <p:txBody>
          <a:bodyPr wrap="square" lIns="0" tIns="0" rIns="0" bIns="0" rtlCol="0" anchor="t"/>
          <a:lstStyle/>
          <a:p>
            <a:pPr indent="0" marL="0">
              <a:buNone/>
            </a:pPr>
            <a:r>
              <a:rPr lang="en-US" sz="1350" dirty="0">
                <a:solidFill>
                  <a:srgbClr val="DCE7EE"/>
                </a:solidFill>
                <a:latin typeface="Calibri" pitchFamily="34" charset="0"/>
                <a:ea typeface="Calibri" pitchFamily="34" charset="-122"/>
                <a:cs typeface="Calibri" pitchFamily="34" charset="-120"/>
              </a:rPr>
              <a:t>Moving from the R(s) convention to the R(s,a,s') convention shifted every non-terminal utility by exactly -0.04. That is b = -0.04 with m = 1. Different numbers, identical policy. Now we ask a much more interesting question: is an affine map the only freedom we have?</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shaping theorem</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34</a:t>
            </a:r>
            <a:endParaRPr lang="en-US" sz="900" dirty="0"/>
          </a:p>
        </p:txBody>
      </p:sp>
      <p:sp>
        <p:nvSpPr>
          <p:cNvPr id="5" name="Text 3"/>
          <p:cNvSpPr/>
          <p:nvPr/>
        </p:nvSpPr>
        <p:spPr>
          <a:xfrm>
            <a:off x="566928" y="1417320"/>
            <a:ext cx="11057839" cy="384048"/>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Let Phi(s) be any function of the state whatsoever. Then this transformation leaves the optimal policy unchanged:</a:t>
            </a:r>
            <a:endParaRPr lang="en-US" sz="1500" dirty="0"/>
          </a:p>
        </p:txBody>
      </p:sp>
      <p:sp>
        <p:nvSpPr>
          <p:cNvPr id="6" name="Shape 4"/>
          <p:cNvSpPr/>
          <p:nvPr/>
        </p:nvSpPr>
        <p:spPr>
          <a:xfrm>
            <a:off x="566928" y="1883664"/>
            <a:ext cx="11057839" cy="914400"/>
          </a:xfrm>
          <a:prstGeom prst="roundRect">
            <a:avLst>
              <a:gd name="adj" fmla="val 6000"/>
            </a:avLst>
          </a:prstGeom>
          <a:solidFill>
            <a:srgbClr val="10263B"/>
          </a:solidFill>
          <a:ln w="12700">
            <a:solidFill>
              <a:srgbClr val="10263B"/>
            </a:solidFill>
            <a:prstDash val="solid"/>
          </a:ln>
        </p:spPr>
      </p:sp>
      <p:sp>
        <p:nvSpPr>
          <p:cNvPr id="7" name="Text 5"/>
          <p:cNvSpPr/>
          <p:nvPr/>
        </p:nvSpPr>
        <p:spPr>
          <a:xfrm>
            <a:off x="676656" y="1883664"/>
            <a:ext cx="10838383" cy="91440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R'(s,a,s')  =  R(s,a,s')  +  γ Φ(s')  -  Φ(s)</a:t>
            </a:r>
            <a:endParaRPr lang="en-US" sz="2400" dirty="0"/>
          </a:p>
        </p:txBody>
      </p:sp>
      <p:sp>
        <p:nvSpPr>
          <p:cNvPr id="8" name="Text 6"/>
          <p:cNvSpPr/>
          <p:nvPr/>
        </p:nvSpPr>
        <p:spPr>
          <a:xfrm>
            <a:off x="566928" y="2825496"/>
            <a:ext cx="11057839"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AIMA equation 17.9</a:t>
            </a:r>
            <a:endParaRPr lang="en-US" sz="1100" dirty="0"/>
          </a:p>
        </p:txBody>
      </p:sp>
      <p:sp>
        <p:nvSpPr>
          <p:cNvPr id="9" name="Shape 7"/>
          <p:cNvSpPr/>
          <p:nvPr/>
        </p:nvSpPr>
        <p:spPr>
          <a:xfrm>
            <a:off x="566928" y="3291840"/>
            <a:ext cx="5349240" cy="2743200"/>
          </a:xfrm>
          <a:prstGeom prst="roundRect">
            <a:avLst>
              <a:gd name="adj" fmla="val 3000"/>
            </a:avLst>
          </a:prstGeom>
          <a:solidFill>
            <a:srgbClr val="EDF2F5"/>
          </a:solidFill>
          <a:ln/>
          <a:effectLst>
            <a:outerShdw sx="100000" sy="100000" kx="0" ky="0" algn="bl" rotWithShape="0" blurRad="101600" dist="17780" dir="5400000">
              <a:srgbClr val="9FB2BF">
                <a:alpha val="20000"/>
              </a:srgbClr>
            </a:outerShdw>
          </a:effectLst>
        </p:spPr>
      </p:sp>
      <p:sp>
        <p:nvSpPr>
          <p:cNvPr id="10" name="Text 8"/>
          <p:cNvSpPr/>
          <p:nvPr/>
        </p:nvSpPr>
        <p:spPr>
          <a:xfrm>
            <a:off x="804672" y="3419856"/>
            <a:ext cx="4892040"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Sketch of the proof</a:t>
            </a:r>
            <a:endParaRPr lang="en-US" sz="1500" dirty="0"/>
          </a:p>
        </p:txBody>
      </p:sp>
      <p:sp>
        <p:nvSpPr>
          <p:cNvPr id="11" name="Text 9"/>
          <p:cNvSpPr/>
          <p:nvPr/>
        </p:nvSpPr>
        <p:spPr>
          <a:xfrm>
            <a:off x="804672" y="3803904"/>
            <a:ext cx="4892040" cy="2148840"/>
          </a:xfrm>
          <a:prstGeom prst="rect">
            <a:avLst/>
          </a:prstGeom>
          <a:noFill/>
          <a:ln/>
        </p:spPr>
        <p:txBody>
          <a:bodyPr wrap="square" lIns="0" tIns="0" rIns="0" bIns="0" rtlCol="0" anchor="t"/>
          <a:lstStyle/>
          <a:p>
            <a:pPr marL="203200" indent="-203200">
              <a:spcAft>
                <a:spcPts val="1000"/>
              </a:spcAft>
              <a:buSzPct val="100000"/>
              <a:buChar char="•"/>
            </a:pPr>
            <a:r>
              <a:rPr lang="en-US" sz="1250" dirty="0">
                <a:solidFill>
                  <a:srgbClr val="10263B"/>
                </a:solidFill>
                <a:latin typeface="Calibri" pitchFamily="34" charset="0"/>
                <a:ea typeface="Calibri" pitchFamily="34" charset="-122"/>
                <a:cs typeface="Calibri" pitchFamily="34" charset="-120"/>
              </a:rPr>
              <a:t>Define Q'(s,a) = Q(s,a) - Phi(s) and substitute into the Bellman equation for Q.</a:t>
            </a:r>
            <a:endParaRPr lang="en-US" sz="1250" dirty="0"/>
          </a:p>
          <a:p>
            <a:pPr marL="203200" indent="-203200">
              <a:spcAft>
                <a:spcPts val="1000"/>
              </a:spcAft>
              <a:buSzPct val="100000"/>
              <a:buChar char="•"/>
            </a:pPr>
            <a:r>
              <a:rPr lang="en-US" sz="1250" dirty="0">
                <a:solidFill>
                  <a:srgbClr val="10263B"/>
                </a:solidFill>
                <a:latin typeface="Calibri" pitchFamily="34" charset="0"/>
                <a:ea typeface="Calibri" pitchFamily="34" charset="-122"/>
                <a:cs typeface="Calibri" pitchFamily="34" charset="-120"/>
              </a:rPr>
              <a:t>The Phi terms telescope, and what survives is exactly the Bellman equation for the shaped MDP.</a:t>
            </a:r>
            <a:endParaRPr lang="en-US" sz="1250" dirty="0"/>
          </a:p>
          <a:p>
            <a:pPr marL="203200" indent="-203200">
              <a:spcAft>
                <a:spcPts val="1000"/>
              </a:spcAft>
              <a:buSzPct val="100000"/>
              <a:buChar char="•"/>
            </a:pPr>
            <a:r>
              <a:rPr lang="en-US" sz="1250" dirty="0">
                <a:solidFill>
                  <a:srgbClr val="10263B"/>
                </a:solidFill>
                <a:latin typeface="Calibri" pitchFamily="34" charset="0"/>
                <a:ea typeface="Calibri" pitchFamily="34" charset="-122"/>
                <a:cs typeface="Calibri" pitchFamily="34" charset="-120"/>
              </a:rPr>
              <a:t>So Q' is the Q-function of M'. Extract the policy with equation 17.7:</a:t>
            </a:r>
            <a:endParaRPr lang="en-US" sz="1250" dirty="0"/>
          </a:p>
          <a:p>
            <a:pPr marL="203200" indent="-203200">
              <a:spcAft>
                <a:spcPts val="1000"/>
              </a:spcAft>
              <a:buSzPct val="100000"/>
              <a:buChar char="•"/>
            </a:pPr>
            <a:r>
              <a:rPr lang="en-US" sz="1250" dirty="0">
                <a:solidFill>
                  <a:srgbClr val="10263B"/>
                </a:solidFill>
                <a:latin typeface="Calibri" pitchFamily="34" charset="0"/>
                <a:ea typeface="Calibri" pitchFamily="34" charset="-122"/>
                <a:cs typeface="Calibri" pitchFamily="34" charset="-120"/>
              </a:rPr>
              <a:t>argmax of [Q(s,a) - Phi(s)] equals argmax of Q(s,a), because Phi(s) does not depend on a.</a:t>
            </a:r>
            <a:endParaRPr lang="en-US" sz="1250" dirty="0"/>
          </a:p>
        </p:txBody>
      </p:sp>
      <p:sp>
        <p:nvSpPr>
          <p:cNvPr id="12" name="Shape 10"/>
          <p:cNvSpPr/>
          <p:nvPr/>
        </p:nvSpPr>
        <p:spPr>
          <a:xfrm>
            <a:off x="6263640" y="3291840"/>
            <a:ext cx="5349240" cy="2743200"/>
          </a:xfrm>
          <a:prstGeom prst="roundRect">
            <a:avLst>
              <a:gd name="adj" fmla="val 3000"/>
            </a:avLst>
          </a:prstGeom>
          <a:solidFill>
            <a:srgbClr val="EDF2F5"/>
          </a:solidFill>
          <a:ln/>
          <a:effectLst>
            <a:outerShdw sx="100000" sy="100000" kx="0" ky="0" algn="bl" rotWithShape="0" blurRad="101600" dist="17780" dir="5400000">
              <a:srgbClr val="9FB2BF">
                <a:alpha val="20000"/>
              </a:srgbClr>
            </a:outerShdw>
          </a:effectLst>
        </p:spPr>
      </p:sp>
      <p:sp>
        <p:nvSpPr>
          <p:cNvPr id="13" name="Text 11"/>
          <p:cNvSpPr/>
          <p:nvPr/>
        </p:nvSpPr>
        <p:spPr>
          <a:xfrm>
            <a:off x="6501384" y="3419856"/>
            <a:ext cx="48920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Why the name potential</a:t>
            </a:r>
            <a:endParaRPr lang="en-US" sz="1500" dirty="0"/>
          </a:p>
        </p:txBody>
      </p:sp>
      <p:sp>
        <p:nvSpPr>
          <p:cNvPr id="14" name="Text 12"/>
          <p:cNvSpPr/>
          <p:nvPr/>
        </p:nvSpPr>
        <p:spPr>
          <a:xfrm>
            <a:off x="6501384" y="3803904"/>
            <a:ext cx="4892040" cy="68580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Phi is called a potential, by analogy with electrical potential. The term gamma Phi(s') minus Phi(s) acts as a gradient of that potential.</a:t>
            </a:r>
            <a:endParaRPr lang="en-US" sz="1300" dirty="0"/>
          </a:p>
        </p:txBody>
      </p:sp>
      <p:sp>
        <p:nvSpPr>
          <p:cNvPr id="15" name="Text 13"/>
          <p:cNvSpPr/>
          <p:nvPr/>
        </p:nvSpPr>
        <p:spPr>
          <a:xfrm>
            <a:off x="6501384" y="4517136"/>
            <a:ext cx="4892040" cy="73152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If Phi is larger in states with higher utility, then adding this term rewards the agent for moving uphill in utility - without changing what optimal means.</a:t>
            </a:r>
            <a:endParaRPr lang="en-US" sz="1300" dirty="0"/>
          </a:p>
        </p:txBody>
      </p:sp>
      <p:sp>
        <p:nvSpPr>
          <p:cNvPr id="16" name="Text 14"/>
          <p:cNvSpPr/>
          <p:nvPr/>
        </p:nvSpPr>
        <p:spPr>
          <a:xfrm>
            <a:off x="6501384" y="5285232"/>
            <a:ext cx="4892040" cy="658368"/>
          </a:xfrm>
          <a:prstGeom prst="rect">
            <a:avLst/>
          </a:prstGeom>
          <a:noFill/>
          <a:ln/>
        </p:spPr>
        <p:txBody>
          <a:bodyPr wrap="square" lIns="0" tIns="0" rIns="0" bIns="0" rtlCol="0" anchor="t"/>
          <a:lstStyle/>
          <a:p>
            <a:pPr indent="0" marL="0">
              <a:buNone/>
            </a:pPr>
            <a:r>
              <a:rPr lang="en-US" sz="1250" i="1" dirty="0">
                <a:solidFill>
                  <a:srgbClr val="5C7080"/>
                </a:solidFill>
                <a:latin typeface="Calibri" pitchFamily="34" charset="0"/>
                <a:ea typeface="Calibri" pitchFamily="34" charset="-122"/>
                <a:cs typeface="Calibri" pitchFamily="34" charset="-120"/>
              </a:rPr>
              <a:t>Sanity check: every policy is optimal when the reward is zero everywhere. So by the theorem, every policy is optimal under a purely potential-based reward.</a:t>
            </a:r>
            <a:endParaRPr lang="en-US" sz="12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Shaping in practice, and the catch</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35</a:t>
            </a:r>
            <a:endParaRPr lang="en-US" sz="900" dirty="0"/>
          </a:p>
        </p:txBody>
      </p:sp>
      <p:sp>
        <p:nvSpPr>
          <p:cNvPr id="5" name="Text 3"/>
          <p:cNvSpPr/>
          <p:nvPr/>
        </p:nvSpPr>
        <p:spPr>
          <a:xfrm>
            <a:off x="566928" y="1417320"/>
            <a:ext cx="7223760" cy="411480"/>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Set Phi(s) = U(s) and something remarkable happens: the greedy policy on the shaped reward is already optimal.</a:t>
            </a:r>
            <a:endParaRPr lang="en-US" sz="1500" dirty="0"/>
          </a:p>
        </p:txBody>
      </p:sp>
      <p:sp>
        <p:nvSpPr>
          <p:cNvPr id="6" name="Shape 4"/>
          <p:cNvSpPr/>
          <p:nvPr/>
        </p:nvSpPr>
        <p:spPr>
          <a:xfrm>
            <a:off x="566928" y="1956816"/>
            <a:ext cx="7223760" cy="475488"/>
          </a:xfrm>
          <a:prstGeom prst="roundRect">
            <a:avLst>
              <a:gd name="adj" fmla="val 17308"/>
            </a:avLst>
          </a:prstGeom>
          <a:solidFill>
            <a:srgbClr val="F7FAFB"/>
          </a:solidFill>
          <a:ln w="12700">
            <a:solidFill>
              <a:srgbClr val="D3DDE3"/>
            </a:solidFill>
            <a:prstDash val="solid"/>
          </a:ln>
        </p:spPr>
      </p:sp>
      <p:sp>
        <p:nvSpPr>
          <p:cNvPr id="7" name="Text 5"/>
          <p:cNvSpPr/>
          <p:nvPr/>
        </p:nvSpPr>
        <p:spPr>
          <a:xfrm>
            <a:off x="768096" y="1956816"/>
            <a:ext cx="685800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π</a:t>
            </a:r>
            <a:pPr indent="0" marL="0">
              <a:buNone/>
            </a:pPr>
            <a:r>
              <a:rPr lang="en-US" sz="1300" baseline="-40000" dirty="0">
                <a:solidFill>
                  <a:srgbClr val="10263B"/>
                </a:solidFill>
                <a:latin typeface="Cambria" pitchFamily="34" charset="0"/>
                <a:ea typeface="Cambria" pitchFamily="34" charset="-122"/>
                <a:cs typeface="Cambria" pitchFamily="34" charset="-120"/>
              </a:rPr>
              <a:t>G</a:t>
            </a:r>
            <a:pPr indent="0" marL="0">
              <a:buNone/>
            </a:pPr>
            <a:r>
              <a:rPr lang="en-US" sz="1300" dirty="0">
                <a:solidFill>
                  <a:srgbClr val="10263B"/>
                </a:solidFill>
                <a:latin typeface="Cambria" pitchFamily="34" charset="0"/>
                <a:ea typeface="Cambria" pitchFamily="34" charset="-122"/>
                <a:cs typeface="Cambria" pitchFamily="34" charset="-120"/>
              </a:rPr>
              <a:t>(s) = argmax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P(s'|s,a) R'(s,a,s')</a:t>
            </a:r>
            <a:endParaRPr lang="en-US" sz="1300" dirty="0"/>
          </a:p>
        </p:txBody>
      </p:sp>
      <p:sp>
        <p:nvSpPr>
          <p:cNvPr id="8" name="Shape 6"/>
          <p:cNvSpPr/>
          <p:nvPr/>
        </p:nvSpPr>
        <p:spPr>
          <a:xfrm>
            <a:off x="566928" y="2523744"/>
            <a:ext cx="7223760" cy="475488"/>
          </a:xfrm>
          <a:prstGeom prst="roundRect">
            <a:avLst>
              <a:gd name="adj" fmla="val 17308"/>
            </a:avLst>
          </a:prstGeom>
          <a:solidFill>
            <a:srgbClr val="F7FAFB"/>
          </a:solidFill>
          <a:ln w="12700">
            <a:solidFill>
              <a:srgbClr val="D3DDE3"/>
            </a:solidFill>
            <a:prstDash val="solid"/>
          </a:ln>
        </p:spPr>
      </p:sp>
      <p:sp>
        <p:nvSpPr>
          <p:cNvPr id="9" name="Text 7"/>
          <p:cNvSpPr/>
          <p:nvPr/>
        </p:nvSpPr>
        <p:spPr>
          <a:xfrm>
            <a:off x="768096" y="2523744"/>
            <a:ext cx="685800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 argmax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P(s'|s,a) [ R(s,a,s') + γU(s') - U(s) ]</a:t>
            </a:r>
            <a:endParaRPr lang="en-US" sz="1300" dirty="0"/>
          </a:p>
        </p:txBody>
      </p:sp>
      <p:sp>
        <p:nvSpPr>
          <p:cNvPr id="10" name="Shape 8"/>
          <p:cNvSpPr/>
          <p:nvPr/>
        </p:nvSpPr>
        <p:spPr>
          <a:xfrm>
            <a:off x="566928" y="3090672"/>
            <a:ext cx="7223760" cy="475488"/>
          </a:xfrm>
          <a:prstGeom prst="roundRect">
            <a:avLst>
              <a:gd name="adj" fmla="val 17308"/>
            </a:avLst>
          </a:prstGeom>
          <a:solidFill>
            <a:srgbClr val="F7FAFB"/>
          </a:solidFill>
          <a:ln w="12700">
            <a:solidFill>
              <a:srgbClr val="D3DDE3"/>
            </a:solidFill>
            <a:prstDash val="solid"/>
          </a:ln>
        </p:spPr>
      </p:sp>
      <p:sp>
        <p:nvSpPr>
          <p:cNvPr id="11" name="Text 9"/>
          <p:cNvSpPr/>
          <p:nvPr/>
        </p:nvSpPr>
        <p:spPr>
          <a:xfrm>
            <a:off x="768096" y="3090672"/>
            <a:ext cx="685800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 argmax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P(s'|s,a) [ R(s,a,s') + γU(s') ]</a:t>
            </a:r>
            <a:endParaRPr lang="en-US" sz="1300" dirty="0"/>
          </a:p>
        </p:txBody>
      </p:sp>
      <p:sp>
        <p:nvSpPr>
          <p:cNvPr id="12" name="Shape 10"/>
          <p:cNvSpPr/>
          <p:nvPr/>
        </p:nvSpPr>
        <p:spPr>
          <a:xfrm>
            <a:off x="566928" y="3657600"/>
            <a:ext cx="7223760" cy="475488"/>
          </a:xfrm>
          <a:prstGeom prst="roundRect">
            <a:avLst>
              <a:gd name="adj" fmla="val 17308"/>
            </a:avLst>
          </a:prstGeom>
          <a:solidFill>
            <a:srgbClr val="1C7293"/>
          </a:solidFill>
          <a:ln w="12700">
            <a:solidFill>
              <a:srgbClr val="1C7293"/>
            </a:solidFill>
            <a:prstDash val="solid"/>
          </a:ln>
        </p:spPr>
      </p:sp>
      <p:sp>
        <p:nvSpPr>
          <p:cNvPr id="13" name="Text 11"/>
          <p:cNvSpPr/>
          <p:nvPr/>
        </p:nvSpPr>
        <p:spPr>
          <a:xfrm>
            <a:off x="768096" y="3657600"/>
            <a:ext cx="6858000" cy="47548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 π</a:t>
            </a:r>
            <a:pPr indent="0" marL="0">
              <a:buNone/>
            </a:pPr>
            <a:r>
              <a:rPr lang="en-US" sz="1300" b="1" baseline="30000" dirty="0">
                <a:solidFill>
                  <a:srgbClr val="FFFFFF"/>
                </a:solidFill>
                <a:latin typeface="Cambria" pitchFamily="34" charset="0"/>
                <a:ea typeface="Cambria" pitchFamily="34" charset="-122"/>
                <a:cs typeface="Cambria" pitchFamily="34" charset="-120"/>
              </a:rPr>
              <a:t>*</a:t>
            </a:r>
            <a:pPr indent="0" marL="0">
              <a:buNone/>
            </a:pPr>
            <a:r>
              <a:rPr lang="en-US" sz="1300" b="1" dirty="0">
                <a:solidFill>
                  <a:srgbClr val="FFFFFF"/>
                </a:solidFill>
                <a:latin typeface="Cambria" pitchFamily="34" charset="0"/>
                <a:ea typeface="Cambria" pitchFamily="34" charset="-122"/>
                <a:cs typeface="Cambria" pitchFamily="34" charset="-120"/>
              </a:rPr>
              <a:t>(s)</a:t>
            </a:r>
            <a:endParaRPr lang="en-US" sz="1300" dirty="0"/>
          </a:p>
        </p:txBody>
      </p:sp>
      <p:sp>
        <p:nvSpPr>
          <p:cNvPr id="14" name="Text 12"/>
          <p:cNvSpPr/>
          <p:nvPr/>
        </p:nvSpPr>
        <p:spPr>
          <a:xfrm>
            <a:off x="566928" y="4279392"/>
            <a:ext cx="7223760" cy="384048"/>
          </a:xfrm>
          <a:prstGeom prst="rect">
            <a:avLst/>
          </a:prstGeom>
          <a:noFill/>
          <a:ln/>
        </p:spPr>
        <p:txBody>
          <a:bodyPr wrap="square" lIns="0" tIns="0" rIns="0" bIns="0" rtlCol="0" anchor="ctr"/>
          <a:lstStyle/>
          <a:p>
            <a:pPr indent="0" marL="0">
              <a:buNone/>
            </a:pPr>
            <a:r>
              <a:rPr lang="en-US" sz="1250" dirty="0">
                <a:solidFill>
                  <a:srgbClr val="5C7080"/>
                </a:solidFill>
                <a:latin typeface="Calibri" pitchFamily="34" charset="0"/>
                <a:ea typeface="Calibri" pitchFamily="34" charset="-122"/>
                <a:cs typeface="Calibri" pitchFamily="34" charset="-120"/>
              </a:rPr>
              <a:t>The third line drops U(s) because it is a constant with respect to a. The last line is just equation 17.4.</a:t>
            </a:r>
            <a:endParaRPr lang="en-US" sz="1250" dirty="0"/>
          </a:p>
        </p:txBody>
      </p:sp>
      <p:sp>
        <p:nvSpPr>
          <p:cNvPr id="15" name="Shape 13"/>
          <p:cNvSpPr/>
          <p:nvPr/>
        </p:nvSpPr>
        <p:spPr>
          <a:xfrm>
            <a:off x="8101584" y="1481328"/>
            <a:ext cx="3511296" cy="3246120"/>
          </a:xfrm>
          <a:prstGeom prst="roundRect">
            <a:avLst>
              <a:gd name="adj" fmla="val 2535"/>
            </a:avLst>
          </a:prstGeom>
          <a:solidFill>
            <a:srgbClr val="10263B"/>
          </a:solidFill>
          <a:ln/>
          <a:effectLst>
            <a:outerShdw sx="100000" sy="100000" kx="0" ky="0" algn="bl" rotWithShape="0" blurRad="101600" dist="17780" dir="5400000">
              <a:srgbClr val="9FB2BF">
                <a:alpha val="20000"/>
              </a:srgbClr>
            </a:outerShdw>
          </a:effectLst>
        </p:spPr>
      </p:sp>
      <p:sp>
        <p:nvSpPr>
          <p:cNvPr id="16" name="Text 14"/>
          <p:cNvSpPr/>
          <p:nvPr/>
        </p:nvSpPr>
        <p:spPr>
          <a:xfrm>
            <a:off x="8321040" y="1645920"/>
            <a:ext cx="3108960" cy="365760"/>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There is no free lunch</a:t>
            </a:r>
            <a:endParaRPr lang="en-US" sz="1500" dirty="0"/>
          </a:p>
        </p:txBody>
      </p:sp>
      <p:sp>
        <p:nvSpPr>
          <p:cNvPr id="17" name="Text 15"/>
          <p:cNvSpPr/>
          <p:nvPr/>
        </p:nvSpPr>
        <p:spPr>
          <a:xfrm>
            <a:off x="8321040" y="2084832"/>
            <a:ext cx="3108960" cy="86868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To set Phi = U you would have to already know U - which is the thing you were trying to compute.</a:t>
            </a:r>
            <a:endParaRPr lang="en-US" sz="1300" dirty="0"/>
          </a:p>
        </p:txBody>
      </p:sp>
      <p:sp>
        <p:nvSpPr>
          <p:cNvPr id="18" name="Text 16"/>
          <p:cNvSpPr/>
          <p:nvPr/>
        </p:nvSpPr>
        <p:spPr>
          <a:xfrm>
            <a:off x="8321040" y="2980944"/>
            <a:ext cx="310896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But there is still real value in making the reward reflect what you want, as far as you can. A rough guess at U is still a useful Phi.</a:t>
            </a:r>
            <a:endParaRPr lang="en-US" sz="1300" dirty="0"/>
          </a:p>
        </p:txBody>
      </p:sp>
      <p:sp>
        <p:nvSpPr>
          <p:cNvPr id="19" name="Text 17"/>
          <p:cNvSpPr/>
          <p:nvPr/>
        </p:nvSpPr>
        <p:spPr>
          <a:xfrm>
            <a:off x="8321040" y="3968496"/>
            <a:ext cx="3108960" cy="685800"/>
          </a:xfrm>
          <a:prstGeom prst="rect">
            <a:avLst/>
          </a:prstGeom>
          <a:noFill/>
          <a:ln/>
        </p:spPr>
        <p:txBody>
          <a:bodyPr wrap="square" lIns="0" tIns="0" rIns="0" bIns="0" rtlCol="0" anchor="t"/>
          <a:lstStyle/>
          <a:p>
            <a:pPr indent="0" marL="0">
              <a:buNone/>
            </a:pPr>
            <a:r>
              <a:rPr lang="en-US" sz="1200" i="1" dirty="0">
                <a:solidFill>
                  <a:srgbClr val="A9C0CF"/>
                </a:solidFill>
                <a:latin typeface="Calibri" pitchFamily="34" charset="0"/>
                <a:ea typeface="Calibri" pitchFamily="34" charset="-122"/>
                <a:cs typeface="Calibri" pitchFamily="34" charset="-120"/>
              </a:rPr>
              <a:t>This is exactly what animal trainers do when they give a treat for each step of a target sequence.</a:t>
            </a:r>
            <a:endParaRPr lang="en-US" sz="1200" dirty="0"/>
          </a:p>
        </p:txBody>
      </p:sp>
      <p:sp>
        <p:nvSpPr>
          <p:cNvPr id="20" name="Shape 18"/>
          <p:cNvSpPr/>
          <p:nvPr/>
        </p:nvSpPr>
        <p:spPr>
          <a:xfrm>
            <a:off x="566928" y="4956048"/>
            <a:ext cx="11057839" cy="1078992"/>
          </a:xfrm>
          <a:prstGeom prst="roundRect">
            <a:avLst>
              <a:gd name="adj" fmla="val 7627"/>
            </a:avLst>
          </a:prstGeom>
          <a:solidFill>
            <a:srgbClr val="F5DFA8"/>
          </a:solidFill>
          <a:ln/>
        </p:spPr>
      </p:sp>
      <p:sp>
        <p:nvSpPr>
          <p:cNvPr id="21" name="Text 19"/>
          <p:cNvSpPr/>
          <p:nvPr/>
        </p:nvSpPr>
        <p:spPr>
          <a:xfrm>
            <a:off x="804672" y="4956048"/>
            <a:ext cx="10582351" cy="1078992"/>
          </a:xfrm>
          <a:prstGeom prst="rect">
            <a:avLst/>
          </a:prstGeom>
          <a:noFill/>
          <a:ln/>
        </p:spPr>
        <p:txBody>
          <a:bodyPr wrap="square" lIns="0" tIns="0" rIns="0" bIns="0" rtlCol="0" anchor="ctr"/>
          <a:lstStyle/>
          <a:p>
            <a:pPr indent="0" marL="0">
              <a:buNone/>
            </a:pPr>
            <a:r>
              <a:rPr lang="en-US" sz="1350" b="1" dirty="0">
                <a:solidFill>
                  <a:srgbClr val="10263B"/>
                </a:solidFill>
                <a:latin typeface="Calibri" pitchFamily="34" charset="0"/>
                <a:ea typeface="Calibri" pitchFamily="34" charset="-122"/>
                <a:cs typeface="Calibri" pitchFamily="34" charset="-120"/>
              </a:rPr>
              <a:t>Engineering warning.  </a:t>
            </a:r>
            <a:pPr indent="0" marL="0">
              <a:buNone/>
            </a:pPr>
            <a:r>
              <a:rPr lang="en-US" sz="1350" dirty="0">
                <a:solidFill>
                  <a:srgbClr val="10263B"/>
                </a:solidFill>
                <a:latin typeface="Calibri" pitchFamily="34" charset="0"/>
                <a:ea typeface="Calibri" pitchFamily="34" charset="-122"/>
                <a:cs typeface="Calibri" pitchFamily="34" charset="-120"/>
              </a:rPr>
              <a:t>Shaping is safe only in the potential-based form above. Bonus rewards invented on intuition - two points for moving toward the goal, say - are usually not potential-based, and they change the optimal policy. That is how you get an agent that learns to circle the goal collecting progress bonuses instead of finishing.</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Representing MDPs: when the tables stop fitting</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AIMA 17.1.4</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566928" y="1828800"/>
            <a:ext cx="3456432" cy="2103120"/>
          </a:xfrm>
          <a:prstGeom prst="roundRect">
            <a:avLst>
              <a:gd name="adj" fmla="val 3913"/>
            </a:avLst>
          </a:prstGeom>
          <a:solidFill>
            <a:srgbClr val="EDF2F5"/>
          </a:solidFill>
          <a:ln/>
          <a:effectLst>
            <a:outerShdw sx="100000" sy="100000" kx="0" ky="0" algn="bl" rotWithShape="0" blurRad="101600" dist="17780" dir="5400000">
              <a:srgbClr val="9FB2BF">
                <a:alpha val="20000"/>
              </a:srgbClr>
            </a:outerShdw>
          </a:effectLst>
        </p:spPr>
      </p:sp>
      <p:sp>
        <p:nvSpPr>
          <p:cNvPr id="7" name="Text 5"/>
          <p:cNvSpPr/>
          <p:nvPr/>
        </p:nvSpPr>
        <p:spPr>
          <a:xfrm>
            <a:off x="768096" y="1956816"/>
            <a:ext cx="3054096"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Atomic: big tables</a:t>
            </a:r>
            <a:endParaRPr lang="en-US" sz="1500" dirty="0"/>
          </a:p>
        </p:txBody>
      </p:sp>
      <p:sp>
        <p:nvSpPr>
          <p:cNvPr id="8" name="Text 6"/>
          <p:cNvSpPr/>
          <p:nvPr/>
        </p:nvSpPr>
        <p:spPr>
          <a:xfrm>
            <a:off x="768096" y="2322576"/>
            <a:ext cx="3054096" cy="566928"/>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Store P and R as three-dimensional tables of size |S| squared times |A|.</a:t>
            </a:r>
            <a:endParaRPr lang="en-US" sz="1250" dirty="0"/>
          </a:p>
        </p:txBody>
      </p:sp>
      <p:sp>
        <p:nvSpPr>
          <p:cNvPr id="9" name="Text 7"/>
          <p:cNvSpPr/>
          <p:nvPr/>
        </p:nvSpPr>
        <p:spPr>
          <a:xfrm>
            <a:off x="768096" y="2944368"/>
            <a:ext cx="3054096" cy="457200"/>
          </a:xfrm>
          <a:prstGeom prst="rect">
            <a:avLst/>
          </a:prstGeom>
          <a:noFill/>
          <a:ln/>
        </p:spPr>
        <p:txBody>
          <a:bodyPr wrap="square" lIns="0" tIns="0" rIns="0" bIns="0" rtlCol="0" anchor="ctr"/>
          <a:lstStyle/>
          <a:p>
            <a:pPr indent="0" marL="0">
              <a:buNone/>
            </a:pPr>
            <a:r>
              <a:rPr lang="en-US" sz="2000" b="1" dirty="0">
                <a:solidFill>
                  <a:srgbClr val="10263B"/>
                </a:solidFill>
                <a:latin typeface="Cambria" pitchFamily="34" charset="0"/>
                <a:ea typeface="Cambria" pitchFamily="34" charset="-122"/>
                <a:cs typeface="Cambria" pitchFamily="34" charset="-120"/>
              </a:rPr>
              <a:t>11² x 4  =  484</a:t>
            </a:r>
            <a:endParaRPr lang="en-US" sz="2000" dirty="0"/>
          </a:p>
        </p:txBody>
      </p:sp>
      <p:sp>
        <p:nvSpPr>
          <p:cNvPr id="10" name="Text 8"/>
          <p:cNvSpPr/>
          <p:nvPr/>
        </p:nvSpPr>
        <p:spPr>
          <a:xfrm>
            <a:off x="768096" y="3401568"/>
            <a:ext cx="3054096" cy="457200"/>
          </a:xfrm>
          <a:prstGeom prst="rect">
            <a:avLst/>
          </a:prstGeom>
          <a:noFill/>
          <a:ln/>
        </p:spPr>
        <p:txBody>
          <a:bodyPr wrap="square" lIns="0" tIns="0" rIns="0" bIns="0" rtlCol="0" anchor="t"/>
          <a:lstStyle/>
          <a:p>
            <a:pPr indent="0" marL="0">
              <a:buNone/>
            </a:pPr>
            <a:r>
              <a:rPr lang="en-US" sz="1150" dirty="0">
                <a:solidFill>
                  <a:srgbClr val="5C7080"/>
                </a:solidFill>
                <a:latin typeface="Calibri" pitchFamily="34" charset="0"/>
                <a:ea typeface="Calibri" pitchFamily="34" charset="-122"/>
                <a:cs typeface="Calibri" pitchFamily="34" charset="-120"/>
              </a:rPr>
              <a:t>entries each, for the 4 x 3 world. Fine. Often sparse, giving O(|S||A|).</a:t>
            </a:r>
            <a:endParaRPr lang="en-US" sz="1150" dirty="0"/>
          </a:p>
        </p:txBody>
      </p:sp>
      <p:sp>
        <p:nvSpPr>
          <p:cNvPr id="11" name="Shape 9"/>
          <p:cNvSpPr/>
          <p:nvPr/>
        </p:nvSpPr>
        <p:spPr>
          <a:xfrm>
            <a:off x="4224528" y="1828800"/>
            <a:ext cx="3456432" cy="2103120"/>
          </a:xfrm>
          <a:prstGeom prst="roundRect">
            <a:avLst>
              <a:gd name="adj" fmla="val 3913"/>
            </a:avLst>
          </a:prstGeom>
          <a:solidFill>
            <a:srgbClr val="EDF2F5"/>
          </a:solidFill>
          <a:ln/>
          <a:effectLst>
            <a:outerShdw sx="100000" sy="100000" kx="0" ky="0" algn="bl" rotWithShape="0" blurRad="101600" dist="17780" dir="5400000">
              <a:srgbClr val="9FB2BF">
                <a:alpha val="20000"/>
              </a:srgbClr>
            </a:outerShdw>
          </a:effectLst>
        </p:spPr>
      </p:sp>
      <p:sp>
        <p:nvSpPr>
          <p:cNvPr id="12" name="Text 10"/>
          <p:cNvSpPr/>
          <p:nvPr/>
        </p:nvSpPr>
        <p:spPr>
          <a:xfrm>
            <a:off x="4425696" y="1956816"/>
            <a:ext cx="3054096" cy="329184"/>
          </a:xfrm>
          <a:prstGeom prst="rect">
            <a:avLst/>
          </a:prstGeom>
          <a:noFill/>
          <a:ln/>
        </p:spPr>
        <p:txBody>
          <a:bodyPr wrap="square" lIns="0" tIns="0" rIns="0" bIns="0" rtlCol="0" anchor="ctr"/>
          <a:lstStyle/>
          <a:p>
            <a:pPr indent="0" marL="0">
              <a:buNone/>
            </a:pPr>
            <a:r>
              <a:rPr lang="en-US" sz="1500" b="1" dirty="0">
                <a:solidFill>
                  <a:srgbClr val="2E7D5B"/>
                </a:solidFill>
                <a:latin typeface="Cambria" pitchFamily="34" charset="0"/>
                <a:ea typeface="Cambria" pitchFamily="34" charset="-122"/>
                <a:cs typeface="Cambria" pitchFamily="34" charset="-120"/>
              </a:rPr>
              <a:t>Factored: DDNs</a:t>
            </a:r>
            <a:endParaRPr lang="en-US" sz="1500" dirty="0"/>
          </a:p>
        </p:txBody>
      </p:sp>
      <p:sp>
        <p:nvSpPr>
          <p:cNvPr id="13" name="Text 11"/>
          <p:cNvSpPr/>
          <p:nvPr/>
        </p:nvSpPr>
        <p:spPr>
          <a:xfrm>
            <a:off x="4425696" y="2322576"/>
            <a:ext cx="3054096" cy="141732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Extend dynamic Bayesian networks with decision, reward, and utility nodes to get dynamic decision networks. State becomes a set of variables; each action variable touches only a few of them.</a:t>
            </a:r>
            <a:endParaRPr lang="en-US" sz="1250" dirty="0"/>
          </a:p>
        </p:txBody>
      </p:sp>
      <p:sp>
        <p:nvSpPr>
          <p:cNvPr id="14" name="Shape 12"/>
          <p:cNvSpPr/>
          <p:nvPr/>
        </p:nvSpPr>
        <p:spPr>
          <a:xfrm>
            <a:off x="8156448" y="1828800"/>
            <a:ext cx="3456432" cy="2103120"/>
          </a:xfrm>
          <a:prstGeom prst="roundRect">
            <a:avLst>
              <a:gd name="adj" fmla="val 3913"/>
            </a:avLst>
          </a:prstGeom>
          <a:solidFill>
            <a:srgbClr val="EDF2F5"/>
          </a:solidFill>
          <a:ln/>
          <a:effectLst>
            <a:outerShdw sx="100000" sy="100000" kx="0" ky="0" algn="bl" rotWithShape="0" blurRad="101600" dist="17780" dir="5400000">
              <a:srgbClr val="9FB2BF">
                <a:alpha val="20000"/>
              </a:srgbClr>
            </a:outerShdw>
          </a:effectLst>
        </p:spPr>
      </p:sp>
      <p:sp>
        <p:nvSpPr>
          <p:cNvPr id="15" name="Text 13"/>
          <p:cNvSpPr/>
          <p:nvPr/>
        </p:nvSpPr>
        <p:spPr>
          <a:xfrm>
            <a:off x="8357616" y="1956816"/>
            <a:ext cx="3054096" cy="329184"/>
          </a:xfrm>
          <a:prstGeom prst="rect">
            <a:avLst/>
          </a:prstGeom>
          <a:noFill/>
          <a:ln/>
        </p:spPr>
        <p:txBody>
          <a:bodyPr wrap="square" lIns="0" tIns="0" rIns="0" bIns="0" rtlCol="0" anchor="ctr"/>
          <a:lstStyle/>
          <a:p>
            <a:pPr indent="0" marL="0">
              <a:buNone/>
            </a:pPr>
            <a:r>
              <a:rPr lang="en-US" sz="1500" b="1" dirty="0">
                <a:solidFill>
                  <a:srgbClr val="B3341F"/>
                </a:solidFill>
                <a:latin typeface="Cambria" pitchFamily="34" charset="0"/>
                <a:ea typeface="Cambria" pitchFamily="34" charset="-122"/>
                <a:cs typeface="Cambria" pitchFamily="34" charset="-120"/>
              </a:rPr>
              <a:t>Tetris</a:t>
            </a:r>
            <a:endParaRPr lang="en-US" sz="1500" dirty="0"/>
          </a:p>
        </p:txBody>
      </p:sp>
      <p:sp>
        <p:nvSpPr>
          <p:cNvPr id="16" name="Text 14"/>
          <p:cNvSpPr/>
          <p:nvPr/>
        </p:nvSpPr>
        <p:spPr>
          <a:xfrm>
            <a:off x="8357616" y="2322576"/>
            <a:ext cx="3054096" cy="438912"/>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Current piece, next piece, and one bit per board cell:</a:t>
            </a:r>
            <a:endParaRPr lang="en-US" sz="1250" dirty="0"/>
          </a:p>
        </p:txBody>
      </p:sp>
      <p:sp>
        <p:nvSpPr>
          <p:cNvPr id="17" name="Text 15"/>
          <p:cNvSpPr/>
          <p:nvPr/>
        </p:nvSpPr>
        <p:spPr>
          <a:xfrm>
            <a:off x="8357616" y="2798064"/>
            <a:ext cx="3054096" cy="502920"/>
          </a:xfrm>
          <a:prstGeom prst="rect">
            <a:avLst/>
          </a:prstGeom>
          <a:noFill/>
          <a:ln/>
        </p:spPr>
        <p:txBody>
          <a:bodyPr wrap="square" lIns="0" tIns="0" rIns="0" bIns="0" rtlCol="0" anchor="ctr"/>
          <a:lstStyle/>
          <a:p>
            <a:pPr indent="0" marL="0">
              <a:buNone/>
            </a:pPr>
            <a:r>
              <a:rPr lang="en-US" sz="1800" b="1" dirty="0">
                <a:solidFill>
                  <a:srgbClr val="10263B"/>
                </a:solidFill>
                <a:latin typeface="Cambria" pitchFamily="34" charset="0"/>
                <a:ea typeface="Cambria" pitchFamily="34" charset="-122"/>
                <a:cs typeface="Cambria" pitchFamily="34" charset="-120"/>
              </a:rPr>
              <a:t>7 x 7 x 2</a:t>
            </a:r>
            <a:pPr indent="0" marL="0">
              <a:buNone/>
            </a:pPr>
            <a:r>
              <a:rPr lang="en-US" sz="1800" b="1" baseline="30000" dirty="0">
                <a:solidFill>
                  <a:srgbClr val="10263B"/>
                </a:solidFill>
                <a:latin typeface="Cambria" pitchFamily="34" charset="0"/>
                <a:ea typeface="Cambria" pitchFamily="34" charset="-122"/>
                <a:cs typeface="Cambria" pitchFamily="34" charset="-120"/>
              </a:rPr>
              <a:t>200</a:t>
            </a:r>
            <a:pPr indent="0" marL="0">
              <a:buNone/>
            </a:pPr>
            <a:r>
              <a:rPr lang="en-US" sz="1800" b="1" dirty="0">
                <a:solidFill>
                  <a:srgbClr val="10263B"/>
                </a:solidFill>
                <a:latin typeface="Cambria" pitchFamily="34" charset="0"/>
                <a:ea typeface="Cambria" pitchFamily="34" charset="-122"/>
                <a:cs typeface="Cambria" pitchFamily="34" charset="-120"/>
              </a:rPr>
              <a:t>  ≈  10</a:t>
            </a:r>
            <a:pPr indent="0" marL="0">
              <a:buNone/>
            </a:pPr>
            <a:r>
              <a:rPr lang="en-US" sz="1800" b="1" baseline="30000" dirty="0">
                <a:solidFill>
                  <a:srgbClr val="10263B"/>
                </a:solidFill>
                <a:latin typeface="Cambria" pitchFamily="34" charset="0"/>
                <a:ea typeface="Cambria" pitchFamily="34" charset="-122"/>
                <a:cs typeface="Cambria" pitchFamily="34" charset="-120"/>
              </a:rPr>
              <a:t>62</a:t>
            </a:r>
            <a:endParaRPr lang="en-US" sz="1800" dirty="0"/>
          </a:p>
        </p:txBody>
      </p:sp>
      <p:sp>
        <p:nvSpPr>
          <p:cNvPr id="18" name="Text 16"/>
          <p:cNvSpPr/>
          <p:nvPr/>
        </p:nvSpPr>
        <p:spPr>
          <a:xfrm>
            <a:off x="8357616" y="3310128"/>
            <a:ext cx="3054096" cy="548640"/>
          </a:xfrm>
          <a:prstGeom prst="rect">
            <a:avLst/>
          </a:prstGeom>
          <a:noFill/>
          <a:ln/>
        </p:spPr>
        <p:txBody>
          <a:bodyPr wrap="square" lIns="0" tIns="0" rIns="0" bIns="0" rtlCol="0" anchor="t"/>
          <a:lstStyle/>
          <a:p>
            <a:pPr indent="0" marL="0">
              <a:buNone/>
            </a:pPr>
            <a:r>
              <a:rPr lang="en-US" sz="1150" dirty="0">
                <a:solidFill>
                  <a:srgbClr val="5C7080"/>
                </a:solidFill>
                <a:latin typeface="Calibri" pitchFamily="34" charset="0"/>
                <a:ea typeface="Calibri" pitchFamily="34" charset="-122"/>
                <a:cs typeface="Calibri" pitchFamily="34" charset="-120"/>
              </a:rPr>
              <a:t>states. No table will ever hold this. And yet every Tetris policy is proper - the board fills eventually.</a:t>
            </a:r>
            <a:endParaRPr lang="en-US" sz="1150" dirty="0"/>
          </a:p>
        </p:txBody>
      </p:sp>
      <p:sp>
        <p:nvSpPr>
          <p:cNvPr id="19" name="Shape 17"/>
          <p:cNvSpPr/>
          <p:nvPr/>
        </p:nvSpPr>
        <p:spPr>
          <a:xfrm>
            <a:off x="566928" y="4206240"/>
            <a:ext cx="11057839" cy="1828800"/>
          </a:xfrm>
          <a:prstGeom prst="roundRect">
            <a:avLst>
              <a:gd name="adj" fmla="val 4500"/>
            </a:avLst>
          </a:prstGeom>
          <a:solidFill>
            <a:srgbClr val="10263B"/>
          </a:solidFill>
          <a:ln/>
          <a:effectLst>
            <a:outerShdw sx="100000" sy="100000" kx="0" ky="0" algn="bl" rotWithShape="0" blurRad="101600" dist="17780" dir="5400000">
              <a:srgbClr val="9FB2BF">
                <a:alpha val="20000"/>
              </a:srgbClr>
            </a:outerShdw>
          </a:effectLst>
        </p:spPr>
      </p:sp>
      <p:sp>
        <p:nvSpPr>
          <p:cNvPr id="20" name="Text 18"/>
          <p:cNvSpPr/>
          <p:nvPr/>
        </p:nvSpPr>
        <p:spPr>
          <a:xfrm>
            <a:off x="822960" y="4352544"/>
            <a:ext cx="51206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The robot that charges itself</a:t>
            </a:r>
            <a:endParaRPr lang="en-US" sz="1500" dirty="0"/>
          </a:p>
        </p:txBody>
      </p:sp>
      <p:sp>
        <p:nvSpPr>
          <p:cNvPr id="21" name="Text 19"/>
          <p:cNvSpPr/>
          <p:nvPr/>
        </p:nvSpPr>
        <p:spPr>
          <a:xfrm>
            <a:off x="822960" y="4700016"/>
            <a:ext cx="5394960" cy="114300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State decomposes into location and orientation X, its rate of change, a Charging flag, and a Battery level 0 to 5. Actions decompose into Plug/Unplug, LeftWheel power, and RightWheel power. The MDP's state and action spaces are the Cartesian products.</a:t>
            </a:r>
            <a:endParaRPr lang="en-US" sz="1300" dirty="0"/>
          </a:p>
        </p:txBody>
      </p:sp>
      <p:sp>
        <p:nvSpPr>
          <p:cNvPr id="22" name="Text 20"/>
          <p:cNvSpPr/>
          <p:nvPr/>
        </p:nvSpPr>
        <p:spPr>
          <a:xfrm>
            <a:off x="6309360" y="4352544"/>
            <a:ext cx="51206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The trick worth remembering</a:t>
            </a:r>
            <a:endParaRPr lang="en-US" sz="1500" dirty="0"/>
          </a:p>
        </p:txBody>
      </p:sp>
      <p:sp>
        <p:nvSpPr>
          <p:cNvPr id="23" name="Text 21"/>
          <p:cNvSpPr/>
          <p:nvPr/>
        </p:nvSpPr>
        <p:spPr>
          <a:xfrm>
            <a:off x="6309360" y="4700016"/>
            <a:ext cx="5303520" cy="118872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Project the network a few steps forward, then cap the horizon with a utility node instead of expanding further. A heuristic estimate of U stands in for the entire remaining future - exactly the bounded-depth search with an evaluation function we used for games in Chapter 5.</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37</a:t>
            </a:r>
            <a:endParaRPr lang="en-US" sz="900" dirty="0"/>
          </a:p>
        </p:txBody>
      </p:sp>
      <p:sp>
        <p:nvSpPr>
          <p:cNvPr id="4" name="Text 2"/>
          <p:cNvSpPr/>
          <p:nvPr/>
        </p:nvSpPr>
        <p:spPr>
          <a:xfrm>
            <a:off x="566928" y="1417320"/>
            <a:ext cx="2926080" cy="1463040"/>
          </a:xfrm>
          <a:prstGeom prst="rect">
            <a:avLst/>
          </a:prstGeom>
          <a:noFill/>
          <a:ln/>
        </p:spPr>
        <p:txBody>
          <a:bodyPr wrap="square" lIns="0" tIns="0" rIns="0" bIns="0" rtlCol="0" anchor="ctr"/>
          <a:lstStyle/>
          <a:p>
            <a:pPr indent="0" marL="0">
              <a:buNone/>
            </a:pPr>
            <a:r>
              <a:rPr lang="en-US" sz="9600" b="1" dirty="0">
                <a:solidFill>
                  <a:srgbClr val="E0A32E"/>
                </a:solidFill>
                <a:latin typeface="Cambria" pitchFamily="34" charset="0"/>
                <a:ea typeface="Cambria" pitchFamily="34" charset="-122"/>
                <a:cs typeface="Cambria" pitchFamily="34" charset="-120"/>
              </a:rPr>
              <a:t>05</a:t>
            </a:r>
            <a:endParaRPr lang="en-US" sz="9600" dirty="0"/>
          </a:p>
        </p:txBody>
      </p:sp>
      <p:sp>
        <p:nvSpPr>
          <p:cNvPr id="5" name="Text 3"/>
          <p:cNvSpPr/>
          <p:nvPr/>
        </p:nvSpPr>
        <p:spPr>
          <a:xfrm>
            <a:off x="566928" y="2880360"/>
            <a:ext cx="768096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Value Iteration</a:t>
            </a:r>
            <a:endParaRPr lang="en-US" sz="3800" dirty="0"/>
          </a:p>
        </p:txBody>
      </p:sp>
      <p:sp>
        <p:nvSpPr>
          <p:cNvPr id="6" name="Text 4"/>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6FA8BE"/>
                </a:solidFill>
                <a:latin typeface="Calibri" pitchFamily="34" charset="0"/>
                <a:ea typeface="Calibri" pitchFamily="34" charset="-122"/>
                <a:cs typeface="Calibri" pitchFamily="34" charset="-120"/>
              </a:rPr>
              <a:t>AIMA 17.2  |  From characterizing the answer to computing it</a:t>
            </a:r>
            <a:endParaRPr lang="en-US" sz="1600" dirty="0"/>
          </a:p>
        </p:txBody>
      </p:sp>
      <p:sp>
        <p:nvSpPr>
          <p:cNvPr id="7" name="Text 5"/>
          <p:cNvSpPr/>
          <p:nvPr/>
        </p:nvSpPr>
        <p:spPr>
          <a:xfrm>
            <a:off x="8549640" y="2834640"/>
            <a:ext cx="310896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Time-limited values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The algorithm</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A worked example</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Complexity</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Convergence, error bounds, and when to stop</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Characterize, then compute</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38</a:t>
            </a:r>
            <a:endParaRPr lang="en-US" sz="900" dirty="0"/>
          </a:p>
        </p:txBody>
      </p:sp>
      <p:sp>
        <p:nvSpPr>
          <p:cNvPr id="5" name="Shape 3"/>
          <p:cNvSpPr/>
          <p:nvPr/>
        </p:nvSpPr>
        <p:spPr>
          <a:xfrm>
            <a:off x="566928" y="1554480"/>
            <a:ext cx="5349240" cy="2148840"/>
          </a:xfrm>
          <a:prstGeom prst="roundRect">
            <a:avLst>
              <a:gd name="adj" fmla="val 3830"/>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04672" y="1700784"/>
            <a:ext cx="4892040"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The Bellman equations characterize</a:t>
            </a:r>
            <a:endParaRPr lang="en-US" sz="1500" dirty="0"/>
          </a:p>
        </p:txBody>
      </p:sp>
      <p:sp>
        <p:nvSpPr>
          <p:cNvPr id="7" name="Text 5"/>
          <p:cNvSpPr/>
          <p:nvPr/>
        </p:nvSpPr>
        <p:spPr>
          <a:xfrm>
            <a:off x="804672" y="2139696"/>
            <a:ext cx="4892040" cy="548640"/>
          </a:xfrm>
          <a:prstGeom prst="rect">
            <a:avLst/>
          </a:prstGeom>
          <a:noFill/>
          <a:ln/>
        </p:spPr>
        <p:txBody>
          <a:bodyPr wrap="square" lIns="0" tIns="0" rIns="0" bIns="0" rtlCol="0" anchor="ctr"/>
          <a:lstStyle/>
          <a:p>
            <a:pPr indent="0" marL="0">
              <a:buNone/>
            </a:pPr>
            <a:r>
              <a:rPr lang="en-US" sz="1350" b="1" dirty="0">
                <a:solidFill>
                  <a:srgbClr val="10263B"/>
                </a:solidFill>
                <a:latin typeface="Cambria" pitchFamily="34" charset="0"/>
                <a:ea typeface="Cambria" pitchFamily="34" charset="-122"/>
                <a:cs typeface="Cambria" pitchFamily="34" charset="-120"/>
              </a:rPr>
              <a:t>V</a:t>
            </a:r>
            <a:pPr indent="0" marL="0">
              <a:buNone/>
            </a:pPr>
            <a:r>
              <a:rPr lang="en-US" sz="1350" b="1" baseline="30000" dirty="0">
                <a:solidFill>
                  <a:srgbClr val="10263B"/>
                </a:solidFill>
                <a:latin typeface="Cambria" pitchFamily="34" charset="0"/>
                <a:ea typeface="Cambria" pitchFamily="34" charset="-122"/>
                <a:cs typeface="Cambria" pitchFamily="34" charset="-120"/>
              </a:rPr>
              <a:t>*</a:t>
            </a:r>
            <a:pPr indent="0" marL="0">
              <a:buNone/>
            </a:pPr>
            <a:r>
              <a:rPr lang="en-US" sz="1350" b="1" dirty="0">
                <a:solidFill>
                  <a:srgbClr val="10263B"/>
                </a:solidFill>
                <a:latin typeface="Cambria" pitchFamily="34" charset="0"/>
                <a:ea typeface="Cambria" pitchFamily="34" charset="-122"/>
                <a:cs typeface="Cambria" pitchFamily="34" charset="-120"/>
              </a:rPr>
              <a:t>(s) = max</a:t>
            </a:r>
            <a:pPr indent="0" marL="0">
              <a:buNone/>
            </a:pPr>
            <a:r>
              <a:rPr lang="en-US" sz="1350" b="1" baseline="-40000" dirty="0">
                <a:solidFill>
                  <a:srgbClr val="10263B"/>
                </a:solidFill>
                <a:latin typeface="Cambria" pitchFamily="34" charset="0"/>
                <a:ea typeface="Cambria" pitchFamily="34" charset="-122"/>
                <a:cs typeface="Cambria" pitchFamily="34" charset="-120"/>
              </a:rPr>
              <a:t>a</a:t>
            </a:r>
            <a:pPr indent="0" marL="0">
              <a:buNone/>
            </a:pPr>
            <a:r>
              <a:rPr lang="en-US" sz="1350" b="1" dirty="0">
                <a:solidFill>
                  <a:srgbClr val="10263B"/>
                </a:solidFill>
                <a:latin typeface="Cambria" pitchFamily="34" charset="0"/>
                <a:ea typeface="Cambria" pitchFamily="34" charset="-122"/>
                <a:cs typeface="Cambria" pitchFamily="34" charset="-120"/>
              </a:rPr>
              <a:t> Σ</a:t>
            </a:r>
            <a:pPr indent="0" marL="0">
              <a:buNone/>
            </a:pPr>
            <a:r>
              <a:rPr lang="en-US" sz="1350" b="1" baseline="-40000" dirty="0">
                <a:solidFill>
                  <a:srgbClr val="10263B"/>
                </a:solidFill>
                <a:latin typeface="Cambria" pitchFamily="34" charset="0"/>
                <a:ea typeface="Cambria" pitchFamily="34" charset="-122"/>
                <a:cs typeface="Cambria" pitchFamily="34" charset="-120"/>
              </a:rPr>
              <a:t>s'</a:t>
            </a:r>
            <a:pPr indent="0" marL="0">
              <a:buNone/>
            </a:pPr>
            <a:r>
              <a:rPr lang="en-US" sz="1350" b="1" dirty="0">
                <a:solidFill>
                  <a:srgbClr val="10263B"/>
                </a:solidFill>
                <a:latin typeface="Cambria" pitchFamily="34" charset="0"/>
                <a:ea typeface="Cambria" pitchFamily="34" charset="-122"/>
                <a:cs typeface="Cambria" pitchFamily="34" charset="-120"/>
              </a:rPr>
              <a:t> T(s,a,s')[R(s,a,s') + γV</a:t>
            </a:r>
            <a:pPr indent="0" marL="0">
              <a:buNone/>
            </a:pPr>
            <a:r>
              <a:rPr lang="en-US" sz="1350" b="1" baseline="30000" dirty="0">
                <a:solidFill>
                  <a:srgbClr val="10263B"/>
                </a:solidFill>
                <a:latin typeface="Cambria" pitchFamily="34" charset="0"/>
                <a:ea typeface="Cambria" pitchFamily="34" charset="-122"/>
                <a:cs typeface="Cambria" pitchFamily="34" charset="-120"/>
              </a:rPr>
              <a:t>*</a:t>
            </a:r>
            <a:pPr indent="0" marL="0">
              <a:buNone/>
            </a:pPr>
            <a:r>
              <a:rPr lang="en-US" sz="1350" b="1" dirty="0">
                <a:solidFill>
                  <a:srgbClr val="10263B"/>
                </a:solidFill>
                <a:latin typeface="Cambria" pitchFamily="34" charset="0"/>
                <a:ea typeface="Cambria" pitchFamily="34" charset="-122"/>
                <a:cs typeface="Cambria" pitchFamily="34" charset="-120"/>
              </a:rPr>
              <a:t>(s')]</a:t>
            </a:r>
            <a:endParaRPr lang="en-US" sz="1350" dirty="0"/>
          </a:p>
        </p:txBody>
      </p:sp>
      <p:sp>
        <p:nvSpPr>
          <p:cNvPr id="8" name="Text 6"/>
          <p:cNvSpPr/>
          <p:nvPr/>
        </p:nvSpPr>
        <p:spPr>
          <a:xfrm>
            <a:off x="804672" y="2761488"/>
            <a:ext cx="4892040" cy="822960"/>
          </a:xfrm>
          <a:prstGeom prst="rect">
            <a:avLst/>
          </a:prstGeom>
          <a:noFill/>
          <a:ln/>
        </p:spPr>
        <p:txBody>
          <a:bodyPr wrap="square" lIns="0" tIns="0" rIns="0" bIns="0" rtlCol="0" anchor="t"/>
          <a:lstStyle/>
          <a:p>
            <a:pPr indent="0" marL="0">
              <a:buNone/>
            </a:pPr>
            <a:r>
              <a:rPr lang="en-US" sz="1300" dirty="0">
                <a:solidFill>
                  <a:srgbClr val="5C7080"/>
                </a:solidFill>
                <a:latin typeface="Calibri" pitchFamily="34" charset="0"/>
                <a:ea typeface="Calibri" pitchFamily="34" charset="-122"/>
                <a:cs typeface="Calibri" pitchFamily="34" charset="-120"/>
              </a:rPr>
              <a:t>An equality. A condition the answer must satisfy. Says nothing about how to find it.</a:t>
            </a:r>
            <a:endParaRPr lang="en-US" sz="1300" dirty="0"/>
          </a:p>
        </p:txBody>
      </p:sp>
      <p:sp>
        <p:nvSpPr>
          <p:cNvPr id="9" name="Shape 7"/>
          <p:cNvSpPr/>
          <p:nvPr/>
        </p:nvSpPr>
        <p:spPr>
          <a:xfrm>
            <a:off x="6263640" y="1554480"/>
            <a:ext cx="5349240" cy="2148840"/>
          </a:xfrm>
          <a:prstGeom prst="roundRect">
            <a:avLst>
              <a:gd name="adj" fmla="val 3830"/>
            </a:avLst>
          </a:prstGeom>
          <a:solidFill>
            <a:srgbClr val="10263B"/>
          </a:solidFill>
          <a:ln/>
          <a:effectLst>
            <a:outerShdw sx="100000" sy="100000" kx="0" ky="0" algn="bl" rotWithShape="0" blurRad="101600" dist="17780" dir="5400000">
              <a:srgbClr val="9FB2BF">
                <a:alpha val="20000"/>
              </a:srgbClr>
            </a:outerShdw>
          </a:effectLst>
        </p:spPr>
      </p:sp>
      <p:sp>
        <p:nvSpPr>
          <p:cNvPr id="10" name="Text 8"/>
          <p:cNvSpPr/>
          <p:nvPr/>
        </p:nvSpPr>
        <p:spPr>
          <a:xfrm>
            <a:off x="6501384" y="1700784"/>
            <a:ext cx="48920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Value iteration computes</a:t>
            </a:r>
            <a:endParaRPr lang="en-US" sz="1500" dirty="0"/>
          </a:p>
        </p:txBody>
      </p:sp>
      <p:sp>
        <p:nvSpPr>
          <p:cNvPr id="11" name="Text 9"/>
          <p:cNvSpPr/>
          <p:nvPr/>
        </p:nvSpPr>
        <p:spPr>
          <a:xfrm>
            <a:off x="6501384" y="2139696"/>
            <a:ext cx="4892040" cy="548640"/>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V</a:t>
            </a:r>
            <a:pPr indent="0" marL="0">
              <a:buNone/>
            </a:pPr>
            <a:r>
              <a:rPr lang="en-US" sz="1350" b="1" baseline="-40000" dirty="0">
                <a:solidFill>
                  <a:srgbClr val="FFFFFF"/>
                </a:solidFill>
                <a:latin typeface="Cambria" pitchFamily="34" charset="0"/>
                <a:ea typeface="Cambria" pitchFamily="34" charset="-122"/>
                <a:cs typeface="Cambria" pitchFamily="34" charset="-120"/>
              </a:rPr>
              <a:t>k+1</a:t>
            </a:r>
            <a:pPr indent="0" marL="0">
              <a:buNone/>
            </a:pPr>
            <a:r>
              <a:rPr lang="en-US" sz="1350" b="1" dirty="0">
                <a:solidFill>
                  <a:srgbClr val="FFFFFF"/>
                </a:solidFill>
                <a:latin typeface="Cambria" pitchFamily="34" charset="0"/>
                <a:ea typeface="Cambria" pitchFamily="34" charset="-122"/>
                <a:cs typeface="Cambria" pitchFamily="34" charset="-120"/>
              </a:rPr>
              <a:t>(s) ← max</a:t>
            </a:r>
            <a:pPr indent="0" marL="0">
              <a:buNone/>
            </a:pPr>
            <a:r>
              <a:rPr lang="en-US" sz="1350" b="1" baseline="-40000" dirty="0">
                <a:solidFill>
                  <a:srgbClr val="FFFFFF"/>
                </a:solidFill>
                <a:latin typeface="Cambria" pitchFamily="34" charset="0"/>
                <a:ea typeface="Cambria" pitchFamily="34" charset="-122"/>
                <a:cs typeface="Cambria" pitchFamily="34" charset="-120"/>
              </a:rPr>
              <a:t>a</a:t>
            </a:r>
            <a:pPr indent="0" marL="0">
              <a:buNone/>
            </a:pPr>
            <a:r>
              <a:rPr lang="en-US" sz="1350" b="1" dirty="0">
                <a:solidFill>
                  <a:srgbClr val="FFFFFF"/>
                </a:solidFill>
                <a:latin typeface="Cambria" pitchFamily="34" charset="0"/>
                <a:ea typeface="Cambria" pitchFamily="34" charset="-122"/>
                <a:cs typeface="Cambria" pitchFamily="34" charset="-120"/>
              </a:rPr>
              <a:t> Σ</a:t>
            </a:r>
            <a:pPr indent="0" marL="0">
              <a:buNone/>
            </a:pPr>
            <a:r>
              <a:rPr lang="en-US" sz="1350" b="1" baseline="-40000" dirty="0">
                <a:solidFill>
                  <a:srgbClr val="FFFFFF"/>
                </a:solidFill>
                <a:latin typeface="Cambria" pitchFamily="34" charset="0"/>
                <a:ea typeface="Cambria" pitchFamily="34" charset="-122"/>
                <a:cs typeface="Cambria" pitchFamily="34" charset="-120"/>
              </a:rPr>
              <a:t>s'</a:t>
            </a:r>
            <a:pPr indent="0" marL="0">
              <a:buNone/>
            </a:pPr>
            <a:r>
              <a:rPr lang="en-US" sz="1350" b="1" dirty="0">
                <a:solidFill>
                  <a:srgbClr val="FFFFFF"/>
                </a:solidFill>
                <a:latin typeface="Cambria" pitchFamily="34" charset="0"/>
                <a:ea typeface="Cambria" pitchFamily="34" charset="-122"/>
                <a:cs typeface="Cambria" pitchFamily="34" charset="-120"/>
              </a:rPr>
              <a:t> T(s,a,s')[R(s,a,s') + γV</a:t>
            </a:r>
            <a:pPr indent="0" marL="0">
              <a:buNone/>
            </a:pPr>
            <a:r>
              <a:rPr lang="en-US" sz="1350" b="1" baseline="-40000" dirty="0">
                <a:solidFill>
                  <a:srgbClr val="FFFFFF"/>
                </a:solidFill>
                <a:latin typeface="Cambria" pitchFamily="34" charset="0"/>
                <a:ea typeface="Cambria" pitchFamily="34" charset="-122"/>
                <a:cs typeface="Cambria" pitchFamily="34" charset="-120"/>
              </a:rPr>
              <a:t>k</a:t>
            </a:r>
            <a:pPr indent="0" marL="0">
              <a:buNone/>
            </a:pPr>
            <a:r>
              <a:rPr lang="en-US" sz="1350" b="1" dirty="0">
                <a:solidFill>
                  <a:srgbClr val="FFFFFF"/>
                </a:solidFill>
                <a:latin typeface="Cambria" pitchFamily="34" charset="0"/>
                <a:ea typeface="Cambria" pitchFamily="34" charset="-122"/>
                <a:cs typeface="Cambria" pitchFamily="34" charset="-120"/>
              </a:rPr>
              <a:t>(s')]</a:t>
            </a:r>
            <a:endParaRPr lang="en-US" sz="1350" dirty="0"/>
          </a:p>
        </p:txBody>
      </p:sp>
      <p:sp>
        <p:nvSpPr>
          <p:cNvPr id="12" name="Text 10"/>
          <p:cNvSpPr/>
          <p:nvPr/>
        </p:nvSpPr>
        <p:spPr>
          <a:xfrm>
            <a:off x="6501384" y="2761488"/>
            <a:ext cx="4892040" cy="822960"/>
          </a:xfrm>
          <a:prstGeom prst="rect">
            <a:avLst/>
          </a:prstGeom>
          <a:noFill/>
          <a:ln/>
        </p:spPr>
        <p:txBody>
          <a:bodyPr wrap="square" lIns="0" tIns="0" rIns="0" bIns="0" rtlCol="0" anchor="t"/>
          <a:lstStyle/>
          <a:p>
            <a:pPr indent="0" marL="0">
              <a:buNone/>
            </a:pPr>
            <a:r>
              <a:rPr lang="en-US" sz="1300" dirty="0">
                <a:solidFill>
                  <a:srgbClr val="A9C0CF"/>
                </a:solidFill>
                <a:latin typeface="Calibri" pitchFamily="34" charset="0"/>
                <a:ea typeface="Calibri" pitchFamily="34" charset="-122"/>
                <a:cs typeface="Calibri" pitchFamily="34" charset="-120"/>
              </a:rPr>
              <a:t>An assignment, and a subscript. Almost the same glyphs, completely different object: a procedure that produces a sequence of approximations.</a:t>
            </a:r>
            <a:endParaRPr lang="en-US" sz="1300" dirty="0"/>
          </a:p>
        </p:txBody>
      </p:sp>
      <p:sp>
        <p:nvSpPr>
          <p:cNvPr id="13" name="Text 11"/>
          <p:cNvSpPr/>
          <p:nvPr/>
        </p:nvSpPr>
        <p:spPr>
          <a:xfrm>
            <a:off x="566928" y="3931920"/>
            <a:ext cx="11057839" cy="411480"/>
          </a:xfrm>
          <a:prstGeom prst="rect">
            <a:avLst/>
          </a:prstGeom>
          <a:noFill/>
          <a:ln/>
        </p:spPr>
        <p:txBody>
          <a:bodyPr wrap="square" lIns="0" tIns="0" rIns="0" bIns="0" rtlCol="0" anchor="ctr"/>
          <a:lstStyle/>
          <a:p>
            <a:pPr algn="ctr" indent="0" marL="0">
              <a:buNone/>
            </a:pPr>
            <a:r>
              <a:rPr lang="en-US" sz="1600" b="1" dirty="0">
                <a:solidFill>
                  <a:srgbClr val="10263B"/>
                </a:solidFill>
                <a:latin typeface="Cambria" pitchFamily="34" charset="0"/>
                <a:ea typeface="Cambria" pitchFamily="34" charset="-122"/>
                <a:cs typeface="Cambria" pitchFamily="34" charset="-120"/>
              </a:rPr>
              <a:t>Two changes, and only two: the equals sign becomes an arrow, and subscripts appear.</a:t>
            </a:r>
            <a:endParaRPr lang="en-US" sz="1600" dirty="0"/>
          </a:p>
        </p:txBody>
      </p:sp>
      <p:sp>
        <p:nvSpPr>
          <p:cNvPr id="14" name="Shape 12"/>
          <p:cNvSpPr/>
          <p:nvPr/>
        </p:nvSpPr>
        <p:spPr>
          <a:xfrm>
            <a:off x="566928" y="4572000"/>
            <a:ext cx="11057839" cy="1417320"/>
          </a:xfrm>
          <a:prstGeom prst="roundRect">
            <a:avLst>
              <a:gd name="adj" fmla="val 5806"/>
            </a:avLst>
          </a:prstGeom>
          <a:solidFill>
            <a:srgbClr val="F7FAFB"/>
          </a:solidFill>
          <a:ln w="12700">
            <a:solidFill>
              <a:srgbClr val="D3DDE3"/>
            </a:solidFill>
            <a:prstDash val="solid"/>
          </a:ln>
          <a:effectLst>
            <a:outerShdw sx="100000" sy="100000" kx="0" ky="0" algn="bl" rotWithShape="0" blurRad="101600" dist="17780" dir="5400000">
              <a:srgbClr val="9FB2BF">
                <a:alpha val="20000"/>
              </a:srgbClr>
            </a:outerShdw>
          </a:effectLst>
        </p:spPr>
      </p:sp>
      <p:sp>
        <p:nvSpPr>
          <p:cNvPr id="15" name="Text 13"/>
          <p:cNvSpPr/>
          <p:nvPr/>
        </p:nvSpPr>
        <p:spPr>
          <a:xfrm>
            <a:off x="822960" y="4700016"/>
            <a:ext cx="10515600" cy="1188720"/>
          </a:xfrm>
          <a:prstGeom prst="rect">
            <a:avLst/>
          </a:prstGeom>
          <a:noFill/>
          <a:ln/>
        </p:spPr>
        <p:txBody>
          <a:bodyPr wrap="square" lIns="0" tIns="0" rIns="0" bIns="0" rtlCol="0" anchor="t"/>
          <a:lstStyle/>
          <a:p>
            <a:pPr indent="0" marL="0">
              <a:buNone/>
            </a:pPr>
            <a:r>
              <a:rPr lang="en-US" sz="1400" dirty="0">
                <a:solidFill>
                  <a:srgbClr val="10263B"/>
                </a:solidFill>
                <a:latin typeface="Calibri" pitchFamily="34" charset="0"/>
                <a:ea typeface="Calibri" pitchFamily="34" charset="-122"/>
                <a:cs typeface="Calibri" pitchFamily="34" charset="-120"/>
              </a:rPr>
              <a:t>Value iteration is a fixed-point method. You have a system of equations you cannot solve directly, so you apply an operator that takes a wrong answer and drags it toward the right one, and you keep applying it. The V-k vectors are also interpretable in their own right - and that interpretation is what makes the algorithm easy to remember.</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key idea: time-limited values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39</a:t>
            </a:r>
            <a:endParaRPr lang="en-US" sz="900" dirty="0"/>
          </a:p>
        </p:txBody>
      </p:sp>
      <p:sp>
        <p:nvSpPr>
          <p:cNvPr id="5" name="Shape 3"/>
          <p:cNvSpPr/>
          <p:nvPr/>
        </p:nvSpPr>
        <p:spPr>
          <a:xfrm>
            <a:off x="566928" y="1481328"/>
            <a:ext cx="11057839" cy="960120"/>
          </a:xfrm>
          <a:prstGeom prst="roundRect">
            <a:avLst>
              <a:gd name="adj" fmla="val 8571"/>
            </a:avLst>
          </a:prstGeom>
          <a:solidFill>
            <a:srgbClr val="1C7293"/>
          </a:solidFill>
          <a:ln/>
        </p:spPr>
      </p:sp>
      <p:sp>
        <p:nvSpPr>
          <p:cNvPr id="6" name="Text 4"/>
          <p:cNvSpPr/>
          <p:nvPr/>
        </p:nvSpPr>
        <p:spPr>
          <a:xfrm>
            <a:off x="841248" y="1481328"/>
            <a:ext cx="10515600" cy="96012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V-k(s) is the optimal value of s if the game ends in exactly k more time steps.</a:t>
            </a:r>
            <a:endParaRPr lang="en-US" sz="1900" dirty="0"/>
          </a:p>
        </p:txBody>
      </p:sp>
      <p:sp>
        <p:nvSpPr>
          <p:cNvPr id="7" name="Text 5"/>
          <p:cNvSpPr/>
          <p:nvPr/>
        </p:nvSpPr>
        <p:spPr>
          <a:xfrm>
            <a:off x="566928" y="2596896"/>
            <a:ext cx="11057839" cy="365760"/>
          </a:xfrm>
          <a:prstGeom prst="rect">
            <a:avLst/>
          </a:prstGeom>
          <a:noFill/>
          <a:ln/>
        </p:spPr>
        <p:txBody>
          <a:bodyPr wrap="square" lIns="0" tIns="0" rIns="0" bIns="0" rtlCol="0" anchor="ctr"/>
          <a:lstStyle/>
          <a:p>
            <a:pPr indent="0" marL="0">
              <a:buNone/>
            </a:pPr>
            <a:r>
              <a:rPr lang="en-US" sz="1500" i="1" dirty="0">
                <a:solidFill>
                  <a:srgbClr val="10263B"/>
                </a:solidFill>
                <a:latin typeface="Calibri" pitchFamily="34" charset="0"/>
                <a:ea typeface="Calibri" pitchFamily="34" charset="-122"/>
                <a:cs typeface="Calibri" pitchFamily="34" charset="-120"/>
              </a:rPr>
              <a:t>Equivalently: V-k(s) is what a depth-k expectimax search from s would return.</a:t>
            </a:r>
            <a:endParaRPr lang="en-US" sz="1500" dirty="0"/>
          </a:p>
        </p:txBody>
      </p:sp>
      <p:sp>
        <p:nvSpPr>
          <p:cNvPr id="8" name="Shape 6"/>
          <p:cNvSpPr/>
          <p:nvPr/>
        </p:nvSpPr>
        <p:spPr>
          <a:xfrm>
            <a:off x="566928" y="3127248"/>
            <a:ext cx="11057839" cy="896112"/>
          </a:xfrm>
          <a:prstGeom prst="roundRect">
            <a:avLst>
              <a:gd name="adj" fmla="val 9184"/>
            </a:avLst>
          </a:prstGeom>
          <a:solidFill>
            <a:srgbClr val="EDF2F5"/>
          </a:solidFill>
          <a:ln/>
          <a:effectLst>
            <a:outerShdw sx="100000" sy="100000" kx="0" ky="0" algn="bl" rotWithShape="0" blurRad="101600" dist="17780" dir="5400000">
              <a:srgbClr val="9FB2BF">
                <a:alpha val="20000"/>
              </a:srgbClr>
            </a:outerShdw>
          </a:effectLst>
        </p:spPr>
      </p:sp>
      <p:sp>
        <p:nvSpPr>
          <p:cNvPr id="9" name="Shape 7"/>
          <p:cNvSpPr/>
          <p:nvPr/>
        </p:nvSpPr>
        <p:spPr>
          <a:xfrm>
            <a:off x="768096" y="3291840"/>
            <a:ext cx="914400" cy="566928"/>
          </a:xfrm>
          <a:prstGeom prst="roundRect">
            <a:avLst>
              <a:gd name="adj" fmla="val 9677"/>
            </a:avLst>
          </a:prstGeom>
          <a:solidFill>
            <a:srgbClr val="5C7080"/>
          </a:solidFill>
          <a:ln/>
        </p:spPr>
      </p:sp>
      <p:sp>
        <p:nvSpPr>
          <p:cNvPr id="10" name="Text 8"/>
          <p:cNvSpPr/>
          <p:nvPr/>
        </p:nvSpPr>
        <p:spPr>
          <a:xfrm>
            <a:off x="768096" y="3291840"/>
            <a:ext cx="9144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a:t>
            </a:r>
            <a:pPr algn="ctr" indent="0" marL="0">
              <a:buNone/>
            </a:pPr>
            <a:r>
              <a:rPr lang="en-US" sz="1600" b="1" baseline="-40000" dirty="0">
                <a:solidFill>
                  <a:srgbClr val="FFFFFF"/>
                </a:solidFill>
                <a:latin typeface="Cambria" pitchFamily="34" charset="0"/>
                <a:ea typeface="Cambria" pitchFamily="34" charset="-122"/>
                <a:cs typeface="Cambria" pitchFamily="34" charset="-120"/>
              </a:rPr>
              <a:t>0</a:t>
            </a:r>
            <a:endParaRPr lang="en-US" sz="1600" dirty="0"/>
          </a:p>
        </p:txBody>
      </p:sp>
      <p:sp>
        <p:nvSpPr>
          <p:cNvPr id="11" name="Text 9"/>
          <p:cNvSpPr/>
          <p:nvPr/>
        </p:nvSpPr>
        <p:spPr>
          <a:xfrm>
            <a:off x="1865376" y="3200400"/>
            <a:ext cx="9509760" cy="7772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Zero steps left. You collect no more rewards, so the sum is zero, for every state. Obviously correct and completely useless - which is exactly what you want from a base case.</a:t>
            </a:r>
            <a:endParaRPr lang="en-US" sz="1350" dirty="0"/>
          </a:p>
        </p:txBody>
      </p:sp>
      <p:sp>
        <p:nvSpPr>
          <p:cNvPr id="12" name="Shape 10"/>
          <p:cNvSpPr/>
          <p:nvPr/>
        </p:nvSpPr>
        <p:spPr>
          <a:xfrm>
            <a:off x="566928" y="4133088"/>
            <a:ext cx="11057839" cy="896112"/>
          </a:xfrm>
          <a:prstGeom prst="roundRect">
            <a:avLst>
              <a:gd name="adj" fmla="val 9184"/>
            </a:avLst>
          </a:prstGeom>
          <a:solidFill>
            <a:srgbClr val="F7FAFB"/>
          </a:solidFill>
          <a:ln/>
          <a:effectLst>
            <a:outerShdw sx="100000" sy="100000" kx="0" ky="0" algn="bl" rotWithShape="0" blurRad="101600" dist="17780" dir="5400000">
              <a:srgbClr val="9FB2BF">
                <a:alpha val="20000"/>
              </a:srgbClr>
            </a:outerShdw>
          </a:effectLst>
        </p:spPr>
      </p:sp>
      <p:sp>
        <p:nvSpPr>
          <p:cNvPr id="13" name="Shape 11"/>
          <p:cNvSpPr/>
          <p:nvPr/>
        </p:nvSpPr>
        <p:spPr>
          <a:xfrm>
            <a:off x="768096" y="4297680"/>
            <a:ext cx="914400" cy="566928"/>
          </a:xfrm>
          <a:prstGeom prst="roundRect">
            <a:avLst>
              <a:gd name="adj" fmla="val 9677"/>
            </a:avLst>
          </a:prstGeom>
          <a:solidFill>
            <a:srgbClr val="1C7293"/>
          </a:solidFill>
          <a:ln/>
        </p:spPr>
      </p:sp>
      <p:sp>
        <p:nvSpPr>
          <p:cNvPr id="14" name="Text 12"/>
          <p:cNvSpPr/>
          <p:nvPr/>
        </p:nvSpPr>
        <p:spPr>
          <a:xfrm>
            <a:off x="768096" y="4297680"/>
            <a:ext cx="9144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a:t>
            </a:r>
            <a:pPr algn="ctr" indent="0" marL="0">
              <a:buNone/>
            </a:pPr>
            <a:r>
              <a:rPr lang="en-US" sz="1600" b="1" baseline="-40000" dirty="0">
                <a:solidFill>
                  <a:srgbClr val="FFFFFF"/>
                </a:solidFill>
                <a:latin typeface="Cambria" pitchFamily="34" charset="0"/>
                <a:ea typeface="Cambria" pitchFamily="34" charset="-122"/>
                <a:cs typeface="Cambria" pitchFamily="34" charset="-120"/>
              </a:rPr>
              <a:t>1</a:t>
            </a:r>
            <a:endParaRPr lang="en-US" sz="1600" dirty="0"/>
          </a:p>
        </p:txBody>
      </p:sp>
      <p:sp>
        <p:nvSpPr>
          <p:cNvPr id="15" name="Text 13"/>
          <p:cNvSpPr/>
          <p:nvPr/>
        </p:nvSpPr>
        <p:spPr>
          <a:xfrm>
            <a:off x="1865376" y="4206240"/>
            <a:ext cx="9509760" cy="7772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One more reward. From a gridworld exit square you can take the exit and collect it. From anywhere else you collect only the living reward.</a:t>
            </a:r>
            <a:endParaRPr lang="en-US" sz="1350" dirty="0"/>
          </a:p>
        </p:txBody>
      </p:sp>
      <p:sp>
        <p:nvSpPr>
          <p:cNvPr id="16" name="Shape 14"/>
          <p:cNvSpPr/>
          <p:nvPr/>
        </p:nvSpPr>
        <p:spPr>
          <a:xfrm>
            <a:off x="566928" y="5138928"/>
            <a:ext cx="11057839" cy="896112"/>
          </a:xfrm>
          <a:prstGeom prst="roundRect">
            <a:avLst>
              <a:gd name="adj" fmla="val 9184"/>
            </a:avLst>
          </a:prstGeom>
          <a:solidFill>
            <a:srgbClr val="EDF2F5"/>
          </a:solidFill>
          <a:ln/>
          <a:effectLst>
            <a:outerShdw sx="100000" sy="100000" kx="0" ky="0" algn="bl" rotWithShape="0" blurRad="101600" dist="17780" dir="5400000">
              <a:srgbClr val="9FB2BF">
                <a:alpha val="20000"/>
              </a:srgbClr>
            </a:outerShdw>
          </a:effectLst>
        </p:spPr>
      </p:sp>
      <p:sp>
        <p:nvSpPr>
          <p:cNvPr id="17" name="Shape 15"/>
          <p:cNvSpPr/>
          <p:nvPr/>
        </p:nvSpPr>
        <p:spPr>
          <a:xfrm>
            <a:off x="768096" y="5303520"/>
            <a:ext cx="914400" cy="566928"/>
          </a:xfrm>
          <a:prstGeom prst="roundRect">
            <a:avLst>
              <a:gd name="adj" fmla="val 9677"/>
            </a:avLst>
          </a:prstGeom>
          <a:solidFill>
            <a:srgbClr val="2E7D5B"/>
          </a:solidFill>
          <a:ln/>
        </p:spPr>
      </p:sp>
      <p:sp>
        <p:nvSpPr>
          <p:cNvPr id="18" name="Text 16"/>
          <p:cNvSpPr/>
          <p:nvPr/>
        </p:nvSpPr>
        <p:spPr>
          <a:xfrm>
            <a:off x="768096" y="5303520"/>
            <a:ext cx="914400"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V</a:t>
            </a:r>
            <a:pPr algn="ctr" indent="0" marL="0">
              <a:buNone/>
            </a:pPr>
            <a:r>
              <a:rPr lang="en-US" sz="1600" b="1" baseline="-40000" dirty="0">
                <a:solidFill>
                  <a:srgbClr val="FFFFFF"/>
                </a:solidFill>
                <a:latin typeface="Cambria" pitchFamily="34" charset="0"/>
                <a:ea typeface="Cambria" pitchFamily="34" charset="-122"/>
                <a:cs typeface="Cambria" pitchFamily="34" charset="-120"/>
              </a:rPr>
              <a:t>k</a:t>
            </a:r>
            <a:endParaRPr lang="en-US" sz="1600" dirty="0"/>
          </a:p>
        </p:txBody>
      </p:sp>
      <p:sp>
        <p:nvSpPr>
          <p:cNvPr id="19" name="Text 17"/>
          <p:cNvSpPr/>
          <p:nvPr/>
        </p:nvSpPr>
        <p:spPr>
          <a:xfrm>
            <a:off x="1865376" y="5212080"/>
            <a:ext cx="9509760" cy="7772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k more rewards, played optimally over that horizon. Note that a depth-k expectimax solves this exactly - the game genuinely ends at depth k, so there is nothing to approximate.</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value iteration algorithm</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40</a:t>
            </a:r>
            <a:endParaRPr lang="en-US" sz="900" dirty="0"/>
          </a:p>
        </p:txBody>
      </p:sp>
      <p:sp>
        <p:nvSpPr>
          <p:cNvPr id="5" name="Shape 3"/>
          <p:cNvSpPr/>
          <p:nvPr/>
        </p:nvSpPr>
        <p:spPr>
          <a:xfrm>
            <a:off x="566928" y="1444752"/>
            <a:ext cx="6903720" cy="3703320"/>
          </a:xfrm>
          <a:prstGeom prst="roundRect">
            <a:avLst>
              <a:gd name="adj" fmla="val 2222"/>
            </a:avLst>
          </a:prstGeom>
          <a:solidFill>
            <a:srgbClr val="F7FAFB"/>
          </a:solidFill>
          <a:ln w="12700">
            <a:solidFill>
              <a:srgbClr val="D3DDE3"/>
            </a:solidFill>
            <a:prstDash val="solid"/>
          </a:ln>
          <a:effectLst>
            <a:outerShdw sx="100000" sy="100000" kx="0" ky="0" algn="bl" rotWithShape="0" blurRad="101600" dist="17780" dir="5400000">
              <a:srgbClr val="9FB2BF">
                <a:alpha val="20000"/>
              </a:srgbClr>
            </a:outerShdw>
          </a:effectLst>
        </p:spPr>
      </p:sp>
      <p:sp>
        <p:nvSpPr>
          <p:cNvPr id="6" name="Text 4"/>
          <p:cNvSpPr/>
          <p:nvPr/>
        </p:nvSpPr>
        <p:spPr>
          <a:xfrm>
            <a:off x="804672" y="1572768"/>
            <a:ext cx="6400800" cy="310896"/>
          </a:xfrm>
          <a:prstGeom prst="rect">
            <a:avLst/>
          </a:prstGeom>
          <a:noFill/>
          <a:ln/>
        </p:spPr>
        <p:txBody>
          <a:bodyPr wrap="square" lIns="0" tIns="0" rIns="0" bIns="0" rtlCol="0" anchor="ctr"/>
          <a:lstStyle/>
          <a:p>
            <a:pPr indent="0" marL="0">
              <a:buNone/>
            </a:pPr>
            <a:r>
              <a:rPr lang="en-US" sz="1450" b="1" dirty="0">
                <a:solidFill>
                  <a:srgbClr val="1C7293"/>
                </a:solidFill>
                <a:latin typeface="Cambria" pitchFamily="34" charset="0"/>
                <a:ea typeface="Cambria" pitchFamily="34" charset="-122"/>
                <a:cs typeface="Cambria" pitchFamily="34" charset="-120"/>
              </a:rPr>
              <a:t>1.  Initialize</a:t>
            </a:r>
            <a:endParaRPr lang="en-US" sz="1450" dirty="0"/>
          </a:p>
        </p:txBody>
      </p:sp>
      <p:sp>
        <p:nvSpPr>
          <p:cNvPr id="7" name="Text 5"/>
          <p:cNvSpPr/>
          <p:nvPr/>
        </p:nvSpPr>
        <p:spPr>
          <a:xfrm>
            <a:off x="1115568" y="1901952"/>
            <a:ext cx="6035040" cy="329184"/>
          </a:xfrm>
          <a:prstGeom prst="rect">
            <a:avLst/>
          </a:prstGeom>
          <a:noFill/>
          <a:ln/>
        </p:spPr>
        <p:txBody>
          <a:bodyPr wrap="square" lIns="0" tIns="0" rIns="0" bIns="0" rtlCol="0" anchor="ctr"/>
          <a:lstStyle/>
          <a:p>
            <a:pPr indent="0" marL="0">
              <a:buNone/>
            </a:pPr>
            <a:r>
              <a:rPr lang="en-US" sz="1400" dirty="0">
                <a:solidFill>
                  <a:srgbClr val="10263B"/>
                </a:solidFill>
                <a:latin typeface="Courier New" pitchFamily="34" charset="0"/>
                <a:ea typeface="Courier New" pitchFamily="34" charset="-122"/>
                <a:cs typeface="Courier New" pitchFamily="34" charset="-120"/>
              </a:rPr>
              <a:t>V</a:t>
            </a:r>
            <a:pPr indent="0" marL="0">
              <a:buNone/>
            </a:pPr>
            <a:r>
              <a:rPr lang="en-US" sz="1400" baseline="-40000" dirty="0">
                <a:solidFill>
                  <a:srgbClr val="10263B"/>
                </a:solidFill>
                <a:latin typeface="Courier New" pitchFamily="34" charset="0"/>
                <a:ea typeface="Courier New" pitchFamily="34" charset="-122"/>
                <a:cs typeface="Courier New" pitchFamily="34" charset="-120"/>
              </a:rPr>
              <a:t>0</a:t>
            </a:r>
            <a:pPr indent="0" marL="0">
              <a:buNone/>
            </a:pPr>
            <a:r>
              <a:rPr lang="en-US" sz="1400" dirty="0">
                <a:solidFill>
                  <a:srgbClr val="10263B"/>
                </a:solidFill>
                <a:latin typeface="Courier New" pitchFamily="34" charset="0"/>
                <a:ea typeface="Courier New" pitchFamily="34" charset="-122"/>
                <a:cs typeface="Courier New" pitchFamily="34" charset="-120"/>
              </a:rPr>
              <a:t>(s) = 0   for all s</a:t>
            </a:r>
            <a:endParaRPr lang="en-US" sz="1400" dirty="0"/>
          </a:p>
        </p:txBody>
      </p:sp>
      <p:sp>
        <p:nvSpPr>
          <p:cNvPr id="8" name="Text 6"/>
          <p:cNvSpPr/>
          <p:nvPr/>
        </p:nvSpPr>
        <p:spPr>
          <a:xfrm>
            <a:off x="1115568" y="2231136"/>
            <a:ext cx="6035040" cy="292608"/>
          </a:xfrm>
          <a:prstGeom prst="rect">
            <a:avLst/>
          </a:prstGeom>
          <a:noFill/>
          <a:ln/>
        </p:spPr>
        <p:txBody>
          <a:bodyPr wrap="square" lIns="0" tIns="0" rIns="0" bIns="0" rtlCol="0" anchor="ctr"/>
          <a:lstStyle/>
          <a:p>
            <a:pPr indent="0" marL="0">
              <a:buNone/>
            </a:pPr>
            <a:r>
              <a:rPr lang="en-US" sz="1150" dirty="0">
                <a:solidFill>
                  <a:srgbClr val="5C7080"/>
                </a:solidFill>
                <a:latin typeface="Calibri" pitchFamily="34" charset="0"/>
                <a:ea typeface="Calibri" pitchFamily="34" charset="-122"/>
                <a:cs typeface="Calibri" pitchFamily="34" charset="-120"/>
              </a:rPr>
              <a:t>No time steps left means an expected reward sum of zero.</a:t>
            </a:r>
            <a:endParaRPr lang="en-US" sz="1150" dirty="0"/>
          </a:p>
        </p:txBody>
      </p:sp>
      <p:sp>
        <p:nvSpPr>
          <p:cNvPr id="9" name="Text 7"/>
          <p:cNvSpPr/>
          <p:nvPr/>
        </p:nvSpPr>
        <p:spPr>
          <a:xfrm>
            <a:off x="804672" y="2633472"/>
            <a:ext cx="6400800" cy="310896"/>
          </a:xfrm>
          <a:prstGeom prst="rect">
            <a:avLst/>
          </a:prstGeom>
          <a:noFill/>
          <a:ln/>
        </p:spPr>
        <p:txBody>
          <a:bodyPr wrap="square" lIns="0" tIns="0" rIns="0" bIns="0" rtlCol="0" anchor="ctr"/>
          <a:lstStyle/>
          <a:p>
            <a:pPr indent="0" marL="0">
              <a:buNone/>
            </a:pPr>
            <a:r>
              <a:rPr lang="en-US" sz="1450" b="1" dirty="0">
                <a:solidFill>
                  <a:srgbClr val="1C7293"/>
                </a:solidFill>
                <a:latin typeface="Cambria" pitchFamily="34" charset="0"/>
                <a:ea typeface="Cambria" pitchFamily="34" charset="-122"/>
                <a:cs typeface="Cambria" pitchFamily="34" charset="-120"/>
              </a:rPr>
              <a:t>2.  Repeat, for every state s</a:t>
            </a:r>
            <a:endParaRPr lang="en-US" sz="1450" dirty="0"/>
          </a:p>
        </p:txBody>
      </p:sp>
      <p:sp>
        <p:nvSpPr>
          <p:cNvPr id="10" name="Shape 8"/>
          <p:cNvSpPr/>
          <p:nvPr/>
        </p:nvSpPr>
        <p:spPr>
          <a:xfrm>
            <a:off x="1024128" y="2980944"/>
            <a:ext cx="6263640" cy="658368"/>
          </a:xfrm>
          <a:prstGeom prst="roundRect">
            <a:avLst>
              <a:gd name="adj" fmla="val 8333"/>
            </a:avLst>
          </a:prstGeom>
          <a:solidFill>
            <a:srgbClr val="10263B"/>
          </a:solidFill>
          <a:ln/>
        </p:spPr>
      </p:sp>
      <p:sp>
        <p:nvSpPr>
          <p:cNvPr id="11" name="Text 9"/>
          <p:cNvSpPr/>
          <p:nvPr/>
        </p:nvSpPr>
        <p:spPr>
          <a:xfrm>
            <a:off x="1133856" y="2980944"/>
            <a:ext cx="603504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V</a:t>
            </a:r>
            <a:pPr algn="ctr" indent="0" marL="0">
              <a:buNone/>
            </a:pPr>
            <a:r>
              <a:rPr lang="en-US" sz="1400" b="1" baseline="-40000" dirty="0">
                <a:solidFill>
                  <a:srgbClr val="FFFFFF"/>
                </a:solidFill>
                <a:latin typeface="Cambria" pitchFamily="34" charset="0"/>
                <a:ea typeface="Cambria" pitchFamily="34" charset="-122"/>
                <a:cs typeface="Cambria" pitchFamily="34" charset="-120"/>
              </a:rPr>
              <a:t>k+1</a:t>
            </a:r>
            <a:pPr algn="ctr" indent="0" marL="0">
              <a:buNone/>
            </a:pPr>
            <a:r>
              <a:rPr lang="en-US" sz="1400" b="1" dirty="0">
                <a:solidFill>
                  <a:srgbClr val="FFFFFF"/>
                </a:solidFill>
                <a:latin typeface="Cambria" pitchFamily="34" charset="0"/>
                <a:ea typeface="Cambria" pitchFamily="34" charset="-122"/>
                <a:cs typeface="Cambria" pitchFamily="34" charset="-120"/>
              </a:rPr>
              <a:t>(s) ← max</a:t>
            </a:r>
            <a:pPr algn="ctr" indent="0" marL="0">
              <a:buNone/>
            </a:pPr>
            <a:r>
              <a:rPr lang="en-US" sz="1400" b="1" baseline="-40000" dirty="0">
                <a:solidFill>
                  <a:srgbClr val="FFFFFF"/>
                </a:solidFill>
                <a:latin typeface="Cambria" pitchFamily="34" charset="0"/>
                <a:ea typeface="Cambria" pitchFamily="34" charset="-122"/>
                <a:cs typeface="Cambria" pitchFamily="34" charset="-120"/>
              </a:rPr>
              <a:t>a</a:t>
            </a:r>
            <a:pPr algn="ctr" indent="0" marL="0">
              <a:buNone/>
            </a:pPr>
            <a:r>
              <a:rPr lang="en-US" sz="1400" b="1" dirty="0">
                <a:solidFill>
                  <a:srgbClr val="FFFFFF"/>
                </a:solidFill>
                <a:latin typeface="Cambria" pitchFamily="34" charset="0"/>
                <a:ea typeface="Cambria" pitchFamily="34" charset="-122"/>
                <a:cs typeface="Cambria" pitchFamily="34" charset="-120"/>
              </a:rPr>
              <a:t> Σ</a:t>
            </a:r>
            <a:pPr algn="ctr" indent="0" marL="0">
              <a:buNone/>
            </a:pPr>
            <a:r>
              <a:rPr lang="en-US" sz="1400" b="1" baseline="-40000" dirty="0">
                <a:solidFill>
                  <a:srgbClr val="FFFFFF"/>
                </a:solidFill>
                <a:latin typeface="Cambria" pitchFamily="34" charset="0"/>
                <a:ea typeface="Cambria" pitchFamily="34" charset="-122"/>
                <a:cs typeface="Cambria" pitchFamily="34" charset="-120"/>
              </a:rPr>
              <a:t>s'</a:t>
            </a:r>
            <a:pPr algn="ctr" indent="0" marL="0">
              <a:buNone/>
            </a:pPr>
            <a:r>
              <a:rPr lang="en-US" sz="1400" b="1" dirty="0">
                <a:solidFill>
                  <a:srgbClr val="FFFFFF"/>
                </a:solidFill>
                <a:latin typeface="Cambria" pitchFamily="34" charset="0"/>
                <a:ea typeface="Cambria" pitchFamily="34" charset="-122"/>
                <a:cs typeface="Cambria" pitchFamily="34" charset="-120"/>
              </a:rPr>
              <a:t> T(s,a,s') [ R(s,a,s') + γ V</a:t>
            </a:r>
            <a:pPr algn="ctr" indent="0" marL="0">
              <a:buNone/>
            </a:pPr>
            <a:r>
              <a:rPr lang="en-US" sz="1400" b="1" baseline="-40000" dirty="0">
                <a:solidFill>
                  <a:srgbClr val="FFFFFF"/>
                </a:solidFill>
                <a:latin typeface="Cambria" pitchFamily="34" charset="0"/>
                <a:ea typeface="Cambria" pitchFamily="34" charset="-122"/>
                <a:cs typeface="Cambria" pitchFamily="34" charset="-120"/>
              </a:rPr>
              <a:t>k</a:t>
            </a:r>
            <a:pPr algn="ctr" indent="0" marL="0">
              <a:buNone/>
            </a:pPr>
            <a:r>
              <a:rPr lang="en-US" sz="1400" b="1" dirty="0">
                <a:solidFill>
                  <a:srgbClr val="FFFFFF"/>
                </a:solidFill>
                <a:latin typeface="Cambria" pitchFamily="34" charset="0"/>
                <a:ea typeface="Cambria" pitchFamily="34" charset="-122"/>
                <a:cs typeface="Cambria" pitchFamily="34" charset="-120"/>
              </a:rPr>
              <a:t>(s') ]</a:t>
            </a:r>
            <a:endParaRPr lang="en-US" sz="1400" dirty="0"/>
          </a:p>
        </p:txBody>
      </p:sp>
      <p:sp>
        <p:nvSpPr>
          <p:cNvPr id="12" name="Text 10"/>
          <p:cNvSpPr/>
          <p:nvPr/>
        </p:nvSpPr>
        <p:spPr>
          <a:xfrm>
            <a:off x="1115568" y="3712464"/>
            <a:ext cx="6172200" cy="502920"/>
          </a:xfrm>
          <a:prstGeom prst="rect">
            <a:avLst/>
          </a:prstGeom>
          <a:noFill/>
          <a:ln/>
        </p:spPr>
        <p:txBody>
          <a:bodyPr wrap="square" lIns="0" tIns="0" rIns="0" bIns="0" rtlCol="0" anchor="t"/>
          <a:lstStyle/>
          <a:p>
            <a:pPr indent="0" marL="0">
              <a:buNone/>
            </a:pPr>
            <a:r>
              <a:rPr lang="en-US" sz="1150" dirty="0">
                <a:solidFill>
                  <a:srgbClr val="5C7080"/>
                </a:solidFill>
                <a:latin typeface="Calibri" pitchFamily="34" charset="0"/>
                <a:ea typeface="Calibri" pitchFamily="34" charset="-122"/>
                <a:cs typeface="Calibri" pitchFamily="34" charset="-120"/>
              </a:rPr>
              <a:t>One ply of expectimax from each state. Whenever the computation asks for V-k, look it up - you computed it last round.</a:t>
            </a:r>
            <a:endParaRPr lang="en-US" sz="1150" dirty="0"/>
          </a:p>
        </p:txBody>
      </p:sp>
      <p:sp>
        <p:nvSpPr>
          <p:cNvPr id="13" name="Text 11"/>
          <p:cNvSpPr/>
          <p:nvPr/>
        </p:nvSpPr>
        <p:spPr>
          <a:xfrm>
            <a:off x="804672" y="4315968"/>
            <a:ext cx="6400800" cy="310896"/>
          </a:xfrm>
          <a:prstGeom prst="rect">
            <a:avLst/>
          </a:prstGeom>
          <a:noFill/>
          <a:ln/>
        </p:spPr>
        <p:txBody>
          <a:bodyPr wrap="square" lIns="0" tIns="0" rIns="0" bIns="0" rtlCol="0" anchor="ctr"/>
          <a:lstStyle/>
          <a:p>
            <a:pPr indent="0" marL="0">
              <a:buNone/>
            </a:pPr>
            <a:r>
              <a:rPr lang="en-US" sz="1450" b="1" dirty="0">
                <a:solidFill>
                  <a:srgbClr val="1C7293"/>
                </a:solidFill>
                <a:latin typeface="Cambria" pitchFamily="34" charset="0"/>
                <a:ea typeface="Cambria" pitchFamily="34" charset="-122"/>
                <a:cs typeface="Cambria" pitchFamily="34" charset="-120"/>
              </a:rPr>
              <a:t>3.  Stop</a:t>
            </a:r>
            <a:endParaRPr lang="en-US" sz="1450" dirty="0"/>
          </a:p>
        </p:txBody>
      </p:sp>
      <p:sp>
        <p:nvSpPr>
          <p:cNvPr id="14" name="Text 12"/>
          <p:cNvSpPr/>
          <p:nvPr/>
        </p:nvSpPr>
        <p:spPr>
          <a:xfrm>
            <a:off x="1115568" y="4645152"/>
            <a:ext cx="6172200" cy="457200"/>
          </a:xfrm>
          <a:prstGeom prst="rect">
            <a:avLst/>
          </a:prstGeom>
          <a:noFill/>
          <a:ln/>
        </p:spPr>
        <p:txBody>
          <a:bodyPr wrap="square" lIns="0" tIns="0" rIns="0" bIns="0" rtlCol="0" anchor="t"/>
          <a:lstStyle/>
          <a:p>
            <a:pPr indent="0" marL="0">
              <a:buNone/>
            </a:pPr>
            <a:r>
              <a:rPr lang="en-US" sz="1200" dirty="0">
                <a:solidFill>
                  <a:srgbClr val="10263B"/>
                </a:solidFill>
                <a:latin typeface="Calibri" pitchFamily="34" charset="0"/>
                <a:ea typeface="Calibri" pitchFamily="34" charset="-122"/>
                <a:cs typeface="Calibri" pitchFamily="34" charset="-120"/>
              </a:rPr>
              <a:t>when the values stop moving by more than your tolerance. A precise stopping rule comes in a few slides.</a:t>
            </a:r>
            <a:endParaRPr lang="en-US" sz="1200" dirty="0"/>
          </a:p>
        </p:txBody>
      </p:sp>
      <p:sp>
        <p:nvSpPr>
          <p:cNvPr id="15" name="Shape 13"/>
          <p:cNvSpPr/>
          <p:nvPr/>
        </p:nvSpPr>
        <p:spPr>
          <a:xfrm>
            <a:off x="7699248" y="1444752"/>
            <a:ext cx="3913632" cy="3703320"/>
          </a:xfrm>
          <a:prstGeom prst="roundRect">
            <a:avLst>
              <a:gd name="adj" fmla="val 2222"/>
            </a:avLst>
          </a:prstGeom>
          <a:solidFill>
            <a:srgbClr val="F5DFA8"/>
          </a:solidFill>
          <a:ln/>
        </p:spPr>
      </p:sp>
      <p:sp>
        <p:nvSpPr>
          <p:cNvPr id="16" name="Text 14"/>
          <p:cNvSpPr/>
          <p:nvPr/>
        </p:nvSpPr>
        <p:spPr>
          <a:xfrm>
            <a:off x="7918704" y="1591056"/>
            <a:ext cx="3520440" cy="329184"/>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One implementation note</a:t>
            </a:r>
            <a:endParaRPr lang="en-US" sz="1450" dirty="0"/>
          </a:p>
        </p:txBody>
      </p:sp>
      <p:sp>
        <p:nvSpPr>
          <p:cNvPr id="17" name="Text 15"/>
          <p:cNvSpPr/>
          <p:nvPr/>
        </p:nvSpPr>
        <p:spPr>
          <a:xfrm>
            <a:off x="7918704" y="1956816"/>
            <a:ext cx="3520440" cy="86868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We build a fresh copy of V each round, reading only from the previous copy. Many textbooks update a single vector in place.</a:t>
            </a:r>
            <a:endParaRPr lang="en-US" sz="1250" dirty="0"/>
          </a:p>
        </p:txBody>
      </p:sp>
      <p:sp>
        <p:nvSpPr>
          <p:cNvPr id="18" name="Text 16"/>
          <p:cNvSpPr/>
          <p:nvPr/>
        </p:nvSpPr>
        <p:spPr>
          <a:xfrm>
            <a:off x="7918704" y="2889504"/>
            <a:ext cx="3520440" cy="105156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In-place still converges - often faster - but you lose the clean claim that V-k is the k-step lookahead value, because some entries are already partly updated.</a:t>
            </a:r>
            <a:endParaRPr lang="en-US" sz="1250" dirty="0"/>
          </a:p>
        </p:txBody>
      </p:sp>
      <p:sp>
        <p:nvSpPr>
          <p:cNvPr id="19" name="Text 17"/>
          <p:cNvSpPr/>
          <p:nvPr/>
        </p:nvSpPr>
        <p:spPr>
          <a:xfrm>
            <a:off x="7918704" y="4005072"/>
            <a:ext cx="3520440" cy="777240"/>
          </a:xfrm>
          <a:prstGeom prst="rect">
            <a:avLst/>
          </a:prstGeom>
          <a:noFill/>
          <a:ln/>
        </p:spPr>
        <p:txBody>
          <a:bodyPr wrap="square" lIns="0" tIns="0" rIns="0" bIns="0" rtlCol="0" anchor="t"/>
          <a:lstStyle/>
          <a:p>
            <a:pPr indent="0" marL="0">
              <a:buNone/>
            </a:pPr>
            <a:r>
              <a:rPr lang="en-US" sz="1250" b="1" dirty="0">
                <a:solidFill>
                  <a:srgbClr val="B3341F"/>
                </a:solidFill>
                <a:latin typeface="Calibri" pitchFamily="34" charset="0"/>
                <a:ea typeface="Calibri" pitchFamily="34" charset="-122"/>
                <a:cs typeface="Calibri" pitchFamily="34" charset="-120"/>
              </a:rPr>
              <a:t>For this course: use two copies, so your V-k means what we say it means.</a:t>
            </a:r>
            <a:endParaRPr lang="en-US" sz="1250" dirty="0"/>
          </a:p>
        </p:txBody>
      </p:sp>
      <p:sp>
        <p:nvSpPr>
          <p:cNvPr id="20" name="Text 18"/>
          <p:cNvSpPr/>
          <p:nvPr/>
        </p:nvSpPr>
        <p:spPr>
          <a:xfrm>
            <a:off x="566928" y="5349240"/>
            <a:ext cx="11057839" cy="548640"/>
          </a:xfrm>
          <a:prstGeom prst="rect">
            <a:avLst/>
          </a:prstGeom>
          <a:noFill/>
          <a:ln/>
        </p:spPr>
        <p:txBody>
          <a:bodyPr wrap="square" lIns="0" tIns="0" rIns="0" bIns="0" rtlCol="0" anchor="ctr"/>
          <a:lstStyle/>
          <a:p>
            <a:pPr indent="0" marL="0">
              <a:buNone/>
            </a:pPr>
            <a:r>
              <a:rPr lang="en-US" sz="1450" i="1" dirty="0">
                <a:solidFill>
                  <a:srgbClr val="10263B"/>
                </a:solidFill>
                <a:latin typeface="Calibri" pitchFamily="34" charset="0"/>
                <a:ea typeface="Calibri" pitchFamily="34" charset="-122"/>
                <a:cs typeface="Calibri" pitchFamily="34" charset="-120"/>
              </a:rPr>
              <a:t>The rewards you can collect in k+1 steps are the reward you collect on the next step, plus the rewards you can collect in the remaining k - which you have already computed.</a:t>
            </a:r>
            <a:endParaRPr lang="en-US" sz="14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Worked example: the racing car</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41</a:t>
            </a:r>
            <a:endParaRPr lang="en-US" sz="900" dirty="0"/>
          </a:p>
        </p:txBody>
      </p:sp>
      <p:pic>
        <p:nvPicPr>
          <p:cNvPr id="5" name="Image 0" descr="fig_race.png">    </p:cNvPr>
          <p:cNvPicPr>
            <a:picLocks noChangeAspect="1"/>
          </p:cNvPicPr>
          <p:nvPr/>
        </p:nvPicPr>
        <p:blipFill>
          <a:blip r:embed="rId1"/>
          <a:srcRect l="0" r="0" t="0" b="0"/>
          <a:stretch/>
        </p:blipFill>
        <p:spPr>
          <a:xfrm>
            <a:off x="1249528" y="1417320"/>
            <a:ext cx="9692640" cy="3154680"/>
          </a:xfrm>
          <a:prstGeom prst="rect">
            <a:avLst/>
          </a:prstGeom>
        </p:spPr>
      </p:pic>
      <p:sp>
        <p:nvSpPr>
          <p:cNvPr id="6" name="Text 3"/>
          <p:cNvSpPr/>
          <p:nvPr/>
        </p:nvSpPr>
        <p:spPr>
          <a:xfrm>
            <a:off x="566928" y="4663440"/>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Three states, two actions, no discount. Go Fast and you earn more per step but risk overheating; go Slow and you are safe.</a:t>
            </a:r>
            <a:endParaRPr lang="en-US" sz="1250" dirty="0"/>
          </a:p>
        </p:txBody>
      </p:sp>
      <p:sp>
        <p:nvSpPr>
          <p:cNvPr id="7" name="Shape 4"/>
          <p:cNvSpPr/>
          <p:nvPr/>
        </p:nvSpPr>
        <p:spPr>
          <a:xfrm>
            <a:off x="566928" y="4956048"/>
            <a:ext cx="11057839" cy="1097280"/>
          </a:xfrm>
          <a:prstGeom prst="roundRect">
            <a:avLst>
              <a:gd name="adj" fmla="val 7500"/>
            </a:avLst>
          </a:prstGeom>
          <a:solidFill>
            <a:srgbClr val="EDF2F5"/>
          </a:solidFill>
          <a:ln/>
          <a:effectLst>
            <a:outerShdw sx="100000" sy="100000" kx="0" ky="0" algn="bl" rotWithShape="0" blurRad="101600" dist="17780" dir="5400000">
              <a:srgbClr val="9FB2BF">
                <a:alpha val="20000"/>
              </a:srgbClr>
            </a:outerShdw>
          </a:effectLst>
        </p:spPr>
      </p:sp>
      <p:sp>
        <p:nvSpPr>
          <p:cNvPr id="8" name="Text 5"/>
          <p:cNvSpPr/>
          <p:nvPr/>
        </p:nvSpPr>
        <p:spPr>
          <a:xfrm>
            <a:off x="804672" y="5084064"/>
            <a:ext cx="914400" cy="365760"/>
          </a:xfrm>
          <a:prstGeom prst="rect">
            <a:avLst/>
          </a:prstGeom>
          <a:noFill/>
          <a:ln/>
        </p:spPr>
        <p:txBody>
          <a:bodyPr wrap="square" lIns="0" tIns="0" rIns="0" bIns="0" rtlCol="0" anchor="ctr"/>
          <a:lstStyle/>
          <a:p>
            <a:pPr indent="0" marL="0">
              <a:buNone/>
            </a:pPr>
            <a:r>
              <a:rPr lang="en-US" sz="1500" b="1" dirty="0">
                <a:solidFill>
                  <a:srgbClr val="5C7080"/>
                </a:solidFill>
                <a:latin typeface="Cambria" pitchFamily="34" charset="0"/>
                <a:ea typeface="Cambria" pitchFamily="34" charset="-122"/>
                <a:cs typeface="Cambria" pitchFamily="34" charset="-120"/>
              </a:rPr>
              <a:t>V-0</a:t>
            </a:r>
            <a:endParaRPr lang="en-US" sz="1500" dirty="0"/>
          </a:p>
        </p:txBody>
      </p:sp>
      <p:sp>
        <p:nvSpPr>
          <p:cNvPr id="9" name="Text 6"/>
          <p:cNvSpPr/>
          <p:nvPr/>
        </p:nvSpPr>
        <p:spPr>
          <a:xfrm>
            <a:off x="1755648" y="5084064"/>
            <a:ext cx="4663440" cy="365760"/>
          </a:xfrm>
          <a:prstGeom prst="rect">
            <a:avLst/>
          </a:prstGeom>
          <a:noFill/>
          <a:ln/>
        </p:spPr>
        <p:txBody>
          <a:bodyPr wrap="square" lIns="0" tIns="0" rIns="0" bIns="0" rtlCol="0" anchor="ctr"/>
          <a:lstStyle/>
          <a:p>
            <a:pPr indent="0" marL="0">
              <a:buNone/>
            </a:pPr>
            <a:r>
              <a:rPr lang="en-US" sz="1250" dirty="0">
                <a:solidFill>
                  <a:srgbClr val="10263B"/>
                </a:solidFill>
                <a:latin typeface="Courier New" pitchFamily="34" charset="0"/>
                <a:ea typeface="Courier New" pitchFamily="34" charset="-122"/>
                <a:cs typeface="Courier New" pitchFamily="34" charset="-120"/>
              </a:rPr>
              <a:t>Cool 0     Warm 0     Overheated 0</a:t>
            </a:r>
            <a:endParaRPr lang="en-US" sz="1250" dirty="0"/>
          </a:p>
        </p:txBody>
      </p:sp>
      <p:sp>
        <p:nvSpPr>
          <p:cNvPr id="10" name="Text 7"/>
          <p:cNvSpPr/>
          <p:nvPr/>
        </p:nvSpPr>
        <p:spPr>
          <a:xfrm>
            <a:off x="804672" y="5504688"/>
            <a:ext cx="914400" cy="36576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V-1</a:t>
            </a:r>
            <a:endParaRPr lang="en-US" sz="1500" dirty="0"/>
          </a:p>
        </p:txBody>
      </p:sp>
      <p:sp>
        <p:nvSpPr>
          <p:cNvPr id="11" name="Text 8"/>
          <p:cNvSpPr/>
          <p:nvPr/>
        </p:nvSpPr>
        <p:spPr>
          <a:xfrm>
            <a:off x="1755648" y="5504688"/>
            <a:ext cx="4663440" cy="365760"/>
          </a:xfrm>
          <a:prstGeom prst="rect">
            <a:avLst/>
          </a:prstGeom>
          <a:noFill/>
          <a:ln/>
        </p:spPr>
        <p:txBody>
          <a:bodyPr wrap="square" lIns="0" tIns="0" rIns="0" bIns="0" rtlCol="0" anchor="ctr"/>
          <a:lstStyle/>
          <a:p>
            <a:pPr indent="0" marL="0">
              <a:buNone/>
            </a:pPr>
            <a:r>
              <a:rPr lang="en-US" sz="1250" b="1" dirty="0">
                <a:solidFill>
                  <a:srgbClr val="10263B"/>
                </a:solidFill>
                <a:latin typeface="Courier New" pitchFamily="34" charset="0"/>
                <a:ea typeface="Courier New" pitchFamily="34" charset="-122"/>
                <a:cs typeface="Courier New" pitchFamily="34" charset="-120"/>
              </a:rPr>
              <a:t>Cool 2     Warm 1     Overheated 0</a:t>
            </a:r>
            <a:endParaRPr lang="en-US" sz="1250" dirty="0"/>
          </a:p>
        </p:txBody>
      </p:sp>
      <p:sp>
        <p:nvSpPr>
          <p:cNvPr id="12" name="Text 9"/>
          <p:cNvSpPr/>
          <p:nvPr/>
        </p:nvSpPr>
        <p:spPr>
          <a:xfrm>
            <a:off x="6492240" y="5047488"/>
            <a:ext cx="5074920" cy="914400"/>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From Cool with one step left: Fast pays 2 wherever it lands, Slow pays 1. Take Fast. From Warm: Fast overheats for -10, so take Slow and collect 1. Overheated is terminal, so 0.</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Worked example: computing V-2 by hand</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42</a:t>
            </a:r>
            <a:endParaRPr lang="en-US" sz="900" dirty="0"/>
          </a:p>
        </p:txBody>
      </p:sp>
      <p:sp>
        <p:nvSpPr>
          <p:cNvPr id="5" name="Shape 3"/>
          <p:cNvSpPr/>
          <p:nvPr/>
        </p:nvSpPr>
        <p:spPr>
          <a:xfrm>
            <a:off x="566928" y="1417320"/>
            <a:ext cx="5532120" cy="2331720"/>
          </a:xfrm>
          <a:prstGeom prst="roundRect">
            <a:avLst>
              <a:gd name="adj" fmla="val 3529"/>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04672" y="1536192"/>
            <a:ext cx="502920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From Warm</a:t>
            </a:r>
            <a:endParaRPr lang="en-US" sz="1500" dirty="0"/>
          </a:p>
        </p:txBody>
      </p:sp>
      <p:sp>
        <p:nvSpPr>
          <p:cNvPr id="7" name="Text 5"/>
          <p:cNvSpPr/>
          <p:nvPr/>
        </p:nvSpPr>
        <p:spPr>
          <a:xfrm>
            <a:off x="804672" y="1865376"/>
            <a:ext cx="5029200" cy="54864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Fast sends you to Overheated for -10 and the game is over. Not the max - skip the arithmetic. Slow splits 50/50:</a:t>
            </a:r>
            <a:endParaRPr lang="en-US" sz="1250" dirty="0"/>
          </a:p>
        </p:txBody>
      </p:sp>
      <p:sp>
        <p:nvSpPr>
          <p:cNvPr id="8" name="Text 6"/>
          <p:cNvSpPr/>
          <p:nvPr/>
        </p:nvSpPr>
        <p:spPr>
          <a:xfrm>
            <a:off x="804672" y="2468880"/>
            <a:ext cx="5029200" cy="365760"/>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0.5 [ 1 + V</a:t>
            </a:r>
            <a:pPr indent="0" marL="0">
              <a:buNone/>
            </a:pPr>
            <a:r>
              <a:rPr lang="en-US" sz="1300" baseline="-40000" dirty="0">
                <a:solidFill>
                  <a:srgbClr val="10263B"/>
                </a:solidFill>
                <a:latin typeface="Cambria" pitchFamily="34" charset="0"/>
                <a:ea typeface="Cambria" pitchFamily="34" charset="-122"/>
                <a:cs typeface="Cambria" pitchFamily="34" charset="-120"/>
              </a:rPr>
              <a:t>1</a:t>
            </a:r>
            <a:pPr indent="0" marL="0">
              <a:buNone/>
            </a:pPr>
            <a:r>
              <a:rPr lang="en-US" sz="1300" dirty="0">
                <a:solidFill>
                  <a:srgbClr val="10263B"/>
                </a:solidFill>
                <a:latin typeface="Cambria" pitchFamily="34" charset="0"/>
                <a:ea typeface="Cambria" pitchFamily="34" charset="-122"/>
                <a:cs typeface="Cambria" pitchFamily="34" charset="-120"/>
              </a:rPr>
              <a:t>(Warm) ]  +  0.5 [ 1 + V</a:t>
            </a:r>
            <a:pPr indent="0" marL="0">
              <a:buNone/>
            </a:pPr>
            <a:r>
              <a:rPr lang="en-US" sz="1300" baseline="-40000" dirty="0">
                <a:solidFill>
                  <a:srgbClr val="10263B"/>
                </a:solidFill>
                <a:latin typeface="Cambria" pitchFamily="34" charset="0"/>
                <a:ea typeface="Cambria" pitchFamily="34" charset="-122"/>
                <a:cs typeface="Cambria" pitchFamily="34" charset="-120"/>
              </a:rPr>
              <a:t>1</a:t>
            </a:r>
            <a:pPr indent="0" marL="0">
              <a:buNone/>
            </a:pPr>
            <a:r>
              <a:rPr lang="en-US" sz="1300" dirty="0">
                <a:solidFill>
                  <a:srgbClr val="10263B"/>
                </a:solidFill>
                <a:latin typeface="Cambria" pitchFamily="34" charset="0"/>
                <a:ea typeface="Cambria" pitchFamily="34" charset="-122"/>
                <a:cs typeface="Cambria" pitchFamily="34" charset="-120"/>
              </a:rPr>
              <a:t>(Cool) ]</a:t>
            </a:r>
            <a:endParaRPr lang="en-US" sz="1300" dirty="0"/>
          </a:p>
        </p:txBody>
      </p:sp>
      <p:sp>
        <p:nvSpPr>
          <p:cNvPr id="9" name="Text 7"/>
          <p:cNvSpPr/>
          <p:nvPr/>
        </p:nvSpPr>
        <p:spPr>
          <a:xfrm>
            <a:off x="804672" y="2871216"/>
            <a:ext cx="5029200" cy="41148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  0.5 ( 1 + 1 )  +  0.5 ( 1 + 2 )   =   2.5</a:t>
            </a:r>
            <a:endParaRPr lang="en-US" sz="1500" dirty="0"/>
          </a:p>
        </p:txBody>
      </p:sp>
      <p:sp>
        <p:nvSpPr>
          <p:cNvPr id="10" name="Text 8"/>
          <p:cNvSpPr/>
          <p:nvPr/>
        </p:nvSpPr>
        <p:spPr>
          <a:xfrm>
            <a:off x="804672" y="3310128"/>
            <a:ext cx="5029200" cy="320040"/>
          </a:xfrm>
          <a:prstGeom prst="rect">
            <a:avLst/>
          </a:prstGeom>
          <a:noFill/>
          <a:ln/>
        </p:spPr>
        <p:txBody>
          <a:bodyPr wrap="square" lIns="0" tIns="0" rIns="0" bIns="0" rtlCol="0" anchor="ctr"/>
          <a:lstStyle/>
          <a:p>
            <a:pPr indent="0" marL="0">
              <a:buNone/>
            </a:pPr>
            <a:r>
              <a:rPr lang="en-US" sz="1250" dirty="0">
                <a:solidFill>
                  <a:srgbClr val="5C7080"/>
                </a:solidFill>
                <a:latin typeface="Calibri" pitchFamily="34" charset="0"/>
                <a:ea typeface="Calibri" pitchFamily="34" charset="-122"/>
                <a:cs typeface="Calibri" pitchFamily="34" charset="-120"/>
              </a:rPr>
              <a:t>So V-2(Warm) = 2.5.</a:t>
            </a:r>
            <a:endParaRPr lang="en-US" sz="1250" dirty="0"/>
          </a:p>
        </p:txBody>
      </p:sp>
      <p:sp>
        <p:nvSpPr>
          <p:cNvPr id="11" name="Shape 9"/>
          <p:cNvSpPr/>
          <p:nvPr/>
        </p:nvSpPr>
        <p:spPr>
          <a:xfrm>
            <a:off x="6309360" y="1417320"/>
            <a:ext cx="5303520" cy="2331720"/>
          </a:xfrm>
          <a:prstGeom prst="roundRect">
            <a:avLst>
              <a:gd name="adj" fmla="val 3529"/>
            </a:avLst>
          </a:prstGeom>
          <a:solidFill>
            <a:srgbClr val="EDF2F5"/>
          </a:solidFill>
          <a:ln/>
          <a:effectLst>
            <a:outerShdw sx="100000" sy="100000" kx="0" ky="0" algn="bl" rotWithShape="0" blurRad="101600" dist="17780" dir="5400000">
              <a:srgbClr val="9FB2BF">
                <a:alpha val="20000"/>
              </a:srgbClr>
            </a:outerShdw>
          </a:effectLst>
        </p:spPr>
      </p:sp>
      <p:sp>
        <p:nvSpPr>
          <p:cNvPr id="12" name="Text 10"/>
          <p:cNvSpPr/>
          <p:nvPr/>
        </p:nvSpPr>
        <p:spPr>
          <a:xfrm>
            <a:off x="6528816" y="1536192"/>
            <a:ext cx="484632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From Cool</a:t>
            </a:r>
            <a:endParaRPr lang="en-US" sz="1500" dirty="0"/>
          </a:p>
        </p:txBody>
      </p:sp>
      <p:sp>
        <p:nvSpPr>
          <p:cNvPr id="13" name="Text 11"/>
          <p:cNvSpPr/>
          <p:nvPr/>
        </p:nvSpPr>
        <p:spPr>
          <a:xfrm>
            <a:off x="6528816" y="1865376"/>
            <a:ext cx="4846320" cy="54864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Slow: 1.0 [ 1 + V-1(Cool) ] = 3.   Fast splits 50/50 between Cool and Warm, paying 2 either way:</a:t>
            </a:r>
            <a:endParaRPr lang="en-US" sz="1250" dirty="0"/>
          </a:p>
        </p:txBody>
      </p:sp>
      <p:sp>
        <p:nvSpPr>
          <p:cNvPr id="14" name="Text 12"/>
          <p:cNvSpPr/>
          <p:nvPr/>
        </p:nvSpPr>
        <p:spPr>
          <a:xfrm>
            <a:off x="6528816" y="2487168"/>
            <a:ext cx="4846320" cy="411480"/>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0.5 ( 2 + 2 )  +  0.5 ( 2 + 1 )   =   3.5</a:t>
            </a:r>
            <a:endParaRPr lang="en-US" sz="1500" dirty="0"/>
          </a:p>
        </p:txBody>
      </p:sp>
      <p:sp>
        <p:nvSpPr>
          <p:cNvPr id="15" name="Text 13"/>
          <p:cNvSpPr/>
          <p:nvPr/>
        </p:nvSpPr>
        <p:spPr>
          <a:xfrm>
            <a:off x="6528816" y="2962656"/>
            <a:ext cx="4846320" cy="640080"/>
          </a:xfrm>
          <a:prstGeom prst="rect">
            <a:avLst/>
          </a:prstGeom>
          <a:noFill/>
          <a:ln/>
        </p:spPr>
        <p:txBody>
          <a:bodyPr wrap="square" lIns="0" tIns="0" rIns="0" bIns="0" rtlCol="0" anchor="t"/>
          <a:lstStyle/>
          <a:p>
            <a:pPr indent="0" marL="0">
              <a:buNone/>
            </a:pPr>
            <a:r>
              <a:rPr lang="en-US" sz="1250" dirty="0">
                <a:solidFill>
                  <a:srgbClr val="5C7080"/>
                </a:solidFill>
                <a:latin typeface="Calibri" pitchFamily="34" charset="0"/>
                <a:ea typeface="Calibri" pitchFamily="34" charset="-122"/>
                <a:cs typeface="Calibri" pitchFamily="34" charset="-120"/>
              </a:rPr>
              <a:t>Max of 3 and 3.5 is 3.5, so V-2(Cool) = 3.5 and the best action is still Fast.</a:t>
            </a:r>
            <a:endParaRPr lang="en-US" sz="1250" dirty="0"/>
          </a:p>
        </p:txBody>
      </p:sp>
      <p:sp>
        <p:nvSpPr>
          <p:cNvPr id="16" name="Shape 14"/>
          <p:cNvSpPr/>
          <p:nvPr/>
        </p:nvSpPr>
        <p:spPr>
          <a:xfrm>
            <a:off x="566928" y="3950208"/>
            <a:ext cx="11057839" cy="1051560"/>
          </a:xfrm>
          <a:prstGeom prst="roundRect">
            <a:avLst>
              <a:gd name="adj" fmla="val 7826"/>
            </a:avLst>
          </a:prstGeom>
          <a:solidFill>
            <a:srgbClr val="10263B"/>
          </a:solidFill>
          <a:ln/>
          <a:effectLst>
            <a:outerShdw sx="100000" sy="100000" kx="0" ky="0" algn="bl" rotWithShape="0" blurRad="101600" dist="17780" dir="5400000">
              <a:srgbClr val="9FB2BF">
                <a:alpha val="20000"/>
              </a:srgbClr>
            </a:outerShdw>
          </a:effectLst>
        </p:spPr>
      </p:sp>
      <p:sp>
        <p:nvSpPr>
          <p:cNvPr id="17" name="Text 15"/>
          <p:cNvSpPr/>
          <p:nvPr/>
        </p:nvSpPr>
        <p:spPr>
          <a:xfrm>
            <a:off x="0" y="0"/>
            <a:ext cx="91440" cy="91440"/>
          </a:xfrm>
          <a:prstGeom prst="rect">
            <a:avLst/>
          </a:prstGeom>
          <a:noFill/>
          <a:ln/>
        </p:spPr>
        <p:txBody>
          <a:bodyPr wrap="square" rtlCol="0" anchor="ctr"/>
          <a:lstStyle/>
          <a:p>
            <a:pPr indent="0" marL="0">
              <a:buNone/>
            </a:pPr>
            <a:endParaRPr lang="en-US" dirty="0"/>
          </a:p>
        </p:txBody>
      </p:sp>
      <p:sp>
        <p:nvSpPr>
          <p:cNvPr id="18" name="Text 16"/>
          <p:cNvSpPr/>
          <p:nvPr/>
        </p:nvSpPr>
        <p:spPr>
          <a:xfrm>
            <a:off x="841248" y="4023360"/>
            <a:ext cx="2194560" cy="274320"/>
          </a:xfrm>
          <a:prstGeom prst="rect">
            <a:avLst/>
          </a:prstGeom>
          <a:noFill/>
          <a:ln/>
        </p:spPr>
        <p:txBody>
          <a:bodyPr wrap="square" lIns="0" tIns="0" rIns="0" bIns="0" rtlCol="0" anchor="ctr"/>
          <a:lstStyle/>
          <a:p>
            <a:pPr algn="l" indent="0" marL="0">
              <a:buNone/>
            </a:pPr>
            <a:endParaRPr lang="en-US" sz="1150" dirty="0"/>
          </a:p>
        </p:txBody>
      </p:sp>
      <p:sp>
        <p:nvSpPr>
          <p:cNvPr id="19" name="Text 17"/>
          <p:cNvSpPr/>
          <p:nvPr/>
        </p:nvSpPr>
        <p:spPr>
          <a:xfrm>
            <a:off x="3172968" y="4023360"/>
            <a:ext cx="2194560" cy="274320"/>
          </a:xfrm>
          <a:prstGeom prst="rect">
            <a:avLst/>
          </a:prstGeom>
          <a:noFill/>
          <a:ln/>
        </p:spPr>
        <p:txBody>
          <a:bodyPr wrap="square" lIns="0" tIns="0" rIns="0" bIns="0" rtlCol="0" anchor="ctr"/>
          <a:lstStyle/>
          <a:p>
            <a:pPr algn="ctr" indent="0" marL="0">
              <a:buNone/>
            </a:pPr>
            <a:r>
              <a:rPr lang="en-US" sz="1150" b="1" dirty="0">
                <a:solidFill>
                  <a:srgbClr val="E0A32E"/>
                </a:solidFill>
                <a:latin typeface="Calibri" pitchFamily="34" charset="0"/>
                <a:ea typeface="Calibri" pitchFamily="34" charset="-122"/>
                <a:cs typeface="Calibri" pitchFamily="34" charset="-120"/>
              </a:rPr>
              <a:t>Cool</a:t>
            </a:r>
            <a:endParaRPr lang="en-US" sz="1150" dirty="0"/>
          </a:p>
        </p:txBody>
      </p:sp>
      <p:sp>
        <p:nvSpPr>
          <p:cNvPr id="20" name="Text 18"/>
          <p:cNvSpPr/>
          <p:nvPr/>
        </p:nvSpPr>
        <p:spPr>
          <a:xfrm>
            <a:off x="5504688" y="4023360"/>
            <a:ext cx="2194560" cy="274320"/>
          </a:xfrm>
          <a:prstGeom prst="rect">
            <a:avLst/>
          </a:prstGeom>
          <a:noFill/>
          <a:ln/>
        </p:spPr>
        <p:txBody>
          <a:bodyPr wrap="square" lIns="0" tIns="0" rIns="0" bIns="0" rtlCol="0" anchor="ctr"/>
          <a:lstStyle/>
          <a:p>
            <a:pPr algn="ctr" indent="0" marL="0">
              <a:buNone/>
            </a:pPr>
            <a:r>
              <a:rPr lang="en-US" sz="1150" b="1" dirty="0">
                <a:solidFill>
                  <a:srgbClr val="E0A32E"/>
                </a:solidFill>
                <a:latin typeface="Calibri" pitchFamily="34" charset="0"/>
                <a:ea typeface="Calibri" pitchFamily="34" charset="-122"/>
                <a:cs typeface="Calibri" pitchFamily="34" charset="-120"/>
              </a:rPr>
              <a:t>Warm</a:t>
            </a:r>
            <a:endParaRPr lang="en-US" sz="1150" dirty="0"/>
          </a:p>
        </p:txBody>
      </p:sp>
      <p:sp>
        <p:nvSpPr>
          <p:cNvPr id="21" name="Text 19"/>
          <p:cNvSpPr/>
          <p:nvPr/>
        </p:nvSpPr>
        <p:spPr>
          <a:xfrm>
            <a:off x="7836408" y="4023360"/>
            <a:ext cx="2194560" cy="274320"/>
          </a:xfrm>
          <a:prstGeom prst="rect">
            <a:avLst/>
          </a:prstGeom>
          <a:noFill/>
          <a:ln/>
        </p:spPr>
        <p:txBody>
          <a:bodyPr wrap="square" lIns="0" tIns="0" rIns="0" bIns="0" rtlCol="0" anchor="ctr"/>
          <a:lstStyle/>
          <a:p>
            <a:pPr algn="ctr" indent="0" marL="0">
              <a:buNone/>
            </a:pPr>
            <a:r>
              <a:rPr lang="en-US" sz="1150" b="1" dirty="0">
                <a:solidFill>
                  <a:srgbClr val="E0A32E"/>
                </a:solidFill>
                <a:latin typeface="Calibri" pitchFamily="34" charset="0"/>
                <a:ea typeface="Calibri" pitchFamily="34" charset="-122"/>
                <a:cs typeface="Calibri" pitchFamily="34" charset="-120"/>
              </a:rPr>
              <a:t>Overheated</a:t>
            </a:r>
            <a:endParaRPr lang="en-US" sz="1150" dirty="0"/>
          </a:p>
        </p:txBody>
      </p:sp>
      <p:sp>
        <p:nvSpPr>
          <p:cNvPr id="22" name="Text 20"/>
          <p:cNvSpPr/>
          <p:nvPr/>
        </p:nvSpPr>
        <p:spPr>
          <a:xfrm>
            <a:off x="841248" y="4315968"/>
            <a:ext cx="2194560" cy="219456"/>
          </a:xfrm>
          <a:prstGeom prst="rect">
            <a:avLst/>
          </a:prstGeom>
          <a:noFill/>
          <a:ln/>
        </p:spPr>
        <p:txBody>
          <a:bodyPr wrap="square" lIns="0" tIns="0" rIns="0" bIns="0" rtlCol="0" anchor="ctr"/>
          <a:lstStyle/>
          <a:p>
            <a:pPr algn="l" indent="0" marL="0">
              <a:buNone/>
            </a:pPr>
            <a:r>
              <a:rPr lang="en-US" sz="1200" b="1" dirty="0">
                <a:solidFill>
                  <a:srgbClr val="7F98AC"/>
                </a:solidFill>
                <a:latin typeface="Courier New" pitchFamily="34" charset="0"/>
                <a:ea typeface="Courier New" pitchFamily="34" charset="-122"/>
                <a:cs typeface="Courier New" pitchFamily="34" charset="-120"/>
              </a:rPr>
              <a:t>V-0</a:t>
            </a:r>
            <a:endParaRPr lang="en-US" sz="1200" dirty="0"/>
          </a:p>
        </p:txBody>
      </p:sp>
      <p:sp>
        <p:nvSpPr>
          <p:cNvPr id="23" name="Text 21"/>
          <p:cNvSpPr/>
          <p:nvPr/>
        </p:nvSpPr>
        <p:spPr>
          <a:xfrm>
            <a:off x="3172968" y="4315968"/>
            <a:ext cx="2194560" cy="219456"/>
          </a:xfrm>
          <a:prstGeom prst="rect">
            <a:avLst/>
          </a:prstGeom>
          <a:noFill/>
          <a:ln/>
        </p:spPr>
        <p:txBody>
          <a:bodyPr wrap="square" lIns="0" tIns="0" rIns="0" bIns="0" rtlCol="0" anchor="ctr"/>
          <a:lstStyle/>
          <a:p>
            <a:pPr algn="ctr" indent="0" marL="0">
              <a:buNone/>
            </a:pPr>
            <a:r>
              <a:rPr lang="en-US" sz="1200" dirty="0">
                <a:solidFill>
                  <a:srgbClr val="7F98AC"/>
                </a:solidFill>
                <a:latin typeface="Courier New" pitchFamily="34" charset="0"/>
                <a:ea typeface="Courier New" pitchFamily="34" charset="-122"/>
                <a:cs typeface="Courier New" pitchFamily="34" charset="-120"/>
              </a:rPr>
              <a:t>0</a:t>
            </a:r>
            <a:endParaRPr lang="en-US" sz="1200" dirty="0"/>
          </a:p>
        </p:txBody>
      </p:sp>
      <p:sp>
        <p:nvSpPr>
          <p:cNvPr id="24" name="Text 22"/>
          <p:cNvSpPr/>
          <p:nvPr/>
        </p:nvSpPr>
        <p:spPr>
          <a:xfrm>
            <a:off x="5504688" y="4315968"/>
            <a:ext cx="2194560" cy="219456"/>
          </a:xfrm>
          <a:prstGeom prst="rect">
            <a:avLst/>
          </a:prstGeom>
          <a:noFill/>
          <a:ln/>
        </p:spPr>
        <p:txBody>
          <a:bodyPr wrap="square" lIns="0" tIns="0" rIns="0" bIns="0" rtlCol="0" anchor="ctr"/>
          <a:lstStyle/>
          <a:p>
            <a:pPr algn="ctr" indent="0" marL="0">
              <a:buNone/>
            </a:pPr>
            <a:r>
              <a:rPr lang="en-US" sz="1200" dirty="0">
                <a:solidFill>
                  <a:srgbClr val="7F98AC"/>
                </a:solidFill>
                <a:latin typeface="Courier New" pitchFamily="34" charset="0"/>
                <a:ea typeface="Courier New" pitchFamily="34" charset="-122"/>
                <a:cs typeface="Courier New" pitchFamily="34" charset="-120"/>
              </a:rPr>
              <a:t>0</a:t>
            </a:r>
            <a:endParaRPr lang="en-US" sz="1200" dirty="0"/>
          </a:p>
        </p:txBody>
      </p:sp>
      <p:sp>
        <p:nvSpPr>
          <p:cNvPr id="25" name="Text 23"/>
          <p:cNvSpPr/>
          <p:nvPr/>
        </p:nvSpPr>
        <p:spPr>
          <a:xfrm>
            <a:off x="7836408" y="4315968"/>
            <a:ext cx="2194560" cy="219456"/>
          </a:xfrm>
          <a:prstGeom prst="rect">
            <a:avLst/>
          </a:prstGeom>
          <a:noFill/>
          <a:ln/>
        </p:spPr>
        <p:txBody>
          <a:bodyPr wrap="square" lIns="0" tIns="0" rIns="0" bIns="0" rtlCol="0" anchor="ctr"/>
          <a:lstStyle/>
          <a:p>
            <a:pPr algn="ctr" indent="0" marL="0">
              <a:buNone/>
            </a:pPr>
            <a:r>
              <a:rPr lang="en-US" sz="1200" dirty="0">
                <a:solidFill>
                  <a:srgbClr val="7F98AC"/>
                </a:solidFill>
                <a:latin typeface="Courier New" pitchFamily="34" charset="0"/>
                <a:ea typeface="Courier New" pitchFamily="34" charset="-122"/>
                <a:cs typeface="Courier New" pitchFamily="34" charset="-120"/>
              </a:rPr>
              <a:t>0</a:t>
            </a:r>
            <a:endParaRPr lang="en-US" sz="1200" dirty="0"/>
          </a:p>
        </p:txBody>
      </p:sp>
      <p:sp>
        <p:nvSpPr>
          <p:cNvPr id="26" name="Text 24"/>
          <p:cNvSpPr/>
          <p:nvPr/>
        </p:nvSpPr>
        <p:spPr>
          <a:xfrm>
            <a:off x="841248" y="4535424"/>
            <a:ext cx="2194560" cy="219456"/>
          </a:xfrm>
          <a:prstGeom prst="rect">
            <a:avLst/>
          </a:prstGeom>
          <a:noFill/>
          <a:ln/>
        </p:spPr>
        <p:txBody>
          <a:bodyPr wrap="square" lIns="0" tIns="0" rIns="0" bIns="0" rtlCol="0" anchor="ctr"/>
          <a:lstStyle/>
          <a:p>
            <a:pPr algn="l" indent="0" marL="0">
              <a:buNone/>
            </a:pPr>
            <a:r>
              <a:rPr lang="en-US" sz="1200" b="1" dirty="0">
                <a:solidFill>
                  <a:srgbClr val="A9C0CF"/>
                </a:solidFill>
                <a:latin typeface="Courier New" pitchFamily="34" charset="0"/>
                <a:ea typeface="Courier New" pitchFamily="34" charset="-122"/>
                <a:cs typeface="Courier New" pitchFamily="34" charset="-120"/>
              </a:rPr>
              <a:t>V-1</a:t>
            </a:r>
            <a:endParaRPr lang="en-US" sz="1200" dirty="0"/>
          </a:p>
        </p:txBody>
      </p:sp>
      <p:sp>
        <p:nvSpPr>
          <p:cNvPr id="27" name="Text 25"/>
          <p:cNvSpPr/>
          <p:nvPr/>
        </p:nvSpPr>
        <p:spPr>
          <a:xfrm>
            <a:off x="3172968" y="4535424"/>
            <a:ext cx="2194560" cy="219456"/>
          </a:xfrm>
          <a:prstGeom prst="rect">
            <a:avLst/>
          </a:prstGeom>
          <a:noFill/>
          <a:ln/>
        </p:spPr>
        <p:txBody>
          <a:bodyPr wrap="square" lIns="0" tIns="0" rIns="0" bIns="0" rtlCol="0" anchor="ctr"/>
          <a:lstStyle/>
          <a:p>
            <a:pPr algn="ctr" indent="0" marL="0">
              <a:buNone/>
            </a:pPr>
            <a:r>
              <a:rPr lang="en-US" sz="1200" dirty="0">
                <a:solidFill>
                  <a:srgbClr val="A9C0CF"/>
                </a:solidFill>
                <a:latin typeface="Courier New" pitchFamily="34" charset="0"/>
                <a:ea typeface="Courier New" pitchFamily="34" charset="-122"/>
                <a:cs typeface="Courier New" pitchFamily="34" charset="-120"/>
              </a:rPr>
              <a:t>2</a:t>
            </a:r>
            <a:endParaRPr lang="en-US" sz="1200" dirty="0"/>
          </a:p>
        </p:txBody>
      </p:sp>
      <p:sp>
        <p:nvSpPr>
          <p:cNvPr id="28" name="Text 26"/>
          <p:cNvSpPr/>
          <p:nvPr/>
        </p:nvSpPr>
        <p:spPr>
          <a:xfrm>
            <a:off x="5504688" y="4535424"/>
            <a:ext cx="2194560" cy="219456"/>
          </a:xfrm>
          <a:prstGeom prst="rect">
            <a:avLst/>
          </a:prstGeom>
          <a:noFill/>
          <a:ln/>
        </p:spPr>
        <p:txBody>
          <a:bodyPr wrap="square" lIns="0" tIns="0" rIns="0" bIns="0" rtlCol="0" anchor="ctr"/>
          <a:lstStyle/>
          <a:p>
            <a:pPr algn="ctr" indent="0" marL="0">
              <a:buNone/>
            </a:pPr>
            <a:r>
              <a:rPr lang="en-US" sz="1200" dirty="0">
                <a:solidFill>
                  <a:srgbClr val="A9C0CF"/>
                </a:solidFill>
                <a:latin typeface="Courier New" pitchFamily="34" charset="0"/>
                <a:ea typeface="Courier New" pitchFamily="34" charset="-122"/>
                <a:cs typeface="Courier New" pitchFamily="34" charset="-120"/>
              </a:rPr>
              <a:t>1</a:t>
            </a:r>
            <a:endParaRPr lang="en-US" sz="1200" dirty="0"/>
          </a:p>
        </p:txBody>
      </p:sp>
      <p:sp>
        <p:nvSpPr>
          <p:cNvPr id="29" name="Text 27"/>
          <p:cNvSpPr/>
          <p:nvPr/>
        </p:nvSpPr>
        <p:spPr>
          <a:xfrm>
            <a:off x="7836408" y="4535424"/>
            <a:ext cx="2194560" cy="219456"/>
          </a:xfrm>
          <a:prstGeom prst="rect">
            <a:avLst/>
          </a:prstGeom>
          <a:noFill/>
          <a:ln/>
        </p:spPr>
        <p:txBody>
          <a:bodyPr wrap="square" lIns="0" tIns="0" rIns="0" bIns="0" rtlCol="0" anchor="ctr"/>
          <a:lstStyle/>
          <a:p>
            <a:pPr algn="ctr" indent="0" marL="0">
              <a:buNone/>
            </a:pPr>
            <a:r>
              <a:rPr lang="en-US" sz="1200" dirty="0">
                <a:solidFill>
                  <a:srgbClr val="A9C0CF"/>
                </a:solidFill>
                <a:latin typeface="Courier New" pitchFamily="34" charset="0"/>
                <a:ea typeface="Courier New" pitchFamily="34" charset="-122"/>
                <a:cs typeface="Courier New" pitchFamily="34" charset="-120"/>
              </a:rPr>
              <a:t>0</a:t>
            </a:r>
            <a:endParaRPr lang="en-US" sz="1200" dirty="0"/>
          </a:p>
        </p:txBody>
      </p:sp>
      <p:sp>
        <p:nvSpPr>
          <p:cNvPr id="30" name="Text 28"/>
          <p:cNvSpPr/>
          <p:nvPr/>
        </p:nvSpPr>
        <p:spPr>
          <a:xfrm>
            <a:off x="841248" y="4754880"/>
            <a:ext cx="2194560" cy="219456"/>
          </a:xfrm>
          <a:prstGeom prst="rect">
            <a:avLst/>
          </a:prstGeom>
          <a:noFill/>
          <a:ln/>
        </p:spPr>
        <p:txBody>
          <a:bodyPr wrap="square" lIns="0" tIns="0" rIns="0" bIns="0" rtlCol="0" anchor="ctr"/>
          <a:lstStyle/>
          <a:p>
            <a:pPr algn="l" indent="0" marL="0">
              <a:buNone/>
            </a:pPr>
            <a:r>
              <a:rPr lang="en-US" sz="1200" b="1" dirty="0">
                <a:solidFill>
                  <a:srgbClr val="FFFFFF"/>
                </a:solidFill>
                <a:latin typeface="Courier New" pitchFamily="34" charset="0"/>
                <a:ea typeface="Courier New" pitchFamily="34" charset="-122"/>
                <a:cs typeface="Courier New" pitchFamily="34" charset="-120"/>
              </a:rPr>
              <a:t>V-2</a:t>
            </a:r>
            <a:endParaRPr lang="en-US" sz="1200" dirty="0"/>
          </a:p>
        </p:txBody>
      </p:sp>
      <p:sp>
        <p:nvSpPr>
          <p:cNvPr id="31" name="Text 29"/>
          <p:cNvSpPr/>
          <p:nvPr/>
        </p:nvSpPr>
        <p:spPr>
          <a:xfrm>
            <a:off x="3172968" y="4754880"/>
            <a:ext cx="2194560" cy="219456"/>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3.5</a:t>
            </a:r>
            <a:endParaRPr lang="en-US" sz="1200" dirty="0"/>
          </a:p>
        </p:txBody>
      </p:sp>
      <p:sp>
        <p:nvSpPr>
          <p:cNvPr id="32" name="Text 30"/>
          <p:cNvSpPr/>
          <p:nvPr/>
        </p:nvSpPr>
        <p:spPr>
          <a:xfrm>
            <a:off x="5504688" y="4754880"/>
            <a:ext cx="2194560" cy="219456"/>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2.5</a:t>
            </a:r>
            <a:endParaRPr lang="en-US" sz="1200" dirty="0"/>
          </a:p>
        </p:txBody>
      </p:sp>
      <p:sp>
        <p:nvSpPr>
          <p:cNvPr id="33" name="Text 31"/>
          <p:cNvSpPr/>
          <p:nvPr/>
        </p:nvSpPr>
        <p:spPr>
          <a:xfrm>
            <a:off x="7836408" y="4754880"/>
            <a:ext cx="2194560" cy="219456"/>
          </a:xfrm>
          <a:prstGeom prst="rect">
            <a:avLst/>
          </a:prstGeom>
          <a:noFill/>
          <a:ln/>
        </p:spPr>
        <p:txBody>
          <a:bodyPr wrap="square" lIns="0" tIns="0" rIns="0" bIns="0" rtlCol="0" anchor="ctr"/>
          <a:lstStyle/>
          <a:p>
            <a:pPr algn="ctr" indent="0" marL="0">
              <a:buNone/>
            </a:pPr>
            <a:r>
              <a:rPr lang="en-US" sz="1200" dirty="0">
                <a:solidFill>
                  <a:srgbClr val="FFFFFF"/>
                </a:solidFill>
                <a:latin typeface="Courier New" pitchFamily="34" charset="0"/>
                <a:ea typeface="Courier New" pitchFamily="34" charset="-122"/>
                <a:cs typeface="Courier New" pitchFamily="34" charset="-120"/>
              </a:rPr>
              <a:t>0</a:t>
            </a:r>
            <a:endParaRPr lang="en-US" sz="1200" dirty="0"/>
          </a:p>
        </p:txBody>
      </p:sp>
      <p:sp>
        <p:nvSpPr>
          <p:cNvPr id="34" name="Text 32"/>
          <p:cNvSpPr/>
          <p:nvPr/>
        </p:nvSpPr>
        <p:spPr>
          <a:xfrm>
            <a:off x="566928" y="5193792"/>
            <a:ext cx="11057839" cy="411480"/>
          </a:xfrm>
          <a:prstGeom prst="rect">
            <a:avLst/>
          </a:prstGeom>
          <a:noFill/>
          <a:ln/>
        </p:spPr>
        <p:txBody>
          <a:bodyPr wrap="square" lIns="0" tIns="0" rIns="0" bIns="0" rtlCol="0" anchor="ctr"/>
          <a:lstStyle/>
          <a:p>
            <a:pPr indent="0" marL="0">
              <a:buNone/>
            </a:pPr>
            <a:r>
              <a:rPr lang="en-US" sz="1400" i="1" dirty="0">
                <a:solidFill>
                  <a:srgbClr val="10263B"/>
                </a:solidFill>
                <a:latin typeface="Calibri" pitchFamily="34" charset="0"/>
                <a:ea typeface="Calibri" pitchFamily="34" charset="-122"/>
                <a:cs typeface="Calibri" pitchFamily="34" charset="-120"/>
              </a:rPr>
              <a:t>This is already tedious with three states. It is why we use computers - and why the complexity question is worth asking.</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Value iteration in motion</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43</a:t>
            </a:r>
            <a:endParaRPr lang="en-US" sz="900" dirty="0"/>
          </a:p>
        </p:txBody>
      </p:sp>
      <p:pic>
        <p:nvPicPr>
          <p:cNvPr id="5" name="Image 0" descr="fig_vi_frames.png">    </p:cNvPr>
          <p:cNvPicPr>
            <a:picLocks noChangeAspect="1"/>
          </p:cNvPicPr>
          <p:nvPr/>
        </p:nvPicPr>
        <p:blipFill>
          <a:blip r:embed="rId1"/>
          <a:srcRect l="0" r="0" t="0" b="0"/>
          <a:stretch/>
        </p:blipFill>
        <p:spPr>
          <a:xfrm>
            <a:off x="1066648" y="1353312"/>
            <a:ext cx="10058400" cy="4160520"/>
          </a:xfrm>
          <a:prstGeom prst="rect">
            <a:avLst/>
          </a:prstGeom>
        </p:spPr>
      </p:pic>
      <p:sp>
        <p:nvSpPr>
          <p:cNvPr id="6" name="Text 3"/>
          <p:cNvSpPr/>
          <p:nvPr/>
        </p:nvSpPr>
        <p:spPr>
          <a:xfrm>
            <a:off x="566928" y="5605272"/>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Gridworld with noise 0.2, gamma 0.9, living reward 0. Values spread outward from the exits, and every value also keeps growing as longer trajectories fold in.</a:t>
            </a:r>
            <a:endParaRPr lang="en-US" sz="1250" dirty="0"/>
          </a:p>
        </p:txBody>
      </p:sp>
      <p:sp>
        <p:nvSpPr>
          <p:cNvPr id="7" name="Text 4"/>
          <p:cNvSpPr/>
          <p:nvPr/>
        </p:nvSpPr>
        <p:spPr>
          <a:xfrm>
            <a:off x="566928" y="5779008"/>
            <a:ext cx="11057839" cy="457200"/>
          </a:xfrm>
          <a:prstGeom prst="rect">
            <a:avLst/>
          </a:prstGeom>
          <a:noFill/>
          <a:ln/>
        </p:spPr>
        <p:txBody>
          <a:bodyPr wrap="square" lIns="0" tIns="0" rIns="0" bIns="0" rtlCol="0" anchor="ctr"/>
          <a:lstStyle/>
          <a:p>
            <a:pPr algn="ctr" indent="0" marL="0">
              <a:buNone/>
            </a:pPr>
            <a:r>
              <a:rPr lang="en-US" sz="1300" dirty="0">
                <a:solidFill>
                  <a:srgbClr val="10263B"/>
                </a:solidFill>
                <a:latin typeface="Calibri" pitchFamily="34" charset="0"/>
                <a:ea typeface="Calibri" pitchFamily="34" charset="-122"/>
                <a:cs typeface="Calibri" pitchFamily="34" charset="-120"/>
              </a:rPr>
              <a:t>Two things are happening at once: reward information propagates one square further per sweep, and already-reached states keep rising as longer paths - slip, recover, succeed - become available within the horizon.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Complexity of one sweep</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44</a:t>
            </a:r>
            <a:endParaRPr lang="en-US" sz="900" dirty="0"/>
          </a:p>
        </p:txBody>
      </p:sp>
      <p:sp>
        <p:nvSpPr>
          <p:cNvPr id="5" name="Shape 3"/>
          <p:cNvSpPr/>
          <p:nvPr/>
        </p:nvSpPr>
        <p:spPr>
          <a:xfrm>
            <a:off x="566928" y="1481328"/>
            <a:ext cx="11057839" cy="868680"/>
          </a:xfrm>
          <a:prstGeom prst="roundRect">
            <a:avLst>
              <a:gd name="adj" fmla="val 6316"/>
            </a:avLst>
          </a:prstGeom>
          <a:solidFill>
            <a:srgbClr val="F7FAFB"/>
          </a:solidFill>
          <a:ln w="12700">
            <a:solidFill>
              <a:srgbClr val="D3DDE3"/>
            </a:solidFill>
            <a:prstDash val="solid"/>
          </a:ln>
        </p:spPr>
      </p:sp>
      <p:sp>
        <p:nvSpPr>
          <p:cNvPr id="6" name="Text 4"/>
          <p:cNvSpPr/>
          <p:nvPr/>
        </p:nvSpPr>
        <p:spPr>
          <a:xfrm>
            <a:off x="676656" y="1481328"/>
            <a:ext cx="10838383" cy="868680"/>
          </a:xfrm>
          <a:prstGeom prst="rect">
            <a:avLst/>
          </a:prstGeom>
          <a:noFill/>
          <a:ln/>
        </p:spPr>
        <p:txBody>
          <a:bodyPr wrap="square" lIns="0" tIns="0" rIns="0" bIns="0" rtlCol="0" anchor="ctr"/>
          <a:lstStyle/>
          <a:p>
            <a:pPr algn="ctr" indent="0" marL="0">
              <a:buNone/>
            </a:pPr>
            <a:r>
              <a:rPr lang="en-US" sz="2400" b="1" dirty="0">
                <a:solidFill>
                  <a:srgbClr val="10263B"/>
                </a:solidFill>
                <a:latin typeface="Cambria" pitchFamily="34" charset="0"/>
                <a:ea typeface="Cambria" pitchFamily="34" charset="-122"/>
                <a:cs typeface="Cambria" pitchFamily="34" charset="-120"/>
              </a:rPr>
              <a:t>O( |S|</a:t>
            </a:r>
            <a:pPr algn="ctr" indent="0" marL="0">
              <a:buNone/>
            </a:pPr>
            <a:r>
              <a:rPr lang="en-US" sz="2400" b="1" baseline="30000" dirty="0">
                <a:solidFill>
                  <a:srgbClr val="10263B"/>
                </a:solidFill>
                <a:latin typeface="Cambria" pitchFamily="34" charset="0"/>
                <a:ea typeface="Cambria" pitchFamily="34" charset="-122"/>
                <a:cs typeface="Cambria" pitchFamily="34" charset="-120"/>
              </a:rPr>
              <a:t>2</a:t>
            </a:r>
            <a:pPr algn="ctr" indent="0" marL="0">
              <a:buNone/>
            </a:pPr>
            <a:r>
              <a:rPr lang="en-US" sz="2400" b="1" dirty="0">
                <a:solidFill>
                  <a:srgbClr val="10263B"/>
                </a:solidFill>
                <a:latin typeface="Cambria" pitchFamily="34" charset="0"/>
                <a:ea typeface="Cambria" pitchFamily="34" charset="-122"/>
                <a:cs typeface="Cambria" pitchFamily="34" charset="-120"/>
              </a:rPr>
              <a:t> |A| )   per iteration</a:t>
            </a:r>
            <a:endParaRPr lang="en-US" sz="2400" dirty="0"/>
          </a:p>
        </p:txBody>
      </p:sp>
      <p:sp>
        <p:nvSpPr>
          <p:cNvPr id="7" name="Shape 5"/>
          <p:cNvSpPr/>
          <p:nvPr/>
        </p:nvSpPr>
        <p:spPr>
          <a:xfrm>
            <a:off x="566928" y="2651760"/>
            <a:ext cx="3456432" cy="2240280"/>
          </a:xfrm>
          <a:prstGeom prst="roundRect">
            <a:avLst>
              <a:gd name="adj" fmla="val 3673"/>
            </a:avLst>
          </a:prstGeom>
          <a:solidFill>
            <a:srgbClr val="EDF2F5"/>
          </a:solidFill>
          <a:ln/>
          <a:effectLst>
            <a:outerShdw sx="100000" sy="100000" kx="0" ky="0" algn="bl" rotWithShape="0" blurRad="101600" dist="17780" dir="5400000">
              <a:srgbClr val="9FB2BF">
                <a:alpha val="20000"/>
              </a:srgbClr>
            </a:outerShdw>
          </a:effectLst>
        </p:spPr>
      </p:sp>
      <p:sp>
        <p:nvSpPr>
          <p:cNvPr id="8" name="Shape 6"/>
          <p:cNvSpPr/>
          <p:nvPr/>
        </p:nvSpPr>
        <p:spPr>
          <a:xfrm>
            <a:off x="768096" y="2816352"/>
            <a:ext cx="868680" cy="502920"/>
          </a:xfrm>
          <a:prstGeom prst="roundRect">
            <a:avLst>
              <a:gd name="adj" fmla="val 10909"/>
            </a:avLst>
          </a:prstGeom>
          <a:solidFill>
            <a:srgbClr val="1C7293"/>
          </a:solidFill>
          <a:ln/>
        </p:spPr>
      </p:sp>
      <p:sp>
        <p:nvSpPr>
          <p:cNvPr id="9" name="Text 7"/>
          <p:cNvSpPr/>
          <p:nvPr/>
        </p:nvSpPr>
        <p:spPr>
          <a:xfrm>
            <a:off x="768096" y="2816352"/>
            <a:ext cx="868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10" name="Text 8"/>
          <p:cNvSpPr/>
          <p:nvPr/>
        </p:nvSpPr>
        <p:spPr>
          <a:xfrm>
            <a:off x="1755648" y="2816352"/>
            <a:ext cx="2103120" cy="502920"/>
          </a:xfrm>
          <a:prstGeom prst="rect">
            <a:avLst/>
          </a:prstGeom>
          <a:noFill/>
          <a:ln/>
        </p:spPr>
        <p:txBody>
          <a:bodyPr wrap="square" lIns="0" tIns="0" rIns="0" bIns="0" rtlCol="0" anchor="ctr"/>
          <a:lstStyle/>
          <a:p>
            <a:pPr indent="0" marL="0">
              <a:buNone/>
            </a:pPr>
            <a:r>
              <a:rPr lang="en-US" sz="1400" b="1" dirty="0">
                <a:solidFill>
                  <a:srgbClr val="10263B"/>
                </a:solidFill>
                <a:latin typeface="Cambria" pitchFamily="34" charset="0"/>
                <a:ea typeface="Cambria" pitchFamily="34" charset="-122"/>
                <a:cs typeface="Cambria" pitchFamily="34" charset="-120"/>
              </a:rPr>
              <a:t>Outer loop</a:t>
            </a:r>
            <a:endParaRPr lang="en-US" sz="1400" dirty="0"/>
          </a:p>
        </p:txBody>
      </p:sp>
      <p:sp>
        <p:nvSpPr>
          <p:cNvPr id="11" name="Text 9"/>
          <p:cNvSpPr/>
          <p:nvPr/>
        </p:nvSpPr>
        <p:spPr>
          <a:xfrm>
            <a:off x="768096" y="3438144"/>
            <a:ext cx="3054096" cy="132588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You must fill in a new value for every state, so one factor of |S| is unavoidable.</a:t>
            </a:r>
            <a:endParaRPr lang="en-US" sz="1250" dirty="0"/>
          </a:p>
        </p:txBody>
      </p:sp>
      <p:sp>
        <p:nvSpPr>
          <p:cNvPr id="12" name="Shape 10"/>
          <p:cNvSpPr/>
          <p:nvPr/>
        </p:nvSpPr>
        <p:spPr>
          <a:xfrm>
            <a:off x="4297680" y="2651760"/>
            <a:ext cx="3456432" cy="2240280"/>
          </a:xfrm>
          <a:prstGeom prst="roundRect">
            <a:avLst>
              <a:gd name="adj" fmla="val 3673"/>
            </a:avLst>
          </a:prstGeom>
          <a:solidFill>
            <a:srgbClr val="EDF2F5"/>
          </a:solidFill>
          <a:ln/>
          <a:effectLst>
            <a:outerShdw sx="100000" sy="100000" kx="0" ky="0" algn="bl" rotWithShape="0" blurRad="101600" dist="17780" dir="5400000">
              <a:srgbClr val="9FB2BF">
                <a:alpha val="20000"/>
              </a:srgbClr>
            </a:outerShdw>
          </a:effectLst>
        </p:spPr>
      </p:sp>
      <p:sp>
        <p:nvSpPr>
          <p:cNvPr id="13" name="Shape 11"/>
          <p:cNvSpPr/>
          <p:nvPr/>
        </p:nvSpPr>
        <p:spPr>
          <a:xfrm>
            <a:off x="4498848" y="2816352"/>
            <a:ext cx="868680" cy="502920"/>
          </a:xfrm>
          <a:prstGeom prst="roundRect">
            <a:avLst>
              <a:gd name="adj" fmla="val 10909"/>
            </a:avLst>
          </a:prstGeom>
          <a:solidFill>
            <a:srgbClr val="E0A32E"/>
          </a:solidFill>
          <a:ln/>
        </p:spPr>
      </p:sp>
      <p:sp>
        <p:nvSpPr>
          <p:cNvPr id="14" name="Text 12"/>
          <p:cNvSpPr/>
          <p:nvPr/>
        </p:nvSpPr>
        <p:spPr>
          <a:xfrm>
            <a:off x="4498848" y="2816352"/>
            <a:ext cx="868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|A|</a:t>
            </a:r>
            <a:endParaRPr lang="en-US" sz="1500" dirty="0"/>
          </a:p>
        </p:txBody>
      </p:sp>
      <p:sp>
        <p:nvSpPr>
          <p:cNvPr id="15" name="Text 13"/>
          <p:cNvSpPr/>
          <p:nvPr/>
        </p:nvSpPr>
        <p:spPr>
          <a:xfrm>
            <a:off x="5486400" y="2816352"/>
            <a:ext cx="2103120" cy="502920"/>
          </a:xfrm>
          <a:prstGeom prst="rect">
            <a:avLst/>
          </a:prstGeom>
          <a:noFill/>
          <a:ln/>
        </p:spPr>
        <p:txBody>
          <a:bodyPr wrap="square" lIns="0" tIns="0" rIns="0" bIns="0" rtlCol="0" anchor="ctr"/>
          <a:lstStyle/>
          <a:p>
            <a:pPr indent="0" marL="0">
              <a:buNone/>
            </a:pPr>
            <a:r>
              <a:rPr lang="en-US" sz="1400" b="1" dirty="0">
                <a:solidFill>
                  <a:srgbClr val="10263B"/>
                </a:solidFill>
                <a:latin typeface="Cambria" pitchFamily="34" charset="0"/>
                <a:ea typeface="Cambria" pitchFamily="34" charset="-122"/>
                <a:cs typeface="Cambria" pitchFamily="34" charset="-120"/>
              </a:rPr>
              <a:t>Action loop</a:t>
            </a:r>
            <a:endParaRPr lang="en-US" sz="1400" dirty="0"/>
          </a:p>
        </p:txBody>
      </p:sp>
      <p:sp>
        <p:nvSpPr>
          <p:cNvPr id="16" name="Text 14"/>
          <p:cNvSpPr/>
          <p:nvPr/>
        </p:nvSpPr>
        <p:spPr>
          <a:xfrm>
            <a:off x="4498848" y="3438144"/>
            <a:ext cx="3054096" cy="132588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For each state you enumerate every action to find the max. This is the factor policy iteration will attack.</a:t>
            </a:r>
            <a:endParaRPr lang="en-US" sz="1250" dirty="0"/>
          </a:p>
        </p:txBody>
      </p:sp>
      <p:sp>
        <p:nvSpPr>
          <p:cNvPr id="17" name="Shape 15"/>
          <p:cNvSpPr/>
          <p:nvPr/>
        </p:nvSpPr>
        <p:spPr>
          <a:xfrm>
            <a:off x="8028432" y="2651760"/>
            <a:ext cx="3456432" cy="2240280"/>
          </a:xfrm>
          <a:prstGeom prst="roundRect">
            <a:avLst>
              <a:gd name="adj" fmla="val 3673"/>
            </a:avLst>
          </a:prstGeom>
          <a:solidFill>
            <a:srgbClr val="EDF2F5"/>
          </a:solidFill>
          <a:ln/>
          <a:effectLst>
            <a:outerShdw sx="100000" sy="100000" kx="0" ky="0" algn="bl" rotWithShape="0" blurRad="101600" dist="17780" dir="5400000">
              <a:srgbClr val="9FB2BF">
                <a:alpha val="20000"/>
              </a:srgbClr>
            </a:outerShdw>
          </a:effectLst>
        </p:spPr>
      </p:sp>
      <p:sp>
        <p:nvSpPr>
          <p:cNvPr id="18" name="Shape 16"/>
          <p:cNvSpPr/>
          <p:nvPr/>
        </p:nvSpPr>
        <p:spPr>
          <a:xfrm>
            <a:off x="8229600" y="2816352"/>
            <a:ext cx="868680" cy="502920"/>
          </a:xfrm>
          <a:prstGeom prst="roundRect">
            <a:avLst>
              <a:gd name="adj" fmla="val 10909"/>
            </a:avLst>
          </a:prstGeom>
          <a:solidFill>
            <a:srgbClr val="2E7D5B"/>
          </a:solidFill>
          <a:ln/>
        </p:spPr>
      </p:sp>
      <p:sp>
        <p:nvSpPr>
          <p:cNvPr id="19" name="Text 17"/>
          <p:cNvSpPr/>
          <p:nvPr/>
        </p:nvSpPr>
        <p:spPr>
          <a:xfrm>
            <a:off x="8229600" y="2816352"/>
            <a:ext cx="86868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|S|</a:t>
            </a:r>
            <a:endParaRPr lang="en-US" sz="1500" dirty="0"/>
          </a:p>
        </p:txBody>
      </p:sp>
      <p:sp>
        <p:nvSpPr>
          <p:cNvPr id="20" name="Text 18"/>
          <p:cNvSpPr/>
          <p:nvPr/>
        </p:nvSpPr>
        <p:spPr>
          <a:xfrm>
            <a:off x="9217152" y="2816352"/>
            <a:ext cx="2103120" cy="502920"/>
          </a:xfrm>
          <a:prstGeom prst="rect">
            <a:avLst/>
          </a:prstGeom>
          <a:noFill/>
          <a:ln/>
        </p:spPr>
        <p:txBody>
          <a:bodyPr wrap="square" lIns="0" tIns="0" rIns="0" bIns="0" rtlCol="0" anchor="ctr"/>
          <a:lstStyle/>
          <a:p>
            <a:pPr indent="0" marL="0">
              <a:buNone/>
            </a:pPr>
            <a:r>
              <a:rPr lang="en-US" sz="1400" b="1" dirty="0">
                <a:solidFill>
                  <a:srgbClr val="10263B"/>
                </a:solidFill>
                <a:latin typeface="Cambria" pitchFamily="34" charset="0"/>
                <a:ea typeface="Cambria" pitchFamily="34" charset="-122"/>
                <a:cs typeface="Cambria" pitchFamily="34" charset="-120"/>
              </a:rPr>
              <a:t>Outcome loop</a:t>
            </a:r>
            <a:endParaRPr lang="en-US" sz="1400" dirty="0"/>
          </a:p>
        </p:txBody>
      </p:sp>
      <p:sp>
        <p:nvSpPr>
          <p:cNvPr id="21" name="Text 19"/>
          <p:cNvSpPr/>
          <p:nvPr/>
        </p:nvSpPr>
        <p:spPr>
          <a:xfrm>
            <a:off x="8229600" y="3438144"/>
            <a:ext cx="3054096" cy="132588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For each action you sum over possible successors. In principle |S|, but in practice this is the branching factor - in gridworld only three or four states are reachable.</a:t>
            </a:r>
            <a:endParaRPr lang="en-US" sz="1250" dirty="0"/>
          </a:p>
        </p:txBody>
      </p:sp>
      <p:sp>
        <p:nvSpPr>
          <p:cNvPr id="22" name="Shape 20"/>
          <p:cNvSpPr/>
          <p:nvPr/>
        </p:nvSpPr>
        <p:spPr>
          <a:xfrm>
            <a:off x="566928" y="5138928"/>
            <a:ext cx="11057839" cy="914400"/>
          </a:xfrm>
          <a:prstGeom prst="roundRect">
            <a:avLst>
              <a:gd name="adj" fmla="val 9000"/>
            </a:avLst>
          </a:prstGeom>
          <a:solidFill>
            <a:srgbClr val="10263B"/>
          </a:solidFill>
          <a:ln/>
          <a:effectLst>
            <a:outerShdw sx="100000" sy="100000" kx="0" ky="0" algn="bl" rotWithShape="0" blurRad="101600" dist="17780" dir="5400000">
              <a:srgbClr val="9FB2BF">
                <a:alpha val="20000"/>
              </a:srgbClr>
            </a:outerShdw>
          </a:effectLst>
        </p:spPr>
      </p:sp>
      <p:sp>
        <p:nvSpPr>
          <p:cNvPr id="23" name="Text 21"/>
          <p:cNvSpPr/>
          <p:nvPr/>
        </p:nvSpPr>
        <p:spPr>
          <a:xfrm>
            <a:off x="822960" y="5138928"/>
            <a:ext cx="10515600" cy="914400"/>
          </a:xfrm>
          <a:prstGeom prst="rect">
            <a:avLst/>
          </a:prstGeom>
          <a:noFill/>
          <a:ln/>
        </p:spPr>
        <p:txBody>
          <a:bodyPr wrap="square" lIns="0" tIns="0" rIns="0" bIns="0" rtlCol="0" anchor="ctr"/>
          <a:lstStyle/>
          <a:p>
            <a:pPr indent="0" marL="0">
              <a:buNone/>
            </a:pPr>
            <a:r>
              <a:rPr lang="en-US" sz="1400" dirty="0">
                <a:solidFill>
                  <a:srgbClr val="DCE7EE"/>
                </a:solidFill>
                <a:latin typeface="Calibri" pitchFamily="34" charset="0"/>
                <a:ea typeface="Calibri" pitchFamily="34" charset="-122"/>
                <a:cs typeface="Calibri" pitchFamily="34" charset="-120"/>
              </a:rPr>
              <a:t>The honest version: the second |S| is really the branching factor of the transition model. Sparse transitions are the normal case, and they are what make value iteration usable at all on real problems.</a:t>
            </a:r>
            <a:endParaRPr lang="en-US" sz="1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Why does this converge at all?</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45</a:t>
            </a:r>
            <a:endParaRPr lang="en-US" sz="900" dirty="0"/>
          </a:p>
        </p:txBody>
      </p:sp>
      <p:sp>
        <p:nvSpPr>
          <p:cNvPr id="5" name="Shape 3"/>
          <p:cNvSpPr/>
          <p:nvPr/>
        </p:nvSpPr>
        <p:spPr>
          <a:xfrm>
            <a:off x="566928" y="1481328"/>
            <a:ext cx="5349240" cy="1481328"/>
          </a:xfrm>
          <a:prstGeom prst="roundRect">
            <a:avLst>
              <a:gd name="adj" fmla="val 5556"/>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04672" y="1609344"/>
            <a:ext cx="4892040"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Case 1: bounded depth</a:t>
            </a:r>
            <a:endParaRPr lang="en-US" sz="1500" dirty="0"/>
          </a:p>
        </p:txBody>
      </p:sp>
      <p:sp>
        <p:nvSpPr>
          <p:cNvPr id="7" name="Text 5"/>
          <p:cNvSpPr/>
          <p:nvPr/>
        </p:nvSpPr>
        <p:spPr>
          <a:xfrm>
            <a:off x="804672" y="1975104"/>
            <a:ext cx="4892040" cy="91440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If the state space has a maximum depth M - the process simply cannot run longer than M steps - then V-M already holds the actual, untruncated values. Nothing is being approximated and we are done.</a:t>
            </a:r>
            <a:endParaRPr lang="en-US" sz="1300" dirty="0"/>
          </a:p>
        </p:txBody>
      </p:sp>
      <p:sp>
        <p:nvSpPr>
          <p:cNvPr id="8" name="Shape 6"/>
          <p:cNvSpPr/>
          <p:nvPr/>
        </p:nvSpPr>
        <p:spPr>
          <a:xfrm>
            <a:off x="6263640" y="1481328"/>
            <a:ext cx="5349240" cy="1481328"/>
          </a:xfrm>
          <a:prstGeom prst="roundRect">
            <a:avLst>
              <a:gd name="adj" fmla="val 5556"/>
            </a:avLst>
          </a:prstGeom>
          <a:solidFill>
            <a:srgbClr val="EDF2F5"/>
          </a:solidFill>
          <a:ln/>
          <a:effectLst>
            <a:outerShdw sx="100000" sy="100000" kx="0" ky="0" algn="bl" rotWithShape="0" blurRad="101600" dist="17780" dir="5400000">
              <a:srgbClr val="9FB2BF">
                <a:alpha val="20000"/>
              </a:srgbClr>
            </a:outerShdw>
          </a:effectLst>
        </p:spPr>
      </p:sp>
      <p:sp>
        <p:nvSpPr>
          <p:cNvPr id="9" name="Text 7"/>
          <p:cNvSpPr/>
          <p:nvPr/>
        </p:nvSpPr>
        <p:spPr>
          <a:xfrm>
            <a:off x="6501384" y="1609344"/>
            <a:ext cx="48920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Case 2: the discount saves us</a:t>
            </a:r>
            <a:endParaRPr lang="en-US" sz="1500" dirty="0"/>
          </a:p>
        </p:txBody>
      </p:sp>
      <p:sp>
        <p:nvSpPr>
          <p:cNvPr id="10" name="Text 8"/>
          <p:cNvSpPr/>
          <p:nvPr/>
        </p:nvSpPr>
        <p:spPr>
          <a:xfrm>
            <a:off x="6501384" y="1975104"/>
            <a:ext cx="4892040" cy="91440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Usually there is no maximum depth and the process can run forever. Then we need gamma &lt; 1 and bounded rewards. Here is the argument.</a:t>
            </a:r>
            <a:endParaRPr lang="en-US" sz="1300" dirty="0"/>
          </a:p>
        </p:txBody>
      </p:sp>
      <p:sp>
        <p:nvSpPr>
          <p:cNvPr id="11" name="Shape 9"/>
          <p:cNvSpPr/>
          <p:nvPr/>
        </p:nvSpPr>
        <p:spPr>
          <a:xfrm>
            <a:off x="566928" y="3364992"/>
            <a:ext cx="420624" cy="420624"/>
          </a:xfrm>
          <a:prstGeom prst="ellipse">
            <a:avLst/>
          </a:prstGeom>
          <a:solidFill>
            <a:srgbClr val="1C7293"/>
          </a:solidFill>
          <a:ln/>
        </p:spPr>
      </p:sp>
      <p:sp>
        <p:nvSpPr>
          <p:cNvPr id="12" name="Text 10"/>
          <p:cNvSpPr/>
          <p:nvPr/>
        </p:nvSpPr>
        <p:spPr>
          <a:xfrm>
            <a:off x="566928"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p:nvPr/>
        </p:nvSpPr>
        <p:spPr>
          <a:xfrm>
            <a:off x="1170432" y="3273552"/>
            <a:ext cx="6236208" cy="640080"/>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V-k and V-(k+1) are both expectimax over nearly identical trees. Same structure, same probabilities, same rewards.</a:t>
            </a:r>
            <a:endParaRPr lang="en-US" sz="1300" dirty="0"/>
          </a:p>
        </p:txBody>
      </p:sp>
      <p:sp>
        <p:nvSpPr>
          <p:cNvPr id="14" name="Shape 12"/>
          <p:cNvSpPr/>
          <p:nvPr/>
        </p:nvSpPr>
        <p:spPr>
          <a:xfrm>
            <a:off x="566928" y="4114800"/>
            <a:ext cx="420624" cy="420624"/>
          </a:xfrm>
          <a:prstGeom prst="ellipse">
            <a:avLst/>
          </a:prstGeom>
          <a:solidFill>
            <a:srgbClr val="1C7293"/>
          </a:solidFill>
          <a:ln/>
        </p:spPr>
      </p:sp>
      <p:sp>
        <p:nvSpPr>
          <p:cNvPr id="15" name="Text 13"/>
          <p:cNvSpPr/>
          <p:nvPr/>
        </p:nvSpPr>
        <p:spPr>
          <a:xfrm>
            <a:off x="566928" y="411480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p:nvPr/>
        </p:nvSpPr>
        <p:spPr>
          <a:xfrm>
            <a:off x="1170432" y="4023360"/>
            <a:ext cx="6236208" cy="640080"/>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The only difference is the bottom layer: V-(k+1) has real rewards down there, while V-k has zeros.</a:t>
            </a:r>
            <a:endParaRPr lang="en-US" sz="1300" dirty="0"/>
          </a:p>
        </p:txBody>
      </p:sp>
      <p:sp>
        <p:nvSpPr>
          <p:cNvPr id="17" name="Shape 15"/>
          <p:cNvSpPr/>
          <p:nvPr/>
        </p:nvSpPr>
        <p:spPr>
          <a:xfrm>
            <a:off x="566928" y="4864608"/>
            <a:ext cx="420624" cy="420624"/>
          </a:xfrm>
          <a:prstGeom prst="ellipse">
            <a:avLst/>
          </a:prstGeom>
          <a:solidFill>
            <a:srgbClr val="1C7293"/>
          </a:solidFill>
          <a:ln/>
        </p:spPr>
      </p:sp>
      <p:sp>
        <p:nvSpPr>
          <p:cNvPr id="18" name="Text 16"/>
          <p:cNvSpPr/>
          <p:nvPr/>
        </p:nvSpPr>
        <p:spPr>
          <a:xfrm>
            <a:off x="566928" y="486460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170432" y="4773168"/>
            <a:ext cx="6236208" cy="640080"/>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That last layer is at best R-max and at worst R-min - but either way it sits k steps out, so it is multiplied by gamma to the k.</a:t>
            </a:r>
            <a:endParaRPr lang="en-US" sz="1300" dirty="0"/>
          </a:p>
        </p:txBody>
      </p:sp>
      <p:sp>
        <p:nvSpPr>
          <p:cNvPr id="20" name="Shape 18"/>
          <p:cNvSpPr/>
          <p:nvPr/>
        </p:nvSpPr>
        <p:spPr>
          <a:xfrm>
            <a:off x="7635240" y="3401568"/>
            <a:ext cx="3977640" cy="822960"/>
          </a:xfrm>
          <a:prstGeom prst="roundRect">
            <a:avLst>
              <a:gd name="adj" fmla="val 6667"/>
            </a:avLst>
          </a:prstGeom>
          <a:solidFill>
            <a:srgbClr val="10263B"/>
          </a:solidFill>
          <a:ln w="12700">
            <a:solidFill>
              <a:srgbClr val="10263B"/>
            </a:solidFill>
            <a:prstDash val="solid"/>
          </a:ln>
        </p:spPr>
      </p:sp>
      <p:sp>
        <p:nvSpPr>
          <p:cNvPr id="21" name="Text 19"/>
          <p:cNvSpPr/>
          <p:nvPr/>
        </p:nvSpPr>
        <p:spPr>
          <a:xfrm>
            <a:off x="7744968" y="3401568"/>
            <a:ext cx="3758184"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 V</a:t>
            </a:r>
            <a:pPr algn="ctr" indent="0" marL="0">
              <a:buNone/>
            </a:pPr>
            <a:r>
              <a:rPr lang="en-US" sz="1500" b="1" baseline="-40000" dirty="0">
                <a:solidFill>
                  <a:srgbClr val="FFFFFF"/>
                </a:solidFill>
                <a:latin typeface="Cambria" pitchFamily="34" charset="0"/>
                <a:ea typeface="Cambria" pitchFamily="34" charset="-122"/>
                <a:cs typeface="Cambria" pitchFamily="34" charset="-120"/>
              </a:rPr>
              <a:t>k</a:t>
            </a:r>
            <a:pPr algn="ctr" indent="0" marL="0">
              <a:buNone/>
            </a:pPr>
            <a:r>
              <a:rPr lang="en-US" sz="1500" b="1" dirty="0">
                <a:solidFill>
                  <a:srgbClr val="FFFFFF"/>
                </a:solidFill>
                <a:latin typeface="Cambria" pitchFamily="34" charset="0"/>
                <a:ea typeface="Cambria" pitchFamily="34" charset="-122"/>
                <a:cs typeface="Cambria" pitchFamily="34" charset="-120"/>
              </a:rPr>
              <a:t> - V</a:t>
            </a:r>
            <a:pPr algn="ctr" indent="0" marL="0">
              <a:buNone/>
            </a:pPr>
            <a:r>
              <a:rPr lang="en-US" sz="1500" b="1" baseline="-40000" dirty="0">
                <a:solidFill>
                  <a:srgbClr val="FFFFFF"/>
                </a:solidFill>
                <a:latin typeface="Cambria" pitchFamily="34" charset="0"/>
                <a:ea typeface="Cambria" pitchFamily="34" charset="-122"/>
                <a:cs typeface="Cambria" pitchFamily="34" charset="-120"/>
              </a:rPr>
              <a:t>k+1</a:t>
            </a:r>
            <a:pPr algn="ctr" indent="0" marL="0">
              <a:buNone/>
            </a:pPr>
            <a:r>
              <a:rPr lang="en-US" sz="1500" b="1" dirty="0">
                <a:solidFill>
                  <a:srgbClr val="FFFFFF"/>
                </a:solidFill>
                <a:latin typeface="Cambria" pitchFamily="34" charset="0"/>
                <a:ea typeface="Cambria" pitchFamily="34" charset="-122"/>
                <a:cs typeface="Cambria" pitchFamily="34" charset="-120"/>
              </a:rPr>
              <a:t> |  ≤  γ</a:t>
            </a:r>
            <a:pPr algn="ctr" indent="0" marL="0">
              <a:buNone/>
            </a:pPr>
            <a:r>
              <a:rPr lang="en-US" sz="1500" b="1" baseline="30000" dirty="0">
                <a:solidFill>
                  <a:srgbClr val="FFFFFF"/>
                </a:solidFill>
                <a:latin typeface="Cambria" pitchFamily="34" charset="0"/>
                <a:ea typeface="Cambria" pitchFamily="34" charset="-122"/>
                <a:cs typeface="Cambria" pitchFamily="34" charset="-120"/>
              </a:rPr>
              <a:t>k</a:t>
            </a:r>
            <a:pPr algn="ctr" indent="0" marL="0">
              <a:buNone/>
            </a:pPr>
            <a:r>
              <a:rPr lang="en-US" sz="1500" b="1" dirty="0">
                <a:solidFill>
                  <a:srgbClr val="FFFFFF"/>
                </a:solidFill>
                <a:latin typeface="Cambria" pitchFamily="34" charset="0"/>
                <a:ea typeface="Cambria" pitchFamily="34" charset="-122"/>
                <a:cs typeface="Cambria" pitchFamily="34" charset="-120"/>
              </a:rPr>
              <a:t> max|R|</a:t>
            </a:r>
            <a:endParaRPr lang="en-US" sz="1500" dirty="0"/>
          </a:p>
        </p:txBody>
      </p:sp>
      <p:sp>
        <p:nvSpPr>
          <p:cNvPr id="22" name="Text 20"/>
          <p:cNvSpPr/>
          <p:nvPr/>
        </p:nvSpPr>
        <p:spPr>
          <a:xfrm>
            <a:off x="7635240" y="4334256"/>
            <a:ext cx="3977640" cy="82296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Gamma to the k goes to zero, so the differences vanish. The convergence is geometric, at rate gamma.</a:t>
            </a:r>
            <a:endParaRPr lang="en-US" sz="1250" dirty="0"/>
          </a:p>
        </p:txBody>
      </p:sp>
      <p:sp>
        <p:nvSpPr>
          <p:cNvPr id="23" name="Shape 21"/>
          <p:cNvSpPr/>
          <p:nvPr/>
        </p:nvSpPr>
        <p:spPr>
          <a:xfrm>
            <a:off x="566928" y="5669280"/>
            <a:ext cx="11057839" cy="502920"/>
          </a:xfrm>
          <a:prstGeom prst="roundRect">
            <a:avLst>
              <a:gd name="adj" fmla="val 16364"/>
            </a:avLst>
          </a:prstGeom>
          <a:solidFill>
            <a:srgbClr val="F5DFA8"/>
          </a:solidFill>
          <a:ln/>
        </p:spPr>
      </p:sp>
      <p:sp>
        <p:nvSpPr>
          <p:cNvPr id="24" name="Text 22"/>
          <p:cNvSpPr/>
          <p:nvPr/>
        </p:nvSpPr>
        <p:spPr>
          <a:xfrm>
            <a:off x="804672" y="5669280"/>
            <a:ext cx="10515600" cy="502920"/>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If neither case holds - infinite horizon, no discount, unbounded accumulation - the values genuinely may not exist. The theorem is not being coy.</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The sharper version: contraction and stopping rules</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AIMA 17.2.1  |  This is where the hand-wave becomes a proof</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46</a:t>
            </a:r>
            <a:endParaRPr lang="en-US" sz="900" dirty="0"/>
          </a:p>
        </p:txBody>
      </p:sp>
      <p:sp>
        <p:nvSpPr>
          <p:cNvPr id="6" name="Shape 4"/>
          <p:cNvSpPr/>
          <p:nvPr/>
        </p:nvSpPr>
        <p:spPr>
          <a:xfrm>
            <a:off x="566928" y="1874520"/>
            <a:ext cx="5349240" cy="1874520"/>
          </a:xfrm>
          <a:prstGeom prst="roundRect">
            <a:avLst>
              <a:gd name="adj" fmla="val 4390"/>
            </a:avLst>
          </a:prstGeom>
          <a:solidFill>
            <a:srgbClr val="EDF2F5"/>
          </a:solidFill>
          <a:ln/>
          <a:effectLst>
            <a:outerShdw sx="100000" sy="100000" kx="0" ky="0" algn="bl" rotWithShape="0" blurRad="101600" dist="17780" dir="5400000">
              <a:srgbClr val="9FB2BF">
                <a:alpha val="20000"/>
              </a:srgbClr>
            </a:outerShdw>
          </a:effectLst>
        </p:spPr>
      </p:sp>
      <p:sp>
        <p:nvSpPr>
          <p:cNvPr id="7" name="Text 5"/>
          <p:cNvSpPr/>
          <p:nvPr/>
        </p:nvSpPr>
        <p:spPr>
          <a:xfrm>
            <a:off x="804672" y="1993392"/>
            <a:ext cx="4892040" cy="310896"/>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The Bellman operator is a contraction</a:t>
            </a:r>
            <a:endParaRPr lang="en-US" sz="1400" dirty="0"/>
          </a:p>
        </p:txBody>
      </p:sp>
      <p:sp>
        <p:nvSpPr>
          <p:cNvPr id="8" name="Text 6"/>
          <p:cNvSpPr/>
          <p:nvPr/>
        </p:nvSpPr>
        <p:spPr>
          <a:xfrm>
            <a:off x="804672" y="2359152"/>
            <a:ext cx="4892040" cy="457200"/>
          </a:xfrm>
          <a:prstGeom prst="rect">
            <a:avLst/>
          </a:prstGeom>
          <a:noFill/>
          <a:ln/>
        </p:spPr>
        <p:txBody>
          <a:bodyPr wrap="square" lIns="0" tIns="0" rIns="0" bIns="0" rtlCol="0" anchor="ctr"/>
          <a:lstStyle/>
          <a:p>
            <a:pPr indent="0" marL="0">
              <a:buNone/>
            </a:pPr>
            <a:r>
              <a:rPr lang="en-US" sz="1500" b="1" dirty="0">
                <a:solidFill>
                  <a:srgbClr val="10263B"/>
                </a:solidFill>
                <a:latin typeface="Cambria" pitchFamily="34" charset="0"/>
                <a:ea typeface="Cambria" pitchFamily="34" charset="-122"/>
                <a:cs typeface="Cambria" pitchFamily="34" charset="-120"/>
              </a:rPr>
              <a:t>|| B U  -  B U' ||</a:t>
            </a:r>
            <a:pPr indent="0" marL="0">
              <a:buNone/>
            </a:pPr>
            <a:r>
              <a:rPr lang="en-US" sz="1500" b="1" baseline="-40000" dirty="0">
                <a:solidFill>
                  <a:srgbClr val="10263B"/>
                </a:solidFill>
                <a:latin typeface="Cambria" pitchFamily="34" charset="0"/>
                <a:ea typeface="Cambria" pitchFamily="34" charset="-122"/>
                <a:cs typeface="Cambria" pitchFamily="34" charset="-120"/>
              </a:rPr>
              <a:t>∞</a:t>
            </a:r>
            <a:pPr indent="0" marL="0">
              <a:buNone/>
            </a:pPr>
            <a:r>
              <a:rPr lang="en-US" sz="1500" b="1" dirty="0">
                <a:solidFill>
                  <a:srgbClr val="10263B"/>
                </a:solidFill>
                <a:latin typeface="Cambria" pitchFamily="34" charset="0"/>
                <a:ea typeface="Cambria" pitchFamily="34" charset="-122"/>
                <a:cs typeface="Cambria" pitchFamily="34" charset="-120"/>
              </a:rPr>
              <a:t>   ≤   γ || U - U' ||</a:t>
            </a:r>
            <a:pPr indent="0" marL="0">
              <a:buNone/>
            </a:pPr>
            <a:r>
              <a:rPr lang="en-US" sz="1500" b="1" baseline="-40000" dirty="0">
                <a:solidFill>
                  <a:srgbClr val="10263B"/>
                </a:solidFill>
                <a:latin typeface="Cambria" pitchFamily="34" charset="0"/>
                <a:ea typeface="Cambria" pitchFamily="34" charset="-122"/>
                <a:cs typeface="Cambria" pitchFamily="34" charset="-120"/>
              </a:rPr>
              <a:t>∞</a:t>
            </a:r>
            <a:endParaRPr lang="en-US" sz="1500" dirty="0"/>
          </a:p>
        </p:txBody>
      </p:sp>
      <p:sp>
        <p:nvSpPr>
          <p:cNvPr id="9" name="Text 7"/>
          <p:cNvSpPr/>
          <p:nvPr/>
        </p:nvSpPr>
        <p:spPr>
          <a:xfrm>
            <a:off x="804672" y="2852928"/>
            <a:ext cx="4892040" cy="82296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Applying one Bellman update to any two value vectors brings them at least a factor of gamma closer, in max norm. A contraction has exactly one fixed point, and iterating always reaches it.</a:t>
            </a:r>
            <a:endParaRPr lang="en-US" sz="1250" dirty="0"/>
          </a:p>
        </p:txBody>
      </p:sp>
      <p:sp>
        <p:nvSpPr>
          <p:cNvPr id="10" name="Shape 8"/>
          <p:cNvSpPr/>
          <p:nvPr/>
        </p:nvSpPr>
        <p:spPr>
          <a:xfrm>
            <a:off x="6263640" y="1874520"/>
            <a:ext cx="5349240" cy="1874520"/>
          </a:xfrm>
          <a:prstGeom prst="roundRect">
            <a:avLst>
              <a:gd name="adj" fmla="val 4390"/>
            </a:avLst>
          </a:prstGeom>
          <a:solidFill>
            <a:srgbClr val="10263B"/>
          </a:solidFill>
          <a:ln/>
          <a:effectLst>
            <a:outerShdw sx="100000" sy="100000" kx="0" ky="0" algn="bl" rotWithShape="0" blurRad="101600" dist="17780" dir="5400000">
              <a:srgbClr val="9FB2BF">
                <a:alpha val="20000"/>
              </a:srgbClr>
            </a:outerShdw>
          </a:effectLst>
        </p:spPr>
      </p:sp>
      <p:sp>
        <p:nvSpPr>
          <p:cNvPr id="11" name="Text 9"/>
          <p:cNvSpPr/>
          <p:nvPr/>
        </p:nvSpPr>
        <p:spPr>
          <a:xfrm>
            <a:off x="6501384" y="1993392"/>
            <a:ext cx="4892040" cy="310896"/>
          </a:xfrm>
          <a:prstGeom prst="rect">
            <a:avLst/>
          </a:prstGeom>
          <a:noFill/>
          <a:ln/>
        </p:spPr>
        <p:txBody>
          <a:bodyPr wrap="square" lIns="0" tIns="0" rIns="0" bIns="0" rtlCol="0" anchor="ctr"/>
          <a:lstStyle/>
          <a:p>
            <a:pPr indent="0" marL="0">
              <a:buNone/>
            </a:pPr>
            <a:r>
              <a:rPr lang="en-US" sz="1400" b="1" dirty="0">
                <a:solidFill>
                  <a:srgbClr val="E0A32E"/>
                </a:solidFill>
                <a:latin typeface="Cambria" pitchFamily="34" charset="0"/>
                <a:ea typeface="Cambria" pitchFamily="34" charset="-122"/>
                <a:cs typeface="Cambria" pitchFamily="34" charset="-120"/>
              </a:rPr>
              <a:t>So uniqueness comes free</a:t>
            </a:r>
            <a:endParaRPr lang="en-US" sz="1400" dirty="0"/>
          </a:p>
        </p:txBody>
      </p:sp>
      <p:sp>
        <p:nvSpPr>
          <p:cNvPr id="12" name="Text 10"/>
          <p:cNvSpPr/>
          <p:nvPr/>
        </p:nvSpPr>
        <p:spPr>
          <a:xfrm>
            <a:off x="6501384" y="2359152"/>
            <a:ext cx="4892040" cy="1280160"/>
          </a:xfrm>
          <a:prstGeom prst="rect">
            <a:avLst/>
          </a:prstGeom>
          <a:noFill/>
          <a:ln/>
        </p:spPr>
        <p:txBody>
          <a:bodyPr wrap="square" lIns="0" tIns="0" rIns="0" bIns="0" rtlCol="0" anchor="t"/>
          <a:lstStyle/>
          <a:p>
            <a:pPr indent="0" marL="0">
              <a:buNone/>
            </a:pPr>
            <a:r>
              <a:rPr lang="en-US" sz="1250" dirty="0">
                <a:solidFill>
                  <a:srgbClr val="DCE7EE"/>
                </a:solidFill>
                <a:latin typeface="Calibri" pitchFamily="34" charset="0"/>
                <a:ea typeface="Calibri" pitchFamily="34" charset="-122"/>
                <a:cs typeface="Calibri" pitchFamily="34" charset="-120"/>
              </a:rPr>
              <a:t>Earlier we said the Bellman equations characterize the optimal values, and asserted the solution is unique. This is the proof: a contraction on a complete space has one and only one fixed point. Both convergence and uniqueness fall out of the same inequality.</a:t>
            </a:r>
            <a:endParaRPr lang="en-US" sz="1250" dirty="0"/>
          </a:p>
        </p:txBody>
      </p:sp>
      <p:sp>
        <p:nvSpPr>
          <p:cNvPr id="13" name="Text 11"/>
          <p:cNvSpPr/>
          <p:nvPr/>
        </p:nvSpPr>
        <p:spPr>
          <a:xfrm>
            <a:off x="566928" y="3931920"/>
            <a:ext cx="11057839" cy="329184"/>
          </a:xfrm>
          <a:prstGeom prst="rect">
            <a:avLst/>
          </a:prstGeom>
          <a:noFill/>
          <a:ln/>
        </p:spPr>
        <p:txBody>
          <a:bodyPr wrap="square" lIns="0" tIns="0" rIns="0" bIns="0" rtlCol="0" anchor="ctr"/>
          <a:lstStyle/>
          <a:p>
            <a:pPr indent="0" marL="0">
              <a:buNone/>
            </a:pPr>
            <a:r>
              <a:rPr lang="en-US" sz="1500" b="1" dirty="0">
                <a:solidFill>
                  <a:srgbClr val="10263B"/>
                </a:solidFill>
                <a:latin typeface="Cambria" pitchFamily="34" charset="0"/>
                <a:ea typeface="Cambria" pitchFamily="34" charset="-122"/>
                <a:cs typeface="Cambria" pitchFamily="34" charset="-120"/>
              </a:rPr>
              <a:t>Two practical consequences</a:t>
            </a:r>
            <a:endParaRPr lang="en-US" sz="1500" dirty="0"/>
          </a:p>
        </p:txBody>
      </p:sp>
      <p:sp>
        <p:nvSpPr>
          <p:cNvPr id="14" name="Shape 12"/>
          <p:cNvSpPr/>
          <p:nvPr/>
        </p:nvSpPr>
        <p:spPr>
          <a:xfrm>
            <a:off x="566928" y="4352544"/>
            <a:ext cx="5349240" cy="777240"/>
          </a:xfrm>
          <a:prstGeom prst="roundRect">
            <a:avLst>
              <a:gd name="adj" fmla="val 7059"/>
            </a:avLst>
          </a:prstGeom>
          <a:solidFill>
            <a:srgbClr val="F7FAFB"/>
          </a:solidFill>
          <a:ln w="12700">
            <a:solidFill>
              <a:srgbClr val="D3DDE3"/>
            </a:solidFill>
            <a:prstDash val="solid"/>
          </a:ln>
        </p:spPr>
      </p:sp>
      <p:sp>
        <p:nvSpPr>
          <p:cNvPr id="15" name="Text 13"/>
          <p:cNvSpPr/>
          <p:nvPr/>
        </p:nvSpPr>
        <p:spPr>
          <a:xfrm>
            <a:off x="676656" y="4352544"/>
            <a:ext cx="5129784" cy="777240"/>
          </a:xfrm>
          <a:prstGeom prst="rect">
            <a:avLst/>
          </a:prstGeom>
          <a:noFill/>
          <a:ln/>
        </p:spPr>
        <p:txBody>
          <a:bodyPr wrap="square" lIns="0" tIns="0" rIns="0" bIns="0" rtlCol="0" anchor="ctr"/>
          <a:lstStyle/>
          <a:p>
            <a:pPr algn="ctr" indent="0" marL="0">
              <a:buNone/>
            </a:pPr>
            <a:r>
              <a:rPr lang="en-US" sz="1400" b="1" dirty="0">
                <a:solidFill>
                  <a:srgbClr val="10263B"/>
                </a:solidFill>
                <a:latin typeface="Cambria" pitchFamily="34" charset="0"/>
                <a:ea typeface="Cambria" pitchFamily="34" charset="-122"/>
                <a:cs typeface="Cambria" pitchFamily="34" charset="-120"/>
              </a:rPr>
              <a:t>N  =  ⌈ log( 2R</a:t>
            </a:r>
            <a:pPr algn="ctr" indent="0" marL="0">
              <a:buNone/>
            </a:pPr>
            <a:r>
              <a:rPr lang="en-US" sz="1400" b="1" baseline="-40000" dirty="0">
                <a:solidFill>
                  <a:srgbClr val="10263B"/>
                </a:solidFill>
                <a:latin typeface="Cambria" pitchFamily="34" charset="0"/>
                <a:ea typeface="Cambria" pitchFamily="34" charset="-122"/>
                <a:cs typeface="Cambria" pitchFamily="34" charset="-120"/>
              </a:rPr>
              <a:t>max</a:t>
            </a:r>
            <a:pPr algn="ctr" indent="0" marL="0">
              <a:buNone/>
            </a:pPr>
            <a:r>
              <a:rPr lang="en-US" sz="1400" b="1" dirty="0">
                <a:solidFill>
                  <a:srgbClr val="10263B"/>
                </a:solidFill>
                <a:latin typeface="Cambria" pitchFamily="34" charset="0"/>
                <a:ea typeface="Cambria" pitchFamily="34" charset="-122"/>
                <a:cs typeface="Cambria" pitchFamily="34" charset="-120"/>
              </a:rPr>
              <a:t> / ε(1-γ) ) / log(1/γ) ⌉</a:t>
            </a:r>
            <a:endParaRPr lang="en-US" sz="1400" dirty="0"/>
          </a:p>
        </p:txBody>
      </p:sp>
      <p:sp>
        <p:nvSpPr>
          <p:cNvPr id="16" name="Text 14"/>
          <p:cNvSpPr/>
          <p:nvPr/>
        </p:nvSpPr>
        <p:spPr>
          <a:xfrm>
            <a:off x="566928" y="5157216"/>
            <a:ext cx="534924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iterations needed to guarantee error below epsilon</a:t>
            </a:r>
            <a:endParaRPr lang="en-US" sz="1100" dirty="0"/>
          </a:p>
        </p:txBody>
      </p:sp>
      <p:sp>
        <p:nvSpPr>
          <p:cNvPr id="17" name="Shape 15"/>
          <p:cNvSpPr/>
          <p:nvPr/>
        </p:nvSpPr>
        <p:spPr>
          <a:xfrm>
            <a:off x="6263640" y="4352544"/>
            <a:ext cx="5349240" cy="777240"/>
          </a:xfrm>
          <a:prstGeom prst="roundRect">
            <a:avLst>
              <a:gd name="adj" fmla="val 7059"/>
            </a:avLst>
          </a:prstGeom>
          <a:solidFill>
            <a:srgbClr val="F7FAFB"/>
          </a:solidFill>
          <a:ln w="12700">
            <a:solidFill>
              <a:srgbClr val="D3DDE3"/>
            </a:solidFill>
            <a:prstDash val="solid"/>
          </a:ln>
        </p:spPr>
      </p:sp>
      <p:sp>
        <p:nvSpPr>
          <p:cNvPr id="18" name="Text 16"/>
          <p:cNvSpPr/>
          <p:nvPr/>
        </p:nvSpPr>
        <p:spPr>
          <a:xfrm>
            <a:off x="6373368" y="4352544"/>
            <a:ext cx="5129784" cy="777240"/>
          </a:xfrm>
          <a:prstGeom prst="rect">
            <a:avLst/>
          </a:prstGeom>
          <a:noFill/>
          <a:ln/>
        </p:spPr>
        <p:txBody>
          <a:bodyPr wrap="square" lIns="0" tIns="0" rIns="0" bIns="0" rtlCol="0" anchor="ctr"/>
          <a:lstStyle/>
          <a:p>
            <a:pPr algn="ctr" indent="0" marL="0">
              <a:buNone/>
            </a:pPr>
            <a:r>
              <a:rPr lang="en-US" sz="1300" b="1" dirty="0">
                <a:solidFill>
                  <a:srgbClr val="10263B"/>
                </a:solidFill>
                <a:latin typeface="Cambria" pitchFamily="34" charset="0"/>
                <a:ea typeface="Cambria" pitchFamily="34" charset="-122"/>
                <a:cs typeface="Cambria" pitchFamily="34" charset="-120"/>
              </a:rPr>
              <a:t>if || V</a:t>
            </a:r>
            <a:pPr algn="ctr" indent="0" marL="0">
              <a:buNone/>
            </a:pPr>
            <a:r>
              <a:rPr lang="en-US" sz="1300" b="1" baseline="-40000" dirty="0">
                <a:solidFill>
                  <a:srgbClr val="10263B"/>
                </a:solidFill>
                <a:latin typeface="Cambria" pitchFamily="34" charset="0"/>
                <a:ea typeface="Cambria" pitchFamily="34" charset="-122"/>
                <a:cs typeface="Cambria" pitchFamily="34" charset="-120"/>
              </a:rPr>
              <a:t>i+1</a:t>
            </a:r>
            <a:pPr algn="ctr" indent="0" marL="0">
              <a:buNone/>
            </a:pPr>
            <a:r>
              <a:rPr lang="en-US" sz="1300" b="1" dirty="0">
                <a:solidFill>
                  <a:srgbClr val="10263B"/>
                </a:solidFill>
                <a:latin typeface="Cambria" pitchFamily="34" charset="0"/>
                <a:ea typeface="Cambria" pitchFamily="34" charset="-122"/>
                <a:cs typeface="Cambria" pitchFamily="34" charset="-120"/>
              </a:rPr>
              <a:t> - V</a:t>
            </a:r>
            <a:pPr algn="ctr" indent="0" marL="0">
              <a:buNone/>
            </a:pPr>
            <a:r>
              <a:rPr lang="en-US" sz="1300" b="1" baseline="-40000" dirty="0">
                <a:solidFill>
                  <a:srgbClr val="10263B"/>
                </a:solidFill>
                <a:latin typeface="Cambria" pitchFamily="34" charset="0"/>
                <a:ea typeface="Cambria" pitchFamily="34" charset="-122"/>
                <a:cs typeface="Cambria" pitchFamily="34" charset="-120"/>
              </a:rPr>
              <a:t>i</a:t>
            </a:r>
            <a:pPr algn="ctr" indent="0" marL="0">
              <a:buNone/>
            </a:pPr>
            <a:r>
              <a:rPr lang="en-US" sz="1300" b="1" dirty="0">
                <a:solidFill>
                  <a:srgbClr val="10263B"/>
                </a:solidFill>
                <a:latin typeface="Cambria" pitchFamily="34" charset="0"/>
                <a:ea typeface="Cambria" pitchFamily="34" charset="-122"/>
                <a:cs typeface="Cambria" pitchFamily="34" charset="-120"/>
              </a:rPr>
              <a:t> || &lt; ε(1-γ)/γ   then   || V</a:t>
            </a:r>
            <a:pPr algn="ctr" indent="0" marL="0">
              <a:buNone/>
            </a:pPr>
            <a:r>
              <a:rPr lang="en-US" sz="1300" b="1" baseline="-40000" dirty="0">
                <a:solidFill>
                  <a:srgbClr val="10263B"/>
                </a:solidFill>
                <a:latin typeface="Cambria" pitchFamily="34" charset="0"/>
                <a:ea typeface="Cambria" pitchFamily="34" charset="-122"/>
                <a:cs typeface="Cambria" pitchFamily="34" charset="-120"/>
              </a:rPr>
              <a:t>i+1</a:t>
            </a:r>
            <a:pPr algn="ctr" indent="0" marL="0">
              <a:buNone/>
            </a:pPr>
            <a:r>
              <a:rPr lang="en-US" sz="1300" b="1" dirty="0">
                <a:solidFill>
                  <a:srgbClr val="10263B"/>
                </a:solidFill>
                <a:latin typeface="Cambria" pitchFamily="34" charset="0"/>
                <a:ea typeface="Cambria" pitchFamily="34" charset="-122"/>
                <a:cs typeface="Cambria" pitchFamily="34" charset="-120"/>
              </a:rPr>
              <a:t> - V</a:t>
            </a:r>
            <a:pPr algn="ctr" indent="0" marL="0">
              <a:buNone/>
            </a:pPr>
            <a:r>
              <a:rPr lang="en-US" sz="1300" b="1" baseline="30000" dirty="0">
                <a:solidFill>
                  <a:srgbClr val="10263B"/>
                </a:solidFill>
                <a:latin typeface="Cambria" pitchFamily="34" charset="0"/>
                <a:ea typeface="Cambria" pitchFamily="34" charset="-122"/>
                <a:cs typeface="Cambria" pitchFamily="34" charset="-120"/>
              </a:rPr>
              <a:t>*</a:t>
            </a:r>
            <a:pPr algn="ctr" indent="0" marL="0">
              <a:buNone/>
            </a:pPr>
            <a:r>
              <a:rPr lang="en-US" sz="1300" b="1" dirty="0">
                <a:solidFill>
                  <a:srgbClr val="10263B"/>
                </a:solidFill>
                <a:latin typeface="Cambria" pitchFamily="34" charset="0"/>
                <a:ea typeface="Cambria" pitchFamily="34" charset="-122"/>
                <a:cs typeface="Cambria" pitchFamily="34" charset="-120"/>
              </a:rPr>
              <a:t> || &lt; ε</a:t>
            </a:r>
            <a:endParaRPr lang="en-US" sz="1300" dirty="0"/>
          </a:p>
        </p:txBody>
      </p:sp>
      <p:sp>
        <p:nvSpPr>
          <p:cNvPr id="19" name="Text 17"/>
          <p:cNvSpPr/>
          <p:nvPr/>
        </p:nvSpPr>
        <p:spPr>
          <a:xfrm>
            <a:off x="6263640" y="5157216"/>
            <a:ext cx="534924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the stopping rule you can actually check at runtime</a:t>
            </a:r>
            <a:endParaRPr lang="en-US" sz="1100" dirty="0"/>
          </a:p>
        </p:txBody>
      </p:sp>
      <p:sp>
        <p:nvSpPr>
          <p:cNvPr id="20" name="Shape 18"/>
          <p:cNvSpPr/>
          <p:nvPr/>
        </p:nvSpPr>
        <p:spPr>
          <a:xfrm>
            <a:off x="566928" y="5468112"/>
            <a:ext cx="11057839" cy="658368"/>
          </a:xfrm>
          <a:prstGeom prst="roundRect">
            <a:avLst>
              <a:gd name="adj" fmla="val 12500"/>
            </a:avLst>
          </a:prstGeom>
          <a:solidFill>
            <a:srgbClr val="F5DFA8"/>
          </a:solidFill>
          <a:ln/>
        </p:spPr>
      </p:sp>
      <p:sp>
        <p:nvSpPr>
          <p:cNvPr id="21" name="Text 19"/>
          <p:cNvSpPr/>
          <p:nvPr/>
        </p:nvSpPr>
        <p:spPr>
          <a:xfrm>
            <a:off x="804672" y="5468112"/>
            <a:ext cx="10515600" cy="658368"/>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Note the (1 - gamma) in both denominators. As gamma approaches 1 the required iteration count blows up - which is exactly the gamma = 0.99 curve you saw flattening out on the convergence plot.</a:t>
            </a:r>
            <a:endParaRPr lang="en-US" sz="12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Values converge slowly; policies converge fast</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47</a:t>
            </a:r>
            <a:endParaRPr lang="en-US" sz="900" dirty="0"/>
          </a:p>
        </p:txBody>
      </p:sp>
      <p:pic>
        <p:nvPicPr>
          <p:cNvPr id="5" name="Image 0" descr="fig_convergence.png">    </p:cNvPr>
          <p:cNvPicPr>
            <a:picLocks noChangeAspect="1"/>
          </p:cNvPicPr>
          <p:nvPr/>
        </p:nvPicPr>
        <p:blipFill>
          <a:blip r:embed="rId1"/>
          <a:srcRect l="0" r="0" t="0" b="0"/>
          <a:stretch/>
        </p:blipFill>
        <p:spPr>
          <a:xfrm>
            <a:off x="975208" y="1417320"/>
            <a:ext cx="10241280" cy="3566160"/>
          </a:xfrm>
          <a:prstGeom prst="rect">
            <a:avLst/>
          </a:prstGeom>
        </p:spPr>
      </p:pic>
      <p:sp>
        <p:nvSpPr>
          <p:cNvPr id="6" name="Text 3"/>
          <p:cNvSpPr/>
          <p:nvPr/>
        </p:nvSpPr>
        <p:spPr>
          <a:xfrm>
            <a:off x="566928" y="5074920"/>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Left: error against V*, log scale, three discount factors. Right: value movement versus the number of states where the greedy policy still disagrees with pi*.</a:t>
            </a:r>
            <a:endParaRPr lang="en-US" sz="1250" dirty="0"/>
          </a:p>
        </p:txBody>
      </p:sp>
      <p:sp>
        <p:nvSpPr>
          <p:cNvPr id="7" name="Shape 4"/>
          <p:cNvSpPr/>
          <p:nvPr/>
        </p:nvSpPr>
        <p:spPr>
          <a:xfrm>
            <a:off x="566928" y="5321808"/>
            <a:ext cx="5349240" cy="822960"/>
          </a:xfrm>
          <a:prstGeom prst="roundRect">
            <a:avLst>
              <a:gd name="adj" fmla="val 10000"/>
            </a:avLst>
          </a:prstGeom>
          <a:solidFill>
            <a:srgbClr val="EDF2F5"/>
          </a:solidFill>
          <a:ln/>
        </p:spPr>
      </p:sp>
      <p:sp>
        <p:nvSpPr>
          <p:cNvPr id="8" name="Text 5"/>
          <p:cNvSpPr/>
          <p:nvPr/>
        </p:nvSpPr>
        <p:spPr>
          <a:xfrm>
            <a:off x="786384" y="5321808"/>
            <a:ext cx="4937760" cy="822960"/>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You do not need exact values to rank actions. Being roughly right about every state is usually enough to know which action wins.</a:t>
            </a:r>
            <a:endParaRPr lang="en-US" sz="1250" dirty="0"/>
          </a:p>
        </p:txBody>
      </p:sp>
      <p:sp>
        <p:nvSpPr>
          <p:cNvPr id="9" name="Shape 6"/>
          <p:cNvSpPr/>
          <p:nvPr/>
        </p:nvSpPr>
        <p:spPr>
          <a:xfrm>
            <a:off x="6263640" y="5321808"/>
            <a:ext cx="5349240" cy="822960"/>
          </a:xfrm>
          <a:prstGeom prst="roundRect">
            <a:avLst>
              <a:gd name="adj" fmla="val 6667"/>
            </a:avLst>
          </a:prstGeom>
          <a:solidFill>
            <a:srgbClr val="F7FAFB"/>
          </a:solidFill>
          <a:ln w="12700">
            <a:solidFill>
              <a:srgbClr val="D3DDE3"/>
            </a:solidFill>
            <a:prstDash val="solid"/>
          </a:ln>
        </p:spPr>
      </p:sp>
      <p:sp>
        <p:nvSpPr>
          <p:cNvPr id="10" name="Text 7"/>
          <p:cNvSpPr/>
          <p:nvPr/>
        </p:nvSpPr>
        <p:spPr>
          <a:xfrm>
            <a:off x="6373368" y="5321808"/>
            <a:ext cx="5129784" cy="822960"/>
          </a:xfrm>
          <a:prstGeom prst="rect">
            <a:avLst/>
          </a:prstGeom>
          <a:noFill/>
          <a:ln/>
        </p:spPr>
        <p:txBody>
          <a:bodyPr wrap="square" lIns="0" tIns="0" rIns="0" bIns="0" rtlCol="0" anchor="ctr"/>
          <a:lstStyle/>
          <a:p>
            <a:pPr algn="ctr" indent="0" marL="0">
              <a:buNone/>
            </a:pPr>
            <a:r>
              <a:rPr lang="en-US" sz="1250" b="1" dirty="0">
                <a:solidFill>
                  <a:srgbClr val="10263B"/>
                </a:solidFill>
                <a:latin typeface="Cambria" pitchFamily="34" charset="0"/>
                <a:ea typeface="Cambria" pitchFamily="34" charset="-122"/>
                <a:cs typeface="Cambria" pitchFamily="34" charset="-120"/>
              </a:rPr>
              <a:t>|| V</a:t>
            </a:r>
            <a:pPr algn="ctr" indent="0" marL="0">
              <a:buNone/>
            </a:pPr>
            <a:r>
              <a:rPr lang="en-US" sz="1250" b="1" baseline="-40000" dirty="0">
                <a:solidFill>
                  <a:srgbClr val="10263B"/>
                </a:solidFill>
                <a:latin typeface="Cambria" pitchFamily="34" charset="0"/>
                <a:ea typeface="Cambria" pitchFamily="34" charset="-122"/>
                <a:cs typeface="Cambria" pitchFamily="34" charset="-120"/>
              </a:rPr>
              <a:t>i</a:t>
            </a:r>
            <a:pPr algn="ctr" indent="0" marL="0">
              <a:buNone/>
            </a:pPr>
            <a:r>
              <a:rPr lang="en-US" sz="1250" b="1" dirty="0">
                <a:solidFill>
                  <a:srgbClr val="10263B"/>
                </a:solidFill>
                <a:latin typeface="Cambria" pitchFamily="34" charset="0"/>
                <a:ea typeface="Cambria" pitchFamily="34" charset="-122"/>
                <a:cs typeface="Cambria" pitchFamily="34" charset="-120"/>
              </a:rPr>
              <a:t> - V</a:t>
            </a:r>
            <a:pPr algn="ctr" indent="0" marL="0">
              <a:buNone/>
            </a:pPr>
            <a:r>
              <a:rPr lang="en-US" sz="1250" b="1" baseline="30000" dirty="0">
                <a:solidFill>
                  <a:srgbClr val="10263B"/>
                </a:solidFill>
                <a:latin typeface="Cambria" pitchFamily="34" charset="0"/>
                <a:ea typeface="Cambria" pitchFamily="34" charset="-122"/>
                <a:cs typeface="Cambria" pitchFamily="34" charset="-120"/>
              </a:rPr>
              <a:t>*</a:t>
            </a:r>
            <a:pPr algn="ctr" indent="0" marL="0">
              <a:buNone/>
            </a:pPr>
            <a:r>
              <a:rPr lang="en-US" sz="1250" b="1" dirty="0">
                <a:solidFill>
                  <a:srgbClr val="10263B"/>
                </a:solidFill>
                <a:latin typeface="Cambria" pitchFamily="34" charset="0"/>
                <a:ea typeface="Cambria" pitchFamily="34" charset="-122"/>
                <a:cs typeface="Cambria" pitchFamily="34" charset="-120"/>
              </a:rPr>
              <a:t> || &lt; ε   ⇒   policy loss &lt; 2εγ / (1-γ)</a:t>
            </a:r>
            <a:endParaRPr lang="en-US" sz="12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48</a:t>
            </a:r>
            <a:endParaRPr lang="en-US" sz="900" dirty="0"/>
          </a:p>
        </p:txBody>
      </p:sp>
      <p:sp>
        <p:nvSpPr>
          <p:cNvPr id="4" name="Text 2"/>
          <p:cNvSpPr/>
          <p:nvPr/>
        </p:nvSpPr>
        <p:spPr>
          <a:xfrm>
            <a:off x="566928" y="1417320"/>
            <a:ext cx="2926080" cy="1463040"/>
          </a:xfrm>
          <a:prstGeom prst="rect">
            <a:avLst/>
          </a:prstGeom>
          <a:noFill/>
          <a:ln/>
        </p:spPr>
        <p:txBody>
          <a:bodyPr wrap="square" lIns="0" tIns="0" rIns="0" bIns="0" rtlCol="0" anchor="ctr"/>
          <a:lstStyle/>
          <a:p>
            <a:pPr indent="0" marL="0">
              <a:buNone/>
            </a:pPr>
            <a:r>
              <a:rPr lang="en-US" sz="9600" b="1" dirty="0">
                <a:solidFill>
                  <a:srgbClr val="E0A32E"/>
                </a:solidFill>
                <a:latin typeface="Cambria" pitchFamily="34" charset="0"/>
                <a:ea typeface="Cambria" pitchFamily="34" charset="-122"/>
                <a:cs typeface="Cambria" pitchFamily="34" charset="-120"/>
              </a:rPr>
              <a:t>06</a:t>
            </a:r>
            <a:endParaRPr lang="en-US" sz="9600" dirty="0"/>
          </a:p>
        </p:txBody>
      </p:sp>
      <p:sp>
        <p:nvSpPr>
          <p:cNvPr id="5" name="Text 3"/>
          <p:cNvSpPr/>
          <p:nvPr/>
        </p:nvSpPr>
        <p:spPr>
          <a:xfrm>
            <a:off x="566928" y="2880360"/>
            <a:ext cx="768096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Policy Methods</a:t>
            </a:r>
            <a:endParaRPr lang="en-US" sz="3800" dirty="0"/>
          </a:p>
        </p:txBody>
      </p:sp>
      <p:sp>
        <p:nvSpPr>
          <p:cNvPr id="6" name="Text 4"/>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6FA8BE"/>
                </a:solidFill>
                <a:latin typeface="Calibri" pitchFamily="34" charset="0"/>
                <a:ea typeface="Calibri" pitchFamily="34" charset="-122"/>
                <a:cs typeface="Calibri" pitchFamily="34" charset="-120"/>
              </a:rPr>
              <a:t>AIMA 17.2.2  |  Evaluate a policy, extract a policy, improve a policy</a:t>
            </a:r>
            <a:endParaRPr lang="en-US" sz="1600" dirty="0"/>
          </a:p>
        </p:txBody>
      </p:sp>
      <p:sp>
        <p:nvSpPr>
          <p:cNvPr id="7" name="Text 5"/>
          <p:cNvSpPr/>
          <p:nvPr/>
        </p:nvSpPr>
        <p:spPr>
          <a:xfrm>
            <a:off x="8549640" y="2834640"/>
            <a:ext cx="310896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Fixing a policy simplifies everything</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Policy evaluation</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Policy extraction from V and from Q</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Policy iteration</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An honest comparison</a:t>
            </a:r>
            <a:endParaRPr lang="en-US" sz="1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What happens when you fix the policy</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49</a:t>
            </a:r>
            <a:endParaRPr lang="en-US" sz="900" dirty="0"/>
          </a:p>
        </p:txBody>
      </p:sp>
      <p:sp>
        <p:nvSpPr>
          <p:cNvPr id="5" name="Shape 3"/>
          <p:cNvSpPr/>
          <p:nvPr/>
        </p:nvSpPr>
        <p:spPr>
          <a:xfrm>
            <a:off x="566928" y="1481328"/>
            <a:ext cx="5349240" cy="3749040"/>
          </a:xfrm>
          <a:prstGeom prst="roundRect">
            <a:avLst>
              <a:gd name="adj" fmla="val 2195"/>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04672" y="1609344"/>
            <a:ext cx="4892040"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Do the optimal action</a:t>
            </a:r>
            <a:endParaRPr lang="en-US" sz="1500" dirty="0"/>
          </a:p>
        </p:txBody>
      </p:sp>
      <p:sp>
        <p:nvSpPr>
          <p:cNvPr id="7" name="Shape 5"/>
          <p:cNvSpPr/>
          <p:nvPr/>
        </p:nvSpPr>
        <p:spPr>
          <a:xfrm>
            <a:off x="3102102" y="2103120"/>
            <a:ext cx="288036" cy="264993"/>
          </a:xfrm>
          <a:prstGeom prst="triangle">
            <a:avLst/>
          </a:prstGeom>
          <a:solidFill>
            <a:srgbClr val="1C7293"/>
          </a:solidFill>
          <a:ln/>
        </p:spPr>
      </p:sp>
      <p:sp>
        <p:nvSpPr>
          <p:cNvPr id="8" name="Text 6"/>
          <p:cNvSpPr/>
          <p:nvPr/>
        </p:nvSpPr>
        <p:spPr>
          <a:xfrm>
            <a:off x="3435858" y="2084832"/>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9" name="Shape 7"/>
          <p:cNvSpPr/>
          <p:nvPr/>
        </p:nvSpPr>
        <p:spPr>
          <a:xfrm flipH="1">
            <a:off x="2237994" y="2368113"/>
            <a:ext cx="1008126" cy="743133"/>
          </a:xfrm>
          <a:prstGeom prst="line">
            <a:avLst/>
          </a:prstGeom>
          <a:noFill/>
          <a:ln w="12700">
            <a:solidFill>
              <a:srgbClr val="D3DDE3"/>
            </a:solidFill>
            <a:prstDash val="dash"/>
            <a:tailEnd type="none"/>
          </a:ln>
        </p:spPr>
      </p:sp>
      <p:sp>
        <p:nvSpPr>
          <p:cNvPr id="10" name="Shape 8"/>
          <p:cNvSpPr/>
          <p:nvPr/>
        </p:nvSpPr>
        <p:spPr>
          <a:xfrm>
            <a:off x="3246120" y="2368113"/>
            <a:ext cx="0" cy="743133"/>
          </a:xfrm>
          <a:prstGeom prst="line">
            <a:avLst/>
          </a:prstGeom>
          <a:noFill/>
          <a:ln w="25400">
            <a:solidFill>
              <a:srgbClr val="10263B"/>
            </a:solidFill>
            <a:prstDash val="solid"/>
            <a:tailEnd type="triangle"/>
          </a:ln>
        </p:spPr>
      </p:sp>
      <p:sp>
        <p:nvSpPr>
          <p:cNvPr id="11" name="Shape 9"/>
          <p:cNvSpPr/>
          <p:nvPr/>
        </p:nvSpPr>
        <p:spPr>
          <a:xfrm>
            <a:off x="3246120" y="2368113"/>
            <a:ext cx="1008126" cy="743133"/>
          </a:xfrm>
          <a:prstGeom prst="line">
            <a:avLst/>
          </a:prstGeom>
          <a:noFill/>
          <a:ln w="12700">
            <a:solidFill>
              <a:srgbClr val="D3DDE3"/>
            </a:solidFill>
            <a:prstDash val="dash"/>
            <a:tailEnd type="none"/>
          </a:ln>
        </p:spPr>
      </p:sp>
      <p:sp>
        <p:nvSpPr>
          <p:cNvPr id="12" name="Text 10"/>
          <p:cNvSpPr/>
          <p:nvPr/>
        </p:nvSpPr>
        <p:spPr>
          <a:xfrm>
            <a:off x="3328416" y="2535174"/>
            <a:ext cx="91440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a</a:t>
            </a:r>
            <a:endParaRPr lang="en-US" sz="1200" dirty="0"/>
          </a:p>
        </p:txBody>
      </p:sp>
      <p:sp>
        <p:nvSpPr>
          <p:cNvPr id="13" name="Shape 11"/>
          <p:cNvSpPr/>
          <p:nvPr/>
        </p:nvSpPr>
        <p:spPr>
          <a:xfrm>
            <a:off x="3150108" y="3111246"/>
            <a:ext cx="192024" cy="192024"/>
          </a:xfrm>
          <a:prstGeom prst="ellipse">
            <a:avLst/>
          </a:prstGeom>
          <a:solidFill>
            <a:srgbClr val="2E7D5B"/>
          </a:solidFill>
          <a:ln/>
        </p:spPr>
      </p:sp>
      <p:sp>
        <p:nvSpPr>
          <p:cNvPr id="14" name="Text 12"/>
          <p:cNvSpPr/>
          <p:nvPr/>
        </p:nvSpPr>
        <p:spPr>
          <a:xfrm>
            <a:off x="3396996" y="3129534"/>
            <a:ext cx="1097280" cy="237744"/>
          </a:xfrm>
          <a:prstGeom prst="rect">
            <a:avLst/>
          </a:prstGeom>
          <a:noFill/>
          <a:ln/>
        </p:spPr>
        <p:txBody>
          <a:bodyPr wrap="square" lIns="0" tIns="0" rIns="0" bIns="0" rtlCol="0" anchor="ctr"/>
          <a:lstStyle/>
          <a:p>
            <a:pPr indent="0" marL="0">
              <a:buNone/>
            </a:pPr>
            <a:r>
              <a:rPr lang="en-US" sz="1200" dirty="0">
                <a:solidFill>
                  <a:srgbClr val="2E7D5B"/>
                </a:solidFill>
                <a:latin typeface="Calibri" pitchFamily="34" charset="0"/>
                <a:ea typeface="Calibri" pitchFamily="34" charset="-122"/>
                <a:cs typeface="Calibri" pitchFamily="34" charset="-120"/>
              </a:rPr>
              <a:t>s, a</a:t>
            </a:r>
            <a:endParaRPr lang="en-US" sz="1200" dirty="0"/>
          </a:p>
        </p:txBody>
      </p:sp>
      <p:sp>
        <p:nvSpPr>
          <p:cNvPr id="15" name="Shape 13"/>
          <p:cNvSpPr/>
          <p:nvPr/>
        </p:nvSpPr>
        <p:spPr>
          <a:xfrm flipH="1">
            <a:off x="2237994" y="3303270"/>
            <a:ext cx="1008126" cy="816102"/>
          </a:xfrm>
          <a:prstGeom prst="line">
            <a:avLst/>
          </a:prstGeom>
          <a:noFill/>
          <a:ln w="12700">
            <a:solidFill>
              <a:srgbClr val="D3DDE3"/>
            </a:solidFill>
            <a:prstDash val="dash"/>
            <a:tailEnd type="none"/>
          </a:ln>
        </p:spPr>
      </p:sp>
      <p:sp>
        <p:nvSpPr>
          <p:cNvPr id="16" name="Shape 14"/>
          <p:cNvSpPr/>
          <p:nvPr/>
        </p:nvSpPr>
        <p:spPr>
          <a:xfrm>
            <a:off x="3246120" y="3303270"/>
            <a:ext cx="0" cy="816102"/>
          </a:xfrm>
          <a:prstGeom prst="line">
            <a:avLst/>
          </a:prstGeom>
          <a:noFill/>
          <a:ln w="25400">
            <a:solidFill>
              <a:srgbClr val="10263B"/>
            </a:solidFill>
            <a:prstDash val="solid"/>
            <a:tailEnd type="triangle"/>
          </a:ln>
        </p:spPr>
      </p:sp>
      <p:sp>
        <p:nvSpPr>
          <p:cNvPr id="17" name="Shape 15"/>
          <p:cNvSpPr/>
          <p:nvPr/>
        </p:nvSpPr>
        <p:spPr>
          <a:xfrm>
            <a:off x="3246120" y="3303270"/>
            <a:ext cx="1008126" cy="816102"/>
          </a:xfrm>
          <a:prstGeom prst="line">
            <a:avLst/>
          </a:prstGeom>
          <a:noFill/>
          <a:ln w="12700">
            <a:solidFill>
              <a:srgbClr val="D3DDE3"/>
            </a:solidFill>
            <a:prstDash val="dash"/>
            <a:tailEnd type="none"/>
          </a:ln>
        </p:spPr>
      </p:sp>
      <p:sp>
        <p:nvSpPr>
          <p:cNvPr id="18" name="Text 16"/>
          <p:cNvSpPr/>
          <p:nvPr/>
        </p:nvSpPr>
        <p:spPr>
          <a:xfrm>
            <a:off x="1997964" y="3514496"/>
            <a:ext cx="1280160" cy="237744"/>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s, a, s'</a:t>
            </a:r>
            <a:endParaRPr lang="en-US" sz="1050" dirty="0"/>
          </a:p>
        </p:txBody>
      </p:sp>
      <p:sp>
        <p:nvSpPr>
          <p:cNvPr id="19" name="Shape 17"/>
          <p:cNvSpPr/>
          <p:nvPr/>
        </p:nvSpPr>
        <p:spPr>
          <a:xfrm>
            <a:off x="3102102" y="4119372"/>
            <a:ext cx="288036" cy="264993"/>
          </a:xfrm>
          <a:prstGeom prst="triangle">
            <a:avLst/>
          </a:prstGeom>
          <a:solidFill>
            <a:srgbClr val="1C7293"/>
          </a:solidFill>
          <a:ln/>
        </p:spPr>
      </p:sp>
      <p:sp>
        <p:nvSpPr>
          <p:cNvPr id="20" name="Text 18"/>
          <p:cNvSpPr/>
          <p:nvPr/>
        </p:nvSpPr>
        <p:spPr>
          <a:xfrm>
            <a:off x="3435858" y="4101084"/>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21" name="Text 19"/>
          <p:cNvSpPr/>
          <p:nvPr/>
        </p:nvSpPr>
        <p:spPr>
          <a:xfrm>
            <a:off x="804672" y="4617720"/>
            <a:ext cx="4892040" cy="502920"/>
          </a:xfrm>
          <a:prstGeom prst="rect">
            <a:avLst/>
          </a:prstGeom>
          <a:noFill/>
          <a:ln/>
        </p:spPr>
        <p:txBody>
          <a:bodyPr wrap="square" lIns="0" tIns="0" rIns="0" bIns="0" rtlCol="0" anchor="t"/>
          <a:lstStyle/>
          <a:p>
            <a:pPr indent="0" marL="0">
              <a:buNone/>
            </a:pPr>
            <a:r>
              <a:rPr lang="en-US" sz="1250" dirty="0">
                <a:solidFill>
                  <a:srgbClr val="5C7080"/>
                </a:solidFill>
                <a:latin typeface="Calibri" pitchFamily="34" charset="0"/>
                <a:ea typeface="Calibri" pitchFamily="34" charset="-122"/>
                <a:cs typeface="Calibri" pitchFamily="34" charset="-120"/>
              </a:rPr>
              <a:t>Branching factor |A| at every max node. You evaluate every action, every time.</a:t>
            </a:r>
            <a:endParaRPr lang="en-US" sz="1250" dirty="0"/>
          </a:p>
        </p:txBody>
      </p:sp>
      <p:sp>
        <p:nvSpPr>
          <p:cNvPr id="22" name="Shape 20"/>
          <p:cNvSpPr/>
          <p:nvPr/>
        </p:nvSpPr>
        <p:spPr>
          <a:xfrm>
            <a:off x="6263640" y="1481328"/>
            <a:ext cx="5349240" cy="3749040"/>
          </a:xfrm>
          <a:prstGeom prst="roundRect">
            <a:avLst>
              <a:gd name="adj" fmla="val 2195"/>
            </a:avLst>
          </a:prstGeom>
          <a:solidFill>
            <a:srgbClr val="EDF2F5"/>
          </a:solidFill>
          <a:ln/>
          <a:effectLst>
            <a:outerShdw sx="100000" sy="100000" kx="0" ky="0" algn="bl" rotWithShape="0" blurRad="101600" dist="17780" dir="5400000">
              <a:srgbClr val="9FB2BF">
                <a:alpha val="20000"/>
              </a:srgbClr>
            </a:outerShdw>
          </a:effectLst>
        </p:spPr>
      </p:sp>
      <p:sp>
        <p:nvSpPr>
          <p:cNvPr id="23" name="Text 21"/>
          <p:cNvSpPr/>
          <p:nvPr/>
        </p:nvSpPr>
        <p:spPr>
          <a:xfrm>
            <a:off x="6501384" y="1609344"/>
            <a:ext cx="48920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Do what pi says to do</a:t>
            </a:r>
            <a:endParaRPr lang="en-US" sz="1500" dirty="0"/>
          </a:p>
        </p:txBody>
      </p:sp>
      <p:sp>
        <p:nvSpPr>
          <p:cNvPr id="24" name="Shape 22"/>
          <p:cNvSpPr/>
          <p:nvPr/>
        </p:nvSpPr>
        <p:spPr>
          <a:xfrm>
            <a:off x="8798814" y="2103120"/>
            <a:ext cx="288036" cy="264993"/>
          </a:xfrm>
          <a:prstGeom prst="triangle">
            <a:avLst/>
          </a:prstGeom>
          <a:solidFill>
            <a:srgbClr val="1C7293"/>
          </a:solidFill>
          <a:ln/>
        </p:spPr>
      </p:sp>
      <p:sp>
        <p:nvSpPr>
          <p:cNvPr id="25" name="Text 23"/>
          <p:cNvSpPr/>
          <p:nvPr/>
        </p:nvSpPr>
        <p:spPr>
          <a:xfrm>
            <a:off x="9132570" y="2084832"/>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26" name="Shape 24"/>
          <p:cNvSpPr/>
          <p:nvPr/>
        </p:nvSpPr>
        <p:spPr>
          <a:xfrm>
            <a:off x="8942832" y="2368113"/>
            <a:ext cx="0" cy="743133"/>
          </a:xfrm>
          <a:prstGeom prst="line">
            <a:avLst/>
          </a:prstGeom>
          <a:noFill/>
          <a:ln w="25400">
            <a:solidFill>
              <a:srgbClr val="10263B"/>
            </a:solidFill>
            <a:prstDash val="solid"/>
            <a:tailEnd type="triangle"/>
          </a:ln>
        </p:spPr>
      </p:sp>
      <p:sp>
        <p:nvSpPr>
          <p:cNvPr id="27" name="Text 25"/>
          <p:cNvSpPr/>
          <p:nvPr/>
        </p:nvSpPr>
        <p:spPr>
          <a:xfrm>
            <a:off x="9025128" y="2535174"/>
            <a:ext cx="91440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π(s)</a:t>
            </a:r>
            <a:endParaRPr lang="en-US" sz="1200" dirty="0"/>
          </a:p>
        </p:txBody>
      </p:sp>
      <p:sp>
        <p:nvSpPr>
          <p:cNvPr id="28" name="Shape 26"/>
          <p:cNvSpPr/>
          <p:nvPr/>
        </p:nvSpPr>
        <p:spPr>
          <a:xfrm>
            <a:off x="8846820" y="3111246"/>
            <a:ext cx="192024" cy="192024"/>
          </a:xfrm>
          <a:prstGeom prst="ellipse">
            <a:avLst/>
          </a:prstGeom>
          <a:solidFill>
            <a:srgbClr val="E0A32E"/>
          </a:solidFill>
          <a:ln/>
        </p:spPr>
      </p:sp>
      <p:sp>
        <p:nvSpPr>
          <p:cNvPr id="29" name="Text 27"/>
          <p:cNvSpPr/>
          <p:nvPr/>
        </p:nvSpPr>
        <p:spPr>
          <a:xfrm>
            <a:off x="9093708" y="3129534"/>
            <a:ext cx="1097280" cy="237744"/>
          </a:xfrm>
          <a:prstGeom prst="rect">
            <a:avLst/>
          </a:prstGeom>
          <a:noFill/>
          <a:ln/>
        </p:spPr>
        <p:txBody>
          <a:bodyPr wrap="square" lIns="0" tIns="0" rIns="0" bIns="0" rtlCol="0" anchor="ctr"/>
          <a:lstStyle/>
          <a:p>
            <a:pPr indent="0" marL="0">
              <a:buNone/>
            </a:pPr>
            <a:r>
              <a:rPr lang="en-US" sz="1200" dirty="0">
                <a:solidFill>
                  <a:srgbClr val="E0A32E"/>
                </a:solidFill>
                <a:latin typeface="Calibri" pitchFamily="34" charset="0"/>
                <a:ea typeface="Calibri" pitchFamily="34" charset="-122"/>
                <a:cs typeface="Calibri" pitchFamily="34" charset="-120"/>
              </a:rPr>
              <a:t>s, π(s)</a:t>
            </a:r>
            <a:endParaRPr lang="en-US" sz="1200" dirty="0"/>
          </a:p>
        </p:txBody>
      </p:sp>
      <p:sp>
        <p:nvSpPr>
          <p:cNvPr id="30" name="Shape 28"/>
          <p:cNvSpPr/>
          <p:nvPr/>
        </p:nvSpPr>
        <p:spPr>
          <a:xfrm flipH="1">
            <a:off x="7934706" y="3303270"/>
            <a:ext cx="1008126" cy="816102"/>
          </a:xfrm>
          <a:prstGeom prst="line">
            <a:avLst/>
          </a:prstGeom>
          <a:noFill/>
          <a:ln w="12700">
            <a:solidFill>
              <a:srgbClr val="D3DDE3"/>
            </a:solidFill>
            <a:prstDash val="dash"/>
            <a:tailEnd type="none"/>
          </a:ln>
        </p:spPr>
      </p:sp>
      <p:sp>
        <p:nvSpPr>
          <p:cNvPr id="31" name="Shape 29"/>
          <p:cNvSpPr/>
          <p:nvPr/>
        </p:nvSpPr>
        <p:spPr>
          <a:xfrm>
            <a:off x="8942832" y="3303270"/>
            <a:ext cx="0" cy="816102"/>
          </a:xfrm>
          <a:prstGeom prst="line">
            <a:avLst/>
          </a:prstGeom>
          <a:noFill/>
          <a:ln w="25400">
            <a:solidFill>
              <a:srgbClr val="10263B"/>
            </a:solidFill>
            <a:prstDash val="solid"/>
            <a:tailEnd type="triangle"/>
          </a:ln>
        </p:spPr>
      </p:sp>
      <p:sp>
        <p:nvSpPr>
          <p:cNvPr id="32" name="Shape 30"/>
          <p:cNvSpPr/>
          <p:nvPr/>
        </p:nvSpPr>
        <p:spPr>
          <a:xfrm>
            <a:off x="8942832" y="3303270"/>
            <a:ext cx="1008126" cy="816102"/>
          </a:xfrm>
          <a:prstGeom prst="line">
            <a:avLst/>
          </a:prstGeom>
          <a:noFill/>
          <a:ln w="12700">
            <a:solidFill>
              <a:srgbClr val="D3DDE3"/>
            </a:solidFill>
            <a:prstDash val="dash"/>
            <a:tailEnd type="none"/>
          </a:ln>
        </p:spPr>
      </p:sp>
      <p:sp>
        <p:nvSpPr>
          <p:cNvPr id="33" name="Text 31"/>
          <p:cNvSpPr/>
          <p:nvPr/>
        </p:nvSpPr>
        <p:spPr>
          <a:xfrm>
            <a:off x="7694676" y="3514496"/>
            <a:ext cx="1280160" cy="237744"/>
          </a:xfrm>
          <a:prstGeom prst="rect">
            <a:avLst/>
          </a:prstGeom>
          <a:noFill/>
          <a:ln/>
        </p:spPr>
        <p:txBody>
          <a:bodyPr wrap="square" lIns="0" tIns="0" rIns="0" bIns="0" rtlCol="0" anchor="ctr"/>
          <a:lstStyle/>
          <a:p>
            <a:pPr indent="0" marL="0">
              <a:buNone/>
            </a:pPr>
            <a:r>
              <a:rPr lang="en-US" sz="1050" dirty="0">
                <a:solidFill>
                  <a:srgbClr val="5C7080"/>
                </a:solidFill>
                <a:latin typeface="Calibri" pitchFamily="34" charset="0"/>
                <a:ea typeface="Calibri" pitchFamily="34" charset="-122"/>
                <a:cs typeface="Calibri" pitchFamily="34" charset="-120"/>
              </a:rPr>
              <a:t>s, π(s), s'</a:t>
            </a:r>
            <a:endParaRPr lang="en-US" sz="1050" dirty="0"/>
          </a:p>
        </p:txBody>
      </p:sp>
      <p:sp>
        <p:nvSpPr>
          <p:cNvPr id="34" name="Shape 32"/>
          <p:cNvSpPr/>
          <p:nvPr/>
        </p:nvSpPr>
        <p:spPr>
          <a:xfrm>
            <a:off x="8798814" y="4119372"/>
            <a:ext cx="288036" cy="264993"/>
          </a:xfrm>
          <a:prstGeom prst="triangle">
            <a:avLst/>
          </a:prstGeom>
          <a:solidFill>
            <a:srgbClr val="1C7293"/>
          </a:solidFill>
          <a:ln/>
        </p:spPr>
      </p:sp>
      <p:sp>
        <p:nvSpPr>
          <p:cNvPr id="35" name="Text 33"/>
          <p:cNvSpPr/>
          <p:nvPr/>
        </p:nvSpPr>
        <p:spPr>
          <a:xfrm>
            <a:off x="9132570" y="4101084"/>
            <a:ext cx="1097280" cy="237744"/>
          </a:xfrm>
          <a:prstGeom prst="rect">
            <a:avLst/>
          </a:prstGeom>
          <a:noFill/>
          <a:ln/>
        </p:spPr>
        <p:txBody>
          <a:bodyPr wrap="square" lIns="0" tIns="0" rIns="0" bIns="0" rtlCol="0" anchor="ctr"/>
          <a:lstStyle/>
          <a:p>
            <a:pPr indent="0" marL="0">
              <a:buNone/>
            </a:pPr>
            <a:r>
              <a:rPr lang="en-US" sz="1200" dirty="0">
                <a:solidFill>
                  <a:srgbClr val="10263B"/>
                </a:solidFill>
                <a:latin typeface="Calibri" pitchFamily="34" charset="0"/>
                <a:ea typeface="Calibri" pitchFamily="34" charset="-122"/>
                <a:cs typeface="Calibri" pitchFamily="34" charset="-120"/>
              </a:rPr>
              <a:t>s'</a:t>
            </a:r>
            <a:endParaRPr lang="en-US" sz="1200" dirty="0"/>
          </a:p>
        </p:txBody>
      </p:sp>
      <p:sp>
        <p:nvSpPr>
          <p:cNvPr id="36" name="Text 34"/>
          <p:cNvSpPr/>
          <p:nvPr/>
        </p:nvSpPr>
        <p:spPr>
          <a:xfrm>
            <a:off x="6501384" y="4617720"/>
            <a:ext cx="4892040" cy="502920"/>
          </a:xfrm>
          <a:prstGeom prst="rect">
            <a:avLst/>
          </a:prstGeom>
          <a:noFill/>
          <a:ln/>
        </p:spPr>
        <p:txBody>
          <a:bodyPr wrap="square" lIns="0" tIns="0" rIns="0" bIns="0" rtlCol="0" anchor="t"/>
          <a:lstStyle/>
          <a:p>
            <a:pPr indent="0" marL="0">
              <a:buNone/>
            </a:pPr>
            <a:r>
              <a:rPr lang="en-US" sz="1250" dirty="0">
                <a:solidFill>
                  <a:srgbClr val="5C7080"/>
                </a:solidFill>
                <a:latin typeface="Calibri" pitchFamily="34" charset="0"/>
                <a:ea typeface="Calibri" pitchFamily="34" charset="-122"/>
                <a:cs typeface="Calibri" pitchFamily="34" charset="-120"/>
              </a:rPr>
              <a:t>Branching factor 1 at every action node. The chance nodes are untouched - the world is still stochastic.</a:t>
            </a:r>
            <a:endParaRPr lang="en-US" sz="1250" dirty="0"/>
          </a:p>
        </p:txBody>
      </p:sp>
      <p:sp>
        <p:nvSpPr>
          <p:cNvPr id="37" name="Shape 35"/>
          <p:cNvSpPr/>
          <p:nvPr/>
        </p:nvSpPr>
        <p:spPr>
          <a:xfrm>
            <a:off x="566928" y="5394960"/>
            <a:ext cx="11057839" cy="731520"/>
          </a:xfrm>
          <a:prstGeom prst="roundRect">
            <a:avLst>
              <a:gd name="adj" fmla="val 11250"/>
            </a:avLst>
          </a:prstGeom>
          <a:solidFill>
            <a:srgbClr val="10263B"/>
          </a:solidFill>
          <a:ln/>
          <a:effectLst>
            <a:outerShdw sx="100000" sy="100000" kx="0" ky="0" algn="bl" rotWithShape="0" blurRad="101600" dist="17780" dir="5400000">
              <a:srgbClr val="9FB2BF">
                <a:alpha val="20000"/>
              </a:srgbClr>
            </a:outerShdw>
          </a:effectLst>
        </p:spPr>
      </p:sp>
      <p:sp>
        <p:nvSpPr>
          <p:cNvPr id="38" name="Text 36"/>
          <p:cNvSpPr/>
          <p:nvPr/>
        </p:nvSpPr>
        <p:spPr>
          <a:xfrm>
            <a:off x="822960" y="5394960"/>
            <a:ext cx="10515600" cy="731520"/>
          </a:xfrm>
          <a:prstGeom prst="rect">
            <a:avLst/>
          </a:prstGeom>
          <a:noFill/>
          <a:ln/>
        </p:spPr>
        <p:txBody>
          <a:bodyPr wrap="square" lIns="0" tIns="0" rIns="0" bIns="0" rtlCol="0" anchor="ctr"/>
          <a:lstStyle/>
          <a:p>
            <a:pPr indent="0" marL="0">
              <a:buNone/>
            </a:pPr>
            <a:r>
              <a:rPr lang="en-US" sz="1400" dirty="0">
                <a:solidFill>
                  <a:srgbClr val="DCE7EE"/>
                </a:solidFill>
                <a:latin typeface="Calibri" pitchFamily="34" charset="0"/>
                <a:ea typeface="Calibri" pitchFamily="34" charset="-122"/>
                <a:cs typeface="Calibri" pitchFamily="34" charset="-120"/>
              </a:rPr>
              <a:t>Fixing the policy removes one entire for-loop. It does not remove the uncertainty - you still do not know where you will land.</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Utilities for a fixed policy</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50</a:t>
            </a:r>
            <a:endParaRPr lang="en-US" sz="900" dirty="0"/>
          </a:p>
        </p:txBody>
      </p:sp>
      <p:sp>
        <p:nvSpPr>
          <p:cNvPr id="5" name="Text 3"/>
          <p:cNvSpPr/>
          <p:nvPr/>
        </p:nvSpPr>
        <p:spPr>
          <a:xfrm>
            <a:off x="566928" y="1417320"/>
            <a:ext cx="11057839" cy="411480"/>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V-pi(s) is the expected total discounted reward starting in s and following pi thereafter. Its Bellman equation has no max:</a:t>
            </a:r>
            <a:endParaRPr lang="en-US" sz="1500" dirty="0"/>
          </a:p>
        </p:txBody>
      </p:sp>
      <p:sp>
        <p:nvSpPr>
          <p:cNvPr id="6" name="Shape 4"/>
          <p:cNvSpPr/>
          <p:nvPr/>
        </p:nvSpPr>
        <p:spPr>
          <a:xfrm>
            <a:off x="566928" y="1883664"/>
            <a:ext cx="11057839" cy="868680"/>
          </a:xfrm>
          <a:prstGeom prst="roundRect">
            <a:avLst>
              <a:gd name="adj" fmla="val 6316"/>
            </a:avLst>
          </a:prstGeom>
          <a:solidFill>
            <a:srgbClr val="F7FAFB"/>
          </a:solidFill>
          <a:ln w="12700">
            <a:solidFill>
              <a:srgbClr val="D3DDE3"/>
            </a:solidFill>
            <a:prstDash val="solid"/>
          </a:ln>
        </p:spPr>
      </p:sp>
      <p:sp>
        <p:nvSpPr>
          <p:cNvPr id="7" name="Text 5"/>
          <p:cNvSpPr/>
          <p:nvPr/>
        </p:nvSpPr>
        <p:spPr>
          <a:xfrm>
            <a:off x="676656" y="1883664"/>
            <a:ext cx="10838383" cy="868680"/>
          </a:xfrm>
          <a:prstGeom prst="rect">
            <a:avLst/>
          </a:prstGeom>
          <a:noFill/>
          <a:ln/>
        </p:spPr>
        <p:txBody>
          <a:bodyPr wrap="square" lIns="0" tIns="0" rIns="0" bIns="0" rtlCol="0" anchor="ctr"/>
          <a:lstStyle/>
          <a:p>
            <a:pPr algn="ctr" indent="0" marL="0">
              <a:buNone/>
            </a:pPr>
            <a:r>
              <a:rPr lang="en-US" sz="1900" b="1" dirty="0">
                <a:solidFill>
                  <a:srgbClr val="10263B"/>
                </a:solidFill>
                <a:latin typeface="Cambria" pitchFamily="34" charset="0"/>
                <a:ea typeface="Cambria" pitchFamily="34" charset="-122"/>
                <a:cs typeface="Cambria" pitchFamily="34" charset="-120"/>
              </a:rPr>
              <a:t>V</a:t>
            </a:r>
            <a:pPr algn="ctr" indent="0" marL="0">
              <a:buNone/>
            </a:pPr>
            <a:r>
              <a:rPr lang="en-US" sz="1900" b="1" baseline="30000" dirty="0">
                <a:solidFill>
                  <a:srgbClr val="10263B"/>
                </a:solidFill>
                <a:latin typeface="Cambria" pitchFamily="34" charset="0"/>
                <a:ea typeface="Cambria" pitchFamily="34" charset="-122"/>
                <a:cs typeface="Cambria" pitchFamily="34" charset="-120"/>
              </a:rPr>
              <a:t>π</a:t>
            </a:r>
            <a:pPr algn="ctr" indent="0" marL="0">
              <a:buNone/>
            </a:pPr>
            <a:r>
              <a:rPr lang="en-US" sz="1900" b="1" dirty="0">
                <a:solidFill>
                  <a:srgbClr val="10263B"/>
                </a:solidFill>
                <a:latin typeface="Cambria" pitchFamily="34" charset="0"/>
                <a:ea typeface="Cambria" pitchFamily="34" charset="-122"/>
                <a:cs typeface="Cambria" pitchFamily="34" charset="-120"/>
              </a:rPr>
              <a:t>(s)  =  Σ</a:t>
            </a:r>
            <a:pPr algn="ctr" indent="0" marL="0">
              <a:buNone/>
            </a:pPr>
            <a:r>
              <a:rPr lang="en-US" sz="1900" b="1" baseline="-40000" dirty="0">
                <a:solidFill>
                  <a:srgbClr val="10263B"/>
                </a:solidFill>
                <a:latin typeface="Cambria" pitchFamily="34" charset="0"/>
                <a:ea typeface="Cambria" pitchFamily="34" charset="-122"/>
                <a:cs typeface="Cambria" pitchFamily="34" charset="-120"/>
              </a:rPr>
              <a:t>s'</a:t>
            </a:r>
            <a:pPr algn="ctr" indent="0" marL="0">
              <a:buNone/>
            </a:pPr>
            <a:r>
              <a:rPr lang="en-US" sz="1900" b="1" dirty="0">
                <a:solidFill>
                  <a:srgbClr val="10263B"/>
                </a:solidFill>
                <a:latin typeface="Cambria" pitchFamily="34" charset="0"/>
                <a:ea typeface="Cambria" pitchFamily="34" charset="-122"/>
                <a:cs typeface="Cambria" pitchFamily="34" charset="-120"/>
              </a:rPr>
              <a:t>  T(s, π(s), s') [ R(s, π(s), s')  +  γ V</a:t>
            </a:r>
            <a:pPr algn="ctr" indent="0" marL="0">
              <a:buNone/>
            </a:pPr>
            <a:r>
              <a:rPr lang="en-US" sz="1900" b="1" baseline="30000" dirty="0">
                <a:solidFill>
                  <a:srgbClr val="10263B"/>
                </a:solidFill>
                <a:latin typeface="Cambria" pitchFamily="34" charset="0"/>
                <a:ea typeface="Cambria" pitchFamily="34" charset="-122"/>
                <a:cs typeface="Cambria" pitchFamily="34" charset="-120"/>
              </a:rPr>
              <a:t>π</a:t>
            </a:r>
            <a:pPr algn="ctr" indent="0" marL="0">
              <a:buNone/>
            </a:pPr>
            <a:r>
              <a:rPr lang="en-US" sz="1900" b="1" dirty="0">
                <a:solidFill>
                  <a:srgbClr val="10263B"/>
                </a:solidFill>
                <a:latin typeface="Cambria" pitchFamily="34" charset="0"/>
                <a:ea typeface="Cambria" pitchFamily="34" charset="-122"/>
                <a:cs typeface="Cambria" pitchFamily="34" charset="-120"/>
              </a:rPr>
              <a:t>(s') ]</a:t>
            </a:r>
            <a:endParaRPr lang="en-US" sz="1900" dirty="0"/>
          </a:p>
        </p:txBody>
      </p:sp>
      <p:sp>
        <p:nvSpPr>
          <p:cNvPr id="8" name="Text 6"/>
          <p:cNvSpPr/>
          <p:nvPr/>
        </p:nvSpPr>
        <p:spPr>
          <a:xfrm>
            <a:off x="566928" y="2871216"/>
            <a:ext cx="11057839" cy="365760"/>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Turn the equality into an assignment and you have an algorithm:</a:t>
            </a:r>
            <a:endParaRPr lang="en-US" sz="1400" dirty="0"/>
          </a:p>
        </p:txBody>
      </p:sp>
      <p:sp>
        <p:nvSpPr>
          <p:cNvPr id="9" name="Shape 7"/>
          <p:cNvSpPr/>
          <p:nvPr/>
        </p:nvSpPr>
        <p:spPr>
          <a:xfrm>
            <a:off x="566928" y="3273552"/>
            <a:ext cx="5349240" cy="566928"/>
          </a:xfrm>
          <a:prstGeom prst="roundRect">
            <a:avLst>
              <a:gd name="adj" fmla="val 9677"/>
            </a:avLst>
          </a:prstGeom>
          <a:solidFill>
            <a:srgbClr val="F7FAFB"/>
          </a:solidFill>
          <a:ln w="12700">
            <a:solidFill>
              <a:srgbClr val="D3DDE3"/>
            </a:solidFill>
            <a:prstDash val="solid"/>
          </a:ln>
        </p:spPr>
      </p:sp>
      <p:sp>
        <p:nvSpPr>
          <p:cNvPr id="10" name="Text 8"/>
          <p:cNvSpPr/>
          <p:nvPr/>
        </p:nvSpPr>
        <p:spPr>
          <a:xfrm>
            <a:off x="676656" y="3273552"/>
            <a:ext cx="5129784" cy="566928"/>
          </a:xfrm>
          <a:prstGeom prst="rect">
            <a:avLst/>
          </a:prstGeom>
          <a:noFill/>
          <a:ln/>
        </p:spPr>
        <p:txBody>
          <a:bodyPr wrap="square" lIns="0" tIns="0" rIns="0" bIns="0" rtlCol="0" anchor="ctr"/>
          <a:lstStyle/>
          <a:p>
            <a:pPr algn="ctr" indent="0" marL="0">
              <a:buNone/>
            </a:pPr>
            <a:r>
              <a:rPr lang="en-US" sz="1600" b="1" dirty="0">
                <a:solidFill>
                  <a:srgbClr val="10263B"/>
                </a:solidFill>
                <a:latin typeface="Cambria" pitchFamily="34" charset="0"/>
                <a:ea typeface="Cambria" pitchFamily="34" charset="-122"/>
                <a:cs typeface="Cambria" pitchFamily="34" charset="-120"/>
              </a:rPr>
              <a:t>V</a:t>
            </a:r>
            <a:pPr algn="ctr" indent="0" marL="0">
              <a:buNone/>
            </a:pPr>
            <a:r>
              <a:rPr lang="en-US" sz="1600" b="1" baseline="30000" dirty="0">
                <a:solidFill>
                  <a:srgbClr val="10263B"/>
                </a:solidFill>
                <a:latin typeface="Cambria" pitchFamily="34" charset="0"/>
                <a:ea typeface="Cambria" pitchFamily="34" charset="-122"/>
                <a:cs typeface="Cambria" pitchFamily="34" charset="-120"/>
              </a:rPr>
              <a:t>π</a:t>
            </a:r>
            <a:pPr algn="ctr" indent="0" marL="0">
              <a:buNone/>
            </a:pPr>
            <a:r>
              <a:rPr lang="en-US" sz="1600" b="1" baseline="-40000" dirty="0">
                <a:solidFill>
                  <a:srgbClr val="10263B"/>
                </a:solidFill>
                <a:latin typeface="Cambria" pitchFamily="34" charset="0"/>
                <a:ea typeface="Cambria" pitchFamily="34" charset="-122"/>
                <a:cs typeface="Cambria" pitchFamily="34" charset="-120"/>
              </a:rPr>
              <a:t>0</a:t>
            </a:r>
            <a:pPr algn="ctr" indent="0" marL="0">
              <a:buNone/>
            </a:pPr>
            <a:r>
              <a:rPr lang="en-US" sz="1600" b="1" dirty="0">
                <a:solidFill>
                  <a:srgbClr val="10263B"/>
                </a:solidFill>
                <a:latin typeface="Cambria" pitchFamily="34" charset="0"/>
                <a:ea typeface="Cambria" pitchFamily="34" charset="-122"/>
                <a:cs typeface="Cambria" pitchFamily="34" charset="-120"/>
              </a:rPr>
              <a:t>(s)  =  0</a:t>
            </a:r>
            <a:endParaRPr lang="en-US" sz="1600" dirty="0"/>
          </a:p>
        </p:txBody>
      </p:sp>
      <p:sp>
        <p:nvSpPr>
          <p:cNvPr id="11" name="Shape 9"/>
          <p:cNvSpPr/>
          <p:nvPr/>
        </p:nvSpPr>
        <p:spPr>
          <a:xfrm>
            <a:off x="566928" y="3913632"/>
            <a:ext cx="5349240" cy="868680"/>
          </a:xfrm>
          <a:prstGeom prst="roundRect">
            <a:avLst>
              <a:gd name="adj" fmla="val 6316"/>
            </a:avLst>
          </a:prstGeom>
          <a:solidFill>
            <a:srgbClr val="10263B"/>
          </a:solidFill>
          <a:ln w="12700">
            <a:solidFill>
              <a:srgbClr val="10263B"/>
            </a:solidFill>
            <a:prstDash val="solid"/>
          </a:ln>
        </p:spPr>
      </p:sp>
      <p:sp>
        <p:nvSpPr>
          <p:cNvPr id="12" name="Text 10"/>
          <p:cNvSpPr/>
          <p:nvPr/>
        </p:nvSpPr>
        <p:spPr>
          <a:xfrm>
            <a:off x="676656" y="3913632"/>
            <a:ext cx="5129784" cy="868680"/>
          </a:xfrm>
          <a:prstGeom prst="rect">
            <a:avLst/>
          </a:prstGeom>
          <a:noFill/>
          <a:ln/>
        </p:spPr>
        <p:txBody>
          <a:bodyPr wrap="square" lIns="0" tIns="0" rIns="0" bIns="0" rtlCol="0" anchor="ctr"/>
          <a:lstStyle/>
          <a:p>
            <a:pPr algn="ctr" indent="0" marL="0">
              <a:buNone/>
            </a:pPr>
            <a:r>
              <a:rPr lang="en-US" sz="1350" b="1" dirty="0">
                <a:solidFill>
                  <a:srgbClr val="FFFFFF"/>
                </a:solidFill>
                <a:latin typeface="Cambria" pitchFamily="34" charset="0"/>
                <a:ea typeface="Cambria" pitchFamily="34" charset="-122"/>
                <a:cs typeface="Cambria" pitchFamily="34" charset="-120"/>
              </a:rPr>
              <a:t>V</a:t>
            </a:r>
            <a:pPr algn="ctr" indent="0" marL="0">
              <a:buNone/>
            </a:pPr>
            <a:r>
              <a:rPr lang="en-US" sz="1350" b="1" baseline="30000" dirty="0">
                <a:solidFill>
                  <a:srgbClr val="FFFFFF"/>
                </a:solidFill>
                <a:latin typeface="Cambria" pitchFamily="34" charset="0"/>
                <a:ea typeface="Cambria" pitchFamily="34" charset="-122"/>
                <a:cs typeface="Cambria" pitchFamily="34" charset="-120"/>
              </a:rPr>
              <a:t>π</a:t>
            </a:r>
            <a:pPr algn="ctr" indent="0" marL="0">
              <a:buNone/>
            </a:pPr>
            <a:r>
              <a:rPr lang="en-US" sz="1350" b="1" baseline="-40000" dirty="0">
                <a:solidFill>
                  <a:srgbClr val="FFFFFF"/>
                </a:solidFill>
                <a:latin typeface="Cambria" pitchFamily="34" charset="0"/>
                <a:ea typeface="Cambria" pitchFamily="34" charset="-122"/>
                <a:cs typeface="Cambria" pitchFamily="34" charset="-120"/>
              </a:rPr>
              <a:t>k+1</a:t>
            </a:r>
            <a:pPr algn="ctr" indent="0" marL="0">
              <a:buNone/>
            </a:pPr>
            <a:r>
              <a:rPr lang="en-US" sz="1350" b="1" dirty="0">
                <a:solidFill>
                  <a:srgbClr val="FFFFFF"/>
                </a:solidFill>
                <a:latin typeface="Cambria" pitchFamily="34" charset="0"/>
                <a:ea typeface="Cambria" pitchFamily="34" charset="-122"/>
                <a:cs typeface="Cambria" pitchFamily="34" charset="-120"/>
              </a:rPr>
              <a:t>(s) ← Σ</a:t>
            </a:r>
            <a:pPr algn="ctr" indent="0" marL="0">
              <a:buNone/>
            </a:pPr>
            <a:r>
              <a:rPr lang="en-US" sz="1350" b="1" baseline="-40000" dirty="0">
                <a:solidFill>
                  <a:srgbClr val="FFFFFF"/>
                </a:solidFill>
                <a:latin typeface="Cambria" pitchFamily="34" charset="0"/>
                <a:ea typeface="Cambria" pitchFamily="34" charset="-122"/>
                <a:cs typeface="Cambria" pitchFamily="34" charset="-120"/>
              </a:rPr>
              <a:t>s'</a:t>
            </a:r>
            <a:pPr algn="ctr" indent="0" marL="0">
              <a:buNone/>
            </a:pPr>
            <a:r>
              <a:rPr lang="en-US" sz="1350" b="1" dirty="0">
                <a:solidFill>
                  <a:srgbClr val="FFFFFF"/>
                </a:solidFill>
                <a:latin typeface="Cambria" pitchFamily="34" charset="0"/>
                <a:ea typeface="Cambria" pitchFamily="34" charset="-122"/>
                <a:cs typeface="Cambria" pitchFamily="34" charset="-120"/>
              </a:rPr>
              <a:t> T(s,π(s),s')[R + γ V</a:t>
            </a:r>
            <a:pPr algn="ctr" indent="0" marL="0">
              <a:buNone/>
            </a:pPr>
            <a:r>
              <a:rPr lang="en-US" sz="1350" b="1" baseline="30000" dirty="0">
                <a:solidFill>
                  <a:srgbClr val="FFFFFF"/>
                </a:solidFill>
                <a:latin typeface="Cambria" pitchFamily="34" charset="0"/>
                <a:ea typeface="Cambria" pitchFamily="34" charset="-122"/>
                <a:cs typeface="Cambria" pitchFamily="34" charset="-120"/>
              </a:rPr>
              <a:t>π</a:t>
            </a:r>
            <a:pPr algn="ctr" indent="0" marL="0">
              <a:buNone/>
            </a:pPr>
            <a:r>
              <a:rPr lang="en-US" sz="1350" b="1" baseline="-40000" dirty="0">
                <a:solidFill>
                  <a:srgbClr val="FFFFFF"/>
                </a:solidFill>
                <a:latin typeface="Cambria" pitchFamily="34" charset="0"/>
                <a:ea typeface="Cambria" pitchFamily="34" charset="-122"/>
                <a:cs typeface="Cambria" pitchFamily="34" charset="-120"/>
              </a:rPr>
              <a:t>k</a:t>
            </a:r>
            <a:pPr algn="ctr" indent="0" marL="0">
              <a:buNone/>
            </a:pPr>
            <a:r>
              <a:rPr lang="en-US" sz="1350" b="1" dirty="0">
                <a:solidFill>
                  <a:srgbClr val="FFFFFF"/>
                </a:solidFill>
                <a:latin typeface="Cambria" pitchFamily="34" charset="0"/>
                <a:ea typeface="Cambria" pitchFamily="34" charset="-122"/>
                <a:cs typeface="Cambria" pitchFamily="34" charset="-120"/>
              </a:rPr>
              <a:t>(s')]</a:t>
            </a:r>
            <a:endParaRPr lang="en-US" sz="1350" dirty="0"/>
          </a:p>
        </p:txBody>
      </p:sp>
      <p:sp>
        <p:nvSpPr>
          <p:cNvPr id="13" name="Shape 11"/>
          <p:cNvSpPr/>
          <p:nvPr/>
        </p:nvSpPr>
        <p:spPr>
          <a:xfrm>
            <a:off x="6263640" y="3273552"/>
            <a:ext cx="5349240" cy="1508760"/>
          </a:xfrm>
          <a:prstGeom prst="roundRect">
            <a:avLst>
              <a:gd name="adj" fmla="val 5455"/>
            </a:avLst>
          </a:prstGeom>
          <a:solidFill>
            <a:srgbClr val="EDF2F5"/>
          </a:solidFill>
          <a:ln/>
          <a:effectLst>
            <a:outerShdw sx="100000" sy="100000" kx="0" ky="0" algn="bl" rotWithShape="0" blurRad="101600" dist="17780" dir="5400000">
              <a:srgbClr val="9FB2BF">
                <a:alpha val="20000"/>
              </a:srgbClr>
            </a:outerShdw>
          </a:effectLst>
        </p:spPr>
      </p:sp>
      <p:sp>
        <p:nvSpPr>
          <p:cNvPr id="14" name="Text 12"/>
          <p:cNvSpPr/>
          <p:nvPr/>
        </p:nvSpPr>
        <p:spPr>
          <a:xfrm>
            <a:off x="6501384" y="3383280"/>
            <a:ext cx="4892040" cy="310896"/>
          </a:xfrm>
          <a:prstGeom prst="rect">
            <a:avLst/>
          </a:prstGeom>
          <a:noFill/>
          <a:ln/>
        </p:spPr>
        <p:txBody>
          <a:bodyPr wrap="square" lIns="0" tIns="0" rIns="0" bIns="0" rtlCol="0" anchor="ctr"/>
          <a:lstStyle/>
          <a:p>
            <a:pPr indent="0" marL="0">
              <a:buNone/>
            </a:pPr>
            <a:r>
              <a:rPr lang="en-US" sz="1400" b="1" dirty="0">
                <a:solidFill>
                  <a:srgbClr val="1C7293"/>
                </a:solidFill>
                <a:latin typeface="Cambria" pitchFamily="34" charset="0"/>
                <a:ea typeface="Cambria" pitchFamily="34" charset="-122"/>
                <a:cs typeface="Cambria" pitchFamily="34" charset="-120"/>
              </a:rPr>
              <a:t>Cost</a:t>
            </a:r>
            <a:endParaRPr lang="en-US" sz="1400" dirty="0"/>
          </a:p>
        </p:txBody>
      </p:sp>
      <p:sp>
        <p:nvSpPr>
          <p:cNvPr id="15" name="Text 13"/>
          <p:cNvSpPr/>
          <p:nvPr/>
        </p:nvSpPr>
        <p:spPr>
          <a:xfrm>
            <a:off x="6501384" y="3694176"/>
            <a:ext cx="4892040" cy="411480"/>
          </a:xfrm>
          <a:prstGeom prst="rect">
            <a:avLst/>
          </a:prstGeom>
          <a:noFill/>
          <a:ln/>
        </p:spPr>
        <p:txBody>
          <a:bodyPr wrap="square" lIns="0" tIns="0" rIns="0" bIns="0" rtlCol="0" anchor="ctr"/>
          <a:lstStyle/>
          <a:p>
            <a:pPr indent="0" marL="0">
              <a:buNone/>
            </a:pPr>
            <a:r>
              <a:rPr lang="en-US" sz="1800" b="1" dirty="0">
                <a:solidFill>
                  <a:srgbClr val="10263B"/>
                </a:solidFill>
                <a:latin typeface="Cambria" pitchFamily="34" charset="0"/>
                <a:ea typeface="Cambria" pitchFamily="34" charset="-122"/>
                <a:cs typeface="Cambria" pitchFamily="34" charset="-120"/>
              </a:rPr>
              <a:t>O( |S|</a:t>
            </a:r>
            <a:pPr indent="0" marL="0">
              <a:buNone/>
            </a:pPr>
            <a:r>
              <a:rPr lang="en-US" sz="1800" b="1" baseline="30000" dirty="0">
                <a:solidFill>
                  <a:srgbClr val="10263B"/>
                </a:solidFill>
                <a:latin typeface="Cambria" pitchFamily="34" charset="0"/>
                <a:ea typeface="Cambria" pitchFamily="34" charset="-122"/>
                <a:cs typeface="Cambria" pitchFamily="34" charset="-120"/>
              </a:rPr>
              <a:t>2</a:t>
            </a:r>
            <a:pPr indent="0" marL="0">
              <a:buNone/>
            </a:pPr>
            <a:r>
              <a:rPr lang="en-US" sz="1800" b="1" dirty="0">
                <a:solidFill>
                  <a:srgbClr val="10263B"/>
                </a:solidFill>
                <a:latin typeface="Cambria" pitchFamily="34" charset="0"/>
                <a:ea typeface="Cambria" pitchFamily="34" charset="-122"/>
                <a:cs typeface="Cambria" pitchFamily="34" charset="-120"/>
              </a:rPr>
              <a:t> )  per iteration</a:t>
            </a:r>
            <a:endParaRPr lang="en-US" sz="1800" dirty="0"/>
          </a:p>
        </p:txBody>
      </p:sp>
      <p:sp>
        <p:nvSpPr>
          <p:cNvPr id="16" name="Text 14"/>
          <p:cNvSpPr/>
          <p:nvPr/>
        </p:nvSpPr>
        <p:spPr>
          <a:xfrm>
            <a:off x="6501384" y="4133088"/>
            <a:ext cx="4892040" cy="548640"/>
          </a:xfrm>
          <a:prstGeom prst="rect">
            <a:avLst/>
          </a:prstGeom>
          <a:noFill/>
          <a:ln/>
        </p:spPr>
        <p:txBody>
          <a:bodyPr wrap="square" lIns="0" tIns="0" rIns="0" bIns="0" rtlCol="0" anchor="t"/>
          <a:lstStyle/>
          <a:p>
            <a:pPr indent="0" marL="0">
              <a:buNone/>
            </a:pPr>
            <a:r>
              <a:rPr lang="en-US" sz="1250" dirty="0">
                <a:solidFill>
                  <a:srgbClr val="10263B"/>
                </a:solidFill>
                <a:latin typeface="Calibri" pitchFamily="34" charset="0"/>
                <a:ea typeface="Calibri" pitchFamily="34" charset="-122"/>
                <a:cs typeface="Calibri" pitchFamily="34" charset="-120"/>
              </a:rPr>
              <a:t>The |A| factor is gone. On problems with large action spaces this is a very large saving per sweep.</a:t>
            </a:r>
            <a:endParaRPr lang="en-US" sz="1250" dirty="0"/>
          </a:p>
        </p:txBody>
      </p:sp>
      <p:sp>
        <p:nvSpPr>
          <p:cNvPr id="17" name="Shape 15"/>
          <p:cNvSpPr/>
          <p:nvPr/>
        </p:nvSpPr>
        <p:spPr>
          <a:xfrm>
            <a:off x="566928" y="5010912"/>
            <a:ext cx="11057839" cy="1097280"/>
          </a:xfrm>
          <a:prstGeom prst="roundRect">
            <a:avLst>
              <a:gd name="adj" fmla="val 7500"/>
            </a:avLst>
          </a:prstGeom>
          <a:solidFill>
            <a:srgbClr val="F5DFA8"/>
          </a:solidFill>
          <a:ln/>
        </p:spPr>
      </p:sp>
      <p:sp>
        <p:nvSpPr>
          <p:cNvPr id="18" name="Text 16"/>
          <p:cNvSpPr/>
          <p:nvPr/>
        </p:nvSpPr>
        <p:spPr>
          <a:xfrm>
            <a:off x="804672" y="5010912"/>
            <a:ext cx="10582351" cy="1097280"/>
          </a:xfrm>
          <a:prstGeom prst="rect">
            <a:avLst/>
          </a:prstGeom>
          <a:noFill/>
          <a:ln/>
        </p:spPr>
        <p:txBody>
          <a:bodyPr wrap="square" lIns="0" tIns="0" rIns="0" bIns="0" rtlCol="0" anchor="ctr"/>
          <a:lstStyle/>
          <a:p>
            <a:pPr indent="0" marL="0">
              <a:buNone/>
            </a:pPr>
            <a:r>
              <a:rPr lang="en-US" sz="1350" b="1" dirty="0">
                <a:solidFill>
                  <a:srgbClr val="10263B"/>
                </a:solidFill>
                <a:latin typeface="Calibri" pitchFamily="34" charset="0"/>
                <a:ea typeface="Calibri" pitchFamily="34" charset="-122"/>
                <a:cs typeface="Calibri" pitchFamily="34" charset="-120"/>
              </a:rPr>
              <a:t>The catch:  </a:t>
            </a:r>
            <a:pPr indent="0" marL="0">
              <a:buNone/>
            </a:pPr>
            <a:r>
              <a:rPr lang="en-US" sz="1350" dirty="0">
                <a:solidFill>
                  <a:srgbClr val="10263B"/>
                </a:solidFill>
                <a:latin typeface="Calibri" pitchFamily="34" charset="0"/>
                <a:ea typeface="Calibri" pitchFamily="34" charset="-122"/>
                <a:cs typeface="Calibri" pitchFamily="34" charset="-120"/>
              </a:rPr>
              <a:t>policy evaluation is much faster than value iteration, and it solves a different problem. It tells you how good pi is. It does not tell you how good you could be. On its own that is not what we want - but as a subroutine it is about to become extremely useful.</a:t>
            </a:r>
            <a:endParaRPr lang="en-US" sz="13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Or skip the iteration entirely</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51</a:t>
            </a:r>
            <a:endParaRPr lang="en-US" sz="900" dirty="0"/>
          </a:p>
        </p:txBody>
      </p:sp>
      <p:sp>
        <p:nvSpPr>
          <p:cNvPr id="5" name="Text 3"/>
          <p:cNvSpPr/>
          <p:nvPr/>
        </p:nvSpPr>
        <p:spPr>
          <a:xfrm>
            <a:off x="566928" y="1417320"/>
            <a:ext cx="11057839" cy="384048"/>
          </a:xfrm>
          <a:prstGeom prst="rect">
            <a:avLst/>
          </a:prstGeom>
          <a:noFill/>
          <a:ln/>
        </p:spPr>
        <p:txBody>
          <a:bodyPr wrap="square" lIns="0" tIns="0" rIns="0" bIns="0" rtlCol="0" anchor="ctr"/>
          <a:lstStyle/>
          <a:p>
            <a:pPr indent="0" marL="0">
              <a:buNone/>
            </a:pPr>
            <a:r>
              <a:rPr lang="en-US" sz="1500" i="1" dirty="0">
                <a:solidFill>
                  <a:srgbClr val="10263B"/>
                </a:solidFill>
                <a:latin typeface="Calibri" pitchFamily="34" charset="0"/>
                <a:ea typeface="Calibri" pitchFamily="34" charset="-122"/>
                <a:cs typeface="Calibri" pitchFamily="34" charset="-120"/>
              </a:rPr>
              <a:t>Stare at the policy evaluation equations and forget for a moment that this is AI.</a:t>
            </a:r>
            <a:endParaRPr lang="en-US" sz="1500" dirty="0"/>
          </a:p>
        </p:txBody>
      </p:sp>
      <p:sp>
        <p:nvSpPr>
          <p:cNvPr id="6" name="Shape 4"/>
          <p:cNvSpPr/>
          <p:nvPr/>
        </p:nvSpPr>
        <p:spPr>
          <a:xfrm>
            <a:off x="566928" y="1965960"/>
            <a:ext cx="6720840" cy="658368"/>
          </a:xfrm>
          <a:prstGeom prst="roundRect">
            <a:avLst>
              <a:gd name="adj" fmla="val 12500"/>
            </a:avLst>
          </a:prstGeom>
          <a:solidFill>
            <a:srgbClr val="EDF2F5"/>
          </a:solidFill>
          <a:ln/>
        </p:spPr>
      </p:sp>
      <p:sp>
        <p:nvSpPr>
          <p:cNvPr id="7" name="Text 5"/>
          <p:cNvSpPr/>
          <p:nvPr/>
        </p:nvSpPr>
        <p:spPr>
          <a:xfrm>
            <a:off x="786384" y="1965960"/>
            <a:ext cx="2834640" cy="658368"/>
          </a:xfrm>
          <a:prstGeom prst="rect">
            <a:avLst/>
          </a:prstGeom>
          <a:noFill/>
          <a:ln/>
        </p:spPr>
        <p:txBody>
          <a:bodyPr wrap="square" lIns="0" tIns="0" rIns="0" bIns="0" rtlCol="0" anchor="ctr"/>
          <a:lstStyle/>
          <a:p>
            <a:pPr indent="0" marL="0">
              <a:buNone/>
            </a:pPr>
            <a:r>
              <a:rPr lang="en-US" sz="1350" b="1" dirty="0">
                <a:solidFill>
                  <a:srgbClr val="1C7293"/>
                </a:solidFill>
                <a:latin typeface="Cambria" pitchFamily="34" charset="0"/>
                <a:ea typeface="Cambria" pitchFamily="34" charset="-122"/>
                <a:cs typeface="Cambria" pitchFamily="34" charset="-120"/>
              </a:rPr>
              <a:t>What are the unknowns?</a:t>
            </a:r>
            <a:endParaRPr lang="en-US" sz="1350" dirty="0"/>
          </a:p>
        </p:txBody>
      </p:sp>
      <p:sp>
        <p:nvSpPr>
          <p:cNvPr id="8" name="Text 6"/>
          <p:cNvSpPr/>
          <p:nvPr/>
        </p:nvSpPr>
        <p:spPr>
          <a:xfrm>
            <a:off x="3712464" y="1965960"/>
            <a:ext cx="3657600" cy="658368"/>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The values V-pi(s), one per state.</a:t>
            </a:r>
            <a:endParaRPr lang="en-US" sz="1300" dirty="0"/>
          </a:p>
        </p:txBody>
      </p:sp>
      <p:sp>
        <p:nvSpPr>
          <p:cNvPr id="9" name="Shape 7"/>
          <p:cNvSpPr/>
          <p:nvPr/>
        </p:nvSpPr>
        <p:spPr>
          <a:xfrm>
            <a:off x="566928" y="2743200"/>
            <a:ext cx="6720840" cy="658368"/>
          </a:xfrm>
          <a:prstGeom prst="roundRect">
            <a:avLst>
              <a:gd name="adj" fmla="val 12500"/>
            </a:avLst>
          </a:prstGeom>
          <a:solidFill>
            <a:srgbClr val="F7FAFB"/>
          </a:solidFill>
          <a:ln/>
        </p:spPr>
      </p:sp>
      <p:sp>
        <p:nvSpPr>
          <p:cNvPr id="10" name="Text 8"/>
          <p:cNvSpPr/>
          <p:nvPr/>
        </p:nvSpPr>
        <p:spPr>
          <a:xfrm>
            <a:off x="786384" y="2743200"/>
            <a:ext cx="2834640" cy="658368"/>
          </a:xfrm>
          <a:prstGeom prst="rect">
            <a:avLst/>
          </a:prstGeom>
          <a:noFill/>
          <a:ln/>
        </p:spPr>
        <p:txBody>
          <a:bodyPr wrap="square" lIns="0" tIns="0" rIns="0" bIns="0" rtlCol="0" anchor="ctr"/>
          <a:lstStyle/>
          <a:p>
            <a:pPr indent="0" marL="0">
              <a:buNone/>
            </a:pPr>
            <a:r>
              <a:rPr lang="en-US" sz="1350" b="1" dirty="0">
                <a:solidFill>
                  <a:srgbClr val="1C7293"/>
                </a:solidFill>
                <a:latin typeface="Cambria" pitchFamily="34" charset="0"/>
                <a:ea typeface="Cambria" pitchFamily="34" charset="-122"/>
                <a:cs typeface="Cambria" pitchFamily="34" charset="-120"/>
              </a:rPr>
              <a:t>How many equations?</a:t>
            </a:r>
            <a:endParaRPr lang="en-US" sz="1350" dirty="0"/>
          </a:p>
        </p:txBody>
      </p:sp>
      <p:sp>
        <p:nvSpPr>
          <p:cNvPr id="11" name="Text 9"/>
          <p:cNvSpPr/>
          <p:nvPr/>
        </p:nvSpPr>
        <p:spPr>
          <a:xfrm>
            <a:off x="3712464" y="2743200"/>
            <a:ext cx="3657600" cy="658368"/>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One per state. So |S| equations in |S| unknowns.</a:t>
            </a:r>
            <a:endParaRPr lang="en-US" sz="1300" dirty="0"/>
          </a:p>
        </p:txBody>
      </p:sp>
      <p:sp>
        <p:nvSpPr>
          <p:cNvPr id="12" name="Shape 10"/>
          <p:cNvSpPr/>
          <p:nvPr/>
        </p:nvSpPr>
        <p:spPr>
          <a:xfrm>
            <a:off x="566928" y="3520440"/>
            <a:ext cx="6720840" cy="658368"/>
          </a:xfrm>
          <a:prstGeom prst="roundRect">
            <a:avLst>
              <a:gd name="adj" fmla="val 12500"/>
            </a:avLst>
          </a:prstGeom>
          <a:solidFill>
            <a:srgbClr val="EDF2F5"/>
          </a:solidFill>
          <a:ln/>
        </p:spPr>
      </p:sp>
      <p:sp>
        <p:nvSpPr>
          <p:cNvPr id="13" name="Text 11"/>
          <p:cNvSpPr/>
          <p:nvPr/>
        </p:nvSpPr>
        <p:spPr>
          <a:xfrm>
            <a:off x="786384" y="3520440"/>
            <a:ext cx="2834640" cy="658368"/>
          </a:xfrm>
          <a:prstGeom prst="rect">
            <a:avLst/>
          </a:prstGeom>
          <a:noFill/>
          <a:ln/>
        </p:spPr>
        <p:txBody>
          <a:bodyPr wrap="square" lIns="0" tIns="0" rIns="0" bIns="0" rtlCol="0" anchor="ctr"/>
          <a:lstStyle/>
          <a:p>
            <a:pPr indent="0" marL="0">
              <a:buNone/>
            </a:pPr>
            <a:r>
              <a:rPr lang="en-US" sz="1350" b="1" dirty="0">
                <a:solidFill>
                  <a:srgbClr val="E0A32E"/>
                </a:solidFill>
                <a:latin typeface="Cambria" pitchFamily="34" charset="0"/>
                <a:ea typeface="Cambria" pitchFamily="34" charset="-122"/>
                <a:cs typeface="Cambria" pitchFamily="34" charset="-120"/>
              </a:rPr>
              <a:t>What kind of equations?</a:t>
            </a:r>
            <a:endParaRPr lang="en-US" sz="1350" dirty="0"/>
          </a:p>
        </p:txBody>
      </p:sp>
      <p:sp>
        <p:nvSpPr>
          <p:cNvPr id="14" name="Text 12"/>
          <p:cNvSpPr/>
          <p:nvPr/>
        </p:nvSpPr>
        <p:spPr>
          <a:xfrm>
            <a:off x="3712464" y="3520440"/>
            <a:ext cx="3657600" cy="658368"/>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Linear. Every term is a constant times some V-pi(s'), plus a constant.</a:t>
            </a:r>
            <a:endParaRPr lang="en-US" sz="1300" dirty="0"/>
          </a:p>
        </p:txBody>
      </p:sp>
      <p:sp>
        <p:nvSpPr>
          <p:cNvPr id="15" name="Shape 13"/>
          <p:cNvSpPr/>
          <p:nvPr/>
        </p:nvSpPr>
        <p:spPr>
          <a:xfrm>
            <a:off x="566928" y="4434840"/>
            <a:ext cx="6720840" cy="1508760"/>
          </a:xfrm>
          <a:prstGeom prst="roundRect">
            <a:avLst>
              <a:gd name="adj" fmla="val 5455"/>
            </a:avLst>
          </a:prstGeom>
          <a:solidFill>
            <a:srgbClr val="10263B"/>
          </a:solidFill>
          <a:ln/>
          <a:effectLst>
            <a:outerShdw sx="100000" sy="100000" kx="0" ky="0" algn="bl" rotWithShape="0" blurRad="101600" dist="17780" dir="5400000">
              <a:srgbClr val="9FB2BF">
                <a:alpha val="20000"/>
              </a:srgbClr>
            </a:outerShdw>
          </a:effectLst>
        </p:spPr>
      </p:sp>
      <p:sp>
        <p:nvSpPr>
          <p:cNvPr id="16" name="Text 14"/>
          <p:cNvSpPr/>
          <p:nvPr/>
        </p:nvSpPr>
        <p:spPr>
          <a:xfrm>
            <a:off x="804672" y="4553712"/>
            <a:ext cx="62636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So use linear algebra</a:t>
            </a:r>
            <a:endParaRPr lang="en-US" sz="1500" dirty="0"/>
          </a:p>
        </p:txBody>
      </p:sp>
      <p:sp>
        <p:nvSpPr>
          <p:cNvPr id="17" name="Text 15"/>
          <p:cNvSpPr/>
          <p:nvPr/>
        </p:nvSpPr>
        <p:spPr>
          <a:xfrm>
            <a:off x="804672" y="4901184"/>
            <a:ext cx="6263640" cy="91440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Solve it exactly with your favourite solver in O(|S|^3). The only thing that was ever stopping us from doing this to the Bellman equations was the max, which is nonlinear. Remove the max and standard tools apply.</a:t>
            </a:r>
            <a:endParaRPr lang="en-US" sz="1300" dirty="0"/>
          </a:p>
        </p:txBody>
      </p:sp>
      <p:sp>
        <p:nvSpPr>
          <p:cNvPr id="18" name="Shape 16"/>
          <p:cNvSpPr/>
          <p:nvPr/>
        </p:nvSpPr>
        <p:spPr>
          <a:xfrm>
            <a:off x="7589520" y="1965960"/>
            <a:ext cx="4023360" cy="3977640"/>
          </a:xfrm>
          <a:prstGeom prst="roundRect">
            <a:avLst>
              <a:gd name="adj" fmla="val 2069"/>
            </a:avLst>
          </a:prstGeom>
          <a:solidFill>
            <a:srgbClr val="EDF2F5"/>
          </a:solidFill>
          <a:ln/>
          <a:effectLst>
            <a:outerShdw sx="100000" sy="100000" kx="0" ky="0" algn="bl" rotWithShape="0" blurRad="101600" dist="17780" dir="5400000">
              <a:srgbClr val="9FB2BF">
                <a:alpha val="20000"/>
              </a:srgbClr>
            </a:outerShdw>
          </a:effectLst>
        </p:spPr>
      </p:sp>
      <p:sp>
        <p:nvSpPr>
          <p:cNvPr id="19" name="Text 17"/>
          <p:cNvSpPr/>
          <p:nvPr/>
        </p:nvSpPr>
        <p:spPr>
          <a:xfrm>
            <a:off x="7808976" y="2103120"/>
            <a:ext cx="3611880" cy="329184"/>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Which should you use?</a:t>
            </a:r>
            <a:endParaRPr lang="en-US" sz="1450" dirty="0"/>
          </a:p>
        </p:txBody>
      </p:sp>
      <p:sp>
        <p:nvSpPr>
          <p:cNvPr id="20" name="Text 18"/>
          <p:cNvSpPr/>
          <p:nvPr/>
        </p:nvSpPr>
        <p:spPr>
          <a:xfrm>
            <a:off x="7808976" y="2523744"/>
            <a:ext cx="3611880" cy="324612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10263B"/>
                </a:solidFill>
                <a:latin typeface="Calibri" pitchFamily="34" charset="0"/>
                <a:ea typeface="Calibri" pitchFamily="34" charset="-122"/>
                <a:cs typeface="Calibri" pitchFamily="34" charset="-120"/>
              </a:rPr>
              <a:t>Small |S|: solve exactly. It is one call, no tolerance to tune, and the answer is exact.</a:t>
            </a:r>
            <a:endParaRPr lang="en-US" sz="1250" dirty="0"/>
          </a:p>
          <a:p>
            <a:pPr marL="203200" indent="-203200">
              <a:spcAft>
                <a:spcPts val="1200"/>
              </a:spcAft>
              <a:buSzPct val="100000"/>
              <a:buChar char="•"/>
            </a:pPr>
            <a:r>
              <a:rPr lang="en-US" sz="1250" dirty="0">
                <a:solidFill>
                  <a:srgbClr val="10263B"/>
                </a:solidFill>
                <a:latin typeface="Calibri" pitchFamily="34" charset="0"/>
                <a:ea typeface="Calibri" pitchFamily="34" charset="-122"/>
                <a:cs typeface="Calibri" pitchFamily="34" charset="-120"/>
              </a:rPr>
              <a:t>Large |S|: cubic is unacceptable and the iterative version is cheap per sweep. Iterate.</a:t>
            </a:r>
            <a:endParaRPr lang="en-US" sz="1250" dirty="0"/>
          </a:p>
          <a:p>
            <a:pPr marL="203200" indent="-203200">
              <a:spcAft>
                <a:spcPts val="1200"/>
              </a:spcAft>
              <a:buSzPct val="100000"/>
              <a:buChar char="•"/>
            </a:pPr>
            <a:r>
              <a:rPr lang="en-US" sz="1250" dirty="0">
                <a:solidFill>
                  <a:srgbClr val="10263B"/>
                </a:solidFill>
                <a:latin typeface="Calibri" pitchFamily="34" charset="0"/>
                <a:ea typeface="Calibri" pitchFamily="34" charset="-122"/>
                <a:cs typeface="Calibri" pitchFamily="34" charset="-120"/>
              </a:rPr>
              <a:t>Very large |S|: do not run either to convergence. Take a fixed number of sweeps - this is modified policy iteration, later this section.</a:t>
            </a:r>
            <a:endParaRPr lang="en-US" sz="12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Example: evaluating two policies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52</a:t>
            </a:r>
            <a:endParaRPr lang="en-US" sz="900" dirty="0"/>
          </a:p>
        </p:txBody>
      </p:sp>
      <p:pic>
        <p:nvPicPr>
          <p:cNvPr id="5" name="Image 0" descr="fig_corridor.png">    </p:cNvPr>
          <p:cNvPicPr>
            <a:picLocks noChangeAspect="1"/>
          </p:cNvPicPr>
          <p:nvPr/>
        </p:nvPicPr>
        <p:blipFill>
          <a:blip r:embed="rId1"/>
          <a:srcRect l="0" r="0" t="0" b="0"/>
          <a:stretch/>
        </p:blipFill>
        <p:spPr>
          <a:xfrm>
            <a:off x="2621128" y="1417320"/>
            <a:ext cx="6949440" cy="3886200"/>
          </a:xfrm>
          <a:prstGeom prst="rect">
            <a:avLst/>
          </a:prstGeom>
        </p:spPr>
      </p:pic>
      <p:sp>
        <p:nvSpPr>
          <p:cNvPr id="6" name="Text 3"/>
          <p:cNvSpPr/>
          <p:nvPr/>
        </p:nvSpPr>
        <p:spPr>
          <a:xfrm>
            <a:off x="566928" y="5394960"/>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The same corridor, the same dynamics, two different fixed policies. Both evaluations are correct; only one policy is any good.</a:t>
            </a:r>
            <a:endParaRPr lang="en-US" sz="1250" dirty="0"/>
          </a:p>
        </p:txBody>
      </p:sp>
      <p:sp>
        <p:nvSpPr>
          <p:cNvPr id="7" name="Shape 4"/>
          <p:cNvSpPr/>
          <p:nvPr/>
        </p:nvSpPr>
        <p:spPr>
          <a:xfrm>
            <a:off x="7955280" y="1874520"/>
            <a:ext cx="3657600" cy="3017520"/>
          </a:xfrm>
          <a:prstGeom prst="roundRect">
            <a:avLst>
              <a:gd name="adj" fmla="val 2727"/>
            </a:avLst>
          </a:prstGeom>
          <a:solidFill>
            <a:srgbClr val="EDF2F5"/>
          </a:solidFill>
          <a:ln/>
          <a:effectLst>
            <a:outerShdw sx="100000" sy="100000" kx="0" ky="0" algn="bl" rotWithShape="0" blurRad="101600" dist="17780" dir="5400000">
              <a:srgbClr val="9FB2BF">
                <a:alpha val="20000"/>
              </a:srgbClr>
            </a:outerShdw>
          </a:effectLst>
        </p:spPr>
      </p:sp>
      <p:sp>
        <p:nvSpPr>
          <p:cNvPr id="8" name="Text 5"/>
          <p:cNvSpPr/>
          <p:nvPr/>
        </p:nvSpPr>
        <p:spPr>
          <a:xfrm>
            <a:off x="8174736" y="2011680"/>
            <a:ext cx="3246120" cy="329184"/>
          </a:xfrm>
          <a:prstGeom prst="rect">
            <a:avLst/>
          </a:prstGeom>
          <a:noFill/>
          <a:ln/>
        </p:spPr>
        <p:txBody>
          <a:bodyPr wrap="square" lIns="0" tIns="0" rIns="0" bIns="0" rtlCol="0" anchor="ctr"/>
          <a:lstStyle/>
          <a:p>
            <a:pPr indent="0" marL="0">
              <a:buNone/>
            </a:pPr>
            <a:r>
              <a:rPr lang="en-US" sz="1450" b="1" dirty="0">
                <a:solidFill>
                  <a:srgbClr val="10263B"/>
                </a:solidFill>
                <a:latin typeface="Cambria" pitchFamily="34" charset="0"/>
                <a:ea typeface="Cambria" pitchFamily="34" charset="-122"/>
                <a:cs typeface="Cambria" pitchFamily="34" charset="-120"/>
              </a:rPr>
              <a:t>Reading the numbers</a:t>
            </a:r>
            <a:endParaRPr lang="en-US" sz="1450" dirty="0"/>
          </a:p>
        </p:txBody>
      </p:sp>
      <p:sp>
        <p:nvSpPr>
          <p:cNvPr id="9" name="Text 6"/>
          <p:cNvSpPr/>
          <p:nvPr/>
        </p:nvSpPr>
        <p:spPr>
          <a:xfrm>
            <a:off x="8174736" y="2432304"/>
            <a:ext cx="3246120" cy="2331720"/>
          </a:xfrm>
          <a:prstGeom prst="rect">
            <a:avLst/>
          </a:prstGeom>
          <a:noFill/>
          <a:ln/>
        </p:spPr>
        <p:txBody>
          <a:bodyPr wrap="square" lIns="0" tIns="0" rIns="0" bIns="0" rtlCol="0" anchor="t"/>
          <a:lstStyle/>
          <a:p>
            <a:pPr marL="203200" indent="-203200">
              <a:spcAft>
                <a:spcPts val="1200"/>
              </a:spcAft>
              <a:buSzPct val="100000"/>
              <a:buChar char="•"/>
            </a:pPr>
            <a:r>
              <a:rPr lang="en-US" sz="1250" dirty="0">
                <a:solidFill>
                  <a:srgbClr val="10263B"/>
                </a:solidFill>
                <a:latin typeface="Calibri" pitchFamily="34" charset="0"/>
                <a:ea typeface="Calibri" pitchFamily="34" charset="-122"/>
                <a:cs typeface="Calibri" pitchFamily="34" charset="-120"/>
              </a:rPr>
              <a:t>Always-right walks into the fire from almost everywhere, so its values are near zero or negative.</a:t>
            </a:r>
            <a:endParaRPr lang="en-US" sz="1250" dirty="0"/>
          </a:p>
          <a:p>
            <a:pPr marL="203200" indent="-203200">
              <a:spcAft>
                <a:spcPts val="1200"/>
              </a:spcAft>
              <a:buSzPct val="100000"/>
              <a:buChar char="•"/>
            </a:pPr>
            <a:r>
              <a:rPr lang="en-US" sz="1250" dirty="0">
                <a:solidFill>
                  <a:srgbClr val="10263B"/>
                </a:solidFill>
                <a:latin typeface="Calibri" pitchFamily="34" charset="0"/>
                <a:ea typeface="Calibri" pitchFamily="34" charset="-122"/>
                <a:cs typeface="Calibri" pitchFamily="34" charset="-120"/>
              </a:rPr>
              <a:t>Always-forward marches up the corridor to the +100, and its values climb 33, 49, 70 as you get closer.</a:t>
            </a:r>
            <a:endParaRPr lang="en-US" sz="1250" dirty="0"/>
          </a:p>
          <a:p>
            <a:pPr marL="203200" indent="-203200">
              <a:spcAft>
                <a:spcPts val="1200"/>
              </a:spcAft>
              <a:buSzPct val="100000"/>
              <a:buChar char="•"/>
            </a:pPr>
            <a:r>
              <a:rPr lang="en-US" sz="1250" dirty="0">
                <a:solidFill>
                  <a:srgbClr val="10263B"/>
                </a:solidFill>
                <a:latin typeface="Calibri" pitchFamily="34" charset="0"/>
                <a:ea typeface="Calibri" pitchFamily="34" charset="-122"/>
                <a:cs typeface="Calibri" pitchFamily="34" charset="-120"/>
              </a:rPr>
              <a:t>Policy evaluation did not judge either one. It reported what each is worth. Comparing them is our job, and that is the next step.</a:t>
            </a:r>
            <a:endParaRPr lang="en-US" sz="12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Policy extraction: from values to actions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53</a:t>
            </a:r>
            <a:endParaRPr lang="en-US" sz="900" dirty="0"/>
          </a:p>
        </p:txBody>
      </p:sp>
      <p:sp>
        <p:nvSpPr>
          <p:cNvPr id="5" name="Text 3"/>
          <p:cNvSpPr/>
          <p:nvPr/>
        </p:nvSpPr>
        <p:spPr>
          <a:xfrm>
            <a:off x="566928" y="1417320"/>
            <a:ext cx="6949440" cy="384048"/>
          </a:xfrm>
          <a:prstGeom prst="rect">
            <a:avLst/>
          </a:prstGeom>
          <a:noFill/>
          <a:ln/>
        </p:spPr>
        <p:txBody>
          <a:bodyPr wrap="square" lIns="0" tIns="0" rIns="0" bIns="0" rtlCol="0" anchor="ctr"/>
          <a:lstStyle/>
          <a:p>
            <a:pPr indent="0" marL="0">
              <a:buNone/>
            </a:pPr>
            <a:r>
              <a:rPr lang="en-US" sz="1550" dirty="0">
                <a:solidFill>
                  <a:srgbClr val="10263B"/>
                </a:solidFill>
                <a:latin typeface="Calibri" pitchFamily="34" charset="0"/>
                <a:ea typeface="Calibri" pitchFamily="34" charset="-122"/>
                <a:cs typeface="Calibri" pitchFamily="34" charset="-120"/>
              </a:rPr>
              <a:t>Somebody hands you the optimal values V*. How should you act?</a:t>
            </a:r>
            <a:endParaRPr lang="en-US" sz="1550" dirty="0"/>
          </a:p>
        </p:txBody>
      </p:sp>
      <p:sp>
        <p:nvSpPr>
          <p:cNvPr id="6" name="Shape 4"/>
          <p:cNvSpPr/>
          <p:nvPr/>
        </p:nvSpPr>
        <p:spPr>
          <a:xfrm>
            <a:off x="566928" y="1874520"/>
            <a:ext cx="6949440" cy="1234440"/>
          </a:xfrm>
          <a:prstGeom prst="roundRect">
            <a:avLst>
              <a:gd name="adj" fmla="val 6667"/>
            </a:avLst>
          </a:prstGeom>
          <a:solidFill>
            <a:srgbClr val="F5DFA8"/>
          </a:solidFill>
          <a:ln/>
        </p:spPr>
      </p:sp>
      <p:sp>
        <p:nvSpPr>
          <p:cNvPr id="7" name="Text 5"/>
          <p:cNvSpPr/>
          <p:nvPr/>
        </p:nvSpPr>
        <p:spPr>
          <a:xfrm>
            <a:off x="804672" y="1874520"/>
            <a:ext cx="6492240" cy="12344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It is not obvious. Values tell you which states are good, but you do not control which state you are in - you control your action. And knowing that the square to the north is valuable does not tell you that North is the best action, because North might slip you into a pit.</a:t>
            </a:r>
            <a:endParaRPr lang="en-US" sz="1350" dirty="0"/>
          </a:p>
        </p:txBody>
      </p:sp>
      <p:sp>
        <p:nvSpPr>
          <p:cNvPr id="8" name="Text 6"/>
          <p:cNvSpPr/>
          <p:nvPr/>
        </p:nvSpPr>
        <p:spPr>
          <a:xfrm>
            <a:off x="566928" y="3246120"/>
            <a:ext cx="6949440" cy="411480"/>
          </a:xfrm>
          <a:prstGeom prst="rect">
            <a:avLst/>
          </a:prstGeom>
          <a:noFill/>
          <a:ln/>
        </p:spPr>
        <p:txBody>
          <a:bodyPr wrap="square" lIns="0" tIns="0" rIns="0" bIns="0" rtlCol="0" anchor="ctr"/>
          <a:lstStyle/>
          <a:p>
            <a:pPr indent="0" marL="0">
              <a:buNone/>
            </a:pPr>
            <a:r>
              <a:rPr lang="en-US" sz="1400" dirty="0">
                <a:solidFill>
                  <a:srgbClr val="10263B"/>
                </a:solidFill>
                <a:latin typeface="Calibri" pitchFamily="34" charset="0"/>
                <a:ea typeface="Calibri" pitchFamily="34" charset="-122"/>
                <a:cs typeface="Calibri" pitchFamily="34" charset="-120"/>
              </a:rPr>
              <a:t>You have to do a one-step expectimax, using the values you were given as the leaf evaluations:</a:t>
            </a:r>
            <a:endParaRPr lang="en-US" sz="1400" dirty="0"/>
          </a:p>
        </p:txBody>
      </p:sp>
      <p:sp>
        <p:nvSpPr>
          <p:cNvPr id="9" name="Shape 7"/>
          <p:cNvSpPr/>
          <p:nvPr/>
        </p:nvSpPr>
        <p:spPr>
          <a:xfrm>
            <a:off x="566928" y="3712464"/>
            <a:ext cx="6949440" cy="914400"/>
          </a:xfrm>
          <a:prstGeom prst="roundRect">
            <a:avLst>
              <a:gd name="adj" fmla="val 6000"/>
            </a:avLst>
          </a:prstGeom>
          <a:solidFill>
            <a:srgbClr val="10263B"/>
          </a:solidFill>
          <a:ln w="12700">
            <a:solidFill>
              <a:srgbClr val="10263B"/>
            </a:solidFill>
            <a:prstDash val="solid"/>
          </a:ln>
        </p:spPr>
      </p:sp>
      <p:sp>
        <p:nvSpPr>
          <p:cNvPr id="10" name="Text 8"/>
          <p:cNvSpPr/>
          <p:nvPr/>
        </p:nvSpPr>
        <p:spPr>
          <a:xfrm>
            <a:off x="676656" y="3712464"/>
            <a:ext cx="6729984"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π</a:t>
            </a:r>
            <a:pPr algn="ctr" indent="0" marL="0">
              <a:buNone/>
            </a:pPr>
            <a:r>
              <a:rPr lang="en-US" sz="1500" b="1" baseline="30000" dirty="0">
                <a:solidFill>
                  <a:srgbClr val="FFFFFF"/>
                </a:solidFill>
                <a:latin typeface="Cambria" pitchFamily="34" charset="0"/>
                <a:ea typeface="Cambria" pitchFamily="34" charset="-122"/>
                <a:cs typeface="Cambria" pitchFamily="34" charset="-120"/>
              </a:rPr>
              <a:t>*</a:t>
            </a:r>
            <a:pPr algn="ctr" indent="0" marL="0">
              <a:buNone/>
            </a:pPr>
            <a:r>
              <a:rPr lang="en-US" sz="1500" b="1" dirty="0">
                <a:solidFill>
                  <a:srgbClr val="FFFFFF"/>
                </a:solidFill>
                <a:latin typeface="Cambria" pitchFamily="34" charset="0"/>
                <a:ea typeface="Cambria" pitchFamily="34" charset="-122"/>
                <a:cs typeface="Cambria" pitchFamily="34" charset="-120"/>
              </a:rPr>
              <a:t>(s)  =  argmax</a:t>
            </a:r>
            <a:pPr algn="ctr" indent="0" marL="0">
              <a:buNone/>
            </a:pPr>
            <a:r>
              <a:rPr lang="en-US" sz="1500" b="1" baseline="-40000" dirty="0">
                <a:solidFill>
                  <a:srgbClr val="FFFFFF"/>
                </a:solidFill>
                <a:latin typeface="Cambria" pitchFamily="34" charset="0"/>
                <a:ea typeface="Cambria" pitchFamily="34" charset="-122"/>
                <a:cs typeface="Cambria" pitchFamily="34" charset="-120"/>
              </a:rPr>
              <a:t>a</a:t>
            </a:r>
            <a:pPr algn="ctr" indent="0" marL="0">
              <a:buNone/>
            </a:pPr>
            <a:r>
              <a:rPr lang="en-US" sz="1500" b="1" dirty="0">
                <a:solidFill>
                  <a:srgbClr val="FFFFFF"/>
                </a:solidFill>
                <a:latin typeface="Cambria" pitchFamily="34" charset="0"/>
                <a:ea typeface="Cambria" pitchFamily="34" charset="-122"/>
                <a:cs typeface="Cambria" pitchFamily="34" charset="-120"/>
              </a:rPr>
              <a:t>  Σ</a:t>
            </a:r>
            <a:pPr algn="ctr" indent="0" marL="0">
              <a:buNone/>
            </a:pPr>
            <a:r>
              <a:rPr lang="en-US" sz="1500" b="1" baseline="-40000" dirty="0">
                <a:solidFill>
                  <a:srgbClr val="FFFFFF"/>
                </a:solidFill>
                <a:latin typeface="Cambria" pitchFamily="34" charset="0"/>
                <a:ea typeface="Cambria" pitchFamily="34" charset="-122"/>
                <a:cs typeface="Cambria" pitchFamily="34" charset="-120"/>
              </a:rPr>
              <a:t>s'</a:t>
            </a:r>
            <a:pPr algn="ctr" indent="0" marL="0">
              <a:buNone/>
            </a:pPr>
            <a:r>
              <a:rPr lang="en-US" sz="1500" b="1" dirty="0">
                <a:solidFill>
                  <a:srgbClr val="FFFFFF"/>
                </a:solidFill>
                <a:latin typeface="Cambria" pitchFamily="34" charset="0"/>
                <a:ea typeface="Cambria" pitchFamily="34" charset="-122"/>
                <a:cs typeface="Cambria" pitchFamily="34" charset="-120"/>
              </a:rPr>
              <a:t> T(s,a,s')[ R(s,a,s') + γ V</a:t>
            </a:r>
            <a:pPr algn="ctr" indent="0" marL="0">
              <a:buNone/>
            </a:pPr>
            <a:r>
              <a:rPr lang="en-US" sz="1500" b="1" baseline="30000" dirty="0">
                <a:solidFill>
                  <a:srgbClr val="FFFFFF"/>
                </a:solidFill>
                <a:latin typeface="Cambria" pitchFamily="34" charset="0"/>
                <a:ea typeface="Cambria" pitchFamily="34" charset="-122"/>
                <a:cs typeface="Cambria" pitchFamily="34" charset="-120"/>
              </a:rPr>
              <a:t>*</a:t>
            </a:r>
            <a:pPr algn="ctr" indent="0" marL="0">
              <a:buNone/>
            </a:pPr>
            <a:r>
              <a:rPr lang="en-US" sz="1500" b="1" dirty="0">
                <a:solidFill>
                  <a:srgbClr val="FFFFFF"/>
                </a:solidFill>
                <a:latin typeface="Cambria" pitchFamily="34" charset="0"/>
                <a:ea typeface="Cambria" pitchFamily="34" charset="-122"/>
                <a:cs typeface="Cambria" pitchFamily="34" charset="-120"/>
              </a:rPr>
              <a:t>(s') ]</a:t>
            </a:r>
            <a:endParaRPr lang="en-US" sz="1500" dirty="0"/>
          </a:p>
        </p:txBody>
      </p:sp>
      <p:sp>
        <p:nvSpPr>
          <p:cNvPr id="11" name="Text 9"/>
          <p:cNvSpPr/>
          <p:nvPr/>
        </p:nvSpPr>
        <p:spPr>
          <a:xfrm>
            <a:off x="566928" y="4654296"/>
            <a:ext cx="6949440" cy="256032"/>
          </a:xfrm>
          <a:prstGeom prst="rect">
            <a:avLst/>
          </a:prstGeom>
          <a:noFill/>
          <a:ln/>
        </p:spPr>
        <p:txBody>
          <a:bodyPr wrap="square" lIns="0" tIns="0" rIns="0" bIns="0" rtlCol="0" anchor="ctr"/>
          <a:lstStyle/>
          <a:p>
            <a:pPr algn="ctr" indent="0" marL="0">
              <a:buNone/>
            </a:pPr>
            <a:r>
              <a:rPr lang="en-US" sz="1100" dirty="0">
                <a:solidFill>
                  <a:srgbClr val="5C7080"/>
                </a:solidFill>
                <a:latin typeface="Calibri" pitchFamily="34" charset="0"/>
                <a:ea typeface="Calibri" pitchFamily="34" charset="-122"/>
                <a:cs typeface="Calibri" pitchFamily="34" charset="-120"/>
              </a:rPr>
              <a:t>AIMA equation 17.4</a:t>
            </a:r>
            <a:endParaRPr lang="en-US" sz="1100" dirty="0"/>
          </a:p>
        </p:txBody>
      </p:sp>
      <p:sp>
        <p:nvSpPr>
          <p:cNvPr id="12" name="Shape 10"/>
          <p:cNvSpPr/>
          <p:nvPr/>
        </p:nvSpPr>
        <p:spPr>
          <a:xfrm>
            <a:off x="566928" y="5074920"/>
            <a:ext cx="6949440" cy="960120"/>
          </a:xfrm>
          <a:prstGeom prst="roundRect">
            <a:avLst>
              <a:gd name="adj" fmla="val 8571"/>
            </a:avLst>
          </a:prstGeom>
          <a:solidFill>
            <a:srgbClr val="EDF2F5"/>
          </a:solidFill>
          <a:ln/>
        </p:spPr>
      </p:sp>
      <p:sp>
        <p:nvSpPr>
          <p:cNvPr id="13" name="Text 11"/>
          <p:cNvSpPr/>
          <p:nvPr/>
        </p:nvSpPr>
        <p:spPr>
          <a:xfrm>
            <a:off x="804672" y="5074920"/>
            <a:ext cx="6492240" cy="960120"/>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Same one-step lookahead as always. The only difference is that argmax returns the action that achieved the maximum, rather than the value of the maximum.</a:t>
            </a:r>
            <a:endParaRPr lang="en-US" sz="1300" dirty="0"/>
          </a:p>
        </p:txBody>
      </p:sp>
      <p:sp>
        <p:nvSpPr>
          <p:cNvPr id="14" name="Shape 12"/>
          <p:cNvSpPr/>
          <p:nvPr/>
        </p:nvSpPr>
        <p:spPr>
          <a:xfrm>
            <a:off x="7699248" y="1874520"/>
            <a:ext cx="3913632" cy="4160520"/>
          </a:xfrm>
          <a:prstGeom prst="roundRect">
            <a:avLst>
              <a:gd name="adj" fmla="val 2103"/>
            </a:avLst>
          </a:prstGeom>
          <a:solidFill>
            <a:srgbClr val="10263B"/>
          </a:solidFill>
          <a:ln/>
          <a:effectLst>
            <a:outerShdw sx="100000" sy="100000" kx="0" ky="0" algn="bl" rotWithShape="0" blurRad="101600" dist="17780" dir="5400000">
              <a:srgbClr val="9FB2BF">
                <a:alpha val="20000"/>
              </a:srgbClr>
            </a:outerShdw>
          </a:effectLst>
        </p:spPr>
      </p:sp>
      <p:sp>
        <p:nvSpPr>
          <p:cNvPr id="15" name="Text 13"/>
          <p:cNvSpPr/>
          <p:nvPr/>
        </p:nvSpPr>
        <p:spPr>
          <a:xfrm>
            <a:off x="7918704" y="2029968"/>
            <a:ext cx="3520440" cy="548640"/>
          </a:xfrm>
          <a:prstGeom prst="rect">
            <a:avLst/>
          </a:prstGeom>
          <a:noFill/>
          <a:ln/>
        </p:spPr>
        <p:txBody>
          <a:bodyPr wrap="square" lIns="0" tIns="0" rIns="0" bIns="0" rtlCol="0" anchor="t"/>
          <a:lstStyle/>
          <a:p>
            <a:pPr indent="0" marL="0">
              <a:buNone/>
            </a:pPr>
            <a:r>
              <a:rPr lang="en-US" sz="1400" b="1" dirty="0">
                <a:solidFill>
                  <a:srgbClr val="E0A32E"/>
                </a:solidFill>
                <a:latin typeface="Cambria" pitchFamily="34" charset="0"/>
                <a:ea typeface="Cambria" pitchFamily="34" charset="-122"/>
                <a:cs typeface="Cambria" pitchFamily="34" charset="-120"/>
              </a:rPr>
              <a:t>Remember this from the r-ranges figure</a:t>
            </a:r>
            <a:endParaRPr lang="en-US" sz="1400" dirty="0"/>
          </a:p>
        </p:txBody>
      </p:sp>
      <p:sp>
        <p:nvSpPr>
          <p:cNvPr id="16" name="Text 14"/>
          <p:cNvSpPr/>
          <p:nvPr/>
        </p:nvSpPr>
        <p:spPr>
          <a:xfrm>
            <a:off x="7918704" y="2670048"/>
            <a:ext cx="3520440" cy="86868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Sometimes the right action was to head into a wall on purpose, so that both slip directions were safe.</a:t>
            </a:r>
            <a:endParaRPr lang="en-US" sz="1300" dirty="0"/>
          </a:p>
        </p:txBody>
      </p:sp>
      <p:sp>
        <p:nvSpPr>
          <p:cNvPr id="17" name="Text 15"/>
          <p:cNvSpPr/>
          <p:nvPr/>
        </p:nvSpPr>
        <p:spPr>
          <a:xfrm>
            <a:off x="7918704" y="3584448"/>
            <a:ext cx="3520440" cy="96012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No amount of staring at a grid of values will reveal that. It depends on the noise model and on where the neighbours lead.</a:t>
            </a:r>
            <a:endParaRPr lang="en-US" sz="1300" dirty="0"/>
          </a:p>
        </p:txBody>
      </p:sp>
      <p:sp>
        <p:nvSpPr>
          <p:cNvPr id="18" name="Text 16"/>
          <p:cNvSpPr/>
          <p:nvPr/>
        </p:nvSpPr>
        <p:spPr>
          <a:xfrm>
            <a:off x="7918704" y="4617720"/>
            <a:ext cx="3520440" cy="1097280"/>
          </a:xfrm>
          <a:prstGeom prst="rect">
            <a:avLst/>
          </a:prstGeom>
          <a:noFill/>
          <a:ln/>
        </p:spPr>
        <p:txBody>
          <a:bodyPr wrap="square" lIns="0" tIns="0" rIns="0" bIns="0" rtlCol="0" anchor="t"/>
          <a:lstStyle/>
          <a:p>
            <a:pPr indent="0" marL="0">
              <a:buNone/>
            </a:pPr>
            <a:r>
              <a:rPr lang="en-US" sz="1400" b="1" i="1" dirty="0">
                <a:solidFill>
                  <a:srgbClr val="FFFFFF"/>
                </a:solidFill>
                <a:latin typeface="Calibri" pitchFamily="34" charset="0"/>
                <a:ea typeface="Calibri" pitchFamily="34" charset="-122"/>
                <a:cs typeface="Calibri" pitchFamily="34" charset="-120"/>
              </a:rPr>
              <a:t>Values tell you how good your situation is. They do not tell you what to do.</a:t>
            </a:r>
            <a:endParaRPr lang="en-US" sz="14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Policy extraction from Q-values is trivial</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54</a:t>
            </a:r>
            <a:endParaRPr lang="en-US" sz="900" dirty="0"/>
          </a:p>
        </p:txBody>
      </p:sp>
      <p:pic>
        <p:nvPicPr>
          <p:cNvPr id="5" name="Image 0" descr="fig_qvalues.png">    </p:cNvPr>
          <p:cNvPicPr>
            <a:picLocks noChangeAspect="1"/>
          </p:cNvPicPr>
          <p:nvPr/>
        </p:nvPicPr>
        <p:blipFill>
          <a:blip r:embed="rId1"/>
          <a:srcRect l="0" r="0" t="0" b="0"/>
          <a:stretch/>
        </p:blipFill>
        <p:spPr>
          <a:xfrm>
            <a:off x="640080" y="1371600"/>
            <a:ext cx="4892040" cy="3794760"/>
          </a:xfrm>
          <a:prstGeom prst="rect">
            <a:avLst/>
          </a:prstGeom>
        </p:spPr>
      </p:pic>
      <p:sp>
        <p:nvSpPr>
          <p:cNvPr id="6" name="Shape 3"/>
          <p:cNvSpPr/>
          <p:nvPr/>
        </p:nvSpPr>
        <p:spPr>
          <a:xfrm>
            <a:off x="5897880" y="1481328"/>
            <a:ext cx="5715000" cy="914400"/>
          </a:xfrm>
          <a:prstGeom prst="roundRect">
            <a:avLst>
              <a:gd name="adj" fmla="val 6000"/>
            </a:avLst>
          </a:prstGeom>
          <a:solidFill>
            <a:srgbClr val="10263B"/>
          </a:solidFill>
          <a:ln w="12700">
            <a:solidFill>
              <a:srgbClr val="10263B"/>
            </a:solidFill>
            <a:prstDash val="solid"/>
          </a:ln>
        </p:spPr>
      </p:sp>
      <p:sp>
        <p:nvSpPr>
          <p:cNvPr id="7" name="Text 4"/>
          <p:cNvSpPr/>
          <p:nvPr/>
        </p:nvSpPr>
        <p:spPr>
          <a:xfrm>
            <a:off x="6007608" y="1481328"/>
            <a:ext cx="5495544" cy="914400"/>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π</a:t>
            </a:r>
            <a:pPr algn="ctr" indent="0" marL="0">
              <a:buNone/>
            </a:pPr>
            <a:r>
              <a:rPr lang="en-US" sz="2100" b="1" baseline="30000" dirty="0">
                <a:solidFill>
                  <a:srgbClr val="FFFFFF"/>
                </a:solidFill>
                <a:latin typeface="Cambria" pitchFamily="34" charset="0"/>
                <a:ea typeface="Cambria" pitchFamily="34" charset="-122"/>
                <a:cs typeface="Cambria" pitchFamily="34" charset="-120"/>
              </a:rPr>
              <a:t>*</a:t>
            </a:r>
            <a:pPr algn="ctr" indent="0" marL="0">
              <a:buNone/>
            </a:pPr>
            <a:r>
              <a:rPr lang="en-US" sz="2100" b="1" dirty="0">
                <a:solidFill>
                  <a:srgbClr val="FFFFFF"/>
                </a:solidFill>
                <a:latin typeface="Cambria" pitchFamily="34" charset="0"/>
                <a:ea typeface="Cambria" pitchFamily="34" charset="-122"/>
                <a:cs typeface="Cambria" pitchFamily="34" charset="-120"/>
              </a:rPr>
              <a:t>(s)  =  argmax</a:t>
            </a:r>
            <a:pPr algn="ctr" indent="0" marL="0">
              <a:buNone/>
            </a:pPr>
            <a:r>
              <a:rPr lang="en-US" sz="2100" b="1" baseline="-40000" dirty="0">
                <a:solidFill>
                  <a:srgbClr val="FFFFFF"/>
                </a:solidFill>
                <a:latin typeface="Cambria" pitchFamily="34" charset="0"/>
                <a:ea typeface="Cambria" pitchFamily="34" charset="-122"/>
                <a:cs typeface="Cambria" pitchFamily="34" charset="-120"/>
              </a:rPr>
              <a:t>a</a:t>
            </a:r>
            <a:pPr algn="ctr" indent="0" marL="0">
              <a:buNone/>
            </a:pPr>
            <a:r>
              <a:rPr lang="en-US" sz="2100" b="1" dirty="0">
                <a:solidFill>
                  <a:srgbClr val="FFFFFF"/>
                </a:solidFill>
                <a:latin typeface="Cambria" pitchFamily="34" charset="0"/>
                <a:ea typeface="Cambria" pitchFamily="34" charset="-122"/>
                <a:cs typeface="Cambria" pitchFamily="34" charset="-120"/>
              </a:rPr>
              <a:t>  Q</a:t>
            </a:r>
            <a:pPr algn="ctr" indent="0" marL="0">
              <a:buNone/>
            </a:pPr>
            <a:r>
              <a:rPr lang="en-US" sz="2100" b="1" baseline="30000" dirty="0">
                <a:solidFill>
                  <a:srgbClr val="FFFFFF"/>
                </a:solidFill>
                <a:latin typeface="Cambria" pitchFamily="34" charset="0"/>
                <a:ea typeface="Cambria" pitchFamily="34" charset="-122"/>
                <a:cs typeface="Cambria" pitchFamily="34" charset="-120"/>
              </a:rPr>
              <a:t>*</a:t>
            </a:r>
            <a:pPr algn="ctr" indent="0" marL="0">
              <a:buNone/>
            </a:pPr>
            <a:r>
              <a:rPr lang="en-US" sz="2100" b="1" dirty="0">
                <a:solidFill>
                  <a:srgbClr val="FFFFFF"/>
                </a:solidFill>
                <a:latin typeface="Cambria" pitchFamily="34" charset="0"/>
                <a:ea typeface="Cambria" pitchFamily="34" charset="-122"/>
                <a:cs typeface="Cambria" pitchFamily="34" charset="-120"/>
              </a:rPr>
              <a:t>(s, a)</a:t>
            </a:r>
            <a:endParaRPr lang="en-US" sz="2100" dirty="0"/>
          </a:p>
        </p:txBody>
      </p:sp>
      <p:sp>
        <p:nvSpPr>
          <p:cNvPr id="8" name="Shape 5"/>
          <p:cNvSpPr/>
          <p:nvPr/>
        </p:nvSpPr>
        <p:spPr>
          <a:xfrm>
            <a:off x="5897880" y="2606040"/>
            <a:ext cx="5715000" cy="1234440"/>
          </a:xfrm>
          <a:prstGeom prst="roundRect">
            <a:avLst>
              <a:gd name="adj" fmla="val 6667"/>
            </a:avLst>
          </a:prstGeom>
          <a:solidFill>
            <a:srgbClr val="EDF2F5"/>
          </a:solidFill>
          <a:ln/>
          <a:effectLst>
            <a:outerShdw sx="100000" sy="100000" kx="0" ky="0" algn="bl" rotWithShape="0" blurRad="101600" dist="17780" dir="5400000">
              <a:srgbClr val="9FB2BF">
                <a:alpha val="20000"/>
              </a:srgbClr>
            </a:outerShdw>
          </a:effectLst>
        </p:spPr>
      </p:sp>
      <p:sp>
        <p:nvSpPr>
          <p:cNvPr id="9" name="Text 6"/>
          <p:cNvSpPr/>
          <p:nvPr/>
        </p:nvSpPr>
        <p:spPr>
          <a:xfrm>
            <a:off x="6117336" y="2606040"/>
            <a:ext cx="5303520" cy="1234440"/>
          </a:xfrm>
          <a:prstGeom prst="rect">
            <a:avLst/>
          </a:prstGeom>
          <a:noFill/>
          <a:ln/>
        </p:spPr>
        <p:txBody>
          <a:bodyPr wrap="square" lIns="0" tIns="0" rIns="0" bIns="0" rtlCol="0" anchor="ctr"/>
          <a:lstStyle/>
          <a:p>
            <a:pPr indent="0" marL="0">
              <a:buNone/>
            </a:pPr>
            <a:r>
              <a:rPr lang="en-US" sz="1350" dirty="0">
                <a:solidFill>
                  <a:srgbClr val="10263B"/>
                </a:solidFill>
                <a:latin typeface="Calibri" pitchFamily="34" charset="0"/>
                <a:ea typeface="Calibri" pitchFamily="34" charset="-122"/>
                <a:cs typeface="Calibri" pitchFamily="34" charset="-120"/>
              </a:rPr>
              <a:t>That is the whole thing. No sum, no transition model, no reward function, no discount. Look at the numbers attached to your state, take the biggest, do that action.</a:t>
            </a:r>
            <a:endParaRPr lang="en-US" sz="1350" dirty="0"/>
          </a:p>
        </p:txBody>
      </p:sp>
      <p:sp>
        <p:nvSpPr>
          <p:cNvPr id="10" name="Shape 7"/>
          <p:cNvSpPr/>
          <p:nvPr/>
        </p:nvSpPr>
        <p:spPr>
          <a:xfrm>
            <a:off x="5897880" y="4023360"/>
            <a:ext cx="5715000" cy="2011680"/>
          </a:xfrm>
          <a:prstGeom prst="roundRect">
            <a:avLst>
              <a:gd name="adj" fmla="val 4091"/>
            </a:avLst>
          </a:prstGeom>
          <a:solidFill>
            <a:srgbClr val="F5DFA8"/>
          </a:solidFill>
          <a:ln/>
        </p:spPr>
      </p:sp>
      <p:sp>
        <p:nvSpPr>
          <p:cNvPr id="11" name="Text 8"/>
          <p:cNvSpPr/>
          <p:nvPr/>
        </p:nvSpPr>
        <p:spPr>
          <a:xfrm>
            <a:off x="6117336" y="4151376"/>
            <a:ext cx="5303520" cy="329184"/>
          </a:xfrm>
          <a:prstGeom prst="rect">
            <a:avLst/>
          </a:prstGeom>
          <a:noFill/>
          <a:ln/>
        </p:spPr>
        <p:txBody>
          <a:bodyPr wrap="square" lIns="0" tIns="0" rIns="0" bIns="0" rtlCol="0" anchor="ctr"/>
          <a:lstStyle/>
          <a:p>
            <a:pPr indent="0" marL="0">
              <a:buNone/>
            </a:pPr>
            <a:r>
              <a:rPr lang="en-US" sz="1500" b="1" dirty="0">
                <a:solidFill>
                  <a:srgbClr val="10263B"/>
                </a:solidFill>
                <a:latin typeface="Cambria" pitchFamily="34" charset="0"/>
                <a:ea typeface="Cambria" pitchFamily="34" charset="-122"/>
                <a:cs typeface="Cambria" pitchFamily="34" charset="-120"/>
              </a:rPr>
              <a:t>Why this is a big deal</a:t>
            </a:r>
            <a:endParaRPr lang="en-US" sz="1500" dirty="0"/>
          </a:p>
        </p:txBody>
      </p:sp>
      <p:sp>
        <p:nvSpPr>
          <p:cNvPr id="12" name="Text 9"/>
          <p:cNvSpPr/>
          <p:nvPr/>
        </p:nvSpPr>
        <p:spPr>
          <a:xfrm>
            <a:off x="6117336" y="4517136"/>
            <a:ext cx="5303520" cy="141732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Extracting a policy from V requires a model. Extracting it from Q does not. If you are going to learn something from experience rather than be handed it, learn Q. This insight is a large part of what unstuck reinforcement learning, and it is where we pick up next week.</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Policy iteration</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55</a:t>
            </a:r>
            <a:endParaRPr lang="en-US" sz="900" dirty="0"/>
          </a:p>
        </p:txBody>
      </p:sp>
      <p:sp>
        <p:nvSpPr>
          <p:cNvPr id="5" name="Text 3"/>
          <p:cNvSpPr/>
          <p:nvPr/>
        </p:nvSpPr>
        <p:spPr>
          <a:xfrm>
            <a:off x="566928" y="1389888"/>
            <a:ext cx="11057839" cy="384048"/>
          </a:xfrm>
          <a:prstGeom prst="rect">
            <a:avLst/>
          </a:prstGeom>
          <a:noFill/>
          <a:ln/>
        </p:spPr>
        <p:txBody>
          <a:bodyPr wrap="square" lIns="0" tIns="0" rIns="0" bIns="0" rtlCol="0" anchor="ctr"/>
          <a:lstStyle/>
          <a:p>
            <a:pPr indent="0" marL="0">
              <a:buNone/>
            </a:pPr>
            <a:r>
              <a:rPr lang="en-US" sz="1500" dirty="0">
                <a:solidFill>
                  <a:srgbClr val="10263B"/>
                </a:solidFill>
                <a:latin typeface="Calibri" pitchFamily="34" charset="0"/>
                <a:ea typeface="Calibri" pitchFamily="34" charset="-122"/>
                <a:cs typeface="Calibri" pitchFamily="34" charset="-120"/>
              </a:rPr>
              <a:t>We noticed that the arg max rarely changes between sweeps. So stop recomputing it every time.</a:t>
            </a:r>
            <a:endParaRPr lang="en-US" sz="1500" dirty="0"/>
          </a:p>
        </p:txBody>
      </p:sp>
      <p:sp>
        <p:nvSpPr>
          <p:cNvPr id="6" name="Shape 4"/>
          <p:cNvSpPr/>
          <p:nvPr/>
        </p:nvSpPr>
        <p:spPr>
          <a:xfrm>
            <a:off x="566928" y="1920240"/>
            <a:ext cx="7178040" cy="859536"/>
          </a:xfrm>
          <a:prstGeom prst="roundRect">
            <a:avLst>
              <a:gd name="adj" fmla="val 9574"/>
            </a:avLst>
          </a:prstGeom>
          <a:solidFill>
            <a:srgbClr val="EDF2F5"/>
          </a:solidFill>
          <a:ln/>
          <a:effectLst>
            <a:outerShdw sx="100000" sy="100000" kx="0" ky="0" algn="bl" rotWithShape="0" blurRad="101600" dist="17780" dir="5400000">
              <a:srgbClr val="9FB2BF">
                <a:alpha val="20000"/>
              </a:srgbClr>
            </a:outerShdw>
          </a:effectLst>
        </p:spPr>
      </p:sp>
      <p:sp>
        <p:nvSpPr>
          <p:cNvPr id="7" name="Shape 5"/>
          <p:cNvSpPr/>
          <p:nvPr/>
        </p:nvSpPr>
        <p:spPr>
          <a:xfrm>
            <a:off x="768096" y="2103120"/>
            <a:ext cx="493776" cy="493776"/>
          </a:xfrm>
          <a:prstGeom prst="ellipse">
            <a:avLst/>
          </a:prstGeom>
          <a:solidFill>
            <a:srgbClr val="5C7080"/>
          </a:solidFill>
          <a:ln/>
        </p:spPr>
      </p:sp>
      <p:sp>
        <p:nvSpPr>
          <p:cNvPr id="8" name="Text 6"/>
          <p:cNvSpPr/>
          <p:nvPr/>
        </p:nvSpPr>
        <p:spPr>
          <a:xfrm>
            <a:off x="768096" y="2103120"/>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408176" y="1975104"/>
            <a:ext cx="1371600" cy="384048"/>
          </a:xfrm>
          <a:prstGeom prst="rect">
            <a:avLst/>
          </a:prstGeom>
          <a:noFill/>
          <a:ln/>
        </p:spPr>
        <p:txBody>
          <a:bodyPr wrap="square" lIns="0" tIns="0" rIns="0" bIns="0" rtlCol="0" anchor="ctr"/>
          <a:lstStyle/>
          <a:p>
            <a:pPr indent="0" marL="0">
              <a:buNone/>
            </a:pPr>
            <a:r>
              <a:rPr lang="en-US" sz="1500" b="1" dirty="0">
                <a:solidFill>
                  <a:srgbClr val="5C7080"/>
                </a:solidFill>
                <a:latin typeface="Cambria" pitchFamily="34" charset="0"/>
                <a:ea typeface="Cambria" pitchFamily="34" charset="-122"/>
                <a:cs typeface="Cambria" pitchFamily="34" charset="-120"/>
              </a:rPr>
              <a:t>Start</a:t>
            </a:r>
            <a:endParaRPr lang="en-US" sz="1500" dirty="0"/>
          </a:p>
        </p:txBody>
      </p:sp>
      <p:sp>
        <p:nvSpPr>
          <p:cNvPr id="10" name="Text 8"/>
          <p:cNvSpPr/>
          <p:nvPr/>
        </p:nvSpPr>
        <p:spPr>
          <a:xfrm>
            <a:off x="2834640" y="1956816"/>
            <a:ext cx="4800600" cy="786384"/>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Take any policy pi-0. It can be arbitrary - always go right, always go north, whatever. It will be bad.</a:t>
            </a:r>
            <a:endParaRPr lang="en-US" sz="1250" dirty="0"/>
          </a:p>
        </p:txBody>
      </p:sp>
      <p:sp>
        <p:nvSpPr>
          <p:cNvPr id="11" name="Shape 9"/>
          <p:cNvSpPr/>
          <p:nvPr/>
        </p:nvSpPr>
        <p:spPr>
          <a:xfrm>
            <a:off x="566928" y="2889504"/>
            <a:ext cx="7178040" cy="859536"/>
          </a:xfrm>
          <a:prstGeom prst="roundRect">
            <a:avLst>
              <a:gd name="adj" fmla="val 9574"/>
            </a:avLst>
          </a:prstGeom>
          <a:solidFill>
            <a:srgbClr val="F7FAFB"/>
          </a:solidFill>
          <a:ln/>
          <a:effectLst>
            <a:outerShdw sx="100000" sy="100000" kx="0" ky="0" algn="bl" rotWithShape="0" blurRad="101600" dist="17780" dir="5400000">
              <a:srgbClr val="9FB2BF">
                <a:alpha val="20000"/>
              </a:srgbClr>
            </a:outerShdw>
          </a:effectLst>
        </p:spPr>
      </p:sp>
      <p:sp>
        <p:nvSpPr>
          <p:cNvPr id="12" name="Shape 10"/>
          <p:cNvSpPr/>
          <p:nvPr/>
        </p:nvSpPr>
        <p:spPr>
          <a:xfrm>
            <a:off x="768096" y="3072384"/>
            <a:ext cx="493776" cy="493776"/>
          </a:xfrm>
          <a:prstGeom prst="ellipse">
            <a:avLst/>
          </a:prstGeom>
          <a:solidFill>
            <a:srgbClr val="1C7293"/>
          </a:solidFill>
          <a:ln/>
        </p:spPr>
      </p:sp>
      <p:sp>
        <p:nvSpPr>
          <p:cNvPr id="13" name="Text 11"/>
          <p:cNvSpPr/>
          <p:nvPr/>
        </p:nvSpPr>
        <p:spPr>
          <a:xfrm>
            <a:off x="768096" y="3072384"/>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1408176" y="2944368"/>
            <a:ext cx="1371600" cy="384048"/>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Evaluate</a:t>
            </a:r>
            <a:endParaRPr lang="en-US" sz="1500" dirty="0"/>
          </a:p>
        </p:txBody>
      </p:sp>
      <p:sp>
        <p:nvSpPr>
          <p:cNvPr id="15" name="Text 13"/>
          <p:cNvSpPr/>
          <p:nvPr/>
        </p:nvSpPr>
        <p:spPr>
          <a:xfrm>
            <a:off x="2834640" y="2926080"/>
            <a:ext cx="4800600" cy="786384"/>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Run policy evaluation on the current policy until its values converge. These are the true values of a mediocre policy, not the optimal values. Cheap: no |A| factor.</a:t>
            </a:r>
            <a:endParaRPr lang="en-US" sz="1250" dirty="0"/>
          </a:p>
        </p:txBody>
      </p:sp>
      <p:sp>
        <p:nvSpPr>
          <p:cNvPr id="16" name="Shape 14"/>
          <p:cNvSpPr/>
          <p:nvPr/>
        </p:nvSpPr>
        <p:spPr>
          <a:xfrm>
            <a:off x="566928" y="3858768"/>
            <a:ext cx="7178040" cy="859536"/>
          </a:xfrm>
          <a:prstGeom prst="roundRect">
            <a:avLst>
              <a:gd name="adj" fmla="val 9574"/>
            </a:avLst>
          </a:prstGeom>
          <a:solidFill>
            <a:srgbClr val="EDF2F5"/>
          </a:solidFill>
          <a:ln/>
          <a:effectLst>
            <a:outerShdw sx="100000" sy="100000" kx="0" ky="0" algn="bl" rotWithShape="0" blurRad="101600" dist="17780" dir="5400000">
              <a:srgbClr val="9FB2BF">
                <a:alpha val="20000"/>
              </a:srgbClr>
            </a:outerShdw>
          </a:effectLst>
        </p:spPr>
      </p:sp>
      <p:sp>
        <p:nvSpPr>
          <p:cNvPr id="17" name="Shape 15"/>
          <p:cNvSpPr/>
          <p:nvPr/>
        </p:nvSpPr>
        <p:spPr>
          <a:xfrm>
            <a:off x="768096" y="4041648"/>
            <a:ext cx="493776" cy="493776"/>
          </a:xfrm>
          <a:prstGeom prst="ellipse">
            <a:avLst/>
          </a:prstGeom>
          <a:solidFill>
            <a:srgbClr val="E0A32E"/>
          </a:solidFill>
          <a:ln/>
        </p:spPr>
      </p:sp>
      <p:sp>
        <p:nvSpPr>
          <p:cNvPr id="18" name="Text 16"/>
          <p:cNvSpPr/>
          <p:nvPr/>
        </p:nvSpPr>
        <p:spPr>
          <a:xfrm>
            <a:off x="768096" y="4041648"/>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p:nvPr/>
        </p:nvSpPr>
        <p:spPr>
          <a:xfrm>
            <a:off x="1408176" y="3913632"/>
            <a:ext cx="1371600" cy="384048"/>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Improve</a:t>
            </a:r>
            <a:endParaRPr lang="en-US" sz="1500" dirty="0"/>
          </a:p>
        </p:txBody>
      </p:sp>
      <p:sp>
        <p:nvSpPr>
          <p:cNvPr id="20" name="Text 18"/>
          <p:cNvSpPr/>
          <p:nvPr/>
        </p:nvSpPr>
        <p:spPr>
          <a:xfrm>
            <a:off x="2834640" y="3895344"/>
            <a:ext cx="4800600" cy="786384"/>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Run policy extraction once, using those values. Here we do check every action again - this is the expensive step, and we do it rarely.</a:t>
            </a:r>
            <a:endParaRPr lang="en-US" sz="1250" dirty="0"/>
          </a:p>
        </p:txBody>
      </p:sp>
      <p:sp>
        <p:nvSpPr>
          <p:cNvPr id="21" name="Shape 19"/>
          <p:cNvSpPr/>
          <p:nvPr/>
        </p:nvSpPr>
        <p:spPr>
          <a:xfrm>
            <a:off x="566928" y="4828032"/>
            <a:ext cx="7178040" cy="859536"/>
          </a:xfrm>
          <a:prstGeom prst="roundRect">
            <a:avLst>
              <a:gd name="adj" fmla="val 9574"/>
            </a:avLst>
          </a:prstGeom>
          <a:solidFill>
            <a:srgbClr val="F7FAFB"/>
          </a:solidFill>
          <a:ln/>
          <a:effectLst>
            <a:outerShdw sx="100000" sy="100000" kx="0" ky="0" algn="bl" rotWithShape="0" blurRad="101600" dist="17780" dir="5400000">
              <a:srgbClr val="9FB2BF">
                <a:alpha val="20000"/>
              </a:srgbClr>
            </a:outerShdw>
          </a:effectLst>
        </p:spPr>
      </p:sp>
      <p:sp>
        <p:nvSpPr>
          <p:cNvPr id="22" name="Shape 20"/>
          <p:cNvSpPr/>
          <p:nvPr/>
        </p:nvSpPr>
        <p:spPr>
          <a:xfrm>
            <a:off x="768096" y="5010912"/>
            <a:ext cx="493776" cy="493776"/>
          </a:xfrm>
          <a:prstGeom prst="ellipse">
            <a:avLst/>
          </a:prstGeom>
          <a:solidFill>
            <a:srgbClr val="2E7D5B"/>
          </a:solidFill>
          <a:ln/>
        </p:spPr>
      </p:sp>
      <p:sp>
        <p:nvSpPr>
          <p:cNvPr id="23" name="Text 21"/>
          <p:cNvSpPr/>
          <p:nvPr/>
        </p:nvSpPr>
        <p:spPr>
          <a:xfrm>
            <a:off x="768096" y="5010912"/>
            <a:ext cx="493776" cy="49377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p:nvPr/>
        </p:nvSpPr>
        <p:spPr>
          <a:xfrm>
            <a:off x="1408176" y="4882896"/>
            <a:ext cx="1371600" cy="384048"/>
          </a:xfrm>
          <a:prstGeom prst="rect">
            <a:avLst/>
          </a:prstGeom>
          <a:noFill/>
          <a:ln/>
        </p:spPr>
        <p:txBody>
          <a:bodyPr wrap="square" lIns="0" tIns="0" rIns="0" bIns="0" rtlCol="0" anchor="ctr"/>
          <a:lstStyle/>
          <a:p>
            <a:pPr indent="0" marL="0">
              <a:buNone/>
            </a:pPr>
            <a:r>
              <a:rPr lang="en-US" sz="1500" b="1" dirty="0">
                <a:solidFill>
                  <a:srgbClr val="2E7D5B"/>
                </a:solidFill>
                <a:latin typeface="Cambria" pitchFamily="34" charset="0"/>
                <a:ea typeface="Cambria" pitchFamily="34" charset="-122"/>
                <a:cs typeface="Cambria" pitchFamily="34" charset="-120"/>
              </a:rPr>
              <a:t>Repeat</a:t>
            </a:r>
            <a:endParaRPr lang="en-US" sz="1500" dirty="0"/>
          </a:p>
        </p:txBody>
      </p:sp>
      <p:sp>
        <p:nvSpPr>
          <p:cNvPr id="25" name="Text 23"/>
          <p:cNvSpPr/>
          <p:nvPr/>
        </p:nvSpPr>
        <p:spPr>
          <a:xfrm>
            <a:off x="2834640" y="4864608"/>
            <a:ext cx="4800600" cy="786384"/>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Until the policy stops changing. When an improvement step returns the policy you already had, you are done.</a:t>
            </a:r>
            <a:endParaRPr lang="en-US" sz="1250" dirty="0"/>
          </a:p>
        </p:txBody>
      </p:sp>
      <p:sp>
        <p:nvSpPr>
          <p:cNvPr id="26" name="Shape 24"/>
          <p:cNvSpPr/>
          <p:nvPr/>
        </p:nvSpPr>
        <p:spPr>
          <a:xfrm>
            <a:off x="7973568" y="1920240"/>
            <a:ext cx="3639312" cy="3931920"/>
          </a:xfrm>
          <a:prstGeom prst="roundRect">
            <a:avLst>
              <a:gd name="adj" fmla="val 2261"/>
            </a:avLst>
          </a:prstGeom>
          <a:solidFill>
            <a:srgbClr val="10263B"/>
          </a:solidFill>
          <a:ln/>
          <a:effectLst>
            <a:outerShdw sx="100000" sy="100000" kx="0" ky="0" algn="bl" rotWithShape="0" blurRad="101600" dist="17780" dir="5400000">
              <a:srgbClr val="9FB2BF">
                <a:alpha val="20000"/>
              </a:srgbClr>
            </a:outerShdw>
          </a:effectLst>
        </p:spPr>
      </p:sp>
      <p:sp>
        <p:nvSpPr>
          <p:cNvPr id="27" name="Text 25"/>
          <p:cNvSpPr/>
          <p:nvPr/>
        </p:nvSpPr>
        <p:spPr>
          <a:xfrm>
            <a:off x="8193024" y="2066544"/>
            <a:ext cx="324612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Why it is correct</a:t>
            </a:r>
            <a:endParaRPr lang="en-US" sz="1500" dirty="0"/>
          </a:p>
        </p:txBody>
      </p:sp>
      <p:sp>
        <p:nvSpPr>
          <p:cNvPr id="28" name="Text 26"/>
          <p:cNvSpPr/>
          <p:nvPr/>
        </p:nvSpPr>
        <p:spPr>
          <a:xfrm>
            <a:off x="8193024" y="2487168"/>
            <a:ext cx="3246120" cy="3246120"/>
          </a:xfrm>
          <a:prstGeom prst="rect">
            <a:avLst/>
          </a:prstGeom>
          <a:noFill/>
          <a:ln/>
        </p:spPr>
        <p:txBody>
          <a:bodyPr wrap="square" lIns="0" tIns="0" rIns="0" bIns="0" rtlCol="0" anchor="t"/>
          <a:lstStyle/>
          <a:p>
            <a:pPr marL="203200" indent="-203200">
              <a:spcAft>
                <a:spcPts val="1100"/>
              </a:spcAft>
              <a:buSzPct val="100000"/>
              <a:buChar char="•"/>
            </a:pPr>
            <a:r>
              <a:rPr lang="en-US" sz="1200" dirty="0">
                <a:solidFill>
                  <a:srgbClr val="DCE7EE"/>
                </a:solidFill>
                <a:latin typeface="Calibri" pitchFamily="34" charset="0"/>
                <a:ea typeface="Calibri" pitchFamily="34" charset="-122"/>
                <a:cs typeface="Calibri" pitchFamily="34" charset="-120"/>
              </a:rPr>
              <a:t>Each improvement step produces a policy at least as good as the last, and strictly better unless it is already optimal.</a:t>
            </a:r>
            <a:endParaRPr lang="en-US" sz="1200" dirty="0"/>
          </a:p>
          <a:p>
            <a:pPr marL="203200" indent="-203200">
              <a:spcAft>
                <a:spcPts val="1100"/>
              </a:spcAft>
              <a:buSzPct val="100000"/>
              <a:buChar char="•"/>
            </a:pPr>
            <a:r>
              <a:rPr lang="en-US" sz="1200" dirty="0">
                <a:solidFill>
                  <a:srgbClr val="DCE7EE"/>
                </a:solidFill>
                <a:latin typeface="Calibri" pitchFamily="34" charset="0"/>
                <a:ea typeface="Calibri" pitchFamily="34" charset="-122"/>
                <a:cs typeface="Calibri" pitchFamily="34" charset="-120"/>
              </a:rPr>
              <a:t>There are finitely many policies - at most |A| to the |S|, which for our nine-state gridworld is 4^9 = 262,144.</a:t>
            </a:r>
            <a:endParaRPr lang="en-US" sz="1200" dirty="0"/>
          </a:p>
          <a:p>
            <a:pPr marL="203200" indent="-203200">
              <a:spcAft>
                <a:spcPts val="1100"/>
              </a:spcAft>
              <a:buSzPct val="100000"/>
              <a:buChar char="•"/>
            </a:pPr>
            <a:r>
              <a:rPr lang="en-US" sz="1200" dirty="0">
                <a:solidFill>
                  <a:srgbClr val="DCE7EE"/>
                </a:solidFill>
                <a:latin typeface="Calibri" pitchFamily="34" charset="0"/>
                <a:ea typeface="Calibri" pitchFamily="34" charset="-122"/>
                <a:cs typeface="Calibri" pitchFamily="34" charset="-120"/>
              </a:rPr>
              <a:t>A strictly increasing sequence over a finite set must terminate. So policy iteration halts, at an optimal policy.</a:t>
            </a:r>
            <a:endParaRPr lang="en-US" sz="1200" dirty="0"/>
          </a:p>
          <a:p>
            <a:pPr marL="203200" indent="-203200">
              <a:spcAft>
                <a:spcPts val="1100"/>
              </a:spcAft>
              <a:buSzPct val="100000"/>
              <a:buChar char="•"/>
            </a:pPr>
            <a:r>
              <a:rPr lang="en-US" sz="1200" dirty="0">
                <a:solidFill>
                  <a:srgbClr val="DCE7EE"/>
                </a:solidFill>
                <a:latin typeface="Calibri" pitchFamily="34" charset="0"/>
                <a:ea typeface="Calibri" pitchFamily="34" charset="-122"/>
                <a:cs typeface="Calibri" pitchFamily="34" charset="-120"/>
              </a:rPr>
              <a:t>It is still exact. Nothing is approximated away.</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Policy iteration, in equations</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56</a:t>
            </a:r>
            <a:endParaRPr lang="en-US" sz="900" dirty="0"/>
          </a:p>
        </p:txBody>
      </p:sp>
      <p:sp>
        <p:nvSpPr>
          <p:cNvPr id="5" name="Text 3"/>
          <p:cNvSpPr/>
          <p:nvPr/>
        </p:nvSpPr>
        <p:spPr>
          <a:xfrm>
            <a:off x="566928" y="1444752"/>
            <a:ext cx="11057839" cy="365760"/>
          </a:xfrm>
          <a:prstGeom prst="rect">
            <a:avLst/>
          </a:prstGeom>
          <a:noFill/>
          <a:ln/>
        </p:spPr>
        <p:txBody>
          <a:bodyPr wrap="square" lIns="0" tIns="0" rIns="0" bIns="0" rtlCol="0" anchor="ctr"/>
          <a:lstStyle/>
          <a:p>
            <a:pPr indent="0" marL="0">
              <a:buNone/>
            </a:pPr>
            <a:r>
              <a:rPr lang="en-US" sz="1450" b="1" dirty="0">
                <a:solidFill>
                  <a:srgbClr val="1C7293"/>
                </a:solidFill>
                <a:latin typeface="Cambria" pitchFamily="34" charset="0"/>
                <a:ea typeface="Cambria" pitchFamily="34" charset="-122"/>
                <a:cs typeface="Cambria" pitchFamily="34" charset="-120"/>
              </a:rPr>
              <a:t>Evaluation:  for the current policy pi-i, iterate until the values converge</a:t>
            </a:r>
            <a:endParaRPr lang="en-US" sz="1450" dirty="0"/>
          </a:p>
        </p:txBody>
      </p:sp>
      <p:sp>
        <p:nvSpPr>
          <p:cNvPr id="6" name="Shape 4"/>
          <p:cNvSpPr/>
          <p:nvPr/>
        </p:nvSpPr>
        <p:spPr>
          <a:xfrm>
            <a:off x="566928" y="1865376"/>
            <a:ext cx="11057839" cy="914400"/>
          </a:xfrm>
          <a:prstGeom prst="roundRect">
            <a:avLst>
              <a:gd name="adj" fmla="val 6000"/>
            </a:avLst>
          </a:prstGeom>
          <a:solidFill>
            <a:srgbClr val="F7FAFB"/>
          </a:solidFill>
          <a:ln w="12700">
            <a:solidFill>
              <a:srgbClr val="D3DDE3"/>
            </a:solidFill>
            <a:prstDash val="solid"/>
          </a:ln>
        </p:spPr>
      </p:sp>
      <p:sp>
        <p:nvSpPr>
          <p:cNvPr id="7" name="Text 5"/>
          <p:cNvSpPr/>
          <p:nvPr/>
        </p:nvSpPr>
        <p:spPr>
          <a:xfrm>
            <a:off x="676656" y="1865376"/>
            <a:ext cx="10838383" cy="914400"/>
          </a:xfrm>
          <a:prstGeom prst="rect">
            <a:avLst/>
          </a:prstGeom>
          <a:noFill/>
          <a:ln/>
        </p:spPr>
        <p:txBody>
          <a:bodyPr wrap="square" lIns="0" tIns="0" rIns="0" bIns="0" rtlCol="0" anchor="ctr"/>
          <a:lstStyle/>
          <a:p>
            <a:pPr algn="ctr" indent="0" marL="0">
              <a:buNone/>
            </a:pPr>
            <a:r>
              <a:rPr lang="en-US" sz="1700" b="1" dirty="0">
                <a:solidFill>
                  <a:srgbClr val="10263B"/>
                </a:solidFill>
                <a:latin typeface="Cambria" pitchFamily="34" charset="0"/>
                <a:ea typeface="Cambria" pitchFamily="34" charset="-122"/>
                <a:cs typeface="Cambria" pitchFamily="34" charset="-120"/>
              </a:rPr>
              <a:t>V</a:t>
            </a:r>
            <a:pPr algn="ctr" indent="0" marL="0">
              <a:buNone/>
            </a:pPr>
            <a:r>
              <a:rPr lang="en-US" sz="1700" b="1" baseline="30000" dirty="0">
                <a:solidFill>
                  <a:srgbClr val="10263B"/>
                </a:solidFill>
                <a:latin typeface="Cambria" pitchFamily="34" charset="0"/>
                <a:ea typeface="Cambria" pitchFamily="34" charset="-122"/>
                <a:cs typeface="Cambria" pitchFamily="34" charset="-120"/>
              </a:rPr>
              <a:t>π_{i</a:t>
            </a:r>
            <a:pPr algn="ctr" indent="0" marL="0">
              <a:buNone/>
            </a:pPr>
            <a:r>
              <a:rPr lang="en-US" sz="1700" b="1" dirty="0">
                <a:solidFill>
                  <a:srgbClr val="10263B"/>
                </a:solidFill>
                <a:latin typeface="Cambria" pitchFamily="34" charset="0"/>
                <a:ea typeface="Cambria" pitchFamily="34" charset="-122"/>
                <a:cs typeface="Cambria" pitchFamily="34" charset="-120"/>
              </a:rPr>
              <a:t>}</a:t>
            </a:r>
            <a:pPr algn="ctr" indent="0" marL="0">
              <a:buNone/>
            </a:pPr>
            <a:r>
              <a:rPr lang="en-US" sz="1700" b="1" baseline="-40000" dirty="0">
                <a:solidFill>
                  <a:srgbClr val="10263B"/>
                </a:solidFill>
                <a:latin typeface="Cambria" pitchFamily="34" charset="0"/>
                <a:ea typeface="Cambria" pitchFamily="34" charset="-122"/>
                <a:cs typeface="Cambria" pitchFamily="34" charset="-120"/>
              </a:rPr>
              <a:t>k+1</a:t>
            </a:r>
            <a:pPr algn="ctr" indent="0" marL="0">
              <a:buNone/>
            </a:pPr>
            <a:r>
              <a:rPr lang="en-US" sz="1700" b="1" dirty="0">
                <a:solidFill>
                  <a:srgbClr val="10263B"/>
                </a:solidFill>
                <a:latin typeface="Cambria" pitchFamily="34" charset="0"/>
                <a:ea typeface="Cambria" pitchFamily="34" charset="-122"/>
                <a:cs typeface="Cambria" pitchFamily="34" charset="-120"/>
              </a:rPr>
              <a:t>(s)  ←  Σ</a:t>
            </a:r>
            <a:pPr algn="ctr" indent="0" marL="0">
              <a:buNone/>
            </a:pPr>
            <a:r>
              <a:rPr lang="en-US" sz="1700" b="1" baseline="-40000" dirty="0">
                <a:solidFill>
                  <a:srgbClr val="10263B"/>
                </a:solidFill>
                <a:latin typeface="Cambria" pitchFamily="34" charset="0"/>
                <a:ea typeface="Cambria" pitchFamily="34" charset="-122"/>
                <a:cs typeface="Cambria" pitchFamily="34" charset="-120"/>
              </a:rPr>
              <a:t>s'</a:t>
            </a:r>
            <a:pPr algn="ctr" indent="0" marL="0">
              <a:buNone/>
            </a:pPr>
            <a:r>
              <a:rPr lang="en-US" sz="1700" b="1" dirty="0">
                <a:solidFill>
                  <a:srgbClr val="10263B"/>
                </a:solidFill>
                <a:latin typeface="Cambria" pitchFamily="34" charset="0"/>
                <a:ea typeface="Cambria" pitchFamily="34" charset="-122"/>
                <a:cs typeface="Cambria" pitchFamily="34" charset="-120"/>
              </a:rPr>
              <a:t> T(s, π</a:t>
            </a:r>
            <a:pPr algn="ctr" indent="0" marL="0">
              <a:buNone/>
            </a:pPr>
            <a:r>
              <a:rPr lang="en-US" sz="1700" b="1" baseline="-40000" dirty="0">
                <a:solidFill>
                  <a:srgbClr val="10263B"/>
                </a:solidFill>
                <a:latin typeface="Cambria" pitchFamily="34" charset="0"/>
                <a:ea typeface="Cambria" pitchFamily="34" charset="-122"/>
                <a:cs typeface="Cambria" pitchFamily="34" charset="-120"/>
              </a:rPr>
              <a:t>i</a:t>
            </a:r>
            <a:pPr algn="ctr" indent="0" marL="0">
              <a:buNone/>
            </a:pPr>
            <a:r>
              <a:rPr lang="en-US" sz="1700" b="1" dirty="0">
                <a:solidFill>
                  <a:srgbClr val="10263B"/>
                </a:solidFill>
                <a:latin typeface="Cambria" pitchFamily="34" charset="0"/>
                <a:ea typeface="Cambria" pitchFamily="34" charset="-122"/>
                <a:cs typeface="Cambria" pitchFamily="34" charset="-120"/>
              </a:rPr>
              <a:t>(s), s') [ R(s, π</a:t>
            </a:r>
            <a:pPr algn="ctr" indent="0" marL="0">
              <a:buNone/>
            </a:pPr>
            <a:r>
              <a:rPr lang="en-US" sz="1700" b="1" baseline="-40000" dirty="0">
                <a:solidFill>
                  <a:srgbClr val="10263B"/>
                </a:solidFill>
                <a:latin typeface="Cambria" pitchFamily="34" charset="0"/>
                <a:ea typeface="Cambria" pitchFamily="34" charset="-122"/>
                <a:cs typeface="Cambria" pitchFamily="34" charset="-120"/>
              </a:rPr>
              <a:t>i</a:t>
            </a:r>
            <a:pPr algn="ctr" indent="0" marL="0">
              <a:buNone/>
            </a:pPr>
            <a:r>
              <a:rPr lang="en-US" sz="1700" b="1" dirty="0">
                <a:solidFill>
                  <a:srgbClr val="10263B"/>
                </a:solidFill>
                <a:latin typeface="Cambria" pitchFamily="34" charset="0"/>
                <a:ea typeface="Cambria" pitchFamily="34" charset="-122"/>
                <a:cs typeface="Cambria" pitchFamily="34" charset="-120"/>
              </a:rPr>
              <a:t>(s), s') +  γ V</a:t>
            </a:r>
            <a:pPr algn="ctr" indent="0" marL="0">
              <a:buNone/>
            </a:pPr>
            <a:r>
              <a:rPr lang="en-US" sz="1700" b="1" baseline="30000" dirty="0">
                <a:solidFill>
                  <a:srgbClr val="10263B"/>
                </a:solidFill>
                <a:latin typeface="Cambria" pitchFamily="34" charset="0"/>
                <a:ea typeface="Cambria" pitchFamily="34" charset="-122"/>
                <a:cs typeface="Cambria" pitchFamily="34" charset="-120"/>
              </a:rPr>
              <a:t>π_{i</a:t>
            </a:r>
            <a:pPr algn="ctr" indent="0" marL="0">
              <a:buNone/>
            </a:pPr>
            <a:r>
              <a:rPr lang="en-US" sz="1700" b="1" dirty="0">
                <a:solidFill>
                  <a:srgbClr val="10263B"/>
                </a:solidFill>
                <a:latin typeface="Cambria" pitchFamily="34" charset="0"/>
                <a:ea typeface="Cambria" pitchFamily="34" charset="-122"/>
                <a:cs typeface="Cambria" pitchFamily="34" charset="-120"/>
              </a:rPr>
              <a:t>}</a:t>
            </a:r>
            <a:pPr algn="ctr" indent="0" marL="0">
              <a:buNone/>
            </a:pPr>
            <a:r>
              <a:rPr lang="en-US" sz="1700" b="1" baseline="-40000" dirty="0">
                <a:solidFill>
                  <a:srgbClr val="10263B"/>
                </a:solidFill>
                <a:latin typeface="Cambria" pitchFamily="34" charset="0"/>
                <a:ea typeface="Cambria" pitchFamily="34" charset="-122"/>
                <a:cs typeface="Cambria" pitchFamily="34" charset="-120"/>
              </a:rPr>
              <a:t>k</a:t>
            </a:r>
            <a:pPr algn="ctr" indent="0" marL="0">
              <a:buNone/>
            </a:pPr>
            <a:r>
              <a:rPr lang="en-US" sz="1700" b="1" dirty="0">
                <a:solidFill>
                  <a:srgbClr val="10263B"/>
                </a:solidFill>
                <a:latin typeface="Cambria" pitchFamily="34" charset="0"/>
                <a:ea typeface="Cambria" pitchFamily="34" charset="-122"/>
                <a:cs typeface="Cambria" pitchFamily="34" charset="-120"/>
              </a:rPr>
              <a:t>(s') ]</a:t>
            </a:r>
            <a:endParaRPr lang="en-US" sz="1700" dirty="0"/>
          </a:p>
        </p:txBody>
      </p:sp>
      <p:sp>
        <p:nvSpPr>
          <p:cNvPr id="8" name="Text 6"/>
          <p:cNvSpPr/>
          <p:nvPr/>
        </p:nvSpPr>
        <p:spPr>
          <a:xfrm>
            <a:off x="566928" y="2980944"/>
            <a:ext cx="11057839" cy="365760"/>
          </a:xfrm>
          <a:prstGeom prst="rect">
            <a:avLst/>
          </a:prstGeom>
          <a:noFill/>
          <a:ln/>
        </p:spPr>
        <p:txBody>
          <a:bodyPr wrap="square" lIns="0" tIns="0" rIns="0" bIns="0" rtlCol="0" anchor="ctr"/>
          <a:lstStyle/>
          <a:p>
            <a:pPr indent="0" marL="0">
              <a:buNone/>
            </a:pPr>
            <a:r>
              <a:rPr lang="en-US" sz="1450" b="1" dirty="0">
                <a:solidFill>
                  <a:srgbClr val="E0A32E"/>
                </a:solidFill>
                <a:latin typeface="Cambria" pitchFamily="34" charset="0"/>
                <a:ea typeface="Cambria" pitchFamily="34" charset="-122"/>
                <a:cs typeface="Cambria" pitchFamily="34" charset="-120"/>
              </a:rPr>
              <a:t>Improvement:  one-step lookahead, run exactly once, with the max restored</a:t>
            </a:r>
            <a:endParaRPr lang="en-US" sz="1450" dirty="0"/>
          </a:p>
        </p:txBody>
      </p:sp>
      <p:sp>
        <p:nvSpPr>
          <p:cNvPr id="9" name="Shape 7"/>
          <p:cNvSpPr/>
          <p:nvPr/>
        </p:nvSpPr>
        <p:spPr>
          <a:xfrm>
            <a:off x="566928" y="3401568"/>
            <a:ext cx="11057839" cy="914400"/>
          </a:xfrm>
          <a:prstGeom prst="roundRect">
            <a:avLst>
              <a:gd name="adj" fmla="val 6000"/>
            </a:avLst>
          </a:prstGeom>
          <a:solidFill>
            <a:srgbClr val="10263B"/>
          </a:solidFill>
          <a:ln w="12700">
            <a:solidFill>
              <a:srgbClr val="10263B"/>
            </a:solidFill>
            <a:prstDash val="solid"/>
          </a:ln>
        </p:spPr>
      </p:sp>
      <p:sp>
        <p:nvSpPr>
          <p:cNvPr id="10" name="Text 8"/>
          <p:cNvSpPr/>
          <p:nvPr/>
        </p:nvSpPr>
        <p:spPr>
          <a:xfrm>
            <a:off x="676656" y="3401568"/>
            <a:ext cx="10838383" cy="9144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π</a:t>
            </a:r>
            <a:pPr algn="ctr" indent="0" marL="0">
              <a:buNone/>
            </a:pPr>
            <a:r>
              <a:rPr lang="en-US" sz="1700" b="1" baseline="-40000" dirty="0">
                <a:solidFill>
                  <a:srgbClr val="FFFFFF"/>
                </a:solidFill>
                <a:latin typeface="Cambria" pitchFamily="34" charset="0"/>
                <a:ea typeface="Cambria" pitchFamily="34" charset="-122"/>
                <a:cs typeface="Cambria" pitchFamily="34" charset="-120"/>
              </a:rPr>
              <a:t>i+1</a:t>
            </a:r>
            <a:pPr algn="ctr" indent="0" marL="0">
              <a:buNone/>
            </a:pPr>
            <a:r>
              <a:rPr lang="en-US" sz="1700" b="1" dirty="0">
                <a:solidFill>
                  <a:srgbClr val="FFFFFF"/>
                </a:solidFill>
                <a:latin typeface="Cambria" pitchFamily="34" charset="0"/>
                <a:ea typeface="Cambria" pitchFamily="34" charset="-122"/>
                <a:cs typeface="Cambria" pitchFamily="34" charset="-120"/>
              </a:rPr>
              <a:t>(s)  =  argmax</a:t>
            </a:r>
            <a:pPr algn="ctr" indent="0" marL="0">
              <a:buNone/>
            </a:pPr>
            <a:r>
              <a:rPr lang="en-US" sz="1700" b="1" baseline="-40000" dirty="0">
                <a:solidFill>
                  <a:srgbClr val="FFFFFF"/>
                </a:solidFill>
                <a:latin typeface="Cambria" pitchFamily="34" charset="0"/>
                <a:ea typeface="Cambria" pitchFamily="34" charset="-122"/>
                <a:cs typeface="Cambria" pitchFamily="34" charset="-120"/>
              </a:rPr>
              <a:t>a</a:t>
            </a:r>
            <a:pPr algn="ctr" indent="0" marL="0">
              <a:buNone/>
            </a:pPr>
            <a:r>
              <a:rPr lang="en-US" sz="1700" b="1" dirty="0">
                <a:solidFill>
                  <a:srgbClr val="FFFFFF"/>
                </a:solidFill>
                <a:latin typeface="Cambria" pitchFamily="34" charset="0"/>
                <a:ea typeface="Cambria" pitchFamily="34" charset="-122"/>
                <a:cs typeface="Cambria" pitchFamily="34" charset="-120"/>
              </a:rPr>
              <a:t>  Σ</a:t>
            </a:r>
            <a:pPr algn="ctr" indent="0" marL="0">
              <a:buNone/>
            </a:pPr>
            <a:r>
              <a:rPr lang="en-US" sz="1700" b="1" baseline="-40000" dirty="0">
                <a:solidFill>
                  <a:srgbClr val="FFFFFF"/>
                </a:solidFill>
                <a:latin typeface="Cambria" pitchFamily="34" charset="0"/>
                <a:ea typeface="Cambria" pitchFamily="34" charset="-122"/>
                <a:cs typeface="Cambria" pitchFamily="34" charset="-120"/>
              </a:rPr>
              <a:t>s'</a:t>
            </a:r>
            <a:pPr algn="ctr" indent="0" marL="0">
              <a:buNone/>
            </a:pPr>
            <a:r>
              <a:rPr lang="en-US" sz="1700" b="1" dirty="0">
                <a:solidFill>
                  <a:srgbClr val="FFFFFF"/>
                </a:solidFill>
                <a:latin typeface="Cambria" pitchFamily="34" charset="0"/>
                <a:ea typeface="Cambria" pitchFamily="34" charset="-122"/>
                <a:cs typeface="Cambria" pitchFamily="34" charset="-120"/>
              </a:rPr>
              <a:t> T(s,a,s') [ R(s,a,s')  +  γ V</a:t>
            </a:r>
            <a:pPr algn="ctr" indent="0" marL="0">
              <a:buNone/>
            </a:pPr>
            <a:r>
              <a:rPr lang="en-US" sz="1700" b="1" baseline="30000" dirty="0">
                <a:solidFill>
                  <a:srgbClr val="FFFFFF"/>
                </a:solidFill>
                <a:latin typeface="Cambria" pitchFamily="34" charset="0"/>
                <a:ea typeface="Cambria" pitchFamily="34" charset="-122"/>
                <a:cs typeface="Cambria" pitchFamily="34" charset="-120"/>
              </a:rPr>
              <a:t>π_{i</a:t>
            </a:r>
            <a:pPr algn="ctr" indent="0" marL="0">
              <a:buNone/>
            </a:pPr>
            <a:r>
              <a:rPr lang="en-US" sz="1700" b="1" dirty="0">
                <a:solidFill>
                  <a:srgbClr val="FFFFFF"/>
                </a:solidFill>
                <a:latin typeface="Cambria" pitchFamily="34" charset="0"/>
                <a:ea typeface="Cambria" pitchFamily="34" charset="-122"/>
                <a:cs typeface="Cambria" pitchFamily="34" charset="-120"/>
              </a:rPr>
              <a:t>}(s') ]</a:t>
            </a:r>
            <a:endParaRPr lang="en-US" sz="1700" dirty="0"/>
          </a:p>
        </p:txBody>
      </p:sp>
      <p:sp>
        <p:nvSpPr>
          <p:cNvPr id="11" name="Shape 9"/>
          <p:cNvSpPr/>
          <p:nvPr/>
        </p:nvSpPr>
        <p:spPr>
          <a:xfrm>
            <a:off x="566928" y="4617720"/>
            <a:ext cx="11057839" cy="1417320"/>
          </a:xfrm>
          <a:prstGeom prst="roundRect">
            <a:avLst>
              <a:gd name="adj" fmla="val 5806"/>
            </a:avLst>
          </a:prstGeom>
          <a:solidFill>
            <a:srgbClr val="EDF2F5"/>
          </a:solidFill>
          <a:ln/>
          <a:effectLst>
            <a:outerShdw sx="100000" sy="100000" kx="0" ky="0" algn="bl" rotWithShape="0" blurRad="101600" dist="17780" dir="5400000">
              <a:srgbClr val="9FB2BF">
                <a:alpha val="20000"/>
              </a:srgbClr>
            </a:outerShdw>
          </a:effectLst>
        </p:spPr>
      </p:sp>
      <p:sp>
        <p:nvSpPr>
          <p:cNvPr id="12" name="Text 10"/>
          <p:cNvSpPr/>
          <p:nvPr/>
        </p:nvSpPr>
        <p:spPr>
          <a:xfrm>
            <a:off x="822960" y="4736592"/>
            <a:ext cx="10424160" cy="329184"/>
          </a:xfrm>
          <a:prstGeom prst="rect">
            <a:avLst/>
          </a:prstGeom>
          <a:noFill/>
          <a:ln/>
        </p:spPr>
        <p:txBody>
          <a:bodyPr wrap="square" lIns="0" tIns="0" rIns="0" bIns="0" rtlCol="0" anchor="ctr"/>
          <a:lstStyle/>
          <a:p>
            <a:pPr indent="0" marL="0">
              <a:buNone/>
            </a:pPr>
            <a:r>
              <a:rPr lang="en-US" sz="1500" b="1" dirty="0">
                <a:solidFill>
                  <a:srgbClr val="10263B"/>
                </a:solidFill>
                <a:latin typeface="Cambria" pitchFamily="34" charset="0"/>
                <a:ea typeface="Cambria" pitchFamily="34" charset="-122"/>
                <a:cs typeface="Cambria" pitchFamily="34" charset="-120"/>
              </a:rPr>
              <a:t>Look at what is actually different</a:t>
            </a:r>
            <a:endParaRPr lang="en-US" sz="1500" dirty="0"/>
          </a:p>
        </p:txBody>
      </p:sp>
      <p:sp>
        <p:nvSpPr>
          <p:cNvPr id="13" name="Text 11"/>
          <p:cNvSpPr/>
          <p:nvPr/>
        </p:nvSpPr>
        <p:spPr>
          <a:xfrm>
            <a:off x="822960" y="5084064"/>
            <a:ext cx="10424160" cy="914400"/>
          </a:xfrm>
          <a:prstGeom prst="rect">
            <a:avLst/>
          </a:prstGeom>
          <a:noFill/>
          <a:ln/>
        </p:spPr>
        <p:txBody>
          <a:bodyPr wrap="square" lIns="0" tIns="0" rIns="0" bIns="0" rtlCol="0" anchor="t"/>
          <a:lstStyle/>
          <a:p>
            <a:pPr indent="0" marL="0">
              <a:buNone/>
            </a:pPr>
            <a:r>
              <a:rPr lang="en-US" sz="1350" dirty="0">
                <a:solidFill>
                  <a:srgbClr val="10263B"/>
                </a:solidFill>
                <a:latin typeface="Calibri" pitchFamily="34" charset="0"/>
                <a:ea typeface="Calibri" pitchFamily="34" charset="-122"/>
                <a:cs typeface="Calibri" pitchFamily="34" charset="-120"/>
              </a:rPr>
              <a:t>Both lines are the same one-step lookahead we have been writing since the start of the lecture. The first has no max and a subscript counting sweeps. The second has a max, is an argmax rather than a max, and changes the policy index rather than the sweep index. That is the entire difference between evaluation and improvement.</a:t>
            </a:r>
            <a:endParaRPr lang="en-US" sz="13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Two variants worth knowing</a:t>
            </a:r>
            <a:endParaRPr lang="en-US" sz="3000" dirty="0"/>
          </a:p>
        </p:txBody>
      </p:sp>
      <p:sp>
        <p:nvSpPr>
          <p:cNvPr id="3" name="Text 1"/>
          <p:cNvSpPr/>
          <p:nvPr/>
        </p:nvSpPr>
        <p:spPr>
          <a:xfrm>
            <a:off x="566928" y="1042416"/>
            <a:ext cx="11057839" cy="274320"/>
          </a:xfrm>
          <a:prstGeom prst="rect">
            <a:avLst/>
          </a:prstGeom>
          <a:noFill/>
          <a:ln/>
        </p:spPr>
        <p:txBody>
          <a:bodyPr wrap="square" lIns="0" tIns="0" rIns="0" bIns="0" rtlCol="0" anchor="ctr"/>
          <a:lstStyle/>
          <a:p>
            <a:pPr indent="0" marL="0">
              <a:buNone/>
            </a:pPr>
            <a:r>
              <a:rPr lang="en-US" sz="1250" i="1" dirty="0">
                <a:solidFill>
                  <a:srgbClr val="1C7293"/>
                </a:solidFill>
                <a:latin typeface="Calibri" pitchFamily="34" charset="0"/>
                <a:ea typeface="Calibri" pitchFamily="34" charset="-122"/>
                <a:cs typeface="Calibri" pitchFamily="34" charset="-120"/>
              </a:rPr>
              <a:t>AIMA 17.2.3  |  Because the pure versions are rarely what you run in practice</a:t>
            </a:r>
            <a:endParaRPr lang="en-US" sz="1250" dirty="0"/>
          </a:p>
        </p:txBody>
      </p:sp>
      <p:sp>
        <p:nvSpPr>
          <p:cNvPr id="4" name="Text 2"/>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5" name="Text 3"/>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57</a:t>
            </a:r>
            <a:endParaRPr lang="en-US" sz="900" dirty="0"/>
          </a:p>
        </p:txBody>
      </p:sp>
      <p:sp>
        <p:nvSpPr>
          <p:cNvPr id="6" name="Shape 4"/>
          <p:cNvSpPr/>
          <p:nvPr/>
        </p:nvSpPr>
        <p:spPr>
          <a:xfrm>
            <a:off x="566928" y="1874520"/>
            <a:ext cx="5349240" cy="2926080"/>
          </a:xfrm>
          <a:prstGeom prst="roundRect">
            <a:avLst>
              <a:gd name="adj" fmla="val 2813"/>
            </a:avLst>
          </a:prstGeom>
          <a:solidFill>
            <a:srgbClr val="EDF2F5"/>
          </a:solidFill>
          <a:ln/>
          <a:effectLst>
            <a:outerShdw sx="100000" sy="100000" kx="0" ky="0" algn="bl" rotWithShape="0" blurRad="101600" dist="17780" dir="5400000">
              <a:srgbClr val="9FB2BF">
                <a:alpha val="20000"/>
              </a:srgbClr>
            </a:outerShdw>
          </a:effectLst>
        </p:spPr>
      </p:sp>
      <p:sp>
        <p:nvSpPr>
          <p:cNvPr id="7" name="Text 5"/>
          <p:cNvSpPr/>
          <p:nvPr/>
        </p:nvSpPr>
        <p:spPr>
          <a:xfrm>
            <a:off x="804672" y="2011680"/>
            <a:ext cx="4892040" cy="329184"/>
          </a:xfrm>
          <a:prstGeom prst="rect">
            <a:avLst/>
          </a:prstGeom>
          <a:noFill/>
          <a:ln/>
        </p:spPr>
        <p:txBody>
          <a:bodyPr wrap="square" lIns="0" tIns="0" rIns="0" bIns="0" rtlCol="0" anchor="ctr"/>
          <a:lstStyle/>
          <a:p>
            <a:pPr indent="0" marL="0">
              <a:buNone/>
            </a:pPr>
            <a:r>
              <a:rPr lang="en-US" sz="1600" b="1" dirty="0">
                <a:solidFill>
                  <a:srgbClr val="1C7293"/>
                </a:solidFill>
                <a:latin typeface="Cambria" pitchFamily="34" charset="0"/>
                <a:ea typeface="Cambria" pitchFamily="34" charset="-122"/>
                <a:cs typeface="Cambria" pitchFamily="34" charset="-120"/>
              </a:rPr>
              <a:t>Modified policy iteration</a:t>
            </a:r>
            <a:endParaRPr lang="en-US" sz="1600" dirty="0"/>
          </a:p>
        </p:txBody>
      </p:sp>
      <p:sp>
        <p:nvSpPr>
          <p:cNvPr id="8" name="Text 6"/>
          <p:cNvSpPr/>
          <p:nvPr/>
        </p:nvSpPr>
        <p:spPr>
          <a:xfrm>
            <a:off x="804672" y="2395728"/>
            <a:ext cx="4892040" cy="68580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Do not run policy evaluation to convergence. Run it for a fixed small number of sweeps - often just a handful - then improve.</a:t>
            </a:r>
            <a:endParaRPr lang="en-US" sz="1300" dirty="0"/>
          </a:p>
        </p:txBody>
      </p:sp>
      <p:sp>
        <p:nvSpPr>
          <p:cNvPr id="9" name="Text 7"/>
          <p:cNvSpPr/>
          <p:nvPr/>
        </p:nvSpPr>
        <p:spPr>
          <a:xfrm>
            <a:off x="804672" y="3127248"/>
            <a:ext cx="4892040" cy="82296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Why it works: you never needed exact values for the current policy. You only needed values good enough to rank actions correctly at the next improvement step.</a:t>
            </a:r>
            <a:endParaRPr lang="en-US" sz="1300" dirty="0"/>
          </a:p>
        </p:txBody>
      </p:sp>
      <p:sp>
        <p:nvSpPr>
          <p:cNvPr id="10" name="Text 8"/>
          <p:cNvSpPr/>
          <p:nvPr/>
        </p:nvSpPr>
        <p:spPr>
          <a:xfrm>
            <a:off x="804672" y="3986784"/>
            <a:ext cx="4892040" cy="731520"/>
          </a:xfrm>
          <a:prstGeom prst="rect">
            <a:avLst/>
          </a:prstGeom>
          <a:noFill/>
          <a:ln/>
        </p:spPr>
        <p:txBody>
          <a:bodyPr wrap="square" lIns="0" tIns="0" rIns="0" bIns="0" rtlCol="0" anchor="t"/>
          <a:lstStyle/>
          <a:p>
            <a:pPr indent="0" marL="0">
              <a:buNone/>
            </a:pPr>
            <a:r>
              <a:rPr lang="en-US" sz="1250" i="1" dirty="0">
                <a:solidFill>
                  <a:srgbClr val="5C7080"/>
                </a:solidFill>
                <a:latin typeface="Calibri" pitchFamily="34" charset="0"/>
                <a:ea typeface="Calibri" pitchFamily="34" charset="-122"/>
                <a:cs typeface="Calibri" pitchFamily="34" charset="-120"/>
              </a:rPr>
              <a:t>With one evaluation sweep this is essentially value iteration; with infinitely many it is policy iteration. The useful settings live in between.</a:t>
            </a:r>
            <a:endParaRPr lang="en-US" sz="1250" dirty="0"/>
          </a:p>
        </p:txBody>
      </p:sp>
      <p:sp>
        <p:nvSpPr>
          <p:cNvPr id="11" name="Shape 9"/>
          <p:cNvSpPr/>
          <p:nvPr/>
        </p:nvSpPr>
        <p:spPr>
          <a:xfrm>
            <a:off x="6263640" y="1874520"/>
            <a:ext cx="5349240" cy="2926080"/>
          </a:xfrm>
          <a:prstGeom prst="roundRect">
            <a:avLst>
              <a:gd name="adj" fmla="val 2813"/>
            </a:avLst>
          </a:prstGeom>
          <a:solidFill>
            <a:srgbClr val="EDF2F5"/>
          </a:solidFill>
          <a:ln/>
          <a:effectLst>
            <a:outerShdw sx="100000" sy="100000" kx="0" ky="0" algn="bl" rotWithShape="0" blurRad="101600" dist="17780" dir="5400000">
              <a:srgbClr val="9FB2BF">
                <a:alpha val="20000"/>
              </a:srgbClr>
            </a:outerShdw>
          </a:effectLst>
        </p:spPr>
      </p:sp>
      <p:sp>
        <p:nvSpPr>
          <p:cNvPr id="12" name="Text 10"/>
          <p:cNvSpPr/>
          <p:nvPr/>
        </p:nvSpPr>
        <p:spPr>
          <a:xfrm>
            <a:off x="6501384" y="2011680"/>
            <a:ext cx="4892040" cy="329184"/>
          </a:xfrm>
          <a:prstGeom prst="rect">
            <a:avLst/>
          </a:prstGeom>
          <a:noFill/>
          <a:ln/>
        </p:spPr>
        <p:txBody>
          <a:bodyPr wrap="square" lIns="0" tIns="0" rIns="0" bIns="0" rtlCol="0" anchor="ctr"/>
          <a:lstStyle/>
          <a:p>
            <a:pPr indent="0" marL="0">
              <a:buNone/>
            </a:pPr>
            <a:r>
              <a:rPr lang="en-US" sz="1600" b="1" dirty="0">
                <a:solidFill>
                  <a:srgbClr val="E0A32E"/>
                </a:solidFill>
                <a:latin typeface="Cambria" pitchFamily="34" charset="0"/>
                <a:ea typeface="Cambria" pitchFamily="34" charset="-122"/>
                <a:cs typeface="Cambria" pitchFamily="34" charset="-120"/>
              </a:rPr>
              <a:t>Asynchronous value iteration</a:t>
            </a:r>
            <a:endParaRPr lang="en-US" sz="1600" dirty="0"/>
          </a:p>
        </p:txBody>
      </p:sp>
      <p:sp>
        <p:nvSpPr>
          <p:cNvPr id="13" name="Text 11"/>
          <p:cNvSpPr/>
          <p:nvPr/>
        </p:nvSpPr>
        <p:spPr>
          <a:xfrm>
            <a:off x="6501384" y="2395728"/>
            <a:ext cx="4892040" cy="54864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Nothing requires you to update every state on every sweep. Pick any subset and update those.</a:t>
            </a:r>
            <a:endParaRPr lang="en-US" sz="1300" dirty="0"/>
          </a:p>
        </p:txBody>
      </p:sp>
      <p:sp>
        <p:nvSpPr>
          <p:cNvPr id="14" name="Text 12"/>
          <p:cNvSpPr/>
          <p:nvPr/>
        </p:nvSpPr>
        <p:spPr>
          <a:xfrm>
            <a:off x="6501384" y="2999232"/>
            <a:ext cx="4892040" cy="68580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It still converges, provided every state is updated infinitely often. That is a remarkably weak condition.</a:t>
            </a:r>
            <a:endParaRPr lang="en-US" sz="1300" dirty="0"/>
          </a:p>
        </p:txBody>
      </p:sp>
      <p:sp>
        <p:nvSpPr>
          <p:cNvPr id="15" name="Text 13"/>
          <p:cNvSpPr/>
          <p:nvPr/>
        </p:nvSpPr>
        <p:spPr>
          <a:xfrm>
            <a:off x="6501384" y="3730752"/>
            <a:ext cx="4892040" cy="96012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Which lets you be strategic: prioritized sweeping updates the states whose values just changed the most, and states that are irrelevant under any decent policy can be largely ignored.</a:t>
            </a:r>
            <a:endParaRPr lang="en-US" sz="1300" dirty="0"/>
          </a:p>
        </p:txBody>
      </p:sp>
      <p:sp>
        <p:nvSpPr>
          <p:cNvPr id="16" name="Shape 14"/>
          <p:cNvSpPr/>
          <p:nvPr/>
        </p:nvSpPr>
        <p:spPr>
          <a:xfrm>
            <a:off x="566928" y="5074920"/>
            <a:ext cx="11057839" cy="960120"/>
          </a:xfrm>
          <a:prstGeom prst="roundRect">
            <a:avLst>
              <a:gd name="adj" fmla="val 8571"/>
            </a:avLst>
          </a:prstGeom>
          <a:solidFill>
            <a:srgbClr val="10263B"/>
          </a:solidFill>
          <a:ln/>
          <a:effectLst>
            <a:outerShdw sx="100000" sy="100000" kx="0" ky="0" algn="bl" rotWithShape="0" blurRad="101600" dist="17780" dir="5400000">
              <a:srgbClr val="9FB2BF">
                <a:alpha val="20000"/>
              </a:srgbClr>
            </a:outerShdw>
          </a:effectLst>
        </p:spPr>
      </p:sp>
      <p:sp>
        <p:nvSpPr>
          <p:cNvPr id="17" name="Text 15"/>
          <p:cNvSpPr/>
          <p:nvPr/>
        </p:nvSpPr>
        <p:spPr>
          <a:xfrm>
            <a:off x="822960" y="5074920"/>
            <a:ext cx="10515600" cy="960120"/>
          </a:xfrm>
          <a:prstGeom prst="rect">
            <a:avLst/>
          </a:prstGeom>
          <a:noFill/>
          <a:ln/>
        </p:spPr>
        <p:txBody>
          <a:bodyPr wrap="square" lIns="0" tIns="0" rIns="0" bIns="0" rtlCol="0" anchor="ctr"/>
          <a:lstStyle/>
          <a:p>
            <a:pPr indent="0" marL="0">
              <a:buNone/>
            </a:pPr>
            <a:r>
              <a:rPr lang="en-US" sz="1400" dirty="0">
                <a:solidFill>
                  <a:srgbClr val="DCE7EE"/>
                </a:solidFill>
                <a:latin typeface="Calibri" pitchFamily="34" charset="0"/>
                <a:ea typeface="Calibri" pitchFamily="34" charset="-122"/>
                <a:cs typeface="Calibri" pitchFamily="34" charset="-120"/>
              </a:rPr>
              <a:t>Both variants exist for the same reason: the textbook algorithms do a lot of work whose result was already known. Recognizing that pattern is most of what algorithm engineering is.</a:t>
            </a:r>
            <a:endParaRPr lang="en-US" sz="14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Value iteration versus policy iteration</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58</a:t>
            </a:r>
            <a:endParaRPr lang="en-US" sz="900" dirty="0"/>
          </a:p>
        </p:txBody>
      </p:sp>
      <p:pic>
        <p:nvPicPr>
          <p:cNvPr id="5" name="Image 0" descr="fig_vi_pi.png">    </p:cNvPr>
          <p:cNvPicPr>
            <a:picLocks noChangeAspect="1"/>
          </p:cNvPicPr>
          <p:nvPr/>
        </p:nvPicPr>
        <p:blipFill>
          <a:blip r:embed="rId1"/>
          <a:srcRect l="0" r="0" t="0" b="0"/>
          <a:stretch/>
        </p:blipFill>
        <p:spPr>
          <a:xfrm>
            <a:off x="1066648" y="1389888"/>
            <a:ext cx="10058400" cy="3566160"/>
          </a:xfrm>
          <a:prstGeom prst="rect">
            <a:avLst/>
          </a:prstGeom>
        </p:spPr>
      </p:pic>
      <p:sp>
        <p:nvSpPr>
          <p:cNvPr id="6" name="Text 3"/>
          <p:cNvSpPr/>
          <p:nvPr/>
        </p:nvSpPr>
        <p:spPr>
          <a:xfrm>
            <a:off x="566928" y="5047488"/>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Same 4 x 3 gridworld, five discount factors, log scale. Policy iteration converges in three or four rounds regardless of gamma - but each round contains a full policy evaluation.</a:t>
            </a:r>
            <a:endParaRPr lang="en-US" sz="1250" dirty="0"/>
          </a:p>
        </p:txBody>
      </p:sp>
      <p:sp>
        <p:nvSpPr>
          <p:cNvPr id="7" name="Shape 4"/>
          <p:cNvSpPr/>
          <p:nvPr/>
        </p:nvSpPr>
        <p:spPr>
          <a:xfrm>
            <a:off x="566928" y="5303520"/>
            <a:ext cx="11057839" cy="868680"/>
          </a:xfrm>
          <a:prstGeom prst="roundRect">
            <a:avLst>
              <a:gd name="adj" fmla="val 9474"/>
            </a:avLst>
          </a:prstGeom>
          <a:solidFill>
            <a:srgbClr val="F5DFA8"/>
          </a:solidFill>
          <a:ln/>
        </p:spPr>
      </p:sp>
      <p:sp>
        <p:nvSpPr>
          <p:cNvPr id="8" name="Text 5"/>
          <p:cNvSpPr/>
          <p:nvPr/>
        </p:nvSpPr>
        <p:spPr>
          <a:xfrm>
            <a:off x="804672" y="5303520"/>
            <a:ext cx="10582351" cy="868680"/>
          </a:xfrm>
          <a:prstGeom prst="rect">
            <a:avLst/>
          </a:prstGeom>
          <a:noFill/>
          <a:ln/>
        </p:spPr>
        <p:txBody>
          <a:bodyPr wrap="square" lIns="0" tIns="0" rIns="0" bIns="0" rtlCol="0" anchor="ctr"/>
          <a:lstStyle/>
          <a:p>
            <a:pPr indent="0" marL="0">
              <a:buNone/>
            </a:pPr>
            <a:r>
              <a:rPr lang="en-US" sz="1250" b="1" dirty="0">
                <a:solidFill>
                  <a:srgbClr val="10263B"/>
                </a:solidFill>
                <a:latin typeface="Calibri" pitchFamily="34" charset="0"/>
                <a:ea typeface="Calibri" pitchFamily="34" charset="-122"/>
                <a:cs typeface="Calibri" pitchFamily="34" charset="-120"/>
              </a:rPr>
              <a:t>Read this carefully.  </a:t>
            </a:r>
            <a:pPr indent="0" marL="0">
              <a:buNone/>
            </a:pPr>
            <a:r>
              <a:rPr lang="en-US" sz="1250" dirty="0">
                <a:solidFill>
                  <a:srgbClr val="10263B"/>
                </a:solidFill>
                <a:latin typeface="Calibri" pitchFamily="34" charset="0"/>
                <a:ea typeface="Calibri" pitchFamily="34" charset="-122"/>
                <a:cs typeface="Calibri" pitchFamily="34" charset="-120"/>
              </a:rPr>
              <a:t>The usual claim is that policy iteration is much faster. On rounds, that is dramatically true. On total Bellman sweeps it is false here, because I ran evaluation to full convergence. Policy iteration wins when you solve the linear system exactly, or when you truncate evaluation - which is why modified policy iteration exists.</a:t>
            </a:r>
            <a:endParaRPr lang="en-US" sz="12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Summary: four tools, one equation</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59</a:t>
            </a:r>
            <a:endParaRPr lang="en-US" sz="900" dirty="0"/>
          </a:p>
        </p:txBody>
      </p:sp>
      <p:sp>
        <p:nvSpPr>
          <p:cNvPr id="5" name="Shape 3"/>
          <p:cNvSpPr/>
          <p:nvPr/>
        </p:nvSpPr>
        <p:spPr>
          <a:xfrm>
            <a:off x="566928" y="1554480"/>
            <a:ext cx="11057839" cy="914400"/>
          </a:xfrm>
          <a:prstGeom prst="roundRect">
            <a:avLst>
              <a:gd name="adj" fmla="val 9000"/>
            </a:avLst>
          </a:prstGeom>
          <a:solidFill>
            <a:srgbClr val="EDF2F5"/>
          </a:solidFill>
          <a:ln/>
          <a:effectLst>
            <a:outerShdw sx="100000" sy="100000" kx="0" ky="0" algn="bl" rotWithShape="0" blurRad="101600" dist="17780" dir="5400000">
              <a:srgbClr val="9FB2BF">
                <a:alpha val="20000"/>
              </a:srgbClr>
            </a:outerShdw>
          </a:effectLst>
        </p:spPr>
      </p:sp>
      <p:sp>
        <p:nvSpPr>
          <p:cNvPr id="6" name="Shape 4"/>
          <p:cNvSpPr/>
          <p:nvPr/>
        </p:nvSpPr>
        <p:spPr>
          <a:xfrm>
            <a:off x="768096" y="1737360"/>
            <a:ext cx="146304" cy="548640"/>
          </a:xfrm>
          <a:prstGeom prst="roundRect">
            <a:avLst>
              <a:gd name="adj" fmla="val 31250"/>
            </a:avLst>
          </a:prstGeom>
          <a:solidFill>
            <a:srgbClr val="1C7293"/>
          </a:solidFill>
          <a:ln/>
        </p:spPr>
      </p:sp>
      <p:sp>
        <p:nvSpPr>
          <p:cNvPr id="7" name="Text 5"/>
          <p:cNvSpPr/>
          <p:nvPr/>
        </p:nvSpPr>
        <p:spPr>
          <a:xfrm>
            <a:off x="1097280" y="1609344"/>
            <a:ext cx="3566160" cy="804672"/>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Compute optimal values</a:t>
            </a:r>
            <a:endParaRPr lang="en-US" sz="1400" dirty="0"/>
          </a:p>
        </p:txBody>
      </p:sp>
      <p:sp>
        <p:nvSpPr>
          <p:cNvPr id="8" name="Text 6"/>
          <p:cNvSpPr/>
          <p:nvPr/>
        </p:nvSpPr>
        <p:spPr>
          <a:xfrm>
            <a:off x="4773168" y="1609344"/>
            <a:ext cx="3657600" cy="804672"/>
          </a:xfrm>
          <a:prstGeom prst="rect">
            <a:avLst/>
          </a:prstGeom>
          <a:noFill/>
          <a:ln/>
        </p:spPr>
        <p:txBody>
          <a:bodyPr wrap="square" lIns="0" tIns="0" rIns="0" bIns="0" rtlCol="0" anchor="ctr"/>
          <a:lstStyle/>
          <a:p>
            <a:pPr indent="0" marL="0">
              <a:buNone/>
            </a:pPr>
            <a:r>
              <a:rPr lang="en-US" sz="1450" b="1" dirty="0">
                <a:solidFill>
                  <a:srgbClr val="1C7293"/>
                </a:solidFill>
                <a:latin typeface="Cambria" pitchFamily="34" charset="0"/>
                <a:ea typeface="Cambria" pitchFamily="34" charset="-122"/>
                <a:cs typeface="Cambria" pitchFamily="34" charset="-120"/>
              </a:rPr>
              <a:t>Value iteration  or  policy iteration</a:t>
            </a:r>
            <a:endParaRPr lang="en-US" sz="1450" dirty="0"/>
          </a:p>
        </p:txBody>
      </p:sp>
      <p:sp>
        <p:nvSpPr>
          <p:cNvPr id="9" name="Text 7"/>
          <p:cNvSpPr/>
          <p:nvPr/>
        </p:nvSpPr>
        <p:spPr>
          <a:xfrm>
            <a:off x="8567928" y="1609344"/>
            <a:ext cx="2926080" cy="804672"/>
          </a:xfrm>
          <a:prstGeom prst="rect">
            <a:avLst/>
          </a:prstGeom>
          <a:noFill/>
          <a:ln/>
        </p:spPr>
        <p:txBody>
          <a:bodyPr wrap="square" lIns="0" tIns="0" rIns="0" bIns="0" rtlCol="0" anchor="ctr"/>
          <a:lstStyle/>
          <a:p>
            <a:pPr indent="0" marL="0">
              <a:buNone/>
            </a:pPr>
            <a:r>
              <a:rPr lang="en-US" sz="1200" i="1" dirty="0">
                <a:solidFill>
                  <a:srgbClr val="10263B"/>
                </a:solidFill>
                <a:latin typeface="Calibri" pitchFamily="34" charset="0"/>
                <a:ea typeface="Calibri" pitchFamily="34" charset="-122"/>
                <a:cs typeface="Calibri" pitchFamily="34" charset="-120"/>
              </a:rPr>
              <a:t>max over actions, iterate to a fixed point</a:t>
            </a:r>
            <a:endParaRPr lang="en-US" sz="1200" dirty="0"/>
          </a:p>
        </p:txBody>
      </p:sp>
      <p:sp>
        <p:nvSpPr>
          <p:cNvPr id="10" name="Shape 8"/>
          <p:cNvSpPr/>
          <p:nvPr/>
        </p:nvSpPr>
        <p:spPr>
          <a:xfrm>
            <a:off x="566928" y="2578608"/>
            <a:ext cx="11057839" cy="914400"/>
          </a:xfrm>
          <a:prstGeom prst="roundRect">
            <a:avLst>
              <a:gd name="adj" fmla="val 9000"/>
            </a:avLst>
          </a:prstGeom>
          <a:solidFill>
            <a:srgbClr val="F7FAFB"/>
          </a:solidFill>
          <a:ln/>
          <a:effectLst>
            <a:outerShdw sx="100000" sy="100000" kx="0" ky="0" algn="bl" rotWithShape="0" blurRad="101600" dist="17780" dir="5400000">
              <a:srgbClr val="9FB2BF">
                <a:alpha val="20000"/>
              </a:srgbClr>
            </a:outerShdw>
          </a:effectLst>
        </p:spPr>
      </p:sp>
      <p:sp>
        <p:nvSpPr>
          <p:cNvPr id="11" name="Shape 9"/>
          <p:cNvSpPr/>
          <p:nvPr/>
        </p:nvSpPr>
        <p:spPr>
          <a:xfrm>
            <a:off x="768096" y="2761488"/>
            <a:ext cx="146304" cy="548640"/>
          </a:xfrm>
          <a:prstGeom prst="roundRect">
            <a:avLst>
              <a:gd name="adj" fmla="val 31250"/>
            </a:avLst>
          </a:prstGeom>
          <a:solidFill>
            <a:srgbClr val="2E7D5B"/>
          </a:solidFill>
          <a:ln/>
        </p:spPr>
      </p:sp>
      <p:sp>
        <p:nvSpPr>
          <p:cNvPr id="12" name="Text 10"/>
          <p:cNvSpPr/>
          <p:nvPr/>
        </p:nvSpPr>
        <p:spPr>
          <a:xfrm>
            <a:off x="1097280" y="2633472"/>
            <a:ext cx="3566160" cy="804672"/>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Compute values for a given policy</a:t>
            </a:r>
            <a:endParaRPr lang="en-US" sz="1400" dirty="0"/>
          </a:p>
        </p:txBody>
      </p:sp>
      <p:sp>
        <p:nvSpPr>
          <p:cNvPr id="13" name="Text 11"/>
          <p:cNvSpPr/>
          <p:nvPr/>
        </p:nvSpPr>
        <p:spPr>
          <a:xfrm>
            <a:off x="4773168" y="2633472"/>
            <a:ext cx="3657600" cy="804672"/>
          </a:xfrm>
          <a:prstGeom prst="rect">
            <a:avLst/>
          </a:prstGeom>
          <a:noFill/>
          <a:ln/>
        </p:spPr>
        <p:txBody>
          <a:bodyPr wrap="square" lIns="0" tIns="0" rIns="0" bIns="0" rtlCol="0" anchor="ctr"/>
          <a:lstStyle/>
          <a:p>
            <a:pPr indent="0" marL="0">
              <a:buNone/>
            </a:pPr>
            <a:r>
              <a:rPr lang="en-US" sz="1450" b="1" dirty="0">
                <a:solidFill>
                  <a:srgbClr val="2E7D5B"/>
                </a:solidFill>
                <a:latin typeface="Cambria" pitchFamily="34" charset="0"/>
                <a:ea typeface="Cambria" pitchFamily="34" charset="-122"/>
                <a:cs typeface="Cambria" pitchFamily="34" charset="-120"/>
              </a:rPr>
              <a:t>Policy evaluation</a:t>
            </a:r>
            <a:endParaRPr lang="en-US" sz="1450" dirty="0"/>
          </a:p>
        </p:txBody>
      </p:sp>
      <p:sp>
        <p:nvSpPr>
          <p:cNvPr id="14" name="Text 12"/>
          <p:cNvSpPr/>
          <p:nvPr/>
        </p:nvSpPr>
        <p:spPr>
          <a:xfrm>
            <a:off x="8567928" y="2633472"/>
            <a:ext cx="2926080" cy="804672"/>
          </a:xfrm>
          <a:prstGeom prst="rect">
            <a:avLst/>
          </a:prstGeom>
          <a:noFill/>
          <a:ln/>
        </p:spPr>
        <p:txBody>
          <a:bodyPr wrap="square" lIns="0" tIns="0" rIns="0" bIns="0" rtlCol="0" anchor="ctr"/>
          <a:lstStyle/>
          <a:p>
            <a:pPr indent="0" marL="0">
              <a:buNone/>
            </a:pPr>
            <a:r>
              <a:rPr lang="en-US" sz="1200" i="1" dirty="0">
                <a:solidFill>
                  <a:srgbClr val="10263B"/>
                </a:solidFill>
                <a:latin typeface="Calibri" pitchFamily="34" charset="0"/>
                <a:ea typeface="Calibri" pitchFamily="34" charset="-122"/>
                <a:cs typeface="Calibri" pitchFamily="34" charset="-120"/>
              </a:rPr>
              <a:t>same thing with the max deleted</a:t>
            </a:r>
            <a:endParaRPr lang="en-US" sz="1200" dirty="0"/>
          </a:p>
        </p:txBody>
      </p:sp>
      <p:sp>
        <p:nvSpPr>
          <p:cNvPr id="15" name="Shape 13"/>
          <p:cNvSpPr/>
          <p:nvPr/>
        </p:nvSpPr>
        <p:spPr>
          <a:xfrm>
            <a:off x="566928" y="3602736"/>
            <a:ext cx="11057839" cy="914400"/>
          </a:xfrm>
          <a:prstGeom prst="roundRect">
            <a:avLst>
              <a:gd name="adj" fmla="val 9000"/>
            </a:avLst>
          </a:prstGeom>
          <a:solidFill>
            <a:srgbClr val="EDF2F5"/>
          </a:solidFill>
          <a:ln/>
          <a:effectLst>
            <a:outerShdw sx="100000" sy="100000" kx="0" ky="0" algn="bl" rotWithShape="0" blurRad="101600" dist="17780" dir="5400000">
              <a:srgbClr val="9FB2BF">
                <a:alpha val="20000"/>
              </a:srgbClr>
            </a:outerShdw>
          </a:effectLst>
        </p:spPr>
      </p:sp>
      <p:sp>
        <p:nvSpPr>
          <p:cNvPr id="16" name="Shape 14"/>
          <p:cNvSpPr/>
          <p:nvPr/>
        </p:nvSpPr>
        <p:spPr>
          <a:xfrm>
            <a:off x="768096" y="3785616"/>
            <a:ext cx="146304" cy="548640"/>
          </a:xfrm>
          <a:prstGeom prst="roundRect">
            <a:avLst>
              <a:gd name="adj" fmla="val 31250"/>
            </a:avLst>
          </a:prstGeom>
          <a:solidFill>
            <a:srgbClr val="E0A32E"/>
          </a:solidFill>
          <a:ln/>
        </p:spPr>
      </p:sp>
      <p:sp>
        <p:nvSpPr>
          <p:cNvPr id="17" name="Text 15"/>
          <p:cNvSpPr/>
          <p:nvPr/>
        </p:nvSpPr>
        <p:spPr>
          <a:xfrm>
            <a:off x="1097280" y="3657600"/>
            <a:ext cx="3566160" cy="804672"/>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Turn values into a policy</a:t>
            </a:r>
            <a:endParaRPr lang="en-US" sz="1400" dirty="0"/>
          </a:p>
        </p:txBody>
      </p:sp>
      <p:sp>
        <p:nvSpPr>
          <p:cNvPr id="18" name="Text 16"/>
          <p:cNvSpPr/>
          <p:nvPr/>
        </p:nvSpPr>
        <p:spPr>
          <a:xfrm>
            <a:off x="4773168" y="3657600"/>
            <a:ext cx="3657600" cy="804672"/>
          </a:xfrm>
          <a:prstGeom prst="rect">
            <a:avLst/>
          </a:prstGeom>
          <a:noFill/>
          <a:ln/>
        </p:spPr>
        <p:txBody>
          <a:bodyPr wrap="square" lIns="0" tIns="0" rIns="0" bIns="0" rtlCol="0" anchor="ctr"/>
          <a:lstStyle/>
          <a:p>
            <a:pPr indent="0" marL="0">
              <a:buNone/>
            </a:pPr>
            <a:r>
              <a:rPr lang="en-US" sz="1450" b="1" dirty="0">
                <a:solidFill>
                  <a:srgbClr val="E0A32E"/>
                </a:solidFill>
                <a:latin typeface="Cambria" pitchFamily="34" charset="0"/>
                <a:ea typeface="Cambria" pitchFamily="34" charset="-122"/>
                <a:cs typeface="Cambria" pitchFamily="34" charset="-120"/>
              </a:rPr>
              <a:t>Policy extraction</a:t>
            </a:r>
            <a:endParaRPr lang="en-US" sz="1450" dirty="0"/>
          </a:p>
        </p:txBody>
      </p:sp>
      <p:sp>
        <p:nvSpPr>
          <p:cNvPr id="19" name="Text 17"/>
          <p:cNvSpPr/>
          <p:nvPr/>
        </p:nvSpPr>
        <p:spPr>
          <a:xfrm>
            <a:off x="8567928" y="3657600"/>
            <a:ext cx="2926080" cy="804672"/>
          </a:xfrm>
          <a:prstGeom prst="rect">
            <a:avLst/>
          </a:prstGeom>
          <a:noFill/>
          <a:ln/>
        </p:spPr>
        <p:txBody>
          <a:bodyPr wrap="square" lIns="0" tIns="0" rIns="0" bIns="0" rtlCol="0" anchor="ctr"/>
          <a:lstStyle/>
          <a:p>
            <a:pPr indent="0" marL="0">
              <a:buNone/>
            </a:pPr>
            <a:r>
              <a:rPr lang="en-US" sz="1200" i="1" dirty="0">
                <a:solidFill>
                  <a:srgbClr val="10263B"/>
                </a:solidFill>
                <a:latin typeface="Calibri" pitchFamily="34" charset="0"/>
                <a:ea typeface="Calibri" pitchFamily="34" charset="-122"/>
                <a:cs typeface="Calibri" pitchFamily="34" charset="-120"/>
              </a:rPr>
              <a:t>one-step lookahead, argmax instead of max</a:t>
            </a:r>
            <a:endParaRPr lang="en-US" sz="1200" dirty="0"/>
          </a:p>
        </p:txBody>
      </p:sp>
      <p:sp>
        <p:nvSpPr>
          <p:cNvPr id="20" name="Shape 18"/>
          <p:cNvSpPr/>
          <p:nvPr/>
        </p:nvSpPr>
        <p:spPr>
          <a:xfrm>
            <a:off x="566928" y="4626864"/>
            <a:ext cx="11057839" cy="914400"/>
          </a:xfrm>
          <a:prstGeom prst="roundRect">
            <a:avLst>
              <a:gd name="adj" fmla="val 9000"/>
            </a:avLst>
          </a:prstGeom>
          <a:solidFill>
            <a:srgbClr val="F7FAFB"/>
          </a:solidFill>
          <a:ln/>
          <a:effectLst>
            <a:outerShdw sx="100000" sy="100000" kx="0" ky="0" algn="bl" rotWithShape="0" blurRad="101600" dist="17780" dir="5400000">
              <a:srgbClr val="9FB2BF">
                <a:alpha val="20000"/>
              </a:srgbClr>
            </a:outerShdw>
          </a:effectLst>
        </p:spPr>
      </p:sp>
      <p:sp>
        <p:nvSpPr>
          <p:cNvPr id="21" name="Shape 19"/>
          <p:cNvSpPr/>
          <p:nvPr/>
        </p:nvSpPr>
        <p:spPr>
          <a:xfrm>
            <a:off x="768096" y="4809744"/>
            <a:ext cx="146304" cy="548640"/>
          </a:xfrm>
          <a:prstGeom prst="roundRect">
            <a:avLst>
              <a:gd name="adj" fmla="val 31250"/>
            </a:avLst>
          </a:prstGeom>
          <a:solidFill>
            <a:srgbClr val="B3341F"/>
          </a:solidFill>
          <a:ln/>
        </p:spPr>
      </p:sp>
      <p:sp>
        <p:nvSpPr>
          <p:cNvPr id="22" name="Text 20"/>
          <p:cNvSpPr/>
          <p:nvPr/>
        </p:nvSpPr>
        <p:spPr>
          <a:xfrm>
            <a:off x="1097280" y="4681728"/>
            <a:ext cx="3566160" cy="804672"/>
          </a:xfrm>
          <a:prstGeom prst="rect">
            <a:avLst/>
          </a:prstGeom>
          <a:noFill/>
          <a:ln/>
        </p:spPr>
        <p:txBody>
          <a:bodyPr wrap="square" lIns="0" tIns="0" rIns="0" bIns="0" rtlCol="0" anchor="ctr"/>
          <a:lstStyle/>
          <a:p>
            <a:pPr indent="0" marL="0">
              <a:buNone/>
            </a:pPr>
            <a:r>
              <a:rPr lang="en-US" sz="1400" dirty="0">
                <a:solidFill>
                  <a:srgbClr val="5C7080"/>
                </a:solidFill>
                <a:latin typeface="Calibri" pitchFamily="34" charset="0"/>
                <a:ea typeface="Calibri" pitchFamily="34" charset="-122"/>
                <a:cs typeface="Calibri" pitchFamily="34" charset="-120"/>
              </a:rPr>
              <a:t>Turn Q-values into a policy</a:t>
            </a:r>
            <a:endParaRPr lang="en-US" sz="1400" dirty="0"/>
          </a:p>
        </p:txBody>
      </p:sp>
      <p:sp>
        <p:nvSpPr>
          <p:cNvPr id="23" name="Text 21"/>
          <p:cNvSpPr/>
          <p:nvPr/>
        </p:nvSpPr>
        <p:spPr>
          <a:xfrm>
            <a:off x="4773168" y="4681728"/>
            <a:ext cx="3657600" cy="804672"/>
          </a:xfrm>
          <a:prstGeom prst="rect">
            <a:avLst/>
          </a:prstGeom>
          <a:noFill/>
          <a:ln/>
        </p:spPr>
        <p:txBody>
          <a:bodyPr wrap="square" lIns="0" tIns="0" rIns="0" bIns="0" rtlCol="0" anchor="ctr"/>
          <a:lstStyle/>
          <a:p>
            <a:pPr indent="0" marL="0">
              <a:buNone/>
            </a:pPr>
            <a:r>
              <a:rPr lang="en-US" sz="1450" b="1" dirty="0">
                <a:solidFill>
                  <a:srgbClr val="B3341F"/>
                </a:solidFill>
                <a:latin typeface="Cambria" pitchFamily="34" charset="0"/>
                <a:ea typeface="Cambria" pitchFamily="34" charset="-122"/>
                <a:cs typeface="Cambria" pitchFamily="34" charset="-120"/>
              </a:rPr>
              <a:t>Policy extraction, trivial version</a:t>
            </a:r>
            <a:endParaRPr lang="en-US" sz="1450" dirty="0"/>
          </a:p>
        </p:txBody>
      </p:sp>
      <p:sp>
        <p:nvSpPr>
          <p:cNvPr id="24" name="Text 22"/>
          <p:cNvSpPr/>
          <p:nvPr/>
        </p:nvSpPr>
        <p:spPr>
          <a:xfrm>
            <a:off x="8567928" y="4681728"/>
            <a:ext cx="2926080" cy="804672"/>
          </a:xfrm>
          <a:prstGeom prst="rect">
            <a:avLst/>
          </a:prstGeom>
          <a:noFill/>
          <a:ln/>
        </p:spPr>
        <p:txBody>
          <a:bodyPr wrap="square" lIns="0" tIns="0" rIns="0" bIns="0" rtlCol="0" anchor="ctr"/>
          <a:lstStyle/>
          <a:p>
            <a:pPr indent="0" marL="0">
              <a:buNone/>
            </a:pPr>
            <a:r>
              <a:rPr lang="en-US" sz="1200" i="1" dirty="0">
                <a:solidFill>
                  <a:srgbClr val="10263B"/>
                </a:solidFill>
                <a:latin typeface="Calibri" pitchFamily="34" charset="0"/>
                <a:ea typeface="Calibri" pitchFamily="34" charset="-122"/>
                <a:cs typeface="Calibri" pitchFamily="34" charset="-120"/>
              </a:rPr>
              <a:t>argmax over a, no model required</a:t>
            </a:r>
            <a:endParaRPr lang="en-US" sz="1200" dirty="0"/>
          </a:p>
        </p:txBody>
      </p:sp>
      <p:sp>
        <p:nvSpPr>
          <p:cNvPr id="25" name="Shape 23"/>
          <p:cNvSpPr/>
          <p:nvPr/>
        </p:nvSpPr>
        <p:spPr>
          <a:xfrm>
            <a:off x="566928" y="5742432"/>
            <a:ext cx="11057839" cy="566928"/>
          </a:xfrm>
          <a:prstGeom prst="roundRect">
            <a:avLst>
              <a:gd name="adj" fmla="val 14516"/>
            </a:avLst>
          </a:prstGeom>
          <a:solidFill>
            <a:srgbClr val="10263B"/>
          </a:solidFill>
          <a:ln/>
          <a:effectLst>
            <a:outerShdw sx="100000" sy="100000" kx="0" ky="0" algn="bl" rotWithShape="0" blurRad="101600" dist="17780" dir="5400000">
              <a:srgbClr val="9FB2BF">
                <a:alpha val="20000"/>
              </a:srgbClr>
            </a:outerShdw>
          </a:effectLst>
        </p:spPr>
      </p:sp>
      <p:sp>
        <p:nvSpPr>
          <p:cNvPr id="26" name="Text 24"/>
          <p:cNvSpPr/>
          <p:nvPr/>
        </p:nvSpPr>
        <p:spPr>
          <a:xfrm>
            <a:off x="822960" y="5742432"/>
            <a:ext cx="10515600" cy="566928"/>
          </a:xfrm>
          <a:prstGeom prst="rect">
            <a:avLst/>
          </a:prstGeom>
          <a:noFill/>
          <a:ln/>
        </p:spPr>
        <p:txBody>
          <a:bodyPr wrap="square" lIns="0" tIns="0" rIns="0" bIns="0" rtlCol="0" anchor="ctr"/>
          <a:lstStyle/>
          <a:p>
            <a:pPr indent="0" marL="0">
              <a:buNone/>
            </a:pPr>
            <a:r>
              <a:rPr lang="en-US" sz="1350" dirty="0">
                <a:solidFill>
                  <a:srgbClr val="DCE7EE"/>
                </a:solidFill>
                <a:latin typeface="Calibri" pitchFamily="34" charset="0"/>
                <a:ea typeface="Calibri" pitchFamily="34" charset="-122"/>
                <a:cs typeface="Calibri" pitchFamily="34" charset="-120"/>
              </a:rPr>
              <a:t>They all look the same because they are the same: one-step lookahead fragments, differing only in whether we plug in a fixed policy or maximize over actions.</a:t>
            </a:r>
            <a:endParaRPr lang="en-US" sz="13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60</a:t>
            </a:r>
            <a:endParaRPr lang="en-US" sz="900" dirty="0"/>
          </a:p>
        </p:txBody>
      </p:sp>
      <p:sp>
        <p:nvSpPr>
          <p:cNvPr id="4" name="Text 2"/>
          <p:cNvSpPr/>
          <p:nvPr/>
        </p:nvSpPr>
        <p:spPr>
          <a:xfrm>
            <a:off x="566928" y="1417320"/>
            <a:ext cx="2926080" cy="1463040"/>
          </a:xfrm>
          <a:prstGeom prst="rect">
            <a:avLst/>
          </a:prstGeom>
          <a:noFill/>
          <a:ln/>
        </p:spPr>
        <p:txBody>
          <a:bodyPr wrap="square" lIns="0" tIns="0" rIns="0" bIns="0" rtlCol="0" anchor="ctr"/>
          <a:lstStyle/>
          <a:p>
            <a:pPr indent="0" marL="0">
              <a:buNone/>
            </a:pPr>
            <a:r>
              <a:rPr lang="en-US" sz="9600" b="1" dirty="0">
                <a:solidFill>
                  <a:srgbClr val="E0A32E"/>
                </a:solidFill>
                <a:latin typeface="Cambria" pitchFamily="34" charset="0"/>
                <a:ea typeface="Cambria" pitchFamily="34" charset="-122"/>
                <a:cs typeface="Cambria" pitchFamily="34" charset="-120"/>
              </a:rPr>
              <a:t>07</a:t>
            </a:r>
            <a:endParaRPr lang="en-US" sz="9600" dirty="0"/>
          </a:p>
        </p:txBody>
      </p:sp>
      <p:sp>
        <p:nvSpPr>
          <p:cNvPr id="5" name="Text 3"/>
          <p:cNvSpPr/>
          <p:nvPr/>
        </p:nvSpPr>
        <p:spPr>
          <a:xfrm>
            <a:off x="566928" y="2880360"/>
            <a:ext cx="7680960" cy="10058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From Planning to Learning</a:t>
            </a:r>
            <a:endParaRPr lang="en-US" sz="3800" dirty="0"/>
          </a:p>
        </p:txBody>
      </p:sp>
      <p:sp>
        <p:nvSpPr>
          <p:cNvPr id="6" name="Text 4"/>
          <p:cNvSpPr/>
          <p:nvPr/>
        </p:nvSpPr>
        <p:spPr>
          <a:xfrm>
            <a:off x="566928" y="3886200"/>
            <a:ext cx="7680960" cy="411480"/>
          </a:xfrm>
          <a:prstGeom prst="rect">
            <a:avLst/>
          </a:prstGeom>
          <a:noFill/>
          <a:ln/>
        </p:spPr>
        <p:txBody>
          <a:bodyPr wrap="square" lIns="0" tIns="0" rIns="0" bIns="0" rtlCol="0" anchor="ctr"/>
          <a:lstStyle/>
          <a:p>
            <a:pPr indent="0" marL="0">
              <a:buNone/>
            </a:pPr>
            <a:r>
              <a:rPr lang="en-US" sz="1600" dirty="0">
                <a:solidFill>
                  <a:srgbClr val="6FA8BE"/>
                </a:solidFill>
                <a:latin typeface="Calibri" pitchFamily="34" charset="0"/>
                <a:ea typeface="Calibri" pitchFamily="34" charset="-122"/>
                <a:cs typeface="Calibri" pitchFamily="34" charset="-120"/>
              </a:rPr>
              <a:t>A preview of the next three weeks</a:t>
            </a:r>
            <a:endParaRPr lang="en-US" sz="1600" dirty="0"/>
          </a:p>
        </p:txBody>
      </p:sp>
      <p:sp>
        <p:nvSpPr>
          <p:cNvPr id="7" name="Text 5"/>
          <p:cNvSpPr/>
          <p:nvPr/>
        </p:nvSpPr>
        <p:spPr>
          <a:xfrm>
            <a:off x="8549640" y="2834640"/>
            <a:ext cx="3108960" cy="23774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Offline planning</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Double bandits</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When the rules are hidden</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Exploration and exploitation</a:t>
            </a:r>
            <a:endParaRPr lang="en-US" sz="1400" dirty="0"/>
          </a:p>
          <a:p>
            <a:pPr marL="203200" indent="-203200">
              <a:spcAft>
                <a:spcPts val="900"/>
              </a:spcAft>
              <a:buSzPct val="100000"/>
              <a:buChar char="•"/>
            </a:pPr>
            <a:r>
              <a:rPr lang="en-US" sz="1400" dirty="0">
                <a:solidFill>
                  <a:srgbClr val="C6D6E0"/>
                </a:solidFill>
                <a:latin typeface="Calibri" pitchFamily="34" charset="0"/>
                <a:ea typeface="Calibri" pitchFamily="34" charset="-122"/>
                <a:cs typeface="Calibri" pitchFamily="34" charset="-120"/>
              </a:rPr>
              <a:t>Regret</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Offline planning: solve it without playing it</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61</a:t>
            </a:r>
            <a:endParaRPr lang="en-US" sz="900" dirty="0"/>
          </a:p>
        </p:txBody>
      </p:sp>
      <p:pic>
        <p:nvPicPr>
          <p:cNvPr id="5" name="Image 0" descr="fig_bandit.png">    </p:cNvPr>
          <p:cNvPicPr>
            <a:picLocks noChangeAspect="1"/>
          </p:cNvPicPr>
          <p:nvPr/>
        </p:nvPicPr>
        <p:blipFill>
          <a:blip r:embed="rId1"/>
          <a:srcRect l="0" r="0" t="0" b="0"/>
          <a:stretch/>
        </p:blipFill>
        <p:spPr>
          <a:xfrm>
            <a:off x="1066648" y="1417320"/>
            <a:ext cx="10058400" cy="3520440"/>
          </a:xfrm>
          <a:prstGeom prst="rect">
            <a:avLst/>
          </a:prstGeom>
        </p:spPr>
      </p:pic>
      <p:sp>
        <p:nvSpPr>
          <p:cNvPr id="6" name="Text 3"/>
          <p:cNvSpPr/>
          <p:nvPr/>
        </p:nvSpPr>
        <p:spPr>
          <a:xfrm>
            <a:off x="566928" y="5029200"/>
            <a:ext cx="11057839" cy="384048"/>
          </a:xfrm>
          <a:prstGeom prst="rect">
            <a:avLst/>
          </a:prstGeom>
          <a:noFill/>
          <a:ln/>
        </p:spPr>
        <p:txBody>
          <a:bodyPr wrap="square" lIns="0" tIns="0" rIns="0" bIns="0" rtlCol="0" anchor="t"/>
          <a:lstStyle/>
          <a:p>
            <a:pPr algn="ctr" indent="0" marL="0">
              <a:buNone/>
            </a:pPr>
            <a:r>
              <a:rPr lang="en-US" sz="1250" dirty="0">
                <a:solidFill>
                  <a:srgbClr val="5C7080"/>
                </a:solidFill>
                <a:latin typeface="Calibri" pitchFamily="34" charset="0"/>
                <a:ea typeface="Calibri" pitchFamily="34" charset="-122"/>
                <a:cs typeface="Calibri" pitchFamily="34" charset="-120"/>
              </a:rPr>
              <a:t>Two slot machines. Blue pays $1 every time. Red pays $2 three quarters of the time and nothing otherwise.</a:t>
            </a:r>
            <a:endParaRPr lang="en-US" sz="1250" dirty="0"/>
          </a:p>
        </p:txBody>
      </p:sp>
      <p:sp>
        <p:nvSpPr>
          <p:cNvPr id="7" name="Shape 4"/>
          <p:cNvSpPr/>
          <p:nvPr/>
        </p:nvSpPr>
        <p:spPr>
          <a:xfrm>
            <a:off x="566928" y="5257800"/>
            <a:ext cx="5349240" cy="914400"/>
          </a:xfrm>
          <a:prstGeom prst="roundRect">
            <a:avLst>
              <a:gd name="adj" fmla="val 9000"/>
            </a:avLst>
          </a:prstGeom>
          <a:solidFill>
            <a:srgbClr val="EDF2F5"/>
          </a:solidFill>
          <a:ln/>
        </p:spPr>
      </p:sp>
      <p:sp>
        <p:nvSpPr>
          <p:cNvPr id="8" name="Text 5"/>
          <p:cNvSpPr/>
          <p:nvPr/>
        </p:nvSpPr>
        <p:spPr>
          <a:xfrm>
            <a:off x="786384" y="5257800"/>
            <a:ext cx="4937760" cy="914400"/>
          </a:xfrm>
          <a:prstGeom prst="rect">
            <a:avLst/>
          </a:prstGeom>
          <a:noFill/>
          <a:ln/>
        </p:spPr>
        <p:txBody>
          <a:bodyPr wrap="square" lIns="0" tIns="0" rIns="0" bIns="0" rtlCol="0" anchor="ctr"/>
          <a:lstStyle/>
          <a:p>
            <a:pPr indent="0" marL="0">
              <a:buNone/>
            </a:pPr>
            <a:r>
              <a:rPr lang="en-US" sz="1250" dirty="0">
                <a:solidFill>
                  <a:srgbClr val="10263B"/>
                </a:solidFill>
                <a:latin typeface="Calibri" pitchFamily="34" charset="0"/>
                <a:ea typeface="Calibri" pitchFamily="34" charset="-122"/>
                <a:cs typeface="Calibri" pitchFamily="34" charset="-120"/>
              </a:rPr>
              <a:t>Write it as an MDP: two actions (Blue, Red), two states (Win, Lose). The states exist only so the rewards can depend on where you land - both have the same value.</a:t>
            </a:r>
            <a:endParaRPr lang="en-US" sz="1250" dirty="0"/>
          </a:p>
        </p:txBody>
      </p:sp>
      <p:sp>
        <p:nvSpPr>
          <p:cNvPr id="9" name="Shape 6"/>
          <p:cNvSpPr/>
          <p:nvPr/>
        </p:nvSpPr>
        <p:spPr>
          <a:xfrm>
            <a:off x="6263640" y="5257800"/>
            <a:ext cx="5349240" cy="914400"/>
          </a:xfrm>
          <a:prstGeom prst="roundRect">
            <a:avLst>
              <a:gd name="adj" fmla="val 9000"/>
            </a:avLst>
          </a:prstGeom>
          <a:solidFill>
            <a:srgbClr val="10263B"/>
          </a:solidFill>
          <a:ln/>
        </p:spPr>
      </p:sp>
      <p:sp>
        <p:nvSpPr>
          <p:cNvPr id="10" name="Text 7"/>
          <p:cNvSpPr/>
          <p:nvPr/>
        </p:nvSpPr>
        <p:spPr>
          <a:xfrm>
            <a:off x="6483096" y="5257800"/>
            <a:ext cx="4937760" cy="914400"/>
          </a:xfrm>
          <a:prstGeom prst="rect">
            <a:avLst/>
          </a:prstGeom>
          <a:noFill/>
          <a:ln/>
        </p:spPr>
        <p:txBody>
          <a:bodyPr wrap="square" lIns="0" tIns="0" rIns="0" bIns="0" rtlCol="0" anchor="ctr"/>
          <a:lstStyle/>
          <a:p>
            <a:pPr indent="0" marL="0">
              <a:buNone/>
            </a:pPr>
            <a:r>
              <a:rPr lang="en-US" sz="1250" dirty="0">
                <a:solidFill>
                  <a:srgbClr val="DCE7EE"/>
                </a:solidFill>
                <a:latin typeface="Calibri" pitchFamily="34" charset="0"/>
                <a:ea typeface="Calibri" pitchFamily="34" charset="-122"/>
                <a:cs typeface="Calibri" pitchFamily="34" charset="-120"/>
              </a:rPr>
              <a:t>Solving an MDP is offline planning. You determine every quantity by computation, you need to know all the details, and you never actually play the game.</a:t>
            </a:r>
            <a:endParaRPr lang="en-US" sz="12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Now the same game, with one thing removed</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62</a:t>
            </a:r>
            <a:endParaRPr lang="en-US" sz="900" dirty="0"/>
          </a:p>
        </p:txBody>
      </p:sp>
      <p:sp>
        <p:nvSpPr>
          <p:cNvPr id="5" name="Shape 3"/>
          <p:cNvSpPr/>
          <p:nvPr/>
        </p:nvSpPr>
        <p:spPr>
          <a:xfrm>
            <a:off x="566928" y="1554480"/>
            <a:ext cx="5349240" cy="2103120"/>
          </a:xfrm>
          <a:prstGeom prst="roundRect">
            <a:avLst>
              <a:gd name="adj" fmla="val 3913"/>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04672" y="1682496"/>
            <a:ext cx="4892040" cy="329184"/>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What you knew before</a:t>
            </a:r>
            <a:endParaRPr lang="en-US" sz="1500" dirty="0"/>
          </a:p>
        </p:txBody>
      </p:sp>
      <p:sp>
        <p:nvSpPr>
          <p:cNvPr id="7" name="Text 5"/>
          <p:cNvSpPr/>
          <p:nvPr/>
        </p:nvSpPr>
        <p:spPr>
          <a:xfrm>
            <a:off x="804672" y="2066544"/>
            <a:ext cx="4892040" cy="777240"/>
          </a:xfrm>
          <a:prstGeom prst="rect">
            <a:avLst/>
          </a:prstGeom>
          <a:noFill/>
          <a:ln/>
        </p:spPr>
        <p:txBody>
          <a:bodyPr wrap="square" lIns="0" tIns="0" rIns="0" bIns="0" rtlCol="0" anchor="t"/>
          <a:lstStyle/>
          <a:p>
            <a:pPr indent="0" marL="0">
              <a:lnSpc>
                <a:spcPct val="130000"/>
              </a:lnSpc>
              <a:buNone/>
            </a:pPr>
            <a:r>
              <a:rPr lang="en-US" sz="1400" dirty="0">
                <a:solidFill>
                  <a:srgbClr val="10263B"/>
                </a:solidFill>
                <a:latin typeface="Courier New" pitchFamily="34" charset="0"/>
                <a:ea typeface="Courier New" pitchFamily="34" charset="-122"/>
                <a:cs typeface="Courier New" pitchFamily="34" charset="-120"/>
              </a:rPr>
              <a:t>Blue: $1 every time.</a:t>
            </a:r>
            <a:endParaRPr lang="en-US" sz="1400" dirty="0"/>
          </a:p>
          <a:p>
            <a:pPr indent="0" marL="0">
              <a:lnSpc>
                <a:spcPct val="130000"/>
              </a:lnSpc>
              <a:buNone/>
            </a:pPr>
            <a:r>
              <a:rPr lang="en-US" sz="1400" dirty="0">
                <a:solidFill>
                  <a:srgbClr val="10263B"/>
                </a:solidFill>
                <a:latin typeface="Courier New" pitchFamily="34" charset="0"/>
                <a:ea typeface="Courier New" pitchFamily="34" charset="-122"/>
                <a:cs typeface="Courier New" pitchFamily="34" charset="-120"/>
              </a:rPr>
              <a:t>Red: 75% chance of $2, 25% chance of $0.</a:t>
            </a:r>
            <a:endParaRPr lang="en-US" sz="1400" dirty="0"/>
          </a:p>
        </p:txBody>
      </p:sp>
      <p:sp>
        <p:nvSpPr>
          <p:cNvPr id="8" name="Text 6"/>
          <p:cNvSpPr/>
          <p:nvPr/>
        </p:nvSpPr>
        <p:spPr>
          <a:xfrm>
            <a:off x="804672" y="2999232"/>
            <a:ext cx="4892040" cy="502920"/>
          </a:xfrm>
          <a:prstGeom prst="rect">
            <a:avLst/>
          </a:prstGeom>
          <a:noFill/>
          <a:ln/>
        </p:spPr>
        <p:txBody>
          <a:bodyPr wrap="square" lIns="0" tIns="0" rIns="0" bIns="0" rtlCol="0" anchor="t"/>
          <a:lstStyle/>
          <a:p>
            <a:pPr indent="0" marL="0">
              <a:buNone/>
            </a:pPr>
            <a:r>
              <a:rPr lang="en-US" sz="1300" i="1" dirty="0">
                <a:solidFill>
                  <a:srgbClr val="5C7080"/>
                </a:solidFill>
                <a:latin typeface="Calibri" pitchFamily="34" charset="0"/>
                <a:ea typeface="Calibri" pitchFamily="34" charset="-122"/>
                <a:cs typeface="Calibri" pitchFamily="34" charset="-120"/>
              </a:rPr>
              <a:t>Compute, decide, act. No surprises.</a:t>
            </a:r>
            <a:endParaRPr lang="en-US" sz="1300" dirty="0"/>
          </a:p>
        </p:txBody>
      </p:sp>
      <p:sp>
        <p:nvSpPr>
          <p:cNvPr id="9" name="Shape 7"/>
          <p:cNvSpPr/>
          <p:nvPr/>
        </p:nvSpPr>
        <p:spPr>
          <a:xfrm>
            <a:off x="6263640" y="1554480"/>
            <a:ext cx="5349240" cy="2103120"/>
          </a:xfrm>
          <a:prstGeom prst="roundRect">
            <a:avLst>
              <a:gd name="adj" fmla="val 3913"/>
            </a:avLst>
          </a:prstGeom>
          <a:solidFill>
            <a:srgbClr val="10263B"/>
          </a:solidFill>
          <a:ln/>
          <a:effectLst>
            <a:outerShdw sx="100000" sy="100000" kx="0" ky="0" algn="bl" rotWithShape="0" blurRad="101600" dist="17780" dir="5400000">
              <a:srgbClr val="9FB2BF">
                <a:alpha val="20000"/>
              </a:srgbClr>
            </a:outerShdw>
          </a:effectLst>
        </p:spPr>
      </p:sp>
      <p:sp>
        <p:nvSpPr>
          <p:cNvPr id="10" name="Text 8"/>
          <p:cNvSpPr/>
          <p:nvPr/>
        </p:nvSpPr>
        <p:spPr>
          <a:xfrm>
            <a:off x="6501384" y="1682496"/>
            <a:ext cx="4892040" cy="329184"/>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What you know now</a:t>
            </a:r>
            <a:endParaRPr lang="en-US" sz="1500" dirty="0"/>
          </a:p>
        </p:txBody>
      </p:sp>
      <p:sp>
        <p:nvSpPr>
          <p:cNvPr id="11" name="Text 9"/>
          <p:cNvSpPr/>
          <p:nvPr/>
        </p:nvSpPr>
        <p:spPr>
          <a:xfrm>
            <a:off x="6501384" y="2066544"/>
            <a:ext cx="4892040" cy="777240"/>
          </a:xfrm>
          <a:prstGeom prst="rect">
            <a:avLst/>
          </a:prstGeom>
          <a:noFill/>
          <a:ln/>
        </p:spPr>
        <p:txBody>
          <a:bodyPr wrap="square" lIns="0" tIns="0" rIns="0" bIns="0" rtlCol="0" anchor="t"/>
          <a:lstStyle/>
          <a:p>
            <a:pPr indent="0" marL="0">
              <a:lnSpc>
                <a:spcPct val="130000"/>
              </a:lnSpc>
              <a:buNone/>
            </a:pPr>
            <a:r>
              <a:rPr lang="en-US" sz="1400" dirty="0">
                <a:solidFill>
                  <a:srgbClr val="FFFFFF"/>
                </a:solidFill>
                <a:latin typeface="Courier New" pitchFamily="34" charset="0"/>
                <a:ea typeface="Courier New" pitchFamily="34" charset="-122"/>
                <a:cs typeface="Courier New" pitchFamily="34" charset="-120"/>
              </a:rPr>
              <a:t>Blue: $1 every time.</a:t>
            </a:r>
            <a:endParaRPr lang="en-US" sz="1400" dirty="0"/>
          </a:p>
          <a:p>
            <a:pPr indent="0" marL="0">
              <a:lnSpc>
                <a:spcPct val="130000"/>
              </a:lnSpc>
              <a:buNone/>
            </a:pPr>
            <a:r>
              <a:rPr lang="en-US" sz="1400" dirty="0">
                <a:solidFill>
                  <a:srgbClr val="FFFFFF"/>
                </a:solidFill>
                <a:latin typeface="Courier New" pitchFamily="34" charset="0"/>
                <a:ea typeface="Courier New" pitchFamily="34" charset="-122"/>
                <a:cs typeface="Courier New" pitchFamily="34" charset="-120"/>
              </a:rPr>
              <a:t>Red: ??% chance of $2, ??% chance of $0.</a:t>
            </a:r>
            <a:endParaRPr lang="en-US" sz="1400" dirty="0"/>
          </a:p>
        </p:txBody>
      </p:sp>
      <p:sp>
        <p:nvSpPr>
          <p:cNvPr id="12" name="Text 10"/>
          <p:cNvSpPr/>
          <p:nvPr/>
        </p:nvSpPr>
        <p:spPr>
          <a:xfrm>
            <a:off x="6501384" y="2999232"/>
            <a:ext cx="4892040" cy="502920"/>
          </a:xfrm>
          <a:prstGeom prst="rect">
            <a:avLst/>
          </a:prstGeom>
          <a:noFill/>
          <a:ln/>
        </p:spPr>
        <p:txBody>
          <a:bodyPr wrap="square" lIns="0" tIns="0" rIns="0" bIns="0" rtlCol="0" anchor="t"/>
          <a:lstStyle/>
          <a:p>
            <a:pPr indent="0" marL="0">
              <a:buNone/>
            </a:pPr>
            <a:r>
              <a:rPr lang="en-US" sz="1300" i="1" dirty="0">
                <a:solidFill>
                  <a:srgbClr val="A9C0CF"/>
                </a:solidFill>
                <a:latin typeface="Calibri" pitchFamily="34" charset="0"/>
                <a:ea typeface="Calibri" pitchFamily="34" charset="-122"/>
                <a:cs typeface="Calibri" pitchFamily="34" charset="-120"/>
              </a:rPr>
              <a:t>Same states. Same actions. Same MDP structure. You simply do not have the numbers.</a:t>
            </a:r>
            <a:endParaRPr lang="en-US" sz="1300" dirty="0"/>
          </a:p>
        </p:txBody>
      </p:sp>
      <p:sp>
        <p:nvSpPr>
          <p:cNvPr id="13" name="Text 11"/>
          <p:cNvSpPr/>
          <p:nvPr/>
        </p:nvSpPr>
        <p:spPr>
          <a:xfrm>
            <a:off x="566928" y="3950208"/>
            <a:ext cx="11057839" cy="384048"/>
          </a:xfrm>
          <a:prstGeom prst="rect">
            <a:avLst/>
          </a:prstGeom>
          <a:noFill/>
          <a:ln/>
        </p:spPr>
        <p:txBody>
          <a:bodyPr wrap="square" lIns="0" tIns="0" rIns="0" bIns="0" rtlCol="0" anchor="ctr"/>
          <a:lstStyle/>
          <a:p>
            <a:pPr indent="0" marL="0">
              <a:buNone/>
            </a:pPr>
            <a:r>
              <a:rPr lang="en-US" sz="1600" b="1" dirty="0">
                <a:solidFill>
                  <a:srgbClr val="10263B"/>
                </a:solidFill>
                <a:latin typeface="Cambria" pitchFamily="34" charset="0"/>
                <a:ea typeface="Cambria" pitchFamily="34" charset="-122"/>
                <a:cs typeface="Cambria" pitchFamily="34" charset="-120"/>
              </a:rPr>
              <a:t>Let's play. Ten pulls on Red:</a:t>
            </a:r>
            <a:endParaRPr lang="en-US" sz="1600" dirty="0"/>
          </a:p>
        </p:txBody>
      </p:sp>
      <p:sp>
        <p:nvSpPr>
          <p:cNvPr id="14" name="Shape 12"/>
          <p:cNvSpPr/>
          <p:nvPr/>
        </p:nvSpPr>
        <p:spPr>
          <a:xfrm>
            <a:off x="566928" y="4407408"/>
            <a:ext cx="868680" cy="566928"/>
          </a:xfrm>
          <a:prstGeom prst="roundRect">
            <a:avLst>
              <a:gd name="adj" fmla="val 9677"/>
            </a:avLst>
          </a:prstGeom>
          <a:solidFill>
            <a:srgbClr val="EDF2F5"/>
          </a:solidFill>
          <a:ln/>
        </p:spPr>
      </p:sp>
      <p:sp>
        <p:nvSpPr>
          <p:cNvPr id="15" name="Text 13"/>
          <p:cNvSpPr/>
          <p:nvPr/>
        </p:nvSpPr>
        <p:spPr>
          <a:xfrm>
            <a:off x="56692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16" name="Shape 14"/>
          <p:cNvSpPr/>
          <p:nvPr/>
        </p:nvSpPr>
        <p:spPr>
          <a:xfrm>
            <a:off x="1572768" y="4407408"/>
            <a:ext cx="868680" cy="566928"/>
          </a:xfrm>
          <a:prstGeom prst="roundRect">
            <a:avLst>
              <a:gd name="adj" fmla="val 9677"/>
            </a:avLst>
          </a:prstGeom>
          <a:solidFill>
            <a:srgbClr val="EDF2F5"/>
          </a:solidFill>
          <a:ln/>
        </p:spPr>
      </p:sp>
      <p:sp>
        <p:nvSpPr>
          <p:cNvPr id="17" name="Text 15"/>
          <p:cNvSpPr/>
          <p:nvPr/>
        </p:nvSpPr>
        <p:spPr>
          <a:xfrm>
            <a:off x="157276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18" name="Shape 16"/>
          <p:cNvSpPr/>
          <p:nvPr/>
        </p:nvSpPr>
        <p:spPr>
          <a:xfrm>
            <a:off x="2578608" y="4407408"/>
            <a:ext cx="868680" cy="566928"/>
          </a:xfrm>
          <a:prstGeom prst="roundRect">
            <a:avLst>
              <a:gd name="adj" fmla="val 9677"/>
            </a:avLst>
          </a:prstGeom>
          <a:solidFill>
            <a:srgbClr val="EDF2F5"/>
          </a:solidFill>
          <a:ln/>
        </p:spPr>
      </p:sp>
      <p:sp>
        <p:nvSpPr>
          <p:cNvPr id="19" name="Text 17"/>
          <p:cNvSpPr/>
          <p:nvPr/>
        </p:nvSpPr>
        <p:spPr>
          <a:xfrm>
            <a:off x="257860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20" name="Shape 18"/>
          <p:cNvSpPr/>
          <p:nvPr/>
        </p:nvSpPr>
        <p:spPr>
          <a:xfrm>
            <a:off x="3584448" y="4407408"/>
            <a:ext cx="868680" cy="566928"/>
          </a:xfrm>
          <a:prstGeom prst="roundRect">
            <a:avLst>
              <a:gd name="adj" fmla="val 9677"/>
            </a:avLst>
          </a:prstGeom>
          <a:solidFill>
            <a:srgbClr val="2E7D5B"/>
          </a:solidFill>
          <a:ln/>
        </p:spPr>
      </p:sp>
      <p:sp>
        <p:nvSpPr>
          <p:cNvPr id="21" name="Text 19"/>
          <p:cNvSpPr/>
          <p:nvPr/>
        </p:nvSpPr>
        <p:spPr>
          <a:xfrm>
            <a:off x="3584448" y="4407408"/>
            <a:ext cx="868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Shape 20"/>
          <p:cNvSpPr/>
          <p:nvPr/>
        </p:nvSpPr>
        <p:spPr>
          <a:xfrm>
            <a:off x="4590288" y="4407408"/>
            <a:ext cx="868680" cy="566928"/>
          </a:xfrm>
          <a:prstGeom prst="roundRect">
            <a:avLst>
              <a:gd name="adj" fmla="val 9677"/>
            </a:avLst>
          </a:prstGeom>
          <a:solidFill>
            <a:srgbClr val="EDF2F5"/>
          </a:solidFill>
          <a:ln/>
        </p:spPr>
      </p:sp>
      <p:sp>
        <p:nvSpPr>
          <p:cNvPr id="23" name="Text 21"/>
          <p:cNvSpPr/>
          <p:nvPr/>
        </p:nvSpPr>
        <p:spPr>
          <a:xfrm>
            <a:off x="459028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24" name="Shape 22"/>
          <p:cNvSpPr/>
          <p:nvPr/>
        </p:nvSpPr>
        <p:spPr>
          <a:xfrm>
            <a:off x="5596128" y="4407408"/>
            <a:ext cx="868680" cy="566928"/>
          </a:xfrm>
          <a:prstGeom prst="roundRect">
            <a:avLst>
              <a:gd name="adj" fmla="val 9677"/>
            </a:avLst>
          </a:prstGeom>
          <a:solidFill>
            <a:srgbClr val="2E7D5B"/>
          </a:solidFill>
          <a:ln/>
        </p:spPr>
      </p:sp>
      <p:sp>
        <p:nvSpPr>
          <p:cNvPr id="25" name="Text 23"/>
          <p:cNvSpPr/>
          <p:nvPr/>
        </p:nvSpPr>
        <p:spPr>
          <a:xfrm>
            <a:off x="5596128" y="4407408"/>
            <a:ext cx="868680"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6" name="Shape 24"/>
          <p:cNvSpPr/>
          <p:nvPr/>
        </p:nvSpPr>
        <p:spPr>
          <a:xfrm>
            <a:off x="6601968" y="4407408"/>
            <a:ext cx="868680" cy="566928"/>
          </a:xfrm>
          <a:prstGeom prst="roundRect">
            <a:avLst>
              <a:gd name="adj" fmla="val 9677"/>
            </a:avLst>
          </a:prstGeom>
          <a:solidFill>
            <a:srgbClr val="EDF2F5"/>
          </a:solidFill>
          <a:ln/>
        </p:spPr>
      </p:sp>
      <p:sp>
        <p:nvSpPr>
          <p:cNvPr id="27" name="Text 25"/>
          <p:cNvSpPr/>
          <p:nvPr/>
        </p:nvSpPr>
        <p:spPr>
          <a:xfrm>
            <a:off x="660196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28" name="Shape 26"/>
          <p:cNvSpPr/>
          <p:nvPr/>
        </p:nvSpPr>
        <p:spPr>
          <a:xfrm>
            <a:off x="7607808" y="4407408"/>
            <a:ext cx="868680" cy="566928"/>
          </a:xfrm>
          <a:prstGeom prst="roundRect">
            <a:avLst>
              <a:gd name="adj" fmla="val 9677"/>
            </a:avLst>
          </a:prstGeom>
          <a:solidFill>
            <a:srgbClr val="EDF2F5"/>
          </a:solidFill>
          <a:ln/>
        </p:spPr>
      </p:sp>
      <p:sp>
        <p:nvSpPr>
          <p:cNvPr id="29" name="Text 27"/>
          <p:cNvSpPr/>
          <p:nvPr/>
        </p:nvSpPr>
        <p:spPr>
          <a:xfrm>
            <a:off x="760780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30" name="Shape 28"/>
          <p:cNvSpPr/>
          <p:nvPr/>
        </p:nvSpPr>
        <p:spPr>
          <a:xfrm>
            <a:off x="8613648" y="4407408"/>
            <a:ext cx="868680" cy="566928"/>
          </a:xfrm>
          <a:prstGeom prst="roundRect">
            <a:avLst>
              <a:gd name="adj" fmla="val 9677"/>
            </a:avLst>
          </a:prstGeom>
          <a:solidFill>
            <a:srgbClr val="EDF2F5"/>
          </a:solidFill>
          <a:ln/>
        </p:spPr>
      </p:sp>
      <p:sp>
        <p:nvSpPr>
          <p:cNvPr id="31" name="Text 29"/>
          <p:cNvSpPr/>
          <p:nvPr/>
        </p:nvSpPr>
        <p:spPr>
          <a:xfrm>
            <a:off x="861364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32" name="Shape 30"/>
          <p:cNvSpPr/>
          <p:nvPr/>
        </p:nvSpPr>
        <p:spPr>
          <a:xfrm>
            <a:off x="9619488" y="4407408"/>
            <a:ext cx="868680" cy="566928"/>
          </a:xfrm>
          <a:prstGeom prst="roundRect">
            <a:avLst>
              <a:gd name="adj" fmla="val 9677"/>
            </a:avLst>
          </a:prstGeom>
          <a:solidFill>
            <a:srgbClr val="EDF2F5"/>
          </a:solidFill>
          <a:ln/>
        </p:spPr>
      </p:sp>
      <p:sp>
        <p:nvSpPr>
          <p:cNvPr id="33" name="Text 31"/>
          <p:cNvSpPr/>
          <p:nvPr/>
        </p:nvSpPr>
        <p:spPr>
          <a:xfrm>
            <a:off x="9619488" y="4407408"/>
            <a:ext cx="868680" cy="566928"/>
          </a:xfrm>
          <a:prstGeom prst="rect">
            <a:avLst/>
          </a:prstGeom>
          <a:noFill/>
          <a:ln/>
        </p:spPr>
        <p:txBody>
          <a:bodyPr wrap="square" lIns="0" tIns="0" rIns="0" bIns="0" rtlCol="0" anchor="ctr"/>
          <a:lstStyle/>
          <a:p>
            <a:pPr algn="ctr" indent="0" marL="0">
              <a:buNone/>
            </a:pPr>
            <a:r>
              <a:rPr lang="en-US" sz="1500" b="1" dirty="0">
                <a:solidFill>
                  <a:srgbClr val="5C7080"/>
                </a:solidFill>
                <a:latin typeface="Calibri" pitchFamily="34" charset="0"/>
                <a:ea typeface="Calibri" pitchFamily="34" charset="-122"/>
                <a:cs typeface="Calibri" pitchFamily="34" charset="-120"/>
              </a:rPr>
              <a:t>$0</a:t>
            </a:r>
            <a:endParaRPr lang="en-US" sz="1500" dirty="0"/>
          </a:p>
        </p:txBody>
      </p:sp>
      <p:sp>
        <p:nvSpPr>
          <p:cNvPr id="34" name="Shape 32"/>
          <p:cNvSpPr/>
          <p:nvPr/>
        </p:nvSpPr>
        <p:spPr>
          <a:xfrm>
            <a:off x="566928" y="5230368"/>
            <a:ext cx="11057839" cy="868680"/>
          </a:xfrm>
          <a:prstGeom prst="roundRect">
            <a:avLst>
              <a:gd name="adj" fmla="val 9474"/>
            </a:avLst>
          </a:prstGeom>
          <a:solidFill>
            <a:srgbClr val="F5DFA8"/>
          </a:solidFill>
          <a:ln/>
        </p:spPr>
      </p:sp>
      <p:sp>
        <p:nvSpPr>
          <p:cNvPr id="35" name="Text 33"/>
          <p:cNvSpPr/>
          <p:nvPr/>
        </p:nvSpPr>
        <p:spPr>
          <a:xfrm>
            <a:off x="804672" y="5230368"/>
            <a:ext cx="10515600" cy="868680"/>
          </a:xfrm>
          <a:prstGeom prst="rect">
            <a:avLst/>
          </a:prstGeom>
          <a:noFill/>
          <a:ln/>
        </p:spPr>
        <p:txBody>
          <a:bodyPr wrap="square" lIns="0" tIns="0" rIns="0" bIns="0" rtlCol="0" anchor="ctr"/>
          <a:lstStyle/>
          <a:p>
            <a:pPr indent="0" marL="0">
              <a:buNone/>
            </a:pPr>
            <a:r>
              <a:rPr lang="en-US" sz="1400" dirty="0">
                <a:solidFill>
                  <a:srgbClr val="10263B"/>
                </a:solidFill>
                <a:latin typeface="Calibri" pitchFamily="34" charset="0"/>
                <a:ea typeface="Calibri" pitchFamily="34" charset="-122"/>
                <a:cs typeface="Calibri" pitchFamily="34" charset="-120"/>
              </a:rPr>
              <a:t>Now: do you keep playing Red? For how long? If you give up on it, is there ever a reason to come back? Notice that none of these are questions the MDP machinery can answer.</a:t>
            </a:r>
            <a:endParaRPr lang="en-US" sz="1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That was not planning. That was learning.</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63</a:t>
            </a:r>
            <a:endParaRPr lang="en-US" sz="900" dirty="0"/>
          </a:p>
        </p:txBody>
      </p:sp>
      <p:sp>
        <p:nvSpPr>
          <p:cNvPr id="5" name="Shape 3"/>
          <p:cNvSpPr/>
          <p:nvPr/>
        </p:nvSpPr>
        <p:spPr>
          <a:xfrm>
            <a:off x="566928" y="1481328"/>
            <a:ext cx="11057839" cy="1051560"/>
          </a:xfrm>
          <a:prstGeom prst="roundRect">
            <a:avLst>
              <a:gd name="adj" fmla="val 7826"/>
            </a:avLst>
          </a:prstGeom>
          <a:solidFill>
            <a:srgbClr val="10263B"/>
          </a:solidFill>
          <a:ln/>
          <a:effectLst>
            <a:outerShdw sx="100000" sy="100000" kx="0" ky="0" algn="bl" rotWithShape="0" blurRad="101600" dist="17780" dir="5400000">
              <a:srgbClr val="9FB2BF">
                <a:alpha val="20000"/>
              </a:srgbClr>
            </a:outerShdw>
          </a:effectLst>
        </p:spPr>
      </p:sp>
      <p:sp>
        <p:nvSpPr>
          <p:cNvPr id="6" name="Text 4"/>
          <p:cNvSpPr/>
          <p:nvPr/>
        </p:nvSpPr>
        <p:spPr>
          <a:xfrm>
            <a:off x="841248" y="1481328"/>
            <a:ext cx="10515600" cy="105156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There was still an MDP - you just could not solve it by computation alone, because you did not know its parameters. You had to act in order to find them out.</a:t>
            </a:r>
            <a:endParaRPr lang="en-US" sz="1600" dirty="0"/>
          </a:p>
        </p:txBody>
      </p:sp>
      <p:sp>
        <p:nvSpPr>
          <p:cNvPr id="7" name="Shape 5"/>
          <p:cNvSpPr/>
          <p:nvPr/>
        </p:nvSpPr>
        <p:spPr>
          <a:xfrm>
            <a:off x="566928" y="2743200"/>
            <a:ext cx="11057839" cy="621792"/>
          </a:xfrm>
          <a:prstGeom prst="roundRect">
            <a:avLst>
              <a:gd name="adj" fmla="val 13235"/>
            </a:avLst>
          </a:prstGeom>
          <a:solidFill>
            <a:srgbClr val="EDF2F5"/>
          </a:solidFill>
          <a:ln/>
        </p:spPr>
      </p:sp>
      <p:sp>
        <p:nvSpPr>
          <p:cNvPr id="8" name="Shape 6"/>
          <p:cNvSpPr/>
          <p:nvPr/>
        </p:nvSpPr>
        <p:spPr>
          <a:xfrm>
            <a:off x="768096" y="2862072"/>
            <a:ext cx="137160" cy="384048"/>
          </a:xfrm>
          <a:prstGeom prst="roundRect">
            <a:avLst>
              <a:gd name="adj" fmla="val 33333"/>
            </a:avLst>
          </a:prstGeom>
          <a:solidFill>
            <a:srgbClr val="1C7293"/>
          </a:solidFill>
          <a:ln/>
        </p:spPr>
      </p:sp>
      <p:sp>
        <p:nvSpPr>
          <p:cNvPr id="9" name="Text 7"/>
          <p:cNvSpPr/>
          <p:nvPr/>
        </p:nvSpPr>
        <p:spPr>
          <a:xfrm>
            <a:off x="1078992" y="2743200"/>
            <a:ext cx="1920240" cy="621792"/>
          </a:xfrm>
          <a:prstGeom prst="rect">
            <a:avLst/>
          </a:prstGeom>
          <a:noFill/>
          <a:ln/>
        </p:spPr>
        <p:txBody>
          <a:bodyPr wrap="square" lIns="0" tIns="0" rIns="0" bIns="0" rtlCol="0" anchor="ctr"/>
          <a:lstStyle/>
          <a:p>
            <a:pPr indent="0" marL="0">
              <a:buNone/>
            </a:pPr>
            <a:r>
              <a:rPr lang="en-US" sz="1500" b="1" dirty="0">
                <a:solidFill>
                  <a:srgbClr val="1C7293"/>
                </a:solidFill>
                <a:latin typeface="Cambria" pitchFamily="34" charset="0"/>
                <a:ea typeface="Cambria" pitchFamily="34" charset="-122"/>
                <a:cs typeface="Cambria" pitchFamily="34" charset="-120"/>
              </a:rPr>
              <a:t>Exploration</a:t>
            </a:r>
            <a:endParaRPr lang="en-US" sz="1500" dirty="0"/>
          </a:p>
        </p:txBody>
      </p:sp>
      <p:sp>
        <p:nvSpPr>
          <p:cNvPr id="10" name="Text 8"/>
          <p:cNvSpPr/>
          <p:nvPr/>
        </p:nvSpPr>
        <p:spPr>
          <a:xfrm>
            <a:off x="3081528" y="2743200"/>
            <a:ext cx="8321040" cy="621792"/>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You have to try actions you are unsure about, purely to gain information.</a:t>
            </a:r>
            <a:endParaRPr lang="en-US" sz="1300" dirty="0"/>
          </a:p>
        </p:txBody>
      </p:sp>
      <p:sp>
        <p:nvSpPr>
          <p:cNvPr id="11" name="Shape 9"/>
          <p:cNvSpPr/>
          <p:nvPr/>
        </p:nvSpPr>
        <p:spPr>
          <a:xfrm>
            <a:off x="566928" y="3456432"/>
            <a:ext cx="11057839" cy="621792"/>
          </a:xfrm>
          <a:prstGeom prst="roundRect">
            <a:avLst>
              <a:gd name="adj" fmla="val 13235"/>
            </a:avLst>
          </a:prstGeom>
          <a:solidFill>
            <a:srgbClr val="F7FAFB"/>
          </a:solidFill>
          <a:ln/>
        </p:spPr>
      </p:sp>
      <p:sp>
        <p:nvSpPr>
          <p:cNvPr id="12" name="Shape 10"/>
          <p:cNvSpPr/>
          <p:nvPr/>
        </p:nvSpPr>
        <p:spPr>
          <a:xfrm>
            <a:off x="768096" y="3575304"/>
            <a:ext cx="137160" cy="384048"/>
          </a:xfrm>
          <a:prstGeom prst="roundRect">
            <a:avLst>
              <a:gd name="adj" fmla="val 33333"/>
            </a:avLst>
          </a:prstGeom>
          <a:solidFill>
            <a:srgbClr val="2E7D5B"/>
          </a:solidFill>
          <a:ln/>
        </p:spPr>
      </p:sp>
      <p:sp>
        <p:nvSpPr>
          <p:cNvPr id="13" name="Text 11"/>
          <p:cNvSpPr/>
          <p:nvPr/>
        </p:nvSpPr>
        <p:spPr>
          <a:xfrm>
            <a:off x="1078992" y="3456432"/>
            <a:ext cx="1920240" cy="621792"/>
          </a:xfrm>
          <a:prstGeom prst="rect">
            <a:avLst/>
          </a:prstGeom>
          <a:noFill/>
          <a:ln/>
        </p:spPr>
        <p:txBody>
          <a:bodyPr wrap="square" lIns="0" tIns="0" rIns="0" bIns="0" rtlCol="0" anchor="ctr"/>
          <a:lstStyle/>
          <a:p>
            <a:pPr indent="0" marL="0">
              <a:buNone/>
            </a:pPr>
            <a:r>
              <a:rPr lang="en-US" sz="1500" b="1" dirty="0">
                <a:solidFill>
                  <a:srgbClr val="2E7D5B"/>
                </a:solidFill>
                <a:latin typeface="Cambria" pitchFamily="34" charset="0"/>
                <a:ea typeface="Cambria" pitchFamily="34" charset="-122"/>
                <a:cs typeface="Cambria" pitchFamily="34" charset="-120"/>
              </a:rPr>
              <a:t>Exploitation</a:t>
            </a:r>
            <a:endParaRPr lang="en-US" sz="1500" dirty="0"/>
          </a:p>
        </p:txBody>
      </p:sp>
      <p:sp>
        <p:nvSpPr>
          <p:cNvPr id="14" name="Text 12"/>
          <p:cNvSpPr/>
          <p:nvPr/>
        </p:nvSpPr>
        <p:spPr>
          <a:xfrm>
            <a:off x="3081528" y="3456432"/>
            <a:ext cx="8321040" cy="621792"/>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Eventually you have to use what you know and go collect the rewards.</a:t>
            </a:r>
            <a:endParaRPr lang="en-US" sz="1300" dirty="0"/>
          </a:p>
        </p:txBody>
      </p:sp>
      <p:sp>
        <p:nvSpPr>
          <p:cNvPr id="15" name="Shape 13"/>
          <p:cNvSpPr/>
          <p:nvPr/>
        </p:nvSpPr>
        <p:spPr>
          <a:xfrm>
            <a:off x="566928" y="4169664"/>
            <a:ext cx="11057839" cy="621792"/>
          </a:xfrm>
          <a:prstGeom prst="roundRect">
            <a:avLst>
              <a:gd name="adj" fmla="val 13235"/>
            </a:avLst>
          </a:prstGeom>
          <a:solidFill>
            <a:srgbClr val="EDF2F5"/>
          </a:solidFill>
          <a:ln/>
        </p:spPr>
      </p:sp>
      <p:sp>
        <p:nvSpPr>
          <p:cNvPr id="16" name="Shape 14"/>
          <p:cNvSpPr/>
          <p:nvPr/>
        </p:nvSpPr>
        <p:spPr>
          <a:xfrm>
            <a:off x="768096" y="4288536"/>
            <a:ext cx="137160" cy="384048"/>
          </a:xfrm>
          <a:prstGeom prst="roundRect">
            <a:avLst>
              <a:gd name="adj" fmla="val 33333"/>
            </a:avLst>
          </a:prstGeom>
          <a:solidFill>
            <a:srgbClr val="E0A32E"/>
          </a:solidFill>
          <a:ln/>
        </p:spPr>
      </p:sp>
      <p:sp>
        <p:nvSpPr>
          <p:cNvPr id="17" name="Text 15"/>
          <p:cNvSpPr/>
          <p:nvPr/>
        </p:nvSpPr>
        <p:spPr>
          <a:xfrm>
            <a:off x="1078992" y="4169664"/>
            <a:ext cx="1920240" cy="621792"/>
          </a:xfrm>
          <a:prstGeom prst="rect">
            <a:avLst/>
          </a:prstGeom>
          <a:noFill/>
          <a:ln/>
        </p:spPr>
        <p:txBody>
          <a:bodyPr wrap="square" lIns="0" tIns="0" rIns="0" bIns="0" rtlCol="0" anchor="ctr"/>
          <a:lstStyle/>
          <a:p>
            <a:pPr indent="0" marL="0">
              <a:buNone/>
            </a:pPr>
            <a:r>
              <a:rPr lang="en-US" sz="1500" b="1" dirty="0">
                <a:solidFill>
                  <a:srgbClr val="E0A32E"/>
                </a:solidFill>
                <a:latin typeface="Cambria" pitchFamily="34" charset="0"/>
                <a:ea typeface="Cambria" pitchFamily="34" charset="-122"/>
                <a:cs typeface="Cambria" pitchFamily="34" charset="-120"/>
              </a:rPr>
              <a:t>Regret</a:t>
            </a:r>
            <a:endParaRPr lang="en-US" sz="1500" dirty="0"/>
          </a:p>
        </p:txBody>
      </p:sp>
      <p:sp>
        <p:nvSpPr>
          <p:cNvPr id="18" name="Text 16"/>
          <p:cNvSpPr/>
          <p:nvPr/>
        </p:nvSpPr>
        <p:spPr>
          <a:xfrm>
            <a:off x="3081528" y="4169664"/>
            <a:ext cx="8321040" cy="621792"/>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Even if you learn intelligently, you will make mistakes along the way. There is a gap between what you got and what you would have got knowing the answer up front.</a:t>
            </a:r>
            <a:endParaRPr lang="en-US" sz="1300" dirty="0"/>
          </a:p>
        </p:txBody>
      </p:sp>
      <p:sp>
        <p:nvSpPr>
          <p:cNvPr id="19" name="Shape 17"/>
          <p:cNvSpPr/>
          <p:nvPr/>
        </p:nvSpPr>
        <p:spPr>
          <a:xfrm>
            <a:off x="566928" y="4882896"/>
            <a:ext cx="11057839" cy="621792"/>
          </a:xfrm>
          <a:prstGeom prst="roundRect">
            <a:avLst>
              <a:gd name="adj" fmla="val 13235"/>
            </a:avLst>
          </a:prstGeom>
          <a:solidFill>
            <a:srgbClr val="F7FAFB"/>
          </a:solidFill>
          <a:ln/>
        </p:spPr>
      </p:sp>
      <p:sp>
        <p:nvSpPr>
          <p:cNvPr id="20" name="Shape 18"/>
          <p:cNvSpPr/>
          <p:nvPr/>
        </p:nvSpPr>
        <p:spPr>
          <a:xfrm>
            <a:off x="768096" y="5001768"/>
            <a:ext cx="137160" cy="384048"/>
          </a:xfrm>
          <a:prstGeom prst="roundRect">
            <a:avLst>
              <a:gd name="adj" fmla="val 33333"/>
            </a:avLst>
          </a:prstGeom>
          <a:solidFill>
            <a:srgbClr val="B3341F"/>
          </a:solidFill>
          <a:ln/>
        </p:spPr>
      </p:sp>
      <p:sp>
        <p:nvSpPr>
          <p:cNvPr id="21" name="Text 19"/>
          <p:cNvSpPr/>
          <p:nvPr/>
        </p:nvSpPr>
        <p:spPr>
          <a:xfrm>
            <a:off x="1078992" y="4882896"/>
            <a:ext cx="1920240" cy="621792"/>
          </a:xfrm>
          <a:prstGeom prst="rect">
            <a:avLst/>
          </a:prstGeom>
          <a:noFill/>
          <a:ln/>
        </p:spPr>
        <p:txBody>
          <a:bodyPr wrap="square" lIns="0" tIns="0" rIns="0" bIns="0" rtlCol="0" anchor="ctr"/>
          <a:lstStyle/>
          <a:p>
            <a:pPr indent="0" marL="0">
              <a:buNone/>
            </a:pPr>
            <a:r>
              <a:rPr lang="en-US" sz="1500" b="1" dirty="0">
                <a:solidFill>
                  <a:srgbClr val="B3341F"/>
                </a:solidFill>
                <a:latin typeface="Cambria" pitchFamily="34" charset="0"/>
                <a:ea typeface="Cambria" pitchFamily="34" charset="-122"/>
                <a:cs typeface="Cambria" pitchFamily="34" charset="-120"/>
              </a:rPr>
              <a:t>Sampling</a:t>
            </a:r>
            <a:endParaRPr lang="en-US" sz="1500" dirty="0"/>
          </a:p>
        </p:txBody>
      </p:sp>
      <p:sp>
        <p:nvSpPr>
          <p:cNvPr id="22" name="Text 20"/>
          <p:cNvSpPr/>
          <p:nvPr/>
        </p:nvSpPr>
        <p:spPr>
          <a:xfrm>
            <a:off x="3081528" y="4882896"/>
            <a:ext cx="8321040" cy="621792"/>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Because outcomes are random, one observation proves nothing. You have to try things repeatedly, and statistics becomes unavoidable.</a:t>
            </a:r>
            <a:endParaRPr lang="en-US" sz="1300" dirty="0"/>
          </a:p>
        </p:txBody>
      </p:sp>
      <p:sp>
        <p:nvSpPr>
          <p:cNvPr id="23" name="Shape 21"/>
          <p:cNvSpPr/>
          <p:nvPr/>
        </p:nvSpPr>
        <p:spPr>
          <a:xfrm>
            <a:off x="566928" y="5596128"/>
            <a:ext cx="11057839" cy="621792"/>
          </a:xfrm>
          <a:prstGeom prst="roundRect">
            <a:avLst>
              <a:gd name="adj" fmla="val 13235"/>
            </a:avLst>
          </a:prstGeom>
          <a:solidFill>
            <a:srgbClr val="EDF2F5"/>
          </a:solidFill>
          <a:ln/>
        </p:spPr>
      </p:sp>
      <p:sp>
        <p:nvSpPr>
          <p:cNvPr id="24" name="Shape 22"/>
          <p:cNvSpPr/>
          <p:nvPr/>
        </p:nvSpPr>
        <p:spPr>
          <a:xfrm>
            <a:off x="768096" y="5715000"/>
            <a:ext cx="137160" cy="384048"/>
          </a:xfrm>
          <a:prstGeom prst="roundRect">
            <a:avLst>
              <a:gd name="adj" fmla="val 33333"/>
            </a:avLst>
          </a:prstGeom>
          <a:solidFill>
            <a:srgbClr val="5C7080"/>
          </a:solidFill>
          <a:ln/>
        </p:spPr>
      </p:sp>
      <p:sp>
        <p:nvSpPr>
          <p:cNvPr id="25" name="Text 23"/>
          <p:cNvSpPr/>
          <p:nvPr/>
        </p:nvSpPr>
        <p:spPr>
          <a:xfrm>
            <a:off x="1078992" y="5596128"/>
            <a:ext cx="1920240" cy="621792"/>
          </a:xfrm>
          <a:prstGeom prst="rect">
            <a:avLst/>
          </a:prstGeom>
          <a:noFill/>
          <a:ln/>
        </p:spPr>
        <p:txBody>
          <a:bodyPr wrap="square" lIns="0" tIns="0" rIns="0" bIns="0" rtlCol="0" anchor="ctr"/>
          <a:lstStyle/>
          <a:p>
            <a:pPr indent="0" marL="0">
              <a:buNone/>
            </a:pPr>
            <a:r>
              <a:rPr lang="en-US" sz="1500" b="1" dirty="0">
                <a:solidFill>
                  <a:srgbClr val="5C7080"/>
                </a:solidFill>
                <a:latin typeface="Cambria" pitchFamily="34" charset="0"/>
                <a:ea typeface="Cambria" pitchFamily="34" charset="-122"/>
                <a:cs typeface="Cambria" pitchFamily="34" charset="-120"/>
              </a:rPr>
              <a:t>Difficulty</a:t>
            </a:r>
            <a:endParaRPr lang="en-US" sz="1500" dirty="0"/>
          </a:p>
        </p:txBody>
      </p:sp>
      <p:sp>
        <p:nvSpPr>
          <p:cNvPr id="26" name="Text 24"/>
          <p:cNvSpPr/>
          <p:nvPr/>
        </p:nvSpPr>
        <p:spPr>
          <a:xfrm>
            <a:off x="3081528" y="5596128"/>
            <a:ext cx="8321040" cy="621792"/>
          </a:xfrm>
          <a:prstGeom prst="rect">
            <a:avLst/>
          </a:prstGeom>
          <a:noFill/>
          <a:ln/>
        </p:spPr>
        <p:txBody>
          <a:bodyPr wrap="square" lIns="0" tIns="0" rIns="0" bIns="0" rtlCol="0" anchor="ctr"/>
          <a:lstStyle/>
          <a:p>
            <a:pPr indent="0" marL="0">
              <a:buNone/>
            </a:pPr>
            <a:r>
              <a:rPr lang="en-US" sz="1300" dirty="0">
                <a:solidFill>
                  <a:srgbClr val="10263B"/>
                </a:solidFill>
                <a:latin typeface="Calibri" pitchFamily="34" charset="0"/>
                <a:ea typeface="Calibri" pitchFamily="34" charset="-122"/>
                <a:cs typeface="Calibri" pitchFamily="34" charset="-120"/>
              </a:rPr>
              <a:t>This was about the simplest MDP imaginable and it became genuinely unclear what to do. Learning is much harder than solving a known MDP.</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Where this shows up outside the classroom</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64</a:t>
            </a:r>
            <a:endParaRPr lang="en-US" sz="900" dirty="0"/>
          </a:p>
        </p:txBody>
      </p:sp>
      <p:sp>
        <p:nvSpPr>
          <p:cNvPr id="5" name="Shape 3"/>
          <p:cNvSpPr/>
          <p:nvPr/>
        </p:nvSpPr>
        <p:spPr>
          <a:xfrm>
            <a:off x="566928" y="1600200"/>
            <a:ext cx="5349240" cy="1874520"/>
          </a:xfrm>
          <a:prstGeom prst="roundRect">
            <a:avLst>
              <a:gd name="adj" fmla="val 4390"/>
            </a:avLst>
          </a:prstGeom>
          <a:solidFill>
            <a:srgbClr val="EDF2F5"/>
          </a:solidFill>
          <a:ln/>
          <a:effectLst>
            <a:outerShdw sx="100000" sy="100000" kx="0" ky="0" algn="bl" rotWithShape="0" blurRad="101600" dist="17780" dir="5400000">
              <a:srgbClr val="9FB2BF">
                <a:alpha val="20000"/>
              </a:srgbClr>
            </a:outerShdw>
          </a:effectLst>
        </p:spPr>
      </p:sp>
      <p:sp>
        <p:nvSpPr>
          <p:cNvPr id="6" name="Text 4"/>
          <p:cNvSpPr/>
          <p:nvPr/>
        </p:nvSpPr>
        <p:spPr>
          <a:xfrm>
            <a:off x="804672" y="1746504"/>
            <a:ext cx="4892040" cy="347472"/>
          </a:xfrm>
          <a:prstGeom prst="rect">
            <a:avLst/>
          </a:prstGeom>
          <a:noFill/>
          <a:ln/>
        </p:spPr>
        <p:txBody>
          <a:bodyPr wrap="square" lIns="0" tIns="0" rIns="0" bIns="0" rtlCol="0" anchor="ctr"/>
          <a:lstStyle/>
          <a:p>
            <a:pPr indent="0" marL="0">
              <a:buNone/>
            </a:pPr>
            <a:r>
              <a:rPr lang="en-US" sz="1550" b="1" dirty="0">
                <a:solidFill>
                  <a:srgbClr val="1C7293"/>
                </a:solidFill>
                <a:latin typeface="Cambria" pitchFamily="34" charset="0"/>
                <a:ea typeface="Cambria" pitchFamily="34" charset="-122"/>
                <a:cs typeface="Cambria" pitchFamily="34" charset="-120"/>
              </a:rPr>
              <a:t>Robotics and control</a:t>
            </a:r>
            <a:endParaRPr lang="en-US" sz="1550" dirty="0"/>
          </a:p>
        </p:txBody>
      </p:sp>
      <p:sp>
        <p:nvSpPr>
          <p:cNvPr id="7" name="Text 5"/>
          <p:cNvSpPr/>
          <p:nvPr/>
        </p:nvSpPr>
        <p:spPr>
          <a:xfrm>
            <a:off x="804672" y="2148840"/>
            <a:ext cx="4892040" cy="118872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Navigation, manipulation, and the self-charging robot from 17.1.4. Noisy actuators are the canonical source of stochastic transitions.</a:t>
            </a:r>
            <a:endParaRPr lang="en-US" sz="1300" dirty="0"/>
          </a:p>
        </p:txBody>
      </p:sp>
      <p:sp>
        <p:nvSpPr>
          <p:cNvPr id="8" name="Shape 6"/>
          <p:cNvSpPr/>
          <p:nvPr/>
        </p:nvSpPr>
        <p:spPr>
          <a:xfrm>
            <a:off x="6144768" y="1600200"/>
            <a:ext cx="5349240" cy="1874520"/>
          </a:xfrm>
          <a:prstGeom prst="roundRect">
            <a:avLst>
              <a:gd name="adj" fmla="val 4390"/>
            </a:avLst>
          </a:prstGeom>
          <a:solidFill>
            <a:srgbClr val="EDF2F5"/>
          </a:solidFill>
          <a:ln/>
          <a:effectLst>
            <a:outerShdw sx="100000" sy="100000" kx="0" ky="0" algn="bl" rotWithShape="0" blurRad="101600" dist="17780" dir="5400000">
              <a:srgbClr val="9FB2BF">
                <a:alpha val="20000"/>
              </a:srgbClr>
            </a:outerShdw>
          </a:effectLst>
        </p:spPr>
      </p:sp>
      <p:sp>
        <p:nvSpPr>
          <p:cNvPr id="9" name="Text 7"/>
          <p:cNvSpPr/>
          <p:nvPr/>
        </p:nvSpPr>
        <p:spPr>
          <a:xfrm>
            <a:off x="6382512" y="1746504"/>
            <a:ext cx="4892040" cy="347472"/>
          </a:xfrm>
          <a:prstGeom prst="rect">
            <a:avLst/>
          </a:prstGeom>
          <a:noFill/>
          <a:ln/>
        </p:spPr>
        <p:txBody>
          <a:bodyPr wrap="square" lIns="0" tIns="0" rIns="0" bIns="0" rtlCol="0" anchor="ctr"/>
          <a:lstStyle/>
          <a:p>
            <a:pPr indent="0" marL="0">
              <a:buNone/>
            </a:pPr>
            <a:r>
              <a:rPr lang="en-US" sz="1550" b="1" dirty="0">
                <a:solidFill>
                  <a:srgbClr val="1C7293"/>
                </a:solidFill>
                <a:latin typeface="Cambria" pitchFamily="34" charset="0"/>
                <a:ea typeface="Cambria" pitchFamily="34" charset="-122"/>
                <a:cs typeface="Cambria" pitchFamily="34" charset="-120"/>
              </a:rPr>
              <a:t>Operations research</a:t>
            </a:r>
            <a:endParaRPr lang="en-US" sz="1550" dirty="0"/>
          </a:p>
        </p:txBody>
      </p:sp>
      <p:sp>
        <p:nvSpPr>
          <p:cNvPr id="10" name="Text 8"/>
          <p:cNvSpPr/>
          <p:nvPr/>
        </p:nvSpPr>
        <p:spPr>
          <a:xfrm>
            <a:off x="6382512" y="2148840"/>
            <a:ext cx="4892040" cy="118872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Inventory, queueing, maintenance scheduling. MDPs have been studied in OR and control theory for decades, independently of AI.</a:t>
            </a:r>
            <a:endParaRPr lang="en-US" sz="1300" dirty="0"/>
          </a:p>
        </p:txBody>
      </p:sp>
      <p:sp>
        <p:nvSpPr>
          <p:cNvPr id="11" name="Shape 9"/>
          <p:cNvSpPr/>
          <p:nvPr/>
        </p:nvSpPr>
        <p:spPr>
          <a:xfrm>
            <a:off x="566928" y="3703320"/>
            <a:ext cx="5349240" cy="1874520"/>
          </a:xfrm>
          <a:prstGeom prst="roundRect">
            <a:avLst>
              <a:gd name="adj" fmla="val 4390"/>
            </a:avLst>
          </a:prstGeom>
          <a:solidFill>
            <a:srgbClr val="EDF2F5"/>
          </a:solidFill>
          <a:ln/>
          <a:effectLst>
            <a:outerShdw sx="100000" sy="100000" kx="0" ky="0" algn="bl" rotWithShape="0" blurRad="101600" dist="17780" dir="5400000">
              <a:srgbClr val="9FB2BF">
                <a:alpha val="20000"/>
              </a:srgbClr>
            </a:outerShdw>
          </a:effectLst>
        </p:spPr>
      </p:sp>
      <p:sp>
        <p:nvSpPr>
          <p:cNvPr id="12" name="Text 10"/>
          <p:cNvSpPr/>
          <p:nvPr/>
        </p:nvSpPr>
        <p:spPr>
          <a:xfrm>
            <a:off x="804672" y="3849624"/>
            <a:ext cx="4892040" cy="347472"/>
          </a:xfrm>
          <a:prstGeom prst="rect">
            <a:avLst/>
          </a:prstGeom>
          <a:noFill/>
          <a:ln/>
        </p:spPr>
        <p:txBody>
          <a:bodyPr wrap="square" lIns="0" tIns="0" rIns="0" bIns="0" rtlCol="0" anchor="ctr"/>
          <a:lstStyle/>
          <a:p>
            <a:pPr indent="0" marL="0">
              <a:buNone/>
            </a:pPr>
            <a:r>
              <a:rPr lang="en-US" sz="1550" b="1" dirty="0">
                <a:solidFill>
                  <a:srgbClr val="1C7293"/>
                </a:solidFill>
                <a:latin typeface="Cambria" pitchFamily="34" charset="0"/>
                <a:ea typeface="Cambria" pitchFamily="34" charset="-122"/>
                <a:cs typeface="Cambria" pitchFamily="34" charset="-120"/>
              </a:rPr>
              <a:t>Clinical decision making</a:t>
            </a:r>
            <a:endParaRPr lang="en-US" sz="1550" dirty="0"/>
          </a:p>
        </p:txBody>
      </p:sp>
      <p:sp>
        <p:nvSpPr>
          <p:cNvPr id="13" name="Text 11"/>
          <p:cNvSpPr/>
          <p:nvPr/>
        </p:nvSpPr>
        <p:spPr>
          <a:xfrm>
            <a:off x="804672" y="4251960"/>
            <a:ext cx="4892040" cy="1188720"/>
          </a:xfrm>
          <a:prstGeom prst="rect">
            <a:avLst/>
          </a:prstGeom>
          <a:noFill/>
          <a:ln/>
        </p:spPr>
        <p:txBody>
          <a:bodyPr wrap="square" lIns="0" tIns="0" rIns="0" bIns="0" rtlCol="0" anchor="t"/>
          <a:lstStyle/>
          <a:p>
            <a:pPr indent="0" marL="0">
              <a:buNone/>
            </a:pPr>
            <a:r>
              <a:rPr lang="en-US" sz="1300" dirty="0">
                <a:solidFill>
                  <a:srgbClr val="10263B"/>
                </a:solidFill>
                <a:latin typeface="Calibri" pitchFamily="34" charset="0"/>
                <a:ea typeface="Calibri" pitchFamily="34" charset="-122"/>
                <a:cs typeface="Calibri" pitchFamily="34" charset="-120"/>
              </a:rPr>
              <a:t>Treatment policies over a course of care, where each decision changes the state the next decision is made in.</a:t>
            </a:r>
            <a:endParaRPr lang="en-US" sz="1300" dirty="0"/>
          </a:p>
        </p:txBody>
      </p:sp>
      <p:sp>
        <p:nvSpPr>
          <p:cNvPr id="14" name="Shape 12"/>
          <p:cNvSpPr/>
          <p:nvPr/>
        </p:nvSpPr>
        <p:spPr>
          <a:xfrm>
            <a:off x="6144768" y="3703320"/>
            <a:ext cx="5349240" cy="1874520"/>
          </a:xfrm>
          <a:prstGeom prst="roundRect">
            <a:avLst>
              <a:gd name="adj" fmla="val 4390"/>
            </a:avLst>
          </a:prstGeom>
          <a:solidFill>
            <a:srgbClr val="10263B"/>
          </a:solidFill>
          <a:ln/>
          <a:effectLst>
            <a:outerShdw sx="100000" sy="100000" kx="0" ky="0" algn="bl" rotWithShape="0" blurRad="101600" dist="17780" dir="5400000">
              <a:srgbClr val="9FB2BF">
                <a:alpha val="20000"/>
              </a:srgbClr>
            </a:outerShdw>
          </a:effectLst>
        </p:spPr>
      </p:sp>
      <p:sp>
        <p:nvSpPr>
          <p:cNvPr id="15" name="Text 13"/>
          <p:cNvSpPr/>
          <p:nvPr/>
        </p:nvSpPr>
        <p:spPr>
          <a:xfrm>
            <a:off x="6382512" y="3849624"/>
            <a:ext cx="4892040" cy="347472"/>
          </a:xfrm>
          <a:prstGeom prst="rect">
            <a:avLst/>
          </a:prstGeom>
          <a:noFill/>
          <a:ln/>
        </p:spPr>
        <p:txBody>
          <a:bodyPr wrap="square" lIns="0" tIns="0" rIns="0" bIns="0" rtlCol="0" anchor="ctr"/>
          <a:lstStyle/>
          <a:p>
            <a:pPr indent="0" marL="0">
              <a:buNone/>
            </a:pPr>
            <a:r>
              <a:rPr lang="en-US" sz="1550" b="1" dirty="0">
                <a:solidFill>
                  <a:srgbClr val="E0A32E"/>
                </a:solidFill>
                <a:latin typeface="Cambria" pitchFamily="34" charset="0"/>
                <a:ea typeface="Cambria" pitchFamily="34" charset="-122"/>
                <a:cs typeface="Cambria" pitchFamily="34" charset="-120"/>
              </a:rPr>
              <a:t>Security operations</a:t>
            </a:r>
            <a:endParaRPr lang="en-US" sz="1550" dirty="0"/>
          </a:p>
        </p:txBody>
      </p:sp>
      <p:sp>
        <p:nvSpPr>
          <p:cNvPr id="16" name="Text 14"/>
          <p:cNvSpPr/>
          <p:nvPr/>
        </p:nvSpPr>
        <p:spPr>
          <a:xfrm>
            <a:off x="6382512" y="4251960"/>
            <a:ext cx="4892040" cy="1188720"/>
          </a:xfrm>
          <a:prstGeom prst="rect">
            <a:avLst/>
          </a:prstGeom>
          <a:noFill/>
          <a:ln/>
        </p:spPr>
        <p:txBody>
          <a:bodyPr wrap="square" lIns="0" tIns="0" rIns="0" bIns="0" rtlCol="0" anchor="t"/>
          <a:lstStyle/>
          <a:p>
            <a:pPr indent="0" marL="0">
              <a:buNone/>
            </a:pPr>
            <a:r>
              <a:rPr lang="en-US" sz="1300" dirty="0">
                <a:solidFill>
                  <a:srgbClr val="DCE7EE"/>
                </a:solidFill>
                <a:latin typeface="Calibri" pitchFamily="34" charset="0"/>
                <a:ea typeface="Calibri" pitchFamily="34" charset="-122"/>
                <a:cs typeface="Calibri" pitchFamily="34" charset="-120"/>
              </a:rPr>
              <a:t>Contain a suspicious account now, or gather more evidence first? Containment has a certain cost in disruption; waiting risks lateral movement with some probability. States are investigation stages, actions are response steps, and the discount encodes how fast an incident can escalate.</a:t>
            </a:r>
            <a:endParaRPr lang="en-US" sz="1300" dirty="0"/>
          </a:p>
        </p:txBody>
      </p:sp>
      <p:sp>
        <p:nvSpPr>
          <p:cNvPr id="17" name="Text 15"/>
          <p:cNvSpPr/>
          <p:nvPr/>
        </p:nvSpPr>
        <p:spPr>
          <a:xfrm>
            <a:off x="566928" y="5760720"/>
            <a:ext cx="11057839" cy="457200"/>
          </a:xfrm>
          <a:prstGeom prst="rect">
            <a:avLst/>
          </a:prstGeom>
          <a:noFill/>
          <a:ln/>
        </p:spPr>
        <p:txBody>
          <a:bodyPr wrap="square" lIns="0" tIns="0" rIns="0" bIns="0" rtlCol="0" anchor="ctr"/>
          <a:lstStyle/>
          <a:p>
            <a:pPr algn="ctr" indent="0" marL="0">
              <a:buNone/>
            </a:pPr>
            <a:r>
              <a:rPr lang="en-US" sz="1350" i="1" dirty="0">
                <a:solidFill>
                  <a:srgbClr val="5C7080"/>
                </a:solidFill>
                <a:latin typeface="Calibri" pitchFamily="34" charset="0"/>
                <a:ea typeface="Calibri" pitchFamily="34" charset="-122"/>
                <a:cs typeface="Calibri" pitchFamily="34" charset="-120"/>
              </a:rPr>
              <a:t>The introduction of uncertainty is what brings MDPs closer to the real world than deterministic search. That is also what makes getting the reward function right so consequential.</a:t>
            </a:r>
            <a:endParaRPr lang="en-US" sz="13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Common mistakes, and how to avoid them</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65</a:t>
            </a:r>
            <a:endParaRPr lang="en-US" sz="900" dirty="0"/>
          </a:p>
        </p:txBody>
      </p:sp>
      <p:sp>
        <p:nvSpPr>
          <p:cNvPr id="5" name="Shape 3"/>
          <p:cNvSpPr/>
          <p:nvPr/>
        </p:nvSpPr>
        <p:spPr>
          <a:xfrm>
            <a:off x="566928" y="1481328"/>
            <a:ext cx="5349240" cy="1389888"/>
          </a:xfrm>
          <a:prstGeom prst="roundRect">
            <a:avLst>
              <a:gd name="adj" fmla="val 5921"/>
            </a:avLst>
          </a:prstGeom>
          <a:solidFill>
            <a:srgbClr val="F7FAFB"/>
          </a:solidFill>
          <a:ln w="12700">
            <a:solidFill>
              <a:srgbClr val="D3DDE3"/>
            </a:solidFill>
            <a:prstDash val="solid"/>
          </a:ln>
        </p:spPr>
      </p:sp>
      <p:sp>
        <p:nvSpPr>
          <p:cNvPr id="6" name="Shape 4"/>
          <p:cNvSpPr/>
          <p:nvPr/>
        </p:nvSpPr>
        <p:spPr>
          <a:xfrm>
            <a:off x="768096" y="1664208"/>
            <a:ext cx="137160" cy="384048"/>
          </a:xfrm>
          <a:prstGeom prst="roundRect">
            <a:avLst>
              <a:gd name="adj" fmla="val 33333"/>
            </a:avLst>
          </a:prstGeom>
          <a:solidFill>
            <a:srgbClr val="B3341F"/>
          </a:solidFill>
          <a:ln/>
        </p:spPr>
      </p:sp>
      <p:sp>
        <p:nvSpPr>
          <p:cNvPr id="7" name="Text 5"/>
          <p:cNvSpPr/>
          <p:nvPr/>
        </p:nvSpPr>
        <p:spPr>
          <a:xfrm>
            <a:off x="1078992" y="1609344"/>
            <a:ext cx="4663440" cy="475488"/>
          </a:xfrm>
          <a:prstGeom prst="rect">
            <a:avLst/>
          </a:prstGeom>
          <a:noFill/>
          <a:ln/>
        </p:spPr>
        <p:txBody>
          <a:bodyPr wrap="square" lIns="0" tIns="0" rIns="0" bIns="0" rtlCol="0" anchor="ctr"/>
          <a:lstStyle/>
          <a:p>
            <a:pPr indent="0" marL="0">
              <a:buNone/>
            </a:pPr>
            <a:r>
              <a:rPr lang="en-US" sz="1350" b="1" dirty="0">
                <a:solidFill>
                  <a:srgbClr val="10263B"/>
                </a:solidFill>
                <a:latin typeface="Cambria" pitchFamily="34" charset="0"/>
                <a:ea typeface="Cambria" pitchFamily="34" charset="-122"/>
                <a:cs typeface="Cambria" pitchFamily="34" charset="-120"/>
              </a:rPr>
              <a:t>Putting the max inside the sum</a:t>
            </a:r>
            <a:endParaRPr lang="en-US" sz="1350" dirty="0"/>
          </a:p>
        </p:txBody>
      </p:sp>
      <p:sp>
        <p:nvSpPr>
          <p:cNvPr id="8" name="Text 6"/>
          <p:cNvSpPr/>
          <p:nvPr/>
        </p:nvSpPr>
        <p:spPr>
          <a:xfrm>
            <a:off x="1078992" y="2084832"/>
            <a:ext cx="4663440" cy="694944"/>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The max is over actions and belongs outside. The sum is over outcomes and belongs inside. Swapping them means choosing your action after seeing the dice.</a:t>
            </a:r>
            <a:endParaRPr lang="en-US" sz="1200" dirty="0"/>
          </a:p>
        </p:txBody>
      </p:sp>
      <p:sp>
        <p:nvSpPr>
          <p:cNvPr id="9" name="Shape 7"/>
          <p:cNvSpPr/>
          <p:nvPr/>
        </p:nvSpPr>
        <p:spPr>
          <a:xfrm>
            <a:off x="6144768" y="1481328"/>
            <a:ext cx="5349240" cy="1389888"/>
          </a:xfrm>
          <a:prstGeom prst="roundRect">
            <a:avLst>
              <a:gd name="adj" fmla="val 5921"/>
            </a:avLst>
          </a:prstGeom>
          <a:solidFill>
            <a:srgbClr val="F7FAFB"/>
          </a:solidFill>
          <a:ln w="12700">
            <a:solidFill>
              <a:srgbClr val="D3DDE3"/>
            </a:solidFill>
            <a:prstDash val="solid"/>
          </a:ln>
        </p:spPr>
      </p:sp>
      <p:sp>
        <p:nvSpPr>
          <p:cNvPr id="10" name="Shape 8"/>
          <p:cNvSpPr/>
          <p:nvPr/>
        </p:nvSpPr>
        <p:spPr>
          <a:xfrm>
            <a:off x="6345936" y="1664208"/>
            <a:ext cx="137160" cy="384048"/>
          </a:xfrm>
          <a:prstGeom prst="roundRect">
            <a:avLst>
              <a:gd name="adj" fmla="val 33333"/>
            </a:avLst>
          </a:prstGeom>
          <a:solidFill>
            <a:srgbClr val="B3341F"/>
          </a:solidFill>
          <a:ln/>
        </p:spPr>
      </p:sp>
      <p:sp>
        <p:nvSpPr>
          <p:cNvPr id="11" name="Text 9"/>
          <p:cNvSpPr/>
          <p:nvPr/>
        </p:nvSpPr>
        <p:spPr>
          <a:xfrm>
            <a:off x="6656832" y="1609344"/>
            <a:ext cx="4663440" cy="475488"/>
          </a:xfrm>
          <a:prstGeom prst="rect">
            <a:avLst/>
          </a:prstGeom>
          <a:noFill/>
          <a:ln/>
        </p:spPr>
        <p:txBody>
          <a:bodyPr wrap="square" lIns="0" tIns="0" rIns="0" bIns="0" rtlCol="0" anchor="ctr"/>
          <a:lstStyle/>
          <a:p>
            <a:pPr indent="0" marL="0">
              <a:buNone/>
            </a:pPr>
            <a:r>
              <a:rPr lang="en-US" sz="1350" b="1" dirty="0">
                <a:solidFill>
                  <a:srgbClr val="10263B"/>
                </a:solidFill>
                <a:latin typeface="Cambria" pitchFamily="34" charset="0"/>
                <a:ea typeface="Cambria" pitchFamily="34" charset="-122"/>
                <a:cs typeface="Cambria" pitchFamily="34" charset="-120"/>
              </a:rPr>
              <a:t>Pulling R outside the expectation</a:t>
            </a:r>
            <a:endParaRPr lang="en-US" sz="1350" dirty="0"/>
          </a:p>
        </p:txBody>
      </p:sp>
      <p:sp>
        <p:nvSpPr>
          <p:cNvPr id="12" name="Text 10"/>
          <p:cNvSpPr/>
          <p:nvPr/>
        </p:nvSpPr>
        <p:spPr>
          <a:xfrm>
            <a:off x="6656832" y="2084832"/>
            <a:ext cx="4663440" cy="694944"/>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R depends on s', so it must be averaged too. It only comes out when the reward is independent of the outcome.</a:t>
            </a:r>
            <a:endParaRPr lang="en-US" sz="1200" dirty="0"/>
          </a:p>
        </p:txBody>
      </p:sp>
      <p:sp>
        <p:nvSpPr>
          <p:cNvPr id="13" name="Shape 11"/>
          <p:cNvSpPr/>
          <p:nvPr/>
        </p:nvSpPr>
        <p:spPr>
          <a:xfrm>
            <a:off x="566928" y="3054096"/>
            <a:ext cx="5349240" cy="1389888"/>
          </a:xfrm>
          <a:prstGeom prst="roundRect">
            <a:avLst>
              <a:gd name="adj" fmla="val 5921"/>
            </a:avLst>
          </a:prstGeom>
          <a:solidFill>
            <a:srgbClr val="F7FAFB"/>
          </a:solidFill>
          <a:ln w="12700">
            <a:solidFill>
              <a:srgbClr val="D3DDE3"/>
            </a:solidFill>
            <a:prstDash val="solid"/>
          </a:ln>
        </p:spPr>
      </p:sp>
      <p:sp>
        <p:nvSpPr>
          <p:cNvPr id="14" name="Shape 12"/>
          <p:cNvSpPr/>
          <p:nvPr/>
        </p:nvSpPr>
        <p:spPr>
          <a:xfrm>
            <a:off x="768096" y="3236976"/>
            <a:ext cx="137160" cy="384048"/>
          </a:xfrm>
          <a:prstGeom prst="roundRect">
            <a:avLst>
              <a:gd name="adj" fmla="val 33333"/>
            </a:avLst>
          </a:prstGeom>
          <a:solidFill>
            <a:srgbClr val="B3341F"/>
          </a:solidFill>
          <a:ln/>
        </p:spPr>
      </p:sp>
      <p:sp>
        <p:nvSpPr>
          <p:cNvPr id="15" name="Text 13"/>
          <p:cNvSpPr/>
          <p:nvPr/>
        </p:nvSpPr>
        <p:spPr>
          <a:xfrm>
            <a:off x="1078992" y="3182112"/>
            <a:ext cx="4663440" cy="475488"/>
          </a:xfrm>
          <a:prstGeom prst="rect">
            <a:avLst/>
          </a:prstGeom>
          <a:noFill/>
          <a:ln/>
        </p:spPr>
        <p:txBody>
          <a:bodyPr wrap="square" lIns="0" tIns="0" rIns="0" bIns="0" rtlCol="0" anchor="ctr"/>
          <a:lstStyle/>
          <a:p>
            <a:pPr indent="0" marL="0">
              <a:buNone/>
            </a:pPr>
            <a:r>
              <a:rPr lang="en-US" sz="1350" b="1" dirty="0">
                <a:solidFill>
                  <a:srgbClr val="10263B"/>
                </a:solidFill>
                <a:latin typeface="Cambria" pitchFamily="34" charset="0"/>
                <a:ea typeface="Cambria" pitchFamily="34" charset="-122"/>
                <a:cs typeface="Cambria" pitchFamily="34" charset="-120"/>
              </a:rPr>
              <a:t>Confusing V-pi with V*</a:t>
            </a:r>
            <a:endParaRPr lang="en-US" sz="1350" dirty="0"/>
          </a:p>
        </p:txBody>
      </p:sp>
      <p:sp>
        <p:nvSpPr>
          <p:cNvPr id="16" name="Text 14"/>
          <p:cNvSpPr/>
          <p:nvPr/>
        </p:nvSpPr>
        <p:spPr>
          <a:xfrm>
            <a:off x="1078992" y="3657600"/>
            <a:ext cx="4663440" cy="694944"/>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V-pi is the value of a specific policy, possibly a bad one. V* is the value of the best policy. Policy evaluation gives the first; value iteration gives the second.</a:t>
            </a:r>
            <a:endParaRPr lang="en-US" sz="1200" dirty="0"/>
          </a:p>
        </p:txBody>
      </p:sp>
      <p:sp>
        <p:nvSpPr>
          <p:cNvPr id="17" name="Shape 15"/>
          <p:cNvSpPr/>
          <p:nvPr/>
        </p:nvSpPr>
        <p:spPr>
          <a:xfrm>
            <a:off x="6144768" y="3054096"/>
            <a:ext cx="5349240" cy="1389888"/>
          </a:xfrm>
          <a:prstGeom prst="roundRect">
            <a:avLst>
              <a:gd name="adj" fmla="val 5921"/>
            </a:avLst>
          </a:prstGeom>
          <a:solidFill>
            <a:srgbClr val="F7FAFB"/>
          </a:solidFill>
          <a:ln w="12700">
            <a:solidFill>
              <a:srgbClr val="D3DDE3"/>
            </a:solidFill>
            <a:prstDash val="solid"/>
          </a:ln>
        </p:spPr>
      </p:sp>
      <p:sp>
        <p:nvSpPr>
          <p:cNvPr id="18" name="Shape 16"/>
          <p:cNvSpPr/>
          <p:nvPr/>
        </p:nvSpPr>
        <p:spPr>
          <a:xfrm>
            <a:off x="6345936" y="3236976"/>
            <a:ext cx="137160" cy="384048"/>
          </a:xfrm>
          <a:prstGeom prst="roundRect">
            <a:avLst>
              <a:gd name="adj" fmla="val 33333"/>
            </a:avLst>
          </a:prstGeom>
          <a:solidFill>
            <a:srgbClr val="B3341F"/>
          </a:solidFill>
          <a:ln/>
        </p:spPr>
      </p:sp>
      <p:sp>
        <p:nvSpPr>
          <p:cNvPr id="19" name="Text 17"/>
          <p:cNvSpPr/>
          <p:nvPr/>
        </p:nvSpPr>
        <p:spPr>
          <a:xfrm>
            <a:off x="6656832" y="3182112"/>
            <a:ext cx="4663440" cy="475488"/>
          </a:xfrm>
          <a:prstGeom prst="rect">
            <a:avLst/>
          </a:prstGeom>
          <a:noFill/>
          <a:ln/>
        </p:spPr>
        <p:txBody>
          <a:bodyPr wrap="square" lIns="0" tIns="0" rIns="0" bIns="0" rtlCol="0" anchor="ctr"/>
          <a:lstStyle/>
          <a:p>
            <a:pPr indent="0" marL="0">
              <a:buNone/>
            </a:pPr>
            <a:r>
              <a:rPr lang="en-US" sz="1350" b="1" dirty="0">
                <a:solidFill>
                  <a:srgbClr val="10263B"/>
                </a:solidFill>
                <a:latin typeface="Cambria" pitchFamily="34" charset="0"/>
                <a:ea typeface="Cambria" pitchFamily="34" charset="-122"/>
                <a:cs typeface="Cambria" pitchFamily="34" charset="-120"/>
              </a:rPr>
              <a:t>Forgetting the wall-bounce probability</a:t>
            </a:r>
            <a:endParaRPr lang="en-US" sz="1350" dirty="0"/>
          </a:p>
        </p:txBody>
      </p:sp>
      <p:sp>
        <p:nvSpPr>
          <p:cNvPr id="20" name="Text 18"/>
          <p:cNvSpPr/>
          <p:nvPr/>
        </p:nvSpPr>
        <p:spPr>
          <a:xfrm>
            <a:off x="6656832" y="3657600"/>
            <a:ext cx="4663440" cy="694944"/>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When a slip direction is blocked, that probability mass returns to the current state. Collect duplicate successors before averaging or your probabilities will not sum to one.</a:t>
            </a:r>
            <a:endParaRPr lang="en-US" sz="1200" dirty="0"/>
          </a:p>
        </p:txBody>
      </p:sp>
      <p:sp>
        <p:nvSpPr>
          <p:cNvPr id="21" name="Shape 19"/>
          <p:cNvSpPr/>
          <p:nvPr/>
        </p:nvSpPr>
        <p:spPr>
          <a:xfrm>
            <a:off x="566928" y="4626864"/>
            <a:ext cx="5349240" cy="1389888"/>
          </a:xfrm>
          <a:prstGeom prst="roundRect">
            <a:avLst>
              <a:gd name="adj" fmla="val 5921"/>
            </a:avLst>
          </a:prstGeom>
          <a:solidFill>
            <a:srgbClr val="F7FAFB"/>
          </a:solidFill>
          <a:ln w="12700">
            <a:solidFill>
              <a:srgbClr val="D3DDE3"/>
            </a:solidFill>
            <a:prstDash val="solid"/>
          </a:ln>
        </p:spPr>
      </p:sp>
      <p:sp>
        <p:nvSpPr>
          <p:cNvPr id="22" name="Shape 20"/>
          <p:cNvSpPr/>
          <p:nvPr/>
        </p:nvSpPr>
        <p:spPr>
          <a:xfrm>
            <a:off x="768096" y="4809744"/>
            <a:ext cx="137160" cy="384048"/>
          </a:xfrm>
          <a:prstGeom prst="roundRect">
            <a:avLst>
              <a:gd name="adj" fmla="val 33333"/>
            </a:avLst>
          </a:prstGeom>
          <a:solidFill>
            <a:srgbClr val="B3341F"/>
          </a:solidFill>
          <a:ln/>
        </p:spPr>
      </p:sp>
      <p:sp>
        <p:nvSpPr>
          <p:cNvPr id="23" name="Text 21"/>
          <p:cNvSpPr/>
          <p:nvPr/>
        </p:nvSpPr>
        <p:spPr>
          <a:xfrm>
            <a:off x="1078992" y="4754880"/>
            <a:ext cx="4663440" cy="475488"/>
          </a:xfrm>
          <a:prstGeom prst="rect">
            <a:avLst/>
          </a:prstGeom>
          <a:noFill/>
          <a:ln/>
        </p:spPr>
        <p:txBody>
          <a:bodyPr wrap="square" lIns="0" tIns="0" rIns="0" bIns="0" rtlCol="0" anchor="ctr"/>
          <a:lstStyle/>
          <a:p>
            <a:pPr indent="0" marL="0">
              <a:buNone/>
            </a:pPr>
            <a:r>
              <a:rPr lang="en-US" sz="1350" b="1" dirty="0">
                <a:solidFill>
                  <a:srgbClr val="10263B"/>
                </a:solidFill>
                <a:latin typeface="Cambria" pitchFamily="34" charset="0"/>
                <a:ea typeface="Cambria" pitchFamily="34" charset="-122"/>
                <a:cs typeface="Cambria" pitchFamily="34" charset="-120"/>
              </a:rPr>
              <a:t>Treating gamma as a tuning knob</a:t>
            </a:r>
            <a:endParaRPr lang="en-US" sz="1350" dirty="0"/>
          </a:p>
        </p:txBody>
      </p:sp>
      <p:sp>
        <p:nvSpPr>
          <p:cNvPr id="24" name="Text 22"/>
          <p:cNvSpPr/>
          <p:nvPr/>
        </p:nvSpPr>
        <p:spPr>
          <a:xfrm>
            <a:off x="1078992" y="5230368"/>
            <a:ext cx="4663440" cy="694944"/>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Gamma is part of the problem statement. Changing it to speed up convergence changes which policy is optimal.</a:t>
            </a:r>
            <a:endParaRPr lang="en-US" sz="1200" dirty="0"/>
          </a:p>
        </p:txBody>
      </p:sp>
      <p:sp>
        <p:nvSpPr>
          <p:cNvPr id="25" name="Shape 23"/>
          <p:cNvSpPr/>
          <p:nvPr/>
        </p:nvSpPr>
        <p:spPr>
          <a:xfrm>
            <a:off x="6144768" y="4626864"/>
            <a:ext cx="5349240" cy="1389888"/>
          </a:xfrm>
          <a:prstGeom prst="roundRect">
            <a:avLst>
              <a:gd name="adj" fmla="val 5921"/>
            </a:avLst>
          </a:prstGeom>
          <a:solidFill>
            <a:srgbClr val="F7FAFB"/>
          </a:solidFill>
          <a:ln w="12700">
            <a:solidFill>
              <a:srgbClr val="D3DDE3"/>
            </a:solidFill>
            <a:prstDash val="solid"/>
          </a:ln>
        </p:spPr>
      </p:sp>
      <p:sp>
        <p:nvSpPr>
          <p:cNvPr id="26" name="Shape 24"/>
          <p:cNvSpPr/>
          <p:nvPr/>
        </p:nvSpPr>
        <p:spPr>
          <a:xfrm>
            <a:off x="6345936" y="4809744"/>
            <a:ext cx="137160" cy="384048"/>
          </a:xfrm>
          <a:prstGeom prst="roundRect">
            <a:avLst>
              <a:gd name="adj" fmla="val 33333"/>
            </a:avLst>
          </a:prstGeom>
          <a:solidFill>
            <a:srgbClr val="B3341F"/>
          </a:solidFill>
          <a:ln/>
        </p:spPr>
      </p:sp>
      <p:sp>
        <p:nvSpPr>
          <p:cNvPr id="27" name="Text 25"/>
          <p:cNvSpPr/>
          <p:nvPr/>
        </p:nvSpPr>
        <p:spPr>
          <a:xfrm>
            <a:off x="6656832" y="4754880"/>
            <a:ext cx="4663440" cy="475488"/>
          </a:xfrm>
          <a:prstGeom prst="rect">
            <a:avLst/>
          </a:prstGeom>
          <a:noFill/>
          <a:ln/>
        </p:spPr>
        <p:txBody>
          <a:bodyPr wrap="square" lIns="0" tIns="0" rIns="0" bIns="0" rtlCol="0" anchor="ctr"/>
          <a:lstStyle/>
          <a:p>
            <a:pPr indent="0" marL="0">
              <a:buNone/>
            </a:pPr>
            <a:r>
              <a:rPr lang="en-US" sz="1350" b="1" dirty="0">
                <a:solidFill>
                  <a:srgbClr val="10263B"/>
                </a:solidFill>
                <a:latin typeface="Cambria" pitchFamily="34" charset="0"/>
                <a:ea typeface="Cambria" pitchFamily="34" charset="-122"/>
                <a:cs typeface="Cambria" pitchFamily="34" charset="-120"/>
              </a:rPr>
              <a:t>Assuming a fixed policy means no randomness</a:t>
            </a:r>
            <a:endParaRPr lang="en-US" sz="1350" dirty="0"/>
          </a:p>
        </p:txBody>
      </p:sp>
      <p:sp>
        <p:nvSpPr>
          <p:cNvPr id="28" name="Text 26"/>
          <p:cNvSpPr/>
          <p:nvPr/>
        </p:nvSpPr>
        <p:spPr>
          <a:xfrm>
            <a:off x="6656832" y="5230368"/>
            <a:ext cx="4663440" cy="694944"/>
          </a:xfrm>
          <a:prstGeom prst="rect">
            <a:avLst/>
          </a:prstGeom>
          <a:noFill/>
          <a:ln/>
        </p:spPr>
        <p:txBody>
          <a:bodyPr wrap="square" lIns="0" tIns="0" rIns="0" bIns="0" rtlCol="0" anchor="t"/>
          <a:lstStyle/>
          <a:p>
            <a:pPr indent="0" marL="0">
              <a:buNone/>
            </a:pPr>
            <a:r>
              <a:rPr lang="en-US" sz="1200" dirty="0">
                <a:solidFill>
                  <a:srgbClr val="5C7080"/>
                </a:solidFill>
                <a:latin typeface="Calibri" pitchFamily="34" charset="0"/>
                <a:ea typeface="Calibri" pitchFamily="34" charset="-122"/>
                <a:cs typeface="Calibri" pitchFamily="34" charset="-120"/>
              </a:rPr>
              <a:t>Fixing pi removes the choice, not the stochastic transitions. The chance nodes are still there.</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57839" cy="713232"/>
          </a:xfrm>
          <a:prstGeom prst="rect">
            <a:avLst/>
          </a:prstGeom>
          <a:noFill/>
          <a:ln/>
        </p:spPr>
        <p:txBody>
          <a:bodyPr wrap="square" lIns="0" tIns="0" rIns="0" bIns="0" rtlCol="0" anchor="ctr"/>
          <a:lstStyle/>
          <a:p>
            <a:pPr indent="0" marL="0">
              <a:buNone/>
            </a:pPr>
            <a:r>
              <a:rPr lang="en-US" sz="3000" b="1" dirty="0">
                <a:solidFill>
                  <a:srgbClr val="10263B"/>
                </a:solidFill>
                <a:latin typeface="Cambria" pitchFamily="34" charset="0"/>
                <a:ea typeface="Cambria" pitchFamily="34" charset="-122"/>
                <a:cs typeface="Cambria" pitchFamily="34" charset="-120"/>
              </a:rPr>
              <a:t>One page, everything</a:t>
            </a:r>
            <a:endParaRPr lang="en-US" sz="3000" dirty="0"/>
          </a:p>
        </p:txBody>
      </p:sp>
      <p:sp>
        <p:nvSpPr>
          <p:cNvPr id="3" name="Text 1"/>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COMP 469  |  Markov Decision Processes II</a:t>
            </a:r>
            <a:endParaRPr lang="en-US" sz="900" dirty="0"/>
          </a:p>
        </p:txBody>
      </p:sp>
      <p:sp>
        <p:nvSpPr>
          <p:cNvPr id="4" name="Text 2"/>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66</a:t>
            </a:r>
            <a:endParaRPr lang="en-US" sz="900" dirty="0"/>
          </a:p>
        </p:txBody>
      </p:sp>
      <p:sp>
        <p:nvSpPr>
          <p:cNvPr id="5" name="Shape 3"/>
          <p:cNvSpPr/>
          <p:nvPr/>
        </p:nvSpPr>
        <p:spPr>
          <a:xfrm>
            <a:off x="566928" y="1371600"/>
            <a:ext cx="11057839" cy="475488"/>
          </a:xfrm>
          <a:prstGeom prst="roundRect">
            <a:avLst>
              <a:gd name="adj" fmla="val 17308"/>
            </a:avLst>
          </a:prstGeom>
          <a:solidFill>
            <a:srgbClr val="EDF2F5"/>
          </a:solidFill>
          <a:ln/>
        </p:spPr>
      </p:sp>
      <p:sp>
        <p:nvSpPr>
          <p:cNvPr id="6" name="Text 4"/>
          <p:cNvSpPr/>
          <p:nvPr/>
        </p:nvSpPr>
        <p:spPr>
          <a:xfrm>
            <a:off x="786384" y="1371600"/>
            <a:ext cx="3063240" cy="475488"/>
          </a:xfrm>
          <a:prstGeom prst="rect">
            <a:avLst/>
          </a:prstGeom>
          <a:noFill/>
          <a:ln/>
        </p:spPr>
        <p:txBody>
          <a:bodyPr wrap="square" lIns="0" tIns="0" rIns="0" bIns="0" rtlCol="0" anchor="ctr"/>
          <a:lstStyle/>
          <a:p>
            <a:pPr indent="0" marL="0">
              <a:buNone/>
            </a:pPr>
            <a:r>
              <a:rPr lang="en-US" sz="1250" b="1" dirty="0">
                <a:solidFill>
                  <a:srgbClr val="10263B"/>
                </a:solidFill>
                <a:latin typeface="Calibri" pitchFamily="34" charset="0"/>
                <a:ea typeface="Calibri" pitchFamily="34" charset="-122"/>
                <a:cs typeface="Calibri" pitchFamily="34" charset="-120"/>
              </a:rPr>
              <a:t>Bellman, values</a:t>
            </a:r>
            <a:endParaRPr lang="en-US" sz="1250" dirty="0"/>
          </a:p>
        </p:txBody>
      </p:sp>
      <p:sp>
        <p:nvSpPr>
          <p:cNvPr id="7" name="Text 5"/>
          <p:cNvSpPr/>
          <p:nvPr/>
        </p:nvSpPr>
        <p:spPr>
          <a:xfrm>
            <a:off x="3950208" y="137160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V</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 = 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T(s,a,s')[R(s,a,s') + γV</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a:t>
            </a:r>
            <a:endParaRPr lang="en-US" sz="1300" dirty="0"/>
          </a:p>
        </p:txBody>
      </p:sp>
      <p:sp>
        <p:nvSpPr>
          <p:cNvPr id="8" name="Shape 6"/>
          <p:cNvSpPr/>
          <p:nvPr/>
        </p:nvSpPr>
        <p:spPr>
          <a:xfrm>
            <a:off x="566928" y="1920240"/>
            <a:ext cx="11057839" cy="475488"/>
          </a:xfrm>
          <a:prstGeom prst="roundRect">
            <a:avLst>
              <a:gd name="adj" fmla="val 17308"/>
            </a:avLst>
          </a:prstGeom>
          <a:solidFill>
            <a:srgbClr val="F7FAFB"/>
          </a:solidFill>
          <a:ln/>
        </p:spPr>
      </p:sp>
      <p:sp>
        <p:nvSpPr>
          <p:cNvPr id="9" name="Text 7"/>
          <p:cNvSpPr/>
          <p:nvPr/>
        </p:nvSpPr>
        <p:spPr>
          <a:xfrm>
            <a:off x="786384" y="1920240"/>
            <a:ext cx="3063240" cy="475488"/>
          </a:xfrm>
          <a:prstGeom prst="rect">
            <a:avLst/>
          </a:prstGeom>
          <a:noFill/>
          <a:ln/>
        </p:spPr>
        <p:txBody>
          <a:bodyPr wrap="square" lIns="0" tIns="0" rIns="0" bIns="0" rtlCol="0" anchor="ctr"/>
          <a:lstStyle/>
          <a:p>
            <a:pPr indent="0" marL="0">
              <a:buNone/>
            </a:pPr>
            <a:r>
              <a:rPr lang="en-US" sz="1250" b="1" dirty="0">
                <a:solidFill>
                  <a:srgbClr val="10263B"/>
                </a:solidFill>
                <a:latin typeface="Calibri" pitchFamily="34" charset="0"/>
                <a:ea typeface="Calibri" pitchFamily="34" charset="-122"/>
                <a:cs typeface="Calibri" pitchFamily="34" charset="-120"/>
              </a:rPr>
              <a:t>Bellman, Q-values</a:t>
            </a:r>
            <a:endParaRPr lang="en-US" sz="1250" dirty="0"/>
          </a:p>
        </p:txBody>
      </p:sp>
      <p:sp>
        <p:nvSpPr>
          <p:cNvPr id="10" name="Text 8"/>
          <p:cNvSpPr/>
          <p:nvPr/>
        </p:nvSpPr>
        <p:spPr>
          <a:xfrm>
            <a:off x="3950208" y="192024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Q</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(s,a) =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T(s,a,s')[R(s,a,s') + γ 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Q</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(s',a')]</a:t>
            </a:r>
            <a:endParaRPr lang="en-US" sz="1300" dirty="0"/>
          </a:p>
        </p:txBody>
      </p:sp>
      <p:sp>
        <p:nvSpPr>
          <p:cNvPr id="11" name="Shape 9"/>
          <p:cNvSpPr/>
          <p:nvPr/>
        </p:nvSpPr>
        <p:spPr>
          <a:xfrm>
            <a:off x="566928" y="2468880"/>
            <a:ext cx="11057839" cy="475488"/>
          </a:xfrm>
          <a:prstGeom prst="roundRect">
            <a:avLst>
              <a:gd name="adj" fmla="val 17308"/>
            </a:avLst>
          </a:prstGeom>
          <a:solidFill>
            <a:srgbClr val="EDF2F5"/>
          </a:solidFill>
          <a:ln/>
        </p:spPr>
      </p:sp>
      <p:sp>
        <p:nvSpPr>
          <p:cNvPr id="12" name="Text 10"/>
          <p:cNvSpPr/>
          <p:nvPr/>
        </p:nvSpPr>
        <p:spPr>
          <a:xfrm>
            <a:off x="786384" y="2468880"/>
            <a:ext cx="3063240" cy="475488"/>
          </a:xfrm>
          <a:prstGeom prst="rect">
            <a:avLst/>
          </a:prstGeom>
          <a:noFill/>
          <a:ln/>
        </p:spPr>
        <p:txBody>
          <a:bodyPr wrap="square" lIns="0" tIns="0" rIns="0" bIns="0" rtlCol="0" anchor="ctr"/>
          <a:lstStyle/>
          <a:p>
            <a:pPr indent="0" marL="0">
              <a:buNone/>
            </a:pPr>
            <a:r>
              <a:rPr lang="en-US" sz="1250" b="1" dirty="0">
                <a:solidFill>
                  <a:srgbClr val="1C7293"/>
                </a:solidFill>
                <a:latin typeface="Calibri" pitchFamily="34" charset="0"/>
                <a:ea typeface="Calibri" pitchFamily="34" charset="-122"/>
                <a:cs typeface="Calibri" pitchFamily="34" charset="-120"/>
              </a:rPr>
              <a:t>Value iteration</a:t>
            </a:r>
            <a:endParaRPr lang="en-US" sz="1250" dirty="0"/>
          </a:p>
        </p:txBody>
      </p:sp>
      <p:sp>
        <p:nvSpPr>
          <p:cNvPr id="13" name="Text 11"/>
          <p:cNvSpPr/>
          <p:nvPr/>
        </p:nvSpPr>
        <p:spPr>
          <a:xfrm>
            <a:off x="3950208" y="246888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V</a:t>
            </a:r>
            <a:pPr indent="0" marL="0">
              <a:buNone/>
            </a:pPr>
            <a:r>
              <a:rPr lang="en-US" sz="1300" baseline="-40000" dirty="0">
                <a:solidFill>
                  <a:srgbClr val="10263B"/>
                </a:solidFill>
                <a:latin typeface="Cambria" pitchFamily="34" charset="0"/>
                <a:ea typeface="Cambria" pitchFamily="34" charset="-122"/>
                <a:cs typeface="Cambria" pitchFamily="34" charset="-120"/>
              </a:rPr>
              <a:t>k+1</a:t>
            </a:r>
            <a:pPr indent="0" marL="0">
              <a:buNone/>
            </a:pPr>
            <a:r>
              <a:rPr lang="en-US" sz="1300" dirty="0">
                <a:solidFill>
                  <a:srgbClr val="10263B"/>
                </a:solidFill>
                <a:latin typeface="Cambria" pitchFamily="34" charset="0"/>
                <a:ea typeface="Cambria" pitchFamily="34" charset="-122"/>
                <a:cs typeface="Cambria" pitchFamily="34" charset="-120"/>
              </a:rPr>
              <a:t>(s) ← 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T(s,a,s')[R(s,a,s') + γV</a:t>
            </a:r>
            <a:pPr indent="0" marL="0">
              <a:buNone/>
            </a:pPr>
            <a:r>
              <a:rPr lang="en-US" sz="1300" baseline="-40000" dirty="0">
                <a:solidFill>
                  <a:srgbClr val="10263B"/>
                </a:solidFill>
                <a:latin typeface="Cambria" pitchFamily="34" charset="0"/>
                <a:ea typeface="Cambria" pitchFamily="34" charset="-122"/>
                <a:cs typeface="Cambria" pitchFamily="34" charset="-120"/>
              </a:rPr>
              <a:t>k</a:t>
            </a:r>
            <a:pPr indent="0" marL="0">
              <a:buNone/>
            </a:pPr>
            <a:r>
              <a:rPr lang="en-US" sz="1300" dirty="0">
                <a:solidFill>
                  <a:srgbClr val="10263B"/>
                </a:solidFill>
                <a:latin typeface="Cambria" pitchFamily="34" charset="0"/>
                <a:ea typeface="Cambria" pitchFamily="34" charset="-122"/>
                <a:cs typeface="Cambria" pitchFamily="34" charset="-120"/>
              </a:rPr>
              <a:t>(s')]</a:t>
            </a:r>
            <a:endParaRPr lang="en-US" sz="1300" dirty="0"/>
          </a:p>
        </p:txBody>
      </p:sp>
      <p:sp>
        <p:nvSpPr>
          <p:cNvPr id="14" name="Shape 12"/>
          <p:cNvSpPr/>
          <p:nvPr/>
        </p:nvSpPr>
        <p:spPr>
          <a:xfrm>
            <a:off x="566928" y="3017520"/>
            <a:ext cx="11057839" cy="475488"/>
          </a:xfrm>
          <a:prstGeom prst="roundRect">
            <a:avLst>
              <a:gd name="adj" fmla="val 17308"/>
            </a:avLst>
          </a:prstGeom>
          <a:solidFill>
            <a:srgbClr val="F7FAFB"/>
          </a:solidFill>
          <a:ln/>
        </p:spPr>
      </p:sp>
      <p:sp>
        <p:nvSpPr>
          <p:cNvPr id="15" name="Text 13"/>
          <p:cNvSpPr/>
          <p:nvPr/>
        </p:nvSpPr>
        <p:spPr>
          <a:xfrm>
            <a:off x="786384" y="3017520"/>
            <a:ext cx="3063240" cy="475488"/>
          </a:xfrm>
          <a:prstGeom prst="rect">
            <a:avLst/>
          </a:prstGeom>
          <a:noFill/>
          <a:ln/>
        </p:spPr>
        <p:txBody>
          <a:bodyPr wrap="square" lIns="0" tIns="0" rIns="0" bIns="0" rtlCol="0" anchor="ctr"/>
          <a:lstStyle/>
          <a:p>
            <a:pPr indent="0" marL="0">
              <a:buNone/>
            </a:pPr>
            <a:r>
              <a:rPr lang="en-US" sz="1250" b="1" dirty="0">
                <a:solidFill>
                  <a:srgbClr val="2E7D5B"/>
                </a:solidFill>
                <a:latin typeface="Calibri" pitchFamily="34" charset="0"/>
                <a:ea typeface="Calibri" pitchFamily="34" charset="-122"/>
                <a:cs typeface="Calibri" pitchFamily="34" charset="-120"/>
              </a:rPr>
              <a:t>Policy evaluation</a:t>
            </a:r>
            <a:endParaRPr lang="en-US" sz="1250" dirty="0"/>
          </a:p>
        </p:txBody>
      </p:sp>
      <p:sp>
        <p:nvSpPr>
          <p:cNvPr id="16" name="Text 14"/>
          <p:cNvSpPr/>
          <p:nvPr/>
        </p:nvSpPr>
        <p:spPr>
          <a:xfrm>
            <a:off x="3950208" y="301752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V</a:t>
            </a:r>
            <a:pPr indent="0" marL="0">
              <a:buNone/>
            </a:pPr>
            <a:r>
              <a:rPr lang="en-US" sz="1300" baseline="30000" dirty="0">
                <a:solidFill>
                  <a:srgbClr val="10263B"/>
                </a:solidFill>
                <a:latin typeface="Cambria" pitchFamily="34" charset="0"/>
                <a:ea typeface="Cambria" pitchFamily="34" charset="-122"/>
                <a:cs typeface="Cambria" pitchFamily="34" charset="-120"/>
              </a:rPr>
              <a:t>π</a:t>
            </a:r>
            <a:pPr indent="0" marL="0">
              <a:buNone/>
            </a:pPr>
            <a:r>
              <a:rPr lang="en-US" sz="1300" baseline="-40000" dirty="0">
                <a:solidFill>
                  <a:srgbClr val="10263B"/>
                </a:solidFill>
                <a:latin typeface="Cambria" pitchFamily="34" charset="0"/>
                <a:ea typeface="Cambria" pitchFamily="34" charset="-122"/>
                <a:cs typeface="Cambria" pitchFamily="34" charset="-120"/>
              </a:rPr>
              <a:t>k+1</a:t>
            </a:r>
            <a:pPr indent="0" marL="0">
              <a:buNone/>
            </a:pPr>
            <a:r>
              <a:rPr lang="en-US" sz="1300" dirty="0">
                <a:solidFill>
                  <a:srgbClr val="10263B"/>
                </a:solidFill>
                <a:latin typeface="Cambria" pitchFamily="34" charset="0"/>
                <a:ea typeface="Cambria" pitchFamily="34" charset="-122"/>
                <a:cs typeface="Cambria" pitchFamily="34" charset="-120"/>
              </a:rPr>
              <a:t>(s) ←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T(s,π(s),s')[R(s,π(s),s') + γV</a:t>
            </a:r>
            <a:pPr indent="0" marL="0">
              <a:buNone/>
            </a:pPr>
            <a:r>
              <a:rPr lang="en-US" sz="1300" baseline="30000" dirty="0">
                <a:solidFill>
                  <a:srgbClr val="10263B"/>
                </a:solidFill>
                <a:latin typeface="Cambria" pitchFamily="34" charset="0"/>
                <a:ea typeface="Cambria" pitchFamily="34" charset="-122"/>
                <a:cs typeface="Cambria" pitchFamily="34" charset="-120"/>
              </a:rPr>
              <a:t>π</a:t>
            </a:r>
            <a:pPr indent="0" marL="0">
              <a:buNone/>
            </a:pPr>
            <a:r>
              <a:rPr lang="en-US" sz="1300" baseline="-40000" dirty="0">
                <a:solidFill>
                  <a:srgbClr val="10263B"/>
                </a:solidFill>
                <a:latin typeface="Cambria" pitchFamily="34" charset="0"/>
                <a:ea typeface="Cambria" pitchFamily="34" charset="-122"/>
                <a:cs typeface="Cambria" pitchFamily="34" charset="-120"/>
              </a:rPr>
              <a:t>k</a:t>
            </a:r>
            <a:pPr indent="0" marL="0">
              <a:buNone/>
            </a:pPr>
            <a:r>
              <a:rPr lang="en-US" sz="1300" dirty="0">
                <a:solidFill>
                  <a:srgbClr val="10263B"/>
                </a:solidFill>
                <a:latin typeface="Cambria" pitchFamily="34" charset="0"/>
                <a:ea typeface="Cambria" pitchFamily="34" charset="-122"/>
                <a:cs typeface="Cambria" pitchFamily="34" charset="-120"/>
              </a:rPr>
              <a:t>(s')]</a:t>
            </a:r>
            <a:endParaRPr lang="en-US" sz="1300" dirty="0"/>
          </a:p>
        </p:txBody>
      </p:sp>
      <p:sp>
        <p:nvSpPr>
          <p:cNvPr id="17" name="Shape 15"/>
          <p:cNvSpPr/>
          <p:nvPr/>
        </p:nvSpPr>
        <p:spPr>
          <a:xfrm>
            <a:off x="566928" y="3566160"/>
            <a:ext cx="11057839" cy="475488"/>
          </a:xfrm>
          <a:prstGeom prst="roundRect">
            <a:avLst>
              <a:gd name="adj" fmla="val 17308"/>
            </a:avLst>
          </a:prstGeom>
          <a:solidFill>
            <a:srgbClr val="EDF2F5"/>
          </a:solidFill>
          <a:ln/>
        </p:spPr>
      </p:sp>
      <p:sp>
        <p:nvSpPr>
          <p:cNvPr id="18" name="Text 16"/>
          <p:cNvSpPr/>
          <p:nvPr/>
        </p:nvSpPr>
        <p:spPr>
          <a:xfrm>
            <a:off x="786384" y="3566160"/>
            <a:ext cx="3063240" cy="475488"/>
          </a:xfrm>
          <a:prstGeom prst="rect">
            <a:avLst/>
          </a:prstGeom>
          <a:noFill/>
          <a:ln/>
        </p:spPr>
        <p:txBody>
          <a:bodyPr wrap="square" lIns="0" tIns="0" rIns="0" bIns="0" rtlCol="0" anchor="ctr"/>
          <a:lstStyle/>
          <a:p>
            <a:pPr indent="0" marL="0">
              <a:buNone/>
            </a:pPr>
            <a:r>
              <a:rPr lang="en-US" sz="1250" b="1" dirty="0">
                <a:solidFill>
                  <a:srgbClr val="E0A32E"/>
                </a:solidFill>
                <a:latin typeface="Calibri" pitchFamily="34" charset="0"/>
                <a:ea typeface="Calibri" pitchFamily="34" charset="-122"/>
                <a:cs typeface="Calibri" pitchFamily="34" charset="-120"/>
              </a:rPr>
              <a:t>Policy extraction, from V</a:t>
            </a:r>
            <a:endParaRPr lang="en-US" sz="1250" dirty="0"/>
          </a:p>
        </p:txBody>
      </p:sp>
      <p:sp>
        <p:nvSpPr>
          <p:cNvPr id="19" name="Text 17"/>
          <p:cNvSpPr/>
          <p:nvPr/>
        </p:nvSpPr>
        <p:spPr>
          <a:xfrm>
            <a:off x="3950208" y="356616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π</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 = argmax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T(s,a,s')[R(s,a,s') + γV</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a:t>
            </a:r>
            <a:endParaRPr lang="en-US" sz="1300" dirty="0"/>
          </a:p>
        </p:txBody>
      </p:sp>
      <p:sp>
        <p:nvSpPr>
          <p:cNvPr id="20" name="Shape 18"/>
          <p:cNvSpPr/>
          <p:nvPr/>
        </p:nvSpPr>
        <p:spPr>
          <a:xfrm>
            <a:off x="566928" y="4114800"/>
            <a:ext cx="11057839" cy="475488"/>
          </a:xfrm>
          <a:prstGeom prst="roundRect">
            <a:avLst>
              <a:gd name="adj" fmla="val 17308"/>
            </a:avLst>
          </a:prstGeom>
          <a:solidFill>
            <a:srgbClr val="F7FAFB"/>
          </a:solidFill>
          <a:ln/>
        </p:spPr>
      </p:sp>
      <p:sp>
        <p:nvSpPr>
          <p:cNvPr id="21" name="Text 19"/>
          <p:cNvSpPr/>
          <p:nvPr/>
        </p:nvSpPr>
        <p:spPr>
          <a:xfrm>
            <a:off x="786384" y="4114800"/>
            <a:ext cx="3063240" cy="475488"/>
          </a:xfrm>
          <a:prstGeom prst="rect">
            <a:avLst/>
          </a:prstGeom>
          <a:noFill/>
          <a:ln/>
        </p:spPr>
        <p:txBody>
          <a:bodyPr wrap="square" lIns="0" tIns="0" rIns="0" bIns="0" rtlCol="0" anchor="ctr"/>
          <a:lstStyle/>
          <a:p>
            <a:pPr indent="0" marL="0">
              <a:buNone/>
            </a:pPr>
            <a:r>
              <a:rPr lang="en-US" sz="1250" b="1" dirty="0">
                <a:solidFill>
                  <a:srgbClr val="E0A32E"/>
                </a:solidFill>
                <a:latin typeface="Calibri" pitchFamily="34" charset="0"/>
                <a:ea typeface="Calibri" pitchFamily="34" charset="-122"/>
                <a:cs typeface="Calibri" pitchFamily="34" charset="-120"/>
              </a:rPr>
              <a:t>Policy extraction, from Q</a:t>
            </a:r>
            <a:endParaRPr lang="en-US" sz="1250" dirty="0"/>
          </a:p>
        </p:txBody>
      </p:sp>
      <p:sp>
        <p:nvSpPr>
          <p:cNvPr id="22" name="Text 20"/>
          <p:cNvSpPr/>
          <p:nvPr/>
        </p:nvSpPr>
        <p:spPr>
          <a:xfrm>
            <a:off x="3950208" y="411480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π</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 = argmax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Q</a:t>
            </a:r>
            <a:pPr indent="0" marL="0">
              <a:buNone/>
            </a:pPr>
            <a:r>
              <a:rPr lang="en-US" sz="1300" baseline="3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(s,a)</a:t>
            </a:r>
            <a:endParaRPr lang="en-US" sz="1300" dirty="0"/>
          </a:p>
        </p:txBody>
      </p:sp>
      <p:sp>
        <p:nvSpPr>
          <p:cNvPr id="23" name="Shape 21"/>
          <p:cNvSpPr/>
          <p:nvPr/>
        </p:nvSpPr>
        <p:spPr>
          <a:xfrm>
            <a:off x="566928" y="4663440"/>
            <a:ext cx="11057839" cy="475488"/>
          </a:xfrm>
          <a:prstGeom prst="roundRect">
            <a:avLst>
              <a:gd name="adj" fmla="val 17308"/>
            </a:avLst>
          </a:prstGeom>
          <a:solidFill>
            <a:srgbClr val="EDF2F5"/>
          </a:solidFill>
          <a:ln/>
        </p:spPr>
      </p:sp>
      <p:sp>
        <p:nvSpPr>
          <p:cNvPr id="24" name="Text 22"/>
          <p:cNvSpPr/>
          <p:nvPr/>
        </p:nvSpPr>
        <p:spPr>
          <a:xfrm>
            <a:off x="786384" y="4663440"/>
            <a:ext cx="3063240" cy="475488"/>
          </a:xfrm>
          <a:prstGeom prst="rect">
            <a:avLst/>
          </a:prstGeom>
          <a:noFill/>
          <a:ln/>
        </p:spPr>
        <p:txBody>
          <a:bodyPr wrap="square" lIns="0" tIns="0" rIns="0" bIns="0" rtlCol="0" anchor="ctr"/>
          <a:lstStyle/>
          <a:p>
            <a:pPr indent="0" marL="0">
              <a:buNone/>
            </a:pPr>
            <a:r>
              <a:rPr lang="en-US" sz="1250" b="1" dirty="0">
                <a:solidFill>
                  <a:srgbClr val="B3341F"/>
                </a:solidFill>
                <a:latin typeface="Calibri" pitchFamily="34" charset="0"/>
                <a:ea typeface="Calibri" pitchFamily="34" charset="-122"/>
                <a:cs typeface="Calibri" pitchFamily="34" charset="-120"/>
              </a:rPr>
              <a:t>Policy improvement</a:t>
            </a:r>
            <a:endParaRPr lang="en-US" sz="1250" dirty="0"/>
          </a:p>
        </p:txBody>
      </p:sp>
      <p:sp>
        <p:nvSpPr>
          <p:cNvPr id="25" name="Text 23"/>
          <p:cNvSpPr/>
          <p:nvPr/>
        </p:nvSpPr>
        <p:spPr>
          <a:xfrm>
            <a:off x="3950208" y="466344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π</a:t>
            </a:r>
            <a:pPr indent="0" marL="0">
              <a:buNone/>
            </a:pPr>
            <a:r>
              <a:rPr lang="en-US" sz="1300" baseline="-40000" dirty="0">
                <a:solidFill>
                  <a:srgbClr val="10263B"/>
                </a:solidFill>
                <a:latin typeface="Cambria" pitchFamily="34" charset="0"/>
                <a:ea typeface="Cambria" pitchFamily="34" charset="-122"/>
                <a:cs typeface="Cambria" pitchFamily="34" charset="-120"/>
              </a:rPr>
              <a:t>i+1</a:t>
            </a:r>
            <a:pPr indent="0" marL="0">
              <a:buNone/>
            </a:pPr>
            <a:r>
              <a:rPr lang="en-US" sz="1300" dirty="0">
                <a:solidFill>
                  <a:srgbClr val="10263B"/>
                </a:solidFill>
                <a:latin typeface="Cambria" pitchFamily="34" charset="0"/>
                <a:ea typeface="Cambria" pitchFamily="34" charset="-122"/>
                <a:cs typeface="Cambria" pitchFamily="34" charset="-120"/>
              </a:rPr>
              <a:t>(s) = argmax</a:t>
            </a:r>
            <a:pPr indent="0" marL="0">
              <a:buNone/>
            </a:pPr>
            <a:r>
              <a:rPr lang="en-US" sz="1300" baseline="-40000" dirty="0">
                <a:solidFill>
                  <a:srgbClr val="10263B"/>
                </a:solidFill>
                <a:latin typeface="Cambria" pitchFamily="34" charset="0"/>
                <a:ea typeface="Cambria" pitchFamily="34" charset="-122"/>
                <a:cs typeface="Cambria" pitchFamily="34" charset="-120"/>
              </a:rPr>
              <a:t>a</a:t>
            </a:r>
            <a:pPr indent="0" marL="0">
              <a:buNone/>
            </a:pPr>
            <a:r>
              <a:rPr lang="en-US" sz="1300" dirty="0">
                <a:solidFill>
                  <a:srgbClr val="10263B"/>
                </a:solidFill>
                <a:latin typeface="Cambria" pitchFamily="34" charset="0"/>
                <a:ea typeface="Cambria" pitchFamily="34" charset="-122"/>
                <a:cs typeface="Cambria" pitchFamily="34" charset="-120"/>
              </a:rPr>
              <a:t> Σ</a:t>
            </a:r>
            <a:pPr indent="0" marL="0">
              <a:buNone/>
            </a:pPr>
            <a:r>
              <a:rPr lang="en-US" sz="1300" baseline="-40000" dirty="0">
                <a:solidFill>
                  <a:srgbClr val="10263B"/>
                </a:solidFill>
                <a:latin typeface="Cambria" pitchFamily="34" charset="0"/>
                <a:ea typeface="Cambria" pitchFamily="34" charset="-122"/>
                <a:cs typeface="Cambria" pitchFamily="34" charset="-120"/>
              </a:rPr>
              <a:t>s'</a:t>
            </a:r>
            <a:pPr indent="0" marL="0">
              <a:buNone/>
            </a:pPr>
            <a:r>
              <a:rPr lang="en-US" sz="1300" dirty="0">
                <a:solidFill>
                  <a:srgbClr val="10263B"/>
                </a:solidFill>
                <a:latin typeface="Cambria" pitchFamily="34" charset="0"/>
                <a:ea typeface="Cambria" pitchFamily="34" charset="-122"/>
                <a:cs typeface="Cambria" pitchFamily="34" charset="-120"/>
              </a:rPr>
              <a:t> T(s,a,s')[R(s,a,s') + γV</a:t>
            </a:r>
            <a:pPr indent="0" marL="0">
              <a:buNone/>
            </a:pPr>
            <a:r>
              <a:rPr lang="en-US" sz="1300" baseline="30000" dirty="0">
                <a:solidFill>
                  <a:srgbClr val="10263B"/>
                </a:solidFill>
                <a:latin typeface="Cambria" pitchFamily="34" charset="0"/>
                <a:ea typeface="Cambria" pitchFamily="34" charset="-122"/>
                <a:cs typeface="Cambria" pitchFamily="34" charset="-120"/>
              </a:rPr>
              <a:t>π_{i</a:t>
            </a:r>
            <a:pPr indent="0" marL="0">
              <a:buNone/>
            </a:pPr>
            <a:r>
              <a:rPr lang="en-US" sz="1300" dirty="0">
                <a:solidFill>
                  <a:srgbClr val="10263B"/>
                </a:solidFill>
                <a:latin typeface="Cambria" pitchFamily="34" charset="0"/>
                <a:ea typeface="Cambria" pitchFamily="34" charset="-122"/>
                <a:cs typeface="Cambria" pitchFamily="34" charset="-120"/>
              </a:rPr>
              <a:t>}(s')]</a:t>
            </a:r>
            <a:endParaRPr lang="en-US" sz="1300" dirty="0"/>
          </a:p>
        </p:txBody>
      </p:sp>
      <p:sp>
        <p:nvSpPr>
          <p:cNvPr id="26" name="Shape 24"/>
          <p:cNvSpPr/>
          <p:nvPr/>
        </p:nvSpPr>
        <p:spPr>
          <a:xfrm>
            <a:off x="566928" y="5212080"/>
            <a:ext cx="11057839" cy="475488"/>
          </a:xfrm>
          <a:prstGeom prst="roundRect">
            <a:avLst>
              <a:gd name="adj" fmla="val 17308"/>
            </a:avLst>
          </a:prstGeom>
          <a:solidFill>
            <a:srgbClr val="F7FAFB"/>
          </a:solidFill>
          <a:ln/>
        </p:spPr>
      </p:sp>
      <p:sp>
        <p:nvSpPr>
          <p:cNvPr id="27" name="Text 25"/>
          <p:cNvSpPr/>
          <p:nvPr/>
        </p:nvSpPr>
        <p:spPr>
          <a:xfrm>
            <a:off x="786384" y="5212080"/>
            <a:ext cx="3063240" cy="475488"/>
          </a:xfrm>
          <a:prstGeom prst="rect">
            <a:avLst/>
          </a:prstGeom>
          <a:noFill/>
          <a:ln/>
        </p:spPr>
        <p:txBody>
          <a:bodyPr wrap="square" lIns="0" tIns="0" rIns="0" bIns="0" rtlCol="0" anchor="ctr"/>
          <a:lstStyle/>
          <a:p>
            <a:pPr indent="0" marL="0">
              <a:buNone/>
            </a:pPr>
            <a:r>
              <a:rPr lang="en-US" sz="1250" b="1" dirty="0">
                <a:solidFill>
                  <a:srgbClr val="5C7080"/>
                </a:solidFill>
                <a:latin typeface="Calibri" pitchFamily="34" charset="0"/>
                <a:ea typeface="Calibri" pitchFamily="34" charset="-122"/>
                <a:cs typeface="Calibri" pitchFamily="34" charset="-120"/>
              </a:rPr>
              <a:t>Utility bound</a:t>
            </a:r>
            <a:endParaRPr lang="en-US" sz="1250" dirty="0"/>
          </a:p>
        </p:txBody>
      </p:sp>
      <p:sp>
        <p:nvSpPr>
          <p:cNvPr id="28" name="Text 26"/>
          <p:cNvSpPr/>
          <p:nvPr/>
        </p:nvSpPr>
        <p:spPr>
          <a:xfrm>
            <a:off x="3950208" y="521208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U</a:t>
            </a:r>
            <a:pPr indent="0" marL="0">
              <a:buNone/>
            </a:pPr>
            <a:r>
              <a:rPr lang="en-US" sz="1300" baseline="-40000" dirty="0">
                <a:solidFill>
                  <a:srgbClr val="10263B"/>
                </a:solidFill>
                <a:latin typeface="Cambria" pitchFamily="34" charset="0"/>
                <a:ea typeface="Cambria" pitchFamily="34" charset="-122"/>
                <a:cs typeface="Cambria" pitchFamily="34" charset="-120"/>
              </a:rPr>
              <a:t>h</a:t>
            </a:r>
            <a:pPr indent="0" marL="0">
              <a:buNone/>
            </a:pPr>
            <a:r>
              <a:rPr lang="en-US" sz="1300" dirty="0">
                <a:solidFill>
                  <a:srgbClr val="10263B"/>
                </a:solidFill>
                <a:latin typeface="Cambria" pitchFamily="34" charset="0"/>
                <a:ea typeface="Cambria" pitchFamily="34" charset="-122"/>
                <a:cs typeface="Cambria" pitchFamily="34" charset="-120"/>
              </a:rPr>
              <a:t> ≤ R</a:t>
            </a:r>
            <a:pPr indent="0" marL="0">
              <a:buNone/>
            </a:pPr>
            <a:r>
              <a:rPr lang="en-US" sz="1300" baseline="-40000" dirty="0">
                <a:solidFill>
                  <a:srgbClr val="10263B"/>
                </a:solidFill>
                <a:latin typeface="Cambria" pitchFamily="34" charset="0"/>
                <a:ea typeface="Cambria" pitchFamily="34" charset="-122"/>
                <a:cs typeface="Cambria" pitchFamily="34" charset="-120"/>
              </a:rPr>
              <a:t>max</a:t>
            </a:r>
            <a:pPr indent="0" marL="0">
              <a:buNone/>
            </a:pPr>
            <a:r>
              <a:rPr lang="en-US" sz="1300" dirty="0">
                <a:solidFill>
                  <a:srgbClr val="10263B"/>
                </a:solidFill>
                <a:latin typeface="Cambria" pitchFamily="34" charset="0"/>
                <a:ea typeface="Cambria" pitchFamily="34" charset="-122"/>
                <a:cs typeface="Cambria" pitchFamily="34" charset="-120"/>
              </a:rPr>
              <a:t> / (1 - γ)</a:t>
            </a:r>
            <a:endParaRPr lang="en-US" sz="1300" dirty="0"/>
          </a:p>
        </p:txBody>
      </p:sp>
      <p:sp>
        <p:nvSpPr>
          <p:cNvPr id="29" name="Shape 27"/>
          <p:cNvSpPr/>
          <p:nvPr/>
        </p:nvSpPr>
        <p:spPr>
          <a:xfrm>
            <a:off x="566928" y="5760720"/>
            <a:ext cx="11057839" cy="475488"/>
          </a:xfrm>
          <a:prstGeom prst="roundRect">
            <a:avLst>
              <a:gd name="adj" fmla="val 17308"/>
            </a:avLst>
          </a:prstGeom>
          <a:solidFill>
            <a:srgbClr val="EDF2F5"/>
          </a:solidFill>
          <a:ln/>
        </p:spPr>
      </p:sp>
      <p:sp>
        <p:nvSpPr>
          <p:cNvPr id="30" name="Text 28"/>
          <p:cNvSpPr/>
          <p:nvPr/>
        </p:nvSpPr>
        <p:spPr>
          <a:xfrm>
            <a:off x="786384" y="5760720"/>
            <a:ext cx="3063240" cy="475488"/>
          </a:xfrm>
          <a:prstGeom prst="rect">
            <a:avLst/>
          </a:prstGeom>
          <a:noFill/>
          <a:ln/>
        </p:spPr>
        <p:txBody>
          <a:bodyPr wrap="square" lIns="0" tIns="0" rIns="0" bIns="0" rtlCol="0" anchor="ctr"/>
          <a:lstStyle/>
          <a:p>
            <a:pPr indent="0" marL="0">
              <a:buNone/>
            </a:pPr>
            <a:r>
              <a:rPr lang="en-US" sz="1250" b="1" dirty="0">
                <a:solidFill>
                  <a:srgbClr val="5C7080"/>
                </a:solidFill>
                <a:latin typeface="Calibri" pitchFamily="34" charset="0"/>
                <a:ea typeface="Calibri" pitchFamily="34" charset="-122"/>
                <a:cs typeface="Calibri" pitchFamily="34" charset="-120"/>
              </a:rPr>
              <a:t>Contraction</a:t>
            </a:r>
            <a:endParaRPr lang="en-US" sz="1250" dirty="0"/>
          </a:p>
        </p:txBody>
      </p:sp>
      <p:sp>
        <p:nvSpPr>
          <p:cNvPr id="31" name="Text 29"/>
          <p:cNvSpPr/>
          <p:nvPr/>
        </p:nvSpPr>
        <p:spPr>
          <a:xfrm>
            <a:off x="3950208" y="5760720"/>
            <a:ext cx="7498080" cy="475488"/>
          </a:xfrm>
          <a:prstGeom prst="rect">
            <a:avLst/>
          </a:prstGeom>
          <a:noFill/>
          <a:ln/>
        </p:spPr>
        <p:txBody>
          <a:bodyPr wrap="square" lIns="0" tIns="0" rIns="0" bIns="0" rtlCol="0" anchor="ctr"/>
          <a:lstStyle/>
          <a:p>
            <a:pPr indent="0" marL="0">
              <a:buNone/>
            </a:pPr>
            <a:r>
              <a:rPr lang="en-US" sz="1300" dirty="0">
                <a:solidFill>
                  <a:srgbClr val="10263B"/>
                </a:solidFill>
                <a:latin typeface="Cambria" pitchFamily="34" charset="0"/>
                <a:ea typeface="Cambria" pitchFamily="34" charset="-122"/>
                <a:cs typeface="Cambria" pitchFamily="34" charset="-120"/>
              </a:rPr>
              <a:t>|| BU - BU' ||</a:t>
            </a:r>
            <a:pPr indent="0" marL="0">
              <a:buNone/>
            </a:pPr>
            <a:r>
              <a:rPr lang="en-US" sz="1300" baseline="-40000" dirty="0">
                <a:solidFill>
                  <a:srgbClr val="10263B"/>
                </a:solidFill>
                <a:latin typeface="Cambria" pitchFamily="34" charset="0"/>
                <a:ea typeface="Cambria" pitchFamily="34" charset="-122"/>
                <a:cs typeface="Cambria" pitchFamily="34" charset="-120"/>
              </a:rPr>
              <a:t>∞</a:t>
            </a:r>
            <a:pPr indent="0" marL="0">
              <a:buNone/>
            </a:pPr>
            <a:r>
              <a:rPr lang="en-US" sz="1300" dirty="0">
                <a:solidFill>
                  <a:srgbClr val="10263B"/>
                </a:solidFill>
                <a:latin typeface="Cambria" pitchFamily="34" charset="0"/>
                <a:ea typeface="Cambria" pitchFamily="34" charset="-122"/>
                <a:cs typeface="Cambria" pitchFamily="34" charset="-120"/>
              </a:rPr>
              <a:t> ≤ γ || U - U' ||</a:t>
            </a:r>
            <a:pPr indent="0" marL="0">
              <a:buNone/>
            </a:pPr>
            <a:r>
              <a:rPr lang="en-US" sz="1300" baseline="-40000" dirty="0">
                <a:solidFill>
                  <a:srgbClr val="10263B"/>
                </a:solidFill>
                <a:latin typeface="Cambria" pitchFamily="34" charset="0"/>
                <a:ea typeface="Cambria" pitchFamily="34" charset="-122"/>
                <a:cs typeface="Cambria" pitchFamily="34" charset="-120"/>
              </a:rPr>
              <a:t>∞</a:t>
            </a:r>
            <a:endParaRPr lang="en-US" sz="1300" dirty="0"/>
          </a:p>
        </p:txBody>
      </p:sp>
      <p:sp>
        <p:nvSpPr>
          <p:cNvPr id="32" name="Text 30"/>
          <p:cNvSpPr/>
          <p:nvPr/>
        </p:nvSpPr>
        <p:spPr>
          <a:xfrm>
            <a:off x="566928" y="6327648"/>
            <a:ext cx="11057839" cy="320040"/>
          </a:xfrm>
          <a:prstGeom prst="rect">
            <a:avLst/>
          </a:prstGeom>
          <a:noFill/>
          <a:ln/>
        </p:spPr>
        <p:txBody>
          <a:bodyPr wrap="square" lIns="0" tIns="0" rIns="0" bIns="0" rtlCol="0" anchor="ctr"/>
          <a:lstStyle/>
          <a:p>
            <a:pPr algn="ctr" indent="0" marL="0">
              <a:buNone/>
            </a:pPr>
            <a:r>
              <a:rPr lang="en-US" sz="1250" i="1" dirty="0">
                <a:solidFill>
                  <a:srgbClr val="5C7080"/>
                </a:solidFill>
                <a:latin typeface="Calibri" pitchFamily="34" charset="0"/>
                <a:ea typeface="Calibri" pitchFamily="34" charset="-122"/>
                <a:cs typeface="Calibri" pitchFamily="34" charset="-120"/>
              </a:rPr>
              <a:t>Every line is the same one-step lookahead. Learn the pattern, not the list.</a:t>
            </a:r>
            <a:endParaRPr lang="en-US" sz="12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10263B"/>
        </a:solidFill>
      </p:bgPr>
    </p:bg>
    <p:spTree>
      <p:nvGrpSpPr>
        <p:cNvPr id="1" name=""/>
        <p:cNvGrpSpPr/>
        <p:nvPr/>
      </p:nvGrpSpPr>
      <p:grpSpPr>
        <a:xfrm>
          <a:off x="0" y="0"/>
          <a:ext cx="0" cy="0"/>
          <a:chOff x="0" y="0"/>
          <a:chExt cx="0" cy="0"/>
        </a:xfrm>
      </p:grpSpPr>
      <p:sp>
        <p:nvSpPr>
          <p:cNvPr id="2" name="Text 0"/>
          <p:cNvSpPr/>
          <p:nvPr/>
        </p:nvSpPr>
        <p:spPr>
          <a:xfrm>
            <a:off x="566928" y="6419088"/>
            <a:ext cx="5486400" cy="274320"/>
          </a:xfrm>
          <a:prstGeom prst="rect">
            <a:avLst/>
          </a:prstGeom>
          <a:noFill/>
          <a:ln/>
        </p:spPr>
        <p:txBody>
          <a:bodyPr wrap="square" lIns="0" tIns="0" rIns="0" bIns="0" rtlCol="0" anchor="ctr"/>
          <a:lstStyle/>
          <a:p>
            <a:pPr indent="0" marL="0">
              <a:buNone/>
            </a:pPr>
            <a:r>
              <a:rPr lang="en-US" sz="900" dirty="0">
                <a:solidFill>
                  <a:srgbClr val="7F98AC"/>
                </a:solidFill>
                <a:latin typeface="Calibri" pitchFamily="34" charset="0"/>
                <a:ea typeface="Calibri" pitchFamily="34" charset="-122"/>
                <a:cs typeface="Calibri" pitchFamily="34" charset="-120"/>
              </a:rPr>
              <a:t>COMP 469  |  Markov Decision Processes II</a:t>
            </a:r>
            <a:endParaRPr lang="en-US" sz="900" dirty="0"/>
          </a:p>
        </p:txBody>
      </p:sp>
      <p:sp>
        <p:nvSpPr>
          <p:cNvPr id="3" name="Text 1"/>
          <p:cNvSpPr/>
          <p:nvPr/>
        </p:nvSpPr>
        <p:spPr>
          <a:xfrm>
            <a:off x="10710367" y="6419088"/>
            <a:ext cx="914400" cy="274320"/>
          </a:xfrm>
          <a:prstGeom prst="rect">
            <a:avLst/>
          </a:prstGeom>
          <a:noFill/>
          <a:ln/>
        </p:spPr>
        <p:txBody>
          <a:bodyPr wrap="square" lIns="0" tIns="0" rIns="0" bIns="0" rtlCol="0" anchor="ctr"/>
          <a:lstStyle/>
          <a:p>
            <a:pPr algn="r" indent="0" marL="0">
              <a:buNone/>
            </a:pPr>
            <a:r>
              <a:rPr lang="en-US" sz="900" dirty="0">
                <a:solidFill>
                  <a:srgbClr val="7F98AC"/>
                </a:solidFill>
                <a:latin typeface="Calibri" pitchFamily="34" charset="0"/>
                <a:ea typeface="Calibri" pitchFamily="34" charset="-122"/>
                <a:cs typeface="Calibri" pitchFamily="34" charset="-120"/>
              </a:rPr>
              <a:t>67</a:t>
            </a:r>
            <a:endParaRPr lang="en-US" sz="900" dirty="0"/>
          </a:p>
        </p:txBody>
      </p:sp>
      <p:sp>
        <p:nvSpPr>
          <p:cNvPr id="4" name="Text 2"/>
          <p:cNvSpPr/>
          <p:nvPr/>
        </p:nvSpPr>
        <p:spPr>
          <a:xfrm>
            <a:off x="566928" y="1234440"/>
            <a:ext cx="11057839" cy="457200"/>
          </a:xfrm>
          <a:prstGeom prst="rect">
            <a:avLst/>
          </a:prstGeom>
          <a:noFill/>
          <a:ln/>
        </p:spPr>
        <p:txBody>
          <a:bodyPr wrap="square" lIns="0" tIns="0" rIns="0" bIns="0" rtlCol="0" anchor="ctr"/>
          <a:lstStyle/>
          <a:p>
            <a:pPr indent="0" marL="0">
              <a:buNone/>
            </a:pPr>
            <a:r>
              <a:rPr lang="en-US" sz="1500" spc="200" kern="0" dirty="0">
                <a:solidFill>
                  <a:srgbClr val="6FA8BE"/>
                </a:solidFill>
                <a:latin typeface="Calibri" pitchFamily="34" charset="0"/>
                <a:ea typeface="Calibri" pitchFamily="34" charset="-122"/>
                <a:cs typeface="Calibri" pitchFamily="34" charset="-120"/>
              </a:rPr>
              <a:t>Next time</a:t>
            </a:r>
            <a:endParaRPr lang="en-US" sz="1500" dirty="0"/>
          </a:p>
        </p:txBody>
      </p:sp>
      <p:sp>
        <p:nvSpPr>
          <p:cNvPr id="5" name="Text 3"/>
          <p:cNvSpPr/>
          <p:nvPr/>
        </p:nvSpPr>
        <p:spPr>
          <a:xfrm>
            <a:off x="566928" y="1691640"/>
            <a:ext cx="10424160" cy="96012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Reinforcement Learning</a:t>
            </a:r>
            <a:endParaRPr lang="en-US" sz="4600" dirty="0"/>
          </a:p>
        </p:txBody>
      </p:sp>
      <p:sp>
        <p:nvSpPr>
          <p:cNvPr id="6" name="Text 4"/>
          <p:cNvSpPr/>
          <p:nvPr/>
        </p:nvSpPr>
        <p:spPr>
          <a:xfrm>
            <a:off x="566928" y="2697480"/>
            <a:ext cx="10058400" cy="502920"/>
          </a:xfrm>
          <a:prstGeom prst="rect">
            <a:avLst/>
          </a:prstGeom>
          <a:noFill/>
          <a:ln/>
        </p:spPr>
        <p:txBody>
          <a:bodyPr wrap="square" lIns="0" tIns="0" rIns="0" bIns="0" rtlCol="0" anchor="ctr"/>
          <a:lstStyle/>
          <a:p>
            <a:pPr indent="0" marL="0">
              <a:buNone/>
            </a:pPr>
            <a:r>
              <a:rPr lang="en-US" sz="1900" dirty="0">
                <a:solidFill>
                  <a:srgbClr val="E0A32E"/>
                </a:solidFill>
                <a:latin typeface="Calibri" pitchFamily="34" charset="0"/>
                <a:ea typeface="Calibri" pitchFamily="34" charset="-122"/>
                <a:cs typeface="Calibri" pitchFamily="34" charset="-120"/>
              </a:rPr>
              <a:t>Same MDP. You know the states and the actions. You do not know the transition function or the rewards. Go.</a:t>
            </a:r>
            <a:endParaRPr lang="en-US" sz="1900" dirty="0"/>
          </a:p>
        </p:txBody>
      </p:sp>
      <p:sp>
        <p:nvSpPr>
          <p:cNvPr id="7" name="Shape 5"/>
          <p:cNvSpPr/>
          <p:nvPr/>
        </p:nvSpPr>
        <p:spPr>
          <a:xfrm>
            <a:off x="566928" y="3611880"/>
            <a:ext cx="11057839" cy="731520"/>
          </a:xfrm>
          <a:prstGeom prst="roundRect">
            <a:avLst>
              <a:gd name="adj" fmla="val 11250"/>
            </a:avLst>
          </a:prstGeom>
          <a:solidFill>
            <a:srgbClr val="1A3A57"/>
          </a:solidFill>
          <a:ln/>
        </p:spPr>
      </p:sp>
      <p:sp>
        <p:nvSpPr>
          <p:cNvPr id="8" name="Text 6"/>
          <p:cNvSpPr/>
          <p:nvPr/>
        </p:nvSpPr>
        <p:spPr>
          <a:xfrm>
            <a:off x="841248" y="3611880"/>
            <a:ext cx="1463040" cy="731520"/>
          </a:xfrm>
          <a:prstGeom prst="rect">
            <a:avLst/>
          </a:prstGeom>
          <a:noFill/>
          <a:ln/>
        </p:spPr>
        <p:txBody>
          <a:bodyPr wrap="square" lIns="0" tIns="0" rIns="0" bIns="0" rtlCol="0" anchor="ctr"/>
          <a:lstStyle/>
          <a:p>
            <a:pPr indent="0" marL="0">
              <a:buNone/>
            </a:pPr>
            <a:r>
              <a:rPr lang="en-US" sz="1450" b="1" dirty="0">
                <a:solidFill>
                  <a:srgbClr val="E0A32E"/>
                </a:solidFill>
                <a:latin typeface="Cambria" pitchFamily="34" charset="0"/>
                <a:ea typeface="Cambria" pitchFamily="34" charset="-122"/>
                <a:cs typeface="Cambria" pitchFamily="34" charset="-120"/>
              </a:rPr>
              <a:t>Read</a:t>
            </a:r>
            <a:endParaRPr lang="en-US" sz="1450" dirty="0"/>
          </a:p>
        </p:txBody>
      </p:sp>
      <p:sp>
        <p:nvSpPr>
          <p:cNvPr id="9" name="Text 7"/>
          <p:cNvSpPr/>
          <p:nvPr/>
        </p:nvSpPr>
        <p:spPr>
          <a:xfrm>
            <a:off x="2395728" y="3611880"/>
            <a:ext cx="8961120" cy="7315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AIMA 17.1 and 17.2 in full. Section 17.3 on bandits is optional but it is the formal version of the game we just played.</a:t>
            </a:r>
            <a:endParaRPr lang="en-US" sz="1350" dirty="0"/>
          </a:p>
        </p:txBody>
      </p:sp>
      <p:sp>
        <p:nvSpPr>
          <p:cNvPr id="10" name="Shape 8"/>
          <p:cNvSpPr/>
          <p:nvPr/>
        </p:nvSpPr>
        <p:spPr>
          <a:xfrm>
            <a:off x="566928" y="4453128"/>
            <a:ext cx="11057839" cy="731520"/>
          </a:xfrm>
          <a:prstGeom prst="roundRect">
            <a:avLst>
              <a:gd name="adj" fmla="val 11250"/>
            </a:avLst>
          </a:prstGeom>
          <a:solidFill>
            <a:srgbClr val="1A3A57"/>
          </a:solidFill>
          <a:ln/>
        </p:spPr>
      </p:sp>
      <p:sp>
        <p:nvSpPr>
          <p:cNvPr id="11" name="Text 9"/>
          <p:cNvSpPr/>
          <p:nvPr/>
        </p:nvSpPr>
        <p:spPr>
          <a:xfrm>
            <a:off x="841248" y="4453128"/>
            <a:ext cx="1463040" cy="731520"/>
          </a:xfrm>
          <a:prstGeom prst="rect">
            <a:avLst/>
          </a:prstGeom>
          <a:noFill/>
          <a:ln/>
        </p:spPr>
        <p:txBody>
          <a:bodyPr wrap="square" lIns="0" tIns="0" rIns="0" bIns="0" rtlCol="0" anchor="ctr"/>
          <a:lstStyle/>
          <a:p>
            <a:pPr indent="0" marL="0">
              <a:buNone/>
            </a:pPr>
            <a:r>
              <a:rPr lang="en-US" sz="1450" b="1" dirty="0">
                <a:solidFill>
                  <a:srgbClr val="E0A32E"/>
                </a:solidFill>
                <a:latin typeface="Cambria" pitchFamily="34" charset="0"/>
                <a:ea typeface="Cambria" pitchFamily="34" charset="-122"/>
                <a:cs typeface="Cambria" pitchFamily="34" charset="-120"/>
              </a:rPr>
              <a:t>Do</a:t>
            </a:r>
            <a:endParaRPr lang="en-US" sz="1450" dirty="0"/>
          </a:p>
        </p:txBody>
      </p:sp>
      <p:sp>
        <p:nvSpPr>
          <p:cNvPr id="12" name="Text 10"/>
          <p:cNvSpPr/>
          <p:nvPr/>
        </p:nvSpPr>
        <p:spPr>
          <a:xfrm>
            <a:off x="2395728" y="4453128"/>
            <a:ext cx="8961120" cy="7315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Homework 3: implement value iteration, policy evaluation, and policy iteration on gridworld. Use two copies of V, not one.</a:t>
            </a:r>
            <a:endParaRPr lang="en-US" sz="1350" dirty="0"/>
          </a:p>
        </p:txBody>
      </p:sp>
      <p:sp>
        <p:nvSpPr>
          <p:cNvPr id="13" name="Shape 11"/>
          <p:cNvSpPr/>
          <p:nvPr/>
        </p:nvSpPr>
        <p:spPr>
          <a:xfrm>
            <a:off x="566928" y="5294376"/>
            <a:ext cx="11057839" cy="731520"/>
          </a:xfrm>
          <a:prstGeom prst="roundRect">
            <a:avLst>
              <a:gd name="adj" fmla="val 11250"/>
            </a:avLst>
          </a:prstGeom>
          <a:solidFill>
            <a:srgbClr val="1A3A57"/>
          </a:solidFill>
          <a:ln/>
        </p:spPr>
      </p:sp>
      <p:sp>
        <p:nvSpPr>
          <p:cNvPr id="14" name="Text 12"/>
          <p:cNvSpPr/>
          <p:nvPr/>
        </p:nvSpPr>
        <p:spPr>
          <a:xfrm>
            <a:off x="841248" y="5294376"/>
            <a:ext cx="1463040" cy="731520"/>
          </a:xfrm>
          <a:prstGeom prst="rect">
            <a:avLst/>
          </a:prstGeom>
          <a:noFill/>
          <a:ln/>
        </p:spPr>
        <p:txBody>
          <a:bodyPr wrap="square" lIns="0" tIns="0" rIns="0" bIns="0" rtlCol="0" anchor="ctr"/>
          <a:lstStyle/>
          <a:p>
            <a:pPr indent="0" marL="0">
              <a:buNone/>
            </a:pPr>
            <a:r>
              <a:rPr lang="en-US" sz="1450" b="1" dirty="0">
                <a:solidFill>
                  <a:srgbClr val="E0A32E"/>
                </a:solidFill>
                <a:latin typeface="Cambria" pitchFamily="34" charset="0"/>
                <a:ea typeface="Cambria" pitchFamily="34" charset="-122"/>
                <a:cs typeface="Cambria" pitchFamily="34" charset="-120"/>
              </a:rPr>
              <a:t>Think about</a:t>
            </a:r>
            <a:endParaRPr lang="en-US" sz="1450" dirty="0"/>
          </a:p>
        </p:txBody>
      </p:sp>
      <p:sp>
        <p:nvSpPr>
          <p:cNvPr id="15" name="Text 13"/>
          <p:cNvSpPr/>
          <p:nvPr/>
        </p:nvSpPr>
        <p:spPr>
          <a:xfrm>
            <a:off x="2395728" y="5294376"/>
            <a:ext cx="8961120" cy="73152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Why does learning Q-values let you act without a model, and why might you be able to learn optimal Q-values while behaving sub-optimally?</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67</Slides>
  <Notes>67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67</vt:i4>
      </vt:variant>
    </vt:vector>
  </HeadingPairs>
  <TitlesOfParts>
    <vt:vector size="7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Markov Decision Processes II</dc:title>
  <dc:subject>AIMA 17.1-17.2 / CS188 Lecture 10</dc:subject>
  <dc:creator>COMP 469, CSU Channel Islands</dc:creator>
  <cp:lastModifiedBy>COMP 469, CSU Channel Islands</cp:lastModifiedBy>
  <cp:revision>1</cp:revision>
  <dcterms:created xsi:type="dcterms:W3CDTF">2026-08-11T02:00:07Z</dcterms:created>
  <dcterms:modified xsi:type="dcterms:W3CDTF">2026-08-11T02:00:07Z</dcterms:modified>
</cp:coreProperties>
</file>